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6" roundtripDataSignature="AMtx7mhrutHLWX7HnTS+8vX0IJ+q6hk0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572F4C0-8E20-41A9-AE21-BC97B4E8F53B}">
  <a:tblStyle styleId="{B572F4C0-8E20-41A9-AE21-BC97B4E8F53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84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customschemas.google.com/relationships/presentationmetadata" Target="metadata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72139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34851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56544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653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9176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5092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68514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8327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34691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6632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59445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8020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084840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8545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30542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91281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451161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0282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09853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22109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75696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38001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39196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91140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98026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64652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63857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1300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85405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71559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66892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69167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41845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96341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41478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785063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34621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2615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050344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30153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910984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31012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70634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959508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8958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469391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849510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803427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050954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696422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295025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965414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687898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86623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111905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969183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992081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75754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523966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125642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1150173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446953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2682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098833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422636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056154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1095562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7627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372214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8321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1"/>
          <p:cNvSpPr txBox="1">
            <a:spLocks noGrp="1"/>
          </p:cNvSpPr>
          <p:nvPr>
            <p:ph type="title"/>
          </p:nvPr>
        </p:nvSpPr>
        <p:spPr>
          <a:xfrm>
            <a:off x="1013691" y="9834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7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7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3"/>
          <p:cNvSpPr txBox="1">
            <a:spLocks noGrp="1"/>
          </p:cNvSpPr>
          <p:nvPr>
            <p:ph type="title"/>
          </p:nvPr>
        </p:nvSpPr>
        <p:spPr>
          <a:xfrm>
            <a:off x="1013691" y="9834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4"/>
          <p:cNvSpPr txBox="1">
            <a:spLocks noGrp="1"/>
          </p:cNvSpPr>
          <p:nvPr>
            <p:ph type="title"/>
          </p:nvPr>
        </p:nvSpPr>
        <p:spPr>
          <a:xfrm>
            <a:off x="1013691" y="9834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9" name="Google Shape;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7664" y="16328"/>
            <a:ext cx="9629094" cy="641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5"/>
          <p:cNvSpPr txBox="1">
            <a:spLocks noGrp="1"/>
          </p:cNvSpPr>
          <p:nvPr>
            <p:ph type="title"/>
          </p:nvPr>
        </p:nvSpPr>
        <p:spPr>
          <a:xfrm>
            <a:off x="1013691" y="9834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6"/>
          <p:cNvSpPr txBox="1">
            <a:spLocks noGrp="1"/>
          </p:cNvSpPr>
          <p:nvPr>
            <p:ph type="title"/>
          </p:nvPr>
        </p:nvSpPr>
        <p:spPr>
          <a:xfrm>
            <a:off x="1013691" y="9834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7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8"/>
          <p:cNvSpPr txBox="1">
            <a:spLocks noGrp="1"/>
          </p:cNvSpPr>
          <p:nvPr>
            <p:ph type="title"/>
          </p:nvPr>
        </p:nvSpPr>
        <p:spPr>
          <a:xfrm>
            <a:off x="1013691" y="9834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7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7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7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7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7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7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8" name="Google Shape;68;p7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7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0"/>
          <p:cNvSpPr txBox="1">
            <a:spLocks noGrp="1"/>
          </p:cNvSpPr>
          <p:nvPr>
            <p:ph type="title"/>
          </p:nvPr>
        </p:nvSpPr>
        <p:spPr>
          <a:xfrm>
            <a:off x="1013691" y="9834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8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8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8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8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4" name="Google Shape;84;p8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5" name="Google Shape;85;p8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8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8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8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2" name="Google Shape;92;p8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8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8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4"/>
          <p:cNvSpPr txBox="1">
            <a:spLocks noGrp="1"/>
          </p:cNvSpPr>
          <p:nvPr>
            <p:ph type="title"/>
          </p:nvPr>
        </p:nvSpPr>
        <p:spPr>
          <a:xfrm>
            <a:off x="1013691" y="9834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8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8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8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8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8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8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8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8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0"/>
          <p:cNvSpPr txBox="1">
            <a:spLocks noGrp="1"/>
          </p:cNvSpPr>
          <p:nvPr>
            <p:ph type="title"/>
          </p:nvPr>
        </p:nvSpPr>
        <p:spPr>
          <a:xfrm>
            <a:off x="1013691" y="98345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70"/>
          <p:cNvPicPr preferRelativeResize="0"/>
          <p:nvPr/>
        </p:nvPicPr>
        <p:blipFill rotWithShape="1">
          <a:blip r:embed="rId18">
            <a:alphaModFix/>
          </a:blip>
          <a:srcRect l="5037" t="1874" r="79744" b="81688"/>
          <a:stretch/>
        </p:blipFill>
        <p:spPr>
          <a:xfrm>
            <a:off x="10586677" y="104930"/>
            <a:ext cx="802443" cy="487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7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759280" y="104930"/>
            <a:ext cx="9250136" cy="40821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12" name="Google Shape;112;p1"/>
          <p:cNvPicPr preferRelativeResize="0"/>
          <p:nvPr/>
        </p:nvPicPr>
        <p:blipFill rotWithShape="1">
          <a:blip r:embed="rId3">
            <a:alphaModFix/>
          </a:blip>
          <a:srcRect l="5037" t="1875" r="15079" b="79167"/>
          <a:stretch/>
        </p:blipFill>
        <p:spPr>
          <a:xfrm>
            <a:off x="609600" y="-15241"/>
            <a:ext cx="11033760" cy="147224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 txBox="1"/>
          <p:nvPr/>
        </p:nvSpPr>
        <p:spPr>
          <a:xfrm>
            <a:off x="1371600" y="1818972"/>
            <a:ext cx="9982200" cy="2590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en-US" sz="5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US" sz="5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5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INSTRUCTIONs AND I/O PORT PROGRAMMING </a:t>
            </a:r>
            <a:endParaRPr sz="5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2.1 Arithmetic instructions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2.2 Singed number concepts and arithmetic operations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2.3 Logic and compare instructions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2.4 Rotate instruction and data serialization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2.5 BCD and ASCII converasion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2.6 Call instructions and stack  (126)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2.7 Time delay and pipeline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2.8 I/O programming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2.1 Arithmetic instructions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 Addition of unsigned numbers: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Syntax: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lang="en-US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ADDLW  K            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; WREG= WREG + K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The sum is stored  in the WREG register.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Change C, DC, Z, N, or OV bits of the status register.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Example 2.1.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How the flag register is affected by the following instructions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MOVLW  0xF5 ; 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ADDLW 0xB    ;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"/>
          <p:cNvSpPr txBox="1">
            <a:spLocks noGrp="1"/>
          </p:cNvSpPr>
          <p:nvPr>
            <p:ph type="title"/>
          </p:nvPr>
        </p:nvSpPr>
        <p:spPr>
          <a:xfrm>
            <a:off x="746770" y="51236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Addition (2)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 Solution: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MOVLW  0xF5 ; WREG=F5 hex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ADDLW 0xB    ; WREG= F5+ 0B = 00 and C=1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F5                                     1111 0101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+  0B                                 +  0000 1011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100H                                  0000 0000</a:t>
            </a:r>
            <a:endParaRPr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C=1 ; a carry out from D7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Z=1 ; the result in WREG is zero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DC=1; a carry from D3 to D4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34" name="Google Shape;13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cxnSp>
        <p:nvCxnSpPr>
          <p:cNvPr id="135" name="Google Shape;135;p4"/>
          <p:cNvCxnSpPr/>
          <p:nvPr/>
        </p:nvCxnSpPr>
        <p:spPr>
          <a:xfrm>
            <a:off x="1166648" y="3810409"/>
            <a:ext cx="725214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6" name="Google Shape;136;p4"/>
          <p:cNvCxnSpPr/>
          <p:nvPr/>
        </p:nvCxnSpPr>
        <p:spPr>
          <a:xfrm>
            <a:off x="4664688" y="3772295"/>
            <a:ext cx="160808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Addition (3)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ADDWF 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(addition of  individual bytes)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Syntax: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ADDWF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, d</a:t>
            </a:r>
            <a:endParaRPr dirty="0" smtClean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Description: </a:t>
            </a:r>
            <a:endParaRPr dirty="0" smtClean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Add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contents of register W to register f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If d=0, result is stored in W register.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If d=1, result is stored in f register.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ADDWFC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(addition of 16-bit numbers)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Syntax:  ADDWFC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d     ;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Description:</a:t>
            </a:r>
            <a:endParaRPr dirty="0"/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ADDW and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with carry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Subtraction of unsigned numbers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76764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Structure: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SUBLW K  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; WREG= K- WREG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The steps of the hardware in executing: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Take the 2’s complement of the subtrahend (WREG operand).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Add it to the minuend (K operand)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Example 2.2 : Show the steps involved in the following.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MOVLW 0x23 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;       23h=0010 0011, 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Lấy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đảo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của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23h: 1101 1100 (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lấy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bù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1)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SUBLW 0X3F  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;						+	     1</a:t>
            </a: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cs typeface="Times New Roman"/>
                <a:sym typeface="Times New Roman"/>
              </a:rPr>
              <a:t>	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							  1101 1101 (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bù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2 </a:t>
            </a:r>
            <a:r>
              <a:rPr lang="en-US" dirty="0" err="1" smtClean="0">
                <a:latin typeface="Times New Roman"/>
                <a:cs typeface="Times New Roman"/>
                <a:sym typeface="Times New Roman"/>
              </a:rPr>
              <a:t>của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23)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Subtraction (2)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86813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MOVLW 0x23  ; load 23H into WREG (WREG=23H)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SUBLW 0X3F   ;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WREG=3F-WREG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lvl="0" indent="0"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K		= 3F		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             0011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1111</a:t>
            </a:r>
            <a:endParaRPr dirty="0"/>
          </a:p>
          <a:p>
            <a:pPr marL="0" indent="0"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- 	WREG	= 23		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        	+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latin typeface="Times New Roman"/>
                <a:cs typeface="Times New Roman"/>
                <a:sym typeface="Times New Roman"/>
              </a:rPr>
              <a:t>1101 </a:t>
            </a:r>
            <a:r>
              <a:rPr lang="en-US" dirty="0" smtClean="0">
                <a:latin typeface="Times New Roman"/>
                <a:cs typeface="Times New Roman"/>
                <a:sym typeface="Times New Roman"/>
              </a:rPr>
              <a:t>1101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		  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	   		   1C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      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	1 0001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1100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					C=1, N=D7=0 (result is positive)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cxnSp>
        <p:nvCxnSpPr>
          <p:cNvPr id="158" name="Google Shape;158;p7"/>
          <p:cNvCxnSpPr/>
          <p:nvPr/>
        </p:nvCxnSpPr>
        <p:spPr>
          <a:xfrm rot="10800000" flipH="1">
            <a:off x="3862552" y="4587766"/>
            <a:ext cx="567558" cy="1576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9" name="Google Shape;159;p7"/>
          <p:cNvCxnSpPr/>
          <p:nvPr/>
        </p:nvCxnSpPr>
        <p:spPr>
          <a:xfrm>
            <a:off x="6452945" y="4553290"/>
            <a:ext cx="1797269" cy="0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Subtraction (3)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Example 2.3: Write a program to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subtrac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4C-6E.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MYREG 	EQU 	0x20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MOVLW 0x4C		; load WREG=4C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MOVWF MYRREG 	; MYREG=4CH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MOVLW 0x6E		; WREG=6E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SUBWF MYREG, W	; WREG=MYREG – WREG=4C-6E=DE, N=1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BNN 	NEXT		; if N=0 (C=1) jump to NEXT target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		NEGF 	WREG		; take 2’s complement of WREG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NEXT		MOVWF MYREG	; save the result in MYREG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Subtraction (4)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SUBWFB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(Subtract W from f with borrow)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Syntax: SUBWFB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Description: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dest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– W – Borrow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SUBFWB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Syntax: SUBFWB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{d,{a}}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Description: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dest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= WREG –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– Borrow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cxnSp>
        <p:nvCxnSpPr>
          <p:cNvPr id="174" name="Google Shape;174;p9"/>
          <p:cNvCxnSpPr/>
          <p:nvPr/>
        </p:nvCxnSpPr>
        <p:spPr>
          <a:xfrm rot="10800000" flipH="1">
            <a:off x="5912069" y="2711669"/>
            <a:ext cx="914400" cy="15765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75" name="Google Shape;175;p9"/>
          <p:cNvCxnSpPr/>
          <p:nvPr/>
        </p:nvCxnSpPr>
        <p:spPr>
          <a:xfrm rot="10800000" flipH="1">
            <a:off x="6369269" y="4004441"/>
            <a:ext cx="882869" cy="1576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Multiplication of usigned numbers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Syntax: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MULLW k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Description:  multiply k ⅹ WREG -&gt; PRODH: PRODL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Example :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MOVLW 0X25		; load 25H to WREG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MULLW 0X65		; 25H * 65H = E99 where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				; PRODH= 0EH  and PORDL = 99H.</a:t>
            </a:r>
            <a:endParaRPr dirty="0"/>
          </a:p>
        </p:txBody>
      </p:sp>
      <p:sp>
        <p:nvSpPr>
          <p:cNvPr id="182" name="Google Shape;18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Multiplication (2)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MULWF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Syntax: MULWF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Operation: (W) x (f) -&gt; PRODH : PRODL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Division of unsigned numbers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There is no single instruction for the division of byte/ byte numbers in the PIC18.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Performing division by repeated subtraction.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Review questions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 multiplication of two bytes in the PIC 18, we can place one byte in register …….. And for the other one we can use value K.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 unsigned byte – by – byte multiplication, the product wi;; be placed in register(s)………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Is “MULLW F” a valid PIC18 instruction? Explain your answer.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 PIC18, the largest two numbers that can be multiplied are …. and ……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The instruction “ADDLW K” places the sum in ……..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Why is the  following ADD instruction illegal? “ADDLW fileReg”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Find the value of the DC and C flags in each of the following.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MOVLW 0x4F                                                b.  MOVLW 0x9C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 ADDLW 0xB1                                                     ADDLW 0x63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8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Show how the CPU would subtrct 05H from 43H. 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8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If C=1, WREG=95H, and fileReg=4FH prior to the execution of “SUBFWB fileReg, F” what will be the contents of WREG and fileReg after the subtraction?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2.2 SIGNED NUMBER CONCEPTS AND ARITHMETIC OPERATIONS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Signed 8-bit operands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Positive numbers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Negative numbers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Overflow problem in signed number operations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When is the OV flag set?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5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Signed 8-bit operands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690266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D7 (MSB) is the sign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D7=0 : positive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D7=1: negative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D0 to D6 are set aside for the magnitude of the number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N flag (in the status register) is the D&amp; bit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218" name="Google Shape;218;p15"/>
          <p:cNvGrpSpPr/>
          <p:nvPr/>
        </p:nvGrpSpPr>
        <p:grpSpPr>
          <a:xfrm>
            <a:off x="8393824" y="1802361"/>
            <a:ext cx="2971800" cy="1620392"/>
            <a:chOff x="8393824" y="1802361"/>
            <a:chExt cx="2971800" cy="1620392"/>
          </a:xfrm>
        </p:grpSpPr>
        <p:pic>
          <p:nvPicPr>
            <p:cNvPr id="219" name="Google Shape;219;p1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93824" y="1802361"/>
              <a:ext cx="2971800" cy="12668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15"/>
            <p:cNvSpPr txBox="1"/>
            <p:nvPr/>
          </p:nvSpPr>
          <p:spPr>
            <a:xfrm>
              <a:off x="8815137" y="3053421"/>
              <a:ext cx="21291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8-bit signed operand</a:t>
              </a:r>
              <a:endParaRPr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Positive numbers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Range of positive numbers is 0 to +127</a:t>
            </a:r>
            <a:endParaRPr/>
          </a:p>
        </p:txBody>
      </p:sp>
      <p:sp>
        <p:nvSpPr>
          <p:cNvPr id="227" name="Google Shape;2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28" name="Google Shape;22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2154" y="2880982"/>
            <a:ext cx="3498577" cy="2498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Negative numbers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To convert to negative number representation (2’s complement), follow these steps: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Write the magnitude of the number in 8-bit binary (no sign)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Invert each bit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Add 1 to it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Example: How the PIC would represent -5: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Obsever the following steps: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36" name="Google Shape;23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18529" y="5429085"/>
            <a:ext cx="5305425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8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Overflow problem in signed number operations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What is an overflow?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The result of an operation on signed numbers is too large for the register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Example: Examine the following code and analyze the result, including the N and OV flags.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MOVLW +D’96’	;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ADDLW +D’70’	;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	+ 96 		0110  0000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+ 	+70		0100  0110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+166		1010  0110   		N=1 and OV=1. Sum = -90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 is negative (N=1) which iss wrong. OV=1 to indicate the overflow error.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cxnSp>
        <p:nvCxnSpPr>
          <p:cNvPr id="244" name="Google Shape;244;p18"/>
          <p:cNvCxnSpPr/>
          <p:nvPr/>
        </p:nvCxnSpPr>
        <p:spPr>
          <a:xfrm>
            <a:off x="1781503" y="5281448"/>
            <a:ext cx="646387" cy="0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5" name="Google Shape;245;p18"/>
          <p:cNvCxnSpPr/>
          <p:nvPr/>
        </p:nvCxnSpPr>
        <p:spPr>
          <a:xfrm>
            <a:off x="3673366" y="5281448"/>
            <a:ext cx="1292772" cy="0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When is the OV fag set?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OV is set to 1 if either of the following two conditions occurs: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There is a cary from D^ to D7 but no carry out of D7 (C-0)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Ther is a carry from D7 out (C=1) but no carry from D6 to D7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0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Review Questions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 an 8-bit operand, bit …………. is used for the sign bit.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Convert -16H to its 2’s complement representation.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range of byte-sized signed operands is -… to + ….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Show +9 and -9 in binary.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Explain the difference between a carry and an overflow.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2.3 Logic and compare instructions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AND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OR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XOR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COMF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NEGF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Compare instructions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6" name="Google Shape;26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2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Syntax: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	ANDLW k 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Operation: WREG = WREG and  k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Affected flags are Z and N flags.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Example: Show the result of the following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MOVLW 	0x35 ;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dirty="0" smtClean="0">
                <a:latin typeface="Times New Roman"/>
                <a:ea typeface="Times New Roman"/>
                <a:cs typeface="Times New Roman"/>
                <a:sym typeface="Times New Roman"/>
              </a:rPr>
              <a:t>ANDLW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0x0F ;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35H	0 0 1 1 0 1 0 1		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0FH     0 0 0 0 1 1 1 1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05H     0 0 0 0 0 1 0 1    ; 35H and 0FH=05H , Z=0,N=0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274" name="Google Shape;27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23283" y="1679192"/>
            <a:ext cx="2414423" cy="2466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3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Syntax: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IORLW k;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Operation: WREG= WREG Inclusive-OR K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Affected flags: Z and 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Show the results of the following: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MOVLW 0x04  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IORLW    0x30;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b.  Assume that port B bit RB2 is used to control an outdoor light, and bit RB5 to control a light inside a building. Show how to turn “on”  the outdoor light and turn “off” the inside one.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282" name="Google Shape;28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96198" y="1466193"/>
            <a:ext cx="20193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4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OR (2)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 dirty="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04H	0000 0100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   30H 	0011 0000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     34H  	0011 0100  	, Z=0 and N=0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b.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BCF 		TRISB,2		; make RB2 an output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BCF		TRISB,5		; make RB5 an output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MOVLW 	B ‘00000100’	; D2=1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IORWF	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portB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f 		; make RB2=1 only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MOVLW 	B’11011111’		; D5=0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ANDWF	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portB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f		; mask RB5=0 only.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5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XOR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Syntax: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	XORLW k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; WREG=WREG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xor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k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affected flags: Z and 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XORWF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, W</a:t>
            </a:r>
            <a:endParaRPr dirty="0"/>
          </a:p>
        </p:txBody>
      </p:sp>
      <p:sp>
        <p:nvSpPr>
          <p:cNvPr id="296" name="Google Shape;29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pic>
        <p:nvPicPr>
          <p:cNvPr id="297" name="Google Shape;29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02111" y="1732730"/>
            <a:ext cx="2532502" cy="2667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COMF (Complement fileReg)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Changes the 0s to 1s and the 1s to 0s.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CLRF		TRISB  	; Port B=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ouput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MOVLW	0x55H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MOVWF	PORTB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COMF	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PORTB,f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;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portB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=AAH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pic>
        <p:nvPicPr>
          <p:cNvPr id="305" name="Google Shape;30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0230" y="1675743"/>
            <a:ext cx="2076450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7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NEGF (negata fileReg)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takes the 2’s complement of a file register.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Example: Find the 2’s complement of the value 85H. Note that 85H is -123.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MYREG 	EQU 		0x10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	MOVLW 	0x85		85H= 1000 0101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	MOVWF	MYREG 	1’s  = 0111 1010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	NEGF	MYREG	            +          1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			2’s comp                0111 1011 =7BH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2" name="Google Shape;31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cxnSp>
        <p:nvCxnSpPr>
          <p:cNvPr id="313" name="Google Shape;313;p27"/>
          <p:cNvCxnSpPr/>
          <p:nvPr/>
        </p:nvCxnSpPr>
        <p:spPr>
          <a:xfrm>
            <a:off x="7283669" y="5407572"/>
            <a:ext cx="1371600" cy="0"/>
          </a:xfrm>
          <a:prstGeom prst="straightConnector1">
            <a:avLst/>
          </a:prstGeom>
          <a:noFill/>
          <a:ln w="222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8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Compare instructions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9" name="Google Shape;319;p28"/>
          <p:cNvGraphicFramePr/>
          <p:nvPr/>
        </p:nvGraphicFramePr>
        <p:xfrm>
          <a:off x="601717" y="2093639"/>
          <a:ext cx="10515600" cy="1112550"/>
        </p:xfrm>
        <a:graphic>
          <a:graphicData uri="http://schemas.openxmlformats.org/drawingml/2006/table">
            <a:tbl>
              <a:tblPr firstRow="1" bandRow="1">
                <a:noFill/>
                <a:tableStyleId>{B572F4C0-8E20-41A9-AE21-BC97B4E8F53B}</a:tableStyleId>
              </a:tblPr>
              <a:tblGrid>
                <a:gridCol w="1447800"/>
                <a:gridCol w="5562600"/>
                <a:gridCol w="3505200"/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CPFSGT</a:t>
                      </a:r>
                      <a:endParaRPr sz="1800" b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 FileReg with WREG, skip if greater than</a:t>
                      </a:r>
                      <a:endParaRPr sz="1800" b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FileReg &gt; WREG</a:t>
                      </a:r>
                      <a:endParaRPr sz="1800" b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CPFSEQ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 FileReg with WREG, skip if equal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FileReg = WREG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CPFSLT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Compare FileReg with WREG, skip if less than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FileReg &lt; WREG</a:t>
                      </a:r>
                      <a:endParaRPr sz="18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E1EFD8"/>
                    </a:solidFill>
                  </a:tcPr>
                </a:tc>
              </a:tr>
            </a:tbl>
          </a:graphicData>
        </a:graphic>
      </p:graphicFrame>
      <p:sp>
        <p:nvSpPr>
          <p:cNvPr id="320" name="Google Shape;32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9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Review questions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6" name="Google Shape;326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Find the content of register WREG after the following code in each case: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MOVLW 0x37		b. MOVLW 0x37		c. MOVLW 0x37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    ANDLW 0xCA               IORLW  0xCA                 XORLW 0xCA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2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 mask certain bits of the WREG, we must AND it with ……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2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To set certain bits of the WEG to 1, we must OR it with……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2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EX-Oring an operand with itself serults in ….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2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True or false. The CPFSLT instructions alters the contents of its operands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2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Find the contents of register WREG after execution of the following code: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MOVLW	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IORLW	0x99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XORLW	0x99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2.4 ROTATE INSTRUCTION AND DATA SERIALIZATION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Rotating the bits of fileReg right or left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Rotating through the carry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Serializing data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Serializing a byte of data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SWAPF fileReg, 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4" name="Google Shape;33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Rotating the bits of fileReg right and left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Syntax: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RRNCF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fileReg,d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	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; rotate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right (no carry)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342" name="Google Shape;342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3885" y="3130111"/>
            <a:ext cx="3904534" cy="1221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2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Rotating through the carry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8" name="Google Shape;348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Syntax: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RRCF </a:t>
            </a:r>
            <a:r>
              <a:rPr lang="en-US" b="1" dirty="0" err="1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 , d 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; rotate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right through carry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349" name="Google Shape;34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350" name="Google Shape;35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47803" y="3166078"/>
            <a:ext cx="4803007" cy="1279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Serializing data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6" name="Google Shape;356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Two ways to transfer a byte of data serially: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Using the serial port.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Transfer data one bit at a time and control the sequence of data and spaces between them.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357" name="Google Shape;35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4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Serializing a byte data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using the rotate instruction to tranfer a byte of data serially.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Example: Write a program to transfer value 51H serially (one bit at a time) via pin RB1. Put one high at the start and end of the data. Send the LSB first.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Solution: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4" name="Google Shape;36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365" name="Google Shape;365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10394" y="3611946"/>
            <a:ext cx="5572125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5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Serializing a byte data (2)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Example: Write a program to bring in a byte of data serially (one bit at a time) via pin RC7 and save it in file register location 0x21. The byte comes in with the LSB first.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Solution: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373" name="Google Shape;37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63175" y="3436886"/>
            <a:ext cx="5907891" cy="2756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6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SWAPF </a:t>
            </a:r>
            <a:r>
              <a:rPr lang="en-US" dirty="0" err="1">
                <a:latin typeface="Times New Roman"/>
                <a:ea typeface="Times New Roman"/>
                <a:cs typeface="Times New Roman"/>
                <a:sym typeface="Times New Roman"/>
              </a:rPr>
              <a:t>fileReg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, d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swapf work on the file Register, it swaps the lower nibble and the higher nibble.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0" name="Google Shape;380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381" name="Google Shape;381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28116" y="3005957"/>
            <a:ext cx="6731422" cy="2180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7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SWAPF (2)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7" name="Google Shape;387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162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Example: 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Find the contents of the MYREG register in the following code.</a:t>
            </a:r>
            <a:endParaRPr/>
          </a:p>
          <a:p>
            <a:pPr marL="9144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lphaL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 the absence of a SWAPF instruction, how would you exchange the nibbles? Write a simple programe to show the process.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389" name="Google Shape;389;p37"/>
          <p:cNvSpPr txBox="1"/>
          <p:nvPr/>
        </p:nvSpPr>
        <p:spPr>
          <a:xfrm>
            <a:off x="832940" y="3491561"/>
            <a:ext cx="10515600" cy="1627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Solution: 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                                                            b. </a:t>
            </a:r>
            <a:endParaRPr/>
          </a:p>
        </p:txBody>
      </p:sp>
      <p:pic>
        <p:nvPicPr>
          <p:cNvPr id="390" name="Google Shape;390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0114" y="4256691"/>
            <a:ext cx="5159626" cy="1261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09740" y="4165383"/>
            <a:ext cx="3924300" cy="13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Review questions.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What is the value of MYREG in the file register after the following code is excuted?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	MYREG	EQU 0x40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	MOVLW	0x25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	MOVWF 	MYREG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	RRNCF	MYREG,F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	RRNCF	MYREG, F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	RRNCF	MYREG,F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		RRNCF	MYREG,F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2. What is the value of  MYREG in the file register after the following code is excuted?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8" name="Google Shape;398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pic>
        <p:nvPicPr>
          <p:cNvPr id="399" name="Google Shape;39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2414" y="5140051"/>
            <a:ext cx="2933700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BCD AND ASSCII CONVERSION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5" name="Google Shape;405;p3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ASCII numbers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Packed BCD to ASCII conversion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6" name="Google Shape;406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ASCII number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BCD numbers are universal.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The keyboard, printers, and monotors all use ASCII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How does data get converted from ASCII to BCD, and vice versa?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pic>
        <p:nvPicPr>
          <p:cNvPr id="414" name="Google Shape;414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41262" y="3239816"/>
            <a:ext cx="6332020" cy="309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1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Packed BCD to ASCII conversion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4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Converting packed BCD to ASCII: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pic>
        <p:nvPicPr>
          <p:cNvPr id="422" name="Google Shape;422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8648" y="2727599"/>
            <a:ext cx="7299869" cy="1544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2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ASCII to packed BCD conversion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8" name="Google Shape;428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2 steps  converting ASCII to packed BCD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Convert it to unpacked BCD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Combine it to make packed BCD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pic>
        <p:nvPicPr>
          <p:cNvPr id="430" name="Google Shape;43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1960" y="3172716"/>
            <a:ext cx="11859512" cy="1525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3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Review questions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For the following decimal numbers, give the packed BCD and unpacked BCD representation: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lphaL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15                              b. 99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 Show the binary and hex formats for “76” and its BCD version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3. Does the WREG register have BCD data after the following instructions in excuted?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	MOVLW D ‘54’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4. 67H in BCD when converted to ASCII is ….H and ….H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5. Does the following convert unpacked BCD in the WREG register to ASCII?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MOVLW 0x09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	ADDLW 0x30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7" name="Google Shape;43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4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2.6 Call instructions and stack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CALL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RCALL (relative call)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5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CALL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4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4-bytes (32 bit) instruction :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12 bits: opcode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20 bits (A21-A1): address of the target subroutine.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grpSp>
        <p:nvGrpSpPr>
          <p:cNvPr id="452" name="Google Shape;452;p45"/>
          <p:cNvGrpSpPr/>
          <p:nvPr/>
        </p:nvGrpSpPr>
        <p:grpSpPr>
          <a:xfrm>
            <a:off x="2952094" y="3429000"/>
            <a:ext cx="5562600" cy="2994288"/>
            <a:chOff x="2952094" y="3429000"/>
            <a:chExt cx="5562600" cy="2994288"/>
          </a:xfrm>
        </p:grpSpPr>
        <p:pic>
          <p:nvPicPr>
            <p:cNvPr id="453" name="Google Shape;453;p45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952094" y="3429000"/>
              <a:ext cx="5562600" cy="2486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" name="Google Shape;454;p45"/>
            <p:cNvSpPr txBox="1"/>
            <p:nvPr/>
          </p:nvSpPr>
          <p:spPr>
            <a:xfrm>
              <a:off x="5360276" y="6053956"/>
              <a:ext cx="15895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Call instruction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6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Stack and stack pointer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pic>
        <p:nvPicPr>
          <p:cNvPr id="462" name="Google Shape;46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9887" y="2371890"/>
            <a:ext cx="6372225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7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4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Toggle all the bits of the SR register of Port B by sending to it the value 55H and AAH continuously. Put a time delay in between each issuing of data to port B.</a:t>
            </a:r>
            <a:endParaRPr/>
          </a:p>
          <a:p>
            <a:pPr marL="514350" lvl="0" indent="-3365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9" name="Google Shape;469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8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RCALL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5" name="Google Shape;475;p4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RCALL is a 2-byte instruction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The target address of the subroutine is 2K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Example: Rewire the main part of previous example as effeciently as you can.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9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Review questions.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2" name="Google Shape;482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wide is the size of the stack in the PIC18?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True or false. In the PIC19, control can be transferred anywhere withing the 2M of code space by using the CALL instruction.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The CALL instruction is a(n) …. – byte instruction.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True or false. In PIC18, control can be transferred anywhere withing 2M of code space by  using the RCALL instruction.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How deep is the size of the stack in the PIC18?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3" name="Google Shape;483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0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2.7 Time delay and instruction pipeline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9" name="Google Shape;489;p5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Delay calculation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Pipelining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Instruction cycle time for the PIC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Branch penalty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Loop inside a loop delay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PIC multistage execution pipeline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0" name="Google Shape;490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1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Delay calculation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6" name="Google Shape;496;p5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Two factors affect the accuracy of the delay: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The crystal frequency: The duration of the closk period for the instruction cycle is a function of this crystal frequency.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The PIC design: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7" name="Google Shape;49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2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Pipelining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p5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Pipelining allow the CPU fetch and excute at the same time.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4" name="Google Shape;504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pic>
        <p:nvPicPr>
          <p:cNvPr id="505" name="Google Shape;505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1632" y="2533811"/>
            <a:ext cx="7542357" cy="1936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3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Instruction cycle time for the PIC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1" name="Google Shape;511;p5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Instruction cycle: amount of time for the CPU to execute an instruction.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 The instructions in the PIC18 are either 2-byte or 4-byte -&gt; take more than one or two instruction cycles to execute.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One instruction cycle consists of four oscillator periods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to caculation the instruction cycle for the PIC, we take ¼ of the crystal frequency, then take its inverse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2" name="Google Shape;512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4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Instruction cycle time for the PIC (2)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8" name="Google Shape;518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Example: The following shows the crystal frequency for three different PIC – based systems. Find the period of the instruction cycle in each case.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a. 4Mhz            b. 16Mhz                c. 20MHz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Solution: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lphaL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4/4=1 MHz, instruction cycle is 1/1 MHz = 1us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lphaL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16/4 Mhz=4MHz, instruction cycle= 1/4Mhz= 0.25us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lphaL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20/4Mhz= 5Mhz, instruction cycle=1/5 Mhz= 0.2us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9" name="Google Shape;519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5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Delay calculation(2)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5" name="Google Shape;525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 delay subroutine consist of 2 parts: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Setting a counter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 loop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❑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Example: find the sixe of the delay in the following program if the crystal frequency is 4Mhz.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  <p:pic>
        <p:nvPicPr>
          <p:cNvPr id="527" name="Google Shape;527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4973" y="3442865"/>
            <a:ext cx="4616723" cy="325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6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Loop inside a loop delay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3" name="Google Shape;533;p5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Example: For a instruction cycle of 1us, fid the time delay in the following subroutine.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pic>
        <p:nvPicPr>
          <p:cNvPr id="535" name="Google Shape;535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44362" y="2649920"/>
            <a:ext cx="4686300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7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Loop inside a loop delay (2)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5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Example: Find the time delay for the following subroutine, assuming a crystal frequency of 4 Mhz. Discuss the disadvantages of this over previous example.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  <p:pic>
        <p:nvPicPr>
          <p:cNvPr id="543" name="Google Shape;543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38600" y="2770082"/>
            <a:ext cx="3891455" cy="3873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8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PIC multistage execution pipeline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5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The execution unit takes 4 clock 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perids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of the oscillator. </a:t>
            </a:r>
            <a:endParaRPr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Q1: decoding the instruction that is already fetched and sitting in the queue.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Q2: the operand is fetched from the file register.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Q3: operation is performed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❑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Q4:  result is </a:t>
            </a:r>
            <a:r>
              <a:rPr lang="en-US" sz="2000" dirty="0" err="1" smtClean="0">
                <a:latin typeface="Times New Roman"/>
                <a:ea typeface="Times New Roman"/>
                <a:cs typeface="Times New Roman"/>
                <a:sym typeface="Times New Roman"/>
              </a:rPr>
              <a:t>writen</a:t>
            </a:r>
            <a:r>
              <a:rPr lang="en-US" sz="2000" dirty="0" smtClean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into the destination register.</a:t>
            </a:r>
            <a:endParaRPr dirty="0"/>
          </a:p>
          <a:p>
            <a:pPr marL="22860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pic>
        <p:nvPicPr>
          <p:cNvPr id="551" name="Google Shape;551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9111" y="2456465"/>
            <a:ext cx="38100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36883" y="4562475"/>
            <a:ext cx="579120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8"/>
          <p:cNvSpPr txBox="1"/>
          <p:nvPr/>
        </p:nvSpPr>
        <p:spPr>
          <a:xfrm>
            <a:off x="9112473" y="4562475"/>
            <a:ext cx="27747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activity for both fetch and execute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9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Review questions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9" name="Google Shape;559;p59"/>
          <p:cNvSpPr txBox="1">
            <a:spLocks noGrp="1"/>
          </p:cNvSpPr>
          <p:nvPr>
            <p:ph type="body" idx="1"/>
          </p:nvPr>
        </p:nvSpPr>
        <p:spPr>
          <a:xfrm>
            <a:off x="804041" y="1825625"/>
            <a:ext cx="10549759" cy="2856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True or false. The instruction cycle lasts 4 clock periods of the crystal frequency. 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minimun number of instruction cycle needs to execute a PIC 18 instruction is ….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For question 2. what is the maximum number of  cycles neeeded, and for which instructions?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Find the instructuon cycle for a crustal frequency of 12 Mhz.</a:t>
            </a:r>
            <a:endParaRPr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Assuming a crystal frequency of 4 Mhz, find the time delay associated with the loop section of the following DELAY subroutine: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0" name="Google Shape;560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pic>
        <p:nvPicPr>
          <p:cNvPr id="561" name="Google Shape;561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0263" y="4302180"/>
            <a:ext cx="3381375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60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2.8 I/O port programming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7" name="Google Shape;567;p6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List all the ports of the PIC18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Describle the dual role of PIC18 pins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Code assembly language to use the ports for  input or output.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Explain the dual role of Ports A, B, C, and D.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Code PIC instructions for I/O handling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CodeI/O bit-manipulation programs for the PIC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Expalin the bit-addressability of PIC ports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8" name="Google Shape;568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61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p6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5" name="Google Shape;575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2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1" name="Google Shape;581;p6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2" name="Google Shape;582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3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8" name="Google Shape;588;p6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" name="Google Shape;589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64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5" name="Google Shape;595;p6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6" name="Google Shape;596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64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65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2" name="Google Shape;602;p6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3" name="Google Shape;603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65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66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6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0" name="Google Shape;610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66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7"/>
          <p:cNvSpPr txBox="1">
            <a:spLocks noGrp="1"/>
          </p:cNvSpPr>
          <p:nvPr>
            <p:ph type="title"/>
          </p:nvPr>
        </p:nvSpPr>
        <p:spPr>
          <a:xfrm>
            <a:off x="778301" y="44930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6" name="Google Shape;616;p6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7" name="Google Shape;617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67</a:t>
            </a:fld>
            <a:endParaRPr/>
          </a:p>
        </p:txBody>
      </p:sp>
      <p:pic>
        <p:nvPicPr>
          <p:cNvPr id="618" name="Google Shape;618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0"/>
            <a:ext cx="10744200" cy="709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8"/>
          <p:cNvSpPr/>
          <p:nvPr/>
        </p:nvSpPr>
        <p:spPr>
          <a:xfrm>
            <a:off x="2321549" y="2967335"/>
            <a:ext cx="7548926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84BE65"/>
                </a:solidFill>
                <a:latin typeface="Calibri"/>
                <a:ea typeface="Calibri"/>
                <a:cs typeface="Calibri"/>
                <a:sym typeface="Calibri"/>
              </a:rPr>
              <a:t>Chúc các em thành công</a:t>
            </a:r>
            <a:endParaRPr sz="5400" b="1">
              <a:solidFill>
                <a:srgbClr val="84BE6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84BE65"/>
                </a:solidFill>
                <a:latin typeface="Calibri"/>
                <a:ea typeface="Calibri"/>
                <a:cs typeface="Calibri"/>
                <a:sym typeface="Calibri"/>
              </a:rPr>
              <a:t> trên con đường đã chọn!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9"/>
          <p:cNvSpPr/>
          <p:nvPr/>
        </p:nvSpPr>
        <p:spPr>
          <a:xfrm>
            <a:off x="3429000" y="4327526"/>
            <a:ext cx="5410200" cy="701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 w="25400" cap="flat" cmpd="sng">
                  <a:solidFill>
                    <a:srgbClr val="FEFEFE"/>
                  </a:solidFill>
                  <a:prstDash val="solid"/>
                  <a:round/>
                  <a:headEnd type="none" w="sm" len="sm"/>
                  <a:tailEnd type="none" w="sm" len="sm"/>
                </a:ln>
                <a:gradFill>
                  <a:gsLst>
                    <a:gs pos="0">
                      <a:schemeClr val="hlink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Calibri"/>
              </a:rPr>
              <a:t>Thank You !</a:t>
            </a:r>
          </a:p>
        </p:txBody>
      </p:sp>
      <p:sp>
        <p:nvSpPr>
          <p:cNvPr id="629" name="Google Shape;629;p6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2264</Words>
  <Application>Microsoft Office PowerPoint</Application>
  <PresentationFormat>Widescreen</PresentationFormat>
  <Paragraphs>457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Arial</vt:lpstr>
      <vt:lpstr>Calibri</vt:lpstr>
      <vt:lpstr>Noto Sans Symbols</vt:lpstr>
      <vt:lpstr>Times New Roman</vt:lpstr>
      <vt:lpstr>Office Theme</vt:lpstr>
      <vt:lpstr>PowerPoint Presentation</vt:lpstr>
      <vt:lpstr>Contents</vt:lpstr>
      <vt:lpstr>2.1 Arithmetic instructions</vt:lpstr>
      <vt:lpstr>Addition (2)</vt:lpstr>
      <vt:lpstr>Addition (3)</vt:lpstr>
      <vt:lpstr>Subtraction of unsigned numbers</vt:lpstr>
      <vt:lpstr>Subtraction (2)</vt:lpstr>
      <vt:lpstr>Subtraction (3)</vt:lpstr>
      <vt:lpstr>Subtraction (4)</vt:lpstr>
      <vt:lpstr>Multiplication of usigned numbers</vt:lpstr>
      <vt:lpstr>Multiplication (2)</vt:lpstr>
      <vt:lpstr>Division of unsigned numbers</vt:lpstr>
      <vt:lpstr>Review questions</vt:lpstr>
      <vt:lpstr>2.2 SIGNED NUMBER CONCEPTS AND ARITHMETIC OPERATIONS</vt:lpstr>
      <vt:lpstr>Signed 8-bit operands</vt:lpstr>
      <vt:lpstr>Positive numbers</vt:lpstr>
      <vt:lpstr>Negative numbers</vt:lpstr>
      <vt:lpstr>Overflow problem in signed number operations</vt:lpstr>
      <vt:lpstr>When is the OV fag set?</vt:lpstr>
      <vt:lpstr>Review Questions</vt:lpstr>
      <vt:lpstr>2.3 Logic and compare instructions</vt:lpstr>
      <vt:lpstr>AND</vt:lpstr>
      <vt:lpstr>OR</vt:lpstr>
      <vt:lpstr>OR (2)</vt:lpstr>
      <vt:lpstr>XOR</vt:lpstr>
      <vt:lpstr>COMF (Complement fileReg)</vt:lpstr>
      <vt:lpstr>NEGF (negata fileReg)</vt:lpstr>
      <vt:lpstr>Compare instructions</vt:lpstr>
      <vt:lpstr>Review questions</vt:lpstr>
      <vt:lpstr>2.4 ROTATE INSTRUCTION AND DATA SERIALIZATION</vt:lpstr>
      <vt:lpstr>Rotating the bits of fileReg right and left</vt:lpstr>
      <vt:lpstr>Rotating through the carry</vt:lpstr>
      <vt:lpstr>Serializing data</vt:lpstr>
      <vt:lpstr>Serializing a byte data</vt:lpstr>
      <vt:lpstr>Serializing a byte data (2)</vt:lpstr>
      <vt:lpstr>SWAPF fileReg, d</vt:lpstr>
      <vt:lpstr>SWAPF (2)</vt:lpstr>
      <vt:lpstr>Review questions.</vt:lpstr>
      <vt:lpstr>BCD AND ASSCII CONVERSION</vt:lpstr>
      <vt:lpstr>ASCII number</vt:lpstr>
      <vt:lpstr>Packed BCD to ASCII conversion</vt:lpstr>
      <vt:lpstr>ASCII to packed BCD conversion</vt:lpstr>
      <vt:lpstr>Review questions</vt:lpstr>
      <vt:lpstr>2.6 Call instructions and stack</vt:lpstr>
      <vt:lpstr>CALL</vt:lpstr>
      <vt:lpstr>Stack and stack pointer</vt:lpstr>
      <vt:lpstr>Example</vt:lpstr>
      <vt:lpstr>RCALL</vt:lpstr>
      <vt:lpstr>Review questions.</vt:lpstr>
      <vt:lpstr>2.7 Time delay and instruction pipeline</vt:lpstr>
      <vt:lpstr>Delay calculation </vt:lpstr>
      <vt:lpstr>Pipelining</vt:lpstr>
      <vt:lpstr>Instruction cycle time for the PIC</vt:lpstr>
      <vt:lpstr>Instruction cycle time for the PIC (2)</vt:lpstr>
      <vt:lpstr> Delay calculation(2)</vt:lpstr>
      <vt:lpstr>Loop inside a loop delay</vt:lpstr>
      <vt:lpstr>Loop inside a loop delay (2)</vt:lpstr>
      <vt:lpstr>PIC multistage execution pipeline</vt:lpstr>
      <vt:lpstr>Review questions</vt:lpstr>
      <vt:lpstr>2.8 I/O port programming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Toan Le</dc:creator>
  <cp:lastModifiedBy>Admin</cp:lastModifiedBy>
  <cp:revision>13</cp:revision>
  <dcterms:created xsi:type="dcterms:W3CDTF">2020-07-15T05:19:11Z</dcterms:created>
  <dcterms:modified xsi:type="dcterms:W3CDTF">2022-01-11T09:04:46Z</dcterms:modified>
</cp:coreProperties>
</file>