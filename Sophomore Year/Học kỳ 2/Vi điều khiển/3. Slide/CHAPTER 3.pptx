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4" r:id="rId9"/>
    <p:sldId id="265" r:id="rId10"/>
    <p:sldId id="267" r:id="rId11"/>
    <p:sldId id="268" r:id="rId12"/>
    <p:sldId id="269" r:id="rId13"/>
    <p:sldId id="270" r:id="rId14"/>
    <p:sldId id="273" r:id="rId15"/>
    <p:sldId id="271" r:id="rId16"/>
    <p:sldId id="272" r:id="rId17"/>
    <p:sldId id="274" r:id="rId18"/>
    <p:sldId id="275" r:id="rId19"/>
    <p:sldId id="276" r:id="rId20"/>
    <p:sldId id="277" r:id="rId21"/>
    <p:sldId id="262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8584" autoAdjust="0"/>
  </p:normalViewPr>
  <p:slideViewPr>
    <p:cSldViewPr snapToGrid="0">
      <p:cViewPr varScale="1">
        <p:scale>
          <a:sx n="37" d="100"/>
          <a:sy n="37" d="100"/>
        </p:scale>
        <p:origin x="2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69E262-AC4C-4B7A-ADC6-6007ED918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72112F4-D35C-410B-91EC-4FE6F7195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79324D-0446-4F16-A839-924D8A2B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73E383-08A0-4BDF-80F9-577BE740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6EA5BC-C7FE-4425-A443-77275EF6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2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724980-BF35-4A49-8D81-AECE2637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3400"/>
          </a:xfrm>
          <a:noFill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795748-6D0C-4A53-BC50-FC1E202E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1942"/>
            <a:ext cx="12192000" cy="5468541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A07337-B443-4BD0-825C-61BF83FC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E36922-3BFD-4B83-93D2-3A49A46E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908070-017C-4F44-BFFD-FC98AD5A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5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0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4" y="16328"/>
            <a:ext cx="9629094" cy="641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9888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8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3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A81804-498D-4E69-AD37-B628C2FB9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D9426D9-177C-42CA-B5AA-189C9CD42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CEABB9-4F57-4FAF-B7E5-86EB164207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B093DB-344E-4593-9A83-11B6874F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ABE9DB-5A83-447B-B009-31608127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9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5E839-DE65-4CAB-B3CE-B67877302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F086A7-4BC5-4570-AE26-D8AA1652F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1325563"/>
            <a:ext cx="6071937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2A88F1F-9CC7-4106-8C68-BF579089D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1937" y="1325563"/>
            <a:ext cx="6272463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288B53-A651-4336-B770-344B1E20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70CF91C-C248-4A8B-A893-7F52D55A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CF278CD-1478-4D00-B646-CC9F4D61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4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4B7060-DFDF-4549-B5F1-5947FAE2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5F5FE2-55FC-44E0-9092-5B8857066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BD35F6A-63D9-4832-80CC-384284522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6BF4741-D763-4DC6-B7E9-6EB3D9A4C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EDA4651-74F8-47BD-B89F-4F9C08501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FA191C2-CE7E-48BF-97CF-289362B6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0DC2448-1BCA-4E45-939A-A3528F1F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78526AD-4B2F-4F99-9EED-6B6199E3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1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FF6D6A-5EDF-4047-9E54-4728D150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3855F7-40C2-4B53-87CF-0DB6BBE3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CEA971A-6A7E-47DC-9043-B082EA5A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E2227C2-5BF9-4B9A-84BC-BFF9DA42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8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9B45176-22FF-4961-8952-A67A54CB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315661-A99E-49FD-BA38-7F267735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4C59D72-3A2F-495E-8B2C-3A7EEEE1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0E4A89-3D7B-42B4-9E6E-F3149D8D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3C0B0C-FF1F-413C-92E3-F557F43BD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8F98F7E-248C-4F47-AC0E-AAE1C7610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D2552F0-2AC8-4BCB-9F52-0BBC85EF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3274349-E594-4DF3-B059-2B4269B1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3133C74-FB69-48DA-B2A7-F8BD6DF1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2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E69F0D-C54A-4FDC-B3DC-DAD517F4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26B7E17-F590-46EA-B1D1-F719E9727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A1D0057-40C6-42C4-BDAC-F64C3D26E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E4F7D14-3148-4C96-95A6-EDADD311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AEE2927-EBDB-4128-8B13-B2D4DDFC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0423B5A-4E7E-4DB2-AFC0-3F36C12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7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3763F9-EA5C-486C-A37E-D7713527F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D467F49-C68D-462B-87CB-8F67E37CA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F95383-E7C3-4CB5-80AA-C610D683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159819-1C43-48D9-B06D-128C5DD60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324824-5F31-4078-9A59-E89EDEBF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80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FD09853-61E0-4390-8E9F-80EC16364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F01FD2A-5714-4A54-AC83-4D08E66B3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7734179-3DE8-484B-BB9C-6FB8FF4B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9F180E-CEC1-4CC3-88B7-9723E5DF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6EB187-43D3-484D-8653-C7F38371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603832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762000"/>
            <a:ext cx="9880600" cy="4525963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272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46FC957-9CD9-4A6B-A1C0-98873B748648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8051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94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F3EDDC8-ED0E-42EA-81CC-C9B6D0A2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89F308-4027-4851-80A5-ABE205ADC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25563"/>
            <a:ext cx="11353800" cy="485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33D7B0-FAB5-4C79-BEC0-D607420B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1875" r="79744" b="81688"/>
          <a:stretch/>
        </p:blipFill>
        <p:spPr bwMode="auto">
          <a:xfrm>
            <a:off x="10586677" y="104930"/>
            <a:ext cx="802443" cy="487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80" y="104930"/>
            <a:ext cx="9250136" cy="4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358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PIC PROGRAMMING IN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05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Microcontrollers</a:t>
            </a:r>
          </a:p>
          <a:p>
            <a:r>
              <a:rPr lang="en-US" dirty="0" smtClean="0"/>
              <a:t>Overview of the PIC18 Family</a:t>
            </a:r>
          </a:p>
          <a:p>
            <a:r>
              <a:rPr lang="en-U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78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Examine C data types for the PIC18</a:t>
            </a:r>
          </a:p>
          <a:p>
            <a:r>
              <a:rPr lang="en-US" dirty="0" smtClean="0"/>
              <a:t>Code C18 programs for time delay and I/O operations</a:t>
            </a:r>
          </a:p>
          <a:p>
            <a:r>
              <a:rPr lang="en-US" dirty="0"/>
              <a:t>Code C18 programs </a:t>
            </a:r>
            <a:r>
              <a:rPr lang="en-US" dirty="0" smtClean="0"/>
              <a:t>for I/O bit manipulation</a:t>
            </a:r>
          </a:p>
          <a:p>
            <a:r>
              <a:rPr lang="en-US" dirty="0"/>
              <a:t>Code C18 programs </a:t>
            </a:r>
            <a:r>
              <a:rPr lang="en-US" dirty="0" smtClean="0"/>
              <a:t>for logic and arithmetic operations</a:t>
            </a:r>
          </a:p>
          <a:p>
            <a:r>
              <a:rPr lang="en-US" dirty="0"/>
              <a:t>Code C18 programs </a:t>
            </a:r>
            <a:r>
              <a:rPr lang="en-US" dirty="0" smtClean="0"/>
              <a:t>for data serialization</a:t>
            </a:r>
          </a:p>
          <a:p>
            <a:r>
              <a:rPr lang="en-US" dirty="0" smtClean="0"/>
              <a:t>Understand C18 compiler RAM and ROM allocation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988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program the PIC18 in 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Hex file produced by the compiler will be downloaded into the </a:t>
            </a:r>
            <a:r>
              <a:rPr lang="en-US" dirty="0" err="1" smtClean="0"/>
              <a:t>arom</a:t>
            </a:r>
            <a:r>
              <a:rPr lang="en-US" dirty="0" smtClean="0"/>
              <a:t> of the microcontroller.</a:t>
            </a:r>
          </a:p>
          <a:p>
            <a:pPr algn="just"/>
            <a:r>
              <a:rPr lang="en-US" dirty="0" smtClean="0"/>
              <a:t>The size of hex file is the main concerns of programmers for 2 reasons:</a:t>
            </a:r>
          </a:p>
          <a:p>
            <a:pPr lvl="1" algn="just"/>
            <a:r>
              <a:rPr lang="en-US" dirty="0" smtClean="0"/>
              <a:t> Microcontrollers have limited on-chip ROM.</a:t>
            </a:r>
          </a:p>
          <a:p>
            <a:pPr lvl="1" algn="just"/>
            <a:r>
              <a:rPr lang="en-US" dirty="0" smtClean="0"/>
              <a:t>The code space from the PIC18 is limited to 2M.</a:t>
            </a:r>
            <a:endParaRPr lang="en-US" dirty="0"/>
          </a:p>
          <a:p>
            <a:pPr algn="just"/>
            <a:r>
              <a:rPr lang="en-US" dirty="0" smtClean="0"/>
              <a:t>Writing programs in C instead of Assembly, because:</a:t>
            </a:r>
            <a:endParaRPr lang="en-US" dirty="0"/>
          </a:p>
          <a:p>
            <a:pPr lvl="1" algn="just"/>
            <a:r>
              <a:rPr lang="en-US" dirty="0"/>
              <a:t> </a:t>
            </a:r>
            <a:r>
              <a:rPr lang="en-US" dirty="0" smtClean="0"/>
              <a:t>It is easier and less time consuming to write in C than in Assembly.</a:t>
            </a:r>
          </a:p>
          <a:p>
            <a:pPr lvl="1" algn="just"/>
            <a:r>
              <a:rPr lang="en-US" dirty="0" smtClean="0"/>
              <a:t>C is easier to modify and update.</a:t>
            </a:r>
          </a:p>
          <a:p>
            <a:pPr lvl="1" algn="just"/>
            <a:r>
              <a:rPr lang="en-US" dirty="0" smtClean="0"/>
              <a:t>You can use code available in function libraries.</a:t>
            </a:r>
          </a:p>
          <a:p>
            <a:pPr lvl="1" algn="just"/>
            <a:r>
              <a:rPr lang="en-US" dirty="0" smtClean="0"/>
              <a:t>C code is portable to other microcontrollers with little or no modification.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01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 Data types and Time delays in 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 data types for the PIC18</a:t>
            </a:r>
          </a:p>
          <a:p>
            <a:pPr lvl="1"/>
            <a:r>
              <a:rPr lang="en-US" dirty="0" smtClean="0"/>
              <a:t>One of the goals of C18 programmers is to create smaller hex files </a:t>
            </a:r>
            <a:r>
              <a:rPr lang="en-US" dirty="0" smtClean="0">
                <a:sym typeface="Wingdings" panose="05000000000000000000" pitchFamily="2" charset="2"/>
              </a:rPr>
              <a:t> a good understanding of C data types for the C18.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Some Data types widely Used by C18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791347"/>
              </p:ext>
            </p:extLst>
          </p:nvPr>
        </p:nvGraphicFramePr>
        <p:xfrm>
          <a:off x="1623610" y="2513520"/>
          <a:ext cx="812799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1711225"/>
                <a:gridCol w="370744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Size in Bits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 Range/Usage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Unsigned 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8-bit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 to 255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-128 to +127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Unsigned </a:t>
                      </a:r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16-bit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 to 65535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16-bit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-32768 to +32767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Unsigned 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16-bit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 to 65535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16-bit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-32768 to +32767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Unsigned short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24-bit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 to 1677215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Short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24-bit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-8388608 to +8388607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Unsigned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32-bit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 to 4294967295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32-bit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-2147483648 to +2147483647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719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Data types and Time delays in C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5349" y="1505695"/>
            <a:ext cx="6386053" cy="3914651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0" y="811942"/>
            <a:ext cx="12192000" cy="5468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 data types for the PIC18</a:t>
            </a:r>
          </a:p>
        </p:txBody>
      </p:sp>
    </p:spTree>
    <p:extLst>
      <p:ext uri="{BB962C8B-B14F-4D97-AF65-F5344CB8AC3E}">
        <p14:creationId xmlns:p14="http://schemas.microsoft.com/office/powerpoint/2010/main" val="147038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Data types and Time delays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data types for the </a:t>
            </a:r>
            <a:r>
              <a:rPr lang="en-US" dirty="0" smtClean="0"/>
              <a:t>PIC18</a:t>
            </a:r>
            <a:endParaRPr lang="en-US" dirty="0"/>
          </a:p>
          <a:p>
            <a:pPr lvl="1"/>
            <a:r>
              <a:rPr lang="en-US" dirty="0" smtClean="0"/>
              <a:t>Unsigned char</a:t>
            </a:r>
          </a:p>
          <a:p>
            <a:pPr lvl="2"/>
            <a:r>
              <a:rPr lang="en-US" dirty="0" smtClean="0"/>
              <a:t>An 8-bit data type that takes a value in the range of 0-255 (00-FFH)</a:t>
            </a:r>
          </a:p>
          <a:p>
            <a:pPr lvl="2"/>
            <a:r>
              <a:rPr lang="en-US" dirty="0" smtClean="0"/>
              <a:t>When setting a counter value, we should use the unsigned char instead of the signed char.</a:t>
            </a:r>
          </a:p>
          <a:p>
            <a:pPr lvl="2"/>
            <a:r>
              <a:rPr lang="en-US" dirty="0" smtClean="0"/>
              <a:t>C compilers use the signed char as the default unless we put  the keyword </a:t>
            </a:r>
            <a:r>
              <a:rPr lang="en-US" i="1" dirty="0" smtClean="0"/>
              <a:t>unsigned</a:t>
            </a:r>
            <a:r>
              <a:rPr lang="en-US" dirty="0" smtClean="0"/>
              <a:t> in front of the char.</a:t>
            </a:r>
          </a:p>
          <a:p>
            <a:pPr lvl="2"/>
            <a:r>
              <a:rPr lang="en-US" dirty="0" smtClean="0"/>
              <a:t>Use the unsigned char for a string of ASCII characters.</a:t>
            </a:r>
          </a:p>
          <a:p>
            <a:pPr lvl="2"/>
            <a:r>
              <a:rPr lang="en-US" dirty="0" smtClean="0"/>
              <a:t>Must pay attention to the size of the data in declaring variables and try to use unsigned char instead of </a:t>
            </a:r>
            <a:r>
              <a:rPr lang="en-US" dirty="0" err="1" smtClean="0"/>
              <a:t>int</a:t>
            </a:r>
            <a:r>
              <a:rPr lang="en-US" dirty="0" smtClean="0"/>
              <a:t> if possible, because using </a:t>
            </a:r>
            <a:r>
              <a:rPr lang="en-US" dirty="0" err="1" smtClean="0"/>
              <a:t>int</a:t>
            </a:r>
            <a:r>
              <a:rPr lang="en-US" dirty="0" smtClean="0"/>
              <a:t> can lead to a large-size hex file.</a:t>
            </a:r>
          </a:p>
          <a:p>
            <a:pPr lvl="2"/>
            <a:r>
              <a:rPr lang="en-US" dirty="0" smtClean="0"/>
              <a:t>Example 1: Write a C18 program to send values 00-FF to Port B.</a:t>
            </a:r>
          </a:p>
          <a:p>
            <a:pPr lvl="2"/>
            <a:r>
              <a:rPr lang="en-US" dirty="0" smtClean="0"/>
              <a:t>Example 2: Write a C18 program to send hex values for ASCII character of 0, 1, 2, 3, 4, 5, A, B, C and D to Port B.</a:t>
            </a:r>
          </a:p>
          <a:p>
            <a:pPr lvl="2"/>
            <a:r>
              <a:rPr lang="en-US" dirty="0"/>
              <a:t>Example </a:t>
            </a:r>
            <a:r>
              <a:rPr lang="en-US" dirty="0" smtClean="0"/>
              <a:t>3: </a:t>
            </a:r>
            <a:r>
              <a:rPr lang="en-US" dirty="0"/>
              <a:t>Write a C18 </a:t>
            </a:r>
            <a:r>
              <a:rPr lang="en-US" dirty="0" smtClean="0"/>
              <a:t>program </a:t>
            </a:r>
            <a:r>
              <a:rPr lang="en-US" dirty="0" err="1" smtClean="0"/>
              <a:t>toously</a:t>
            </a:r>
            <a:r>
              <a:rPr lang="en-US" dirty="0" smtClean="0"/>
              <a:t>. toggle all the bits of Port b continuously.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152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Data types and Time delays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data types for the </a:t>
            </a:r>
            <a:r>
              <a:rPr lang="en-US" dirty="0" smtClean="0"/>
              <a:t>PIC18</a:t>
            </a:r>
            <a:endParaRPr lang="en-US" dirty="0"/>
          </a:p>
          <a:p>
            <a:pPr lvl="1"/>
            <a:r>
              <a:rPr lang="en-US" dirty="0" smtClean="0"/>
              <a:t>Signed char</a:t>
            </a:r>
          </a:p>
          <a:p>
            <a:pPr lvl="2"/>
            <a:r>
              <a:rPr lang="en-US" dirty="0" smtClean="0"/>
              <a:t>An 8-bit data type that uses the most significant bit to represent the – or + value, 7 bits for the magnitude of the signed number from -128 to +127.</a:t>
            </a:r>
          </a:p>
          <a:p>
            <a:pPr lvl="2"/>
            <a:r>
              <a:rPr lang="en-US" dirty="0" smtClean="0"/>
              <a:t>+ and – represent a given </a:t>
            </a:r>
            <a:r>
              <a:rPr lang="en-US" dirty="0" err="1" smtClean="0"/>
              <a:t>quanity</a:t>
            </a:r>
            <a:r>
              <a:rPr lang="en-US" dirty="0" smtClean="0"/>
              <a:t> (temperature) </a:t>
            </a:r>
            <a:r>
              <a:rPr lang="en-US" dirty="0" smtClean="0">
                <a:sym typeface="Wingdings" panose="05000000000000000000" pitchFamily="2" charset="2"/>
              </a:rPr>
              <a:t> use the signed char data type</a:t>
            </a:r>
            <a:endParaRPr lang="en-US" dirty="0" smtClean="0"/>
          </a:p>
          <a:p>
            <a:pPr lvl="2"/>
            <a:r>
              <a:rPr lang="en-US" dirty="0" smtClean="0"/>
              <a:t>If we do not use the keyword </a:t>
            </a:r>
            <a:r>
              <a:rPr lang="en-US" i="1" dirty="0" smtClean="0"/>
              <a:t>unsigned</a:t>
            </a:r>
            <a:r>
              <a:rPr lang="en-US" dirty="0" smtClean="0"/>
              <a:t>, the default is the signed value.</a:t>
            </a:r>
          </a:p>
          <a:p>
            <a:pPr lvl="2"/>
            <a:r>
              <a:rPr lang="en-US" dirty="0" smtClean="0"/>
              <a:t>Example 4: Write a C18 program to send values -4 to +4 to Port B.</a:t>
            </a:r>
          </a:p>
        </p:txBody>
      </p:sp>
    </p:spTree>
    <p:extLst>
      <p:ext uri="{BB962C8B-B14F-4D97-AF65-F5344CB8AC3E}">
        <p14:creationId xmlns:p14="http://schemas.microsoft.com/office/powerpoint/2010/main" val="204759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Data types and Time delays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data types for the </a:t>
            </a:r>
            <a:r>
              <a:rPr lang="en-US" dirty="0" smtClean="0"/>
              <a:t>PIC18</a:t>
            </a:r>
            <a:endParaRPr lang="en-US" dirty="0"/>
          </a:p>
          <a:p>
            <a:pPr lvl="1"/>
            <a:r>
              <a:rPr lang="en-US" dirty="0" smtClean="0"/>
              <a:t>Unsigned </a:t>
            </a:r>
            <a:r>
              <a:rPr lang="en-US" dirty="0" err="1" smtClean="0"/>
              <a:t>int</a:t>
            </a:r>
            <a:endParaRPr lang="en-US" dirty="0" smtClean="0"/>
          </a:p>
          <a:p>
            <a:pPr lvl="2"/>
            <a:r>
              <a:rPr lang="en-US" dirty="0" smtClean="0"/>
              <a:t>An 16-bit data type that takes a value in the range of 0-65535 (0000-FFFFH)</a:t>
            </a:r>
          </a:p>
          <a:p>
            <a:pPr lvl="2"/>
            <a:r>
              <a:rPr lang="en-US" dirty="0" smtClean="0"/>
              <a:t>Used to define 16-bit variables such as memory addresses.</a:t>
            </a:r>
          </a:p>
          <a:p>
            <a:pPr lvl="2"/>
            <a:r>
              <a:rPr lang="en-US" dirty="0" smtClean="0"/>
              <a:t>Set counter values of more than 256</a:t>
            </a:r>
          </a:p>
          <a:p>
            <a:pPr lvl="2"/>
            <a:r>
              <a:rPr lang="en-US" dirty="0" smtClean="0"/>
              <a:t>Not use the </a:t>
            </a:r>
            <a:r>
              <a:rPr lang="en-US" dirty="0" err="1" smtClean="0"/>
              <a:t>int</a:t>
            </a:r>
            <a:r>
              <a:rPr lang="en-US" dirty="0" smtClean="0"/>
              <a:t> data in PIC18 unless we have to. </a:t>
            </a:r>
          </a:p>
          <a:p>
            <a:pPr lvl="2"/>
            <a:r>
              <a:rPr lang="en-US" dirty="0" smtClean="0"/>
              <a:t>C compiler uses signed </a:t>
            </a:r>
            <a:r>
              <a:rPr lang="en-US" dirty="0" err="1" smtClean="0"/>
              <a:t>int</a:t>
            </a:r>
            <a:r>
              <a:rPr lang="en-US" dirty="0" smtClean="0"/>
              <a:t> as the default unless use keyword </a:t>
            </a:r>
            <a:r>
              <a:rPr lang="en-US" i="1" dirty="0" smtClean="0"/>
              <a:t>unsigned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igned </a:t>
            </a:r>
            <a:r>
              <a:rPr lang="en-US" dirty="0" err="1"/>
              <a:t>int</a:t>
            </a:r>
            <a:endParaRPr lang="en-US" dirty="0"/>
          </a:p>
          <a:p>
            <a:pPr lvl="2"/>
            <a:r>
              <a:rPr lang="en-US" dirty="0"/>
              <a:t>An 16-bit data type that </a:t>
            </a:r>
            <a:r>
              <a:rPr lang="en-US" dirty="0" smtClean="0"/>
              <a:t>uses the most significant bit to represent the – or + value.</a:t>
            </a:r>
          </a:p>
          <a:p>
            <a:pPr lvl="2"/>
            <a:r>
              <a:rPr lang="en-US" dirty="0" smtClean="0"/>
              <a:t>15 bits for the magnitude of number or value </a:t>
            </a:r>
            <a:r>
              <a:rPr lang="en-US" dirty="0" err="1" smtClean="0"/>
              <a:t>frone</a:t>
            </a:r>
            <a:r>
              <a:rPr lang="en-US" dirty="0" smtClean="0"/>
              <a:t> -32768 to +32767.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928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Data types and Time delays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data types for the PIC18</a:t>
            </a:r>
          </a:p>
          <a:p>
            <a:pPr lvl="1"/>
            <a:r>
              <a:rPr lang="en-US" dirty="0" smtClean="0"/>
              <a:t>Other data types</a:t>
            </a:r>
          </a:p>
          <a:p>
            <a:pPr lvl="2"/>
            <a:r>
              <a:rPr lang="en-US" dirty="0" smtClean="0"/>
              <a:t>Values greater than 16-bit.</a:t>
            </a:r>
          </a:p>
          <a:p>
            <a:pPr lvl="2"/>
            <a:r>
              <a:rPr lang="en-US" dirty="0" smtClean="0"/>
              <a:t>The short long value is 24 bits wide.</a:t>
            </a:r>
          </a:p>
          <a:p>
            <a:pPr lvl="2"/>
            <a:r>
              <a:rPr lang="en-US" dirty="0" smtClean="0"/>
              <a:t>The long value is 32 bits wide.</a:t>
            </a:r>
          </a:p>
          <a:p>
            <a:pPr lvl="2"/>
            <a:r>
              <a:rPr lang="en-US" dirty="0" smtClean="0"/>
              <a:t>Example 5: Write a C18 program to toggle all bits of Port B 50000 times.</a:t>
            </a:r>
          </a:p>
          <a:p>
            <a:pPr lvl="2"/>
            <a:r>
              <a:rPr lang="en-US" dirty="0" smtClean="0"/>
              <a:t>Example 6: Write a C18 program to toggle all bits of Port B 100000 times.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789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Data types and Time delays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Time delay</a:t>
            </a:r>
          </a:p>
          <a:p>
            <a:pPr lvl="1" algn="just"/>
            <a:r>
              <a:rPr lang="en-US" dirty="0" smtClean="0"/>
              <a:t>Two ways to create a time relay in C18</a:t>
            </a:r>
          </a:p>
          <a:p>
            <a:pPr lvl="2" algn="just"/>
            <a:r>
              <a:rPr lang="en-US" dirty="0" smtClean="0"/>
              <a:t>Using a simple FOR loop.</a:t>
            </a:r>
          </a:p>
          <a:p>
            <a:pPr lvl="2" algn="just"/>
            <a:r>
              <a:rPr lang="en-US" dirty="0" smtClean="0"/>
              <a:t>Using the PIC18 timers.</a:t>
            </a:r>
          </a:p>
          <a:p>
            <a:pPr lvl="2" algn="just"/>
            <a:r>
              <a:rPr lang="en-US" dirty="0"/>
              <a:t>Two ways to create a time relay in </a:t>
            </a:r>
            <a:r>
              <a:rPr lang="en-US" dirty="0" smtClean="0"/>
              <a:t>C18</a:t>
            </a:r>
            <a:endParaRPr lang="en-US" dirty="0"/>
          </a:p>
          <a:p>
            <a:pPr lvl="1" algn="just"/>
            <a:r>
              <a:rPr lang="en-US" dirty="0"/>
              <a:t>Two </a:t>
            </a:r>
            <a:r>
              <a:rPr lang="en-US" dirty="0" smtClean="0"/>
              <a:t>factors that can affect the accuracy of the time delay using a FOR loop:</a:t>
            </a:r>
            <a:endParaRPr lang="en-US" dirty="0"/>
          </a:p>
          <a:p>
            <a:pPr lvl="2" algn="just"/>
            <a:r>
              <a:rPr lang="en-US" dirty="0" smtClean="0"/>
              <a:t>The crystal frequency connected to the OSC1-OSC2 input pins</a:t>
            </a:r>
          </a:p>
          <a:p>
            <a:pPr lvl="2" algn="just"/>
            <a:r>
              <a:rPr lang="en-US" dirty="0" smtClean="0"/>
              <a:t>The compiler used to compile the C program: each compiler produces different-size hex code.</a:t>
            </a:r>
          </a:p>
          <a:p>
            <a:pPr lvl="1" algn="just"/>
            <a:r>
              <a:rPr lang="en-US" dirty="0" smtClean="0"/>
              <a:t>Example 7: </a:t>
            </a:r>
            <a:r>
              <a:rPr lang="en-US" dirty="0"/>
              <a:t>Write a C18 program to toggle all bits of Port B </a:t>
            </a:r>
            <a:r>
              <a:rPr lang="en-US" dirty="0" smtClean="0"/>
              <a:t>continuously with a 250 </a:t>
            </a:r>
            <a:r>
              <a:rPr lang="en-US" dirty="0" err="1" smtClean="0"/>
              <a:t>ms</a:t>
            </a:r>
            <a:r>
              <a:rPr lang="en-US" dirty="0" smtClean="0"/>
              <a:t> delay. Assume that the system is PIC18F458 with XTAL=10 </a:t>
            </a:r>
            <a:r>
              <a:rPr lang="en-US" dirty="0" err="1" smtClean="0"/>
              <a:t>MHz.</a:t>
            </a:r>
            <a:endParaRPr lang="en-US" dirty="0" smtClean="0"/>
          </a:p>
          <a:p>
            <a:pPr lvl="1" algn="just"/>
            <a:r>
              <a:rPr lang="en-US" dirty="0"/>
              <a:t>Example </a:t>
            </a:r>
            <a:r>
              <a:rPr lang="en-US" dirty="0" smtClean="0"/>
              <a:t>8: </a:t>
            </a:r>
            <a:r>
              <a:rPr lang="en-US" dirty="0"/>
              <a:t>Write a C18 program to toggle all bits of Port </a:t>
            </a:r>
            <a:r>
              <a:rPr lang="en-US" dirty="0" smtClean="0"/>
              <a:t>C and Port D </a:t>
            </a:r>
            <a:r>
              <a:rPr lang="en-US" dirty="0"/>
              <a:t>continuously with a 250 </a:t>
            </a:r>
            <a:r>
              <a:rPr lang="en-US" dirty="0" err="1"/>
              <a:t>ms</a:t>
            </a:r>
            <a:r>
              <a:rPr lang="en-US" dirty="0"/>
              <a:t> </a:t>
            </a:r>
            <a:r>
              <a:rPr lang="en-US" dirty="0" smtClean="0"/>
              <a:t>.</a:t>
            </a:r>
            <a:endParaRPr lang="en-US" dirty="0"/>
          </a:p>
          <a:p>
            <a:pPr lvl="2" algn="just"/>
            <a:endParaRPr lang="en-US" dirty="0"/>
          </a:p>
          <a:p>
            <a:pPr lvl="2" algn="just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549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3.2 I/O programming in </a:t>
            </a:r>
            <a:r>
              <a:rPr lang="en-US" dirty="0"/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Byte size I/O</a:t>
            </a:r>
          </a:p>
          <a:p>
            <a:pPr lvl="1" algn="just"/>
            <a:r>
              <a:rPr lang="en-US" dirty="0" smtClean="0"/>
              <a:t>Ports PORTA-PORTD are byte accessible.</a:t>
            </a:r>
          </a:p>
          <a:p>
            <a:pPr lvl="1" algn="just"/>
            <a:r>
              <a:rPr lang="en-US" dirty="0" smtClean="0"/>
              <a:t>We use the PORTA-PORTD labels as defined in the C18 header file.</a:t>
            </a:r>
          </a:p>
          <a:p>
            <a:pPr lvl="1" algn="just"/>
            <a:r>
              <a:rPr lang="en-US" dirty="0" smtClean="0"/>
              <a:t>Example 9: LEDs are connected to bits in Port B and Port C. Write a C18 program that shows the count from 0 to </a:t>
            </a:r>
            <a:r>
              <a:rPr lang="en-US" dirty="0" err="1" smtClean="0"/>
              <a:t>FFh</a:t>
            </a:r>
            <a:r>
              <a:rPr lang="en-US" dirty="0" smtClean="0"/>
              <a:t> (0000 0000 to 1111 1111 in binary) on the LEDs.</a:t>
            </a:r>
          </a:p>
          <a:p>
            <a:pPr lvl="1" algn="just"/>
            <a:r>
              <a:rPr lang="en-US" dirty="0" smtClean="0"/>
              <a:t>Example 10: </a:t>
            </a:r>
            <a:r>
              <a:rPr lang="en-US" dirty="0"/>
              <a:t>Write a C18 program </a:t>
            </a:r>
            <a:r>
              <a:rPr lang="en-US" dirty="0" smtClean="0"/>
              <a:t>to get a byte of data from Port B, wait ½ second and then se</a:t>
            </a:r>
          </a:p>
          <a:p>
            <a:pPr lvl="1" algn="just"/>
            <a:r>
              <a:rPr lang="en-US" dirty="0"/>
              <a:t>Example </a:t>
            </a:r>
            <a:r>
              <a:rPr lang="en-US" dirty="0" smtClean="0"/>
              <a:t>11: </a:t>
            </a:r>
            <a:r>
              <a:rPr lang="en-US" dirty="0"/>
              <a:t>Write a C18 program to get a byte of data from Port </a:t>
            </a:r>
            <a:r>
              <a:rPr lang="en-US" dirty="0" smtClean="0"/>
              <a:t>C. If it is less than 100, send it to Port B; otherwise, send it to Port 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49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I/O programming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Bit-addressable I/O programming</a:t>
            </a:r>
          </a:p>
          <a:p>
            <a:pPr lvl="1"/>
            <a:r>
              <a:rPr lang="en-US" dirty="0" smtClean="0"/>
              <a:t>The I/O Ports of PIC 18 are bit-addressable.</a:t>
            </a:r>
          </a:p>
          <a:p>
            <a:pPr lvl="1"/>
            <a:r>
              <a:rPr lang="en-US" i="1" dirty="0" err="1" smtClean="0"/>
              <a:t>PORTxbits.Rxy</a:t>
            </a:r>
            <a:r>
              <a:rPr lang="en-US" i="1" dirty="0" smtClean="0"/>
              <a:t> : </a:t>
            </a:r>
            <a:r>
              <a:rPr lang="en-US" dirty="0" smtClean="0"/>
              <a:t>access a single bit of </a:t>
            </a:r>
            <a:r>
              <a:rPr lang="en-US" dirty="0" err="1" smtClean="0"/>
              <a:t>Portx</a:t>
            </a:r>
            <a:endParaRPr lang="en-US" dirty="0" smtClean="0"/>
          </a:p>
          <a:p>
            <a:pPr lvl="2"/>
            <a:r>
              <a:rPr lang="en-US" i="1" dirty="0" smtClean="0"/>
              <a:t>x: Port A, B, C, D</a:t>
            </a:r>
          </a:p>
          <a:p>
            <a:pPr lvl="2"/>
            <a:r>
              <a:rPr lang="en-US" i="1" dirty="0" smtClean="0"/>
              <a:t>y: bit (0-7) of that port</a:t>
            </a:r>
          </a:p>
          <a:p>
            <a:pPr lvl="2"/>
            <a:r>
              <a:rPr lang="en-US" dirty="0" smtClean="0"/>
              <a:t>Ex:PORTBbits.RB7 indicates PORTB.7</a:t>
            </a:r>
          </a:p>
          <a:p>
            <a:pPr lvl="1"/>
            <a:r>
              <a:rPr lang="en-US" i="1" dirty="0" smtClean="0"/>
              <a:t>TRISBbits.TRISB7 </a:t>
            </a:r>
            <a:r>
              <a:rPr lang="en-US" i="1" dirty="0"/>
              <a:t>: </a:t>
            </a:r>
            <a:r>
              <a:rPr lang="en-US" dirty="0" smtClean="0"/>
              <a:t>indicates the D7 of the TRISB.</a:t>
            </a:r>
            <a:endParaRPr lang="en-US" dirty="0"/>
          </a:p>
          <a:p>
            <a:pPr marL="914400" lvl="2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76652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3.3 Logic Operations </a:t>
            </a:r>
            <a:r>
              <a:rPr lang="en-US" dirty="0"/>
              <a:t>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the most important and powerful features of the C language is its ability to perform bit manipulation.</a:t>
            </a:r>
          </a:p>
          <a:p>
            <a:endParaRPr lang="en-US" dirty="0" smtClean="0"/>
          </a:p>
          <a:p>
            <a:pPr marL="914400" lvl="2" indent="0">
              <a:buNone/>
            </a:pP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582723"/>
              </p:ext>
            </p:extLst>
          </p:nvPr>
        </p:nvGraphicFramePr>
        <p:xfrm>
          <a:off x="1764694" y="1794295"/>
          <a:ext cx="9242611" cy="4274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795"/>
                <a:gridCol w="2244956"/>
                <a:gridCol w="1547816"/>
                <a:gridCol w="1848522"/>
                <a:gridCol w="1848522"/>
              </a:tblGrid>
              <a:tr h="842494"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Bit-wise logic Operators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In C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9385">
                <a:tc rowSpan="4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Bit-wise logic Operators</a:t>
                      </a:r>
                    </a:p>
                    <a:p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AND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&amp;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0x35 &amp; 0x0F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0x05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938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OR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|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0x04 | 0x68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0x6C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938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XOR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^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0x54 ^ 0x78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0x2C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938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INVERTER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~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~ 0x55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0xAA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9385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Bit-wise shift Operators</a:t>
                      </a:r>
                    </a:p>
                    <a:p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SHIFT RIGHT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&gt;&gt;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0x9A &gt;&gt; 3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0x13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800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SHIFT LEFT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&lt;&lt;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0x6 &lt;&lt; 4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ea typeface="Times" panose="020B0500000000000000" pitchFamily="34" charset="0"/>
                          <a:cs typeface="Times New Roman" panose="02020603050405020304" pitchFamily="18" charset="0"/>
                        </a:rPr>
                        <a:t>0x60</a:t>
                      </a:r>
                      <a:endParaRPr lang="en-US" sz="2400" dirty="0">
                        <a:latin typeface="Times New Roman" panose="02020603050405020304" pitchFamily="18" charset="0"/>
                        <a:ea typeface="Times" panose="020B0500000000000000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125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Logic Operations in 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9: Run the following program on your simulator and examine the result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370" y="1359286"/>
            <a:ext cx="4061514" cy="493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61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Logic Operations in 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Example 10</a:t>
            </a:r>
            <a:r>
              <a:rPr lang="en-US" dirty="0" smtClean="0"/>
              <a:t>: Write a C18 program to toggle all the bits of Port B and Port C continuously with a 250 </a:t>
            </a:r>
            <a:r>
              <a:rPr lang="en-US" dirty="0" err="1" smtClean="0"/>
              <a:t>ms</a:t>
            </a:r>
            <a:r>
              <a:rPr lang="en-US" dirty="0" smtClean="0"/>
              <a:t> delay. Use the inverting operator.</a:t>
            </a:r>
          </a:p>
          <a:p>
            <a:r>
              <a:rPr lang="en-US" b="1" dirty="0" smtClean="0"/>
              <a:t>Example 11</a:t>
            </a:r>
            <a:r>
              <a:rPr lang="en-US" dirty="0" smtClean="0"/>
              <a:t>: Write a C18 program to toggle all the bits of Port B, Port C and Port D continuously with a 250 </a:t>
            </a:r>
            <a:r>
              <a:rPr lang="en-US" dirty="0" err="1" smtClean="0"/>
              <a:t>ms</a:t>
            </a:r>
            <a:r>
              <a:rPr lang="en-US" dirty="0" smtClean="0"/>
              <a:t> delay. Use the XOR operator.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2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3.4 Data serialization in 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Serialing</a:t>
            </a:r>
            <a:r>
              <a:rPr lang="en-US" dirty="0" smtClean="0"/>
              <a:t> data is a way of sending a byte of data one bit at a time through a single pin of a microcontroller.</a:t>
            </a:r>
          </a:p>
          <a:p>
            <a:r>
              <a:rPr lang="en-US" dirty="0" smtClean="0"/>
              <a:t>The serial versions are becoming popular because:</a:t>
            </a:r>
          </a:p>
          <a:p>
            <a:pPr lvl="1"/>
            <a:r>
              <a:rPr lang="en-US" dirty="0" smtClean="0"/>
              <a:t>Not all devices supports connection standard such as I2C and CAN.</a:t>
            </a:r>
          </a:p>
          <a:p>
            <a:pPr lvl="1"/>
            <a:r>
              <a:rPr lang="en-US" dirty="0" smtClean="0"/>
              <a:t>Serial version take less space on a printed circuit board.</a:t>
            </a:r>
          </a:p>
          <a:p>
            <a:r>
              <a:rPr lang="en-US" dirty="0" smtClean="0"/>
              <a:t>Two ways to transfer a byte of data serially:</a:t>
            </a:r>
          </a:p>
          <a:p>
            <a:pPr lvl="1"/>
            <a:r>
              <a:rPr lang="en-US" dirty="0" smtClean="0"/>
              <a:t>Using the serial port</a:t>
            </a:r>
          </a:p>
          <a:p>
            <a:pPr lvl="1"/>
            <a:r>
              <a:rPr lang="en-US" dirty="0" smtClean="0"/>
              <a:t>To transfer data one bit a time and control the sequence of data and spaces between them.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32648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3.4 Data serialization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12</a:t>
            </a:r>
            <a:r>
              <a:rPr lang="en-US" dirty="0" smtClean="0"/>
              <a:t>: Write a C18 program to send out the value 44H serially one bit at a time via RC0. The LSB should go out first.</a:t>
            </a:r>
          </a:p>
          <a:p>
            <a:r>
              <a:rPr lang="en-US" b="1" dirty="0"/>
              <a:t>Example </a:t>
            </a:r>
            <a:r>
              <a:rPr lang="en-US" b="1" dirty="0" smtClean="0"/>
              <a:t>13</a:t>
            </a:r>
            <a:r>
              <a:rPr lang="en-US" dirty="0" smtClean="0"/>
              <a:t>: </a:t>
            </a:r>
            <a:r>
              <a:rPr lang="en-US" dirty="0"/>
              <a:t>Write a C18 program to send out the value 44H serially one bit at a time via RC0. The </a:t>
            </a:r>
            <a:r>
              <a:rPr lang="en-US" dirty="0" smtClean="0"/>
              <a:t>MSB </a:t>
            </a:r>
            <a:r>
              <a:rPr lang="en-US" dirty="0"/>
              <a:t>should go out first</a:t>
            </a:r>
            <a:r>
              <a:rPr lang="en-US" dirty="0" smtClean="0"/>
              <a:t>.</a:t>
            </a:r>
          </a:p>
          <a:p>
            <a:r>
              <a:rPr lang="en-US" b="1" dirty="0"/>
              <a:t>Example </a:t>
            </a:r>
            <a:r>
              <a:rPr lang="en-US" b="1" dirty="0" smtClean="0"/>
              <a:t>14</a:t>
            </a:r>
            <a:r>
              <a:rPr lang="en-US" dirty="0" smtClean="0"/>
              <a:t>: </a:t>
            </a:r>
            <a:r>
              <a:rPr lang="en-US" dirty="0"/>
              <a:t>Write a C18 program </a:t>
            </a:r>
            <a:r>
              <a:rPr lang="en-US" dirty="0" smtClean="0"/>
              <a:t>to bring in a byte of data serially one bit at a time via the RB0 pin. Place the byte on the Port D. The LSB should come in first.</a:t>
            </a:r>
          </a:p>
          <a:p>
            <a:r>
              <a:rPr lang="en-US" b="1" dirty="0"/>
              <a:t>Example </a:t>
            </a:r>
            <a:r>
              <a:rPr lang="en-US" b="1" dirty="0" smtClean="0"/>
              <a:t>15</a:t>
            </a:r>
            <a:r>
              <a:rPr lang="en-US" dirty="0" smtClean="0"/>
              <a:t>: </a:t>
            </a:r>
            <a:r>
              <a:rPr lang="en-US" dirty="0"/>
              <a:t>Write a C18 program to bring in a byte of data serially one bit at a time via the RB0 pin</a:t>
            </a:r>
            <a:r>
              <a:rPr lang="en-US" dirty="0" smtClean="0"/>
              <a:t>. </a:t>
            </a:r>
            <a:r>
              <a:rPr lang="en-US" dirty="0"/>
              <a:t>The </a:t>
            </a:r>
            <a:r>
              <a:rPr lang="en-US" dirty="0" smtClean="0"/>
              <a:t>MSB </a:t>
            </a:r>
            <a:r>
              <a:rPr lang="en-US" dirty="0"/>
              <a:t>should come in first.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404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3.5 Program ROM </a:t>
            </a:r>
            <a:r>
              <a:rPr lang="en-US" smtClean="0"/>
              <a:t>Allocation in C18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09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15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…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801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7532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vku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vku1" id="{F06FB320-D76B-46F6-9048-4E8AE914A055}" vid="{7E01ECFF-3CD4-4948-A8D7-84500986172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Themevku1</Template>
  <TotalTime>1583</TotalTime>
  <Words>1496</Words>
  <Application>Microsoft Office PowerPoint</Application>
  <PresentationFormat>Widescreen</PresentationFormat>
  <Paragraphs>182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Times</vt:lpstr>
      <vt:lpstr>Times New Roman</vt:lpstr>
      <vt:lpstr>Wingdings</vt:lpstr>
      <vt:lpstr>Themevku1</vt:lpstr>
      <vt:lpstr>CHAPTER 3</vt:lpstr>
      <vt:lpstr>OUTLINE</vt:lpstr>
      <vt:lpstr>Objectives</vt:lpstr>
      <vt:lpstr>Why program the PIC18 in C?</vt:lpstr>
      <vt:lpstr>3.1 Data types and Time delays in C</vt:lpstr>
      <vt:lpstr>3.1 Data types and Time delays in C</vt:lpstr>
      <vt:lpstr>3.1 Data types and Time delays in C</vt:lpstr>
      <vt:lpstr>3.1 Data types and Time delays in C</vt:lpstr>
      <vt:lpstr>3.1 Data types and Time delays in C</vt:lpstr>
      <vt:lpstr>3.1 Data types and Time delays in C</vt:lpstr>
      <vt:lpstr>3.1 Data types and Time delays in C</vt:lpstr>
      <vt:lpstr>3.2 I/O programming in C</vt:lpstr>
      <vt:lpstr>3.2 I/O programming in C</vt:lpstr>
      <vt:lpstr>3.3 Logic Operations in C</vt:lpstr>
      <vt:lpstr>3.3 Logic Operations in C</vt:lpstr>
      <vt:lpstr>3.3 Logic Operations in C</vt:lpstr>
      <vt:lpstr>3.4 Data serialization in C</vt:lpstr>
      <vt:lpstr>3.4 Data serialization in C</vt:lpstr>
      <vt:lpstr>3.5 Program ROM Allocation in C18</vt:lpstr>
      <vt:lpstr>PowerPoint Presentation</vt:lpstr>
      <vt:lpstr>Summary</vt:lpstr>
      <vt:lpstr>Quiz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</dc:title>
  <dc:creator>Admin</dc:creator>
  <cp:lastModifiedBy>Admin</cp:lastModifiedBy>
  <cp:revision>32</cp:revision>
  <dcterms:created xsi:type="dcterms:W3CDTF">2021-12-16T01:10:58Z</dcterms:created>
  <dcterms:modified xsi:type="dcterms:W3CDTF">2021-12-24T00:56:18Z</dcterms:modified>
</cp:coreProperties>
</file>