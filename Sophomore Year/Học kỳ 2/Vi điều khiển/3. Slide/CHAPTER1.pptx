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96" roundtripDataSignature="AMtx7mjS3fy4mQa//5+YUs47c6W3g/08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42" Type="http://schemas.openxmlformats.org/officeDocument/2006/relationships/slide" Target="slides/slide38.xml"/><Relationship Id="rId86" Type="http://schemas.openxmlformats.org/officeDocument/2006/relationships/slide" Target="slides/slide82.xml"/><Relationship Id="rId41" Type="http://schemas.openxmlformats.org/officeDocument/2006/relationships/slide" Target="slides/slide37.xml"/><Relationship Id="rId85" Type="http://schemas.openxmlformats.org/officeDocument/2006/relationships/slide" Target="slides/slide81.xml"/><Relationship Id="rId44" Type="http://schemas.openxmlformats.org/officeDocument/2006/relationships/slide" Target="slides/slide40.xml"/><Relationship Id="rId88" Type="http://schemas.openxmlformats.org/officeDocument/2006/relationships/slide" Target="slides/slide84.xml"/><Relationship Id="rId43" Type="http://schemas.openxmlformats.org/officeDocument/2006/relationships/slide" Target="slides/slide39.xml"/><Relationship Id="rId87" Type="http://schemas.openxmlformats.org/officeDocument/2006/relationships/slide" Target="slides/slide8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89" Type="http://schemas.openxmlformats.org/officeDocument/2006/relationships/slide" Target="slides/slide85.xml"/><Relationship Id="rId80" Type="http://schemas.openxmlformats.org/officeDocument/2006/relationships/slide" Target="slides/slide76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31" Type="http://schemas.openxmlformats.org/officeDocument/2006/relationships/slide" Target="slides/slide27.xml"/><Relationship Id="rId75" Type="http://schemas.openxmlformats.org/officeDocument/2006/relationships/slide" Target="slides/slide71.xml"/><Relationship Id="rId30" Type="http://schemas.openxmlformats.org/officeDocument/2006/relationships/slide" Target="slides/slide26.xml"/><Relationship Id="rId74" Type="http://schemas.openxmlformats.org/officeDocument/2006/relationships/slide" Target="slides/slide70.xml"/><Relationship Id="rId33" Type="http://schemas.openxmlformats.org/officeDocument/2006/relationships/slide" Target="slides/slide29.xml"/><Relationship Id="rId77" Type="http://schemas.openxmlformats.org/officeDocument/2006/relationships/slide" Target="slides/slide73.xml"/><Relationship Id="rId32" Type="http://schemas.openxmlformats.org/officeDocument/2006/relationships/slide" Target="slides/slide28.xml"/><Relationship Id="rId76" Type="http://schemas.openxmlformats.org/officeDocument/2006/relationships/slide" Target="slides/slide72.xml"/><Relationship Id="rId35" Type="http://schemas.openxmlformats.org/officeDocument/2006/relationships/slide" Target="slides/slide31.xml"/><Relationship Id="rId79" Type="http://schemas.openxmlformats.org/officeDocument/2006/relationships/slide" Target="slides/slide75.xml"/><Relationship Id="rId34" Type="http://schemas.openxmlformats.org/officeDocument/2006/relationships/slide" Target="slides/slide30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slide" Target="slides/slide64.xml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slide" Target="slides/slide6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95" Type="http://schemas.openxmlformats.org/officeDocument/2006/relationships/slide" Target="slides/slide91.xml"/><Relationship Id="rId50" Type="http://schemas.openxmlformats.org/officeDocument/2006/relationships/slide" Target="slides/slide46.xml"/><Relationship Id="rId94" Type="http://schemas.openxmlformats.org/officeDocument/2006/relationships/slide" Target="slides/slide9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96" Type="http://customschemas.google.com/relationships/presentationmetadata" Target="metadata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</a:t>
            </a:r>
            <a:endParaRPr/>
          </a:p>
        </p:txBody>
      </p:sp>
      <p:sp>
        <p:nvSpPr>
          <p:cNvPr id="170" name="Google Shape;17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6" name="Google Shape;826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9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  <a:defRPr sz="4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9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9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9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4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4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9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9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5"/>
          <p:cNvSpPr txBox="1"/>
          <p:nvPr>
            <p:ph type="title"/>
          </p:nvPr>
        </p:nvSpPr>
        <p:spPr>
          <a:xfrm>
            <a:off x="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9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9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6"/>
          <p:cNvSpPr txBox="1"/>
          <p:nvPr>
            <p:ph type="title"/>
          </p:nvPr>
        </p:nvSpPr>
        <p:spPr>
          <a:xfrm>
            <a:off x="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9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9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" name="Google Shape;37;p9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7664" y="16328"/>
            <a:ext cx="9629094" cy="641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7"/>
          <p:cNvSpPr txBox="1"/>
          <p:nvPr>
            <p:ph type="title"/>
          </p:nvPr>
        </p:nvSpPr>
        <p:spPr>
          <a:xfrm>
            <a:off x="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9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9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9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8"/>
          <p:cNvSpPr txBox="1"/>
          <p:nvPr>
            <p:ph type="title"/>
          </p:nvPr>
        </p:nvSpPr>
        <p:spPr>
          <a:xfrm>
            <a:off x="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9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9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9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9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1" name="Google Shape;51;p9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9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9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0"/>
          <p:cNvSpPr txBox="1"/>
          <p:nvPr>
            <p:ph type="title"/>
          </p:nvPr>
        </p:nvSpPr>
        <p:spPr>
          <a:xfrm>
            <a:off x="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0"/>
          <p:cNvSpPr txBox="1"/>
          <p:nvPr>
            <p:ph idx="1" type="body"/>
          </p:nvPr>
        </p:nvSpPr>
        <p:spPr>
          <a:xfrm>
            <a:off x="-1" y="1325563"/>
            <a:ext cx="607193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00"/>
          <p:cNvSpPr txBox="1"/>
          <p:nvPr>
            <p:ph idx="2" type="body"/>
          </p:nvPr>
        </p:nvSpPr>
        <p:spPr>
          <a:xfrm>
            <a:off x="6071937" y="1325563"/>
            <a:ext cx="6272463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0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0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0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1"/>
          <p:cNvSpPr txBox="1"/>
          <p:nvPr>
            <p:ph type="title"/>
          </p:nvPr>
        </p:nvSpPr>
        <p:spPr>
          <a:xfrm>
            <a:off x="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10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0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10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0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0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2"/>
          <p:cNvSpPr txBox="1"/>
          <p:nvPr>
            <p:ph type="title"/>
          </p:nvPr>
        </p:nvSpPr>
        <p:spPr>
          <a:xfrm>
            <a:off x="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0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0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0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0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2" name="Google Shape;82;p10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p10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0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0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0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0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0" name="Google Shape;90;p10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10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p10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06"/>
          <p:cNvSpPr txBox="1"/>
          <p:nvPr>
            <p:ph type="title"/>
          </p:nvPr>
        </p:nvSpPr>
        <p:spPr>
          <a:xfrm>
            <a:off x="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06"/>
          <p:cNvSpPr txBox="1"/>
          <p:nvPr>
            <p:ph idx="1" type="body"/>
          </p:nvPr>
        </p:nvSpPr>
        <p:spPr>
          <a:xfrm rot="5400000">
            <a:off x="3251200" y="-1925637"/>
            <a:ext cx="4851400" cy="113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10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10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10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0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10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p10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10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8"/>
          <p:cNvSpPr txBox="1"/>
          <p:nvPr>
            <p:ph type="title"/>
          </p:nvPr>
        </p:nvSpPr>
        <p:spPr>
          <a:xfrm>
            <a:off x="0" y="0"/>
            <a:ext cx="10603832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8"/>
          <p:cNvSpPr txBox="1"/>
          <p:nvPr>
            <p:ph idx="10" type="dt"/>
          </p:nvPr>
        </p:nvSpPr>
        <p:spPr>
          <a:xfrm>
            <a:off x="17272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8"/>
          <p:cNvSpPr txBox="1"/>
          <p:nvPr>
            <p:ph idx="11" type="ftr"/>
          </p:nvPr>
        </p:nvSpPr>
        <p:spPr>
          <a:xfrm>
            <a:off x="4718051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p108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8.jpg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7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6.xml"/><Relationship Id="rId6" Type="http://schemas.openxmlformats.org/officeDocument/2006/relationships/slideLayout" Target="../slideLayouts/slideLayout3.xml"/><Relationship Id="rId18" Type="http://schemas.openxmlformats.org/officeDocument/2006/relationships/slideLayout" Target="../slideLayouts/slideLayout15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2"/>
          <p:cNvSpPr txBox="1"/>
          <p:nvPr>
            <p:ph type="title"/>
          </p:nvPr>
        </p:nvSpPr>
        <p:spPr>
          <a:xfrm>
            <a:off x="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2"/>
          <p:cNvSpPr txBox="1"/>
          <p:nvPr>
            <p:ph idx="1" type="body"/>
          </p:nvPr>
        </p:nvSpPr>
        <p:spPr>
          <a:xfrm>
            <a:off x="0" y="1325563"/>
            <a:ext cx="11353800" cy="4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" name="Google Shape;13;p92"/>
          <p:cNvPicPr preferRelativeResize="0"/>
          <p:nvPr/>
        </p:nvPicPr>
        <p:blipFill rotWithShape="1">
          <a:blip r:embed="rId2">
            <a:alphaModFix/>
          </a:blip>
          <a:srcRect b="81688" l="5037" r="79744" t="1874"/>
          <a:stretch/>
        </p:blipFill>
        <p:spPr>
          <a:xfrm>
            <a:off x="10586677" y="104930"/>
            <a:ext cx="802443" cy="487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280" y="104930"/>
            <a:ext cx="9250136" cy="40821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5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5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5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4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3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38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7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6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35.png"/><Relationship Id="rId4" Type="http://schemas.openxmlformats.org/officeDocument/2006/relationships/image" Target="../media/image47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44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46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40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41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39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52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54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53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45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51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/>
              <a:t>CHAPTER 1</a:t>
            </a:r>
            <a:endParaRPr/>
          </a:p>
        </p:txBody>
      </p:sp>
      <p:sp>
        <p:nvSpPr>
          <p:cNvPr id="115" name="Google Shape;11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INTRODUCTION TO MICROCONTROLLERS AND PIC18 FAMILY</a:t>
            </a:r>
            <a:endParaRPr/>
          </a:p>
        </p:txBody>
      </p:sp>
      <p:sp>
        <p:nvSpPr>
          <p:cNvPr id="116" name="Google Shape;116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22" name="Google Shape;122;p2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Overview of microcontrollers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Overview of PIC18 family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PIC18 PIN connection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The WREG Register </a:t>
            </a:r>
            <a:endParaRPr sz="2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File Register </a:t>
            </a:r>
            <a:endParaRPr sz="2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Access Bank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Use of Instructions with the Default Access Bank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PIC18 Status Register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PIC18 Data Format and Directives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The Program Counter and Program ROM Space in the PIC18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RISC Architecture in the PIC18</a:t>
            </a:r>
            <a:endParaRPr/>
          </a:p>
        </p:txBody>
      </p:sp>
      <p:sp>
        <p:nvSpPr>
          <p:cNvPr id="123" name="Google Shape;123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Objective</a:t>
            </a:r>
            <a:endParaRPr/>
          </a:p>
        </p:txBody>
      </p:sp>
      <p:sp>
        <p:nvSpPr>
          <p:cNvPr id="129" name="Google Shape;129;p3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Compare and contrast microprocessor and microcontroller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Describe the advantages of microcontroller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Compare and contrast the various of the PIC family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Examine the data RAM file Register of the PIC microcontroller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Manipulate data using the WREG &amp; MOVE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Perform simple operations such ADD and  file Register using and access bank in the PIC microcontroller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Explain the purpose of the status register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Discuss data RAM memory space allocation in  the PIC microcontroller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List SFRs of the PIC microcontroller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Describe PIC data types and directives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Understand the RISC and Harvard architectures of the PIC microcontroller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30" name="Google Shape;13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 txBox="1"/>
          <p:nvPr>
            <p:ph type="title"/>
          </p:nvPr>
        </p:nvSpPr>
        <p:spPr>
          <a:xfrm>
            <a:off x="0" y="0"/>
            <a:ext cx="121920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1.1. </a:t>
            </a:r>
            <a:r>
              <a:rPr lang="en-US" sz="3600"/>
              <a:t>Overview of microcontrollers</a:t>
            </a:r>
            <a:endParaRPr/>
          </a:p>
        </p:txBody>
      </p:sp>
      <p:sp>
        <p:nvSpPr>
          <p:cNvPr id="136" name="Google Shape;136;p4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Microcontroller and Embedded  Processors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Microcontroller VS General purpose microprocessor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Microcontroller for embedded systems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X86 PC Embedded Application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 txBox="1"/>
          <p:nvPr>
            <p:ph type="title"/>
          </p:nvPr>
        </p:nvSpPr>
        <p:spPr>
          <a:xfrm>
            <a:off x="0" y="0"/>
            <a:ext cx="121920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1.1. </a:t>
            </a:r>
            <a:r>
              <a:rPr lang="en-US" sz="3600"/>
              <a:t>Overview of microcontrollers</a:t>
            </a:r>
            <a:endParaRPr/>
          </a:p>
        </p:txBody>
      </p:sp>
      <p:sp>
        <p:nvSpPr>
          <p:cNvPr id="143" name="Google Shape;143;p5"/>
          <p:cNvSpPr txBox="1"/>
          <p:nvPr>
            <p:ph idx="1" type="body"/>
          </p:nvPr>
        </p:nvSpPr>
        <p:spPr>
          <a:xfrm>
            <a:off x="0" y="5540188"/>
            <a:ext cx="12192000" cy="740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Figure 1-1. Microprocessor System Contrasted With Microcontroller System</a:t>
            </a:r>
            <a:endParaRPr/>
          </a:p>
        </p:txBody>
      </p:sp>
      <p:pic>
        <p:nvPicPr>
          <p:cNvPr id="144" name="Google Shape;14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415" y="1219200"/>
            <a:ext cx="10406108" cy="369345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 txBox="1"/>
          <p:nvPr>
            <p:ph type="title"/>
          </p:nvPr>
        </p:nvSpPr>
        <p:spPr>
          <a:xfrm>
            <a:off x="0" y="0"/>
            <a:ext cx="121920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1.1. </a:t>
            </a:r>
            <a:r>
              <a:rPr lang="en-US" sz="3600"/>
              <a:t>Overview of microcontrollers</a:t>
            </a:r>
            <a:endParaRPr/>
          </a:p>
        </p:txBody>
      </p:sp>
      <p:sp>
        <p:nvSpPr>
          <p:cNvPr id="151" name="Google Shape;151;p6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Choosing a microcontroller</a:t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major 8-bit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/>
              <a:t>Freescale Semiconductor’s (formerly Motorola)  68HC08/68HC11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/>
              <a:t>Intel’s 8051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/>
              <a:t>Atmel’s AVR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/>
              <a:t>Zilog’s Z8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/>
              <a:t>PIC from Microchip Technology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 txBox="1"/>
          <p:nvPr>
            <p:ph type="title"/>
          </p:nvPr>
        </p:nvSpPr>
        <p:spPr>
          <a:xfrm>
            <a:off x="0" y="0"/>
            <a:ext cx="121920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1.1. </a:t>
            </a:r>
            <a:r>
              <a:rPr lang="en-US" sz="3600"/>
              <a:t>Overview of microcontrollers</a:t>
            </a:r>
            <a:endParaRPr/>
          </a:p>
        </p:txBody>
      </p:sp>
      <p:sp>
        <p:nvSpPr>
          <p:cNvPr id="158" name="Google Shape;158;p7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Criteria for Choosing microcontroller</a:t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Meeting the computing needs of the task  at hand efficiency and cost effectively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Availability of SW and HW development  tools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/>
              <a:t>Compilers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/>
              <a:t>Assemblers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/>
              <a:t>Debuggers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/>
              <a:t>Emulators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Wide availability and reliable source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 txBox="1"/>
          <p:nvPr>
            <p:ph type="title"/>
          </p:nvPr>
        </p:nvSpPr>
        <p:spPr>
          <a:xfrm>
            <a:off x="0" y="0"/>
            <a:ext cx="121920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1.1. </a:t>
            </a:r>
            <a:r>
              <a:rPr lang="en-US" sz="3600"/>
              <a:t>Overview of microcontrollers</a:t>
            </a:r>
            <a:endParaRPr/>
          </a:p>
        </p:txBody>
      </p:sp>
      <p:sp>
        <p:nvSpPr>
          <p:cNvPr id="165" name="Google Shape;165;p8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Criteria for Choosing microcontroller</a:t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Meeting the computing needs of the task  at hand efficiency and cost effectively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/>
              <a:t>Determine its type, 8-bit,16-bit or 32-bit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/>
              <a:t>Speed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/>
              <a:t>Packaging (40-Pin or QFP)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/>
              <a:t>Power consumption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/>
              <a:t>The amount of RAM and ROM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/>
              <a:t>The number of I/O pins and the timer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/>
              <a:t>Cost per unit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/>
              <a:t>Ease of upgrade.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"/>
          <p:cNvSpPr txBox="1"/>
          <p:nvPr>
            <p:ph type="title"/>
          </p:nvPr>
        </p:nvSpPr>
        <p:spPr>
          <a:xfrm>
            <a:off x="0" y="0"/>
            <a:ext cx="121920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1.1. </a:t>
            </a:r>
            <a:r>
              <a:rPr lang="en-US" sz="3600"/>
              <a:t>Overview of microcontrollers</a:t>
            </a:r>
            <a:endParaRPr/>
          </a:p>
        </p:txBody>
      </p:sp>
      <p:sp>
        <p:nvSpPr>
          <p:cNvPr id="173" name="Google Shape;173;p9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Microcontroller Data width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8-bit Microcontrollers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/>
              <a:t>PIC10, PIC12, PIC14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/>
              <a:t>PIC16, PIC17, PIC18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16-bit Microcontrollers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/>
              <a:t>PIC24F, PIC24H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32-bit Microcontrollers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/>
              <a:t>PIC32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16-bit Digital Signal Controllers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/>
              <a:t>dsPIC30, dsPIC33F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"/>
          <p:cNvSpPr txBox="1"/>
          <p:nvPr>
            <p:ph type="title"/>
          </p:nvPr>
        </p:nvSpPr>
        <p:spPr>
          <a:xfrm>
            <a:off x="0" y="0"/>
            <a:ext cx="121920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1.2. </a:t>
            </a:r>
            <a:r>
              <a:rPr lang="en-US" sz="3600"/>
              <a:t>Overview of PIC18 family</a:t>
            </a:r>
            <a:endParaRPr/>
          </a:p>
        </p:txBody>
      </p:sp>
      <p:sp>
        <p:nvSpPr>
          <p:cNvPr id="180" name="Google Shape;180;p10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 8-bit microcontroller called PIC is  introduced in 1989 by Microchip  Technology Corporation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includes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Small Data Ram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Few bytes of Rom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One timer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I/O ports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"/>
          <p:cNvSpPr txBox="1"/>
          <p:nvPr>
            <p:ph type="title"/>
          </p:nvPr>
        </p:nvSpPr>
        <p:spPr>
          <a:xfrm>
            <a:off x="0" y="0"/>
            <a:ext cx="121920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1.2. </a:t>
            </a:r>
            <a:r>
              <a:rPr lang="en-US" sz="3600"/>
              <a:t>Overview of PIC18 family –Features </a:t>
            </a:r>
            <a:endParaRPr/>
          </a:p>
        </p:txBody>
      </p:sp>
      <p:sp>
        <p:nvSpPr>
          <p:cNvPr id="187" name="Google Shape;187;p11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350"/>
              <a:buChar char="•"/>
            </a:pPr>
            <a:r>
              <a:rPr lang="en-US"/>
              <a:t>RISC Architecture</a:t>
            </a:r>
            <a:endParaRPr/>
          </a:p>
          <a:p>
            <a:pPr indent="-457200" lvl="0" marL="46926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3333CC"/>
              </a:buClr>
              <a:buSzPts val="2350"/>
              <a:buChar char="•"/>
            </a:pPr>
            <a:r>
              <a:rPr lang="en-US"/>
              <a:t>On-chip program, Code, ROM</a:t>
            </a:r>
            <a:endParaRPr/>
          </a:p>
          <a:p>
            <a:pPr indent="-457200" lvl="0" marL="46926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3333CC"/>
              </a:buClr>
              <a:buSzPts val="2350"/>
              <a:buChar char="•"/>
            </a:pPr>
            <a:r>
              <a:rPr lang="en-US"/>
              <a:t>Data EEPROM</a:t>
            </a:r>
            <a:endParaRPr/>
          </a:p>
          <a:p>
            <a:pPr indent="-457200" lvl="0" marL="46926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3333CC"/>
              </a:buClr>
              <a:buSzPts val="2350"/>
              <a:buChar char="•"/>
            </a:pPr>
            <a:r>
              <a:rPr lang="en-US"/>
              <a:t>Timers</a:t>
            </a:r>
            <a:endParaRPr/>
          </a:p>
          <a:p>
            <a:pPr indent="-457200" lvl="0" marL="46926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3333CC"/>
              </a:buClr>
              <a:buSzPts val="2350"/>
              <a:buChar char="•"/>
            </a:pPr>
            <a:r>
              <a:rPr lang="en-US"/>
              <a:t>ADC</a:t>
            </a:r>
            <a:endParaRPr/>
          </a:p>
          <a:p>
            <a:pPr indent="-457200" lvl="0" marL="46926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3333CC"/>
              </a:buClr>
              <a:buSzPts val="2350"/>
              <a:buChar char="•"/>
            </a:pPr>
            <a:r>
              <a:rPr lang="en-US"/>
              <a:t>USART</a:t>
            </a:r>
            <a:endParaRPr/>
          </a:p>
          <a:p>
            <a:pPr indent="-457200" lvl="0" marL="46926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3333CC"/>
              </a:buClr>
              <a:buSzPts val="2350"/>
              <a:buChar char="•"/>
            </a:pPr>
            <a:r>
              <a:rPr lang="en-US"/>
              <a:t>I/O Ports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88" name="Google Shape;18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 txBox="1"/>
          <p:nvPr>
            <p:ph type="title"/>
          </p:nvPr>
        </p:nvSpPr>
        <p:spPr>
          <a:xfrm>
            <a:off x="0" y="0"/>
            <a:ext cx="121920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1.2. </a:t>
            </a:r>
            <a:r>
              <a:rPr lang="en-US" sz="3600"/>
              <a:t>Overview of PIC18 family</a:t>
            </a:r>
            <a:endParaRPr/>
          </a:p>
        </p:txBody>
      </p:sp>
      <p:sp>
        <p:nvSpPr>
          <p:cNvPr id="194" name="Google Shape;194;p12"/>
          <p:cNvSpPr txBox="1"/>
          <p:nvPr>
            <p:ph idx="1" type="body"/>
          </p:nvPr>
        </p:nvSpPr>
        <p:spPr>
          <a:xfrm>
            <a:off x="0" y="5611906"/>
            <a:ext cx="12192000" cy="6685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2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350"/>
              <a:buNone/>
            </a:pPr>
            <a:r>
              <a:rPr lang="en-US"/>
              <a:t>Figure 1-2. Simplified View of a PIC  Microcontroller</a:t>
            </a:r>
            <a:endParaRPr/>
          </a:p>
        </p:txBody>
      </p:sp>
      <p:pic>
        <p:nvPicPr>
          <p:cNvPr id="195" name="Google Shape;19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0248" y="803400"/>
            <a:ext cx="7478245" cy="481092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"/>
          <p:cNvSpPr txBox="1"/>
          <p:nvPr>
            <p:ph type="title"/>
          </p:nvPr>
        </p:nvSpPr>
        <p:spPr>
          <a:xfrm>
            <a:off x="0" y="0"/>
            <a:ext cx="121920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1.2. </a:t>
            </a:r>
            <a:r>
              <a:rPr lang="en-US" sz="3600"/>
              <a:t>Overview of PIC18 family</a:t>
            </a:r>
            <a:endParaRPr/>
          </a:p>
        </p:txBody>
      </p:sp>
      <p:sp>
        <p:nvSpPr>
          <p:cNvPr id="202" name="Google Shape;202;p13"/>
          <p:cNvSpPr txBox="1"/>
          <p:nvPr>
            <p:ph idx="1" type="body"/>
          </p:nvPr>
        </p:nvSpPr>
        <p:spPr>
          <a:xfrm>
            <a:off x="6517341" y="3818965"/>
            <a:ext cx="5253318" cy="1577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2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350"/>
              <a:buNone/>
            </a:pPr>
            <a:r>
              <a:rPr lang="en-US"/>
              <a:t>Figure 1-3. PIC18 Block Diagram</a:t>
            </a:r>
            <a:endParaRPr/>
          </a:p>
        </p:txBody>
      </p:sp>
      <p:pic>
        <p:nvPicPr>
          <p:cNvPr id="203" name="Google Shape;20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999" y="621719"/>
            <a:ext cx="6136341" cy="5717024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"/>
          <p:cNvSpPr txBox="1"/>
          <p:nvPr>
            <p:ph type="title"/>
          </p:nvPr>
        </p:nvSpPr>
        <p:spPr>
          <a:xfrm>
            <a:off x="0" y="0"/>
            <a:ext cx="121920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1.2. </a:t>
            </a:r>
            <a:r>
              <a:rPr lang="en-US" sz="3600"/>
              <a:t>Overview of PIC18 family</a:t>
            </a:r>
            <a:endParaRPr/>
          </a:p>
        </p:txBody>
      </p:sp>
      <p:sp>
        <p:nvSpPr>
          <p:cNvPr id="210" name="Google Shape;210;p14"/>
          <p:cNvSpPr txBox="1"/>
          <p:nvPr>
            <p:ph idx="1" type="body"/>
          </p:nvPr>
        </p:nvSpPr>
        <p:spPr>
          <a:xfrm>
            <a:off x="7188498" y="4912659"/>
            <a:ext cx="5253318" cy="1577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2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350"/>
              <a:buNone/>
            </a:pPr>
            <a:r>
              <a:rPr lang="en-US"/>
              <a:t>Figure 1-3. PIC18 Block Diagram (continued)</a:t>
            </a:r>
            <a:endParaRPr/>
          </a:p>
        </p:txBody>
      </p:sp>
      <p:pic>
        <p:nvPicPr>
          <p:cNvPr id="211" name="Google Shape;21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775" y="1165132"/>
            <a:ext cx="7004723" cy="3747527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5"/>
          <p:cNvSpPr txBox="1"/>
          <p:nvPr>
            <p:ph type="title"/>
          </p:nvPr>
        </p:nvSpPr>
        <p:spPr>
          <a:xfrm>
            <a:off x="0" y="0"/>
            <a:ext cx="121920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1.2. </a:t>
            </a:r>
            <a:r>
              <a:rPr lang="en-US" sz="3600"/>
              <a:t>Overview of PIC18 family</a:t>
            </a:r>
            <a:endParaRPr/>
          </a:p>
        </p:txBody>
      </p:sp>
      <p:sp>
        <p:nvSpPr>
          <p:cNvPr id="218" name="Google Shape;218;p15"/>
          <p:cNvSpPr txBox="1"/>
          <p:nvPr>
            <p:ph idx="1" type="body"/>
          </p:nvPr>
        </p:nvSpPr>
        <p:spPr>
          <a:xfrm>
            <a:off x="7188498" y="4912659"/>
            <a:ext cx="5253318" cy="1577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2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350"/>
              <a:buNone/>
            </a:pPr>
            <a:r>
              <a:rPr lang="en-US"/>
              <a:t>Figure 1-4. PIC16 Block Diagram</a:t>
            </a:r>
            <a:endParaRPr/>
          </a:p>
        </p:txBody>
      </p:sp>
      <p:pic>
        <p:nvPicPr>
          <p:cNvPr id="219" name="Google Shape;21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283" y="803400"/>
            <a:ext cx="6750672" cy="531052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"/>
          <p:cNvSpPr txBox="1"/>
          <p:nvPr>
            <p:ph type="title"/>
          </p:nvPr>
        </p:nvSpPr>
        <p:spPr>
          <a:xfrm>
            <a:off x="0" y="0"/>
            <a:ext cx="121920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1.2. </a:t>
            </a:r>
            <a:r>
              <a:rPr lang="en-US" sz="3600"/>
              <a:t>Overview of PIC18 family</a:t>
            </a:r>
            <a:endParaRPr/>
          </a:p>
        </p:txBody>
      </p:sp>
      <p:sp>
        <p:nvSpPr>
          <p:cNvPr id="226" name="Google Shape;226;p16"/>
          <p:cNvSpPr txBox="1"/>
          <p:nvPr>
            <p:ph idx="1" type="body"/>
          </p:nvPr>
        </p:nvSpPr>
        <p:spPr>
          <a:xfrm>
            <a:off x="7188498" y="4912659"/>
            <a:ext cx="5253318" cy="1577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2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350"/>
              <a:buNone/>
            </a:pPr>
            <a:r>
              <a:rPr lang="en-US"/>
              <a:t>Figure 1-4. PIC16 Block Diagram (continued)</a:t>
            </a:r>
            <a:endParaRPr/>
          </a:p>
        </p:txBody>
      </p:sp>
      <p:pic>
        <p:nvPicPr>
          <p:cNvPr id="227" name="Google Shape;2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929" y="905404"/>
            <a:ext cx="7307374" cy="4993372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7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1.2. Overview of PIC18 family</a:t>
            </a:r>
            <a:endParaRPr/>
          </a:p>
        </p:txBody>
      </p:sp>
      <p:sp>
        <p:nvSpPr>
          <p:cNvPr id="234" name="Google Shape;234;p17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PIC microcontroller program ROM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PIC exists in terms of different speed and  the amount of on-chip RAM/ROM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Compatibility is restricted as far as the  instructions are concerns.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PIC 18 can support up to 2MB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Generally, they come with 4KB – 128KB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Available in flash, OTP, UV-EPROM, and  masked.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35" name="Google Shape;23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8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1.2. Overview of PIC18 family</a:t>
            </a:r>
            <a:endParaRPr/>
          </a:p>
        </p:txBody>
      </p:sp>
      <p:sp>
        <p:nvSpPr>
          <p:cNvPr id="241" name="Google Shape;241;p18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PIC18Fxxxx with flash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Used for product development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PIC18Cxxxx and Masked PIC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OTP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/>
              <a:t>One time programmable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C indicates the OTP RPM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Used for mass production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Cheaper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Masked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/>
              <a:t>program will be burned into the PIC chip during  the fabrication process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42" name="Google Shape;242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9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1.2. Overview of PIC18 family</a:t>
            </a:r>
            <a:endParaRPr/>
          </a:p>
        </p:txBody>
      </p:sp>
      <p:sp>
        <p:nvSpPr>
          <p:cNvPr id="248" name="Google Shape;248;p19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PIC microcontroller data RAM and EEPROM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Max. 4096 Bytes (4 kB) of data RAM  space.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 RAM space has two components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/>
              <a:t>Varied GPR, General Purpose RAM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For read/write and data manipulation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Divided into banks of 256 B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/>
              <a:t>Fixed SFR, Special Function Registers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Some of PICs have a small amount of  EEPROM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/>
              <a:t>Used for critical data storing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49" name="Google Shape;2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1.2. Overview of PIC18 family</a:t>
            </a:r>
            <a:endParaRPr/>
          </a:p>
        </p:txBody>
      </p:sp>
      <p:sp>
        <p:nvSpPr>
          <p:cNvPr id="255" name="Google Shape;255;p20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56" name="Google Shape;256;p20"/>
          <p:cNvSpPr/>
          <p:nvPr/>
        </p:nvSpPr>
        <p:spPr>
          <a:xfrm>
            <a:off x="992457" y="615696"/>
            <a:ext cx="8980169" cy="624230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1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1.2. Overview of PIC18 family</a:t>
            </a:r>
            <a:endParaRPr/>
          </a:p>
        </p:txBody>
      </p:sp>
      <p:sp>
        <p:nvSpPr>
          <p:cNvPr id="263" name="Google Shape;263;p21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PIC microcontroller peripherals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CAN- (Controller Area Network),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LIN- (Local Interconnect Network),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USB- (Universal Serial Bus),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I²C- (Inter-Integrated Circuit),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SPI- (Serial Peripheral Interface),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Serial or Ethernet Interface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ADC - Analog Digital Converter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USART- Universal Synchronous  Asynchronous Receiver Transmitter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64" name="Google Shape;26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1.3. PIC18 PIN connection</a:t>
            </a:r>
            <a:endParaRPr/>
          </a:p>
        </p:txBody>
      </p:sp>
      <p:sp>
        <p:nvSpPr>
          <p:cNvPr id="270" name="Google Shape;270;p22"/>
          <p:cNvSpPr txBox="1"/>
          <p:nvPr>
            <p:ph idx="1" type="body"/>
          </p:nvPr>
        </p:nvSpPr>
        <p:spPr>
          <a:xfrm>
            <a:off x="0" y="811942"/>
            <a:ext cx="640136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DIP (dual in line package) shown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– QFP (quad flat package) and LLC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(leadless chip carrier) is also available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Vdd typical 5V but can be  set; 2 pins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Vss (GND) 2 pins (ground  bounce noise reduction)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OSC1 and OSC2: for  external quartz oscillators  0-40MHz, configurable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MCLR – master clear  reset – creates power on  reset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71" name="Google Shape;27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2" name="Google Shape;27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1360" y="0"/>
            <a:ext cx="579064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3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1.3. PIC18 PIN connection</a:t>
            </a:r>
            <a:endParaRPr/>
          </a:p>
        </p:txBody>
      </p:sp>
      <p:sp>
        <p:nvSpPr>
          <p:cNvPr id="278" name="Google Shape;278;p23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PIC18F458 Power-On Reset Circuit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79" name="Google Shape;27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0" name="Google Shape;280;p23"/>
          <p:cNvSpPr/>
          <p:nvPr/>
        </p:nvSpPr>
        <p:spPr>
          <a:xfrm>
            <a:off x="5116222" y="1460130"/>
            <a:ext cx="5723574" cy="464141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2147980" y="2011509"/>
            <a:ext cx="2365311" cy="227404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4419892" y="1928384"/>
            <a:ext cx="1675815" cy="1503317"/>
          </a:xfrm>
          <a:custGeom>
            <a:rect b="b" l="l" r="r" t="t"/>
            <a:pathLst>
              <a:path extrusionOk="0" h="840739" w="688339">
                <a:moveTo>
                  <a:pt x="661867" y="27900"/>
                </a:moveTo>
                <a:lnTo>
                  <a:pt x="762" y="836676"/>
                </a:lnTo>
                <a:lnTo>
                  <a:pt x="0" y="838200"/>
                </a:lnTo>
                <a:lnTo>
                  <a:pt x="762" y="839723"/>
                </a:lnTo>
                <a:lnTo>
                  <a:pt x="2286" y="840485"/>
                </a:lnTo>
                <a:lnTo>
                  <a:pt x="3810" y="839723"/>
                </a:lnTo>
                <a:lnTo>
                  <a:pt x="665636" y="30992"/>
                </a:lnTo>
                <a:lnTo>
                  <a:pt x="661867" y="27900"/>
                </a:lnTo>
                <a:close/>
              </a:path>
              <a:path extrusionOk="0" h="840739" w="688339">
                <a:moveTo>
                  <a:pt x="683264" y="22097"/>
                </a:moveTo>
                <a:lnTo>
                  <a:pt x="667512" y="22097"/>
                </a:lnTo>
                <a:lnTo>
                  <a:pt x="669798" y="22859"/>
                </a:lnTo>
                <a:lnTo>
                  <a:pt x="670560" y="24383"/>
                </a:lnTo>
                <a:lnTo>
                  <a:pt x="669798" y="25907"/>
                </a:lnTo>
                <a:lnTo>
                  <a:pt x="665636" y="30992"/>
                </a:lnTo>
                <a:lnTo>
                  <a:pt x="678942" y="41909"/>
                </a:lnTo>
                <a:lnTo>
                  <a:pt x="683264" y="22097"/>
                </a:lnTo>
                <a:close/>
              </a:path>
              <a:path extrusionOk="0" h="840739" w="688339">
                <a:moveTo>
                  <a:pt x="667512" y="22097"/>
                </a:moveTo>
                <a:lnTo>
                  <a:pt x="665988" y="22859"/>
                </a:lnTo>
                <a:lnTo>
                  <a:pt x="661867" y="27900"/>
                </a:lnTo>
                <a:lnTo>
                  <a:pt x="665636" y="30992"/>
                </a:lnTo>
                <a:lnTo>
                  <a:pt x="669798" y="25907"/>
                </a:lnTo>
                <a:lnTo>
                  <a:pt x="670560" y="24383"/>
                </a:lnTo>
                <a:lnTo>
                  <a:pt x="669798" y="22859"/>
                </a:lnTo>
                <a:lnTo>
                  <a:pt x="667512" y="22097"/>
                </a:lnTo>
                <a:close/>
              </a:path>
              <a:path extrusionOk="0" h="840739" w="688339">
                <a:moveTo>
                  <a:pt x="688086" y="0"/>
                </a:moveTo>
                <a:lnTo>
                  <a:pt x="649224" y="17525"/>
                </a:lnTo>
                <a:lnTo>
                  <a:pt x="661867" y="27900"/>
                </a:lnTo>
                <a:lnTo>
                  <a:pt x="665988" y="22859"/>
                </a:lnTo>
                <a:lnTo>
                  <a:pt x="667512" y="22097"/>
                </a:lnTo>
                <a:lnTo>
                  <a:pt x="683264" y="22097"/>
                </a:lnTo>
                <a:lnTo>
                  <a:pt x="68808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3"/>
          <p:cNvSpPr txBox="1"/>
          <p:nvPr/>
        </p:nvSpPr>
        <p:spPr>
          <a:xfrm>
            <a:off x="365760" y="5070764"/>
            <a:ext cx="405413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MCLR: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2971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PC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WREG, SP reset to 0</a:t>
            </a:r>
            <a:endParaRPr/>
          </a:p>
          <a:p>
            <a:pPr indent="-114300" lvl="0" marL="29718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TRISA-TRISE reset to FF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4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1.3. PIC18 PIN connection</a:t>
            </a:r>
            <a:endParaRPr/>
          </a:p>
        </p:txBody>
      </p:sp>
      <p:sp>
        <p:nvSpPr>
          <p:cNvPr id="289" name="Google Shape;289;p24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Minimum Connections on a Pic18F  (With a Crystal)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90" name="Google Shape;29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1" name="Google Shape;291;p24"/>
          <p:cNvSpPr/>
          <p:nvPr/>
        </p:nvSpPr>
        <p:spPr>
          <a:xfrm>
            <a:off x="2623843" y="1517625"/>
            <a:ext cx="6437030" cy="453403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5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1.3. PIC18 PIN connection</a:t>
            </a:r>
            <a:endParaRPr/>
          </a:p>
        </p:txBody>
      </p:sp>
      <p:sp>
        <p:nvSpPr>
          <p:cNvPr id="297" name="Google Shape;297;p25"/>
          <p:cNvSpPr txBox="1"/>
          <p:nvPr>
            <p:ph idx="1" type="body"/>
          </p:nvPr>
        </p:nvSpPr>
        <p:spPr>
          <a:xfrm>
            <a:off x="0" y="811942"/>
            <a:ext cx="7269515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Configuration Registers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ROM beyond addressable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CONFIG directive in the source  code is used to write to it, e.g.,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CONFIG OSC=HS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CONFIG OSCS = OFF OR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CONFIG OSC=HS , OSCS = OFF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MPLAB can directly manipulate  them inside a project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Can be accessed through table  reads and writes from the  microcontroller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CONFIG5 and up are in general for  code protection settings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98" name="Google Shape;298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9" name="Google Shape;29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07715" y="0"/>
            <a:ext cx="2407885" cy="672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6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1.3. PIC18 PIN connection</a:t>
            </a:r>
            <a:endParaRPr/>
          </a:p>
        </p:txBody>
      </p:sp>
      <p:sp>
        <p:nvSpPr>
          <p:cNvPr id="305" name="Google Shape;305;p26"/>
          <p:cNvSpPr txBox="1"/>
          <p:nvPr>
            <p:ph idx="1" type="body"/>
          </p:nvPr>
        </p:nvSpPr>
        <p:spPr>
          <a:xfrm>
            <a:off x="0" y="811942"/>
            <a:ext cx="5851939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CONFIG1H - Oscillator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FOSC default is RC (111) –  on chip oscillator with RC  circuit attached to OSC1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EC = external oscillator  connected to OSC1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HSPLL, HS, XT, LP, are  crystal options with stability  and power consumption (in  this descending order)  differences (HSPLL  quadruples the frequency)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There is an internal 32kHz  oscillator that can be  enabled by the OSCEN bit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06" name="Google Shape;306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7" name="Google Shape;30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1939" y="608733"/>
            <a:ext cx="6335464" cy="5671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7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1.3. PIC18 PIN connection</a:t>
            </a:r>
            <a:endParaRPr/>
          </a:p>
        </p:txBody>
      </p:sp>
      <p:sp>
        <p:nvSpPr>
          <p:cNvPr id="313" name="Google Shape;313;p27"/>
          <p:cNvSpPr txBox="1"/>
          <p:nvPr>
            <p:ph idx="1" type="body"/>
          </p:nvPr>
        </p:nvSpPr>
        <p:spPr>
          <a:xfrm>
            <a:off x="0" y="811942"/>
            <a:ext cx="5851939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Clock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14" name="Google Shape;314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5" name="Google Shape;31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7090" y="1132888"/>
            <a:ext cx="7236662" cy="4893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8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1.3. PIC18 PIN connection</a:t>
            </a:r>
            <a:endParaRPr/>
          </a:p>
        </p:txBody>
      </p:sp>
      <p:sp>
        <p:nvSpPr>
          <p:cNvPr id="321" name="Google Shape;321;p28"/>
          <p:cNvSpPr txBox="1"/>
          <p:nvPr>
            <p:ph idx="1" type="body"/>
          </p:nvPr>
        </p:nvSpPr>
        <p:spPr>
          <a:xfrm>
            <a:off x="0" y="811942"/>
            <a:ext cx="5054138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CONFIG2L – Initial Transients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Controls stable voltage and  frequency during reset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Power up timer (PWRT)  keeps the processor start  up so that supply voltage  can be stabilized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Oscillator start up timer  does the same for the  oscillator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Brown out suspends the  processor if supply voltage  falls below a set level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Recall: the higher the  frequency the higher of a  supply voltage we need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22" name="Google Shape;322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3" name="Google Shape;32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7800" y="811942"/>
            <a:ext cx="6934200" cy="552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9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1.3. PIC18 PIN connection</a:t>
            </a:r>
            <a:endParaRPr/>
          </a:p>
        </p:txBody>
      </p:sp>
      <p:sp>
        <p:nvSpPr>
          <p:cNvPr id="329" name="Google Shape;329;p29"/>
          <p:cNvSpPr txBox="1"/>
          <p:nvPr>
            <p:ph idx="1" type="body"/>
          </p:nvPr>
        </p:nvSpPr>
        <p:spPr>
          <a:xfrm>
            <a:off x="0" y="811942"/>
            <a:ext cx="5054138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CONFIG2H – Rottweilers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Errrr, watchdog timers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Can verify if the system still is executing meaningful instructions or is stuck (ROM corruption, noises, PC failures) and issue a reset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WDTPS determines the time-out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30" name="Google Shape;330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1" name="Google Shape;33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8018" y="612714"/>
            <a:ext cx="5985164" cy="5667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0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1.3. PIC18 PIN connection</a:t>
            </a:r>
            <a:endParaRPr/>
          </a:p>
        </p:txBody>
      </p:sp>
      <p:sp>
        <p:nvSpPr>
          <p:cNvPr id="337" name="Google Shape;337;p30"/>
          <p:cNvSpPr txBox="1"/>
          <p:nvPr>
            <p:ph idx="1" type="body"/>
          </p:nvPr>
        </p:nvSpPr>
        <p:spPr>
          <a:xfrm>
            <a:off x="0" y="811942"/>
            <a:ext cx="5054138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CONFIG2L – Initial Transients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Controls stable voltage and  frequency during reset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Power up timer (PWRT)  keeps the processor start  up so that supply voltage  can be stabilized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Oscillator start up timer  does the same for the  oscillator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Brown out suspends the  processor if supply voltage  falls below a set level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Recall: the higher the  frequency the higher of a  supply voltage we need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38" name="Google Shape;338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7800" y="811942"/>
            <a:ext cx="6934200" cy="552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1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1.3. PIC18 PIN connection</a:t>
            </a:r>
            <a:endParaRPr/>
          </a:p>
        </p:txBody>
      </p:sp>
      <p:sp>
        <p:nvSpPr>
          <p:cNvPr id="345" name="Google Shape;345;p31"/>
          <p:cNvSpPr txBox="1"/>
          <p:nvPr>
            <p:ph idx="1" type="body"/>
          </p:nvPr>
        </p:nvSpPr>
        <p:spPr>
          <a:xfrm>
            <a:off x="-1" y="811942"/>
            <a:ext cx="5586153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CONFIG4L – Debuggers, etc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There are special purpose in-circuit debuggers that can be used with PICs (RB6 and RB7 unusable)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SVREN: Stack has only 31 locations if it over (or under) flows we can ask for a reset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LVP: low voltage in circuit programming bit (RB5 becomes unusable)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46" name="Google Shape;346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7" name="Google Shape;34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1100" y="811942"/>
            <a:ext cx="6631756" cy="4873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2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1.4. The WREG Register</a:t>
            </a:r>
            <a:endParaRPr/>
          </a:p>
        </p:txBody>
      </p:sp>
      <p:sp>
        <p:nvSpPr>
          <p:cNvPr id="353" name="Google Shape;353;p32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69265" marR="5810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350"/>
              <a:buChar char="•"/>
            </a:pPr>
            <a:r>
              <a:rPr lang="en-US"/>
              <a:t>Many registers for arithmetic and logic  operation.</a:t>
            </a:r>
            <a:endParaRPr/>
          </a:p>
          <a:p>
            <a:pPr indent="-457200" lvl="0" marL="469265" marR="508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3333CC"/>
              </a:buClr>
              <a:buSzPts val="2350"/>
              <a:buChar char="•"/>
            </a:pPr>
            <a:r>
              <a:rPr lang="en-US"/>
              <a:t>The WREG (WORking Register) Register is  one of the most widely used registers of  the PIC</a:t>
            </a:r>
            <a:endParaRPr/>
          </a:p>
          <a:p>
            <a:pPr indent="-342900" lvl="1" marL="812165" marR="180975" rtl="0" algn="l">
              <a:lnSpc>
                <a:spcPct val="99800"/>
              </a:lnSpc>
              <a:spcBef>
                <a:spcPts val="620"/>
              </a:spcBef>
              <a:spcAft>
                <a:spcPts val="0"/>
              </a:spcAft>
              <a:buClr>
                <a:srgbClr val="3333CC"/>
              </a:buClr>
              <a:buSzPts val="1800"/>
              <a:buFont typeface="Noto Sans Symbols"/>
              <a:buChar char="⮚"/>
            </a:pPr>
            <a:r>
              <a:rPr lang="en-US"/>
              <a:t>8-bit register 🡪 any data larger than 8 bits must be broken into 8-bits chunks before it is  processed.</a:t>
            </a:r>
            <a:endParaRPr/>
          </a:p>
          <a:p>
            <a:pPr indent="-342900" lvl="1" marL="81153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3333CC"/>
              </a:buClr>
              <a:buSzPts val="1800"/>
              <a:buFont typeface="Noto Sans Symbols"/>
              <a:buChar char="⮚"/>
            </a:pPr>
            <a:r>
              <a:rPr lang="en-US"/>
              <a:t>There is only one 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grpSp>
        <p:nvGrpSpPr>
          <p:cNvPr id="354" name="Google Shape;354;p32"/>
          <p:cNvGrpSpPr/>
          <p:nvPr/>
        </p:nvGrpSpPr>
        <p:grpSpPr>
          <a:xfrm>
            <a:off x="2115690" y="3967376"/>
            <a:ext cx="5715000" cy="572008"/>
            <a:chOff x="2026043" y="5778246"/>
            <a:chExt cx="5715000" cy="572008"/>
          </a:xfrm>
        </p:grpSpPr>
        <p:sp>
          <p:nvSpPr>
            <p:cNvPr id="355" name="Google Shape;355;p32"/>
            <p:cNvSpPr/>
            <p:nvPr/>
          </p:nvSpPr>
          <p:spPr>
            <a:xfrm>
              <a:off x="2032139" y="5785104"/>
              <a:ext cx="711835" cy="565150"/>
            </a:xfrm>
            <a:custGeom>
              <a:rect b="b" l="l" r="r" t="t"/>
              <a:pathLst>
                <a:path extrusionOk="0" h="565150" w="711835">
                  <a:moveTo>
                    <a:pt x="711707" y="564641"/>
                  </a:moveTo>
                  <a:lnTo>
                    <a:pt x="711707" y="0"/>
                  </a:lnTo>
                  <a:lnTo>
                    <a:pt x="0" y="0"/>
                  </a:lnTo>
                  <a:lnTo>
                    <a:pt x="0" y="564641"/>
                  </a:lnTo>
                  <a:lnTo>
                    <a:pt x="711707" y="564641"/>
                  </a:lnTo>
                  <a:close/>
                </a:path>
              </a:pathLst>
            </a:custGeom>
            <a:solidFill>
              <a:srgbClr val="00CC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32"/>
            <p:cNvSpPr/>
            <p:nvPr/>
          </p:nvSpPr>
          <p:spPr>
            <a:xfrm>
              <a:off x="2026043" y="5778246"/>
              <a:ext cx="723900" cy="571500"/>
            </a:xfrm>
            <a:custGeom>
              <a:rect b="b" l="l" r="r" t="t"/>
              <a:pathLst>
                <a:path extrusionOk="0" h="571500" w="723900">
                  <a:moveTo>
                    <a:pt x="723900" y="571499"/>
                  </a:moveTo>
                  <a:lnTo>
                    <a:pt x="723900" y="3047"/>
                  </a:lnTo>
                  <a:lnTo>
                    <a:pt x="720852" y="0"/>
                  </a:lnTo>
                  <a:lnTo>
                    <a:pt x="3047" y="0"/>
                  </a:lnTo>
                  <a:lnTo>
                    <a:pt x="0" y="3047"/>
                  </a:lnTo>
                  <a:lnTo>
                    <a:pt x="0" y="571499"/>
                  </a:lnTo>
                  <a:lnTo>
                    <a:pt x="6096" y="571499"/>
                  </a:lnTo>
                  <a:lnTo>
                    <a:pt x="6096" y="12953"/>
                  </a:lnTo>
                  <a:lnTo>
                    <a:pt x="12954" y="6857"/>
                  </a:lnTo>
                  <a:lnTo>
                    <a:pt x="12954" y="12953"/>
                  </a:lnTo>
                  <a:lnTo>
                    <a:pt x="710946" y="12953"/>
                  </a:lnTo>
                  <a:lnTo>
                    <a:pt x="710946" y="6857"/>
                  </a:lnTo>
                  <a:lnTo>
                    <a:pt x="717804" y="12953"/>
                  </a:lnTo>
                  <a:lnTo>
                    <a:pt x="717804" y="571499"/>
                  </a:lnTo>
                  <a:lnTo>
                    <a:pt x="723900" y="571499"/>
                  </a:lnTo>
                  <a:close/>
                </a:path>
                <a:path extrusionOk="0" h="571500" w="723900">
                  <a:moveTo>
                    <a:pt x="12954" y="12953"/>
                  </a:moveTo>
                  <a:lnTo>
                    <a:pt x="12954" y="6857"/>
                  </a:lnTo>
                  <a:lnTo>
                    <a:pt x="6096" y="12953"/>
                  </a:lnTo>
                  <a:lnTo>
                    <a:pt x="12954" y="12953"/>
                  </a:lnTo>
                  <a:close/>
                </a:path>
                <a:path extrusionOk="0" h="571500" w="723900">
                  <a:moveTo>
                    <a:pt x="12954" y="571499"/>
                  </a:moveTo>
                  <a:lnTo>
                    <a:pt x="12954" y="12953"/>
                  </a:lnTo>
                  <a:lnTo>
                    <a:pt x="6096" y="12953"/>
                  </a:lnTo>
                  <a:lnTo>
                    <a:pt x="6096" y="571499"/>
                  </a:lnTo>
                  <a:lnTo>
                    <a:pt x="12954" y="571499"/>
                  </a:lnTo>
                  <a:close/>
                </a:path>
                <a:path extrusionOk="0" h="571500" w="723900">
                  <a:moveTo>
                    <a:pt x="717804" y="12953"/>
                  </a:moveTo>
                  <a:lnTo>
                    <a:pt x="710946" y="6857"/>
                  </a:lnTo>
                  <a:lnTo>
                    <a:pt x="710946" y="12953"/>
                  </a:lnTo>
                  <a:lnTo>
                    <a:pt x="717804" y="12953"/>
                  </a:lnTo>
                  <a:close/>
                </a:path>
                <a:path extrusionOk="0" h="571500" w="723900">
                  <a:moveTo>
                    <a:pt x="717804" y="571499"/>
                  </a:moveTo>
                  <a:lnTo>
                    <a:pt x="717804" y="12953"/>
                  </a:lnTo>
                  <a:lnTo>
                    <a:pt x="710946" y="12953"/>
                  </a:lnTo>
                  <a:lnTo>
                    <a:pt x="710946" y="571499"/>
                  </a:lnTo>
                  <a:lnTo>
                    <a:pt x="717804" y="5714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32"/>
            <p:cNvSpPr/>
            <p:nvPr/>
          </p:nvSpPr>
          <p:spPr>
            <a:xfrm>
              <a:off x="2743847" y="5785104"/>
              <a:ext cx="711200" cy="565150"/>
            </a:xfrm>
            <a:custGeom>
              <a:rect b="b" l="l" r="r" t="t"/>
              <a:pathLst>
                <a:path extrusionOk="0" h="565150" w="711200">
                  <a:moveTo>
                    <a:pt x="710946" y="564641"/>
                  </a:moveTo>
                  <a:lnTo>
                    <a:pt x="710945" y="0"/>
                  </a:lnTo>
                  <a:lnTo>
                    <a:pt x="0" y="0"/>
                  </a:lnTo>
                  <a:lnTo>
                    <a:pt x="0" y="564641"/>
                  </a:lnTo>
                  <a:lnTo>
                    <a:pt x="710946" y="564641"/>
                  </a:lnTo>
                  <a:close/>
                </a:path>
              </a:pathLst>
            </a:custGeom>
            <a:solidFill>
              <a:srgbClr val="00CC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32"/>
            <p:cNvSpPr/>
            <p:nvPr/>
          </p:nvSpPr>
          <p:spPr>
            <a:xfrm>
              <a:off x="2736989" y="5778246"/>
              <a:ext cx="723900" cy="571500"/>
            </a:xfrm>
            <a:custGeom>
              <a:rect b="b" l="l" r="r" t="t"/>
              <a:pathLst>
                <a:path extrusionOk="0" h="571500" w="723900">
                  <a:moveTo>
                    <a:pt x="723900" y="571499"/>
                  </a:moveTo>
                  <a:lnTo>
                    <a:pt x="723900" y="3047"/>
                  </a:lnTo>
                  <a:lnTo>
                    <a:pt x="721614" y="0"/>
                  </a:lnTo>
                  <a:lnTo>
                    <a:pt x="3047" y="0"/>
                  </a:lnTo>
                  <a:lnTo>
                    <a:pt x="0" y="3047"/>
                  </a:lnTo>
                  <a:lnTo>
                    <a:pt x="0" y="571499"/>
                  </a:lnTo>
                  <a:lnTo>
                    <a:pt x="6858" y="571499"/>
                  </a:lnTo>
                  <a:lnTo>
                    <a:pt x="6858" y="12953"/>
                  </a:lnTo>
                  <a:lnTo>
                    <a:pt x="12953" y="6857"/>
                  </a:lnTo>
                  <a:lnTo>
                    <a:pt x="12953" y="12953"/>
                  </a:lnTo>
                  <a:lnTo>
                    <a:pt x="711708" y="12953"/>
                  </a:lnTo>
                  <a:lnTo>
                    <a:pt x="711708" y="6857"/>
                  </a:lnTo>
                  <a:lnTo>
                    <a:pt x="717804" y="12953"/>
                  </a:lnTo>
                  <a:lnTo>
                    <a:pt x="717804" y="571499"/>
                  </a:lnTo>
                  <a:lnTo>
                    <a:pt x="723900" y="571499"/>
                  </a:lnTo>
                  <a:close/>
                </a:path>
                <a:path extrusionOk="0" h="571500" w="723900">
                  <a:moveTo>
                    <a:pt x="12953" y="12953"/>
                  </a:moveTo>
                  <a:lnTo>
                    <a:pt x="12953" y="6857"/>
                  </a:lnTo>
                  <a:lnTo>
                    <a:pt x="6858" y="12953"/>
                  </a:lnTo>
                  <a:lnTo>
                    <a:pt x="12953" y="12953"/>
                  </a:lnTo>
                  <a:close/>
                </a:path>
                <a:path extrusionOk="0" h="571500" w="723900">
                  <a:moveTo>
                    <a:pt x="12953" y="571499"/>
                  </a:moveTo>
                  <a:lnTo>
                    <a:pt x="12953" y="12953"/>
                  </a:lnTo>
                  <a:lnTo>
                    <a:pt x="6858" y="12953"/>
                  </a:lnTo>
                  <a:lnTo>
                    <a:pt x="6858" y="571499"/>
                  </a:lnTo>
                  <a:lnTo>
                    <a:pt x="12953" y="571499"/>
                  </a:lnTo>
                  <a:close/>
                </a:path>
                <a:path extrusionOk="0" h="571500" w="723900">
                  <a:moveTo>
                    <a:pt x="717804" y="12953"/>
                  </a:moveTo>
                  <a:lnTo>
                    <a:pt x="711708" y="6857"/>
                  </a:lnTo>
                  <a:lnTo>
                    <a:pt x="711708" y="12953"/>
                  </a:lnTo>
                  <a:lnTo>
                    <a:pt x="717804" y="12953"/>
                  </a:lnTo>
                  <a:close/>
                </a:path>
                <a:path extrusionOk="0" h="571500" w="723900">
                  <a:moveTo>
                    <a:pt x="717804" y="571499"/>
                  </a:moveTo>
                  <a:lnTo>
                    <a:pt x="717804" y="12953"/>
                  </a:lnTo>
                  <a:lnTo>
                    <a:pt x="711708" y="12953"/>
                  </a:lnTo>
                  <a:lnTo>
                    <a:pt x="711708" y="571499"/>
                  </a:lnTo>
                  <a:lnTo>
                    <a:pt x="717804" y="5714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32"/>
            <p:cNvSpPr/>
            <p:nvPr/>
          </p:nvSpPr>
          <p:spPr>
            <a:xfrm>
              <a:off x="3467747" y="5785104"/>
              <a:ext cx="711200" cy="565150"/>
            </a:xfrm>
            <a:custGeom>
              <a:rect b="b" l="l" r="r" t="t"/>
              <a:pathLst>
                <a:path extrusionOk="0" h="565150" w="711200">
                  <a:moveTo>
                    <a:pt x="710946" y="564641"/>
                  </a:moveTo>
                  <a:lnTo>
                    <a:pt x="710946" y="0"/>
                  </a:lnTo>
                  <a:lnTo>
                    <a:pt x="0" y="0"/>
                  </a:lnTo>
                  <a:lnTo>
                    <a:pt x="0" y="564641"/>
                  </a:lnTo>
                  <a:lnTo>
                    <a:pt x="710946" y="564641"/>
                  </a:lnTo>
                  <a:close/>
                </a:path>
              </a:pathLst>
            </a:custGeom>
            <a:solidFill>
              <a:srgbClr val="00CC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32"/>
            <p:cNvSpPr/>
            <p:nvPr/>
          </p:nvSpPr>
          <p:spPr>
            <a:xfrm>
              <a:off x="3460889" y="5778246"/>
              <a:ext cx="723900" cy="571500"/>
            </a:xfrm>
            <a:custGeom>
              <a:rect b="b" l="l" r="r" t="t"/>
              <a:pathLst>
                <a:path extrusionOk="0" h="571500" w="723900">
                  <a:moveTo>
                    <a:pt x="723900" y="571499"/>
                  </a:moveTo>
                  <a:lnTo>
                    <a:pt x="723900" y="3047"/>
                  </a:lnTo>
                  <a:lnTo>
                    <a:pt x="721614" y="0"/>
                  </a:lnTo>
                  <a:lnTo>
                    <a:pt x="3047" y="0"/>
                  </a:lnTo>
                  <a:lnTo>
                    <a:pt x="0" y="3047"/>
                  </a:lnTo>
                  <a:lnTo>
                    <a:pt x="0" y="571499"/>
                  </a:lnTo>
                  <a:lnTo>
                    <a:pt x="6858" y="571499"/>
                  </a:lnTo>
                  <a:lnTo>
                    <a:pt x="6858" y="12953"/>
                  </a:lnTo>
                  <a:lnTo>
                    <a:pt x="12953" y="6857"/>
                  </a:lnTo>
                  <a:lnTo>
                    <a:pt x="12953" y="12953"/>
                  </a:lnTo>
                  <a:lnTo>
                    <a:pt x="711708" y="12953"/>
                  </a:lnTo>
                  <a:lnTo>
                    <a:pt x="711708" y="6857"/>
                  </a:lnTo>
                  <a:lnTo>
                    <a:pt x="717804" y="12953"/>
                  </a:lnTo>
                  <a:lnTo>
                    <a:pt x="717804" y="571499"/>
                  </a:lnTo>
                  <a:lnTo>
                    <a:pt x="723900" y="571499"/>
                  </a:lnTo>
                  <a:close/>
                </a:path>
                <a:path extrusionOk="0" h="571500" w="723900">
                  <a:moveTo>
                    <a:pt x="12953" y="12953"/>
                  </a:moveTo>
                  <a:lnTo>
                    <a:pt x="12953" y="6857"/>
                  </a:lnTo>
                  <a:lnTo>
                    <a:pt x="6858" y="12953"/>
                  </a:lnTo>
                  <a:lnTo>
                    <a:pt x="12953" y="12953"/>
                  </a:lnTo>
                  <a:close/>
                </a:path>
                <a:path extrusionOk="0" h="571500" w="723900">
                  <a:moveTo>
                    <a:pt x="12953" y="571499"/>
                  </a:moveTo>
                  <a:lnTo>
                    <a:pt x="12953" y="12953"/>
                  </a:lnTo>
                  <a:lnTo>
                    <a:pt x="6858" y="12953"/>
                  </a:lnTo>
                  <a:lnTo>
                    <a:pt x="6858" y="571499"/>
                  </a:lnTo>
                  <a:lnTo>
                    <a:pt x="12953" y="571499"/>
                  </a:lnTo>
                  <a:close/>
                </a:path>
                <a:path extrusionOk="0" h="571500" w="723900">
                  <a:moveTo>
                    <a:pt x="717804" y="12953"/>
                  </a:moveTo>
                  <a:lnTo>
                    <a:pt x="711708" y="6857"/>
                  </a:lnTo>
                  <a:lnTo>
                    <a:pt x="711708" y="12953"/>
                  </a:lnTo>
                  <a:lnTo>
                    <a:pt x="717804" y="12953"/>
                  </a:lnTo>
                  <a:close/>
                </a:path>
                <a:path extrusionOk="0" h="571500" w="723900">
                  <a:moveTo>
                    <a:pt x="717804" y="571499"/>
                  </a:moveTo>
                  <a:lnTo>
                    <a:pt x="717804" y="12953"/>
                  </a:lnTo>
                  <a:lnTo>
                    <a:pt x="711708" y="12953"/>
                  </a:lnTo>
                  <a:lnTo>
                    <a:pt x="711708" y="571499"/>
                  </a:lnTo>
                  <a:lnTo>
                    <a:pt x="717804" y="5714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32"/>
            <p:cNvSpPr/>
            <p:nvPr/>
          </p:nvSpPr>
          <p:spPr>
            <a:xfrm>
              <a:off x="4178693" y="5785104"/>
              <a:ext cx="711200" cy="565150"/>
            </a:xfrm>
            <a:custGeom>
              <a:rect b="b" l="l" r="r" t="t"/>
              <a:pathLst>
                <a:path extrusionOk="0" h="565150" w="711200">
                  <a:moveTo>
                    <a:pt x="710946" y="564641"/>
                  </a:moveTo>
                  <a:lnTo>
                    <a:pt x="710946" y="0"/>
                  </a:lnTo>
                  <a:lnTo>
                    <a:pt x="0" y="0"/>
                  </a:lnTo>
                  <a:lnTo>
                    <a:pt x="0" y="564641"/>
                  </a:lnTo>
                  <a:lnTo>
                    <a:pt x="710946" y="564641"/>
                  </a:lnTo>
                  <a:close/>
                </a:path>
              </a:pathLst>
            </a:custGeom>
            <a:solidFill>
              <a:srgbClr val="00CC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32"/>
            <p:cNvSpPr/>
            <p:nvPr/>
          </p:nvSpPr>
          <p:spPr>
            <a:xfrm>
              <a:off x="4172597" y="5778246"/>
              <a:ext cx="723900" cy="571500"/>
            </a:xfrm>
            <a:custGeom>
              <a:rect b="b" l="l" r="r" t="t"/>
              <a:pathLst>
                <a:path extrusionOk="0" h="571500" w="723900">
                  <a:moveTo>
                    <a:pt x="723900" y="571499"/>
                  </a:moveTo>
                  <a:lnTo>
                    <a:pt x="723900" y="3047"/>
                  </a:lnTo>
                  <a:lnTo>
                    <a:pt x="720852" y="0"/>
                  </a:lnTo>
                  <a:lnTo>
                    <a:pt x="3047" y="0"/>
                  </a:lnTo>
                  <a:lnTo>
                    <a:pt x="0" y="3047"/>
                  </a:lnTo>
                  <a:lnTo>
                    <a:pt x="0" y="571499"/>
                  </a:lnTo>
                  <a:lnTo>
                    <a:pt x="6096" y="571499"/>
                  </a:lnTo>
                  <a:lnTo>
                    <a:pt x="6096" y="12953"/>
                  </a:lnTo>
                  <a:lnTo>
                    <a:pt x="12191" y="6857"/>
                  </a:lnTo>
                  <a:lnTo>
                    <a:pt x="12191" y="12953"/>
                  </a:lnTo>
                  <a:lnTo>
                    <a:pt x="710946" y="12953"/>
                  </a:lnTo>
                  <a:lnTo>
                    <a:pt x="710946" y="6857"/>
                  </a:lnTo>
                  <a:lnTo>
                    <a:pt x="717042" y="12953"/>
                  </a:lnTo>
                  <a:lnTo>
                    <a:pt x="717042" y="571499"/>
                  </a:lnTo>
                  <a:lnTo>
                    <a:pt x="723900" y="571499"/>
                  </a:lnTo>
                  <a:close/>
                </a:path>
                <a:path extrusionOk="0" h="571500" w="723900">
                  <a:moveTo>
                    <a:pt x="12191" y="12953"/>
                  </a:moveTo>
                  <a:lnTo>
                    <a:pt x="12191" y="6857"/>
                  </a:lnTo>
                  <a:lnTo>
                    <a:pt x="6096" y="12953"/>
                  </a:lnTo>
                  <a:lnTo>
                    <a:pt x="12191" y="12953"/>
                  </a:lnTo>
                  <a:close/>
                </a:path>
                <a:path extrusionOk="0" h="571500" w="723900">
                  <a:moveTo>
                    <a:pt x="12191" y="571499"/>
                  </a:moveTo>
                  <a:lnTo>
                    <a:pt x="12191" y="12953"/>
                  </a:lnTo>
                  <a:lnTo>
                    <a:pt x="6096" y="12953"/>
                  </a:lnTo>
                  <a:lnTo>
                    <a:pt x="6096" y="571499"/>
                  </a:lnTo>
                  <a:lnTo>
                    <a:pt x="12191" y="571499"/>
                  </a:lnTo>
                  <a:close/>
                </a:path>
                <a:path extrusionOk="0" h="571500" w="723900">
                  <a:moveTo>
                    <a:pt x="717042" y="12953"/>
                  </a:moveTo>
                  <a:lnTo>
                    <a:pt x="710946" y="6857"/>
                  </a:lnTo>
                  <a:lnTo>
                    <a:pt x="710946" y="12953"/>
                  </a:lnTo>
                  <a:lnTo>
                    <a:pt x="717042" y="12953"/>
                  </a:lnTo>
                  <a:close/>
                </a:path>
                <a:path extrusionOk="0" h="571500" w="723900">
                  <a:moveTo>
                    <a:pt x="717042" y="571499"/>
                  </a:moveTo>
                  <a:lnTo>
                    <a:pt x="717042" y="12953"/>
                  </a:lnTo>
                  <a:lnTo>
                    <a:pt x="710946" y="12953"/>
                  </a:lnTo>
                  <a:lnTo>
                    <a:pt x="710946" y="571499"/>
                  </a:lnTo>
                  <a:lnTo>
                    <a:pt x="717042" y="5714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32"/>
            <p:cNvSpPr/>
            <p:nvPr/>
          </p:nvSpPr>
          <p:spPr>
            <a:xfrm>
              <a:off x="5601347" y="5785104"/>
              <a:ext cx="711200" cy="565150"/>
            </a:xfrm>
            <a:custGeom>
              <a:rect b="b" l="l" r="r" t="t"/>
              <a:pathLst>
                <a:path extrusionOk="0" h="565150" w="711200">
                  <a:moveTo>
                    <a:pt x="710946" y="564641"/>
                  </a:moveTo>
                  <a:lnTo>
                    <a:pt x="710946" y="0"/>
                  </a:lnTo>
                  <a:lnTo>
                    <a:pt x="0" y="0"/>
                  </a:lnTo>
                  <a:lnTo>
                    <a:pt x="0" y="564642"/>
                  </a:lnTo>
                  <a:lnTo>
                    <a:pt x="710946" y="564641"/>
                  </a:lnTo>
                  <a:close/>
                </a:path>
              </a:pathLst>
            </a:custGeom>
            <a:solidFill>
              <a:srgbClr val="00CC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32"/>
            <p:cNvSpPr/>
            <p:nvPr/>
          </p:nvSpPr>
          <p:spPr>
            <a:xfrm>
              <a:off x="5594489" y="5778246"/>
              <a:ext cx="723900" cy="571500"/>
            </a:xfrm>
            <a:custGeom>
              <a:rect b="b" l="l" r="r" t="t"/>
              <a:pathLst>
                <a:path extrusionOk="0" h="571500" w="723900">
                  <a:moveTo>
                    <a:pt x="723900" y="571499"/>
                  </a:moveTo>
                  <a:lnTo>
                    <a:pt x="723900" y="3047"/>
                  </a:lnTo>
                  <a:lnTo>
                    <a:pt x="721614" y="0"/>
                  </a:lnTo>
                  <a:lnTo>
                    <a:pt x="3047" y="0"/>
                  </a:lnTo>
                  <a:lnTo>
                    <a:pt x="0" y="3047"/>
                  </a:lnTo>
                  <a:lnTo>
                    <a:pt x="0" y="571499"/>
                  </a:lnTo>
                  <a:lnTo>
                    <a:pt x="6858" y="571499"/>
                  </a:lnTo>
                  <a:lnTo>
                    <a:pt x="6858" y="12953"/>
                  </a:lnTo>
                  <a:lnTo>
                    <a:pt x="12953" y="6857"/>
                  </a:lnTo>
                  <a:lnTo>
                    <a:pt x="12953" y="12953"/>
                  </a:lnTo>
                  <a:lnTo>
                    <a:pt x="711708" y="12953"/>
                  </a:lnTo>
                  <a:lnTo>
                    <a:pt x="711708" y="6857"/>
                  </a:lnTo>
                  <a:lnTo>
                    <a:pt x="717804" y="12953"/>
                  </a:lnTo>
                  <a:lnTo>
                    <a:pt x="717804" y="571499"/>
                  </a:lnTo>
                  <a:lnTo>
                    <a:pt x="723900" y="571499"/>
                  </a:lnTo>
                  <a:close/>
                </a:path>
                <a:path extrusionOk="0" h="571500" w="723900">
                  <a:moveTo>
                    <a:pt x="12953" y="12953"/>
                  </a:moveTo>
                  <a:lnTo>
                    <a:pt x="12953" y="6857"/>
                  </a:lnTo>
                  <a:lnTo>
                    <a:pt x="6858" y="12953"/>
                  </a:lnTo>
                  <a:lnTo>
                    <a:pt x="12953" y="12953"/>
                  </a:lnTo>
                  <a:close/>
                </a:path>
                <a:path extrusionOk="0" h="571500" w="723900">
                  <a:moveTo>
                    <a:pt x="12953" y="571499"/>
                  </a:moveTo>
                  <a:lnTo>
                    <a:pt x="12953" y="12953"/>
                  </a:lnTo>
                  <a:lnTo>
                    <a:pt x="6858" y="12953"/>
                  </a:lnTo>
                  <a:lnTo>
                    <a:pt x="6858" y="571499"/>
                  </a:lnTo>
                  <a:lnTo>
                    <a:pt x="12953" y="571499"/>
                  </a:lnTo>
                  <a:close/>
                </a:path>
                <a:path extrusionOk="0" h="571500" w="723900">
                  <a:moveTo>
                    <a:pt x="717804" y="12953"/>
                  </a:moveTo>
                  <a:lnTo>
                    <a:pt x="711708" y="6857"/>
                  </a:lnTo>
                  <a:lnTo>
                    <a:pt x="711708" y="12953"/>
                  </a:lnTo>
                  <a:lnTo>
                    <a:pt x="717804" y="12953"/>
                  </a:lnTo>
                  <a:close/>
                </a:path>
                <a:path extrusionOk="0" h="571500" w="723900">
                  <a:moveTo>
                    <a:pt x="717804" y="571499"/>
                  </a:moveTo>
                  <a:lnTo>
                    <a:pt x="717804" y="12953"/>
                  </a:lnTo>
                  <a:lnTo>
                    <a:pt x="711708" y="12953"/>
                  </a:lnTo>
                  <a:lnTo>
                    <a:pt x="711708" y="571499"/>
                  </a:lnTo>
                  <a:lnTo>
                    <a:pt x="717804" y="5714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32"/>
            <p:cNvSpPr/>
            <p:nvPr/>
          </p:nvSpPr>
          <p:spPr>
            <a:xfrm>
              <a:off x="4889639" y="5785104"/>
              <a:ext cx="711835" cy="565150"/>
            </a:xfrm>
            <a:custGeom>
              <a:rect b="b" l="l" r="r" t="t"/>
              <a:pathLst>
                <a:path extrusionOk="0" h="565150" w="711835">
                  <a:moveTo>
                    <a:pt x="711708" y="564641"/>
                  </a:moveTo>
                  <a:lnTo>
                    <a:pt x="711708" y="0"/>
                  </a:lnTo>
                  <a:lnTo>
                    <a:pt x="0" y="0"/>
                  </a:lnTo>
                  <a:lnTo>
                    <a:pt x="0" y="564641"/>
                  </a:lnTo>
                  <a:lnTo>
                    <a:pt x="711708" y="564641"/>
                  </a:lnTo>
                  <a:close/>
                </a:path>
              </a:pathLst>
            </a:custGeom>
            <a:solidFill>
              <a:srgbClr val="00CC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32"/>
            <p:cNvSpPr/>
            <p:nvPr/>
          </p:nvSpPr>
          <p:spPr>
            <a:xfrm>
              <a:off x="4883543" y="5778246"/>
              <a:ext cx="723900" cy="571500"/>
            </a:xfrm>
            <a:custGeom>
              <a:rect b="b" l="l" r="r" t="t"/>
              <a:pathLst>
                <a:path extrusionOk="0" h="571500" w="723900">
                  <a:moveTo>
                    <a:pt x="723900" y="571499"/>
                  </a:moveTo>
                  <a:lnTo>
                    <a:pt x="723900" y="3047"/>
                  </a:lnTo>
                  <a:lnTo>
                    <a:pt x="720852" y="0"/>
                  </a:lnTo>
                  <a:lnTo>
                    <a:pt x="3047" y="0"/>
                  </a:lnTo>
                  <a:lnTo>
                    <a:pt x="0" y="3047"/>
                  </a:lnTo>
                  <a:lnTo>
                    <a:pt x="0" y="571499"/>
                  </a:lnTo>
                  <a:lnTo>
                    <a:pt x="6096" y="571499"/>
                  </a:lnTo>
                  <a:lnTo>
                    <a:pt x="6096" y="12953"/>
                  </a:lnTo>
                  <a:lnTo>
                    <a:pt x="12954" y="6857"/>
                  </a:lnTo>
                  <a:lnTo>
                    <a:pt x="12954" y="12953"/>
                  </a:lnTo>
                  <a:lnTo>
                    <a:pt x="710946" y="12953"/>
                  </a:lnTo>
                  <a:lnTo>
                    <a:pt x="710946" y="6857"/>
                  </a:lnTo>
                  <a:lnTo>
                    <a:pt x="717804" y="12953"/>
                  </a:lnTo>
                  <a:lnTo>
                    <a:pt x="717804" y="571499"/>
                  </a:lnTo>
                  <a:lnTo>
                    <a:pt x="723900" y="571499"/>
                  </a:lnTo>
                  <a:close/>
                </a:path>
                <a:path extrusionOk="0" h="571500" w="723900">
                  <a:moveTo>
                    <a:pt x="12954" y="12953"/>
                  </a:moveTo>
                  <a:lnTo>
                    <a:pt x="12954" y="6857"/>
                  </a:lnTo>
                  <a:lnTo>
                    <a:pt x="6096" y="12953"/>
                  </a:lnTo>
                  <a:lnTo>
                    <a:pt x="12954" y="12953"/>
                  </a:lnTo>
                  <a:close/>
                </a:path>
                <a:path extrusionOk="0" h="571500" w="723900">
                  <a:moveTo>
                    <a:pt x="12954" y="571499"/>
                  </a:moveTo>
                  <a:lnTo>
                    <a:pt x="12954" y="12953"/>
                  </a:lnTo>
                  <a:lnTo>
                    <a:pt x="6096" y="12953"/>
                  </a:lnTo>
                  <a:lnTo>
                    <a:pt x="6096" y="571499"/>
                  </a:lnTo>
                  <a:lnTo>
                    <a:pt x="12954" y="571499"/>
                  </a:lnTo>
                  <a:close/>
                </a:path>
                <a:path extrusionOk="0" h="571500" w="723900">
                  <a:moveTo>
                    <a:pt x="717804" y="12953"/>
                  </a:moveTo>
                  <a:lnTo>
                    <a:pt x="710946" y="6857"/>
                  </a:lnTo>
                  <a:lnTo>
                    <a:pt x="710946" y="12953"/>
                  </a:lnTo>
                  <a:lnTo>
                    <a:pt x="717804" y="12953"/>
                  </a:lnTo>
                  <a:close/>
                </a:path>
                <a:path extrusionOk="0" h="571500" w="723900">
                  <a:moveTo>
                    <a:pt x="717804" y="571499"/>
                  </a:moveTo>
                  <a:lnTo>
                    <a:pt x="717804" y="12953"/>
                  </a:lnTo>
                  <a:lnTo>
                    <a:pt x="710946" y="12953"/>
                  </a:lnTo>
                  <a:lnTo>
                    <a:pt x="710946" y="571499"/>
                  </a:lnTo>
                  <a:lnTo>
                    <a:pt x="717804" y="5714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32"/>
            <p:cNvSpPr/>
            <p:nvPr/>
          </p:nvSpPr>
          <p:spPr>
            <a:xfrm>
              <a:off x="6312293" y="5785104"/>
              <a:ext cx="711200" cy="565150"/>
            </a:xfrm>
            <a:custGeom>
              <a:rect b="b" l="l" r="r" t="t"/>
              <a:pathLst>
                <a:path extrusionOk="0" h="565150" w="711200">
                  <a:moveTo>
                    <a:pt x="710945" y="564641"/>
                  </a:moveTo>
                  <a:lnTo>
                    <a:pt x="710945" y="0"/>
                  </a:lnTo>
                  <a:lnTo>
                    <a:pt x="0" y="0"/>
                  </a:lnTo>
                  <a:lnTo>
                    <a:pt x="0" y="564641"/>
                  </a:lnTo>
                  <a:lnTo>
                    <a:pt x="710945" y="564641"/>
                  </a:lnTo>
                  <a:close/>
                </a:path>
              </a:pathLst>
            </a:custGeom>
            <a:solidFill>
              <a:srgbClr val="00CC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32"/>
            <p:cNvSpPr/>
            <p:nvPr/>
          </p:nvSpPr>
          <p:spPr>
            <a:xfrm>
              <a:off x="6306197" y="5778246"/>
              <a:ext cx="723900" cy="571500"/>
            </a:xfrm>
            <a:custGeom>
              <a:rect b="b" l="l" r="r" t="t"/>
              <a:pathLst>
                <a:path extrusionOk="0" h="571500" w="723900">
                  <a:moveTo>
                    <a:pt x="723900" y="571499"/>
                  </a:moveTo>
                  <a:lnTo>
                    <a:pt x="723900" y="3048"/>
                  </a:lnTo>
                  <a:lnTo>
                    <a:pt x="720852" y="0"/>
                  </a:lnTo>
                  <a:lnTo>
                    <a:pt x="3047" y="0"/>
                  </a:lnTo>
                  <a:lnTo>
                    <a:pt x="0" y="3048"/>
                  </a:lnTo>
                  <a:lnTo>
                    <a:pt x="0" y="571499"/>
                  </a:lnTo>
                  <a:lnTo>
                    <a:pt x="6096" y="571499"/>
                  </a:lnTo>
                  <a:lnTo>
                    <a:pt x="6096" y="12954"/>
                  </a:lnTo>
                  <a:lnTo>
                    <a:pt x="12191" y="6858"/>
                  </a:lnTo>
                  <a:lnTo>
                    <a:pt x="12191" y="12954"/>
                  </a:lnTo>
                  <a:lnTo>
                    <a:pt x="710946" y="12954"/>
                  </a:lnTo>
                  <a:lnTo>
                    <a:pt x="710946" y="6858"/>
                  </a:lnTo>
                  <a:lnTo>
                    <a:pt x="717042" y="12954"/>
                  </a:lnTo>
                  <a:lnTo>
                    <a:pt x="717042" y="571499"/>
                  </a:lnTo>
                  <a:lnTo>
                    <a:pt x="723900" y="571499"/>
                  </a:lnTo>
                  <a:close/>
                </a:path>
                <a:path extrusionOk="0" h="571500" w="723900">
                  <a:moveTo>
                    <a:pt x="12191" y="12954"/>
                  </a:moveTo>
                  <a:lnTo>
                    <a:pt x="12191" y="6858"/>
                  </a:lnTo>
                  <a:lnTo>
                    <a:pt x="6096" y="12954"/>
                  </a:lnTo>
                  <a:lnTo>
                    <a:pt x="12191" y="12954"/>
                  </a:lnTo>
                  <a:close/>
                </a:path>
                <a:path extrusionOk="0" h="571500" w="723900">
                  <a:moveTo>
                    <a:pt x="12191" y="571499"/>
                  </a:moveTo>
                  <a:lnTo>
                    <a:pt x="12191" y="12954"/>
                  </a:lnTo>
                  <a:lnTo>
                    <a:pt x="6096" y="12954"/>
                  </a:lnTo>
                  <a:lnTo>
                    <a:pt x="6096" y="571499"/>
                  </a:lnTo>
                  <a:lnTo>
                    <a:pt x="12191" y="571499"/>
                  </a:lnTo>
                  <a:close/>
                </a:path>
                <a:path extrusionOk="0" h="571500" w="723900">
                  <a:moveTo>
                    <a:pt x="717042" y="12954"/>
                  </a:moveTo>
                  <a:lnTo>
                    <a:pt x="710946" y="6858"/>
                  </a:lnTo>
                  <a:lnTo>
                    <a:pt x="710946" y="12954"/>
                  </a:lnTo>
                  <a:lnTo>
                    <a:pt x="717042" y="12954"/>
                  </a:lnTo>
                  <a:close/>
                </a:path>
                <a:path extrusionOk="0" h="571500" w="723900">
                  <a:moveTo>
                    <a:pt x="717042" y="571499"/>
                  </a:moveTo>
                  <a:lnTo>
                    <a:pt x="717042" y="12954"/>
                  </a:lnTo>
                  <a:lnTo>
                    <a:pt x="710946" y="12954"/>
                  </a:lnTo>
                  <a:lnTo>
                    <a:pt x="710946" y="571499"/>
                  </a:lnTo>
                  <a:lnTo>
                    <a:pt x="717042" y="5714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32"/>
            <p:cNvSpPr/>
            <p:nvPr/>
          </p:nvSpPr>
          <p:spPr>
            <a:xfrm>
              <a:off x="7023227" y="5785104"/>
              <a:ext cx="711835" cy="565150"/>
            </a:xfrm>
            <a:custGeom>
              <a:rect b="b" l="l" r="r" t="t"/>
              <a:pathLst>
                <a:path extrusionOk="0" h="565150" w="711834">
                  <a:moveTo>
                    <a:pt x="711707" y="564641"/>
                  </a:moveTo>
                  <a:lnTo>
                    <a:pt x="711707" y="0"/>
                  </a:lnTo>
                  <a:lnTo>
                    <a:pt x="0" y="0"/>
                  </a:lnTo>
                  <a:lnTo>
                    <a:pt x="0" y="564641"/>
                  </a:lnTo>
                  <a:lnTo>
                    <a:pt x="711707" y="564641"/>
                  </a:lnTo>
                  <a:close/>
                </a:path>
              </a:pathLst>
            </a:custGeom>
            <a:solidFill>
              <a:srgbClr val="00CC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32"/>
            <p:cNvSpPr/>
            <p:nvPr/>
          </p:nvSpPr>
          <p:spPr>
            <a:xfrm>
              <a:off x="7017143" y="5778246"/>
              <a:ext cx="723900" cy="571500"/>
            </a:xfrm>
            <a:custGeom>
              <a:rect b="b" l="l" r="r" t="t"/>
              <a:pathLst>
                <a:path extrusionOk="0" h="571500" w="723900">
                  <a:moveTo>
                    <a:pt x="723900" y="571499"/>
                  </a:moveTo>
                  <a:lnTo>
                    <a:pt x="723900" y="3048"/>
                  </a:lnTo>
                  <a:lnTo>
                    <a:pt x="720852" y="0"/>
                  </a:lnTo>
                  <a:lnTo>
                    <a:pt x="3047" y="0"/>
                  </a:lnTo>
                  <a:lnTo>
                    <a:pt x="0" y="3048"/>
                  </a:lnTo>
                  <a:lnTo>
                    <a:pt x="0" y="571499"/>
                  </a:lnTo>
                  <a:lnTo>
                    <a:pt x="6096" y="571499"/>
                  </a:lnTo>
                  <a:lnTo>
                    <a:pt x="6096" y="12954"/>
                  </a:lnTo>
                  <a:lnTo>
                    <a:pt x="12954" y="6858"/>
                  </a:lnTo>
                  <a:lnTo>
                    <a:pt x="12954" y="12954"/>
                  </a:lnTo>
                  <a:lnTo>
                    <a:pt x="710946" y="12954"/>
                  </a:lnTo>
                  <a:lnTo>
                    <a:pt x="710946" y="6858"/>
                  </a:lnTo>
                  <a:lnTo>
                    <a:pt x="717804" y="12954"/>
                  </a:lnTo>
                  <a:lnTo>
                    <a:pt x="717804" y="571499"/>
                  </a:lnTo>
                  <a:lnTo>
                    <a:pt x="723900" y="571499"/>
                  </a:lnTo>
                  <a:close/>
                </a:path>
                <a:path extrusionOk="0" h="571500" w="723900">
                  <a:moveTo>
                    <a:pt x="12954" y="12954"/>
                  </a:moveTo>
                  <a:lnTo>
                    <a:pt x="12954" y="6858"/>
                  </a:lnTo>
                  <a:lnTo>
                    <a:pt x="6096" y="12954"/>
                  </a:lnTo>
                  <a:lnTo>
                    <a:pt x="12954" y="12954"/>
                  </a:lnTo>
                  <a:close/>
                </a:path>
                <a:path extrusionOk="0" h="571500" w="723900">
                  <a:moveTo>
                    <a:pt x="12954" y="571499"/>
                  </a:moveTo>
                  <a:lnTo>
                    <a:pt x="12954" y="12954"/>
                  </a:lnTo>
                  <a:lnTo>
                    <a:pt x="6096" y="12954"/>
                  </a:lnTo>
                  <a:lnTo>
                    <a:pt x="6096" y="571499"/>
                  </a:lnTo>
                  <a:lnTo>
                    <a:pt x="12954" y="571499"/>
                  </a:lnTo>
                  <a:close/>
                </a:path>
                <a:path extrusionOk="0" h="571500" w="723900">
                  <a:moveTo>
                    <a:pt x="717804" y="12954"/>
                  </a:moveTo>
                  <a:lnTo>
                    <a:pt x="710946" y="6858"/>
                  </a:lnTo>
                  <a:lnTo>
                    <a:pt x="710946" y="12954"/>
                  </a:lnTo>
                  <a:lnTo>
                    <a:pt x="717804" y="12954"/>
                  </a:lnTo>
                  <a:close/>
                </a:path>
                <a:path extrusionOk="0" h="571500" w="723900">
                  <a:moveTo>
                    <a:pt x="717804" y="571499"/>
                  </a:moveTo>
                  <a:lnTo>
                    <a:pt x="717804" y="12954"/>
                  </a:lnTo>
                  <a:lnTo>
                    <a:pt x="710946" y="12954"/>
                  </a:lnTo>
                  <a:lnTo>
                    <a:pt x="710946" y="571499"/>
                  </a:lnTo>
                  <a:lnTo>
                    <a:pt x="717804" y="5714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1" name="Google Shape;371;p32"/>
          <p:cNvSpPr/>
          <p:nvPr/>
        </p:nvSpPr>
        <p:spPr>
          <a:xfrm>
            <a:off x="2115690" y="4111944"/>
            <a:ext cx="56521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187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D7	D6	D5	D4	D3	D2	D1	D0</a:t>
            </a: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72" name="Google Shape;372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3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1.4. The WREG Register</a:t>
            </a:r>
            <a:endParaRPr/>
          </a:p>
        </p:txBody>
      </p:sp>
      <p:sp>
        <p:nvSpPr>
          <p:cNvPr id="378" name="Google Shape;378;p33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MOVLW</a:t>
            </a:r>
            <a:endParaRPr/>
          </a:p>
          <a:p>
            <a:pPr indent="-457200" lvl="0" marL="469265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333CC"/>
              </a:buClr>
              <a:buSzPts val="2350"/>
              <a:buChar char="•"/>
            </a:pPr>
            <a:r>
              <a:rPr lang="en-US"/>
              <a:t>Moves 8-bit data into WREG</a:t>
            </a:r>
            <a:endParaRPr/>
          </a:p>
          <a:p>
            <a:pPr indent="-342900" lvl="1" marL="811530" rtl="0" algn="l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/>
              <a:t>MOVLW k; move literal value k into WREG</a:t>
            </a:r>
            <a:endParaRPr/>
          </a:p>
          <a:p>
            <a:pPr indent="-457200" lvl="0" marL="469265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3333CC"/>
              </a:buClr>
              <a:buSzPts val="2350"/>
              <a:buChar char="•"/>
            </a:pPr>
            <a:r>
              <a:rPr lang="en-US"/>
              <a:t>Example</a:t>
            </a:r>
            <a:endParaRPr/>
          </a:p>
          <a:p>
            <a:pPr indent="-342900" lvl="1" marL="81153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/>
              <a:t>MOVLW 25H</a:t>
            </a:r>
            <a:endParaRPr/>
          </a:p>
          <a:p>
            <a:pPr indent="-342900" lvl="1" marL="81153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/>
              <a:t>MOVLW A5H</a:t>
            </a:r>
            <a:endParaRPr/>
          </a:p>
          <a:p>
            <a:pPr indent="-44450" lvl="1" marL="685800" rtl="0" algn="l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Clr>
                <a:srgbClr val="3333CC"/>
              </a:buClr>
              <a:buSzPts val="2900"/>
              <a:buFont typeface="Noto Sans Symbols"/>
              <a:buNone/>
            </a:pPr>
            <a:r>
              <a:t/>
            </a:r>
            <a:endParaRPr sz="2900"/>
          </a:p>
          <a:p>
            <a:pPr indent="-457200" lvl="0" marL="469265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333CC"/>
              </a:buClr>
              <a:buSzPts val="2350"/>
              <a:buChar char="•"/>
            </a:pPr>
            <a:r>
              <a:rPr lang="en-US"/>
              <a:t>Is the following code correct?</a:t>
            </a:r>
            <a:endParaRPr/>
          </a:p>
          <a:p>
            <a:pPr indent="-342900" lvl="1" marL="81153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/>
              <a:t>MOVLW 9H</a:t>
            </a:r>
            <a:endParaRPr/>
          </a:p>
          <a:p>
            <a:pPr indent="-342900" lvl="1" marL="81153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/>
              <a:t>MOVLW A23H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79" name="Google Shape;379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1.4. The WREG Register</a:t>
            </a:r>
            <a:endParaRPr/>
          </a:p>
        </p:txBody>
      </p:sp>
      <p:sp>
        <p:nvSpPr>
          <p:cNvPr id="385" name="Google Shape;385;p34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ADDLW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ADDLW k; Add literal value k to WREG (k +WREG)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</a:t>
            </a:r>
            <a:endParaRPr/>
          </a:p>
          <a:p>
            <a:pPr indent="-342900" lvl="1" marL="8128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⮚"/>
            </a:pPr>
            <a:r>
              <a:rPr lang="en-US" sz="2000"/>
              <a:t>MOVLW 12H	</a:t>
            </a:r>
            <a:endParaRPr/>
          </a:p>
          <a:p>
            <a:pPr indent="-342900" lvl="1" marL="8128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⮚"/>
            </a:pPr>
            <a:r>
              <a:rPr lang="en-US" sz="2000"/>
              <a:t>ADDLW 16H	</a:t>
            </a:r>
            <a:endParaRPr/>
          </a:p>
          <a:p>
            <a:pPr indent="-285750" lvl="1" marL="8128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333CC"/>
              </a:buClr>
              <a:buSzPts val="1500"/>
              <a:buFont typeface="Noto Sans Symbols"/>
              <a:buChar char="⮚"/>
            </a:pPr>
            <a:r>
              <a:rPr lang="en-US" sz="2000"/>
              <a:t>ADDKW 11H</a:t>
            </a:r>
            <a:endParaRPr/>
          </a:p>
          <a:p>
            <a:pPr indent="-342900" lvl="1" marL="869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333CC"/>
              </a:buClr>
              <a:buSzPts val="1500"/>
              <a:buFont typeface="Noto Sans Symbols"/>
              <a:buChar char="⮚"/>
            </a:pPr>
            <a:r>
              <a:rPr lang="en-US" sz="2000"/>
              <a:t>ADDLW 43H</a:t>
            </a:r>
            <a:endParaRPr sz="2000"/>
          </a:p>
          <a:p>
            <a:pPr indent="-152400" lvl="0" marL="3556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333CC"/>
              </a:buClr>
              <a:buSzPts val="2100"/>
              <a:buFont typeface="Noto Sans Symbols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86" name="Google Shape;386;p34"/>
          <p:cNvPicPr preferRelativeResize="0"/>
          <p:nvPr/>
        </p:nvPicPr>
        <p:blipFill rotWithShape="1">
          <a:blip r:embed="rId3">
            <a:alphaModFix/>
          </a:blip>
          <a:srcRect b="0" l="843" r="0" t="0"/>
          <a:stretch/>
        </p:blipFill>
        <p:spPr>
          <a:xfrm>
            <a:off x="4821382" y="1965231"/>
            <a:ext cx="5308736" cy="3098118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5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1.4. The WREG Register</a:t>
            </a:r>
            <a:endParaRPr/>
          </a:p>
        </p:txBody>
      </p:sp>
      <p:sp>
        <p:nvSpPr>
          <p:cNvPr id="393" name="Google Shape;393;p35"/>
          <p:cNvSpPr txBox="1"/>
          <p:nvPr>
            <p:ph idx="1" type="body"/>
          </p:nvPr>
        </p:nvSpPr>
        <p:spPr>
          <a:xfrm>
            <a:off x="1434353" y="5723925"/>
            <a:ext cx="8014447" cy="6327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Figure 2-1. PIC WREG and ALU Using Literal Value</a:t>
            </a:r>
            <a:endParaRPr/>
          </a:p>
        </p:txBody>
      </p:sp>
      <p:pic>
        <p:nvPicPr>
          <p:cNvPr id="394" name="Google Shape;39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803400"/>
            <a:ext cx="5957047" cy="4749843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171" y="751650"/>
            <a:ext cx="7802064" cy="5534797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6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1.5. File Register </a:t>
            </a:r>
            <a:endParaRPr/>
          </a:p>
        </p:txBody>
      </p:sp>
      <p:sp>
        <p:nvSpPr>
          <p:cNvPr id="402" name="Google Shape;402;p36"/>
          <p:cNvSpPr txBox="1"/>
          <p:nvPr>
            <p:ph idx="1" type="body"/>
          </p:nvPr>
        </p:nvSpPr>
        <p:spPr>
          <a:xfrm>
            <a:off x="6816436" y="817906"/>
            <a:ext cx="5375565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Register File Concept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Register File  Concept: All of data memory is part of  the register file, so  any location in data  memory may be  operated on  directly.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All peripherals are  mapped into data  memory as a series of registers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Orthogonal  Instruction Set:  ALL instructions  can operate on ANY  data memory location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03" name="Google Shape;403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7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1.5. File Register </a:t>
            </a:r>
            <a:endParaRPr/>
          </a:p>
        </p:txBody>
      </p:sp>
      <p:sp>
        <p:nvSpPr>
          <p:cNvPr id="409" name="Google Shape;409;p37"/>
          <p:cNvSpPr txBox="1"/>
          <p:nvPr>
            <p:ph idx="1" type="body"/>
          </p:nvPr>
        </p:nvSpPr>
        <p:spPr>
          <a:xfrm>
            <a:off x="7622771" y="5683201"/>
            <a:ext cx="5785658" cy="53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PIC18F Programming Model </a:t>
            </a:r>
            <a:endParaRPr/>
          </a:p>
        </p:txBody>
      </p:sp>
      <p:pic>
        <p:nvPicPr>
          <p:cNvPr id="410" name="Google Shape;41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456" y="626746"/>
            <a:ext cx="6657975" cy="5591175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8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1.5. File Register </a:t>
            </a:r>
            <a:endParaRPr/>
          </a:p>
        </p:txBody>
      </p:sp>
      <p:sp>
        <p:nvSpPr>
          <p:cNvPr id="417" name="Google Shape;417;p38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Special Function Registers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dedicated to specific functions such as  ALU status, timers, serial communication,  I/O ports, ADC,…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function of each SFR is fixed by the  CPU designer at the time of design it is used for control of the microcontroller or  peripheral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8-bit registers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Their numbers varies from one chip to  another.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18" name="Google Shape;418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9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1.5. File Register </a:t>
            </a:r>
            <a:endParaRPr/>
          </a:p>
        </p:txBody>
      </p:sp>
      <p:sp>
        <p:nvSpPr>
          <p:cNvPr id="424" name="Google Shape;424;p39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General Purpose RAM</a:t>
            </a:r>
            <a:endParaRPr/>
          </a:p>
          <a:p>
            <a:pPr indent="-457200" lvl="0" marL="46926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3333CC"/>
              </a:buClr>
              <a:buSzPts val="2350"/>
              <a:buChar char="•"/>
            </a:pPr>
            <a:r>
              <a:rPr lang="en-US"/>
              <a:t>Group of RAM locations</a:t>
            </a:r>
            <a:endParaRPr/>
          </a:p>
          <a:p>
            <a:pPr indent="-457200" lvl="0" marL="46926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3333CC"/>
              </a:buClr>
              <a:buSzPts val="2350"/>
              <a:buChar char="•"/>
            </a:pPr>
            <a:r>
              <a:rPr lang="en-US"/>
              <a:t>8-bit registers</a:t>
            </a:r>
            <a:endParaRPr/>
          </a:p>
          <a:p>
            <a:pPr indent="-457200" lvl="0" marL="46926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3333CC"/>
              </a:buClr>
              <a:buSzPts val="2350"/>
              <a:buChar char="•"/>
            </a:pPr>
            <a:r>
              <a:rPr lang="en-US"/>
              <a:t>Larger than SFR</a:t>
            </a:r>
            <a:endParaRPr/>
          </a:p>
          <a:p>
            <a:pPr indent="-342900" lvl="1" marL="812165" marR="123189" rtl="0" algn="l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rgbClr val="3333CC"/>
              </a:buClr>
              <a:buSzPts val="1800"/>
              <a:buFont typeface="Noto Sans Symbols"/>
              <a:buChar char="⮚"/>
            </a:pPr>
            <a:r>
              <a:rPr lang="en-US"/>
              <a:t>Difficult to manage them by using Assembly  language</a:t>
            </a:r>
            <a:endParaRPr/>
          </a:p>
          <a:p>
            <a:pPr indent="-342900" lvl="1" marL="81153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3333CC"/>
              </a:buClr>
              <a:buSzPts val="1800"/>
              <a:buFont typeface="Noto Sans Symbols"/>
              <a:buChar char="⮚"/>
            </a:pPr>
            <a:r>
              <a:rPr lang="en-US"/>
              <a:t>Easier to handle them by C Compiler.</a:t>
            </a:r>
            <a:endParaRPr/>
          </a:p>
          <a:p>
            <a:pPr indent="-15875" lvl="1" marL="68580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3333CC"/>
              </a:buClr>
              <a:buSzPts val="3350"/>
              <a:buNone/>
            </a:pPr>
            <a:r>
              <a:t/>
            </a:r>
            <a:endParaRPr sz="3350"/>
          </a:p>
        </p:txBody>
      </p:sp>
      <p:sp>
        <p:nvSpPr>
          <p:cNvPr id="425" name="Google Shape;425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0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1.5. File Register </a:t>
            </a:r>
            <a:endParaRPr/>
          </a:p>
        </p:txBody>
      </p:sp>
      <p:sp>
        <p:nvSpPr>
          <p:cNvPr id="431" name="Google Shape;431;p40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Figure 2-2. File Registers of  PIC12, PIC16, and PIC18</a:t>
            </a:r>
            <a:endParaRPr/>
          </a:p>
        </p:txBody>
      </p:sp>
      <p:pic>
        <p:nvPicPr>
          <p:cNvPr id="432" name="Google Shape;43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6890" y="1434205"/>
            <a:ext cx="7476350" cy="4846277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1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1.5. File Register </a:t>
            </a:r>
            <a:endParaRPr/>
          </a:p>
        </p:txBody>
      </p:sp>
      <p:sp>
        <p:nvSpPr>
          <p:cNvPr id="439" name="Google Shape;439;p41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GPRAM VS. EEPROM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 add-on memory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Can be zero size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40" name="Google Shape;440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2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1.6 Access Bank</a:t>
            </a:r>
            <a:endParaRPr/>
          </a:p>
        </p:txBody>
      </p:sp>
      <p:sp>
        <p:nvSpPr>
          <p:cNvPr id="446" name="Google Shape;446;p42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PIC18 Family can have a max. of 4096  Bytes.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File Register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has addresses of </a:t>
            </a:r>
            <a:r>
              <a:rPr lang="en-US">
                <a:solidFill>
                  <a:srgbClr val="FF0000"/>
                </a:solidFill>
              </a:rPr>
              <a:t>000- FFFH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divided into </a:t>
            </a:r>
            <a:r>
              <a:rPr lang="en-US">
                <a:solidFill>
                  <a:srgbClr val="FF0000"/>
                </a:solidFill>
              </a:rPr>
              <a:t>256-byte banks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Max. 16 banks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At least there is one bank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Known as default access bank.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Bank switching is a method used to access  all the banks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47" name="Google Shape;447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3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1.6 Access Bank</a:t>
            </a:r>
            <a:endParaRPr/>
          </a:p>
        </p:txBody>
      </p:sp>
      <p:sp>
        <p:nvSpPr>
          <p:cNvPr id="453" name="Google Shape;453;p43"/>
          <p:cNvSpPr txBox="1"/>
          <p:nvPr>
            <p:ph idx="1" type="body"/>
          </p:nvPr>
        </p:nvSpPr>
        <p:spPr>
          <a:xfrm>
            <a:off x="0" y="811942"/>
            <a:ext cx="5386647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Figure 2-3. File Register for PIC18 Family</a:t>
            </a:r>
            <a:endParaRPr/>
          </a:p>
        </p:txBody>
      </p:sp>
      <p:pic>
        <p:nvPicPr>
          <p:cNvPr id="454" name="Google Shape;45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02703" y="631594"/>
            <a:ext cx="6518841" cy="564888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4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1.6 Access Bank</a:t>
            </a:r>
            <a:endParaRPr/>
          </a:p>
        </p:txBody>
      </p:sp>
      <p:sp>
        <p:nvSpPr>
          <p:cNvPr id="461" name="Google Shape;461;p44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Access bank in the PIC18</a:t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is 256-Byte bank.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Divided into equal two discontinuous  sections (each 128 B).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GP RAM, from 0 to 7FH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SFR, from F80H to FFFH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62" name="Google Shape;462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5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1.6 Access Bank</a:t>
            </a:r>
            <a:endParaRPr/>
          </a:p>
        </p:txBody>
      </p:sp>
      <p:sp>
        <p:nvSpPr>
          <p:cNvPr id="468" name="Google Shape;468;p45"/>
          <p:cNvSpPr txBox="1"/>
          <p:nvPr>
            <p:ph idx="1" type="body"/>
          </p:nvPr>
        </p:nvSpPr>
        <p:spPr>
          <a:xfrm>
            <a:off x="0" y="811942"/>
            <a:ext cx="4372495" cy="9503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Figure 2-4. SFRs of the PIC18 Family.</a:t>
            </a:r>
            <a:endParaRPr/>
          </a:p>
        </p:txBody>
      </p:sp>
      <p:pic>
        <p:nvPicPr>
          <p:cNvPr id="469" name="Google Shape;46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8432" y="0"/>
            <a:ext cx="7413568" cy="680098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6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1.6 Access Bank</a:t>
            </a:r>
            <a:endParaRPr/>
          </a:p>
        </p:txBody>
      </p:sp>
      <p:sp>
        <p:nvSpPr>
          <p:cNvPr id="476" name="Google Shape;476;p46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Using instruction with the  default access bank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need instruction to access other  locations in the file register for ALU and  other operations.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MOVWF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COMF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DECF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MOVF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MOVFF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77" name="Google Shape;477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7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1.6 Access Bank</a:t>
            </a:r>
            <a:endParaRPr/>
          </a:p>
        </p:txBody>
      </p:sp>
      <p:sp>
        <p:nvSpPr>
          <p:cNvPr id="483" name="Google Shape;483;p47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MOVWF instruction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 indicates for a file register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			</a:t>
            </a:r>
            <a:r>
              <a:rPr lang="en-US">
                <a:solidFill>
                  <a:srgbClr val="0070C0"/>
                </a:solidFill>
              </a:rPr>
              <a:t>MOVWF Address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tells the CPU to copy the source  register, WREG, to a destination in the file  register.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A location in the SPR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A location in GP RAM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84" name="Google Shape;484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8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1.6 Access Bank</a:t>
            </a:r>
            <a:endParaRPr/>
          </a:p>
        </p:txBody>
      </p:sp>
      <p:sp>
        <p:nvSpPr>
          <p:cNvPr id="490" name="Google Shape;490;p48"/>
          <p:cNvSpPr txBox="1"/>
          <p:nvPr>
            <p:ph idx="1" type="body"/>
          </p:nvPr>
        </p:nvSpPr>
        <p:spPr>
          <a:xfrm>
            <a:off x="2011680" y="811942"/>
            <a:ext cx="1018032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Example 2-1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MOVLW 99H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MOVWF 12H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MOVLW 85H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MOVWF 13H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MOVLW 3FH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MOVWF 14H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MOVLW 63H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MOVWF 15H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MOVLW 12H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MOVWF 16H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491" name="Google Shape;491;p48"/>
          <p:cNvPicPr preferRelativeResize="0"/>
          <p:nvPr/>
        </p:nvPicPr>
        <p:blipFill rotWithShape="1">
          <a:blip r:embed="rId3">
            <a:alphaModFix/>
          </a:blip>
          <a:srcRect b="0" l="55503" r="0" t="0"/>
          <a:stretch/>
        </p:blipFill>
        <p:spPr>
          <a:xfrm>
            <a:off x="7817618" y="246004"/>
            <a:ext cx="2198719" cy="5755785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9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1.6 Access Bank</a:t>
            </a:r>
            <a:endParaRPr/>
          </a:p>
        </p:txBody>
      </p:sp>
      <p:sp>
        <p:nvSpPr>
          <p:cNvPr id="498" name="Google Shape;498;p49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ADDWF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Adds together the content of WREG and a  file register location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>
                <a:solidFill>
                  <a:srgbClr val="0070C0"/>
                </a:solidFill>
              </a:rPr>
              <a:t>				ADDWF File Reg. Address, 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result will be placed in either the  WREG or in the file register location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D indicates the destination bit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D=0 or (D=w)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The result will be placed in the WREG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D=1 or (D=f)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The result will be placed in the file register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99" name="Google Shape;499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0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1.6 Access Bank</a:t>
            </a:r>
            <a:endParaRPr/>
          </a:p>
        </p:txBody>
      </p:sp>
      <p:sp>
        <p:nvSpPr>
          <p:cNvPr id="505" name="Google Shape;505;p50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Example 2-2: State the content of file register location  and WREG after the following program</a:t>
            </a:r>
            <a:endParaRPr/>
          </a:p>
          <a:p>
            <a:pPr indent="0" lvl="0" marL="1206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3333CC"/>
              </a:buClr>
              <a:buSzPts val="2350"/>
              <a:buNone/>
            </a:pPr>
            <a:r>
              <a:rPr lang="en-US"/>
              <a:t>MOVLW 0</a:t>
            </a:r>
            <a:endParaRPr/>
          </a:p>
          <a:p>
            <a:pPr indent="0" lvl="0" marL="1206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3333CC"/>
              </a:buClr>
              <a:buSzPts val="2350"/>
              <a:buNone/>
            </a:pPr>
            <a:r>
              <a:rPr lang="en-US"/>
              <a:t>MOVWF 12H</a:t>
            </a:r>
            <a:endParaRPr/>
          </a:p>
          <a:p>
            <a:pPr indent="0" lvl="0" marL="1206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3333CC"/>
              </a:buClr>
              <a:buSzPts val="2350"/>
              <a:buNone/>
            </a:pPr>
            <a:r>
              <a:rPr lang="en-US"/>
              <a:t>MOVLW 22H</a:t>
            </a:r>
            <a:endParaRPr/>
          </a:p>
          <a:p>
            <a:pPr indent="0" lvl="0" marL="1206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3333CC"/>
              </a:buClr>
              <a:buSzPts val="2350"/>
              <a:buNone/>
            </a:pPr>
            <a:r>
              <a:rPr lang="en-US"/>
              <a:t>ADDWF 12H, F</a:t>
            </a:r>
            <a:endParaRPr/>
          </a:p>
          <a:p>
            <a:pPr indent="0" lvl="0" marL="1206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3333CC"/>
              </a:buClr>
              <a:buSzPts val="2350"/>
              <a:buNone/>
            </a:pPr>
            <a:r>
              <a:rPr lang="en-US"/>
              <a:t>ADDWF 12H, F</a:t>
            </a:r>
            <a:endParaRPr/>
          </a:p>
          <a:p>
            <a:pPr indent="0" lvl="0" marL="1206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3333CC"/>
              </a:buClr>
              <a:buSzPts val="2350"/>
              <a:buNone/>
            </a:pPr>
            <a:r>
              <a:rPr lang="en-US"/>
              <a:t>ADDWF 12H, F</a:t>
            </a:r>
            <a:endParaRPr/>
          </a:p>
          <a:p>
            <a:pPr indent="0" lvl="0" marL="1206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3333CC"/>
              </a:buClr>
              <a:buSzPts val="2350"/>
              <a:buNone/>
            </a:pPr>
            <a:r>
              <a:rPr lang="en-US"/>
              <a:t>ADDWF 12H, F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506" name="Google Shape;506;p50"/>
          <p:cNvPicPr preferRelativeResize="0"/>
          <p:nvPr/>
        </p:nvPicPr>
        <p:blipFill rotWithShape="1">
          <a:blip r:embed="rId3">
            <a:alphaModFix/>
          </a:blip>
          <a:srcRect b="43326" l="55430" r="-514" t="14790"/>
          <a:stretch/>
        </p:blipFill>
        <p:spPr>
          <a:xfrm>
            <a:off x="7099069" y="1503434"/>
            <a:ext cx="2227811" cy="2410691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1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1.6 Access Bank</a:t>
            </a:r>
            <a:endParaRPr/>
          </a:p>
        </p:txBody>
      </p:sp>
      <p:sp>
        <p:nvSpPr>
          <p:cNvPr id="513" name="Google Shape;513;p51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Example 2-3: State the content of file register location  and WREG after the following program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MOVLW 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MOVWF 12H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MOVLW 22H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ADDWF 12H, F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ADDWF 12H, W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ADDWF 12H, W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ADDWF 12H, W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514" name="Google Shape;514;p51"/>
          <p:cNvPicPr preferRelativeResize="0"/>
          <p:nvPr/>
        </p:nvPicPr>
        <p:blipFill rotWithShape="1">
          <a:blip r:embed="rId3">
            <a:alphaModFix/>
          </a:blip>
          <a:srcRect b="43326" l="55430" r="-514" t="14790"/>
          <a:stretch/>
        </p:blipFill>
        <p:spPr>
          <a:xfrm>
            <a:off x="7360918" y="1627562"/>
            <a:ext cx="2227811" cy="2410691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2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1.6 Access Bank</a:t>
            </a:r>
            <a:endParaRPr/>
          </a:p>
        </p:txBody>
      </p:sp>
      <p:sp>
        <p:nvSpPr>
          <p:cNvPr id="521" name="Google Shape;521;p52"/>
          <p:cNvSpPr txBox="1"/>
          <p:nvPr>
            <p:ph idx="1" type="body"/>
          </p:nvPr>
        </p:nvSpPr>
        <p:spPr>
          <a:xfrm>
            <a:off x="1" y="811943"/>
            <a:ext cx="3591098" cy="767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Figure 2-5. WREG, fileReg, and  ALU in PIC18</a:t>
            </a:r>
            <a:endParaRPr/>
          </a:p>
        </p:txBody>
      </p:sp>
      <p:pic>
        <p:nvPicPr>
          <p:cNvPr id="522" name="Google Shape;522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4274" y="811943"/>
            <a:ext cx="8137726" cy="5481958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3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1.6 Access Bank</a:t>
            </a:r>
            <a:endParaRPr/>
          </a:p>
        </p:txBody>
      </p:sp>
      <p:sp>
        <p:nvSpPr>
          <p:cNvPr id="529" name="Google Shape;529;p53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COMF instruction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>
                <a:solidFill>
                  <a:srgbClr val="0070C0"/>
                </a:solidFill>
              </a:rPr>
              <a:t>				COMF File Reg. Address, 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tells the CPU to complement the content  of fileReg and places the results in WREG  or in fileReg.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30" name="Google Shape;530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4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1.6 Access Bank</a:t>
            </a:r>
            <a:endParaRPr/>
          </a:p>
        </p:txBody>
      </p:sp>
      <p:sp>
        <p:nvSpPr>
          <p:cNvPr id="536" name="Google Shape;536;p54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Example 2-4: Write a simple program to toggle the SFR  of Port B continuously forever.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37" name="Google Shape;537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5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1.6 Access Bank</a:t>
            </a:r>
            <a:endParaRPr/>
          </a:p>
        </p:txBody>
      </p:sp>
      <p:sp>
        <p:nvSpPr>
          <p:cNvPr id="543" name="Google Shape;543;p55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DECF instruction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>
                <a:solidFill>
                  <a:srgbClr val="0070C0"/>
                </a:solidFill>
              </a:rPr>
              <a:t>				DECF File Reg. Address, 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tells the CPU to decrement the content  of fileReg and places the results in WREG or in fileReg.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MOVLW 3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MOVWF 20H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DECF 20H, F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DECF 20H, F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DECF 20H, F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544" name="Google Shape;544;p55"/>
          <p:cNvPicPr preferRelativeResize="0"/>
          <p:nvPr/>
        </p:nvPicPr>
        <p:blipFill rotWithShape="1">
          <a:blip r:embed="rId3">
            <a:alphaModFix/>
          </a:blip>
          <a:srcRect b="43326" l="55430" r="-514" t="14790"/>
          <a:stretch/>
        </p:blipFill>
        <p:spPr>
          <a:xfrm>
            <a:off x="7410794" y="3024100"/>
            <a:ext cx="2227811" cy="2410691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6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1.6 Access Bank</a:t>
            </a:r>
            <a:endParaRPr/>
          </a:p>
        </p:txBody>
      </p:sp>
      <p:sp>
        <p:nvSpPr>
          <p:cNvPr id="551" name="Google Shape;551;p56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DECF instruction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>
                <a:solidFill>
                  <a:srgbClr val="0070C0"/>
                </a:solidFill>
              </a:rPr>
              <a:t>				DECF File Reg. Address, 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tells the CPU to decrement the content  of fileReg and places the results in WREG or in fileReg.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MOVLW 3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MOVWF 20H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DECF 20H, w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DECF 20H, w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DECF 20H, w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552" name="Google Shape;552;p56"/>
          <p:cNvPicPr preferRelativeResize="0"/>
          <p:nvPr/>
        </p:nvPicPr>
        <p:blipFill rotWithShape="1">
          <a:blip r:embed="rId3">
            <a:alphaModFix/>
          </a:blip>
          <a:srcRect b="43326" l="55430" r="-514" t="14790"/>
          <a:stretch/>
        </p:blipFill>
        <p:spPr>
          <a:xfrm>
            <a:off x="7410794" y="3024100"/>
            <a:ext cx="2227811" cy="2410691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7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1.6 Access Bank</a:t>
            </a:r>
            <a:endParaRPr/>
          </a:p>
        </p:txBody>
      </p:sp>
      <p:sp>
        <p:nvSpPr>
          <p:cNvPr id="559" name="Google Shape;559;p57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MOVF instruction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>
                <a:solidFill>
                  <a:srgbClr val="0070C0"/>
                </a:solidFill>
              </a:rPr>
              <a:t>				MOVF File Reg. Address, 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is intended to perform MOVFW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MOVFW isn’t existed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D=0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Copies the content of fileReg (from I/O pin) to  WREG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D=1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The content of the fileReg is copied to itself.  (why?)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60" name="Google Shape;560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8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1.6 Access Bank</a:t>
            </a:r>
            <a:endParaRPr/>
          </a:p>
        </p:txBody>
      </p:sp>
      <p:sp>
        <p:nvSpPr>
          <p:cNvPr id="566" name="Google Shape;566;p58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MOVF instruction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>
                <a:solidFill>
                  <a:srgbClr val="0070C0"/>
                </a:solidFill>
              </a:rPr>
              <a:t>				MOVF File Reg. Address, 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67" name="Google Shape;567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59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1.6 Access Bank</a:t>
            </a:r>
            <a:endParaRPr/>
          </a:p>
        </p:txBody>
      </p:sp>
      <p:sp>
        <p:nvSpPr>
          <p:cNvPr id="573" name="Google Shape;573;p59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Example 2-5: Write a simple program to get data from  the SFRs of Port B and send it the SFRs of PORT C continuously.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>
                <a:solidFill>
                  <a:srgbClr val="0070C0"/>
                </a:solidFill>
              </a:rPr>
              <a:t>				</a:t>
            </a:r>
            <a:endParaRPr/>
          </a:p>
        </p:txBody>
      </p:sp>
      <p:sp>
        <p:nvSpPr>
          <p:cNvPr id="574" name="Google Shape;574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60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1.6 Access Bank</a:t>
            </a:r>
            <a:endParaRPr/>
          </a:p>
        </p:txBody>
      </p:sp>
      <p:sp>
        <p:nvSpPr>
          <p:cNvPr id="580" name="Google Shape;580;p60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Example 2-6: Write a simple program to get data from  the SFRs of Port B Add the value 5 to it  and send it the SFRs of PORT C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>
                <a:solidFill>
                  <a:srgbClr val="0070C0"/>
                </a:solidFill>
              </a:rPr>
              <a:t>				</a:t>
            </a:r>
            <a:endParaRPr/>
          </a:p>
        </p:txBody>
      </p:sp>
      <p:sp>
        <p:nvSpPr>
          <p:cNvPr id="581" name="Google Shape;581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61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1.6 Access Bank</a:t>
            </a:r>
            <a:endParaRPr/>
          </a:p>
        </p:txBody>
      </p:sp>
      <p:sp>
        <p:nvSpPr>
          <p:cNvPr id="587" name="Google Shape;587;p61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MOVFF instruction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copies data from one location in FileReg  to another location in FileReg.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>
                <a:solidFill>
                  <a:srgbClr val="0070C0"/>
                </a:solidFill>
              </a:rPr>
              <a:t>		MOVFF Source FileReg, destination FileReg</a:t>
            </a:r>
            <a:endParaRPr>
              <a:solidFill>
                <a:srgbClr val="0070C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>
                <a:solidFill>
                  <a:srgbClr val="0070C0"/>
                </a:solidFill>
              </a:rPr>
              <a:t>				</a:t>
            </a:r>
            <a:endParaRPr/>
          </a:p>
        </p:txBody>
      </p:sp>
      <p:pic>
        <p:nvPicPr>
          <p:cNvPr id="588" name="Google Shape;58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2107" y="2311285"/>
            <a:ext cx="5682486" cy="3977740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2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1.6 Access Bank</a:t>
            </a:r>
            <a:endParaRPr/>
          </a:p>
        </p:txBody>
      </p:sp>
      <p:sp>
        <p:nvSpPr>
          <p:cNvPr id="595" name="Google Shape;595;p62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Example 2-7: Write a simple program to get data from  the SFRs of Port B and send it the SFRs of PORT C continuously.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>
                <a:solidFill>
                  <a:srgbClr val="0070C0"/>
                </a:solidFill>
              </a:rPr>
              <a:t>				</a:t>
            </a:r>
            <a:endParaRPr/>
          </a:p>
        </p:txBody>
      </p:sp>
      <p:sp>
        <p:nvSpPr>
          <p:cNvPr id="596" name="Google Shape;596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63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1.7 Status Register</a:t>
            </a:r>
            <a:endParaRPr/>
          </a:p>
        </p:txBody>
      </p:sp>
      <p:sp>
        <p:nvSpPr>
          <p:cNvPr id="602" name="Google Shape;602;p63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indicate arithmetic conditions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is a 8-bit register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Five bits are used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D0: 		C	Carry Flag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D1: 		DC	Digital Carry Flag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D2: 		Z	Zero Flag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D3: 		OV	Overflow Flag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D4 		N	Negative Flag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03" name="Google Shape;603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64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1.7 Status Register</a:t>
            </a:r>
            <a:endParaRPr/>
          </a:p>
        </p:txBody>
      </p:sp>
      <p:sp>
        <p:nvSpPr>
          <p:cNvPr id="609" name="Google Shape;609;p64"/>
          <p:cNvSpPr txBox="1"/>
          <p:nvPr>
            <p:ph idx="1" type="body"/>
          </p:nvPr>
        </p:nvSpPr>
        <p:spPr>
          <a:xfrm>
            <a:off x="2394064" y="4804755"/>
            <a:ext cx="9797935" cy="532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Figure 2-7. Bits of Status Register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610" name="Google Shape;61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0404" y="1853910"/>
            <a:ext cx="6894010" cy="2950845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65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1.7 Status Register</a:t>
            </a:r>
            <a:endParaRPr/>
          </a:p>
        </p:txBody>
      </p:sp>
      <p:sp>
        <p:nvSpPr>
          <p:cNvPr id="617" name="Google Shape;617;p65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Example 2-8: Show the status of the C, DC, Z flags after  the following addition instruction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MOVLW 38H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ADDLW 2FH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18" name="Google Shape;618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6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1.7 Status Register</a:t>
            </a:r>
            <a:endParaRPr/>
          </a:p>
        </p:txBody>
      </p:sp>
      <p:sp>
        <p:nvSpPr>
          <p:cNvPr id="624" name="Google Shape;624;p66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206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350"/>
              <a:buNone/>
            </a:pPr>
            <a:r>
              <a:rPr lang="en-US"/>
              <a:t>Example 2-9: Show the status of the C, DC, Z flags  after the following addition instruction</a:t>
            </a:r>
            <a:endParaRPr/>
          </a:p>
          <a:p>
            <a:pPr indent="-457200" lvl="0" marL="46926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3333CC"/>
              </a:buClr>
              <a:buSzPts val="2350"/>
              <a:buChar char="•"/>
            </a:pPr>
            <a:r>
              <a:rPr lang="en-US"/>
              <a:t>MOVLW 9CH</a:t>
            </a:r>
            <a:endParaRPr/>
          </a:p>
          <a:p>
            <a:pPr indent="-457200" lvl="0" marL="46926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3333CC"/>
              </a:buClr>
              <a:buSzPts val="2350"/>
              <a:buChar char="•"/>
            </a:pPr>
            <a:r>
              <a:rPr lang="en-US"/>
              <a:t>ADDLW 64H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25" name="Google Shape;625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67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1.7 Status Register</a:t>
            </a:r>
            <a:endParaRPr/>
          </a:p>
        </p:txBody>
      </p:sp>
      <p:sp>
        <p:nvSpPr>
          <p:cNvPr id="631" name="Google Shape;631;p67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206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350"/>
              <a:buNone/>
            </a:pPr>
            <a:r>
              <a:rPr b="1" lang="en-US"/>
              <a:t>Instruction That Affect Flag  Bits</a:t>
            </a:r>
            <a:endParaRPr b="1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32" name="Google Shape;632;p67"/>
          <p:cNvSpPr/>
          <p:nvPr/>
        </p:nvSpPr>
        <p:spPr>
          <a:xfrm>
            <a:off x="957718" y="1777746"/>
            <a:ext cx="9898703" cy="347589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68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1.7 Status Register</a:t>
            </a:r>
            <a:endParaRPr/>
          </a:p>
        </p:txBody>
      </p:sp>
      <p:sp>
        <p:nvSpPr>
          <p:cNvPr id="639" name="Google Shape;639;p68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206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350"/>
              <a:buNone/>
            </a:pPr>
            <a:r>
              <a:rPr b="1" lang="en-US"/>
              <a:t>Instruction That Affect Flag  Bits</a:t>
            </a:r>
            <a:endParaRPr b="1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40" name="Google Shape;640;p68"/>
          <p:cNvSpPr/>
          <p:nvPr/>
        </p:nvSpPr>
        <p:spPr>
          <a:xfrm>
            <a:off x="1107348" y="1850897"/>
            <a:ext cx="9798950" cy="316999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69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1.7 Status Register</a:t>
            </a:r>
            <a:endParaRPr/>
          </a:p>
        </p:txBody>
      </p:sp>
      <p:sp>
        <p:nvSpPr>
          <p:cNvPr id="647" name="Google Shape;647;p69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206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350"/>
              <a:buNone/>
            </a:pPr>
            <a:r>
              <a:rPr b="1" lang="en-US"/>
              <a:t>Instruction That Affect Flag  Bits</a:t>
            </a:r>
            <a:endParaRPr b="1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48" name="Google Shape;648;p69"/>
          <p:cNvSpPr/>
          <p:nvPr/>
        </p:nvSpPr>
        <p:spPr>
          <a:xfrm>
            <a:off x="1007596" y="1338279"/>
            <a:ext cx="9144000" cy="465962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6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70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1.7 Status Register</a:t>
            </a:r>
            <a:endParaRPr/>
          </a:p>
        </p:txBody>
      </p:sp>
      <p:sp>
        <p:nvSpPr>
          <p:cNvPr id="655" name="Google Shape;655;p70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Flag Bits and Decision Making</a:t>
            </a:r>
            <a:endParaRPr/>
          </a:p>
        </p:txBody>
      </p:sp>
      <p:grpSp>
        <p:nvGrpSpPr>
          <p:cNvPr id="656" name="Google Shape;656;p70"/>
          <p:cNvGrpSpPr/>
          <p:nvPr/>
        </p:nvGrpSpPr>
        <p:grpSpPr>
          <a:xfrm>
            <a:off x="1040845" y="1657419"/>
            <a:ext cx="9848826" cy="4028025"/>
            <a:chOff x="774839" y="2671572"/>
            <a:chExt cx="9143999" cy="3339083"/>
          </a:xfrm>
        </p:grpSpPr>
        <p:sp>
          <p:nvSpPr>
            <p:cNvPr id="657" name="Google Shape;657;p70"/>
            <p:cNvSpPr/>
            <p:nvPr/>
          </p:nvSpPr>
          <p:spPr>
            <a:xfrm>
              <a:off x="1032395" y="2671572"/>
              <a:ext cx="8886443" cy="1963673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70"/>
            <p:cNvSpPr/>
            <p:nvPr/>
          </p:nvSpPr>
          <p:spPr>
            <a:xfrm>
              <a:off x="774839" y="3907449"/>
              <a:ext cx="1697989" cy="459740"/>
            </a:xfrm>
            <a:custGeom>
              <a:rect b="b" l="l" r="r" t="t"/>
              <a:pathLst>
                <a:path extrusionOk="0" h="459739" w="1697989">
                  <a:moveTo>
                    <a:pt x="1686305" y="269072"/>
                  </a:moveTo>
                  <a:lnTo>
                    <a:pt x="1686305" y="190586"/>
                  </a:lnTo>
                  <a:lnTo>
                    <a:pt x="1685543" y="189824"/>
                  </a:lnTo>
                  <a:lnTo>
                    <a:pt x="1685543" y="189062"/>
                  </a:lnTo>
                  <a:lnTo>
                    <a:pt x="1657996" y="158926"/>
                  </a:lnTo>
                  <a:lnTo>
                    <a:pt x="1606910" y="124630"/>
                  </a:lnTo>
                  <a:lnTo>
                    <a:pt x="1540468" y="94491"/>
                  </a:lnTo>
                  <a:lnTo>
                    <a:pt x="1502108" y="80981"/>
                  </a:lnTo>
                  <a:lnTo>
                    <a:pt x="1460653" y="68511"/>
                  </a:lnTo>
                  <a:lnTo>
                    <a:pt x="1416350" y="57080"/>
                  </a:lnTo>
                  <a:lnTo>
                    <a:pt x="1369447" y="46689"/>
                  </a:lnTo>
                  <a:lnTo>
                    <a:pt x="1320192" y="37339"/>
                  </a:lnTo>
                  <a:lnTo>
                    <a:pt x="1268834" y="29028"/>
                  </a:lnTo>
                  <a:lnTo>
                    <a:pt x="1215619" y="21757"/>
                  </a:lnTo>
                  <a:lnTo>
                    <a:pt x="1160795" y="15527"/>
                  </a:lnTo>
                  <a:lnTo>
                    <a:pt x="1104611" y="10338"/>
                  </a:lnTo>
                  <a:lnTo>
                    <a:pt x="1047314" y="6188"/>
                  </a:lnTo>
                  <a:lnTo>
                    <a:pt x="989153" y="3080"/>
                  </a:lnTo>
                  <a:lnTo>
                    <a:pt x="930374" y="1012"/>
                  </a:lnTo>
                  <a:lnTo>
                    <a:pt x="873864" y="31"/>
                  </a:lnTo>
                  <a:lnTo>
                    <a:pt x="811956" y="0"/>
                  </a:lnTo>
                  <a:lnTo>
                    <a:pt x="752813" y="1055"/>
                  </a:lnTo>
                  <a:lnTo>
                    <a:pt x="694043" y="3151"/>
                  </a:lnTo>
                  <a:lnTo>
                    <a:pt x="635896" y="6289"/>
                  </a:lnTo>
                  <a:lnTo>
                    <a:pt x="578619" y="10468"/>
                  </a:lnTo>
                  <a:lnTo>
                    <a:pt x="522460" y="15689"/>
                  </a:lnTo>
                  <a:lnTo>
                    <a:pt x="467666" y="21952"/>
                  </a:lnTo>
                  <a:lnTo>
                    <a:pt x="414485" y="29256"/>
                  </a:lnTo>
                  <a:lnTo>
                    <a:pt x="363165" y="37602"/>
                  </a:lnTo>
                  <a:lnTo>
                    <a:pt x="313955" y="46991"/>
                  </a:lnTo>
                  <a:lnTo>
                    <a:pt x="267101" y="57421"/>
                  </a:lnTo>
                  <a:lnTo>
                    <a:pt x="222852" y="68894"/>
                  </a:lnTo>
                  <a:lnTo>
                    <a:pt x="181456" y="81409"/>
                  </a:lnTo>
                  <a:lnTo>
                    <a:pt x="143159" y="94966"/>
                  </a:lnTo>
                  <a:lnTo>
                    <a:pt x="76859" y="125209"/>
                  </a:lnTo>
                  <a:lnTo>
                    <a:pt x="25935" y="159623"/>
                  </a:lnTo>
                  <a:lnTo>
                    <a:pt x="0" y="189062"/>
                  </a:lnTo>
                  <a:lnTo>
                    <a:pt x="0" y="270943"/>
                  </a:lnTo>
                  <a:lnTo>
                    <a:pt x="7619" y="282026"/>
                  </a:lnTo>
                  <a:lnTo>
                    <a:pt x="12953" y="287198"/>
                  </a:lnTo>
                  <a:lnTo>
                    <a:pt x="12953" y="228686"/>
                  </a:lnTo>
                  <a:lnTo>
                    <a:pt x="13032" y="229790"/>
                  </a:lnTo>
                  <a:lnTo>
                    <a:pt x="13715" y="219542"/>
                  </a:lnTo>
                  <a:lnTo>
                    <a:pt x="13715" y="221828"/>
                  </a:lnTo>
                  <a:lnTo>
                    <a:pt x="16001" y="213827"/>
                  </a:lnTo>
                  <a:lnTo>
                    <a:pt x="16001" y="213446"/>
                  </a:lnTo>
                  <a:lnTo>
                    <a:pt x="16763" y="211160"/>
                  </a:lnTo>
                  <a:lnTo>
                    <a:pt x="16763" y="211813"/>
                  </a:lnTo>
                  <a:lnTo>
                    <a:pt x="20573" y="203649"/>
                  </a:lnTo>
                  <a:lnTo>
                    <a:pt x="21335" y="202016"/>
                  </a:lnTo>
                  <a:lnTo>
                    <a:pt x="21335" y="202473"/>
                  </a:lnTo>
                  <a:lnTo>
                    <a:pt x="28193" y="192872"/>
                  </a:lnTo>
                  <a:lnTo>
                    <a:pt x="68173" y="160123"/>
                  </a:lnTo>
                  <a:lnTo>
                    <a:pt x="105801" y="138953"/>
                  </a:lnTo>
                  <a:lnTo>
                    <a:pt x="148609" y="120088"/>
                  </a:lnTo>
                  <a:lnTo>
                    <a:pt x="195747" y="103398"/>
                  </a:lnTo>
                  <a:lnTo>
                    <a:pt x="246363" y="88752"/>
                  </a:lnTo>
                  <a:lnTo>
                    <a:pt x="299606" y="76019"/>
                  </a:lnTo>
                  <a:lnTo>
                    <a:pt x="354627" y="65069"/>
                  </a:lnTo>
                  <a:lnTo>
                    <a:pt x="410574" y="55772"/>
                  </a:lnTo>
                  <a:lnTo>
                    <a:pt x="466596" y="47996"/>
                  </a:lnTo>
                  <a:lnTo>
                    <a:pt x="522460" y="41553"/>
                  </a:lnTo>
                  <a:lnTo>
                    <a:pt x="575463" y="36489"/>
                  </a:lnTo>
                  <a:lnTo>
                    <a:pt x="626606" y="32496"/>
                  </a:lnTo>
                  <a:lnTo>
                    <a:pt x="674422" y="29503"/>
                  </a:lnTo>
                  <a:lnTo>
                    <a:pt x="718058" y="27379"/>
                  </a:lnTo>
                  <a:lnTo>
                    <a:pt x="756665" y="25994"/>
                  </a:lnTo>
                  <a:lnTo>
                    <a:pt x="842771" y="25232"/>
                  </a:lnTo>
                  <a:lnTo>
                    <a:pt x="928115" y="25994"/>
                  </a:lnTo>
                  <a:lnTo>
                    <a:pt x="967409" y="27418"/>
                  </a:lnTo>
                  <a:lnTo>
                    <a:pt x="1011434" y="29572"/>
                  </a:lnTo>
                  <a:lnTo>
                    <a:pt x="1059388" y="32582"/>
                  </a:lnTo>
                  <a:lnTo>
                    <a:pt x="1110468" y="36575"/>
                  </a:lnTo>
                  <a:lnTo>
                    <a:pt x="1163870" y="41677"/>
                  </a:lnTo>
                  <a:lnTo>
                    <a:pt x="1218919" y="48034"/>
                  </a:lnTo>
                  <a:lnTo>
                    <a:pt x="1275053" y="55827"/>
                  </a:lnTo>
                  <a:lnTo>
                    <a:pt x="1331107" y="65151"/>
                  </a:lnTo>
                  <a:lnTo>
                    <a:pt x="1386230" y="76140"/>
                  </a:lnTo>
                  <a:lnTo>
                    <a:pt x="1439570" y="88927"/>
                  </a:lnTo>
                  <a:lnTo>
                    <a:pt x="1490276" y="103645"/>
                  </a:lnTo>
                  <a:lnTo>
                    <a:pt x="1537496" y="120427"/>
                  </a:lnTo>
                  <a:lnTo>
                    <a:pt x="1580379" y="139407"/>
                  </a:lnTo>
                  <a:lnTo>
                    <a:pt x="1618074" y="160717"/>
                  </a:lnTo>
                  <a:lnTo>
                    <a:pt x="1649729" y="184490"/>
                  </a:lnTo>
                  <a:lnTo>
                    <a:pt x="1663445" y="202397"/>
                  </a:lnTo>
                  <a:lnTo>
                    <a:pt x="1663445" y="202016"/>
                  </a:lnTo>
                  <a:lnTo>
                    <a:pt x="1664207" y="203540"/>
                  </a:lnTo>
                  <a:lnTo>
                    <a:pt x="1668017" y="211813"/>
                  </a:lnTo>
                  <a:lnTo>
                    <a:pt x="1668017" y="211160"/>
                  </a:lnTo>
                  <a:lnTo>
                    <a:pt x="1668779" y="213446"/>
                  </a:lnTo>
                  <a:lnTo>
                    <a:pt x="1668779" y="213827"/>
                  </a:lnTo>
                  <a:lnTo>
                    <a:pt x="1671065" y="221828"/>
                  </a:lnTo>
                  <a:lnTo>
                    <a:pt x="1671065" y="219542"/>
                  </a:lnTo>
                  <a:lnTo>
                    <a:pt x="1671749" y="229790"/>
                  </a:lnTo>
                  <a:lnTo>
                    <a:pt x="1671827" y="228686"/>
                  </a:lnTo>
                  <a:lnTo>
                    <a:pt x="1671827" y="286566"/>
                  </a:lnTo>
                  <a:lnTo>
                    <a:pt x="1677923" y="280502"/>
                  </a:lnTo>
                  <a:lnTo>
                    <a:pt x="1685543" y="269834"/>
                  </a:lnTo>
                  <a:lnTo>
                    <a:pt x="1686305" y="269072"/>
                  </a:lnTo>
                  <a:close/>
                </a:path>
                <a:path extrusionOk="0" h="459739" w="1697989">
                  <a:moveTo>
                    <a:pt x="13032" y="229790"/>
                  </a:moveTo>
                  <a:lnTo>
                    <a:pt x="12953" y="228686"/>
                  </a:lnTo>
                  <a:lnTo>
                    <a:pt x="12953" y="230972"/>
                  </a:lnTo>
                  <a:lnTo>
                    <a:pt x="13032" y="229790"/>
                  </a:lnTo>
                  <a:close/>
                </a:path>
                <a:path extrusionOk="0" h="459739" w="1697989">
                  <a:moveTo>
                    <a:pt x="16328" y="246865"/>
                  </a:moveTo>
                  <a:lnTo>
                    <a:pt x="13715" y="237068"/>
                  </a:lnTo>
                  <a:lnTo>
                    <a:pt x="13715" y="239354"/>
                  </a:lnTo>
                  <a:lnTo>
                    <a:pt x="13032" y="229790"/>
                  </a:lnTo>
                  <a:lnTo>
                    <a:pt x="12953" y="230972"/>
                  </a:lnTo>
                  <a:lnTo>
                    <a:pt x="12953" y="287198"/>
                  </a:lnTo>
                  <a:lnTo>
                    <a:pt x="16001" y="290153"/>
                  </a:lnTo>
                  <a:lnTo>
                    <a:pt x="16001" y="246212"/>
                  </a:lnTo>
                  <a:lnTo>
                    <a:pt x="16328" y="246865"/>
                  </a:lnTo>
                  <a:close/>
                </a:path>
                <a:path extrusionOk="0" h="459739" w="1697989">
                  <a:moveTo>
                    <a:pt x="16763" y="211160"/>
                  </a:moveTo>
                  <a:lnTo>
                    <a:pt x="16001" y="213446"/>
                  </a:lnTo>
                  <a:lnTo>
                    <a:pt x="16282" y="212845"/>
                  </a:lnTo>
                  <a:lnTo>
                    <a:pt x="16763" y="211160"/>
                  </a:lnTo>
                  <a:close/>
                </a:path>
                <a:path extrusionOk="0" h="459739" w="1697989">
                  <a:moveTo>
                    <a:pt x="16282" y="212845"/>
                  </a:moveTo>
                  <a:lnTo>
                    <a:pt x="16001" y="213446"/>
                  </a:lnTo>
                  <a:lnTo>
                    <a:pt x="16001" y="213827"/>
                  </a:lnTo>
                  <a:lnTo>
                    <a:pt x="16282" y="212845"/>
                  </a:lnTo>
                  <a:close/>
                </a:path>
                <a:path extrusionOk="0" h="459739" w="1697989">
                  <a:moveTo>
                    <a:pt x="16763" y="248498"/>
                  </a:moveTo>
                  <a:lnTo>
                    <a:pt x="16328" y="246865"/>
                  </a:lnTo>
                  <a:lnTo>
                    <a:pt x="16001" y="246212"/>
                  </a:lnTo>
                  <a:lnTo>
                    <a:pt x="16763" y="248498"/>
                  </a:lnTo>
                  <a:close/>
                </a:path>
                <a:path extrusionOk="0" h="459739" w="1697989">
                  <a:moveTo>
                    <a:pt x="16763" y="290892"/>
                  </a:moveTo>
                  <a:lnTo>
                    <a:pt x="16763" y="248498"/>
                  </a:lnTo>
                  <a:lnTo>
                    <a:pt x="16001" y="246212"/>
                  </a:lnTo>
                  <a:lnTo>
                    <a:pt x="16001" y="290153"/>
                  </a:lnTo>
                  <a:lnTo>
                    <a:pt x="16763" y="290892"/>
                  </a:lnTo>
                  <a:close/>
                </a:path>
                <a:path extrusionOk="0" h="459739" w="1697989">
                  <a:moveTo>
                    <a:pt x="16763" y="211813"/>
                  </a:moveTo>
                  <a:lnTo>
                    <a:pt x="16763" y="211160"/>
                  </a:lnTo>
                  <a:lnTo>
                    <a:pt x="16282" y="212845"/>
                  </a:lnTo>
                  <a:lnTo>
                    <a:pt x="16763" y="211813"/>
                  </a:lnTo>
                  <a:close/>
                </a:path>
                <a:path extrusionOk="0" h="459739" w="1697989">
                  <a:moveTo>
                    <a:pt x="21335" y="295325"/>
                  </a:moveTo>
                  <a:lnTo>
                    <a:pt x="21335" y="256880"/>
                  </a:lnTo>
                  <a:lnTo>
                    <a:pt x="16328" y="246865"/>
                  </a:lnTo>
                  <a:lnTo>
                    <a:pt x="16763" y="248498"/>
                  </a:lnTo>
                  <a:lnTo>
                    <a:pt x="16763" y="290892"/>
                  </a:lnTo>
                  <a:lnTo>
                    <a:pt x="21335" y="295325"/>
                  </a:lnTo>
                  <a:close/>
                </a:path>
                <a:path extrusionOk="0" h="459739" w="1697989">
                  <a:moveTo>
                    <a:pt x="21335" y="202016"/>
                  </a:moveTo>
                  <a:lnTo>
                    <a:pt x="20573" y="203540"/>
                  </a:lnTo>
                  <a:lnTo>
                    <a:pt x="20720" y="203335"/>
                  </a:lnTo>
                  <a:lnTo>
                    <a:pt x="21335" y="202016"/>
                  </a:lnTo>
                  <a:close/>
                </a:path>
                <a:path extrusionOk="0" h="459739" w="1697989">
                  <a:moveTo>
                    <a:pt x="20720" y="203335"/>
                  </a:moveTo>
                  <a:lnTo>
                    <a:pt x="20573" y="203540"/>
                  </a:lnTo>
                  <a:lnTo>
                    <a:pt x="20720" y="203335"/>
                  </a:lnTo>
                  <a:close/>
                </a:path>
                <a:path extrusionOk="0" h="459739" w="1697989">
                  <a:moveTo>
                    <a:pt x="1664207" y="255356"/>
                  </a:moveTo>
                  <a:lnTo>
                    <a:pt x="1616506" y="299605"/>
                  </a:lnTo>
                  <a:lnTo>
                    <a:pt x="1578337" y="320803"/>
                  </a:lnTo>
                  <a:lnTo>
                    <a:pt x="1535264" y="339664"/>
                  </a:lnTo>
                  <a:lnTo>
                    <a:pt x="1488088" y="356324"/>
                  </a:lnTo>
                  <a:lnTo>
                    <a:pt x="1437614" y="370920"/>
                  </a:lnTo>
                  <a:lnTo>
                    <a:pt x="1384644" y="383592"/>
                  </a:lnTo>
                  <a:lnTo>
                    <a:pt x="1329982" y="394475"/>
                  </a:lnTo>
                  <a:lnTo>
                    <a:pt x="1274430" y="403707"/>
                  </a:lnTo>
                  <a:lnTo>
                    <a:pt x="1218919" y="411408"/>
                  </a:lnTo>
                  <a:lnTo>
                    <a:pt x="1163324" y="417822"/>
                  </a:lnTo>
                  <a:lnTo>
                    <a:pt x="1109817" y="422926"/>
                  </a:lnTo>
                  <a:lnTo>
                    <a:pt x="1058552" y="426932"/>
                  </a:lnTo>
                  <a:lnTo>
                    <a:pt x="1010612" y="429962"/>
                  </a:lnTo>
                  <a:lnTo>
                    <a:pt x="966849" y="432158"/>
                  </a:lnTo>
                  <a:lnTo>
                    <a:pt x="928115" y="433664"/>
                  </a:lnTo>
                  <a:lnTo>
                    <a:pt x="842009" y="434426"/>
                  </a:lnTo>
                  <a:lnTo>
                    <a:pt x="756665" y="433664"/>
                  </a:lnTo>
                  <a:lnTo>
                    <a:pt x="673607" y="429854"/>
                  </a:lnTo>
                  <a:lnTo>
                    <a:pt x="621654" y="426709"/>
                  </a:lnTo>
                  <a:lnTo>
                    <a:pt x="569309" y="422678"/>
                  </a:lnTo>
                  <a:lnTo>
                    <a:pt x="516792" y="417638"/>
                  </a:lnTo>
                  <a:lnTo>
                    <a:pt x="464321" y="411463"/>
                  </a:lnTo>
                  <a:lnTo>
                    <a:pt x="412115" y="404031"/>
                  </a:lnTo>
                  <a:lnTo>
                    <a:pt x="360392" y="395216"/>
                  </a:lnTo>
                  <a:lnTo>
                    <a:pt x="309371" y="384896"/>
                  </a:lnTo>
                  <a:lnTo>
                    <a:pt x="249935" y="371180"/>
                  </a:lnTo>
                  <a:lnTo>
                    <a:pt x="197549" y="356094"/>
                  </a:lnTo>
                  <a:lnTo>
                    <a:pt x="143408" y="337314"/>
                  </a:lnTo>
                  <a:lnTo>
                    <a:pt x="91476" y="313750"/>
                  </a:lnTo>
                  <a:lnTo>
                    <a:pt x="45719" y="284312"/>
                  </a:lnTo>
                  <a:lnTo>
                    <a:pt x="20573" y="255356"/>
                  </a:lnTo>
                  <a:lnTo>
                    <a:pt x="21335" y="256880"/>
                  </a:lnTo>
                  <a:lnTo>
                    <a:pt x="21335" y="295325"/>
                  </a:lnTo>
                  <a:lnTo>
                    <a:pt x="78123" y="334922"/>
                  </a:lnTo>
                  <a:lnTo>
                    <a:pt x="144720" y="365014"/>
                  </a:lnTo>
                  <a:lnTo>
                    <a:pt x="183153" y="378506"/>
                  </a:lnTo>
                  <a:lnTo>
                    <a:pt x="224677" y="390962"/>
                  </a:lnTo>
                  <a:lnTo>
                    <a:pt x="269046" y="402382"/>
                  </a:lnTo>
                  <a:lnTo>
                    <a:pt x="316010" y="412764"/>
                  </a:lnTo>
                  <a:lnTo>
                    <a:pt x="365323" y="422109"/>
                  </a:lnTo>
                  <a:lnTo>
                    <a:pt x="416735" y="430416"/>
                  </a:lnTo>
                  <a:lnTo>
                    <a:pt x="469999" y="437684"/>
                  </a:lnTo>
                  <a:lnTo>
                    <a:pt x="524867" y="443913"/>
                  </a:lnTo>
                  <a:lnTo>
                    <a:pt x="581091" y="449103"/>
                  </a:lnTo>
                  <a:lnTo>
                    <a:pt x="638422" y="453253"/>
                  </a:lnTo>
                  <a:lnTo>
                    <a:pt x="696613" y="456363"/>
                  </a:lnTo>
                  <a:lnTo>
                    <a:pt x="752813" y="458340"/>
                  </a:lnTo>
                  <a:lnTo>
                    <a:pt x="811956" y="459413"/>
                  </a:lnTo>
                  <a:lnTo>
                    <a:pt x="873864" y="459444"/>
                  </a:lnTo>
                  <a:lnTo>
                    <a:pt x="933013" y="458387"/>
                  </a:lnTo>
                  <a:lnTo>
                    <a:pt x="991782" y="456288"/>
                  </a:lnTo>
                  <a:lnTo>
                    <a:pt x="1049922" y="453145"/>
                  </a:lnTo>
                  <a:lnTo>
                    <a:pt x="1107185" y="448959"/>
                  </a:lnTo>
                  <a:lnTo>
                    <a:pt x="1163870" y="443666"/>
                  </a:lnTo>
                  <a:lnTo>
                    <a:pt x="1218090" y="437454"/>
                  </a:lnTo>
                  <a:lnTo>
                    <a:pt x="1271236" y="430133"/>
                  </a:lnTo>
                  <a:lnTo>
                    <a:pt x="1322512" y="421768"/>
                  </a:lnTo>
                  <a:lnTo>
                    <a:pt x="1371672" y="412356"/>
                  </a:lnTo>
                  <a:lnTo>
                    <a:pt x="1418466" y="401898"/>
                  </a:lnTo>
                  <a:lnTo>
                    <a:pt x="1462648" y="390393"/>
                  </a:lnTo>
                  <a:lnTo>
                    <a:pt x="1503969" y="377840"/>
                  </a:lnTo>
                  <a:lnTo>
                    <a:pt x="1542181" y="364240"/>
                  </a:lnTo>
                  <a:lnTo>
                    <a:pt x="1608285" y="333893"/>
                  </a:lnTo>
                  <a:lnTo>
                    <a:pt x="1658977" y="299349"/>
                  </a:lnTo>
                  <a:lnTo>
                    <a:pt x="1663445" y="294904"/>
                  </a:lnTo>
                  <a:lnTo>
                    <a:pt x="1663445" y="256880"/>
                  </a:lnTo>
                  <a:lnTo>
                    <a:pt x="1664207" y="255356"/>
                  </a:lnTo>
                  <a:close/>
                </a:path>
                <a:path extrusionOk="0" h="459739" w="1697989">
                  <a:moveTo>
                    <a:pt x="21335" y="202473"/>
                  </a:moveTo>
                  <a:lnTo>
                    <a:pt x="21335" y="202016"/>
                  </a:lnTo>
                  <a:lnTo>
                    <a:pt x="20720" y="203335"/>
                  </a:lnTo>
                  <a:lnTo>
                    <a:pt x="21335" y="202473"/>
                  </a:lnTo>
                  <a:close/>
                </a:path>
                <a:path extrusionOk="0" h="459739" w="1697989">
                  <a:moveTo>
                    <a:pt x="1664207" y="203540"/>
                  </a:moveTo>
                  <a:lnTo>
                    <a:pt x="1663445" y="202016"/>
                  </a:lnTo>
                  <a:lnTo>
                    <a:pt x="1664038" y="203286"/>
                  </a:lnTo>
                  <a:lnTo>
                    <a:pt x="1664207" y="203540"/>
                  </a:lnTo>
                  <a:close/>
                </a:path>
                <a:path extrusionOk="0" h="459739" w="1697989">
                  <a:moveTo>
                    <a:pt x="1664038" y="203286"/>
                  </a:moveTo>
                  <a:lnTo>
                    <a:pt x="1663445" y="202016"/>
                  </a:lnTo>
                  <a:lnTo>
                    <a:pt x="1663445" y="202397"/>
                  </a:lnTo>
                  <a:lnTo>
                    <a:pt x="1664038" y="203286"/>
                  </a:lnTo>
                  <a:close/>
                </a:path>
                <a:path extrusionOk="0" h="459739" w="1697989">
                  <a:moveTo>
                    <a:pt x="1668453" y="246865"/>
                  </a:moveTo>
                  <a:lnTo>
                    <a:pt x="1663445" y="256880"/>
                  </a:lnTo>
                  <a:lnTo>
                    <a:pt x="1663445" y="294904"/>
                  </a:lnTo>
                  <a:lnTo>
                    <a:pt x="1668017" y="290356"/>
                  </a:lnTo>
                  <a:lnTo>
                    <a:pt x="1668017" y="248498"/>
                  </a:lnTo>
                  <a:lnTo>
                    <a:pt x="1668453" y="246865"/>
                  </a:lnTo>
                  <a:close/>
                </a:path>
                <a:path extrusionOk="0" h="459739" w="1697989">
                  <a:moveTo>
                    <a:pt x="1664207" y="203649"/>
                  </a:moveTo>
                  <a:lnTo>
                    <a:pt x="1664038" y="203286"/>
                  </a:lnTo>
                  <a:lnTo>
                    <a:pt x="1664207" y="203649"/>
                  </a:lnTo>
                  <a:close/>
                </a:path>
                <a:path extrusionOk="0" h="459739" w="1697989">
                  <a:moveTo>
                    <a:pt x="1668779" y="213446"/>
                  </a:moveTo>
                  <a:lnTo>
                    <a:pt x="1668017" y="211160"/>
                  </a:lnTo>
                  <a:lnTo>
                    <a:pt x="1668499" y="212845"/>
                  </a:lnTo>
                  <a:lnTo>
                    <a:pt x="1668779" y="213446"/>
                  </a:lnTo>
                  <a:close/>
                </a:path>
                <a:path extrusionOk="0" h="459739" w="1697989">
                  <a:moveTo>
                    <a:pt x="1668499" y="212845"/>
                  </a:moveTo>
                  <a:lnTo>
                    <a:pt x="1668017" y="211160"/>
                  </a:lnTo>
                  <a:lnTo>
                    <a:pt x="1668017" y="211813"/>
                  </a:lnTo>
                  <a:lnTo>
                    <a:pt x="1668499" y="212845"/>
                  </a:lnTo>
                  <a:close/>
                </a:path>
                <a:path extrusionOk="0" h="459739" w="1697989">
                  <a:moveTo>
                    <a:pt x="1668779" y="246212"/>
                  </a:moveTo>
                  <a:lnTo>
                    <a:pt x="1668453" y="246865"/>
                  </a:lnTo>
                  <a:lnTo>
                    <a:pt x="1668017" y="248498"/>
                  </a:lnTo>
                  <a:lnTo>
                    <a:pt x="1668779" y="246212"/>
                  </a:lnTo>
                  <a:close/>
                </a:path>
                <a:path extrusionOk="0" h="459739" w="1697989">
                  <a:moveTo>
                    <a:pt x="1668779" y="289598"/>
                  </a:moveTo>
                  <a:lnTo>
                    <a:pt x="1668779" y="246212"/>
                  </a:lnTo>
                  <a:lnTo>
                    <a:pt x="1668017" y="248498"/>
                  </a:lnTo>
                  <a:lnTo>
                    <a:pt x="1668017" y="290356"/>
                  </a:lnTo>
                  <a:lnTo>
                    <a:pt x="1668779" y="289598"/>
                  </a:lnTo>
                  <a:close/>
                </a:path>
                <a:path extrusionOk="0" h="459739" w="1697989">
                  <a:moveTo>
                    <a:pt x="1671827" y="286566"/>
                  </a:moveTo>
                  <a:lnTo>
                    <a:pt x="1671827" y="230972"/>
                  </a:lnTo>
                  <a:lnTo>
                    <a:pt x="1671749" y="229790"/>
                  </a:lnTo>
                  <a:lnTo>
                    <a:pt x="1671065" y="239354"/>
                  </a:lnTo>
                  <a:lnTo>
                    <a:pt x="1671065" y="237068"/>
                  </a:lnTo>
                  <a:lnTo>
                    <a:pt x="1668453" y="246865"/>
                  </a:lnTo>
                  <a:lnTo>
                    <a:pt x="1668779" y="246212"/>
                  </a:lnTo>
                  <a:lnTo>
                    <a:pt x="1668779" y="289598"/>
                  </a:lnTo>
                  <a:lnTo>
                    <a:pt x="1671827" y="286566"/>
                  </a:lnTo>
                  <a:close/>
                </a:path>
                <a:path extrusionOk="0" h="459739" w="1697989">
                  <a:moveTo>
                    <a:pt x="1668779" y="213827"/>
                  </a:moveTo>
                  <a:lnTo>
                    <a:pt x="1668779" y="213446"/>
                  </a:lnTo>
                  <a:lnTo>
                    <a:pt x="1668499" y="212845"/>
                  </a:lnTo>
                  <a:lnTo>
                    <a:pt x="1668779" y="213827"/>
                  </a:lnTo>
                  <a:close/>
                </a:path>
                <a:path extrusionOk="0" h="459739" w="1697989">
                  <a:moveTo>
                    <a:pt x="1671827" y="230972"/>
                  </a:moveTo>
                  <a:lnTo>
                    <a:pt x="1671827" y="228686"/>
                  </a:lnTo>
                  <a:lnTo>
                    <a:pt x="1671749" y="229790"/>
                  </a:lnTo>
                  <a:lnTo>
                    <a:pt x="1671827" y="230972"/>
                  </a:lnTo>
                  <a:close/>
                </a:path>
                <a:path extrusionOk="0" h="459739" w="1697989">
                  <a:moveTo>
                    <a:pt x="1692401" y="256880"/>
                  </a:moveTo>
                  <a:lnTo>
                    <a:pt x="1692401" y="202778"/>
                  </a:lnTo>
                  <a:lnTo>
                    <a:pt x="1691639" y="202016"/>
                  </a:lnTo>
                  <a:lnTo>
                    <a:pt x="1686305" y="191348"/>
                  </a:lnTo>
                  <a:lnTo>
                    <a:pt x="1686305" y="268310"/>
                  </a:lnTo>
                  <a:lnTo>
                    <a:pt x="1691639" y="257642"/>
                  </a:lnTo>
                  <a:lnTo>
                    <a:pt x="1692401" y="256880"/>
                  </a:lnTo>
                  <a:close/>
                </a:path>
                <a:path extrusionOk="0" h="459739" w="1697989">
                  <a:moveTo>
                    <a:pt x="1696211" y="243926"/>
                  </a:moveTo>
                  <a:lnTo>
                    <a:pt x="1696211" y="215732"/>
                  </a:lnTo>
                  <a:lnTo>
                    <a:pt x="1695449" y="214970"/>
                  </a:lnTo>
                  <a:lnTo>
                    <a:pt x="1692401" y="203540"/>
                  </a:lnTo>
                  <a:lnTo>
                    <a:pt x="1692401" y="255356"/>
                  </a:lnTo>
                  <a:lnTo>
                    <a:pt x="1695449" y="244688"/>
                  </a:lnTo>
                  <a:lnTo>
                    <a:pt x="1696211" y="243926"/>
                  </a:lnTo>
                  <a:close/>
                </a:path>
                <a:path extrusionOk="0" h="459739" w="1697989">
                  <a:moveTo>
                    <a:pt x="1697735" y="230210"/>
                  </a:moveTo>
                  <a:lnTo>
                    <a:pt x="1697735" y="229448"/>
                  </a:lnTo>
                  <a:lnTo>
                    <a:pt x="1696973" y="228686"/>
                  </a:lnTo>
                  <a:lnTo>
                    <a:pt x="1696211" y="217256"/>
                  </a:lnTo>
                  <a:lnTo>
                    <a:pt x="1696211" y="242402"/>
                  </a:lnTo>
                  <a:lnTo>
                    <a:pt x="1696973" y="230972"/>
                  </a:lnTo>
                  <a:lnTo>
                    <a:pt x="1697735" y="23021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70"/>
            <p:cNvSpPr/>
            <p:nvPr/>
          </p:nvSpPr>
          <p:spPr>
            <a:xfrm>
              <a:off x="1032395" y="4635245"/>
              <a:ext cx="8886443" cy="137541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0" name="Google Shape;660;p7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71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1.8 PIC18 Data Format and Directives</a:t>
            </a:r>
            <a:endParaRPr/>
          </a:p>
        </p:txBody>
      </p:sp>
      <p:sp>
        <p:nvSpPr>
          <p:cNvPr id="666" name="Google Shape;666;p71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There is one data type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8 bits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It is the job of the programmer to break down  data larger 8 bits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 type can be positive or negative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 format are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Hex (default in PIC) 12 or 0x12 or H'12' or 12H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Binary B'00010010'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Decimal .12 or D'12'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ASCII A'c' or a'c'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67" name="Google Shape;667;p7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72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1.8 PIC18 Data Format and Directives</a:t>
            </a:r>
            <a:endParaRPr/>
          </a:p>
        </p:txBody>
      </p:sp>
      <p:sp>
        <p:nvSpPr>
          <p:cNvPr id="673" name="Google Shape;673;p72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Assembler Directives</a:t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is the difference between  Instruction and Directives?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EQU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Defines a constant or fixed address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Defines a constant or fixed address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Maybe reassigned later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ORG (Origin)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END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LIST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74" name="Google Shape;674;p7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73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1.8 PIC18 Data Format and Directives</a:t>
            </a:r>
            <a:endParaRPr/>
          </a:p>
        </p:txBody>
      </p:sp>
      <p:sp>
        <p:nvSpPr>
          <p:cNvPr id="680" name="Google Shape;680;p73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Rules for labels in A.L.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Unique name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Alphabetic letters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Upper, lower, digits (0-9),special char. (? . @_$)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first letter must be Alphabetic letters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 a reserved word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81" name="Google Shape;681;p7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74"/>
          <p:cNvSpPr txBox="1"/>
          <p:nvPr>
            <p:ph type="title"/>
          </p:nvPr>
        </p:nvSpPr>
        <p:spPr>
          <a:xfrm>
            <a:off x="-1" y="0"/>
            <a:ext cx="11797553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1.9 The Program Counter and Program ROM Space</a:t>
            </a:r>
            <a:endParaRPr/>
          </a:p>
        </p:txBody>
      </p:sp>
      <p:sp>
        <p:nvSpPr>
          <p:cNvPr id="687" name="Google Shape;687;p74"/>
          <p:cNvSpPr txBox="1"/>
          <p:nvPr>
            <p:ph idx="1" type="body"/>
          </p:nvPr>
        </p:nvSpPr>
        <p:spPr>
          <a:xfrm>
            <a:off x="0" y="811943"/>
            <a:ext cx="12192000" cy="518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Figure 2-9. Program Counter in  PIC18</a:t>
            </a:r>
            <a:endParaRPr/>
          </a:p>
        </p:txBody>
      </p:sp>
      <p:pic>
        <p:nvPicPr>
          <p:cNvPr id="688" name="Google Shape;688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5109" y="1900238"/>
            <a:ext cx="7132451" cy="2788140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7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75"/>
          <p:cNvSpPr txBox="1"/>
          <p:nvPr>
            <p:ph type="title"/>
          </p:nvPr>
        </p:nvSpPr>
        <p:spPr>
          <a:xfrm>
            <a:off x="-1" y="0"/>
            <a:ext cx="11797553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1.9 The Program Counter and Program ROM Space</a:t>
            </a:r>
            <a:endParaRPr/>
          </a:p>
        </p:txBody>
      </p:sp>
      <p:sp>
        <p:nvSpPr>
          <p:cNvPr id="695" name="Google Shape;695;p75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96" name="Google Shape;696;p75"/>
          <p:cNvSpPr/>
          <p:nvPr/>
        </p:nvSpPr>
        <p:spPr>
          <a:xfrm>
            <a:off x="779676" y="0"/>
            <a:ext cx="10632647" cy="667850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7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76"/>
          <p:cNvSpPr txBox="1"/>
          <p:nvPr>
            <p:ph type="title"/>
          </p:nvPr>
        </p:nvSpPr>
        <p:spPr>
          <a:xfrm>
            <a:off x="-1" y="0"/>
            <a:ext cx="11797553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1.9 The Program Counter and Program ROM Space</a:t>
            </a:r>
            <a:endParaRPr/>
          </a:p>
        </p:txBody>
      </p:sp>
      <p:sp>
        <p:nvSpPr>
          <p:cNvPr id="703" name="Google Shape;703;p76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5496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350"/>
              <a:buFont typeface="Noto Sans Symbols"/>
              <a:buChar char="❒"/>
            </a:pPr>
            <a:r>
              <a:rPr lang="en-US"/>
              <a:t>Example 2-11:Find the ROM Memory Address of each of  the following PIC chips:</a:t>
            </a:r>
            <a:endParaRPr/>
          </a:p>
          <a:p>
            <a:pPr indent="-514350" lvl="0" marL="52641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3333CC"/>
              </a:buClr>
              <a:buSzPts val="2350"/>
              <a:buAutoNum type="alphaLcParenR"/>
            </a:pPr>
            <a:r>
              <a:rPr lang="en-US"/>
              <a:t>PIC18F2220</a:t>
            </a:r>
            <a:endParaRPr/>
          </a:p>
          <a:p>
            <a:pPr indent="-514350" lvl="0" marL="52641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3333CC"/>
              </a:buClr>
              <a:buSzPts val="2350"/>
              <a:buAutoNum type="alphaLcParenR"/>
            </a:pPr>
            <a:r>
              <a:rPr lang="en-US"/>
              <a:t>PIC18F2410</a:t>
            </a:r>
            <a:endParaRPr/>
          </a:p>
          <a:p>
            <a:pPr indent="-514350" lvl="0" marL="52641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3333CC"/>
              </a:buClr>
              <a:buSzPts val="2350"/>
              <a:buAutoNum type="alphaLcParenR"/>
            </a:pPr>
            <a:r>
              <a:rPr lang="en-US"/>
              <a:t>PIC18F458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04" name="Google Shape;704;p76"/>
          <p:cNvSpPr/>
          <p:nvPr/>
        </p:nvSpPr>
        <p:spPr>
          <a:xfrm>
            <a:off x="4036059" y="1778573"/>
            <a:ext cx="7036493" cy="374107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7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77"/>
          <p:cNvSpPr txBox="1"/>
          <p:nvPr>
            <p:ph type="title"/>
          </p:nvPr>
        </p:nvSpPr>
        <p:spPr>
          <a:xfrm>
            <a:off x="-1" y="0"/>
            <a:ext cx="11797553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1.9 The Program Counter and Program ROM Space</a:t>
            </a:r>
            <a:endParaRPr/>
          </a:p>
        </p:txBody>
      </p:sp>
      <p:sp>
        <p:nvSpPr>
          <p:cNvPr id="711" name="Google Shape;711;p77"/>
          <p:cNvSpPr txBox="1"/>
          <p:nvPr>
            <p:ph idx="1" type="body"/>
          </p:nvPr>
        </p:nvSpPr>
        <p:spPr>
          <a:xfrm>
            <a:off x="0" y="811942"/>
            <a:ext cx="6833062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Powering UP</a:t>
            </a:r>
            <a:endParaRPr/>
          </a:p>
          <a:p>
            <a:pPr indent="-228600" lvl="0" marL="228600" marR="6223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At what address does the  CPU wake up when power  applied?</a:t>
            </a:r>
            <a:endParaRPr/>
          </a:p>
          <a:p>
            <a:pPr indent="-228600" lvl="0" marL="228600" marR="6223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microcontroller wakes up at  memory address 0000</a:t>
            </a:r>
            <a:endParaRPr/>
          </a:p>
          <a:p>
            <a:pPr indent="-228600" lvl="0" marL="228600" marR="6223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PC has the value 0000</a:t>
            </a:r>
            <a:endParaRPr/>
          </a:p>
          <a:p>
            <a:pPr indent="-228600" lvl="0" marL="228600" marR="6223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ORG directive put the  address of the first op code at the memory  location 0000</a:t>
            </a:r>
            <a:endParaRPr/>
          </a:p>
          <a:p>
            <a:pPr indent="-365126" lvl="0" marL="527050" marR="56070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3333CC"/>
              </a:buClr>
              <a:buSzPts val="2350"/>
              <a:buFont typeface="Arial"/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712" name="Google Shape;712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0587" y="665019"/>
            <a:ext cx="3734257" cy="6063288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7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78"/>
          <p:cNvSpPr txBox="1"/>
          <p:nvPr>
            <p:ph type="title"/>
          </p:nvPr>
        </p:nvSpPr>
        <p:spPr>
          <a:xfrm>
            <a:off x="0" y="0"/>
            <a:ext cx="121920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1.9 The Program Counter and Program ROM Space</a:t>
            </a:r>
            <a:endParaRPr/>
          </a:p>
        </p:txBody>
      </p:sp>
      <p:sp>
        <p:nvSpPr>
          <p:cNvPr id="719" name="Google Shape;719;p78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Placing Code in program ROM</a:t>
            </a:r>
            <a:endParaRPr b="1"/>
          </a:p>
        </p:txBody>
      </p:sp>
      <p:grpSp>
        <p:nvGrpSpPr>
          <p:cNvPr id="720" name="Google Shape;720;p78"/>
          <p:cNvGrpSpPr/>
          <p:nvPr/>
        </p:nvGrpSpPr>
        <p:grpSpPr>
          <a:xfrm>
            <a:off x="3268657" y="1390387"/>
            <a:ext cx="8434578" cy="4311396"/>
            <a:chOff x="774839" y="2164079"/>
            <a:chExt cx="8434578" cy="4311396"/>
          </a:xfrm>
        </p:grpSpPr>
        <p:sp>
          <p:nvSpPr>
            <p:cNvPr id="721" name="Google Shape;721;p78"/>
            <p:cNvSpPr/>
            <p:nvPr/>
          </p:nvSpPr>
          <p:spPr>
            <a:xfrm>
              <a:off x="774839" y="2164079"/>
              <a:ext cx="8434578" cy="1613916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78"/>
            <p:cNvSpPr/>
            <p:nvPr/>
          </p:nvSpPr>
          <p:spPr>
            <a:xfrm>
              <a:off x="2016245" y="3105149"/>
              <a:ext cx="1697989" cy="673100"/>
            </a:xfrm>
            <a:custGeom>
              <a:rect b="b" l="l" r="r" t="t"/>
              <a:pathLst>
                <a:path extrusionOk="0" h="673100" w="1697989">
                  <a:moveTo>
                    <a:pt x="1697748" y="672845"/>
                  </a:moveTo>
                  <a:lnTo>
                    <a:pt x="1660621" y="598518"/>
                  </a:lnTo>
                  <a:lnTo>
                    <a:pt x="1636882" y="555393"/>
                  </a:lnTo>
                  <a:lnTo>
                    <a:pt x="1611930" y="513102"/>
                  </a:lnTo>
                  <a:lnTo>
                    <a:pt x="1585751" y="471713"/>
                  </a:lnTo>
                  <a:lnTo>
                    <a:pt x="1558327" y="431294"/>
                  </a:lnTo>
                  <a:lnTo>
                    <a:pt x="1529642" y="391913"/>
                  </a:lnTo>
                  <a:lnTo>
                    <a:pt x="1499681" y="353637"/>
                  </a:lnTo>
                  <a:lnTo>
                    <a:pt x="1468426" y="316535"/>
                  </a:lnTo>
                  <a:lnTo>
                    <a:pt x="1435862" y="280676"/>
                  </a:lnTo>
                  <a:lnTo>
                    <a:pt x="1401972" y="246126"/>
                  </a:lnTo>
                  <a:lnTo>
                    <a:pt x="1357776" y="204978"/>
                  </a:lnTo>
                  <a:lnTo>
                    <a:pt x="1318189" y="172681"/>
                  </a:lnTo>
                  <a:lnTo>
                    <a:pt x="1277257" y="142580"/>
                  </a:lnTo>
                  <a:lnTo>
                    <a:pt x="1234999" y="114853"/>
                  </a:lnTo>
                  <a:lnTo>
                    <a:pt x="1191433" y="89678"/>
                  </a:lnTo>
                  <a:lnTo>
                    <a:pt x="1146578" y="67236"/>
                  </a:lnTo>
                  <a:lnTo>
                    <a:pt x="1100453" y="47706"/>
                  </a:lnTo>
                  <a:lnTo>
                    <a:pt x="1053076" y="31267"/>
                  </a:lnTo>
                  <a:lnTo>
                    <a:pt x="1004466" y="18097"/>
                  </a:lnTo>
                  <a:lnTo>
                    <a:pt x="954643" y="8377"/>
                  </a:lnTo>
                  <a:lnTo>
                    <a:pt x="903624" y="2286"/>
                  </a:lnTo>
                  <a:lnTo>
                    <a:pt x="848760" y="0"/>
                  </a:lnTo>
                  <a:lnTo>
                    <a:pt x="820566" y="762"/>
                  </a:lnTo>
                  <a:lnTo>
                    <a:pt x="744701" y="8110"/>
                  </a:lnTo>
                  <a:lnTo>
                    <a:pt x="696614" y="17302"/>
                  </a:lnTo>
                  <a:lnTo>
                    <a:pt x="649659" y="29705"/>
                  </a:lnTo>
                  <a:lnTo>
                    <a:pt x="603861" y="45161"/>
                  </a:lnTo>
                  <a:lnTo>
                    <a:pt x="559242" y="63512"/>
                  </a:lnTo>
                  <a:lnTo>
                    <a:pt x="515827" y="84599"/>
                  </a:lnTo>
                  <a:lnTo>
                    <a:pt x="473640" y="108264"/>
                  </a:lnTo>
                  <a:lnTo>
                    <a:pt x="432705" y="134350"/>
                  </a:lnTo>
                  <a:lnTo>
                    <a:pt x="393045" y="162699"/>
                  </a:lnTo>
                  <a:lnTo>
                    <a:pt x="354684" y="193152"/>
                  </a:lnTo>
                  <a:lnTo>
                    <a:pt x="317646" y="225552"/>
                  </a:lnTo>
                  <a:lnTo>
                    <a:pt x="274212" y="268224"/>
                  </a:lnTo>
                  <a:lnTo>
                    <a:pt x="240802" y="303823"/>
                  </a:lnTo>
                  <a:lnTo>
                    <a:pt x="208711" y="340807"/>
                  </a:lnTo>
                  <a:lnTo>
                    <a:pt x="177927" y="379100"/>
                  </a:lnTo>
                  <a:lnTo>
                    <a:pt x="148435" y="418621"/>
                  </a:lnTo>
                  <a:lnTo>
                    <a:pt x="120222" y="459295"/>
                  </a:lnTo>
                  <a:lnTo>
                    <a:pt x="93276" y="501042"/>
                  </a:lnTo>
                  <a:lnTo>
                    <a:pt x="67581" y="543785"/>
                  </a:lnTo>
                  <a:lnTo>
                    <a:pt x="43126" y="587445"/>
                  </a:lnTo>
                  <a:lnTo>
                    <a:pt x="19896" y="631945"/>
                  </a:lnTo>
                  <a:lnTo>
                    <a:pt x="0" y="672845"/>
                  </a:lnTo>
                  <a:lnTo>
                    <a:pt x="35305" y="672845"/>
                  </a:lnTo>
                  <a:lnTo>
                    <a:pt x="56397" y="630449"/>
                  </a:lnTo>
                  <a:lnTo>
                    <a:pt x="80289" y="585783"/>
                  </a:lnTo>
                  <a:lnTo>
                    <a:pt x="105451" y="542035"/>
                  </a:lnTo>
                  <a:lnTo>
                    <a:pt x="131899" y="499295"/>
                  </a:lnTo>
                  <a:lnTo>
                    <a:pt x="159647" y="457651"/>
                  </a:lnTo>
                  <a:lnTo>
                    <a:pt x="188711" y="417192"/>
                  </a:lnTo>
                  <a:lnTo>
                    <a:pt x="219104" y="378007"/>
                  </a:lnTo>
                  <a:lnTo>
                    <a:pt x="250842" y="340185"/>
                  </a:lnTo>
                  <a:lnTo>
                    <a:pt x="283938" y="303815"/>
                  </a:lnTo>
                  <a:lnTo>
                    <a:pt x="318408" y="268986"/>
                  </a:lnTo>
                  <a:lnTo>
                    <a:pt x="361080" y="229362"/>
                  </a:lnTo>
                  <a:lnTo>
                    <a:pt x="401090" y="196360"/>
                  </a:lnTo>
                  <a:lnTo>
                    <a:pt x="442558" y="165864"/>
                  </a:lnTo>
                  <a:lnTo>
                    <a:pt x="485451" y="138040"/>
                  </a:lnTo>
                  <a:lnTo>
                    <a:pt x="529737" y="113052"/>
                  </a:lnTo>
                  <a:lnTo>
                    <a:pt x="575383" y="91068"/>
                  </a:lnTo>
                  <a:lnTo>
                    <a:pt x="622355" y="72253"/>
                  </a:lnTo>
                  <a:lnTo>
                    <a:pt x="670621" y="56773"/>
                  </a:lnTo>
                  <a:lnTo>
                    <a:pt x="720148" y="44794"/>
                  </a:lnTo>
                  <a:lnTo>
                    <a:pt x="770902" y="36482"/>
                  </a:lnTo>
                  <a:lnTo>
                    <a:pt x="822852" y="32004"/>
                  </a:lnTo>
                  <a:lnTo>
                    <a:pt x="876192" y="32071"/>
                  </a:lnTo>
                  <a:lnTo>
                    <a:pt x="901338" y="34290"/>
                  </a:lnTo>
                  <a:lnTo>
                    <a:pt x="928008" y="36576"/>
                  </a:lnTo>
                  <a:lnTo>
                    <a:pt x="979673" y="44994"/>
                  </a:lnTo>
                  <a:lnTo>
                    <a:pt x="1030009" y="57329"/>
                  </a:lnTo>
                  <a:lnTo>
                    <a:pt x="1078974" y="73347"/>
                  </a:lnTo>
                  <a:lnTo>
                    <a:pt x="1126528" y="92815"/>
                  </a:lnTo>
                  <a:lnTo>
                    <a:pt x="1172629" y="115500"/>
                  </a:lnTo>
                  <a:lnTo>
                    <a:pt x="1217234" y="141166"/>
                  </a:lnTo>
                  <a:lnTo>
                    <a:pt x="1260303" y="169582"/>
                  </a:lnTo>
                  <a:lnTo>
                    <a:pt x="1301794" y="200513"/>
                  </a:lnTo>
                  <a:lnTo>
                    <a:pt x="1341665" y="233725"/>
                  </a:lnTo>
                  <a:lnTo>
                    <a:pt x="1379874" y="268986"/>
                  </a:lnTo>
                  <a:lnTo>
                    <a:pt x="1421784" y="311658"/>
                  </a:lnTo>
                  <a:lnTo>
                    <a:pt x="1453829" y="347868"/>
                  </a:lnTo>
                  <a:lnTo>
                    <a:pt x="1484561" y="385299"/>
                  </a:lnTo>
                  <a:lnTo>
                    <a:pt x="1513994" y="423885"/>
                  </a:lnTo>
                  <a:lnTo>
                    <a:pt x="1542147" y="463562"/>
                  </a:lnTo>
                  <a:lnTo>
                    <a:pt x="1569035" y="504263"/>
                  </a:lnTo>
                  <a:lnTo>
                    <a:pt x="1594676" y="545923"/>
                  </a:lnTo>
                  <a:lnTo>
                    <a:pt x="1619085" y="588477"/>
                  </a:lnTo>
                  <a:lnTo>
                    <a:pt x="1642279" y="631858"/>
                  </a:lnTo>
                  <a:lnTo>
                    <a:pt x="1662702" y="672845"/>
                  </a:lnTo>
                  <a:lnTo>
                    <a:pt x="1697748" y="672845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78"/>
            <p:cNvSpPr/>
            <p:nvPr/>
          </p:nvSpPr>
          <p:spPr>
            <a:xfrm>
              <a:off x="976142" y="3777995"/>
              <a:ext cx="7468325" cy="85725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78"/>
            <p:cNvSpPr/>
            <p:nvPr/>
          </p:nvSpPr>
          <p:spPr>
            <a:xfrm>
              <a:off x="1808778" y="3777995"/>
              <a:ext cx="2113280" cy="857250"/>
            </a:xfrm>
            <a:custGeom>
              <a:rect b="b" l="l" r="r" t="t"/>
              <a:pathLst>
                <a:path extrusionOk="0" h="857250" w="2113279">
                  <a:moveTo>
                    <a:pt x="242772" y="0"/>
                  </a:moveTo>
                  <a:lnTo>
                    <a:pt x="207466" y="0"/>
                  </a:lnTo>
                  <a:lnTo>
                    <a:pt x="205344" y="4361"/>
                  </a:lnTo>
                  <a:lnTo>
                    <a:pt x="184525" y="50307"/>
                  </a:lnTo>
                  <a:lnTo>
                    <a:pt x="164892" y="96859"/>
                  </a:lnTo>
                  <a:lnTo>
                    <a:pt x="146394" y="144036"/>
                  </a:lnTo>
                  <a:lnTo>
                    <a:pt x="129126" y="191469"/>
                  </a:lnTo>
                  <a:lnTo>
                    <a:pt x="112968" y="239371"/>
                  </a:lnTo>
                  <a:lnTo>
                    <a:pt x="97941" y="287567"/>
                  </a:lnTo>
                  <a:lnTo>
                    <a:pt x="84033" y="335979"/>
                  </a:lnTo>
                  <a:lnTo>
                    <a:pt x="71229" y="384530"/>
                  </a:lnTo>
                  <a:lnTo>
                    <a:pt x="59517" y="433140"/>
                  </a:lnTo>
                  <a:lnTo>
                    <a:pt x="48883" y="481733"/>
                  </a:lnTo>
                  <a:lnTo>
                    <a:pt x="39314" y="530231"/>
                  </a:lnTo>
                  <a:lnTo>
                    <a:pt x="30795" y="578555"/>
                  </a:lnTo>
                  <a:lnTo>
                    <a:pt x="23315" y="626627"/>
                  </a:lnTo>
                  <a:lnTo>
                    <a:pt x="16859" y="674370"/>
                  </a:lnTo>
                  <a:lnTo>
                    <a:pt x="6953" y="756666"/>
                  </a:lnTo>
                  <a:lnTo>
                    <a:pt x="857" y="841248"/>
                  </a:lnTo>
                  <a:lnTo>
                    <a:pt x="0" y="857250"/>
                  </a:lnTo>
                  <a:lnTo>
                    <a:pt x="31441" y="857250"/>
                  </a:lnTo>
                  <a:lnTo>
                    <a:pt x="32099" y="842772"/>
                  </a:lnTo>
                  <a:lnTo>
                    <a:pt x="38957" y="759714"/>
                  </a:lnTo>
                  <a:lnTo>
                    <a:pt x="48101" y="677418"/>
                  </a:lnTo>
                  <a:lnTo>
                    <a:pt x="54678" y="629634"/>
                  </a:lnTo>
                  <a:lnTo>
                    <a:pt x="62307" y="581436"/>
                  </a:lnTo>
                  <a:lnTo>
                    <a:pt x="71003" y="532912"/>
                  </a:lnTo>
                  <a:lnTo>
                    <a:pt x="80780" y="484153"/>
                  </a:lnTo>
                  <a:lnTo>
                    <a:pt x="91653" y="435245"/>
                  </a:lnTo>
                  <a:lnTo>
                    <a:pt x="103636" y="386279"/>
                  </a:lnTo>
                  <a:lnTo>
                    <a:pt x="116744" y="337343"/>
                  </a:lnTo>
                  <a:lnTo>
                    <a:pt x="130992" y="288527"/>
                  </a:lnTo>
                  <a:lnTo>
                    <a:pt x="146430" y="239815"/>
                  </a:lnTo>
                  <a:lnTo>
                    <a:pt x="162965" y="191605"/>
                  </a:lnTo>
                  <a:lnTo>
                    <a:pt x="180720" y="143678"/>
                  </a:lnTo>
                  <a:lnTo>
                    <a:pt x="199672" y="96226"/>
                  </a:lnTo>
                  <a:lnTo>
                    <a:pt x="219837" y="49337"/>
                  </a:lnTo>
                  <a:lnTo>
                    <a:pt x="241230" y="3099"/>
                  </a:lnTo>
                  <a:lnTo>
                    <a:pt x="242772" y="0"/>
                  </a:lnTo>
                  <a:close/>
                </a:path>
                <a:path extrusionOk="0" h="857250" w="2113279">
                  <a:moveTo>
                    <a:pt x="2113107" y="857249"/>
                  </a:moveTo>
                  <a:lnTo>
                    <a:pt x="2105501" y="756666"/>
                  </a:lnTo>
                  <a:lnTo>
                    <a:pt x="2096357" y="673608"/>
                  </a:lnTo>
                  <a:lnTo>
                    <a:pt x="2089798" y="626386"/>
                  </a:lnTo>
                  <a:lnTo>
                    <a:pt x="2082287" y="578911"/>
                  </a:lnTo>
                  <a:lnTo>
                    <a:pt x="2073808" y="531250"/>
                  </a:lnTo>
                  <a:lnTo>
                    <a:pt x="2064345" y="483471"/>
                  </a:lnTo>
                  <a:lnTo>
                    <a:pt x="2053881" y="435642"/>
                  </a:lnTo>
                  <a:lnTo>
                    <a:pt x="2042400" y="387831"/>
                  </a:lnTo>
                  <a:lnTo>
                    <a:pt x="2029886" y="340106"/>
                  </a:lnTo>
                  <a:lnTo>
                    <a:pt x="2016323" y="292535"/>
                  </a:lnTo>
                  <a:lnTo>
                    <a:pt x="2001694" y="245186"/>
                  </a:lnTo>
                  <a:lnTo>
                    <a:pt x="1985983" y="198127"/>
                  </a:lnTo>
                  <a:lnTo>
                    <a:pt x="1969174" y="151427"/>
                  </a:lnTo>
                  <a:lnTo>
                    <a:pt x="1951251" y="105152"/>
                  </a:lnTo>
                  <a:lnTo>
                    <a:pt x="1932197" y="59371"/>
                  </a:lnTo>
                  <a:lnTo>
                    <a:pt x="1911996" y="14152"/>
                  </a:lnTo>
                  <a:lnTo>
                    <a:pt x="1905214" y="0"/>
                  </a:lnTo>
                  <a:lnTo>
                    <a:pt x="1870169" y="0"/>
                  </a:lnTo>
                  <a:lnTo>
                    <a:pt x="1871742" y="3156"/>
                  </a:lnTo>
                  <a:lnTo>
                    <a:pt x="1892556" y="47998"/>
                  </a:lnTo>
                  <a:lnTo>
                    <a:pt x="1912206" y="93470"/>
                  </a:lnTo>
                  <a:lnTo>
                    <a:pt x="1930707" y="139509"/>
                  </a:lnTo>
                  <a:lnTo>
                    <a:pt x="1948077" y="186048"/>
                  </a:lnTo>
                  <a:lnTo>
                    <a:pt x="1964331" y="233022"/>
                  </a:lnTo>
                  <a:lnTo>
                    <a:pt x="1979486" y="280366"/>
                  </a:lnTo>
                  <a:lnTo>
                    <a:pt x="1993559" y="328013"/>
                  </a:lnTo>
                  <a:lnTo>
                    <a:pt x="2006567" y="375899"/>
                  </a:lnTo>
                  <a:lnTo>
                    <a:pt x="2018526" y="423958"/>
                  </a:lnTo>
                  <a:lnTo>
                    <a:pt x="2029452" y="472125"/>
                  </a:lnTo>
                  <a:lnTo>
                    <a:pt x="2039363" y="520333"/>
                  </a:lnTo>
                  <a:lnTo>
                    <a:pt x="2048274" y="568518"/>
                  </a:lnTo>
                  <a:lnTo>
                    <a:pt x="2056203" y="616614"/>
                  </a:lnTo>
                  <a:lnTo>
                    <a:pt x="2063165" y="664556"/>
                  </a:lnTo>
                  <a:lnTo>
                    <a:pt x="2069179" y="712277"/>
                  </a:lnTo>
                  <a:lnTo>
                    <a:pt x="2074259" y="759714"/>
                  </a:lnTo>
                  <a:lnTo>
                    <a:pt x="2080355" y="842772"/>
                  </a:lnTo>
                  <a:lnTo>
                    <a:pt x="2081007" y="857249"/>
                  </a:lnTo>
                  <a:lnTo>
                    <a:pt x="2113107" y="857249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78"/>
            <p:cNvSpPr/>
            <p:nvPr/>
          </p:nvSpPr>
          <p:spPr>
            <a:xfrm>
              <a:off x="976142" y="4635245"/>
              <a:ext cx="7951451" cy="779318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78"/>
            <p:cNvSpPr/>
            <p:nvPr/>
          </p:nvSpPr>
          <p:spPr>
            <a:xfrm>
              <a:off x="1804301" y="4635245"/>
              <a:ext cx="2122170" cy="857250"/>
            </a:xfrm>
            <a:custGeom>
              <a:rect b="b" l="l" r="r" t="t"/>
              <a:pathLst>
                <a:path extrusionOk="0" h="857250" w="2122170">
                  <a:moveTo>
                    <a:pt x="35917" y="0"/>
                  </a:moveTo>
                  <a:lnTo>
                    <a:pt x="4476" y="0"/>
                  </a:lnTo>
                  <a:lnTo>
                    <a:pt x="761" y="69342"/>
                  </a:lnTo>
                  <a:lnTo>
                    <a:pt x="0" y="155448"/>
                  </a:lnTo>
                  <a:lnTo>
                    <a:pt x="762" y="241554"/>
                  </a:lnTo>
                  <a:lnTo>
                    <a:pt x="5334" y="326898"/>
                  </a:lnTo>
                  <a:lnTo>
                    <a:pt x="11430" y="411480"/>
                  </a:lnTo>
                  <a:lnTo>
                    <a:pt x="21336" y="493776"/>
                  </a:lnTo>
                  <a:lnTo>
                    <a:pt x="31242" y="564438"/>
                  </a:lnTo>
                  <a:lnTo>
                    <a:pt x="31242" y="154686"/>
                  </a:lnTo>
                  <a:lnTo>
                    <a:pt x="32765" y="69342"/>
                  </a:lnTo>
                  <a:lnTo>
                    <a:pt x="35917" y="0"/>
                  </a:lnTo>
                  <a:close/>
                </a:path>
                <a:path extrusionOk="0" h="857250" w="2122170">
                  <a:moveTo>
                    <a:pt x="128708" y="857250"/>
                  </a:moveTo>
                  <a:lnTo>
                    <a:pt x="113631" y="803804"/>
                  </a:lnTo>
                  <a:lnTo>
                    <a:pt x="101525" y="756508"/>
                  </a:lnTo>
                  <a:lnTo>
                    <a:pt x="90518" y="709313"/>
                  </a:lnTo>
                  <a:lnTo>
                    <a:pt x="80602" y="662306"/>
                  </a:lnTo>
                  <a:lnTo>
                    <a:pt x="71768" y="615577"/>
                  </a:lnTo>
                  <a:lnTo>
                    <a:pt x="64008" y="569214"/>
                  </a:lnTo>
                  <a:lnTo>
                    <a:pt x="52578" y="489204"/>
                  </a:lnTo>
                  <a:lnTo>
                    <a:pt x="43434" y="407670"/>
                  </a:lnTo>
                  <a:lnTo>
                    <a:pt x="36576" y="324612"/>
                  </a:lnTo>
                  <a:lnTo>
                    <a:pt x="32766" y="240030"/>
                  </a:lnTo>
                  <a:lnTo>
                    <a:pt x="31242" y="154686"/>
                  </a:lnTo>
                  <a:lnTo>
                    <a:pt x="31242" y="564438"/>
                  </a:lnTo>
                  <a:lnTo>
                    <a:pt x="41037" y="622797"/>
                  </a:lnTo>
                  <a:lnTo>
                    <a:pt x="50232" y="670358"/>
                  </a:lnTo>
                  <a:lnTo>
                    <a:pt x="60371" y="717934"/>
                  </a:lnTo>
                  <a:lnTo>
                    <a:pt x="71478" y="765464"/>
                  </a:lnTo>
                  <a:lnTo>
                    <a:pt x="83571" y="812890"/>
                  </a:lnTo>
                  <a:lnTo>
                    <a:pt x="95870" y="857250"/>
                  </a:lnTo>
                  <a:lnTo>
                    <a:pt x="128708" y="857250"/>
                  </a:lnTo>
                  <a:close/>
                </a:path>
                <a:path extrusionOk="0" h="857250" w="2122170">
                  <a:moveTo>
                    <a:pt x="2090166" y="567076"/>
                  </a:moveTo>
                  <a:lnTo>
                    <a:pt x="2090166" y="155448"/>
                  </a:lnTo>
                  <a:lnTo>
                    <a:pt x="2088642" y="240792"/>
                  </a:lnTo>
                  <a:lnTo>
                    <a:pt x="2084832" y="325374"/>
                  </a:lnTo>
                  <a:lnTo>
                    <a:pt x="2078736" y="408432"/>
                  </a:lnTo>
                  <a:lnTo>
                    <a:pt x="2073528" y="456938"/>
                  </a:lnTo>
                  <a:lnTo>
                    <a:pt x="2067335" y="505754"/>
                  </a:lnTo>
                  <a:lnTo>
                    <a:pt x="2060139" y="554809"/>
                  </a:lnTo>
                  <a:lnTo>
                    <a:pt x="2051922" y="604031"/>
                  </a:lnTo>
                  <a:lnTo>
                    <a:pt x="2042668" y="653351"/>
                  </a:lnTo>
                  <a:lnTo>
                    <a:pt x="2032359" y="702696"/>
                  </a:lnTo>
                  <a:lnTo>
                    <a:pt x="2020977" y="751995"/>
                  </a:lnTo>
                  <a:lnTo>
                    <a:pt x="2008507" y="801179"/>
                  </a:lnTo>
                  <a:lnTo>
                    <a:pt x="1994929" y="850175"/>
                  </a:lnTo>
                  <a:lnTo>
                    <a:pt x="1992795" y="857250"/>
                  </a:lnTo>
                  <a:lnTo>
                    <a:pt x="2026057" y="857250"/>
                  </a:lnTo>
                  <a:lnTo>
                    <a:pt x="2036938" y="818483"/>
                  </a:lnTo>
                  <a:lnTo>
                    <a:pt x="2049517" y="769555"/>
                  </a:lnTo>
                  <a:lnTo>
                    <a:pt x="2061034" y="720422"/>
                  </a:lnTo>
                  <a:lnTo>
                    <a:pt x="2071504" y="671144"/>
                  </a:lnTo>
                  <a:lnTo>
                    <a:pt x="2080944" y="621776"/>
                  </a:lnTo>
                  <a:lnTo>
                    <a:pt x="2089368" y="572377"/>
                  </a:lnTo>
                  <a:lnTo>
                    <a:pt x="2090166" y="567076"/>
                  </a:lnTo>
                  <a:close/>
                </a:path>
                <a:path extrusionOk="0" h="857250" w="2122170">
                  <a:moveTo>
                    <a:pt x="2122170" y="154686"/>
                  </a:moveTo>
                  <a:lnTo>
                    <a:pt x="2120646" y="68580"/>
                  </a:lnTo>
                  <a:lnTo>
                    <a:pt x="2117584" y="0"/>
                  </a:lnTo>
                  <a:lnTo>
                    <a:pt x="2085484" y="0"/>
                  </a:lnTo>
                  <a:lnTo>
                    <a:pt x="2088642" y="70104"/>
                  </a:lnTo>
                  <a:lnTo>
                    <a:pt x="2090166" y="155448"/>
                  </a:lnTo>
                  <a:lnTo>
                    <a:pt x="2090166" y="567076"/>
                  </a:lnTo>
                  <a:lnTo>
                    <a:pt x="2096794" y="523002"/>
                  </a:lnTo>
                  <a:lnTo>
                    <a:pt x="2103238" y="473710"/>
                  </a:lnTo>
                  <a:lnTo>
                    <a:pt x="2108715" y="424557"/>
                  </a:lnTo>
                  <a:lnTo>
                    <a:pt x="2113242" y="375600"/>
                  </a:lnTo>
                  <a:lnTo>
                    <a:pt x="2116836" y="326898"/>
                  </a:lnTo>
                  <a:lnTo>
                    <a:pt x="2120646" y="241554"/>
                  </a:lnTo>
                  <a:lnTo>
                    <a:pt x="2122170" y="154686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78"/>
            <p:cNvSpPr/>
            <p:nvPr/>
          </p:nvSpPr>
          <p:spPr>
            <a:xfrm>
              <a:off x="976142" y="5609393"/>
              <a:ext cx="7528716" cy="74035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78"/>
            <p:cNvSpPr/>
            <p:nvPr/>
          </p:nvSpPr>
          <p:spPr>
            <a:xfrm>
              <a:off x="1900172" y="5492495"/>
              <a:ext cx="1930400" cy="857250"/>
            </a:xfrm>
            <a:custGeom>
              <a:rect b="b" l="l" r="r" t="t"/>
              <a:pathLst>
                <a:path extrusionOk="0" h="857250" w="1930400">
                  <a:moveTo>
                    <a:pt x="623044" y="857250"/>
                  </a:moveTo>
                  <a:lnTo>
                    <a:pt x="558404" y="817063"/>
                  </a:lnTo>
                  <a:lnTo>
                    <a:pt x="517033" y="786575"/>
                  </a:lnTo>
                  <a:lnTo>
                    <a:pt x="477153" y="753618"/>
                  </a:lnTo>
                  <a:lnTo>
                    <a:pt x="433719" y="713994"/>
                  </a:lnTo>
                  <a:lnTo>
                    <a:pt x="400316" y="680046"/>
                  </a:lnTo>
                  <a:lnTo>
                    <a:pt x="368171" y="644605"/>
                  </a:lnTo>
                  <a:lnTo>
                    <a:pt x="337276" y="607757"/>
                  </a:lnTo>
                  <a:lnTo>
                    <a:pt x="307621" y="569591"/>
                  </a:lnTo>
                  <a:lnTo>
                    <a:pt x="279197" y="530197"/>
                  </a:lnTo>
                  <a:lnTo>
                    <a:pt x="251996" y="489662"/>
                  </a:lnTo>
                  <a:lnTo>
                    <a:pt x="226010" y="448076"/>
                  </a:lnTo>
                  <a:lnTo>
                    <a:pt x="201228" y="405526"/>
                  </a:lnTo>
                  <a:lnTo>
                    <a:pt x="177643" y="362102"/>
                  </a:lnTo>
                  <a:lnTo>
                    <a:pt x="155245" y="317892"/>
                  </a:lnTo>
                  <a:lnTo>
                    <a:pt x="134027" y="272985"/>
                  </a:lnTo>
                  <a:lnTo>
                    <a:pt x="113978" y="227469"/>
                  </a:lnTo>
                  <a:lnTo>
                    <a:pt x="95090" y="181433"/>
                  </a:lnTo>
                  <a:lnTo>
                    <a:pt x="77355" y="134966"/>
                  </a:lnTo>
                  <a:lnTo>
                    <a:pt x="60763" y="88155"/>
                  </a:lnTo>
                  <a:lnTo>
                    <a:pt x="45306" y="41091"/>
                  </a:lnTo>
                  <a:lnTo>
                    <a:pt x="32837" y="0"/>
                  </a:lnTo>
                  <a:lnTo>
                    <a:pt x="0" y="0"/>
                  </a:lnTo>
                  <a:lnTo>
                    <a:pt x="14938" y="49942"/>
                  </a:lnTo>
                  <a:lnTo>
                    <a:pt x="30124" y="96700"/>
                  </a:lnTo>
                  <a:lnTo>
                    <a:pt x="46384" y="143117"/>
                  </a:lnTo>
                  <a:lnTo>
                    <a:pt x="63739" y="189134"/>
                  </a:lnTo>
                  <a:lnTo>
                    <a:pt x="82211" y="234691"/>
                  </a:lnTo>
                  <a:lnTo>
                    <a:pt x="101820" y="279730"/>
                  </a:lnTo>
                  <a:lnTo>
                    <a:pt x="122590" y="324190"/>
                  </a:lnTo>
                  <a:lnTo>
                    <a:pt x="144540" y="368014"/>
                  </a:lnTo>
                  <a:lnTo>
                    <a:pt x="167693" y="411142"/>
                  </a:lnTo>
                  <a:lnTo>
                    <a:pt x="192069" y="453514"/>
                  </a:lnTo>
                  <a:lnTo>
                    <a:pt x="217691" y="495071"/>
                  </a:lnTo>
                  <a:lnTo>
                    <a:pt x="244580" y="535755"/>
                  </a:lnTo>
                  <a:lnTo>
                    <a:pt x="272757" y="575505"/>
                  </a:lnTo>
                  <a:lnTo>
                    <a:pt x="302244" y="614263"/>
                  </a:lnTo>
                  <a:lnTo>
                    <a:pt x="333062" y="651970"/>
                  </a:lnTo>
                  <a:lnTo>
                    <a:pt x="365233" y="688566"/>
                  </a:lnTo>
                  <a:lnTo>
                    <a:pt x="398778" y="723992"/>
                  </a:lnTo>
                  <a:lnTo>
                    <a:pt x="433719" y="758190"/>
                  </a:lnTo>
                  <a:lnTo>
                    <a:pt x="479439" y="797052"/>
                  </a:lnTo>
                  <a:lnTo>
                    <a:pt x="517472" y="826955"/>
                  </a:lnTo>
                  <a:lnTo>
                    <a:pt x="557086" y="854724"/>
                  </a:lnTo>
                  <a:lnTo>
                    <a:pt x="561158" y="857250"/>
                  </a:lnTo>
                  <a:lnTo>
                    <a:pt x="623044" y="857250"/>
                  </a:lnTo>
                  <a:close/>
                </a:path>
                <a:path extrusionOk="0" h="857250" w="1930400">
                  <a:moveTo>
                    <a:pt x="1930187" y="0"/>
                  </a:moveTo>
                  <a:lnTo>
                    <a:pt x="1896925" y="0"/>
                  </a:lnTo>
                  <a:lnTo>
                    <a:pt x="1884358" y="41663"/>
                  </a:lnTo>
                  <a:lnTo>
                    <a:pt x="1868516" y="90071"/>
                  </a:lnTo>
                  <a:lnTo>
                    <a:pt x="1851516" y="138079"/>
                  </a:lnTo>
                  <a:lnTo>
                    <a:pt x="1833340" y="185615"/>
                  </a:lnTo>
                  <a:lnTo>
                    <a:pt x="1813972" y="232609"/>
                  </a:lnTo>
                  <a:lnTo>
                    <a:pt x="1793394" y="278989"/>
                  </a:lnTo>
                  <a:lnTo>
                    <a:pt x="1771589" y="324685"/>
                  </a:lnTo>
                  <a:lnTo>
                    <a:pt x="1748540" y="369625"/>
                  </a:lnTo>
                  <a:lnTo>
                    <a:pt x="1724229" y="413738"/>
                  </a:lnTo>
                  <a:lnTo>
                    <a:pt x="1698639" y="456954"/>
                  </a:lnTo>
                  <a:lnTo>
                    <a:pt x="1671753" y="499201"/>
                  </a:lnTo>
                  <a:lnTo>
                    <a:pt x="1643554" y="540408"/>
                  </a:lnTo>
                  <a:lnTo>
                    <a:pt x="1614025" y="580505"/>
                  </a:lnTo>
                  <a:lnTo>
                    <a:pt x="1583148" y="619420"/>
                  </a:lnTo>
                  <a:lnTo>
                    <a:pt x="1550907" y="657081"/>
                  </a:lnTo>
                  <a:lnTo>
                    <a:pt x="1517283" y="693420"/>
                  </a:lnTo>
                  <a:lnTo>
                    <a:pt x="1474611" y="734568"/>
                  </a:lnTo>
                  <a:lnTo>
                    <a:pt x="1437254" y="767005"/>
                  </a:lnTo>
                  <a:lnTo>
                    <a:pt x="1398670" y="797405"/>
                  </a:lnTo>
                  <a:lnTo>
                    <a:pt x="1358838" y="825594"/>
                  </a:lnTo>
                  <a:lnTo>
                    <a:pt x="1317738" y="851397"/>
                  </a:lnTo>
                  <a:lnTo>
                    <a:pt x="1307066" y="857250"/>
                  </a:lnTo>
                  <a:lnTo>
                    <a:pt x="1367752" y="857250"/>
                  </a:lnTo>
                  <a:lnTo>
                    <a:pt x="1429428" y="813811"/>
                  </a:lnTo>
                  <a:lnTo>
                    <a:pt x="1467741" y="782767"/>
                  </a:lnTo>
                  <a:lnTo>
                    <a:pt x="1504652" y="749936"/>
                  </a:lnTo>
                  <a:lnTo>
                    <a:pt x="1540143" y="715518"/>
                  </a:lnTo>
                  <a:lnTo>
                    <a:pt x="1582053" y="669798"/>
                  </a:lnTo>
                  <a:lnTo>
                    <a:pt x="1613835" y="631895"/>
                  </a:lnTo>
                  <a:lnTo>
                    <a:pt x="1644296" y="592874"/>
                  </a:lnTo>
                  <a:lnTo>
                    <a:pt x="1673452" y="552794"/>
                  </a:lnTo>
                  <a:lnTo>
                    <a:pt x="1701319" y="511709"/>
                  </a:lnTo>
                  <a:lnTo>
                    <a:pt x="1727914" y="469679"/>
                  </a:lnTo>
                  <a:lnTo>
                    <a:pt x="1753252" y="426759"/>
                  </a:lnTo>
                  <a:lnTo>
                    <a:pt x="1777349" y="383008"/>
                  </a:lnTo>
                  <a:lnTo>
                    <a:pt x="1800222" y="338482"/>
                  </a:lnTo>
                  <a:lnTo>
                    <a:pt x="1821887" y="293237"/>
                  </a:lnTo>
                  <a:lnTo>
                    <a:pt x="1842360" y="247333"/>
                  </a:lnTo>
                  <a:lnTo>
                    <a:pt x="1861657" y="200825"/>
                  </a:lnTo>
                  <a:lnTo>
                    <a:pt x="1879794" y="153771"/>
                  </a:lnTo>
                  <a:lnTo>
                    <a:pt x="1896788" y="106227"/>
                  </a:lnTo>
                  <a:lnTo>
                    <a:pt x="1912654" y="58252"/>
                  </a:lnTo>
                  <a:lnTo>
                    <a:pt x="1927408" y="9901"/>
                  </a:lnTo>
                  <a:lnTo>
                    <a:pt x="1930187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78"/>
            <p:cNvSpPr/>
            <p:nvPr/>
          </p:nvSpPr>
          <p:spPr>
            <a:xfrm>
              <a:off x="4519067" y="6349745"/>
              <a:ext cx="3985791" cy="5617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78"/>
            <p:cNvSpPr/>
            <p:nvPr/>
          </p:nvSpPr>
          <p:spPr>
            <a:xfrm>
              <a:off x="2461330" y="6349745"/>
              <a:ext cx="807085" cy="125730"/>
            </a:xfrm>
            <a:custGeom>
              <a:rect b="b" l="l" r="r" t="t"/>
              <a:pathLst>
                <a:path extrusionOk="0" h="125729" w="807085">
                  <a:moveTo>
                    <a:pt x="806593" y="0"/>
                  </a:moveTo>
                  <a:lnTo>
                    <a:pt x="745907" y="0"/>
                  </a:lnTo>
                  <a:lnTo>
                    <a:pt x="714189" y="17392"/>
                  </a:lnTo>
                  <a:lnTo>
                    <a:pt x="670489" y="37904"/>
                  </a:lnTo>
                  <a:lnTo>
                    <a:pt x="625457" y="55510"/>
                  </a:lnTo>
                  <a:lnTo>
                    <a:pt x="579072" y="70036"/>
                  </a:lnTo>
                  <a:lnTo>
                    <a:pt x="531314" y="81309"/>
                  </a:lnTo>
                  <a:lnTo>
                    <a:pt x="482160" y="89154"/>
                  </a:lnTo>
                  <a:lnTo>
                    <a:pt x="429582" y="93726"/>
                  </a:lnTo>
                  <a:lnTo>
                    <a:pt x="377004" y="93726"/>
                  </a:lnTo>
                  <a:lnTo>
                    <a:pt x="325171" y="89321"/>
                  </a:lnTo>
                  <a:lnTo>
                    <a:pt x="274503" y="81041"/>
                  </a:lnTo>
                  <a:lnTo>
                    <a:pt x="225041" y="69061"/>
                  </a:lnTo>
                  <a:lnTo>
                    <a:pt x="176825" y="53557"/>
                  </a:lnTo>
                  <a:lnTo>
                    <a:pt x="129897" y="34704"/>
                  </a:lnTo>
                  <a:lnTo>
                    <a:pt x="84298" y="12679"/>
                  </a:lnTo>
                  <a:lnTo>
                    <a:pt x="61885" y="0"/>
                  </a:lnTo>
                  <a:lnTo>
                    <a:pt x="0" y="0"/>
                  </a:lnTo>
                  <a:lnTo>
                    <a:pt x="37006" y="22951"/>
                  </a:lnTo>
                  <a:lnTo>
                    <a:pt x="79434" y="45984"/>
                  </a:lnTo>
                  <a:lnTo>
                    <a:pt x="123095" y="66416"/>
                  </a:lnTo>
                  <a:lnTo>
                    <a:pt x="167873" y="84093"/>
                  </a:lnTo>
                  <a:lnTo>
                    <a:pt x="213650" y="98861"/>
                  </a:lnTo>
                  <a:lnTo>
                    <a:pt x="260312" y="110563"/>
                  </a:lnTo>
                  <a:lnTo>
                    <a:pt x="307741" y="119045"/>
                  </a:lnTo>
                  <a:lnTo>
                    <a:pt x="355821" y="124152"/>
                  </a:lnTo>
                  <a:lnTo>
                    <a:pt x="404436" y="125730"/>
                  </a:lnTo>
                  <a:lnTo>
                    <a:pt x="431868" y="124968"/>
                  </a:lnTo>
                  <a:lnTo>
                    <a:pt x="486732" y="121158"/>
                  </a:lnTo>
                  <a:lnTo>
                    <a:pt x="562298" y="107036"/>
                  </a:lnTo>
                  <a:lnTo>
                    <a:pt x="609932" y="94100"/>
                  </a:lnTo>
                  <a:lnTo>
                    <a:pt x="656288" y="77977"/>
                  </a:lnTo>
                  <a:lnTo>
                    <a:pt x="701347" y="58868"/>
                  </a:lnTo>
                  <a:lnTo>
                    <a:pt x="745093" y="36971"/>
                  </a:lnTo>
                  <a:lnTo>
                    <a:pt x="787507" y="12488"/>
                  </a:lnTo>
                  <a:lnTo>
                    <a:pt x="806593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1" name="Google Shape;731;p7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79"/>
          <p:cNvSpPr txBox="1"/>
          <p:nvPr>
            <p:ph type="title"/>
          </p:nvPr>
        </p:nvSpPr>
        <p:spPr>
          <a:xfrm>
            <a:off x="0" y="0"/>
            <a:ext cx="121920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1.9 The Program Counter and Program ROM Space</a:t>
            </a:r>
            <a:endParaRPr/>
          </a:p>
        </p:txBody>
      </p:sp>
      <p:sp>
        <p:nvSpPr>
          <p:cNvPr id="737" name="Google Shape;737;p79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Program Memory</a:t>
            </a:r>
            <a:endParaRPr b="1"/>
          </a:p>
        </p:txBody>
      </p:sp>
      <p:pic>
        <p:nvPicPr>
          <p:cNvPr id="738" name="Google Shape;738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7312" y="1226831"/>
            <a:ext cx="9290517" cy="4638762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7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80"/>
          <p:cNvSpPr txBox="1"/>
          <p:nvPr>
            <p:ph type="title"/>
          </p:nvPr>
        </p:nvSpPr>
        <p:spPr>
          <a:xfrm>
            <a:off x="0" y="0"/>
            <a:ext cx="121920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1.9 The Program Counter and Program ROM Space</a:t>
            </a:r>
            <a:endParaRPr/>
          </a:p>
        </p:txBody>
      </p:sp>
      <p:sp>
        <p:nvSpPr>
          <p:cNvPr id="745" name="Google Shape;745;p80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Program ROM Width for the PIC18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Byte addressable: each location holds only one  byte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CPU with 8-Bit will fetch one byte a time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Increasing the data bus will bring more information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Solution: Data bus between CPU and ROM can  be similar to traffic lanes on the highway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wide of Data path is 16 bit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Increase the processing power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Match the PIC18 instruction €single  cycle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br>
              <a:rPr lang="en-US"/>
            </a:br>
            <a:endParaRPr/>
          </a:p>
        </p:txBody>
      </p:sp>
      <p:sp>
        <p:nvSpPr>
          <p:cNvPr id="746" name="Google Shape;746;p8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81"/>
          <p:cNvSpPr txBox="1"/>
          <p:nvPr>
            <p:ph type="title"/>
          </p:nvPr>
        </p:nvSpPr>
        <p:spPr>
          <a:xfrm>
            <a:off x="0" y="0"/>
            <a:ext cx="11837324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1.9 The Program Counter and Program ROM Space</a:t>
            </a:r>
            <a:endParaRPr/>
          </a:p>
        </p:txBody>
      </p:sp>
      <p:sp>
        <p:nvSpPr>
          <p:cNvPr id="752" name="Google Shape;752;p81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Figure 2-12. Program ROM  Width for the PIC18</a:t>
            </a:r>
            <a:endParaRPr/>
          </a:p>
        </p:txBody>
      </p:sp>
      <p:pic>
        <p:nvPicPr>
          <p:cNvPr id="753" name="Google Shape;753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2794" y="1197466"/>
            <a:ext cx="9574986" cy="5083017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8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82"/>
          <p:cNvSpPr txBox="1"/>
          <p:nvPr>
            <p:ph type="title"/>
          </p:nvPr>
        </p:nvSpPr>
        <p:spPr>
          <a:xfrm>
            <a:off x="0" y="0"/>
            <a:ext cx="12003578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1.9 The Program Counter and Program ROM Space</a:t>
            </a:r>
            <a:endParaRPr/>
          </a:p>
        </p:txBody>
      </p:sp>
      <p:sp>
        <p:nvSpPr>
          <p:cNvPr id="760" name="Google Shape;760;p82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Little endian VS big endian war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low byte goes to the low memory  location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high byte goes to the high memory  location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Intel microprocessor and many microcontrollers use little endian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61" name="Google Shape;761;p8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83"/>
          <p:cNvSpPr txBox="1"/>
          <p:nvPr>
            <p:ph type="title"/>
          </p:nvPr>
        </p:nvSpPr>
        <p:spPr>
          <a:xfrm>
            <a:off x="0" y="0"/>
            <a:ext cx="12003578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1.9 The Program Counter and Program ROM Space</a:t>
            </a:r>
            <a:endParaRPr/>
          </a:p>
        </p:txBody>
      </p:sp>
      <p:sp>
        <p:nvSpPr>
          <p:cNvPr id="767" name="Google Shape;767;p83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Figure 2-13. PIC18 Program ROM  Contents for Program 2-1 List File</a:t>
            </a:r>
            <a:endParaRPr/>
          </a:p>
        </p:txBody>
      </p:sp>
      <p:sp>
        <p:nvSpPr>
          <p:cNvPr id="768" name="Google Shape;768;p83"/>
          <p:cNvSpPr/>
          <p:nvPr/>
        </p:nvSpPr>
        <p:spPr>
          <a:xfrm>
            <a:off x="2859578" y="1529542"/>
            <a:ext cx="4688377" cy="445562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8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84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1.10 RISC Architecture in the PIC18</a:t>
            </a:r>
            <a:endParaRPr/>
          </a:p>
        </p:txBody>
      </p:sp>
      <p:sp>
        <p:nvSpPr>
          <p:cNvPr id="775" name="Google Shape;775;p84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Harvard Architecture in the  PIC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Von Neumann Architecture: uses the same  bus for accessing both the code and data  memory.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Slow down the processing speed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Get in each other’s way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Harvard Architecture: uses separate buses  for accessing the code and data memory.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Inexpensive for a chip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76" name="Google Shape;776;p8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85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1.10 RISC Architecture in the PIC18</a:t>
            </a:r>
            <a:endParaRPr/>
          </a:p>
        </p:txBody>
      </p:sp>
      <p:sp>
        <p:nvSpPr>
          <p:cNvPr id="782" name="Google Shape;782;p85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Figure 2-14. von Neumann vs.  Harvard Architecture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783" name="Google Shape;783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2346" y="1272280"/>
            <a:ext cx="6968403" cy="4828021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8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86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1.10 RISC Architecture in the PIC18</a:t>
            </a:r>
            <a:endParaRPr/>
          </a:p>
        </p:txBody>
      </p:sp>
      <p:sp>
        <p:nvSpPr>
          <p:cNvPr id="790" name="Google Shape;790;p86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RISC Architecture in the PIC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increase the processing power of the  CPU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Increase the clock frequency of the chip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Use Harvard architecture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change the internal architecture of the CPU  and use what is called RISC architecture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91" name="Google Shape;791;p8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87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1.10 RISC Architecture in the PIC18</a:t>
            </a:r>
            <a:endParaRPr/>
          </a:p>
        </p:txBody>
      </p:sp>
      <p:sp>
        <p:nvSpPr>
          <p:cNvPr id="797" name="Google Shape;797;p87"/>
          <p:cNvSpPr txBox="1"/>
          <p:nvPr>
            <p:ph idx="1" type="body"/>
          </p:nvPr>
        </p:nvSpPr>
        <p:spPr>
          <a:xfrm>
            <a:off x="0" y="811942"/>
            <a:ext cx="475488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RISC Architecture in the PIC</a:t>
            </a:r>
            <a:endParaRPr/>
          </a:p>
          <a:p>
            <a:pPr indent="0" lvl="0" marL="1206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chemeClr val="dk1"/>
              </a:buClr>
              <a:buSzPts val="2350"/>
              <a:buNone/>
            </a:pPr>
            <a:r>
              <a:rPr b="1" lang="en-US"/>
              <a:t>RISC</a:t>
            </a:r>
            <a:endParaRPr/>
          </a:p>
          <a:p>
            <a:pPr indent="-457200" lvl="0" marL="469265" marR="76644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chemeClr val="dk1"/>
              </a:buClr>
              <a:buSzPts val="2350"/>
              <a:buChar char="•"/>
            </a:pPr>
            <a:r>
              <a:rPr lang="en-US"/>
              <a:t>Simple and Small  instruction set</a:t>
            </a:r>
            <a:endParaRPr/>
          </a:p>
          <a:p>
            <a:pPr indent="-457200" lvl="0" marL="469265" marR="48831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2350"/>
              <a:buChar char="•"/>
            </a:pPr>
            <a:r>
              <a:rPr lang="en-US"/>
              <a:t>Regular and fixed  instruction format</a:t>
            </a:r>
            <a:endParaRPr/>
          </a:p>
          <a:p>
            <a:pPr indent="-457200" lvl="0" marL="469265" marR="104140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chemeClr val="dk1"/>
              </a:buClr>
              <a:buSzPts val="2350"/>
              <a:buChar char="•"/>
            </a:pPr>
            <a:r>
              <a:rPr lang="en-US"/>
              <a:t>Simple address  modes</a:t>
            </a:r>
            <a:endParaRPr/>
          </a:p>
          <a:p>
            <a:pPr indent="-457200" lvl="0" marL="469265" marR="508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2350"/>
              <a:buChar char="•"/>
            </a:pPr>
            <a:r>
              <a:rPr lang="en-US"/>
              <a:t>Pipelined instruction  execution --&gt; 95%  executed in one cycle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98" name="Google Shape;798;p87"/>
          <p:cNvSpPr txBox="1"/>
          <p:nvPr/>
        </p:nvSpPr>
        <p:spPr>
          <a:xfrm>
            <a:off x="5985163" y="766210"/>
            <a:ext cx="4530437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3676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350"/>
              <a:buFont typeface="Noto Sans Symbols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chemeClr val="dk1"/>
              </a:buClr>
              <a:buSzPts val="235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CISC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69900" marR="53022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chemeClr val="dk1"/>
              </a:buClr>
              <a:buSzPts val="235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 and large  instruction set</a:t>
            </a:r>
            <a:endParaRPr/>
          </a:p>
          <a:p>
            <a:pPr indent="-457200" lvl="0" marL="469900" marR="62864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235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Irregular instruction  format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69900" marR="73342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chemeClr val="dk1"/>
              </a:buClr>
              <a:buSzPts val="235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 address  modes</a:t>
            </a:r>
            <a:endParaRPr/>
          </a:p>
          <a:p>
            <a:pPr indent="-457200" lvl="0" marL="469900" marR="508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235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May also pipeline  instruction execution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9" name="Google Shape;799;p8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88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1.10 RISC Architecture in the PIC18</a:t>
            </a:r>
            <a:endParaRPr/>
          </a:p>
        </p:txBody>
      </p:sp>
      <p:sp>
        <p:nvSpPr>
          <p:cNvPr id="805" name="Google Shape;805;p88"/>
          <p:cNvSpPr txBox="1"/>
          <p:nvPr>
            <p:ph idx="1" type="body"/>
          </p:nvPr>
        </p:nvSpPr>
        <p:spPr>
          <a:xfrm>
            <a:off x="0" y="811942"/>
            <a:ext cx="5619404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RISC Architecture in the PIC</a:t>
            </a:r>
            <a:endParaRPr/>
          </a:p>
          <a:p>
            <a:pPr indent="0" lvl="0" marL="1206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chemeClr val="dk1"/>
              </a:buClr>
              <a:buSzPts val="2350"/>
              <a:buNone/>
            </a:pPr>
            <a:r>
              <a:rPr b="1" lang="en-US"/>
              <a:t>RISC</a:t>
            </a:r>
            <a:endParaRPr/>
          </a:p>
          <a:p>
            <a:pPr indent="-457200" lvl="0" marL="469265" marR="76644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chemeClr val="dk1"/>
              </a:buClr>
              <a:buSzPts val="2350"/>
              <a:buChar char="•"/>
            </a:pPr>
            <a:r>
              <a:rPr lang="en-US"/>
              <a:t>Provide large number  of CPU registers</a:t>
            </a:r>
            <a:endParaRPr/>
          </a:p>
          <a:p>
            <a:pPr indent="-457200" lvl="0" marL="469265" marR="76644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chemeClr val="dk1"/>
              </a:buClr>
              <a:buSzPts val="2350"/>
              <a:buChar char="•"/>
            </a:pPr>
            <a:r>
              <a:rPr lang="en-US"/>
              <a:t>Separated data and  program memory</a:t>
            </a:r>
            <a:endParaRPr/>
          </a:p>
          <a:p>
            <a:pPr indent="-457200" lvl="0" marL="469265" marR="76644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chemeClr val="dk1"/>
              </a:buClr>
              <a:buSzPts val="2350"/>
              <a:buChar char="•"/>
            </a:pPr>
            <a:r>
              <a:rPr lang="en-US"/>
              <a:t>Most operations are  register to register</a:t>
            </a:r>
            <a:endParaRPr/>
          </a:p>
          <a:p>
            <a:pPr indent="-457200" lvl="0" marL="469265" marR="76644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chemeClr val="dk1"/>
              </a:buClr>
              <a:buSzPts val="2350"/>
              <a:buChar char="•"/>
            </a:pPr>
            <a:r>
              <a:rPr lang="en-US"/>
              <a:t>Take shorter time to  design and debug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806" name="Google Shape;806;p88"/>
          <p:cNvSpPr txBox="1"/>
          <p:nvPr/>
        </p:nvSpPr>
        <p:spPr>
          <a:xfrm>
            <a:off x="5985163" y="766210"/>
            <a:ext cx="545315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3676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350"/>
              <a:buFont typeface="Noto Sans Symbols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chemeClr val="dk1"/>
              </a:buClr>
              <a:buSzPts val="235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CISC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69900" marR="53022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chemeClr val="dk1"/>
              </a:buClr>
              <a:buSzPts val="235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smaller number  of CPU registers</a:t>
            </a:r>
            <a:endParaRPr/>
          </a:p>
          <a:p>
            <a:pPr indent="-457200" lvl="0" marL="469900" marR="53022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chemeClr val="dk1"/>
              </a:buClr>
              <a:buSzPts val="235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Combined data and  program memory</a:t>
            </a:r>
            <a:endParaRPr/>
          </a:p>
          <a:p>
            <a:pPr indent="-457200" lvl="0" marL="469900" marR="53022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chemeClr val="dk1"/>
              </a:buClr>
              <a:buSzPts val="235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operations can be  register to memory</a:t>
            </a:r>
            <a:endParaRPr/>
          </a:p>
          <a:p>
            <a:pPr indent="-457200" lvl="0" marL="469900" marR="53022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chemeClr val="dk1"/>
              </a:buClr>
              <a:buSzPts val="235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Take longer time to  design and debug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7" name="Google Shape;807;p8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89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813" name="Google Shape;813;p89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have Compared  between microprocessor and microcontroller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have described the  advantages of microcontroller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have given a simple introduction for PIC18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PIC18 instruction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Move, Add, Subtract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814" name="Google Shape;814;p8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90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Review questions</a:t>
            </a:r>
            <a:endParaRPr/>
          </a:p>
        </p:txBody>
      </p:sp>
      <p:sp>
        <p:nvSpPr>
          <p:cNvPr id="820" name="Google Shape;820;p90"/>
          <p:cNvSpPr txBox="1"/>
          <p:nvPr>
            <p:ph idx="1" type="body"/>
          </p:nvPr>
        </p:nvSpPr>
        <p:spPr>
          <a:xfrm>
            <a:off x="0" y="792152"/>
            <a:ext cx="6450676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Write instruction to move value 34H into the WREG register.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Write instruction to add the value 16H and CDH. Place the result in the WREG register.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True or False. Data space in PIC is SRAM memory, whereas program space is of the ROM type.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Write instruction to add the value 16H and CDH. Place the result in the location 0 of the file register.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21" name="Google Shape;821;p9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2" name="Google Shape;822;p90"/>
          <p:cNvSpPr txBox="1"/>
          <p:nvPr/>
        </p:nvSpPr>
        <p:spPr>
          <a:xfrm>
            <a:off x="6332912" y="792151"/>
            <a:ext cx="5951913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Find the C, Z and DC flag bits for the following code</a:t>
            </a:r>
            <a:endParaRPr/>
          </a:p>
          <a:p>
            <a:pPr indent="-36322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322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322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 startAt="6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 the value in WREG for the following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MYCOUNT EQU 15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MOVLW MYCOUNT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Give the value in fileReg 0x20 for the following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MYCOUNT EQU 0x95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MYCOUNT EQU 0x20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MOVLW MYCOUNT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MOVWF MYREG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322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23" name="Google Shape;823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114" y="1343991"/>
            <a:ext cx="3495272" cy="1068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91"/>
          <p:cNvSpPr txBox="1"/>
          <p:nvPr>
            <p:ph type="title"/>
          </p:nvPr>
        </p:nvSpPr>
        <p:spPr>
          <a:xfrm>
            <a:off x="0" y="0"/>
            <a:ext cx="10515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/>
              <a:t>Review questions</a:t>
            </a:r>
            <a:endParaRPr/>
          </a:p>
        </p:txBody>
      </p:sp>
      <p:sp>
        <p:nvSpPr>
          <p:cNvPr id="830" name="Google Shape;830;p9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1" name="Google Shape;831;p91"/>
          <p:cNvSpPr txBox="1"/>
          <p:nvPr>
            <p:ph idx="1" type="body"/>
          </p:nvPr>
        </p:nvSpPr>
        <p:spPr>
          <a:xfrm>
            <a:off x="0" y="811942"/>
            <a:ext cx="12192000" cy="5468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8. Give the value in fileReg 0x63 for the following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MYCOUNT EQU D’12’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MYCOUNT EQU 0x63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MYCOUNT EQU 0x10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MOVLW MYDATA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ADDLW FACTOR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MOVWF MYREG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9. The instruction “MOVLW 44H” is a _____-byte instruction.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10. The CISC architecture executes the vast majority of its instruction in 2,3, or more clock cycles, while RISC executes them in one clock. True or False?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emevku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2021-12-16T01:10:58Z</dcterms:created>
  <dc:creator>Admin</dc:creator>
</cp:coreProperties>
</file>