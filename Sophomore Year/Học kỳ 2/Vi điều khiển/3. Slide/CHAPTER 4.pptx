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66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48" r:id="rId86"/>
    <p:sldId id="349" r:id="rId87"/>
    <p:sldId id="350" r:id="rId88"/>
    <p:sldId id="351" r:id="rId89"/>
    <p:sldId id="352" r:id="rId90"/>
    <p:sldId id="353" r:id="rId91"/>
    <p:sldId id="354" r:id="rId92"/>
    <p:sldId id="355" r:id="rId93"/>
    <p:sldId id="356" r:id="rId94"/>
    <p:sldId id="357" r:id="rId95"/>
    <p:sldId id="358" r:id="rId96"/>
    <p:sldId id="359" r:id="rId97"/>
    <p:sldId id="360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8584" autoAdjust="0"/>
  </p:normalViewPr>
  <p:slideViewPr>
    <p:cSldViewPr snapToGrid="0">
      <p:cViewPr varScale="1">
        <p:scale>
          <a:sx n="53" d="100"/>
          <a:sy n="53" d="100"/>
        </p:scale>
        <p:origin x="10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69E262-AC4C-4B7A-ADC6-6007ED918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72112F4-D35C-410B-91EC-4FE6F7195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79324D-0446-4F16-A839-924D8A2B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73E383-08A0-4BDF-80F9-577BE740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6EA5BC-C7FE-4425-A443-77275EF6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2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724980-BF35-4A49-8D81-AECE2637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3400"/>
          </a:xfrm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795748-6D0C-4A53-BC50-FC1E202E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1942"/>
            <a:ext cx="12192000" cy="5468541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07337-B443-4BD0-825C-61BF83FC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E36922-3BFD-4B83-93D2-3A49A46E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908070-017C-4F44-BFFD-FC98AD5A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5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0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4" y="16328"/>
            <a:ext cx="9629094" cy="64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988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8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A81804-498D-4E69-AD37-B628C2FB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9426D9-177C-42CA-B5AA-189C9CD4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CEABB9-4F57-4FAF-B7E5-86EB1642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B093DB-344E-4593-9A83-11B6874F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BE9DB-5A83-447B-B009-31608127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9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5E839-DE65-4CAB-B3CE-B6787730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F086A7-4BC5-4570-AE26-D8AA1652F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1325563"/>
            <a:ext cx="6071937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A88F1F-9CC7-4106-8C68-BF579089D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1937" y="1325563"/>
            <a:ext cx="6272463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288B53-A651-4336-B770-344B1E20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70CF91C-C248-4A8B-A893-7F52D55A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CF278CD-1478-4D00-B646-CC9F4D6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4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4B7060-DFDF-4549-B5F1-5947FAE2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5F5FE2-55FC-44E0-9092-5B885706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BD35F6A-63D9-4832-80CC-38428452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6BF4741-D763-4DC6-B7E9-6EB3D9A4C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EDA4651-74F8-47BD-B89F-4F9C08501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FA191C2-CE7E-48BF-97CF-289362B6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0DC2448-1BCA-4E45-939A-A3528F1F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78526AD-4B2F-4F99-9EED-6B6199E3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FF6D6A-5EDF-4047-9E54-4728D150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3855F7-40C2-4B53-87CF-0DB6BBE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CEA971A-6A7E-47DC-9043-B082EA5A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2227C2-5BF9-4B9A-84BC-BFF9DA42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8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9B45176-22FF-4961-8952-A67A54CB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315661-A99E-49FD-BA38-7F267735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4C59D72-3A2F-495E-8B2C-3A7EEEE1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0E4A89-3D7B-42B4-9E6E-F3149D8D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3C0B0C-FF1F-413C-92E3-F557F43B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8F98F7E-248C-4F47-AC0E-AAE1C761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D2552F0-2AC8-4BCB-9F52-0BBC85EF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3274349-E594-4DF3-B059-2B4269B1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3133C74-FB69-48DA-B2A7-F8BD6DF1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69F0D-C54A-4FDC-B3DC-DAD517F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26B7E17-F590-46EA-B1D1-F719E9727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A1D0057-40C6-42C4-BDAC-F64C3D26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4F7D14-3148-4C96-95A6-EDADD311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AEE2927-EBDB-4128-8B13-B2D4DDFC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0423B5A-4E7E-4DB2-AFC0-3F36C12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7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3763F9-EA5C-486C-A37E-D7713527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467F49-C68D-462B-87CB-8F67E37CA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F95383-E7C3-4CB5-80AA-C610D683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159819-1C43-48D9-B06D-128C5DD6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324824-5F31-4078-9A59-E89EDEBF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80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FD09853-61E0-4390-8E9F-80EC16364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01FD2A-5714-4A54-AC83-4D08E66B3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734179-3DE8-484B-BB9C-6FB8FF4B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9F180E-CEC1-4CC3-88B7-9723E5DF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6EB187-43D3-484D-8653-C7F3837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03832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762000"/>
            <a:ext cx="9880600" cy="4525963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272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46FC957-9CD9-4A6B-A1C0-98873B748648}" type="datetimeFigureOut">
              <a:rPr lang="en-US" smtClean="0"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8051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9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F3EDDC8-ED0E-42EA-81CC-C9B6D0A2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89F308-4027-4851-80A5-ABE205ADC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25563"/>
            <a:ext cx="113538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33D7B0-FAB5-4C79-BEC0-D607420B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55B2B-8FF6-4CE5-90AA-76D6BA7D8DE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79744" b="81688"/>
          <a:stretch/>
        </p:blipFill>
        <p:spPr bwMode="auto">
          <a:xfrm>
            <a:off x="10586677" y="104930"/>
            <a:ext cx="802443" cy="48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80" y="104930"/>
            <a:ext cx="9250136" cy="4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5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Chapter 4.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Timer, Serial Port and interrupt in Assembly and C</a:t>
            </a:r>
          </a:p>
        </p:txBody>
      </p:sp>
    </p:spTree>
    <p:extLst>
      <p:ext uri="{BB962C8B-B14F-4D97-AF65-F5344CB8AC3E}">
        <p14:creationId xmlns:p14="http://schemas.microsoft.com/office/powerpoint/2010/main" val="306299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dirty="0" smtClean="0"/>
              <a:t>4.1.  Programming Timer 0, 1, 2. 3</a:t>
            </a:r>
          </a:p>
          <a:p>
            <a:pPr lvl="1">
              <a:defRPr/>
            </a:pPr>
            <a:r>
              <a:rPr lang="en-US" dirty="0" smtClean="0"/>
              <a:t>Programming Timer 0 and 1 in C</a:t>
            </a:r>
          </a:p>
          <a:p>
            <a:pPr marL="0" indent="0">
              <a:buNone/>
              <a:defRPr/>
            </a:pPr>
            <a:r>
              <a:rPr lang="en-US" dirty="0" smtClean="0"/>
              <a:t>4.2. Counter programming </a:t>
            </a:r>
          </a:p>
          <a:p>
            <a:pPr marL="0" indent="0">
              <a:buNone/>
              <a:defRPr/>
            </a:pPr>
            <a:r>
              <a:rPr lang="en-US" dirty="0" smtClean="0"/>
              <a:t>4.3. Serial communication</a:t>
            </a:r>
          </a:p>
          <a:p>
            <a:pPr marL="0" indent="0">
              <a:buNone/>
              <a:defRPr/>
            </a:pPr>
            <a:r>
              <a:rPr lang="en-US" dirty="0" smtClean="0"/>
              <a:t>4.4.Interrupts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7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42210" y="469232"/>
            <a:ext cx="10515600" cy="803400"/>
          </a:xfrm>
        </p:spPr>
        <p:txBody>
          <a:bodyPr/>
          <a:lstStyle/>
          <a:p>
            <a:r>
              <a:rPr lang="en-US" altLang="en-US" dirty="0" smtClean="0"/>
              <a:t>PIC 18 TIMER PROGRAMMMING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76727" y="1726342"/>
            <a:ext cx="12192000" cy="5468541"/>
          </a:xfrm>
        </p:spPr>
        <p:txBody>
          <a:bodyPr/>
          <a:lstStyle/>
          <a:p>
            <a:r>
              <a:rPr lang="en-US" altLang="en-US" dirty="0" smtClean="0"/>
              <a:t>Upon completion of this </a:t>
            </a:r>
            <a:r>
              <a:rPr lang="en-US" altLang="en-US" dirty="0" smtClean="0"/>
              <a:t>section, </a:t>
            </a:r>
            <a:r>
              <a:rPr lang="en-US" altLang="en-US" dirty="0" smtClean="0"/>
              <a:t>you will able to:</a:t>
            </a:r>
          </a:p>
          <a:p>
            <a:pPr lvl="1"/>
            <a:r>
              <a:rPr lang="en-US" altLang="en-US" dirty="0" smtClean="0"/>
              <a:t>List the timers of the PIC18 and their associated registers</a:t>
            </a:r>
          </a:p>
          <a:p>
            <a:pPr lvl="1"/>
            <a:r>
              <a:rPr lang="en-US" altLang="en-US" dirty="0" smtClean="0"/>
              <a:t>Describe the various modes of the PIC timers</a:t>
            </a:r>
          </a:p>
          <a:p>
            <a:pPr lvl="1"/>
            <a:r>
              <a:rPr lang="en-US" altLang="en-US" dirty="0" smtClean="0"/>
              <a:t>Program the PIC18 timers in Assembly and C to generate time delays</a:t>
            </a:r>
          </a:p>
          <a:p>
            <a:pPr lvl="1"/>
            <a:r>
              <a:rPr lang="en-US" altLang="en-US" dirty="0" smtClean="0"/>
              <a:t>Program the PIC18 counters in Assembly and C as event counters</a:t>
            </a:r>
          </a:p>
        </p:txBody>
      </p:sp>
    </p:spTree>
    <p:extLst>
      <p:ext uri="{BB962C8B-B14F-4D97-AF65-F5344CB8AC3E}">
        <p14:creationId xmlns:p14="http://schemas.microsoft.com/office/powerpoint/2010/main" val="146977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522972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Timer 0 High and Low Registers</a:t>
            </a:r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175001"/>
            <a:ext cx="6972300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2"/>
          <p:cNvSpPr txBox="1">
            <a:spLocks noChangeArrowheads="1"/>
          </p:cNvSpPr>
          <p:nvPr/>
        </p:nvSpPr>
        <p:spPr bwMode="auto">
          <a:xfrm>
            <a:off x="1600200" y="304800"/>
            <a:ext cx="8991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4.1. </a:t>
            </a:r>
            <a:r>
              <a:rPr lang="en-US" altLang="en-US" sz="4400" b="1">
                <a:solidFill>
                  <a:schemeClr val="tx2"/>
                </a:solidFill>
              </a:rPr>
              <a:t>Programming Timer 0 and 1</a:t>
            </a:r>
          </a:p>
        </p:txBody>
      </p:sp>
      <p:sp>
        <p:nvSpPr>
          <p:cNvPr id="717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838200"/>
          </a:xfrm>
        </p:spPr>
        <p:txBody>
          <a:bodyPr/>
          <a:lstStyle/>
          <a:p>
            <a:r>
              <a:rPr lang="en-US" altLang="en-US" b="1" smtClean="0">
                <a:solidFill>
                  <a:srgbClr val="FF0000"/>
                </a:solidFill>
              </a:rPr>
              <a:t>Basic registers of the timer</a:t>
            </a:r>
          </a:p>
        </p:txBody>
      </p:sp>
    </p:spTree>
    <p:extLst>
      <p:ext uri="{BB962C8B-B14F-4D97-AF65-F5344CB8AC3E}">
        <p14:creationId xmlns:p14="http://schemas.microsoft.com/office/powerpoint/2010/main" val="195728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T0CON (Timer0 Control) Register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484" y="1099387"/>
            <a:ext cx="50292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21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INTCON (Interrupt Control Register) has the TMR0IF Flag</a:t>
            </a: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481264"/>
            <a:ext cx="50292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187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Timer0 Overflow Flag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828801"/>
            <a:ext cx="57912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931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16-bit timer programming</a:t>
            </a:r>
          </a:p>
        </p:txBody>
      </p:sp>
      <p:pic>
        <p:nvPicPr>
          <p:cNvPr id="1126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706" y="1143000"/>
            <a:ext cx="8975558" cy="4186823"/>
          </a:xfrm>
        </p:spPr>
      </p:pic>
    </p:spTree>
    <p:extLst>
      <p:ext uri="{BB962C8B-B14F-4D97-AF65-F5344CB8AC3E}">
        <p14:creationId xmlns:p14="http://schemas.microsoft.com/office/powerpoint/2010/main" val="183032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12" y="1142999"/>
            <a:ext cx="8259762" cy="3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7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mtClean="0"/>
              <a:t>Timer0 16-bit Block Diagram</a:t>
            </a:r>
            <a:endParaRPr lang="en-US" altLang="en-US" smtClean="0"/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05001"/>
            <a:ext cx="720090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135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4876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Timer Delay Calculation for XTAL = 10 MHz with No Prescaler</a:t>
            </a:r>
            <a:r>
              <a:rPr lang="en-US" altLang="en-US" smtClean="0"/>
              <a:t>	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133600"/>
            <a:ext cx="6858000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043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Finding value to bet loaded into the timer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 smtClean="0"/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7" y="1828801"/>
            <a:ext cx="10359190" cy="397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004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Using the windows calculator to find TH, TL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1638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95" y="1676401"/>
            <a:ext cx="10335126" cy="4002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318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0379" y="5097378"/>
            <a:ext cx="8229600" cy="1143000"/>
          </a:xfrm>
        </p:spPr>
        <p:txBody>
          <a:bodyPr/>
          <a:lstStyle/>
          <a:p>
            <a:pPr eaLnBrk="1" hangingPunct="1"/>
            <a:r>
              <a:rPr lang="sv-SE" altLang="en-US" sz="3600" dirty="0"/>
              <a:t>Timer0 8-bit Block Diagram</a:t>
            </a:r>
            <a:endParaRPr lang="en-US" altLang="en-US" sz="3600" dirty="0"/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011" y="1676400"/>
            <a:ext cx="9492915" cy="3420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2"/>
          <p:cNvSpPr txBox="1">
            <a:spLocks noChangeArrowheads="1"/>
          </p:cNvSpPr>
          <p:nvPr/>
        </p:nvSpPr>
        <p:spPr bwMode="auto">
          <a:xfrm>
            <a:off x="18288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v-SE" altLang="en-US" sz="3600" b="1">
                <a:solidFill>
                  <a:srgbClr val="FF0000"/>
                </a:solidFill>
              </a:rPr>
              <a:t>8-bit mode programming of Timer0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6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Step to program 8-bit of Timer 0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 smtClean="0"/>
          </a:p>
        </p:txBody>
      </p:sp>
      <p:pic>
        <p:nvPicPr>
          <p:cNvPr id="1843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4" y="1981201"/>
            <a:ext cx="1040731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63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Timer1 Programming</a:t>
            </a:r>
          </a:p>
        </p:txBody>
      </p:sp>
      <p:pic>
        <p:nvPicPr>
          <p:cNvPr id="194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9" y="1851025"/>
            <a:ext cx="67151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2"/>
          <p:cNvSpPr txBox="1">
            <a:spLocks noChangeArrowheads="1"/>
          </p:cNvSpPr>
          <p:nvPr/>
        </p:nvSpPr>
        <p:spPr bwMode="auto">
          <a:xfrm>
            <a:off x="2209800" y="403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Timer1 High and Low Registers</a:t>
            </a:r>
          </a:p>
        </p:txBody>
      </p:sp>
    </p:spTree>
    <p:extLst>
      <p:ext uri="{BB962C8B-B14F-4D97-AF65-F5344CB8AC3E}">
        <p14:creationId xmlns:p14="http://schemas.microsoft.com/office/powerpoint/2010/main" val="414856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4648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Timer1 Block Diagram</a:t>
            </a:r>
          </a:p>
        </p:txBody>
      </p:sp>
      <p:pic>
        <p:nvPicPr>
          <p:cNvPr id="2048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0"/>
            <a:ext cx="661035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15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T1CON (Timer 1 Control ) Register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24000"/>
            <a:ext cx="5029200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182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4875" y="4800600"/>
            <a:ext cx="10816388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Interrupt Control Register 1 Contains the TMR1IF Flag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42" y="1297156"/>
            <a:ext cx="9432757" cy="2721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399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 Question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235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752601"/>
            <a:ext cx="7343775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5515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Programming Timer 0 and 1 in C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Accessing timer in C</a:t>
            </a:r>
          </a:p>
          <a:p>
            <a:pPr lvl="1"/>
            <a:r>
              <a:rPr lang="en-US" altLang="en-US" smtClean="0"/>
              <a:t>Example 9-28: show how to access the TMR0ON and TMR0IF flag bits</a:t>
            </a:r>
          </a:p>
          <a:p>
            <a:r>
              <a:rPr lang="en-US" altLang="en-US" smtClean="0"/>
              <a:t>Calculating delay length using timers</a:t>
            </a:r>
          </a:p>
          <a:p>
            <a:pPr lvl="1"/>
            <a:r>
              <a:rPr lang="en-US" altLang="en-US" smtClean="0"/>
              <a:t>The delay depends on two factor(a)Crystal freq, (b) the pre-scaler (c) various C compilers generate different hex code sizes</a:t>
            </a:r>
          </a:p>
          <a:p>
            <a:pPr lvl="1"/>
            <a:r>
              <a:rPr lang="en-US" altLang="en-US" smtClean="0"/>
              <a:t>Study example 9-28 through 9-33 and verify them using an oscilloscope.</a:t>
            </a:r>
          </a:p>
        </p:txBody>
      </p:sp>
    </p:spTree>
    <p:extLst>
      <p:ext uri="{BB962C8B-B14F-4D97-AF65-F5344CB8AC3E}">
        <p14:creationId xmlns:p14="http://schemas.microsoft.com/office/powerpoint/2010/main" val="2951775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400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 Programming of Timer 0 and 1 as counter</a:t>
            </a:r>
          </a:p>
          <a:p>
            <a:pPr lvl="1"/>
            <a:r>
              <a:rPr lang="en-US" altLang="en-US" smtClean="0"/>
              <a:t>Example 9-34 through 9-37 to see how Timer0 and 1 are programmed as counters using C language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568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PROGRAMMING TIMER2 AND 3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55468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9339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Timer2 Block Diagram</a:t>
            </a: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9" y="1447800"/>
            <a:ext cx="5343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2"/>
          <p:cNvSpPr txBox="1">
            <a:spLocks noChangeArrowheads="1"/>
          </p:cNvSpPr>
          <p:nvPr/>
        </p:nvSpPr>
        <p:spPr bwMode="auto">
          <a:xfrm>
            <a:off x="17526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Timer2 programming</a:t>
            </a:r>
          </a:p>
        </p:txBody>
      </p:sp>
    </p:spTree>
    <p:extLst>
      <p:ext uri="{BB962C8B-B14F-4D97-AF65-F5344CB8AC3E}">
        <p14:creationId xmlns:p14="http://schemas.microsoft.com/office/powerpoint/2010/main" val="1500076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PIR1 (Peripheral Interrupt Flag Register 1) Contains TMR2IF Flag</a:t>
            </a: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86039"/>
            <a:ext cx="50292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65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T2CON (Timer2 Control) Register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17639"/>
            <a:ext cx="5943600" cy="454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321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471614"/>
            <a:ext cx="6553200" cy="478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0729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Timer3 Programming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Timer3 is a 16-bit timer can be used as timer or counter</a:t>
            </a:r>
          </a:p>
          <a:p>
            <a:pPr lvl="1"/>
            <a:r>
              <a:rPr lang="en-US" altLang="en-US" smtClean="0"/>
              <a:t>Is split into 2 bytes referred to as TMR3L and TMR3H</a:t>
            </a:r>
          </a:p>
        </p:txBody>
      </p:sp>
    </p:spTree>
    <p:extLst>
      <p:ext uri="{BB962C8B-B14F-4D97-AF65-F5344CB8AC3E}">
        <p14:creationId xmlns:p14="http://schemas.microsoft.com/office/powerpoint/2010/main" val="1281073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T3CON (Timer3 Control) Register</a:t>
            </a:r>
          </a:p>
        </p:txBody>
      </p:sp>
      <p:pic>
        <p:nvPicPr>
          <p:cNvPr id="327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30313"/>
            <a:ext cx="5029200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1196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PIR2 (Peripheral Interrupt Flag Register 2) Contains the TMR3IF Flag</a:t>
            </a:r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71714"/>
            <a:ext cx="5029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1582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Timer3 Block Diagram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9" y="1924050"/>
            <a:ext cx="5343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144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4.2.Counter Programing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When it used as a counter, pulse outside the PIC18 that increments the TH, TL registers.</a:t>
            </a:r>
          </a:p>
          <a:p>
            <a:r>
              <a:rPr lang="en-US" altLang="en-US" smtClean="0"/>
              <a:t>In counter mode, notice that register such as T0CON, TMR0H and TMR0L are the same as for the timer discussed in the last section, they even have the same name.</a:t>
            </a:r>
          </a:p>
        </p:txBody>
      </p:sp>
    </p:spTree>
    <p:extLst>
      <p:ext uri="{BB962C8B-B14F-4D97-AF65-F5344CB8AC3E}">
        <p14:creationId xmlns:p14="http://schemas.microsoft.com/office/powerpoint/2010/main" val="23330495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TOCS bit in TOCON register</a:t>
            </a:r>
          </a:p>
        </p:txBody>
      </p:sp>
      <p:pic>
        <p:nvPicPr>
          <p:cNvPr id="3686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9800"/>
            <a:ext cx="7543800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6164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Using external crystal for Timer1 clock</a:t>
            </a:r>
          </a:p>
        </p:txBody>
      </p:sp>
    </p:spTree>
    <p:extLst>
      <p:ext uri="{BB962C8B-B14F-4D97-AF65-F5344CB8AC3E}">
        <p14:creationId xmlns:p14="http://schemas.microsoft.com/office/powerpoint/2010/main" val="2543258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Example: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Solution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389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09800"/>
            <a:ext cx="8096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5216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399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52400"/>
            <a:ext cx="5662613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057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09800"/>
            <a:ext cx="688498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4926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4.3. Serial communication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Basics of serial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744833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029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Serial versus Parallel Data Transfer</a:t>
            </a:r>
          </a:p>
        </p:txBody>
      </p:sp>
      <p:pic>
        <p:nvPicPr>
          <p:cNvPr id="430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371725"/>
            <a:ext cx="57150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2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029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Simplex, Half-, and Full-Duplex Transfers</a:t>
            </a:r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047875"/>
            <a:ext cx="57150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Rectangle 2"/>
          <p:cNvSpPr txBox="1">
            <a:spLocks noChangeArrowheads="1"/>
          </p:cNvSpPr>
          <p:nvPr/>
        </p:nvSpPr>
        <p:spPr bwMode="auto">
          <a:xfrm>
            <a:off x="1981200" y="685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Half and full duplex transmission</a:t>
            </a:r>
          </a:p>
        </p:txBody>
      </p:sp>
    </p:spTree>
    <p:extLst>
      <p:ext uri="{BB962C8B-B14F-4D97-AF65-F5344CB8AC3E}">
        <p14:creationId xmlns:p14="http://schemas.microsoft.com/office/powerpoint/2010/main" val="2762164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Asynchronous serial communication and data frameming</a:t>
            </a:r>
          </a:p>
        </p:txBody>
      </p:sp>
    </p:spTree>
    <p:extLst>
      <p:ext uri="{BB962C8B-B14F-4D97-AF65-F5344CB8AC3E}">
        <p14:creationId xmlns:p14="http://schemas.microsoft.com/office/powerpoint/2010/main" val="10929568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80060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en-US" sz="3600"/>
              <a:t>Framing ASCII ‘A’ (41H)</a:t>
            </a:r>
            <a:endParaRPr lang="en-US" altLang="en-US" sz="3600"/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719389"/>
            <a:ext cx="57150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2"/>
          <p:cNvSpPr txBox="1">
            <a:spLocks noChangeArrowheads="1"/>
          </p:cNvSpPr>
          <p:nvPr/>
        </p:nvSpPr>
        <p:spPr bwMode="auto">
          <a:xfrm>
            <a:off x="1905000" y="762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en-US" sz="3600">
                <a:solidFill>
                  <a:schemeClr val="tx2"/>
                </a:solidFill>
              </a:rPr>
              <a:t>Start and stop bits</a:t>
            </a:r>
            <a:endParaRPr lang="en-US" altLang="en-US" sz="36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747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Data transfer rate</a:t>
            </a:r>
          </a:p>
          <a:p>
            <a:r>
              <a:rPr lang="en-US" altLang="en-US" smtClean="0"/>
              <a:t>RS232 standards</a:t>
            </a:r>
          </a:p>
        </p:txBody>
      </p:sp>
    </p:spTree>
    <p:extLst>
      <p:ext uri="{BB962C8B-B14F-4D97-AF65-F5344CB8AC3E}">
        <p14:creationId xmlns:p14="http://schemas.microsoft.com/office/powerpoint/2010/main" val="2374985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RS232 Pins</a:t>
            </a:r>
          </a:p>
        </p:txBody>
      </p:sp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64" y="2671764"/>
            <a:ext cx="50196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2"/>
          <p:cNvSpPr txBox="1">
            <a:spLocks noChangeArrowheads="1"/>
          </p:cNvSpPr>
          <p:nvPr/>
        </p:nvSpPr>
        <p:spPr bwMode="auto">
          <a:xfrm>
            <a:off x="2209800" y="486886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RS232 Connector DB-25</a:t>
            </a:r>
          </a:p>
        </p:txBody>
      </p:sp>
    </p:spTree>
    <p:extLst>
      <p:ext uri="{BB962C8B-B14F-4D97-AF65-F5344CB8AC3E}">
        <p14:creationId xmlns:p14="http://schemas.microsoft.com/office/powerpoint/2010/main" val="3106080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Data communication classification</a:t>
            </a:r>
          </a:p>
        </p:txBody>
      </p:sp>
      <p:pic>
        <p:nvPicPr>
          <p:cNvPr id="491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1" y="2209800"/>
            <a:ext cx="277336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2049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257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DB-9  9-Pin Connector</a:t>
            </a:r>
          </a:p>
        </p:txBody>
      </p:sp>
      <p:pic>
        <p:nvPicPr>
          <p:cNvPr id="501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90800"/>
            <a:ext cx="2514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2"/>
          <p:cNvSpPr txBox="1">
            <a:spLocks noChangeArrowheads="1"/>
          </p:cNvSpPr>
          <p:nvPr/>
        </p:nvSpPr>
        <p:spPr bwMode="auto">
          <a:xfrm>
            <a:off x="1981200" y="685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Examining RS232 hand shaking signals</a:t>
            </a:r>
          </a:p>
        </p:txBody>
      </p:sp>
      <p:pic>
        <p:nvPicPr>
          <p:cNvPr id="5018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895476"/>
            <a:ext cx="37719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253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724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Null Modem Connection</a:t>
            </a:r>
          </a:p>
        </p:txBody>
      </p:sp>
      <p:pic>
        <p:nvPicPr>
          <p:cNvPr id="5120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733675"/>
            <a:ext cx="25146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463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222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652464"/>
            <a:ext cx="7791450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1834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PIC 18 connection to RS232</a:t>
            </a:r>
          </a:p>
          <a:p>
            <a:pPr lvl="1"/>
            <a:r>
              <a:rPr lang="en-US" altLang="en-US" smtClean="0"/>
              <a:t>RX and TX pins in the PIC18</a:t>
            </a:r>
          </a:p>
        </p:txBody>
      </p:sp>
    </p:spTree>
    <p:extLst>
      <p:ext uri="{BB962C8B-B14F-4D97-AF65-F5344CB8AC3E}">
        <p14:creationId xmlns:p14="http://schemas.microsoft.com/office/powerpoint/2010/main" val="966723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7007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(a) Inside MAX232 and (b) its Connection to the PIC18 (Null Modem)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667001"/>
            <a:ext cx="5486400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"/>
          <p:cNvSpPr txBox="1">
            <a:spLocks noChangeArrowheads="1"/>
          </p:cNvSpPr>
          <p:nvPr/>
        </p:nvSpPr>
        <p:spPr bwMode="auto">
          <a:xfrm>
            <a:off x="1828800" y="533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MAX232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97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(a) Inside MAX233 and (b) Its Connection to the PIC18 (Null Modem)</a:t>
            </a:r>
          </a:p>
        </p:txBody>
      </p:sp>
      <p:pic>
        <p:nvPicPr>
          <p:cNvPr id="552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362201"/>
            <a:ext cx="548640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2"/>
          <p:cNvSpPr txBox="1">
            <a:spLocks noChangeArrowheads="1"/>
          </p:cNvSpPr>
          <p:nvPr/>
        </p:nvSpPr>
        <p:spPr bwMode="auto">
          <a:xfrm>
            <a:off x="1524000" y="4905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MAX233</a:t>
            </a:r>
          </a:p>
        </p:txBody>
      </p:sp>
    </p:spTree>
    <p:extLst>
      <p:ext uri="{BB962C8B-B14F-4D97-AF65-F5344CB8AC3E}">
        <p14:creationId xmlns:p14="http://schemas.microsoft.com/office/powerpoint/2010/main" val="3638710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632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9" y="2338389"/>
            <a:ext cx="77819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3118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PIC18 serial port Programming in Assembly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SPBRG register and baud rate in the PIC18</a:t>
            </a:r>
          </a:p>
        </p:txBody>
      </p:sp>
      <p:pic>
        <p:nvPicPr>
          <p:cNvPr id="5734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2819400"/>
            <a:ext cx="77247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945064"/>
            <a:ext cx="70675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14523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7288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TXREG register</a:t>
            </a:r>
          </a:p>
          <a:p>
            <a:r>
              <a:rPr lang="en-US" altLang="en-US" smtClean="0"/>
              <a:t>RCREG register</a:t>
            </a:r>
          </a:p>
          <a:p>
            <a:r>
              <a:rPr lang="en-US" altLang="en-US" smtClean="0"/>
              <a:t>TXSTA( transmit status and control register)</a:t>
            </a:r>
          </a:p>
        </p:txBody>
      </p:sp>
    </p:spTree>
    <p:extLst>
      <p:ext uri="{BB962C8B-B14F-4D97-AF65-F5344CB8AC3E}">
        <p14:creationId xmlns:p14="http://schemas.microsoft.com/office/powerpoint/2010/main" val="39261360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TXSTA: Transmit Status and Control Register</a:t>
            </a:r>
          </a:p>
        </p:txBody>
      </p:sp>
      <p:pic>
        <p:nvPicPr>
          <p:cNvPr id="604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57350"/>
            <a:ext cx="50292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3787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5181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. </a:t>
            </a:r>
            <a:r>
              <a:rPr lang="en-US" altLang="en-US" sz="3200"/>
              <a:t>TXSTA: Transmit Status and Control Register (cont.)</a:t>
            </a:r>
          </a:p>
        </p:txBody>
      </p:sp>
      <p:pic>
        <p:nvPicPr>
          <p:cNvPr id="614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90776"/>
            <a:ext cx="5029200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1170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6753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RCSTA: Receive Status and Control Register</a:t>
            </a:r>
          </a:p>
        </p:txBody>
      </p:sp>
      <p:pic>
        <p:nvPicPr>
          <p:cNvPr id="6246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724026"/>
            <a:ext cx="502920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Rectangle 1"/>
          <p:cNvSpPr>
            <a:spLocks noChangeArrowheads="1"/>
          </p:cNvSpPr>
          <p:nvPr/>
        </p:nvSpPr>
        <p:spPr bwMode="auto">
          <a:xfrm>
            <a:off x="2971800" y="381001"/>
            <a:ext cx="7239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/>
              <a:t>RCSTA: Receive Status and Control Register</a:t>
            </a:r>
          </a:p>
        </p:txBody>
      </p:sp>
    </p:spTree>
    <p:extLst>
      <p:ext uri="{BB962C8B-B14F-4D97-AF65-F5344CB8AC3E}">
        <p14:creationId xmlns:p14="http://schemas.microsoft.com/office/powerpoint/2010/main" val="986567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PIR1 (Peripheral Interrupt Register 1)</a:t>
            </a:r>
          </a:p>
        </p:txBody>
      </p:sp>
      <p:pic>
        <p:nvPicPr>
          <p:cNvPr id="634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771650"/>
            <a:ext cx="50292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51078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Programming the PIC18 to transfer data serially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 programming the PIC18 to transfer character byte serially, the following steps must be taken:</a:t>
            </a:r>
          </a:p>
          <a:p>
            <a:endParaRPr lang="en-US" altLang="en-US" smtClean="0"/>
          </a:p>
        </p:txBody>
      </p:sp>
      <p:pic>
        <p:nvPicPr>
          <p:cNvPr id="645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105151"/>
            <a:ext cx="757237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692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Importance of the TXIF flag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To understand the importance of the role TXIF,sequence of steps that the PIC18 goes through in transmitting a character via TX:</a:t>
            </a:r>
          </a:p>
        </p:txBody>
      </p:sp>
      <p:pic>
        <p:nvPicPr>
          <p:cNvPr id="655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3657601"/>
            <a:ext cx="76200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55305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Programming the PIC18 to receive data serially</a:t>
            </a:r>
          </a:p>
        </p:txBody>
      </p:sp>
      <p:pic>
        <p:nvPicPr>
          <p:cNvPr id="66563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0" y="2243138"/>
            <a:ext cx="7581900" cy="3238500"/>
          </a:xfrm>
        </p:spPr>
      </p:pic>
    </p:spTree>
    <p:extLst>
      <p:ext uri="{BB962C8B-B14F-4D97-AF65-F5344CB8AC3E}">
        <p14:creationId xmlns:p14="http://schemas.microsoft.com/office/powerpoint/2010/main" val="25546469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Importance of the RCIF flag bit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 receiving bits via its RX pin, the PIC18 goes through the following steps:</a:t>
            </a:r>
          </a:p>
        </p:txBody>
      </p:sp>
      <p:pic>
        <p:nvPicPr>
          <p:cNvPr id="6758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667000"/>
            <a:ext cx="737235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4419600"/>
            <a:ext cx="72771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55378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Quadrupling the baud rate in the PIC18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 a higher freq ctystal</a:t>
            </a:r>
          </a:p>
          <a:p>
            <a:r>
              <a:rPr lang="en-US" altLang="en-US" smtClean="0"/>
              <a:t>Change a bit in the TXSTA register</a:t>
            </a:r>
          </a:p>
        </p:txBody>
      </p:sp>
    </p:spTree>
    <p:extLst>
      <p:ext uri="{BB962C8B-B14F-4D97-AF65-F5344CB8AC3E}">
        <p14:creationId xmlns:p14="http://schemas.microsoft.com/office/powerpoint/2010/main" val="8562639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Baud rate error calculation</a:t>
            </a:r>
          </a:p>
        </p:txBody>
      </p:sp>
      <p:pic>
        <p:nvPicPr>
          <p:cNvPr id="6963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37" y="2137334"/>
            <a:ext cx="10772273" cy="82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2965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Example for transmit and receive</a:t>
            </a:r>
          </a:p>
        </p:txBody>
      </p:sp>
    </p:spTree>
    <p:extLst>
      <p:ext uri="{BB962C8B-B14F-4D97-AF65-F5344CB8AC3E}">
        <p14:creationId xmlns:p14="http://schemas.microsoft.com/office/powerpoint/2010/main" val="24407688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Figure 10-12. Simplified USART Transmit Block Diagram</a:t>
            </a:r>
          </a:p>
        </p:txBody>
      </p:sp>
      <p:pic>
        <p:nvPicPr>
          <p:cNvPr id="716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9" y="1952625"/>
            <a:ext cx="53435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6032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Interrupt based data transfer</a:t>
            </a:r>
          </a:p>
        </p:txBody>
      </p:sp>
    </p:spTree>
    <p:extLst>
      <p:ext uri="{BB962C8B-B14F-4D97-AF65-F5344CB8AC3E}">
        <p14:creationId xmlns:p14="http://schemas.microsoft.com/office/powerpoint/2010/main" val="7806879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7373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968" y="1042549"/>
            <a:ext cx="9095874" cy="500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263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PIC18 serial programming in C</a:t>
            </a:r>
          </a:p>
          <a:p>
            <a:pPr lvl="1"/>
            <a:r>
              <a:rPr lang="en-US" altLang="en-US" smtClean="0"/>
              <a:t>Transmitting and receiving data in PIC18 C</a:t>
            </a:r>
          </a:p>
          <a:p>
            <a:pPr lvl="2"/>
            <a:r>
              <a:rPr lang="en-US" altLang="en-US" smtClean="0"/>
              <a:t>Example 10-11</a:t>
            </a:r>
          </a:p>
          <a:p>
            <a:pPr lvl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071609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4.4.Interrupts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What is interrupt?</a:t>
            </a:r>
          </a:p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Purpose of the ISR( Interrupt  service routine)</a:t>
            </a:r>
          </a:p>
          <a:p>
            <a:pPr>
              <a:defRPr/>
            </a:pPr>
            <a:r>
              <a:rPr lang="en-US" dirty="0" smtClean="0"/>
              <a:t>Main interrupt of the PIC18</a:t>
            </a:r>
          </a:p>
          <a:p>
            <a:pPr>
              <a:defRPr/>
            </a:pPr>
            <a:r>
              <a:rPr lang="en-US" dirty="0" smtClean="0"/>
              <a:t>What is interrupt vector table?</a:t>
            </a:r>
          </a:p>
          <a:p>
            <a:pPr>
              <a:defRPr/>
            </a:pPr>
            <a:r>
              <a:rPr lang="en-US" dirty="0" smtClean="0"/>
              <a:t>Enable and disable PIC18 interrupt</a:t>
            </a:r>
          </a:p>
          <a:p>
            <a:pPr>
              <a:defRPr/>
            </a:pPr>
            <a:r>
              <a:rPr lang="en-US" dirty="0" smtClean="0"/>
              <a:t>Program the PIC18 timers using interrupt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08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Self- study</a:t>
            </a:r>
          </a:p>
          <a:p>
            <a:pPr lvl="1"/>
            <a:r>
              <a:rPr lang="en-US" altLang="en-US" smtClean="0"/>
              <a:t>External HW interrupt of the PIC18</a:t>
            </a:r>
          </a:p>
          <a:p>
            <a:pPr lvl="1"/>
            <a:r>
              <a:rPr lang="en-US" altLang="en-US" smtClean="0"/>
              <a:t>Interrupt based serial communication</a:t>
            </a:r>
          </a:p>
          <a:p>
            <a:pPr lvl="1"/>
            <a:r>
              <a:rPr lang="en-US" altLang="en-US" smtClean="0"/>
              <a:t>Interrupt priority of the PIC18</a:t>
            </a:r>
          </a:p>
          <a:p>
            <a:pPr lvl="1"/>
            <a:r>
              <a:rPr lang="en-US" altLang="en-US" smtClean="0"/>
              <a:t>Program PIC interrupts in C</a:t>
            </a:r>
          </a:p>
        </p:txBody>
      </p:sp>
    </p:spTree>
    <p:extLst>
      <p:ext uri="{BB962C8B-B14F-4D97-AF65-F5344CB8AC3E}">
        <p14:creationId xmlns:p14="http://schemas.microsoft.com/office/powerpoint/2010/main" val="1677958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Redirecting the PIC18 from the Interrupt Vector Table at Power-Up</a:t>
            </a:r>
          </a:p>
        </p:txBody>
      </p:sp>
      <p:pic>
        <p:nvPicPr>
          <p:cNvPr id="7782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647950"/>
            <a:ext cx="50292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0317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. Simplified View of Interrupts (default for power-on reset)</a:t>
            </a:r>
          </a:p>
        </p:txBody>
      </p:sp>
      <p:pic>
        <p:nvPicPr>
          <p:cNvPr id="788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167" y="1588168"/>
            <a:ext cx="7014412" cy="286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7340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sz="3200"/>
              <a:t>INTCON (Interrupt Control) Register</a:t>
            </a:r>
            <a:endParaRPr lang="en-US" altLang="en-US" sz="3200"/>
          </a:p>
        </p:txBody>
      </p:sp>
      <p:pic>
        <p:nvPicPr>
          <p:cNvPr id="798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67" y="998622"/>
            <a:ext cx="9420727" cy="47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2761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INTCON Register with Timer0 Interrupt Enable and Interrupt Flag</a:t>
            </a:r>
          </a:p>
        </p:txBody>
      </p:sp>
      <p:pic>
        <p:nvPicPr>
          <p:cNvPr id="808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639" y="3238500"/>
            <a:ext cx="5038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8830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The Role of Timer Interrupt Enable Flag (TMRxIE)</a:t>
            </a:r>
          </a:p>
        </p:txBody>
      </p:sp>
      <p:pic>
        <p:nvPicPr>
          <p:cNvPr id="819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624139"/>
            <a:ext cx="50292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1367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 Program 11-3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920" y="1657965"/>
            <a:ext cx="5051759" cy="3353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4536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PIC18 External Hardware Interrupt Pins</a:t>
            </a:r>
          </a:p>
        </p:txBody>
      </p:sp>
      <p:pic>
        <p:nvPicPr>
          <p:cNvPr id="839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762250"/>
            <a:ext cx="50292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79540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INT0–INT2 Hardware Interrupts</a:t>
            </a:r>
          </a:p>
        </p:txBody>
      </p:sp>
      <p:pic>
        <p:nvPicPr>
          <p:cNvPr id="849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4" y="2176464"/>
            <a:ext cx="50577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622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 Program 11-4</a:t>
            </a:r>
          </a:p>
        </p:txBody>
      </p:sp>
      <p:pic>
        <p:nvPicPr>
          <p:cNvPr id="860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831" y="1769562"/>
            <a:ext cx="5233236" cy="3000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2570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9906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INTCON2 Register INTEDG Allows Positive or Negative Edge Trigger</a:t>
            </a:r>
          </a:p>
        </p:txBody>
      </p:sp>
      <p:pic>
        <p:nvPicPr>
          <p:cNvPr id="870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4" y="3033902"/>
            <a:ext cx="9931271" cy="197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7393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 Program 11-5</a:t>
            </a:r>
          </a:p>
        </p:txBody>
      </p:sp>
      <p:pic>
        <p:nvPicPr>
          <p:cNvPr id="8806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134" y="1554833"/>
            <a:ext cx="5079332" cy="330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3454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PIE1 Register Bits Holding TXIE and RCIE</a:t>
            </a:r>
          </a:p>
        </p:txBody>
      </p:sp>
      <p:pic>
        <p:nvPicPr>
          <p:cNvPr id="890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116" y="2237874"/>
            <a:ext cx="7493747" cy="52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5036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Serial Interrupt Enable Flags</a:t>
            </a:r>
          </a:p>
        </p:txBody>
      </p:sp>
      <p:pic>
        <p:nvPicPr>
          <p:cNvPr id="901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968" y="1528011"/>
            <a:ext cx="7635632" cy="2834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2459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smtClean="0"/>
              <a:t>INTCON (Interrupt Control) Register</a:t>
            </a:r>
            <a:endParaRPr lang="en-US" altLang="en-US" smtClean="0"/>
          </a:p>
        </p:txBody>
      </p:sp>
      <p:pic>
        <p:nvPicPr>
          <p:cNvPr id="911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934" y="1159294"/>
            <a:ext cx="6397540" cy="451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3992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mtClean="0"/>
              <a:t>PORTB-Change Interrupt Pins</a:t>
            </a:r>
            <a:endParaRPr lang="en-US" altLang="en-US" smtClean="0"/>
          </a:p>
        </p:txBody>
      </p:sp>
      <p:pic>
        <p:nvPicPr>
          <p:cNvPr id="921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37" y="1949117"/>
            <a:ext cx="9825025" cy="255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52437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mtClean="0"/>
              <a:t>PORTB-Change Interrupt (RBIF)</a:t>
            </a:r>
            <a:endParaRPr lang="en-US" altLang="en-US" smtClean="0"/>
          </a:p>
        </p:txBody>
      </p:sp>
      <p:pic>
        <p:nvPicPr>
          <p:cNvPr id="931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895" y="1305659"/>
            <a:ext cx="7652838" cy="4151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3795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PORTB-Change Interrupt for Program 11-8</a:t>
            </a:r>
          </a:p>
        </p:txBody>
      </p:sp>
      <p:pic>
        <p:nvPicPr>
          <p:cNvPr id="942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1476543"/>
            <a:ext cx="7166811" cy="3434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653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PORTB-Change Interrupt for Program 11-9</a:t>
            </a:r>
          </a:p>
        </p:txBody>
      </p:sp>
      <p:pic>
        <p:nvPicPr>
          <p:cNvPr id="952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654" y="1555798"/>
            <a:ext cx="7135480" cy="330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22014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RCON Register. IPEN Allows Prioritizing the Interrupt into 2 Levels</a:t>
            </a:r>
          </a:p>
        </p:txBody>
      </p:sp>
      <p:pic>
        <p:nvPicPr>
          <p:cNvPr id="962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252" y="2073413"/>
            <a:ext cx="7603958" cy="358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0518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IPR1 Peripheral Interrupt Priority Register 1</a:t>
            </a:r>
          </a:p>
        </p:txBody>
      </p:sp>
      <p:pic>
        <p:nvPicPr>
          <p:cNvPr id="972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769" y="1160288"/>
            <a:ext cx="7725027" cy="372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14166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Interrupts with High-Priority (IP) Flag</a:t>
            </a:r>
          </a:p>
        </p:txBody>
      </p:sp>
      <p:pic>
        <p:nvPicPr>
          <p:cNvPr id="983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937" y="1070811"/>
            <a:ext cx="53721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11842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High-Priority Interrupts (Redrawn from PIC18 Manual)</a:t>
            </a:r>
          </a:p>
        </p:txBody>
      </p:sp>
      <p:pic>
        <p:nvPicPr>
          <p:cNvPr id="993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748" y="803400"/>
            <a:ext cx="6639679" cy="490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91252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Low- and High-Priority Interrupt Selection (Redrawn from PIC18 Manual)</a:t>
            </a:r>
          </a:p>
        </p:txBody>
      </p:sp>
      <p:pic>
        <p:nvPicPr>
          <p:cNvPr id="1003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42" y="630153"/>
            <a:ext cx="7441030" cy="530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32563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Low-Priority Interrupt Selection with IP Flag (Redrawn from PIC18 Manual)</a:t>
            </a:r>
          </a:p>
        </p:txBody>
      </p:sp>
      <p:pic>
        <p:nvPicPr>
          <p:cNvPr id="1013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624639"/>
            <a:ext cx="6209048" cy="523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34781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Low-Priority Interrupt Selection with IP Flag (Redrawn from PIC18 Manual) (cont.)</a:t>
            </a:r>
          </a:p>
        </p:txBody>
      </p:sp>
      <p:pic>
        <p:nvPicPr>
          <p:cNvPr id="10240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380" y="1155246"/>
            <a:ext cx="6299534" cy="488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56480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vku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vku1" id="{F06FB320-D76B-46F6-9048-4E8AE914A055}" vid="{7E01ECFF-3CD4-4948-A8D7-8450098617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Themevku1</Template>
  <TotalTime>65</TotalTime>
  <Words>995</Words>
  <Application>Microsoft Office PowerPoint</Application>
  <PresentationFormat>Widescreen</PresentationFormat>
  <Paragraphs>148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2" baseType="lpstr">
      <vt:lpstr>Arial</vt:lpstr>
      <vt:lpstr>Calibri</vt:lpstr>
      <vt:lpstr>Calibri Light</vt:lpstr>
      <vt:lpstr>Times New Roman</vt:lpstr>
      <vt:lpstr>Themevku1</vt:lpstr>
      <vt:lpstr>Chapter 4.</vt:lpstr>
      <vt:lpstr>Contents</vt:lpstr>
      <vt:lpstr>PIC 18 TIMER PROGRAMMMING</vt:lpstr>
      <vt:lpstr>Timer 0 High and Low Registers</vt:lpstr>
      <vt:lpstr>T0CON (Timer0 Control) Register</vt:lpstr>
      <vt:lpstr>INTCON (Interrupt Control Register) has the TMR0IF Flag</vt:lpstr>
      <vt:lpstr>Timer0 Overflow Flag</vt:lpstr>
      <vt:lpstr>16-bit timer programming</vt:lpstr>
      <vt:lpstr>PowerPoint Presentation</vt:lpstr>
      <vt:lpstr>Timer0 16-bit Block Diagram</vt:lpstr>
      <vt:lpstr>Timer Delay Calculation for XTAL = 10 MHz with No Prescaler </vt:lpstr>
      <vt:lpstr>Finding value to bet loaded into the timer</vt:lpstr>
      <vt:lpstr>Using the windows calculator to find TH, TL</vt:lpstr>
      <vt:lpstr>Timer0 8-bit Block Diagram</vt:lpstr>
      <vt:lpstr>Step to program 8-bit of Timer 0</vt:lpstr>
      <vt:lpstr>Timer1 Programming</vt:lpstr>
      <vt:lpstr>Timer1 Block Diagram</vt:lpstr>
      <vt:lpstr>T1CON (Timer 1 Control ) Register</vt:lpstr>
      <vt:lpstr>Interrupt Control Register 1 Contains the TMR1IF Flag</vt:lpstr>
      <vt:lpstr>Review Question</vt:lpstr>
      <vt:lpstr>Programming Timer 0 and 1 in C</vt:lpstr>
      <vt:lpstr>PowerPoint Presentation</vt:lpstr>
      <vt:lpstr>PROGRAMMING TIMER2 AND 3</vt:lpstr>
      <vt:lpstr>Timer2 Block Diagram</vt:lpstr>
      <vt:lpstr>PIR1 (Peripheral Interrupt Flag Register 1) Contains TMR2IF Flag</vt:lpstr>
      <vt:lpstr>T2CON (Timer2 Control) Register</vt:lpstr>
      <vt:lpstr>PowerPoint Presentation</vt:lpstr>
      <vt:lpstr>Timer3 Programming</vt:lpstr>
      <vt:lpstr>T3CON (Timer3 Control) Register</vt:lpstr>
      <vt:lpstr>PIR2 (Peripheral Interrupt Flag Register 2) Contains the TMR3IF Flag</vt:lpstr>
      <vt:lpstr>Timer3 Block Diagram</vt:lpstr>
      <vt:lpstr>4.2.Counter Programing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4.3. Serial communication </vt:lpstr>
      <vt:lpstr>Serial versus Parallel Data Transfer</vt:lpstr>
      <vt:lpstr>Simplex, Half-, and Full-Duplex Transfers</vt:lpstr>
      <vt:lpstr>PowerPoint Presentation</vt:lpstr>
      <vt:lpstr>Framing ASCII ‘A’ (41H)</vt:lpstr>
      <vt:lpstr>PowerPoint Presentation</vt:lpstr>
      <vt:lpstr>RS232 Pins</vt:lpstr>
      <vt:lpstr>PowerPoint Presentation</vt:lpstr>
      <vt:lpstr>DB-9  9-Pin Connector</vt:lpstr>
      <vt:lpstr>Null Modem Connection</vt:lpstr>
      <vt:lpstr>PowerPoint Presentation</vt:lpstr>
      <vt:lpstr>PowerPoint Presentation</vt:lpstr>
      <vt:lpstr>(a) Inside MAX232 and (b) its Connection to the PIC18 (Null Modem)</vt:lpstr>
      <vt:lpstr>(a) Inside MAX233 and (b) Its Connection to the PIC18 (Null Modem)</vt:lpstr>
      <vt:lpstr>PowerPoint Presentation</vt:lpstr>
      <vt:lpstr>PIC18 serial port Programming in Assembly</vt:lpstr>
      <vt:lpstr>PowerPoint Presentation</vt:lpstr>
      <vt:lpstr>PowerPoint Presentation</vt:lpstr>
      <vt:lpstr>TXSTA: Transmit Status and Control Register</vt:lpstr>
      <vt:lpstr>. TXSTA: Transmit Status and Control Register (cont.)</vt:lpstr>
      <vt:lpstr>RCSTA: Receive Status and Control Register</vt:lpstr>
      <vt:lpstr>PIR1 (Peripheral Interrupt Register 1)</vt:lpstr>
      <vt:lpstr>Programming the PIC18 to transfer data serially</vt:lpstr>
      <vt:lpstr>Importance of the TXIF flag</vt:lpstr>
      <vt:lpstr>Programming the PIC18 to receive data serially</vt:lpstr>
      <vt:lpstr>Importance of the RCIF flag bit</vt:lpstr>
      <vt:lpstr>Quadrupling the baud rate in the PIC18</vt:lpstr>
      <vt:lpstr>PowerPoint Presentation</vt:lpstr>
      <vt:lpstr>PowerPoint Presentation</vt:lpstr>
      <vt:lpstr>Figure 10-12. Simplified USART Transmit Block Diagram</vt:lpstr>
      <vt:lpstr>PowerPoint Presentation</vt:lpstr>
      <vt:lpstr>PowerPoint Presentation</vt:lpstr>
      <vt:lpstr>PowerPoint Presentation</vt:lpstr>
      <vt:lpstr>4.4.Interrupts </vt:lpstr>
      <vt:lpstr>PowerPoint Presentation</vt:lpstr>
      <vt:lpstr>Redirecting the PIC18 from the Interrupt Vector Table at Power-Up</vt:lpstr>
      <vt:lpstr>. Simplified View of Interrupts (default for power-on reset)</vt:lpstr>
      <vt:lpstr>INTCON (Interrupt Control) Register</vt:lpstr>
      <vt:lpstr>INTCON Register with Timer0 Interrupt Enable and Interrupt Flag</vt:lpstr>
      <vt:lpstr>The Role of Timer Interrupt Enable Flag (TMRxIE)</vt:lpstr>
      <vt:lpstr>For Program 11-3</vt:lpstr>
      <vt:lpstr>PIC18 External Hardware Interrupt Pins</vt:lpstr>
      <vt:lpstr>INT0–INT2 Hardware Interrupts</vt:lpstr>
      <vt:lpstr>For Program 11-4</vt:lpstr>
      <vt:lpstr>INTCON2 Register INTEDG Allows Positive or Negative Edge Trigger</vt:lpstr>
      <vt:lpstr>For Program 11-5</vt:lpstr>
      <vt:lpstr>PIE1 Register Bits Holding TXIE and RCIE</vt:lpstr>
      <vt:lpstr>Serial Interrupt Enable Flags</vt:lpstr>
      <vt:lpstr>INTCON (Interrupt Control) Register</vt:lpstr>
      <vt:lpstr>PORTB-Change Interrupt Pins</vt:lpstr>
      <vt:lpstr>PORTB-Change Interrupt (RBIF)</vt:lpstr>
      <vt:lpstr>PORTB-Change Interrupt for Program 11-8</vt:lpstr>
      <vt:lpstr>PORTB-Change Interrupt for Program 11-9</vt:lpstr>
      <vt:lpstr>RCON Register. IPEN Allows Prioritizing the Interrupt into 2 Levels</vt:lpstr>
      <vt:lpstr>IPR1 Peripheral Interrupt Priority Register 1</vt:lpstr>
      <vt:lpstr>Interrupts with High-Priority (IP) Flag</vt:lpstr>
      <vt:lpstr>High-Priority Interrupts (Redrawn from PIC18 Manual)</vt:lpstr>
      <vt:lpstr>Low- and High-Priority Interrupt Selection (Redrawn from PIC18 Manual)</vt:lpstr>
      <vt:lpstr>Low-Priority Interrupt Selection with IP Flag (Redrawn from PIC18 Manual)</vt:lpstr>
      <vt:lpstr>Low-Priority Interrupt Selection with IP Flag (Redrawn from PIC18 Manual) (cont.)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</dc:title>
  <dc:creator>Admin</dc:creator>
  <cp:lastModifiedBy>Microsoft account</cp:lastModifiedBy>
  <cp:revision>5</cp:revision>
  <dcterms:created xsi:type="dcterms:W3CDTF">2021-12-16T01:10:58Z</dcterms:created>
  <dcterms:modified xsi:type="dcterms:W3CDTF">2021-12-27T03:25:57Z</dcterms:modified>
</cp:coreProperties>
</file>