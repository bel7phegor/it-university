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58" r:id="rId1"/>
  </p:sldMasterIdLst>
  <p:notesMasterIdLst>
    <p:notesMasterId r:id="rId29"/>
  </p:notesMasterIdLst>
  <p:sldIdLst>
    <p:sldId id="381" r:id="rId2"/>
    <p:sldId id="501" r:id="rId3"/>
    <p:sldId id="502" r:id="rId4"/>
    <p:sldId id="562" r:id="rId5"/>
    <p:sldId id="561" r:id="rId6"/>
    <p:sldId id="563" r:id="rId7"/>
    <p:sldId id="564" r:id="rId8"/>
    <p:sldId id="567" r:id="rId9"/>
    <p:sldId id="568" r:id="rId10"/>
    <p:sldId id="541" r:id="rId11"/>
    <p:sldId id="565" r:id="rId12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7" r:id="rId20"/>
    <p:sldId id="578" r:id="rId21"/>
    <p:sldId id="576" r:id="rId22"/>
    <p:sldId id="579" r:id="rId23"/>
    <p:sldId id="580" r:id="rId24"/>
    <p:sldId id="581" r:id="rId25"/>
    <p:sldId id="582" r:id="rId26"/>
    <p:sldId id="584" r:id="rId27"/>
    <p:sldId id="585" r:id="rId28"/>
  </p:sldIdLst>
  <p:sldSz cx="9906000" cy="6858000" type="A4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205"/>
    <a:srgbClr val="FFD714"/>
    <a:srgbClr val="FF0000"/>
    <a:srgbClr val="FFFF00"/>
    <a:srgbClr val="DDDDDD"/>
    <a:srgbClr val="FFCCFF"/>
    <a:srgbClr val="FF99CC"/>
    <a:srgbClr val="CCFFFF"/>
    <a:srgbClr val="33CC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83444" autoAdjust="0"/>
  </p:normalViewPr>
  <p:slideViewPr>
    <p:cSldViewPr snapToGrid="0" snapToObjects="1">
      <p:cViewPr varScale="1">
        <p:scale>
          <a:sx n="132" d="100"/>
          <a:sy n="132" d="100"/>
        </p:scale>
        <p:origin x="2200" y="17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EF648C3-5A0C-4E7A-8D98-2A6F3A737A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187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77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51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71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46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044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24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16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022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F648C3-5A0C-4E7A-8D98-2A6F3A737A34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110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DC021782-BED8-4497-9C87-723925897A3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14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90" y="171402"/>
            <a:ext cx="8407810" cy="7778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106129"/>
            <a:ext cx="8915400" cy="5250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575" y="888014"/>
            <a:ext cx="6356554" cy="9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306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E7C7FD4E-07FB-4138-97E4-DD758205C3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71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136" y="274638"/>
            <a:ext cx="8568812" cy="743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5" y="1253613"/>
            <a:ext cx="4167647" cy="48725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0" y="1253613"/>
            <a:ext cx="4167647" cy="48725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B521C1A5-495D-4A1A-9101-EB9994DE8ED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8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575" y="961754"/>
            <a:ext cx="6946490" cy="5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166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90" y="274638"/>
            <a:ext cx="8407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C87C0EB0-4A49-4670-9C45-5E51CE6641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547" y="1374707"/>
            <a:ext cx="6356554" cy="9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347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1885" y="274638"/>
            <a:ext cx="864255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19D10ECD-4849-4527-873D-3C00FE0B3DC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6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05" y="1286220"/>
            <a:ext cx="6356554" cy="9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75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E4D0611B-5CCC-462E-8A46-19B326B4FF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76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7922"/>
            <a:ext cx="3259006" cy="7271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82D1830E-0045-4439-9205-34B46881E57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8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79" y="1404200"/>
            <a:ext cx="2920179" cy="9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534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5C3D3F93-A14F-4CEE-8F05-279B4903D9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822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382" y="274638"/>
            <a:ext cx="8319318" cy="8823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7F429402-9C01-4ABF-BCE5-3E52623824C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2" descr="underline_base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575" y="1064991"/>
            <a:ext cx="6356554" cy="9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40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41"/>
            <a:ext cx="195359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6" y="274641"/>
            <a:ext cx="707866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A154CDF-CB36-47C5-8D22-31B943F3F2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38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2851" y="274638"/>
            <a:ext cx="8327849" cy="777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56971"/>
            <a:ext cx="8915400" cy="5199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Tổng quan về Mạng máy tính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8AABA303-076F-452A-8CE8-F7D997E199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4" y="66945"/>
            <a:ext cx="1018117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830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unix-basic-operators.htm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unix-basic-operators.htm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tutorialspoint.com/unix/unix-basic-operators.ht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tutorialspoint.com/unix/unix-basic-operators.htm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unix-loop-control.ht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unix-loop-control.h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shell_scripting.ht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0325"/>
            <a:ext cx="9905999" cy="22860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sz="3000" dirty="0">
                <a:solidFill>
                  <a:schemeClr val="tx2">
                    <a:satMod val="130000"/>
                  </a:schemeClr>
                </a:solidFill>
              </a:rPr>
              <a:t>Chapter V. </a:t>
            </a:r>
            <a:br>
              <a:rPr lang="en-GB" sz="3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GB" sz="3000" dirty="0">
                <a:solidFill>
                  <a:schemeClr val="tx2">
                    <a:satMod val="130000"/>
                  </a:schemeClr>
                </a:solidFill>
              </a:rPr>
              <a:t>Automating Tasks and Shell Scripting</a:t>
            </a:r>
            <a:br>
              <a:rPr lang="en-GB" sz="3000" dirty="0">
                <a:solidFill>
                  <a:schemeClr val="tx2">
                    <a:satMod val="130000"/>
                  </a:schemeClr>
                </a:solidFill>
              </a:rPr>
            </a:br>
            <a:br>
              <a:rPr lang="en-GB" sz="3000" dirty="0">
                <a:solidFill>
                  <a:schemeClr val="tx2">
                    <a:satMod val="130000"/>
                  </a:schemeClr>
                </a:solidFill>
              </a:rPr>
            </a:br>
            <a:endParaRPr lang="en-GB" sz="3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73444"/>
            <a:ext cx="9906000" cy="1509713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2">
                    <a:satMod val="130000"/>
                  </a:schemeClr>
                </a:solidFill>
              </a:rPr>
              <a:t>LINUX AND OPEN SOURCE SOFTWARE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3D6ACF2D-3521-4B11-94D9-9E4CA28578C0}" type="slidenum">
              <a:rPr lang="en-US" altLang="en-US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35384-0C63-A812-1CDC-88049A2A1874}"/>
              </a:ext>
            </a:extLst>
          </p:cNvPr>
          <p:cNvSpPr txBox="1"/>
          <p:nvPr/>
        </p:nvSpPr>
        <p:spPr>
          <a:xfrm>
            <a:off x="0" y="4374843"/>
            <a:ext cx="990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Department of Computer Engineering and Electronics</a:t>
            </a:r>
            <a:endParaRPr lang="en-KR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Shell?</a:t>
            </a:r>
          </a:p>
          <a:p>
            <a:r>
              <a:rPr lang="en-US" dirty="0"/>
              <a:t>Basic Shell Control</a:t>
            </a:r>
          </a:p>
          <a:p>
            <a:r>
              <a:rPr lang="en-US" dirty="0"/>
              <a:t>Scheduling Tasks</a:t>
            </a:r>
          </a:p>
          <a:p>
            <a:r>
              <a:rPr lang="en-US" dirty="0"/>
              <a:t>Writing and Executing a Shell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091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What is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Shell:</a:t>
            </a:r>
          </a:p>
          <a:p>
            <a:pPr lvl="1" algn="just"/>
            <a:r>
              <a:rPr lang="en-US" sz="2600" dirty="0"/>
              <a:t>A </a:t>
            </a:r>
            <a:r>
              <a:rPr lang="en-US" sz="2600" dirty="0">
                <a:solidFill>
                  <a:srgbClr val="C00000"/>
                </a:solidFill>
              </a:rPr>
              <a:t>program/environment</a:t>
            </a:r>
            <a:r>
              <a:rPr lang="en-US" sz="2600" dirty="0"/>
              <a:t> that users employ to </a:t>
            </a:r>
            <a:r>
              <a:rPr lang="en-US" sz="2600" dirty="0">
                <a:solidFill>
                  <a:srgbClr val="C00000"/>
                </a:solidFill>
              </a:rPr>
              <a:t>type commands, run programs and shell scripts. </a:t>
            </a:r>
          </a:p>
          <a:p>
            <a:pPr lvl="2" algn="just"/>
            <a:r>
              <a:rPr lang="en-US" sz="2200" dirty="0"/>
              <a:t>It gathers input from you and executes programs based on that input. When a program finishes executing, it displays that program's output.</a:t>
            </a:r>
          </a:p>
          <a:p>
            <a:pPr lvl="1" algn="just"/>
            <a:r>
              <a:rPr lang="en-US" sz="2600" dirty="0"/>
              <a:t>An </a:t>
            </a:r>
            <a:r>
              <a:rPr lang="en-US" sz="2600" dirty="0">
                <a:solidFill>
                  <a:srgbClr val="C00000"/>
                </a:solidFill>
              </a:rPr>
              <a:t>interface</a:t>
            </a:r>
            <a:r>
              <a:rPr lang="en-US" sz="2600" dirty="0"/>
              <a:t> to the Unix system.</a:t>
            </a:r>
          </a:p>
          <a:p>
            <a:pPr lvl="1" algn="just"/>
            <a:r>
              <a:rPr lang="en-US" sz="2600" dirty="0"/>
              <a:t> An </a:t>
            </a:r>
            <a:r>
              <a:rPr lang="en-US" sz="2600" dirty="0">
                <a:solidFill>
                  <a:srgbClr val="C00000"/>
                </a:solidFill>
              </a:rPr>
              <a:t>command-line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interpreter</a:t>
            </a:r>
            <a:r>
              <a:rPr lang="en-US" sz="2600" dirty="0"/>
              <a:t> that ﻿supplies both a command language and a program scripting language that help to control the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99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What is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Shell:</a:t>
            </a:r>
          </a:p>
          <a:p>
            <a:pPr lvl="1" algn="just"/>
            <a:r>
              <a:rPr lang="en-US" sz="2600" b="1" dirty="0"/>
              <a:t>Several shells in UNIX are: </a:t>
            </a:r>
          </a:p>
          <a:p>
            <a:pPr lvl="2" algn="just"/>
            <a:r>
              <a:rPr lang="en-US" dirty="0" err="1"/>
              <a:t>Bourne</a:t>
            </a:r>
            <a:r>
              <a:rPr lang="en-US" dirty="0"/>
              <a:t> Shell (</a:t>
            </a:r>
            <a:r>
              <a:rPr lang="en-US" dirty="0" err="1">
                <a:solidFill>
                  <a:srgbClr val="C00000"/>
                </a:solidFill>
              </a:rPr>
              <a:t>sh</a:t>
            </a:r>
            <a:r>
              <a:rPr lang="en-US" dirty="0"/>
              <a:t>) =&gt; Become standard to all UNIX/Linux shells</a:t>
            </a:r>
          </a:p>
          <a:p>
            <a:pPr lvl="2" algn="just"/>
            <a:r>
              <a:rPr lang="en-US" dirty="0" err="1"/>
              <a:t>Bourne</a:t>
            </a:r>
            <a:r>
              <a:rPr lang="en-US" dirty="0"/>
              <a:t>-Again Shell (</a:t>
            </a:r>
            <a:r>
              <a:rPr lang="en-US" dirty="0">
                <a:solidFill>
                  <a:srgbClr val="C00000"/>
                </a:solidFill>
              </a:rPr>
              <a:t>bash</a:t>
            </a:r>
            <a:r>
              <a:rPr lang="en-US" dirty="0"/>
              <a:t>) =&gt; ﻿a GPL-licensed version of the </a:t>
            </a:r>
            <a:r>
              <a:rPr lang="en-US" dirty="0" err="1"/>
              <a:t>Bourne</a:t>
            </a:r>
            <a:r>
              <a:rPr lang="en-US" dirty="0"/>
              <a:t> Shell with some enhancements, standard in Ubuntu</a:t>
            </a:r>
          </a:p>
          <a:p>
            <a:pPr lvl="2" algn="just"/>
            <a:r>
              <a:rPr lang="en-US" dirty="0"/>
              <a:t>Z Shell (</a:t>
            </a:r>
            <a:r>
              <a:rPr lang="en-US" dirty="0" err="1">
                <a:solidFill>
                  <a:srgbClr val="C00000"/>
                </a:solidFill>
              </a:rPr>
              <a:t>zsh</a:t>
            </a:r>
            <a:r>
              <a:rPr lang="en-US" dirty="0"/>
              <a:t>) =&gt; Default shell in macOS</a:t>
            </a:r>
          </a:p>
          <a:p>
            <a:pPr lvl="2" algn="just"/>
            <a:r>
              <a:rPr lang="en-US" dirty="0"/>
              <a:t>C Shell (</a:t>
            </a:r>
            <a:r>
              <a:rPr lang="en-US" dirty="0" err="1">
                <a:solidFill>
                  <a:srgbClr val="C00000"/>
                </a:solidFill>
              </a:rPr>
              <a:t>csh</a:t>
            </a:r>
            <a:r>
              <a:rPr lang="en-US" dirty="0"/>
              <a:t>)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=&gt; Writing based on C programming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7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What is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Command prompt:</a:t>
            </a:r>
          </a:p>
          <a:p>
            <a:pPr lvl="1" algn="just"/>
            <a:r>
              <a:rPr lang="en-US" sz="2600" dirty="0"/>
              <a:t>The prompt, </a:t>
            </a:r>
            <a:r>
              <a:rPr lang="en-US" sz="2600" b="1" dirty="0"/>
              <a:t>$</a:t>
            </a:r>
            <a:r>
              <a:rPr lang="en-US" sz="2600" dirty="0"/>
              <a:t>, which is called the </a:t>
            </a:r>
            <a:r>
              <a:rPr lang="en-US" sz="2600" b="1" dirty="0">
                <a:solidFill>
                  <a:srgbClr val="C00000"/>
                </a:solidFill>
              </a:rPr>
              <a:t>command prompt</a:t>
            </a:r>
            <a:r>
              <a:rPr lang="en-US" sz="2600" dirty="0"/>
              <a:t>, is issued by the shell. While the prompt is displayed, you can type a command.</a:t>
            </a:r>
          </a:p>
          <a:p>
            <a:pPr lvl="1" algn="just"/>
            <a:r>
              <a:rPr lang="en-US" sz="2600" dirty="0"/>
              <a:t>C Shell uses </a:t>
            </a:r>
            <a:r>
              <a:rPr lang="en-US" sz="2600" b="1" dirty="0"/>
              <a:t>%</a:t>
            </a:r>
            <a:r>
              <a:rPr lang="en-US" sz="2600" dirty="0"/>
              <a:t> as the command prompt</a:t>
            </a:r>
          </a:p>
          <a:p>
            <a:pPr lvl="1" algn="just"/>
            <a:r>
              <a:rPr lang="en-US" sz="2600" dirty="0" err="1"/>
              <a:t>Bourne</a:t>
            </a:r>
            <a:r>
              <a:rPr lang="en-US" sz="2600" dirty="0"/>
              <a:t> shell is usually installed as </a:t>
            </a:r>
            <a:r>
              <a:rPr lang="en-US" sz="2600" b="1" dirty="0"/>
              <a:t>/bin/</a:t>
            </a:r>
            <a:r>
              <a:rPr lang="en-US" sz="2600" b="1" dirty="0" err="1"/>
              <a:t>sh</a:t>
            </a:r>
            <a:r>
              <a:rPr lang="en-US" sz="2600" dirty="0"/>
              <a:t> on most versions of Unix.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3435F-C82B-2177-B30E-8C0D1572F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4829432"/>
            <a:ext cx="8476488" cy="104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4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Shell Command Line:</a:t>
            </a:r>
          </a:p>
          <a:p>
            <a:pPr lvl="1" algn="just"/>
            <a:r>
              <a:rPr lang="en-US" sz="2500" dirty="0"/>
              <a:t>Searching files, directories, getting data and writing data to files</a:t>
            </a:r>
          </a:p>
          <a:p>
            <a:pPr lvl="1" algn="just"/>
            <a:r>
              <a:rPr lang="en-US" sz="2500" dirty="0"/>
              <a:t>Launch command line as background process, suspend running programs, process control</a:t>
            </a:r>
          </a:p>
          <a:p>
            <a:pPr lvl="1" algn="just"/>
            <a:r>
              <a:rPr lang="en-US" sz="2500" dirty="0"/>
              <a:t>We can run multiple commands on a single command line using semicolon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ED9BE-644E-2091-E3DC-7663425B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427" y="4197097"/>
            <a:ext cx="7881211" cy="2624328"/>
          </a:xfrm>
          <a:prstGeom prst="rect">
            <a:avLst/>
          </a:prstGeom>
          <a:ln w="12700">
            <a:solidFill>
              <a:schemeClr val="bg2">
                <a:lumMod val="50000"/>
              </a:schemeClr>
            </a:solidFill>
          </a:ln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360C2644-53BB-608C-2A7F-73F19D504672}"/>
              </a:ext>
            </a:extLst>
          </p:cNvPr>
          <p:cNvSpPr/>
          <p:nvPr/>
        </p:nvSpPr>
        <p:spPr>
          <a:xfrm>
            <a:off x="1263395" y="4575435"/>
            <a:ext cx="192786" cy="792599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rgbClr val="C00000"/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0DFA74E-CDE0-3C52-7F3C-76330BC93718}"/>
              </a:ext>
            </a:extLst>
          </p:cNvPr>
          <p:cNvSpPr/>
          <p:nvPr/>
        </p:nvSpPr>
        <p:spPr>
          <a:xfrm>
            <a:off x="1263395" y="5527549"/>
            <a:ext cx="192786" cy="794892"/>
          </a:xfrm>
          <a:prstGeom prst="leftBrac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5E7AB76-85A3-BA4C-3363-D3A1F06E3C5A}"/>
              </a:ext>
            </a:extLst>
          </p:cNvPr>
          <p:cNvSpPr/>
          <p:nvPr/>
        </p:nvSpPr>
        <p:spPr>
          <a:xfrm>
            <a:off x="1288160" y="6413126"/>
            <a:ext cx="172974" cy="41744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3545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Shell Command Line:</a:t>
            </a:r>
          </a:p>
          <a:p>
            <a:pPr lvl="1" algn="just"/>
            <a:r>
              <a:rPr lang="en-US" sz="2600" dirty="0"/>
              <a:t>Using the basic features of the shell command line is easy, but mastering the use of all features can be difficult</a:t>
            </a:r>
          </a:p>
          <a:p>
            <a:pPr lvl="1" algn="just"/>
            <a:r>
              <a:rPr lang="en-US" sz="2600" dirty="0"/>
              <a:t>We can extend long shell command lines inside shell scripts or at the command line by using the backslash character (\), as follows:</a:t>
            </a:r>
          </a:p>
          <a:p>
            <a:pPr lvl="1" algn="just"/>
            <a:endParaRPr lang="en-US" sz="2600" dirty="0"/>
          </a:p>
          <a:p>
            <a:pPr lvl="1" algn="just"/>
            <a:endParaRPr lang="en-US" sz="2600" dirty="0"/>
          </a:p>
          <a:p>
            <a:pPr marL="457200" lvl="1" indent="0" algn="just">
              <a:buNone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5A4DF-D8CF-B14B-975E-7835639C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31" y="3962654"/>
            <a:ext cx="7826453" cy="1657241"/>
          </a:xfrm>
          <a:prstGeom prst="rect">
            <a:avLst/>
          </a:prstGeom>
          <a:ln w="12700"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635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Redirecting Input and Output:</a:t>
            </a:r>
          </a:p>
          <a:p>
            <a:pPr lvl="1" algn="just"/>
            <a:r>
              <a:rPr lang="en-US" sz="2600" dirty="0"/>
              <a:t>﻿You can create, overwrite, and append data to files at the command line, using a process called </a:t>
            </a:r>
            <a:r>
              <a:rPr lang="en-US" sz="2600" i="1" dirty="0"/>
              <a:t>input and output redirection</a:t>
            </a:r>
            <a:r>
              <a:rPr lang="en-US" sz="2600" dirty="0"/>
              <a:t>. </a:t>
            </a:r>
          </a:p>
          <a:p>
            <a:pPr lvl="1" algn="just"/>
            <a:r>
              <a:rPr lang="en-US" sz="2600" dirty="0"/>
              <a:t>The shell recognizes several special characters for this process, such as </a:t>
            </a:r>
            <a:r>
              <a:rPr lang="en-US" sz="2600" dirty="0">
                <a:solidFill>
                  <a:srgbClr val="C00000"/>
                </a:solidFill>
              </a:rPr>
              <a:t>&gt;, &lt;, </a:t>
            </a:r>
            <a:r>
              <a:rPr lang="en-US" sz="2600" dirty="0"/>
              <a:t>or</a:t>
            </a:r>
            <a:r>
              <a:rPr lang="en-US" sz="2600" dirty="0">
                <a:solidFill>
                  <a:srgbClr val="C00000"/>
                </a:solidFill>
              </a:rPr>
              <a:t> &gt;&gt;.</a:t>
            </a:r>
          </a:p>
          <a:p>
            <a:pPr lvl="1" algn="just"/>
            <a:endParaRPr lang="en-US" sz="2600" dirty="0"/>
          </a:p>
          <a:p>
            <a:pPr marL="457200" lvl="1" indent="0" algn="just">
              <a:buNone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08B95-3B40-C8EB-42C4-2C0EBAA5D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" t="65350" r="36247" b="471"/>
          <a:stretch/>
        </p:blipFill>
        <p:spPr>
          <a:xfrm>
            <a:off x="1477260" y="4166971"/>
            <a:ext cx="6155827" cy="41192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B152F-B1F3-7C60-0E2A-34AB4A14F6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774" r="4702"/>
          <a:stretch/>
        </p:blipFill>
        <p:spPr>
          <a:xfrm>
            <a:off x="1477260" y="4785562"/>
            <a:ext cx="8270701" cy="43566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D24BDA-3C11-F285-E38E-B6280E9F2777}"/>
              </a:ext>
            </a:extLst>
          </p:cNvPr>
          <p:cNvSpPr txBox="1"/>
          <p:nvPr/>
        </p:nvSpPr>
        <p:spPr>
          <a:xfrm>
            <a:off x="109728" y="4069949"/>
            <a:ext cx="1248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chemeClr val="tx2"/>
                </a:solidFill>
              </a:rPr>
              <a:t>Output redirection</a:t>
            </a:r>
            <a:endParaRPr lang="en-KR" sz="18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DE4E7-E62A-E1CD-8916-16E6A0BE90ED}"/>
              </a:ext>
            </a:extLst>
          </p:cNvPr>
          <p:cNvSpPr txBox="1"/>
          <p:nvPr/>
        </p:nvSpPr>
        <p:spPr>
          <a:xfrm>
            <a:off x="158035" y="4831282"/>
            <a:ext cx="1248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chemeClr val="tx2"/>
                </a:solidFill>
              </a:rPr>
              <a:t>Append</a:t>
            </a:r>
            <a:endParaRPr lang="en-KR" sz="1800" b="1" dirty="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4DF606-786D-E76B-1E38-1E6D6BC2F861}"/>
              </a:ext>
            </a:extLst>
          </p:cNvPr>
          <p:cNvCxnSpPr>
            <a:cxnSpLocks/>
          </p:cNvCxnSpPr>
          <p:nvPr/>
        </p:nvCxnSpPr>
        <p:spPr>
          <a:xfrm>
            <a:off x="1354836" y="4167068"/>
            <a:ext cx="0" cy="1892832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2512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BAA6B8-635B-B2AA-EEF0-B5496F64A7EC}"/>
              </a:ext>
            </a:extLst>
          </p:cNvPr>
          <p:cNvSpPr txBox="1"/>
          <p:nvPr/>
        </p:nvSpPr>
        <p:spPr>
          <a:xfrm>
            <a:off x="153420" y="5413569"/>
            <a:ext cx="1248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chemeClr val="tx2"/>
                </a:solidFill>
              </a:rPr>
              <a:t>Input redirection</a:t>
            </a:r>
            <a:endParaRPr lang="en-KR" sz="1800" b="1" dirty="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913363-E785-8780-A45A-E01027ACB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404" y="5538678"/>
            <a:ext cx="5820156" cy="42638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331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Piping Data:</a:t>
            </a:r>
          </a:p>
          <a:p>
            <a:pPr lvl="1" algn="just"/>
            <a:r>
              <a:rPr lang="en-US" sz="2600" dirty="0"/>
              <a:t>﻿Stringing together Linux commands in this fashion is known as using or creating pipes. </a:t>
            </a:r>
          </a:p>
          <a:p>
            <a:pPr lvl="1" algn="just"/>
            <a:r>
              <a:rPr lang="en-US" sz="2600" dirty="0"/>
              <a:t>Pipes are created on the command line with the bar operator </a:t>
            </a:r>
            <a:r>
              <a:rPr lang="en-US" sz="2600" dirty="0">
                <a:solidFill>
                  <a:srgbClr val="C00000"/>
                </a:solidFill>
              </a:rPr>
              <a:t>(|)</a:t>
            </a:r>
          </a:p>
          <a:p>
            <a:pPr marL="457200" lvl="1" indent="0" algn="just">
              <a:buNone/>
            </a:pPr>
            <a:endParaRPr lang="en-US" sz="2600" dirty="0">
              <a:solidFill>
                <a:srgbClr val="C00000"/>
              </a:solidFill>
            </a:endParaRPr>
          </a:p>
          <a:p>
            <a:pPr marL="457200" lvl="1" indent="0" algn="just">
              <a:buNone/>
            </a:pP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74507-8D10-9E19-456E-C3113F11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2" y="3850080"/>
            <a:ext cx="8661605" cy="83071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359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Shell Pattern-Matching Support:</a:t>
            </a:r>
          </a:p>
          <a:p>
            <a:pPr lvl="1" algn="just"/>
            <a:r>
              <a:rPr lang="en-US" sz="2600" dirty="0"/>
              <a:t>﻿</a:t>
            </a:r>
            <a:r>
              <a:rPr lang="en-US" sz="2600" dirty="0">
                <a:solidFill>
                  <a:srgbClr val="C00000"/>
                </a:solidFill>
              </a:rPr>
              <a:t>grep</a:t>
            </a:r>
            <a:r>
              <a:rPr lang="en-US" sz="2600" dirty="0"/>
              <a:t> supports shell pattern-matching which is a simpler version of regular expressions</a:t>
            </a:r>
          </a:p>
          <a:p>
            <a:pPr lvl="1" algn="just"/>
            <a:r>
              <a:rPr lang="en-US" sz="2600" dirty="0"/>
              <a:t>Search through files, directories or filter data input/output of commands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02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Basic Shell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Shell Pattern-Matching Support: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46316-4D94-2754-12F9-57EE456E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0" y="1727435"/>
            <a:ext cx="7969199" cy="462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5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Scheduling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﻿ Three ways to schedule commands in Ubuntu: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at</a:t>
            </a:r>
            <a:r>
              <a:rPr lang="en-US" sz="2600" dirty="0"/>
              <a:t> command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batch</a:t>
            </a:r>
            <a:r>
              <a:rPr lang="en-US" sz="2600" dirty="0"/>
              <a:t> command</a:t>
            </a:r>
          </a:p>
          <a:p>
            <a:pPr lvl="1"/>
            <a:r>
              <a:rPr lang="en-US" sz="2600" dirty="0" err="1">
                <a:solidFill>
                  <a:srgbClr val="C00000"/>
                </a:solidFill>
              </a:rPr>
              <a:t>cron</a:t>
            </a:r>
            <a:r>
              <a:rPr lang="en-US" sz="2600" dirty="0"/>
              <a:t> daemon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6B107-3F4E-8CAD-D948-8DEED302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3813537"/>
            <a:ext cx="9305036" cy="230063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2727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Scheduling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﻿ Cron Daemon:</a:t>
            </a:r>
          </a:p>
          <a:p>
            <a:pPr lvl="1" algn="just"/>
            <a:r>
              <a:rPr lang="en-US" sz="2600" dirty="0">
                <a:solidFill>
                  <a:srgbClr val="C00000"/>
                </a:solidFill>
              </a:rPr>
              <a:t>at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C00000"/>
                </a:solidFill>
              </a:rPr>
              <a:t>batch</a:t>
            </a:r>
            <a:r>
              <a:rPr lang="en-US" sz="2600" dirty="0"/>
              <a:t> ﻿work well if you just want to execute a single task at a later date, but they are less useful if you want to run a task frequently. </a:t>
            </a:r>
          </a:p>
          <a:p>
            <a:pPr lvl="1" algn="just"/>
            <a:r>
              <a:rPr lang="en-US" sz="2600" dirty="0"/>
              <a:t>﻿</a:t>
            </a:r>
            <a:r>
              <a:rPr lang="en-US" sz="2600" dirty="0" err="1">
                <a:solidFill>
                  <a:srgbClr val="C00000"/>
                </a:solidFill>
              </a:rPr>
              <a:t>cron</a:t>
            </a:r>
            <a:r>
              <a:rPr lang="en-US" sz="2600" dirty="0"/>
              <a:t> daemon exists for running tasks repeatedly based on system (and user) requests. </a:t>
            </a:r>
          </a:p>
          <a:p>
            <a:pPr lvl="1" algn="just"/>
            <a:r>
              <a:rPr lang="en-US" sz="2600" dirty="0"/>
              <a:t>﻿System jobs are controlled through the </a:t>
            </a:r>
            <a:r>
              <a:rPr lang="en-US" sz="2600" dirty="0">
                <a:solidFill>
                  <a:srgbClr val="C00000"/>
                </a:solidFill>
              </a:rPr>
              <a:t>/</a:t>
            </a:r>
            <a:r>
              <a:rPr lang="en-US" sz="2600" dirty="0" err="1">
                <a:solidFill>
                  <a:srgbClr val="C00000"/>
                </a:solidFill>
              </a:rPr>
              <a:t>etc</a:t>
            </a:r>
            <a:r>
              <a:rPr lang="en-US" sz="2600" dirty="0">
                <a:solidFill>
                  <a:srgbClr val="C00000"/>
                </a:solidFill>
              </a:rPr>
              <a:t>/crontab </a:t>
            </a:r>
            <a:r>
              <a:rPr lang="en-US" sz="2600" dirty="0"/>
              <a:t>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A8373-F173-588F-3383-AEE8950D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97" y="4318302"/>
            <a:ext cx="8370003" cy="2368296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95102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Scheduling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﻿ Cron Daemon:</a:t>
            </a:r>
          </a:p>
          <a:p>
            <a:pPr lvl="1" algn="just"/>
            <a:r>
              <a:rPr lang="en-US" sz="2600" dirty="0"/>
              <a:t>﻿To edit your own crontab file, type</a:t>
            </a:r>
            <a:r>
              <a:rPr lang="en-US" sz="2600" dirty="0">
                <a:solidFill>
                  <a:srgbClr val="C00000"/>
                </a:solidFill>
              </a:rPr>
              <a:t> crontab -e. </a:t>
            </a:r>
          </a:p>
          <a:p>
            <a:pPr lvl="1" algn="just"/>
            <a:r>
              <a:rPr lang="en-US" sz="2600" dirty="0"/>
              <a:t>﻿By default the editor is </a:t>
            </a:r>
            <a:r>
              <a:rPr lang="en-US" sz="2600" dirty="0">
                <a:solidFill>
                  <a:srgbClr val="C00000"/>
                </a:solidFill>
              </a:rPr>
              <a:t>vim</a:t>
            </a:r>
            <a:r>
              <a:rPr lang="en-US" sz="2600" dirty="0"/>
              <a:t>, also known by its older name </a:t>
            </a:r>
            <a:r>
              <a:rPr lang="en-US" sz="2600" dirty="0">
                <a:solidFill>
                  <a:srgbClr val="C00000"/>
                </a:solidFill>
              </a:rPr>
              <a:t>vi</a:t>
            </a:r>
          </a:p>
          <a:p>
            <a:pPr lvl="1" algn="just"/>
            <a:endParaRPr lang="en-US" sz="2600" dirty="0">
              <a:solidFill>
                <a:srgbClr val="C00000"/>
              </a:solidFill>
            </a:endParaRPr>
          </a:p>
          <a:p>
            <a:pPr lvl="2" algn="just">
              <a:buFont typeface="Wingdings" pitchFamily="2" charset="2"/>
              <a:buChar char="Ø"/>
            </a:pPr>
            <a:r>
              <a:rPr lang="en-US" sz="2200" dirty="0"/>
              <a:t>﻿A personal job to empty sandbox directory every morning at 6:00 a.m.</a:t>
            </a:r>
          </a:p>
          <a:p>
            <a:pPr lvl="1" algn="just"/>
            <a:r>
              <a:rPr lang="en-US" sz="2600" dirty="0">
                <a:solidFill>
                  <a:prstClr val="black"/>
                </a:solidFill>
              </a:rPr>
              <a:t>By </a:t>
            </a:r>
            <a:r>
              <a:rPr lang="en-US" sz="2600" dirty="0">
                <a:solidFill>
                  <a:srgbClr val="C00000"/>
                </a:solidFill>
              </a:rPr>
              <a:t>crontab -r </a:t>
            </a:r>
            <a:r>
              <a:rPr lang="en-US" sz="2600" dirty="0"/>
              <a:t>to delete your crontab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A89CA-F380-D6C7-EFC5-2BFFF2972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41" y="2853104"/>
            <a:ext cx="5058918" cy="53314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4449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Shell Script </a:t>
            </a:r>
          </a:p>
          <a:p>
            <a:pPr lvl="1" algn="just"/>
            <a:r>
              <a:rPr lang="en-US" dirty="0"/>
              <a:t>Shell script is </a:t>
            </a:r>
            <a:r>
              <a:rPr lang="en-US" dirty="0">
                <a:solidFill>
                  <a:srgbClr val="C00000"/>
                </a:solidFill>
              </a:rPr>
              <a:t>a list of commands</a:t>
            </a:r>
            <a:r>
              <a:rPr lang="en-US" dirty="0"/>
              <a:t>, which are listed in the </a:t>
            </a:r>
            <a:r>
              <a:rPr lang="en-US" dirty="0">
                <a:solidFill>
                  <a:srgbClr val="C00000"/>
                </a:solidFill>
              </a:rPr>
              <a:t>order of execution</a:t>
            </a:r>
            <a:r>
              <a:rPr lang="en-US" dirty="0"/>
              <a:t>. A shell script is a computer program designed to be run by the Unix/Linux shell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A1D6D-8962-7B85-8E3A-74E7FCF2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908" y="3080445"/>
            <a:ext cx="6819773" cy="37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85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should you write and use shell scripts? </a:t>
            </a:r>
          </a:p>
          <a:p>
            <a:pPr lvl="1" algn="just"/>
            <a:r>
              <a:rPr lang="en-US" sz="2600" dirty="0"/>
              <a:t>Shell scripts can </a:t>
            </a:r>
            <a:r>
              <a:rPr lang="en-US" sz="2600" dirty="0">
                <a:solidFill>
                  <a:srgbClr val="C00000"/>
                </a:solidFill>
              </a:rPr>
              <a:t>save you time and typing</a:t>
            </a:r>
            <a:r>
              <a:rPr lang="en-US" sz="2600" dirty="0"/>
              <a:t>, especially if you routinely </a:t>
            </a:r>
            <a:r>
              <a:rPr lang="en-US" sz="2600" dirty="0">
                <a:solidFill>
                  <a:srgbClr val="C00000"/>
                </a:solidFill>
              </a:rPr>
              <a:t>use the same command lines </a:t>
            </a:r>
            <a:r>
              <a:rPr lang="en-US" sz="2600" dirty="0"/>
              <a:t>multiple times every day.</a:t>
            </a:r>
          </a:p>
          <a:p>
            <a:pPr lvl="1" algn="just"/>
            <a:r>
              <a:rPr lang="en-US" sz="2600" dirty="0"/>
              <a:t>﻿A </a:t>
            </a:r>
            <a:r>
              <a:rPr lang="en-US" sz="2600" dirty="0">
                <a:solidFill>
                  <a:srgbClr val="C00000"/>
                </a:solidFill>
              </a:rPr>
              <a:t>shell program </a:t>
            </a:r>
            <a:r>
              <a:rPr lang="en-US" sz="2600" dirty="0"/>
              <a:t>can be smaller in size than a compiled program.</a:t>
            </a:r>
          </a:p>
          <a:p>
            <a:pPr lvl="1" algn="just"/>
            <a:r>
              <a:rPr lang="en-US" sz="2600" dirty="0"/>
              <a:t>﻿Shell program </a:t>
            </a:r>
            <a:r>
              <a:rPr lang="en-US" sz="2600" dirty="0">
                <a:solidFill>
                  <a:srgbClr val="C00000"/>
                </a:solidFill>
              </a:rPr>
              <a:t>does not require any additional library </a:t>
            </a:r>
            <a:r>
              <a:rPr lang="en-US" sz="2600" dirty="0"/>
              <a:t>support other than the shell.</a:t>
            </a:r>
          </a:p>
          <a:p>
            <a:pPr lvl="1" algn="just"/>
            <a:r>
              <a:rPr lang="en-US" sz="2600" dirty="0"/>
              <a:t>﻿The process of creating and testing shell scripts is also </a:t>
            </a:r>
            <a:r>
              <a:rPr lang="en-US" sz="2600" dirty="0">
                <a:solidFill>
                  <a:srgbClr val="C00000"/>
                </a:solidFill>
              </a:rPr>
              <a:t>generally simpler and faster </a:t>
            </a:r>
            <a:r>
              <a:rPr lang="en-US" sz="2600" dirty="0"/>
              <a:t>than the development process for equivalent C language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262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Basics of shell scripts </a:t>
            </a:r>
          </a:p>
          <a:p>
            <a:pPr lvl="1" algn="just"/>
            <a:r>
              <a:rPr lang="en-US" sz="2600" dirty="0"/>
              <a:t>﻿Write shell scripts using a text editor such as </a:t>
            </a:r>
            <a:r>
              <a:rPr lang="en-US" sz="2600" dirty="0">
                <a:solidFill>
                  <a:srgbClr val="C00000"/>
                </a:solidFill>
              </a:rPr>
              <a:t>vi, vim, nano </a:t>
            </a:r>
            <a:r>
              <a:rPr lang="en-US" sz="2600" dirty="0"/>
              <a:t>editor.</a:t>
            </a:r>
          </a:p>
          <a:p>
            <a:pPr lvl="1" algn="just"/>
            <a:r>
              <a:rPr lang="en-US" sz="2600" dirty="0"/>
              <a:t>Run in system-wide shell configuration: </a:t>
            </a:r>
            <a:r>
              <a:rPr lang="en-US" sz="2600" dirty="0">
                <a:solidFill>
                  <a:srgbClr val="C00000"/>
                </a:solidFill>
              </a:rPr>
              <a:t>/</a:t>
            </a:r>
            <a:r>
              <a:rPr lang="en-US" sz="2600" dirty="0" err="1">
                <a:solidFill>
                  <a:srgbClr val="C00000"/>
                </a:solidFill>
              </a:rPr>
              <a:t>etc</a:t>
            </a:r>
            <a:r>
              <a:rPr lang="en-US" sz="2600" dirty="0">
                <a:solidFill>
                  <a:srgbClr val="C00000"/>
                </a:solidFill>
              </a:rPr>
              <a:t>/.</a:t>
            </a:r>
            <a:r>
              <a:rPr lang="en-US" sz="2600" dirty="0" err="1">
                <a:solidFill>
                  <a:srgbClr val="C00000"/>
                </a:solidFill>
              </a:rPr>
              <a:t>bashrc</a:t>
            </a:r>
            <a:endParaRPr lang="en-US" sz="2600" dirty="0">
              <a:solidFill>
                <a:srgbClr val="C00000"/>
              </a:solidFill>
            </a:endParaRPr>
          </a:p>
          <a:p>
            <a:pPr lvl="1" algn="just"/>
            <a:r>
              <a:rPr lang="en-US" sz="2600" dirty="0"/>
              <a:t>Run in user profile in home directory: </a:t>
            </a:r>
            <a:r>
              <a:rPr lang="en-US" sz="2600" dirty="0">
                <a:solidFill>
                  <a:srgbClr val="C00000"/>
                </a:solidFill>
              </a:rPr>
              <a:t>.</a:t>
            </a:r>
            <a:r>
              <a:rPr lang="en-US" sz="2600" dirty="0" err="1">
                <a:solidFill>
                  <a:srgbClr val="C00000"/>
                </a:solidFill>
              </a:rPr>
              <a:t>bash_profile</a:t>
            </a:r>
            <a:endParaRPr lang="en-US" sz="2600" dirty="0"/>
          </a:p>
          <a:p>
            <a:pPr lvl="1" algn="just"/>
            <a:r>
              <a:rPr lang="en-US" sz="2600" dirty="0"/>
              <a:t>Run directly in shell. But require ﻿</a:t>
            </a:r>
            <a:r>
              <a:rPr lang="en-US" sz="2600" dirty="0" err="1">
                <a:solidFill>
                  <a:srgbClr val="C00000"/>
                </a:solidFill>
              </a:rPr>
              <a:t>chmod</a:t>
            </a:r>
            <a:r>
              <a:rPr lang="en-US" sz="2600" dirty="0">
                <a:solidFill>
                  <a:srgbClr val="C00000"/>
                </a:solidFill>
              </a:rPr>
              <a:t> +x </a:t>
            </a:r>
            <a:r>
              <a:rPr lang="en-US" sz="2600" dirty="0"/>
              <a:t>to have execution permission</a:t>
            </a:r>
          </a:p>
          <a:p>
            <a:pPr lvl="1" algn="just"/>
            <a:endParaRPr lang="en-US" sz="2600" dirty="0"/>
          </a:p>
          <a:p>
            <a:pPr lvl="1" algn="just"/>
            <a:endParaRPr lang="en-US" sz="2600" dirty="0"/>
          </a:p>
          <a:p>
            <a:pPr marL="457200" lvl="1" indent="0" algn="just">
              <a:buNone/>
            </a:pPr>
            <a:endParaRPr lang="en-US" sz="2600" dirty="0"/>
          </a:p>
          <a:p>
            <a:pPr lvl="2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8AD26-87F5-F5E1-6461-98060C562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47" y="4533761"/>
            <a:ext cx="7417695" cy="21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20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Basics of shell scripts </a:t>
            </a:r>
          </a:p>
          <a:p>
            <a:pPr lvl="1" algn="just"/>
            <a:r>
              <a:rPr lang="en-US" sz="2600" dirty="0"/>
              <a:t>﻿Beginning with </a:t>
            </a:r>
            <a:r>
              <a:rPr lang="en-US" sz="2600" dirty="0">
                <a:solidFill>
                  <a:srgbClr val="C00000"/>
                </a:solidFill>
              </a:rPr>
              <a:t>shebang line (#!)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#!/bin/</a:t>
            </a:r>
            <a:r>
              <a:rPr lang="en-US" sz="2200" dirty="0" err="1">
                <a:solidFill>
                  <a:srgbClr val="C00000"/>
                </a:solidFill>
              </a:rPr>
              <a:t>sh</a:t>
            </a:r>
            <a:r>
              <a:rPr lang="en-US" sz="2200" dirty="0">
                <a:solidFill>
                  <a:srgbClr val="C00000"/>
                </a:solidFill>
              </a:rPr>
              <a:t>: </a:t>
            </a:r>
            <a:r>
              <a:rPr lang="en-US" sz="2200" dirty="0"/>
              <a:t>Will be run in the </a:t>
            </a:r>
            <a:r>
              <a:rPr lang="en-US" sz="2200" dirty="0" err="1"/>
              <a:t>Bourne</a:t>
            </a:r>
            <a:r>
              <a:rPr lang="en-US" sz="2200" dirty="0"/>
              <a:t> shell, </a:t>
            </a:r>
            <a:r>
              <a:rPr lang="en-US" sz="2200" dirty="0" err="1"/>
              <a:t>sh</a:t>
            </a:r>
            <a:endParaRPr lang="en-US" sz="2200" dirty="0"/>
          </a:p>
          <a:p>
            <a:pPr lvl="1" algn="just"/>
            <a:r>
              <a:rPr lang="en-US" sz="2600" dirty="0">
                <a:solidFill>
                  <a:srgbClr val="C00000"/>
                </a:solidFill>
              </a:rPr>
              <a:t>Three types of variables:</a:t>
            </a:r>
          </a:p>
          <a:p>
            <a:pPr lvl="2" algn="just"/>
            <a:r>
              <a:rPr lang="en-US" sz="2200" dirty="0"/>
              <a:t>﻿</a:t>
            </a:r>
            <a:r>
              <a:rPr lang="en-US" sz="2200" b="1" dirty="0"/>
              <a:t>Environment variables: </a:t>
            </a:r>
            <a:r>
              <a:rPr lang="en-US" sz="2200" dirty="0"/>
              <a:t>Variables will be part of the system environment, in your shell program.</a:t>
            </a:r>
          </a:p>
          <a:p>
            <a:pPr lvl="2" algn="just"/>
            <a:r>
              <a:rPr lang="en-US" sz="2200" dirty="0"/>
              <a:t>﻿</a:t>
            </a:r>
            <a:r>
              <a:rPr lang="en-US" sz="2200" b="1" dirty="0"/>
              <a:t>Built-in variables: ﻿</a:t>
            </a:r>
            <a:r>
              <a:rPr lang="en-US" sz="2200" dirty="0"/>
              <a:t>Variables such as options used on the command. We cannot modify built-in variables. </a:t>
            </a:r>
          </a:p>
          <a:p>
            <a:pPr lvl="2" algn="just"/>
            <a:r>
              <a:rPr lang="en-US" sz="2200" b="1" dirty="0"/>
              <a:t>User variables: </a:t>
            </a:r>
            <a:r>
              <a:rPr lang="en-US" sz="2200" dirty="0"/>
              <a:t>Define in script and can be only available with in the shell script.</a:t>
            </a:r>
          </a:p>
          <a:p>
            <a:pPr lvl="2" algn="just"/>
            <a:r>
              <a:rPr lang="en-US" sz="2200" dirty="0"/>
              <a:t>We don’t need to provide the type for variable</a:t>
            </a:r>
          </a:p>
          <a:p>
            <a:pPr marL="457200" lvl="1" indent="0" algn="just">
              <a:buNone/>
            </a:pPr>
            <a:endParaRPr lang="en-US" sz="2600" dirty="0"/>
          </a:p>
          <a:p>
            <a:pPr lvl="2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621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Basics of shell scripts </a:t>
            </a:r>
          </a:p>
          <a:p>
            <a:pPr lvl="1" algn="just"/>
            <a:r>
              <a:rPr lang="en-US" sz="2600" dirty="0"/>
              <a:t>﻿Initialize value for variables:</a:t>
            </a:r>
          </a:p>
          <a:p>
            <a:pPr lvl="2" algn="just"/>
            <a:r>
              <a:rPr lang="en-US" sz="1800" dirty="0">
                <a:solidFill>
                  <a:srgbClr val="C00000"/>
                </a:solidFill>
              </a:rPr>
              <a:t>﻿</a:t>
            </a:r>
            <a:r>
              <a:rPr lang="en-US" sz="2200" dirty="0" err="1">
                <a:solidFill>
                  <a:srgbClr val="C00000"/>
                </a:solidFill>
              </a:rPr>
              <a:t>lcount</a:t>
            </a:r>
            <a:r>
              <a:rPr lang="en-US" sz="2200" dirty="0">
                <a:solidFill>
                  <a:srgbClr val="C00000"/>
                </a:solidFill>
              </a:rPr>
              <a:t>=0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﻿</a:t>
            </a:r>
            <a:r>
              <a:rPr lang="en-US" sz="2200" dirty="0" err="1">
                <a:solidFill>
                  <a:srgbClr val="C00000"/>
                </a:solidFill>
              </a:rPr>
              <a:t>myname</a:t>
            </a:r>
            <a:r>
              <a:rPr lang="en-US" sz="2200" dirty="0">
                <a:solidFill>
                  <a:srgbClr val="C00000"/>
                </a:solidFill>
              </a:rPr>
              <a:t>=“Sedona” 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Single quotes (‘) </a:t>
            </a:r>
            <a:r>
              <a:rPr lang="en-US" sz="2200" dirty="0"/>
              <a:t>prevent shell from expanding variables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﻿Backtick (`) </a:t>
            </a:r>
            <a:r>
              <a:rPr lang="en-US" sz="2200" dirty="0"/>
              <a:t>signals the shell to replace a string with its output when executed: ﻿</a:t>
            </a:r>
            <a:r>
              <a:rPr lang="en-US" sz="2200" dirty="0">
                <a:solidFill>
                  <a:srgbClr val="C00000"/>
                </a:solidFill>
              </a:rPr>
              <a:t>var=`cat </a:t>
            </a:r>
            <a:r>
              <a:rPr lang="en-US" sz="2200" dirty="0" err="1">
                <a:solidFill>
                  <a:srgbClr val="C00000"/>
                </a:solidFill>
              </a:rPr>
              <a:t>test.txt</a:t>
            </a:r>
            <a:r>
              <a:rPr lang="en-US" sz="2200" dirty="0">
                <a:solidFill>
                  <a:srgbClr val="C00000"/>
                </a:solidFill>
              </a:rPr>
              <a:t>`</a:t>
            </a:r>
          </a:p>
          <a:p>
            <a:pPr lvl="1" algn="just"/>
            <a:r>
              <a:rPr lang="en-US" sz="2600" dirty="0"/>
              <a:t>Access the value of variables</a:t>
            </a:r>
          </a:p>
          <a:p>
            <a:pPr lvl="2" algn="just"/>
            <a:r>
              <a:rPr lang="en-US" sz="2200" dirty="0" err="1">
                <a:solidFill>
                  <a:srgbClr val="C00000"/>
                </a:solidFill>
              </a:rPr>
              <a:t>lcount</a:t>
            </a:r>
            <a:r>
              <a:rPr lang="en-US" sz="2200" dirty="0">
                <a:solidFill>
                  <a:srgbClr val="C00000"/>
                </a:solidFill>
              </a:rPr>
              <a:t> =$var</a:t>
            </a:r>
          </a:p>
          <a:p>
            <a:pPr lvl="1" algn="just"/>
            <a:r>
              <a:rPr lang="en-US" sz="2600" dirty="0"/>
              <a:t>Positional Parameters:</a:t>
            </a:r>
          </a:p>
          <a:p>
            <a:pPr lvl="2" algn="just"/>
            <a:r>
              <a:rPr lang="en-US" sz="2200" dirty="0"/>
              <a:t>﻿Passing options from the command line or from another shell script to your shell program is possible.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﻿$1 </a:t>
            </a:r>
            <a:r>
              <a:rPr lang="en-US" sz="2200" dirty="0"/>
              <a:t>is the first parameter, </a:t>
            </a:r>
            <a:r>
              <a:rPr lang="en-US" sz="2200" dirty="0">
                <a:solidFill>
                  <a:srgbClr val="C00000"/>
                </a:solidFill>
              </a:rPr>
              <a:t>$2 </a:t>
            </a:r>
            <a:r>
              <a:rPr lang="en-US" sz="2200" dirty="0"/>
              <a:t>is the second parameter</a:t>
            </a:r>
          </a:p>
          <a:p>
            <a:pPr lvl="2" algn="just"/>
            <a:r>
              <a:rPr lang="en-US" sz="2200" dirty="0">
                <a:solidFill>
                  <a:srgbClr val="C00000"/>
                </a:solidFill>
              </a:rPr>
              <a:t>$0 </a:t>
            </a:r>
            <a:r>
              <a:rPr lang="en-US" sz="2200" dirty="0"/>
              <a:t>The filename of the current script.</a:t>
            </a:r>
          </a:p>
          <a:p>
            <a:pPr lvl="2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729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Array </a:t>
            </a:r>
          </a:p>
          <a:p>
            <a:pPr lvl="1" algn="just"/>
            <a:r>
              <a:rPr lang="en-US" sz="2200" dirty="0"/>
              <a:t>Define array: </a:t>
            </a:r>
            <a:r>
              <a:rPr lang="en-US" sz="2400" dirty="0" err="1">
                <a:solidFill>
                  <a:srgbClr val="C00000"/>
                </a:solidFill>
              </a:rPr>
              <a:t>array_name</a:t>
            </a:r>
            <a:r>
              <a:rPr lang="en-US" sz="2400" dirty="0">
                <a:solidFill>
                  <a:srgbClr val="C00000"/>
                </a:solidFill>
              </a:rPr>
              <a:t>=(value1 ... </a:t>
            </a:r>
            <a:r>
              <a:rPr lang="en-US" sz="2400" dirty="0" err="1">
                <a:solidFill>
                  <a:srgbClr val="C00000"/>
                </a:solidFill>
              </a:rPr>
              <a:t>valuen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endParaRPr lang="en-KR" sz="2400" dirty="0">
              <a:solidFill>
                <a:srgbClr val="C00000"/>
              </a:solidFill>
            </a:endParaRPr>
          </a:p>
          <a:p>
            <a:pPr lvl="1" algn="just"/>
            <a:r>
              <a:rPr lang="en-US" sz="2200" dirty="0"/>
              <a:t>Access value: </a:t>
            </a:r>
            <a:r>
              <a:rPr lang="en-US" sz="2400" dirty="0">
                <a:solidFill>
                  <a:srgbClr val="C00000"/>
                </a:solidFill>
              </a:rPr>
              <a:t>${</a:t>
            </a:r>
            <a:r>
              <a:rPr lang="en-US" sz="2400" dirty="0" err="1">
                <a:solidFill>
                  <a:srgbClr val="C00000"/>
                </a:solidFill>
              </a:rPr>
              <a:t>array_name</a:t>
            </a:r>
            <a:r>
              <a:rPr lang="en-US" sz="2400" dirty="0">
                <a:solidFill>
                  <a:srgbClr val="C00000"/>
                </a:solidFill>
              </a:rPr>
              <a:t>[index]}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5BD68-21E1-994C-FFB2-3ABB42A2B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03" y="2516842"/>
            <a:ext cx="7518146" cy="43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52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Arithmetic Operators</a:t>
            </a:r>
          </a:p>
          <a:p>
            <a:pPr lvl="1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38753-9DD9-F806-3041-CABDB67FE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2" b="1"/>
          <a:stretch/>
        </p:blipFill>
        <p:spPr>
          <a:xfrm>
            <a:off x="1372615" y="1555118"/>
            <a:ext cx="7017125" cy="5166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01A351-669C-0D9E-C24C-811CE3053F2D}"/>
              </a:ext>
            </a:extLst>
          </p:cNvPr>
          <p:cNvSpPr txBox="1"/>
          <p:nvPr/>
        </p:nvSpPr>
        <p:spPr>
          <a:xfrm>
            <a:off x="1338530" y="6585692"/>
            <a:ext cx="8072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600" dirty="0">
                <a:hlinkClick r:id="rId3"/>
              </a:rPr>
              <a:t>https://www.tutorialspoint.com/unix/unix-basic-operators.htm</a:t>
            </a:r>
            <a:endParaRPr lang="en-KR" sz="1600" dirty="0"/>
          </a:p>
          <a:p>
            <a:endParaRPr lang="en-KR" sz="1600" dirty="0"/>
          </a:p>
        </p:txBody>
      </p:sp>
    </p:spTree>
    <p:extLst>
      <p:ext uri="{BB962C8B-B14F-4D97-AF65-F5344CB8AC3E}">
        <p14:creationId xmlns:p14="http://schemas.microsoft.com/office/powerpoint/2010/main" val="1603011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Relational Operators</a:t>
            </a:r>
          </a:p>
          <a:p>
            <a:pPr lvl="1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638C2-77EA-DF93-14F3-665F4F2B4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09" y="1638564"/>
            <a:ext cx="7802782" cy="5055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9950A0-7900-661A-EDC1-BA30E199FB56}"/>
              </a:ext>
            </a:extLst>
          </p:cNvPr>
          <p:cNvSpPr txBox="1"/>
          <p:nvPr/>
        </p:nvSpPr>
        <p:spPr>
          <a:xfrm>
            <a:off x="1051609" y="6578167"/>
            <a:ext cx="8072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600" dirty="0">
                <a:hlinkClick r:id="rId3"/>
              </a:rPr>
              <a:t>https://www.tutorialspoint.com/unix/unix-basic-operators.htm</a:t>
            </a:r>
            <a:endParaRPr lang="en-KR" sz="1600" dirty="0"/>
          </a:p>
          <a:p>
            <a:endParaRPr lang="en-KR" sz="1600" dirty="0"/>
          </a:p>
        </p:txBody>
      </p:sp>
    </p:spTree>
    <p:extLst>
      <p:ext uri="{BB962C8B-B14F-4D97-AF65-F5344CB8AC3E}">
        <p14:creationId xmlns:p14="http://schemas.microsoft.com/office/powerpoint/2010/main" val="2448036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Boolean Operators</a:t>
            </a:r>
          </a:p>
          <a:p>
            <a:pPr lvl="1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950A0-7900-661A-EDC1-BA30E199FB56}"/>
              </a:ext>
            </a:extLst>
          </p:cNvPr>
          <p:cNvSpPr txBox="1"/>
          <p:nvPr/>
        </p:nvSpPr>
        <p:spPr>
          <a:xfrm>
            <a:off x="1051609" y="6578167"/>
            <a:ext cx="8072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600" dirty="0">
                <a:hlinkClick r:id="rId2"/>
              </a:rPr>
              <a:t>https://www.tutorialspoint.com/unix/unix-basic-operators.htm</a:t>
            </a:r>
            <a:endParaRPr lang="en-KR" sz="1600" dirty="0"/>
          </a:p>
          <a:p>
            <a:endParaRPr lang="en-KR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6FEC7-65BC-E398-4DD3-0BC5D53E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61" y="1962244"/>
            <a:ext cx="7653277" cy="25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5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String Operators</a:t>
            </a:r>
          </a:p>
          <a:p>
            <a:pPr lvl="1"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950A0-7900-661A-EDC1-BA30E199FB56}"/>
              </a:ext>
            </a:extLst>
          </p:cNvPr>
          <p:cNvSpPr txBox="1"/>
          <p:nvPr/>
        </p:nvSpPr>
        <p:spPr>
          <a:xfrm>
            <a:off x="1051609" y="6578167"/>
            <a:ext cx="8072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600" dirty="0">
                <a:hlinkClick r:id="rId2"/>
              </a:rPr>
              <a:t>https://www.tutorialspoint.com/unix/unix-basic-operators.htm</a:t>
            </a:r>
            <a:endParaRPr lang="en-KR" sz="1600" dirty="0"/>
          </a:p>
          <a:p>
            <a:endParaRPr lang="en-K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7C227-07F0-352F-CC1A-10869A3B4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678302"/>
            <a:ext cx="88265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6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Condition statements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if...;then…fi </a:t>
            </a:r>
            <a:r>
              <a:rPr lang="en-US" sz="2200" dirty="0"/>
              <a:t>statement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if...;then…else...fi </a:t>
            </a:r>
            <a:r>
              <a:rPr lang="en-US" sz="2200" dirty="0"/>
              <a:t>statement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if...;then…</a:t>
            </a:r>
            <a:r>
              <a:rPr lang="en-US" sz="2200" dirty="0" err="1">
                <a:solidFill>
                  <a:srgbClr val="C00000"/>
                </a:solidFill>
              </a:rPr>
              <a:t>elif</a:t>
            </a:r>
            <a:r>
              <a:rPr lang="en-US" sz="2200" dirty="0">
                <a:solidFill>
                  <a:srgbClr val="C00000"/>
                </a:solidFill>
              </a:rPr>
              <a:t>...; then…else...fi </a:t>
            </a:r>
            <a:r>
              <a:rPr lang="en-US" sz="2200" dirty="0"/>
              <a:t>statement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case...in…</a:t>
            </a:r>
            <a:r>
              <a:rPr lang="en-US" sz="2200" dirty="0" err="1">
                <a:solidFill>
                  <a:srgbClr val="C00000"/>
                </a:solidFill>
              </a:rPr>
              <a:t>esac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statement</a:t>
            </a:r>
          </a:p>
          <a:p>
            <a:pPr algn="just"/>
            <a:r>
              <a:rPr lang="en-US" sz="2600" b="1" dirty="0"/>
              <a:t>Loop controls: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while </a:t>
            </a:r>
            <a:r>
              <a:rPr lang="en-US" sz="2200" dirty="0"/>
              <a:t>expr</a:t>
            </a:r>
            <a:r>
              <a:rPr lang="en-US" sz="2200" dirty="0">
                <a:solidFill>
                  <a:srgbClr val="C00000"/>
                </a:solidFill>
              </a:rPr>
              <a:t> do </a:t>
            </a:r>
            <a:r>
              <a:rPr lang="en-US" sz="2200" dirty="0"/>
              <a:t>stats</a:t>
            </a:r>
            <a:r>
              <a:rPr lang="en-US" sz="2200" dirty="0">
                <a:solidFill>
                  <a:srgbClr val="C00000"/>
                </a:solidFill>
              </a:rPr>
              <a:t> done 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for  </a:t>
            </a:r>
            <a:r>
              <a:rPr lang="en-US" sz="2200" dirty="0"/>
              <a:t>expr</a:t>
            </a:r>
            <a:r>
              <a:rPr lang="en-US" sz="2200" dirty="0">
                <a:solidFill>
                  <a:srgbClr val="C00000"/>
                </a:solidFill>
              </a:rPr>
              <a:t> do</a:t>
            </a:r>
            <a:r>
              <a:rPr lang="en-US" sz="2200" dirty="0"/>
              <a:t> stats </a:t>
            </a:r>
            <a:r>
              <a:rPr lang="en-US" sz="2200" dirty="0">
                <a:solidFill>
                  <a:srgbClr val="C00000"/>
                </a:solidFill>
              </a:rPr>
              <a:t>done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until </a:t>
            </a:r>
            <a:r>
              <a:rPr lang="en-US" sz="2200" dirty="0"/>
              <a:t>expr</a:t>
            </a:r>
            <a:r>
              <a:rPr lang="en-US" sz="2200" dirty="0">
                <a:solidFill>
                  <a:srgbClr val="C00000"/>
                </a:solidFill>
              </a:rPr>
              <a:t> do</a:t>
            </a:r>
            <a:r>
              <a:rPr lang="en-US" sz="2200" dirty="0"/>
              <a:t> stats </a:t>
            </a:r>
            <a:r>
              <a:rPr lang="en-US" sz="2200" dirty="0">
                <a:solidFill>
                  <a:srgbClr val="C00000"/>
                </a:solidFill>
              </a:rPr>
              <a:t>done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break, continue</a:t>
            </a:r>
          </a:p>
          <a:p>
            <a:pPr lvl="1" algn="just"/>
            <a:r>
              <a:rPr lang="en-US" sz="2200" dirty="0">
                <a:solidFill>
                  <a:srgbClr val="C00000"/>
                </a:solidFill>
              </a:rPr>
              <a:t>exit: </a:t>
            </a:r>
            <a:r>
              <a:rPr lang="en-US" sz="2200" dirty="0"/>
              <a:t>to quite the shell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950A0-7900-661A-EDC1-BA30E199FB56}"/>
              </a:ext>
            </a:extLst>
          </p:cNvPr>
          <p:cNvSpPr txBox="1"/>
          <p:nvPr/>
        </p:nvSpPr>
        <p:spPr>
          <a:xfrm>
            <a:off x="1079041" y="6271099"/>
            <a:ext cx="80721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https://www.tutorialspoint.com/unix/unix-decision-making.htm</a:t>
            </a:r>
          </a:p>
          <a:p>
            <a:r>
              <a:rPr lang="en-US" sz="1600" dirty="0"/>
              <a:t>See further in Chapter 14 of Textbook</a:t>
            </a:r>
          </a:p>
          <a:p>
            <a:endParaRPr lang="en-KR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2DABD-6A34-79B1-C609-34A6CBB475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017"/>
          <a:stretch/>
        </p:blipFill>
        <p:spPr>
          <a:xfrm>
            <a:off x="5821524" y="3461495"/>
            <a:ext cx="3794154" cy="193564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D3F9E-DCAB-2B2B-F26B-C848DF8203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908"/>
          <a:stretch/>
        </p:blipFill>
        <p:spPr>
          <a:xfrm>
            <a:off x="6228489" y="1460865"/>
            <a:ext cx="3387189" cy="1485166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5921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﻿Writing and Executing a Shell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Shell Functions</a:t>
            </a:r>
          </a:p>
          <a:p>
            <a:pPr lvl="1" algn="just"/>
            <a:r>
              <a:rPr lang="en-US" sz="2200" dirty="0"/>
              <a:t>Declare a function</a:t>
            </a:r>
          </a:p>
          <a:p>
            <a:pPr lvl="1" algn="just"/>
            <a:endParaRPr lang="en-US" sz="2200" dirty="0"/>
          </a:p>
          <a:p>
            <a:pPr lvl="1" algn="just"/>
            <a:r>
              <a:rPr lang="en-US" sz="2200" dirty="0"/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950A0-7900-661A-EDC1-BA30E199FB56}"/>
              </a:ext>
            </a:extLst>
          </p:cNvPr>
          <p:cNvSpPr txBox="1"/>
          <p:nvPr/>
        </p:nvSpPr>
        <p:spPr>
          <a:xfrm>
            <a:off x="1069897" y="6513204"/>
            <a:ext cx="8072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https://www.tutorialspoint.com/unix/unix-decision-making.htm</a:t>
            </a:r>
          </a:p>
          <a:p>
            <a:endParaRPr lang="en-K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05BD8-89E6-7BD6-5777-B2042BA34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137"/>
          <a:stretch/>
        </p:blipFill>
        <p:spPr>
          <a:xfrm>
            <a:off x="3981397" y="1638325"/>
            <a:ext cx="2249170" cy="1066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B4558-923A-A68E-2162-8BB2895E6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640" y="2861631"/>
            <a:ext cx="6674104" cy="37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69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Remarks:</a:t>
            </a:r>
          </a:p>
          <a:p>
            <a:pPr lvl="1" algn="just"/>
            <a:r>
              <a:rPr lang="en-US" sz="2200" dirty="0"/>
              <a:t>This lecturer provides fundamentals of shell scripting and important features for later chapters.</a:t>
            </a:r>
          </a:p>
          <a:p>
            <a:pPr lvl="1" algn="just"/>
            <a:r>
              <a:rPr lang="en-US" sz="2200" dirty="0"/>
              <a:t>Review chapter 14 in textbook</a:t>
            </a:r>
          </a:p>
          <a:p>
            <a:pPr lvl="1" algn="just"/>
            <a:r>
              <a:rPr lang="en-US" sz="2200" dirty="0">
                <a:hlinkClick r:id="rId3"/>
              </a:rPr>
              <a:t>https://www.tutorialspoint.com/unix/shell_scripting.htm</a:t>
            </a:r>
            <a:endParaRPr lang="en-US" sz="2200" dirty="0"/>
          </a:p>
          <a:p>
            <a:pPr lvl="1" algn="just"/>
            <a:r>
              <a:rPr lang="en-US" sz="2200" dirty="0"/>
              <a:t>Practice with example commands and scripting codes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721356" cy="365125"/>
          </a:xfrm>
        </p:spPr>
        <p:txBody>
          <a:bodyPr/>
          <a:lstStyle/>
          <a:p>
            <a:pPr>
              <a:defRPr/>
            </a:pPr>
            <a:r>
              <a:rPr lang="en-US" altLang="en-US"/>
              <a:t>1-</a:t>
            </a:r>
            <a:fld id="{29A11730-EE35-46BE-9F13-4A255B0ABF74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32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11415</TotalTime>
  <Words>1337</Words>
  <Application>Microsoft Macintosh PowerPoint</Application>
  <PresentationFormat>A4 Paper (210x297 mm)</PresentationFormat>
  <Paragraphs>186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Gill Sans MT</vt:lpstr>
      <vt:lpstr>Times New Roman</vt:lpstr>
      <vt:lpstr>Wingdings</vt:lpstr>
      <vt:lpstr>Office Theme</vt:lpstr>
      <vt:lpstr>Chapter V.  Automating Tasks and Shell Scripting  </vt:lpstr>
      <vt:lpstr>Main contents</vt:lpstr>
      <vt:lpstr>What is Shell?</vt:lpstr>
      <vt:lpstr>What is Shell?</vt:lpstr>
      <vt:lpstr>What is Shell?</vt:lpstr>
      <vt:lpstr>Basic Shell Control</vt:lpstr>
      <vt:lpstr>Basic Shell Control</vt:lpstr>
      <vt:lpstr>Basic Shell Control</vt:lpstr>
      <vt:lpstr>Basic Shell Control</vt:lpstr>
      <vt:lpstr>Basic Shell Control</vt:lpstr>
      <vt:lpstr>Basic Shell Control</vt:lpstr>
      <vt:lpstr>Scheduling Tasks</vt:lpstr>
      <vt:lpstr>Scheduling Tasks</vt:lpstr>
      <vt:lpstr>Scheduling Tasks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Writing and Executing a Shell Script</vt:lpstr>
      <vt:lpstr>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Mạng máy tính</dc:title>
  <dc:creator>trantheson</dc:creator>
  <cp:lastModifiedBy>Huu Nhat Minh Nguyen</cp:lastModifiedBy>
  <cp:revision>436</cp:revision>
  <dcterms:created xsi:type="dcterms:W3CDTF">1999-10-08T19:08:27Z</dcterms:created>
  <dcterms:modified xsi:type="dcterms:W3CDTF">2022-08-21T12:32:01Z</dcterms:modified>
</cp:coreProperties>
</file>