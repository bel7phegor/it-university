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58" r:id="rId1"/>
  </p:sldMasterIdLst>
  <p:notesMasterIdLst>
    <p:notesMasterId r:id="rId27"/>
  </p:notesMasterIdLst>
  <p:sldIdLst>
    <p:sldId id="381" r:id="rId2"/>
    <p:sldId id="501" r:id="rId3"/>
    <p:sldId id="502" r:id="rId4"/>
    <p:sldId id="586" r:id="rId5"/>
    <p:sldId id="587" r:id="rId6"/>
    <p:sldId id="589" r:id="rId7"/>
    <p:sldId id="591" r:id="rId8"/>
    <p:sldId id="608" r:id="rId9"/>
    <p:sldId id="609" r:id="rId10"/>
    <p:sldId id="592" r:id="rId11"/>
    <p:sldId id="593" r:id="rId12"/>
    <p:sldId id="594" r:id="rId13"/>
    <p:sldId id="595" r:id="rId14"/>
    <p:sldId id="596" r:id="rId15"/>
    <p:sldId id="588" r:id="rId16"/>
    <p:sldId id="598" r:id="rId17"/>
    <p:sldId id="597" r:id="rId18"/>
    <p:sldId id="599" r:id="rId19"/>
    <p:sldId id="600" r:id="rId20"/>
    <p:sldId id="601" r:id="rId21"/>
    <p:sldId id="603" r:id="rId22"/>
    <p:sldId id="604" r:id="rId23"/>
    <p:sldId id="605" r:id="rId24"/>
    <p:sldId id="606" r:id="rId25"/>
    <p:sldId id="585" r:id="rId26"/>
  </p:sldIdLst>
  <p:sldSz cx="9906000" cy="6858000" type="A4"/>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B205"/>
    <a:srgbClr val="FFD714"/>
    <a:srgbClr val="FF0000"/>
    <a:srgbClr val="FFFF00"/>
    <a:srgbClr val="DDDDDD"/>
    <a:srgbClr val="FFCCFF"/>
    <a:srgbClr val="FF99CC"/>
    <a:srgbClr val="CCFFFF"/>
    <a:srgbClr val="33CC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30" autoAdjust="0"/>
    <p:restoredTop sz="83471" autoAdjust="0"/>
  </p:normalViewPr>
  <p:slideViewPr>
    <p:cSldViewPr snapToGrid="0" snapToObjects="1">
      <p:cViewPr varScale="1">
        <p:scale>
          <a:sx n="101" d="100"/>
          <a:sy n="101" d="100"/>
        </p:scale>
        <p:origin x="200" y="264"/>
      </p:cViewPr>
      <p:guideLst>
        <p:guide orient="horz" pos="2160"/>
        <p:guide pos="3120"/>
      </p:guideLst>
    </p:cSldViewPr>
  </p:slideViewPr>
  <p:notesTextViewPr>
    <p:cViewPr>
      <p:scale>
        <a:sx n="100" d="100"/>
        <a:sy n="100" d="100"/>
      </p:scale>
      <p:origin x="0" y="0"/>
    </p:cViewPr>
  </p:notesTextViewPr>
  <p:sorterViewPr>
    <p:cViewPr>
      <p:scale>
        <a:sx n="66" d="100"/>
        <a:sy n="66" d="100"/>
      </p:scale>
      <p:origin x="0" y="1353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67588" name="Rectangle 4"/>
          <p:cNvSpPr>
            <a:spLocks noGrp="1" noRot="1" noChangeAspect="1" noChangeArrowheads="1" noTextEdit="1"/>
          </p:cNvSpPr>
          <p:nvPr>
            <p:ph type="sldImg" idx="2"/>
          </p:nvPr>
        </p:nvSpPr>
        <p:spPr bwMode="auto">
          <a:xfrm>
            <a:off x="952500" y="685800"/>
            <a:ext cx="4953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BEF648C3-5A0C-4E7A-8D98-2A6F3A737A34}" type="slidenum">
              <a:rPr lang="en-US" altLang="en-US"/>
              <a:pPr>
                <a:defRPr/>
              </a:pPr>
              <a:t>‹#›</a:t>
            </a:fld>
            <a:endParaRPr lang="en-US" altLang="en-US"/>
          </a:p>
        </p:txBody>
      </p:sp>
    </p:spTree>
    <p:extLst>
      <p:ext uri="{BB962C8B-B14F-4D97-AF65-F5344CB8AC3E}">
        <p14:creationId xmlns:p14="http://schemas.microsoft.com/office/powerpoint/2010/main" val="41991879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pPr>
              <a:defRPr/>
            </a:pPr>
            <a:fld id="{BEF648C3-5A0C-4E7A-8D98-2A6F3A737A34}" type="slidenum">
              <a:rPr lang="en-US" altLang="en-US" smtClean="0"/>
              <a:pPr>
                <a:defRPr/>
              </a:pPr>
              <a:t>1</a:t>
            </a:fld>
            <a:endParaRPr lang="en-US" altLang="en-US"/>
          </a:p>
        </p:txBody>
      </p:sp>
    </p:spTree>
    <p:extLst>
      <p:ext uri="{BB962C8B-B14F-4D97-AF65-F5344CB8AC3E}">
        <p14:creationId xmlns:p14="http://schemas.microsoft.com/office/powerpoint/2010/main" val="59577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pPr>
              <a:defRPr/>
            </a:pPr>
            <a:fld id="{BEF648C3-5A0C-4E7A-8D98-2A6F3A737A34}" type="slidenum">
              <a:rPr lang="en-US" altLang="en-US" smtClean="0"/>
              <a:pPr>
                <a:defRPr/>
              </a:pPr>
              <a:t>2</a:t>
            </a:fld>
            <a:endParaRPr lang="en-US" altLang="en-US"/>
          </a:p>
        </p:txBody>
      </p:sp>
    </p:spTree>
    <p:extLst>
      <p:ext uri="{BB962C8B-B14F-4D97-AF65-F5344CB8AC3E}">
        <p14:creationId xmlns:p14="http://schemas.microsoft.com/office/powerpoint/2010/main" val="3452512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pPr>
              <a:defRPr/>
            </a:pPr>
            <a:fld id="{BEF648C3-5A0C-4E7A-8D98-2A6F3A737A34}" type="slidenum">
              <a:rPr lang="en-US" altLang="en-US" smtClean="0"/>
              <a:pPr>
                <a:defRPr/>
              </a:pPr>
              <a:t>25</a:t>
            </a:fld>
            <a:endParaRPr lang="en-US" altLang="en-US"/>
          </a:p>
        </p:txBody>
      </p:sp>
    </p:spTree>
    <p:extLst>
      <p:ext uri="{BB962C8B-B14F-4D97-AF65-F5344CB8AC3E}">
        <p14:creationId xmlns:p14="http://schemas.microsoft.com/office/powerpoint/2010/main" val="244110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8"/>
            <a:ext cx="8420100" cy="1470025"/>
          </a:xfrm>
        </p:spPr>
        <p:txBody>
          <a:bodyPr/>
          <a:lstStyle/>
          <a:p>
            <a:r>
              <a:rPr lang="en-US"/>
              <a:t>Click to edit Master title style</a:t>
            </a:r>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Tổng quan về Mạng máy tính</a:t>
            </a:r>
          </a:p>
        </p:txBody>
      </p:sp>
      <p:sp>
        <p:nvSpPr>
          <p:cNvPr id="6" name="Slide Number Placeholder 5"/>
          <p:cNvSpPr>
            <a:spLocks noGrp="1"/>
          </p:cNvSpPr>
          <p:nvPr>
            <p:ph type="sldNum" sz="quarter" idx="12"/>
          </p:nvPr>
        </p:nvSpPr>
        <p:spPr/>
        <p:txBody>
          <a:bodyPr/>
          <a:lstStyle/>
          <a:p>
            <a:pPr>
              <a:defRPr/>
            </a:pPr>
            <a:r>
              <a:rPr lang="en-US" altLang="en-US"/>
              <a:t>1-</a:t>
            </a:r>
            <a:fld id="{DC021782-BED8-4497-9C87-723925897A36}" type="slidenum">
              <a:rPr lang="en-US" altLang="en-US" smtClean="0"/>
              <a:pPr>
                <a:defRPr/>
              </a:pPr>
              <a:t>‹#›</a:t>
            </a:fld>
            <a:endParaRPr lang="en-US" altLang="en-US"/>
          </a:p>
        </p:txBody>
      </p:sp>
    </p:spTree>
    <p:extLst>
      <p:ext uri="{BB962C8B-B14F-4D97-AF65-F5344CB8AC3E}">
        <p14:creationId xmlns:p14="http://schemas.microsoft.com/office/powerpoint/2010/main" val="957149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02890" y="171402"/>
            <a:ext cx="8407810" cy="777876"/>
          </a:xfrm>
        </p:spPr>
        <p:txBody>
          <a:bodyPr/>
          <a:lstStyle/>
          <a:p>
            <a:r>
              <a:rPr lang="en-US"/>
              <a:t>Click to edit Master title style</a:t>
            </a:r>
          </a:p>
        </p:txBody>
      </p:sp>
      <p:sp>
        <p:nvSpPr>
          <p:cNvPr id="3" name="Content Placeholder 2"/>
          <p:cNvSpPr>
            <a:spLocks noGrp="1"/>
          </p:cNvSpPr>
          <p:nvPr>
            <p:ph idx="1"/>
          </p:nvPr>
        </p:nvSpPr>
        <p:spPr>
          <a:xfrm>
            <a:off x="495300" y="1106129"/>
            <a:ext cx="8915400" cy="5250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Tổng quan về Mạng máy tính</a:t>
            </a:r>
          </a:p>
        </p:txBody>
      </p:sp>
      <p:sp>
        <p:nvSpPr>
          <p:cNvPr id="6" name="Slide Number Placeholder 5"/>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a:t>
            </a:fld>
            <a:endParaRPr lang="en-US" altLang="en-US"/>
          </a:p>
        </p:txBody>
      </p:sp>
      <p:pic>
        <p:nvPicPr>
          <p:cNvPr id="7" name="Picture 2" descr="underline_base"/>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07575" y="888014"/>
            <a:ext cx="6356554" cy="9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3063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3"/>
            <a:ext cx="84201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Tổng quan về Mạng máy tính</a:t>
            </a:r>
          </a:p>
        </p:txBody>
      </p:sp>
      <p:sp>
        <p:nvSpPr>
          <p:cNvPr id="6" name="Slide Number Placeholder 5"/>
          <p:cNvSpPr>
            <a:spLocks noGrp="1"/>
          </p:cNvSpPr>
          <p:nvPr>
            <p:ph type="sldNum" sz="quarter" idx="12"/>
          </p:nvPr>
        </p:nvSpPr>
        <p:spPr/>
        <p:txBody>
          <a:bodyPr/>
          <a:lstStyle/>
          <a:p>
            <a:pPr>
              <a:defRPr/>
            </a:pPr>
            <a:r>
              <a:rPr lang="en-US" altLang="en-US"/>
              <a:t>1-</a:t>
            </a:r>
            <a:fld id="{E7C7FD4E-07FB-4138-97E4-DD758205C398}" type="slidenum">
              <a:rPr lang="en-US" altLang="en-US" smtClean="0"/>
              <a:pPr>
                <a:defRPr/>
              </a:pPr>
              <a:t>‹#›</a:t>
            </a:fld>
            <a:endParaRPr lang="en-US" altLang="en-US"/>
          </a:p>
        </p:txBody>
      </p:sp>
    </p:spTree>
    <p:extLst>
      <p:ext uri="{BB962C8B-B14F-4D97-AF65-F5344CB8AC3E}">
        <p14:creationId xmlns:p14="http://schemas.microsoft.com/office/powerpoint/2010/main" val="1176718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47136" y="274638"/>
            <a:ext cx="8568812" cy="743001"/>
          </a:xfrm>
        </p:spPr>
        <p:txBody>
          <a:bodyPr/>
          <a:lstStyle/>
          <a:p>
            <a:r>
              <a:rPr lang="en-US"/>
              <a:t>Click to edit Master title style</a:t>
            </a:r>
          </a:p>
        </p:txBody>
      </p:sp>
      <p:sp>
        <p:nvSpPr>
          <p:cNvPr id="3" name="Content Placeholder 2"/>
          <p:cNvSpPr>
            <a:spLocks noGrp="1"/>
          </p:cNvSpPr>
          <p:nvPr>
            <p:ph sz="half" idx="1"/>
          </p:nvPr>
        </p:nvSpPr>
        <p:spPr>
          <a:xfrm>
            <a:off x="536575" y="1253613"/>
            <a:ext cx="4167647" cy="48725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48300" y="1253613"/>
            <a:ext cx="4167647" cy="48725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Tổng quan về Mạng máy tính</a:t>
            </a:r>
          </a:p>
        </p:txBody>
      </p:sp>
      <p:sp>
        <p:nvSpPr>
          <p:cNvPr id="7" name="Slide Number Placeholder 6"/>
          <p:cNvSpPr>
            <a:spLocks noGrp="1"/>
          </p:cNvSpPr>
          <p:nvPr>
            <p:ph type="sldNum" sz="quarter" idx="12"/>
          </p:nvPr>
        </p:nvSpPr>
        <p:spPr/>
        <p:txBody>
          <a:bodyPr/>
          <a:lstStyle/>
          <a:p>
            <a:pPr>
              <a:defRPr/>
            </a:pPr>
            <a:r>
              <a:rPr lang="en-US" altLang="en-US"/>
              <a:t>1-</a:t>
            </a:r>
            <a:fld id="{B521C1A5-495D-4A1A-9101-EB9994DE8ED6}" type="slidenum">
              <a:rPr lang="en-US" altLang="en-US" smtClean="0"/>
              <a:pPr>
                <a:defRPr/>
              </a:pPr>
              <a:t>‹#›</a:t>
            </a:fld>
            <a:endParaRPr lang="en-US" altLang="en-US"/>
          </a:p>
        </p:txBody>
      </p:sp>
      <p:pic>
        <p:nvPicPr>
          <p:cNvPr id="8" name="Picture 2" descr="underline_base"/>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07575" y="961754"/>
            <a:ext cx="6946490" cy="55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1665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2890" y="274638"/>
            <a:ext cx="8407809"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2"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2"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r>
              <a:rPr lang="en-US" altLang="en-US"/>
              <a:t>Tổng quan về Mạng máy tính</a:t>
            </a:r>
          </a:p>
        </p:txBody>
      </p:sp>
      <p:sp>
        <p:nvSpPr>
          <p:cNvPr id="9" name="Slide Number Placeholder 8"/>
          <p:cNvSpPr>
            <a:spLocks noGrp="1"/>
          </p:cNvSpPr>
          <p:nvPr>
            <p:ph type="sldNum" sz="quarter" idx="12"/>
          </p:nvPr>
        </p:nvSpPr>
        <p:spPr/>
        <p:txBody>
          <a:bodyPr/>
          <a:lstStyle/>
          <a:p>
            <a:pPr>
              <a:defRPr/>
            </a:pPr>
            <a:r>
              <a:rPr lang="en-US" altLang="en-US"/>
              <a:t>1-</a:t>
            </a:r>
            <a:fld id="{C87C0EB0-4A49-4670-9C45-5E51CE66419A}" type="slidenum">
              <a:rPr lang="en-US" altLang="en-US" smtClean="0"/>
              <a:pPr>
                <a:defRPr/>
              </a:pPr>
              <a:t>‹#›</a:t>
            </a:fld>
            <a:endParaRPr lang="en-US" altLang="en-US"/>
          </a:p>
        </p:txBody>
      </p:sp>
      <p:pic>
        <p:nvPicPr>
          <p:cNvPr id="10" name="Picture 2" descr="underline_base"/>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43547" y="1374707"/>
            <a:ext cx="6356554" cy="9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3476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61885" y="274638"/>
            <a:ext cx="8642554" cy="1143000"/>
          </a:xfrm>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r>
              <a:rPr lang="en-US" altLang="en-US"/>
              <a:t>Tổng quan về Mạng máy tính</a:t>
            </a:r>
          </a:p>
        </p:txBody>
      </p:sp>
      <p:sp>
        <p:nvSpPr>
          <p:cNvPr id="5" name="Slide Number Placeholder 4"/>
          <p:cNvSpPr>
            <a:spLocks noGrp="1"/>
          </p:cNvSpPr>
          <p:nvPr>
            <p:ph type="sldNum" sz="quarter" idx="12"/>
          </p:nvPr>
        </p:nvSpPr>
        <p:spPr/>
        <p:txBody>
          <a:bodyPr/>
          <a:lstStyle/>
          <a:p>
            <a:pPr>
              <a:defRPr/>
            </a:pPr>
            <a:r>
              <a:rPr lang="en-US" altLang="en-US"/>
              <a:t>1-</a:t>
            </a:r>
            <a:fld id="{19D10ECD-4849-4527-873D-3C00FE0B3DC6}" type="slidenum">
              <a:rPr lang="en-US" altLang="en-US" smtClean="0"/>
              <a:pPr>
                <a:defRPr/>
              </a:pPr>
              <a:t>‹#›</a:t>
            </a:fld>
            <a:endParaRPr lang="en-US" altLang="en-US"/>
          </a:p>
        </p:txBody>
      </p:sp>
      <p:pic>
        <p:nvPicPr>
          <p:cNvPr id="6" name="Picture 2" descr="underline_base"/>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69805" y="1286220"/>
            <a:ext cx="6356554" cy="9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7556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r>
              <a:rPr lang="en-US" altLang="en-US"/>
              <a:t>Tổng quan về Mạng máy tính</a:t>
            </a:r>
          </a:p>
        </p:txBody>
      </p:sp>
      <p:sp>
        <p:nvSpPr>
          <p:cNvPr id="4" name="Slide Number Placeholder 3"/>
          <p:cNvSpPr>
            <a:spLocks noGrp="1"/>
          </p:cNvSpPr>
          <p:nvPr>
            <p:ph type="sldNum" sz="quarter" idx="12"/>
          </p:nvPr>
        </p:nvSpPr>
        <p:spPr/>
        <p:txBody>
          <a:bodyPr/>
          <a:lstStyle/>
          <a:p>
            <a:pPr>
              <a:defRPr/>
            </a:pPr>
            <a:r>
              <a:rPr lang="en-US" altLang="en-US"/>
              <a:t>1-</a:t>
            </a:r>
            <a:fld id="{E4D0611B-5CCC-462E-8A46-19B326B4FFB5}" type="slidenum">
              <a:rPr lang="en-US" altLang="en-US" smtClean="0"/>
              <a:pPr>
                <a:defRPr/>
              </a:pPr>
              <a:t>‹#›</a:t>
            </a:fld>
            <a:endParaRPr lang="en-US" altLang="en-US"/>
          </a:p>
        </p:txBody>
      </p:sp>
    </p:spTree>
    <p:extLst>
      <p:ext uri="{BB962C8B-B14F-4D97-AF65-F5344CB8AC3E}">
        <p14:creationId xmlns:p14="http://schemas.microsoft.com/office/powerpoint/2010/main" val="2807760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707922"/>
            <a:ext cx="3259006" cy="72717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2" y="273053"/>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Tổng quan về Mạng máy tính</a:t>
            </a:r>
          </a:p>
        </p:txBody>
      </p:sp>
      <p:sp>
        <p:nvSpPr>
          <p:cNvPr id="7" name="Slide Number Placeholder 6"/>
          <p:cNvSpPr>
            <a:spLocks noGrp="1"/>
          </p:cNvSpPr>
          <p:nvPr>
            <p:ph type="sldNum" sz="quarter" idx="12"/>
          </p:nvPr>
        </p:nvSpPr>
        <p:spPr/>
        <p:txBody>
          <a:bodyPr/>
          <a:lstStyle/>
          <a:p>
            <a:pPr>
              <a:defRPr/>
            </a:pPr>
            <a:r>
              <a:rPr lang="en-US" altLang="en-US"/>
              <a:t>1-</a:t>
            </a:r>
            <a:fld id="{82D1830E-0045-4439-9205-34B46881E57C}" type="slidenum">
              <a:rPr lang="en-US" altLang="en-US" smtClean="0"/>
              <a:pPr>
                <a:defRPr/>
              </a:pPr>
              <a:t>‹#›</a:t>
            </a:fld>
            <a:endParaRPr lang="en-US" altLang="en-US"/>
          </a:p>
        </p:txBody>
      </p:sp>
      <p:pic>
        <p:nvPicPr>
          <p:cNvPr id="8" name="Picture 2" descr="underline_base"/>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3679" y="1404200"/>
            <a:ext cx="2920179" cy="9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5348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r>
              <a:rPr lang="en-US" altLang="en-US"/>
              <a:t>Tổng quan về Mạng máy tính</a:t>
            </a:r>
          </a:p>
        </p:txBody>
      </p:sp>
      <p:sp>
        <p:nvSpPr>
          <p:cNvPr id="7" name="Slide Number Placeholder 6"/>
          <p:cNvSpPr>
            <a:spLocks noGrp="1"/>
          </p:cNvSpPr>
          <p:nvPr>
            <p:ph type="sldNum" sz="quarter" idx="12"/>
          </p:nvPr>
        </p:nvSpPr>
        <p:spPr/>
        <p:txBody>
          <a:bodyPr/>
          <a:lstStyle/>
          <a:p>
            <a:pPr>
              <a:defRPr/>
            </a:pPr>
            <a:r>
              <a:rPr lang="en-US" altLang="en-US"/>
              <a:t>1-</a:t>
            </a:r>
            <a:fld id="{5C3D3F93-A14F-4CEE-8F05-279B4903D938}" type="slidenum">
              <a:rPr lang="en-US" altLang="en-US" smtClean="0"/>
              <a:pPr>
                <a:defRPr/>
              </a:pPr>
              <a:t>‹#›</a:t>
            </a:fld>
            <a:endParaRPr lang="en-US" altLang="en-US"/>
          </a:p>
        </p:txBody>
      </p:sp>
    </p:spTree>
    <p:extLst>
      <p:ext uri="{BB962C8B-B14F-4D97-AF65-F5344CB8AC3E}">
        <p14:creationId xmlns:p14="http://schemas.microsoft.com/office/powerpoint/2010/main" val="4048220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91382" y="274638"/>
            <a:ext cx="8319318" cy="882333"/>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Tổng quan về Mạng máy tính</a:t>
            </a:r>
          </a:p>
        </p:txBody>
      </p:sp>
      <p:sp>
        <p:nvSpPr>
          <p:cNvPr id="6" name="Slide Number Placeholder 5"/>
          <p:cNvSpPr>
            <a:spLocks noGrp="1"/>
          </p:cNvSpPr>
          <p:nvPr>
            <p:ph type="sldNum" sz="quarter" idx="12"/>
          </p:nvPr>
        </p:nvSpPr>
        <p:spPr/>
        <p:txBody>
          <a:bodyPr/>
          <a:lstStyle/>
          <a:p>
            <a:pPr>
              <a:defRPr/>
            </a:pPr>
            <a:r>
              <a:rPr lang="en-US" altLang="en-US"/>
              <a:t>1-</a:t>
            </a:r>
            <a:fld id="{7F429402-9C01-4ABF-BCE5-3E52623824C0}" type="slidenum">
              <a:rPr lang="en-US" altLang="en-US" smtClean="0"/>
              <a:pPr>
                <a:defRPr/>
              </a:pPr>
              <a:t>‹#›</a:t>
            </a:fld>
            <a:endParaRPr lang="en-US" altLang="en-US"/>
          </a:p>
        </p:txBody>
      </p:sp>
      <p:pic>
        <p:nvPicPr>
          <p:cNvPr id="7" name="Picture 2" descr="underline_base"/>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07575" y="1064991"/>
            <a:ext cx="6356554" cy="9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5403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80337" y="274641"/>
            <a:ext cx="1953598"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6576" y="274641"/>
            <a:ext cx="707866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Tổng quan về Mạng máy tính</a:t>
            </a:r>
          </a:p>
        </p:txBody>
      </p:sp>
      <p:sp>
        <p:nvSpPr>
          <p:cNvPr id="6" name="Slide Number Placeholder 5"/>
          <p:cNvSpPr>
            <a:spLocks noGrp="1"/>
          </p:cNvSpPr>
          <p:nvPr>
            <p:ph type="sldNum" sz="quarter" idx="12"/>
          </p:nvPr>
        </p:nvSpPr>
        <p:spPr/>
        <p:txBody>
          <a:bodyPr/>
          <a:lstStyle/>
          <a:p>
            <a:pPr>
              <a:defRPr/>
            </a:pPr>
            <a:r>
              <a:rPr lang="en-US" altLang="en-US"/>
              <a:t>1-</a:t>
            </a:r>
            <a:fld id="{2A154CDF-CB36-47C5-8D22-31B943F3F247}" type="slidenum">
              <a:rPr lang="en-US" altLang="en-US" smtClean="0"/>
              <a:pPr>
                <a:defRPr/>
              </a:pPr>
              <a:t>‹#›</a:t>
            </a:fld>
            <a:endParaRPr lang="en-US" altLang="en-US"/>
          </a:p>
        </p:txBody>
      </p:sp>
    </p:spTree>
    <p:extLst>
      <p:ext uri="{BB962C8B-B14F-4D97-AF65-F5344CB8AC3E}">
        <p14:creationId xmlns:p14="http://schemas.microsoft.com/office/powerpoint/2010/main" val="2594383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82851" y="274638"/>
            <a:ext cx="8327849" cy="7778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95300" y="1156971"/>
            <a:ext cx="8915400" cy="51993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95300" y="6356353"/>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3384550" y="6356353"/>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ltLang="en-US"/>
              <a:t>Tổng quan về Mạng máy tính</a:t>
            </a:r>
          </a:p>
        </p:txBody>
      </p:sp>
      <p:sp>
        <p:nvSpPr>
          <p:cNvPr id="6" name="Slide Number Placeholder 5"/>
          <p:cNvSpPr>
            <a:spLocks noGrp="1"/>
          </p:cNvSpPr>
          <p:nvPr>
            <p:ph type="sldNum" sz="quarter" idx="4"/>
          </p:nvPr>
        </p:nvSpPr>
        <p:spPr>
          <a:xfrm>
            <a:off x="7099300" y="6356353"/>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lang="en-US" altLang="en-US"/>
              <a:t>1-</a:t>
            </a:r>
            <a:fld id="{8AABA303-076F-452A-8CE8-F7D997E19906}" type="slidenum">
              <a:rPr lang="en-US" altLang="en-US" smtClean="0"/>
              <a:pPr>
                <a:defRPr/>
              </a:pPr>
              <a:t>‹#›</a:t>
            </a:fld>
            <a:endParaRPr lang="en-US" altLang="en-US"/>
          </a:p>
        </p:txBody>
      </p:sp>
      <p:pic>
        <p:nvPicPr>
          <p:cNvPr id="7" name="Picture 1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4734" y="66945"/>
            <a:ext cx="1018117"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8306517"/>
      </p:ext>
    </p:extLst>
  </p:cSld>
  <p:clrMap bg1="lt1" tx1="dk1" bg2="lt2" tx2="dk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 id="2147483968" r:id="rId10"/>
    <p:sldLayoutId id="2147483969" r:id="rId11"/>
  </p:sldLayoutIdLst>
  <p:hf hdr="0" ftr="0" dt="0"/>
  <p:txStyles>
    <p:titleStyle>
      <a:lvl1pPr algn="l" defTabSz="914400" rtl="0" eaLnBrk="1" latinLnBrk="0" hangingPunct="1">
        <a:spcBef>
          <a:spcPct val="0"/>
        </a:spcBef>
        <a:buNone/>
        <a:defRPr sz="4400" kern="1200">
          <a:solidFill>
            <a:schemeClr val="tx1"/>
          </a:solidFill>
          <a:latin typeface="Gill Sans MT" panose="020B0502020104020203" pitchFamily="34" charset="0"/>
          <a:ea typeface="+mj-ea"/>
          <a:cs typeface="+mj-cs"/>
        </a:defRPr>
      </a:lvl1pPr>
    </p:titleStyle>
    <p:bodyStyle>
      <a:lvl1pPr marL="342900" indent="-342900" algn="l" defTabSz="914400" rtl="0" eaLnBrk="1" latinLnBrk="0" hangingPunct="1">
        <a:spcBef>
          <a:spcPct val="20000"/>
        </a:spcBef>
        <a:buFont typeface="Wingdings" panose="05000000000000000000" pitchFamily="2" charset="2"/>
        <a:buChar char="Ø"/>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Wingdings" panose="05000000000000000000" pitchFamily="2" charset="2"/>
        <a:buChar char="ü"/>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techsupportpk.com/2015/05/linux-systemd-essentials-working-with-services-units-and-the-journal.html"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techsupportpk.com/2015/05/linux-systemd-essentials-working-with-services-units-and-the-journal.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00325"/>
            <a:ext cx="9905999" cy="2286000"/>
          </a:xfrm>
        </p:spPr>
        <p:txBody>
          <a:bodyPr>
            <a:normAutofit/>
          </a:bodyPr>
          <a:lstStyle/>
          <a:p>
            <a:pPr algn="ctr" eaLnBrk="1" fontAlgn="auto" hangingPunct="1">
              <a:spcAft>
                <a:spcPts val="0"/>
              </a:spcAft>
              <a:defRPr/>
            </a:pPr>
            <a:r>
              <a:rPr lang="en-GB" sz="3000" dirty="0">
                <a:solidFill>
                  <a:schemeClr val="tx2">
                    <a:satMod val="130000"/>
                  </a:schemeClr>
                </a:solidFill>
              </a:rPr>
              <a:t>Chapter VI. </a:t>
            </a:r>
            <a:br>
              <a:rPr lang="en-GB" sz="3000" dirty="0">
                <a:solidFill>
                  <a:schemeClr val="tx2">
                    <a:satMod val="130000"/>
                  </a:schemeClr>
                </a:solidFill>
              </a:rPr>
            </a:br>
            <a:r>
              <a:rPr lang="en-GB" sz="3000" dirty="0">
                <a:solidFill>
                  <a:schemeClr val="tx2">
                    <a:satMod val="130000"/>
                  </a:schemeClr>
                </a:solidFill>
              </a:rPr>
              <a:t>Boot Process and system Monitoring</a:t>
            </a:r>
            <a:br>
              <a:rPr lang="en-GB" sz="3000" dirty="0">
                <a:solidFill>
                  <a:schemeClr val="tx2">
                    <a:satMod val="130000"/>
                  </a:schemeClr>
                </a:solidFill>
              </a:rPr>
            </a:br>
            <a:br>
              <a:rPr lang="en-GB" sz="3000" dirty="0">
                <a:solidFill>
                  <a:schemeClr val="tx2">
                    <a:satMod val="130000"/>
                  </a:schemeClr>
                </a:solidFill>
              </a:rPr>
            </a:br>
            <a:endParaRPr lang="en-GB" sz="3000" dirty="0">
              <a:solidFill>
                <a:schemeClr val="tx2">
                  <a:satMod val="130000"/>
                </a:schemeClr>
              </a:solidFill>
            </a:endParaRPr>
          </a:p>
        </p:txBody>
      </p:sp>
      <p:sp>
        <p:nvSpPr>
          <p:cNvPr id="3" name="Text Placeholder 2"/>
          <p:cNvSpPr>
            <a:spLocks noGrp="1"/>
          </p:cNvSpPr>
          <p:nvPr>
            <p:ph type="body" idx="1"/>
          </p:nvPr>
        </p:nvSpPr>
        <p:spPr>
          <a:xfrm>
            <a:off x="0" y="973444"/>
            <a:ext cx="9906000" cy="1509713"/>
          </a:xfrm>
        </p:spPr>
        <p:txBody>
          <a:bodyPr>
            <a:normAutofit/>
          </a:bodyPr>
          <a:lstStyle/>
          <a:p>
            <a:pPr algn="ctr" eaLnBrk="1" fontAlgn="auto" hangingPunct="1">
              <a:spcAft>
                <a:spcPts val="0"/>
              </a:spcAft>
              <a:defRPr/>
            </a:pPr>
            <a:r>
              <a:rPr lang="en-GB" dirty="0">
                <a:solidFill>
                  <a:schemeClr val="tx2">
                    <a:satMod val="130000"/>
                  </a:schemeClr>
                </a:solidFill>
              </a:rPr>
              <a:t>LINUX AND OPEN SOURCE SOFTWARE</a:t>
            </a:r>
            <a:endParaRPr lang="en-GB" dirty="0"/>
          </a:p>
        </p:txBody>
      </p:sp>
      <p:sp>
        <p:nvSpPr>
          <p:cNvPr id="5" name="Slide Number Placeholder 4"/>
          <p:cNvSpPr>
            <a:spLocks noGrp="1"/>
          </p:cNvSpPr>
          <p:nvPr>
            <p:ph type="sldNum" sz="quarter" idx="12"/>
          </p:nvPr>
        </p:nvSpPr>
        <p:spPr/>
        <p:txBody>
          <a:bodyPr/>
          <a:lstStyle/>
          <a:p>
            <a:pPr>
              <a:defRPr/>
            </a:pPr>
            <a:r>
              <a:rPr lang="en-US" altLang="en-US"/>
              <a:t>1-</a:t>
            </a:r>
            <a:fld id="{3D6ACF2D-3521-4B11-94D9-9E4CA28578C0}" type="slidenum">
              <a:rPr lang="en-US" altLang="en-US"/>
              <a:pPr>
                <a:defRPr/>
              </a:pPr>
              <a:t>1</a:t>
            </a:fld>
            <a:endParaRPr lang="en-US" altLang="en-US"/>
          </a:p>
        </p:txBody>
      </p:sp>
      <p:sp>
        <p:nvSpPr>
          <p:cNvPr id="6" name="TextBox 5">
            <a:extLst>
              <a:ext uri="{FF2B5EF4-FFF2-40B4-BE49-F238E27FC236}">
                <a16:creationId xmlns:a16="http://schemas.microsoft.com/office/drawing/2014/main" id="{7F635384-0C63-A812-1CDC-88049A2A1874}"/>
              </a:ext>
            </a:extLst>
          </p:cNvPr>
          <p:cNvSpPr txBox="1"/>
          <p:nvPr/>
        </p:nvSpPr>
        <p:spPr>
          <a:xfrm>
            <a:off x="0" y="4374843"/>
            <a:ext cx="9906000" cy="461665"/>
          </a:xfrm>
          <a:prstGeom prst="rect">
            <a:avLst/>
          </a:prstGeom>
          <a:noFill/>
        </p:spPr>
        <p:txBody>
          <a:bodyPr wrap="square">
            <a:spAutoFit/>
          </a:bodyPr>
          <a:lstStyle/>
          <a:p>
            <a:pPr algn="ctr"/>
            <a:r>
              <a:rPr lang="en-GB" dirty="0">
                <a:solidFill>
                  <a:schemeClr val="accent2"/>
                </a:solidFill>
              </a:rPr>
              <a:t>Department of Computer Engineering and Electronics</a:t>
            </a:r>
            <a:endParaRPr lang="en-KR"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Main contents</a:t>
            </a:r>
          </a:p>
        </p:txBody>
      </p:sp>
      <p:sp>
        <p:nvSpPr>
          <p:cNvPr id="3" name="Content Placeholder 2"/>
          <p:cNvSpPr>
            <a:spLocks noGrp="1"/>
          </p:cNvSpPr>
          <p:nvPr>
            <p:ph idx="1"/>
          </p:nvPr>
        </p:nvSpPr>
        <p:spPr/>
        <p:txBody>
          <a:bodyPr/>
          <a:lstStyle/>
          <a:p>
            <a:r>
              <a:rPr lang="en-US" dirty="0"/>
              <a:t>Boot Loading Process</a:t>
            </a:r>
          </a:p>
          <a:p>
            <a:r>
              <a:rPr lang="en-US" dirty="0"/>
              <a:t>Console-Based Monitoring</a:t>
            </a:r>
          </a:p>
          <a:p>
            <a:r>
              <a:rPr lang="en-US" dirty="0"/>
              <a:t>Graphical Process and System-Management Tools</a:t>
            </a: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2</a:t>
            </a:fld>
            <a:endParaRPr lang="en-US" altLang="en-US"/>
          </a:p>
        </p:txBody>
      </p:sp>
    </p:spTree>
    <p:extLst>
      <p:ext uri="{BB962C8B-B14F-4D97-AF65-F5344CB8AC3E}">
        <p14:creationId xmlns:p14="http://schemas.microsoft.com/office/powerpoint/2010/main" val="3440919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a:xfrm>
            <a:off x="76200" y="1106129"/>
            <a:ext cx="9753600" cy="5250224"/>
          </a:xfrm>
        </p:spPr>
        <p:txBody>
          <a:bodyPr>
            <a:normAutofit/>
          </a:bodyPr>
          <a:lstStyle/>
          <a:p>
            <a:pPr algn="l">
              <a:buFont typeface="Arial" panose="020B0604020202020204" pitchFamily="34" charset="0"/>
              <a:buChar char="•"/>
            </a:pPr>
            <a:r>
              <a:rPr lang="en-US" sz="2400" b="0" i="0" dirty="0">
                <a:solidFill>
                  <a:srgbClr val="333333"/>
                </a:solidFill>
                <a:effectLst/>
                <a:latin typeface="Ubuntu Beta"/>
              </a:rPr>
              <a:t>There are 4 phases to starting up the system:</a:t>
            </a:r>
          </a:p>
          <a:p>
            <a:pPr lvl="1">
              <a:buFont typeface="+mj-lt"/>
              <a:buAutoNum type="arabicPeriod"/>
            </a:pPr>
            <a:r>
              <a:rPr lang="en-US" sz="2200" b="1" i="0" dirty="0">
                <a:solidFill>
                  <a:srgbClr val="333333"/>
                </a:solidFill>
                <a:effectLst/>
                <a:latin typeface="Ubuntu Beta"/>
              </a:rPr>
              <a:t>BIOS</a:t>
            </a:r>
          </a:p>
          <a:p>
            <a:pPr lvl="1">
              <a:buFont typeface="+mj-lt"/>
              <a:buAutoNum type="arabicPeriod"/>
            </a:pPr>
            <a:r>
              <a:rPr lang="en-US" sz="2200" b="1" i="0" dirty="0">
                <a:solidFill>
                  <a:srgbClr val="333333"/>
                </a:solidFill>
                <a:effectLst/>
                <a:latin typeface="Ubuntu Beta"/>
              </a:rPr>
              <a:t>Boot loader</a:t>
            </a:r>
          </a:p>
          <a:p>
            <a:pPr lvl="1">
              <a:buFont typeface="+mj-lt"/>
              <a:buAutoNum type="arabicPeriod"/>
            </a:pPr>
            <a:r>
              <a:rPr lang="en-US" sz="2200" b="1" i="0" dirty="0">
                <a:solidFill>
                  <a:srgbClr val="333333"/>
                </a:solidFill>
                <a:effectLst/>
                <a:latin typeface="Ubuntu Beta"/>
              </a:rPr>
              <a:t>Kernel</a:t>
            </a:r>
          </a:p>
          <a:p>
            <a:pPr lvl="1">
              <a:buFont typeface="+mj-lt"/>
              <a:buAutoNum type="arabicPeriod"/>
            </a:pPr>
            <a:r>
              <a:rPr lang="en-US" sz="2200" b="1" i="0" dirty="0">
                <a:solidFill>
                  <a:srgbClr val="333333"/>
                </a:solidFill>
                <a:effectLst/>
                <a:latin typeface="Ubuntu Beta"/>
              </a:rPr>
              <a:t>Upstart</a:t>
            </a:r>
            <a:r>
              <a:rPr lang="en-US" sz="2200" b="0" i="0" dirty="0">
                <a:solidFill>
                  <a:srgbClr val="333333"/>
                </a:solidFill>
                <a:effectLst/>
                <a:latin typeface="Ubuntu Beta"/>
              </a:rPr>
              <a:t> (which manages system tasks and services are configured at </a:t>
            </a:r>
            <a:r>
              <a:rPr lang="en-US" sz="2200" b="0" i="0" dirty="0">
                <a:solidFill>
                  <a:srgbClr val="FF0000"/>
                </a:solidFill>
                <a:effectLst/>
                <a:latin typeface="Ubuntu Beta"/>
              </a:rPr>
              <a:t>/</a:t>
            </a:r>
            <a:r>
              <a:rPr lang="en-US" sz="2200" b="0" i="0" dirty="0" err="1">
                <a:solidFill>
                  <a:srgbClr val="FF0000"/>
                </a:solidFill>
                <a:effectLst/>
                <a:latin typeface="Ubuntu Beta"/>
              </a:rPr>
              <a:t>etc</a:t>
            </a:r>
            <a:r>
              <a:rPr lang="en-US" sz="2200" b="0" i="0" dirty="0">
                <a:solidFill>
                  <a:srgbClr val="FF0000"/>
                </a:solidFill>
                <a:effectLst/>
                <a:latin typeface="Ubuntu Beta"/>
              </a:rPr>
              <a:t>/</a:t>
            </a:r>
            <a:r>
              <a:rPr lang="en-US" sz="2200" b="0" i="0" dirty="0" err="1">
                <a:solidFill>
                  <a:srgbClr val="FF0000"/>
                </a:solidFill>
                <a:effectLst/>
                <a:latin typeface="Ubuntu Beta"/>
              </a:rPr>
              <a:t>init</a:t>
            </a:r>
            <a:r>
              <a:rPr lang="en-US" sz="2200" b="0" i="0" dirty="0">
                <a:solidFill>
                  <a:srgbClr val="333333"/>
                </a:solidFill>
                <a:effectLst/>
                <a:latin typeface="Ubuntu Beta"/>
              </a:rPr>
              <a:t>)</a:t>
            </a: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3</a:t>
            </a:fld>
            <a:endParaRPr lang="en-US" altLang="en-US"/>
          </a:p>
        </p:txBody>
      </p:sp>
      <p:pic>
        <p:nvPicPr>
          <p:cNvPr id="4102" name="Picture 6" descr="Linux | Ubuntu Tips And Tricks : linux booting process step by step">
            <a:extLst>
              <a:ext uri="{FF2B5EF4-FFF2-40B4-BE49-F238E27FC236}">
                <a16:creationId xmlns:a16="http://schemas.microsoft.com/office/drawing/2014/main" id="{26DE8BB3-A411-1FFF-38BF-F0C4E442A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3200400"/>
            <a:ext cx="733425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993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﻿BIOS</a:t>
            </a:r>
            <a:endParaRPr lang="en-US" sz="2400" b="0" i="0" dirty="0">
              <a:solidFill>
                <a:srgbClr val="333333"/>
              </a:solidFill>
              <a:effectLst/>
              <a:latin typeface="Ubuntu Beta"/>
            </a:endParaRPr>
          </a:p>
          <a:p>
            <a:pPr algn="just">
              <a:buFont typeface="Arial" panose="020B0604020202020204" pitchFamily="34" charset="0"/>
              <a:buChar char="•"/>
            </a:pPr>
            <a:r>
              <a:rPr lang="en-US" sz="2400" b="0" i="0" dirty="0">
                <a:solidFill>
                  <a:srgbClr val="333333"/>
                </a:solidFill>
                <a:effectLst/>
                <a:latin typeface="Ubuntu Beta"/>
              </a:rPr>
              <a:t>When the computer begins execution, it starts by executing this code, which is also called the </a:t>
            </a:r>
            <a:r>
              <a:rPr lang="en-US" sz="2400" b="1" i="0" dirty="0">
                <a:solidFill>
                  <a:srgbClr val="333333"/>
                </a:solidFill>
                <a:effectLst/>
                <a:latin typeface="Ubuntu Beta"/>
              </a:rPr>
              <a:t>firmware</a:t>
            </a:r>
            <a:r>
              <a:rPr lang="en-US" sz="2400" b="0" i="0" dirty="0">
                <a:solidFill>
                  <a:srgbClr val="333333"/>
                </a:solidFill>
                <a:effectLst/>
                <a:latin typeface="Ubuntu Beta"/>
              </a:rPr>
              <a:t>, as it is normally stored in a permanent form of memory, such as </a:t>
            </a:r>
            <a:r>
              <a:rPr lang="en-US" sz="2400" b="1" i="0" dirty="0">
                <a:solidFill>
                  <a:srgbClr val="333333"/>
                </a:solidFill>
                <a:effectLst/>
                <a:latin typeface="Ubuntu Beta"/>
              </a:rPr>
              <a:t>ROM</a:t>
            </a:r>
            <a:r>
              <a:rPr lang="en-US" sz="2400" b="0" i="0" dirty="0">
                <a:solidFill>
                  <a:srgbClr val="333333"/>
                </a:solidFill>
                <a:effectLst/>
                <a:latin typeface="Ubuntu Beta"/>
              </a:rPr>
              <a:t>, on the computer's motherboard. </a:t>
            </a:r>
          </a:p>
          <a:p>
            <a:pPr algn="just">
              <a:buFont typeface="Arial" panose="020B0604020202020204" pitchFamily="34" charset="0"/>
              <a:buChar char="•"/>
            </a:pPr>
            <a:r>
              <a:rPr lang="en-US" sz="2400" b="0" i="0" dirty="0">
                <a:solidFill>
                  <a:srgbClr val="333333"/>
                </a:solidFill>
                <a:effectLst/>
                <a:latin typeface="Ubuntu Beta"/>
              </a:rPr>
              <a:t>This code must initialize the </a:t>
            </a:r>
            <a:r>
              <a:rPr lang="en-US" sz="2400" b="1" i="0" dirty="0">
                <a:solidFill>
                  <a:srgbClr val="333333"/>
                </a:solidFill>
                <a:effectLst/>
                <a:latin typeface="Ubuntu Beta"/>
              </a:rPr>
              <a:t>hardware</a:t>
            </a:r>
            <a:r>
              <a:rPr lang="en-US" sz="2400" b="0" i="0" dirty="0">
                <a:solidFill>
                  <a:srgbClr val="333333"/>
                </a:solidFill>
                <a:effectLst/>
                <a:latin typeface="Ubuntu Beta"/>
              </a:rPr>
              <a:t> on the motherboard other than the CPU, and obtain the code for the next step, the boot loader. Modern computers provide several possibilities for the boot loader and the choice is normally set on the BIOS startup screen.</a:t>
            </a:r>
          </a:p>
          <a:p>
            <a:pPr algn="just">
              <a:buFont typeface="Arial" panose="020B0604020202020204" pitchFamily="34" charset="0"/>
              <a:buChar char="•"/>
            </a:pPr>
            <a:r>
              <a:rPr lang="en-US" sz="2400" b="0" i="0" dirty="0">
                <a:solidFill>
                  <a:srgbClr val="333333"/>
                </a:solidFill>
                <a:effectLst/>
                <a:latin typeface="Ubuntu Beta"/>
              </a:rPr>
              <a:t>﻿The BIOS gets the system ready to load and run the software that we recognize as the </a:t>
            </a:r>
            <a:r>
              <a:rPr lang="en-US" sz="2400" b="1" i="0" dirty="0">
                <a:solidFill>
                  <a:srgbClr val="333333"/>
                </a:solidFill>
                <a:effectLst/>
                <a:latin typeface="Ubuntu Beta"/>
              </a:rPr>
              <a:t>operating system</a:t>
            </a:r>
            <a:r>
              <a:rPr lang="en-US" sz="2400" b="0" i="0" dirty="0">
                <a:solidFill>
                  <a:srgbClr val="333333"/>
                </a:solidFill>
                <a:effectLst/>
                <a:latin typeface="Ubuntu Beta"/>
              </a:rPr>
              <a:t>. As a last step, the BIOS code looks for a special program known as the boot loader or boot code. </a:t>
            </a: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4</a:t>
            </a:fld>
            <a:endParaRPr lang="en-US" altLang="en-US"/>
          </a:p>
        </p:txBody>
      </p:sp>
    </p:spTree>
    <p:extLst>
      <p:ext uri="{BB962C8B-B14F-4D97-AF65-F5344CB8AC3E}">
        <p14:creationId xmlns:p14="http://schemas.microsoft.com/office/powerpoint/2010/main" val="1986284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lnSpcReduction="10000"/>
          </a:bodyPr>
          <a:lstStyle/>
          <a:p>
            <a:pPr algn="just">
              <a:buFont typeface="Wingdings" pitchFamily="2" charset="2"/>
              <a:buChar char="v"/>
            </a:pPr>
            <a:r>
              <a:rPr lang="en-US" sz="2400" b="1" i="0" dirty="0">
                <a:solidFill>
                  <a:srgbClr val="333333"/>
                </a:solidFill>
                <a:effectLst/>
                <a:latin typeface="Ubuntu Beta"/>
              </a:rPr>
              <a:t>﻿Boot Loader</a:t>
            </a:r>
          </a:p>
          <a:p>
            <a:pPr algn="just">
              <a:buFont typeface="Arial" panose="020B0604020202020204" pitchFamily="34" charset="0"/>
              <a:buChar char="•"/>
            </a:pPr>
            <a:r>
              <a:rPr lang="en-US" sz="2400" b="0" i="0" dirty="0">
                <a:solidFill>
                  <a:srgbClr val="333333"/>
                </a:solidFill>
                <a:effectLst/>
                <a:latin typeface="Ubuntu Beta"/>
              </a:rPr>
              <a:t>A boot loader stored in the first sector of a hard disk, the </a:t>
            </a:r>
            <a:r>
              <a:rPr lang="en-US" sz="2400" b="1" i="0" dirty="0">
                <a:solidFill>
                  <a:srgbClr val="333333"/>
                </a:solidFill>
                <a:effectLst/>
                <a:latin typeface="Ubuntu Beta"/>
              </a:rPr>
              <a:t>Master Boot Record,</a:t>
            </a:r>
            <a:r>
              <a:rPr lang="en-US" sz="2400" b="0" i="0" dirty="0">
                <a:solidFill>
                  <a:srgbClr val="333333"/>
                </a:solidFill>
                <a:effectLst/>
                <a:latin typeface="Ubuntu Beta"/>
              </a:rPr>
              <a:t> or MBR. This may be </a:t>
            </a:r>
            <a:r>
              <a:rPr lang="en-US" sz="2400" b="1" i="0" dirty="0">
                <a:solidFill>
                  <a:srgbClr val="333333"/>
                </a:solidFill>
                <a:effectLst/>
                <a:latin typeface="Ubuntu Beta"/>
              </a:rPr>
              <a:t>GRUB</a:t>
            </a:r>
            <a:r>
              <a:rPr lang="en-US" sz="2400" b="0" i="0" dirty="0">
                <a:solidFill>
                  <a:srgbClr val="333333"/>
                </a:solidFill>
                <a:effectLst/>
                <a:latin typeface="Ubuntu Beta"/>
              </a:rPr>
              <a:t> or LILO or </a:t>
            </a:r>
            <a:r>
              <a:rPr lang="en-US" sz="2400" b="0" i="0" dirty="0" err="1">
                <a:solidFill>
                  <a:srgbClr val="333333"/>
                </a:solidFill>
                <a:effectLst/>
                <a:latin typeface="Ubuntu Beta"/>
              </a:rPr>
              <a:t>yaboot</a:t>
            </a:r>
            <a:r>
              <a:rPr lang="en-US" sz="2400" b="0" i="0" dirty="0">
                <a:solidFill>
                  <a:srgbClr val="333333"/>
                </a:solidFill>
                <a:effectLst/>
                <a:latin typeface="Ubuntu Beta"/>
              </a:rPr>
              <a:t> or others.</a:t>
            </a:r>
          </a:p>
          <a:p>
            <a:pPr algn="just">
              <a:buFont typeface="Arial" panose="020B0604020202020204" pitchFamily="34" charset="0"/>
              <a:buChar char="•"/>
            </a:pPr>
            <a:r>
              <a:rPr lang="en-US" sz="2400" b="0" i="0" dirty="0">
                <a:solidFill>
                  <a:srgbClr val="333333"/>
                </a:solidFill>
                <a:effectLst/>
                <a:latin typeface="Ubuntu Beta"/>
              </a:rPr>
              <a:t>A boot loader stored on some other storage device, such as a CDR or USB flash drive.</a:t>
            </a:r>
          </a:p>
          <a:p>
            <a:pPr algn="just">
              <a:buFont typeface="Arial" panose="020B0604020202020204" pitchFamily="34" charset="0"/>
              <a:buChar char="•"/>
            </a:pPr>
            <a:r>
              <a:rPr lang="en-US" sz="2400" b="0" i="0" dirty="0">
                <a:solidFill>
                  <a:srgbClr val="333333"/>
                </a:solidFill>
                <a:effectLst/>
                <a:latin typeface="Ubuntu Beta"/>
              </a:rPr>
              <a:t>A boot loader which uses the network, such as the Pre-Execution Environment (PXE). This code is normally stored on a ROM on the networking card itself.</a:t>
            </a:r>
          </a:p>
          <a:p>
            <a:pPr algn="just">
              <a:buFont typeface="Arial" panose="020B0604020202020204" pitchFamily="34" charset="0"/>
              <a:buChar char="•"/>
            </a:pPr>
            <a:r>
              <a:rPr lang="en-US" sz="2400" b="0" i="0" dirty="0">
                <a:solidFill>
                  <a:srgbClr val="333333"/>
                </a:solidFill>
                <a:effectLst/>
                <a:latin typeface="Ubuntu Beta"/>
              </a:rPr>
              <a:t>The need for the initial parts of the bootloader code on the first part of a storage medium explains why some hard drives are </a:t>
            </a:r>
            <a:r>
              <a:rPr lang="en-US" sz="2400" b="1" i="0" dirty="0">
                <a:solidFill>
                  <a:srgbClr val="333333"/>
                </a:solidFill>
                <a:effectLst/>
                <a:latin typeface="Ubuntu Beta"/>
              </a:rPr>
              <a:t>'bootable</a:t>
            </a:r>
            <a:r>
              <a:rPr lang="en-US" sz="2400" b="0" i="0" dirty="0">
                <a:solidFill>
                  <a:srgbClr val="333333"/>
                </a:solidFill>
                <a:effectLst/>
                <a:latin typeface="Ubuntu Beta"/>
              </a:rPr>
              <a:t>' and others are not.</a:t>
            </a:r>
          </a:p>
          <a:p>
            <a:pPr algn="just">
              <a:buFont typeface="Arial" panose="020B0604020202020204" pitchFamily="34" charset="0"/>
              <a:buChar char="•"/>
            </a:pPr>
            <a:r>
              <a:rPr lang="en-US" sz="2400" b="0" i="0" dirty="0">
                <a:solidFill>
                  <a:srgbClr val="333333"/>
                </a:solidFill>
                <a:effectLst/>
                <a:latin typeface="Ubuntu Beta"/>
              </a:rPr>
              <a:t>﻿If the BIOS detects a </a:t>
            </a:r>
            <a:r>
              <a:rPr lang="en-US" sz="2400" b="1" i="0" dirty="0">
                <a:solidFill>
                  <a:srgbClr val="333333"/>
                </a:solidFill>
                <a:effectLst/>
                <a:latin typeface="Ubuntu Beta"/>
              </a:rPr>
              <a:t>hardware problem</a:t>
            </a:r>
            <a:r>
              <a:rPr lang="en-US" sz="2400" b="0" i="0" dirty="0">
                <a:solidFill>
                  <a:srgbClr val="333333"/>
                </a:solidFill>
                <a:effectLst/>
                <a:latin typeface="Ubuntu Beta"/>
              </a:rPr>
              <a:t>, the boot process fails, and the BIOS generates a few beeps from the system speaker. </a:t>
            </a: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5</a:t>
            </a:fld>
            <a:endParaRPr lang="en-US" altLang="en-US"/>
          </a:p>
        </p:txBody>
      </p:sp>
    </p:spTree>
    <p:extLst>
      <p:ext uri="{BB962C8B-B14F-4D97-AF65-F5344CB8AC3E}">
        <p14:creationId xmlns:p14="http://schemas.microsoft.com/office/powerpoint/2010/main" val="1185127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﻿Boot Loader</a:t>
            </a:r>
            <a:endParaRPr lang="en-US" sz="2400" b="0" i="0" dirty="0">
              <a:solidFill>
                <a:srgbClr val="333333"/>
              </a:solidFill>
              <a:effectLst/>
              <a:latin typeface="Ubuntu Beta"/>
            </a:endParaRPr>
          </a:p>
          <a:p>
            <a:pPr algn="just">
              <a:buFont typeface="Arial" panose="020B0604020202020204" pitchFamily="34" charset="0"/>
              <a:buChar char="•"/>
            </a:pPr>
            <a:r>
              <a:rPr lang="en-US" sz="2400" b="0" i="0" dirty="0">
                <a:solidFill>
                  <a:srgbClr val="333333"/>
                </a:solidFill>
                <a:effectLst/>
                <a:latin typeface="Ubuntu Beta"/>
              </a:rPr>
              <a:t>The </a:t>
            </a:r>
            <a:r>
              <a:rPr lang="en-US" sz="2400" b="1" i="0" dirty="0">
                <a:solidFill>
                  <a:srgbClr val="333333"/>
                </a:solidFill>
                <a:effectLst/>
                <a:latin typeface="Ubuntu Beta"/>
              </a:rPr>
              <a:t>MBR</a:t>
            </a:r>
            <a:r>
              <a:rPr lang="en-US" sz="2400" b="0" i="0" dirty="0">
                <a:solidFill>
                  <a:srgbClr val="333333"/>
                </a:solidFill>
                <a:effectLst/>
                <a:latin typeface="Ubuntu Beta"/>
              </a:rPr>
              <a:t> contains the boot loader code and the partition table.</a:t>
            </a:r>
          </a:p>
          <a:p>
            <a:pPr algn="just">
              <a:buFont typeface="Arial" panose="020B0604020202020204" pitchFamily="34" charset="0"/>
              <a:buChar char="•"/>
            </a:pPr>
            <a:r>
              <a:rPr lang="en-US" sz="2400" b="0" i="0" dirty="0">
                <a:solidFill>
                  <a:srgbClr val="333333"/>
                </a:solidFill>
                <a:effectLst/>
                <a:latin typeface="Ubuntu Beta"/>
              </a:rPr>
              <a:t>It only requires 4096 Bits of storage to store the GRUB and Linux booting files inside the MBR partition. </a:t>
            </a:r>
            <a:r>
              <a:rPr lang="en-US" sz="2400" dirty="0">
                <a:solidFill>
                  <a:srgbClr val="333333"/>
                </a:solidFill>
                <a:latin typeface="Ubuntu Beta"/>
              </a:rPr>
              <a:t>T</a:t>
            </a:r>
            <a:r>
              <a:rPr lang="en-US" sz="2400" b="0" i="0" dirty="0">
                <a:solidFill>
                  <a:srgbClr val="333333"/>
                </a:solidFill>
                <a:effectLst/>
                <a:latin typeface="Ubuntu Beta"/>
              </a:rPr>
              <a:t>he </a:t>
            </a:r>
            <a:r>
              <a:rPr lang="en-US" sz="2400" b="1" i="0" dirty="0">
                <a:solidFill>
                  <a:srgbClr val="333333"/>
                </a:solidFill>
                <a:effectLst/>
                <a:latin typeface="Ubuntu Beta"/>
              </a:rPr>
              <a:t>GPT</a:t>
            </a:r>
            <a:r>
              <a:rPr lang="en-US" sz="2400" b="0" i="0" dirty="0">
                <a:solidFill>
                  <a:srgbClr val="333333"/>
                </a:solidFill>
                <a:effectLst/>
                <a:latin typeface="Ubuntu Beta"/>
              </a:rPr>
              <a:t> partitioning scheme replaces the MBR table in the modern era.</a:t>
            </a:r>
          </a:p>
          <a:p>
            <a:pPr algn="just">
              <a:buFont typeface="Arial" panose="020B0604020202020204" pitchFamily="34" charset="0"/>
              <a:buChar char="•"/>
            </a:pPr>
            <a:r>
              <a:rPr lang="en-US" sz="2400" b="0" i="0" dirty="0">
                <a:solidFill>
                  <a:srgbClr val="333333"/>
                </a:solidFill>
                <a:effectLst/>
                <a:latin typeface="Ubuntu Beta"/>
              </a:rPr>
              <a:t>﻿</a:t>
            </a:r>
            <a:r>
              <a:rPr lang="en-US" sz="2400" b="1" i="0" dirty="0">
                <a:solidFill>
                  <a:srgbClr val="333333"/>
                </a:solidFill>
                <a:effectLst/>
                <a:latin typeface="Ubuntu Beta"/>
              </a:rPr>
              <a:t>Unified Extensible Firmware Interface (UEFI) ﻿</a:t>
            </a:r>
            <a:r>
              <a:rPr lang="en-US" sz="2400" i="0" dirty="0">
                <a:solidFill>
                  <a:srgbClr val="333333"/>
                </a:solidFill>
                <a:effectLst/>
                <a:latin typeface="Ubuntu Beta"/>
              </a:rPr>
              <a:t>serves a similar role to BIOS and has replaced BIOS in most modern systems. For most end users, the difference is negligible, except that if you have a UEFI computer, you may need to do some research to install Ubuntu. </a:t>
            </a:r>
          </a:p>
          <a:p>
            <a:pPr algn="just">
              <a:buFont typeface="Arial" panose="020B0604020202020204" pitchFamily="34" charset="0"/>
              <a:buChar char="•"/>
            </a:pPr>
            <a:r>
              <a:rPr lang="en-US" sz="2400" b="0" i="0" dirty="0">
                <a:solidFill>
                  <a:srgbClr val="333333"/>
                </a:solidFill>
                <a:effectLst/>
                <a:latin typeface="Ubuntu Beta"/>
              </a:rPr>
              <a:t>﻿The boot loader locates the </a:t>
            </a:r>
            <a:r>
              <a:rPr lang="en-US" sz="2400" b="1" i="0" dirty="0">
                <a:solidFill>
                  <a:srgbClr val="333333"/>
                </a:solidFill>
                <a:effectLst/>
                <a:latin typeface="Ubuntu Beta"/>
              </a:rPr>
              <a:t>Linux kernel </a:t>
            </a:r>
            <a:r>
              <a:rPr lang="en-US" sz="2400" b="0" i="0" dirty="0">
                <a:solidFill>
                  <a:srgbClr val="333333"/>
                </a:solidFill>
                <a:effectLst/>
                <a:latin typeface="Ubuntu Beta"/>
              </a:rPr>
              <a:t>on the disk and loads it into memory. After that task is completed, the boot loader passes control of the system to the Linux kernel.</a:t>
            </a:r>
          </a:p>
          <a:p>
            <a:pPr algn="just">
              <a:buFont typeface="Arial" panose="020B0604020202020204" pitchFamily="34" charset="0"/>
              <a:buChar char="•"/>
            </a:pPr>
            <a:endParaRPr lang="en-US" sz="2400" b="0" i="0" dirty="0">
              <a:solidFill>
                <a:srgbClr val="333333"/>
              </a:solidFill>
              <a:effectLst/>
              <a:latin typeface="Ubuntu Beta"/>
            </a:endParaRP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6</a:t>
            </a:fld>
            <a:endParaRPr lang="en-US" altLang="en-US"/>
          </a:p>
        </p:txBody>
      </p:sp>
    </p:spTree>
    <p:extLst>
      <p:ext uri="{BB962C8B-B14F-4D97-AF65-F5344CB8AC3E}">
        <p14:creationId xmlns:p14="http://schemas.microsoft.com/office/powerpoint/2010/main" val="4188386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lnSpcReduction="10000"/>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﻿Loading Linux Kernel</a:t>
            </a:r>
            <a:endParaRPr lang="en-US" sz="2400" b="0" i="0" dirty="0">
              <a:solidFill>
                <a:srgbClr val="333333"/>
              </a:solidFill>
              <a:effectLst/>
              <a:latin typeface="Ubuntu Beta"/>
            </a:endParaRPr>
          </a:p>
          <a:p>
            <a:pPr algn="just">
              <a:buFont typeface="Arial" panose="020B0604020202020204" pitchFamily="34" charset="0"/>
              <a:buChar char="•"/>
            </a:pPr>
            <a:r>
              <a:rPr lang="en-US" sz="2400" b="0" i="0" dirty="0">
                <a:solidFill>
                  <a:srgbClr val="333333"/>
                </a:solidFill>
                <a:effectLst/>
                <a:latin typeface="Ubuntu Beta"/>
              </a:rPr>
              <a:t>﻿Kernel manages the system resources.</a:t>
            </a:r>
          </a:p>
          <a:p>
            <a:pPr algn="just">
              <a:buFont typeface="Arial" panose="020B0604020202020204" pitchFamily="34" charset="0"/>
              <a:buChar char="•"/>
            </a:pPr>
            <a:r>
              <a:rPr lang="en-US" sz="2400" b="0" i="0" dirty="0">
                <a:solidFill>
                  <a:srgbClr val="333333"/>
                </a:solidFill>
                <a:effectLst/>
                <a:latin typeface="Ubuntu Beta"/>
              </a:rPr>
              <a:t>﻿Linux refers to each application as a process, and the kernel assigns each process a number called a process ID (PID). </a:t>
            </a:r>
          </a:p>
          <a:p>
            <a:pPr algn="just">
              <a:buFont typeface="Arial" panose="020B0604020202020204" pitchFamily="34" charset="0"/>
              <a:buChar char="•"/>
            </a:pPr>
            <a:r>
              <a:rPr lang="en-US" sz="2400" b="0" i="0" dirty="0">
                <a:solidFill>
                  <a:srgbClr val="333333"/>
                </a:solidFill>
                <a:effectLst/>
                <a:latin typeface="Ubuntu Beta"/>
              </a:rPr>
              <a:t>﻿Traditionally, the Linux kernel loads and runs a process named </a:t>
            </a:r>
            <a:r>
              <a:rPr lang="en-US" sz="2400" b="0" i="0" dirty="0" err="1">
                <a:solidFill>
                  <a:srgbClr val="C00000"/>
                </a:solidFill>
                <a:effectLst/>
                <a:latin typeface="Ubuntu Beta"/>
              </a:rPr>
              <a:t>init</a:t>
            </a:r>
            <a:r>
              <a:rPr lang="en-US" sz="2400" b="0" i="0" dirty="0">
                <a:solidFill>
                  <a:srgbClr val="C00000"/>
                </a:solidFill>
                <a:effectLst/>
                <a:latin typeface="Ubuntu Beta"/>
              </a:rPr>
              <a:t>, (e.g., ﻿</a:t>
            </a:r>
            <a:r>
              <a:rPr lang="en-US" sz="2400" b="0" i="0" dirty="0" err="1">
                <a:solidFill>
                  <a:srgbClr val="C00000"/>
                </a:solidFill>
                <a:effectLst/>
                <a:latin typeface="Ubuntu Beta"/>
              </a:rPr>
              <a:t>SysVinit</a:t>
            </a:r>
            <a:r>
              <a:rPr lang="en-US" sz="2400" b="0" i="0" dirty="0">
                <a:solidFill>
                  <a:srgbClr val="C00000"/>
                </a:solidFill>
                <a:effectLst/>
                <a:latin typeface="Ubuntu Beta"/>
              </a:rPr>
              <a:t>).</a:t>
            </a:r>
            <a:r>
              <a:rPr lang="en-US" sz="2400" b="0" i="0" dirty="0">
                <a:solidFill>
                  <a:srgbClr val="FF0000"/>
                </a:solidFill>
                <a:effectLst/>
                <a:latin typeface="Ubuntu Beta"/>
              </a:rPr>
              <a:t> ﻿</a:t>
            </a:r>
            <a:r>
              <a:rPr lang="en-US" sz="2400" b="0" i="0" dirty="0">
                <a:effectLst/>
                <a:latin typeface="Ubuntu Beta"/>
              </a:rPr>
              <a:t>Then it starts every subsequent process.</a:t>
            </a:r>
          </a:p>
          <a:p>
            <a:pPr algn="just">
              <a:buFont typeface="Arial" panose="020B0604020202020204" pitchFamily="34" charset="0"/>
              <a:buChar char="•"/>
            </a:pPr>
            <a:r>
              <a:rPr lang="en-US" sz="2400" dirty="0" err="1">
                <a:solidFill>
                  <a:srgbClr val="C00000"/>
                </a:solidFill>
                <a:latin typeface="Ubuntu Beta"/>
              </a:rPr>
              <a:t>i</a:t>
            </a:r>
            <a:r>
              <a:rPr lang="en-US" sz="2400" b="0" i="0" dirty="0" err="1">
                <a:solidFill>
                  <a:srgbClr val="C00000"/>
                </a:solidFill>
                <a:effectLst/>
                <a:latin typeface="Ubuntu Beta"/>
              </a:rPr>
              <a:t>nit</a:t>
            </a:r>
            <a:r>
              <a:rPr lang="en-US" sz="2400" b="0" i="0" dirty="0">
                <a:effectLst/>
                <a:latin typeface="Ubuntu Beta"/>
              </a:rPr>
              <a:t> has been replaced by newer options such as </a:t>
            </a:r>
            <a:r>
              <a:rPr lang="en-US" sz="2400" b="0" i="0" dirty="0">
                <a:solidFill>
                  <a:srgbClr val="C00000"/>
                </a:solidFill>
                <a:effectLst/>
                <a:latin typeface="Ubuntu Beta"/>
              </a:rPr>
              <a:t>Upstart</a:t>
            </a:r>
            <a:r>
              <a:rPr lang="en-US" sz="2400" b="0" i="0" dirty="0">
                <a:effectLst/>
                <a:latin typeface="Ubuntu Beta"/>
              </a:rPr>
              <a:t> then ﻿</a:t>
            </a:r>
            <a:r>
              <a:rPr lang="en-US" sz="2400" b="0" i="0" dirty="0" err="1">
                <a:solidFill>
                  <a:srgbClr val="C00000"/>
                </a:solidFill>
                <a:effectLst/>
                <a:latin typeface="Ubuntu Beta"/>
              </a:rPr>
              <a:t>systemd</a:t>
            </a:r>
            <a:r>
              <a:rPr lang="en-US" sz="2400" b="0" i="0" dirty="0">
                <a:effectLst/>
                <a:latin typeface="Ubuntu Beta"/>
              </a:rPr>
              <a:t> in Ubuntu. </a:t>
            </a:r>
            <a:r>
              <a:rPr lang="en-US" sz="2400" b="0" i="0" dirty="0">
                <a:solidFill>
                  <a:srgbClr val="333333"/>
                </a:solidFill>
                <a:effectLst/>
                <a:latin typeface="Ubuntu Beta"/>
              </a:rPr>
              <a:t>﻿</a:t>
            </a:r>
            <a:r>
              <a:rPr lang="en-US" sz="2400" b="0" i="1" dirty="0" err="1">
                <a:effectLst/>
                <a:latin typeface="Ubuntu Beta"/>
              </a:rPr>
              <a:t>systemd</a:t>
            </a:r>
            <a:r>
              <a:rPr lang="en-US" sz="2400" b="0" i="0" dirty="0">
                <a:solidFill>
                  <a:srgbClr val="333333"/>
                </a:solidFill>
                <a:effectLst/>
                <a:latin typeface="Ubuntu Beta"/>
              </a:rPr>
              <a:t> is the mother of all processes and is responsible for bringing the Linux kernel up to a state where work can be done. </a:t>
            </a:r>
          </a:p>
          <a:p>
            <a:pPr algn="just">
              <a:buFont typeface="Arial" panose="020B0604020202020204" pitchFamily="34" charset="0"/>
              <a:buChar char="•"/>
            </a:pPr>
            <a:r>
              <a:rPr lang="en-US" sz="2400" b="0" i="0" dirty="0">
                <a:solidFill>
                  <a:srgbClr val="333333"/>
                </a:solidFill>
                <a:effectLst/>
                <a:latin typeface="Ubuntu Beta"/>
              </a:rPr>
              <a:t>﻿</a:t>
            </a:r>
            <a:r>
              <a:rPr lang="en-US" sz="2400" b="0" i="1" dirty="0" err="1">
                <a:solidFill>
                  <a:srgbClr val="C00000"/>
                </a:solidFill>
                <a:effectLst/>
                <a:latin typeface="Ubuntu Beta"/>
              </a:rPr>
              <a:t>systemd</a:t>
            </a:r>
            <a:r>
              <a:rPr lang="en-US" sz="2400" b="0" i="0" dirty="0">
                <a:solidFill>
                  <a:srgbClr val="333333"/>
                </a:solidFill>
                <a:effectLst/>
                <a:latin typeface="Ubuntu Beta"/>
              </a:rPr>
              <a:t> starts by mounting the file systems that are defined in /</a:t>
            </a:r>
            <a:r>
              <a:rPr lang="en-US" sz="2400" b="0" i="0" dirty="0" err="1">
                <a:solidFill>
                  <a:srgbClr val="333333"/>
                </a:solidFill>
                <a:effectLst/>
                <a:latin typeface="Ubuntu Beta"/>
              </a:rPr>
              <a:t>etc</a:t>
            </a:r>
            <a:r>
              <a:rPr lang="en-US" sz="2400" b="0" i="0" dirty="0">
                <a:solidFill>
                  <a:srgbClr val="333333"/>
                </a:solidFill>
                <a:effectLst/>
                <a:latin typeface="Ubuntu Beta"/>
              </a:rPr>
              <a:t>/</a:t>
            </a:r>
            <a:r>
              <a:rPr lang="en-US" sz="2400" b="0" i="0" dirty="0" err="1">
                <a:solidFill>
                  <a:srgbClr val="333333"/>
                </a:solidFill>
                <a:effectLst/>
                <a:latin typeface="Ubuntu Beta"/>
              </a:rPr>
              <a:t>fstab</a:t>
            </a:r>
            <a:endParaRPr lang="en-US" sz="2400" b="0" i="0" dirty="0">
              <a:solidFill>
                <a:srgbClr val="333333"/>
              </a:solidFill>
              <a:effectLst/>
              <a:latin typeface="Ubuntu Beta"/>
            </a:endParaRPr>
          </a:p>
          <a:p>
            <a:pPr algn="just">
              <a:buFont typeface="Arial" panose="020B0604020202020204" pitchFamily="34" charset="0"/>
              <a:buChar char="•"/>
            </a:pPr>
            <a:r>
              <a:rPr lang="en-US" sz="2400" b="0" i="0" dirty="0">
                <a:effectLst/>
                <a:latin typeface="Ubuntu Beta"/>
              </a:rPr>
              <a:t>﻿</a:t>
            </a:r>
            <a:r>
              <a:rPr lang="en-US" sz="2400" b="0" i="1" dirty="0" err="1">
                <a:solidFill>
                  <a:srgbClr val="C00000"/>
                </a:solidFill>
                <a:effectLst/>
                <a:latin typeface="Ubuntu Beta"/>
              </a:rPr>
              <a:t>systemd</a:t>
            </a:r>
            <a:r>
              <a:rPr lang="en-US" sz="2400" b="0" i="0" dirty="0">
                <a:effectLst/>
                <a:latin typeface="Ubuntu Beta"/>
              </a:rPr>
              <a:t> configuration file at </a:t>
            </a:r>
            <a:r>
              <a:rPr lang="en-US" sz="2400" b="0" i="0" dirty="0">
                <a:solidFill>
                  <a:srgbClr val="C00000"/>
                </a:solidFill>
                <a:effectLst/>
                <a:latin typeface="Ubuntu Beta"/>
              </a:rPr>
              <a:t>/</a:t>
            </a:r>
            <a:r>
              <a:rPr lang="en-US" sz="2400" b="0" i="0" dirty="0" err="1">
                <a:solidFill>
                  <a:srgbClr val="C00000"/>
                </a:solidFill>
                <a:effectLst/>
                <a:latin typeface="Ubuntu Beta"/>
              </a:rPr>
              <a:t>etc</a:t>
            </a:r>
            <a:r>
              <a:rPr lang="en-US" sz="2400" b="0" i="0" dirty="0">
                <a:solidFill>
                  <a:srgbClr val="C00000"/>
                </a:solidFill>
                <a:effectLst/>
                <a:latin typeface="Ubuntu Beta"/>
              </a:rPr>
              <a:t>/</a:t>
            </a:r>
            <a:r>
              <a:rPr lang="en-US" sz="2400" b="0" i="0" dirty="0" err="1">
                <a:solidFill>
                  <a:srgbClr val="C00000"/>
                </a:solidFill>
                <a:effectLst/>
                <a:latin typeface="Ubuntu Beta"/>
              </a:rPr>
              <a:t>systemd</a:t>
            </a:r>
            <a:r>
              <a:rPr lang="en-US" sz="2400" b="0" i="0" dirty="0">
                <a:solidFill>
                  <a:srgbClr val="C00000"/>
                </a:solidFill>
                <a:effectLst/>
                <a:latin typeface="Ubuntu Beta"/>
              </a:rPr>
              <a:t>/system/</a:t>
            </a:r>
            <a:r>
              <a:rPr lang="en-US" sz="2400" b="0" i="0" dirty="0" err="1">
                <a:solidFill>
                  <a:srgbClr val="C00000"/>
                </a:solidFill>
                <a:effectLst/>
                <a:latin typeface="Ubuntu Beta"/>
              </a:rPr>
              <a:t>default.target</a:t>
            </a:r>
            <a:endParaRPr lang="en-US" sz="2400" b="0" i="0" dirty="0">
              <a:solidFill>
                <a:srgbClr val="C00000"/>
              </a:solidFill>
              <a:effectLst/>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b="0" i="0" dirty="0">
              <a:effectLst/>
              <a:latin typeface="Ubuntu Beta"/>
            </a:endParaRP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7</a:t>
            </a:fld>
            <a:endParaRPr lang="en-US" altLang="en-US"/>
          </a:p>
        </p:txBody>
      </p:sp>
    </p:spTree>
    <p:extLst>
      <p:ext uri="{BB962C8B-B14F-4D97-AF65-F5344CB8AC3E}">
        <p14:creationId xmlns:p14="http://schemas.microsoft.com/office/powerpoint/2010/main" val="377626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﻿Loading Linux Kernel</a:t>
            </a:r>
            <a:endParaRPr lang="en-US" sz="2400" b="0" i="0" dirty="0">
              <a:solidFill>
                <a:srgbClr val="333333"/>
              </a:solidFill>
              <a:effectLst/>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b="0" i="0" dirty="0">
              <a:effectLst/>
              <a:latin typeface="Ubuntu Beta"/>
            </a:endParaRP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8</a:t>
            </a:fld>
            <a:endParaRPr lang="en-US" altLang="en-US"/>
          </a:p>
        </p:txBody>
      </p:sp>
      <p:pic>
        <p:nvPicPr>
          <p:cNvPr id="5122" name="Picture 2">
            <a:extLst>
              <a:ext uri="{FF2B5EF4-FFF2-40B4-BE49-F238E27FC236}">
                <a16:creationId xmlns:a16="http://schemas.microsoft.com/office/drawing/2014/main" id="{3E83E6E5-69CD-4CE7-4632-5AB92D2AB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1680215"/>
            <a:ext cx="7607300" cy="47545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C6A21BD-4F82-332D-3C0A-783C4EA097CB}"/>
              </a:ext>
            </a:extLst>
          </p:cNvPr>
          <p:cNvSpPr txBox="1"/>
          <p:nvPr/>
        </p:nvSpPr>
        <p:spPr>
          <a:xfrm>
            <a:off x="0" y="6513204"/>
            <a:ext cx="9969500" cy="584775"/>
          </a:xfrm>
          <a:prstGeom prst="rect">
            <a:avLst/>
          </a:prstGeom>
          <a:noFill/>
        </p:spPr>
        <p:txBody>
          <a:bodyPr wrap="square">
            <a:spAutoFit/>
          </a:bodyPr>
          <a:lstStyle/>
          <a:p>
            <a:r>
              <a:rPr lang="en-KR" sz="1600" dirty="0">
                <a:hlinkClick r:id="rId3"/>
              </a:rPr>
              <a:t>https://www.techsupportpk.com/2015/05/linux-systemd-essentials-working-with-services-units-and-the-journal.html</a:t>
            </a:r>
            <a:endParaRPr lang="en-KR" sz="1600" dirty="0"/>
          </a:p>
          <a:p>
            <a:endParaRPr lang="en-KR" sz="1600" dirty="0"/>
          </a:p>
        </p:txBody>
      </p:sp>
    </p:spTree>
    <p:extLst>
      <p:ext uri="{BB962C8B-B14F-4D97-AF65-F5344CB8AC3E}">
        <p14:creationId xmlns:p14="http://schemas.microsoft.com/office/powerpoint/2010/main" val="3046746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﻿Loading Linux Kernel</a:t>
            </a:r>
            <a:endParaRPr lang="en-US" sz="2400" b="0" i="0" dirty="0">
              <a:solidFill>
                <a:srgbClr val="333333"/>
              </a:solidFill>
              <a:effectLst/>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b="0" i="0" dirty="0">
              <a:effectLst/>
              <a:latin typeface="Ubuntu Beta"/>
            </a:endParaRP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9</a:t>
            </a:fld>
            <a:endParaRPr lang="en-US" altLang="en-US"/>
          </a:p>
        </p:txBody>
      </p:sp>
      <p:sp>
        <p:nvSpPr>
          <p:cNvPr id="6" name="TextBox 5">
            <a:extLst>
              <a:ext uri="{FF2B5EF4-FFF2-40B4-BE49-F238E27FC236}">
                <a16:creationId xmlns:a16="http://schemas.microsoft.com/office/drawing/2014/main" id="{8C6A21BD-4F82-332D-3C0A-783C4EA097CB}"/>
              </a:ext>
            </a:extLst>
          </p:cNvPr>
          <p:cNvSpPr txBox="1"/>
          <p:nvPr/>
        </p:nvSpPr>
        <p:spPr>
          <a:xfrm>
            <a:off x="0" y="6513204"/>
            <a:ext cx="9969500" cy="584775"/>
          </a:xfrm>
          <a:prstGeom prst="rect">
            <a:avLst/>
          </a:prstGeom>
          <a:noFill/>
        </p:spPr>
        <p:txBody>
          <a:bodyPr wrap="square">
            <a:spAutoFit/>
          </a:bodyPr>
          <a:lstStyle/>
          <a:p>
            <a:r>
              <a:rPr lang="en-KR" sz="1600" dirty="0">
                <a:hlinkClick r:id="rId2"/>
              </a:rPr>
              <a:t>https://www.techsupportpk.com/2015/05/linux-systemd-essentials-working-with-services-units-and-the-journal.html</a:t>
            </a:r>
            <a:endParaRPr lang="en-KR" sz="1600" dirty="0"/>
          </a:p>
          <a:p>
            <a:endParaRPr lang="en-KR" sz="1600" dirty="0"/>
          </a:p>
        </p:txBody>
      </p:sp>
      <p:pic>
        <p:nvPicPr>
          <p:cNvPr id="6148" name="Picture 4">
            <a:extLst>
              <a:ext uri="{FF2B5EF4-FFF2-40B4-BE49-F238E27FC236}">
                <a16:creationId xmlns:a16="http://schemas.microsoft.com/office/drawing/2014/main" id="{A67B6AC3-A283-E054-CD45-F8945C5E58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00" y="1615126"/>
            <a:ext cx="8305800" cy="4741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805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Running Services in Boot Process</a:t>
            </a:r>
          </a:p>
          <a:p>
            <a:pPr algn="just">
              <a:buFont typeface="Arial" panose="020B0604020202020204" pitchFamily="34" charset="0"/>
              <a:buChar char="•"/>
            </a:pPr>
            <a:r>
              <a:rPr lang="en-US" sz="2400" b="0" i="0" dirty="0">
                <a:effectLst/>
                <a:latin typeface="Ubuntu Beta"/>
              </a:rPr>
              <a:t>﻿After the base services are loaded and running, </a:t>
            </a:r>
            <a:r>
              <a:rPr lang="en-US" sz="2400" b="0" i="0" dirty="0" err="1">
                <a:effectLst/>
                <a:latin typeface="Ubuntu Beta"/>
              </a:rPr>
              <a:t>systemd</a:t>
            </a:r>
            <a:r>
              <a:rPr lang="en-US" sz="2400" b="0" i="0" dirty="0">
                <a:effectLst/>
                <a:latin typeface="Ubuntu Beta"/>
              </a:rPr>
              <a:t> will also load any user-defined services. All of these services are called units. To list every available unit file on your system, use</a:t>
            </a:r>
          </a:p>
          <a:p>
            <a:pPr marL="0" indent="0" algn="just">
              <a:buNone/>
            </a:pPr>
            <a:r>
              <a:rPr lang="en-US" sz="2400" b="0" i="0" dirty="0">
                <a:solidFill>
                  <a:srgbClr val="002060"/>
                </a:solidFill>
                <a:effectLst/>
                <a:latin typeface="Ubuntu Beta"/>
              </a:rPr>
              <a:t>     $ </a:t>
            </a:r>
            <a:r>
              <a:rPr lang="en-US" sz="2400" b="0" i="0" dirty="0" err="1">
                <a:solidFill>
                  <a:srgbClr val="002060"/>
                </a:solidFill>
                <a:effectLst/>
                <a:latin typeface="Ubuntu Beta"/>
              </a:rPr>
              <a:t>systemctl</a:t>
            </a:r>
            <a:r>
              <a:rPr lang="en-US" sz="2400" b="0" i="0" dirty="0">
                <a:solidFill>
                  <a:srgbClr val="002060"/>
                </a:solidFill>
                <a:effectLst/>
                <a:latin typeface="Ubuntu Beta"/>
              </a:rPr>
              <a:t> list-unit-files</a:t>
            </a:r>
          </a:p>
          <a:p>
            <a:pPr algn="just">
              <a:buFont typeface="Arial" panose="020B0604020202020204" pitchFamily="34" charset="0"/>
              <a:buChar char="•"/>
            </a:pPr>
            <a:endParaRPr lang="en-US" sz="2400" b="0" i="0" dirty="0">
              <a:effectLst/>
              <a:latin typeface="Ubuntu Beta"/>
            </a:endParaRP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10</a:t>
            </a:fld>
            <a:endParaRPr lang="en-US" altLang="en-US"/>
          </a:p>
        </p:txBody>
      </p:sp>
      <p:pic>
        <p:nvPicPr>
          <p:cNvPr id="5" name="Picture 4">
            <a:extLst>
              <a:ext uri="{FF2B5EF4-FFF2-40B4-BE49-F238E27FC236}">
                <a16:creationId xmlns:a16="http://schemas.microsoft.com/office/drawing/2014/main" id="{8C0AAA76-7A8A-E102-C0F1-369BEF5CC572}"/>
              </a:ext>
            </a:extLst>
          </p:cNvPr>
          <p:cNvPicPr>
            <a:picLocks noChangeAspect="1"/>
          </p:cNvPicPr>
          <p:nvPr/>
        </p:nvPicPr>
        <p:blipFill>
          <a:blip r:embed="rId2"/>
          <a:stretch>
            <a:fillRect/>
          </a:stretch>
        </p:blipFill>
        <p:spPr>
          <a:xfrm>
            <a:off x="879322" y="3299380"/>
            <a:ext cx="8407810" cy="3239536"/>
          </a:xfrm>
          <a:prstGeom prst="rect">
            <a:avLst/>
          </a:prstGeom>
        </p:spPr>
      </p:pic>
    </p:spTree>
    <p:extLst>
      <p:ext uri="{BB962C8B-B14F-4D97-AF65-F5344CB8AC3E}">
        <p14:creationId xmlns:p14="http://schemas.microsoft.com/office/powerpoint/2010/main" val="2115845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Running Services in Boot Process</a:t>
            </a:r>
          </a:p>
          <a:p>
            <a:pPr marL="0" indent="0" algn="just">
              <a:buNone/>
            </a:pPr>
            <a:r>
              <a:rPr lang="en-US" sz="2400" b="0" i="0" dirty="0">
                <a:solidFill>
                  <a:srgbClr val="002060"/>
                </a:solidFill>
                <a:effectLst/>
                <a:latin typeface="Ubuntu Beta"/>
              </a:rPr>
              <a:t>$ </a:t>
            </a:r>
            <a:r>
              <a:rPr lang="en-US" sz="2400" b="0" i="0" dirty="0" err="1">
                <a:solidFill>
                  <a:srgbClr val="002060"/>
                </a:solidFill>
                <a:effectLst/>
                <a:latin typeface="Ubuntu Beta"/>
              </a:rPr>
              <a:t>systemctl</a:t>
            </a:r>
            <a:r>
              <a:rPr lang="en-US" sz="2400" b="0" i="0" dirty="0">
                <a:solidFill>
                  <a:srgbClr val="002060"/>
                </a:solidFill>
                <a:effectLst/>
                <a:latin typeface="Ubuntu Beta"/>
              </a:rPr>
              <a:t> list-unit-files</a:t>
            </a:r>
          </a:p>
          <a:p>
            <a:pPr algn="just">
              <a:buFont typeface="Arial" panose="020B0604020202020204" pitchFamily="34" charset="0"/>
              <a:buChar char="•"/>
            </a:pPr>
            <a:endParaRPr lang="en-US" sz="2400" b="0" i="0" dirty="0">
              <a:effectLst/>
              <a:latin typeface="Ubuntu Beta"/>
            </a:endParaRP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11</a:t>
            </a:fld>
            <a:endParaRPr lang="en-US" altLang="en-US"/>
          </a:p>
        </p:txBody>
      </p:sp>
      <p:pic>
        <p:nvPicPr>
          <p:cNvPr id="6" name="Picture 5">
            <a:extLst>
              <a:ext uri="{FF2B5EF4-FFF2-40B4-BE49-F238E27FC236}">
                <a16:creationId xmlns:a16="http://schemas.microsoft.com/office/drawing/2014/main" id="{39C2E699-7FEA-9520-DFE2-9341B9E9B49F}"/>
              </a:ext>
            </a:extLst>
          </p:cNvPr>
          <p:cNvPicPr>
            <a:picLocks noChangeAspect="1"/>
          </p:cNvPicPr>
          <p:nvPr/>
        </p:nvPicPr>
        <p:blipFill>
          <a:blip r:embed="rId2"/>
          <a:stretch>
            <a:fillRect/>
          </a:stretch>
        </p:blipFill>
        <p:spPr>
          <a:xfrm>
            <a:off x="544880" y="2331237"/>
            <a:ext cx="9029342" cy="2982168"/>
          </a:xfrm>
          <a:prstGeom prst="rect">
            <a:avLst/>
          </a:prstGeom>
        </p:spPr>
      </p:pic>
    </p:spTree>
    <p:extLst>
      <p:ext uri="{BB962C8B-B14F-4D97-AF65-F5344CB8AC3E}">
        <p14:creationId xmlns:p14="http://schemas.microsoft.com/office/powerpoint/2010/main" val="1331200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Running Services in Boot Process</a:t>
            </a:r>
          </a:p>
          <a:p>
            <a:pPr algn="just">
              <a:buFont typeface="Arial" panose="020B0604020202020204" pitchFamily="34" charset="0"/>
              <a:buChar char="•"/>
            </a:pPr>
            <a:endParaRPr lang="en-US" sz="2400" b="0" i="0" dirty="0">
              <a:effectLst/>
              <a:latin typeface="Ubuntu Beta"/>
            </a:endParaRP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12</a:t>
            </a:fld>
            <a:endParaRPr lang="en-US" altLang="en-US"/>
          </a:p>
        </p:txBody>
      </p:sp>
      <p:pic>
        <p:nvPicPr>
          <p:cNvPr id="5" name="Picture 4">
            <a:extLst>
              <a:ext uri="{FF2B5EF4-FFF2-40B4-BE49-F238E27FC236}">
                <a16:creationId xmlns:a16="http://schemas.microsoft.com/office/drawing/2014/main" id="{590861FA-B648-91FA-6C55-9EE281E18501}"/>
              </a:ext>
            </a:extLst>
          </p:cNvPr>
          <p:cNvPicPr>
            <a:picLocks noChangeAspect="1"/>
          </p:cNvPicPr>
          <p:nvPr/>
        </p:nvPicPr>
        <p:blipFill>
          <a:blip r:embed="rId2"/>
          <a:stretch>
            <a:fillRect/>
          </a:stretch>
        </p:blipFill>
        <p:spPr>
          <a:xfrm>
            <a:off x="1379837" y="1594360"/>
            <a:ext cx="7060593" cy="5263640"/>
          </a:xfrm>
          <a:prstGeom prst="rect">
            <a:avLst/>
          </a:prstGeom>
        </p:spPr>
      </p:pic>
    </p:spTree>
    <p:extLst>
      <p:ext uri="{BB962C8B-B14F-4D97-AF65-F5344CB8AC3E}">
        <p14:creationId xmlns:p14="http://schemas.microsoft.com/office/powerpoint/2010/main" val="293909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Boot Loading Process</a:t>
            </a:r>
          </a:p>
        </p:txBody>
      </p:sp>
      <p:sp>
        <p:nvSpPr>
          <p:cNvPr id="3" name="Content Placeholder 2"/>
          <p:cNvSpPr>
            <a:spLocks noGrp="1"/>
          </p:cNvSpPr>
          <p:nvPr>
            <p:ph idx="1"/>
          </p:nvPr>
        </p:nvSpPr>
        <p:spPr>
          <a:xfrm>
            <a:off x="495300" y="1106128"/>
            <a:ext cx="8915400" cy="5751872"/>
          </a:xfr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v"/>
              <a:tabLst/>
              <a:defRPr/>
            </a:pPr>
            <a:r>
              <a:rPr kumimoji="0" lang="en-US" sz="2400" b="1" i="0" u="none" strike="noStrike" kern="1200" cap="none" spc="0" normalizeH="0" baseline="0" noProof="0" dirty="0">
                <a:ln>
                  <a:noFill/>
                </a:ln>
                <a:solidFill>
                  <a:srgbClr val="333333"/>
                </a:solidFill>
                <a:effectLst/>
                <a:uLnTx/>
                <a:uFillTx/>
                <a:latin typeface="Ubuntu Beta"/>
                <a:ea typeface="+mn-ea"/>
                <a:cs typeface="Times New Roman" panose="02020603050405020304" pitchFamily="18" charset="0"/>
              </a:rPr>
              <a:t>Running Services in Boot Process</a:t>
            </a: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dirty="0">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dirty="0">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dirty="0">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dirty="0">
              <a:latin typeface="Ubuntu Beta"/>
            </a:endParaRPr>
          </a:p>
          <a:p>
            <a:pPr algn="just">
              <a:buFont typeface="Arial" panose="020B0604020202020204" pitchFamily="34" charset="0"/>
              <a:buChar char="•"/>
            </a:pPr>
            <a:endParaRPr lang="en-US" sz="2400" b="0" i="0" dirty="0">
              <a:effectLst/>
              <a:latin typeface="Ubuntu Beta"/>
            </a:endParaRPr>
          </a:p>
          <a:p>
            <a:pPr algn="just">
              <a:buFont typeface="Arial" panose="020B0604020202020204" pitchFamily="34" charset="0"/>
              <a:buChar char="•"/>
            </a:pPr>
            <a:endParaRPr lang="en-US" sz="2400" dirty="0">
              <a:latin typeface="Ubuntu Beta"/>
            </a:endParaRPr>
          </a:p>
          <a:p>
            <a:pPr algn="just">
              <a:buFont typeface="Arial" panose="020B0604020202020204" pitchFamily="34" charset="0"/>
              <a:buChar char="•"/>
            </a:pPr>
            <a:r>
              <a:rPr lang="en-US" sz="2400" b="0" i="0" dirty="0">
                <a:effectLst/>
                <a:latin typeface="Ubuntu Beta"/>
              </a:rPr>
              <a:t>We use graphical configuration: ﻿ </a:t>
            </a:r>
            <a:r>
              <a:rPr lang="en-US" sz="2400" b="1" i="0" dirty="0">
                <a:effectLst/>
                <a:latin typeface="Ubuntu Beta"/>
              </a:rPr>
              <a:t>Startup Applications Preferences </a:t>
            </a:r>
            <a:r>
              <a:rPr lang="en-US" sz="2400" i="0" dirty="0">
                <a:effectLst/>
                <a:latin typeface="Ubuntu Beta"/>
              </a:rPr>
              <a:t>in Ubuntu</a:t>
            </a:r>
          </a:p>
        </p:txBody>
      </p:sp>
      <p:sp>
        <p:nvSpPr>
          <p:cNvPr id="4" name="Slide Number Placeholder 3"/>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13</a:t>
            </a:fld>
            <a:endParaRPr lang="en-US" altLang="en-US"/>
          </a:p>
        </p:txBody>
      </p:sp>
      <p:pic>
        <p:nvPicPr>
          <p:cNvPr id="6" name="Picture 5">
            <a:extLst>
              <a:ext uri="{FF2B5EF4-FFF2-40B4-BE49-F238E27FC236}">
                <a16:creationId xmlns:a16="http://schemas.microsoft.com/office/drawing/2014/main" id="{4174704D-B3D5-460C-92D1-8C329DA1D9C9}"/>
              </a:ext>
            </a:extLst>
          </p:cNvPr>
          <p:cNvPicPr>
            <a:picLocks noChangeAspect="1"/>
          </p:cNvPicPr>
          <p:nvPr/>
        </p:nvPicPr>
        <p:blipFill>
          <a:blip r:embed="rId2"/>
          <a:stretch>
            <a:fillRect/>
          </a:stretch>
        </p:blipFill>
        <p:spPr>
          <a:xfrm>
            <a:off x="1145059" y="1571290"/>
            <a:ext cx="7860806" cy="4319902"/>
          </a:xfrm>
          <a:prstGeom prst="rect">
            <a:avLst/>
          </a:prstGeom>
        </p:spPr>
      </p:pic>
    </p:spTree>
    <p:extLst>
      <p:ext uri="{BB962C8B-B14F-4D97-AF65-F5344CB8AC3E}">
        <p14:creationId xmlns:p14="http://schemas.microsoft.com/office/powerpoint/2010/main" val="2554075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532F02-D77C-837B-8F16-ED684DDC09FE}"/>
              </a:ext>
            </a:extLst>
          </p:cNvPr>
          <p:cNvSpPr>
            <a:spLocks noGrp="1"/>
          </p:cNvSpPr>
          <p:nvPr>
            <p:ph idx="1"/>
          </p:nvPr>
        </p:nvSpPr>
        <p:spPr/>
        <p:txBody>
          <a:bodyPr>
            <a:normAutofit/>
          </a:bodyPr>
          <a:lstStyle/>
          <a:p>
            <a:pPr algn="just">
              <a:buFont typeface="Arial" panose="020B0604020202020204" pitchFamily="34" charset="0"/>
              <a:buChar char="•"/>
            </a:pPr>
            <a:r>
              <a:rPr lang="en-US" sz="2400" dirty="0"/>
              <a:t>﻿Through the </a:t>
            </a:r>
            <a:r>
              <a:rPr lang="en-US" sz="2400" dirty="0">
                <a:solidFill>
                  <a:srgbClr val="C00000"/>
                </a:solidFill>
              </a:rPr>
              <a:t>/proc</a:t>
            </a:r>
            <a:r>
              <a:rPr lang="en-US" sz="2400" dirty="0"/>
              <a:t> file system, you can communicate directly with the kernel to get a deep view of what is currently happening.</a:t>
            </a:r>
          </a:p>
          <a:p>
            <a:pPr algn="just">
              <a:buFont typeface="Arial" panose="020B0604020202020204" pitchFamily="34" charset="0"/>
              <a:buChar char="•"/>
            </a:pPr>
            <a:r>
              <a:rPr lang="en-US" sz="2400" dirty="0"/>
              <a:t>﻿Developers tend to use the /proc file system as a way of extracting information from the kernel and for their programs to manipulate that information into </a:t>
            </a:r>
            <a:r>
              <a:rPr lang="en-US" sz="2400" b="1" dirty="0"/>
              <a:t>human-readable formats</a:t>
            </a:r>
            <a:r>
              <a:rPr lang="en-US" sz="2400" dirty="0"/>
              <a:t>.</a:t>
            </a:r>
          </a:p>
          <a:p>
            <a:pPr algn="just">
              <a:buFont typeface="Arial" panose="020B0604020202020204" pitchFamily="34" charset="0"/>
              <a:buChar char="•"/>
            </a:pPr>
            <a:r>
              <a:rPr lang="en-US" sz="2400" dirty="0"/>
              <a:t>﻿Whenever an application or a command is launched, either from the command line or a clicked icon, the </a:t>
            </a:r>
            <a:r>
              <a:rPr lang="en-US" sz="2400" b="1" dirty="0"/>
              <a:t>process</a:t>
            </a:r>
            <a:r>
              <a:rPr lang="en-US" sz="2400" dirty="0"/>
              <a:t> that comes from the kernel is assigned an identification number called a </a:t>
            </a:r>
            <a:r>
              <a:rPr lang="en-US" sz="2400" b="1" dirty="0"/>
              <a:t>process ID (PID)</a:t>
            </a:r>
            <a:r>
              <a:rPr lang="en-US" sz="2400" dirty="0"/>
              <a:t>. </a:t>
            </a:r>
            <a:endParaRPr lang="en-KR" sz="2400" dirty="0"/>
          </a:p>
        </p:txBody>
      </p:sp>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14</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Console-Based Monitoring</a:t>
            </a:r>
          </a:p>
        </p:txBody>
      </p:sp>
      <p:pic>
        <p:nvPicPr>
          <p:cNvPr id="8" name="Picture 7">
            <a:extLst>
              <a:ext uri="{FF2B5EF4-FFF2-40B4-BE49-F238E27FC236}">
                <a16:creationId xmlns:a16="http://schemas.microsoft.com/office/drawing/2014/main" id="{8FA51883-7657-ED01-5D7C-D61703C6E451}"/>
              </a:ext>
            </a:extLst>
          </p:cNvPr>
          <p:cNvPicPr>
            <a:picLocks noChangeAspect="1"/>
          </p:cNvPicPr>
          <p:nvPr/>
        </p:nvPicPr>
        <p:blipFill>
          <a:blip r:embed="rId2"/>
          <a:stretch>
            <a:fillRect/>
          </a:stretch>
        </p:blipFill>
        <p:spPr>
          <a:xfrm>
            <a:off x="2279547" y="4634538"/>
            <a:ext cx="5346906" cy="190437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26396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15</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Console-Based Monitoring</a:t>
            </a:r>
          </a:p>
        </p:txBody>
      </p:sp>
      <p:pic>
        <p:nvPicPr>
          <p:cNvPr id="9" name="Picture 8">
            <a:extLst>
              <a:ext uri="{FF2B5EF4-FFF2-40B4-BE49-F238E27FC236}">
                <a16:creationId xmlns:a16="http://schemas.microsoft.com/office/drawing/2014/main" id="{CC6FB787-F3A1-3831-493A-7D4EBCFE601D}"/>
              </a:ext>
            </a:extLst>
          </p:cNvPr>
          <p:cNvPicPr>
            <a:picLocks noChangeAspect="1"/>
          </p:cNvPicPr>
          <p:nvPr/>
        </p:nvPicPr>
        <p:blipFill>
          <a:blip r:embed="rId2"/>
          <a:stretch>
            <a:fillRect/>
          </a:stretch>
        </p:blipFill>
        <p:spPr>
          <a:xfrm>
            <a:off x="562219" y="1327180"/>
            <a:ext cx="8848481" cy="852588"/>
          </a:xfrm>
          <a:prstGeom prst="rect">
            <a:avLst/>
          </a:prstGeom>
        </p:spPr>
      </p:pic>
      <p:pic>
        <p:nvPicPr>
          <p:cNvPr id="10" name="Picture 9">
            <a:extLst>
              <a:ext uri="{FF2B5EF4-FFF2-40B4-BE49-F238E27FC236}">
                <a16:creationId xmlns:a16="http://schemas.microsoft.com/office/drawing/2014/main" id="{DB9A0B2A-3A54-03EF-2429-32754C1886A8}"/>
              </a:ext>
            </a:extLst>
          </p:cNvPr>
          <p:cNvPicPr>
            <a:picLocks noChangeAspect="1"/>
          </p:cNvPicPr>
          <p:nvPr/>
        </p:nvPicPr>
        <p:blipFill>
          <a:blip r:embed="rId3"/>
          <a:stretch>
            <a:fillRect/>
          </a:stretch>
        </p:blipFill>
        <p:spPr>
          <a:xfrm>
            <a:off x="562218" y="2142697"/>
            <a:ext cx="4197351" cy="852587"/>
          </a:xfrm>
          <a:prstGeom prst="rect">
            <a:avLst/>
          </a:prstGeom>
        </p:spPr>
      </p:pic>
      <p:pic>
        <p:nvPicPr>
          <p:cNvPr id="11" name="Picture 10">
            <a:extLst>
              <a:ext uri="{FF2B5EF4-FFF2-40B4-BE49-F238E27FC236}">
                <a16:creationId xmlns:a16="http://schemas.microsoft.com/office/drawing/2014/main" id="{11CE757C-C1B7-D1B5-9733-468A9C55C0BC}"/>
              </a:ext>
            </a:extLst>
          </p:cNvPr>
          <p:cNvPicPr>
            <a:picLocks noChangeAspect="1"/>
          </p:cNvPicPr>
          <p:nvPr/>
        </p:nvPicPr>
        <p:blipFill>
          <a:blip r:embed="rId4"/>
          <a:stretch>
            <a:fillRect/>
          </a:stretch>
        </p:blipFill>
        <p:spPr>
          <a:xfrm>
            <a:off x="562218" y="3099062"/>
            <a:ext cx="5134247" cy="1410265"/>
          </a:xfrm>
          <a:prstGeom prst="rect">
            <a:avLst/>
          </a:prstGeom>
        </p:spPr>
      </p:pic>
      <p:pic>
        <p:nvPicPr>
          <p:cNvPr id="12" name="Picture 11">
            <a:extLst>
              <a:ext uri="{FF2B5EF4-FFF2-40B4-BE49-F238E27FC236}">
                <a16:creationId xmlns:a16="http://schemas.microsoft.com/office/drawing/2014/main" id="{A3A210BF-2A3D-C75A-E355-45D1D56A0F4F}"/>
              </a:ext>
            </a:extLst>
          </p:cNvPr>
          <p:cNvPicPr>
            <a:picLocks noChangeAspect="1"/>
          </p:cNvPicPr>
          <p:nvPr/>
        </p:nvPicPr>
        <p:blipFill rotWithShape="1">
          <a:blip r:embed="rId5"/>
          <a:srcRect l="2921" r="4009"/>
          <a:stretch/>
        </p:blipFill>
        <p:spPr>
          <a:xfrm>
            <a:off x="556383" y="4725762"/>
            <a:ext cx="8297578" cy="1561222"/>
          </a:xfrm>
          <a:prstGeom prst="rect">
            <a:avLst/>
          </a:prstGeom>
        </p:spPr>
      </p:pic>
    </p:spTree>
    <p:extLst>
      <p:ext uri="{BB962C8B-B14F-4D97-AF65-F5344CB8AC3E}">
        <p14:creationId xmlns:p14="http://schemas.microsoft.com/office/powerpoint/2010/main" val="2944897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16</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Console-Based Monitoring</a:t>
            </a:r>
          </a:p>
        </p:txBody>
      </p:sp>
      <p:pic>
        <p:nvPicPr>
          <p:cNvPr id="2" name="Picture 1">
            <a:extLst>
              <a:ext uri="{FF2B5EF4-FFF2-40B4-BE49-F238E27FC236}">
                <a16:creationId xmlns:a16="http://schemas.microsoft.com/office/drawing/2014/main" id="{53EBC134-C18C-DF25-FC93-AC5E9C4151BB}"/>
              </a:ext>
            </a:extLst>
          </p:cNvPr>
          <p:cNvPicPr>
            <a:picLocks noChangeAspect="1"/>
          </p:cNvPicPr>
          <p:nvPr/>
        </p:nvPicPr>
        <p:blipFill>
          <a:blip r:embed="rId2"/>
          <a:stretch>
            <a:fillRect/>
          </a:stretch>
        </p:blipFill>
        <p:spPr>
          <a:xfrm>
            <a:off x="678591" y="1222630"/>
            <a:ext cx="8419459" cy="5059581"/>
          </a:xfrm>
          <a:prstGeom prst="rect">
            <a:avLst/>
          </a:prstGeom>
        </p:spPr>
      </p:pic>
    </p:spTree>
    <p:extLst>
      <p:ext uri="{BB962C8B-B14F-4D97-AF65-F5344CB8AC3E}">
        <p14:creationId xmlns:p14="http://schemas.microsoft.com/office/powerpoint/2010/main" val="2354367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17</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Console-Based Monitoring</a:t>
            </a:r>
          </a:p>
        </p:txBody>
      </p:sp>
      <p:pic>
        <p:nvPicPr>
          <p:cNvPr id="3" name="Picture 2">
            <a:extLst>
              <a:ext uri="{FF2B5EF4-FFF2-40B4-BE49-F238E27FC236}">
                <a16:creationId xmlns:a16="http://schemas.microsoft.com/office/drawing/2014/main" id="{7B2A263C-B167-A01B-AFE8-87B6DD2CC300}"/>
              </a:ext>
            </a:extLst>
          </p:cNvPr>
          <p:cNvPicPr>
            <a:picLocks noChangeAspect="1"/>
          </p:cNvPicPr>
          <p:nvPr/>
        </p:nvPicPr>
        <p:blipFill>
          <a:blip r:embed="rId2"/>
          <a:stretch>
            <a:fillRect/>
          </a:stretch>
        </p:blipFill>
        <p:spPr>
          <a:xfrm>
            <a:off x="605479" y="1173085"/>
            <a:ext cx="5412261" cy="2353157"/>
          </a:xfrm>
          <a:prstGeom prst="rect">
            <a:avLst/>
          </a:prstGeom>
        </p:spPr>
      </p:pic>
      <p:sp>
        <p:nvSpPr>
          <p:cNvPr id="13" name="TextBox 12">
            <a:extLst>
              <a:ext uri="{FF2B5EF4-FFF2-40B4-BE49-F238E27FC236}">
                <a16:creationId xmlns:a16="http://schemas.microsoft.com/office/drawing/2014/main" id="{8EB644CD-F47A-F162-CDFF-5C39CE38BAA0}"/>
              </a:ext>
            </a:extLst>
          </p:cNvPr>
          <p:cNvSpPr txBox="1"/>
          <p:nvPr/>
        </p:nvSpPr>
        <p:spPr>
          <a:xfrm>
            <a:off x="605479" y="3703630"/>
            <a:ext cx="7487306" cy="461665"/>
          </a:xfrm>
          <a:prstGeom prst="rect">
            <a:avLst/>
          </a:prstGeom>
          <a:noFill/>
        </p:spPr>
        <p:txBody>
          <a:bodyPr wrap="none" rtlCol="0">
            <a:spAutoFit/>
          </a:bodyPr>
          <a:lstStyle/>
          <a:p>
            <a:pPr marL="342900" indent="-342900">
              <a:buFont typeface="Arial" panose="020B0604020202020204" pitchFamily="34" charset="0"/>
              <a:buChar char="•"/>
            </a:pPr>
            <a:r>
              <a:rPr lang="en-KR" dirty="0">
                <a:solidFill>
                  <a:srgbClr val="C00000"/>
                </a:solidFill>
              </a:rPr>
              <a:t>top</a:t>
            </a:r>
            <a:r>
              <a:rPr lang="en-KR" dirty="0"/>
              <a:t> and </a:t>
            </a:r>
            <a:r>
              <a:rPr lang="en-KR" dirty="0">
                <a:solidFill>
                  <a:srgbClr val="C00000"/>
                </a:solidFill>
              </a:rPr>
              <a:t>htop</a:t>
            </a:r>
            <a:r>
              <a:rPr lang="en-KR" dirty="0"/>
              <a:t> commands </a:t>
            </a:r>
            <a:r>
              <a:rPr lang="en-US" dirty="0"/>
              <a:t>﻿for monitoring resource usage </a:t>
            </a:r>
            <a:r>
              <a:rPr lang="en-KR" dirty="0"/>
              <a:t> </a:t>
            </a:r>
          </a:p>
        </p:txBody>
      </p:sp>
      <p:pic>
        <p:nvPicPr>
          <p:cNvPr id="14" name="Picture 13">
            <a:extLst>
              <a:ext uri="{FF2B5EF4-FFF2-40B4-BE49-F238E27FC236}">
                <a16:creationId xmlns:a16="http://schemas.microsoft.com/office/drawing/2014/main" id="{E93427D6-39AC-E766-915C-FE00E277BAC6}"/>
              </a:ext>
            </a:extLst>
          </p:cNvPr>
          <p:cNvPicPr>
            <a:picLocks noChangeAspect="1"/>
          </p:cNvPicPr>
          <p:nvPr/>
        </p:nvPicPr>
        <p:blipFill>
          <a:blip r:embed="rId3"/>
          <a:stretch>
            <a:fillRect/>
          </a:stretch>
        </p:blipFill>
        <p:spPr>
          <a:xfrm>
            <a:off x="1944815" y="4342683"/>
            <a:ext cx="6016369" cy="2254020"/>
          </a:xfrm>
          <a:prstGeom prst="rect">
            <a:avLst/>
          </a:prstGeom>
        </p:spPr>
      </p:pic>
    </p:spTree>
    <p:extLst>
      <p:ext uri="{BB962C8B-B14F-4D97-AF65-F5344CB8AC3E}">
        <p14:creationId xmlns:p14="http://schemas.microsoft.com/office/powerpoint/2010/main" val="1653258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18</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Console-Based Monitoring</a:t>
            </a:r>
          </a:p>
        </p:txBody>
      </p:sp>
      <p:sp>
        <p:nvSpPr>
          <p:cNvPr id="13" name="TextBox 12">
            <a:extLst>
              <a:ext uri="{FF2B5EF4-FFF2-40B4-BE49-F238E27FC236}">
                <a16:creationId xmlns:a16="http://schemas.microsoft.com/office/drawing/2014/main" id="{8EB644CD-F47A-F162-CDFF-5C39CE38BAA0}"/>
              </a:ext>
            </a:extLst>
          </p:cNvPr>
          <p:cNvSpPr txBox="1"/>
          <p:nvPr/>
        </p:nvSpPr>
        <p:spPr>
          <a:xfrm>
            <a:off x="630193" y="1170495"/>
            <a:ext cx="8780507" cy="3416320"/>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C00000"/>
                </a:solidFill>
              </a:rPr>
              <a:t>f</a:t>
            </a:r>
            <a:r>
              <a:rPr lang="en-KR" dirty="0">
                <a:solidFill>
                  <a:srgbClr val="C00000"/>
                </a:solidFill>
              </a:rPr>
              <a:t>ree </a:t>
            </a:r>
            <a:r>
              <a:rPr lang="en-KR" dirty="0"/>
              <a:t>command </a:t>
            </a:r>
            <a:r>
              <a:rPr lang="en-US" dirty="0"/>
              <a:t>﻿utility displays the amount of free and used memory in the system, in kilobytes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err="1">
                <a:solidFill>
                  <a:srgbClr val="C00000"/>
                </a:solidFill>
              </a:rPr>
              <a:t>df</a:t>
            </a:r>
            <a:r>
              <a:rPr lang="en-US" dirty="0">
                <a:solidFill>
                  <a:srgbClr val="C00000"/>
                </a:solidFill>
              </a:rPr>
              <a:t> </a:t>
            </a:r>
            <a:r>
              <a:rPr lang="en-US" dirty="0"/>
              <a:t>command</a:t>
            </a:r>
            <a:endParaRPr lang="en-KR" dirty="0"/>
          </a:p>
        </p:txBody>
      </p:sp>
      <p:pic>
        <p:nvPicPr>
          <p:cNvPr id="2" name="Picture 1">
            <a:extLst>
              <a:ext uri="{FF2B5EF4-FFF2-40B4-BE49-F238E27FC236}">
                <a16:creationId xmlns:a16="http://schemas.microsoft.com/office/drawing/2014/main" id="{15ADBADB-EECA-3F67-43CD-1A236ED81232}"/>
              </a:ext>
            </a:extLst>
          </p:cNvPr>
          <p:cNvPicPr>
            <a:picLocks noChangeAspect="1"/>
          </p:cNvPicPr>
          <p:nvPr/>
        </p:nvPicPr>
        <p:blipFill>
          <a:blip r:embed="rId2"/>
          <a:stretch>
            <a:fillRect/>
          </a:stretch>
        </p:blipFill>
        <p:spPr>
          <a:xfrm>
            <a:off x="1337177" y="2222709"/>
            <a:ext cx="7366538" cy="1623715"/>
          </a:xfrm>
          <a:prstGeom prst="rect">
            <a:avLst/>
          </a:prstGeom>
        </p:spPr>
      </p:pic>
      <p:pic>
        <p:nvPicPr>
          <p:cNvPr id="6" name="Picture 5">
            <a:extLst>
              <a:ext uri="{FF2B5EF4-FFF2-40B4-BE49-F238E27FC236}">
                <a16:creationId xmlns:a16="http://schemas.microsoft.com/office/drawing/2014/main" id="{F08D2367-A4D0-B2D8-4898-39604C1D5D11}"/>
              </a:ext>
            </a:extLst>
          </p:cNvPr>
          <p:cNvPicPr>
            <a:picLocks noChangeAspect="1"/>
          </p:cNvPicPr>
          <p:nvPr/>
        </p:nvPicPr>
        <p:blipFill>
          <a:blip r:embed="rId3"/>
          <a:stretch>
            <a:fillRect/>
          </a:stretch>
        </p:blipFill>
        <p:spPr>
          <a:xfrm>
            <a:off x="2177668" y="4517177"/>
            <a:ext cx="6058254" cy="2294793"/>
          </a:xfrm>
          <a:prstGeom prst="rect">
            <a:avLst/>
          </a:prstGeom>
        </p:spPr>
      </p:pic>
    </p:spTree>
    <p:extLst>
      <p:ext uri="{BB962C8B-B14F-4D97-AF65-F5344CB8AC3E}">
        <p14:creationId xmlns:p14="http://schemas.microsoft.com/office/powerpoint/2010/main" val="4243737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19</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Console-Based Monitoring</a:t>
            </a:r>
          </a:p>
        </p:txBody>
      </p:sp>
      <p:sp>
        <p:nvSpPr>
          <p:cNvPr id="13" name="TextBox 12">
            <a:extLst>
              <a:ext uri="{FF2B5EF4-FFF2-40B4-BE49-F238E27FC236}">
                <a16:creationId xmlns:a16="http://schemas.microsoft.com/office/drawing/2014/main" id="{8EB644CD-F47A-F162-CDFF-5C39CE38BAA0}"/>
              </a:ext>
            </a:extLst>
          </p:cNvPr>
          <p:cNvSpPr txBox="1"/>
          <p:nvPr/>
        </p:nvSpPr>
        <p:spPr>
          <a:xfrm>
            <a:off x="630193" y="1170495"/>
            <a:ext cx="8780507" cy="1200329"/>
          </a:xfrm>
          <a:prstGeom prst="rect">
            <a:avLst/>
          </a:prstGeom>
          <a:noFill/>
        </p:spPr>
        <p:txBody>
          <a:bodyPr wrap="square" rtlCol="0">
            <a:spAutoFit/>
          </a:bodyPr>
          <a:lstStyle/>
          <a:p>
            <a:pPr marL="342900" indent="-342900">
              <a:buFont typeface="Wingdings" pitchFamily="2" charset="2"/>
              <a:buChar char="v"/>
            </a:pPr>
            <a:r>
              <a:rPr lang="vi-VN" dirty="0">
                <a:solidFill>
                  <a:srgbClr val="C00000"/>
                </a:solidFill>
              </a:rPr>
              <a:t>Checking Log Files</a:t>
            </a:r>
          </a:p>
          <a:p>
            <a:pPr marL="342900" indent="-342900">
              <a:buFont typeface="Arial" panose="020B0604020202020204" pitchFamily="34" charset="0"/>
              <a:buChar char="•"/>
            </a:pPr>
            <a:r>
              <a:rPr lang="vi-VN" dirty="0"/>
              <a:t>﻿Most log files can be found in </a:t>
            </a:r>
            <a:r>
              <a:rPr lang="vi-VN" dirty="0">
                <a:solidFill>
                  <a:srgbClr val="C00000"/>
                </a:solidFill>
              </a:rPr>
              <a:t>/var/log/ </a:t>
            </a:r>
            <a:r>
              <a:rPr lang="vi-VN" dirty="0"/>
              <a:t>or its subdirectories.</a:t>
            </a:r>
          </a:p>
          <a:p>
            <a:pPr marL="342900" indent="-34290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A8201C03-7EBE-6A90-5418-012377C3D05A}"/>
              </a:ext>
            </a:extLst>
          </p:cNvPr>
          <p:cNvPicPr>
            <a:picLocks noChangeAspect="1"/>
          </p:cNvPicPr>
          <p:nvPr/>
        </p:nvPicPr>
        <p:blipFill>
          <a:blip r:embed="rId2"/>
          <a:stretch>
            <a:fillRect/>
          </a:stretch>
        </p:blipFill>
        <p:spPr>
          <a:xfrm>
            <a:off x="1791901" y="2412355"/>
            <a:ext cx="6638316" cy="2838894"/>
          </a:xfrm>
          <a:prstGeom prst="rect">
            <a:avLst/>
          </a:prstGeom>
        </p:spPr>
      </p:pic>
    </p:spTree>
    <p:extLst>
      <p:ext uri="{BB962C8B-B14F-4D97-AF65-F5344CB8AC3E}">
        <p14:creationId xmlns:p14="http://schemas.microsoft.com/office/powerpoint/2010/main" val="1571928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20</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Console-Based Monitoring</a:t>
            </a:r>
          </a:p>
        </p:txBody>
      </p:sp>
      <p:sp>
        <p:nvSpPr>
          <p:cNvPr id="13" name="TextBox 12">
            <a:extLst>
              <a:ext uri="{FF2B5EF4-FFF2-40B4-BE49-F238E27FC236}">
                <a16:creationId xmlns:a16="http://schemas.microsoft.com/office/drawing/2014/main" id="{8EB644CD-F47A-F162-CDFF-5C39CE38BAA0}"/>
              </a:ext>
            </a:extLst>
          </p:cNvPr>
          <p:cNvSpPr txBox="1"/>
          <p:nvPr/>
        </p:nvSpPr>
        <p:spPr>
          <a:xfrm>
            <a:off x="630193" y="1170495"/>
            <a:ext cx="8780507" cy="1200329"/>
          </a:xfrm>
          <a:prstGeom prst="rect">
            <a:avLst/>
          </a:prstGeom>
          <a:noFill/>
        </p:spPr>
        <p:txBody>
          <a:bodyPr wrap="square" rtlCol="0">
            <a:spAutoFit/>
          </a:bodyPr>
          <a:lstStyle/>
          <a:p>
            <a:pPr marL="342900" indent="-342900">
              <a:buFont typeface="Wingdings" pitchFamily="2" charset="2"/>
              <a:buChar char="v"/>
            </a:pPr>
            <a:r>
              <a:rPr lang="vi-VN" dirty="0">
                <a:solidFill>
                  <a:srgbClr val="C00000"/>
                </a:solidFill>
              </a:rPr>
              <a:t>Checking Log Files</a:t>
            </a:r>
          </a:p>
          <a:p>
            <a:pPr marL="342900" indent="-342900">
              <a:buFont typeface="Arial" panose="020B0604020202020204" pitchFamily="34" charset="0"/>
              <a:buChar char="•"/>
            </a:pPr>
            <a:r>
              <a:rPr lang="vi-VN" dirty="0"/>
              <a:t>﻿Most log files can be found in </a:t>
            </a:r>
            <a:r>
              <a:rPr lang="vi-VN" dirty="0">
                <a:solidFill>
                  <a:srgbClr val="C00000"/>
                </a:solidFill>
              </a:rPr>
              <a:t>/var/log/ </a:t>
            </a:r>
            <a:r>
              <a:rPr lang="vi-VN" dirty="0"/>
              <a:t>or its subdirectories.</a:t>
            </a:r>
          </a:p>
          <a:p>
            <a:pPr marL="342900" indent="-342900">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94630E45-B20E-19BE-1995-8F08D4D52C12}"/>
              </a:ext>
            </a:extLst>
          </p:cNvPr>
          <p:cNvPicPr>
            <a:picLocks noChangeAspect="1"/>
          </p:cNvPicPr>
          <p:nvPr/>
        </p:nvPicPr>
        <p:blipFill>
          <a:blip r:embed="rId2"/>
          <a:stretch>
            <a:fillRect/>
          </a:stretch>
        </p:blipFill>
        <p:spPr>
          <a:xfrm>
            <a:off x="698093" y="2210186"/>
            <a:ext cx="8712607" cy="3782841"/>
          </a:xfrm>
          <a:prstGeom prst="rect">
            <a:avLst/>
          </a:prstGeom>
        </p:spPr>
      </p:pic>
    </p:spTree>
    <p:extLst>
      <p:ext uri="{BB962C8B-B14F-4D97-AF65-F5344CB8AC3E}">
        <p14:creationId xmlns:p14="http://schemas.microsoft.com/office/powerpoint/2010/main" val="3673925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21</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Graphical Process and System-Management Tools</a:t>
            </a:r>
          </a:p>
        </p:txBody>
      </p:sp>
      <p:sp>
        <p:nvSpPr>
          <p:cNvPr id="13" name="TextBox 12">
            <a:extLst>
              <a:ext uri="{FF2B5EF4-FFF2-40B4-BE49-F238E27FC236}">
                <a16:creationId xmlns:a16="http://schemas.microsoft.com/office/drawing/2014/main" id="{8EB644CD-F47A-F162-CDFF-5C39CE38BAA0}"/>
              </a:ext>
            </a:extLst>
          </p:cNvPr>
          <p:cNvSpPr txBox="1"/>
          <p:nvPr/>
        </p:nvSpPr>
        <p:spPr>
          <a:xfrm>
            <a:off x="630193" y="1170495"/>
            <a:ext cx="8780507" cy="461665"/>
          </a:xfrm>
          <a:prstGeom prst="rect">
            <a:avLst/>
          </a:prstGeom>
          <a:noFill/>
        </p:spPr>
        <p:txBody>
          <a:bodyPr wrap="square" rtlCol="0">
            <a:spAutoFit/>
          </a:bodyPr>
          <a:lstStyle/>
          <a:p>
            <a:pPr marL="342900" indent="-342900">
              <a:buFont typeface="Wingdings" pitchFamily="2" charset="2"/>
              <a:buChar char="v"/>
            </a:pPr>
            <a:r>
              <a:rPr lang="vi-VN" dirty="0">
                <a:solidFill>
                  <a:srgbClr val="C00000"/>
                </a:solidFill>
              </a:rPr>
              <a:t>System Monitor</a:t>
            </a:r>
            <a:endParaRPr lang="en-US" dirty="0"/>
          </a:p>
        </p:txBody>
      </p:sp>
      <p:pic>
        <p:nvPicPr>
          <p:cNvPr id="3" name="Picture 2">
            <a:extLst>
              <a:ext uri="{FF2B5EF4-FFF2-40B4-BE49-F238E27FC236}">
                <a16:creationId xmlns:a16="http://schemas.microsoft.com/office/drawing/2014/main" id="{0B69D0BC-7FC0-73FA-3ADC-425EC2EF4E80}"/>
              </a:ext>
            </a:extLst>
          </p:cNvPr>
          <p:cNvPicPr>
            <a:picLocks noChangeAspect="1"/>
          </p:cNvPicPr>
          <p:nvPr/>
        </p:nvPicPr>
        <p:blipFill>
          <a:blip r:embed="rId2"/>
          <a:stretch>
            <a:fillRect/>
          </a:stretch>
        </p:blipFill>
        <p:spPr>
          <a:xfrm>
            <a:off x="1541488" y="1670742"/>
            <a:ext cx="6799323" cy="5050736"/>
          </a:xfrm>
          <a:prstGeom prst="rect">
            <a:avLst/>
          </a:prstGeom>
        </p:spPr>
      </p:pic>
    </p:spTree>
    <p:extLst>
      <p:ext uri="{BB962C8B-B14F-4D97-AF65-F5344CB8AC3E}">
        <p14:creationId xmlns:p14="http://schemas.microsoft.com/office/powerpoint/2010/main" val="1455840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22</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Graphical Process and System-Management Tools</a:t>
            </a:r>
          </a:p>
        </p:txBody>
      </p:sp>
      <p:sp>
        <p:nvSpPr>
          <p:cNvPr id="13" name="TextBox 12">
            <a:extLst>
              <a:ext uri="{FF2B5EF4-FFF2-40B4-BE49-F238E27FC236}">
                <a16:creationId xmlns:a16="http://schemas.microsoft.com/office/drawing/2014/main" id="{8EB644CD-F47A-F162-CDFF-5C39CE38BAA0}"/>
              </a:ext>
            </a:extLst>
          </p:cNvPr>
          <p:cNvSpPr txBox="1"/>
          <p:nvPr/>
        </p:nvSpPr>
        <p:spPr>
          <a:xfrm>
            <a:off x="630193" y="1170495"/>
            <a:ext cx="8780507" cy="830997"/>
          </a:xfrm>
          <a:prstGeom prst="rect">
            <a:avLst/>
          </a:prstGeom>
          <a:noFill/>
        </p:spPr>
        <p:txBody>
          <a:bodyPr wrap="square" rtlCol="0">
            <a:spAutoFit/>
          </a:bodyPr>
          <a:lstStyle/>
          <a:p>
            <a:pPr marL="342900" indent="-342900">
              <a:buFont typeface="Wingdings" pitchFamily="2" charset="2"/>
              <a:buChar char="v"/>
            </a:pPr>
            <a:r>
              <a:rPr lang="vi-VN" dirty="0">
                <a:solidFill>
                  <a:srgbClr val="C00000"/>
                </a:solidFill>
              </a:rPr>
              <a:t>Conky</a:t>
            </a:r>
          </a:p>
          <a:p>
            <a:pPr marL="342900" indent="-342900">
              <a:buFont typeface="Arial" panose="020B0604020202020204" pitchFamily="34" charset="0"/>
              <a:buChar char="•"/>
            </a:pPr>
            <a:endParaRPr lang="en-US" dirty="0"/>
          </a:p>
        </p:txBody>
      </p:sp>
      <p:pic>
        <p:nvPicPr>
          <p:cNvPr id="1026" name="Picture 2" descr="Conky Initial">
            <a:extLst>
              <a:ext uri="{FF2B5EF4-FFF2-40B4-BE49-F238E27FC236}">
                <a16:creationId xmlns:a16="http://schemas.microsoft.com/office/drawing/2014/main" id="{DE78D9FE-24EE-0190-429D-888ECF6B7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717" y="1689723"/>
            <a:ext cx="4864100" cy="497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4276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23</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Graphical Process and System-Management Tools</a:t>
            </a:r>
          </a:p>
        </p:txBody>
      </p:sp>
      <p:sp>
        <p:nvSpPr>
          <p:cNvPr id="13" name="TextBox 12">
            <a:extLst>
              <a:ext uri="{FF2B5EF4-FFF2-40B4-BE49-F238E27FC236}">
                <a16:creationId xmlns:a16="http://schemas.microsoft.com/office/drawing/2014/main" id="{8EB644CD-F47A-F162-CDFF-5C39CE38BAA0}"/>
              </a:ext>
            </a:extLst>
          </p:cNvPr>
          <p:cNvSpPr txBox="1"/>
          <p:nvPr/>
        </p:nvSpPr>
        <p:spPr>
          <a:xfrm>
            <a:off x="630193" y="1170495"/>
            <a:ext cx="8780507" cy="830997"/>
          </a:xfrm>
          <a:prstGeom prst="rect">
            <a:avLst/>
          </a:prstGeom>
          <a:noFill/>
        </p:spPr>
        <p:txBody>
          <a:bodyPr wrap="square" rtlCol="0">
            <a:spAutoFit/>
          </a:bodyPr>
          <a:lstStyle/>
          <a:p>
            <a:pPr marL="342900" indent="-342900">
              <a:buFont typeface="Wingdings" pitchFamily="2" charset="2"/>
              <a:buChar char="v"/>
            </a:pPr>
            <a:r>
              <a:rPr lang="vi-VN" dirty="0">
                <a:solidFill>
                  <a:srgbClr val="C00000"/>
                </a:solidFill>
              </a:rPr>
              <a:t>Auzia Conky</a:t>
            </a:r>
            <a:endParaRPr lang="vi-VN" dirty="0"/>
          </a:p>
          <a:p>
            <a:pPr marL="342900" indent="-342900">
              <a:buFont typeface="Arial" panose="020B0604020202020204" pitchFamily="34" charset="0"/>
              <a:buChar char="•"/>
            </a:pPr>
            <a:endParaRPr lang="en-US" dirty="0"/>
          </a:p>
        </p:txBody>
      </p:sp>
      <p:pic>
        <p:nvPicPr>
          <p:cNvPr id="2052" name="Picture 4" descr="blue light">
            <a:extLst>
              <a:ext uri="{FF2B5EF4-FFF2-40B4-BE49-F238E27FC236}">
                <a16:creationId xmlns:a16="http://schemas.microsoft.com/office/drawing/2014/main" id="{1DF154F8-2942-E77A-0405-3B035A2D6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1667515"/>
            <a:ext cx="8831707" cy="5154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5168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BDFC0-9E7A-C123-8917-F8DEB429BD2E}"/>
              </a:ext>
            </a:extLst>
          </p:cNvPr>
          <p:cNvSpPr>
            <a:spLocks noGrp="1"/>
          </p:cNvSpPr>
          <p:nvPr>
            <p:ph type="sldNum" sz="quarter" idx="12"/>
          </p:nvPr>
        </p:nvSpPr>
        <p:spPr/>
        <p:txBody>
          <a:bodyPr/>
          <a:lstStyle/>
          <a:p>
            <a:pPr>
              <a:defRPr/>
            </a:pPr>
            <a:r>
              <a:rPr lang="en-US" altLang="en-US"/>
              <a:t>1-</a:t>
            </a:r>
            <a:fld id="{29A11730-EE35-46BE-9F13-4A255B0ABF74}" type="slidenum">
              <a:rPr lang="en-US" altLang="en-US" smtClean="0"/>
              <a:pPr>
                <a:defRPr/>
              </a:pPr>
              <a:t>24</a:t>
            </a:fld>
            <a:endParaRPr lang="en-US" altLang="en-US"/>
          </a:p>
        </p:txBody>
      </p:sp>
      <p:sp>
        <p:nvSpPr>
          <p:cNvPr id="7" name="Title 1">
            <a:extLst>
              <a:ext uri="{FF2B5EF4-FFF2-40B4-BE49-F238E27FC236}">
                <a16:creationId xmlns:a16="http://schemas.microsoft.com/office/drawing/2014/main" id="{A95FE029-21A0-378F-EF98-9B0AA0461203}"/>
              </a:ext>
            </a:extLst>
          </p:cNvPr>
          <p:cNvSpPr>
            <a:spLocks noGrp="1"/>
          </p:cNvSpPr>
          <p:nvPr>
            <p:ph type="title"/>
          </p:nvPr>
        </p:nvSpPr>
        <p:spPr>
          <a:xfrm>
            <a:off x="1002890" y="171402"/>
            <a:ext cx="8407810" cy="777876"/>
          </a:xfrm>
        </p:spPr>
        <p:txBody>
          <a:bodyPr>
            <a:noAutofit/>
          </a:bodyPr>
          <a:lstStyle/>
          <a:p>
            <a:r>
              <a:rPr lang="en-US" sz="2800" dirty="0"/>
              <a:t>Graphical Process and System-Management Tools</a:t>
            </a:r>
          </a:p>
        </p:txBody>
      </p:sp>
      <p:sp>
        <p:nvSpPr>
          <p:cNvPr id="13" name="TextBox 12">
            <a:extLst>
              <a:ext uri="{FF2B5EF4-FFF2-40B4-BE49-F238E27FC236}">
                <a16:creationId xmlns:a16="http://schemas.microsoft.com/office/drawing/2014/main" id="{8EB644CD-F47A-F162-CDFF-5C39CE38BAA0}"/>
              </a:ext>
            </a:extLst>
          </p:cNvPr>
          <p:cNvSpPr txBox="1"/>
          <p:nvPr/>
        </p:nvSpPr>
        <p:spPr>
          <a:xfrm>
            <a:off x="630193" y="1170495"/>
            <a:ext cx="8780507" cy="4524315"/>
          </a:xfrm>
          <a:prstGeom prst="rect">
            <a:avLst/>
          </a:prstGeom>
          <a:noFill/>
        </p:spPr>
        <p:txBody>
          <a:bodyPr wrap="square" rtlCol="0">
            <a:spAutoFit/>
          </a:bodyPr>
          <a:lstStyle/>
          <a:p>
            <a:pPr marL="342900" indent="-342900">
              <a:buFont typeface="Wingdings" pitchFamily="2" charset="2"/>
              <a:buChar char="v"/>
            </a:pPr>
            <a:r>
              <a:rPr lang="vi-VN" dirty="0">
                <a:solidFill>
                  <a:srgbClr val="C00000"/>
                </a:solidFill>
              </a:rPr>
              <a:t>﻿Enterprise Server Monitoring</a:t>
            </a:r>
          </a:p>
          <a:p>
            <a:pPr marL="342900" indent="-342900" algn="just">
              <a:buFont typeface="Arial" panose="020B0604020202020204" pitchFamily="34" charset="0"/>
              <a:buChar char="•"/>
            </a:pPr>
            <a:r>
              <a:rPr lang="en-US" dirty="0"/>
              <a:t>﻿﻿Servers used in enterprise situations require extreme uptime. Monitoring is vital to know how your system is performing and to have observability into the general health of your system components and services.</a:t>
            </a:r>
          </a:p>
          <a:p>
            <a:pPr marL="342900" indent="-342900" algn="just">
              <a:buFont typeface="Arial" panose="020B0604020202020204" pitchFamily="34" charset="0"/>
              <a:buChar char="•"/>
            </a:pPr>
            <a:r>
              <a:rPr lang="en-US" dirty="0"/>
              <a:t>Some enterprise tools</a:t>
            </a:r>
          </a:p>
          <a:p>
            <a:pPr marL="800100" lvl="1" indent="-342900">
              <a:buFont typeface="Courier New" panose="02070309020205020404" pitchFamily="49" charset="0"/>
              <a:buChar char="o"/>
            </a:pPr>
            <a:r>
              <a:rPr lang="en-US" b="1" dirty="0"/>
              <a:t>Datadog</a:t>
            </a:r>
          </a:p>
          <a:p>
            <a:pPr marL="800100" lvl="1" indent="-342900">
              <a:buFont typeface="Courier New" panose="02070309020205020404" pitchFamily="49" charset="0"/>
              <a:buChar char="o"/>
            </a:pPr>
            <a:r>
              <a:rPr lang="en-US" b="1" dirty="0"/>
              <a:t>﻿Nagios</a:t>
            </a:r>
          </a:p>
          <a:p>
            <a:pPr marL="800100" lvl="1" indent="-342900">
              <a:buFont typeface="Courier New" panose="02070309020205020404" pitchFamily="49" charset="0"/>
              <a:buChar char="o"/>
            </a:pPr>
            <a:r>
              <a:rPr lang="en-US" b="1" dirty="0"/>
              <a:t>﻿New Relic</a:t>
            </a:r>
          </a:p>
          <a:p>
            <a:pPr marL="800100" lvl="1" indent="-342900">
              <a:buFont typeface="Courier New" panose="02070309020205020404" pitchFamily="49" charset="0"/>
              <a:buChar char="o"/>
            </a:pPr>
            <a:r>
              <a:rPr lang="en-US" b="1" dirty="0"/>
              <a:t>﻿</a:t>
            </a:r>
            <a:r>
              <a:rPr lang="en-US" b="1" dirty="0" err="1"/>
              <a:t>SignalFx</a:t>
            </a:r>
            <a:endParaRPr lang="en-US" b="1" dirty="0"/>
          </a:p>
          <a:p>
            <a:pPr marL="800100" lvl="1" indent="-342900">
              <a:buFont typeface="Courier New" panose="02070309020205020404" pitchFamily="49" charset="0"/>
              <a:buChar char="o"/>
            </a:pPr>
            <a:r>
              <a:rPr lang="en-US" b="1" dirty="0"/>
              <a:t>﻿Splunk</a:t>
            </a:r>
          </a:p>
          <a:p>
            <a:pPr marL="800100" lvl="1" indent="-342900">
              <a:buFont typeface="Courier New" panose="02070309020205020404" pitchFamily="49" charset="0"/>
              <a:buChar char="o"/>
            </a:pPr>
            <a:r>
              <a:rPr lang="en-US" b="1" dirty="0"/>
              <a:t>﻿Zabbix</a:t>
            </a:r>
          </a:p>
        </p:txBody>
      </p:sp>
    </p:spTree>
    <p:extLst>
      <p:ext uri="{BB962C8B-B14F-4D97-AF65-F5344CB8AC3E}">
        <p14:creationId xmlns:p14="http://schemas.microsoft.com/office/powerpoint/2010/main" val="2560549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Remarks</a:t>
            </a:r>
          </a:p>
        </p:txBody>
      </p:sp>
      <p:sp>
        <p:nvSpPr>
          <p:cNvPr id="3" name="Content Placeholder 2"/>
          <p:cNvSpPr>
            <a:spLocks noGrp="1"/>
          </p:cNvSpPr>
          <p:nvPr>
            <p:ph idx="1"/>
          </p:nvPr>
        </p:nvSpPr>
        <p:spPr/>
        <p:txBody>
          <a:bodyPr>
            <a:normAutofit/>
          </a:bodyPr>
          <a:lstStyle/>
          <a:p>
            <a:r>
              <a:rPr lang="en-US" b="1" dirty="0"/>
              <a:t>Remarks:</a:t>
            </a:r>
          </a:p>
          <a:p>
            <a:pPr lvl="1" algn="just"/>
            <a:r>
              <a:rPr lang="en-US" sz="2200" dirty="0"/>
              <a:t>This lecturer provides fundamentals of boot process</a:t>
            </a:r>
          </a:p>
          <a:p>
            <a:pPr lvl="1" algn="just"/>
            <a:r>
              <a:rPr lang="en-US" sz="2200" dirty="0"/>
              <a:t>Review chapter 15, 16 in textbook</a:t>
            </a:r>
          </a:p>
          <a:p>
            <a:pPr lvl="1" algn="just"/>
            <a:r>
              <a:rPr lang="en-US" sz="2200" dirty="0"/>
              <a:t>Practice with example commands and tools</a:t>
            </a:r>
          </a:p>
          <a:p>
            <a:pPr lvl="1" algn="just"/>
            <a:endParaRPr lang="en-US" sz="2200" dirty="0"/>
          </a:p>
        </p:txBody>
      </p:sp>
      <p:sp>
        <p:nvSpPr>
          <p:cNvPr id="4" name="Slide Number Placeholder 3"/>
          <p:cNvSpPr>
            <a:spLocks noGrp="1"/>
          </p:cNvSpPr>
          <p:nvPr>
            <p:ph type="sldNum" sz="quarter" idx="12"/>
          </p:nvPr>
        </p:nvSpPr>
        <p:spPr>
          <a:xfrm>
            <a:off x="7099300" y="6356353"/>
            <a:ext cx="2721356" cy="365125"/>
          </a:xfrm>
        </p:spPr>
        <p:txBody>
          <a:bodyPr/>
          <a:lstStyle/>
          <a:p>
            <a:pPr>
              <a:defRPr/>
            </a:pPr>
            <a:r>
              <a:rPr lang="en-US" altLang="en-US"/>
              <a:t>1-</a:t>
            </a:r>
            <a:fld id="{29A11730-EE35-46BE-9F13-4A255B0ABF74}" type="slidenum">
              <a:rPr lang="en-US" altLang="en-US" smtClean="0"/>
              <a:pPr>
                <a:defRPr/>
              </a:pPr>
              <a:t>25</a:t>
            </a:fld>
            <a:endParaRPr lang="en-US" altLang="en-US"/>
          </a:p>
        </p:txBody>
      </p:sp>
    </p:spTree>
    <p:extLst>
      <p:ext uri="{BB962C8B-B14F-4D97-AF65-F5344CB8AC3E}">
        <p14:creationId xmlns:p14="http://schemas.microsoft.com/office/powerpoint/2010/main" val="1588326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11989</TotalTime>
  <Words>1060</Words>
  <Application>Microsoft Macintosh PowerPoint</Application>
  <PresentationFormat>A4 Paper (210x297 mm)</PresentationFormat>
  <Paragraphs>142</Paragraphs>
  <Slides>25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Courier New</vt:lpstr>
      <vt:lpstr>Gill Sans MT</vt:lpstr>
      <vt:lpstr>Times New Roman</vt:lpstr>
      <vt:lpstr>Ubuntu Beta</vt:lpstr>
      <vt:lpstr>Wingdings</vt:lpstr>
      <vt:lpstr>Office Theme</vt:lpstr>
      <vt:lpstr>Chapter VI.  Boot Process and system Monitoring  </vt:lpstr>
      <vt:lpstr>Main contents</vt:lpstr>
      <vt:lpstr>Boot Loading Process</vt:lpstr>
      <vt:lpstr>Boot Loading Process</vt:lpstr>
      <vt:lpstr>Boot Loading Process</vt:lpstr>
      <vt:lpstr>Boot Loading Process</vt:lpstr>
      <vt:lpstr>Boot Loading Process</vt:lpstr>
      <vt:lpstr>Boot Loading Process</vt:lpstr>
      <vt:lpstr>Boot Loading Process</vt:lpstr>
      <vt:lpstr>Boot Loading Process</vt:lpstr>
      <vt:lpstr>Boot Loading Process</vt:lpstr>
      <vt:lpstr>Boot Loading Process</vt:lpstr>
      <vt:lpstr>Boot Loading Process</vt:lpstr>
      <vt:lpstr>Console-Based Monitoring</vt:lpstr>
      <vt:lpstr>Console-Based Monitoring</vt:lpstr>
      <vt:lpstr>Console-Based Monitoring</vt:lpstr>
      <vt:lpstr>Console-Based Monitoring</vt:lpstr>
      <vt:lpstr>Console-Based Monitoring</vt:lpstr>
      <vt:lpstr>Console-Based Monitoring</vt:lpstr>
      <vt:lpstr>Console-Based Monitoring</vt:lpstr>
      <vt:lpstr>Graphical Process and System-Management Tools</vt:lpstr>
      <vt:lpstr>Graphical Process and System-Management Tools</vt:lpstr>
      <vt:lpstr>Graphical Process and System-Management Tools</vt:lpstr>
      <vt:lpstr>Graphical Process and System-Management Tools</vt:lpstr>
      <vt:lpstr>Remarks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Mạng máy tính</dc:title>
  <dc:creator>trantheson</dc:creator>
  <cp:lastModifiedBy>Huu Nhat Minh Nguyen</cp:lastModifiedBy>
  <cp:revision>447</cp:revision>
  <dcterms:created xsi:type="dcterms:W3CDTF">1999-10-08T19:08:27Z</dcterms:created>
  <dcterms:modified xsi:type="dcterms:W3CDTF">2022-09-25T14:48:37Z</dcterms:modified>
</cp:coreProperties>
</file>