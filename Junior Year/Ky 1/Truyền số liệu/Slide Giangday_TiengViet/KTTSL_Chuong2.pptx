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9" autoAdjust="0"/>
    <p:restoredTop sz="94660"/>
  </p:normalViewPr>
  <p:slideViewPr>
    <p:cSldViewPr snapToGrid="0">
      <p:cViewPr>
        <p:scale>
          <a:sx n="50" d="100"/>
          <a:sy n="50" d="100"/>
        </p:scale>
        <p:origin x="-1436" y="-5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a16="http://schemas.microsoft.com/office/drawing/2014/main" xmlns=""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a16="http://schemas.microsoft.com/office/drawing/2014/main" xmlns=""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2</a:t>
            </a:r>
            <a:endParaRPr lang="en-US" b="1" dirty="0"/>
          </a:p>
        </p:txBody>
      </p:sp>
      <p:sp>
        <p:nvSpPr>
          <p:cNvPr id="3" name="Content Placeholder 2"/>
          <p:cNvSpPr>
            <a:spLocks noGrp="1"/>
          </p:cNvSpPr>
          <p:nvPr>
            <p:ph idx="1"/>
          </p:nvPr>
        </p:nvSpPr>
        <p:spPr/>
        <p:txBody>
          <a:bodyPr>
            <a:normAutofit/>
          </a:bodyPr>
          <a:lstStyle/>
          <a:p>
            <a:pPr algn="ctr">
              <a:buNone/>
            </a:pPr>
            <a:r>
              <a:rPr lang="en-US" sz="6000" dirty="0" smtClean="0">
                <a:latin typeface="Times New Roman" pitchFamily="18" charset="0"/>
                <a:cs typeface="Times New Roman" pitchFamily="18" charset="0"/>
              </a:rPr>
              <a:t>MÔ HÌNH OSI</a:t>
            </a:r>
            <a:endParaRPr lang="en-US" sz="6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2</a:t>
            </a:r>
            <a:endParaRPr lang="en-US" dirty="0"/>
          </a:p>
        </p:txBody>
      </p:sp>
      <p:sp>
        <p:nvSpPr>
          <p:cNvPr id="3" name="Content Placeholder 2"/>
          <p:cNvSpPr>
            <a:spLocks noGrp="1"/>
          </p:cNvSpPr>
          <p:nvPr>
            <p:ph idx="1"/>
          </p:nvPr>
        </p:nvSpPr>
        <p:spPr/>
        <p:txBody>
          <a:bodyPr>
            <a:normAutofit/>
          </a:bodyPr>
          <a:lstStyle/>
          <a:p>
            <a:r>
              <a:rPr lang="en-US" sz="4000" dirty="0" smtClean="0"/>
              <a:t> Tổng quan mô hình OSI</a:t>
            </a:r>
          </a:p>
          <a:p>
            <a:r>
              <a:rPr lang="en-US" sz="4000" dirty="0" smtClean="0"/>
              <a:t> Chức năng của các lớp</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2.1 Tổng quan mô hình OSI</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Times New Roman" pitchFamily="18" charset="0"/>
                <a:cs typeface="Times New Roman" pitchFamily="18" charset="0"/>
              </a:rPr>
              <a:t> </a:t>
            </a:r>
            <a:r>
              <a:rPr lang="vi-VN" sz="3200" b="1" dirty="0" smtClean="0">
                <a:latin typeface="Times New Roman" pitchFamily="18" charset="0"/>
                <a:cs typeface="Times New Roman" pitchFamily="18" charset="0"/>
              </a:rPr>
              <a:t>Khái niệm: </a:t>
            </a:r>
            <a:r>
              <a:rPr lang="vi-VN" sz="3200" dirty="0" smtClean="0">
                <a:latin typeface="Times New Roman" pitchFamily="18" charset="0"/>
                <a:cs typeface="Times New Roman" pitchFamily="18" charset="0"/>
              </a:rPr>
              <a:t>OSI (Open Systems Interconnection) là một tiêu ch</a:t>
            </a:r>
            <a:r>
              <a:rPr lang="en-US" sz="3200" dirty="0" smtClean="0">
                <a:latin typeface="Times New Roman" pitchFamily="18" charset="0"/>
                <a:cs typeface="Times New Roman" pitchFamily="18" charset="0"/>
              </a:rPr>
              <a:t>uẩn</a:t>
            </a:r>
            <a:r>
              <a:rPr lang="vi-VN" sz="3200" dirty="0" smtClean="0">
                <a:latin typeface="Times New Roman" pitchFamily="18" charset="0"/>
                <a:cs typeface="Times New Roman" pitchFamily="18" charset="0"/>
              </a:rPr>
              <a:t> của ISO bao trùm tất cả các yếu tố thông tin mạng. </a:t>
            </a:r>
          </a:p>
          <a:p>
            <a:r>
              <a:rPr lang="en-US" sz="3200"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Hệ thống mở là mô hình cho phép hai hệ thống khác nhau có thể thông tin với nhau bất kể kiến trúc mạng của nó ra sao.  </a:t>
            </a:r>
          </a:p>
          <a:p>
            <a:pPr>
              <a:buFont typeface="Wingdings" pitchFamily="2" charset="2"/>
              <a:buChar char="v"/>
            </a:pPr>
            <a:r>
              <a:rPr lang="vi-VN" sz="3200" b="1" dirty="0" smtClean="0">
                <a:latin typeface="Times New Roman" pitchFamily="18" charset="0"/>
                <a:cs typeface="Times New Roman" pitchFamily="18" charset="0"/>
              </a:rPr>
              <a:t>Mục đích của mô hình OSI: </a:t>
            </a:r>
            <a:r>
              <a:rPr lang="vi-VN" sz="3200" dirty="0" smtClean="0">
                <a:latin typeface="Times New Roman" pitchFamily="18" charset="0"/>
                <a:cs typeface="Times New Roman" pitchFamily="18" charset="0"/>
              </a:rPr>
              <a:t>Mở rộng thông tin giữa nhiều hệ thống khác nhau mà không đòi hỏi phải có sự thay đổi về phần cứng hay phần mềm đối với hệ thống hiện hữu.  </a:t>
            </a:r>
          </a:p>
          <a:p>
            <a:r>
              <a:rPr lang="vi-VN" sz="3200" dirty="0" smtClean="0">
                <a:latin typeface="Times New Roman" pitchFamily="18" charset="0"/>
                <a:cs typeface="Times New Roman" pitchFamily="18" charset="0"/>
              </a:rPr>
              <a:t>Mô hình OSI không phải là giao thức (protocol) mà là mô hình giúp hiểu và thiết kế kiến trúc mạng một cách mềm dẻo, bền</a:t>
            </a:r>
            <a:r>
              <a:rPr lang="en-US" sz="3200"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vững và dễ diễn đạt hơn. </a:t>
            </a:r>
            <a:endParaRPr lang="en-US" sz="32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2.1 Tổng quan mô hình OSI</a:t>
            </a:r>
            <a:endParaRPr lang="en-US" dirty="0"/>
          </a:p>
        </p:txBody>
      </p:sp>
      <p:sp>
        <p:nvSpPr>
          <p:cNvPr id="3" name="Content Placeholder 2"/>
          <p:cNvSpPr>
            <a:spLocks noGrp="1"/>
          </p:cNvSpPr>
          <p:nvPr>
            <p:ph idx="1"/>
          </p:nvPr>
        </p:nvSpPr>
        <p:spPr>
          <a:xfrm>
            <a:off x="572493" y="1431235"/>
            <a:ext cx="7485657" cy="4866198"/>
          </a:xfrm>
        </p:spPr>
        <p:txBody>
          <a:bodyPr>
            <a:normAutofit/>
          </a:bodyPr>
          <a:lstStyle/>
          <a:p>
            <a:r>
              <a:rPr lang="vi-VN" sz="3200" dirty="0" smtClean="0">
                <a:latin typeface="+mj-lt"/>
              </a:rPr>
              <a:t>Mô hình OSI là một khung sườn phân lớp để thiết kế mạng cho phép thông tin trong  tất cả các hệ thống  máy tính khác nhau.  </a:t>
            </a:r>
          </a:p>
          <a:p>
            <a:r>
              <a:rPr lang="vi-VN" sz="3200" dirty="0" smtClean="0">
                <a:latin typeface="+mj-lt"/>
              </a:rPr>
              <a:t>Mô hình OSI gồm 7 lớp riêng biệt nhưng có quan hệ với nhau, mỗi lớp nhằm định nghĩa một phân đoạn trong quá trình di</a:t>
            </a:r>
            <a:r>
              <a:rPr lang="en-US" sz="3200" dirty="0" smtClean="0">
                <a:latin typeface="+mj-lt"/>
              </a:rPr>
              <a:t> </a:t>
            </a:r>
            <a:r>
              <a:rPr lang="vi-VN" sz="3200" dirty="0" smtClean="0">
                <a:latin typeface="+mj-lt"/>
              </a:rPr>
              <a:t>chuyển thông tin qua mạng</a:t>
            </a:r>
            <a:r>
              <a:rPr lang="en-US" sz="3200" dirty="0" smtClean="0">
                <a:latin typeface="+mj-lt"/>
              </a:rPr>
              <a:t>.</a:t>
            </a:r>
          </a:p>
          <a:p>
            <a:r>
              <a:rPr lang="vi-VN" sz="3200" dirty="0" smtClean="0">
                <a:latin typeface="+mj-lt"/>
              </a:rPr>
              <a:t>Việc hiểu rõ mô hình OSI sẽ cung cấp cơ sở cho việc khám phá việc truyền số liệu. </a:t>
            </a:r>
            <a:endParaRPr lang="en-US" sz="3200" dirty="0">
              <a:latin typeface="+mj-lt"/>
            </a:endParaRPr>
          </a:p>
        </p:txBody>
      </p:sp>
      <p:pic>
        <p:nvPicPr>
          <p:cNvPr id="1026" name="Picture 2"/>
          <p:cNvPicPr>
            <a:picLocks noChangeAspect="1" noChangeArrowheads="1"/>
          </p:cNvPicPr>
          <p:nvPr/>
        </p:nvPicPr>
        <p:blipFill>
          <a:blip r:embed="rId2"/>
          <a:srcRect/>
          <a:stretch>
            <a:fillRect/>
          </a:stretch>
        </p:blipFill>
        <p:spPr bwMode="auto">
          <a:xfrm>
            <a:off x="8210550" y="1336880"/>
            <a:ext cx="3600450" cy="4992484"/>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Kiến lúc lớp</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Mô hình OSI được xây dựng từ 7 lớp:</a:t>
            </a:r>
            <a:endParaRPr lang="en-US" sz="3200" b="1" dirty="0" smtClean="0">
              <a:latin typeface="+mj-lt"/>
            </a:endParaRPr>
          </a:p>
          <a:p>
            <a:r>
              <a:rPr lang="vi-VN" sz="3200" dirty="0" smtClean="0">
                <a:latin typeface="+mj-lt"/>
              </a:rPr>
              <a:t>Lớp vật lý (lớp 1) </a:t>
            </a:r>
          </a:p>
          <a:p>
            <a:r>
              <a:rPr lang="vi-VN" sz="3200" dirty="0" smtClean="0">
                <a:latin typeface="+mj-lt"/>
              </a:rPr>
              <a:t>Lớp kết  nối dữ liệu (lớp 2) </a:t>
            </a:r>
            <a:endParaRPr lang="en-US" sz="3200" dirty="0" smtClean="0">
              <a:latin typeface="+mj-lt"/>
            </a:endParaRPr>
          </a:p>
          <a:p>
            <a:r>
              <a:rPr lang="vi-VN" sz="3200" dirty="0" smtClean="0">
                <a:latin typeface="+mj-lt"/>
              </a:rPr>
              <a:t>Lớp mạng (lớp 3) </a:t>
            </a:r>
          </a:p>
          <a:p>
            <a:r>
              <a:rPr lang="vi-VN" sz="3200" dirty="0" smtClean="0">
                <a:latin typeface="+mj-lt"/>
              </a:rPr>
              <a:t>Lớp vận chuyển (lớp 4) </a:t>
            </a:r>
          </a:p>
          <a:p>
            <a:r>
              <a:rPr lang="vi-VN" sz="3200" dirty="0" smtClean="0">
                <a:latin typeface="+mj-lt"/>
              </a:rPr>
              <a:t>Lớp kiểm soát kết nối (lớp 5) </a:t>
            </a:r>
          </a:p>
          <a:p>
            <a:r>
              <a:rPr lang="vi-VN" sz="3200" dirty="0" smtClean="0">
                <a:latin typeface="+mj-lt"/>
              </a:rPr>
              <a:t>Lớp biểu diễn (lớp 6)  </a:t>
            </a:r>
          </a:p>
          <a:p>
            <a:r>
              <a:rPr lang="vi-VN" sz="3200" dirty="0" smtClean="0">
                <a:latin typeface="+mj-lt"/>
              </a:rPr>
              <a:t>Lớp ứng dụng (lớp 7).  </a:t>
            </a:r>
            <a:endParaRPr lang="en-US" sz="32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Kiến lúc lớp</a:t>
            </a:r>
            <a:endParaRPr lang="en-US" dirty="0"/>
          </a:p>
        </p:txBody>
      </p:sp>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M</a:t>
            </a:r>
            <a:r>
              <a:rPr lang="vi-VN" sz="3200" dirty="0" smtClean="0">
                <a:latin typeface="Times New Roman" pitchFamily="18" charset="0"/>
                <a:cs typeface="Times New Roman" pitchFamily="18" charset="0"/>
              </a:rPr>
              <a:t>inh </a:t>
            </a:r>
            <a:r>
              <a:rPr lang="vi-VN" sz="3200" dirty="0" smtClean="0">
                <a:latin typeface="+mj-lt"/>
              </a:rPr>
              <a:t>họa phương thức một dữ liệu được gởi đi từ thiết bị A đến thiết bị B.</a:t>
            </a:r>
            <a:endParaRPr lang="en-US" sz="3200" dirty="0">
              <a:latin typeface="+mj-lt"/>
            </a:endParaRPr>
          </a:p>
        </p:txBody>
      </p:sp>
      <p:pic>
        <p:nvPicPr>
          <p:cNvPr id="2050" name="Picture 2"/>
          <p:cNvPicPr>
            <a:picLocks noChangeAspect="1" noChangeArrowheads="1"/>
          </p:cNvPicPr>
          <p:nvPr/>
        </p:nvPicPr>
        <p:blipFill>
          <a:blip r:embed="rId2"/>
          <a:srcRect/>
          <a:stretch>
            <a:fillRect/>
          </a:stretch>
        </p:blipFill>
        <p:spPr bwMode="auto">
          <a:xfrm>
            <a:off x="2736547" y="2076450"/>
            <a:ext cx="6769404" cy="47625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quá trình đồng cấp</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Trong một thiết bị đơn, mỗi lớp gọi dịch vụ của lớp ngay phía dưới. </a:t>
            </a:r>
            <a:endParaRPr lang="en-US" sz="3200" dirty="0" smtClean="0">
              <a:latin typeface="+mj-lt"/>
            </a:endParaRPr>
          </a:p>
          <a:p>
            <a:r>
              <a:rPr lang="vi-VN" sz="3200" dirty="0" smtClean="0">
                <a:latin typeface="+mj-lt"/>
              </a:rPr>
              <a:t> Giữa các thiết bị, lớp x của một thiết bị phải thông tin với lớp x của thiết bị kia, thông qua một chuỗi các luật và qui ước được gọi là giao thức (protocole).  </a:t>
            </a:r>
          </a:p>
          <a:p>
            <a:r>
              <a:rPr lang="vi-VN" sz="3200" dirty="0" smtClean="0">
                <a:latin typeface="+mj-lt"/>
              </a:rPr>
              <a:t>Quá trình để mỗi thiết bị thông tin với nhau tại một lớp được gọi là quá trình đồng cấp (peer to peer processes). </a:t>
            </a:r>
            <a:endParaRPr lang="en-US" sz="32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quá trình đồng cấp</a:t>
            </a:r>
            <a:endParaRPr lang="en-US" dirty="0"/>
          </a:p>
        </p:txBody>
      </p:sp>
      <p:sp>
        <p:nvSpPr>
          <p:cNvPr id="3" name="Content Placeholder 2"/>
          <p:cNvSpPr>
            <a:spLocks noGrp="1"/>
          </p:cNvSpPr>
          <p:nvPr>
            <p:ph idx="1"/>
          </p:nvPr>
        </p:nvSpPr>
        <p:spPr>
          <a:xfrm>
            <a:off x="572493" y="1431235"/>
            <a:ext cx="11086107" cy="4866198"/>
          </a:xfrm>
        </p:spPr>
        <p:txBody>
          <a:bodyPr>
            <a:normAutofit/>
          </a:bodyPr>
          <a:lstStyle/>
          <a:p>
            <a:r>
              <a:rPr lang="vi-VN" sz="3200" dirty="0" smtClean="0">
                <a:latin typeface="+mj-lt"/>
              </a:rPr>
              <a:t>Header được thêm vào ở lớp 6, 5, 4, 3, và 2.</a:t>
            </a:r>
            <a:r>
              <a:rPr lang="en-US" sz="3200" dirty="0" smtClean="0">
                <a:latin typeface="+mj-lt"/>
              </a:rPr>
              <a:t> </a:t>
            </a:r>
            <a:r>
              <a:rPr lang="vi-VN" sz="3200" dirty="0" smtClean="0">
                <a:latin typeface="+mj-lt"/>
              </a:rPr>
              <a:t>Trailer thường chỉ được thêm vào ở lớp 2. </a:t>
            </a:r>
            <a:endParaRPr lang="en-US" sz="3200" dirty="0">
              <a:latin typeface="+mj-lt"/>
            </a:endParaRPr>
          </a:p>
        </p:txBody>
      </p:sp>
      <p:pic>
        <p:nvPicPr>
          <p:cNvPr id="3075" name="Picture 3"/>
          <p:cNvPicPr>
            <a:picLocks noChangeAspect="1" noChangeArrowheads="1"/>
          </p:cNvPicPr>
          <p:nvPr/>
        </p:nvPicPr>
        <p:blipFill>
          <a:blip r:embed="rId2"/>
          <a:srcRect/>
          <a:stretch>
            <a:fillRect/>
          </a:stretch>
        </p:blipFill>
        <p:spPr bwMode="auto">
          <a:xfrm>
            <a:off x="3105150" y="2363273"/>
            <a:ext cx="6648450" cy="4494727"/>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Giao diện giữa các lớp</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Việc chuyển dữ liệu và thông tin mạng đi xuống các lớp của thiết bị phát và đi ngược lên qua các lớp của thiết bị thu được thực</a:t>
            </a:r>
            <a:r>
              <a:rPr lang="en-US" sz="3200" dirty="0" smtClean="0">
                <a:latin typeface="+mj-lt"/>
              </a:rPr>
              <a:t> </a:t>
            </a:r>
            <a:r>
              <a:rPr lang="vi-VN" sz="3200" dirty="0" smtClean="0">
                <a:latin typeface="+mj-lt"/>
              </a:rPr>
              <a:t>hiện nhờ có phần giao diện của hai lớp cận kề nhau.  </a:t>
            </a:r>
          </a:p>
          <a:p>
            <a:r>
              <a:rPr lang="vi-VN" sz="3200" dirty="0" smtClean="0">
                <a:latin typeface="+mj-lt"/>
              </a:rPr>
              <a:t>Mỗi giao diện định nghĩa thông tin và các dịch vụ mà lớp phải cung cấp cho lớp trên nó. </a:t>
            </a:r>
          </a:p>
          <a:p>
            <a:r>
              <a:rPr lang="vi-VN" sz="3200" dirty="0" smtClean="0">
                <a:latin typeface="+mj-lt"/>
              </a:rPr>
              <a:t>Các giao diện được định nghĩa tốt và các chức năng lớp cung cấp tính modun cho mạng.</a:t>
            </a:r>
            <a:endParaRPr lang="en-US" sz="32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Sắp xếp các lớp</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Bảy lớp có thể được nhóm thành ba nhóm con sau: </a:t>
            </a:r>
            <a:endParaRPr lang="en-US" sz="3200" b="1" dirty="0" smtClean="0">
              <a:latin typeface="+mj-lt"/>
            </a:endParaRPr>
          </a:p>
          <a:p>
            <a:r>
              <a:rPr lang="vi-VN" sz="3200" dirty="0" smtClean="0">
                <a:latin typeface="+mj-lt"/>
              </a:rPr>
              <a:t>Lớp 1, 2, 3: là nhóm con các lớp hỗ trợ mạng, nhằm giải quyết các yếu tố vật lý và truyền dữ liệu từ một thiết bị này sang một thiết bị khác</a:t>
            </a:r>
            <a:r>
              <a:rPr lang="en-US" sz="3200" dirty="0" smtClean="0">
                <a:latin typeface="+mj-lt"/>
              </a:rPr>
              <a:t>.</a:t>
            </a:r>
          </a:p>
          <a:p>
            <a:r>
              <a:rPr lang="vi-VN" sz="3200" dirty="0" smtClean="0">
                <a:latin typeface="+mj-lt"/>
              </a:rPr>
              <a:t>Lớp 5, 6, và 7: lớp kiểm soát kết nối, biểu diễn và ứng dựng có thể được xem là nhóm con các  lớp hỗ trợ người dùng (chúng cho phép khả năng truy cập đến nhiều hệ thống phần mềm).  </a:t>
            </a:r>
          </a:p>
          <a:p>
            <a:r>
              <a:rPr lang="vi-VN" sz="3200" dirty="0" smtClean="0">
                <a:latin typeface="+mj-lt"/>
              </a:rPr>
              <a:t>Lớp 4: lớp vận chuyển, bảo đảm tính tin cậy cho việc truyền dẫn hai đầu mút (end to end) trong khi đó lớp 2 đảm bảo độ tin cậy trên một đường truyền đơn. </a:t>
            </a:r>
            <a:endParaRPr lang="en-US" sz="32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2.2 Chức năng của các lớp</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Lớp vật lý (Lớp 1)</a:t>
            </a:r>
          </a:p>
          <a:p>
            <a:r>
              <a:rPr lang="vi-VN" sz="3200" dirty="0" smtClean="0">
                <a:latin typeface="Times New Roman" pitchFamily="18" charset="0"/>
                <a:cs typeface="Times New Roman" pitchFamily="18" charset="0"/>
              </a:rPr>
              <a:t>Chức năng: Truyền luồng bit đi qua môi trường vật lý.  </a:t>
            </a:r>
          </a:p>
          <a:p>
            <a:r>
              <a:rPr lang="vi-VN" sz="3200" dirty="0" smtClean="0">
                <a:latin typeface="Times New Roman" pitchFamily="18" charset="0"/>
                <a:cs typeface="Times New Roman" pitchFamily="18" charset="0"/>
              </a:rPr>
              <a:t>Liên quan đến các đặc tính cơ, điện của giao diện thiết bị và môi trường truyền. </a:t>
            </a:r>
          </a:p>
          <a:p>
            <a:r>
              <a:rPr lang="vi-VN" sz="3200" b="1" dirty="0" smtClean="0">
                <a:latin typeface="Times New Roman" pitchFamily="18" charset="0"/>
                <a:cs typeface="Times New Roman" pitchFamily="18" charset="0"/>
              </a:rPr>
              <a:t>Vị trí lớp 1: </a:t>
            </a:r>
            <a:endParaRPr lang="en-US" sz="3200" b="1"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2952750" y="3985695"/>
            <a:ext cx="8458200" cy="246272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vật lý (Lớp 1)</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Các đặc tính liên quan:</a:t>
            </a:r>
            <a:endParaRPr lang="en-US" sz="3200" b="1" dirty="0" smtClean="0">
              <a:latin typeface="+mj-lt"/>
            </a:endParaRPr>
          </a:p>
          <a:p>
            <a:r>
              <a:rPr lang="vi-VN" sz="3200" dirty="0" smtClean="0">
                <a:latin typeface="+mj-lt"/>
              </a:rPr>
              <a:t>Đặc tính vật lý của giao diện giữa thiết bị và môi trường</a:t>
            </a:r>
            <a:endParaRPr lang="en-US" sz="3200" dirty="0" smtClean="0">
              <a:latin typeface="+mj-lt"/>
            </a:endParaRPr>
          </a:p>
          <a:p>
            <a:r>
              <a:rPr lang="en-US" sz="3200" dirty="0" smtClean="0">
                <a:latin typeface="Times New Roman" pitchFamily="18" charset="0"/>
                <a:cs typeface="Times New Roman" pitchFamily="18" charset="0"/>
              </a:rPr>
              <a:t>Biểu diễn các bit</a:t>
            </a:r>
          </a:p>
          <a:p>
            <a:r>
              <a:rPr lang="vi-VN" sz="3200" dirty="0" smtClean="0">
                <a:latin typeface="+mj-lt"/>
              </a:rPr>
              <a:t>Tốc độ dữ liệu</a:t>
            </a:r>
            <a:endParaRPr lang="en-US" sz="3200" dirty="0" smtClean="0">
              <a:latin typeface="+mj-lt"/>
            </a:endParaRPr>
          </a:p>
          <a:p>
            <a:r>
              <a:rPr lang="en-US" sz="3200" dirty="0" smtClean="0">
                <a:latin typeface="Times New Roman" pitchFamily="18" charset="0"/>
                <a:cs typeface="Times New Roman" pitchFamily="18" charset="0"/>
              </a:rPr>
              <a:t>Đồng bộ  bit</a:t>
            </a:r>
          </a:p>
          <a:p>
            <a:r>
              <a:rPr lang="vi-VN" sz="3200" dirty="0" smtClean="0">
                <a:latin typeface="+mj-lt"/>
              </a:rPr>
              <a:t>Cấu hình đường dây</a:t>
            </a:r>
            <a:endParaRPr lang="en-US" sz="3200" dirty="0" smtClean="0">
              <a:latin typeface="+mj-lt"/>
            </a:endParaRPr>
          </a:p>
          <a:p>
            <a:r>
              <a:rPr lang="en-US" sz="3200" dirty="0" smtClean="0">
                <a:latin typeface="Times New Roman" pitchFamily="18" charset="0"/>
                <a:cs typeface="Times New Roman" pitchFamily="18" charset="0"/>
              </a:rPr>
              <a:t>Tôpô mạng</a:t>
            </a:r>
          </a:p>
          <a:p>
            <a:r>
              <a:rPr lang="vi-VN" sz="3200" dirty="0" smtClean="0">
                <a:latin typeface="+mj-lt"/>
              </a:rPr>
              <a:t>Chế độ truyền</a:t>
            </a:r>
            <a:endParaRPr lang="en-US" sz="3200"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kết nối dữ liệu</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Chức năng: truyền khung (frame) từ nút đến nút (trong 1</a:t>
            </a:r>
            <a:r>
              <a:rPr lang="en-US" sz="3200" dirty="0" smtClean="0">
                <a:latin typeface="+mj-lt"/>
              </a:rPr>
              <a:t> </a:t>
            </a:r>
            <a:r>
              <a:rPr lang="vi-VN" sz="3200" dirty="0" smtClean="0">
                <a:latin typeface="+mj-lt"/>
              </a:rPr>
              <a:t>mạng).  </a:t>
            </a:r>
          </a:p>
          <a:p>
            <a:pPr>
              <a:buFont typeface="Wingdings" pitchFamily="2" charset="2"/>
              <a:buChar char="v"/>
            </a:pPr>
            <a:r>
              <a:rPr lang="en-US" sz="3200" dirty="0" smtClean="0">
                <a:latin typeface="+mj-lt"/>
              </a:rPr>
              <a:t> </a:t>
            </a:r>
            <a:r>
              <a:rPr lang="vi-VN" sz="3200" dirty="0" smtClean="0">
                <a:latin typeface="+mj-lt"/>
              </a:rPr>
              <a:t>Vị trí:</a:t>
            </a:r>
            <a:endParaRPr lang="en-US" sz="3200" dirty="0">
              <a:latin typeface="+mj-lt"/>
            </a:endParaRPr>
          </a:p>
        </p:txBody>
      </p:sp>
      <p:pic>
        <p:nvPicPr>
          <p:cNvPr id="5123" name="Picture 3"/>
          <p:cNvPicPr>
            <a:picLocks noChangeAspect="1" noChangeArrowheads="1"/>
          </p:cNvPicPr>
          <p:nvPr/>
        </p:nvPicPr>
        <p:blipFill>
          <a:blip r:embed="rId2"/>
          <a:srcRect/>
          <a:stretch>
            <a:fillRect/>
          </a:stretch>
        </p:blipFill>
        <p:spPr bwMode="auto">
          <a:xfrm>
            <a:off x="1314450" y="2951559"/>
            <a:ext cx="9753600" cy="2925366"/>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kết nối dữ liệu</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Các đặc tính liên quan </a:t>
            </a:r>
            <a:endParaRPr lang="en-US" sz="3200" b="1" dirty="0" smtClean="0">
              <a:latin typeface="+mj-lt"/>
            </a:endParaRPr>
          </a:p>
          <a:p>
            <a:r>
              <a:rPr lang="en-US" sz="3200" dirty="0" smtClean="0">
                <a:latin typeface="Times New Roman" pitchFamily="18" charset="0"/>
                <a:cs typeface="Times New Roman" pitchFamily="18" charset="0"/>
              </a:rPr>
              <a:t>Tạo khung (framing) </a:t>
            </a:r>
          </a:p>
          <a:p>
            <a:r>
              <a:rPr lang="vi-VN" sz="3200" dirty="0" smtClean="0">
                <a:latin typeface="+mj-lt"/>
              </a:rPr>
              <a:t>Định (tạo) địa chỉ vật lý </a:t>
            </a:r>
            <a:endParaRPr lang="en-US" sz="3200" dirty="0" smtClean="0">
              <a:latin typeface="+mj-lt"/>
            </a:endParaRPr>
          </a:p>
          <a:p>
            <a:r>
              <a:rPr lang="vi-VN" sz="3200" dirty="0" smtClean="0">
                <a:latin typeface="+mj-lt"/>
              </a:rPr>
              <a:t>Điều khiển lưu lượng </a:t>
            </a:r>
            <a:endParaRPr lang="en-US" sz="3200" dirty="0" smtClean="0">
              <a:latin typeface="+mj-lt"/>
            </a:endParaRPr>
          </a:p>
          <a:p>
            <a:r>
              <a:rPr lang="en-US" sz="3200" dirty="0" smtClean="0">
                <a:latin typeface="Times New Roman" pitchFamily="18" charset="0"/>
                <a:cs typeface="Times New Roman" pitchFamily="18" charset="0"/>
              </a:rPr>
              <a:t>Kiểm tra lỗi </a:t>
            </a:r>
          </a:p>
          <a:p>
            <a:r>
              <a:rPr lang="en-US" sz="3200" dirty="0" smtClean="0">
                <a:latin typeface="Times New Roman" pitchFamily="18" charset="0"/>
                <a:cs typeface="Times New Roman" pitchFamily="18" charset="0"/>
              </a:rPr>
              <a:t>Điều khiển truy cập </a:t>
            </a:r>
            <a:endParaRPr lang="en-US" sz="32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mạng (Mạng)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Chức năng: Nhằm phân phối các gói (packet) từ nguồn đến đích có thể đi qua nhiều mạng. </a:t>
            </a:r>
            <a:endParaRPr lang="en-US" sz="3200" dirty="0" smtClean="0">
              <a:latin typeface="+mj-lt"/>
            </a:endParaRPr>
          </a:p>
          <a:p>
            <a:pPr>
              <a:buFont typeface="Wingdings" pitchFamily="2" charset="2"/>
              <a:buChar char="v"/>
            </a:pPr>
            <a:r>
              <a:rPr lang="en-US" sz="3200" dirty="0" smtClean="0">
                <a:latin typeface="Times New Roman" pitchFamily="18" charset="0"/>
                <a:cs typeface="Times New Roman" pitchFamily="18" charset="0"/>
              </a:rPr>
              <a:t> Vị trí: </a:t>
            </a:r>
            <a:endParaRPr lang="en-US" sz="32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srcRect/>
          <a:stretch>
            <a:fillRect/>
          </a:stretch>
        </p:blipFill>
        <p:spPr bwMode="auto">
          <a:xfrm>
            <a:off x="1471613" y="3086100"/>
            <a:ext cx="9782175" cy="32766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mạng (Mạng)</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Các đặc tính liên quan: </a:t>
            </a:r>
            <a:endParaRPr lang="en-US" sz="3200" b="1" dirty="0" smtClean="0">
              <a:latin typeface="+mj-lt"/>
            </a:endParaRPr>
          </a:p>
          <a:p>
            <a:r>
              <a:rPr lang="vi-VN" sz="3200" dirty="0" smtClean="0">
                <a:latin typeface="+mj-lt"/>
              </a:rPr>
              <a:t>Định (tạo) địa chỉ luận lý:</a:t>
            </a:r>
            <a:endParaRPr lang="en-US" sz="3200" dirty="0" smtClean="0">
              <a:latin typeface="+mj-lt"/>
            </a:endParaRPr>
          </a:p>
          <a:p>
            <a:pPr>
              <a:buNone/>
            </a:pPr>
            <a:r>
              <a:rPr lang="vi-VN" sz="3200" dirty="0" smtClean="0">
                <a:latin typeface="+mj-lt"/>
              </a:rPr>
              <a:t>- Địa chỉ vật lý do lớp 2 giải quyết định địa chỉ cục bộ.  </a:t>
            </a:r>
          </a:p>
          <a:p>
            <a:pPr>
              <a:buFontTx/>
              <a:buChar char="-"/>
            </a:pPr>
            <a:r>
              <a:rPr lang="vi-VN" sz="3200" dirty="0" smtClean="0">
                <a:latin typeface="+mj-lt"/>
              </a:rPr>
              <a:t>Nếu gói dữ liệu đi qua của mạng, thì nhất thiết phải có thêm một hệ thống định địa chỉ khác giúp phân biệt giữa hệ thống nguồn và hệ thống đích.  </a:t>
            </a:r>
            <a:endParaRPr lang="en-US" sz="3200" dirty="0" smtClean="0">
              <a:latin typeface="+mj-lt"/>
            </a:endParaRPr>
          </a:p>
          <a:p>
            <a:pPr>
              <a:buNone/>
            </a:pPr>
            <a:r>
              <a:rPr lang="vi-VN" sz="3200" dirty="0" smtClean="0">
                <a:latin typeface="+mj-lt"/>
              </a:rPr>
              <a:t>- Lớp mạng thêm header vào gói từ lớp trên xuống, trong đó chứa địa chỉ luận lý của nơi gởi và nơi nhận.  </a:t>
            </a:r>
            <a:endParaRPr lang="en-US" sz="3200" dirty="0" smtClean="0">
              <a:latin typeface="+mj-lt"/>
            </a:endParaRPr>
          </a:p>
          <a:p>
            <a:r>
              <a:rPr lang="en-US" sz="3200" dirty="0" smtClean="0">
                <a:latin typeface="Times New Roman" pitchFamily="18" charset="0"/>
                <a:cs typeface="Times New Roman" pitchFamily="18" charset="0"/>
              </a:rPr>
              <a:t>Định tuyến (routing): </a:t>
            </a:r>
            <a:endParaRPr lang="en-US" sz="32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vận chuyển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Chức năng: </a:t>
            </a:r>
            <a:r>
              <a:rPr lang="vi-VN" sz="3200" dirty="0" smtClean="0">
                <a:latin typeface="+mj-lt"/>
              </a:rPr>
              <a:t>Lớp vận chuyển nhằm chuyển toàn bản tin từ thiết bị đầu cuối phát đến thiết bị đầu cuối thu (end to end). </a:t>
            </a:r>
            <a:endParaRPr lang="en-US" sz="3200" dirty="0">
              <a:latin typeface="+mj-lt"/>
            </a:endParaRPr>
          </a:p>
        </p:txBody>
      </p:sp>
      <p:pic>
        <p:nvPicPr>
          <p:cNvPr id="7170" name="Picture 2"/>
          <p:cNvPicPr>
            <a:picLocks noChangeAspect="1" noChangeArrowheads="1"/>
          </p:cNvPicPr>
          <p:nvPr/>
        </p:nvPicPr>
        <p:blipFill>
          <a:blip r:embed="rId2"/>
          <a:srcRect/>
          <a:stretch>
            <a:fillRect/>
          </a:stretch>
        </p:blipFill>
        <p:spPr bwMode="auto">
          <a:xfrm>
            <a:off x="2057400" y="2595563"/>
            <a:ext cx="8305800" cy="376237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vận chuyển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Times New Roman" pitchFamily="18" charset="0"/>
                <a:cs typeface="Times New Roman" pitchFamily="18" charset="0"/>
              </a:rPr>
              <a:t> Các nhiệm vụ của lớp vận chuyển bao gồm:</a:t>
            </a:r>
          </a:p>
          <a:p>
            <a:r>
              <a:rPr lang="vi-VN" sz="3200" dirty="0" smtClean="0">
                <a:latin typeface="Times New Roman" pitchFamily="18" charset="0"/>
                <a:cs typeface="Times New Roman" pitchFamily="18" charset="0"/>
              </a:rPr>
              <a:t>Định địa chỉ điểm dịch vụ (service-point addressing): </a:t>
            </a:r>
            <a:endParaRPr lang="en-US" sz="3200" dirty="0" smtClean="0">
              <a:latin typeface="Times New Roman" pitchFamily="18" charset="0"/>
              <a:cs typeface="Times New Roman" pitchFamily="18" charset="0"/>
            </a:endParaRPr>
          </a:p>
          <a:p>
            <a:r>
              <a:rPr lang="vi-VN" sz="3200" dirty="0" smtClean="0">
                <a:latin typeface="Times New Roman" pitchFamily="18" charset="0"/>
                <a:cs typeface="Times New Roman" pitchFamily="18" charset="0"/>
              </a:rPr>
              <a:t>Phân đoạn và hợp đoạn</a:t>
            </a:r>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Điều khiển kết nối:</a:t>
            </a:r>
          </a:p>
          <a:p>
            <a:r>
              <a:rPr lang="vi-VN" sz="3200" dirty="0" smtClean="0">
                <a:latin typeface="Times New Roman" pitchFamily="18" charset="0"/>
                <a:cs typeface="Times New Roman" pitchFamily="18" charset="0"/>
              </a:rPr>
              <a:t>Điều khiển lưu lượng:</a:t>
            </a:r>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Kiểm tra lỗi: </a:t>
            </a:r>
            <a:endParaRPr lang="en-US" sz="32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kiểm soát kết nối</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Chức năng: </a:t>
            </a:r>
            <a:r>
              <a:rPr lang="vi-VN" sz="3200" dirty="0" smtClean="0">
                <a:latin typeface="Times New Roman" pitchFamily="18" charset="0"/>
                <a:cs typeface="Times New Roman" pitchFamily="18" charset="0"/>
              </a:rPr>
              <a:t>Lớp kiểm soát là lớp điều khiển đối thọai: thiết lập, duy trì, và đồng bộ hóa tương tác giữa các hệ thống thông tin. </a:t>
            </a:r>
            <a:endParaRPr lang="en-US" sz="32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srcRect/>
          <a:stretch>
            <a:fillRect/>
          </a:stretch>
        </p:blipFill>
        <p:spPr bwMode="auto">
          <a:xfrm>
            <a:off x="1660055" y="2819400"/>
            <a:ext cx="9188920" cy="33909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kiểm soát kết nối</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Các nhiệm vụ của lớp kiểm soát: </a:t>
            </a:r>
          </a:p>
          <a:p>
            <a:r>
              <a:rPr lang="vi-VN" sz="3200" dirty="0" smtClean="0">
                <a:latin typeface="Times New Roman" pitchFamily="18" charset="0"/>
                <a:cs typeface="Times New Roman" pitchFamily="18" charset="0"/>
              </a:rPr>
              <a:t>Điều khiển đối thoại: Lớp kiểm soát cho phép hai hệ thống đi vào đối thoại. Lớp cho phép thông tin giữa hai quá trình bán song</a:t>
            </a:r>
            <a:r>
              <a:rPr lang="en-US" sz="3200"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công hoặc song công.</a:t>
            </a:r>
            <a:endParaRPr lang="en-US" sz="3200" dirty="0" smtClean="0">
              <a:latin typeface="Times New Roman" pitchFamily="18" charset="0"/>
              <a:cs typeface="Times New Roman" pitchFamily="18" charset="0"/>
            </a:endParaRPr>
          </a:p>
          <a:p>
            <a:r>
              <a:rPr lang="vi-VN" sz="3200" dirty="0" smtClean="0">
                <a:latin typeface="Times New Roman" pitchFamily="18" charset="0"/>
                <a:cs typeface="Times New Roman" pitchFamily="18" charset="0"/>
              </a:rPr>
              <a:t>Đồng bộ hoá: Lớp kiểm soát cho phép quá trình thêm các</a:t>
            </a:r>
            <a:r>
              <a:rPr lang="en-US" sz="3200"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checkpoint (điểm đồng bộ) vào trong dòng dữ liệu. </a:t>
            </a:r>
            <a:endParaRPr lang="en-US" sz="32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trình bày</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Lớp trình bày liên quan đến vấn đề về cú pháp (syntax) và ngữ nghĩa (sematic) của tin tức trao đổi giữa hai hệ thống. Hình cho thấy quan hệ giữa lớp trình bày với lớp ứng dụng và lớp kiểm soát. </a:t>
            </a:r>
            <a:endParaRPr lang="en-US" sz="3200" dirty="0">
              <a:latin typeface="+mj-lt"/>
            </a:endParaRPr>
          </a:p>
        </p:txBody>
      </p:sp>
      <p:pic>
        <p:nvPicPr>
          <p:cNvPr id="9218" name="Picture 2"/>
          <p:cNvPicPr>
            <a:picLocks noChangeAspect="1" noChangeArrowheads="1"/>
          </p:cNvPicPr>
          <p:nvPr/>
        </p:nvPicPr>
        <p:blipFill>
          <a:blip r:embed="rId2"/>
          <a:srcRect/>
          <a:stretch>
            <a:fillRect/>
          </a:stretch>
        </p:blipFill>
        <p:spPr bwMode="auto">
          <a:xfrm>
            <a:off x="1881326" y="3024188"/>
            <a:ext cx="9172438" cy="3300412"/>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trình bày</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Các nhiệm vụ của lớp 6 là: </a:t>
            </a:r>
          </a:p>
          <a:p>
            <a:r>
              <a:rPr lang="en-US" sz="3200" dirty="0" smtClean="0">
                <a:latin typeface="Times New Roman" pitchFamily="18" charset="0"/>
                <a:cs typeface="Times New Roman" pitchFamily="18" charset="0"/>
              </a:rPr>
              <a:t>Biên dịch (translation): </a:t>
            </a:r>
          </a:p>
          <a:p>
            <a:r>
              <a:rPr lang="en-US" sz="3200" dirty="0" smtClean="0">
                <a:latin typeface="Times New Roman" pitchFamily="18" charset="0"/>
                <a:cs typeface="Times New Roman" pitchFamily="18" charset="0"/>
              </a:rPr>
              <a:t>Mã khóa (encryption) và Giải mã khóa (decryption)</a:t>
            </a:r>
          </a:p>
          <a:p>
            <a:r>
              <a:rPr lang="en-US" sz="3200" dirty="0" smtClean="0">
                <a:latin typeface="Times New Roman" pitchFamily="18" charset="0"/>
                <a:cs typeface="Times New Roman" pitchFamily="18" charset="0"/>
              </a:rPr>
              <a:t>Nén: </a:t>
            </a:r>
            <a:endParaRPr lang="en-US" sz="32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ứng dụng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Cho phép người dùng (user), là người hay phần mềm, truy cập vào mạng. Lớp này cung cấp giao diện cho người dùng và hỗ trợ dịch vụ như thư điện tử, remote file access and transfer, shared database management, và các dạng dịch vụ phân phối dữ liệu khác. </a:t>
            </a:r>
            <a:endParaRPr lang="en-US" sz="3200" dirty="0">
              <a:latin typeface="+mj-lt"/>
            </a:endParaRPr>
          </a:p>
        </p:txBody>
      </p:sp>
      <p:pic>
        <p:nvPicPr>
          <p:cNvPr id="10243" name="Picture 3"/>
          <p:cNvPicPr>
            <a:picLocks noChangeAspect="1" noChangeArrowheads="1"/>
          </p:cNvPicPr>
          <p:nvPr/>
        </p:nvPicPr>
        <p:blipFill>
          <a:blip r:embed="rId2"/>
          <a:srcRect/>
          <a:stretch>
            <a:fillRect/>
          </a:stretch>
        </p:blipFill>
        <p:spPr bwMode="auto">
          <a:xfrm>
            <a:off x="2528889" y="3279706"/>
            <a:ext cx="7148511" cy="3578294"/>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Lớp ứng dụng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Các đặc tính của lớ</a:t>
            </a:r>
            <a:r>
              <a:rPr lang="en-US" sz="3200" b="1" dirty="0" smtClean="0">
                <a:latin typeface="Times New Roman" pitchFamily="18" charset="0"/>
                <a:cs typeface="Times New Roman" pitchFamily="18" charset="0"/>
              </a:rPr>
              <a:t>p ứng dụng</a:t>
            </a:r>
            <a:r>
              <a:rPr lang="vi-VN" sz="3200" b="1" dirty="0" smtClean="0">
                <a:latin typeface="Times New Roman" pitchFamily="18" charset="0"/>
                <a:cs typeface="Times New Roman" pitchFamily="18" charset="0"/>
              </a:rPr>
              <a:t> </a:t>
            </a:r>
            <a:r>
              <a:rPr lang="vi-VN" sz="3200" b="1" dirty="0" smtClean="0">
                <a:latin typeface="+mj-lt"/>
              </a:rPr>
              <a:t>là: </a:t>
            </a:r>
            <a:endParaRPr lang="en-US" sz="3200" b="1" dirty="0" smtClean="0">
              <a:latin typeface="+mj-lt"/>
            </a:endParaRPr>
          </a:p>
          <a:p>
            <a:r>
              <a:rPr lang="vi-VN" sz="3200" dirty="0" smtClean="0">
                <a:latin typeface="+mj-lt"/>
              </a:rPr>
              <a:t>Mạng đầu cuối ảo (network virtual terminal)</a:t>
            </a:r>
            <a:endParaRPr lang="en-US" sz="3200" dirty="0" smtClean="0">
              <a:latin typeface="+mj-lt"/>
            </a:endParaRPr>
          </a:p>
          <a:p>
            <a:r>
              <a:rPr lang="vi-VN" sz="3200" dirty="0" smtClean="0">
                <a:latin typeface="+mj-lt"/>
              </a:rPr>
              <a:t>Quản lý, truy cập và truyền dữ liệu (FTAM: file transfer, access, and</a:t>
            </a:r>
            <a:r>
              <a:rPr lang="en-US" sz="3200" dirty="0" smtClean="0">
                <a:latin typeface="+mj-lt"/>
              </a:rPr>
              <a:t> </a:t>
            </a:r>
            <a:r>
              <a:rPr lang="vi-VN" sz="3200" dirty="0" smtClean="0">
                <a:latin typeface="+mj-lt"/>
              </a:rPr>
              <a:t>management)</a:t>
            </a:r>
            <a:endParaRPr lang="en-US" sz="3200" dirty="0" smtClean="0">
              <a:latin typeface="+mj-lt"/>
            </a:endParaRPr>
          </a:p>
          <a:p>
            <a:r>
              <a:rPr lang="vi-VN" sz="3200" dirty="0" smtClean="0">
                <a:latin typeface="+mj-lt"/>
              </a:rPr>
              <a:t>Dịch vụ thư điện tử:</a:t>
            </a:r>
            <a:endParaRPr lang="en-US" sz="3200" dirty="0" smtClean="0">
              <a:latin typeface="+mj-lt"/>
            </a:endParaRPr>
          </a:p>
          <a:p>
            <a:r>
              <a:rPr lang="vi-VN" sz="3200" dirty="0" smtClean="0">
                <a:latin typeface="+mj-lt"/>
              </a:rPr>
              <a:t>Dịch vụ thư mục (directory services): </a:t>
            </a:r>
            <a:endParaRPr lang="en-US" sz="3200" dirty="0">
              <a:latin typeface="+mj-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Tóm tắt về chức năng các lớp</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Chức năng của bảy lớp được tóm tắt ở hình</a:t>
            </a:r>
            <a:endParaRPr lang="en-US" sz="3200" dirty="0">
              <a:latin typeface="+mj-lt"/>
            </a:endParaRPr>
          </a:p>
        </p:txBody>
      </p:sp>
      <p:pic>
        <p:nvPicPr>
          <p:cNvPr id="11266" name="Picture 2"/>
          <p:cNvPicPr>
            <a:picLocks noChangeAspect="1" noChangeArrowheads="1"/>
          </p:cNvPicPr>
          <p:nvPr/>
        </p:nvPicPr>
        <p:blipFill>
          <a:blip r:embed="rId2"/>
          <a:srcRect/>
          <a:stretch>
            <a:fillRect/>
          </a:stretch>
        </p:blipFill>
        <p:spPr bwMode="auto">
          <a:xfrm>
            <a:off x="285751" y="2032319"/>
            <a:ext cx="11639549" cy="413988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1471</Words>
  <Application>Microsoft Office PowerPoint</Application>
  <PresentationFormat>Custom</PresentationFormat>
  <Paragraphs>119</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KỸ THUẬT TRUYỀN SỐ LIỆU</vt:lpstr>
      <vt:lpstr>Nội dung môn học</vt:lpstr>
      <vt:lpstr>                 Chương 2</vt:lpstr>
      <vt:lpstr>Nội dung chương 2</vt:lpstr>
      <vt:lpstr>2.1 Tổng quan mô hình OSI</vt:lpstr>
      <vt:lpstr>2.1 Tổng quan mô hình OSI</vt:lpstr>
      <vt:lpstr>Kiến lúc lớp</vt:lpstr>
      <vt:lpstr>Kiến lúc lớp</vt:lpstr>
      <vt:lpstr>Các quá trình đồng cấp</vt:lpstr>
      <vt:lpstr>Các quá trình đồng cấp</vt:lpstr>
      <vt:lpstr>Giao diện giữa các lớp</vt:lpstr>
      <vt:lpstr>Sắp xếp các lớp</vt:lpstr>
      <vt:lpstr>2.2 Chức năng của các lớp</vt:lpstr>
      <vt:lpstr>Lớp vật lý (Lớp 1)</vt:lpstr>
      <vt:lpstr>Lớp kết nối dữ liệu</vt:lpstr>
      <vt:lpstr>Lớp kết nối dữ liệu</vt:lpstr>
      <vt:lpstr>Lớp mạng (Mạng)</vt:lpstr>
      <vt:lpstr>Lớp mạng (Mạng)</vt:lpstr>
      <vt:lpstr>Lớp vận chuyển</vt:lpstr>
      <vt:lpstr>Lớp vận chuyển</vt:lpstr>
      <vt:lpstr>Lớp kiểm soát kết nối</vt:lpstr>
      <vt:lpstr>Lớp kiểm soát kết nối</vt:lpstr>
      <vt:lpstr>Lớp trình bày</vt:lpstr>
      <vt:lpstr>Lớp trình bày</vt:lpstr>
      <vt:lpstr>Lớp ứng dụng</vt:lpstr>
      <vt:lpstr>Lớp ứng dụng</vt:lpstr>
      <vt:lpstr>Tóm tắt về chức năng các lớp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66</cp:revision>
  <dcterms:created xsi:type="dcterms:W3CDTF">2020-05-27T05:21:30Z</dcterms:created>
  <dcterms:modified xsi:type="dcterms:W3CDTF">2021-12-23T08:50:55Z</dcterms:modified>
</cp:coreProperties>
</file>