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74" r:id="rId6"/>
    <p:sldId id="275" r:id="rId7"/>
    <p:sldId id="273" r:id="rId8"/>
    <p:sldId id="276" r:id="rId9"/>
    <p:sldId id="278" r:id="rId10"/>
    <p:sldId id="277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89" autoAdjust="0"/>
    <p:restoredTop sz="94660"/>
  </p:normalViewPr>
  <p:slideViewPr>
    <p:cSldViewPr snapToGrid="0">
      <p:cViewPr>
        <p:scale>
          <a:sx n="75" d="100"/>
          <a:sy n="75" d="100"/>
        </p:scale>
        <p:origin x="-476" y="-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89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21C19F0-1FB7-4AE0-896E-2777B6C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197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253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865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1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70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268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50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8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246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2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D286FF-B124-458F-B57B-2B1D24945A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KỸ THUẬT TRUYỀN SỐ LIỆU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B71ED79-E603-4351-A7EB-B158BDF0BA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(DATA COMMUNICATION TECHNOLOGY)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5609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0D1B0C-9F51-49D2-9435-3E7CBF67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1137672"/>
          </a:xfrm>
        </p:spPr>
        <p:txBody>
          <a:bodyPr/>
          <a:lstStyle/>
          <a:p>
            <a:r>
              <a:rPr lang="en-US" dirty="0" smtClean="0"/>
              <a:t>Nội dung môn học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3BB65F-E818-4AC8-969E-874A837A9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27" y="1543050"/>
            <a:ext cx="11235193" cy="5029200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 smtClean="0"/>
              <a:t>Chương 1: </a:t>
            </a:r>
            <a:r>
              <a:rPr lang="en-US" sz="3200" dirty="0" smtClean="0"/>
              <a:t>Các khái niệm cơ bản</a:t>
            </a:r>
          </a:p>
          <a:p>
            <a:r>
              <a:rPr lang="en-US" sz="3200" b="1" dirty="0" smtClean="0"/>
              <a:t>Chương 2: </a:t>
            </a:r>
            <a:r>
              <a:rPr lang="en-US" sz="3200" dirty="0" smtClean="0"/>
              <a:t>Mô hình OSI</a:t>
            </a:r>
          </a:p>
          <a:p>
            <a:r>
              <a:rPr lang="en-US" sz="3200" b="1" dirty="0" smtClean="0"/>
              <a:t>Chương 3: </a:t>
            </a:r>
            <a:r>
              <a:rPr lang="en-US" sz="3200" dirty="0" smtClean="0"/>
              <a:t>Tín hiệu</a:t>
            </a:r>
          </a:p>
          <a:p>
            <a:r>
              <a:rPr lang="en-US" sz="3200" b="1" dirty="0" smtClean="0"/>
              <a:t>Chương 4: </a:t>
            </a:r>
            <a:r>
              <a:rPr lang="en-US" sz="3200" dirty="0" smtClean="0"/>
              <a:t>Mã hóa và điều chế</a:t>
            </a:r>
          </a:p>
          <a:p>
            <a:r>
              <a:rPr lang="en-US" sz="3200" b="1" dirty="0" smtClean="0"/>
              <a:t>Chương 5: </a:t>
            </a:r>
            <a:r>
              <a:rPr lang="en-US" sz="3200" dirty="0" smtClean="0"/>
              <a:t>Truyền dữ liệu số</a:t>
            </a:r>
          </a:p>
          <a:p>
            <a:r>
              <a:rPr lang="en-US" sz="3200" b="1" dirty="0" smtClean="0"/>
              <a:t>Chương 6: </a:t>
            </a:r>
            <a:r>
              <a:rPr lang="en-US" sz="3200" dirty="0" smtClean="0"/>
              <a:t>Môi trường truyền dẫn </a:t>
            </a:r>
          </a:p>
          <a:p>
            <a:r>
              <a:rPr lang="en-US" sz="3200" b="1" dirty="0" smtClean="0"/>
              <a:t>Chương 7: </a:t>
            </a:r>
            <a:r>
              <a:rPr lang="en-US" sz="3200" dirty="0" smtClean="0"/>
              <a:t>Ghép kênh</a:t>
            </a:r>
          </a:p>
          <a:p>
            <a:r>
              <a:rPr lang="en-US" sz="3200" b="1" dirty="0" smtClean="0"/>
              <a:t>Chương 8: </a:t>
            </a:r>
            <a:r>
              <a:rPr lang="en-US" sz="3200" dirty="0" smtClean="0"/>
              <a:t>Điều khiển kết nối và phát hiện sửa lỗi</a:t>
            </a:r>
          </a:p>
          <a:p>
            <a:r>
              <a:rPr lang="en-US" sz="3200" b="1" dirty="0" smtClean="0"/>
              <a:t>Chương 9: </a:t>
            </a:r>
            <a:r>
              <a:rPr lang="en-US" sz="3200" dirty="0" smtClean="0"/>
              <a:t>Giao thức kết nối dữ liệu</a:t>
            </a:r>
          </a:p>
          <a:p>
            <a:r>
              <a:rPr lang="en-US" sz="3200" b="1" dirty="0" smtClean="0"/>
              <a:t>Chương 10: </a:t>
            </a:r>
            <a:r>
              <a:rPr lang="en-US" sz="3200" dirty="0" smtClean="0"/>
              <a:t>Mạng cục bộ</a:t>
            </a:r>
          </a:p>
        </p:txBody>
      </p:sp>
    </p:spTree>
    <p:extLst>
      <p:ext uri="{BB962C8B-B14F-4D97-AF65-F5344CB8AC3E}">
        <p14:creationId xmlns:p14="http://schemas.microsoft.com/office/powerpoint/2010/main" val="348644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                     </a:t>
            </a:r>
            <a:r>
              <a:rPr lang="en-US" b="1" dirty="0" err="1" smtClean="0"/>
              <a:t>Chương</a:t>
            </a:r>
            <a:r>
              <a:rPr lang="en-US" b="1" dirty="0" smtClean="0"/>
              <a:t> 9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5400" dirty="0" smtClean="0">
                <a:latin typeface="Times New Roman" pitchFamily="18" charset="0"/>
                <a:cs typeface="Times New Roman" pitchFamily="18" charset="0"/>
              </a:rPr>
              <a:t>GIAO THỨC KẾT NỐI DỮ LIỆU</a:t>
            </a:r>
            <a:endParaRPr lang="en-US" sz="5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Nội dung </a:t>
            </a:r>
            <a:r>
              <a:rPr lang="en-US" dirty="0" err="1" smtClean="0"/>
              <a:t>chương</a:t>
            </a:r>
            <a:r>
              <a:rPr lang="en-US" dirty="0" smtClean="0"/>
              <a:t> 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 </a:t>
            </a:r>
            <a:r>
              <a:rPr lang="en-US" sz="4000" dirty="0" err="1" smtClean="0"/>
              <a:t>Giao</a:t>
            </a:r>
            <a:r>
              <a:rPr lang="en-US" sz="4000" dirty="0" smtClean="0"/>
              <a:t> </a:t>
            </a:r>
            <a:r>
              <a:rPr lang="en-US" sz="4000" dirty="0" err="1" smtClean="0"/>
              <a:t>thức</a:t>
            </a:r>
            <a:r>
              <a:rPr lang="en-US" sz="4000" dirty="0" smtClean="0"/>
              <a:t> </a:t>
            </a:r>
            <a:r>
              <a:rPr lang="en-US" sz="4000" dirty="0" err="1" smtClean="0"/>
              <a:t>không</a:t>
            </a:r>
            <a:r>
              <a:rPr lang="en-US" sz="4000" dirty="0" smtClean="0"/>
              <a:t> </a:t>
            </a:r>
            <a:r>
              <a:rPr lang="en-US" sz="4000" dirty="0" err="1" smtClean="0"/>
              <a:t>đồng</a:t>
            </a:r>
            <a:r>
              <a:rPr lang="en-US" sz="4000" dirty="0" smtClean="0"/>
              <a:t> </a:t>
            </a:r>
            <a:r>
              <a:rPr lang="en-US" sz="4000" dirty="0" err="1" smtClean="0"/>
              <a:t>bộ</a:t>
            </a:r>
            <a:endParaRPr lang="en-US" sz="3600" dirty="0"/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Giao</a:t>
            </a:r>
            <a:r>
              <a:rPr lang="en-US" sz="4000" dirty="0" smtClean="0"/>
              <a:t> </a:t>
            </a:r>
            <a:r>
              <a:rPr lang="en-US" sz="4000" dirty="0" err="1" smtClean="0"/>
              <a:t>thức</a:t>
            </a:r>
            <a:r>
              <a:rPr lang="en-US" sz="4000" dirty="0" smtClean="0"/>
              <a:t> </a:t>
            </a:r>
            <a:r>
              <a:rPr lang="en-US" sz="4000" dirty="0" err="1" smtClean="0"/>
              <a:t>đồng</a:t>
            </a:r>
            <a:r>
              <a:rPr lang="en-US" sz="4000" dirty="0" smtClean="0"/>
              <a:t> </a:t>
            </a:r>
            <a:r>
              <a:rPr lang="en-US" sz="4000" dirty="0" err="1" smtClean="0"/>
              <a:t>bộ</a:t>
            </a:r>
            <a:endParaRPr lang="en-US" sz="4000" dirty="0" smtClean="0"/>
          </a:p>
          <a:p>
            <a:r>
              <a:rPr lang="en-US" sz="4000" dirty="0"/>
              <a:t> </a:t>
            </a:r>
            <a:r>
              <a:rPr lang="en-US" sz="4000" dirty="0" err="1" smtClean="0"/>
              <a:t>Thủ</a:t>
            </a:r>
            <a:r>
              <a:rPr lang="en-US" sz="4000" dirty="0" smtClean="0"/>
              <a:t> </a:t>
            </a:r>
            <a:r>
              <a:rPr lang="en-US" sz="4000" dirty="0" err="1" smtClean="0"/>
              <a:t>tục</a:t>
            </a:r>
            <a:r>
              <a:rPr lang="en-US" sz="4000" dirty="0" smtClean="0"/>
              <a:t> </a:t>
            </a:r>
            <a:r>
              <a:rPr lang="en-US" sz="4000" dirty="0" err="1" smtClean="0"/>
              <a:t>truy</a:t>
            </a:r>
            <a:r>
              <a:rPr lang="en-US" sz="4000" dirty="0" smtClean="0"/>
              <a:t> </a:t>
            </a:r>
            <a:r>
              <a:rPr lang="en-US" sz="4000" dirty="0" err="1" smtClean="0"/>
              <a:t>cập</a:t>
            </a:r>
            <a:r>
              <a:rPr lang="en-US" sz="4000" dirty="0" smtClean="0"/>
              <a:t> </a:t>
            </a:r>
            <a:r>
              <a:rPr lang="en-US" sz="4000" dirty="0" err="1" smtClean="0"/>
              <a:t>kết</a:t>
            </a:r>
            <a:r>
              <a:rPr lang="en-US" sz="4000" dirty="0" smtClean="0"/>
              <a:t> </a:t>
            </a:r>
            <a:r>
              <a:rPr lang="en-US" sz="4000" dirty="0" err="1" smtClean="0"/>
              <a:t>nối</a:t>
            </a:r>
            <a:r>
              <a:rPr lang="en-US" sz="4000" dirty="0" smtClean="0"/>
              <a:t> </a:t>
            </a:r>
            <a:r>
              <a:rPr lang="en-US" sz="4000" dirty="0" err="1" smtClean="0"/>
              <a:t>mạng</a:t>
            </a:r>
            <a:endParaRPr lang="en-US" sz="40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vi-VN" sz="3000" dirty="0">
                <a:latin typeface="+mj-lt"/>
              </a:rPr>
              <a:t>Giao thức (protocol) được hiểu là tập các luật hay qui ước nhằm </a:t>
            </a:r>
            <a:r>
              <a:rPr lang="vi-VN" sz="3000" dirty="0" smtClean="0">
                <a:latin typeface="+mj-lt"/>
              </a:rPr>
              <a:t>thực</a:t>
            </a:r>
            <a:r>
              <a:rPr lang="en-US" sz="3000" dirty="0" smtClean="0">
                <a:latin typeface="+mj-lt"/>
              </a:rPr>
              <a:t> </a:t>
            </a:r>
            <a:r>
              <a:rPr lang="vi-VN" sz="3000" dirty="0" smtClean="0">
                <a:latin typeface="+mj-lt"/>
              </a:rPr>
              <a:t>hiện một</a:t>
            </a:r>
            <a:r>
              <a:rPr lang="en-US" sz="3000" dirty="0" smtClean="0">
                <a:latin typeface="+mj-lt"/>
              </a:rPr>
              <a:t> </a:t>
            </a:r>
            <a:r>
              <a:rPr lang="vi-VN" sz="3000" dirty="0" smtClean="0">
                <a:latin typeface="+mj-lt"/>
              </a:rPr>
              <a:t>nhiệm </a:t>
            </a:r>
            <a:r>
              <a:rPr lang="vi-VN" sz="3000" dirty="0">
                <a:latin typeface="+mj-lt"/>
              </a:rPr>
              <a:t>vụ đặc thù, trong nghĩa hẹp hơn giao thức là tập các luật hay đặc tính được dùng </a:t>
            </a:r>
            <a:r>
              <a:rPr lang="vi-VN" sz="3000" dirty="0" smtClean="0">
                <a:latin typeface="+mj-lt"/>
              </a:rPr>
              <a:t>để</a:t>
            </a:r>
            <a:r>
              <a:rPr lang="en-US" sz="3000" dirty="0" smtClean="0">
                <a:latin typeface="+mj-lt"/>
              </a:rPr>
              <a:t> </a:t>
            </a:r>
            <a:r>
              <a:rPr lang="vi-VN" sz="3000" dirty="0" smtClean="0">
                <a:latin typeface="+mj-lt"/>
              </a:rPr>
              <a:t>thiết </a:t>
            </a:r>
            <a:r>
              <a:rPr lang="vi-VN" sz="3000" dirty="0">
                <a:latin typeface="+mj-lt"/>
              </a:rPr>
              <a:t>lập một hay nhiều lớp trong mô hình </a:t>
            </a:r>
            <a:r>
              <a:rPr lang="vi-VN" sz="3000" dirty="0" smtClean="0">
                <a:latin typeface="+mj-lt"/>
              </a:rPr>
              <a:t>OSI</a:t>
            </a:r>
            <a:endParaRPr lang="en-US" sz="3000" dirty="0" smtClean="0">
              <a:latin typeface="+mj-lt"/>
            </a:endParaRPr>
          </a:p>
          <a:p>
            <a:r>
              <a:rPr lang="vi-VN" sz="3000" dirty="0" smtClean="0">
                <a:latin typeface="+mj-lt"/>
              </a:rPr>
              <a:t>Giao </a:t>
            </a:r>
            <a:r>
              <a:rPr lang="vi-VN" sz="3000" dirty="0">
                <a:latin typeface="+mj-lt"/>
              </a:rPr>
              <a:t>thức trong truyền số liệu là tập các luật hay đặc tính được dùng để thiết </a:t>
            </a:r>
            <a:r>
              <a:rPr lang="vi-VN" sz="3000" dirty="0" smtClean="0">
                <a:latin typeface="+mj-lt"/>
              </a:rPr>
              <a:t>lập</a:t>
            </a:r>
            <a:r>
              <a:rPr lang="en-US" sz="3000" dirty="0" smtClean="0">
                <a:latin typeface="+mj-lt"/>
              </a:rPr>
              <a:t> </a:t>
            </a:r>
            <a:r>
              <a:rPr lang="vi-VN" sz="3000" dirty="0" smtClean="0">
                <a:latin typeface="+mj-lt"/>
              </a:rPr>
              <a:t>một </a:t>
            </a:r>
            <a:r>
              <a:rPr lang="vi-VN" sz="3000" dirty="0">
                <a:latin typeface="+mj-lt"/>
              </a:rPr>
              <a:t>hay nhiều lớp trong mô hình </a:t>
            </a:r>
            <a:r>
              <a:rPr lang="vi-VN" sz="3000" dirty="0" smtClean="0">
                <a:latin typeface="+mj-lt"/>
              </a:rPr>
              <a:t>OSI</a:t>
            </a:r>
            <a:endParaRPr lang="en-US" sz="3000" dirty="0" smtClean="0">
              <a:latin typeface="+mj-lt"/>
            </a:endParaRPr>
          </a:p>
          <a:p>
            <a:r>
              <a:rPr lang="vi-VN" sz="3000" dirty="0" smtClean="0">
                <a:latin typeface="+mj-lt"/>
              </a:rPr>
              <a:t>Giao </a:t>
            </a:r>
            <a:r>
              <a:rPr lang="vi-VN" sz="3000" dirty="0">
                <a:latin typeface="+mj-lt"/>
              </a:rPr>
              <a:t>thức kết nối dữ liệu là tập các đặc tính được dùng để thiết lập lớp kết nối dữ </a:t>
            </a:r>
            <a:r>
              <a:rPr lang="vi-VN" sz="3000" dirty="0" smtClean="0">
                <a:latin typeface="+mj-lt"/>
              </a:rPr>
              <a:t>liệu</a:t>
            </a:r>
            <a:endParaRPr lang="en-US" sz="30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7167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Giao thức kết nối dữ liệu chia ra hai nhóm con</a:t>
            </a:r>
            <a:endParaRPr lang="en-US" dirty="0"/>
          </a:p>
          <a:p>
            <a:pPr>
              <a:buFontTx/>
              <a:buChar char="-"/>
            </a:pPr>
            <a:r>
              <a:rPr lang="vi-VN" dirty="0"/>
              <a:t>Giao thức không đồng bộ xử lý các ký tự trong dòng bit một cách độc lập</a:t>
            </a:r>
            <a:endParaRPr lang="en-US" dirty="0"/>
          </a:p>
          <a:p>
            <a:pPr>
              <a:buFontTx/>
              <a:buChar char="-"/>
            </a:pPr>
            <a:r>
              <a:rPr lang="vi-VN" dirty="0"/>
              <a:t>Giao thức đồng bộ dùng nguyên dòng bit để chuyển sang thành ký tự có cùng</a:t>
            </a:r>
            <a:r>
              <a:rPr lang="en-US" dirty="0"/>
              <a:t> </a:t>
            </a:r>
            <a:r>
              <a:rPr lang="vi-VN" dirty="0"/>
              <a:t>chiều dài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3687583"/>
            <a:ext cx="756285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74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9.1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vi-VN" dirty="0" smtClean="0">
                <a:latin typeface="+mj-lt"/>
              </a:rPr>
              <a:t>Các giao thức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+mj-lt"/>
              </a:rPr>
              <a:t>chủ yếu được </a:t>
            </a:r>
            <a:r>
              <a:rPr lang="vi-VN" b="1" dirty="0">
                <a:latin typeface="+mj-lt"/>
              </a:rPr>
              <a:t>dùng trong các </a:t>
            </a:r>
            <a:r>
              <a:rPr lang="vi-VN" b="1" dirty="0" smtClean="0">
                <a:latin typeface="+mj-lt"/>
              </a:rPr>
              <a:t>modem</a:t>
            </a:r>
            <a:endParaRPr lang="en-US" dirty="0">
              <a:latin typeface="+mj-lt"/>
            </a:endParaRPr>
          </a:p>
          <a:p>
            <a:r>
              <a:rPr lang="vi-VN" b="1" dirty="0" smtClean="0">
                <a:latin typeface="+mj-lt"/>
              </a:rPr>
              <a:t>Phương </a:t>
            </a:r>
            <a:r>
              <a:rPr lang="vi-VN" b="1" dirty="0">
                <a:latin typeface="+mj-lt"/>
              </a:rPr>
              <a:t>thức này có yếu điểm là truyền chậm </a:t>
            </a:r>
            <a:r>
              <a:rPr lang="vi-VN" dirty="0">
                <a:latin typeface="+mj-lt"/>
              </a:rPr>
              <a:t>(do tồn tại start bit, stop bit và </a:t>
            </a:r>
            <a:r>
              <a:rPr lang="vi-VN" dirty="0" smtClean="0">
                <a:latin typeface="+mj-lt"/>
              </a:rPr>
              <a:t>khoảng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trống </a:t>
            </a:r>
            <a:r>
              <a:rPr lang="vi-VN" dirty="0">
                <a:latin typeface="+mj-lt"/>
              </a:rPr>
              <a:t>giữa các frame) nên hiện nay, đã có các giao thức truyền tốc độ cao dùng cơ chế </a:t>
            </a:r>
            <a:r>
              <a:rPr lang="vi-VN" dirty="0" smtClean="0">
                <a:latin typeface="+mj-lt"/>
              </a:rPr>
              <a:t>đồng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bộ </a:t>
            </a:r>
            <a:r>
              <a:rPr lang="vi-VN" dirty="0"/>
              <a:t/>
            </a:r>
            <a:br>
              <a:rPr lang="vi-VN" dirty="0"/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93" y="3320936"/>
            <a:ext cx="10349507" cy="20289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XMODEM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Truyền </a:t>
            </a:r>
            <a:r>
              <a:rPr lang="vi-VN" dirty="0">
                <a:latin typeface="+mj-lt"/>
              </a:rPr>
              <a:t>file dùng đường truyền điện thoại giữa các PC. Giao thức này, được gọi </a:t>
            </a:r>
            <a:r>
              <a:rPr lang="vi-VN" dirty="0" smtClean="0">
                <a:latin typeface="+mj-lt"/>
              </a:rPr>
              <a:t>là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XMODEM</a:t>
            </a:r>
            <a:endParaRPr lang="en-US" dirty="0" smtClean="0">
              <a:latin typeface="+mj-lt"/>
            </a:endParaRPr>
          </a:p>
          <a:p>
            <a:r>
              <a:rPr lang="vi-VN" b="1" dirty="0" smtClean="0">
                <a:latin typeface="+mj-lt"/>
              </a:rPr>
              <a:t>Là </a:t>
            </a:r>
            <a:r>
              <a:rPr lang="vi-VN" b="1" dirty="0">
                <a:latin typeface="+mj-lt"/>
              </a:rPr>
              <a:t>giao thức stop and wait </a:t>
            </a:r>
            <a:r>
              <a:rPr lang="vi-VN" b="1" dirty="0" smtClean="0">
                <a:latin typeface="+mj-lt"/>
              </a:rPr>
              <a:t>ARQ</a:t>
            </a:r>
            <a:endParaRPr lang="en-US" b="1" dirty="0">
              <a:latin typeface="+mj-lt"/>
            </a:endParaRPr>
          </a:p>
          <a:p>
            <a:r>
              <a:rPr lang="vi-VN" dirty="0" smtClean="0">
                <a:latin typeface="+mj-lt"/>
              </a:rPr>
              <a:t>Truyền </a:t>
            </a:r>
            <a:r>
              <a:rPr lang="vi-VN" dirty="0">
                <a:latin typeface="+mj-lt"/>
              </a:rPr>
              <a:t>bán song công (half-duplex) </a:t>
            </a:r>
            <a:br>
              <a:rPr lang="vi-VN" dirty="0">
                <a:latin typeface="+mj-lt"/>
              </a:rPr>
            </a:br>
            <a:endParaRPr lang="en-US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484" y="3489324"/>
            <a:ext cx="740546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3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XMODEM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3000" dirty="0" smtClean="0">
                <a:latin typeface="+mj-lt"/>
              </a:rPr>
              <a:t>Trường </a:t>
            </a:r>
            <a:r>
              <a:rPr lang="vi-VN" sz="3000" b="1" dirty="0" smtClean="0">
                <a:latin typeface="+mj-lt"/>
              </a:rPr>
              <a:t>đầu tiên là một byte </a:t>
            </a:r>
            <a:r>
              <a:rPr lang="vi-VN" sz="3000" dirty="0" smtClean="0">
                <a:latin typeface="+mj-lt"/>
              </a:rPr>
              <a:t>tiêu đề header (start of header: SOH)</a:t>
            </a:r>
            <a:endParaRPr lang="en-US" sz="3000" dirty="0" smtClean="0">
              <a:latin typeface="+mj-lt"/>
            </a:endParaRPr>
          </a:p>
          <a:p>
            <a:r>
              <a:rPr lang="vi-VN" sz="3000" dirty="0" smtClean="0">
                <a:latin typeface="+mj-lt"/>
              </a:rPr>
              <a:t>Trường thứ hai là </a:t>
            </a:r>
            <a:r>
              <a:rPr lang="vi-VN" sz="3000" b="1" dirty="0" smtClean="0">
                <a:latin typeface="+mj-lt"/>
              </a:rPr>
              <a:t>header gồm 2 byte</a:t>
            </a:r>
            <a:r>
              <a:rPr lang="vi-VN" sz="3000" dirty="0" smtClean="0">
                <a:latin typeface="+mj-lt"/>
              </a:rPr>
              <a:t>: byte đầu là một chuỗi bit mang giá</a:t>
            </a:r>
            <a:r>
              <a:rPr lang="en-US" sz="3000" dirty="0" smtClean="0">
                <a:latin typeface="+mj-lt"/>
              </a:rPr>
              <a:t> </a:t>
            </a:r>
            <a:r>
              <a:rPr lang="vi-VN" sz="3000" dirty="0" smtClean="0">
                <a:latin typeface="+mj-lt"/>
              </a:rPr>
              <a:t>trị số</a:t>
            </a:r>
            <a:r>
              <a:rPr lang="en-US" sz="3000" dirty="0" smtClean="0">
                <a:latin typeface="+mj-lt"/>
              </a:rPr>
              <a:t> </a:t>
            </a:r>
            <a:r>
              <a:rPr lang="vi-VN" sz="3000" dirty="0" smtClean="0">
                <a:latin typeface="+mj-lt"/>
              </a:rPr>
              <a:t>frame và byte thứ hai được dùng để kiểm tra giá trị hợp pháp của chuỗi bit</a:t>
            </a:r>
            <a:endParaRPr lang="en-US" sz="3000" dirty="0" smtClean="0">
              <a:latin typeface="+mj-lt"/>
            </a:endParaRPr>
          </a:p>
          <a:p>
            <a:r>
              <a:rPr lang="vi-VN" sz="3000" dirty="0" smtClean="0">
                <a:latin typeface="+mj-lt"/>
              </a:rPr>
              <a:t>Trường cố định gồm </a:t>
            </a:r>
            <a:r>
              <a:rPr lang="vi-VN" sz="3000" b="1" dirty="0" smtClean="0">
                <a:latin typeface="+mj-lt"/>
              </a:rPr>
              <a:t>128 byte dữ liệu </a:t>
            </a:r>
            <a:r>
              <a:rPr lang="vi-VN" sz="3000" dirty="0" smtClean="0">
                <a:latin typeface="+mj-lt"/>
              </a:rPr>
              <a:t>(binary, ASCII, Boole, text)</a:t>
            </a:r>
            <a:endParaRPr lang="en-US" sz="3000" dirty="0" smtClean="0">
              <a:latin typeface="+mj-lt"/>
            </a:endParaRPr>
          </a:p>
          <a:p>
            <a:r>
              <a:rPr lang="vi-VN" sz="3000" b="1" dirty="0" smtClean="0">
                <a:latin typeface="+mj-lt"/>
              </a:rPr>
              <a:t>Trường cuối cùng là CRC, </a:t>
            </a:r>
            <a:r>
              <a:rPr lang="vi-VN" sz="3000" dirty="0" smtClean="0">
                <a:latin typeface="+mj-lt"/>
              </a:rPr>
              <a:t>chỉ dùng kiểm tra lỗi trong trường dữ liệu </a:t>
            </a:r>
            <a:r>
              <a:rPr lang="vi-VN" dirty="0" smtClean="0"/>
              <a:t/>
            </a:r>
            <a:br>
              <a:rPr lang="vi-VN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989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YMODEM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000" dirty="0" smtClean="0">
                <a:latin typeface="+mj-lt"/>
              </a:rPr>
              <a:t> </a:t>
            </a:r>
            <a:r>
              <a:rPr lang="vi-VN" sz="3000" dirty="0" smtClean="0">
                <a:latin typeface="+mj-lt"/>
              </a:rPr>
              <a:t>Dùng </a:t>
            </a:r>
            <a:r>
              <a:rPr lang="vi-VN" sz="3000" dirty="0">
                <a:latin typeface="+mj-lt"/>
              </a:rPr>
              <a:t>giao thức tương tự như XMODEM, ngoài một số điểm khác biệt </a:t>
            </a:r>
            <a:r>
              <a:rPr lang="vi-VN" sz="3000" dirty="0" smtClean="0">
                <a:latin typeface="+mj-lt"/>
              </a:rPr>
              <a:t>sau</a:t>
            </a:r>
            <a:endParaRPr lang="en-US" sz="3000" dirty="0" smtClean="0">
              <a:latin typeface="+mj-lt"/>
            </a:endParaRPr>
          </a:p>
          <a:p>
            <a:r>
              <a:rPr lang="vi-VN" sz="3000" dirty="0" smtClean="0">
                <a:latin typeface="+mj-lt"/>
              </a:rPr>
              <a:t>Đơn </a:t>
            </a:r>
            <a:r>
              <a:rPr lang="vi-VN" sz="3000" dirty="0">
                <a:latin typeface="+mj-lt"/>
              </a:rPr>
              <a:t>vị dữ liệu là 1024 </a:t>
            </a:r>
            <a:r>
              <a:rPr lang="vi-VN" sz="3000" dirty="0" smtClean="0">
                <a:latin typeface="+mj-lt"/>
              </a:rPr>
              <a:t>byte</a:t>
            </a:r>
            <a:endParaRPr lang="en-US" sz="3000" dirty="0" smtClean="0">
              <a:latin typeface="+mj-lt"/>
            </a:endParaRPr>
          </a:p>
          <a:p>
            <a:r>
              <a:rPr lang="vi-VN" sz="3000" dirty="0" smtClean="0">
                <a:latin typeface="+mj-lt"/>
              </a:rPr>
              <a:t>Dùng </a:t>
            </a:r>
            <a:r>
              <a:rPr lang="vi-VN" sz="3000" dirty="0">
                <a:latin typeface="+mj-lt"/>
              </a:rPr>
              <a:t>hai tín hiệu CAN để hủy việc truyền </a:t>
            </a:r>
            <a:r>
              <a:rPr lang="vi-VN" sz="3000" dirty="0" smtClean="0">
                <a:latin typeface="+mj-lt"/>
              </a:rPr>
              <a:t>tin</a:t>
            </a:r>
            <a:endParaRPr lang="en-US" sz="3000" dirty="0" smtClean="0">
              <a:latin typeface="+mj-lt"/>
            </a:endParaRPr>
          </a:p>
          <a:p>
            <a:r>
              <a:rPr lang="vi-VN" sz="3000" dirty="0" smtClean="0">
                <a:latin typeface="+mj-lt"/>
              </a:rPr>
              <a:t>Dùng </a:t>
            </a:r>
            <a:r>
              <a:rPr lang="vi-VN" sz="3000" dirty="0">
                <a:latin typeface="+mj-lt"/>
              </a:rPr>
              <a:t>phương pháp kiểm tra lỗi ITU-T, </a:t>
            </a:r>
            <a:r>
              <a:rPr lang="vi-VN" sz="3000" dirty="0" smtClean="0">
                <a:latin typeface="+mj-lt"/>
              </a:rPr>
              <a:t>CRC-16</a:t>
            </a:r>
            <a:endParaRPr lang="en-US" sz="3000" dirty="0" smtClean="0">
              <a:latin typeface="+mj-lt"/>
            </a:endParaRPr>
          </a:p>
          <a:p>
            <a:r>
              <a:rPr lang="vi-VN" sz="3000" dirty="0" smtClean="0">
                <a:latin typeface="+mj-lt"/>
              </a:rPr>
              <a:t>Có </a:t>
            </a:r>
            <a:r>
              <a:rPr lang="vi-VN" sz="3000" dirty="0">
                <a:latin typeface="+mj-lt"/>
              </a:rPr>
              <a:t>thể truyền đồng thời nhiều </a:t>
            </a:r>
            <a:r>
              <a:rPr lang="vi-VN" sz="3000" dirty="0" smtClean="0">
                <a:latin typeface="+mj-lt"/>
              </a:rPr>
              <a:t>file</a:t>
            </a:r>
            <a:endParaRPr lang="en-US" sz="3000" dirty="0" smtClean="0"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ZMODEM</a:t>
            </a:r>
          </a:p>
          <a:p>
            <a:r>
              <a:rPr lang="en-US" sz="3200" dirty="0" err="1"/>
              <a:t>Giao</a:t>
            </a:r>
            <a:r>
              <a:rPr lang="en-US" sz="3200" dirty="0"/>
              <a:t> </a:t>
            </a:r>
            <a:r>
              <a:rPr lang="en-US" sz="3200" dirty="0" err="1"/>
              <a:t>thức</a:t>
            </a:r>
            <a:r>
              <a:rPr lang="en-US" sz="3200" dirty="0"/>
              <a:t> </a:t>
            </a:r>
            <a:r>
              <a:rPr lang="en-US" sz="3200" dirty="0" err="1"/>
              <a:t>mới</a:t>
            </a:r>
            <a:r>
              <a:rPr lang="en-US" sz="3200" dirty="0"/>
              <a:t>,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hợp</a:t>
            </a:r>
            <a:r>
              <a:rPr lang="en-US" sz="3200" dirty="0"/>
              <a:t> </a:t>
            </a:r>
            <a:r>
              <a:rPr lang="en-US" sz="3200" dirty="0" err="1"/>
              <a:t>cả</a:t>
            </a:r>
            <a:r>
              <a:rPr lang="en-US" sz="3200" dirty="0"/>
              <a:t> </a:t>
            </a:r>
            <a:r>
              <a:rPr lang="en-US" sz="3200" dirty="0" err="1"/>
              <a:t>hai</a:t>
            </a:r>
            <a:r>
              <a:rPr lang="en-US" sz="3200" dirty="0"/>
              <a:t> </a:t>
            </a:r>
            <a:r>
              <a:rPr lang="en-US" sz="3200" dirty="0" err="1"/>
              <a:t>giao</a:t>
            </a:r>
            <a:r>
              <a:rPr lang="en-US" sz="3200" dirty="0"/>
              <a:t> </a:t>
            </a:r>
            <a:r>
              <a:rPr lang="en-US" sz="3200" dirty="0" err="1"/>
              <a:t>thức</a:t>
            </a:r>
            <a:r>
              <a:rPr lang="en-US" sz="3200" dirty="0"/>
              <a:t> XMODEM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smtClean="0"/>
              <a:t>YMODEM</a:t>
            </a:r>
            <a:r>
              <a:rPr lang="vi-VN" sz="3000" dirty="0" smtClean="0">
                <a:latin typeface="+mj-lt"/>
              </a:rPr>
              <a:t> </a:t>
            </a:r>
            <a:endParaRPr lang="en-US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264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3000" b="1" dirty="0">
                <a:latin typeface="+mj-lt"/>
              </a:rPr>
              <a:t>Blocked asynchronous transmission (BLAST) </a:t>
            </a:r>
            <a:r>
              <a:rPr lang="vi-VN" sz="3000" dirty="0">
                <a:latin typeface="+mj-lt"/>
              </a:rPr>
              <a:t>mạnh </a:t>
            </a:r>
            <a:r>
              <a:rPr lang="vi-VN" sz="3000" dirty="0" smtClean="0">
                <a:latin typeface="+mj-lt"/>
              </a:rPr>
              <a:t>hơn</a:t>
            </a:r>
            <a:r>
              <a:rPr lang="en-US" sz="3000" dirty="0" smtClean="0">
                <a:latin typeface="+mj-lt"/>
              </a:rPr>
              <a:t> </a:t>
            </a:r>
            <a:r>
              <a:rPr lang="vi-VN" sz="3000" dirty="0" smtClean="0">
                <a:latin typeface="+mj-lt"/>
              </a:rPr>
              <a:t>XMODEM</a:t>
            </a:r>
            <a:r>
              <a:rPr lang="vi-VN" sz="3000" dirty="0">
                <a:latin typeface="+mj-lt"/>
              </a:rPr>
              <a:t>. Giao thức </a:t>
            </a:r>
            <a:r>
              <a:rPr lang="vi-VN" sz="3000" dirty="0" smtClean="0">
                <a:latin typeface="+mj-lt"/>
              </a:rPr>
              <a:t>dung</a:t>
            </a:r>
            <a:r>
              <a:rPr lang="en-US" sz="3000" dirty="0" smtClean="0">
                <a:latin typeface="+mj-lt"/>
              </a:rPr>
              <a:t> </a:t>
            </a:r>
            <a:r>
              <a:rPr lang="vi-VN" sz="3000" dirty="0" smtClean="0">
                <a:latin typeface="+mj-lt"/>
              </a:rPr>
              <a:t>chế </a:t>
            </a:r>
            <a:r>
              <a:rPr lang="vi-VN" sz="3000" dirty="0">
                <a:latin typeface="+mj-lt"/>
              </a:rPr>
              <a:t>độ song công (full-duplex) dùng phương pháp </a:t>
            </a:r>
            <a:r>
              <a:rPr lang="vi-VN" sz="3000" b="1" dirty="0">
                <a:latin typeface="+mj-lt"/>
              </a:rPr>
              <a:t>kiểm soát lưu lượng dạng cửa sổ </a:t>
            </a:r>
            <a:r>
              <a:rPr lang="vi-VN" sz="3000" b="1" dirty="0" smtClean="0">
                <a:latin typeface="+mj-lt"/>
              </a:rPr>
              <a:t>trượt</a:t>
            </a:r>
            <a:r>
              <a:rPr lang="en-US" sz="3000" b="1" dirty="0" smtClean="0">
                <a:latin typeface="+mj-lt"/>
              </a:rPr>
              <a:t> </a:t>
            </a:r>
            <a:r>
              <a:rPr lang="vi-VN" sz="3000" dirty="0" smtClean="0">
                <a:latin typeface="+mj-lt"/>
              </a:rPr>
              <a:t>(sliding </a:t>
            </a:r>
            <a:r>
              <a:rPr lang="vi-VN" sz="3000" dirty="0">
                <a:latin typeface="+mj-lt"/>
              </a:rPr>
              <a:t>window). </a:t>
            </a: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989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KERMIT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vi-VN" dirty="0">
                <a:latin typeface="+mj-lt"/>
              </a:rPr>
              <a:t>Hiện là </a:t>
            </a:r>
            <a:r>
              <a:rPr lang="vi-VN" b="1" dirty="0">
                <a:latin typeface="+mj-lt"/>
              </a:rPr>
              <a:t>giao thức không đồng bộ được dùng nhiều nhất hiện </a:t>
            </a:r>
            <a:r>
              <a:rPr lang="vi-VN" b="1" dirty="0" smtClean="0">
                <a:latin typeface="+mj-lt"/>
              </a:rPr>
              <a:t>nay</a:t>
            </a:r>
            <a:endParaRPr lang="en-US" b="1" dirty="0" smtClean="0">
              <a:latin typeface="+mj-lt"/>
            </a:endParaRPr>
          </a:p>
          <a:p>
            <a:r>
              <a:rPr lang="vi-VN" dirty="0" smtClean="0">
                <a:latin typeface="+mj-lt"/>
              </a:rPr>
              <a:t>Giao </a:t>
            </a:r>
            <a:r>
              <a:rPr lang="vi-VN" dirty="0">
                <a:latin typeface="+mj-lt"/>
              </a:rPr>
              <a:t>thức truyền file này </a:t>
            </a:r>
            <a:r>
              <a:rPr lang="vi-VN" b="1" dirty="0">
                <a:latin typeface="+mj-lt"/>
              </a:rPr>
              <a:t>tương tự như hoạt động của X </a:t>
            </a:r>
            <a:r>
              <a:rPr lang="vi-VN" b="1" dirty="0" smtClean="0">
                <a:latin typeface="+mj-lt"/>
              </a:rPr>
              <a:t>MODEM</a:t>
            </a:r>
            <a:r>
              <a:rPr lang="vi-VN" dirty="0" smtClean="0">
                <a:latin typeface="+mj-lt"/>
              </a:rPr>
              <a:t>,</a:t>
            </a:r>
            <a:br>
              <a:rPr lang="vi-VN" dirty="0" smtClean="0">
                <a:latin typeface="+mj-lt"/>
              </a:rPr>
            </a:br>
            <a:r>
              <a:rPr lang="vi-VN" dirty="0" smtClean="0">
                <a:latin typeface="+mj-lt"/>
              </a:rPr>
              <a:t>Máy </a:t>
            </a:r>
            <a:r>
              <a:rPr lang="vi-VN" dirty="0">
                <a:latin typeface="+mj-lt"/>
              </a:rPr>
              <a:t>phát chờ NAK trước khi bắt đầu </a:t>
            </a:r>
            <a:r>
              <a:rPr lang="vi-VN" dirty="0" smtClean="0">
                <a:latin typeface="+mj-lt"/>
              </a:rPr>
              <a:t>truyền</a:t>
            </a:r>
            <a:endParaRPr lang="en-US" dirty="0" smtClean="0">
              <a:latin typeface="+mj-lt"/>
            </a:endParaRPr>
          </a:p>
          <a:p>
            <a:r>
              <a:rPr lang="vi-VN" dirty="0" smtClean="0">
                <a:latin typeface="+mj-lt"/>
              </a:rPr>
              <a:t>Kermit </a:t>
            </a:r>
            <a:r>
              <a:rPr lang="vi-VN" dirty="0">
                <a:latin typeface="+mj-lt"/>
              </a:rPr>
              <a:t>cho phép truyền các ký tự kiểm tra dạng text theo hai </a:t>
            </a:r>
            <a:r>
              <a:rPr lang="vi-VN" dirty="0" smtClean="0">
                <a:latin typeface="+mj-lt"/>
              </a:rPr>
              <a:t>bước:</a:t>
            </a:r>
            <a:endParaRPr lang="en-US" dirty="0" smtClean="0">
              <a:latin typeface="+mj-lt"/>
            </a:endParaRPr>
          </a:p>
          <a:p>
            <a:pPr marL="0" indent="0">
              <a:buNone/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Đầu </a:t>
            </a:r>
            <a:r>
              <a:rPr lang="vi-VN" dirty="0">
                <a:latin typeface="+mj-lt"/>
              </a:rPr>
              <a:t>tiên, ký tự kiểm tra được dùng dạng text, được chuyển thành các ký tự in </a:t>
            </a:r>
            <a:r>
              <a:rPr lang="vi-VN" dirty="0" smtClean="0">
                <a:latin typeface="+mj-lt"/>
              </a:rPr>
              <a:t>được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thông </a:t>
            </a:r>
            <a:r>
              <a:rPr lang="vi-VN" dirty="0">
                <a:latin typeface="+mj-lt"/>
              </a:rPr>
              <a:t>qua việc thêm vào một số cố định và mã ASCII được dùng biểu </a:t>
            </a:r>
            <a:r>
              <a:rPr lang="vi-VN" dirty="0" smtClean="0">
                <a:latin typeface="+mj-lt"/>
              </a:rPr>
              <a:t>diễn</a:t>
            </a:r>
            <a:endParaRPr lang="en-US" dirty="0" smtClean="0">
              <a:latin typeface="+mj-lt"/>
            </a:endParaRPr>
          </a:p>
          <a:p>
            <a:pPr marL="0" indent="0">
              <a:buNone/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Bước </a:t>
            </a:r>
            <a:r>
              <a:rPr lang="vi-VN" dirty="0">
                <a:latin typeface="+mj-lt"/>
              </a:rPr>
              <a:t>hai, thêm ký tự # vào phía trước ký tự vừa chuyển </a:t>
            </a:r>
            <a:r>
              <a:rPr lang="vi-VN" dirty="0" smtClean="0">
                <a:latin typeface="+mj-lt"/>
              </a:rPr>
              <a:t>đổi</a:t>
            </a: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6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9.2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đồng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+mj-lt"/>
              </a:rPr>
              <a:t>Tốc độ truyền đồng bộ là chọn lựa tốt hơn so với trường hợp không đồng bộ, trong </a:t>
            </a:r>
            <a:r>
              <a:rPr lang="vi-VN" dirty="0" smtClean="0">
                <a:latin typeface="+mj-lt"/>
              </a:rPr>
              <a:t>công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nghệ </a:t>
            </a:r>
            <a:r>
              <a:rPr lang="vi-VN" dirty="0">
                <a:latin typeface="+mj-lt"/>
              </a:rPr>
              <a:t>LAN, WAN hay </a:t>
            </a:r>
            <a:r>
              <a:rPr lang="vi-VN" dirty="0" smtClean="0">
                <a:latin typeface="+mj-lt"/>
              </a:rPr>
              <a:t>MAN</a:t>
            </a:r>
            <a:endParaRPr lang="en-US" dirty="0" smtClean="0">
              <a:latin typeface="+mj-lt"/>
            </a:endParaRPr>
          </a:p>
          <a:p>
            <a:r>
              <a:rPr lang="vi-VN" dirty="0" smtClean="0">
                <a:latin typeface="+mj-lt"/>
              </a:rPr>
              <a:t>Các </a:t>
            </a:r>
            <a:r>
              <a:rPr lang="vi-VN" dirty="0">
                <a:latin typeface="+mj-lt"/>
              </a:rPr>
              <a:t>giao thức đồng bộ truyền dữ liệu được chia thành hai </a:t>
            </a:r>
            <a:r>
              <a:rPr lang="vi-VN" dirty="0" smtClean="0">
                <a:latin typeface="+mj-lt"/>
              </a:rPr>
              <a:t>dạng:</a:t>
            </a:r>
            <a:r>
              <a:rPr lang="en-US" dirty="0" smtClean="0">
                <a:latin typeface="+mj-lt"/>
              </a:rPr>
              <a:t> </a:t>
            </a:r>
            <a:r>
              <a:rPr lang="vi-VN" b="1" dirty="0" smtClean="0">
                <a:latin typeface="+mj-lt"/>
              </a:rPr>
              <a:t>giao </a:t>
            </a:r>
            <a:r>
              <a:rPr lang="vi-VN" b="1" dirty="0">
                <a:latin typeface="+mj-lt"/>
              </a:rPr>
              <a:t>thức theo </a:t>
            </a:r>
            <a:r>
              <a:rPr lang="vi-VN" b="1" dirty="0" smtClean="0">
                <a:latin typeface="+mj-lt"/>
              </a:rPr>
              <a:t>hướng</a:t>
            </a:r>
            <a:r>
              <a:rPr lang="en-US" b="1" dirty="0" smtClean="0">
                <a:latin typeface="+mj-lt"/>
              </a:rPr>
              <a:t> </a:t>
            </a:r>
            <a:r>
              <a:rPr lang="vi-VN" b="1" dirty="0" smtClean="0">
                <a:latin typeface="+mj-lt"/>
              </a:rPr>
              <a:t>ký </a:t>
            </a:r>
            <a:r>
              <a:rPr lang="vi-VN" b="1" dirty="0">
                <a:latin typeface="+mj-lt"/>
              </a:rPr>
              <a:t>tự </a:t>
            </a:r>
            <a:r>
              <a:rPr lang="vi-VN" dirty="0">
                <a:latin typeface="+mj-lt"/>
              </a:rPr>
              <a:t>và </a:t>
            </a:r>
            <a:r>
              <a:rPr lang="vi-VN" b="1" dirty="0">
                <a:latin typeface="+mj-lt"/>
              </a:rPr>
              <a:t>giao thức theo hướng bit.</a:t>
            </a:r>
            <a:r>
              <a:rPr lang="vi-VN" dirty="0">
                <a:latin typeface="+mj-lt"/>
              </a:rPr>
              <a:t> </a:t>
            </a: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778" y="3286125"/>
            <a:ext cx="702945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68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9.2.1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kí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 smtClean="0">
                <a:latin typeface="+mj-lt"/>
              </a:rPr>
              <a:t>ác giao thức theo hướng ký tự</a:t>
            </a:r>
            <a:r>
              <a:rPr lang="en-US" dirty="0" smtClean="0">
                <a:latin typeface="+mj-lt"/>
              </a:rPr>
              <a:t> </a:t>
            </a:r>
            <a:r>
              <a:rPr lang="en-US" b="1" dirty="0" smtClean="0">
                <a:latin typeface="+mj-lt"/>
              </a:rPr>
              <a:t>(</a:t>
            </a:r>
            <a:r>
              <a:rPr lang="vi-VN" b="1" dirty="0" smtClean="0">
                <a:latin typeface="+mj-lt"/>
              </a:rPr>
              <a:t>binary synchronous communication (</a:t>
            </a:r>
            <a:r>
              <a:rPr lang="vi-VN" b="1" dirty="0">
                <a:latin typeface="+mj-lt"/>
              </a:rPr>
              <a:t>BSC)</a:t>
            </a:r>
            <a:r>
              <a:rPr lang="vi-VN" dirty="0">
                <a:latin typeface="+mj-lt"/>
              </a:rPr>
              <a:t> </a:t>
            </a:r>
            <a:endParaRPr lang="en-US" b="1" dirty="0" smtClean="0"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+mj-lt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vi-VN" b="1" dirty="0" smtClean="0">
                <a:latin typeface="+mj-lt"/>
              </a:rPr>
              <a:t>iới thiệu</a:t>
            </a:r>
            <a:endParaRPr lang="en-US" b="1" dirty="0" smtClean="0">
              <a:latin typeface="+mj-lt"/>
            </a:endParaRPr>
          </a:p>
          <a:p>
            <a:r>
              <a:rPr lang="vi-VN" dirty="0" smtClean="0">
                <a:latin typeface="+mj-lt"/>
              </a:rPr>
              <a:t>Dùng </a:t>
            </a:r>
            <a:r>
              <a:rPr lang="vi-VN" dirty="0">
                <a:latin typeface="+mj-lt"/>
              </a:rPr>
              <a:t>cho cấu hình điểm - điểm và đa </a:t>
            </a:r>
            <a:r>
              <a:rPr lang="vi-VN" dirty="0" smtClean="0">
                <a:latin typeface="+mj-lt"/>
              </a:rPr>
              <a:t>điểm</a:t>
            </a:r>
            <a:endParaRPr lang="en-US" dirty="0">
              <a:latin typeface="+mj-lt"/>
            </a:endParaRPr>
          </a:p>
          <a:p>
            <a:r>
              <a:rPr lang="vi-VN" dirty="0" smtClean="0">
                <a:latin typeface="+mj-lt"/>
              </a:rPr>
              <a:t>Cơ </a:t>
            </a:r>
            <a:r>
              <a:rPr lang="vi-VN" dirty="0">
                <a:latin typeface="+mj-lt"/>
              </a:rPr>
              <a:t>chế truyền bán song công (</a:t>
            </a:r>
            <a:r>
              <a:rPr lang="vi-VN" dirty="0" smtClean="0">
                <a:latin typeface="+mj-lt"/>
              </a:rPr>
              <a:t>half-duplex)</a:t>
            </a:r>
            <a:endParaRPr lang="en-US" dirty="0">
              <a:latin typeface="+mj-lt"/>
            </a:endParaRPr>
          </a:p>
          <a:p>
            <a:r>
              <a:rPr lang="vi-VN" dirty="0" smtClean="0">
                <a:latin typeface="+mj-lt"/>
              </a:rPr>
              <a:t>Dùng </a:t>
            </a:r>
            <a:r>
              <a:rPr lang="vi-VN" dirty="0">
                <a:latin typeface="+mj-lt"/>
              </a:rPr>
              <a:t>phương pháp kiểm tra lỗi và điều khiển lưu lượng stop and wait </a:t>
            </a:r>
            <a:r>
              <a:rPr lang="vi-VN" dirty="0" smtClean="0">
                <a:latin typeface="+mj-lt"/>
              </a:rPr>
              <a:t>ARQ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(BSC </a:t>
            </a:r>
            <a:r>
              <a:rPr lang="vi-VN" dirty="0">
                <a:latin typeface="+mj-lt"/>
              </a:rPr>
              <a:t>không hỗ trợ chế độ full-duplex hay giao thức cửa sổ trượt</a:t>
            </a:r>
            <a:r>
              <a:rPr lang="vi-VN" dirty="0"/>
              <a:t>) </a:t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453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9.2.1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+mj-lt"/>
              </a:rPr>
              <a:t> </a:t>
            </a:r>
            <a:r>
              <a:rPr lang="vi-VN" b="1" dirty="0" smtClean="0">
                <a:latin typeface="+mj-lt"/>
              </a:rPr>
              <a:t>Các </a:t>
            </a:r>
            <a:r>
              <a:rPr lang="vi-VN" b="1" dirty="0">
                <a:latin typeface="+mj-lt"/>
              </a:rPr>
              <a:t>ký tự điều </a:t>
            </a:r>
            <a:r>
              <a:rPr lang="vi-VN" b="1" dirty="0" smtClean="0">
                <a:latin typeface="+mj-lt"/>
              </a:rPr>
              <a:t>khiển</a:t>
            </a:r>
            <a:endParaRPr lang="en-US" b="1" dirty="0">
              <a:latin typeface="+mj-lt"/>
            </a:endParaRPr>
          </a:p>
          <a:p>
            <a:r>
              <a:rPr lang="vi-VN" dirty="0" smtClean="0">
                <a:latin typeface="+mj-lt"/>
              </a:rPr>
              <a:t>Ký </a:t>
            </a:r>
            <a:r>
              <a:rPr lang="vi-VN" dirty="0">
                <a:latin typeface="+mj-lt"/>
              </a:rPr>
              <a:t>tự ACK không được dùng trong giao thức </a:t>
            </a:r>
            <a:r>
              <a:rPr lang="vi-VN" dirty="0" smtClean="0">
                <a:latin typeface="+mj-lt"/>
              </a:rPr>
              <a:t>này</a:t>
            </a:r>
            <a:endParaRPr lang="en-US" dirty="0" smtClean="0">
              <a:latin typeface="+mj-lt"/>
            </a:endParaRPr>
          </a:p>
          <a:p>
            <a:r>
              <a:rPr lang="vi-VN" dirty="0" smtClean="0">
                <a:latin typeface="+mj-lt"/>
              </a:rPr>
              <a:t>BSC </a:t>
            </a:r>
            <a:r>
              <a:rPr lang="vi-VN" dirty="0">
                <a:latin typeface="+mj-lt"/>
              </a:rPr>
              <a:t>dùng phương pháp </a:t>
            </a:r>
            <a:r>
              <a:rPr lang="vi-VN" b="1" dirty="0">
                <a:latin typeface="+mj-lt"/>
              </a:rPr>
              <a:t>stop and wait ARQ </a:t>
            </a:r>
            <a:r>
              <a:rPr lang="vi-VN" dirty="0">
                <a:latin typeface="+mj-lt"/>
              </a:rPr>
              <a:t>và ACK phải là A</a:t>
            </a:r>
            <a:r>
              <a:rPr lang="vi-VN" b="1" dirty="0">
                <a:latin typeface="+mj-lt"/>
              </a:rPr>
              <a:t>CK0 hay ACK1 </a:t>
            </a:r>
            <a:r>
              <a:rPr lang="vi-VN" dirty="0" smtClean="0">
                <a:latin typeface="+mj-lt"/>
              </a:rPr>
              <a:t>cho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các </a:t>
            </a:r>
            <a:r>
              <a:rPr lang="vi-VN" dirty="0">
                <a:latin typeface="+mj-lt"/>
              </a:rPr>
              <a:t>frame dữ liệu liên tiếp </a:t>
            </a:r>
            <a:r>
              <a:rPr lang="vi-VN" dirty="0" smtClean="0">
                <a:latin typeface="+mj-lt"/>
              </a:rPr>
              <a:t>nhau</a:t>
            </a:r>
            <a:endParaRPr lang="en-US" dirty="0" smtClean="0"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+mj-lt"/>
              </a:rPr>
              <a:t> </a:t>
            </a:r>
            <a:r>
              <a:rPr lang="vi-VN" b="1" dirty="0" smtClean="0">
                <a:latin typeface="+mj-lt"/>
              </a:rPr>
              <a:t>BSC frames</a:t>
            </a:r>
            <a:endParaRPr lang="en-US" dirty="0">
              <a:latin typeface="+mj-lt"/>
            </a:endParaRPr>
          </a:p>
          <a:p>
            <a:r>
              <a:rPr lang="vi-VN" dirty="0" smtClean="0">
                <a:latin typeface="+mj-lt"/>
              </a:rPr>
              <a:t>Control </a:t>
            </a:r>
            <a:r>
              <a:rPr lang="vi-VN" dirty="0">
                <a:latin typeface="+mj-lt"/>
              </a:rPr>
              <a:t>frame: chỉ chứa các thông tin về điều </a:t>
            </a:r>
            <a:r>
              <a:rPr lang="vi-VN" dirty="0" smtClean="0">
                <a:latin typeface="+mj-lt"/>
              </a:rPr>
              <a:t>khiển</a:t>
            </a:r>
            <a:endParaRPr lang="en-US" dirty="0" smtClean="0">
              <a:latin typeface="+mj-lt"/>
            </a:endParaRPr>
          </a:p>
          <a:p>
            <a:r>
              <a:rPr lang="vi-VN" dirty="0" smtClean="0">
                <a:latin typeface="+mj-lt"/>
              </a:rPr>
              <a:t>Data </a:t>
            </a:r>
            <a:r>
              <a:rPr lang="vi-VN" dirty="0">
                <a:latin typeface="+mj-lt"/>
              </a:rPr>
              <a:t>frame: chứa các thông tin về dữ </a:t>
            </a:r>
            <a:r>
              <a:rPr lang="vi-VN" dirty="0" smtClean="0">
                <a:latin typeface="+mj-lt"/>
              </a:rPr>
              <a:t>liệu</a:t>
            </a:r>
            <a:endParaRPr lang="en-US" dirty="0" smtClean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(</a:t>
            </a:r>
            <a:r>
              <a:rPr lang="vi-VN" dirty="0" smtClean="0">
                <a:latin typeface="+mj-lt"/>
              </a:rPr>
              <a:t>nhưng </a:t>
            </a:r>
            <a:r>
              <a:rPr lang="vi-VN" dirty="0">
                <a:latin typeface="+mj-lt"/>
              </a:rPr>
              <a:t>cũng có các thông tin điều </a:t>
            </a:r>
            <a:r>
              <a:rPr lang="vi-VN" dirty="0" smtClean="0">
                <a:latin typeface="+mj-lt"/>
              </a:rPr>
              <a:t>khiển</a:t>
            </a:r>
            <a:r>
              <a:rPr lang="en-US" dirty="0" smtClean="0"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vi-VN" dirty="0" smtClean="0">
                <a:latin typeface="+mj-lt"/>
              </a:rPr>
              <a:t>dùng </a:t>
            </a:r>
            <a:r>
              <a:rPr lang="vi-VN" dirty="0">
                <a:latin typeface="+mj-lt"/>
              </a:rPr>
              <a:t>trong thông tin </a:t>
            </a:r>
            <a:r>
              <a:rPr lang="vi-VN" dirty="0" smtClean="0">
                <a:latin typeface="+mj-lt"/>
              </a:rPr>
              <a:t>này</a:t>
            </a:r>
            <a:r>
              <a:rPr lang="en-US" dirty="0" smtClean="0">
                <a:latin typeface="+mj-lt"/>
              </a:rPr>
              <a:t>)</a:t>
            </a:r>
            <a:r>
              <a:rPr lang="vi-VN" dirty="0" smtClean="0">
                <a:latin typeface="+mj-lt"/>
              </a:rPr>
              <a:t> </a:t>
            </a: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16" y="4406900"/>
            <a:ext cx="4982044" cy="200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81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9.2.1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Frame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Chiều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mũi tên là chiều 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 hai ký tự đồng bộ hay nhiều 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2 ký tự đồng bộ thì bắt đầu ký tự văn bản (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STX: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text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dứt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ETX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end of text)</a:t>
            </a:r>
          </a:p>
          <a:p>
            <a:pPr>
              <a:spcBef>
                <a:spcPts val="600"/>
              </a:spcBef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cùng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 khối đếm-kiểm tra (blọck check 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count:BCC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được thêm vào để liểm tra lỗi. Trường BCC có thể có một ký tự kiểm 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lỗi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dạng LRC hay hai ký tự kiểm tra lỗi CRC. </a:t>
            </a:r>
            <a:r>
              <a:rPr lang="vi-VN" dirty="0"/>
              <a:t/>
            </a:r>
            <a:br>
              <a:rPr lang="vi-VN" dirty="0"/>
            </a:br>
            <a:r>
              <a:rPr lang="en-US" dirty="0"/>
              <a:t/>
            </a:r>
            <a:br>
              <a:rPr lang="en-US" dirty="0"/>
            </a:b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089" y="4305300"/>
            <a:ext cx="6859938" cy="211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96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9.2.1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(Header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Fields)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 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thường 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ít được dùng, do phải có thêm địa chỉ của thiết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thu,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 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bị gởi, và số nhận dạng frame (0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hay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cho trường hợp stop and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ARQ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này thường được chứa trong một trường đặc biệt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 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tiêu đề (header), được bắt đầu bằng ký tự </a:t>
            </a: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of header (SOH). </a:t>
            </a:r>
            <a:r>
              <a:rPr lang="vi-V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Tiêu đề này đến sau </a:t>
            </a:r>
            <a:r>
              <a:rPr lang="vi-V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tự </a:t>
            </a: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 và trước ký tự </a:t>
            </a:r>
            <a:r>
              <a:rPr lang="vi-V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STX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265" y="4102101"/>
            <a:ext cx="8453901" cy="204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15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9.2.1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Multiblock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Frame</a:t>
            </a:r>
          </a:p>
          <a:p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chiều dài của khối (block) tăng thì xác suất xuất hiện lỗi cũng gia tăng theo.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nhiều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trong một frame thì khả năng bị lỗi càng cao, làm cho việc phát hiện lỗi càng trở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khó khăn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đó, các văn bản trong bản tin thường được chia ra thành nhiều block.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block(trừ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cuối cùng) đều 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bắt đầu với một ký tự STX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chấm dứt bằng một khối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gian (ITB: intermediate text block).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cuối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bắt đầu dùng STX nhưng tận cùng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ETX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93" y="4886282"/>
            <a:ext cx="11074400" cy="153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88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9.2.2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bit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iao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thức theo hướng bit có thể đóng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nhiều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hơn trong một frame ngắn hơn và tránh được vấn đề transparency (minh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bạch)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HDLC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ISO thiết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ngày càng trở thành cơ sở của các giao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hướng bit hiện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nay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+mj-lt"/>
              </a:rPr>
              <a:t>- </a:t>
            </a:r>
            <a:r>
              <a:rPr lang="vi-VN" sz="2400" dirty="0" smtClean="0">
                <a:latin typeface="+mj-lt"/>
              </a:rPr>
              <a:t>Tất </a:t>
            </a:r>
            <a:r>
              <a:rPr lang="vi-VN" sz="2400" dirty="0">
                <a:latin typeface="+mj-lt"/>
              </a:rPr>
              <a:t>cả các giao thức theo hướng bit đều xuất phát từ HDLC (high-level data </a:t>
            </a:r>
            <a:r>
              <a:rPr lang="vi-VN" sz="2400" dirty="0" smtClean="0">
                <a:latin typeface="+mj-lt"/>
              </a:rPr>
              <a:t>link</a:t>
            </a:r>
            <a:r>
              <a:rPr lang="en-US" sz="2400" dirty="0" smtClean="0">
                <a:latin typeface="+mj-lt"/>
              </a:rPr>
              <a:t> </a:t>
            </a:r>
            <a:r>
              <a:rPr lang="vi-VN" sz="2400" dirty="0" smtClean="0">
                <a:latin typeface="+mj-lt"/>
              </a:rPr>
              <a:t>control). </a:t>
            </a:r>
            <a:r>
              <a:rPr lang="vi-VN" sz="2400" dirty="0">
                <a:latin typeface="+mj-lt"/>
              </a:rPr>
              <a:t>HDLC hỗ trợ cả chế độ </a:t>
            </a:r>
            <a:r>
              <a:rPr lang="vi-VN" sz="2400" dirty="0" smtClean="0">
                <a:latin typeface="+mj-lt"/>
              </a:rPr>
              <a:t>song</a:t>
            </a:r>
            <a:r>
              <a:rPr lang="en-US" sz="2400" dirty="0" smtClean="0">
                <a:latin typeface="+mj-lt"/>
              </a:rPr>
              <a:t> </a:t>
            </a:r>
            <a:r>
              <a:rPr lang="vi-VN" sz="2400" dirty="0" smtClean="0">
                <a:latin typeface="+mj-lt"/>
              </a:rPr>
              <a:t>công </a:t>
            </a:r>
            <a:r>
              <a:rPr lang="vi-VN" sz="2400" dirty="0">
                <a:latin typeface="+mj-lt"/>
              </a:rPr>
              <a:t>và bán song công trong cấu hình điểm-điểm hoặc </a:t>
            </a:r>
            <a:r>
              <a:rPr lang="vi-VN" sz="2400" dirty="0" smtClean="0">
                <a:latin typeface="+mj-lt"/>
              </a:rPr>
              <a:t>điểm </a:t>
            </a:r>
            <a:r>
              <a:rPr lang="vi-VN" sz="2400" dirty="0">
                <a:latin typeface="+mj-lt"/>
              </a:rPr>
              <a:t>nối nhiều </a:t>
            </a:r>
            <a:r>
              <a:rPr lang="vi-VN" sz="2400" dirty="0" smtClean="0">
                <a:latin typeface="+mj-lt"/>
              </a:rPr>
              <a:t>điểm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728" y="3278214"/>
            <a:ext cx="85915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43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HDLC (high-level data </a:t>
            </a:r>
            <a:r>
              <a:rPr lang="en-US" dirty="0" smtClean="0"/>
              <a:t>link control</a:t>
            </a:r>
            <a:r>
              <a:rPr lang="en-US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Hệ thống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dùng </a:t>
            </a:r>
            <a:r>
              <a:rPr lang="vi-VN" dirty="0">
                <a:latin typeface="+mj-lt"/>
              </a:rPr>
              <a:t>HDLC có thể được đặc trưng hoá bởi dạng trạm, cấu hình và chế độ đáp </a:t>
            </a:r>
            <a:r>
              <a:rPr lang="vi-VN" dirty="0" smtClean="0">
                <a:latin typeface="+mj-lt"/>
              </a:rPr>
              <a:t>ứng</a:t>
            </a:r>
            <a:endParaRPr lang="en-US" dirty="0" smtClean="0"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 smtClean="0">
                <a:latin typeface="+mj-lt"/>
              </a:rPr>
              <a:t>HDLC </a:t>
            </a:r>
            <a:r>
              <a:rPr lang="vi-VN" dirty="0">
                <a:latin typeface="+mj-lt"/>
              </a:rPr>
              <a:t>chia thành các </a:t>
            </a:r>
            <a:r>
              <a:rPr lang="vi-VN" dirty="0" smtClean="0">
                <a:latin typeface="+mj-lt"/>
              </a:rPr>
              <a:t>trạm</a:t>
            </a:r>
            <a:endParaRPr lang="en-US" dirty="0" smtClean="0">
              <a:latin typeface="+mj-lt"/>
            </a:endParaRPr>
          </a:p>
          <a:p>
            <a:pPr marL="0" indent="0">
              <a:buNone/>
            </a:pPr>
            <a:r>
              <a:rPr lang="en-US" dirty="0" smtClean="0">
                <a:latin typeface="+mj-lt"/>
                <a:cs typeface="Times New Roman" panose="02020603050405020304" pitchFamily="18" charset="0"/>
              </a:rPr>
              <a:t>- S</a:t>
            </a:r>
            <a:r>
              <a:rPr lang="vi-VN" dirty="0" smtClean="0">
                <a:latin typeface="+mj-lt"/>
              </a:rPr>
              <a:t>ơ cấp</a:t>
            </a:r>
            <a:r>
              <a:rPr lang="en-US" dirty="0" smtClean="0">
                <a:latin typeface="+mj-lt"/>
              </a:rPr>
              <a:t>: </a:t>
            </a:r>
            <a:r>
              <a:rPr lang="vi-VN" dirty="0">
                <a:latin typeface="+mj-lt"/>
              </a:rPr>
              <a:t>Sơ cấp chuyển tín hiệu điều khiển đến các trạm thứ </a:t>
            </a:r>
            <a:r>
              <a:rPr lang="vi-VN" dirty="0" smtClean="0">
                <a:latin typeface="+mj-lt"/>
              </a:rPr>
              <a:t>cấp </a:t>
            </a:r>
            <a:endParaRPr lang="en-US" dirty="0" smtClean="0">
              <a:latin typeface="+mj-lt"/>
            </a:endParaRPr>
          </a:p>
          <a:p>
            <a:pPr marL="0" indent="0">
              <a:buNone/>
            </a:pPr>
            <a:r>
              <a:rPr lang="en-US" dirty="0" smtClean="0">
                <a:latin typeface="+mj-lt"/>
                <a:cs typeface="Times New Roman" panose="02020603050405020304" pitchFamily="18" charset="0"/>
              </a:rPr>
              <a:t>- T</a:t>
            </a:r>
            <a:r>
              <a:rPr lang="vi-VN" dirty="0" smtClean="0">
                <a:latin typeface="+mj-lt"/>
              </a:rPr>
              <a:t>hứ cấp</a:t>
            </a:r>
            <a:r>
              <a:rPr lang="en-US" dirty="0" smtClean="0">
                <a:latin typeface="+mj-lt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+mj-lt"/>
                <a:cs typeface="Times New Roman" panose="02020603050405020304" pitchFamily="18" charset="0"/>
              </a:rPr>
              <a:t>- K</a:t>
            </a:r>
            <a:r>
              <a:rPr lang="vi-VN" dirty="0" smtClean="0">
                <a:latin typeface="+mj-lt"/>
              </a:rPr>
              <a:t>ết hợp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86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HDLC (high-level data link control)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(Configuration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hay còn gọi là cấu hình 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master/slave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trong đó có một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bị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 sơ cấp và các thiết bị khác là thứ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đó mỗi trạm vật lý trên mạng gồm hai trạm luận lý, một là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cấp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một là thứ cấp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228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HDLC (high-level data link control)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hế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 đáp ứng bình thường (normal response mode: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NRM)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hế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 đáp ứng không đồng bộ (asynchronous response mode: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ARM)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hế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 cân bằng không đồng bộ (asynchronous balanced mode: ABM) 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4076700"/>
            <a:ext cx="9732036" cy="222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15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HDLC (high-level data link control)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93" y="1431235"/>
            <a:ext cx="6298207" cy="486619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FRAMES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Frame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(I-frame: information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frame):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dùng để vận chuyển dữ liệu của người dùng (user) và thông tin điều 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liên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 đến người dùng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Frame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(S-frame: supervisory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frame):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chỉ dùng để vận chuyển các thông tin điều khiển, lưu lượng của lớp kết nối 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kiểm tra lỗi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Frame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(unnumbered frame U-frame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dùng dự phòng cho quản lý hệ 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hông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do U-frame 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 cho việc tự quản lý mạng.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0" y="2508250"/>
            <a:ext cx="501967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816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+mj-lt"/>
              </a:rPr>
              <a:t> </a:t>
            </a:r>
            <a:r>
              <a:rPr lang="vi-VN" b="1" dirty="0" smtClean="0">
                <a:latin typeface="+mj-lt"/>
              </a:rPr>
              <a:t>Flag field</a:t>
            </a:r>
            <a:endParaRPr lang="en-US" b="1" dirty="0" smtClean="0">
              <a:latin typeface="+mj-lt"/>
            </a:endParaRPr>
          </a:p>
          <a:p>
            <a:r>
              <a:rPr lang="vi-VN" dirty="0" smtClean="0">
                <a:latin typeface="+mj-lt"/>
              </a:rPr>
              <a:t>Trường </a:t>
            </a:r>
            <a:r>
              <a:rPr lang="vi-VN" dirty="0">
                <a:latin typeface="+mj-lt"/>
              </a:rPr>
              <a:t>flag của HDLC là chuỗi 8 bit có mẫu </a:t>
            </a:r>
            <a:r>
              <a:rPr lang="vi-VN" b="1" i="1" dirty="0">
                <a:latin typeface="+mj-lt"/>
              </a:rPr>
              <a:t>01111110 </a:t>
            </a:r>
            <a:r>
              <a:rPr lang="vi-VN" dirty="0">
                <a:latin typeface="+mj-lt"/>
              </a:rPr>
              <a:t>nhằm nhận dạng cả phần </a:t>
            </a:r>
            <a:r>
              <a:rPr lang="vi-VN" dirty="0" smtClean="0">
                <a:latin typeface="+mj-lt"/>
              </a:rPr>
              <a:t>đầu,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phần </a:t>
            </a:r>
            <a:r>
              <a:rPr lang="vi-VN" dirty="0">
                <a:latin typeface="+mj-lt"/>
              </a:rPr>
              <a:t>cuối của frame và mẫu đồng bộ cho máy </a:t>
            </a:r>
            <a:r>
              <a:rPr lang="vi-VN" dirty="0" smtClean="0">
                <a:latin typeface="+mj-lt"/>
              </a:rPr>
              <a:t>thu</a:t>
            </a:r>
            <a:endParaRPr lang="en-US" dirty="0" smtClean="0">
              <a:latin typeface="+mj-lt"/>
            </a:endParaRPr>
          </a:p>
          <a:p>
            <a:r>
              <a:rPr lang="vi-VN" dirty="0" smtClean="0">
                <a:latin typeface="+mj-lt"/>
              </a:rPr>
              <a:t>Hình </a:t>
            </a:r>
            <a:r>
              <a:rPr lang="vi-VN" dirty="0">
                <a:latin typeface="+mj-lt"/>
              </a:rPr>
              <a:t>dưới đây vẽ sắp xếp của hai </a:t>
            </a:r>
            <a:r>
              <a:rPr lang="vi-VN" dirty="0" smtClean="0">
                <a:latin typeface="+mj-lt"/>
              </a:rPr>
              <a:t>trường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flag </a:t>
            </a:r>
            <a:r>
              <a:rPr lang="vi-VN" dirty="0">
                <a:latin typeface="+mj-lt"/>
              </a:rPr>
              <a:t>trong một I-frame </a:t>
            </a: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553" y="3371850"/>
            <a:ext cx="66675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01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 dirty="0">
                <a:latin typeface="+mj-lt"/>
              </a:rPr>
              <a:t>Address </a:t>
            </a:r>
            <a:r>
              <a:rPr lang="vi-VN" b="1" dirty="0" smtClean="0">
                <a:latin typeface="+mj-lt"/>
              </a:rPr>
              <a:t>field</a:t>
            </a:r>
            <a:endParaRPr lang="en-US" b="1" dirty="0" smtClean="0">
              <a:latin typeface="+mj-lt"/>
            </a:endParaRPr>
          </a:p>
          <a:p>
            <a:r>
              <a:rPr lang="vi-VN" sz="2400" dirty="0" smtClean="0">
                <a:latin typeface="+mj-lt"/>
              </a:rPr>
              <a:t>Trường </a:t>
            </a:r>
            <a:r>
              <a:rPr lang="vi-VN" sz="2400" dirty="0">
                <a:latin typeface="+mj-lt"/>
              </a:rPr>
              <a:t>thứ hai của frame HDLC chứa địa chỉ của trạm thứ cấp, có thể là originator </a:t>
            </a:r>
            <a:r>
              <a:rPr lang="vi-VN" sz="2400" dirty="0" smtClean="0">
                <a:latin typeface="+mj-lt"/>
              </a:rPr>
              <a:t>hay</a:t>
            </a:r>
            <a:r>
              <a:rPr lang="en-US" sz="2400" dirty="0" smtClean="0">
                <a:latin typeface="+mj-lt"/>
              </a:rPr>
              <a:t> </a:t>
            </a:r>
            <a:r>
              <a:rPr lang="vi-VN" sz="2400" dirty="0" smtClean="0">
                <a:latin typeface="+mj-lt"/>
              </a:rPr>
              <a:t>destination </a:t>
            </a:r>
            <a:r>
              <a:rPr lang="vi-VN" sz="2400" dirty="0">
                <a:latin typeface="+mj-lt"/>
              </a:rPr>
              <a:t>của </a:t>
            </a:r>
            <a:r>
              <a:rPr lang="vi-VN" sz="2400" dirty="0" smtClean="0">
                <a:latin typeface="+mj-lt"/>
              </a:rPr>
              <a:t>frame</a:t>
            </a:r>
            <a:endParaRPr lang="en-US" sz="2400" dirty="0" smtClean="0">
              <a:latin typeface="+mj-lt"/>
            </a:endParaRPr>
          </a:p>
          <a:p>
            <a:r>
              <a:rPr lang="vi-VN" sz="2400" dirty="0" smtClean="0">
                <a:latin typeface="+mj-lt"/>
              </a:rPr>
              <a:t>Nếu </a:t>
            </a:r>
            <a:r>
              <a:rPr lang="vi-VN" sz="2400" dirty="0">
                <a:latin typeface="+mj-lt"/>
              </a:rPr>
              <a:t>trạm thứ cấp tạo ra một frame, thì frame này chứa </a:t>
            </a:r>
            <a:r>
              <a:rPr lang="vi-VN" sz="2400" i="1" dirty="0">
                <a:latin typeface="+mj-lt"/>
              </a:rPr>
              <a:t>from </a:t>
            </a:r>
            <a:r>
              <a:rPr lang="vi-VN" sz="2400" i="1" dirty="0" smtClean="0">
                <a:latin typeface="+mj-lt"/>
              </a:rPr>
              <a:t>address</a:t>
            </a:r>
            <a:r>
              <a:rPr lang="vi-VN" sz="2400" dirty="0" smtClean="0">
                <a:latin typeface="+mj-lt"/>
              </a:rPr>
              <a:t>.</a:t>
            </a:r>
            <a:endParaRPr lang="en-US" sz="2400" dirty="0" smtClean="0">
              <a:latin typeface="+mj-lt"/>
            </a:endParaRPr>
          </a:p>
          <a:p>
            <a:r>
              <a:rPr lang="vi-VN" sz="2400" dirty="0" smtClean="0">
                <a:latin typeface="+mj-lt"/>
              </a:rPr>
              <a:t>Trường </a:t>
            </a:r>
            <a:r>
              <a:rPr lang="vi-VN" sz="2400" dirty="0">
                <a:latin typeface="+mj-lt"/>
              </a:rPr>
              <a:t>địa chỉ có </a:t>
            </a:r>
            <a:r>
              <a:rPr lang="vi-VN" sz="2400" dirty="0" smtClean="0">
                <a:latin typeface="+mj-lt"/>
              </a:rPr>
              <a:t>thể</a:t>
            </a:r>
            <a:r>
              <a:rPr lang="en-US" sz="2400" dirty="0" smtClean="0">
                <a:latin typeface="+mj-lt"/>
              </a:rPr>
              <a:t> </a:t>
            </a:r>
            <a:r>
              <a:rPr lang="vi-VN" sz="2400" dirty="0" smtClean="0">
                <a:latin typeface="+mj-lt"/>
              </a:rPr>
              <a:t>dài </a:t>
            </a:r>
            <a:r>
              <a:rPr lang="vi-VN" sz="2400" dirty="0">
                <a:latin typeface="+mj-lt"/>
              </a:rPr>
              <a:t>một byte hay nhiều byte, tùy theo nhu cầu của </a:t>
            </a:r>
            <a:r>
              <a:rPr lang="vi-VN" sz="2400" dirty="0" smtClean="0">
                <a:latin typeface="+mj-lt"/>
              </a:rPr>
              <a:t>mạng</a:t>
            </a: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13" y="3670467"/>
            <a:ext cx="5678488" cy="283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64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93" y="1431235"/>
            <a:ext cx="11213107" cy="48661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 smtClean="0">
                <a:latin typeface="+mj-lt"/>
              </a:rPr>
              <a:t> </a:t>
            </a:r>
            <a:r>
              <a:rPr lang="vi-VN" sz="2400" b="1" dirty="0" smtClean="0">
                <a:latin typeface="+mj-lt"/>
              </a:rPr>
              <a:t>Control field</a:t>
            </a:r>
            <a:endParaRPr lang="en-US" sz="2400" b="1" dirty="0" smtClean="0">
              <a:latin typeface="+mj-lt"/>
            </a:endParaRPr>
          </a:p>
          <a:p>
            <a:pPr>
              <a:spcBef>
                <a:spcPts val="600"/>
              </a:spcBef>
            </a:pPr>
            <a:r>
              <a:rPr lang="vi-VN" sz="2400" dirty="0" smtClean="0">
                <a:latin typeface="+mj-lt"/>
              </a:rPr>
              <a:t>Trường </a:t>
            </a:r>
            <a:r>
              <a:rPr lang="vi-VN" sz="2400" dirty="0">
                <a:latin typeface="+mj-lt"/>
              </a:rPr>
              <a:t>điều khiển là đoạn gồm một hay nhiều byte của frame được dùng để quản </a:t>
            </a:r>
            <a:r>
              <a:rPr lang="vi-VN" sz="2400" dirty="0" smtClean="0">
                <a:latin typeface="+mj-lt"/>
              </a:rPr>
              <a:t>lý</a:t>
            </a:r>
            <a:endParaRPr lang="en-US" sz="2400" dirty="0" smtClean="0">
              <a:latin typeface="+mj-lt"/>
            </a:endParaRPr>
          </a:p>
          <a:p>
            <a:pPr>
              <a:spcBef>
                <a:spcPts val="600"/>
              </a:spcBef>
            </a:pPr>
            <a:r>
              <a:rPr lang="vi-VN" sz="2400" dirty="0" smtClean="0">
                <a:latin typeface="+mj-lt"/>
              </a:rPr>
              <a:t>Đầu </a:t>
            </a:r>
            <a:r>
              <a:rPr lang="vi-VN" sz="2400" dirty="0">
                <a:latin typeface="+mj-lt"/>
              </a:rPr>
              <a:t>tiên, khảo sát trường hợp một byte, rồi sẽ phát triển thành trường hợp 2 byte, được gọi </a:t>
            </a:r>
            <a:r>
              <a:rPr lang="vi-VN" sz="2400" dirty="0" smtClean="0">
                <a:latin typeface="+mj-lt"/>
              </a:rPr>
              <a:t>là</a:t>
            </a:r>
            <a:r>
              <a:rPr lang="en-US" sz="2400" dirty="0" smtClean="0">
                <a:latin typeface="+mj-lt"/>
              </a:rPr>
              <a:t> </a:t>
            </a:r>
            <a:r>
              <a:rPr lang="vi-VN" sz="2400" dirty="0" smtClean="0">
                <a:latin typeface="+mj-lt"/>
              </a:rPr>
              <a:t>chế </a:t>
            </a:r>
            <a:r>
              <a:rPr lang="vi-VN" sz="2400" dirty="0">
                <a:latin typeface="+mj-lt"/>
              </a:rPr>
              <a:t>độ mở </a:t>
            </a:r>
            <a:r>
              <a:rPr lang="vi-VN" sz="2400" dirty="0" smtClean="0">
                <a:latin typeface="+mj-lt"/>
              </a:rPr>
              <a:t>rộng</a:t>
            </a:r>
            <a:endParaRPr lang="en-US" sz="2400" dirty="0">
              <a:latin typeface="+mj-lt"/>
            </a:endParaRPr>
          </a:p>
          <a:p>
            <a:pPr>
              <a:spcBef>
                <a:spcPts val="600"/>
              </a:spcBef>
            </a:pPr>
            <a:r>
              <a:rPr lang="vi-VN" sz="2400" dirty="0" smtClean="0">
                <a:latin typeface="+mj-lt"/>
              </a:rPr>
              <a:t>Tùy </a:t>
            </a:r>
            <a:r>
              <a:rPr lang="vi-VN" sz="2400" dirty="0">
                <a:latin typeface="+mj-lt"/>
              </a:rPr>
              <a:t>theo dạng frame mà trường điều khiển có thể khác </a:t>
            </a:r>
            <a:r>
              <a:rPr lang="vi-VN" sz="2400" dirty="0" smtClean="0">
                <a:latin typeface="+mj-lt"/>
              </a:rPr>
              <a:t>nhau</a:t>
            </a:r>
            <a:endParaRPr lang="en-US" sz="2400" dirty="0" smtClean="0">
              <a:latin typeface="+mj-lt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N</a:t>
            </a:r>
            <a:r>
              <a:rPr lang="vi-VN" sz="2000" dirty="0" smtClean="0">
                <a:latin typeface="+mj-lt"/>
              </a:rPr>
              <a:t>ếu bit </a:t>
            </a:r>
            <a:r>
              <a:rPr lang="vi-VN" sz="2000" dirty="0">
                <a:latin typeface="+mj-lt"/>
              </a:rPr>
              <a:t>đầu tiên của trường điều khiển là 0, thì đó là </a:t>
            </a:r>
            <a:r>
              <a:rPr lang="vi-VN" sz="2000" dirty="0" smtClean="0">
                <a:latin typeface="+mj-lt"/>
              </a:rPr>
              <a:t>I-frame</a:t>
            </a:r>
            <a:endParaRPr lang="en-US" sz="2000" dirty="0" smtClean="0">
              <a:latin typeface="+mj-lt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N</a:t>
            </a:r>
            <a:r>
              <a:rPr lang="vi-VN" sz="2000" dirty="0" smtClean="0">
                <a:latin typeface="+mj-lt"/>
              </a:rPr>
              <a:t>ếu </a:t>
            </a:r>
            <a:r>
              <a:rPr lang="vi-VN" sz="2000" dirty="0">
                <a:latin typeface="+mj-lt"/>
              </a:rPr>
              <a:t>bit đầu là 1 và bit kế là 0 thì đó là </a:t>
            </a:r>
            <a:r>
              <a:rPr lang="vi-VN" sz="2000" dirty="0" smtClean="0">
                <a:latin typeface="+mj-lt"/>
              </a:rPr>
              <a:t>S-frame</a:t>
            </a:r>
            <a:endParaRPr lang="en-US" sz="2000" dirty="0" smtClean="0">
              <a:latin typeface="+mj-lt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N</a:t>
            </a:r>
            <a:r>
              <a:rPr lang="vi-VN" sz="2000" dirty="0" smtClean="0">
                <a:latin typeface="+mj-lt"/>
              </a:rPr>
              <a:t>ếu </a:t>
            </a:r>
            <a:r>
              <a:rPr lang="vi-VN" sz="2000" dirty="0">
                <a:latin typeface="+mj-lt"/>
              </a:rPr>
              <a:t>cả hai bit đầu và kế đều là 1, thì đó là </a:t>
            </a:r>
            <a:r>
              <a:rPr lang="vi-VN" sz="2000" dirty="0" smtClean="0">
                <a:latin typeface="+mj-lt"/>
              </a:rPr>
              <a:t>U-frame </a:t>
            </a: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0" y="4536178"/>
            <a:ext cx="7359650" cy="227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36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field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 thông tin chứa dữ liệu người dùng trong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I-frame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ạng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thông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 U-frame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S-frame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 có trường thông tin. </a:t>
            </a:r>
            <a:r>
              <a:rPr lang="vi-VN" dirty="0"/>
              <a:t/>
            </a:r>
            <a:br>
              <a:rPr lang="vi-VN" dirty="0"/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53" y="3590873"/>
            <a:ext cx="7904647" cy="221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367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FCS Field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Check Sequence (FCS) nằm trong trường kiểm tra lỗi của HDLC, trong đó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đến 4 byte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CRC </a:t>
            </a:r>
            <a:r>
              <a:rPr lang="vi-VN" dirty="0"/>
              <a:t/>
            </a:r>
            <a:br>
              <a:rPr lang="vi-VN" dirty="0"/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454" y="2881312"/>
            <a:ext cx="8065384" cy="177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38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9.3 </a:t>
            </a:r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mạng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 smtClean="0">
                <a:latin typeface="+mj-lt"/>
              </a:rPr>
              <a:t>Nhiều </a:t>
            </a:r>
            <a:r>
              <a:rPr lang="vi-VN" dirty="0">
                <a:latin typeface="+mj-lt"/>
              </a:rPr>
              <a:t>giao thức dựa trên phạm trù </a:t>
            </a:r>
            <a:r>
              <a:rPr lang="vi-VN" b="1" dirty="0">
                <a:latin typeface="+mj-lt"/>
              </a:rPr>
              <a:t>link access procedure </a:t>
            </a:r>
            <a:r>
              <a:rPr lang="vi-VN" dirty="0">
                <a:latin typeface="+mj-lt"/>
              </a:rPr>
              <a:t>(</a:t>
            </a:r>
            <a:r>
              <a:rPr lang="vi-VN" b="1" dirty="0">
                <a:latin typeface="+mj-lt"/>
              </a:rPr>
              <a:t>LAP</a:t>
            </a:r>
            <a:r>
              <a:rPr lang="vi-VN" dirty="0">
                <a:latin typeface="+mj-lt"/>
              </a:rPr>
              <a:t>) đã được phát </a:t>
            </a:r>
            <a:r>
              <a:rPr lang="vi-VN" dirty="0" smtClean="0">
                <a:latin typeface="+mj-lt"/>
              </a:rPr>
              <a:t>triển.</a:t>
            </a:r>
            <a:endParaRPr lang="en-US" dirty="0" smtClean="0">
              <a:latin typeface="+mj-lt"/>
            </a:endParaRPr>
          </a:p>
          <a:p>
            <a:r>
              <a:rPr lang="vi-VN" dirty="0" smtClean="0">
                <a:latin typeface="+mj-lt"/>
              </a:rPr>
              <a:t>Các </a:t>
            </a:r>
            <a:r>
              <a:rPr lang="vi-VN" dirty="0">
                <a:latin typeface="+mj-lt"/>
              </a:rPr>
              <a:t>giao thức đặc thù này là các tập con của HDLC trong các ứng dụng cụ </a:t>
            </a:r>
            <a:r>
              <a:rPr lang="vi-VN" dirty="0" smtClean="0">
                <a:latin typeface="+mj-lt"/>
              </a:rPr>
              <a:t>thể</a:t>
            </a:r>
            <a:endParaRPr lang="en-US" dirty="0" smtClean="0">
              <a:latin typeface="+mj-lt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rong đó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LAPB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(Link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Procedure, Balanced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LAPD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(Link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procedure for 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channel) 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LAPM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access procedure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modems)</a:t>
            </a:r>
            <a:r>
              <a:rPr lang="vi-VN" dirty="0"/>
              <a:t/>
            </a:r>
            <a:br>
              <a:rPr lang="vi-VN" dirty="0"/>
            </a:b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459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9.3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mạng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vi-VN" b="1" dirty="0" smtClean="0">
                <a:latin typeface="+mj-lt"/>
              </a:rPr>
              <a:t>LAPB</a:t>
            </a:r>
            <a:r>
              <a:rPr lang="en-US" b="1" dirty="0" smtClean="0">
                <a:latin typeface="+mj-lt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dirty="0" smtClean="0">
                <a:latin typeface="+mj-lt"/>
              </a:rPr>
              <a:t>à </a:t>
            </a:r>
            <a:r>
              <a:rPr lang="vi-VN" dirty="0">
                <a:latin typeface="+mj-lt"/>
              </a:rPr>
              <a:t>tập con của HDLC và chỉ </a:t>
            </a:r>
            <a:r>
              <a:rPr lang="vi-VN" dirty="0" smtClean="0">
                <a:latin typeface="+mj-lt"/>
              </a:rPr>
              <a:t>được</a:t>
            </a:r>
            <a:r>
              <a:rPr lang="en-US" dirty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dùng </a:t>
            </a:r>
            <a:r>
              <a:rPr lang="vi-VN" dirty="0">
                <a:latin typeface="+mj-lt"/>
              </a:rPr>
              <a:t>để kết nối một trạm với mạng. </a:t>
            </a:r>
            <a:r>
              <a:rPr lang="vi-VN" dirty="0" smtClean="0">
                <a:latin typeface="+mj-lt"/>
              </a:rPr>
              <a:t>Ch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uẩn</a:t>
            </a:r>
            <a:r>
              <a:rPr lang="vi-VN" dirty="0" smtClean="0">
                <a:latin typeface="+mj-lt"/>
              </a:rPr>
              <a:t> </a:t>
            </a:r>
            <a:r>
              <a:rPr lang="vi-VN" dirty="0">
                <a:latin typeface="+mj-lt"/>
              </a:rPr>
              <a:t>này chỉ cung cấp những chức năng cơ bản </a:t>
            </a:r>
            <a:r>
              <a:rPr lang="vi-VN" dirty="0" smtClean="0">
                <a:latin typeface="+mj-lt"/>
              </a:rPr>
              <a:t>cần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thiết </a:t>
            </a:r>
            <a:r>
              <a:rPr lang="vi-VN" dirty="0">
                <a:latin typeface="+mj-lt"/>
              </a:rPr>
              <a:t>để thông tin giữa DTE và </a:t>
            </a:r>
            <a:r>
              <a:rPr lang="vi-VN" dirty="0" smtClean="0">
                <a:latin typeface="+mj-lt"/>
              </a:rPr>
              <a:t>DCE</a:t>
            </a:r>
            <a:r>
              <a:rPr lang="en-US" dirty="0" smtClean="0">
                <a:latin typeface="+mj-lt"/>
              </a:rPr>
              <a:t>. </a:t>
            </a:r>
            <a:r>
              <a:rPr lang="vi-VN" dirty="0" smtClean="0">
                <a:latin typeface="+mj-lt"/>
              </a:rPr>
              <a:t>LAPB </a:t>
            </a:r>
            <a:r>
              <a:rPr lang="vi-VN" dirty="0">
                <a:latin typeface="+mj-lt"/>
              </a:rPr>
              <a:t>chỉ được dùng trong các cấu hình đối xứng giữa hai thiết </a:t>
            </a:r>
            <a:r>
              <a:rPr lang="vi-VN" dirty="0" smtClean="0">
                <a:latin typeface="+mj-lt"/>
              </a:rPr>
              <a:t>bị</a:t>
            </a:r>
            <a:r>
              <a:rPr lang="en-US" dirty="0" smtClean="0">
                <a:latin typeface="+mj-lt"/>
              </a:rPr>
              <a:t> (</a:t>
            </a:r>
            <a:r>
              <a:rPr lang="vi-VN" dirty="0" smtClean="0">
                <a:latin typeface="+mj-lt"/>
              </a:rPr>
              <a:t>LAPB </a:t>
            </a:r>
            <a:r>
              <a:rPr lang="vi-VN" dirty="0">
                <a:latin typeface="+mj-lt"/>
              </a:rPr>
              <a:t>hiện được dùng trong </a:t>
            </a:r>
            <a:r>
              <a:rPr lang="vi-VN" dirty="0" smtClean="0">
                <a:latin typeface="+mj-lt"/>
              </a:rPr>
              <a:t>ISDN, </a:t>
            </a:r>
            <a:r>
              <a:rPr lang="vi-VN" dirty="0">
                <a:latin typeface="+mj-lt"/>
              </a:rPr>
              <a:t>kênh </a:t>
            </a:r>
            <a:r>
              <a:rPr lang="vi-VN" dirty="0" smtClean="0">
                <a:latin typeface="+mj-lt"/>
              </a:rPr>
              <a:t>B</a:t>
            </a:r>
            <a:r>
              <a:rPr lang="en-US" dirty="0" smtClean="0">
                <a:latin typeface="+mj-lt"/>
              </a:rPr>
              <a:t>)</a:t>
            </a:r>
            <a:endParaRPr lang="en-US" dirty="0">
              <a:latin typeface="+mj-lt"/>
            </a:endParaRPr>
          </a:p>
          <a:p>
            <a:r>
              <a:rPr lang="vi-VN" b="1" dirty="0" smtClean="0">
                <a:latin typeface="+mj-lt"/>
              </a:rPr>
              <a:t>LAPD</a:t>
            </a:r>
            <a:r>
              <a:rPr lang="en-US" b="1" dirty="0" smtClean="0">
                <a:latin typeface="+mj-lt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dirty="0" smtClean="0">
                <a:latin typeface="+mj-lt"/>
              </a:rPr>
              <a:t>à </a:t>
            </a:r>
            <a:r>
              <a:rPr lang="vi-VN" dirty="0">
                <a:latin typeface="+mj-lt"/>
              </a:rPr>
              <a:t>một tập </a:t>
            </a:r>
            <a:r>
              <a:rPr lang="vi-VN" dirty="0" smtClean="0">
                <a:latin typeface="+mj-lt"/>
              </a:rPr>
              <a:t>con </a:t>
            </a:r>
            <a:r>
              <a:rPr lang="vi-VN" dirty="0">
                <a:latin typeface="+mj-lt"/>
              </a:rPr>
              <a:t>của </a:t>
            </a:r>
            <a:r>
              <a:rPr lang="vi-VN" dirty="0" smtClean="0">
                <a:latin typeface="+mj-lt"/>
              </a:rPr>
              <a:t>HDLC</a:t>
            </a:r>
            <a:r>
              <a:rPr lang="en-US" dirty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dùng </a:t>
            </a:r>
            <a:r>
              <a:rPr lang="vi-VN" dirty="0">
                <a:latin typeface="+mj-lt"/>
              </a:rPr>
              <a:t>trong ISDN và dùng với chế độ không đồng bộ cân bằng (</a:t>
            </a:r>
            <a:r>
              <a:rPr lang="vi-VN" dirty="0" smtClean="0">
                <a:latin typeface="+mj-lt"/>
              </a:rPr>
              <a:t>ABM)</a:t>
            </a:r>
            <a:endParaRPr lang="en-US" dirty="0" smtClean="0">
              <a:latin typeface="+mj-lt"/>
            </a:endParaRPr>
          </a:p>
          <a:p>
            <a:r>
              <a:rPr lang="vi-VN" b="1" dirty="0" smtClean="0">
                <a:latin typeface="+mj-lt"/>
              </a:rPr>
              <a:t>LAPM</a:t>
            </a:r>
            <a:r>
              <a:rPr lang="en-US" b="1" dirty="0" smtClean="0">
                <a:latin typeface="+mj-lt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dirty="0" smtClean="0">
                <a:latin typeface="+mj-lt"/>
              </a:rPr>
              <a:t>à </a:t>
            </a:r>
            <a:r>
              <a:rPr lang="vi-VN" dirty="0">
                <a:latin typeface="+mj-lt"/>
              </a:rPr>
              <a:t>tập </a:t>
            </a:r>
            <a:r>
              <a:rPr lang="vi-VN" dirty="0" smtClean="0">
                <a:latin typeface="+mj-lt"/>
              </a:rPr>
              <a:t>con </a:t>
            </a:r>
            <a:r>
              <a:rPr lang="vi-VN" dirty="0">
                <a:latin typeface="+mj-lt"/>
              </a:rPr>
              <a:t>của HDLC dùng </a:t>
            </a:r>
            <a:r>
              <a:rPr lang="vi-VN" dirty="0" smtClean="0">
                <a:latin typeface="+mj-lt"/>
              </a:rPr>
              <a:t>cho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modem</a:t>
            </a:r>
            <a:r>
              <a:rPr lang="vi-VN" dirty="0">
                <a:latin typeface="+mj-lt"/>
              </a:rPr>
              <a:t>. Được thiết kế cho chuyển đổi không đồng bộ-đồng bộ, phát hiện lỗi, và chuyển </a:t>
            </a:r>
            <a:r>
              <a:rPr lang="vi-VN" dirty="0" smtClean="0">
                <a:latin typeface="+mj-lt"/>
              </a:rPr>
              <a:t>lại.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Được </a:t>
            </a:r>
            <a:r>
              <a:rPr lang="vi-VN" dirty="0">
                <a:latin typeface="+mj-lt"/>
              </a:rPr>
              <a:t>phát triển cho các ứng dụng của HDLC trên modem </a:t>
            </a: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821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2073</Words>
  <Application>Microsoft Office PowerPoint</Application>
  <PresentationFormat>Custom</PresentationFormat>
  <Paragraphs>155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KỸ THUẬT TRUYỀN SỐ LIỆU</vt:lpstr>
      <vt:lpstr>Nội dung môn học</vt:lpstr>
      <vt:lpstr>                     Chương 9</vt:lpstr>
      <vt:lpstr>Nội dung chương 9</vt:lpstr>
      <vt:lpstr>Giao thức kết nối dữ liệu</vt:lpstr>
      <vt:lpstr>Giao thức kết nối dữ liệu</vt:lpstr>
      <vt:lpstr>9.1 Giao thức không đồng bộ</vt:lpstr>
      <vt:lpstr>XMODEM</vt:lpstr>
      <vt:lpstr>XMODEM</vt:lpstr>
      <vt:lpstr>YMODEM</vt:lpstr>
      <vt:lpstr>BLAST</vt:lpstr>
      <vt:lpstr>KERMIT</vt:lpstr>
      <vt:lpstr>9.2 Giao thức đồng bộ</vt:lpstr>
      <vt:lpstr>9.2.1 Các giao thức theo hướng kí tự</vt:lpstr>
      <vt:lpstr>9.2.1 Các giao thức theo hướng kí tự</vt:lpstr>
      <vt:lpstr>9.2.1 Các giao thức theo hướng kí tự</vt:lpstr>
      <vt:lpstr>9.2.1 Các giao thức theo hướng kí tự</vt:lpstr>
      <vt:lpstr>9.2.1 Các giao thức theo hướng kí tự</vt:lpstr>
      <vt:lpstr>9.2.2 Các giao thức theo hướng bit</vt:lpstr>
      <vt:lpstr>HDLC (high-level data link control) </vt:lpstr>
      <vt:lpstr>HDLC (high-level data link control) </vt:lpstr>
      <vt:lpstr>HDLC (high-level data link control) </vt:lpstr>
      <vt:lpstr>HDLC (high-level data link control) </vt:lpstr>
      <vt:lpstr>FRAMES</vt:lpstr>
      <vt:lpstr>FRAMES</vt:lpstr>
      <vt:lpstr>FRAMES</vt:lpstr>
      <vt:lpstr>FRAMES</vt:lpstr>
      <vt:lpstr>FRAMES</vt:lpstr>
      <vt:lpstr>9.3 Thủ tục truy cập kết nối mạng</vt:lpstr>
      <vt:lpstr>9.3 Thủ tục truy cập kết nối mạng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Toan Le</dc:creator>
  <cp:lastModifiedBy>NKCHI</cp:lastModifiedBy>
  <cp:revision>122</cp:revision>
  <dcterms:created xsi:type="dcterms:W3CDTF">2020-05-27T05:21:30Z</dcterms:created>
  <dcterms:modified xsi:type="dcterms:W3CDTF">2021-12-23T08:52:02Z</dcterms:modified>
</cp:coreProperties>
</file>