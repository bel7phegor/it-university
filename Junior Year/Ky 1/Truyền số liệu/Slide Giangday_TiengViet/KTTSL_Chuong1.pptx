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3" r:id="rId7"/>
    <p:sldId id="274" r:id="rId8"/>
    <p:sldId id="275" r:id="rId9"/>
    <p:sldId id="276" r:id="rId10"/>
    <p:sldId id="277" r:id="rId11"/>
    <p:sldId id="278" r:id="rId12"/>
    <p:sldId id="279" r:id="rId13"/>
    <p:sldId id="280" r:id="rId14"/>
    <p:sldId id="281" r:id="rId15"/>
    <p:sldId id="282"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989" autoAdjust="0"/>
    <p:restoredTop sz="94660"/>
  </p:normalViewPr>
  <p:slideViewPr>
    <p:cSldViewPr snapToGrid="0">
      <p:cViewPr varScale="1">
        <p:scale>
          <a:sx n="74" d="100"/>
          <a:sy n="74" d="100"/>
        </p:scale>
        <p:origin x="-504" y="-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A2C102-B8AE-4CC8-8DFD-907875E47A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BD06CCF0-B4C9-4910-B71B-BC5228E90B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87BE8D5-EACC-475F-B772-4C6E30ECC271}"/>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217793E9-AE2F-44EA-9261-CDDE0A3202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EB453C0-1394-4470-9C6B-5680634C4EC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31466898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8593C6-3D1B-460E-B901-F4BB8F0EFEF2}"/>
              </a:ext>
            </a:extLst>
          </p:cNvPr>
          <p:cNvSpPr>
            <a:spLocks noGrp="1"/>
          </p:cNvSpPr>
          <p:nvPr>
            <p:ph type="title"/>
          </p:nvPr>
        </p:nvSpPr>
        <p:spPr>
          <a:xfrm>
            <a:off x="2043484" y="365126"/>
            <a:ext cx="9310315" cy="946840"/>
          </a:xfrm>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AB9BE0FE-78F6-411B-A5F1-2D9DD895E4E1}"/>
              </a:ext>
            </a:extLst>
          </p:cNvPr>
          <p:cNvSpPr>
            <a:spLocks noGrp="1"/>
          </p:cNvSpPr>
          <p:nvPr>
            <p:ph idx="1"/>
          </p:nvPr>
        </p:nvSpPr>
        <p:spPr>
          <a:xfrm>
            <a:off x="572493" y="1431235"/>
            <a:ext cx="11100021" cy="48661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F687351A-05B1-4209-ABD5-8A3B58E66BEF}"/>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D29372B3-9D16-415C-AFC6-5D4652E2A4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4FC96612-9E2F-40CF-99EB-6E186AFA1352}"/>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82541760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F184B0-B474-49DB-90DF-EA5251578B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321C19F0-1FB7-4AE0-896E-2777B6C627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6464CF-570F-4361-9C22-BC3CA88D148C}"/>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E58B62D1-8837-45F2-8787-A2B9AB185F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8E02877-DE60-4015-8FCF-892ACE36AA54}"/>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14061975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78C28F-0E26-4450-B5E9-87FEB7BDC5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70A839B7-197F-4E24-9034-3FAB490EBD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94A0A18-C706-495C-B58F-7AF0D336D6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6C573B90-884B-4A9F-A8FA-7F1E17F9DBD1}"/>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6" name="Footer Placeholder 5">
            <a:extLst>
              <a:ext uri="{FF2B5EF4-FFF2-40B4-BE49-F238E27FC236}">
                <a16:creationId xmlns="" xmlns:a16="http://schemas.microsoft.com/office/drawing/2014/main" id="{488F9F5E-BDB1-45F3-BCE2-76B6520C3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884A89C-CCFA-45DE-98FF-AD7815AB839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31942534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97480A-21EF-4CFF-9025-CCD9FA4E3840}"/>
              </a:ext>
            </a:extLst>
          </p:cNvPr>
          <p:cNvSpPr>
            <a:spLocks noGrp="1"/>
          </p:cNvSpPr>
          <p:nvPr>
            <p:ph type="title"/>
          </p:nvPr>
        </p:nvSpPr>
        <p:spPr>
          <a:xfrm>
            <a:off x="2059536" y="365125"/>
            <a:ext cx="9295852" cy="959473"/>
          </a:xfrm>
        </p:spPr>
        <p:txBody>
          <a:bodyPr/>
          <a:lstStyle/>
          <a:p>
            <a:r>
              <a:rPr lang="en-US" dirty="0"/>
              <a:t>Click to edit Master title style</a:t>
            </a:r>
          </a:p>
        </p:txBody>
      </p:sp>
      <p:sp>
        <p:nvSpPr>
          <p:cNvPr id="3" name="Text Placeholder 2">
            <a:extLst>
              <a:ext uri="{FF2B5EF4-FFF2-40B4-BE49-F238E27FC236}">
                <a16:creationId xmlns="" xmlns:a16="http://schemas.microsoft.com/office/drawing/2014/main" id="{D58E34F7-5664-4D9D-945D-F455A3DFE8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230B20-378D-4F09-8BF3-DEC4AF859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3E6BB53C-6E2D-4274-9D7E-A670158CB3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F167D38A-88C4-4F01-BFB9-D94E541EC2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799B471D-3ADB-4293-9A4B-67CF34A75DFE}"/>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8" name="Footer Placeholder 7">
            <a:extLst>
              <a:ext uri="{FF2B5EF4-FFF2-40B4-BE49-F238E27FC236}">
                <a16:creationId xmlns="" xmlns:a16="http://schemas.microsoft.com/office/drawing/2014/main" id="{F3774760-CCCB-42BA-9A1B-D8E7D8A947C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183038AC-F431-4B77-9D3B-926E6AB6988E}"/>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79408659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8AF7B9-53C0-4585-9B89-2FBA7B701ED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6201745-3FA6-4569-A489-EF0EA162A557}"/>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4" name="Footer Placeholder 3">
            <a:extLst>
              <a:ext uri="{FF2B5EF4-FFF2-40B4-BE49-F238E27FC236}">
                <a16:creationId xmlns="" xmlns:a16="http://schemas.microsoft.com/office/drawing/2014/main" id="{7CBFEA74-BC5E-4B0B-835D-E657A873B5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BFD1EE18-4D1C-4701-8BBA-0169DC7CC463}"/>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5758413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019FDDA1-6ACB-4F4D-B161-8B6F5641054C}"/>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3" name="Footer Placeholder 2">
            <a:extLst>
              <a:ext uri="{FF2B5EF4-FFF2-40B4-BE49-F238E27FC236}">
                <a16:creationId xmlns="" xmlns:a16="http://schemas.microsoft.com/office/drawing/2014/main" id="{57317F60-55C3-4BB3-BDEB-861CA8251C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F1E89CA0-249C-4A75-A3B7-DBDE4463B167}"/>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293627094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54949C-EB4F-4ACF-8ADE-56A8C29C79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9E126C2B-8498-44CE-B005-71433DDBB6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6F0CAAFC-D17E-4850-87AB-4B0A70BF44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70FB378-A528-4D34-A3DA-9AAD4037616B}"/>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6" name="Footer Placeholder 5">
            <a:extLst>
              <a:ext uri="{FF2B5EF4-FFF2-40B4-BE49-F238E27FC236}">
                <a16:creationId xmlns="" xmlns:a16="http://schemas.microsoft.com/office/drawing/2014/main" id="{3BE1E530-6145-4EB0-B9A0-4C5FC5E735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F277388-E30C-4DA3-B6CF-2F6706424C68}"/>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77882685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74CB1-3943-4F0E-9F85-C3E76CA810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B93E7326-9859-4138-A3F6-5A4E1D605F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1411D02-CB68-43D9-85FC-185924DA25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16D51B13-BF22-4142-BD28-F2F7C6142ECF}"/>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6" name="Footer Placeholder 5">
            <a:extLst>
              <a:ext uri="{FF2B5EF4-FFF2-40B4-BE49-F238E27FC236}">
                <a16:creationId xmlns="" xmlns:a16="http://schemas.microsoft.com/office/drawing/2014/main" id="{29197E58-C0D2-4770-BF0F-B8560F934F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2179F60B-0CBB-4728-801E-BBB606D2C381}"/>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997075037"/>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85D5A0-D36B-42D3-8503-A08848E9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4B9DE344-B2E6-4D08-8EFD-71DBF31471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94F3758-74C8-452E-83A6-2CC57BC5F423}"/>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4A0A3BFC-EC66-4779-8648-8C5557A28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11D2088-CE38-4639-9C50-5E8FE341BD1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146818737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56662CB-0803-47C7-B8F3-343BD63757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DC913163-7159-4A13-99D8-0BF55A0089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8937CC0-663F-45FD-AF01-CB2762545C84}"/>
              </a:ext>
            </a:extLst>
          </p:cNvPr>
          <p:cNvSpPr>
            <a:spLocks noGrp="1"/>
          </p:cNvSpPr>
          <p:nvPr>
            <p:ph type="dt" sz="half" idx="10"/>
          </p:nvPr>
        </p:nvSpPr>
        <p:spPr/>
        <p:txBody>
          <a:body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36F24968-DE40-4BED-BFBB-FACFDD8CF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9C1762EC-6177-4132-ACB5-5C730475D94C}"/>
              </a:ext>
            </a:extLst>
          </p:cNvPr>
          <p:cNvSpPr>
            <a:spLocks noGrp="1"/>
          </p:cNvSpPr>
          <p:nvPr>
            <p:ph type="sldNum" sz="quarter" idx="12"/>
          </p:nvPr>
        </p:nvSpPr>
        <p:spPr/>
        <p:txBody>
          <a:bodyPr/>
          <a:lstStyle/>
          <a:p>
            <a:fld id="{4AAB023F-0D85-424A-AD30-ACA224193313}" type="slidenum">
              <a:rPr lang="en-US" smtClean="0"/>
              <a:pPr/>
              <a:t>‹#›</a:t>
            </a:fld>
            <a:endParaRPr lang="en-US"/>
          </a:p>
        </p:txBody>
      </p:sp>
    </p:spTree>
    <p:extLst>
      <p:ext uri="{BB962C8B-B14F-4D97-AF65-F5344CB8AC3E}">
        <p14:creationId xmlns:p14="http://schemas.microsoft.com/office/powerpoint/2010/main" val="311702460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2AD6C713-6B5B-4652-B919-0C9C326BA8FB}"/>
              </a:ext>
            </a:extLst>
          </p:cNvPr>
          <p:cNvSpPr>
            <a:spLocks noGrp="1"/>
          </p:cNvSpPr>
          <p:nvPr>
            <p:ph type="title"/>
          </p:nvPr>
        </p:nvSpPr>
        <p:spPr>
          <a:xfrm>
            <a:off x="2043484" y="365126"/>
            <a:ext cx="9310315" cy="93093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F103E2E6-5E74-4663-AD70-D00426D6A4CF}"/>
              </a:ext>
            </a:extLst>
          </p:cNvPr>
          <p:cNvSpPr>
            <a:spLocks noGrp="1"/>
          </p:cNvSpPr>
          <p:nvPr>
            <p:ph type="body" idx="1"/>
          </p:nvPr>
        </p:nvSpPr>
        <p:spPr>
          <a:xfrm>
            <a:off x="564543" y="1447137"/>
            <a:ext cx="10789257" cy="4729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9927BD6-A005-4E4E-8C32-0E1B6CC0CD1A}"/>
              </a:ext>
            </a:extLst>
          </p:cNvPr>
          <p:cNvSpPr>
            <a:spLocks noGrp="1"/>
          </p:cNvSpPr>
          <p:nvPr>
            <p:ph type="dt" sz="half" idx="2"/>
          </p:nvPr>
        </p:nvSpPr>
        <p:spPr>
          <a:xfrm>
            <a:off x="2050990" y="6520441"/>
            <a:ext cx="1530409" cy="346316"/>
          </a:xfrm>
          <a:prstGeom prst="rect">
            <a:avLst/>
          </a:prstGeom>
        </p:spPr>
        <p:txBody>
          <a:bodyPr vert="horz" lIns="91440" tIns="45720" rIns="91440" bIns="45720" rtlCol="0" anchor="ctr"/>
          <a:lstStyle>
            <a:lvl1pPr algn="l">
              <a:defRPr sz="1200">
                <a:solidFill>
                  <a:schemeClr val="tx1">
                    <a:tint val="75000"/>
                  </a:schemeClr>
                </a:solidFill>
              </a:defRPr>
            </a:lvl1pPr>
          </a:lstStyle>
          <a:p>
            <a:fld id="{084A6D4B-7653-4E0B-8F57-D38CF83377BB}" type="datetimeFigureOut">
              <a:rPr lang="en-US" smtClean="0"/>
              <a:pPr/>
              <a:t>9/5/2022</a:t>
            </a:fld>
            <a:endParaRPr lang="en-US"/>
          </a:p>
        </p:txBody>
      </p:sp>
      <p:sp>
        <p:nvSpPr>
          <p:cNvPr id="5" name="Footer Placeholder 4">
            <a:extLst>
              <a:ext uri="{FF2B5EF4-FFF2-40B4-BE49-F238E27FC236}">
                <a16:creationId xmlns="" xmlns:a16="http://schemas.microsoft.com/office/drawing/2014/main" id="{ED2D051F-F1D7-4D05-9D06-0B2E7BC10237}"/>
              </a:ext>
            </a:extLst>
          </p:cNvPr>
          <p:cNvSpPr>
            <a:spLocks noGrp="1"/>
          </p:cNvSpPr>
          <p:nvPr>
            <p:ph type="ftr" sz="quarter" idx="3"/>
          </p:nvPr>
        </p:nvSpPr>
        <p:spPr>
          <a:xfrm>
            <a:off x="4038600" y="6528987"/>
            <a:ext cx="4114800" cy="3292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A191EC13-E05F-4BCF-8EC0-B2CDC677738E}"/>
              </a:ext>
            </a:extLst>
          </p:cNvPr>
          <p:cNvSpPr>
            <a:spLocks noGrp="1"/>
          </p:cNvSpPr>
          <p:nvPr>
            <p:ph type="sldNum" sz="quarter" idx="4"/>
          </p:nvPr>
        </p:nvSpPr>
        <p:spPr>
          <a:xfrm>
            <a:off x="8610600" y="6528987"/>
            <a:ext cx="2743200" cy="329224"/>
          </a:xfrm>
          <a:prstGeom prst="rect">
            <a:avLst/>
          </a:prstGeom>
        </p:spPr>
        <p:txBody>
          <a:bodyPr vert="horz" lIns="91440" tIns="45720" rIns="91440" bIns="45720" rtlCol="0" anchor="ctr"/>
          <a:lstStyle>
            <a:lvl1pPr algn="r">
              <a:defRPr sz="1200">
                <a:solidFill>
                  <a:schemeClr val="tx1">
                    <a:tint val="75000"/>
                  </a:schemeClr>
                </a:solidFill>
              </a:defRPr>
            </a:lvl1pPr>
          </a:lstStyle>
          <a:p>
            <a:fld id="{4AAB023F-0D85-424A-AD30-ACA224193313}" type="slidenum">
              <a:rPr lang="en-US" smtClean="0"/>
              <a:pPr/>
              <a:t>‹#›</a:t>
            </a:fld>
            <a:endParaRPr lang="en-US"/>
          </a:p>
        </p:txBody>
      </p:sp>
    </p:spTree>
    <p:extLst>
      <p:ext uri="{BB962C8B-B14F-4D97-AF65-F5344CB8AC3E}">
        <p14:creationId xmlns:p14="http://schemas.microsoft.com/office/powerpoint/2010/main" val="4060027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D286FF-B124-458F-B57B-2B1D24945A8B}"/>
              </a:ext>
            </a:extLst>
          </p:cNvPr>
          <p:cNvSpPr>
            <a:spLocks noGrp="1"/>
          </p:cNvSpPr>
          <p:nvPr>
            <p:ph type="ctrTitle"/>
          </p:nvPr>
        </p:nvSpPr>
        <p:spPr/>
        <p:txBody>
          <a:bodyPr>
            <a:normAutofit/>
          </a:bodyPr>
          <a:lstStyle/>
          <a:p>
            <a:r>
              <a:rPr lang="en-US" sz="4400" dirty="0" smtClean="0"/>
              <a:t>KỸ THUẬT TRUYỀN SỐ LIỆU</a:t>
            </a:r>
            <a:endParaRPr lang="en-US" sz="4400" dirty="0"/>
          </a:p>
        </p:txBody>
      </p:sp>
      <p:sp>
        <p:nvSpPr>
          <p:cNvPr id="3" name="Subtitle 2">
            <a:extLst>
              <a:ext uri="{FF2B5EF4-FFF2-40B4-BE49-F238E27FC236}">
                <a16:creationId xmlns="" xmlns:a16="http://schemas.microsoft.com/office/drawing/2014/main" id="{5B71ED79-E603-4351-A7EB-B158BDF0BA05}"/>
              </a:ext>
            </a:extLst>
          </p:cNvPr>
          <p:cNvSpPr>
            <a:spLocks noGrp="1"/>
          </p:cNvSpPr>
          <p:nvPr>
            <p:ph type="subTitle" idx="1"/>
          </p:nvPr>
        </p:nvSpPr>
        <p:spPr/>
        <p:txBody>
          <a:bodyPr>
            <a:normAutofit/>
          </a:bodyPr>
          <a:lstStyle/>
          <a:p>
            <a:r>
              <a:rPr lang="en-US" sz="3200" dirty="0" smtClean="0"/>
              <a:t>(DATA COMMUNICATION TECHNOLOGY)</a:t>
            </a:r>
            <a:endParaRPr lang="en-US" sz="3200" dirty="0"/>
          </a:p>
        </p:txBody>
      </p:sp>
    </p:spTree>
    <p:extLst>
      <p:ext uri="{BB962C8B-B14F-4D97-AF65-F5344CB8AC3E}">
        <p14:creationId xmlns:p14="http://schemas.microsoft.com/office/powerpoint/2010/main" val="14560913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D1B0C-9F51-49D2-9435-3E7CBF678872}"/>
              </a:ext>
            </a:extLst>
          </p:cNvPr>
          <p:cNvSpPr>
            <a:spLocks noGrp="1"/>
          </p:cNvSpPr>
          <p:nvPr>
            <p:ph type="title"/>
          </p:nvPr>
        </p:nvSpPr>
        <p:spPr>
          <a:xfrm>
            <a:off x="2043484" y="365126"/>
            <a:ext cx="9310315" cy="1137672"/>
          </a:xfrm>
        </p:spPr>
        <p:txBody>
          <a:bodyPr/>
          <a:lstStyle/>
          <a:p>
            <a:r>
              <a:rPr lang="en-US" dirty="0" smtClean="0"/>
              <a:t>Nội dung môn học</a:t>
            </a:r>
            <a:endParaRPr lang="en-US" dirty="0"/>
          </a:p>
        </p:txBody>
      </p:sp>
      <p:sp>
        <p:nvSpPr>
          <p:cNvPr id="3" name="Content Placeholder 2">
            <a:extLst>
              <a:ext uri="{FF2B5EF4-FFF2-40B4-BE49-F238E27FC236}">
                <a16:creationId xmlns="" xmlns:a16="http://schemas.microsoft.com/office/drawing/2014/main" id="{093BB65F-E818-4AC8-969E-874A837A92F9}"/>
              </a:ext>
            </a:extLst>
          </p:cNvPr>
          <p:cNvSpPr>
            <a:spLocks noGrp="1"/>
          </p:cNvSpPr>
          <p:nvPr>
            <p:ph idx="1"/>
          </p:nvPr>
        </p:nvSpPr>
        <p:spPr>
          <a:xfrm>
            <a:off x="469127" y="1543050"/>
            <a:ext cx="11235193" cy="5029200"/>
          </a:xfrm>
        </p:spPr>
        <p:txBody>
          <a:bodyPr>
            <a:normAutofit fontScale="92500" lnSpcReduction="10000"/>
          </a:bodyPr>
          <a:lstStyle/>
          <a:p>
            <a:r>
              <a:rPr lang="en-US" sz="3200" b="1" dirty="0" smtClean="0"/>
              <a:t>Chương 1: </a:t>
            </a:r>
            <a:r>
              <a:rPr lang="en-US" sz="3200" dirty="0" smtClean="0"/>
              <a:t>Các khái niệm cơ bản</a:t>
            </a:r>
          </a:p>
          <a:p>
            <a:r>
              <a:rPr lang="en-US" sz="3200" b="1" dirty="0" smtClean="0"/>
              <a:t>Chương 2: </a:t>
            </a:r>
            <a:r>
              <a:rPr lang="en-US" sz="3200" dirty="0" smtClean="0"/>
              <a:t>Mô hình OSI</a:t>
            </a:r>
          </a:p>
          <a:p>
            <a:r>
              <a:rPr lang="en-US" sz="3200" b="1" dirty="0" smtClean="0"/>
              <a:t>Chương 3: </a:t>
            </a:r>
            <a:r>
              <a:rPr lang="en-US" sz="3200" dirty="0" smtClean="0"/>
              <a:t>Tín hiệu</a:t>
            </a:r>
          </a:p>
          <a:p>
            <a:r>
              <a:rPr lang="en-US" sz="3200" b="1" dirty="0" smtClean="0"/>
              <a:t>Chương 4: </a:t>
            </a:r>
            <a:r>
              <a:rPr lang="en-US" sz="3200" dirty="0" smtClean="0"/>
              <a:t>Mã hóa và điều chế</a:t>
            </a:r>
          </a:p>
          <a:p>
            <a:r>
              <a:rPr lang="en-US" sz="3200" b="1" dirty="0" smtClean="0"/>
              <a:t>Chương 5: </a:t>
            </a:r>
            <a:r>
              <a:rPr lang="en-US" sz="3200" dirty="0" smtClean="0"/>
              <a:t>Truyền dữ liệu số</a:t>
            </a:r>
          </a:p>
          <a:p>
            <a:r>
              <a:rPr lang="en-US" sz="3200" b="1" dirty="0" smtClean="0"/>
              <a:t>Chương 6: </a:t>
            </a:r>
            <a:r>
              <a:rPr lang="en-US" sz="3200" dirty="0" smtClean="0"/>
              <a:t>Môi trường truyền dẫn </a:t>
            </a:r>
          </a:p>
          <a:p>
            <a:r>
              <a:rPr lang="en-US" sz="3200" b="1" dirty="0" smtClean="0"/>
              <a:t>Chương 7: </a:t>
            </a:r>
            <a:r>
              <a:rPr lang="en-US" sz="3200" dirty="0" smtClean="0"/>
              <a:t>Ghép kênh</a:t>
            </a:r>
          </a:p>
          <a:p>
            <a:r>
              <a:rPr lang="en-US" sz="3200" b="1" dirty="0" smtClean="0"/>
              <a:t>Chương 8: </a:t>
            </a:r>
            <a:r>
              <a:rPr lang="en-US" sz="3200" dirty="0" smtClean="0"/>
              <a:t>Điều khiển kết nối và phát hiện sửa lỗi</a:t>
            </a:r>
          </a:p>
          <a:p>
            <a:r>
              <a:rPr lang="en-US" sz="3200" b="1" dirty="0" smtClean="0"/>
              <a:t>Chương 9: </a:t>
            </a:r>
            <a:r>
              <a:rPr lang="en-US" sz="3200" dirty="0" smtClean="0"/>
              <a:t>Giao thức kết nối dữ liệu</a:t>
            </a:r>
          </a:p>
          <a:p>
            <a:r>
              <a:rPr lang="en-US" sz="3200" b="1" dirty="0" smtClean="0"/>
              <a:t>Chương 10: </a:t>
            </a:r>
            <a:r>
              <a:rPr lang="en-US" sz="3200" dirty="0" smtClean="0"/>
              <a:t>Mạng cục bộ</a:t>
            </a:r>
          </a:p>
        </p:txBody>
      </p:sp>
    </p:spTree>
    <p:extLst>
      <p:ext uri="{BB962C8B-B14F-4D97-AF65-F5344CB8AC3E}">
        <p14:creationId xmlns:p14="http://schemas.microsoft.com/office/powerpoint/2010/main" val="3486448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Tài liệu học tập</a:t>
            </a:r>
            <a:endParaRPr lang="vi-VN" dirty="0"/>
          </a:p>
        </p:txBody>
      </p:sp>
      <p:sp>
        <p:nvSpPr>
          <p:cNvPr id="3" name="Content Placeholder 2"/>
          <p:cNvSpPr>
            <a:spLocks noGrp="1"/>
          </p:cNvSpPr>
          <p:nvPr>
            <p:ph idx="1"/>
          </p:nvPr>
        </p:nvSpPr>
        <p:spPr>
          <a:xfrm>
            <a:off x="572493" y="1431234"/>
            <a:ext cx="11100021" cy="5064815"/>
          </a:xfrm>
        </p:spPr>
        <p:txBody>
          <a:bodyPr>
            <a:normAutofit/>
          </a:bodyPr>
          <a:lstStyle/>
          <a:p>
            <a:pPr>
              <a:buFont typeface="Wingdings" pitchFamily="2" charset="2"/>
              <a:buChar char="v"/>
            </a:pPr>
            <a:r>
              <a:rPr lang="en-US" sz="3200" b="1" dirty="0" smtClean="0"/>
              <a:t> Giáo trình</a:t>
            </a:r>
          </a:p>
          <a:p>
            <a:r>
              <a:rPr lang="vi-VN" dirty="0" smtClean="0"/>
              <a:t>[</a:t>
            </a:r>
            <a:r>
              <a:rPr lang="en-US" dirty="0" smtClean="0"/>
              <a:t>1]Nguyễn Việt Hùng (chủ biên), Kỹ thuật truyền số liệu</a:t>
            </a:r>
            <a:r>
              <a:rPr lang="vi-VN" dirty="0" smtClean="0"/>
              <a:t>, </a:t>
            </a:r>
            <a:r>
              <a:rPr lang="en-US" dirty="0" smtClean="0"/>
              <a:t>NXB Đại học Quốc gia TP HCM, Năm 2013..</a:t>
            </a:r>
          </a:p>
          <a:p>
            <a:pPr>
              <a:buFont typeface="Wingdings" pitchFamily="2" charset="2"/>
              <a:buChar char="v"/>
            </a:pPr>
            <a:r>
              <a:rPr lang="en-US" sz="3200" b="1" dirty="0" smtClean="0"/>
              <a:t> Giáo trình tham khảo</a:t>
            </a:r>
          </a:p>
          <a:p>
            <a:r>
              <a:rPr lang="vi-VN" sz="2600" dirty="0" smtClean="0"/>
              <a:t>[</a:t>
            </a:r>
            <a:r>
              <a:rPr lang="en-US" sz="2600" dirty="0" smtClean="0"/>
              <a:t>1]</a:t>
            </a:r>
            <a:r>
              <a:rPr lang="vi-VN" sz="2600" dirty="0" smtClean="0"/>
              <a:t>Data and Computer Communication (9th Edition) – William Stalling, Pearson Education</a:t>
            </a:r>
            <a:r>
              <a:rPr lang="en-US" sz="2600" dirty="0" smtClean="0"/>
              <a:t> </a:t>
            </a:r>
            <a:r>
              <a:rPr lang="vi-VN" sz="2600" dirty="0" smtClean="0"/>
              <a:t>International, 2007. </a:t>
            </a:r>
            <a:endParaRPr lang="en-US" sz="2600" dirty="0" smtClean="0"/>
          </a:p>
          <a:p>
            <a:r>
              <a:rPr lang="en-US" sz="2600" dirty="0" smtClean="0"/>
              <a:t>[2] </a:t>
            </a:r>
            <a:r>
              <a:rPr lang="vi-VN" sz="2600" dirty="0" smtClean="0"/>
              <a:t>Nguyễn Hồng Sơn, Kỹ thuật Truyền Số liệu, NXB Văn hóa-Thông tin</a:t>
            </a:r>
            <a:endParaRPr lang="en-US" sz="2600" dirty="0" smtClean="0"/>
          </a:p>
          <a:p>
            <a:r>
              <a:rPr lang="en-US" sz="2600" dirty="0" smtClean="0"/>
              <a:t>[3] </a:t>
            </a:r>
            <a:r>
              <a:rPr lang="vi-VN" sz="2600" dirty="0" smtClean="0"/>
              <a:t>Computer Networks (4th edition) – Andrew S. Tanenbaum, Prentice Hall, 2003.</a:t>
            </a:r>
            <a:endParaRPr lang="en-US" sz="2600" dirty="0" smtClean="0"/>
          </a:p>
          <a:p>
            <a:r>
              <a:rPr lang="vi-VN" sz="2600" dirty="0" smtClean="0"/>
              <a:t>[</a:t>
            </a:r>
            <a:r>
              <a:rPr lang="en-US" sz="2600" dirty="0" smtClean="0"/>
              <a:t>4</a:t>
            </a:r>
            <a:r>
              <a:rPr lang="vi-VN" sz="2600" dirty="0" smtClean="0"/>
              <a:t>] Đinh Công Đoan, Bài giảng KT truyền số liệu, ĐH. SPKT Tp. HCM, 2008.</a:t>
            </a:r>
            <a:endParaRPr lang="en-US" sz="2600" dirty="0" smtClean="0"/>
          </a:p>
        </p:txBody>
      </p:sp>
    </p:spTree>
    <p:extLst>
      <p:ext uri="{BB962C8B-B14F-4D97-AF65-F5344CB8AC3E}">
        <p14:creationId xmlns:p14="http://schemas.microsoft.com/office/powerpoint/2010/main" val="31661321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Chương 1</a:t>
            </a:r>
            <a:endParaRPr lang="en-US" b="1" dirty="0"/>
          </a:p>
        </p:txBody>
      </p:sp>
      <p:sp>
        <p:nvSpPr>
          <p:cNvPr id="3" name="Content Placeholder 2"/>
          <p:cNvSpPr>
            <a:spLocks noGrp="1"/>
          </p:cNvSpPr>
          <p:nvPr>
            <p:ph idx="1"/>
          </p:nvPr>
        </p:nvSpPr>
        <p:spPr/>
        <p:txBody>
          <a:bodyPr>
            <a:normAutofit/>
          </a:bodyPr>
          <a:lstStyle/>
          <a:p>
            <a:pPr algn="ctr">
              <a:buNone/>
            </a:pPr>
            <a:r>
              <a:rPr lang="en-US" sz="4800" dirty="0" smtClean="0">
                <a:latin typeface="Times New Roman" pitchFamily="18" charset="0"/>
                <a:cs typeface="Times New Roman" pitchFamily="18" charset="0"/>
              </a:rPr>
              <a:t>CÁC KHÁI NIỆM CƠ BẢN</a:t>
            </a:r>
            <a:endParaRPr lang="en-US" sz="48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Nội dung chương 1</a:t>
            </a:r>
            <a:endParaRPr lang="en-US" dirty="0"/>
          </a:p>
        </p:txBody>
      </p:sp>
      <p:sp>
        <p:nvSpPr>
          <p:cNvPr id="3" name="Content Placeholder 2"/>
          <p:cNvSpPr>
            <a:spLocks noGrp="1"/>
          </p:cNvSpPr>
          <p:nvPr>
            <p:ph idx="1"/>
          </p:nvPr>
        </p:nvSpPr>
        <p:spPr/>
        <p:txBody>
          <a:bodyPr>
            <a:normAutofit/>
          </a:bodyPr>
          <a:lstStyle/>
          <a:p>
            <a:r>
              <a:rPr lang="en-US" sz="4000" dirty="0" smtClean="0"/>
              <a:t>Cấu hình đường dây</a:t>
            </a:r>
          </a:p>
          <a:p>
            <a:r>
              <a:rPr lang="en-US" sz="4000" dirty="0" smtClean="0"/>
              <a:t>Topo mạng</a:t>
            </a:r>
          </a:p>
          <a:p>
            <a:r>
              <a:rPr lang="en-US" sz="4000" dirty="0" smtClean="0"/>
              <a:t>Chế độ truyền dẫn</a:t>
            </a:r>
          </a:p>
          <a:p>
            <a:r>
              <a:rPr lang="en-US" sz="4000" dirty="0" smtClean="0"/>
              <a:t>Các hình thái mạng truyền dẫn</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1.1 Cấu hình đường dây</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Times New Roman" pitchFamily="18" charset="0"/>
                <a:cs typeface="Times New Roman" pitchFamily="18" charset="0"/>
              </a:rPr>
              <a:t> Khái niệm: </a:t>
            </a:r>
            <a:r>
              <a:rPr lang="vi-VN" sz="3200" dirty="0" smtClean="0">
                <a:latin typeface="Times New Roman" pitchFamily="18" charset="0"/>
                <a:cs typeface="Times New Roman" pitchFamily="18" charset="0"/>
              </a:rPr>
              <a:t>Cấu hình đường dây là phương thức để hai hay nhiều thiết bị mắc vào kết nối.</a:t>
            </a:r>
            <a:endParaRPr lang="en-US" sz="3200" dirty="0" smtClean="0">
              <a:latin typeface="Times New Roman" pitchFamily="18" charset="0"/>
              <a:cs typeface="Times New Roman" pitchFamily="18" charset="0"/>
            </a:endParaRPr>
          </a:p>
          <a:p>
            <a:r>
              <a:rPr lang="vi-VN" sz="3200" dirty="0" smtClean="0">
                <a:latin typeface="Times New Roman" pitchFamily="18" charset="0"/>
                <a:cs typeface="Times New Roman" pitchFamily="18" charset="0"/>
              </a:rPr>
              <a:t>Kết nối (link) là đường truyền thông tin vật lý để truyền dữ liệu từ thiết bị này sang thiết bị khác, đường thẳng kết nối hai điểm.</a:t>
            </a:r>
            <a:endParaRPr lang="en-US" sz="3200" dirty="0" smtClean="0">
              <a:latin typeface="Times New Roman" pitchFamily="18" charset="0"/>
              <a:cs typeface="Times New Roman" pitchFamily="18" charset="0"/>
            </a:endParaRPr>
          </a:p>
          <a:p>
            <a:pPr>
              <a:buFont typeface="Wingdings" pitchFamily="2" charset="2"/>
              <a:buChar char="v"/>
            </a:pPr>
            <a:r>
              <a:rPr lang="en-US" sz="3200" b="1" dirty="0" smtClean="0">
                <a:latin typeface="Times New Roman" pitchFamily="18" charset="0"/>
                <a:cs typeface="Times New Roman" pitchFamily="18" charset="0"/>
              </a:rPr>
              <a:t> </a:t>
            </a:r>
            <a:r>
              <a:rPr lang="vi-VN" sz="3200" b="1" dirty="0" smtClean="0">
                <a:latin typeface="Times New Roman" pitchFamily="18" charset="0"/>
                <a:cs typeface="Times New Roman" pitchFamily="18" charset="0"/>
              </a:rPr>
              <a:t>Phân loại:</a:t>
            </a:r>
            <a:r>
              <a:rPr lang="en-US" sz="3200" b="1" dirty="0" smtClean="0">
                <a:latin typeface="Times New Roman" pitchFamily="18" charset="0"/>
                <a:cs typeface="Times New Roman" pitchFamily="18" charset="0"/>
              </a:rPr>
              <a:t> </a:t>
            </a:r>
            <a:r>
              <a:rPr lang="vi-VN" sz="3200" dirty="0" smtClean="0">
                <a:latin typeface="Times New Roman" pitchFamily="18" charset="0"/>
                <a:cs typeface="Times New Roman" pitchFamily="18" charset="0"/>
              </a:rPr>
              <a:t>Có hai loại cấu hình đường dây:  </a:t>
            </a:r>
          </a:p>
          <a:p>
            <a:r>
              <a:rPr lang="vi-VN" sz="3200" dirty="0" smtClean="0">
                <a:latin typeface="Times New Roman" pitchFamily="18" charset="0"/>
                <a:cs typeface="Times New Roman" pitchFamily="18" charset="0"/>
              </a:rPr>
              <a:t>Cấu hình điểm - điểm  </a:t>
            </a:r>
          </a:p>
          <a:p>
            <a:r>
              <a:rPr lang="vi-VN" sz="3200" dirty="0" smtClean="0">
                <a:latin typeface="Times New Roman" pitchFamily="18" charset="0"/>
                <a:cs typeface="Times New Roman" pitchFamily="18" charset="0"/>
              </a:rPr>
              <a:t>Cấu hình đa điểm  </a:t>
            </a:r>
            <a:endParaRPr lang="en-US" sz="32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Cấu hình điểm - điểm (point to point)</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vi-VN" sz="3200" b="1" dirty="0" smtClean="0">
                <a:latin typeface="+mj-lt"/>
              </a:rPr>
              <a:t>Đặc điểm:  </a:t>
            </a:r>
          </a:p>
          <a:p>
            <a:r>
              <a:rPr lang="vi-VN" sz="3200" dirty="0" smtClean="0">
                <a:latin typeface="+mj-lt"/>
              </a:rPr>
              <a:t>Cấu hình điểm - điểm cung cấp kết nối được dành riêng cho hai thiết bị. </a:t>
            </a:r>
          </a:p>
          <a:p>
            <a:r>
              <a:rPr lang="vi-VN" sz="3200" dirty="0" smtClean="0">
                <a:latin typeface="+mj-lt"/>
              </a:rPr>
              <a:t>Toàn dung lượng kênh được dùng cho truyền dẫn giữa hai thiết bị.  </a:t>
            </a:r>
          </a:p>
          <a:p>
            <a:r>
              <a:rPr lang="vi-VN" sz="3200" dirty="0" smtClean="0">
                <a:latin typeface="+mj-lt"/>
              </a:rPr>
              <a:t>Hầu hết cấu hình điểm -điểm đều dùng dây hay cáp để nối hai</a:t>
            </a:r>
            <a:r>
              <a:rPr lang="en-US" sz="3200" dirty="0" smtClean="0">
                <a:latin typeface="+mj-lt"/>
              </a:rPr>
              <a:t> </a:t>
            </a:r>
            <a:r>
              <a:rPr lang="vi-VN" sz="3200" dirty="0" smtClean="0">
                <a:latin typeface="+mj-lt"/>
              </a:rPr>
              <a:t>điểm (hoặc vô tuyến: vi ba, vệ tinh, hồng ngoại) </a:t>
            </a:r>
            <a:endParaRPr lang="en-US" sz="3200" dirty="0">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Cấu hình điểm - điểm (point to point)</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Ưu điểm: </a:t>
            </a:r>
          </a:p>
          <a:p>
            <a:r>
              <a:rPr lang="vi-VN" sz="3200" dirty="0" smtClean="0">
                <a:latin typeface="+mj-lt"/>
              </a:rPr>
              <a:t>Không cần giải quyết bài toán lưu thông </a:t>
            </a:r>
          </a:p>
          <a:p>
            <a:r>
              <a:rPr lang="vi-VN" sz="3200" dirty="0" smtClean="0">
                <a:latin typeface="+mj-lt"/>
              </a:rPr>
              <a:t>Phát hiện và tách lỗi dễ dàng </a:t>
            </a:r>
          </a:p>
          <a:p>
            <a:r>
              <a:rPr lang="vi-VN" sz="3200" dirty="0" smtClean="0">
                <a:latin typeface="+mj-lt"/>
              </a:rPr>
              <a:t>Đảm tính riêng tư (Bảo mật) </a:t>
            </a:r>
          </a:p>
          <a:p>
            <a:pPr>
              <a:buFont typeface="Wingdings" pitchFamily="2" charset="2"/>
              <a:buChar char="v"/>
            </a:pPr>
            <a:r>
              <a:rPr lang="en-US" sz="3200" b="1" dirty="0" smtClean="0">
                <a:latin typeface="+mj-lt"/>
              </a:rPr>
              <a:t> </a:t>
            </a:r>
            <a:r>
              <a:rPr lang="vi-VN" sz="3200" b="1" dirty="0" smtClean="0">
                <a:latin typeface="+mj-lt"/>
              </a:rPr>
              <a:t>Khuyết điểm: </a:t>
            </a:r>
            <a:endParaRPr lang="en-US" sz="3200" b="1" dirty="0" smtClean="0">
              <a:latin typeface="+mj-lt"/>
            </a:endParaRPr>
          </a:p>
          <a:p>
            <a:r>
              <a:rPr lang="vi-VN" sz="3200" dirty="0" smtClean="0">
                <a:latin typeface="+mj-lt"/>
              </a:rPr>
              <a:t>Hiệu qủa sử dụng không cao</a:t>
            </a:r>
            <a:r>
              <a:rPr lang="en-US" sz="3200" dirty="0" smtClean="0">
                <a:latin typeface="+mj-lt"/>
              </a:rPr>
              <a:t> </a:t>
            </a:r>
            <a:r>
              <a:rPr lang="vi-VN" sz="3200" dirty="0" smtClean="0">
                <a:latin typeface="+mj-lt"/>
              </a:rPr>
              <a:t>(Khi tần suất sử dụng thấp) </a:t>
            </a:r>
            <a:endParaRPr lang="en-US" sz="32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Cấu hình đa điểm (multipoint)</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Cấu hình đa điểm: kết nối có nhiều hơn hai thiết bị trên đường truyền.  </a:t>
            </a:r>
          </a:p>
          <a:p>
            <a:r>
              <a:rPr lang="vi-VN" sz="3200" dirty="0" smtClean="0">
                <a:latin typeface="+mj-lt"/>
              </a:rPr>
              <a:t>Dung lượng kênh được chia sẻ theo thời gian. </a:t>
            </a:r>
            <a:endParaRPr lang="en-US" sz="3200" dirty="0" smtClean="0">
              <a:latin typeface="+mj-lt"/>
            </a:endParaRPr>
          </a:p>
          <a:p>
            <a:pPr>
              <a:buFont typeface="Wingdings" pitchFamily="2" charset="2"/>
              <a:buChar char="v"/>
            </a:pPr>
            <a:r>
              <a:rPr lang="en-US" sz="3200" b="1" dirty="0" smtClean="0">
                <a:latin typeface="+mj-lt"/>
              </a:rPr>
              <a:t> </a:t>
            </a:r>
            <a:r>
              <a:rPr lang="vi-VN" sz="3200" b="1" dirty="0" smtClean="0">
                <a:latin typeface="+mj-lt"/>
              </a:rPr>
              <a:t>Ưu điểm: </a:t>
            </a:r>
            <a:r>
              <a:rPr lang="vi-VN" sz="3200" dirty="0" smtClean="0">
                <a:latin typeface="+mj-lt"/>
              </a:rPr>
              <a:t>Hiệu </a:t>
            </a:r>
            <a:r>
              <a:rPr lang="en-US" sz="3200" dirty="0" smtClean="0">
                <a:latin typeface="Times New Roman" pitchFamily="18" charset="0"/>
                <a:cs typeface="Times New Roman" pitchFamily="18" charset="0"/>
              </a:rPr>
              <a:t>quả</a:t>
            </a:r>
            <a:r>
              <a:rPr lang="vi-VN" sz="3200" dirty="0" smtClean="0">
                <a:latin typeface="+mj-lt"/>
              </a:rPr>
              <a:t> sử dụng cao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Cần giải quyết bài toán lưu thông </a:t>
            </a:r>
          </a:p>
          <a:p>
            <a:r>
              <a:rPr lang="vi-VN" sz="3200" dirty="0" smtClean="0">
                <a:latin typeface="+mj-lt"/>
              </a:rPr>
              <a:t>Khó phát hiện và tách lỗi. </a:t>
            </a:r>
          </a:p>
          <a:p>
            <a:r>
              <a:rPr lang="vi-VN" sz="3200" dirty="0" smtClean="0">
                <a:latin typeface="+mj-lt"/>
              </a:rPr>
              <a:t>Không đảm tính riêng tư (Không bảo mật) </a:t>
            </a:r>
            <a:endParaRPr lang="en-US" sz="3200" dirty="0">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1.2 Topo mạng (Topology: hình học)</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là biểu diễn hình học các mối quan hệ của tất cả các tuyến (link) và thiết bị đang kết nối (thường được gọi là các nút) tới các thiết bị khác. </a:t>
            </a:r>
          </a:p>
          <a:p>
            <a:r>
              <a:rPr lang="vi-VN" sz="3200" dirty="0" smtClean="0">
                <a:latin typeface="+mj-lt"/>
              </a:rPr>
              <a:t>Thuật ngữ tôpô mạng nói đến phương thức mạng được bố trí về mặt luận lý hoặc vật lý.   </a:t>
            </a:r>
          </a:p>
          <a:p>
            <a:pPr>
              <a:buFont typeface="Wingdings" pitchFamily="2" charset="2"/>
              <a:buChar char="v"/>
            </a:pPr>
            <a:r>
              <a:rPr lang="en-US" sz="3200" b="1" dirty="0" smtClean="0">
                <a:latin typeface="+mj-lt"/>
              </a:rPr>
              <a:t> </a:t>
            </a:r>
            <a:r>
              <a:rPr lang="vi-VN" sz="3200" b="1" dirty="0" smtClean="0">
                <a:latin typeface="+mj-lt"/>
              </a:rPr>
              <a:t>Phân loại: </a:t>
            </a:r>
            <a:r>
              <a:rPr lang="vi-VN" sz="3200" dirty="0" smtClean="0">
                <a:latin typeface="+mj-lt"/>
              </a:rPr>
              <a:t>Có 5 dạng tôpô cơ bản là: lưới, sao, cây, bus</a:t>
            </a:r>
            <a:r>
              <a:rPr lang="en-US" sz="3200" dirty="0" smtClean="0">
                <a:latin typeface="+mj-lt"/>
              </a:rPr>
              <a:t>, </a:t>
            </a:r>
            <a:r>
              <a:rPr lang="vi-VN" sz="3200" dirty="0" smtClean="0">
                <a:latin typeface="+mj-lt"/>
              </a:rPr>
              <a:t>vòng</a:t>
            </a:r>
            <a:r>
              <a:rPr lang="en-US" sz="3200" dirty="0" smtClean="0">
                <a:latin typeface="+mj-lt"/>
              </a:rPr>
              <a:t> v</a:t>
            </a:r>
            <a:r>
              <a:rPr lang="vi-VN" sz="3200" dirty="0" smtClean="0">
                <a:latin typeface="+mj-lt"/>
              </a:rPr>
              <a:t>à một dạng Tôpô hỗn hợp. </a:t>
            </a:r>
            <a:endParaRPr lang="en-US" sz="32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lưới (Mesh)</a:t>
            </a:r>
            <a:endParaRPr lang="en-US" dirty="0"/>
          </a:p>
        </p:txBody>
      </p:sp>
      <p:sp>
        <p:nvSpPr>
          <p:cNvPr id="3" name="Content Placeholder 2"/>
          <p:cNvSpPr>
            <a:spLocks noGrp="1"/>
          </p:cNvSpPr>
          <p:nvPr>
            <p:ph idx="1"/>
          </p:nvPr>
        </p:nvSpPr>
        <p:spPr>
          <a:xfrm>
            <a:off x="572493" y="1431235"/>
            <a:ext cx="6418857" cy="4866198"/>
          </a:xfrm>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Mỗi thiết bị có một kết nối điểm-điểm chuyên dụng (dedicated) tới các thiết bị còn lại.  </a:t>
            </a:r>
          </a:p>
          <a:p>
            <a:r>
              <a:rPr lang="vi-VN" sz="3200" dirty="0" smtClean="0">
                <a:latin typeface="+mj-lt"/>
              </a:rPr>
              <a:t>Một mạng lưới nếu có n thiết bị thì sẽ có  n(n-1)/2  số kết nối. </a:t>
            </a:r>
          </a:p>
          <a:p>
            <a:r>
              <a:rPr lang="vi-VN" sz="3200" dirty="0" smtClean="0">
                <a:latin typeface="+mj-lt"/>
              </a:rPr>
              <a:t>Mỗi thiết bị cần có (n-1) cổng vào/ra (I/O: input/output). </a:t>
            </a:r>
            <a:endParaRPr lang="en-US" sz="3200" dirty="0">
              <a:latin typeface="+mj-lt"/>
            </a:endParaRPr>
          </a:p>
        </p:txBody>
      </p:sp>
      <p:pic>
        <p:nvPicPr>
          <p:cNvPr id="28674" name="Picture 2"/>
          <p:cNvPicPr>
            <a:picLocks noChangeAspect="1" noChangeArrowheads="1"/>
          </p:cNvPicPr>
          <p:nvPr/>
        </p:nvPicPr>
        <p:blipFill>
          <a:blip r:embed="rId2"/>
          <a:srcRect/>
          <a:stretch>
            <a:fillRect/>
          </a:stretch>
        </p:blipFill>
        <p:spPr bwMode="auto">
          <a:xfrm>
            <a:off x="7038974" y="2343150"/>
            <a:ext cx="4782933" cy="3105150"/>
          </a:xfrm>
          <a:prstGeom prst="rect">
            <a:avLst/>
          </a:prstGeom>
          <a:noFill/>
          <a:ln w="9525">
            <a:noFill/>
            <a:miter lim="800000"/>
            <a:headEnd/>
            <a:tailEnd/>
          </a:ln>
          <a:effectLst/>
        </p:spPr>
      </p:pic>
      <p:sp>
        <p:nvSpPr>
          <p:cNvPr id="5" name="Rectangle 4"/>
          <p:cNvSpPr/>
          <p:nvPr/>
        </p:nvSpPr>
        <p:spPr>
          <a:xfrm>
            <a:off x="7410450" y="2533650"/>
            <a:ext cx="1028700" cy="6286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lưới (Mesh)</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Ưu điểm so với các dạng mạng khác: </a:t>
            </a:r>
          </a:p>
          <a:p>
            <a:r>
              <a:rPr lang="vi-VN" sz="3200" dirty="0" smtClean="0">
                <a:latin typeface="+mj-lt"/>
              </a:rPr>
              <a:t>Kết nối điểm-điểm chuyên dụng đảm bảo mỗi kết nối chỉ truyền dẫn dữ liệu riêng, nên không xuất hiện bài toán lưu thông.  </a:t>
            </a:r>
          </a:p>
          <a:p>
            <a:r>
              <a:rPr lang="vi-VN" sz="3200" dirty="0" smtClean="0">
                <a:latin typeface="+mj-lt"/>
              </a:rPr>
              <a:t>Tôpô lưới rất bền vững (Khi một kết nối bị hỏng thì không  ảnh hưởng lên toàn mạng). </a:t>
            </a:r>
          </a:p>
          <a:p>
            <a:r>
              <a:rPr lang="vi-VN" sz="3200" dirty="0" smtClean="0">
                <a:latin typeface="+mj-lt"/>
              </a:rPr>
              <a:t>Tính riêng tư hoặc vấn đề an ninh</a:t>
            </a:r>
            <a:endParaRPr lang="en-US" sz="3200" dirty="0" smtClean="0">
              <a:latin typeface="+mj-lt"/>
            </a:endParaRPr>
          </a:p>
          <a:p>
            <a:r>
              <a:rPr lang="vi-VN" sz="3200" dirty="0" smtClean="0">
                <a:latin typeface="+mj-lt"/>
              </a:rPr>
              <a:t>Kết nối điểm-điểm cho phép phát hiện và tách lỗi rất nhanh.</a:t>
            </a:r>
            <a:endParaRPr lang="en-US" sz="3200" dirty="0">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lưới (Mesh)</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Số kết nối và số cổng I/O nhiều,  nên chi phí lắp đặt sẽ tăng. </a:t>
            </a:r>
          </a:p>
          <a:p>
            <a:r>
              <a:rPr lang="vi-VN" sz="3200" dirty="0" smtClean="0">
                <a:latin typeface="+mj-lt"/>
              </a:rPr>
              <a:t>Mở rộng khó khăn. </a:t>
            </a:r>
          </a:p>
          <a:p>
            <a:r>
              <a:rPr lang="vi-VN" sz="3200" dirty="0" smtClean="0">
                <a:latin typeface="+mj-lt"/>
              </a:rPr>
              <a:t>Cấu hình lưới chỉ được dùng rất giới hạn, đường trục (backbone) kết nối các máy tính lớn (mainframe) trong một mạng hỗn hợp với nhiều cấu hình khác. </a:t>
            </a:r>
            <a:endParaRPr lang="en-US" sz="32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sao (Star)</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Mỗi thiết bị có kết nối  điểm -  điểm với một thiết bị  điều khiển trung </a:t>
            </a:r>
            <a:r>
              <a:rPr lang="vi-VN" sz="3200" dirty="0" smtClean="0">
                <a:latin typeface="+mj-lt"/>
              </a:rPr>
              <a:t>tâm</a:t>
            </a:r>
            <a:r>
              <a:rPr lang="en-US" sz="3200" dirty="0" smtClean="0">
                <a:latin typeface="+mj-lt"/>
              </a:rPr>
              <a:t> </a:t>
            </a:r>
            <a:r>
              <a:rPr lang="vi-VN" sz="3200" dirty="0" smtClean="0">
                <a:latin typeface="+mj-lt"/>
              </a:rPr>
              <a:t>(</a:t>
            </a:r>
            <a:r>
              <a:rPr lang="vi-VN" sz="3200" dirty="0" smtClean="0">
                <a:latin typeface="+mj-lt"/>
              </a:rPr>
              <a:t>Hub). </a:t>
            </a:r>
          </a:p>
          <a:p>
            <a:r>
              <a:rPr lang="vi-VN" sz="3200" dirty="0" smtClean="0">
                <a:latin typeface="+mj-lt"/>
              </a:rPr>
              <a:t>Chức năng Hub: Tạo kết nối giữa các thiết bị khi có yêu cầu, thu tín hiệu và phát (Repeater: thiết bị lặp, mang tính tích cực) </a:t>
            </a:r>
          </a:p>
          <a:p>
            <a:r>
              <a:rPr lang="vi-VN" sz="3200" dirty="0" smtClean="0">
                <a:latin typeface="+mj-lt"/>
              </a:rPr>
              <a:t>Nếu Tôpô sao có n thiết bị thì sẽ có n kết nối. </a:t>
            </a:r>
          </a:p>
          <a:p>
            <a:r>
              <a:rPr lang="vi-VN" sz="3200" dirty="0" smtClean="0">
                <a:latin typeface="+mj-lt"/>
              </a:rPr>
              <a:t>Mỗi thiết bị có 1 ngõ I/O </a:t>
            </a:r>
            <a:endParaRPr lang="en-US" sz="3200" dirty="0">
              <a:latin typeface="+mj-lt"/>
            </a:endParaRPr>
          </a:p>
        </p:txBody>
      </p:sp>
      <p:pic>
        <p:nvPicPr>
          <p:cNvPr id="29698" name="Picture 2"/>
          <p:cNvPicPr>
            <a:picLocks noChangeAspect="1" noChangeArrowheads="1"/>
          </p:cNvPicPr>
          <p:nvPr/>
        </p:nvPicPr>
        <p:blipFill>
          <a:blip r:embed="rId2"/>
          <a:srcRect/>
          <a:stretch>
            <a:fillRect/>
          </a:stretch>
        </p:blipFill>
        <p:spPr bwMode="auto">
          <a:xfrm>
            <a:off x="7158038" y="4514850"/>
            <a:ext cx="4772025" cy="2305050"/>
          </a:xfrm>
          <a:prstGeom prst="rect">
            <a:avLst/>
          </a:prstGeom>
          <a:noFill/>
          <a:ln w="9525">
            <a:noFill/>
            <a:miter lim="800000"/>
            <a:headEnd/>
            <a:tailEnd/>
          </a:ln>
          <a:effectLst/>
        </p:spPr>
      </p:pic>
      <p:sp>
        <p:nvSpPr>
          <p:cNvPr id="5" name="Rectangle 4"/>
          <p:cNvSpPr/>
          <p:nvPr/>
        </p:nvSpPr>
        <p:spPr>
          <a:xfrm>
            <a:off x="8724900" y="4591050"/>
            <a:ext cx="1371600" cy="4953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sao (Star)</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Ưu điểm: </a:t>
            </a:r>
          </a:p>
          <a:p>
            <a:r>
              <a:rPr lang="vi-VN" sz="3200" dirty="0" smtClean="0">
                <a:latin typeface="+mj-lt"/>
              </a:rPr>
              <a:t>Ít tốn kém hơn so với tôpô lưới. (số kết nối, số ngõ I/O) </a:t>
            </a:r>
          </a:p>
          <a:p>
            <a:r>
              <a:rPr lang="vi-VN" sz="3200" dirty="0" smtClean="0">
                <a:latin typeface="+mj-lt"/>
              </a:rPr>
              <a:t>Mỗi thiết bị chỉ cần một kết nối và chỉ cần một cổng I/O để kết nối với các thiết bị khác. </a:t>
            </a:r>
            <a:endParaRPr lang="en-US" sz="3200" dirty="0" smtClean="0">
              <a:latin typeface="+mj-lt"/>
            </a:endParaRPr>
          </a:p>
          <a:p>
            <a:r>
              <a:rPr lang="vi-VN" sz="3200" dirty="0" smtClean="0">
                <a:latin typeface="+mj-lt"/>
              </a:rPr>
              <a:t>Tính bền vững cao.  </a:t>
            </a:r>
          </a:p>
          <a:p>
            <a:r>
              <a:rPr lang="vi-VN" sz="3200" dirty="0" smtClean="0">
                <a:latin typeface="+mj-lt"/>
              </a:rPr>
              <a:t>Phát hiện lỗi dễ dàng.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Chi phí Hub</a:t>
            </a:r>
            <a:r>
              <a:rPr lang="en-US" sz="3200" dirty="0" smtClean="0">
                <a:latin typeface="+mj-lt"/>
              </a:rPr>
              <a:t>;</a:t>
            </a:r>
            <a:r>
              <a:rPr lang="vi-VN" sz="3200" dirty="0" smtClean="0">
                <a:latin typeface="+mj-lt"/>
              </a:rPr>
              <a:t> Tính bảo mật không cao</a:t>
            </a:r>
            <a:r>
              <a:rPr lang="en-US" sz="3200" dirty="0" smtClean="0">
                <a:latin typeface="+mj-lt"/>
              </a:rPr>
              <a:t>; </a:t>
            </a:r>
            <a:r>
              <a:rPr lang="vi-VN" sz="3200" dirty="0" smtClean="0">
                <a:latin typeface="+mj-lt"/>
              </a:rPr>
              <a:t>Mở rộng thiết bị có giới hạn</a:t>
            </a:r>
            <a:r>
              <a:rPr lang="en-US" sz="3200" dirty="0" smtClean="0">
                <a:latin typeface="+mj-lt"/>
              </a:rPr>
              <a:t>; </a:t>
            </a:r>
            <a:r>
              <a:rPr lang="vi-VN" sz="3200" dirty="0" smtClean="0">
                <a:latin typeface="+mj-lt"/>
              </a:rPr>
              <a:t>Khoảng cách giữa Hub và thiết bị có giới hạn. </a:t>
            </a:r>
            <a:endParaRPr lang="en-US" sz="3200"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cây (Tree)</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Đây là biến thể của dạng sao. </a:t>
            </a:r>
          </a:p>
          <a:p>
            <a:r>
              <a:rPr lang="vi-VN" sz="3200" dirty="0" smtClean="0">
                <a:latin typeface="+mj-lt"/>
              </a:rPr>
              <a:t>Các nút trong cây được kết nối với hub trung tâm để điều khiển lưu thông đến mạng.  </a:t>
            </a:r>
          </a:p>
          <a:p>
            <a:r>
              <a:rPr lang="vi-VN" sz="3200" dirty="0" smtClean="0">
                <a:latin typeface="+mj-lt"/>
              </a:rPr>
              <a:t>Các thiết bị không hoàn toàn kết nối trực tiếp vào hub trung tâm.  </a:t>
            </a:r>
          </a:p>
          <a:p>
            <a:r>
              <a:rPr lang="vi-VN" sz="3200" dirty="0" smtClean="0">
                <a:latin typeface="+mj-lt"/>
              </a:rPr>
              <a:t>Phần lớn các thiết bị được kết nối với hub phụ (nối với hub trung tâm). </a:t>
            </a:r>
          </a:p>
          <a:p>
            <a:r>
              <a:rPr lang="vi-VN" sz="3200" dirty="0" smtClean="0">
                <a:latin typeface="+mj-lt"/>
              </a:rPr>
              <a:t>Số kết nối =số thiết bị (n)+ số hub phụ(m) = n+m </a:t>
            </a:r>
            <a:endParaRPr lang="en-US" sz="32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cây (Tree)</a:t>
            </a:r>
            <a:endParaRPr lang="en-US" dirty="0"/>
          </a:p>
        </p:txBody>
      </p:sp>
      <p:sp>
        <p:nvSpPr>
          <p:cNvPr id="3" name="Content Placeholder 2"/>
          <p:cNvSpPr>
            <a:spLocks noGrp="1"/>
          </p:cNvSpPr>
          <p:nvPr>
            <p:ph idx="1"/>
          </p:nvPr>
        </p:nvSpPr>
        <p:spPr>
          <a:xfrm>
            <a:off x="572493" y="1431235"/>
            <a:ext cx="6780807" cy="4866198"/>
          </a:xfrm>
        </p:spPr>
        <p:txBody>
          <a:bodyPr>
            <a:normAutofit/>
          </a:bodyPr>
          <a:lstStyle/>
          <a:p>
            <a:pPr algn="just">
              <a:buFont typeface="Wingdings" pitchFamily="2" charset="2"/>
              <a:buChar char="v"/>
            </a:pPr>
            <a:r>
              <a:rPr lang="en-US" sz="3200" b="1" dirty="0" smtClean="0">
                <a:latin typeface="+mj-lt"/>
              </a:rPr>
              <a:t> </a:t>
            </a:r>
            <a:r>
              <a:rPr lang="vi-VN" sz="3200" b="1" dirty="0" smtClean="0">
                <a:latin typeface="+mj-lt"/>
              </a:rPr>
              <a:t>Ưu điểm và khuyết điểm: </a:t>
            </a:r>
            <a:r>
              <a:rPr lang="vi-VN" sz="3200" dirty="0" smtClean="0">
                <a:latin typeface="+mj-lt"/>
              </a:rPr>
              <a:t>tương tự như dạng sao.  </a:t>
            </a:r>
          </a:p>
          <a:p>
            <a:pPr algn="just"/>
            <a:r>
              <a:rPr lang="vi-VN" sz="3200" dirty="0" smtClean="0">
                <a:latin typeface="+mj-lt"/>
              </a:rPr>
              <a:t>Khi thêm vào các hub phụ, làm cho mạng có hai ưu điểm.  </a:t>
            </a:r>
          </a:p>
          <a:p>
            <a:pPr algn="just"/>
            <a:r>
              <a:rPr lang="vi-VN" sz="3200" dirty="0" smtClean="0">
                <a:latin typeface="+mj-lt"/>
              </a:rPr>
              <a:t>Cho phép thêm nhiều thiết bị được kết nối với hub trung tâm và có thể tăng cự ly tín hiệu di chuyển trong mạng.  </a:t>
            </a:r>
          </a:p>
          <a:p>
            <a:pPr algn="just"/>
            <a:r>
              <a:rPr lang="vi-VN" sz="3200" dirty="0" smtClean="0">
                <a:latin typeface="+mj-lt"/>
              </a:rPr>
              <a:t>Cho phép phân cấp mạng và tạo mức ưu tiên của các thiết bị khác nhau. </a:t>
            </a:r>
            <a:endParaRPr lang="en-US" sz="3200" dirty="0">
              <a:latin typeface="+mj-lt"/>
            </a:endParaRPr>
          </a:p>
        </p:txBody>
      </p:sp>
      <p:pic>
        <p:nvPicPr>
          <p:cNvPr id="30722" name="Picture 2"/>
          <p:cNvPicPr>
            <a:picLocks noChangeAspect="1" noChangeArrowheads="1"/>
          </p:cNvPicPr>
          <p:nvPr/>
        </p:nvPicPr>
        <p:blipFill>
          <a:blip r:embed="rId2"/>
          <a:srcRect/>
          <a:stretch>
            <a:fillRect/>
          </a:stretch>
        </p:blipFill>
        <p:spPr bwMode="auto">
          <a:xfrm>
            <a:off x="7348539" y="2403868"/>
            <a:ext cx="4576761" cy="2477695"/>
          </a:xfrm>
          <a:prstGeom prst="rect">
            <a:avLst/>
          </a:prstGeom>
          <a:noFill/>
          <a:ln w="9525">
            <a:noFill/>
            <a:miter lim="800000"/>
            <a:headEnd/>
            <a:tailEnd/>
          </a:ln>
          <a:effectLst/>
        </p:spPr>
      </p:pic>
      <p:sp>
        <p:nvSpPr>
          <p:cNvPr id="5" name="Rectangle 4"/>
          <p:cNvSpPr/>
          <p:nvPr/>
        </p:nvSpPr>
        <p:spPr>
          <a:xfrm>
            <a:off x="8953500" y="2286000"/>
            <a:ext cx="10287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BUS</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Tôpô bus là dạng cấu hình đa điểm.  </a:t>
            </a:r>
          </a:p>
          <a:p>
            <a:r>
              <a:rPr lang="vi-VN" sz="3200" dirty="0" smtClean="0">
                <a:latin typeface="+mj-lt"/>
              </a:rPr>
              <a:t>Một đường cáp dài được gọi là trục (backbone) nhằm kết nối các thiết bị trong mạng. </a:t>
            </a:r>
            <a:endParaRPr lang="en-US" sz="3200" dirty="0" smtClean="0">
              <a:latin typeface="+mj-lt"/>
            </a:endParaRPr>
          </a:p>
          <a:p>
            <a:r>
              <a:rPr lang="vi-VN" sz="3200" dirty="0" smtClean="0">
                <a:latin typeface="+mj-lt"/>
              </a:rPr>
              <a:t>Các nút được nối với cáp bus thông qua nhánh rẽ</a:t>
            </a:r>
            <a:r>
              <a:rPr lang="en-US" sz="3200" dirty="0" smtClean="0">
                <a:latin typeface="+mj-lt"/>
              </a:rPr>
              <a:t> </a:t>
            </a:r>
            <a:r>
              <a:rPr lang="vi-VN" sz="3200" dirty="0" smtClean="0">
                <a:latin typeface="+mj-lt"/>
              </a:rPr>
              <a:t>(drop line) và điểm nối(tap). </a:t>
            </a:r>
          </a:p>
          <a:p>
            <a:r>
              <a:rPr lang="vi-VN" sz="3200" dirty="0" smtClean="0">
                <a:latin typeface="+mj-lt"/>
              </a:rPr>
              <a:t>Điểm nối thường bị tổn hao nhiệt, do yếu tố nhánh rẽ. Từ đó có giới hạn về  số điểm nối mà cáp chính có thể hỗ trợ và khoảng cách giữa các điểm nối. </a:t>
            </a:r>
            <a:endParaRPr lang="en-US" sz="3200"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BUS</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Ưu điểm:  </a:t>
            </a:r>
          </a:p>
          <a:p>
            <a:r>
              <a:rPr lang="vi-VN" sz="3200" dirty="0" smtClean="0">
                <a:latin typeface="+mj-lt"/>
              </a:rPr>
              <a:t>Hiệu qủa sử dụng kết nối cao. </a:t>
            </a:r>
          </a:p>
          <a:p>
            <a:r>
              <a:rPr lang="vi-VN" sz="3200" dirty="0" smtClean="0">
                <a:latin typeface="+mj-lt"/>
              </a:rPr>
              <a:t>Dễ lắp đặt, thay đổi vị trí lắp đặt thiết bị.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Khó phát hiện và phân cách hỏng hóc.  </a:t>
            </a:r>
          </a:p>
          <a:p>
            <a:r>
              <a:rPr lang="vi-VN" sz="3200" dirty="0" smtClean="0">
                <a:latin typeface="+mj-lt"/>
              </a:rPr>
              <a:t>Khó gắn thêm thiết bị vào.  </a:t>
            </a:r>
          </a:p>
          <a:p>
            <a:r>
              <a:rPr lang="vi-VN" sz="3200" dirty="0" smtClean="0">
                <a:latin typeface="+mj-lt"/>
              </a:rPr>
              <a:t>Các điểm nối có thể tạo tín hiệu phản xạ làm giảm chất lượng truyền tín hiệu trong bus.  </a:t>
            </a:r>
          </a:p>
          <a:p>
            <a:r>
              <a:rPr lang="vi-VN" sz="3200" dirty="0" smtClean="0">
                <a:latin typeface="+mj-lt"/>
              </a:rPr>
              <a:t>Tính bền vững kém. </a:t>
            </a:r>
            <a:endParaRPr lang="en-US" sz="3200" dirty="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vòng (Ring)</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Mỗi thiết bị có kết nối điểm - điểm với thiết bị bên phải và thiết bị bên trái của nó.  </a:t>
            </a:r>
          </a:p>
          <a:p>
            <a:r>
              <a:rPr lang="vi-VN" sz="3200" dirty="0" smtClean="0">
                <a:latin typeface="+mj-lt"/>
              </a:rPr>
              <a:t>Tín hiệu di chuyển trong vòng theo một chiều, từ thiết bị này sang thiết bị khác, cho đến khi đến đích.  </a:t>
            </a:r>
          </a:p>
          <a:p>
            <a:r>
              <a:rPr lang="vi-VN" sz="3200" dirty="0" smtClean="0">
                <a:latin typeface="+mj-lt"/>
              </a:rPr>
              <a:t>Mỗi thiết bị trong mạng là một bộ lặp. </a:t>
            </a:r>
          </a:p>
          <a:p>
            <a:r>
              <a:rPr lang="vi-VN" sz="3200" dirty="0" smtClean="0">
                <a:latin typeface="+mj-lt"/>
              </a:rPr>
              <a:t>Nếu có n thiết bị thì sẽ cần n kết nối.</a:t>
            </a:r>
            <a:endParaRPr lang="en-US" sz="3200" dirty="0" smtClean="0">
              <a:latin typeface="+mj-lt"/>
            </a:endParaRPr>
          </a:p>
          <a:p>
            <a:r>
              <a:rPr lang="vi-VN" sz="3200" dirty="0" smtClean="0">
                <a:latin typeface="+mj-lt"/>
              </a:rPr>
              <a:t>Mỗi thiết bị có một ngõ phát và một ngõ thu.  </a:t>
            </a:r>
            <a:endParaRPr lang="en-US" sz="3200" dirty="0">
              <a:latin typeface="+mj-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 dạng vòng (Ring)</a:t>
            </a:r>
            <a:endParaRPr lang="en-US" dirty="0"/>
          </a:p>
        </p:txBody>
      </p:sp>
      <p:sp>
        <p:nvSpPr>
          <p:cNvPr id="3" name="Content Placeholder 2"/>
          <p:cNvSpPr>
            <a:spLocks noGrp="1"/>
          </p:cNvSpPr>
          <p:nvPr>
            <p:ph idx="1"/>
          </p:nvPr>
        </p:nvSpPr>
        <p:spPr/>
        <p:txBody>
          <a:bodyPr>
            <a:noAutofit/>
          </a:bodyPr>
          <a:lstStyle/>
          <a:p>
            <a:pPr>
              <a:buFont typeface="Wingdings" pitchFamily="2" charset="2"/>
              <a:buChar char="v"/>
            </a:pPr>
            <a:r>
              <a:rPr lang="en-US" sz="3200" b="1" dirty="0" smtClean="0">
                <a:latin typeface="+mj-lt"/>
              </a:rPr>
              <a:t> </a:t>
            </a:r>
            <a:r>
              <a:rPr lang="vi-VN" sz="3200" b="1" dirty="0" smtClean="0">
                <a:latin typeface="+mj-lt"/>
              </a:rPr>
              <a:t>Ưu điểm</a:t>
            </a:r>
            <a:r>
              <a:rPr lang="en-US" sz="3200" b="1" dirty="0" smtClean="0">
                <a:latin typeface="+mj-lt"/>
              </a:rPr>
              <a:t>:</a:t>
            </a:r>
            <a:r>
              <a:rPr lang="vi-VN" sz="3200" b="1" dirty="0" smtClean="0">
                <a:latin typeface="+mj-lt"/>
              </a:rPr>
              <a:t> </a:t>
            </a:r>
          </a:p>
          <a:p>
            <a:r>
              <a:rPr lang="vi-VN" sz="3200" dirty="0" smtClean="0">
                <a:latin typeface="+mj-lt"/>
              </a:rPr>
              <a:t>Tương đối dễ thiết lập và tái cấu trúc </a:t>
            </a:r>
          </a:p>
          <a:p>
            <a:r>
              <a:rPr lang="vi-VN" sz="3200" dirty="0" smtClean="0">
                <a:latin typeface="+mj-lt"/>
              </a:rPr>
              <a:t>Phát hiện lỗi tương đối đơn giản.  </a:t>
            </a:r>
          </a:p>
          <a:p>
            <a:pPr>
              <a:buFont typeface="Wingdings" pitchFamily="2" charset="2"/>
              <a:buChar char="v"/>
            </a:pPr>
            <a:r>
              <a:rPr lang="en-US" sz="3200" b="1" dirty="0" smtClean="0">
                <a:latin typeface="+mj-lt"/>
              </a:rPr>
              <a:t> </a:t>
            </a:r>
            <a:r>
              <a:rPr lang="vi-VN" sz="3200" b="1" dirty="0" smtClean="0">
                <a:latin typeface="+mj-lt"/>
              </a:rPr>
              <a:t>Khuyết điểm: </a:t>
            </a:r>
          </a:p>
          <a:p>
            <a:r>
              <a:rPr lang="vi-VN" sz="3200" dirty="0" smtClean="0">
                <a:latin typeface="+mj-lt"/>
              </a:rPr>
              <a:t>Việc di chuyển của tín hiệu trong mạng chỉ theo một chiều (thời gian truyền chậm). </a:t>
            </a:r>
          </a:p>
          <a:p>
            <a:r>
              <a:rPr lang="vi-VN" sz="3200" dirty="0" smtClean="0">
                <a:latin typeface="+mj-lt"/>
              </a:rPr>
              <a:t>Tính bền vững thấp (Khi có một thiết bị hỏng thì toàn mạng sẽ dừng hoạt động. </a:t>
            </a:r>
            <a:endParaRPr lang="en-US" sz="3200" dirty="0">
              <a:latin typeface="+mj-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Topo dạng hỗn hợp (Hybrid Topologies)</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Tồn tại ít nhất 2 dạng trong các dạng tôpô sau: lưới, sao, bus và</a:t>
            </a:r>
            <a:r>
              <a:rPr lang="en-US" sz="3200" dirty="0" smtClean="0">
                <a:latin typeface="+mj-lt"/>
              </a:rPr>
              <a:t> </a:t>
            </a:r>
            <a:r>
              <a:rPr lang="vi-VN" sz="3200" dirty="0" smtClean="0">
                <a:latin typeface="+mj-lt"/>
              </a:rPr>
              <a:t>vòng. </a:t>
            </a:r>
          </a:p>
          <a:p>
            <a:r>
              <a:rPr lang="vi-VN" sz="3200" dirty="0" smtClean="0">
                <a:latin typeface="+mj-lt"/>
              </a:rPr>
              <a:t>Kết hợp cấu hình nhiều mạng con để thành một mạng lớn. </a:t>
            </a:r>
            <a:endParaRPr lang="en-US" sz="3200" dirty="0">
              <a:latin typeface="+mj-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1.3 Chế độ truyền dẫn</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Khái niệm: </a:t>
            </a:r>
            <a:r>
              <a:rPr lang="vi-VN" sz="3200" dirty="0" smtClean="0">
                <a:latin typeface="+mj-lt"/>
              </a:rPr>
              <a:t>Là chế độ nhằm định nghĩa chiều lưu thông tín hiệu giữa hai thiết bị được kết nối với nhau.  </a:t>
            </a:r>
          </a:p>
          <a:p>
            <a:pPr>
              <a:buFont typeface="Wingdings" pitchFamily="2" charset="2"/>
              <a:buChar char="v"/>
            </a:pPr>
            <a:r>
              <a:rPr lang="en-US" sz="3200" b="1" dirty="0" smtClean="0">
                <a:latin typeface="+mj-lt"/>
              </a:rPr>
              <a:t> </a:t>
            </a:r>
            <a:r>
              <a:rPr lang="vi-VN" sz="3200" b="1" dirty="0" smtClean="0">
                <a:latin typeface="+mj-lt"/>
              </a:rPr>
              <a:t>Phân loại: </a:t>
            </a:r>
            <a:r>
              <a:rPr lang="vi-VN" sz="3200" dirty="0" smtClean="0">
                <a:latin typeface="+mj-lt"/>
              </a:rPr>
              <a:t>Có 3 dạng:  </a:t>
            </a:r>
          </a:p>
          <a:p>
            <a:r>
              <a:rPr lang="vi-VN" sz="3200" dirty="0" smtClean="0">
                <a:latin typeface="+mj-lt"/>
              </a:rPr>
              <a:t>Đơn công (simplex) </a:t>
            </a:r>
          </a:p>
          <a:p>
            <a:r>
              <a:rPr lang="vi-VN" sz="3200" dirty="0" smtClean="0">
                <a:latin typeface="+mj-lt"/>
              </a:rPr>
              <a:t>Bán song công (half-duplex) </a:t>
            </a:r>
          </a:p>
          <a:p>
            <a:r>
              <a:rPr lang="vi-VN" sz="3200" dirty="0" smtClean="0">
                <a:latin typeface="+mj-lt"/>
              </a:rPr>
              <a:t>Song công (full-duplex = duplex) </a:t>
            </a:r>
            <a:endParaRPr lang="en-US" sz="3200" dirty="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dirty="0" smtClean="0"/>
              <a:t>Đơn công (simplex)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Chiều lưu thông tín hiệu giữa hai thiết bị theo một chiều. </a:t>
            </a:r>
          </a:p>
          <a:p>
            <a:r>
              <a:rPr lang="vi-VN" sz="3200" dirty="0" smtClean="0">
                <a:latin typeface="+mj-lt"/>
              </a:rPr>
              <a:t>Một thiết bị phát và một thiết bị thu. </a:t>
            </a:r>
            <a:endParaRPr lang="en-US" sz="3200" dirty="0">
              <a:latin typeface="+mj-lt"/>
            </a:endParaRPr>
          </a:p>
        </p:txBody>
      </p:sp>
      <p:pic>
        <p:nvPicPr>
          <p:cNvPr id="1026" name="Picture 2"/>
          <p:cNvPicPr>
            <a:picLocks noChangeAspect="1" noChangeArrowheads="1"/>
          </p:cNvPicPr>
          <p:nvPr/>
        </p:nvPicPr>
        <p:blipFill>
          <a:blip r:embed="rId2"/>
          <a:srcRect/>
          <a:stretch>
            <a:fillRect/>
          </a:stretch>
        </p:blipFill>
        <p:spPr bwMode="auto">
          <a:xfrm>
            <a:off x="2886074" y="3371850"/>
            <a:ext cx="6772275" cy="2257425"/>
          </a:xfrm>
          <a:prstGeom prst="rect">
            <a:avLst/>
          </a:prstGeom>
          <a:noFill/>
          <a:ln w="9525">
            <a:noFill/>
            <a:miter lim="800000"/>
            <a:headEnd/>
            <a:tailEnd/>
          </a:ln>
          <a:effectLst/>
        </p:spPr>
      </p:pic>
      <p:sp>
        <p:nvSpPr>
          <p:cNvPr id="5" name="Rectangle 4"/>
          <p:cNvSpPr/>
          <p:nvPr/>
        </p:nvSpPr>
        <p:spPr>
          <a:xfrm>
            <a:off x="4876800" y="4743450"/>
            <a:ext cx="2114550" cy="6667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dirty="0" smtClean="0"/>
              <a:t>Bán song công (half-duplex)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endParaRPr lang="en-US" sz="3200" b="1" dirty="0" smtClean="0">
              <a:latin typeface="+mj-lt"/>
            </a:endParaRPr>
          </a:p>
          <a:p>
            <a:r>
              <a:rPr lang="vi-VN" sz="3200" dirty="0" smtClean="0">
                <a:latin typeface="+mj-lt"/>
              </a:rPr>
              <a:t>Chiều lưu thông tín hiệu giữa hai thiết bị theo hai chiều ở 2 thời điểm khác nhau.</a:t>
            </a:r>
          </a:p>
          <a:p>
            <a:r>
              <a:rPr lang="vi-VN" sz="3200" dirty="0" smtClean="0">
                <a:latin typeface="+mj-lt"/>
              </a:rPr>
              <a:t>Một thiết bị phát và một thiết bị thu hoặc ngược lại. </a:t>
            </a:r>
            <a:endParaRPr lang="en-US" sz="3200" dirty="0">
              <a:latin typeface="+mj-lt"/>
            </a:endParaRPr>
          </a:p>
        </p:txBody>
      </p:sp>
      <p:pic>
        <p:nvPicPr>
          <p:cNvPr id="2050" name="Picture 2"/>
          <p:cNvPicPr>
            <a:picLocks noChangeAspect="1" noChangeArrowheads="1"/>
          </p:cNvPicPr>
          <p:nvPr/>
        </p:nvPicPr>
        <p:blipFill>
          <a:blip r:embed="rId2"/>
          <a:srcRect/>
          <a:stretch>
            <a:fillRect/>
          </a:stretch>
        </p:blipFill>
        <p:spPr bwMode="auto">
          <a:xfrm>
            <a:off x="2757488" y="3924300"/>
            <a:ext cx="7058025" cy="2057400"/>
          </a:xfrm>
          <a:prstGeom prst="rect">
            <a:avLst/>
          </a:prstGeom>
          <a:noFill/>
          <a:ln w="9525">
            <a:noFill/>
            <a:miter lim="800000"/>
            <a:headEnd/>
            <a:tailEnd/>
          </a:ln>
          <a:effectLst/>
        </p:spPr>
      </p:pic>
      <p:sp>
        <p:nvSpPr>
          <p:cNvPr id="5" name="Rectangle 4"/>
          <p:cNvSpPr/>
          <p:nvPr/>
        </p:nvSpPr>
        <p:spPr>
          <a:xfrm>
            <a:off x="5048250" y="4019550"/>
            <a:ext cx="1752600" cy="5143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dirty="0" smtClean="0"/>
              <a:t>Song công (full-duplex = duplex) </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sz="3200" b="1" dirty="0" smtClean="0">
                <a:latin typeface="+mj-lt"/>
              </a:rPr>
              <a:t> </a:t>
            </a:r>
            <a:r>
              <a:rPr lang="vi-VN" sz="3200" b="1" dirty="0" smtClean="0">
                <a:latin typeface="+mj-lt"/>
              </a:rPr>
              <a:t>Đặc điểm: </a:t>
            </a:r>
          </a:p>
          <a:p>
            <a:r>
              <a:rPr lang="vi-VN" sz="3200" dirty="0" smtClean="0">
                <a:latin typeface="+mj-lt"/>
              </a:rPr>
              <a:t>Chiều lưu thông tín hiệu giữa hai thiết bị theo hai chiều có thể ở cùng thời điểm. </a:t>
            </a:r>
          </a:p>
          <a:p>
            <a:r>
              <a:rPr lang="vi-VN" sz="3200" dirty="0" smtClean="0">
                <a:latin typeface="+mj-lt"/>
              </a:rPr>
              <a:t>Một thiết bị phát - thu và  thiết bị còn lại thu - phát. </a:t>
            </a:r>
            <a:endParaRPr lang="en-US" sz="3200" dirty="0">
              <a:latin typeface="+mj-lt"/>
            </a:endParaRPr>
          </a:p>
        </p:txBody>
      </p:sp>
      <p:pic>
        <p:nvPicPr>
          <p:cNvPr id="3074" name="Picture 2"/>
          <p:cNvPicPr>
            <a:picLocks noChangeAspect="1" noChangeArrowheads="1"/>
          </p:cNvPicPr>
          <p:nvPr/>
        </p:nvPicPr>
        <p:blipFill>
          <a:blip r:embed="rId2"/>
          <a:srcRect/>
          <a:stretch>
            <a:fillRect/>
          </a:stretch>
        </p:blipFill>
        <p:spPr bwMode="auto">
          <a:xfrm>
            <a:off x="2881313" y="3833813"/>
            <a:ext cx="6505575" cy="1933575"/>
          </a:xfrm>
          <a:prstGeom prst="rect">
            <a:avLst/>
          </a:prstGeom>
          <a:noFill/>
          <a:ln w="9525">
            <a:noFill/>
            <a:miter lim="800000"/>
            <a:headEnd/>
            <a:tailEnd/>
          </a:ln>
          <a:effectLst/>
        </p:spPr>
      </p:pic>
      <p:sp>
        <p:nvSpPr>
          <p:cNvPr id="5" name="Rectangle 4"/>
          <p:cNvSpPr/>
          <p:nvPr/>
        </p:nvSpPr>
        <p:spPr>
          <a:xfrm>
            <a:off x="5600700" y="5086350"/>
            <a:ext cx="1466850" cy="438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1.4 Các dạng mạng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Hiện nay, khi nói đến mạng thì người ta nghĩ ngay đến: mạng cục bộ (LAN; local area network), mạng  MAN (metropolitain area network) và mạng  WAN (wide area network) như hình 2.15. </a:t>
            </a:r>
            <a:endParaRPr lang="en-US" sz="3200" dirty="0">
              <a:latin typeface="+mj-lt"/>
            </a:endParaRPr>
          </a:p>
        </p:txBody>
      </p:sp>
      <p:pic>
        <p:nvPicPr>
          <p:cNvPr id="4099" name="Picture 3"/>
          <p:cNvPicPr>
            <a:picLocks noChangeAspect="1" noChangeArrowheads="1"/>
          </p:cNvPicPr>
          <p:nvPr/>
        </p:nvPicPr>
        <p:blipFill>
          <a:blip r:embed="rId2"/>
          <a:srcRect/>
          <a:stretch>
            <a:fillRect/>
          </a:stretch>
        </p:blipFill>
        <p:spPr bwMode="auto">
          <a:xfrm>
            <a:off x="1771651" y="3187407"/>
            <a:ext cx="8362950" cy="2799056"/>
          </a:xfrm>
          <a:prstGeom prst="rect">
            <a:avLst/>
          </a:prstGeom>
          <a:noFill/>
          <a:ln w="9525">
            <a:noFill/>
            <a:miter lim="800000"/>
            <a:headEnd/>
            <a:tailEnd/>
          </a:ln>
          <a:effectLst/>
        </p:spPr>
      </p:pic>
      <p:sp>
        <p:nvSpPr>
          <p:cNvPr id="5" name="Rectangle 4"/>
          <p:cNvSpPr/>
          <p:nvPr/>
        </p:nvSpPr>
        <p:spPr>
          <a:xfrm>
            <a:off x="1905000" y="3562350"/>
            <a:ext cx="1943100" cy="7429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Mạng LAN</a:t>
            </a:r>
            <a:endParaRPr lang="en-US" dirty="0"/>
          </a:p>
        </p:txBody>
      </p:sp>
      <p:sp>
        <p:nvSpPr>
          <p:cNvPr id="3" name="Content Placeholder 2"/>
          <p:cNvSpPr>
            <a:spLocks noGrp="1"/>
          </p:cNvSpPr>
          <p:nvPr>
            <p:ph idx="1"/>
          </p:nvPr>
        </p:nvSpPr>
        <p:spPr/>
        <p:txBody>
          <a:bodyPr>
            <a:noAutofit/>
          </a:bodyPr>
          <a:lstStyle/>
          <a:p>
            <a:r>
              <a:rPr lang="en-US" sz="3200" dirty="0" smtClean="0">
                <a:latin typeface="Times New Roman" pitchFamily="18" charset="0"/>
                <a:cs typeface="Times New Roman" pitchFamily="18" charset="0"/>
              </a:rPr>
              <a:t>C</a:t>
            </a:r>
            <a:r>
              <a:rPr lang="vi-VN" sz="3200" dirty="0" smtClean="0">
                <a:latin typeface="Times New Roman" pitchFamily="18" charset="0"/>
                <a:cs typeface="Times New Roman" pitchFamily="18" charset="0"/>
              </a:rPr>
              <a:t>ự </a:t>
            </a:r>
            <a:r>
              <a:rPr lang="vi-VN" sz="3200" dirty="0" smtClean="0">
                <a:latin typeface="+mj-lt"/>
              </a:rPr>
              <a:t>ly của mạng LAN thường giới hạn trong khoảng vài km.</a:t>
            </a:r>
            <a:endParaRPr lang="en-US" sz="3200" dirty="0" smtClean="0">
              <a:latin typeface="+mj-lt"/>
            </a:endParaRPr>
          </a:p>
          <a:p>
            <a:r>
              <a:rPr lang="vi-VN" sz="3200" dirty="0" smtClean="0">
                <a:latin typeface="+mj-lt"/>
              </a:rPr>
              <a:t>LAN được thiết kế cho phép chia sẻ tài nguyên giữa các máy tính và máy chủ. Tài nguyên này có thể là phần cứng (thí dụ máy in) hay phần mềm (các chương trình  ứng dụng) và dữ liệu. </a:t>
            </a:r>
          </a:p>
          <a:p>
            <a:r>
              <a:rPr lang="vi-VN" sz="3200" dirty="0" smtClean="0">
                <a:latin typeface="+mj-lt"/>
              </a:rPr>
              <a:t>Thông thường, trong mạng LAN chỉ dùng một môi trường truyền dẫn. Cấu hình thường dùng là bus, vòng và sao. </a:t>
            </a:r>
          </a:p>
          <a:p>
            <a:r>
              <a:rPr lang="vi-VN" sz="3200" dirty="0" smtClean="0">
                <a:latin typeface="+mj-lt"/>
              </a:rPr>
              <a:t>Tồc độ truyền dẫn từ 4 đến 16 Mbps trong các mạng LAN truyền thống, hiện nay tốc độ này có thể lên đến 100 Mbps với hệ thống có thể lên đến tốc độ gigabit.  </a:t>
            </a:r>
            <a:endParaRPr lang="en-US" sz="32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Mạng MAN</a:t>
            </a:r>
            <a:endParaRPr lang="en-US" dirty="0"/>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Mạng MAN đ</a:t>
            </a:r>
            <a:r>
              <a:rPr lang="vi-VN" sz="3200" dirty="0" smtClean="0">
                <a:latin typeface="Times New Roman" pitchFamily="18" charset="0"/>
                <a:cs typeface="Times New Roman" pitchFamily="18" charset="0"/>
              </a:rPr>
              <a:t>ược thiết kế để hoạt động trong toàn cấp thành phố, nó có thể là một mạng như mạng truyền hình cáp, hay có thể là mạng kết nối nhiều mạng </a:t>
            </a:r>
            <a:r>
              <a:rPr lang="vi-VN" sz="3200" dirty="0" smtClean="0">
                <a:latin typeface="+mj-lt"/>
              </a:rPr>
              <a:t>LAN thành mạng lớn hơn</a:t>
            </a:r>
            <a:endParaRPr lang="en-US" sz="3200" dirty="0">
              <a:latin typeface="+mj-lt"/>
            </a:endParaRPr>
          </a:p>
        </p:txBody>
      </p:sp>
      <p:pic>
        <p:nvPicPr>
          <p:cNvPr id="5122" name="Picture 2"/>
          <p:cNvPicPr>
            <a:picLocks noChangeAspect="1" noChangeArrowheads="1"/>
          </p:cNvPicPr>
          <p:nvPr/>
        </p:nvPicPr>
        <p:blipFill>
          <a:blip r:embed="rId2"/>
          <a:srcRect/>
          <a:stretch>
            <a:fillRect/>
          </a:stretch>
        </p:blipFill>
        <p:spPr bwMode="auto">
          <a:xfrm>
            <a:off x="2824180" y="2922361"/>
            <a:ext cx="6262670" cy="3516539"/>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Mạng WAN</a:t>
            </a:r>
            <a:endParaRPr lang="en-US" dirty="0"/>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Mạng WAN c</a:t>
            </a:r>
            <a:r>
              <a:rPr lang="vi-VN" sz="3200" dirty="0" smtClean="0">
                <a:latin typeface="Times New Roman" pitchFamily="18" charset="0"/>
                <a:cs typeface="Times New Roman" pitchFamily="18" charset="0"/>
              </a:rPr>
              <a:t>ung cấp </a:t>
            </a:r>
            <a:r>
              <a:rPr lang="vi-VN" sz="3200" dirty="0" smtClean="0">
                <a:latin typeface="+mj-lt"/>
              </a:rPr>
              <a:t>truyền dẫn dữ liệu, hình  ảnh , thoại, và video trong diện rộng bao gồm quốc gia, lục địa và toàn cầu. </a:t>
            </a:r>
            <a:endParaRPr lang="en-US" sz="3200" dirty="0">
              <a:latin typeface="+mj-lt"/>
            </a:endParaRPr>
          </a:p>
        </p:txBody>
      </p:sp>
      <p:pic>
        <p:nvPicPr>
          <p:cNvPr id="6146" name="Picture 2"/>
          <p:cNvPicPr>
            <a:picLocks noChangeAspect="1" noChangeArrowheads="1"/>
          </p:cNvPicPr>
          <p:nvPr/>
        </p:nvPicPr>
        <p:blipFill>
          <a:blip r:embed="rId2"/>
          <a:srcRect/>
          <a:stretch>
            <a:fillRect/>
          </a:stretch>
        </p:blipFill>
        <p:spPr bwMode="auto">
          <a:xfrm>
            <a:off x="1881188" y="2743200"/>
            <a:ext cx="8302280" cy="314325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Liên mạng</a:t>
            </a:r>
            <a:endParaRPr lang="en-US" dirty="0"/>
          </a:p>
        </p:txBody>
      </p:sp>
      <p:sp>
        <p:nvSpPr>
          <p:cNvPr id="3" name="Content Placeholder 2"/>
          <p:cNvSpPr>
            <a:spLocks noGrp="1"/>
          </p:cNvSpPr>
          <p:nvPr>
            <p:ph idx="1"/>
          </p:nvPr>
        </p:nvSpPr>
        <p:spPr/>
        <p:txBody>
          <a:bodyPr>
            <a:normAutofit/>
          </a:bodyPr>
          <a:lstStyle/>
          <a:p>
            <a:r>
              <a:rPr lang="vi-VN" sz="3200" dirty="0" smtClean="0">
                <a:latin typeface="+mj-lt"/>
              </a:rPr>
              <a:t>Khi kết nối nhiều mạng, ta có kết nối liên mạng (internetwork hay internet</a:t>
            </a:r>
            <a:r>
              <a:rPr lang="vi-VN" sz="3200" dirty="0" smtClean="0">
                <a:latin typeface="+mj-lt"/>
              </a:rPr>
              <a:t>)</a:t>
            </a:r>
            <a:endParaRPr lang="en-US" sz="3200" dirty="0">
              <a:latin typeface="+mj-lt"/>
            </a:endParaRPr>
          </a:p>
        </p:txBody>
      </p:sp>
      <p:pic>
        <p:nvPicPr>
          <p:cNvPr id="7170" name="Picture 2"/>
          <p:cNvPicPr>
            <a:picLocks noChangeAspect="1" noChangeArrowheads="1"/>
          </p:cNvPicPr>
          <p:nvPr/>
        </p:nvPicPr>
        <p:blipFill>
          <a:blip r:embed="rId2"/>
          <a:srcRect/>
          <a:stretch>
            <a:fillRect/>
          </a:stretch>
        </p:blipFill>
        <p:spPr bwMode="auto">
          <a:xfrm>
            <a:off x="2476500" y="2847975"/>
            <a:ext cx="7162800" cy="344805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1982</Words>
  <Application>Microsoft Office PowerPoint</Application>
  <PresentationFormat>Custom</PresentationFormat>
  <Paragraphs>165</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KỸ THUẬT TRUYỀN SỐ LIỆU</vt:lpstr>
      <vt:lpstr>Nội dung môn học</vt:lpstr>
      <vt:lpstr>Tài liệu học tập</vt:lpstr>
      <vt:lpstr>                 Chương 1</vt:lpstr>
      <vt:lpstr>Nội dung chương 1</vt:lpstr>
      <vt:lpstr>1.1 Cấu hình đường dây</vt:lpstr>
      <vt:lpstr>Cấu hình điểm - điểm (point to point)</vt:lpstr>
      <vt:lpstr>Cấu hình điểm - điểm (point to point)</vt:lpstr>
      <vt:lpstr>Cấu hình đa điểm (multipoint)</vt:lpstr>
      <vt:lpstr>1.2 Topo mạng (Topology: hình học)</vt:lpstr>
      <vt:lpstr>Topo dạng lưới (Mesh)</vt:lpstr>
      <vt:lpstr>Topo dạng lưới (Mesh)</vt:lpstr>
      <vt:lpstr>Topo dạng lưới (Mesh)</vt:lpstr>
      <vt:lpstr>Topo dạng sao (Star)</vt:lpstr>
      <vt:lpstr>Topo dạng sao (Star)</vt:lpstr>
      <vt:lpstr>Topo dạng cây (Tree)</vt:lpstr>
      <vt:lpstr>Topo dạng cây (Tree)</vt:lpstr>
      <vt:lpstr>Topo dạng BUS</vt:lpstr>
      <vt:lpstr>Topo dạng BUS</vt:lpstr>
      <vt:lpstr>Topo dạng vòng (Ring)</vt:lpstr>
      <vt:lpstr>Topo dạng vòng (Ring)</vt:lpstr>
      <vt:lpstr>Topo dạng hỗn hợp (Hybrid Topologies)</vt:lpstr>
      <vt:lpstr>1.3 Chế độ truyền dẫn</vt:lpstr>
      <vt:lpstr>Đơn công (simplex) </vt:lpstr>
      <vt:lpstr>Bán song công (half-duplex) </vt:lpstr>
      <vt:lpstr>Song công (full-duplex = duplex) </vt:lpstr>
      <vt:lpstr>1.4 Các dạng mạng</vt:lpstr>
      <vt:lpstr>Mạng LAN</vt:lpstr>
      <vt:lpstr>Mạng MAN</vt:lpstr>
      <vt:lpstr>Mạng WAN</vt:lpstr>
      <vt:lpstr>Liên mạng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Toan Le</dc:creator>
  <cp:lastModifiedBy>NKCHI</cp:lastModifiedBy>
  <cp:revision>57</cp:revision>
  <dcterms:created xsi:type="dcterms:W3CDTF">2020-05-27T05:21:30Z</dcterms:created>
  <dcterms:modified xsi:type="dcterms:W3CDTF">2022-09-05T09:26:43Z</dcterms:modified>
</cp:coreProperties>
</file>