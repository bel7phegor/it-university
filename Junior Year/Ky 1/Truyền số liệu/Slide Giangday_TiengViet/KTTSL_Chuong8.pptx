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73" r:id="rId6"/>
    <p:sldId id="274" r:id="rId7"/>
    <p:sldId id="275" r:id="rId8"/>
    <p:sldId id="276" r:id="rId9"/>
    <p:sldId id="277" r:id="rId10"/>
    <p:sldId id="286" r:id="rId11"/>
    <p:sldId id="287" r:id="rId12"/>
    <p:sldId id="278" r:id="rId13"/>
    <p:sldId id="279" r:id="rId14"/>
    <p:sldId id="280" r:id="rId15"/>
    <p:sldId id="281" r:id="rId16"/>
    <p:sldId id="282" r:id="rId17"/>
    <p:sldId id="288" r:id="rId18"/>
    <p:sldId id="283" r:id="rId19"/>
    <p:sldId id="289" r:id="rId20"/>
    <p:sldId id="284" r:id="rId21"/>
    <p:sldId id="290" r:id="rId22"/>
    <p:sldId id="291" r:id="rId23"/>
    <p:sldId id="292" r:id="rId24"/>
    <p:sldId id="293" r:id="rId25"/>
    <p:sldId id="300" r:id="rId26"/>
    <p:sldId id="285" r:id="rId27"/>
    <p:sldId id="294" r:id="rId28"/>
    <p:sldId id="295" r:id="rId29"/>
    <p:sldId id="296" r:id="rId30"/>
    <p:sldId id="297" r:id="rId31"/>
    <p:sldId id="298" r:id="rId32"/>
    <p:sldId id="29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989" autoAdjust="0"/>
    <p:restoredTop sz="94660"/>
  </p:normalViewPr>
  <p:slideViewPr>
    <p:cSldViewPr snapToGrid="0">
      <p:cViewPr>
        <p:scale>
          <a:sx n="75" d="100"/>
          <a:sy n="75" d="100"/>
        </p:scale>
        <p:origin x="-1162" y="-485"/>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DA2C102-B8AE-4CC8-8DFD-907875E47A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 xmlns:a16="http://schemas.microsoft.com/office/drawing/2014/main" id="{BD06CCF0-B4C9-4910-B71B-BC5228E90B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 xmlns:a16="http://schemas.microsoft.com/office/drawing/2014/main" id="{587BE8D5-EACC-475F-B772-4C6E30ECC271}"/>
              </a:ext>
            </a:extLst>
          </p:cNvPr>
          <p:cNvSpPr>
            <a:spLocks noGrp="1"/>
          </p:cNvSpPr>
          <p:nvPr>
            <p:ph type="dt" sz="half" idx="10"/>
          </p:nvPr>
        </p:nvSpPr>
        <p:spPr/>
        <p:txBody>
          <a:bodyPr/>
          <a:lstStyle/>
          <a:p>
            <a:fld id="{084A6D4B-7653-4E0B-8F57-D38CF83377BB}" type="datetimeFigureOut">
              <a:rPr lang="en-US" smtClean="0"/>
              <a:pPr/>
              <a:t>11/21/2023</a:t>
            </a:fld>
            <a:endParaRPr lang="en-US"/>
          </a:p>
        </p:txBody>
      </p:sp>
      <p:sp>
        <p:nvSpPr>
          <p:cNvPr id="5" name="Footer Placeholder 4">
            <a:extLst>
              <a:ext uri="{FF2B5EF4-FFF2-40B4-BE49-F238E27FC236}">
                <a16:creationId xmlns="" xmlns:a16="http://schemas.microsoft.com/office/drawing/2014/main" id="{217793E9-AE2F-44EA-9261-CDDE0A3202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AEB453C0-1394-4470-9C6B-5680634C4EC3}"/>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231466898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38593C6-3D1B-460E-B901-F4BB8F0EFEF2}"/>
              </a:ext>
            </a:extLst>
          </p:cNvPr>
          <p:cNvSpPr>
            <a:spLocks noGrp="1"/>
          </p:cNvSpPr>
          <p:nvPr>
            <p:ph type="title"/>
          </p:nvPr>
        </p:nvSpPr>
        <p:spPr>
          <a:xfrm>
            <a:off x="2043484" y="365126"/>
            <a:ext cx="9310315" cy="946840"/>
          </a:xfrm>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AB9BE0FE-78F6-411B-A5F1-2D9DD895E4E1}"/>
              </a:ext>
            </a:extLst>
          </p:cNvPr>
          <p:cNvSpPr>
            <a:spLocks noGrp="1"/>
          </p:cNvSpPr>
          <p:nvPr>
            <p:ph idx="1"/>
          </p:nvPr>
        </p:nvSpPr>
        <p:spPr>
          <a:xfrm>
            <a:off x="572493" y="1431235"/>
            <a:ext cx="11100021" cy="48661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F687351A-05B1-4209-ABD5-8A3B58E66BEF}"/>
              </a:ext>
            </a:extLst>
          </p:cNvPr>
          <p:cNvSpPr>
            <a:spLocks noGrp="1"/>
          </p:cNvSpPr>
          <p:nvPr>
            <p:ph type="dt" sz="half" idx="10"/>
          </p:nvPr>
        </p:nvSpPr>
        <p:spPr/>
        <p:txBody>
          <a:bodyPr/>
          <a:lstStyle/>
          <a:p>
            <a:fld id="{084A6D4B-7653-4E0B-8F57-D38CF83377BB}" type="datetimeFigureOut">
              <a:rPr lang="en-US" smtClean="0"/>
              <a:pPr/>
              <a:t>11/21/2023</a:t>
            </a:fld>
            <a:endParaRPr lang="en-US"/>
          </a:p>
        </p:txBody>
      </p:sp>
      <p:sp>
        <p:nvSpPr>
          <p:cNvPr id="5" name="Footer Placeholder 4">
            <a:extLst>
              <a:ext uri="{FF2B5EF4-FFF2-40B4-BE49-F238E27FC236}">
                <a16:creationId xmlns="" xmlns:a16="http://schemas.microsoft.com/office/drawing/2014/main" id="{D29372B3-9D16-415C-AFC6-5D4652E2A4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4FC96612-9E2F-40CF-99EB-6E186AFA1352}"/>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282541760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FF184B0-B474-49DB-90DF-EA5251578B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 xmlns:a16="http://schemas.microsoft.com/office/drawing/2014/main" id="{321C19F0-1FB7-4AE0-896E-2777B6C627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0E6464CF-570F-4361-9C22-BC3CA88D148C}"/>
              </a:ext>
            </a:extLst>
          </p:cNvPr>
          <p:cNvSpPr>
            <a:spLocks noGrp="1"/>
          </p:cNvSpPr>
          <p:nvPr>
            <p:ph type="dt" sz="half" idx="10"/>
          </p:nvPr>
        </p:nvSpPr>
        <p:spPr/>
        <p:txBody>
          <a:bodyPr/>
          <a:lstStyle/>
          <a:p>
            <a:fld id="{084A6D4B-7653-4E0B-8F57-D38CF83377BB}" type="datetimeFigureOut">
              <a:rPr lang="en-US" smtClean="0"/>
              <a:pPr/>
              <a:t>11/21/2023</a:t>
            </a:fld>
            <a:endParaRPr lang="en-US"/>
          </a:p>
        </p:txBody>
      </p:sp>
      <p:sp>
        <p:nvSpPr>
          <p:cNvPr id="5" name="Footer Placeholder 4">
            <a:extLst>
              <a:ext uri="{FF2B5EF4-FFF2-40B4-BE49-F238E27FC236}">
                <a16:creationId xmlns="" xmlns:a16="http://schemas.microsoft.com/office/drawing/2014/main" id="{E58B62D1-8837-45F2-8787-A2B9AB185F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68E02877-DE60-4015-8FCF-892ACE36AA54}"/>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114061975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278C28F-0E26-4450-B5E9-87FEB7BDC5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70A839B7-197F-4E24-9034-3FAB490EBD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094A0A18-C706-495C-B58F-7AF0D336D6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6C573B90-884B-4A9F-A8FA-7F1E17F9DBD1}"/>
              </a:ext>
            </a:extLst>
          </p:cNvPr>
          <p:cNvSpPr>
            <a:spLocks noGrp="1"/>
          </p:cNvSpPr>
          <p:nvPr>
            <p:ph type="dt" sz="half" idx="10"/>
          </p:nvPr>
        </p:nvSpPr>
        <p:spPr/>
        <p:txBody>
          <a:bodyPr/>
          <a:lstStyle/>
          <a:p>
            <a:fld id="{084A6D4B-7653-4E0B-8F57-D38CF83377BB}" type="datetimeFigureOut">
              <a:rPr lang="en-US" smtClean="0"/>
              <a:pPr/>
              <a:t>11/21/2023</a:t>
            </a:fld>
            <a:endParaRPr lang="en-US"/>
          </a:p>
        </p:txBody>
      </p:sp>
      <p:sp>
        <p:nvSpPr>
          <p:cNvPr id="6" name="Footer Placeholder 5">
            <a:extLst>
              <a:ext uri="{FF2B5EF4-FFF2-40B4-BE49-F238E27FC236}">
                <a16:creationId xmlns="" xmlns:a16="http://schemas.microsoft.com/office/drawing/2014/main" id="{488F9F5E-BDB1-45F3-BCE2-76B6520C3B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D884A89C-CCFA-45DE-98FF-AD7815AB8397}"/>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331942534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097480A-21EF-4CFF-9025-CCD9FA4E3840}"/>
              </a:ext>
            </a:extLst>
          </p:cNvPr>
          <p:cNvSpPr>
            <a:spLocks noGrp="1"/>
          </p:cNvSpPr>
          <p:nvPr>
            <p:ph type="title"/>
          </p:nvPr>
        </p:nvSpPr>
        <p:spPr>
          <a:xfrm>
            <a:off x="2059536" y="365125"/>
            <a:ext cx="9295852" cy="959473"/>
          </a:xfrm>
        </p:spPr>
        <p:txBody>
          <a:bodyPr/>
          <a:lstStyle/>
          <a:p>
            <a:r>
              <a:rPr lang="en-US" dirty="0"/>
              <a:t>Click to edit Master title style</a:t>
            </a:r>
          </a:p>
        </p:txBody>
      </p:sp>
      <p:sp>
        <p:nvSpPr>
          <p:cNvPr id="3" name="Text Placeholder 2">
            <a:extLst>
              <a:ext uri="{FF2B5EF4-FFF2-40B4-BE49-F238E27FC236}">
                <a16:creationId xmlns="" xmlns:a16="http://schemas.microsoft.com/office/drawing/2014/main" id="{D58E34F7-5664-4D9D-945D-F455A3DFE8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D0230B20-378D-4F09-8BF3-DEC4AF8599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 xmlns:a16="http://schemas.microsoft.com/office/drawing/2014/main" id="{3E6BB53C-6E2D-4274-9D7E-A670158CB3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F167D38A-88C4-4F01-BFB9-D94E541EC2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799B471D-3ADB-4293-9A4B-67CF34A75DFE}"/>
              </a:ext>
            </a:extLst>
          </p:cNvPr>
          <p:cNvSpPr>
            <a:spLocks noGrp="1"/>
          </p:cNvSpPr>
          <p:nvPr>
            <p:ph type="dt" sz="half" idx="10"/>
          </p:nvPr>
        </p:nvSpPr>
        <p:spPr/>
        <p:txBody>
          <a:bodyPr/>
          <a:lstStyle/>
          <a:p>
            <a:fld id="{084A6D4B-7653-4E0B-8F57-D38CF83377BB}" type="datetimeFigureOut">
              <a:rPr lang="en-US" smtClean="0"/>
              <a:pPr/>
              <a:t>11/21/2023</a:t>
            </a:fld>
            <a:endParaRPr lang="en-US"/>
          </a:p>
        </p:txBody>
      </p:sp>
      <p:sp>
        <p:nvSpPr>
          <p:cNvPr id="8" name="Footer Placeholder 7">
            <a:extLst>
              <a:ext uri="{FF2B5EF4-FFF2-40B4-BE49-F238E27FC236}">
                <a16:creationId xmlns="" xmlns:a16="http://schemas.microsoft.com/office/drawing/2014/main" id="{F3774760-CCCB-42BA-9A1B-D8E7D8A947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 xmlns:a16="http://schemas.microsoft.com/office/drawing/2014/main" id="{183038AC-F431-4B77-9D3B-926E6AB6988E}"/>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3794086595"/>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A8AF7B9-53C0-4585-9B89-2FBA7B701ED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26201745-3FA6-4569-A489-EF0EA162A557}"/>
              </a:ext>
            </a:extLst>
          </p:cNvPr>
          <p:cNvSpPr>
            <a:spLocks noGrp="1"/>
          </p:cNvSpPr>
          <p:nvPr>
            <p:ph type="dt" sz="half" idx="10"/>
          </p:nvPr>
        </p:nvSpPr>
        <p:spPr/>
        <p:txBody>
          <a:bodyPr/>
          <a:lstStyle/>
          <a:p>
            <a:fld id="{084A6D4B-7653-4E0B-8F57-D38CF83377BB}" type="datetimeFigureOut">
              <a:rPr lang="en-US" smtClean="0"/>
              <a:pPr/>
              <a:t>11/21/2023</a:t>
            </a:fld>
            <a:endParaRPr lang="en-US"/>
          </a:p>
        </p:txBody>
      </p:sp>
      <p:sp>
        <p:nvSpPr>
          <p:cNvPr id="4" name="Footer Placeholder 3">
            <a:extLst>
              <a:ext uri="{FF2B5EF4-FFF2-40B4-BE49-F238E27FC236}">
                <a16:creationId xmlns="" xmlns:a16="http://schemas.microsoft.com/office/drawing/2014/main" id="{7CBFEA74-BC5E-4B0B-835D-E657A873B5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 xmlns:a16="http://schemas.microsoft.com/office/drawing/2014/main" id="{BFD1EE18-4D1C-4701-8BBA-0169DC7CC463}"/>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57584139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019FDDA1-6ACB-4F4D-B161-8B6F5641054C}"/>
              </a:ext>
            </a:extLst>
          </p:cNvPr>
          <p:cNvSpPr>
            <a:spLocks noGrp="1"/>
          </p:cNvSpPr>
          <p:nvPr>
            <p:ph type="dt" sz="half" idx="10"/>
          </p:nvPr>
        </p:nvSpPr>
        <p:spPr/>
        <p:txBody>
          <a:bodyPr/>
          <a:lstStyle/>
          <a:p>
            <a:fld id="{084A6D4B-7653-4E0B-8F57-D38CF83377BB}" type="datetimeFigureOut">
              <a:rPr lang="en-US" smtClean="0"/>
              <a:pPr/>
              <a:t>11/21/2023</a:t>
            </a:fld>
            <a:endParaRPr lang="en-US"/>
          </a:p>
        </p:txBody>
      </p:sp>
      <p:sp>
        <p:nvSpPr>
          <p:cNvPr id="3" name="Footer Placeholder 2">
            <a:extLst>
              <a:ext uri="{FF2B5EF4-FFF2-40B4-BE49-F238E27FC236}">
                <a16:creationId xmlns="" xmlns:a16="http://schemas.microsoft.com/office/drawing/2014/main" id="{57317F60-55C3-4BB3-BDEB-861CA8251C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 xmlns:a16="http://schemas.microsoft.com/office/drawing/2014/main" id="{F1E89CA0-249C-4A75-A3B7-DBDE4463B167}"/>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2936270942"/>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354949C-EB4F-4ACF-8ADE-56A8C29C79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 xmlns:a16="http://schemas.microsoft.com/office/drawing/2014/main" id="{9E126C2B-8498-44CE-B005-71433DDBB6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 xmlns:a16="http://schemas.microsoft.com/office/drawing/2014/main" id="{6F0CAAFC-D17E-4850-87AB-4B0A70BF44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670FB378-A528-4D34-A3DA-9AAD4037616B}"/>
              </a:ext>
            </a:extLst>
          </p:cNvPr>
          <p:cNvSpPr>
            <a:spLocks noGrp="1"/>
          </p:cNvSpPr>
          <p:nvPr>
            <p:ph type="dt" sz="half" idx="10"/>
          </p:nvPr>
        </p:nvSpPr>
        <p:spPr/>
        <p:txBody>
          <a:bodyPr/>
          <a:lstStyle/>
          <a:p>
            <a:fld id="{084A6D4B-7653-4E0B-8F57-D38CF83377BB}" type="datetimeFigureOut">
              <a:rPr lang="en-US" smtClean="0"/>
              <a:pPr/>
              <a:t>11/21/2023</a:t>
            </a:fld>
            <a:endParaRPr lang="en-US"/>
          </a:p>
        </p:txBody>
      </p:sp>
      <p:sp>
        <p:nvSpPr>
          <p:cNvPr id="6" name="Footer Placeholder 5">
            <a:extLst>
              <a:ext uri="{FF2B5EF4-FFF2-40B4-BE49-F238E27FC236}">
                <a16:creationId xmlns="" xmlns:a16="http://schemas.microsoft.com/office/drawing/2014/main" id="{3BE1E530-6145-4EB0-B9A0-4C5FC5E735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2F277388-E30C-4DA3-B6CF-2F6706424C68}"/>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778826850"/>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A174CB1-3943-4F0E-9F85-C3E76CA810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 xmlns:a16="http://schemas.microsoft.com/office/drawing/2014/main" id="{B93E7326-9859-4138-A3F6-5A4E1D605F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 xmlns:a16="http://schemas.microsoft.com/office/drawing/2014/main" id="{61411D02-CB68-43D9-85FC-185924DA25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16D51B13-BF22-4142-BD28-F2F7C6142ECF}"/>
              </a:ext>
            </a:extLst>
          </p:cNvPr>
          <p:cNvSpPr>
            <a:spLocks noGrp="1"/>
          </p:cNvSpPr>
          <p:nvPr>
            <p:ph type="dt" sz="half" idx="10"/>
          </p:nvPr>
        </p:nvSpPr>
        <p:spPr/>
        <p:txBody>
          <a:bodyPr/>
          <a:lstStyle/>
          <a:p>
            <a:fld id="{084A6D4B-7653-4E0B-8F57-D38CF83377BB}" type="datetimeFigureOut">
              <a:rPr lang="en-US" smtClean="0"/>
              <a:pPr/>
              <a:t>11/21/2023</a:t>
            </a:fld>
            <a:endParaRPr lang="en-US"/>
          </a:p>
        </p:txBody>
      </p:sp>
      <p:sp>
        <p:nvSpPr>
          <p:cNvPr id="6" name="Footer Placeholder 5">
            <a:extLst>
              <a:ext uri="{FF2B5EF4-FFF2-40B4-BE49-F238E27FC236}">
                <a16:creationId xmlns="" xmlns:a16="http://schemas.microsoft.com/office/drawing/2014/main" id="{29197E58-C0D2-4770-BF0F-B8560F934F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2179F60B-0CBB-4728-801E-BBB606D2C381}"/>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99707503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685D5A0-D36B-42D3-8503-A08848E908F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4B9DE344-B2E6-4D08-8EFD-71DBF31471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494F3758-74C8-452E-83A6-2CC57BC5F423}"/>
              </a:ext>
            </a:extLst>
          </p:cNvPr>
          <p:cNvSpPr>
            <a:spLocks noGrp="1"/>
          </p:cNvSpPr>
          <p:nvPr>
            <p:ph type="dt" sz="half" idx="10"/>
          </p:nvPr>
        </p:nvSpPr>
        <p:spPr/>
        <p:txBody>
          <a:bodyPr/>
          <a:lstStyle/>
          <a:p>
            <a:fld id="{084A6D4B-7653-4E0B-8F57-D38CF83377BB}" type="datetimeFigureOut">
              <a:rPr lang="en-US" smtClean="0"/>
              <a:pPr/>
              <a:t>11/21/2023</a:t>
            </a:fld>
            <a:endParaRPr lang="en-US"/>
          </a:p>
        </p:txBody>
      </p:sp>
      <p:sp>
        <p:nvSpPr>
          <p:cNvPr id="5" name="Footer Placeholder 4">
            <a:extLst>
              <a:ext uri="{FF2B5EF4-FFF2-40B4-BE49-F238E27FC236}">
                <a16:creationId xmlns="" xmlns:a16="http://schemas.microsoft.com/office/drawing/2014/main" id="{4A0A3BFC-EC66-4779-8648-8C5557A28E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111D2088-CE38-4639-9C50-5E8FE341BD1C}"/>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146818737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956662CB-0803-47C7-B8F3-343BD637577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 xmlns:a16="http://schemas.microsoft.com/office/drawing/2014/main" id="{DC913163-7159-4A13-99D8-0BF55A0089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08937CC0-663F-45FD-AF01-CB2762545C84}"/>
              </a:ext>
            </a:extLst>
          </p:cNvPr>
          <p:cNvSpPr>
            <a:spLocks noGrp="1"/>
          </p:cNvSpPr>
          <p:nvPr>
            <p:ph type="dt" sz="half" idx="10"/>
          </p:nvPr>
        </p:nvSpPr>
        <p:spPr/>
        <p:txBody>
          <a:bodyPr/>
          <a:lstStyle/>
          <a:p>
            <a:fld id="{084A6D4B-7653-4E0B-8F57-D38CF83377BB}" type="datetimeFigureOut">
              <a:rPr lang="en-US" smtClean="0"/>
              <a:pPr/>
              <a:t>11/21/2023</a:t>
            </a:fld>
            <a:endParaRPr lang="en-US"/>
          </a:p>
        </p:txBody>
      </p:sp>
      <p:sp>
        <p:nvSpPr>
          <p:cNvPr id="5" name="Footer Placeholder 4">
            <a:extLst>
              <a:ext uri="{FF2B5EF4-FFF2-40B4-BE49-F238E27FC236}">
                <a16:creationId xmlns="" xmlns:a16="http://schemas.microsoft.com/office/drawing/2014/main" id="{36F24968-DE40-4BED-BFBB-FACFDD8CFF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9C1762EC-6177-4132-ACB5-5C730475D94C}"/>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311702460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2AD6C713-6B5B-4652-B919-0C9C326BA8FB}"/>
              </a:ext>
            </a:extLst>
          </p:cNvPr>
          <p:cNvSpPr>
            <a:spLocks noGrp="1"/>
          </p:cNvSpPr>
          <p:nvPr>
            <p:ph type="title"/>
          </p:nvPr>
        </p:nvSpPr>
        <p:spPr>
          <a:xfrm>
            <a:off x="2043484" y="365126"/>
            <a:ext cx="9310315" cy="93093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F103E2E6-5E74-4663-AD70-D00426D6A4CF}"/>
              </a:ext>
            </a:extLst>
          </p:cNvPr>
          <p:cNvSpPr>
            <a:spLocks noGrp="1"/>
          </p:cNvSpPr>
          <p:nvPr>
            <p:ph type="body" idx="1"/>
          </p:nvPr>
        </p:nvSpPr>
        <p:spPr>
          <a:xfrm>
            <a:off x="564543" y="1447137"/>
            <a:ext cx="10789257" cy="472982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B9927BD6-A005-4E4E-8C32-0E1B6CC0CD1A}"/>
              </a:ext>
            </a:extLst>
          </p:cNvPr>
          <p:cNvSpPr>
            <a:spLocks noGrp="1"/>
          </p:cNvSpPr>
          <p:nvPr>
            <p:ph type="dt" sz="half" idx="2"/>
          </p:nvPr>
        </p:nvSpPr>
        <p:spPr>
          <a:xfrm>
            <a:off x="2050990" y="6520441"/>
            <a:ext cx="1530409" cy="346316"/>
          </a:xfrm>
          <a:prstGeom prst="rect">
            <a:avLst/>
          </a:prstGeom>
        </p:spPr>
        <p:txBody>
          <a:bodyPr vert="horz" lIns="91440" tIns="45720" rIns="91440" bIns="45720" rtlCol="0" anchor="ctr"/>
          <a:lstStyle>
            <a:lvl1pPr algn="l">
              <a:defRPr sz="1200">
                <a:solidFill>
                  <a:schemeClr val="tx1">
                    <a:tint val="75000"/>
                  </a:schemeClr>
                </a:solidFill>
              </a:defRPr>
            </a:lvl1pPr>
          </a:lstStyle>
          <a:p>
            <a:fld id="{084A6D4B-7653-4E0B-8F57-D38CF83377BB}" type="datetimeFigureOut">
              <a:rPr lang="en-US" smtClean="0"/>
              <a:pPr/>
              <a:t>11/21/2023</a:t>
            </a:fld>
            <a:endParaRPr lang="en-US"/>
          </a:p>
        </p:txBody>
      </p:sp>
      <p:sp>
        <p:nvSpPr>
          <p:cNvPr id="5" name="Footer Placeholder 4">
            <a:extLst>
              <a:ext uri="{FF2B5EF4-FFF2-40B4-BE49-F238E27FC236}">
                <a16:creationId xmlns="" xmlns:a16="http://schemas.microsoft.com/office/drawing/2014/main" id="{ED2D051F-F1D7-4D05-9D06-0B2E7BC10237}"/>
              </a:ext>
            </a:extLst>
          </p:cNvPr>
          <p:cNvSpPr>
            <a:spLocks noGrp="1"/>
          </p:cNvSpPr>
          <p:nvPr>
            <p:ph type="ftr" sz="quarter" idx="3"/>
          </p:nvPr>
        </p:nvSpPr>
        <p:spPr>
          <a:xfrm>
            <a:off x="4038600" y="6528987"/>
            <a:ext cx="4114800" cy="32922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 xmlns:a16="http://schemas.microsoft.com/office/drawing/2014/main" id="{A191EC13-E05F-4BCF-8EC0-B2CDC677738E}"/>
              </a:ext>
            </a:extLst>
          </p:cNvPr>
          <p:cNvSpPr>
            <a:spLocks noGrp="1"/>
          </p:cNvSpPr>
          <p:nvPr>
            <p:ph type="sldNum" sz="quarter" idx="4"/>
          </p:nvPr>
        </p:nvSpPr>
        <p:spPr>
          <a:xfrm>
            <a:off x="8610600" y="6528987"/>
            <a:ext cx="2743200" cy="329224"/>
          </a:xfrm>
          <a:prstGeom prst="rect">
            <a:avLst/>
          </a:prstGeom>
        </p:spPr>
        <p:txBody>
          <a:bodyPr vert="horz" lIns="91440" tIns="45720" rIns="91440" bIns="45720" rtlCol="0" anchor="ctr"/>
          <a:lstStyle>
            <a:lvl1pPr algn="r">
              <a:defRPr sz="1200">
                <a:solidFill>
                  <a:schemeClr val="tx1">
                    <a:tint val="75000"/>
                  </a:schemeClr>
                </a:solidFill>
              </a:defRPr>
            </a:lvl1pPr>
          </a:lstStyle>
          <a:p>
            <a:fld id="{4AAB023F-0D85-424A-AD30-ACA224193313}" type="slidenum">
              <a:rPr lang="en-US" smtClean="0"/>
              <a:pPr/>
              <a:t>‹#›</a:t>
            </a:fld>
            <a:endParaRPr lang="en-US"/>
          </a:p>
        </p:txBody>
      </p:sp>
    </p:spTree>
    <p:extLst>
      <p:ext uri="{BB962C8B-B14F-4D97-AF65-F5344CB8AC3E}">
        <p14:creationId xmlns:p14="http://schemas.microsoft.com/office/powerpoint/2010/main" val="4060027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7.png"/><Relationship Id="rId5" Type="http://schemas.openxmlformats.org/officeDocument/2006/relationships/image" Target="../media/image5.wmf"/><Relationship Id="rId4"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AD286FF-B124-458F-B57B-2B1D24945A8B}"/>
              </a:ext>
            </a:extLst>
          </p:cNvPr>
          <p:cNvSpPr>
            <a:spLocks noGrp="1"/>
          </p:cNvSpPr>
          <p:nvPr>
            <p:ph type="ctrTitle"/>
          </p:nvPr>
        </p:nvSpPr>
        <p:spPr/>
        <p:txBody>
          <a:bodyPr>
            <a:normAutofit/>
          </a:bodyPr>
          <a:lstStyle/>
          <a:p>
            <a:r>
              <a:rPr lang="en-US" sz="4400" dirty="0" smtClean="0"/>
              <a:t>KỸ THUẬT TRUYỀN SỐ LIỆU</a:t>
            </a:r>
            <a:endParaRPr lang="en-US" sz="4400" dirty="0"/>
          </a:p>
        </p:txBody>
      </p:sp>
      <p:sp>
        <p:nvSpPr>
          <p:cNvPr id="3" name="Subtitle 2">
            <a:extLst>
              <a:ext uri="{FF2B5EF4-FFF2-40B4-BE49-F238E27FC236}">
                <a16:creationId xmlns="" xmlns:a16="http://schemas.microsoft.com/office/drawing/2014/main" id="{5B71ED79-E603-4351-A7EB-B158BDF0BA05}"/>
              </a:ext>
            </a:extLst>
          </p:cNvPr>
          <p:cNvSpPr>
            <a:spLocks noGrp="1"/>
          </p:cNvSpPr>
          <p:nvPr>
            <p:ph type="subTitle" idx="1"/>
          </p:nvPr>
        </p:nvSpPr>
        <p:spPr/>
        <p:txBody>
          <a:bodyPr>
            <a:normAutofit/>
          </a:bodyPr>
          <a:lstStyle/>
          <a:p>
            <a:r>
              <a:rPr lang="en-US" sz="3200" dirty="0" smtClean="0"/>
              <a:t>(DATA COMMUNICATION TECHNOLOGY)</a:t>
            </a:r>
            <a:endParaRPr lang="en-US" sz="3200" dirty="0"/>
          </a:p>
        </p:txBody>
      </p:sp>
    </p:spTree>
    <p:extLst>
      <p:ext uri="{BB962C8B-B14F-4D97-AF65-F5344CB8AC3E}">
        <p14:creationId xmlns:p14="http://schemas.microsoft.com/office/powerpoint/2010/main" val="14560913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B0D1B0C-9F51-49D2-9435-3E7CBF678872}"/>
              </a:ext>
            </a:extLst>
          </p:cNvPr>
          <p:cNvSpPr>
            <a:spLocks noGrp="1"/>
          </p:cNvSpPr>
          <p:nvPr>
            <p:ph type="title"/>
          </p:nvPr>
        </p:nvSpPr>
        <p:spPr>
          <a:xfrm>
            <a:off x="2043484" y="365126"/>
            <a:ext cx="9310315" cy="1137672"/>
          </a:xfrm>
        </p:spPr>
        <p:txBody>
          <a:bodyPr/>
          <a:lstStyle/>
          <a:p>
            <a:r>
              <a:rPr lang="en-US" dirty="0" smtClean="0"/>
              <a:t>Nội dung môn học</a:t>
            </a:r>
            <a:endParaRPr lang="en-US" dirty="0"/>
          </a:p>
        </p:txBody>
      </p:sp>
      <p:sp>
        <p:nvSpPr>
          <p:cNvPr id="3" name="Content Placeholder 2">
            <a:extLst>
              <a:ext uri="{FF2B5EF4-FFF2-40B4-BE49-F238E27FC236}">
                <a16:creationId xmlns="" xmlns:a16="http://schemas.microsoft.com/office/drawing/2014/main" id="{093BB65F-E818-4AC8-969E-874A837A92F9}"/>
              </a:ext>
            </a:extLst>
          </p:cNvPr>
          <p:cNvSpPr>
            <a:spLocks noGrp="1"/>
          </p:cNvSpPr>
          <p:nvPr>
            <p:ph idx="1"/>
          </p:nvPr>
        </p:nvSpPr>
        <p:spPr>
          <a:xfrm>
            <a:off x="469127" y="1543050"/>
            <a:ext cx="11235193" cy="5029200"/>
          </a:xfrm>
        </p:spPr>
        <p:txBody>
          <a:bodyPr>
            <a:normAutofit fontScale="92500" lnSpcReduction="10000"/>
          </a:bodyPr>
          <a:lstStyle/>
          <a:p>
            <a:r>
              <a:rPr lang="en-US" sz="3200" b="1" dirty="0" smtClean="0"/>
              <a:t>Chương 1: </a:t>
            </a:r>
            <a:r>
              <a:rPr lang="en-US" sz="3200" dirty="0" smtClean="0"/>
              <a:t>Các khái niệm cơ bản</a:t>
            </a:r>
          </a:p>
          <a:p>
            <a:r>
              <a:rPr lang="en-US" sz="3200" b="1" dirty="0" smtClean="0"/>
              <a:t>Chương 2: </a:t>
            </a:r>
            <a:r>
              <a:rPr lang="en-US" sz="3200" dirty="0" smtClean="0"/>
              <a:t>Mô hình OSI</a:t>
            </a:r>
          </a:p>
          <a:p>
            <a:r>
              <a:rPr lang="en-US" sz="3200" b="1" dirty="0" smtClean="0"/>
              <a:t>Chương 3: </a:t>
            </a:r>
            <a:r>
              <a:rPr lang="en-US" sz="3200" dirty="0" smtClean="0"/>
              <a:t>Tín hiệu</a:t>
            </a:r>
          </a:p>
          <a:p>
            <a:r>
              <a:rPr lang="en-US" sz="3200" b="1" dirty="0" smtClean="0"/>
              <a:t>Chương 4: </a:t>
            </a:r>
            <a:r>
              <a:rPr lang="en-US" sz="3200" dirty="0" smtClean="0"/>
              <a:t>Mã hóa và điều chế</a:t>
            </a:r>
          </a:p>
          <a:p>
            <a:r>
              <a:rPr lang="en-US" sz="3200" b="1" dirty="0" smtClean="0"/>
              <a:t>Chương 5: </a:t>
            </a:r>
            <a:r>
              <a:rPr lang="en-US" sz="3200" dirty="0" smtClean="0"/>
              <a:t>Truyền dữ liệu số</a:t>
            </a:r>
          </a:p>
          <a:p>
            <a:r>
              <a:rPr lang="en-US" sz="3200" b="1" dirty="0" smtClean="0"/>
              <a:t>Chương 6: </a:t>
            </a:r>
            <a:r>
              <a:rPr lang="en-US" sz="3200" dirty="0" smtClean="0"/>
              <a:t>Môi trường truyền dẫn </a:t>
            </a:r>
          </a:p>
          <a:p>
            <a:r>
              <a:rPr lang="en-US" sz="3200" b="1" dirty="0" smtClean="0"/>
              <a:t>Chương 7: </a:t>
            </a:r>
            <a:r>
              <a:rPr lang="en-US" sz="3200" dirty="0" smtClean="0"/>
              <a:t>Ghép kênh</a:t>
            </a:r>
          </a:p>
          <a:p>
            <a:r>
              <a:rPr lang="en-US" sz="3200" b="1" dirty="0" smtClean="0"/>
              <a:t>Chương 8: </a:t>
            </a:r>
            <a:r>
              <a:rPr lang="en-US" sz="3200" dirty="0" smtClean="0"/>
              <a:t>Điều khiển kết nối và phát hiện sửa lỗi</a:t>
            </a:r>
          </a:p>
          <a:p>
            <a:r>
              <a:rPr lang="en-US" sz="3200" b="1" dirty="0" smtClean="0"/>
              <a:t>Chương 9: </a:t>
            </a:r>
            <a:r>
              <a:rPr lang="en-US" sz="3200" dirty="0" smtClean="0"/>
              <a:t>Giao thức kết nối dữ liệu</a:t>
            </a:r>
          </a:p>
          <a:p>
            <a:r>
              <a:rPr lang="en-US" sz="3200" b="1" dirty="0" smtClean="0"/>
              <a:t>Chương 10: </a:t>
            </a:r>
            <a:r>
              <a:rPr lang="en-US" sz="3200" dirty="0" smtClean="0"/>
              <a:t>Mạng cục bộ</a:t>
            </a:r>
          </a:p>
        </p:txBody>
      </p:sp>
    </p:spTree>
    <p:extLst>
      <p:ext uri="{BB962C8B-B14F-4D97-AF65-F5344CB8AC3E}">
        <p14:creationId xmlns:p14="http://schemas.microsoft.com/office/powerpoint/2010/main" val="34864484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                 Chương 8</a:t>
            </a:r>
            <a:endParaRPr lang="en-US" b="1" dirty="0"/>
          </a:p>
        </p:txBody>
      </p:sp>
      <p:sp>
        <p:nvSpPr>
          <p:cNvPr id="3" name="Content Placeholder 2"/>
          <p:cNvSpPr>
            <a:spLocks noGrp="1"/>
          </p:cNvSpPr>
          <p:nvPr>
            <p:ph idx="1"/>
          </p:nvPr>
        </p:nvSpPr>
        <p:spPr/>
        <p:txBody>
          <a:bodyPr>
            <a:normAutofit/>
          </a:bodyPr>
          <a:lstStyle/>
          <a:p>
            <a:pPr algn="ctr">
              <a:buNone/>
            </a:pPr>
            <a:r>
              <a:rPr lang="en-US" sz="5400" dirty="0" smtClean="0">
                <a:latin typeface="Times New Roman" pitchFamily="18" charset="0"/>
                <a:cs typeface="Times New Roman" pitchFamily="18" charset="0"/>
              </a:rPr>
              <a:t>ĐIỀU KHIỂN KẾT NỐI VÀ PHÁT HIỆN SỬA LỖI</a:t>
            </a:r>
            <a:endParaRPr lang="en-US" sz="54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Nội dung chương 8</a:t>
            </a: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v"/>
            </a:pPr>
            <a:r>
              <a:rPr lang="en-US" sz="4000" dirty="0" smtClean="0"/>
              <a:t> Phát hiện và sửa lỗi</a:t>
            </a:r>
          </a:p>
          <a:p>
            <a:r>
              <a:rPr lang="en-US" sz="3600" dirty="0" smtClean="0"/>
              <a:t> Các dạng lỗi</a:t>
            </a:r>
          </a:p>
          <a:p>
            <a:r>
              <a:rPr lang="en-US" sz="3600" dirty="0" smtClean="0"/>
              <a:t> Phát hiện lỗi</a:t>
            </a:r>
          </a:p>
          <a:p>
            <a:r>
              <a:rPr lang="en-US" sz="3600" dirty="0" smtClean="0"/>
              <a:t> Sửa lỗi</a:t>
            </a:r>
          </a:p>
          <a:p>
            <a:pPr>
              <a:buFont typeface="Wingdings" pitchFamily="2" charset="2"/>
              <a:buChar char="v"/>
            </a:pPr>
            <a:r>
              <a:rPr lang="en-US" sz="4000" dirty="0" smtClean="0"/>
              <a:t> Điều khiển kết nối dữ liệu</a:t>
            </a:r>
          </a:p>
          <a:p>
            <a:r>
              <a:rPr lang="en-US" sz="3600" dirty="0" smtClean="0"/>
              <a:t> Hạng mục đường dây</a:t>
            </a:r>
          </a:p>
          <a:p>
            <a:r>
              <a:rPr lang="en-US" sz="3600" dirty="0" smtClean="0"/>
              <a:t> Điều khiển lưu lượng</a:t>
            </a:r>
          </a:p>
          <a:p>
            <a:r>
              <a:rPr lang="en-US" sz="3600" dirty="0" smtClean="0"/>
              <a:t> Điều khiển lỗi</a:t>
            </a:r>
            <a:endParaRPr lang="en-US" sz="3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8.1 Phát hiện và sửa lỗi</a:t>
            </a:r>
            <a:endParaRPr lang="en-US" dirty="0"/>
          </a:p>
        </p:txBody>
      </p:sp>
      <p:sp>
        <p:nvSpPr>
          <p:cNvPr id="3" name="Content Placeholder 2"/>
          <p:cNvSpPr>
            <a:spLocks noGrp="1"/>
          </p:cNvSpPr>
          <p:nvPr>
            <p:ph idx="1"/>
          </p:nvPr>
        </p:nvSpPr>
        <p:spPr/>
        <p:txBody>
          <a:bodyPr>
            <a:noAutofit/>
          </a:bodyPr>
          <a:lstStyle/>
          <a:p>
            <a:pPr>
              <a:buFont typeface="Wingdings" pitchFamily="2" charset="2"/>
              <a:buChar char="v"/>
            </a:pPr>
            <a:r>
              <a:rPr lang="en-US" sz="3600" dirty="0" smtClean="0">
                <a:latin typeface="Times New Roman" pitchFamily="18" charset="0"/>
                <a:cs typeface="Times New Roman" pitchFamily="18" charset="0"/>
              </a:rPr>
              <a:t> </a:t>
            </a:r>
            <a:r>
              <a:rPr lang="vi-VN" sz="3600" dirty="0" smtClean="0">
                <a:latin typeface="Times New Roman" pitchFamily="18" charset="0"/>
                <a:cs typeface="Times New Roman" pitchFamily="18" charset="0"/>
              </a:rPr>
              <a:t>Việc phát hiện và sửa lỗi được thiết lập ở</a:t>
            </a:r>
            <a:r>
              <a:rPr lang="en-US" sz="3600" dirty="0" smtClean="0">
                <a:latin typeface="Times New Roman" pitchFamily="18" charset="0"/>
                <a:cs typeface="Times New Roman" pitchFamily="18" charset="0"/>
              </a:rPr>
              <a:t>:</a:t>
            </a:r>
          </a:p>
          <a:p>
            <a:r>
              <a:rPr lang="vi-VN" sz="3600" dirty="0" smtClean="0">
                <a:latin typeface="Times New Roman" pitchFamily="18" charset="0"/>
                <a:cs typeface="Times New Roman" pitchFamily="18" charset="0"/>
              </a:rPr>
              <a:t> </a:t>
            </a:r>
            <a:r>
              <a:rPr lang="en-US" sz="3600" dirty="0" smtClean="0">
                <a:latin typeface="Times New Roman" pitchFamily="18" charset="0"/>
                <a:cs typeface="Times New Roman" pitchFamily="18" charset="0"/>
              </a:rPr>
              <a:t>L</a:t>
            </a:r>
            <a:r>
              <a:rPr lang="vi-VN" sz="3600" dirty="0" smtClean="0">
                <a:latin typeface="Times New Roman" pitchFamily="18" charset="0"/>
                <a:cs typeface="Times New Roman" pitchFamily="18" charset="0"/>
              </a:rPr>
              <a:t>ớp kết nối dữ liệu hoặc</a:t>
            </a:r>
            <a:endParaRPr lang="en-US" sz="3600" dirty="0" smtClean="0">
              <a:latin typeface="Times New Roman" pitchFamily="18" charset="0"/>
              <a:cs typeface="Times New Roman" pitchFamily="18" charset="0"/>
            </a:endParaRPr>
          </a:p>
          <a:p>
            <a:r>
              <a:rPr lang="en-US" sz="3600" dirty="0" smtClean="0">
                <a:latin typeface="Times New Roman" pitchFamily="18" charset="0"/>
                <a:cs typeface="Times New Roman" pitchFamily="18" charset="0"/>
              </a:rPr>
              <a:t> L</a:t>
            </a:r>
            <a:r>
              <a:rPr lang="vi-VN" sz="3600" dirty="0" smtClean="0">
                <a:latin typeface="Times New Roman" pitchFamily="18" charset="0"/>
                <a:cs typeface="Times New Roman" pitchFamily="18" charset="0"/>
              </a:rPr>
              <a:t>ớp vận chuyển trong mô hình OSI </a:t>
            </a:r>
            <a:endParaRPr lang="en-US" sz="360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8.1.1 Các dạng lỗi</a:t>
            </a:r>
            <a:endParaRPr lang="en-US" dirty="0"/>
          </a:p>
        </p:txBody>
      </p:sp>
      <p:sp>
        <p:nvSpPr>
          <p:cNvPr id="3" name="Content Placeholder 2"/>
          <p:cNvSpPr>
            <a:spLocks noGrp="1"/>
          </p:cNvSpPr>
          <p:nvPr>
            <p:ph idx="1"/>
          </p:nvPr>
        </p:nvSpPr>
        <p:spPr/>
        <p:txBody>
          <a:bodyPr>
            <a:normAutofit/>
          </a:bodyPr>
          <a:lstStyle/>
          <a:p>
            <a:r>
              <a:rPr lang="en-US" sz="3200" b="1" dirty="0" smtClean="0">
                <a:latin typeface="Times New Roman" pitchFamily="18" charset="0"/>
                <a:cs typeface="Times New Roman" pitchFamily="18" charset="0"/>
              </a:rPr>
              <a:t>Có 2 dạng lỗi: </a:t>
            </a:r>
            <a:r>
              <a:rPr lang="en-US" sz="3200" dirty="0" smtClean="0">
                <a:latin typeface="Times New Roman" pitchFamily="18" charset="0"/>
                <a:cs typeface="Times New Roman" pitchFamily="18" charset="0"/>
              </a:rPr>
              <a:t>Lỗi một bit và lỗi nhiều bit (burst) </a:t>
            </a:r>
            <a:endParaRPr lang="en-US" sz="32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srcRect/>
          <a:stretch>
            <a:fillRect/>
          </a:stretch>
        </p:blipFill>
        <p:spPr bwMode="auto">
          <a:xfrm>
            <a:off x="2215320" y="2110473"/>
            <a:ext cx="7023930" cy="2442477"/>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8.1.2 Phát hiện lỗi</a:t>
            </a:r>
            <a:endParaRPr lang="en-US" dirty="0"/>
          </a:p>
        </p:txBody>
      </p:sp>
      <p:sp>
        <p:nvSpPr>
          <p:cNvPr id="3" name="Content Placeholder 2"/>
          <p:cNvSpPr>
            <a:spLocks noGrp="1"/>
          </p:cNvSpPr>
          <p:nvPr>
            <p:ph idx="1"/>
          </p:nvPr>
        </p:nvSpPr>
        <p:spPr>
          <a:xfrm>
            <a:off x="572493" y="1431235"/>
            <a:ext cx="11124207" cy="4866198"/>
          </a:xfrm>
        </p:spPr>
        <p:txBody>
          <a:bodyPr>
            <a:normAutofit/>
          </a:bodyPr>
          <a:lstStyle/>
          <a:p>
            <a:pPr>
              <a:buFont typeface="Wingdings" pitchFamily="2" charset="2"/>
              <a:buChar char="v"/>
            </a:pPr>
            <a:r>
              <a:rPr lang="en-US" sz="3000" dirty="0" smtClean="0">
                <a:latin typeface="Times New Roman" pitchFamily="18" charset="0"/>
                <a:cs typeface="Times New Roman" pitchFamily="18" charset="0"/>
              </a:rPr>
              <a:t> Mã thừa (Redundancy)</a:t>
            </a:r>
          </a:p>
          <a:p>
            <a:r>
              <a:rPr lang="vi-VN" dirty="0" smtClean="0">
                <a:latin typeface="Times New Roman" pitchFamily="18" charset="0"/>
                <a:cs typeface="Times New Roman" pitchFamily="18" charset="0"/>
              </a:rPr>
              <a:t>Ý tưởng thêm các thông tin phụ vào trong bản tin chỉ nhằm mục  đích giúp kiểm tra lỗi. </a:t>
            </a:r>
          </a:p>
          <a:p>
            <a:r>
              <a:rPr lang="vi-VN" dirty="0" smtClean="0">
                <a:latin typeface="Times New Roman" pitchFamily="18" charset="0"/>
                <a:cs typeface="Times New Roman" pitchFamily="18" charset="0"/>
              </a:rPr>
              <a:t>Mã thừa sẽ được loại bỏ sau khi đã xác định xong độ chính xác của quá trình truyền</a:t>
            </a:r>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srcRect/>
          <a:stretch>
            <a:fillRect/>
          </a:stretch>
        </p:blipFill>
        <p:spPr bwMode="auto">
          <a:xfrm>
            <a:off x="2786063" y="3399287"/>
            <a:ext cx="7558087" cy="3401563"/>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8.1.2 Phát hiện lỗi</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000" dirty="0" smtClean="0">
                <a:latin typeface="+mj-lt"/>
              </a:rPr>
              <a:t> </a:t>
            </a:r>
            <a:r>
              <a:rPr lang="vi-VN" sz="3000" dirty="0" smtClean="0">
                <a:latin typeface="+mj-lt"/>
              </a:rPr>
              <a:t>Có bốn dạng kiểm tra lỗi cơ bản dùng mã thừa trong truyền dữ liệu</a:t>
            </a:r>
            <a:endParaRPr lang="en-US" sz="3000" dirty="0" smtClean="0">
              <a:latin typeface="+mj-lt"/>
            </a:endParaRPr>
          </a:p>
          <a:p>
            <a:r>
              <a:rPr lang="vi-VN" sz="3000" b="1" dirty="0" smtClean="0">
                <a:latin typeface="+mj-lt"/>
              </a:rPr>
              <a:t>VRC</a:t>
            </a:r>
            <a:r>
              <a:rPr lang="vi-VN" sz="3000" dirty="0" smtClean="0">
                <a:latin typeface="+mj-lt"/>
              </a:rPr>
              <a:t> (vertical redundancy check): kiểm tra tính chẵn lẻ của tổng bit ‘1’ trong một đơn vị dữ liệu</a:t>
            </a:r>
            <a:endParaRPr lang="en-US" sz="3000" dirty="0" smtClean="0">
              <a:latin typeface="+mj-lt"/>
            </a:endParaRPr>
          </a:p>
          <a:p>
            <a:r>
              <a:rPr lang="vi-VN" sz="3000" b="1" dirty="0" smtClean="0">
                <a:latin typeface="+mj-lt"/>
              </a:rPr>
              <a:t>LRC</a:t>
            </a:r>
            <a:r>
              <a:rPr lang="vi-VN" sz="3000" dirty="0" smtClean="0">
                <a:latin typeface="+mj-lt"/>
              </a:rPr>
              <a:t> (longitudinal redundancy check): kiểm tra tính chẵn lẻ của tổng các bit ‘1’ trong một khối</a:t>
            </a:r>
            <a:endParaRPr lang="en-US" sz="3000" dirty="0" smtClean="0">
              <a:latin typeface="+mj-lt"/>
            </a:endParaRPr>
          </a:p>
          <a:p>
            <a:r>
              <a:rPr lang="vi-VN" sz="3000" b="1" dirty="0" smtClean="0">
                <a:latin typeface="+mj-lt"/>
              </a:rPr>
              <a:t>CRC</a:t>
            </a:r>
            <a:r>
              <a:rPr lang="vi-VN" sz="3000" dirty="0" smtClean="0">
                <a:latin typeface="+mj-lt"/>
              </a:rPr>
              <a:t> (cyclic redundancy check) : kiểm tra chu kỳ dư</a:t>
            </a:r>
            <a:endParaRPr lang="en-US" sz="3000" dirty="0" smtClean="0">
              <a:latin typeface="+mj-lt"/>
            </a:endParaRPr>
          </a:p>
          <a:p>
            <a:r>
              <a:rPr lang="vi-VN" sz="3000" b="1" dirty="0" smtClean="0">
                <a:latin typeface="+mj-lt"/>
              </a:rPr>
              <a:t>Checksum: </a:t>
            </a:r>
            <a:r>
              <a:rPr lang="vi-VN" sz="3000" dirty="0" smtClean="0">
                <a:latin typeface="+mj-lt"/>
              </a:rPr>
              <a:t>kiểm tra tổng</a:t>
            </a:r>
            <a:endParaRPr lang="en-US" sz="3000" dirty="0" smtClean="0">
              <a:latin typeface="+mj-lt"/>
            </a:endParaRPr>
          </a:p>
          <a:p>
            <a:pPr>
              <a:buNone/>
            </a:pPr>
            <a:r>
              <a:rPr lang="en-US" sz="2600" dirty="0" smtClean="0">
                <a:solidFill>
                  <a:srgbClr val="FF0000"/>
                </a:solidFill>
                <a:latin typeface="Times New Roman" pitchFamily="18" charset="0"/>
                <a:cs typeface="Times New Roman" pitchFamily="18" charset="0"/>
              </a:rPr>
              <a:t>* </a:t>
            </a:r>
            <a:r>
              <a:rPr lang="vi-VN" sz="2600" dirty="0" smtClean="0">
                <a:solidFill>
                  <a:srgbClr val="FF0000"/>
                </a:solidFill>
                <a:latin typeface="Times New Roman" pitchFamily="18" charset="0"/>
                <a:cs typeface="Times New Roman" pitchFamily="18" charset="0"/>
              </a:rPr>
              <a:t>Ba dạng đầu, VRC, LRC, và CRC thường được thiết lập trong lớp vật lý để</a:t>
            </a:r>
            <a:r>
              <a:rPr lang="en-US" sz="2600" dirty="0" smtClean="0">
                <a:solidFill>
                  <a:srgbClr val="FF0000"/>
                </a:solidFill>
                <a:latin typeface="Times New Roman" pitchFamily="18" charset="0"/>
                <a:cs typeface="Times New Roman" pitchFamily="18" charset="0"/>
              </a:rPr>
              <a:t> </a:t>
            </a:r>
            <a:r>
              <a:rPr lang="vi-VN" sz="2600" dirty="0" smtClean="0">
                <a:solidFill>
                  <a:srgbClr val="FF0000"/>
                </a:solidFill>
                <a:latin typeface="Times New Roman" pitchFamily="18" charset="0"/>
                <a:cs typeface="Times New Roman" pitchFamily="18" charset="0"/>
              </a:rPr>
              <a:t>dùng trong lớp kết nối dữ liệu. Dạng checksum thường được dùng trong các lớp trên</a:t>
            </a:r>
            <a:endParaRPr lang="en-US" sz="2600" dirty="0">
              <a:solidFill>
                <a:srgbClr val="FF0000"/>
              </a:solidFill>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8.1.3 Sửa lỗi</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dirty="0" smtClean="0">
                <a:latin typeface="+mj-lt"/>
              </a:rPr>
              <a:t> </a:t>
            </a:r>
            <a:r>
              <a:rPr lang="vi-VN" sz="3200" dirty="0" smtClean="0">
                <a:latin typeface="+mj-lt"/>
              </a:rPr>
              <a:t>Có hai cách sửa lỗi là:  </a:t>
            </a:r>
          </a:p>
          <a:p>
            <a:r>
              <a:rPr lang="vi-VN" sz="3000" dirty="0" smtClean="0">
                <a:latin typeface="+mj-lt"/>
              </a:rPr>
              <a:t>Khi phát hiện một lỗi, máy thu phải yêu cầu máy phát truyền lại dữ liệu </a:t>
            </a:r>
          </a:p>
          <a:p>
            <a:r>
              <a:rPr lang="vi-VN" sz="3000" dirty="0" smtClean="0">
                <a:latin typeface="+mj-lt"/>
              </a:rPr>
              <a:t>Máy thu dùng các mã sửa lỗi, để sửa tự động một số lỗi</a:t>
            </a:r>
            <a:endParaRPr lang="en-US" sz="3000" dirty="0" smtClean="0">
              <a:latin typeface="+mj-lt"/>
            </a:endParaRPr>
          </a:p>
          <a:p>
            <a:r>
              <a:rPr lang="vi-VN" sz="3000" dirty="0">
                <a:latin typeface="+mj-lt"/>
              </a:rPr>
              <a:t>Các mã sửa lỗi, thường rất phức tạp hơn so với mã phát hiện lỗi và cần nhiều bit </a:t>
            </a:r>
            <a:r>
              <a:rPr lang="vi-VN" sz="3000" dirty="0" smtClean="0">
                <a:latin typeface="+mj-lt"/>
              </a:rPr>
              <a:t>dư. Thông</a:t>
            </a:r>
            <a:r>
              <a:rPr lang="en-US" sz="3000" dirty="0" smtClean="0">
                <a:latin typeface="+mj-lt"/>
              </a:rPr>
              <a:t> </a:t>
            </a:r>
            <a:r>
              <a:rPr lang="vi-VN" sz="3000" dirty="0" smtClean="0">
                <a:latin typeface="+mj-lt"/>
              </a:rPr>
              <a:t>thường </a:t>
            </a:r>
            <a:r>
              <a:rPr lang="vi-VN" sz="3000" dirty="0">
                <a:latin typeface="+mj-lt"/>
              </a:rPr>
              <a:t>hầu hết các phương pháp sửa lỗi đều giới hạn ở một, hai hoặc ba </a:t>
            </a:r>
            <a:r>
              <a:rPr lang="vi-VN" sz="3000" dirty="0" smtClean="0">
                <a:latin typeface="+mj-lt"/>
              </a:rPr>
              <a:t>bit.</a:t>
            </a:r>
            <a:endParaRPr lang="en-US" sz="3000" dirty="0" smtClean="0">
              <a:latin typeface="+mj-lt"/>
            </a:endParaRPr>
          </a:p>
          <a:p>
            <a:r>
              <a:rPr lang="vi-VN" sz="3000" dirty="0" smtClean="0">
                <a:latin typeface="+mj-lt"/>
              </a:rPr>
              <a:t>Trong </a:t>
            </a:r>
            <a:r>
              <a:rPr lang="vi-VN" sz="3000" dirty="0">
                <a:latin typeface="+mj-lt"/>
              </a:rPr>
              <a:t>tài liệu này chỉ đề cập đến phương pháp phát hiện sai 1 bit (xác định vị trí sai) </a:t>
            </a:r>
            <a:r>
              <a:rPr lang="vi-VN" sz="3000" dirty="0" smtClean="0">
                <a:latin typeface="+mj-lt"/>
              </a:rPr>
              <a:t>và</a:t>
            </a:r>
            <a:r>
              <a:rPr lang="en-US" sz="3000" dirty="0" smtClean="0">
                <a:latin typeface="+mj-lt"/>
              </a:rPr>
              <a:t> </a:t>
            </a:r>
            <a:r>
              <a:rPr lang="vi-VN" sz="3000" dirty="0" smtClean="0">
                <a:latin typeface="+mj-lt"/>
              </a:rPr>
              <a:t>sửa sai</a:t>
            </a:r>
            <a:endParaRPr lang="en-US" sz="3000" dirty="0">
              <a:latin typeface="+mj-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Các</a:t>
            </a:r>
            <a:r>
              <a:rPr lang="en-US" dirty="0" smtClean="0"/>
              <a:t> bit </a:t>
            </a:r>
            <a:r>
              <a:rPr lang="en-US" dirty="0" err="1" smtClean="0"/>
              <a:t>dư</a:t>
            </a:r>
            <a:endParaRPr lang="en-US" dirty="0"/>
          </a:p>
        </p:txBody>
      </p:sp>
      <p:sp>
        <p:nvSpPr>
          <p:cNvPr id="3" name="Content Placeholder 2"/>
          <p:cNvSpPr>
            <a:spLocks noGrp="1"/>
          </p:cNvSpPr>
          <p:nvPr>
            <p:ph idx="1"/>
          </p:nvPr>
        </p:nvSpPr>
        <p:spPr/>
        <p:txBody>
          <a:bodyPr/>
          <a:lstStyle/>
          <a:p>
            <a:r>
              <a:rPr lang="vi-VN" dirty="0"/>
              <a:t>Để tính số bit dư (r) cần có để có thể sửa lỗi một số bit dữ liệu (m), ta cần tìm ra quan </a:t>
            </a:r>
            <a:r>
              <a:rPr lang="vi-VN" dirty="0" smtClean="0"/>
              <a:t>hệ</a:t>
            </a:r>
            <a:r>
              <a:rPr lang="en-US" dirty="0" smtClean="0"/>
              <a:t> </a:t>
            </a:r>
            <a:r>
              <a:rPr lang="vi-VN" dirty="0" smtClean="0"/>
              <a:t>giữa </a:t>
            </a:r>
            <a:r>
              <a:rPr lang="vi-VN" dirty="0"/>
              <a:t>m và r. Trong hình sau cho thấy m bit dữ liệu và r bit dư. Độ dài của mã có được là </a:t>
            </a:r>
            <a:r>
              <a:rPr lang="vi-VN" dirty="0" smtClean="0"/>
              <a:t>m+r</a:t>
            </a:r>
            <a:endParaRPr lang="en-US" dirty="0" smtClean="0"/>
          </a:p>
          <a:p>
            <a:endParaRPr lang="en-US" dirty="0"/>
          </a:p>
          <a:p>
            <a:endParaRPr lang="en-US" dirty="0" smtClean="0"/>
          </a:p>
          <a:p>
            <a:endParaRPr lang="en-US" dirty="0" smtClean="0"/>
          </a:p>
          <a:p>
            <a:endParaRPr lang="en-US" dirty="0"/>
          </a:p>
          <a:p>
            <a:pPr marL="0" indent="0">
              <a:buNone/>
            </a:pPr>
            <a:r>
              <a:rPr lang="vi-VN" dirty="0"/>
              <a:t/>
            </a:r>
            <a:br>
              <a:rPr lang="vi-VN" dirty="0"/>
            </a:br>
            <a:endParaRPr lang="en-US" dirty="0"/>
          </a:p>
        </p:txBody>
      </p:sp>
      <p:pic>
        <p:nvPicPr>
          <p:cNvPr id="5" name="Picture 4"/>
          <p:cNvPicPr>
            <a:picLocks noChangeAspect="1"/>
          </p:cNvPicPr>
          <p:nvPr/>
        </p:nvPicPr>
        <p:blipFill>
          <a:blip r:embed="rId3"/>
          <a:stretch>
            <a:fillRect/>
          </a:stretch>
        </p:blipFill>
        <p:spPr>
          <a:xfrm>
            <a:off x="920707" y="3006770"/>
            <a:ext cx="5730002" cy="1773709"/>
          </a:xfrm>
          <a:prstGeom prst="rect">
            <a:avLst/>
          </a:prstGeom>
        </p:spPr>
      </p:pic>
      <p:sp>
        <p:nvSpPr>
          <p:cNvPr id="6" name="Rectangle 5"/>
          <p:cNvSpPr/>
          <p:nvPr/>
        </p:nvSpPr>
        <p:spPr>
          <a:xfrm>
            <a:off x="3550508" y="3112330"/>
            <a:ext cx="907133" cy="40518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Object 2"/>
          <p:cNvGraphicFramePr>
            <a:graphicFrameLocks noChangeAspect="1"/>
          </p:cNvGraphicFramePr>
          <p:nvPr>
            <p:extLst>
              <p:ext uri="{D42A27DB-BD31-4B8C-83A1-F6EECF244321}">
                <p14:modId xmlns:p14="http://schemas.microsoft.com/office/powerpoint/2010/main" val="2415159424"/>
              </p:ext>
            </p:extLst>
          </p:nvPr>
        </p:nvGraphicFramePr>
        <p:xfrm>
          <a:off x="2514815" y="4899748"/>
          <a:ext cx="2488560" cy="652556"/>
        </p:xfrm>
        <a:graphic>
          <a:graphicData uri="http://schemas.openxmlformats.org/presentationml/2006/ole">
            <mc:AlternateContent xmlns:mc="http://schemas.openxmlformats.org/markup-compatibility/2006">
              <mc:Choice xmlns:v="urn:schemas-microsoft-com:vml" Requires="v">
                <p:oleObj spid="_x0000_s1041" name="Equation" r:id="rId4" imgW="787320" imgH="203040" progId="Equation.DSMT4">
                  <p:embed/>
                </p:oleObj>
              </mc:Choice>
              <mc:Fallback>
                <p:oleObj name="Equation" r:id="rId4" imgW="787320" imgH="203040" progId="Equation.DSMT4">
                  <p:embed/>
                  <p:pic>
                    <p:nvPicPr>
                      <p:cNvPr id="0" name=""/>
                      <p:cNvPicPr>
                        <a:picLocks noChangeAspect="1" noChangeArrowheads="1"/>
                      </p:cNvPicPr>
                      <p:nvPr/>
                    </p:nvPicPr>
                    <p:blipFill>
                      <a:blip r:embed="rId5"/>
                      <a:srcRect/>
                      <a:stretch>
                        <a:fillRect/>
                      </a:stretch>
                    </p:blipFill>
                    <p:spPr bwMode="auto">
                      <a:xfrm>
                        <a:off x="2514815" y="4899748"/>
                        <a:ext cx="2488560" cy="652556"/>
                      </a:xfrm>
                      <a:prstGeom prst="rect">
                        <a:avLst/>
                      </a:prstGeom>
                      <a:noFill/>
                    </p:spPr>
                  </p:pic>
                </p:oleObj>
              </mc:Fallback>
            </mc:AlternateContent>
          </a:graphicData>
        </a:graphic>
      </p:graphicFrame>
      <p:pic>
        <p:nvPicPr>
          <p:cNvPr id="8" name="Picture 7"/>
          <p:cNvPicPr>
            <a:picLocks noChangeAspect="1"/>
          </p:cNvPicPr>
          <p:nvPr/>
        </p:nvPicPr>
        <p:blipFill>
          <a:blip r:embed="rId6"/>
          <a:stretch>
            <a:fillRect/>
          </a:stretch>
        </p:blipFill>
        <p:spPr>
          <a:xfrm>
            <a:off x="7635547" y="2824448"/>
            <a:ext cx="3883518" cy="3592254"/>
          </a:xfrm>
          <a:prstGeom prst="rect">
            <a:avLst/>
          </a:prstGeom>
        </p:spPr>
      </p:pic>
    </p:spTree>
    <p:extLst>
      <p:ext uri="{BB962C8B-B14F-4D97-AF65-F5344CB8AC3E}">
        <p14:creationId xmlns:p14="http://schemas.microsoft.com/office/powerpoint/2010/main" val="38894795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Phát</a:t>
            </a:r>
            <a:r>
              <a:rPr lang="en-US" dirty="0" smtClean="0"/>
              <a:t> </a:t>
            </a:r>
            <a:r>
              <a:rPr lang="en-US" dirty="0" err="1" smtClean="0"/>
              <a:t>hiện</a:t>
            </a:r>
            <a:r>
              <a:rPr lang="en-US" dirty="0" smtClean="0"/>
              <a:t> </a:t>
            </a:r>
            <a:r>
              <a:rPr lang="en-US" dirty="0" err="1" smtClean="0"/>
              <a:t>và</a:t>
            </a:r>
            <a:r>
              <a:rPr lang="en-US" dirty="0" smtClean="0"/>
              <a:t> </a:t>
            </a:r>
            <a:r>
              <a:rPr lang="en-US" dirty="0" err="1" smtClean="0"/>
              <a:t>sửa</a:t>
            </a:r>
            <a:r>
              <a:rPr lang="en-US" dirty="0" smtClean="0"/>
              <a:t> </a:t>
            </a:r>
            <a:r>
              <a:rPr lang="en-US" dirty="0" err="1" smtClean="0"/>
              <a:t>lỗi</a:t>
            </a:r>
            <a:endParaRPr lang="en-US" dirty="0"/>
          </a:p>
        </p:txBody>
      </p:sp>
      <p:sp>
        <p:nvSpPr>
          <p:cNvPr id="3" name="Content Placeholder 2"/>
          <p:cNvSpPr>
            <a:spLocks noGrp="1"/>
          </p:cNvSpPr>
          <p:nvPr>
            <p:ph idx="1"/>
          </p:nvPr>
        </p:nvSpPr>
        <p:spPr>
          <a:xfrm>
            <a:off x="572493" y="1431235"/>
            <a:ext cx="11100021" cy="5027230"/>
          </a:xfrm>
        </p:spPr>
        <p:txBody>
          <a:bodyPr>
            <a:normAutofit/>
          </a:bodyPr>
          <a:lstStyle/>
          <a:p>
            <a:endParaRPr lang="en-US" dirty="0" smtClean="0"/>
          </a:p>
          <a:p>
            <a:endParaRPr lang="en-US" dirty="0" smtClean="0"/>
          </a:p>
          <a:p>
            <a:endParaRPr lang="en-US" dirty="0">
              <a:latin typeface="Times New Roman" panose="02020603050405020304" pitchFamily="18" charset="0"/>
              <a:cs typeface="Times New Roman" panose="02020603050405020304" pitchFamily="18" charset="0"/>
            </a:endParaRPr>
          </a:p>
          <a:p>
            <a:r>
              <a:rPr lang="vi-VN" dirty="0">
                <a:latin typeface="Times New Roman" panose="02020603050405020304" pitchFamily="18" charset="0"/>
                <a:cs typeface="Times New Roman" panose="02020603050405020304" pitchFamily="18" charset="0"/>
              </a:rPr>
              <a:t>Giả sử trong lúc truyền tín hiệu đi, bit thứ 7 đã thay đổi từ 1 </a:t>
            </a:r>
            <a:r>
              <a:rPr lang="en-US" dirty="0" smtClean="0">
                <a:latin typeface="Times New Roman" panose="02020603050405020304" pitchFamily="18" charset="0"/>
                <a:cs typeface="Times New Roman" panose="02020603050405020304" pitchFamily="18" charset="0"/>
              </a:rPr>
              <a:t>-&gt;</a:t>
            </a:r>
            <a:r>
              <a:rPr lang="vi-VN"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0. </a:t>
            </a:r>
            <a:r>
              <a:rPr lang="vi-VN" dirty="0" smtClean="0">
                <a:latin typeface="Times New Roman" panose="02020603050405020304" pitchFamily="18" charset="0"/>
                <a:cs typeface="Times New Roman" panose="02020603050405020304" pitchFamily="18" charset="0"/>
              </a:rPr>
              <a:t>Máy thu</a:t>
            </a:r>
            <a:r>
              <a:rPr lang="en-US" dirty="0" smtClean="0">
                <a:latin typeface="Times New Roman" panose="02020603050405020304" pitchFamily="18" charset="0"/>
                <a:cs typeface="Times New Roman" panose="02020603050405020304" pitchFamily="18" charset="0"/>
              </a:rPr>
              <a:t> </a:t>
            </a:r>
            <a:r>
              <a:rPr lang="vi-VN" dirty="0" smtClean="0">
                <a:latin typeface="Times New Roman" panose="02020603050405020304" pitchFamily="18" charset="0"/>
                <a:cs typeface="Times New Roman" panose="02020603050405020304" pitchFamily="18" charset="0"/>
              </a:rPr>
              <a:t>nhận </a:t>
            </a:r>
            <a:r>
              <a:rPr lang="vi-VN" dirty="0">
                <a:latin typeface="Times New Roman" panose="02020603050405020304" pitchFamily="18" charset="0"/>
                <a:cs typeface="Times New Roman" panose="02020603050405020304" pitchFamily="18" charset="0"/>
              </a:rPr>
              <a:t>và tính lại bốn số dư r ở bên thu (VRC):</a:t>
            </a:r>
            <a:br>
              <a:rPr lang="vi-VN" dirty="0">
                <a:latin typeface="Times New Roman" panose="02020603050405020304" pitchFamily="18" charset="0"/>
                <a:cs typeface="Times New Roman" panose="02020603050405020304" pitchFamily="18" charset="0"/>
              </a:rPr>
            </a:br>
            <a:r>
              <a:rPr lang="vi-VN" i="1" dirty="0">
                <a:latin typeface="Times New Roman" panose="02020603050405020304" pitchFamily="18" charset="0"/>
                <a:cs typeface="Times New Roman" panose="02020603050405020304" pitchFamily="18" charset="0"/>
              </a:rPr>
              <a:t>r1 </a:t>
            </a:r>
            <a:r>
              <a:rPr lang="vi-VN" dirty="0">
                <a:latin typeface="Times New Roman" panose="02020603050405020304" pitchFamily="18" charset="0"/>
                <a:cs typeface="Times New Roman" panose="02020603050405020304" pitchFamily="18" charset="0"/>
              </a:rPr>
              <a:t>bên thu, 1, 3, 5, 7, 9, 11 ; tổng số bit 1 là một số chẵn</a:t>
            </a:r>
            <a:br>
              <a:rPr lang="vi-VN" dirty="0">
                <a:latin typeface="Times New Roman" panose="02020603050405020304" pitchFamily="18" charset="0"/>
                <a:cs typeface="Times New Roman" panose="02020603050405020304" pitchFamily="18" charset="0"/>
              </a:rPr>
            </a:br>
            <a:r>
              <a:rPr lang="vi-VN" i="1" dirty="0">
                <a:latin typeface="Times New Roman" panose="02020603050405020304" pitchFamily="18" charset="0"/>
                <a:cs typeface="Times New Roman" panose="02020603050405020304" pitchFamily="18" charset="0"/>
              </a:rPr>
              <a:t>r2 </a:t>
            </a:r>
            <a:r>
              <a:rPr lang="vi-VN" dirty="0">
                <a:latin typeface="Times New Roman" panose="02020603050405020304" pitchFamily="18" charset="0"/>
                <a:cs typeface="Times New Roman" panose="02020603050405020304" pitchFamily="18" charset="0"/>
              </a:rPr>
              <a:t>bên thu, 2, 3, 6, 7, 10, 11 ; tổng số bit 1 là một số chẵn</a:t>
            </a:r>
            <a:br>
              <a:rPr lang="vi-VN" dirty="0">
                <a:latin typeface="Times New Roman" panose="02020603050405020304" pitchFamily="18" charset="0"/>
                <a:cs typeface="Times New Roman" panose="02020603050405020304" pitchFamily="18" charset="0"/>
              </a:rPr>
            </a:br>
            <a:r>
              <a:rPr lang="vi-VN" i="1" dirty="0">
                <a:latin typeface="Times New Roman" panose="02020603050405020304" pitchFamily="18" charset="0"/>
                <a:cs typeface="Times New Roman" panose="02020603050405020304" pitchFamily="18" charset="0"/>
              </a:rPr>
              <a:t>r4 </a:t>
            </a:r>
            <a:r>
              <a:rPr lang="vi-VN" dirty="0">
                <a:latin typeface="Times New Roman" panose="02020603050405020304" pitchFamily="18" charset="0"/>
                <a:cs typeface="Times New Roman" panose="02020603050405020304" pitchFamily="18" charset="0"/>
              </a:rPr>
              <a:t>bên thu, 4, 5, 6, 7 ; tổng số bit 1 là một số chẵn</a:t>
            </a:r>
            <a:br>
              <a:rPr lang="vi-VN" dirty="0">
                <a:latin typeface="Times New Roman" panose="02020603050405020304" pitchFamily="18" charset="0"/>
                <a:cs typeface="Times New Roman" panose="02020603050405020304" pitchFamily="18" charset="0"/>
              </a:rPr>
            </a:br>
            <a:r>
              <a:rPr lang="vi-VN" i="1" dirty="0">
                <a:latin typeface="Times New Roman" panose="02020603050405020304" pitchFamily="18" charset="0"/>
                <a:cs typeface="Times New Roman" panose="02020603050405020304" pitchFamily="18" charset="0"/>
              </a:rPr>
              <a:t>r8 </a:t>
            </a:r>
            <a:r>
              <a:rPr lang="vi-VN" dirty="0">
                <a:latin typeface="Times New Roman" panose="02020603050405020304" pitchFamily="18" charset="0"/>
                <a:cs typeface="Times New Roman" panose="02020603050405020304" pitchFamily="18" charset="0"/>
              </a:rPr>
              <a:t>bên thu, 8, 9, 10, 11 ; tổng số bit 1 là một số </a:t>
            </a:r>
            <a:r>
              <a:rPr lang="vi-VN" dirty="0" smtClean="0">
                <a:latin typeface="Times New Roman" panose="02020603050405020304" pitchFamily="18" charset="0"/>
                <a:cs typeface="Times New Roman" panose="02020603050405020304" pitchFamily="18" charset="0"/>
              </a:rPr>
              <a:t>chẵn</a:t>
            </a:r>
            <a:endParaRPr lang="en-US" dirty="0" smtClean="0">
              <a:latin typeface="Times New Roman" panose="02020603050405020304" pitchFamily="18" charset="0"/>
              <a:cs typeface="Times New Roman" panose="02020603050405020304" pitchFamily="18" charset="0"/>
            </a:endParaRPr>
          </a:p>
          <a:p>
            <a:r>
              <a:rPr lang="vi-VN" dirty="0" smtClean="0">
                <a:latin typeface="Times New Roman" panose="02020603050405020304" pitchFamily="18" charset="0"/>
                <a:cs typeface="Times New Roman" panose="02020603050405020304" pitchFamily="18" charset="0"/>
              </a:rPr>
              <a:t>Vị </a:t>
            </a:r>
            <a:r>
              <a:rPr lang="vi-VN" dirty="0">
                <a:latin typeface="Times New Roman" panose="02020603050405020304" pitchFamily="18" charset="0"/>
                <a:cs typeface="Times New Roman" panose="02020603050405020304" pitchFamily="18" charset="0"/>
              </a:rPr>
              <a:t>trí bit sai của dữ liệu thu là giá trị thập phân của số nhị phân </a:t>
            </a:r>
            <a:r>
              <a:rPr lang="vi-VN" i="1" dirty="0">
                <a:latin typeface="Times New Roman" panose="02020603050405020304" pitchFamily="18" charset="0"/>
                <a:cs typeface="Times New Roman" panose="02020603050405020304" pitchFamily="18" charset="0"/>
              </a:rPr>
              <a:t>r8 r4 r2 r1</a:t>
            </a:r>
            <a:r>
              <a:rPr lang="vi-V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2109014" y="1431235"/>
            <a:ext cx="7159046" cy="1361392"/>
          </a:xfrm>
          <a:prstGeom prst="rect">
            <a:avLst/>
          </a:prstGeom>
        </p:spPr>
      </p:pic>
    </p:spTree>
    <p:extLst>
      <p:ext uri="{BB962C8B-B14F-4D97-AF65-F5344CB8AC3E}">
        <p14:creationId xmlns:p14="http://schemas.microsoft.com/office/powerpoint/2010/main" val="1319535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8.2 Điều khiển kết nối dữ liệu</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000" b="1" dirty="0" smtClean="0">
                <a:latin typeface="+mj-lt"/>
              </a:rPr>
              <a:t> </a:t>
            </a:r>
            <a:r>
              <a:rPr lang="vi-VN" sz="3000" b="1" dirty="0" smtClean="0">
                <a:latin typeface="+mj-lt"/>
              </a:rPr>
              <a:t>Các chức năng của lớp kết nối dữ liệu                      </a:t>
            </a:r>
          </a:p>
          <a:p>
            <a:r>
              <a:rPr lang="vi-VN" dirty="0" smtClean="0">
                <a:latin typeface="+mj-lt"/>
              </a:rPr>
              <a:t> </a:t>
            </a:r>
            <a:r>
              <a:rPr lang="vi-VN" b="1" dirty="0" smtClean="0">
                <a:latin typeface="+mj-lt"/>
              </a:rPr>
              <a:t>Hạng mục đường dây (line discipline):  </a:t>
            </a:r>
            <a:r>
              <a:rPr lang="vi-VN" dirty="0" smtClean="0">
                <a:latin typeface="+mj-lt"/>
              </a:rPr>
              <a:t>điều phối các hệ thống kết nối, xác định thiết bị nào được phát và thiết bị nào được thu. </a:t>
            </a:r>
          </a:p>
          <a:p>
            <a:r>
              <a:rPr lang="vi-VN" dirty="0" smtClean="0">
                <a:latin typeface="+mj-lt"/>
              </a:rPr>
              <a:t> </a:t>
            </a:r>
            <a:r>
              <a:rPr lang="vi-VN" b="1" dirty="0" smtClean="0">
                <a:latin typeface="+mj-lt"/>
              </a:rPr>
              <a:t>Điều khiển lưu lượng (flow control): </a:t>
            </a:r>
            <a:r>
              <a:rPr lang="vi-VN" dirty="0" smtClean="0">
                <a:latin typeface="+mj-lt"/>
              </a:rPr>
              <a:t>điều phối lượng thông tin có thể truyền được trước khi nhận được tin chấp nhận (ACK). Đồng thời cũng cung cấp tín hiệu chấp nhận  từ máy thu, kết nối với quá trình kiểm soát lỗi. </a:t>
            </a:r>
          </a:p>
          <a:p>
            <a:r>
              <a:rPr lang="vi-VN" b="1" dirty="0" smtClean="0">
                <a:latin typeface="+mj-lt"/>
              </a:rPr>
              <a:t> Kiểm tra lỗi tức là phát hiện và sửa lỗi: </a:t>
            </a:r>
            <a:r>
              <a:rPr lang="vi-VN" dirty="0" smtClean="0">
                <a:latin typeface="+mj-lt"/>
              </a:rPr>
              <a:t>Cho phép máy thu báo cho máy phát về các bản tin bị mất hay bị hỏng nhằm điều phối việc truyền lại dữ liệu của máy phát. </a:t>
            </a:r>
            <a:endParaRPr lang="en-US" dirty="0">
              <a:latin typeface="+mj-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8.2.1 Hạng mục đường dây</a:t>
            </a:r>
            <a:endParaRPr lang="en-US" dirty="0"/>
          </a:p>
        </p:txBody>
      </p:sp>
      <p:sp>
        <p:nvSpPr>
          <p:cNvPr id="3" name="Content Placeholder 2"/>
          <p:cNvSpPr>
            <a:spLocks noGrp="1"/>
          </p:cNvSpPr>
          <p:nvPr>
            <p:ph idx="1"/>
          </p:nvPr>
        </p:nvSpPr>
        <p:spPr/>
        <p:txBody>
          <a:bodyPr/>
          <a:lstStyle/>
          <a:p>
            <a:endParaRPr lang="en-US" dirty="0"/>
          </a:p>
        </p:txBody>
      </p:sp>
      <p:pic>
        <p:nvPicPr>
          <p:cNvPr id="3075" name="Picture 3"/>
          <p:cNvPicPr>
            <a:picLocks noChangeAspect="1" noChangeArrowheads="1"/>
          </p:cNvPicPr>
          <p:nvPr/>
        </p:nvPicPr>
        <p:blipFill>
          <a:blip r:embed="rId2"/>
          <a:srcRect/>
          <a:stretch>
            <a:fillRect/>
          </a:stretch>
        </p:blipFill>
        <p:spPr bwMode="auto">
          <a:xfrm>
            <a:off x="595313" y="1409700"/>
            <a:ext cx="5541345" cy="2986087"/>
          </a:xfrm>
          <a:prstGeom prst="rect">
            <a:avLst/>
          </a:prstGeom>
          <a:noFill/>
          <a:ln w="9525">
            <a:noFill/>
            <a:miter lim="800000"/>
            <a:headEnd/>
            <a:tailEnd/>
          </a:ln>
          <a:effectLst/>
        </p:spPr>
      </p:pic>
      <p:pic>
        <p:nvPicPr>
          <p:cNvPr id="3076" name="Picture 4"/>
          <p:cNvPicPr>
            <a:picLocks noChangeAspect="1" noChangeArrowheads="1"/>
          </p:cNvPicPr>
          <p:nvPr/>
        </p:nvPicPr>
        <p:blipFill>
          <a:blip r:embed="rId3"/>
          <a:srcRect/>
          <a:stretch>
            <a:fillRect/>
          </a:stretch>
        </p:blipFill>
        <p:spPr bwMode="auto">
          <a:xfrm>
            <a:off x="4367214" y="4457700"/>
            <a:ext cx="7259566" cy="1809750"/>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8.2.1 Hạng mục đường dây</a:t>
            </a:r>
            <a:endParaRPr lang="en-US" dirty="0"/>
          </a:p>
        </p:txBody>
      </p:sp>
      <p:sp>
        <p:nvSpPr>
          <p:cNvPr id="3" name="Content Placeholder 2"/>
          <p:cNvSpPr>
            <a:spLocks noGrp="1"/>
          </p:cNvSpPr>
          <p:nvPr>
            <p:ph idx="1"/>
          </p:nvPr>
        </p:nvSpPr>
        <p:spPr/>
        <p:txBody>
          <a:bodyPr>
            <a:noAutofit/>
          </a:bodyPr>
          <a:lstStyle/>
          <a:p>
            <a:pPr>
              <a:buFont typeface="Wingdings" pitchFamily="2" charset="2"/>
              <a:buChar char="v"/>
            </a:pPr>
            <a:r>
              <a:rPr lang="en-US" sz="3000" dirty="0" smtClean="0">
                <a:latin typeface="+mj-lt"/>
              </a:rPr>
              <a:t> </a:t>
            </a:r>
            <a:r>
              <a:rPr lang="vi-VN" sz="3000" dirty="0" smtClean="0">
                <a:latin typeface="+mj-lt"/>
              </a:rPr>
              <a:t>Hạng mục đường dây (line discipline):  điều phối các hệ thống kết nối, xác định thiết bị nào được phát và thiết bị nào được thu </a:t>
            </a:r>
          </a:p>
          <a:p>
            <a:pPr>
              <a:buFont typeface="Wingdings" pitchFamily="2" charset="2"/>
              <a:buChar char="v"/>
            </a:pPr>
            <a:r>
              <a:rPr lang="en-US" sz="3000" dirty="0" smtClean="0">
                <a:latin typeface="+mj-lt"/>
              </a:rPr>
              <a:t> </a:t>
            </a:r>
            <a:r>
              <a:rPr lang="vi-VN" sz="3000" dirty="0" smtClean="0">
                <a:latin typeface="+mj-lt"/>
              </a:rPr>
              <a:t>Hạng mục đường dây được thực hiện theo hai cách</a:t>
            </a:r>
            <a:endParaRPr lang="en-US" sz="3000" dirty="0" smtClean="0">
              <a:latin typeface="+mj-lt"/>
            </a:endParaRPr>
          </a:p>
          <a:p>
            <a:r>
              <a:rPr lang="vi-VN" sz="3000" dirty="0" smtClean="0">
                <a:latin typeface="+mj-lt"/>
              </a:rPr>
              <a:t>Yêu cầu/chấp nhận (enquiry/acknowledgment: ENQ/ACK): dùng trong  thông tin đồng cấp (peer to peer communication)</a:t>
            </a:r>
            <a:endParaRPr lang="en-US" sz="3000" dirty="0" smtClean="0">
              <a:latin typeface="+mj-lt"/>
            </a:endParaRPr>
          </a:p>
          <a:p>
            <a:r>
              <a:rPr lang="vi-VN" sz="3000" dirty="0" smtClean="0">
                <a:latin typeface="+mj-lt"/>
              </a:rPr>
              <a:t>Hỏi vòng/lựa chọn (Poll/select): thông tin sơ cấp-thứ cấp (primary-secondary communicaton) </a:t>
            </a:r>
            <a:endParaRPr lang="en-US" sz="3000" dirty="0">
              <a:latin typeface="+mj-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Yêu cầu/chấp nhận (ENQ/ACK) </a:t>
            </a:r>
            <a:endParaRPr lang="en-US" dirty="0"/>
          </a:p>
        </p:txBody>
      </p:sp>
      <p:sp>
        <p:nvSpPr>
          <p:cNvPr id="3" name="Content Placeholder 2"/>
          <p:cNvSpPr>
            <a:spLocks noGrp="1"/>
          </p:cNvSpPr>
          <p:nvPr>
            <p:ph idx="1"/>
          </p:nvPr>
        </p:nvSpPr>
        <p:spPr/>
        <p:txBody>
          <a:bodyPr>
            <a:normAutofit/>
          </a:bodyPr>
          <a:lstStyle/>
          <a:p>
            <a:r>
              <a:rPr lang="vi-VN" sz="3000" dirty="0" smtClean="0">
                <a:latin typeface="+mj-lt"/>
              </a:rPr>
              <a:t>Được dùng chủ yếu trong các hệ thống không kiểm tra sai, tức là  có kết nối riêng cho hai thiết bị, trong đó chỉ có một máy là có khả năng thu</a:t>
            </a:r>
            <a:endParaRPr lang="en-US" sz="3000" dirty="0">
              <a:latin typeface="+mj-lt"/>
            </a:endParaRPr>
          </a:p>
        </p:txBody>
      </p:sp>
      <p:pic>
        <p:nvPicPr>
          <p:cNvPr id="4098" name="Picture 2"/>
          <p:cNvPicPr>
            <a:picLocks noChangeAspect="1" noChangeArrowheads="1"/>
          </p:cNvPicPr>
          <p:nvPr/>
        </p:nvPicPr>
        <p:blipFill>
          <a:blip r:embed="rId2"/>
          <a:srcRect/>
          <a:stretch>
            <a:fillRect/>
          </a:stretch>
        </p:blipFill>
        <p:spPr bwMode="auto">
          <a:xfrm>
            <a:off x="2295525" y="2786063"/>
            <a:ext cx="8171796" cy="2300287"/>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Yêu cầu/chấp nhận (ENQ/ACK) </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Cơ</a:t>
            </a:r>
            <a:r>
              <a:rPr lang="en-US" sz="3000" dirty="0" smtClean="0">
                <a:latin typeface="Times New Roman" pitchFamily="18" charset="0"/>
                <a:cs typeface="Times New Roman" pitchFamily="18" charset="0"/>
              </a:rPr>
              <a:t> chế </a:t>
            </a:r>
            <a:r>
              <a:rPr lang="en-US" sz="3000" dirty="0" err="1" smtClean="0">
                <a:latin typeface="Times New Roman" pitchFamily="18" charset="0"/>
                <a:cs typeface="Times New Roman" pitchFamily="18" charset="0"/>
              </a:rPr>
              <a:t>hoạt</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động</a:t>
            </a:r>
            <a:endParaRPr lang="en-US" sz="3000" dirty="0" smtClean="0">
              <a:latin typeface="Times New Roman" pitchFamily="18" charset="0"/>
              <a:cs typeface="Times New Roman" pitchFamily="18" charset="0"/>
            </a:endParaRPr>
          </a:p>
          <a:p>
            <a:r>
              <a:rPr lang="en-US" sz="2400" dirty="0">
                <a:latin typeface="Times New Roman" panose="02020603050405020304" pitchFamily="18" charset="0"/>
                <a:cs typeface="Times New Roman" panose="02020603050405020304" pitchFamily="18" charset="0"/>
              </a:rPr>
              <a:t>ENQ: </a:t>
            </a:r>
            <a:r>
              <a:rPr lang="en-US" sz="2400" dirty="0" smtClean="0">
                <a:latin typeface="Times New Roman" panose="02020603050405020304" pitchFamily="18" charset="0"/>
                <a:cs typeface="Times New Roman" panose="02020603050405020304" pitchFamily="18" charset="0"/>
              </a:rPr>
              <a:t>enquiry</a:t>
            </a:r>
            <a:endParaRPr lang="en-US" sz="2400" dirty="0">
              <a:latin typeface="Times New Roman" panose="02020603050405020304" pitchFamily="18" charset="0"/>
              <a:cs typeface="Times New Roman" panose="02020603050405020304" pitchFamily="18" charset="0"/>
            </a:endParaRPr>
          </a:p>
          <a:p>
            <a:r>
              <a:rPr lang="en-US" sz="2400" b="1" dirty="0" smtClean="0">
                <a:latin typeface="Times New Roman" panose="02020603050405020304" pitchFamily="18" charset="0"/>
                <a:cs typeface="Times New Roman" panose="02020603050405020304" pitchFamily="18" charset="0"/>
              </a:rPr>
              <a:t>ACK</a:t>
            </a:r>
            <a:r>
              <a:rPr lang="en-US" sz="2400" dirty="0" smtClean="0">
                <a:latin typeface="Times New Roman" panose="02020603050405020304" pitchFamily="18" charset="0"/>
                <a:cs typeface="Times New Roman" panose="02020603050405020304" pitchFamily="18" charset="0"/>
              </a:rPr>
              <a:t>: acknowledgment</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NAK</a:t>
            </a: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negative </a:t>
            </a:r>
            <a:r>
              <a:rPr lang="en-US" sz="2400" dirty="0">
                <a:latin typeface="Times New Roman" panose="02020603050405020304" pitchFamily="18" charset="0"/>
                <a:cs typeface="Times New Roman" panose="02020603050405020304" pitchFamily="18" charset="0"/>
              </a:rPr>
              <a:t>acknowledgment</a:t>
            </a:r>
          </a:p>
          <a:p>
            <a:r>
              <a:rPr lang="en-US" sz="2400" b="1" dirty="0">
                <a:latin typeface="Times New Roman" panose="02020603050405020304" pitchFamily="18" charset="0"/>
                <a:cs typeface="Times New Roman" panose="02020603050405020304" pitchFamily="18" charset="0"/>
              </a:rPr>
              <a:t>EOT</a:t>
            </a: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end </a:t>
            </a:r>
            <a:r>
              <a:rPr lang="en-US" sz="2400" dirty="0">
                <a:latin typeface="Times New Roman" panose="02020603050405020304" pitchFamily="18" charset="0"/>
                <a:cs typeface="Times New Roman" panose="02020603050405020304" pitchFamily="18" charset="0"/>
              </a:rPr>
              <a:t>of transmission.</a:t>
            </a:r>
          </a:p>
        </p:txBody>
      </p:sp>
      <p:pic>
        <p:nvPicPr>
          <p:cNvPr id="5122" name="Picture 2"/>
          <p:cNvPicPr>
            <a:picLocks noChangeAspect="1" noChangeArrowheads="1"/>
          </p:cNvPicPr>
          <p:nvPr/>
        </p:nvPicPr>
        <p:blipFill>
          <a:blip r:embed="rId2"/>
          <a:srcRect/>
          <a:stretch>
            <a:fillRect/>
          </a:stretch>
        </p:blipFill>
        <p:spPr bwMode="auto">
          <a:xfrm>
            <a:off x="5300407" y="1778574"/>
            <a:ext cx="6257280" cy="417152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Yêu</a:t>
            </a:r>
            <a:r>
              <a:rPr lang="en-US" dirty="0"/>
              <a:t> </a:t>
            </a:r>
            <a:r>
              <a:rPr lang="en-US" dirty="0" err="1"/>
              <a:t>cầu</a:t>
            </a:r>
            <a:r>
              <a:rPr lang="en-US" dirty="0"/>
              <a:t>/</a:t>
            </a:r>
            <a:r>
              <a:rPr lang="en-US" dirty="0" err="1"/>
              <a:t>chấp</a:t>
            </a:r>
            <a:r>
              <a:rPr lang="en-US" dirty="0"/>
              <a:t> </a:t>
            </a:r>
            <a:r>
              <a:rPr lang="en-US" dirty="0" err="1"/>
              <a:t>nhận</a:t>
            </a:r>
            <a:r>
              <a:rPr lang="en-US" dirty="0"/>
              <a:t> (ENQ/ACK) </a:t>
            </a:r>
          </a:p>
        </p:txBody>
      </p:sp>
      <p:sp>
        <p:nvSpPr>
          <p:cNvPr id="3" name="Content Placeholder 2"/>
          <p:cNvSpPr>
            <a:spLocks noGrp="1"/>
          </p:cNvSpPr>
          <p:nvPr>
            <p:ph idx="1"/>
          </p:nvPr>
        </p:nvSpPr>
        <p:spPr/>
        <p:txBody>
          <a:bodyPr>
            <a:noAutofit/>
          </a:bodyPr>
          <a:lstStyle/>
          <a:p>
            <a:r>
              <a:rPr lang="vi-VN" sz="2400" dirty="0" smtClean="0">
                <a:latin typeface="+mj-lt"/>
              </a:rPr>
              <a:t>Bộ </a:t>
            </a:r>
            <a:r>
              <a:rPr lang="vi-VN" sz="2400" dirty="0">
                <a:latin typeface="+mj-lt"/>
              </a:rPr>
              <a:t>khởi tạo (máy phát) trước hết gởi một frame được gọi là </a:t>
            </a:r>
            <a:r>
              <a:rPr lang="vi-VN" sz="2400" b="1" dirty="0">
                <a:latin typeface="+mj-lt"/>
              </a:rPr>
              <a:t>ENQ (</a:t>
            </a:r>
            <a:r>
              <a:rPr lang="vi-VN" sz="2400" dirty="0">
                <a:latin typeface="+mj-lt"/>
              </a:rPr>
              <a:t>enquiry</a:t>
            </a:r>
            <a:r>
              <a:rPr lang="vi-VN" sz="2400" b="1" dirty="0">
                <a:latin typeface="+mj-lt"/>
              </a:rPr>
              <a:t>) </a:t>
            </a:r>
            <a:r>
              <a:rPr lang="vi-VN" sz="2400" dirty="0">
                <a:latin typeface="+mj-lt"/>
              </a:rPr>
              <a:t>hỏi xem </a:t>
            </a:r>
            <a:r>
              <a:rPr lang="vi-VN" sz="2400" dirty="0" smtClean="0">
                <a:latin typeface="+mj-lt"/>
              </a:rPr>
              <a:t>máy</a:t>
            </a:r>
            <a:r>
              <a:rPr lang="en-US" sz="2400" dirty="0" smtClean="0">
                <a:latin typeface="+mj-lt"/>
              </a:rPr>
              <a:t> </a:t>
            </a:r>
            <a:r>
              <a:rPr lang="vi-VN" sz="2400" dirty="0" smtClean="0">
                <a:latin typeface="+mj-lt"/>
              </a:rPr>
              <a:t>thu </a:t>
            </a:r>
            <a:r>
              <a:rPr lang="vi-VN" sz="2400" dirty="0">
                <a:latin typeface="+mj-lt"/>
              </a:rPr>
              <a:t>có sẵn sàng thu dữ liệu </a:t>
            </a:r>
            <a:r>
              <a:rPr lang="vi-VN" sz="2400" dirty="0" smtClean="0">
                <a:latin typeface="+mj-lt"/>
              </a:rPr>
              <a:t>chưa</a:t>
            </a:r>
            <a:endParaRPr lang="en-US" sz="2400" dirty="0">
              <a:latin typeface="+mj-lt"/>
            </a:endParaRPr>
          </a:p>
          <a:p>
            <a:r>
              <a:rPr lang="vi-VN" sz="2400" dirty="0" smtClean="0">
                <a:latin typeface="+mj-lt"/>
              </a:rPr>
              <a:t>Máy </a:t>
            </a:r>
            <a:r>
              <a:rPr lang="vi-VN" sz="2400" dirty="0">
                <a:latin typeface="+mj-lt"/>
              </a:rPr>
              <a:t>thu phải trả lời bằng frame </a:t>
            </a:r>
            <a:r>
              <a:rPr lang="vi-VN" sz="2400" b="1" dirty="0">
                <a:latin typeface="+mj-lt"/>
              </a:rPr>
              <a:t>ACK </a:t>
            </a:r>
            <a:r>
              <a:rPr lang="vi-VN" sz="2400" dirty="0">
                <a:latin typeface="+mj-lt"/>
              </a:rPr>
              <a:t>(acknowledgment ) khi máy sẵn sàng thu, </a:t>
            </a:r>
            <a:r>
              <a:rPr lang="vi-VN" sz="2400" dirty="0" smtClean="0">
                <a:latin typeface="+mj-lt"/>
              </a:rPr>
              <a:t>hoặc</a:t>
            </a:r>
            <a:r>
              <a:rPr lang="en-US" sz="2400" dirty="0" smtClean="0">
                <a:latin typeface="+mj-lt"/>
              </a:rPr>
              <a:t> </a:t>
            </a:r>
            <a:r>
              <a:rPr lang="vi-VN" sz="2400" dirty="0" smtClean="0">
                <a:latin typeface="+mj-lt"/>
              </a:rPr>
              <a:t>frame </a:t>
            </a:r>
            <a:r>
              <a:rPr lang="vi-VN" sz="2400" b="1" dirty="0">
                <a:latin typeface="+mj-lt"/>
              </a:rPr>
              <a:t>NAK (</a:t>
            </a:r>
            <a:r>
              <a:rPr lang="vi-VN" sz="2400" dirty="0">
                <a:latin typeface="+mj-lt"/>
              </a:rPr>
              <a:t>negative acknowledgment) khi máy chưa sẵn sàng </a:t>
            </a:r>
            <a:r>
              <a:rPr lang="vi-VN" sz="2400" dirty="0" smtClean="0">
                <a:latin typeface="+mj-lt"/>
              </a:rPr>
              <a:t>thu.</a:t>
            </a:r>
            <a:endParaRPr lang="en-US" sz="2400" dirty="0">
              <a:latin typeface="+mj-lt"/>
            </a:endParaRPr>
          </a:p>
          <a:p>
            <a:r>
              <a:rPr lang="vi-VN" sz="2400" b="1" dirty="0" smtClean="0">
                <a:latin typeface="+mj-lt"/>
              </a:rPr>
              <a:t>Nếu </a:t>
            </a:r>
            <a:r>
              <a:rPr lang="vi-VN" sz="2400" b="1" dirty="0">
                <a:latin typeface="+mj-lt"/>
              </a:rPr>
              <a:t>máy phát không nhận được tín hiệu ACK hay NAK sau khoảng thời gian </a:t>
            </a:r>
            <a:r>
              <a:rPr lang="vi-VN" sz="2400" b="1" dirty="0" smtClean="0">
                <a:latin typeface="+mj-lt"/>
              </a:rPr>
              <a:t>qui</a:t>
            </a:r>
            <a:r>
              <a:rPr lang="en-US" sz="2400" b="1" dirty="0" smtClean="0">
                <a:latin typeface="+mj-lt"/>
              </a:rPr>
              <a:t> </a:t>
            </a:r>
            <a:r>
              <a:rPr lang="vi-VN" sz="2400" b="1" dirty="0" smtClean="0">
                <a:latin typeface="+mj-lt"/>
              </a:rPr>
              <a:t>định </a:t>
            </a:r>
            <a:r>
              <a:rPr lang="vi-VN" sz="2400" b="1" dirty="0">
                <a:latin typeface="+mj-lt"/>
              </a:rPr>
              <a:t>thì máy phát sẽ cho là tín hiệu ENQ đã bị thất lạc khi truyền hay do </a:t>
            </a:r>
            <a:r>
              <a:rPr lang="vi-VN" sz="2400" b="1" dirty="0" smtClean="0">
                <a:latin typeface="+mj-lt"/>
              </a:rPr>
              <a:t>đứt</a:t>
            </a:r>
            <a:r>
              <a:rPr lang="en-US" sz="2400" b="1" dirty="0" smtClean="0">
                <a:latin typeface="+mj-lt"/>
              </a:rPr>
              <a:t> </a:t>
            </a:r>
            <a:r>
              <a:rPr lang="vi-VN" sz="2400" b="1" dirty="0" smtClean="0">
                <a:latin typeface="+mj-lt"/>
              </a:rPr>
              <a:t>mạch,</a:t>
            </a:r>
            <a:r>
              <a:rPr lang="en-US" sz="2400" b="1" dirty="0" smtClean="0">
                <a:latin typeface="+mj-lt"/>
              </a:rPr>
              <a:t> </a:t>
            </a:r>
            <a:r>
              <a:rPr lang="vi-VN" sz="2400" b="1" dirty="0" smtClean="0">
                <a:latin typeface="+mj-lt"/>
              </a:rPr>
              <a:t>nên </a:t>
            </a:r>
            <a:r>
              <a:rPr lang="vi-VN" sz="2400" b="1" dirty="0">
                <a:latin typeface="+mj-lt"/>
              </a:rPr>
              <a:t>sẽ gởi tiếp tín hiệu thay thế. </a:t>
            </a:r>
            <a:r>
              <a:rPr lang="vi-VN" sz="2400" dirty="0">
                <a:latin typeface="+mj-lt"/>
              </a:rPr>
              <a:t>Thông thường, máy phát phải thực hiện </a:t>
            </a:r>
            <a:r>
              <a:rPr lang="vi-VN" sz="2400" b="1" dirty="0">
                <a:latin typeface="+mj-lt"/>
              </a:rPr>
              <a:t>khoảng 3 </a:t>
            </a:r>
            <a:r>
              <a:rPr lang="vi-VN" sz="2400" b="1" dirty="0" smtClean="0">
                <a:latin typeface="+mj-lt"/>
              </a:rPr>
              <a:t>lần</a:t>
            </a:r>
            <a:r>
              <a:rPr lang="en-US" sz="2400" b="1" dirty="0" smtClean="0">
                <a:latin typeface="+mj-lt"/>
              </a:rPr>
              <a:t> </a:t>
            </a:r>
            <a:r>
              <a:rPr lang="vi-VN" sz="2400" dirty="0" smtClean="0">
                <a:latin typeface="+mj-lt"/>
              </a:rPr>
              <a:t>bước </a:t>
            </a:r>
            <a:r>
              <a:rPr lang="vi-VN" sz="2400" dirty="0">
                <a:latin typeface="+mj-lt"/>
              </a:rPr>
              <a:t>này để kết nối thành </a:t>
            </a:r>
            <a:r>
              <a:rPr lang="vi-VN" sz="2400" dirty="0" smtClean="0">
                <a:latin typeface="+mj-lt"/>
              </a:rPr>
              <a:t>công.</a:t>
            </a:r>
            <a:endParaRPr lang="en-US" sz="2400" dirty="0">
              <a:latin typeface="+mj-lt"/>
            </a:endParaRPr>
          </a:p>
          <a:p>
            <a:r>
              <a:rPr lang="vi-VN" sz="2400" dirty="0" smtClean="0">
                <a:latin typeface="+mj-lt"/>
              </a:rPr>
              <a:t>Nếu </a:t>
            </a:r>
            <a:r>
              <a:rPr lang="vi-VN" sz="2400" dirty="0">
                <a:latin typeface="+mj-lt"/>
              </a:rPr>
              <a:t>máy phát liên tục nhận thông tin từ </a:t>
            </a:r>
            <a:r>
              <a:rPr lang="vi-VN" sz="2400" b="1" dirty="0">
                <a:latin typeface="+mj-lt"/>
              </a:rPr>
              <a:t>chối NAK trong 3 lần thì sẽ cắt kết nối </a:t>
            </a:r>
            <a:r>
              <a:rPr lang="vi-VN" sz="2400" dirty="0">
                <a:latin typeface="+mj-lt"/>
              </a:rPr>
              <a:t>và </a:t>
            </a:r>
            <a:r>
              <a:rPr lang="vi-VN" sz="2400" dirty="0" smtClean="0">
                <a:latin typeface="+mj-lt"/>
              </a:rPr>
              <a:t>bắt</a:t>
            </a:r>
            <a:r>
              <a:rPr lang="en-US" sz="2400" dirty="0" smtClean="0">
                <a:latin typeface="+mj-lt"/>
              </a:rPr>
              <a:t> </a:t>
            </a:r>
            <a:r>
              <a:rPr lang="vi-VN" sz="2400" dirty="0" smtClean="0">
                <a:latin typeface="+mj-lt"/>
              </a:rPr>
              <a:t>đầu </a:t>
            </a:r>
            <a:r>
              <a:rPr lang="vi-VN" sz="2400" dirty="0">
                <a:latin typeface="+mj-lt"/>
              </a:rPr>
              <a:t>lại các bước này vào một thời gian khác. Nếu tín hiệu nhận được là chấp nhận, </a:t>
            </a:r>
            <a:r>
              <a:rPr lang="vi-VN" sz="2400" dirty="0" smtClean="0">
                <a:latin typeface="+mj-lt"/>
              </a:rPr>
              <a:t>máy</a:t>
            </a:r>
            <a:r>
              <a:rPr lang="en-US" sz="2400" dirty="0" smtClean="0">
                <a:latin typeface="+mj-lt"/>
              </a:rPr>
              <a:t> </a:t>
            </a:r>
            <a:r>
              <a:rPr lang="vi-VN" sz="2400" dirty="0" smtClean="0">
                <a:latin typeface="+mj-lt"/>
              </a:rPr>
              <a:t>phát </a:t>
            </a:r>
            <a:r>
              <a:rPr lang="vi-VN" sz="2400" dirty="0">
                <a:latin typeface="+mj-lt"/>
              </a:rPr>
              <a:t>tự do phát </a:t>
            </a:r>
            <a:r>
              <a:rPr lang="vi-VN" sz="2400" dirty="0" smtClean="0">
                <a:latin typeface="+mj-lt"/>
              </a:rPr>
              <a:t>tin.</a:t>
            </a:r>
            <a:endParaRPr lang="en-US" sz="2400" dirty="0">
              <a:latin typeface="+mj-lt"/>
            </a:endParaRPr>
          </a:p>
          <a:p>
            <a:r>
              <a:rPr lang="vi-VN" sz="2400" dirty="0" smtClean="0">
                <a:latin typeface="+mj-lt"/>
              </a:rPr>
              <a:t>Sau </a:t>
            </a:r>
            <a:r>
              <a:rPr lang="vi-VN" sz="2400" dirty="0">
                <a:latin typeface="+mj-lt"/>
              </a:rPr>
              <a:t>khi đã chuyển tin đi hết, hệ thống phát chấm dứt bằng một frame chấm dứt truyền</a:t>
            </a:r>
            <a:br>
              <a:rPr lang="vi-VN" sz="2400" dirty="0">
                <a:latin typeface="+mj-lt"/>
              </a:rPr>
            </a:br>
            <a:r>
              <a:rPr lang="vi-VN" sz="2400" dirty="0">
                <a:latin typeface="+mj-lt"/>
              </a:rPr>
              <a:t>EOT (end of transmission</a:t>
            </a:r>
            <a:r>
              <a:rPr lang="vi-VN" sz="2400" dirty="0" smtClean="0">
                <a:latin typeface="+mj-lt"/>
              </a:rPr>
              <a:t>:) </a:t>
            </a:r>
            <a:r>
              <a:rPr lang="vi-VN" sz="2600" dirty="0">
                <a:latin typeface="+mj-lt"/>
              </a:rPr>
              <a:t/>
            </a:r>
            <a:br>
              <a:rPr lang="vi-VN" sz="2600" dirty="0">
                <a:latin typeface="+mj-lt"/>
              </a:rPr>
            </a:br>
            <a:endParaRPr lang="en-US" sz="2600" dirty="0">
              <a:latin typeface="+mj-lt"/>
            </a:endParaRPr>
          </a:p>
        </p:txBody>
      </p:sp>
    </p:spTree>
    <p:extLst>
      <p:ext uri="{BB962C8B-B14F-4D97-AF65-F5344CB8AC3E}">
        <p14:creationId xmlns:p14="http://schemas.microsoft.com/office/powerpoint/2010/main" val="2116876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Hỏi vòng/lựa chọn (Poll/select)</a:t>
            </a:r>
            <a:endParaRPr lang="en-US" dirty="0"/>
          </a:p>
        </p:txBody>
      </p:sp>
      <p:sp>
        <p:nvSpPr>
          <p:cNvPr id="3" name="Content Placeholder 2"/>
          <p:cNvSpPr>
            <a:spLocks noGrp="1"/>
          </p:cNvSpPr>
          <p:nvPr>
            <p:ph idx="1"/>
          </p:nvPr>
        </p:nvSpPr>
        <p:spPr/>
        <p:txBody>
          <a:bodyPr/>
          <a:lstStyle/>
          <a:p>
            <a:r>
              <a:rPr lang="vi-VN" dirty="0" smtClean="0">
                <a:latin typeface="+mj-lt"/>
              </a:rPr>
              <a:t>Phương </a:t>
            </a:r>
            <a:r>
              <a:rPr lang="vi-VN" dirty="0">
                <a:latin typeface="+mj-lt"/>
              </a:rPr>
              <a:t>pháp này hoạt động với cấu hình mạng trong đó một thiết bị được </a:t>
            </a:r>
            <a:r>
              <a:rPr lang="vi-VN" b="1" dirty="0" smtClean="0">
                <a:latin typeface="+mj-lt"/>
              </a:rPr>
              <a:t>phân</a:t>
            </a:r>
            <a:r>
              <a:rPr lang="en-US" b="1" dirty="0" smtClean="0">
                <a:latin typeface="+mj-lt"/>
              </a:rPr>
              <a:t> </a:t>
            </a:r>
            <a:r>
              <a:rPr lang="vi-VN" b="1" dirty="0" smtClean="0">
                <a:latin typeface="+mj-lt"/>
              </a:rPr>
              <a:t>công </a:t>
            </a:r>
            <a:r>
              <a:rPr lang="vi-VN" b="1" dirty="0">
                <a:latin typeface="+mj-lt"/>
              </a:rPr>
              <a:t>làm thiết bị sơ cấp và máy còn lại là thiết bị thứ </a:t>
            </a:r>
            <a:r>
              <a:rPr lang="vi-VN" b="1" dirty="0" smtClean="0">
                <a:latin typeface="+mj-lt"/>
              </a:rPr>
              <a:t>cấp</a:t>
            </a:r>
            <a:endParaRPr lang="en-US" b="1" dirty="0" smtClean="0">
              <a:latin typeface="+mj-lt"/>
            </a:endParaRPr>
          </a:p>
          <a:p>
            <a:r>
              <a:rPr lang="vi-VN" b="1" dirty="0" smtClean="0">
                <a:latin typeface="+mj-lt"/>
              </a:rPr>
              <a:t>Các </a:t>
            </a:r>
            <a:r>
              <a:rPr lang="vi-VN" b="1" dirty="0">
                <a:latin typeface="+mj-lt"/>
              </a:rPr>
              <a:t>hệ thống đa điểm </a:t>
            </a:r>
            <a:r>
              <a:rPr lang="vi-VN" dirty="0">
                <a:latin typeface="+mj-lt"/>
              </a:rPr>
              <a:t>cần phải điều phối nhiều </a:t>
            </a:r>
            <a:r>
              <a:rPr lang="vi-VN" dirty="0" smtClean="0">
                <a:latin typeface="+mj-lt"/>
              </a:rPr>
              <a:t>điểm</a:t>
            </a:r>
            <a:endParaRPr lang="en-US" dirty="0" smtClean="0">
              <a:latin typeface="+mj-lt"/>
            </a:endParaRPr>
          </a:p>
          <a:p>
            <a:r>
              <a:rPr lang="vi-VN" dirty="0" smtClean="0">
                <a:latin typeface="+mj-lt"/>
              </a:rPr>
              <a:t>Vấn </a:t>
            </a:r>
            <a:r>
              <a:rPr lang="vi-VN" dirty="0">
                <a:latin typeface="+mj-lt"/>
              </a:rPr>
              <a:t>đề cần giải quyết là : thiết bị đã sẵn sàng chưa? Và nút nào trong số các </a:t>
            </a:r>
            <a:r>
              <a:rPr lang="vi-VN" dirty="0" smtClean="0">
                <a:latin typeface="+mj-lt"/>
              </a:rPr>
              <a:t>nút</a:t>
            </a:r>
            <a:r>
              <a:rPr lang="en-US" dirty="0" smtClean="0">
                <a:latin typeface="+mj-lt"/>
              </a:rPr>
              <a:t> </a:t>
            </a:r>
            <a:r>
              <a:rPr lang="vi-VN" dirty="0" smtClean="0">
                <a:latin typeface="+mj-lt"/>
              </a:rPr>
              <a:t>được </a:t>
            </a:r>
            <a:r>
              <a:rPr lang="vi-VN" dirty="0">
                <a:latin typeface="+mj-lt"/>
              </a:rPr>
              <a:t>phép dùng kênh thông </a:t>
            </a:r>
            <a:r>
              <a:rPr lang="vi-VN" dirty="0" smtClean="0">
                <a:latin typeface="+mj-lt"/>
              </a:rPr>
              <a:t>tin </a:t>
            </a:r>
            <a:r>
              <a:rPr lang="vi-VN" dirty="0"/>
              <a:t/>
            </a:r>
            <a:br>
              <a:rPr lang="vi-VN" dirty="0"/>
            </a:br>
            <a:r>
              <a:rPr lang="vi-VN" dirty="0"/>
              <a:t> </a:t>
            </a:r>
            <a:br>
              <a:rPr lang="vi-VN" dirty="0"/>
            </a:br>
            <a:endParaRPr lang="en-US" dirty="0"/>
          </a:p>
        </p:txBody>
      </p:sp>
      <p:pic>
        <p:nvPicPr>
          <p:cNvPr id="4" name="Picture 3"/>
          <p:cNvPicPr>
            <a:picLocks noChangeAspect="1"/>
          </p:cNvPicPr>
          <p:nvPr/>
        </p:nvPicPr>
        <p:blipFill>
          <a:blip r:embed="rId2"/>
          <a:stretch>
            <a:fillRect/>
          </a:stretch>
        </p:blipFill>
        <p:spPr>
          <a:xfrm>
            <a:off x="1481137" y="3864334"/>
            <a:ext cx="8924925" cy="223837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Hỏi</a:t>
            </a:r>
            <a:r>
              <a:rPr lang="en-US" dirty="0"/>
              <a:t> </a:t>
            </a:r>
            <a:r>
              <a:rPr lang="en-US" dirty="0" err="1"/>
              <a:t>vòng</a:t>
            </a:r>
            <a:r>
              <a:rPr lang="en-US" dirty="0"/>
              <a:t>/</a:t>
            </a:r>
            <a:r>
              <a:rPr lang="en-US" dirty="0" err="1"/>
              <a:t>lựa</a:t>
            </a:r>
            <a:r>
              <a:rPr lang="en-US" dirty="0"/>
              <a:t> </a:t>
            </a:r>
            <a:r>
              <a:rPr lang="en-US" dirty="0" err="1"/>
              <a:t>chọn</a:t>
            </a:r>
            <a:r>
              <a:rPr lang="en-US" dirty="0"/>
              <a:t> (Poll/select)</a:t>
            </a:r>
          </a:p>
        </p:txBody>
      </p:sp>
      <p:sp>
        <p:nvSpPr>
          <p:cNvPr id="3" name="Content Placeholder 2"/>
          <p:cNvSpPr>
            <a:spLocks noGrp="1"/>
          </p:cNvSpPr>
          <p:nvPr>
            <p:ph idx="1"/>
          </p:nvPr>
        </p:nvSpPr>
        <p:spPr/>
        <p:txBody>
          <a:bodyPr>
            <a:noAutofit/>
          </a:bodyPr>
          <a:lstStyle/>
          <a:p>
            <a:pPr>
              <a:buFont typeface="Wingdings" panose="05000000000000000000" pitchFamily="2" charset="2"/>
              <a:buChar char="v"/>
            </a:pPr>
            <a:r>
              <a:rPr lang="en-US" sz="2400" b="1" dirty="0" smtClean="0">
                <a:latin typeface="+mj-lt"/>
              </a:rPr>
              <a:t> </a:t>
            </a:r>
            <a:r>
              <a:rPr lang="vi-VN" sz="2400" b="1" dirty="0" smtClean="0">
                <a:latin typeface="+mj-lt"/>
              </a:rPr>
              <a:t>Cơ </a:t>
            </a:r>
            <a:r>
              <a:rPr lang="vi-VN" sz="2400" b="1" dirty="0">
                <a:latin typeface="+mj-lt"/>
              </a:rPr>
              <a:t>chế hoạt </a:t>
            </a:r>
            <a:r>
              <a:rPr lang="vi-VN" sz="2400" b="1" dirty="0" smtClean="0">
                <a:latin typeface="+mj-lt"/>
              </a:rPr>
              <a:t>động</a:t>
            </a:r>
            <a:endParaRPr lang="en-US" sz="2400" dirty="0">
              <a:latin typeface="+mj-lt"/>
            </a:endParaRPr>
          </a:p>
          <a:p>
            <a:r>
              <a:rPr lang="vi-VN" sz="2400" dirty="0" smtClean="0">
                <a:latin typeface="+mj-lt"/>
              </a:rPr>
              <a:t>Thiết </a:t>
            </a:r>
            <a:r>
              <a:rPr lang="vi-VN" sz="2400" dirty="0">
                <a:latin typeface="+mj-lt"/>
              </a:rPr>
              <a:t>bị sơ cấp và nhiều thiết bị thứ cấp được nối với nhau thông qua một đường</a:t>
            </a:r>
            <a:br>
              <a:rPr lang="vi-VN" sz="2400" dirty="0">
                <a:latin typeface="+mj-lt"/>
              </a:rPr>
            </a:br>
            <a:r>
              <a:rPr lang="vi-VN" sz="2400" dirty="0">
                <a:latin typeface="+mj-lt"/>
              </a:rPr>
              <a:t>truyền, tất cả mọi trao đổi đều được thực hiện thông qua thiết bị sơ cấp ngay cả</a:t>
            </a:r>
            <a:br>
              <a:rPr lang="vi-VN" sz="2400" dirty="0">
                <a:latin typeface="+mj-lt"/>
              </a:rPr>
            </a:br>
            <a:r>
              <a:rPr lang="vi-VN" sz="2400" dirty="0">
                <a:latin typeface="+mj-lt"/>
              </a:rPr>
              <a:t>khi đích đến là thiết bị thứ </a:t>
            </a:r>
            <a:r>
              <a:rPr lang="vi-VN" sz="2400" dirty="0" smtClean="0">
                <a:latin typeface="+mj-lt"/>
              </a:rPr>
              <a:t>cấp</a:t>
            </a:r>
            <a:endParaRPr lang="en-US" sz="2400" dirty="0" smtClean="0">
              <a:latin typeface="+mj-lt"/>
            </a:endParaRPr>
          </a:p>
          <a:p>
            <a:r>
              <a:rPr lang="vi-VN" sz="2400" dirty="0" smtClean="0">
                <a:latin typeface="+mj-lt"/>
              </a:rPr>
              <a:t>Thiết </a:t>
            </a:r>
            <a:r>
              <a:rPr lang="vi-VN" sz="2400" dirty="0">
                <a:latin typeface="+mj-lt"/>
              </a:rPr>
              <a:t>bị sơ cấp điều khiển kết nối; thiết bị thứ cấp phải nhận chỉ thị từ thiết bị sơ</a:t>
            </a:r>
            <a:br>
              <a:rPr lang="vi-VN" sz="2400" dirty="0">
                <a:latin typeface="+mj-lt"/>
              </a:rPr>
            </a:br>
            <a:r>
              <a:rPr lang="vi-VN" sz="2400" dirty="0" smtClean="0">
                <a:latin typeface="+mj-lt"/>
              </a:rPr>
              <a:t>cấp</a:t>
            </a:r>
            <a:endParaRPr lang="en-US" sz="2400" dirty="0">
              <a:latin typeface="+mj-lt"/>
            </a:endParaRPr>
          </a:p>
          <a:p>
            <a:r>
              <a:rPr lang="vi-VN" sz="2400" dirty="0" smtClean="0">
                <a:latin typeface="+mj-lt"/>
              </a:rPr>
              <a:t>Thiết </a:t>
            </a:r>
            <a:r>
              <a:rPr lang="vi-VN" sz="2400" dirty="0">
                <a:latin typeface="+mj-lt"/>
              </a:rPr>
              <a:t>bị sơ cấp xác định thiết bị thứ cấp nào được phép sử dụng kênh trong một</a:t>
            </a:r>
            <a:br>
              <a:rPr lang="vi-VN" sz="2400" dirty="0">
                <a:latin typeface="+mj-lt"/>
              </a:rPr>
            </a:br>
            <a:r>
              <a:rPr lang="vi-VN" sz="2400" dirty="0">
                <a:latin typeface="+mj-lt"/>
              </a:rPr>
              <a:t>thời gian nhất định, đồng thời thiết bị này cũng đóng vai trò máy </a:t>
            </a:r>
            <a:r>
              <a:rPr lang="vi-VN" sz="2400" dirty="0" smtClean="0">
                <a:latin typeface="+mj-lt"/>
              </a:rPr>
              <a:t>phát</a:t>
            </a:r>
            <a:endParaRPr lang="en-US" sz="2400" dirty="0" smtClean="0">
              <a:latin typeface="+mj-lt"/>
            </a:endParaRPr>
          </a:p>
          <a:p>
            <a:r>
              <a:rPr lang="vi-VN" sz="2400" b="1" dirty="0" smtClean="0">
                <a:latin typeface="+mj-lt"/>
              </a:rPr>
              <a:t>Nếu </a:t>
            </a:r>
            <a:r>
              <a:rPr lang="vi-VN" sz="2400" b="1" dirty="0">
                <a:latin typeface="+mj-lt"/>
              </a:rPr>
              <a:t>thiết bị sơ cấp muốn nhận dữ liệu thì phải hỏi thứ cấp có cần gởi không</a:t>
            </a:r>
            <a:r>
              <a:rPr lang="vi-VN" sz="2400" dirty="0">
                <a:latin typeface="+mj-lt"/>
              </a:rPr>
              <a:t>,</a:t>
            </a:r>
            <a:br>
              <a:rPr lang="vi-VN" sz="2400" dirty="0">
                <a:latin typeface="+mj-lt"/>
              </a:rPr>
            </a:br>
            <a:r>
              <a:rPr lang="vi-VN" sz="2400" dirty="0">
                <a:latin typeface="+mj-lt"/>
              </a:rPr>
              <a:t>chức năng này được gọi là hỏi vòng (</a:t>
            </a:r>
            <a:r>
              <a:rPr lang="vi-VN" sz="2400" b="1" i="1" dirty="0" smtClean="0">
                <a:latin typeface="+mj-lt"/>
              </a:rPr>
              <a:t>polling)</a:t>
            </a:r>
            <a:endParaRPr lang="en-US" sz="2400" dirty="0">
              <a:latin typeface="+mj-lt"/>
            </a:endParaRPr>
          </a:p>
          <a:p>
            <a:r>
              <a:rPr lang="vi-VN" sz="2400" b="1" dirty="0" smtClean="0">
                <a:latin typeface="+mj-lt"/>
              </a:rPr>
              <a:t>Nếu </a:t>
            </a:r>
            <a:r>
              <a:rPr lang="vi-VN" sz="2400" b="1" dirty="0">
                <a:latin typeface="+mj-lt"/>
              </a:rPr>
              <a:t>thiết bị sơ cấp muốn gởi dữ liệu, thì phải báo cho các thiết bị đích thứ</a:t>
            </a:r>
            <a:br>
              <a:rPr lang="vi-VN" sz="2400" b="1" dirty="0">
                <a:latin typeface="+mj-lt"/>
              </a:rPr>
            </a:br>
            <a:r>
              <a:rPr lang="vi-VN" sz="2400" b="1" dirty="0">
                <a:latin typeface="+mj-lt"/>
              </a:rPr>
              <a:t>cấp biết để chuẩn bị sẵn sàng nhận tin</a:t>
            </a:r>
            <a:r>
              <a:rPr lang="vi-VN" sz="2400" dirty="0">
                <a:latin typeface="+mj-lt"/>
              </a:rPr>
              <a:t>, chức năng này được gọi là lựa chọn</a:t>
            </a:r>
            <a:br>
              <a:rPr lang="vi-VN" sz="2400" dirty="0">
                <a:latin typeface="+mj-lt"/>
              </a:rPr>
            </a:br>
            <a:r>
              <a:rPr lang="vi-VN" sz="2400" dirty="0">
                <a:latin typeface="+mj-lt"/>
              </a:rPr>
              <a:t>(</a:t>
            </a:r>
            <a:r>
              <a:rPr lang="vi-VN" sz="2400" i="1" dirty="0">
                <a:latin typeface="+mj-lt"/>
              </a:rPr>
              <a:t>selecting)</a:t>
            </a:r>
            <a:r>
              <a:rPr lang="vi-VN" sz="2400" dirty="0">
                <a:latin typeface="+mj-lt"/>
              </a:rPr>
              <a:t>. </a:t>
            </a:r>
            <a:r>
              <a:rPr lang="vi-VN" dirty="0"/>
              <a:t/>
            </a:r>
            <a:br>
              <a:rPr lang="vi-VN" dirty="0"/>
            </a:br>
            <a:endParaRPr lang="en-US" dirty="0"/>
          </a:p>
        </p:txBody>
      </p:sp>
    </p:spTree>
    <p:extLst>
      <p:ext uri="{BB962C8B-B14F-4D97-AF65-F5344CB8AC3E}">
        <p14:creationId xmlns:p14="http://schemas.microsoft.com/office/powerpoint/2010/main" val="41297634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8.2.2 Điều khiển lưu lượng</a:t>
            </a:r>
            <a:endParaRPr lang="en-US" dirty="0"/>
          </a:p>
        </p:txBody>
      </p:sp>
      <p:sp>
        <p:nvSpPr>
          <p:cNvPr id="3" name="Content Placeholder 2"/>
          <p:cNvSpPr>
            <a:spLocks noGrp="1"/>
          </p:cNvSpPr>
          <p:nvPr>
            <p:ph idx="1"/>
          </p:nvPr>
        </p:nvSpPr>
        <p:spPr/>
        <p:txBody>
          <a:bodyPr>
            <a:noAutofit/>
          </a:bodyPr>
          <a:lstStyle/>
          <a:p>
            <a:r>
              <a:rPr lang="vi-VN" b="1" dirty="0" smtClean="0">
                <a:latin typeface="+mj-lt"/>
              </a:rPr>
              <a:t>Điều </a:t>
            </a:r>
            <a:r>
              <a:rPr lang="vi-VN" b="1" dirty="0">
                <a:latin typeface="+mj-lt"/>
              </a:rPr>
              <a:t>khiển lưu lượng </a:t>
            </a:r>
            <a:r>
              <a:rPr lang="vi-VN" dirty="0">
                <a:latin typeface="+mj-lt"/>
              </a:rPr>
              <a:t>là tập các thủ tục nhằm cho thiết bị phát biết về lượng dữ </a:t>
            </a:r>
            <a:r>
              <a:rPr lang="vi-VN" dirty="0" smtClean="0">
                <a:latin typeface="+mj-lt"/>
              </a:rPr>
              <a:t>liệu</a:t>
            </a:r>
            <a:r>
              <a:rPr lang="en-US" dirty="0" smtClean="0">
                <a:latin typeface="+mj-lt"/>
              </a:rPr>
              <a:t> </a:t>
            </a:r>
            <a:r>
              <a:rPr lang="vi-VN" dirty="0" smtClean="0">
                <a:latin typeface="+mj-lt"/>
              </a:rPr>
              <a:t>được </a:t>
            </a:r>
            <a:r>
              <a:rPr lang="vi-VN" dirty="0">
                <a:latin typeface="+mj-lt"/>
              </a:rPr>
              <a:t>truyền đi trước khi phải chờ tín hiệu ACK từ bên </a:t>
            </a:r>
            <a:r>
              <a:rPr lang="vi-VN" dirty="0" smtClean="0">
                <a:latin typeface="+mj-lt"/>
              </a:rPr>
              <a:t>nhận</a:t>
            </a:r>
            <a:endParaRPr lang="en-US" dirty="0" smtClean="0">
              <a:latin typeface="+mj-lt"/>
            </a:endParaRPr>
          </a:p>
          <a:p>
            <a:r>
              <a:rPr lang="vi-VN" b="1" dirty="0" smtClean="0">
                <a:latin typeface="+mj-lt"/>
              </a:rPr>
              <a:t>Lưu </a:t>
            </a:r>
            <a:r>
              <a:rPr lang="vi-VN" b="1" dirty="0">
                <a:latin typeface="+mj-lt"/>
              </a:rPr>
              <a:t>lượng truyền này không được phép làm quá tải bên </a:t>
            </a:r>
            <a:r>
              <a:rPr lang="vi-VN" b="1" dirty="0" smtClean="0">
                <a:latin typeface="+mj-lt"/>
              </a:rPr>
              <a:t>thu</a:t>
            </a:r>
            <a:r>
              <a:rPr lang="vi-VN" dirty="0" smtClean="0">
                <a:latin typeface="+mj-lt"/>
              </a:rPr>
              <a:t>.</a:t>
            </a:r>
            <a:endParaRPr lang="en-US" dirty="0">
              <a:latin typeface="+mj-lt"/>
            </a:endParaRPr>
          </a:p>
          <a:p>
            <a:r>
              <a:rPr lang="vi-VN" dirty="0" smtClean="0">
                <a:latin typeface="+mj-lt"/>
              </a:rPr>
              <a:t>Thiết </a:t>
            </a:r>
            <a:r>
              <a:rPr lang="vi-VN" dirty="0">
                <a:latin typeface="+mj-lt"/>
              </a:rPr>
              <a:t>bị thu thông báo cho bên gởi biết về các giới hạn dữ liệu và có thể yêu cầu gởi </a:t>
            </a:r>
            <a:r>
              <a:rPr lang="vi-VN" dirty="0" smtClean="0">
                <a:latin typeface="+mj-lt"/>
              </a:rPr>
              <a:t>ít</a:t>
            </a:r>
            <a:r>
              <a:rPr lang="en-US" dirty="0" smtClean="0">
                <a:latin typeface="+mj-lt"/>
              </a:rPr>
              <a:t> </a:t>
            </a:r>
            <a:r>
              <a:rPr lang="vi-VN" dirty="0" smtClean="0">
                <a:latin typeface="+mj-lt"/>
              </a:rPr>
              <a:t>hơn </a:t>
            </a:r>
            <a:r>
              <a:rPr lang="vi-VN" dirty="0">
                <a:latin typeface="+mj-lt"/>
              </a:rPr>
              <a:t>hay tạm dừng </a:t>
            </a:r>
            <a:r>
              <a:rPr lang="vi-VN" dirty="0" smtClean="0">
                <a:latin typeface="+mj-lt"/>
              </a:rPr>
              <a:t>truyền</a:t>
            </a:r>
            <a:endParaRPr lang="en-US" dirty="0" smtClean="0">
              <a:latin typeface="+mj-lt"/>
            </a:endParaRPr>
          </a:p>
          <a:p>
            <a:r>
              <a:rPr lang="vi-VN" dirty="0" smtClean="0">
                <a:latin typeface="+mj-lt"/>
              </a:rPr>
              <a:t>Thiết </a:t>
            </a:r>
            <a:r>
              <a:rPr lang="vi-VN" dirty="0">
                <a:latin typeface="+mj-lt"/>
              </a:rPr>
              <a:t>bị thu còn có bước kiểm tra và xử lý dữ liệu trước khi sử dụng, điều này làm </a:t>
            </a:r>
            <a:r>
              <a:rPr lang="vi-VN" dirty="0" smtClean="0">
                <a:latin typeface="+mj-lt"/>
              </a:rPr>
              <a:t>chậm</a:t>
            </a:r>
            <a:r>
              <a:rPr lang="en-US" dirty="0" smtClean="0">
                <a:latin typeface="+mj-lt"/>
              </a:rPr>
              <a:t> </a:t>
            </a:r>
            <a:r>
              <a:rPr lang="vi-VN" dirty="0" smtClean="0">
                <a:latin typeface="+mj-lt"/>
              </a:rPr>
              <a:t>đáng </a:t>
            </a:r>
            <a:r>
              <a:rPr lang="vi-VN" dirty="0">
                <a:latin typeface="+mj-lt"/>
              </a:rPr>
              <a:t>kể lưu lượng truyền dẫn, nên bên thu thường có thêm một khối nhớ tạm, thường </a:t>
            </a:r>
            <a:r>
              <a:rPr lang="vi-VN" dirty="0" smtClean="0">
                <a:latin typeface="+mj-lt"/>
              </a:rPr>
              <a:t>được</a:t>
            </a:r>
            <a:r>
              <a:rPr lang="en-US" dirty="0" smtClean="0">
                <a:latin typeface="+mj-lt"/>
              </a:rPr>
              <a:t> </a:t>
            </a:r>
            <a:r>
              <a:rPr lang="vi-VN" dirty="0" smtClean="0">
                <a:latin typeface="+mj-lt"/>
              </a:rPr>
              <a:t>gọi </a:t>
            </a:r>
            <a:r>
              <a:rPr lang="vi-VN" dirty="0">
                <a:latin typeface="+mj-lt"/>
              </a:rPr>
              <a:t>là bộ nhớ đệm (buffer). </a:t>
            </a:r>
            <a:endParaRPr lang="en-US" dirty="0">
              <a:latin typeface="+mj-lt"/>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8.2.2 </a:t>
            </a:r>
            <a:r>
              <a:rPr lang="en-US" dirty="0" err="1"/>
              <a:t>Điều</a:t>
            </a:r>
            <a:r>
              <a:rPr lang="en-US" dirty="0"/>
              <a:t> </a:t>
            </a:r>
            <a:r>
              <a:rPr lang="en-US" dirty="0" err="1"/>
              <a:t>khiển</a:t>
            </a:r>
            <a:r>
              <a:rPr lang="en-US" dirty="0"/>
              <a:t> </a:t>
            </a:r>
            <a:r>
              <a:rPr lang="en-US" dirty="0" err="1"/>
              <a:t>lưu</a:t>
            </a:r>
            <a:r>
              <a:rPr lang="en-US" dirty="0"/>
              <a:t> </a:t>
            </a:r>
            <a:r>
              <a:rPr lang="en-US" dirty="0" err="1"/>
              <a:t>lượng</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v"/>
            </a:pPr>
            <a:r>
              <a:rPr lang="en-US" b="1" i="1" dirty="0" smtClean="0">
                <a:latin typeface="+mj-lt"/>
              </a:rPr>
              <a:t> </a:t>
            </a:r>
            <a:r>
              <a:rPr lang="vi-VN" b="1" i="1" dirty="0" smtClean="0">
                <a:latin typeface="+mj-lt"/>
              </a:rPr>
              <a:t>Điều </a:t>
            </a:r>
            <a:r>
              <a:rPr lang="vi-VN" b="1" i="1" dirty="0">
                <a:latin typeface="+mj-lt"/>
              </a:rPr>
              <a:t>khiển lưu lượng là tập các thủ tục được dùng để giới hạn lượng dữ liệu mà </a:t>
            </a:r>
            <a:r>
              <a:rPr lang="vi-VN" b="1" i="1" dirty="0" smtClean="0">
                <a:latin typeface="+mj-lt"/>
              </a:rPr>
              <a:t>bên</a:t>
            </a:r>
            <a:r>
              <a:rPr lang="en-US" b="1" i="1" dirty="0" smtClean="0">
                <a:latin typeface="+mj-lt"/>
              </a:rPr>
              <a:t> </a:t>
            </a:r>
            <a:r>
              <a:rPr lang="vi-VN" b="1" i="1" dirty="0" smtClean="0">
                <a:latin typeface="+mj-lt"/>
              </a:rPr>
              <a:t>phát </a:t>
            </a:r>
            <a:r>
              <a:rPr lang="vi-VN" b="1" i="1" dirty="0">
                <a:latin typeface="+mj-lt"/>
              </a:rPr>
              <a:t>có thể gởi đi trước khi nhận được tín hiệu xác nhận </a:t>
            </a:r>
            <a:r>
              <a:rPr lang="vi-VN" b="1" i="1" dirty="0" smtClean="0">
                <a:latin typeface="+mj-lt"/>
              </a:rPr>
              <a:t>ACK</a:t>
            </a:r>
            <a:endParaRPr lang="en-US" b="1" i="1" dirty="0" smtClean="0">
              <a:latin typeface="+mj-lt"/>
            </a:endParaRPr>
          </a:p>
          <a:p>
            <a:r>
              <a:rPr lang="vi-VN" dirty="0" smtClean="0">
                <a:latin typeface="+mj-lt"/>
              </a:rPr>
              <a:t>Có </a:t>
            </a:r>
            <a:r>
              <a:rPr lang="vi-VN" dirty="0">
                <a:latin typeface="+mj-lt"/>
              </a:rPr>
              <a:t>hai phương pháp được dùng là: </a:t>
            </a:r>
            <a:r>
              <a:rPr lang="vi-VN" b="1" dirty="0">
                <a:latin typeface="+mj-lt"/>
              </a:rPr>
              <a:t>dừng - đợi </a:t>
            </a:r>
            <a:r>
              <a:rPr lang="vi-VN" dirty="0">
                <a:latin typeface="+mj-lt"/>
              </a:rPr>
              <a:t>và </a:t>
            </a:r>
            <a:r>
              <a:rPr lang="vi-VN" b="1" dirty="0">
                <a:latin typeface="+mj-lt"/>
              </a:rPr>
              <a:t>cửa sổ trượt</a:t>
            </a:r>
            <a:r>
              <a:rPr lang="vi-VN" dirty="0">
                <a:latin typeface="+mj-lt"/>
              </a:rPr>
              <a:t> </a:t>
            </a:r>
            <a:r>
              <a:rPr lang="vi-VN" dirty="0"/>
              <a:t/>
            </a:r>
            <a:br>
              <a:rPr lang="vi-VN" dirty="0"/>
            </a:br>
            <a:endParaRPr lang="en-US" dirty="0"/>
          </a:p>
        </p:txBody>
      </p:sp>
      <p:pic>
        <p:nvPicPr>
          <p:cNvPr id="4" name="Picture 3"/>
          <p:cNvPicPr>
            <a:picLocks noChangeAspect="1"/>
          </p:cNvPicPr>
          <p:nvPr/>
        </p:nvPicPr>
        <p:blipFill>
          <a:blip r:embed="rId2"/>
          <a:stretch>
            <a:fillRect/>
          </a:stretch>
        </p:blipFill>
        <p:spPr>
          <a:xfrm>
            <a:off x="1870075" y="3487192"/>
            <a:ext cx="8721726" cy="2277020"/>
          </a:xfrm>
          <a:prstGeom prst="rect">
            <a:avLst/>
          </a:prstGeom>
        </p:spPr>
      </p:pic>
    </p:spTree>
    <p:extLst>
      <p:ext uri="{BB962C8B-B14F-4D97-AF65-F5344CB8AC3E}">
        <p14:creationId xmlns:p14="http://schemas.microsoft.com/office/powerpoint/2010/main" val="139874415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Phương</a:t>
            </a:r>
            <a:r>
              <a:rPr lang="en-US" b="1" dirty="0" smtClean="0"/>
              <a:t> </a:t>
            </a:r>
            <a:r>
              <a:rPr lang="en-US" b="1" dirty="0" err="1" smtClean="0"/>
              <a:t>pháp</a:t>
            </a:r>
            <a:r>
              <a:rPr lang="en-US" b="1" dirty="0" smtClean="0"/>
              <a:t> </a:t>
            </a:r>
            <a:r>
              <a:rPr lang="vi-VN" b="1" dirty="0" smtClean="0"/>
              <a:t>dừng </a:t>
            </a:r>
            <a:r>
              <a:rPr lang="vi-VN" b="1" dirty="0"/>
              <a:t>- đợi</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v"/>
            </a:pPr>
            <a:r>
              <a:rPr lang="en-US" dirty="0" smtClean="0">
                <a:latin typeface="+mj-lt"/>
              </a:rPr>
              <a:t> </a:t>
            </a:r>
            <a:r>
              <a:rPr lang="vi-VN" dirty="0" smtClean="0">
                <a:latin typeface="+mj-lt"/>
              </a:rPr>
              <a:t>Trong </a:t>
            </a:r>
            <a:r>
              <a:rPr lang="vi-VN" dirty="0">
                <a:latin typeface="+mj-lt"/>
              </a:rPr>
              <a:t>phương pháp này, thiết bị phát gởi xong một frame và đợi tín hiệu xác nhận </a:t>
            </a:r>
            <a:r>
              <a:rPr lang="vi-VN" dirty="0" smtClean="0">
                <a:latin typeface="+mj-lt"/>
              </a:rPr>
              <a:t>ACK</a:t>
            </a:r>
            <a:r>
              <a:rPr lang="en-US" dirty="0" smtClean="0">
                <a:latin typeface="+mj-lt"/>
              </a:rPr>
              <a:t> </a:t>
            </a:r>
            <a:r>
              <a:rPr lang="vi-VN" dirty="0" smtClean="0">
                <a:latin typeface="+mj-lt"/>
              </a:rPr>
              <a:t>rồi </a:t>
            </a:r>
            <a:r>
              <a:rPr lang="vi-VN" dirty="0">
                <a:latin typeface="+mj-lt"/>
              </a:rPr>
              <a:t>gởi tiếp frame </a:t>
            </a:r>
            <a:r>
              <a:rPr lang="vi-VN" dirty="0" smtClean="0">
                <a:latin typeface="+mj-lt"/>
              </a:rPr>
              <a:t>kế</a:t>
            </a:r>
            <a:endParaRPr lang="en-US" dirty="0" smtClean="0">
              <a:latin typeface="+mj-lt"/>
            </a:endParaRPr>
          </a:p>
          <a:p>
            <a:r>
              <a:rPr lang="vi-VN" b="1" dirty="0">
                <a:latin typeface="+mj-lt"/>
              </a:rPr>
              <a:t>Ưu điểm: </a:t>
            </a:r>
            <a:r>
              <a:rPr lang="vi-VN" dirty="0" smtClean="0">
                <a:latin typeface="+mj-lt"/>
              </a:rPr>
              <a:t>đơn giản</a:t>
            </a:r>
            <a:endParaRPr lang="en-US" dirty="0" smtClean="0">
              <a:latin typeface="+mj-lt"/>
            </a:endParaRPr>
          </a:p>
          <a:p>
            <a:r>
              <a:rPr lang="vi-VN" b="1" dirty="0" smtClean="0">
                <a:latin typeface="+mj-lt"/>
              </a:rPr>
              <a:t>Khuyết </a:t>
            </a:r>
            <a:r>
              <a:rPr lang="vi-VN" b="1" dirty="0">
                <a:latin typeface="+mj-lt"/>
              </a:rPr>
              <a:t>điểm: </a:t>
            </a:r>
            <a:r>
              <a:rPr lang="vi-VN" dirty="0">
                <a:latin typeface="+mj-lt"/>
              </a:rPr>
              <a:t>tốc độ truyền </a:t>
            </a:r>
            <a:endParaRPr lang="en-US" dirty="0" smtClean="0">
              <a:latin typeface="+mj-lt"/>
            </a:endParaRPr>
          </a:p>
          <a:p>
            <a:pPr marL="0" indent="0">
              <a:buNone/>
            </a:pPr>
            <a:r>
              <a:rPr lang="vi-VN" dirty="0" smtClean="0">
                <a:latin typeface="+mj-lt"/>
              </a:rPr>
              <a:t>bị </a:t>
            </a:r>
            <a:r>
              <a:rPr lang="vi-VN" dirty="0">
                <a:latin typeface="+mj-lt"/>
              </a:rPr>
              <a:t>chậm do quá trình dừng-đợi </a:t>
            </a:r>
            <a:r>
              <a:rPr lang="vi-VN" dirty="0"/>
              <a:t/>
            </a:r>
            <a:br>
              <a:rPr lang="vi-VN" dirty="0"/>
            </a:br>
            <a:r>
              <a:rPr lang="vi-VN" dirty="0" smtClean="0">
                <a:latin typeface="+mj-lt"/>
              </a:rPr>
              <a:t> </a:t>
            </a:r>
            <a:r>
              <a:rPr lang="vi-VN" dirty="0"/>
              <a:t/>
            </a:r>
            <a:br>
              <a:rPr lang="vi-VN" dirty="0"/>
            </a:br>
            <a:endParaRPr lang="en-US" dirty="0"/>
          </a:p>
        </p:txBody>
      </p:sp>
      <p:pic>
        <p:nvPicPr>
          <p:cNvPr id="4" name="Picture 3"/>
          <p:cNvPicPr>
            <a:picLocks noChangeAspect="1"/>
          </p:cNvPicPr>
          <p:nvPr/>
        </p:nvPicPr>
        <p:blipFill>
          <a:blip r:embed="rId2"/>
          <a:stretch>
            <a:fillRect/>
          </a:stretch>
        </p:blipFill>
        <p:spPr>
          <a:xfrm>
            <a:off x="5934075" y="2381070"/>
            <a:ext cx="4964011" cy="4149725"/>
          </a:xfrm>
          <a:prstGeom prst="rect">
            <a:avLst/>
          </a:prstGeom>
        </p:spPr>
      </p:pic>
    </p:spTree>
    <p:extLst>
      <p:ext uri="{BB962C8B-B14F-4D97-AF65-F5344CB8AC3E}">
        <p14:creationId xmlns:p14="http://schemas.microsoft.com/office/powerpoint/2010/main" val="336668831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Phương</a:t>
            </a:r>
            <a:r>
              <a:rPr lang="en-US" b="1" dirty="0" smtClean="0"/>
              <a:t> </a:t>
            </a:r>
            <a:r>
              <a:rPr lang="en-US" b="1" dirty="0" err="1" smtClean="0"/>
              <a:t>pháp</a:t>
            </a:r>
            <a:r>
              <a:rPr lang="en-US" b="1" dirty="0" smtClean="0"/>
              <a:t> </a:t>
            </a:r>
            <a:r>
              <a:rPr lang="vi-VN" b="1" dirty="0" smtClean="0"/>
              <a:t>cửa </a:t>
            </a:r>
            <a:r>
              <a:rPr lang="vi-VN" b="1" dirty="0"/>
              <a:t>sổ trượt</a:t>
            </a:r>
            <a:endParaRPr lang="en-US" dirty="0"/>
          </a:p>
        </p:txBody>
      </p:sp>
      <p:sp>
        <p:nvSpPr>
          <p:cNvPr id="3" name="Content Placeholder 2"/>
          <p:cNvSpPr>
            <a:spLocks noGrp="1"/>
          </p:cNvSpPr>
          <p:nvPr>
            <p:ph idx="1"/>
          </p:nvPr>
        </p:nvSpPr>
        <p:spPr/>
        <p:txBody>
          <a:bodyPr>
            <a:noAutofit/>
          </a:bodyPr>
          <a:lstStyle/>
          <a:p>
            <a:r>
              <a:rPr lang="vi-VN" dirty="0">
                <a:latin typeface="+mj-lt"/>
              </a:rPr>
              <a:t>Phương pháp này cho phép nhiều frame cùng một </a:t>
            </a:r>
            <a:r>
              <a:rPr lang="vi-VN" dirty="0" smtClean="0">
                <a:latin typeface="+mj-lt"/>
              </a:rPr>
              <a:t>lúc</a:t>
            </a:r>
            <a:endParaRPr lang="en-US" dirty="0" smtClean="0">
              <a:latin typeface="+mj-lt"/>
            </a:endParaRPr>
          </a:p>
          <a:p>
            <a:endParaRPr lang="en-US" dirty="0">
              <a:latin typeface="+mj-lt"/>
            </a:endParaRPr>
          </a:p>
          <a:p>
            <a:pPr marL="0" indent="0">
              <a:buNone/>
            </a:pPr>
            <a:endParaRPr lang="en-US" dirty="0">
              <a:latin typeface="+mj-lt"/>
            </a:endParaRPr>
          </a:p>
          <a:p>
            <a:r>
              <a:rPr lang="en-US" dirty="0" err="1" smtClean="0">
                <a:latin typeface="Times New Roman" panose="02020603050405020304" pitchFamily="18" charset="0"/>
                <a:cs typeface="Times New Roman" panose="02020603050405020304" pitchFamily="18" charset="0"/>
              </a:rPr>
              <a:t>Cửa</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sổ</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gửi</a:t>
            </a:r>
            <a:endParaRPr lang="en-US"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smtClean="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0" indent="0">
              <a:buNone/>
            </a:pPr>
            <a:r>
              <a:rPr lang="en-US" sz="2400" dirty="0" smtClean="0">
                <a:latin typeface="Times New Roman" panose="02020603050405020304" pitchFamily="18" charset="0"/>
                <a:cs typeface="Times New Roman" panose="02020603050405020304" pitchFamily="18" charset="0"/>
              </a:rPr>
              <a:t>- </a:t>
            </a:r>
            <a:r>
              <a:rPr lang="vi-VN" sz="2400" dirty="0" smtClean="0">
                <a:latin typeface="Times New Roman" panose="02020603050405020304" pitchFamily="18" charset="0"/>
                <a:cs typeface="Times New Roman" panose="02020603050405020304" pitchFamily="18" charset="0"/>
              </a:rPr>
              <a:t>Dùng </a:t>
            </a:r>
            <a:r>
              <a:rPr lang="vi-VN" sz="2400" dirty="0">
                <a:latin typeface="Times New Roman" panose="02020603050405020304" pitchFamily="18" charset="0"/>
                <a:cs typeface="Times New Roman" panose="02020603050405020304" pitchFamily="18" charset="0"/>
              </a:rPr>
              <a:t>ý tưởng, cửa sổ trượt co từ bên trái khi frame dữ liệu được gởi đi. Cửa sổ </a:t>
            </a:r>
            <a:r>
              <a:rPr lang="vi-VN" sz="2400" dirty="0" smtClean="0">
                <a:latin typeface="Times New Roman" panose="02020603050405020304" pitchFamily="18" charset="0"/>
                <a:cs typeface="Times New Roman" panose="02020603050405020304" pitchFamily="18" charset="0"/>
              </a:rPr>
              <a:t>trượt</a:t>
            </a:r>
            <a:r>
              <a:rPr lang="en-US" sz="2400" dirty="0" smtClean="0">
                <a:latin typeface="Times New Roman" panose="02020603050405020304" pitchFamily="18" charset="0"/>
                <a:cs typeface="Times New Roman" panose="02020603050405020304" pitchFamily="18" charset="0"/>
              </a:rPr>
              <a:t> </a:t>
            </a:r>
            <a:r>
              <a:rPr lang="vi-VN" sz="2400" dirty="0" smtClean="0">
                <a:latin typeface="Times New Roman" panose="02020603050405020304" pitchFamily="18" charset="0"/>
                <a:cs typeface="Times New Roman" panose="02020603050405020304" pitchFamily="18" charset="0"/>
              </a:rPr>
              <a:t>của </a:t>
            </a:r>
            <a:r>
              <a:rPr lang="vi-VN" sz="2400" dirty="0">
                <a:latin typeface="Times New Roman" panose="02020603050405020304" pitchFamily="18" charset="0"/>
                <a:cs typeface="Times New Roman" panose="02020603050405020304" pitchFamily="18" charset="0"/>
              </a:rPr>
              <a:t>thiết bị phát mở rộng về bên phải khi nhận được tín hiệu xác nhận ACK </a:t>
            </a:r>
            <a:r>
              <a:rPr lang="vi-VN" dirty="0"/>
              <a:t/>
            </a:r>
            <a:br>
              <a:rPr lang="vi-VN" dirty="0"/>
            </a:br>
            <a:r>
              <a:rPr lang="vi-VN" dirty="0" smtClean="0">
                <a:latin typeface="Times New Roman" panose="02020603050405020304" pitchFamily="18" charset="0"/>
                <a:cs typeface="Times New Roman" panose="02020603050405020304" pitchFamily="18" charset="0"/>
              </a:rPr>
              <a:t> </a:t>
            </a:r>
            <a:r>
              <a:rPr lang="vi-VN" dirty="0"/>
              <a:t/>
            </a:r>
            <a:br>
              <a:rPr lang="vi-VN" dirty="0"/>
            </a:br>
            <a:endParaRPr lang="en-US" dirty="0"/>
          </a:p>
        </p:txBody>
      </p:sp>
      <p:pic>
        <p:nvPicPr>
          <p:cNvPr id="4" name="Picture 3"/>
          <p:cNvPicPr>
            <a:picLocks noChangeAspect="1"/>
          </p:cNvPicPr>
          <p:nvPr/>
        </p:nvPicPr>
        <p:blipFill>
          <a:blip r:embed="rId2"/>
          <a:stretch>
            <a:fillRect/>
          </a:stretch>
        </p:blipFill>
        <p:spPr>
          <a:xfrm>
            <a:off x="2253765" y="1924472"/>
            <a:ext cx="6407635" cy="1040977"/>
          </a:xfrm>
          <a:prstGeom prst="rect">
            <a:avLst/>
          </a:prstGeom>
        </p:spPr>
      </p:pic>
      <p:pic>
        <p:nvPicPr>
          <p:cNvPr id="5" name="Picture 4"/>
          <p:cNvPicPr>
            <a:picLocks noChangeAspect="1"/>
          </p:cNvPicPr>
          <p:nvPr/>
        </p:nvPicPr>
        <p:blipFill>
          <a:blip r:embed="rId3"/>
          <a:stretch>
            <a:fillRect/>
          </a:stretch>
        </p:blipFill>
        <p:spPr>
          <a:xfrm>
            <a:off x="2759079" y="3275218"/>
            <a:ext cx="6726847" cy="2111606"/>
          </a:xfrm>
          <a:prstGeom prst="rect">
            <a:avLst/>
          </a:prstGeom>
        </p:spPr>
      </p:pic>
    </p:spTree>
    <p:extLst>
      <p:ext uri="{BB962C8B-B14F-4D97-AF65-F5344CB8AC3E}">
        <p14:creationId xmlns:p14="http://schemas.microsoft.com/office/powerpoint/2010/main" val="75090065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Phương</a:t>
            </a:r>
            <a:r>
              <a:rPr lang="en-US" b="1" dirty="0"/>
              <a:t> </a:t>
            </a:r>
            <a:r>
              <a:rPr lang="en-US" b="1" dirty="0" err="1"/>
              <a:t>pháp</a:t>
            </a:r>
            <a:r>
              <a:rPr lang="en-US" b="1" dirty="0"/>
              <a:t> </a:t>
            </a:r>
            <a:r>
              <a:rPr lang="vi-VN" b="1" dirty="0"/>
              <a:t>cửa sổ trượt</a:t>
            </a:r>
            <a:endParaRPr lang="en-US" dirty="0"/>
          </a:p>
        </p:txBody>
      </p:sp>
      <p:sp>
        <p:nvSpPr>
          <p:cNvPr id="3" name="Content Placeholder 2"/>
          <p:cNvSpPr>
            <a:spLocks noGrp="1"/>
          </p:cNvSpPr>
          <p:nvPr>
            <p:ph idx="1"/>
          </p:nvPr>
        </p:nvSpPr>
        <p:spPr/>
        <p:txBody>
          <a:bodyPr/>
          <a:lstStyle/>
          <a:p>
            <a:r>
              <a:rPr lang="en-US" dirty="0" err="1" smtClean="0">
                <a:latin typeface="Times New Roman" panose="02020603050405020304" pitchFamily="18" charset="0"/>
                <a:cs typeface="Times New Roman" panose="02020603050405020304" pitchFamily="18" charset="0"/>
              </a:rPr>
              <a:t>Cửa</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sổ</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nhận</a:t>
            </a:r>
            <a:endParaRPr lang="en-US"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smtClean="0">
              <a:latin typeface="Times New Roman" panose="02020603050405020304" pitchFamily="18" charset="0"/>
              <a:cs typeface="Times New Roman" panose="02020603050405020304" pitchFamily="18" charset="0"/>
            </a:endParaRPr>
          </a:p>
          <a:p>
            <a:endParaRPr lang="en-US"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 </a:t>
            </a:r>
            <a:r>
              <a:rPr lang="vi-VN" dirty="0" smtClean="0">
                <a:latin typeface="Times New Roman" panose="02020603050405020304" pitchFamily="18" charset="0"/>
                <a:cs typeface="Times New Roman" panose="02020603050405020304" pitchFamily="18" charset="0"/>
              </a:rPr>
              <a:t>Dùng </a:t>
            </a:r>
            <a:r>
              <a:rPr lang="vi-VN" dirty="0">
                <a:latin typeface="Times New Roman" panose="02020603050405020304" pitchFamily="18" charset="0"/>
                <a:cs typeface="Times New Roman" panose="02020603050405020304" pitchFamily="18" charset="0"/>
              </a:rPr>
              <a:t>ý tưởng, cửa sổ trượt của máy thu co từ bên trái khi frame dữ liệu được </a:t>
            </a:r>
            <a:r>
              <a:rPr lang="vi-VN" dirty="0" smtClean="0">
                <a:latin typeface="Times New Roman" panose="02020603050405020304" pitchFamily="18" charset="0"/>
                <a:cs typeface="Times New Roman" panose="02020603050405020304" pitchFamily="18" charset="0"/>
              </a:rPr>
              <a:t>nhận.Cửa </a:t>
            </a:r>
            <a:r>
              <a:rPr lang="vi-VN" dirty="0">
                <a:latin typeface="Times New Roman" panose="02020603050405020304" pitchFamily="18" charset="0"/>
                <a:cs typeface="Times New Roman" panose="02020603050405020304" pitchFamily="18" charset="0"/>
              </a:rPr>
              <a:t>sổ trượt của thiết bị thu mở rộng về bên phải khi gởi tín hiệu xác nhận ACK đi </a:t>
            </a:r>
            <a:r>
              <a:rPr lang="vi-VN" dirty="0"/>
              <a:t/>
            </a:r>
            <a:br>
              <a:rPr lang="vi-VN" dirty="0"/>
            </a:br>
            <a:endParaRPr lang="en-US" dirty="0"/>
          </a:p>
        </p:txBody>
      </p:sp>
      <p:pic>
        <p:nvPicPr>
          <p:cNvPr id="4" name="Picture 3"/>
          <p:cNvPicPr>
            <a:picLocks noChangeAspect="1"/>
          </p:cNvPicPr>
          <p:nvPr/>
        </p:nvPicPr>
        <p:blipFill>
          <a:blip r:embed="rId2"/>
          <a:stretch>
            <a:fillRect/>
          </a:stretch>
        </p:blipFill>
        <p:spPr>
          <a:xfrm>
            <a:off x="2235199" y="2044700"/>
            <a:ext cx="7604849" cy="2355850"/>
          </a:xfrm>
          <a:prstGeom prst="rect">
            <a:avLst/>
          </a:prstGeom>
        </p:spPr>
      </p:pic>
    </p:spTree>
    <p:extLst>
      <p:ext uri="{BB962C8B-B14F-4D97-AF65-F5344CB8AC3E}">
        <p14:creationId xmlns:p14="http://schemas.microsoft.com/office/powerpoint/2010/main" val="329040789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Phương</a:t>
            </a:r>
            <a:r>
              <a:rPr lang="en-US" b="1" dirty="0"/>
              <a:t> </a:t>
            </a:r>
            <a:r>
              <a:rPr lang="en-US" b="1" dirty="0" err="1"/>
              <a:t>pháp</a:t>
            </a:r>
            <a:r>
              <a:rPr lang="en-US" b="1" dirty="0"/>
              <a:t> </a:t>
            </a:r>
            <a:r>
              <a:rPr lang="vi-VN" b="1" dirty="0"/>
              <a:t>cửa sổ trượt</a:t>
            </a: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69375" y="1166707"/>
            <a:ext cx="8671634" cy="5003800"/>
          </a:xfrm>
        </p:spPr>
      </p:pic>
    </p:spTree>
    <p:extLst>
      <p:ext uri="{BB962C8B-B14F-4D97-AF65-F5344CB8AC3E}">
        <p14:creationId xmlns:p14="http://schemas.microsoft.com/office/powerpoint/2010/main" val="367810991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8.2.3 Điều khiển lỗi</a:t>
            </a:r>
            <a:endParaRPr lang="en-US" dirty="0"/>
          </a:p>
        </p:txBody>
      </p:sp>
      <p:sp>
        <p:nvSpPr>
          <p:cNvPr id="3" name="Content Placeholder 2"/>
          <p:cNvSpPr>
            <a:spLocks noGrp="1"/>
          </p:cNvSpPr>
          <p:nvPr>
            <p:ph idx="1"/>
          </p:nvPr>
        </p:nvSpPr>
        <p:spPr/>
        <p:txBody>
          <a:bodyPr>
            <a:noAutofit/>
          </a:bodyPr>
          <a:lstStyle/>
          <a:p>
            <a:r>
              <a:rPr lang="vi-VN" b="1" dirty="0">
                <a:latin typeface="+mj-lt"/>
              </a:rPr>
              <a:t>Điều khiển lỗi là phương pháp phát hiện và truyền lại dữ </a:t>
            </a:r>
            <a:r>
              <a:rPr lang="vi-VN" b="1" dirty="0" smtClean="0">
                <a:latin typeface="+mj-lt"/>
              </a:rPr>
              <a:t>liệu.</a:t>
            </a:r>
            <a:br>
              <a:rPr lang="vi-VN" b="1" dirty="0" smtClean="0">
                <a:latin typeface="+mj-lt"/>
              </a:rPr>
            </a:br>
            <a:r>
              <a:rPr lang="vi-VN" b="1" dirty="0" smtClean="0">
                <a:latin typeface="+mj-lt"/>
              </a:rPr>
              <a:t>ARQ </a:t>
            </a:r>
            <a:r>
              <a:rPr lang="vi-VN" b="1" dirty="0">
                <a:latin typeface="+mj-lt"/>
              </a:rPr>
              <a:t>(Automatic Repeat Request): Yêu cầu lặp lại tự </a:t>
            </a:r>
            <a:r>
              <a:rPr lang="vi-VN" b="1" dirty="0" smtClean="0">
                <a:latin typeface="+mj-lt"/>
              </a:rPr>
              <a:t>động</a:t>
            </a:r>
            <a:endParaRPr lang="en-US" b="1" dirty="0" smtClean="0">
              <a:latin typeface="+mj-lt"/>
            </a:endParaRPr>
          </a:p>
          <a:p>
            <a:r>
              <a:rPr lang="vi-VN" dirty="0" smtClean="0">
                <a:latin typeface="+mj-lt"/>
              </a:rPr>
              <a:t>Sửa </a:t>
            </a:r>
            <a:r>
              <a:rPr lang="vi-VN" dirty="0">
                <a:latin typeface="+mj-lt"/>
              </a:rPr>
              <a:t>lỗi trong lớp kết nối dữ liệu: Nếu phát hiện lỗi khi truyền thì bên </a:t>
            </a:r>
            <a:r>
              <a:rPr lang="vi-VN" dirty="0" smtClean="0">
                <a:latin typeface="+mj-lt"/>
              </a:rPr>
              <a:t>thu</a:t>
            </a:r>
            <a:r>
              <a:rPr lang="en-US" dirty="0" smtClean="0">
                <a:latin typeface="+mj-lt"/>
              </a:rPr>
              <a:t> </a:t>
            </a:r>
            <a:r>
              <a:rPr lang="vi-VN" dirty="0" smtClean="0">
                <a:latin typeface="+mj-lt"/>
              </a:rPr>
              <a:t>gởi </a:t>
            </a:r>
            <a:r>
              <a:rPr lang="vi-VN" dirty="0">
                <a:latin typeface="+mj-lt"/>
              </a:rPr>
              <a:t>về tín </a:t>
            </a:r>
            <a:r>
              <a:rPr lang="vi-VN" dirty="0" smtClean="0">
                <a:latin typeface="+mj-lt"/>
              </a:rPr>
              <a:t>hiệu</a:t>
            </a:r>
            <a:r>
              <a:rPr lang="en-US" dirty="0" smtClean="0">
                <a:latin typeface="+mj-lt"/>
              </a:rPr>
              <a:t> </a:t>
            </a:r>
            <a:r>
              <a:rPr lang="vi-VN" dirty="0" smtClean="0">
                <a:latin typeface="+mj-lt"/>
              </a:rPr>
              <a:t>không </a:t>
            </a:r>
            <a:r>
              <a:rPr lang="vi-VN" dirty="0">
                <a:latin typeface="+mj-lt"/>
              </a:rPr>
              <a:t>xác nhận (NAK) và frame được gởi lại. Quá </a:t>
            </a:r>
            <a:r>
              <a:rPr lang="vi-VN" dirty="0" smtClean="0">
                <a:latin typeface="+mj-lt"/>
              </a:rPr>
              <a:t>trình</a:t>
            </a:r>
            <a:r>
              <a:rPr lang="en-US" dirty="0" smtClean="0">
                <a:latin typeface="+mj-lt"/>
              </a:rPr>
              <a:t> </a:t>
            </a:r>
            <a:r>
              <a:rPr lang="vi-VN" dirty="0" smtClean="0">
                <a:latin typeface="+mj-lt"/>
              </a:rPr>
              <a:t>này </a:t>
            </a:r>
            <a:r>
              <a:rPr lang="vi-VN" dirty="0">
                <a:latin typeface="+mj-lt"/>
              </a:rPr>
              <a:t>được gọi là </a:t>
            </a:r>
            <a:r>
              <a:rPr lang="vi-VN" b="1" dirty="0">
                <a:latin typeface="+mj-lt"/>
              </a:rPr>
              <a:t>yêu cầu tự động </a:t>
            </a:r>
            <a:r>
              <a:rPr lang="vi-VN" b="1" dirty="0" smtClean="0">
                <a:latin typeface="+mj-lt"/>
              </a:rPr>
              <a:t>lặp</a:t>
            </a:r>
            <a:r>
              <a:rPr lang="en-US" b="1" dirty="0" smtClean="0">
                <a:latin typeface="+mj-lt"/>
              </a:rPr>
              <a:t> </a:t>
            </a:r>
            <a:r>
              <a:rPr lang="vi-VN" b="1" dirty="0" smtClean="0">
                <a:latin typeface="+mj-lt"/>
              </a:rPr>
              <a:t>lại </a:t>
            </a:r>
            <a:r>
              <a:rPr lang="vi-VN" b="1" dirty="0">
                <a:latin typeface="+mj-lt"/>
              </a:rPr>
              <a:t>(</a:t>
            </a:r>
            <a:r>
              <a:rPr lang="vi-VN" b="1" dirty="0" smtClean="0">
                <a:latin typeface="+mj-lt"/>
              </a:rPr>
              <a:t>ARQ)</a:t>
            </a:r>
            <a:endParaRPr lang="en-US" b="1" dirty="0" smtClean="0">
              <a:latin typeface="+mj-lt"/>
            </a:endParaRPr>
          </a:p>
          <a:p>
            <a:r>
              <a:rPr lang="vi-VN" dirty="0" smtClean="0">
                <a:latin typeface="+mj-lt"/>
              </a:rPr>
              <a:t>Sửa </a:t>
            </a:r>
            <a:r>
              <a:rPr lang="vi-VN" dirty="0">
                <a:latin typeface="+mj-lt"/>
              </a:rPr>
              <a:t>lỗi trong lớp kết nối dữ liệu dùng cơ sở yêu cầu tự động lặp </a:t>
            </a:r>
            <a:r>
              <a:rPr lang="vi-VN" dirty="0" smtClean="0">
                <a:latin typeface="+mj-lt"/>
              </a:rPr>
              <a:t>lại</a:t>
            </a:r>
            <a:r>
              <a:rPr lang="en-US" dirty="0" smtClean="0">
                <a:latin typeface="+mj-lt"/>
              </a:rPr>
              <a:t> </a:t>
            </a:r>
            <a:r>
              <a:rPr lang="vi-VN" dirty="0" smtClean="0">
                <a:latin typeface="+mj-lt"/>
              </a:rPr>
              <a:t>(ARQ</a:t>
            </a:r>
            <a:r>
              <a:rPr lang="vi-VN" dirty="0">
                <a:latin typeface="+mj-lt"/>
              </a:rPr>
              <a:t>), tức là </a:t>
            </a:r>
            <a:r>
              <a:rPr lang="vi-VN" dirty="0" smtClean="0">
                <a:latin typeface="+mj-lt"/>
              </a:rPr>
              <a:t>việc</a:t>
            </a:r>
            <a:r>
              <a:rPr lang="en-US" dirty="0" smtClean="0">
                <a:latin typeface="+mj-lt"/>
              </a:rPr>
              <a:t> </a:t>
            </a:r>
            <a:r>
              <a:rPr lang="vi-VN" dirty="0" smtClean="0">
                <a:latin typeface="+mj-lt"/>
              </a:rPr>
              <a:t>truyền </a:t>
            </a:r>
            <a:r>
              <a:rPr lang="vi-VN" dirty="0">
                <a:latin typeface="+mj-lt"/>
              </a:rPr>
              <a:t>lại dữ liệu trong ba trường </a:t>
            </a:r>
            <a:r>
              <a:rPr lang="vi-VN" dirty="0" smtClean="0">
                <a:latin typeface="+mj-lt"/>
              </a:rPr>
              <a:t>hợp</a:t>
            </a:r>
            <a:r>
              <a:rPr lang="vi-VN" b="1" dirty="0">
                <a:latin typeface="+mj-lt"/>
              </a:rPr>
              <a:t/>
            </a:r>
            <a:br>
              <a:rPr lang="vi-VN" b="1" dirty="0">
                <a:latin typeface="+mj-lt"/>
              </a:rPr>
            </a:br>
            <a:r>
              <a:rPr lang="vi-VN" dirty="0">
                <a:latin typeface="+mj-lt"/>
              </a:rPr>
              <a:t>• </a:t>
            </a:r>
            <a:r>
              <a:rPr lang="vi-VN" b="1" dirty="0">
                <a:latin typeface="+mj-lt"/>
              </a:rPr>
              <a:t>Frame(data) bị </a:t>
            </a:r>
            <a:r>
              <a:rPr lang="vi-VN" b="1" dirty="0" smtClean="0">
                <a:latin typeface="+mj-lt"/>
              </a:rPr>
              <a:t>hỏng</a:t>
            </a:r>
            <a:r>
              <a:rPr lang="vi-VN" b="1" dirty="0">
                <a:latin typeface="+mj-lt"/>
              </a:rPr>
              <a:t/>
            </a:r>
            <a:br>
              <a:rPr lang="vi-VN" b="1" dirty="0">
                <a:latin typeface="+mj-lt"/>
              </a:rPr>
            </a:br>
            <a:r>
              <a:rPr lang="vi-VN" dirty="0">
                <a:latin typeface="+mj-lt"/>
              </a:rPr>
              <a:t>• </a:t>
            </a:r>
            <a:r>
              <a:rPr lang="vi-VN" b="1" dirty="0">
                <a:latin typeface="+mj-lt"/>
              </a:rPr>
              <a:t>Frame(data) bị thất </a:t>
            </a:r>
            <a:r>
              <a:rPr lang="vi-VN" b="1" dirty="0" smtClean="0">
                <a:latin typeface="+mj-lt"/>
              </a:rPr>
              <a:t>lạc</a:t>
            </a:r>
            <a:r>
              <a:rPr lang="vi-VN" b="1" dirty="0">
                <a:latin typeface="+mj-lt"/>
              </a:rPr>
              <a:t/>
            </a:r>
            <a:br>
              <a:rPr lang="vi-VN" b="1" dirty="0">
                <a:latin typeface="+mj-lt"/>
              </a:rPr>
            </a:br>
            <a:r>
              <a:rPr lang="vi-VN" dirty="0">
                <a:latin typeface="+mj-lt"/>
              </a:rPr>
              <a:t>• </a:t>
            </a:r>
            <a:r>
              <a:rPr lang="vi-VN" b="1" dirty="0">
                <a:latin typeface="+mj-lt"/>
              </a:rPr>
              <a:t>Tín hiệu chấp nhận(ACK) bị thất </a:t>
            </a:r>
            <a:r>
              <a:rPr lang="vi-VN" b="1" dirty="0" smtClean="0">
                <a:latin typeface="+mj-lt"/>
              </a:rPr>
              <a:t>lạc</a:t>
            </a:r>
            <a:r>
              <a:rPr lang="vi-VN" dirty="0" smtClean="0">
                <a:latin typeface="+mj-lt"/>
              </a:rPr>
              <a:t> </a:t>
            </a:r>
            <a:r>
              <a:rPr lang="vi-VN" dirty="0"/>
              <a:t/>
            </a:r>
            <a:br>
              <a:rPr lang="vi-VN" dirty="0"/>
            </a:b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8.2.3 </a:t>
            </a:r>
            <a:r>
              <a:rPr lang="en-US" dirty="0" err="1"/>
              <a:t>Điều</a:t>
            </a:r>
            <a:r>
              <a:rPr lang="en-US" dirty="0"/>
              <a:t> </a:t>
            </a:r>
            <a:r>
              <a:rPr lang="en-US" dirty="0" err="1"/>
              <a:t>khiển</a:t>
            </a:r>
            <a:r>
              <a:rPr lang="en-US" dirty="0"/>
              <a:t> </a:t>
            </a:r>
            <a:r>
              <a:rPr lang="en-US" dirty="0" err="1"/>
              <a:t>lỗi</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v"/>
            </a:pPr>
            <a:r>
              <a:rPr lang="en-US" dirty="0" smtClean="0"/>
              <a:t> </a:t>
            </a:r>
            <a:r>
              <a:rPr lang="vi-VN" dirty="0" smtClean="0"/>
              <a:t>Có </a:t>
            </a:r>
            <a:r>
              <a:rPr lang="vi-VN" dirty="0"/>
              <a:t>2 phương pháp điều khiển </a:t>
            </a:r>
            <a:r>
              <a:rPr lang="vi-VN" dirty="0" smtClean="0"/>
              <a:t>lỗi</a:t>
            </a:r>
            <a:endParaRPr lang="en-US" dirty="0" smtClean="0"/>
          </a:p>
          <a:p>
            <a:r>
              <a:rPr lang="vi-VN" dirty="0" smtClean="0"/>
              <a:t>ARQ </a:t>
            </a:r>
            <a:r>
              <a:rPr lang="vi-VN" dirty="0"/>
              <a:t>dừng- </a:t>
            </a:r>
            <a:r>
              <a:rPr lang="vi-VN" dirty="0" smtClean="0"/>
              <a:t>đợi</a:t>
            </a:r>
            <a:endParaRPr lang="en-US" dirty="0"/>
          </a:p>
          <a:p>
            <a:r>
              <a:rPr lang="vi-VN" dirty="0" smtClean="0"/>
              <a:t>ARQ </a:t>
            </a:r>
            <a:r>
              <a:rPr lang="vi-VN" dirty="0"/>
              <a:t>dùng cửa sổ trượt </a:t>
            </a:r>
            <a:br>
              <a:rPr lang="vi-VN" dirty="0"/>
            </a:br>
            <a:endParaRPr lang="en-US" dirty="0"/>
          </a:p>
        </p:txBody>
      </p:sp>
      <p:pic>
        <p:nvPicPr>
          <p:cNvPr id="5" name="Picture 4"/>
          <p:cNvPicPr>
            <a:picLocks noChangeAspect="1"/>
          </p:cNvPicPr>
          <p:nvPr/>
        </p:nvPicPr>
        <p:blipFill>
          <a:blip r:embed="rId2"/>
          <a:stretch>
            <a:fillRect/>
          </a:stretch>
        </p:blipFill>
        <p:spPr>
          <a:xfrm>
            <a:off x="1083778" y="3052762"/>
            <a:ext cx="10077450" cy="2505075"/>
          </a:xfrm>
          <a:prstGeom prst="rect">
            <a:avLst/>
          </a:prstGeom>
        </p:spPr>
      </p:pic>
    </p:spTree>
    <p:extLst>
      <p:ext uri="{BB962C8B-B14F-4D97-AF65-F5344CB8AC3E}">
        <p14:creationId xmlns:p14="http://schemas.microsoft.com/office/powerpoint/2010/main" val="220576281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ARQ </a:t>
            </a:r>
            <a:r>
              <a:rPr lang="en-US" b="1" dirty="0" err="1" smtClean="0"/>
              <a:t>dừng</a:t>
            </a:r>
            <a:r>
              <a:rPr lang="en-US" b="1" dirty="0" smtClean="0"/>
              <a:t> - </a:t>
            </a:r>
            <a:r>
              <a:rPr lang="en-US" b="1" dirty="0" err="1" smtClean="0"/>
              <a:t>đợi</a:t>
            </a:r>
            <a:r>
              <a:rPr lang="en-US" b="1" dirty="0" smtClean="0"/>
              <a:t> (Stop </a:t>
            </a:r>
            <a:r>
              <a:rPr lang="en-US" b="1" dirty="0"/>
              <a:t>and Wait </a:t>
            </a:r>
            <a:r>
              <a:rPr lang="en-US" b="1" dirty="0" smtClean="0"/>
              <a:t>ARQ)</a:t>
            </a:r>
            <a:r>
              <a:rPr lang="en-US" dirty="0" smtClean="0"/>
              <a:t> </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v"/>
            </a:pPr>
            <a:r>
              <a:rPr lang="en-US" dirty="0" smtClean="0">
                <a:latin typeface="+mj-lt"/>
              </a:rPr>
              <a:t> </a:t>
            </a:r>
            <a:r>
              <a:rPr lang="vi-VN" dirty="0" smtClean="0">
                <a:latin typeface="+mj-lt"/>
              </a:rPr>
              <a:t>Là </a:t>
            </a:r>
            <a:r>
              <a:rPr lang="vi-VN" dirty="0">
                <a:latin typeface="+mj-lt"/>
              </a:rPr>
              <a:t>dạng điều khiển lưu lượng truyền dạng dừng và chờ được mở rộng để có thể </a:t>
            </a:r>
            <a:r>
              <a:rPr lang="vi-VN" dirty="0" smtClean="0">
                <a:latin typeface="+mj-lt"/>
              </a:rPr>
              <a:t>truyền</a:t>
            </a:r>
            <a:r>
              <a:rPr lang="en-US" dirty="0" smtClean="0">
                <a:latin typeface="+mj-lt"/>
              </a:rPr>
              <a:t> </a:t>
            </a:r>
            <a:r>
              <a:rPr lang="vi-VN" dirty="0" smtClean="0">
                <a:latin typeface="+mj-lt"/>
              </a:rPr>
              <a:t>dữ </a:t>
            </a:r>
            <a:r>
              <a:rPr lang="vi-VN" dirty="0">
                <a:latin typeface="+mj-lt"/>
              </a:rPr>
              <a:t>liệu trong trường hợp frame gởi đi bị thất lạc hay bị </a:t>
            </a:r>
            <a:r>
              <a:rPr lang="vi-VN" dirty="0" smtClean="0">
                <a:latin typeface="+mj-lt"/>
              </a:rPr>
              <a:t>hỏng</a:t>
            </a:r>
            <a:endParaRPr lang="en-US" dirty="0" smtClean="0">
              <a:latin typeface="+mj-lt"/>
            </a:endParaRPr>
          </a:p>
          <a:p>
            <a:r>
              <a:rPr lang="vi-VN" b="1" dirty="0" smtClean="0">
                <a:latin typeface="+mj-lt"/>
              </a:rPr>
              <a:t>Trường </a:t>
            </a:r>
            <a:r>
              <a:rPr lang="vi-VN" b="1" dirty="0">
                <a:latin typeface="+mj-lt"/>
              </a:rPr>
              <a:t>hợp hư Frame dữ </a:t>
            </a:r>
            <a:r>
              <a:rPr lang="vi-VN" b="1" dirty="0" smtClean="0">
                <a:latin typeface="+mj-lt"/>
              </a:rPr>
              <a:t>liệu:</a:t>
            </a:r>
            <a:r>
              <a:rPr lang="en-US" b="1" dirty="0" smtClean="0">
                <a:latin typeface="+mj-lt"/>
              </a:rPr>
              <a:t> </a:t>
            </a:r>
            <a:r>
              <a:rPr lang="vi-VN" dirty="0" smtClean="0">
                <a:latin typeface="+mj-lt"/>
              </a:rPr>
              <a:t>Nếu </a:t>
            </a:r>
            <a:r>
              <a:rPr lang="vi-VN" dirty="0">
                <a:latin typeface="+mj-lt"/>
              </a:rPr>
              <a:t>máy thu phát hiện một frame vừa nhận có lỗi thì sẽ chuyển về một frame NAK và </a:t>
            </a:r>
            <a:r>
              <a:rPr lang="vi-VN" dirty="0" smtClean="0">
                <a:latin typeface="+mj-lt"/>
              </a:rPr>
              <a:t>máy</a:t>
            </a:r>
            <a:r>
              <a:rPr lang="en-US" dirty="0" smtClean="0">
                <a:latin typeface="+mj-lt"/>
              </a:rPr>
              <a:t> </a:t>
            </a:r>
            <a:r>
              <a:rPr lang="vi-VN" dirty="0" smtClean="0">
                <a:latin typeface="+mj-lt"/>
              </a:rPr>
              <a:t>phát </a:t>
            </a:r>
            <a:r>
              <a:rPr lang="vi-VN" dirty="0">
                <a:latin typeface="+mj-lt"/>
              </a:rPr>
              <a:t>sẽ chuyển lại frame vừa chuyển. </a:t>
            </a:r>
            <a:r>
              <a:rPr lang="vi-VN" dirty="0"/>
              <a:t/>
            </a:r>
            <a:br>
              <a:rPr lang="vi-VN" dirty="0"/>
            </a:br>
            <a:endParaRPr lang="en-US" dirty="0"/>
          </a:p>
        </p:txBody>
      </p:sp>
      <p:pic>
        <p:nvPicPr>
          <p:cNvPr id="4" name="Picture 3"/>
          <p:cNvPicPr>
            <a:picLocks noChangeAspect="1"/>
          </p:cNvPicPr>
          <p:nvPr/>
        </p:nvPicPr>
        <p:blipFill>
          <a:blip r:embed="rId2"/>
          <a:stretch>
            <a:fillRect/>
          </a:stretch>
        </p:blipFill>
        <p:spPr>
          <a:xfrm>
            <a:off x="3887787" y="3251200"/>
            <a:ext cx="6010685" cy="3165502"/>
          </a:xfrm>
          <a:prstGeom prst="rect">
            <a:avLst/>
          </a:prstGeom>
        </p:spPr>
      </p:pic>
    </p:spTree>
    <p:extLst>
      <p:ext uri="{BB962C8B-B14F-4D97-AF65-F5344CB8AC3E}">
        <p14:creationId xmlns:p14="http://schemas.microsoft.com/office/powerpoint/2010/main" val="204286317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ARQ </a:t>
            </a:r>
            <a:r>
              <a:rPr lang="en-US" b="1" dirty="0" err="1"/>
              <a:t>dừng</a:t>
            </a:r>
            <a:r>
              <a:rPr lang="en-US" b="1" dirty="0"/>
              <a:t> - </a:t>
            </a:r>
            <a:r>
              <a:rPr lang="en-US" b="1" dirty="0" err="1"/>
              <a:t>đợi</a:t>
            </a:r>
            <a:r>
              <a:rPr lang="en-US" b="1" dirty="0"/>
              <a:t> (Stop and Wait ARQ)</a:t>
            </a:r>
            <a:r>
              <a:rPr lang="en-US" dirty="0"/>
              <a:t> </a:t>
            </a:r>
          </a:p>
        </p:txBody>
      </p:sp>
      <p:sp>
        <p:nvSpPr>
          <p:cNvPr id="3" name="Content Placeholder 2"/>
          <p:cNvSpPr>
            <a:spLocks noGrp="1"/>
          </p:cNvSpPr>
          <p:nvPr>
            <p:ph idx="1"/>
          </p:nvPr>
        </p:nvSpPr>
        <p:spPr/>
        <p:txBody>
          <a:bodyPr/>
          <a:lstStyle/>
          <a:p>
            <a:r>
              <a:rPr lang="vi-VN" b="1" dirty="0">
                <a:latin typeface="+mj-lt"/>
              </a:rPr>
              <a:t>Trường hợp mất </a:t>
            </a:r>
            <a:r>
              <a:rPr lang="vi-VN" b="1" dirty="0" smtClean="0">
                <a:latin typeface="+mj-lt"/>
              </a:rPr>
              <a:t>Frame:</a:t>
            </a:r>
            <a:endParaRPr lang="en-US" b="1" dirty="0">
              <a:latin typeface="+mj-lt"/>
            </a:endParaRPr>
          </a:p>
          <a:p>
            <a:pPr>
              <a:buFontTx/>
              <a:buChar char="-"/>
            </a:pPr>
            <a:r>
              <a:rPr lang="vi-VN" dirty="0" smtClean="0">
                <a:latin typeface="+mj-lt"/>
              </a:rPr>
              <a:t>Bị </a:t>
            </a:r>
            <a:r>
              <a:rPr lang="vi-VN" dirty="0">
                <a:latin typeface="+mj-lt"/>
              </a:rPr>
              <a:t>thất lạc Frame data trong quá trình </a:t>
            </a:r>
            <a:r>
              <a:rPr lang="vi-VN" dirty="0" smtClean="0">
                <a:latin typeface="+mj-lt"/>
              </a:rPr>
              <a:t>truyền</a:t>
            </a:r>
            <a:endParaRPr lang="en-US" dirty="0">
              <a:latin typeface="+mj-lt"/>
            </a:endParaRPr>
          </a:p>
          <a:p>
            <a:pPr>
              <a:buFontTx/>
              <a:buChar char="-"/>
            </a:pPr>
            <a:r>
              <a:rPr lang="vi-VN" dirty="0" smtClean="0">
                <a:latin typeface="+mj-lt"/>
              </a:rPr>
              <a:t>Bị </a:t>
            </a:r>
            <a:r>
              <a:rPr lang="vi-VN" dirty="0">
                <a:latin typeface="+mj-lt"/>
              </a:rPr>
              <a:t>thất lạc Frame ACK trong quá trình </a:t>
            </a:r>
            <a:r>
              <a:rPr lang="vi-VN" dirty="0" smtClean="0">
                <a:latin typeface="+mj-lt"/>
              </a:rPr>
              <a:t>truyền</a:t>
            </a:r>
            <a:endParaRPr lang="en-US" dirty="0">
              <a:latin typeface="+mj-lt"/>
            </a:endParaRPr>
          </a:p>
          <a:p>
            <a:pPr>
              <a:buFontTx/>
              <a:buChar char="-"/>
            </a:pPr>
            <a:r>
              <a:rPr lang="vi-VN" dirty="0" smtClean="0">
                <a:latin typeface="+mj-lt"/>
              </a:rPr>
              <a:t>Bị </a:t>
            </a:r>
            <a:r>
              <a:rPr lang="vi-VN" dirty="0">
                <a:latin typeface="+mj-lt"/>
              </a:rPr>
              <a:t>thất lạc Frame NAK trong quá trình truyền </a:t>
            </a:r>
            <a:r>
              <a:rPr lang="vi-VN" dirty="0"/>
              <a:t/>
            </a:r>
            <a:br>
              <a:rPr lang="vi-VN" dirty="0"/>
            </a:br>
            <a:endParaRPr lang="en-US" dirty="0"/>
          </a:p>
        </p:txBody>
      </p:sp>
      <p:pic>
        <p:nvPicPr>
          <p:cNvPr id="4" name="Picture 3"/>
          <p:cNvPicPr>
            <a:picLocks noChangeAspect="1"/>
          </p:cNvPicPr>
          <p:nvPr/>
        </p:nvPicPr>
        <p:blipFill>
          <a:blip r:embed="rId2"/>
          <a:stretch>
            <a:fillRect/>
          </a:stretch>
        </p:blipFill>
        <p:spPr>
          <a:xfrm>
            <a:off x="1902928" y="3477350"/>
            <a:ext cx="7279172" cy="2939352"/>
          </a:xfrm>
          <a:prstGeom prst="rect">
            <a:avLst/>
          </a:prstGeom>
        </p:spPr>
      </p:pic>
    </p:spTree>
    <p:extLst>
      <p:ext uri="{BB962C8B-B14F-4D97-AF65-F5344CB8AC3E}">
        <p14:creationId xmlns:p14="http://schemas.microsoft.com/office/powerpoint/2010/main" val="413516292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ARQ </a:t>
            </a:r>
            <a:r>
              <a:rPr lang="en-US" b="1" dirty="0" err="1"/>
              <a:t>dừng</a:t>
            </a:r>
            <a:r>
              <a:rPr lang="en-US" b="1" dirty="0"/>
              <a:t> - </a:t>
            </a:r>
            <a:r>
              <a:rPr lang="en-US" b="1" dirty="0" err="1"/>
              <a:t>đợi</a:t>
            </a:r>
            <a:r>
              <a:rPr lang="en-US" b="1" dirty="0"/>
              <a:t> (Stop and Wait ARQ)</a:t>
            </a:r>
            <a:r>
              <a:rPr lang="en-US" dirty="0"/>
              <a:t> </a:t>
            </a:r>
          </a:p>
        </p:txBody>
      </p:sp>
      <p:sp>
        <p:nvSpPr>
          <p:cNvPr id="3" name="Content Placeholder 2"/>
          <p:cNvSpPr>
            <a:spLocks noGrp="1"/>
          </p:cNvSpPr>
          <p:nvPr>
            <p:ph idx="1"/>
          </p:nvPr>
        </p:nvSpPr>
        <p:spPr/>
        <p:txBody>
          <a:bodyPr/>
          <a:lstStyle/>
          <a:p>
            <a:r>
              <a:rPr lang="vi-VN" b="1" i="1" dirty="0">
                <a:latin typeface="+mj-lt"/>
              </a:rPr>
              <a:t>Thất lạc Frame </a:t>
            </a:r>
            <a:r>
              <a:rPr lang="vi-VN" b="1" i="1" dirty="0" smtClean="0">
                <a:latin typeface="+mj-lt"/>
              </a:rPr>
              <a:t>ACK</a:t>
            </a:r>
            <a:endParaRPr lang="en-US" b="1" i="1" dirty="0" smtClean="0">
              <a:latin typeface="+mj-lt"/>
            </a:endParaRPr>
          </a:p>
          <a:p>
            <a:pPr>
              <a:spcBef>
                <a:spcPts val="600"/>
              </a:spcBef>
              <a:buFontTx/>
              <a:buChar char="-"/>
            </a:pPr>
            <a:r>
              <a:rPr lang="en-US" sz="2400" dirty="0">
                <a:latin typeface="Times New Roman" panose="02020603050405020304" pitchFamily="18" charset="0"/>
                <a:cs typeface="Times New Roman" panose="02020603050405020304" pitchFamily="18" charset="0"/>
              </a:rPr>
              <a:t>F</a:t>
            </a:r>
            <a:r>
              <a:rPr lang="vi-VN" sz="2400" dirty="0" smtClean="0">
                <a:latin typeface="+mj-lt"/>
              </a:rPr>
              <a:t>rame </a:t>
            </a:r>
            <a:r>
              <a:rPr lang="vi-VN" sz="2400" dirty="0">
                <a:latin typeface="+mj-lt"/>
              </a:rPr>
              <a:t>dữ liệu đã tới được máy </a:t>
            </a:r>
            <a:r>
              <a:rPr lang="vi-VN" sz="2400" dirty="0" smtClean="0">
                <a:latin typeface="+mj-lt"/>
              </a:rPr>
              <a:t>thu</a:t>
            </a:r>
            <a:endParaRPr lang="en-US" sz="2400" dirty="0">
              <a:latin typeface="+mj-lt"/>
            </a:endParaRPr>
          </a:p>
          <a:p>
            <a:pPr>
              <a:spcBef>
                <a:spcPts val="600"/>
              </a:spcBef>
              <a:buFontTx/>
              <a:buChar char="-"/>
            </a:pPr>
            <a:r>
              <a:rPr lang="en-US" sz="2400" dirty="0">
                <a:latin typeface="Times New Roman" panose="02020603050405020304" pitchFamily="18" charset="0"/>
                <a:cs typeface="Times New Roman" panose="02020603050405020304" pitchFamily="18" charset="0"/>
              </a:rPr>
              <a:t>T</a:t>
            </a:r>
            <a:r>
              <a:rPr lang="vi-VN" sz="2400" dirty="0" smtClean="0">
                <a:latin typeface="+mj-lt"/>
              </a:rPr>
              <a:t>ín </a:t>
            </a:r>
            <a:r>
              <a:rPr lang="vi-VN" sz="2400" dirty="0">
                <a:latin typeface="+mj-lt"/>
              </a:rPr>
              <a:t>hiệu ACK hoặc NAK lại bị thất lạc trong khi gởi </a:t>
            </a:r>
            <a:r>
              <a:rPr lang="vi-VN" sz="2400" dirty="0" smtClean="0">
                <a:latin typeface="+mj-lt"/>
              </a:rPr>
              <a:t>về</a:t>
            </a:r>
            <a:endParaRPr lang="en-US" sz="2400" dirty="0" smtClean="0">
              <a:latin typeface="+mj-lt"/>
            </a:endParaRPr>
          </a:p>
          <a:p>
            <a:pPr>
              <a:spcBef>
                <a:spcPts val="600"/>
              </a:spcBef>
              <a:buFontTx/>
              <a:buChar char="-"/>
            </a:pPr>
            <a:r>
              <a:rPr lang="vi-VN" sz="2400" dirty="0" smtClean="0">
                <a:latin typeface="+mj-lt"/>
              </a:rPr>
              <a:t>Máy </a:t>
            </a:r>
            <a:r>
              <a:rPr lang="vi-VN" sz="2400" dirty="0">
                <a:latin typeface="+mj-lt"/>
              </a:rPr>
              <a:t>phát chờ cho đến khi hết thời gian do timer qui </a:t>
            </a:r>
            <a:r>
              <a:rPr lang="vi-VN" sz="2400" dirty="0" smtClean="0">
                <a:latin typeface="+mj-lt"/>
              </a:rPr>
              <a:t>định</a:t>
            </a:r>
            <a:endParaRPr lang="en-US" sz="2400" dirty="0">
              <a:latin typeface="+mj-lt"/>
            </a:endParaRPr>
          </a:p>
          <a:p>
            <a:pPr>
              <a:spcBef>
                <a:spcPts val="600"/>
              </a:spcBef>
              <a:buFontTx/>
              <a:buChar char="-"/>
            </a:pPr>
            <a:r>
              <a:rPr lang="vi-VN" sz="2400" dirty="0" smtClean="0">
                <a:latin typeface="+mj-lt"/>
              </a:rPr>
              <a:t>Tiếp </a:t>
            </a:r>
            <a:r>
              <a:rPr lang="vi-VN" sz="2400" dirty="0">
                <a:latin typeface="+mj-lt"/>
              </a:rPr>
              <a:t>tục gởi frame vừa </a:t>
            </a:r>
            <a:r>
              <a:rPr lang="vi-VN" sz="2400" dirty="0" smtClean="0">
                <a:latin typeface="+mj-lt"/>
              </a:rPr>
              <a:t>gởi</a:t>
            </a:r>
            <a:endParaRPr lang="en-US" sz="2400" dirty="0" smtClean="0">
              <a:latin typeface="+mj-lt"/>
            </a:endParaRPr>
          </a:p>
          <a:p>
            <a:pPr>
              <a:spcBef>
                <a:spcPts val="600"/>
              </a:spcBef>
              <a:buFontTx/>
              <a:buChar char="-"/>
            </a:pPr>
            <a:r>
              <a:rPr lang="vi-VN" sz="2400" dirty="0" smtClean="0">
                <a:latin typeface="+mj-lt"/>
              </a:rPr>
              <a:t>Máy </a:t>
            </a:r>
            <a:r>
              <a:rPr lang="vi-VN" sz="2400" dirty="0">
                <a:latin typeface="+mj-lt"/>
              </a:rPr>
              <a:t>thu nhận và kiểm </a:t>
            </a:r>
            <a:r>
              <a:rPr lang="vi-VN" sz="2400" dirty="0" smtClean="0">
                <a:latin typeface="+mj-lt"/>
              </a:rPr>
              <a:t>tra</a:t>
            </a:r>
            <a:r>
              <a:rPr lang="en-US" sz="2400" dirty="0">
                <a:latin typeface="+mj-lt"/>
              </a:rPr>
              <a:t> </a:t>
            </a:r>
            <a:r>
              <a:rPr lang="vi-VN" sz="2400" dirty="0" smtClean="0">
                <a:latin typeface="+mj-lt"/>
              </a:rPr>
              <a:t>nhận </a:t>
            </a:r>
            <a:r>
              <a:rPr lang="vi-VN" sz="2400" dirty="0">
                <a:latin typeface="+mj-lt"/>
              </a:rPr>
              <a:t>frame copy này như là bản sao, chấp nhận rồi hủy đi để chờ bản tin kế </a:t>
            </a:r>
            <a:r>
              <a:rPr lang="vi-VN" sz="2400" dirty="0" smtClean="0">
                <a:latin typeface="+mj-lt"/>
              </a:rPr>
              <a:t>tiếp</a:t>
            </a:r>
            <a:r>
              <a:rPr lang="en-US" sz="2400" dirty="0" smtClean="0">
                <a:latin typeface="+mj-lt"/>
              </a:rPr>
              <a:t> </a:t>
            </a:r>
            <a:r>
              <a:rPr lang="vi-VN" sz="2400" dirty="0" smtClean="0">
                <a:latin typeface="+mj-lt"/>
              </a:rPr>
              <a:t>đến </a:t>
            </a:r>
            <a:r>
              <a:rPr lang="vi-VN" sz="2400" dirty="0"/>
              <a:t/>
            </a:r>
            <a:br>
              <a:rPr lang="vi-VN" sz="2400" dirty="0"/>
            </a:br>
            <a:endParaRPr lang="en-US" sz="2400" dirty="0"/>
          </a:p>
        </p:txBody>
      </p:sp>
      <p:pic>
        <p:nvPicPr>
          <p:cNvPr id="4" name="Picture 3"/>
          <p:cNvPicPr>
            <a:picLocks noChangeAspect="1"/>
          </p:cNvPicPr>
          <p:nvPr/>
        </p:nvPicPr>
        <p:blipFill>
          <a:blip r:embed="rId2"/>
          <a:stretch>
            <a:fillRect/>
          </a:stretch>
        </p:blipFill>
        <p:spPr>
          <a:xfrm>
            <a:off x="3274528" y="4291351"/>
            <a:ext cx="6047272" cy="2234861"/>
          </a:xfrm>
          <a:prstGeom prst="rect">
            <a:avLst/>
          </a:prstGeom>
        </p:spPr>
      </p:pic>
    </p:spTree>
    <p:extLst>
      <p:ext uri="{BB962C8B-B14F-4D97-AF65-F5344CB8AC3E}">
        <p14:creationId xmlns:p14="http://schemas.microsoft.com/office/powerpoint/2010/main" val="135224359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800" dirty="0" smtClean="0"/>
              <a:t>ARQ dung </a:t>
            </a:r>
            <a:r>
              <a:rPr lang="en-US" sz="3800" dirty="0" err="1" smtClean="0"/>
              <a:t>cửa</a:t>
            </a:r>
            <a:r>
              <a:rPr lang="en-US" sz="3800" dirty="0" smtClean="0"/>
              <a:t> </a:t>
            </a:r>
            <a:r>
              <a:rPr lang="en-US" sz="3800" dirty="0" err="1" smtClean="0"/>
              <a:t>sổ</a:t>
            </a:r>
            <a:r>
              <a:rPr lang="en-US" sz="3800" dirty="0" smtClean="0"/>
              <a:t> </a:t>
            </a:r>
            <a:r>
              <a:rPr lang="en-US" sz="3800" dirty="0" err="1" smtClean="0"/>
              <a:t>trượt</a:t>
            </a:r>
            <a:r>
              <a:rPr lang="en-US" sz="3800" dirty="0" smtClean="0"/>
              <a:t> (</a:t>
            </a:r>
            <a:r>
              <a:rPr lang="en-US" sz="3800" b="1" dirty="0"/>
              <a:t>Sliding Window ARQ</a:t>
            </a:r>
            <a:r>
              <a:rPr lang="en-US" sz="3800" dirty="0"/>
              <a:t> </a:t>
            </a:r>
            <a:r>
              <a:rPr lang="en-US" sz="3800" dirty="0" smtClean="0"/>
              <a:t>)</a:t>
            </a:r>
            <a:endParaRPr lang="en-US" sz="3800" dirty="0"/>
          </a:p>
        </p:txBody>
      </p:sp>
      <p:sp>
        <p:nvSpPr>
          <p:cNvPr id="3" name="Content Placeholder 2"/>
          <p:cNvSpPr>
            <a:spLocks noGrp="1"/>
          </p:cNvSpPr>
          <p:nvPr>
            <p:ph idx="1"/>
          </p:nvPr>
        </p:nvSpPr>
        <p:spPr/>
        <p:txBody>
          <a:bodyPr>
            <a:normAutofit/>
          </a:bodyPr>
          <a:lstStyle/>
          <a:p>
            <a:r>
              <a:rPr lang="vi-VN" dirty="0">
                <a:latin typeface="+mj-lt"/>
              </a:rPr>
              <a:t>Có nhiều cơ chế dùng để kiểm tra lỗi khi truyền dữ liệu liên </a:t>
            </a:r>
            <a:r>
              <a:rPr lang="vi-VN" dirty="0" smtClean="0">
                <a:latin typeface="+mj-lt"/>
              </a:rPr>
              <a:t>tục</a:t>
            </a:r>
            <a:endParaRPr lang="en-US" dirty="0" smtClean="0">
              <a:latin typeface="+mj-lt"/>
            </a:endParaRPr>
          </a:p>
          <a:p>
            <a:r>
              <a:rPr lang="vi-VN" dirty="0" smtClean="0">
                <a:latin typeface="+mj-lt"/>
              </a:rPr>
              <a:t>Có </a:t>
            </a:r>
            <a:r>
              <a:rPr lang="vi-VN" dirty="0">
                <a:latin typeface="+mj-lt"/>
              </a:rPr>
              <a:t>hai giao thức thông dụng là: go-back-n ARQ và </a:t>
            </a:r>
            <a:r>
              <a:rPr lang="vi-VN" dirty="0" smtClean="0">
                <a:latin typeface="+mj-lt"/>
              </a:rPr>
              <a:t>selective-re</a:t>
            </a:r>
            <a:r>
              <a:rPr lang="en-US" smtClean="0">
                <a:latin typeface="+mj-lt"/>
              </a:rPr>
              <a:t>peat</a:t>
            </a:r>
            <a:r>
              <a:rPr lang="vi-VN" smtClean="0">
                <a:latin typeface="+mj-lt"/>
              </a:rPr>
              <a:t> </a:t>
            </a:r>
            <a:r>
              <a:rPr lang="vi-VN" dirty="0" smtClean="0">
                <a:latin typeface="+mj-lt"/>
              </a:rPr>
              <a:t>ARQ</a:t>
            </a:r>
            <a:endParaRPr lang="en-US" dirty="0" smtClean="0">
              <a:latin typeface="+mj-lt"/>
            </a:endParaRPr>
          </a:p>
          <a:p>
            <a:pPr>
              <a:buFont typeface="Wingdings" panose="05000000000000000000" pitchFamily="2" charset="2"/>
              <a:buChar char="v"/>
            </a:pPr>
            <a:r>
              <a:rPr lang="en-US" b="1" dirty="0" smtClean="0">
                <a:latin typeface="Times New Roman" panose="02020603050405020304" pitchFamily="18" charset="0"/>
                <a:cs typeface="Times New Roman" panose="02020603050405020304" pitchFamily="18" charset="0"/>
              </a:rPr>
              <a:t> Go-Back-n ARQ</a:t>
            </a:r>
          </a:p>
          <a:p>
            <a:r>
              <a:rPr lang="vi-VN" dirty="0">
                <a:latin typeface="+mj-lt"/>
              </a:rPr>
              <a:t>Trong phương pháp cửa sổ trượt go-back-n ARQ, nếu một frame bị thất lạc hay </a:t>
            </a:r>
            <a:r>
              <a:rPr lang="vi-VN" dirty="0" smtClean="0">
                <a:latin typeface="+mj-lt"/>
              </a:rPr>
              <a:t>hỏng,</a:t>
            </a:r>
            <a:r>
              <a:rPr lang="en-US" dirty="0" smtClean="0">
                <a:latin typeface="+mj-lt"/>
              </a:rPr>
              <a:t> </a:t>
            </a:r>
            <a:r>
              <a:rPr lang="vi-VN" dirty="0" smtClean="0">
                <a:latin typeface="+mj-lt"/>
              </a:rPr>
              <a:t>tất </a:t>
            </a:r>
            <a:r>
              <a:rPr lang="vi-VN" dirty="0">
                <a:latin typeface="+mj-lt"/>
              </a:rPr>
              <a:t>cả các frame được phát khi tín hiệu xác nhận cuối cùng được gởi </a:t>
            </a:r>
            <a:r>
              <a:rPr lang="vi-VN" dirty="0" smtClean="0">
                <a:latin typeface="+mj-lt"/>
              </a:rPr>
              <a:t>đi</a:t>
            </a:r>
            <a:endParaRPr lang="en-US" dirty="0" smtClean="0">
              <a:latin typeface="+mj-lt"/>
            </a:endParaRPr>
          </a:p>
          <a:p>
            <a:r>
              <a:rPr lang="vi-VN" b="1" dirty="0" smtClean="0">
                <a:latin typeface="+mj-lt"/>
              </a:rPr>
              <a:t>Có </a:t>
            </a:r>
            <a:r>
              <a:rPr lang="vi-VN" b="1" dirty="0">
                <a:latin typeface="+mj-lt"/>
              </a:rPr>
              <a:t>3 dạng phát </a:t>
            </a:r>
            <a:r>
              <a:rPr lang="vi-VN" b="1" dirty="0" smtClean="0">
                <a:latin typeface="+mj-lt"/>
              </a:rPr>
              <a:t>lại</a:t>
            </a:r>
            <a:endParaRPr lang="en-US" b="1" dirty="0" smtClean="0">
              <a:latin typeface="+mj-lt"/>
            </a:endParaRPr>
          </a:p>
          <a:p>
            <a:pPr>
              <a:buFontTx/>
              <a:buChar char="-"/>
            </a:pPr>
            <a:r>
              <a:rPr lang="vi-VN" dirty="0" smtClean="0">
                <a:latin typeface="+mj-lt"/>
              </a:rPr>
              <a:t>Hư </a:t>
            </a:r>
            <a:r>
              <a:rPr lang="vi-VN" dirty="0">
                <a:latin typeface="+mj-lt"/>
              </a:rPr>
              <a:t>Frame </a:t>
            </a:r>
            <a:r>
              <a:rPr lang="vi-VN" dirty="0" smtClean="0">
                <a:latin typeface="+mj-lt"/>
              </a:rPr>
              <a:t>data</a:t>
            </a:r>
            <a:endParaRPr lang="en-US" dirty="0" smtClean="0">
              <a:latin typeface="+mj-lt"/>
            </a:endParaRPr>
          </a:p>
          <a:p>
            <a:pPr>
              <a:buFontTx/>
              <a:buChar char="-"/>
            </a:pPr>
            <a:r>
              <a:rPr lang="en-US" dirty="0">
                <a:latin typeface="Times New Roman" panose="02020603050405020304" pitchFamily="18" charset="0"/>
                <a:cs typeface="Times New Roman" panose="02020603050405020304" pitchFamily="18" charset="0"/>
              </a:rPr>
              <a:t>M</a:t>
            </a:r>
            <a:r>
              <a:rPr lang="vi-VN" dirty="0" smtClean="0">
                <a:latin typeface="+mj-lt"/>
              </a:rPr>
              <a:t>ất </a:t>
            </a:r>
            <a:r>
              <a:rPr lang="vi-VN" dirty="0">
                <a:latin typeface="+mj-lt"/>
              </a:rPr>
              <a:t>Frame </a:t>
            </a:r>
            <a:r>
              <a:rPr lang="vi-VN" dirty="0" smtClean="0">
                <a:latin typeface="+mj-lt"/>
              </a:rPr>
              <a:t>data</a:t>
            </a:r>
            <a:endParaRPr lang="en-US" dirty="0" smtClean="0">
              <a:latin typeface="+mj-lt"/>
            </a:endParaRPr>
          </a:p>
          <a:p>
            <a:pPr>
              <a:buFontTx/>
              <a:buChar char="-"/>
            </a:pPr>
            <a:r>
              <a:rPr lang="en-US" dirty="0">
                <a:latin typeface="Times New Roman" panose="02020603050405020304" pitchFamily="18" charset="0"/>
                <a:cs typeface="Times New Roman" panose="02020603050405020304" pitchFamily="18" charset="0"/>
              </a:rPr>
              <a:t>M</a:t>
            </a:r>
            <a:r>
              <a:rPr lang="vi-VN" dirty="0" smtClean="0">
                <a:latin typeface="+mj-lt"/>
              </a:rPr>
              <a:t>ất </a:t>
            </a:r>
            <a:r>
              <a:rPr lang="vi-VN" dirty="0">
                <a:latin typeface="+mj-lt"/>
              </a:rPr>
              <a:t>Frame ACK </a:t>
            </a:r>
            <a:endParaRPr lang="en-US" dirty="0"/>
          </a:p>
        </p:txBody>
      </p:sp>
    </p:spTree>
    <p:extLst>
      <p:ext uri="{BB962C8B-B14F-4D97-AF65-F5344CB8AC3E}">
        <p14:creationId xmlns:p14="http://schemas.microsoft.com/office/powerpoint/2010/main" val="217922848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800" dirty="0"/>
              <a:t>ARQ dung </a:t>
            </a:r>
            <a:r>
              <a:rPr lang="en-US" sz="3800" dirty="0" err="1"/>
              <a:t>cửa</a:t>
            </a:r>
            <a:r>
              <a:rPr lang="en-US" sz="3800" dirty="0"/>
              <a:t> </a:t>
            </a:r>
            <a:r>
              <a:rPr lang="en-US" sz="3800" dirty="0" err="1"/>
              <a:t>sổ</a:t>
            </a:r>
            <a:r>
              <a:rPr lang="en-US" sz="3800" dirty="0"/>
              <a:t> </a:t>
            </a:r>
            <a:r>
              <a:rPr lang="en-US" sz="3800" dirty="0" err="1"/>
              <a:t>trượt</a:t>
            </a:r>
            <a:r>
              <a:rPr lang="en-US" sz="3800" dirty="0"/>
              <a:t> (</a:t>
            </a:r>
            <a:r>
              <a:rPr lang="en-US" sz="3800" b="1" dirty="0"/>
              <a:t>Sliding Window ARQ</a:t>
            </a:r>
            <a:r>
              <a:rPr lang="en-US" sz="3800" dirty="0"/>
              <a:t> )</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b="1" dirty="0" smtClean="0">
                <a:latin typeface="Times New Roman" panose="02020603050405020304" pitchFamily="18" charset="0"/>
                <a:cs typeface="Times New Roman" panose="02020603050405020304" pitchFamily="18" charset="0"/>
              </a:rPr>
              <a:t> Selective </a:t>
            </a:r>
            <a:r>
              <a:rPr lang="en-US" b="1" dirty="0">
                <a:latin typeface="Times New Roman" panose="02020603050405020304" pitchFamily="18" charset="0"/>
                <a:cs typeface="Times New Roman" panose="02020603050405020304" pitchFamily="18" charset="0"/>
              </a:rPr>
              <a:t>- Reject </a:t>
            </a:r>
            <a:r>
              <a:rPr lang="en-US" b="1" dirty="0" smtClean="0">
                <a:latin typeface="Times New Roman" panose="02020603050405020304" pitchFamily="18" charset="0"/>
                <a:cs typeface="Times New Roman" panose="02020603050405020304" pitchFamily="18" charset="0"/>
              </a:rPr>
              <a:t>ARQ</a:t>
            </a:r>
            <a:endParaRPr lang="en-US" dirty="0" smtClean="0">
              <a:latin typeface="Times New Roman" panose="02020603050405020304" pitchFamily="18" charset="0"/>
              <a:cs typeface="Times New Roman" panose="02020603050405020304" pitchFamily="18" charset="0"/>
            </a:endParaRPr>
          </a:p>
          <a:p>
            <a:r>
              <a:rPr lang="vi-VN" dirty="0" smtClean="0">
                <a:latin typeface="Times New Roman" panose="02020603050405020304" pitchFamily="18" charset="0"/>
                <a:cs typeface="Times New Roman" panose="02020603050405020304" pitchFamily="18" charset="0"/>
              </a:rPr>
              <a:t>Trong </a:t>
            </a:r>
            <a:r>
              <a:rPr lang="vi-VN" dirty="0">
                <a:latin typeface="Times New Roman" panose="02020603050405020304" pitchFamily="18" charset="0"/>
                <a:cs typeface="Times New Roman" panose="02020603050405020304" pitchFamily="18" charset="0"/>
              </a:rPr>
              <a:t>giao thức này, chỉ có đúng các frame bi hỏng hay thất lạc là được truyền lại. </a:t>
            </a:r>
            <a:r>
              <a:rPr lang="vi-VN" dirty="0" smtClean="0">
                <a:latin typeface="Times New Roman" panose="02020603050405020304" pitchFamily="18" charset="0"/>
                <a:cs typeface="Times New Roman" panose="02020603050405020304" pitchFamily="18" charset="0"/>
              </a:rPr>
              <a:t>Nếu</a:t>
            </a:r>
            <a:r>
              <a:rPr lang="en-US" dirty="0" smtClean="0">
                <a:latin typeface="Times New Roman" panose="02020603050405020304" pitchFamily="18" charset="0"/>
                <a:cs typeface="Times New Roman" panose="02020603050405020304" pitchFamily="18" charset="0"/>
              </a:rPr>
              <a:t> </a:t>
            </a:r>
            <a:r>
              <a:rPr lang="vi-VN" dirty="0" smtClean="0">
                <a:latin typeface="Times New Roman" panose="02020603050405020304" pitchFamily="18" charset="0"/>
                <a:cs typeface="Times New Roman" panose="02020603050405020304" pitchFamily="18" charset="0"/>
              </a:rPr>
              <a:t>một </a:t>
            </a:r>
            <a:r>
              <a:rPr lang="vi-VN" dirty="0">
                <a:latin typeface="Times New Roman" panose="02020603050405020304" pitchFamily="18" charset="0"/>
                <a:cs typeface="Times New Roman" panose="02020603050405020304" pitchFamily="18" charset="0"/>
              </a:rPr>
              <a:t>frame bị hỏng trong khi truyền thì tín hiệu NAK được gởi về và fram này được gởi </a:t>
            </a:r>
            <a:r>
              <a:rPr lang="vi-VN" dirty="0" smtClean="0">
                <a:latin typeface="Times New Roman" panose="02020603050405020304" pitchFamily="18" charset="0"/>
                <a:cs typeface="Times New Roman" panose="02020603050405020304" pitchFamily="18" charset="0"/>
              </a:rPr>
              <a:t>riêng.</a:t>
            </a:r>
            <a:r>
              <a:rPr lang="en-US" dirty="0" smtClean="0">
                <a:latin typeface="Times New Roman" panose="02020603050405020304" pitchFamily="18" charset="0"/>
                <a:cs typeface="Times New Roman" panose="02020603050405020304" pitchFamily="18" charset="0"/>
              </a:rPr>
              <a:t> </a:t>
            </a:r>
            <a:r>
              <a:rPr lang="vi-VN" b="1" dirty="0" smtClean="0">
                <a:latin typeface="Times New Roman" panose="02020603050405020304" pitchFamily="18" charset="0"/>
                <a:cs typeface="Times New Roman" panose="02020603050405020304" pitchFamily="18" charset="0"/>
              </a:rPr>
              <a:t>Bộ </a:t>
            </a:r>
            <a:r>
              <a:rPr lang="vi-VN" b="1" dirty="0">
                <a:latin typeface="Times New Roman" panose="02020603050405020304" pitchFamily="18" charset="0"/>
                <a:cs typeface="Times New Roman" panose="02020603050405020304" pitchFamily="18" charset="0"/>
              </a:rPr>
              <a:t>thu phải có khả năng chọn lọc các frame và chèn vào đúng chỗ trong chuỗi frame</a:t>
            </a:r>
            <a:r>
              <a:rPr lang="vi-VN" b="1" dirty="0" smtClean="0">
                <a:latin typeface="Times New Roman" panose="02020603050405020304" pitchFamily="18" charset="0"/>
                <a:cs typeface="Times New Roman" panose="02020603050405020304" pitchFamily="18" charset="0"/>
              </a:rPr>
              <a:t>.</a:t>
            </a:r>
            <a:endParaRPr lang="en-US" b="1" dirty="0" smtClean="0">
              <a:latin typeface="Times New Roman" panose="02020603050405020304" pitchFamily="18" charset="0"/>
              <a:cs typeface="Times New Roman" panose="02020603050405020304" pitchFamily="18" charset="0"/>
            </a:endParaRPr>
          </a:p>
          <a:p>
            <a:r>
              <a:rPr lang="vi-VN" dirty="0">
                <a:latin typeface="Times New Roman" panose="02020603050405020304" pitchFamily="18" charset="0"/>
                <a:cs typeface="Times New Roman" panose="02020603050405020304" pitchFamily="18" charset="0"/>
              </a:rPr>
              <a:t>Các trường hợp </a:t>
            </a:r>
            <a:r>
              <a:rPr lang="vi-VN" dirty="0" smtClean="0">
                <a:latin typeface="Times New Roman" panose="02020603050405020304" pitchFamily="18" charset="0"/>
                <a:cs typeface="Times New Roman" panose="02020603050405020304" pitchFamily="18" charset="0"/>
              </a:rPr>
              <a:t>hỏng</a:t>
            </a:r>
            <a:endParaRPr lang="en-US" dirty="0" smtClean="0">
              <a:latin typeface="Times New Roman" panose="02020603050405020304" pitchFamily="18" charset="0"/>
              <a:cs typeface="Times New Roman" panose="02020603050405020304" pitchFamily="18" charset="0"/>
            </a:endParaRPr>
          </a:p>
          <a:p>
            <a:pPr>
              <a:buFontTx/>
              <a:buChar char="-"/>
            </a:pPr>
            <a:r>
              <a:rPr lang="vi-VN" dirty="0" smtClean="0">
                <a:latin typeface="Times New Roman" panose="02020603050405020304" pitchFamily="18" charset="0"/>
                <a:cs typeface="Times New Roman" panose="02020603050405020304" pitchFamily="18" charset="0"/>
              </a:rPr>
              <a:t>Hư </a:t>
            </a:r>
            <a:r>
              <a:rPr lang="vi-VN" dirty="0">
                <a:latin typeface="Times New Roman" panose="02020603050405020304" pitchFamily="18" charset="0"/>
                <a:cs typeface="Times New Roman" panose="02020603050405020304" pitchFamily="18" charset="0"/>
              </a:rPr>
              <a:t>Frame </a:t>
            </a:r>
            <a:r>
              <a:rPr lang="vi-VN" dirty="0" smtClean="0">
                <a:latin typeface="Times New Roman" panose="02020603050405020304" pitchFamily="18" charset="0"/>
                <a:cs typeface="Times New Roman" panose="02020603050405020304" pitchFamily="18" charset="0"/>
              </a:rPr>
              <a:t>data</a:t>
            </a:r>
            <a:endParaRPr lang="en-US" dirty="0" smtClean="0">
              <a:latin typeface="Times New Roman" panose="02020603050405020304" pitchFamily="18" charset="0"/>
              <a:cs typeface="Times New Roman" panose="02020603050405020304" pitchFamily="18" charset="0"/>
            </a:endParaRPr>
          </a:p>
          <a:p>
            <a:pPr>
              <a:buFontTx/>
              <a:buChar char="-"/>
            </a:pPr>
            <a:r>
              <a:rPr lang="en-US" dirty="0">
                <a:latin typeface="Times New Roman" panose="02020603050405020304" pitchFamily="18" charset="0"/>
                <a:cs typeface="Times New Roman" panose="02020603050405020304" pitchFamily="18" charset="0"/>
              </a:rPr>
              <a:t>M</a:t>
            </a:r>
            <a:r>
              <a:rPr lang="vi-VN" dirty="0" smtClean="0">
                <a:latin typeface="Times New Roman" panose="02020603050405020304" pitchFamily="18" charset="0"/>
                <a:cs typeface="Times New Roman" panose="02020603050405020304" pitchFamily="18" charset="0"/>
              </a:rPr>
              <a:t>ất </a:t>
            </a:r>
            <a:r>
              <a:rPr lang="vi-VN" dirty="0">
                <a:latin typeface="Times New Roman" panose="02020603050405020304" pitchFamily="18" charset="0"/>
                <a:cs typeface="Times New Roman" panose="02020603050405020304" pitchFamily="18" charset="0"/>
              </a:rPr>
              <a:t>Frame </a:t>
            </a:r>
            <a:r>
              <a:rPr lang="vi-VN" dirty="0" smtClean="0">
                <a:latin typeface="Times New Roman" panose="02020603050405020304" pitchFamily="18" charset="0"/>
                <a:cs typeface="Times New Roman" panose="02020603050405020304" pitchFamily="18" charset="0"/>
              </a:rPr>
              <a:t>data</a:t>
            </a:r>
            <a:endParaRPr lang="en-US" dirty="0" smtClean="0">
              <a:latin typeface="Times New Roman" panose="02020603050405020304" pitchFamily="18" charset="0"/>
              <a:cs typeface="Times New Roman" panose="02020603050405020304" pitchFamily="18" charset="0"/>
            </a:endParaRPr>
          </a:p>
          <a:p>
            <a:pPr>
              <a:buFontTx/>
              <a:buChar char="-"/>
            </a:pPr>
            <a:r>
              <a:rPr lang="en-US" dirty="0">
                <a:latin typeface="Times New Roman" panose="02020603050405020304" pitchFamily="18" charset="0"/>
                <a:cs typeface="Times New Roman" panose="02020603050405020304" pitchFamily="18" charset="0"/>
              </a:rPr>
              <a:t>M</a:t>
            </a:r>
            <a:r>
              <a:rPr lang="vi-VN" dirty="0" smtClean="0">
                <a:latin typeface="Times New Roman" panose="02020603050405020304" pitchFamily="18" charset="0"/>
                <a:cs typeface="Times New Roman" panose="02020603050405020304" pitchFamily="18" charset="0"/>
              </a:rPr>
              <a:t>ất </a:t>
            </a:r>
            <a:r>
              <a:rPr lang="vi-VN" dirty="0">
                <a:latin typeface="Times New Roman" panose="02020603050405020304" pitchFamily="18" charset="0"/>
                <a:cs typeface="Times New Roman" panose="02020603050405020304" pitchFamily="18" charset="0"/>
              </a:rPr>
              <a:t>ACK </a:t>
            </a:r>
            <a:endParaRPr lang="en-US" dirty="0"/>
          </a:p>
        </p:txBody>
      </p:sp>
    </p:spTree>
    <p:extLst>
      <p:ext uri="{BB962C8B-B14F-4D97-AF65-F5344CB8AC3E}">
        <p14:creationId xmlns:p14="http://schemas.microsoft.com/office/powerpoint/2010/main" val="215495051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795</TotalTime>
  <Words>1930</Words>
  <Application>Microsoft Office PowerPoint</Application>
  <PresentationFormat>Custom</PresentationFormat>
  <Paragraphs>167</Paragraphs>
  <Slides>32</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32</vt:i4>
      </vt:variant>
    </vt:vector>
  </HeadingPairs>
  <TitlesOfParts>
    <vt:vector size="34" baseType="lpstr">
      <vt:lpstr>Office Theme</vt:lpstr>
      <vt:lpstr>Equation</vt:lpstr>
      <vt:lpstr>KỸ THUẬT TRUYỀN SỐ LIỆU</vt:lpstr>
      <vt:lpstr>Nội dung môn học</vt:lpstr>
      <vt:lpstr>                 Chương 8</vt:lpstr>
      <vt:lpstr>Nội dung chương 8</vt:lpstr>
      <vt:lpstr>8.1 Phát hiện và sửa lỗi</vt:lpstr>
      <vt:lpstr>8.1.1 Các dạng lỗi</vt:lpstr>
      <vt:lpstr>8.1.2 Phát hiện lỗi</vt:lpstr>
      <vt:lpstr>8.1.2 Phát hiện lỗi</vt:lpstr>
      <vt:lpstr>8.1.3 Sửa lỗi</vt:lpstr>
      <vt:lpstr>Các bit dư</vt:lpstr>
      <vt:lpstr>Phát hiện và sửa lỗi</vt:lpstr>
      <vt:lpstr>8.2 Điều khiển kết nối dữ liệu</vt:lpstr>
      <vt:lpstr>8.2.1 Hạng mục đường dây</vt:lpstr>
      <vt:lpstr>8.2.1 Hạng mục đường dây</vt:lpstr>
      <vt:lpstr>Yêu cầu/chấp nhận (ENQ/ACK) </vt:lpstr>
      <vt:lpstr>Yêu cầu/chấp nhận (ENQ/ACK) </vt:lpstr>
      <vt:lpstr>Yêu cầu/chấp nhận (ENQ/ACK) </vt:lpstr>
      <vt:lpstr>Hỏi vòng/lựa chọn (Poll/select)</vt:lpstr>
      <vt:lpstr>Hỏi vòng/lựa chọn (Poll/select)</vt:lpstr>
      <vt:lpstr>8.2.2 Điều khiển lưu lượng</vt:lpstr>
      <vt:lpstr>8.2.2 Điều khiển lưu lượng</vt:lpstr>
      <vt:lpstr>Phương pháp dừng - đợi</vt:lpstr>
      <vt:lpstr>Phương pháp cửa sổ trượt</vt:lpstr>
      <vt:lpstr>Phương pháp cửa sổ trượt</vt:lpstr>
      <vt:lpstr>Phương pháp cửa sổ trượt</vt:lpstr>
      <vt:lpstr>8.2.3 Điều khiển lỗi</vt:lpstr>
      <vt:lpstr>8.2.3 Điều khiển lỗi</vt:lpstr>
      <vt:lpstr>ARQ dừng - đợi (Stop and Wait ARQ) </vt:lpstr>
      <vt:lpstr>ARQ dừng - đợi (Stop and Wait ARQ) </vt:lpstr>
      <vt:lpstr>ARQ dừng - đợi (Stop and Wait ARQ) </vt:lpstr>
      <vt:lpstr>ARQ dung cửa sổ trượt (Sliding Window ARQ )</vt:lpstr>
      <vt:lpstr>ARQ dung cửa sổ trượt (Sliding Window ARQ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Toan Le</dc:creator>
  <cp:lastModifiedBy>DELL</cp:lastModifiedBy>
  <cp:revision>95</cp:revision>
  <dcterms:created xsi:type="dcterms:W3CDTF">2020-05-27T05:21:30Z</dcterms:created>
  <dcterms:modified xsi:type="dcterms:W3CDTF">2023-11-21T07:06:14Z</dcterms:modified>
</cp:coreProperties>
</file>