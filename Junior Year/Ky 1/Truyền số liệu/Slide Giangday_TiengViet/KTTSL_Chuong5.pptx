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9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989" autoAdjust="0"/>
    <p:restoredTop sz="94660"/>
  </p:normalViewPr>
  <p:slideViewPr>
    <p:cSldViewPr snapToGrid="0">
      <p:cViewPr>
        <p:scale>
          <a:sx n="50" d="100"/>
          <a:sy n="50" d="100"/>
        </p:scale>
        <p:origin x="-1436" y="-5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A2C102-B8AE-4CC8-8DFD-907875E47A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BD06CCF0-B4C9-4910-B71B-BC5228E90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587BE8D5-EACC-475F-B772-4C6E30ECC271}"/>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 xmlns:a16="http://schemas.microsoft.com/office/drawing/2014/main" id="{217793E9-AE2F-44EA-9261-CDDE0A320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AEB453C0-1394-4470-9C6B-5680634C4EC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31466898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8593C6-3D1B-460E-B901-F4BB8F0EFEF2}"/>
              </a:ext>
            </a:extLst>
          </p:cNvPr>
          <p:cNvSpPr>
            <a:spLocks noGrp="1"/>
          </p:cNvSpPr>
          <p:nvPr>
            <p:ph type="title"/>
          </p:nvPr>
        </p:nvSpPr>
        <p:spPr>
          <a:xfrm>
            <a:off x="2043484" y="365126"/>
            <a:ext cx="9310315" cy="946840"/>
          </a:xfrm>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AB9BE0FE-78F6-411B-A5F1-2D9DD895E4E1}"/>
              </a:ext>
            </a:extLst>
          </p:cNvPr>
          <p:cNvSpPr>
            <a:spLocks noGrp="1"/>
          </p:cNvSpPr>
          <p:nvPr>
            <p:ph idx="1"/>
          </p:nvPr>
        </p:nvSpPr>
        <p:spPr>
          <a:xfrm>
            <a:off x="572493" y="1431235"/>
            <a:ext cx="11100021" cy="4866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F687351A-05B1-4209-ABD5-8A3B58E66BEF}"/>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 xmlns:a16="http://schemas.microsoft.com/office/drawing/2014/main" id="{D29372B3-9D16-415C-AFC6-5D4652E2A4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4FC96612-9E2F-40CF-99EB-6E186AFA1352}"/>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82541760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F184B0-B474-49DB-90DF-EA5251578B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321C19F0-1FB7-4AE0-896E-2777B6C627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0E6464CF-570F-4361-9C22-BC3CA88D148C}"/>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 xmlns:a16="http://schemas.microsoft.com/office/drawing/2014/main" id="{E58B62D1-8837-45F2-8787-A2B9AB18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68E02877-DE60-4015-8FCF-892ACE36AA54}"/>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14061975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78C28F-0E26-4450-B5E9-87FEB7BDC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70A839B7-197F-4E24-9034-3FAB490EB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094A0A18-C706-495C-B58F-7AF0D336D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6C573B90-884B-4A9F-A8FA-7F1E17F9DBD1}"/>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6" name="Footer Placeholder 5">
            <a:extLst>
              <a:ext uri="{FF2B5EF4-FFF2-40B4-BE49-F238E27FC236}">
                <a16:creationId xmlns="" xmlns:a16="http://schemas.microsoft.com/office/drawing/2014/main" id="{488F9F5E-BDB1-45F3-BCE2-76B6520C3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D884A89C-CCFA-45DE-98FF-AD7815AB839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31942534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97480A-21EF-4CFF-9025-CCD9FA4E3840}"/>
              </a:ext>
            </a:extLst>
          </p:cNvPr>
          <p:cNvSpPr>
            <a:spLocks noGrp="1"/>
          </p:cNvSpPr>
          <p:nvPr>
            <p:ph type="title"/>
          </p:nvPr>
        </p:nvSpPr>
        <p:spPr>
          <a:xfrm>
            <a:off x="2059536" y="365125"/>
            <a:ext cx="9295852" cy="959473"/>
          </a:xfrm>
        </p:spPr>
        <p:txBody>
          <a:bodyPr/>
          <a:lstStyle/>
          <a:p>
            <a:r>
              <a:rPr lang="en-US" dirty="0"/>
              <a:t>Click to edit Master title style</a:t>
            </a:r>
          </a:p>
        </p:txBody>
      </p:sp>
      <p:sp>
        <p:nvSpPr>
          <p:cNvPr id="3" name="Text Placeholder 2">
            <a:extLst>
              <a:ext uri="{FF2B5EF4-FFF2-40B4-BE49-F238E27FC236}">
                <a16:creationId xmlns="" xmlns:a16="http://schemas.microsoft.com/office/drawing/2014/main" id="{D58E34F7-5664-4D9D-945D-F455A3DFE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D0230B20-378D-4F09-8BF3-DEC4AF859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3E6BB53C-6E2D-4274-9D7E-A670158CB3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F167D38A-88C4-4F01-BFB9-D94E541EC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799B471D-3ADB-4293-9A4B-67CF34A75DFE}"/>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8" name="Footer Placeholder 7">
            <a:extLst>
              <a:ext uri="{FF2B5EF4-FFF2-40B4-BE49-F238E27FC236}">
                <a16:creationId xmlns="" xmlns:a16="http://schemas.microsoft.com/office/drawing/2014/main" id="{F3774760-CCCB-42BA-9A1B-D8E7D8A94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183038AC-F431-4B77-9D3B-926E6AB6988E}"/>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79408659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A8AF7B9-53C0-4585-9B89-2FBA7B701E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6201745-3FA6-4569-A489-EF0EA162A557}"/>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4" name="Footer Placeholder 3">
            <a:extLst>
              <a:ext uri="{FF2B5EF4-FFF2-40B4-BE49-F238E27FC236}">
                <a16:creationId xmlns="" xmlns:a16="http://schemas.microsoft.com/office/drawing/2014/main" id="{7CBFEA74-BC5E-4B0B-835D-E657A873B5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BFD1EE18-4D1C-4701-8BBA-0169DC7CC46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5758413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019FDDA1-6ACB-4F4D-B161-8B6F5641054C}"/>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3" name="Footer Placeholder 2">
            <a:extLst>
              <a:ext uri="{FF2B5EF4-FFF2-40B4-BE49-F238E27FC236}">
                <a16:creationId xmlns="" xmlns:a16="http://schemas.microsoft.com/office/drawing/2014/main" id="{57317F60-55C3-4BB3-BDEB-861CA8251C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F1E89CA0-249C-4A75-A3B7-DBDE4463B16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93627094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54949C-EB4F-4ACF-8ADE-56A8C29C7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9E126C2B-8498-44CE-B005-71433DDBB6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6F0CAAFC-D17E-4850-87AB-4B0A70BF4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670FB378-A528-4D34-A3DA-9AAD4037616B}"/>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6" name="Footer Placeholder 5">
            <a:extLst>
              <a:ext uri="{FF2B5EF4-FFF2-40B4-BE49-F238E27FC236}">
                <a16:creationId xmlns="" xmlns:a16="http://schemas.microsoft.com/office/drawing/2014/main" id="{3BE1E530-6145-4EB0-B9A0-4C5FC5E73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2F277388-E30C-4DA3-B6CF-2F6706424C68}"/>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77882685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174CB1-3943-4F0E-9F85-C3E76CA810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B93E7326-9859-4138-A3F6-5A4E1D605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61411D02-CB68-43D9-85FC-185924DA2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6D51B13-BF22-4142-BD28-F2F7C6142ECF}"/>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6" name="Footer Placeholder 5">
            <a:extLst>
              <a:ext uri="{FF2B5EF4-FFF2-40B4-BE49-F238E27FC236}">
                <a16:creationId xmlns="" xmlns:a16="http://schemas.microsoft.com/office/drawing/2014/main" id="{29197E58-C0D2-4770-BF0F-B8560F934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2179F60B-0CBB-4728-801E-BBB606D2C381}"/>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9970750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85D5A0-D36B-42D3-8503-A08848E9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4B9DE344-B2E6-4D08-8EFD-71DBF3147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94F3758-74C8-452E-83A6-2CC57BC5F423}"/>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 xmlns:a16="http://schemas.microsoft.com/office/drawing/2014/main" id="{4A0A3BFC-EC66-4779-8648-8C5557A28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111D2088-CE38-4639-9C50-5E8FE341BD1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46818737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956662CB-0803-47C7-B8F3-343BD6375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DC913163-7159-4A13-99D8-0BF55A0089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8937CC0-663F-45FD-AF01-CB2762545C84}"/>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 xmlns:a16="http://schemas.microsoft.com/office/drawing/2014/main" id="{36F24968-DE40-4BED-BFBB-FACFDD8CF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9C1762EC-6177-4132-ACB5-5C730475D94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11702460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2AD6C713-6B5B-4652-B919-0C9C326BA8FB}"/>
              </a:ext>
            </a:extLst>
          </p:cNvPr>
          <p:cNvSpPr>
            <a:spLocks noGrp="1"/>
          </p:cNvSpPr>
          <p:nvPr>
            <p:ph type="title"/>
          </p:nvPr>
        </p:nvSpPr>
        <p:spPr>
          <a:xfrm>
            <a:off x="2043484" y="365126"/>
            <a:ext cx="9310315" cy="93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F103E2E6-5E74-4663-AD70-D00426D6A4CF}"/>
              </a:ext>
            </a:extLst>
          </p:cNvPr>
          <p:cNvSpPr>
            <a:spLocks noGrp="1"/>
          </p:cNvSpPr>
          <p:nvPr>
            <p:ph type="body" idx="1"/>
          </p:nvPr>
        </p:nvSpPr>
        <p:spPr>
          <a:xfrm>
            <a:off x="564543" y="1447137"/>
            <a:ext cx="10789257" cy="4729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B9927BD6-A005-4E4E-8C32-0E1B6CC0CD1A}"/>
              </a:ext>
            </a:extLst>
          </p:cNvPr>
          <p:cNvSpPr>
            <a:spLocks noGrp="1"/>
          </p:cNvSpPr>
          <p:nvPr>
            <p:ph type="dt" sz="half" idx="2"/>
          </p:nvPr>
        </p:nvSpPr>
        <p:spPr>
          <a:xfrm>
            <a:off x="2050990" y="6520441"/>
            <a:ext cx="1530409" cy="346316"/>
          </a:xfrm>
          <a:prstGeom prst="rect">
            <a:avLst/>
          </a:prstGeom>
        </p:spPr>
        <p:txBody>
          <a:bodyPr vert="horz" lIns="91440" tIns="45720" rIns="91440" bIns="45720" rtlCol="0" anchor="ctr"/>
          <a:lstStyle>
            <a:lvl1pPr algn="l">
              <a:defRPr sz="1200">
                <a:solidFill>
                  <a:schemeClr val="tx1">
                    <a:tint val="75000"/>
                  </a:schemeClr>
                </a:solidFill>
              </a:defRPr>
            </a:lvl1pPr>
          </a:lstStyle>
          <a:p>
            <a:fld id="{084A6D4B-7653-4E0B-8F57-D38CF83377BB}" type="datetimeFigureOut">
              <a:rPr lang="en-US" smtClean="0"/>
              <a:pPr/>
              <a:t>12/23/2021</a:t>
            </a:fld>
            <a:endParaRPr lang="en-US"/>
          </a:p>
        </p:txBody>
      </p:sp>
      <p:sp>
        <p:nvSpPr>
          <p:cNvPr id="5" name="Footer Placeholder 4">
            <a:extLst>
              <a:ext uri="{FF2B5EF4-FFF2-40B4-BE49-F238E27FC236}">
                <a16:creationId xmlns="" xmlns:a16="http://schemas.microsoft.com/office/drawing/2014/main" id="{ED2D051F-F1D7-4D05-9D06-0B2E7BC10237}"/>
              </a:ext>
            </a:extLst>
          </p:cNvPr>
          <p:cNvSpPr>
            <a:spLocks noGrp="1"/>
          </p:cNvSpPr>
          <p:nvPr>
            <p:ph type="ftr" sz="quarter" idx="3"/>
          </p:nvPr>
        </p:nvSpPr>
        <p:spPr>
          <a:xfrm>
            <a:off x="4038600" y="6528987"/>
            <a:ext cx="4114800" cy="3292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A191EC13-E05F-4BCF-8EC0-B2CDC677738E}"/>
              </a:ext>
            </a:extLst>
          </p:cNvPr>
          <p:cNvSpPr>
            <a:spLocks noGrp="1"/>
          </p:cNvSpPr>
          <p:nvPr>
            <p:ph type="sldNum" sz="quarter" idx="4"/>
          </p:nvPr>
        </p:nvSpPr>
        <p:spPr>
          <a:xfrm>
            <a:off x="8610600" y="6528987"/>
            <a:ext cx="2743200" cy="329224"/>
          </a:xfrm>
          <a:prstGeom prst="rect">
            <a:avLst/>
          </a:prstGeom>
        </p:spPr>
        <p:txBody>
          <a:bodyPr vert="horz" lIns="91440" tIns="45720" rIns="91440" bIns="45720" rtlCol="0" anchor="ctr"/>
          <a:lstStyle>
            <a:lvl1pPr algn="r">
              <a:defRPr sz="1200">
                <a:solidFill>
                  <a:schemeClr val="tx1">
                    <a:tint val="75000"/>
                  </a:schemeClr>
                </a:solidFill>
              </a:defRPr>
            </a:lvl1pPr>
          </a:lstStyle>
          <a:p>
            <a:fld id="{4AAB023F-0D85-424A-AD30-ACA224193313}" type="slidenum">
              <a:rPr lang="en-US" smtClean="0"/>
              <a:pPr/>
              <a:t>‹#›</a:t>
            </a:fld>
            <a:endParaRPr lang="en-US"/>
          </a:p>
        </p:txBody>
      </p:sp>
    </p:spTree>
    <p:extLst>
      <p:ext uri="{BB962C8B-B14F-4D97-AF65-F5344CB8AC3E}">
        <p14:creationId xmlns:p14="http://schemas.microsoft.com/office/powerpoint/2010/main" val="4060027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D286FF-B124-458F-B57B-2B1D24945A8B}"/>
              </a:ext>
            </a:extLst>
          </p:cNvPr>
          <p:cNvSpPr>
            <a:spLocks noGrp="1"/>
          </p:cNvSpPr>
          <p:nvPr>
            <p:ph type="ctrTitle"/>
          </p:nvPr>
        </p:nvSpPr>
        <p:spPr/>
        <p:txBody>
          <a:bodyPr>
            <a:normAutofit/>
          </a:bodyPr>
          <a:lstStyle/>
          <a:p>
            <a:r>
              <a:rPr lang="en-US" sz="4400" dirty="0" smtClean="0"/>
              <a:t>KỸ THUẬT TRUYỀN SỐ LIỆU</a:t>
            </a:r>
            <a:endParaRPr lang="en-US" sz="4400" dirty="0"/>
          </a:p>
        </p:txBody>
      </p:sp>
      <p:sp>
        <p:nvSpPr>
          <p:cNvPr id="3" name="Subtitle 2">
            <a:extLst>
              <a:ext uri="{FF2B5EF4-FFF2-40B4-BE49-F238E27FC236}">
                <a16:creationId xmlns="" xmlns:a16="http://schemas.microsoft.com/office/drawing/2014/main" id="{5B71ED79-E603-4351-A7EB-B158BDF0BA05}"/>
              </a:ext>
            </a:extLst>
          </p:cNvPr>
          <p:cNvSpPr>
            <a:spLocks noGrp="1"/>
          </p:cNvSpPr>
          <p:nvPr>
            <p:ph type="subTitle" idx="1"/>
          </p:nvPr>
        </p:nvSpPr>
        <p:spPr/>
        <p:txBody>
          <a:bodyPr>
            <a:normAutofit/>
          </a:bodyPr>
          <a:lstStyle/>
          <a:p>
            <a:r>
              <a:rPr lang="en-US" sz="3200" dirty="0" smtClean="0"/>
              <a:t>(DATA COMMUNICATION TECHNOLOGY)</a:t>
            </a:r>
            <a:endParaRPr lang="en-US" sz="3200" dirty="0"/>
          </a:p>
        </p:txBody>
      </p:sp>
    </p:spTree>
    <p:extLst>
      <p:ext uri="{BB962C8B-B14F-4D97-AF65-F5344CB8AC3E}">
        <p14:creationId xmlns:p14="http://schemas.microsoft.com/office/powerpoint/2010/main" val="14560913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B0D1B0C-9F51-49D2-9435-3E7CBF678872}"/>
              </a:ext>
            </a:extLst>
          </p:cNvPr>
          <p:cNvSpPr>
            <a:spLocks noGrp="1"/>
          </p:cNvSpPr>
          <p:nvPr>
            <p:ph type="title"/>
          </p:nvPr>
        </p:nvSpPr>
        <p:spPr>
          <a:xfrm>
            <a:off x="2043484" y="365126"/>
            <a:ext cx="9310315" cy="1137672"/>
          </a:xfrm>
        </p:spPr>
        <p:txBody>
          <a:bodyPr/>
          <a:lstStyle/>
          <a:p>
            <a:r>
              <a:rPr lang="en-US" dirty="0" smtClean="0"/>
              <a:t>Nội dung môn học</a:t>
            </a:r>
            <a:endParaRPr lang="en-US" dirty="0"/>
          </a:p>
        </p:txBody>
      </p:sp>
      <p:sp>
        <p:nvSpPr>
          <p:cNvPr id="3" name="Content Placeholder 2">
            <a:extLst>
              <a:ext uri="{FF2B5EF4-FFF2-40B4-BE49-F238E27FC236}">
                <a16:creationId xmlns="" xmlns:a16="http://schemas.microsoft.com/office/drawing/2014/main" id="{093BB65F-E818-4AC8-969E-874A837A92F9}"/>
              </a:ext>
            </a:extLst>
          </p:cNvPr>
          <p:cNvSpPr>
            <a:spLocks noGrp="1"/>
          </p:cNvSpPr>
          <p:nvPr>
            <p:ph idx="1"/>
          </p:nvPr>
        </p:nvSpPr>
        <p:spPr>
          <a:xfrm>
            <a:off x="469127" y="1543050"/>
            <a:ext cx="11235193" cy="5029200"/>
          </a:xfrm>
        </p:spPr>
        <p:txBody>
          <a:bodyPr>
            <a:normAutofit fontScale="92500" lnSpcReduction="10000"/>
          </a:bodyPr>
          <a:lstStyle/>
          <a:p>
            <a:r>
              <a:rPr lang="en-US" sz="3200" b="1" dirty="0" smtClean="0"/>
              <a:t>Chương 1: </a:t>
            </a:r>
            <a:r>
              <a:rPr lang="en-US" sz="3200" dirty="0" smtClean="0"/>
              <a:t>Các khái niệm cơ bản</a:t>
            </a:r>
          </a:p>
          <a:p>
            <a:r>
              <a:rPr lang="en-US" sz="3200" b="1" dirty="0" smtClean="0"/>
              <a:t>Chương 2: </a:t>
            </a:r>
            <a:r>
              <a:rPr lang="en-US" sz="3200" dirty="0" smtClean="0"/>
              <a:t>Mô hình OSI</a:t>
            </a:r>
          </a:p>
          <a:p>
            <a:r>
              <a:rPr lang="en-US" sz="3200" b="1" dirty="0" smtClean="0"/>
              <a:t>Chương 3: </a:t>
            </a:r>
            <a:r>
              <a:rPr lang="en-US" sz="3200" dirty="0" smtClean="0"/>
              <a:t>Tín hiệu</a:t>
            </a:r>
          </a:p>
          <a:p>
            <a:r>
              <a:rPr lang="en-US" sz="3200" b="1" dirty="0" smtClean="0"/>
              <a:t>Chương 4: </a:t>
            </a:r>
            <a:r>
              <a:rPr lang="en-US" sz="3200" dirty="0" smtClean="0"/>
              <a:t>Mã hóa và điều chế</a:t>
            </a:r>
          </a:p>
          <a:p>
            <a:r>
              <a:rPr lang="en-US" sz="3200" b="1" dirty="0" smtClean="0"/>
              <a:t>Chương 5: </a:t>
            </a:r>
            <a:r>
              <a:rPr lang="en-US" sz="3200" dirty="0" smtClean="0"/>
              <a:t>Truyền dữ liệu số</a:t>
            </a:r>
          </a:p>
          <a:p>
            <a:r>
              <a:rPr lang="en-US" sz="3200" b="1" dirty="0" smtClean="0"/>
              <a:t>Chương 6: </a:t>
            </a:r>
            <a:r>
              <a:rPr lang="en-US" sz="3200" dirty="0" smtClean="0"/>
              <a:t>Môi trường truyền dẫn </a:t>
            </a:r>
          </a:p>
          <a:p>
            <a:r>
              <a:rPr lang="en-US" sz="3200" b="1" dirty="0" smtClean="0"/>
              <a:t>Chương 7: </a:t>
            </a:r>
            <a:r>
              <a:rPr lang="en-US" sz="3200" dirty="0" smtClean="0"/>
              <a:t>Ghép kênh</a:t>
            </a:r>
          </a:p>
          <a:p>
            <a:r>
              <a:rPr lang="en-US" sz="3200" b="1" dirty="0" smtClean="0"/>
              <a:t>Chương 8: </a:t>
            </a:r>
            <a:r>
              <a:rPr lang="en-US" sz="3200" dirty="0" smtClean="0"/>
              <a:t>Điều khiển kết nối và phát hiện sửa lỗi</a:t>
            </a:r>
          </a:p>
          <a:p>
            <a:r>
              <a:rPr lang="en-US" sz="3200" b="1" dirty="0" smtClean="0"/>
              <a:t>Chương 9: </a:t>
            </a:r>
            <a:r>
              <a:rPr lang="en-US" sz="3200" dirty="0" smtClean="0"/>
              <a:t>Giao thức kết nối dữ liệu</a:t>
            </a:r>
          </a:p>
          <a:p>
            <a:r>
              <a:rPr lang="en-US" sz="3200" b="1" dirty="0" smtClean="0"/>
              <a:t>Chương 10: </a:t>
            </a:r>
            <a:r>
              <a:rPr lang="en-US" sz="3200" dirty="0" smtClean="0"/>
              <a:t>Mạng cục bộ</a:t>
            </a:r>
          </a:p>
        </p:txBody>
      </p:sp>
    </p:spTree>
    <p:extLst>
      <p:ext uri="{BB962C8B-B14F-4D97-AF65-F5344CB8AC3E}">
        <p14:creationId xmlns:p14="http://schemas.microsoft.com/office/powerpoint/2010/main" val="34864484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Chương 5</a:t>
            </a:r>
            <a:endParaRPr lang="en-US" b="1" dirty="0"/>
          </a:p>
        </p:txBody>
      </p:sp>
      <p:sp>
        <p:nvSpPr>
          <p:cNvPr id="3" name="Content Placeholder 2"/>
          <p:cNvSpPr>
            <a:spLocks noGrp="1"/>
          </p:cNvSpPr>
          <p:nvPr>
            <p:ph idx="1"/>
          </p:nvPr>
        </p:nvSpPr>
        <p:spPr/>
        <p:txBody>
          <a:bodyPr>
            <a:normAutofit/>
          </a:bodyPr>
          <a:lstStyle/>
          <a:p>
            <a:pPr algn="ctr">
              <a:buNone/>
            </a:pPr>
            <a:r>
              <a:rPr lang="en-US" sz="5400" dirty="0" smtClean="0">
                <a:latin typeface="Times New Roman" pitchFamily="18" charset="0"/>
                <a:cs typeface="Times New Roman" pitchFamily="18" charset="0"/>
              </a:rPr>
              <a:t>TRUYỀN DỮ LIỆU SỐ</a:t>
            </a:r>
            <a:endParaRPr lang="en-US" sz="54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Nội dung chương 5</a:t>
            </a:r>
            <a:endParaRPr lang="en-US" dirty="0"/>
          </a:p>
        </p:txBody>
      </p:sp>
      <p:sp>
        <p:nvSpPr>
          <p:cNvPr id="3" name="Content Placeholder 2"/>
          <p:cNvSpPr>
            <a:spLocks noGrp="1"/>
          </p:cNvSpPr>
          <p:nvPr>
            <p:ph idx="1"/>
          </p:nvPr>
        </p:nvSpPr>
        <p:spPr/>
        <p:txBody>
          <a:bodyPr>
            <a:normAutofit/>
          </a:bodyPr>
          <a:lstStyle/>
          <a:p>
            <a:r>
              <a:rPr lang="en-US" sz="4000" dirty="0" smtClean="0"/>
              <a:t> Truyền dữ liệu số</a:t>
            </a:r>
          </a:p>
          <a:p>
            <a:r>
              <a:rPr lang="en-US" sz="4000" dirty="0" smtClean="0"/>
              <a:t> Giao diện DTE - DCE</a:t>
            </a:r>
          </a:p>
          <a:p>
            <a:r>
              <a:rPr lang="en-US" sz="4000" dirty="0" smtClean="0"/>
              <a:t> Các chuẩn giao tiếp</a:t>
            </a:r>
          </a:p>
          <a:p>
            <a:r>
              <a:rPr lang="en-US" sz="4000" dirty="0" smtClean="0"/>
              <a:t> Giao diện EIA – 232</a:t>
            </a:r>
          </a:p>
          <a:p>
            <a:r>
              <a:rPr lang="en-US" sz="4000" dirty="0" smtClean="0"/>
              <a:t> Các chuẩn giao diện khác </a:t>
            </a:r>
            <a:endParaRPr lang="en-US"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5.1 Truyền dữ liệu số</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dirty="0" smtClean="0">
                <a:latin typeface="Times New Roman" pitchFamily="18" charset="0"/>
                <a:cs typeface="Times New Roman" pitchFamily="18" charset="0"/>
              </a:rPr>
              <a:t> Các cách truyền số liệu</a:t>
            </a:r>
            <a:endParaRPr lang="en-US" sz="3200" dirty="0">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2"/>
          <a:srcRect/>
          <a:stretch>
            <a:fillRect/>
          </a:stretch>
        </p:blipFill>
        <p:spPr bwMode="auto">
          <a:xfrm>
            <a:off x="1601220" y="2562224"/>
            <a:ext cx="8797823" cy="2771776"/>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Truyền song song</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Khái niệm: Truyền một lúc nhiều bit, mỗi bit đi trên một đường dây </a:t>
            </a:r>
            <a:endParaRPr lang="en-US" sz="3200" dirty="0" smtClean="0">
              <a:latin typeface="+mj-lt"/>
            </a:endParaRPr>
          </a:p>
          <a:p>
            <a:r>
              <a:rPr lang="vi-VN" sz="3200" dirty="0" smtClean="0">
                <a:latin typeface="+mj-lt"/>
              </a:rPr>
              <a:t>Ưu điểm: Tốc độ nhanh.  </a:t>
            </a:r>
          </a:p>
          <a:p>
            <a:r>
              <a:rPr lang="vi-VN" sz="3200" dirty="0" smtClean="0">
                <a:latin typeface="+mj-lt"/>
              </a:rPr>
              <a:t>Khuyết điểm: Chi phí cáp lớn. (khoảng cách xa)</a:t>
            </a:r>
            <a:r>
              <a:rPr lang="en-US" sz="3200" dirty="0" smtClean="0">
                <a:latin typeface="+mj-lt"/>
              </a:rPr>
              <a:t>,</a:t>
            </a:r>
            <a:r>
              <a:rPr lang="vi-VN" sz="3200" dirty="0" smtClean="0">
                <a:latin typeface="+mj-lt"/>
              </a:rPr>
              <a:t> thích hợp cự ly ngắn. </a:t>
            </a:r>
            <a:endParaRPr lang="en-US" sz="3200" dirty="0">
              <a:latin typeface="+mj-lt"/>
            </a:endParaRPr>
          </a:p>
        </p:txBody>
      </p:sp>
      <p:pic>
        <p:nvPicPr>
          <p:cNvPr id="2050" name="Picture 2"/>
          <p:cNvPicPr>
            <a:picLocks noChangeAspect="1" noChangeArrowheads="1"/>
          </p:cNvPicPr>
          <p:nvPr/>
        </p:nvPicPr>
        <p:blipFill>
          <a:blip r:embed="rId2"/>
          <a:srcRect/>
          <a:stretch>
            <a:fillRect/>
          </a:stretch>
        </p:blipFill>
        <p:spPr bwMode="auto">
          <a:xfrm>
            <a:off x="3071813" y="3695700"/>
            <a:ext cx="6543675" cy="27432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Truyền nối tiếp</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Khái niệm: </a:t>
            </a:r>
            <a:r>
              <a:rPr lang="vi-VN" sz="3200" dirty="0" smtClean="0">
                <a:latin typeface="+mj-lt"/>
              </a:rPr>
              <a:t>Truyền lần lượt từng bit, chỉ sử dụng một dây</a:t>
            </a:r>
            <a:endParaRPr lang="en-US" sz="3200" dirty="0" smtClean="0">
              <a:latin typeface="+mj-lt"/>
            </a:endParaRPr>
          </a:p>
          <a:p>
            <a:pPr>
              <a:buFont typeface="Wingdings" pitchFamily="2" charset="2"/>
              <a:buChar char="v"/>
            </a:pPr>
            <a:r>
              <a:rPr lang="en-US" sz="3200" dirty="0" smtClean="0">
                <a:latin typeface="+mj-lt"/>
              </a:rPr>
              <a:t> </a:t>
            </a:r>
            <a:r>
              <a:rPr lang="vi-VN" sz="3200" b="1" dirty="0" smtClean="0">
                <a:latin typeface="+mj-lt"/>
              </a:rPr>
              <a:t>Ưu điểm: </a:t>
            </a:r>
            <a:r>
              <a:rPr lang="vi-VN" sz="3200" dirty="0" smtClean="0">
                <a:latin typeface="+mj-lt"/>
              </a:rPr>
              <a:t>Chỉ cần một kênh truyền (1 dây)</a:t>
            </a:r>
            <a:r>
              <a:rPr lang="en-US" sz="3200" dirty="0" smtClean="0">
                <a:latin typeface="+mj-lt"/>
              </a:rPr>
              <a:t>, </a:t>
            </a:r>
            <a:r>
              <a:rPr lang="vi-VN" sz="3200" dirty="0" smtClean="0">
                <a:latin typeface="+mj-lt"/>
              </a:rPr>
              <a:t>giảm giá thành và</a:t>
            </a:r>
            <a:r>
              <a:rPr lang="en-US" sz="3200" dirty="0" smtClean="0">
                <a:latin typeface="+mj-lt"/>
              </a:rPr>
              <a:t> </a:t>
            </a:r>
            <a:r>
              <a:rPr lang="vi-VN" sz="3200" dirty="0" smtClean="0">
                <a:latin typeface="+mj-lt"/>
              </a:rPr>
              <a:t>chi phí vận hành. </a:t>
            </a:r>
          </a:p>
          <a:p>
            <a:pPr>
              <a:buFont typeface="Wingdings" pitchFamily="2" charset="2"/>
              <a:buChar char="v"/>
            </a:pPr>
            <a:r>
              <a:rPr lang="en-US" sz="3200" b="1" dirty="0" smtClean="0">
                <a:latin typeface="+mj-lt"/>
              </a:rPr>
              <a:t> </a:t>
            </a:r>
            <a:r>
              <a:rPr lang="vi-VN" sz="3200" b="1" dirty="0" smtClean="0">
                <a:latin typeface="+mj-lt"/>
              </a:rPr>
              <a:t>Khuyết điểm  </a:t>
            </a:r>
          </a:p>
          <a:p>
            <a:r>
              <a:rPr lang="vi-VN" sz="3200" dirty="0" smtClean="0">
                <a:latin typeface="+mj-lt"/>
              </a:rPr>
              <a:t>Cần giải quyết bài toán chuyển đổi nối tiếp sang song song  và song song sang nối tiếp. </a:t>
            </a:r>
          </a:p>
          <a:p>
            <a:r>
              <a:rPr lang="vi-VN" sz="3200" dirty="0" smtClean="0">
                <a:latin typeface="+mj-lt"/>
              </a:rPr>
              <a:t>Tốc độ truyền chậm hơn so với truyền song song.  </a:t>
            </a:r>
            <a:endParaRPr lang="en-US" sz="3200" dirty="0">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Truyền nối tiếp</a:t>
            </a:r>
            <a:endParaRPr lang="en-US" dirty="0"/>
          </a:p>
        </p:txBody>
      </p:sp>
      <p:sp>
        <p:nvSpPr>
          <p:cNvPr id="3" name="Content Placeholder 2"/>
          <p:cNvSpPr>
            <a:spLocks noGrp="1"/>
          </p:cNvSpPr>
          <p:nvPr>
            <p:ph idx="1"/>
          </p:nvPr>
        </p:nvSpPr>
        <p:spPr/>
        <p:txBody>
          <a:bodyPr/>
          <a:lstStyle/>
          <a:p>
            <a:endParaRPr lang="en-US" dirty="0" smtClean="0"/>
          </a:p>
          <a:p>
            <a:endParaRPr lang="en-US" dirty="0" smtClean="0"/>
          </a:p>
          <a:p>
            <a:endParaRPr lang="en-US" dirty="0" smtClean="0"/>
          </a:p>
          <a:p>
            <a:endParaRPr lang="en-US" dirty="0" smtClean="0"/>
          </a:p>
          <a:p>
            <a:endParaRPr lang="en-US" dirty="0" smtClean="0"/>
          </a:p>
          <a:p>
            <a:endParaRPr lang="en-US" sz="3200" b="1" dirty="0" smtClean="0">
              <a:latin typeface="Times New Roman" pitchFamily="18" charset="0"/>
              <a:cs typeface="Times New Roman" pitchFamily="18" charset="0"/>
            </a:endParaRPr>
          </a:p>
          <a:p>
            <a:pPr>
              <a:buFont typeface="Wingdings" pitchFamily="2" charset="2"/>
              <a:buChar char="v"/>
            </a:pPr>
            <a:r>
              <a:rPr lang="en-US" sz="3200" b="1" dirty="0" smtClean="0">
                <a:latin typeface="Times New Roman" pitchFamily="18" charset="0"/>
                <a:cs typeface="Times New Roman" pitchFamily="18" charset="0"/>
              </a:rPr>
              <a:t> </a:t>
            </a:r>
            <a:r>
              <a:rPr lang="vi-VN" sz="3200" b="1" dirty="0" smtClean="0">
                <a:latin typeface="Times New Roman" pitchFamily="18" charset="0"/>
                <a:cs typeface="Times New Roman" pitchFamily="18" charset="0"/>
              </a:rPr>
              <a:t>Phân loại: </a:t>
            </a:r>
            <a:r>
              <a:rPr lang="vi-VN" sz="3200" dirty="0" smtClean="0">
                <a:latin typeface="Times New Roman" pitchFamily="18" charset="0"/>
                <a:cs typeface="Times New Roman" pitchFamily="18" charset="0"/>
              </a:rPr>
              <a:t>2 loại </a:t>
            </a:r>
          </a:p>
          <a:p>
            <a:r>
              <a:rPr lang="vi-VN" sz="3200" dirty="0" smtClean="0">
                <a:latin typeface="Times New Roman" pitchFamily="18" charset="0"/>
                <a:cs typeface="Times New Roman" pitchFamily="18" charset="0"/>
              </a:rPr>
              <a:t>Truyền nối tiếp không đồng bộ (asynchronous transmission) </a:t>
            </a:r>
          </a:p>
          <a:p>
            <a:r>
              <a:rPr lang="vi-VN" sz="3200" dirty="0" smtClean="0">
                <a:latin typeface="Times New Roman" pitchFamily="18" charset="0"/>
                <a:cs typeface="Times New Roman" pitchFamily="18" charset="0"/>
              </a:rPr>
              <a:t>Truyền nối tiếp đồng bộ. (synchronous transmission) </a:t>
            </a:r>
            <a:endParaRPr lang="en-US" sz="320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a:srcRect/>
          <a:stretch>
            <a:fillRect/>
          </a:stretch>
        </p:blipFill>
        <p:spPr bwMode="auto">
          <a:xfrm>
            <a:off x="2566989" y="1476240"/>
            <a:ext cx="6405561" cy="3037451"/>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Truyền không đồng bộ</a:t>
            </a:r>
            <a:endParaRPr lang="en-US" dirty="0"/>
          </a:p>
        </p:txBody>
      </p:sp>
      <p:sp>
        <p:nvSpPr>
          <p:cNvPr id="3" name="Content Placeholder 2"/>
          <p:cNvSpPr>
            <a:spLocks noGrp="1"/>
          </p:cNvSpPr>
          <p:nvPr>
            <p:ph idx="1"/>
          </p:nvPr>
        </p:nvSpPr>
        <p:spPr/>
        <p:txBody>
          <a:bodyPr>
            <a:normAutofit/>
          </a:bodyPr>
          <a:lstStyle/>
          <a:p>
            <a:r>
              <a:rPr lang="vi-VN" sz="3200" b="1" dirty="0" smtClean="0">
                <a:latin typeface="+mj-lt"/>
              </a:rPr>
              <a:t>Đặc điểm: </a:t>
            </a:r>
            <a:r>
              <a:rPr lang="vi-VN" sz="3200" dirty="0" smtClean="0">
                <a:latin typeface="+mj-lt"/>
              </a:rPr>
              <a:t>Phương pháp truyền này cần: một bit start (0) tại  đầu bản tin, một (nhiều) bit stop (1) ở cuối bản tin và tồn tại khoảng trống giữa các byte . </a:t>
            </a:r>
          </a:p>
          <a:p>
            <a:r>
              <a:rPr lang="vi-VN" sz="3200" b="1" dirty="0" smtClean="0">
                <a:latin typeface="+mj-lt"/>
              </a:rPr>
              <a:t>Chú ý: </a:t>
            </a:r>
            <a:r>
              <a:rPr lang="vi-VN" sz="3200" dirty="0" smtClean="0">
                <a:latin typeface="+mj-lt"/>
              </a:rPr>
              <a:t>Không đồng bộ ở đây được hiểu là không đồng bộ ở cấp độ byte, nhưng vẫn đồng bộ ở từng bit, do chúng có thời khoảng giống nhau. </a:t>
            </a:r>
          </a:p>
        </p:txBody>
      </p:sp>
      <p:pic>
        <p:nvPicPr>
          <p:cNvPr id="4098" name="Picture 2"/>
          <p:cNvPicPr>
            <a:picLocks noChangeAspect="1" noChangeArrowheads="1"/>
          </p:cNvPicPr>
          <p:nvPr/>
        </p:nvPicPr>
        <p:blipFill>
          <a:blip r:embed="rId2"/>
          <a:srcRect/>
          <a:stretch>
            <a:fillRect/>
          </a:stretch>
        </p:blipFill>
        <p:spPr bwMode="auto">
          <a:xfrm>
            <a:off x="2052638" y="4267200"/>
            <a:ext cx="8505825" cy="22098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Truyền nối tiếp không đồng bộ</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Ưu điểm: </a:t>
            </a:r>
            <a:r>
              <a:rPr lang="vi-VN" sz="3200" dirty="0" smtClean="0">
                <a:latin typeface="+mj-lt"/>
              </a:rPr>
              <a:t>Đơn giản, chi phí truyền thấp, hiệu quả tương đối</a:t>
            </a:r>
            <a:r>
              <a:rPr lang="en-US" sz="3200" dirty="0" smtClean="0">
                <a:latin typeface="+mj-lt"/>
              </a:rPr>
              <a:t> </a:t>
            </a:r>
            <a:r>
              <a:rPr lang="vi-VN" sz="3200" dirty="0" smtClean="0">
                <a:latin typeface="+mj-lt"/>
              </a:rPr>
              <a:t>cao. </a:t>
            </a:r>
          </a:p>
          <a:p>
            <a:pPr>
              <a:buFont typeface="Wingdings" pitchFamily="2" charset="2"/>
              <a:buChar char="v"/>
            </a:pPr>
            <a:r>
              <a:rPr lang="en-US" sz="3200" b="1" dirty="0" smtClean="0">
                <a:latin typeface="+mj-lt"/>
              </a:rPr>
              <a:t> </a:t>
            </a:r>
            <a:r>
              <a:rPr lang="vi-VN" sz="3200" b="1" dirty="0" smtClean="0">
                <a:latin typeface="+mj-lt"/>
              </a:rPr>
              <a:t>Khuyết điểm: </a:t>
            </a:r>
            <a:r>
              <a:rPr lang="vi-VN" sz="3200" dirty="0" smtClean="0">
                <a:latin typeface="+mj-lt"/>
              </a:rPr>
              <a:t>Do Tồn tại các bit start và bit stop, khoảng trống dẫn đến thời gian truyền chậm.  </a:t>
            </a:r>
          </a:p>
          <a:p>
            <a:r>
              <a:rPr lang="vi-VN" sz="3200" dirty="0" smtClean="0">
                <a:latin typeface="+mj-lt"/>
              </a:rPr>
              <a:t>Phương thức này là một chọn lựa tối ưu trường hợp truyền với tốc độ thấp </a:t>
            </a:r>
          </a:p>
          <a:p>
            <a:r>
              <a:rPr lang="vi-VN" sz="3200" b="1" dirty="0" smtClean="0">
                <a:latin typeface="+mj-lt"/>
              </a:rPr>
              <a:t>Ví dụ: </a:t>
            </a:r>
            <a:r>
              <a:rPr lang="vi-VN" sz="3200" dirty="0" smtClean="0">
                <a:latin typeface="+mj-lt"/>
              </a:rPr>
              <a:t>quá trình truyền dữ liệu giữa bàn phím và máy tính, theo đó người dùng chỉ gởi một làm một ký tự, và thường để lại nhưng khoảng thời gian trống đáng kể giữa hai lần truyền. </a:t>
            </a:r>
            <a:endParaRPr lang="en-US" sz="3200" dirty="0">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Truyền nối tiếp đồng bộ</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Đặc điểm   </a:t>
            </a:r>
          </a:p>
          <a:p>
            <a:r>
              <a:rPr lang="vi-VN" sz="3200" dirty="0" smtClean="0">
                <a:latin typeface="+mj-lt"/>
              </a:rPr>
              <a:t>Các luồng bit được tổ hợp thành những khung (frame) lớn hơn nhiều byte.  </a:t>
            </a:r>
          </a:p>
          <a:p>
            <a:r>
              <a:rPr lang="vi-VN" sz="3200" dirty="0" smtClean="0">
                <a:latin typeface="+mj-lt"/>
              </a:rPr>
              <a:t>Không tồn tại khoảng trống giữa các Byte.  </a:t>
            </a:r>
          </a:p>
          <a:p>
            <a:r>
              <a:rPr lang="vi-VN" sz="3200" dirty="0" smtClean="0">
                <a:latin typeface="+mj-lt"/>
              </a:rPr>
              <a:t>Máy thu có nhiệm vụ nhóm các bit thành Byte.(Đồng bộ bit và đồng bộ byte) </a:t>
            </a:r>
            <a:endParaRPr lang="en-US" sz="3200" dirty="0">
              <a:latin typeface="+mj-lt"/>
            </a:endParaRPr>
          </a:p>
        </p:txBody>
      </p:sp>
      <p:pic>
        <p:nvPicPr>
          <p:cNvPr id="5122" name="Picture 2"/>
          <p:cNvPicPr>
            <a:picLocks noChangeAspect="1" noChangeArrowheads="1"/>
          </p:cNvPicPr>
          <p:nvPr/>
        </p:nvPicPr>
        <p:blipFill>
          <a:blip r:embed="rId2"/>
          <a:srcRect/>
          <a:stretch>
            <a:fillRect/>
          </a:stretch>
        </p:blipFill>
        <p:spPr bwMode="auto">
          <a:xfrm>
            <a:off x="2024063" y="4610100"/>
            <a:ext cx="8647551" cy="1681163"/>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5.2 Giao diện DTE - DCE </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DTE</a:t>
            </a:r>
            <a:r>
              <a:rPr lang="vi-VN" sz="3200" dirty="0" smtClean="0">
                <a:latin typeface="+mj-lt"/>
              </a:rPr>
              <a:t> (Data Terminal Equipment): Thiết bị đầu cuối dữ liệu,  là</a:t>
            </a:r>
            <a:r>
              <a:rPr lang="en-US" sz="3200" dirty="0" smtClean="0">
                <a:latin typeface="+mj-lt"/>
              </a:rPr>
              <a:t> </a:t>
            </a:r>
            <a:r>
              <a:rPr lang="vi-VN" sz="3200" dirty="0" smtClean="0">
                <a:latin typeface="+mj-lt"/>
              </a:rPr>
              <a:t>nguồn hoặc đích của dữ liệu số. </a:t>
            </a:r>
          </a:p>
          <a:p>
            <a:r>
              <a:rPr lang="vi-VN" sz="3200" dirty="0" smtClean="0">
                <a:latin typeface="+mj-lt"/>
              </a:rPr>
              <a:t>Ví dụ: Mạch số, máy tính, máy fax….(phát dữ liệu số, thu dữ liệu số) </a:t>
            </a:r>
          </a:p>
          <a:p>
            <a:pPr>
              <a:buFont typeface="Wingdings" pitchFamily="2" charset="2"/>
              <a:buChar char="v"/>
            </a:pPr>
            <a:r>
              <a:rPr lang="en-US" sz="3200" b="1" dirty="0" smtClean="0">
                <a:latin typeface="+mj-lt"/>
              </a:rPr>
              <a:t> </a:t>
            </a:r>
            <a:r>
              <a:rPr lang="vi-VN" sz="3200" b="1" dirty="0" smtClean="0">
                <a:latin typeface="+mj-lt"/>
              </a:rPr>
              <a:t>DCE</a:t>
            </a:r>
            <a:r>
              <a:rPr lang="vi-VN" sz="3200" dirty="0" smtClean="0">
                <a:latin typeface="+mj-lt"/>
              </a:rPr>
              <a:t> (Data Circuit-Terminating Equipment): Thiết bị mạch đầu cuối dữ liệu, là thiết bị phát hoặc nhận dữ liệu ở dạng tương tự, ở dạng số. </a:t>
            </a:r>
          </a:p>
          <a:p>
            <a:r>
              <a:rPr lang="vi-VN" sz="3200" dirty="0" smtClean="0">
                <a:latin typeface="+mj-lt"/>
              </a:rPr>
              <a:t>Ví dụ: Modem (Nhận và phát tín hiệu số, tương tự). </a:t>
            </a:r>
            <a:endParaRPr lang="en-US" sz="3200" dirty="0">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5.2 Giao diện DTE - DCE </a:t>
            </a:r>
            <a:endParaRPr lang="en-US" dirty="0"/>
          </a:p>
        </p:txBody>
      </p:sp>
      <p:sp>
        <p:nvSpPr>
          <p:cNvPr id="3" name="Content Placeholder 2"/>
          <p:cNvSpPr>
            <a:spLocks noGrp="1"/>
          </p:cNvSpPr>
          <p:nvPr>
            <p:ph idx="1"/>
          </p:nvPr>
        </p:nvSpPr>
        <p:spPr/>
        <p:txBody>
          <a:bodyPr>
            <a:normAutofit/>
          </a:bodyPr>
          <a:lstStyle/>
          <a:p>
            <a:r>
              <a:rPr lang="vi-VN" sz="3200" b="1" dirty="0" smtClean="0">
                <a:latin typeface="+mj-lt"/>
              </a:rPr>
              <a:t>DTE</a:t>
            </a:r>
            <a:r>
              <a:rPr lang="vi-VN" sz="3200" dirty="0" smtClean="0">
                <a:latin typeface="+mj-lt"/>
              </a:rPr>
              <a:t> tạo ra dữ liệu số và chuyển đến </a:t>
            </a:r>
            <a:r>
              <a:rPr lang="vi-VN" sz="3200" b="1" dirty="0" smtClean="0">
                <a:latin typeface="+mj-lt"/>
              </a:rPr>
              <a:t>DCE, D</a:t>
            </a:r>
            <a:r>
              <a:rPr lang="vi-VN" sz="3200" dirty="0" smtClean="0">
                <a:latin typeface="+mj-lt"/>
              </a:rPr>
              <a:t>CE chuyển tín hiệu này thành các dạng thích hợp cho quá trình truyền. Khi đến nơi nhận thì thực hiện quá trình ngược lại</a:t>
            </a:r>
            <a:endParaRPr lang="en-US" sz="3200" dirty="0">
              <a:latin typeface="+mj-lt"/>
            </a:endParaRPr>
          </a:p>
        </p:txBody>
      </p:sp>
      <p:pic>
        <p:nvPicPr>
          <p:cNvPr id="6146" name="Picture 2"/>
          <p:cNvPicPr>
            <a:picLocks noChangeAspect="1" noChangeArrowheads="1"/>
          </p:cNvPicPr>
          <p:nvPr/>
        </p:nvPicPr>
        <p:blipFill>
          <a:blip r:embed="rId2"/>
          <a:srcRect/>
          <a:stretch>
            <a:fillRect/>
          </a:stretch>
        </p:blipFill>
        <p:spPr bwMode="auto">
          <a:xfrm>
            <a:off x="1557338" y="3086100"/>
            <a:ext cx="9191625" cy="22098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5.3 Các chuẩn giao tiếp</a:t>
            </a:r>
            <a:endParaRPr lang="en-US" dirty="0"/>
          </a:p>
        </p:txBody>
      </p:sp>
      <p:sp>
        <p:nvSpPr>
          <p:cNvPr id="3" name="Content Placeholder 2"/>
          <p:cNvSpPr>
            <a:spLocks noGrp="1"/>
          </p:cNvSpPr>
          <p:nvPr>
            <p:ph idx="1"/>
          </p:nvPr>
        </p:nvSpPr>
        <p:spPr>
          <a:xfrm>
            <a:off x="572493" y="1431234"/>
            <a:ext cx="11100021" cy="5102915"/>
          </a:xfrm>
        </p:spPr>
        <p:txBody>
          <a:bodyPr>
            <a:normAutofit lnSpcReduction="10000"/>
          </a:bodyPr>
          <a:lstStyle/>
          <a:p>
            <a:pPr>
              <a:buFont typeface="Wingdings" pitchFamily="2" charset="2"/>
              <a:buChar char="v"/>
            </a:pPr>
            <a:r>
              <a:rPr lang="en-US" sz="3200" dirty="0" smtClean="0">
                <a:latin typeface="+mj-lt"/>
              </a:rPr>
              <a:t> </a:t>
            </a:r>
            <a:r>
              <a:rPr lang="vi-VN" sz="3200" dirty="0" smtClean="0">
                <a:latin typeface="+mj-lt"/>
              </a:rPr>
              <a:t>Mục đích của chuẩn giao tiếp DTE và DCE:  nhằm định ngh</a:t>
            </a:r>
            <a:r>
              <a:rPr lang="en-US" sz="3200" dirty="0" smtClean="0">
                <a:latin typeface="Times New Roman" pitchFamily="18" charset="0"/>
                <a:cs typeface="Times New Roman" pitchFamily="18" charset="0"/>
              </a:rPr>
              <a:t>ĩa</a:t>
            </a:r>
            <a:r>
              <a:rPr lang="vi-VN" sz="3200" dirty="0" smtClean="0">
                <a:latin typeface="+mj-lt"/>
              </a:rPr>
              <a:t> các đặc tính cơ, đặc</a:t>
            </a:r>
            <a:r>
              <a:rPr lang="en-US" sz="3200" dirty="0" smtClean="0">
                <a:latin typeface="+mj-lt"/>
              </a:rPr>
              <a:t> </a:t>
            </a:r>
            <a:r>
              <a:rPr lang="vi-VN" sz="3200" dirty="0" smtClean="0">
                <a:latin typeface="+mj-lt"/>
              </a:rPr>
              <a:t>tính điện, đặc tính chức năng của kết nối giữa DTE và DCE. </a:t>
            </a:r>
            <a:endParaRPr lang="en-US" sz="3200" dirty="0" smtClean="0">
              <a:latin typeface="+mj-lt"/>
            </a:endParaRPr>
          </a:p>
          <a:p>
            <a:pPr>
              <a:buFont typeface="Wingdings" pitchFamily="2" charset="2"/>
              <a:buChar char="v"/>
            </a:pPr>
            <a:endParaRPr lang="en-US" sz="3200" dirty="0" smtClean="0">
              <a:latin typeface="+mj-lt"/>
            </a:endParaRPr>
          </a:p>
          <a:p>
            <a:pPr>
              <a:buFont typeface="Wingdings" pitchFamily="2" charset="2"/>
              <a:buChar char="v"/>
            </a:pPr>
            <a:endParaRPr lang="en-US" sz="3200" dirty="0" smtClean="0">
              <a:latin typeface="+mj-lt"/>
            </a:endParaRPr>
          </a:p>
          <a:p>
            <a:pPr>
              <a:buFont typeface="Wingdings" pitchFamily="2" charset="2"/>
              <a:buChar char="v"/>
            </a:pPr>
            <a:endParaRPr lang="vi-VN" sz="3200" dirty="0" smtClean="0">
              <a:latin typeface="+mj-lt"/>
            </a:endParaRPr>
          </a:p>
          <a:p>
            <a:pPr>
              <a:buFont typeface="Wingdings" pitchFamily="2" charset="2"/>
              <a:buChar char="v"/>
            </a:pPr>
            <a:r>
              <a:rPr lang="en-US" sz="3200" b="1" dirty="0" smtClean="0">
                <a:latin typeface="+mj-lt"/>
              </a:rPr>
              <a:t> </a:t>
            </a:r>
            <a:r>
              <a:rPr lang="vi-VN" sz="3200" b="1" dirty="0" smtClean="0">
                <a:latin typeface="+mj-lt"/>
              </a:rPr>
              <a:t>Phân loại: </a:t>
            </a:r>
            <a:r>
              <a:rPr lang="vi-VN" sz="3200" dirty="0" smtClean="0">
                <a:latin typeface="+mj-lt"/>
              </a:rPr>
              <a:t>EIA (Electronic Industries Association)</a:t>
            </a:r>
            <a:r>
              <a:rPr lang="en-US" sz="3200" dirty="0" smtClean="0">
                <a:latin typeface="+mj-lt"/>
              </a:rPr>
              <a:t> </a:t>
            </a:r>
            <a:r>
              <a:rPr lang="vi-VN" sz="3200" dirty="0" smtClean="0">
                <a:latin typeface="+mj-lt"/>
              </a:rPr>
              <a:t>và ITU-T đã phát triển nhiều chuẩn cho giao diện DTE-DCE. </a:t>
            </a:r>
          </a:p>
          <a:p>
            <a:r>
              <a:rPr lang="vi-VN" sz="3200" dirty="0" smtClean="0">
                <a:latin typeface="+mj-lt"/>
              </a:rPr>
              <a:t>EIA có các chuẩn: EIA-232, EIA-449, EIA-485, EIA-530 </a:t>
            </a:r>
          </a:p>
          <a:p>
            <a:r>
              <a:rPr lang="vi-VN" sz="3200" dirty="0" smtClean="0">
                <a:latin typeface="+mj-lt"/>
              </a:rPr>
              <a:t>ITU-T phát triển các chuẩn series V và series X.</a:t>
            </a:r>
            <a:endParaRPr lang="en-US" sz="3200" dirty="0">
              <a:latin typeface="+mj-lt"/>
            </a:endParaRPr>
          </a:p>
        </p:txBody>
      </p:sp>
      <p:pic>
        <p:nvPicPr>
          <p:cNvPr id="7170" name="Picture 2"/>
          <p:cNvPicPr>
            <a:picLocks noChangeAspect="1" noChangeArrowheads="1"/>
          </p:cNvPicPr>
          <p:nvPr/>
        </p:nvPicPr>
        <p:blipFill>
          <a:blip r:embed="rId2"/>
          <a:srcRect/>
          <a:stretch>
            <a:fillRect/>
          </a:stretch>
        </p:blipFill>
        <p:spPr bwMode="auto">
          <a:xfrm>
            <a:off x="4067175" y="2390775"/>
            <a:ext cx="6076950" cy="173355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5.4 Giao diện EIA – 232</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dirty="0" smtClean="0">
                <a:latin typeface="+mj-lt"/>
              </a:rPr>
              <a:t> </a:t>
            </a:r>
            <a:r>
              <a:rPr lang="vi-VN" sz="3200" dirty="0" smtClean="0">
                <a:latin typeface="+mj-lt"/>
              </a:rPr>
              <a:t>Chuẩn giao diện quan trọng của EIA là EIA-232 (trước đây gọi là RS-232)  nhằm định nghĩa</a:t>
            </a:r>
            <a:r>
              <a:rPr lang="en-US" sz="3200" dirty="0" smtClean="0">
                <a:latin typeface="+mj-lt"/>
              </a:rPr>
              <a:t>:</a:t>
            </a:r>
          </a:p>
          <a:p>
            <a:r>
              <a:rPr lang="en-US" sz="3200" dirty="0" smtClean="0">
                <a:latin typeface="Times New Roman" pitchFamily="18" charset="0"/>
                <a:cs typeface="Times New Roman" pitchFamily="18" charset="0"/>
              </a:rPr>
              <a:t>Các đ</a:t>
            </a:r>
            <a:r>
              <a:rPr lang="vi-VN" sz="3200" dirty="0" smtClean="0">
                <a:latin typeface="+mj-lt"/>
              </a:rPr>
              <a:t>ặc tính về cơ</a:t>
            </a:r>
            <a:endParaRPr lang="en-US" sz="3200" dirty="0" smtClean="0">
              <a:latin typeface="+mj-lt"/>
            </a:endParaRPr>
          </a:p>
          <a:p>
            <a:r>
              <a:rPr lang="en-US" sz="3200" dirty="0" smtClean="0">
                <a:latin typeface="Times New Roman" pitchFamily="18" charset="0"/>
                <a:cs typeface="Times New Roman" pitchFamily="18" charset="0"/>
              </a:rPr>
              <a:t>Các đặc tính </a:t>
            </a:r>
            <a:r>
              <a:rPr lang="vi-VN" sz="3200" dirty="0" smtClean="0">
                <a:latin typeface="Times New Roman" pitchFamily="18" charset="0"/>
                <a:cs typeface="Times New Roman" pitchFamily="18" charset="0"/>
              </a:rPr>
              <a:t>điện </a:t>
            </a:r>
            <a:endParaRPr lang="en-US" sz="3200" dirty="0" smtClean="0">
              <a:latin typeface="Times New Roman" pitchFamily="18" charset="0"/>
              <a:cs typeface="Times New Roman" pitchFamily="18" charset="0"/>
            </a:endParaRPr>
          </a:p>
          <a:p>
            <a:r>
              <a:rPr lang="en-US" sz="3200" dirty="0" smtClean="0">
                <a:latin typeface="Times New Roman" pitchFamily="18" charset="0"/>
                <a:cs typeface="Times New Roman" pitchFamily="18" charset="0"/>
              </a:rPr>
              <a:t>Các c</a:t>
            </a:r>
            <a:r>
              <a:rPr lang="vi-VN" sz="3200" dirty="0" smtClean="0">
                <a:latin typeface="+mj-lt"/>
              </a:rPr>
              <a:t>hức năng của giao diện giữa DTE và DCE</a:t>
            </a:r>
            <a:endParaRPr lang="en-US" sz="3200" dirty="0">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Các đặc tính về cơ</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Dùng cáp 25 sợi (đầu nối DB-25), cáp 9 sợi (DB-9) </a:t>
            </a:r>
          </a:p>
          <a:p>
            <a:r>
              <a:rPr lang="vi-VN" sz="3200" dirty="0" smtClean="0">
                <a:latin typeface="+mj-lt"/>
              </a:rPr>
              <a:t>Chiều dài không quá 15 mét (50 feet)</a:t>
            </a:r>
            <a:r>
              <a:rPr lang="en-US" sz="3200" dirty="0" smtClean="0">
                <a:latin typeface="+mj-lt"/>
              </a:rPr>
              <a:t> </a:t>
            </a:r>
            <a:r>
              <a:rPr lang="vi-VN" sz="3200" dirty="0" smtClean="0">
                <a:latin typeface="+mj-lt"/>
              </a:rPr>
              <a:t>- Khoảng cách gữa DTE và DCE nhỏ hơn 15m.</a:t>
            </a:r>
            <a:endParaRPr lang="en-US" sz="3200" dirty="0">
              <a:latin typeface="+mj-lt"/>
            </a:endParaRPr>
          </a:p>
        </p:txBody>
      </p:sp>
      <p:pic>
        <p:nvPicPr>
          <p:cNvPr id="8194" name="Picture 2"/>
          <p:cNvPicPr>
            <a:picLocks noChangeAspect="1" noChangeArrowheads="1"/>
          </p:cNvPicPr>
          <p:nvPr/>
        </p:nvPicPr>
        <p:blipFill>
          <a:blip r:embed="rId2"/>
          <a:srcRect/>
          <a:stretch>
            <a:fillRect/>
          </a:stretch>
        </p:blipFill>
        <p:spPr bwMode="auto">
          <a:xfrm>
            <a:off x="4300538" y="3206902"/>
            <a:ext cx="3643312" cy="1827062"/>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Các đặc tính về điện</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Định nghĩa mức điện áp và dạng tín hiệu được truyền trong giao tiếp DTE-DCE. </a:t>
            </a:r>
          </a:p>
          <a:p>
            <a:pPr>
              <a:buFont typeface="Wingdings" pitchFamily="2" charset="2"/>
              <a:buChar char="v"/>
            </a:pPr>
            <a:r>
              <a:rPr lang="en-US" sz="3200" dirty="0" smtClean="0">
                <a:latin typeface="+mj-lt"/>
              </a:rPr>
              <a:t> </a:t>
            </a:r>
            <a:r>
              <a:rPr lang="vi-VN" sz="3200" dirty="0" smtClean="0">
                <a:latin typeface="+mj-lt"/>
              </a:rPr>
              <a:t>Gởi dữ liệu: Dùng mã NRZ-L </a:t>
            </a:r>
          </a:p>
          <a:p>
            <a:r>
              <a:rPr lang="vi-VN" sz="3200" dirty="0" smtClean="0">
                <a:latin typeface="+mj-lt"/>
              </a:rPr>
              <a:t>  +3V đến +15V </a:t>
            </a:r>
            <a:r>
              <a:rPr lang="en-US" sz="3200" dirty="0" smtClean="0">
                <a:latin typeface="+mj-lt"/>
              </a:rPr>
              <a:t>-&gt;</a:t>
            </a:r>
            <a:r>
              <a:rPr lang="vi-VN" sz="3200" dirty="0" smtClean="0">
                <a:latin typeface="+mj-lt"/>
              </a:rPr>
              <a:t> bit ‘0’ </a:t>
            </a:r>
          </a:p>
          <a:p>
            <a:r>
              <a:rPr lang="vi-VN" sz="3200" dirty="0" smtClean="0">
                <a:latin typeface="+mj-lt"/>
              </a:rPr>
              <a:t>  -3V đến -15V </a:t>
            </a:r>
            <a:r>
              <a:rPr lang="en-US" sz="3200" dirty="0" smtClean="0">
                <a:latin typeface="+mj-lt"/>
              </a:rPr>
              <a:t>-&gt;</a:t>
            </a:r>
            <a:r>
              <a:rPr lang="vi-VN" sz="3200" dirty="0" smtClean="0">
                <a:latin typeface="+mj-lt"/>
              </a:rPr>
              <a:t> bit ‘1’</a:t>
            </a:r>
            <a:endParaRPr lang="en-US" sz="3200" dirty="0">
              <a:latin typeface="+mj-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Các đặc tính về điện</a:t>
            </a:r>
            <a:endParaRPr lang="en-US" dirty="0"/>
          </a:p>
        </p:txBody>
      </p:sp>
      <p:sp>
        <p:nvSpPr>
          <p:cNvPr id="3" name="Content Placeholder 2"/>
          <p:cNvSpPr>
            <a:spLocks noGrp="1"/>
          </p:cNvSpPr>
          <p:nvPr>
            <p:ph idx="1"/>
          </p:nvPr>
        </p:nvSpPr>
        <p:spPr/>
        <p:txBody>
          <a:bodyPr>
            <a:normAutofit/>
          </a:bodyPr>
          <a:lstStyle/>
          <a:p>
            <a:r>
              <a:rPr lang="en-US" sz="3200" b="1" dirty="0" smtClean="0">
                <a:latin typeface="Times New Roman" pitchFamily="18" charset="0"/>
                <a:cs typeface="Times New Roman" pitchFamily="18" charset="0"/>
              </a:rPr>
              <a:t>Ví dụ: </a:t>
            </a:r>
            <a:r>
              <a:rPr lang="en-US" sz="3200" dirty="0" smtClean="0">
                <a:latin typeface="Times New Roman" pitchFamily="18" charset="0"/>
                <a:cs typeface="Times New Roman" pitchFamily="18" charset="0"/>
              </a:rPr>
              <a:t>Vẽ chuỗi 1010 dạng tín hiệu RS232</a:t>
            </a:r>
            <a:endParaRPr lang="en-US" sz="3200" dirty="0">
              <a:latin typeface="Times New Roman" pitchFamily="18" charset="0"/>
              <a:cs typeface="Times New Roman" pitchFamily="18" charset="0"/>
            </a:endParaRPr>
          </a:p>
        </p:txBody>
      </p:sp>
      <p:pic>
        <p:nvPicPr>
          <p:cNvPr id="9218" name="Picture 2"/>
          <p:cNvPicPr>
            <a:picLocks noChangeAspect="1" noChangeArrowheads="1"/>
          </p:cNvPicPr>
          <p:nvPr/>
        </p:nvPicPr>
        <p:blipFill>
          <a:blip r:embed="rId2"/>
          <a:srcRect/>
          <a:stretch>
            <a:fillRect/>
          </a:stretch>
        </p:blipFill>
        <p:spPr bwMode="auto">
          <a:xfrm>
            <a:off x="852488" y="2138363"/>
            <a:ext cx="10639425" cy="3571875"/>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pitchFamily="18" charset="0"/>
                <a:cs typeface="Times New Roman" pitchFamily="18" charset="0"/>
              </a:rPr>
              <a:t>Các chức năng chính</a:t>
            </a:r>
            <a:endParaRPr lang="en-US" dirty="0"/>
          </a:p>
        </p:txBody>
      </p:sp>
      <p:sp>
        <p:nvSpPr>
          <p:cNvPr id="3" name="Content Placeholder 2"/>
          <p:cNvSpPr>
            <a:spLocks noGrp="1"/>
          </p:cNvSpPr>
          <p:nvPr>
            <p:ph idx="1"/>
          </p:nvPr>
        </p:nvSpPr>
        <p:spPr/>
        <p:txBody>
          <a:bodyPr>
            <a:normAutofit fontScale="62500" lnSpcReduction="20000"/>
          </a:bodyPr>
          <a:lstStyle/>
          <a:p>
            <a:pPr>
              <a:buFont typeface="Wingdings" pitchFamily="2" charset="2"/>
              <a:buChar char="v"/>
            </a:pPr>
            <a:r>
              <a:rPr lang="en-US" sz="3200" b="1" dirty="0" smtClean="0">
                <a:latin typeface="Times New Roman" pitchFamily="18" charset="0"/>
                <a:cs typeface="Times New Roman" pitchFamily="18" charset="0"/>
              </a:rPr>
              <a:t>DB-25 (thiết bị DTE)</a:t>
            </a:r>
          </a:p>
          <a:p>
            <a:r>
              <a:rPr lang="vi-VN" sz="3200" dirty="0" smtClean="0">
                <a:latin typeface="Times New Roman" pitchFamily="18" charset="0"/>
                <a:cs typeface="Times New Roman" pitchFamily="18" charset="0"/>
              </a:rPr>
              <a:t>Chân 1: Vỏ bọc. </a:t>
            </a:r>
          </a:p>
          <a:p>
            <a:r>
              <a:rPr lang="vi-VN" sz="3200" dirty="0" smtClean="0">
                <a:latin typeface="Times New Roman" pitchFamily="18" charset="0"/>
                <a:cs typeface="Times New Roman" pitchFamily="18" charset="0"/>
              </a:rPr>
              <a:t>Chân 2: Phát dữ liệu </a:t>
            </a:r>
          </a:p>
          <a:p>
            <a:r>
              <a:rPr lang="vi-VN" sz="3200" dirty="0" smtClean="0">
                <a:latin typeface="Times New Roman" pitchFamily="18" charset="0"/>
                <a:cs typeface="Times New Roman" pitchFamily="18" charset="0"/>
              </a:rPr>
              <a:t>Chân 3: Thu dữ liệu </a:t>
            </a:r>
          </a:p>
          <a:p>
            <a:r>
              <a:rPr lang="vi-VN" sz="3200" dirty="0" smtClean="0">
                <a:latin typeface="Times New Roman" pitchFamily="18" charset="0"/>
                <a:cs typeface="Times New Roman" pitchFamily="18" charset="0"/>
              </a:rPr>
              <a:t>Chân 4: yêu cầu gởi </a:t>
            </a:r>
          </a:p>
          <a:p>
            <a:r>
              <a:rPr lang="vi-VN" sz="3200" dirty="0" smtClean="0">
                <a:latin typeface="Times New Roman" pitchFamily="18" charset="0"/>
                <a:cs typeface="Times New Roman" pitchFamily="18" charset="0"/>
              </a:rPr>
              <a:t>Chân 5: Xoá để gởi </a:t>
            </a:r>
          </a:p>
          <a:p>
            <a:r>
              <a:rPr lang="vi-VN" sz="3200" dirty="0" smtClean="0">
                <a:latin typeface="Times New Roman" pitchFamily="18" charset="0"/>
                <a:cs typeface="Times New Roman" pitchFamily="18" charset="0"/>
              </a:rPr>
              <a:t>Chân 6: Báo hiệu thiết bị DCE sẵn sàng </a:t>
            </a:r>
          </a:p>
          <a:p>
            <a:r>
              <a:rPr lang="vi-VN" sz="3200" dirty="0" smtClean="0">
                <a:latin typeface="Times New Roman" pitchFamily="18" charset="0"/>
                <a:cs typeface="Times New Roman" pitchFamily="18" charset="0"/>
              </a:rPr>
              <a:t>Chân 7: Mass chung </a:t>
            </a:r>
          </a:p>
          <a:p>
            <a:r>
              <a:rPr lang="vi-VN" sz="3200" dirty="0" smtClean="0">
                <a:latin typeface="Times New Roman" pitchFamily="18" charset="0"/>
                <a:cs typeface="Times New Roman" pitchFamily="18" charset="0"/>
              </a:rPr>
              <a:t>Chân 8: Phát hiện tín hiệu sóng mang trên </a:t>
            </a:r>
            <a:endParaRPr lang="en-US" sz="3200" dirty="0" smtClean="0">
              <a:latin typeface="Times New Roman" pitchFamily="18" charset="0"/>
              <a:cs typeface="Times New Roman" pitchFamily="18" charset="0"/>
            </a:endParaRPr>
          </a:p>
          <a:p>
            <a:pPr>
              <a:buNone/>
            </a:pPr>
            <a:r>
              <a:rPr lang="en-US" sz="3200" dirty="0" smtClean="0">
                <a:latin typeface="Times New Roman" pitchFamily="18" charset="0"/>
                <a:cs typeface="Times New Roman" pitchFamily="18" charset="0"/>
              </a:rPr>
              <a:t>    </a:t>
            </a:r>
            <a:r>
              <a:rPr lang="vi-VN" sz="3200" dirty="0" smtClean="0">
                <a:latin typeface="Times New Roman" pitchFamily="18" charset="0"/>
                <a:cs typeface="Times New Roman" pitchFamily="18" charset="0"/>
              </a:rPr>
              <a:t>đường dây </a:t>
            </a:r>
          </a:p>
          <a:p>
            <a:r>
              <a:rPr lang="vi-VN" sz="3200" dirty="0" smtClean="0">
                <a:latin typeface="Times New Roman" pitchFamily="18" charset="0"/>
                <a:cs typeface="Times New Roman" pitchFamily="18" charset="0"/>
              </a:rPr>
              <a:t>Chân 17: Đồng bộ thu </a:t>
            </a:r>
          </a:p>
          <a:p>
            <a:r>
              <a:rPr lang="vi-VN" sz="3200" dirty="0" smtClean="0">
                <a:latin typeface="Times New Roman" pitchFamily="18" charset="0"/>
                <a:cs typeface="Times New Roman" pitchFamily="18" charset="0"/>
              </a:rPr>
              <a:t>Chân 20: Báo hiệu thiết bị DTE sẵn sàng </a:t>
            </a:r>
          </a:p>
          <a:p>
            <a:r>
              <a:rPr lang="vi-VN" sz="3200" dirty="0" smtClean="0">
                <a:latin typeface="Times New Roman" pitchFamily="18" charset="0"/>
                <a:cs typeface="Times New Roman" pitchFamily="18" charset="0"/>
              </a:rPr>
              <a:t>Chân 22: Chỉ định báo hiệu </a:t>
            </a:r>
          </a:p>
          <a:p>
            <a:r>
              <a:rPr lang="vi-VN" sz="3200" dirty="0" smtClean="0">
                <a:latin typeface="Times New Roman" pitchFamily="18" charset="0"/>
                <a:cs typeface="Times New Roman" pitchFamily="18" charset="0"/>
              </a:rPr>
              <a:t>Chân 24: Đồng bộ phát </a:t>
            </a:r>
            <a:endParaRPr lang="en-US" sz="3200" dirty="0">
              <a:latin typeface="Times New Roman" pitchFamily="18" charset="0"/>
              <a:cs typeface="Times New Roman" pitchFamily="18" charset="0"/>
            </a:endParaRPr>
          </a:p>
        </p:txBody>
      </p:sp>
      <p:pic>
        <p:nvPicPr>
          <p:cNvPr id="10242" name="Picture 2"/>
          <p:cNvPicPr>
            <a:picLocks noChangeAspect="1" noChangeArrowheads="1"/>
          </p:cNvPicPr>
          <p:nvPr/>
        </p:nvPicPr>
        <p:blipFill>
          <a:blip r:embed="rId2"/>
          <a:srcRect/>
          <a:stretch>
            <a:fillRect/>
          </a:stretch>
        </p:blipFill>
        <p:spPr bwMode="auto">
          <a:xfrm>
            <a:off x="9339263" y="447675"/>
            <a:ext cx="2581275" cy="1200150"/>
          </a:xfrm>
          <a:prstGeom prst="rect">
            <a:avLst/>
          </a:prstGeom>
          <a:noFill/>
          <a:ln w="9525">
            <a:noFill/>
            <a:miter lim="800000"/>
            <a:headEnd/>
            <a:tailEnd/>
          </a:ln>
          <a:effectLst/>
        </p:spPr>
      </p:pic>
      <p:pic>
        <p:nvPicPr>
          <p:cNvPr id="10243" name="Picture 3"/>
          <p:cNvPicPr>
            <a:picLocks noChangeAspect="1" noChangeArrowheads="1"/>
          </p:cNvPicPr>
          <p:nvPr/>
        </p:nvPicPr>
        <p:blipFill>
          <a:blip r:embed="rId3"/>
          <a:srcRect/>
          <a:stretch>
            <a:fillRect/>
          </a:stretch>
        </p:blipFill>
        <p:spPr bwMode="auto">
          <a:xfrm>
            <a:off x="5661535" y="1657350"/>
            <a:ext cx="5794366" cy="49339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Các chức năng chính</a:t>
            </a:r>
            <a:endParaRPr lang="en-US" dirty="0"/>
          </a:p>
        </p:txBody>
      </p:sp>
      <p:sp>
        <p:nvSpPr>
          <p:cNvPr id="3" name="Content Placeholder 2"/>
          <p:cNvSpPr>
            <a:spLocks noGrp="1"/>
          </p:cNvSpPr>
          <p:nvPr>
            <p:ph idx="1"/>
          </p:nvPr>
        </p:nvSpPr>
        <p:spPr>
          <a:xfrm>
            <a:off x="572493" y="1431235"/>
            <a:ext cx="7447557" cy="4866198"/>
          </a:xfrm>
        </p:spPr>
        <p:txBody>
          <a:bodyPr>
            <a:normAutofit fontScale="85000" lnSpcReduction="20000"/>
          </a:bodyPr>
          <a:lstStyle/>
          <a:p>
            <a:pPr>
              <a:buFont typeface="Wingdings" pitchFamily="2" charset="2"/>
              <a:buChar char="v"/>
            </a:pPr>
            <a:r>
              <a:rPr lang="en-US" b="1" dirty="0" smtClean="0">
                <a:latin typeface="Times New Roman" pitchFamily="18" charset="0"/>
                <a:cs typeface="Times New Roman" pitchFamily="18" charset="0"/>
              </a:rPr>
              <a:t> DB-9 (thiết bị DTE)</a:t>
            </a:r>
          </a:p>
          <a:p>
            <a:r>
              <a:rPr lang="vi-VN" dirty="0" smtClean="0">
                <a:latin typeface="Times New Roman" pitchFamily="18" charset="0"/>
                <a:cs typeface="Times New Roman" pitchFamily="18" charset="0"/>
              </a:rPr>
              <a:t>Chân 1: Phát hiện tín hiệu sóng mang trên đường dây ( tương ứng DB-25 Chân 8) </a:t>
            </a:r>
          </a:p>
          <a:p>
            <a:r>
              <a:rPr lang="vi-VN" dirty="0" smtClean="0">
                <a:latin typeface="Times New Roman" pitchFamily="18" charset="0"/>
                <a:cs typeface="Times New Roman" pitchFamily="18" charset="0"/>
              </a:rPr>
              <a:t>Chân 2: Phát dữ liệu  (tương  ứng DB-25 Chân 2) </a:t>
            </a:r>
          </a:p>
          <a:p>
            <a:r>
              <a:rPr lang="vi-VN" dirty="0" smtClean="0">
                <a:latin typeface="Times New Roman" pitchFamily="18" charset="0"/>
                <a:cs typeface="Times New Roman" pitchFamily="18" charset="0"/>
              </a:rPr>
              <a:t>Chân 3: Thu dữ liệu  (tương  ứng DB-25 Chân 3) </a:t>
            </a:r>
          </a:p>
          <a:p>
            <a:r>
              <a:rPr lang="vi-VN" dirty="0" smtClean="0">
                <a:latin typeface="Times New Roman" pitchFamily="18" charset="0"/>
                <a:cs typeface="Times New Roman" pitchFamily="18" charset="0"/>
              </a:rPr>
              <a:t>Chân 4: Báo hiệu thiết bị DTE sẵn sàng (tương ứng DB-25 Chân 20) </a:t>
            </a:r>
          </a:p>
          <a:p>
            <a:r>
              <a:rPr lang="vi-VN" dirty="0" smtClean="0">
                <a:latin typeface="Times New Roman" pitchFamily="18" charset="0"/>
                <a:cs typeface="Times New Roman" pitchFamily="18" charset="0"/>
              </a:rPr>
              <a:t>Chân 5: Mass chung  tương  ứng (DB-25 Chân 7) </a:t>
            </a:r>
          </a:p>
          <a:p>
            <a:r>
              <a:rPr lang="vi-VN" dirty="0" smtClean="0">
                <a:latin typeface="Times New Roman" pitchFamily="18" charset="0"/>
                <a:cs typeface="Times New Roman" pitchFamily="18" charset="0"/>
              </a:rPr>
              <a:t>Chân 6: Báo hiệu thiết bị DCE sẵn sàng (tương ứng DB 25 Chân 6) </a:t>
            </a:r>
          </a:p>
          <a:p>
            <a:r>
              <a:rPr lang="vi-VN" dirty="0" smtClean="0">
                <a:latin typeface="Times New Roman" pitchFamily="18" charset="0"/>
                <a:cs typeface="Times New Roman" pitchFamily="18" charset="0"/>
              </a:rPr>
              <a:t>Chân 7: Yêu cầu gởi  (tương  ứng DB-25 Chân 4) </a:t>
            </a:r>
          </a:p>
          <a:p>
            <a:r>
              <a:rPr lang="vi-VN" dirty="0" smtClean="0">
                <a:latin typeface="Times New Roman" pitchFamily="18" charset="0"/>
                <a:cs typeface="Times New Roman" pitchFamily="18" charset="0"/>
              </a:rPr>
              <a:t>Chân 8: Xoá  để gởi  (tương  ứng DB-25 Chân 5) </a:t>
            </a:r>
          </a:p>
          <a:p>
            <a:r>
              <a:rPr lang="vi-VN" dirty="0" smtClean="0">
                <a:latin typeface="Times New Roman" pitchFamily="18" charset="0"/>
                <a:cs typeface="Times New Roman" pitchFamily="18" charset="0"/>
              </a:rPr>
              <a:t>Chân 9: Chỉ  định báo hiệu  (tương  ứng DB-25 Chân 22) </a:t>
            </a:r>
            <a:endParaRPr lang="en-US" dirty="0" smtClean="0">
              <a:latin typeface="Times New Roman" pitchFamily="18" charset="0"/>
              <a:cs typeface="Times New Roman" pitchFamily="18" charset="0"/>
            </a:endParaRPr>
          </a:p>
          <a:p>
            <a:endParaRPr lang="en-US" dirty="0"/>
          </a:p>
        </p:txBody>
      </p:sp>
      <p:pic>
        <p:nvPicPr>
          <p:cNvPr id="11266" name="Picture 2"/>
          <p:cNvPicPr>
            <a:picLocks noChangeAspect="1" noChangeArrowheads="1"/>
          </p:cNvPicPr>
          <p:nvPr/>
        </p:nvPicPr>
        <p:blipFill>
          <a:blip r:embed="rId2"/>
          <a:srcRect/>
          <a:stretch>
            <a:fillRect/>
          </a:stretch>
        </p:blipFill>
        <p:spPr bwMode="auto">
          <a:xfrm>
            <a:off x="8191500" y="2264741"/>
            <a:ext cx="3581400" cy="3386759"/>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5.5 Các chuẩn giao diện khác </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Ch</a:t>
            </a:r>
            <a:r>
              <a:rPr lang="en-US" sz="3200" dirty="0" smtClean="0">
                <a:latin typeface="Times New Roman" pitchFamily="18" charset="0"/>
                <a:cs typeface="Times New Roman" pitchFamily="18" charset="0"/>
              </a:rPr>
              <a:t>uẩn</a:t>
            </a:r>
            <a:r>
              <a:rPr lang="vi-VN" sz="3200" dirty="0" smtClean="0">
                <a:latin typeface="+mj-lt"/>
              </a:rPr>
              <a:t> EIA-232 bị giới hạn: </a:t>
            </a:r>
          </a:p>
          <a:p>
            <a:r>
              <a:rPr lang="vi-VN" sz="3200" dirty="0" smtClean="0">
                <a:latin typeface="+mj-lt"/>
              </a:rPr>
              <a:t>Cự ly 50 feet (15 mét)  </a:t>
            </a:r>
          </a:p>
          <a:p>
            <a:r>
              <a:rPr lang="vi-VN" sz="3200" dirty="0" smtClean="0">
                <a:latin typeface="+mj-lt"/>
              </a:rPr>
              <a:t>Tốc độ truyền 20Kbps.  </a:t>
            </a:r>
          </a:p>
          <a:p>
            <a:r>
              <a:rPr lang="vi-VN" sz="3200" dirty="0" smtClean="0">
                <a:latin typeface="+mj-lt"/>
              </a:rPr>
              <a:t>Từ nhu cầu cần tăng tốc độ và cự ly</a:t>
            </a:r>
            <a:r>
              <a:rPr lang="en-US" sz="3200" dirty="0" smtClean="0">
                <a:latin typeface="+mj-lt"/>
              </a:rPr>
              <a:t>, </a:t>
            </a:r>
            <a:r>
              <a:rPr lang="en-US" sz="3200" dirty="0" smtClean="0">
                <a:latin typeface="Times New Roman" pitchFamily="18" charset="0"/>
                <a:cs typeface="Times New Roman" pitchFamily="18" charset="0"/>
              </a:rPr>
              <a:t>t</a:t>
            </a:r>
            <a:r>
              <a:rPr lang="vi-VN" sz="3200" dirty="0" smtClean="0">
                <a:latin typeface="+mj-lt"/>
              </a:rPr>
              <a:t>ổ chức EIA và ITU-T đã đưa ra thêm các </a:t>
            </a:r>
            <a:r>
              <a:rPr lang="en-US" sz="3200" dirty="0" smtClean="0">
                <a:latin typeface="+mj-lt"/>
              </a:rPr>
              <a:t>c</a:t>
            </a:r>
            <a:r>
              <a:rPr lang="vi-VN" sz="3200" dirty="0" smtClean="0">
                <a:latin typeface="+mj-lt"/>
              </a:rPr>
              <a:t>h</a:t>
            </a:r>
            <a:r>
              <a:rPr lang="en-US" sz="3200" dirty="0" smtClean="0">
                <a:latin typeface="Times New Roman" pitchFamily="18" charset="0"/>
                <a:cs typeface="Times New Roman" pitchFamily="18" charset="0"/>
              </a:rPr>
              <a:t>uẩn</a:t>
            </a:r>
            <a:r>
              <a:rPr lang="vi-VN" sz="3200" dirty="0" smtClean="0">
                <a:latin typeface="+mj-lt"/>
              </a:rPr>
              <a:t>: EIA-449, EIA-485 EIA-530, và X.21 </a:t>
            </a:r>
            <a:endParaRPr lang="en-US" sz="3200" dirty="0">
              <a:latin typeface="+mj-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EIA-449</a:t>
            </a:r>
            <a:endParaRPr lang="en-US" dirty="0"/>
          </a:p>
        </p:txBody>
      </p:sp>
      <p:sp>
        <p:nvSpPr>
          <p:cNvPr id="3" name="Content Placeholder 2"/>
          <p:cNvSpPr>
            <a:spLocks noGrp="1"/>
          </p:cNvSpPr>
          <p:nvPr>
            <p:ph idx="1"/>
          </p:nvPr>
        </p:nvSpPr>
        <p:spPr/>
        <p:txBody>
          <a:bodyPr>
            <a:normAutofit/>
          </a:bodyPr>
          <a:lstStyle/>
          <a:p>
            <a:r>
              <a:rPr lang="en-US" sz="3200" b="1" dirty="0" smtClean="0">
                <a:latin typeface="Times New Roman" pitchFamily="18" charset="0"/>
                <a:cs typeface="Times New Roman" pitchFamily="18" charset="0"/>
              </a:rPr>
              <a:t>Đặc tính cơ: DB-37 và DB-9</a:t>
            </a:r>
          </a:p>
          <a:p>
            <a:endParaRPr lang="en-US" sz="3200" dirty="0" smtClean="0">
              <a:latin typeface="Times New Roman" pitchFamily="18" charset="0"/>
              <a:cs typeface="Times New Roman" pitchFamily="18" charset="0"/>
            </a:endParaRPr>
          </a:p>
          <a:p>
            <a:endParaRPr lang="en-US" sz="3200" dirty="0" smtClean="0">
              <a:latin typeface="Times New Roman" pitchFamily="18" charset="0"/>
              <a:cs typeface="Times New Roman" pitchFamily="18" charset="0"/>
            </a:endParaRPr>
          </a:p>
          <a:p>
            <a:endParaRPr lang="en-US" sz="3200" dirty="0" smtClean="0">
              <a:latin typeface="Times New Roman" pitchFamily="18" charset="0"/>
              <a:cs typeface="Times New Roman" pitchFamily="18" charset="0"/>
            </a:endParaRPr>
          </a:p>
          <a:p>
            <a:endParaRPr lang="en-US" sz="3200" dirty="0" smtClean="0">
              <a:latin typeface="Times New Roman" pitchFamily="18" charset="0"/>
              <a:cs typeface="Times New Roman" pitchFamily="18" charset="0"/>
            </a:endParaRPr>
          </a:p>
          <a:p>
            <a:r>
              <a:rPr lang="vi-VN" sz="3200" b="1" dirty="0" smtClean="0">
                <a:latin typeface="Times New Roman" pitchFamily="18" charset="0"/>
                <a:cs typeface="Times New Roman" pitchFamily="18" charset="0"/>
              </a:rPr>
              <a:t>Các đặc tính về điện của RS-423 và RS-422 </a:t>
            </a:r>
          </a:p>
          <a:p>
            <a:r>
              <a:rPr lang="vi-VN" sz="3200" dirty="0" smtClean="0">
                <a:latin typeface="Times New Roman" pitchFamily="18" charset="0"/>
                <a:cs typeface="Times New Roman" pitchFamily="18" charset="0"/>
              </a:rPr>
              <a:t>EIA-449 dùng hai </a:t>
            </a:r>
            <a:r>
              <a:rPr lang="en-US" sz="3200" dirty="0" smtClean="0">
                <a:latin typeface="Times New Roman" pitchFamily="18" charset="0"/>
                <a:cs typeface="Times New Roman" pitchFamily="18" charset="0"/>
              </a:rPr>
              <a:t>chuẩn</a:t>
            </a:r>
            <a:r>
              <a:rPr lang="vi-VN" sz="3200" dirty="0" smtClean="0">
                <a:latin typeface="Times New Roman" pitchFamily="18" charset="0"/>
                <a:cs typeface="Times New Roman" pitchFamily="18" charset="0"/>
              </a:rPr>
              <a:t> để định nghĩa các đặc tính về điện: RS-423 (cho mạch không cân bằng) và RS-422 (dùng cho mạch cân bằng)</a:t>
            </a:r>
            <a:endParaRPr lang="en-US" sz="3200" dirty="0">
              <a:latin typeface="Times New Roman" pitchFamily="18" charset="0"/>
              <a:cs typeface="Times New Roman" pitchFamily="18" charset="0"/>
            </a:endParaRPr>
          </a:p>
        </p:txBody>
      </p:sp>
      <p:pic>
        <p:nvPicPr>
          <p:cNvPr id="12290" name="Picture 2"/>
          <p:cNvPicPr>
            <a:picLocks noChangeAspect="1" noChangeArrowheads="1"/>
          </p:cNvPicPr>
          <p:nvPr/>
        </p:nvPicPr>
        <p:blipFill>
          <a:blip r:embed="rId2"/>
          <a:srcRect/>
          <a:stretch>
            <a:fillRect/>
          </a:stretch>
        </p:blipFill>
        <p:spPr bwMode="auto">
          <a:xfrm>
            <a:off x="2624139" y="2106680"/>
            <a:ext cx="6253162" cy="2027169"/>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EIA-530</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EIA-449 cung cấp các chức năng tốt hơn EIA-232, tuy nhiên lại cần dùng DB-37 trong khi công nghiệp lại chuộng DB-25. Nên phát triển </a:t>
            </a:r>
            <a:r>
              <a:rPr lang="en-US" sz="3200" dirty="0" smtClean="0">
                <a:latin typeface="Times New Roman" pitchFamily="18" charset="0"/>
                <a:cs typeface="Times New Roman" pitchFamily="18" charset="0"/>
              </a:rPr>
              <a:t>chuẩn</a:t>
            </a:r>
            <a:r>
              <a:rPr lang="vi-VN" sz="3200" dirty="0" smtClean="0">
                <a:latin typeface="+mj-lt"/>
              </a:rPr>
              <a:t> EIA-530 là </a:t>
            </a:r>
            <a:r>
              <a:rPr lang="en-US" sz="3200" dirty="0" smtClean="0">
                <a:latin typeface="Times New Roman" pitchFamily="18" charset="0"/>
                <a:cs typeface="Times New Roman" pitchFamily="18" charset="0"/>
              </a:rPr>
              <a:t>chuẩn</a:t>
            </a:r>
            <a:r>
              <a:rPr lang="vi-VN" sz="3200" dirty="0" smtClean="0">
                <a:latin typeface="+mj-lt"/>
              </a:rPr>
              <a:t> EIA-449 nhưng dùng DB-25. </a:t>
            </a:r>
          </a:p>
          <a:p>
            <a:r>
              <a:rPr lang="vi-VN" sz="3200" dirty="0" smtClean="0">
                <a:latin typeface="+mj-lt"/>
              </a:rPr>
              <a:t>Chức năng các chân của EIA-530 về cơ bản là giống EIA-449 (tra lại cho từng trường hợp cụ thể). </a:t>
            </a:r>
          </a:p>
          <a:p>
            <a:r>
              <a:rPr lang="vi-VN" sz="3200" dirty="0" smtClean="0">
                <a:latin typeface="+mj-lt"/>
              </a:rPr>
              <a:t>Thực tế, dùng RS-232 và RS-485. </a:t>
            </a:r>
          </a:p>
          <a:p>
            <a:r>
              <a:rPr lang="vi-VN" sz="3200" dirty="0" smtClean="0">
                <a:latin typeface="+mj-lt"/>
              </a:rPr>
              <a:t>RS</a:t>
            </a:r>
            <a:r>
              <a:rPr lang="en-US" sz="3200" dirty="0" smtClean="0">
                <a:latin typeface="+mj-lt"/>
              </a:rPr>
              <a:t>-</a:t>
            </a:r>
            <a:r>
              <a:rPr lang="vi-VN" sz="3200" dirty="0" smtClean="0">
                <a:latin typeface="+mj-lt"/>
              </a:rPr>
              <a:t>485 giống như RS</a:t>
            </a:r>
            <a:r>
              <a:rPr lang="en-US" sz="3200" dirty="0" smtClean="0">
                <a:latin typeface="+mj-lt"/>
              </a:rPr>
              <a:t>-</a:t>
            </a:r>
            <a:r>
              <a:rPr lang="vi-VN" sz="3200" dirty="0" smtClean="0">
                <a:latin typeface="+mj-lt"/>
              </a:rPr>
              <a:t>422 nhưng thích hợp cho cấu hình đa điểm, có 32 thiết bị mắc vào kết nối, được dùng trong PLC.</a:t>
            </a:r>
            <a:endParaRPr lang="en-US" sz="3200" dirty="0">
              <a:latin typeface="+mj-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X.21</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dirty="0" smtClean="0">
                <a:latin typeface="+mj-lt"/>
              </a:rPr>
              <a:t> </a:t>
            </a:r>
            <a:r>
              <a:rPr lang="vi-VN" sz="3200" dirty="0" smtClean="0">
                <a:latin typeface="+mj-lt"/>
              </a:rPr>
              <a:t>Là </a:t>
            </a:r>
            <a:r>
              <a:rPr lang="en-US" sz="3200" dirty="0" smtClean="0">
                <a:latin typeface="Times New Roman" pitchFamily="18" charset="0"/>
                <a:cs typeface="Times New Roman" pitchFamily="18" charset="0"/>
              </a:rPr>
              <a:t>chuẫn</a:t>
            </a:r>
            <a:r>
              <a:rPr lang="vi-VN" sz="3200" dirty="0" smtClean="0">
                <a:latin typeface="+mj-lt"/>
              </a:rPr>
              <a:t> giao diện do ITU-T thiết kế nhằm giải quyết các vấn đề còn tồn tại trong giao diện EIA và hướng đến xu hướng thích hợp cho mọi dạng thông tin số.</a:t>
            </a:r>
            <a:endParaRPr lang="en-US" sz="3200" dirty="0" smtClean="0">
              <a:latin typeface="+mj-lt"/>
            </a:endParaRPr>
          </a:p>
          <a:p>
            <a:pPr>
              <a:buFont typeface="Wingdings" pitchFamily="2" charset="2"/>
              <a:buChar char="v"/>
            </a:pPr>
            <a:r>
              <a:rPr lang="en-US" sz="3200" dirty="0" smtClean="0">
                <a:latin typeface="+mj-lt"/>
              </a:rPr>
              <a:t> </a:t>
            </a:r>
            <a:r>
              <a:rPr lang="vi-VN" sz="3200" dirty="0" smtClean="0">
                <a:latin typeface="+mj-lt"/>
              </a:rPr>
              <a:t>Sử dụng đường dữ liệu để điều khiển</a:t>
            </a:r>
            <a:endParaRPr lang="en-US" sz="3200" dirty="0" smtClean="0">
              <a:latin typeface="+mj-lt"/>
            </a:endParaRPr>
          </a:p>
          <a:p>
            <a:r>
              <a:rPr lang="vi-VN" sz="3200" dirty="0" smtClean="0">
                <a:latin typeface="+mj-lt"/>
              </a:rPr>
              <a:t>X.21 giải quyết bài toán này cho phép giao tiếp dùng  ít chân hơn nhưng có khả năng dùng được trong hệ thống thông tin số  </a:t>
            </a:r>
          </a:p>
          <a:p>
            <a:r>
              <a:rPr lang="vi-VN" sz="3200" dirty="0" smtClean="0">
                <a:latin typeface="+mj-lt"/>
              </a:rPr>
              <a:t>X.21 được thiết kế để hoạt động với mạch cân bằng, tốc độ 64Kbps, và phối hợp với nhiều </a:t>
            </a:r>
            <a:r>
              <a:rPr lang="en-US" sz="3200" dirty="0" smtClean="0">
                <a:latin typeface="Times New Roman" pitchFamily="18" charset="0"/>
                <a:cs typeface="Times New Roman" pitchFamily="18" charset="0"/>
              </a:rPr>
              <a:t>chuẩn</a:t>
            </a:r>
            <a:r>
              <a:rPr lang="vi-VN" sz="3200" dirty="0" smtClean="0">
                <a:latin typeface="+mj-lt"/>
              </a:rPr>
              <a:t> công nghiệp hiện tại.</a:t>
            </a:r>
            <a:endParaRPr lang="en-US" sz="3200" dirty="0">
              <a:latin typeface="+mj-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X.21</a:t>
            </a:r>
            <a:endParaRPr lang="en-US" dirty="0"/>
          </a:p>
        </p:txBody>
      </p:sp>
      <p:sp>
        <p:nvSpPr>
          <p:cNvPr id="3" name="Content Placeholder 2"/>
          <p:cNvSpPr>
            <a:spLocks noGrp="1"/>
          </p:cNvSpPr>
          <p:nvPr>
            <p:ph idx="1"/>
          </p:nvPr>
        </p:nvSpPr>
        <p:spPr/>
        <p:txBody>
          <a:bodyPr>
            <a:noAutofit/>
          </a:bodyPr>
          <a:lstStyle/>
          <a:p>
            <a:r>
              <a:rPr lang="en-US" sz="3200" dirty="0" smtClean="0">
                <a:latin typeface="Times New Roman" pitchFamily="18" charset="0"/>
                <a:cs typeface="Times New Roman" pitchFamily="18" charset="0"/>
              </a:rPr>
              <a:t>Chức năng các chân</a:t>
            </a:r>
          </a:p>
          <a:p>
            <a:endParaRPr lang="en-US" sz="3200" dirty="0" smtClean="0">
              <a:latin typeface="Times New Roman" pitchFamily="18" charset="0"/>
              <a:cs typeface="Times New Roman" pitchFamily="18" charset="0"/>
            </a:endParaRPr>
          </a:p>
          <a:p>
            <a:endParaRPr lang="en-US" sz="3200" dirty="0" smtClean="0">
              <a:latin typeface="Times New Roman" pitchFamily="18" charset="0"/>
              <a:cs typeface="Times New Roman" pitchFamily="18" charset="0"/>
            </a:endParaRPr>
          </a:p>
          <a:p>
            <a:pPr>
              <a:buNone/>
            </a:pPr>
            <a:endParaRPr lang="en-US" sz="3200" dirty="0" smtClean="0">
              <a:latin typeface="Times New Roman" pitchFamily="18" charset="0"/>
              <a:cs typeface="Times New Roman" pitchFamily="18" charset="0"/>
            </a:endParaRPr>
          </a:p>
          <a:p>
            <a:pPr>
              <a:buNone/>
            </a:pPr>
            <a:endParaRPr lang="en-US" sz="3200" dirty="0" smtClean="0">
              <a:latin typeface="Times New Roman" pitchFamily="18" charset="0"/>
              <a:cs typeface="Times New Roman" pitchFamily="18" charset="0"/>
            </a:endParaRPr>
          </a:p>
          <a:p>
            <a:r>
              <a:rPr lang="vi-VN" sz="3200" dirty="0" smtClean="0">
                <a:latin typeface="Times New Roman" pitchFamily="18" charset="0"/>
                <a:cs typeface="Times New Roman" pitchFamily="18" charset="0"/>
              </a:rPr>
              <a:t>Đồng bộ byte: dạng byte, không dùng đồng bộ bit, cải thiện tính năng đồng bộ. </a:t>
            </a:r>
          </a:p>
          <a:p>
            <a:r>
              <a:rPr lang="vi-VN" sz="3200" dirty="0" smtClean="0">
                <a:latin typeface="Times New Roman" pitchFamily="18" charset="0"/>
                <a:cs typeface="Times New Roman" pitchFamily="18" charset="0"/>
              </a:rPr>
              <a:t>Điều khiển và khởi tạo: dùng khởi tạo trong quá trình bắt tay (handshaking), hay chấp thuận truyền. </a:t>
            </a:r>
            <a:endParaRPr lang="en-US" sz="3200" dirty="0">
              <a:latin typeface="Times New Roman" pitchFamily="18" charset="0"/>
              <a:cs typeface="Times New Roman" pitchFamily="18" charset="0"/>
            </a:endParaRPr>
          </a:p>
        </p:txBody>
      </p:sp>
      <p:pic>
        <p:nvPicPr>
          <p:cNvPr id="13314" name="Picture 2"/>
          <p:cNvPicPr>
            <a:picLocks noChangeAspect="1" noChangeArrowheads="1"/>
          </p:cNvPicPr>
          <p:nvPr/>
        </p:nvPicPr>
        <p:blipFill>
          <a:blip r:embed="rId2"/>
          <a:srcRect/>
          <a:stretch>
            <a:fillRect/>
          </a:stretch>
        </p:blipFill>
        <p:spPr bwMode="auto">
          <a:xfrm>
            <a:off x="2057400" y="2343150"/>
            <a:ext cx="7810500" cy="15621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624</TotalTime>
  <Words>1500</Words>
  <Application>Microsoft Office PowerPoint</Application>
  <PresentationFormat>Custom</PresentationFormat>
  <Paragraphs>143</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KỸ THUẬT TRUYỀN SỐ LIỆU</vt:lpstr>
      <vt:lpstr>Nội dung môn học</vt:lpstr>
      <vt:lpstr>                 Chương 5</vt:lpstr>
      <vt:lpstr>Nội dung chương 5</vt:lpstr>
      <vt:lpstr>5.1 Truyền dữ liệu số</vt:lpstr>
      <vt:lpstr>Truyền song song</vt:lpstr>
      <vt:lpstr>Truyền nối tiếp</vt:lpstr>
      <vt:lpstr>Truyền nối tiếp</vt:lpstr>
      <vt:lpstr>Truyền không đồng bộ</vt:lpstr>
      <vt:lpstr>Truyền nối tiếp không đồng bộ</vt:lpstr>
      <vt:lpstr>Truyền nối tiếp đồng bộ</vt:lpstr>
      <vt:lpstr>5.2 Giao diện DTE - DCE </vt:lpstr>
      <vt:lpstr>5.2 Giao diện DTE - DCE </vt:lpstr>
      <vt:lpstr>5.3 Các chuẩn giao tiếp</vt:lpstr>
      <vt:lpstr>5.4 Giao diện EIA – 232</vt:lpstr>
      <vt:lpstr>Các đặc tính về cơ</vt:lpstr>
      <vt:lpstr>Các đặc tính về điện</vt:lpstr>
      <vt:lpstr>Các đặc tính về điện</vt:lpstr>
      <vt:lpstr>Các chức năng chính</vt:lpstr>
      <vt:lpstr>Các chức năng chính</vt:lpstr>
      <vt:lpstr>5.5 Các chuẩn giao diện khác </vt:lpstr>
      <vt:lpstr>EIA-449</vt:lpstr>
      <vt:lpstr>EIA-530</vt:lpstr>
      <vt:lpstr>X.21</vt:lpstr>
      <vt:lpstr>X.21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NKCHI</cp:lastModifiedBy>
  <cp:revision>86</cp:revision>
  <dcterms:created xsi:type="dcterms:W3CDTF">2020-05-27T05:21:30Z</dcterms:created>
  <dcterms:modified xsi:type="dcterms:W3CDTF">2021-12-23T08:51:25Z</dcterms:modified>
</cp:coreProperties>
</file>