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3" r:id="rId6"/>
    <p:sldId id="274" r:id="rId7"/>
    <p:sldId id="275" r:id="rId8"/>
    <p:sldId id="276" r:id="rId9"/>
    <p:sldId id="277" r:id="rId10"/>
    <p:sldId id="278" r:id="rId11"/>
    <p:sldId id="279" r:id="rId12"/>
    <p:sldId id="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989" autoAdjust="0"/>
    <p:restoredTop sz="94660"/>
  </p:normalViewPr>
  <p:slideViewPr>
    <p:cSldViewPr snapToGrid="0">
      <p:cViewPr>
        <p:scale>
          <a:sx n="50" d="100"/>
          <a:sy n="50" d="100"/>
        </p:scale>
        <p:origin x="-1436" y="-5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587BE8D5-EACC-475F-B772-4C6E30ECC27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687351A-05B1-4209-ABD5-8A3B58E66BE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E6464CF-570F-4361-9C22-BC3CA88D148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6C573B90-884B-4A9F-A8FA-7F1E17F9DBD1}"/>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xmlns=""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799B471D-3ADB-4293-9A4B-67CF34A75DFE}"/>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8" name="Footer Placeholder 7">
            <a:extLst>
              <a:ext uri="{FF2B5EF4-FFF2-40B4-BE49-F238E27FC236}">
                <a16:creationId xmlns:a16="http://schemas.microsoft.com/office/drawing/2014/main" xmlns=""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26201745-3FA6-4569-A489-EF0EA162A557}"/>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4" name="Footer Placeholder 3">
            <a:extLst>
              <a:ext uri="{FF2B5EF4-FFF2-40B4-BE49-F238E27FC236}">
                <a16:creationId xmlns:a16="http://schemas.microsoft.com/office/drawing/2014/main" xmlns=""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19FDDA1-6ACB-4F4D-B161-8B6F5641054C}"/>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3" name="Footer Placeholder 2">
            <a:extLst>
              <a:ext uri="{FF2B5EF4-FFF2-40B4-BE49-F238E27FC236}">
                <a16:creationId xmlns:a16="http://schemas.microsoft.com/office/drawing/2014/main" xmlns=""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70FB378-A528-4D34-A3DA-9AAD4037616B}"/>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6D51B13-BF22-4142-BD28-F2F7C6142ECF}"/>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6" name="Footer Placeholder 5">
            <a:extLst>
              <a:ext uri="{FF2B5EF4-FFF2-40B4-BE49-F238E27FC236}">
                <a16:creationId xmlns:a16="http://schemas.microsoft.com/office/drawing/2014/main" xmlns=""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94F3758-74C8-452E-83A6-2CC57BC5F423}"/>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08937CC0-663F-45FD-AF01-CB2762545C84}"/>
              </a:ext>
            </a:extLst>
          </p:cNvPr>
          <p:cNvSpPr>
            <a:spLocks noGrp="1"/>
          </p:cNvSpPr>
          <p:nvPr>
            <p:ph type="dt" sz="half" idx="10"/>
          </p:nvPr>
        </p:nvSpPr>
        <p:spPr/>
        <p:txBody>
          <a:body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12/23/2021</a:t>
            </a:fld>
            <a:endParaRPr lang="en-US"/>
          </a:p>
        </p:txBody>
      </p:sp>
      <p:sp>
        <p:nvSpPr>
          <p:cNvPr id="5" name="Footer Placeholder 4">
            <a:extLst>
              <a:ext uri="{FF2B5EF4-FFF2-40B4-BE49-F238E27FC236}">
                <a16:creationId xmlns:a16="http://schemas.microsoft.com/office/drawing/2014/main" xmlns=""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a16="http://schemas.microsoft.com/office/drawing/2014/main" xmlns=""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a16="http://schemas.microsoft.com/office/drawing/2014/main" xmlns=""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Chương 3</a:t>
            </a:r>
            <a:endParaRPr lang="en-US" b="1" dirty="0"/>
          </a:p>
        </p:txBody>
      </p:sp>
      <p:sp>
        <p:nvSpPr>
          <p:cNvPr id="3" name="Content Placeholder 2"/>
          <p:cNvSpPr>
            <a:spLocks noGrp="1"/>
          </p:cNvSpPr>
          <p:nvPr>
            <p:ph idx="1"/>
          </p:nvPr>
        </p:nvSpPr>
        <p:spPr/>
        <p:txBody>
          <a:bodyPr>
            <a:normAutofit/>
          </a:bodyPr>
          <a:lstStyle/>
          <a:p>
            <a:pPr algn="ctr">
              <a:buNone/>
            </a:pPr>
            <a:r>
              <a:rPr lang="en-US" sz="6600" dirty="0" smtClean="0">
                <a:latin typeface="Times New Roman" pitchFamily="18" charset="0"/>
                <a:cs typeface="Times New Roman" pitchFamily="18" charset="0"/>
              </a:rPr>
              <a:t>TÍN HIỆU</a:t>
            </a:r>
            <a:endParaRPr lang="en-US" sz="66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chương 3</a:t>
            </a:r>
            <a:endParaRPr lang="en-US" dirty="0"/>
          </a:p>
        </p:txBody>
      </p:sp>
      <p:sp>
        <p:nvSpPr>
          <p:cNvPr id="3" name="Content Placeholder 2"/>
          <p:cNvSpPr>
            <a:spLocks noGrp="1"/>
          </p:cNvSpPr>
          <p:nvPr>
            <p:ph idx="1"/>
          </p:nvPr>
        </p:nvSpPr>
        <p:spPr/>
        <p:txBody>
          <a:bodyPr>
            <a:normAutofit/>
          </a:bodyPr>
          <a:lstStyle/>
          <a:p>
            <a:r>
              <a:rPr lang="en-US" sz="4000" dirty="0" smtClean="0"/>
              <a:t> Tín hiệu tương tự</a:t>
            </a:r>
          </a:p>
          <a:p>
            <a:r>
              <a:rPr lang="en-US" sz="4000" dirty="0" smtClean="0"/>
              <a:t> Tín hiệu số</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3.1 Tín hiệu tương tự</a:t>
            </a:r>
            <a:endParaRPr lang="en-US" dirty="0"/>
          </a:p>
        </p:txBody>
      </p:sp>
      <p:sp>
        <p:nvSpPr>
          <p:cNvPr id="3" name="Content Placeholder 2"/>
          <p:cNvSpPr>
            <a:spLocks noGrp="1"/>
          </p:cNvSpPr>
          <p:nvPr>
            <p:ph idx="1"/>
          </p:nvPr>
        </p:nvSpPr>
        <p:spPr/>
        <p:txBody>
          <a:bodyPr>
            <a:noAutofit/>
          </a:bodyPr>
          <a:lstStyle/>
          <a:p>
            <a:r>
              <a:rPr lang="vi-VN" sz="3200" dirty="0" smtClean="0">
                <a:latin typeface="Times New Roman" pitchFamily="18" charset="0"/>
                <a:cs typeface="Times New Roman" pitchFamily="18" charset="0"/>
              </a:rPr>
              <a:t> Tín hiệu có thể có dạng tương tự (analog) hay số (digital). Thuật ngữ dữ liệu tương tự cho biết thông tin là liên tục, còn dữ liệu số thì cho biết thông tin có các trạng thái rời rạc. </a:t>
            </a:r>
          </a:p>
          <a:p>
            <a:r>
              <a:rPr lang="vi-VN" sz="3200" dirty="0" smtClean="0">
                <a:latin typeface="Times New Roman" pitchFamily="18" charset="0"/>
                <a:cs typeface="Times New Roman" pitchFamily="18" charset="0"/>
              </a:rPr>
              <a:t>Dữ liệu tương tự có các giá trị liên tục hay có vô hạn giá trị trong tầm hoạt động. </a:t>
            </a:r>
          </a:p>
          <a:p>
            <a:r>
              <a:rPr lang="vi-VN" sz="3200" dirty="0" smtClean="0">
                <a:latin typeface="Times New Roman" pitchFamily="18" charset="0"/>
                <a:cs typeface="Times New Roman" pitchFamily="18" charset="0"/>
              </a:rPr>
              <a:t>Dữ liệu số có các giá trị rời rạc, hay chỉ có một số hữu hạn các</a:t>
            </a:r>
            <a:r>
              <a:rPr lang="en-US" sz="3200" dirty="0" smtClean="0">
                <a:latin typeface="Times New Roman" pitchFamily="18" charset="0"/>
                <a:cs typeface="Times New Roman" pitchFamily="18" charset="0"/>
              </a:rPr>
              <a:t> </a:t>
            </a:r>
            <a:r>
              <a:rPr lang="vi-VN" sz="3200" dirty="0" smtClean="0">
                <a:latin typeface="Times New Roman" pitchFamily="18" charset="0"/>
                <a:cs typeface="Times New Roman" pitchFamily="18" charset="0"/>
              </a:rPr>
              <a:t>giá trị.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3.1 Tín hiệu tương tự</a:t>
            </a:r>
            <a:endParaRPr lang="en-US" dirty="0"/>
          </a:p>
        </p:txBody>
      </p:sp>
      <p:sp>
        <p:nvSpPr>
          <p:cNvPr id="3" name="Content Placeholder 2"/>
          <p:cNvSpPr>
            <a:spLocks noGrp="1"/>
          </p:cNvSpPr>
          <p:nvPr>
            <p:ph idx="1"/>
          </p:nvPr>
        </p:nvSpPr>
        <p:spPr/>
        <p:txBody>
          <a:bodyPr>
            <a:noAutofit/>
          </a:bodyPr>
          <a:lstStyle/>
          <a:p>
            <a:r>
              <a:rPr lang="vi-VN" sz="3200" dirty="0" smtClean="0">
                <a:latin typeface="+mj-lt"/>
              </a:rPr>
              <a:t> So sánh giữa tín hiệu tương tự và tín hiệu số</a:t>
            </a:r>
            <a:endParaRPr lang="en-US" sz="3200" dirty="0" smtClean="0">
              <a:latin typeface="+mj-lt"/>
            </a:endParaRPr>
          </a:p>
          <a:p>
            <a:endParaRPr lang="en-US" sz="3200" dirty="0" smtClean="0">
              <a:latin typeface="+mj-lt"/>
            </a:endParaRPr>
          </a:p>
          <a:p>
            <a:endParaRPr lang="en-US" sz="3200" dirty="0" smtClean="0">
              <a:latin typeface="+mj-lt"/>
            </a:endParaRPr>
          </a:p>
          <a:p>
            <a:endParaRPr lang="en-US" sz="3200" dirty="0" smtClean="0">
              <a:latin typeface="+mj-lt"/>
            </a:endParaRPr>
          </a:p>
          <a:p>
            <a:endParaRPr lang="en-US" sz="3200" dirty="0" smtClean="0">
              <a:latin typeface="+mj-lt"/>
            </a:endParaRPr>
          </a:p>
          <a:p>
            <a:endParaRPr lang="en-US" sz="3200" dirty="0" smtClean="0">
              <a:latin typeface="+mj-lt"/>
            </a:endParaRPr>
          </a:p>
          <a:p>
            <a:pPr>
              <a:buNone/>
            </a:pPr>
            <a:endParaRPr lang="en-US" sz="3200" b="1" dirty="0" smtClean="0">
              <a:latin typeface="+mj-lt"/>
            </a:endParaRPr>
          </a:p>
          <a:p>
            <a:r>
              <a:rPr lang="vi-VN" sz="3200" b="1" dirty="0" smtClean="0">
                <a:latin typeface="+mj-lt"/>
              </a:rPr>
              <a:t>Phân loại: </a:t>
            </a:r>
            <a:r>
              <a:rPr lang="vi-VN" sz="3200" dirty="0" smtClean="0">
                <a:latin typeface="+mj-lt"/>
              </a:rPr>
              <a:t>Tín hiệu tương tự </a:t>
            </a:r>
            <a:r>
              <a:rPr lang="en-US" sz="3200" dirty="0" smtClean="0">
                <a:latin typeface="Times New Roman" pitchFamily="18" charset="0"/>
                <a:cs typeface="Times New Roman" pitchFamily="18" charset="0"/>
              </a:rPr>
              <a:t>tuần hoàn</a:t>
            </a:r>
            <a:r>
              <a:rPr lang="vi-VN" sz="3200" dirty="0" smtClean="0">
                <a:latin typeface="Times New Roman" pitchFamily="18" charset="0"/>
                <a:cs typeface="Times New Roman" pitchFamily="18" charset="0"/>
              </a:rPr>
              <a:t> </a:t>
            </a:r>
            <a:r>
              <a:rPr lang="vi-VN" sz="3200" dirty="0" smtClean="0">
                <a:latin typeface="+mj-lt"/>
              </a:rPr>
              <a:t>và không </a:t>
            </a:r>
            <a:r>
              <a:rPr lang="en-US" sz="3200" dirty="0" smtClean="0">
                <a:latin typeface="Times New Roman" pitchFamily="18" charset="0"/>
                <a:cs typeface="Times New Roman" pitchFamily="18" charset="0"/>
              </a:rPr>
              <a:t>tuần hoàn</a:t>
            </a:r>
            <a:r>
              <a:rPr lang="vi-VN"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pic>
        <p:nvPicPr>
          <p:cNvPr id="1027" name="Picture 3"/>
          <p:cNvPicPr>
            <a:picLocks noChangeAspect="1" noChangeArrowheads="1"/>
          </p:cNvPicPr>
          <p:nvPr/>
        </p:nvPicPr>
        <p:blipFill>
          <a:blip r:embed="rId2"/>
          <a:srcRect/>
          <a:stretch>
            <a:fillRect/>
          </a:stretch>
        </p:blipFill>
        <p:spPr bwMode="auto">
          <a:xfrm>
            <a:off x="1195389" y="2235883"/>
            <a:ext cx="8977311" cy="287428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Tín hiệu tương tự </a:t>
            </a:r>
            <a:r>
              <a:rPr lang="en-US" dirty="0" smtClean="0">
                <a:latin typeface="Times New Roman" pitchFamily="18" charset="0"/>
                <a:cs typeface="Times New Roman" pitchFamily="18" charset="0"/>
              </a:rPr>
              <a:t>tuần hoàn</a:t>
            </a:r>
            <a:r>
              <a:rPr lang="vi-VN"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Tần số và chu kỳ </a:t>
            </a:r>
          </a:p>
          <a:p>
            <a:r>
              <a:rPr lang="vi-VN" sz="3200" dirty="0" smtClean="0">
                <a:latin typeface="Times New Roman" pitchFamily="18" charset="0"/>
                <a:cs typeface="Times New Roman" pitchFamily="18" charset="0"/>
              </a:rPr>
              <a:t>Tần số và chu kỳ là nghịch đảo của nhau</a:t>
            </a:r>
            <a:endParaRPr lang="en-US" sz="3200" dirty="0" smtClean="0">
              <a:latin typeface="Times New Roman" pitchFamily="18" charset="0"/>
              <a:cs typeface="Times New Roman" pitchFamily="18" charset="0"/>
            </a:endParaRPr>
          </a:p>
          <a:p>
            <a:pPr>
              <a:buNone/>
            </a:pPr>
            <a:endParaRPr lang="en-US"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Bảng đơn vị</a:t>
            </a:r>
            <a:r>
              <a:rPr lang="vi-VN" sz="3200" dirty="0" smtClean="0">
                <a:latin typeface="Times New Roman" pitchFamily="18" charset="0"/>
                <a:cs typeface="Times New Roman" pitchFamily="18" charset="0"/>
              </a:rPr>
              <a:t> </a:t>
            </a:r>
            <a:endParaRPr lang="en-US" sz="3200" dirty="0">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3"/>
          <a:srcRect/>
          <a:stretch>
            <a:fillRect/>
          </a:stretch>
        </p:blipFill>
        <p:spPr bwMode="auto">
          <a:xfrm>
            <a:off x="866775" y="3714750"/>
            <a:ext cx="10540629" cy="2852739"/>
          </a:xfrm>
          <a:prstGeom prst="rect">
            <a:avLst/>
          </a:prstGeom>
          <a:noFill/>
          <a:ln w="9525">
            <a:noFill/>
            <a:miter lim="800000"/>
            <a:headEnd/>
            <a:tailEnd/>
          </a:ln>
          <a:effectLst/>
        </p:spPr>
      </p:pic>
      <p:graphicFrame>
        <p:nvGraphicFramePr>
          <p:cNvPr id="2053" name="Object 5"/>
          <p:cNvGraphicFramePr>
            <a:graphicFrameLocks noChangeAspect="1"/>
          </p:cNvGraphicFramePr>
          <p:nvPr/>
        </p:nvGraphicFramePr>
        <p:xfrm>
          <a:off x="4257676" y="2533650"/>
          <a:ext cx="2523810" cy="1092200"/>
        </p:xfrm>
        <a:graphic>
          <a:graphicData uri="http://schemas.openxmlformats.org/presentationml/2006/ole">
            <mc:AlternateContent xmlns:mc="http://schemas.openxmlformats.org/markup-compatibility/2006">
              <mc:Choice xmlns:v="urn:schemas-microsoft-com:vml" Requires="v">
                <p:oleObj spid="_x0000_s2054" name="Equation" r:id="rId4" imgW="952200" imgH="406080" progId="Equation.DSMT4">
                  <p:embed/>
                </p:oleObj>
              </mc:Choice>
              <mc:Fallback>
                <p:oleObj name="Equation" r:id="rId4" imgW="952200" imgH="406080" progId="Equation.DSMT4">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57676" y="2533650"/>
                        <a:ext cx="2523810" cy="1092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Tín hiệu tương tự có chu kỳ </a:t>
            </a:r>
            <a:endParaRPr lang="en-US" dirty="0"/>
          </a:p>
        </p:txBody>
      </p:sp>
      <p:sp>
        <p:nvSpPr>
          <p:cNvPr id="3" name="Content Placeholder 2"/>
          <p:cNvSpPr>
            <a:spLocks noGrp="1"/>
          </p:cNvSpPr>
          <p:nvPr>
            <p:ph idx="1"/>
          </p:nvPr>
        </p:nvSpPr>
        <p:spPr>
          <a:xfrm>
            <a:off x="572493" y="1431235"/>
            <a:ext cx="5904507" cy="4866198"/>
          </a:xfrm>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Pha của tín hiệu</a:t>
            </a:r>
          </a:p>
          <a:p>
            <a:r>
              <a:rPr lang="vi-VN" sz="3200" dirty="0" smtClean="0">
                <a:latin typeface="Times New Roman" pitchFamily="18" charset="0"/>
                <a:cs typeface="Times New Roman" pitchFamily="18" charset="0"/>
              </a:rPr>
              <a:t>Pha mô tả vị trí tương đối của tín hiệu so với trị 0</a:t>
            </a:r>
            <a:endParaRPr lang="en-US" sz="3200" dirty="0" smtClean="0">
              <a:latin typeface="Times New Roman" pitchFamily="18" charset="0"/>
              <a:cs typeface="Times New Roman" pitchFamily="18" charset="0"/>
            </a:endParaRPr>
          </a:p>
          <a:p>
            <a:r>
              <a:rPr lang="en-US" sz="3200" dirty="0" smtClean="0">
                <a:latin typeface="Times New Roman" pitchFamily="18" charset="0"/>
                <a:cs typeface="Times New Roman" pitchFamily="18" charset="0"/>
              </a:rPr>
              <a:t>Hình: </a:t>
            </a:r>
            <a:r>
              <a:rPr lang="vi-VN" sz="3200" dirty="0" smtClean="0">
                <a:latin typeface="Times New Roman" pitchFamily="18" charset="0"/>
                <a:cs typeface="Times New Roman" pitchFamily="18" charset="0"/>
              </a:rPr>
              <a:t>Mô tả các tín hiệu có cùng tần số, biên độ, nhưng khác pha.</a:t>
            </a:r>
            <a:endParaRPr lang="en-US" sz="32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6372225" y="1479464"/>
            <a:ext cx="5324475" cy="5111836"/>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smtClean="0"/>
              <a:t>Tín hiệu tương tự không tuần hoàn</a:t>
            </a:r>
            <a:endParaRPr lang="en-US" dirty="0"/>
          </a:p>
        </p:txBody>
      </p:sp>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Là tín hiệu không có chu kì</a:t>
            </a:r>
          </a:p>
          <a:p>
            <a:r>
              <a:rPr lang="en-US" sz="3200" dirty="0" smtClean="0">
                <a:latin typeface="Times New Roman" pitchFamily="18" charset="0"/>
                <a:cs typeface="Times New Roman" pitchFamily="18" charset="0"/>
              </a:rPr>
              <a:t>Biểu diễn tín hiệu không tuần hoàn trong miền thời gian và miền tần số. </a:t>
            </a:r>
            <a:endParaRPr lang="en-US" sz="3200" dirty="0">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srcRect/>
          <a:stretch>
            <a:fillRect/>
          </a:stretch>
        </p:blipFill>
        <p:spPr bwMode="auto">
          <a:xfrm>
            <a:off x="1000125" y="3025043"/>
            <a:ext cx="10220325" cy="327574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3.2 Tín hiệu số</a:t>
            </a:r>
            <a:endParaRPr lang="en-US" dirty="0"/>
          </a:p>
        </p:txBody>
      </p:sp>
      <p:sp>
        <p:nvSpPr>
          <p:cNvPr id="3" name="Content Placeholder 2"/>
          <p:cNvSpPr>
            <a:spLocks noGrp="1"/>
          </p:cNvSpPr>
          <p:nvPr>
            <p:ph idx="1"/>
          </p:nvPr>
        </p:nvSpPr>
        <p:spPr>
          <a:xfrm>
            <a:off x="572493" y="1431235"/>
            <a:ext cx="5733057" cy="4866198"/>
          </a:xfrm>
        </p:spPr>
        <p:txBody>
          <a:bodyPr>
            <a:normAutofit lnSpcReduction="10000"/>
          </a:bodyPr>
          <a:lstStyle/>
          <a:p>
            <a:pPr algn="just"/>
            <a:r>
              <a:rPr lang="vi-VN" sz="3200" b="1" dirty="0" smtClean="0">
                <a:latin typeface="+mj-lt"/>
              </a:rPr>
              <a:t>Tín hiệu số</a:t>
            </a:r>
            <a:r>
              <a:rPr lang="en-US" sz="3200" b="1" dirty="0" smtClean="0">
                <a:latin typeface="+mj-lt"/>
              </a:rPr>
              <a:t>:</a:t>
            </a:r>
            <a:r>
              <a:rPr lang="vi-VN" sz="3200" dirty="0" smtClean="0">
                <a:latin typeface="+mj-lt"/>
              </a:rPr>
              <a:t> là tín hiệu được sử dụng để biểu diễn dữ liệu dưới dạng một chuỗi các giá trị rời rạc</a:t>
            </a:r>
            <a:endParaRPr lang="en-US" sz="3200" dirty="0" smtClean="0">
              <a:latin typeface="+mj-lt"/>
            </a:endParaRPr>
          </a:p>
          <a:p>
            <a:pPr algn="just"/>
            <a:r>
              <a:rPr lang="vi-VN" sz="3200" dirty="0" smtClean="0">
                <a:latin typeface="+mj-lt"/>
              </a:rPr>
              <a:t>Một tín hiệu số còn có thể có nhiều hơn hai mức, điều này cho phép gởi đi nhiều hơn một bit cho mỗi mức</a:t>
            </a:r>
            <a:endParaRPr lang="en-US" sz="3200" dirty="0" smtClean="0">
              <a:latin typeface="+mj-lt"/>
            </a:endParaRPr>
          </a:p>
          <a:p>
            <a:pPr algn="just"/>
            <a:r>
              <a:rPr lang="vi-VN" sz="3200" dirty="0" smtClean="0">
                <a:latin typeface="+mj-lt"/>
              </a:rPr>
              <a:t>Tín hiệu số là dạng tín hiệu hỗn hợp tương tự có băng thông là vô cùng </a:t>
            </a:r>
            <a:endParaRPr lang="en-US" sz="3200" dirty="0">
              <a:latin typeface="+mj-lt"/>
            </a:endParaRPr>
          </a:p>
        </p:txBody>
      </p:sp>
      <p:pic>
        <p:nvPicPr>
          <p:cNvPr id="4098" name="Picture 2"/>
          <p:cNvPicPr>
            <a:picLocks noChangeAspect="1" noChangeArrowheads="1"/>
          </p:cNvPicPr>
          <p:nvPr/>
        </p:nvPicPr>
        <p:blipFill>
          <a:blip r:embed="rId2"/>
          <a:srcRect/>
          <a:stretch>
            <a:fillRect/>
          </a:stretch>
        </p:blipFill>
        <p:spPr bwMode="auto">
          <a:xfrm>
            <a:off x="6389653" y="1466850"/>
            <a:ext cx="5572369" cy="481965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3.2 Tín hiệu số</a:t>
            </a:r>
            <a:endParaRPr lang="en-US" dirty="0"/>
          </a:p>
        </p:txBody>
      </p:sp>
      <p:sp>
        <p:nvSpPr>
          <p:cNvPr id="3" name="Content Placeholder 2"/>
          <p:cNvSpPr>
            <a:spLocks noGrp="1"/>
          </p:cNvSpPr>
          <p:nvPr>
            <p:ph idx="1"/>
          </p:nvPr>
        </p:nvSpPr>
        <p:spPr/>
        <p:txBody>
          <a:bodyPr>
            <a:noAutofit/>
          </a:bodyPr>
          <a:lstStyle/>
          <a:p>
            <a:r>
              <a:rPr lang="en-US" sz="3000" b="1" dirty="0" smtClean="0">
                <a:latin typeface="Times New Roman" pitchFamily="18" charset="0"/>
                <a:cs typeface="Times New Roman" pitchFamily="18" charset="0"/>
              </a:rPr>
              <a:t>Thí dụ: </a:t>
            </a:r>
            <a:r>
              <a:rPr lang="en-US" sz="3000" dirty="0" smtClean="0">
                <a:latin typeface="Times New Roman" pitchFamily="18" charset="0"/>
                <a:cs typeface="Times New Roman" pitchFamily="18" charset="0"/>
              </a:rPr>
              <a:t>Một tín hiệu số có  8 mức. Cho biết có thể truyền bao nhiêu bit cho mỗi mức.</a:t>
            </a:r>
          </a:p>
          <a:p>
            <a:r>
              <a:rPr lang="en-US" sz="3000" b="1" dirty="0" smtClean="0">
                <a:latin typeface="Times New Roman" pitchFamily="18" charset="0"/>
                <a:cs typeface="Times New Roman" pitchFamily="18" charset="0"/>
              </a:rPr>
              <a:t>Thí dụ: </a:t>
            </a:r>
            <a:r>
              <a:rPr lang="en-US" sz="3000" dirty="0" smtClean="0">
                <a:latin typeface="Times New Roman" pitchFamily="18" charset="0"/>
                <a:cs typeface="Times New Roman" pitchFamily="18" charset="0"/>
              </a:rPr>
              <a:t>Một tín hiệu số có 9 mức. Cho biết có thể truyền bao nhiêu bit cho mỗi mức. </a:t>
            </a:r>
          </a:p>
          <a:p>
            <a:r>
              <a:rPr lang="vi-VN" sz="3000" b="1" dirty="0" smtClean="0">
                <a:latin typeface="Times New Roman" pitchFamily="18" charset="0"/>
                <a:cs typeface="Times New Roman" pitchFamily="18" charset="0"/>
              </a:rPr>
              <a:t>Thí dụ: </a:t>
            </a:r>
            <a:r>
              <a:rPr lang="vi-VN" sz="3000" dirty="0" smtClean="0">
                <a:latin typeface="Times New Roman" pitchFamily="18" charset="0"/>
                <a:cs typeface="Times New Roman" pitchFamily="18" charset="0"/>
              </a:rPr>
              <a:t>Giả sử ta cần tải một tài liệu văn bản với tốc độ 100 trang mỗi giây, một trang trung bình có 24 dòng và một dòng có 80 ký tự, một ký tự có 8 bit. Tìm số bit cần truyền trong 1s</a:t>
            </a:r>
            <a:r>
              <a:rPr lang="en-US" sz="3000" dirty="0" smtClean="0">
                <a:latin typeface="Times New Roman" pitchFamily="18" charset="0"/>
                <a:cs typeface="Times New Roman" pitchFamily="18" charset="0"/>
              </a:rPr>
              <a:t>.</a:t>
            </a:r>
          </a:p>
          <a:p>
            <a:r>
              <a:rPr lang="vi-VN" sz="3000" b="1" dirty="0" smtClean="0">
                <a:latin typeface="Times New Roman" pitchFamily="18" charset="0"/>
                <a:cs typeface="Times New Roman" pitchFamily="18" charset="0"/>
              </a:rPr>
              <a:t>Thí dụ: </a:t>
            </a:r>
            <a:r>
              <a:rPr lang="vi-VN" sz="3000" dirty="0" smtClean="0">
                <a:latin typeface="Times New Roman" pitchFamily="18" charset="0"/>
                <a:cs typeface="Times New Roman" pitchFamily="18" charset="0"/>
              </a:rPr>
              <a:t>Một kênh thoại được rời rạc hóa, được cấu tạo từ một tín hiệu tương tự có băng thông tín hiệu thoại là 4 KHz. ta cần lấy mẫu tín hiệu với hai lần tần số cao nhất. Với giả sử mỗi mẫu cần 8 bit, hỏi tốc độ bit (bit rate) là bao nhiêu</a:t>
            </a:r>
            <a:r>
              <a:rPr lang="en-US" sz="3000" dirty="0" smtClean="0">
                <a:latin typeface="Times New Roman" pitchFamily="18" charset="0"/>
                <a:cs typeface="Times New Roman" pitchFamily="18" charset="0"/>
              </a:rPr>
              <a:t>.</a:t>
            </a:r>
            <a:r>
              <a:rPr lang="vi-VN" sz="3000" dirty="0" smtClean="0">
                <a:latin typeface="Times New Roman" pitchFamily="18" charset="0"/>
                <a:cs typeface="Times New Roman" pitchFamily="18" charset="0"/>
              </a:rPr>
              <a:t>  </a:t>
            </a:r>
            <a:endParaRPr lang="en-US" sz="3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3.2 Tín hiệu số</a:t>
            </a:r>
            <a:endParaRPr lang="en-US" dirty="0"/>
          </a:p>
        </p:txBody>
      </p:sp>
      <p:sp>
        <p:nvSpPr>
          <p:cNvPr id="3" name="Content Placeholder 2"/>
          <p:cNvSpPr>
            <a:spLocks noGrp="1"/>
          </p:cNvSpPr>
          <p:nvPr>
            <p:ph idx="1"/>
          </p:nvPr>
        </p:nvSpPr>
        <p:spPr/>
        <p:txBody>
          <a:bodyPr>
            <a:normAutofit/>
          </a:bodyPr>
          <a:lstStyle/>
          <a:p>
            <a:r>
              <a:rPr lang="vi-VN" sz="3200" b="1" dirty="0" smtClean="0">
                <a:latin typeface="+mj-lt"/>
              </a:rPr>
              <a:t> Thí dụ: </a:t>
            </a:r>
            <a:r>
              <a:rPr lang="vi-VN" sz="3200" dirty="0" smtClean="0">
                <a:latin typeface="+mj-lt"/>
              </a:rPr>
              <a:t>Cho biết tốc độ bit (bit rate) của truyền hình độ phân giải cao (HDTV)</a:t>
            </a:r>
            <a:r>
              <a:rPr lang="en-US" sz="3200" dirty="0" smtClean="0">
                <a:latin typeface="+mj-lt"/>
              </a:rPr>
              <a:t>.</a:t>
            </a:r>
            <a:r>
              <a:rPr lang="vi-VN" sz="3200" dirty="0" smtClean="0">
                <a:latin typeface="+mj-lt"/>
              </a:rPr>
              <a:t> </a:t>
            </a:r>
            <a:endParaRPr lang="en-US" sz="3200" dirty="0" smtClean="0">
              <a:latin typeface="+mj-lt"/>
            </a:endParaRPr>
          </a:p>
          <a:p>
            <a:r>
              <a:rPr lang="vi-VN" sz="3200" b="1" dirty="0" smtClean="0">
                <a:latin typeface="+mj-lt"/>
              </a:rPr>
              <a:t>Thí dụ: </a:t>
            </a:r>
            <a:r>
              <a:rPr lang="vi-VN" sz="3200" dirty="0" smtClean="0">
                <a:latin typeface="+mj-lt"/>
              </a:rPr>
              <a:t>Tìm băng thông cần có của kênh truyền thông tần số thấp nếu cần gởi với tốc độ 1 Mbps dùng phương pháp truyền trên dải tần cơ sở. </a:t>
            </a:r>
            <a:endParaRPr lang="en-US" sz="3200" dirty="0" smtClean="0">
              <a:latin typeface="+mj-lt"/>
            </a:endParaRPr>
          </a:p>
          <a:p>
            <a:r>
              <a:rPr lang="vi-VN" sz="3200" b="1" dirty="0" smtClean="0">
                <a:latin typeface="+mj-lt"/>
              </a:rPr>
              <a:t>Thí dụ: </a:t>
            </a:r>
            <a:r>
              <a:rPr lang="vi-VN" sz="3200" dirty="0" smtClean="0">
                <a:latin typeface="+mj-lt"/>
              </a:rPr>
              <a:t>Ta dùng hai kênh thông tần số thấp có băng thông là 100 KHz, cho biết tốc độ truyền bit tối đa là bao nhiêu</a:t>
            </a:r>
            <a:r>
              <a:rPr lang="en-US" sz="3200" dirty="0" smtClean="0">
                <a:latin typeface="+mj-lt"/>
              </a:rPr>
              <a:t>.</a:t>
            </a:r>
            <a:r>
              <a:rPr lang="vi-VN" sz="3200" dirty="0" smtClean="0">
                <a:latin typeface="+mj-lt"/>
              </a:rPr>
              <a:t> </a:t>
            </a:r>
            <a:endParaRPr lang="en-US" sz="3200" dirty="0">
              <a:latin typeface="+mj-l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TotalTime>
  <Words>594</Words>
  <Application>Microsoft Office PowerPoint</Application>
  <PresentationFormat>Custom</PresentationFormat>
  <Paragraphs>56</Paragraphs>
  <Slides>12</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4" baseType="lpstr">
      <vt:lpstr>Office Theme</vt:lpstr>
      <vt:lpstr>Equation</vt:lpstr>
      <vt:lpstr>KỸ THUẬT TRUYỀN SỐ LIỆU</vt:lpstr>
      <vt:lpstr>Nội dung môn học</vt:lpstr>
      <vt:lpstr>                 Chương 3</vt:lpstr>
      <vt:lpstr>Nội dung chương 3</vt:lpstr>
      <vt:lpstr>3.1 Tín hiệu tương tự</vt:lpstr>
      <vt:lpstr>3.1 Tín hiệu tương tự</vt:lpstr>
      <vt:lpstr>Tín hiệu tương tự tuần hoàn </vt:lpstr>
      <vt:lpstr>Tín hiệu tương tự có chu kỳ </vt:lpstr>
      <vt:lpstr>Tín hiệu tương tự không tuần hoàn</vt:lpstr>
      <vt:lpstr>3.2 Tín hiệu số</vt:lpstr>
      <vt:lpstr>3.2 Tín hiệu số</vt:lpstr>
      <vt:lpstr>3.2 Tín hiệu số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83</cp:revision>
  <dcterms:created xsi:type="dcterms:W3CDTF">2020-05-27T05:21:30Z</dcterms:created>
  <dcterms:modified xsi:type="dcterms:W3CDTF">2021-12-23T08:51:07Z</dcterms:modified>
</cp:coreProperties>
</file>