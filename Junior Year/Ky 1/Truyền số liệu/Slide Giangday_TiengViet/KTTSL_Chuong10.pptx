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p:scale>
          <a:sx n="50" d="100"/>
          <a:sy n="50" d="100"/>
        </p:scale>
        <p:origin x="-1436" y="-5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b="1" dirty="0" err="1" smtClean="0"/>
              <a:t>Chương</a:t>
            </a:r>
            <a:r>
              <a:rPr lang="en-US" b="1" dirty="0" smtClean="0"/>
              <a:t> 10</a:t>
            </a:r>
            <a:endParaRPr lang="en-US" b="1" dirty="0"/>
          </a:p>
        </p:txBody>
      </p:sp>
      <p:sp>
        <p:nvSpPr>
          <p:cNvPr id="3" name="Content Placeholder 2"/>
          <p:cNvSpPr>
            <a:spLocks noGrp="1"/>
          </p:cNvSpPr>
          <p:nvPr>
            <p:ph idx="1"/>
          </p:nvPr>
        </p:nvSpPr>
        <p:spPr/>
        <p:txBody>
          <a:bodyPr>
            <a:normAutofit/>
          </a:bodyPr>
          <a:lstStyle/>
          <a:p>
            <a:pPr algn="ctr">
              <a:buNone/>
            </a:pPr>
            <a:r>
              <a:rPr lang="en-US" sz="4800" dirty="0" smtClean="0">
                <a:latin typeface="Times New Roman" pitchFamily="18" charset="0"/>
                <a:cs typeface="Times New Roman" pitchFamily="18" charset="0"/>
              </a:rPr>
              <a:t>MẠNG CỤC BỘ</a:t>
            </a:r>
          </a:p>
          <a:p>
            <a:pPr algn="ctr">
              <a:buNone/>
            </a:pPr>
            <a:r>
              <a:rPr lang="en-US" sz="4800" dirty="0"/>
              <a:t>(LAN: LOCAL AREA NETWORKS) </a:t>
            </a:r>
            <a:r>
              <a:rPr lang="en-US" sz="5400" dirty="0"/>
              <a:t/>
            </a:r>
            <a:br>
              <a:rPr lang="en-US" sz="5400" dirty="0"/>
            </a:br>
            <a:endParaRPr lang="en-US" sz="5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a:t>
            </a:r>
            <a:r>
              <a:rPr lang="en-US" dirty="0" err="1" smtClean="0"/>
              <a:t>chương</a:t>
            </a:r>
            <a:r>
              <a:rPr lang="en-US" dirty="0" smtClean="0"/>
              <a:t> 10</a:t>
            </a:r>
            <a:endParaRPr lang="en-US" dirty="0"/>
          </a:p>
        </p:txBody>
      </p:sp>
      <p:sp>
        <p:nvSpPr>
          <p:cNvPr id="3" name="Content Placeholder 2"/>
          <p:cNvSpPr>
            <a:spLocks noGrp="1"/>
          </p:cNvSpPr>
          <p:nvPr>
            <p:ph idx="1"/>
          </p:nvPr>
        </p:nvSpPr>
        <p:spPr/>
        <p:txBody>
          <a:bodyPr>
            <a:normAutofit/>
          </a:bodyPr>
          <a:lstStyle/>
          <a:p>
            <a:r>
              <a:rPr lang="en-US" sz="4000" dirty="0" smtClean="0"/>
              <a:t> Ethernet</a:t>
            </a:r>
            <a:endParaRPr lang="en-US" sz="3600" dirty="0"/>
          </a:p>
          <a:p>
            <a:r>
              <a:rPr lang="en-US" sz="4000" dirty="0" smtClean="0"/>
              <a:t> </a:t>
            </a:r>
            <a:r>
              <a:rPr lang="en-US" sz="4000" dirty="0" err="1" smtClean="0"/>
              <a:t>Các</a:t>
            </a:r>
            <a:r>
              <a:rPr lang="en-US" sz="4000" dirty="0" smtClean="0"/>
              <a:t> </a:t>
            </a:r>
            <a:r>
              <a:rPr lang="en-US" sz="4000" dirty="0" err="1" smtClean="0"/>
              <a:t>mạng</a:t>
            </a:r>
            <a:r>
              <a:rPr lang="en-US" sz="4000" dirty="0" smtClean="0"/>
              <a:t> Ethernet </a:t>
            </a:r>
            <a:r>
              <a:rPr lang="en-US" sz="4000" dirty="0" err="1" smtClean="0"/>
              <a:t>khác</a:t>
            </a:r>
            <a:endParaRPr lang="en-US" sz="40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Mạng</a:t>
            </a:r>
            <a:r>
              <a:rPr lang="en-US" dirty="0" smtClean="0"/>
              <a:t> </a:t>
            </a:r>
            <a:r>
              <a:rPr lang="en-US" dirty="0" err="1" smtClean="0"/>
              <a:t>cục</a:t>
            </a:r>
            <a:r>
              <a:rPr lang="en-US" dirty="0" smtClean="0"/>
              <a:t> </a:t>
            </a:r>
            <a:r>
              <a:rPr lang="en-US" dirty="0" err="1" smtClean="0"/>
              <a:t>bộ</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Mạng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phép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tin </a:t>
            </a:r>
            <a:r>
              <a:rPr lang="en-US" dirty="0" err="1" smtClean="0">
                <a:latin typeface="Times New Roman" panose="02020603050405020304" pitchFamily="18" charset="0"/>
                <a:cs typeface="Times New Roman" panose="02020603050405020304" pitchFamily="18" charset="0"/>
              </a:rPr>
              <a:t>trực</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tiếp</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vùng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giới</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hạn</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Kiến</a:t>
            </a: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mạng</a:t>
            </a:r>
            <a:r>
              <a:rPr lang="en-US" dirty="0">
                <a:latin typeface="Times New Roman" panose="02020603050405020304" pitchFamily="18" charset="0"/>
                <a:cs typeface="Times New Roman" panose="02020603050405020304" pitchFamily="18" charset="0"/>
              </a:rPr>
              <a:t> LAN </a:t>
            </a:r>
            <a:r>
              <a:rPr lang="en-US" dirty="0" err="1">
                <a:latin typeface="Times New Roman" panose="02020603050405020304" pitchFamily="18" charset="0"/>
                <a:cs typeface="Times New Roman" panose="02020603050405020304" pitchFamily="18" charset="0"/>
              </a:rPr>
              <a:t>gồm</a:t>
            </a: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dạng</a:t>
            </a:r>
            <a:r>
              <a:rPr lang="en-US" dirty="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chính</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Ethernet </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IEEE</a:t>
            </a:r>
          </a:p>
          <a:p>
            <a:r>
              <a:rPr lang="en-US" dirty="0" smtClean="0">
                <a:latin typeface="Times New Roman" panose="02020603050405020304" pitchFamily="18" charset="0"/>
                <a:cs typeface="Times New Roman" panose="02020603050405020304" pitchFamily="18" charset="0"/>
              </a:rPr>
              <a:t>Token </a:t>
            </a:r>
            <a:r>
              <a:rPr lang="en-US" dirty="0">
                <a:latin typeface="Times New Roman" panose="02020603050405020304" pitchFamily="18" charset="0"/>
                <a:cs typeface="Times New Roman" panose="02020603050405020304" pitchFamily="18" charset="0"/>
              </a:rPr>
              <a:t>Bus </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IEEE</a:t>
            </a:r>
          </a:p>
          <a:p>
            <a:r>
              <a:rPr lang="en-US" dirty="0" smtClean="0">
                <a:latin typeface="Times New Roman" panose="02020603050405020304" pitchFamily="18" charset="0"/>
                <a:cs typeface="Times New Roman" panose="02020603050405020304" pitchFamily="18" charset="0"/>
              </a:rPr>
              <a:t>Token </a:t>
            </a:r>
            <a:r>
              <a:rPr lang="en-US" dirty="0">
                <a:latin typeface="Times New Roman" panose="02020603050405020304" pitchFamily="18" charset="0"/>
                <a:cs typeface="Times New Roman" panose="02020603050405020304" pitchFamily="18" charset="0"/>
              </a:rPr>
              <a:t>Ring </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IEEE</a:t>
            </a:r>
          </a:p>
          <a:p>
            <a:r>
              <a:rPr lang="en-US" dirty="0" smtClean="0">
                <a:latin typeface="Times New Roman" panose="02020603050405020304" pitchFamily="18" charset="0"/>
                <a:cs typeface="Times New Roman" panose="02020603050405020304" pitchFamily="18" charset="0"/>
              </a:rPr>
              <a:t>FDDI </a:t>
            </a:r>
            <a:r>
              <a:rPr lang="en-US" dirty="0">
                <a:latin typeface="Times New Roman" panose="02020603050405020304" pitchFamily="18" charset="0"/>
                <a:cs typeface="Times New Roman" panose="02020603050405020304" pitchFamily="18" charset="0"/>
              </a:rPr>
              <a:t>(Fiber Distributed Data Interface) </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ANSI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164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10.1 ETHERNET</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b="1" dirty="0" smtClean="0">
                <a:latin typeface="+mj-lt"/>
              </a:rPr>
              <a:t> </a:t>
            </a:r>
            <a:r>
              <a:rPr lang="vi-VN" b="1" dirty="0" smtClean="0">
                <a:latin typeface="+mj-lt"/>
              </a:rPr>
              <a:t>IEEE </a:t>
            </a:r>
            <a:r>
              <a:rPr lang="vi-VN" b="1" dirty="0">
                <a:latin typeface="+mj-lt"/>
              </a:rPr>
              <a:t>802.3 </a:t>
            </a:r>
            <a:r>
              <a:rPr lang="vi-VN" dirty="0">
                <a:latin typeface="+mj-lt"/>
              </a:rPr>
              <a:t>hỗ trợ </a:t>
            </a:r>
            <a:r>
              <a:rPr lang="vi-VN" dirty="0" smtClean="0">
                <a:latin typeface="+mj-lt"/>
              </a:rPr>
              <a:t>ch</a:t>
            </a:r>
            <a:r>
              <a:rPr lang="en-US" dirty="0" err="1" smtClean="0">
                <a:latin typeface="Times New Roman" panose="02020603050405020304" pitchFamily="18" charset="0"/>
                <a:cs typeface="Times New Roman" panose="02020603050405020304" pitchFamily="18" charset="0"/>
              </a:rPr>
              <a:t>uẩn</a:t>
            </a:r>
            <a:r>
              <a:rPr lang="vi-VN" dirty="0" smtClean="0">
                <a:latin typeface="+mj-lt"/>
              </a:rPr>
              <a:t> </a:t>
            </a:r>
            <a:r>
              <a:rPr lang="vi-VN" dirty="0">
                <a:latin typeface="+mj-lt"/>
              </a:rPr>
              <a:t>LAN do Xerox đề ra đầu tiên và sau đó được mở rộng </a:t>
            </a:r>
            <a:r>
              <a:rPr lang="vi-VN" dirty="0" smtClean="0">
                <a:latin typeface="+mj-lt"/>
              </a:rPr>
              <a:t>nhờ</a:t>
            </a:r>
            <a:r>
              <a:rPr lang="en-US" dirty="0" smtClean="0">
                <a:latin typeface="+mj-lt"/>
              </a:rPr>
              <a:t> </a:t>
            </a:r>
            <a:r>
              <a:rPr lang="vi-VN" dirty="0" smtClean="0">
                <a:latin typeface="+mj-lt"/>
              </a:rPr>
              <a:t>một </a:t>
            </a:r>
            <a:r>
              <a:rPr lang="vi-VN" dirty="0">
                <a:latin typeface="+mj-lt"/>
              </a:rPr>
              <a:t>liên doanh giữa Digital Equipment Corporation, Intel Corporation và Xerox. </a:t>
            </a:r>
            <a:r>
              <a:rPr lang="vi-VN" dirty="0" smtClean="0">
                <a:latin typeface="+mj-lt"/>
              </a:rPr>
              <a:t>C</a:t>
            </a:r>
            <a:r>
              <a:rPr lang="en-US" dirty="0" err="1" smtClean="0">
                <a:latin typeface="Times New Roman" panose="02020603050405020304" pitchFamily="18" charset="0"/>
                <a:cs typeface="Times New Roman" panose="02020603050405020304" pitchFamily="18" charset="0"/>
              </a:rPr>
              <a:t>huẩn</a:t>
            </a:r>
            <a:r>
              <a:rPr lang="vi-VN" dirty="0" smtClean="0">
                <a:latin typeface="+mj-lt"/>
              </a:rPr>
              <a:t> này</a:t>
            </a:r>
            <a:r>
              <a:rPr lang="en-US" dirty="0" smtClean="0">
                <a:latin typeface="+mj-lt"/>
              </a:rPr>
              <a:t> </a:t>
            </a:r>
            <a:r>
              <a:rPr lang="vi-VN" dirty="0" smtClean="0">
                <a:latin typeface="+mj-lt"/>
              </a:rPr>
              <a:t>được </a:t>
            </a:r>
            <a:r>
              <a:rPr lang="vi-VN" dirty="0">
                <a:latin typeface="+mj-lt"/>
              </a:rPr>
              <a:t>gọi là </a:t>
            </a:r>
            <a:r>
              <a:rPr lang="vi-VN" b="1" dirty="0" smtClean="0">
                <a:latin typeface="+mj-lt"/>
              </a:rPr>
              <a:t>Ethernet</a:t>
            </a:r>
            <a:endParaRPr lang="en-US" dirty="0">
              <a:latin typeface="+mj-lt"/>
            </a:endParaRPr>
          </a:p>
          <a:p>
            <a:r>
              <a:rPr lang="vi-VN" dirty="0" smtClean="0">
                <a:latin typeface="+mj-lt"/>
              </a:rPr>
              <a:t>IEEE </a:t>
            </a:r>
            <a:r>
              <a:rPr lang="vi-VN" dirty="0">
                <a:latin typeface="+mj-lt"/>
              </a:rPr>
              <a:t>802.3 định nghĩa hai hạng mục: </a:t>
            </a:r>
            <a:r>
              <a:rPr lang="vi-VN" b="1" dirty="0">
                <a:latin typeface="+mj-lt"/>
              </a:rPr>
              <a:t>baseband </a:t>
            </a:r>
            <a:r>
              <a:rPr lang="vi-VN" dirty="0">
                <a:latin typeface="+mj-lt"/>
              </a:rPr>
              <a:t>và </a:t>
            </a:r>
            <a:r>
              <a:rPr lang="vi-VN" b="1" dirty="0" smtClean="0">
                <a:latin typeface="+mj-lt"/>
              </a:rPr>
              <a:t>broadband</a:t>
            </a:r>
            <a:endParaRPr lang="en-US" dirty="0" smtClean="0">
              <a:latin typeface="+mj-lt"/>
            </a:endParaRPr>
          </a:p>
          <a:p>
            <a:pPr marL="0" indent="0">
              <a:buNone/>
            </a:pPr>
            <a:r>
              <a:rPr lang="en-US" sz="2400" dirty="0" smtClean="0">
                <a:latin typeface="Times New Roman" panose="02020603050405020304" pitchFamily="18" charset="0"/>
                <a:cs typeface="Times New Roman" panose="02020603050405020304" pitchFamily="18" charset="0"/>
              </a:rPr>
              <a:t>- B</a:t>
            </a:r>
            <a:r>
              <a:rPr lang="vi-VN" sz="2400" dirty="0" smtClean="0">
                <a:latin typeface="+mj-lt"/>
              </a:rPr>
              <a:t>ase </a:t>
            </a:r>
            <a:r>
              <a:rPr lang="vi-VN" sz="2400" dirty="0">
                <a:latin typeface="+mj-lt"/>
              </a:rPr>
              <a:t>chỉ rằng </a:t>
            </a:r>
            <a:r>
              <a:rPr lang="vi-VN" sz="2400" dirty="0" smtClean="0">
                <a:latin typeface="+mj-lt"/>
              </a:rPr>
              <a:t>tín</a:t>
            </a:r>
            <a:r>
              <a:rPr lang="en-US" sz="2400" dirty="0" smtClean="0">
                <a:latin typeface="+mj-lt"/>
              </a:rPr>
              <a:t> </a:t>
            </a:r>
            <a:r>
              <a:rPr lang="vi-VN" sz="2400" dirty="0" smtClean="0">
                <a:latin typeface="+mj-lt"/>
              </a:rPr>
              <a:t>hiệu </a:t>
            </a:r>
            <a:r>
              <a:rPr lang="vi-VN" sz="2400" dirty="0">
                <a:latin typeface="+mj-lt"/>
              </a:rPr>
              <a:t>số (trường hợp này là phương pháp mã hóa </a:t>
            </a:r>
            <a:r>
              <a:rPr lang="vi-VN" sz="2400" dirty="0" smtClean="0">
                <a:latin typeface="+mj-lt"/>
              </a:rPr>
              <a:t>Manschester)</a:t>
            </a:r>
            <a:endParaRPr lang="en-US" sz="2400" dirty="0" smtClean="0">
              <a:latin typeface="+mj-lt"/>
            </a:endParaRPr>
          </a:p>
          <a:p>
            <a:pPr marL="0" indent="0">
              <a:buNone/>
            </a:pPr>
            <a:r>
              <a:rPr lang="en-US" sz="2400" dirty="0" smtClean="0">
                <a:latin typeface="Times New Roman" panose="02020603050405020304" pitchFamily="18" charset="0"/>
                <a:cs typeface="Times New Roman" panose="02020603050405020304" pitchFamily="18" charset="0"/>
              </a:rPr>
              <a:t>- B</a:t>
            </a:r>
            <a:r>
              <a:rPr lang="vi-VN" sz="2400" dirty="0" smtClean="0">
                <a:latin typeface="+mj-lt"/>
              </a:rPr>
              <a:t>road </a:t>
            </a:r>
            <a:r>
              <a:rPr lang="vi-VN" sz="2400" dirty="0">
                <a:latin typeface="+mj-lt"/>
              </a:rPr>
              <a:t>chỉ tín hiệu </a:t>
            </a:r>
            <a:r>
              <a:rPr lang="vi-VN" sz="2400" dirty="0" smtClean="0">
                <a:latin typeface="+mj-lt"/>
              </a:rPr>
              <a:t>analog</a:t>
            </a:r>
            <a:r>
              <a:rPr lang="en-US" sz="2400" dirty="0">
                <a:latin typeface="+mj-lt"/>
              </a:rPr>
              <a:t> </a:t>
            </a:r>
            <a:r>
              <a:rPr lang="vi-VN" sz="2400" dirty="0" smtClean="0">
                <a:latin typeface="+mj-lt"/>
              </a:rPr>
              <a:t>(trường </a:t>
            </a:r>
            <a:r>
              <a:rPr lang="vi-VN" sz="2400" dirty="0">
                <a:latin typeface="+mj-lt"/>
              </a:rPr>
              <a:t>hợp này là phương pháp điều chế </a:t>
            </a:r>
            <a:r>
              <a:rPr lang="vi-VN" sz="2400" dirty="0" smtClean="0">
                <a:latin typeface="+mj-lt"/>
              </a:rPr>
              <a:t>PSK</a:t>
            </a:r>
            <a:endParaRPr lang="en-US" sz="2400" dirty="0">
              <a:latin typeface="+mj-lt"/>
            </a:endParaRPr>
          </a:p>
        </p:txBody>
      </p:sp>
      <p:pic>
        <p:nvPicPr>
          <p:cNvPr id="4" name="Picture 3"/>
          <p:cNvPicPr>
            <a:picLocks noChangeAspect="1"/>
          </p:cNvPicPr>
          <p:nvPr/>
        </p:nvPicPr>
        <p:blipFill>
          <a:blip r:embed="rId2"/>
          <a:stretch>
            <a:fillRect/>
          </a:stretch>
        </p:blipFill>
        <p:spPr>
          <a:xfrm>
            <a:off x="2557787" y="4179252"/>
            <a:ext cx="6779404" cy="2310019"/>
          </a:xfrm>
          <a:prstGeom prst="rect">
            <a:avLst/>
          </a:prstGeom>
        </p:spPr>
      </p:pic>
    </p:spTree>
    <p:extLst>
      <p:ext uri="{BB962C8B-B14F-4D97-AF65-F5344CB8AC3E}">
        <p14:creationId xmlns:p14="http://schemas.microsoft.com/office/powerpoint/2010/main" val="426823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10.1 ETHERNET</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smtClean="0">
                <a:latin typeface="+mj-lt"/>
              </a:rPr>
              <a:t> </a:t>
            </a:r>
            <a:r>
              <a:rPr lang="vi-VN" dirty="0" smtClean="0">
                <a:latin typeface="+mj-lt"/>
              </a:rPr>
              <a:t>IEEE </a:t>
            </a:r>
            <a:r>
              <a:rPr lang="vi-VN" dirty="0">
                <a:latin typeface="+mj-lt"/>
              </a:rPr>
              <a:t>chia các hạng mục baseband thành </a:t>
            </a:r>
            <a:r>
              <a:rPr lang="vi-VN" dirty="0" smtClean="0">
                <a:latin typeface="+mj-lt"/>
              </a:rPr>
              <a:t>5</a:t>
            </a:r>
            <a:r>
              <a:rPr lang="en-US" dirty="0" smtClean="0">
                <a:latin typeface="+mj-lt"/>
              </a:rPr>
              <a:t> </a:t>
            </a:r>
            <a:r>
              <a:rPr lang="vi-VN" dirty="0" smtClean="0">
                <a:latin typeface="+mj-lt"/>
              </a:rPr>
              <a:t>ch</a:t>
            </a:r>
            <a:r>
              <a:rPr lang="en-US" dirty="0" err="1" smtClean="0">
                <a:latin typeface="Times New Roman" panose="02020603050405020304" pitchFamily="18" charset="0"/>
                <a:cs typeface="Times New Roman" panose="02020603050405020304" pitchFamily="18" charset="0"/>
              </a:rPr>
              <a:t>uẩn</a:t>
            </a:r>
            <a:r>
              <a:rPr lang="vi-VN" dirty="0" smtClean="0">
                <a:latin typeface="+mj-lt"/>
              </a:rPr>
              <a:t> </a:t>
            </a:r>
            <a:r>
              <a:rPr lang="vi-VN" dirty="0">
                <a:latin typeface="+mj-lt"/>
              </a:rPr>
              <a:t>khác nhau: </a:t>
            </a:r>
            <a:r>
              <a:rPr lang="vi-VN" b="1" dirty="0">
                <a:latin typeface="+mj-lt"/>
              </a:rPr>
              <a:t>10Base5</a:t>
            </a:r>
            <a:r>
              <a:rPr lang="vi-VN" dirty="0">
                <a:latin typeface="+mj-lt"/>
              </a:rPr>
              <a:t>, </a:t>
            </a:r>
            <a:r>
              <a:rPr lang="vi-VN" b="1" dirty="0">
                <a:latin typeface="+mj-lt"/>
              </a:rPr>
              <a:t>10Base2</a:t>
            </a:r>
            <a:r>
              <a:rPr lang="vi-VN" dirty="0">
                <a:latin typeface="+mj-lt"/>
              </a:rPr>
              <a:t>, </a:t>
            </a:r>
            <a:r>
              <a:rPr lang="vi-VN" b="1" dirty="0">
                <a:latin typeface="+mj-lt"/>
              </a:rPr>
              <a:t>10Base-T</a:t>
            </a:r>
            <a:r>
              <a:rPr lang="vi-VN" dirty="0">
                <a:latin typeface="+mj-lt"/>
              </a:rPr>
              <a:t>, </a:t>
            </a:r>
            <a:r>
              <a:rPr lang="vi-VN" b="1" dirty="0">
                <a:latin typeface="+mj-lt"/>
              </a:rPr>
              <a:t>1Base5 </a:t>
            </a:r>
            <a:r>
              <a:rPr lang="vi-VN" dirty="0">
                <a:latin typeface="+mj-lt"/>
              </a:rPr>
              <a:t>và </a:t>
            </a:r>
            <a:r>
              <a:rPr lang="vi-VN" b="1" dirty="0" smtClean="0">
                <a:latin typeface="+mj-lt"/>
              </a:rPr>
              <a:t>100Base-T</a:t>
            </a:r>
            <a:endParaRPr lang="en-US" dirty="0">
              <a:latin typeface="+mj-lt"/>
            </a:endParaRPr>
          </a:p>
          <a:p>
            <a:r>
              <a:rPr lang="vi-VN" dirty="0" smtClean="0">
                <a:latin typeface="+mj-lt"/>
              </a:rPr>
              <a:t>Các </a:t>
            </a:r>
            <a:r>
              <a:rPr lang="vi-VN" dirty="0">
                <a:latin typeface="+mj-lt"/>
              </a:rPr>
              <a:t>số đầu (10, 1, </a:t>
            </a:r>
            <a:r>
              <a:rPr lang="vi-VN" dirty="0" smtClean="0">
                <a:latin typeface="+mj-lt"/>
              </a:rPr>
              <a:t>và</a:t>
            </a:r>
            <a:r>
              <a:rPr lang="en-US" dirty="0" smtClean="0">
                <a:latin typeface="+mj-lt"/>
              </a:rPr>
              <a:t> </a:t>
            </a:r>
            <a:r>
              <a:rPr lang="vi-VN" dirty="0" smtClean="0">
                <a:latin typeface="+mj-lt"/>
              </a:rPr>
              <a:t>100</a:t>
            </a:r>
            <a:r>
              <a:rPr lang="vi-VN" dirty="0">
                <a:latin typeface="+mj-lt"/>
              </a:rPr>
              <a:t>) cho biết tốc độ dữ liệu theo </a:t>
            </a:r>
            <a:r>
              <a:rPr lang="vi-VN" dirty="0" smtClean="0">
                <a:latin typeface="+mj-lt"/>
              </a:rPr>
              <a:t>Mbps</a:t>
            </a:r>
            <a:endParaRPr lang="en-US" dirty="0" smtClean="0">
              <a:latin typeface="+mj-lt"/>
            </a:endParaRPr>
          </a:p>
          <a:p>
            <a:r>
              <a:rPr lang="vi-VN" dirty="0" smtClean="0">
                <a:latin typeface="+mj-lt"/>
              </a:rPr>
              <a:t>Các </a:t>
            </a:r>
            <a:r>
              <a:rPr lang="vi-VN" dirty="0">
                <a:latin typeface="+mj-lt"/>
              </a:rPr>
              <a:t>số cuối (5, 2, 1 hay T) cho biết chiều dài cáp </a:t>
            </a:r>
            <a:r>
              <a:rPr lang="vi-VN" dirty="0" smtClean="0">
                <a:latin typeface="+mj-lt"/>
              </a:rPr>
              <a:t>tối</a:t>
            </a:r>
            <a:r>
              <a:rPr lang="en-US" dirty="0" smtClean="0">
                <a:latin typeface="+mj-lt"/>
              </a:rPr>
              <a:t> </a:t>
            </a:r>
            <a:r>
              <a:rPr lang="vi-VN" dirty="0" smtClean="0">
                <a:latin typeface="+mj-lt"/>
              </a:rPr>
              <a:t>đa </a:t>
            </a:r>
            <a:r>
              <a:rPr lang="vi-VN" dirty="0">
                <a:latin typeface="+mj-lt"/>
              </a:rPr>
              <a:t>hay dạng </a:t>
            </a:r>
            <a:r>
              <a:rPr lang="vi-VN" dirty="0" smtClean="0">
                <a:latin typeface="+mj-lt"/>
              </a:rPr>
              <a:t>cáp</a:t>
            </a:r>
            <a:endParaRPr lang="en-US" dirty="0" smtClean="0">
              <a:latin typeface="+mj-lt"/>
            </a:endParaRPr>
          </a:p>
          <a:p>
            <a:pPr>
              <a:buFont typeface="Wingdings" panose="05000000000000000000" pitchFamily="2" charset="2"/>
              <a:buChar char="v"/>
            </a:pPr>
            <a:r>
              <a:rPr lang="en-US" dirty="0" smtClean="0">
                <a:latin typeface="+mj-lt"/>
              </a:rPr>
              <a:t> </a:t>
            </a:r>
            <a:r>
              <a:rPr lang="vi-VN" dirty="0" smtClean="0">
                <a:latin typeface="+mj-lt"/>
              </a:rPr>
              <a:t>IEEE </a:t>
            </a:r>
            <a:r>
              <a:rPr lang="vi-VN" dirty="0">
                <a:latin typeface="+mj-lt"/>
              </a:rPr>
              <a:t>chỉ định nghĩa một đặc trưng cho broadband: 10Broad36. Số 10 </a:t>
            </a:r>
            <a:r>
              <a:rPr lang="vi-VN" dirty="0" smtClean="0">
                <a:latin typeface="+mj-lt"/>
              </a:rPr>
              <a:t>cho</a:t>
            </a:r>
            <a:r>
              <a:rPr lang="en-US" dirty="0" smtClean="0">
                <a:latin typeface="+mj-lt"/>
              </a:rPr>
              <a:t> </a:t>
            </a:r>
            <a:r>
              <a:rPr lang="vi-VN" dirty="0" smtClean="0">
                <a:latin typeface="+mj-lt"/>
              </a:rPr>
              <a:t>biết </a:t>
            </a:r>
            <a:r>
              <a:rPr lang="vi-VN" dirty="0">
                <a:latin typeface="+mj-lt"/>
              </a:rPr>
              <a:t>tốc độ dữ liệu, số cuối định nghĩa chiều dài tối đa của </a:t>
            </a:r>
            <a:r>
              <a:rPr lang="vi-VN" dirty="0" smtClean="0">
                <a:latin typeface="+mj-lt"/>
              </a:rPr>
              <a:t>cáp</a:t>
            </a:r>
            <a:r>
              <a:rPr lang="en-US" dirty="0" smtClean="0">
                <a:latin typeface="+mj-lt"/>
              </a:rPr>
              <a:t> </a:t>
            </a:r>
            <a:r>
              <a:rPr lang="en-US" dirty="0" smtClean="0">
                <a:latin typeface="Times New Roman" panose="02020603050405020304" pitchFamily="18" charset="0"/>
                <a:cs typeface="Times New Roman" panose="02020603050405020304" pitchFamily="18" charset="0"/>
              </a:rPr>
              <a:t>(t</a:t>
            </a:r>
            <a:r>
              <a:rPr lang="vi-VN" dirty="0" smtClean="0">
                <a:latin typeface="+mj-lt"/>
              </a:rPr>
              <a:t>uy </a:t>
            </a:r>
            <a:r>
              <a:rPr lang="vi-VN" dirty="0">
                <a:latin typeface="+mj-lt"/>
              </a:rPr>
              <a:t>nhiên cự ly này có </a:t>
            </a:r>
            <a:r>
              <a:rPr lang="vi-VN" dirty="0" smtClean="0">
                <a:latin typeface="+mj-lt"/>
              </a:rPr>
              <a:t>thể</a:t>
            </a:r>
            <a:r>
              <a:rPr lang="en-US" dirty="0" smtClean="0">
                <a:latin typeface="+mj-lt"/>
              </a:rPr>
              <a:t> </a:t>
            </a:r>
            <a:r>
              <a:rPr lang="vi-VN" dirty="0" smtClean="0">
                <a:latin typeface="+mj-lt"/>
              </a:rPr>
              <a:t>thay </a:t>
            </a:r>
            <a:r>
              <a:rPr lang="vi-VN" dirty="0">
                <a:latin typeface="+mj-lt"/>
              </a:rPr>
              <a:t>đổi nhờ các thiết bị hỗ trợ kết nối như router hay </a:t>
            </a:r>
            <a:r>
              <a:rPr lang="vi-VN" dirty="0" smtClean="0">
                <a:latin typeface="+mj-lt"/>
              </a:rPr>
              <a:t>repeater</a:t>
            </a:r>
            <a:r>
              <a:rPr lang="en-US" dirty="0" smtClean="0">
                <a:latin typeface="Times New Roman" panose="02020603050405020304" pitchFamily="18" charset="0"/>
                <a:cs typeface="Times New Roman" panose="02020603050405020304" pitchFamily="18" charset="0"/>
              </a:rPr>
              <a:t>)</a:t>
            </a:r>
            <a:r>
              <a:rPr lang="vi-VN" dirty="0" smtClean="0">
                <a:latin typeface="Times New Roman" panose="02020603050405020304" pitchFamily="18" charset="0"/>
                <a:cs typeface="Times New Roman" panose="02020603050405020304" pitchFamily="18" charset="0"/>
              </a:rPr>
              <a:t> </a:t>
            </a:r>
            <a:r>
              <a:rPr lang="vi-VN" dirty="0"/>
              <a:t/>
            </a:r>
            <a:br>
              <a:rPr lang="vi-VN" dirty="0"/>
            </a:br>
            <a:endParaRPr lang="en-US" dirty="0"/>
          </a:p>
        </p:txBody>
      </p:sp>
    </p:spTree>
    <p:extLst>
      <p:ext uri="{BB962C8B-B14F-4D97-AF65-F5344CB8AC3E}">
        <p14:creationId xmlns:p14="http://schemas.microsoft.com/office/powerpoint/2010/main" val="129643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10.1 ETHERNET</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000" b="1" dirty="0" smtClean="0">
                <a:latin typeface="Times New Roman" pitchFamily="18" charset="0"/>
                <a:cs typeface="Times New Roman" pitchFamily="18" charset="0"/>
              </a:rPr>
              <a:t> </a:t>
            </a:r>
            <a:r>
              <a:rPr lang="vi-VN" sz="3000" b="1" dirty="0" smtClean="0">
                <a:latin typeface="Times New Roman" pitchFamily="18" charset="0"/>
                <a:cs typeface="Times New Roman" pitchFamily="18" charset="0"/>
              </a:rPr>
              <a:t>CSMA/CD </a:t>
            </a:r>
            <a:r>
              <a:rPr lang="vi-VN" sz="3000" b="1" dirty="0">
                <a:latin typeface="Times New Roman" pitchFamily="18" charset="0"/>
                <a:cs typeface="Times New Roman" pitchFamily="18" charset="0"/>
              </a:rPr>
              <a:t>(phát hiện xung đột)</a:t>
            </a:r>
            <a:r>
              <a:rPr lang="vi-VN" sz="3000" dirty="0">
                <a:latin typeface="Times New Roman" pitchFamily="18" charset="0"/>
                <a:cs typeface="Times New Roman" pitchFamily="18" charset="0"/>
              </a:rPr>
              <a:t> </a:t>
            </a:r>
            <a:endParaRPr lang="en-US" sz="3000" dirty="0" smtClean="0">
              <a:latin typeface="Times New Roman" pitchFamily="18" charset="0"/>
              <a:cs typeface="Times New Roman" pitchFamily="18" charset="0"/>
            </a:endParaRPr>
          </a:p>
          <a:p>
            <a:r>
              <a:rPr lang="vi-VN" dirty="0" smtClean="0">
                <a:latin typeface="+mj-lt"/>
              </a:rPr>
              <a:t>CSMA/CD</a:t>
            </a:r>
            <a:r>
              <a:rPr lang="en-US" dirty="0" smtClean="0">
                <a:latin typeface="+mj-lt"/>
              </a:rPr>
              <a:t>: </a:t>
            </a:r>
            <a:r>
              <a:rPr lang="vi-VN" dirty="0" smtClean="0">
                <a:latin typeface="+mj-lt"/>
              </a:rPr>
              <a:t>carrrier </a:t>
            </a:r>
            <a:r>
              <a:rPr lang="vi-VN" dirty="0">
                <a:latin typeface="+mj-lt"/>
              </a:rPr>
              <a:t>sense multiple access </a:t>
            </a:r>
            <a:r>
              <a:rPr lang="vi-VN" dirty="0" smtClean="0">
                <a:latin typeface="+mj-lt"/>
              </a:rPr>
              <a:t>with</a:t>
            </a:r>
            <a:r>
              <a:rPr lang="en-US" dirty="0" smtClean="0">
                <a:latin typeface="+mj-lt"/>
              </a:rPr>
              <a:t> </a:t>
            </a:r>
            <a:r>
              <a:rPr lang="vi-VN" dirty="0" smtClean="0">
                <a:latin typeface="+mj-lt"/>
              </a:rPr>
              <a:t>collisiondetection</a:t>
            </a:r>
            <a:r>
              <a:rPr lang="vi-VN" b="1" dirty="0" smtClean="0">
                <a:latin typeface="+mj-lt"/>
              </a:rPr>
              <a:t> </a:t>
            </a:r>
            <a:r>
              <a:rPr lang="vi-VN" dirty="0" smtClean="0">
                <a:latin typeface="+mj-lt"/>
              </a:rPr>
              <a:t>(</a:t>
            </a:r>
            <a:r>
              <a:rPr lang="en-US" dirty="0" err="1" smtClean="0">
                <a:latin typeface="Times New Roman" panose="02020603050405020304" pitchFamily="18" charset="0"/>
                <a:cs typeface="Times New Roman" panose="02020603050405020304" pitchFamily="18" charset="0"/>
              </a:rPr>
              <a:t>chuẩn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trong</a:t>
            </a:r>
            <a:r>
              <a:rPr lang="vi-VN" dirty="0" smtClean="0">
                <a:latin typeface="Times New Roman" panose="02020603050405020304" pitchFamily="18" charset="0"/>
                <a:cs typeface="Times New Roman" panose="02020603050405020304" pitchFamily="18" charset="0"/>
              </a:rPr>
              <a:t> </a:t>
            </a:r>
            <a:r>
              <a:rPr lang="vi-VN" dirty="0">
                <a:latin typeface="+mj-lt"/>
              </a:rPr>
              <a:t>IEEE </a:t>
            </a:r>
            <a:r>
              <a:rPr lang="vi-VN" dirty="0" smtClean="0">
                <a:latin typeface="+mj-lt"/>
              </a:rPr>
              <a:t>802.3)</a:t>
            </a:r>
            <a:endParaRPr lang="en-US" dirty="0" smtClean="0">
              <a:latin typeface="+mj-lt"/>
            </a:endParaRPr>
          </a:p>
          <a:p>
            <a:r>
              <a:rPr lang="en-US" dirty="0" smtClean="0">
                <a:latin typeface="Times New Roman" pitchFamily="18" charset="0"/>
                <a:cs typeface="Times New Roman" pitchFamily="18" charset="0"/>
              </a:rPr>
              <a:t>C</a:t>
            </a:r>
            <a:r>
              <a:rPr lang="vi-VN" dirty="0" smtClean="0">
                <a:latin typeface="+mj-lt"/>
              </a:rPr>
              <a:t>ơ chế</a:t>
            </a:r>
            <a:r>
              <a:rPr lang="en-US" dirty="0" smtClean="0">
                <a:latin typeface="+mj-lt"/>
              </a:rPr>
              <a:t> </a:t>
            </a:r>
            <a:r>
              <a:rPr lang="vi-VN" dirty="0" smtClean="0">
                <a:latin typeface="+mj-lt"/>
              </a:rPr>
              <a:t>trong </a:t>
            </a:r>
            <a:r>
              <a:rPr lang="vi-VN" dirty="0">
                <a:latin typeface="+mj-lt"/>
              </a:rPr>
              <a:t>mạng LAN nhằm điều hòa lưu thông, giảm thiểu xung đột và tối đa hóa số khung có </a:t>
            </a:r>
            <a:r>
              <a:rPr lang="vi-VN" dirty="0" smtClean="0">
                <a:latin typeface="+mj-lt"/>
              </a:rPr>
              <a:t>thể</a:t>
            </a:r>
            <a:r>
              <a:rPr lang="en-US" dirty="0" smtClean="0">
                <a:latin typeface="+mj-lt"/>
              </a:rPr>
              <a:t> </a:t>
            </a:r>
            <a:r>
              <a:rPr lang="vi-VN" dirty="0" smtClean="0">
                <a:latin typeface="+mj-lt"/>
              </a:rPr>
              <a:t>truyền </a:t>
            </a:r>
            <a:r>
              <a:rPr lang="vi-VN" dirty="0">
                <a:latin typeface="+mj-lt"/>
              </a:rPr>
              <a:t>thành </a:t>
            </a:r>
            <a:r>
              <a:rPr lang="vi-VN" dirty="0" smtClean="0">
                <a:latin typeface="+mj-lt"/>
              </a:rPr>
              <a:t>công</a:t>
            </a:r>
            <a:endParaRPr lang="en-US" dirty="0" smtClean="0">
              <a:latin typeface="+mj-lt"/>
            </a:endParaRPr>
          </a:p>
          <a:p>
            <a:r>
              <a:rPr lang="vi-VN" dirty="0" smtClean="0">
                <a:latin typeface="+mj-lt"/>
              </a:rPr>
              <a:t>CSMA/CD phát triển từ ch</a:t>
            </a:r>
            <a:r>
              <a:rPr lang="en-US" dirty="0" smtClean="0">
                <a:latin typeface="Times New Roman" pitchFamily="18" charset="0"/>
                <a:cs typeface="Times New Roman" pitchFamily="18" charset="0"/>
              </a:rPr>
              <a:t>uẩn</a:t>
            </a:r>
            <a:r>
              <a:rPr lang="vi-VN" dirty="0" smtClean="0">
                <a:latin typeface="+mj-lt"/>
              </a:rPr>
              <a:t> đa truy cập (multiple</a:t>
            </a:r>
            <a:r>
              <a:rPr lang="en-US" dirty="0" smtClean="0">
                <a:latin typeface="+mj-lt"/>
              </a:rPr>
              <a:t> </a:t>
            </a:r>
            <a:r>
              <a:rPr lang="vi-VN" dirty="0" smtClean="0">
                <a:latin typeface="+mj-lt"/>
              </a:rPr>
              <a:t>access: MA) thành carrier sense multiple access (CSMA) và cuối cùng thành CSMA/CD</a:t>
            </a:r>
            <a:r>
              <a:rPr lang="vi-VN" dirty="0"/>
              <a:t/>
            </a:r>
            <a:br>
              <a:rPr lang="vi-VN" dirty="0"/>
            </a:br>
            <a:r>
              <a:rPr lang="vi-VN" dirty="0"/>
              <a:t> </a:t>
            </a:r>
            <a:br>
              <a:rPr lang="vi-VN" dirty="0"/>
            </a:br>
            <a:endParaRPr lang="en-US" dirty="0"/>
          </a:p>
        </p:txBody>
      </p:sp>
    </p:spTree>
    <p:extLst>
      <p:ext uri="{BB962C8B-B14F-4D97-AF65-F5344CB8AC3E}">
        <p14:creationId xmlns:p14="http://schemas.microsoft.com/office/powerpoint/2010/main" val="412480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10.1 ETHERNET</a:t>
            </a:r>
            <a:endParaRPr lang="en-US" dirty="0"/>
          </a:p>
        </p:txBody>
      </p:sp>
      <p:sp>
        <p:nvSpPr>
          <p:cNvPr id="3" name="Content Placeholder 2"/>
          <p:cNvSpPr>
            <a:spLocks noGrp="1"/>
          </p:cNvSpPr>
          <p:nvPr>
            <p:ph idx="1"/>
          </p:nvPr>
        </p:nvSpPr>
        <p:spPr/>
        <p:txBody>
          <a:bodyPr/>
          <a:lstStyle/>
          <a:p>
            <a:r>
              <a:rPr lang="vi-VN" dirty="0" smtClean="0">
                <a:latin typeface="+mj-lt"/>
              </a:rPr>
              <a:t>CSMA</a:t>
            </a:r>
            <a:r>
              <a:rPr lang="en-US" dirty="0" smtClean="0">
                <a:latin typeface="+mj-lt"/>
              </a:rPr>
              <a:t> </a:t>
            </a:r>
            <a:r>
              <a:rPr lang="vi-VN" dirty="0" smtClean="0">
                <a:latin typeface="+mj-lt"/>
              </a:rPr>
              <a:t>chỉ giảm thiểu nhưng không thể loại bỏ được xung đột</a:t>
            </a:r>
            <a:endParaRPr lang="en-US" dirty="0">
              <a:latin typeface="+mj-lt"/>
            </a:endParaRPr>
          </a:p>
        </p:txBody>
      </p:sp>
      <p:pic>
        <p:nvPicPr>
          <p:cNvPr id="1026" name="Picture 2"/>
          <p:cNvPicPr>
            <a:picLocks noChangeAspect="1" noChangeArrowheads="1"/>
          </p:cNvPicPr>
          <p:nvPr/>
        </p:nvPicPr>
        <p:blipFill>
          <a:blip r:embed="rId2"/>
          <a:srcRect/>
          <a:stretch>
            <a:fillRect/>
          </a:stretch>
        </p:blipFill>
        <p:spPr bwMode="auto">
          <a:xfrm>
            <a:off x="2605088" y="2324100"/>
            <a:ext cx="6672937" cy="2905124"/>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10.1 ETHERNET</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sz="3000" b="1" dirty="0" smtClean="0">
                <a:latin typeface="Times New Roman" pitchFamily="18" charset="0"/>
                <a:cs typeface="Times New Roman" pitchFamily="18" charset="0"/>
              </a:rPr>
              <a:t> Định địa chỉ</a:t>
            </a:r>
          </a:p>
          <a:p>
            <a:r>
              <a:rPr lang="vi-VN" dirty="0" smtClean="0">
                <a:latin typeface="Times New Roman" pitchFamily="18" charset="0"/>
                <a:cs typeface="Times New Roman" pitchFamily="18" charset="0"/>
              </a:rPr>
              <a:t>Mỗi trạm trên mạng Ethernet (như máy tính, trạm hay máy in, ...) đều có riêng một card giao tiếp mạng (NIC: network interface card)</a:t>
            </a:r>
            <a:endParaRPr lang="en-US" dirty="0" smtClean="0">
              <a:latin typeface="Times New Roman" pitchFamily="18" charset="0"/>
              <a:cs typeface="Times New Roman" pitchFamily="18" charset="0"/>
            </a:endParaRPr>
          </a:p>
          <a:p>
            <a:r>
              <a:rPr lang="vi-VN" dirty="0" smtClean="0">
                <a:latin typeface="Times New Roman" pitchFamily="18" charset="0"/>
                <a:cs typeface="Times New Roman" pitchFamily="18" charset="0"/>
              </a:rPr>
              <a:t>Các card này thường được đặt bên trong trạm dùng địa chỉ vật lý gồm sáu byte</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Số trong NIC là duy nhất</a:t>
            </a:r>
            <a:r>
              <a:rPr lang="en-US" dirty="0" smtClean="0">
                <a:latin typeface="Times New Roman" pitchFamily="18" charset="0"/>
                <a:cs typeface="Times New Roman" pitchFamily="18" charset="0"/>
              </a:rPr>
              <a:t>)</a:t>
            </a:r>
            <a:r>
              <a:rPr lang="vi-VN"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Các đặc tính về điện</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sz="3000" b="1" dirty="0" smtClean="0">
                <a:latin typeface="Times New Roman" pitchFamily="18" charset="0"/>
                <a:cs typeface="Times New Roman" pitchFamily="18" charset="0"/>
              </a:rPr>
              <a:t> Sinaling </a:t>
            </a:r>
          </a:p>
          <a:p>
            <a:r>
              <a:rPr lang="vi-VN" dirty="0" smtClean="0">
                <a:latin typeface="Times New Roman" pitchFamily="18" charset="0"/>
                <a:cs typeface="Times New Roman" pitchFamily="18" charset="0"/>
              </a:rPr>
              <a:t>Hệ baseband dùng phương pháp mã hóa Manchester. Có một hệ broadband 10Broad36</a:t>
            </a:r>
            <a:r>
              <a:rPr lang="en-US" dirty="0" smtClean="0">
                <a:latin typeface="Times New Roman" pitchFamily="18" charset="0"/>
                <a:cs typeface="Times New Roman" pitchFamily="18" charset="0"/>
              </a:rPr>
              <a:t> </a:t>
            </a:r>
            <a:r>
              <a:rPr lang="vi-VN" dirty="0" smtClean="0">
                <a:latin typeface="Times New Roman" pitchFamily="18" charset="0"/>
                <a:cs typeface="Times New Roman" pitchFamily="18" charset="0"/>
              </a:rPr>
              <a:t>dùng phương pháp chuyển đổi số/tương tự (PSK)  </a:t>
            </a:r>
          </a:p>
          <a:p>
            <a:pPr>
              <a:buFont typeface="Wingdings" pitchFamily="2" charset="2"/>
              <a:buChar char="v"/>
            </a:pPr>
            <a:r>
              <a:rPr lang="en-US" sz="3000" b="1" dirty="0" smtClean="0">
                <a:latin typeface="Times New Roman" pitchFamily="18" charset="0"/>
                <a:cs typeface="Times New Roman" pitchFamily="18" charset="0"/>
              </a:rPr>
              <a:t> </a:t>
            </a:r>
            <a:r>
              <a:rPr lang="vi-VN" sz="3000" b="1" dirty="0" smtClean="0">
                <a:latin typeface="Times New Roman" pitchFamily="18" charset="0"/>
                <a:cs typeface="Times New Roman" pitchFamily="18" charset="0"/>
              </a:rPr>
              <a:t>Tốc độ dữ liệu  </a:t>
            </a:r>
          </a:p>
          <a:p>
            <a:r>
              <a:rPr lang="vi-VN" dirty="0" smtClean="0">
                <a:latin typeface="Times New Roman" pitchFamily="18" charset="0"/>
                <a:cs typeface="Times New Roman" pitchFamily="18" charset="0"/>
              </a:rPr>
              <a:t>Các mạng LAN  Ethernet có thể hỗ trợ tốc độ dữ liệu giữa 1 và 100 Mbps </a:t>
            </a: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khung</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sz="3000" dirty="0" smtClean="0">
                <a:latin typeface="Times New Roman" pitchFamily="18" charset="0"/>
                <a:cs typeface="Times New Roman" pitchFamily="18" charset="0"/>
              </a:rPr>
              <a:t> </a:t>
            </a:r>
            <a:r>
              <a:rPr lang="vi-VN" sz="3000" dirty="0" smtClean="0">
                <a:latin typeface="Times New Roman" pitchFamily="18" charset="0"/>
                <a:cs typeface="Times New Roman" pitchFamily="18" charset="0"/>
              </a:rPr>
              <a:t>IEEE 802.3 đặc trưng một dạng khung chứa 7 trường</a:t>
            </a:r>
            <a:endParaRPr lang="en-US" sz="3000"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P</a:t>
            </a:r>
            <a:r>
              <a:rPr lang="vi-VN" dirty="0" smtClean="0">
                <a:latin typeface="+mj-lt"/>
              </a:rPr>
              <a:t>hần  đầu, SFD, DA, SA,  độ dài/dạng của PDU, khung 802.2 và CRC</a:t>
            </a:r>
            <a:endParaRPr lang="en-US" dirty="0" smtClean="0">
              <a:latin typeface="+mj-lt"/>
            </a:endParaRPr>
          </a:p>
          <a:p>
            <a:r>
              <a:rPr lang="vi-VN" dirty="0" smtClean="0">
                <a:latin typeface="+mj-lt"/>
              </a:rPr>
              <a:t>Ethernet không cung cấp cơ chế về frame xác nhận. Phần xác nhận phải được thêm vào trong các lớp cao hơn. </a:t>
            </a:r>
            <a:endParaRPr lang="en-US"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928689" y="3565366"/>
            <a:ext cx="10444162" cy="2263934"/>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khung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dirty="0" smtClean="0">
                <a:latin typeface="Times New Roman" pitchFamily="18" charset="0"/>
                <a:cs typeface="Times New Roman" pitchFamily="18" charset="0"/>
              </a:rPr>
              <a:t> </a:t>
            </a:r>
            <a:r>
              <a:rPr lang="vi-VN" sz="3000" dirty="0" smtClean="0">
                <a:latin typeface="Times New Roman" pitchFamily="18" charset="0"/>
                <a:cs typeface="Times New Roman" pitchFamily="18" charset="0"/>
              </a:rPr>
              <a:t>Phần mở đầu </a:t>
            </a:r>
          </a:p>
          <a:p>
            <a:pPr>
              <a:buNone/>
            </a:pPr>
            <a:r>
              <a:rPr lang="en-US" dirty="0" smtClean="0">
                <a:latin typeface="+mj-lt"/>
              </a:rPr>
              <a:t>   </a:t>
            </a:r>
            <a:r>
              <a:rPr lang="vi-VN" dirty="0" smtClean="0">
                <a:latin typeface="+mj-lt"/>
              </a:rPr>
              <a:t>Phần này chứa 7 byte (56 bit) gồm các bit 1 và 0 liên tiếp nhằm cảnh báo với máy thu là có khung đến và cho phép đồng bộ với khung này</a:t>
            </a:r>
            <a:endParaRPr lang="en-US" dirty="0" smtClean="0">
              <a:latin typeface="+mj-lt"/>
            </a:endParaRPr>
          </a:p>
          <a:p>
            <a:pPr>
              <a:buFont typeface="Wingdings" pitchFamily="2" charset="2"/>
              <a:buChar char="v"/>
            </a:pPr>
            <a:r>
              <a:rPr lang="en-US" dirty="0" smtClean="0">
                <a:latin typeface="+mj-lt"/>
              </a:rPr>
              <a:t> </a:t>
            </a:r>
            <a:r>
              <a:rPr lang="vi-VN" sz="3000" dirty="0" smtClean="0">
                <a:latin typeface="+mj-lt"/>
              </a:rPr>
              <a:t>Start frame delimiter (SFD)</a:t>
            </a:r>
            <a:endParaRPr lang="en-US" sz="3000" dirty="0" smtClean="0">
              <a:latin typeface="+mj-lt"/>
            </a:endParaRPr>
          </a:p>
          <a:p>
            <a:pPr>
              <a:buNone/>
            </a:pPr>
            <a:r>
              <a:rPr lang="en-US" dirty="0" smtClean="0">
                <a:latin typeface="+mj-lt"/>
              </a:rPr>
              <a:t>   </a:t>
            </a:r>
            <a:r>
              <a:rPr lang="en-US" dirty="0" smtClean="0">
                <a:latin typeface="Times New Roman" pitchFamily="18" charset="0"/>
                <a:cs typeface="Times New Roman" pitchFamily="18" charset="0"/>
              </a:rPr>
              <a:t>G</a:t>
            </a:r>
            <a:r>
              <a:rPr lang="vi-VN" dirty="0" smtClean="0">
                <a:latin typeface="+mj-lt"/>
              </a:rPr>
              <a:t>iới hạn khung start; trường thứ hai của khung tín hiệu 802.3 cho máy thu biết là phần phía tiếp sau là dữ liệu, bắt đầu bằng các địa chỉ</a:t>
            </a:r>
            <a:endParaRPr lang="en-US" dirty="0" smtClean="0">
              <a:latin typeface="+mj-lt"/>
            </a:endParaRPr>
          </a:p>
          <a:p>
            <a:pPr>
              <a:buFont typeface="Wingdings" pitchFamily="2" charset="2"/>
              <a:buChar char="v"/>
            </a:pPr>
            <a:r>
              <a:rPr lang="en-US" dirty="0" smtClean="0">
                <a:latin typeface="+mj-lt"/>
              </a:rPr>
              <a:t> </a:t>
            </a:r>
            <a:r>
              <a:rPr lang="vi-VN" sz="3000" dirty="0" smtClean="0">
                <a:latin typeface="+mj-lt"/>
              </a:rPr>
              <a:t>Địa chỉ đến (DA: Destination Address)</a:t>
            </a:r>
            <a:endParaRPr lang="en-US" sz="3000" dirty="0" smtClean="0">
              <a:latin typeface="+mj-lt"/>
            </a:endParaRPr>
          </a:p>
          <a:p>
            <a:pPr>
              <a:buNone/>
            </a:pPr>
            <a:r>
              <a:rPr lang="en-US" dirty="0" smtClean="0">
                <a:latin typeface="Times New Roman" pitchFamily="18" charset="0"/>
                <a:cs typeface="Times New Roman" pitchFamily="18" charset="0"/>
              </a:rPr>
              <a:t>   G</a:t>
            </a:r>
            <a:r>
              <a:rPr lang="vi-VN" dirty="0" smtClean="0">
                <a:latin typeface="+mj-lt"/>
              </a:rPr>
              <a:t>ồm 6 byte và chứa các địa chỉ vật lý  đích kế tiếp của gói</a:t>
            </a:r>
            <a:endParaRPr lang="en-US" dirty="0" smtClean="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khung</a:t>
            </a:r>
            <a:endParaRPr lang="en-US" dirty="0"/>
          </a:p>
        </p:txBody>
      </p:sp>
      <p:sp>
        <p:nvSpPr>
          <p:cNvPr id="3" name="Content Placeholder 2"/>
          <p:cNvSpPr>
            <a:spLocks noGrp="1"/>
          </p:cNvSpPr>
          <p:nvPr>
            <p:ph idx="1"/>
          </p:nvPr>
        </p:nvSpPr>
        <p:spPr/>
        <p:txBody>
          <a:bodyPr>
            <a:normAutofit/>
          </a:bodyPr>
          <a:lstStyle/>
          <a:p>
            <a:r>
              <a:rPr lang="vi-VN" b="1" dirty="0" smtClean="0">
                <a:latin typeface="+mj-lt"/>
              </a:rPr>
              <a:t>Địa chỉ nguồn (SA: Source Address)</a:t>
            </a:r>
            <a:r>
              <a:rPr lang="en-US" b="1" dirty="0" smtClean="0">
                <a:latin typeface="+mj-lt"/>
              </a:rPr>
              <a:t>:</a:t>
            </a:r>
            <a:r>
              <a:rPr lang="vi-VN" b="1" dirty="0" smtClean="0">
                <a:latin typeface="+mj-lt"/>
              </a:rPr>
              <a:t> </a:t>
            </a:r>
            <a:r>
              <a:rPr lang="vi-VN" dirty="0" smtClean="0">
                <a:latin typeface="+mj-lt"/>
              </a:rPr>
              <a:t>là trường gồm 6 byte và chứa địa chỉ vật lý của thiết bị mà gói vừa đi qua. Thiết bị này có thể là trạm phát hay là router gần nhất để  nhận và chuyển tiếp gói đi </a:t>
            </a:r>
          </a:p>
          <a:p>
            <a:r>
              <a:rPr lang="vi-VN" b="1" dirty="0" smtClean="0">
                <a:latin typeface="+mj-lt"/>
              </a:rPr>
              <a:t>Chiều dài/dạng của PDU</a:t>
            </a:r>
            <a:r>
              <a:rPr lang="en-US" b="1" dirty="0" smtClean="0">
                <a:latin typeface="+mj-lt"/>
              </a:rPr>
              <a:t>:</a:t>
            </a:r>
            <a:r>
              <a:rPr lang="vi-VN" b="1" dirty="0" smtClean="0">
                <a:latin typeface="+mj-lt"/>
              </a:rPr>
              <a:t> </a:t>
            </a:r>
            <a:r>
              <a:rPr lang="vi-VN" dirty="0" smtClean="0">
                <a:latin typeface="+mj-lt"/>
              </a:rPr>
              <a:t>Hai byte kế này cho biết số byte trong PDU sắp tới</a:t>
            </a:r>
          </a:p>
          <a:p>
            <a:r>
              <a:rPr lang="vi-VN" b="1" dirty="0" smtClean="0">
                <a:latin typeface="+mj-lt"/>
              </a:rPr>
              <a:t>Khung 802.2 (PDU)</a:t>
            </a:r>
            <a:r>
              <a:rPr lang="en-US" b="1" dirty="0" smtClean="0">
                <a:latin typeface="+mj-lt"/>
              </a:rPr>
              <a:t>:</a:t>
            </a:r>
            <a:r>
              <a:rPr lang="vi-VN" b="1" dirty="0" smtClean="0">
                <a:latin typeface="+mj-lt"/>
              </a:rPr>
              <a:t> </a:t>
            </a:r>
            <a:r>
              <a:rPr lang="vi-VN" dirty="0" smtClean="0">
                <a:latin typeface="+mj-lt"/>
              </a:rPr>
              <a:t>Trường này chứa toàn bộ các khung của 802.2 như là đơn vị modun, di chuyển được </a:t>
            </a:r>
          </a:p>
          <a:p>
            <a:r>
              <a:rPr lang="vi-VN" b="1" dirty="0" smtClean="0">
                <a:latin typeface="+mj-lt"/>
              </a:rPr>
              <a:t>CRC</a:t>
            </a:r>
            <a:r>
              <a:rPr lang="en-US" b="1" dirty="0" smtClean="0">
                <a:latin typeface="+mj-lt"/>
              </a:rPr>
              <a:t>:</a:t>
            </a:r>
            <a:r>
              <a:rPr lang="vi-VN" b="1" dirty="0" smtClean="0">
                <a:latin typeface="+mj-lt"/>
              </a:rPr>
              <a:t> </a:t>
            </a:r>
            <a:r>
              <a:rPr lang="vi-VN" dirty="0" smtClean="0">
                <a:latin typeface="+mj-lt"/>
              </a:rPr>
              <a:t>Trường cuối cùng chứa các thông tin về phát hiện lỗi, trường hợp này là CRC-32</a:t>
            </a:r>
            <a:endParaRPr lang="en-US" dirty="0">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Trong ch</a:t>
            </a:r>
            <a:r>
              <a:rPr lang="en-US" sz="3000" dirty="0" smtClean="0">
                <a:latin typeface="Times New Roman" pitchFamily="18" charset="0"/>
                <a:cs typeface="Times New Roman" pitchFamily="18" charset="0"/>
              </a:rPr>
              <a:t>uẩn</a:t>
            </a:r>
            <a:r>
              <a:rPr lang="vi-VN" sz="3000" dirty="0" smtClean="0">
                <a:latin typeface="+mj-lt"/>
              </a:rPr>
              <a:t> 802.3 thì IEEE định nghĩa dạng cáp, phương thức nối,</a:t>
            </a:r>
            <a:r>
              <a:rPr lang="en-US" sz="3000" dirty="0" smtClean="0">
                <a:latin typeface="+mj-lt"/>
              </a:rPr>
              <a:t> </a:t>
            </a:r>
            <a:r>
              <a:rPr lang="vi-VN" sz="3000" dirty="0" smtClean="0">
                <a:latin typeface="+mj-lt"/>
              </a:rPr>
              <a:t>và tín hiệu dùng trong </a:t>
            </a:r>
            <a:r>
              <a:rPr lang="en-US" sz="3000" dirty="0" smtClean="0">
                <a:latin typeface="Times New Roman" pitchFamily="18" charset="0"/>
                <a:cs typeface="Times New Roman" pitchFamily="18" charset="0"/>
              </a:rPr>
              <a:t>các</a:t>
            </a:r>
            <a:r>
              <a:rPr lang="vi-VN" sz="3000" dirty="0" smtClean="0">
                <a:latin typeface="+mj-lt"/>
              </a:rPr>
              <a:t> thiết lập mạng Ethernet khác nhau</a:t>
            </a:r>
            <a:endParaRPr lang="en-US" sz="3000" dirty="0" smtClean="0">
              <a:latin typeface="+mj-lt"/>
            </a:endParaRPr>
          </a:p>
          <a:p>
            <a:r>
              <a:rPr lang="vi-VN" sz="3000" dirty="0" smtClean="0">
                <a:latin typeface="+mj-lt"/>
              </a:rPr>
              <a:t>Tất cả các mạng LAN  Ethernet đều được cấu hình theo dạng bus</a:t>
            </a:r>
            <a:r>
              <a:rPr lang="en-US" sz="3000" dirty="0" smtClean="0">
                <a:latin typeface="+mj-lt"/>
              </a:rPr>
              <a:t> </a:t>
            </a:r>
            <a:r>
              <a:rPr lang="vi-VN" sz="3000" dirty="0" smtClean="0">
                <a:latin typeface="+mj-lt"/>
              </a:rPr>
              <a:t>luận lý, cho dù chúng có thể được thiết lập theo cấu hình bus hay sao</a:t>
            </a:r>
            <a:endParaRPr lang="en-US" sz="3000" dirty="0" smtClean="0">
              <a:latin typeface="+mj-lt"/>
            </a:endParaRPr>
          </a:p>
          <a:p>
            <a:r>
              <a:rPr lang="vi-VN" sz="3000" dirty="0" smtClean="0">
                <a:latin typeface="+mj-lt"/>
              </a:rPr>
              <a:t>Mỗi frame được chuyển đến mọi trạm trong mạng nhưng chỉ có trạm đúng địa chỉ là đọc được. </a:t>
            </a:r>
            <a:endParaRPr lang="en-US" sz="3000"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b="1" dirty="0" smtClean="0">
                <a:latin typeface="Times New Roman" pitchFamily="18" charset="0"/>
                <a:cs typeface="Times New Roman" pitchFamily="18" charset="0"/>
              </a:rPr>
              <a:t> 10BASE5: Ethernet dày (thick ethernet)</a:t>
            </a:r>
          </a:p>
          <a:p>
            <a:r>
              <a:rPr lang="vi-VN" sz="3000" dirty="0" smtClean="0">
                <a:latin typeface="Times New Roman" pitchFamily="18" charset="0"/>
                <a:cs typeface="Times New Roman" pitchFamily="18" charset="0"/>
              </a:rPr>
              <a:t>10BASE5 có cấu trúc dạng bus dùng baseband và có cự ly tối đa là 500 mét.</a:t>
            </a:r>
            <a:r>
              <a:rPr lang="en-US" sz="3000" dirty="0" smtClean="0">
                <a:latin typeface="Times New Roman" pitchFamily="18" charset="0"/>
                <a:cs typeface="Times New Roman" pitchFamily="18" charset="0"/>
              </a:rPr>
              <a:t> </a:t>
            </a:r>
          </a:p>
          <a:p>
            <a:r>
              <a:rPr lang="vi-VN" sz="3000" dirty="0" smtClean="0">
                <a:latin typeface="Times New Roman" pitchFamily="18" charset="0"/>
                <a:cs typeface="Times New Roman" pitchFamily="18" charset="0"/>
              </a:rPr>
              <a:t>Các đầu nối cáp và cáp dùng trong 10BASE5 là cáp đồng trục, N IC, bộ thu/phát, và cáp AUI (attachment unit interface) </a:t>
            </a:r>
            <a:endParaRPr lang="en-US" sz="3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286000" y="4005263"/>
            <a:ext cx="7843032" cy="2547937"/>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a:xfrm>
            <a:off x="572493" y="1431235"/>
            <a:ext cx="4456707" cy="4866198"/>
          </a:xfrm>
        </p:spPr>
        <p:txBody>
          <a:bodyPr>
            <a:normAutofit lnSpcReduction="10000"/>
          </a:bodyPr>
          <a:lstStyle/>
          <a:p>
            <a:pPr algn="just">
              <a:buFont typeface="Wingdings" pitchFamily="2" charset="2"/>
              <a:buChar char="v"/>
            </a:pPr>
            <a:r>
              <a:rPr lang="en-US" b="1" dirty="0" smtClean="0">
                <a:latin typeface="Times New Roman" pitchFamily="18" charset="0"/>
                <a:cs typeface="Times New Roman" pitchFamily="18" charset="0"/>
              </a:rPr>
              <a:t> 10BASE5: Ethernet dày (thick ethernet)</a:t>
            </a:r>
          </a:p>
          <a:p>
            <a:pPr algn="just"/>
            <a:r>
              <a:rPr lang="vi-VN" dirty="0" smtClean="0">
                <a:latin typeface="Times New Roman" pitchFamily="18" charset="0"/>
                <a:cs typeface="Times New Roman" pitchFamily="18" charset="0"/>
              </a:rPr>
              <a:t>Cáp RG-8 là ch</a:t>
            </a:r>
            <a:r>
              <a:rPr lang="en-US" dirty="0" smtClean="0">
                <a:latin typeface="Times New Roman" pitchFamily="18" charset="0"/>
                <a:cs typeface="Times New Roman" pitchFamily="18" charset="0"/>
              </a:rPr>
              <a:t>uẩn </a:t>
            </a:r>
            <a:r>
              <a:rPr lang="vi-VN" dirty="0" smtClean="0">
                <a:latin typeface="Times New Roman" pitchFamily="18" charset="0"/>
                <a:cs typeface="Times New Roman" pitchFamily="18" charset="0"/>
              </a:rPr>
              <a:t>cáp được dùng làm backbone trong ch</a:t>
            </a:r>
            <a:r>
              <a:rPr lang="en-US" dirty="0" smtClean="0">
                <a:latin typeface="Times New Roman" pitchFamily="18" charset="0"/>
                <a:cs typeface="Times New Roman" pitchFamily="18" charset="0"/>
              </a:rPr>
              <a:t>uẩn </a:t>
            </a:r>
            <a:r>
              <a:rPr lang="vi-VN" dirty="0" smtClean="0">
                <a:latin typeface="Times New Roman" pitchFamily="18" charset="0"/>
                <a:cs typeface="Times New Roman" pitchFamily="18" charset="0"/>
              </a:rPr>
              <a:t>IEEE 802.3  </a:t>
            </a:r>
          </a:p>
          <a:p>
            <a:pPr algn="just"/>
            <a:r>
              <a:rPr lang="vi-VN" dirty="0" smtClean="0">
                <a:latin typeface="Times New Roman" pitchFamily="18" charset="0"/>
                <a:cs typeface="Times New Roman" pitchFamily="18" charset="0"/>
              </a:rPr>
              <a:t>Bộ thu/phát  thực hiện chức năng CSMA/CD thông qua việc kiểm tra các điện áp và xung đột trên mạng</a:t>
            </a:r>
          </a:p>
          <a:p>
            <a:pPr algn="just"/>
            <a:r>
              <a:rPr lang="vi-VN" dirty="0" smtClean="0">
                <a:latin typeface="Times New Roman" pitchFamily="18" charset="0"/>
                <a:cs typeface="Times New Roman" pitchFamily="18" charset="0"/>
              </a:rPr>
              <a:t>Cáp AUI: attachment unit interface, còn gọi là cáp truyền. </a:t>
            </a:r>
            <a:endParaRPr lang="en-US" dirty="0" smtClean="0">
              <a:latin typeface="Times New Roman" pitchFamily="18" charset="0"/>
              <a:cs typeface="Times New Roman" pitchFamily="18" charset="0"/>
            </a:endParaRPr>
          </a:p>
          <a:p>
            <a:endParaRPr lang="en-US" dirty="0"/>
          </a:p>
        </p:txBody>
      </p:sp>
      <p:pic>
        <p:nvPicPr>
          <p:cNvPr id="2050" name="Picture 2"/>
          <p:cNvPicPr>
            <a:picLocks noChangeAspect="1" noChangeArrowheads="1"/>
          </p:cNvPicPr>
          <p:nvPr/>
        </p:nvPicPr>
        <p:blipFill>
          <a:blip r:embed="rId2"/>
          <a:srcRect/>
          <a:stretch>
            <a:fillRect/>
          </a:stretch>
        </p:blipFill>
        <p:spPr bwMode="auto">
          <a:xfrm>
            <a:off x="5048250" y="2303645"/>
            <a:ext cx="6743700" cy="3982856"/>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a:xfrm>
            <a:off x="572493" y="1431235"/>
            <a:ext cx="4456707" cy="4866198"/>
          </a:xfrm>
        </p:spPr>
        <p:txBody>
          <a:bodyPr>
            <a:normAutofit lnSpcReduction="10000"/>
          </a:bodyPr>
          <a:lstStyle/>
          <a:p>
            <a:pPr>
              <a:buFont typeface="Wingdings" pitchFamily="2" charset="2"/>
              <a:buChar char="v"/>
            </a:pPr>
            <a:r>
              <a:rPr lang="en-US" b="1" dirty="0" smtClean="0">
                <a:latin typeface="Times New Roman" pitchFamily="18" charset="0"/>
                <a:cs typeface="Times New Roman" pitchFamily="18" charset="0"/>
              </a:rPr>
              <a:t>10BASE2: Thin Ethernet (Ethernet mỏng)</a:t>
            </a:r>
          </a:p>
          <a:p>
            <a:r>
              <a:rPr lang="vi-VN" dirty="0" smtClean="0">
                <a:latin typeface="Times New Roman" pitchFamily="18" charset="0"/>
                <a:cs typeface="Times New Roman" pitchFamily="18" charset="0"/>
              </a:rPr>
              <a:t>NIC: trong mạng này thì ngoài chức năng thông thường, NIC còn đảm nhận transceiver </a:t>
            </a:r>
          </a:p>
          <a:p>
            <a:r>
              <a:rPr lang="vi-VN" dirty="0" smtClean="0">
                <a:latin typeface="Times New Roman" pitchFamily="18" charset="0"/>
                <a:cs typeface="Times New Roman" pitchFamily="18" charset="0"/>
              </a:rPr>
              <a:t>Cáp đồng trục nhẹ: dùng RG- 58 </a:t>
            </a:r>
          </a:p>
          <a:p>
            <a:r>
              <a:rPr lang="vi-VN" dirty="0" smtClean="0">
                <a:latin typeface="Times New Roman" pitchFamily="18" charset="0"/>
                <a:cs typeface="Times New Roman" pitchFamily="18" charset="0"/>
              </a:rPr>
              <a:t>BNC-T: Bộ kết nối dùng dạng T với ba port: một cho N IC, và còn lại cho các ngõ vào và ngõ ra. </a:t>
            </a:r>
            <a:endParaRPr lang="en-US"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5167313" y="2247900"/>
            <a:ext cx="6695795" cy="354330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smtClean="0">
                <a:latin typeface="Times New Roman" pitchFamily="18" charset="0"/>
                <a:cs typeface="Times New Roman" pitchFamily="18" charset="0"/>
              </a:rPr>
              <a:t> 10BASE-T: Twisted –Pair Ethernet</a:t>
            </a:r>
          </a:p>
          <a:p>
            <a:r>
              <a:rPr lang="en-US" dirty="0" smtClean="0">
                <a:latin typeface="Times New Roman" pitchFamily="18" charset="0"/>
                <a:cs typeface="Times New Roman" pitchFamily="18" charset="0"/>
              </a:rPr>
              <a:t>L</a:t>
            </a:r>
            <a:r>
              <a:rPr lang="vi-VN" dirty="0" smtClean="0">
                <a:latin typeface="Times New Roman" pitchFamily="18" charset="0"/>
                <a:cs typeface="Times New Roman" pitchFamily="18" charset="0"/>
              </a:rPr>
              <a:t>à mạng LAN  dùng cấu hình sao và các dây dẫn (UTP unshielded twisted pair) thay vì cáp đồng trục. Mạng hỗ trợ tốc độ dữ liệu lên đến 10Mbps với chiều dài tối đa là 100 mét</a:t>
            </a:r>
            <a:endParaRPr lang="en-US"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2647950" y="3238500"/>
            <a:ext cx="6502014" cy="3224213"/>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mạng</a:t>
            </a:r>
            <a:endParaRPr lang="en-US" dirty="0"/>
          </a:p>
        </p:txBody>
      </p:sp>
      <p:sp>
        <p:nvSpPr>
          <p:cNvPr id="3" name="Content Placeholder 2"/>
          <p:cNvSpPr>
            <a:spLocks noGrp="1"/>
          </p:cNvSpPr>
          <p:nvPr>
            <p:ph idx="1"/>
          </p:nvPr>
        </p:nvSpPr>
        <p:spPr/>
        <p:txBody>
          <a:bodyPr/>
          <a:lstStyle/>
          <a:p>
            <a:r>
              <a:rPr lang="vi-VN" dirty="0" smtClean="0">
                <a:latin typeface="+mj-lt"/>
              </a:rPr>
              <a:t> 1BASE5: Star-LAN </a:t>
            </a:r>
            <a:endParaRPr lang="en-US" dirty="0" smtClean="0">
              <a:latin typeface="+mj-lt"/>
            </a:endParaRPr>
          </a:p>
          <a:p>
            <a:r>
              <a:rPr lang="en-US" dirty="0" smtClean="0">
                <a:latin typeface="Times New Roman" pitchFamily="18" charset="0"/>
                <a:cs typeface="Times New Roman" pitchFamily="18" charset="0"/>
              </a:rPr>
              <a:t>L</a:t>
            </a:r>
            <a:r>
              <a:rPr lang="vi-VN" dirty="0" smtClean="0">
                <a:latin typeface="+mj-lt"/>
              </a:rPr>
              <a:t>à sản p</a:t>
            </a:r>
            <a:r>
              <a:rPr lang="en-US" dirty="0" smtClean="0">
                <a:latin typeface="Times New Roman" pitchFamily="18" charset="0"/>
                <a:cs typeface="Times New Roman" pitchFamily="18" charset="0"/>
              </a:rPr>
              <a:t>hẩm</a:t>
            </a:r>
            <a:r>
              <a:rPr lang="en-US" dirty="0" smtClean="0">
                <a:latin typeface="+mj-lt"/>
              </a:rPr>
              <a:t> </a:t>
            </a:r>
            <a:r>
              <a:rPr lang="vi-VN" dirty="0" smtClean="0">
                <a:latin typeface="+mj-lt"/>
              </a:rPr>
              <a:t>của AT&amp;T và ngày càng ít được dùng do mạng có tốc độ chậm chỉ đạt 1Mbps, tức là</a:t>
            </a:r>
            <a:r>
              <a:rPr lang="vi-VN" dirty="0" smtClean="0"/>
              <a:t> </a:t>
            </a:r>
            <a:r>
              <a:rPr lang="vi-VN" dirty="0" smtClean="0">
                <a:latin typeface="+mj-lt"/>
              </a:rPr>
              <a:t>bé hơn 10 lần các dạng mạng đã nói trên </a:t>
            </a:r>
            <a:endParaRPr lang="en-US" dirty="0">
              <a:latin typeface="+mj-lt"/>
            </a:endParaRPr>
          </a:p>
        </p:txBody>
      </p:sp>
      <p:pic>
        <p:nvPicPr>
          <p:cNvPr id="3074" name="Picture 2"/>
          <p:cNvPicPr>
            <a:picLocks noChangeAspect="1" noChangeArrowheads="1"/>
          </p:cNvPicPr>
          <p:nvPr/>
        </p:nvPicPr>
        <p:blipFill>
          <a:blip r:embed="rId2"/>
          <a:srcRect/>
          <a:stretch>
            <a:fillRect/>
          </a:stretch>
        </p:blipFill>
        <p:spPr bwMode="auto">
          <a:xfrm>
            <a:off x="2833689" y="3019273"/>
            <a:ext cx="6005511" cy="3405339"/>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10.2 Các mạng ETHERNET khác</a:t>
            </a:r>
            <a:endParaRPr lang="en-US" dirty="0"/>
          </a:p>
        </p:txBody>
      </p:sp>
      <p:sp>
        <p:nvSpPr>
          <p:cNvPr id="3" name="Content Placeholder 2"/>
          <p:cNvSpPr>
            <a:spLocks noGrp="1"/>
          </p:cNvSpPr>
          <p:nvPr>
            <p:ph idx="1"/>
          </p:nvPr>
        </p:nvSpPr>
        <p:spPr/>
        <p:txBody>
          <a:bodyPr>
            <a:normAutofit/>
          </a:bodyPr>
          <a:lstStyle/>
          <a:p>
            <a:r>
              <a:rPr lang="en-US" sz="3600" dirty="0" smtClean="0">
                <a:latin typeface="Times New Roman" pitchFamily="18" charset="0"/>
                <a:cs typeface="Times New Roman" pitchFamily="18" charset="0"/>
              </a:rPr>
              <a:t> Switched Ethernet</a:t>
            </a:r>
          </a:p>
          <a:p>
            <a:r>
              <a:rPr lang="en-US" sz="3600" dirty="0" smtClean="0">
                <a:latin typeface="Times New Roman" pitchFamily="18" charset="0"/>
                <a:cs typeface="Times New Roman" pitchFamily="18" charset="0"/>
              </a:rPr>
              <a:t> Fast Ethernet</a:t>
            </a:r>
          </a:p>
          <a:p>
            <a:r>
              <a:rPr lang="en-US" sz="3600" dirty="0" smtClean="0">
                <a:latin typeface="Times New Roman" pitchFamily="18" charset="0"/>
                <a:cs typeface="Times New Roman" pitchFamily="18" charset="0"/>
              </a:rPr>
              <a:t> Gigabit Ethernet</a:t>
            </a:r>
          </a:p>
          <a:p>
            <a:r>
              <a:rPr lang="en-US" sz="3600" dirty="0" smtClean="0">
                <a:latin typeface="Times New Roman" pitchFamily="18" charset="0"/>
                <a:cs typeface="Times New Roman" pitchFamily="18" charset="0"/>
              </a:rPr>
              <a:t> TOKEN Bus</a:t>
            </a:r>
          </a:p>
          <a:p>
            <a:r>
              <a:rPr lang="en-US" sz="3600" dirty="0" smtClean="0">
                <a:latin typeface="Times New Roman" pitchFamily="18" charset="0"/>
                <a:cs typeface="Times New Roman" pitchFamily="18" charset="0"/>
              </a:rPr>
              <a:t> TOKEN Ring</a:t>
            </a:r>
            <a:endParaRPr lang="en-US" sz="3600"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Switched Ethernet</a:t>
            </a:r>
            <a:endParaRPr lang="en-US" dirty="0"/>
          </a:p>
        </p:txBody>
      </p:sp>
      <p:sp>
        <p:nvSpPr>
          <p:cNvPr id="3" name="Content Placeholder 2"/>
          <p:cNvSpPr>
            <a:spLocks noGrp="1"/>
          </p:cNvSpPr>
          <p:nvPr>
            <p:ph idx="1"/>
          </p:nvPr>
        </p:nvSpPr>
        <p:spPr/>
        <p:txBody>
          <a:bodyPr>
            <a:normAutofit/>
          </a:bodyPr>
          <a:lstStyle/>
          <a:p>
            <a:r>
              <a:rPr lang="en-US" sz="3000" dirty="0" smtClean="0">
                <a:latin typeface="Times New Roman" pitchFamily="18" charset="0"/>
                <a:cs typeface="Times New Roman" pitchFamily="18" charset="0"/>
              </a:rPr>
              <a:t>L</a:t>
            </a:r>
            <a:r>
              <a:rPr lang="vi-VN" sz="3000" dirty="0" smtClean="0">
                <a:latin typeface="Times New Roman" pitchFamily="18" charset="0"/>
                <a:cs typeface="Times New Roman" pitchFamily="18" charset="0"/>
              </a:rPr>
              <a:t>à mạng  chia sẻ môi trường (shared media), tức là toàn môi trường đều hoạt động trong mỗi lần truyền dẫn. Điều này là do tuy mạng có kiến trúc dạng sao nhưng lại là bus về mặt vật lý</a:t>
            </a:r>
            <a:endParaRPr lang="en-US" sz="3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2619375" y="2876550"/>
            <a:ext cx="7165994" cy="34290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Switched Ethernet</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Khi dùng trạm chuyển mạch thay vì hub thì về mặt lý thuyết, ta có thể tăng dung lượng mạng với N thiết bị lên đến Nx10Mbps do mạng 10Base-T dùng dây đôi UTP cho thông tin full-duplex </a:t>
            </a:r>
            <a:endParaRPr lang="en-US" sz="30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2643189" y="2937750"/>
            <a:ext cx="6958012" cy="34059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 Fast Ethernet</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Fast Ethernet là phiên bản của Ethernet vối tốc độ truyền 100Mbps và không thay đổi format của frame. Chỉ có thay đổi trong lớp MAC là tốc độ truyền dự liệu và vùng xung đột. Tốc độ truyền tăng 10 lần và vùng xung đột giảm đi 10 lần </a:t>
            </a:r>
            <a:endParaRPr lang="en-US" sz="30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1414463" y="3294752"/>
            <a:ext cx="9520237" cy="2953647"/>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Gigabit Ethernet</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Gigabit Ethernet với tốc độ truyền lên đến 1.000 Mbps</a:t>
            </a:r>
            <a:endParaRPr lang="en-US" sz="3000" dirty="0" smtClean="0">
              <a:latin typeface="+mj-lt"/>
            </a:endParaRPr>
          </a:p>
          <a:p>
            <a:r>
              <a:rPr lang="vi-VN" sz="3000" dirty="0" smtClean="0">
                <a:latin typeface="+mj-lt"/>
              </a:rPr>
              <a:t>Gigabit Ethernet được thiết kế chủ yếu cho cáp quang, tuy nhiên</a:t>
            </a:r>
            <a:r>
              <a:rPr lang="en-US" sz="3000" dirty="0" smtClean="0">
                <a:latin typeface="+mj-lt"/>
              </a:rPr>
              <a:t> </a:t>
            </a:r>
            <a:r>
              <a:rPr lang="vi-VN" sz="3000" dirty="0" smtClean="0">
                <a:latin typeface="+mj-lt"/>
              </a:rPr>
              <a:t>protocol thì không hạn chế cáp xoắn  đôi. Giagabit Ethernet thường được dùng làm backbone cho mạng Fast Ethernet</a:t>
            </a:r>
            <a:endParaRPr lang="en-US" sz="30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2571750" y="3367088"/>
            <a:ext cx="6858000" cy="313372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Gigabit Ethernet</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Có 4 thiết kế dùng cho Giga Ethernet là: 1000Base-LX, 1000Base-SX, 1000Base-CX và 1000Base-T</a:t>
            </a:r>
            <a:endParaRPr lang="en-US" sz="3000" dirty="0">
              <a:latin typeface="+mj-lt"/>
            </a:endParaRPr>
          </a:p>
        </p:txBody>
      </p:sp>
      <p:pic>
        <p:nvPicPr>
          <p:cNvPr id="8194" name="Picture 2"/>
          <p:cNvPicPr>
            <a:picLocks noChangeAspect="1" noChangeArrowheads="1"/>
          </p:cNvPicPr>
          <p:nvPr/>
        </p:nvPicPr>
        <p:blipFill>
          <a:blip r:embed="rId2"/>
          <a:srcRect/>
          <a:stretch>
            <a:fillRect/>
          </a:stretch>
        </p:blipFill>
        <p:spPr bwMode="auto">
          <a:xfrm>
            <a:off x="542925" y="2485068"/>
            <a:ext cx="11077575" cy="263462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TOKEN Bus</a:t>
            </a:r>
            <a:endParaRPr lang="en-US" dirty="0"/>
          </a:p>
        </p:txBody>
      </p:sp>
      <p:sp>
        <p:nvSpPr>
          <p:cNvPr id="3" name="Content Placeholder 2"/>
          <p:cNvSpPr>
            <a:spLocks noGrp="1"/>
          </p:cNvSpPr>
          <p:nvPr>
            <p:ph idx="1"/>
          </p:nvPr>
        </p:nvSpPr>
        <p:spPr/>
        <p:txBody>
          <a:bodyPr/>
          <a:lstStyle/>
          <a:p>
            <a:r>
              <a:rPr lang="vi-VN" dirty="0" smtClean="0">
                <a:latin typeface="+mj-lt"/>
              </a:rPr>
              <a:t>Token Bus (IEEE 802.4) phối hợp các tính năng của Ethernet và vòng Token. Ch</a:t>
            </a:r>
            <a:r>
              <a:rPr lang="en-US" dirty="0" smtClean="0">
                <a:latin typeface="Times New Roman" pitchFamily="18" charset="0"/>
                <a:cs typeface="Times New Roman" pitchFamily="18" charset="0"/>
              </a:rPr>
              <a:t>uẩn </a:t>
            </a:r>
            <a:r>
              <a:rPr lang="vi-VN" dirty="0" smtClean="0">
                <a:latin typeface="+mj-lt"/>
              </a:rPr>
              <a:t>này dùng cấu hình vật lý của Ethernet (cấu trúc bus) với khả năng không bị xung đột của vòng Token (dùng thời gian trể  định trước</a:t>
            </a:r>
            <a:r>
              <a:rPr lang="en-US" dirty="0" smtClean="0">
                <a:latin typeface="+mj-lt"/>
              </a:rPr>
              <a:t> </a:t>
            </a:r>
            <a:r>
              <a:rPr lang="vi-VN" dirty="0" smtClean="0">
                <a:latin typeface="+mj-lt"/>
              </a:rPr>
              <a:t>được) </a:t>
            </a:r>
          </a:p>
          <a:p>
            <a:r>
              <a:rPr lang="vi-VN" dirty="0" smtClean="0">
                <a:latin typeface="+mj-lt"/>
              </a:rPr>
              <a:t>Token Bus là dạng bus vật lý vận hành như một vòng luận lý dùng Token</a:t>
            </a:r>
            <a:endParaRPr lang="en-US" dirty="0" smtClean="0">
              <a:latin typeface="+mj-lt"/>
            </a:endParaRPr>
          </a:p>
          <a:p>
            <a:r>
              <a:rPr lang="vi-VN" dirty="0" smtClean="0">
                <a:latin typeface="+mj-lt"/>
              </a:rPr>
              <a:t>Token bus được giới hạn trong tự động hóa xí nghiệp và điều khiển quá trình</a:t>
            </a:r>
            <a:endParaRPr lang="en-US" dirty="0">
              <a:latin typeface="+mj-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Times New Roman" pitchFamily="18" charset="0"/>
                <a:cs typeface="Times New Roman" pitchFamily="18" charset="0"/>
              </a:rPr>
              <a:t>TOKEN Ring</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Vòng Token giải quyết bài  toán này bằng cách yêu cầu các trạm lần lượt gởi dữ liệu </a:t>
            </a:r>
          </a:p>
          <a:p>
            <a:r>
              <a:rPr lang="vi-VN" sz="3000" dirty="0" smtClean="0">
                <a:latin typeface="+mj-lt"/>
              </a:rPr>
              <a:t>Mỗi trạm chỉ có thể gởi tin khi đến lượt của mình và chỉ có thể gởi đi một frame. Cơ chế điều phối hoạt động này gọi là </a:t>
            </a:r>
            <a:r>
              <a:rPr lang="vi-VN" sz="3000" b="1" dirty="0" smtClean="0">
                <a:latin typeface="+mj-lt"/>
              </a:rPr>
              <a:t>Token passing</a:t>
            </a:r>
            <a:endParaRPr lang="en-US" sz="3000" b="1" dirty="0" smtClean="0">
              <a:latin typeface="+mj-lt"/>
            </a:endParaRPr>
          </a:p>
          <a:p>
            <a:r>
              <a:rPr lang="vi-VN" sz="3000" dirty="0" smtClean="0">
                <a:latin typeface="+mj-lt"/>
              </a:rPr>
              <a:t>Token là một frame được luân chuyển vòng qua các trạm. Mỗi trạm chỉ có thể gởi tin khi đã sở hữu được Token</a:t>
            </a:r>
            <a:endParaRPr lang="en-US" sz="3000" dirty="0" smtClean="0">
              <a:latin typeface="+mj-lt"/>
            </a:endParaRPr>
          </a:p>
          <a:p>
            <a:r>
              <a:rPr lang="vi-VN" sz="3000" dirty="0" smtClean="0">
                <a:latin typeface="+mj-lt"/>
              </a:rPr>
              <a:t>Token Vòng cho phép mỗi trạm lần lượt được gởi các bản tin </a:t>
            </a:r>
            <a:endParaRPr lang="en-US" sz="30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TOKEN Ring</a:t>
            </a:r>
            <a:endParaRPr lang="en-US" dirty="0"/>
          </a:p>
        </p:txBody>
      </p:sp>
      <p:sp>
        <p:nvSpPr>
          <p:cNvPr id="3" name="Content Placeholder 2"/>
          <p:cNvSpPr>
            <a:spLocks noGrp="1"/>
          </p:cNvSpPr>
          <p:nvPr>
            <p:ph idx="1"/>
          </p:nvPr>
        </p:nvSpPr>
        <p:spPr>
          <a:xfrm>
            <a:off x="572493" y="1431235"/>
            <a:ext cx="5009157" cy="4866198"/>
          </a:xfrm>
        </p:spPr>
        <p:txBody>
          <a:bodyPr/>
          <a:lstStyle/>
          <a:p>
            <a:r>
              <a:rPr lang="vi-VN" sz="3000" b="1" dirty="0" smtClean="0">
                <a:latin typeface="+mj-lt"/>
              </a:rPr>
              <a:t>Token passing</a:t>
            </a:r>
            <a:r>
              <a:rPr lang="en-US" sz="3000" b="1" dirty="0" smtClean="0">
                <a:latin typeface="+mj-lt"/>
              </a:rPr>
              <a:t>: </a:t>
            </a:r>
            <a:r>
              <a:rPr lang="vi-VN" sz="3000" dirty="0" smtClean="0">
                <a:latin typeface="+mj-lt"/>
              </a:rPr>
              <a:t>Mỗi trạm chỉ có thể gởi tin khi đến lượt của mình và chỉ có thể gởi đi một frame. Cơ chế điều phối hoạt động này gọi là</a:t>
            </a:r>
            <a:endParaRPr lang="en-US" sz="3000" b="1" dirty="0" smtClean="0">
              <a:latin typeface="+mj-lt"/>
            </a:endParaRPr>
          </a:p>
          <a:p>
            <a:endParaRPr lang="en-US" dirty="0"/>
          </a:p>
        </p:txBody>
      </p:sp>
      <p:pic>
        <p:nvPicPr>
          <p:cNvPr id="1026" name="Picture 2"/>
          <p:cNvPicPr>
            <a:picLocks noChangeAspect="1" noChangeArrowheads="1"/>
          </p:cNvPicPr>
          <p:nvPr/>
        </p:nvPicPr>
        <p:blipFill>
          <a:blip r:embed="rId2"/>
          <a:srcRect/>
          <a:stretch>
            <a:fillRect/>
          </a:stretch>
        </p:blipFill>
        <p:spPr bwMode="auto">
          <a:xfrm>
            <a:off x="5876925" y="1452564"/>
            <a:ext cx="5972175" cy="4877982"/>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TOKEN Ring</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000" b="1" dirty="0" smtClean="0">
                <a:latin typeface="Times New Roman" pitchFamily="18" charset="0"/>
                <a:cs typeface="Times New Roman" pitchFamily="18" charset="0"/>
              </a:rPr>
              <a:t> Giới hạn về thời gian</a:t>
            </a:r>
          </a:p>
          <a:p>
            <a:r>
              <a:rPr lang="vi-VN" sz="3000" dirty="0" smtClean="0">
                <a:latin typeface="Times New Roman" pitchFamily="18" charset="0"/>
                <a:cs typeface="Times New Roman" pitchFamily="18" charset="0"/>
              </a:rPr>
              <a:t>Để cho lộ trình chuyển động được thì Token Ring qui định giới hạn thời gian sử dụng quyền của các trạm. Một starting delimiter (trường đầu tiên của Token hay của data frame) phải đến mỗi  trạm trong một khoảng thời gian qui định</a:t>
            </a:r>
            <a:endParaRPr lang="en-US" sz="3000" dirty="0" smtClean="0">
              <a:latin typeface="Times New Roman" pitchFamily="18" charset="0"/>
              <a:cs typeface="Times New Roman" pitchFamily="18" charset="0"/>
            </a:endParaRPr>
          </a:p>
          <a:p>
            <a:pPr>
              <a:buFont typeface="Wingdings" pitchFamily="2" charset="2"/>
              <a:buChar char="v"/>
            </a:pPr>
            <a:r>
              <a:rPr lang="en-US" sz="3000" b="1" dirty="0" smtClean="0">
                <a:latin typeface="Times New Roman" pitchFamily="18" charset="0"/>
                <a:cs typeface="Times New Roman" pitchFamily="18" charset="0"/>
              </a:rPr>
              <a:t> Giám sát các trạm </a:t>
            </a:r>
          </a:p>
          <a:p>
            <a:r>
              <a:rPr lang="vi-VN" sz="3000" dirty="0" smtClean="0">
                <a:latin typeface="Times New Roman" pitchFamily="18" charset="0"/>
                <a:cs typeface="Times New Roman" pitchFamily="18" charset="0"/>
              </a:rPr>
              <a:t>Giám sát sẽ thiết lập thời gian cho mỗi bước chuyển Token, nếu</a:t>
            </a:r>
            <a:r>
              <a:rPr lang="en-US" sz="3000" dirty="0" smtClean="0">
                <a:latin typeface="Times New Roman" pitchFamily="18" charset="0"/>
                <a:cs typeface="Times New Roman" pitchFamily="18" charset="0"/>
              </a:rPr>
              <a:t> </a:t>
            </a:r>
            <a:r>
              <a:rPr lang="vi-VN" sz="3000" dirty="0" smtClean="0">
                <a:latin typeface="Times New Roman" pitchFamily="18" charset="0"/>
                <a:cs typeface="Times New Roman" pitchFamily="18" charset="0"/>
              </a:rPr>
              <a:t>Token không xuất hiện theo đúng thời gian qui định, thì giám sát xem là Token đã bị phá hủy và tạo ra Token mới rồi đưa vào mạng vòng </a:t>
            </a:r>
            <a:endParaRPr lang="en-US" sz="3000" dirty="0">
              <a:latin typeface="Times New Roman" pitchFamily="18" charset="0"/>
              <a:cs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TOKEN Ring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b="1" dirty="0" smtClean="0">
                <a:latin typeface="+mj-lt"/>
              </a:rPr>
              <a:t> </a:t>
            </a:r>
            <a:r>
              <a:rPr lang="vi-VN" sz="3000" b="1" dirty="0" smtClean="0">
                <a:latin typeface="+mj-lt"/>
              </a:rPr>
              <a:t>Định địa chỉ (addressing) </a:t>
            </a:r>
          </a:p>
          <a:p>
            <a:r>
              <a:rPr lang="vi-VN" sz="3000" dirty="0" smtClean="0">
                <a:latin typeface="+mj-lt"/>
              </a:rPr>
              <a:t>Token Ring dùng 6 byte địa chỉ, được in vào card N IC tương tự như địa chỉ Ethernet </a:t>
            </a:r>
          </a:p>
          <a:p>
            <a:pPr>
              <a:buFont typeface="Wingdings" pitchFamily="2" charset="2"/>
              <a:buChar char="v"/>
            </a:pPr>
            <a:r>
              <a:rPr lang="en-US" sz="3000" b="1" dirty="0" smtClean="0">
                <a:latin typeface="+mj-lt"/>
              </a:rPr>
              <a:t> </a:t>
            </a:r>
            <a:r>
              <a:rPr lang="vi-VN" sz="3000" b="1" dirty="0" smtClean="0">
                <a:latin typeface="+mj-lt"/>
              </a:rPr>
              <a:t>Các đặc tính điện học </a:t>
            </a:r>
          </a:p>
          <a:p>
            <a:r>
              <a:rPr lang="vi-VN" sz="3000" dirty="0" smtClean="0">
                <a:latin typeface="+mj-lt"/>
              </a:rPr>
              <a:t>Signaling</a:t>
            </a:r>
            <a:r>
              <a:rPr lang="en-US" sz="3000" dirty="0" smtClean="0">
                <a:latin typeface="+mj-lt"/>
              </a:rPr>
              <a:t>: </a:t>
            </a:r>
            <a:r>
              <a:rPr lang="vi-VN" sz="3000" dirty="0" smtClean="0">
                <a:latin typeface="+mj-lt"/>
              </a:rPr>
              <a:t>Token Ring dùng phương pháp mã hóa Manchester vi sai </a:t>
            </a:r>
          </a:p>
          <a:p>
            <a:r>
              <a:rPr lang="vi-VN" sz="3000" dirty="0" smtClean="0">
                <a:latin typeface="+mj-lt"/>
              </a:rPr>
              <a:t>Tốc độ dữ liệu</a:t>
            </a:r>
            <a:r>
              <a:rPr lang="en-US" sz="3000" dirty="0" smtClean="0">
                <a:latin typeface="+mj-lt"/>
              </a:rPr>
              <a:t>: </a:t>
            </a:r>
            <a:r>
              <a:rPr lang="vi-VN" sz="3000" dirty="0" smtClean="0">
                <a:latin typeface="+mj-lt"/>
              </a:rPr>
              <a:t>Token Ring hỗ trợ tốc độ dữ liệu lên đến 16 Mbps (tốc độ nguyên thủy là 4 Mbps) </a:t>
            </a:r>
            <a:endParaRPr lang="en-US" sz="3000" dirty="0">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TOKEN Ring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b="1" dirty="0" smtClean="0">
                <a:latin typeface="Times New Roman" pitchFamily="18" charset="0"/>
                <a:cs typeface="Times New Roman" pitchFamily="18" charset="0"/>
              </a:rPr>
              <a:t> Format khung (frame format) </a:t>
            </a:r>
          </a:p>
          <a:p>
            <a:r>
              <a:rPr lang="vi-VN" sz="3000" dirty="0" smtClean="0">
                <a:latin typeface="Times New Roman" pitchFamily="18" charset="0"/>
                <a:cs typeface="Times New Roman" pitchFamily="18" charset="0"/>
              </a:rPr>
              <a:t>Giao thức Token Ring  đặc trưng 3 dạng frame: dữ liệu/điều khiển, token, và abort. Token và frame abort đều là dạng khung dữ liệu/ điều khiển  rút gọn </a:t>
            </a:r>
            <a:endParaRPr lang="en-US" sz="3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srcRect/>
          <a:stretch>
            <a:fillRect/>
          </a:stretch>
        </p:blipFill>
        <p:spPr bwMode="auto">
          <a:xfrm>
            <a:off x="1943100" y="3282858"/>
            <a:ext cx="7886700" cy="322748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(Implementation)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b="1" dirty="0" smtClean="0">
                <a:latin typeface="Times New Roman" pitchFamily="18" charset="0"/>
                <a:cs typeface="Times New Roman" pitchFamily="18" charset="0"/>
              </a:rPr>
              <a:t> Ring</a:t>
            </a:r>
          </a:p>
          <a:p>
            <a:r>
              <a:rPr lang="vi-VN" sz="3000" dirty="0" smtClean="0">
                <a:latin typeface="Times New Roman" pitchFamily="18" charset="0"/>
                <a:cs typeface="Times New Roman" pitchFamily="18" charset="0"/>
              </a:rPr>
              <a:t> Token vòng gồm nhiều đoạn dây 150Ohm, dây xoắn đôi mắc nối đuôi nhau, tạo vòng với dòng lưu thông một chiều. Trong đó mỗi trạm tự tái tạo frame </a:t>
            </a:r>
            <a:endParaRPr lang="en-US" sz="30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2290763" y="3524250"/>
            <a:ext cx="7772162" cy="241935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(Implementation) </a:t>
            </a:r>
            <a:endParaRPr lang="en-US" dirty="0"/>
          </a:p>
        </p:txBody>
      </p:sp>
      <p:sp>
        <p:nvSpPr>
          <p:cNvPr id="3" name="Content Placeholder 2"/>
          <p:cNvSpPr>
            <a:spLocks noGrp="1"/>
          </p:cNvSpPr>
          <p:nvPr>
            <p:ph idx="1"/>
          </p:nvPr>
        </p:nvSpPr>
        <p:spPr>
          <a:xfrm>
            <a:off x="572493" y="1431235"/>
            <a:ext cx="5237757" cy="4866198"/>
          </a:xfrm>
        </p:spPr>
        <p:txBody>
          <a:bodyPr>
            <a:noAutofit/>
          </a:bodyPr>
          <a:lstStyle/>
          <a:p>
            <a:pPr algn="just">
              <a:buFont typeface="Wingdings" pitchFamily="2" charset="2"/>
              <a:buChar char="v"/>
            </a:pPr>
            <a:r>
              <a:rPr lang="en-US" sz="3000" b="1" dirty="0" smtClean="0">
                <a:latin typeface="Times New Roman" pitchFamily="18" charset="0"/>
                <a:cs typeface="Times New Roman" pitchFamily="18" charset="0"/>
              </a:rPr>
              <a:t> Switch </a:t>
            </a:r>
          </a:p>
          <a:p>
            <a:pPr algn="just"/>
            <a:r>
              <a:rPr lang="vi-VN" sz="3000" dirty="0" smtClean="0">
                <a:latin typeface="Times New Roman" pitchFamily="18" charset="0"/>
                <a:cs typeface="Times New Roman" pitchFamily="18" charset="0"/>
              </a:rPr>
              <a:t>Mỗi trạm NIC trong mạng được kết nối dùng cáp 9 dây tại các cảng vào và cảng ra. Dùng cáp 9 dây kết nối NIC với chuyển mạch (switch), trong đó 4 sợi dùng cho dữ liệu và 5 được dùng điều khiển chuyển mạch (nhằm đưa vào hay loại ra một trạm) </a:t>
            </a:r>
            <a:endParaRPr lang="en-US" sz="3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srcRect/>
          <a:stretch>
            <a:fillRect/>
          </a:stretch>
        </p:blipFill>
        <p:spPr bwMode="auto">
          <a:xfrm>
            <a:off x="6481763" y="1638300"/>
            <a:ext cx="4999459" cy="4638674"/>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Thiết lập (Implementation)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000" dirty="0" smtClean="0">
                <a:latin typeface="+mj-lt"/>
              </a:rPr>
              <a:t> </a:t>
            </a:r>
            <a:r>
              <a:rPr lang="vi-VN" sz="3000" dirty="0" smtClean="0">
                <a:latin typeface="+mj-lt"/>
              </a:rPr>
              <a:t>Multistation Access Unit (MAU: đơn vị truy cập nhiều trạm)</a:t>
            </a:r>
            <a:endParaRPr lang="en-US" sz="3000" dirty="0" smtClean="0">
              <a:latin typeface="+mj-lt"/>
            </a:endParaRPr>
          </a:p>
          <a:p>
            <a:r>
              <a:rPr lang="vi-VN" sz="3000" dirty="0" smtClean="0">
                <a:latin typeface="+mj-lt"/>
              </a:rPr>
              <a:t> Trong ứng dụng thực tế, các chuyển mạch tự động đơn được kết nối với hub được gọi là MAU. Một MAU có thể hỗ trợ tối đa 9 trạm. Nhìn từ ngoài thì hệ thống trong giống như mạng sao với MAU ở giữa, tuy thực tế đó lại là mạng vòng  </a:t>
            </a:r>
            <a:endParaRPr lang="en-US" sz="30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2066925" y="3783361"/>
            <a:ext cx="7324725" cy="2960339"/>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sánh</a:t>
            </a:r>
            <a:endParaRPr lang="en-US" dirty="0"/>
          </a:p>
        </p:txBody>
      </p:sp>
      <p:sp>
        <p:nvSpPr>
          <p:cNvPr id="3" name="Content Placeholder 2"/>
          <p:cNvSpPr>
            <a:spLocks noGrp="1"/>
          </p:cNvSpPr>
          <p:nvPr>
            <p:ph idx="1"/>
          </p:nvPr>
        </p:nvSpPr>
        <p:spPr/>
        <p:txBody>
          <a:bodyPr>
            <a:normAutofit/>
          </a:bodyPr>
          <a:lstStyle/>
          <a:p>
            <a:r>
              <a:rPr lang="vi-VN" sz="3000" dirty="0" smtClean="0">
                <a:latin typeface="+mj-lt"/>
              </a:rPr>
              <a:t>Ethernet tốt khi truyền với tải mức độ</a:t>
            </a:r>
            <a:r>
              <a:rPr lang="en-US" sz="3000" dirty="0" smtClean="0">
                <a:latin typeface="+mj-lt"/>
              </a:rPr>
              <a:t> </a:t>
            </a:r>
            <a:r>
              <a:rPr lang="en-US" sz="3000" dirty="0" smtClean="0">
                <a:latin typeface="Times New Roman" pitchFamily="18" charset="0"/>
                <a:cs typeface="Times New Roman" pitchFamily="18" charset="0"/>
              </a:rPr>
              <a:t>thấp</a:t>
            </a:r>
            <a:r>
              <a:rPr lang="vi-VN" sz="3000" dirty="0" smtClean="0">
                <a:latin typeface="+mj-lt"/>
              </a:rPr>
              <a:t> nhưng không tốt khi tăng tải do xuất hiện xung đột và yêu cầu truyền lại. Token Ring và FDDI hoạt động tốt với m</a:t>
            </a:r>
            <a:r>
              <a:rPr lang="en-US" sz="3000" dirty="0" smtClean="0">
                <a:latin typeface="Times New Roman" pitchFamily="18" charset="0"/>
                <a:cs typeface="Times New Roman" pitchFamily="18" charset="0"/>
              </a:rPr>
              <a:t>ỗi</a:t>
            </a:r>
            <a:r>
              <a:rPr lang="vi-VN" sz="3000" dirty="0" smtClean="0">
                <a:latin typeface="+mj-lt"/>
              </a:rPr>
              <a:t> dạng tải mức thấp hay mức cao </a:t>
            </a:r>
            <a:endParaRPr lang="en-US" sz="30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47625" y="2930320"/>
            <a:ext cx="12106275" cy="293708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933</TotalTime>
  <Words>2114</Words>
  <Application>Microsoft Office PowerPoint</Application>
  <PresentationFormat>Custom</PresentationFormat>
  <Paragraphs>145</Paragraphs>
  <Slides>36</Slides>
  <Notes>0</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KỸ THUẬT TRUYỀN SỐ LIỆU</vt:lpstr>
      <vt:lpstr>Nội dung môn học</vt:lpstr>
      <vt:lpstr>                     Chương 10</vt:lpstr>
      <vt:lpstr>Nội dung chương 10</vt:lpstr>
      <vt:lpstr>Mạng cục bộ</vt:lpstr>
      <vt:lpstr>10.1 ETHERNET</vt:lpstr>
      <vt:lpstr>10.1 ETHERNET</vt:lpstr>
      <vt:lpstr>10.1 ETHERNET</vt:lpstr>
      <vt:lpstr>10.1 ETHERNET</vt:lpstr>
      <vt:lpstr>10.1 ETHERNET</vt:lpstr>
      <vt:lpstr>Các đặc tính về điện</vt:lpstr>
      <vt:lpstr>Format khung</vt:lpstr>
      <vt:lpstr>Format khung</vt:lpstr>
      <vt:lpstr>Format khung</vt:lpstr>
      <vt:lpstr>Thiết lập mạng</vt:lpstr>
      <vt:lpstr>Thiết lập mạng</vt:lpstr>
      <vt:lpstr>Thiết lập mạng</vt:lpstr>
      <vt:lpstr>Thiết lập mạng</vt:lpstr>
      <vt:lpstr>Thiết lập mạng</vt:lpstr>
      <vt:lpstr>Thiết lập mạng</vt:lpstr>
      <vt:lpstr>10.2 Các mạng ETHERNET khác</vt:lpstr>
      <vt:lpstr>Switched Ethernet</vt:lpstr>
      <vt:lpstr>Switched Ethernet</vt:lpstr>
      <vt:lpstr> Fast Ethernet</vt:lpstr>
      <vt:lpstr>Gigabit Ethernet</vt:lpstr>
      <vt:lpstr>Gigabit Ethernet</vt:lpstr>
      <vt:lpstr>TOKEN Bus</vt:lpstr>
      <vt:lpstr>TOKEN Ring</vt:lpstr>
      <vt:lpstr>TOKEN Ring</vt:lpstr>
      <vt:lpstr>TOKEN Ring</vt:lpstr>
      <vt:lpstr>TOKEN Ring</vt:lpstr>
      <vt:lpstr>TOKEN Ring</vt:lpstr>
      <vt:lpstr>Thiết lập (Implementation) </vt:lpstr>
      <vt:lpstr>Thiết lập (Implementation) </vt:lpstr>
      <vt:lpstr>Thiết lập (Implementation) </vt:lpstr>
      <vt:lpstr>So sánh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153</cp:revision>
  <dcterms:created xsi:type="dcterms:W3CDTF">2020-05-27T05:21:30Z</dcterms:created>
  <dcterms:modified xsi:type="dcterms:W3CDTF">2021-12-23T08:52:10Z</dcterms:modified>
</cp:coreProperties>
</file>