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18" autoAdjust="0"/>
    <p:restoredTop sz="94660"/>
  </p:normalViewPr>
  <p:slideViewPr>
    <p:cSldViewPr snapToGrid="0">
      <p:cViewPr varScale="1">
        <p:scale>
          <a:sx n="74" d="100"/>
          <a:sy n="74" d="100"/>
        </p:scale>
        <p:origin x="-520" y="-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pPr/>
              <a:t>4/22/2022</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4/22/2022</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a16="http://schemas.microsoft.com/office/drawing/2014/main" xmlns=""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a16="http://schemas.microsoft.com/office/drawing/2014/main" xmlns=""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dirty="0" err="1" smtClean="0"/>
              <a:t>Chương</a:t>
            </a:r>
            <a:r>
              <a:rPr lang="en-US" b="1" dirty="0" smtClean="0"/>
              <a:t> 7</a:t>
            </a:r>
            <a:endParaRPr lang="en-US" b="1" dirty="0"/>
          </a:p>
        </p:txBody>
      </p:sp>
      <p:sp>
        <p:nvSpPr>
          <p:cNvPr id="3" name="Content Placeholder 2"/>
          <p:cNvSpPr>
            <a:spLocks noGrp="1"/>
          </p:cNvSpPr>
          <p:nvPr>
            <p:ph idx="1"/>
          </p:nvPr>
        </p:nvSpPr>
        <p:spPr/>
        <p:txBody>
          <a:bodyPr>
            <a:normAutofit/>
          </a:bodyPr>
          <a:lstStyle/>
          <a:p>
            <a:pPr algn="ctr">
              <a:buNone/>
            </a:pPr>
            <a:r>
              <a:rPr lang="en-US" sz="5400" dirty="0" smtClean="0">
                <a:latin typeface="Times New Roman" pitchFamily="18" charset="0"/>
                <a:cs typeface="Times New Roman" pitchFamily="18" charset="0"/>
              </a:rPr>
              <a:t>GHÉP KÊNH</a:t>
            </a:r>
          </a:p>
          <a:p>
            <a:pPr algn="ctr">
              <a:buNone/>
            </a:pPr>
            <a:r>
              <a:rPr lang="en-US" sz="3200" dirty="0">
                <a:latin typeface="Times New Roman" panose="02020603050405020304" pitchFamily="18" charset="0"/>
                <a:cs typeface="Times New Roman" pitchFamily="18" charset="0"/>
              </a:rPr>
              <a:t>(</a:t>
            </a:r>
            <a:r>
              <a:rPr lang="en-US" sz="3200" dirty="0" smtClean="0">
                <a:latin typeface="Times New Roman" panose="02020603050405020304" pitchFamily="18" charset="0"/>
                <a:cs typeface="Times New Roman" panose="02020603050405020304" pitchFamily="18" charset="0"/>
              </a:rPr>
              <a:t>MULTIPLEXING) </a:t>
            </a:r>
            <a:r>
              <a:rPr lang="en-US" sz="5400" dirty="0"/>
              <a:t/>
            </a:r>
            <a:br>
              <a:rPr lang="en-US" sz="5400" dirty="0"/>
            </a:br>
            <a:endParaRPr lang="en-US" sz="5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a:t>
            </a:r>
            <a:r>
              <a:rPr lang="en-US" dirty="0" err="1" smtClean="0"/>
              <a:t>chương</a:t>
            </a:r>
            <a:r>
              <a:rPr lang="en-US" dirty="0" smtClean="0"/>
              <a:t> </a:t>
            </a:r>
            <a:r>
              <a:rPr lang="en-US" dirty="0"/>
              <a:t>7</a:t>
            </a:r>
          </a:p>
        </p:txBody>
      </p:sp>
      <p:sp>
        <p:nvSpPr>
          <p:cNvPr id="3" name="Content Placeholder 2"/>
          <p:cNvSpPr>
            <a:spLocks noGrp="1"/>
          </p:cNvSpPr>
          <p:nvPr>
            <p:ph idx="1"/>
          </p:nvPr>
        </p:nvSpPr>
        <p:spPr/>
        <p:txBody>
          <a:bodyPr>
            <a:normAutofit/>
          </a:bodyPr>
          <a:lstStyle/>
          <a:p>
            <a:r>
              <a:rPr lang="en-US" sz="3600" dirty="0" err="1" smtClean="0"/>
              <a:t>Khái</a:t>
            </a:r>
            <a:r>
              <a:rPr lang="en-US" sz="3600" dirty="0" smtClean="0"/>
              <a:t> </a:t>
            </a:r>
            <a:r>
              <a:rPr lang="en-US" sz="3600" dirty="0" err="1" smtClean="0"/>
              <a:t>niệm</a:t>
            </a:r>
            <a:r>
              <a:rPr lang="en-US" sz="3600" dirty="0" smtClean="0"/>
              <a:t> </a:t>
            </a:r>
            <a:r>
              <a:rPr lang="en-US" sz="3600" dirty="0" err="1" smtClean="0"/>
              <a:t>và</a:t>
            </a:r>
            <a:r>
              <a:rPr lang="en-US" sz="3600" dirty="0" smtClean="0"/>
              <a:t> </a:t>
            </a:r>
            <a:r>
              <a:rPr lang="en-US" sz="3600" dirty="0" err="1" smtClean="0"/>
              <a:t>phân</a:t>
            </a:r>
            <a:r>
              <a:rPr lang="en-US" sz="3600" dirty="0" smtClean="0"/>
              <a:t> </a:t>
            </a:r>
            <a:r>
              <a:rPr lang="en-US" sz="3600" dirty="0" err="1" smtClean="0"/>
              <a:t>loại</a:t>
            </a:r>
            <a:endParaRPr lang="en-US" sz="3600" dirty="0" smtClean="0"/>
          </a:p>
          <a:p>
            <a:r>
              <a:rPr lang="en-US" sz="3600" dirty="0" err="1" smtClean="0"/>
              <a:t>Ghép</a:t>
            </a:r>
            <a:r>
              <a:rPr lang="en-US" sz="3600" dirty="0" smtClean="0"/>
              <a:t> </a:t>
            </a:r>
            <a:r>
              <a:rPr lang="en-US" sz="3600" dirty="0" err="1" smtClean="0"/>
              <a:t>kênh</a:t>
            </a:r>
            <a:r>
              <a:rPr lang="en-US" sz="3600" dirty="0" smtClean="0"/>
              <a:t> </a:t>
            </a:r>
            <a:r>
              <a:rPr lang="en-US" sz="3600" dirty="0" err="1" smtClean="0"/>
              <a:t>phân</a:t>
            </a:r>
            <a:r>
              <a:rPr lang="en-US" sz="3600" dirty="0" smtClean="0"/>
              <a:t> chia </a:t>
            </a:r>
            <a:r>
              <a:rPr lang="en-US" sz="3600" dirty="0" err="1" smtClean="0"/>
              <a:t>theo</a:t>
            </a:r>
            <a:r>
              <a:rPr lang="en-US" sz="3600" dirty="0" smtClean="0"/>
              <a:t> </a:t>
            </a:r>
            <a:r>
              <a:rPr lang="en-US" sz="3600" dirty="0" err="1" smtClean="0"/>
              <a:t>tần</a:t>
            </a:r>
            <a:r>
              <a:rPr lang="en-US" sz="3600" dirty="0" smtClean="0"/>
              <a:t> </a:t>
            </a:r>
            <a:r>
              <a:rPr lang="en-US" sz="3600" dirty="0" err="1" smtClean="0"/>
              <a:t>số</a:t>
            </a:r>
            <a:endParaRPr lang="en-US" sz="3600" dirty="0" smtClean="0"/>
          </a:p>
          <a:p>
            <a:r>
              <a:rPr lang="en-US" sz="3600" dirty="0" err="1" smtClean="0"/>
              <a:t>Ghép</a:t>
            </a:r>
            <a:r>
              <a:rPr lang="en-US" sz="3600" dirty="0" smtClean="0"/>
              <a:t> </a:t>
            </a:r>
            <a:r>
              <a:rPr lang="en-US" sz="3600" dirty="0" err="1" smtClean="0"/>
              <a:t>kênh</a:t>
            </a:r>
            <a:r>
              <a:rPr lang="en-US" sz="3600" dirty="0" smtClean="0"/>
              <a:t> </a:t>
            </a:r>
            <a:r>
              <a:rPr lang="en-US" sz="3600" dirty="0" err="1" smtClean="0"/>
              <a:t>phân</a:t>
            </a:r>
            <a:r>
              <a:rPr lang="en-US" sz="3600" dirty="0" smtClean="0"/>
              <a:t> chia </a:t>
            </a:r>
            <a:r>
              <a:rPr lang="en-US" sz="3600" dirty="0" err="1" smtClean="0"/>
              <a:t>theo</a:t>
            </a:r>
            <a:r>
              <a:rPr lang="en-US" sz="3600" dirty="0" smtClean="0"/>
              <a:t> </a:t>
            </a:r>
            <a:r>
              <a:rPr lang="en-US" sz="3600" dirty="0" err="1" smtClean="0"/>
              <a:t>bước</a:t>
            </a:r>
            <a:r>
              <a:rPr lang="en-US" sz="3600" dirty="0" smtClean="0"/>
              <a:t> </a:t>
            </a:r>
            <a:r>
              <a:rPr lang="en-US" sz="3600" dirty="0" err="1" smtClean="0"/>
              <a:t>sóng</a:t>
            </a:r>
            <a:endParaRPr lang="en-US" sz="3600" dirty="0" smtClean="0"/>
          </a:p>
          <a:p>
            <a:r>
              <a:rPr lang="en-US" sz="3600" dirty="0" err="1" smtClean="0"/>
              <a:t>Ghép</a:t>
            </a:r>
            <a:r>
              <a:rPr lang="en-US" sz="3600" dirty="0" smtClean="0"/>
              <a:t> </a:t>
            </a:r>
            <a:r>
              <a:rPr lang="en-US" sz="3600" dirty="0" err="1" smtClean="0"/>
              <a:t>kênh</a:t>
            </a:r>
            <a:r>
              <a:rPr lang="en-US" sz="3600" dirty="0" smtClean="0"/>
              <a:t> </a:t>
            </a:r>
            <a:r>
              <a:rPr lang="en-US" sz="3600" dirty="0" err="1" smtClean="0"/>
              <a:t>phân</a:t>
            </a:r>
            <a:r>
              <a:rPr lang="en-US" sz="3600" dirty="0" smtClean="0"/>
              <a:t> chia </a:t>
            </a:r>
            <a:r>
              <a:rPr lang="en-US" sz="3600" dirty="0" err="1" smtClean="0"/>
              <a:t>theo</a:t>
            </a:r>
            <a:r>
              <a:rPr lang="en-US" sz="3600" dirty="0" smtClean="0"/>
              <a:t> </a:t>
            </a:r>
            <a:r>
              <a:rPr lang="en-US" sz="3600" dirty="0" err="1" smtClean="0"/>
              <a:t>thời</a:t>
            </a:r>
            <a:r>
              <a:rPr lang="en-US" sz="3600" dirty="0" smtClean="0"/>
              <a:t> </a:t>
            </a:r>
            <a:r>
              <a:rPr lang="en-US" sz="3600" dirty="0" err="1" smtClean="0"/>
              <a:t>gian</a:t>
            </a:r>
            <a:endParaRPr lang="en-US" sz="3600" dirty="0" smtClean="0"/>
          </a:p>
          <a:p>
            <a:r>
              <a:rPr lang="en-US" sz="3600" dirty="0" err="1" smtClean="0"/>
              <a:t>Ứng</a:t>
            </a:r>
            <a:r>
              <a:rPr lang="en-US" sz="3600" dirty="0" smtClean="0"/>
              <a:t> </a:t>
            </a:r>
            <a:r>
              <a:rPr lang="en-US" sz="3600" dirty="0" err="1" smtClean="0"/>
              <a:t>dụng</a:t>
            </a:r>
            <a:r>
              <a:rPr lang="en-US" sz="3600" dirty="0" smtClean="0"/>
              <a:t> </a:t>
            </a:r>
            <a:r>
              <a:rPr lang="en-US" sz="3600" dirty="0" err="1" smtClean="0"/>
              <a:t>ghép</a:t>
            </a:r>
            <a:r>
              <a:rPr lang="en-US" sz="3600" dirty="0" smtClean="0"/>
              <a:t> </a:t>
            </a:r>
            <a:r>
              <a:rPr lang="en-US" sz="3600" dirty="0" err="1" smtClean="0"/>
              <a:t>kênh</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7.1 </a:t>
            </a:r>
            <a:r>
              <a:rPr lang="en-US" dirty="0" err="1" smtClean="0"/>
              <a:t>Khái</a:t>
            </a:r>
            <a:r>
              <a:rPr lang="en-US" dirty="0" smtClean="0"/>
              <a:t> </a:t>
            </a:r>
            <a:r>
              <a:rPr lang="en-US" dirty="0" err="1"/>
              <a:t>niệm</a:t>
            </a:r>
            <a:r>
              <a:rPr lang="en-US" dirty="0"/>
              <a:t> </a:t>
            </a:r>
            <a:r>
              <a:rPr lang="en-US" dirty="0" err="1"/>
              <a:t>và</a:t>
            </a:r>
            <a:r>
              <a:rPr lang="en-US" dirty="0"/>
              <a:t> </a:t>
            </a:r>
            <a:r>
              <a:rPr lang="en-US" dirty="0" err="1"/>
              <a:t>phân</a:t>
            </a:r>
            <a:r>
              <a:rPr lang="en-US" dirty="0"/>
              <a:t> </a:t>
            </a:r>
            <a:r>
              <a:rPr lang="en-US" dirty="0" err="1"/>
              <a:t>loại</a:t>
            </a:r>
            <a:endParaRPr lang="en-US" dirty="0"/>
          </a:p>
        </p:txBody>
      </p:sp>
      <p:sp>
        <p:nvSpPr>
          <p:cNvPr id="3" name="Content Placeholder 2"/>
          <p:cNvSpPr>
            <a:spLocks noGrp="1"/>
          </p:cNvSpPr>
          <p:nvPr>
            <p:ph idx="1"/>
          </p:nvPr>
        </p:nvSpPr>
        <p:spPr/>
        <p:txBody>
          <a:bodyPr>
            <a:noAutofit/>
          </a:bodyPr>
          <a:lstStyle/>
          <a:p>
            <a:pPr>
              <a:buNone/>
            </a:pPr>
            <a:r>
              <a:rPr lang="vi-VN" sz="3200" b="1" dirty="0" smtClean="0">
                <a:latin typeface="+mj-lt"/>
                <a:cs typeface="Times New Roman" pitchFamily="18" charset="0"/>
              </a:rPr>
              <a:t>• </a:t>
            </a:r>
            <a:r>
              <a:rPr lang="vi-VN" sz="3200" b="1" dirty="0" smtClean="0">
                <a:latin typeface="+mj-lt"/>
              </a:rPr>
              <a:t>Khái </a:t>
            </a:r>
            <a:r>
              <a:rPr lang="vi-VN" sz="3200" b="1" dirty="0">
                <a:latin typeface="+mj-lt"/>
              </a:rPr>
              <a:t>niệm: </a:t>
            </a:r>
            <a:r>
              <a:rPr lang="vi-VN" sz="3200" dirty="0">
                <a:latin typeface="+mj-lt"/>
              </a:rPr>
              <a:t>Ghép kênh là tập các kỹ thuật cho phép truyền </a:t>
            </a:r>
            <a:r>
              <a:rPr lang="vi-VN" sz="3200" dirty="0" smtClean="0">
                <a:latin typeface="+mj-lt"/>
              </a:rPr>
              <a:t>đồng</a:t>
            </a:r>
            <a:r>
              <a:rPr lang="en-US" sz="3200" dirty="0" smtClean="0">
                <a:latin typeface="+mj-lt"/>
              </a:rPr>
              <a:t> </a:t>
            </a:r>
            <a:r>
              <a:rPr lang="vi-VN" sz="3200" dirty="0" smtClean="0">
                <a:latin typeface="+mj-lt"/>
              </a:rPr>
              <a:t>thời </a:t>
            </a:r>
            <a:r>
              <a:rPr lang="vi-VN" sz="3200" dirty="0">
                <a:latin typeface="+mj-lt"/>
              </a:rPr>
              <a:t>nhiều </a:t>
            </a:r>
            <a:r>
              <a:rPr lang="vi-VN" sz="3200" dirty="0" smtClean="0">
                <a:latin typeface="+mj-lt"/>
              </a:rPr>
              <a:t>tín</a:t>
            </a:r>
            <a:r>
              <a:rPr lang="en-US" sz="3200" dirty="0" smtClean="0">
                <a:latin typeface="+mj-lt"/>
              </a:rPr>
              <a:t> </a:t>
            </a:r>
            <a:r>
              <a:rPr lang="vi-VN" sz="3200" dirty="0" smtClean="0">
                <a:latin typeface="+mj-lt"/>
              </a:rPr>
              <a:t>hiệu </a:t>
            </a:r>
            <a:r>
              <a:rPr lang="vi-VN" sz="3200" dirty="0">
                <a:latin typeface="+mj-lt"/>
              </a:rPr>
              <a:t>trên một đường kết nối dữ liệu. </a:t>
            </a:r>
            <a:r>
              <a:rPr lang="vi-VN" sz="3200" dirty="0"/>
              <a:t/>
            </a:r>
            <a:br>
              <a:rPr lang="vi-VN" sz="3200" dirty="0"/>
            </a:br>
            <a:endParaRPr lang="en-US" sz="32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955315" y="2476272"/>
            <a:ext cx="8334375" cy="3705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7.1 </a:t>
            </a:r>
            <a:r>
              <a:rPr lang="en-US" dirty="0" err="1"/>
              <a:t>Khái</a:t>
            </a:r>
            <a:r>
              <a:rPr lang="en-US" dirty="0"/>
              <a:t> </a:t>
            </a:r>
            <a:r>
              <a:rPr lang="en-US" dirty="0" err="1"/>
              <a:t>niệm</a:t>
            </a:r>
            <a:r>
              <a:rPr lang="en-US" dirty="0"/>
              <a:t> </a:t>
            </a:r>
            <a:r>
              <a:rPr lang="en-US" dirty="0" err="1"/>
              <a:t>và</a:t>
            </a:r>
            <a:r>
              <a:rPr lang="en-US" dirty="0"/>
              <a:t> </a:t>
            </a:r>
            <a:r>
              <a:rPr lang="en-US" dirty="0" err="1"/>
              <a:t>phân</a:t>
            </a:r>
            <a:r>
              <a:rPr lang="en-US" dirty="0"/>
              <a:t> </a:t>
            </a:r>
            <a:r>
              <a:rPr lang="en-US" dirty="0" err="1"/>
              <a:t>loại</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b="1" dirty="0" smtClean="0">
                <a:latin typeface="+mj-lt"/>
              </a:rPr>
              <a:t> </a:t>
            </a:r>
            <a:r>
              <a:rPr lang="vi-VN" b="1" dirty="0" smtClean="0">
                <a:latin typeface="+mj-lt"/>
              </a:rPr>
              <a:t>Phân </a:t>
            </a:r>
            <a:r>
              <a:rPr lang="vi-VN" b="1" dirty="0">
                <a:latin typeface="+mj-lt"/>
              </a:rPr>
              <a:t>loại: </a:t>
            </a:r>
            <a:r>
              <a:rPr lang="vi-VN" dirty="0">
                <a:latin typeface="+mj-lt"/>
              </a:rPr>
              <a:t>Có 3 kỹ thuật ghép kênh cơ </a:t>
            </a:r>
            <a:r>
              <a:rPr lang="vi-VN" dirty="0" smtClean="0">
                <a:latin typeface="+mj-lt"/>
              </a:rPr>
              <a:t>bản</a:t>
            </a:r>
            <a:endParaRPr lang="en-US" dirty="0">
              <a:latin typeface="+mj-lt"/>
            </a:endParaRPr>
          </a:p>
          <a:p>
            <a:r>
              <a:rPr lang="vi-VN" b="1" dirty="0" smtClean="0">
                <a:latin typeface="+mj-lt"/>
              </a:rPr>
              <a:t>FDM</a:t>
            </a:r>
            <a:r>
              <a:rPr lang="en-US" dirty="0" smtClean="0">
                <a:latin typeface="+mj-lt"/>
              </a:rPr>
              <a:t>, </a:t>
            </a:r>
            <a:r>
              <a:rPr lang="vi-VN" b="1" dirty="0" smtClean="0">
                <a:latin typeface="+mj-lt"/>
              </a:rPr>
              <a:t>TDM</a:t>
            </a:r>
            <a:r>
              <a:rPr lang="en-US" b="1" dirty="0" smtClean="0">
                <a:latin typeface="+mj-lt"/>
              </a:rPr>
              <a:t> (</a:t>
            </a:r>
            <a:r>
              <a:rPr lang="vi-VN" dirty="0" smtClean="0">
                <a:latin typeface="+mj-lt"/>
              </a:rPr>
              <a:t>TDM </a:t>
            </a:r>
            <a:r>
              <a:rPr lang="vi-VN" dirty="0">
                <a:latin typeface="+mj-lt"/>
              </a:rPr>
              <a:t>đồng bộ (còn được gọi là </a:t>
            </a:r>
            <a:r>
              <a:rPr lang="vi-VN" dirty="0" smtClean="0">
                <a:latin typeface="+mj-lt"/>
              </a:rPr>
              <a:t>TDM)</a:t>
            </a:r>
            <a:r>
              <a:rPr lang="en-US" dirty="0" smtClean="0">
                <a:latin typeface="+mj-lt"/>
              </a:rPr>
              <a:t>, </a:t>
            </a:r>
            <a:r>
              <a:rPr lang="vi-VN" dirty="0" smtClean="0">
                <a:latin typeface="+mj-lt"/>
              </a:rPr>
              <a:t>TDM </a:t>
            </a:r>
            <a:r>
              <a:rPr lang="vi-VN" dirty="0">
                <a:latin typeface="+mj-lt"/>
              </a:rPr>
              <a:t>không đồng bộ, còn gọi là TDM thống kê hoặc tập </a:t>
            </a:r>
            <a:r>
              <a:rPr lang="vi-VN" dirty="0" smtClean="0">
                <a:latin typeface="+mj-lt"/>
              </a:rPr>
              <a:t>trung</a:t>
            </a:r>
            <a:r>
              <a:rPr lang="en-US" dirty="0" smtClean="0">
                <a:latin typeface="+mj-lt"/>
              </a:rPr>
              <a:t> </a:t>
            </a:r>
            <a:r>
              <a:rPr lang="vi-VN" dirty="0" smtClean="0">
                <a:latin typeface="+mj-lt"/>
              </a:rPr>
              <a:t>(concentrator)</a:t>
            </a:r>
            <a:r>
              <a:rPr lang="en-US" dirty="0" smtClean="0">
                <a:latin typeface="+mj-lt"/>
              </a:rPr>
              <a:t>), </a:t>
            </a:r>
            <a:r>
              <a:rPr lang="vi-VN" b="1" dirty="0" smtClean="0">
                <a:latin typeface="+mj-lt"/>
              </a:rPr>
              <a:t>WDM</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457199" y="2874962"/>
            <a:ext cx="10896600" cy="2886075"/>
          </a:xfrm>
          <a:prstGeom prst="rect">
            <a:avLst/>
          </a:prstGeom>
        </p:spPr>
      </p:pic>
    </p:spTree>
    <p:extLst>
      <p:ext uri="{BB962C8B-B14F-4D97-AF65-F5344CB8AC3E}">
        <p14:creationId xmlns:p14="http://schemas.microsoft.com/office/powerpoint/2010/main" val="2545337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7.2 </a:t>
            </a:r>
            <a:r>
              <a:rPr lang="en-US" dirty="0" err="1"/>
              <a:t>Ghép</a:t>
            </a:r>
            <a:r>
              <a:rPr lang="en-US" dirty="0"/>
              <a:t> </a:t>
            </a:r>
            <a:r>
              <a:rPr lang="en-US" dirty="0" err="1"/>
              <a:t>kênh</a:t>
            </a:r>
            <a:r>
              <a:rPr lang="en-US" dirty="0"/>
              <a:t> </a:t>
            </a:r>
            <a:r>
              <a:rPr lang="en-US" dirty="0" err="1"/>
              <a:t>phân</a:t>
            </a:r>
            <a:r>
              <a:rPr lang="en-US" dirty="0"/>
              <a:t> chia </a:t>
            </a:r>
            <a:r>
              <a:rPr lang="en-US" dirty="0" err="1"/>
              <a:t>theo</a:t>
            </a:r>
            <a:r>
              <a:rPr lang="en-US" dirty="0"/>
              <a:t> </a:t>
            </a:r>
            <a:r>
              <a:rPr lang="en-US" dirty="0" err="1"/>
              <a:t>tần</a:t>
            </a:r>
            <a:r>
              <a:rPr lang="en-US" dirty="0"/>
              <a:t> </a:t>
            </a:r>
            <a:r>
              <a:rPr lang="en-US" dirty="0" err="1" smtClean="0"/>
              <a:t>số</a:t>
            </a:r>
            <a:endParaRPr lang="en-US" dirty="0"/>
          </a:p>
        </p:txBody>
      </p:sp>
      <p:sp>
        <p:nvSpPr>
          <p:cNvPr id="3" name="Content Placeholder 2"/>
          <p:cNvSpPr>
            <a:spLocks noGrp="1"/>
          </p:cNvSpPr>
          <p:nvPr>
            <p:ph idx="1"/>
          </p:nvPr>
        </p:nvSpPr>
        <p:spPr/>
        <p:txBody>
          <a:bodyPr/>
          <a:lstStyle/>
          <a:p>
            <a:r>
              <a:rPr lang="vi-VN" sz="3000" b="1" dirty="0" smtClean="0">
                <a:latin typeface="+mj-lt"/>
              </a:rPr>
              <a:t>Khái </a:t>
            </a:r>
            <a:r>
              <a:rPr lang="vi-VN" sz="3000" b="1" dirty="0">
                <a:latin typeface="+mj-lt"/>
              </a:rPr>
              <a:t>niệm: </a:t>
            </a:r>
            <a:r>
              <a:rPr lang="vi-VN" sz="3000" dirty="0">
                <a:latin typeface="+mj-lt"/>
              </a:rPr>
              <a:t>Ghép kênh FDM là kỹ thuật tương tự được dùng khi băng thông </a:t>
            </a:r>
            <a:r>
              <a:rPr lang="vi-VN" sz="3000" dirty="0" smtClean="0">
                <a:latin typeface="+mj-lt"/>
              </a:rPr>
              <a:t>của</a:t>
            </a:r>
            <a:r>
              <a:rPr lang="en-US" sz="3000" dirty="0" smtClean="0">
                <a:latin typeface="+mj-lt"/>
              </a:rPr>
              <a:t> </a:t>
            </a:r>
            <a:r>
              <a:rPr lang="vi-VN" sz="3000" dirty="0" smtClean="0">
                <a:latin typeface="+mj-lt"/>
              </a:rPr>
              <a:t>đường </a:t>
            </a:r>
            <a:r>
              <a:rPr lang="vi-VN" sz="3000" dirty="0">
                <a:latin typeface="+mj-lt"/>
              </a:rPr>
              <a:t>truyền lớn hơn băng thông tổ hợp của các tín hiệu cần </a:t>
            </a:r>
            <a:r>
              <a:rPr lang="vi-VN" sz="3000" dirty="0" smtClean="0">
                <a:latin typeface="+mj-lt"/>
              </a:rPr>
              <a:t>truyền</a:t>
            </a:r>
            <a:r>
              <a:rPr lang="en-US" dirty="0"/>
              <a:t/>
            </a:r>
            <a:br>
              <a:rPr lang="en-US" dirty="0"/>
            </a:br>
            <a:r>
              <a:rPr lang="vi-VN" dirty="0" smtClean="0"/>
              <a:t>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979131" y="2959326"/>
            <a:ext cx="5996109" cy="2512560"/>
          </a:xfrm>
          <a:prstGeom prst="rect">
            <a:avLst/>
          </a:prstGeom>
        </p:spPr>
      </p:pic>
    </p:spTree>
    <p:extLst>
      <p:ext uri="{BB962C8B-B14F-4D97-AF65-F5344CB8AC3E}">
        <p14:creationId xmlns:p14="http://schemas.microsoft.com/office/powerpoint/2010/main" val="1202730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Quá</a:t>
            </a:r>
            <a:r>
              <a:rPr lang="en-US" dirty="0" smtClean="0"/>
              <a:t> </a:t>
            </a:r>
            <a:r>
              <a:rPr lang="en-US" dirty="0" err="1" smtClean="0"/>
              <a:t>trình</a:t>
            </a:r>
            <a:r>
              <a:rPr lang="en-US" dirty="0" smtClean="0"/>
              <a:t> </a:t>
            </a:r>
            <a:r>
              <a:rPr lang="en-US" dirty="0" err="1" smtClean="0"/>
              <a:t>ghép</a:t>
            </a:r>
            <a:r>
              <a:rPr lang="en-US" dirty="0" smtClean="0"/>
              <a:t> </a:t>
            </a:r>
            <a:r>
              <a:rPr lang="en-US" dirty="0" err="1" smtClean="0"/>
              <a:t>kênh</a:t>
            </a:r>
            <a:r>
              <a:rPr lang="en-US" dirty="0" smtClean="0"/>
              <a:t> (FDM)</a:t>
            </a:r>
            <a:endParaRPr lang="en-US" dirty="0"/>
          </a:p>
        </p:txBody>
      </p:sp>
      <p:sp>
        <p:nvSpPr>
          <p:cNvPr id="3" name="Content Placeholder 2"/>
          <p:cNvSpPr>
            <a:spLocks noGrp="1"/>
          </p:cNvSpPr>
          <p:nvPr>
            <p:ph idx="1"/>
          </p:nvPr>
        </p:nvSpPr>
        <p:spPr/>
        <p:txBody>
          <a:bodyPr/>
          <a:lstStyle/>
          <a:p>
            <a:r>
              <a:rPr lang="vi-VN" sz="3000" dirty="0" smtClean="0">
                <a:latin typeface="+mj-lt"/>
              </a:rPr>
              <a:t>Trong </a:t>
            </a:r>
            <a:r>
              <a:rPr lang="vi-VN" sz="3000" dirty="0">
                <a:latin typeface="+mj-lt"/>
              </a:rPr>
              <a:t>FDM, các tín </a:t>
            </a:r>
            <a:r>
              <a:rPr lang="vi-VN" sz="3000" dirty="0" smtClean="0">
                <a:latin typeface="+mj-lt"/>
              </a:rPr>
              <a:t>hiệu </a:t>
            </a:r>
            <a:r>
              <a:rPr lang="vi-VN" sz="3000" dirty="0">
                <a:latin typeface="+mj-lt"/>
              </a:rPr>
              <a:t>được điều chế với các tần </a:t>
            </a:r>
            <a:r>
              <a:rPr lang="vi-VN" sz="3000" dirty="0" smtClean="0">
                <a:latin typeface="+mj-lt"/>
              </a:rPr>
              <a:t>số</a:t>
            </a:r>
            <a:r>
              <a:rPr lang="en-US" sz="3000" dirty="0" smtClean="0">
                <a:latin typeface="+mj-lt"/>
              </a:rPr>
              <a:t> </a:t>
            </a:r>
            <a:r>
              <a:rPr lang="vi-VN" sz="3000" dirty="0" smtClean="0">
                <a:latin typeface="+mj-lt"/>
              </a:rPr>
              <a:t>sóng </a:t>
            </a:r>
            <a:r>
              <a:rPr lang="vi-VN" sz="3000" dirty="0">
                <a:latin typeface="+mj-lt"/>
              </a:rPr>
              <a:t>mang riêng (</a:t>
            </a:r>
            <a:r>
              <a:rPr lang="vi-VN" sz="3000" dirty="0" smtClean="0">
                <a:latin typeface="+mj-lt"/>
              </a:rPr>
              <a:t>f</a:t>
            </a:r>
            <a:r>
              <a:rPr lang="en-US" sz="3000" baseline="-25000" dirty="0" smtClean="0">
                <a:latin typeface="+mj-lt"/>
              </a:rPr>
              <a:t>1</a:t>
            </a:r>
            <a:r>
              <a:rPr lang="vi-VN" sz="3000" dirty="0" smtClean="0">
                <a:latin typeface="+mj-lt"/>
              </a:rPr>
              <a:t>, f</a:t>
            </a:r>
            <a:r>
              <a:rPr lang="en-US" sz="3000" baseline="-25000" dirty="0" smtClean="0">
                <a:latin typeface="+mj-lt"/>
              </a:rPr>
              <a:t>2</a:t>
            </a:r>
            <a:r>
              <a:rPr lang="vi-VN" sz="3000" dirty="0" smtClean="0">
                <a:latin typeface="+mj-lt"/>
              </a:rPr>
              <a:t> </a:t>
            </a:r>
            <a:r>
              <a:rPr lang="vi-VN" sz="3000" dirty="0">
                <a:latin typeface="+mj-lt"/>
              </a:rPr>
              <a:t>và </a:t>
            </a:r>
            <a:r>
              <a:rPr lang="vi-VN" sz="3000" dirty="0" smtClean="0">
                <a:latin typeface="+mj-lt"/>
              </a:rPr>
              <a:t>f</a:t>
            </a:r>
            <a:r>
              <a:rPr lang="en-US" sz="3000" baseline="-25000" dirty="0" smtClean="0">
                <a:latin typeface="+mj-lt"/>
              </a:rPr>
              <a:t>3</a:t>
            </a:r>
            <a:r>
              <a:rPr lang="vi-VN" sz="3000" dirty="0" smtClean="0">
                <a:latin typeface="+mj-lt"/>
              </a:rPr>
              <a:t>) </a:t>
            </a:r>
            <a:r>
              <a:rPr lang="vi-VN" sz="3000" dirty="0">
                <a:latin typeface="+mj-lt"/>
              </a:rPr>
              <a:t>dùng điều chế AM hay FM. Tín hiệu hỗn hợp có khỗ sóng </a:t>
            </a:r>
            <a:r>
              <a:rPr lang="vi-VN" sz="3000" dirty="0" smtClean="0">
                <a:latin typeface="+mj-lt"/>
              </a:rPr>
              <a:t>gấp</a:t>
            </a:r>
            <a:r>
              <a:rPr lang="en-US" sz="3000" dirty="0" smtClean="0">
                <a:latin typeface="+mj-lt"/>
              </a:rPr>
              <a:t> </a:t>
            </a:r>
            <a:r>
              <a:rPr lang="vi-VN" sz="3000" dirty="0" smtClean="0">
                <a:latin typeface="+mj-lt"/>
              </a:rPr>
              <a:t>ba </a:t>
            </a:r>
            <a:r>
              <a:rPr lang="vi-VN" sz="3000" dirty="0">
                <a:latin typeface="+mj-lt"/>
              </a:rPr>
              <a:t>lần tần số mỗi kênh cộng với các dãi phân cách bảo vệ (guard band).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68992" y="3399116"/>
            <a:ext cx="6317293" cy="2738660"/>
          </a:xfrm>
          <a:prstGeom prst="rect">
            <a:avLst/>
          </a:prstGeom>
        </p:spPr>
      </p:pic>
      <p:pic>
        <p:nvPicPr>
          <p:cNvPr id="5" name="Picture 4"/>
          <p:cNvPicPr>
            <a:picLocks noChangeAspect="1"/>
          </p:cNvPicPr>
          <p:nvPr/>
        </p:nvPicPr>
        <p:blipFill>
          <a:blip r:embed="rId3"/>
          <a:stretch>
            <a:fillRect/>
          </a:stretch>
        </p:blipFill>
        <p:spPr>
          <a:xfrm>
            <a:off x="6656888" y="3846287"/>
            <a:ext cx="5477056" cy="1929516"/>
          </a:xfrm>
          <a:prstGeom prst="rect">
            <a:avLst/>
          </a:prstGeom>
        </p:spPr>
      </p:pic>
    </p:spTree>
    <p:extLst>
      <p:ext uri="{BB962C8B-B14F-4D97-AF65-F5344CB8AC3E}">
        <p14:creationId xmlns:p14="http://schemas.microsoft.com/office/powerpoint/2010/main" val="2215798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Quá</a:t>
            </a:r>
            <a:r>
              <a:rPr lang="en-US" dirty="0"/>
              <a:t> </a:t>
            </a:r>
            <a:r>
              <a:rPr lang="en-US" dirty="0" err="1"/>
              <a:t>trình</a:t>
            </a:r>
            <a:r>
              <a:rPr lang="en-US" dirty="0"/>
              <a:t> </a:t>
            </a:r>
            <a:r>
              <a:rPr lang="en-US" dirty="0" err="1" smtClean="0"/>
              <a:t>phân</a:t>
            </a:r>
            <a:r>
              <a:rPr lang="en-US" dirty="0" smtClean="0"/>
              <a:t> </a:t>
            </a:r>
            <a:r>
              <a:rPr lang="en-US" dirty="0" err="1"/>
              <a:t>kênh</a:t>
            </a:r>
            <a:r>
              <a:rPr lang="en-US" dirty="0"/>
              <a:t> (FDM)</a:t>
            </a:r>
          </a:p>
        </p:txBody>
      </p:sp>
      <p:sp>
        <p:nvSpPr>
          <p:cNvPr id="3" name="Content Placeholder 2"/>
          <p:cNvSpPr>
            <a:spLocks noGrp="1"/>
          </p:cNvSpPr>
          <p:nvPr>
            <p:ph idx="1"/>
          </p:nvPr>
        </p:nvSpPr>
        <p:spPr>
          <a:xfrm>
            <a:off x="317500" y="1431235"/>
            <a:ext cx="4936672" cy="4866198"/>
          </a:xfrm>
        </p:spPr>
        <p:txBody>
          <a:bodyPr/>
          <a:lstStyle/>
          <a:p>
            <a:pPr algn="just"/>
            <a:r>
              <a:rPr lang="vi-VN" sz="3000" dirty="0">
                <a:latin typeface="+mj-lt"/>
              </a:rPr>
              <a:t>Bộ phân kênh là các bộ lọc nhằm tách các tín </a:t>
            </a:r>
            <a:r>
              <a:rPr lang="vi-VN" sz="3000" dirty="0" smtClean="0">
                <a:latin typeface="+mj-lt"/>
              </a:rPr>
              <a:t>hiệu</a:t>
            </a:r>
            <a:r>
              <a:rPr lang="en-US" sz="3000" dirty="0" smtClean="0">
                <a:latin typeface="+mj-lt"/>
              </a:rPr>
              <a:t> </a:t>
            </a:r>
            <a:r>
              <a:rPr lang="vi-VN" sz="3000" dirty="0" smtClean="0">
                <a:latin typeface="+mj-lt"/>
              </a:rPr>
              <a:t>ghép </a:t>
            </a:r>
            <a:r>
              <a:rPr lang="vi-VN" sz="3000" dirty="0">
                <a:latin typeface="+mj-lt"/>
              </a:rPr>
              <a:t>kênh thành các kênh phân </a:t>
            </a:r>
            <a:r>
              <a:rPr lang="vi-VN" sz="3000" dirty="0" smtClean="0">
                <a:latin typeface="+mj-lt"/>
              </a:rPr>
              <a:t>biệt.</a:t>
            </a:r>
            <a:r>
              <a:rPr lang="en-US" sz="3000" dirty="0" smtClean="0">
                <a:latin typeface="+mj-lt"/>
              </a:rPr>
              <a:t> </a:t>
            </a:r>
            <a:r>
              <a:rPr lang="vi-VN" sz="3000" dirty="0" smtClean="0">
                <a:latin typeface="+mj-lt"/>
              </a:rPr>
              <a:t>Các </a:t>
            </a:r>
            <a:r>
              <a:rPr lang="vi-VN" sz="3000" dirty="0">
                <a:latin typeface="+mj-lt"/>
              </a:rPr>
              <a:t>tín hiệu này tiếp tục được giải điều chế </a:t>
            </a:r>
            <a:r>
              <a:rPr lang="vi-VN" sz="3000" dirty="0" smtClean="0">
                <a:latin typeface="+mj-lt"/>
              </a:rPr>
              <a:t>và</a:t>
            </a:r>
            <a:r>
              <a:rPr lang="en-US" sz="3000" dirty="0" smtClean="0">
                <a:latin typeface="+mj-lt"/>
              </a:rPr>
              <a:t> </a:t>
            </a:r>
            <a:r>
              <a:rPr lang="vi-VN" sz="3000" dirty="0" smtClean="0">
                <a:latin typeface="+mj-lt"/>
              </a:rPr>
              <a:t>được </a:t>
            </a:r>
            <a:r>
              <a:rPr lang="vi-VN" sz="3000" dirty="0">
                <a:latin typeface="+mj-lt"/>
              </a:rPr>
              <a:t>đưa xuống thiết bị thu tương </a:t>
            </a:r>
            <a:r>
              <a:rPr lang="vi-VN" sz="3000" dirty="0" smtClean="0">
                <a:latin typeface="+mj-lt"/>
              </a:rPr>
              <a:t>ứng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5090739" y="3617280"/>
            <a:ext cx="6581775" cy="3057525"/>
          </a:xfrm>
          <a:prstGeom prst="rect">
            <a:avLst/>
          </a:prstGeom>
        </p:spPr>
      </p:pic>
      <p:pic>
        <p:nvPicPr>
          <p:cNvPr id="5" name="Picture 4"/>
          <p:cNvPicPr>
            <a:picLocks noChangeAspect="1"/>
          </p:cNvPicPr>
          <p:nvPr/>
        </p:nvPicPr>
        <p:blipFill>
          <a:blip r:embed="rId3"/>
          <a:stretch>
            <a:fillRect/>
          </a:stretch>
        </p:blipFill>
        <p:spPr>
          <a:xfrm>
            <a:off x="5791879" y="1451431"/>
            <a:ext cx="5635793" cy="2033645"/>
          </a:xfrm>
          <a:prstGeom prst="rect">
            <a:avLst/>
          </a:prstGeom>
        </p:spPr>
      </p:pic>
    </p:spTree>
    <p:extLst>
      <p:ext uri="{BB962C8B-B14F-4D97-AF65-F5344CB8AC3E}">
        <p14:creationId xmlns:p14="http://schemas.microsoft.com/office/powerpoint/2010/main" val="2207190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3484" y="365126"/>
            <a:ext cx="9672266" cy="946840"/>
          </a:xfrm>
        </p:spPr>
        <p:txBody>
          <a:bodyPr>
            <a:normAutofit/>
          </a:bodyPr>
          <a:lstStyle/>
          <a:p>
            <a:r>
              <a:rPr lang="en-US" dirty="0" smtClean="0"/>
              <a:t>7.3 </a:t>
            </a:r>
            <a:r>
              <a:rPr lang="en-US" dirty="0" err="1"/>
              <a:t>Ghép</a:t>
            </a:r>
            <a:r>
              <a:rPr lang="en-US" dirty="0"/>
              <a:t> </a:t>
            </a:r>
            <a:r>
              <a:rPr lang="en-US" dirty="0" err="1"/>
              <a:t>kênh</a:t>
            </a:r>
            <a:r>
              <a:rPr lang="en-US" dirty="0"/>
              <a:t> </a:t>
            </a:r>
            <a:r>
              <a:rPr lang="en-US" dirty="0" err="1"/>
              <a:t>phân</a:t>
            </a:r>
            <a:r>
              <a:rPr lang="en-US" dirty="0"/>
              <a:t> chia </a:t>
            </a:r>
            <a:r>
              <a:rPr lang="en-US" dirty="0" err="1"/>
              <a:t>theo</a:t>
            </a:r>
            <a:r>
              <a:rPr lang="en-US" dirty="0"/>
              <a:t> </a:t>
            </a:r>
            <a:r>
              <a:rPr lang="en-US" dirty="0" err="1"/>
              <a:t>bước</a:t>
            </a:r>
            <a:r>
              <a:rPr lang="en-US" dirty="0"/>
              <a:t> </a:t>
            </a:r>
            <a:r>
              <a:rPr lang="en-US" dirty="0" err="1" smtClean="0"/>
              <a:t>sóng</a:t>
            </a:r>
            <a:r>
              <a:rPr lang="en-US" dirty="0" smtClean="0"/>
              <a:t> </a:t>
            </a:r>
            <a:endParaRPr lang="en-US" dirty="0"/>
          </a:p>
        </p:txBody>
      </p:sp>
      <p:sp>
        <p:nvSpPr>
          <p:cNvPr id="3" name="Content Placeholder 2"/>
          <p:cNvSpPr>
            <a:spLocks noGrp="1"/>
          </p:cNvSpPr>
          <p:nvPr>
            <p:ph idx="1"/>
          </p:nvPr>
        </p:nvSpPr>
        <p:spPr/>
        <p:txBody>
          <a:bodyPr/>
          <a:lstStyle/>
          <a:p>
            <a:r>
              <a:rPr lang="vi-VN" dirty="0">
                <a:latin typeface="+mj-lt"/>
              </a:rPr>
              <a:t>Ghép kênh </a:t>
            </a:r>
            <a:r>
              <a:rPr lang="en-US" dirty="0" smtClean="0">
                <a:latin typeface="Times New Roman" panose="02020603050405020304" pitchFamily="18" charset="0"/>
                <a:cs typeface="Times New Roman" panose="02020603050405020304" pitchFamily="18" charset="0"/>
              </a:rPr>
              <a:t>WDM</a:t>
            </a:r>
            <a:r>
              <a:rPr lang="en-US" dirty="0" smtClean="0">
                <a:latin typeface="+mj-lt"/>
              </a:rPr>
              <a:t> </a:t>
            </a:r>
            <a:r>
              <a:rPr lang="vi-VN" dirty="0" smtClean="0">
                <a:latin typeface="+mj-lt"/>
              </a:rPr>
              <a:t>về </a:t>
            </a:r>
            <a:r>
              <a:rPr lang="vi-VN" dirty="0">
                <a:latin typeface="+mj-lt"/>
              </a:rPr>
              <a:t>ý niệm là tương tự </a:t>
            </a:r>
            <a:r>
              <a:rPr lang="vi-VN" dirty="0" smtClean="0">
                <a:latin typeface="+mj-lt"/>
              </a:rPr>
              <a:t>như</a:t>
            </a:r>
            <a:r>
              <a:rPr lang="en-US" dirty="0" smtClean="0">
                <a:latin typeface="+mj-lt"/>
              </a:rPr>
              <a:t> </a:t>
            </a:r>
            <a:r>
              <a:rPr lang="vi-VN" dirty="0" smtClean="0">
                <a:latin typeface="+mj-lt"/>
              </a:rPr>
              <a:t>FDM</a:t>
            </a:r>
            <a:r>
              <a:rPr lang="en-US" dirty="0" smtClean="0">
                <a:latin typeface="+mj-lt"/>
              </a:rPr>
              <a:t> (</a:t>
            </a:r>
            <a:r>
              <a:rPr lang="vi-VN" dirty="0" smtClean="0">
                <a:latin typeface="+mj-lt"/>
              </a:rPr>
              <a:t>trừ </a:t>
            </a:r>
            <a:r>
              <a:rPr lang="vi-VN" dirty="0">
                <a:latin typeface="+mj-lt"/>
              </a:rPr>
              <a:t>tín hiệu là ánh sáng và môi trường là cáp </a:t>
            </a:r>
            <a:r>
              <a:rPr lang="vi-VN" dirty="0" smtClean="0">
                <a:latin typeface="+mj-lt"/>
              </a:rPr>
              <a:t>quang</a:t>
            </a:r>
            <a:r>
              <a:rPr lang="en-US" dirty="0" smtClean="0">
                <a:latin typeface="+mj-lt"/>
              </a:rPr>
              <a:t>)</a:t>
            </a:r>
            <a:r>
              <a:rPr lang="vi-VN" dirty="0" smtClean="0">
                <a:latin typeface="+mj-lt"/>
              </a:rPr>
              <a:t>. </a:t>
            </a:r>
            <a:r>
              <a:rPr lang="vi-VN" dirty="0">
                <a:latin typeface="+mj-lt"/>
              </a:rPr>
              <a:t>Điều tương tự ở đây là hai </a:t>
            </a:r>
            <a:r>
              <a:rPr lang="vi-VN" dirty="0" smtClean="0">
                <a:latin typeface="+mj-lt"/>
              </a:rPr>
              <a:t>phương</a:t>
            </a:r>
            <a:r>
              <a:rPr lang="en-US" dirty="0" smtClean="0">
                <a:latin typeface="+mj-lt"/>
              </a:rPr>
              <a:t> </a:t>
            </a:r>
            <a:r>
              <a:rPr lang="vi-VN" dirty="0" smtClean="0">
                <a:latin typeface="+mj-lt"/>
              </a:rPr>
              <a:t>pháp </a:t>
            </a:r>
            <a:r>
              <a:rPr lang="vi-VN" dirty="0">
                <a:latin typeface="+mj-lt"/>
              </a:rPr>
              <a:t>đều dùng các tần số khác nhau cho các tín hiệu khác nhau.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290053" y="2728685"/>
            <a:ext cx="7612215" cy="3746074"/>
          </a:xfrm>
          <a:prstGeom prst="rect">
            <a:avLst/>
          </a:prstGeom>
        </p:spPr>
      </p:pic>
    </p:spTree>
    <p:extLst>
      <p:ext uri="{BB962C8B-B14F-4D97-AF65-F5344CB8AC3E}">
        <p14:creationId xmlns:p14="http://schemas.microsoft.com/office/powerpoint/2010/main" val="900614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7.4 </a:t>
            </a:r>
            <a:r>
              <a:rPr lang="en-US" dirty="0" err="1"/>
              <a:t>Ghép</a:t>
            </a:r>
            <a:r>
              <a:rPr lang="en-US" dirty="0"/>
              <a:t> </a:t>
            </a:r>
            <a:r>
              <a:rPr lang="en-US" dirty="0" err="1"/>
              <a:t>kênh</a:t>
            </a:r>
            <a:r>
              <a:rPr lang="en-US" dirty="0"/>
              <a:t> </a:t>
            </a:r>
            <a:r>
              <a:rPr lang="en-US" dirty="0" err="1"/>
              <a:t>phân</a:t>
            </a:r>
            <a:r>
              <a:rPr lang="en-US" dirty="0"/>
              <a:t> chia </a:t>
            </a:r>
            <a:r>
              <a:rPr lang="en-US" dirty="0" err="1"/>
              <a:t>theo</a:t>
            </a:r>
            <a:r>
              <a:rPr lang="en-US" dirty="0"/>
              <a:t> </a:t>
            </a:r>
            <a:r>
              <a:rPr lang="en-US" dirty="0" err="1" smtClean="0"/>
              <a:t>thời</a:t>
            </a:r>
            <a:r>
              <a:rPr lang="en-US" dirty="0" smtClean="0"/>
              <a:t> </a:t>
            </a:r>
            <a:r>
              <a:rPr lang="en-US" dirty="0" err="1" smtClean="0"/>
              <a:t>gian</a:t>
            </a:r>
            <a:r>
              <a:rPr lang="en-US" dirty="0" smtClean="0"/>
              <a:t> </a:t>
            </a:r>
            <a:endParaRPr lang="en-US" dirty="0"/>
          </a:p>
        </p:txBody>
      </p:sp>
      <p:sp>
        <p:nvSpPr>
          <p:cNvPr id="3" name="Content Placeholder 2"/>
          <p:cNvSpPr>
            <a:spLocks noGrp="1"/>
          </p:cNvSpPr>
          <p:nvPr>
            <p:ph idx="1"/>
          </p:nvPr>
        </p:nvSpPr>
        <p:spPr/>
        <p:txBody>
          <a:bodyPr>
            <a:normAutofit/>
          </a:bodyPr>
          <a:lstStyle/>
          <a:p>
            <a:r>
              <a:rPr lang="vi-VN" b="1" dirty="0" smtClean="0">
                <a:latin typeface="+mj-lt"/>
              </a:rPr>
              <a:t>Khái </a:t>
            </a:r>
            <a:r>
              <a:rPr lang="vi-VN" b="1" dirty="0">
                <a:latin typeface="+mj-lt"/>
              </a:rPr>
              <a:t>niệm: </a:t>
            </a:r>
            <a:r>
              <a:rPr lang="vi-VN" dirty="0">
                <a:latin typeface="+mj-lt"/>
              </a:rPr>
              <a:t>Ghép kênh phân chia theo thời gian là quá trình số được dùng khi </a:t>
            </a:r>
            <a:r>
              <a:rPr lang="vi-VN" dirty="0" smtClean="0">
                <a:latin typeface="+mj-lt"/>
              </a:rPr>
              <a:t>môi</a:t>
            </a:r>
            <a:r>
              <a:rPr lang="en-US" dirty="0" smtClean="0">
                <a:latin typeface="+mj-lt"/>
              </a:rPr>
              <a:t> </a:t>
            </a:r>
            <a:r>
              <a:rPr lang="vi-VN" dirty="0" smtClean="0">
                <a:latin typeface="+mj-lt"/>
              </a:rPr>
              <a:t>trường </a:t>
            </a:r>
            <a:r>
              <a:rPr lang="vi-VN" dirty="0">
                <a:latin typeface="+mj-lt"/>
              </a:rPr>
              <a:t>truyền có tốc độ dữ liệu lớn hơn yêu cầu của thiết bị thu và </a:t>
            </a:r>
            <a:r>
              <a:rPr lang="vi-VN" dirty="0" smtClean="0">
                <a:latin typeface="+mj-lt"/>
              </a:rPr>
              <a:t>phát</a:t>
            </a:r>
            <a:endParaRPr lang="en-US" dirty="0">
              <a:latin typeface="+mj-lt"/>
            </a:endParaRPr>
          </a:p>
          <a:p>
            <a:endParaRPr lang="en-US" dirty="0" smtClean="0">
              <a:latin typeface="+mj-lt"/>
            </a:endParaRPr>
          </a:p>
          <a:p>
            <a:endParaRPr lang="en-US" dirty="0" smtClean="0">
              <a:latin typeface="+mj-lt"/>
            </a:endParaRPr>
          </a:p>
          <a:p>
            <a:endParaRPr lang="en-US" dirty="0">
              <a:latin typeface="+mj-lt"/>
            </a:endParaRPr>
          </a:p>
          <a:p>
            <a:endParaRPr lang="en-US" dirty="0" smtClean="0">
              <a:latin typeface="+mj-lt"/>
            </a:endParaRPr>
          </a:p>
          <a:p>
            <a:r>
              <a:rPr lang="vi-VN" sz="2000" dirty="0" smtClean="0">
                <a:latin typeface="+mj-lt"/>
              </a:rPr>
              <a:t>TDM </a:t>
            </a:r>
            <a:r>
              <a:rPr lang="vi-VN" sz="2000" dirty="0">
                <a:latin typeface="+mj-lt"/>
              </a:rPr>
              <a:t>có hai dạng: TDM đồng bộ và TDM không đồng </a:t>
            </a:r>
            <a:r>
              <a:rPr lang="vi-VN" sz="2000" dirty="0" smtClean="0">
                <a:latin typeface="+mj-lt"/>
              </a:rPr>
              <a:t>bộ</a:t>
            </a:r>
            <a:endParaRPr lang="en-US" sz="2000" dirty="0" smtClean="0">
              <a:latin typeface="+mj-lt"/>
            </a:endParaRPr>
          </a:p>
          <a:p>
            <a:pPr>
              <a:buFontTx/>
              <a:buChar char="-"/>
            </a:pPr>
            <a:r>
              <a:rPr lang="vi-VN" sz="2000" dirty="0" smtClean="0">
                <a:latin typeface="+mj-lt"/>
              </a:rPr>
              <a:t>TDM </a:t>
            </a:r>
            <a:r>
              <a:rPr lang="vi-VN" sz="2000" dirty="0">
                <a:latin typeface="+mj-lt"/>
              </a:rPr>
              <a:t>đồng bộ (còn được gọi là </a:t>
            </a:r>
            <a:r>
              <a:rPr lang="vi-VN" sz="2000" dirty="0" smtClean="0">
                <a:latin typeface="+mj-lt"/>
              </a:rPr>
              <a:t>TDM)</a:t>
            </a:r>
            <a:endParaRPr lang="en-US" sz="2000" dirty="0" smtClean="0">
              <a:latin typeface="+mj-lt"/>
            </a:endParaRPr>
          </a:p>
          <a:p>
            <a:pPr>
              <a:buFontTx/>
              <a:buChar char="-"/>
            </a:pPr>
            <a:r>
              <a:rPr lang="vi-VN" sz="2000" dirty="0" smtClean="0">
                <a:latin typeface="+mj-lt"/>
              </a:rPr>
              <a:t>TDM </a:t>
            </a:r>
            <a:r>
              <a:rPr lang="vi-VN" sz="2000" dirty="0">
                <a:latin typeface="+mj-lt"/>
              </a:rPr>
              <a:t>không đồng bộ, còn gọi là TDM thống kê hoặc tập trung</a:t>
            </a:r>
            <a:br>
              <a:rPr lang="vi-VN" sz="2000" dirty="0">
                <a:latin typeface="+mj-lt"/>
              </a:rPr>
            </a:br>
            <a:r>
              <a:rPr lang="vi-VN" sz="2000" dirty="0">
                <a:latin typeface="+mj-lt"/>
              </a:rPr>
              <a:t>(concentrator) </a:t>
            </a:r>
            <a:endParaRPr lang="en-US" sz="2000" dirty="0">
              <a:latin typeface="+mj-lt"/>
            </a:endParaRPr>
          </a:p>
        </p:txBody>
      </p:sp>
      <p:pic>
        <p:nvPicPr>
          <p:cNvPr id="4" name="Picture 3"/>
          <p:cNvPicPr>
            <a:picLocks noChangeAspect="1"/>
          </p:cNvPicPr>
          <p:nvPr/>
        </p:nvPicPr>
        <p:blipFill>
          <a:blip r:embed="rId2"/>
          <a:stretch>
            <a:fillRect/>
          </a:stretch>
        </p:blipFill>
        <p:spPr>
          <a:xfrm>
            <a:off x="3674382" y="2315902"/>
            <a:ext cx="4308475" cy="2360419"/>
          </a:xfrm>
          <a:prstGeom prst="rect">
            <a:avLst/>
          </a:prstGeom>
        </p:spPr>
      </p:pic>
    </p:spTree>
    <p:extLst>
      <p:ext uri="{BB962C8B-B14F-4D97-AF65-F5344CB8AC3E}">
        <p14:creationId xmlns:p14="http://schemas.microsoft.com/office/powerpoint/2010/main" val="32120278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TDM đồng bộ</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Phân chia các khe (slot) cho từng ngõ vào với thời gian bằng nhau. </a:t>
            </a:r>
          </a:p>
          <a:p>
            <a:r>
              <a:rPr lang="vi-VN" sz="3000" dirty="0" smtClean="0">
                <a:latin typeface="+mj-lt"/>
              </a:rPr>
              <a:t>Ngõ vào nào không có dữ liệu truyền thì khe đó bỏ trống. </a:t>
            </a:r>
          </a:p>
          <a:p>
            <a:r>
              <a:rPr lang="vi-VN" sz="3000" dirty="0" smtClean="0">
                <a:latin typeface="+mj-lt"/>
              </a:rPr>
              <a:t>Số khe thời gian bằng số ngõ vào</a:t>
            </a:r>
          </a:p>
          <a:p>
            <a:r>
              <a:rPr lang="vi-VN" sz="3000" dirty="0" smtClean="0">
                <a:latin typeface="+mj-lt"/>
              </a:rPr>
              <a:t>Chiều dài của khung bằng số ngõ vào </a:t>
            </a:r>
          </a:p>
          <a:p>
            <a:r>
              <a:rPr lang="vi-VN" sz="3000" dirty="0" smtClean="0">
                <a:latin typeface="+mj-lt"/>
              </a:rPr>
              <a:t>Các ngõ vào có cùng tốc độ bit </a:t>
            </a:r>
            <a:endParaRPr lang="en-US" sz="3000" dirty="0">
              <a:latin typeface="+mj-lt"/>
            </a:endParaRPr>
          </a:p>
        </p:txBody>
      </p:sp>
      <p:pic>
        <p:nvPicPr>
          <p:cNvPr id="1026" name="Picture 2"/>
          <p:cNvPicPr>
            <a:picLocks noChangeAspect="1" noChangeArrowheads="1"/>
          </p:cNvPicPr>
          <p:nvPr/>
        </p:nvPicPr>
        <p:blipFill>
          <a:blip r:embed="rId2"/>
          <a:srcRect/>
          <a:stretch>
            <a:fillRect/>
          </a:stretch>
        </p:blipFill>
        <p:spPr bwMode="auto">
          <a:xfrm>
            <a:off x="2071689" y="4096248"/>
            <a:ext cx="7205662" cy="27617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TDM đồng bộ</a:t>
            </a:r>
            <a:endParaRPr lang="en-US" dirty="0"/>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Frame (Khung)</a:t>
            </a:r>
          </a:p>
          <a:p>
            <a:r>
              <a:rPr lang="en-US" dirty="0" smtClean="0">
                <a:latin typeface="Times New Roman" pitchFamily="18" charset="0"/>
                <a:cs typeface="Times New Roman" pitchFamily="18" charset="0"/>
              </a:rPr>
              <a:t>Chuyển vị  (Interleaving</a:t>
            </a:r>
            <a:r>
              <a:rPr lang="en-US" dirty="0" smtClean="0"/>
              <a:t>)</a:t>
            </a:r>
            <a:endParaRPr lang="en-US" dirty="0"/>
          </a:p>
        </p:txBody>
      </p:sp>
      <p:pic>
        <p:nvPicPr>
          <p:cNvPr id="2051" name="Picture 3"/>
          <p:cNvPicPr>
            <a:picLocks noChangeAspect="1" noChangeArrowheads="1"/>
          </p:cNvPicPr>
          <p:nvPr/>
        </p:nvPicPr>
        <p:blipFill>
          <a:blip r:embed="rId2"/>
          <a:srcRect/>
          <a:stretch>
            <a:fillRect/>
          </a:stretch>
        </p:blipFill>
        <p:spPr bwMode="auto">
          <a:xfrm>
            <a:off x="4576763" y="1500188"/>
            <a:ext cx="7419975" cy="2486025"/>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a:srcRect/>
          <a:stretch>
            <a:fillRect/>
          </a:stretch>
        </p:blipFill>
        <p:spPr bwMode="auto">
          <a:xfrm>
            <a:off x="3705225" y="4048125"/>
            <a:ext cx="8248650" cy="22764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TDM đồng bộ</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dirty="0" smtClean="0">
                <a:latin typeface="+mj-lt"/>
              </a:rPr>
              <a:t> </a:t>
            </a:r>
            <a:r>
              <a:rPr lang="vi-VN" sz="3000" dirty="0" smtClean="0">
                <a:latin typeface="+mj-lt"/>
              </a:rPr>
              <a:t>Tốc độ bit của dữ liệu sau khi ghép kênh TDM</a:t>
            </a:r>
            <a:r>
              <a:rPr lang="en-US" sz="3000" dirty="0" smtClean="0">
                <a:latin typeface="+mj-lt"/>
              </a:rPr>
              <a:t>:</a:t>
            </a:r>
            <a:r>
              <a:rPr lang="en-US" sz="3200" dirty="0" smtClean="0">
                <a:solidFill>
                  <a:srgbClr val="FF0000"/>
                </a:solidFill>
              </a:rPr>
              <a:t> </a:t>
            </a:r>
            <a:r>
              <a:rPr lang="vi-VN" sz="3200" dirty="0" smtClean="0">
                <a:solidFill>
                  <a:srgbClr val="FF0000"/>
                </a:solidFill>
              </a:rPr>
              <a:t>R</a:t>
            </a:r>
            <a:r>
              <a:rPr lang="en-US" sz="3200" baseline="-25000" dirty="0" smtClean="0">
                <a:solidFill>
                  <a:srgbClr val="FF0000"/>
                </a:solidFill>
              </a:rPr>
              <a:t>TDM</a:t>
            </a:r>
            <a:r>
              <a:rPr lang="vi-VN" sz="3200" dirty="0" smtClean="0">
                <a:solidFill>
                  <a:srgbClr val="FF0000"/>
                </a:solidFill>
              </a:rPr>
              <a:t> </a:t>
            </a:r>
            <a:endParaRPr lang="en-US" sz="3000" dirty="0" smtClean="0">
              <a:solidFill>
                <a:srgbClr val="FF0000"/>
              </a:solidFill>
              <a:latin typeface="+mj-lt"/>
            </a:endParaRPr>
          </a:p>
          <a:p>
            <a:pPr>
              <a:buNone/>
            </a:pPr>
            <a:r>
              <a:rPr lang="en-US" sz="4000" dirty="0" smtClean="0">
                <a:latin typeface="+mj-lt"/>
              </a:rPr>
              <a:t>                    </a:t>
            </a:r>
            <a:r>
              <a:rPr lang="vi-VN" sz="4000" b="1" dirty="0" smtClean="0">
                <a:solidFill>
                  <a:srgbClr val="FF0000"/>
                </a:solidFill>
                <a:latin typeface="+mj-lt"/>
              </a:rPr>
              <a:t>R</a:t>
            </a:r>
            <a:r>
              <a:rPr lang="en-US" sz="4000" b="1" baseline="-25000" dirty="0" smtClean="0">
                <a:solidFill>
                  <a:srgbClr val="FF0000"/>
                </a:solidFill>
                <a:latin typeface="+mj-lt"/>
              </a:rPr>
              <a:t>TDM</a:t>
            </a:r>
            <a:r>
              <a:rPr lang="vi-VN" sz="4000" b="1" dirty="0" smtClean="0">
                <a:solidFill>
                  <a:srgbClr val="FF0000"/>
                </a:solidFill>
                <a:latin typeface="+mj-lt"/>
              </a:rPr>
              <a:t> = n x R</a:t>
            </a:r>
            <a:r>
              <a:rPr lang="en-US" sz="4000" b="1" baseline="-25000" dirty="0" smtClean="0">
                <a:solidFill>
                  <a:srgbClr val="FF0000"/>
                </a:solidFill>
                <a:latin typeface="+mj-lt"/>
              </a:rPr>
              <a:t>bi</a:t>
            </a:r>
            <a:r>
              <a:rPr lang="vi-VN" sz="4000" b="1" dirty="0" smtClean="0">
                <a:solidFill>
                  <a:srgbClr val="FF0000"/>
                </a:solidFill>
                <a:latin typeface="+mj-lt"/>
              </a:rPr>
              <a:t> </a:t>
            </a:r>
          </a:p>
          <a:p>
            <a:r>
              <a:rPr lang="vi-VN" sz="3000" dirty="0" smtClean="0">
                <a:latin typeface="+mj-lt"/>
              </a:rPr>
              <a:t>R</a:t>
            </a:r>
            <a:r>
              <a:rPr lang="en-US" sz="3000" baseline="-25000" dirty="0" smtClean="0">
                <a:latin typeface="+mj-lt"/>
              </a:rPr>
              <a:t>bi</a:t>
            </a:r>
            <a:r>
              <a:rPr lang="vi-VN" sz="3000" dirty="0" smtClean="0">
                <a:latin typeface="+mj-lt"/>
              </a:rPr>
              <a:t>: Tốc độ của dữ liệu ngõ vào</a:t>
            </a:r>
            <a:endParaRPr lang="en-US" sz="3000" dirty="0" smtClean="0">
              <a:latin typeface="+mj-lt"/>
            </a:endParaRPr>
          </a:p>
          <a:p>
            <a:r>
              <a:rPr lang="en-US" sz="3000" dirty="0" smtClean="0">
                <a:latin typeface="Times New Roman" pitchFamily="18" charset="0"/>
                <a:cs typeface="Times New Roman" pitchFamily="18" charset="0"/>
              </a:rPr>
              <a:t>n: số ngõ vào. </a:t>
            </a:r>
          </a:p>
          <a:p>
            <a:r>
              <a:rPr lang="en-US" sz="3000" dirty="0" smtClean="0">
                <a:latin typeface="Times New Roman" pitchFamily="18" charset="0"/>
                <a:cs typeface="Times New Roman" pitchFamily="18" charset="0"/>
              </a:rPr>
              <a:t>R</a:t>
            </a:r>
            <a:r>
              <a:rPr lang="en-US" sz="3000" baseline="-25000" dirty="0" smtClean="0">
                <a:latin typeface="Times New Roman" pitchFamily="18" charset="0"/>
                <a:cs typeface="Times New Roman" pitchFamily="18" charset="0"/>
              </a:rPr>
              <a:t>Frame</a:t>
            </a:r>
            <a:r>
              <a:rPr lang="en-US" sz="3000" dirty="0" smtClean="0">
                <a:latin typeface="Times New Roman" pitchFamily="18" charset="0"/>
                <a:cs typeface="Times New Roman" pitchFamily="18" charset="0"/>
              </a:rPr>
              <a:t> = R</a:t>
            </a:r>
            <a:r>
              <a:rPr lang="en-US" sz="3000" baseline="-25000" dirty="0" smtClean="0">
                <a:latin typeface="Times New Roman" pitchFamily="18" charset="0"/>
                <a:cs typeface="Times New Roman" pitchFamily="18" charset="0"/>
              </a:rPr>
              <a:t>bi</a:t>
            </a:r>
            <a:r>
              <a:rPr lang="en-US" sz="3000" dirty="0" smtClean="0">
                <a:latin typeface="Times New Roman" pitchFamily="18" charset="0"/>
                <a:cs typeface="Times New Roman" pitchFamily="18" charset="0"/>
              </a:rPr>
              <a:t>/m; m: số bit chứa trong 1 khe</a:t>
            </a:r>
            <a:endParaRPr lang="en-US" sz="3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TDM đồng bộ</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smtClean="0">
                <a:latin typeface="+mj-lt"/>
              </a:rPr>
              <a:t> </a:t>
            </a:r>
            <a:r>
              <a:rPr lang="vi-VN" dirty="0" smtClean="0">
                <a:latin typeface="+mj-lt"/>
              </a:rPr>
              <a:t>Ghép kênh TDM có các bit đồng bộ (Các bit tạo khung -framing bits):</a:t>
            </a:r>
            <a:endParaRPr lang="en-US" dirty="0" smtClean="0">
              <a:latin typeface="+mj-lt"/>
            </a:endParaRPr>
          </a:p>
          <a:p>
            <a:endParaRPr lang="en-US" dirty="0" smtClean="0">
              <a:latin typeface="+mj-lt"/>
            </a:endParaRPr>
          </a:p>
          <a:p>
            <a:endParaRPr lang="en-US" dirty="0" smtClean="0">
              <a:latin typeface="+mj-lt"/>
            </a:endParaRPr>
          </a:p>
          <a:p>
            <a:endParaRPr lang="en-US" dirty="0" smtClean="0">
              <a:latin typeface="+mj-lt"/>
            </a:endParaRPr>
          </a:p>
          <a:p>
            <a:endParaRPr lang="en-US" dirty="0" smtClean="0">
              <a:latin typeface="+mj-lt"/>
            </a:endParaRPr>
          </a:p>
          <a:p>
            <a:pPr>
              <a:buFont typeface="Wingdings" pitchFamily="2" charset="2"/>
              <a:buChar char="v"/>
            </a:pPr>
            <a:r>
              <a:rPr lang="en-US" dirty="0" smtClean="0">
                <a:latin typeface="+mj-lt"/>
              </a:rPr>
              <a:t> </a:t>
            </a:r>
            <a:r>
              <a:rPr lang="vi-VN" dirty="0" smtClean="0">
                <a:latin typeface="+mj-lt"/>
              </a:rPr>
              <a:t>Tốc độ bit của dữ liệu sau khi ghép kênh TDM</a:t>
            </a:r>
            <a:r>
              <a:rPr lang="en-US" dirty="0" smtClean="0">
                <a:latin typeface="+mj-lt"/>
              </a:rPr>
              <a:t>:</a:t>
            </a:r>
            <a:r>
              <a:rPr lang="en-US" dirty="0" smtClean="0">
                <a:solidFill>
                  <a:srgbClr val="FF0000"/>
                </a:solidFill>
                <a:latin typeface="+mj-lt"/>
              </a:rPr>
              <a:t> </a:t>
            </a:r>
            <a:r>
              <a:rPr lang="vi-VN" dirty="0" smtClean="0">
                <a:solidFill>
                  <a:srgbClr val="FF0000"/>
                </a:solidFill>
                <a:latin typeface="+mj-lt"/>
              </a:rPr>
              <a:t>R</a:t>
            </a:r>
            <a:r>
              <a:rPr lang="en-US" baseline="-25000" dirty="0" smtClean="0">
                <a:solidFill>
                  <a:srgbClr val="FF0000"/>
                </a:solidFill>
                <a:latin typeface="+mj-lt"/>
              </a:rPr>
              <a:t>TDM</a:t>
            </a:r>
            <a:r>
              <a:rPr lang="vi-VN" dirty="0" smtClean="0">
                <a:solidFill>
                  <a:srgbClr val="FF0000"/>
                </a:solidFill>
                <a:latin typeface="+mj-lt"/>
              </a:rPr>
              <a:t> </a:t>
            </a:r>
            <a:endParaRPr lang="en-US" dirty="0" smtClean="0">
              <a:solidFill>
                <a:srgbClr val="FF0000"/>
              </a:solidFill>
              <a:latin typeface="+mj-lt"/>
            </a:endParaRPr>
          </a:p>
          <a:p>
            <a:pPr>
              <a:buNone/>
            </a:pPr>
            <a:r>
              <a:rPr lang="en-US" sz="3200" dirty="0" smtClean="0">
                <a:latin typeface="+mj-lt"/>
              </a:rPr>
              <a:t>                    </a:t>
            </a:r>
            <a:r>
              <a:rPr lang="vi-VN" sz="3200" b="1" dirty="0" smtClean="0">
                <a:solidFill>
                  <a:srgbClr val="FF0000"/>
                </a:solidFill>
                <a:latin typeface="+mj-lt"/>
              </a:rPr>
              <a:t>R</a:t>
            </a:r>
            <a:r>
              <a:rPr lang="en-US" sz="3200" b="1" baseline="-25000" dirty="0" smtClean="0">
                <a:solidFill>
                  <a:srgbClr val="FF0000"/>
                </a:solidFill>
                <a:latin typeface="+mj-lt"/>
              </a:rPr>
              <a:t>TDM(có từ đồngbộ)</a:t>
            </a:r>
            <a:r>
              <a:rPr lang="vi-VN" sz="3200" b="1" dirty="0" smtClean="0">
                <a:solidFill>
                  <a:srgbClr val="FF0000"/>
                </a:solidFill>
                <a:latin typeface="+mj-lt"/>
              </a:rPr>
              <a:t> = n x R</a:t>
            </a:r>
            <a:r>
              <a:rPr lang="en-US" sz="3200" b="1" baseline="-25000" dirty="0" smtClean="0">
                <a:solidFill>
                  <a:srgbClr val="FF0000"/>
                </a:solidFill>
                <a:latin typeface="+mj-lt"/>
              </a:rPr>
              <a:t>bi</a:t>
            </a:r>
            <a:r>
              <a:rPr lang="vi-VN" sz="3200" b="1" dirty="0" smtClean="0">
                <a:solidFill>
                  <a:srgbClr val="FF0000"/>
                </a:solidFill>
                <a:latin typeface="+mj-lt"/>
              </a:rPr>
              <a:t> </a:t>
            </a:r>
            <a:r>
              <a:rPr lang="en-US" sz="3200" b="1" dirty="0" smtClean="0">
                <a:solidFill>
                  <a:srgbClr val="FF0000"/>
                </a:solidFill>
                <a:latin typeface="+mj-lt"/>
              </a:rPr>
              <a:t>+ R</a:t>
            </a:r>
            <a:r>
              <a:rPr lang="en-US" sz="3200" b="1" baseline="-25000" dirty="0" smtClean="0">
                <a:solidFill>
                  <a:srgbClr val="FF0000"/>
                </a:solidFill>
                <a:latin typeface="+mj-lt"/>
              </a:rPr>
              <a:t>Frame</a:t>
            </a:r>
            <a:endParaRPr lang="vi-VN" sz="3200" b="1" dirty="0" smtClean="0">
              <a:solidFill>
                <a:srgbClr val="FF0000"/>
              </a:solidFill>
              <a:latin typeface="+mj-lt"/>
            </a:endParaRPr>
          </a:p>
          <a:p>
            <a:r>
              <a:rPr lang="vi-VN" dirty="0" smtClean="0">
                <a:latin typeface="+mj-lt"/>
              </a:rPr>
              <a:t>R</a:t>
            </a:r>
            <a:r>
              <a:rPr lang="en-US" baseline="-25000" dirty="0" smtClean="0">
                <a:latin typeface="+mj-lt"/>
              </a:rPr>
              <a:t>bi</a:t>
            </a:r>
            <a:r>
              <a:rPr lang="vi-VN" dirty="0" smtClean="0">
                <a:latin typeface="+mj-lt"/>
              </a:rPr>
              <a:t>: Tốc độ của dữ liệu ngõ vào</a:t>
            </a:r>
            <a:r>
              <a:rPr lang="en-US" dirty="0" smtClean="0">
                <a:latin typeface="+mj-lt"/>
              </a:rPr>
              <a:t>, </a:t>
            </a:r>
            <a:r>
              <a:rPr lang="en-US" dirty="0" smtClean="0">
                <a:latin typeface="Times New Roman" pitchFamily="18" charset="0"/>
                <a:cs typeface="Times New Roman" pitchFamily="18" charset="0"/>
              </a:rPr>
              <a:t>n: số ngõ vào. </a:t>
            </a:r>
          </a:p>
          <a:p>
            <a:r>
              <a:rPr lang="en-US" dirty="0" smtClean="0">
                <a:latin typeface="Times New Roman" pitchFamily="18" charset="0"/>
                <a:cs typeface="Times New Roman" pitchFamily="18" charset="0"/>
              </a:rPr>
              <a:t>R</a:t>
            </a:r>
            <a:r>
              <a:rPr lang="en-US" baseline="-25000" dirty="0" smtClean="0">
                <a:latin typeface="Times New Roman" pitchFamily="18" charset="0"/>
                <a:cs typeface="Times New Roman" pitchFamily="18" charset="0"/>
              </a:rPr>
              <a:t>Frame</a:t>
            </a:r>
            <a:r>
              <a:rPr lang="en-US" dirty="0" smtClean="0">
                <a:latin typeface="Times New Roman" pitchFamily="18" charset="0"/>
                <a:cs typeface="Times New Roman" pitchFamily="18" charset="0"/>
              </a:rPr>
              <a:t> = R</a:t>
            </a:r>
            <a:r>
              <a:rPr lang="en-US" baseline="-25000" dirty="0" smtClean="0">
                <a:latin typeface="Times New Roman" pitchFamily="18" charset="0"/>
                <a:cs typeface="Times New Roman" pitchFamily="18" charset="0"/>
              </a:rPr>
              <a:t>bi</a:t>
            </a:r>
            <a:r>
              <a:rPr lang="en-US" dirty="0" smtClean="0">
                <a:latin typeface="Times New Roman" pitchFamily="18" charset="0"/>
                <a:cs typeface="Times New Roman" pitchFamily="18" charset="0"/>
              </a:rPr>
              <a:t>/m; m: số bit chứa trong 1 khe</a:t>
            </a:r>
            <a:r>
              <a:rPr lang="vi-VN"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endParaRPr lang="en-US" dirty="0"/>
          </a:p>
        </p:txBody>
      </p:sp>
      <p:pic>
        <p:nvPicPr>
          <p:cNvPr id="3074" name="Picture 2"/>
          <p:cNvPicPr>
            <a:picLocks noChangeAspect="1" noChangeArrowheads="1"/>
          </p:cNvPicPr>
          <p:nvPr/>
        </p:nvPicPr>
        <p:blipFill>
          <a:blip r:embed="rId2"/>
          <a:srcRect/>
          <a:stretch>
            <a:fillRect/>
          </a:stretch>
        </p:blipFill>
        <p:spPr bwMode="auto">
          <a:xfrm>
            <a:off x="2371725" y="2102120"/>
            <a:ext cx="6619875" cy="17840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TDM không đồng bộ</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Phân chia các khe (slot) của từng tín hiệu với thời gian bằng nhau </a:t>
            </a:r>
          </a:p>
          <a:p>
            <a:r>
              <a:rPr lang="vi-VN" sz="3000" dirty="0" smtClean="0">
                <a:latin typeface="+mj-lt"/>
              </a:rPr>
              <a:t>Số khe thời gian nhỏ hơn số ngõ vào </a:t>
            </a:r>
          </a:p>
          <a:p>
            <a:r>
              <a:rPr lang="vi-VN" sz="3000" dirty="0" smtClean="0">
                <a:latin typeface="+mj-lt"/>
              </a:rPr>
              <a:t>Không có khe trống</a:t>
            </a:r>
            <a:endParaRPr lang="en-US" sz="3000" dirty="0">
              <a:latin typeface="+mj-lt"/>
            </a:endParaRPr>
          </a:p>
        </p:txBody>
      </p:sp>
      <p:pic>
        <p:nvPicPr>
          <p:cNvPr id="4099" name="Picture 3"/>
          <p:cNvPicPr>
            <a:picLocks noChangeAspect="1" noChangeArrowheads="1"/>
          </p:cNvPicPr>
          <p:nvPr/>
        </p:nvPicPr>
        <p:blipFill>
          <a:blip r:embed="rId2"/>
          <a:srcRect/>
          <a:stretch>
            <a:fillRect/>
          </a:stretch>
        </p:blipFill>
        <p:spPr bwMode="auto">
          <a:xfrm>
            <a:off x="4648200" y="2562224"/>
            <a:ext cx="5716210" cy="39719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TDM không đồng bộ</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Hình bên dưới minh họa một hệ thống với 5 máy tính chia xẻ</a:t>
            </a:r>
            <a:r>
              <a:rPr lang="en-US" sz="3000" dirty="0" smtClean="0">
                <a:latin typeface="+mj-lt"/>
              </a:rPr>
              <a:t> </a:t>
            </a:r>
            <a:r>
              <a:rPr lang="vi-VN" sz="3000" dirty="0" smtClean="0">
                <a:latin typeface="+mj-lt"/>
              </a:rPr>
              <a:t>đường truyền dùng TDM</a:t>
            </a:r>
            <a:r>
              <a:rPr lang="en-US" sz="3000" dirty="0" smtClean="0">
                <a:latin typeface="+mj-lt"/>
              </a:rPr>
              <a:t> </a:t>
            </a:r>
            <a:r>
              <a:rPr lang="vi-VN" sz="3000" dirty="0" smtClean="0">
                <a:latin typeface="+mj-lt"/>
              </a:rPr>
              <a:t>không đồng bộ. Trong thí dụ này , kích thước của frame là ba slot. </a:t>
            </a:r>
            <a:endParaRPr lang="en-US" sz="30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3614738" y="2500313"/>
            <a:ext cx="7704089" cy="3976687"/>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7.5 Ứng dụng của ghép kênh</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Ghép kênh luôn là công cụ chủ yếu trong công nghiệp điện th</a:t>
            </a:r>
            <a:r>
              <a:rPr lang="en-US" sz="3000" dirty="0" smtClean="0">
                <a:latin typeface="Times New Roman" pitchFamily="18" charset="0"/>
                <a:cs typeface="Times New Roman" pitchFamily="18" charset="0"/>
              </a:rPr>
              <a:t>oại</a:t>
            </a:r>
            <a:r>
              <a:rPr lang="vi-VN" sz="3000" dirty="0" smtClean="0">
                <a:latin typeface="+mj-lt"/>
              </a:rPr>
              <a:t>, trong đó đã ứng dụng cả FDM và TDM. </a:t>
            </a:r>
            <a:endParaRPr lang="en-US" sz="3000" dirty="0">
              <a:latin typeface="+mj-lt"/>
            </a:endParaRPr>
          </a:p>
        </p:txBody>
      </p:sp>
      <p:pic>
        <p:nvPicPr>
          <p:cNvPr id="6146" name="Picture 2"/>
          <p:cNvPicPr>
            <a:picLocks noChangeAspect="1" noChangeArrowheads="1"/>
          </p:cNvPicPr>
          <p:nvPr/>
        </p:nvPicPr>
        <p:blipFill>
          <a:blip r:embed="rId2"/>
          <a:srcRect/>
          <a:stretch>
            <a:fillRect/>
          </a:stretch>
        </p:blipFill>
        <p:spPr bwMode="auto">
          <a:xfrm>
            <a:off x="1571625" y="2352675"/>
            <a:ext cx="9239250" cy="26098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Analog</a:t>
            </a:r>
            <a:endParaRPr lang="en-US" dirty="0"/>
          </a:p>
        </p:txBody>
      </p:sp>
      <p:sp>
        <p:nvSpPr>
          <p:cNvPr id="3" name="Content Placeholder 2"/>
          <p:cNvSpPr>
            <a:spLocks noGrp="1"/>
          </p:cNvSpPr>
          <p:nvPr>
            <p:ph idx="1"/>
          </p:nvPr>
        </p:nvSpPr>
        <p:spPr/>
        <p:txBody>
          <a:bodyPr>
            <a:normAutofit/>
          </a:bodyPr>
          <a:lstStyle/>
          <a:p>
            <a:r>
              <a:rPr lang="en-US" sz="3000" dirty="0" smtClean="0">
                <a:latin typeface="Times New Roman" pitchFamily="18" charset="0"/>
                <a:cs typeface="Times New Roman" pitchFamily="18" charset="0"/>
              </a:rPr>
              <a:t>Có hai dịch vụ cho thuê bao là: dịch vụ chuyển mạch (switched services)  và dịch vụ thuê (leased services)</a:t>
            </a:r>
            <a:endParaRPr lang="en-US" sz="3000" dirty="0">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srcRect/>
          <a:stretch>
            <a:fillRect/>
          </a:stretch>
        </p:blipFill>
        <p:spPr bwMode="auto">
          <a:xfrm>
            <a:off x="2061757" y="2514600"/>
            <a:ext cx="7673337" cy="2533649"/>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Analog</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Dịch vụ chuyển mạch analog (analog switched service)</a:t>
            </a:r>
            <a:endParaRPr lang="en-US" sz="3000" dirty="0">
              <a:latin typeface="+mj-lt"/>
            </a:endParaRPr>
          </a:p>
        </p:txBody>
      </p:sp>
      <p:pic>
        <p:nvPicPr>
          <p:cNvPr id="8194" name="Picture 2"/>
          <p:cNvPicPr>
            <a:picLocks noChangeAspect="1" noChangeArrowheads="1"/>
          </p:cNvPicPr>
          <p:nvPr/>
        </p:nvPicPr>
        <p:blipFill>
          <a:blip r:embed="rId2"/>
          <a:srcRect/>
          <a:stretch>
            <a:fillRect/>
          </a:stretch>
        </p:blipFill>
        <p:spPr bwMode="auto">
          <a:xfrm>
            <a:off x="1062038" y="2124075"/>
            <a:ext cx="10029825" cy="352425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Analog</a:t>
            </a:r>
            <a:endParaRPr lang="en-US" dirty="0"/>
          </a:p>
        </p:txBody>
      </p:sp>
      <p:sp>
        <p:nvSpPr>
          <p:cNvPr id="3" name="Content Placeholder 2"/>
          <p:cNvSpPr>
            <a:spLocks noGrp="1"/>
          </p:cNvSpPr>
          <p:nvPr>
            <p:ph idx="1"/>
          </p:nvPr>
        </p:nvSpPr>
        <p:spPr/>
        <p:txBody>
          <a:bodyPr>
            <a:normAutofit/>
          </a:bodyPr>
          <a:lstStyle/>
          <a:p>
            <a:r>
              <a:rPr lang="en-US" sz="3000" dirty="0" smtClean="0">
                <a:latin typeface="Times New Roman" pitchFamily="18" charset="0"/>
                <a:cs typeface="Times New Roman" pitchFamily="18" charset="0"/>
              </a:rPr>
              <a:t>Dịch vụ thuê kênh analog (analog leased service)</a:t>
            </a:r>
            <a:endParaRPr lang="en-US" sz="3000" dirty="0">
              <a:latin typeface="Times New Roman" pitchFamily="18" charset="0"/>
              <a:cs typeface="Times New Roman" pitchFamily="18" charset="0"/>
            </a:endParaRPr>
          </a:p>
        </p:txBody>
      </p:sp>
      <p:pic>
        <p:nvPicPr>
          <p:cNvPr id="9218" name="Picture 2"/>
          <p:cNvPicPr>
            <a:picLocks noChangeAspect="1" noChangeArrowheads="1"/>
          </p:cNvPicPr>
          <p:nvPr/>
        </p:nvPicPr>
        <p:blipFill>
          <a:blip r:embed="rId2"/>
          <a:srcRect/>
          <a:stretch>
            <a:fillRect/>
          </a:stretch>
        </p:blipFill>
        <p:spPr bwMode="auto">
          <a:xfrm>
            <a:off x="1066800" y="2214220"/>
            <a:ext cx="9867900" cy="371033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Analog</a:t>
            </a:r>
            <a:endParaRPr lang="en-US" dirty="0"/>
          </a:p>
        </p:txBody>
      </p:sp>
      <p:sp>
        <p:nvSpPr>
          <p:cNvPr id="3" name="Content Placeholder 2"/>
          <p:cNvSpPr>
            <a:spLocks noGrp="1"/>
          </p:cNvSpPr>
          <p:nvPr>
            <p:ph idx="1"/>
          </p:nvPr>
        </p:nvSpPr>
        <p:spPr/>
        <p:txBody>
          <a:bodyPr>
            <a:normAutofit/>
          </a:bodyPr>
          <a:lstStyle/>
          <a:p>
            <a:r>
              <a:rPr lang="en-US" sz="3000" dirty="0" smtClean="0">
                <a:latin typeface="Times New Roman" pitchFamily="18" charset="0"/>
                <a:cs typeface="Times New Roman" pitchFamily="18" charset="0"/>
              </a:rPr>
              <a:t>Phân cấp mạng analog (analog hierarchy) </a:t>
            </a:r>
            <a:endParaRPr lang="en-US" sz="3000" dirty="0">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a:srcRect/>
          <a:stretch>
            <a:fillRect/>
          </a:stretch>
        </p:blipFill>
        <p:spPr bwMode="auto">
          <a:xfrm>
            <a:off x="566739" y="2236713"/>
            <a:ext cx="11168062" cy="3040137"/>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Digital</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r>
              <a:rPr lang="en-US" b="1" dirty="0" smtClean="0"/>
              <a:t>Switched/56</a:t>
            </a:r>
            <a:endParaRPr lang="en-US" b="1" dirty="0"/>
          </a:p>
        </p:txBody>
      </p:sp>
      <p:pic>
        <p:nvPicPr>
          <p:cNvPr id="11266" name="Picture 2"/>
          <p:cNvPicPr>
            <a:picLocks noChangeAspect="1" noChangeArrowheads="1"/>
          </p:cNvPicPr>
          <p:nvPr/>
        </p:nvPicPr>
        <p:blipFill>
          <a:blip r:embed="rId2"/>
          <a:srcRect/>
          <a:stretch>
            <a:fillRect/>
          </a:stretch>
        </p:blipFill>
        <p:spPr bwMode="auto">
          <a:xfrm>
            <a:off x="1295400" y="1419225"/>
            <a:ext cx="8991600" cy="2038350"/>
          </a:xfrm>
          <a:prstGeom prst="rect">
            <a:avLst/>
          </a:prstGeom>
          <a:noFill/>
          <a:ln w="9525">
            <a:noFill/>
            <a:miter lim="800000"/>
            <a:headEnd/>
            <a:tailEnd/>
          </a:ln>
          <a:effectLst/>
        </p:spPr>
      </p:pic>
      <p:pic>
        <p:nvPicPr>
          <p:cNvPr id="11267" name="Picture 3"/>
          <p:cNvPicPr>
            <a:picLocks noChangeAspect="1" noChangeArrowheads="1"/>
          </p:cNvPicPr>
          <p:nvPr/>
        </p:nvPicPr>
        <p:blipFill>
          <a:blip r:embed="rId3"/>
          <a:srcRect/>
          <a:stretch>
            <a:fillRect/>
          </a:stretch>
        </p:blipFill>
        <p:spPr bwMode="auto">
          <a:xfrm>
            <a:off x="2638425" y="4038600"/>
            <a:ext cx="7067550" cy="24765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Digital</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Dịch vụ dữ liệu số (DDS: Digital Data Service): là dạng khác của đường thuê bao analog; tức là đường thuê dạng số với tốc độ truyền tối đa là 64 Kbps. </a:t>
            </a:r>
            <a:endParaRPr lang="en-US" sz="3000" dirty="0">
              <a:latin typeface="+mj-lt"/>
            </a:endParaRPr>
          </a:p>
        </p:txBody>
      </p:sp>
      <p:pic>
        <p:nvPicPr>
          <p:cNvPr id="12290" name="Picture 2"/>
          <p:cNvPicPr>
            <a:picLocks noChangeAspect="1" noChangeArrowheads="1"/>
          </p:cNvPicPr>
          <p:nvPr/>
        </p:nvPicPr>
        <p:blipFill>
          <a:blip r:embed="rId2"/>
          <a:srcRect/>
          <a:stretch>
            <a:fillRect/>
          </a:stretch>
        </p:blipFill>
        <p:spPr bwMode="auto">
          <a:xfrm>
            <a:off x="1219200" y="2847975"/>
            <a:ext cx="10020300" cy="340995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Digital</a:t>
            </a:r>
            <a:endParaRPr lang="en-US" dirty="0"/>
          </a:p>
        </p:txBody>
      </p:sp>
      <p:sp>
        <p:nvSpPr>
          <p:cNvPr id="3" name="Content Placeholder 2"/>
          <p:cNvSpPr>
            <a:spLocks noGrp="1"/>
          </p:cNvSpPr>
          <p:nvPr>
            <p:ph idx="1"/>
          </p:nvPr>
        </p:nvSpPr>
        <p:spPr/>
        <p:txBody>
          <a:bodyPr>
            <a:normAutofit/>
          </a:bodyPr>
          <a:lstStyle/>
          <a:p>
            <a:r>
              <a:rPr lang="en-US" sz="3000" dirty="0" smtClean="0">
                <a:latin typeface="Times New Roman" pitchFamily="18" charset="0"/>
                <a:cs typeface="Times New Roman" pitchFamily="18" charset="0"/>
              </a:rPr>
              <a:t>Dịch vụ tín hiệu số (DS: Digital Signal service)</a:t>
            </a:r>
            <a:endParaRPr lang="en-US" sz="3000" dirty="0">
              <a:latin typeface="Times New Roman" pitchFamily="18" charset="0"/>
              <a:cs typeface="Times New Roman" pitchFamily="18" charset="0"/>
            </a:endParaRPr>
          </a:p>
        </p:txBody>
      </p:sp>
      <p:pic>
        <p:nvPicPr>
          <p:cNvPr id="13314" name="Picture 2"/>
          <p:cNvPicPr>
            <a:picLocks noChangeAspect="1" noChangeArrowheads="1"/>
          </p:cNvPicPr>
          <p:nvPr/>
        </p:nvPicPr>
        <p:blipFill>
          <a:blip r:embed="rId2"/>
          <a:srcRect/>
          <a:stretch>
            <a:fillRect/>
          </a:stretch>
        </p:blipFill>
        <p:spPr bwMode="auto">
          <a:xfrm>
            <a:off x="1247775" y="2196455"/>
            <a:ext cx="9667875" cy="377572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Digital</a:t>
            </a:r>
            <a:endParaRPr lang="en-US" dirty="0"/>
          </a:p>
        </p:txBody>
      </p:sp>
      <p:sp>
        <p:nvSpPr>
          <p:cNvPr id="3" name="Content Placeholder 2"/>
          <p:cNvSpPr>
            <a:spLocks noGrp="1"/>
          </p:cNvSpPr>
          <p:nvPr>
            <p:ph idx="1"/>
          </p:nvPr>
        </p:nvSpPr>
        <p:spPr/>
        <p:txBody>
          <a:bodyPr>
            <a:normAutofit/>
          </a:bodyPr>
          <a:lstStyle/>
          <a:p>
            <a:r>
              <a:rPr lang="vi-VN" sz="3000" b="1" dirty="0" smtClean="0">
                <a:latin typeface="+mj-lt"/>
              </a:rPr>
              <a:t>T-lines: </a:t>
            </a:r>
            <a:r>
              <a:rPr lang="vi-VN" sz="3000" dirty="0" smtClean="0">
                <a:latin typeface="+mj-lt"/>
              </a:rPr>
              <a:t>DS-0, DS-1 và tiếp tục là tên các dịch vụ. Để thiết lập các dịch vụ này, các công ty điện thoại dùng dây T (T-1 hay T-4). Các đường dây này thích hợp một cách chính xác với tốc độ dữ liệu của dịch vụ từ  DS-1 đến DS-4. </a:t>
            </a:r>
            <a:endParaRPr lang="en-US" sz="3000" dirty="0">
              <a:latin typeface="+mj-lt"/>
            </a:endParaRPr>
          </a:p>
        </p:txBody>
      </p:sp>
      <p:pic>
        <p:nvPicPr>
          <p:cNvPr id="14338" name="Picture 2"/>
          <p:cNvPicPr>
            <a:picLocks noChangeAspect="1" noChangeArrowheads="1"/>
          </p:cNvPicPr>
          <p:nvPr/>
        </p:nvPicPr>
        <p:blipFill>
          <a:blip r:embed="rId2"/>
          <a:srcRect/>
          <a:stretch>
            <a:fillRect/>
          </a:stretch>
        </p:blipFill>
        <p:spPr bwMode="auto">
          <a:xfrm>
            <a:off x="2228850" y="3248025"/>
            <a:ext cx="7696200" cy="226695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Dịch vụ Digital</a:t>
            </a:r>
            <a:endParaRPr lang="en-US" dirty="0"/>
          </a:p>
        </p:txBody>
      </p:sp>
      <p:sp>
        <p:nvSpPr>
          <p:cNvPr id="3" name="Content Placeholder 2"/>
          <p:cNvSpPr>
            <a:spLocks noGrp="1"/>
          </p:cNvSpPr>
          <p:nvPr>
            <p:ph idx="1"/>
          </p:nvPr>
        </p:nvSpPr>
        <p:spPr/>
        <p:txBody>
          <a:bodyPr>
            <a:normAutofit/>
          </a:bodyPr>
          <a:lstStyle/>
          <a:p>
            <a:r>
              <a:rPr lang="vi-VN" sz="3000" b="1" dirty="0" smtClean="0">
                <a:latin typeface="+mj-lt"/>
              </a:rPr>
              <a:t>E-Lines: </a:t>
            </a:r>
            <a:r>
              <a:rPr lang="vi-VN" sz="3000" dirty="0" smtClean="0">
                <a:latin typeface="+mj-lt"/>
              </a:rPr>
              <a:t>các dạng T line dùng tại châu Âu thì gọi là E line. Về</a:t>
            </a:r>
            <a:r>
              <a:rPr lang="en-US" sz="3000" dirty="0" smtClean="0">
                <a:latin typeface="+mj-lt"/>
              </a:rPr>
              <a:t> </a:t>
            </a:r>
            <a:r>
              <a:rPr lang="vi-VN" sz="3000" dirty="0" smtClean="0">
                <a:latin typeface="+mj-lt"/>
              </a:rPr>
              <a:t>nguyên tắc, hai hệ thống</a:t>
            </a:r>
            <a:r>
              <a:rPr lang="en-US" sz="3000" dirty="0" smtClean="0">
                <a:latin typeface="+mj-lt"/>
              </a:rPr>
              <a:t> </a:t>
            </a:r>
            <a:r>
              <a:rPr lang="vi-VN" sz="3000" dirty="0" smtClean="0">
                <a:latin typeface="+mj-lt"/>
              </a:rPr>
              <a:t>này tương tự nhau, nhưng dung lượng khác nhau. </a:t>
            </a:r>
            <a:endParaRPr lang="en-US" sz="3000" dirty="0">
              <a:latin typeface="+mj-lt"/>
            </a:endParaRPr>
          </a:p>
        </p:txBody>
      </p:sp>
      <p:pic>
        <p:nvPicPr>
          <p:cNvPr id="15362" name="Picture 2"/>
          <p:cNvPicPr>
            <a:picLocks noChangeAspect="1" noChangeArrowheads="1"/>
          </p:cNvPicPr>
          <p:nvPr/>
        </p:nvPicPr>
        <p:blipFill>
          <a:blip r:embed="rId2"/>
          <a:srcRect/>
          <a:stretch>
            <a:fillRect/>
          </a:stretch>
        </p:blipFill>
        <p:spPr bwMode="auto">
          <a:xfrm>
            <a:off x="2057400" y="2732963"/>
            <a:ext cx="7772400" cy="2639136"/>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dịch vụ ghép kênh khác</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Ta đã khảo sát phương pháp ghép kênh trong môi trường cáp, nhưng ghép kênh còn có</a:t>
            </a:r>
            <a:r>
              <a:rPr lang="en-US" sz="3000" dirty="0" smtClean="0">
                <a:latin typeface="+mj-lt"/>
              </a:rPr>
              <a:t> </a:t>
            </a:r>
            <a:r>
              <a:rPr lang="vi-VN" sz="3000" dirty="0" smtClean="0">
                <a:latin typeface="+mj-lt"/>
              </a:rPr>
              <a:t>thể dùng đươc trong cả môi trường trái đất lẫn vệ tinh</a:t>
            </a:r>
            <a:endParaRPr lang="en-US" sz="3000" dirty="0" smtClean="0">
              <a:latin typeface="+mj-lt"/>
            </a:endParaRPr>
          </a:p>
          <a:p>
            <a:r>
              <a:rPr lang="vi-VN" sz="3000" dirty="0" smtClean="0">
                <a:latin typeface="+mj-lt"/>
              </a:rPr>
              <a:t>Ngày nay các nhà cung cấp dịch vụ</a:t>
            </a:r>
            <a:r>
              <a:rPr lang="en-US" sz="3000" dirty="0" smtClean="0">
                <a:latin typeface="+mj-lt"/>
              </a:rPr>
              <a:t> </a:t>
            </a:r>
            <a:r>
              <a:rPr lang="vi-VN" sz="3000" dirty="0" smtClean="0">
                <a:latin typeface="+mj-lt"/>
              </a:rPr>
              <a:t>điện thoại đã đưa ra một dịch vụ rất mạnh, như ISDN, SONET, và ATM đều phụ thuộc vào</a:t>
            </a:r>
            <a:r>
              <a:rPr lang="en-US" sz="3000" dirty="0" smtClean="0">
                <a:latin typeface="+mj-lt"/>
              </a:rPr>
              <a:t> </a:t>
            </a:r>
            <a:r>
              <a:rPr lang="vi-VN" sz="3000" dirty="0" smtClean="0">
                <a:latin typeface="+mj-lt"/>
              </a:rPr>
              <a:t>phương</a:t>
            </a:r>
            <a:r>
              <a:rPr lang="en-US" sz="3000" dirty="0" smtClean="0">
                <a:latin typeface="+mj-lt"/>
              </a:rPr>
              <a:t> </a:t>
            </a:r>
            <a:r>
              <a:rPr lang="vi-VN" sz="3000" dirty="0" smtClean="0">
                <a:latin typeface="+mj-lt"/>
              </a:rPr>
              <a:t>pháp ghép kênh. </a:t>
            </a:r>
            <a:endParaRPr lang="en-US" sz="3000"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7.6 Dường dây thuê bao số</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Đường dây thuê bao số (DSL: Digital Subscriber Line) là một công nghệ được dùng trong các mạng điện thoại hiện đại như mạch vòng (local loop) điện thoại, cho phép thực hiện việc truyền với tốc độ cao dữ liệu, voice, video, và đa phương tiện (multimedia). </a:t>
            </a:r>
          </a:p>
          <a:p>
            <a:r>
              <a:rPr lang="vi-VN" sz="3000" dirty="0" smtClean="0">
                <a:latin typeface="+mj-lt"/>
              </a:rPr>
              <a:t>DSL là một họ các công nghệ: trong số đó là: ADSL, RADSL,</a:t>
            </a:r>
            <a:r>
              <a:rPr lang="en-US" sz="3000" dirty="0" smtClean="0">
                <a:latin typeface="+mj-lt"/>
              </a:rPr>
              <a:t> </a:t>
            </a:r>
            <a:r>
              <a:rPr lang="vi-VN" sz="3000" dirty="0" smtClean="0">
                <a:latin typeface="+mj-lt"/>
              </a:rPr>
              <a:t>HDSL, VDSL và SDSL </a:t>
            </a:r>
            <a:endParaRPr lang="en-US" sz="3000"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909" y="4211990"/>
            <a:ext cx="7706685" cy="22913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TotalTime>
  <Words>1187</Words>
  <Application>Microsoft Office PowerPoint</Application>
  <PresentationFormat>Custom</PresentationFormat>
  <Paragraphs>105</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KỸ THUẬT TRUYỀN SỐ LIỆU</vt:lpstr>
      <vt:lpstr>Nội dung môn học</vt:lpstr>
      <vt:lpstr>                       Chương 7</vt:lpstr>
      <vt:lpstr>Nội dung chương 7</vt:lpstr>
      <vt:lpstr>7.1 Khái niệm và phân loại</vt:lpstr>
      <vt:lpstr>7.1 Khái niệm và phân loại</vt:lpstr>
      <vt:lpstr>7.2 Ghép kênh phân chia theo tần số</vt:lpstr>
      <vt:lpstr>Quá trình ghép kênh (FDM)</vt:lpstr>
      <vt:lpstr>Quá trình phân kênh (FDM)</vt:lpstr>
      <vt:lpstr>7.3 Ghép kênh phân chia theo bước sóng </vt:lpstr>
      <vt:lpstr>7.4 Ghép kênh phân chia theo thời gian </vt:lpstr>
      <vt:lpstr>TDM đồng bộ</vt:lpstr>
      <vt:lpstr>TDM đồng bộ</vt:lpstr>
      <vt:lpstr>TDM đồng bộ</vt:lpstr>
      <vt:lpstr>TDM đồng bộ</vt:lpstr>
      <vt:lpstr>TDM không đồng bộ</vt:lpstr>
      <vt:lpstr>TDM không đồng bộ</vt:lpstr>
      <vt:lpstr>7.5 Ứng dụng của ghép kênh</vt:lpstr>
      <vt:lpstr>Dịch vụ Analog</vt:lpstr>
      <vt:lpstr>Dịch vụ Analog</vt:lpstr>
      <vt:lpstr>Dịch vụ Analog</vt:lpstr>
      <vt:lpstr>Dịch vụ Analog</vt:lpstr>
      <vt:lpstr>Dịch vụ Digital</vt:lpstr>
      <vt:lpstr>Dịch vụ Digital</vt:lpstr>
      <vt:lpstr>Dịch vụ Digital</vt:lpstr>
      <vt:lpstr>Dịch vụ Digital</vt:lpstr>
      <vt:lpstr>Dịch vụ Digital</vt:lpstr>
      <vt:lpstr>Các dịch vụ ghép kênh khác</vt:lpstr>
      <vt:lpstr>7.6 Dường dây thuê bao số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148</cp:revision>
  <dcterms:created xsi:type="dcterms:W3CDTF">2020-05-27T05:21:30Z</dcterms:created>
  <dcterms:modified xsi:type="dcterms:W3CDTF">2022-04-22T02:28:14Z</dcterms:modified>
</cp:coreProperties>
</file>