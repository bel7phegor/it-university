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317" r:id="rId10"/>
    <p:sldId id="277" r:id="rId11"/>
    <p:sldId id="315" r:id="rId12"/>
    <p:sldId id="278" r:id="rId13"/>
    <p:sldId id="279" r:id="rId14"/>
    <p:sldId id="318" r:id="rId15"/>
    <p:sldId id="280" r:id="rId16"/>
    <p:sldId id="319" r:id="rId17"/>
    <p:sldId id="281" r:id="rId18"/>
    <p:sldId id="282" r:id="rId19"/>
    <p:sldId id="283" r:id="rId20"/>
    <p:sldId id="284" r:id="rId21"/>
    <p:sldId id="285" r:id="rId22"/>
    <p:sldId id="286" r:id="rId23"/>
    <p:sldId id="287" r:id="rId24"/>
    <p:sldId id="288" r:id="rId25"/>
    <p:sldId id="290" r:id="rId26"/>
    <p:sldId id="291" r:id="rId27"/>
    <p:sldId id="292" r:id="rId28"/>
    <p:sldId id="293" r:id="rId29"/>
    <p:sldId id="294" r:id="rId30"/>
    <p:sldId id="295" r:id="rId31"/>
    <p:sldId id="296" r:id="rId32"/>
    <p:sldId id="297" r:id="rId33"/>
    <p:sldId id="298" r:id="rId34"/>
    <p:sldId id="299" r:id="rId35"/>
    <p:sldId id="300" r:id="rId36"/>
    <p:sldId id="316" r:id="rId37"/>
    <p:sldId id="301" r:id="rId38"/>
    <p:sldId id="302" r:id="rId39"/>
    <p:sldId id="303" r:id="rId40"/>
    <p:sldId id="304" r:id="rId41"/>
    <p:sldId id="305" r:id="rId42"/>
    <p:sldId id="306" r:id="rId43"/>
    <p:sldId id="307" r:id="rId44"/>
    <p:sldId id="308" r:id="rId45"/>
    <p:sldId id="309" r:id="rId46"/>
    <p:sldId id="310" r:id="rId47"/>
    <p:sldId id="311" r:id="rId48"/>
    <p:sldId id="312" r:id="rId49"/>
    <p:sldId id="32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89" autoAdjust="0"/>
    <p:restoredTop sz="94660"/>
  </p:normalViewPr>
  <p:slideViewPr>
    <p:cSldViewPr snapToGrid="0">
      <p:cViewPr varScale="1">
        <p:scale>
          <a:sx n="74" d="100"/>
          <a:sy n="74" d="100"/>
        </p:scale>
        <p:origin x="-504" y="-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3.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3/3/2022</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46.wmf"/><Relationship Id="rId5" Type="http://schemas.openxmlformats.org/officeDocument/2006/relationships/oleObject" Target="../embeddings/oleObject3.bin"/><Relationship Id="rId4" Type="http://schemas.openxmlformats.org/officeDocument/2006/relationships/image" Target="../media/image45.wmf"/></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1.wmf"/><Relationship Id="rId4" Type="http://schemas.openxmlformats.org/officeDocument/2006/relationships/oleObject" Target="../embeddings/oleObject4.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3.wmf"/></Relationships>
</file>

<file path=ppt/slides/_rels/slide49.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image" Target="../media/image54.jpg"/><Relationship Id="rId1" Type="http://schemas.openxmlformats.org/officeDocument/2006/relationships/slideLayout" Target="../slideLayouts/slideLayout2.xml"/><Relationship Id="rId5" Type="http://schemas.openxmlformats.org/officeDocument/2006/relationships/image" Target="../media/image57.jpg"/><Relationship Id="rId4" Type="http://schemas.openxmlformats.org/officeDocument/2006/relationships/image" Target="../media/image5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6</a:t>
            </a:r>
            <a:endParaRPr lang="en-US" b="1" dirty="0"/>
          </a:p>
        </p:txBody>
      </p:sp>
      <p:sp>
        <p:nvSpPr>
          <p:cNvPr id="3" name="Content Placeholder 2"/>
          <p:cNvSpPr>
            <a:spLocks noGrp="1"/>
          </p:cNvSpPr>
          <p:nvPr>
            <p:ph idx="1"/>
          </p:nvPr>
        </p:nvSpPr>
        <p:spPr/>
        <p:txBody>
          <a:bodyPr>
            <a:normAutofit/>
          </a:bodyPr>
          <a:lstStyle/>
          <a:p>
            <a:pPr algn="ctr">
              <a:buNone/>
            </a:pPr>
            <a:r>
              <a:rPr lang="en-US" sz="5400" dirty="0" smtClean="0">
                <a:latin typeface="Times New Roman" pitchFamily="18" charset="0"/>
                <a:cs typeface="Times New Roman" pitchFamily="18" charset="0"/>
              </a:rPr>
              <a:t>MÔI TRƯỜNG TRUYỀN DẪN</a:t>
            </a:r>
            <a:endParaRPr lang="en-US" sz="5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6</a:t>
            </a:r>
            <a:endParaRPr lang="en-US" dirty="0"/>
          </a:p>
        </p:txBody>
      </p:sp>
      <p:sp>
        <p:nvSpPr>
          <p:cNvPr id="3" name="Content Placeholder 2"/>
          <p:cNvSpPr>
            <a:spLocks noGrp="1"/>
          </p:cNvSpPr>
          <p:nvPr>
            <p:ph idx="1"/>
          </p:nvPr>
        </p:nvSpPr>
        <p:spPr/>
        <p:txBody>
          <a:bodyPr>
            <a:normAutofit/>
          </a:bodyPr>
          <a:lstStyle/>
          <a:p>
            <a:r>
              <a:rPr lang="en-US" sz="4000" dirty="0" smtClean="0"/>
              <a:t> Môi trường truyền dẫn có dây</a:t>
            </a:r>
          </a:p>
          <a:p>
            <a:r>
              <a:rPr lang="en-US" sz="4000" dirty="0" smtClean="0"/>
              <a:t> Môi trường truyền dẫn không dây</a:t>
            </a:r>
          </a:p>
          <a:p>
            <a:r>
              <a:rPr lang="en-US" sz="4000" dirty="0" smtClean="0"/>
              <a:t>Tổn hao đường truyền</a:t>
            </a:r>
          </a:p>
          <a:p>
            <a:r>
              <a:rPr lang="en-US" sz="4000" dirty="0" smtClean="0"/>
              <a:t>Hiệu suất</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Môi trường truyền dẫn</a:t>
            </a:r>
            <a:endParaRPr lang="en-US" dirty="0"/>
          </a:p>
        </p:txBody>
      </p:sp>
      <p:sp>
        <p:nvSpPr>
          <p:cNvPr id="3" name="Content Placeholder 2"/>
          <p:cNvSpPr>
            <a:spLocks noGrp="1"/>
          </p:cNvSpPr>
          <p:nvPr>
            <p:ph idx="1"/>
          </p:nvPr>
        </p:nvSpPr>
        <p:spPr/>
        <p:txBody>
          <a:bodyPr>
            <a:noAutofit/>
          </a:bodyPr>
          <a:lstStyle/>
          <a:p>
            <a:pPr>
              <a:buNone/>
            </a:pPr>
            <a:r>
              <a:rPr lang="vi-VN" sz="3200" dirty="0" smtClean="0">
                <a:latin typeface="Times New Roman" pitchFamily="18" charset="0"/>
                <a:cs typeface="Times New Roman" pitchFamily="18" charset="0"/>
              </a:rPr>
              <a:t>• Môi trường có định hướng</a:t>
            </a:r>
            <a:r>
              <a:rPr lang="en-US" sz="3200" dirty="0" smtClean="0">
                <a:latin typeface="Times New Roman" pitchFamily="18" charset="0"/>
                <a:cs typeface="Times New Roman" pitchFamily="18" charset="0"/>
              </a:rPr>
              <a:t> (có dây)</a:t>
            </a:r>
            <a:r>
              <a:rPr lang="vi-VN" sz="3200" dirty="0" smtClean="0">
                <a:latin typeface="Times New Roman" pitchFamily="18" charset="0"/>
                <a:cs typeface="Times New Roman" pitchFamily="18" charset="0"/>
              </a:rPr>
              <a:t> </a:t>
            </a:r>
          </a:p>
          <a:p>
            <a:pPr>
              <a:buNone/>
            </a:pPr>
            <a:r>
              <a:rPr lang="vi-VN" sz="3200" dirty="0" smtClean="0">
                <a:latin typeface="Times New Roman" pitchFamily="18" charset="0"/>
                <a:cs typeface="Times New Roman" pitchFamily="18" charset="0"/>
              </a:rPr>
              <a:t>• Môi trường không định hướng</a:t>
            </a:r>
            <a:r>
              <a:rPr lang="en-US" sz="3200" dirty="0" smtClean="0">
                <a:latin typeface="Times New Roman" pitchFamily="18" charset="0"/>
                <a:cs typeface="Times New Roman" pitchFamily="18" charset="0"/>
              </a:rPr>
              <a:t> (không dây, vô tuyến)</a:t>
            </a:r>
            <a:endParaRPr lang="en-US" sz="3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1719263" y="2738230"/>
            <a:ext cx="7634287" cy="284342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6.1 Môi trường có định hướng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Là môi trường cung cấp cáp từ thiết bị này đến thiết bị kia. </a:t>
            </a:r>
          </a:p>
          <a:p>
            <a:pPr>
              <a:buFont typeface="Wingdings" pitchFamily="2" charset="2"/>
              <a:buChar char="v"/>
            </a:pPr>
            <a:r>
              <a:rPr lang="en-US" sz="3200" b="1" dirty="0" smtClean="0">
                <a:latin typeface="+mj-lt"/>
              </a:rPr>
              <a:t> </a:t>
            </a:r>
            <a:r>
              <a:rPr lang="vi-VN" sz="3200" b="1" dirty="0" smtClean="0">
                <a:latin typeface="+mj-lt"/>
              </a:rPr>
              <a:t>Phân loại:  </a:t>
            </a:r>
          </a:p>
          <a:p>
            <a:r>
              <a:rPr lang="vi-VN" dirty="0" smtClean="0">
                <a:latin typeface="+mj-lt"/>
              </a:rPr>
              <a:t>Cáp xoắn – đôi (twisted pair cable): UTP, STP </a:t>
            </a:r>
          </a:p>
          <a:p>
            <a:r>
              <a:rPr lang="vi-VN" dirty="0" smtClean="0">
                <a:latin typeface="+mj-lt"/>
              </a:rPr>
              <a:t>Cáp đồng trục (Coaxial) </a:t>
            </a:r>
          </a:p>
          <a:p>
            <a:r>
              <a:rPr lang="vi-VN" dirty="0" smtClean="0">
                <a:latin typeface="+mj-lt"/>
              </a:rPr>
              <a:t>Cáp sợi quang (Fiber-optic cable) </a:t>
            </a:r>
            <a:endParaRPr lang="en-US"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2185988" y="4529138"/>
            <a:ext cx="6981825" cy="191452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Cấu tạo: gồm 2 sợi dây điện xoắn lại với nhau </a:t>
            </a:r>
            <a:endParaRPr lang="en-US" sz="3200" dirty="0" smtClean="0">
              <a:latin typeface="+mj-lt"/>
            </a:endParaRPr>
          </a:p>
          <a:p>
            <a:r>
              <a:rPr lang="en-US" sz="3200" dirty="0" smtClean="0">
                <a:latin typeface="Times New Roman" pitchFamily="18" charset="0"/>
                <a:cs typeface="Times New Roman" pitchFamily="18" charset="0"/>
              </a:rPr>
              <a:t>Gồm 2 dạng: không có giáp bọc (UTP) và có giáp bọc (STP)</a:t>
            </a:r>
            <a:endParaRPr lang="en-US" sz="32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909763" y="2714625"/>
            <a:ext cx="7991475" cy="276225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Cáp đôi xoắn không bọc (UTP: unshielded twisted pair cable) </a:t>
            </a:r>
            <a:endParaRPr lang="en-US" sz="3200" b="1" dirty="0" smtClean="0">
              <a:latin typeface="+mj-lt"/>
            </a:endParaRPr>
          </a:p>
          <a:p>
            <a:r>
              <a:rPr lang="vi-VN" sz="3200" b="1" dirty="0" smtClean="0">
                <a:latin typeface="+mj-lt"/>
              </a:rPr>
              <a:t>Đặc điểm</a:t>
            </a:r>
            <a:endParaRPr lang="en-US" sz="3200" b="1" dirty="0" smtClean="0">
              <a:latin typeface="+mj-lt"/>
            </a:endParaRPr>
          </a:p>
          <a:p>
            <a:pPr>
              <a:buNone/>
            </a:pPr>
            <a:r>
              <a:rPr lang="en-US" sz="3200" dirty="0" smtClean="0">
                <a:latin typeface="+mj-lt"/>
              </a:rPr>
              <a:t>- </a:t>
            </a:r>
            <a:r>
              <a:rPr lang="vi-VN" sz="3200" dirty="0" smtClean="0">
                <a:latin typeface="+mj-lt"/>
              </a:rPr>
              <a:t>UTP Là dạng thông dụng nhất trong truyền số liệu. </a:t>
            </a:r>
          </a:p>
          <a:p>
            <a:pPr>
              <a:buNone/>
            </a:pPr>
            <a:r>
              <a:rPr lang="en-US" sz="3200" dirty="0" smtClean="0">
                <a:latin typeface="+mj-lt"/>
              </a:rPr>
              <a:t>- </a:t>
            </a:r>
            <a:r>
              <a:rPr lang="vi-VN" sz="3200" dirty="0" smtClean="0">
                <a:latin typeface="+mj-lt"/>
              </a:rPr>
              <a:t>UTP dải tần số thích hợp cho truyền dẫn dữ liệu và thoại:100Hz  đến 5MHz</a:t>
            </a:r>
            <a:r>
              <a:rPr lang="en-US" sz="3200" dirty="0" smtClean="0">
                <a:latin typeface="+mj-lt"/>
              </a:rPr>
              <a:t> </a:t>
            </a:r>
            <a:r>
              <a:rPr lang="vi-VN" sz="3200" dirty="0" smtClean="0">
                <a:latin typeface="+mj-lt"/>
              </a:rPr>
              <a:t>(BW=5MHz). </a:t>
            </a:r>
          </a:p>
          <a:p>
            <a:pPr>
              <a:buNone/>
            </a:pPr>
            <a:r>
              <a:rPr lang="en-US" sz="3200" dirty="0" smtClean="0">
                <a:latin typeface="+mj-lt"/>
              </a:rPr>
              <a:t>- </a:t>
            </a:r>
            <a:r>
              <a:rPr lang="vi-VN" sz="3200" dirty="0" smtClean="0">
                <a:latin typeface="+mj-lt"/>
              </a:rPr>
              <a:t>UTP gồm hai dây dẫn, mỗi dây có lớp cách điện với màu sắc khác nhau, được dùng để nhận dạng và cho biết từng cặp dây trong bó dây lớn. </a:t>
            </a:r>
            <a:endParaRPr lang="en-US" sz="32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Cáp đôi xoắn không bọc (UTP: unshielded twisted pair cable) </a:t>
            </a:r>
            <a:endParaRPr lang="en-US" sz="3200" b="1" dirty="0" smtClean="0">
              <a:latin typeface="+mj-lt"/>
            </a:endParaRPr>
          </a:p>
          <a:p>
            <a:r>
              <a:rPr lang="vi-VN" sz="3200" b="1" dirty="0" smtClean="0">
                <a:latin typeface="+mj-lt"/>
              </a:rPr>
              <a:t>Đặc điểm</a:t>
            </a:r>
            <a:endParaRPr lang="en-US" sz="3200" b="1" dirty="0" smtClean="0">
              <a:latin typeface="+mj-lt"/>
            </a:endParaRPr>
          </a:p>
          <a:p>
            <a:pPr>
              <a:buNone/>
            </a:pPr>
            <a:endParaRPr lang="en-US" sz="3200" dirty="0">
              <a:latin typeface="+mj-lt"/>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2258031510"/>
              </p:ext>
            </p:extLst>
          </p:nvPr>
        </p:nvGraphicFramePr>
        <p:xfrm>
          <a:off x="3379001" y="2386215"/>
          <a:ext cx="7029777" cy="3763033"/>
        </p:xfrm>
        <a:graphic>
          <a:graphicData uri="http://schemas.openxmlformats.org/presentationml/2006/ole">
            <mc:AlternateContent xmlns:mc="http://schemas.openxmlformats.org/markup-compatibility/2006">
              <mc:Choice xmlns:v="urn:schemas-microsoft-com:vml" Requires="v">
                <p:oleObj spid="_x0000_s4109" name="Bitmap Image" r:id="rId3" imgW="0" imgH="0" progId="Paint.Picture">
                  <p:embed/>
                </p:oleObj>
              </mc:Choice>
              <mc:Fallback>
                <p:oleObj name="Bitmap Image" r:id="rId3" imgW="0" imgH="0" progId="Paint.Picture">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9001" y="2386215"/>
                        <a:ext cx="7029777" cy="376303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251492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sz="3200" b="1" dirty="0" smtClean="0">
                <a:latin typeface="Times New Roman" pitchFamily="18" charset="0"/>
                <a:cs typeface="Times New Roman" pitchFamily="18" charset="0"/>
              </a:rPr>
              <a:t> </a:t>
            </a:r>
            <a:r>
              <a:rPr lang="vi-VN" sz="3200" b="1" dirty="0" smtClean="0">
                <a:latin typeface="Times New Roman" pitchFamily="18" charset="0"/>
                <a:cs typeface="Times New Roman" pitchFamily="18" charset="0"/>
              </a:rPr>
              <a:t>Cáp đôi xoắn không bọc (UTP: unshielded twisted pair cable)</a:t>
            </a:r>
            <a:r>
              <a:rPr lang="vi-VN" b="1" dirty="0" smtClean="0"/>
              <a:t> </a:t>
            </a:r>
            <a:endParaRPr lang="en-US" b="1" dirty="0" smtClean="0"/>
          </a:p>
          <a:p>
            <a:r>
              <a:rPr lang="vi-VN" sz="3200" dirty="0" smtClean="0">
                <a:latin typeface="+mj-lt"/>
              </a:rPr>
              <a:t> Ưu điểm của cáp UTP: rẻ và dễ sử dụng, mềm dẽo hơn và dễ lắp đặt.</a:t>
            </a:r>
            <a:endParaRPr lang="en-US" sz="3200" dirty="0" smtClean="0">
              <a:latin typeface="+mj-lt"/>
            </a:endParaRPr>
          </a:p>
          <a:p>
            <a:r>
              <a:rPr lang="vi-VN" sz="3200" dirty="0" smtClean="0">
                <a:latin typeface="+mj-lt"/>
              </a:rPr>
              <a:t>Các cáp UTP cấp cao hơn được dùng trong nhiều LAN, bao gồm Ethernet và Token Ring. </a:t>
            </a:r>
            <a:endParaRPr lang="en-US" sz="3200" dirty="0" smtClean="0">
              <a:latin typeface="+mj-lt"/>
            </a:endParaRPr>
          </a:p>
          <a:p>
            <a:endParaRPr lang="en-US" dirty="0"/>
          </a:p>
        </p:txBody>
      </p:sp>
      <p:pic>
        <p:nvPicPr>
          <p:cNvPr id="4098" name="Picture 2"/>
          <p:cNvPicPr>
            <a:picLocks noChangeAspect="1" noChangeArrowheads="1"/>
          </p:cNvPicPr>
          <p:nvPr/>
        </p:nvPicPr>
        <p:blipFill>
          <a:blip r:embed="rId2"/>
          <a:srcRect/>
          <a:stretch>
            <a:fillRect/>
          </a:stretch>
        </p:blipFill>
        <p:spPr bwMode="auto">
          <a:xfrm>
            <a:off x="3943350" y="4371600"/>
            <a:ext cx="4248150" cy="2030788"/>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Cáp</a:t>
            </a:r>
            <a:r>
              <a:rPr lang="en-US" dirty="0"/>
              <a:t> </a:t>
            </a:r>
            <a:r>
              <a:rPr lang="en-US" dirty="0" err="1"/>
              <a:t>xoắn</a:t>
            </a:r>
            <a:r>
              <a:rPr lang="en-US" dirty="0"/>
              <a:t> </a:t>
            </a:r>
            <a:r>
              <a:rPr lang="en-US" dirty="0" err="1"/>
              <a:t>đôi</a:t>
            </a:r>
            <a:endParaRPr lang="en-US" dirty="0"/>
          </a:p>
        </p:txBody>
      </p:sp>
      <p:sp>
        <p:nvSpPr>
          <p:cNvPr id="3" name="Content Placeholder 2"/>
          <p:cNvSpPr>
            <a:spLocks noGrp="1"/>
          </p:cNvSpPr>
          <p:nvPr>
            <p:ph idx="1"/>
          </p:nvPr>
        </p:nvSpPr>
        <p:spPr/>
        <p:txBody>
          <a:bodyPr/>
          <a:lstStyle/>
          <a:p>
            <a:r>
              <a:rPr lang="vi-VN" b="1" dirty="0">
                <a:latin typeface="Times New Roman" pitchFamily="18" charset="0"/>
                <a:cs typeface="Times New Roman" pitchFamily="18" charset="0"/>
              </a:rPr>
              <a:t>Cáp đôi xoắn không bọc (UTP: unshielded twisted pair cable)</a:t>
            </a:r>
            <a:r>
              <a:rPr lang="vi-VN" b="1" dirty="0"/>
              <a:t> </a:t>
            </a:r>
            <a:endParaRPr lang="en-US" b="1"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41934605"/>
              </p:ext>
            </p:extLst>
          </p:nvPr>
        </p:nvGraphicFramePr>
        <p:xfrm>
          <a:off x="455385" y="2435979"/>
          <a:ext cx="11074400" cy="1733250"/>
        </p:xfrm>
        <a:graphic>
          <a:graphicData uri="http://schemas.openxmlformats.org/drawingml/2006/table">
            <a:tbl>
              <a:tblPr firstRow="1" bandRow="1">
                <a:tableStyleId>{5C22544A-7EE6-4342-B048-85BDC9FD1C3A}</a:tableStyleId>
              </a:tblPr>
              <a:tblGrid>
                <a:gridCol w="1384300"/>
                <a:gridCol w="1384300"/>
                <a:gridCol w="1384300"/>
                <a:gridCol w="1384300"/>
                <a:gridCol w="1384300"/>
                <a:gridCol w="1384300"/>
                <a:gridCol w="1384300"/>
                <a:gridCol w="1384300"/>
              </a:tblGrid>
              <a:tr h="770869">
                <a:tc>
                  <a:txBody>
                    <a:bodyPr/>
                    <a:lstStyle/>
                    <a:p>
                      <a:r>
                        <a:rPr lang="en-US" sz="2400" b="1" dirty="0" err="1" smtClean="0">
                          <a:solidFill>
                            <a:schemeClr val="tx1"/>
                          </a:solidFill>
                          <a:latin typeface="Times New Roman" pitchFamily="18" charset="0"/>
                          <a:cs typeface="Times New Roman" pitchFamily="18" charset="0"/>
                        </a:rPr>
                        <a:t>Loại</a:t>
                      </a:r>
                      <a:r>
                        <a:rPr lang="en-US" sz="2400" b="1" dirty="0" smtClean="0">
                          <a:solidFill>
                            <a:schemeClr val="tx1"/>
                          </a:solidFill>
                          <a:latin typeface="Times New Roman" pitchFamily="18" charset="0"/>
                          <a:cs typeface="Times New Roman" pitchFamily="18" charset="0"/>
                        </a:rPr>
                        <a:t> </a:t>
                      </a:r>
                      <a:r>
                        <a:rPr lang="en-US" sz="2400" b="1" dirty="0" err="1" smtClean="0">
                          <a:solidFill>
                            <a:schemeClr val="tx1"/>
                          </a:solidFill>
                          <a:latin typeface="Times New Roman" pitchFamily="18" charset="0"/>
                          <a:cs typeface="Times New Roman" pitchFamily="18" charset="0"/>
                        </a:rPr>
                        <a:t>cáp</a:t>
                      </a:r>
                      <a:endParaRPr lang="en-US" sz="2400" b="1"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a:t>
                      </a:r>
                      <a:r>
                        <a:rPr lang="vi-VN" sz="2400" b="0" dirty="0" smtClean="0">
                          <a:solidFill>
                            <a:schemeClr val="tx1"/>
                          </a:solidFill>
                          <a:latin typeface="Times New Roman" pitchFamily="18" charset="0"/>
                          <a:cs typeface="Times New Roman" pitchFamily="18" charset="0"/>
                        </a:rPr>
                        <a:t>1</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Cat2</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a:t>
                      </a:r>
                      <a:r>
                        <a:rPr lang="vi-VN" sz="2400" b="0" dirty="0" smtClean="0">
                          <a:solidFill>
                            <a:schemeClr val="tx1"/>
                          </a:solidFill>
                          <a:latin typeface="Times New Roman" pitchFamily="18" charset="0"/>
                          <a:cs typeface="Times New Roman" pitchFamily="18" charset="0"/>
                        </a:rPr>
                        <a:t>3</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a:t>
                      </a:r>
                      <a:r>
                        <a:rPr lang="vi-VN" sz="2400" b="0" dirty="0" smtClean="0">
                          <a:solidFill>
                            <a:schemeClr val="tx1"/>
                          </a:solidFill>
                          <a:latin typeface="Times New Roman" pitchFamily="18" charset="0"/>
                          <a:cs typeface="Times New Roman" pitchFamily="18" charset="0"/>
                        </a:rPr>
                        <a:t>4</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a:t>
                      </a:r>
                      <a:r>
                        <a:rPr lang="vi-VN" sz="2400" b="0" dirty="0" smtClean="0">
                          <a:solidFill>
                            <a:schemeClr val="tx1"/>
                          </a:solidFill>
                          <a:latin typeface="Times New Roman" pitchFamily="18" charset="0"/>
                          <a:cs typeface="Times New Roman" pitchFamily="18" charset="0"/>
                        </a:rPr>
                        <a:t>5</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Cat5e</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Cat</a:t>
                      </a:r>
                      <a:r>
                        <a:rPr lang="vi-VN" sz="2400" b="0" dirty="0" smtClean="0">
                          <a:solidFill>
                            <a:schemeClr val="tx1"/>
                          </a:solidFill>
                          <a:latin typeface="Times New Roman" pitchFamily="18" charset="0"/>
                          <a:cs typeface="Times New Roman" pitchFamily="18" charset="0"/>
                        </a:rPr>
                        <a:t>6</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962381">
                <a:tc>
                  <a:txBody>
                    <a:bodyPr/>
                    <a:lstStyle/>
                    <a:p>
                      <a:pPr algn="just"/>
                      <a:r>
                        <a:rPr lang="en-US" sz="2400" b="1" dirty="0" err="1" smtClean="0">
                          <a:solidFill>
                            <a:schemeClr val="tx1"/>
                          </a:solidFill>
                          <a:latin typeface="Times New Roman" pitchFamily="18" charset="0"/>
                          <a:cs typeface="Times New Roman" pitchFamily="18" charset="0"/>
                        </a:rPr>
                        <a:t>Tốc</a:t>
                      </a:r>
                      <a:r>
                        <a:rPr lang="en-US" sz="2400" b="1" baseline="0" dirty="0" smtClean="0">
                          <a:solidFill>
                            <a:schemeClr val="tx1"/>
                          </a:solidFill>
                          <a:latin typeface="Times New Roman" pitchFamily="18" charset="0"/>
                          <a:cs typeface="Times New Roman" pitchFamily="18" charset="0"/>
                        </a:rPr>
                        <a:t> </a:t>
                      </a:r>
                      <a:r>
                        <a:rPr lang="en-US" sz="2400" b="1" baseline="0" dirty="0" err="1" smtClean="0">
                          <a:solidFill>
                            <a:schemeClr val="tx1"/>
                          </a:solidFill>
                          <a:latin typeface="Times New Roman" pitchFamily="18" charset="0"/>
                          <a:cs typeface="Times New Roman" pitchFamily="18" charset="0"/>
                        </a:rPr>
                        <a:t>độ</a:t>
                      </a:r>
                      <a:r>
                        <a:rPr lang="en-US" sz="2400" b="1" baseline="0" dirty="0" smtClean="0">
                          <a:solidFill>
                            <a:schemeClr val="tx1"/>
                          </a:solidFill>
                          <a:latin typeface="Times New Roman" pitchFamily="18" charset="0"/>
                          <a:cs typeface="Times New Roman" pitchFamily="18" charset="0"/>
                        </a:rPr>
                        <a:t> </a:t>
                      </a:r>
                      <a:r>
                        <a:rPr lang="en-US" sz="2400" b="1" baseline="0" dirty="0" err="1" smtClean="0">
                          <a:solidFill>
                            <a:schemeClr val="tx1"/>
                          </a:solidFill>
                          <a:latin typeface="Times New Roman" pitchFamily="18" charset="0"/>
                          <a:cs typeface="Times New Roman" pitchFamily="18" charset="0"/>
                        </a:rPr>
                        <a:t>truyền</a:t>
                      </a:r>
                      <a:endParaRPr lang="en-US" sz="2400" b="1"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vi-VN" sz="2400" b="0" dirty="0" smtClean="0">
                          <a:latin typeface="Times New Roman" pitchFamily="18" charset="0"/>
                          <a:cs typeface="Times New Roman" pitchFamily="18" charset="0"/>
                        </a:rPr>
                        <a:t>&lt;4Mbps</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400" b="0" dirty="0" smtClean="0">
                          <a:latin typeface="Times New Roman" pitchFamily="18" charset="0"/>
                          <a:cs typeface="Times New Roman" pitchFamily="18" charset="0"/>
                        </a:rPr>
                        <a:t>4Mbps</a:t>
                      </a:r>
                    </a:p>
                    <a:p>
                      <a:pPr algn="ct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latin typeface="Times New Roman" pitchFamily="18" charset="0"/>
                          <a:cs typeface="Times New Roman" pitchFamily="18" charset="0"/>
                        </a:rPr>
                        <a:t>16</a:t>
                      </a:r>
                      <a:r>
                        <a:rPr lang="vi-VN" sz="2400" b="0" dirty="0" smtClean="0">
                          <a:latin typeface="Times New Roman" pitchFamily="18" charset="0"/>
                          <a:cs typeface="Times New Roman" pitchFamily="18" charset="0"/>
                        </a:rPr>
                        <a:t>Mb</a:t>
                      </a:r>
                      <a:r>
                        <a:rPr lang="en-US" sz="2400" b="0" dirty="0" smtClean="0">
                          <a:latin typeface="Times New Roman" pitchFamily="18" charset="0"/>
                          <a:cs typeface="Times New Roman" pitchFamily="18" charset="0"/>
                        </a:rPr>
                        <a:t>p</a:t>
                      </a:r>
                      <a:r>
                        <a:rPr lang="vi-VN" sz="2400" b="0" dirty="0" smtClean="0">
                          <a:latin typeface="Times New Roman" pitchFamily="18" charset="0"/>
                          <a:cs typeface="Times New Roman" pitchFamily="18" charset="0"/>
                        </a:rPr>
                        <a:t>s</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vi-VN" sz="2400" b="0" dirty="0" smtClean="0">
                          <a:latin typeface="Times New Roman" pitchFamily="18" charset="0"/>
                          <a:cs typeface="Times New Roman" pitchFamily="18" charset="0"/>
                        </a:rPr>
                        <a:t>20 Mb</a:t>
                      </a:r>
                      <a:r>
                        <a:rPr lang="en-US" sz="2400" b="0" dirty="0" err="1" smtClean="0">
                          <a:latin typeface="Times New Roman" pitchFamily="18" charset="0"/>
                          <a:cs typeface="Times New Roman" pitchFamily="18" charset="0"/>
                        </a:rPr>
                        <a:t>ps</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vi-VN" sz="2400" b="0" dirty="0" smtClean="0">
                          <a:latin typeface="Times New Roman" pitchFamily="18" charset="0"/>
                          <a:cs typeface="Times New Roman" pitchFamily="18" charset="0"/>
                        </a:rPr>
                        <a:t>100Mbps</a:t>
                      </a:r>
                      <a:endParaRPr lang="en-US" sz="2400" b="0" dirty="0" smtClean="0">
                        <a:latin typeface="Times New Roman" pitchFamily="18" charset="0"/>
                        <a:cs typeface="Times New Roman" pitchFamily="18" charset="0"/>
                      </a:endParaRPr>
                    </a:p>
                    <a:p>
                      <a:pPr algn="ct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1Gbps</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400" b="0" dirty="0" smtClean="0">
                          <a:solidFill>
                            <a:schemeClr val="tx1"/>
                          </a:solidFill>
                          <a:latin typeface="Times New Roman" pitchFamily="18" charset="0"/>
                          <a:cs typeface="Times New Roman" pitchFamily="18" charset="0"/>
                        </a:rPr>
                        <a:t>1Gbps-10Gbps</a:t>
                      </a:r>
                      <a:endParaRPr lang="en-US" sz="2400" b="0" dirty="0">
                        <a:solidFill>
                          <a:schemeClr val="tx1"/>
                        </a:solidFill>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5"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07137" y="4327800"/>
            <a:ext cx="6590687" cy="2167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27068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a:xfrm>
            <a:off x="572493" y="1431235"/>
            <a:ext cx="5561607" cy="4866198"/>
          </a:xfrm>
        </p:spPr>
        <p:txBody>
          <a:bodyPr>
            <a:normAutofit/>
          </a:bodyPr>
          <a:lstStyle/>
          <a:p>
            <a:pPr algn="just">
              <a:buFont typeface="Wingdings" pitchFamily="2" charset="2"/>
              <a:buChar char="v"/>
            </a:pPr>
            <a:r>
              <a:rPr lang="en-US" sz="3200" dirty="0" smtClean="0">
                <a:latin typeface="+mj-lt"/>
              </a:rPr>
              <a:t> </a:t>
            </a:r>
            <a:r>
              <a:rPr lang="vi-VN" sz="3200" dirty="0" smtClean="0">
                <a:latin typeface="+mj-lt"/>
              </a:rPr>
              <a:t>Đầu nối (Connectors):  </a:t>
            </a:r>
          </a:p>
          <a:p>
            <a:pPr algn="just"/>
            <a:r>
              <a:rPr lang="vi-VN" sz="3200" dirty="0" smtClean="0">
                <a:latin typeface="+mj-lt"/>
              </a:rPr>
              <a:t>Jack tương tự như loại dùng trong điện thoại, RJ11 có 4 dây, cáp có 2 đôi dây</a:t>
            </a:r>
            <a:r>
              <a:rPr lang="en-US" sz="3200" dirty="0" smtClean="0">
                <a:latin typeface="+mj-lt"/>
              </a:rPr>
              <a:t> </a:t>
            </a:r>
            <a:r>
              <a:rPr lang="vi-VN" sz="3200" dirty="0" smtClean="0">
                <a:latin typeface="+mj-lt"/>
              </a:rPr>
              <a:t>xoắn </a:t>
            </a:r>
          </a:p>
          <a:p>
            <a:pPr algn="just"/>
            <a:r>
              <a:rPr lang="vi-VN" sz="3200" dirty="0" smtClean="0">
                <a:latin typeface="+mj-lt"/>
              </a:rPr>
              <a:t>Mạng Lan Jack RJ45 dùng 8 dây dẫn, cáp có 4 đôi dây xoắn. </a:t>
            </a:r>
            <a:endParaRPr lang="en-US" sz="32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6637798" y="444203"/>
            <a:ext cx="5157817" cy="3751782"/>
          </a:xfrm>
          <a:prstGeom prst="rect">
            <a:avLst/>
          </a:prstGeom>
          <a:noFill/>
          <a:ln w="9525">
            <a:noFill/>
            <a:miter lim="800000"/>
            <a:headEnd/>
            <a:tailEnd/>
          </a:ln>
          <a:effectLst/>
        </p:spPr>
      </p:pic>
      <p:pic>
        <p:nvPicPr>
          <p:cNvPr id="5" name="Content Placeholder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809363" y="4321860"/>
            <a:ext cx="2762780" cy="2072085"/>
          </a:xfrm>
          <a:prstGeom prst="rect">
            <a:avLst/>
          </a:prstGeom>
        </p:spPr>
      </p:pic>
      <p:pic>
        <p:nvPicPr>
          <p:cNvPr id="6" name="Picture 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4026" y="4432454"/>
            <a:ext cx="27432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a:xfrm>
            <a:off x="572493" y="1431235"/>
            <a:ext cx="7276107" cy="4866198"/>
          </a:xfrm>
        </p:spPr>
        <p:txBody>
          <a:bodyPr>
            <a:normAutofit fontScale="92500" lnSpcReduction="10000"/>
          </a:bodyPr>
          <a:lstStyle/>
          <a:p>
            <a:pPr>
              <a:buFont typeface="Wingdings" pitchFamily="2" charset="2"/>
              <a:buChar char="v"/>
            </a:pPr>
            <a:r>
              <a:rPr lang="en-US" sz="3200" b="1" dirty="0" smtClean="0">
                <a:latin typeface="+mj-lt"/>
              </a:rPr>
              <a:t> </a:t>
            </a:r>
            <a:r>
              <a:rPr lang="vi-VN" sz="3200" b="1" dirty="0" smtClean="0">
                <a:latin typeface="+mj-lt"/>
              </a:rPr>
              <a:t>Cáp xoắn đôi có giáp bọc (STP: shielded twisted pair cable) </a:t>
            </a:r>
            <a:endParaRPr lang="en-US" sz="3200" b="1" dirty="0" smtClean="0">
              <a:latin typeface="+mj-lt"/>
            </a:endParaRPr>
          </a:p>
          <a:p>
            <a:r>
              <a:rPr lang="vi-VN" sz="3200" dirty="0" smtClean="0">
                <a:latin typeface="+mj-lt"/>
              </a:rPr>
              <a:t>Cấu tạo: có 2 dây xoắn và được bọc giáp cho 2 dây </a:t>
            </a:r>
          </a:p>
          <a:p>
            <a:r>
              <a:rPr lang="vi-VN" sz="3200" dirty="0" smtClean="0">
                <a:latin typeface="+mj-lt"/>
              </a:rPr>
              <a:t>Mục đích lớp giáp bọc kim loại: ngăn nhiễu xuyên kênh</a:t>
            </a:r>
            <a:r>
              <a:rPr lang="en-US" sz="3200" dirty="0" smtClean="0">
                <a:latin typeface="+mj-lt"/>
              </a:rPr>
              <a:t> </a:t>
            </a:r>
            <a:r>
              <a:rPr lang="vi-VN" sz="3200" dirty="0" smtClean="0">
                <a:latin typeface="+mj-lt"/>
              </a:rPr>
              <a:t>(crosstalk). </a:t>
            </a:r>
          </a:p>
          <a:p>
            <a:r>
              <a:rPr lang="vi-VN" sz="3200" dirty="0" smtClean="0">
                <a:latin typeface="+mj-lt"/>
              </a:rPr>
              <a:t>Phân loại theo chất lượng và các đầu nối đều tương tự như UTP. </a:t>
            </a:r>
            <a:endParaRPr lang="en-US" sz="3200" dirty="0" smtClean="0">
              <a:latin typeface="+mj-lt"/>
            </a:endParaRPr>
          </a:p>
          <a:p>
            <a:r>
              <a:rPr lang="vi-VN" sz="3200" dirty="0" smtClean="0">
                <a:latin typeface="+mj-lt"/>
              </a:rPr>
              <a:t>Khi sử dụng, lớp giáp bọc phải được nối đất.  </a:t>
            </a:r>
          </a:p>
          <a:p>
            <a:r>
              <a:rPr lang="vi-VN" sz="3200" dirty="0" smtClean="0">
                <a:latin typeface="+mj-lt"/>
              </a:rPr>
              <a:t>STP thường đắc tiền hơn UTP, tính chống nhiễu thì cao hơn. </a:t>
            </a:r>
            <a:endParaRPr lang="en-US" sz="32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7763597" y="2819399"/>
            <a:ext cx="4428403" cy="242887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xoắn đôi</a:t>
            </a:r>
            <a:endParaRPr lang="en-US" dirty="0"/>
          </a:p>
        </p:txBody>
      </p:sp>
      <p:sp>
        <p:nvSpPr>
          <p:cNvPr id="3" name="Content Placeholder 2"/>
          <p:cNvSpPr>
            <a:spLocks noGrp="1"/>
          </p:cNvSpPr>
          <p:nvPr>
            <p:ph idx="1"/>
          </p:nvPr>
        </p:nvSpPr>
        <p:spPr>
          <a:xfrm>
            <a:off x="572493" y="1431235"/>
            <a:ext cx="11143791" cy="4866198"/>
          </a:xfrm>
        </p:spPr>
        <p:txBody>
          <a:bodyPr>
            <a:normAutofit/>
          </a:bodyPr>
          <a:lstStyle/>
          <a:p>
            <a:pPr>
              <a:buFont typeface="Wingdings" pitchFamily="2" charset="2"/>
              <a:buChar char="v"/>
            </a:pPr>
            <a:r>
              <a:rPr lang="en-US" sz="3200" b="1" dirty="0" smtClean="0">
                <a:latin typeface="+mj-lt"/>
              </a:rPr>
              <a:t> </a:t>
            </a:r>
            <a:r>
              <a:rPr lang="vi-VN" sz="3200" b="1" dirty="0" smtClean="0">
                <a:latin typeface="+mj-lt"/>
              </a:rPr>
              <a:t>Cáp xoắn đôi có </a:t>
            </a:r>
            <a:r>
              <a:rPr lang="en-US" sz="3200" b="1" dirty="0" err="1">
                <a:latin typeface="Times New Roman" panose="02020603050405020304" pitchFamily="18" charset="0"/>
                <a:cs typeface="Times New Roman" panose="02020603050405020304" pitchFamily="18" charset="0"/>
              </a:rPr>
              <a:t>vỏ</a:t>
            </a:r>
            <a:r>
              <a:rPr lang="vi-VN" sz="3200" b="1" dirty="0">
                <a:latin typeface="Times New Roman" panose="02020603050405020304" pitchFamily="18" charset="0"/>
                <a:cs typeface="Times New Roman" panose="02020603050405020304" pitchFamily="18" charset="0"/>
              </a:rPr>
              <a:t> </a:t>
            </a:r>
            <a:r>
              <a:rPr lang="vi-VN" sz="3200" b="1" dirty="0" smtClean="0">
                <a:latin typeface="+mj-lt"/>
              </a:rPr>
              <a:t>bọc (STP: shielded twisted pair cable) </a:t>
            </a:r>
            <a:endParaRPr lang="en-US" sz="3200" b="1" dirty="0" smtClean="0">
              <a:latin typeface="+mj-lt"/>
            </a:endParaRPr>
          </a:p>
          <a:p>
            <a:r>
              <a:rPr lang="vi-VN" sz="3200" dirty="0" smtClean="0">
                <a:latin typeface="+mj-lt"/>
              </a:rPr>
              <a:t>Phân loại theo chất lượng và các đầu nối đều tương tự như UTP. </a:t>
            </a:r>
            <a:endParaRPr lang="en-US" sz="3200" dirty="0" smtClean="0">
              <a:latin typeface="+mj-lt"/>
            </a:endParaRPr>
          </a:p>
          <a:p>
            <a:r>
              <a:rPr lang="vi-VN" sz="3200" dirty="0" smtClean="0">
                <a:latin typeface="+mj-lt"/>
              </a:rPr>
              <a:t>Khi sử dụng, lớp giáp bọc phải được nối đất.  </a:t>
            </a:r>
          </a:p>
          <a:p>
            <a:r>
              <a:rPr lang="vi-VN" sz="3200" dirty="0" smtClean="0">
                <a:latin typeface="+mj-lt"/>
              </a:rPr>
              <a:t>STP thường đắc tiền hơn UTP, tính chống nhiễu thì cao hơn. </a:t>
            </a:r>
            <a:endParaRPr lang="en-US" sz="3200" dirty="0">
              <a:latin typeface="+mj-lt"/>
            </a:endParaRPr>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2281445" y="3861414"/>
            <a:ext cx="7866743" cy="2791991"/>
          </a:xfrm>
          <a:prstGeom prst="rect">
            <a:avLst/>
          </a:prstGeom>
        </p:spPr>
      </p:pic>
    </p:spTree>
    <p:extLst>
      <p:ext uri="{BB962C8B-B14F-4D97-AF65-F5344CB8AC3E}">
        <p14:creationId xmlns:p14="http://schemas.microsoft.com/office/powerpoint/2010/main" val="414163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Cáp đồng trục (Coaxial cable)</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Cấu tạo: có 5 lớp được sắp xếp theo trật tự  </a:t>
            </a:r>
          </a:p>
          <a:p>
            <a:r>
              <a:rPr lang="vi-VN" sz="3200" dirty="0" smtClean="0">
                <a:latin typeface="+mj-lt"/>
              </a:rPr>
              <a:t>Lớp dẫn điện bên trong (trong cùng) </a:t>
            </a:r>
          </a:p>
          <a:p>
            <a:r>
              <a:rPr lang="vi-VN" sz="3200" dirty="0" smtClean="0">
                <a:latin typeface="+mj-lt"/>
              </a:rPr>
              <a:t>Lớp cách điện 1 </a:t>
            </a:r>
          </a:p>
          <a:p>
            <a:r>
              <a:rPr lang="vi-VN" sz="3200" dirty="0" smtClean="0">
                <a:latin typeface="+mj-lt"/>
              </a:rPr>
              <a:t>Lớp dẫn điện bên ngoài </a:t>
            </a:r>
          </a:p>
          <a:p>
            <a:r>
              <a:rPr lang="vi-VN" sz="3200" dirty="0" smtClean="0">
                <a:latin typeface="+mj-lt"/>
              </a:rPr>
              <a:t>Lớp cách điện 2 </a:t>
            </a:r>
          </a:p>
          <a:p>
            <a:r>
              <a:rPr lang="vi-VN" sz="3200" dirty="0" smtClean="0">
                <a:latin typeface="+mj-lt"/>
              </a:rPr>
              <a:t>Lớp nhựa bảo phủ để bảo vệ</a:t>
            </a:r>
            <a:endParaRPr lang="en-US" sz="3200" dirty="0" smtClean="0">
              <a:latin typeface="+mj-lt"/>
            </a:endParaRPr>
          </a:p>
          <a:p>
            <a:endParaRPr lang="en-US" sz="3200" dirty="0" smtClean="0">
              <a:latin typeface="+mj-lt"/>
            </a:endParaRPr>
          </a:p>
          <a:p>
            <a:pPr>
              <a:buFont typeface="Wingdings" pitchFamily="2" charset="2"/>
              <a:buChar char="v"/>
            </a:pPr>
            <a:r>
              <a:rPr lang="vi-VN" sz="3200" dirty="0" smtClean="0">
                <a:latin typeface="+mj-lt"/>
              </a:rPr>
              <a:t> Tần số: 800kHz  đến 500MHz, Băng thông: 500MHz  </a:t>
            </a:r>
            <a:endParaRPr lang="en-US" sz="32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5676900" y="2590800"/>
            <a:ext cx="6122126" cy="281940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Content Placeholder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730741" y="2139940"/>
            <a:ext cx="10305143" cy="3043025"/>
          </a:xfrm>
          <a:prstGeom prst="rect">
            <a:avLst/>
          </a:prstGeom>
        </p:spPr>
      </p:pic>
    </p:spTree>
    <p:extLst>
      <p:ext uri="{BB962C8B-B14F-4D97-AF65-F5344CB8AC3E}">
        <p14:creationId xmlns:p14="http://schemas.microsoft.com/office/powerpoint/2010/main" val="2708664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đồng trục (Coaxial cable)</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dirty="0" smtClean="0">
                <a:latin typeface="+mj-lt"/>
              </a:rPr>
              <a:t> </a:t>
            </a:r>
            <a:r>
              <a:rPr lang="vi-VN" sz="3200" dirty="0" smtClean="0">
                <a:latin typeface="+mj-lt"/>
              </a:rPr>
              <a:t>Các chuẩn cáp đồng trục: </a:t>
            </a:r>
          </a:p>
          <a:p>
            <a:r>
              <a:rPr lang="vi-VN" sz="3200" dirty="0" smtClean="0">
                <a:latin typeface="+mj-lt"/>
              </a:rPr>
              <a:t>Được phân cấp theo RG, Mỗi số RG cho một tập các  đặc tính</a:t>
            </a:r>
            <a:r>
              <a:rPr lang="en-US" sz="3200" dirty="0" smtClean="0">
                <a:latin typeface="+mj-lt"/>
              </a:rPr>
              <a:t> </a:t>
            </a:r>
            <a:r>
              <a:rPr lang="vi-VN" sz="3200" dirty="0" smtClean="0">
                <a:latin typeface="+mj-lt"/>
              </a:rPr>
              <a:t>vật lý, bao gồm kích thước dây đồng, kích thước lớp cách điện và kích cỡ của lớp bọc ngoài.  </a:t>
            </a:r>
          </a:p>
          <a:p>
            <a:r>
              <a:rPr lang="vi-VN" sz="3200" dirty="0" smtClean="0">
                <a:latin typeface="+mj-lt"/>
              </a:rPr>
              <a:t>Các chuẩn thường gặp là  </a:t>
            </a:r>
          </a:p>
          <a:p>
            <a:r>
              <a:rPr lang="vi-VN" sz="2400" dirty="0" smtClean="0">
                <a:latin typeface="+mj-lt"/>
              </a:rPr>
              <a:t>  RG-8: dùng cho thick Ethernet </a:t>
            </a:r>
          </a:p>
          <a:p>
            <a:r>
              <a:rPr lang="vi-VN" sz="2400" dirty="0" smtClean="0">
                <a:latin typeface="+mj-lt"/>
              </a:rPr>
              <a:t>  RG-9: dùng cho thick Ethernet</a:t>
            </a:r>
          </a:p>
          <a:p>
            <a:r>
              <a:rPr lang="vi-VN" sz="2400" dirty="0" smtClean="0">
                <a:latin typeface="+mj-lt"/>
              </a:rPr>
              <a:t>  RG-11: dùng cho thick Ethernet </a:t>
            </a:r>
          </a:p>
          <a:p>
            <a:r>
              <a:rPr lang="vi-VN" sz="2400" dirty="0" smtClean="0">
                <a:latin typeface="+mj-lt"/>
              </a:rPr>
              <a:t>  RG-58: dùng cho thin Ethernet</a:t>
            </a:r>
          </a:p>
          <a:p>
            <a:r>
              <a:rPr lang="vi-VN" sz="2400" dirty="0" smtClean="0">
                <a:latin typeface="+mj-lt"/>
              </a:rPr>
              <a:t>  RG-59: dùng cho TV </a:t>
            </a:r>
            <a:endParaRPr lang="en-US" sz="2400" dirty="0">
              <a:latin typeface="+mj-lt"/>
            </a:endParaRPr>
          </a:p>
        </p:txBody>
      </p:sp>
      <p:pic>
        <p:nvPicPr>
          <p:cNvPr id="8196" name="Picture 4"/>
          <p:cNvPicPr>
            <a:picLocks noChangeAspect="1" noChangeArrowheads="1"/>
          </p:cNvPicPr>
          <p:nvPr/>
        </p:nvPicPr>
        <p:blipFill>
          <a:blip r:embed="rId2"/>
          <a:srcRect/>
          <a:stretch>
            <a:fillRect/>
          </a:stretch>
        </p:blipFill>
        <p:spPr bwMode="auto">
          <a:xfrm>
            <a:off x="5100639" y="3800586"/>
            <a:ext cx="6748461" cy="233351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đồng trục (Coaxial cable)</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Đầu nối cáp đồng trục</a:t>
            </a:r>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r>
              <a:rPr lang="vi-VN" sz="3200" dirty="0" smtClean="0">
                <a:latin typeface="+mj-lt"/>
              </a:rPr>
              <a:t>T-connector (dùng trong thin Ethernet) dùng kết nối cáp thứ cấp hoặc cáp đến nhiều thiết bị đầu cuối khác nhau. </a:t>
            </a:r>
          </a:p>
          <a:p>
            <a:r>
              <a:rPr lang="vi-VN" sz="3200" dirty="0" smtClean="0">
                <a:latin typeface="+mj-lt"/>
              </a:rPr>
              <a:t>Terminator dùng trong cấu hình bus, trong đó một cáp dẫn được dùng làm xương sống (backbone) với nhiều thiết bị.  </a:t>
            </a:r>
            <a:endParaRPr lang="en-US" sz="3200" dirty="0">
              <a:latin typeface="+mj-lt"/>
            </a:endParaRPr>
          </a:p>
        </p:txBody>
      </p:sp>
      <p:pic>
        <p:nvPicPr>
          <p:cNvPr id="9218" name="Picture 2"/>
          <p:cNvPicPr>
            <a:picLocks noChangeAspect="1" noChangeArrowheads="1"/>
          </p:cNvPicPr>
          <p:nvPr/>
        </p:nvPicPr>
        <p:blipFill>
          <a:blip r:embed="rId2"/>
          <a:srcRect/>
          <a:stretch>
            <a:fillRect/>
          </a:stretch>
        </p:blipFill>
        <p:spPr bwMode="auto">
          <a:xfrm>
            <a:off x="2157413" y="2066925"/>
            <a:ext cx="7839075" cy="20002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Bản chất ánh sáng: Ánh sáng là một dạng của sóng điện từ, có tốc độ</a:t>
            </a:r>
            <a:r>
              <a:rPr lang="en-US" sz="3200" dirty="0" smtClean="0">
                <a:latin typeface="+mj-lt"/>
              </a:rPr>
              <a:t> </a:t>
            </a:r>
            <a:r>
              <a:rPr lang="en-US" sz="3200" dirty="0" smtClean="0">
                <a:latin typeface="Times New Roman" pitchFamily="18" charset="0"/>
                <a:cs typeface="Times New Roman" pitchFamily="18" charset="0"/>
              </a:rPr>
              <a:t>c =</a:t>
            </a:r>
            <a:r>
              <a:rPr lang="vi-VN" sz="3200" dirty="0" smtClean="0">
                <a:latin typeface="+mj-lt"/>
              </a:rPr>
              <a:t> 3.10</a:t>
            </a:r>
            <a:r>
              <a:rPr lang="en-US" sz="3200" baseline="30000" dirty="0" smtClean="0">
                <a:latin typeface="+mj-lt"/>
              </a:rPr>
              <a:t>8</a:t>
            </a:r>
            <a:r>
              <a:rPr lang="en-US" sz="3200" dirty="0" smtClean="0">
                <a:latin typeface="+mj-lt"/>
              </a:rPr>
              <a:t> </a:t>
            </a:r>
            <a:r>
              <a:rPr lang="vi-VN" sz="3200" dirty="0" smtClean="0">
                <a:latin typeface="+mj-lt"/>
              </a:rPr>
              <a:t>m/s </a:t>
            </a:r>
          </a:p>
          <a:p>
            <a:r>
              <a:rPr lang="vi-VN" sz="3200" dirty="0" smtClean="0">
                <a:latin typeface="+mj-lt"/>
              </a:rPr>
              <a:t>Sự khúc xạ: Khi ánh sáng chiếu qua 2 môi trường khác nhau. </a:t>
            </a:r>
            <a:endParaRPr lang="en-US" sz="3200" dirty="0">
              <a:latin typeface="+mj-lt"/>
            </a:endParaRPr>
          </a:p>
        </p:txBody>
      </p:sp>
      <p:pic>
        <p:nvPicPr>
          <p:cNvPr id="10242" name="Picture 2"/>
          <p:cNvPicPr>
            <a:picLocks noChangeAspect="1" noChangeArrowheads="1"/>
          </p:cNvPicPr>
          <p:nvPr/>
        </p:nvPicPr>
        <p:blipFill>
          <a:blip r:embed="rId2"/>
          <a:srcRect/>
          <a:stretch>
            <a:fillRect/>
          </a:stretch>
        </p:blipFill>
        <p:spPr bwMode="auto">
          <a:xfrm>
            <a:off x="1522575" y="3063210"/>
            <a:ext cx="8973976" cy="3413790"/>
          </a:xfrm>
          <a:prstGeom prst="rect">
            <a:avLst/>
          </a:prstGeom>
          <a:noFill/>
          <a:ln w="9525">
            <a:noFill/>
            <a:miter lim="800000"/>
            <a:headEnd/>
            <a:tailEnd/>
          </a:ln>
          <a:effectLst/>
        </p:spPr>
      </p:pic>
      <p:sp>
        <p:nvSpPr>
          <p:cNvPr id="5" name="Rectangle 4"/>
          <p:cNvSpPr/>
          <p:nvPr/>
        </p:nvSpPr>
        <p:spPr>
          <a:xfrm>
            <a:off x="4933950" y="4876800"/>
            <a:ext cx="1714500" cy="5524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Góc tới hạn: Xảy ra hiện tượng phản xạ toàn phần </a:t>
            </a:r>
            <a:endParaRPr lang="en-US" sz="3200" dirty="0" smtClean="0">
              <a:latin typeface="+mj-lt"/>
            </a:endParaRPr>
          </a:p>
          <a:p>
            <a:r>
              <a:rPr lang="vi-VN" sz="3200" dirty="0" smtClean="0">
                <a:latin typeface="+mj-lt"/>
              </a:rPr>
              <a:t>Cáp quang dùng hiện tượng phản xạ để dẫn ánh sáng qua kênh quang</a:t>
            </a:r>
            <a:endParaRPr lang="en-US" sz="3200" dirty="0" smtClean="0">
              <a:latin typeface="+mj-lt"/>
            </a:endParaRPr>
          </a:p>
          <a:p>
            <a:r>
              <a:rPr lang="vi-VN" sz="3200" dirty="0" smtClean="0">
                <a:latin typeface="+mj-lt"/>
              </a:rPr>
              <a:t>Các chế độ truyền sợi quang: 2 chế độ: sợi đa mode và sợi đơn mode </a:t>
            </a:r>
          </a:p>
        </p:txBody>
      </p:sp>
      <p:pic>
        <p:nvPicPr>
          <p:cNvPr id="11266" name="Picture 2"/>
          <p:cNvPicPr>
            <a:picLocks noChangeAspect="1" noChangeArrowheads="1"/>
          </p:cNvPicPr>
          <p:nvPr/>
        </p:nvPicPr>
        <p:blipFill>
          <a:blip r:embed="rId2"/>
          <a:srcRect/>
          <a:stretch>
            <a:fillRect/>
          </a:stretch>
        </p:blipFill>
        <p:spPr bwMode="auto">
          <a:xfrm>
            <a:off x="2255260" y="3619500"/>
            <a:ext cx="7488815" cy="2800350"/>
          </a:xfrm>
          <a:prstGeom prst="rect">
            <a:avLst/>
          </a:prstGeom>
          <a:noFill/>
          <a:ln w="9525">
            <a:noFill/>
            <a:miter lim="800000"/>
            <a:headEnd/>
            <a:tailEnd/>
          </a:ln>
          <a:effectLst/>
        </p:spPr>
      </p:pic>
      <p:sp>
        <p:nvSpPr>
          <p:cNvPr id="5" name="Rectangle 4"/>
          <p:cNvSpPr/>
          <p:nvPr/>
        </p:nvSpPr>
        <p:spPr>
          <a:xfrm>
            <a:off x="6134100" y="4762500"/>
            <a:ext cx="1352550" cy="6286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Sợi đa mode: </a:t>
            </a:r>
            <a:r>
              <a:rPr lang="vi-VN" sz="3200" dirty="0" smtClean="0">
                <a:latin typeface="+mj-lt"/>
              </a:rPr>
              <a:t>Nhiều tia từ nguồn ánh sáng di chuyển bên trong lõi theo nhiều đường khác nhau. </a:t>
            </a:r>
            <a:endParaRPr lang="en-US" sz="3200" dirty="0" smtClean="0">
              <a:latin typeface="+mj-lt"/>
            </a:endParaRPr>
          </a:p>
          <a:p>
            <a:pPr>
              <a:buFont typeface="Wingdings" pitchFamily="2" charset="2"/>
              <a:buChar char="v"/>
            </a:pPr>
            <a:r>
              <a:rPr lang="en-US" sz="3200" dirty="0" smtClean="0">
                <a:latin typeface="+mj-lt"/>
              </a:rPr>
              <a:t> </a:t>
            </a:r>
            <a:r>
              <a:rPr lang="vi-VN" sz="3200" dirty="0" smtClean="0">
                <a:latin typeface="+mj-lt"/>
              </a:rPr>
              <a:t>Sợi đa mode step-index:</a:t>
            </a:r>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r>
              <a:rPr lang="vi-VN" sz="2400" dirty="0" smtClean="0">
                <a:latin typeface="+mj-lt"/>
              </a:rPr>
              <a:t>Chiết suất của lõi được giữ không đổi từ tâm đến rìa. </a:t>
            </a:r>
          </a:p>
          <a:p>
            <a:r>
              <a:rPr lang="vi-VN" sz="2400" dirty="0" smtClean="0">
                <a:latin typeface="+mj-lt"/>
              </a:rPr>
              <a:t>Các tia đến không đồng đều xuất hiện hiện tượng méo do trễ. </a:t>
            </a:r>
          </a:p>
          <a:p>
            <a:r>
              <a:rPr lang="vi-VN" sz="2400" dirty="0" smtClean="0">
                <a:latin typeface="+mj-lt"/>
              </a:rPr>
              <a:t>Giới hạn tốc độ truyền dữ liệu  </a:t>
            </a:r>
          </a:p>
          <a:p>
            <a:r>
              <a:rPr lang="vi-VN" sz="2400" dirty="0" smtClean="0">
                <a:latin typeface="+mj-lt"/>
              </a:rPr>
              <a:t>Được ứng dụng truyền dữ liệu tốc độ thấp, độ chính xác không</a:t>
            </a:r>
            <a:r>
              <a:rPr lang="en-US" sz="2400" dirty="0" smtClean="0">
                <a:latin typeface="+mj-lt"/>
              </a:rPr>
              <a:t> </a:t>
            </a:r>
            <a:r>
              <a:rPr lang="en-US" sz="2400" dirty="0" smtClean="0">
                <a:latin typeface="Times New Roman" pitchFamily="18" charset="0"/>
                <a:cs typeface="Times New Roman" pitchFamily="18" charset="0"/>
              </a:rPr>
              <a:t>cao</a:t>
            </a:r>
            <a:endParaRPr lang="en-US" sz="3200" dirty="0">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2"/>
          <a:srcRect/>
          <a:stretch>
            <a:fillRect/>
          </a:stretch>
        </p:blipFill>
        <p:spPr bwMode="auto">
          <a:xfrm>
            <a:off x="1647825" y="3109913"/>
            <a:ext cx="8096250" cy="1438275"/>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dirty="0" smtClean="0">
                <a:latin typeface="+mj-lt"/>
              </a:rPr>
              <a:t> </a:t>
            </a:r>
            <a:r>
              <a:rPr lang="vi-VN" sz="3200" dirty="0" smtClean="0">
                <a:latin typeface="+mj-lt"/>
              </a:rPr>
              <a:t>Sợi đa mode graded –index </a:t>
            </a:r>
            <a:endParaRPr lang="en-US" sz="3200" dirty="0" smtClean="0">
              <a:latin typeface="+mj-lt"/>
            </a:endParaRPr>
          </a:p>
          <a:p>
            <a:r>
              <a:rPr lang="vi-VN" sz="3200" dirty="0" smtClean="0">
                <a:latin typeface="+mj-lt"/>
              </a:rPr>
              <a:t>Có các mật độ thay đổi được. Mật độ cao nhất tại vùng tâm của lõi và giảm dần tại vùng rìa. </a:t>
            </a:r>
          </a:p>
          <a:p>
            <a:r>
              <a:rPr lang="vi-VN" sz="3200" dirty="0" smtClean="0">
                <a:latin typeface="+mj-lt"/>
              </a:rPr>
              <a:t>Các tia được chỉnh định góc truyền để tín hiệu đến cùng 1 lúc  </a:t>
            </a:r>
          </a:p>
          <a:p>
            <a:r>
              <a:rPr lang="vi-VN" sz="3200" dirty="0" smtClean="0">
                <a:latin typeface="+mj-lt"/>
              </a:rPr>
              <a:t>Có độ chính xác cao hơn so với step-index. </a:t>
            </a:r>
            <a:endParaRPr lang="en-US" sz="3200" dirty="0">
              <a:latin typeface="+mj-lt"/>
            </a:endParaRPr>
          </a:p>
        </p:txBody>
      </p:sp>
      <p:pic>
        <p:nvPicPr>
          <p:cNvPr id="13314" name="Picture 2"/>
          <p:cNvPicPr>
            <a:picLocks noChangeAspect="1" noChangeArrowheads="1"/>
          </p:cNvPicPr>
          <p:nvPr/>
        </p:nvPicPr>
        <p:blipFill>
          <a:blip r:embed="rId2"/>
          <a:srcRect/>
          <a:stretch>
            <a:fillRect/>
          </a:stretch>
        </p:blipFill>
        <p:spPr bwMode="auto">
          <a:xfrm>
            <a:off x="1420454" y="4343400"/>
            <a:ext cx="8837971" cy="12954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dirty="0" smtClean="0">
                <a:latin typeface="+mj-lt"/>
              </a:rPr>
              <a:t> </a:t>
            </a:r>
            <a:r>
              <a:rPr lang="vi-VN" sz="3200" dirty="0" smtClean="0">
                <a:latin typeface="+mj-lt"/>
              </a:rPr>
              <a:t>Sợi đơn mode:  </a:t>
            </a:r>
          </a:p>
          <a:p>
            <a:r>
              <a:rPr lang="vi-VN" sz="3200" dirty="0" smtClean="0">
                <a:latin typeface="+mj-lt"/>
              </a:rPr>
              <a:t>Nguồn sáng được tập trung cao trong một góc nhỏ, tia tới sát mặt ngang.  </a:t>
            </a:r>
          </a:p>
          <a:p>
            <a:r>
              <a:rPr lang="vi-VN" sz="3200" dirty="0" smtClean="0">
                <a:latin typeface="+mj-lt"/>
              </a:rPr>
              <a:t>Sợi đơn mode sản xuất với đường kính tương đối bé so với sợi đa mode </a:t>
            </a:r>
          </a:p>
          <a:p>
            <a:r>
              <a:rPr lang="vi-VN" sz="3200" dirty="0" smtClean="0">
                <a:latin typeface="+mj-lt"/>
              </a:rPr>
              <a:t>Mật độ tương đối nhỏ, việc giảm mật độ này cho phép có gói tới hạn gần 90 độ làm cho quá trình truyền gần như nằm ngang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Cáp quang</a:t>
            </a:r>
            <a:endParaRPr lang="en-US" dirty="0"/>
          </a:p>
        </p:txBody>
      </p:sp>
      <p:sp>
        <p:nvSpPr>
          <p:cNvPr id="3" name="Content Placeholder 2"/>
          <p:cNvSpPr>
            <a:spLocks noGrp="1"/>
          </p:cNvSpPr>
          <p:nvPr>
            <p:ph idx="1"/>
          </p:nvPr>
        </p:nvSpPr>
        <p:spPr/>
        <p:txBody>
          <a:bodyPr/>
          <a:lstStyle/>
          <a:p>
            <a:r>
              <a:rPr lang="vi-VN" sz="3200" dirty="0" smtClean="0">
                <a:latin typeface="+mj-lt"/>
              </a:rPr>
              <a:t>Việc lan truyền của nhiều tia gần như giống nhau và có thể bỏ qua yếu tố truyền trễ.  </a:t>
            </a:r>
          </a:p>
          <a:p>
            <a:r>
              <a:rPr lang="vi-VN" sz="3200" dirty="0" smtClean="0">
                <a:latin typeface="+mj-lt"/>
              </a:rPr>
              <a:t>Các tia có thể xem đền đích cùng một lúc và được tái hợp mà không bị méo dạng</a:t>
            </a:r>
            <a:endParaRPr lang="en-US" sz="3200" dirty="0" smtClean="0">
              <a:latin typeface="+mj-lt"/>
            </a:endParaRPr>
          </a:p>
          <a:p>
            <a:endParaRPr lang="en-US" dirty="0"/>
          </a:p>
        </p:txBody>
      </p:sp>
      <p:pic>
        <p:nvPicPr>
          <p:cNvPr id="14338" name="Picture 2"/>
          <p:cNvPicPr>
            <a:picLocks noChangeAspect="1" noChangeArrowheads="1"/>
          </p:cNvPicPr>
          <p:nvPr/>
        </p:nvPicPr>
        <p:blipFill>
          <a:blip r:embed="rId2"/>
          <a:srcRect/>
          <a:stretch>
            <a:fillRect/>
          </a:stretch>
        </p:blipFill>
        <p:spPr bwMode="auto">
          <a:xfrm>
            <a:off x="1399595" y="3567113"/>
            <a:ext cx="9011230" cy="14620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6.2 Môi trường không định hướng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Khái niệm: Còn gọi là thông tin không dây (vô tuyến), sóng điện từ được truyền dẫn qua không khí  </a:t>
            </a:r>
          </a:p>
          <a:p>
            <a:r>
              <a:rPr lang="vi-VN" sz="3200" dirty="0" smtClean="0">
                <a:latin typeface="+mj-lt"/>
              </a:rPr>
              <a:t>Qui hoạch tần số vô tuyến: Chia thành 8 dải tần </a:t>
            </a:r>
            <a:r>
              <a:rPr lang="en-US" sz="3200" dirty="0">
                <a:latin typeface="Times New Roman" panose="02020603050405020304" pitchFamily="18" charset="0"/>
                <a:cs typeface="Times New Roman" panose="02020603050405020304" pitchFamily="18" charset="0"/>
              </a:rPr>
              <a:t>3K</a:t>
            </a:r>
            <a:r>
              <a:rPr lang="vi-VN" sz="3200" dirty="0" smtClean="0">
                <a:latin typeface="+mj-lt"/>
              </a:rPr>
              <a:t>Hz đến</a:t>
            </a:r>
            <a:r>
              <a:rPr lang="en-US" sz="3200" dirty="0" smtClean="0">
                <a:latin typeface="+mj-lt"/>
              </a:rPr>
              <a:t> </a:t>
            </a:r>
            <a:r>
              <a:rPr lang="vi-VN" sz="3200" dirty="0" smtClean="0">
                <a:latin typeface="+mj-lt"/>
              </a:rPr>
              <a:t>300GHz. </a:t>
            </a:r>
            <a:endParaRPr lang="en-US" sz="3200" dirty="0">
              <a:latin typeface="+mj-lt"/>
            </a:endParaRPr>
          </a:p>
        </p:txBody>
      </p:sp>
      <p:pic>
        <p:nvPicPr>
          <p:cNvPr id="16387" name="Picture 3"/>
          <p:cNvPicPr>
            <a:picLocks noChangeAspect="1" noChangeArrowheads="1"/>
          </p:cNvPicPr>
          <p:nvPr/>
        </p:nvPicPr>
        <p:blipFill>
          <a:blip r:embed="rId2"/>
          <a:srcRect/>
          <a:stretch>
            <a:fillRect/>
          </a:stretch>
        </p:blipFill>
        <p:spPr bwMode="auto">
          <a:xfrm>
            <a:off x="2671763" y="3127747"/>
            <a:ext cx="8320087" cy="3192091"/>
          </a:xfrm>
          <a:prstGeom prst="rect">
            <a:avLst/>
          </a:prstGeom>
          <a:noFill/>
          <a:ln w="9525">
            <a:noFill/>
            <a:miter lim="800000"/>
            <a:headEnd/>
            <a:tailEnd/>
          </a:ln>
          <a:effectLst/>
        </p:spPr>
      </p:pic>
      <p:sp>
        <p:nvSpPr>
          <p:cNvPr id="4" name="TextBox 3"/>
          <p:cNvSpPr txBox="1"/>
          <p:nvPr/>
        </p:nvSpPr>
        <p:spPr>
          <a:xfrm>
            <a:off x="726393" y="4529271"/>
            <a:ext cx="1289135" cy="369332"/>
          </a:xfrm>
          <a:prstGeom prst="rect">
            <a:avLst/>
          </a:prstGeom>
          <a:noFill/>
        </p:spPr>
        <p:txBody>
          <a:bodyPr wrap="none" rtlCol="0">
            <a:spAutoFit/>
          </a:bodyPr>
          <a:lstStyle/>
          <a:p>
            <a:r>
              <a:rPr lang="en-US" dirty="0" smtClean="0"/>
              <a:t>10</a:t>
            </a:r>
            <a:r>
              <a:rPr lang="en-US" baseline="30000" dirty="0" smtClean="0"/>
              <a:t>12 </a:t>
            </a:r>
            <a:r>
              <a:rPr lang="en-US" dirty="0" smtClean="0"/>
              <a:t> = 9 6 3</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 truyền sóng vô tuyến</a:t>
            </a:r>
            <a:endParaRPr lang="en-US" dirty="0"/>
          </a:p>
        </p:txBody>
      </p:sp>
      <p:sp>
        <p:nvSpPr>
          <p:cNvPr id="3" name="Content Placeholder 2"/>
          <p:cNvSpPr>
            <a:spLocks noGrp="1"/>
          </p:cNvSpPr>
          <p:nvPr>
            <p:ph idx="1"/>
          </p:nvPr>
        </p:nvSpPr>
        <p:spPr/>
        <p:txBody>
          <a:bodyPr>
            <a:normAutofit/>
          </a:bodyPr>
          <a:lstStyle/>
          <a:p>
            <a:r>
              <a:rPr lang="vi-VN" sz="3200" b="1" dirty="0" smtClean="0">
                <a:latin typeface="+mj-lt"/>
              </a:rPr>
              <a:t>Sóng vô tuyến: </a:t>
            </a:r>
            <a:r>
              <a:rPr lang="vi-VN" sz="3200" dirty="0" smtClean="0">
                <a:latin typeface="+mj-lt"/>
              </a:rPr>
              <a:t>dùng 5 dạng truyền: sóng bề mặt (surface), sóng tầng  đối lưu (troposheric), tầng điện ly (ionosheric), truyền</a:t>
            </a:r>
            <a:r>
              <a:rPr lang="en-US" sz="3200" dirty="0" smtClean="0">
                <a:latin typeface="+mj-lt"/>
              </a:rPr>
              <a:t> </a:t>
            </a:r>
            <a:r>
              <a:rPr lang="vi-VN" sz="3200" dirty="0" smtClean="0">
                <a:latin typeface="+mj-lt"/>
              </a:rPr>
              <a:t>thẳng (line of sight), và không gian (</a:t>
            </a:r>
            <a:r>
              <a:rPr lang="vi-VN" sz="3200" smtClean="0">
                <a:latin typeface="+mj-lt"/>
              </a:rPr>
              <a:t>space)</a:t>
            </a:r>
            <a:endParaRPr lang="en-US" sz="3200" dirty="0" smtClean="0">
              <a:latin typeface="+mj-lt"/>
            </a:endParaRPr>
          </a:p>
        </p:txBody>
      </p:sp>
      <p:pic>
        <p:nvPicPr>
          <p:cNvPr id="4" name="Picture 3"/>
          <p:cNvPicPr>
            <a:picLocks noChangeAspect="1"/>
          </p:cNvPicPr>
          <p:nvPr/>
        </p:nvPicPr>
        <p:blipFill>
          <a:blip r:embed="rId2"/>
          <a:stretch>
            <a:fillRect/>
          </a:stretch>
        </p:blipFill>
        <p:spPr>
          <a:xfrm>
            <a:off x="388936" y="3131931"/>
            <a:ext cx="7192674" cy="3165502"/>
          </a:xfrm>
          <a:prstGeom prst="rect">
            <a:avLst/>
          </a:prstGeom>
        </p:spPr>
      </p:pic>
      <p:pic>
        <p:nvPicPr>
          <p:cNvPr id="5" name="Picture 4"/>
          <p:cNvPicPr>
            <a:picLocks noChangeAspect="1"/>
          </p:cNvPicPr>
          <p:nvPr/>
        </p:nvPicPr>
        <p:blipFill>
          <a:blip r:embed="rId3"/>
          <a:stretch>
            <a:fillRect/>
          </a:stretch>
        </p:blipFill>
        <p:spPr>
          <a:xfrm>
            <a:off x="7578267" y="3381182"/>
            <a:ext cx="3886200" cy="2667000"/>
          </a:xfrm>
          <a:prstGeom prst="rect">
            <a:avLst/>
          </a:prstGeom>
        </p:spPr>
      </p:pic>
      <p:sp>
        <p:nvSpPr>
          <p:cNvPr id="6" name="Rectangle 5"/>
          <p:cNvSpPr/>
          <p:nvPr/>
        </p:nvSpPr>
        <p:spPr>
          <a:xfrm>
            <a:off x="9056914" y="3730171"/>
            <a:ext cx="1030515" cy="4934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Lan</a:t>
            </a:r>
            <a:r>
              <a:rPr lang="en-US" dirty="0" smtClean="0"/>
              <a:t> </a:t>
            </a:r>
            <a:r>
              <a:rPr lang="en-US" dirty="0" err="1" smtClean="0"/>
              <a:t>truyền</a:t>
            </a:r>
            <a:r>
              <a:rPr lang="en-US" dirty="0" smtClean="0"/>
              <a:t> </a:t>
            </a:r>
            <a:r>
              <a:rPr lang="en-US" dirty="0" err="1" smtClean="0"/>
              <a:t>các</a:t>
            </a:r>
            <a:r>
              <a:rPr lang="en-US" dirty="0" smtClean="0"/>
              <a:t> </a:t>
            </a:r>
            <a:r>
              <a:rPr lang="en-US" dirty="0" err="1" smtClean="0"/>
              <a:t>tín</a:t>
            </a:r>
            <a:r>
              <a:rPr lang="en-US" dirty="0" smtClean="0"/>
              <a:t> </a:t>
            </a:r>
            <a:r>
              <a:rPr lang="en-US" dirty="0" err="1" smtClean="0"/>
              <a:t>hiệu</a:t>
            </a:r>
            <a:r>
              <a:rPr lang="en-US" dirty="0" smtClean="0"/>
              <a:t> </a:t>
            </a:r>
            <a:r>
              <a:rPr lang="en-US" dirty="0" err="1" smtClean="0"/>
              <a:t>đặc</a:t>
            </a:r>
            <a:r>
              <a:rPr lang="en-US" dirty="0" smtClean="0"/>
              <a:t> </a:t>
            </a:r>
            <a:r>
              <a:rPr lang="en-US" dirty="0" err="1" smtClean="0"/>
              <a:t>biệt</a:t>
            </a:r>
            <a:endParaRPr lang="en-US" dirty="0"/>
          </a:p>
        </p:txBody>
      </p:sp>
      <p:sp>
        <p:nvSpPr>
          <p:cNvPr id="3" name="Content Placeholder 2"/>
          <p:cNvSpPr>
            <a:spLocks noGrp="1"/>
          </p:cNvSpPr>
          <p:nvPr>
            <p:ph idx="1"/>
          </p:nvPr>
        </p:nvSpPr>
        <p:spPr/>
        <p:txBody>
          <a:bodyPr>
            <a:normAutofit/>
          </a:bodyPr>
          <a:lstStyle/>
          <a:p>
            <a:r>
              <a:rPr lang="en-US" sz="3000" b="1" dirty="0">
                <a:latin typeface="Times New Roman" panose="02020603050405020304" pitchFamily="18" charset="0"/>
                <a:cs typeface="Times New Roman" panose="02020603050405020304" pitchFamily="18" charset="0"/>
              </a:rPr>
              <a:t>VLF </a:t>
            </a:r>
            <a:r>
              <a:rPr lang="en-US" sz="3000" dirty="0">
                <a:latin typeface="Times New Roman" panose="02020603050405020304" pitchFamily="18" charset="0"/>
                <a:cs typeface="Times New Roman" panose="02020603050405020304" pitchFamily="18" charset="0"/>
              </a:rPr>
              <a:t>(Very Low Frequency</a:t>
            </a:r>
            <a:r>
              <a:rPr lang="en-US" sz="3000" dirty="0" smtClean="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Dạng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sóng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này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thích</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hợp</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cho</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r>
              <a:rPr lang="en-US" sz="3000" dirty="0" err="1">
                <a:latin typeface="Times New Roman" panose="02020603050405020304" pitchFamily="18" charset="0"/>
                <a:cs typeface="Times New Roman" panose="02020603050405020304" pitchFamily="18" charset="0"/>
              </a:rPr>
              <a:t>sóng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dài</a:t>
            </a:r>
            <a:r>
              <a:rPr lang="en-US" sz="3000" dirty="0">
                <a:latin typeface="Times New Roman" panose="02020603050405020304" pitchFamily="18" charset="0"/>
                <a:cs typeface="Times New Roman" panose="02020603050405020304" pitchFamily="18" charset="0"/>
              </a:rPr>
              <a:t> hay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tàu</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ngầm</a:t>
            </a:r>
            <a:endParaRPr lang="en-US" sz="3000" dirty="0" smtClean="0">
              <a:latin typeface="Times New Roman" panose="02020603050405020304" pitchFamily="18" charset="0"/>
              <a:cs typeface="Times New Roman" panose="02020603050405020304" pitchFamily="18" charset="0"/>
            </a:endParaRPr>
          </a:p>
          <a:p>
            <a:pPr marL="0" indent="0">
              <a:buNone/>
            </a:pPr>
            <a:endParaRPr lang="en-US" sz="3000" b="1" dirty="0">
              <a:latin typeface="Times New Roman" panose="02020603050405020304" pitchFamily="18" charset="0"/>
              <a:cs typeface="Times New Roman" panose="02020603050405020304" pitchFamily="18" charset="0"/>
            </a:endParaRPr>
          </a:p>
          <a:p>
            <a:endParaRPr lang="en-US" sz="3000" b="1" dirty="0" smtClean="0">
              <a:latin typeface="Times New Roman" panose="02020603050405020304" pitchFamily="18" charset="0"/>
              <a:cs typeface="Times New Roman" panose="02020603050405020304" pitchFamily="18" charset="0"/>
            </a:endParaRPr>
          </a:p>
          <a:p>
            <a:endParaRPr lang="en-US" sz="3000" b="1" dirty="0">
              <a:latin typeface="Times New Roman" panose="02020603050405020304" pitchFamily="18" charset="0"/>
              <a:cs typeface="Times New Roman" panose="02020603050405020304" pitchFamily="18" charset="0"/>
            </a:endParaRPr>
          </a:p>
          <a:p>
            <a:r>
              <a:rPr lang="vi-VN" sz="3000" b="1" dirty="0">
                <a:latin typeface="Times New Roman" panose="02020603050405020304" pitchFamily="18" charset="0"/>
                <a:cs typeface="Times New Roman" panose="02020603050405020304" pitchFamily="18" charset="0"/>
              </a:rPr>
              <a:t>LF </a:t>
            </a:r>
            <a:r>
              <a:rPr lang="vi-VN" sz="3000" dirty="0">
                <a:latin typeface="Times New Roman" panose="02020603050405020304" pitchFamily="18" charset="0"/>
                <a:cs typeface="Times New Roman" panose="02020603050405020304" pitchFamily="18" charset="0"/>
              </a:rPr>
              <a:t>(Low Frequency): tương tự như VLF là truyền theo </a:t>
            </a:r>
            <a:r>
              <a:rPr lang="vi-VN" sz="3000" dirty="0" smtClean="0">
                <a:latin typeface="Times New Roman" panose="02020603050405020304" pitchFamily="18" charset="0"/>
                <a:cs typeface="Times New Roman" panose="02020603050405020304" pitchFamily="18" charset="0"/>
              </a:rPr>
              <a:t>dạng</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sóng </a:t>
            </a:r>
            <a:r>
              <a:rPr lang="vi-VN" sz="3000" dirty="0">
                <a:latin typeface="Times New Roman" panose="02020603050405020304" pitchFamily="18" charset="0"/>
                <a:cs typeface="Times New Roman" panose="02020603050405020304" pitchFamily="18" charset="0"/>
              </a:rPr>
              <a:t>bề mặt, được </a:t>
            </a:r>
            <a:r>
              <a:rPr lang="vi-VN" sz="3000" dirty="0" smtClean="0">
                <a:latin typeface="Times New Roman" panose="02020603050405020304" pitchFamily="18" charset="0"/>
                <a:cs typeface="Times New Roman" panose="02020603050405020304" pitchFamily="18" charset="0"/>
              </a:rPr>
              <a:t>dung</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trong </a:t>
            </a:r>
            <a:r>
              <a:rPr lang="vi-VN" sz="3000" dirty="0">
                <a:latin typeface="Times New Roman" panose="02020603050405020304" pitchFamily="18" charset="0"/>
                <a:cs typeface="Times New Roman" panose="02020603050405020304" pitchFamily="18" charset="0"/>
              </a:rPr>
              <a:t>truyền tin sóng-dài hàng hải </a:t>
            </a:r>
            <a:r>
              <a:rPr lang="vi-VN" dirty="0"/>
              <a:t/>
            </a:r>
            <a:br>
              <a:rPr lang="vi-VN" dirty="0"/>
            </a:br>
            <a:r>
              <a:rPr lang="en-US" dirty="0" smtClean="0"/>
              <a:t> </a:t>
            </a:r>
            <a:r>
              <a:rPr lang="en-US" dirty="0"/>
              <a:t/>
            </a:r>
            <a:br>
              <a:rPr lang="en-US" dirty="0"/>
            </a:br>
            <a:r>
              <a:rPr lang="en-US" dirty="0"/>
              <a:t> </a:t>
            </a:r>
            <a:br>
              <a:rPr lang="en-US" dirty="0"/>
            </a:br>
            <a:endParaRPr lang="en-US" dirty="0"/>
          </a:p>
        </p:txBody>
      </p:sp>
      <p:pic>
        <p:nvPicPr>
          <p:cNvPr id="4" name="Picture 3"/>
          <p:cNvPicPr>
            <a:picLocks noChangeAspect="1"/>
          </p:cNvPicPr>
          <p:nvPr/>
        </p:nvPicPr>
        <p:blipFill>
          <a:blip r:embed="rId2"/>
          <a:stretch>
            <a:fillRect/>
          </a:stretch>
        </p:blipFill>
        <p:spPr>
          <a:xfrm>
            <a:off x="733394" y="2524618"/>
            <a:ext cx="10778218" cy="1218026"/>
          </a:xfrm>
          <a:prstGeom prst="rect">
            <a:avLst/>
          </a:prstGeom>
        </p:spPr>
      </p:pic>
      <p:pic>
        <p:nvPicPr>
          <p:cNvPr id="5" name="Picture 4"/>
          <p:cNvPicPr>
            <a:picLocks noChangeAspect="1"/>
          </p:cNvPicPr>
          <p:nvPr/>
        </p:nvPicPr>
        <p:blipFill>
          <a:blip r:embed="rId3"/>
          <a:stretch>
            <a:fillRect/>
          </a:stretch>
        </p:blipFill>
        <p:spPr>
          <a:xfrm>
            <a:off x="572493" y="5193379"/>
            <a:ext cx="10796814" cy="1223323"/>
          </a:xfrm>
          <a:prstGeom prst="rect">
            <a:avLst/>
          </a:prstGeom>
        </p:spPr>
      </p:pic>
    </p:spTree>
    <p:extLst>
      <p:ext uri="{BB962C8B-B14F-4D97-AF65-F5344CB8AC3E}">
        <p14:creationId xmlns:p14="http://schemas.microsoft.com/office/powerpoint/2010/main" val="29000562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Lan</a:t>
            </a:r>
            <a:r>
              <a:rPr lang="en-US" dirty="0"/>
              <a:t> </a:t>
            </a:r>
            <a:r>
              <a:rPr lang="en-US" dirty="0" err="1"/>
              <a:t>truyền</a:t>
            </a: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đặc</a:t>
            </a:r>
            <a:r>
              <a:rPr lang="en-US" dirty="0"/>
              <a:t> </a:t>
            </a:r>
            <a:r>
              <a:rPr lang="en-US" dirty="0" err="1"/>
              <a:t>biệt</a:t>
            </a:r>
            <a:endParaRPr lang="en-US" dirty="0"/>
          </a:p>
        </p:txBody>
      </p:sp>
      <p:sp>
        <p:nvSpPr>
          <p:cNvPr id="3" name="Content Placeholder 2"/>
          <p:cNvSpPr>
            <a:spLocks noGrp="1"/>
          </p:cNvSpPr>
          <p:nvPr>
            <p:ph idx="1"/>
          </p:nvPr>
        </p:nvSpPr>
        <p:spPr/>
        <p:txBody>
          <a:bodyPr>
            <a:normAutofit/>
          </a:bodyPr>
          <a:lstStyle/>
          <a:p>
            <a:r>
              <a:rPr lang="en-US" sz="3000" b="1" dirty="0">
                <a:latin typeface="Times New Roman" panose="02020603050405020304" pitchFamily="18" charset="0"/>
                <a:cs typeface="Times New Roman" panose="02020603050405020304" pitchFamily="18" charset="0"/>
              </a:rPr>
              <a:t>MF</a:t>
            </a:r>
            <a:r>
              <a:rPr lang="en-US" sz="3000" dirty="0">
                <a:latin typeface="Times New Roman" panose="02020603050405020304" pitchFamily="18" charset="0"/>
                <a:cs typeface="Times New Roman" panose="02020603050405020304" pitchFamily="18" charset="0"/>
              </a:rPr>
              <a:t> (Middle Frequency): </a:t>
            </a:r>
            <a:r>
              <a:rPr lang="vi-VN" sz="3000" dirty="0">
                <a:latin typeface="Times New Roman" panose="02020603050405020304" pitchFamily="18" charset="0"/>
                <a:cs typeface="Times New Roman" panose="02020603050405020304" pitchFamily="18" charset="0"/>
              </a:rPr>
              <a:t>Trong dải sóng này có rađiô AM, hàng hải, rađiô </a:t>
            </a:r>
            <a:r>
              <a:rPr lang="vi-VN" sz="3000" dirty="0" smtClean="0">
                <a:latin typeface="Times New Roman" panose="02020603050405020304" pitchFamily="18" charset="0"/>
                <a:cs typeface="Times New Roman" panose="02020603050405020304" pitchFamily="18" charset="0"/>
              </a:rPr>
              <a:t>định</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hướng </a:t>
            </a:r>
            <a:r>
              <a:rPr lang="vi-VN" sz="3000" dirty="0">
                <a:latin typeface="Times New Roman" panose="02020603050405020304" pitchFamily="18" charset="0"/>
                <a:cs typeface="Times New Roman" panose="02020603050405020304" pitchFamily="18" charset="0"/>
              </a:rPr>
              <a:t>(RDF: radio direction finding), và tần số báo nguy khẩn cấp (</a:t>
            </a:r>
            <a:r>
              <a:rPr lang="vi-VN" sz="3000" dirty="0" smtClean="0">
                <a:latin typeface="Times New Roman" panose="02020603050405020304" pitchFamily="18" charset="0"/>
                <a:cs typeface="Times New Roman" panose="02020603050405020304" pitchFamily="18" charset="0"/>
              </a:rPr>
              <a:t>emergency</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frequency</a:t>
            </a:r>
            <a:r>
              <a:rPr lang="vi-VN" sz="3000" dirty="0">
                <a:latin typeface="Times New Roman" panose="02020603050405020304" pitchFamily="18" charset="0"/>
                <a:cs typeface="Times New Roman" panose="02020603050405020304" pitchFamily="18" charset="0"/>
              </a:rPr>
              <a:t>) </a:t>
            </a:r>
            <a:endParaRPr lang="en-US" sz="3000" dirty="0" smtClean="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endParaRPr lang="en-US" sz="3000" dirty="0" smtClean="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HF</a:t>
            </a:r>
            <a:r>
              <a:rPr lang="en-US" sz="3000" dirty="0">
                <a:latin typeface="Times New Roman" panose="02020603050405020304" pitchFamily="18" charset="0"/>
                <a:cs typeface="Times New Roman" panose="02020603050405020304" pitchFamily="18" charset="0"/>
              </a:rPr>
              <a:t> (high frequency): </a:t>
            </a:r>
            <a:r>
              <a:rPr lang="en-US" sz="3000" dirty="0" err="1">
                <a:latin typeface="Times New Roman" panose="02020603050405020304" pitchFamily="18" charset="0"/>
                <a:cs typeface="Times New Roman" panose="02020603050405020304" pitchFamily="18" charset="0"/>
              </a:rPr>
              <a:t>tín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hiệu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trong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tầng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điện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ly</a:t>
            </a:r>
            <a:r>
              <a:rPr lang="en-US" sz="3000" dirty="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truyền </a:t>
            </a:r>
            <a:r>
              <a:rPr lang="vi-VN" sz="3000" dirty="0">
                <a:latin typeface="Times New Roman" panose="02020603050405020304" pitchFamily="18" charset="0"/>
                <a:cs typeface="Times New Roman" panose="02020603050405020304" pitchFamily="18" charset="0"/>
              </a:rPr>
              <a:t>tin quốc tế, truyền tin quân </a:t>
            </a:r>
            <a:r>
              <a:rPr lang="vi-VN" sz="3000" dirty="0" smtClean="0">
                <a:latin typeface="Times New Roman" panose="02020603050405020304" pitchFamily="18" charset="0"/>
                <a:cs typeface="Times New Roman" panose="02020603050405020304" pitchFamily="18" charset="0"/>
              </a:rPr>
              <a:t>sự,thông </a:t>
            </a:r>
            <a:r>
              <a:rPr lang="vi-VN" sz="3000" dirty="0">
                <a:latin typeface="Times New Roman" panose="02020603050405020304" pitchFamily="18" charset="0"/>
                <a:cs typeface="Times New Roman" panose="02020603050405020304" pitchFamily="18" charset="0"/>
              </a:rPr>
              <a:t>tin hàng không đường dài và thông tin hàng hải,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760178" y="2913062"/>
            <a:ext cx="6724650" cy="828675"/>
          </a:xfrm>
          <a:prstGeom prst="rect">
            <a:avLst/>
          </a:prstGeom>
        </p:spPr>
      </p:pic>
      <p:pic>
        <p:nvPicPr>
          <p:cNvPr id="5" name="Picture 4"/>
          <p:cNvPicPr>
            <a:picLocks noChangeAspect="1"/>
          </p:cNvPicPr>
          <p:nvPr/>
        </p:nvPicPr>
        <p:blipFill>
          <a:blip r:embed="rId3"/>
          <a:stretch>
            <a:fillRect/>
          </a:stretch>
        </p:blipFill>
        <p:spPr>
          <a:xfrm>
            <a:off x="2550205" y="5399314"/>
            <a:ext cx="7459802" cy="723947"/>
          </a:xfrm>
          <a:prstGeom prst="rect">
            <a:avLst/>
          </a:prstGeom>
        </p:spPr>
      </p:pic>
      <p:sp>
        <p:nvSpPr>
          <p:cNvPr id="6" name="Rectangle 5"/>
          <p:cNvSpPr/>
          <p:nvPr/>
        </p:nvSpPr>
        <p:spPr>
          <a:xfrm>
            <a:off x="3439886" y="2913062"/>
            <a:ext cx="1074057" cy="414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976914" y="5280045"/>
            <a:ext cx="1074057" cy="414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29946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Lan</a:t>
            </a:r>
            <a:r>
              <a:rPr lang="en-US" dirty="0"/>
              <a:t> </a:t>
            </a:r>
            <a:r>
              <a:rPr lang="en-US" dirty="0" err="1"/>
              <a:t>truyền</a:t>
            </a: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đặc</a:t>
            </a:r>
            <a:r>
              <a:rPr lang="en-US" dirty="0"/>
              <a:t> </a:t>
            </a:r>
            <a:r>
              <a:rPr lang="en-US" dirty="0" err="1"/>
              <a:t>biệt</a:t>
            </a:r>
            <a:endParaRPr lang="en-US" dirty="0"/>
          </a:p>
        </p:txBody>
      </p:sp>
      <p:sp>
        <p:nvSpPr>
          <p:cNvPr id="3" name="Content Placeholder 2"/>
          <p:cNvSpPr>
            <a:spLocks noGrp="1"/>
          </p:cNvSpPr>
          <p:nvPr>
            <p:ph idx="1"/>
          </p:nvPr>
        </p:nvSpPr>
        <p:spPr/>
        <p:txBody>
          <a:bodyPr/>
          <a:lstStyle/>
          <a:p>
            <a:r>
              <a:rPr lang="vi-VN" b="1" dirty="0">
                <a:latin typeface="+mj-lt"/>
              </a:rPr>
              <a:t>VHF </a:t>
            </a:r>
            <a:r>
              <a:rPr lang="vi-VN" dirty="0">
                <a:latin typeface="+mj-lt"/>
              </a:rPr>
              <a:t>(Very High Frequency): dùng trong thông tin truyền thẳng, bao gồm sóng </a:t>
            </a:r>
            <a:r>
              <a:rPr lang="vi-VN" dirty="0" smtClean="0">
                <a:latin typeface="+mj-lt"/>
              </a:rPr>
              <a:t>TV</a:t>
            </a:r>
            <a:r>
              <a:rPr lang="en-US" dirty="0">
                <a:latin typeface="+mj-lt"/>
              </a:rPr>
              <a:t> </a:t>
            </a:r>
            <a:r>
              <a:rPr lang="vi-VN" dirty="0" smtClean="0">
                <a:latin typeface="+mj-lt"/>
              </a:rPr>
              <a:t>VHF</a:t>
            </a:r>
            <a:r>
              <a:rPr lang="vi-VN" dirty="0">
                <a:latin typeface="+mj-lt"/>
              </a:rPr>
              <a:t>, rađiô hàng không AM, hỗ trợ không lưu </a:t>
            </a:r>
            <a:r>
              <a:rPr lang="vi-VN" dirty="0" smtClean="0">
                <a:latin typeface="+mj-lt"/>
              </a:rPr>
              <a:t>AM</a:t>
            </a:r>
            <a:r>
              <a:rPr lang="en-US" dirty="0" smtClean="0">
                <a:latin typeface="+mj-lt"/>
              </a:rPr>
              <a:t>.</a:t>
            </a:r>
            <a:r>
              <a:rPr lang="vi-VN" dirty="0" smtClean="0">
                <a:latin typeface="+mj-lt"/>
              </a:rPr>
              <a:t> </a:t>
            </a:r>
            <a:r>
              <a:rPr lang="vi-VN" dirty="0">
                <a:latin typeface="+mj-lt"/>
              </a:rPr>
              <a:t/>
            </a:r>
            <a:br>
              <a:rPr lang="vi-VN" dirty="0">
                <a:latin typeface="+mj-lt"/>
              </a:rPr>
            </a:br>
            <a:endParaRPr lang="en-US" dirty="0" smtClean="0">
              <a:latin typeface="+mj-lt"/>
            </a:endParaRPr>
          </a:p>
          <a:p>
            <a:endParaRPr lang="en-US" dirty="0" smtClean="0">
              <a:latin typeface="+mj-lt"/>
            </a:endParaRPr>
          </a:p>
          <a:p>
            <a:pPr>
              <a:lnSpc>
                <a:spcPct val="150000"/>
              </a:lnSpc>
            </a:pPr>
            <a:endParaRPr lang="en-US" dirty="0">
              <a:latin typeface="+mj-lt"/>
            </a:endParaRPr>
          </a:p>
          <a:p>
            <a:r>
              <a:rPr lang="en-US" b="1" dirty="0">
                <a:latin typeface="Times New Roman" panose="02020603050405020304" pitchFamily="18" charset="0"/>
                <a:cs typeface="Times New Roman" panose="02020603050405020304" pitchFamily="18" charset="0"/>
              </a:rPr>
              <a:t>UHF </a:t>
            </a:r>
            <a:r>
              <a:rPr lang="en-US" dirty="0">
                <a:latin typeface="Times New Roman" panose="02020603050405020304" pitchFamily="18" charset="0"/>
                <a:cs typeface="Times New Roman" panose="02020603050405020304" pitchFamily="18" charset="0"/>
              </a:rPr>
              <a:t>(Ultrahigh Frequency): </a:t>
            </a:r>
            <a:r>
              <a:rPr lang="en-US" dirty="0" err="1">
                <a:latin typeface="Times New Roman" panose="02020603050405020304" pitchFamily="18" charset="0"/>
                <a:cs typeface="Times New Roman" panose="02020603050405020304" pitchFamily="18" charset="0"/>
              </a:rPr>
              <a:t>hầu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truyền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thẳng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sóngTV</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UHF,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di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paging,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nối</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ba</a:t>
            </a:r>
            <a:r>
              <a:rPr lang="en-US" dirty="0">
                <a:latin typeface="Times New Roman" panose="02020603050405020304" pitchFamily="18" charset="0"/>
                <a:cs typeface="Times New Roman" panose="02020603050405020304" pitchFamily="18" charset="0"/>
              </a:rPr>
              <a:t> </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380766" y="2339563"/>
            <a:ext cx="6719692" cy="1615391"/>
          </a:xfrm>
          <a:prstGeom prst="rect">
            <a:avLst/>
          </a:prstGeom>
        </p:spPr>
      </p:pic>
      <p:pic>
        <p:nvPicPr>
          <p:cNvPr id="5" name="Picture 4"/>
          <p:cNvPicPr>
            <a:picLocks noChangeAspect="1"/>
          </p:cNvPicPr>
          <p:nvPr/>
        </p:nvPicPr>
        <p:blipFill>
          <a:blip r:embed="rId3"/>
          <a:stretch>
            <a:fillRect/>
          </a:stretch>
        </p:blipFill>
        <p:spPr>
          <a:xfrm>
            <a:off x="2043484" y="4935852"/>
            <a:ext cx="7056974" cy="1581887"/>
          </a:xfrm>
          <a:prstGeom prst="rect">
            <a:avLst/>
          </a:prstGeom>
        </p:spPr>
      </p:pic>
    </p:spTree>
    <p:extLst>
      <p:ext uri="{BB962C8B-B14F-4D97-AF65-F5344CB8AC3E}">
        <p14:creationId xmlns:p14="http://schemas.microsoft.com/office/powerpoint/2010/main" val="1202264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Lan</a:t>
            </a:r>
            <a:r>
              <a:rPr lang="en-US" dirty="0"/>
              <a:t> </a:t>
            </a:r>
            <a:r>
              <a:rPr lang="en-US" dirty="0" err="1"/>
              <a:t>truyền</a:t>
            </a: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đặc</a:t>
            </a:r>
            <a:r>
              <a:rPr lang="en-US" dirty="0"/>
              <a:t> </a:t>
            </a:r>
            <a:r>
              <a:rPr lang="en-US" dirty="0" err="1"/>
              <a:t>biệt</a:t>
            </a:r>
            <a:endParaRPr lang="en-US" dirty="0"/>
          </a:p>
        </p:txBody>
      </p:sp>
      <p:sp>
        <p:nvSpPr>
          <p:cNvPr id="3" name="Content Placeholder 2"/>
          <p:cNvSpPr>
            <a:spLocks noGrp="1"/>
          </p:cNvSpPr>
          <p:nvPr>
            <p:ph idx="1"/>
          </p:nvPr>
        </p:nvSpPr>
        <p:spPr/>
        <p:txBody>
          <a:bodyPr/>
          <a:lstStyle/>
          <a:p>
            <a:r>
              <a:rPr lang="en-US" sz="3000" b="1" dirty="0">
                <a:latin typeface="Times New Roman" panose="02020603050405020304" pitchFamily="18" charset="0"/>
                <a:cs typeface="Times New Roman" panose="02020603050405020304" pitchFamily="18" charset="0"/>
              </a:rPr>
              <a:t>SHF </a:t>
            </a:r>
            <a:r>
              <a:rPr lang="en-US" sz="3000" dirty="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Superhigh</a:t>
            </a:r>
            <a:r>
              <a:rPr lang="en-US" sz="3000" dirty="0">
                <a:latin typeface="Times New Roman" panose="02020603050405020304" pitchFamily="18" charset="0"/>
                <a:cs typeface="Times New Roman" panose="02020603050405020304" pitchFamily="18" charset="0"/>
              </a:rPr>
              <a:t> frequency):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trong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r>
              <a:rPr lang="en-US" sz="3000" dirty="0" err="1">
                <a:latin typeface="Times New Roman" panose="02020603050405020304" pitchFamily="18" charset="0"/>
                <a:cs typeface="Times New Roman" panose="02020603050405020304" pitchFamily="18" charset="0"/>
              </a:rPr>
              <a:t>truyền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thẳng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bao</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gồm</a:t>
            </a:r>
            <a:r>
              <a:rPr lang="en-US" sz="3000" dirty="0">
                <a:latin typeface="Times New Roman" panose="02020603050405020304" pitchFamily="18" charset="0"/>
                <a:cs typeface="Times New Roman" panose="02020603050405020304" pitchFamily="18" charset="0"/>
              </a:rPr>
              <a:t> </a:t>
            </a:r>
            <a:r>
              <a:rPr lang="en-US" sz="3000" b="1" dirty="0" err="1" smtClean="0">
                <a:latin typeface="Times New Roman" panose="02020603050405020304" pitchFamily="18" charset="0"/>
                <a:cs typeface="Times New Roman" panose="02020603050405020304" pitchFamily="18" charset="0"/>
              </a:rPr>
              <a:t>thông</a:t>
            </a:r>
            <a:r>
              <a:rPr lang="en-US" sz="3000" b="1" dirty="0" smtClean="0">
                <a:latin typeface="Times New Roman" panose="02020603050405020304" pitchFamily="18" charset="0"/>
                <a:cs typeface="Times New Roman" panose="02020603050405020304" pitchFamily="18" charset="0"/>
              </a:rPr>
              <a:t> </a:t>
            </a:r>
            <a:r>
              <a:rPr lang="en-US" sz="3000" b="1" dirty="0">
                <a:latin typeface="Times New Roman" panose="02020603050405020304" pitchFamily="18" charset="0"/>
                <a:cs typeface="Times New Roman" panose="02020603050405020304" pitchFamily="18" charset="0"/>
              </a:rPr>
              <a:t>tin vi </a:t>
            </a:r>
            <a:r>
              <a:rPr lang="en-US" sz="3000" b="1" dirty="0" err="1">
                <a:latin typeface="Times New Roman" panose="02020603050405020304" pitchFamily="18" charset="0"/>
                <a:cs typeface="Times New Roman" panose="02020603050405020304" pitchFamily="18" charset="0"/>
              </a:rPr>
              <a:t>ba</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mặt</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đất</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và</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vệ</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tinh</a:t>
            </a:r>
            <a:r>
              <a:rPr lang="en-US" sz="3000" b="1" dirty="0">
                <a:latin typeface="Times New Roman" panose="02020603050405020304" pitchFamily="18" charset="0"/>
                <a:cs typeface="Times New Roman" panose="02020603050405020304" pitchFamily="18" charset="0"/>
              </a:rPr>
              <a:t>, radar</a:t>
            </a:r>
            <a:r>
              <a:rPr lang="en-US" sz="3000" dirty="0">
                <a:latin typeface="Times New Roman" panose="02020603050405020304" pitchFamily="18" charset="0"/>
                <a:cs typeface="Times New Roman" panose="02020603050405020304" pitchFamily="18" charset="0"/>
              </a:rPr>
              <a:t> </a:t>
            </a:r>
            <a:br>
              <a:rPr lang="en-US" sz="3000" dirty="0">
                <a:latin typeface="Times New Roman" panose="02020603050405020304" pitchFamily="18" charset="0"/>
                <a:cs typeface="Times New Roman" panose="02020603050405020304" pitchFamily="18" charset="0"/>
              </a:rPr>
            </a:br>
            <a:endParaRPr lang="en-US" sz="3000" dirty="0" smtClean="0">
              <a:latin typeface="Times New Roman" panose="02020603050405020304" pitchFamily="18" charset="0"/>
              <a:cs typeface="Times New Roman" panose="02020603050405020304" pitchFamily="18" charset="0"/>
            </a:endParaRPr>
          </a:p>
          <a:p>
            <a:endParaRPr lang="en-US" sz="3000" dirty="0">
              <a:latin typeface="Times New Roman" panose="02020603050405020304" pitchFamily="18" charset="0"/>
              <a:cs typeface="Times New Roman" panose="02020603050405020304" pitchFamily="18" charset="0"/>
            </a:endParaRPr>
          </a:p>
          <a:p>
            <a:endParaRPr lang="en-US" sz="3000" dirty="0" smtClean="0">
              <a:latin typeface="Times New Roman" panose="02020603050405020304" pitchFamily="18" charset="0"/>
              <a:cs typeface="Times New Roman" panose="02020603050405020304" pitchFamily="18" charset="0"/>
            </a:endParaRPr>
          </a:p>
          <a:p>
            <a:r>
              <a:rPr lang="en-US" sz="3000" b="1" dirty="0">
                <a:latin typeface="Times New Roman" panose="02020603050405020304" pitchFamily="18" charset="0"/>
                <a:cs typeface="Times New Roman" panose="02020603050405020304" pitchFamily="18" charset="0"/>
              </a:rPr>
              <a:t>EHF </a:t>
            </a:r>
            <a:r>
              <a:rPr lang="en-US" sz="3000" dirty="0">
                <a:latin typeface="Times New Roman" panose="02020603050405020304" pitchFamily="18" charset="0"/>
                <a:cs typeface="Times New Roman" panose="02020603050405020304" pitchFamily="18" charset="0"/>
              </a:rPr>
              <a:t>(Extremely high frequency)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trong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r>
              <a:rPr lang="en-US" sz="3000" dirty="0" err="1">
                <a:latin typeface="Times New Roman" panose="02020603050405020304" pitchFamily="18" charset="0"/>
                <a:cs typeface="Times New Roman" panose="02020603050405020304" pitchFamily="18" charset="0"/>
              </a:rPr>
              <a:t>không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gian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chủ</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yếu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cho</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công</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tác</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khoa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học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bao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gồm</a:t>
            </a:r>
            <a:r>
              <a:rPr lang="en-US" sz="3000" dirty="0">
                <a:latin typeface="Times New Roman" panose="02020603050405020304" pitchFamily="18" charset="0"/>
                <a:cs typeface="Times New Roman" panose="02020603050405020304" pitchFamily="18" charset="0"/>
              </a:rPr>
              <a:t> radar, </a:t>
            </a:r>
            <a:r>
              <a:rPr lang="en-US" sz="3000" dirty="0" err="1">
                <a:latin typeface="Times New Roman" panose="02020603050405020304" pitchFamily="18" charset="0"/>
                <a:cs typeface="Times New Roman" panose="02020603050405020304" pitchFamily="18" charset="0"/>
              </a:rPr>
              <a:t>vệ</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thông</a:t>
            </a:r>
            <a:r>
              <a:rPr lang="en-US" sz="3000" dirty="0">
                <a:latin typeface="Times New Roman" panose="02020603050405020304" pitchFamily="18" charset="0"/>
                <a:cs typeface="Times New Roman" panose="02020603050405020304" pitchFamily="18" charset="0"/>
              </a:rPr>
              <a:t> tin </a:t>
            </a:r>
            <a:r>
              <a:rPr lang="en-US" sz="3000" dirty="0" err="1">
                <a:latin typeface="Times New Roman" panose="02020603050405020304" pitchFamily="18" charset="0"/>
                <a:cs typeface="Times New Roman" panose="02020603050405020304" pitchFamily="18" charset="0"/>
              </a:rPr>
              <a:t>thử</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nghiệm</a:t>
            </a:r>
            <a:r>
              <a:rPr lang="en-US" sz="3000" dirty="0">
                <a:latin typeface="Times New Roman" panose="02020603050405020304" pitchFamily="18" charset="0"/>
                <a:cs typeface="Times New Roman" panose="02020603050405020304" pitchFamily="18" charset="0"/>
              </a:rPr>
              <a:t> </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378949" y="2743200"/>
            <a:ext cx="7440317" cy="773793"/>
          </a:xfrm>
          <a:prstGeom prst="rect">
            <a:avLst/>
          </a:prstGeom>
        </p:spPr>
      </p:pic>
      <p:pic>
        <p:nvPicPr>
          <p:cNvPr id="5" name="Picture 4"/>
          <p:cNvPicPr>
            <a:picLocks noChangeAspect="1"/>
          </p:cNvPicPr>
          <p:nvPr/>
        </p:nvPicPr>
        <p:blipFill>
          <a:blip r:embed="rId3"/>
          <a:stretch>
            <a:fillRect/>
          </a:stretch>
        </p:blipFill>
        <p:spPr>
          <a:xfrm>
            <a:off x="2220233" y="5370286"/>
            <a:ext cx="7867068" cy="735240"/>
          </a:xfrm>
          <a:prstGeom prst="rect">
            <a:avLst/>
          </a:prstGeom>
        </p:spPr>
      </p:pic>
      <p:sp>
        <p:nvSpPr>
          <p:cNvPr id="6" name="Rectangle 5"/>
          <p:cNvSpPr/>
          <p:nvPr/>
        </p:nvSpPr>
        <p:spPr>
          <a:xfrm>
            <a:off x="3033486" y="2917371"/>
            <a:ext cx="1204686" cy="2177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975430" y="5520191"/>
            <a:ext cx="1280160" cy="2177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6253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 </a:t>
            </a:r>
            <a:r>
              <a:rPr lang="en-US" dirty="0" err="1" smtClean="0"/>
              <a:t>ba</a:t>
            </a:r>
            <a:r>
              <a:rPr lang="en-US" dirty="0" smtClean="0"/>
              <a:t> </a:t>
            </a:r>
            <a:r>
              <a:rPr lang="en-US" dirty="0" err="1" smtClean="0"/>
              <a:t>mặt</a:t>
            </a:r>
            <a:r>
              <a:rPr lang="en-US" dirty="0" smtClean="0"/>
              <a:t> </a:t>
            </a:r>
            <a:r>
              <a:rPr lang="en-US" dirty="0" err="1" smtClean="0"/>
              <a:t>đất</a:t>
            </a:r>
            <a:endParaRPr lang="en-US" dirty="0"/>
          </a:p>
        </p:txBody>
      </p:sp>
      <p:sp>
        <p:nvSpPr>
          <p:cNvPr id="3" name="Content Placeholder 2"/>
          <p:cNvSpPr>
            <a:spLocks noGrp="1"/>
          </p:cNvSpPr>
          <p:nvPr>
            <p:ph idx="1"/>
          </p:nvPr>
        </p:nvSpPr>
        <p:spPr/>
        <p:txBody>
          <a:bodyPr/>
          <a:lstStyle/>
          <a:p>
            <a:r>
              <a:rPr lang="vi-VN" sz="3000" dirty="0">
                <a:latin typeface="+mj-lt"/>
              </a:rPr>
              <a:t>Do truyền thẳng nên vi ba cần có các thiết bị thu phát đáp ứng được yêu cầu </a:t>
            </a:r>
            <a:r>
              <a:rPr lang="vi-VN" sz="3000" dirty="0" smtClean="0">
                <a:latin typeface="+mj-lt"/>
              </a:rPr>
              <a:t>này</a:t>
            </a:r>
            <a:endParaRPr lang="en-US" sz="3000" dirty="0" smtClean="0">
              <a:latin typeface="+mj-lt"/>
            </a:endParaRPr>
          </a:p>
          <a:p>
            <a:r>
              <a:rPr lang="en-US" sz="3000" dirty="0" err="1" smtClean="0">
                <a:latin typeface="Times New Roman" panose="02020603050405020304" pitchFamily="18" charset="0"/>
                <a:cs typeface="Times New Roman" panose="02020603050405020304" pitchFamily="18" charset="0"/>
              </a:rPr>
              <a:t>Bộ</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tiếp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vận</a:t>
            </a:r>
            <a:r>
              <a:rPr lang="en-US" sz="3000" dirty="0">
                <a:latin typeface="Times New Roman" panose="02020603050405020304" pitchFamily="18" charset="0"/>
                <a:cs typeface="Times New Roman" panose="02020603050405020304" pitchFamily="18" charset="0"/>
              </a:rPr>
              <a:t> (repeater): </a:t>
            </a:r>
            <a:r>
              <a:rPr lang="en-US" sz="3000" dirty="0" err="1">
                <a:latin typeface="Times New Roman" panose="02020603050405020304" pitchFamily="18" charset="0"/>
                <a:cs typeface="Times New Roman" panose="02020603050405020304" pitchFamily="18" charset="0"/>
              </a:rPr>
              <a:t>Để</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tăng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cự</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của</a:t>
            </a:r>
            <a:r>
              <a:rPr lang="en-US" sz="3000" dirty="0">
                <a:latin typeface="Times New Roman" panose="02020603050405020304" pitchFamily="18" charset="0"/>
                <a:cs typeface="Times New Roman" panose="02020603050405020304" pitchFamily="18" charset="0"/>
              </a:rPr>
              <a:t> vi </a:t>
            </a:r>
            <a:r>
              <a:rPr lang="en-US" sz="3000" dirty="0" err="1">
                <a:latin typeface="Times New Roman" panose="02020603050405020304" pitchFamily="18" charset="0"/>
                <a:cs typeface="Times New Roman" panose="02020603050405020304" pitchFamily="18" charset="0"/>
              </a:rPr>
              <a:t>ba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mặt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thể</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thêm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nhiều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bộ</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tiếp</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vận</a:t>
            </a:r>
            <a:r>
              <a:rPr lang="en-US" sz="3000" dirty="0">
                <a:latin typeface="Times New Roman" panose="02020603050405020304" pitchFamily="18" charset="0"/>
                <a:cs typeface="Times New Roman" panose="02020603050405020304" pitchFamily="18" charset="0"/>
              </a:rPr>
              <a:t> </a:t>
            </a:r>
            <a:r>
              <a:rPr lang="en-US" dirty="0"/>
              <a:t/>
            </a:r>
            <a:br>
              <a:rPr lang="en-US" dirty="0"/>
            </a:b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2213654" y="3545615"/>
            <a:ext cx="8258175" cy="2505075"/>
          </a:xfrm>
          <a:prstGeom prst="rect">
            <a:avLst/>
          </a:prstGeom>
        </p:spPr>
      </p:pic>
      <p:sp>
        <p:nvSpPr>
          <p:cNvPr id="5" name="Rectangle 4"/>
          <p:cNvSpPr/>
          <p:nvPr/>
        </p:nvSpPr>
        <p:spPr>
          <a:xfrm>
            <a:off x="3904343" y="5080000"/>
            <a:ext cx="1204686" cy="4354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20822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 </a:t>
            </a:r>
            <a:r>
              <a:rPr lang="en-US" dirty="0" err="1"/>
              <a:t>ba</a:t>
            </a:r>
            <a:r>
              <a:rPr lang="en-US" dirty="0"/>
              <a:t> </a:t>
            </a:r>
            <a:r>
              <a:rPr lang="en-US" dirty="0" err="1"/>
              <a:t>mặt</a:t>
            </a:r>
            <a:r>
              <a:rPr lang="en-US" dirty="0"/>
              <a:t> </a:t>
            </a:r>
            <a:r>
              <a:rPr lang="en-US" dirty="0" err="1"/>
              <a:t>đất</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000" b="1" dirty="0" smtClean="0">
                <a:latin typeface="+mj-lt"/>
              </a:rPr>
              <a:t> </a:t>
            </a:r>
            <a:r>
              <a:rPr lang="vi-VN" sz="3000" b="1" dirty="0" smtClean="0">
                <a:latin typeface="+mj-lt"/>
              </a:rPr>
              <a:t>Anten</a:t>
            </a:r>
            <a:endParaRPr lang="en-US" sz="3000" dirty="0">
              <a:latin typeface="+mj-lt"/>
            </a:endParaRPr>
          </a:p>
          <a:p>
            <a:r>
              <a:rPr lang="vi-VN" sz="3000" dirty="0" smtClean="0">
                <a:latin typeface="+mj-lt"/>
              </a:rPr>
              <a:t>C</a:t>
            </a:r>
            <a:r>
              <a:rPr lang="en-US" sz="3000" dirty="0">
                <a:latin typeface="Times New Roman" panose="02020603050405020304" pitchFamily="18" charset="0"/>
                <a:cs typeface="Times New Roman" panose="02020603050405020304" pitchFamily="18" charset="0"/>
              </a:rPr>
              <a:t>ó</a:t>
            </a:r>
            <a:r>
              <a:rPr lang="vi-VN" sz="3000" dirty="0" smtClean="0">
                <a:latin typeface="+mj-lt"/>
              </a:rPr>
              <a:t> </a:t>
            </a:r>
            <a:r>
              <a:rPr lang="vi-VN" sz="3000" dirty="0">
                <a:latin typeface="+mj-lt"/>
              </a:rPr>
              <a:t>hai dạng anten vi ba thường </a:t>
            </a:r>
            <a:r>
              <a:rPr lang="vi-VN" sz="3000" dirty="0" smtClean="0">
                <a:latin typeface="+mj-lt"/>
              </a:rPr>
              <a:t>dùng:</a:t>
            </a:r>
            <a:r>
              <a:rPr lang="en-US" sz="3000" dirty="0" smtClean="0">
                <a:latin typeface="+mj-lt"/>
              </a:rPr>
              <a:t> </a:t>
            </a:r>
            <a:r>
              <a:rPr lang="vi-VN" sz="3000" dirty="0" smtClean="0">
                <a:latin typeface="+mj-lt"/>
              </a:rPr>
              <a:t>chảo </a:t>
            </a:r>
            <a:r>
              <a:rPr lang="vi-VN" sz="3000" dirty="0">
                <a:latin typeface="+mj-lt"/>
              </a:rPr>
              <a:t>parabol và anten sừng (</a:t>
            </a:r>
            <a:r>
              <a:rPr lang="vi-VN" sz="3000" dirty="0" smtClean="0">
                <a:latin typeface="+mj-lt"/>
              </a:rPr>
              <a:t>horn)</a:t>
            </a:r>
            <a:endParaRPr lang="en-US" sz="3000" dirty="0" smtClean="0">
              <a:latin typeface="+mj-lt"/>
            </a:endParaRPr>
          </a:p>
          <a:p>
            <a:pPr>
              <a:buFontTx/>
              <a:buChar char="-"/>
            </a:pPr>
            <a:r>
              <a:rPr lang="vi-VN" sz="3000" dirty="0" smtClean="0">
                <a:latin typeface="+mj-lt"/>
              </a:rPr>
              <a:t>Anten parabol</a:t>
            </a:r>
            <a:endParaRPr lang="en-US" sz="3000" dirty="0" smtClean="0">
              <a:latin typeface="+mj-lt"/>
            </a:endParaRPr>
          </a:p>
          <a:p>
            <a:pPr>
              <a:buFontTx/>
              <a:buChar char="-"/>
            </a:pPr>
            <a:endParaRPr lang="en-US" sz="3000" dirty="0">
              <a:latin typeface="+mj-lt"/>
            </a:endParaRPr>
          </a:p>
          <a:p>
            <a:pPr marL="0" indent="0">
              <a:buNone/>
            </a:pPr>
            <a:endParaRPr lang="en-US" sz="3000" dirty="0" smtClean="0">
              <a:latin typeface="+mj-lt"/>
            </a:endParaRPr>
          </a:p>
          <a:p>
            <a:pPr>
              <a:buFontTx/>
              <a:buChar char="-"/>
            </a:pPr>
            <a:r>
              <a:rPr lang="en-US" sz="3000" dirty="0" smtClean="0">
                <a:latin typeface="Times New Roman" panose="02020603050405020304" pitchFamily="18" charset="0"/>
                <a:cs typeface="Times New Roman" panose="02020603050405020304" pitchFamily="18" charset="0"/>
              </a:rPr>
              <a:t>Horn </a:t>
            </a:r>
            <a:r>
              <a:rPr lang="en-US" sz="3000" dirty="0">
                <a:latin typeface="Times New Roman" panose="02020603050405020304" pitchFamily="18" charset="0"/>
                <a:cs typeface="Times New Roman" panose="02020603050405020304" pitchFamily="18" charset="0"/>
              </a:rPr>
              <a:t>antenna </a:t>
            </a:r>
            <a:r>
              <a:rPr lang="en-US" dirty="0"/>
              <a:t/>
            </a:r>
            <a:br>
              <a:rPr lang="en-US" dirty="0"/>
            </a:br>
            <a:endParaRPr lang="en-US" dirty="0"/>
          </a:p>
        </p:txBody>
      </p:sp>
      <p:pic>
        <p:nvPicPr>
          <p:cNvPr id="4" name="Picture 3"/>
          <p:cNvPicPr>
            <a:picLocks noChangeAspect="1"/>
          </p:cNvPicPr>
          <p:nvPr/>
        </p:nvPicPr>
        <p:blipFill>
          <a:blip r:embed="rId2"/>
          <a:stretch>
            <a:fillRect/>
          </a:stretch>
        </p:blipFill>
        <p:spPr>
          <a:xfrm>
            <a:off x="4072614" y="2634709"/>
            <a:ext cx="5353050" cy="1733550"/>
          </a:xfrm>
          <a:prstGeom prst="rect">
            <a:avLst/>
          </a:prstGeom>
        </p:spPr>
      </p:pic>
      <p:pic>
        <p:nvPicPr>
          <p:cNvPr id="5" name="Picture 4"/>
          <p:cNvPicPr>
            <a:picLocks noChangeAspect="1"/>
          </p:cNvPicPr>
          <p:nvPr/>
        </p:nvPicPr>
        <p:blipFill>
          <a:blip r:embed="rId3"/>
          <a:stretch>
            <a:fillRect/>
          </a:stretch>
        </p:blipFill>
        <p:spPr>
          <a:xfrm>
            <a:off x="4545693" y="4600483"/>
            <a:ext cx="4676775" cy="1924050"/>
          </a:xfrm>
          <a:prstGeom prst="rect">
            <a:avLst/>
          </a:prstGeom>
        </p:spPr>
      </p:pic>
      <p:sp>
        <p:nvSpPr>
          <p:cNvPr id="6" name="Rectangle 5"/>
          <p:cNvSpPr/>
          <p:nvPr/>
        </p:nvSpPr>
        <p:spPr>
          <a:xfrm>
            <a:off x="5805714" y="2533111"/>
            <a:ext cx="1078366" cy="3987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093475" y="5497559"/>
            <a:ext cx="1078366" cy="39877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61870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Thông</a:t>
            </a:r>
            <a:r>
              <a:rPr lang="en-US" dirty="0" smtClean="0"/>
              <a:t> tin </a:t>
            </a:r>
            <a:r>
              <a:rPr lang="en-US" dirty="0" err="1" smtClean="0"/>
              <a:t>vệ</a:t>
            </a:r>
            <a:r>
              <a:rPr lang="en-US" dirty="0" smtClean="0"/>
              <a:t> </a:t>
            </a:r>
            <a:r>
              <a:rPr lang="en-US" dirty="0" err="1" smtClean="0"/>
              <a:t>tinh</a:t>
            </a:r>
            <a:endParaRPr lang="en-US" dirty="0"/>
          </a:p>
        </p:txBody>
      </p:sp>
      <p:sp>
        <p:nvSpPr>
          <p:cNvPr id="3" name="Content Placeholder 2"/>
          <p:cNvSpPr>
            <a:spLocks noGrp="1"/>
          </p:cNvSpPr>
          <p:nvPr>
            <p:ph idx="1"/>
          </p:nvPr>
        </p:nvSpPr>
        <p:spPr/>
        <p:txBody>
          <a:bodyPr/>
          <a:lstStyle/>
          <a:p>
            <a:r>
              <a:rPr lang="vi-VN" sz="3000" dirty="0">
                <a:latin typeface="+mj-lt"/>
              </a:rPr>
              <a:t>Do truyền thẳng nên yếu tố về độ cong bề mặt của trái đất là ít quan trọng, </a:t>
            </a:r>
            <a:r>
              <a:rPr lang="vi-VN" sz="3000" dirty="0" smtClean="0">
                <a:latin typeface="+mj-lt"/>
              </a:rPr>
              <a:t>nên</a:t>
            </a:r>
            <a:r>
              <a:rPr lang="en-US" sz="3000" dirty="0" smtClean="0">
                <a:latin typeface="+mj-lt"/>
              </a:rPr>
              <a:t> </a:t>
            </a:r>
            <a:r>
              <a:rPr lang="vi-VN" sz="3000" dirty="0" smtClean="0">
                <a:latin typeface="+mj-lt"/>
              </a:rPr>
              <a:t>dạng </a:t>
            </a:r>
            <a:r>
              <a:rPr lang="vi-VN" sz="3000" dirty="0">
                <a:latin typeface="+mj-lt"/>
              </a:rPr>
              <a:t>thông tin này thích hợp cho truyền </a:t>
            </a:r>
            <a:r>
              <a:rPr lang="vi-VN" sz="3000" dirty="0" smtClean="0">
                <a:latin typeface="+mj-lt"/>
              </a:rPr>
              <a:t>d</a:t>
            </a:r>
            <a:r>
              <a:rPr lang="en-US" sz="3000" dirty="0" err="1" smtClean="0">
                <a:latin typeface="Times New Roman" panose="02020603050405020304" pitchFamily="18" charset="0"/>
                <a:cs typeface="Times New Roman" panose="02020603050405020304" pitchFamily="18" charset="0"/>
              </a:rPr>
              <a:t>ẫn</a:t>
            </a:r>
            <a:r>
              <a:rPr lang="vi-VN" sz="3000" dirty="0" smtClean="0">
                <a:latin typeface="+mj-lt"/>
              </a:rPr>
              <a:t> </a:t>
            </a:r>
            <a:r>
              <a:rPr lang="vi-VN" sz="3000" dirty="0">
                <a:latin typeface="+mj-lt"/>
              </a:rPr>
              <a:t>liên lục địa và xuyên đại dương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279165" y="2786969"/>
            <a:ext cx="7686675" cy="3228975"/>
          </a:xfrm>
          <a:prstGeom prst="rect">
            <a:avLst/>
          </a:prstGeom>
        </p:spPr>
      </p:pic>
    </p:spTree>
    <p:extLst>
      <p:ext uri="{BB962C8B-B14F-4D97-AF65-F5344CB8AC3E}">
        <p14:creationId xmlns:p14="http://schemas.microsoft.com/office/powerpoint/2010/main" val="17539706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Thông</a:t>
            </a:r>
            <a:r>
              <a:rPr lang="en-US" dirty="0"/>
              <a:t> tin </a:t>
            </a:r>
            <a:r>
              <a:rPr lang="en-US" dirty="0" err="1"/>
              <a:t>vệ</a:t>
            </a:r>
            <a:r>
              <a:rPr lang="en-US" dirty="0"/>
              <a:t> </a:t>
            </a:r>
            <a:r>
              <a:rPr lang="en-US" dirty="0" err="1"/>
              <a:t>tinh</a:t>
            </a:r>
            <a:endParaRPr lang="en-US" dirty="0"/>
          </a:p>
        </p:txBody>
      </p:sp>
      <p:sp>
        <p:nvSpPr>
          <p:cNvPr id="3" name="Content Placeholder 2"/>
          <p:cNvSpPr>
            <a:spLocks noGrp="1"/>
          </p:cNvSpPr>
          <p:nvPr>
            <p:ph idx="1"/>
          </p:nvPr>
        </p:nvSpPr>
        <p:spPr/>
        <p:txBody>
          <a:bodyPr/>
          <a:lstStyle/>
          <a:p>
            <a:r>
              <a:rPr lang="en-US" sz="3000" b="1" dirty="0" err="1">
                <a:latin typeface="Times New Roman" panose="02020603050405020304" pitchFamily="18" charset="0"/>
                <a:cs typeface="Times New Roman" panose="02020603050405020304" pitchFamily="18" charset="0"/>
              </a:rPr>
              <a:t>Vệ</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tinh</a:t>
            </a:r>
            <a:r>
              <a:rPr lang="en-US" sz="3000" b="1" dirty="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địa</a:t>
            </a:r>
            <a:r>
              <a:rPr lang="en-US" sz="3000" b="1" dirty="0">
                <a:latin typeface="Times New Roman" panose="02020603050405020304" pitchFamily="18" charset="0"/>
                <a:cs typeface="Times New Roman" panose="02020603050405020304" pitchFamily="18" charset="0"/>
              </a:rPr>
              <a:t> </a:t>
            </a:r>
            <a:r>
              <a:rPr lang="en-US" sz="3000" b="1" dirty="0" err="1" smtClean="0">
                <a:latin typeface="Times New Roman" panose="02020603050405020304" pitchFamily="18" charset="0"/>
                <a:cs typeface="Times New Roman" panose="02020603050405020304" pitchFamily="18" charset="0"/>
              </a:rPr>
              <a:t>tĩnh</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Qũy</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đạo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địa</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tĩnh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khoảng</a:t>
            </a:r>
            <a:r>
              <a:rPr lang="en-US" sz="3000" dirty="0">
                <a:latin typeface="Times New Roman" panose="02020603050405020304" pitchFamily="18" charset="0"/>
                <a:cs typeface="Times New Roman" panose="02020603050405020304" pitchFamily="18" charset="0"/>
              </a:rPr>
              <a:t> 22.000 </a:t>
            </a:r>
            <a:r>
              <a:rPr lang="en-US" sz="3000" dirty="0" err="1">
                <a:latin typeface="Times New Roman" panose="02020603050405020304" pitchFamily="18" charset="0"/>
                <a:cs typeface="Times New Roman" panose="02020603050405020304" pitchFamily="18" charset="0"/>
              </a:rPr>
              <a:t>dặm</a:t>
            </a:r>
            <a:r>
              <a:rPr lang="en-US" sz="3000" dirty="0">
                <a:latin typeface="Times New Roman" panose="02020603050405020304" pitchFamily="18" charset="0"/>
                <a:cs typeface="Times New Roman" panose="02020603050405020304" pitchFamily="18" charset="0"/>
              </a:rPr>
              <a:t> so </a:t>
            </a:r>
            <a:r>
              <a:rPr lang="en-US" sz="3000" dirty="0" err="1">
                <a:latin typeface="Times New Roman" panose="02020603050405020304" pitchFamily="18" charset="0"/>
                <a:cs typeface="Times New Roman" panose="02020603050405020304" pitchFamily="18" charset="0"/>
              </a:rPr>
              <a:t>với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mặt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ba</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vệ</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để</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phủ</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sóng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toàn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cầu</a:t>
            </a:r>
            <a:r>
              <a:rPr lang="en-US" sz="3000" dirty="0">
                <a:latin typeface="Times New Roman" panose="02020603050405020304" pitchFamily="18" charset="0"/>
                <a:cs typeface="Times New Roman" panose="02020603050405020304" pitchFamily="18" charset="0"/>
              </a:rPr>
              <a:t>. </a:t>
            </a:r>
            <a:endParaRPr lang="en-US" sz="3000" dirty="0" smtClean="0">
              <a:latin typeface="Times New Roman" panose="02020603050405020304" pitchFamily="18" charset="0"/>
              <a:cs typeface="Times New Roman" panose="02020603050405020304" pitchFamily="18" charset="0"/>
            </a:endParaRPr>
          </a:p>
          <a:p>
            <a:r>
              <a:rPr lang="en-US" sz="3000" dirty="0" err="1">
                <a:latin typeface="Times New Roman" panose="02020603050405020304" pitchFamily="18" charset="0"/>
                <a:cs typeface="Times New Roman" panose="02020603050405020304" pitchFamily="18" charset="0"/>
              </a:rPr>
              <a:t>Dải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này</a:t>
            </a:r>
            <a:r>
              <a:rPr lang="en-US" sz="3000" dirty="0">
                <a:latin typeface="Times New Roman" panose="02020603050405020304" pitchFamily="18" charset="0"/>
                <a:cs typeface="Times New Roman" panose="02020603050405020304" pitchFamily="18" charset="0"/>
              </a:rPr>
              <a:t> ở </a:t>
            </a:r>
            <a:r>
              <a:rPr lang="en-US" sz="3000" dirty="0" err="1">
                <a:latin typeface="Times New Roman" panose="02020603050405020304" pitchFamily="18" charset="0"/>
                <a:cs typeface="Times New Roman" panose="02020603050405020304" pitchFamily="18" charset="0"/>
              </a:rPr>
              <a:t>tầm</a:t>
            </a:r>
            <a:r>
              <a:rPr lang="en-US" sz="3000" dirty="0">
                <a:latin typeface="Times New Roman" panose="02020603050405020304" pitchFamily="18" charset="0"/>
                <a:cs typeface="Times New Roman" panose="02020603050405020304" pitchFamily="18" charset="0"/>
              </a:rPr>
              <a:t> GHz, </a:t>
            </a:r>
            <a:r>
              <a:rPr lang="en-US" sz="3000" dirty="0" err="1">
                <a:latin typeface="Times New Roman" panose="02020603050405020304" pitchFamily="18" charset="0"/>
                <a:cs typeface="Times New Roman" panose="02020603050405020304" pitchFamily="18" charset="0"/>
              </a:rPr>
              <a:t>dùng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hai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tần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số</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thu-phát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khác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nhau</a:t>
            </a:r>
            <a:r>
              <a:rPr lang="en-US" sz="3000" dirty="0">
                <a:latin typeface="Times New Roman" panose="02020603050405020304" pitchFamily="18" charset="0"/>
                <a:cs typeface="Times New Roman" panose="02020603050405020304" pitchFamily="18" charset="0"/>
              </a:rPr>
              <a:t> (uplink: </a:t>
            </a:r>
            <a:r>
              <a:rPr lang="en-US" sz="3000" dirty="0" err="1">
                <a:latin typeface="Times New Roman" panose="02020603050405020304" pitchFamily="18" charset="0"/>
                <a:cs typeface="Times New Roman" panose="02020603050405020304" pitchFamily="18" charset="0"/>
              </a:rPr>
              <a:t>từ</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mặt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đất</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lên</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vệ</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tinh</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và</a:t>
            </a:r>
            <a:r>
              <a:rPr lang="en-US" sz="3000" dirty="0">
                <a:latin typeface="Times New Roman" panose="02020603050405020304" pitchFamily="18" charset="0"/>
                <a:cs typeface="Times New Roman" panose="02020603050405020304" pitchFamily="18" charset="0"/>
              </a:rPr>
              <a:t> downlink: </a:t>
            </a:r>
            <a:r>
              <a:rPr lang="en-US" sz="3000" dirty="0" err="1">
                <a:latin typeface="Times New Roman" panose="02020603050405020304" pitchFamily="18" charset="0"/>
                <a:cs typeface="Times New Roman" panose="02020603050405020304" pitchFamily="18" charset="0"/>
              </a:rPr>
              <a:t>từ</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vệ</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tinh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xuống</a:t>
            </a:r>
            <a:r>
              <a:rPr lang="en-US" sz="3000" dirty="0">
                <a:latin typeface="Times New Roman" panose="02020603050405020304" pitchFamily="18" charset="0"/>
                <a:cs typeface="Times New Roman" panose="02020603050405020304" pitchFamily="18" charset="0"/>
              </a:rPr>
              <a:t>) </a:t>
            </a:r>
            <a:r>
              <a:rPr lang="en-US" dirty="0"/>
              <a:t/>
            </a:r>
            <a:br>
              <a:rPr lang="en-US" dirty="0"/>
            </a:br>
            <a:r>
              <a:rPr lang="en-US" dirty="0"/>
              <a:t/>
            </a:r>
            <a:br>
              <a:rPr lang="en-US" dirty="0"/>
            </a:br>
            <a:r>
              <a:rPr lang="en-US" dirty="0"/>
              <a:t> </a:t>
            </a:r>
            <a:br>
              <a:rPr lang="en-US" dirty="0"/>
            </a:br>
            <a:endParaRPr lang="en-US" dirty="0"/>
          </a:p>
        </p:txBody>
      </p:sp>
      <p:pic>
        <p:nvPicPr>
          <p:cNvPr id="4" name="Picture 3"/>
          <p:cNvPicPr>
            <a:picLocks noChangeAspect="1"/>
          </p:cNvPicPr>
          <p:nvPr/>
        </p:nvPicPr>
        <p:blipFill>
          <a:blip r:embed="rId2"/>
          <a:stretch>
            <a:fillRect/>
          </a:stretch>
        </p:blipFill>
        <p:spPr>
          <a:xfrm>
            <a:off x="755653" y="3859042"/>
            <a:ext cx="3526064" cy="2527721"/>
          </a:xfrm>
          <a:prstGeom prst="rect">
            <a:avLst/>
          </a:prstGeom>
        </p:spPr>
      </p:pic>
      <p:pic>
        <p:nvPicPr>
          <p:cNvPr id="5" name="Picture 4"/>
          <p:cNvPicPr>
            <a:picLocks noChangeAspect="1"/>
          </p:cNvPicPr>
          <p:nvPr/>
        </p:nvPicPr>
        <p:blipFill>
          <a:blip r:embed="rId3"/>
          <a:stretch>
            <a:fillRect/>
          </a:stretch>
        </p:blipFill>
        <p:spPr>
          <a:xfrm>
            <a:off x="4725608" y="3802743"/>
            <a:ext cx="6917878" cy="2107292"/>
          </a:xfrm>
          <a:prstGeom prst="rect">
            <a:avLst/>
          </a:prstGeom>
        </p:spPr>
      </p:pic>
    </p:spTree>
    <p:extLst>
      <p:ext uri="{BB962C8B-B14F-4D97-AF65-F5344CB8AC3E}">
        <p14:creationId xmlns:p14="http://schemas.microsoft.com/office/powerpoint/2010/main" val="17507241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Điện</a:t>
            </a:r>
            <a:r>
              <a:rPr lang="en-US" dirty="0" smtClean="0"/>
              <a:t> </a:t>
            </a:r>
            <a:r>
              <a:rPr lang="en-US" dirty="0" err="1" smtClean="0"/>
              <a:t>thoại</a:t>
            </a:r>
            <a:r>
              <a:rPr lang="en-US" dirty="0" smtClean="0"/>
              <a:t> di </a:t>
            </a:r>
            <a:r>
              <a:rPr lang="en-US" dirty="0" err="1" smtClean="0"/>
              <a:t>động</a:t>
            </a:r>
            <a:endParaRPr lang="en-US" dirty="0"/>
          </a:p>
        </p:txBody>
      </p:sp>
      <p:sp>
        <p:nvSpPr>
          <p:cNvPr id="3" name="Content Placeholder 2"/>
          <p:cNvSpPr>
            <a:spLocks noGrp="1"/>
          </p:cNvSpPr>
          <p:nvPr>
            <p:ph idx="1"/>
          </p:nvPr>
        </p:nvSpPr>
        <p:spPr/>
        <p:txBody>
          <a:bodyPr/>
          <a:lstStyle/>
          <a:p>
            <a:r>
              <a:rPr lang="en-US" sz="3000" dirty="0" err="1" smtClean="0">
                <a:latin typeface="Times New Roman" panose="02020603050405020304" pitchFamily="18" charset="0"/>
                <a:cs typeface="Times New Roman" panose="02020603050405020304" pitchFamily="18" charset="0"/>
              </a:rPr>
              <a:t>Điện</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thọai</a:t>
            </a:r>
            <a:r>
              <a:rPr lang="en-US" sz="3000" dirty="0" smtClean="0">
                <a:latin typeface="Times New Roman" panose="02020603050405020304" pitchFamily="18" charset="0"/>
                <a:cs typeface="Times New Roman" panose="02020603050405020304" pitchFamily="18" charset="0"/>
              </a:rPr>
              <a:t> di </a:t>
            </a:r>
            <a:r>
              <a:rPr lang="en-US" sz="3000" dirty="0" err="1" smtClean="0">
                <a:latin typeface="Times New Roman" panose="02020603050405020304" pitchFamily="18" charset="0"/>
                <a:cs typeface="Times New Roman" panose="02020603050405020304" pitchFamily="18" charset="0"/>
              </a:rPr>
              <a:t>động</a:t>
            </a:r>
            <a:r>
              <a:rPr lang="en-US" sz="3000" dirty="0" smtClean="0">
                <a:latin typeface="Times New Roman" panose="02020603050405020304" pitchFamily="18" charset="0"/>
                <a:cs typeface="Times New Roman" panose="02020603050405020304" pitchFamily="18" charset="0"/>
              </a:rPr>
              <a:t> (cellular </a:t>
            </a:r>
            <a:r>
              <a:rPr lang="en-US" sz="3000" dirty="0">
                <a:latin typeface="Times New Roman" panose="02020603050405020304" pitchFamily="18" charset="0"/>
                <a:cs typeface="Times New Roman" panose="02020603050405020304" pitchFamily="18" charset="0"/>
              </a:rPr>
              <a:t>telephony</a:t>
            </a:r>
            <a:r>
              <a:rPr lang="en-US" sz="3000" dirty="0" smtClean="0">
                <a:latin typeface="Times New Roman" panose="02020603050405020304" pitchFamily="18" charset="0"/>
                <a:cs typeface="Times New Roman" panose="02020603050405020304" pitchFamily="18" charset="0"/>
              </a:rPr>
              <a:t>)</a:t>
            </a:r>
          </a:p>
          <a:p>
            <a:r>
              <a:rPr lang="en-US" sz="3000" dirty="0" err="1">
                <a:latin typeface="Times New Roman" panose="02020603050405020304" pitchFamily="18" charset="0"/>
                <a:cs typeface="Times New Roman" panose="02020603050405020304" pitchFamily="18" charset="0"/>
              </a:rPr>
              <a:t>Dải</a:t>
            </a:r>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song (</a:t>
            </a:r>
            <a:r>
              <a:rPr lang="en-US" sz="3000" dirty="0" err="1" smtClean="0">
                <a:latin typeface="Times New Roman" panose="02020603050405020304" pitchFamily="18" charset="0"/>
                <a:cs typeface="Times New Roman" panose="02020603050405020304" pitchFamily="18" charset="0"/>
              </a:rPr>
              <a:t>băng</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tần</a:t>
            </a:r>
            <a:r>
              <a:rPr lang="en-US" sz="3000" dirty="0" smtClean="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endParaRPr lang="en-US" sz="3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5447135" y="2161617"/>
            <a:ext cx="6410887" cy="4255085"/>
          </a:xfrm>
          <a:prstGeom prst="rect">
            <a:avLst/>
          </a:prstGeom>
        </p:spPr>
      </p:pic>
      <p:pic>
        <p:nvPicPr>
          <p:cNvPr id="5" name="Picture 4"/>
          <p:cNvPicPr>
            <a:picLocks noChangeAspect="1"/>
          </p:cNvPicPr>
          <p:nvPr/>
        </p:nvPicPr>
        <p:blipFill>
          <a:blip r:embed="rId3"/>
          <a:stretch>
            <a:fillRect/>
          </a:stretch>
        </p:blipFill>
        <p:spPr>
          <a:xfrm>
            <a:off x="777413" y="4753409"/>
            <a:ext cx="7655387" cy="848915"/>
          </a:xfrm>
          <a:prstGeom prst="rect">
            <a:avLst/>
          </a:prstGeom>
        </p:spPr>
      </p:pic>
      <p:sp>
        <p:nvSpPr>
          <p:cNvPr id="6" name="Rectangle 5"/>
          <p:cNvSpPr/>
          <p:nvPr/>
        </p:nvSpPr>
        <p:spPr>
          <a:xfrm>
            <a:off x="3875314" y="4753409"/>
            <a:ext cx="957943" cy="4572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6008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a:t>
            </a:r>
            <a:r>
              <a:rPr lang="en-US" dirty="0" err="1"/>
              <a:t>sánh</a:t>
            </a:r>
            <a:r>
              <a:rPr lang="en-US" dirty="0"/>
              <a:t> </a:t>
            </a:r>
            <a:r>
              <a:rPr lang="en-US" dirty="0" err="1"/>
              <a:t>các</a:t>
            </a:r>
            <a:r>
              <a:rPr lang="en-US" dirty="0"/>
              <a:t> </a:t>
            </a:r>
            <a:r>
              <a:rPr lang="en-US" dirty="0" err="1"/>
              <a:t>môi</a:t>
            </a:r>
            <a:r>
              <a:rPr lang="en-US" dirty="0"/>
              <a:t> </a:t>
            </a:r>
            <a:r>
              <a:rPr lang="en-US" dirty="0" err="1"/>
              <a:t>trường</a:t>
            </a:r>
            <a:r>
              <a:rPr lang="en-US" dirty="0"/>
              <a:t> </a:t>
            </a:r>
            <a:r>
              <a:rPr lang="en-US" dirty="0" err="1"/>
              <a:t>truyền</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1312721" y="1411800"/>
            <a:ext cx="9224649" cy="5112372"/>
          </a:xfrm>
          <a:prstGeom prst="rect">
            <a:avLst/>
          </a:prstGeom>
        </p:spPr>
      </p:pic>
    </p:spTree>
    <p:extLst>
      <p:ext uri="{BB962C8B-B14F-4D97-AF65-F5344CB8AC3E}">
        <p14:creationId xmlns:p14="http://schemas.microsoft.com/office/powerpoint/2010/main" val="528749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6.3 </a:t>
            </a:r>
            <a:r>
              <a:rPr lang="en-US" dirty="0" err="1" smtClean="0"/>
              <a:t>Tổn</a:t>
            </a:r>
            <a:r>
              <a:rPr lang="en-US" dirty="0" smtClean="0"/>
              <a:t> </a:t>
            </a:r>
            <a:r>
              <a:rPr lang="en-US" dirty="0" err="1" smtClean="0"/>
              <a:t>hao</a:t>
            </a:r>
            <a:r>
              <a:rPr lang="en-US" dirty="0" smtClean="0"/>
              <a:t> </a:t>
            </a:r>
            <a:r>
              <a:rPr lang="en-US" dirty="0" err="1" smtClean="0"/>
              <a:t>đường</a:t>
            </a:r>
            <a:r>
              <a:rPr lang="en-US" dirty="0" smtClean="0"/>
              <a:t> </a:t>
            </a:r>
            <a:r>
              <a:rPr lang="en-US" dirty="0" err="1" smtClean="0"/>
              <a:t>truyền</a:t>
            </a:r>
            <a:endParaRPr lang="en-US" dirty="0"/>
          </a:p>
        </p:txBody>
      </p:sp>
      <p:sp>
        <p:nvSpPr>
          <p:cNvPr id="3" name="Content Placeholder 2"/>
          <p:cNvSpPr>
            <a:spLocks noGrp="1"/>
          </p:cNvSpPr>
          <p:nvPr>
            <p:ph idx="1"/>
          </p:nvPr>
        </p:nvSpPr>
        <p:spPr/>
        <p:txBody>
          <a:bodyPr/>
          <a:lstStyle/>
          <a:p>
            <a:r>
              <a:rPr lang="en-US" sz="3000" dirty="0" err="1">
                <a:latin typeface="Times New Roman" panose="02020603050405020304" pitchFamily="18" charset="0"/>
                <a:cs typeface="Times New Roman" panose="02020603050405020304" pitchFamily="18" charset="0"/>
              </a:rPr>
              <a:t>Có</a:t>
            </a:r>
            <a:r>
              <a:rPr lang="en-US" sz="3000" dirty="0">
                <a:latin typeface="Times New Roman" panose="02020603050405020304" pitchFamily="18" charset="0"/>
                <a:cs typeface="Times New Roman" panose="02020603050405020304" pitchFamily="18" charset="0"/>
              </a:rPr>
              <a:t> 3 </a:t>
            </a:r>
            <a:r>
              <a:rPr lang="en-US" sz="3000" dirty="0" err="1">
                <a:latin typeface="Times New Roman" panose="02020603050405020304" pitchFamily="18" charset="0"/>
                <a:cs typeface="Times New Roman" panose="02020603050405020304" pitchFamily="18" charset="0"/>
              </a:rPr>
              <a:t>dạng</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tổn</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hao</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đường</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truyền</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a:t>
            </a:r>
            <a:r>
              <a:rPr lang="en-US" sz="3000" dirty="0" err="1" smtClean="0">
                <a:latin typeface="Times New Roman" panose="02020603050405020304" pitchFamily="18" charset="0"/>
                <a:cs typeface="Times New Roman" panose="02020603050405020304" pitchFamily="18" charset="0"/>
              </a:rPr>
              <a:t>ransmisssion</a:t>
            </a:r>
            <a:r>
              <a:rPr lang="en-US" sz="3000" dirty="0" smtClean="0">
                <a:latin typeface="Times New Roman" panose="02020603050405020304" pitchFamily="18" charset="0"/>
                <a:cs typeface="Times New Roman" panose="02020603050405020304" pitchFamily="18" charset="0"/>
              </a:rPr>
              <a:t> Impairment): </a:t>
            </a:r>
            <a:r>
              <a:rPr lang="en-US" sz="3000" dirty="0" err="1">
                <a:latin typeface="Times New Roman" panose="02020603050405020304" pitchFamily="18" charset="0"/>
                <a:cs typeface="Times New Roman" panose="02020603050405020304" pitchFamily="18" charset="0"/>
              </a:rPr>
              <a:t>suy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giảm</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méo</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dạng</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nhiễu</a:t>
            </a:r>
            <a:r>
              <a:rPr lang="en-US" sz="3000" dirty="0" smtClean="0">
                <a:latin typeface="Times New Roman" panose="02020603050405020304" pitchFamily="18" charset="0"/>
                <a:cs typeface="Times New Roman" panose="02020603050405020304" pitchFamily="18" charset="0"/>
              </a:rPr>
              <a:t> </a:t>
            </a:r>
            <a:r>
              <a:rPr lang="en-US" dirty="0"/>
              <a:t/>
            </a:r>
            <a:br>
              <a:rPr lang="en-US" dirty="0"/>
            </a:br>
            <a:r>
              <a:rPr lang="en-US" dirty="0"/>
              <a:t/>
            </a:r>
            <a:br>
              <a:rPr lang="en-US" dirty="0"/>
            </a:br>
            <a:endParaRPr lang="en-US" dirty="0"/>
          </a:p>
        </p:txBody>
      </p:sp>
      <p:pic>
        <p:nvPicPr>
          <p:cNvPr id="6" name="Picture 5"/>
          <p:cNvPicPr>
            <a:picLocks noChangeAspect="1"/>
          </p:cNvPicPr>
          <p:nvPr/>
        </p:nvPicPr>
        <p:blipFill>
          <a:blip r:embed="rId2"/>
          <a:stretch>
            <a:fillRect/>
          </a:stretch>
        </p:blipFill>
        <p:spPr>
          <a:xfrm>
            <a:off x="1397226" y="2404041"/>
            <a:ext cx="8922431" cy="2541701"/>
          </a:xfrm>
          <a:prstGeom prst="rect">
            <a:avLst/>
          </a:prstGeom>
        </p:spPr>
      </p:pic>
    </p:spTree>
    <p:extLst>
      <p:ext uri="{BB962C8B-B14F-4D97-AF65-F5344CB8AC3E}">
        <p14:creationId xmlns:p14="http://schemas.microsoft.com/office/powerpoint/2010/main" val="329128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t>Suy</a:t>
            </a:r>
            <a:r>
              <a:rPr lang="en-US" b="1" dirty="0"/>
              <a:t> </a:t>
            </a:r>
            <a:r>
              <a:rPr lang="en-US" b="1" dirty="0" err="1"/>
              <a:t>giảm</a:t>
            </a:r>
            <a:r>
              <a:rPr lang="en-US" b="1" dirty="0"/>
              <a:t> </a:t>
            </a:r>
            <a:r>
              <a:rPr lang="en-US" dirty="0"/>
              <a:t>(</a:t>
            </a:r>
            <a:r>
              <a:rPr lang="en-US" b="1" dirty="0"/>
              <a:t>Attenuation)</a:t>
            </a:r>
            <a:r>
              <a:rPr lang="en-US" dirty="0"/>
              <a:t> </a:t>
            </a:r>
          </a:p>
        </p:txBody>
      </p:sp>
      <p:sp>
        <p:nvSpPr>
          <p:cNvPr id="3" name="Content Placeholder 2"/>
          <p:cNvSpPr>
            <a:spLocks noGrp="1"/>
          </p:cNvSpPr>
          <p:nvPr>
            <p:ph idx="1"/>
          </p:nvPr>
        </p:nvSpPr>
        <p:spPr/>
        <p:txBody>
          <a:bodyPr>
            <a:noAutofit/>
          </a:bodyPr>
          <a:lstStyle/>
          <a:p>
            <a:r>
              <a:rPr lang="vi-VN" sz="3000" dirty="0">
                <a:latin typeface="+mj-lt"/>
              </a:rPr>
              <a:t>Suy giảm (Attenuation): Là thất thoát năng </a:t>
            </a:r>
            <a:r>
              <a:rPr lang="vi-VN" sz="3000" dirty="0" smtClean="0">
                <a:latin typeface="+mj-lt"/>
              </a:rPr>
              <a:t>lượng</a:t>
            </a:r>
            <a:endParaRPr lang="en-US" sz="3000" dirty="0">
              <a:latin typeface="+mj-lt"/>
            </a:endParaRPr>
          </a:p>
          <a:p>
            <a:pPr marL="0" indent="0">
              <a:buNone/>
            </a:pPr>
            <a:r>
              <a:rPr lang="vi-VN" sz="3000" dirty="0" smtClean="0">
                <a:latin typeface="+mj-lt"/>
              </a:rPr>
              <a:t>- </a:t>
            </a:r>
            <a:r>
              <a:rPr lang="vi-VN" sz="3000" dirty="0">
                <a:latin typeface="+mj-lt"/>
              </a:rPr>
              <a:t>Để bù suy hao, dùng bộ khuếch đại tín hiệu</a:t>
            </a:r>
            <a:r>
              <a:rPr lang="vi-VN" sz="3000" dirty="0" smtClean="0">
                <a:latin typeface="+mj-lt"/>
              </a:rPr>
              <a:t>.</a:t>
            </a:r>
            <a:endParaRPr lang="en-US" sz="3000" dirty="0" smtClean="0">
              <a:latin typeface="+mj-lt"/>
            </a:endParaRPr>
          </a:p>
          <a:p>
            <a:endParaRPr lang="en-US" sz="3000" dirty="0">
              <a:latin typeface="+mj-lt"/>
            </a:endParaRPr>
          </a:p>
          <a:p>
            <a:endParaRPr lang="en-US" sz="3000" dirty="0" smtClean="0">
              <a:latin typeface="+mj-lt"/>
            </a:endParaRPr>
          </a:p>
          <a:p>
            <a:endParaRPr lang="en-US" sz="3000" dirty="0">
              <a:latin typeface="+mj-lt"/>
            </a:endParaRPr>
          </a:p>
          <a:p>
            <a:pPr marL="0" indent="0">
              <a:buNone/>
            </a:pPr>
            <a:endParaRPr lang="en-US" sz="3000" dirty="0">
              <a:latin typeface="+mj-lt"/>
            </a:endParaRPr>
          </a:p>
          <a:p>
            <a:r>
              <a:rPr lang="vi-VN" sz="3000" dirty="0" smtClean="0">
                <a:latin typeface="+mj-lt"/>
              </a:rPr>
              <a:t>deciBel </a:t>
            </a:r>
            <a:r>
              <a:rPr lang="vi-VN" sz="3000" dirty="0">
                <a:latin typeface="+mj-lt"/>
              </a:rPr>
              <a:t>(dB): được dùng để đo độ mạnh tương đối của hai tín hiệu </a:t>
            </a:r>
            <a:r>
              <a:rPr lang="vi-VN" sz="3000" dirty="0" smtClean="0">
                <a:latin typeface="+mj-lt"/>
              </a:rPr>
              <a:t>tại</a:t>
            </a:r>
            <a:r>
              <a:rPr lang="en-US" sz="3000" dirty="0" smtClean="0">
                <a:latin typeface="+mj-lt"/>
              </a:rPr>
              <a:t> </a:t>
            </a:r>
            <a:r>
              <a:rPr lang="vi-VN" sz="3000" dirty="0" smtClean="0">
                <a:latin typeface="+mj-lt"/>
              </a:rPr>
              <a:t>hai điểm</a:t>
            </a:r>
            <a:r>
              <a:rPr lang="en-US" sz="3000" dirty="0" smtClean="0">
                <a:latin typeface="+mj-lt"/>
              </a:rPr>
              <a:t> </a:t>
            </a:r>
            <a:r>
              <a:rPr lang="vi-VN" sz="3000" dirty="0" smtClean="0">
                <a:latin typeface="+mj-lt"/>
              </a:rPr>
              <a:t>khác </a:t>
            </a:r>
            <a:r>
              <a:rPr lang="vi-VN" sz="3000" dirty="0">
                <a:latin typeface="+mj-lt"/>
              </a:rPr>
              <a:t>nhau.</a:t>
            </a:r>
            <a:br>
              <a:rPr lang="vi-VN" sz="3000" dirty="0">
                <a:latin typeface="+mj-lt"/>
              </a:rPr>
            </a:br>
            <a:r>
              <a:rPr lang="en-US" sz="3000" dirty="0">
                <a:latin typeface="+mj-lt"/>
              </a:rPr>
              <a:t> </a:t>
            </a:r>
            <a:r>
              <a:rPr lang="en-US" sz="3000" dirty="0" smtClean="0">
                <a:latin typeface="+mj-lt"/>
              </a:rPr>
              <a:t>    </a:t>
            </a:r>
            <a:r>
              <a:rPr lang="en-US" sz="2400" dirty="0" smtClean="0">
                <a:latin typeface="+mj-lt"/>
              </a:rPr>
              <a:t>- </a:t>
            </a:r>
            <a:r>
              <a:rPr lang="vi-VN" sz="2400" dirty="0" smtClean="0">
                <a:latin typeface="+mj-lt"/>
              </a:rPr>
              <a:t>Khi </a:t>
            </a:r>
            <a:r>
              <a:rPr lang="vi-VN" sz="2400" dirty="0">
                <a:latin typeface="+mj-lt"/>
              </a:rPr>
              <a:t>dB âm </a:t>
            </a:r>
            <a:r>
              <a:rPr lang="en-US" sz="2400" dirty="0" smtClean="0">
                <a:latin typeface="+mj-lt"/>
              </a:rPr>
              <a:t>-&gt;</a:t>
            </a:r>
            <a:r>
              <a:rPr lang="vi-VN" sz="2400" dirty="0" smtClean="0">
                <a:latin typeface="+mj-lt"/>
              </a:rPr>
              <a:t> </a:t>
            </a:r>
            <a:r>
              <a:rPr lang="vi-VN" sz="2400" dirty="0">
                <a:latin typeface="+mj-lt"/>
              </a:rPr>
              <a:t>tín hiệu bị suy giảm</a:t>
            </a:r>
            <a:br>
              <a:rPr lang="vi-VN" sz="2400" dirty="0">
                <a:latin typeface="+mj-lt"/>
              </a:rPr>
            </a:br>
            <a:r>
              <a:rPr lang="en-US" sz="2400" dirty="0" smtClean="0">
                <a:latin typeface="+mj-lt"/>
              </a:rPr>
              <a:t>      - </a:t>
            </a:r>
            <a:r>
              <a:rPr lang="vi-VN" sz="2400" dirty="0" smtClean="0">
                <a:latin typeface="+mj-lt"/>
              </a:rPr>
              <a:t>Khi </a:t>
            </a:r>
            <a:r>
              <a:rPr lang="vi-VN" sz="2400" dirty="0">
                <a:latin typeface="+mj-lt"/>
              </a:rPr>
              <a:t>dB dương </a:t>
            </a:r>
            <a:r>
              <a:rPr lang="en-US" sz="2400" dirty="0" smtClean="0">
                <a:latin typeface="+mj-lt"/>
              </a:rPr>
              <a:t>-&gt;</a:t>
            </a:r>
            <a:r>
              <a:rPr lang="vi-VN" sz="2400" dirty="0" smtClean="0">
                <a:latin typeface="+mj-lt"/>
              </a:rPr>
              <a:t> </a:t>
            </a:r>
            <a:r>
              <a:rPr lang="vi-VN" sz="2400" dirty="0">
                <a:latin typeface="+mj-lt"/>
              </a:rPr>
              <a:t>tín hiệu được khuếch </a:t>
            </a:r>
            <a:r>
              <a:rPr lang="vi-VN" sz="2400" dirty="0" smtClean="0">
                <a:latin typeface="+mj-lt"/>
              </a:rPr>
              <a:t>đại </a:t>
            </a:r>
            <a:r>
              <a:rPr lang="vi-VN" sz="3000" dirty="0">
                <a:latin typeface="+mj-lt"/>
              </a:rPr>
              <a:t/>
            </a:r>
            <a:br>
              <a:rPr lang="vi-VN" sz="3000" dirty="0">
                <a:latin typeface="+mj-lt"/>
              </a:rPr>
            </a:br>
            <a:endParaRPr lang="en-US" sz="3000" dirty="0">
              <a:latin typeface="+mj-lt"/>
            </a:endParaRPr>
          </a:p>
        </p:txBody>
      </p:sp>
      <p:pic>
        <p:nvPicPr>
          <p:cNvPr id="4" name="Picture 3"/>
          <p:cNvPicPr>
            <a:picLocks noChangeAspect="1"/>
          </p:cNvPicPr>
          <p:nvPr/>
        </p:nvPicPr>
        <p:blipFill>
          <a:blip r:embed="rId2"/>
          <a:stretch>
            <a:fillRect/>
          </a:stretch>
        </p:blipFill>
        <p:spPr>
          <a:xfrm>
            <a:off x="2043484" y="2522318"/>
            <a:ext cx="7238804" cy="2149514"/>
          </a:xfrm>
          <a:prstGeom prst="rect">
            <a:avLst/>
          </a:prstGeom>
        </p:spPr>
      </p:pic>
    </p:spTree>
    <p:extLst>
      <p:ext uri="{BB962C8B-B14F-4D97-AF65-F5344CB8AC3E}">
        <p14:creationId xmlns:p14="http://schemas.microsoft.com/office/powerpoint/2010/main" val="4119347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Suy</a:t>
            </a:r>
            <a:r>
              <a:rPr lang="en-US" b="1" dirty="0"/>
              <a:t> </a:t>
            </a:r>
            <a:r>
              <a:rPr lang="en-US" b="1" dirty="0" err="1"/>
              <a:t>giảm</a:t>
            </a:r>
            <a:r>
              <a:rPr lang="en-US" b="1" dirty="0"/>
              <a:t> </a:t>
            </a:r>
            <a:r>
              <a:rPr lang="en-US" dirty="0"/>
              <a:t>(</a:t>
            </a:r>
            <a:r>
              <a:rPr lang="en-US" b="1" dirty="0"/>
              <a:t>Attenuation)</a:t>
            </a:r>
            <a:r>
              <a:rPr lang="en-US" dirty="0"/>
              <a:t> </a:t>
            </a:r>
          </a:p>
        </p:txBody>
      </p:sp>
      <p:sp>
        <p:nvSpPr>
          <p:cNvPr id="3" name="Content Placeholder 2"/>
          <p:cNvSpPr>
            <a:spLocks noGrp="1"/>
          </p:cNvSpPr>
          <p:nvPr>
            <p:ph idx="1"/>
          </p:nvPr>
        </p:nvSpPr>
        <p:spPr/>
        <p:txBody>
          <a:bodyPr>
            <a:normAutofit/>
          </a:bodyPr>
          <a:lstStyle/>
          <a:p>
            <a:pPr marL="0" indent="0">
              <a:buNone/>
            </a:pPr>
            <a:endParaRPr lang="en-US" sz="3000" b="1" dirty="0" smtClean="0">
              <a:latin typeface="Times New Roman" panose="02020603050405020304" pitchFamily="18" charset="0"/>
              <a:cs typeface="Times New Roman" panose="02020603050405020304" pitchFamily="18" charset="0"/>
            </a:endParaRPr>
          </a:p>
          <a:p>
            <a:pPr>
              <a:lnSpc>
                <a:spcPct val="100000"/>
              </a:lnSpc>
            </a:pPr>
            <a:r>
              <a:rPr lang="en-US" sz="3000" dirty="0" err="1" smtClean="0">
                <a:latin typeface="Times New Roman" panose="02020603050405020304" pitchFamily="18" charset="0"/>
                <a:cs typeface="Times New Roman" panose="02020603050405020304" pitchFamily="18" charset="0"/>
              </a:rPr>
              <a:t>Độ</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suy</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giảm</a:t>
            </a:r>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                                     - P</a:t>
            </a:r>
            <a:r>
              <a:rPr lang="en-US" sz="3000" baseline="-25000" dirty="0" smtClean="0">
                <a:latin typeface="Times New Roman" panose="02020603050405020304" pitchFamily="18" charset="0"/>
                <a:cs typeface="Times New Roman" panose="02020603050405020304" pitchFamily="18" charset="0"/>
              </a:rPr>
              <a:t>1</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công</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suất</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phát</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điểm</a:t>
            </a:r>
            <a:r>
              <a:rPr lang="en-US" sz="3000" dirty="0" smtClean="0">
                <a:latin typeface="Times New Roman" panose="02020603050405020304" pitchFamily="18" charset="0"/>
                <a:cs typeface="Times New Roman" panose="02020603050405020304" pitchFamily="18" charset="0"/>
              </a:rPr>
              <a:t> 1)</a:t>
            </a:r>
          </a:p>
          <a:p>
            <a:pPr marL="0" indent="0">
              <a:lnSpc>
                <a:spcPct val="100000"/>
              </a:lnSpc>
              <a:buNone/>
            </a:pPr>
            <a:r>
              <a:rPr lang="en-US" sz="3000" dirty="0" smtClean="0">
                <a:latin typeface="Times New Roman" panose="02020603050405020304" pitchFamily="18" charset="0"/>
                <a:cs typeface="Times New Roman" panose="02020603050405020304" pitchFamily="18" charset="0"/>
              </a:rPr>
              <a:t>                                                             - P</a:t>
            </a:r>
            <a:r>
              <a:rPr lang="en-US" sz="3000" baseline="-25000" dirty="0" smtClean="0">
                <a:latin typeface="Times New Roman" panose="02020603050405020304" pitchFamily="18" charset="0"/>
                <a:cs typeface="Times New Roman" panose="02020603050405020304" pitchFamily="18" charset="0"/>
              </a:rPr>
              <a:t>2</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công</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suất</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thu</a:t>
            </a:r>
            <a:r>
              <a:rPr lang="en-US" sz="3000" dirty="0" smtClean="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điểm</a:t>
            </a:r>
            <a:r>
              <a:rPr lang="en-US" sz="3000" dirty="0" smtClean="0">
                <a:latin typeface="Times New Roman" panose="02020603050405020304" pitchFamily="18" charset="0"/>
                <a:cs typeface="Times New Roman" panose="02020603050405020304" pitchFamily="18" charset="0"/>
              </a:rPr>
              <a:t> 2) </a:t>
            </a:r>
            <a:r>
              <a:rPr lang="en-US" sz="3000" i="1" dirty="0" smtClean="0">
                <a:latin typeface="Times New Roman" panose="02020603050405020304" pitchFamily="18" charset="0"/>
                <a:cs typeface="Times New Roman" panose="02020603050405020304" pitchFamily="18" charset="0"/>
              </a:rPr>
              <a:t> </a:t>
            </a:r>
            <a:endParaRPr lang="en-US" sz="3000" dirty="0" smtClean="0">
              <a:latin typeface="Times New Roman" panose="02020603050405020304" pitchFamily="18" charset="0"/>
              <a:cs typeface="Times New Roman" panose="02020603050405020304" pitchFamily="18" charset="0"/>
            </a:endParaRPr>
          </a:p>
          <a:p>
            <a:pPr marL="0" indent="0">
              <a:lnSpc>
                <a:spcPct val="100000"/>
              </a:lnSpc>
              <a:buNone/>
            </a:pPr>
            <a:endParaRPr lang="en-US" sz="3000" b="1" dirty="0" smtClean="0">
              <a:latin typeface="Times New Roman" panose="02020603050405020304" pitchFamily="18" charset="0"/>
              <a:cs typeface="Times New Roman" panose="02020603050405020304" pitchFamily="18" charset="0"/>
            </a:endParaRPr>
          </a:p>
          <a:p>
            <a:pPr>
              <a:lnSpc>
                <a:spcPct val="100000"/>
              </a:lnSpc>
            </a:pPr>
            <a:r>
              <a:rPr lang="en-US" sz="3000" dirty="0" err="1" smtClean="0">
                <a:latin typeface="Times New Roman" panose="02020603050405020304" pitchFamily="18" charset="0"/>
                <a:cs typeface="Times New Roman" panose="02020603050405020304" pitchFamily="18" charset="0"/>
              </a:rPr>
              <a:t>Độ</a:t>
            </a:r>
            <a:r>
              <a:rPr lang="en-US" sz="3000" dirty="0" smtClean="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Khuếch</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đại</a:t>
            </a:r>
            <a:r>
              <a:rPr lang="en-US" i="1" dirty="0" smtClean="0"/>
              <a:t> </a:t>
            </a:r>
            <a:r>
              <a:rPr lang="en-US" dirty="0"/>
              <a:t/>
            </a:r>
            <a:br>
              <a:rPr lang="en-US" dirty="0"/>
            </a:br>
            <a:r>
              <a:rPr lang="en-US" dirty="0" smtClean="0"/>
              <a:t>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vào</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bộ</a:t>
            </a:r>
            <a:r>
              <a:rPr lang="en-US" dirty="0" smtClean="0">
                <a:latin typeface="Times New Roman" panose="02020603050405020304" pitchFamily="18" charset="0"/>
                <a:cs typeface="Times New Roman" panose="02020603050405020304" pitchFamily="18" charset="0"/>
              </a:rPr>
              <a:t> KĐ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1)</a:t>
            </a:r>
          </a:p>
          <a:p>
            <a:pPr marL="0" indent="0">
              <a:lnSpc>
                <a:spcPct val="100000"/>
              </a:lnSpc>
              <a:buNone/>
            </a:pPr>
            <a:r>
              <a:rPr lang="en-US" dirty="0" smtClean="0">
                <a:latin typeface="Times New Roman" panose="02020603050405020304" pitchFamily="18" charset="0"/>
                <a:cs typeface="Times New Roman" panose="02020603050405020304" pitchFamily="18" charset="0"/>
              </a:rPr>
              <a:t>                                                                - </a:t>
            </a:r>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suất</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ra</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bộ</a:t>
            </a:r>
            <a:r>
              <a:rPr lang="en-US" dirty="0" smtClean="0">
                <a:latin typeface="Times New Roman" panose="02020603050405020304" pitchFamily="18" charset="0"/>
                <a:cs typeface="Times New Roman" panose="02020603050405020304" pitchFamily="18" charset="0"/>
              </a:rPr>
              <a:t> KĐ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2) </a:t>
            </a:r>
            <a:r>
              <a:rPr lang="en-US" i="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graphicFrame>
        <p:nvGraphicFramePr>
          <p:cNvPr id="4" name="Object 1"/>
          <p:cNvGraphicFramePr>
            <a:graphicFrameLocks noChangeAspect="1"/>
          </p:cNvGraphicFramePr>
          <p:nvPr>
            <p:extLst>
              <p:ext uri="{D42A27DB-BD31-4B8C-83A1-F6EECF244321}">
                <p14:modId xmlns:p14="http://schemas.microsoft.com/office/powerpoint/2010/main" val="2032985817"/>
              </p:ext>
            </p:extLst>
          </p:nvPr>
        </p:nvGraphicFramePr>
        <p:xfrm>
          <a:off x="2923949" y="1756226"/>
          <a:ext cx="2962596" cy="1145042"/>
        </p:xfrm>
        <a:graphic>
          <a:graphicData uri="http://schemas.openxmlformats.org/presentationml/2006/ole">
            <mc:AlternateContent xmlns:mc="http://schemas.openxmlformats.org/markup-compatibility/2006">
              <mc:Choice xmlns:v="urn:schemas-microsoft-com:vml" Requires="v">
                <p:oleObj spid="_x0000_s1093" name="Equation" r:id="rId3" imgW="1168200" imgH="444240" progId="Equation.DSMT4">
                  <p:embed/>
                </p:oleObj>
              </mc:Choice>
              <mc:Fallback>
                <p:oleObj name="Equation" r:id="rId3" imgW="1168200" imgH="444240" progId="Equation.DSMT4">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3949" y="1756226"/>
                        <a:ext cx="2962596" cy="1145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
          <p:cNvGraphicFramePr>
            <a:graphicFrameLocks noChangeAspect="1"/>
          </p:cNvGraphicFramePr>
          <p:nvPr>
            <p:extLst>
              <p:ext uri="{D42A27DB-BD31-4B8C-83A1-F6EECF244321}">
                <p14:modId xmlns:p14="http://schemas.microsoft.com/office/powerpoint/2010/main" val="4212742358"/>
              </p:ext>
            </p:extLst>
          </p:nvPr>
        </p:nvGraphicFramePr>
        <p:xfrm>
          <a:off x="3254411" y="3468822"/>
          <a:ext cx="2962596" cy="1145042"/>
        </p:xfrm>
        <a:graphic>
          <a:graphicData uri="http://schemas.openxmlformats.org/presentationml/2006/ole">
            <mc:AlternateContent xmlns:mc="http://schemas.openxmlformats.org/markup-compatibility/2006">
              <mc:Choice xmlns:v="urn:schemas-microsoft-com:vml" Requires="v">
                <p:oleObj spid="_x0000_s1094" name="Equation" r:id="rId5" imgW="1168200" imgH="444240" progId="Equation.DSMT4">
                  <p:embed/>
                </p:oleObj>
              </mc:Choice>
              <mc:Fallback>
                <p:oleObj name="Equation" r:id="rId5" imgW="1168200" imgH="444240" progId="Equation.DSMT4">
                  <p:embed/>
                  <p:pic>
                    <p:nvPicPr>
                      <p:cNvPr id="0" name="Picture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54411" y="3468822"/>
                        <a:ext cx="2962596" cy="11450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974466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t>Méo</a:t>
            </a:r>
            <a:r>
              <a:rPr lang="en-US" b="1" dirty="0"/>
              <a:t> </a:t>
            </a:r>
            <a:r>
              <a:rPr lang="en-US" b="1" dirty="0" err="1"/>
              <a:t>dạng</a:t>
            </a:r>
            <a:r>
              <a:rPr lang="en-US" b="1" dirty="0"/>
              <a:t> </a:t>
            </a:r>
            <a:r>
              <a:rPr lang="en-US" dirty="0"/>
              <a:t>(</a:t>
            </a:r>
            <a:r>
              <a:rPr lang="en-US" dirty="0" err="1"/>
              <a:t>Distorsion</a:t>
            </a:r>
            <a:r>
              <a:rPr lang="en-US" dirty="0"/>
              <a:t>) </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000" b="1" dirty="0" smtClean="0">
                <a:latin typeface="Times New Roman" panose="02020603050405020304" pitchFamily="18" charset="0"/>
                <a:cs typeface="Times New Roman" panose="02020603050405020304" pitchFamily="18" charset="0"/>
              </a:rPr>
              <a:t> </a:t>
            </a:r>
            <a:r>
              <a:rPr lang="en-US" sz="3000" b="1" dirty="0" err="1" smtClean="0">
                <a:latin typeface="Times New Roman" panose="02020603050405020304" pitchFamily="18" charset="0"/>
                <a:cs typeface="Times New Roman" panose="02020603050405020304" pitchFamily="18" charset="0"/>
              </a:rPr>
              <a:t>Méo</a:t>
            </a:r>
            <a:r>
              <a:rPr lang="en-US" sz="3000" b="1" dirty="0" smtClean="0">
                <a:latin typeface="Times New Roman" panose="02020603050405020304" pitchFamily="18" charset="0"/>
                <a:cs typeface="Times New Roman" panose="02020603050405020304" pitchFamily="18" charset="0"/>
              </a:rPr>
              <a:t> </a:t>
            </a:r>
            <a:r>
              <a:rPr lang="en-US" sz="3000" b="1" dirty="0" err="1">
                <a:latin typeface="Times New Roman" panose="02020603050405020304" pitchFamily="18" charset="0"/>
                <a:cs typeface="Times New Roman" panose="02020603050405020304" pitchFamily="18" charset="0"/>
              </a:rPr>
              <a:t>dạng</a:t>
            </a:r>
            <a:r>
              <a:rPr lang="en-US" sz="3000" b="1" dirty="0">
                <a:latin typeface="Times New Roman" panose="02020603050405020304" pitchFamily="18" charset="0"/>
                <a:cs typeface="Times New Roman" panose="02020603050405020304" pitchFamily="18" charset="0"/>
              </a:rPr>
              <a:t> </a:t>
            </a:r>
            <a:r>
              <a:rPr lang="en-US" sz="3000" dirty="0">
                <a:latin typeface="Times New Roman" panose="02020603050405020304" pitchFamily="18" charset="0"/>
                <a:cs typeface="Times New Roman" panose="02020603050405020304" pitchFamily="18" charset="0"/>
              </a:rPr>
              <a:t>(</a:t>
            </a:r>
            <a:r>
              <a:rPr lang="en-US" sz="3000" dirty="0" err="1">
                <a:latin typeface="Times New Roman" panose="02020603050405020304" pitchFamily="18" charset="0"/>
                <a:cs typeface="Times New Roman" panose="02020603050405020304" pitchFamily="18" charset="0"/>
              </a:rPr>
              <a:t>Distorsion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Là</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tín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hiệu</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bị</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thay</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đổi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hình</a:t>
            </a:r>
            <a:r>
              <a:rPr lang="en-US" sz="3000" dirty="0">
                <a:latin typeface="Times New Roman" panose="02020603050405020304" pitchFamily="18" charset="0"/>
                <a:cs typeface="Times New Roman" panose="02020603050405020304" pitchFamily="18" charset="0"/>
              </a:rPr>
              <a:t> </a:t>
            </a:r>
            <a:r>
              <a:rPr lang="en-US" sz="3000" dirty="0" err="1" smtClean="0">
                <a:latin typeface="Times New Roman" panose="02020603050405020304" pitchFamily="18" charset="0"/>
                <a:cs typeface="Times New Roman" panose="02020603050405020304" pitchFamily="18" charset="0"/>
              </a:rPr>
              <a:t>dạng</a:t>
            </a:r>
            <a:endParaRPr lang="en-US" sz="3000" dirty="0" smtClean="0">
              <a:latin typeface="Times New Roman" panose="02020603050405020304" pitchFamily="18" charset="0"/>
              <a:cs typeface="Times New Roman" panose="02020603050405020304" pitchFamily="18" charset="0"/>
            </a:endParaRPr>
          </a:p>
          <a:p>
            <a:r>
              <a:rPr lang="vi-VN" sz="3000" dirty="0" smtClean="0">
                <a:latin typeface="Times New Roman" panose="02020603050405020304" pitchFamily="18" charset="0"/>
                <a:cs typeface="Times New Roman" panose="02020603050405020304" pitchFamily="18" charset="0"/>
              </a:rPr>
              <a:t>Tín </a:t>
            </a:r>
            <a:r>
              <a:rPr lang="vi-VN" sz="3000" dirty="0">
                <a:latin typeface="Times New Roman" panose="02020603050405020304" pitchFamily="18" charset="0"/>
                <a:cs typeface="Times New Roman" panose="02020603050405020304" pitchFamily="18" charset="0"/>
              </a:rPr>
              <a:t>hiệu hỗn hợp, tạo nên từ nhiều nhiều tín hiệu tần số khác </a:t>
            </a:r>
            <a:r>
              <a:rPr lang="vi-VN" sz="3000" dirty="0" smtClean="0">
                <a:latin typeface="Times New Roman" panose="02020603050405020304" pitchFamily="18" charset="0"/>
                <a:cs typeface="Times New Roman" panose="02020603050405020304" pitchFamily="18" charset="0"/>
              </a:rPr>
              <a:t>nhau</a:t>
            </a:r>
            <a:endParaRPr lang="en-US" sz="3000" dirty="0">
              <a:latin typeface="Times New Roman" panose="02020603050405020304" pitchFamily="18" charset="0"/>
              <a:cs typeface="Times New Roman" panose="02020603050405020304" pitchFamily="18" charset="0"/>
            </a:endParaRPr>
          </a:p>
          <a:p>
            <a:r>
              <a:rPr lang="vi-VN" sz="3000" dirty="0" smtClean="0">
                <a:latin typeface="Times New Roman" panose="02020603050405020304" pitchFamily="18" charset="0"/>
                <a:cs typeface="Times New Roman" panose="02020603050405020304" pitchFamily="18" charset="0"/>
              </a:rPr>
              <a:t>Mỗi </a:t>
            </a:r>
            <a:r>
              <a:rPr lang="vi-VN" sz="3000" dirty="0">
                <a:latin typeface="Times New Roman" panose="02020603050405020304" pitchFamily="18" charset="0"/>
                <a:cs typeface="Times New Roman" panose="02020603050405020304" pitchFamily="18" charset="0"/>
              </a:rPr>
              <a:t>tần số có tốc độ truyền khác nhau trong môi trường, nên tín hiệu tại điểm </a:t>
            </a:r>
            <a:r>
              <a:rPr lang="vi-VN" sz="3000" dirty="0" smtClean="0">
                <a:latin typeface="Times New Roman" panose="02020603050405020304" pitchFamily="18" charset="0"/>
                <a:cs typeface="Times New Roman" panose="02020603050405020304" pitchFamily="18" charset="0"/>
              </a:rPr>
              <a:t>thu</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khi </a:t>
            </a:r>
            <a:r>
              <a:rPr lang="vi-VN" sz="3000" dirty="0">
                <a:latin typeface="Times New Roman" panose="02020603050405020304" pitchFamily="18" charset="0"/>
                <a:cs typeface="Times New Roman" panose="02020603050405020304" pitchFamily="18" charset="0"/>
              </a:rPr>
              <a:t>tổng hợp lại bị méo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572493" y="3492951"/>
            <a:ext cx="11171692" cy="2430918"/>
          </a:xfrm>
          <a:prstGeom prst="rect">
            <a:avLst/>
          </a:prstGeom>
        </p:spPr>
      </p:pic>
    </p:spTree>
    <p:extLst>
      <p:ext uri="{BB962C8B-B14F-4D97-AF65-F5344CB8AC3E}">
        <p14:creationId xmlns:p14="http://schemas.microsoft.com/office/powerpoint/2010/main" val="552930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Nhiễu</a:t>
            </a:r>
            <a:r>
              <a:rPr lang="en-US" b="1" dirty="0"/>
              <a:t> </a:t>
            </a:r>
            <a:r>
              <a:rPr lang="en-US" dirty="0"/>
              <a:t>(</a:t>
            </a:r>
            <a:r>
              <a:rPr lang="en-US" dirty="0" smtClean="0"/>
              <a:t>Noise</a:t>
            </a:r>
            <a:r>
              <a:rPr lang="en-US" dirty="0"/>
              <a:t>) </a:t>
            </a:r>
          </a:p>
        </p:txBody>
      </p:sp>
      <p:sp>
        <p:nvSpPr>
          <p:cNvPr id="3" name="Content Placeholder 2"/>
          <p:cNvSpPr>
            <a:spLocks noGrp="1"/>
          </p:cNvSpPr>
          <p:nvPr>
            <p:ph idx="1"/>
          </p:nvPr>
        </p:nvSpPr>
        <p:spPr/>
        <p:txBody>
          <a:bodyPr/>
          <a:lstStyle/>
          <a:p>
            <a:r>
              <a:rPr lang="vi-VN" sz="3000" b="1" dirty="0" smtClean="0">
                <a:latin typeface="+mj-lt"/>
              </a:rPr>
              <a:t>Khái </a:t>
            </a:r>
            <a:r>
              <a:rPr lang="vi-VN" sz="3000" b="1" dirty="0">
                <a:latin typeface="+mj-lt"/>
              </a:rPr>
              <a:t>niệm: </a:t>
            </a:r>
            <a:r>
              <a:rPr lang="vi-VN" sz="3000" dirty="0">
                <a:latin typeface="+mj-lt"/>
              </a:rPr>
              <a:t>Là thành phần không mong muốn xuất hiện tại nơi thu có khả năng làm xấu </a:t>
            </a:r>
            <a:r>
              <a:rPr lang="vi-VN" sz="3000" dirty="0" smtClean="0">
                <a:latin typeface="+mj-lt"/>
              </a:rPr>
              <a:t>tín</a:t>
            </a:r>
            <a:r>
              <a:rPr lang="en-US" sz="3000" dirty="0" smtClean="0">
                <a:latin typeface="+mj-lt"/>
              </a:rPr>
              <a:t> </a:t>
            </a:r>
            <a:r>
              <a:rPr lang="vi-VN" sz="3000" dirty="0" smtClean="0">
                <a:latin typeface="+mj-lt"/>
              </a:rPr>
              <a:t>hiệu</a:t>
            </a:r>
            <a:r>
              <a:rPr lang="vi-VN" sz="3000" dirty="0">
                <a:latin typeface="+mj-lt"/>
              </a:rPr>
              <a:t>.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675606" y="2527867"/>
            <a:ext cx="10893793" cy="3582193"/>
          </a:xfrm>
          <a:prstGeom prst="rect">
            <a:avLst/>
          </a:prstGeom>
        </p:spPr>
      </p:pic>
    </p:spTree>
    <p:extLst>
      <p:ext uri="{BB962C8B-B14F-4D97-AF65-F5344CB8AC3E}">
        <p14:creationId xmlns:p14="http://schemas.microsoft.com/office/powerpoint/2010/main" val="18568523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Nhiễu</a:t>
            </a:r>
            <a:r>
              <a:rPr lang="en-US" b="1" dirty="0"/>
              <a:t> </a:t>
            </a:r>
            <a:r>
              <a:rPr lang="en-US" dirty="0"/>
              <a:t>(Noise) </a:t>
            </a:r>
          </a:p>
        </p:txBody>
      </p:sp>
      <p:sp>
        <p:nvSpPr>
          <p:cNvPr id="3" name="Content Placeholder 2"/>
          <p:cNvSpPr>
            <a:spLocks noGrp="1"/>
          </p:cNvSpPr>
          <p:nvPr>
            <p:ph idx="1"/>
          </p:nvPr>
        </p:nvSpPr>
        <p:spPr/>
        <p:txBody>
          <a:bodyPr>
            <a:noAutofit/>
          </a:bodyPr>
          <a:lstStyle/>
          <a:p>
            <a:pPr>
              <a:buFont typeface="Wingdings" panose="05000000000000000000" pitchFamily="2" charset="2"/>
              <a:buChar char="v"/>
            </a:pPr>
            <a:r>
              <a:rPr lang="en-US" sz="3000" b="1" dirty="0" smtClean="0">
                <a:latin typeface="+mj-lt"/>
              </a:rPr>
              <a:t> </a:t>
            </a:r>
            <a:r>
              <a:rPr lang="vi-VN" sz="3000" b="1" dirty="0" smtClean="0">
                <a:latin typeface="+mj-lt"/>
              </a:rPr>
              <a:t>Phân </a:t>
            </a:r>
            <a:r>
              <a:rPr lang="vi-VN" sz="3000" b="1" dirty="0">
                <a:latin typeface="+mj-lt"/>
              </a:rPr>
              <a:t>loại: </a:t>
            </a:r>
            <a:r>
              <a:rPr lang="vi-VN" sz="3000" dirty="0">
                <a:latin typeface="+mj-lt"/>
              </a:rPr>
              <a:t>nhiễu nhiệt, nhiễu cảm ứng (induced noise), nhiễu xuyên kênh (crosstalk) </a:t>
            </a:r>
            <a:r>
              <a:rPr lang="vi-VN" sz="3000" dirty="0" smtClean="0">
                <a:latin typeface="+mj-lt"/>
              </a:rPr>
              <a:t>và</a:t>
            </a:r>
            <a:r>
              <a:rPr lang="en-US" sz="3000" dirty="0" smtClean="0">
                <a:latin typeface="+mj-lt"/>
              </a:rPr>
              <a:t> </a:t>
            </a:r>
            <a:r>
              <a:rPr lang="vi-VN" sz="3000" dirty="0" smtClean="0">
                <a:latin typeface="+mj-lt"/>
              </a:rPr>
              <a:t>nhiễu xung</a:t>
            </a:r>
            <a:endParaRPr lang="en-US" sz="3000" dirty="0" smtClean="0">
              <a:latin typeface="+mj-lt"/>
            </a:endParaRPr>
          </a:p>
          <a:p>
            <a:r>
              <a:rPr lang="vi-VN" b="1" dirty="0" smtClean="0">
                <a:latin typeface="+mj-lt"/>
              </a:rPr>
              <a:t>Nhiễu </a:t>
            </a:r>
            <a:r>
              <a:rPr lang="vi-VN" b="1" dirty="0">
                <a:latin typeface="+mj-lt"/>
              </a:rPr>
              <a:t>nhiệt </a:t>
            </a:r>
            <a:r>
              <a:rPr lang="vi-VN" dirty="0">
                <a:latin typeface="+mj-lt"/>
              </a:rPr>
              <a:t>: Khi nhiệt độ thay đổi, chuyển động ngẫu nhiên của electron </a:t>
            </a:r>
            <a:r>
              <a:rPr lang="vi-VN" dirty="0" smtClean="0">
                <a:latin typeface="+mj-lt"/>
              </a:rPr>
              <a:t>trong</a:t>
            </a:r>
            <a:r>
              <a:rPr lang="en-US" dirty="0" smtClean="0">
                <a:latin typeface="+mj-lt"/>
              </a:rPr>
              <a:t> </a:t>
            </a:r>
            <a:r>
              <a:rPr lang="vi-VN" dirty="0" smtClean="0">
                <a:latin typeface="+mj-lt"/>
              </a:rPr>
              <a:t>dây </a:t>
            </a:r>
            <a:r>
              <a:rPr lang="vi-VN" dirty="0">
                <a:latin typeface="+mj-lt"/>
              </a:rPr>
              <a:t>dẫn tạo ra thêm vào các tín hiệu không do máy phát chuyển </a:t>
            </a:r>
            <a:r>
              <a:rPr lang="vi-VN" dirty="0" smtClean="0">
                <a:latin typeface="+mj-lt"/>
              </a:rPr>
              <a:t>đi</a:t>
            </a:r>
            <a:endParaRPr lang="en-US" b="1" dirty="0" smtClean="0">
              <a:latin typeface="+mj-lt"/>
            </a:endParaRPr>
          </a:p>
          <a:p>
            <a:r>
              <a:rPr lang="vi-VN" b="1" dirty="0" smtClean="0">
                <a:latin typeface="+mj-lt"/>
              </a:rPr>
              <a:t>Nhiễu </a:t>
            </a:r>
            <a:r>
              <a:rPr lang="vi-VN" b="1" dirty="0">
                <a:latin typeface="+mj-lt"/>
              </a:rPr>
              <a:t>cảm ứng: </a:t>
            </a:r>
            <a:r>
              <a:rPr lang="vi-VN" dirty="0">
                <a:latin typeface="+mj-lt"/>
              </a:rPr>
              <a:t>do động cơ hay thiết bị điện, khi đó các thiết bị này hoạt </a:t>
            </a:r>
            <a:r>
              <a:rPr lang="vi-VN" dirty="0" smtClean="0">
                <a:latin typeface="+mj-lt"/>
              </a:rPr>
              <a:t>động</a:t>
            </a:r>
            <a:r>
              <a:rPr lang="en-US" dirty="0" smtClean="0">
                <a:latin typeface="+mj-lt"/>
              </a:rPr>
              <a:t> </a:t>
            </a:r>
            <a:r>
              <a:rPr lang="vi-VN" dirty="0" smtClean="0">
                <a:latin typeface="+mj-lt"/>
              </a:rPr>
              <a:t>giống </a:t>
            </a:r>
            <a:r>
              <a:rPr lang="vi-VN" dirty="0">
                <a:latin typeface="+mj-lt"/>
              </a:rPr>
              <a:t>như một anten và môi trường đóng vai trò bộ thu </a:t>
            </a:r>
            <a:r>
              <a:rPr lang="vi-VN" dirty="0" smtClean="0">
                <a:latin typeface="+mj-lt"/>
              </a:rPr>
              <a:t>sóng</a:t>
            </a:r>
            <a:endParaRPr lang="en-US" dirty="0" smtClean="0">
              <a:latin typeface="+mj-lt"/>
            </a:endParaRPr>
          </a:p>
          <a:p>
            <a:r>
              <a:rPr lang="vi-VN" b="1" dirty="0" smtClean="0">
                <a:latin typeface="+mj-lt"/>
              </a:rPr>
              <a:t>Nhiễu </a:t>
            </a:r>
            <a:r>
              <a:rPr lang="vi-VN" b="1" dirty="0">
                <a:latin typeface="+mj-lt"/>
              </a:rPr>
              <a:t>xuyên kênh</a:t>
            </a:r>
            <a:r>
              <a:rPr lang="vi-VN" dirty="0">
                <a:latin typeface="+mj-lt"/>
              </a:rPr>
              <a:t>: ảnh hưởng của một dây dẫn lên dây khác. Một dây đóng </a:t>
            </a:r>
            <a:r>
              <a:rPr lang="vi-VN" dirty="0" smtClean="0">
                <a:latin typeface="+mj-lt"/>
              </a:rPr>
              <a:t>vai</a:t>
            </a:r>
            <a:r>
              <a:rPr lang="en-US" dirty="0" smtClean="0">
                <a:latin typeface="+mj-lt"/>
              </a:rPr>
              <a:t> </a:t>
            </a:r>
            <a:r>
              <a:rPr lang="vi-VN" dirty="0" smtClean="0">
                <a:latin typeface="+mj-lt"/>
              </a:rPr>
              <a:t>trò </a:t>
            </a:r>
            <a:r>
              <a:rPr lang="vi-VN" dirty="0">
                <a:latin typeface="+mj-lt"/>
              </a:rPr>
              <a:t>anten và dây còn lại là bộ thu </a:t>
            </a:r>
            <a:r>
              <a:rPr lang="vi-VN" dirty="0" smtClean="0">
                <a:latin typeface="+mj-lt"/>
              </a:rPr>
              <a:t>sóng</a:t>
            </a:r>
            <a:endParaRPr lang="en-US" dirty="0" smtClean="0">
              <a:latin typeface="+mj-lt"/>
            </a:endParaRPr>
          </a:p>
          <a:p>
            <a:r>
              <a:rPr lang="vi-VN" b="1" dirty="0" smtClean="0">
                <a:latin typeface="+mj-lt"/>
              </a:rPr>
              <a:t>Nhiễu </a:t>
            </a:r>
            <a:r>
              <a:rPr lang="vi-VN" b="1" dirty="0">
                <a:latin typeface="+mj-lt"/>
              </a:rPr>
              <a:t>xung: </a:t>
            </a:r>
            <a:r>
              <a:rPr lang="vi-VN" dirty="0">
                <a:latin typeface="+mj-lt"/>
              </a:rPr>
              <a:t>Do các thiết bị công suất, tia chớp</a:t>
            </a:r>
            <a:r>
              <a:rPr lang="vi-VN" dirty="0" smtClean="0">
                <a:latin typeface="+mj-lt"/>
              </a:rPr>
              <a:t>…</a:t>
            </a:r>
            <a:endParaRPr lang="en-US" dirty="0"/>
          </a:p>
        </p:txBody>
      </p:sp>
    </p:spTree>
    <p:extLst>
      <p:ext uri="{BB962C8B-B14F-4D97-AF65-F5344CB8AC3E}">
        <p14:creationId xmlns:p14="http://schemas.microsoft.com/office/powerpoint/2010/main" val="1033967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6.4 </a:t>
            </a:r>
            <a:r>
              <a:rPr lang="en-US" dirty="0" err="1" smtClean="0"/>
              <a:t>Hiệu</a:t>
            </a:r>
            <a:r>
              <a:rPr lang="en-US" dirty="0" smtClean="0"/>
              <a:t> </a:t>
            </a:r>
            <a:r>
              <a:rPr lang="en-US" dirty="0" err="1" smtClean="0"/>
              <a:t>suất</a:t>
            </a:r>
            <a:r>
              <a:rPr lang="en-US" dirty="0" smtClean="0"/>
              <a:t> (</a:t>
            </a:r>
            <a:r>
              <a:rPr lang="en-US" dirty="0" err="1" smtClean="0"/>
              <a:t>hiệu</a:t>
            </a:r>
            <a:r>
              <a:rPr lang="en-US" dirty="0" smtClean="0"/>
              <a:t> </a:t>
            </a:r>
            <a:r>
              <a:rPr lang="en-US" dirty="0" err="1" smtClean="0"/>
              <a:t>năng:Performance</a:t>
            </a:r>
            <a:r>
              <a:rPr lang="en-US" dirty="0" smtClean="0"/>
              <a:t>) </a:t>
            </a:r>
            <a:endParaRPr lang="en-US" dirty="0"/>
          </a:p>
        </p:txBody>
      </p:sp>
      <p:sp>
        <p:nvSpPr>
          <p:cNvPr id="3" name="Content Placeholder 2"/>
          <p:cNvSpPr>
            <a:spLocks noGrp="1"/>
          </p:cNvSpPr>
          <p:nvPr>
            <p:ph idx="1"/>
          </p:nvPr>
        </p:nvSpPr>
        <p:spPr/>
        <p:txBody>
          <a:bodyPr/>
          <a:lstStyle/>
          <a:p>
            <a:pPr>
              <a:spcBef>
                <a:spcPts val="1200"/>
              </a:spcBef>
              <a:buFont typeface="Wingdings" panose="05000000000000000000" pitchFamily="2" charset="2"/>
              <a:buChar char="v"/>
            </a:pPr>
            <a:r>
              <a:rPr lang="en-US" sz="3200" dirty="0" smtClean="0">
                <a:latin typeface="+mj-lt"/>
              </a:rPr>
              <a:t> </a:t>
            </a:r>
            <a:r>
              <a:rPr lang="vi-VN" sz="3200" dirty="0" smtClean="0">
                <a:latin typeface="+mj-lt"/>
              </a:rPr>
              <a:t>Để </a:t>
            </a:r>
            <a:r>
              <a:rPr lang="vi-VN" sz="3200" dirty="0">
                <a:latin typeface="+mj-lt"/>
              </a:rPr>
              <a:t>đo lường hiệu năng của môi trường truyền, dùng 3 khái </a:t>
            </a:r>
            <a:r>
              <a:rPr lang="vi-VN" sz="3200" dirty="0" smtClean="0">
                <a:latin typeface="+mj-lt"/>
              </a:rPr>
              <a:t>niệm</a:t>
            </a:r>
            <a:r>
              <a:rPr lang="vi-VN" sz="3000" dirty="0">
                <a:latin typeface="+mj-lt"/>
              </a:rPr>
              <a:t/>
            </a:r>
            <a:br>
              <a:rPr lang="vi-VN" sz="3000" dirty="0">
                <a:latin typeface="+mj-lt"/>
              </a:rPr>
            </a:br>
            <a:r>
              <a:rPr lang="vi-VN" sz="3000" dirty="0">
                <a:latin typeface="+mj-lt"/>
              </a:rPr>
              <a:t>• </a:t>
            </a:r>
            <a:r>
              <a:rPr lang="vi-VN" sz="3000" b="1" dirty="0">
                <a:latin typeface="+mj-lt"/>
              </a:rPr>
              <a:t>Thông lượng </a:t>
            </a:r>
            <a:r>
              <a:rPr lang="vi-VN" sz="3000" dirty="0">
                <a:latin typeface="+mj-lt"/>
              </a:rPr>
              <a:t>(throughout),</a:t>
            </a:r>
            <a:br>
              <a:rPr lang="vi-VN" sz="3000" dirty="0">
                <a:latin typeface="+mj-lt"/>
              </a:rPr>
            </a:br>
            <a:r>
              <a:rPr lang="vi-VN" sz="3000" dirty="0">
                <a:latin typeface="+mj-lt"/>
              </a:rPr>
              <a:t>• </a:t>
            </a:r>
            <a:r>
              <a:rPr lang="vi-VN" sz="3000" b="1" dirty="0">
                <a:latin typeface="+mj-lt"/>
              </a:rPr>
              <a:t>Vận tốc truyền </a:t>
            </a:r>
            <a:r>
              <a:rPr lang="vi-VN" sz="3000" dirty="0">
                <a:latin typeface="+mj-lt"/>
              </a:rPr>
              <a:t>sóng (propagation speed)</a:t>
            </a:r>
            <a:br>
              <a:rPr lang="vi-VN" sz="3000" dirty="0">
                <a:latin typeface="+mj-lt"/>
              </a:rPr>
            </a:br>
            <a:r>
              <a:rPr lang="vi-VN" sz="3000" dirty="0">
                <a:latin typeface="+mj-lt"/>
              </a:rPr>
              <a:t>• </a:t>
            </a:r>
            <a:r>
              <a:rPr lang="vi-VN" sz="3000" b="1" dirty="0">
                <a:latin typeface="+mj-lt"/>
              </a:rPr>
              <a:t>Thời gian truyền </a:t>
            </a:r>
            <a:r>
              <a:rPr lang="vi-VN" sz="3000" dirty="0">
                <a:latin typeface="+mj-lt"/>
              </a:rPr>
              <a:t>sóng (propagation time) </a:t>
            </a:r>
            <a:r>
              <a:rPr lang="vi-VN" dirty="0"/>
              <a:t/>
            </a:r>
            <a:br>
              <a:rPr lang="vi-VN" dirty="0"/>
            </a:br>
            <a:endParaRPr lang="en-US" dirty="0"/>
          </a:p>
        </p:txBody>
      </p:sp>
    </p:spTree>
    <p:extLst>
      <p:ext uri="{BB962C8B-B14F-4D97-AF65-F5344CB8AC3E}">
        <p14:creationId xmlns:p14="http://schemas.microsoft.com/office/powerpoint/2010/main" val="3271517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Thông lượng (throughout</a:t>
            </a:r>
            <a:r>
              <a:rPr lang="vi-VN" dirty="0" smtClean="0"/>
              <a:t>)</a:t>
            </a:r>
            <a:endParaRPr lang="en-US" dirty="0"/>
          </a:p>
        </p:txBody>
      </p:sp>
      <p:sp>
        <p:nvSpPr>
          <p:cNvPr id="3" name="Content Placeholder 2"/>
          <p:cNvSpPr>
            <a:spLocks noGrp="1"/>
          </p:cNvSpPr>
          <p:nvPr>
            <p:ph idx="1"/>
          </p:nvPr>
        </p:nvSpPr>
        <p:spPr/>
        <p:txBody>
          <a:bodyPr/>
          <a:lstStyle/>
          <a:p>
            <a:r>
              <a:rPr lang="vi-VN" sz="3000" b="1" dirty="0" smtClean="0">
                <a:latin typeface="+mj-lt"/>
              </a:rPr>
              <a:t>Thông </a:t>
            </a:r>
            <a:r>
              <a:rPr lang="vi-VN" sz="3000" b="1" dirty="0">
                <a:latin typeface="+mj-lt"/>
              </a:rPr>
              <a:t>lượng</a:t>
            </a:r>
            <a:r>
              <a:rPr lang="vi-VN" sz="3000" dirty="0">
                <a:latin typeface="+mj-lt"/>
              </a:rPr>
              <a:t>: Là lượng dữ liệu truyền qua một điểm trong 1 giây.</a:t>
            </a:r>
            <a:br>
              <a:rPr lang="vi-VN" sz="3000" dirty="0">
                <a:latin typeface="+mj-lt"/>
              </a:rPr>
            </a:br>
            <a:r>
              <a:rPr lang="vi-VN" sz="3000" dirty="0">
                <a:latin typeface="+mj-lt"/>
              </a:rPr>
              <a:t>(thông lượng là số bit có thể đi qua bức tường trong một giây) </a:t>
            </a:r>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1296761" y="2673853"/>
            <a:ext cx="9163050" cy="3362325"/>
          </a:xfrm>
          <a:prstGeom prst="rect">
            <a:avLst/>
          </a:prstGeom>
        </p:spPr>
      </p:pic>
    </p:spTree>
    <p:extLst>
      <p:ext uri="{BB962C8B-B14F-4D97-AF65-F5344CB8AC3E}">
        <p14:creationId xmlns:p14="http://schemas.microsoft.com/office/powerpoint/2010/main" val="958037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Vận</a:t>
            </a:r>
            <a:r>
              <a:rPr lang="en-US" dirty="0"/>
              <a:t> </a:t>
            </a:r>
            <a:r>
              <a:rPr lang="en-US" dirty="0" err="1"/>
              <a:t>tốc</a:t>
            </a:r>
            <a:r>
              <a:rPr lang="en-US" dirty="0"/>
              <a:t> </a:t>
            </a:r>
            <a:r>
              <a:rPr lang="en-US" dirty="0" err="1"/>
              <a:t>truyền</a:t>
            </a:r>
            <a:r>
              <a:rPr lang="en-US" dirty="0"/>
              <a:t> </a:t>
            </a:r>
            <a:r>
              <a:rPr lang="en-US" dirty="0" smtClean="0"/>
              <a:t>(propagation </a:t>
            </a:r>
            <a:r>
              <a:rPr lang="en-US" dirty="0"/>
              <a:t>speed) </a:t>
            </a:r>
          </a:p>
        </p:txBody>
      </p:sp>
      <p:sp>
        <p:nvSpPr>
          <p:cNvPr id="3" name="Content Placeholder 2"/>
          <p:cNvSpPr>
            <a:spLocks noGrp="1"/>
          </p:cNvSpPr>
          <p:nvPr>
            <p:ph idx="1"/>
          </p:nvPr>
        </p:nvSpPr>
        <p:spPr/>
        <p:txBody>
          <a:bodyPr/>
          <a:lstStyle/>
          <a:p>
            <a:r>
              <a:rPr lang="vi-VN" sz="3000" b="1" dirty="0" smtClean="0">
                <a:latin typeface="+mj-lt"/>
              </a:rPr>
              <a:t>Vận </a:t>
            </a:r>
            <a:r>
              <a:rPr lang="vi-VN" sz="3000" b="1" dirty="0">
                <a:latin typeface="+mj-lt"/>
              </a:rPr>
              <a:t>tốc truyền sóng: đo lường cự ly mà tín hiệu hoặc bit có thể đi qua môi </a:t>
            </a:r>
            <a:r>
              <a:rPr lang="vi-VN" sz="3000" b="1" dirty="0" smtClean="0">
                <a:latin typeface="+mj-lt"/>
              </a:rPr>
              <a:t>trường</a:t>
            </a:r>
            <a:r>
              <a:rPr lang="en-US" sz="3000" b="1" dirty="0" smtClean="0">
                <a:latin typeface="+mj-lt"/>
              </a:rPr>
              <a:t> </a:t>
            </a:r>
            <a:r>
              <a:rPr lang="vi-VN" sz="3000" b="1" dirty="0" smtClean="0">
                <a:latin typeface="+mj-lt"/>
              </a:rPr>
              <a:t>trong </a:t>
            </a:r>
            <a:r>
              <a:rPr lang="vi-VN" sz="3000" b="1" dirty="0">
                <a:latin typeface="+mj-lt"/>
              </a:rPr>
              <a:t>một giây. </a:t>
            </a:r>
            <a:r>
              <a:rPr lang="vi-VN" sz="3000" dirty="0">
                <a:latin typeface="+mj-lt"/>
              </a:rPr>
              <a:t>Vận tốc truyền sóng của tín hiệu điện từ phụ thuộc vào môi trường và tần </a:t>
            </a:r>
            <a:r>
              <a:rPr lang="vi-VN" sz="3000" dirty="0" smtClean="0">
                <a:latin typeface="+mj-lt"/>
              </a:rPr>
              <a:t>số</a:t>
            </a:r>
            <a:r>
              <a:rPr lang="en-US" sz="3000" dirty="0" smtClean="0">
                <a:latin typeface="+mj-lt"/>
              </a:rPr>
              <a:t> </a:t>
            </a:r>
            <a:r>
              <a:rPr lang="vi-VN" sz="3000" dirty="0" smtClean="0">
                <a:latin typeface="+mj-lt"/>
              </a:rPr>
              <a:t>tín hiệu</a:t>
            </a:r>
            <a:endParaRPr lang="en-US" sz="3000" dirty="0" smtClean="0">
              <a:latin typeface="+mj-lt"/>
            </a:endParaRPr>
          </a:p>
          <a:p>
            <a:r>
              <a:rPr lang="vi-VN" sz="3000" b="1" dirty="0" smtClean="0">
                <a:latin typeface="+mj-lt"/>
              </a:rPr>
              <a:t>Thí </a:t>
            </a:r>
            <a:r>
              <a:rPr lang="vi-VN" sz="3000" b="1" dirty="0">
                <a:latin typeface="+mj-lt"/>
              </a:rPr>
              <a:t>dụ: </a:t>
            </a:r>
            <a:r>
              <a:rPr lang="vi-VN" sz="3000" dirty="0">
                <a:latin typeface="+mj-lt"/>
              </a:rPr>
              <a:t>Trong chân không ánh sáng di chuyển với vận tốc là 3.108 m/s. Tốc độ này tương </a:t>
            </a:r>
            <a:r>
              <a:rPr lang="vi-VN" sz="3000" dirty="0" smtClean="0">
                <a:latin typeface="+mj-lt"/>
              </a:rPr>
              <a:t>tự</a:t>
            </a:r>
            <a:r>
              <a:rPr lang="en-US" sz="3000" dirty="0" smtClean="0">
                <a:latin typeface="+mj-lt"/>
              </a:rPr>
              <a:t> </a:t>
            </a:r>
            <a:r>
              <a:rPr lang="vi-VN" sz="3000" dirty="0" smtClean="0">
                <a:latin typeface="+mj-lt"/>
              </a:rPr>
              <a:t>như </a:t>
            </a:r>
            <a:r>
              <a:rPr lang="vi-VN" sz="3000" dirty="0">
                <a:latin typeface="+mj-lt"/>
              </a:rPr>
              <a:t>trong dây cáp đôi xoắn. Tuy </a:t>
            </a:r>
            <a:r>
              <a:rPr lang="vi-VN" sz="3000" dirty="0" smtClean="0">
                <a:latin typeface="+mj-lt"/>
              </a:rPr>
              <a:t>nhiên,</a:t>
            </a:r>
            <a:r>
              <a:rPr lang="en-US" sz="3000" dirty="0" smtClean="0">
                <a:latin typeface="+mj-lt"/>
              </a:rPr>
              <a:t> </a:t>
            </a:r>
            <a:r>
              <a:rPr lang="vi-VN" sz="3000" dirty="0" smtClean="0">
                <a:latin typeface="+mj-lt"/>
              </a:rPr>
              <a:t>trong </a:t>
            </a:r>
            <a:r>
              <a:rPr lang="vi-VN" sz="3000" dirty="0">
                <a:latin typeface="+mj-lt"/>
              </a:rPr>
              <a:t>cáp đồng trục và cáp quang, thì tốc độ này </a:t>
            </a:r>
            <a:r>
              <a:rPr lang="vi-VN" sz="3000" dirty="0" smtClean="0">
                <a:latin typeface="+mj-lt"/>
              </a:rPr>
              <a:t>là</a:t>
            </a:r>
            <a:r>
              <a:rPr lang="en-US" sz="3000" dirty="0" smtClean="0">
                <a:latin typeface="+mj-lt"/>
              </a:rPr>
              <a:t> </a:t>
            </a:r>
            <a:r>
              <a:rPr lang="vi-VN" sz="3000" dirty="0" smtClean="0">
                <a:latin typeface="+mj-lt"/>
              </a:rPr>
              <a:t>2.10</a:t>
            </a:r>
            <a:r>
              <a:rPr lang="en-US" sz="3000" baseline="30000" dirty="0" smtClean="0">
                <a:latin typeface="+mj-lt"/>
              </a:rPr>
              <a:t>8</a:t>
            </a:r>
            <a:r>
              <a:rPr lang="vi-VN" sz="3000" dirty="0" smtClean="0">
                <a:latin typeface="+mj-lt"/>
              </a:rPr>
              <a:t>m/s </a:t>
            </a:r>
            <a:r>
              <a:rPr lang="vi-VN" sz="3000" dirty="0">
                <a:latin typeface="+mj-lt"/>
              </a:rPr>
              <a:t>cho các tần số trong dải MHz đến GHz. </a:t>
            </a:r>
            <a:r>
              <a:rPr lang="vi-VN" dirty="0"/>
              <a:t/>
            </a:r>
            <a:br>
              <a:rPr lang="vi-VN" dirty="0"/>
            </a:br>
            <a:endParaRPr lang="en-US" dirty="0"/>
          </a:p>
        </p:txBody>
      </p:sp>
    </p:spTree>
    <p:extLst>
      <p:ext uri="{BB962C8B-B14F-4D97-AF65-F5344CB8AC3E}">
        <p14:creationId xmlns:p14="http://schemas.microsoft.com/office/powerpoint/2010/main" val="42171204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Thời</a:t>
            </a:r>
            <a:r>
              <a:rPr lang="en-US" dirty="0"/>
              <a:t> </a:t>
            </a:r>
            <a:r>
              <a:rPr lang="en-US" dirty="0" err="1"/>
              <a:t>gian</a:t>
            </a:r>
            <a:r>
              <a:rPr lang="en-US" dirty="0"/>
              <a:t> </a:t>
            </a:r>
            <a:r>
              <a:rPr lang="en-US" dirty="0" err="1" smtClean="0"/>
              <a:t>truyền</a:t>
            </a:r>
            <a:r>
              <a:rPr lang="en-US" dirty="0" smtClean="0"/>
              <a:t> </a:t>
            </a:r>
            <a:r>
              <a:rPr lang="en-US" dirty="0"/>
              <a:t>(propagation time) </a:t>
            </a:r>
          </a:p>
        </p:txBody>
      </p:sp>
      <p:sp>
        <p:nvSpPr>
          <p:cNvPr id="3" name="Content Placeholder 2"/>
          <p:cNvSpPr>
            <a:spLocks noGrp="1"/>
          </p:cNvSpPr>
          <p:nvPr>
            <p:ph idx="1"/>
          </p:nvPr>
        </p:nvSpPr>
        <p:spPr/>
        <p:txBody>
          <a:bodyPr/>
          <a:lstStyle/>
          <a:p>
            <a:pPr>
              <a:spcBef>
                <a:spcPts val="1200"/>
              </a:spcBef>
              <a:spcAft>
                <a:spcPts val="600"/>
              </a:spcAft>
            </a:pPr>
            <a:r>
              <a:rPr lang="vi-VN" sz="3000" b="1" dirty="0" smtClean="0">
                <a:latin typeface="+mj-lt"/>
              </a:rPr>
              <a:t>Thời </a:t>
            </a:r>
            <a:r>
              <a:rPr lang="vi-VN" sz="3000" b="1" dirty="0">
                <a:latin typeface="+mj-lt"/>
              </a:rPr>
              <a:t>gian truyền sóng</a:t>
            </a:r>
            <a:r>
              <a:rPr lang="vi-VN" sz="3000" dirty="0">
                <a:latin typeface="+mj-lt"/>
              </a:rPr>
              <a:t>: Thời gian cần thiết để tín hiệu hay bit đi từ một điểm này đến </a:t>
            </a:r>
            <a:r>
              <a:rPr lang="vi-VN" sz="3000" dirty="0" smtClean="0">
                <a:latin typeface="+mj-lt"/>
              </a:rPr>
              <a:t>một</a:t>
            </a:r>
            <a:r>
              <a:rPr lang="en-US" sz="3000" dirty="0" smtClean="0">
                <a:latin typeface="+mj-lt"/>
              </a:rPr>
              <a:t> </a:t>
            </a:r>
            <a:r>
              <a:rPr lang="vi-VN" sz="3000" dirty="0" smtClean="0">
                <a:latin typeface="+mj-lt"/>
              </a:rPr>
              <a:t>điểm </a:t>
            </a:r>
            <a:r>
              <a:rPr lang="vi-VN" sz="3000" dirty="0">
                <a:latin typeface="+mj-lt"/>
              </a:rPr>
              <a:t>kia trong môi trường </a:t>
            </a:r>
            <a:r>
              <a:rPr lang="vi-VN" sz="3000" dirty="0" smtClean="0">
                <a:latin typeface="+mj-lt"/>
              </a:rPr>
              <a:t>truy</a:t>
            </a:r>
            <a:r>
              <a:rPr lang="en-US" sz="3000" dirty="0" err="1" smtClean="0">
                <a:latin typeface="Times New Roman" panose="02020603050405020304" pitchFamily="18" charset="0"/>
                <a:cs typeface="Times New Roman" panose="02020603050405020304" pitchFamily="18" charset="0"/>
              </a:rPr>
              <a:t>ền</a:t>
            </a:r>
            <a:r>
              <a:rPr lang="vi-VN" sz="3000" dirty="0" smtClean="0">
                <a:latin typeface="+mj-lt"/>
              </a:rPr>
              <a:t> </a:t>
            </a:r>
            <a:r>
              <a:rPr lang="vi-VN" sz="3000" dirty="0">
                <a:latin typeface="+mj-lt"/>
              </a:rPr>
              <a:t/>
            </a:r>
            <a:br>
              <a:rPr lang="vi-VN" sz="3000" dirty="0">
                <a:latin typeface="+mj-lt"/>
              </a:rPr>
            </a:br>
            <a:r>
              <a:rPr lang="en-US" sz="3000" b="1" dirty="0" smtClean="0">
                <a:solidFill>
                  <a:srgbClr val="FF0000"/>
                </a:solidFill>
                <a:latin typeface="+mj-lt"/>
              </a:rPr>
              <a:t>          </a:t>
            </a:r>
            <a:r>
              <a:rPr lang="en-US" sz="3000" b="1" dirty="0" err="1" smtClean="0">
                <a:solidFill>
                  <a:srgbClr val="FF0000"/>
                </a:solidFill>
                <a:latin typeface="+mj-lt"/>
              </a:rPr>
              <a:t>Thời</a:t>
            </a:r>
            <a:r>
              <a:rPr lang="en-US" sz="3000" b="1" dirty="0" smtClean="0">
                <a:solidFill>
                  <a:srgbClr val="FF0000"/>
                </a:solidFill>
                <a:latin typeface="+mj-lt"/>
              </a:rPr>
              <a:t> </a:t>
            </a:r>
            <a:r>
              <a:rPr lang="en-US" sz="3000" b="1" dirty="0" err="1">
                <a:solidFill>
                  <a:srgbClr val="FF0000"/>
                </a:solidFill>
                <a:latin typeface="+mj-lt"/>
              </a:rPr>
              <a:t>gian</a:t>
            </a:r>
            <a:r>
              <a:rPr lang="en-US" sz="3000" b="1" dirty="0">
                <a:solidFill>
                  <a:srgbClr val="FF0000"/>
                </a:solidFill>
                <a:latin typeface="+mj-lt"/>
              </a:rPr>
              <a:t> </a:t>
            </a:r>
            <a:r>
              <a:rPr lang="en-US" sz="3000" b="1" dirty="0" err="1">
                <a:solidFill>
                  <a:srgbClr val="FF0000"/>
                </a:solidFill>
                <a:latin typeface="+mj-lt"/>
              </a:rPr>
              <a:t>truyền</a:t>
            </a:r>
            <a:r>
              <a:rPr lang="en-US" sz="3000" b="1" dirty="0">
                <a:solidFill>
                  <a:srgbClr val="FF0000"/>
                </a:solidFill>
                <a:latin typeface="+mj-lt"/>
              </a:rPr>
              <a:t> = </a:t>
            </a:r>
            <a:r>
              <a:rPr lang="en-US" sz="3000" b="1" dirty="0" err="1">
                <a:solidFill>
                  <a:srgbClr val="FF0000"/>
                </a:solidFill>
                <a:latin typeface="+mj-lt"/>
              </a:rPr>
              <a:t>khoảng</a:t>
            </a:r>
            <a:r>
              <a:rPr lang="en-US" sz="3000" b="1" dirty="0">
                <a:solidFill>
                  <a:srgbClr val="FF0000"/>
                </a:solidFill>
                <a:latin typeface="+mj-lt"/>
              </a:rPr>
              <a:t> </a:t>
            </a:r>
            <a:r>
              <a:rPr lang="en-US" sz="3000" b="1" dirty="0" err="1">
                <a:solidFill>
                  <a:srgbClr val="FF0000"/>
                </a:solidFill>
                <a:latin typeface="+mj-lt"/>
              </a:rPr>
              <a:t>cách</a:t>
            </a:r>
            <a:r>
              <a:rPr lang="en-US" sz="3000" b="1" dirty="0">
                <a:solidFill>
                  <a:srgbClr val="FF0000"/>
                </a:solidFill>
                <a:latin typeface="+mj-lt"/>
              </a:rPr>
              <a:t> / </a:t>
            </a:r>
            <a:r>
              <a:rPr lang="en-US" sz="3000" b="1" dirty="0" err="1">
                <a:solidFill>
                  <a:srgbClr val="FF0000"/>
                </a:solidFill>
                <a:latin typeface="+mj-lt"/>
              </a:rPr>
              <a:t>Vận</a:t>
            </a:r>
            <a:r>
              <a:rPr lang="en-US" sz="3000" b="1" dirty="0">
                <a:solidFill>
                  <a:srgbClr val="FF0000"/>
                </a:solidFill>
                <a:latin typeface="+mj-lt"/>
              </a:rPr>
              <a:t> </a:t>
            </a:r>
            <a:r>
              <a:rPr lang="en-US" sz="3000" b="1" dirty="0" err="1">
                <a:solidFill>
                  <a:srgbClr val="FF0000"/>
                </a:solidFill>
                <a:latin typeface="+mj-lt"/>
              </a:rPr>
              <a:t>tốc</a:t>
            </a:r>
            <a:r>
              <a:rPr lang="en-US" sz="3000" b="1" dirty="0">
                <a:solidFill>
                  <a:srgbClr val="FF0000"/>
                </a:solidFill>
                <a:latin typeface="+mj-lt"/>
              </a:rPr>
              <a:t> </a:t>
            </a:r>
            <a:r>
              <a:rPr lang="en-US" sz="3000" b="1" dirty="0" err="1">
                <a:solidFill>
                  <a:srgbClr val="FF0000"/>
                </a:solidFill>
                <a:latin typeface="+mj-lt"/>
              </a:rPr>
              <a:t>truyền</a:t>
            </a:r>
            <a:r>
              <a:rPr lang="en-US" sz="3000" b="1" dirty="0">
                <a:solidFill>
                  <a:srgbClr val="FF0000"/>
                </a:solidFill>
                <a:latin typeface="+mj-lt"/>
              </a:rPr>
              <a:t> </a:t>
            </a:r>
            <a:r>
              <a:rPr lang="en-US" sz="3000" b="1" dirty="0" err="1" smtClean="0">
                <a:solidFill>
                  <a:srgbClr val="FF0000"/>
                </a:solidFill>
                <a:latin typeface="+mj-lt"/>
              </a:rPr>
              <a:t>sóng</a:t>
            </a:r>
            <a:r>
              <a:rPr lang="en-US" sz="3000" dirty="0" smtClean="0">
                <a:latin typeface="+mj-lt"/>
              </a:rPr>
              <a:t> </a:t>
            </a:r>
            <a:r>
              <a:rPr lang="en-US" dirty="0"/>
              <a:t/>
            </a:r>
            <a:br>
              <a:rPr lang="en-US" dirty="0"/>
            </a:br>
            <a:endParaRPr lang="en-US" dirty="0"/>
          </a:p>
        </p:txBody>
      </p:sp>
      <p:pic>
        <p:nvPicPr>
          <p:cNvPr id="5" name="Picture 4"/>
          <p:cNvPicPr>
            <a:picLocks noChangeAspect="1"/>
          </p:cNvPicPr>
          <p:nvPr/>
        </p:nvPicPr>
        <p:blipFill>
          <a:blip r:embed="rId2"/>
          <a:stretch>
            <a:fillRect/>
          </a:stretch>
        </p:blipFill>
        <p:spPr>
          <a:xfrm>
            <a:off x="2336315" y="2877958"/>
            <a:ext cx="7867228" cy="3552622"/>
          </a:xfrm>
          <a:prstGeom prst="rect">
            <a:avLst/>
          </a:prstGeom>
        </p:spPr>
      </p:pic>
      <p:sp>
        <p:nvSpPr>
          <p:cNvPr id="6" name="Rectangle 5"/>
          <p:cNvSpPr/>
          <p:nvPr/>
        </p:nvSpPr>
        <p:spPr>
          <a:xfrm>
            <a:off x="5036457" y="5050971"/>
            <a:ext cx="1233714" cy="4644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78569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Bước</a:t>
            </a:r>
            <a:r>
              <a:rPr lang="en-US" dirty="0"/>
              <a:t> </a:t>
            </a:r>
            <a:r>
              <a:rPr lang="en-US" dirty="0" err="1" smtClean="0"/>
              <a:t>sóng</a:t>
            </a:r>
            <a:r>
              <a:rPr lang="en-US" dirty="0" smtClean="0"/>
              <a:t> </a:t>
            </a:r>
            <a:r>
              <a:rPr lang="en-US" dirty="0"/>
              <a:t>(</a:t>
            </a:r>
            <a:r>
              <a:rPr lang="en-US" dirty="0" smtClean="0"/>
              <a:t>wavelength)</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v"/>
            </a:pP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Độ </a:t>
            </a:r>
            <a:r>
              <a:rPr lang="vi-VN" sz="3000" dirty="0">
                <a:latin typeface="Times New Roman" panose="02020603050405020304" pitchFamily="18" charset="0"/>
                <a:cs typeface="Times New Roman" panose="02020603050405020304" pitchFamily="18" charset="0"/>
              </a:rPr>
              <a:t>dài sóng là cự ly của tín hiệu đơn giản </a:t>
            </a:r>
            <a:r>
              <a:rPr lang="vi-VN" sz="3000" dirty="0" smtClean="0">
                <a:latin typeface="Times New Roman" panose="02020603050405020304" pitchFamily="18" charset="0"/>
                <a:cs typeface="Times New Roman" panose="02020603050405020304" pitchFamily="18" charset="0"/>
              </a:rPr>
              <a:t>di</a:t>
            </a:r>
            <a:r>
              <a:rPr lang="en-US" sz="3000" dirty="0" smtClean="0">
                <a:latin typeface="Times New Roman" panose="02020603050405020304" pitchFamily="18" charset="0"/>
                <a:cs typeface="Times New Roman" panose="02020603050405020304" pitchFamily="18" charset="0"/>
              </a:rPr>
              <a:t> </a:t>
            </a:r>
            <a:r>
              <a:rPr lang="vi-VN" sz="3000" dirty="0" smtClean="0">
                <a:latin typeface="Times New Roman" panose="02020603050405020304" pitchFamily="18" charset="0"/>
                <a:cs typeface="Times New Roman" panose="02020603050405020304" pitchFamily="18" charset="0"/>
              </a:rPr>
              <a:t>chuyển </a:t>
            </a:r>
            <a:r>
              <a:rPr lang="vi-VN" sz="3000" dirty="0">
                <a:latin typeface="Times New Roman" panose="02020603050405020304" pitchFamily="18" charset="0"/>
                <a:cs typeface="Times New Roman" panose="02020603050405020304" pitchFamily="18" charset="0"/>
              </a:rPr>
              <a:t>trong một chu </a:t>
            </a:r>
            <a:r>
              <a:rPr lang="vi-VN" sz="3000" dirty="0" smtClean="0">
                <a:latin typeface="Times New Roman" panose="02020603050405020304" pitchFamily="18" charset="0"/>
                <a:cs typeface="Times New Roman" panose="02020603050405020304" pitchFamily="18" charset="0"/>
              </a:rPr>
              <a:t>kỳ</a:t>
            </a:r>
            <a:endParaRPr lang="en-US" sz="3000" dirty="0" smtClean="0">
              <a:latin typeface="Times New Roman" panose="02020603050405020304" pitchFamily="18" charset="0"/>
              <a:cs typeface="Times New Roman" panose="02020603050405020304" pitchFamily="18" charset="0"/>
            </a:endParaRPr>
          </a:p>
          <a:p>
            <a:endParaRPr lang="en-US" sz="3000" dirty="0">
              <a:latin typeface="+mj-lt"/>
            </a:endParaRPr>
          </a:p>
          <a:p>
            <a:endParaRPr lang="en-US" sz="3000" dirty="0" smtClean="0">
              <a:latin typeface="+mj-lt"/>
            </a:endParaRPr>
          </a:p>
          <a:p>
            <a:endParaRPr lang="en-US" sz="3000" dirty="0">
              <a:latin typeface="+mj-lt"/>
            </a:endParaRPr>
          </a:p>
          <a:p>
            <a:endParaRPr lang="en-US" sz="3000" dirty="0" smtClean="0">
              <a:latin typeface="+mj-lt"/>
            </a:endParaRPr>
          </a:p>
          <a:p>
            <a:endParaRPr lang="en-US" sz="3000" dirty="0" smtClean="0">
              <a:latin typeface="+mj-lt"/>
            </a:endParaRPr>
          </a:p>
          <a:p>
            <a:endParaRPr lang="en-US" sz="3000" dirty="0" smtClean="0">
              <a:latin typeface="+mj-lt"/>
            </a:endParaRPr>
          </a:p>
          <a:p>
            <a:r>
              <a:rPr lang="en-US" sz="3000" b="1" dirty="0" err="1" smtClean="0">
                <a:solidFill>
                  <a:srgbClr val="FF0000"/>
                </a:solidFill>
                <a:latin typeface="Times New Roman" panose="02020603050405020304" pitchFamily="18" charset="0"/>
                <a:cs typeface="Times New Roman" panose="02020603050405020304" pitchFamily="18" charset="0"/>
              </a:rPr>
              <a:t>Độ</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dài</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sóng</a:t>
            </a:r>
            <a:r>
              <a:rPr lang="vi-VN" sz="3000" b="1" dirty="0" smtClean="0">
                <a:solidFill>
                  <a:srgbClr val="FF0000"/>
                </a:solidFill>
                <a:latin typeface="Times New Roman" panose="02020603050405020304" pitchFamily="18" charset="0"/>
                <a:cs typeface="Times New Roman" panose="02020603050405020304" pitchFamily="18" charset="0"/>
              </a:rPr>
              <a:t> </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Tốc</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độ</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truyền</a:t>
            </a:r>
            <a:r>
              <a:rPr lang="en-US" sz="3000" b="1" dirty="0" smtClean="0">
                <a:solidFill>
                  <a:srgbClr val="FF0000"/>
                </a:solidFill>
                <a:latin typeface="Times New Roman" panose="02020603050405020304" pitchFamily="18" charset="0"/>
                <a:cs typeface="Times New Roman" panose="02020603050405020304" pitchFamily="18" charset="0"/>
              </a:rPr>
              <a:t> x Chu </a:t>
            </a:r>
            <a:r>
              <a:rPr lang="en-US" sz="3000" b="1" dirty="0" err="1" smtClean="0">
                <a:solidFill>
                  <a:srgbClr val="FF0000"/>
                </a:solidFill>
                <a:latin typeface="Times New Roman" panose="02020603050405020304" pitchFamily="18" charset="0"/>
                <a:cs typeface="Times New Roman" panose="02020603050405020304" pitchFamily="18" charset="0"/>
              </a:rPr>
              <a:t>kì</a:t>
            </a:r>
            <a:endParaRPr lang="en-US" sz="3000" b="1" dirty="0" smtClean="0">
              <a:solidFill>
                <a:srgbClr val="FF0000"/>
              </a:solidFill>
              <a:latin typeface="Times New Roman" panose="02020603050405020304" pitchFamily="18" charset="0"/>
              <a:cs typeface="Times New Roman" panose="02020603050405020304" pitchFamily="18" charset="0"/>
            </a:endParaRPr>
          </a:p>
          <a:p>
            <a:r>
              <a:rPr lang="en-US" sz="3000" b="1" dirty="0" err="1">
                <a:solidFill>
                  <a:srgbClr val="FF0000"/>
                </a:solidFill>
                <a:latin typeface="Times New Roman" panose="02020603050405020304" pitchFamily="18" charset="0"/>
                <a:cs typeface="Times New Roman" panose="02020603050405020304" pitchFamily="18" charset="0"/>
              </a:rPr>
              <a:t>Độ</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dài</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sóng</a:t>
            </a:r>
            <a:r>
              <a:rPr lang="vi-VN" sz="3000" b="1" dirty="0">
                <a:solidFill>
                  <a:srgbClr val="FF0000"/>
                </a:solidFill>
                <a:latin typeface="Times New Roman" panose="02020603050405020304" pitchFamily="18" charset="0"/>
                <a:cs typeface="Times New Roman" panose="02020603050405020304" pitchFamily="18" charset="0"/>
              </a:rPr>
              <a:t> </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Tốc</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độ</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err="1">
                <a:solidFill>
                  <a:srgbClr val="FF0000"/>
                </a:solidFill>
                <a:latin typeface="Times New Roman" panose="02020603050405020304" pitchFamily="18" charset="0"/>
                <a:cs typeface="Times New Roman" panose="02020603050405020304" pitchFamily="18" charset="0"/>
              </a:rPr>
              <a:t>truyền</a:t>
            </a:r>
            <a:r>
              <a:rPr lang="en-US" sz="3000" b="1" dirty="0">
                <a:solidFill>
                  <a:srgbClr val="FF0000"/>
                </a:solidFill>
                <a:latin typeface="Times New Roman" panose="02020603050405020304" pitchFamily="18" charset="0"/>
                <a:cs typeface="Times New Roman" panose="02020603050405020304" pitchFamily="18" charset="0"/>
              </a:rPr>
              <a:t> </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Tần</a:t>
            </a:r>
            <a:r>
              <a:rPr lang="en-US" sz="3000" b="1" dirty="0" smtClean="0">
                <a:solidFill>
                  <a:srgbClr val="FF0000"/>
                </a:solidFill>
                <a:latin typeface="Times New Roman" panose="02020603050405020304" pitchFamily="18" charset="0"/>
                <a:cs typeface="Times New Roman" panose="02020603050405020304" pitchFamily="18" charset="0"/>
              </a:rPr>
              <a:t> </a:t>
            </a:r>
            <a:r>
              <a:rPr lang="en-US" sz="3000" b="1" dirty="0" err="1" smtClean="0">
                <a:solidFill>
                  <a:srgbClr val="FF0000"/>
                </a:solidFill>
                <a:latin typeface="Times New Roman" panose="02020603050405020304" pitchFamily="18" charset="0"/>
                <a:cs typeface="Times New Roman" panose="02020603050405020304" pitchFamily="18" charset="0"/>
              </a:rPr>
              <a:t>số</a:t>
            </a:r>
            <a:r>
              <a:rPr lang="vi-VN" dirty="0" smtClean="0"/>
              <a:t/>
            </a:r>
            <a:br>
              <a:rPr lang="vi-VN" dirty="0" smtClean="0"/>
            </a:br>
            <a:endParaRPr lang="en-US" dirty="0"/>
          </a:p>
        </p:txBody>
      </p:sp>
      <p:pic>
        <p:nvPicPr>
          <p:cNvPr id="4" name="Picture 3"/>
          <p:cNvPicPr>
            <a:picLocks noChangeAspect="1"/>
          </p:cNvPicPr>
          <p:nvPr/>
        </p:nvPicPr>
        <p:blipFill>
          <a:blip r:embed="rId3"/>
          <a:stretch>
            <a:fillRect/>
          </a:stretch>
        </p:blipFill>
        <p:spPr>
          <a:xfrm>
            <a:off x="1915886" y="2034611"/>
            <a:ext cx="6879772" cy="2511662"/>
          </a:xfrm>
          <a:prstGeom prst="rect">
            <a:avLst/>
          </a:prstGeom>
        </p:spPr>
      </p:pic>
      <p:graphicFrame>
        <p:nvGraphicFramePr>
          <p:cNvPr id="5" name="Object 1"/>
          <p:cNvGraphicFramePr>
            <a:graphicFrameLocks noChangeAspect="1"/>
          </p:cNvGraphicFramePr>
          <p:nvPr>
            <p:extLst>
              <p:ext uri="{D42A27DB-BD31-4B8C-83A1-F6EECF244321}">
                <p14:modId xmlns:p14="http://schemas.microsoft.com/office/powerpoint/2010/main" val="1048451144"/>
              </p:ext>
            </p:extLst>
          </p:nvPr>
        </p:nvGraphicFramePr>
        <p:xfrm>
          <a:off x="7721828" y="4427457"/>
          <a:ext cx="1378630" cy="1444384"/>
        </p:xfrm>
        <a:graphic>
          <a:graphicData uri="http://schemas.openxmlformats.org/presentationml/2006/ole">
            <mc:AlternateContent xmlns:mc="http://schemas.openxmlformats.org/markup-compatibility/2006">
              <mc:Choice xmlns:v="urn:schemas-microsoft-com:vml" Requires="v">
                <p:oleObj spid="_x0000_s2075" name="Equation" r:id="rId4" imgW="393480" imgH="406080" progId="Equation.DSMT4">
                  <p:embed/>
                </p:oleObj>
              </mc:Choice>
              <mc:Fallback>
                <p:oleObj name="Equation" r:id="rId4" imgW="393480" imgH="406080" progId="Equation.DSMT4">
                  <p:embed/>
                  <p:pic>
                    <p:nvPicPr>
                      <p:cNvPr id="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1828" y="4427457"/>
                        <a:ext cx="1378630" cy="1444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2510971" y="2034611"/>
            <a:ext cx="1262743" cy="6069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1655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Dung </a:t>
            </a:r>
            <a:r>
              <a:rPr lang="en-US" dirty="0" err="1" smtClean="0"/>
              <a:t>lượng</a:t>
            </a:r>
            <a:r>
              <a:rPr lang="en-US" dirty="0" smtClean="0"/>
              <a:t> </a:t>
            </a:r>
            <a:r>
              <a:rPr lang="en-US" dirty="0" err="1" smtClean="0"/>
              <a:t>kênh</a:t>
            </a:r>
            <a:r>
              <a:rPr lang="en-US" dirty="0" smtClean="0"/>
              <a:t> Shannon</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v"/>
            </a:pPr>
            <a:r>
              <a:rPr lang="en-US" sz="3000" dirty="0" smtClean="0">
                <a:latin typeface="+mj-lt"/>
              </a:rPr>
              <a:t> </a:t>
            </a:r>
            <a:r>
              <a:rPr lang="vi-VN" sz="3000" b="1" dirty="0" smtClean="0">
                <a:latin typeface="+mj-lt"/>
              </a:rPr>
              <a:t>Dung </a:t>
            </a:r>
            <a:r>
              <a:rPr lang="vi-VN" sz="3000" b="1" dirty="0">
                <a:latin typeface="+mj-lt"/>
              </a:rPr>
              <a:t>lượng kênh: </a:t>
            </a:r>
            <a:r>
              <a:rPr lang="vi-VN" sz="3000" dirty="0">
                <a:latin typeface="+mj-lt"/>
              </a:rPr>
              <a:t>Xác định tốc độ truyền dữ liệu cực đại theo lý thuyết của </a:t>
            </a:r>
            <a:r>
              <a:rPr lang="vi-VN" sz="3000" dirty="0" smtClean="0">
                <a:latin typeface="+mj-lt"/>
              </a:rPr>
              <a:t>một</a:t>
            </a:r>
            <a:r>
              <a:rPr lang="en-US" sz="3000" dirty="0" smtClean="0">
                <a:latin typeface="+mj-lt"/>
              </a:rPr>
              <a:t> </a:t>
            </a:r>
            <a:r>
              <a:rPr lang="vi-VN" sz="3000" dirty="0" smtClean="0">
                <a:latin typeface="+mj-lt"/>
              </a:rPr>
              <a:t>kênh truyền</a:t>
            </a:r>
            <a:endParaRPr lang="en-US" sz="3000" dirty="0">
              <a:latin typeface="+mj-lt"/>
            </a:endParaRPr>
          </a:p>
          <a:p>
            <a:endParaRPr lang="en-US" sz="3000" dirty="0" smtClean="0">
              <a:latin typeface="+mj-lt"/>
            </a:endParaRPr>
          </a:p>
          <a:p>
            <a:endParaRPr lang="en-US" sz="3000" dirty="0">
              <a:latin typeface="+mj-lt"/>
            </a:endParaRPr>
          </a:p>
          <a:p>
            <a:pPr>
              <a:buFont typeface="Wingdings" panose="05000000000000000000" pitchFamily="2" charset="2"/>
              <a:buChar char="v"/>
            </a:pPr>
            <a:r>
              <a:rPr lang="en-US" sz="3000" dirty="0" smtClean="0">
                <a:latin typeface="+mj-lt"/>
              </a:rPr>
              <a:t> </a:t>
            </a:r>
            <a:r>
              <a:rPr lang="vi-VN" sz="3000" dirty="0" smtClean="0">
                <a:latin typeface="+mj-lt"/>
              </a:rPr>
              <a:t>Trong đó</a:t>
            </a:r>
            <a:endParaRPr lang="en-US" sz="3000" dirty="0">
              <a:latin typeface="+mj-lt"/>
            </a:endParaRPr>
          </a:p>
          <a:p>
            <a:r>
              <a:rPr lang="vi-VN" b="1" dirty="0" smtClean="0">
                <a:latin typeface="+mj-lt"/>
              </a:rPr>
              <a:t>C[bps</a:t>
            </a:r>
            <a:r>
              <a:rPr lang="vi-VN" b="1" dirty="0">
                <a:latin typeface="+mj-lt"/>
              </a:rPr>
              <a:t>]: </a:t>
            </a:r>
            <a:r>
              <a:rPr lang="vi-VN" dirty="0">
                <a:latin typeface="+mj-lt"/>
              </a:rPr>
              <a:t>Dung lượng </a:t>
            </a:r>
            <a:r>
              <a:rPr lang="vi-VN" dirty="0" smtClean="0">
                <a:latin typeface="+mj-lt"/>
              </a:rPr>
              <a:t>kênh.</a:t>
            </a:r>
            <a:endParaRPr lang="en-US" dirty="0">
              <a:latin typeface="+mj-lt"/>
            </a:endParaRPr>
          </a:p>
          <a:p>
            <a:r>
              <a:rPr lang="vi-VN" dirty="0" smtClean="0">
                <a:latin typeface="+mj-lt"/>
              </a:rPr>
              <a:t>B[Hz]: </a:t>
            </a:r>
            <a:r>
              <a:rPr lang="vi-VN" dirty="0">
                <a:latin typeface="+mj-lt"/>
              </a:rPr>
              <a:t>Băng thông của kênh </a:t>
            </a:r>
            <a:r>
              <a:rPr lang="vi-VN" dirty="0" smtClean="0">
                <a:latin typeface="+mj-lt"/>
              </a:rPr>
              <a:t>truyền.</a:t>
            </a:r>
            <a:endParaRPr lang="en-US" dirty="0">
              <a:latin typeface="+mj-lt"/>
            </a:endParaRPr>
          </a:p>
          <a:p>
            <a:r>
              <a:rPr lang="vi-VN" dirty="0" smtClean="0">
                <a:latin typeface="+mj-lt"/>
              </a:rPr>
              <a:t>S/N: </a:t>
            </a:r>
            <a:r>
              <a:rPr lang="vi-VN" dirty="0">
                <a:latin typeface="+mj-lt"/>
              </a:rPr>
              <a:t>Tỉ số công suất tín hiệu trên công suất </a:t>
            </a:r>
            <a:r>
              <a:rPr lang="vi-VN" dirty="0" smtClean="0">
                <a:latin typeface="+mj-lt"/>
              </a:rPr>
              <a:t>nhiễu</a:t>
            </a:r>
            <a:endParaRPr lang="en-US" dirty="0" smtClean="0">
              <a:latin typeface="+mj-lt"/>
            </a:endParaRPr>
          </a:p>
          <a:p>
            <a:r>
              <a:rPr lang="vi-VN" dirty="0" smtClean="0">
                <a:latin typeface="+mj-lt"/>
              </a:rPr>
              <a:t>S(W</a:t>
            </a:r>
            <a:r>
              <a:rPr lang="vi-VN" dirty="0">
                <a:latin typeface="+mj-lt"/>
              </a:rPr>
              <a:t>): Công suất tín hiệu; N (W): Công suất nhiễu </a:t>
            </a:r>
            <a:r>
              <a:rPr lang="vi-VN" dirty="0"/>
              <a:t/>
            </a:r>
            <a:br>
              <a:rPr lang="vi-VN" dirty="0"/>
            </a:br>
            <a:r>
              <a:rPr lang="vi-VN" dirty="0"/>
              <a:t/>
            </a:r>
            <a:br>
              <a:rPr lang="vi-VN" dirty="0"/>
            </a:br>
            <a:endParaRPr lang="en-US" dirty="0"/>
          </a:p>
        </p:txBody>
      </p:sp>
      <p:graphicFrame>
        <p:nvGraphicFramePr>
          <p:cNvPr id="4" name="Object 1"/>
          <p:cNvGraphicFramePr>
            <a:graphicFrameLocks noChangeAspect="1"/>
          </p:cNvGraphicFramePr>
          <p:nvPr>
            <p:extLst>
              <p:ext uri="{D42A27DB-BD31-4B8C-83A1-F6EECF244321}">
                <p14:modId xmlns:p14="http://schemas.microsoft.com/office/powerpoint/2010/main" val="262336746"/>
              </p:ext>
            </p:extLst>
          </p:nvPr>
        </p:nvGraphicFramePr>
        <p:xfrm>
          <a:off x="3689803" y="2264230"/>
          <a:ext cx="3235999" cy="1207859"/>
        </p:xfrm>
        <a:graphic>
          <a:graphicData uri="http://schemas.openxmlformats.org/presentationml/2006/ole">
            <mc:AlternateContent xmlns:mc="http://schemas.openxmlformats.org/markup-compatibility/2006">
              <mc:Choice xmlns:v="urn:schemas-microsoft-com:vml" Requires="v">
                <p:oleObj spid="_x0000_s3096" name="Equation" r:id="rId3" imgW="1104840" imgH="406080" progId="Equation.DSMT4">
                  <p:embed/>
                </p:oleObj>
              </mc:Choice>
              <mc:Fallback>
                <p:oleObj name="Equation" r:id="rId3" imgW="1104840" imgH="40608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9803" y="2264230"/>
                        <a:ext cx="3235999" cy="12078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828316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Antenna Gain</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4562" y="1444239"/>
            <a:ext cx="5919948" cy="5049190"/>
          </a:xfr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9921" y="2136980"/>
            <a:ext cx="3644642" cy="460940"/>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7852" y="3264493"/>
            <a:ext cx="6472139" cy="2641244"/>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00722" y="5905737"/>
            <a:ext cx="5073650" cy="406400"/>
          </a:xfrm>
          <a:prstGeom prst="rect">
            <a:avLst/>
          </a:prstGeom>
        </p:spPr>
      </p:pic>
    </p:spTree>
    <p:extLst>
      <p:ext uri="{BB962C8B-B14F-4D97-AF65-F5344CB8AC3E}">
        <p14:creationId xmlns:p14="http://schemas.microsoft.com/office/powerpoint/2010/main" val="1698983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1585</TotalTime>
  <Words>2302</Words>
  <Application>Microsoft Office PowerPoint</Application>
  <PresentationFormat>Custom</PresentationFormat>
  <Paragraphs>239</Paragraphs>
  <Slides>49</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52" baseType="lpstr">
      <vt:lpstr>Office Theme</vt:lpstr>
      <vt:lpstr>Bitmap Image</vt:lpstr>
      <vt:lpstr>Equation</vt:lpstr>
      <vt:lpstr>KỸ THUẬT TRUYỀN SỐ LIỆU</vt:lpstr>
      <vt:lpstr>Nội dung môn học</vt:lpstr>
      <vt:lpstr>                 Chương 6</vt:lpstr>
      <vt:lpstr>Nội dung chương 6</vt:lpstr>
      <vt:lpstr>Môi trường truyền dẫn</vt:lpstr>
      <vt:lpstr>6.1 Môi trường có định hướng</vt:lpstr>
      <vt:lpstr>Cáp xoắn đôi</vt:lpstr>
      <vt:lpstr>Cáp xoắn đôi</vt:lpstr>
      <vt:lpstr>Cáp xoắn đôi</vt:lpstr>
      <vt:lpstr>Cáp xoắn đôi</vt:lpstr>
      <vt:lpstr>Cáp xoắn đôi</vt:lpstr>
      <vt:lpstr>Cáp xoắn đôi</vt:lpstr>
      <vt:lpstr>Cáp xoắn đôi</vt:lpstr>
      <vt:lpstr>Cáp xoắn đôi</vt:lpstr>
      <vt:lpstr>Cáp đồng trục (Coaxial cable)</vt:lpstr>
      <vt:lpstr>PowerPoint Presentation</vt:lpstr>
      <vt:lpstr>Cáp đồng trục (Coaxial cable)</vt:lpstr>
      <vt:lpstr>Cáp đồng trục (Coaxial cable)</vt:lpstr>
      <vt:lpstr>Cáp quang</vt:lpstr>
      <vt:lpstr>Cáp quang</vt:lpstr>
      <vt:lpstr>Cáp quang</vt:lpstr>
      <vt:lpstr>Cáp quang</vt:lpstr>
      <vt:lpstr>Cáp quang</vt:lpstr>
      <vt:lpstr>Cáp quang</vt:lpstr>
      <vt:lpstr>6.2 Môi trường không định hướng</vt:lpstr>
      <vt:lpstr>Lan truyền sóng vô tuyến</vt:lpstr>
      <vt:lpstr>Lan truyền các tín hiệu đặc biệt</vt:lpstr>
      <vt:lpstr>Lan truyền các tín hiệu đặc biệt</vt:lpstr>
      <vt:lpstr>Lan truyền các tín hiệu đặc biệt</vt:lpstr>
      <vt:lpstr>Lan truyền các tín hiệu đặc biệt</vt:lpstr>
      <vt:lpstr>Vi ba mặt đất</vt:lpstr>
      <vt:lpstr>Vi ba mặt đất</vt:lpstr>
      <vt:lpstr>Thông tin vệ tinh</vt:lpstr>
      <vt:lpstr>Thông tin vệ tinh</vt:lpstr>
      <vt:lpstr>Điện thoại di động</vt:lpstr>
      <vt:lpstr>So sánh các môi trường truyền</vt:lpstr>
      <vt:lpstr>6.3 Tổn hao đường truyền</vt:lpstr>
      <vt:lpstr>Suy giảm (Attenuation) </vt:lpstr>
      <vt:lpstr>Suy giảm (Attenuation) </vt:lpstr>
      <vt:lpstr>Méo dạng (Distorsion) </vt:lpstr>
      <vt:lpstr>Nhiễu (Noise) </vt:lpstr>
      <vt:lpstr>Nhiễu (Noise) </vt:lpstr>
      <vt:lpstr>6.4 Hiệu suất (hiệu năng:Performance) </vt:lpstr>
      <vt:lpstr>Thông lượng (throughout)</vt:lpstr>
      <vt:lpstr>Vận tốc truyền (propagation speed) </vt:lpstr>
      <vt:lpstr>Thời gian truyền (propagation time) </vt:lpstr>
      <vt:lpstr>Bước sóng (wavelength)</vt:lpstr>
      <vt:lpstr>Dung lượng kênh Shannon</vt:lpstr>
      <vt:lpstr>Antenna Gain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133</cp:revision>
  <dcterms:created xsi:type="dcterms:W3CDTF">2020-05-27T05:21:30Z</dcterms:created>
  <dcterms:modified xsi:type="dcterms:W3CDTF">2022-03-03T09:31:59Z</dcterms:modified>
</cp:coreProperties>
</file>