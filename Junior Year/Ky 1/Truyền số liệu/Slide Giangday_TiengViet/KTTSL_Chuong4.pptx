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304" r:id="rId29"/>
    <p:sldId id="296" r:id="rId30"/>
    <p:sldId id="297" r:id="rId31"/>
    <p:sldId id="298" r:id="rId32"/>
    <p:sldId id="299" r:id="rId33"/>
    <p:sldId id="300" r:id="rId34"/>
    <p:sldId id="301" r:id="rId35"/>
    <p:sldId id="302" r:id="rId36"/>
    <p:sldId id="30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89" autoAdjust="0"/>
    <p:restoredTop sz="94660"/>
  </p:normalViewPr>
  <p:slideViewPr>
    <p:cSldViewPr snapToGrid="0">
      <p:cViewPr>
        <p:scale>
          <a:sx n="66" d="100"/>
          <a:sy n="66" d="100"/>
        </p:scale>
        <p:origin x="-824" y="-2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587BE8D5-EACC-475F-B772-4C6E30ECC271}"/>
              </a:ext>
            </a:extLst>
          </p:cNvPr>
          <p:cNvSpPr>
            <a:spLocks noGrp="1"/>
          </p:cNvSpPr>
          <p:nvPr>
            <p:ph type="dt" sz="half" idx="10"/>
          </p:nvPr>
        </p:nvSpPr>
        <p:spPr/>
        <p:txBody>
          <a:bodyPr/>
          <a:lstStyle/>
          <a:p>
            <a:fld id="{084A6D4B-7653-4E0B-8F57-D38CF83377BB}" type="datetimeFigureOut">
              <a:rPr lang="en-US" smtClean="0"/>
              <a:pPr/>
              <a:t>11/14/2022</a:t>
            </a:fld>
            <a:endParaRPr lang="en-US"/>
          </a:p>
        </p:txBody>
      </p:sp>
      <p:sp>
        <p:nvSpPr>
          <p:cNvPr id="5" name="Footer Placeholder 4">
            <a:extLst>
              <a:ext uri="{FF2B5EF4-FFF2-40B4-BE49-F238E27FC236}">
                <a16:creationId xmlns:a16="http://schemas.microsoft.com/office/drawing/2014/main" xmlns=""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EB453C0-1394-4470-9C6B-5680634C4EC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3146689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687351A-05B1-4209-ABD5-8A3B58E66BEF}"/>
              </a:ext>
            </a:extLst>
          </p:cNvPr>
          <p:cNvSpPr>
            <a:spLocks noGrp="1"/>
          </p:cNvSpPr>
          <p:nvPr>
            <p:ph type="dt" sz="half" idx="10"/>
          </p:nvPr>
        </p:nvSpPr>
        <p:spPr/>
        <p:txBody>
          <a:bodyPr/>
          <a:lstStyle/>
          <a:p>
            <a:fld id="{084A6D4B-7653-4E0B-8F57-D38CF83377BB}" type="datetimeFigureOut">
              <a:rPr lang="en-US" smtClean="0"/>
              <a:pPr/>
              <a:t>11/14/2022</a:t>
            </a:fld>
            <a:endParaRPr lang="en-US"/>
          </a:p>
        </p:txBody>
      </p:sp>
      <p:sp>
        <p:nvSpPr>
          <p:cNvPr id="5" name="Footer Placeholder 4">
            <a:extLst>
              <a:ext uri="{FF2B5EF4-FFF2-40B4-BE49-F238E27FC236}">
                <a16:creationId xmlns:a16="http://schemas.microsoft.com/office/drawing/2014/main" xmlns=""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FC96612-9E2F-40CF-99EB-6E186AFA1352}"/>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8254176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E6464CF-570F-4361-9C22-BC3CA88D148C}"/>
              </a:ext>
            </a:extLst>
          </p:cNvPr>
          <p:cNvSpPr>
            <a:spLocks noGrp="1"/>
          </p:cNvSpPr>
          <p:nvPr>
            <p:ph type="dt" sz="half" idx="10"/>
          </p:nvPr>
        </p:nvSpPr>
        <p:spPr/>
        <p:txBody>
          <a:bodyPr/>
          <a:lstStyle/>
          <a:p>
            <a:fld id="{084A6D4B-7653-4E0B-8F57-D38CF83377BB}" type="datetimeFigureOut">
              <a:rPr lang="en-US" smtClean="0"/>
              <a:pPr/>
              <a:t>11/14/2022</a:t>
            </a:fld>
            <a:endParaRPr lang="en-US"/>
          </a:p>
        </p:txBody>
      </p:sp>
      <p:sp>
        <p:nvSpPr>
          <p:cNvPr id="5" name="Footer Placeholder 4">
            <a:extLst>
              <a:ext uri="{FF2B5EF4-FFF2-40B4-BE49-F238E27FC236}">
                <a16:creationId xmlns:a16="http://schemas.microsoft.com/office/drawing/2014/main" xmlns=""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8E02877-DE60-4015-8FCF-892ACE36AA54}"/>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1406197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6C573B90-884B-4A9F-A8FA-7F1E17F9DBD1}"/>
              </a:ext>
            </a:extLst>
          </p:cNvPr>
          <p:cNvSpPr>
            <a:spLocks noGrp="1"/>
          </p:cNvSpPr>
          <p:nvPr>
            <p:ph type="dt" sz="half" idx="10"/>
          </p:nvPr>
        </p:nvSpPr>
        <p:spPr/>
        <p:txBody>
          <a:bodyPr/>
          <a:lstStyle/>
          <a:p>
            <a:fld id="{084A6D4B-7653-4E0B-8F57-D38CF83377BB}" type="datetimeFigureOut">
              <a:rPr lang="en-US" smtClean="0"/>
              <a:pPr/>
              <a:t>11/14/2022</a:t>
            </a:fld>
            <a:endParaRPr lang="en-US"/>
          </a:p>
        </p:txBody>
      </p:sp>
      <p:sp>
        <p:nvSpPr>
          <p:cNvPr id="6" name="Footer Placeholder 5">
            <a:extLst>
              <a:ext uri="{FF2B5EF4-FFF2-40B4-BE49-F238E27FC236}">
                <a16:creationId xmlns:a16="http://schemas.microsoft.com/office/drawing/2014/main" xmlns=""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884A89C-CCFA-45DE-98FF-AD7815AB839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3194253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99B471D-3ADB-4293-9A4B-67CF34A75DFE}"/>
              </a:ext>
            </a:extLst>
          </p:cNvPr>
          <p:cNvSpPr>
            <a:spLocks noGrp="1"/>
          </p:cNvSpPr>
          <p:nvPr>
            <p:ph type="dt" sz="half" idx="10"/>
          </p:nvPr>
        </p:nvSpPr>
        <p:spPr/>
        <p:txBody>
          <a:bodyPr/>
          <a:lstStyle/>
          <a:p>
            <a:fld id="{084A6D4B-7653-4E0B-8F57-D38CF83377BB}" type="datetimeFigureOut">
              <a:rPr lang="en-US" smtClean="0"/>
              <a:pPr/>
              <a:t>11/14/2022</a:t>
            </a:fld>
            <a:endParaRPr lang="en-US"/>
          </a:p>
        </p:txBody>
      </p:sp>
      <p:sp>
        <p:nvSpPr>
          <p:cNvPr id="8" name="Footer Placeholder 7">
            <a:extLst>
              <a:ext uri="{FF2B5EF4-FFF2-40B4-BE49-F238E27FC236}">
                <a16:creationId xmlns:a16="http://schemas.microsoft.com/office/drawing/2014/main" xmlns=""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83038AC-F431-4B77-9D3B-926E6AB6988E}"/>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7940865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6201745-3FA6-4569-A489-EF0EA162A557}"/>
              </a:ext>
            </a:extLst>
          </p:cNvPr>
          <p:cNvSpPr>
            <a:spLocks noGrp="1"/>
          </p:cNvSpPr>
          <p:nvPr>
            <p:ph type="dt" sz="half" idx="10"/>
          </p:nvPr>
        </p:nvSpPr>
        <p:spPr/>
        <p:txBody>
          <a:bodyPr/>
          <a:lstStyle/>
          <a:p>
            <a:fld id="{084A6D4B-7653-4E0B-8F57-D38CF83377BB}" type="datetimeFigureOut">
              <a:rPr lang="en-US" smtClean="0"/>
              <a:pPr/>
              <a:t>11/14/2022</a:t>
            </a:fld>
            <a:endParaRPr lang="en-US"/>
          </a:p>
        </p:txBody>
      </p:sp>
      <p:sp>
        <p:nvSpPr>
          <p:cNvPr id="4" name="Footer Placeholder 3">
            <a:extLst>
              <a:ext uri="{FF2B5EF4-FFF2-40B4-BE49-F238E27FC236}">
                <a16:creationId xmlns:a16="http://schemas.microsoft.com/office/drawing/2014/main" xmlns=""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FD1EE18-4D1C-4701-8BBA-0169DC7CC46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5758413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19FDDA1-6ACB-4F4D-B161-8B6F5641054C}"/>
              </a:ext>
            </a:extLst>
          </p:cNvPr>
          <p:cNvSpPr>
            <a:spLocks noGrp="1"/>
          </p:cNvSpPr>
          <p:nvPr>
            <p:ph type="dt" sz="half" idx="10"/>
          </p:nvPr>
        </p:nvSpPr>
        <p:spPr/>
        <p:txBody>
          <a:bodyPr/>
          <a:lstStyle/>
          <a:p>
            <a:fld id="{084A6D4B-7653-4E0B-8F57-D38CF83377BB}" type="datetimeFigureOut">
              <a:rPr lang="en-US" smtClean="0"/>
              <a:pPr/>
              <a:t>11/14/2022</a:t>
            </a:fld>
            <a:endParaRPr lang="en-US"/>
          </a:p>
        </p:txBody>
      </p:sp>
      <p:sp>
        <p:nvSpPr>
          <p:cNvPr id="3" name="Footer Placeholder 2">
            <a:extLst>
              <a:ext uri="{FF2B5EF4-FFF2-40B4-BE49-F238E27FC236}">
                <a16:creationId xmlns:a16="http://schemas.microsoft.com/office/drawing/2014/main" xmlns=""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F1E89CA0-249C-4A75-A3B7-DBDE4463B16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93627094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70FB378-A528-4D34-A3DA-9AAD4037616B}"/>
              </a:ext>
            </a:extLst>
          </p:cNvPr>
          <p:cNvSpPr>
            <a:spLocks noGrp="1"/>
          </p:cNvSpPr>
          <p:nvPr>
            <p:ph type="dt" sz="half" idx="10"/>
          </p:nvPr>
        </p:nvSpPr>
        <p:spPr/>
        <p:txBody>
          <a:bodyPr/>
          <a:lstStyle/>
          <a:p>
            <a:fld id="{084A6D4B-7653-4E0B-8F57-D38CF83377BB}" type="datetimeFigureOut">
              <a:rPr lang="en-US" smtClean="0"/>
              <a:pPr/>
              <a:t>11/14/2022</a:t>
            </a:fld>
            <a:endParaRPr lang="en-US"/>
          </a:p>
        </p:txBody>
      </p:sp>
      <p:sp>
        <p:nvSpPr>
          <p:cNvPr id="6" name="Footer Placeholder 5">
            <a:extLst>
              <a:ext uri="{FF2B5EF4-FFF2-40B4-BE49-F238E27FC236}">
                <a16:creationId xmlns:a16="http://schemas.microsoft.com/office/drawing/2014/main" xmlns=""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F277388-E30C-4DA3-B6CF-2F6706424C68}"/>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7788268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6D51B13-BF22-4142-BD28-F2F7C6142ECF}"/>
              </a:ext>
            </a:extLst>
          </p:cNvPr>
          <p:cNvSpPr>
            <a:spLocks noGrp="1"/>
          </p:cNvSpPr>
          <p:nvPr>
            <p:ph type="dt" sz="half" idx="10"/>
          </p:nvPr>
        </p:nvSpPr>
        <p:spPr/>
        <p:txBody>
          <a:bodyPr/>
          <a:lstStyle/>
          <a:p>
            <a:fld id="{084A6D4B-7653-4E0B-8F57-D38CF83377BB}" type="datetimeFigureOut">
              <a:rPr lang="en-US" smtClean="0"/>
              <a:pPr/>
              <a:t>11/14/2022</a:t>
            </a:fld>
            <a:endParaRPr lang="en-US"/>
          </a:p>
        </p:txBody>
      </p:sp>
      <p:sp>
        <p:nvSpPr>
          <p:cNvPr id="6" name="Footer Placeholder 5">
            <a:extLst>
              <a:ext uri="{FF2B5EF4-FFF2-40B4-BE49-F238E27FC236}">
                <a16:creationId xmlns:a16="http://schemas.microsoft.com/office/drawing/2014/main" xmlns=""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179F60B-0CBB-4728-801E-BBB606D2C381}"/>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9970750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94F3758-74C8-452E-83A6-2CC57BC5F423}"/>
              </a:ext>
            </a:extLst>
          </p:cNvPr>
          <p:cNvSpPr>
            <a:spLocks noGrp="1"/>
          </p:cNvSpPr>
          <p:nvPr>
            <p:ph type="dt" sz="half" idx="10"/>
          </p:nvPr>
        </p:nvSpPr>
        <p:spPr/>
        <p:txBody>
          <a:bodyPr/>
          <a:lstStyle/>
          <a:p>
            <a:fld id="{084A6D4B-7653-4E0B-8F57-D38CF83377BB}" type="datetimeFigureOut">
              <a:rPr lang="en-US" smtClean="0"/>
              <a:pPr/>
              <a:t>11/14/2022</a:t>
            </a:fld>
            <a:endParaRPr lang="en-US"/>
          </a:p>
        </p:txBody>
      </p:sp>
      <p:sp>
        <p:nvSpPr>
          <p:cNvPr id="5" name="Footer Placeholder 4">
            <a:extLst>
              <a:ext uri="{FF2B5EF4-FFF2-40B4-BE49-F238E27FC236}">
                <a16:creationId xmlns:a16="http://schemas.microsoft.com/office/drawing/2014/main" xmlns=""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11D2088-CE38-4639-9C50-5E8FE341BD1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46818737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8937CC0-663F-45FD-AF01-CB2762545C84}"/>
              </a:ext>
            </a:extLst>
          </p:cNvPr>
          <p:cNvSpPr>
            <a:spLocks noGrp="1"/>
          </p:cNvSpPr>
          <p:nvPr>
            <p:ph type="dt" sz="half" idx="10"/>
          </p:nvPr>
        </p:nvSpPr>
        <p:spPr/>
        <p:txBody>
          <a:bodyPr/>
          <a:lstStyle/>
          <a:p>
            <a:fld id="{084A6D4B-7653-4E0B-8F57-D38CF83377BB}" type="datetimeFigureOut">
              <a:rPr lang="en-US" smtClean="0"/>
              <a:pPr/>
              <a:t>11/14/2022</a:t>
            </a:fld>
            <a:endParaRPr lang="en-US"/>
          </a:p>
        </p:txBody>
      </p:sp>
      <p:sp>
        <p:nvSpPr>
          <p:cNvPr id="5" name="Footer Placeholder 4">
            <a:extLst>
              <a:ext uri="{FF2B5EF4-FFF2-40B4-BE49-F238E27FC236}">
                <a16:creationId xmlns:a16="http://schemas.microsoft.com/office/drawing/2014/main" xmlns=""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C1762EC-6177-4132-ACB5-5C730475D94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1170246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pPr/>
              <a:t>11/14/2022</a:t>
            </a:fld>
            <a:endParaRPr lang="en-US"/>
          </a:p>
        </p:txBody>
      </p:sp>
      <p:sp>
        <p:nvSpPr>
          <p:cNvPr id="5" name="Footer Placeholder 4">
            <a:extLst>
              <a:ext uri="{FF2B5EF4-FFF2-40B4-BE49-F238E27FC236}">
                <a16:creationId xmlns:a16="http://schemas.microsoft.com/office/drawing/2014/main" xmlns=""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pPr/>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5.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0.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D286FF-B124-458F-B57B-2B1D24945A8B}"/>
              </a:ext>
            </a:extLst>
          </p:cNvPr>
          <p:cNvSpPr>
            <a:spLocks noGrp="1"/>
          </p:cNvSpPr>
          <p:nvPr>
            <p:ph type="ctrTitle"/>
          </p:nvPr>
        </p:nvSpPr>
        <p:spPr/>
        <p:txBody>
          <a:bodyPr>
            <a:normAutofit/>
          </a:bodyPr>
          <a:lstStyle/>
          <a:p>
            <a:r>
              <a:rPr lang="en-US" sz="4400" dirty="0" smtClean="0"/>
              <a:t>KỸ THUẬT TRUYỀN SỐ LIỆU</a:t>
            </a:r>
            <a:endParaRPr lang="en-US" sz="4400" dirty="0"/>
          </a:p>
        </p:txBody>
      </p:sp>
      <p:sp>
        <p:nvSpPr>
          <p:cNvPr id="3" name="Subtitle 2">
            <a:extLst>
              <a:ext uri="{FF2B5EF4-FFF2-40B4-BE49-F238E27FC236}">
                <a16:creationId xmlns:a16="http://schemas.microsoft.com/office/drawing/2014/main" xmlns="" id="{5B71ED79-E603-4351-A7EB-B158BDF0BA05}"/>
              </a:ext>
            </a:extLst>
          </p:cNvPr>
          <p:cNvSpPr>
            <a:spLocks noGrp="1"/>
          </p:cNvSpPr>
          <p:nvPr>
            <p:ph type="subTitle" idx="1"/>
          </p:nvPr>
        </p:nvSpPr>
        <p:spPr/>
        <p:txBody>
          <a:bodyPr>
            <a:normAutofit/>
          </a:bodyPr>
          <a:lstStyle/>
          <a:p>
            <a:r>
              <a:rPr lang="en-US" sz="3200" dirty="0" smtClean="0"/>
              <a:t>(DATA COMMUNICATION TECHNOLOGY)</a:t>
            </a:r>
            <a:endParaRPr lang="en-US" sz="3200" dirty="0"/>
          </a:p>
        </p:txBody>
      </p:sp>
    </p:spTree>
    <p:extLst>
      <p:ext uri="{BB962C8B-B14F-4D97-AF65-F5344CB8AC3E}">
        <p14:creationId xmlns:p14="http://schemas.microsoft.com/office/powerpoint/2010/main" val="14560913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0D1B0C-9F51-49D2-9435-3E7CBF678872}"/>
              </a:ext>
            </a:extLst>
          </p:cNvPr>
          <p:cNvSpPr>
            <a:spLocks noGrp="1"/>
          </p:cNvSpPr>
          <p:nvPr>
            <p:ph type="title"/>
          </p:nvPr>
        </p:nvSpPr>
        <p:spPr>
          <a:xfrm>
            <a:off x="2043484" y="365126"/>
            <a:ext cx="9310315" cy="1137672"/>
          </a:xfrm>
        </p:spPr>
        <p:txBody>
          <a:bodyPr/>
          <a:lstStyle/>
          <a:p>
            <a:r>
              <a:rPr lang="en-US" dirty="0" smtClean="0"/>
              <a:t>Nội dung môn học</a:t>
            </a:r>
            <a:endParaRPr lang="en-US" dirty="0"/>
          </a:p>
        </p:txBody>
      </p:sp>
      <p:sp>
        <p:nvSpPr>
          <p:cNvPr id="3" name="Content Placeholder 2">
            <a:extLst>
              <a:ext uri="{FF2B5EF4-FFF2-40B4-BE49-F238E27FC236}">
                <a16:creationId xmlns:a16="http://schemas.microsoft.com/office/drawing/2014/main" xmlns="" id="{093BB65F-E818-4AC8-969E-874A837A92F9}"/>
              </a:ext>
            </a:extLst>
          </p:cNvPr>
          <p:cNvSpPr>
            <a:spLocks noGrp="1"/>
          </p:cNvSpPr>
          <p:nvPr>
            <p:ph idx="1"/>
          </p:nvPr>
        </p:nvSpPr>
        <p:spPr>
          <a:xfrm>
            <a:off x="469127" y="1543050"/>
            <a:ext cx="11235193" cy="5029200"/>
          </a:xfrm>
        </p:spPr>
        <p:txBody>
          <a:bodyPr>
            <a:normAutofit fontScale="92500" lnSpcReduction="10000"/>
          </a:bodyPr>
          <a:lstStyle/>
          <a:p>
            <a:r>
              <a:rPr lang="en-US" sz="3200" b="1" dirty="0" smtClean="0"/>
              <a:t>Chương 1: </a:t>
            </a:r>
            <a:r>
              <a:rPr lang="en-US" sz="3200" dirty="0" smtClean="0"/>
              <a:t>Các khái niệm cơ bản</a:t>
            </a:r>
          </a:p>
          <a:p>
            <a:r>
              <a:rPr lang="en-US" sz="3200" b="1" dirty="0" smtClean="0"/>
              <a:t>Chương 2: </a:t>
            </a:r>
            <a:r>
              <a:rPr lang="en-US" sz="3200" dirty="0" smtClean="0"/>
              <a:t>Mô hình OSI</a:t>
            </a:r>
          </a:p>
          <a:p>
            <a:r>
              <a:rPr lang="en-US" sz="3200" b="1" dirty="0" smtClean="0"/>
              <a:t>Chương 3: </a:t>
            </a:r>
            <a:r>
              <a:rPr lang="en-US" sz="3200" dirty="0" smtClean="0"/>
              <a:t>Tín hiệu</a:t>
            </a:r>
          </a:p>
          <a:p>
            <a:r>
              <a:rPr lang="en-US" sz="3200" b="1" dirty="0" smtClean="0"/>
              <a:t>Chương 4: </a:t>
            </a:r>
            <a:r>
              <a:rPr lang="en-US" sz="3200" dirty="0" smtClean="0"/>
              <a:t>Mã hóa và điều chế</a:t>
            </a:r>
          </a:p>
          <a:p>
            <a:r>
              <a:rPr lang="en-US" sz="3200" b="1" dirty="0" smtClean="0"/>
              <a:t>Chương 5: </a:t>
            </a:r>
            <a:r>
              <a:rPr lang="en-US" sz="3200" dirty="0" smtClean="0"/>
              <a:t>Truyền dữ liệu số</a:t>
            </a:r>
          </a:p>
          <a:p>
            <a:r>
              <a:rPr lang="en-US" sz="3200" b="1" dirty="0" smtClean="0"/>
              <a:t>Chương 6: </a:t>
            </a:r>
            <a:r>
              <a:rPr lang="en-US" sz="3200" dirty="0" smtClean="0"/>
              <a:t>Môi trường truyền dẫn </a:t>
            </a:r>
          </a:p>
          <a:p>
            <a:r>
              <a:rPr lang="en-US" sz="3200" b="1" dirty="0" smtClean="0"/>
              <a:t>Chương 7: </a:t>
            </a:r>
            <a:r>
              <a:rPr lang="en-US" sz="3200" dirty="0" smtClean="0"/>
              <a:t>Ghép kênh</a:t>
            </a:r>
          </a:p>
          <a:p>
            <a:r>
              <a:rPr lang="en-US" sz="3200" b="1" dirty="0" smtClean="0"/>
              <a:t>Chương 8: </a:t>
            </a:r>
            <a:r>
              <a:rPr lang="en-US" sz="3200" dirty="0" smtClean="0"/>
              <a:t>Điều khiển kết nối và phát hiện sửa lỗi</a:t>
            </a:r>
          </a:p>
          <a:p>
            <a:r>
              <a:rPr lang="en-US" sz="3200" b="1" dirty="0" smtClean="0"/>
              <a:t>Chương 9: </a:t>
            </a:r>
            <a:r>
              <a:rPr lang="en-US" sz="3200" dirty="0" smtClean="0"/>
              <a:t>Giao thức kết nối dữ liệu</a:t>
            </a:r>
          </a:p>
          <a:p>
            <a:r>
              <a:rPr lang="en-US" sz="3200" b="1" dirty="0" smtClean="0"/>
              <a:t>Chương 10: </a:t>
            </a:r>
            <a:r>
              <a:rPr lang="en-US" sz="3200" dirty="0" smtClean="0"/>
              <a:t>Mạng cục bộ</a:t>
            </a:r>
          </a:p>
        </p:txBody>
      </p:sp>
    </p:spTree>
    <p:extLst>
      <p:ext uri="{BB962C8B-B14F-4D97-AF65-F5344CB8AC3E}">
        <p14:creationId xmlns:p14="http://schemas.microsoft.com/office/powerpoint/2010/main" val="3486448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Chương 4</a:t>
            </a:r>
            <a:endParaRPr lang="en-US" b="1" dirty="0"/>
          </a:p>
        </p:txBody>
      </p:sp>
      <p:sp>
        <p:nvSpPr>
          <p:cNvPr id="3" name="Content Placeholder 2"/>
          <p:cNvSpPr>
            <a:spLocks noGrp="1"/>
          </p:cNvSpPr>
          <p:nvPr>
            <p:ph idx="1"/>
          </p:nvPr>
        </p:nvSpPr>
        <p:spPr/>
        <p:txBody>
          <a:bodyPr>
            <a:normAutofit/>
          </a:bodyPr>
          <a:lstStyle/>
          <a:p>
            <a:pPr algn="ctr">
              <a:buNone/>
            </a:pPr>
            <a:r>
              <a:rPr lang="en-US" sz="6000" dirty="0" smtClean="0">
                <a:latin typeface="Times New Roman" pitchFamily="18" charset="0"/>
                <a:cs typeface="Times New Roman" pitchFamily="18" charset="0"/>
              </a:rPr>
              <a:t>MÃ HÓA VÀ ĐIỀU CHẾ</a:t>
            </a:r>
            <a:endParaRPr lang="en-US" sz="6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Nội dung chương 4</a:t>
            </a:r>
            <a:endParaRPr lang="en-US" dirty="0"/>
          </a:p>
        </p:txBody>
      </p:sp>
      <p:sp>
        <p:nvSpPr>
          <p:cNvPr id="3" name="Content Placeholder 2"/>
          <p:cNvSpPr>
            <a:spLocks noGrp="1"/>
          </p:cNvSpPr>
          <p:nvPr>
            <p:ph idx="1"/>
          </p:nvPr>
        </p:nvSpPr>
        <p:spPr/>
        <p:txBody>
          <a:bodyPr>
            <a:normAutofit/>
          </a:bodyPr>
          <a:lstStyle/>
          <a:p>
            <a:r>
              <a:rPr lang="en-US" sz="4000" dirty="0" smtClean="0"/>
              <a:t> Chuyển đổi số - số</a:t>
            </a:r>
          </a:p>
          <a:p>
            <a:r>
              <a:rPr lang="en-US" sz="4000" dirty="0" smtClean="0"/>
              <a:t> Chuyển đổi tương tự - số</a:t>
            </a:r>
          </a:p>
          <a:p>
            <a:r>
              <a:rPr lang="en-US" sz="4000" dirty="0" smtClean="0"/>
              <a:t>Chuyển đổi số - tương tự</a:t>
            </a:r>
          </a:p>
          <a:p>
            <a:r>
              <a:rPr lang="en-US" sz="4000" dirty="0" smtClean="0"/>
              <a:t> Chuyển đổi tương tự - tương tự</a:t>
            </a:r>
            <a:endParaRPr lang="en-US" sz="4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Mã hóa và điều chế</a:t>
            </a:r>
            <a:endParaRPr lang="en-US" dirty="0"/>
          </a:p>
        </p:txBody>
      </p:sp>
      <p:sp>
        <p:nvSpPr>
          <p:cNvPr id="3" name="Content Placeholder 2"/>
          <p:cNvSpPr>
            <a:spLocks noGrp="1"/>
          </p:cNvSpPr>
          <p:nvPr>
            <p:ph idx="1"/>
          </p:nvPr>
        </p:nvSpPr>
        <p:spPr/>
        <p:txBody>
          <a:bodyPr>
            <a:noAutofit/>
          </a:bodyPr>
          <a:lstStyle/>
          <a:p>
            <a:pPr algn="just">
              <a:buFont typeface="Wingdings" pitchFamily="2" charset="2"/>
              <a:buChar char="v"/>
            </a:pPr>
            <a:r>
              <a:rPr lang="en-US" sz="3200" dirty="0" smtClean="0">
                <a:latin typeface="+mj-lt"/>
              </a:rPr>
              <a:t> </a:t>
            </a:r>
            <a:r>
              <a:rPr lang="vi-VN" sz="3200" dirty="0" smtClean="0">
                <a:latin typeface="+mj-lt"/>
              </a:rPr>
              <a:t>Trong truyền thông, tin tức và dữ liệu là tất cả những gì cần trao đổi, chúng có thể là tiếng nói, hình ảnh, tập hợp các con số, các ký hiệu, các đại lượng đo lường . . . được đưa vào máy phát để phát đi hay nhận được ở máy thu. </a:t>
            </a:r>
            <a:endParaRPr lang="en-US" sz="3200" dirty="0" smtClean="0">
              <a:latin typeface="+mj-lt"/>
            </a:endParaRPr>
          </a:p>
          <a:p>
            <a:pPr algn="just">
              <a:buFont typeface="Wingdings" pitchFamily="2" charset="2"/>
              <a:buChar char="v"/>
            </a:pPr>
            <a:r>
              <a:rPr lang="en-US" sz="3200" dirty="0" smtClean="0">
                <a:latin typeface="+mj-lt"/>
              </a:rPr>
              <a:t> </a:t>
            </a:r>
            <a:r>
              <a:rPr lang="vi-VN" sz="3200" dirty="0" smtClean="0">
                <a:latin typeface="+mj-lt"/>
              </a:rPr>
              <a:t>Tín hiệu chính là tin tức đã được xử lý để có thể truyền đi trên hệ thống thông tin. </a:t>
            </a:r>
            <a:endParaRPr lang="en-US" sz="3200" dirty="0" smtClean="0">
              <a:latin typeface="+mj-lt"/>
            </a:endParaRPr>
          </a:p>
          <a:p>
            <a:pPr algn="just">
              <a:buFont typeface="Wingdings" pitchFamily="2" charset="2"/>
              <a:buChar char="v"/>
            </a:pPr>
            <a:r>
              <a:rPr lang="en-US" sz="3200" dirty="0" smtClean="0">
                <a:latin typeface="+mj-lt"/>
              </a:rPr>
              <a:t> </a:t>
            </a:r>
            <a:r>
              <a:rPr lang="vi-VN" sz="3200" dirty="0" smtClean="0">
                <a:latin typeface="+mj-lt"/>
              </a:rPr>
              <a:t>Việc xử lý bao gồm chuyển đổi, mã hóa và điều chế. </a:t>
            </a:r>
            <a:endParaRPr lang="en-US" sz="3200" dirty="0">
              <a:latin typeface="+mj-lt"/>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Mã hóa và điều chế</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dirty="0" smtClean="0">
                <a:latin typeface="Times New Roman" pitchFamily="18" charset="0"/>
                <a:cs typeface="Times New Roman" pitchFamily="18" charset="0"/>
              </a:rPr>
              <a:t> Các phương thức chuyển đổi</a:t>
            </a:r>
            <a:endParaRPr lang="en-US" sz="3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719138" y="2219324"/>
            <a:ext cx="10705420" cy="27146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4.1 Chuyển đổi số - số (Digital - Digital)</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v"/>
            </a:pPr>
            <a:r>
              <a:rPr lang="en-US" sz="3200" b="1" dirty="0" smtClean="0">
                <a:latin typeface="+mj-lt"/>
              </a:rPr>
              <a:t> </a:t>
            </a:r>
            <a:r>
              <a:rPr lang="vi-VN" sz="3200" b="1" dirty="0" smtClean="0">
                <a:latin typeface="+mj-lt"/>
              </a:rPr>
              <a:t>Khái niệm: </a:t>
            </a:r>
            <a:r>
              <a:rPr lang="vi-VN" sz="3200" dirty="0" smtClean="0">
                <a:latin typeface="+mj-lt"/>
              </a:rPr>
              <a:t>chuyển đổi</a:t>
            </a:r>
            <a:r>
              <a:rPr lang="en-US" sz="3200" dirty="0" smtClean="0">
                <a:latin typeface="+mj-lt"/>
              </a:rPr>
              <a:t> </a:t>
            </a:r>
            <a:r>
              <a:rPr lang="vi-VN" sz="3200" dirty="0" smtClean="0">
                <a:latin typeface="+mj-lt"/>
              </a:rPr>
              <a:t>(Mã hóa) số-số</a:t>
            </a:r>
            <a:r>
              <a:rPr lang="en-US" sz="3200" dirty="0" smtClean="0">
                <a:latin typeface="+mj-lt"/>
              </a:rPr>
              <a:t> </a:t>
            </a:r>
            <a:r>
              <a:rPr lang="vi-VN" sz="3200" dirty="0" smtClean="0">
                <a:latin typeface="+mj-lt"/>
              </a:rPr>
              <a:t>là phương pháp biểu diễn dữ liệu số bằng tín hiệu số. </a:t>
            </a:r>
          </a:p>
          <a:p>
            <a:pPr algn="just"/>
            <a:r>
              <a:rPr lang="vi-VN" sz="3200" dirty="0" smtClean="0">
                <a:latin typeface="+mj-lt"/>
              </a:rPr>
              <a:t>Ví dụ: khi truyền dữ liệu từ máy tính sang máy in, dữ liệu gốc và dữ liệu truyền đều ở dạng số.  </a:t>
            </a:r>
          </a:p>
          <a:p>
            <a:pPr algn="just">
              <a:buFont typeface="Wingdings" pitchFamily="2" charset="2"/>
              <a:buChar char="v"/>
            </a:pPr>
            <a:r>
              <a:rPr lang="en-US" sz="3200" b="1" dirty="0" smtClean="0">
                <a:latin typeface="+mj-lt"/>
              </a:rPr>
              <a:t> </a:t>
            </a:r>
            <a:r>
              <a:rPr lang="vi-VN" sz="3200" b="1" dirty="0" smtClean="0">
                <a:latin typeface="+mj-lt"/>
              </a:rPr>
              <a:t>Đặc điểm: </a:t>
            </a:r>
            <a:r>
              <a:rPr lang="vi-VN" sz="3200" dirty="0" smtClean="0">
                <a:latin typeface="+mj-lt"/>
              </a:rPr>
              <a:t>các bit ‘1’ và ‘0’ được chuyển đổi thành chuỗi xung điện áp để có thể truyền qua đường dây. </a:t>
            </a:r>
            <a:endParaRPr lang="en-US" sz="3200" dirty="0">
              <a:latin typeface="+mj-l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4.1 Chuyển đổi số - số (Digital - Digital)</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vi-VN" sz="3200" b="1" dirty="0" smtClean="0">
                <a:latin typeface="+mj-lt"/>
              </a:rPr>
              <a:t>Sơ đồ khối</a:t>
            </a:r>
            <a:endParaRPr lang="en-US" sz="3200" b="1" dirty="0" smtClean="0">
              <a:latin typeface="+mj-lt"/>
            </a:endParaRPr>
          </a:p>
          <a:p>
            <a:endParaRPr lang="en-US" sz="3200" dirty="0" smtClean="0">
              <a:latin typeface="+mj-lt"/>
            </a:endParaRPr>
          </a:p>
          <a:p>
            <a:pPr>
              <a:buNone/>
            </a:pPr>
            <a:endParaRPr lang="en-US" sz="3200" b="1" dirty="0" smtClean="0">
              <a:latin typeface="+mj-lt"/>
            </a:endParaRPr>
          </a:p>
          <a:p>
            <a:pPr>
              <a:buFont typeface="Wingdings" pitchFamily="2" charset="2"/>
              <a:buChar char="v"/>
            </a:pPr>
            <a:r>
              <a:rPr lang="vi-VN" sz="3200" b="1" dirty="0" smtClean="0">
                <a:latin typeface="+mj-lt"/>
              </a:rPr>
              <a:t>Phân loại: </a:t>
            </a:r>
            <a:r>
              <a:rPr lang="vi-VN" sz="3200" dirty="0" smtClean="0">
                <a:latin typeface="+mj-lt"/>
              </a:rPr>
              <a:t>unipolar (Mã đơn cực), polar (Mã có cực), bipolar (Mã lưỡng cực). </a:t>
            </a:r>
            <a:endParaRPr lang="en-US" sz="3200" dirty="0">
              <a:latin typeface="+mj-lt"/>
            </a:endParaRPr>
          </a:p>
        </p:txBody>
      </p:sp>
      <p:pic>
        <p:nvPicPr>
          <p:cNvPr id="2050" name="Picture 2"/>
          <p:cNvPicPr>
            <a:picLocks noChangeAspect="1" noChangeArrowheads="1"/>
          </p:cNvPicPr>
          <p:nvPr/>
        </p:nvPicPr>
        <p:blipFill>
          <a:blip r:embed="rId2"/>
          <a:srcRect/>
          <a:stretch>
            <a:fillRect/>
          </a:stretch>
        </p:blipFill>
        <p:spPr bwMode="auto">
          <a:xfrm>
            <a:off x="2028825" y="1847850"/>
            <a:ext cx="8477250" cy="12954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2509839" y="4163699"/>
            <a:ext cx="7110411" cy="226091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a:t>
            </a:r>
            <a:r>
              <a:rPr lang="vi-VN" dirty="0" smtClean="0"/>
              <a:t>nipolar (Mã đơn cực)</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Là dạng mã hóa đơn giản nhất (nguyên thủy</a:t>
            </a:r>
            <a:r>
              <a:rPr lang="en-US" sz="3200" dirty="0" smtClean="0">
                <a:latin typeface="+mj-lt"/>
              </a:rPr>
              <a:t> </a:t>
            </a:r>
            <a:r>
              <a:rPr lang="vi-VN" sz="3200" dirty="0" smtClean="0">
                <a:latin typeface="+mj-lt"/>
              </a:rPr>
              <a:t>ra đời đầu tiên). </a:t>
            </a:r>
          </a:p>
          <a:p>
            <a:r>
              <a:rPr lang="vi-VN" sz="3200" dirty="0" smtClean="0">
                <a:latin typeface="+mj-lt"/>
              </a:rPr>
              <a:t>Một mức điện áp biểu thị cho bit ‘0’ và một mức điện áp khác biểu thị cho bit ‘1’.  </a:t>
            </a:r>
          </a:p>
          <a:p>
            <a:r>
              <a:rPr lang="vi-VN" sz="3200" dirty="0" smtClean="0">
                <a:latin typeface="+mj-lt"/>
              </a:rPr>
              <a:t>Bit ‘0’</a:t>
            </a:r>
            <a:r>
              <a:rPr lang="en-US" sz="3200" dirty="0" smtClean="0">
                <a:latin typeface="+mj-lt"/>
              </a:rPr>
              <a:t> </a:t>
            </a:r>
            <a:r>
              <a:rPr lang="en-US" sz="3200" dirty="0" smtClean="0">
                <a:latin typeface="Times New Roman" pitchFamily="18" charset="0"/>
                <a:cs typeface="Times New Roman" pitchFamily="18" charset="0"/>
              </a:rPr>
              <a:t>là</a:t>
            </a:r>
            <a:r>
              <a:rPr lang="vi-VN" sz="3200" dirty="0" smtClean="0">
                <a:latin typeface="+mj-lt"/>
              </a:rPr>
              <a:t> 0 volt và ‘1’</a:t>
            </a:r>
            <a:r>
              <a:rPr lang="en-US" sz="3200" dirty="0" smtClean="0">
                <a:latin typeface="+mj-lt"/>
              </a:rPr>
              <a:t> </a:t>
            </a:r>
            <a:r>
              <a:rPr lang="en-US" sz="3200" dirty="0" smtClean="0">
                <a:latin typeface="Times New Roman" pitchFamily="18" charset="0"/>
                <a:cs typeface="Times New Roman" pitchFamily="18" charset="0"/>
              </a:rPr>
              <a:t>là</a:t>
            </a:r>
            <a:r>
              <a:rPr lang="en-US" sz="3200" dirty="0" smtClean="0">
                <a:latin typeface="+mj-lt"/>
              </a:rPr>
              <a:t> </a:t>
            </a:r>
            <a:r>
              <a:rPr lang="vi-VN" sz="3200" dirty="0" smtClean="0">
                <a:latin typeface="+mj-lt"/>
              </a:rPr>
              <a:t>+V volt (+5V, +9V…).; Tồn tại trong một chu kỳ Bit </a:t>
            </a:r>
          </a:p>
          <a:p>
            <a:r>
              <a:rPr lang="vi-VN" sz="3200" dirty="0" smtClean="0">
                <a:latin typeface="+mj-lt"/>
              </a:rPr>
              <a:t>Ví dụ: Cho 1 chuỗi bit 01001110, hãy biểu diễn chuỗi bit này dưới dạng mã Unipolar (đơn cực).</a:t>
            </a:r>
            <a:endParaRPr lang="en-US" sz="3200" dirty="0">
              <a:latin typeface="+mj-lt"/>
            </a:endParaRPr>
          </a:p>
        </p:txBody>
      </p:sp>
      <p:pic>
        <p:nvPicPr>
          <p:cNvPr id="3074" name="Picture 2"/>
          <p:cNvPicPr>
            <a:picLocks noChangeAspect="1" noChangeArrowheads="1"/>
          </p:cNvPicPr>
          <p:nvPr/>
        </p:nvPicPr>
        <p:blipFill>
          <a:blip r:embed="rId2"/>
          <a:srcRect/>
          <a:stretch>
            <a:fillRect/>
          </a:stretch>
        </p:blipFill>
        <p:spPr bwMode="auto">
          <a:xfrm>
            <a:off x="2343150" y="4972050"/>
            <a:ext cx="6781800" cy="1885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a:t>
            </a:r>
            <a:r>
              <a:rPr lang="vi-VN" dirty="0" smtClean="0"/>
              <a:t>nipolar (Mã đơn cực)</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Ưu điể</a:t>
            </a:r>
            <a:r>
              <a:rPr lang="en-US" sz="3200" b="1" dirty="0" smtClean="0">
                <a:latin typeface="Times New Roman" pitchFamily="18" charset="0"/>
                <a:cs typeface="Times New Roman" pitchFamily="18" charset="0"/>
              </a:rPr>
              <a:t>m</a:t>
            </a:r>
            <a:r>
              <a:rPr lang="vi-VN" sz="3200" b="1" dirty="0" smtClean="0">
                <a:latin typeface="+mj-lt"/>
              </a:rPr>
              <a:t>: </a:t>
            </a:r>
            <a:r>
              <a:rPr lang="en-US" sz="3200" dirty="0" smtClean="0">
                <a:latin typeface="Times New Roman" pitchFamily="18" charset="0"/>
                <a:cs typeface="Times New Roman" pitchFamily="18" charset="0"/>
              </a:rPr>
              <a:t>Đ</a:t>
            </a:r>
            <a:r>
              <a:rPr lang="vi-VN" sz="3200" dirty="0" smtClean="0">
                <a:latin typeface="+mj-lt"/>
              </a:rPr>
              <a:t>ơn giản và chi phí thấp. </a:t>
            </a:r>
          </a:p>
          <a:p>
            <a:pPr>
              <a:buFont typeface="Wingdings" pitchFamily="2" charset="2"/>
              <a:buChar char="v"/>
            </a:pPr>
            <a:r>
              <a:rPr lang="en-US" sz="3200" b="1" dirty="0" smtClean="0">
                <a:latin typeface="+mj-lt"/>
              </a:rPr>
              <a:t> </a:t>
            </a:r>
            <a:r>
              <a:rPr lang="vi-VN" sz="3200" b="1" dirty="0" smtClean="0">
                <a:latin typeface="+mj-lt"/>
              </a:rPr>
              <a:t>Khuyết điểm: </a:t>
            </a:r>
            <a:r>
              <a:rPr lang="vi-VN" sz="3200" dirty="0" smtClean="0">
                <a:latin typeface="+mj-lt"/>
              </a:rPr>
              <a:t>Tồn tại điện áp một chiều (DC) và bài toán đồng bộ. </a:t>
            </a:r>
          </a:p>
          <a:p>
            <a:r>
              <a:rPr lang="vi-VN" sz="3200" dirty="0" smtClean="0">
                <a:latin typeface="+mj-lt"/>
              </a:rPr>
              <a:t>Thành phần DC: Trị trung bình của mã đơn cực khác không, tạo ra thành phần điện áp DC trên đường truyền. Khi tín hiệu tồn tại thành phần DC, không thể đi xuyên qua môi trường truyền. </a:t>
            </a:r>
          </a:p>
          <a:p>
            <a:r>
              <a:rPr lang="vi-VN" sz="3200" dirty="0" smtClean="0">
                <a:latin typeface="+mj-lt"/>
              </a:rPr>
              <a:t>Khả năng đồng bộ: Khi tín hiệu truyền có giá trị không thay đổi, máy thu không thể xác định được thời gian tồn tại của một bit (Chu kỳ bit). </a:t>
            </a:r>
            <a:endParaRPr lang="en-US" sz="3200" dirty="0">
              <a:latin typeface="+mj-l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
            </a:r>
            <a:r>
              <a:rPr lang="vi-VN" dirty="0" smtClean="0"/>
              <a:t>olar (Mã có cực)</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Khái niệm: </a:t>
            </a:r>
            <a:r>
              <a:rPr lang="vi-VN" sz="3200" dirty="0" smtClean="0">
                <a:latin typeface="+mj-lt"/>
              </a:rPr>
              <a:t>mã hóa polar dùng hai mức điện áp: một mức có giá trị dương và một mức có giá trị âm, nhằm giảm thành phần DC.  </a:t>
            </a:r>
          </a:p>
          <a:p>
            <a:pPr>
              <a:buFont typeface="Wingdings" pitchFamily="2" charset="2"/>
              <a:buChar char="v"/>
            </a:pPr>
            <a:r>
              <a:rPr lang="en-US" sz="3200" b="1" dirty="0" smtClean="0">
                <a:latin typeface="+mj-lt"/>
              </a:rPr>
              <a:t> </a:t>
            </a:r>
            <a:r>
              <a:rPr lang="vi-VN" sz="3200" b="1" dirty="0" smtClean="0">
                <a:latin typeface="+mj-lt"/>
              </a:rPr>
              <a:t>Phân loại: </a:t>
            </a:r>
            <a:r>
              <a:rPr lang="vi-VN" sz="3200" dirty="0" smtClean="0">
                <a:latin typeface="+mj-lt"/>
              </a:rPr>
              <a:t>NRZ, RZ và Biphase </a:t>
            </a:r>
          </a:p>
          <a:p>
            <a:r>
              <a:rPr lang="vi-VN" sz="3200" dirty="0" smtClean="0">
                <a:latin typeface="+mj-lt"/>
              </a:rPr>
              <a:t>NRZ: NRZ-L (nonreturn to zero–level: Cổng COM RS232) và NRZ–I (nonreturn to zero – invert) </a:t>
            </a:r>
          </a:p>
          <a:p>
            <a:r>
              <a:rPr lang="vi-VN" sz="3200" dirty="0" smtClean="0">
                <a:latin typeface="+mj-lt"/>
              </a:rPr>
              <a:t>RZ (return to zero). </a:t>
            </a:r>
          </a:p>
          <a:p>
            <a:r>
              <a:rPr lang="vi-VN" sz="3200" dirty="0" smtClean="0">
                <a:latin typeface="+mj-lt"/>
              </a:rPr>
              <a:t>Biphase: Manchester (dùng trong mạng ethernet LAN),</a:t>
            </a:r>
            <a:r>
              <a:rPr lang="en-US" sz="3200" dirty="0" smtClean="0">
                <a:latin typeface="+mj-lt"/>
              </a:rPr>
              <a:t> </a:t>
            </a:r>
            <a:r>
              <a:rPr lang="vi-VN" sz="3200" dirty="0" smtClean="0">
                <a:latin typeface="+mj-lt"/>
              </a:rPr>
              <a:t>Manchester vi sai (thường được dùng trong Token Ring LAN)</a:t>
            </a:r>
            <a:endParaRPr lang="en-US" sz="3200" dirty="0">
              <a:latin typeface="+mj-l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
            </a:r>
            <a:r>
              <a:rPr lang="vi-VN" dirty="0" smtClean="0"/>
              <a:t>ipolar (Mã lưỡng cực)</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Đặc điểm: </a:t>
            </a:r>
            <a:r>
              <a:rPr lang="vi-VN" sz="3200" dirty="0" smtClean="0">
                <a:latin typeface="+mj-lt"/>
              </a:rPr>
              <a:t>Dùng ba mức điện áp: dương, âm, và z</a:t>
            </a:r>
            <a:r>
              <a:rPr lang="en-US" sz="3200" dirty="0" smtClean="0">
                <a:latin typeface="Times New Roman" pitchFamily="18" charset="0"/>
                <a:cs typeface="Times New Roman" pitchFamily="18" charset="0"/>
              </a:rPr>
              <a:t>ero</a:t>
            </a:r>
            <a:r>
              <a:rPr lang="vi-VN" sz="3200" dirty="0" smtClean="0">
                <a:latin typeface="+mj-lt"/>
              </a:rPr>
              <a:t> (0 volt).  </a:t>
            </a:r>
          </a:p>
          <a:p>
            <a:pPr>
              <a:buFont typeface="Wingdings" pitchFamily="2" charset="2"/>
              <a:buChar char="v"/>
            </a:pPr>
            <a:r>
              <a:rPr lang="en-US" sz="3200" b="1" dirty="0" smtClean="0">
                <a:latin typeface="+mj-lt"/>
              </a:rPr>
              <a:t> </a:t>
            </a:r>
            <a:r>
              <a:rPr lang="vi-VN" sz="3200" b="1" dirty="0" smtClean="0">
                <a:latin typeface="+mj-lt"/>
              </a:rPr>
              <a:t>Phân loại:  </a:t>
            </a:r>
            <a:r>
              <a:rPr lang="vi-VN" sz="3200" dirty="0" smtClean="0">
                <a:latin typeface="+mj-lt"/>
              </a:rPr>
              <a:t>AMI, B8ZS, và HDB3</a:t>
            </a:r>
            <a:endParaRPr lang="en-US" sz="3200" dirty="0">
              <a:latin typeface="+mj-lt"/>
            </a:endParaRPr>
          </a:p>
        </p:txBody>
      </p:sp>
      <p:pic>
        <p:nvPicPr>
          <p:cNvPr id="4098" name="Picture 2"/>
          <p:cNvPicPr>
            <a:picLocks noChangeAspect="1" noChangeArrowheads="1"/>
          </p:cNvPicPr>
          <p:nvPr/>
        </p:nvPicPr>
        <p:blipFill>
          <a:blip r:embed="rId2"/>
          <a:srcRect/>
          <a:stretch>
            <a:fillRect/>
          </a:stretch>
        </p:blipFill>
        <p:spPr bwMode="auto">
          <a:xfrm>
            <a:off x="852488" y="2676525"/>
            <a:ext cx="10677525" cy="2495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AMI (Alternate Mark Inversion)</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Bit ‘0’</a:t>
            </a:r>
            <a:r>
              <a:rPr lang="en-US" sz="3200" dirty="0" smtClean="0">
                <a:latin typeface="+mj-lt"/>
              </a:rPr>
              <a:t> -&gt; </a:t>
            </a:r>
            <a:r>
              <a:rPr lang="vi-VN" sz="3200" dirty="0" smtClean="0">
                <a:latin typeface="+mj-lt"/>
              </a:rPr>
              <a:t>0 Volt. </a:t>
            </a:r>
          </a:p>
          <a:p>
            <a:r>
              <a:rPr lang="vi-VN" sz="3200" dirty="0" smtClean="0">
                <a:latin typeface="+mj-lt"/>
              </a:rPr>
              <a:t>Bit ‘1’</a:t>
            </a:r>
            <a:r>
              <a:rPr lang="en-US" sz="3200" dirty="0" smtClean="0">
                <a:latin typeface="+mj-lt"/>
              </a:rPr>
              <a:t> -&gt;</a:t>
            </a:r>
            <a:r>
              <a:rPr lang="vi-VN" sz="3200" dirty="0" smtClean="0">
                <a:latin typeface="+mj-lt"/>
              </a:rPr>
              <a:t> điện áp -V  hoặc + V luân phiên (Tồn tại 1 chu kỳ bit). </a:t>
            </a:r>
          </a:p>
          <a:p>
            <a:r>
              <a:rPr lang="vi-VN" sz="3200" dirty="0" smtClean="0">
                <a:latin typeface="+mj-lt"/>
              </a:rPr>
              <a:t>Ví dụ: Cho chuỗi dữ liệu 01001110, hãy biểu diễn chuỗi bit này dưới dạng mã AMI.</a:t>
            </a:r>
            <a:endParaRPr lang="en-US" sz="3200" dirty="0">
              <a:latin typeface="+mj-lt"/>
            </a:endParaRPr>
          </a:p>
        </p:txBody>
      </p:sp>
      <p:pic>
        <p:nvPicPr>
          <p:cNvPr id="5122" name="Picture 2"/>
          <p:cNvPicPr>
            <a:picLocks noChangeAspect="1" noChangeArrowheads="1"/>
          </p:cNvPicPr>
          <p:nvPr/>
        </p:nvPicPr>
        <p:blipFill>
          <a:blip r:embed="rId2"/>
          <a:srcRect/>
          <a:stretch>
            <a:fillRect/>
          </a:stretch>
        </p:blipFill>
        <p:spPr bwMode="auto">
          <a:xfrm>
            <a:off x="2195513" y="4076700"/>
            <a:ext cx="8067675" cy="24765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AMI (Alternate Mark Inversion)</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Ưu điểm   </a:t>
            </a:r>
          </a:p>
          <a:p>
            <a:r>
              <a:rPr lang="vi-VN" sz="3200" dirty="0" smtClean="0">
                <a:latin typeface="+mj-lt"/>
              </a:rPr>
              <a:t>AMI  làm triệt tiêu thành phần DC của tín hiệu </a:t>
            </a:r>
          </a:p>
          <a:p>
            <a:r>
              <a:rPr lang="vi-VN" sz="3200" dirty="0" smtClean="0">
                <a:latin typeface="+mj-lt"/>
              </a:rPr>
              <a:t>Đồng bộ đối với chuỗi các giá trị bit “1” liên tiếp. </a:t>
            </a:r>
          </a:p>
          <a:p>
            <a:pPr>
              <a:buFont typeface="Wingdings" pitchFamily="2" charset="2"/>
              <a:buChar char="v"/>
            </a:pPr>
            <a:r>
              <a:rPr lang="en-US" sz="3200" b="1" dirty="0" smtClean="0">
                <a:latin typeface="+mj-lt"/>
              </a:rPr>
              <a:t> </a:t>
            </a:r>
            <a:r>
              <a:rPr lang="vi-VN" sz="3200" b="1" dirty="0" smtClean="0">
                <a:latin typeface="+mj-lt"/>
              </a:rPr>
              <a:t>Khuyết điểm  </a:t>
            </a:r>
          </a:p>
          <a:p>
            <a:r>
              <a:rPr lang="vi-VN" sz="3200" dirty="0" smtClean="0">
                <a:latin typeface="+mj-lt"/>
              </a:rPr>
              <a:t>Dễ mất đồng bộ đối với chuỗi các giá trị bit “0” liên tiếp.</a:t>
            </a:r>
            <a:endParaRPr lang="en-US" sz="3200" dirty="0">
              <a:latin typeface="+mj-l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B8ZS (Bipolar 8- Zero Substitution)</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Bit ‘1’ </a:t>
            </a:r>
            <a:r>
              <a:rPr lang="en-US" sz="3200" dirty="0" smtClean="0">
                <a:latin typeface="+mj-lt"/>
              </a:rPr>
              <a:t>-&gt;</a:t>
            </a:r>
            <a:r>
              <a:rPr lang="vi-VN" sz="3200" dirty="0" smtClean="0">
                <a:latin typeface="+mj-lt"/>
              </a:rPr>
              <a:t> điện áp -V hoặc + V luân phiên (Tồn tại 1 chu kỳ bit),</a:t>
            </a:r>
            <a:r>
              <a:rPr lang="en-US" sz="3200" dirty="0" smtClean="0">
                <a:latin typeface="+mj-lt"/>
              </a:rPr>
              <a:t> </a:t>
            </a:r>
            <a:r>
              <a:rPr lang="vi-VN" sz="3200" dirty="0" smtClean="0">
                <a:latin typeface="+mj-lt"/>
              </a:rPr>
              <a:t>đảo cực điện áp trước đó </a:t>
            </a:r>
          </a:p>
          <a:p>
            <a:r>
              <a:rPr lang="vi-VN" sz="3200" dirty="0" smtClean="0">
                <a:latin typeface="+mj-lt"/>
              </a:rPr>
              <a:t>Bit ‘0’</a:t>
            </a:r>
            <a:r>
              <a:rPr lang="en-US" sz="3200" dirty="0" smtClean="0">
                <a:latin typeface="+mj-lt"/>
              </a:rPr>
              <a:t> -&gt;</a:t>
            </a:r>
            <a:r>
              <a:rPr lang="vi-VN" sz="3200" dirty="0" smtClean="0">
                <a:latin typeface="+mj-lt"/>
              </a:rPr>
              <a:t> đếm số bit ‘0’  liên tiếp: </a:t>
            </a:r>
          </a:p>
          <a:p>
            <a:pPr>
              <a:buNone/>
            </a:pPr>
            <a:r>
              <a:rPr lang="en-US" sz="3200" dirty="0" smtClean="0">
                <a:latin typeface="+mj-lt"/>
              </a:rPr>
              <a:t>- </a:t>
            </a:r>
            <a:r>
              <a:rPr lang="vi-VN" sz="3200" dirty="0" smtClean="0">
                <a:latin typeface="+mj-lt"/>
              </a:rPr>
              <a:t>Nếu không phải là nhóm 8 bit ‘0’  liên tiếp sẽ mã hoá là 0 Volt </a:t>
            </a:r>
          </a:p>
          <a:p>
            <a:pPr>
              <a:buNone/>
            </a:pPr>
            <a:r>
              <a:rPr lang="en-US" sz="3200" dirty="0" smtClean="0">
                <a:latin typeface="+mj-lt"/>
              </a:rPr>
              <a:t>- </a:t>
            </a:r>
            <a:r>
              <a:rPr lang="vi-VN" sz="3200" dirty="0" smtClean="0">
                <a:latin typeface="+mj-lt"/>
              </a:rPr>
              <a:t>Nếu là 8 bit 0  liên tiếp sẽ mã hoá như sau: </a:t>
            </a:r>
            <a:endParaRPr lang="en-US" sz="3200" dirty="0" smtClean="0">
              <a:latin typeface="+mj-lt"/>
            </a:endParaRPr>
          </a:p>
          <a:p>
            <a:pPr>
              <a:buNone/>
            </a:pPr>
            <a:r>
              <a:rPr lang="en-US" sz="3200" dirty="0" smtClean="0">
                <a:latin typeface="Times New Roman" pitchFamily="18" charset="0"/>
                <a:cs typeface="Times New Roman" pitchFamily="18" charset="0"/>
              </a:rPr>
              <a:t>     + 00000000 -&gt; + 000 + -  0 - +  (+ -&gt; +V; - -&gt; -V) </a:t>
            </a:r>
          </a:p>
          <a:p>
            <a:pPr>
              <a:buNone/>
            </a:pPr>
            <a:r>
              <a:rPr lang="en-US" sz="3200" dirty="0" smtClean="0">
                <a:latin typeface="Times New Roman" pitchFamily="18" charset="0"/>
                <a:cs typeface="Times New Roman" pitchFamily="18" charset="0"/>
              </a:rPr>
              <a:t>      - 00000000 Æ - 000 -  + 0 +-   (+ -&gt; +V; - -&gt; -V) </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B8ZS (Bipolar 8- Zero Substitution)</a:t>
            </a:r>
            <a:endParaRPr lang="en-US" dirty="0"/>
          </a:p>
        </p:txBody>
      </p:sp>
      <p:sp>
        <p:nvSpPr>
          <p:cNvPr id="3" name="Content Placeholder 2"/>
          <p:cNvSpPr>
            <a:spLocks noGrp="1"/>
          </p:cNvSpPr>
          <p:nvPr>
            <p:ph idx="1"/>
          </p:nvPr>
        </p:nvSpPr>
        <p:spPr/>
        <p:txBody>
          <a:bodyPr/>
          <a:lstStyle/>
          <a:p>
            <a:pPr>
              <a:buNone/>
            </a:pPr>
            <a:r>
              <a:rPr lang="en-US" dirty="0" smtClean="0"/>
              <a:t>- </a:t>
            </a:r>
            <a:r>
              <a:rPr lang="vi-VN" dirty="0" smtClean="0"/>
              <a:t>Nếu không phải là nhóm 8 bit ‘0’  liên tiếp sẽ mã hoá là 0 Volt </a:t>
            </a:r>
          </a:p>
          <a:p>
            <a:pPr>
              <a:buNone/>
            </a:pPr>
            <a:r>
              <a:rPr lang="en-US" dirty="0" smtClean="0"/>
              <a:t>- </a:t>
            </a:r>
            <a:r>
              <a:rPr lang="vi-VN" dirty="0" smtClean="0"/>
              <a:t>Nếu là 8 bit 0  liên tiếp sẽ mã hoá như sau: </a:t>
            </a:r>
            <a:endParaRPr lang="en-US" dirty="0" smtClean="0"/>
          </a:p>
          <a:p>
            <a:pPr>
              <a:buNone/>
            </a:pPr>
            <a:r>
              <a:rPr lang="en-US" dirty="0" smtClean="0">
                <a:latin typeface="Times New Roman" pitchFamily="18" charset="0"/>
                <a:cs typeface="Times New Roman" pitchFamily="18" charset="0"/>
              </a:rPr>
              <a:t>     + 00000000 -&gt; + 000 + -  0 - +  (+ -&gt; +V; - -&gt; -V) </a:t>
            </a:r>
          </a:p>
          <a:p>
            <a:pPr>
              <a:buNone/>
            </a:pPr>
            <a:r>
              <a:rPr lang="en-US" dirty="0" smtClean="0">
                <a:latin typeface="Times New Roman" pitchFamily="18" charset="0"/>
                <a:cs typeface="Times New Roman" pitchFamily="18" charset="0"/>
              </a:rPr>
              <a:t>      - </a:t>
            </a:r>
            <a:r>
              <a:rPr lang="en-US" smtClean="0">
                <a:latin typeface="Times New Roman" pitchFamily="18" charset="0"/>
                <a:cs typeface="Times New Roman" pitchFamily="18" charset="0"/>
              </a:rPr>
              <a:t>00000000 -&gt; </a:t>
            </a:r>
            <a:r>
              <a:rPr lang="en-US" dirty="0" smtClean="0">
                <a:latin typeface="Times New Roman" pitchFamily="18" charset="0"/>
                <a:cs typeface="Times New Roman" pitchFamily="18" charset="0"/>
              </a:rPr>
              <a:t>- 000 -  + 0 +-   (+ -&gt; +V; - -&gt; -V) </a:t>
            </a:r>
          </a:p>
          <a:p>
            <a:endParaRPr lang="en-US" dirty="0"/>
          </a:p>
        </p:txBody>
      </p:sp>
      <p:pic>
        <p:nvPicPr>
          <p:cNvPr id="6146" name="Picture 2"/>
          <p:cNvPicPr>
            <a:picLocks noChangeAspect="1" noChangeArrowheads="1"/>
          </p:cNvPicPr>
          <p:nvPr/>
        </p:nvPicPr>
        <p:blipFill>
          <a:blip r:embed="rId2"/>
          <a:srcRect/>
          <a:stretch>
            <a:fillRect/>
          </a:stretch>
        </p:blipFill>
        <p:spPr bwMode="auto">
          <a:xfrm>
            <a:off x="1633538" y="3676650"/>
            <a:ext cx="8883253" cy="15430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B8ZS (Bipolar 8- Zero Substitution)</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Ví dụ: Cho chuỗi 10000000000100, hãy biểu diễn chuỗi bit này dưới dạng mã B8ZS. Giả sử bit ‘1’ đầu tiên có điện áp dương. </a:t>
            </a:r>
            <a:endParaRPr lang="en-US" sz="3200" dirty="0">
              <a:latin typeface="+mj-lt"/>
            </a:endParaRPr>
          </a:p>
        </p:txBody>
      </p:sp>
      <p:pic>
        <p:nvPicPr>
          <p:cNvPr id="7170" name="Picture 2"/>
          <p:cNvPicPr>
            <a:picLocks noChangeAspect="1" noChangeArrowheads="1"/>
          </p:cNvPicPr>
          <p:nvPr/>
        </p:nvPicPr>
        <p:blipFill>
          <a:blip r:embed="rId2"/>
          <a:srcRect/>
          <a:stretch>
            <a:fillRect/>
          </a:stretch>
        </p:blipFill>
        <p:spPr bwMode="auto">
          <a:xfrm>
            <a:off x="1459896" y="2471738"/>
            <a:ext cx="9274779" cy="25574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HDB3 (High-Density Bipolar) </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Bit 1 </a:t>
            </a:r>
            <a:r>
              <a:rPr lang="en-US" sz="3200" dirty="0" smtClean="0">
                <a:latin typeface="+mj-lt"/>
              </a:rPr>
              <a:t>-&gt;</a:t>
            </a:r>
            <a:r>
              <a:rPr lang="vi-VN" sz="3200" dirty="0" smtClean="0">
                <a:latin typeface="+mj-lt"/>
              </a:rPr>
              <a:t> điện áp -V  hoặc + V luân phiên (Tồn tại 1 chu kỳ bit), đảo cực điện áp trước đó. </a:t>
            </a:r>
          </a:p>
          <a:p>
            <a:r>
              <a:rPr lang="vi-VN" sz="3200" dirty="0" smtClean="0">
                <a:latin typeface="+mj-lt"/>
              </a:rPr>
              <a:t>Bit 0 </a:t>
            </a:r>
            <a:r>
              <a:rPr lang="en-US" sz="3200" dirty="0" smtClean="0">
                <a:latin typeface="+mj-lt"/>
              </a:rPr>
              <a:t>-&gt;</a:t>
            </a:r>
            <a:r>
              <a:rPr lang="vi-VN" sz="3200" dirty="0" smtClean="0">
                <a:latin typeface="+mj-lt"/>
              </a:rPr>
              <a:t> đếm số bit 0 </a:t>
            </a:r>
          </a:p>
          <a:p>
            <a:pPr>
              <a:buNone/>
            </a:pPr>
            <a:r>
              <a:rPr lang="en-US" sz="3200" dirty="0" smtClean="0">
                <a:latin typeface="+mj-lt"/>
              </a:rPr>
              <a:t>- </a:t>
            </a:r>
            <a:r>
              <a:rPr lang="vi-VN" sz="3200" dirty="0" smtClean="0">
                <a:latin typeface="+mj-lt"/>
              </a:rPr>
              <a:t>Nếu không phải là 4 bit ‘0’  liên tiếp sẽ mã hoá là 0 Volt. </a:t>
            </a:r>
          </a:p>
          <a:p>
            <a:pPr>
              <a:buNone/>
            </a:pPr>
            <a:r>
              <a:rPr lang="en-US" sz="3200" dirty="0" smtClean="0">
                <a:latin typeface="+mj-lt"/>
              </a:rPr>
              <a:t>- </a:t>
            </a:r>
            <a:r>
              <a:rPr lang="vi-VN" sz="3200" dirty="0" smtClean="0">
                <a:latin typeface="+mj-lt"/>
              </a:rPr>
              <a:t>Nếu là 4 bit ‘0’  liên tiếp thì sẽ tính  tổng số xung (+ hoặc -) </a:t>
            </a:r>
          </a:p>
          <a:p>
            <a:pPr>
              <a:buNone/>
            </a:pPr>
            <a:r>
              <a:rPr lang="en-US" sz="3200" dirty="0" smtClean="0">
                <a:latin typeface="+mj-lt"/>
              </a:rPr>
              <a:t>              </a:t>
            </a:r>
            <a:r>
              <a:rPr lang="vi-VN" sz="3200" dirty="0" smtClean="0">
                <a:latin typeface="+mj-lt"/>
              </a:rPr>
              <a:t>Là số lẻ: +0000 </a:t>
            </a:r>
            <a:r>
              <a:rPr lang="en-US" sz="3200" dirty="0" smtClean="0">
                <a:latin typeface="+mj-lt"/>
              </a:rPr>
              <a:t>-&gt;</a:t>
            </a:r>
            <a:r>
              <a:rPr lang="vi-VN" sz="3200" dirty="0" smtClean="0">
                <a:latin typeface="+mj-lt"/>
              </a:rPr>
              <a:t>+000+  </a:t>
            </a:r>
          </a:p>
          <a:p>
            <a:pPr>
              <a:buNone/>
            </a:pPr>
            <a:r>
              <a:rPr lang="en-US" sz="3200" dirty="0" smtClean="0">
                <a:latin typeface="+mj-lt"/>
              </a:rPr>
              <a:t>              </a:t>
            </a:r>
            <a:r>
              <a:rPr lang="vi-VN" sz="3200" dirty="0" smtClean="0">
                <a:latin typeface="+mj-lt"/>
              </a:rPr>
              <a:t>Là số chẵn: +0000 </a:t>
            </a:r>
            <a:r>
              <a:rPr lang="en-US" sz="3200" dirty="0" smtClean="0">
                <a:latin typeface="+mj-lt"/>
              </a:rPr>
              <a:t>-&gt;</a:t>
            </a:r>
            <a:r>
              <a:rPr lang="vi-VN" sz="3200" dirty="0" smtClean="0">
                <a:latin typeface="+mj-lt"/>
              </a:rPr>
              <a:t>+-00-  </a:t>
            </a:r>
          </a:p>
          <a:p>
            <a:pPr>
              <a:buNone/>
            </a:pPr>
            <a:r>
              <a:rPr lang="en-US" sz="3200" dirty="0" smtClean="0">
                <a:latin typeface="+mj-lt"/>
              </a:rPr>
              <a:t>    </a:t>
            </a:r>
            <a:r>
              <a:rPr lang="vi-VN" sz="3200" dirty="0" smtClean="0">
                <a:latin typeface="+mj-lt"/>
              </a:rPr>
              <a:t>                 </a:t>
            </a:r>
            <a:r>
              <a:rPr lang="en-US" sz="3200" dirty="0" smtClean="0">
                <a:latin typeface="+mj-lt"/>
              </a:rPr>
              <a:t>            </a:t>
            </a:r>
            <a:r>
              <a:rPr lang="vi-VN" sz="3200" dirty="0" smtClean="0">
                <a:latin typeface="+mj-lt"/>
              </a:rPr>
              <a:t>-0000 </a:t>
            </a:r>
            <a:r>
              <a:rPr lang="en-US" sz="3200" dirty="0" smtClean="0">
                <a:latin typeface="+mj-lt"/>
              </a:rPr>
              <a:t>-&gt;</a:t>
            </a:r>
            <a:r>
              <a:rPr lang="vi-VN" sz="3200" dirty="0" smtClean="0">
                <a:latin typeface="+mj-lt"/>
              </a:rPr>
              <a:t>-+00+ </a:t>
            </a:r>
            <a:endParaRPr lang="en-US" sz="3200" dirty="0">
              <a:latin typeface="+mj-lt"/>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HDB3 (High-Density Bipolar) </a:t>
            </a:r>
            <a:endParaRPr lang="en-US" dirty="0"/>
          </a:p>
        </p:txBody>
      </p:sp>
      <p:sp>
        <p:nvSpPr>
          <p:cNvPr id="3" name="Content Placeholder 2"/>
          <p:cNvSpPr>
            <a:spLocks noGrp="1"/>
          </p:cNvSpPr>
          <p:nvPr>
            <p:ph idx="1"/>
          </p:nvPr>
        </p:nvSpPr>
        <p:spPr/>
        <p:txBody>
          <a:bodyPr/>
          <a:lstStyle/>
          <a:p>
            <a:pPr>
              <a:buNone/>
            </a:pP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Nếu không phải là 4 bit ‘0’  liên tiếp sẽ mã hoá là 0 Volt. </a:t>
            </a:r>
          </a:p>
          <a:p>
            <a:pPr>
              <a:buNone/>
            </a:pP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Nếu là 4 bit ‘0’  liên tiếp thì sẽ tính  tổng số xung (+ hoặc -) </a:t>
            </a:r>
          </a:p>
          <a:p>
            <a:pPr>
              <a:buNone/>
            </a:pP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Là số lẻ: +0000 </a:t>
            </a:r>
            <a:r>
              <a:rPr lang="en-US" dirty="0" smtClean="0">
                <a:latin typeface="Times New Roman" pitchFamily="18" charset="0"/>
                <a:cs typeface="Times New Roman" pitchFamily="18" charset="0"/>
              </a:rPr>
              <a:t>-&gt;</a:t>
            </a:r>
            <a:r>
              <a:rPr lang="vi-VN" dirty="0" smtClean="0">
                <a:latin typeface="Times New Roman" pitchFamily="18" charset="0"/>
                <a:cs typeface="Times New Roman" pitchFamily="18" charset="0"/>
              </a:rPr>
              <a:t>+000+  </a:t>
            </a:r>
          </a:p>
          <a:p>
            <a:pPr>
              <a:buNone/>
            </a:pP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Là số chẵn: +0000 </a:t>
            </a:r>
            <a:r>
              <a:rPr lang="en-US" dirty="0" smtClean="0">
                <a:latin typeface="Times New Roman" pitchFamily="18" charset="0"/>
                <a:cs typeface="Times New Roman" pitchFamily="18" charset="0"/>
              </a:rPr>
              <a:t>-&gt;</a:t>
            </a:r>
            <a:r>
              <a:rPr lang="vi-VN" dirty="0" smtClean="0">
                <a:latin typeface="Times New Roman" pitchFamily="18" charset="0"/>
                <a:cs typeface="Times New Roman" pitchFamily="18" charset="0"/>
              </a:rPr>
              <a:t>+-00-  </a:t>
            </a:r>
          </a:p>
          <a:p>
            <a:pPr>
              <a:buNone/>
            </a:pP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                 -0000 </a:t>
            </a:r>
            <a:r>
              <a:rPr lang="en-US" dirty="0" smtClean="0">
                <a:latin typeface="Times New Roman" pitchFamily="18" charset="0"/>
                <a:cs typeface="Times New Roman" pitchFamily="18" charset="0"/>
              </a:rPr>
              <a:t>-&gt;</a:t>
            </a:r>
            <a:r>
              <a:rPr lang="vi-VN" dirty="0" smtClean="0">
                <a:latin typeface="Times New Roman" pitchFamily="18" charset="0"/>
                <a:cs typeface="Times New Roman" pitchFamily="18" charset="0"/>
              </a:rPr>
              <a:t>-+00+ </a:t>
            </a:r>
            <a:endParaRPr lang="en-US" dirty="0" smtClean="0">
              <a:latin typeface="Times New Roman" pitchFamily="18" charset="0"/>
              <a:cs typeface="Times New Roman" pitchFamily="18" charset="0"/>
            </a:endParaRPr>
          </a:p>
          <a:p>
            <a:endParaRPr lang="en-US" dirty="0"/>
          </a:p>
        </p:txBody>
      </p:sp>
      <p:pic>
        <p:nvPicPr>
          <p:cNvPr id="8194" name="Picture 2"/>
          <p:cNvPicPr>
            <a:picLocks noChangeAspect="1" noChangeArrowheads="1"/>
          </p:cNvPicPr>
          <p:nvPr/>
        </p:nvPicPr>
        <p:blipFill>
          <a:blip r:embed="rId2"/>
          <a:srcRect/>
          <a:stretch>
            <a:fillRect/>
          </a:stretch>
        </p:blipFill>
        <p:spPr bwMode="auto">
          <a:xfrm>
            <a:off x="5205413" y="2490788"/>
            <a:ext cx="6619875" cy="39338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HDB3 (High-Density Bipolar) </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Ví dụ: Dùng mã HDB3, mã hóa luồng bit 10000000000100, biết bit ‘1’ đầu tiên là điện áp dương</a:t>
            </a:r>
            <a:endParaRPr lang="en-US" sz="3200" dirty="0">
              <a:latin typeface="+mj-lt"/>
            </a:endParaRPr>
          </a:p>
        </p:txBody>
      </p:sp>
      <p:pic>
        <p:nvPicPr>
          <p:cNvPr id="9218" name="Picture 2"/>
          <p:cNvPicPr>
            <a:picLocks noChangeAspect="1" noChangeArrowheads="1"/>
          </p:cNvPicPr>
          <p:nvPr/>
        </p:nvPicPr>
        <p:blipFill>
          <a:blip r:embed="rId2"/>
          <a:srcRect/>
          <a:stretch>
            <a:fillRect/>
          </a:stretch>
        </p:blipFill>
        <p:spPr bwMode="auto">
          <a:xfrm>
            <a:off x="1101342" y="2306154"/>
            <a:ext cx="10348912" cy="30053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Chuyển đổi tương tự - số</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Khái niệm: </a:t>
            </a:r>
            <a:r>
              <a:rPr lang="vi-VN" sz="3200" dirty="0" smtClean="0">
                <a:latin typeface="+mj-lt"/>
              </a:rPr>
              <a:t>chuyển đổi tương tự - số là quá trình chuyển tín hiệu tương tự thành luồng tín hiệu số. Hoặc (biểu diễn các thông tin có trong tín hiệu liên tục thành chuỗi các tín hiệu số 1, 0)</a:t>
            </a:r>
          </a:p>
          <a:p>
            <a:pPr>
              <a:buFont typeface="Wingdings" pitchFamily="2" charset="2"/>
              <a:buChar char="v"/>
            </a:pPr>
            <a:r>
              <a:rPr lang="en-US" sz="3200" b="1" dirty="0" smtClean="0">
                <a:latin typeface="+mj-lt"/>
              </a:rPr>
              <a:t> </a:t>
            </a:r>
            <a:r>
              <a:rPr lang="vi-VN" sz="3200" b="1" dirty="0" smtClean="0">
                <a:latin typeface="+mj-lt"/>
              </a:rPr>
              <a:t>Mục đích  </a:t>
            </a:r>
          </a:p>
          <a:p>
            <a:r>
              <a:rPr lang="vi-VN" sz="3200" dirty="0" smtClean="0">
                <a:latin typeface="+mj-lt"/>
              </a:rPr>
              <a:t>Giảm thiểu khối lượng lớn các giá trị trong thông tin của tín hiệu tương tự để có thể  được biểu diễn thành luồng tín hiệu số mà</a:t>
            </a:r>
            <a:r>
              <a:rPr lang="en-US" sz="3200" dirty="0" smtClean="0">
                <a:latin typeface="+mj-lt"/>
              </a:rPr>
              <a:t> </a:t>
            </a:r>
            <a:r>
              <a:rPr lang="vi-VN" sz="3200" dirty="0" smtClean="0">
                <a:latin typeface="+mj-lt"/>
              </a:rPr>
              <a:t>không bị thất thoát thông tin. codec (coder – decoder). </a:t>
            </a:r>
          </a:p>
          <a:p>
            <a:r>
              <a:rPr lang="vi-VN" sz="3200" dirty="0" smtClean="0">
                <a:latin typeface="+mj-lt"/>
              </a:rPr>
              <a:t>Chống nhiễu. </a:t>
            </a:r>
          </a:p>
          <a:p>
            <a:r>
              <a:rPr lang="vi-VN" sz="3200" dirty="0" smtClean="0">
                <a:latin typeface="+mj-lt"/>
              </a:rPr>
              <a:t>Dễ xử lý. </a:t>
            </a:r>
            <a:endParaRPr lang="en-US" sz="3200" dirty="0">
              <a:latin typeface="+mj-l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Chuyển đổi tương tự - số</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Sơ đồ khối</a:t>
            </a:r>
            <a:endParaRPr lang="en-US" sz="3200" b="1" dirty="0" smtClean="0">
              <a:latin typeface="+mj-lt"/>
            </a:endParaRPr>
          </a:p>
          <a:p>
            <a:pPr>
              <a:buFont typeface="Wingdings" pitchFamily="2" charset="2"/>
              <a:buChar char="v"/>
            </a:pPr>
            <a:endParaRPr lang="en-US" sz="3200" b="1" dirty="0" smtClean="0">
              <a:latin typeface="+mj-lt"/>
            </a:endParaRPr>
          </a:p>
          <a:p>
            <a:pPr>
              <a:buFont typeface="Wingdings" pitchFamily="2" charset="2"/>
              <a:buChar char="v"/>
            </a:pPr>
            <a:endParaRPr lang="en-US" sz="3200" b="1" dirty="0" smtClean="0">
              <a:latin typeface="+mj-lt"/>
            </a:endParaRPr>
          </a:p>
          <a:p>
            <a:pPr>
              <a:buFont typeface="Wingdings" pitchFamily="2" charset="2"/>
              <a:buChar char="v"/>
            </a:pPr>
            <a:endParaRPr lang="en-US" sz="3200" b="1" dirty="0" smtClean="0">
              <a:latin typeface="+mj-lt"/>
            </a:endParaRPr>
          </a:p>
          <a:p>
            <a:pPr>
              <a:buFont typeface="Wingdings" pitchFamily="2" charset="2"/>
              <a:buChar char="v"/>
            </a:pPr>
            <a:r>
              <a:rPr lang="en-US" sz="3200" b="1" dirty="0" smtClean="0">
                <a:latin typeface="+mj-lt"/>
              </a:rPr>
              <a:t> </a:t>
            </a:r>
            <a:r>
              <a:rPr lang="vi-VN" sz="3200" b="1" dirty="0" smtClean="0">
                <a:latin typeface="+mj-lt"/>
              </a:rPr>
              <a:t>Chú ý </a:t>
            </a:r>
          </a:p>
          <a:p>
            <a:pPr>
              <a:buNone/>
            </a:pPr>
            <a:r>
              <a:rPr lang="vi-VN" sz="3200" dirty="0" smtClean="0">
                <a:latin typeface="+mj-lt"/>
              </a:rPr>
              <a:t>• Có thể sử dụng bất kỳ dạng tín hiệu số nào  </a:t>
            </a:r>
          </a:p>
          <a:p>
            <a:pPr>
              <a:buNone/>
            </a:pPr>
            <a:r>
              <a:rPr lang="vi-VN" sz="3200" dirty="0" smtClean="0">
                <a:latin typeface="+mj-lt"/>
              </a:rPr>
              <a:t>• Không làm thất thoát hay làm giảm chất lượng tin</a:t>
            </a:r>
            <a:endParaRPr lang="en-US" sz="3200" dirty="0">
              <a:latin typeface="+mj-lt"/>
            </a:endParaRPr>
          </a:p>
        </p:txBody>
      </p:sp>
      <p:pic>
        <p:nvPicPr>
          <p:cNvPr id="10242" name="Picture 2"/>
          <p:cNvPicPr>
            <a:picLocks noChangeAspect="1" noChangeArrowheads="1"/>
          </p:cNvPicPr>
          <p:nvPr/>
        </p:nvPicPr>
        <p:blipFill>
          <a:blip r:embed="rId2"/>
          <a:srcRect/>
          <a:stretch>
            <a:fillRect/>
          </a:stretch>
        </p:blipFill>
        <p:spPr bwMode="auto">
          <a:xfrm>
            <a:off x="2462213" y="2292230"/>
            <a:ext cx="8167687" cy="12415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dirty="0" smtClean="0"/>
              <a:t>PAM (Pulse Amplitude Modulation</a:t>
            </a:r>
            <a:r>
              <a:rPr lang="en-US" dirty="0" smtClean="0"/>
              <a:t>)</a:t>
            </a:r>
            <a:endParaRPr lang="en-US" dirty="0"/>
          </a:p>
        </p:txBody>
      </p:sp>
      <p:sp>
        <p:nvSpPr>
          <p:cNvPr id="3" name="Content Placeholder 2"/>
          <p:cNvSpPr>
            <a:spLocks noGrp="1"/>
          </p:cNvSpPr>
          <p:nvPr>
            <p:ph idx="1"/>
          </p:nvPr>
        </p:nvSpPr>
        <p:spPr/>
        <p:txBody>
          <a:bodyPr/>
          <a:lstStyle/>
          <a:p>
            <a:r>
              <a:rPr lang="vi-VN" sz="3200" b="1" dirty="0" smtClean="0">
                <a:latin typeface="+mj-lt"/>
              </a:rPr>
              <a:t>PAM: </a:t>
            </a:r>
            <a:r>
              <a:rPr lang="vi-VN" sz="3200" dirty="0" smtClean="0">
                <a:latin typeface="+mj-lt"/>
              </a:rPr>
              <a:t>Lấy mẫu và tạo ra chuỗi xung- Bước đầu tiên cho việc chuyển đổi tương tự - số </a:t>
            </a:r>
            <a:endParaRPr lang="en-US" sz="3200" dirty="0" smtClean="0">
              <a:latin typeface="+mj-lt"/>
            </a:endParaRPr>
          </a:p>
          <a:p>
            <a:endParaRPr lang="en-US" dirty="0" smtClean="0"/>
          </a:p>
        </p:txBody>
      </p:sp>
      <p:pic>
        <p:nvPicPr>
          <p:cNvPr id="1026" name="Picture 2"/>
          <p:cNvPicPr>
            <a:picLocks noChangeAspect="1" noChangeArrowheads="1"/>
          </p:cNvPicPr>
          <p:nvPr/>
        </p:nvPicPr>
        <p:blipFill>
          <a:blip r:embed="rId2"/>
          <a:srcRect/>
          <a:stretch>
            <a:fillRect/>
          </a:stretch>
        </p:blipFill>
        <p:spPr bwMode="auto">
          <a:xfrm>
            <a:off x="2090738" y="2609851"/>
            <a:ext cx="8436661" cy="3314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PAM (Pulse Amplitude Modulation</a:t>
            </a:r>
            <a:r>
              <a:rPr lang="en-US" dirty="0" smtClean="0"/>
              <a:t>)</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Times New Roman" pitchFamily="18" charset="0"/>
                <a:cs typeface="Times New Roman" pitchFamily="18" charset="0"/>
              </a:rPr>
              <a:t> Điều kiện lấy mẫu (sampling rate)</a:t>
            </a:r>
          </a:p>
          <a:p>
            <a:r>
              <a:rPr lang="vi-VN" sz="3200" dirty="0" smtClean="0">
                <a:latin typeface="Times New Roman" pitchFamily="18" charset="0"/>
                <a:cs typeface="Times New Roman" pitchFamily="18" charset="0"/>
              </a:rPr>
              <a:t>Theo định lý Nyquist, tốc độ lấy mẫu phải lớn hơn hoặc bằng hai lần tần số cao nhất của tín hiệu. </a:t>
            </a:r>
            <a:endParaRPr lang="en-US" sz="3200" dirty="0" smtClean="0">
              <a:latin typeface="Times New Roman" pitchFamily="18" charset="0"/>
              <a:cs typeface="Times New Roman" pitchFamily="18" charset="0"/>
            </a:endParaRPr>
          </a:p>
          <a:p>
            <a:endParaRPr lang="en-US" sz="3200" dirty="0" smtClean="0">
              <a:latin typeface="Times New Roman" pitchFamily="18" charset="0"/>
              <a:cs typeface="Times New Roman" pitchFamily="18" charset="0"/>
            </a:endParaRPr>
          </a:p>
          <a:p>
            <a:endParaRPr lang="vi-VN" sz="3200" dirty="0" smtClean="0">
              <a:latin typeface="Times New Roman" pitchFamily="18" charset="0"/>
              <a:cs typeface="Times New Roman" pitchFamily="18" charset="0"/>
            </a:endParaRPr>
          </a:p>
          <a:p>
            <a:r>
              <a:rPr lang="vi-VN" sz="3200" dirty="0" smtClean="0">
                <a:latin typeface="Times New Roman" pitchFamily="18" charset="0"/>
                <a:cs typeface="Times New Roman" pitchFamily="18" charset="0"/>
              </a:rPr>
              <a:t>PAM không được dùng trong thông tin số với lý do là tuy đã rời rạc hóa nhưng tín hiệu PAM cũng chứa quá nhiều thành phần biên  độ với các giá trị khác nhau (vẫn còn là dạng tương tự). </a:t>
            </a:r>
            <a:r>
              <a:rPr lang="en-US" sz="3200" dirty="0" smtClean="0">
                <a:latin typeface="Times New Roman" pitchFamily="18" charset="0"/>
                <a:cs typeface="Times New Roman" pitchFamily="18" charset="0"/>
              </a:rPr>
              <a:t> </a:t>
            </a:r>
            <a:endParaRPr lang="en-US" sz="3200" dirty="0">
              <a:latin typeface="Times New Roman" pitchFamily="18" charset="0"/>
              <a:cs typeface="Times New Roman" pitchFamily="18" charset="0"/>
            </a:endParaRPr>
          </a:p>
        </p:txBody>
      </p:sp>
      <p:graphicFrame>
        <p:nvGraphicFramePr>
          <p:cNvPr id="2050" name="Object 2"/>
          <p:cNvGraphicFramePr>
            <a:graphicFrameLocks noChangeAspect="1"/>
          </p:cNvGraphicFramePr>
          <p:nvPr/>
        </p:nvGraphicFramePr>
        <p:xfrm>
          <a:off x="3711575" y="2926328"/>
          <a:ext cx="3832225" cy="1309122"/>
        </p:xfrm>
        <a:graphic>
          <a:graphicData uri="http://schemas.openxmlformats.org/presentationml/2006/ole">
            <mc:AlternateContent xmlns:mc="http://schemas.openxmlformats.org/markup-compatibility/2006">
              <mc:Choice xmlns:v="urn:schemas-microsoft-com:vml" Requires="v">
                <p:oleObj spid="_x0000_s2057" name="Equation" r:id="rId3" imgW="1206360" imgH="406080" progId="Equation.DSMT4">
                  <p:embed/>
                </p:oleObj>
              </mc:Choice>
              <mc:Fallback>
                <p:oleObj name="Equation" r:id="rId3" imgW="1206360" imgH="40608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1575" y="2926328"/>
                        <a:ext cx="3832225" cy="13091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PCM (Pulse Coded Modulation)</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Khái niệm: </a:t>
            </a:r>
            <a:r>
              <a:rPr lang="vi-VN" sz="3200" dirty="0" smtClean="0">
                <a:latin typeface="+mj-lt"/>
              </a:rPr>
              <a:t>PCM là quá trình chuyển tín hiệu PAM sang tín</a:t>
            </a:r>
            <a:r>
              <a:rPr lang="en-US" sz="3200" dirty="0" smtClean="0">
                <a:latin typeface="+mj-lt"/>
              </a:rPr>
              <a:t> </a:t>
            </a:r>
            <a:r>
              <a:rPr lang="vi-VN" sz="3200" dirty="0" smtClean="0">
                <a:latin typeface="+mj-lt"/>
              </a:rPr>
              <a:t>hiệu số. </a:t>
            </a:r>
          </a:p>
          <a:p>
            <a:pPr>
              <a:buFont typeface="Wingdings" pitchFamily="2" charset="2"/>
              <a:buChar char="v"/>
            </a:pPr>
            <a:r>
              <a:rPr lang="en-US" sz="3200" b="1" dirty="0" smtClean="0">
                <a:latin typeface="+mj-lt"/>
              </a:rPr>
              <a:t> </a:t>
            </a:r>
            <a:r>
              <a:rPr lang="vi-VN" sz="3200" b="1" dirty="0" smtClean="0">
                <a:latin typeface="+mj-lt"/>
              </a:rPr>
              <a:t>Các bước thực hiện PCM: 4 bước:  </a:t>
            </a:r>
          </a:p>
          <a:p>
            <a:r>
              <a:rPr lang="vi-VN" sz="3200" dirty="0" smtClean="0">
                <a:latin typeface="+mj-lt"/>
              </a:rPr>
              <a:t>Lấy mẫu và giữ (PAM) </a:t>
            </a:r>
          </a:p>
          <a:p>
            <a:r>
              <a:rPr lang="vi-VN" sz="3200" dirty="0" smtClean="0">
                <a:latin typeface="+mj-lt"/>
              </a:rPr>
              <a:t>Lượng tử hóa  </a:t>
            </a:r>
          </a:p>
          <a:p>
            <a:r>
              <a:rPr lang="vi-VN" sz="3200" dirty="0" smtClean="0">
                <a:latin typeface="+mj-lt"/>
              </a:rPr>
              <a:t>Mã hóa nhị phân</a:t>
            </a:r>
          </a:p>
          <a:p>
            <a:r>
              <a:rPr lang="vi-VN" sz="3200" dirty="0" smtClean="0">
                <a:latin typeface="+mj-lt"/>
              </a:rPr>
              <a:t>Mã hóa số - số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PCM (Pulse Coded Modulation)</a:t>
            </a:r>
            <a:endParaRPr lang="en-US" dirty="0"/>
          </a:p>
        </p:txBody>
      </p:sp>
      <p:sp>
        <p:nvSpPr>
          <p:cNvPr id="3" name="Content Placeholder 2"/>
          <p:cNvSpPr>
            <a:spLocks noGrp="1"/>
          </p:cNvSpPr>
          <p:nvPr>
            <p:ph idx="1"/>
          </p:nvPr>
        </p:nvSpPr>
        <p:spPr>
          <a:xfrm>
            <a:off x="572493" y="1431235"/>
            <a:ext cx="5599707" cy="4866198"/>
          </a:xfrm>
        </p:spPr>
        <p:txBody>
          <a:bodyPr/>
          <a:lstStyle/>
          <a:p>
            <a:pPr algn="just"/>
            <a:r>
              <a:rPr lang="en-US" sz="3200" b="1" dirty="0" smtClean="0">
                <a:latin typeface="Times New Roman" pitchFamily="18" charset="0"/>
                <a:cs typeface="Times New Roman" pitchFamily="18" charset="0"/>
              </a:rPr>
              <a:t> </a:t>
            </a:r>
            <a:r>
              <a:rPr lang="vi-VN" sz="3200" b="1" dirty="0" smtClean="0">
                <a:latin typeface="Times New Roman" pitchFamily="18" charset="0"/>
                <a:cs typeface="Times New Roman" pitchFamily="18" charset="0"/>
              </a:rPr>
              <a:t>PAM: </a:t>
            </a:r>
            <a:r>
              <a:rPr lang="vi-VN" sz="3200" dirty="0" smtClean="0">
                <a:latin typeface="Times New Roman" pitchFamily="18" charset="0"/>
                <a:cs typeface="Times New Roman" pitchFamily="18" charset="0"/>
              </a:rPr>
              <a:t>lấy mẫu và giữ (theo định lý Nyquist)</a:t>
            </a:r>
            <a:endParaRPr lang="en-US" sz="3200" dirty="0" smtClean="0">
              <a:latin typeface="Times New Roman" pitchFamily="18" charset="0"/>
              <a:cs typeface="Times New Roman" pitchFamily="18" charset="0"/>
            </a:endParaRPr>
          </a:p>
          <a:p>
            <a:pPr algn="just"/>
            <a:r>
              <a:rPr lang="vi-VN" sz="3200" b="1" dirty="0" smtClean="0">
                <a:latin typeface="Times New Roman" pitchFamily="18" charset="0"/>
                <a:cs typeface="Times New Roman" pitchFamily="18" charset="0"/>
              </a:rPr>
              <a:t>Lượng tử hóa </a:t>
            </a:r>
            <a:r>
              <a:rPr lang="vi-VN" sz="3200" dirty="0" smtClean="0">
                <a:latin typeface="Times New Roman" pitchFamily="18" charset="0"/>
                <a:cs typeface="Times New Roman" pitchFamily="18" charset="0"/>
              </a:rPr>
              <a:t>(quantilization): là phương thức gán giá trị bất kỳ của tín hiệu (sau khi lấy mẫu)  về một mức đã được định sẵn.  </a:t>
            </a:r>
            <a:endParaRPr lang="en-US" sz="3200" dirty="0" smtClean="0">
              <a:latin typeface="Times New Roman" pitchFamily="18" charset="0"/>
              <a:cs typeface="Times New Roman" pitchFamily="18" charset="0"/>
            </a:endParaRPr>
          </a:p>
          <a:p>
            <a:endParaRPr lang="en-US" dirty="0"/>
          </a:p>
        </p:txBody>
      </p:sp>
      <p:pic>
        <p:nvPicPr>
          <p:cNvPr id="3076" name="Picture 4"/>
          <p:cNvPicPr>
            <a:picLocks noChangeAspect="1" noChangeArrowheads="1"/>
          </p:cNvPicPr>
          <p:nvPr/>
        </p:nvPicPr>
        <p:blipFill>
          <a:blip r:embed="rId2"/>
          <a:srcRect/>
          <a:stretch>
            <a:fillRect/>
          </a:stretch>
        </p:blipFill>
        <p:spPr bwMode="auto">
          <a:xfrm>
            <a:off x="6234113" y="2095499"/>
            <a:ext cx="5629617" cy="4124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PCM (Pulse Coded Modulation)</a:t>
            </a:r>
            <a:endParaRPr lang="en-US" dirty="0"/>
          </a:p>
        </p:txBody>
      </p:sp>
      <p:sp>
        <p:nvSpPr>
          <p:cNvPr id="3" name="Content Placeholder 2"/>
          <p:cNvSpPr>
            <a:spLocks noGrp="1"/>
          </p:cNvSpPr>
          <p:nvPr>
            <p:ph idx="1"/>
          </p:nvPr>
        </p:nvSpPr>
        <p:spPr>
          <a:xfrm>
            <a:off x="572493" y="1431235"/>
            <a:ext cx="5771157" cy="4866198"/>
          </a:xfrm>
        </p:spPr>
        <p:txBody>
          <a:bodyPr>
            <a:normAutofit/>
          </a:bodyPr>
          <a:lstStyle/>
          <a:p>
            <a:pPr algn="just"/>
            <a:r>
              <a:rPr lang="vi-VN" sz="3200" b="1" dirty="0" smtClean="0">
                <a:latin typeface="+mj-lt"/>
              </a:rPr>
              <a:t>Mã hoá nhị phân: </a:t>
            </a:r>
            <a:r>
              <a:rPr lang="vi-VN" sz="3200" dirty="0" smtClean="0">
                <a:latin typeface="+mj-lt"/>
              </a:rPr>
              <a:t>Chuyển mỗi mẫu lượng tử thành 1 tổ hợp nhị phân. </a:t>
            </a:r>
            <a:endParaRPr lang="en-US" sz="3200" dirty="0" smtClean="0">
              <a:latin typeface="+mj-lt"/>
            </a:endParaRPr>
          </a:p>
        </p:txBody>
      </p:sp>
      <p:pic>
        <p:nvPicPr>
          <p:cNvPr id="4098" name="Picture 2"/>
          <p:cNvPicPr>
            <a:picLocks noChangeAspect="1" noChangeArrowheads="1"/>
          </p:cNvPicPr>
          <p:nvPr/>
        </p:nvPicPr>
        <p:blipFill>
          <a:blip r:embed="rId2"/>
          <a:srcRect/>
          <a:stretch>
            <a:fillRect/>
          </a:stretch>
        </p:blipFill>
        <p:spPr bwMode="auto">
          <a:xfrm>
            <a:off x="6436435" y="1771650"/>
            <a:ext cx="5755565" cy="43100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11500" dirty="0" smtClean="0"/>
              <a:t>10000000001</a:t>
            </a:r>
            <a:endParaRPr lang="en-US" sz="11500" dirty="0"/>
          </a:p>
        </p:txBody>
      </p:sp>
    </p:spTree>
    <p:extLst>
      <p:ext uri="{BB962C8B-B14F-4D97-AF65-F5344CB8AC3E}">
        <p14:creationId xmlns:p14="http://schemas.microsoft.com/office/powerpoint/2010/main" val="40055108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PCM (Pulse Coded Modulation)</a:t>
            </a:r>
            <a:endParaRPr lang="en-US" dirty="0"/>
          </a:p>
        </p:txBody>
      </p:sp>
      <p:sp>
        <p:nvSpPr>
          <p:cNvPr id="3" name="Content Placeholder 2"/>
          <p:cNvSpPr>
            <a:spLocks noGrp="1"/>
          </p:cNvSpPr>
          <p:nvPr>
            <p:ph idx="1"/>
          </p:nvPr>
        </p:nvSpPr>
        <p:spPr/>
        <p:txBody>
          <a:bodyPr>
            <a:normAutofit/>
          </a:bodyPr>
          <a:lstStyle/>
          <a:p>
            <a:r>
              <a:rPr lang="vi-VN" sz="3200" b="1" dirty="0" smtClean="0">
                <a:latin typeface="+mj-lt"/>
              </a:rPr>
              <a:t>Mã hoá số</a:t>
            </a:r>
            <a:r>
              <a:rPr lang="en-US" sz="3200" b="1" dirty="0" smtClean="0">
                <a:latin typeface="+mj-lt"/>
              </a:rPr>
              <a:t> </a:t>
            </a:r>
            <a:r>
              <a:rPr lang="vi-VN" sz="3200" b="1" dirty="0" smtClean="0">
                <a:latin typeface="+mj-lt"/>
              </a:rPr>
              <a:t>- số: </a:t>
            </a:r>
            <a:r>
              <a:rPr lang="vi-VN" sz="3200" dirty="0" smtClean="0">
                <a:latin typeface="+mj-lt"/>
              </a:rPr>
              <a:t>Chuyển các bit nhị phân thành tín hiệu số (mã đơn cực, lưỡng cực….)</a:t>
            </a:r>
            <a:endParaRPr lang="en-US" sz="3200" dirty="0" smtClean="0">
              <a:latin typeface="+mj-lt"/>
            </a:endParaRPr>
          </a:p>
          <a:p>
            <a:r>
              <a:rPr lang="vi-VN" sz="3200" dirty="0" smtClean="0">
                <a:latin typeface="+mj-lt"/>
              </a:rPr>
              <a:t>Ví dụ: phương pháp điều chế xung mã PCM của một tín hiệu số được chuyển theo mã unipolar, trong hình chỉ vẽ giá trị 3 mẫu đầu.  </a:t>
            </a:r>
            <a:endParaRPr lang="en-US" sz="3200" dirty="0">
              <a:latin typeface="+mj-lt"/>
            </a:endParaRPr>
          </a:p>
        </p:txBody>
      </p:sp>
      <p:pic>
        <p:nvPicPr>
          <p:cNvPr id="5122" name="Picture 2"/>
          <p:cNvPicPr>
            <a:picLocks noChangeAspect="1" noChangeArrowheads="1"/>
          </p:cNvPicPr>
          <p:nvPr/>
        </p:nvPicPr>
        <p:blipFill>
          <a:blip r:embed="rId2"/>
          <a:srcRect/>
          <a:stretch>
            <a:fillRect/>
          </a:stretch>
        </p:blipFill>
        <p:spPr bwMode="auto">
          <a:xfrm>
            <a:off x="838200" y="3879148"/>
            <a:ext cx="10668000" cy="195491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PCM (Pulse Coded Modulation)</a:t>
            </a:r>
            <a:endParaRPr lang="en-US" dirty="0"/>
          </a:p>
        </p:txBody>
      </p:sp>
      <p:sp>
        <p:nvSpPr>
          <p:cNvPr id="3" name="Content Placeholder 2"/>
          <p:cNvSpPr>
            <a:spLocks noGrp="1"/>
          </p:cNvSpPr>
          <p:nvPr>
            <p:ph idx="1"/>
          </p:nvPr>
        </p:nvSpPr>
        <p:spPr>
          <a:xfrm>
            <a:off x="572493" y="1431235"/>
            <a:ext cx="4475757" cy="4866198"/>
          </a:xfrm>
        </p:spPr>
        <p:txBody>
          <a:bodyPr>
            <a:noAutofit/>
          </a:bodyPr>
          <a:lstStyle/>
          <a:p>
            <a:pPr algn="just"/>
            <a:r>
              <a:rPr lang="vi-VN" sz="3200" dirty="0" smtClean="0">
                <a:latin typeface="+mj-lt"/>
              </a:rPr>
              <a:t>PCM là phương pháp lấy mẫu tín hiệu được dùng trong số hóa tín hiệu thoại trong</a:t>
            </a:r>
            <a:r>
              <a:rPr lang="en-US" sz="3200" dirty="0" smtClean="0">
                <a:latin typeface="+mj-lt"/>
              </a:rPr>
              <a:t> </a:t>
            </a:r>
            <a:r>
              <a:rPr lang="vi-VN" sz="3200" dirty="0" smtClean="0">
                <a:latin typeface="+mj-lt"/>
              </a:rPr>
              <a:t>truyền dẫn T-line trong hệ thống viễn thông Bắc Mỹ, E-line trong hệ thống viễn thôngChâu Âu. </a:t>
            </a:r>
            <a:endParaRPr lang="en-US" sz="3200" dirty="0">
              <a:latin typeface="+mj-lt"/>
            </a:endParaRPr>
          </a:p>
        </p:txBody>
      </p:sp>
      <p:pic>
        <p:nvPicPr>
          <p:cNvPr id="6146" name="Picture 2"/>
          <p:cNvPicPr>
            <a:picLocks noChangeAspect="1" noChangeArrowheads="1"/>
          </p:cNvPicPr>
          <p:nvPr/>
        </p:nvPicPr>
        <p:blipFill>
          <a:blip r:embed="rId2"/>
          <a:srcRect r="3627"/>
          <a:stretch>
            <a:fillRect/>
          </a:stretch>
        </p:blipFill>
        <p:spPr bwMode="auto">
          <a:xfrm>
            <a:off x="5164097" y="1619897"/>
            <a:ext cx="6704053" cy="481900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PCM (Pulse Coded Modulation)</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Tốc độ bit (bit rate): </a:t>
            </a:r>
            <a:r>
              <a:rPr lang="vi-VN" sz="3200" dirty="0" smtClean="0">
                <a:latin typeface="+mj-lt"/>
              </a:rPr>
              <a:t>Sau khi có được số bit trong mẫu, ta cần tính tốc độ bit dùng công</a:t>
            </a:r>
            <a:r>
              <a:rPr lang="en-US" sz="3200" dirty="0" smtClean="0">
                <a:latin typeface="+mj-lt"/>
              </a:rPr>
              <a:t> </a:t>
            </a:r>
            <a:r>
              <a:rPr lang="vi-VN" sz="3200" dirty="0" smtClean="0">
                <a:latin typeface="+mj-lt"/>
              </a:rPr>
              <a:t>thức sau:</a:t>
            </a:r>
            <a:endParaRPr lang="en-US" sz="3200" dirty="0" smtClean="0">
              <a:latin typeface="+mj-lt"/>
            </a:endParaRPr>
          </a:p>
          <a:p>
            <a:pPr>
              <a:buFont typeface="Wingdings" pitchFamily="2" charset="2"/>
              <a:buChar char="v"/>
            </a:pPr>
            <a:endParaRPr lang="en-US" sz="3200" dirty="0" smtClean="0">
              <a:latin typeface="+mj-lt"/>
            </a:endParaRPr>
          </a:p>
          <a:p>
            <a:pPr>
              <a:buFont typeface="Wingdings" pitchFamily="2" charset="2"/>
              <a:buChar char="v"/>
            </a:pPr>
            <a:endParaRPr lang="en-US" sz="3200" dirty="0" smtClean="0">
              <a:latin typeface="+mj-lt"/>
            </a:endParaRPr>
          </a:p>
          <a:p>
            <a:r>
              <a:rPr lang="en-US" sz="3200" dirty="0" smtClean="0">
                <a:latin typeface="+mj-lt"/>
              </a:rPr>
              <a:t> f</a:t>
            </a:r>
            <a:r>
              <a:rPr lang="en-US" sz="3200" baseline="-25000" dirty="0" smtClean="0">
                <a:latin typeface="+mj-lt"/>
              </a:rPr>
              <a:t>s</a:t>
            </a:r>
            <a:r>
              <a:rPr lang="en-US" sz="3200" dirty="0" smtClean="0">
                <a:latin typeface="+mj-lt"/>
              </a:rPr>
              <a:t>: tần số lấy mẫu</a:t>
            </a:r>
          </a:p>
          <a:p>
            <a:r>
              <a:rPr lang="en-US" sz="3200" dirty="0" smtClean="0">
                <a:latin typeface="+mj-lt"/>
              </a:rPr>
              <a:t> n: số bít trong một mẫu</a:t>
            </a:r>
            <a:r>
              <a:rPr lang="vi-VN" sz="3200" dirty="0" smtClean="0">
                <a:latin typeface="+mj-lt"/>
              </a:rPr>
              <a:t> </a:t>
            </a:r>
            <a:endParaRPr lang="en-US" sz="3200" dirty="0">
              <a:latin typeface="+mj-lt"/>
            </a:endParaRPr>
          </a:p>
        </p:txBody>
      </p:sp>
      <p:graphicFrame>
        <p:nvGraphicFramePr>
          <p:cNvPr id="7170" name="Object 2"/>
          <p:cNvGraphicFramePr>
            <a:graphicFrameLocks noChangeAspect="1"/>
          </p:cNvGraphicFramePr>
          <p:nvPr/>
        </p:nvGraphicFramePr>
        <p:xfrm>
          <a:off x="2938463" y="2643188"/>
          <a:ext cx="5607050" cy="654050"/>
        </p:xfrm>
        <a:graphic>
          <a:graphicData uri="http://schemas.openxmlformats.org/presentationml/2006/ole">
            <mc:AlternateContent xmlns:mc="http://schemas.openxmlformats.org/markup-compatibility/2006">
              <mc:Choice xmlns:v="urn:schemas-microsoft-com:vml" Requires="v">
                <p:oleObj spid="_x0000_s7177" name="Equation" r:id="rId3" imgW="1765080" imgH="203040" progId="Equation.DSMT4">
                  <p:embed/>
                </p:oleObj>
              </mc:Choice>
              <mc:Fallback>
                <p:oleObj name="Equation" r:id="rId3" imgW="1765080" imgH="20304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8463" y="2643188"/>
                        <a:ext cx="5607050" cy="65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dirty="0" smtClean="0"/>
              <a:t>5.3 Chuyển đổi </a:t>
            </a:r>
            <a:r>
              <a:rPr lang="en-US" sz="3800" dirty="0" err="1" smtClean="0"/>
              <a:t>số</a:t>
            </a:r>
            <a:r>
              <a:rPr lang="en-US" sz="3800" dirty="0" smtClean="0"/>
              <a:t> </a:t>
            </a:r>
            <a:r>
              <a:rPr lang="en-US" sz="3800" dirty="0" smtClean="0"/>
              <a:t>- </a:t>
            </a:r>
            <a:r>
              <a:rPr lang="en-US" sz="3800" dirty="0" err="1" smtClean="0"/>
              <a:t>tương</a:t>
            </a:r>
            <a:r>
              <a:rPr lang="en-US" sz="3800" dirty="0" smtClean="0"/>
              <a:t> </a:t>
            </a:r>
            <a:r>
              <a:rPr lang="en-US" sz="3800" dirty="0" smtClean="0"/>
              <a:t>tự (điều </a:t>
            </a:r>
            <a:r>
              <a:rPr lang="en-US" sz="3800" dirty="0" err="1" smtClean="0"/>
              <a:t>chế</a:t>
            </a:r>
            <a:r>
              <a:rPr lang="en-US" sz="3800" dirty="0" smtClean="0"/>
              <a:t> </a:t>
            </a:r>
            <a:r>
              <a:rPr lang="en-US" sz="3800" dirty="0" err="1" smtClean="0"/>
              <a:t>số</a:t>
            </a:r>
            <a:r>
              <a:rPr lang="en-US" sz="3800" dirty="0" smtClean="0"/>
              <a:t>)</a:t>
            </a:r>
            <a:endParaRPr lang="en-US" sz="3800"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Khái niệm: </a:t>
            </a:r>
            <a:r>
              <a:rPr lang="vi-VN" sz="3200" dirty="0" smtClean="0">
                <a:latin typeface="+mj-lt"/>
              </a:rPr>
              <a:t>Điều chế số là quá trình thay đổi một trong các đặc tính (Biên độ, Tần số, Pha) của tín hiệu sóng mang (điều hoà, sin) dựa trên thông tin của tín hiệu số (1 và 0)</a:t>
            </a:r>
            <a:endParaRPr lang="en-US" sz="3200" dirty="0" smtClean="0">
              <a:latin typeface="+mj-lt"/>
            </a:endParaRPr>
          </a:p>
          <a:p>
            <a:pPr>
              <a:buFont typeface="Wingdings" pitchFamily="2" charset="2"/>
              <a:buChar char="v"/>
            </a:pPr>
            <a:r>
              <a:rPr lang="en-US" sz="3200" b="1" dirty="0" smtClean="0">
                <a:latin typeface="+mj-lt"/>
              </a:rPr>
              <a:t> </a:t>
            </a:r>
            <a:r>
              <a:rPr lang="vi-VN" sz="3200" b="1" dirty="0" smtClean="0">
                <a:latin typeface="+mj-lt"/>
              </a:rPr>
              <a:t>Lý do điều chế số </a:t>
            </a:r>
          </a:p>
          <a:p>
            <a:r>
              <a:rPr lang="vi-VN" sz="3200" dirty="0" smtClean="0">
                <a:latin typeface="+mj-lt"/>
              </a:rPr>
              <a:t>Khi truyền dữ liệu từ một thiết bị số A sang một thiết bị số B dùng đường dây điện thoại, vô tuyến. Hoặc khoảng cách truyền xa. </a:t>
            </a:r>
          </a:p>
          <a:p>
            <a:r>
              <a:rPr lang="vi-VN" sz="3200" dirty="0" smtClean="0">
                <a:latin typeface="+mj-lt"/>
              </a:rPr>
              <a:t>Ghép kênh.</a:t>
            </a:r>
            <a:endParaRPr lang="en-US" sz="3200" dirty="0">
              <a:latin typeface="+mj-lt"/>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dirty="0" smtClean="0"/>
              <a:t>5.3 Chuyển đổi số tương tự (điều chế sô)</a:t>
            </a:r>
            <a:endParaRPr lang="en-US" sz="3800" dirty="0"/>
          </a:p>
        </p:txBody>
      </p:sp>
      <p:sp>
        <p:nvSpPr>
          <p:cNvPr id="3" name="Content Placeholder 2"/>
          <p:cNvSpPr>
            <a:spLocks noGrp="1"/>
          </p:cNvSpPr>
          <p:nvPr>
            <p:ph idx="1"/>
          </p:nvPr>
        </p:nvSpPr>
        <p:spPr/>
        <p:txBody>
          <a:bodyPr>
            <a:normAutofit/>
          </a:bodyPr>
          <a:lstStyle/>
          <a:p>
            <a:r>
              <a:rPr lang="vi-VN" sz="3200" dirty="0" smtClean="0">
                <a:latin typeface="+mj-lt"/>
              </a:rPr>
              <a:t>Sơ đồ khối</a:t>
            </a:r>
            <a:endParaRPr lang="en-US" sz="3200" dirty="0" smtClean="0">
              <a:latin typeface="+mj-lt"/>
            </a:endParaRPr>
          </a:p>
          <a:p>
            <a:endParaRPr lang="en-US" sz="3200" dirty="0" smtClean="0">
              <a:latin typeface="+mj-lt"/>
            </a:endParaRPr>
          </a:p>
          <a:p>
            <a:endParaRPr lang="en-US" sz="3200" dirty="0" smtClean="0">
              <a:latin typeface="+mj-lt"/>
            </a:endParaRPr>
          </a:p>
          <a:p>
            <a:endParaRPr lang="en-US" sz="3200" dirty="0" smtClean="0">
              <a:latin typeface="+mj-lt"/>
            </a:endParaRPr>
          </a:p>
          <a:p>
            <a:r>
              <a:rPr lang="vi-VN" sz="3200" dirty="0" smtClean="0">
                <a:latin typeface="+mj-lt"/>
              </a:rPr>
              <a:t>Phân loại  </a:t>
            </a:r>
            <a:endParaRPr lang="en-US" sz="3200" dirty="0">
              <a:latin typeface="+mj-lt"/>
            </a:endParaRPr>
          </a:p>
        </p:txBody>
      </p:sp>
      <p:pic>
        <p:nvPicPr>
          <p:cNvPr id="8194" name="Picture 2"/>
          <p:cNvPicPr>
            <a:picLocks noChangeAspect="1" noChangeArrowheads="1"/>
          </p:cNvPicPr>
          <p:nvPr/>
        </p:nvPicPr>
        <p:blipFill>
          <a:blip r:embed="rId2"/>
          <a:srcRect/>
          <a:stretch>
            <a:fillRect/>
          </a:stretch>
        </p:blipFill>
        <p:spPr bwMode="auto">
          <a:xfrm>
            <a:off x="2395539" y="1854489"/>
            <a:ext cx="8196261" cy="1507835"/>
          </a:xfrm>
          <a:prstGeom prst="rect">
            <a:avLst/>
          </a:prstGeom>
          <a:noFill/>
          <a:ln w="9525">
            <a:noFill/>
            <a:miter lim="800000"/>
            <a:headEnd/>
            <a:tailEnd/>
          </a:ln>
          <a:effectLst/>
        </p:spPr>
      </p:pic>
      <p:pic>
        <p:nvPicPr>
          <p:cNvPr id="8195" name="Picture 3"/>
          <p:cNvPicPr>
            <a:picLocks noChangeAspect="1" noChangeArrowheads="1"/>
          </p:cNvPicPr>
          <p:nvPr/>
        </p:nvPicPr>
        <p:blipFill>
          <a:blip r:embed="rId3"/>
          <a:srcRect/>
          <a:stretch>
            <a:fillRect/>
          </a:stretch>
        </p:blipFill>
        <p:spPr bwMode="auto">
          <a:xfrm>
            <a:off x="3082622" y="3907943"/>
            <a:ext cx="6366178" cy="264525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dirty="0" smtClean="0"/>
              <a:t>5.3 Chuyển đổi số tương tự (điều chế sô)</a:t>
            </a:r>
            <a:endParaRPr lang="en-US" sz="3800"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Các yếu tố của điều chế số </a:t>
            </a:r>
          </a:p>
          <a:p>
            <a:r>
              <a:rPr lang="vi-VN" sz="3200" dirty="0" smtClean="0">
                <a:latin typeface="+mj-lt"/>
              </a:rPr>
              <a:t>Tốc độ bit (R</a:t>
            </a:r>
            <a:r>
              <a:rPr lang="en-US" sz="3200" baseline="-25000" dirty="0" smtClean="0">
                <a:latin typeface="+mj-lt"/>
              </a:rPr>
              <a:t>bit</a:t>
            </a:r>
            <a:r>
              <a:rPr lang="vi-VN" sz="3200" dirty="0" smtClean="0">
                <a:latin typeface="+mj-lt"/>
              </a:rPr>
              <a:t>):  là số bit được truyền trong một giây (bps: bit per second)</a:t>
            </a:r>
            <a:endParaRPr lang="en-US" sz="3200" dirty="0" smtClean="0">
              <a:latin typeface="+mj-lt"/>
            </a:endParaRPr>
          </a:p>
          <a:p>
            <a:r>
              <a:rPr lang="vi-VN" sz="3200" dirty="0" smtClean="0">
                <a:latin typeface="+mj-lt"/>
              </a:rPr>
              <a:t>Tốc độ baud (R</a:t>
            </a:r>
            <a:r>
              <a:rPr lang="en-US" sz="3200" baseline="-25000" dirty="0" smtClean="0">
                <a:latin typeface="+mj-lt"/>
              </a:rPr>
              <a:t>baud</a:t>
            </a:r>
            <a:r>
              <a:rPr lang="en-US" sz="3200" dirty="0" smtClean="0">
                <a:latin typeface="+mj-lt"/>
              </a:rPr>
              <a:t> </a:t>
            </a:r>
            <a:r>
              <a:rPr lang="vi-VN" sz="3200" dirty="0" smtClean="0">
                <a:latin typeface="+mj-lt"/>
              </a:rPr>
              <a:t>=</a:t>
            </a:r>
            <a:r>
              <a:rPr lang="en-US" sz="3200" dirty="0" smtClean="0">
                <a:latin typeface="+mj-lt"/>
              </a:rPr>
              <a:t> </a:t>
            </a:r>
            <a:r>
              <a:rPr lang="vi-VN" sz="3200" dirty="0" smtClean="0">
                <a:latin typeface="+mj-lt"/>
              </a:rPr>
              <a:t>N</a:t>
            </a:r>
            <a:r>
              <a:rPr lang="en-US" sz="3200" baseline="-25000" dirty="0" smtClean="0">
                <a:latin typeface="+mj-lt"/>
              </a:rPr>
              <a:t>baud</a:t>
            </a:r>
            <a:r>
              <a:rPr lang="vi-VN" sz="3200" dirty="0" smtClean="0">
                <a:latin typeface="+mj-lt"/>
              </a:rPr>
              <a:t>): là số đơn vị tín hiệu truyền trong một giây (baud/s)</a:t>
            </a:r>
            <a:r>
              <a:rPr lang="en-US" sz="3200" dirty="0" smtClean="0">
                <a:latin typeface="+mj-lt"/>
              </a:rPr>
              <a:t>;</a:t>
            </a:r>
            <a:r>
              <a:rPr lang="vi-VN" sz="3200" dirty="0" smtClean="0"/>
              <a:t> </a:t>
            </a:r>
            <a:r>
              <a:rPr lang="vi-VN" sz="3200" b="1" dirty="0" smtClean="0">
                <a:solidFill>
                  <a:srgbClr val="FF0000"/>
                </a:solidFill>
                <a:latin typeface="+mj-lt"/>
              </a:rPr>
              <a:t>R</a:t>
            </a:r>
            <a:r>
              <a:rPr lang="en-US" sz="3200" b="1" baseline="-25000" dirty="0" smtClean="0">
                <a:solidFill>
                  <a:srgbClr val="FF0000"/>
                </a:solidFill>
                <a:latin typeface="+mj-lt"/>
              </a:rPr>
              <a:t>bit</a:t>
            </a:r>
            <a:r>
              <a:rPr lang="en-US" sz="3200" b="1" dirty="0" smtClean="0">
                <a:solidFill>
                  <a:srgbClr val="FF0000"/>
                </a:solidFill>
                <a:latin typeface="+mj-lt"/>
              </a:rPr>
              <a:t> =</a:t>
            </a:r>
            <a:r>
              <a:rPr lang="vi-VN" sz="3200" b="1" dirty="0" smtClean="0">
                <a:solidFill>
                  <a:srgbClr val="FF0000"/>
                </a:solidFill>
                <a:latin typeface="+mj-lt"/>
              </a:rPr>
              <a:t> R</a:t>
            </a:r>
            <a:r>
              <a:rPr lang="en-US" sz="3200" b="1" baseline="-25000" dirty="0" smtClean="0">
                <a:solidFill>
                  <a:srgbClr val="FF0000"/>
                </a:solidFill>
                <a:latin typeface="+mj-lt"/>
              </a:rPr>
              <a:t>baud</a:t>
            </a:r>
            <a:r>
              <a:rPr lang="en-US" sz="3200" b="1" dirty="0" smtClean="0">
                <a:solidFill>
                  <a:srgbClr val="FF0000"/>
                </a:solidFill>
                <a:latin typeface="+mj-lt"/>
              </a:rPr>
              <a:t>.n</a:t>
            </a:r>
            <a:endParaRPr lang="en-US" sz="3200" b="1" dirty="0">
              <a:solidFill>
                <a:srgbClr val="FF0000"/>
              </a:solidFill>
              <a:latin typeface="+mj-lt"/>
            </a:endParaRPr>
          </a:p>
        </p:txBody>
      </p:sp>
      <p:pic>
        <p:nvPicPr>
          <p:cNvPr id="9218" name="Picture 2"/>
          <p:cNvPicPr>
            <a:picLocks noChangeAspect="1" noChangeArrowheads="1"/>
          </p:cNvPicPr>
          <p:nvPr/>
        </p:nvPicPr>
        <p:blipFill>
          <a:blip r:embed="rId2"/>
          <a:srcRect/>
          <a:stretch>
            <a:fillRect/>
          </a:stretch>
        </p:blipFill>
        <p:spPr bwMode="auto">
          <a:xfrm>
            <a:off x="419100" y="4243653"/>
            <a:ext cx="5391150" cy="2171435"/>
          </a:xfrm>
          <a:prstGeom prst="rect">
            <a:avLst/>
          </a:prstGeom>
          <a:noFill/>
          <a:ln w="9525">
            <a:noFill/>
            <a:miter lim="800000"/>
            <a:headEnd/>
            <a:tailEnd/>
          </a:ln>
          <a:effectLst/>
        </p:spPr>
      </p:pic>
      <p:pic>
        <p:nvPicPr>
          <p:cNvPr id="9219" name="Picture 3"/>
          <p:cNvPicPr>
            <a:picLocks noChangeAspect="1" noChangeArrowheads="1"/>
          </p:cNvPicPr>
          <p:nvPr/>
        </p:nvPicPr>
        <p:blipFill>
          <a:blip r:embed="rId3"/>
          <a:srcRect/>
          <a:stretch>
            <a:fillRect/>
          </a:stretch>
        </p:blipFill>
        <p:spPr bwMode="auto">
          <a:xfrm>
            <a:off x="6286501" y="4155967"/>
            <a:ext cx="5500688" cy="2282933"/>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5.4 Chuyển đổi tương tự - tương tự</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Khái niệm:</a:t>
            </a:r>
            <a:r>
              <a:rPr lang="en-US" sz="3200" b="1" dirty="0" smtClean="0">
                <a:latin typeface="+mj-lt"/>
              </a:rPr>
              <a:t> </a:t>
            </a:r>
            <a:r>
              <a:rPr lang="vi-VN" sz="3200" dirty="0" smtClean="0">
                <a:latin typeface="+mj-lt"/>
              </a:rPr>
              <a:t>Là quá trình thay  đổi một trong các thông số của sóng mang cao tần (Dạng điều hoà) bởi tín hiệu tin tức (dữ liệu  tương tự). </a:t>
            </a:r>
          </a:p>
          <a:p>
            <a:pPr>
              <a:buFont typeface="Wingdings" pitchFamily="2" charset="2"/>
              <a:buChar char="v"/>
            </a:pPr>
            <a:r>
              <a:rPr lang="en-US" sz="3200" b="1" dirty="0" smtClean="0">
                <a:latin typeface="+mj-lt"/>
              </a:rPr>
              <a:t> </a:t>
            </a:r>
            <a:r>
              <a:rPr lang="vi-VN" sz="3200" b="1" dirty="0" smtClean="0">
                <a:latin typeface="+mj-lt"/>
              </a:rPr>
              <a:t>Sơ đồ khối</a:t>
            </a:r>
            <a:endParaRPr lang="en-US" sz="3200" b="1" dirty="0">
              <a:latin typeface="+mj-lt"/>
            </a:endParaRPr>
          </a:p>
        </p:txBody>
      </p:sp>
      <p:pic>
        <p:nvPicPr>
          <p:cNvPr id="10242" name="Picture 2"/>
          <p:cNvPicPr>
            <a:picLocks noChangeAspect="1" noChangeArrowheads="1"/>
          </p:cNvPicPr>
          <p:nvPr/>
        </p:nvPicPr>
        <p:blipFill>
          <a:blip r:embed="rId2"/>
          <a:srcRect/>
          <a:stretch>
            <a:fillRect/>
          </a:stretch>
        </p:blipFill>
        <p:spPr bwMode="auto">
          <a:xfrm>
            <a:off x="704850" y="3388054"/>
            <a:ext cx="10629900" cy="2131684"/>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5.4 Chuyển đổi tương tự - tương tự</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Times New Roman" pitchFamily="18" charset="0"/>
                <a:cs typeface="Times New Roman" pitchFamily="18" charset="0"/>
              </a:rPr>
              <a:t> Phân loại</a:t>
            </a:r>
          </a:p>
          <a:p>
            <a:r>
              <a:rPr lang="vi-VN" sz="3200" dirty="0" smtClean="0">
                <a:latin typeface="Times New Roman" pitchFamily="18" charset="0"/>
                <a:cs typeface="Times New Roman" pitchFamily="18" charset="0"/>
              </a:rPr>
              <a:t>AM (Amplitude Modulation): Điều biên (Điều chế biên độ) </a:t>
            </a:r>
          </a:p>
          <a:p>
            <a:r>
              <a:rPr lang="vi-VN" sz="3200" dirty="0" smtClean="0">
                <a:latin typeface="Times New Roman" pitchFamily="18" charset="0"/>
                <a:cs typeface="Times New Roman" pitchFamily="18" charset="0"/>
              </a:rPr>
              <a:t>FM (Frequency Modulation) ): Điều tần (Điều chế tấn số) </a:t>
            </a:r>
          </a:p>
          <a:p>
            <a:r>
              <a:rPr lang="vi-VN" sz="3200" dirty="0" smtClean="0">
                <a:latin typeface="Times New Roman" pitchFamily="18" charset="0"/>
                <a:cs typeface="Times New Roman" pitchFamily="18" charset="0"/>
              </a:rPr>
              <a:t>PM (Phase Modulation) ): Điều pha (Điều chế pha) </a:t>
            </a:r>
            <a:endParaRPr lang="en-US" sz="3200" dirty="0">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srcRect/>
          <a:stretch>
            <a:fillRect/>
          </a:stretch>
        </p:blipFill>
        <p:spPr bwMode="auto">
          <a:xfrm>
            <a:off x="2305050" y="3795713"/>
            <a:ext cx="7581900" cy="2047875"/>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999</TotalTime>
  <Words>2093</Words>
  <Application>Microsoft Office PowerPoint</Application>
  <PresentationFormat>Custom</PresentationFormat>
  <Paragraphs>166</Paragraphs>
  <Slides>36</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38" baseType="lpstr">
      <vt:lpstr>Office Theme</vt:lpstr>
      <vt:lpstr>Equation</vt:lpstr>
      <vt:lpstr>KỸ THUẬT TRUYỀN SỐ LIỆU</vt:lpstr>
      <vt:lpstr>Nội dung môn học</vt:lpstr>
      <vt:lpstr>                 Chương 4</vt:lpstr>
      <vt:lpstr>Nội dung chương 4</vt:lpstr>
      <vt:lpstr>Mã hóa và điều chế</vt:lpstr>
      <vt:lpstr>Mã hóa và điều chế</vt:lpstr>
      <vt:lpstr>4.1 Chuyển đổi số - số (Digital - Digital)</vt:lpstr>
      <vt:lpstr>4.1 Chuyển đổi số - số (Digital - Digital)</vt:lpstr>
      <vt:lpstr>Unipolar (Mã đơn cực)</vt:lpstr>
      <vt:lpstr>Unipolar (Mã đơn cực)</vt:lpstr>
      <vt:lpstr>Polar (Mã có cực)</vt:lpstr>
      <vt:lpstr>Bipolar (Mã lưỡng cực)</vt:lpstr>
      <vt:lpstr>AMI (Alternate Mark Inversion)</vt:lpstr>
      <vt:lpstr>AMI (Alternate Mark Inversion)</vt:lpstr>
      <vt:lpstr>B8ZS (Bipolar 8- Zero Substitution)</vt:lpstr>
      <vt:lpstr>B8ZS (Bipolar 8- Zero Substitution)</vt:lpstr>
      <vt:lpstr>B8ZS (Bipolar 8- Zero Substitution)</vt:lpstr>
      <vt:lpstr>HDB3 (High-Density Bipolar) </vt:lpstr>
      <vt:lpstr>HDB3 (High-Density Bipolar) </vt:lpstr>
      <vt:lpstr>HDB3 (High-Density Bipolar) </vt:lpstr>
      <vt:lpstr>Chuyển đổi tương tự - số</vt:lpstr>
      <vt:lpstr>Chuyển đổi tương tự - số</vt:lpstr>
      <vt:lpstr>PAM (Pulse Amplitude Modulation)</vt:lpstr>
      <vt:lpstr>PAM (Pulse Amplitude Modulation)</vt:lpstr>
      <vt:lpstr>PCM (Pulse Coded Modulation)</vt:lpstr>
      <vt:lpstr>PCM (Pulse Coded Modulation)</vt:lpstr>
      <vt:lpstr>PCM (Pulse Coded Modulation)</vt:lpstr>
      <vt:lpstr>PowerPoint Presentation</vt:lpstr>
      <vt:lpstr>PCM (Pulse Coded Modulation)</vt:lpstr>
      <vt:lpstr>PCM (Pulse Coded Modulation)</vt:lpstr>
      <vt:lpstr>PCM (Pulse Coded Modulation)</vt:lpstr>
      <vt:lpstr>5.3 Chuyển đổi số - tương tự (điều chế số)</vt:lpstr>
      <vt:lpstr>5.3 Chuyển đổi số tương tự (điều chế sô)</vt:lpstr>
      <vt:lpstr>5.3 Chuyển đổi số tương tự (điều chế sô)</vt:lpstr>
      <vt:lpstr>5.4 Chuyển đổi tương tự - tương tự</vt:lpstr>
      <vt:lpstr>5.4 Chuyển đổi tương tự - tương tự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NKCHI</cp:lastModifiedBy>
  <cp:revision>111</cp:revision>
  <dcterms:created xsi:type="dcterms:W3CDTF">2020-05-27T05:21:30Z</dcterms:created>
  <dcterms:modified xsi:type="dcterms:W3CDTF">2022-11-14T03:44:25Z</dcterms:modified>
</cp:coreProperties>
</file>