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0" r:id="rId3"/>
    <p:sldId id="261" r:id="rId4"/>
    <p:sldId id="332" r:id="rId5"/>
    <p:sldId id="298" r:id="rId6"/>
    <p:sldId id="299" r:id="rId7"/>
    <p:sldId id="300" r:id="rId8"/>
    <p:sldId id="301" r:id="rId9"/>
    <p:sldId id="302" r:id="rId10"/>
    <p:sldId id="303" r:id="rId11"/>
    <p:sldId id="304" r:id="rId12"/>
    <p:sldId id="305" r:id="rId13"/>
    <p:sldId id="309" r:id="rId14"/>
    <p:sldId id="306" r:id="rId15"/>
    <p:sldId id="307" r:id="rId16"/>
    <p:sldId id="310" r:id="rId17"/>
    <p:sldId id="308" r:id="rId18"/>
    <p:sldId id="311" r:id="rId19"/>
    <p:sldId id="312" r:id="rId20"/>
    <p:sldId id="313" r:id="rId21"/>
    <p:sldId id="316" r:id="rId22"/>
    <p:sldId id="314" r:id="rId23"/>
    <p:sldId id="315" r:id="rId24"/>
    <p:sldId id="317" r:id="rId25"/>
    <p:sldId id="318" r:id="rId26"/>
    <p:sldId id="319" r:id="rId27"/>
    <p:sldId id="320" r:id="rId28"/>
    <p:sldId id="321" r:id="rId29"/>
    <p:sldId id="322" r:id="rId30"/>
    <p:sldId id="323" r:id="rId31"/>
    <p:sldId id="324" r:id="rId32"/>
    <p:sldId id="325" r:id="rId33"/>
    <p:sldId id="326" r:id="rId34"/>
    <p:sldId id="327" r:id="rId35"/>
    <p:sldId id="328" r:id="rId36"/>
    <p:sldId id="329" r:id="rId37"/>
    <p:sldId id="330" r:id="rId38"/>
    <p:sldId id="331"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696" y="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2C102-B8AE-4CC8-8DFD-907875E47A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D06CCF0-B4C9-4910-B71B-BC5228E90B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7BE8D5-EACC-475F-B772-4C6E30ECC271}"/>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5" name="Footer Placeholder 4">
            <a:extLst>
              <a:ext uri="{FF2B5EF4-FFF2-40B4-BE49-F238E27FC236}">
                <a16:creationId xmlns:a16="http://schemas.microsoft.com/office/drawing/2014/main" id="{217793E9-AE2F-44EA-9261-CDDE0A3202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B453C0-1394-4470-9C6B-5680634C4EC3}"/>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23146689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593C6-3D1B-460E-B901-F4BB8F0EFEF2}"/>
              </a:ext>
            </a:extLst>
          </p:cNvPr>
          <p:cNvSpPr>
            <a:spLocks noGrp="1"/>
          </p:cNvSpPr>
          <p:nvPr>
            <p:ph type="title"/>
          </p:nvPr>
        </p:nvSpPr>
        <p:spPr>
          <a:xfrm>
            <a:off x="2043484" y="365126"/>
            <a:ext cx="9310315" cy="94684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AB9BE0FE-78F6-411B-A5F1-2D9DD895E4E1}"/>
              </a:ext>
            </a:extLst>
          </p:cNvPr>
          <p:cNvSpPr>
            <a:spLocks noGrp="1"/>
          </p:cNvSpPr>
          <p:nvPr>
            <p:ph idx="1"/>
          </p:nvPr>
        </p:nvSpPr>
        <p:spPr>
          <a:xfrm>
            <a:off x="572493" y="1431235"/>
            <a:ext cx="11100021" cy="48661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87351A-05B1-4209-ABD5-8A3B58E66BEF}"/>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5" name="Footer Placeholder 4">
            <a:extLst>
              <a:ext uri="{FF2B5EF4-FFF2-40B4-BE49-F238E27FC236}">
                <a16:creationId xmlns:a16="http://schemas.microsoft.com/office/drawing/2014/main" id="{D29372B3-9D16-415C-AFC6-5D4652E2A4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C96612-9E2F-40CF-99EB-6E186AFA1352}"/>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2825417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184B0-B474-49DB-90DF-EA5251578B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21C19F0-1FB7-4AE0-896E-2777B6C627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6464CF-570F-4361-9C22-BC3CA88D148C}"/>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5" name="Footer Placeholder 4">
            <a:extLst>
              <a:ext uri="{FF2B5EF4-FFF2-40B4-BE49-F238E27FC236}">
                <a16:creationId xmlns:a16="http://schemas.microsoft.com/office/drawing/2014/main" id="{E58B62D1-8837-45F2-8787-A2B9AB185F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E02877-DE60-4015-8FCF-892ACE36AA54}"/>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1140619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8C28F-0E26-4450-B5E9-87FEB7BDC5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A839B7-197F-4E24-9034-3FAB490EBD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4A0A18-C706-495C-B58F-7AF0D336D6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C573B90-884B-4A9F-A8FA-7F1E17F9DBD1}"/>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6" name="Footer Placeholder 5">
            <a:extLst>
              <a:ext uri="{FF2B5EF4-FFF2-40B4-BE49-F238E27FC236}">
                <a16:creationId xmlns:a16="http://schemas.microsoft.com/office/drawing/2014/main" id="{488F9F5E-BDB1-45F3-BCE2-76B6520C3B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84A89C-CCFA-45DE-98FF-AD7815AB8397}"/>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3319425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7480A-21EF-4CFF-9025-CCD9FA4E3840}"/>
              </a:ext>
            </a:extLst>
          </p:cNvPr>
          <p:cNvSpPr>
            <a:spLocks noGrp="1"/>
          </p:cNvSpPr>
          <p:nvPr>
            <p:ph type="title"/>
          </p:nvPr>
        </p:nvSpPr>
        <p:spPr>
          <a:xfrm>
            <a:off x="2059536" y="365125"/>
            <a:ext cx="9295852" cy="95947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D58E34F7-5664-4D9D-945D-F455A3DFE8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230B20-378D-4F09-8BF3-DEC4AF8599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6BB53C-6E2D-4274-9D7E-A670158CB3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67D38A-88C4-4F01-BFB9-D94E541EC2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99B471D-3ADB-4293-9A4B-67CF34A75DFE}"/>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8" name="Footer Placeholder 7">
            <a:extLst>
              <a:ext uri="{FF2B5EF4-FFF2-40B4-BE49-F238E27FC236}">
                <a16:creationId xmlns:a16="http://schemas.microsoft.com/office/drawing/2014/main" id="{F3774760-CCCB-42BA-9A1B-D8E7D8A947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83038AC-F431-4B77-9D3B-926E6AB6988E}"/>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3794086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AF7B9-53C0-4585-9B89-2FBA7B701E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201745-3FA6-4569-A489-EF0EA162A557}"/>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4" name="Footer Placeholder 3">
            <a:extLst>
              <a:ext uri="{FF2B5EF4-FFF2-40B4-BE49-F238E27FC236}">
                <a16:creationId xmlns:a16="http://schemas.microsoft.com/office/drawing/2014/main" id="{7CBFEA74-BC5E-4B0B-835D-E657A873B5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FD1EE18-4D1C-4701-8BBA-0169DC7CC463}"/>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5758413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9FDDA1-6ACB-4F4D-B161-8B6F5641054C}"/>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3" name="Footer Placeholder 2">
            <a:extLst>
              <a:ext uri="{FF2B5EF4-FFF2-40B4-BE49-F238E27FC236}">
                <a16:creationId xmlns:a16="http://schemas.microsoft.com/office/drawing/2014/main" id="{57317F60-55C3-4BB3-BDEB-861CA8251C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E89CA0-249C-4A75-A3B7-DBDE4463B167}"/>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2936270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4949C-EB4F-4ACF-8ADE-56A8C29C79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126C2B-8498-44CE-B005-71433DDBB6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F0CAAFC-D17E-4850-87AB-4B0A70BF44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0FB378-A528-4D34-A3DA-9AAD4037616B}"/>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6" name="Footer Placeholder 5">
            <a:extLst>
              <a:ext uri="{FF2B5EF4-FFF2-40B4-BE49-F238E27FC236}">
                <a16:creationId xmlns:a16="http://schemas.microsoft.com/office/drawing/2014/main" id="{3BE1E530-6145-4EB0-B9A0-4C5FC5E735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277388-E30C-4DA3-B6CF-2F6706424C68}"/>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778826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74CB1-3943-4F0E-9F85-C3E76CA810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3E7326-9859-4138-A3F6-5A4E1D605F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1411D02-CB68-43D9-85FC-185924DA25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D51B13-BF22-4142-BD28-F2F7C6142ECF}"/>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6" name="Footer Placeholder 5">
            <a:extLst>
              <a:ext uri="{FF2B5EF4-FFF2-40B4-BE49-F238E27FC236}">
                <a16:creationId xmlns:a16="http://schemas.microsoft.com/office/drawing/2014/main" id="{29197E58-C0D2-4770-BF0F-B8560F934F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79F60B-0CBB-4728-801E-BBB606D2C381}"/>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99707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5D5A0-D36B-42D3-8503-A08848E908F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B9DE344-B2E6-4D08-8EFD-71DBF31471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4F3758-74C8-452E-83A6-2CC57BC5F423}"/>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5" name="Footer Placeholder 4">
            <a:extLst>
              <a:ext uri="{FF2B5EF4-FFF2-40B4-BE49-F238E27FC236}">
                <a16:creationId xmlns:a16="http://schemas.microsoft.com/office/drawing/2014/main" id="{4A0A3BFC-EC66-4779-8648-8C5557A28E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1D2088-CE38-4639-9C50-5E8FE341BD1C}"/>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1468187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6662CB-0803-47C7-B8F3-343BD637577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C913163-7159-4A13-99D8-0BF55A0089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937CC0-663F-45FD-AF01-CB2762545C84}"/>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5" name="Footer Placeholder 4">
            <a:extLst>
              <a:ext uri="{FF2B5EF4-FFF2-40B4-BE49-F238E27FC236}">
                <a16:creationId xmlns:a16="http://schemas.microsoft.com/office/drawing/2014/main" id="{36F24968-DE40-4BED-BFBB-FACFDD8CFF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1762EC-6177-4132-ACB5-5C730475D94C}"/>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3117024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D6C713-6B5B-4652-B919-0C9C326BA8FB}"/>
              </a:ext>
            </a:extLst>
          </p:cNvPr>
          <p:cNvSpPr>
            <a:spLocks noGrp="1"/>
          </p:cNvSpPr>
          <p:nvPr>
            <p:ph type="title"/>
          </p:nvPr>
        </p:nvSpPr>
        <p:spPr>
          <a:xfrm>
            <a:off x="2043484" y="365126"/>
            <a:ext cx="9310315" cy="93093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103E2E6-5E74-4663-AD70-D00426D6A4CF}"/>
              </a:ext>
            </a:extLst>
          </p:cNvPr>
          <p:cNvSpPr>
            <a:spLocks noGrp="1"/>
          </p:cNvSpPr>
          <p:nvPr>
            <p:ph type="body" idx="1"/>
          </p:nvPr>
        </p:nvSpPr>
        <p:spPr>
          <a:xfrm>
            <a:off x="564543" y="1447137"/>
            <a:ext cx="10789257" cy="472982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927BD6-A005-4E4E-8C32-0E1B6CC0CD1A}"/>
              </a:ext>
            </a:extLst>
          </p:cNvPr>
          <p:cNvSpPr>
            <a:spLocks noGrp="1"/>
          </p:cNvSpPr>
          <p:nvPr>
            <p:ph type="dt" sz="half" idx="2"/>
          </p:nvPr>
        </p:nvSpPr>
        <p:spPr>
          <a:xfrm>
            <a:off x="2050990" y="6520441"/>
            <a:ext cx="1530409" cy="346316"/>
          </a:xfrm>
          <a:prstGeom prst="rect">
            <a:avLst/>
          </a:prstGeom>
        </p:spPr>
        <p:txBody>
          <a:bodyPr vert="horz" lIns="91440" tIns="45720" rIns="91440" bIns="45720" rtlCol="0" anchor="ctr"/>
          <a:lstStyle>
            <a:lvl1pPr algn="l">
              <a:defRPr sz="1200">
                <a:solidFill>
                  <a:schemeClr val="tx1">
                    <a:tint val="75000"/>
                  </a:schemeClr>
                </a:solidFill>
              </a:defRPr>
            </a:lvl1pPr>
          </a:lstStyle>
          <a:p>
            <a:fld id="{084A6D4B-7653-4E0B-8F57-D38CF83377BB}" type="datetimeFigureOut">
              <a:rPr lang="en-US" smtClean="0"/>
              <a:t>4/26/2022</a:t>
            </a:fld>
            <a:endParaRPr lang="en-US"/>
          </a:p>
        </p:txBody>
      </p:sp>
      <p:sp>
        <p:nvSpPr>
          <p:cNvPr id="5" name="Footer Placeholder 4">
            <a:extLst>
              <a:ext uri="{FF2B5EF4-FFF2-40B4-BE49-F238E27FC236}">
                <a16:creationId xmlns:a16="http://schemas.microsoft.com/office/drawing/2014/main" id="{ED2D051F-F1D7-4D05-9D06-0B2E7BC10237}"/>
              </a:ext>
            </a:extLst>
          </p:cNvPr>
          <p:cNvSpPr>
            <a:spLocks noGrp="1"/>
          </p:cNvSpPr>
          <p:nvPr>
            <p:ph type="ftr" sz="quarter" idx="3"/>
          </p:nvPr>
        </p:nvSpPr>
        <p:spPr>
          <a:xfrm>
            <a:off x="4038600" y="6528987"/>
            <a:ext cx="4114800" cy="32922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91EC13-E05F-4BCF-8EC0-B2CDC677738E}"/>
              </a:ext>
            </a:extLst>
          </p:cNvPr>
          <p:cNvSpPr>
            <a:spLocks noGrp="1"/>
          </p:cNvSpPr>
          <p:nvPr>
            <p:ph type="sldNum" sz="quarter" idx="4"/>
          </p:nvPr>
        </p:nvSpPr>
        <p:spPr>
          <a:xfrm>
            <a:off x="8610600" y="6528987"/>
            <a:ext cx="2743200" cy="329224"/>
          </a:xfrm>
          <a:prstGeom prst="rect">
            <a:avLst/>
          </a:prstGeom>
        </p:spPr>
        <p:txBody>
          <a:bodyPr vert="horz" lIns="91440" tIns="45720" rIns="91440" bIns="45720" rtlCol="0" anchor="ctr"/>
          <a:lstStyle>
            <a:lvl1pPr algn="r">
              <a:defRPr sz="1200">
                <a:solidFill>
                  <a:schemeClr val="tx1">
                    <a:tint val="75000"/>
                  </a:schemeClr>
                </a:solidFill>
              </a:defRPr>
            </a:lvl1pPr>
          </a:lstStyle>
          <a:p>
            <a:fld id="{4AAB023F-0D85-424A-AD30-ACA224193313}" type="slidenum">
              <a:rPr lang="en-US" smtClean="0"/>
              <a:t>‹#›</a:t>
            </a:fld>
            <a:endParaRPr lang="en-US"/>
          </a:p>
        </p:txBody>
      </p:sp>
    </p:spTree>
    <p:extLst>
      <p:ext uri="{BB962C8B-B14F-4D97-AF65-F5344CB8AC3E}">
        <p14:creationId xmlns:p14="http://schemas.microsoft.com/office/powerpoint/2010/main" val="4060027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11200" y="533400"/>
            <a:ext cx="5486400" cy="923330"/>
          </a:xfrm>
          <a:prstGeom prst="rect">
            <a:avLst/>
          </a:prstGeom>
        </p:spPr>
        <p:txBody>
          <a:bodyPr>
            <a:spAutoFit/>
          </a:bodyPr>
          <a:lstStyle/>
          <a:p>
            <a:pPr algn="ctr">
              <a:defRPr/>
            </a:pPr>
            <a:r>
              <a:rPr lang="en-US" sz="5400" kern="10" dirty="0">
                <a:ln w="9525" cap="sq">
                  <a:solidFill>
                    <a:srgbClr val="CC99FF"/>
                  </a:solidFill>
                  <a:round/>
                  <a:headEnd type="none" w="sm" len="sm"/>
                  <a:tailEnd type="none" w="sm" len="sm"/>
                </a:ln>
                <a:effectLst>
                  <a:outerShdw dist="53882" dir="2700000" algn="ctr" rotWithShape="0">
                    <a:srgbClr val="9999FF">
                      <a:alpha val="79999"/>
                    </a:srgbClr>
                  </a:outerShdw>
                </a:effectLst>
                <a:latin typeface="Times New Roman" pitchFamily="18" charset="0"/>
                <a:cs typeface="Times New Roman" pitchFamily="18" charset="0"/>
              </a:rPr>
              <a:t>Chương </a:t>
            </a:r>
            <a:r>
              <a:rPr lang="en-US" sz="5400" kern="10" dirty="0">
                <a:ln w="9525" cap="sq">
                  <a:solidFill>
                    <a:srgbClr val="CC99FF"/>
                  </a:solidFill>
                  <a:round/>
                  <a:headEnd type="none" w="sm" len="sm"/>
                  <a:tailEnd type="none" w="sm" len="sm"/>
                </a:ln>
                <a:effectLst>
                  <a:outerShdw dist="53882" dir="2700000" algn="ctr" rotWithShape="0">
                    <a:srgbClr val="9999FF">
                      <a:alpha val="79999"/>
                    </a:srgbClr>
                  </a:outerShdw>
                </a:effectLst>
                <a:latin typeface="VNI-Franko" pitchFamily="2" charset="0"/>
                <a:cs typeface="Times New Roman" pitchFamily="18" charset="0"/>
              </a:rPr>
              <a:t>5</a:t>
            </a:r>
            <a:endParaRPr lang="en-US" sz="5400" kern="10" dirty="0">
              <a:ln w="9525" cap="sq">
                <a:solidFill>
                  <a:srgbClr val="CC99FF"/>
                </a:solidFill>
                <a:round/>
                <a:headEnd type="none" w="sm" len="sm"/>
                <a:tailEnd type="none" w="sm" len="sm"/>
              </a:ln>
              <a:effectLst>
                <a:outerShdw dist="53882" dir="2700000" algn="ctr" rotWithShape="0">
                  <a:srgbClr val="9999FF">
                    <a:alpha val="79999"/>
                  </a:srgbClr>
                </a:outerShdw>
              </a:effectLst>
              <a:latin typeface="VNI-Franko" pitchFamily="2" charset="0"/>
            </a:endParaRPr>
          </a:p>
        </p:txBody>
      </p:sp>
      <p:sp>
        <p:nvSpPr>
          <p:cNvPr id="6" name="Rectangle 5"/>
          <p:cNvSpPr/>
          <p:nvPr/>
        </p:nvSpPr>
        <p:spPr>
          <a:xfrm>
            <a:off x="203200" y="2438400"/>
            <a:ext cx="11785600" cy="2800767"/>
          </a:xfrm>
          <a:prstGeom prst="rect">
            <a:avLst/>
          </a:prstGeom>
        </p:spPr>
        <p:txBody>
          <a:bodyPr>
            <a:spAutoFit/>
          </a:bodyPr>
          <a:lstStyle/>
          <a:p>
            <a:pPr algn="ctr"/>
            <a:r>
              <a:rPr lang="vi-VN" sz="4400" b="1" dirty="0">
                <a:solidFill>
                  <a:srgbClr val="FF0000"/>
                </a:solidFill>
                <a:latin typeface="Times New Roman (Headings)"/>
              </a:rPr>
              <a:t>KINH T</a:t>
            </a:r>
            <a:r>
              <a:rPr lang="en-US" sz="4400" b="1" dirty="0">
                <a:solidFill>
                  <a:srgbClr val="FF0000"/>
                </a:solidFill>
                <a:latin typeface="Times New Roman (Headings)"/>
              </a:rPr>
              <a:t>Ế </a:t>
            </a:r>
            <a:r>
              <a:rPr lang="vi-VN" sz="4400" b="1" dirty="0">
                <a:solidFill>
                  <a:srgbClr val="FF0000"/>
                </a:solidFill>
                <a:latin typeface="Times New Roman (Headings)"/>
              </a:rPr>
              <a:t>THỊ TRƯỜNG ĐỊNH HƯỚNG </a:t>
            </a:r>
            <a:endParaRPr lang="en-US" sz="4400" b="1" dirty="0">
              <a:solidFill>
                <a:srgbClr val="FF0000"/>
              </a:solidFill>
              <a:latin typeface="Times New Roman (Headings)"/>
            </a:endParaRPr>
          </a:p>
          <a:p>
            <a:pPr algn="ctr"/>
            <a:r>
              <a:rPr lang="vi-VN" sz="4400" b="1" dirty="0">
                <a:solidFill>
                  <a:srgbClr val="FF0000"/>
                </a:solidFill>
                <a:latin typeface="Times New Roman (Headings)"/>
              </a:rPr>
              <a:t>XÃ HỘI CHỦ NG</a:t>
            </a:r>
            <a:r>
              <a:rPr lang="en-US" sz="4400" b="1" dirty="0">
                <a:solidFill>
                  <a:srgbClr val="FF0000"/>
                </a:solidFill>
                <a:latin typeface="Times New Roman (Headings)"/>
              </a:rPr>
              <a:t>H</a:t>
            </a:r>
            <a:r>
              <a:rPr lang="vi-VN" sz="4400" b="1" dirty="0">
                <a:solidFill>
                  <a:srgbClr val="FF0000"/>
                </a:solidFill>
                <a:latin typeface="Times New Roman (Headings)"/>
              </a:rPr>
              <a:t>ĨA</a:t>
            </a:r>
            <a:br>
              <a:rPr lang="vi-VN" sz="4400" b="1" dirty="0">
                <a:solidFill>
                  <a:srgbClr val="FF0000"/>
                </a:solidFill>
                <a:latin typeface="Times New Roman (Headings)"/>
              </a:rPr>
            </a:br>
            <a:r>
              <a:rPr lang="vi-VN" sz="4400" b="1" dirty="0">
                <a:solidFill>
                  <a:srgbClr val="FF0000"/>
                </a:solidFill>
                <a:latin typeface="Times New Roman (Headings)"/>
              </a:rPr>
              <a:t>VÀ CÁC QUAN HỆ LỢI ÍCH KIN</a:t>
            </a:r>
            <a:r>
              <a:rPr lang="en-US" sz="4400" b="1" dirty="0">
                <a:solidFill>
                  <a:srgbClr val="FF0000"/>
                </a:solidFill>
                <a:latin typeface="Times New Roman (Headings)"/>
              </a:rPr>
              <a:t>H</a:t>
            </a:r>
            <a:r>
              <a:rPr lang="vi-VN" sz="4400" b="1" dirty="0">
                <a:solidFill>
                  <a:srgbClr val="FF0000"/>
                </a:solidFill>
                <a:latin typeface="Times New Roman (Headings)"/>
              </a:rPr>
              <a:t> TẾ</a:t>
            </a:r>
            <a:endParaRPr lang="en-US" sz="4400" dirty="0">
              <a:solidFill>
                <a:srgbClr val="FF0000"/>
              </a:solidFill>
              <a:latin typeface="Times New Roman (Headings)"/>
            </a:endParaRPr>
          </a:p>
          <a:p>
            <a:pPr algn="ctr"/>
            <a:r>
              <a:rPr lang="vi-VN" sz="4400" b="1" dirty="0">
                <a:solidFill>
                  <a:srgbClr val="FF0000"/>
                </a:solidFill>
                <a:latin typeface="Times New Roman (Headings)"/>
              </a:rPr>
              <a:t>Ở VIỆT NAM</a:t>
            </a:r>
            <a:endParaRPr lang="en-US" sz="4400" dirty="0">
              <a:solidFill>
                <a:srgbClr val="FF0000"/>
              </a:solidFill>
              <a:latin typeface="Times New Roman (Headings)"/>
            </a:endParaRPr>
          </a:p>
        </p:txBody>
      </p:sp>
    </p:spTree>
    <p:extLst>
      <p:ext uri="{BB962C8B-B14F-4D97-AF65-F5344CB8AC3E}">
        <p14:creationId xmlns:p14="http://schemas.microsoft.com/office/powerpoint/2010/main" val="3382466054"/>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txBox="1">
            <a:spLocks noGrp="1"/>
          </p:cNvSpPr>
          <p:nvPr/>
        </p:nvSpPr>
        <p:spPr bwMode="auto">
          <a:xfrm>
            <a:off x="8737600" y="6248400"/>
            <a:ext cx="2844800" cy="457200"/>
          </a:xfrm>
          <a:prstGeom prst="rect">
            <a:avLst/>
          </a:prstGeom>
          <a:noFill/>
          <a:ln>
            <a:miter lim="800000"/>
            <a:headEnd/>
            <a:tailEnd/>
          </a:ln>
        </p:spPr>
        <p:txBody>
          <a:bodyPr anchor="b"/>
          <a:lstStyle/>
          <a:p>
            <a:pPr algn="r">
              <a:defRPr/>
            </a:pPr>
            <a:fld id="{6DAC366F-ED92-4960-A32A-73CDD6292B59}" type="slidenum">
              <a:rPr lang="en-US">
                <a:effectLst>
                  <a:outerShdw blurRad="38100" dist="38100" dir="2700000" algn="tl">
                    <a:srgbClr val="000000"/>
                  </a:outerShdw>
                </a:effectLst>
                <a:latin typeface="Arial" charset="0"/>
                <a:cs typeface="+mn-cs"/>
              </a:rPr>
              <a:pPr algn="r">
                <a:defRPr/>
              </a:pPr>
              <a:t>2</a:t>
            </a:fld>
            <a:r>
              <a:rPr lang="en-US">
                <a:effectLst>
                  <a:outerShdw blurRad="38100" dist="38100" dir="2700000" algn="tl">
                    <a:srgbClr val="000000"/>
                  </a:outerShdw>
                </a:effectLst>
                <a:latin typeface="Arial" charset="0"/>
                <a:cs typeface="+mn-cs"/>
              </a:rPr>
              <a:t>/25</a:t>
            </a:r>
          </a:p>
        </p:txBody>
      </p:sp>
      <p:pic>
        <p:nvPicPr>
          <p:cNvPr id="6147" name="Picture 5" descr="Dal River, Dalarna, Swed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388" name="Text Box 4"/>
          <p:cNvSpPr txBox="1">
            <a:spLocks noChangeArrowheads="1"/>
          </p:cNvSpPr>
          <p:nvPr/>
        </p:nvSpPr>
        <p:spPr bwMode="auto">
          <a:xfrm>
            <a:off x="1219200" y="2283940"/>
            <a:ext cx="9956800" cy="1938992"/>
          </a:xfrm>
          <a:prstGeom prst="rect">
            <a:avLst/>
          </a:prstGeom>
          <a:solidFill>
            <a:schemeClr val="bg1"/>
          </a:solidFill>
          <a:ln w="9525">
            <a:noFill/>
            <a:miter lim="800000"/>
            <a:headEnd/>
            <a:tailEnd/>
          </a:ln>
          <a:effectLst>
            <a:outerShdw dist="107763" dir="2700000" algn="ctr" rotWithShape="0">
              <a:srgbClr val="808080">
                <a:alpha val="50000"/>
              </a:srgbClr>
            </a:outerShdw>
          </a:effectLst>
        </p:spPr>
        <p:txBody>
          <a:bodyPr>
            <a:spAutoFit/>
          </a:bodyPr>
          <a:lstStyle/>
          <a:p>
            <a:pPr lvl="0"/>
            <a:r>
              <a:rPr lang="en-US" sz="4000" b="1" dirty="0">
                <a:solidFill>
                  <a:srgbClr val="FF0000"/>
                </a:solidFill>
                <a:latin typeface="Arial" charset="0"/>
              </a:rPr>
              <a:t>5.1. </a:t>
            </a:r>
            <a:r>
              <a:rPr lang="vi-VN" sz="4000" b="1" dirty="0">
                <a:solidFill>
                  <a:srgbClr val="FF0000"/>
                </a:solidFill>
              </a:rPr>
              <a:t>KINH TÉ THỊ TRƯỜNG ĐỊNH HƯỚNG XÃ HỘI CHỦ NGHĨA Ở VIỆT NAM</a:t>
            </a:r>
            <a:endParaRPr lang="en-US" sz="4000" dirty="0">
              <a:solidFill>
                <a:srgbClr val="FF0000"/>
              </a:solidFill>
            </a:endParaRPr>
          </a:p>
        </p:txBody>
      </p:sp>
    </p:spTree>
    <p:extLst>
      <p:ext uri="{BB962C8B-B14F-4D97-AF65-F5344CB8AC3E}">
        <p14:creationId xmlns:p14="http://schemas.microsoft.com/office/powerpoint/2010/main" val="369567959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1" presetClass="entr" presetSubtype="0" fill="hold" nodeType="clickEffect">
                                  <p:stCondLst>
                                    <p:cond delay="0"/>
                                  </p:stCondLst>
                                  <p:childTnLst>
                                    <p:set>
                                      <p:cBhvr>
                                        <p:cTn id="6" dur="1" fill="hold">
                                          <p:stCondLst>
                                            <p:cond delay="0"/>
                                          </p:stCondLst>
                                        </p:cTn>
                                        <p:tgtEl>
                                          <p:spTgt spid="144388">
                                            <p:txEl>
                                              <p:pRg st="0" end="0"/>
                                            </p:txEl>
                                          </p:spTgt>
                                        </p:tgtEl>
                                        <p:attrNameLst>
                                          <p:attrName>style.visibility</p:attrName>
                                        </p:attrNameLst>
                                      </p:cBhvr>
                                      <p:to>
                                        <p:strVal val="visible"/>
                                      </p:to>
                                    </p:set>
                                    <p:animEffect transition="in" filter="fade">
                                      <p:cBhvr>
                                        <p:cTn id="7" dur="770" decel="100000"/>
                                        <p:tgtEl>
                                          <p:spTgt spid="144388">
                                            <p:txEl>
                                              <p:pRg st="0" end="0"/>
                                            </p:txEl>
                                          </p:spTgt>
                                        </p:tgtEl>
                                      </p:cBhvr>
                                    </p:animEffect>
                                    <p:animScale>
                                      <p:cBhvr>
                                        <p:cTn id="8" dur="770" decel="100000"/>
                                        <p:tgtEl>
                                          <p:spTgt spid="144388">
                                            <p:txEl>
                                              <p:pRg st="0" end="0"/>
                                            </p:txEl>
                                          </p:spTgt>
                                        </p:tgtEl>
                                      </p:cBhvr>
                                      <p:from x="10000" y="10000"/>
                                      <p:to x="200000" y="450000"/>
                                    </p:animScale>
                                    <p:animScale>
                                      <p:cBhvr>
                                        <p:cTn id="9" dur="1230" accel="100000" fill="hold">
                                          <p:stCondLst>
                                            <p:cond delay="770"/>
                                          </p:stCondLst>
                                        </p:cTn>
                                        <p:tgtEl>
                                          <p:spTgt spid="144388">
                                            <p:txEl>
                                              <p:pRg st="0" end="0"/>
                                            </p:txEl>
                                          </p:spTgt>
                                        </p:tgtEl>
                                      </p:cBhvr>
                                      <p:from x="200000" y="450000"/>
                                      <p:to x="100000" y="100000"/>
                                    </p:animScale>
                                    <p:set>
                                      <p:cBhvr>
                                        <p:cTn id="10" dur="770" fill="hold"/>
                                        <p:tgtEl>
                                          <p:spTgt spid="144388">
                                            <p:txEl>
                                              <p:pRg st="0" end="0"/>
                                            </p:txEl>
                                          </p:spTgt>
                                        </p:tgtEl>
                                        <p:attrNameLst>
                                          <p:attrName>ppt_x</p:attrName>
                                        </p:attrNameLst>
                                      </p:cBhvr>
                                      <p:to>
                                        <p:strVal val="(0.5)"/>
                                      </p:to>
                                    </p:set>
                                    <p:anim from="(0.5)" to="(#ppt_x)" calcmode="lin" valueType="num">
                                      <p:cBhvr>
                                        <p:cTn id="11" dur="1230" accel="100000" fill="hold">
                                          <p:stCondLst>
                                            <p:cond delay="770"/>
                                          </p:stCondLst>
                                        </p:cTn>
                                        <p:tgtEl>
                                          <p:spTgt spid="144388">
                                            <p:txEl>
                                              <p:pRg st="0" end="0"/>
                                            </p:txEl>
                                          </p:spTgt>
                                        </p:tgtEl>
                                        <p:attrNameLst>
                                          <p:attrName>ppt_x</p:attrName>
                                        </p:attrNameLst>
                                      </p:cBhvr>
                                    </p:anim>
                                    <p:set>
                                      <p:cBhvr>
                                        <p:cTn id="12" dur="770" fill="hold"/>
                                        <p:tgtEl>
                                          <p:spTgt spid="144388">
                                            <p:txEl>
                                              <p:pRg st="0" end="0"/>
                                            </p:txEl>
                                          </p:spTgt>
                                        </p:tgtEl>
                                        <p:attrNameLst>
                                          <p:attrName>ppt_y</p:attrName>
                                        </p:attrNameLst>
                                      </p:cBhvr>
                                      <p:to>
                                        <p:strVal val="(#ppt_y+0.4)"/>
                                      </p:to>
                                    </p:set>
                                    <p:anim from="(#ppt_y+0.4)" to="(#ppt_y)" calcmode="lin" valueType="num">
                                      <p:cBhvr>
                                        <p:cTn id="13" dur="1230" accel="100000" fill="hold">
                                          <p:stCondLst>
                                            <p:cond delay="770"/>
                                          </p:stCondLst>
                                        </p:cTn>
                                        <p:tgtEl>
                                          <p:spTgt spid="144388">
                                            <p:txEl>
                                              <p:pRg st="0" end="0"/>
                                            </p:txEl>
                                          </p:spTgt>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Slide Number Placeholder 5"/>
          <p:cNvSpPr>
            <a:spLocks noGrp="1"/>
          </p:cNvSpPr>
          <p:nvPr>
            <p:ph type="sldNum" sz="quarter" idx="12"/>
          </p:nvPr>
        </p:nvSpPr>
        <p:spPr/>
        <p:txBody>
          <a:bodyPr/>
          <a:lstStyle/>
          <a:p>
            <a:pPr>
              <a:defRPr/>
            </a:pPr>
            <a:fld id="{05D633FD-E4A3-4B6C-8CFB-31606BC04DE9}" type="slidenum">
              <a:rPr lang="en-US">
                <a:latin typeface="+mn-lt"/>
              </a:rPr>
              <a:pPr>
                <a:defRPr/>
              </a:pPr>
              <a:t>3</a:t>
            </a:fld>
            <a:endParaRPr lang="en-US">
              <a:latin typeface="+mn-lt"/>
            </a:endParaRPr>
          </a:p>
        </p:txBody>
      </p:sp>
      <p:sp>
        <p:nvSpPr>
          <p:cNvPr id="385026" name="Rectangle 2"/>
          <p:cNvSpPr>
            <a:spLocks noGrp="1" noChangeArrowheads="1"/>
          </p:cNvSpPr>
          <p:nvPr>
            <p:ph type="body" idx="4294967295"/>
          </p:nvPr>
        </p:nvSpPr>
        <p:spPr>
          <a:xfrm>
            <a:off x="457200" y="1964725"/>
            <a:ext cx="11170508" cy="3447535"/>
          </a:xfrm>
        </p:spPr>
        <p:txBody>
          <a:bodyPr>
            <a:normAutofit fontScale="92500" lnSpcReduction="10000"/>
          </a:bodyPr>
          <a:lstStyle/>
          <a:p>
            <a:pPr marL="0" lvl="0" indent="173038">
              <a:buNone/>
            </a:pPr>
            <a:r>
              <a:rPr lang="en-US" altLang="en-US" sz="3800" b="1" i="1" dirty="0">
                <a:solidFill>
                  <a:srgbClr val="FF0000"/>
                </a:solidFill>
                <a:latin typeface="Times New Roman (Headings)"/>
                <a:cs typeface="Times New Roman" pitchFamily="18" charset="0"/>
              </a:rPr>
              <a:t>5.1.1 </a:t>
            </a:r>
            <a:r>
              <a:rPr lang="vi-VN" sz="4000" b="1" dirty="0">
                <a:solidFill>
                  <a:srgbClr val="FF0000"/>
                </a:solidFill>
                <a:latin typeface="Times New Roman (Headings)"/>
              </a:rPr>
              <a:t>Khái niệm kinh tế thị trường định hướng xã hội chủ nghĩa </a:t>
            </a:r>
            <a:r>
              <a:rPr lang="vi-VN" sz="4000" i="1" dirty="0">
                <a:solidFill>
                  <a:srgbClr val="FF0000"/>
                </a:solidFill>
                <a:latin typeface="Times New Roman (Headings)"/>
              </a:rPr>
              <a:t>ờ </a:t>
            </a:r>
            <a:r>
              <a:rPr lang="vi-VN" sz="4000" b="1" dirty="0">
                <a:solidFill>
                  <a:srgbClr val="FF0000"/>
                </a:solidFill>
                <a:latin typeface="Times New Roman (Headings)"/>
              </a:rPr>
              <a:t>Việt Nam</a:t>
            </a:r>
            <a:endParaRPr lang="en-US" sz="4000" b="1" dirty="0">
              <a:solidFill>
                <a:srgbClr val="FF0000"/>
              </a:solidFill>
              <a:latin typeface="Times New Roman (Headings)"/>
            </a:endParaRPr>
          </a:p>
          <a:p>
            <a:pPr marL="0" indent="173038" algn="ctr" eaLnBrk="1" hangingPunct="1">
              <a:buNone/>
              <a:defRPr/>
            </a:pPr>
            <a:r>
              <a:rPr lang="en-US" altLang="en-US" sz="3200" b="1" i="1" dirty="0">
                <a:solidFill>
                  <a:schemeClr val="tx1">
                    <a:lumMod val="85000"/>
                    <a:lumOff val="15000"/>
                  </a:schemeClr>
                </a:solidFill>
                <a:latin typeface="Times New Roman (Headings)"/>
                <a:cs typeface="Times New Roman" pitchFamily="18" charset="0"/>
              </a:rPr>
              <a:t>Khái niệm của kinh tế thị trường</a:t>
            </a:r>
            <a:r>
              <a:rPr lang="en-US" altLang="en-US" sz="3200" b="1" i="1" dirty="0">
                <a:solidFill>
                  <a:srgbClr val="7030A0"/>
                </a:solidFill>
                <a:latin typeface="Times New Roman (Headings)"/>
                <a:cs typeface="Times New Roman" pitchFamily="18" charset="0"/>
              </a:rPr>
              <a:t>: </a:t>
            </a:r>
          </a:p>
          <a:p>
            <a:pPr marL="0" indent="173038">
              <a:buNone/>
            </a:pPr>
            <a:r>
              <a:rPr lang="vi-VN" sz="3200" i="1" dirty="0">
                <a:latin typeface="Times New Roman (Headings)"/>
              </a:rPr>
              <a:t>Kinh tê thị trường định hướng xã hội chủ nghĩa là nền kinh tế vân hành theo các quy luật của thị trường đồng thời góp phần hướng tới từng bước xác lập một xã hội mà ở đó dân giàu, nước mạnh, dân chủ, công bằng, vần minh; có sự điều tiết của Nhà nước do Đảng Cộng sản Việt Nam lãnh đạo.</a:t>
            </a:r>
            <a:endParaRPr lang="en-US" sz="3200" dirty="0">
              <a:latin typeface="Times New Roman (Headings)"/>
            </a:endParaRPr>
          </a:p>
        </p:txBody>
      </p:sp>
    </p:spTree>
    <p:extLst>
      <p:ext uri="{BB962C8B-B14F-4D97-AF65-F5344CB8AC3E}">
        <p14:creationId xmlns:p14="http://schemas.microsoft.com/office/powerpoint/2010/main" val="56881618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85026">
                                            <p:txEl>
                                              <p:pRg st="0" end="0"/>
                                            </p:txEl>
                                          </p:spTgt>
                                        </p:tgtEl>
                                        <p:attrNameLst>
                                          <p:attrName>style.visibility</p:attrName>
                                        </p:attrNameLst>
                                      </p:cBhvr>
                                      <p:to>
                                        <p:strVal val="visible"/>
                                      </p:to>
                                    </p:set>
                                    <p:animEffect transition="in" filter="fade">
                                      <p:cBhvr>
                                        <p:cTn id="7" dur="500"/>
                                        <p:tgtEl>
                                          <p:spTgt spid="3850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85026">
                                            <p:txEl>
                                              <p:pRg st="1" end="1"/>
                                            </p:txEl>
                                          </p:spTgt>
                                        </p:tgtEl>
                                        <p:attrNameLst>
                                          <p:attrName>style.visibility</p:attrName>
                                        </p:attrNameLst>
                                      </p:cBhvr>
                                      <p:to>
                                        <p:strVal val="visible"/>
                                      </p:to>
                                    </p:set>
                                    <p:animEffect transition="in" filter="fade">
                                      <p:cBhvr>
                                        <p:cTn id="12" dur="500"/>
                                        <p:tgtEl>
                                          <p:spTgt spid="38502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026"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5DCFEAE-8F46-4BCB-B490-B188D9979D4E}"/>
              </a:ext>
            </a:extLst>
          </p:cNvPr>
          <p:cNvSpPr txBox="1"/>
          <p:nvPr/>
        </p:nvSpPr>
        <p:spPr>
          <a:xfrm>
            <a:off x="1094509" y="1399309"/>
            <a:ext cx="10099964" cy="3111108"/>
          </a:xfrm>
          <a:prstGeom prst="rect">
            <a:avLst/>
          </a:prstGeom>
          <a:noFill/>
        </p:spPr>
        <p:txBody>
          <a:bodyPr wrap="square" rtlCol="0">
            <a:spAutoFit/>
          </a:bodyPr>
          <a:lstStyle/>
          <a:p>
            <a:pPr marL="0" marR="0" indent="444500" algn="just">
              <a:spcBef>
                <a:spcPts val="0"/>
              </a:spcBef>
              <a:spcAft>
                <a:spcPts val="500"/>
              </a:spcAft>
            </a:pPr>
            <a:r>
              <a:rPr lang="vi-VN" sz="3200" i="1" dirty="0">
                <a:solidFill>
                  <a:schemeClr val="accent1"/>
                </a:solidFill>
                <a:effectLst/>
                <a:latin typeface="Times New Roman" panose="02020603050405020304" pitchFamily="18" charset="0"/>
                <a:ea typeface="Times New Roman" panose="02020603050405020304" pitchFamily="18" charset="0"/>
              </a:rPr>
              <a:t>Cơ chế thị trường là hệ thống các quan hệ mang t</a:t>
            </a:r>
            <a:r>
              <a:rPr lang="en-US" sz="3200" i="1" dirty="0">
                <a:solidFill>
                  <a:schemeClr val="accent1"/>
                </a:solidFill>
                <a:latin typeface="Times New Roman" panose="02020603050405020304" pitchFamily="18" charset="0"/>
                <a:ea typeface="Times New Roman" panose="02020603050405020304" pitchFamily="18" charset="0"/>
              </a:rPr>
              <a:t>í</a:t>
            </a:r>
            <a:r>
              <a:rPr lang="vi-VN" sz="3200" i="1" dirty="0">
                <a:solidFill>
                  <a:schemeClr val="accent1"/>
                </a:solidFill>
                <a:effectLst/>
                <a:latin typeface="Times New Roman" panose="02020603050405020304" pitchFamily="18" charset="0"/>
                <a:ea typeface="Times New Roman" panose="02020603050405020304" pitchFamily="18" charset="0"/>
              </a:rPr>
              <a:t>nh tự điều chinh tuân theo yêu cầu của các quy luật kinh tế.</a:t>
            </a:r>
            <a:endParaRPr lang="en-US" sz="3200" dirty="0">
              <a:solidFill>
                <a:schemeClr val="accent1"/>
              </a:solidFill>
              <a:effectLst/>
              <a:latin typeface="Times New Roman" panose="02020603050405020304" pitchFamily="18" charset="0"/>
              <a:ea typeface="Times New Roman" panose="02020603050405020304" pitchFamily="18" charset="0"/>
            </a:endParaRPr>
          </a:p>
          <a:p>
            <a:r>
              <a:rPr lang="vi-VN" sz="3200" dirty="0">
                <a:solidFill>
                  <a:schemeClr val="accent1"/>
                </a:solidFill>
                <a:effectLst/>
                <a:latin typeface="Arial Unicode MS"/>
              </a:rPr>
              <a:t>Cơ chế thị trường là phương thức cơ bản để phân phối và sử dụng các nguồn vốn, tài nguyên, công nghẹ, sức lao động, thông tin, trí tuệ., trong nền kinh tế thị trường.</a:t>
            </a:r>
            <a:endParaRPr lang="en-US" sz="3200" dirty="0">
              <a:solidFill>
                <a:schemeClr val="accent1"/>
              </a:solidFill>
            </a:endParaRPr>
          </a:p>
        </p:txBody>
      </p:sp>
    </p:spTree>
    <p:extLst>
      <p:ext uri="{BB962C8B-B14F-4D97-AF65-F5344CB8AC3E}">
        <p14:creationId xmlns:p14="http://schemas.microsoft.com/office/powerpoint/2010/main" val="5047385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97211" y="617838"/>
            <a:ext cx="9181070" cy="1200329"/>
          </a:xfrm>
          <a:prstGeom prst="rect">
            <a:avLst/>
          </a:prstGeom>
          <a:noFill/>
        </p:spPr>
        <p:txBody>
          <a:bodyPr wrap="square" rtlCol="0">
            <a:spAutoFit/>
          </a:bodyPr>
          <a:lstStyle/>
          <a:p>
            <a:pPr lvl="0"/>
            <a:r>
              <a:rPr lang="en-US" sz="2400" b="1" dirty="0">
                <a:latin typeface="Times New Roman (Headings)"/>
              </a:rPr>
              <a:t>5.1.2. </a:t>
            </a:r>
            <a:r>
              <a:rPr lang="vi-VN" sz="2400" b="1" dirty="0">
                <a:latin typeface="Times New Roman (Headings)"/>
              </a:rPr>
              <a:t>Tính tất yếu khách quan của việc phát triển kinh tế thị tr</a:t>
            </a:r>
            <a:r>
              <a:rPr lang="en-US" sz="2400" b="1" dirty="0">
                <a:latin typeface="Times New Roman (Headings)"/>
              </a:rPr>
              <a:t>ườ</a:t>
            </a:r>
            <a:r>
              <a:rPr lang="vi-VN" sz="2400" b="1" dirty="0">
                <a:latin typeface="Times New Roman (Headings)"/>
              </a:rPr>
              <a:t>ng định hướng xã hội chủ nghĩa </a:t>
            </a:r>
            <a:r>
              <a:rPr lang="en-US" sz="2400" i="1" dirty="0">
                <a:latin typeface="Times New Roman (Headings)"/>
              </a:rPr>
              <a:t>ở</a:t>
            </a:r>
            <a:r>
              <a:rPr lang="vi-VN" sz="2400" b="1" dirty="0">
                <a:latin typeface="Times New Roman (Headings)"/>
              </a:rPr>
              <a:t> Việt Nam</a:t>
            </a:r>
            <a:endParaRPr lang="en-US" sz="2400" b="1" dirty="0">
              <a:latin typeface="Times New Roman (Headings)"/>
            </a:endParaRPr>
          </a:p>
          <a:p>
            <a:endParaRPr lang="en-US" sz="2400" dirty="0">
              <a:latin typeface="Times New Roman (Headings)"/>
            </a:endParaRPr>
          </a:p>
        </p:txBody>
      </p:sp>
      <p:sp>
        <p:nvSpPr>
          <p:cNvPr id="3" name="TextBox 2"/>
          <p:cNvSpPr txBox="1"/>
          <p:nvPr/>
        </p:nvSpPr>
        <p:spPr>
          <a:xfrm>
            <a:off x="914400" y="2847952"/>
            <a:ext cx="9823622" cy="1815882"/>
          </a:xfrm>
          <a:prstGeom prst="rect">
            <a:avLst/>
          </a:prstGeom>
          <a:noFill/>
        </p:spPr>
        <p:txBody>
          <a:bodyPr wrap="square" rtlCol="0">
            <a:spAutoFit/>
          </a:bodyPr>
          <a:lstStyle/>
          <a:p>
            <a:r>
              <a:rPr lang="vi-VN" sz="2800" i="1" dirty="0"/>
              <a:t>Một là,</a:t>
            </a:r>
            <a:r>
              <a:rPr lang="vi-VN" sz="2800" dirty="0"/>
              <a:t> phát triển kinh tế thị trường định hướng xã hội chủ nghĩa là phù hợp với xu hướng phát triển khách quan của Việt Nam trong bôi cảnh thế giới hiện nay.</a:t>
            </a:r>
            <a:endParaRPr lang="en-US" sz="2800" dirty="0"/>
          </a:p>
          <a:p>
            <a:endParaRPr lang="en-US" sz="2800" dirty="0"/>
          </a:p>
        </p:txBody>
      </p:sp>
    </p:spTree>
    <p:extLst>
      <p:ext uri="{BB962C8B-B14F-4D97-AF65-F5344CB8AC3E}">
        <p14:creationId xmlns:p14="http://schemas.microsoft.com/office/powerpoint/2010/main" val="2226657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51470" y="2063578"/>
            <a:ext cx="10441460" cy="1477328"/>
          </a:xfrm>
          <a:prstGeom prst="rect">
            <a:avLst/>
          </a:prstGeom>
          <a:noFill/>
        </p:spPr>
        <p:txBody>
          <a:bodyPr wrap="square" rtlCol="0">
            <a:spAutoFit/>
          </a:bodyPr>
          <a:lstStyle/>
          <a:p>
            <a:r>
              <a:rPr lang="en-US" sz="3000" i="1" dirty="0">
                <a:latin typeface="Times New Roman (Headings)"/>
              </a:rPr>
              <a:t>Hai </a:t>
            </a:r>
            <a:r>
              <a:rPr lang="vi-VN" sz="3000" i="1" dirty="0">
                <a:latin typeface="Times New Roman (Headings)"/>
              </a:rPr>
              <a:t>là,</a:t>
            </a:r>
            <a:r>
              <a:rPr lang="vi-VN" sz="3000" dirty="0">
                <a:latin typeface="Times New Roman (Headings)"/>
              </a:rPr>
              <a:t> do tính ưu việt của kinh tế thị trường định hướng xã hội chủ nghĩa trong thúc đẩy phát tri</a:t>
            </a:r>
            <a:r>
              <a:rPr lang="en-US" sz="3000" dirty="0">
                <a:latin typeface="Times New Roman (Headings)"/>
              </a:rPr>
              <a:t>ể</a:t>
            </a:r>
            <a:r>
              <a:rPr lang="vi-VN" sz="3000" dirty="0">
                <a:latin typeface="Times New Roman (Headings)"/>
              </a:rPr>
              <a:t>n đối với Việt Nam</a:t>
            </a:r>
            <a:endParaRPr lang="en-US" sz="3000" dirty="0">
              <a:latin typeface="Times New Roman (Headings)"/>
            </a:endParaRPr>
          </a:p>
          <a:p>
            <a:endParaRPr lang="en-US" sz="3000" dirty="0">
              <a:latin typeface="Times New Roman (Headings)"/>
            </a:endParaRPr>
          </a:p>
        </p:txBody>
      </p:sp>
    </p:spTree>
    <p:extLst>
      <p:ext uri="{BB962C8B-B14F-4D97-AF65-F5344CB8AC3E}">
        <p14:creationId xmlns:p14="http://schemas.microsoft.com/office/powerpoint/2010/main" val="1984551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00897" y="1581665"/>
            <a:ext cx="10490887" cy="2554545"/>
          </a:xfrm>
          <a:prstGeom prst="rect">
            <a:avLst/>
          </a:prstGeom>
          <a:noFill/>
        </p:spPr>
        <p:txBody>
          <a:bodyPr wrap="square" rtlCol="0">
            <a:spAutoFit/>
          </a:bodyPr>
          <a:lstStyle/>
          <a:p>
            <a:r>
              <a:rPr lang="vi-VN" sz="3200" i="1" dirty="0"/>
              <a:t>Ba là,</a:t>
            </a:r>
            <a:r>
              <a:rPr lang="vi-VN" sz="3200" dirty="0"/>
              <a:t> kinh tế thị trường định hướng xã hội chủ nghĩa phù hợp với nguyện vọng mong muốn dân giàu, nước mạnh, dân chủ, công bằng, văn minh của người dân Việt Nam.</a:t>
            </a:r>
            <a:endParaRPr lang="en-US" sz="3200" dirty="0"/>
          </a:p>
          <a:p>
            <a:endParaRPr lang="en-US" sz="3200" dirty="0"/>
          </a:p>
        </p:txBody>
      </p:sp>
    </p:spTree>
    <p:extLst>
      <p:ext uri="{BB962C8B-B14F-4D97-AF65-F5344CB8AC3E}">
        <p14:creationId xmlns:p14="http://schemas.microsoft.com/office/powerpoint/2010/main" val="1635905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83708" y="420130"/>
            <a:ext cx="9094573" cy="1569660"/>
          </a:xfrm>
          <a:prstGeom prst="rect">
            <a:avLst/>
          </a:prstGeom>
          <a:noFill/>
        </p:spPr>
        <p:txBody>
          <a:bodyPr wrap="square" rtlCol="0">
            <a:spAutoFit/>
          </a:bodyPr>
          <a:lstStyle/>
          <a:p>
            <a:pPr lvl="0"/>
            <a:r>
              <a:rPr lang="en-US" sz="3200" b="1" dirty="0">
                <a:latin typeface="Times New Roman (Headings)"/>
              </a:rPr>
              <a:t>5.1.3. </a:t>
            </a:r>
            <a:r>
              <a:rPr lang="vi-VN" sz="3200" b="1" dirty="0">
                <a:latin typeface="Times New Roman (Headings)"/>
              </a:rPr>
              <a:t>Đặc trưng của kinh t</a:t>
            </a:r>
            <a:r>
              <a:rPr lang="en-US" sz="3200" b="1" dirty="0">
                <a:latin typeface="Times New Roman (Headings)"/>
              </a:rPr>
              <a:t>ế</a:t>
            </a:r>
            <a:r>
              <a:rPr lang="vi-VN" sz="3200" b="1" dirty="0">
                <a:latin typeface="Times New Roman (Headings)"/>
              </a:rPr>
              <a:t> thị trường định hướng xã hội chủ nghĩa </a:t>
            </a:r>
            <a:r>
              <a:rPr lang="en-US" sz="3200" b="1" dirty="0">
                <a:latin typeface="Times New Roman (Headings)"/>
              </a:rPr>
              <a:t>ở</a:t>
            </a:r>
            <a:r>
              <a:rPr lang="vi-VN" sz="3200" b="1" dirty="0">
                <a:latin typeface="Times New Roman (Headings)"/>
              </a:rPr>
              <a:t> Việt Nam</a:t>
            </a:r>
            <a:endParaRPr lang="en-US" sz="3200" b="1" dirty="0">
              <a:latin typeface="Times New Roman (Headings)"/>
            </a:endParaRPr>
          </a:p>
          <a:p>
            <a:endParaRPr lang="en-US" sz="3200" dirty="0">
              <a:latin typeface="Times New Roman (Headings)"/>
            </a:endParaRPr>
          </a:p>
        </p:txBody>
      </p:sp>
      <p:sp>
        <p:nvSpPr>
          <p:cNvPr id="3" name="TextBox 2"/>
          <p:cNvSpPr txBox="1"/>
          <p:nvPr/>
        </p:nvSpPr>
        <p:spPr>
          <a:xfrm>
            <a:off x="1062681" y="2150076"/>
            <a:ext cx="10070757" cy="1938992"/>
          </a:xfrm>
          <a:prstGeom prst="rect">
            <a:avLst/>
          </a:prstGeom>
          <a:noFill/>
        </p:spPr>
        <p:txBody>
          <a:bodyPr wrap="square" rtlCol="0">
            <a:spAutoFit/>
          </a:bodyPr>
          <a:lstStyle/>
          <a:p>
            <a:r>
              <a:rPr lang="vi-VN" sz="2400" dirty="0"/>
              <a:t>Kinh tế thị trường định hướng xã hội chủ nghĩa là hướng tới phát triển lực lượng sản xuất, xây dựng cơ sở vật chất - kỹ thuật của chù nghĩa xã hội; nâng cao đời sống nhân dân, thực hiện “dân giàu, nước mạnh, dân chủ, công bằng, văn minh”.</a:t>
            </a:r>
            <a:endParaRPr lang="en-US" sz="2400" dirty="0"/>
          </a:p>
          <a:p>
            <a:endParaRPr lang="en-US" sz="2400" dirty="0"/>
          </a:p>
        </p:txBody>
      </p:sp>
      <p:sp>
        <p:nvSpPr>
          <p:cNvPr id="4" name="TextBox 3"/>
          <p:cNvSpPr txBox="1"/>
          <p:nvPr/>
        </p:nvSpPr>
        <p:spPr>
          <a:xfrm>
            <a:off x="1062681" y="1482811"/>
            <a:ext cx="4436076" cy="954107"/>
          </a:xfrm>
          <a:prstGeom prst="rect">
            <a:avLst/>
          </a:prstGeom>
          <a:noFill/>
        </p:spPr>
        <p:txBody>
          <a:bodyPr wrap="square" rtlCol="0">
            <a:spAutoFit/>
          </a:bodyPr>
          <a:lstStyle/>
          <a:p>
            <a:pPr lvl="0"/>
            <a:r>
              <a:rPr lang="en-US" sz="2800" i="1" dirty="0">
                <a:solidFill>
                  <a:srgbClr val="FF0000"/>
                </a:solidFill>
              </a:rPr>
              <a:t>5.1.3.1. </a:t>
            </a:r>
            <a:r>
              <a:rPr lang="vi-VN" sz="2800" i="1" dirty="0">
                <a:solidFill>
                  <a:srgbClr val="FF0000"/>
                </a:solidFill>
              </a:rPr>
              <a:t>Về mục tiêu</a:t>
            </a:r>
            <a:endParaRPr lang="en-US" sz="2800" dirty="0">
              <a:solidFill>
                <a:srgbClr val="FF0000"/>
              </a:solidFill>
            </a:endParaRPr>
          </a:p>
          <a:p>
            <a:endParaRPr lang="en-US" sz="2800" dirty="0">
              <a:solidFill>
                <a:srgbClr val="FF0000"/>
              </a:solidFill>
            </a:endParaRPr>
          </a:p>
        </p:txBody>
      </p:sp>
    </p:spTree>
    <p:extLst>
      <p:ext uri="{BB962C8B-B14F-4D97-AF65-F5344CB8AC3E}">
        <p14:creationId xmlns:p14="http://schemas.microsoft.com/office/powerpoint/2010/main" val="17877518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08670" y="1729946"/>
            <a:ext cx="9205784" cy="2677656"/>
          </a:xfrm>
          <a:prstGeom prst="rect">
            <a:avLst/>
          </a:prstGeom>
          <a:noFill/>
        </p:spPr>
        <p:txBody>
          <a:bodyPr wrap="square" rtlCol="0">
            <a:spAutoFit/>
          </a:bodyPr>
          <a:lstStyle/>
          <a:p>
            <a:pPr lvl="0"/>
            <a:r>
              <a:rPr lang="en-US" sz="2800" i="1" dirty="0">
                <a:solidFill>
                  <a:srgbClr val="FF0000"/>
                </a:solidFill>
                <a:latin typeface="Times New Roman (Headings)"/>
              </a:rPr>
              <a:t>5.1.3.2. </a:t>
            </a:r>
            <a:r>
              <a:rPr lang="vi-VN" sz="2800" i="1" dirty="0">
                <a:solidFill>
                  <a:srgbClr val="FF0000"/>
                </a:solidFill>
                <a:latin typeface="Times New Roman (Headings)"/>
              </a:rPr>
              <a:t>V</a:t>
            </a:r>
            <a:r>
              <a:rPr lang="en-US" sz="2800" i="1" dirty="0">
                <a:solidFill>
                  <a:srgbClr val="FF0000"/>
                </a:solidFill>
                <a:latin typeface="Times New Roman (Headings)"/>
              </a:rPr>
              <a:t>ề</a:t>
            </a:r>
            <a:r>
              <a:rPr lang="vi-VN" sz="2800" i="1" dirty="0">
                <a:solidFill>
                  <a:srgbClr val="FF0000"/>
                </a:solidFill>
                <a:latin typeface="Times New Roman (Headings)"/>
              </a:rPr>
              <a:t> quan hệ sở hữu và thành phần k</a:t>
            </a:r>
            <a:r>
              <a:rPr lang="en-US" sz="2800" i="1" dirty="0">
                <a:solidFill>
                  <a:srgbClr val="FF0000"/>
                </a:solidFill>
                <a:latin typeface="Times New Roman (Headings)"/>
              </a:rPr>
              <a:t>i</a:t>
            </a:r>
            <a:r>
              <a:rPr lang="vi-VN" sz="2800" i="1" dirty="0">
                <a:solidFill>
                  <a:srgbClr val="FF0000"/>
                </a:solidFill>
                <a:latin typeface="Times New Roman (Headings)"/>
              </a:rPr>
              <a:t>nh tế</a:t>
            </a:r>
            <a:endParaRPr lang="en-US" sz="2800" dirty="0">
              <a:solidFill>
                <a:srgbClr val="FF0000"/>
              </a:solidFill>
              <a:latin typeface="Times New Roman (Headings)"/>
            </a:endParaRPr>
          </a:p>
          <a:p>
            <a:r>
              <a:rPr lang="vi-VN" sz="2800" dirty="0">
                <a:latin typeface="Times New Roman (Headings)"/>
              </a:rPr>
              <a:t>Sở hữu được hiểu là quan hệ giữa con người với con người trong quá trình sản xuất và tái sản xuất xã hội trên cơ sở chiếm hữu nguồn lực của quá trình sản xuất và kết quả lao động tương ứng của quá trình sản xuất hay tái sản xuất ấy trong một điều kiện lịch sừ nhất định</a:t>
            </a:r>
            <a:endParaRPr lang="en-US" sz="2800" dirty="0">
              <a:latin typeface="Times New Roman (Headings)"/>
            </a:endParaRPr>
          </a:p>
        </p:txBody>
      </p:sp>
    </p:spTree>
    <p:extLst>
      <p:ext uri="{BB962C8B-B14F-4D97-AF65-F5344CB8AC3E}">
        <p14:creationId xmlns:p14="http://schemas.microsoft.com/office/powerpoint/2010/main" val="722989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34530" y="1717589"/>
            <a:ext cx="9910119" cy="2554545"/>
          </a:xfrm>
          <a:prstGeom prst="rect">
            <a:avLst/>
          </a:prstGeom>
          <a:noFill/>
        </p:spPr>
        <p:txBody>
          <a:bodyPr wrap="square" rtlCol="0">
            <a:spAutoFit/>
          </a:bodyPr>
          <a:lstStyle/>
          <a:p>
            <a:r>
              <a:rPr lang="vi-VN" sz="3200" dirty="0">
                <a:solidFill>
                  <a:schemeClr val="accent1"/>
                </a:solidFill>
              </a:rPr>
              <a:t>Kinh tế thị trường định hướng xã hội chủ nghĩa ở Việt Nam là nền kinh tế có nhiều hình thức sở hữu, nhiều thành phần kinh tế, trong đó kinh tế nhà nước giữ vai trò chủ đạo, kinh tế tư nhân là một động lực quan trọng. </a:t>
            </a:r>
            <a:endParaRPr lang="en-US" sz="3200" dirty="0">
              <a:solidFill>
                <a:schemeClr val="accent1"/>
              </a:solidFill>
            </a:endParaRPr>
          </a:p>
        </p:txBody>
      </p:sp>
    </p:spTree>
    <p:extLst>
      <p:ext uri="{BB962C8B-B14F-4D97-AF65-F5344CB8AC3E}">
        <p14:creationId xmlns:p14="http://schemas.microsoft.com/office/powerpoint/2010/main" val="352054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0" y="444843"/>
            <a:ext cx="9378778" cy="954107"/>
          </a:xfrm>
          <a:prstGeom prst="rect">
            <a:avLst/>
          </a:prstGeom>
          <a:noFill/>
        </p:spPr>
        <p:txBody>
          <a:bodyPr wrap="square" rtlCol="0">
            <a:spAutoFit/>
          </a:bodyPr>
          <a:lstStyle/>
          <a:p>
            <a:pPr lvl="0"/>
            <a:r>
              <a:rPr lang="en-US" sz="2800" i="1" dirty="0">
                <a:solidFill>
                  <a:srgbClr val="FF0000"/>
                </a:solidFill>
                <a:latin typeface="Times New Roman (Headings)"/>
              </a:rPr>
              <a:t>5.1.3.3. </a:t>
            </a:r>
            <a:r>
              <a:rPr lang="vi-VN" sz="2800" i="1" dirty="0">
                <a:solidFill>
                  <a:srgbClr val="FF0000"/>
                </a:solidFill>
                <a:latin typeface="Times New Roman (Headings)"/>
              </a:rPr>
              <a:t>V</a:t>
            </a:r>
            <a:r>
              <a:rPr lang="en-US" sz="2800" i="1" dirty="0">
                <a:solidFill>
                  <a:srgbClr val="FF0000"/>
                </a:solidFill>
                <a:latin typeface="Times New Roman (Headings)"/>
              </a:rPr>
              <a:t>ề</a:t>
            </a:r>
            <a:r>
              <a:rPr lang="vi-VN" sz="2800" i="1" dirty="0">
                <a:solidFill>
                  <a:srgbClr val="FF0000"/>
                </a:solidFill>
                <a:latin typeface="Times New Roman (Headings)"/>
              </a:rPr>
              <a:t> quan hệ quản lý nền kinh tế</a:t>
            </a:r>
            <a:endParaRPr lang="en-US" sz="2800" dirty="0">
              <a:solidFill>
                <a:srgbClr val="FF0000"/>
              </a:solidFill>
              <a:latin typeface="Times New Roman (Headings)"/>
            </a:endParaRPr>
          </a:p>
          <a:p>
            <a:endParaRPr lang="en-US" sz="2800" dirty="0">
              <a:solidFill>
                <a:srgbClr val="FF0000"/>
              </a:solidFill>
              <a:latin typeface="Times New Roman (Headings)"/>
            </a:endParaRPr>
          </a:p>
        </p:txBody>
      </p:sp>
      <p:sp>
        <p:nvSpPr>
          <p:cNvPr id="3" name="TextBox 2"/>
          <p:cNvSpPr txBox="1"/>
          <p:nvPr/>
        </p:nvSpPr>
        <p:spPr>
          <a:xfrm>
            <a:off x="939114" y="2063578"/>
            <a:ext cx="10280821" cy="2246769"/>
          </a:xfrm>
          <a:prstGeom prst="rect">
            <a:avLst/>
          </a:prstGeom>
          <a:noFill/>
        </p:spPr>
        <p:txBody>
          <a:bodyPr wrap="square" rtlCol="0">
            <a:spAutoFit/>
          </a:bodyPr>
          <a:lstStyle/>
          <a:p>
            <a:r>
              <a:rPr lang="vi-VN" sz="2800" dirty="0"/>
              <a:t>Nhà nước quản lý và thực hành cơ chê quản lý là nhà nước pháp quyền xã hội chủ nghĩa của nhân dân, do nhân dân, vì nhân dân dưới sự lãnh đạo của Đảng cộng sản, sự làm chủ và giám sát của nhân dân.</a:t>
            </a:r>
            <a:endParaRPr lang="en-US" sz="2800" dirty="0"/>
          </a:p>
          <a:p>
            <a:endParaRPr lang="en-US" sz="2800" dirty="0"/>
          </a:p>
        </p:txBody>
      </p:sp>
    </p:spTree>
    <p:extLst>
      <p:ext uri="{BB962C8B-B14F-4D97-AF65-F5344CB8AC3E}">
        <p14:creationId xmlns:p14="http://schemas.microsoft.com/office/powerpoint/2010/main" val="32621634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36573" y="691978"/>
            <a:ext cx="9366422" cy="584775"/>
          </a:xfrm>
          <a:prstGeom prst="rect">
            <a:avLst/>
          </a:prstGeom>
          <a:noFill/>
        </p:spPr>
        <p:txBody>
          <a:bodyPr wrap="square" rtlCol="0">
            <a:spAutoFit/>
          </a:bodyPr>
          <a:lstStyle/>
          <a:p>
            <a:r>
              <a:rPr lang="en-US" sz="3200" i="1" dirty="0">
                <a:solidFill>
                  <a:srgbClr val="FF0000"/>
                </a:solidFill>
              </a:rPr>
              <a:t>5.1.3.4. V</a:t>
            </a:r>
            <a:r>
              <a:rPr lang="vi-VN" sz="3200" i="1" dirty="0">
                <a:solidFill>
                  <a:srgbClr val="FF0000"/>
                </a:solidFill>
              </a:rPr>
              <a:t>ề quan hệ phân phối</a:t>
            </a:r>
            <a:endParaRPr lang="en-US" sz="3200" dirty="0">
              <a:solidFill>
                <a:srgbClr val="FF0000"/>
              </a:solidFill>
            </a:endParaRPr>
          </a:p>
        </p:txBody>
      </p:sp>
      <p:sp>
        <p:nvSpPr>
          <p:cNvPr id="3" name="TextBox 2"/>
          <p:cNvSpPr txBox="1"/>
          <p:nvPr/>
        </p:nvSpPr>
        <p:spPr>
          <a:xfrm>
            <a:off x="815546" y="1828800"/>
            <a:ext cx="10626811" cy="2554545"/>
          </a:xfrm>
          <a:prstGeom prst="rect">
            <a:avLst/>
          </a:prstGeom>
          <a:noFill/>
        </p:spPr>
        <p:txBody>
          <a:bodyPr wrap="square" rtlCol="0">
            <a:spAutoFit/>
          </a:bodyPr>
          <a:lstStyle/>
          <a:p>
            <a:r>
              <a:rPr lang="vi-VN" sz="3200" dirty="0"/>
              <a:t>Quan hệ phân phối bị chi phối và quyết định bởi quan hệ sở hữu về tư liệu sản xuất. Nền kinh tế thị trường định hướng xã hội chủ nghĩa là nền kinh tế nhiều thành phần với sự đa dạng hóa các loại hình sở hữu và do vậy thích ứng với nó là các loại hình phân phối khác nhau</a:t>
            </a:r>
            <a:endParaRPr lang="en-US" sz="3200" dirty="0"/>
          </a:p>
        </p:txBody>
      </p:sp>
    </p:spTree>
    <p:extLst>
      <p:ext uri="{BB962C8B-B14F-4D97-AF65-F5344CB8AC3E}">
        <p14:creationId xmlns:p14="http://schemas.microsoft.com/office/powerpoint/2010/main" val="2898085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85103" y="1692876"/>
            <a:ext cx="9873048" cy="2554545"/>
          </a:xfrm>
          <a:prstGeom prst="rect">
            <a:avLst/>
          </a:prstGeom>
          <a:noFill/>
        </p:spPr>
        <p:txBody>
          <a:bodyPr wrap="square" rtlCol="0">
            <a:spAutoFit/>
          </a:bodyPr>
          <a:lstStyle/>
          <a:p>
            <a:r>
              <a:rPr lang="vi-VN" sz="3200" dirty="0"/>
              <a:t>Phân phối theo lao động và hiệu quả kinh tế, phân phối theo phúc lợi là những hình thức phân phối phàn ánh định hướng xã hội chủ nghĩa của nền kinh tế thị trường.</a:t>
            </a:r>
            <a:endParaRPr lang="en-US" sz="3200" dirty="0"/>
          </a:p>
          <a:p>
            <a:endParaRPr lang="en-US" sz="3200" dirty="0"/>
          </a:p>
        </p:txBody>
      </p:sp>
    </p:spTree>
    <p:extLst>
      <p:ext uri="{BB962C8B-B14F-4D97-AF65-F5344CB8AC3E}">
        <p14:creationId xmlns:p14="http://schemas.microsoft.com/office/powerpoint/2010/main" val="1089710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46638" y="444843"/>
            <a:ext cx="8921578" cy="1569660"/>
          </a:xfrm>
          <a:prstGeom prst="rect">
            <a:avLst/>
          </a:prstGeom>
          <a:noFill/>
        </p:spPr>
        <p:txBody>
          <a:bodyPr wrap="square" rtlCol="0">
            <a:spAutoFit/>
          </a:bodyPr>
          <a:lstStyle/>
          <a:p>
            <a:r>
              <a:rPr lang="vi-VN" sz="3200" b="1" dirty="0">
                <a:solidFill>
                  <a:srgbClr val="FF0000"/>
                </a:solidFill>
              </a:rPr>
              <a:t>5.</a:t>
            </a:r>
            <a:r>
              <a:rPr lang="vi-VN" sz="3200" i="1" dirty="0">
                <a:solidFill>
                  <a:srgbClr val="FF0000"/>
                </a:solidFill>
              </a:rPr>
              <a:t>1.3.5. Về quan hệ giữa gắn tăng trưởng kinh tế vớ</a:t>
            </a:r>
            <a:r>
              <a:rPr lang="en-US" sz="3200" i="1" dirty="0">
                <a:solidFill>
                  <a:srgbClr val="FF0000"/>
                </a:solidFill>
              </a:rPr>
              <a:t>i</a:t>
            </a:r>
            <a:r>
              <a:rPr lang="vi-VN" sz="3200" i="1" dirty="0">
                <a:solidFill>
                  <a:srgbClr val="FF0000"/>
                </a:solidFill>
              </a:rPr>
              <a:t> công bằng xã hội</a:t>
            </a:r>
            <a:endParaRPr lang="en-US" sz="3200" dirty="0">
              <a:solidFill>
                <a:srgbClr val="FF0000"/>
              </a:solidFill>
            </a:endParaRPr>
          </a:p>
          <a:p>
            <a:endParaRPr lang="en-US" sz="3200" dirty="0">
              <a:solidFill>
                <a:srgbClr val="FF0000"/>
              </a:solidFill>
            </a:endParaRPr>
          </a:p>
        </p:txBody>
      </p:sp>
      <p:sp>
        <p:nvSpPr>
          <p:cNvPr id="3" name="TextBox 2"/>
          <p:cNvSpPr txBox="1"/>
          <p:nvPr/>
        </p:nvSpPr>
        <p:spPr>
          <a:xfrm>
            <a:off x="691978" y="2224216"/>
            <a:ext cx="10935730" cy="2677656"/>
          </a:xfrm>
          <a:prstGeom prst="rect">
            <a:avLst/>
          </a:prstGeom>
          <a:noFill/>
        </p:spPr>
        <p:txBody>
          <a:bodyPr wrap="square" rtlCol="0">
            <a:spAutoFit/>
          </a:bodyPr>
          <a:lstStyle/>
          <a:p>
            <a:r>
              <a:rPr lang="vi-VN" sz="2800" dirty="0">
                <a:latin typeface="+mj-lt"/>
              </a:rPr>
              <a:t>N</a:t>
            </a:r>
            <a:r>
              <a:rPr lang="en-US" sz="2800" dirty="0">
                <a:latin typeface="+mj-lt"/>
              </a:rPr>
              <a:t>ề</a:t>
            </a:r>
            <a:r>
              <a:rPr lang="vi-VN" sz="2800" dirty="0">
                <a:latin typeface="+mj-lt"/>
              </a:rPr>
              <a:t>n kinh tế thị trường định hướng xã hội chủ nghĩa ở Việt Nam thực hiện gắn tăng trưởng kinh t</a:t>
            </a:r>
            <a:r>
              <a:rPr lang="en-US" sz="2800" dirty="0">
                <a:latin typeface="+mj-lt"/>
              </a:rPr>
              <a:t>ế</a:t>
            </a:r>
            <a:r>
              <a:rPr lang="vi-VN" sz="2800" dirty="0">
                <a:latin typeface="+mj-lt"/>
              </a:rPr>
              <a:t> với công bằng xã hội; phát triền kinh tế đi đôi với phát triển vãn hóa - xã hội; thực hiện tiến bộ và công bằng xã hội ngay trong từng chính sách, chiến lược, quy hoạch, kế hoạch và từng giai đoạn phát triền của kinh tế thị trường.</a:t>
            </a:r>
            <a:endParaRPr lang="en-US" sz="2800" dirty="0">
              <a:latin typeface="+mj-lt"/>
            </a:endParaRPr>
          </a:p>
          <a:p>
            <a:endParaRPr lang="en-US" sz="2800" dirty="0">
              <a:latin typeface="+mj-lt"/>
            </a:endParaRPr>
          </a:p>
        </p:txBody>
      </p:sp>
    </p:spTree>
    <p:extLst>
      <p:ext uri="{BB962C8B-B14F-4D97-AF65-F5344CB8AC3E}">
        <p14:creationId xmlns:p14="http://schemas.microsoft.com/office/powerpoint/2010/main" val="40196871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7849" y="605481"/>
            <a:ext cx="8946292" cy="2062103"/>
          </a:xfrm>
          <a:prstGeom prst="rect">
            <a:avLst/>
          </a:prstGeom>
          <a:noFill/>
        </p:spPr>
        <p:txBody>
          <a:bodyPr wrap="square" rtlCol="0">
            <a:spAutoFit/>
          </a:bodyPr>
          <a:lstStyle/>
          <a:p>
            <a:pPr lvl="0"/>
            <a:r>
              <a:rPr lang="en-US" sz="3200" b="1" dirty="0">
                <a:solidFill>
                  <a:srgbClr val="FF0000"/>
                </a:solidFill>
                <a:latin typeface="Times New Roman (Headings)"/>
              </a:rPr>
              <a:t>5.2. </a:t>
            </a:r>
            <a:r>
              <a:rPr lang="vi-VN" sz="3200" b="1" dirty="0">
                <a:solidFill>
                  <a:srgbClr val="FF0000"/>
                </a:solidFill>
                <a:latin typeface="Times New Roman (Headings)"/>
              </a:rPr>
              <a:t>HOÀN THIỆN THỀ CHÉ KINH T</a:t>
            </a:r>
            <a:r>
              <a:rPr lang="en-US" sz="3200" b="1" dirty="0">
                <a:solidFill>
                  <a:srgbClr val="FF0000"/>
                </a:solidFill>
                <a:latin typeface="Times New Roman (Headings)"/>
              </a:rPr>
              <a:t>Ế</a:t>
            </a:r>
            <a:r>
              <a:rPr lang="vi-VN" sz="3200" b="1" dirty="0">
                <a:solidFill>
                  <a:srgbClr val="FF0000"/>
                </a:solidFill>
                <a:latin typeface="Times New Roman (Headings)"/>
              </a:rPr>
              <a:t> THỊ TRƯỜNG ĐỊNH HƯỚNG XÃ HỘI CHỦ NGHĨA Ở VIỆT NAM</a:t>
            </a:r>
            <a:endParaRPr lang="en-US" sz="3200" dirty="0">
              <a:solidFill>
                <a:srgbClr val="FF0000"/>
              </a:solidFill>
              <a:latin typeface="Times New Roman (Headings)"/>
            </a:endParaRPr>
          </a:p>
          <a:p>
            <a:endParaRPr lang="en-US" sz="3200" dirty="0">
              <a:solidFill>
                <a:srgbClr val="FF0000"/>
              </a:solidFill>
              <a:latin typeface="Times New Roman (Headings)"/>
            </a:endParaRPr>
          </a:p>
        </p:txBody>
      </p:sp>
      <p:sp>
        <p:nvSpPr>
          <p:cNvPr id="3" name="TextBox 2"/>
          <p:cNvSpPr txBox="1"/>
          <p:nvPr/>
        </p:nvSpPr>
        <p:spPr>
          <a:xfrm>
            <a:off x="1198605" y="2508422"/>
            <a:ext cx="10008973" cy="1384995"/>
          </a:xfrm>
          <a:prstGeom prst="rect">
            <a:avLst/>
          </a:prstGeom>
          <a:noFill/>
        </p:spPr>
        <p:txBody>
          <a:bodyPr wrap="square" rtlCol="0">
            <a:spAutoFit/>
          </a:bodyPr>
          <a:lstStyle/>
          <a:p>
            <a:pPr lvl="0"/>
            <a:r>
              <a:rPr lang="en-US" sz="2800" b="1" dirty="0">
                <a:latin typeface="Times New Roman (Headings)"/>
              </a:rPr>
              <a:t>5.2.1. </a:t>
            </a:r>
            <a:r>
              <a:rPr lang="vi-VN" sz="2800" b="1" dirty="0">
                <a:latin typeface="Times New Roman (Headings)"/>
              </a:rPr>
              <a:t>S</a:t>
            </a:r>
            <a:r>
              <a:rPr lang="en-US" sz="2800" b="1" dirty="0">
                <a:latin typeface="Times New Roman (Headings)"/>
              </a:rPr>
              <a:t>ự</a:t>
            </a:r>
            <a:r>
              <a:rPr lang="vi-VN" sz="2800" b="1" dirty="0">
                <a:latin typeface="Times New Roman (Headings)"/>
              </a:rPr>
              <a:t> cần thiết phải hoàn thiện thể chế kinh tế thị trường định hướng xã hội chủ nghĩa </a:t>
            </a:r>
            <a:r>
              <a:rPr lang="vi-VN" sz="2800" i="1" dirty="0">
                <a:latin typeface="Times New Roman (Headings)"/>
              </a:rPr>
              <a:t>ở</a:t>
            </a:r>
            <a:r>
              <a:rPr lang="vi-VN" sz="2800" b="1" dirty="0">
                <a:latin typeface="Times New Roman (Headings)"/>
              </a:rPr>
              <a:t> Việt Nam</a:t>
            </a:r>
            <a:endParaRPr lang="en-US" sz="2800" b="1" dirty="0">
              <a:latin typeface="Times New Roman (Headings)"/>
            </a:endParaRPr>
          </a:p>
          <a:p>
            <a:endParaRPr lang="en-US" sz="2800" dirty="0">
              <a:latin typeface="Times New Roman (Headings)"/>
            </a:endParaRPr>
          </a:p>
        </p:txBody>
      </p:sp>
      <p:sp>
        <p:nvSpPr>
          <p:cNvPr id="4" name="TextBox 3"/>
          <p:cNvSpPr txBox="1"/>
          <p:nvPr/>
        </p:nvSpPr>
        <p:spPr>
          <a:xfrm>
            <a:off x="1495168" y="4003589"/>
            <a:ext cx="8921578" cy="1384995"/>
          </a:xfrm>
          <a:prstGeom prst="rect">
            <a:avLst/>
          </a:prstGeom>
          <a:noFill/>
        </p:spPr>
        <p:txBody>
          <a:bodyPr wrap="square" rtlCol="0">
            <a:spAutoFit/>
          </a:bodyPr>
          <a:lstStyle/>
          <a:p>
            <a:r>
              <a:rPr lang="vi-VN" sz="2800" i="1" dirty="0">
                <a:latin typeface="+mj-lt"/>
              </a:rPr>
              <a:t>Thể chế và thể chế kinh tế thị trường định </a:t>
            </a:r>
            <a:r>
              <a:rPr lang="en-US" sz="2800" i="1" dirty="0">
                <a:latin typeface="+mj-lt"/>
              </a:rPr>
              <a:t>hướng</a:t>
            </a:r>
            <a:r>
              <a:rPr lang="vi-VN" sz="2800" i="1" dirty="0">
                <a:latin typeface="+mj-lt"/>
              </a:rPr>
              <a:t> xã hội chủ nghĩa</a:t>
            </a:r>
            <a:endParaRPr lang="en-US" sz="2800" dirty="0">
              <a:latin typeface="+mj-lt"/>
            </a:endParaRPr>
          </a:p>
          <a:p>
            <a:endParaRPr lang="en-US" sz="2800" dirty="0">
              <a:latin typeface="+mj-lt"/>
            </a:endParaRPr>
          </a:p>
        </p:txBody>
      </p:sp>
    </p:spTree>
    <p:extLst>
      <p:ext uri="{BB962C8B-B14F-4D97-AF65-F5344CB8AC3E}">
        <p14:creationId xmlns:p14="http://schemas.microsoft.com/office/powerpoint/2010/main" val="1988492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35676" y="1421027"/>
            <a:ext cx="9576486" cy="3970318"/>
          </a:xfrm>
          <a:prstGeom prst="rect">
            <a:avLst/>
          </a:prstGeom>
          <a:noFill/>
        </p:spPr>
        <p:txBody>
          <a:bodyPr wrap="square" rtlCol="0">
            <a:spAutoFit/>
          </a:bodyPr>
          <a:lstStyle/>
          <a:p>
            <a:r>
              <a:rPr lang="vi-VN" sz="2800" i="1" dirty="0">
                <a:solidFill>
                  <a:srgbClr val="FF0000"/>
                </a:solidFill>
                <a:latin typeface="Times New Roman (Headings)"/>
              </a:rPr>
              <a:t>Thể chế</a:t>
            </a:r>
            <a:endParaRPr lang="en-US" sz="2800" dirty="0">
              <a:solidFill>
                <a:srgbClr val="FF0000"/>
              </a:solidFill>
              <a:latin typeface="Times New Roman (Headings)"/>
            </a:endParaRPr>
          </a:p>
          <a:p>
            <a:r>
              <a:rPr lang="vi-VN" sz="2800" dirty="0">
                <a:latin typeface="Times New Roman (Headings)"/>
              </a:rPr>
              <a:t>Thể chế là những quy tắc, luật pháp, bộ máy quản lý và cơ chế vận hành </a:t>
            </a:r>
            <a:r>
              <a:rPr lang="en-US" sz="2800" dirty="0">
                <a:latin typeface="Times New Roman (Headings)"/>
              </a:rPr>
              <a:t>nhằm điều chỉnh </a:t>
            </a:r>
            <a:r>
              <a:rPr lang="vi-VN" sz="2800" dirty="0">
                <a:latin typeface="Times New Roman (Headings)"/>
              </a:rPr>
              <a:t>các hoạt động của con người trong một chê độ xã hội.</a:t>
            </a:r>
            <a:endParaRPr lang="en-US" sz="2800" dirty="0">
              <a:latin typeface="Times New Roman (Headings)"/>
            </a:endParaRPr>
          </a:p>
          <a:p>
            <a:r>
              <a:rPr lang="vi-VN" sz="2800" i="1" dirty="0">
                <a:solidFill>
                  <a:srgbClr val="FF0000"/>
                </a:solidFill>
                <a:latin typeface="Times New Roman (Headings)"/>
              </a:rPr>
              <a:t>Thể chế kinh tế</a:t>
            </a:r>
            <a:endParaRPr lang="en-US" sz="2800" dirty="0">
              <a:solidFill>
                <a:srgbClr val="FF0000"/>
              </a:solidFill>
              <a:latin typeface="Times New Roman (Headings)"/>
            </a:endParaRPr>
          </a:p>
          <a:p>
            <a:r>
              <a:rPr lang="vi-VN" sz="2800" dirty="0">
                <a:latin typeface="Times New Roman (Headings)"/>
              </a:rPr>
              <a:t>Là hệ thống quy tắc, luật pháp, bộ máy quản lý và cơ chế vận hành nhằm điều chỉnh hành vi của các chủ thể kinh tế, các hành vi sản xuất kinh doanh và các quan h</a:t>
            </a:r>
            <a:r>
              <a:rPr lang="en-US" sz="2800" dirty="0">
                <a:latin typeface="Times New Roman (Headings)"/>
              </a:rPr>
              <a:t>ệ</a:t>
            </a:r>
            <a:r>
              <a:rPr lang="vi-VN" sz="2800" dirty="0">
                <a:latin typeface="Times New Roman (Headings)"/>
              </a:rPr>
              <a:t> kinh tế.</a:t>
            </a:r>
            <a:endParaRPr lang="en-US" sz="2800" dirty="0">
              <a:latin typeface="Times New Roman (Headings)"/>
            </a:endParaRPr>
          </a:p>
          <a:p>
            <a:endParaRPr lang="en-US" sz="2800" dirty="0">
              <a:latin typeface="Times New Roman (Headings)"/>
            </a:endParaRPr>
          </a:p>
        </p:txBody>
      </p:sp>
    </p:spTree>
    <p:extLst>
      <p:ext uri="{BB962C8B-B14F-4D97-AF65-F5344CB8AC3E}">
        <p14:creationId xmlns:p14="http://schemas.microsoft.com/office/powerpoint/2010/main" val="3297184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03189" y="1680519"/>
            <a:ext cx="10478530" cy="3416320"/>
          </a:xfrm>
          <a:prstGeom prst="rect">
            <a:avLst/>
          </a:prstGeom>
          <a:noFill/>
        </p:spPr>
        <p:txBody>
          <a:bodyPr wrap="square" rtlCol="0">
            <a:spAutoFit/>
          </a:bodyPr>
          <a:lstStyle/>
          <a:p>
            <a:pPr indent="346075"/>
            <a:r>
              <a:rPr lang="vi-VN" sz="2400" i="1" dirty="0">
                <a:solidFill>
                  <a:srgbClr val="FF0000"/>
                </a:solidFill>
              </a:rPr>
              <a:t>Thể chế kinh tế thị trường định hướng xã hôi chủ nghĩa </a:t>
            </a:r>
            <a:endParaRPr lang="en-US" sz="2400" dirty="0">
              <a:solidFill>
                <a:srgbClr val="FF0000"/>
              </a:solidFill>
            </a:endParaRPr>
          </a:p>
          <a:p>
            <a:pPr indent="395288"/>
            <a:r>
              <a:rPr lang="vi-VN" sz="2400" dirty="0"/>
              <a:t>Thể chế kinh tế thị trường định hướng xã hội chủ nghĩa là hệ thống đường lối, chủ trương chiến lược, hệ thống luật pháp, chính sách quy định xác lập cơ chế vận hành, điều chỉnh chức năng, hoạt động, mục tiêu, phương thức hoạt động, các quan hệ lợi ích của các tổ chức, các chủ thồ kinh tế nhằm hướng tới xác lập đồng bộ các yếu tố thị trường, các loại thị trường hiện đại theo hướng góp phần thúc đẩy dân giàu, nước mạnh, dân chủ, công bằng, văn minh.</a:t>
            </a:r>
            <a:endParaRPr lang="en-US" sz="2400" dirty="0"/>
          </a:p>
          <a:p>
            <a:endParaRPr lang="en-US" sz="2400" dirty="0"/>
          </a:p>
        </p:txBody>
      </p:sp>
    </p:spTree>
    <p:extLst>
      <p:ext uri="{BB962C8B-B14F-4D97-AF65-F5344CB8AC3E}">
        <p14:creationId xmlns:p14="http://schemas.microsoft.com/office/powerpoint/2010/main" val="7306006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09568" y="617838"/>
            <a:ext cx="9193427" cy="1384995"/>
          </a:xfrm>
          <a:prstGeom prst="rect">
            <a:avLst/>
          </a:prstGeom>
          <a:noFill/>
        </p:spPr>
        <p:txBody>
          <a:bodyPr wrap="square" rtlCol="0">
            <a:spAutoFit/>
          </a:bodyPr>
          <a:lstStyle/>
          <a:p>
            <a:r>
              <a:rPr lang="vi-VN" sz="2800" i="1" dirty="0">
                <a:latin typeface="+mj-lt"/>
              </a:rPr>
              <a:t>Lý do phải thực hiện hoàn thi</a:t>
            </a:r>
            <a:r>
              <a:rPr lang="en-US" sz="2800" i="1" dirty="0">
                <a:latin typeface="+mj-lt"/>
              </a:rPr>
              <a:t>ệ</a:t>
            </a:r>
            <a:r>
              <a:rPr lang="vi-VN" sz="2800" i="1" dirty="0">
                <a:latin typeface="+mj-lt"/>
              </a:rPr>
              <a:t>n thể chế kinh tế thị trường định hướng xã hội chủ nghĩa</a:t>
            </a:r>
            <a:endParaRPr lang="en-US" sz="2800" dirty="0">
              <a:latin typeface="+mj-lt"/>
            </a:endParaRPr>
          </a:p>
          <a:p>
            <a:endParaRPr lang="en-US" sz="2800" dirty="0">
              <a:latin typeface="+mj-lt"/>
            </a:endParaRPr>
          </a:p>
        </p:txBody>
      </p:sp>
      <p:sp>
        <p:nvSpPr>
          <p:cNvPr id="3" name="TextBox 2"/>
          <p:cNvSpPr txBox="1"/>
          <p:nvPr/>
        </p:nvSpPr>
        <p:spPr>
          <a:xfrm>
            <a:off x="568411" y="1878227"/>
            <a:ext cx="11034584" cy="2677656"/>
          </a:xfrm>
          <a:prstGeom prst="rect">
            <a:avLst/>
          </a:prstGeom>
          <a:noFill/>
        </p:spPr>
        <p:txBody>
          <a:bodyPr wrap="square" rtlCol="0">
            <a:spAutoFit/>
          </a:bodyPr>
          <a:lstStyle/>
          <a:p>
            <a:r>
              <a:rPr lang="vi-VN" sz="2800" i="1" dirty="0">
                <a:latin typeface="Times New Roman (Headings)"/>
              </a:rPr>
              <a:t>Thứ nhất,</a:t>
            </a:r>
            <a:r>
              <a:rPr lang="vi-VN" sz="2800" dirty="0">
                <a:latin typeface="Times New Roman (Headings)"/>
              </a:rPr>
              <a:t> do thể chế kinh tế thị trường định hướng xã hội chủ nghĩa còn chưa đồng bộ.</a:t>
            </a:r>
            <a:endParaRPr lang="en-US" sz="2800" dirty="0">
              <a:latin typeface="Times New Roman (Headings)"/>
            </a:endParaRPr>
          </a:p>
          <a:p>
            <a:r>
              <a:rPr lang="en-US" sz="2800" dirty="0">
                <a:latin typeface="Times New Roman (Headings)"/>
              </a:rPr>
              <a:t>Thứ hai,</a:t>
            </a:r>
            <a:r>
              <a:rPr lang="vi-VN" sz="2800" dirty="0">
                <a:latin typeface="Times New Roman (Headings)"/>
              </a:rPr>
              <a:t> hệ thống thể chế chưa đầy đủ.</a:t>
            </a:r>
            <a:endParaRPr lang="en-US" sz="2800" dirty="0">
              <a:latin typeface="Times New Roman (Headings)"/>
            </a:endParaRPr>
          </a:p>
          <a:p>
            <a:r>
              <a:rPr lang="vi-VN" sz="2800" i="1" dirty="0">
                <a:latin typeface="Times New Roman (Headings)"/>
              </a:rPr>
              <a:t>Thứ ba,</a:t>
            </a:r>
            <a:r>
              <a:rPr lang="vi-VN" sz="2800" dirty="0">
                <a:latin typeface="Times New Roman (Headings)"/>
              </a:rPr>
              <a:t> hệ thống thể chế còn kém hiệu lực, hiệu quả, thiếu các yếu tố thị trường và các loại thị trường.</a:t>
            </a:r>
            <a:endParaRPr lang="en-US" sz="2800" dirty="0">
              <a:latin typeface="Times New Roman (Headings)"/>
            </a:endParaRPr>
          </a:p>
          <a:p>
            <a:endParaRPr lang="en-US" sz="2800" dirty="0">
              <a:latin typeface="Times New Roman (Headings)"/>
            </a:endParaRPr>
          </a:p>
        </p:txBody>
      </p:sp>
    </p:spTree>
    <p:extLst>
      <p:ext uri="{BB962C8B-B14F-4D97-AF65-F5344CB8AC3E}">
        <p14:creationId xmlns:p14="http://schemas.microsoft.com/office/powerpoint/2010/main" val="15514245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08422" y="617838"/>
            <a:ext cx="9131643" cy="1384995"/>
          </a:xfrm>
          <a:prstGeom prst="rect">
            <a:avLst/>
          </a:prstGeom>
          <a:noFill/>
        </p:spPr>
        <p:txBody>
          <a:bodyPr wrap="square" rtlCol="0">
            <a:spAutoFit/>
          </a:bodyPr>
          <a:lstStyle/>
          <a:p>
            <a:pPr lvl="0"/>
            <a:r>
              <a:rPr lang="en-US" sz="2800" b="1" dirty="0">
                <a:latin typeface="Times New Roman (Headings)"/>
              </a:rPr>
              <a:t>5.2.2. </a:t>
            </a:r>
            <a:r>
              <a:rPr lang="vi-VN" sz="2800" b="1" dirty="0">
                <a:latin typeface="Times New Roman (Headings)"/>
              </a:rPr>
              <a:t>Nội dung hoàn thiện thể chế kinh tế thị </a:t>
            </a:r>
            <a:r>
              <a:rPr lang="en-US" sz="2800" b="1" dirty="0">
                <a:latin typeface="Times New Roman (Headings)"/>
              </a:rPr>
              <a:t>trường</a:t>
            </a:r>
            <a:r>
              <a:rPr lang="vi-VN" sz="2800" b="1" dirty="0">
                <a:latin typeface="Times New Roman (Headings)"/>
              </a:rPr>
              <a:t> định </a:t>
            </a:r>
            <a:r>
              <a:rPr lang="en-US" sz="2800" b="1" dirty="0">
                <a:latin typeface="Times New Roman (Headings)"/>
              </a:rPr>
              <a:t>hướng</a:t>
            </a:r>
            <a:r>
              <a:rPr lang="vi-VN" sz="2800" b="1" dirty="0">
                <a:latin typeface="Times New Roman (Headings)"/>
              </a:rPr>
              <a:t> xã hội chủ nghĩa </a:t>
            </a:r>
            <a:r>
              <a:rPr lang="en-US" sz="2800" b="1" dirty="0">
                <a:latin typeface="Times New Roman (Headings)"/>
              </a:rPr>
              <a:t>ở</a:t>
            </a:r>
            <a:r>
              <a:rPr lang="vi-VN" sz="2800" b="1" dirty="0">
                <a:latin typeface="Times New Roman (Headings)"/>
              </a:rPr>
              <a:t> Việt Nam</a:t>
            </a:r>
            <a:endParaRPr lang="en-US" sz="2800" dirty="0">
              <a:latin typeface="Times New Roman (Headings)"/>
            </a:endParaRPr>
          </a:p>
          <a:p>
            <a:endParaRPr lang="en-US" sz="2800" dirty="0">
              <a:latin typeface="Times New Roman (Headings)"/>
            </a:endParaRPr>
          </a:p>
        </p:txBody>
      </p:sp>
      <p:sp>
        <p:nvSpPr>
          <p:cNvPr id="3" name="TextBox 2"/>
          <p:cNvSpPr txBox="1"/>
          <p:nvPr/>
        </p:nvSpPr>
        <p:spPr>
          <a:xfrm>
            <a:off x="667265" y="1841157"/>
            <a:ext cx="10972800" cy="461665"/>
          </a:xfrm>
          <a:prstGeom prst="rect">
            <a:avLst/>
          </a:prstGeom>
          <a:noFill/>
        </p:spPr>
        <p:txBody>
          <a:bodyPr wrap="square" rtlCol="0">
            <a:spAutoFit/>
          </a:bodyPr>
          <a:lstStyle/>
          <a:p>
            <a:r>
              <a:rPr lang="en-US" sz="2400" b="1" i="1" dirty="0">
                <a:latin typeface="Times New Roman (Headings)"/>
              </a:rPr>
              <a:t>5.2.2.1</a:t>
            </a:r>
            <a:r>
              <a:rPr lang="vi-VN" sz="2400" b="1" i="1" dirty="0">
                <a:latin typeface="Times New Roman (Headings)"/>
              </a:rPr>
              <a:t>. Hoàn thiện thể chế về sở hữu và phát triển các thành phần kinh t</a:t>
            </a:r>
            <a:r>
              <a:rPr lang="en-US" sz="2400" b="1" i="1" dirty="0">
                <a:latin typeface="Times New Roman (Headings)"/>
              </a:rPr>
              <a:t>ế</a:t>
            </a:r>
            <a:endParaRPr lang="en-US" sz="2400" dirty="0">
              <a:latin typeface="Times New Roman (Headings)"/>
            </a:endParaRPr>
          </a:p>
        </p:txBody>
      </p:sp>
      <p:sp>
        <p:nvSpPr>
          <p:cNvPr id="4" name="TextBox 3"/>
          <p:cNvSpPr txBox="1"/>
          <p:nvPr/>
        </p:nvSpPr>
        <p:spPr>
          <a:xfrm>
            <a:off x="1099751" y="2533135"/>
            <a:ext cx="10404390" cy="3970318"/>
          </a:xfrm>
          <a:prstGeom prst="rect">
            <a:avLst/>
          </a:prstGeom>
          <a:noFill/>
        </p:spPr>
        <p:txBody>
          <a:bodyPr wrap="square" rtlCol="0">
            <a:spAutoFit/>
          </a:bodyPr>
          <a:lstStyle/>
          <a:p>
            <a:pPr indent="519113"/>
            <a:r>
              <a:rPr lang="vi-VN" sz="2800" i="1" dirty="0"/>
              <a:t>Một là:</a:t>
            </a:r>
            <a:r>
              <a:rPr lang="vi-VN" sz="2800" dirty="0"/>
              <a:t> Thể chế hóa đầy đủ quyền tài sản (quyền sở hữu, quyền sử dụng, quyền định đoạt và hưởng lợi từ tài sản) của nhà nước, tổ chức và cá nhân</a:t>
            </a:r>
            <a:endParaRPr lang="en-US" sz="2800" dirty="0"/>
          </a:p>
          <a:p>
            <a:pPr indent="519113"/>
            <a:r>
              <a:rPr lang="vi-VN" sz="2800" i="1" dirty="0"/>
              <a:t>Hai là:</a:t>
            </a:r>
            <a:r>
              <a:rPr lang="vi-VN" sz="2800" dirty="0"/>
              <a:t> Tiếp tục hoàn thiện pháp luật về đất đai để huy động và sử dụng hiệu quả đất đai, khắc phục tình trạng sử dụng đất lãng phí.</a:t>
            </a:r>
            <a:endParaRPr lang="en-US" sz="2800" dirty="0"/>
          </a:p>
          <a:p>
            <a:pPr indent="519113"/>
            <a:r>
              <a:rPr lang="vi-VN" sz="2800" i="1" dirty="0"/>
              <a:t>Ba là:</a:t>
            </a:r>
            <a:r>
              <a:rPr lang="vi-VN" sz="2800" dirty="0"/>
              <a:t> Hoàn thiện pháp luật về quản lý, khai thác và sử dụng tài nguyên thiên nhi</a:t>
            </a:r>
            <a:r>
              <a:rPr lang="en-US" sz="2800" dirty="0"/>
              <a:t>ên.</a:t>
            </a:r>
          </a:p>
          <a:p>
            <a:pPr indent="519113"/>
            <a:endParaRPr lang="en-US" sz="2800" dirty="0"/>
          </a:p>
        </p:txBody>
      </p:sp>
    </p:spTree>
    <p:extLst>
      <p:ext uri="{BB962C8B-B14F-4D97-AF65-F5344CB8AC3E}">
        <p14:creationId xmlns:p14="http://schemas.microsoft.com/office/powerpoint/2010/main" val="3946662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9049" y="1556951"/>
            <a:ext cx="10812162" cy="3539430"/>
          </a:xfrm>
          <a:prstGeom prst="rect">
            <a:avLst/>
          </a:prstGeom>
          <a:noFill/>
        </p:spPr>
        <p:txBody>
          <a:bodyPr wrap="square" rtlCol="0">
            <a:spAutoFit/>
          </a:bodyPr>
          <a:lstStyle/>
          <a:p>
            <a:r>
              <a:rPr lang="vi-VN" sz="2800" i="1" dirty="0"/>
              <a:t>Bốn là:</a:t>
            </a:r>
            <a:r>
              <a:rPr lang="vi-VN" sz="2800" dirty="0"/>
              <a:t> Hoàn thiện pháp luật về đầu tư vốn nhà nước, sử dụng có hiệu quả các tài sản công; phân biệt rõ tài sản đưa vào kinh doanh và tài sản để thực hiện mục tiêu chính sách xã hội.</a:t>
            </a:r>
            <a:endParaRPr lang="en-US" sz="2800" dirty="0"/>
          </a:p>
          <a:p>
            <a:endParaRPr lang="en-US" sz="2800" dirty="0"/>
          </a:p>
          <a:p>
            <a:r>
              <a:rPr lang="vi-VN" sz="2800" i="1" dirty="0"/>
              <a:t>Năm là:</a:t>
            </a:r>
            <a:r>
              <a:rPr lang="vi-VN" sz="2800" dirty="0"/>
              <a:t> Hoàn thiện hệ thống the chế liên quan đến sở hữu trí tuệ theo hướng khuyến khích đồi mới, sáng tạo, bảo đảm tính minh bạch và độ tin cậy, bảo vệ quyền </a:t>
            </a:r>
            <a:r>
              <a:rPr lang="vi-VN" sz="2800" i="1" dirty="0"/>
              <a:t>sở hữu tr</a:t>
            </a:r>
            <a:r>
              <a:rPr lang="en-US" sz="2800" i="1" dirty="0"/>
              <a:t>í</a:t>
            </a:r>
            <a:r>
              <a:rPr lang="vi-VN" sz="2800" i="1" dirty="0"/>
              <a:t> tuệ.</a:t>
            </a:r>
            <a:endParaRPr lang="en-US" sz="2800" dirty="0"/>
          </a:p>
          <a:p>
            <a:endParaRPr lang="en-US" sz="2800" dirty="0"/>
          </a:p>
        </p:txBody>
      </p:sp>
    </p:spTree>
    <p:extLst>
      <p:ext uri="{BB962C8B-B14F-4D97-AF65-F5344CB8AC3E}">
        <p14:creationId xmlns:p14="http://schemas.microsoft.com/office/powerpoint/2010/main" val="41482771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5546" y="1680519"/>
            <a:ext cx="10602097" cy="2677656"/>
          </a:xfrm>
          <a:prstGeom prst="rect">
            <a:avLst/>
          </a:prstGeom>
          <a:noFill/>
        </p:spPr>
        <p:txBody>
          <a:bodyPr wrap="square" rtlCol="0">
            <a:spAutoFit/>
          </a:bodyPr>
          <a:lstStyle/>
          <a:p>
            <a:r>
              <a:rPr lang="vi-VN" sz="2800" i="1" dirty="0"/>
              <a:t>Sáu là:</a:t>
            </a:r>
            <a:r>
              <a:rPr lang="vi-VN" sz="2800" dirty="0"/>
              <a:t> Hoàn thiện khung pháp luật về hợp đồng và giải quyết tranh chấp dân sự theo hướng thống nhất, đồng bộ. Phát triền hệ thống đãng ký các loại tài sản, nhất là bất động sản.</a:t>
            </a:r>
            <a:endParaRPr lang="en-US" sz="2800" dirty="0"/>
          </a:p>
          <a:p>
            <a:endParaRPr lang="en-US" sz="2800" dirty="0"/>
          </a:p>
          <a:p>
            <a:r>
              <a:rPr lang="vi-VN" sz="2800" i="1" dirty="0"/>
              <a:t>Bày là:</a:t>
            </a:r>
            <a:r>
              <a:rPr lang="vi-VN" sz="2800" dirty="0"/>
              <a:t> Hoàn thiện thề chế cho sự phát triển các thành phần kinh tế, các loại hình doanh nghiệp.</a:t>
            </a:r>
            <a:endParaRPr lang="en-US" sz="2800" dirty="0"/>
          </a:p>
        </p:txBody>
      </p:sp>
    </p:spTree>
    <p:extLst>
      <p:ext uri="{BB962C8B-B14F-4D97-AF65-F5344CB8AC3E}">
        <p14:creationId xmlns:p14="http://schemas.microsoft.com/office/powerpoint/2010/main" val="23488714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48930" y="630195"/>
            <a:ext cx="9341708" cy="1384995"/>
          </a:xfrm>
          <a:prstGeom prst="rect">
            <a:avLst/>
          </a:prstGeom>
          <a:noFill/>
        </p:spPr>
        <p:txBody>
          <a:bodyPr wrap="square" rtlCol="0">
            <a:spAutoFit/>
          </a:bodyPr>
          <a:lstStyle/>
          <a:p>
            <a:pPr lvl="0"/>
            <a:r>
              <a:rPr lang="en-US" sz="2800" i="1" dirty="0">
                <a:solidFill>
                  <a:srgbClr val="FF0000"/>
                </a:solidFill>
              </a:rPr>
              <a:t>5.2.2.2. </a:t>
            </a:r>
            <a:r>
              <a:rPr lang="vi-VN" sz="2800" i="1" dirty="0">
                <a:solidFill>
                  <a:srgbClr val="FF0000"/>
                </a:solidFill>
              </a:rPr>
              <a:t>Hoàn thiện thể chế để phát triển đồng hộ các yếu tố thị trường và các loại thị trường</a:t>
            </a:r>
            <a:endParaRPr lang="en-US" sz="2800" dirty="0">
              <a:solidFill>
                <a:srgbClr val="FF0000"/>
              </a:solidFill>
            </a:endParaRPr>
          </a:p>
          <a:p>
            <a:endParaRPr lang="en-US" sz="2800" dirty="0">
              <a:solidFill>
                <a:srgbClr val="FF0000"/>
              </a:solidFill>
            </a:endParaRPr>
          </a:p>
        </p:txBody>
      </p:sp>
      <p:sp>
        <p:nvSpPr>
          <p:cNvPr id="3" name="TextBox 2"/>
          <p:cNvSpPr txBox="1"/>
          <p:nvPr/>
        </p:nvSpPr>
        <p:spPr>
          <a:xfrm>
            <a:off x="1062681" y="1779373"/>
            <a:ext cx="10144897" cy="3046988"/>
          </a:xfrm>
          <a:prstGeom prst="rect">
            <a:avLst/>
          </a:prstGeom>
          <a:noFill/>
        </p:spPr>
        <p:txBody>
          <a:bodyPr wrap="square" rtlCol="0">
            <a:spAutoFit/>
          </a:bodyPr>
          <a:lstStyle/>
          <a:p>
            <a:r>
              <a:rPr lang="vi-VN" sz="3200" i="1" dirty="0"/>
              <a:t>Một là: Hoàn thiện thể chế để phát triển đồng bộ các yếu tố thị trường.</a:t>
            </a:r>
            <a:endParaRPr lang="en-US" sz="3200" i="1" dirty="0"/>
          </a:p>
          <a:p>
            <a:endParaRPr lang="en-US" sz="3200" dirty="0"/>
          </a:p>
          <a:p>
            <a:r>
              <a:rPr lang="vi-VN" sz="3200" i="1" dirty="0"/>
              <a:t>Hai là: Hoàn thiện thể chế đế phát triển đồng bộ, vận hành thông suốt các loại thị trường</a:t>
            </a:r>
            <a:endParaRPr lang="en-US" sz="3200" dirty="0"/>
          </a:p>
          <a:p>
            <a:endParaRPr lang="en-US" sz="3200" dirty="0"/>
          </a:p>
        </p:txBody>
      </p:sp>
    </p:spTree>
    <p:extLst>
      <p:ext uri="{BB962C8B-B14F-4D97-AF65-F5344CB8AC3E}">
        <p14:creationId xmlns:p14="http://schemas.microsoft.com/office/powerpoint/2010/main" val="29792273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21924" y="494270"/>
            <a:ext cx="9354065" cy="1384995"/>
          </a:xfrm>
          <a:prstGeom prst="rect">
            <a:avLst/>
          </a:prstGeom>
          <a:noFill/>
        </p:spPr>
        <p:txBody>
          <a:bodyPr wrap="square" rtlCol="0">
            <a:spAutoFit/>
          </a:bodyPr>
          <a:lstStyle/>
          <a:p>
            <a:r>
              <a:rPr lang="en-US" sz="2800" i="1" dirty="0">
                <a:solidFill>
                  <a:srgbClr val="FF0000"/>
                </a:solidFill>
                <a:latin typeface="Times New Roman (Headings)"/>
              </a:rPr>
              <a:t>5.2.2.3. </a:t>
            </a:r>
            <a:r>
              <a:rPr lang="vi-VN" sz="2800" i="1" dirty="0">
                <a:solidFill>
                  <a:srgbClr val="FF0000"/>
                </a:solidFill>
                <a:latin typeface="Times New Roman (Headings)"/>
              </a:rPr>
              <a:t>Hoàn thiện thể chế để </a:t>
            </a:r>
            <a:r>
              <a:rPr lang="en-US" sz="2800" i="1" dirty="0">
                <a:solidFill>
                  <a:srgbClr val="FF0000"/>
                </a:solidFill>
                <a:latin typeface="Times New Roman (Headings)"/>
              </a:rPr>
              <a:t>đảm bảo gắn tăng </a:t>
            </a:r>
            <a:r>
              <a:rPr lang="vi-VN" sz="2800" i="1" dirty="0">
                <a:solidFill>
                  <a:srgbClr val="FF0000"/>
                </a:solidFill>
                <a:latin typeface="Times New Roman (Headings)"/>
              </a:rPr>
              <a:t>trưởng k</a:t>
            </a:r>
            <a:r>
              <a:rPr lang="en-US" sz="2800" i="1" dirty="0">
                <a:solidFill>
                  <a:srgbClr val="FF0000"/>
                </a:solidFill>
                <a:latin typeface="Times New Roman (Headings)"/>
              </a:rPr>
              <a:t>i</a:t>
            </a:r>
            <a:r>
              <a:rPr lang="vi-VN" sz="2800" i="1" dirty="0">
                <a:solidFill>
                  <a:srgbClr val="FF0000"/>
                </a:solidFill>
                <a:latin typeface="Times New Roman (Headings)"/>
              </a:rPr>
              <a:t>nh tế với bảo đảm ti</a:t>
            </a:r>
            <a:r>
              <a:rPr lang="en-US" sz="2800" i="1" dirty="0">
                <a:solidFill>
                  <a:srgbClr val="FF0000"/>
                </a:solidFill>
                <a:latin typeface="Times New Roman (Headings)"/>
              </a:rPr>
              <a:t>ến</a:t>
            </a:r>
            <a:r>
              <a:rPr lang="vi-VN" sz="2800" i="1" dirty="0">
                <a:solidFill>
                  <a:srgbClr val="FF0000"/>
                </a:solidFill>
                <a:latin typeface="Times New Roman (Headings)"/>
              </a:rPr>
              <a:t> bộ và công bằng xã hội và thúc đẩy hội nhập quốc tế</a:t>
            </a:r>
            <a:endParaRPr lang="en-US" sz="2800" dirty="0">
              <a:solidFill>
                <a:srgbClr val="FF0000"/>
              </a:solidFill>
              <a:latin typeface="Times New Roman (Headings)"/>
            </a:endParaRPr>
          </a:p>
        </p:txBody>
      </p:sp>
      <p:sp>
        <p:nvSpPr>
          <p:cNvPr id="3" name="TextBox 2"/>
          <p:cNvSpPr txBox="1"/>
          <p:nvPr/>
        </p:nvSpPr>
        <p:spPr>
          <a:xfrm>
            <a:off x="778476" y="2446638"/>
            <a:ext cx="10552670" cy="3539430"/>
          </a:xfrm>
          <a:prstGeom prst="rect">
            <a:avLst/>
          </a:prstGeom>
          <a:noFill/>
        </p:spPr>
        <p:txBody>
          <a:bodyPr wrap="square" rtlCol="0">
            <a:spAutoFit/>
          </a:bodyPr>
          <a:lstStyle/>
          <a:p>
            <a:r>
              <a:rPr lang="vi-VN" sz="3200" i="1" dirty="0">
                <a:latin typeface="Times New Roman (Headings)"/>
              </a:rPr>
              <a:t>Một là:</a:t>
            </a:r>
            <a:r>
              <a:rPr lang="vi-VN" sz="3200" dirty="0">
                <a:latin typeface="Times New Roman (Headings)"/>
              </a:rPr>
              <a:t> Tiếp tục rà soát, bồ sung, điều chỉnh hệ thống pháp luật và các thể ch</a:t>
            </a:r>
            <a:r>
              <a:rPr lang="en-US" sz="3200" dirty="0">
                <a:latin typeface="Times New Roman (Headings)"/>
              </a:rPr>
              <a:t>ế</a:t>
            </a:r>
            <a:r>
              <a:rPr lang="vi-VN" sz="3200" dirty="0">
                <a:latin typeface="Times New Roman (Headings)"/>
              </a:rPr>
              <a:t> liên quan đáp ứng yêu cầu thực hiện các cam kết quốc tế của Việt Nam.</a:t>
            </a:r>
            <a:endParaRPr lang="en-US" sz="3200" dirty="0">
              <a:latin typeface="Times New Roman (Headings)"/>
            </a:endParaRPr>
          </a:p>
          <a:p>
            <a:endParaRPr lang="en-US" sz="3200" dirty="0">
              <a:latin typeface="Times New Roman (Headings)"/>
            </a:endParaRPr>
          </a:p>
          <a:p>
            <a:r>
              <a:rPr lang="vi-VN" sz="3200" i="1" dirty="0">
                <a:latin typeface="Times New Roman (Headings)"/>
              </a:rPr>
              <a:t>Hai là:</a:t>
            </a:r>
            <a:r>
              <a:rPr lang="vi-VN" sz="3200" dirty="0">
                <a:latin typeface="Times New Roman (Headings)"/>
              </a:rPr>
              <a:t> Thực hiện nhất quán chủ trương </a:t>
            </a:r>
            <a:r>
              <a:rPr lang="en-US" sz="3200" dirty="0">
                <a:latin typeface="Times New Roman (Headings)"/>
              </a:rPr>
              <a:t>đ</a:t>
            </a:r>
            <a:r>
              <a:rPr lang="vi-VN" sz="3200" dirty="0">
                <a:latin typeface="Times New Roman (Headings)"/>
              </a:rPr>
              <a:t>a phương hóa, đa dạng hóa trong hợp tác kinh tế quốc tế, không để bị lệ thuộc vào một số ít thị trường. </a:t>
            </a:r>
            <a:endParaRPr lang="en-US" sz="3200" dirty="0">
              <a:latin typeface="Times New Roman (Headings)"/>
            </a:endParaRPr>
          </a:p>
        </p:txBody>
      </p:sp>
    </p:spTree>
    <p:extLst>
      <p:ext uri="{BB962C8B-B14F-4D97-AF65-F5344CB8AC3E}">
        <p14:creationId xmlns:p14="http://schemas.microsoft.com/office/powerpoint/2010/main" val="286096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34281" y="803189"/>
            <a:ext cx="9193427" cy="1077218"/>
          </a:xfrm>
          <a:prstGeom prst="rect">
            <a:avLst/>
          </a:prstGeom>
          <a:noFill/>
        </p:spPr>
        <p:txBody>
          <a:bodyPr wrap="square" rtlCol="0">
            <a:spAutoFit/>
          </a:bodyPr>
          <a:lstStyle/>
          <a:p>
            <a:r>
              <a:rPr lang="en-US" sz="3200" i="1" dirty="0">
                <a:latin typeface="Times New Roman (Headings)"/>
              </a:rPr>
              <a:t>5.2.2.4. </a:t>
            </a:r>
            <a:r>
              <a:rPr lang="vi-VN" sz="3200" i="1" dirty="0">
                <a:latin typeface="Times New Roman (Headings)"/>
              </a:rPr>
              <a:t>Hoàn thiện thể năng cao năng lực hệ </a:t>
            </a:r>
            <a:r>
              <a:rPr lang="en-US" sz="3200" i="1" dirty="0">
                <a:latin typeface="Times New Roman (Headings)"/>
              </a:rPr>
              <a:t>thống chính </a:t>
            </a:r>
            <a:r>
              <a:rPr lang="vi-VN" sz="3200" i="1" dirty="0">
                <a:latin typeface="Times New Roman (Headings)"/>
              </a:rPr>
              <a:t>trị</a:t>
            </a:r>
            <a:endParaRPr lang="en-US" sz="3200" dirty="0">
              <a:latin typeface="Times New Roman (Headings)"/>
            </a:endParaRPr>
          </a:p>
        </p:txBody>
      </p:sp>
      <p:sp>
        <p:nvSpPr>
          <p:cNvPr id="3" name="TextBox 2"/>
          <p:cNvSpPr txBox="1"/>
          <p:nvPr/>
        </p:nvSpPr>
        <p:spPr>
          <a:xfrm>
            <a:off x="951470" y="2854411"/>
            <a:ext cx="10070757" cy="1384995"/>
          </a:xfrm>
          <a:prstGeom prst="rect">
            <a:avLst/>
          </a:prstGeom>
          <a:noFill/>
        </p:spPr>
        <p:txBody>
          <a:bodyPr wrap="square" rtlCol="0">
            <a:spAutoFit/>
          </a:bodyPr>
          <a:lstStyle/>
          <a:p>
            <a:r>
              <a:rPr lang="vi-VN" sz="2800" dirty="0"/>
              <a:t>Xây dựng hệ thống thể chế đồng bộ đề nâng cao năng lực lãnh đạo của Đảng, vai trò xây dựng và thực hiện thể chế kinh tế của nhà nước, phát huy vai trò làm chủ của nhân dân </a:t>
            </a:r>
            <a:endParaRPr lang="en-US" sz="2800" dirty="0"/>
          </a:p>
        </p:txBody>
      </p:sp>
    </p:spTree>
    <p:extLst>
      <p:ext uri="{BB962C8B-B14F-4D97-AF65-F5344CB8AC3E}">
        <p14:creationId xmlns:p14="http://schemas.microsoft.com/office/powerpoint/2010/main" val="15705061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46638" y="729049"/>
            <a:ext cx="9119286" cy="1569660"/>
          </a:xfrm>
          <a:prstGeom prst="rect">
            <a:avLst/>
          </a:prstGeom>
          <a:noFill/>
        </p:spPr>
        <p:txBody>
          <a:bodyPr wrap="square" rtlCol="0">
            <a:spAutoFit/>
          </a:bodyPr>
          <a:lstStyle/>
          <a:p>
            <a:pPr lvl="0"/>
            <a:r>
              <a:rPr lang="en-US" sz="3200" b="1" dirty="0">
                <a:solidFill>
                  <a:srgbClr val="FF0000"/>
                </a:solidFill>
                <a:latin typeface="Times New Roman (Headings)"/>
              </a:rPr>
              <a:t>5.3. </a:t>
            </a:r>
            <a:r>
              <a:rPr lang="vi-VN" sz="3200" b="1" dirty="0">
                <a:solidFill>
                  <a:srgbClr val="FF0000"/>
                </a:solidFill>
                <a:latin typeface="Times New Roman (Headings)"/>
              </a:rPr>
              <a:t>CÁC QUAN HỆ LỢI ÍCH KINH TẾ Ở VIỆT NAM</a:t>
            </a:r>
            <a:endParaRPr lang="en-US" sz="3200" dirty="0">
              <a:solidFill>
                <a:srgbClr val="FF0000"/>
              </a:solidFill>
              <a:latin typeface="Times New Roman (Headings)"/>
            </a:endParaRPr>
          </a:p>
          <a:p>
            <a:endParaRPr lang="en-US" sz="3200" dirty="0">
              <a:solidFill>
                <a:srgbClr val="FF0000"/>
              </a:solidFill>
              <a:latin typeface="Times New Roman (Headings)"/>
            </a:endParaRPr>
          </a:p>
        </p:txBody>
      </p:sp>
      <p:sp>
        <p:nvSpPr>
          <p:cNvPr id="3" name="TextBox 2"/>
          <p:cNvSpPr txBox="1"/>
          <p:nvPr/>
        </p:nvSpPr>
        <p:spPr>
          <a:xfrm>
            <a:off x="902043" y="2199503"/>
            <a:ext cx="10663881" cy="1077218"/>
          </a:xfrm>
          <a:prstGeom prst="rect">
            <a:avLst/>
          </a:prstGeom>
          <a:noFill/>
        </p:spPr>
        <p:txBody>
          <a:bodyPr wrap="square" rtlCol="0">
            <a:spAutoFit/>
          </a:bodyPr>
          <a:lstStyle/>
          <a:p>
            <a:pPr lvl="0"/>
            <a:r>
              <a:rPr lang="en-US" sz="3200" b="1" dirty="0">
                <a:latin typeface="Times New Roman (Headings)"/>
              </a:rPr>
              <a:t>5.3. </a:t>
            </a:r>
            <a:r>
              <a:rPr lang="vi-VN" sz="3200" b="1" dirty="0">
                <a:latin typeface="Times New Roman (Headings)"/>
              </a:rPr>
              <a:t>Lợi ích kinh tế và quan hệ l</a:t>
            </a:r>
            <a:r>
              <a:rPr lang="en-US" sz="3200" b="1" dirty="0">
                <a:latin typeface="Times New Roman (Headings)"/>
              </a:rPr>
              <a:t>ợ</a:t>
            </a:r>
            <a:r>
              <a:rPr lang="vi-VN" sz="3200" b="1" dirty="0">
                <a:latin typeface="Times New Roman (Headings)"/>
              </a:rPr>
              <a:t>i ích kinh tế</a:t>
            </a:r>
            <a:endParaRPr lang="en-US" sz="3200" b="1" dirty="0">
              <a:latin typeface="Times New Roman (Headings)"/>
            </a:endParaRPr>
          </a:p>
          <a:p>
            <a:pPr lvl="0"/>
            <a:r>
              <a:rPr lang="en-US" sz="3200" i="1" dirty="0">
                <a:latin typeface="Times New Roman (Headings)"/>
              </a:rPr>
              <a:t>5.3.1. </a:t>
            </a:r>
            <a:r>
              <a:rPr lang="vi-VN" sz="3200" i="1" dirty="0">
                <a:latin typeface="Times New Roman (Headings)"/>
              </a:rPr>
              <a:t>Lợi ích kinh tế</a:t>
            </a:r>
            <a:endParaRPr lang="en-US" sz="3200" dirty="0">
              <a:latin typeface="Times New Roman (Headings)"/>
            </a:endParaRPr>
          </a:p>
        </p:txBody>
      </p:sp>
      <p:sp>
        <p:nvSpPr>
          <p:cNvPr id="4" name="TextBox 3"/>
          <p:cNvSpPr txBox="1"/>
          <p:nvPr/>
        </p:nvSpPr>
        <p:spPr>
          <a:xfrm>
            <a:off x="902043" y="3398108"/>
            <a:ext cx="9082216" cy="1938992"/>
          </a:xfrm>
          <a:prstGeom prst="rect">
            <a:avLst/>
          </a:prstGeom>
          <a:noFill/>
        </p:spPr>
        <p:txBody>
          <a:bodyPr wrap="square" rtlCol="0">
            <a:spAutoFit/>
          </a:bodyPr>
          <a:lstStyle/>
          <a:p>
            <a:pPr lvl="0"/>
            <a:r>
              <a:rPr lang="vi-VN" sz="2400" dirty="0">
                <a:latin typeface="+mj-lt"/>
              </a:rPr>
              <a:t>Khái niệm lợi ích kinh tế</a:t>
            </a:r>
            <a:endParaRPr lang="en-US" sz="2400" dirty="0">
              <a:latin typeface="+mj-lt"/>
            </a:endParaRPr>
          </a:p>
          <a:p>
            <a:r>
              <a:rPr lang="vi-VN" sz="2400" i="1" dirty="0">
                <a:latin typeface="+mj-lt"/>
              </a:rPr>
              <a:t>Lợi ích là sự thỏa mãn nh</a:t>
            </a:r>
            <a:r>
              <a:rPr lang="en-US" sz="2400" i="1" dirty="0">
                <a:latin typeface="+mj-lt"/>
              </a:rPr>
              <a:t>u</a:t>
            </a:r>
            <a:r>
              <a:rPr lang="vi-VN" sz="2400" i="1" dirty="0">
                <a:latin typeface="+mj-lt"/>
              </a:rPr>
              <a:t> cầu của con người mà sự thỏa mãn nhu cầu này phải được nhận thức và đặt trong mối quan hệ xã hội ứng với trình độ phát triển nhất định của nền sản xuất xã hội đó.</a:t>
            </a:r>
            <a:endParaRPr lang="en-US" sz="2400" dirty="0">
              <a:latin typeface="+mj-lt"/>
            </a:endParaRPr>
          </a:p>
          <a:p>
            <a:endParaRPr lang="en-US" sz="2400" dirty="0">
              <a:latin typeface="+mj-lt"/>
            </a:endParaRPr>
          </a:p>
        </p:txBody>
      </p:sp>
    </p:spTree>
    <p:extLst>
      <p:ext uri="{BB962C8B-B14F-4D97-AF65-F5344CB8AC3E}">
        <p14:creationId xmlns:p14="http://schemas.microsoft.com/office/powerpoint/2010/main" val="38554180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22173" y="1594022"/>
            <a:ext cx="9749481" cy="2677656"/>
          </a:xfrm>
          <a:prstGeom prst="rect">
            <a:avLst/>
          </a:prstGeom>
          <a:noFill/>
        </p:spPr>
        <p:txBody>
          <a:bodyPr wrap="square" rtlCol="0">
            <a:spAutoFit/>
          </a:bodyPr>
          <a:lstStyle/>
          <a:p>
            <a:pPr lvl="0"/>
            <a:r>
              <a:rPr lang="vi-VN" sz="2800" dirty="0">
                <a:solidFill>
                  <a:srgbClr val="FF0000"/>
                </a:solidFill>
                <a:latin typeface="+mj-lt"/>
              </a:rPr>
              <a:t>B</a:t>
            </a:r>
            <a:r>
              <a:rPr lang="en-US" sz="2800" dirty="0">
                <a:solidFill>
                  <a:srgbClr val="FF0000"/>
                </a:solidFill>
                <a:latin typeface="+mj-lt"/>
              </a:rPr>
              <a:t>ả</a:t>
            </a:r>
            <a:r>
              <a:rPr lang="vi-VN" sz="2800" dirty="0">
                <a:solidFill>
                  <a:srgbClr val="FF0000"/>
                </a:solidFill>
                <a:latin typeface="+mj-lt"/>
              </a:rPr>
              <a:t>n chất và biểu hiện của lợi ích kinh tế</a:t>
            </a:r>
            <a:endParaRPr lang="en-US" sz="2800" dirty="0">
              <a:solidFill>
                <a:srgbClr val="FF0000"/>
              </a:solidFill>
              <a:latin typeface="+mj-lt"/>
            </a:endParaRPr>
          </a:p>
          <a:p>
            <a:pPr lvl="0"/>
            <a:endParaRPr lang="en-US" sz="2800" dirty="0">
              <a:latin typeface="+mj-lt"/>
            </a:endParaRPr>
          </a:p>
          <a:p>
            <a:r>
              <a:rPr lang="vi-VN" sz="2800" i="1" dirty="0">
                <a:latin typeface="+mj-lt"/>
              </a:rPr>
              <a:t>Xét về bản chất,</a:t>
            </a:r>
            <a:r>
              <a:rPr lang="vi-VN" sz="2800" dirty="0">
                <a:latin typeface="+mj-lt"/>
              </a:rPr>
              <a:t> lợi ích kinh tế phản ánh mục đích và động cơ của các quan hệ giữa các chủ thể trong nền sản xuất xã hội.</a:t>
            </a:r>
            <a:endParaRPr lang="en-US" sz="2800" dirty="0">
              <a:latin typeface="+mj-lt"/>
            </a:endParaRPr>
          </a:p>
          <a:p>
            <a:br>
              <a:rPr lang="vi-VN" sz="2800" dirty="0">
                <a:latin typeface="+mj-lt"/>
              </a:rPr>
            </a:br>
            <a:endParaRPr lang="en-US" sz="2800" dirty="0">
              <a:latin typeface="+mj-lt"/>
            </a:endParaRPr>
          </a:p>
        </p:txBody>
      </p:sp>
    </p:spTree>
    <p:extLst>
      <p:ext uri="{BB962C8B-B14F-4D97-AF65-F5344CB8AC3E}">
        <p14:creationId xmlns:p14="http://schemas.microsoft.com/office/powerpoint/2010/main" val="38747969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87395" y="1544595"/>
            <a:ext cx="10046043" cy="2062103"/>
          </a:xfrm>
          <a:prstGeom prst="rect">
            <a:avLst/>
          </a:prstGeom>
          <a:noFill/>
        </p:spPr>
        <p:txBody>
          <a:bodyPr wrap="square" rtlCol="0">
            <a:spAutoFit/>
          </a:bodyPr>
          <a:lstStyle/>
          <a:p>
            <a:r>
              <a:rPr lang="vi-VN" sz="3200" i="1" dirty="0"/>
              <a:t>Về biểu hiện,</a:t>
            </a:r>
            <a:r>
              <a:rPr lang="vi-VN" sz="3200" dirty="0"/>
              <a:t> gắn với các chủ thể kinh tế khác nhau là những lợi ích tương ứng: lợi ích của chủ doanh nghiệp trước hết là lợi nhuận, lợi ích của người lao động là thu nhập. </a:t>
            </a:r>
            <a:endParaRPr lang="en-US" sz="3200" dirty="0"/>
          </a:p>
        </p:txBody>
      </p:sp>
    </p:spTree>
    <p:extLst>
      <p:ext uri="{BB962C8B-B14F-4D97-AF65-F5344CB8AC3E}">
        <p14:creationId xmlns:p14="http://schemas.microsoft.com/office/powerpoint/2010/main" val="29835487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20778" y="778476"/>
            <a:ext cx="9230498" cy="1754326"/>
          </a:xfrm>
          <a:prstGeom prst="rect">
            <a:avLst/>
          </a:prstGeom>
          <a:noFill/>
        </p:spPr>
        <p:txBody>
          <a:bodyPr wrap="square" rtlCol="0">
            <a:spAutoFit/>
          </a:bodyPr>
          <a:lstStyle/>
          <a:p>
            <a:r>
              <a:rPr lang="vi-VN" sz="3600" dirty="0">
                <a:solidFill>
                  <a:srgbClr val="FF0000"/>
                </a:solidFill>
                <a:latin typeface="+mj-lt"/>
              </a:rPr>
              <a:t>* Vai trò của lợi ích kinh tế đối với các chủ th</a:t>
            </a:r>
            <a:r>
              <a:rPr lang="en-US" sz="3600" dirty="0">
                <a:solidFill>
                  <a:srgbClr val="FF0000"/>
                </a:solidFill>
                <a:latin typeface="+mj-lt"/>
              </a:rPr>
              <a:t>ể</a:t>
            </a:r>
            <a:r>
              <a:rPr lang="vi-VN" sz="3600" dirty="0">
                <a:solidFill>
                  <a:srgbClr val="FF0000"/>
                </a:solidFill>
                <a:latin typeface="+mj-lt"/>
              </a:rPr>
              <a:t> kinh tế - xã hội</a:t>
            </a:r>
            <a:endParaRPr lang="en-US" sz="3600" dirty="0">
              <a:solidFill>
                <a:srgbClr val="FF0000"/>
              </a:solidFill>
              <a:latin typeface="+mj-lt"/>
            </a:endParaRPr>
          </a:p>
          <a:p>
            <a:endParaRPr lang="en-US" sz="3600" dirty="0">
              <a:solidFill>
                <a:srgbClr val="FF0000"/>
              </a:solidFill>
              <a:latin typeface="+mj-lt"/>
            </a:endParaRPr>
          </a:p>
        </p:txBody>
      </p:sp>
      <p:sp>
        <p:nvSpPr>
          <p:cNvPr id="3" name="TextBox 2"/>
          <p:cNvSpPr txBox="1"/>
          <p:nvPr/>
        </p:nvSpPr>
        <p:spPr>
          <a:xfrm>
            <a:off x="716692" y="2286000"/>
            <a:ext cx="10762735" cy="2246769"/>
          </a:xfrm>
          <a:prstGeom prst="rect">
            <a:avLst/>
          </a:prstGeom>
          <a:noFill/>
        </p:spPr>
        <p:txBody>
          <a:bodyPr wrap="square" rtlCol="0">
            <a:spAutoFit/>
          </a:bodyPr>
          <a:lstStyle/>
          <a:p>
            <a:pPr marL="457200" indent="-457200">
              <a:buFontTx/>
              <a:buChar char="-"/>
            </a:pPr>
            <a:r>
              <a:rPr lang="vi-VN" sz="2800" i="1" dirty="0"/>
              <a:t>Lợi ích kinh tế là động lực trực tiếp cùa các chủ thể và hoạt động k</a:t>
            </a:r>
            <a:r>
              <a:rPr lang="en-US" sz="2800" i="1" dirty="0"/>
              <a:t>i</a:t>
            </a:r>
            <a:r>
              <a:rPr lang="vi-VN" sz="2800" i="1" dirty="0"/>
              <a:t>nh tế - xã hội</a:t>
            </a:r>
            <a:endParaRPr lang="en-US" sz="2800" i="1" dirty="0"/>
          </a:p>
          <a:p>
            <a:endParaRPr lang="en-US" sz="2800" dirty="0"/>
          </a:p>
          <a:p>
            <a:r>
              <a:rPr lang="vi-VN" sz="2800" i="1" dirty="0"/>
              <a:t>- Lợi ích kinh tế là cơ sở thúc đẩy sự phát triển các lợi ích khác.</a:t>
            </a:r>
            <a:endParaRPr lang="en-US" sz="2800" dirty="0"/>
          </a:p>
          <a:p>
            <a:endParaRPr lang="en-US" sz="2800" dirty="0"/>
          </a:p>
        </p:txBody>
      </p:sp>
    </p:spTree>
    <p:extLst>
      <p:ext uri="{BB962C8B-B14F-4D97-AF65-F5344CB8AC3E}">
        <p14:creationId xmlns:p14="http://schemas.microsoft.com/office/powerpoint/2010/main" val="26088202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70205" y="815546"/>
            <a:ext cx="8674444" cy="1077218"/>
          </a:xfrm>
          <a:prstGeom prst="rect">
            <a:avLst/>
          </a:prstGeom>
          <a:noFill/>
        </p:spPr>
        <p:txBody>
          <a:bodyPr wrap="square" rtlCol="0">
            <a:spAutoFit/>
          </a:bodyPr>
          <a:lstStyle/>
          <a:p>
            <a:r>
              <a:rPr lang="vi-VN" sz="3200" i="1" dirty="0"/>
              <a:t>5</a:t>
            </a:r>
            <a:r>
              <a:rPr lang="en-US" sz="3200" i="1" dirty="0"/>
              <a:t>.</a:t>
            </a:r>
            <a:r>
              <a:rPr lang="vi-VN" sz="3200" i="1" dirty="0"/>
              <a:t>3.1.2. Quan hệ lợi ích kinh tế</a:t>
            </a:r>
            <a:endParaRPr lang="en-US" sz="3200" dirty="0"/>
          </a:p>
          <a:p>
            <a:endParaRPr lang="en-US" sz="3200" dirty="0"/>
          </a:p>
        </p:txBody>
      </p:sp>
      <p:sp>
        <p:nvSpPr>
          <p:cNvPr id="3" name="TextBox 2"/>
          <p:cNvSpPr txBox="1"/>
          <p:nvPr/>
        </p:nvSpPr>
        <p:spPr>
          <a:xfrm>
            <a:off x="642551" y="1606378"/>
            <a:ext cx="10602098" cy="3970318"/>
          </a:xfrm>
          <a:prstGeom prst="rect">
            <a:avLst/>
          </a:prstGeom>
          <a:noFill/>
        </p:spPr>
        <p:txBody>
          <a:bodyPr wrap="square" rtlCol="0">
            <a:spAutoFit/>
          </a:bodyPr>
          <a:lstStyle/>
          <a:p>
            <a:r>
              <a:rPr lang="vi-VN" sz="2800" dirty="0"/>
              <a:t>* Khái niệm về quan hệ lợi ích kinh tế</a:t>
            </a:r>
            <a:endParaRPr lang="en-US" sz="2800" dirty="0"/>
          </a:p>
          <a:p>
            <a:r>
              <a:rPr lang="vi-VN" sz="2800" dirty="0"/>
              <a:t>Quan hệ lợi ích kinh tể là sự thiết lập những tương tác giữa con người với con người, giữa các cộng đồng người, giữa các tổ chức kinh tế, giữa các bộ phận hợp thành nền kinh tế, giữa con người với tổ chức kinh tế, giữa quốc gia với phần còn lại của thế giới nhằm mục tiêu xác lập các lợi ích kinh tế trong mối liên hệ với trình độ phát triển của lực lượng sản xuất và kiến trúc thượng tầng tương ứng của một giai đoạn phát triển xã hội nhất định.</a:t>
            </a:r>
            <a:endParaRPr lang="en-US" sz="2800" dirty="0"/>
          </a:p>
          <a:p>
            <a:endParaRPr lang="en-US" sz="2800" dirty="0"/>
          </a:p>
        </p:txBody>
      </p:sp>
    </p:spTree>
    <p:extLst>
      <p:ext uri="{BB962C8B-B14F-4D97-AF65-F5344CB8AC3E}">
        <p14:creationId xmlns:p14="http://schemas.microsoft.com/office/powerpoint/2010/main" val="4339740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4973" y="1742303"/>
            <a:ext cx="10342605" cy="2677656"/>
          </a:xfrm>
          <a:prstGeom prst="rect">
            <a:avLst/>
          </a:prstGeom>
          <a:noFill/>
        </p:spPr>
        <p:txBody>
          <a:bodyPr wrap="square" rtlCol="0">
            <a:spAutoFit/>
          </a:bodyPr>
          <a:lstStyle/>
          <a:p>
            <a:r>
              <a:rPr lang="vi-VN" sz="2800" dirty="0"/>
              <a:t>* </a:t>
            </a:r>
            <a:r>
              <a:rPr lang="vi-VN" sz="2800" dirty="0">
                <a:solidFill>
                  <a:srgbClr val="FF0000"/>
                </a:solidFill>
              </a:rPr>
              <a:t>Sự thống nhất và mâu thuẫn trong các quan hộ lợi ích kinh tế</a:t>
            </a:r>
            <a:endParaRPr lang="en-US" sz="2800" dirty="0">
              <a:solidFill>
                <a:srgbClr val="FF0000"/>
              </a:solidFill>
            </a:endParaRPr>
          </a:p>
          <a:p>
            <a:pPr lvl="0"/>
            <a:endParaRPr lang="en-US" sz="2800" dirty="0"/>
          </a:p>
          <a:p>
            <a:pPr lvl="0"/>
            <a:r>
              <a:rPr lang="vi-VN" sz="2800" dirty="0"/>
              <a:t>Sự thống nhất của quan hệ lợi ích kinh tế:</a:t>
            </a:r>
            <a:endParaRPr lang="en-US" sz="2800" dirty="0"/>
          </a:p>
          <a:p>
            <a:pPr lvl="0"/>
            <a:endParaRPr lang="en-US" sz="2800" dirty="0"/>
          </a:p>
          <a:p>
            <a:r>
              <a:rPr lang="vi-VN" sz="2800" dirty="0"/>
              <a:t>Trong nền kinh tế thị trường, sản lượng đầu ra và các yếu tố đầu vào đều được thực hiện thông qua thị trường</a:t>
            </a:r>
            <a:endParaRPr lang="en-US" sz="2800" dirty="0"/>
          </a:p>
        </p:txBody>
      </p:sp>
    </p:spTree>
    <p:extLst>
      <p:ext uri="{BB962C8B-B14F-4D97-AF65-F5344CB8AC3E}">
        <p14:creationId xmlns:p14="http://schemas.microsoft.com/office/powerpoint/2010/main" val="2578761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5546" y="1767016"/>
            <a:ext cx="10429103" cy="2554545"/>
          </a:xfrm>
          <a:prstGeom prst="rect">
            <a:avLst/>
          </a:prstGeom>
          <a:noFill/>
        </p:spPr>
        <p:txBody>
          <a:bodyPr wrap="square" rtlCol="0">
            <a:spAutoFit/>
          </a:bodyPr>
          <a:lstStyle/>
          <a:p>
            <a:pPr lvl="0"/>
            <a:r>
              <a:rPr lang="vi-VN" sz="3200" dirty="0">
                <a:solidFill>
                  <a:srgbClr val="FF0000"/>
                </a:solidFill>
              </a:rPr>
              <a:t>Sự mâu thuẫn trong quan hệ lợi ích kinh tế</a:t>
            </a:r>
            <a:endParaRPr lang="en-US" sz="3200" dirty="0">
              <a:solidFill>
                <a:srgbClr val="FF0000"/>
              </a:solidFill>
            </a:endParaRPr>
          </a:p>
          <a:p>
            <a:r>
              <a:rPr lang="vi-VN" sz="3200" dirty="0"/>
              <a:t>Lợi ích của những chủ thể kinh tế có quan hệ trực tiếp trong việc phân phối kết quả hoạt động sản xuất, kinh doanh cũng có thể mâu thuẫn với nhau vì tại một thời điềm kết quả hoạt động sản xuất, kinh doanh là xác định</a:t>
            </a:r>
            <a:endParaRPr lang="en-US" sz="3200" dirty="0"/>
          </a:p>
        </p:txBody>
      </p:sp>
    </p:spTree>
    <p:extLst>
      <p:ext uri="{BB962C8B-B14F-4D97-AF65-F5344CB8AC3E}">
        <p14:creationId xmlns:p14="http://schemas.microsoft.com/office/powerpoint/2010/main" val="36095246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25611" y="1433384"/>
            <a:ext cx="10305535" cy="4031873"/>
          </a:xfrm>
          <a:prstGeom prst="rect">
            <a:avLst/>
          </a:prstGeom>
          <a:noFill/>
        </p:spPr>
        <p:txBody>
          <a:bodyPr wrap="square" rtlCol="0">
            <a:spAutoFit/>
          </a:bodyPr>
          <a:lstStyle/>
          <a:p>
            <a:r>
              <a:rPr lang="vi-VN" sz="3200" dirty="0">
                <a:solidFill>
                  <a:srgbClr val="FF0000"/>
                </a:solidFill>
                <a:latin typeface="+mj-lt"/>
              </a:rPr>
              <a:t>Các nhân tố ảnh hưởng đến quan hệ lợi ích kinh tế</a:t>
            </a:r>
            <a:endParaRPr lang="en-US" sz="3200" dirty="0">
              <a:solidFill>
                <a:srgbClr val="FF0000"/>
              </a:solidFill>
              <a:latin typeface="+mj-lt"/>
            </a:endParaRPr>
          </a:p>
          <a:p>
            <a:r>
              <a:rPr lang="vi-VN" sz="3200" i="1" dirty="0">
                <a:latin typeface="+mj-lt"/>
              </a:rPr>
              <a:t>Thứ nh</a:t>
            </a:r>
            <a:r>
              <a:rPr lang="en-US" sz="3200" i="1" dirty="0">
                <a:latin typeface="+mj-lt"/>
              </a:rPr>
              <a:t>ấ</a:t>
            </a:r>
            <a:r>
              <a:rPr lang="vi-VN" sz="3200" i="1" dirty="0">
                <a:latin typeface="+mj-lt"/>
              </a:rPr>
              <a:t>t, trình độ phát triển của lực lượng sản xu</a:t>
            </a:r>
            <a:r>
              <a:rPr lang="en-US" sz="3200" i="1" dirty="0">
                <a:latin typeface="+mj-lt"/>
              </a:rPr>
              <a:t>ất</a:t>
            </a:r>
          </a:p>
          <a:p>
            <a:r>
              <a:rPr lang="en-US" sz="3200" i="1" dirty="0">
                <a:latin typeface="+mj-lt"/>
              </a:rPr>
              <a:t>Th</a:t>
            </a:r>
            <a:r>
              <a:rPr lang="vi-VN" sz="3200" i="1" dirty="0">
                <a:latin typeface="+mj-lt"/>
              </a:rPr>
              <a:t>ứ hai, địa vị của chủ thể trong hệ thống quan hệ s</a:t>
            </a:r>
            <a:r>
              <a:rPr lang="en-US" sz="3200" i="1" dirty="0">
                <a:latin typeface="+mj-lt"/>
              </a:rPr>
              <a:t>ả</a:t>
            </a:r>
            <a:r>
              <a:rPr lang="vi-VN" sz="3200" i="1" dirty="0">
                <a:latin typeface="+mj-lt"/>
              </a:rPr>
              <a:t>n xuất xã hội.</a:t>
            </a:r>
            <a:endParaRPr lang="en-US" sz="3200" dirty="0">
              <a:latin typeface="+mj-lt"/>
            </a:endParaRPr>
          </a:p>
          <a:p>
            <a:r>
              <a:rPr lang="vi-VN" sz="3200" i="1" dirty="0">
                <a:latin typeface="+mj-lt"/>
              </a:rPr>
              <a:t>Thứ ba, chỉnh sách phân phối thu nhập của nhà nước.</a:t>
            </a:r>
            <a:endParaRPr lang="en-US" sz="3200" dirty="0">
              <a:latin typeface="+mj-lt"/>
            </a:endParaRPr>
          </a:p>
          <a:p>
            <a:r>
              <a:rPr lang="vi-VN" sz="3200" i="1" dirty="0">
                <a:latin typeface="+mj-lt"/>
              </a:rPr>
              <a:t>Thứ tư, hội nhập kinh tế quốc tế.</a:t>
            </a:r>
            <a:endParaRPr lang="en-US" sz="3200" dirty="0">
              <a:latin typeface="+mj-lt"/>
            </a:endParaRPr>
          </a:p>
          <a:p>
            <a:endParaRPr lang="en-US" sz="3200" dirty="0">
              <a:latin typeface="+mj-lt"/>
            </a:endParaRPr>
          </a:p>
          <a:p>
            <a:endParaRPr lang="en-US" sz="3200" dirty="0">
              <a:latin typeface="+mj-lt"/>
            </a:endParaRPr>
          </a:p>
        </p:txBody>
      </p:sp>
    </p:spTree>
    <p:extLst>
      <p:ext uri="{BB962C8B-B14F-4D97-AF65-F5344CB8AC3E}">
        <p14:creationId xmlns:p14="http://schemas.microsoft.com/office/powerpoint/2010/main" val="42713493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02043" y="1309816"/>
            <a:ext cx="10144898" cy="3108543"/>
          </a:xfrm>
          <a:prstGeom prst="rect">
            <a:avLst/>
          </a:prstGeom>
          <a:noFill/>
        </p:spPr>
        <p:txBody>
          <a:bodyPr wrap="square" rtlCol="0">
            <a:spAutoFit/>
          </a:bodyPr>
          <a:lstStyle/>
          <a:p>
            <a:r>
              <a:rPr lang="vi-VN" sz="2800" dirty="0">
                <a:solidFill>
                  <a:srgbClr val="FF0000"/>
                </a:solidFill>
                <a:latin typeface="+mj-lt"/>
              </a:rPr>
              <a:t>* Một số quan hệ lợi ích kinh tế cơ bản trong nền kinh tế thị trường</a:t>
            </a:r>
            <a:endParaRPr lang="en-US" sz="2800" dirty="0">
              <a:solidFill>
                <a:srgbClr val="FF0000"/>
              </a:solidFill>
              <a:latin typeface="+mj-lt"/>
            </a:endParaRPr>
          </a:p>
          <a:p>
            <a:r>
              <a:rPr lang="vi-VN" sz="2800" i="1" dirty="0">
                <a:latin typeface="+mj-lt"/>
              </a:rPr>
              <a:t>Một là,</a:t>
            </a:r>
            <a:r>
              <a:rPr lang="vi-VN" sz="2800" dirty="0">
                <a:latin typeface="+mj-lt"/>
              </a:rPr>
              <a:t> quan hệ lợi ích giữa người lao động và người sử dụng lao động.</a:t>
            </a:r>
            <a:endParaRPr lang="en-US" sz="2800" dirty="0">
              <a:latin typeface="+mj-lt"/>
            </a:endParaRPr>
          </a:p>
          <a:p>
            <a:r>
              <a:rPr lang="vi-VN" sz="2800" i="1" dirty="0">
                <a:latin typeface="+mj-lt"/>
              </a:rPr>
              <a:t>Hai là,</a:t>
            </a:r>
            <a:r>
              <a:rPr lang="vi-VN" sz="2800" dirty="0">
                <a:latin typeface="+mj-lt"/>
              </a:rPr>
              <a:t> quan hệ lợi ích giữa những người sừ dụng lao động.</a:t>
            </a:r>
            <a:endParaRPr lang="en-US" sz="2800" dirty="0">
              <a:latin typeface="+mj-lt"/>
            </a:endParaRPr>
          </a:p>
          <a:p>
            <a:r>
              <a:rPr lang="vi-VN" sz="2800" i="1" dirty="0">
                <a:latin typeface="+mj-lt"/>
              </a:rPr>
              <a:t>Ba </a:t>
            </a:r>
            <a:r>
              <a:rPr lang="en-US" sz="2800" i="1" dirty="0">
                <a:latin typeface="+mj-lt"/>
              </a:rPr>
              <a:t>là</a:t>
            </a:r>
            <a:r>
              <a:rPr lang="vi-VN" sz="2800" i="1" dirty="0">
                <a:latin typeface="+mj-lt"/>
              </a:rPr>
              <a:t>,</a:t>
            </a:r>
            <a:r>
              <a:rPr lang="vi-VN" sz="2800" dirty="0">
                <a:latin typeface="+mj-lt"/>
              </a:rPr>
              <a:t> quan hệ lợi ích giữa những người lao động.</a:t>
            </a:r>
            <a:endParaRPr lang="en-US" sz="2800" dirty="0">
              <a:latin typeface="+mj-lt"/>
            </a:endParaRPr>
          </a:p>
          <a:p>
            <a:r>
              <a:rPr lang="vi-VN" sz="2800" i="1" dirty="0">
                <a:latin typeface="+mj-lt"/>
              </a:rPr>
              <a:t>B</a:t>
            </a:r>
            <a:r>
              <a:rPr lang="en-US" sz="2800" i="1" dirty="0">
                <a:latin typeface="+mj-lt"/>
              </a:rPr>
              <a:t>ốn</a:t>
            </a:r>
            <a:r>
              <a:rPr lang="vi-VN" sz="2800" i="1" dirty="0">
                <a:latin typeface="+mj-lt"/>
              </a:rPr>
              <a:t> là,</a:t>
            </a:r>
            <a:r>
              <a:rPr lang="vi-VN" sz="2800" dirty="0">
                <a:latin typeface="+mj-lt"/>
              </a:rPr>
              <a:t> quan hệ giữa lợi ích cá nhân, lợi ích nhóm và lợi ích xã hội.</a:t>
            </a:r>
            <a:endParaRPr lang="en-US" sz="2800" dirty="0">
              <a:latin typeface="+mj-lt"/>
            </a:endParaRPr>
          </a:p>
          <a:p>
            <a:endParaRPr lang="en-US" sz="2800" dirty="0">
              <a:latin typeface="+mj-lt"/>
            </a:endParaRPr>
          </a:p>
        </p:txBody>
      </p:sp>
    </p:spTree>
    <p:extLst>
      <p:ext uri="{BB962C8B-B14F-4D97-AF65-F5344CB8AC3E}">
        <p14:creationId xmlns:p14="http://schemas.microsoft.com/office/powerpoint/2010/main" val="6919515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7265" y="1482811"/>
            <a:ext cx="10602097" cy="3539430"/>
          </a:xfrm>
          <a:prstGeom prst="rect">
            <a:avLst/>
          </a:prstGeom>
          <a:noFill/>
        </p:spPr>
        <p:txBody>
          <a:bodyPr wrap="square" rtlCol="0">
            <a:spAutoFit/>
          </a:bodyPr>
          <a:lstStyle/>
          <a:p>
            <a:r>
              <a:rPr lang="vi-VN" sz="3200" dirty="0">
                <a:solidFill>
                  <a:srgbClr val="FF0000"/>
                </a:solidFill>
              </a:rPr>
              <a:t>* Phương thức thực hiện lợi ích kinh tế trong các quan hệ lợi ích chủ yếu</a:t>
            </a:r>
            <a:endParaRPr lang="en-US" sz="3200" dirty="0">
              <a:solidFill>
                <a:srgbClr val="FF0000"/>
              </a:solidFill>
            </a:endParaRPr>
          </a:p>
          <a:p>
            <a:r>
              <a:rPr lang="vi-VN" sz="3200" i="1" dirty="0"/>
              <a:t>Thứ nhất,</a:t>
            </a:r>
            <a:r>
              <a:rPr lang="vi-VN" sz="3200" dirty="0"/>
              <a:t> thực hiện lợi ích kinh tế theo nguyên tắc thị trường.</a:t>
            </a:r>
            <a:endParaRPr lang="en-US" sz="3200" dirty="0"/>
          </a:p>
          <a:p>
            <a:r>
              <a:rPr lang="vi-VN" sz="3200" i="1" dirty="0"/>
              <a:t>Thứ hai,</a:t>
            </a:r>
            <a:r>
              <a:rPr lang="vi-VN" sz="3200" dirty="0"/>
              <a:t> thực hiện lợi ích kinh tế theo chính sách của nhà nước và vai trò cùa các tồ chức xã hội.</a:t>
            </a:r>
            <a:endParaRPr lang="en-US" sz="3200" dirty="0"/>
          </a:p>
          <a:p>
            <a:endParaRPr lang="en-US" sz="3200" dirty="0"/>
          </a:p>
        </p:txBody>
      </p:sp>
    </p:spTree>
    <p:extLst>
      <p:ext uri="{BB962C8B-B14F-4D97-AF65-F5344CB8AC3E}">
        <p14:creationId xmlns:p14="http://schemas.microsoft.com/office/powerpoint/2010/main" val="3637648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08422" y="630195"/>
            <a:ext cx="9230497" cy="1200329"/>
          </a:xfrm>
          <a:prstGeom prst="rect">
            <a:avLst/>
          </a:prstGeom>
          <a:noFill/>
        </p:spPr>
        <p:txBody>
          <a:bodyPr wrap="square" rtlCol="0">
            <a:spAutoFit/>
          </a:bodyPr>
          <a:lstStyle/>
          <a:p>
            <a:r>
              <a:rPr lang="vi-VN" sz="3600" dirty="0">
                <a:solidFill>
                  <a:srgbClr val="FF0000"/>
                </a:solidFill>
                <a:latin typeface="+mj-lt"/>
              </a:rPr>
              <a:t>5.3.2. Vai trò nhà nước trong bảo đảm hài hòa các quan hệ l</a:t>
            </a:r>
            <a:r>
              <a:rPr lang="en-US" sz="3600" dirty="0">
                <a:solidFill>
                  <a:srgbClr val="FF0000"/>
                </a:solidFill>
                <a:latin typeface="+mj-lt"/>
              </a:rPr>
              <a:t>ợi</a:t>
            </a:r>
            <a:r>
              <a:rPr lang="vi-VN" sz="3600" dirty="0">
                <a:solidFill>
                  <a:srgbClr val="FF0000"/>
                </a:solidFill>
                <a:latin typeface="+mj-lt"/>
              </a:rPr>
              <a:t> ích</a:t>
            </a:r>
            <a:endParaRPr lang="en-US" sz="3600" dirty="0">
              <a:solidFill>
                <a:srgbClr val="FF0000"/>
              </a:solidFill>
              <a:latin typeface="+mj-lt"/>
            </a:endParaRPr>
          </a:p>
        </p:txBody>
      </p:sp>
      <p:sp>
        <p:nvSpPr>
          <p:cNvPr id="3" name="TextBox 2"/>
          <p:cNvSpPr txBox="1"/>
          <p:nvPr/>
        </p:nvSpPr>
        <p:spPr>
          <a:xfrm>
            <a:off x="988541" y="2187146"/>
            <a:ext cx="10280821" cy="1200329"/>
          </a:xfrm>
          <a:prstGeom prst="rect">
            <a:avLst/>
          </a:prstGeom>
          <a:noFill/>
        </p:spPr>
        <p:txBody>
          <a:bodyPr wrap="square" rtlCol="0">
            <a:spAutoFit/>
          </a:bodyPr>
          <a:lstStyle/>
          <a:p>
            <a:pPr lvl="0"/>
            <a:r>
              <a:rPr lang="en-US" sz="2400" i="1" dirty="0"/>
              <a:t>5.3.2.1. </a:t>
            </a:r>
            <a:r>
              <a:rPr lang="vi-VN" sz="2400" i="1" dirty="0"/>
              <a:t>Bảo vệ lợi ích hợp pháp, tạo môi trường thuận lợi cho hoạt động tìm kiếm lợi ích của các chủ thế kinh tế</a:t>
            </a:r>
            <a:endParaRPr lang="en-US" sz="2400" dirty="0"/>
          </a:p>
          <a:p>
            <a:endParaRPr lang="en-US" sz="2400" dirty="0"/>
          </a:p>
        </p:txBody>
      </p:sp>
      <p:sp>
        <p:nvSpPr>
          <p:cNvPr id="4" name="TextBox 3"/>
          <p:cNvSpPr txBox="1"/>
          <p:nvPr/>
        </p:nvSpPr>
        <p:spPr>
          <a:xfrm>
            <a:off x="988541" y="3237470"/>
            <a:ext cx="10008973" cy="2246769"/>
          </a:xfrm>
          <a:prstGeom prst="rect">
            <a:avLst/>
          </a:prstGeom>
          <a:noFill/>
        </p:spPr>
        <p:txBody>
          <a:bodyPr wrap="square" rtlCol="0">
            <a:spAutoFit/>
          </a:bodyPr>
          <a:lstStyle/>
          <a:p>
            <a:pPr indent="519113"/>
            <a:r>
              <a:rPr lang="vi-VN" sz="2000" dirty="0"/>
              <a:t>Tạo lập môi trường thuận lợi cho các hoạt động kinh tế đòi hỏi phải xây dựng được môi trường pháp luật thông thoáng, bảo vệ được lợi ích chính đáng của các chủ thể kinh tế trong và ngoài nước, đặc biệt là lợi ích của đất nước. </a:t>
            </a:r>
            <a:endParaRPr lang="en-US" sz="2000" dirty="0"/>
          </a:p>
          <a:p>
            <a:pPr indent="519113"/>
            <a:r>
              <a:rPr lang="vi-VN" sz="2000" dirty="0"/>
              <a:t>Tạo lập môi trường thuận lợi cho các hoạt động kinh tế tất yếu phải đầu tư xây dựng kết cấu hạ tầng của nền kinh tế </a:t>
            </a:r>
            <a:endParaRPr lang="en-US" sz="2000" dirty="0"/>
          </a:p>
          <a:p>
            <a:pPr indent="519113"/>
            <a:r>
              <a:rPr lang="vi-VN" sz="2000" dirty="0"/>
              <a:t>Tạo lập môi trường thuận lợi cho các hoạt động kinh tế còn là tạo lập môi trường văn hóa phù hợp với yêu cầu phát triển kinh tế thị trường. </a:t>
            </a:r>
            <a:endParaRPr lang="en-US" sz="2000" dirty="0"/>
          </a:p>
        </p:txBody>
      </p:sp>
    </p:spTree>
    <p:extLst>
      <p:ext uri="{BB962C8B-B14F-4D97-AF65-F5344CB8AC3E}">
        <p14:creationId xmlns:p14="http://schemas.microsoft.com/office/powerpoint/2010/main" val="33146708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11859" y="667265"/>
            <a:ext cx="9489990" cy="1569660"/>
          </a:xfrm>
          <a:prstGeom prst="rect">
            <a:avLst/>
          </a:prstGeom>
          <a:noFill/>
        </p:spPr>
        <p:txBody>
          <a:bodyPr wrap="square" rtlCol="0">
            <a:spAutoFit/>
          </a:bodyPr>
          <a:lstStyle/>
          <a:p>
            <a:pPr lvl="0"/>
            <a:r>
              <a:rPr lang="en-US" sz="3200" i="1" dirty="0">
                <a:solidFill>
                  <a:srgbClr val="FF0000"/>
                </a:solidFill>
                <a:latin typeface="Times New Roman (Headings)"/>
              </a:rPr>
              <a:t>5.3.2.2. </a:t>
            </a:r>
            <a:r>
              <a:rPr lang="vi-VN" sz="3200" i="1" dirty="0">
                <a:solidFill>
                  <a:srgbClr val="FF0000"/>
                </a:solidFill>
                <a:latin typeface="Times New Roman (Headings)"/>
              </a:rPr>
              <a:t>Điều hòa lợi ích giữa cá nh</a:t>
            </a:r>
            <a:r>
              <a:rPr lang="en-US" sz="3200" i="1" dirty="0">
                <a:solidFill>
                  <a:srgbClr val="FF0000"/>
                </a:solidFill>
                <a:latin typeface="Times New Roman (Headings)"/>
              </a:rPr>
              <a:t>â</a:t>
            </a:r>
            <a:r>
              <a:rPr lang="vi-VN" sz="3200" i="1" dirty="0">
                <a:solidFill>
                  <a:srgbClr val="FF0000"/>
                </a:solidFill>
                <a:latin typeface="Times New Roman (Headings)"/>
              </a:rPr>
              <a:t>n - doanh nghiệp - xã hội</a:t>
            </a:r>
            <a:endParaRPr lang="en-US" sz="3200" dirty="0">
              <a:solidFill>
                <a:srgbClr val="FF0000"/>
              </a:solidFill>
              <a:latin typeface="Times New Roman (Headings)"/>
            </a:endParaRPr>
          </a:p>
          <a:p>
            <a:endParaRPr lang="en-US" sz="3200" dirty="0">
              <a:solidFill>
                <a:srgbClr val="FF0000"/>
              </a:solidFill>
              <a:latin typeface="Times New Roman (Headings)"/>
            </a:endParaRPr>
          </a:p>
        </p:txBody>
      </p:sp>
      <p:sp>
        <p:nvSpPr>
          <p:cNvPr id="3" name="TextBox 2"/>
          <p:cNvSpPr txBox="1"/>
          <p:nvPr/>
        </p:nvSpPr>
        <p:spPr>
          <a:xfrm>
            <a:off x="667265" y="2706130"/>
            <a:ext cx="10663881" cy="1569660"/>
          </a:xfrm>
          <a:prstGeom prst="rect">
            <a:avLst/>
          </a:prstGeom>
          <a:noFill/>
        </p:spPr>
        <p:txBody>
          <a:bodyPr wrap="square" rtlCol="0">
            <a:spAutoFit/>
          </a:bodyPr>
          <a:lstStyle/>
          <a:p>
            <a:r>
              <a:rPr lang="vi-VN" sz="3200" dirty="0"/>
              <a:t>Phát triển mạnh mẽ lực lượng sản xuất, phát triển khoa học - công nghệ để nâng cao thu nhập cho các chủ thể kinh tế. </a:t>
            </a:r>
            <a:endParaRPr lang="en-US" sz="3200" dirty="0"/>
          </a:p>
        </p:txBody>
      </p:sp>
    </p:spTree>
    <p:extLst>
      <p:ext uri="{BB962C8B-B14F-4D97-AF65-F5344CB8AC3E}">
        <p14:creationId xmlns:p14="http://schemas.microsoft.com/office/powerpoint/2010/main" val="11329980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44346" y="457200"/>
            <a:ext cx="9119286" cy="2062103"/>
          </a:xfrm>
          <a:prstGeom prst="rect">
            <a:avLst/>
          </a:prstGeom>
          <a:noFill/>
        </p:spPr>
        <p:txBody>
          <a:bodyPr wrap="square" rtlCol="0">
            <a:spAutoFit/>
          </a:bodyPr>
          <a:lstStyle/>
          <a:p>
            <a:pPr lvl="0"/>
            <a:r>
              <a:rPr lang="en-US" sz="3200" i="1" dirty="0">
                <a:solidFill>
                  <a:srgbClr val="FF0000"/>
                </a:solidFill>
                <a:latin typeface="Times New Roman (Headings)"/>
              </a:rPr>
              <a:t>5.3.2.3. </a:t>
            </a:r>
            <a:r>
              <a:rPr lang="vi-VN" sz="3200" i="1" dirty="0">
                <a:solidFill>
                  <a:srgbClr val="FF0000"/>
                </a:solidFill>
                <a:latin typeface="Times New Roman (Headings)"/>
              </a:rPr>
              <a:t>Kiểm soát, ng</a:t>
            </a:r>
            <a:r>
              <a:rPr lang="en-US" sz="3200" i="1" dirty="0">
                <a:solidFill>
                  <a:srgbClr val="FF0000"/>
                </a:solidFill>
                <a:latin typeface="Times New Roman (Headings)"/>
              </a:rPr>
              <a:t>ă</a:t>
            </a:r>
            <a:r>
              <a:rPr lang="vi-VN" sz="3200" i="1" dirty="0">
                <a:solidFill>
                  <a:srgbClr val="FF0000"/>
                </a:solidFill>
                <a:latin typeface="Times New Roman (Headings)"/>
              </a:rPr>
              <a:t>n ngừa các quan hệ ìợi ích có ảnh hưởng tiêu cực đối vời sự phát triển xã hội</a:t>
            </a:r>
            <a:endParaRPr lang="en-US" sz="3200" dirty="0">
              <a:solidFill>
                <a:srgbClr val="FF0000"/>
              </a:solidFill>
              <a:latin typeface="Times New Roman (Headings)"/>
            </a:endParaRPr>
          </a:p>
          <a:p>
            <a:endParaRPr lang="en-US" sz="3200" dirty="0">
              <a:solidFill>
                <a:srgbClr val="FF0000"/>
              </a:solidFill>
              <a:latin typeface="Times New Roman (Headings)"/>
            </a:endParaRPr>
          </a:p>
        </p:txBody>
      </p:sp>
      <p:sp>
        <p:nvSpPr>
          <p:cNvPr id="3" name="TextBox 2"/>
          <p:cNvSpPr txBox="1"/>
          <p:nvPr/>
        </p:nvSpPr>
        <p:spPr>
          <a:xfrm>
            <a:off x="815546" y="2730843"/>
            <a:ext cx="10589740" cy="1569660"/>
          </a:xfrm>
          <a:prstGeom prst="rect">
            <a:avLst/>
          </a:prstGeom>
          <a:noFill/>
        </p:spPr>
        <p:txBody>
          <a:bodyPr wrap="square" rtlCol="0">
            <a:spAutoFit/>
          </a:bodyPr>
          <a:lstStyle/>
          <a:p>
            <a:r>
              <a:rPr lang="vi-VN" sz="3200" dirty="0"/>
              <a:t>Nhà nước phải tích cực, chủ động thực hiện công bằng trong phân phối thu nhập.</a:t>
            </a:r>
            <a:endParaRPr lang="en-US" sz="3200" dirty="0"/>
          </a:p>
          <a:p>
            <a:endParaRPr lang="en-US" sz="3200" dirty="0"/>
          </a:p>
        </p:txBody>
      </p:sp>
    </p:spTree>
    <p:extLst>
      <p:ext uri="{BB962C8B-B14F-4D97-AF65-F5344CB8AC3E}">
        <p14:creationId xmlns:p14="http://schemas.microsoft.com/office/powerpoint/2010/main" val="11713596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19632" y="741405"/>
            <a:ext cx="9069860" cy="1569660"/>
          </a:xfrm>
          <a:prstGeom prst="rect">
            <a:avLst/>
          </a:prstGeom>
          <a:noFill/>
        </p:spPr>
        <p:txBody>
          <a:bodyPr wrap="square" rtlCol="0">
            <a:spAutoFit/>
          </a:bodyPr>
          <a:lstStyle/>
          <a:p>
            <a:pPr lvl="0"/>
            <a:r>
              <a:rPr lang="en-US" sz="3200" b="1" i="1" dirty="0">
                <a:solidFill>
                  <a:srgbClr val="FF0000"/>
                </a:solidFill>
                <a:latin typeface="Times New Roman (Headings)"/>
              </a:rPr>
              <a:t>5.3.2.4 </a:t>
            </a:r>
            <a:r>
              <a:rPr lang="vi-VN" sz="3200" b="1" i="1" dirty="0">
                <a:solidFill>
                  <a:srgbClr val="FF0000"/>
                </a:solidFill>
                <a:latin typeface="Times New Roman (Headings)"/>
              </a:rPr>
              <a:t>Giải quyết những mâu thuẫn trong quan hệ lợi ích kinh tế</a:t>
            </a:r>
            <a:endParaRPr lang="en-US" sz="3200" b="1" dirty="0">
              <a:solidFill>
                <a:srgbClr val="FF0000"/>
              </a:solidFill>
              <a:latin typeface="Times New Roman (Headings)"/>
            </a:endParaRPr>
          </a:p>
          <a:p>
            <a:endParaRPr lang="en-US" sz="3200" b="1" dirty="0">
              <a:solidFill>
                <a:srgbClr val="FF0000"/>
              </a:solidFill>
              <a:latin typeface="Times New Roman (Headings)"/>
            </a:endParaRPr>
          </a:p>
        </p:txBody>
      </p:sp>
      <p:sp>
        <p:nvSpPr>
          <p:cNvPr id="3" name="TextBox 2"/>
          <p:cNvSpPr txBox="1"/>
          <p:nvPr/>
        </p:nvSpPr>
        <p:spPr>
          <a:xfrm>
            <a:off x="617838" y="2533135"/>
            <a:ext cx="10824519" cy="2308324"/>
          </a:xfrm>
          <a:prstGeom prst="rect">
            <a:avLst/>
          </a:prstGeom>
          <a:noFill/>
        </p:spPr>
        <p:txBody>
          <a:bodyPr wrap="square" rtlCol="0">
            <a:spAutoFit/>
          </a:bodyPr>
          <a:lstStyle/>
          <a:p>
            <a:r>
              <a:rPr lang="vi-VN" sz="3600" dirty="0">
                <a:latin typeface="+mj-lt"/>
              </a:rPr>
              <a:t>Nguyên t</a:t>
            </a:r>
            <a:r>
              <a:rPr lang="en-US" sz="3600" dirty="0">
                <a:latin typeface="+mj-lt"/>
              </a:rPr>
              <a:t>ắ</a:t>
            </a:r>
            <a:r>
              <a:rPr lang="vi-VN" sz="3600" dirty="0">
                <a:latin typeface="+mj-lt"/>
              </a:rPr>
              <a:t>c giải quyết mâu thuẫn giữa các lợi ích kinh tê là phải có sự tham gia của các bên liên quan, có nhân nhượng và phải đặt lợi ích đât nước lên trên hêt.</a:t>
            </a:r>
            <a:endParaRPr lang="en-US" sz="3600" dirty="0">
              <a:latin typeface="+mj-lt"/>
            </a:endParaRPr>
          </a:p>
          <a:p>
            <a:endParaRPr lang="en-US" sz="3600" dirty="0">
              <a:latin typeface="+mj-lt"/>
            </a:endParaRPr>
          </a:p>
        </p:txBody>
      </p:sp>
    </p:spTree>
    <p:extLst>
      <p:ext uri="{BB962C8B-B14F-4D97-AF65-F5344CB8AC3E}">
        <p14:creationId xmlns:p14="http://schemas.microsoft.com/office/powerpoint/2010/main" val="6541807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321</TotalTime>
  <Words>2658</Words>
  <Application>Microsoft Office PowerPoint</Application>
  <PresentationFormat>Widescreen</PresentationFormat>
  <Paragraphs>111</Paragraphs>
  <Slides>38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Arial</vt:lpstr>
      <vt:lpstr>Arial Unicode MS</vt:lpstr>
      <vt:lpstr>Calibri</vt:lpstr>
      <vt:lpstr>Calibri Light</vt:lpstr>
      <vt:lpstr>Times New Roman</vt:lpstr>
      <vt:lpstr>Times New Roman (Headings)</vt:lpstr>
      <vt:lpstr>VNI-Franko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Toan Le</dc:creator>
  <cp:lastModifiedBy>Thành Lương xuân</cp:lastModifiedBy>
  <cp:revision>26</cp:revision>
  <dcterms:created xsi:type="dcterms:W3CDTF">2020-05-27T05:21:30Z</dcterms:created>
  <dcterms:modified xsi:type="dcterms:W3CDTF">2022-04-25T17:56:36Z</dcterms:modified>
</cp:coreProperties>
</file>