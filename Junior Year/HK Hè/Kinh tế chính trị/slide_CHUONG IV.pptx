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9" r:id="rId2"/>
    <p:sldId id="331" r:id="rId3"/>
    <p:sldId id="332" r:id="rId4"/>
    <p:sldId id="333" r:id="rId5"/>
    <p:sldId id="334" r:id="rId6"/>
    <p:sldId id="335" r:id="rId7"/>
    <p:sldId id="336" r:id="rId8"/>
    <p:sldId id="337" r:id="rId9"/>
    <p:sldId id="338" r:id="rId10"/>
    <p:sldId id="339" r:id="rId11"/>
    <p:sldId id="340" r:id="rId12"/>
    <p:sldId id="341" r:id="rId13"/>
    <p:sldId id="342" r:id="rId14"/>
    <p:sldId id="343" r:id="rId15"/>
    <p:sldId id="349" r:id="rId16"/>
    <p:sldId id="345" r:id="rId17"/>
    <p:sldId id="350" r:id="rId18"/>
    <p:sldId id="351" r:id="rId19"/>
    <p:sldId id="352" r:id="rId20"/>
    <p:sldId id="353" r:id="rId21"/>
    <p:sldId id="354" r:id="rId22"/>
    <p:sldId id="347" r:id="rId23"/>
    <p:sldId id="355" r:id="rId24"/>
    <p:sldId id="356" r:id="rId25"/>
    <p:sldId id="357" r:id="rId26"/>
    <p:sldId id="358" r:id="rId27"/>
    <p:sldId id="359" r:id="rId28"/>
    <p:sldId id="360" r:id="rId29"/>
    <p:sldId id="362" r:id="rId30"/>
    <p:sldId id="363" r:id="rId31"/>
    <p:sldId id="364" r:id="rId32"/>
    <p:sldId id="365" r:id="rId33"/>
    <p:sldId id="366" r:id="rId34"/>
    <p:sldId id="367" r:id="rId35"/>
    <p:sldId id="368" r:id="rId36"/>
    <p:sldId id="361" r:id="rId37"/>
    <p:sldId id="369" r:id="rId38"/>
    <p:sldId id="370" r:id="rId39"/>
    <p:sldId id="371" r:id="rId40"/>
    <p:sldId id="372" r:id="rId41"/>
    <p:sldId id="37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58"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A077A-DCA3-4027-8EA4-C54993451BD8}" type="datetimeFigureOut">
              <a:rPr lang="en-US" smtClean="0"/>
              <a:t>4/26/2022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CB9E80-C4F7-4D02-ABF5-1BCC88D2647C}" type="slidenum">
              <a:rPr lang="en-US" smtClean="0"/>
              <a:t>‹#›</a:t>
            </a:fld>
            <a:endParaRPr lang="en-US"/>
          </a:p>
        </p:txBody>
      </p:sp>
    </p:spTree>
    <p:extLst>
      <p:ext uri="{BB962C8B-B14F-4D97-AF65-F5344CB8AC3E}">
        <p14:creationId xmlns:p14="http://schemas.microsoft.com/office/powerpoint/2010/main" val="2340039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31466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82541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14061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319425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8" name="Footer Placeholder 7">
            <a:extLst>
              <a:ext uri="{FF2B5EF4-FFF2-40B4-BE49-F238E27FC236}">
                <a16:creationId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794086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4" name="Footer Placeholder 3">
            <a:extLst>
              <a:ext uri="{FF2B5EF4-FFF2-40B4-BE49-F238E27FC236}">
                <a16:creationId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575841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3" name="Footer Placeholder 2">
            <a:extLst>
              <a:ext uri="{FF2B5EF4-FFF2-40B4-BE49-F238E27FC236}">
                <a16:creationId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93627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77882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99707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46818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11702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44833" y="995065"/>
            <a:ext cx="5486400" cy="923330"/>
          </a:xfrm>
          <a:prstGeom prst="rect">
            <a:avLst/>
          </a:prstGeom>
        </p:spPr>
        <p:txBody>
          <a:bodyPr>
            <a:spAutoFit/>
          </a:bodyPr>
          <a:lstStyle/>
          <a:p>
            <a:pPr algn="ctr">
              <a:defRPr/>
            </a:pPr>
            <a:r>
              <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Times New Roman" pitchFamily="18" charset="0"/>
                <a:cs typeface="Times New Roman" pitchFamily="18" charset="0"/>
              </a:rPr>
              <a:t>Chương </a:t>
            </a:r>
            <a:r>
              <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VNI-Franko" pitchFamily="2" charset="0"/>
                <a:cs typeface="Times New Roman" pitchFamily="18" charset="0"/>
              </a:rPr>
              <a:t>4</a:t>
            </a:r>
            <a:endPar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VNI-Franko" pitchFamily="2" charset="0"/>
            </a:endParaRPr>
          </a:p>
        </p:txBody>
      </p:sp>
      <p:sp>
        <p:nvSpPr>
          <p:cNvPr id="6" name="Rectangle 5"/>
          <p:cNvSpPr/>
          <p:nvPr/>
        </p:nvSpPr>
        <p:spPr>
          <a:xfrm>
            <a:off x="3962400" y="1696998"/>
            <a:ext cx="8026400" cy="2862322"/>
          </a:xfrm>
          <a:prstGeom prst="rect">
            <a:avLst/>
          </a:prstGeom>
        </p:spPr>
        <p:txBody>
          <a:bodyPr>
            <a:spAutoFit/>
          </a:bodyPr>
          <a:lstStyle/>
          <a:p>
            <a:pPr algn="ctr">
              <a:defRPr/>
            </a:pPr>
            <a:r>
              <a:rPr lang="en-US" sz="6000" b="1" kern="10" dirty="0">
                <a:ln w="9525">
                  <a:solidFill>
                    <a:srgbClr val="FFFF00"/>
                  </a:solidFill>
                  <a:round/>
                  <a:headEnd/>
                  <a:tailEnd/>
                </a:ln>
                <a:solidFill>
                  <a:srgbClr val="FF0000"/>
                </a:solidFill>
                <a:effectLst>
                  <a:outerShdw dist="45791" dir="2021404" algn="ctr" rotWithShape="0">
                    <a:srgbClr val="B2B2B2">
                      <a:alpha val="80000"/>
                    </a:srgbClr>
                  </a:outerShdw>
                </a:effectLst>
                <a:latin typeface="Times New Roman"/>
                <a:cs typeface="Times New Roman"/>
              </a:rPr>
              <a:t>Cạnh tranh và độc quyền trong nền kinh tế thị trường</a:t>
            </a:r>
          </a:p>
        </p:txBody>
      </p:sp>
      <p:pic>
        <p:nvPicPr>
          <p:cNvPr id="5124" name="Picture 3" descr="dungtqChuc-Mung_Sinh_nha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3276601"/>
            <a:ext cx="45720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953043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2400" b="1" dirty="0">
                <a:solidFill>
                  <a:srgbClr val="FF0000"/>
                </a:solidFill>
                <a:latin typeface="Times New Roman" panose="02020603050405020304" pitchFamily="18" charset="0"/>
                <a:cs typeface="Times New Roman" panose="02020603050405020304" pitchFamily="18" charset="0"/>
              </a:rPr>
              <a:t>4.1. </a:t>
            </a:r>
            <a:r>
              <a:rPr lang="vi-VN" sz="2400" b="1" dirty="0">
                <a:solidFill>
                  <a:srgbClr val="FF0000"/>
                </a:solidFill>
                <a:latin typeface="Times New Roman" panose="02020603050405020304" pitchFamily="18" charset="0"/>
                <a:cs typeface="Times New Roman" panose="02020603050405020304" pitchFamily="18" charset="0"/>
              </a:rPr>
              <a:t>CẠNH TRANH Ở C</a:t>
            </a:r>
            <a:r>
              <a:rPr lang="en-US" sz="2400" b="1" dirty="0">
                <a:solidFill>
                  <a:srgbClr val="FF0000"/>
                </a:solidFill>
                <a:latin typeface="Times New Roman" panose="02020603050405020304" pitchFamily="18" charset="0"/>
                <a:cs typeface="Times New Roman" panose="02020603050405020304" pitchFamily="18" charset="0"/>
              </a:rPr>
              <a:t>Ấ</a:t>
            </a:r>
            <a:r>
              <a:rPr lang="vi-VN" sz="2400" b="1" dirty="0">
                <a:solidFill>
                  <a:srgbClr val="FF0000"/>
                </a:solidFill>
                <a:latin typeface="Times New Roman" panose="02020603050405020304" pitchFamily="18" charset="0"/>
                <a:cs typeface="Times New Roman" panose="02020603050405020304" pitchFamily="18" charset="0"/>
              </a:rPr>
              <a:t>P ĐỘ ĐỘC QUYỀN TRONG N</a:t>
            </a:r>
            <a:r>
              <a:rPr lang="en-US" sz="2400" b="1" dirty="0">
                <a:solidFill>
                  <a:srgbClr val="FF0000"/>
                </a:solidFill>
                <a:latin typeface="Times New Roman" panose="02020603050405020304" pitchFamily="18" charset="0"/>
                <a:cs typeface="Times New Roman" panose="02020603050405020304" pitchFamily="18" charset="0"/>
              </a:rPr>
              <a:t>Ề</a:t>
            </a:r>
            <a:r>
              <a:rPr lang="vi-VN" sz="2400" b="1" dirty="0">
                <a:solidFill>
                  <a:srgbClr val="FF0000"/>
                </a:solidFill>
                <a:latin typeface="Times New Roman" panose="02020603050405020304" pitchFamily="18" charset="0"/>
                <a:cs typeface="Times New Roman" panose="02020603050405020304" pitchFamily="18" charset="0"/>
              </a:rPr>
              <a:t>N KINH TẾ THỊ TRƯỜNG</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2493" y="1431235"/>
            <a:ext cx="11100021" cy="1769165"/>
          </a:xfrm>
        </p:spPr>
        <p:txBody>
          <a:bodyPr/>
          <a:lstStyle/>
          <a:p>
            <a:pPr marL="0" lvl="0" indent="0">
              <a:buNone/>
            </a:pPr>
            <a:r>
              <a:rPr lang="en-US" b="1" dirty="0"/>
              <a:t>4.1.1.  </a:t>
            </a:r>
            <a:r>
              <a:rPr lang="vi-VN" b="1" dirty="0"/>
              <a:t>Độc quyền, độc quyền nhà nước và tác động của độc quyền</a:t>
            </a:r>
            <a:endParaRPr lang="en-US" b="1" dirty="0"/>
          </a:p>
          <a:p>
            <a:pPr marL="0" lvl="0" indent="0">
              <a:buNone/>
            </a:pPr>
            <a:r>
              <a:rPr lang="en-US" i="1" dirty="0"/>
              <a:t>4.1.1.1 </a:t>
            </a:r>
            <a:r>
              <a:rPr lang="vi-VN" i="1" dirty="0"/>
              <a:t>Nguyên nhân hình thành độc quyền và độc quyền nhà nước</a:t>
            </a:r>
            <a:endParaRPr lang="en-US" dirty="0"/>
          </a:p>
          <a:p>
            <a:endParaRPr lang="en-US" dirty="0"/>
          </a:p>
        </p:txBody>
      </p:sp>
      <p:sp>
        <p:nvSpPr>
          <p:cNvPr id="4" name="TextBox 3"/>
          <p:cNvSpPr txBox="1"/>
          <p:nvPr/>
        </p:nvSpPr>
        <p:spPr>
          <a:xfrm>
            <a:off x="704335" y="3212757"/>
            <a:ext cx="10577384" cy="1077218"/>
          </a:xfrm>
          <a:prstGeom prst="rect">
            <a:avLst/>
          </a:prstGeom>
          <a:noFill/>
        </p:spPr>
        <p:txBody>
          <a:bodyPr wrap="square" rtlCol="0">
            <a:spAutoFit/>
          </a:bodyPr>
          <a:lstStyle/>
          <a:p>
            <a:pPr lvl="0"/>
            <a:r>
              <a:rPr lang="vi-VN" sz="3200" dirty="0"/>
              <a:t>Độc quyền và nguyên nhân hình thành độc quyền</a:t>
            </a:r>
            <a:endParaRPr lang="en-US" sz="3200" dirty="0"/>
          </a:p>
          <a:p>
            <a:endParaRPr lang="en-US" sz="3200" dirty="0"/>
          </a:p>
        </p:txBody>
      </p:sp>
      <p:sp>
        <p:nvSpPr>
          <p:cNvPr id="5" name="TextBox 4"/>
          <p:cNvSpPr txBox="1"/>
          <p:nvPr/>
        </p:nvSpPr>
        <p:spPr>
          <a:xfrm>
            <a:off x="704335" y="4289975"/>
            <a:ext cx="10416746" cy="1569660"/>
          </a:xfrm>
          <a:prstGeom prst="rect">
            <a:avLst/>
          </a:prstGeom>
          <a:noFill/>
        </p:spPr>
        <p:txBody>
          <a:bodyPr wrap="square" rtlCol="0">
            <a:spAutoFit/>
          </a:bodyPr>
          <a:lstStyle/>
          <a:p>
            <a:pPr indent="346075"/>
            <a:r>
              <a:rPr lang="vi-VN" sz="2400" i="1" dirty="0"/>
              <a:t>Độc quyên là sự liên minh giữa các doanh nghiệp lớn, có khả năng thâu tóm việc sản xuất và tiêu thụ một </a:t>
            </a:r>
            <a:r>
              <a:rPr lang="en-US" sz="2400" i="1" dirty="0" err="1"/>
              <a:t>số</a:t>
            </a:r>
            <a:r>
              <a:rPr lang="en-US" sz="2400" i="1" dirty="0"/>
              <a:t> </a:t>
            </a:r>
            <a:r>
              <a:rPr lang="vi-VN" sz="2400" i="1" dirty="0"/>
              <a:t>loại hàng ho</a:t>
            </a:r>
            <a:r>
              <a:rPr lang="en-US" sz="2400" i="1" dirty="0"/>
              <a:t>á</a:t>
            </a:r>
            <a:r>
              <a:rPr lang="vi-VN" sz="2400" i="1" dirty="0"/>
              <a:t>, c</a:t>
            </a:r>
            <a:r>
              <a:rPr lang="en-US" sz="2400" i="1" dirty="0"/>
              <a:t>ó</a:t>
            </a:r>
            <a:r>
              <a:rPr lang="vi-VN" sz="2400" i="1" dirty="0"/>
              <a:t> khả năng định ra giả cả độc quyền, nhằm thu lợi nhuận độc quyền cao.</a:t>
            </a:r>
            <a:endParaRPr lang="en-US" sz="2400" dirty="0"/>
          </a:p>
          <a:p>
            <a:pPr indent="346075"/>
            <a:endParaRPr lang="en-US" sz="2400" dirty="0"/>
          </a:p>
        </p:txBody>
      </p:sp>
    </p:spTree>
    <p:extLst>
      <p:ext uri="{BB962C8B-B14F-4D97-AF65-F5344CB8AC3E}">
        <p14:creationId xmlns:p14="http://schemas.microsoft.com/office/powerpoint/2010/main" val="180747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vi-VN" dirty="0">
                <a:solidFill>
                  <a:schemeClr val="accent1"/>
                </a:solidFill>
              </a:rPr>
              <a:t>Nguyên nhân hình thành độc quyền</a:t>
            </a:r>
            <a:endParaRPr lang="en-US" dirty="0">
              <a:solidFill>
                <a:schemeClr val="accent1"/>
              </a:solidFill>
            </a:endParaRPr>
          </a:p>
        </p:txBody>
      </p:sp>
      <p:sp>
        <p:nvSpPr>
          <p:cNvPr id="3" name="Content Placeholder 2"/>
          <p:cNvSpPr>
            <a:spLocks noGrp="1"/>
          </p:cNvSpPr>
          <p:nvPr>
            <p:ph idx="1"/>
          </p:nvPr>
        </p:nvSpPr>
        <p:spPr>
          <a:xfrm>
            <a:off x="485995" y="2555700"/>
            <a:ext cx="11100021" cy="2065727"/>
          </a:xfrm>
        </p:spPr>
        <p:txBody>
          <a:bodyPr/>
          <a:lstStyle/>
          <a:p>
            <a:r>
              <a:rPr lang="vi-VN" i="1" dirty="0">
                <a:solidFill>
                  <a:schemeClr val="accent1"/>
                </a:solidFill>
              </a:rPr>
              <a:t>Một là,</a:t>
            </a:r>
            <a:r>
              <a:rPr lang="vi-VN" dirty="0">
                <a:solidFill>
                  <a:schemeClr val="accent1"/>
                </a:solidFill>
              </a:rPr>
              <a:t> sự phát triển của lực lượng sản xuất thúc đẩy các tồ chức độc quyền.</a:t>
            </a:r>
            <a:endParaRPr lang="en-US" dirty="0">
              <a:solidFill>
                <a:schemeClr val="accent1"/>
              </a:solidFill>
            </a:endParaRPr>
          </a:p>
          <a:p>
            <a:r>
              <a:rPr lang="vi-VN" i="1" dirty="0">
                <a:solidFill>
                  <a:schemeClr val="accent1"/>
                </a:solidFill>
              </a:rPr>
              <a:t>Hai là,</a:t>
            </a:r>
            <a:r>
              <a:rPr lang="vi-VN" dirty="0">
                <a:solidFill>
                  <a:schemeClr val="accent1"/>
                </a:solidFill>
              </a:rPr>
              <a:t> do cạnh tranh.</a:t>
            </a:r>
            <a:endParaRPr lang="en-US" dirty="0">
              <a:solidFill>
                <a:schemeClr val="accent1"/>
              </a:solidFill>
            </a:endParaRPr>
          </a:p>
          <a:p>
            <a:r>
              <a:rPr lang="vi-VN" i="1" dirty="0">
                <a:solidFill>
                  <a:schemeClr val="accent1"/>
                </a:solidFill>
              </a:rPr>
              <a:t>Ba là,</a:t>
            </a:r>
            <a:r>
              <a:rPr lang="vi-VN" dirty="0">
                <a:solidFill>
                  <a:schemeClr val="accent1"/>
                </a:solidFill>
              </a:rPr>
              <a:t> do khủng hoảng</a:t>
            </a:r>
            <a:r>
              <a:rPr lang="en-US" dirty="0">
                <a:solidFill>
                  <a:schemeClr val="accent1"/>
                </a:solidFill>
              </a:rPr>
              <a:t>,</a:t>
            </a:r>
            <a:r>
              <a:rPr lang="vi-VN" dirty="0">
                <a:solidFill>
                  <a:schemeClr val="accent1"/>
                </a:solidFill>
              </a:rPr>
              <a:t> sự phát triển của hệ thống tín dụng</a:t>
            </a:r>
            <a:endParaRPr lang="en-US" dirty="0">
              <a:solidFill>
                <a:schemeClr val="accent1"/>
              </a:solidFill>
            </a:endParaRPr>
          </a:p>
        </p:txBody>
      </p:sp>
    </p:spTree>
    <p:extLst>
      <p:ext uri="{BB962C8B-B14F-4D97-AF65-F5344CB8AC3E}">
        <p14:creationId xmlns:p14="http://schemas.microsoft.com/office/powerpoint/2010/main" val="154099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2911" y="550477"/>
            <a:ext cx="9310315" cy="946840"/>
          </a:xfrm>
        </p:spPr>
        <p:txBody>
          <a:bodyPr>
            <a:noAutofit/>
          </a:bodyPr>
          <a:lstStyle/>
          <a:p>
            <a:r>
              <a:rPr lang="vi-VN" sz="3200" dirty="0"/>
              <a:t>* Độc quyền nhà nước - nguyên nhân hình thành và bản chất cùa độc quyền nhà nước</a:t>
            </a:r>
            <a:br>
              <a:rPr lang="en-US" sz="3200" dirty="0"/>
            </a:br>
            <a:endParaRPr lang="en-US" sz="3200" dirty="0"/>
          </a:p>
        </p:txBody>
      </p:sp>
      <p:sp>
        <p:nvSpPr>
          <p:cNvPr id="3" name="Content Placeholder 2"/>
          <p:cNvSpPr>
            <a:spLocks noGrp="1"/>
          </p:cNvSpPr>
          <p:nvPr>
            <p:ph idx="1"/>
          </p:nvPr>
        </p:nvSpPr>
        <p:spPr>
          <a:xfrm>
            <a:off x="572493" y="2397211"/>
            <a:ext cx="11100021" cy="3900222"/>
          </a:xfrm>
        </p:spPr>
        <p:txBody>
          <a:bodyPr/>
          <a:lstStyle/>
          <a:p>
            <a:pPr marL="0" indent="395288">
              <a:buNone/>
            </a:pPr>
            <a:r>
              <a:rPr lang="vi-VN" dirty="0"/>
              <a:t>Độc quyền nhà nước là kiểu độc quyền trong đó nhà nước thực hiện nắm giữ vị thế độc quyền trên cơ sở duy trì sức mạnh của các tố chức độc quyền ở những lĩnh vực then chốt của nền kinh tế nhằm tạo ra sức mạnh vật chất cho sự ổn định cùa chế độ chính trị xã hội ứng với điều kiện phát triển nhất định trong các thời kỳ lịch sử.</a:t>
            </a:r>
            <a:endParaRPr lang="en-US" dirty="0"/>
          </a:p>
        </p:txBody>
      </p:sp>
      <p:sp>
        <p:nvSpPr>
          <p:cNvPr id="4" name="TextBox 3"/>
          <p:cNvSpPr txBox="1"/>
          <p:nvPr/>
        </p:nvSpPr>
        <p:spPr>
          <a:xfrm>
            <a:off x="642551" y="1371600"/>
            <a:ext cx="6796217" cy="523220"/>
          </a:xfrm>
          <a:prstGeom prst="rect">
            <a:avLst/>
          </a:prstGeom>
          <a:noFill/>
        </p:spPr>
        <p:txBody>
          <a:bodyPr wrap="square" rtlCol="0">
            <a:spAutoFit/>
          </a:bodyPr>
          <a:lstStyle/>
          <a:p>
            <a:r>
              <a:rPr lang="vi-VN" sz="2800" i="1" dirty="0"/>
              <a:t>- Độc quyền nhà nước</a:t>
            </a:r>
            <a:endParaRPr lang="en-US" sz="2800" dirty="0"/>
          </a:p>
        </p:txBody>
      </p:sp>
    </p:spTree>
    <p:extLst>
      <p:ext uri="{BB962C8B-B14F-4D97-AF65-F5344CB8AC3E}">
        <p14:creationId xmlns:p14="http://schemas.microsoft.com/office/powerpoint/2010/main" val="2993020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5841" y="513407"/>
            <a:ext cx="9310315" cy="946840"/>
          </a:xfrm>
        </p:spPr>
        <p:txBody>
          <a:bodyPr>
            <a:noAutofit/>
          </a:bodyPr>
          <a:lstStyle/>
          <a:p>
            <a:r>
              <a:rPr lang="vi-VN" sz="3600" i="1" dirty="0"/>
              <a:t>- Nguyên nhân hình thành độc quyền nhà nước trong nền kinh tế thị trường tư bản chủ nghĩa</a:t>
            </a:r>
            <a:br>
              <a:rPr lang="en-US" sz="3600" dirty="0"/>
            </a:br>
            <a:endParaRPr lang="en-US" sz="3600" dirty="0"/>
          </a:p>
        </p:txBody>
      </p:sp>
      <p:sp>
        <p:nvSpPr>
          <p:cNvPr id="3" name="Content Placeholder 2"/>
          <p:cNvSpPr>
            <a:spLocks noGrp="1"/>
          </p:cNvSpPr>
          <p:nvPr>
            <p:ph idx="1"/>
          </p:nvPr>
        </p:nvSpPr>
        <p:spPr/>
        <p:txBody>
          <a:bodyPr/>
          <a:lstStyle/>
          <a:p>
            <a:r>
              <a:rPr lang="vi-VN" i="1" dirty="0"/>
              <a:t>Một là,</a:t>
            </a:r>
            <a:r>
              <a:rPr lang="vi-VN" dirty="0"/>
              <a:t> tích tụ và tập trung vốn càng lớn thì tích tụ và tập trung sản xuất càng cao, sinh ra những cơ cấu kinh tế to lớn đòi hỏi phải có một sự điều tiết từ một trung tâm đối với sản xuất và phân phối.</a:t>
            </a:r>
            <a:endParaRPr lang="en-US" dirty="0"/>
          </a:p>
          <a:p>
            <a:r>
              <a:rPr lang="vi-VN" i="1" dirty="0"/>
              <a:t>Hai là,</a:t>
            </a:r>
            <a:r>
              <a:rPr lang="vi-VN" dirty="0"/>
              <a:t> sự phát triền của phân công lao động xã hội làm xuất hiện một số ngành mới có vai trò quan trọng trong phát triền kinh tế xã hội, nhưng các tồ chức độc quyền tư nhân không thể hoặc không muốn đầu tư, do vốn đầu tư lớn, thu hồi vốn chậm và ít lợi nhuận</a:t>
            </a:r>
            <a:r>
              <a:rPr lang="en-US" dirty="0"/>
              <a:t>.</a:t>
            </a:r>
          </a:p>
        </p:txBody>
      </p:sp>
    </p:spTree>
    <p:extLst>
      <p:ext uri="{BB962C8B-B14F-4D97-AF65-F5344CB8AC3E}">
        <p14:creationId xmlns:p14="http://schemas.microsoft.com/office/powerpoint/2010/main" val="3064702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5423" y="2160284"/>
            <a:ext cx="11100021" cy="2325219"/>
          </a:xfrm>
        </p:spPr>
        <p:txBody>
          <a:bodyPr/>
          <a:lstStyle/>
          <a:p>
            <a:r>
              <a:rPr lang="vi-VN" i="1" dirty="0">
                <a:latin typeface="+mj-lt"/>
              </a:rPr>
              <a:t>Ba là,</a:t>
            </a:r>
            <a:r>
              <a:rPr lang="vi-VN" dirty="0">
                <a:latin typeface="+mj-lt"/>
              </a:rPr>
              <a:t> sự thống trị của độc quyền tư nhân đã làm </a:t>
            </a:r>
            <a:r>
              <a:rPr lang="en-US" dirty="0">
                <a:latin typeface="+mj-lt"/>
              </a:rPr>
              <a:t>g</a:t>
            </a:r>
            <a:r>
              <a:rPr lang="vi-VN" dirty="0">
                <a:latin typeface="+mj-lt"/>
              </a:rPr>
              <a:t>ia tăng sự phân hóa giàu nghèo, làm sâu sắc thêm sự mâu thuẫn giai cấp trong xã hội. </a:t>
            </a:r>
            <a:endParaRPr lang="en-US" dirty="0">
              <a:latin typeface="+mj-lt"/>
            </a:endParaRPr>
          </a:p>
          <a:p>
            <a:r>
              <a:rPr lang="vi-VN" i="1" dirty="0">
                <a:latin typeface="+mj-lt"/>
              </a:rPr>
              <a:t>B</a:t>
            </a:r>
            <a:r>
              <a:rPr lang="en-US" i="1" dirty="0">
                <a:latin typeface="+mj-lt"/>
              </a:rPr>
              <a:t>ố</a:t>
            </a:r>
            <a:r>
              <a:rPr lang="vi-VN" i="1" dirty="0">
                <a:latin typeface="+mj-lt"/>
              </a:rPr>
              <a:t>n là,</a:t>
            </a:r>
            <a:r>
              <a:rPr lang="vi-VN" dirty="0">
                <a:latin typeface="+mj-lt"/>
              </a:rPr>
              <a:t> cùng với </a:t>
            </a:r>
            <a:r>
              <a:rPr lang="en-US" dirty="0">
                <a:latin typeface="+mj-lt"/>
              </a:rPr>
              <a:t>xu</a:t>
            </a:r>
            <a:r>
              <a:rPr lang="vi-VN" dirty="0">
                <a:latin typeface="+mj-lt"/>
              </a:rPr>
              <a:t> hướng </a:t>
            </a:r>
            <a:r>
              <a:rPr lang="en-US" dirty="0">
                <a:latin typeface="+mj-lt"/>
              </a:rPr>
              <a:t>quốc</a:t>
            </a:r>
            <a:r>
              <a:rPr lang="vi-VN" dirty="0">
                <a:latin typeface="+mj-lt"/>
              </a:rPr>
              <a:t> t</a:t>
            </a:r>
            <a:r>
              <a:rPr lang="en-US" dirty="0">
                <a:latin typeface="+mj-lt"/>
              </a:rPr>
              <a:t>ế</a:t>
            </a:r>
            <a:r>
              <a:rPr lang="vi-VN" dirty="0">
                <a:latin typeface="+mj-lt"/>
              </a:rPr>
              <a:t> hoá đời sống kinh tế, sự bành trướng của các liên minh độc quyền quốc tế vấp phải những hàng rào quốc gia dân tộc và xung đột lợi ích với các đối thù tr</a:t>
            </a:r>
            <a:r>
              <a:rPr lang="en-US" dirty="0">
                <a:latin typeface="+mj-lt"/>
              </a:rPr>
              <a:t>ê</a:t>
            </a:r>
            <a:r>
              <a:rPr lang="vi-VN" dirty="0">
                <a:latin typeface="+mj-lt"/>
              </a:rPr>
              <a:t>n thị trường thế giới</a:t>
            </a:r>
            <a:endParaRPr lang="en-US" dirty="0">
              <a:latin typeface="+mj-lt"/>
            </a:endParaRPr>
          </a:p>
        </p:txBody>
      </p:sp>
    </p:spTree>
    <p:extLst>
      <p:ext uri="{BB962C8B-B14F-4D97-AF65-F5344CB8AC3E}">
        <p14:creationId xmlns:p14="http://schemas.microsoft.com/office/powerpoint/2010/main" val="3657362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525764"/>
            <a:ext cx="9310315" cy="946840"/>
          </a:xfrm>
        </p:spPr>
        <p:txBody>
          <a:bodyPr>
            <a:noAutofit/>
          </a:bodyPr>
          <a:lstStyle/>
          <a:p>
            <a:r>
              <a:rPr lang="vi-VN" sz="3200" i="1" dirty="0"/>
              <a:t>- Bản ch</a:t>
            </a:r>
            <a:r>
              <a:rPr lang="en-US" sz="3200" i="1" dirty="0"/>
              <a:t>ấ</a:t>
            </a:r>
            <a:r>
              <a:rPr lang="vi-VN" sz="3200" i="1" dirty="0"/>
              <a:t>t của độc quyền nhà nước trong chủ nghĩa tư bản</a:t>
            </a:r>
            <a:br>
              <a:rPr lang="en-US" sz="3200" dirty="0"/>
            </a:br>
            <a:endParaRPr lang="en-US" sz="3200" dirty="0"/>
          </a:p>
        </p:txBody>
      </p:sp>
      <p:sp>
        <p:nvSpPr>
          <p:cNvPr id="3" name="Content Placeholder 2"/>
          <p:cNvSpPr>
            <a:spLocks noGrp="1"/>
          </p:cNvSpPr>
          <p:nvPr>
            <p:ph idx="1"/>
          </p:nvPr>
        </p:nvSpPr>
        <p:spPr>
          <a:xfrm>
            <a:off x="547779" y="2345635"/>
            <a:ext cx="11100021" cy="1349035"/>
          </a:xfrm>
        </p:spPr>
        <p:txBody>
          <a:bodyPr/>
          <a:lstStyle/>
          <a:p>
            <a:pPr marL="0" indent="234950">
              <a:buNone/>
            </a:pPr>
            <a:r>
              <a:rPr lang="vi-VN" dirty="0"/>
              <a:t>Độc quyền nhà nước trong chủ nghĩa tư bản hình thành nhằm phục vụ lợi ích của các tổ chức độc quyền tư nhân và tiếp tục duy trì, phát triển chủ nghĩa tư bản.</a:t>
            </a:r>
            <a:endParaRPr lang="en-US" dirty="0"/>
          </a:p>
          <a:p>
            <a:endParaRPr lang="en-US" dirty="0"/>
          </a:p>
        </p:txBody>
      </p:sp>
    </p:spTree>
    <p:extLst>
      <p:ext uri="{BB962C8B-B14F-4D97-AF65-F5344CB8AC3E}">
        <p14:creationId xmlns:p14="http://schemas.microsoft.com/office/powerpoint/2010/main" val="2296510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8197" y="735829"/>
            <a:ext cx="9310315" cy="946840"/>
          </a:xfrm>
        </p:spPr>
        <p:txBody>
          <a:bodyPr>
            <a:noAutofit/>
          </a:bodyPr>
          <a:lstStyle/>
          <a:p>
            <a:pPr lvl="0"/>
            <a:r>
              <a:rPr lang="en-US" sz="3200" i="1" dirty="0"/>
              <a:t>4.1.1.2. </a:t>
            </a:r>
            <a:r>
              <a:rPr lang="vi-VN" sz="3200" i="1" dirty="0"/>
              <a:t>Tác động cứa độc quyền ỉrong nền kinh tế thị trường</a:t>
            </a:r>
            <a:br>
              <a:rPr lang="en-US" sz="3200" dirty="0"/>
            </a:br>
            <a:r>
              <a:rPr lang="vi-VN" sz="3200" i="1" dirty="0"/>
              <a:t>* Tác động của độc quyền đối với nền kinh tế</a:t>
            </a:r>
            <a:endParaRPr lang="en-US" sz="3200" dirty="0"/>
          </a:p>
        </p:txBody>
      </p:sp>
      <p:sp>
        <p:nvSpPr>
          <p:cNvPr id="3" name="Content Placeholder 2"/>
          <p:cNvSpPr>
            <a:spLocks noGrp="1"/>
          </p:cNvSpPr>
          <p:nvPr>
            <p:ph idx="1"/>
          </p:nvPr>
        </p:nvSpPr>
        <p:spPr>
          <a:xfrm>
            <a:off x="572493" y="2471351"/>
            <a:ext cx="11100021" cy="3826082"/>
          </a:xfrm>
        </p:spPr>
        <p:txBody>
          <a:bodyPr/>
          <a:lstStyle/>
          <a:p>
            <a:pPr marL="0" lvl="0" indent="0">
              <a:buNone/>
            </a:pPr>
            <a:r>
              <a:rPr lang="vi-VN" i="1" dirty="0">
                <a:solidFill>
                  <a:srgbClr val="FF0000"/>
                </a:solidFill>
                <a:latin typeface="+mj-lt"/>
              </a:rPr>
              <a:t>Tác động tích cực:</a:t>
            </a:r>
            <a:endParaRPr lang="en-US" dirty="0">
              <a:solidFill>
                <a:srgbClr val="FF0000"/>
              </a:solidFill>
              <a:latin typeface="+mj-lt"/>
            </a:endParaRPr>
          </a:p>
          <a:p>
            <a:pPr marL="0" indent="0">
              <a:buNone/>
            </a:pPr>
            <a:r>
              <a:rPr lang="vi-VN" i="1" dirty="0">
                <a:latin typeface="+mj-lt"/>
              </a:rPr>
              <a:t>Th</a:t>
            </a:r>
            <a:r>
              <a:rPr lang="en-US" i="1" dirty="0">
                <a:latin typeface="+mj-lt"/>
              </a:rPr>
              <a:t>ứ </a:t>
            </a:r>
            <a:r>
              <a:rPr lang="vi-VN" i="1" dirty="0">
                <a:latin typeface="+mj-lt"/>
              </a:rPr>
              <a:t>nhất,</a:t>
            </a:r>
            <a:r>
              <a:rPr lang="vi-VN" dirty="0">
                <a:latin typeface="+mj-lt"/>
              </a:rPr>
              <a:t> độc quyền tạo ra khả năng to lớn trong việc nghiên cứu và triển khai các hoạt động khoa học kỹ thuật, thúc đầy sự tiến bộ kỹ thuật.</a:t>
            </a:r>
            <a:endParaRPr lang="en-US" dirty="0">
              <a:latin typeface="+mj-lt"/>
            </a:endParaRPr>
          </a:p>
          <a:p>
            <a:pPr marL="0" indent="0">
              <a:buNone/>
            </a:pPr>
            <a:r>
              <a:rPr lang="vi-VN" dirty="0">
                <a:latin typeface="+mj-lt"/>
              </a:rPr>
              <a:t>Thứ hai, độc quyền có thể làm tăng năng suất lao động, nâng cao năng lực cạnh tranh của bản thân tổ chức độc quyền.</a:t>
            </a:r>
            <a:endParaRPr lang="en-US" dirty="0">
              <a:latin typeface="+mj-lt"/>
            </a:endParaRPr>
          </a:p>
          <a:p>
            <a:pPr marL="0" indent="0">
              <a:buNone/>
            </a:pPr>
            <a:r>
              <a:rPr lang="vi-VN" dirty="0">
                <a:latin typeface="+mj-lt"/>
              </a:rPr>
              <a:t>Thứ ba, độc quyền tạo được sức mạnh kinh tế góp phần thúc dẩy nền kinh tế phát triển theo hướng sản xuất lớn hiện đại.</a:t>
            </a:r>
            <a:endParaRPr lang="en-US" dirty="0">
              <a:latin typeface="+mj-lt"/>
            </a:endParaRPr>
          </a:p>
          <a:p>
            <a:pPr marL="0" indent="0">
              <a:buNone/>
            </a:pPr>
            <a:endParaRPr lang="en-US" dirty="0"/>
          </a:p>
        </p:txBody>
      </p:sp>
    </p:spTree>
    <p:extLst>
      <p:ext uri="{BB962C8B-B14F-4D97-AF65-F5344CB8AC3E}">
        <p14:creationId xmlns:p14="http://schemas.microsoft.com/office/powerpoint/2010/main" val="964401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vi-VN" i="1" dirty="0"/>
              <a:t>Tác động tiêu cực:</a:t>
            </a:r>
            <a:endParaRPr lang="en-US" dirty="0"/>
          </a:p>
        </p:txBody>
      </p:sp>
      <p:sp>
        <p:nvSpPr>
          <p:cNvPr id="3" name="Content Placeholder 2"/>
          <p:cNvSpPr>
            <a:spLocks noGrp="1"/>
          </p:cNvSpPr>
          <p:nvPr>
            <p:ph idx="1"/>
          </p:nvPr>
        </p:nvSpPr>
        <p:spPr>
          <a:xfrm>
            <a:off x="572493" y="1431235"/>
            <a:ext cx="11100021" cy="3350830"/>
          </a:xfrm>
        </p:spPr>
        <p:txBody>
          <a:bodyPr/>
          <a:lstStyle/>
          <a:p>
            <a:pPr marL="0" indent="0">
              <a:buNone/>
            </a:pPr>
            <a:r>
              <a:rPr lang="en-US" i="1" dirty="0">
                <a:latin typeface="Times New Roman" panose="02020603050405020304" pitchFamily="18" charset="0"/>
                <a:cs typeface="Times New Roman" panose="02020603050405020304" pitchFamily="18" charset="0"/>
              </a:rPr>
              <a:t>Một</a:t>
            </a:r>
            <a:r>
              <a:rPr lang="vi-VN" i="1" dirty="0">
                <a:latin typeface="Times New Roman" panose="02020603050405020304" pitchFamily="18" charset="0"/>
                <a:cs typeface="Times New Roman" panose="02020603050405020304" pitchFamily="18" charset="0"/>
              </a:rPr>
              <a:t> là,</a:t>
            </a:r>
            <a:r>
              <a:rPr lang="vi-VN" dirty="0">
                <a:latin typeface="Times New Roman" panose="02020603050405020304" pitchFamily="18" charset="0"/>
                <a:cs typeface="Times New Roman" panose="02020603050405020304" pitchFamily="18" charset="0"/>
              </a:rPr>
              <a:t> độc quyền xuất hiện làm cho cạnh tranh không hoàn hảo gây thiệt hại cho người tiêu dùng và xã hội.</a:t>
            </a:r>
            <a:endParaRPr lang="en-US" dirty="0">
              <a:latin typeface="Times New Roman" panose="02020603050405020304" pitchFamily="18" charset="0"/>
              <a:cs typeface="Times New Roman" panose="02020603050405020304" pitchFamily="18" charset="0"/>
            </a:endParaRPr>
          </a:p>
          <a:p>
            <a:pPr marL="0" indent="0">
              <a:buNone/>
            </a:pPr>
            <a:r>
              <a:rPr lang="vi-VN" i="1" dirty="0">
                <a:latin typeface="Times New Roman" panose="02020603050405020304" pitchFamily="18" charset="0"/>
                <a:cs typeface="Times New Roman" panose="02020603050405020304" pitchFamily="18" charset="0"/>
              </a:rPr>
              <a:t>Hai là,</a:t>
            </a:r>
            <a:r>
              <a:rPr lang="vi-VN" dirty="0">
                <a:latin typeface="Times New Roman" panose="02020603050405020304" pitchFamily="18" charset="0"/>
                <a:cs typeface="Times New Roman" panose="02020603050405020304" pitchFamily="18" charset="0"/>
              </a:rPr>
              <a:t> độc quyền có thể kìm hãm sự tiến bộ kỹ thuật, theo đó kìm hãm sự phát triền kinh tế, xã hội.</a:t>
            </a:r>
            <a:endParaRPr lang="en-US" dirty="0">
              <a:latin typeface="Times New Roman" panose="02020603050405020304" pitchFamily="18" charset="0"/>
              <a:cs typeface="Times New Roman" panose="02020603050405020304" pitchFamily="18" charset="0"/>
            </a:endParaRPr>
          </a:p>
          <a:p>
            <a:pPr marL="0" indent="0">
              <a:buNone/>
            </a:pPr>
            <a:r>
              <a:rPr lang="vi-VN" i="1" dirty="0">
                <a:latin typeface="Times New Roman" panose="02020603050405020304" pitchFamily="18" charset="0"/>
                <a:cs typeface="Times New Roman" panose="02020603050405020304" pitchFamily="18" charset="0"/>
              </a:rPr>
              <a:t>Ba là,</a:t>
            </a:r>
            <a:r>
              <a:rPr lang="vi-VN" dirty="0">
                <a:latin typeface="Times New Roman" panose="02020603050405020304" pitchFamily="18" charset="0"/>
                <a:cs typeface="Times New Roman" panose="02020603050405020304" pitchFamily="18" charset="0"/>
              </a:rPr>
              <a:t> khi độc quyền nhà nước bị chi phối bởi nhóm lợi ích cục bộ hoặc khi độc quyền tư nhân chi phối các quan hệ kinh tế, xã hội sẽ gây ra hiện tượng làm tăng sự phân hóa giàu nghèo.</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39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1392194"/>
            <a:ext cx="9310315" cy="946840"/>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4.1.2. </a:t>
            </a:r>
            <a:r>
              <a:rPr lang="vi-VN" b="1" dirty="0">
                <a:solidFill>
                  <a:srgbClr val="FF0000"/>
                </a:solidFill>
                <a:latin typeface="Times New Roman" panose="02020603050405020304" pitchFamily="18" charset="0"/>
                <a:cs typeface="Times New Roman" panose="02020603050405020304" pitchFamily="18" charset="0"/>
              </a:rPr>
              <a:t>Quan h</a:t>
            </a:r>
            <a:r>
              <a:rPr lang="en-US" b="1" dirty="0">
                <a:solidFill>
                  <a:srgbClr val="FF0000"/>
                </a:solidFill>
                <a:latin typeface="Times New Roman" panose="02020603050405020304" pitchFamily="18" charset="0"/>
                <a:cs typeface="Times New Roman" panose="02020603050405020304" pitchFamily="18" charset="0"/>
              </a:rPr>
              <a:t>ệ</a:t>
            </a:r>
            <a:r>
              <a:rPr lang="vi-VN" b="1" dirty="0">
                <a:solidFill>
                  <a:srgbClr val="FF0000"/>
                </a:solidFill>
                <a:latin typeface="Times New Roman" panose="02020603050405020304" pitchFamily="18" charset="0"/>
                <a:cs typeface="Times New Roman" panose="02020603050405020304" pitchFamily="18" charset="0"/>
              </a:rPr>
              <a:t> cạnh tranh trong trạng thái độc quyền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2602" y="3328086"/>
            <a:ext cx="11100021" cy="2137720"/>
          </a:xfrm>
        </p:spPr>
        <p:txBody>
          <a:bodyPr/>
          <a:lstStyle/>
          <a:p>
            <a:r>
              <a:rPr lang="vi-VN" i="1" dirty="0">
                <a:latin typeface="+mj-lt"/>
              </a:rPr>
              <a:t>Một l</a:t>
            </a:r>
            <a:r>
              <a:rPr lang="en-US" i="1" dirty="0">
                <a:latin typeface="+mj-lt"/>
              </a:rPr>
              <a:t>à</a:t>
            </a:r>
            <a:r>
              <a:rPr lang="vi-VN" dirty="0">
                <a:latin typeface="+mj-lt"/>
              </a:rPr>
              <a:t> cạnh tranh giữa các tồ chức độc quyền với các doanh nghiệp ngoài độc quyền.</a:t>
            </a:r>
            <a:endParaRPr lang="en-US" dirty="0">
              <a:latin typeface="+mj-lt"/>
            </a:endParaRPr>
          </a:p>
          <a:p>
            <a:r>
              <a:rPr lang="vi-VN" i="1" dirty="0">
                <a:latin typeface="+mj-lt"/>
              </a:rPr>
              <a:t>Hai là</a:t>
            </a:r>
            <a:r>
              <a:rPr lang="en-US" i="1" dirty="0">
                <a:latin typeface="+mj-lt"/>
              </a:rPr>
              <a:t> </a:t>
            </a:r>
            <a:r>
              <a:rPr lang="vi-VN" dirty="0">
                <a:latin typeface="+mj-lt"/>
              </a:rPr>
              <a:t>cạnh tranh giữa các tổ chức độc quyền với nhau. </a:t>
            </a:r>
            <a:endParaRPr lang="en-US" dirty="0">
              <a:latin typeface="+mj-lt"/>
            </a:endParaRPr>
          </a:p>
          <a:p>
            <a:r>
              <a:rPr lang="vi-VN" i="1" dirty="0">
                <a:latin typeface="+mj-lt"/>
              </a:rPr>
              <a:t>Ba là,</a:t>
            </a:r>
            <a:r>
              <a:rPr lang="vi-VN" dirty="0">
                <a:latin typeface="+mj-lt"/>
              </a:rPr>
              <a:t> cạnh tranh trong nội bộ các tồ chức độc quyền. </a:t>
            </a:r>
            <a:endParaRPr lang="en-US" dirty="0">
              <a:latin typeface="+mj-lt"/>
            </a:endParaRPr>
          </a:p>
        </p:txBody>
      </p:sp>
    </p:spTree>
    <p:extLst>
      <p:ext uri="{BB962C8B-B14F-4D97-AF65-F5344CB8AC3E}">
        <p14:creationId xmlns:p14="http://schemas.microsoft.com/office/powerpoint/2010/main" val="3858011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0046" y="636974"/>
            <a:ext cx="9310315" cy="946840"/>
          </a:xfrm>
        </p:spPr>
        <p:txBody>
          <a:bodyPr>
            <a:noAutofit/>
          </a:bodyPr>
          <a:lstStyle/>
          <a:p>
            <a:pPr lvl="0"/>
            <a:r>
              <a:rPr lang="en-US" sz="2400" b="1" dirty="0">
                <a:solidFill>
                  <a:srgbClr val="FF0000"/>
                </a:solidFill>
                <a:latin typeface="Times New Roman (Headings)"/>
              </a:rPr>
              <a:t>4.2. </a:t>
            </a:r>
            <a:r>
              <a:rPr lang="vi-VN" sz="2400" b="1" dirty="0">
                <a:solidFill>
                  <a:srgbClr val="FF0000"/>
                </a:solidFill>
                <a:latin typeface="Times New Roman (Headings)"/>
              </a:rPr>
              <a:t>LÝ LUẬN CỦA V.I. LÊN</a:t>
            </a:r>
            <a:r>
              <a:rPr lang="en-US" sz="2400" b="1" dirty="0">
                <a:solidFill>
                  <a:srgbClr val="FF0000"/>
                </a:solidFill>
                <a:latin typeface="Times New Roman (Headings)"/>
              </a:rPr>
              <a:t>IN </a:t>
            </a:r>
            <a:r>
              <a:rPr lang="vi-VN" sz="2400" b="1" dirty="0">
                <a:solidFill>
                  <a:srgbClr val="FF0000"/>
                </a:solidFill>
                <a:latin typeface="Times New Roman (Headings)"/>
              </a:rPr>
              <a:t>VÈ CÁC ĐẶC ĐIỂM KINH TẾ CỦA ĐỘC QUYỀN VÀ ĐỘC QUYỀN NHÀ NUỚC TRONG NÈN KINII TÉ THỊ TRƯỜNG TU BAN CHỦ NGHĨA</a:t>
            </a:r>
            <a:br>
              <a:rPr lang="en-US" sz="2400" dirty="0">
                <a:solidFill>
                  <a:srgbClr val="FF0000"/>
                </a:solidFill>
                <a:latin typeface="Times New Roman (Headings)"/>
              </a:rPr>
            </a:br>
            <a:endParaRPr lang="en-US" sz="2400" dirty="0">
              <a:solidFill>
                <a:srgbClr val="FF0000"/>
              </a:solidFill>
              <a:latin typeface="Times New Roman (Headings)"/>
            </a:endParaRPr>
          </a:p>
        </p:txBody>
      </p:sp>
      <p:sp>
        <p:nvSpPr>
          <p:cNvPr id="4" name="TextBox 3"/>
          <p:cNvSpPr txBox="1"/>
          <p:nvPr/>
        </p:nvSpPr>
        <p:spPr>
          <a:xfrm>
            <a:off x="926757" y="1631092"/>
            <a:ext cx="9601200" cy="3046988"/>
          </a:xfrm>
          <a:prstGeom prst="rect">
            <a:avLst/>
          </a:prstGeom>
          <a:noFill/>
        </p:spPr>
        <p:txBody>
          <a:bodyPr wrap="square" rtlCol="0">
            <a:spAutoFit/>
          </a:bodyPr>
          <a:lstStyle/>
          <a:p>
            <a:pPr lvl="0"/>
            <a:r>
              <a:rPr lang="en-US" sz="3200" b="1" dirty="0">
                <a:latin typeface="Times New Roman (Headings)"/>
              </a:rPr>
              <a:t>4.2.1. </a:t>
            </a:r>
            <a:r>
              <a:rPr lang="vi-VN" sz="3200" b="1" dirty="0">
                <a:latin typeface="Times New Roman (Headings)"/>
              </a:rPr>
              <a:t>Lý luận của V.I. Lênin về đặc điểm kinh tế của độc quyền</a:t>
            </a:r>
            <a:endParaRPr lang="en-US" sz="3200" b="1" dirty="0">
              <a:latin typeface="Times New Roman (Headings)"/>
            </a:endParaRPr>
          </a:p>
          <a:p>
            <a:r>
              <a:rPr lang="en-US" sz="3200" i="1" dirty="0">
                <a:latin typeface="Times New Roman (Headings)"/>
              </a:rPr>
              <a:t>4.2.1.1. </a:t>
            </a:r>
            <a:r>
              <a:rPr lang="vi-VN" sz="3200" i="1" dirty="0">
                <a:latin typeface="Times New Roman (Headings)"/>
              </a:rPr>
              <a:t>Các tổ chức dộc quyền có quy mô tích tụ và tập trung tư bản l</a:t>
            </a:r>
            <a:r>
              <a:rPr lang="en-US" sz="3200" i="1" dirty="0">
                <a:latin typeface="Times New Roman (Headings)"/>
              </a:rPr>
              <a:t>ớn</a:t>
            </a:r>
            <a:endParaRPr lang="en-US" sz="3200" dirty="0">
              <a:latin typeface="Times New Roman (Headings)"/>
            </a:endParaRPr>
          </a:p>
          <a:p>
            <a:pPr lvl="0"/>
            <a:endParaRPr lang="en-US" sz="3200" b="1" dirty="0">
              <a:latin typeface="Times New Roman (Headings)"/>
            </a:endParaRPr>
          </a:p>
          <a:p>
            <a:endParaRPr lang="en-US" sz="3200" dirty="0">
              <a:latin typeface="Times New Roman (Headings)"/>
            </a:endParaRPr>
          </a:p>
        </p:txBody>
      </p:sp>
      <p:sp>
        <p:nvSpPr>
          <p:cNvPr id="5" name="TextBox 4"/>
          <p:cNvSpPr txBox="1"/>
          <p:nvPr/>
        </p:nvSpPr>
        <p:spPr>
          <a:xfrm>
            <a:off x="926757" y="4040659"/>
            <a:ext cx="10231394" cy="1815882"/>
          </a:xfrm>
          <a:prstGeom prst="rect">
            <a:avLst/>
          </a:prstGeom>
          <a:noFill/>
        </p:spPr>
        <p:txBody>
          <a:bodyPr wrap="square" rtlCol="0">
            <a:spAutoFit/>
          </a:bodyPr>
          <a:lstStyle/>
          <a:p>
            <a:pPr indent="346075"/>
            <a:r>
              <a:rPr lang="en-US" sz="2800" dirty="0">
                <a:latin typeface="Times New Roman (Headings)"/>
              </a:rPr>
              <a:t>Cartel </a:t>
            </a:r>
            <a:r>
              <a:rPr lang="vi-VN" sz="2800" dirty="0">
                <a:latin typeface="Times New Roman (Headings)"/>
              </a:rPr>
              <a:t>là hình thức tổ chức độc quyền trong đó các xí nghiệp tư bản lớn ký các hiệp nghị thoả thuận với nhau về giá cà, sản lượng hàng hóa, thị trường tiêu thụ, kỳ hạn thanh toán,...</a:t>
            </a:r>
            <a:endParaRPr lang="en-US" sz="2800" dirty="0">
              <a:latin typeface="Times New Roman (Headings)"/>
            </a:endParaRPr>
          </a:p>
          <a:p>
            <a:pPr indent="346075"/>
            <a:endParaRPr lang="en-US" sz="2800" dirty="0">
              <a:latin typeface="Times New Roman (Headings)"/>
            </a:endParaRPr>
          </a:p>
        </p:txBody>
      </p:sp>
    </p:spTree>
    <p:extLst>
      <p:ext uri="{BB962C8B-B14F-4D97-AF65-F5344CB8AC3E}">
        <p14:creationId xmlns:p14="http://schemas.microsoft.com/office/powerpoint/2010/main" val="2780489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692150">
              <a:buNone/>
            </a:pPr>
            <a:r>
              <a:rPr lang="en-US" dirty="0"/>
              <a:t>Syndicate </a:t>
            </a:r>
            <a:r>
              <a:rPr lang="vi-VN" dirty="0"/>
              <a:t>là hình thức tổ chức độc quyền cao hơn, ổn định hơn </a:t>
            </a:r>
            <a:r>
              <a:rPr lang="en-US" dirty="0"/>
              <a:t>Cartel. </a:t>
            </a:r>
            <a:r>
              <a:rPr lang="vi-VN" dirty="0"/>
              <a:t>Các xí nghiệp tư bản tham gia </a:t>
            </a:r>
            <a:r>
              <a:rPr lang="en-US" dirty="0"/>
              <a:t>Syndicate </a:t>
            </a:r>
            <a:r>
              <a:rPr lang="vi-VN" dirty="0"/>
              <a:t>vẫn giữ độc lập về sản xuất, chỉ mất độc lập về lưu thông hàng hóa (mọi việc mua, bán do một ban quàn trị chung của </a:t>
            </a:r>
            <a:r>
              <a:rPr lang="en-US" dirty="0"/>
              <a:t>Syndicate </a:t>
            </a:r>
            <a:r>
              <a:rPr lang="vi-VN" dirty="0"/>
              <a:t>đảm nhận). Mục đích của </a:t>
            </a:r>
            <a:r>
              <a:rPr lang="en-US" dirty="0"/>
              <a:t>Syndicate </a:t>
            </a:r>
            <a:r>
              <a:rPr lang="vi-VN" dirty="0"/>
              <a:t>là thống nhất đâu mối mua và bán đế mua nguyên liệu với giá rẻ, bán hàng hoá với giá đắt nhằm thu lợi nhuận độc quyền cao.</a:t>
            </a:r>
            <a:endParaRPr lang="en-US" dirty="0"/>
          </a:p>
          <a:p>
            <a:endParaRPr lang="en-US" dirty="0"/>
          </a:p>
        </p:txBody>
      </p:sp>
    </p:spTree>
    <p:extLst>
      <p:ext uri="{BB962C8B-B14F-4D97-AF65-F5344CB8AC3E}">
        <p14:creationId xmlns:p14="http://schemas.microsoft.com/office/powerpoint/2010/main" val="2976163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493" y="1431235"/>
            <a:ext cx="11100021" cy="2411716"/>
          </a:xfrm>
        </p:spPr>
        <p:txBody>
          <a:bodyPr/>
          <a:lstStyle/>
          <a:p>
            <a:pPr marL="0" indent="568325">
              <a:buNone/>
            </a:pPr>
            <a:r>
              <a:rPr lang="en-US" dirty="0"/>
              <a:t>Trust </a:t>
            </a:r>
            <a:r>
              <a:rPr lang="vi-VN" dirty="0"/>
              <a:t>là hình thức độc quyền cao hơn </a:t>
            </a:r>
            <a:r>
              <a:rPr lang="en-US" dirty="0"/>
              <a:t>Cartel </a:t>
            </a:r>
            <a:r>
              <a:rPr lang="vi-VN" dirty="0"/>
              <a:t>và </a:t>
            </a:r>
            <a:r>
              <a:rPr lang="en-US" dirty="0"/>
              <a:t>Syndicate. </a:t>
            </a:r>
            <a:r>
              <a:rPr lang="vi-VN" dirty="0"/>
              <a:t>Trong </a:t>
            </a:r>
            <a:r>
              <a:rPr lang="en-US" dirty="0"/>
              <a:t>Trust </a:t>
            </a:r>
            <a:r>
              <a:rPr lang="vi-VN" dirty="0"/>
              <a:t>thì cả việc sản xuất, tiêu thụ hàng hóa đều do một ban quản trị chung thống nhất quản lý. Các xí nghiệp tư bản tham gia </a:t>
            </a:r>
            <a:r>
              <a:rPr lang="en-US" dirty="0"/>
              <a:t>Trust </a:t>
            </a:r>
            <a:r>
              <a:rPr lang="vi-VN" dirty="0"/>
              <a:t>trở thành những cồ đông để thu lợi nhuận theo số lượng cồ phần.</a:t>
            </a:r>
            <a:endParaRPr lang="en-US" dirty="0"/>
          </a:p>
          <a:p>
            <a:endParaRPr lang="en-US" dirty="0"/>
          </a:p>
        </p:txBody>
      </p:sp>
    </p:spTree>
    <p:extLst>
      <p:ext uri="{BB962C8B-B14F-4D97-AF65-F5344CB8AC3E}">
        <p14:creationId xmlns:p14="http://schemas.microsoft.com/office/powerpoint/2010/main" val="227128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519113">
              <a:buNone/>
            </a:pPr>
            <a:r>
              <a:rPr lang="en-US" dirty="0"/>
              <a:t>Consortium </a:t>
            </a:r>
            <a:r>
              <a:rPr lang="vi-VN" dirty="0"/>
              <a:t>là hình thức tồ chức độc quyền có trình độ và quy mô lớn hơn các hình thức độc quyền trên. Tham gia </a:t>
            </a:r>
            <a:r>
              <a:rPr lang="en-US" dirty="0"/>
              <a:t>Consortium </a:t>
            </a:r>
            <a:r>
              <a:rPr lang="vi-VN" dirty="0"/>
              <a:t>không chỉ có các xí nghiệp tư bản lớn mà còn có cả các </a:t>
            </a:r>
            <a:r>
              <a:rPr lang="en-US" dirty="0"/>
              <a:t>Syndicate, </a:t>
            </a:r>
            <a:r>
              <a:rPr lang="vi-VN" dirty="0"/>
              <a:t>các </a:t>
            </a:r>
            <a:r>
              <a:rPr lang="en-US" dirty="0"/>
              <a:t>Trust, </a:t>
            </a:r>
            <a:r>
              <a:rPr lang="vi-VN" dirty="0"/>
              <a:t>thuộc các ngành khác nhau nhưng liên quan với nhau về kinh tế, kỹ thuật. Với kiểu liên kết dọc như vậy, một </a:t>
            </a:r>
            <a:r>
              <a:rPr lang="en-US" dirty="0"/>
              <a:t>Consortium </a:t>
            </a:r>
            <a:r>
              <a:rPr lang="vi-VN" dirty="0"/>
              <a:t>có thể có hàng trăm xí nghiệp </a:t>
            </a:r>
            <a:r>
              <a:rPr lang="en-US" dirty="0"/>
              <a:t>lien </a:t>
            </a:r>
            <a:r>
              <a:rPr lang="vi-VN" dirty="0"/>
              <a:t>kết trôn cơ sở hoàn toàn phụ thuộc về tài chính vào một nhóm các nhà tư bản kếch xù.</a:t>
            </a:r>
            <a:endParaRPr lang="en-US" dirty="0"/>
          </a:p>
          <a:p>
            <a:pPr marL="0" indent="0">
              <a:buNone/>
            </a:pPr>
            <a:endParaRPr lang="en-US" dirty="0"/>
          </a:p>
        </p:txBody>
      </p:sp>
    </p:spTree>
    <p:extLst>
      <p:ext uri="{BB962C8B-B14F-4D97-AF65-F5344CB8AC3E}">
        <p14:creationId xmlns:p14="http://schemas.microsoft.com/office/powerpoint/2010/main" val="2033471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Text Box 8"/>
          <p:cNvSpPr txBox="1">
            <a:spLocks noChangeArrowheads="1"/>
          </p:cNvSpPr>
          <p:nvPr/>
        </p:nvSpPr>
        <p:spPr bwMode="ltGray">
          <a:xfrm>
            <a:off x="431800" y="2305050"/>
            <a:ext cx="2413000" cy="52322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dirty="0"/>
              <a:t>Ngân hàng nhỏ</a:t>
            </a:r>
          </a:p>
        </p:txBody>
      </p:sp>
      <p:sp>
        <p:nvSpPr>
          <p:cNvPr id="15366" name="Text Box 9"/>
          <p:cNvSpPr txBox="1">
            <a:spLocks noChangeArrowheads="1"/>
          </p:cNvSpPr>
          <p:nvPr/>
        </p:nvSpPr>
        <p:spPr bwMode="ltGray">
          <a:xfrm>
            <a:off x="3479800" y="2019301"/>
            <a:ext cx="2006600" cy="538163"/>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Phá sản</a:t>
            </a:r>
          </a:p>
        </p:txBody>
      </p:sp>
      <p:sp>
        <p:nvSpPr>
          <p:cNvPr id="15367" name="Text Box 10"/>
          <p:cNvSpPr txBox="1">
            <a:spLocks noChangeArrowheads="1"/>
          </p:cNvSpPr>
          <p:nvPr/>
        </p:nvSpPr>
        <p:spPr bwMode="ltGray">
          <a:xfrm>
            <a:off x="3505200" y="3028951"/>
            <a:ext cx="2006600" cy="538163"/>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Sát nhập</a:t>
            </a:r>
          </a:p>
        </p:txBody>
      </p:sp>
      <p:sp>
        <p:nvSpPr>
          <p:cNvPr id="15368" name="Text Box 11"/>
          <p:cNvSpPr txBox="1">
            <a:spLocks noChangeArrowheads="1"/>
          </p:cNvSpPr>
          <p:nvPr/>
        </p:nvSpPr>
        <p:spPr bwMode="ltGray">
          <a:xfrm>
            <a:off x="6515100" y="2111188"/>
            <a:ext cx="20320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600" b="1" dirty="0" err="1"/>
              <a:t>Tổ</a:t>
            </a:r>
            <a:r>
              <a:rPr lang="en-US" altLang="en-US" sz="2600" b="1" dirty="0"/>
              <a:t> </a:t>
            </a:r>
            <a:r>
              <a:rPr lang="en-US" altLang="en-US" sz="2600" b="1" dirty="0" err="1"/>
              <a:t>chức</a:t>
            </a:r>
            <a:r>
              <a:rPr lang="en-US" altLang="en-US" sz="2600" b="1" dirty="0"/>
              <a:t> ĐQ </a:t>
            </a:r>
            <a:r>
              <a:rPr lang="en-US" altLang="en-US" sz="2600" b="1" dirty="0" err="1"/>
              <a:t>ngân</a:t>
            </a:r>
            <a:r>
              <a:rPr lang="en-US" altLang="en-US" sz="2600" b="1" dirty="0"/>
              <a:t> </a:t>
            </a:r>
            <a:r>
              <a:rPr lang="en-US" altLang="en-US" sz="2600" b="1" dirty="0" err="1"/>
              <a:t>hàng</a:t>
            </a:r>
            <a:endParaRPr lang="en-US" altLang="en-US" sz="2600" b="1" dirty="0"/>
          </a:p>
        </p:txBody>
      </p:sp>
      <p:sp>
        <p:nvSpPr>
          <p:cNvPr id="15369" name="Text Box 12"/>
          <p:cNvSpPr txBox="1">
            <a:spLocks noChangeArrowheads="1"/>
          </p:cNvSpPr>
          <p:nvPr/>
        </p:nvSpPr>
        <p:spPr bwMode="ltGray">
          <a:xfrm>
            <a:off x="9448800" y="2152650"/>
            <a:ext cx="2057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600" b="1" dirty="0" err="1"/>
              <a:t>Tổ</a:t>
            </a:r>
            <a:r>
              <a:rPr lang="en-US" altLang="en-US" sz="2600" b="1" dirty="0"/>
              <a:t> </a:t>
            </a:r>
            <a:r>
              <a:rPr lang="en-US" altLang="en-US" sz="2600" b="1" dirty="0" err="1"/>
              <a:t>chức</a:t>
            </a:r>
            <a:r>
              <a:rPr lang="en-US" altLang="en-US" sz="2600" b="1" dirty="0"/>
              <a:t> ĐQ </a:t>
            </a:r>
            <a:r>
              <a:rPr lang="en-US" altLang="en-US" sz="2600" b="1" dirty="0" err="1"/>
              <a:t>công</a:t>
            </a:r>
            <a:r>
              <a:rPr lang="en-US" altLang="en-US" sz="2600" b="1" dirty="0"/>
              <a:t> </a:t>
            </a:r>
            <a:r>
              <a:rPr lang="en-US" altLang="en-US" sz="2600" b="1" dirty="0" err="1"/>
              <a:t>nghiệp</a:t>
            </a:r>
            <a:endParaRPr lang="en-US" altLang="en-US" sz="2600" b="1" dirty="0"/>
          </a:p>
        </p:txBody>
      </p:sp>
      <p:sp>
        <p:nvSpPr>
          <p:cNvPr id="15370" name="Line 13"/>
          <p:cNvSpPr>
            <a:spLocks noChangeShapeType="1"/>
          </p:cNvSpPr>
          <p:nvPr/>
        </p:nvSpPr>
        <p:spPr bwMode="ltGray">
          <a:xfrm flipV="1">
            <a:off x="2844800" y="2362200"/>
            <a:ext cx="609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1" name="Line 14"/>
          <p:cNvSpPr>
            <a:spLocks noChangeShapeType="1"/>
          </p:cNvSpPr>
          <p:nvPr/>
        </p:nvSpPr>
        <p:spPr bwMode="ltGray">
          <a:xfrm>
            <a:off x="2844800" y="2819400"/>
            <a:ext cx="609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2" name="Rectangle 15"/>
          <p:cNvSpPr>
            <a:spLocks noChangeArrowheads="1"/>
          </p:cNvSpPr>
          <p:nvPr/>
        </p:nvSpPr>
        <p:spPr bwMode="ltGray">
          <a:xfrm>
            <a:off x="304800" y="1771650"/>
            <a:ext cx="5588000" cy="20574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5373" name="AutoShape 16"/>
          <p:cNvSpPr>
            <a:spLocks/>
          </p:cNvSpPr>
          <p:nvPr/>
        </p:nvSpPr>
        <p:spPr bwMode="ltGray">
          <a:xfrm>
            <a:off x="5511800" y="2266950"/>
            <a:ext cx="304800" cy="1066800"/>
          </a:xfrm>
          <a:prstGeom prst="rightBrace">
            <a:avLst>
              <a:gd name="adj1" fmla="val 3888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5374" name="Oval 17"/>
          <p:cNvSpPr>
            <a:spLocks noChangeArrowheads="1"/>
          </p:cNvSpPr>
          <p:nvPr/>
        </p:nvSpPr>
        <p:spPr bwMode="ltGray">
          <a:xfrm>
            <a:off x="6553200" y="1676400"/>
            <a:ext cx="2844800" cy="2133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5375" name="Oval 18"/>
          <p:cNvSpPr>
            <a:spLocks noChangeArrowheads="1"/>
          </p:cNvSpPr>
          <p:nvPr/>
        </p:nvSpPr>
        <p:spPr bwMode="ltGray">
          <a:xfrm>
            <a:off x="8534400" y="1714500"/>
            <a:ext cx="2844800" cy="2133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5376" name="Text Box 19"/>
          <p:cNvSpPr txBox="1">
            <a:spLocks noChangeArrowheads="1"/>
          </p:cNvSpPr>
          <p:nvPr/>
        </p:nvSpPr>
        <p:spPr bwMode="ltGray">
          <a:xfrm>
            <a:off x="7188200" y="4362451"/>
            <a:ext cx="3657600" cy="5318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Tư bản tài chính</a:t>
            </a:r>
          </a:p>
        </p:txBody>
      </p:sp>
      <p:sp>
        <p:nvSpPr>
          <p:cNvPr id="15377" name="Line 20"/>
          <p:cNvSpPr>
            <a:spLocks noChangeShapeType="1"/>
          </p:cNvSpPr>
          <p:nvPr/>
        </p:nvSpPr>
        <p:spPr bwMode="ltGray">
          <a:xfrm>
            <a:off x="8382000" y="2457450"/>
            <a:ext cx="1219200" cy="0"/>
          </a:xfrm>
          <a:prstGeom prst="line">
            <a:avLst/>
          </a:prstGeom>
          <a:noFill/>
          <a:ln w="9525">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15378" name="Line 21"/>
          <p:cNvSpPr>
            <a:spLocks noChangeShapeType="1"/>
          </p:cNvSpPr>
          <p:nvPr/>
        </p:nvSpPr>
        <p:spPr bwMode="ltGray">
          <a:xfrm>
            <a:off x="8356600" y="2762250"/>
            <a:ext cx="1219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5379" name="Line 22"/>
          <p:cNvSpPr>
            <a:spLocks noChangeShapeType="1"/>
          </p:cNvSpPr>
          <p:nvPr/>
        </p:nvSpPr>
        <p:spPr bwMode="ltGray">
          <a:xfrm>
            <a:off x="8966200" y="3124200"/>
            <a:ext cx="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0" name="Text Box 23"/>
          <p:cNvSpPr txBox="1">
            <a:spLocks noChangeArrowheads="1"/>
          </p:cNvSpPr>
          <p:nvPr/>
        </p:nvSpPr>
        <p:spPr bwMode="ltGray">
          <a:xfrm>
            <a:off x="736600" y="3790951"/>
            <a:ext cx="416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Cạnh tranh gay gắt</a:t>
            </a:r>
          </a:p>
        </p:txBody>
      </p:sp>
      <p:sp>
        <p:nvSpPr>
          <p:cNvPr id="15381" name="Rectangle 25"/>
          <p:cNvSpPr>
            <a:spLocks noChangeArrowheads="1"/>
          </p:cNvSpPr>
          <p:nvPr/>
        </p:nvSpPr>
        <p:spPr bwMode="white">
          <a:xfrm>
            <a:off x="2311400" y="658361"/>
            <a:ext cx="102616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r>
              <a:rPr lang="vi-VN" sz="3200" i="1" dirty="0"/>
              <a:t>4..2.1.2. Sức mạnh cùa các tổ chức độc quyền do tư bán tài chinh và hệ thống tài phiệt chi phối</a:t>
            </a:r>
            <a:endParaRPr lang="en-US" altLang="en-US" sz="3200" b="1" dirty="0"/>
          </a:p>
        </p:txBody>
      </p:sp>
      <p:sp>
        <p:nvSpPr>
          <p:cNvPr id="15382" name="Text Box 26"/>
          <p:cNvSpPr txBox="1">
            <a:spLocks noChangeArrowheads="1"/>
          </p:cNvSpPr>
          <p:nvPr/>
        </p:nvSpPr>
        <p:spPr bwMode="auto">
          <a:xfrm>
            <a:off x="508000" y="5124450"/>
            <a:ext cx="11480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just" eaLnBrk="1" hangingPunct="1">
              <a:spcBef>
                <a:spcPct val="50000"/>
              </a:spcBef>
            </a:pPr>
            <a:r>
              <a:rPr lang="en-US" altLang="en-US" i="1" u="sng" dirty="0" err="1"/>
              <a:t>Lênin</a:t>
            </a:r>
            <a:r>
              <a:rPr lang="en-US" altLang="en-US" dirty="0"/>
              <a:t>: “</a:t>
            </a:r>
            <a:r>
              <a:rPr lang="en-US" altLang="en-US" dirty="0" err="1">
                <a:solidFill>
                  <a:schemeClr val="accent1"/>
                </a:solidFill>
              </a:rPr>
              <a:t>Tư</a:t>
            </a:r>
            <a:r>
              <a:rPr lang="en-US" altLang="en-US" dirty="0">
                <a:solidFill>
                  <a:schemeClr val="accent1"/>
                </a:solidFill>
              </a:rPr>
              <a:t> </a:t>
            </a:r>
            <a:r>
              <a:rPr lang="en-US" altLang="en-US" dirty="0" err="1">
                <a:solidFill>
                  <a:schemeClr val="accent1"/>
                </a:solidFill>
              </a:rPr>
              <a:t>bản</a:t>
            </a:r>
            <a:r>
              <a:rPr lang="en-US" altLang="en-US" dirty="0">
                <a:solidFill>
                  <a:schemeClr val="accent1"/>
                </a:solidFill>
              </a:rPr>
              <a:t> </a:t>
            </a:r>
            <a:r>
              <a:rPr lang="en-US" altLang="en-US" dirty="0" err="1">
                <a:solidFill>
                  <a:schemeClr val="accent1"/>
                </a:solidFill>
              </a:rPr>
              <a:t>tài</a:t>
            </a:r>
            <a:r>
              <a:rPr lang="en-US" altLang="en-US" dirty="0">
                <a:solidFill>
                  <a:schemeClr val="accent1"/>
                </a:solidFill>
              </a:rPr>
              <a:t> </a:t>
            </a:r>
            <a:r>
              <a:rPr lang="en-US" altLang="en-US" dirty="0" err="1">
                <a:solidFill>
                  <a:schemeClr val="accent1"/>
                </a:solidFill>
              </a:rPr>
              <a:t>chính</a:t>
            </a:r>
            <a:r>
              <a:rPr lang="en-US" altLang="en-US" dirty="0">
                <a:solidFill>
                  <a:schemeClr val="accent1"/>
                </a:solidFill>
              </a:rPr>
              <a:t> </a:t>
            </a:r>
            <a:r>
              <a:rPr lang="en-US" altLang="en-US" dirty="0" err="1">
                <a:solidFill>
                  <a:schemeClr val="accent1"/>
                </a:solidFill>
              </a:rPr>
              <a:t>là</a:t>
            </a:r>
            <a:r>
              <a:rPr lang="en-US" altLang="en-US" dirty="0">
                <a:solidFill>
                  <a:schemeClr val="accent1"/>
                </a:solidFill>
              </a:rPr>
              <a:t> </a:t>
            </a:r>
            <a:r>
              <a:rPr lang="en-US" altLang="en-US" dirty="0" err="1">
                <a:solidFill>
                  <a:schemeClr val="accent1"/>
                </a:solidFill>
              </a:rPr>
              <a:t>kết</a:t>
            </a:r>
            <a:r>
              <a:rPr lang="en-US" altLang="en-US" dirty="0">
                <a:solidFill>
                  <a:schemeClr val="accent1"/>
                </a:solidFill>
              </a:rPr>
              <a:t> </a:t>
            </a:r>
            <a:r>
              <a:rPr lang="en-US" altLang="en-US" dirty="0" err="1">
                <a:solidFill>
                  <a:schemeClr val="accent1"/>
                </a:solidFill>
              </a:rPr>
              <a:t>quả</a:t>
            </a:r>
            <a:r>
              <a:rPr lang="en-US" altLang="en-US" dirty="0">
                <a:solidFill>
                  <a:schemeClr val="accent1"/>
                </a:solidFill>
              </a:rPr>
              <a:t> </a:t>
            </a:r>
            <a:r>
              <a:rPr lang="en-US" altLang="en-US" dirty="0" err="1">
                <a:solidFill>
                  <a:schemeClr val="accent1"/>
                </a:solidFill>
              </a:rPr>
              <a:t>của</a:t>
            </a:r>
            <a:r>
              <a:rPr lang="en-US" altLang="en-US" dirty="0">
                <a:solidFill>
                  <a:schemeClr val="accent1"/>
                </a:solidFill>
              </a:rPr>
              <a:t> </a:t>
            </a:r>
            <a:r>
              <a:rPr lang="en-US" altLang="en-US" dirty="0" err="1">
                <a:solidFill>
                  <a:schemeClr val="accent1"/>
                </a:solidFill>
              </a:rPr>
              <a:t>sự</a:t>
            </a:r>
            <a:r>
              <a:rPr lang="en-US" altLang="en-US" dirty="0">
                <a:solidFill>
                  <a:schemeClr val="accent1"/>
                </a:solidFill>
              </a:rPr>
              <a:t> </a:t>
            </a:r>
            <a:r>
              <a:rPr lang="en-US" altLang="en-US" dirty="0" err="1">
                <a:solidFill>
                  <a:schemeClr val="accent1"/>
                </a:solidFill>
              </a:rPr>
              <a:t>hợp</a:t>
            </a:r>
            <a:r>
              <a:rPr lang="en-US" altLang="en-US" dirty="0">
                <a:solidFill>
                  <a:schemeClr val="accent1"/>
                </a:solidFill>
              </a:rPr>
              <a:t> </a:t>
            </a:r>
            <a:r>
              <a:rPr lang="en-US" altLang="en-US" dirty="0" err="1">
                <a:solidFill>
                  <a:schemeClr val="accent1"/>
                </a:solidFill>
              </a:rPr>
              <a:t>nhất</a:t>
            </a:r>
            <a:r>
              <a:rPr lang="en-US" altLang="en-US" dirty="0">
                <a:solidFill>
                  <a:schemeClr val="accent1"/>
                </a:solidFill>
              </a:rPr>
              <a:t> </a:t>
            </a:r>
            <a:r>
              <a:rPr lang="en-US" altLang="en-US" dirty="0" err="1">
                <a:solidFill>
                  <a:schemeClr val="accent1"/>
                </a:solidFill>
              </a:rPr>
              <a:t>giữa</a:t>
            </a:r>
            <a:r>
              <a:rPr lang="en-US" altLang="en-US" dirty="0">
                <a:solidFill>
                  <a:schemeClr val="accent1"/>
                </a:solidFill>
              </a:rPr>
              <a:t> </a:t>
            </a:r>
            <a:r>
              <a:rPr lang="en-US" altLang="en-US" dirty="0" err="1">
                <a:solidFill>
                  <a:schemeClr val="accent1"/>
                </a:solidFill>
              </a:rPr>
              <a:t>tư</a:t>
            </a:r>
            <a:r>
              <a:rPr lang="en-US" altLang="en-US" dirty="0">
                <a:solidFill>
                  <a:schemeClr val="accent1"/>
                </a:solidFill>
              </a:rPr>
              <a:t> </a:t>
            </a:r>
            <a:r>
              <a:rPr lang="en-US" altLang="en-US" dirty="0" err="1">
                <a:solidFill>
                  <a:schemeClr val="accent1"/>
                </a:solidFill>
              </a:rPr>
              <a:t>bản</a:t>
            </a:r>
            <a:r>
              <a:rPr lang="en-US" altLang="en-US" dirty="0">
                <a:solidFill>
                  <a:schemeClr val="accent1"/>
                </a:solidFill>
              </a:rPr>
              <a:t> </a:t>
            </a:r>
            <a:r>
              <a:rPr lang="en-US" altLang="en-US" dirty="0" err="1">
                <a:solidFill>
                  <a:schemeClr val="accent1"/>
                </a:solidFill>
              </a:rPr>
              <a:t>ngân</a:t>
            </a:r>
            <a:r>
              <a:rPr lang="en-US" altLang="en-US" dirty="0">
                <a:solidFill>
                  <a:schemeClr val="accent1"/>
                </a:solidFill>
              </a:rPr>
              <a:t> </a:t>
            </a:r>
            <a:r>
              <a:rPr lang="en-US" altLang="en-US" dirty="0" err="1">
                <a:solidFill>
                  <a:schemeClr val="accent1"/>
                </a:solidFill>
              </a:rPr>
              <a:t>hàng</a:t>
            </a:r>
            <a:r>
              <a:rPr lang="en-US" altLang="en-US" dirty="0">
                <a:solidFill>
                  <a:schemeClr val="accent1"/>
                </a:solidFill>
              </a:rPr>
              <a:t> </a:t>
            </a:r>
            <a:r>
              <a:rPr lang="en-US" altLang="en-US" dirty="0" err="1">
                <a:solidFill>
                  <a:schemeClr val="accent1"/>
                </a:solidFill>
              </a:rPr>
              <a:t>của</a:t>
            </a:r>
            <a:r>
              <a:rPr lang="en-US" altLang="en-US" dirty="0">
                <a:solidFill>
                  <a:schemeClr val="accent1"/>
                </a:solidFill>
              </a:rPr>
              <a:t> </a:t>
            </a:r>
            <a:r>
              <a:rPr lang="en-US" altLang="en-US" dirty="0" err="1">
                <a:solidFill>
                  <a:schemeClr val="accent1"/>
                </a:solidFill>
              </a:rPr>
              <a:t>một</a:t>
            </a:r>
            <a:r>
              <a:rPr lang="en-US" altLang="en-US" dirty="0">
                <a:solidFill>
                  <a:schemeClr val="accent1"/>
                </a:solidFill>
              </a:rPr>
              <a:t> </a:t>
            </a:r>
            <a:r>
              <a:rPr lang="en-US" altLang="en-US" dirty="0" err="1">
                <a:solidFill>
                  <a:schemeClr val="accent1"/>
                </a:solidFill>
              </a:rPr>
              <a:t>số</a:t>
            </a:r>
            <a:r>
              <a:rPr lang="en-US" altLang="en-US" dirty="0">
                <a:solidFill>
                  <a:schemeClr val="accent1"/>
                </a:solidFill>
              </a:rPr>
              <a:t> </a:t>
            </a:r>
            <a:r>
              <a:rPr lang="en-US" altLang="en-US" dirty="0" err="1">
                <a:solidFill>
                  <a:schemeClr val="accent1"/>
                </a:solidFill>
              </a:rPr>
              <a:t>ít</a:t>
            </a:r>
            <a:r>
              <a:rPr lang="en-US" altLang="en-US" dirty="0">
                <a:solidFill>
                  <a:schemeClr val="accent1"/>
                </a:solidFill>
              </a:rPr>
              <a:t> </a:t>
            </a:r>
            <a:r>
              <a:rPr lang="en-US" altLang="en-US" dirty="0" err="1">
                <a:solidFill>
                  <a:schemeClr val="accent1"/>
                </a:solidFill>
              </a:rPr>
              <a:t>ngân</a:t>
            </a:r>
            <a:r>
              <a:rPr lang="en-US" altLang="en-US" dirty="0">
                <a:solidFill>
                  <a:schemeClr val="accent1"/>
                </a:solidFill>
              </a:rPr>
              <a:t> </a:t>
            </a:r>
            <a:r>
              <a:rPr lang="en-US" altLang="en-US" dirty="0" err="1">
                <a:solidFill>
                  <a:schemeClr val="accent1"/>
                </a:solidFill>
              </a:rPr>
              <a:t>hàng</a:t>
            </a:r>
            <a:r>
              <a:rPr lang="en-US" altLang="en-US" dirty="0">
                <a:solidFill>
                  <a:schemeClr val="accent1"/>
                </a:solidFill>
              </a:rPr>
              <a:t> </a:t>
            </a:r>
            <a:r>
              <a:rPr lang="en-US" altLang="en-US" dirty="0" err="1">
                <a:solidFill>
                  <a:schemeClr val="accent1"/>
                </a:solidFill>
              </a:rPr>
              <a:t>độc</a:t>
            </a:r>
            <a:r>
              <a:rPr lang="en-US" altLang="en-US" dirty="0">
                <a:solidFill>
                  <a:schemeClr val="accent1"/>
                </a:solidFill>
              </a:rPr>
              <a:t> </a:t>
            </a:r>
            <a:r>
              <a:rPr lang="en-US" altLang="en-US" dirty="0" err="1">
                <a:solidFill>
                  <a:schemeClr val="accent1"/>
                </a:solidFill>
              </a:rPr>
              <a:t>quyền</a:t>
            </a:r>
            <a:r>
              <a:rPr lang="en-US" altLang="en-US" dirty="0">
                <a:solidFill>
                  <a:schemeClr val="accent1"/>
                </a:solidFill>
              </a:rPr>
              <a:t> </a:t>
            </a:r>
            <a:r>
              <a:rPr lang="en-US" altLang="en-US" dirty="0" err="1">
                <a:solidFill>
                  <a:schemeClr val="accent1"/>
                </a:solidFill>
              </a:rPr>
              <a:t>lớn</a:t>
            </a:r>
            <a:r>
              <a:rPr lang="en-US" altLang="en-US" dirty="0">
                <a:solidFill>
                  <a:schemeClr val="accent1"/>
                </a:solidFill>
              </a:rPr>
              <a:t> </a:t>
            </a:r>
            <a:r>
              <a:rPr lang="en-US" altLang="en-US" dirty="0" err="1">
                <a:solidFill>
                  <a:schemeClr val="accent1"/>
                </a:solidFill>
              </a:rPr>
              <a:t>nhất</a:t>
            </a:r>
            <a:r>
              <a:rPr lang="en-US" altLang="en-US" dirty="0">
                <a:solidFill>
                  <a:schemeClr val="accent1"/>
                </a:solidFill>
              </a:rPr>
              <a:t> </a:t>
            </a:r>
            <a:r>
              <a:rPr lang="en-US" altLang="en-US" dirty="0" err="1">
                <a:solidFill>
                  <a:schemeClr val="accent1"/>
                </a:solidFill>
              </a:rPr>
              <a:t>với</a:t>
            </a:r>
            <a:r>
              <a:rPr lang="en-US" altLang="en-US" dirty="0">
                <a:solidFill>
                  <a:schemeClr val="accent1"/>
                </a:solidFill>
              </a:rPr>
              <a:t> </a:t>
            </a:r>
            <a:r>
              <a:rPr lang="en-US" altLang="en-US" dirty="0" err="1">
                <a:solidFill>
                  <a:schemeClr val="accent1"/>
                </a:solidFill>
              </a:rPr>
              <a:t>tư</a:t>
            </a:r>
            <a:r>
              <a:rPr lang="en-US" altLang="en-US" dirty="0">
                <a:solidFill>
                  <a:schemeClr val="accent1"/>
                </a:solidFill>
              </a:rPr>
              <a:t> </a:t>
            </a:r>
            <a:r>
              <a:rPr lang="en-US" altLang="en-US" dirty="0" err="1">
                <a:solidFill>
                  <a:schemeClr val="accent1"/>
                </a:solidFill>
              </a:rPr>
              <a:t>bản</a:t>
            </a:r>
            <a:r>
              <a:rPr lang="en-US" altLang="en-US" dirty="0">
                <a:solidFill>
                  <a:schemeClr val="accent1"/>
                </a:solidFill>
              </a:rPr>
              <a:t> </a:t>
            </a:r>
            <a:r>
              <a:rPr lang="en-US" altLang="en-US" dirty="0" err="1">
                <a:solidFill>
                  <a:schemeClr val="accent1"/>
                </a:solidFill>
              </a:rPr>
              <a:t>của</a:t>
            </a:r>
            <a:r>
              <a:rPr lang="en-US" altLang="en-US" dirty="0">
                <a:solidFill>
                  <a:schemeClr val="accent1"/>
                </a:solidFill>
              </a:rPr>
              <a:t> </a:t>
            </a:r>
            <a:r>
              <a:rPr lang="en-US" altLang="en-US" dirty="0" err="1">
                <a:solidFill>
                  <a:schemeClr val="accent1"/>
                </a:solidFill>
              </a:rPr>
              <a:t>liên</a:t>
            </a:r>
            <a:r>
              <a:rPr lang="en-US" altLang="en-US" dirty="0">
                <a:solidFill>
                  <a:schemeClr val="accent1"/>
                </a:solidFill>
              </a:rPr>
              <a:t> </a:t>
            </a:r>
            <a:r>
              <a:rPr lang="en-US" altLang="en-US" dirty="0" err="1">
                <a:solidFill>
                  <a:schemeClr val="accent1"/>
                </a:solidFill>
              </a:rPr>
              <a:t>minh</a:t>
            </a:r>
            <a:r>
              <a:rPr lang="en-US" altLang="en-US" dirty="0">
                <a:solidFill>
                  <a:schemeClr val="accent1"/>
                </a:solidFill>
              </a:rPr>
              <a:t> </a:t>
            </a:r>
            <a:r>
              <a:rPr lang="en-US" altLang="en-US" dirty="0" err="1">
                <a:solidFill>
                  <a:schemeClr val="accent1"/>
                </a:solidFill>
              </a:rPr>
              <a:t>độc</a:t>
            </a:r>
            <a:r>
              <a:rPr lang="en-US" altLang="en-US" dirty="0">
                <a:solidFill>
                  <a:schemeClr val="accent1"/>
                </a:solidFill>
              </a:rPr>
              <a:t> </a:t>
            </a:r>
            <a:r>
              <a:rPr lang="en-US" altLang="en-US" dirty="0" err="1">
                <a:solidFill>
                  <a:schemeClr val="accent1"/>
                </a:solidFill>
              </a:rPr>
              <a:t>quyền</a:t>
            </a:r>
            <a:r>
              <a:rPr lang="en-US" altLang="en-US" dirty="0">
                <a:solidFill>
                  <a:schemeClr val="accent1"/>
                </a:solidFill>
              </a:rPr>
              <a:t> </a:t>
            </a:r>
            <a:r>
              <a:rPr lang="en-US" altLang="en-US" dirty="0" err="1">
                <a:solidFill>
                  <a:schemeClr val="accent1"/>
                </a:solidFill>
              </a:rPr>
              <a:t>các</a:t>
            </a:r>
            <a:r>
              <a:rPr lang="en-US" altLang="en-US" dirty="0">
                <a:solidFill>
                  <a:schemeClr val="accent1"/>
                </a:solidFill>
              </a:rPr>
              <a:t> </a:t>
            </a:r>
            <a:r>
              <a:rPr lang="en-US" altLang="en-US" dirty="0" err="1">
                <a:solidFill>
                  <a:schemeClr val="accent1"/>
                </a:solidFill>
              </a:rPr>
              <a:t>nhà</a:t>
            </a:r>
            <a:r>
              <a:rPr lang="en-US" altLang="en-US" dirty="0">
                <a:solidFill>
                  <a:schemeClr val="accent1"/>
                </a:solidFill>
              </a:rPr>
              <a:t> </a:t>
            </a:r>
            <a:r>
              <a:rPr lang="en-US" altLang="en-US" dirty="0" err="1">
                <a:solidFill>
                  <a:schemeClr val="accent1"/>
                </a:solidFill>
              </a:rPr>
              <a:t>công</a:t>
            </a:r>
            <a:r>
              <a:rPr lang="en-US" altLang="en-US" dirty="0">
                <a:solidFill>
                  <a:schemeClr val="accent1"/>
                </a:solidFill>
              </a:rPr>
              <a:t> </a:t>
            </a:r>
            <a:r>
              <a:rPr lang="en-US" altLang="en-US" dirty="0" err="1">
                <a:solidFill>
                  <a:schemeClr val="accent1"/>
                </a:solidFill>
              </a:rPr>
              <a:t>nghiệp</a:t>
            </a:r>
            <a:r>
              <a:rPr lang="en-US" altLang="en-US" dirty="0">
                <a:solidFill>
                  <a:schemeClr val="accent1"/>
                </a:solidFill>
              </a:rPr>
              <a:t>”</a:t>
            </a:r>
          </a:p>
        </p:txBody>
      </p:sp>
    </p:spTree>
    <p:extLst>
      <p:ext uri="{BB962C8B-B14F-4D97-AF65-F5344CB8AC3E}">
        <p14:creationId xmlns:p14="http://schemas.microsoft.com/office/powerpoint/2010/main" val="2342092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493" y="1431235"/>
            <a:ext cx="11100021" cy="1868019"/>
          </a:xfrm>
        </p:spPr>
        <p:txBody>
          <a:bodyPr/>
          <a:lstStyle/>
          <a:p>
            <a:pPr marL="0" indent="803275">
              <a:buNone/>
            </a:pPr>
            <a:r>
              <a:rPr lang="vi-VN" dirty="0"/>
              <a:t>Sự phát triển của tư bản tài chính dần dần dẫn đến sự hình thành một nhóm nhỏ những nhà tư bản kếch XÌI chi phối toàn bộ đời sống kinh tế, chính trị của toàn xã hội, gợi là tài phiệt (hay đầu sỏ tài chính, trùm tài chính).</a:t>
            </a:r>
            <a:endParaRPr lang="en-US" dirty="0"/>
          </a:p>
          <a:p>
            <a:endParaRPr lang="en-US" dirty="0"/>
          </a:p>
        </p:txBody>
      </p:sp>
      <p:sp>
        <p:nvSpPr>
          <p:cNvPr id="2" name="TextBox 1">
            <a:extLst>
              <a:ext uri="{FF2B5EF4-FFF2-40B4-BE49-F238E27FC236}">
                <a16:creationId xmlns:a16="http://schemas.microsoft.com/office/drawing/2014/main" id="{C06E45E5-9EA3-4A5F-B42C-FDB3DA5A4318}"/>
              </a:ext>
            </a:extLst>
          </p:cNvPr>
          <p:cNvSpPr txBox="1"/>
          <p:nvPr/>
        </p:nvSpPr>
        <p:spPr>
          <a:xfrm>
            <a:off x="1330036" y="3299254"/>
            <a:ext cx="9809019" cy="2677656"/>
          </a:xfrm>
          <a:prstGeom prst="rect">
            <a:avLst/>
          </a:prstGeom>
          <a:noFill/>
        </p:spPr>
        <p:txBody>
          <a:bodyPr wrap="square" rtlCol="0">
            <a:spAutoFit/>
          </a:bodyPr>
          <a:lstStyle/>
          <a:p>
            <a:r>
              <a:rPr lang="vi-VN" sz="2800" dirty="0">
                <a:solidFill>
                  <a:schemeClr val="accent1"/>
                </a:solidFill>
                <a:effectLst/>
                <a:latin typeface="Times New Roman" panose="02020603050405020304" pitchFamily="18" charset="0"/>
                <a:ea typeface="Times New Roman" panose="02020603050405020304" pitchFamily="18" charset="0"/>
              </a:rPr>
              <a:t>“chế độ tham dự” là một nhà tài chính lớn, hoặc một tập đoàn tài chính mua số cồ phiếu khống chế, chi phối một cônẹ ty lớn nhất - công ty gốc gọi là "công ty mẹ"; công ty này lại mua được </a:t>
            </a:r>
            <a:r>
              <a:rPr lang="en-US" sz="2800" dirty="0">
                <a:solidFill>
                  <a:schemeClr val="accent1"/>
                </a:solidFill>
                <a:effectLst/>
                <a:latin typeface="Times New Roman" panose="02020603050405020304" pitchFamily="18" charset="0"/>
                <a:ea typeface="Times New Roman" panose="02020603050405020304" pitchFamily="18" charset="0"/>
              </a:rPr>
              <a:t>co </a:t>
            </a:r>
            <a:r>
              <a:rPr lang="vi-VN" sz="2800" dirty="0">
                <a:solidFill>
                  <a:schemeClr val="accent1"/>
                </a:solidFill>
                <a:effectLst/>
                <a:latin typeface="Times New Roman" panose="02020603050405020304" pitchFamily="18" charset="0"/>
                <a:ea typeface="Times New Roman" panose="02020603050405020304" pitchFamily="18" charset="0"/>
              </a:rPr>
              <a:t>phiếu khống chê, thông trị các "công ty con"; "công ty con" đên lượt nó lại chi phôi các "công ty cháu",...</a:t>
            </a:r>
            <a:endParaRPr lang="en-US" sz="2800" dirty="0">
              <a:solidFill>
                <a:schemeClr val="accent1"/>
              </a:solidFill>
              <a:effectLst/>
              <a:latin typeface="Times New Roman" panose="02020603050405020304" pitchFamily="18" charset="0"/>
              <a:ea typeface="Times New Roman" panose="02020603050405020304" pitchFamily="18" charset="0"/>
            </a:endParaRPr>
          </a:p>
          <a:p>
            <a:endParaRPr lang="en-US" sz="2800" dirty="0">
              <a:solidFill>
                <a:schemeClr val="accent1"/>
              </a:solidFill>
            </a:endParaRPr>
          </a:p>
        </p:txBody>
      </p:sp>
    </p:spTree>
    <p:extLst>
      <p:ext uri="{BB962C8B-B14F-4D97-AF65-F5344CB8AC3E}">
        <p14:creationId xmlns:p14="http://schemas.microsoft.com/office/powerpoint/2010/main" val="842836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a:spLocks noChangeArrowheads="1"/>
          </p:cNvSpPr>
          <p:nvPr/>
        </p:nvSpPr>
        <p:spPr bwMode="ltGray">
          <a:xfrm>
            <a:off x="215900" y="4419600"/>
            <a:ext cx="2336800" cy="1085850"/>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3200"/>
              <a:t>Đầu sỏ tài chính</a:t>
            </a:r>
          </a:p>
        </p:txBody>
      </p:sp>
      <p:sp>
        <p:nvSpPr>
          <p:cNvPr id="16387" name="Text Box 5"/>
          <p:cNvSpPr txBox="1">
            <a:spLocks noChangeArrowheads="1"/>
          </p:cNvSpPr>
          <p:nvPr/>
        </p:nvSpPr>
        <p:spPr bwMode="ltGray">
          <a:xfrm>
            <a:off x="5981700" y="4476750"/>
            <a:ext cx="2336800" cy="1085850"/>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3200"/>
              <a:t>Thống trị kinh tế</a:t>
            </a:r>
          </a:p>
        </p:txBody>
      </p:sp>
      <p:sp>
        <p:nvSpPr>
          <p:cNvPr id="16388" name="Text Box 6"/>
          <p:cNvSpPr txBox="1">
            <a:spLocks noChangeArrowheads="1"/>
          </p:cNvSpPr>
          <p:nvPr/>
        </p:nvSpPr>
        <p:spPr bwMode="ltGray">
          <a:xfrm>
            <a:off x="9563100" y="4454525"/>
            <a:ext cx="2489200" cy="1085850"/>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3200"/>
              <a:t>Thống trị chính trị</a:t>
            </a:r>
          </a:p>
        </p:txBody>
      </p:sp>
      <p:sp>
        <p:nvSpPr>
          <p:cNvPr id="16389" name="Text Box 7"/>
          <p:cNvSpPr txBox="1">
            <a:spLocks noChangeArrowheads="1"/>
          </p:cNvSpPr>
          <p:nvPr/>
        </p:nvSpPr>
        <p:spPr bwMode="ltGray">
          <a:xfrm>
            <a:off x="431800" y="1390651"/>
            <a:ext cx="11480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just" eaLnBrk="1" hangingPunct="1">
              <a:spcBef>
                <a:spcPct val="50000"/>
              </a:spcBef>
            </a:pPr>
            <a:r>
              <a:rPr lang="en-US" altLang="en-US" sz="3200" dirty="0"/>
              <a:t>Sự phát triển của tư bản tài chính dẫn đến một nhóm độc quyền chi phối toàn bộ đời sống kinh tế và chính trị của toàn xã hội tư bản gọi là bọn đầu sỏ tài chính.</a:t>
            </a:r>
          </a:p>
        </p:txBody>
      </p:sp>
      <p:sp>
        <p:nvSpPr>
          <p:cNvPr id="16390" name="Line 8"/>
          <p:cNvSpPr>
            <a:spLocks noChangeShapeType="1"/>
          </p:cNvSpPr>
          <p:nvPr/>
        </p:nvSpPr>
        <p:spPr bwMode="ltGray">
          <a:xfrm>
            <a:off x="2578100" y="4972050"/>
            <a:ext cx="3352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1" name="Line 9"/>
          <p:cNvSpPr>
            <a:spLocks noChangeShapeType="1"/>
          </p:cNvSpPr>
          <p:nvPr/>
        </p:nvSpPr>
        <p:spPr bwMode="ltGray">
          <a:xfrm>
            <a:off x="8318500" y="4991100"/>
            <a:ext cx="1219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2" name="Text Box 10"/>
          <p:cNvSpPr txBox="1">
            <a:spLocks noChangeArrowheads="1"/>
          </p:cNvSpPr>
          <p:nvPr/>
        </p:nvSpPr>
        <p:spPr bwMode="ltGray">
          <a:xfrm>
            <a:off x="2781300" y="443865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sz="2400"/>
              <a:t>Chế độ tham dự</a:t>
            </a:r>
          </a:p>
        </p:txBody>
      </p:sp>
    </p:spTree>
    <p:extLst>
      <p:ext uri="{BB962C8B-B14F-4D97-AF65-F5344CB8AC3E}">
        <p14:creationId xmlns:p14="http://schemas.microsoft.com/office/powerpoint/2010/main" val="331879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8"/>
          <p:cNvSpPr txBox="1">
            <a:spLocks noChangeArrowheads="1"/>
          </p:cNvSpPr>
          <p:nvPr/>
        </p:nvSpPr>
        <p:spPr bwMode="ltGray">
          <a:xfrm>
            <a:off x="298451" y="2414588"/>
            <a:ext cx="2641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dirty="0"/>
              <a:t>CNTB tự do cạnh tranh</a:t>
            </a:r>
          </a:p>
        </p:txBody>
      </p:sp>
      <p:sp>
        <p:nvSpPr>
          <p:cNvPr id="17413" name="Text Box 9"/>
          <p:cNvSpPr txBox="1">
            <a:spLocks noChangeArrowheads="1"/>
          </p:cNvSpPr>
          <p:nvPr/>
        </p:nvSpPr>
        <p:spPr bwMode="ltGray">
          <a:xfrm>
            <a:off x="4286251" y="2711451"/>
            <a:ext cx="233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000" b="1"/>
              <a:t>XUẤT KHẨU HÀNG HOÁ</a:t>
            </a:r>
          </a:p>
        </p:txBody>
      </p:sp>
      <p:sp>
        <p:nvSpPr>
          <p:cNvPr id="17414" name="Text Box 10"/>
          <p:cNvSpPr txBox="1">
            <a:spLocks noChangeArrowheads="1"/>
          </p:cNvSpPr>
          <p:nvPr/>
        </p:nvSpPr>
        <p:spPr bwMode="ltGray">
          <a:xfrm>
            <a:off x="8007352" y="2239963"/>
            <a:ext cx="3676649" cy="1200329"/>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just" eaLnBrk="1" hangingPunct="1">
              <a:spcBef>
                <a:spcPct val="50000"/>
              </a:spcBef>
            </a:pPr>
            <a:r>
              <a:rPr lang="en-US" altLang="en-US" sz="2400" b="1"/>
              <a:t>XK hàng hoá ra nước ngoài nhằm mục đích thực hiện giá trị</a:t>
            </a:r>
          </a:p>
        </p:txBody>
      </p:sp>
      <p:sp>
        <p:nvSpPr>
          <p:cNvPr id="17415" name="Text Box 11"/>
          <p:cNvSpPr txBox="1">
            <a:spLocks noChangeArrowheads="1"/>
          </p:cNvSpPr>
          <p:nvPr/>
        </p:nvSpPr>
        <p:spPr bwMode="ltGray">
          <a:xfrm>
            <a:off x="446617" y="4652963"/>
            <a:ext cx="233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CNTB độc quyền</a:t>
            </a:r>
          </a:p>
        </p:txBody>
      </p:sp>
      <p:sp>
        <p:nvSpPr>
          <p:cNvPr id="17416" name="Text Box 12"/>
          <p:cNvSpPr txBox="1">
            <a:spLocks noChangeArrowheads="1"/>
          </p:cNvSpPr>
          <p:nvPr/>
        </p:nvSpPr>
        <p:spPr bwMode="ltGray">
          <a:xfrm>
            <a:off x="4303184" y="4832351"/>
            <a:ext cx="233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000" b="1"/>
              <a:t>XUẤT KHẨU TƯ BẢN</a:t>
            </a:r>
          </a:p>
        </p:txBody>
      </p:sp>
      <p:sp>
        <p:nvSpPr>
          <p:cNvPr id="17417" name="Text Box 13"/>
          <p:cNvSpPr txBox="1">
            <a:spLocks noChangeArrowheads="1"/>
          </p:cNvSpPr>
          <p:nvPr/>
        </p:nvSpPr>
        <p:spPr bwMode="ltGray">
          <a:xfrm>
            <a:off x="7812617" y="4305300"/>
            <a:ext cx="4165600" cy="1200329"/>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just" eaLnBrk="1" hangingPunct="1">
              <a:spcBef>
                <a:spcPct val="50000"/>
              </a:spcBef>
            </a:pPr>
            <a:r>
              <a:rPr lang="en-US" altLang="en-US" sz="2400" b="1"/>
              <a:t>XK giá trị ra nước ngoài nhằm mục đích chiếm đoạt GTTD ở các nước NK tư bản</a:t>
            </a:r>
          </a:p>
        </p:txBody>
      </p:sp>
      <p:sp>
        <p:nvSpPr>
          <p:cNvPr id="17418" name="AutoShape 14"/>
          <p:cNvSpPr>
            <a:spLocks noChangeArrowheads="1"/>
          </p:cNvSpPr>
          <p:nvPr/>
        </p:nvSpPr>
        <p:spPr bwMode="ltGray">
          <a:xfrm>
            <a:off x="372533" y="2289175"/>
            <a:ext cx="2540000" cy="13716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7419" name="AutoShape 15"/>
          <p:cNvSpPr>
            <a:spLocks noChangeArrowheads="1"/>
          </p:cNvSpPr>
          <p:nvPr/>
        </p:nvSpPr>
        <p:spPr bwMode="ltGray">
          <a:xfrm>
            <a:off x="345017" y="4418013"/>
            <a:ext cx="2540000" cy="13716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7420" name="AutoShape 16"/>
          <p:cNvSpPr>
            <a:spLocks noChangeArrowheads="1"/>
          </p:cNvSpPr>
          <p:nvPr/>
        </p:nvSpPr>
        <p:spPr bwMode="ltGray">
          <a:xfrm>
            <a:off x="3780367" y="2268539"/>
            <a:ext cx="3454400" cy="1550987"/>
          </a:xfrm>
          <a:prstGeom prst="diamond">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7421" name="AutoShape 17"/>
          <p:cNvSpPr>
            <a:spLocks noChangeArrowheads="1"/>
          </p:cNvSpPr>
          <p:nvPr/>
        </p:nvSpPr>
        <p:spPr bwMode="ltGray">
          <a:xfrm>
            <a:off x="3790951" y="4340225"/>
            <a:ext cx="3454400" cy="1550988"/>
          </a:xfrm>
          <a:prstGeom prst="diamond">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7422" name="Line 18"/>
          <p:cNvSpPr>
            <a:spLocks noChangeShapeType="1"/>
          </p:cNvSpPr>
          <p:nvPr/>
        </p:nvSpPr>
        <p:spPr bwMode="ltGray">
          <a:xfrm>
            <a:off x="2899833" y="5110163"/>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3" name="Line 19"/>
          <p:cNvSpPr>
            <a:spLocks noChangeShapeType="1"/>
          </p:cNvSpPr>
          <p:nvPr/>
        </p:nvSpPr>
        <p:spPr bwMode="ltGray">
          <a:xfrm>
            <a:off x="2946400" y="3016250"/>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4" name="Line 20"/>
          <p:cNvSpPr>
            <a:spLocks noChangeShapeType="1"/>
          </p:cNvSpPr>
          <p:nvPr/>
        </p:nvSpPr>
        <p:spPr bwMode="ltGray">
          <a:xfrm>
            <a:off x="7213600" y="3051175"/>
            <a:ext cx="812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5" name="Line 21"/>
          <p:cNvSpPr>
            <a:spLocks noChangeShapeType="1"/>
          </p:cNvSpPr>
          <p:nvPr/>
        </p:nvSpPr>
        <p:spPr bwMode="ltGray">
          <a:xfrm>
            <a:off x="7213600" y="5122863"/>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Title 1"/>
          <p:cNvSpPr txBox="1">
            <a:spLocks/>
          </p:cNvSpPr>
          <p:nvPr/>
        </p:nvSpPr>
        <p:spPr>
          <a:xfrm>
            <a:off x="2043484" y="365126"/>
            <a:ext cx="9310315" cy="94684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i="1"/>
              <a:t>4.2.1.3 </a:t>
            </a:r>
            <a:r>
              <a:rPr lang="vi-VN" i="1"/>
              <a:t>Xuất khẩu tư bản trở thành phổ biến</a:t>
            </a:r>
            <a:endParaRPr lang="en-US" dirty="0"/>
          </a:p>
        </p:txBody>
      </p:sp>
    </p:spTree>
    <p:extLst>
      <p:ext uri="{BB962C8B-B14F-4D97-AF65-F5344CB8AC3E}">
        <p14:creationId xmlns:p14="http://schemas.microsoft.com/office/powerpoint/2010/main" val="155233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a:spLocks noChangeArrowheads="1"/>
          </p:cNvSpPr>
          <p:nvPr/>
        </p:nvSpPr>
        <p:spPr bwMode="ltGray">
          <a:xfrm>
            <a:off x="192618" y="2111376"/>
            <a:ext cx="2169583"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Tích luỹ tư bản</a:t>
            </a:r>
          </a:p>
        </p:txBody>
      </p:sp>
      <p:sp>
        <p:nvSpPr>
          <p:cNvPr id="18435" name="Text Box 5"/>
          <p:cNvSpPr txBox="1">
            <a:spLocks noChangeArrowheads="1"/>
          </p:cNvSpPr>
          <p:nvPr/>
        </p:nvSpPr>
        <p:spPr bwMode="ltGray">
          <a:xfrm>
            <a:off x="2798233" y="1876426"/>
            <a:ext cx="2336800" cy="138271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Tích luỹ khối lượng tư bản lớn</a:t>
            </a:r>
          </a:p>
        </p:txBody>
      </p:sp>
      <p:sp>
        <p:nvSpPr>
          <p:cNvPr id="18436" name="Text Box 6"/>
          <p:cNvSpPr txBox="1">
            <a:spLocks noChangeArrowheads="1"/>
          </p:cNvSpPr>
          <p:nvPr/>
        </p:nvSpPr>
        <p:spPr bwMode="ltGray">
          <a:xfrm>
            <a:off x="5590117" y="2062164"/>
            <a:ext cx="26416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Tư bản thừa “tương đối”</a:t>
            </a:r>
          </a:p>
        </p:txBody>
      </p:sp>
      <p:sp>
        <p:nvSpPr>
          <p:cNvPr id="18437" name="Text Box 7"/>
          <p:cNvSpPr txBox="1">
            <a:spLocks noChangeArrowheads="1"/>
          </p:cNvSpPr>
          <p:nvPr/>
        </p:nvSpPr>
        <p:spPr bwMode="ltGray">
          <a:xfrm>
            <a:off x="192618" y="3773489"/>
            <a:ext cx="2271183"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Các nước nhỏ, kém </a:t>
            </a:r>
          </a:p>
        </p:txBody>
      </p:sp>
      <p:sp>
        <p:nvSpPr>
          <p:cNvPr id="18438" name="Text Box 8"/>
          <p:cNvSpPr txBox="1">
            <a:spLocks noChangeArrowheads="1"/>
          </p:cNvSpPr>
          <p:nvPr/>
        </p:nvSpPr>
        <p:spPr bwMode="ltGray">
          <a:xfrm>
            <a:off x="5410200" y="4024314"/>
            <a:ext cx="29464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Thiếu tư bản</a:t>
            </a:r>
          </a:p>
        </p:txBody>
      </p:sp>
      <p:sp>
        <p:nvSpPr>
          <p:cNvPr id="18439" name="Text Box 9"/>
          <p:cNvSpPr txBox="1">
            <a:spLocks noChangeArrowheads="1"/>
          </p:cNvSpPr>
          <p:nvPr/>
        </p:nvSpPr>
        <p:spPr bwMode="ltGray">
          <a:xfrm>
            <a:off x="8458200" y="3248025"/>
            <a:ext cx="25400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XK tư bản</a:t>
            </a:r>
          </a:p>
        </p:txBody>
      </p:sp>
      <p:sp>
        <p:nvSpPr>
          <p:cNvPr id="18440" name="Text Box 10"/>
          <p:cNvSpPr txBox="1">
            <a:spLocks noChangeArrowheads="1"/>
          </p:cNvSpPr>
          <p:nvPr/>
        </p:nvSpPr>
        <p:spPr bwMode="ltGray">
          <a:xfrm>
            <a:off x="9946217" y="2312989"/>
            <a:ext cx="21336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Trực tiếp</a:t>
            </a:r>
          </a:p>
        </p:txBody>
      </p:sp>
      <p:sp>
        <p:nvSpPr>
          <p:cNvPr id="18441" name="Text Box 11"/>
          <p:cNvSpPr txBox="1">
            <a:spLocks noChangeArrowheads="1"/>
          </p:cNvSpPr>
          <p:nvPr/>
        </p:nvSpPr>
        <p:spPr bwMode="ltGray">
          <a:xfrm>
            <a:off x="10001251" y="4149725"/>
            <a:ext cx="21336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Gián tiếp</a:t>
            </a:r>
          </a:p>
        </p:txBody>
      </p:sp>
      <p:sp>
        <p:nvSpPr>
          <p:cNvPr id="18442" name="Text Box 12"/>
          <p:cNvSpPr txBox="1">
            <a:spLocks noChangeArrowheads="1"/>
          </p:cNvSpPr>
          <p:nvPr/>
        </p:nvSpPr>
        <p:spPr bwMode="ltGray">
          <a:xfrm>
            <a:off x="127000" y="5534026"/>
            <a:ext cx="22352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Giá ruộng đất thấp</a:t>
            </a:r>
          </a:p>
        </p:txBody>
      </p:sp>
      <p:sp>
        <p:nvSpPr>
          <p:cNvPr id="18443" name="Text Box 13"/>
          <p:cNvSpPr txBox="1">
            <a:spLocks noChangeArrowheads="1"/>
          </p:cNvSpPr>
          <p:nvPr/>
        </p:nvSpPr>
        <p:spPr bwMode="ltGray">
          <a:xfrm>
            <a:off x="2667000" y="5762625"/>
            <a:ext cx="33528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Tiền lương thấp</a:t>
            </a:r>
          </a:p>
        </p:txBody>
      </p:sp>
      <p:sp>
        <p:nvSpPr>
          <p:cNvPr id="18444" name="Text Box 14"/>
          <p:cNvSpPr txBox="1">
            <a:spLocks noChangeArrowheads="1"/>
          </p:cNvSpPr>
          <p:nvPr/>
        </p:nvSpPr>
        <p:spPr bwMode="ltGray">
          <a:xfrm>
            <a:off x="6223000" y="5762625"/>
            <a:ext cx="33528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Nguyên liệu rẻ</a:t>
            </a:r>
          </a:p>
        </p:txBody>
      </p:sp>
      <p:sp>
        <p:nvSpPr>
          <p:cNvPr id="18445" name="Line 15"/>
          <p:cNvSpPr>
            <a:spLocks noChangeShapeType="1"/>
          </p:cNvSpPr>
          <p:nvPr/>
        </p:nvSpPr>
        <p:spPr bwMode="ltGray">
          <a:xfrm flipV="1">
            <a:off x="1778000" y="2659063"/>
            <a:ext cx="0" cy="284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6" name="Line 16"/>
          <p:cNvSpPr>
            <a:spLocks noChangeShapeType="1"/>
          </p:cNvSpPr>
          <p:nvPr/>
        </p:nvSpPr>
        <p:spPr bwMode="ltGray">
          <a:xfrm flipV="1">
            <a:off x="2233084" y="4327526"/>
            <a:ext cx="0" cy="284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7" name="Line 17"/>
          <p:cNvSpPr>
            <a:spLocks noChangeShapeType="1"/>
          </p:cNvSpPr>
          <p:nvPr/>
        </p:nvSpPr>
        <p:spPr bwMode="ltGray">
          <a:xfrm>
            <a:off x="2362200" y="2562225"/>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Line 18"/>
          <p:cNvSpPr>
            <a:spLocks noChangeShapeType="1"/>
          </p:cNvSpPr>
          <p:nvPr/>
        </p:nvSpPr>
        <p:spPr bwMode="ltGray">
          <a:xfrm>
            <a:off x="5154084" y="2611438"/>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Line 19"/>
          <p:cNvSpPr>
            <a:spLocks noChangeShapeType="1"/>
          </p:cNvSpPr>
          <p:nvPr/>
        </p:nvSpPr>
        <p:spPr bwMode="ltGray">
          <a:xfrm>
            <a:off x="2463800" y="4259263"/>
            <a:ext cx="294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0" name="Line 20"/>
          <p:cNvSpPr>
            <a:spLocks noChangeShapeType="1"/>
          </p:cNvSpPr>
          <p:nvPr/>
        </p:nvSpPr>
        <p:spPr bwMode="ltGray">
          <a:xfrm>
            <a:off x="8227484" y="2486025"/>
            <a:ext cx="101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1" name="Line 21"/>
          <p:cNvSpPr>
            <a:spLocks noChangeShapeType="1"/>
          </p:cNvSpPr>
          <p:nvPr/>
        </p:nvSpPr>
        <p:spPr bwMode="ltGray">
          <a:xfrm>
            <a:off x="9251951" y="2486026"/>
            <a:ext cx="0" cy="727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2" name="Line 22"/>
          <p:cNvSpPr>
            <a:spLocks noChangeShapeType="1"/>
          </p:cNvSpPr>
          <p:nvPr/>
        </p:nvSpPr>
        <p:spPr bwMode="ltGray">
          <a:xfrm>
            <a:off x="9251951" y="3795713"/>
            <a:ext cx="0" cy="519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3" name="Line 23"/>
          <p:cNvSpPr>
            <a:spLocks noChangeShapeType="1"/>
          </p:cNvSpPr>
          <p:nvPr/>
        </p:nvSpPr>
        <p:spPr bwMode="ltGray">
          <a:xfrm flipH="1">
            <a:off x="8329084" y="4314825"/>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4" name="Line 24"/>
          <p:cNvSpPr>
            <a:spLocks noChangeShapeType="1"/>
          </p:cNvSpPr>
          <p:nvPr/>
        </p:nvSpPr>
        <p:spPr bwMode="ltGray">
          <a:xfrm>
            <a:off x="11017251" y="3490913"/>
            <a:ext cx="40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25"/>
          <p:cNvSpPr>
            <a:spLocks noChangeShapeType="1"/>
          </p:cNvSpPr>
          <p:nvPr/>
        </p:nvSpPr>
        <p:spPr bwMode="ltGray">
          <a:xfrm>
            <a:off x="11451167" y="2846388"/>
            <a:ext cx="0" cy="1295400"/>
          </a:xfrm>
          <a:prstGeom prst="line">
            <a:avLst/>
          </a:prstGeom>
          <a:noFill/>
          <a:ln w="9525">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8456" name="Line 26"/>
          <p:cNvSpPr>
            <a:spLocks noChangeShapeType="1"/>
          </p:cNvSpPr>
          <p:nvPr/>
        </p:nvSpPr>
        <p:spPr bwMode="ltGray">
          <a:xfrm>
            <a:off x="1473200" y="4733925"/>
            <a:ext cx="2616200" cy="342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27"/>
          <p:cNvSpPr>
            <a:spLocks noChangeShapeType="1"/>
          </p:cNvSpPr>
          <p:nvPr/>
        </p:nvSpPr>
        <p:spPr bwMode="ltGray">
          <a:xfrm>
            <a:off x="1346200" y="5076825"/>
            <a:ext cx="5791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8" name="Line 28"/>
          <p:cNvSpPr>
            <a:spLocks noChangeShapeType="1"/>
          </p:cNvSpPr>
          <p:nvPr/>
        </p:nvSpPr>
        <p:spPr bwMode="ltGray">
          <a:xfrm>
            <a:off x="3987800" y="5076825"/>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9" name="Line 29"/>
          <p:cNvSpPr>
            <a:spLocks noChangeShapeType="1"/>
          </p:cNvSpPr>
          <p:nvPr/>
        </p:nvSpPr>
        <p:spPr bwMode="ltGray">
          <a:xfrm>
            <a:off x="1346200" y="5076825"/>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0" name="Line 30"/>
          <p:cNvSpPr>
            <a:spLocks noChangeShapeType="1"/>
          </p:cNvSpPr>
          <p:nvPr/>
        </p:nvSpPr>
        <p:spPr bwMode="ltGray">
          <a:xfrm>
            <a:off x="7137400" y="5076825"/>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1" name="Text Box 31"/>
          <p:cNvSpPr txBox="1">
            <a:spLocks noChangeArrowheads="1"/>
          </p:cNvSpPr>
          <p:nvPr/>
        </p:nvSpPr>
        <p:spPr bwMode="auto">
          <a:xfrm>
            <a:off x="406400" y="1066801"/>
            <a:ext cx="1117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b="1" u="sng"/>
              <a:t>Khái quát quá trình xuất khẩu tư bản</a:t>
            </a:r>
          </a:p>
        </p:txBody>
      </p:sp>
    </p:spTree>
    <p:extLst>
      <p:ext uri="{BB962C8B-B14F-4D97-AF65-F5344CB8AC3E}">
        <p14:creationId xmlns:p14="http://schemas.microsoft.com/office/powerpoint/2010/main" val="931873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p:cNvSpPr txBox="1">
            <a:spLocks noChangeArrowheads="1"/>
          </p:cNvSpPr>
          <p:nvPr/>
        </p:nvSpPr>
        <p:spPr bwMode="ltGray">
          <a:xfrm>
            <a:off x="406400" y="2638426"/>
            <a:ext cx="22352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Xuất khẩu tư bản</a:t>
            </a:r>
          </a:p>
        </p:txBody>
      </p:sp>
      <p:sp>
        <p:nvSpPr>
          <p:cNvPr id="19459" name="Text Box 5"/>
          <p:cNvSpPr txBox="1">
            <a:spLocks noChangeArrowheads="1"/>
          </p:cNvSpPr>
          <p:nvPr/>
        </p:nvSpPr>
        <p:spPr bwMode="ltGray">
          <a:xfrm>
            <a:off x="3352800" y="1295400"/>
            <a:ext cx="20320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Trực tiếp (FDI)</a:t>
            </a:r>
          </a:p>
        </p:txBody>
      </p:sp>
      <p:sp>
        <p:nvSpPr>
          <p:cNvPr id="19460" name="Text Box 6"/>
          <p:cNvSpPr txBox="1">
            <a:spLocks noChangeArrowheads="1"/>
          </p:cNvSpPr>
          <p:nvPr/>
        </p:nvSpPr>
        <p:spPr bwMode="ltGray">
          <a:xfrm>
            <a:off x="3388784" y="3833814"/>
            <a:ext cx="21336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dirty="0" err="1"/>
              <a:t>Gián</a:t>
            </a:r>
            <a:r>
              <a:rPr lang="en-US" altLang="en-US" dirty="0"/>
              <a:t> </a:t>
            </a:r>
            <a:r>
              <a:rPr lang="en-US" altLang="en-US" dirty="0" err="1"/>
              <a:t>tiếp</a:t>
            </a:r>
            <a:r>
              <a:rPr lang="en-US" altLang="en-US" dirty="0"/>
              <a:t> (ODA)</a:t>
            </a:r>
          </a:p>
        </p:txBody>
      </p:sp>
      <p:sp>
        <p:nvSpPr>
          <p:cNvPr id="19461" name="Text Box 7"/>
          <p:cNvSpPr txBox="1">
            <a:spLocks noChangeArrowheads="1"/>
          </p:cNvSpPr>
          <p:nvPr/>
        </p:nvSpPr>
        <p:spPr bwMode="ltGray">
          <a:xfrm>
            <a:off x="6354233" y="2706689"/>
            <a:ext cx="21336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Mục tiêu</a:t>
            </a:r>
          </a:p>
        </p:txBody>
      </p:sp>
      <p:sp>
        <p:nvSpPr>
          <p:cNvPr id="19462" name="Text Box 8"/>
          <p:cNvSpPr txBox="1">
            <a:spLocks noChangeArrowheads="1"/>
          </p:cNvSpPr>
          <p:nvPr/>
        </p:nvSpPr>
        <p:spPr bwMode="ltGray">
          <a:xfrm>
            <a:off x="9973733" y="2051050"/>
            <a:ext cx="20320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Kinh tế</a:t>
            </a:r>
          </a:p>
        </p:txBody>
      </p:sp>
      <p:sp>
        <p:nvSpPr>
          <p:cNvPr id="19463" name="Text Box 9"/>
          <p:cNvSpPr txBox="1">
            <a:spLocks noChangeArrowheads="1"/>
          </p:cNvSpPr>
          <p:nvPr/>
        </p:nvSpPr>
        <p:spPr bwMode="ltGray">
          <a:xfrm>
            <a:off x="9753600" y="3659189"/>
            <a:ext cx="21336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Chính trị</a:t>
            </a:r>
          </a:p>
        </p:txBody>
      </p:sp>
      <p:sp>
        <p:nvSpPr>
          <p:cNvPr id="19464" name="AutoShape 10"/>
          <p:cNvSpPr>
            <a:spLocks/>
          </p:cNvSpPr>
          <p:nvPr/>
        </p:nvSpPr>
        <p:spPr bwMode="ltGray">
          <a:xfrm>
            <a:off x="5486400" y="1752600"/>
            <a:ext cx="812800" cy="2590800"/>
          </a:xfrm>
          <a:prstGeom prst="rightBrace">
            <a:avLst>
              <a:gd name="adj1" fmla="val 3541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endParaRPr lang="en-US" altLang="en-US"/>
          </a:p>
        </p:txBody>
      </p:sp>
      <p:sp>
        <p:nvSpPr>
          <p:cNvPr id="19465" name="Line 11"/>
          <p:cNvSpPr>
            <a:spLocks noChangeShapeType="1"/>
          </p:cNvSpPr>
          <p:nvPr/>
        </p:nvSpPr>
        <p:spPr bwMode="ltGray">
          <a:xfrm flipV="1">
            <a:off x="8506885" y="2362200"/>
            <a:ext cx="1449916" cy="636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6" name="Line 12"/>
          <p:cNvSpPr>
            <a:spLocks noChangeShapeType="1"/>
          </p:cNvSpPr>
          <p:nvPr/>
        </p:nvSpPr>
        <p:spPr bwMode="ltGray">
          <a:xfrm>
            <a:off x="8506884" y="2998788"/>
            <a:ext cx="12192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7" name="Line 13"/>
          <p:cNvSpPr>
            <a:spLocks noChangeShapeType="1"/>
          </p:cNvSpPr>
          <p:nvPr/>
        </p:nvSpPr>
        <p:spPr bwMode="ltGray">
          <a:xfrm>
            <a:off x="2641600" y="3124200"/>
            <a:ext cx="7112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8" name="Line 14"/>
          <p:cNvSpPr>
            <a:spLocks noChangeShapeType="1"/>
          </p:cNvSpPr>
          <p:nvPr/>
        </p:nvSpPr>
        <p:spPr bwMode="ltGray">
          <a:xfrm flipV="1">
            <a:off x="2641600" y="1828800"/>
            <a:ext cx="7112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226807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a:spLocks noChangeArrowheads="1"/>
          </p:cNvSpPr>
          <p:nvPr/>
        </p:nvSpPr>
        <p:spPr bwMode="ltGray">
          <a:xfrm>
            <a:off x="127000" y="3695701"/>
            <a:ext cx="23368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Xuất khẩu tư bản</a:t>
            </a:r>
          </a:p>
        </p:txBody>
      </p:sp>
      <p:sp>
        <p:nvSpPr>
          <p:cNvPr id="20483" name="Text Box 5"/>
          <p:cNvSpPr txBox="1">
            <a:spLocks noChangeArrowheads="1"/>
          </p:cNvSpPr>
          <p:nvPr/>
        </p:nvSpPr>
        <p:spPr bwMode="ltGray">
          <a:xfrm>
            <a:off x="812800" y="2343151"/>
            <a:ext cx="25400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dirty="0"/>
              <a:t>XK tư bản nhà nước</a:t>
            </a:r>
          </a:p>
        </p:txBody>
      </p:sp>
      <p:sp>
        <p:nvSpPr>
          <p:cNvPr id="20484" name="Text Box 6"/>
          <p:cNvSpPr txBox="1">
            <a:spLocks noChangeArrowheads="1"/>
          </p:cNvSpPr>
          <p:nvPr/>
        </p:nvSpPr>
        <p:spPr bwMode="ltGray">
          <a:xfrm>
            <a:off x="889000" y="5048251"/>
            <a:ext cx="25400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a:t>XK tư bản tư nhân</a:t>
            </a:r>
          </a:p>
        </p:txBody>
      </p:sp>
      <p:sp>
        <p:nvSpPr>
          <p:cNvPr id="20485" name="Text Box 7"/>
          <p:cNvSpPr txBox="1">
            <a:spLocks noChangeArrowheads="1"/>
          </p:cNvSpPr>
          <p:nvPr/>
        </p:nvSpPr>
        <p:spPr bwMode="ltGray">
          <a:xfrm>
            <a:off x="3822700" y="1466850"/>
            <a:ext cx="18288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Kinh tế</a:t>
            </a:r>
          </a:p>
        </p:txBody>
      </p:sp>
      <p:sp>
        <p:nvSpPr>
          <p:cNvPr id="20486" name="Text Box 8"/>
          <p:cNvSpPr txBox="1">
            <a:spLocks noChangeArrowheads="1"/>
          </p:cNvSpPr>
          <p:nvPr/>
        </p:nvSpPr>
        <p:spPr bwMode="ltGray">
          <a:xfrm>
            <a:off x="4089400" y="2667000"/>
            <a:ext cx="20320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Chính trị</a:t>
            </a:r>
          </a:p>
        </p:txBody>
      </p:sp>
      <p:sp>
        <p:nvSpPr>
          <p:cNvPr id="20487" name="Text Box 9"/>
          <p:cNvSpPr txBox="1">
            <a:spLocks noChangeArrowheads="1"/>
          </p:cNvSpPr>
          <p:nvPr/>
        </p:nvSpPr>
        <p:spPr bwMode="ltGray">
          <a:xfrm>
            <a:off x="4165600" y="3657600"/>
            <a:ext cx="1930400" cy="5286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Quân sự</a:t>
            </a:r>
          </a:p>
        </p:txBody>
      </p:sp>
      <p:sp>
        <p:nvSpPr>
          <p:cNvPr id="20488" name="Text Box 10"/>
          <p:cNvSpPr txBox="1">
            <a:spLocks noChangeArrowheads="1"/>
          </p:cNvSpPr>
          <p:nvPr/>
        </p:nvSpPr>
        <p:spPr bwMode="ltGray">
          <a:xfrm>
            <a:off x="6248400" y="1104901"/>
            <a:ext cx="3048000" cy="83099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400"/>
              <a:t>Hướng vào các ngành thuộc kết cấu hạ tầng</a:t>
            </a:r>
          </a:p>
        </p:txBody>
      </p:sp>
      <p:sp>
        <p:nvSpPr>
          <p:cNvPr id="20489" name="Text Box 11"/>
          <p:cNvSpPr txBox="1">
            <a:spLocks noChangeArrowheads="1"/>
          </p:cNvSpPr>
          <p:nvPr/>
        </p:nvSpPr>
        <p:spPr bwMode="ltGray">
          <a:xfrm>
            <a:off x="9664700" y="1123951"/>
            <a:ext cx="2336800" cy="11969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400"/>
              <a:t>Tạo điều kiện cho tư bản tư nhân</a:t>
            </a:r>
          </a:p>
        </p:txBody>
      </p:sp>
      <p:sp>
        <p:nvSpPr>
          <p:cNvPr id="20490" name="Text Box 12"/>
          <p:cNvSpPr txBox="1">
            <a:spLocks noChangeArrowheads="1"/>
          </p:cNvSpPr>
          <p:nvPr/>
        </p:nvSpPr>
        <p:spPr bwMode="ltGray">
          <a:xfrm>
            <a:off x="7899400" y="2533650"/>
            <a:ext cx="3886200" cy="8318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altLang="en-US" sz="2400"/>
              <a:t>Thực hiện chủ nghĩa thực dân mới</a:t>
            </a:r>
          </a:p>
        </p:txBody>
      </p:sp>
      <p:sp>
        <p:nvSpPr>
          <p:cNvPr id="20491" name="Text Box 13"/>
          <p:cNvSpPr txBox="1">
            <a:spLocks noChangeArrowheads="1"/>
          </p:cNvSpPr>
          <p:nvPr/>
        </p:nvSpPr>
        <p:spPr bwMode="ltGray">
          <a:xfrm>
            <a:off x="7924800" y="3638550"/>
            <a:ext cx="3556000" cy="8318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sz="2400"/>
              <a:t>Đặt căn cứ quân sự trên lãnh thổ</a:t>
            </a:r>
          </a:p>
        </p:txBody>
      </p:sp>
      <p:sp>
        <p:nvSpPr>
          <p:cNvPr id="20492" name="Text Box 14"/>
          <p:cNvSpPr txBox="1">
            <a:spLocks noChangeArrowheads="1"/>
          </p:cNvSpPr>
          <p:nvPr/>
        </p:nvSpPr>
        <p:spPr bwMode="ltGray">
          <a:xfrm>
            <a:off x="5283200" y="5105401"/>
            <a:ext cx="6502400" cy="9556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eaLnBrk="1" hangingPunct="1">
              <a:spcBef>
                <a:spcPct val="50000"/>
              </a:spcBef>
            </a:pPr>
            <a:r>
              <a:rPr lang="en-US" altLang="en-US"/>
              <a:t>Ngành chu chuyển vốn nhanh và lợi nhuận độc quyền cao</a:t>
            </a:r>
          </a:p>
        </p:txBody>
      </p:sp>
      <p:sp>
        <p:nvSpPr>
          <p:cNvPr id="20493" name="Line 15"/>
          <p:cNvSpPr>
            <a:spLocks noChangeShapeType="1"/>
          </p:cNvSpPr>
          <p:nvPr/>
        </p:nvSpPr>
        <p:spPr bwMode="ltGray">
          <a:xfrm>
            <a:off x="5664200" y="1752600"/>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4" name="Line 16"/>
          <p:cNvSpPr>
            <a:spLocks noChangeShapeType="1"/>
          </p:cNvSpPr>
          <p:nvPr/>
        </p:nvSpPr>
        <p:spPr bwMode="ltGray">
          <a:xfrm>
            <a:off x="9271000" y="1676400"/>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5" name="Line 17"/>
          <p:cNvSpPr>
            <a:spLocks noChangeShapeType="1"/>
          </p:cNvSpPr>
          <p:nvPr/>
        </p:nvSpPr>
        <p:spPr bwMode="ltGray">
          <a:xfrm flipV="1">
            <a:off x="3352800" y="1981200"/>
            <a:ext cx="1219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6" name="Line 18"/>
          <p:cNvSpPr>
            <a:spLocks noChangeShapeType="1"/>
          </p:cNvSpPr>
          <p:nvPr/>
        </p:nvSpPr>
        <p:spPr bwMode="ltGray">
          <a:xfrm>
            <a:off x="3352800" y="2876550"/>
            <a:ext cx="71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7" name="Line 19"/>
          <p:cNvSpPr>
            <a:spLocks noChangeShapeType="1"/>
          </p:cNvSpPr>
          <p:nvPr/>
        </p:nvSpPr>
        <p:spPr bwMode="ltGray">
          <a:xfrm>
            <a:off x="3352800" y="2895600"/>
            <a:ext cx="8128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8" name="Line 20"/>
          <p:cNvSpPr>
            <a:spLocks noChangeShapeType="1"/>
          </p:cNvSpPr>
          <p:nvPr/>
        </p:nvSpPr>
        <p:spPr bwMode="ltGray">
          <a:xfrm>
            <a:off x="1727200" y="46482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9" name="Line 21"/>
          <p:cNvSpPr>
            <a:spLocks noChangeShapeType="1"/>
          </p:cNvSpPr>
          <p:nvPr/>
        </p:nvSpPr>
        <p:spPr bwMode="ltGray">
          <a:xfrm flipV="1">
            <a:off x="1701800" y="3305175"/>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0" name="Line 22"/>
          <p:cNvSpPr>
            <a:spLocks noChangeShapeType="1"/>
          </p:cNvSpPr>
          <p:nvPr/>
        </p:nvSpPr>
        <p:spPr bwMode="ltGray">
          <a:xfrm>
            <a:off x="3454400" y="5562600"/>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1" name="Line 23"/>
          <p:cNvSpPr>
            <a:spLocks noChangeShapeType="1"/>
          </p:cNvSpPr>
          <p:nvPr/>
        </p:nvSpPr>
        <p:spPr bwMode="ltGray">
          <a:xfrm>
            <a:off x="6146800" y="2952750"/>
            <a:ext cx="172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2" name="Line 24"/>
          <p:cNvSpPr>
            <a:spLocks noChangeShapeType="1"/>
          </p:cNvSpPr>
          <p:nvPr/>
        </p:nvSpPr>
        <p:spPr bwMode="ltGray">
          <a:xfrm>
            <a:off x="6096000" y="3962400"/>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83358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3200" i="1" dirty="0"/>
              <a:t>4.2.1.4. </a:t>
            </a:r>
            <a:r>
              <a:rPr lang="vi-VN" sz="3200" i="1" dirty="0"/>
              <a:t>Cạnh tranh đề phân chia thị trường thế giới là tất yếu giữa các tập đoàn độc quyền</a:t>
            </a:r>
            <a:endParaRPr lang="en-US" sz="3200" dirty="0"/>
          </a:p>
        </p:txBody>
      </p:sp>
      <p:sp>
        <p:nvSpPr>
          <p:cNvPr id="3" name="Content Placeholder 2"/>
          <p:cNvSpPr>
            <a:spLocks noGrp="1"/>
          </p:cNvSpPr>
          <p:nvPr>
            <p:ph idx="1"/>
          </p:nvPr>
        </p:nvSpPr>
        <p:spPr>
          <a:xfrm>
            <a:off x="547093" y="1888435"/>
            <a:ext cx="11100021" cy="1997765"/>
          </a:xfrm>
        </p:spPr>
        <p:txBody>
          <a:bodyPr/>
          <a:lstStyle/>
          <a:p>
            <a:pPr marL="0" indent="749300">
              <a:buNone/>
            </a:pPr>
            <a:r>
              <a:rPr lang="vi-VN" dirty="0"/>
              <a:t>Quá trình tích tụ và tập trung tư bản phát triền, việc xuất khẩu tư bản tăng lên cả về quy mô và phạm vi tất yếu dẫn tới sự phân chia thế giới về mặt kinh tế giữa các tập đoàn tư bản độc quyền và hình thành các tổ chức độc quyền quốc tế.</a:t>
            </a:r>
            <a:endParaRPr lang="en-US" dirty="0"/>
          </a:p>
        </p:txBody>
      </p:sp>
    </p:spTree>
    <p:extLst>
      <p:ext uri="{BB962C8B-B14F-4D97-AF65-F5344CB8AC3E}">
        <p14:creationId xmlns:p14="http://schemas.microsoft.com/office/powerpoint/2010/main" val="787677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457200">
              <a:buNone/>
            </a:pPr>
            <a:r>
              <a:rPr lang="vi-VN" dirty="0"/>
              <a:t>Sự đụng độ trên trường quốc tế giữa các tổ chức độc quyền có sức mạnh kinh tế hùng hậu lại được sự ủng hộ của nhà nước "của mình" và các cuộc cạnh tranh khốc liệt giữa chúng tất yếu dẫn đến xu hướng thoả hiệp, ký kết các hiệp dịnh, để củng cố địa vị độc quyền của chúng trong những lĩnh vực và những thị trường nhất định. Từ đó hình thành các liên minh độc quyền quốc tế dưới dạng </a:t>
            </a:r>
            <a:r>
              <a:rPr lang="en-US" dirty="0"/>
              <a:t>Cartel, Syndicate, Trust </a:t>
            </a:r>
            <a:r>
              <a:rPr lang="vi-VN" dirty="0"/>
              <a:t>quốc tế.</a:t>
            </a:r>
            <a:endParaRPr lang="en-US" dirty="0"/>
          </a:p>
          <a:p>
            <a:endParaRPr lang="en-US" dirty="0"/>
          </a:p>
        </p:txBody>
      </p:sp>
    </p:spTree>
    <p:extLst>
      <p:ext uri="{BB962C8B-B14F-4D97-AF65-F5344CB8AC3E}">
        <p14:creationId xmlns:p14="http://schemas.microsoft.com/office/powerpoint/2010/main" val="775619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1584" y="542926"/>
            <a:ext cx="9310315" cy="946840"/>
          </a:xfrm>
        </p:spPr>
        <p:txBody>
          <a:bodyPr>
            <a:noAutofit/>
          </a:bodyPr>
          <a:lstStyle/>
          <a:p>
            <a:pPr lvl="1" algn="l" rtl="0">
              <a:lnSpc>
                <a:spcPct val="90000"/>
              </a:lnSpc>
              <a:spcBef>
                <a:spcPct val="0"/>
              </a:spcBef>
            </a:pPr>
            <a:r>
              <a:rPr lang="en-US" sz="2800" i="1" dirty="0">
                <a:latin typeface="Times New Roman (Headings)"/>
              </a:rPr>
              <a:t>4.2.1.5. </a:t>
            </a:r>
            <a:r>
              <a:rPr lang="vi-VN" sz="2800" i="1" dirty="0">
                <a:latin typeface="Times New Roman (Headings)"/>
              </a:rPr>
              <a:t>Lôi k</a:t>
            </a:r>
            <a:r>
              <a:rPr lang="en-US" sz="2800" i="1" dirty="0">
                <a:latin typeface="Times New Roman (Headings)"/>
              </a:rPr>
              <a:t>é</a:t>
            </a:r>
            <a:r>
              <a:rPr lang="vi-VN" sz="2800" i="1" dirty="0">
                <a:latin typeface="Times New Roman (Headings)"/>
              </a:rPr>
              <a:t>o, thúc đầy các ch</a:t>
            </a:r>
            <a:r>
              <a:rPr lang="en-US" sz="2800" i="1" dirty="0">
                <a:latin typeface="Times New Roman (Headings)"/>
              </a:rPr>
              <a:t>í</a:t>
            </a:r>
            <a:r>
              <a:rPr lang="vi-VN" sz="2800" i="1" dirty="0">
                <a:latin typeface="Times New Roman (Headings)"/>
              </a:rPr>
              <a:t>nh phủ vào việc phân định khu vực lãnh th</a:t>
            </a:r>
            <a:r>
              <a:rPr lang="en-US" sz="2800" i="1" dirty="0">
                <a:latin typeface="Times New Roman (Headings)"/>
              </a:rPr>
              <a:t>ổ</a:t>
            </a:r>
            <a:r>
              <a:rPr lang="vi-VN" sz="2800" i="1" dirty="0">
                <a:latin typeface="Times New Roman (Headings)"/>
              </a:rPr>
              <a:t> ảnh hưởng là cách thức để bảo vệ lợi ích độc quyền</a:t>
            </a:r>
            <a:endParaRPr lang="en-US" sz="2800" dirty="0">
              <a:latin typeface="Times New Roman (Headings)"/>
            </a:endParaRPr>
          </a:p>
        </p:txBody>
      </p:sp>
      <p:sp>
        <p:nvSpPr>
          <p:cNvPr id="3" name="Content Placeholder 2"/>
          <p:cNvSpPr>
            <a:spLocks noGrp="1"/>
          </p:cNvSpPr>
          <p:nvPr>
            <p:ph idx="1"/>
          </p:nvPr>
        </p:nvSpPr>
        <p:spPr>
          <a:xfrm>
            <a:off x="738747" y="4549773"/>
            <a:ext cx="11100021" cy="1765301"/>
          </a:xfrm>
        </p:spPr>
        <p:txBody>
          <a:bodyPr/>
          <a:lstStyle/>
          <a:p>
            <a:pPr marL="0" indent="457200">
              <a:buNone/>
            </a:pPr>
            <a:r>
              <a:rPr lang="vi-VN" dirty="0"/>
              <a:t>Do sự phân chia lãnh th</a:t>
            </a:r>
            <a:r>
              <a:rPr lang="en-US" dirty="0"/>
              <a:t>ổ</a:t>
            </a:r>
            <a:r>
              <a:rPr lang="vi-VN" dirty="0"/>
              <a:t> và phát triển không đều của các cường quốc tư bản, tất yếu dẫn đến cuộc đấu tranh đòi chia lại lãnh thổ thế giới. Đó là một trong những nguyên nhân chính dẫn đến các cuộc chiến tranh, thậm chí chiến tranh thế giới.</a:t>
            </a:r>
            <a:endParaRPr lang="en-US" dirty="0"/>
          </a:p>
        </p:txBody>
      </p:sp>
      <p:sp>
        <p:nvSpPr>
          <p:cNvPr id="4" name="TextBox 3">
            <a:extLst>
              <a:ext uri="{FF2B5EF4-FFF2-40B4-BE49-F238E27FC236}">
                <a16:creationId xmlns:a16="http://schemas.microsoft.com/office/drawing/2014/main" id="{775D8A8A-209C-4A74-B765-3DB6346EE90F}"/>
              </a:ext>
            </a:extLst>
          </p:cNvPr>
          <p:cNvSpPr txBox="1"/>
          <p:nvPr/>
        </p:nvSpPr>
        <p:spPr>
          <a:xfrm>
            <a:off x="540327" y="1676400"/>
            <a:ext cx="11100021" cy="3205878"/>
          </a:xfrm>
          <a:prstGeom prst="rect">
            <a:avLst/>
          </a:prstGeom>
          <a:noFill/>
        </p:spPr>
        <p:txBody>
          <a:bodyPr wrap="square" rtlCol="0">
            <a:spAutoFit/>
          </a:bodyPr>
          <a:lstStyle/>
          <a:p>
            <a:pPr marL="330200" marR="0" indent="431800" algn="just">
              <a:spcBef>
                <a:spcPts val="0"/>
              </a:spcBef>
              <a:spcAft>
                <a:spcPts val="500"/>
              </a:spcAft>
            </a:pPr>
            <a:r>
              <a:rPr lang="vi-VN" sz="2800" dirty="0">
                <a:solidFill>
                  <a:schemeClr val="accent1"/>
                </a:solidFill>
                <a:effectLst/>
                <a:latin typeface="Times New Roman" panose="02020603050405020304" pitchFamily="18" charset="0"/>
                <a:ea typeface="Times New Roman" panose="02020603050405020304" pitchFamily="18" charset="0"/>
              </a:rPr>
              <a:t>V.I.Lênin đã chỉ ra rằng: "Chủ nghĩa tư bản phát triến càng cao, nguyên liệu càng thiếu thổn, sự cạnh tranh càng gay gắt và việc tìm kiếm các nguồn nguyên liệu trên toàn thế giới càng ráo riết, thì cuộc đấu tranh dể chiếm thuộc địa càng quyết liệt hơn".</a:t>
            </a:r>
            <a:r>
              <a:rPr lang="en-US" sz="2800" dirty="0">
                <a:solidFill>
                  <a:schemeClr val="accent1"/>
                </a:solidFill>
                <a:effectLst/>
                <a:latin typeface="Times New Roman" panose="02020603050405020304" pitchFamily="18" charset="0"/>
                <a:ea typeface="Times New Roman" panose="02020603050405020304" pitchFamily="18" charset="0"/>
              </a:rPr>
              <a:t> </a:t>
            </a:r>
            <a:r>
              <a:rPr lang="en-US" sz="2800" dirty="0" err="1">
                <a:solidFill>
                  <a:schemeClr val="accent1"/>
                </a:solidFill>
                <a:latin typeface="Times New Roman" panose="02020603050405020304" pitchFamily="18" charset="0"/>
              </a:rPr>
              <a:t>Đây</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cũng</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là</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Đặc</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điểm</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kinh</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tế</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của</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chủ</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nghĩa</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tư</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bản</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độc</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quyền</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đã</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dẫn</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đến</a:t>
            </a:r>
            <a:r>
              <a:rPr lang="en-US" sz="2800" dirty="0">
                <a:solidFill>
                  <a:schemeClr val="accent1"/>
                </a:solidFill>
                <a:latin typeface="Times New Roman" panose="02020603050405020304" pitchFamily="18" charset="0"/>
              </a:rPr>
              <a:t>  2 </a:t>
            </a:r>
            <a:r>
              <a:rPr lang="en-US" sz="2800" dirty="0" err="1">
                <a:solidFill>
                  <a:schemeClr val="accent1"/>
                </a:solidFill>
                <a:latin typeface="Times New Roman" panose="02020603050405020304" pitchFamily="18" charset="0"/>
              </a:rPr>
              <a:t>cuộc</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chiến</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tranh</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thế</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giới</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để</a:t>
            </a:r>
            <a:r>
              <a:rPr lang="en-US" sz="2800" dirty="0">
                <a:solidFill>
                  <a:schemeClr val="accent1"/>
                </a:solidFill>
                <a:latin typeface="Times New Roman" panose="02020603050405020304" pitchFamily="18" charset="0"/>
              </a:rPr>
              <a:t> chia </a:t>
            </a:r>
            <a:r>
              <a:rPr lang="en-US" sz="2800" dirty="0" err="1">
                <a:solidFill>
                  <a:schemeClr val="accent1"/>
                </a:solidFill>
                <a:latin typeface="Times New Roman" panose="02020603050405020304" pitchFamily="18" charset="0"/>
              </a:rPr>
              <a:t>thế</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giới</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về</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lãnh</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thổ</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giữa</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các</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nước</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đế</a:t>
            </a:r>
            <a:r>
              <a:rPr lang="en-US" sz="2800" dirty="0">
                <a:solidFill>
                  <a:schemeClr val="accent1"/>
                </a:solidFill>
                <a:latin typeface="Times New Roman" panose="02020603050405020304" pitchFamily="18" charset="0"/>
              </a:rPr>
              <a:t> </a:t>
            </a:r>
            <a:r>
              <a:rPr lang="en-US" sz="2800" dirty="0" err="1">
                <a:solidFill>
                  <a:schemeClr val="accent1"/>
                </a:solidFill>
                <a:latin typeface="Times New Roman" panose="02020603050405020304" pitchFamily="18" charset="0"/>
              </a:rPr>
              <a:t>quốc</a:t>
            </a:r>
            <a:r>
              <a:rPr lang="en-US" sz="2800" dirty="0">
                <a:solidFill>
                  <a:schemeClr val="accent1"/>
                </a:solidFill>
                <a:latin typeface="Times New Roman" panose="02020603050405020304" pitchFamily="18" charset="0"/>
              </a:rPr>
              <a:t>.</a:t>
            </a:r>
          </a:p>
          <a:p>
            <a:pPr marL="0" marR="0" indent="342900">
              <a:lnSpc>
                <a:spcPct val="115000"/>
              </a:lnSpc>
              <a:spcBef>
                <a:spcPts val="0"/>
              </a:spcBef>
              <a:spcAft>
                <a:spcPts val="0"/>
              </a:spcAft>
              <a:tabLst>
                <a:tab pos="454025" algn="l"/>
              </a:tabLst>
            </a:pPr>
            <a:r>
              <a:rPr lang="vi-VN" sz="2800" dirty="0">
                <a:solidFill>
                  <a:schemeClr val="accent1"/>
                </a:solidFill>
                <a:effectLst/>
                <a:latin typeface="Times New Roman" panose="02020603050405020304" pitchFamily="18" charset="0"/>
                <a:ea typeface="Times New Roman" panose="02020603050405020304" pitchFamily="18" charset="0"/>
              </a:rPr>
              <a:t>	</a:t>
            </a:r>
            <a:endParaRPr lang="en-US" sz="2800" dirty="0">
              <a:solidFill>
                <a:schemeClr val="accent1"/>
              </a:solidFill>
            </a:endParaRPr>
          </a:p>
        </p:txBody>
      </p:sp>
    </p:spTree>
    <p:extLst>
      <p:ext uri="{BB962C8B-B14F-4D97-AF65-F5344CB8AC3E}">
        <p14:creationId xmlns:p14="http://schemas.microsoft.com/office/powerpoint/2010/main" val="3881990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2" algn="l" rtl="0">
              <a:lnSpc>
                <a:spcPct val="90000"/>
              </a:lnSpc>
              <a:spcBef>
                <a:spcPct val="0"/>
              </a:spcBef>
            </a:pPr>
            <a:r>
              <a:rPr lang="en-US" sz="2800" b="1" dirty="0"/>
              <a:t>4.2.2. </a:t>
            </a:r>
            <a:r>
              <a:rPr lang="vi-VN" sz="2800" b="1" dirty="0"/>
              <a:t>Lý luận của V.I. </a:t>
            </a:r>
            <a:r>
              <a:rPr lang="en-US" sz="2800" b="1" dirty="0"/>
              <a:t>Lênin </a:t>
            </a:r>
            <a:r>
              <a:rPr lang="vi-VN" sz="2800" b="1" dirty="0"/>
              <a:t>về đặc điểm kinh t</a:t>
            </a:r>
            <a:r>
              <a:rPr lang="en-US" sz="2800" b="1" dirty="0"/>
              <a:t>ế</a:t>
            </a:r>
            <a:r>
              <a:rPr lang="vi-VN" sz="2800" b="1" dirty="0"/>
              <a:t> của độc quyền nhà nước trong chủ nghĩa tư bản</a:t>
            </a:r>
            <a:endParaRPr lang="en-US" sz="2800" dirty="0"/>
          </a:p>
        </p:txBody>
      </p:sp>
      <p:sp>
        <p:nvSpPr>
          <p:cNvPr id="3" name="Content Placeholder 2"/>
          <p:cNvSpPr>
            <a:spLocks noGrp="1"/>
          </p:cNvSpPr>
          <p:nvPr>
            <p:ph idx="1"/>
          </p:nvPr>
        </p:nvSpPr>
        <p:spPr>
          <a:xfrm>
            <a:off x="661393" y="3327400"/>
            <a:ext cx="11100021" cy="1536700"/>
          </a:xfrm>
        </p:spPr>
        <p:txBody>
          <a:bodyPr/>
          <a:lstStyle/>
          <a:p>
            <a:pPr marL="0" indent="571500">
              <a:buNone/>
            </a:pPr>
            <a:r>
              <a:rPr lang="vi-VN" dirty="0"/>
              <a:t>"Hôm nay là bộ trưởng, ngày mai là chù ngân hàng; hôm nay là chủ ngân hàng, ngày mai là bộ trưởng". </a:t>
            </a:r>
            <a:endParaRPr lang="en-US" dirty="0"/>
          </a:p>
        </p:txBody>
      </p:sp>
      <p:sp>
        <p:nvSpPr>
          <p:cNvPr id="4" name="TextBox 3"/>
          <p:cNvSpPr txBox="1"/>
          <p:nvPr/>
        </p:nvSpPr>
        <p:spPr>
          <a:xfrm>
            <a:off x="889000" y="1422400"/>
            <a:ext cx="9296400" cy="954107"/>
          </a:xfrm>
          <a:prstGeom prst="rect">
            <a:avLst/>
          </a:prstGeom>
          <a:noFill/>
        </p:spPr>
        <p:txBody>
          <a:bodyPr wrap="square" rtlCol="0">
            <a:spAutoFit/>
          </a:bodyPr>
          <a:lstStyle/>
          <a:p>
            <a:pPr marL="0" lvl="3"/>
            <a:r>
              <a:rPr lang="en-US" sz="2800" i="1" dirty="0"/>
              <a:t>4.2.2.1. </a:t>
            </a:r>
            <a:r>
              <a:rPr lang="vi-VN" sz="2800" i="1" dirty="0"/>
              <a:t>Sự kết hợp về nhân sự giữa tổ chức độc quyền và nhà nước</a:t>
            </a:r>
            <a:endParaRPr lang="en-US" sz="2800" dirty="0"/>
          </a:p>
        </p:txBody>
      </p:sp>
    </p:spTree>
    <p:extLst>
      <p:ext uri="{BB962C8B-B14F-4D97-AF65-F5344CB8AC3E}">
        <p14:creationId xmlns:p14="http://schemas.microsoft.com/office/powerpoint/2010/main" val="728966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3" algn="l" rtl="0">
              <a:lnSpc>
                <a:spcPct val="90000"/>
              </a:lnSpc>
              <a:spcBef>
                <a:spcPct val="0"/>
              </a:spcBef>
            </a:pPr>
            <a:r>
              <a:rPr lang="en-US" sz="2800" i="1" dirty="0"/>
              <a:t>4.2.2.2. </a:t>
            </a:r>
            <a:r>
              <a:rPr lang="vi-VN" sz="2800" i="1" dirty="0"/>
              <a:t>Sự hình thành, phát triển sở hữu nhà nước</a:t>
            </a:r>
            <a:endParaRPr lang="en-US" sz="2800" dirty="0"/>
          </a:p>
        </p:txBody>
      </p:sp>
      <p:sp>
        <p:nvSpPr>
          <p:cNvPr id="3" name="Content Placeholder 2"/>
          <p:cNvSpPr>
            <a:spLocks noGrp="1"/>
          </p:cNvSpPr>
          <p:nvPr>
            <p:ph idx="1"/>
          </p:nvPr>
        </p:nvSpPr>
        <p:spPr>
          <a:xfrm>
            <a:off x="572493" y="1765299"/>
            <a:ext cx="11100021" cy="4532133"/>
          </a:xfrm>
        </p:spPr>
        <p:txBody>
          <a:bodyPr/>
          <a:lstStyle/>
          <a:p>
            <a:pPr indent="342900">
              <a:buNone/>
            </a:pPr>
            <a:r>
              <a:rPr lang="vi-VN" dirty="0"/>
              <a:t>Sở hữu trong độc quyền nhà nước là sở hữu tập thể của giai cấp tư sản, của tư bản độc quyền có nhiệm vụ ủng hộ và phục vụ lợi ích của tư bản độc quyền nhằm duy trì sự tồn tại, phát triển cùa chủ nghĩa tư bản. </a:t>
            </a:r>
            <a:endParaRPr lang="en-US" dirty="0"/>
          </a:p>
        </p:txBody>
      </p:sp>
    </p:spTree>
    <p:extLst>
      <p:ext uri="{BB962C8B-B14F-4D97-AF65-F5344CB8AC3E}">
        <p14:creationId xmlns:p14="http://schemas.microsoft.com/office/powerpoint/2010/main" val="904944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Sở hữu nhà nước thực hiện được các chức năng cơ bản sau: </a:t>
            </a:r>
            <a:endParaRPr lang="en-US" dirty="0"/>
          </a:p>
        </p:txBody>
      </p:sp>
      <p:sp>
        <p:nvSpPr>
          <p:cNvPr id="3" name="Content Placeholder 2"/>
          <p:cNvSpPr>
            <a:spLocks noGrp="1"/>
          </p:cNvSpPr>
          <p:nvPr>
            <p:ph idx="1"/>
          </p:nvPr>
        </p:nvSpPr>
        <p:spPr/>
        <p:txBody>
          <a:bodyPr/>
          <a:lstStyle/>
          <a:p>
            <a:pPr marL="0" indent="0">
              <a:buNone/>
            </a:pPr>
            <a:r>
              <a:rPr lang="vi-VN" i="1" dirty="0"/>
              <a:t>Thứ nhất, </a:t>
            </a:r>
            <a:r>
              <a:rPr lang="vi-VN" dirty="0"/>
              <a:t>mở rộng sản xuất tư bản chủ nghĩa, bảo đảm địa bàn rộng lớn cho sự phát triên của độc quyền. </a:t>
            </a:r>
            <a:endParaRPr lang="en-US" dirty="0"/>
          </a:p>
          <a:p>
            <a:pPr marL="0" indent="0">
              <a:buNone/>
            </a:pPr>
            <a:r>
              <a:rPr lang="vi-VN" i="1" dirty="0"/>
              <a:t>Thứ hai,</a:t>
            </a:r>
            <a:r>
              <a:rPr lang="vi-VN" dirty="0"/>
              <a:t> tạo điều kiện thuận lợi nhất cho việc di chuyển tư bản của các tổ chức độc quyền đầu tư vào các ngành sản xuất kinh doanh khác nhau, chuyển từ những ngành ít lãi sang những ngành kinh doanh có hiệu quả hơn một cách dễ dàng, thuận lợi. </a:t>
            </a:r>
            <a:endParaRPr lang="en-US" dirty="0"/>
          </a:p>
          <a:p>
            <a:pPr marL="0" indent="0">
              <a:buNone/>
            </a:pPr>
            <a:r>
              <a:rPr lang="vi-VN" i="1" dirty="0"/>
              <a:t>Thứ ba,</a:t>
            </a:r>
            <a:r>
              <a:rPr lang="vi-VN" dirty="0"/>
              <a:t> làm chỗ dựa cho sự điều tiết kinh tế của nhà nước theo những chương trình nhất định.</a:t>
            </a:r>
            <a:endParaRPr lang="en-US" dirty="0"/>
          </a:p>
          <a:p>
            <a:endParaRPr lang="en-US" dirty="0"/>
          </a:p>
        </p:txBody>
      </p:sp>
    </p:spTree>
    <p:extLst>
      <p:ext uri="{BB962C8B-B14F-4D97-AF65-F5344CB8AC3E}">
        <p14:creationId xmlns:p14="http://schemas.microsoft.com/office/powerpoint/2010/main" val="3376433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3" algn="l" rtl="0">
              <a:lnSpc>
                <a:spcPct val="90000"/>
              </a:lnSpc>
              <a:spcBef>
                <a:spcPct val="0"/>
              </a:spcBef>
            </a:pPr>
            <a:r>
              <a:rPr lang="en-US" sz="2800" i="1" dirty="0"/>
              <a:t>4.2.2.3. </a:t>
            </a:r>
            <a:r>
              <a:rPr lang="vi-VN" sz="2800" i="1" dirty="0"/>
              <a:t>Độc quyền nhà nước trở thành công cụ đế nhà nước </a:t>
            </a:r>
            <a:r>
              <a:rPr lang="en-US" sz="2800" i="1" dirty="0"/>
              <a:t>đ</a:t>
            </a:r>
            <a:r>
              <a:rPr lang="vi-VN" sz="2800" i="1" dirty="0"/>
              <a:t>iều tiết nền kinh tế</a:t>
            </a:r>
            <a:endParaRPr lang="en-US" sz="2800" dirty="0"/>
          </a:p>
        </p:txBody>
      </p:sp>
      <p:sp>
        <p:nvSpPr>
          <p:cNvPr id="3" name="Content Placeholder 2"/>
          <p:cNvSpPr>
            <a:spLocks noGrp="1"/>
          </p:cNvSpPr>
          <p:nvPr>
            <p:ph idx="1"/>
          </p:nvPr>
        </p:nvSpPr>
        <p:spPr>
          <a:xfrm>
            <a:off x="610593" y="2180535"/>
            <a:ext cx="11100021" cy="1908865"/>
          </a:xfrm>
        </p:spPr>
        <p:txBody>
          <a:bodyPr/>
          <a:lstStyle/>
          <a:p>
            <a:pPr marL="0" indent="571500">
              <a:buNone/>
            </a:pPr>
            <a:r>
              <a:rPr lang="vi-VN" dirty="0"/>
              <a:t>Các công cụ chủ yếu của nhà nước để điều tiết kinh tế và thực hiện các chính sách kinh tế như ngân sách, thuế, hệ thống tiền tệ, tín dụng, các doanh nghiệp nhà nước, kế hoạch hoá hay chương trình hoá kinh tế và các công cụ hành chính, pháp lý.</a:t>
            </a:r>
            <a:endParaRPr lang="en-US" dirty="0"/>
          </a:p>
          <a:p>
            <a:pPr marL="0" indent="0">
              <a:buNone/>
            </a:pPr>
            <a:endParaRPr lang="en-US" dirty="0"/>
          </a:p>
        </p:txBody>
      </p:sp>
    </p:spTree>
    <p:extLst>
      <p:ext uri="{BB962C8B-B14F-4D97-AF65-F5344CB8AC3E}">
        <p14:creationId xmlns:p14="http://schemas.microsoft.com/office/powerpoint/2010/main" val="4079867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365126"/>
            <a:ext cx="9310315" cy="1336674"/>
          </a:xfrm>
        </p:spPr>
        <p:txBody>
          <a:bodyPr>
            <a:normAutofit/>
          </a:bodyPr>
          <a:lstStyle/>
          <a:p>
            <a:pPr lvl="1" algn="l" rtl="0">
              <a:lnSpc>
                <a:spcPct val="90000"/>
              </a:lnSpc>
              <a:spcBef>
                <a:spcPct val="0"/>
              </a:spcBef>
            </a:pPr>
            <a:r>
              <a:rPr lang="en-US" sz="2400" b="1" dirty="0">
                <a:solidFill>
                  <a:srgbClr val="FF0000"/>
                </a:solidFill>
                <a:latin typeface="Times New Roman (Headings)"/>
              </a:rPr>
              <a:t>4.3. </a:t>
            </a:r>
            <a:r>
              <a:rPr lang="vi-VN" sz="2400" b="1" dirty="0">
                <a:solidFill>
                  <a:srgbClr val="FF0000"/>
                </a:solidFill>
                <a:latin typeface="Times New Roman (Headings)"/>
              </a:rPr>
              <a:t>BI</a:t>
            </a:r>
            <a:r>
              <a:rPr lang="en-US" sz="2400" b="1" dirty="0">
                <a:solidFill>
                  <a:srgbClr val="FF0000"/>
                </a:solidFill>
                <a:latin typeface="Times New Roman (Headings)"/>
              </a:rPr>
              <a:t>ỂU</a:t>
            </a:r>
            <a:r>
              <a:rPr lang="vi-VN" sz="2400" b="1" dirty="0">
                <a:solidFill>
                  <a:srgbClr val="FF0000"/>
                </a:solidFill>
                <a:latin typeface="Times New Roman (Headings)"/>
              </a:rPr>
              <a:t> </a:t>
            </a:r>
            <a:r>
              <a:rPr lang="en-US" sz="2400" b="1" dirty="0">
                <a:solidFill>
                  <a:srgbClr val="FF0000"/>
                </a:solidFill>
                <a:latin typeface="Times New Roman (Headings)"/>
              </a:rPr>
              <a:t>H</a:t>
            </a:r>
            <a:r>
              <a:rPr lang="vi-VN" sz="2400" b="1" dirty="0">
                <a:solidFill>
                  <a:srgbClr val="FF0000"/>
                </a:solidFill>
                <a:latin typeface="Times New Roman (Headings)"/>
              </a:rPr>
              <a:t>IỆN MỚI CỦA Đ</a:t>
            </a:r>
            <a:r>
              <a:rPr lang="en-US" sz="2400" b="1" dirty="0">
                <a:solidFill>
                  <a:srgbClr val="FF0000"/>
                </a:solidFill>
                <a:latin typeface="Times New Roman (Headings)"/>
              </a:rPr>
              <a:t>ỘC</a:t>
            </a:r>
            <a:r>
              <a:rPr lang="vi-VN" sz="2400" b="1" dirty="0">
                <a:solidFill>
                  <a:srgbClr val="FF0000"/>
                </a:solidFill>
                <a:latin typeface="Times New Roman (Headings)"/>
              </a:rPr>
              <a:t> QUYỀN, Đ</a:t>
            </a:r>
            <a:r>
              <a:rPr lang="en-US" sz="2400" b="1" dirty="0">
                <a:solidFill>
                  <a:srgbClr val="FF0000"/>
                </a:solidFill>
                <a:latin typeface="Times New Roman (Headings)"/>
              </a:rPr>
              <a:t>ỘC</a:t>
            </a:r>
            <a:r>
              <a:rPr lang="vi-VN" sz="2400" b="1" dirty="0">
                <a:solidFill>
                  <a:srgbClr val="FF0000"/>
                </a:solidFill>
                <a:latin typeface="Times New Roman (Headings)"/>
              </a:rPr>
              <a:t> QUYỀN NHÀ NƯỚC TRONG ĐIÈÚ KIỆN NGÀY </a:t>
            </a:r>
            <a:r>
              <a:rPr lang="en-US" sz="2400" b="1" dirty="0">
                <a:solidFill>
                  <a:srgbClr val="FF0000"/>
                </a:solidFill>
                <a:latin typeface="Times New Roman (Headings)"/>
              </a:rPr>
              <a:t>NAY; VAI </a:t>
            </a:r>
            <a:r>
              <a:rPr lang="vi-VN" sz="2400" b="1" dirty="0">
                <a:solidFill>
                  <a:srgbClr val="FF0000"/>
                </a:solidFill>
                <a:latin typeface="Times New Roman (Headings)"/>
              </a:rPr>
              <a:t>TRO LỊCH SƯ CỦA CHỦ NGHĨA TƯ BẢN</a:t>
            </a:r>
            <a:endParaRPr lang="en-US" sz="2400" dirty="0">
              <a:solidFill>
                <a:srgbClr val="FF0000"/>
              </a:solidFill>
              <a:latin typeface="Times New Roman (Headings)"/>
            </a:endParaRPr>
          </a:p>
        </p:txBody>
      </p:sp>
      <p:sp>
        <p:nvSpPr>
          <p:cNvPr id="5" name="TextBox 4"/>
          <p:cNvSpPr txBox="1"/>
          <p:nvPr/>
        </p:nvSpPr>
        <p:spPr>
          <a:xfrm>
            <a:off x="749300" y="1511300"/>
            <a:ext cx="10744200" cy="1569660"/>
          </a:xfrm>
          <a:prstGeom prst="rect">
            <a:avLst/>
          </a:prstGeom>
          <a:noFill/>
        </p:spPr>
        <p:txBody>
          <a:bodyPr wrap="square" rtlCol="0">
            <a:spAutoFit/>
          </a:bodyPr>
          <a:lstStyle/>
          <a:p>
            <a:pPr lvl="0"/>
            <a:r>
              <a:rPr lang="en-US" sz="3200" b="1" dirty="0">
                <a:latin typeface="Times New Roman (Headings)"/>
              </a:rPr>
              <a:t>4.3.1. </a:t>
            </a:r>
            <a:r>
              <a:rPr lang="vi-VN" sz="3200" b="1" dirty="0">
                <a:latin typeface="Times New Roman (Headings)"/>
              </a:rPr>
              <a:t>Biểu hiện m</a:t>
            </a:r>
            <a:r>
              <a:rPr lang="en-US" sz="3200" b="1" dirty="0">
                <a:latin typeface="Times New Roman (Headings)"/>
              </a:rPr>
              <a:t>ớ</a:t>
            </a:r>
            <a:r>
              <a:rPr lang="vi-VN" sz="3200" b="1" dirty="0">
                <a:latin typeface="Times New Roman (Headings)"/>
              </a:rPr>
              <a:t>i của độc quyền</a:t>
            </a:r>
            <a:endParaRPr lang="en-US" sz="3200" b="1" dirty="0">
              <a:latin typeface="Times New Roman (Headings)"/>
            </a:endParaRPr>
          </a:p>
          <a:p>
            <a:r>
              <a:rPr lang="vi-VN" sz="3200" i="1" dirty="0">
                <a:latin typeface="Times New Roman (Headings)"/>
              </a:rPr>
              <a:t>4</a:t>
            </a:r>
            <a:r>
              <a:rPr lang="en-US" sz="3200" i="1" dirty="0">
                <a:latin typeface="Times New Roman (Headings)"/>
              </a:rPr>
              <a:t>.</a:t>
            </a:r>
            <a:r>
              <a:rPr lang="vi-VN" sz="3200" i="1" dirty="0">
                <a:latin typeface="Times New Roman (Headings)"/>
              </a:rPr>
              <a:t>3.</a:t>
            </a:r>
            <a:r>
              <a:rPr lang="en-US" sz="3200" i="1" dirty="0">
                <a:latin typeface="Times New Roman (Headings)"/>
              </a:rPr>
              <a:t>1.</a:t>
            </a:r>
            <a:r>
              <a:rPr lang="vi-VN" sz="3200" i="1" dirty="0">
                <a:latin typeface="Times New Roman (Headings)"/>
              </a:rPr>
              <a:t>1. Biểu </a:t>
            </a:r>
            <a:r>
              <a:rPr lang="en-US" sz="3200" i="1" dirty="0">
                <a:latin typeface="Times New Roman (Headings)"/>
              </a:rPr>
              <a:t>hiện</a:t>
            </a:r>
            <a:r>
              <a:rPr lang="vi-VN" sz="3200" i="1" dirty="0">
                <a:latin typeface="Times New Roman (Headings)"/>
              </a:rPr>
              <a:t> mới của tích tụ và tập trung tư bản</a:t>
            </a:r>
            <a:endParaRPr lang="en-US" sz="3200" dirty="0">
              <a:latin typeface="Times New Roman (Headings)"/>
            </a:endParaRPr>
          </a:p>
          <a:p>
            <a:endParaRPr lang="en-US" sz="3200" dirty="0">
              <a:latin typeface="Times New Roman (Headings)"/>
            </a:endParaRPr>
          </a:p>
        </p:txBody>
      </p:sp>
      <p:sp>
        <p:nvSpPr>
          <p:cNvPr id="6" name="TextBox 5"/>
          <p:cNvSpPr txBox="1"/>
          <p:nvPr/>
        </p:nvSpPr>
        <p:spPr>
          <a:xfrm>
            <a:off x="863600" y="3175000"/>
            <a:ext cx="9880600" cy="1384995"/>
          </a:xfrm>
          <a:prstGeom prst="rect">
            <a:avLst/>
          </a:prstGeom>
          <a:noFill/>
        </p:spPr>
        <p:txBody>
          <a:bodyPr wrap="square" rtlCol="0">
            <a:spAutoFit/>
          </a:bodyPr>
          <a:lstStyle/>
          <a:p>
            <a:r>
              <a:rPr lang="vi-VN" sz="2800" dirty="0"/>
              <a:t>Quá trình hình thành những sự liên kết giữa các độc quyền theo cả hai chiều: chiều dọc và chiều ngang, ở cả trong và ngoài nước. </a:t>
            </a:r>
            <a:endParaRPr lang="en-US" sz="2800" dirty="0"/>
          </a:p>
        </p:txBody>
      </p:sp>
    </p:spTree>
    <p:extLst>
      <p:ext uri="{BB962C8B-B14F-4D97-AF65-F5344CB8AC3E}">
        <p14:creationId xmlns:p14="http://schemas.microsoft.com/office/powerpoint/2010/main" val="2011378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493" y="1431235"/>
            <a:ext cx="11100021" cy="1743765"/>
          </a:xfrm>
        </p:spPr>
        <p:txBody>
          <a:bodyPr>
            <a:normAutofit/>
          </a:bodyPr>
          <a:lstStyle/>
          <a:p>
            <a:pPr marL="0" indent="0">
              <a:buNone/>
            </a:pPr>
            <a:r>
              <a:rPr lang="en-US" sz="3600" dirty="0"/>
              <a:t>Concent. </a:t>
            </a:r>
            <a:r>
              <a:rPr lang="vi-VN" sz="3600" dirty="0"/>
              <a:t>Là tổ chức độc quyền đa ngành, thành phần của nó có hàng trăm xí nghiệp có quan hệ với những ngành khác nhau và được phân bô ở nhiều nước. </a:t>
            </a:r>
            <a:endParaRPr lang="en-US" sz="3600" dirty="0"/>
          </a:p>
        </p:txBody>
      </p:sp>
      <p:sp>
        <p:nvSpPr>
          <p:cNvPr id="4" name="TextBox 3"/>
          <p:cNvSpPr txBox="1"/>
          <p:nvPr/>
        </p:nvSpPr>
        <p:spPr>
          <a:xfrm>
            <a:off x="685800" y="3340100"/>
            <a:ext cx="10363200" cy="1754326"/>
          </a:xfrm>
          <a:prstGeom prst="rect">
            <a:avLst/>
          </a:prstGeom>
          <a:noFill/>
        </p:spPr>
        <p:txBody>
          <a:bodyPr wrap="square" rtlCol="0">
            <a:spAutoFit/>
          </a:bodyPr>
          <a:lstStyle/>
          <a:p>
            <a:r>
              <a:rPr lang="en-US" sz="3600" i="1" dirty="0"/>
              <a:t>Conglomerate:</a:t>
            </a:r>
            <a:r>
              <a:rPr lang="en-US" sz="3600" dirty="0"/>
              <a:t> </a:t>
            </a:r>
            <a:r>
              <a:rPr lang="vi-VN" sz="3600" dirty="0"/>
              <a:t>Là sự kết hợp của hàng chục những hãng vừa và nhỏ không có sự liên quan trực tiếp về sản xuất hoặc dịch vụ cho sản xuất. </a:t>
            </a:r>
            <a:endParaRPr lang="en-US" sz="3600" dirty="0"/>
          </a:p>
        </p:txBody>
      </p:sp>
    </p:spTree>
    <p:extLst>
      <p:ext uri="{BB962C8B-B14F-4D97-AF65-F5344CB8AC3E}">
        <p14:creationId xmlns:p14="http://schemas.microsoft.com/office/powerpoint/2010/main" val="21211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520700">
              <a:buNone/>
            </a:pPr>
            <a:r>
              <a:rPr lang="vi-VN" dirty="0"/>
              <a:t>Các tổ chức độc quyền luôn có xu hướng bành trướng quốc tế. Trong điều kiện hiện nay, xu hướng vận động của chúng là trở thành các công ty xuyên quốc gia và liên minh với nhà nước hình thành chủ nghĩa tư bản độc quyền nhà nước. </a:t>
            </a:r>
            <a:endParaRPr lang="en-US" dirty="0"/>
          </a:p>
        </p:txBody>
      </p:sp>
    </p:spTree>
    <p:extLst>
      <p:ext uri="{BB962C8B-B14F-4D97-AF65-F5344CB8AC3E}">
        <p14:creationId xmlns:p14="http://schemas.microsoft.com/office/powerpoint/2010/main" val="2752445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1584" y="1101726"/>
            <a:ext cx="9310315" cy="946840"/>
          </a:xfrm>
        </p:spPr>
        <p:txBody>
          <a:bodyPr>
            <a:normAutofit fontScale="90000"/>
          </a:bodyPr>
          <a:lstStyle/>
          <a:p>
            <a:r>
              <a:rPr lang="en-US" i="1" dirty="0"/>
              <a:t>4.3.1.2. </a:t>
            </a:r>
            <a:r>
              <a:rPr lang="vi-VN" i="1" dirty="0"/>
              <a:t>Bi</a:t>
            </a:r>
            <a:r>
              <a:rPr lang="en-US" i="1" dirty="0"/>
              <a:t>ểu</a:t>
            </a:r>
            <a:r>
              <a:rPr lang="vi-VN" i="1" dirty="0"/>
              <a:t> hiện về vai trò của tư bản tài ch</a:t>
            </a:r>
            <a:r>
              <a:rPr lang="en-US" i="1" dirty="0"/>
              <a:t>í</a:t>
            </a:r>
            <a:r>
              <a:rPr lang="vi-VN" i="1" dirty="0"/>
              <a:t>nh trong các tập đoàn độc quyến</a:t>
            </a:r>
            <a:br>
              <a:rPr lang="en-US" dirty="0"/>
            </a:br>
            <a:endParaRPr lang="en-US" dirty="0"/>
          </a:p>
        </p:txBody>
      </p:sp>
      <p:sp>
        <p:nvSpPr>
          <p:cNvPr id="3" name="Content Placeholder 2"/>
          <p:cNvSpPr>
            <a:spLocks noGrp="1"/>
          </p:cNvSpPr>
          <p:nvPr>
            <p:ph idx="1"/>
          </p:nvPr>
        </p:nvSpPr>
        <p:spPr>
          <a:xfrm>
            <a:off x="572493" y="2171701"/>
            <a:ext cx="11100021" cy="2273299"/>
          </a:xfrm>
        </p:spPr>
        <p:txBody>
          <a:bodyPr/>
          <a:lstStyle/>
          <a:p>
            <a:pPr marL="0" indent="0">
              <a:buNone/>
            </a:pPr>
            <a:r>
              <a:rPr lang="vi-VN" dirty="0">
                <a:latin typeface="+mj-lt"/>
              </a:rPr>
              <a:t>Do sự phát triền mạnh mẽ của cuộc cách mạng khoa học và công nghệ hiện đại, tron</a:t>
            </a:r>
            <a:r>
              <a:rPr lang="en-US" dirty="0">
                <a:latin typeface="+mj-lt"/>
              </a:rPr>
              <a:t>g</a:t>
            </a:r>
            <a:r>
              <a:rPr lang="vi-VN" dirty="0">
                <a:latin typeface="+mj-lt"/>
              </a:rPr>
              <a:t> nền kinh tế tư bản chủ nghĩa đã xuất hiện và phát triển nhiều ngành kinh tế mới, đặc biệt là các ngành thuộc "phần mềm" như dịch vụ, bảo hiểm ... ngày càng chiếm t</a:t>
            </a:r>
            <a:r>
              <a:rPr lang="en-US" dirty="0">
                <a:latin typeface="+mj-lt"/>
              </a:rPr>
              <a:t>ỷ</a:t>
            </a:r>
            <a:r>
              <a:rPr lang="vi-VN" dirty="0">
                <a:latin typeface="+mj-lt"/>
              </a:rPr>
              <a:t> trọng lớn.</a:t>
            </a:r>
            <a:endParaRPr lang="en-US" dirty="0">
              <a:latin typeface="+mj-lt"/>
            </a:endParaRPr>
          </a:p>
        </p:txBody>
      </p:sp>
      <p:sp>
        <p:nvSpPr>
          <p:cNvPr id="4" name="TextBox 3"/>
          <p:cNvSpPr txBox="1"/>
          <p:nvPr/>
        </p:nvSpPr>
        <p:spPr>
          <a:xfrm>
            <a:off x="533400" y="4038600"/>
            <a:ext cx="10642600" cy="1384995"/>
          </a:xfrm>
          <a:prstGeom prst="rect">
            <a:avLst/>
          </a:prstGeom>
          <a:noFill/>
        </p:spPr>
        <p:txBody>
          <a:bodyPr wrap="square" rtlCol="0">
            <a:spAutoFit/>
          </a:bodyPr>
          <a:lstStyle/>
          <a:p>
            <a:r>
              <a:rPr lang="vi-VN" sz="2800" dirty="0">
                <a:latin typeface="Times New Roman (Headings)"/>
              </a:rPr>
              <a:t>Sự ra đời của các </a:t>
            </a:r>
            <a:r>
              <a:rPr lang="en-US" sz="2800" dirty="0">
                <a:latin typeface="Times New Roman (Headings)"/>
              </a:rPr>
              <a:t>trung </a:t>
            </a:r>
            <a:r>
              <a:rPr lang="vi-VN" sz="2800" dirty="0">
                <a:latin typeface="Times New Roman (Headings)"/>
              </a:rPr>
              <a:t>tâm tài chính của thế giới là kết quả hoạt động của các tập đoàn tài chính quốc tế.</a:t>
            </a:r>
            <a:endParaRPr lang="en-US" sz="2800" dirty="0">
              <a:latin typeface="Times New Roman (Headings)"/>
            </a:endParaRPr>
          </a:p>
          <a:p>
            <a:endParaRPr lang="en-US" sz="2800" dirty="0"/>
          </a:p>
        </p:txBody>
      </p:sp>
    </p:spTree>
    <p:extLst>
      <p:ext uri="{BB962C8B-B14F-4D97-AF65-F5344CB8AC3E}">
        <p14:creationId xmlns:p14="http://schemas.microsoft.com/office/powerpoint/2010/main" val="1534528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i="1" dirty="0"/>
              <a:t>4.3.1</a:t>
            </a:r>
            <a:r>
              <a:rPr lang="en-US" i="1" dirty="0"/>
              <a:t>.</a:t>
            </a:r>
            <a:r>
              <a:rPr lang="vi-VN" i="1" dirty="0"/>
              <a:t>3. Bi</a:t>
            </a:r>
            <a:r>
              <a:rPr lang="en-US" i="1" dirty="0"/>
              <a:t>ể</a:t>
            </a:r>
            <a:r>
              <a:rPr lang="vi-VN" i="1" dirty="0"/>
              <a:t>u hiện </a:t>
            </a:r>
            <a:r>
              <a:rPr lang="en-US" i="1" dirty="0"/>
              <a:t>mới</a:t>
            </a:r>
            <a:r>
              <a:rPr lang="vi-VN" i="1" dirty="0"/>
              <a:t> của xuất kh</a:t>
            </a:r>
            <a:r>
              <a:rPr lang="en-US" i="1" dirty="0"/>
              <a:t>ẩ</a:t>
            </a:r>
            <a:r>
              <a:rPr lang="vi-VN" i="1" dirty="0"/>
              <a:t>u tư bản</a:t>
            </a:r>
            <a:endParaRPr lang="en-US" dirty="0"/>
          </a:p>
        </p:txBody>
      </p:sp>
      <p:sp>
        <p:nvSpPr>
          <p:cNvPr id="3" name="Content Placeholder 2"/>
          <p:cNvSpPr>
            <a:spLocks noGrp="1"/>
          </p:cNvSpPr>
          <p:nvPr>
            <p:ph idx="1"/>
          </p:nvPr>
        </p:nvSpPr>
        <p:spPr/>
        <p:txBody>
          <a:bodyPr/>
          <a:lstStyle/>
          <a:p>
            <a:r>
              <a:rPr lang="vi-VN" i="1" dirty="0"/>
              <a:t>Thứ nh</a:t>
            </a:r>
            <a:r>
              <a:rPr lang="en-US" i="1" dirty="0"/>
              <a:t>ấ</a:t>
            </a:r>
            <a:r>
              <a:rPr lang="vi-VN" i="1" dirty="0"/>
              <a:t>t,</a:t>
            </a:r>
            <a:r>
              <a:rPr lang="vi-VN" dirty="0"/>
              <a:t> trước kia luồng tư bản xuất khẩu chủ yếu từ các nước tư bản phát triển sang các nước kém phát triển. Nhưng những thập kỷ gần đây đại bộ phận dòng đầu tư lại chảy qua lại giữa các nước tư bản phát triền với nhau.</a:t>
            </a:r>
            <a:endParaRPr lang="en-US" dirty="0"/>
          </a:p>
          <a:p>
            <a:r>
              <a:rPr lang="vi-VN" i="1" dirty="0"/>
              <a:t>Thứ hai,</a:t>
            </a:r>
            <a:r>
              <a:rPr lang="vi-VN" dirty="0"/>
              <a:t> chủ thể xuất khẩu tư bản có sự thay </a:t>
            </a:r>
            <a:r>
              <a:rPr lang="en-US" dirty="0"/>
              <a:t>đổi</a:t>
            </a:r>
            <a:r>
              <a:rPr lang="vi-VN" dirty="0"/>
              <a:t> lớn, trong đó vai trò của các công ty xuyên quốc gia </a:t>
            </a:r>
            <a:r>
              <a:rPr lang="en-US" dirty="0"/>
              <a:t>(Transnational Corporation </a:t>
            </a:r>
            <a:r>
              <a:rPr lang="vi-VN" dirty="0"/>
              <a:t>- TNCs) trong xuất khẩu tư bản ngày càng to lớn, đặc biệt là đầu tư trực tiếp nước ngoài </a:t>
            </a:r>
            <a:r>
              <a:rPr lang="en-US" dirty="0"/>
              <a:t>(Foreign Direct Investment </a:t>
            </a:r>
            <a:r>
              <a:rPr lang="vi-VN" dirty="0"/>
              <a:t>- </a:t>
            </a:r>
            <a:r>
              <a:rPr lang="en-US" dirty="0"/>
              <a:t>FDI). </a:t>
            </a:r>
            <a:r>
              <a:rPr lang="vi-VN" dirty="0"/>
              <a:t>Mặt khác, đã xuất hiện nhiều ch</a:t>
            </a:r>
            <a:r>
              <a:rPr lang="en-US" dirty="0"/>
              <a:t>ủ</a:t>
            </a:r>
            <a:r>
              <a:rPr lang="vi-VN" dirty="0"/>
              <a:t> thể xuất khẩu tư b</a:t>
            </a:r>
            <a:r>
              <a:rPr lang="en-US" dirty="0"/>
              <a:t>ả</a:t>
            </a:r>
            <a:r>
              <a:rPr lang="vi-VN" dirty="0"/>
              <a:t>n từ các nước đang phát triển.</a:t>
            </a:r>
            <a:endParaRPr lang="en-US" dirty="0"/>
          </a:p>
          <a:p>
            <a:endParaRPr lang="en-US" dirty="0"/>
          </a:p>
        </p:txBody>
      </p:sp>
    </p:spTree>
    <p:extLst>
      <p:ext uri="{BB962C8B-B14F-4D97-AF65-F5344CB8AC3E}">
        <p14:creationId xmlns:p14="http://schemas.microsoft.com/office/powerpoint/2010/main" val="1178024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457200">
              <a:buNone/>
            </a:pPr>
            <a:r>
              <a:rPr lang="vi-VN" i="1" dirty="0"/>
              <a:t>Thứ ba,</a:t>
            </a:r>
            <a:r>
              <a:rPr lang="vi-VN" dirty="0"/>
              <a:t> hình thức xuất khẩu tư bản rất đa dạng, sự đan xen giữa xuất khấu tư bản và xuất khẩu hàng hoá tăng lên. </a:t>
            </a:r>
            <a:endParaRPr lang="en-US" dirty="0"/>
          </a:p>
          <a:p>
            <a:pPr marL="0" indent="457200">
              <a:buNone/>
            </a:pPr>
            <a:r>
              <a:rPr lang="vi-VN" i="1" dirty="0"/>
              <a:t>Thứ tư,</a:t>
            </a:r>
            <a:r>
              <a:rPr lang="vi-VN" dirty="0"/>
              <a:t> sự áp đặt mang tính chất thực dân trong xuất khẩu tư bản đã được gỡ bỏ dần và nguyên tắc cùng có lợi trong đầu tư được đề cao.</a:t>
            </a:r>
            <a:endParaRPr lang="en-US" dirty="0"/>
          </a:p>
          <a:p>
            <a:endParaRPr lang="en-US" dirty="0"/>
          </a:p>
        </p:txBody>
      </p:sp>
    </p:spTree>
    <p:extLst>
      <p:ext uri="{BB962C8B-B14F-4D97-AF65-F5344CB8AC3E}">
        <p14:creationId xmlns:p14="http://schemas.microsoft.com/office/powerpoint/2010/main" val="650086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466726"/>
            <a:ext cx="9310315" cy="946840"/>
          </a:xfrm>
        </p:spPr>
        <p:txBody>
          <a:bodyPr>
            <a:normAutofit fontScale="90000"/>
          </a:bodyPr>
          <a:lstStyle/>
          <a:p>
            <a:pPr lvl="0"/>
            <a:r>
              <a:rPr lang="vi-VN" i="1" dirty="0"/>
              <a:t>Bi</a:t>
            </a:r>
            <a:r>
              <a:rPr lang="en-US" i="1" dirty="0"/>
              <a:t>ể</a:t>
            </a:r>
            <a:r>
              <a:rPr lang="vi-VN" i="1" dirty="0"/>
              <a:t>u hiện mới của sự phân chia thị trường thế gi</a:t>
            </a:r>
            <a:r>
              <a:rPr lang="en-US" i="1" dirty="0"/>
              <a:t>ới</a:t>
            </a:r>
            <a:r>
              <a:rPr lang="vi-VN" i="1" dirty="0"/>
              <a:t> giữa các liên minh </a:t>
            </a:r>
            <a:r>
              <a:rPr lang="en-US" i="1" dirty="0"/>
              <a:t>đ</a:t>
            </a:r>
            <a:r>
              <a:rPr lang="vi-VN" i="1" dirty="0"/>
              <a:t>ộc quyền</a:t>
            </a:r>
            <a:endParaRPr lang="en-US" dirty="0"/>
          </a:p>
        </p:txBody>
      </p:sp>
      <p:sp>
        <p:nvSpPr>
          <p:cNvPr id="3" name="Content Placeholder 2"/>
          <p:cNvSpPr>
            <a:spLocks noGrp="1"/>
          </p:cNvSpPr>
          <p:nvPr>
            <p:ph idx="1"/>
          </p:nvPr>
        </p:nvSpPr>
        <p:spPr>
          <a:xfrm>
            <a:off x="572493" y="2133599"/>
            <a:ext cx="11100021" cy="4163833"/>
          </a:xfrm>
        </p:spPr>
        <p:txBody>
          <a:bodyPr/>
          <a:lstStyle/>
          <a:p>
            <a:pPr marL="0" indent="0">
              <a:buNone/>
            </a:pPr>
            <a:r>
              <a:rPr lang="vi-VN" dirty="0"/>
              <a:t>Sức mạnh và phạm vi bành trướng của các công ty xuyên quốc gia (TNCs) tăng lên đã thúc đẩy xu hướng quốc tế hoá, toàn cầu hoá kinh tế và sự phân chia phạm vi ảnh hường giữa chúng với nhau, đồng thời thúc đẩy việc hình thành chủ nghĩa tư bản độc quyền quốc tế.</a:t>
            </a:r>
            <a:endParaRPr lang="en-US" dirty="0"/>
          </a:p>
          <a:p>
            <a:endParaRPr lang="en-US" dirty="0"/>
          </a:p>
        </p:txBody>
      </p:sp>
    </p:spTree>
    <p:extLst>
      <p:ext uri="{BB962C8B-B14F-4D97-AF65-F5344CB8AC3E}">
        <p14:creationId xmlns:p14="http://schemas.microsoft.com/office/powerpoint/2010/main" val="10440878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0784" y="644526"/>
            <a:ext cx="9310315" cy="946840"/>
          </a:xfrm>
        </p:spPr>
        <p:txBody>
          <a:bodyPr>
            <a:normAutofit fontScale="90000"/>
          </a:bodyPr>
          <a:lstStyle/>
          <a:p>
            <a:pPr lvl="0"/>
            <a:r>
              <a:rPr lang="en-US" i="1" dirty="0"/>
              <a:t>4.3.1.5. </a:t>
            </a:r>
            <a:r>
              <a:rPr lang="vi-VN" i="1" dirty="0"/>
              <a:t>Bi</a:t>
            </a:r>
            <a:r>
              <a:rPr lang="en-US" i="1" dirty="0"/>
              <a:t>ể</a:t>
            </a:r>
            <a:r>
              <a:rPr lang="vi-VN" i="1" dirty="0"/>
              <a:t>u hiện mới về sự phân chia lãnh th</a:t>
            </a:r>
            <a:r>
              <a:rPr lang="en-US" i="1" dirty="0"/>
              <a:t>ổ</a:t>
            </a:r>
            <a:r>
              <a:rPr lang="vi-VN" i="1" dirty="0"/>
              <a:t> ảnh hưởng dưới sự chi ph</a:t>
            </a:r>
            <a:r>
              <a:rPr lang="en-US" i="1" dirty="0"/>
              <a:t>ối</a:t>
            </a:r>
            <a:r>
              <a:rPr lang="vi-VN" i="1" dirty="0"/>
              <a:t> của các tập đoàn độc quy</a:t>
            </a:r>
            <a:r>
              <a:rPr lang="en-US" i="1" dirty="0"/>
              <a:t>ền</a:t>
            </a:r>
            <a:endParaRPr lang="en-US" dirty="0"/>
          </a:p>
        </p:txBody>
      </p:sp>
      <p:sp>
        <p:nvSpPr>
          <p:cNvPr id="3" name="Content Placeholder 2"/>
          <p:cNvSpPr>
            <a:spLocks noGrp="1"/>
          </p:cNvSpPr>
          <p:nvPr>
            <p:ph idx="1"/>
          </p:nvPr>
        </p:nvSpPr>
        <p:spPr>
          <a:xfrm>
            <a:off x="597893" y="2882899"/>
            <a:ext cx="11100021" cy="1866901"/>
          </a:xfrm>
        </p:spPr>
        <p:txBody>
          <a:bodyPr/>
          <a:lstStyle/>
          <a:p>
            <a:pPr marL="0" indent="571500">
              <a:buNone/>
            </a:pPr>
            <a:r>
              <a:rPr lang="vi-VN" dirty="0"/>
              <a:t>Sự phân chia lãnh thổ thế giới lại được thay thể bằng những cuộc chiến tranh thương mại, những cuộc chiến tranh sắc tộc, tôn giáo mà đứng bên trong hoặc núp đằng sau, trực tiếp hoặc gián tiếp các cuộc đụng độ đó chính là các cường quốc tư bản.</a:t>
            </a:r>
            <a:endParaRPr lang="en-US" dirty="0"/>
          </a:p>
          <a:p>
            <a:endParaRPr lang="en-US" dirty="0"/>
          </a:p>
        </p:txBody>
      </p:sp>
    </p:spTree>
    <p:extLst>
      <p:ext uri="{BB962C8B-B14F-4D97-AF65-F5344CB8AC3E}">
        <p14:creationId xmlns:p14="http://schemas.microsoft.com/office/powerpoint/2010/main" val="616395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984" y="393700"/>
            <a:ext cx="9310315" cy="1527866"/>
          </a:xfrm>
        </p:spPr>
        <p:txBody>
          <a:bodyPr>
            <a:noAutofit/>
          </a:bodyPr>
          <a:lstStyle/>
          <a:p>
            <a:pPr lvl="0"/>
            <a:r>
              <a:rPr lang="en-US" sz="3200" b="1" dirty="0">
                <a:latin typeface="Times New Roman (Headings)"/>
              </a:rPr>
              <a:t>4.3.2. </a:t>
            </a:r>
            <a:r>
              <a:rPr lang="vi-VN" sz="3200" b="1" dirty="0">
                <a:latin typeface="Times New Roman (Headings)"/>
              </a:rPr>
              <a:t>Biểu hiện m</a:t>
            </a:r>
            <a:r>
              <a:rPr lang="en-US" sz="3200" b="1" dirty="0">
                <a:latin typeface="Times New Roman (Headings)"/>
              </a:rPr>
              <a:t>ớ</a:t>
            </a:r>
            <a:r>
              <a:rPr lang="vi-VN" sz="3200" b="1" dirty="0">
                <a:latin typeface="Times New Roman (Headings)"/>
              </a:rPr>
              <a:t>i c</a:t>
            </a:r>
            <a:r>
              <a:rPr lang="en-US" sz="3200" b="1" dirty="0">
                <a:latin typeface="Times New Roman (Headings)"/>
              </a:rPr>
              <a:t>ủ</a:t>
            </a:r>
            <a:r>
              <a:rPr lang="vi-VN" sz="3200" b="1" dirty="0">
                <a:latin typeface="Times New Roman (Headings)"/>
              </a:rPr>
              <a:t>a độc quyền nhà nước </a:t>
            </a:r>
            <a:r>
              <a:rPr lang="en-US" sz="3200" b="1" dirty="0">
                <a:latin typeface="Times New Roman (Headings)"/>
              </a:rPr>
              <a:t>dưới</a:t>
            </a:r>
            <a:r>
              <a:rPr lang="vi-VN" sz="3200" b="1" dirty="0">
                <a:latin typeface="Times New Roman (Headings)"/>
              </a:rPr>
              <a:t> chủ nghĩa t</a:t>
            </a:r>
            <a:r>
              <a:rPr lang="en-US" sz="3200" b="1" dirty="0">
                <a:latin typeface="Times New Roman (Headings)"/>
              </a:rPr>
              <a:t>ư</a:t>
            </a:r>
            <a:r>
              <a:rPr lang="vi-VN" sz="3200" b="1" dirty="0">
                <a:latin typeface="Times New Roman (Headings)"/>
              </a:rPr>
              <a:t> bản</a:t>
            </a:r>
            <a:br>
              <a:rPr lang="en-US" sz="3200" b="1" dirty="0">
                <a:latin typeface="Times New Roman (Headings)"/>
              </a:rPr>
            </a:br>
            <a:r>
              <a:rPr lang="en-US" sz="3200" b="1" dirty="0">
                <a:latin typeface="Times New Roman (Headings)"/>
              </a:rPr>
              <a:t>4.3.2.1. </a:t>
            </a:r>
            <a:r>
              <a:rPr lang="vi-VN" sz="3200" i="1" dirty="0">
                <a:latin typeface="Times New Roman (Headings)"/>
              </a:rPr>
              <a:t>Những </a:t>
            </a:r>
            <a:r>
              <a:rPr lang="en-US" sz="3200" i="1" dirty="0">
                <a:latin typeface="Times New Roman (Headings)"/>
              </a:rPr>
              <a:t>biểu </a:t>
            </a:r>
            <a:r>
              <a:rPr lang="vi-VN" sz="3200" i="1" dirty="0">
                <a:latin typeface="Times New Roman (Headings)"/>
              </a:rPr>
              <a:t>hiện m</a:t>
            </a:r>
            <a:r>
              <a:rPr lang="en-US" sz="3200" i="1" dirty="0">
                <a:latin typeface="Times New Roman (Headings)"/>
              </a:rPr>
              <a:t>ới</a:t>
            </a:r>
            <a:r>
              <a:rPr lang="vi-VN" sz="3200" i="1" dirty="0">
                <a:latin typeface="Times New Roman (Headings)"/>
              </a:rPr>
              <a:t> về cơ ch</a:t>
            </a:r>
            <a:r>
              <a:rPr lang="en-US" sz="3200" i="1" dirty="0">
                <a:latin typeface="Times New Roman (Headings)"/>
              </a:rPr>
              <a:t>ế</a:t>
            </a:r>
            <a:r>
              <a:rPr lang="vi-VN" sz="3200" i="1" dirty="0">
                <a:latin typeface="Times New Roman (Headings)"/>
              </a:rPr>
              <a:t> quan hệ nhân sự</a:t>
            </a:r>
            <a:endParaRPr lang="en-US" sz="3200" dirty="0">
              <a:latin typeface="Times New Roman (Headings)"/>
            </a:endParaRPr>
          </a:p>
        </p:txBody>
      </p:sp>
      <p:sp>
        <p:nvSpPr>
          <p:cNvPr id="3" name="Content Placeholder 2"/>
          <p:cNvSpPr>
            <a:spLocks noGrp="1"/>
          </p:cNvSpPr>
          <p:nvPr>
            <p:ph idx="1"/>
          </p:nvPr>
        </p:nvSpPr>
        <p:spPr>
          <a:xfrm>
            <a:off x="572493" y="2489199"/>
            <a:ext cx="11100021" cy="1816101"/>
          </a:xfrm>
        </p:spPr>
        <p:txBody>
          <a:bodyPr/>
          <a:lstStyle/>
          <a:p>
            <a:pPr marL="0" indent="0">
              <a:buNone/>
            </a:pPr>
            <a:r>
              <a:rPr lang="vi-VN" dirty="0"/>
              <a:t>Tại các nước tư b</a:t>
            </a:r>
            <a:r>
              <a:rPr lang="en-US" dirty="0"/>
              <a:t>ả</a:t>
            </a:r>
            <a:r>
              <a:rPr lang="vi-VN" dirty="0"/>
              <a:t>n phát triển nhất xuất hiện cơ chế thỏa hiệp để cùng tồn tại, cùng phân chia quyền lực giữa các thế lực tư bản độc quyền không cho phép bât kỳ một thê lực tư b</a:t>
            </a:r>
            <a:r>
              <a:rPr lang="en-US" dirty="0"/>
              <a:t>ả</a:t>
            </a:r>
            <a:r>
              <a:rPr lang="vi-VN" dirty="0"/>
              <a:t>n nào độc tôn, chuyên quyền ở các nước tư bản phát triển.</a:t>
            </a:r>
            <a:endParaRPr lang="en-US" dirty="0"/>
          </a:p>
          <a:p>
            <a:endParaRPr lang="en-US" dirty="0"/>
          </a:p>
        </p:txBody>
      </p:sp>
    </p:spTree>
    <p:extLst>
      <p:ext uri="{BB962C8B-B14F-4D97-AF65-F5344CB8AC3E}">
        <p14:creationId xmlns:p14="http://schemas.microsoft.com/office/powerpoint/2010/main" val="138132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4.3.2.2. </a:t>
            </a:r>
            <a:r>
              <a:rPr lang="vi-VN" i="1" dirty="0"/>
              <a:t>Những biếu hiện m</a:t>
            </a:r>
            <a:r>
              <a:rPr lang="en-US" i="1" dirty="0"/>
              <a:t>ớ</a:t>
            </a:r>
            <a:r>
              <a:rPr lang="vi-VN" i="1" dirty="0"/>
              <a:t>i về sở hữu nhà nước</a:t>
            </a:r>
            <a:endParaRPr lang="en-US" dirty="0"/>
          </a:p>
        </p:txBody>
      </p:sp>
      <p:sp>
        <p:nvSpPr>
          <p:cNvPr id="3" name="Content Placeholder 2"/>
          <p:cNvSpPr>
            <a:spLocks noGrp="1"/>
          </p:cNvSpPr>
          <p:nvPr>
            <p:ph idx="1"/>
          </p:nvPr>
        </p:nvSpPr>
        <p:spPr/>
        <p:txBody>
          <a:bodyPr/>
          <a:lstStyle/>
          <a:p>
            <a:r>
              <a:rPr lang="vi-VN" dirty="0"/>
              <a:t>Chi tiêu ngân sách nhà nước là công việc thuộc quyền của giới lập pháp. </a:t>
            </a:r>
            <a:endParaRPr lang="en-US" dirty="0"/>
          </a:p>
          <a:p>
            <a:r>
              <a:rPr lang="vi-VN" dirty="0"/>
              <a:t>Nhà nước đã dùng ngân sách của mình để tạo nên những cơ sở vật chất, gánh chịu các rủi ro lớn, còn các công ty tư nhân tập trung vào các lĩnh vực có lợi nhuận hấp dẫn.</a:t>
            </a:r>
            <a:endParaRPr lang="en-US" dirty="0"/>
          </a:p>
          <a:p>
            <a:r>
              <a:rPr lang="vi-VN" dirty="0"/>
              <a:t>Nhà nước tư sản hiện </a:t>
            </a:r>
            <a:r>
              <a:rPr lang="en-US" dirty="0"/>
              <a:t>đ</a:t>
            </a:r>
            <a:r>
              <a:rPr lang="vi-VN" dirty="0"/>
              <a:t>ại là nhân tố quyết định trong </a:t>
            </a:r>
            <a:r>
              <a:rPr lang="en-US" dirty="0"/>
              <a:t>ổ</a:t>
            </a:r>
            <a:r>
              <a:rPr lang="vi-VN" dirty="0"/>
              <a:t>n định kinh tế vĩ mô thông qua thu - chi ngân sách, kiểm soát lãi suất, trợ cấp và trợ giá, kiểm soát tỉ giá hối đoái, mua sắm công,... </a:t>
            </a:r>
            <a:endParaRPr lang="en-US" dirty="0"/>
          </a:p>
        </p:txBody>
      </p:sp>
    </p:spTree>
    <p:extLst>
      <p:ext uri="{BB962C8B-B14F-4D97-AF65-F5344CB8AC3E}">
        <p14:creationId xmlns:p14="http://schemas.microsoft.com/office/powerpoint/2010/main" val="4218765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365126"/>
            <a:ext cx="9310315" cy="1539874"/>
          </a:xfrm>
        </p:spPr>
        <p:txBody>
          <a:bodyPr>
            <a:noAutofit/>
          </a:bodyPr>
          <a:lstStyle/>
          <a:p>
            <a:pPr lvl="0"/>
            <a:r>
              <a:rPr lang="en-US" sz="3600" b="1" dirty="0"/>
              <a:t>4.3.3. </a:t>
            </a:r>
            <a:r>
              <a:rPr lang="vi-VN" sz="3600" b="1" dirty="0"/>
              <a:t>Vai trò lịch sử của chủ nghĩa tir bản</a:t>
            </a:r>
            <a:br>
              <a:rPr lang="en-US" sz="3600" dirty="0"/>
            </a:br>
            <a:r>
              <a:rPr lang="vi-VN" sz="3600" i="1" dirty="0"/>
              <a:t>4.3.3.1. Vai trò tích cực của chủ nghĩa tư bản</a:t>
            </a:r>
            <a:endParaRPr lang="en-US" sz="3600" dirty="0"/>
          </a:p>
        </p:txBody>
      </p:sp>
      <p:sp>
        <p:nvSpPr>
          <p:cNvPr id="3" name="Content Placeholder 2"/>
          <p:cNvSpPr>
            <a:spLocks noGrp="1"/>
          </p:cNvSpPr>
          <p:nvPr>
            <p:ph idx="1"/>
          </p:nvPr>
        </p:nvSpPr>
        <p:spPr>
          <a:xfrm>
            <a:off x="572493" y="2197099"/>
            <a:ext cx="11100021" cy="4100333"/>
          </a:xfrm>
        </p:spPr>
        <p:txBody>
          <a:bodyPr/>
          <a:lstStyle/>
          <a:p>
            <a:r>
              <a:rPr lang="vi-VN" dirty="0"/>
              <a:t>Thúc đẩy lực lượng sản xuất phát triển nhanh chóng</a:t>
            </a:r>
            <a:endParaRPr lang="en-US" dirty="0"/>
          </a:p>
          <a:p>
            <a:pPr lvl="0"/>
            <a:r>
              <a:rPr lang="vi-VN" dirty="0"/>
              <a:t>Chuyển nền sản xuất nhỏ thành nền sản xuất lớn hiện đại</a:t>
            </a:r>
            <a:endParaRPr lang="en-US" dirty="0"/>
          </a:p>
          <a:p>
            <a:pPr lvl="0"/>
            <a:r>
              <a:rPr lang="vi-VN" dirty="0"/>
              <a:t>Thực hiện xã hội hóa s</a:t>
            </a:r>
            <a:r>
              <a:rPr lang="en-US" dirty="0"/>
              <a:t>ả</a:t>
            </a:r>
            <a:r>
              <a:rPr lang="vi-VN" dirty="0"/>
              <a:t>n xuất</a:t>
            </a:r>
            <a:endParaRPr lang="en-US" dirty="0"/>
          </a:p>
          <a:p>
            <a:endParaRPr lang="en-US" dirty="0"/>
          </a:p>
        </p:txBody>
      </p:sp>
    </p:spTree>
    <p:extLst>
      <p:ext uri="{BB962C8B-B14F-4D97-AF65-F5344CB8AC3E}">
        <p14:creationId xmlns:p14="http://schemas.microsoft.com/office/powerpoint/2010/main" val="3549769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6184" y="682626"/>
            <a:ext cx="9310315" cy="946840"/>
          </a:xfrm>
        </p:spPr>
        <p:txBody>
          <a:bodyPr>
            <a:normAutofit fontScale="90000"/>
          </a:bodyPr>
          <a:lstStyle/>
          <a:p>
            <a:r>
              <a:rPr lang="vi-VN" i="1" dirty="0"/>
              <a:t>4</a:t>
            </a:r>
            <a:r>
              <a:rPr lang="en-US" i="1" dirty="0"/>
              <a:t>.</a:t>
            </a:r>
            <a:r>
              <a:rPr lang="vi-VN" i="1" dirty="0"/>
              <a:t>3</a:t>
            </a:r>
            <a:r>
              <a:rPr lang="en-US" i="1" dirty="0"/>
              <a:t>.</a:t>
            </a:r>
            <a:r>
              <a:rPr lang="vi-VN" i="1" dirty="0"/>
              <a:t>3.2, Những giới hạn phát triển của chủ nghĩa tư bản</a:t>
            </a:r>
            <a:br>
              <a:rPr lang="en-US" dirty="0"/>
            </a:br>
            <a:endParaRPr lang="en-US" dirty="0"/>
          </a:p>
        </p:txBody>
      </p:sp>
      <p:sp>
        <p:nvSpPr>
          <p:cNvPr id="3" name="Content Placeholder 2"/>
          <p:cNvSpPr>
            <a:spLocks noGrp="1"/>
          </p:cNvSpPr>
          <p:nvPr>
            <p:ph idx="1"/>
          </p:nvPr>
        </p:nvSpPr>
        <p:spPr>
          <a:xfrm>
            <a:off x="572493" y="1879599"/>
            <a:ext cx="11100021" cy="2971801"/>
          </a:xfrm>
        </p:spPr>
        <p:txBody>
          <a:bodyPr>
            <a:normAutofit lnSpcReduction="10000"/>
          </a:bodyPr>
          <a:lstStyle/>
          <a:p>
            <a:pPr marL="0" indent="0">
              <a:buNone/>
            </a:pPr>
            <a:r>
              <a:rPr lang="vi-VN" dirty="0"/>
              <a:t>* Mục đích của nền sản xuất tư bản chủ nghĩa vẫn tập trung chủ yếu vì lợi ích của thiểu số giai cấp tư sản</a:t>
            </a:r>
            <a:endParaRPr lang="en-US" dirty="0"/>
          </a:p>
          <a:p>
            <a:pPr marL="0" indent="0">
              <a:buNone/>
            </a:pPr>
            <a:r>
              <a:rPr lang="vi-VN" dirty="0"/>
              <a:t>* Chủ nghĩa tư bản đã và đang tiếp tục tham gia gây ra chiến tranh và xung đột nhiều nơi trên thế giới</a:t>
            </a:r>
            <a:endParaRPr lang="en-US" dirty="0"/>
          </a:p>
          <a:p>
            <a:pPr marL="0" indent="0">
              <a:buNone/>
            </a:pPr>
            <a:r>
              <a:rPr lang="vi-VN" dirty="0"/>
              <a:t>* Sự phân hóa giàu ngh</a:t>
            </a:r>
            <a:r>
              <a:rPr lang="en-US" dirty="0"/>
              <a:t>è</a:t>
            </a:r>
            <a:r>
              <a:rPr lang="vi-VN" dirty="0"/>
              <a:t>o trong lòng các nước tư bản và có xu hướng ngày càng sâu sắc</a:t>
            </a:r>
            <a:br>
              <a:rPr lang="vi-VN" dirty="0"/>
            </a:br>
            <a:endParaRPr lang="en-US" dirty="0"/>
          </a:p>
        </p:txBody>
      </p:sp>
    </p:spTree>
    <p:extLst>
      <p:ext uri="{BB962C8B-B14F-4D97-AF65-F5344CB8AC3E}">
        <p14:creationId xmlns:p14="http://schemas.microsoft.com/office/powerpoint/2010/main" val="1859955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598007-4517-4D07-B95E-A53DF773EB22}"/>
              </a:ext>
            </a:extLst>
          </p:cNvPr>
          <p:cNvSpPr txBox="1"/>
          <p:nvPr/>
        </p:nvSpPr>
        <p:spPr>
          <a:xfrm>
            <a:off x="825910" y="1607574"/>
            <a:ext cx="10825316" cy="1569660"/>
          </a:xfrm>
          <a:prstGeom prst="rect">
            <a:avLst/>
          </a:prstGeom>
          <a:noFill/>
        </p:spPr>
        <p:txBody>
          <a:bodyPr wrap="square" rtlCol="0">
            <a:spAutoFit/>
          </a:bodyPr>
          <a:lstStyle/>
          <a:p>
            <a:r>
              <a:rPr lang="vi-VN" sz="2400" dirty="0">
                <a:solidFill>
                  <a:schemeClr val="accent1"/>
                </a:solidFill>
                <a:effectLst/>
                <a:latin typeface="Times New Roman" panose="02020603050405020304" pitchFamily="18" charset="0"/>
                <a:ea typeface="Times New Roman" panose="02020603050405020304" pitchFamily="18" charset="0"/>
              </a:rPr>
              <a:t>Lý luận chủ nghĩa Mác - Lênin khẳng định: chủ nghĩa tư bản không tồn tại vĩnh viễn, mà phát triển đến một trình độ nhất định sẽ bị thay thế bởi một hình thái kinh tế - xã hội mới tiến bộ hơn</a:t>
            </a:r>
            <a:r>
              <a:rPr lang="en-US" sz="2400" dirty="0">
                <a:solidFill>
                  <a:schemeClr val="accent1"/>
                </a:solidFill>
                <a:effectLst/>
                <a:latin typeface="Times New Roman" panose="02020603050405020304" pitchFamily="18" charset="0"/>
                <a:ea typeface="Times New Roman" panose="02020603050405020304" pitchFamily="18" charset="0"/>
              </a:rPr>
              <a:t> (</a:t>
            </a:r>
            <a:r>
              <a:rPr lang="en-US" sz="2400" dirty="0" err="1">
                <a:solidFill>
                  <a:schemeClr val="accent1"/>
                </a:solidFill>
                <a:effectLst/>
                <a:latin typeface="Times New Roman" panose="02020603050405020304" pitchFamily="18" charset="0"/>
                <a:ea typeface="Calibri" panose="020F0502020204030204" pitchFamily="34" charset="0"/>
              </a:rPr>
              <a:t>phương</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thức</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sản</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xuất</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cộng</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sản</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chủ</a:t>
            </a:r>
            <a:r>
              <a:rPr lang="en-US" sz="2400" dirty="0">
                <a:solidFill>
                  <a:schemeClr val="accent1"/>
                </a:solidFill>
                <a:effectLst/>
                <a:latin typeface="Times New Roman" panose="02020603050405020304" pitchFamily="18" charset="0"/>
                <a:ea typeface="Calibri" panose="020F0502020204030204" pitchFamily="34" charset="0"/>
              </a:rPr>
              <a:t> </a:t>
            </a:r>
            <a:r>
              <a:rPr lang="en-US" sz="2400" dirty="0" err="1">
                <a:solidFill>
                  <a:schemeClr val="accent1"/>
                </a:solidFill>
                <a:effectLst/>
                <a:latin typeface="Times New Roman" panose="02020603050405020304" pitchFamily="18" charset="0"/>
                <a:ea typeface="Calibri" panose="020F0502020204030204" pitchFamily="34" charset="0"/>
              </a:rPr>
              <a:t>nghĩa</a:t>
            </a:r>
            <a:r>
              <a:rPr lang="en-US" sz="2400" dirty="0">
                <a:solidFill>
                  <a:schemeClr val="accent1"/>
                </a:solidFill>
                <a:effectLst/>
                <a:latin typeface="Times New Roman" panose="02020603050405020304" pitchFamily="18" charset="0"/>
                <a:ea typeface="Times New Roman" panose="02020603050405020304" pitchFamily="18" charset="0"/>
              </a:rPr>
              <a:t>)</a:t>
            </a:r>
            <a:r>
              <a:rPr lang="vi-VN" sz="2400" dirty="0">
                <a:solidFill>
                  <a:schemeClr val="accent1"/>
                </a:solidFill>
                <a:effectLst/>
                <a:latin typeface="Times New Roman" panose="02020603050405020304" pitchFamily="18" charset="0"/>
                <a:ea typeface="Times New Roman" panose="02020603050405020304" pitchFamily="18" charset="0"/>
              </a:rPr>
              <a:t>.</a:t>
            </a:r>
            <a:endParaRPr lang="en-US" sz="2400" dirty="0">
              <a:solidFill>
                <a:schemeClr val="accent1"/>
              </a:solidFill>
              <a:effectLst/>
              <a:latin typeface="Times New Roman" panose="02020603050405020304" pitchFamily="18" charset="0"/>
              <a:ea typeface="Times New Roman" panose="02020603050405020304" pitchFamily="18" charset="0"/>
            </a:endParaRPr>
          </a:p>
          <a:p>
            <a:endParaRPr lang="en-US" sz="2400" dirty="0">
              <a:solidFill>
                <a:schemeClr val="accent1"/>
              </a:solidFill>
            </a:endParaRPr>
          </a:p>
        </p:txBody>
      </p:sp>
    </p:spTree>
    <p:extLst>
      <p:ext uri="{BB962C8B-B14F-4D97-AF65-F5344CB8AC3E}">
        <p14:creationId xmlns:p14="http://schemas.microsoft.com/office/powerpoint/2010/main" val="730654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916</TotalTime>
  <Words>3475</Words>
  <Application>Microsoft Office PowerPoint</Application>
  <PresentationFormat>Widescreen</PresentationFormat>
  <Paragraphs>145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Times New Roman</vt:lpstr>
      <vt:lpstr>Times New Roman (Headings)</vt:lpstr>
      <vt:lpstr>VNI-Franko</vt:lpstr>
      <vt:lpstr>Office Theme</vt:lpstr>
      <vt:lpstr>PowerPoint Presentation</vt:lpstr>
      <vt:lpstr>4.1. CẠNH TRANH Ở CẤP ĐỘ ĐỘC QUYỀN TRONG NỀN KINH TẾ THỊ TRƯỜNG</vt:lpstr>
      <vt:lpstr>Nguyên nhân hình thành độc quyền</vt:lpstr>
      <vt:lpstr>* Độc quyền nhà nước - nguyên nhân hình thành và bản chất cùa độc quyền nhà nước </vt:lpstr>
      <vt:lpstr>- Nguyên nhân hình thành độc quyền nhà nước trong nền kinh tế thị trường tư bản chủ nghĩa </vt:lpstr>
      <vt:lpstr>PowerPoint Presentation</vt:lpstr>
      <vt:lpstr>- Bản chất của độc quyền nhà nước trong chủ nghĩa tư bản </vt:lpstr>
      <vt:lpstr>4.1.1.2. Tác động cứa độc quyền ỉrong nền kinh tế thị trường * Tác động của độc quyền đối với nền kinh tế</vt:lpstr>
      <vt:lpstr>Tác động tiêu cực:</vt:lpstr>
      <vt:lpstr>4.1.2. Quan hệ cạnh tranh trong trạng thái độc quyền</vt:lpstr>
      <vt:lpstr>4.2. LÝ LUẬN CỦA V.I. LÊNIN VÈ CÁC ĐẶC ĐIỂM KINH TẾ CỦA ĐỘC QUYỀN VÀ ĐỘC QUYỀN NHÀ NUỚC TRONG NÈN KINII TÉ THỊ TRƯỜNG TU BAN CHỦ NGHĨA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4.2.1.4. Cạnh tranh đề phân chia thị trường thế giới là tất yếu giữa các tập đoàn độc quyền</vt:lpstr>
      <vt:lpstr>PowerPoint Presentation</vt:lpstr>
      <vt:lpstr>4.2.1.5. Lôi kéo, thúc đầy các chính phủ vào việc phân định khu vực lãnh thổ ảnh hưởng là cách thức để bảo vệ lợi ích độc quyền</vt:lpstr>
      <vt:lpstr>4.2.2. Lý luận của V.I. Lênin về đặc điểm kinh tế của độc quyền nhà nước trong chủ nghĩa tư bản</vt:lpstr>
      <vt:lpstr>4.2.2.2. Sự hình thành, phát triển sở hữu nhà nước</vt:lpstr>
      <vt:lpstr>Sở hữu nhà nước thực hiện được các chức năng cơ bản sau: </vt:lpstr>
      <vt:lpstr>4.2.2.3. Độc quyền nhà nước trở thành công cụ đế nhà nước điều tiết nền kinh tế</vt:lpstr>
      <vt:lpstr>4.3. BIỂU HIỆN MỚI CỦA ĐỘC QUYỀN, ĐỘC QUYỀN NHÀ NƯỚC TRONG ĐIÈÚ KIỆN NGÀY NAY; VAI TRO LỊCH SƯ CỦA CHỦ NGHĨA TƯ BẢN</vt:lpstr>
      <vt:lpstr>PowerPoint Presentation</vt:lpstr>
      <vt:lpstr>PowerPoint Presentation</vt:lpstr>
      <vt:lpstr>4.3.1.2. Biểu hiện về vai trò của tư bản tài chính trong các tập đoàn độc quyến </vt:lpstr>
      <vt:lpstr>4.3.1.3. Biểu hiện mới của xuất khẩu tư bản</vt:lpstr>
      <vt:lpstr>PowerPoint Presentation</vt:lpstr>
      <vt:lpstr>Biểu hiện mới của sự phân chia thị trường thế giới giữa các liên minh độc quyền</vt:lpstr>
      <vt:lpstr>4.3.1.5. Biểu hiện mới về sự phân chia lãnh thổ ảnh hưởng dưới sự chi phối của các tập đoàn độc quyền</vt:lpstr>
      <vt:lpstr>4.3.2. Biểu hiện mới của độc quyền nhà nước dưới chủ nghĩa tư bản 4.3.2.1. Những biểu hiện mới về cơ chế quan hệ nhân sự</vt:lpstr>
      <vt:lpstr>4.3.2.2. Những biếu hiện mới về sở hữu nhà nước</vt:lpstr>
      <vt:lpstr>4.3.3. Vai trò lịch sử của chủ nghĩa tir bản 4.3.3.1. Vai trò tích cực của chủ nghĩa tư bản</vt:lpstr>
      <vt:lpstr>4.3.3.2, Những giới hạn phát triển của chủ nghĩa tư bản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Thành Lương xuân</cp:lastModifiedBy>
  <cp:revision>46</cp:revision>
  <dcterms:created xsi:type="dcterms:W3CDTF">2020-05-27T05:21:30Z</dcterms:created>
  <dcterms:modified xsi:type="dcterms:W3CDTF">2022-04-25T17:55:49Z</dcterms:modified>
</cp:coreProperties>
</file>