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9"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303" r:id="rId33"/>
    <p:sldId id="304" r:id="rId34"/>
    <p:sldId id="305" r:id="rId35"/>
    <p:sldId id="306" r:id="rId36"/>
    <p:sldId id="307" r:id="rId37"/>
    <p:sldId id="308" r:id="rId38"/>
    <p:sldId id="310" r:id="rId39"/>
    <p:sldId id="311" r:id="rId40"/>
    <p:sldId id="312" r:id="rId41"/>
    <p:sldId id="313" r:id="rId42"/>
    <p:sldId id="314" r:id="rId43"/>
    <p:sldId id="309" r:id="rId44"/>
    <p:sldId id="315" r:id="rId45"/>
    <p:sldId id="316" r:id="rId46"/>
    <p:sldId id="317" r:id="rId47"/>
    <p:sldId id="318" r:id="rId48"/>
    <p:sldId id="319" r:id="rId49"/>
    <p:sldId id="320" r:id="rId50"/>
    <p:sldId id="321" r:id="rId51"/>
    <p:sldId id="322" r:id="rId52"/>
    <p:sldId id="323" r:id="rId53"/>
    <p:sldId id="32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60"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E1AADD-C2D3-457F-B910-3A39AFA540A7}" type="datetimeFigureOut">
              <a:rPr lang="en-US" smtClean="0"/>
              <a:t>8/13/2020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D4DB3B-002A-449A-B2C8-C0B3A3886B99}" type="slidenum">
              <a:rPr lang="en-US" smtClean="0"/>
              <a:t>‹#›</a:t>
            </a:fld>
            <a:endParaRPr lang="en-US"/>
          </a:p>
        </p:txBody>
      </p:sp>
    </p:spTree>
    <p:extLst>
      <p:ext uri="{BB962C8B-B14F-4D97-AF65-F5344CB8AC3E}">
        <p14:creationId xmlns:p14="http://schemas.microsoft.com/office/powerpoint/2010/main" val="2857341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379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8DF870F-1E24-464C-8425-07C782D772C4}" type="slidenum">
              <a:rPr lang="en-US" smtClean="0"/>
              <a:pPr fontAlgn="base">
                <a:spcBef>
                  <a:spcPct val="0"/>
                </a:spcBef>
                <a:spcAft>
                  <a:spcPct val="0"/>
                </a:spcAft>
                <a:defRPr/>
              </a:pPr>
              <a:t>28</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584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416EBCF-5081-4E2C-A180-C2CD3368E4FA}" type="slidenum">
              <a:rPr lang="en-US" smtClean="0"/>
              <a:pPr fontAlgn="base">
                <a:spcBef>
                  <a:spcPct val="0"/>
                </a:spcBef>
                <a:spcAft>
                  <a:spcPct val="0"/>
                </a:spcAft>
                <a:defRPr/>
              </a:pPr>
              <a:t>29</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789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96E852B-9DB1-47D2-8CA5-5AC9A0BD10B8}" type="slidenum">
              <a:rPr lang="en-US" smtClean="0"/>
              <a:pPr fontAlgn="base">
                <a:spcBef>
                  <a:spcPct val="0"/>
                </a:spcBef>
                <a:spcAft>
                  <a:spcPct val="0"/>
                </a:spcAft>
                <a:defRPr/>
              </a:pPr>
              <a:t>30</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993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A174CCF-A96C-4569-9E60-53CE0B622DBD}" type="slidenum">
              <a:rPr lang="en-US" smtClean="0"/>
              <a:pPr fontAlgn="base">
                <a:spcBef>
                  <a:spcPct val="0"/>
                </a:spcBef>
                <a:spcAft>
                  <a:spcPct val="0"/>
                </a:spcAft>
                <a:defRPr/>
              </a:pPr>
              <a:t>31</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t>8/13/2020</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609600" y="1145060"/>
            <a:ext cx="11074400" cy="1219200"/>
          </a:xfrm>
        </p:spPr>
        <p:txBody>
          <a:bodyPr/>
          <a:lstStyle/>
          <a:p>
            <a:pPr eaLnBrk="1" hangingPunct="1"/>
            <a:r>
              <a:rPr lang="en-US" altLang="en-US" dirty="0" smtClean="0">
                <a:latin typeface="Arial" charset="0"/>
                <a:cs typeface="Arial" charset="0"/>
              </a:rPr>
              <a:t>Chương 6</a:t>
            </a:r>
          </a:p>
        </p:txBody>
      </p:sp>
      <p:sp>
        <p:nvSpPr>
          <p:cNvPr id="3" name="Subtitle 2"/>
          <p:cNvSpPr>
            <a:spLocks noGrp="1"/>
          </p:cNvSpPr>
          <p:nvPr>
            <p:ph type="subTitle" idx="1"/>
          </p:nvPr>
        </p:nvSpPr>
        <p:spPr>
          <a:xfrm>
            <a:off x="304799" y="2895600"/>
            <a:ext cx="11112843" cy="1837038"/>
          </a:xfrm>
          <a:solidFill>
            <a:schemeClr val="bg1"/>
          </a:solidFill>
        </p:spPr>
        <p:txBody>
          <a:bodyPr rtlCol="0">
            <a:noAutofit/>
          </a:bodyPr>
          <a:lstStyle/>
          <a:p>
            <a:r>
              <a:rPr lang="vi-VN" sz="3600" b="1" dirty="0">
                <a:solidFill>
                  <a:srgbClr val="FF0000"/>
                </a:solidFill>
                <a:latin typeface="Times New Roman (Headings)"/>
              </a:rPr>
              <a:t>CÔNG NGHIỆP HÓA, HIỆN ĐẠI HÓA VÀ </a:t>
            </a:r>
            <a:endParaRPr lang="en-US" sz="3600" b="1" dirty="0" smtClean="0">
              <a:solidFill>
                <a:srgbClr val="FF0000"/>
              </a:solidFill>
              <a:latin typeface="Times New Roman (Headings)"/>
            </a:endParaRPr>
          </a:p>
          <a:p>
            <a:r>
              <a:rPr lang="en-US" sz="3600" b="1" dirty="0" smtClean="0">
                <a:solidFill>
                  <a:srgbClr val="FF0000"/>
                </a:solidFill>
                <a:latin typeface="Times New Roman (Headings)"/>
              </a:rPr>
              <a:t>H</a:t>
            </a:r>
            <a:r>
              <a:rPr lang="vi-VN" sz="3600" b="1" dirty="0" smtClean="0">
                <a:solidFill>
                  <a:srgbClr val="FF0000"/>
                </a:solidFill>
                <a:latin typeface="Times New Roman (Headings)"/>
              </a:rPr>
              <a:t>ỘI </a:t>
            </a:r>
            <a:r>
              <a:rPr lang="vi-VN" sz="3600" b="1" dirty="0">
                <a:solidFill>
                  <a:srgbClr val="FF0000"/>
                </a:solidFill>
                <a:latin typeface="Times New Roman (Headings)"/>
              </a:rPr>
              <a:t>NHẬP </a:t>
            </a:r>
            <a:r>
              <a:rPr lang="vi-VN" sz="3600" b="1" dirty="0" smtClean="0">
                <a:solidFill>
                  <a:srgbClr val="FF0000"/>
                </a:solidFill>
                <a:latin typeface="Times New Roman (Headings)"/>
              </a:rPr>
              <a:t>KINH</a:t>
            </a:r>
            <a:r>
              <a:rPr lang="en-US" sz="3600" b="1" dirty="0" smtClean="0">
                <a:solidFill>
                  <a:srgbClr val="FF0000"/>
                </a:solidFill>
                <a:latin typeface="Times New Roman (Headings)"/>
              </a:rPr>
              <a:t> </a:t>
            </a:r>
            <a:r>
              <a:rPr lang="vi-VN" sz="3600" b="1" dirty="0" smtClean="0">
                <a:solidFill>
                  <a:srgbClr val="FF0000"/>
                </a:solidFill>
                <a:latin typeface="Times New Roman (Headings)"/>
              </a:rPr>
              <a:t>T</a:t>
            </a:r>
            <a:r>
              <a:rPr lang="en-US" sz="3600" b="1" dirty="0" smtClean="0">
                <a:solidFill>
                  <a:srgbClr val="FF0000"/>
                </a:solidFill>
                <a:latin typeface="Times New Roman (Headings)"/>
              </a:rPr>
              <a:t>Ế</a:t>
            </a:r>
            <a:r>
              <a:rPr lang="vi-VN" sz="3600" b="1" dirty="0" smtClean="0">
                <a:solidFill>
                  <a:srgbClr val="FF0000"/>
                </a:solidFill>
                <a:latin typeface="Times New Roman (Headings)"/>
              </a:rPr>
              <a:t> </a:t>
            </a:r>
            <a:r>
              <a:rPr lang="vi-VN" sz="3600" b="1" dirty="0">
                <a:solidFill>
                  <a:srgbClr val="FF0000"/>
                </a:solidFill>
                <a:latin typeface="Times New Roman (Headings)"/>
              </a:rPr>
              <a:t>QUỐC TẾ </a:t>
            </a:r>
            <a:endParaRPr lang="en-US" sz="3600" b="1" dirty="0" smtClean="0">
              <a:solidFill>
                <a:srgbClr val="FF0000"/>
              </a:solidFill>
              <a:latin typeface="Times New Roman (Headings)"/>
            </a:endParaRPr>
          </a:p>
          <a:p>
            <a:r>
              <a:rPr lang="vi-VN" sz="3600" b="1" dirty="0" smtClean="0">
                <a:solidFill>
                  <a:srgbClr val="FF0000"/>
                </a:solidFill>
                <a:latin typeface="Times New Roman (Headings)"/>
              </a:rPr>
              <a:t>CỦA </a:t>
            </a:r>
            <a:r>
              <a:rPr lang="vi-VN" sz="3600" b="1" dirty="0">
                <a:solidFill>
                  <a:srgbClr val="FF0000"/>
                </a:solidFill>
                <a:latin typeface="Times New Roman (Headings)"/>
              </a:rPr>
              <a:t>VIỆT NAM</a:t>
            </a:r>
            <a:endParaRPr lang="en-US" sz="3600" dirty="0">
              <a:solidFill>
                <a:srgbClr val="FF0000"/>
              </a:solidFill>
              <a:latin typeface="Times New Roman (Headings)"/>
            </a:endParaRPr>
          </a:p>
        </p:txBody>
      </p:sp>
      <p:sp>
        <p:nvSpPr>
          <p:cNvPr id="7" name="Slide Number Placeholder 6"/>
          <p:cNvSpPr>
            <a:spLocks noGrp="1"/>
          </p:cNvSpPr>
          <p:nvPr>
            <p:ph type="sldNum" sz="quarter" idx="12"/>
          </p:nvPr>
        </p:nvSpPr>
        <p:spPr/>
        <p:txBody>
          <a:bodyPr/>
          <a:lstStyle/>
          <a:p>
            <a:pPr>
              <a:defRPr/>
            </a:pPr>
            <a:fld id="{1B7E0612-32D7-44F3-BFAC-EF79C669A665}" type="slidenum">
              <a:rPr lang="en-US"/>
              <a:pPr>
                <a:defRPr/>
              </a:pPr>
              <a:t>1</a:t>
            </a:fld>
            <a:endParaRPr lang="en-US"/>
          </a:p>
        </p:txBody>
      </p:sp>
    </p:spTree>
    <p:extLst>
      <p:ext uri="{BB962C8B-B14F-4D97-AF65-F5344CB8AC3E}">
        <p14:creationId xmlns:p14="http://schemas.microsoft.com/office/powerpoint/2010/main" val="15900888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718" y="259492"/>
            <a:ext cx="9347200" cy="1066800"/>
          </a:xfrm>
          <a:solidFill>
            <a:schemeClr val="bg1"/>
          </a:solidFill>
        </p:spPr>
        <p:txBody>
          <a:bodyPr rtlCol="0">
            <a:noAutofit/>
          </a:bodyPr>
          <a:lstStyle/>
          <a:p>
            <a:pPr lvl="0" algn="ctr"/>
            <a:r>
              <a:rPr lang="en-US" sz="3600" b="1" dirty="0" smtClean="0">
                <a:solidFill>
                  <a:srgbClr val="FF0000"/>
                </a:solidFill>
                <a:latin typeface="Times New Roman (Headings)"/>
              </a:rPr>
              <a:t>6.1. </a:t>
            </a:r>
            <a:r>
              <a:rPr lang="vi-VN" sz="3600" b="1" dirty="0" smtClean="0">
                <a:solidFill>
                  <a:srgbClr val="FF0000"/>
                </a:solidFill>
                <a:latin typeface="Times New Roman (Headings)"/>
              </a:rPr>
              <a:t>CÔNG </a:t>
            </a:r>
            <a:r>
              <a:rPr lang="vi-VN" sz="3600" b="1" dirty="0">
                <a:solidFill>
                  <a:srgbClr val="FF0000"/>
                </a:solidFill>
                <a:latin typeface="Times New Roman (Headings)"/>
              </a:rPr>
              <a:t>NGHIỆP HÓA, HIỆN </a:t>
            </a:r>
            <a:r>
              <a:rPr lang="en-US" sz="3600" b="1" dirty="0">
                <a:solidFill>
                  <a:srgbClr val="FF0000"/>
                </a:solidFill>
                <a:latin typeface="Times New Roman (Headings)"/>
              </a:rPr>
              <a:t>Đ</a:t>
            </a:r>
            <a:r>
              <a:rPr lang="vi-VN" sz="3600" b="1" dirty="0" smtClean="0">
                <a:solidFill>
                  <a:srgbClr val="FF0000"/>
                </a:solidFill>
                <a:latin typeface="Times New Roman (Headings)"/>
              </a:rPr>
              <a:t>ẠI </a:t>
            </a:r>
            <a:r>
              <a:rPr lang="vi-VN" sz="3600" b="1" dirty="0">
                <a:solidFill>
                  <a:srgbClr val="FF0000"/>
                </a:solidFill>
                <a:latin typeface="Times New Roman (Headings)"/>
              </a:rPr>
              <a:t>HÓA Ở VIỆT NAM</a:t>
            </a:r>
            <a:endParaRPr lang="en-US" sz="3600" b="1" dirty="0">
              <a:solidFill>
                <a:srgbClr val="FF0000"/>
              </a:solidFill>
              <a:latin typeface="Times New Roman (Headings)"/>
            </a:endParaRPr>
          </a:p>
        </p:txBody>
      </p:sp>
      <p:sp>
        <p:nvSpPr>
          <p:cNvPr id="17410"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989B0BD-0686-458D-B0A0-6FF4F5CABA43}" type="slidenum">
              <a:rPr lang="en-US" smtClean="0"/>
              <a:pPr fontAlgn="base">
                <a:spcBef>
                  <a:spcPct val="0"/>
                </a:spcBef>
                <a:spcAft>
                  <a:spcPct val="0"/>
                </a:spcAft>
                <a:defRPr/>
              </a:pPr>
              <a:t>2</a:t>
            </a:fld>
            <a:endParaRPr lang="en-US" smtClean="0"/>
          </a:p>
        </p:txBody>
      </p:sp>
      <p:sp>
        <p:nvSpPr>
          <p:cNvPr id="6148" name="Rectangle 9"/>
          <p:cNvSpPr>
            <a:spLocks noChangeArrowheads="1"/>
          </p:cNvSpPr>
          <p:nvPr/>
        </p:nvSpPr>
        <p:spPr bwMode="auto">
          <a:xfrm>
            <a:off x="302054" y="1454365"/>
            <a:ext cx="11785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b="1" dirty="0">
                <a:solidFill>
                  <a:srgbClr val="FF0000"/>
                </a:solidFill>
                <a:latin typeface="Times New Roman" pitchFamily="18" charset="0"/>
                <a:cs typeface="Times New Roman" pitchFamily="18" charset="0"/>
              </a:rPr>
              <a:t>6.1.1. </a:t>
            </a:r>
            <a:r>
              <a:rPr lang="vi-VN" sz="2800" dirty="0">
                <a:solidFill>
                  <a:srgbClr val="FF0000"/>
                </a:solidFill>
              </a:rPr>
              <a:t>Khái quát cách mạng công nghiệp và công nghiệp hóa</a:t>
            </a:r>
            <a:endParaRPr lang="en-US" altLang="en-US" sz="2800" b="1" dirty="0">
              <a:solidFill>
                <a:srgbClr val="FF0000"/>
              </a:solidFill>
              <a:latin typeface="Times New Roman" pitchFamily="18" charset="0"/>
              <a:cs typeface="Times New Roman" pitchFamily="18" charset="0"/>
            </a:endParaRPr>
          </a:p>
        </p:txBody>
      </p:sp>
      <p:sp>
        <p:nvSpPr>
          <p:cNvPr id="6149" name="Content Placeholder 2"/>
          <p:cNvSpPr txBox="1">
            <a:spLocks/>
          </p:cNvSpPr>
          <p:nvPr/>
        </p:nvSpPr>
        <p:spPr bwMode="auto">
          <a:xfrm>
            <a:off x="812800" y="1981200"/>
            <a:ext cx="8026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pPr>
            <a:r>
              <a:rPr lang="en-US" altLang="en-US" sz="2400" b="1" i="1" dirty="0">
                <a:latin typeface="Times New Roman" pitchFamily="18" charset="0"/>
                <a:cs typeface="Times New Roman" pitchFamily="18" charset="0"/>
              </a:rPr>
              <a:t>6.1.1.1. </a:t>
            </a:r>
            <a:r>
              <a:rPr lang="en-US" altLang="en-US" sz="2400" b="1" i="1" dirty="0" smtClean="0">
                <a:latin typeface="Times New Roman" pitchFamily="18" charset="0"/>
                <a:cs typeface="Times New Roman" pitchFamily="18" charset="0"/>
              </a:rPr>
              <a:t>Khái quát về cách </a:t>
            </a:r>
            <a:r>
              <a:rPr lang="en-US" altLang="en-US" sz="2400" b="1" i="1" dirty="0">
                <a:latin typeface="Times New Roman" pitchFamily="18" charset="0"/>
                <a:cs typeface="Times New Roman" pitchFamily="18" charset="0"/>
              </a:rPr>
              <a:t>mạng công nghiệp</a:t>
            </a:r>
          </a:p>
        </p:txBody>
      </p:sp>
      <p:sp>
        <p:nvSpPr>
          <p:cNvPr id="3" name="TextBox 2"/>
          <p:cNvSpPr txBox="1"/>
          <p:nvPr/>
        </p:nvSpPr>
        <p:spPr>
          <a:xfrm>
            <a:off x="494270" y="2891481"/>
            <a:ext cx="11022227" cy="3046988"/>
          </a:xfrm>
          <a:prstGeom prst="rect">
            <a:avLst/>
          </a:prstGeom>
          <a:noFill/>
        </p:spPr>
        <p:txBody>
          <a:bodyPr wrap="square" rtlCol="0">
            <a:spAutoFit/>
          </a:bodyPr>
          <a:lstStyle/>
          <a:p>
            <a:r>
              <a:rPr lang="vi-VN" sz="2400" dirty="0"/>
              <a:t>* Khái niệm cách mạng công nghiệp</a:t>
            </a:r>
            <a:endParaRPr lang="en-US" sz="2400" dirty="0"/>
          </a:p>
          <a:p>
            <a:r>
              <a:rPr lang="vi-VN" sz="2400" i="1" dirty="0"/>
              <a:t>Cách mạng công nghiệp là những bước phát triển nhảy vọt về chất trình độ của tư liệu lao động trên cơ sở những phát minh đột phả về kỹ thuật và công nghệ trong quả trình phát triển của nhân loại kéo theo sự thay đổi càn bản về phân công lao động xã hội cũng như tạo bước phát triển năng suất lao động cao hon han nhờ áp dụng một cách phổ biến những tinh năng mới trong kỹ thuật - công nghệ đó vào đời sống xã hội.</a:t>
            </a:r>
            <a:endParaRPr lang="en-US" sz="2400" dirty="0"/>
          </a:p>
          <a:p>
            <a:endParaRPr lang="en-US" sz="2400" dirty="0"/>
          </a:p>
        </p:txBody>
      </p:sp>
    </p:spTree>
    <p:extLst>
      <p:ext uri="{BB962C8B-B14F-4D97-AF65-F5344CB8AC3E}">
        <p14:creationId xmlns:p14="http://schemas.microsoft.com/office/powerpoint/2010/main" val="8552048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E378B27-A5AF-4937-9357-D727A5D97CCE}" type="slidenum">
              <a:rPr lang="en-US" smtClean="0"/>
              <a:pPr fontAlgn="base">
                <a:spcBef>
                  <a:spcPct val="0"/>
                </a:spcBef>
                <a:spcAft>
                  <a:spcPct val="0"/>
                </a:spcAft>
                <a:defRPr/>
              </a:pPr>
              <a:t>3</a:t>
            </a:fld>
            <a:endParaRPr lang="en-US" smtClean="0"/>
          </a:p>
        </p:txBody>
      </p:sp>
      <p:sp>
        <p:nvSpPr>
          <p:cNvPr id="7172" name="Rectangle 9"/>
          <p:cNvSpPr>
            <a:spLocks noChangeArrowheads="1"/>
          </p:cNvSpPr>
          <p:nvPr/>
        </p:nvSpPr>
        <p:spPr bwMode="auto">
          <a:xfrm>
            <a:off x="203200" y="990600"/>
            <a:ext cx="11785600" cy="1815882"/>
          </a:xfrm>
          <a:prstGeom prst="rect">
            <a:avLst/>
          </a:prstGeom>
          <a:solidFill>
            <a:schemeClr val="bg1"/>
          </a:solidFill>
          <a:ln w="9525">
            <a:noFill/>
            <a:miter lim="800000"/>
            <a:headEnd/>
            <a:tailEnd/>
          </a:ln>
        </p:spPr>
        <p:txBody>
          <a:bodyPr>
            <a:spAutoFit/>
          </a:bodyPr>
          <a:lstStyle/>
          <a:p>
            <a:r>
              <a:rPr lang="en-US" sz="2800" dirty="0"/>
              <a:t>* </a:t>
            </a:r>
            <a:r>
              <a:rPr lang="vi-VN" sz="2800" dirty="0"/>
              <a:t>Khái quát lịch sử các cuộc cách mạng công nghiệp</a:t>
            </a:r>
            <a:endParaRPr lang="en-US" sz="2800" dirty="0"/>
          </a:p>
          <a:p>
            <a:pPr>
              <a:defRPr/>
            </a:pPr>
            <a:endParaRPr lang="en-US" sz="2800" b="1" dirty="0">
              <a:solidFill>
                <a:srgbClr val="FF0000"/>
              </a:solidFill>
              <a:latin typeface="Times New Roman" pitchFamily="18" charset="0"/>
              <a:cs typeface="Times New Roman" pitchFamily="18" charset="0"/>
            </a:endParaRPr>
          </a:p>
          <a:p>
            <a:pPr>
              <a:buFont typeface="Wingdings" pitchFamily="2" charset="2"/>
              <a:buChar char="v"/>
              <a:defRPr/>
            </a:pPr>
            <a:r>
              <a:rPr lang="en-US" sz="2800" b="1" dirty="0">
                <a:solidFill>
                  <a:srgbClr val="FF0000"/>
                </a:solidFill>
                <a:latin typeface="Times New Roman" pitchFamily="18" charset="0"/>
                <a:cs typeface="Times New Roman" pitchFamily="18" charset="0"/>
              </a:rPr>
              <a:t>  </a:t>
            </a:r>
            <a:r>
              <a:rPr lang="en-US" sz="2800" b="1" dirty="0">
                <a:solidFill>
                  <a:schemeClr val="tx1">
                    <a:lumMod val="65000"/>
                    <a:lumOff val="35000"/>
                  </a:schemeClr>
                </a:solidFill>
                <a:latin typeface="Times New Roman" pitchFamily="18" charset="0"/>
                <a:cs typeface="Times New Roman" pitchFamily="18" charset="0"/>
              </a:rPr>
              <a:t>Cuộc cách mạng công nghiệp lần thứ nhất</a:t>
            </a:r>
          </a:p>
          <a:p>
            <a:pPr>
              <a:defRPr/>
            </a:pPr>
            <a:r>
              <a:rPr lang="en-US" sz="2800" b="1" dirty="0">
                <a:solidFill>
                  <a:schemeClr val="tx1">
                    <a:lumMod val="65000"/>
                    <a:lumOff val="35000"/>
                  </a:schemeClr>
                </a:solidFill>
                <a:latin typeface="Times New Roman" pitchFamily="18" charset="0"/>
                <a:cs typeface="Times New Roman" pitchFamily="18" charset="0"/>
              </a:rPr>
              <a:t>		</a:t>
            </a:r>
            <a:r>
              <a:rPr lang="en-US" sz="2400" b="1" i="1" dirty="0">
                <a:solidFill>
                  <a:schemeClr val="tx1">
                    <a:lumMod val="65000"/>
                    <a:lumOff val="35000"/>
                  </a:schemeClr>
                </a:solidFill>
                <a:latin typeface="Times New Roman" pitchFamily="18" charset="0"/>
                <a:cs typeface="Times New Roman" pitchFamily="18" charset="0"/>
              </a:rPr>
              <a:t>(giữa tk18 đến giữa tk 19)</a:t>
            </a:r>
          </a:p>
        </p:txBody>
      </p:sp>
      <p:sp>
        <p:nvSpPr>
          <p:cNvPr id="7173" name="Content Placeholder 2"/>
          <p:cNvSpPr txBox="1">
            <a:spLocks/>
          </p:cNvSpPr>
          <p:nvPr/>
        </p:nvSpPr>
        <p:spPr bwMode="auto">
          <a:xfrm>
            <a:off x="812800" y="1981200"/>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pPr>
            <a:endParaRPr lang="en-US" altLang="en-US" sz="2400" b="1" i="1" dirty="0">
              <a:solidFill>
                <a:srgbClr val="FF0000"/>
              </a:solidFill>
              <a:latin typeface="Times New Roman" pitchFamily="18" charset="0"/>
              <a:cs typeface="Times New Roman" pitchFamily="18" charset="0"/>
            </a:endParaRPr>
          </a:p>
        </p:txBody>
      </p:sp>
      <p:pic>
        <p:nvPicPr>
          <p:cNvPr id="7174" name="Picture 6" descr="C:\Users\ADMIN\Desktop\tải xuố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600" y="2819400"/>
            <a:ext cx="9550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6256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83F76D4-A21D-4957-9BCD-1447E60710B6}" type="slidenum">
              <a:rPr lang="en-US" smtClean="0"/>
              <a:pPr fontAlgn="base">
                <a:spcBef>
                  <a:spcPct val="0"/>
                </a:spcBef>
                <a:spcAft>
                  <a:spcPct val="0"/>
                </a:spcAft>
                <a:defRPr/>
              </a:pPr>
              <a:t>4</a:t>
            </a:fld>
            <a:endParaRPr lang="en-US" smtClean="0"/>
          </a:p>
        </p:txBody>
      </p:sp>
      <p:sp>
        <p:nvSpPr>
          <p:cNvPr id="8195" name="Content Placeholder 2"/>
          <p:cNvSpPr txBox="1">
            <a:spLocks/>
          </p:cNvSpPr>
          <p:nvPr/>
        </p:nvSpPr>
        <p:spPr bwMode="auto">
          <a:xfrm>
            <a:off x="812800" y="1066800"/>
            <a:ext cx="6705600" cy="838200"/>
          </a:xfrm>
          <a:prstGeom prst="rect">
            <a:avLst/>
          </a:prstGeom>
          <a:solidFill>
            <a:schemeClr val="bg1"/>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pPr>
            <a:r>
              <a:rPr lang="en-US" altLang="en-US" sz="2400" b="1" i="1" dirty="0" smtClean="0">
                <a:solidFill>
                  <a:srgbClr val="FF0000"/>
                </a:solidFill>
                <a:latin typeface="Times New Roman" pitchFamily="18" charset="0"/>
                <a:cs typeface="Times New Roman" pitchFamily="18" charset="0"/>
              </a:rPr>
              <a:t>Tiền </a:t>
            </a:r>
            <a:r>
              <a:rPr lang="en-US" altLang="en-US" sz="2400" b="1" i="1" dirty="0">
                <a:solidFill>
                  <a:srgbClr val="FF0000"/>
                </a:solidFill>
                <a:latin typeface="Times New Roman" pitchFamily="18" charset="0"/>
                <a:cs typeface="Times New Roman" pitchFamily="18" charset="0"/>
              </a:rPr>
              <a:t>đề của cuộc CMCN lần thứ nhất</a:t>
            </a:r>
          </a:p>
        </p:txBody>
      </p:sp>
      <p:pic>
        <p:nvPicPr>
          <p:cNvPr id="8196" name="Picture 8" descr="C:\Users\ADMIN\Desktop\tải xuống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447800"/>
            <a:ext cx="5486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0" y="1828800"/>
            <a:ext cx="6705600" cy="464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latin typeface="Times New Roman" pitchFamily="18" charset="0"/>
                <a:cs typeface="Times New Roman" pitchFamily="18" charset="0"/>
              </a:rPr>
              <a:t>-Kinh tế hàng hóa Tây Âu phát triển mạnh ở tk 17 – 18, với sự phát triển của công trường thủ công tb.</a:t>
            </a:r>
          </a:p>
          <a:p>
            <a:pPr algn="ctr">
              <a:defRPr/>
            </a:pPr>
            <a:r>
              <a:rPr lang="en-US" sz="2800" dirty="0">
                <a:latin typeface="Times New Roman" pitchFamily="18" charset="0"/>
                <a:cs typeface="Times New Roman" pitchFamily="18" charset="0"/>
              </a:rPr>
              <a:t>-Cuộc cách mạng tư sản Anh đã thúc đẩy sự phát triển công nghiệp tạo điều kiện cho cuộc CMCN thành công.</a:t>
            </a:r>
          </a:p>
          <a:p>
            <a:pPr algn="ctr">
              <a:defRPr/>
            </a:pPr>
            <a:r>
              <a:rPr lang="en-US" sz="2800" dirty="0">
                <a:latin typeface="Times New Roman" pitchFamily="18" charset="0"/>
                <a:cs typeface="Times New Roman" pitchFamily="18" charset="0"/>
              </a:rPr>
              <a:t>-Cuộc cách mạng trong nông nghiệp đã tạo tiền đề cho CMCN lần thứ nhất 1 ở Anh phát triển</a:t>
            </a:r>
          </a:p>
        </p:txBody>
      </p:sp>
    </p:spTree>
    <p:extLst>
      <p:ext uri="{BB962C8B-B14F-4D97-AF65-F5344CB8AC3E}">
        <p14:creationId xmlns:p14="http://schemas.microsoft.com/office/powerpoint/2010/main" val="2298103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E5C620-EB94-445A-83BC-105214BEC235}" type="slidenum">
              <a:rPr lang="en-US" smtClean="0"/>
              <a:pPr fontAlgn="base">
                <a:spcBef>
                  <a:spcPct val="0"/>
                </a:spcBef>
                <a:spcAft>
                  <a:spcPct val="0"/>
                </a:spcAft>
                <a:defRPr/>
              </a:pPr>
              <a:t>5</a:t>
            </a:fld>
            <a:endParaRPr lang="en-US" smtClean="0"/>
          </a:p>
        </p:txBody>
      </p:sp>
      <p:sp>
        <p:nvSpPr>
          <p:cNvPr id="9219" name="Content Placeholder 2"/>
          <p:cNvSpPr txBox="1">
            <a:spLocks/>
          </p:cNvSpPr>
          <p:nvPr/>
        </p:nvSpPr>
        <p:spPr bwMode="auto">
          <a:xfrm>
            <a:off x="812800" y="1066800"/>
            <a:ext cx="9480378" cy="838200"/>
          </a:xfrm>
          <a:prstGeom prst="rect">
            <a:avLst/>
          </a:prstGeom>
          <a:solidFill>
            <a:schemeClr val="bg1"/>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pPr>
            <a:r>
              <a:rPr lang="en-US" altLang="en-US" sz="2400" b="1" i="1" dirty="0" smtClean="0">
                <a:solidFill>
                  <a:srgbClr val="FF0000"/>
                </a:solidFill>
                <a:latin typeface="Times New Roman" pitchFamily="18" charset="0"/>
                <a:cs typeface="Times New Roman" pitchFamily="18" charset="0"/>
              </a:rPr>
              <a:t>Nội </a:t>
            </a:r>
            <a:r>
              <a:rPr lang="en-US" altLang="en-US" sz="2400" b="1" i="1" dirty="0">
                <a:solidFill>
                  <a:srgbClr val="FF0000"/>
                </a:solidFill>
                <a:latin typeface="Times New Roman" pitchFamily="18" charset="0"/>
                <a:cs typeface="Times New Roman" pitchFamily="18" charset="0"/>
              </a:rPr>
              <a:t>dung của cuộc cách mạng công nghiệp lần thứ 1</a:t>
            </a:r>
          </a:p>
        </p:txBody>
      </p:sp>
      <p:sp>
        <p:nvSpPr>
          <p:cNvPr id="11" name="Rectangle 10"/>
          <p:cNvSpPr/>
          <p:nvPr/>
        </p:nvSpPr>
        <p:spPr>
          <a:xfrm>
            <a:off x="1037968" y="2057400"/>
            <a:ext cx="9848335" cy="762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latin typeface="Times New Roman" pitchFamily="18" charset="0"/>
                <a:cs typeface="Times New Roman" pitchFamily="18" charset="0"/>
              </a:rPr>
              <a:t>Chuyển từ lao động thủ công thành lao đông sử dụng máy móc</a:t>
            </a:r>
          </a:p>
        </p:txBody>
      </p:sp>
      <p:sp>
        <p:nvSpPr>
          <p:cNvPr id="12" name="Rectangle 11"/>
          <p:cNvSpPr/>
          <p:nvPr/>
        </p:nvSpPr>
        <p:spPr>
          <a:xfrm>
            <a:off x="1037968" y="3200400"/>
            <a:ext cx="9848335" cy="106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rPr>
              <a:t>Thực hiện cơ giới hóa sản xuất bằng việc sử dụng năng lượng nước và hơi nước</a:t>
            </a:r>
          </a:p>
        </p:txBody>
      </p:sp>
      <p:sp>
        <p:nvSpPr>
          <p:cNvPr id="13" name="Rectangle 12"/>
          <p:cNvSpPr/>
          <p:nvPr/>
        </p:nvSpPr>
        <p:spPr>
          <a:xfrm>
            <a:off x="1047404" y="4495800"/>
            <a:ext cx="9937865" cy="144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solidFill>
                  <a:schemeClr val="tx1"/>
                </a:solidFill>
                <a:latin typeface="Times New Roman" pitchFamily="18" charset="0"/>
                <a:cs typeface="Times New Roman" pitchFamily="18" charset="0"/>
              </a:rPr>
              <a:t>Những phát minh quan trọng: </a:t>
            </a:r>
          </a:p>
          <a:p>
            <a:pPr algn="ctr">
              <a:buFontTx/>
              <a:buChar char="-"/>
              <a:defRPr/>
            </a:pPr>
            <a:r>
              <a:rPr lang="en-US" sz="2400" dirty="0">
                <a:solidFill>
                  <a:schemeClr val="tx1"/>
                </a:solidFill>
                <a:latin typeface="Times New Roman" pitchFamily="18" charset="0"/>
                <a:cs typeface="Times New Roman" pitchFamily="18" charset="0"/>
              </a:rPr>
              <a:t>Máy hơi nước James Watt</a:t>
            </a:r>
          </a:p>
          <a:p>
            <a:pPr algn="ctr">
              <a:buFontTx/>
              <a:buChar char="-"/>
              <a:defRPr/>
            </a:pPr>
            <a:r>
              <a:rPr lang="en-US" sz="2400" dirty="0">
                <a:solidFill>
                  <a:schemeClr val="tx1"/>
                </a:solidFill>
                <a:latin typeface="Times New Roman" pitchFamily="18" charset="0"/>
                <a:cs typeface="Times New Roman" pitchFamily="18" charset="0"/>
              </a:rPr>
              <a:t> xe kéo sợi Jenny</a:t>
            </a:r>
          </a:p>
          <a:p>
            <a:pPr algn="ctr">
              <a:buFontTx/>
              <a:buChar char="-"/>
              <a:defRPr/>
            </a:pPr>
            <a:r>
              <a:rPr lang="en-US" sz="2400" dirty="0">
                <a:solidFill>
                  <a:schemeClr val="tx1"/>
                </a:solidFill>
                <a:latin typeface="Times New Roman" pitchFamily="18" charset="0"/>
                <a:cs typeface="Times New Roman" pitchFamily="18" charset="0"/>
              </a:rPr>
              <a:t>Máy dệt vải Edmund Cartwright</a:t>
            </a:r>
          </a:p>
        </p:txBody>
      </p:sp>
    </p:spTree>
    <p:extLst>
      <p:ext uri="{BB962C8B-B14F-4D97-AF65-F5344CB8AC3E}">
        <p14:creationId xmlns:p14="http://schemas.microsoft.com/office/powerpoint/2010/main" val="2026449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C98C3CF-9CF6-482A-88BE-8019E3C32799}" type="slidenum">
              <a:rPr lang="en-US" smtClean="0"/>
              <a:pPr>
                <a:defRPr/>
              </a:pPr>
              <a:t>6</a:t>
            </a:fld>
            <a:endParaRPr lang="en-US"/>
          </a:p>
        </p:txBody>
      </p:sp>
      <p:pic>
        <p:nvPicPr>
          <p:cNvPr id="10243" name="Picture 11" descr="C:\Users\ADMIN\Desktop\tải xuống (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09800"/>
            <a:ext cx="10160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727200" y="5867400"/>
            <a:ext cx="8026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Times New Roman" pitchFamily="18" charset="0"/>
                <a:cs typeface="Times New Roman" pitchFamily="18" charset="0"/>
              </a:rPr>
              <a:t>Máy dệt vải</a:t>
            </a:r>
          </a:p>
        </p:txBody>
      </p:sp>
    </p:spTree>
    <p:extLst>
      <p:ext uri="{BB962C8B-B14F-4D97-AF65-F5344CB8AC3E}">
        <p14:creationId xmlns:p14="http://schemas.microsoft.com/office/powerpoint/2010/main" val="1140706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ADD1094-2234-4FF7-959A-048C4E7B5E52}" type="slidenum">
              <a:rPr lang="en-US" smtClean="0"/>
              <a:pPr fontAlgn="base">
                <a:spcBef>
                  <a:spcPct val="0"/>
                </a:spcBef>
                <a:spcAft>
                  <a:spcPct val="0"/>
                </a:spcAft>
                <a:defRPr/>
              </a:pPr>
              <a:t>7</a:t>
            </a:fld>
            <a:endParaRPr lang="en-US" smtClean="0"/>
          </a:p>
        </p:txBody>
      </p:sp>
      <p:pic>
        <p:nvPicPr>
          <p:cNvPr id="11267" name="Picture 9" descr="C:\Users\ADMIN\Desktop\imag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524000"/>
            <a:ext cx="10871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14910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p:txBody>
          <a:bodyPr/>
          <a:lstStyle/>
          <a:p>
            <a:pPr>
              <a:buFont typeface="Arial" charset="0"/>
              <a:buNone/>
            </a:pPr>
            <a:r>
              <a:rPr lang="en-US" altLang="en-US" smtClean="0"/>
              <a:t> </a:t>
            </a:r>
          </a:p>
        </p:txBody>
      </p:sp>
      <p:sp>
        <p:nvSpPr>
          <p:cNvPr id="4" name="Slide Number Placeholder 3"/>
          <p:cNvSpPr>
            <a:spLocks noGrp="1"/>
          </p:cNvSpPr>
          <p:nvPr>
            <p:ph type="sldNum" sz="quarter" idx="12"/>
          </p:nvPr>
        </p:nvSpPr>
        <p:spPr/>
        <p:txBody>
          <a:bodyPr/>
          <a:lstStyle/>
          <a:p>
            <a:pPr>
              <a:defRPr/>
            </a:pPr>
            <a:fld id="{67BFCEC7-13D9-41D8-8C58-B508C350C437}" type="slidenum">
              <a:rPr lang="en-US" smtClean="0"/>
              <a:pPr>
                <a:defRPr/>
              </a:pPr>
              <a:t>8</a:t>
            </a:fld>
            <a:endParaRPr lang="en-US"/>
          </a:p>
        </p:txBody>
      </p:sp>
      <p:pic>
        <p:nvPicPr>
          <p:cNvPr id="12292" name="Picture 10" descr="C:\Users\ADMIN\Desktop\tải xuống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2133600"/>
            <a:ext cx="84328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540000" y="5943600"/>
            <a:ext cx="8229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Times New Roman" pitchFamily="18" charset="0"/>
                <a:cs typeface="Times New Roman" pitchFamily="18" charset="0"/>
              </a:rPr>
              <a:t>Máy kéo sợi</a:t>
            </a:r>
          </a:p>
        </p:txBody>
      </p:sp>
    </p:spTree>
    <p:extLst>
      <p:ext uri="{BB962C8B-B14F-4D97-AF65-F5344CB8AC3E}">
        <p14:creationId xmlns:p14="http://schemas.microsoft.com/office/powerpoint/2010/main" val="3555265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p:txBody>
          <a:bodyPr/>
          <a:lstStyle/>
          <a:p>
            <a:pPr>
              <a:buFont typeface="Wingdings" pitchFamily="2" charset="2"/>
              <a:buChar char="v"/>
            </a:pPr>
            <a:r>
              <a:rPr lang="en-US" altLang="en-US" dirty="0" smtClean="0">
                <a:solidFill>
                  <a:srgbClr val="FF0000"/>
                </a:solidFill>
              </a:rPr>
              <a:t>Tác động của cuộc cách mạng công nghiệp lần thứ nhất</a:t>
            </a:r>
          </a:p>
          <a:p>
            <a:pPr>
              <a:buFont typeface="Arial" charset="0"/>
              <a:buNone/>
            </a:pPr>
            <a:r>
              <a:rPr lang="en-US" altLang="en-US" dirty="0" smtClean="0"/>
              <a:t> 	+ Thúc đẩy tăng trưởng kinh tế</a:t>
            </a:r>
          </a:p>
          <a:p>
            <a:pPr>
              <a:buFont typeface="Arial" charset="0"/>
              <a:buNone/>
            </a:pPr>
            <a:r>
              <a:rPr lang="en-US" altLang="en-US" dirty="0" smtClean="0"/>
              <a:t>	+Nâng cao năng suất lao động</a:t>
            </a:r>
          </a:p>
          <a:p>
            <a:pPr>
              <a:buFont typeface="Arial" charset="0"/>
              <a:buNone/>
            </a:pPr>
            <a:r>
              <a:rPr lang="en-US" altLang="en-US" dirty="0" smtClean="0"/>
              <a:t>	+Gia tăng của cải vật chất</a:t>
            </a:r>
          </a:p>
          <a:p>
            <a:pPr>
              <a:buFont typeface="Arial" charset="0"/>
              <a:buNone/>
            </a:pPr>
            <a:r>
              <a:rPr lang="en-US" altLang="en-US" dirty="0" smtClean="0"/>
              <a:t>	+ Tạo ra cơ sở vật chất kỷ thuật cho CNTB khẳng định sự thắng lợi của nó với CĐPK.</a:t>
            </a:r>
          </a:p>
          <a:p>
            <a:pPr>
              <a:buFont typeface="Arial" charset="0"/>
              <a:buNone/>
            </a:pPr>
            <a:r>
              <a:rPr lang="en-US" altLang="en-US" dirty="0" smtClean="0"/>
              <a:t>	+ Làm tăng mức độ bóc lột lao động dẫn đến đối kháng ngày càng gay gắt</a:t>
            </a:r>
          </a:p>
        </p:txBody>
      </p:sp>
      <p:sp>
        <p:nvSpPr>
          <p:cNvPr id="4" name="Slide Number Placeholder 3"/>
          <p:cNvSpPr>
            <a:spLocks noGrp="1"/>
          </p:cNvSpPr>
          <p:nvPr>
            <p:ph type="sldNum" sz="quarter" idx="12"/>
          </p:nvPr>
        </p:nvSpPr>
        <p:spPr/>
        <p:txBody>
          <a:bodyPr/>
          <a:lstStyle/>
          <a:p>
            <a:pPr>
              <a:defRPr/>
            </a:pPr>
            <a:fld id="{11DA35E8-7442-4D5C-BBD8-03144025297E}" type="slidenum">
              <a:rPr lang="en-US" smtClean="0"/>
              <a:pPr>
                <a:defRPr/>
              </a:pPr>
              <a:t>9</a:t>
            </a:fld>
            <a:endParaRPr lang="en-US"/>
          </a:p>
        </p:txBody>
      </p:sp>
      <p:sp>
        <p:nvSpPr>
          <p:cNvPr id="5" name="Right Arrow 4"/>
          <p:cNvSpPr/>
          <p:nvPr/>
        </p:nvSpPr>
        <p:spPr>
          <a:xfrm>
            <a:off x="6908800" y="2456940"/>
            <a:ext cx="12192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ight Brace 7"/>
          <p:cNvSpPr/>
          <p:nvPr/>
        </p:nvSpPr>
        <p:spPr>
          <a:xfrm>
            <a:off x="6197600" y="2071824"/>
            <a:ext cx="609600" cy="1143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9" name="Rectangle 8"/>
          <p:cNvSpPr/>
          <p:nvPr/>
        </p:nvSpPr>
        <p:spPr>
          <a:xfrm>
            <a:off x="8170559" y="1931781"/>
            <a:ext cx="3654857"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Dẫn đến sự thay đổi to lớn về kinh tế - xã hội, văn hóa và kỷ thuậ</a:t>
            </a:r>
            <a:r>
              <a:rPr lang="en-US" dirty="0">
                <a:latin typeface="Times New Roman" pitchFamily="18" charset="0"/>
                <a:cs typeface="Times New Roman" pitchFamily="18" charset="0"/>
              </a:rPr>
              <a:t>t </a:t>
            </a:r>
          </a:p>
        </p:txBody>
      </p:sp>
    </p:spTree>
    <p:extLst>
      <p:ext uri="{BB962C8B-B14F-4D97-AF65-F5344CB8AC3E}">
        <p14:creationId xmlns:p14="http://schemas.microsoft.com/office/powerpoint/2010/main" val="15833344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EBE4F14-78E7-4691-9D7E-D703AE3F0C4D}" type="slidenum">
              <a:rPr lang="en-US" smtClean="0"/>
              <a:pPr fontAlgn="base">
                <a:spcBef>
                  <a:spcPct val="0"/>
                </a:spcBef>
                <a:spcAft>
                  <a:spcPct val="0"/>
                </a:spcAft>
                <a:defRPr/>
              </a:pPr>
              <a:t>10</a:t>
            </a:fld>
            <a:endParaRPr lang="en-US" smtClean="0"/>
          </a:p>
        </p:txBody>
      </p:sp>
      <p:sp>
        <p:nvSpPr>
          <p:cNvPr id="11268" name="Rectangle 9"/>
          <p:cNvSpPr>
            <a:spLocks noChangeArrowheads="1"/>
          </p:cNvSpPr>
          <p:nvPr/>
        </p:nvSpPr>
        <p:spPr bwMode="auto">
          <a:xfrm>
            <a:off x="203200" y="990601"/>
            <a:ext cx="11785600" cy="523875"/>
          </a:xfrm>
          <a:prstGeom prst="rect">
            <a:avLst/>
          </a:prstGeom>
          <a:solidFill>
            <a:schemeClr val="bg1"/>
          </a:solidFill>
          <a:ln w="9525">
            <a:noFill/>
            <a:miter lim="800000"/>
            <a:headEnd/>
            <a:tailEnd/>
          </a:ln>
        </p:spPr>
        <p:txBody>
          <a:bodyPr>
            <a:spAutoFit/>
          </a:bodyPr>
          <a:lstStyle/>
          <a:p>
            <a:pPr>
              <a:buFont typeface="Wingdings" pitchFamily="2" charset="2"/>
              <a:buChar char="v"/>
              <a:defRPr/>
            </a:pPr>
            <a:r>
              <a:rPr lang="en-US" sz="2800" b="1" dirty="0">
                <a:solidFill>
                  <a:srgbClr val="FF0000"/>
                </a:solidFill>
                <a:latin typeface="Times New Roman" pitchFamily="18" charset="0"/>
                <a:cs typeface="Times New Roman" pitchFamily="18" charset="0"/>
              </a:rPr>
              <a:t> Cuộc cách mạng công nghiệp lần thứ hai</a:t>
            </a:r>
          </a:p>
        </p:txBody>
      </p:sp>
      <p:sp>
        <p:nvSpPr>
          <p:cNvPr id="11269" name="Content Placeholder 2"/>
          <p:cNvSpPr txBox="1">
            <a:spLocks/>
          </p:cNvSpPr>
          <p:nvPr/>
        </p:nvSpPr>
        <p:spPr bwMode="auto">
          <a:xfrm>
            <a:off x="812800" y="1600200"/>
            <a:ext cx="10160000" cy="914400"/>
          </a:xfrm>
          <a:prstGeom prst="rect">
            <a:avLst/>
          </a:prstGeom>
          <a:noFill/>
          <a:ln w="9525">
            <a:noFill/>
            <a:miter lim="800000"/>
            <a:headEnd/>
            <a:tailEnd/>
          </a:ln>
        </p:spPr>
        <p:txBody>
          <a:bodyPr/>
          <a:lstStyle/>
          <a:p>
            <a:pPr algn="just">
              <a:spcBef>
                <a:spcPct val="20000"/>
              </a:spcBef>
              <a:defRPr/>
            </a:pPr>
            <a:r>
              <a:rPr lang="en-US" sz="2400" b="1" i="1" dirty="0">
                <a:solidFill>
                  <a:srgbClr val="FF0000"/>
                </a:solidFill>
                <a:latin typeface="Times New Roman" pitchFamily="18" charset="0"/>
                <a:cs typeface="Times New Roman" pitchFamily="18" charset="0"/>
              </a:rPr>
              <a:t> Nội dung cơ bản của cuộc CMCN lần thứ hai</a:t>
            </a:r>
          </a:p>
          <a:p>
            <a:pPr algn="just">
              <a:spcBef>
                <a:spcPct val="20000"/>
              </a:spcBef>
              <a:defRPr/>
            </a:pPr>
            <a:r>
              <a:rPr lang="en-US" sz="2400" b="1" i="1" dirty="0">
                <a:solidFill>
                  <a:schemeClr val="tx1">
                    <a:lumMod val="75000"/>
                    <a:lumOff val="25000"/>
                  </a:schemeClr>
                </a:solidFill>
                <a:latin typeface="Times New Roman" pitchFamily="18" charset="0"/>
                <a:cs typeface="Times New Roman" pitchFamily="18" charset="0"/>
              </a:rPr>
              <a:t>(nửa cuối tk 19 – đầu thế kỷ 20)</a:t>
            </a:r>
          </a:p>
          <a:p>
            <a:pPr algn="just">
              <a:spcBef>
                <a:spcPct val="20000"/>
              </a:spcBef>
              <a:defRPr/>
            </a:pPr>
            <a:endParaRPr lang="en-US" sz="2400" b="1" i="1" dirty="0">
              <a:solidFill>
                <a:srgbClr val="FF0000"/>
              </a:solidFill>
              <a:latin typeface="Times New Roman" pitchFamily="18" charset="0"/>
              <a:cs typeface="Times New Roman" pitchFamily="18" charset="0"/>
            </a:endParaRPr>
          </a:p>
        </p:txBody>
      </p:sp>
      <p:sp>
        <p:nvSpPr>
          <p:cNvPr id="9" name="Rectangle 8"/>
          <p:cNvSpPr/>
          <p:nvPr/>
        </p:nvSpPr>
        <p:spPr>
          <a:xfrm>
            <a:off x="1016000" y="2514600"/>
            <a:ext cx="10363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Sử dụng năng lượng điện và động cơ điện tạo ra các dây chuyền sản xuất có tính chuyên môn hóa cao</a:t>
            </a:r>
          </a:p>
        </p:txBody>
      </p:sp>
      <p:sp>
        <p:nvSpPr>
          <p:cNvPr id="10" name="Rectangle 9"/>
          <p:cNvSpPr/>
          <p:nvPr/>
        </p:nvSpPr>
        <p:spPr>
          <a:xfrm>
            <a:off x="1016000" y="3810000"/>
            <a:ext cx="10363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Chuyển nền sản xuất cơ khí sang nền sản xuất điện – cơ khí và sang giai đoạn tự động hóa</a:t>
            </a:r>
          </a:p>
        </p:txBody>
      </p:sp>
      <p:sp>
        <p:nvSpPr>
          <p:cNvPr id="11" name="Rectangle 10"/>
          <p:cNvSpPr/>
          <p:nvPr/>
        </p:nvSpPr>
        <p:spPr>
          <a:xfrm>
            <a:off x="1016000" y="5029200"/>
            <a:ext cx="103632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Tìm ra các nguồn năng lượng mới như: năng lượng nguyên tử, năng lượng gió, năng lượng mặt trời...</a:t>
            </a:r>
          </a:p>
        </p:txBody>
      </p:sp>
    </p:spTree>
    <p:extLst>
      <p:ext uri="{BB962C8B-B14F-4D97-AF65-F5344CB8AC3E}">
        <p14:creationId xmlns:p14="http://schemas.microsoft.com/office/powerpoint/2010/main" val="3568316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A05B3FF-6B57-4F76-97AB-7625F3093C5B}" type="slidenum">
              <a:rPr lang="en-US" smtClean="0"/>
              <a:pPr fontAlgn="base">
                <a:spcBef>
                  <a:spcPct val="0"/>
                </a:spcBef>
                <a:spcAft>
                  <a:spcPct val="0"/>
                </a:spcAft>
                <a:defRPr/>
              </a:pPr>
              <a:t>11</a:t>
            </a:fld>
            <a:endParaRPr lang="en-US" smtClean="0"/>
          </a:p>
        </p:txBody>
      </p:sp>
      <p:pic>
        <p:nvPicPr>
          <p:cNvPr id="15363" name="Picture 10" descr="C:\Users\ADMIN\Desktop\tải xuống (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1143001"/>
            <a:ext cx="1016000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3149600" y="5410200"/>
            <a:ext cx="5892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Times New Roman" pitchFamily="18" charset="0"/>
                <a:cs typeface="Times New Roman" pitchFamily="18" charset="0"/>
              </a:rPr>
              <a:t>Sản xuất ô tô</a:t>
            </a:r>
          </a:p>
        </p:txBody>
      </p:sp>
    </p:spTree>
    <p:extLst>
      <p:ext uri="{BB962C8B-B14F-4D97-AF65-F5344CB8AC3E}">
        <p14:creationId xmlns:p14="http://schemas.microsoft.com/office/powerpoint/2010/main" val="28583660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1E36C61-5948-4187-9CCF-C7C2A752E650}" type="slidenum">
              <a:rPr lang="en-US" smtClean="0"/>
              <a:pPr>
                <a:defRPr/>
              </a:pPr>
              <a:t>12</a:t>
            </a:fld>
            <a:endParaRPr lang="en-US"/>
          </a:p>
        </p:txBody>
      </p:sp>
      <p:pic>
        <p:nvPicPr>
          <p:cNvPr id="16387" name="Picture 12" descr="C:\Users\ADMIN\Desktop\ngay-103-cuoc-goi-dien-thoai-dau-tien-trong-lich-su.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1524000"/>
            <a:ext cx="108712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032000" y="5867400"/>
            <a:ext cx="8229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Times New Roman" pitchFamily="18" charset="0"/>
                <a:cs typeface="Times New Roman" pitchFamily="18" charset="0"/>
              </a:rPr>
              <a:t>Alexander Graham Bell giới thiệu phát minh của ông</a:t>
            </a:r>
          </a:p>
        </p:txBody>
      </p:sp>
    </p:spTree>
    <p:extLst>
      <p:ext uri="{BB962C8B-B14F-4D97-AF65-F5344CB8AC3E}">
        <p14:creationId xmlns:p14="http://schemas.microsoft.com/office/powerpoint/2010/main" val="15764880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E600AAB-57D0-426E-B255-F43A97F4839D}" type="slidenum">
              <a:rPr lang="en-US" smtClean="0"/>
              <a:pPr>
                <a:defRPr/>
              </a:pPr>
              <a:t>13</a:t>
            </a:fld>
            <a:endParaRPr lang="en-US"/>
          </a:p>
        </p:txBody>
      </p:sp>
      <p:pic>
        <p:nvPicPr>
          <p:cNvPr id="17411" name="Picture 11" descr="C:\Users\ADMIN\Desktop\tải xuống (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0" y="1752600"/>
            <a:ext cx="9753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5195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DBD3C7F-1975-4DE4-9CDE-0240A19F4EAE}" type="slidenum">
              <a:rPr lang="en-US" smtClean="0"/>
              <a:pPr fontAlgn="base">
                <a:spcBef>
                  <a:spcPct val="0"/>
                </a:spcBef>
                <a:spcAft>
                  <a:spcPct val="0"/>
                </a:spcAft>
                <a:defRPr/>
              </a:pPr>
              <a:t>14</a:t>
            </a:fld>
            <a:endParaRPr lang="en-US" smtClean="0"/>
          </a:p>
        </p:txBody>
      </p:sp>
      <p:sp>
        <p:nvSpPr>
          <p:cNvPr id="18435" name="Content Placeholder 2"/>
          <p:cNvSpPr txBox="1">
            <a:spLocks/>
          </p:cNvSpPr>
          <p:nvPr/>
        </p:nvSpPr>
        <p:spPr bwMode="auto">
          <a:xfrm>
            <a:off x="812800" y="1066800"/>
            <a:ext cx="10160000" cy="533400"/>
          </a:xfrm>
          <a:prstGeom prst="rect">
            <a:avLst/>
          </a:prstGeom>
          <a:solidFill>
            <a:schemeClr val="bg1"/>
          </a:solidFill>
          <a:ln>
            <a:noFill/>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20000"/>
              </a:spcBef>
            </a:pPr>
            <a:r>
              <a:rPr lang="en-US" altLang="en-US" sz="2400" b="1" i="1" dirty="0">
                <a:solidFill>
                  <a:srgbClr val="FF0000"/>
                </a:solidFill>
                <a:latin typeface="Times New Roman" pitchFamily="18" charset="0"/>
                <a:cs typeface="Times New Roman" pitchFamily="18" charset="0"/>
              </a:rPr>
              <a:t>Tác động của cuộc CMCN lần thứ 2</a:t>
            </a:r>
          </a:p>
          <a:p>
            <a:pPr algn="just" eaLnBrk="1" hangingPunct="1">
              <a:spcBef>
                <a:spcPct val="20000"/>
              </a:spcBef>
            </a:pPr>
            <a:endParaRPr lang="en-US" altLang="en-US" sz="2400" b="1" i="1" dirty="0">
              <a:latin typeface="Times New Roman" pitchFamily="18" charset="0"/>
              <a:cs typeface="Times New Roman" pitchFamily="18" charset="0"/>
            </a:endParaRPr>
          </a:p>
          <a:p>
            <a:pPr algn="just" eaLnBrk="1" hangingPunct="1">
              <a:spcBef>
                <a:spcPct val="20000"/>
              </a:spcBef>
            </a:pPr>
            <a:r>
              <a:rPr lang="en-US" altLang="en-US" sz="2400" b="1" i="1" dirty="0">
                <a:latin typeface="Times New Roman" pitchFamily="18" charset="0"/>
                <a:cs typeface="Times New Roman" pitchFamily="18" charset="0"/>
              </a:rPr>
              <a:t> 	+ </a:t>
            </a:r>
            <a:r>
              <a:rPr lang="en-US" altLang="en-US" sz="2400" b="1" i="1" dirty="0" smtClean="0">
                <a:latin typeface="Times New Roman" pitchFamily="18" charset="0"/>
                <a:cs typeface="Times New Roman" pitchFamily="18" charset="0"/>
              </a:rPr>
              <a:t>Nâng cao </a:t>
            </a:r>
            <a:r>
              <a:rPr lang="en-US" altLang="en-US" sz="2400" b="1" i="1" dirty="0">
                <a:latin typeface="Times New Roman" pitchFamily="18" charset="0"/>
                <a:cs typeface="Times New Roman" pitchFamily="18" charset="0"/>
              </a:rPr>
              <a:t>hơn nữa năng suất lao động, thúc đẩy llsx phát triển.</a:t>
            </a:r>
          </a:p>
          <a:p>
            <a:pPr algn="just" eaLnBrk="1" hangingPunct="1">
              <a:spcBef>
                <a:spcPct val="20000"/>
              </a:spcBef>
            </a:pPr>
            <a:r>
              <a:rPr lang="en-US" altLang="en-US" sz="2400" b="1" i="1" dirty="0">
                <a:latin typeface="Times New Roman" pitchFamily="18" charset="0"/>
                <a:cs typeface="Times New Roman" pitchFamily="18" charset="0"/>
              </a:rPr>
              <a:t>	</a:t>
            </a:r>
            <a:r>
              <a:rPr lang="en-US" altLang="en-US" sz="2400" b="1" i="1" dirty="0" smtClean="0">
                <a:latin typeface="Times New Roman" pitchFamily="18" charset="0"/>
                <a:cs typeface="Times New Roman" pitchFamily="18" charset="0"/>
              </a:rPr>
              <a:t>+Thúc đẩy </a:t>
            </a:r>
            <a:r>
              <a:rPr lang="en-US" altLang="en-US" sz="2400" b="1" i="1" dirty="0">
                <a:latin typeface="Times New Roman" pitchFamily="18" charset="0"/>
                <a:cs typeface="Times New Roman" pitchFamily="18" charset="0"/>
              </a:rPr>
              <a:t>chuyển dịch cơ cấu kinh tế mạnh mẽ từ nông nghiệp sang công nghiệp, dịch vụ, thương mại</a:t>
            </a:r>
          </a:p>
          <a:p>
            <a:pPr algn="just" eaLnBrk="1" hangingPunct="1">
              <a:spcBef>
                <a:spcPct val="20000"/>
              </a:spcBef>
            </a:pPr>
            <a:r>
              <a:rPr lang="en-US" altLang="en-US" sz="2400" b="1" i="1" dirty="0">
                <a:latin typeface="Times New Roman" pitchFamily="18" charset="0"/>
                <a:cs typeface="Times New Roman" pitchFamily="18" charset="0"/>
              </a:rPr>
              <a:t>	</a:t>
            </a:r>
            <a:r>
              <a:rPr lang="en-US" altLang="en-US" sz="2400" b="1" i="1" dirty="0" smtClean="0">
                <a:latin typeface="Times New Roman" pitchFamily="18" charset="0"/>
                <a:cs typeface="Times New Roman" pitchFamily="18" charset="0"/>
              </a:rPr>
              <a:t>+Làm gia </a:t>
            </a:r>
            <a:r>
              <a:rPr lang="en-US" altLang="en-US" sz="2400" b="1" i="1" dirty="0">
                <a:latin typeface="Times New Roman" pitchFamily="18" charset="0"/>
                <a:cs typeface="Times New Roman" pitchFamily="18" charset="0"/>
              </a:rPr>
              <a:t>tăng mâu thuẫn giữa các nước phát triển dẫn đến CTTG lần thứ 1 và CTTG lần thứ 2</a:t>
            </a:r>
          </a:p>
          <a:p>
            <a:pPr algn="just" eaLnBrk="1" hangingPunct="1">
              <a:spcBef>
                <a:spcPct val="20000"/>
              </a:spcBef>
            </a:pPr>
            <a:r>
              <a:rPr lang="en-US" altLang="en-US" sz="2400" b="1" i="1" dirty="0">
                <a:latin typeface="Times New Roman" pitchFamily="18" charset="0"/>
                <a:cs typeface="Times New Roman" pitchFamily="18" charset="0"/>
              </a:rPr>
              <a:t>	+ </a:t>
            </a:r>
            <a:r>
              <a:rPr lang="en-US" altLang="en-US" sz="2400" b="1" i="1" dirty="0" smtClean="0">
                <a:latin typeface="Times New Roman" pitchFamily="18" charset="0"/>
                <a:cs typeface="Times New Roman" pitchFamily="18" charset="0"/>
              </a:rPr>
              <a:t>Đẩy nhanh </a:t>
            </a:r>
            <a:r>
              <a:rPr lang="en-US" altLang="en-US" sz="2400" b="1" i="1" dirty="0">
                <a:latin typeface="Times New Roman" pitchFamily="18" charset="0"/>
                <a:cs typeface="Times New Roman" pitchFamily="18" charset="0"/>
              </a:rPr>
              <a:t>quá trình xã hội hóa sản xuất, thúc đẩy CNTB từ CTTD sang độc quyền</a:t>
            </a:r>
          </a:p>
        </p:txBody>
      </p:sp>
    </p:spTree>
    <p:extLst>
      <p:ext uri="{BB962C8B-B14F-4D97-AF65-F5344CB8AC3E}">
        <p14:creationId xmlns:p14="http://schemas.microsoft.com/office/powerpoint/2010/main" val="37264559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p:cNvSpPr>
            <a:spLocks noGrp="1"/>
          </p:cNvSpPr>
          <p:nvPr>
            <p:ph idx="1"/>
          </p:nvPr>
        </p:nvSpPr>
        <p:spPr>
          <a:xfrm>
            <a:off x="508000" y="2057400"/>
            <a:ext cx="10871200" cy="533400"/>
          </a:xfrm>
        </p:spPr>
        <p:txBody>
          <a:bodyPr>
            <a:normAutofit/>
          </a:bodyPr>
          <a:lstStyle/>
          <a:p>
            <a:pPr eaLnBrk="1" hangingPunct="1">
              <a:buFont typeface="Arial" charset="0"/>
              <a:buNone/>
              <a:defRPr/>
            </a:pPr>
            <a:r>
              <a:rPr lang="en-US" sz="3200" i="1" dirty="0" smtClean="0">
                <a:solidFill>
                  <a:srgbClr val="FF0000"/>
                </a:solidFill>
              </a:rPr>
              <a:t>Nội dung của cuộc CMCN lần thứ ba</a:t>
            </a:r>
          </a:p>
          <a:p>
            <a:pPr eaLnBrk="1" hangingPunct="1">
              <a:buFont typeface="Arial" charset="0"/>
              <a:buNone/>
              <a:defRPr/>
            </a:pPr>
            <a:endParaRPr lang="en-US" dirty="0" smtClean="0">
              <a:solidFill>
                <a:srgbClr val="FF0000"/>
              </a:solidFill>
            </a:endParaRPr>
          </a:p>
          <a:p>
            <a:pPr eaLnBrk="1" hangingPunct="1">
              <a:buFont typeface="Arial" charset="0"/>
              <a:buNone/>
              <a:defRPr/>
            </a:pPr>
            <a:endParaRPr lang="en-US" dirty="0" smtClean="0"/>
          </a:p>
        </p:txBody>
      </p:sp>
      <p:sp>
        <p:nvSpPr>
          <p:cNvPr id="25603"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40B25BD-9488-45F4-8B50-B9BE54452629}" type="slidenum">
              <a:rPr lang="en-US" smtClean="0"/>
              <a:pPr fontAlgn="base">
                <a:spcBef>
                  <a:spcPct val="0"/>
                </a:spcBef>
                <a:spcAft>
                  <a:spcPct val="0"/>
                </a:spcAft>
                <a:defRPr/>
              </a:pPr>
              <a:t>15</a:t>
            </a:fld>
            <a:endParaRPr lang="en-US" smtClean="0"/>
          </a:p>
        </p:txBody>
      </p:sp>
      <p:sp>
        <p:nvSpPr>
          <p:cNvPr id="14342" name="Rectangle 6"/>
          <p:cNvSpPr>
            <a:spLocks noChangeArrowheads="1"/>
          </p:cNvSpPr>
          <p:nvPr/>
        </p:nvSpPr>
        <p:spPr bwMode="auto">
          <a:xfrm>
            <a:off x="156518" y="592632"/>
            <a:ext cx="11480800" cy="1077912"/>
          </a:xfrm>
          <a:prstGeom prst="rect">
            <a:avLst/>
          </a:prstGeom>
          <a:solidFill>
            <a:schemeClr val="bg1"/>
          </a:solidFill>
          <a:ln w="9525">
            <a:noFill/>
            <a:miter lim="800000"/>
            <a:headEnd/>
            <a:tailEnd/>
          </a:ln>
        </p:spPr>
        <p:txBody>
          <a:bodyPr>
            <a:spAutoFit/>
          </a:bodyPr>
          <a:lstStyle/>
          <a:p>
            <a:pPr algn="ctr">
              <a:buFont typeface="Wingdings" pitchFamily="2" charset="2"/>
              <a:buChar char="v"/>
              <a:defRPr/>
            </a:pPr>
            <a:r>
              <a:rPr lang="en-US" sz="2800" b="1" dirty="0">
                <a:solidFill>
                  <a:srgbClr val="FF0000"/>
                </a:solidFill>
                <a:latin typeface="Times New Roman" pitchFamily="18" charset="0"/>
                <a:cs typeface="Times New Roman" pitchFamily="18" charset="0"/>
              </a:rPr>
              <a:t> </a:t>
            </a:r>
            <a:r>
              <a:rPr lang="en-US" sz="3600" b="1" dirty="0">
                <a:solidFill>
                  <a:srgbClr val="FF0000"/>
                </a:solidFill>
                <a:latin typeface="Times New Roman" pitchFamily="18" charset="0"/>
                <a:cs typeface="Times New Roman" pitchFamily="18" charset="0"/>
              </a:rPr>
              <a:t>Cuộc cách mạng công nghiệp lần thứ ba</a:t>
            </a:r>
          </a:p>
          <a:p>
            <a:pPr algn="ctr">
              <a:defRPr/>
            </a:pPr>
            <a:r>
              <a:rPr lang="en-US" sz="2800" b="1" dirty="0">
                <a:solidFill>
                  <a:srgbClr val="FF0000"/>
                </a:solidFill>
                <a:latin typeface="Times New Roman" pitchFamily="18" charset="0"/>
                <a:cs typeface="Times New Roman" pitchFamily="18" charset="0"/>
              </a:rPr>
              <a:t>	</a:t>
            </a:r>
            <a:r>
              <a:rPr lang="en-US" sz="2400" b="1" i="1" dirty="0">
                <a:solidFill>
                  <a:srgbClr val="FF0000"/>
                </a:solidFill>
                <a:latin typeface="Times New Roman" pitchFamily="18" charset="0"/>
                <a:cs typeface="Times New Roman" pitchFamily="18" charset="0"/>
              </a:rPr>
              <a:t>(những năm 60 đến cuối tk 20)</a:t>
            </a:r>
          </a:p>
        </p:txBody>
      </p:sp>
      <p:sp>
        <p:nvSpPr>
          <p:cNvPr id="11" name="Rectangle 10"/>
          <p:cNvSpPr/>
          <p:nvPr/>
        </p:nvSpPr>
        <p:spPr>
          <a:xfrm>
            <a:off x="609600" y="2667000"/>
            <a:ext cx="112776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latin typeface="Times New Roman" pitchFamily="18" charset="0"/>
                <a:cs typeface="Times New Roman" pitchFamily="18" charset="0"/>
              </a:rPr>
              <a:t>Sử dụng công nghệ thông tin để tự động hóa sản xuất</a:t>
            </a:r>
          </a:p>
        </p:txBody>
      </p:sp>
      <p:sp>
        <p:nvSpPr>
          <p:cNvPr id="12" name="Rectangle 11"/>
          <p:cNvSpPr/>
          <p:nvPr/>
        </p:nvSpPr>
        <p:spPr>
          <a:xfrm>
            <a:off x="609600" y="4495800"/>
            <a:ext cx="112776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latin typeface="Times New Roman" pitchFamily="18" charset="0"/>
                <a:cs typeface="Times New Roman" pitchFamily="18" charset="0"/>
              </a:rPr>
              <a:t>Chuyển từ công nghiệp điện tử  - cơ khí sang công nghệ số</a:t>
            </a:r>
          </a:p>
        </p:txBody>
      </p:sp>
    </p:spTree>
    <p:extLst>
      <p:ext uri="{BB962C8B-B14F-4D97-AF65-F5344CB8AC3E}">
        <p14:creationId xmlns:p14="http://schemas.microsoft.com/office/powerpoint/2010/main" val="3577943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640EB02-41D4-4666-939A-772750986CA0}" type="slidenum">
              <a:rPr lang="en-US" smtClean="0"/>
              <a:pPr fontAlgn="base">
                <a:spcBef>
                  <a:spcPct val="0"/>
                </a:spcBef>
                <a:spcAft>
                  <a:spcPct val="0"/>
                </a:spcAft>
                <a:defRPr/>
              </a:pPr>
              <a:t>16</a:t>
            </a:fld>
            <a:endParaRPr lang="en-US" smtClean="0"/>
          </a:p>
        </p:txBody>
      </p:sp>
      <p:pic>
        <p:nvPicPr>
          <p:cNvPr id="20483" name="Picture 11" descr="C:\Users\ADMIN\Desktop\tải xuống (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600" y="1447800"/>
            <a:ext cx="82296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p:nvSpPr>
        <p:spPr>
          <a:xfrm>
            <a:off x="1930400" y="5410200"/>
            <a:ext cx="7924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Máy tính bàn</a:t>
            </a:r>
          </a:p>
        </p:txBody>
      </p:sp>
    </p:spTree>
    <p:extLst>
      <p:ext uri="{BB962C8B-B14F-4D97-AF65-F5344CB8AC3E}">
        <p14:creationId xmlns:p14="http://schemas.microsoft.com/office/powerpoint/2010/main" val="903282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79CA85F-3A56-4B46-9D7E-A7D867142DCD}" type="slidenum">
              <a:rPr lang="en-US" smtClean="0"/>
              <a:pPr>
                <a:defRPr/>
              </a:pPr>
              <a:t>17</a:t>
            </a:fld>
            <a:endParaRPr lang="en-US"/>
          </a:p>
        </p:txBody>
      </p:sp>
      <p:pic>
        <p:nvPicPr>
          <p:cNvPr id="21507" name="Picture 10" descr="C:\Users\ADMIN\Desktop\tải xuống (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295400"/>
            <a:ext cx="10566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540000" y="5181600"/>
            <a:ext cx="721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Máy tính bảng</a:t>
            </a:r>
          </a:p>
        </p:txBody>
      </p:sp>
    </p:spTree>
    <p:extLst>
      <p:ext uri="{BB962C8B-B14F-4D97-AF65-F5344CB8AC3E}">
        <p14:creationId xmlns:p14="http://schemas.microsoft.com/office/powerpoint/2010/main" val="2420507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08E18AD-9451-455D-8CDA-DF5FEF417812}" type="slidenum">
              <a:rPr lang="en-US" smtClean="0"/>
              <a:pPr>
                <a:defRPr/>
              </a:pPr>
              <a:t>18</a:t>
            </a:fld>
            <a:endParaRPr lang="en-US"/>
          </a:p>
        </p:txBody>
      </p:sp>
      <p:pic>
        <p:nvPicPr>
          <p:cNvPr id="22531" name="Picture 12" descr="C:\Users\ADMIN\Desktop\images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371600"/>
            <a:ext cx="99568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149600" y="5715000"/>
            <a:ext cx="72136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Máy tính xách tay</a:t>
            </a:r>
          </a:p>
        </p:txBody>
      </p:sp>
    </p:spTree>
    <p:extLst>
      <p:ext uri="{BB962C8B-B14F-4D97-AF65-F5344CB8AC3E}">
        <p14:creationId xmlns:p14="http://schemas.microsoft.com/office/powerpoint/2010/main" val="1784732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508000" y="1295400"/>
            <a:ext cx="10058400" cy="685800"/>
          </a:xfrm>
        </p:spPr>
        <p:txBody>
          <a:bodyPr>
            <a:normAutofit fontScale="25000" lnSpcReduction="20000"/>
          </a:bodyPr>
          <a:lstStyle/>
          <a:p>
            <a:pPr eaLnBrk="1" hangingPunct="1">
              <a:buFont typeface="Arial" charset="0"/>
              <a:buNone/>
              <a:defRPr/>
            </a:pPr>
            <a:r>
              <a:rPr lang="en-US" sz="11200" i="1" dirty="0" smtClean="0">
                <a:solidFill>
                  <a:srgbClr val="FF0000"/>
                </a:solidFill>
              </a:rPr>
              <a:t>Vai trò của cuộc cách mạng lần thứ ba</a:t>
            </a:r>
          </a:p>
          <a:p>
            <a:pPr eaLnBrk="1" hangingPunct="1">
              <a:buFont typeface="Arial" charset="0"/>
              <a:buNone/>
              <a:defRPr/>
            </a:pPr>
            <a:r>
              <a:rPr lang="en-US" sz="11200" i="1" dirty="0" smtClean="0">
                <a:solidFill>
                  <a:srgbClr val="FF0000"/>
                </a:solidFill>
              </a:rPr>
              <a:t>	</a:t>
            </a:r>
            <a:r>
              <a:rPr lang="en-US" sz="11200" i="1" dirty="0" smtClean="0"/>
              <a:t>+ Sản xuất có những bước nhảy vọt, tạo sự kết nối rộng khắp</a:t>
            </a:r>
          </a:p>
          <a:p>
            <a:pPr eaLnBrk="1" hangingPunct="1">
              <a:buFont typeface="Arial" charset="0"/>
              <a:buNone/>
              <a:defRPr/>
            </a:pPr>
            <a:r>
              <a:rPr lang="en-US" sz="11200" i="1" dirty="0" smtClean="0"/>
              <a:t>	+ Sáng chế và áp dụng máy tính bảng, hoàn thiện quá trình tự động hóa, đưa tất cả các lĩnh vực trong nền kinh tế chuyển sang trạng thái công nghệ hoàn toàn mới</a:t>
            </a:r>
          </a:p>
          <a:p>
            <a:pPr eaLnBrk="1" hangingPunct="1">
              <a:buFont typeface="Arial" charset="0"/>
              <a:buNone/>
              <a:defRPr/>
            </a:pPr>
            <a:r>
              <a:rPr lang="en-US" sz="11200" i="1" dirty="0" smtClean="0"/>
              <a:t>	+ Đưa nền kinh tế từ nền kinh tế công nghiệp sang kinh tế tri thức</a:t>
            </a:r>
          </a:p>
          <a:p>
            <a:pPr eaLnBrk="1" hangingPunct="1">
              <a:buFont typeface="Arial" charset="0"/>
              <a:buNone/>
              <a:defRPr/>
            </a:pPr>
            <a:r>
              <a:rPr lang="en-US" sz="11200" i="1" dirty="0" smtClean="0"/>
              <a:t>	+ Điều tiết và phối hợp quốc tế được tăng cường</a:t>
            </a:r>
          </a:p>
          <a:p>
            <a:pPr eaLnBrk="1" hangingPunct="1">
              <a:buFont typeface="Arial" charset="0"/>
              <a:buNone/>
              <a:defRPr/>
            </a:pPr>
            <a:endParaRPr lang="en-US" dirty="0" smtClean="0">
              <a:solidFill>
                <a:srgbClr val="FF0000"/>
              </a:solidFill>
            </a:endParaRPr>
          </a:p>
          <a:p>
            <a:pPr eaLnBrk="1" hangingPunct="1">
              <a:buFont typeface="Arial" charset="0"/>
              <a:buNone/>
              <a:defRPr/>
            </a:pPr>
            <a:endParaRPr lang="en-US" dirty="0" smtClean="0"/>
          </a:p>
        </p:txBody>
      </p:sp>
      <p:sp>
        <p:nvSpPr>
          <p:cNvPr id="27651"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A81486B-BCF8-47E9-8474-75768B5F39F8}" type="slidenum">
              <a:rPr lang="en-US" smtClean="0"/>
              <a:pPr fontAlgn="base">
                <a:spcBef>
                  <a:spcPct val="0"/>
                </a:spcBef>
                <a:spcAft>
                  <a:spcPct val="0"/>
                </a:spcAft>
                <a:defRPr/>
              </a:pPr>
              <a:t>19</a:t>
            </a:fld>
            <a:endParaRPr lang="en-US" smtClean="0"/>
          </a:p>
        </p:txBody>
      </p:sp>
    </p:spTree>
    <p:extLst>
      <p:ext uri="{BB962C8B-B14F-4D97-AF65-F5344CB8AC3E}">
        <p14:creationId xmlns:p14="http://schemas.microsoft.com/office/powerpoint/2010/main" val="23602439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508000" y="2057400"/>
            <a:ext cx="7924800" cy="533400"/>
          </a:xfrm>
        </p:spPr>
        <p:txBody>
          <a:bodyPr>
            <a:normAutofit fontScale="85000" lnSpcReduction="10000"/>
          </a:bodyPr>
          <a:lstStyle/>
          <a:p>
            <a:pPr eaLnBrk="1" hangingPunct="1">
              <a:buFont typeface="Arial" charset="0"/>
              <a:buNone/>
              <a:defRPr/>
            </a:pPr>
            <a:r>
              <a:rPr lang="en-US" sz="3800" i="1" dirty="0" smtClean="0">
                <a:solidFill>
                  <a:srgbClr val="FF0000"/>
                </a:solidFill>
              </a:rPr>
              <a:t>Nội dung cơ bản của cuộc CMCN lần thứ tư</a:t>
            </a:r>
          </a:p>
          <a:p>
            <a:pPr eaLnBrk="1" hangingPunct="1">
              <a:buFont typeface="Arial" charset="0"/>
              <a:buNone/>
              <a:defRPr/>
            </a:pPr>
            <a:endParaRPr lang="en-US" dirty="0" smtClean="0">
              <a:solidFill>
                <a:srgbClr val="FF0000"/>
              </a:solidFill>
            </a:endParaRPr>
          </a:p>
          <a:p>
            <a:pPr eaLnBrk="1" hangingPunct="1">
              <a:buFont typeface="Arial" charset="0"/>
              <a:buNone/>
              <a:defRPr/>
            </a:pPr>
            <a:endParaRPr lang="en-US" dirty="0" smtClean="0"/>
          </a:p>
        </p:txBody>
      </p:sp>
      <p:sp>
        <p:nvSpPr>
          <p:cNvPr id="28675"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7C3838F-070E-4A4C-976D-13F095C62EA5}" type="slidenum">
              <a:rPr lang="en-US" smtClean="0"/>
              <a:pPr fontAlgn="base">
                <a:spcBef>
                  <a:spcPct val="0"/>
                </a:spcBef>
                <a:spcAft>
                  <a:spcPct val="0"/>
                </a:spcAft>
                <a:defRPr/>
              </a:pPr>
              <a:t>20</a:t>
            </a:fld>
            <a:endParaRPr lang="en-US" smtClean="0"/>
          </a:p>
        </p:txBody>
      </p:sp>
      <p:sp>
        <p:nvSpPr>
          <p:cNvPr id="17413" name="Rectangle 6"/>
          <p:cNvSpPr>
            <a:spLocks noChangeArrowheads="1"/>
          </p:cNvSpPr>
          <p:nvPr/>
        </p:nvSpPr>
        <p:spPr bwMode="auto">
          <a:xfrm>
            <a:off x="304800" y="1103314"/>
            <a:ext cx="11480800" cy="523875"/>
          </a:xfrm>
          <a:prstGeom prst="rect">
            <a:avLst/>
          </a:prstGeom>
          <a:noFill/>
          <a:ln w="9525">
            <a:noFill/>
            <a:miter lim="800000"/>
            <a:headEnd/>
            <a:tailEnd/>
          </a:ln>
        </p:spPr>
        <p:txBody>
          <a:bodyPr>
            <a:spAutoFit/>
          </a:bodyPr>
          <a:lstStyle/>
          <a:p>
            <a:pPr algn="ctr">
              <a:buFont typeface="Wingdings" pitchFamily="2" charset="2"/>
              <a:buChar char="v"/>
              <a:defRPr/>
            </a:pPr>
            <a:r>
              <a:rPr lang="en-US" sz="2800" b="1" dirty="0">
                <a:solidFill>
                  <a:srgbClr val="FF0000"/>
                </a:solidFill>
                <a:latin typeface="Times New Roman" pitchFamily="18" charset="0"/>
                <a:cs typeface="Times New Roman" pitchFamily="18" charset="0"/>
              </a:rPr>
              <a:t> Cuộc cách mạng công nghiệp lần thứ tư</a:t>
            </a:r>
          </a:p>
        </p:txBody>
      </p:sp>
      <p:sp>
        <p:nvSpPr>
          <p:cNvPr id="12" name="Rectangle 11"/>
          <p:cNvSpPr/>
          <p:nvPr/>
        </p:nvSpPr>
        <p:spPr>
          <a:xfrm>
            <a:off x="609600" y="2667000"/>
            <a:ext cx="102616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Về vật lý với công nghệ nổi bật in 3D</a:t>
            </a:r>
          </a:p>
        </p:txBody>
      </p:sp>
      <p:sp>
        <p:nvSpPr>
          <p:cNvPr id="13" name="Rectangle 12"/>
          <p:cNvSpPr/>
          <p:nvPr/>
        </p:nvSpPr>
        <p:spPr>
          <a:xfrm>
            <a:off x="812800" y="4191000"/>
            <a:ext cx="100584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Về công nghệ số với những công nghệ nổi bật là internet kết nối vạn vật, dữ liệu lớn, trí thông minh nhân tạo và chuỗi khối</a:t>
            </a:r>
          </a:p>
        </p:txBody>
      </p:sp>
      <p:sp>
        <p:nvSpPr>
          <p:cNvPr id="14" name="Rectangle 13"/>
          <p:cNvSpPr/>
          <p:nvPr/>
        </p:nvSpPr>
        <p:spPr>
          <a:xfrm>
            <a:off x="812800" y="5410200"/>
            <a:ext cx="10058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dirty="0">
                <a:latin typeface="Times New Roman" pitchFamily="18" charset="0"/>
                <a:cs typeface="Times New Roman" pitchFamily="18" charset="0"/>
              </a:rPr>
              <a:t>Về công nghệ sinh học với công nghệ nổi bật là gen tế bào</a:t>
            </a:r>
          </a:p>
        </p:txBody>
      </p:sp>
    </p:spTree>
    <p:extLst>
      <p:ext uri="{BB962C8B-B14F-4D97-AF65-F5344CB8AC3E}">
        <p14:creationId xmlns:p14="http://schemas.microsoft.com/office/powerpoint/2010/main" val="363967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D6C7773-A15D-4714-A2B5-C98B4152C268}" type="slidenum">
              <a:rPr lang="en-US" smtClean="0"/>
              <a:pPr>
                <a:defRPr/>
              </a:pPr>
              <a:t>21</a:t>
            </a:fld>
            <a:endParaRPr lang="en-US"/>
          </a:p>
        </p:txBody>
      </p:sp>
      <p:pic>
        <p:nvPicPr>
          <p:cNvPr id="25603" name="Picture 3" descr="C:\Users\ADMIN\Desktop\tải xuống (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43000"/>
            <a:ext cx="10261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99817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D0F302F-3E6D-4E49-AC4B-CC504352C68C}" type="slidenum">
              <a:rPr lang="en-US" smtClean="0"/>
              <a:pPr>
                <a:defRPr/>
              </a:pPr>
              <a:t>22</a:t>
            </a:fld>
            <a:endParaRPr lang="en-US"/>
          </a:p>
        </p:txBody>
      </p:sp>
      <p:pic>
        <p:nvPicPr>
          <p:cNvPr id="26627" name="Picture 4" descr="C:\Users\ADMIN\Desktop\tải xuống (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0" y="2209800"/>
            <a:ext cx="10464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5532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54641B6-90C3-49D0-8A2A-B020EF19A0BF}" type="slidenum">
              <a:rPr lang="en-US" smtClean="0"/>
              <a:pPr>
                <a:defRPr/>
              </a:pPr>
              <a:t>23</a:t>
            </a:fld>
            <a:endParaRPr lang="en-US"/>
          </a:p>
        </p:txBody>
      </p:sp>
      <p:pic>
        <p:nvPicPr>
          <p:cNvPr id="27651" name="Picture 6" descr="C:\Users\ADMIN\Desktop\tải xuống (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0400" y="1524000"/>
            <a:ext cx="8940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5049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9CD02B67-360E-4A20-8A4D-420EADC17470}" type="slidenum">
              <a:rPr lang="en-US" smtClean="0"/>
              <a:pPr>
                <a:defRPr/>
              </a:pPr>
              <a:t>24</a:t>
            </a:fld>
            <a:endParaRPr lang="en-US"/>
          </a:p>
        </p:txBody>
      </p:sp>
      <p:pic>
        <p:nvPicPr>
          <p:cNvPr id="28675" name="Picture 5" descr="C:\Users\ADMIN\Desktop\images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19200"/>
            <a:ext cx="8636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0964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AF9E681-E39A-4736-AF3F-F7D62B0875CD}" type="slidenum">
              <a:rPr lang="en-US" smtClean="0"/>
              <a:pPr>
                <a:defRPr/>
              </a:pPr>
              <a:t>25</a:t>
            </a:fld>
            <a:endParaRPr lang="en-US"/>
          </a:p>
        </p:txBody>
      </p:sp>
      <p:pic>
        <p:nvPicPr>
          <p:cNvPr id="29699" name="Picture 7" descr="C:\Users\ADMIN\Desktop\images (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371600"/>
            <a:ext cx="8839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8461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CCB8B500-76BC-4990-9F45-529F383CCA4F}" type="slidenum">
              <a:rPr lang="en-US" smtClean="0"/>
              <a:pPr>
                <a:defRPr/>
              </a:pPr>
              <a:t>26</a:t>
            </a:fld>
            <a:endParaRPr lang="en-US"/>
          </a:p>
        </p:txBody>
      </p:sp>
      <p:pic>
        <p:nvPicPr>
          <p:cNvPr id="30723" name="Picture 2" descr="C:\Users\ADMIN\Desktop\tải xuống (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10769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6868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508000" y="1066800"/>
            <a:ext cx="11379200" cy="5105400"/>
          </a:xfrm>
          <a:solidFill>
            <a:schemeClr val="bg1"/>
          </a:solidFill>
        </p:spPr>
        <p:txBody>
          <a:bodyPr>
            <a:normAutofit fontScale="55000" lnSpcReduction="20000"/>
          </a:bodyPr>
          <a:lstStyle/>
          <a:p>
            <a:pPr eaLnBrk="1" hangingPunct="1">
              <a:buFont typeface="Arial" charset="0"/>
              <a:buNone/>
              <a:defRPr/>
            </a:pPr>
            <a:r>
              <a:rPr lang="en-US" sz="5100" i="1" dirty="0" smtClean="0">
                <a:solidFill>
                  <a:srgbClr val="FF0000"/>
                </a:solidFill>
              </a:rPr>
              <a:t>Vai trò cuộc CMCN lân thứ tư</a:t>
            </a:r>
          </a:p>
          <a:p>
            <a:pPr eaLnBrk="1" hangingPunct="1">
              <a:buFont typeface="Arial" charset="0"/>
              <a:buNone/>
              <a:defRPr/>
            </a:pPr>
            <a:r>
              <a:rPr lang="en-US" sz="5100" i="1" dirty="0" smtClean="0"/>
              <a:t>	+ làm thay đổi nhận thức con người, giúp chúng ta có định hướng đúng đắn trong tương lai</a:t>
            </a:r>
          </a:p>
          <a:p>
            <a:pPr eaLnBrk="1" hangingPunct="1">
              <a:buFont typeface="Arial" charset="0"/>
              <a:buNone/>
              <a:defRPr/>
            </a:pPr>
            <a:r>
              <a:rPr lang="en-US" sz="5100" i="1" dirty="0" smtClean="0"/>
              <a:t>	+cuộc CMCN 4.0 tác động rất lớn đến nền kinh tế toàn cầu.</a:t>
            </a:r>
          </a:p>
          <a:p>
            <a:pPr eaLnBrk="1" hangingPunct="1">
              <a:buFont typeface="Arial" charset="0"/>
              <a:buNone/>
              <a:defRPr/>
            </a:pPr>
            <a:r>
              <a:rPr lang="en-US" sz="5100" i="1" dirty="0" smtClean="0"/>
              <a:t>	+làm thay đổi hệ thống sản xuất, chuyển sản xuất từ tập trung sang phân cấp.</a:t>
            </a:r>
          </a:p>
          <a:p>
            <a:pPr eaLnBrk="1" hangingPunct="1">
              <a:buFont typeface="Arial" charset="0"/>
              <a:buNone/>
              <a:defRPr/>
            </a:pPr>
            <a:r>
              <a:rPr lang="en-US" sz="5100" i="1" dirty="0" smtClean="0"/>
              <a:t>	+ trí tuệ nhân tạo làm thay con người trong quá trình sản xuất</a:t>
            </a:r>
          </a:p>
          <a:p>
            <a:pPr eaLnBrk="1" hangingPunct="1">
              <a:buFont typeface="Arial" charset="0"/>
              <a:buNone/>
              <a:defRPr/>
            </a:pPr>
            <a:r>
              <a:rPr lang="en-US" sz="5100" i="1" dirty="0" smtClean="0"/>
              <a:t>	+ có khả năng kết nối và tạo ra mạng lưới trao đổi thông tin tất cả mọi vật</a:t>
            </a:r>
          </a:p>
          <a:p>
            <a:pPr eaLnBrk="1" hangingPunct="1">
              <a:buFont typeface="Arial" charset="0"/>
              <a:buNone/>
              <a:defRPr/>
            </a:pPr>
            <a:r>
              <a:rPr lang="en-US" sz="5100" i="1" dirty="0" smtClean="0"/>
              <a:t>	+ đưa kinh tế thế giới bước vào giai đoạn tăng trưởng chủ yếu vào động lực không có trần giới hạn là công nghệ và đổi mới sáng tạo</a:t>
            </a:r>
          </a:p>
          <a:p>
            <a:pPr eaLnBrk="1" hangingPunct="1">
              <a:buFont typeface="Arial" charset="0"/>
              <a:buNone/>
              <a:defRPr/>
            </a:pPr>
            <a:r>
              <a:rPr lang="en-US" sz="5100" i="1" dirty="0" smtClean="0"/>
              <a:t>	+thay đổi hoàn toàn cách con người sinh sống, làm việc và quan hệ với nhau </a:t>
            </a:r>
          </a:p>
          <a:p>
            <a:pPr eaLnBrk="1" hangingPunct="1">
              <a:buFont typeface="Arial" charset="0"/>
              <a:buNone/>
              <a:defRPr/>
            </a:pPr>
            <a:endParaRPr lang="en-US" sz="2000" dirty="0" smtClean="0"/>
          </a:p>
          <a:p>
            <a:pPr eaLnBrk="1" hangingPunct="1">
              <a:buFont typeface="Arial" charset="0"/>
              <a:buNone/>
              <a:defRPr/>
            </a:pPr>
            <a:endParaRPr lang="en-US" sz="2000" dirty="0" smtClean="0"/>
          </a:p>
        </p:txBody>
      </p:sp>
      <p:sp>
        <p:nvSpPr>
          <p:cNvPr id="29699"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EE39680-1CB9-4A7F-8D23-B299AB79B6AC}" type="slidenum">
              <a:rPr lang="en-US" smtClean="0"/>
              <a:pPr fontAlgn="base">
                <a:spcBef>
                  <a:spcPct val="0"/>
                </a:spcBef>
                <a:spcAft>
                  <a:spcPct val="0"/>
                </a:spcAft>
                <a:defRPr/>
              </a:pPr>
              <a:t>27</a:t>
            </a:fld>
            <a:endParaRPr lang="en-US" smtClean="0"/>
          </a:p>
        </p:txBody>
      </p:sp>
    </p:spTree>
    <p:extLst>
      <p:ext uri="{BB962C8B-B14F-4D97-AF65-F5344CB8AC3E}">
        <p14:creationId xmlns:p14="http://schemas.microsoft.com/office/powerpoint/2010/main" val="25168621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11582400" cy="990600"/>
          </a:xfrm>
          <a:solidFill>
            <a:schemeClr val="bg1"/>
          </a:solidFill>
        </p:spPr>
        <p:txBody>
          <a:bodyPr rtlCol="0">
            <a:normAutofit/>
          </a:bodyPr>
          <a:lstStyle/>
          <a:p>
            <a:r>
              <a:rPr lang="vi-VN" sz="4000" dirty="0"/>
              <a:t>* Vai trò của cách mạng công nghiệp dối với phát </a:t>
            </a:r>
            <a:r>
              <a:rPr lang="vi-VN" sz="4000" dirty="0" smtClean="0"/>
              <a:t>tri</a:t>
            </a:r>
            <a:r>
              <a:rPr lang="en-US" sz="4000" dirty="0" smtClean="0"/>
              <a:t>ển</a:t>
            </a:r>
            <a:endParaRPr lang="en-US" sz="4000" dirty="0"/>
          </a:p>
        </p:txBody>
      </p:sp>
      <p:sp>
        <p:nvSpPr>
          <p:cNvPr id="32770"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F9DBA0D-E748-46FE-B7BF-2581A8937B97}" type="slidenum">
              <a:rPr lang="en-US" smtClean="0"/>
              <a:pPr fontAlgn="base">
                <a:spcBef>
                  <a:spcPct val="0"/>
                </a:spcBef>
                <a:spcAft>
                  <a:spcPct val="0"/>
                </a:spcAft>
                <a:defRPr/>
              </a:pPr>
              <a:t>28</a:t>
            </a:fld>
            <a:endParaRPr lang="en-US" smtClean="0"/>
          </a:p>
        </p:txBody>
      </p:sp>
      <p:sp>
        <p:nvSpPr>
          <p:cNvPr id="32772" name="Rectangle 7"/>
          <p:cNvSpPr>
            <a:spLocks noChangeArrowheads="1"/>
          </p:cNvSpPr>
          <p:nvPr/>
        </p:nvSpPr>
        <p:spPr bwMode="auto">
          <a:xfrm>
            <a:off x="406400" y="1066800"/>
            <a:ext cx="11176000" cy="4954588"/>
          </a:xfrm>
          <a:prstGeom prst="rect">
            <a:avLst/>
          </a:prstGeom>
          <a:solidFill>
            <a:schemeClr val="bg1"/>
          </a:solid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ts val="1200"/>
              </a:spcBef>
              <a:spcAft>
                <a:spcPts val="1200"/>
              </a:spcAft>
            </a:pPr>
            <a:r>
              <a:rPr lang="en-US" altLang="en-US" sz="2800" b="1" dirty="0" smtClean="0">
                <a:solidFill>
                  <a:srgbClr val="FF0000"/>
                </a:solidFill>
                <a:latin typeface="Times New Roman" pitchFamily="18" charset="0"/>
                <a:cs typeface="Times New Roman" pitchFamily="18" charset="0"/>
              </a:rPr>
              <a:t>Thúc </a:t>
            </a:r>
            <a:r>
              <a:rPr lang="en-US" altLang="en-US" sz="2800" b="1" dirty="0">
                <a:solidFill>
                  <a:srgbClr val="FF0000"/>
                </a:solidFill>
                <a:latin typeface="Times New Roman" pitchFamily="18" charset="0"/>
                <a:cs typeface="Times New Roman" pitchFamily="18" charset="0"/>
              </a:rPr>
              <a:t>đẩy sự phát triển của lực lượng sản xuất</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Máy móc ra đời thay thế cho lao động chân tay, sản xuất chuyển sang quá trình tự hóa</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Quá trình sản xuất con người dần ít có sự lệ thuộc vào nguồn năng lượng truyền thống</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Sự ứng dụng khoa học kỷ thuật công nghệ tiên tiến vào trong sản xuất ngày càng tăng</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Tạo cơ hội cho các nước kém phát triển tiệp cận được thành tựu khkt, rút ngắn quá trình CNH, HĐH đất nước</a:t>
            </a:r>
          </a:p>
        </p:txBody>
      </p:sp>
    </p:spTree>
    <p:extLst>
      <p:ext uri="{BB962C8B-B14F-4D97-AF65-F5344CB8AC3E}">
        <p14:creationId xmlns:p14="http://schemas.microsoft.com/office/powerpoint/2010/main" val="3965258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86C65B0-4727-47B7-8DFB-322F5F7C3EAB}" type="slidenum">
              <a:rPr lang="en-US" smtClean="0"/>
              <a:pPr fontAlgn="base">
                <a:spcBef>
                  <a:spcPct val="0"/>
                </a:spcBef>
                <a:spcAft>
                  <a:spcPct val="0"/>
                </a:spcAft>
                <a:defRPr/>
              </a:pPr>
              <a:t>29</a:t>
            </a:fld>
            <a:endParaRPr lang="en-US" smtClean="0"/>
          </a:p>
        </p:txBody>
      </p:sp>
      <p:sp>
        <p:nvSpPr>
          <p:cNvPr id="33795" name="Rectangle 7"/>
          <p:cNvSpPr>
            <a:spLocks noChangeArrowheads="1"/>
          </p:cNvSpPr>
          <p:nvPr/>
        </p:nvSpPr>
        <p:spPr bwMode="auto">
          <a:xfrm>
            <a:off x="406400" y="1659925"/>
            <a:ext cx="11176000" cy="3416320"/>
          </a:xfrm>
          <a:prstGeom prst="rect">
            <a:avLst/>
          </a:prstGeom>
          <a:solidFill>
            <a:schemeClr val="bg1"/>
          </a:solidFill>
          <a:ln>
            <a:noFill/>
          </a:ln>
        </p:spPr>
        <p:txBody>
          <a:bodyPr>
            <a:spAutoFit/>
          </a:bodyPr>
          <a:lstStyle>
            <a:lvl1pPr marL="514350" indent="-5143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Thúc đẩy chuyển dịch cơ cấu kinh tế theo hướng hiện đại, hội nhập quốc tế</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Với người tiêu dùng, cuộc CMCN đã giúp cho người dân tiếp cận được những sản phẩm và dịch vụ mới với chất lượng tốt, chi phí rẻ</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Tạo điều kiện cho các quốc gia kém phát triển có cơ hội trao đổi kinh nghiệm với những nước phát triển</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 </a:t>
            </a:r>
          </a:p>
        </p:txBody>
      </p:sp>
    </p:spTree>
    <p:extLst>
      <p:ext uri="{BB962C8B-B14F-4D97-AF65-F5344CB8AC3E}">
        <p14:creationId xmlns:p14="http://schemas.microsoft.com/office/powerpoint/2010/main" val="109850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8E794C9-B280-4D16-B8DB-DD85D423A849}" type="slidenum">
              <a:rPr lang="en-US" smtClean="0"/>
              <a:pPr fontAlgn="base">
                <a:spcBef>
                  <a:spcPct val="0"/>
                </a:spcBef>
                <a:spcAft>
                  <a:spcPct val="0"/>
                </a:spcAft>
                <a:defRPr/>
              </a:pPr>
              <a:t>30</a:t>
            </a:fld>
            <a:endParaRPr lang="en-US" smtClean="0"/>
          </a:p>
        </p:txBody>
      </p:sp>
      <p:sp>
        <p:nvSpPr>
          <p:cNvPr id="34819" name="Rectangle 7"/>
          <p:cNvSpPr>
            <a:spLocks noChangeArrowheads="1"/>
          </p:cNvSpPr>
          <p:nvPr/>
        </p:nvSpPr>
        <p:spPr bwMode="auto">
          <a:xfrm>
            <a:off x="406400" y="1412791"/>
            <a:ext cx="111760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ts val="1200"/>
              </a:spcBef>
              <a:spcAft>
                <a:spcPts val="1200"/>
              </a:spcAft>
            </a:pPr>
            <a:r>
              <a:rPr lang="en-US" altLang="en-US" sz="3200" b="1" dirty="0" smtClean="0">
                <a:solidFill>
                  <a:srgbClr val="FF0000"/>
                </a:solidFill>
                <a:latin typeface="Times New Roman" pitchFamily="18" charset="0"/>
                <a:cs typeface="Times New Roman" pitchFamily="18" charset="0"/>
              </a:rPr>
              <a:t>Thúc </a:t>
            </a:r>
            <a:r>
              <a:rPr lang="en-US" altLang="en-US" sz="3200" b="1" dirty="0">
                <a:solidFill>
                  <a:srgbClr val="FF0000"/>
                </a:solidFill>
                <a:latin typeface="Times New Roman" pitchFamily="18" charset="0"/>
                <a:cs typeface="Times New Roman" pitchFamily="18" charset="0"/>
              </a:rPr>
              <a:t>đẩy hoàn thiện quan hệ sản xuất</a:t>
            </a:r>
          </a:p>
          <a:p>
            <a:pPr algn="just" eaLnBrk="1" hangingPunct="1">
              <a:spcBef>
                <a:spcPts val="1200"/>
              </a:spcBef>
              <a:spcAft>
                <a:spcPts val="1200"/>
              </a:spcAft>
              <a:buFont typeface="Wingdings" pitchFamily="2" charset="2"/>
              <a:buChar char="q"/>
            </a:pPr>
            <a:r>
              <a:rPr lang="en-US" altLang="en-US" sz="2600" b="1" dirty="0">
                <a:solidFill>
                  <a:srgbClr val="000099"/>
                </a:solidFill>
                <a:latin typeface="Times New Roman" pitchFamily="18" charset="0"/>
                <a:cs typeface="Times New Roman" pitchFamily="18" charset="0"/>
              </a:rPr>
              <a:t> Sự thay đổi về sở hữu tư liệu sản xuất</a:t>
            </a:r>
          </a:p>
          <a:p>
            <a:pPr algn="just" eaLnBrk="1" hangingPunct="1">
              <a:spcBef>
                <a:spcPts val="1200"/>
              </a:spcBef>
              <a:spcAft>
                <a:spcPts val="1200"/>
              </a:spcAft>
              <a:buFont typeface="Wingdings" pitchFamily="2" charset="2"/>
              <a:buChar char="q"/>
            </a:pPr>
            <a:r>
              <a:rPr lang="en-US" altLang="en-US" sz="2600" b="1" dirty="0">
                <a:solidFill>
                  <a:srgbClr val="000099"/>
                </a:solidFill>
                <a:latin typeface="Times New Roman" pitchFamily="18" charset="0"/>
                <a:cs typeface="Times New Roman" pitchFamily="18" charset="0"/>
              </a:rPr>
              <a:t>Sự thay đổi về lĩnh vực tổ chức, quản lý</a:t>
            </a:r>
          </a:p>
          <a:p>
            <a:pPr algn="just" eaLnBrk="1" hangingPunct="1">
              <a:spcBef>
                <a:spcPts val="1200"/>
              </a:spcBef>
              <a:spcAft>
                <a:spcPts val="1200"/>
              </a:spcAft>
              <a:buFont typeface="Wingdings" pitchFamily="2" charset="2"/>
              <a:buChar char="q"/>
            </a:pPr>
            <a:r>
              <a:rPr lang="en-US" altLang="en-US" sz="2600" b="1" dirty="0">
                <a:solidFill>
                  <a:srgbClr val="000099"/>
                </a:solidFill>
                <a:latin typeface="Times New Roman" pitchFamily="18" charset="0"/>
                <a:cs typeface="Times New Roman" pitchFamily="18" charset="0"/>
              </a:rPr>
              <a:t>Sự thay đổi trong lĩnh vực phân phối</a:t>
            </a:r>
          </a:p>
        </p:txBody>
      </p:sp>
    </p:spTree>
    <p:extLst>
      <p:ext uri="{BB962C8B-B14F-4D97-AF65-F5344CB8AC3E}">
        <p14:creationId xmlns:p14="http://schemas.microsoft.com/office/powerpoint/2010/main" val="1591945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3FF817D-7481-4AD8-9D2B-7B5BA7E8BF9C}" type="slidenum">
              <a:rPr lang="en-US" smtClean="0"/>
              <a:pPr fontAlgn="base">
                <a:spcBef>
                  <a:spcPct val="0"/>
                </a:spcBef>
                <a:spcAft>
                  <a:spcPct val="0"/>
                </a:spcAft>
                <a:defRPr/>
              </a:pPr>
              <a:t>31</a:t>
            </a:fld>
            <a:endParaRPr lang="en-US" smtClean="0"/>
          </a:p>
        </p:txBody>
      </p:sp>
      <p:sp>
        <p:nvSpPr>
          <p:cNvPr id="35843" name="Rectangle 7"/>
          <p:cNvSpPr>
            <a:spLocks noChangeArrowheads="1"/>
          </p:cNvSpPr>
          <p:nvPr/>
        </p:nvSpPr>
        <p:spPr bwMode="auto">
          <a:xfrm>
            <a:off x="406400" y="1462218"/>
            <a:ext cx="11176000" cy="320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ts val="1200"/>
              </a:spcBef>
              <a:spcAft>
                <a:spcPts val="1200"/>
              </a:spcAft>
            </a:pPr>
            <a:r>
              <a:rPr lang="en-US" altLang="en-US" sz="3200" b="1" dirty="0" smtClean="0">
                <a:solidFill>
                  <a:srgbClr val="FF0000"/>
                </a:solidFill>
                <a:latin typeface="Times New Roman" pitchFamily="18" charset="0"/>
                <a:cs typeface="Times New Roman" pitchFamily="18" charset="0"/>
              </a:rPr>
              <a:t>Thúc </a:t>
            </a:r>
            <a:r>
              <a:rPr lang="en-US" altLang="en-US" sz="3200" b="1" dirty="0">
                <a:solidFill>
                  <a:srgbClr val="FF0000"/>
                </a:solidFill>
                <a:latin typeface="Times New Roman" pitchFamily="18" charset="0"/>
                <a:cs typeface="Times New Roman" pitchFamily="18" charset="0"/>
              </a:rPr>
              <a:t>đẩy đổi mới phương thức quản trị phát triển</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Với cuộc CMCN 4.0, việc điều hành nhà nước thông qua hạ tầng số và internet, cho phép người dân được tham gia rộng rãi vào việc hoạch định chính sách.</a:t>
            </a:r>
          </a:p>
          <a:p>
            <a:pPr algn="just" eaLnBrk="1" hangingPunct="1">
              <a:spcBef>
                <a:spcPts val="1200"/>
              </a:spcBef>
              <a:spcAft>
                <a:spcPts val="1200"/>
              </a:spcAft>
            </a:pPr>
            <a:r>
              <a:rPr lang="en-US" altLang="en-US" sz="2600" b="1" dirty="0">
                <a:solidFill>
                  <a:srgbClr val="000099"/>
                </a:solidFill>
                <a:latin typeface="Times New Roman" pitchFamily="18" charset="0"/>
                <a:cs typeface="Times New Roman" pitchFamily="18" charset="0"/>
              </a:rPr>
              <a:t>Các doanh nghiệp cần phát huy các nguồn lực , mà chủ yếu là nguồn lực công nghệ, trí tuệ đổi mới, sáng tạo</a:t>
            </a:r>
          </a:p>
        </p:txBody>
      </p:sp>
    </p:spTree>
    <p:extLst>
      <p:ext uri="{BB962C8B-B14F-4D97-AF65-F5344CB8AC3E}">
        <p14:creationId xmlns:p14="http://schemas.microsoft.com/office/powerpoint/2010/main" val="4018024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5841" y="612261"/>
            <a:ext cx="9310315" cy="946840"/>
          </a:xfrm>
        </p:spPr>
        <p:txBody>
          <a:bodyPr>
            <a:noAutofit/>
          </a:bodyPr>
          <a:lstStyle/>
          <a:p>
            <a:pPr lvl="0"/>
            <a:r>
              <a:rPr lang="en-US" sz="3600" dirty="0" smtClean="0">
                <a:solidFill>
                  <a:srgbClr val="FF0000"/>
                </a:solidFill>
              </a:rPr>
              <a:t>6.1.1.2. </a:t>
            </a:r>
            <a:r>
              <a:rPr lang="vi-VN" sz="3600" i="1" dirty="0">
                <a:solidFill>
                  <a:srgbClr val="FF0000"/>
                </a:solidFill>
              </a:rPr>
              <a:t>Công nghiệp hóa và các mô hình công nghiệp hóa trên thế giới</a:t>
            </a:r>
            <a:r>
              <a:rPr lang="en-US" sz="3600" dirty="0">
                <a:solidFill>
                  <a:srgbClr val="FF0000"/>
                </a:solidFill>
              </a:rPr>
              <a:t/>
            </a:r>
            <a:br>
              <a:rPr lang="en-US" sz="3600" dirty="0">
                <a:solidFill>
                  <a:srgbClr val="FF0000"/>
                </a:solidFill>
              </a:rPr>
            </a:br>
            <a:endParaRPr lang="en-US" sz="3600" dirty="0">
              <a:solidFill>
                <a:srgbClr val="FF0000"/>
              </a:solidFill>
            </a:endParaRPr>
          </a:p>
        </p:txBody>
      </p:sp>
      <p:sp>
        <p:nvSpPr>
          <p:cNvPr id="3" name="Content Placeholder 2"/>
          <p:cNvSpPr>
            <a:spLocks noGrp="1"/>
          </p:cNvSpPr>
          <p:nvPr>
            <p:ph idx="1"/>
          </p:nvPr>
        </p:nvSpPr>
        <p:spPr>
          <a:xfrm>
            <a:off x="572493" y="2038865"/>
            <a:ext cx="11100021" cy="4258568"/>
          </a:xfrm>
        </p:spPr>
        <p:txBody>
          <a:bodyPr/>
          <a:lstStyle/>
          <a:p>
            <a:pPr marL="0" lvl="0" indent="0">
              <a:buNone/>
            </a:pPr>
            <a:r>
              <a:rPr lang="vi-VN" b="1" u="sng" dirty="0">
                <a:latin typeface="+mj-lt"/>
              </a:rPr>
              <a:t>Công nghiệp hoá</a:t>
            </a:r>
            <a:endParaRPr lang="en-US" b="1" u="sng" dirty="0">
              <a:latin typeface="+mj-lt"/>
            </a:endParaRPr>
          </a:p>
          <a:p>
            <a:pPr marL="0" indent="0">
              <a:buNone/>
            </a:pPr>
            <a:r>
              <a:rPr lang="vi-VN" i="1" dirty="0">
                <a:latin typeface="+mj-lt"/>
              </a:rPr>
              <a:t>Công nghiệp hóa là quả trình </a:t>
            </a:r>
            <a:r>
              <a:rPr lang="vi-VN" i="1" dirty="0" smtClean="0">
                <a:latin typeface="+mj-lt"/>
              </a:rPr>
              <a:t>chuy</a:t>
            </a:r>
            <a:r>
              <a:rPr lang="en-US" i="1" dirty="0" smtClean="0">
                <a:latin typeface="+mj-lt"/>
              </a:rPr>
              <a:t>ể</a:t>
            </a:r>
            <a:r>
              <a:rPr lang="vi-VN" i="1" dirty="0" smtClean="0">
                <a:latin typeface="+mj-lt"/>
              </a:rPr>
              <a:t>n đ</a:t>
            </a:r>
            <a:r>
              <a:rPr lang="en-US" i="1" dirty="0" smtClean="0">
                <a:latin typeface="+mj-lt"/>
              </a:rPr>
              <a:t>ổ</a:t>
            </a:r>
            <a:r>
              <a:rPr lang="vi-VN" i="1" dirty="0" smtClean="0">
                <a:latin typeface="+mj-lt"/>
              </a:rPr>
              <a:t>i n</a:t>
            </a:r>
            <a:r>
              <a:rPr lang="en-US" i="1" dirty="0" smtClean="0">
                <a:latin typeface="+mj-lt"/>
              </a:rPr>
              <a:t>ền</a:t>
            </a:r>
            <a:r>
              <a:rPr lang="vi-VN" i="1" dirty="0" smtClean="0">
                <a:latin typeface="+mj-lt"/>
              </a:rPr>
              <a:t> </a:t>
            </a:r>
            <a:r>
              <a:rPr lang="vi-VN" i="1" dirty="0">
                <a:latin typeface="+mj-lt"/>
              </a:rPr>
              <a:t>sản </a:t>
            </a:r>
            <a:r>
              <a:rPr lang="vi-VN" i="1" dirty="0" smtClean="0">
                <a:latin typeface="+mj-lt"/>
              </a:rPr>
              <a:t>xu</a:t>
            </a:r>
            <a:r>
              <a:rPr lang="en-US" i="1" dirty="0" smtClean="0">
                <a:latin typeface="+mj-lt"/>
              </a:rPr>
              <a:t>ất</a:t>
            </a:r>
            <a:r>
              <a:rPr lang="vi-VN" i="1" dirty="0" smtClean="0">
                <a:latin typeface="+mj-lt"/>
              </a:rPr>
              <a:t> </a:t>
            </a:r>
            <a:r>
              <a:rPr lang="vi-VN" i="1" dirty="0">
                <a:latin typeface="+mj-lt"/>
              </a:rPr>
              <a:t>xã hội từ dựa trên lao động thủ công là </a:t>
            </a:r>
            <a:r>
              <a:rPr lang="vi-VN" i="1" dirty="0" smtClean="0">
                <a:latin typeface="+mj-lt"/>
              </a:rPr>
              <a:t>ch</a:t>
            </a:r>
            <a:r>
              <a:rPr lang="en-US" i="1" dirty="0" smtClean="0">
                <a:latin typeface="+mj-lt"/>
              </a:rPr>
              <a:t>ính</a:t>
            </a:r>
            <a:r>
              <a:rPr lang="vi-VN" i="1" dirty="0" smtClean="0">
                <a:latin typeface="+mj-lt"/>
              </a:rPr>
              <a:t> </a:t>
            </a:r>
            <a:r>
              <a:rPr lang="vi-VN" i="1" dirty="0">
                <a:latin typeface="+mj-lt"/>
              </a:rPr>
              <a:t>sang nền sản xuất xã hội dựa </a:t>
            </a:r>
            <a:r>
              <a:rPr lang="vi-VN" i="1" dirty="0" smtClean="0">
                <a:latin typeface="+mj-lt"/>
              </a:rPr>
              <a:t>ch</a:t>
            </a:r>
            <a:r>
              <a:rPr lang="en-US" i="1" dirty="0" smtClean="0">
                <a:latin typeface="+mj-lt"/>
              </a:rPr>
              <a:t>ủ yếu</a:t>
            </a:r>
            <a:r>
              <a:rPr lang="vi-VN" i="1" dirty="0" smtClean="0">
                <a:latin typeface="+mj-lt"/>
              </a:rPr>
              <a:t> </a:t>
            </a:r>
            <a:r>
              <a:rPr lang="vi-VN" i="1" dirty="0">
                <a:latin typeface="+mj-lt"/>
              </a:rPr>
              <a:t>trên lao động bằng </a:t>
            </a:r>
            <a:r>
              <a:rPr lang="vi-VN" i="1" dirty="0" smtClean="0">
                <a:latin typeface="+mj-lt"/>
              </a:rPr>
              <a:t>m</a:t>
            </a:r>
            <a:r>
              <a:rPr lang="en-US" i="1" dirty="0">
                <a:latin typeface="+mj-lt"/>
              </a:rPr>
              <a:t>á</a:t>
            </a:r>
            <a:r>
              <a:rPr lang="vi-VN" i="1" dirty="0" smtClean="0">
                <a:latin typeface="+mj-lt"/>
              </a:rPr>
              <a:t>y </a:t>
            </a:r>
            <a:r>
              <a:rPr lang="vi-VN" i="1" dirty="0">
                <a:latin typeface="+mj-lt"/>
              </a:rPr>
              <a:t>móc nhằm tạo ra năng suất lao động xã hội cao.</a:t>
            </a:r>
            <a:endParaRPr lang="en-US" dirty="0">
              <a:latin typeface="+mj-lt"/>
            </a:endParaRPr>
          </a:p>
          <a:p>
            <a:pPr marL="0" indent="0">
              <a:buNone/>
            </a:pPr>
            <a:endParaRPr lang="en-US" dirty="0">
              <a:latin typeface="+mj-lt"/>
            </a:endParaRPr>
          </a:p>
        </p:txBody>
      </p:sp>
    </p:spTree>
    <p:extLst>
      <p:ext uri="{BB962C8B-B14F-4D97-AF65-F5344CB8AC3E}">
        <p14:creationId xmlns:p14="http://schemas.microsoft.com/office/powerpoint/2010/main" val="4015742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0553" y="649332"/>
            <a:ext cx="9310315" cy="946840"/>
          </a:xfrm>
        </p:spPr>
        <p:txBody>
          <a:bodyPr>
            <a:normAutofit fontScale="90000"/>
          </a:bodyPr>
          <a:lstStyle/>
          <a:p>
            <a:pPr lvl="0"/>
            <a:r>
              <a:rPr lang="vi-VN" dirty="0">
                <a:solidFill>
                  <a:srgbClr val="FF0000"/>
                </a:solidFill>
              </a:rPr>
              <a:t>Các mô hình công nghiệp hoá tiêu biểu trên thế </a:t>
            </a:r>
            <a:r>
              <a:rPr lang="vi-VN" dirty="0" smtClean="0">
                <a:solidFill>
                  <a:srgbClr val="FF0000"/>
                </a:solidFill>
              </a:rPr>
              <a:t>giới</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TextBox 3"/>
          <p:cNvSpPr txBox="1"/>
          <p:nvPr/>
        </p:nvSpPr>
        <p:spPr>
          <a:xfrm>
            <a:off x="518984" y="1754659"/>
            <a:ext cx="11170508" cy="523220"/>
          </a:xfrm>
          <a:prstGeom prst="rect">
            <a:avLst/>
          </a:prstGeom>
          <a:noFill/>
        </p:spPr>
        <p:txBody>
          <a:bodyPr wrap="square" rtlCol="0">
            <a:spAutoFit/>
          </a:bodyPr>
          <a:lstStyle/>
          <a:p>
            <a:r>
              <a:rPr lang="vi-VN" sz="2800" i="1" dirty="0">
                <a:latin typeface="+mj-lt"/>
              </a:rPr>
              <a:t>- Mô hình công nghiệp </a:t>
            </a:r>
            <a:r>
              <a:rPr lang="vi-VN" sz="2800" i="1" dirty="0" smtClean="0">
                <a:latin typeface="+mj-lt"/>
              </a:rPr>
              <a:t>ho</a:t>
            </a:r>
            <a:r>
              <a:rPr lang="en-US" sz="2800" i="1" dirty="0">
                <a:latin typeface="+mj-lt"/>
              </a:rPr>
              <a:t>á</a:t>
            </a:r>
            <a:r>
              <a:rPr lang="vi-VN" sz="2800" i="1" dirty="0" smtClean="0">
                <a:latin typeface="+mj-lt"/>
              </a:rPr>
              <a:t> </a:t>
            </a:r>
            <a:r>
              <a:rPr lang="vi-VN" sz="2800" i="1" dirty="0">
                <a:latin typeface="+mj-lt"/>
              </a:rPr>
              <a:t>cổ điển</a:t>
            </a:r>
            <a:endParaRPr lang="en-US" sz="2800" dirty="0">
              <a:latin typeface="+mj-lt"/>
            </a:endParaRPr>
          </a:p>
        </p:txBody>
      </p:sp>
      <p:sp>
        <p:nvSpPr>
          <p:cNvPr id="5" name="TextBox 4"/>
          <p:cNvSpPr txBox="1"/>
          <p:nvPr/>
        </p:nvSpPr>
        <p:spPr>
          <a:xfrm>
            <a:off x="914400" y="2656703"/>
            <a:ext cx="10280822" cy="2862322"/>
          </a:xfrm>
          <a:prstGeom prst="rect">
            <a:avLst/>
          </a:prstGeom>
          <a:noFill/>
        </p:spPr>
        <p:txBody>
          <a:bodyPr wrap="square" rtlCol="0">
            <a:spAutoFit/>
          </a:bodyPr>
          <a:lstStyle/>
          <a:p>
            <a:r>
              <a:rPr lang="vi-VN" sz="3000" dirty="0">
                <a:latin typeface="Times New Roman (Headings)"/>
              </a:rPr>
              <a:t>Công nghiệp hoá của các nước tư bản cổ điển, mà tiêu biểu là nước Anh được thực hiện gắn liền với cuộc cách mạng công nghiệp lần thứ nhất, </a:t>
            </a:r>
            <a:r>
              <a:rPr lang="vi-VN" sz="3000" dirty="0" smtClean="0">
                <a:latin typeface="Times New Roman (Headings)"/>
              </a:rPr>
              <a:t>n</a:t>
            </a:r>
            <a:r>
              <a:rPr lang="en-US" sz="3000" dirty="0" smtClean="0">
                <a:latin typeface="Times New Roman (Headings)"/>
              </a:rPr>
              <a:t>ổ</a:t>
            </a:r>
            <a:r>
              <a:rPr lang="vi-VN" sz="3000" dirty="0" smtClean="0">
                <a:latin typeface="Times New Roman (Headings)"/>
              </a:rPr>
              <a:t> </a:t>
            </a:r>
            <a:r>
              <a:rPr lang="vi-VN" sz="3000" dirty="0">
                <a:latin typeface="Times New Roman (Headings)"/>
              </a:rPr>
              <a:t>ra vào giữa thế kỳ </a:t>
            </a:r>
            <a:r>
              <a:rPr lang="vi-VN" sz="3000" dirty="0" smtClean="0">
                <a:latin typeface="Times New Roman (Headings)"/>
              </a:rPr>
              <a:t>X</a:t>
            </a:r>
            <a:r>
              <a:rPr lang="en-US" sz="3000" dirty="0" smtClean="0">
                <a:latin typeface="Times New Roman (Headings)"/>
              </a:rPr>
              <a:t>VIII</a:t>
            </a:r>
            <a:r>
              <a:rPr lang="vi-VN" sz="3000" dirty="0" smtClean="0">
                <a:latin typeface="Times New Roman (Headings)"/>
              </a:rPr>
              <a:t>. </a:t>
            </a:r>
            <a:r>
              <a:rPr lang="vi-VN" sz="3000" dirty="0">
                <a:latin typeface="Times New Roman (Headings)"/>
              </a:rPr>
              <a:t>Công nghiệp hoá ở nước Anh được bắt đầu từ ngành công nghiệp nhẹ, mà trực tiếp là ngành công nghiệp dệt là ngành đòi hỏi vốn ít, thu lợi nhuận nhanh.</a:t>
            </a:r>
            <a:endParaRPr lang="en-US" sz="3000" dirty="0">
              <a:latin typeface="Times New Roman (Headings)"/>
            </a:endParaRPr>
          </a:p>
        </p:txBody>
      </p:sp>
    </p:spTree>
    <p:extLst>
      <p:ext uri="{BB962C8B-B14F-4D97-AF65-F5344CB8AC3E}">
        <p14:creationId xmlns:p14="http://schemas.microsoft.com/office/powerpoint/2010/main" val="4061172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i="1" dirty="0"/>
              <a:t>Mô hình công nghiệp </a:t>
            </a:r>
            <a:r>
              <a:rPr lang="vi-VN" i="1" dirty="0" smtClean="0"/>
              <a:t>ho</a:t>
            </a:r>
            <a:r>
              <a:rPr lang="en-US" i="1" dirty="0"/>
              <a:t>á</a:t>
            </a:r>
            <a:r>
              <a:rPr lang="vi-VN" i="1" dirty="0" smtClean="0"/>
              <a:t> </a:t>
            </a:r>
            <a:r>
              <a:rPr lang="vi-VN" i="1" dirty="0"/>
              <a:t>kiêu Liên Xô (cũ</a:t>
            </a:r>
            <a:r>
              <a:rPr lang="vi-VN" i="1" dirty="0" smtClean="0"/>
              <a:t>)</a:t>
            </a:r>
            <a:endParaRPr lang="en-US" dirty="0"/>
          </a:p>
        </p:txBody>
      </p:sp>
      <p:sp>
        <p:nvSpPr>
          <p:cNvPr id="3" name="Content Placeholder 2"/>
          <p:cNvSpPr>
            <a:spLocks noGrp="1"/>
          </p:cNvSpPr>
          <p:nvPr>
            <p:ph idx="1"/>
          </p:nvPr>
        </p:nvSpPr>
        <p:spPr>
          <a:xfrm>
            <a:off x="535423" y="2568056"/>
            <a:ext cx="11100021" cy="1237824"/>
          </a:xfrm>
        </p:spPr>
        <p:txBody>
          <a:bodyPr/>
          <a:lstStyle/>
          <a:p>
            <a:pPr marL="0" indent="0">
              <a:buNone/>
            </a:pPr>
            <a:r>
              <a:rPr lang="vi-VN" dirty="0"/>
              <a:t>Con đường công nghiệp hoá theo mô hình Liên Xô (cũ) thường là </a:t>
            </a:r>
            <a:r>
              <a:rPr lang="vi-VN" i="1" dirty="0"/>
              <a:t>ưu tiên phát triên công nghiệp nặng.</a:t>
            </a:r>
            <a:endParaRPr lang="en-US" dirty="0"/>
          </a:p>
        </p:txBody>
      </p:sp>
    </p:spTree>
    <p:extLst>
      <p:ext uri="{BB962C8B-B14F-4D97-AF65-F5344CB8AC3E}">
        <p14:creationId xmlns:p14="http://schemas.microsoft.com/office/powerpoint/2010/main" val="3695008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i="1" dirty="0" smtClean="0"/>
              <a:t>M</a:t>
            </a:r>
            <a:r>
              <a:rPr lang="en-US" i="1" dirty="0"/>
              <a:t>ô</a:t>
            </a:r>
            <a:r>
              <a:rPr lang="vi-VN" i="1" dirty="0" smtClean="0"/>
              <a:t> </a:t>
            </a:r>
            <a:r>
              <a:rPr lang="vi-VN" i="1" dirty="0"/>
              <a:t>hình công nghiệp </a:t>
            </a:r>
            <a:r>
              <a:rPr lang="vi-VN" i="1" dirty="0" smtClean="0"/>
              <a:t>h</a:t>
            </a:r>
            <a:r>
              <a:rPr lang="en-US" i="1" dirty="0" smtClean="0"/>
              <a:t>óa</a:t>
            </a:r>
            <a:r>
              <a:rPr lang="vi-VN" i="1" dirty="0" smtClean="0"/>
              <a:t> </a:t>
            </a:r>
            <a:r>
              <a:rPr lang="vi-VN" i="1" dirty="0"/>
              <a:t>của Nhật Bản và các nước công nghiệp mới (NICs</a:t>
            </a:r>
            <a:r>
              <a:rPr lang="vi-VN" i="1" dirty="0" smtClean="0"/>
              <a:t>)</a:t>
            </a:r>
            <a:endParaRPr lang="en-US" dirty="0"/>
          </a:p>
        </p:txBody>
      </p:sp>
      <p:sp>
        <p:nvSpPr>
          <p:cNvPr id="3" name="Content Placeholder 2"/>
          <p:cNvSpPr>
            <a:spLocks noGrp="1"/>
          </p:cNvSpPr>
          <p:nvPr>
            <p:ph idx="1"/>
          </p:nvPr>
        </p:nvSpPr>
        <p:spPr>
          <a:xfrm>
            <a:off x="523066" y="2246781"/>
            <a:ext cx="11100021" cy="2473500"/>
          </a:xfrm>
        </p:spPr>
        <p:txBody>
          <a:bodyPr/>
          <a:lstStyle/>
          <a:p>
            <a:pPr marL="0" indent="0">
              <a:buNone/>
            </a:pPr>
            <a:r>
              <a:rPr lang="vi-VN" dirty="0" smtClean="0">
                <a:latin typeface="+mj-lt"/>
              </a:rPr>
              <a:t>Chiến </a:t>
            </a:r>
            <a:r>
              <a:rPr lang="vi-VN" dirty="0">
                <a:latin typeface="+mj-lt"/>
              </a:rPr>
              <a:t>lược công nghiệp hoá của các nước này, thực chất là chiến lược công nghiệp hoá rút ngắn, đẩy mạnh xuất khẩu, phát triển sản xuất trong nước thay thế hàng nhập khẩu, thông qua việc tận dụng lợi thế về khoa học, công nghệ của các nước đi trước, cùng với việc phát huy nguồn lực và lợi thế trong nước, thu hút nguồn lực từ bên ngoài để tiến hành công nghiệp hoá </a:t>
            </a:r>
            <a:r>
              <a:rPr lang="vi-VN" dirty="0" smtClean="0">
                <a:latin typeface="+mj-lt"/>
              </a:rPr>
              <a:t>g</a:t>
            </a:r>
            <a:r>
              <a:rPr lang="en-US" dirty="0" smtClean="0">
                <a:latin typeface="+mj-lt"/>
              </a:rPr>
              <a:t>ắ</a:t>
            </a:r>
            <a:r>
              <a:rPr lang="vi-VN" dirty="0" smtClean="0">
                <a:latin typeface="+mj-lt"/>
              </a:rPr>
              <a:t>n </a:t>
            </a:r>
            <a:r>
              <a:rPr lang="vi-VN" dirty="0">
                <a:latin typeface="+mj-lt"/>
              </a:rPr>
              <a:t>với hiện đại hoá.</a:t>
            </a:r>
            <a:endParaRPr lang="en-US" dirty="0">
              <a:latin typeface="+mj-lt"/>
            </a:endParaRPr>
          </a:p>
        </p:txBody>
      </p:sp>
    </p:spTree>
    <p:extLst>
      <p:ext uri="{BB962C8B-B14F-4D97-AF65-F5344CB8AC3E}">
        <p14:creationId xmlns:p14="http://schemas.microsoft.com/office/powerpoint/2010/main" val="2196561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2976" y="501051"/>
            <a:ext cx="9310315" cy="1698452"/>
          </a:xfrm>
        </p:spPr>
        <p:txBody>
          <a:bodyPr>
            <a:normAutofit fontScale="90000"/>
          </a:bodyPr>
          <a:lstStyle/>
          <a:p>
            <a:r>
              <a:rPr lang="vi-VN" b="1" dirty="0">
                <a:solidFill>
                  <a:srgbClr val="FF0000"/>
                </a:solidFill>
                <a:latin typeface="Times New Roman (Headings)"/>
              </a:rPr>
              <a:t>6.1.2 Tính tất yếu khách quan và nội dung cua công nghiệp hóa, hiện đại hóa </a:t>
            </a:r>
            <a:r>
              <a:rPr lang="en-US" b="1" dirty="0" smtClean="0">
                <a:solidFill>
                  <a:srgbClr val="FF0000"/>
                </a:solidFill>
                <a:latin typeface="Times New Roman (Headings)"/>
              </a:rPr>
              <a:t>ở</a:t>
            </a:r>
            <a:r>
              <a:rPr lang="vi-VN" b="1" dirty="0" smtClean="0">
                <a:solidFill>
                  <a:srgbClr val="FF0000"/>
                </a:solidFill>
                <a:latin typeface="Times New Roman (Headings)"/>
              </a:rPr>
              <a:t> </a:t>
            </a:r>
            <a:r>
              <a:rPr lang="vi-VN" b="1" dirty="0">
                <a:solidFill>
                  <a:srgbClr val="FF0000"/>
                </a:solidFill>
                <a:latin typeface="Times New Roman (Headings)"/>
              </a:rPr>
              <a:t>Việt </a:t>
            </a:r>
            <a:r>
              <a:rPr lang="vi-VN" b="1" dirty="0" smtClean="0">
                <a:solidFill>
                  <a:srgbClr val="FF0000"/>
                </a:solidFill>
                <a:latin typeface="Times New Roman (Headings)"/>
              </a:rPr>
              <a:t>Nam</a:t>
            </a:r>
            <a:endParaRPr lang="en-US" dirty="0">
              <a:solidFill>
                <a:srgbClr val="FF0000"/>
              </a:solidFill>
              <a:latin typeface="Times New Roman (Headings)"/>
            </a:endParaRPr>
          </a:p>
        </p:txBody>
      </p:sp>
      <p:sp>
        <p:nvSpPr>
          <p:cNvPr id="3" name="Content Placeholder 2"/>
          <p:cNvSpPr>
            <a:spLocks noGrp="1"/>
          </p:cNvSpPr>
          <p:nvPr>
            <p:ph idx="1"/>
          </p:nvPr>
        </p:nvSpPr>
        <p:spPr>
          <a:xfrm>
            <a:off x="362428" y="3188041"/>
            <a:ext cx="11100021" cy="3665443"/>
          </a:xfrm>
        </p:spPr>
        <p:txBody>
          <a:bodyPr/>
          <a:lstStyle/>
          <a:p>
            <a:pPr marL="0" indent="0">
              <a:buNone/>
            </a:pPr>
            <a:r>
              <a:rPr lang="vi-VN" i="1" dirty="0">
                <a:latin typeface="+mj-lt"/>
              </a:rPr>
              <a:t>Công nghiệp hỏa, hiện đại </a:t>
            </a:r>
            <a:r>
              <a:rPr lang="vi-VN" i="1" dirty="0" smtClean="0">
                <a:latin typeface="+mj-lt"/>
              </a:rPr>
              <a:t>h</a:t>
            </a:r>
            <a:r>
              <a:rPr lang="en-US" i="1" dirty="0">
                <a:latin typeface="+mj-lt"/>
              </a:rPr>
              <a:t>ó</a:t>
            </a:r>
            <a:r>
              <a:rPr lang="vi-VN" i="1" dirty="0" smtClean="0">
                <a:latin typeface="+mj-lt"/>
              </a:rPr>
              <a:t>a </a:t>
            </a:r>
            <a:r>
              <a:rPr lang="vi-VN" i="1" dirty="0">
                <a:latin typeface="+mj-lt"/>
              </a:rPr>
              <a:t>là quá trình chuyển đổi căn bản, toàn diện các hoạt động sản </a:t>
            </a:r>
            <a:r>
              <a:rPr lang="vi-VN" i="1" dirty="0" smtClean="0">
                <a:latin typeface="+mj-lt"/>
              </a:rPr>
              <a:t>xu</a:t>
            </a:r>
            <a:r>
              <a:rPr lang="en-US" i="1" dirty="0" smtClean="0">
                <a:latin typeface="+mj-lt"/>
              </a:rPr>
              <a:t>ấ</a:t>
            </a:r>
            <a:r>
              <a:rPr lang="vi-VN" i="1" dirty="0" smtClean="0">
                <a:latin typeface="+mj-lt"/>
              </a:rPr>
              <a:t>t </a:t>
            </a:r>
            <a:r>
              <a:rPr lang="vi-VN" i="1" dirty="0">
                <a:latin typeface="+mj-lt"/>
              </a:rPr>
              <a:t>kinh doanh, dịch vụ và quản </a:t>
            </a:r>
            <a:r>
              <a:rPr lang="vi-VN" i="1" dirty="0" smtClean="0">
                <a:latin typeface="+mj-lt"/>
              </a:rPr>
              <a:t>l</a:t>
            </a:r>
            <a:r>
              <a:rPr lang="en-US" i="1" dirty="0" smtClean="0">
                <a:latin typeface="+mj-lt"/>
              </a:rPr>
              <a:t>ý </a:t>
            </a:r>
            <a:r>
              <a:rPr lang="vi-VN" i="1" dirty="0" smtClean="0">
                <a:latin typeface="+mj-lt"/>
              </a:rPr>
              <a:t>kinh t</a:t>
            </a:r>
            <a:r>
              <a:rPr lang="en-US" i="1" dirty="0" smtClean="0">
                <a:latin typeface="+mj-lt"/>
              </a:rPr>
              <a:t>ế</a:t>
            </a:r>
            <a:r>
              <a:rPr lang="vi-VN" i="1" dirty="0" smtClean="0">
                <a:latin typeface="+mj-lt"/>
              </a:rPr>
              <a:t> </a:t>
            </a:r>
            <a:r>
              <a:rPr lang="vi-VN" i="1" dirty="0">
                <a:latin typeface="+mj-lt"/>
              </a:rPr>
              <a:t>- xã hội, từ sử dụng sức lao động thủ công là </a:t>
            </a:r>
            <a:r>
              <a:rPr lang="vi-VN" i="1" dirty="0" smtClean="0">
                <a:latin typeface="+mj-lt"/>
              </a:rPr>
              <a:t>ch</a:t>
            </a:r>
            <a:r>
              <a:rPr lang="en-US" i="1" dirty="0">
                <a:latin typeface="+mj-lt"/>
              </a:rPr>
              <a:t>í</a:t>
            </a:r>
            <a:r>
              <a:rPr lang="vi-VN" i="1" dirty="0" smtClean="0">
                <a:latin typeface="+mj-lt"/>
              </a:rPr>
              <a:t>nh </a:t>
            </a:r>
            <a:r>
              <a:rPr lang="vi-VN" i="1" dirty="0">
                <a:latin typeface="+mj-lt"/>
              </a:rPr>
              <a:t>sang sừ dụng một cách phô biến sức lao động với công nghệ, phương tiện, phương pháp tiên tiên hiện đại, dựa trên sự phát triển của công nghiệp và tiến bộ khoa học công nghệ, nhằm tạo ra </a:t>
            </a:r>
            <a:r>
              <a:rPr lang="vi-VN" i="1" dirty="0" smtClean="0">
                <a:latin typeface="+mj-lt"/>
              </a:rPr>
              <a:t>n</a:t>
            </a:r>
            <a:r>
              <a:rPr lang="en-US" i="1" dirty="0">
                <a:latin typeface="+mj-lt"/>
              </a:rPr>
              <a:t>ă</a:t>
            </a:r>
            <a:r>
              <a:rPr lang="vi-VN" i="1" dirty="0" smtClean="0">
                <a:latin typeface="+mj-lt"/>
              </a:rPr>
              <a:t>ng su</a:t>
            </a:r>
            <a:r>
              <a:rPr lang="en-US" i="1" dirty="0" smtClean="0">
                <a:latin typeface="+mj-lt"/>
              </a:rPr>
              <a:t>ấ</a:t>
            </a:r>
            <a:r>
              <a:rPr lang="vi-VN" i="1" dirty="0" smtClean="0">
                <a:latin typeface="+mj-lt"/>
              </a:rPr>
              <a:t>t </a:t>
            </a:r>
            <a:r>
              <a:rPr lang="vi-VN" i="1" dirty="0">
                <a:latin typeface="+mj-lt"/>
              </a:rPr>
              <a:t>lao động xã hội cao.</a:t>
            </a:r>
            <a:endParaRPr lang="en-US" dirty="0">
              <a:latin typeface="+mj-lt"/>
            </a:endParaRPr>
          </a:p>
          <a:p>
            <a:pPr marL="0" indent="0">
              <a:buNone/>
            </a:pPr>
            <a:endParaRPr lang="en-US" dirty="0">
              <a:latin typeface="+mj-lt"/>
            </a:endParaRPr>
          </a:p>
        </p:txBody>
      </p:sp>
      <p:sp>
        <p:nvSpPr>
          <p:cNvPr id="4" name="TextBox 3"/>
          <p:cNvSpPr txBox="1"/>
          <p:nvPr/>
        </p:nvSpPr>
        <p:spPr>
          <a:xfrm>
            <a:off x="506627" y="2211859"/>
            <a:ext cx="11145795" cy="523220"/>
          </a:xfrm>
          <a:prstGeom prst="rect">
            <a:avLst/>
          </a:prstGeom>
          <a:noFill/>
        </p:spPr>
        <p:txBody>
          <a:bodyPr wrap="square" rtlCol="0">
            <a:spAutoFit/>
          </a:bodyPr>
          <a:lstStyle/>
          <a:p>
            <a:r>
              <a:rPr lang="en-US" sz="2800" i="1" dirty="0" smtClean="0">
                <a:latin typeface="Times New Roman (Headings)"/>
              </a:rPr>
              <a:t>6.1.2.1. Tính</a:t>
            </a:r>
            <a:r>
              <a:rPr lang="vi-VN" sz="2800" i="1" dirty="0" smtClean="0">
                <a:latin typeface="Times New Roman (Headings)"/>
              </a:rPr>
              <a:t> </a:t>
            </a:r>
            <a:r>
              <a:rPr lang="vi-VN" sz="2800" i="1" dirty="0">
                <a:latin typeface="Times New Roman (Headings)"/>
              </a:rPr>
              <a:t>tất yếu của công nghiệp hóa, hiện đại hóa ở Việt Nam</a:t>
            </a:r>
            <a:endParaRPr lang="en-US" sz="2800" dirty="0">
              <a:latin typeface="Times New Roman (Headings)"/>
            </a:endParaRPr>
          </a:p>
        </p:txBody>
      </p:sp>
    </p:spTree>
    <p:extLst>
      <p:ext uri="{BB962C8B-B14F-4D97-AF65-F5344CB8AC3E}">
        <p14:creationId xmlns:p14="http://schemas.microsoft.com/office/powerpoint/2010/main" val="1124459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3762" y="1458097"/>
            <a:ext cx="10861589" cy="4524315"/>
          </a:xfrm>
          <a:prstGeom prst="rect">
            <a:avLst/>
          </a:prstGeom>
          <a:noFill/>
        </p:spPr>
        <p:txBody>
          <a:bodyPr wrap="square" rtlCol="0">
            <a:spAutoFit/>
          </a:bodyPr>
          <a:lstStyle/>
          <a:p>
            <a:r>
              <a:rPr lang="vi-VN" sz="3200" dirty="0">
                <a:latin typeface="Times New Roman (Headings)"/>
              </a:rPr>
              <a:t>Một là, lý luận và thực tiễn cho thấy, công nghiệp hóa là quy luật phổ biến của sự phát triển lực lượng sản xuất xã hội mà mọi quốc gia đều trải qua dù ở các quốc gia phát triển sớm hay các quốc gia đi sau</a:t>
            </a:r>
            <a:r>
              <a:rPr lang="vi-VN" sz="3200" dirty="0" smtClean="0">
                <a:latin typeface="Times New Roman (Headings)"/>
              </a:rPr>
              <a:t>.</a:t>
            </a:r>
            <a:endParaRPr lang="en-US" sz="3200" dirty="0" smtClean="0">
              <a:latin typeface="Times New Roman (Headings)"/>
            </a:endParaRPr>
          </a:p>
          <a:p>
            <a:endParaRPr lang="en-US" sz="3200" dirty="0">
              <a:latin typeface="Times New Roman (Headings)"/>
            </a:endParaRPr>
          </a:p>
          <a:p>
            <a:r>
              <a:rPr lang="vi-VN" sz="3200" dirty="0">
                <a:latin typeface="Times New Roman (Headings)"/>
              </a:rPr>
              <a:t>Hai là, đối với các nước có nền kinh tế kém phát triển quá độ lên chủ nghĩa xã hội như nước ta, xây dựng cơ sờ vật chất - kỹ thuật cho chủ nghĩa xã hội phải thực hiện từ </a:t>
            </a:r>
            <a:r>
              <a:rPr lang="en-US" sz="3200" dirty="0">
                <a:latin typeface="Times New Roman (Headings)"/>
              </a:rPr>
              <a:t>đ</a:t>
            </a:r>
            <a:r>
              <a:rPr lang="vi-VN" sz="3200" dirty="0" smtClean="0">
                <a:latin typeface="Times New Roman (Headings)"/>
              </a:rPr>
              <a:t>ầu </a:t>
            </a:r>
            <a:r>
              <a:rPr lang="vi-VN" sz="3200" dirty="0">
                <a:latin typeface="Times New Roman (Headings)"/>
              </a:rPr>
              <a:t>thông qua công nghiệp hóa, hiện đại hóa.</a:t>
            </a:r>
            <a:endParaRPr lang="en-US" sz="3200" dirty="0">
              <a:latin typeface="Times New Roman (Headings)"/>
            </a:endParaRPr>
          </a:p>
        </p:txBody>
      </p:sp>
    </p:spTree>
    <p:extLst>
      <p:ext uri="{BB962C8B-B14F-4D97-AF65-F5344CB8AC3E}">
        <p14:creationId xmlns:p14="http://schemas.microsoft.com/office/powerpoint/2010/main" val="2458751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rPr>
              <a:t>6.1.2.2. </a:t>
            </a:r>
            <a:r>
              <a:rPr lang="vi-VN" i="1" dirty="0" smtClean="0">
                <a:solidFill>
                  <a:srgbClr val="FF0000"/>
                </a:solidFill>
              </a:rPr>
              <a:t>Nội </a:t>
            </a:r>
            <a:r>
              <a:rPr lang="vi-VN" i="1" dirty="0">
                <a:solidFill>
                  <a:srgbClr val="FF0000"/>
                </a:solidFill>
              </a:rPr>
              <a:t>dung công nghiệp hóa, hiện đại hóa ở Việt Nam</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vi-VN" i="1" dirty="0">
                <a:latin typeface="+mj-lt"/>
              </a:rPr>
              <a:t>Một là,</a:t>
            </a:r>
            <a:r>
              <a:rPr lang="vi-VN" dirty="0">
                <a:latin typeface="+mj-lt"/>
              </a:rPr>
              <a:t> tạo lập những điều kiện để có thể thực hiện chuyển đối từ nền sản xuất - xã hội lạc hậu sang nền sản xuất - xã hội tiến bộ</a:t>
            </a:r>
            <a:r>
              <a:rPr lang="vi-VN" dirty="0" smtClean="0">
                <a:latin typeface="+mj-lt"/>
              </a:rPr>
              <a:t>.</a:t>
            </a:r>
            <a:endParaRPr lang="en-US" dirty="0" smtClean="0">
              <a:latin typeface="+mj-lt"/>
            </a:endParaRPr>
          </a:p>
          <a:p>
            <a:endParaRPr lang="en-US" dirty="0">
              <a:latin typeface="+mj-lt"/>
            </a:endParaRPr>
          </a:p>
          <a:p>
            <a:pPr marL="0" indent="0">
              <a:buNone/>
            </a:pPr>
            <a:r>
              <a:rPr lang="vi-VN" dirty="0">
                <a:latin typeface="+mj-lt"/>
              </a:rPr>
              <a:t>Muốn thực hiện chuyền đổi trình độ phát triển, đòi hỏi phải dựa trên những tiền đề trong nước, quốc tế. </a:t>
            </a:r>
            <a:endParaRPr lang="en-US" dirty="0">
              <a:latin typeface="+mj-lt"/>
            </a:endParaRPr>
          </a:p>
        </p:txBody>
      </p:sp>
    </p:spTree>
    <p:extLst>
      <p:ext uri="{BB962C8B-B14F-4D97-AF65-F5344CB8AC3E}">
        <p14:creationId xmlns:p14="http://schemas.microsoft.com/office/powerpoint/2010/main" val="133302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503" y="0"/>
            <a:ext cx="9191367" cy="2106225"/>
          </a:xfrm>
        </p:spPr>
        <p:txBody>
          <a:bodyPr>
            <a:normAutofit/>
          </a:bodyPr>
          <a:lstStyle/>
          <a:p>
            <a:r>
              <a:rPr lang="vi-VN" sz="3200" i="1" dirty="0">
                <a:latin typeface="Times New Roman (Headings)"/>
              </a:rPr>
              <a:t>Hai là,</a:t>
            </a:r>
            <a:r>
              <a:rPr lang="vi-VN" sz="3200" dirty="0">
                <a:latin typeface="Times New Roman (Headings)"/>
              </a:rPr>
              <a:t> thực hiện các nhiệ</a:t>
            </a:r>
            <a:r>
              <a:rPr lang="en-US" sz="3200" dirty="0">
                <a:latin typeface="Times New Roman (Headings)"/>
              </a:rPr>
              <a:t>m</a:t>
            </a:r>
            <a:r>
              <a:rPr lang="vi-VN" sz="3200" dirty="0">
                <a:latin typeface="Times New Roman (Headings)"/>
              </a:rPr>
              <a:t> vụ để chuyển </a:t>
            </a:r>
            <a:r>
              <a:rPr lang="en-US" sz="3200" dirty="0">
                <a:latin typeface="Times New Roman (Headings)"/>
              </a:rPr>
              <a:t>đổi</a:t>
            </a:r>
            <a:r>
              <a:rPr lang="vi-VN" sz="3200" dirty="0">
                <a:latin typeface="Times New Roman (Headings)"/>
              </a:rPr>
              <a:t> nền sản xuất - xã hội lạc hậu sang nền sản xuất - xã hội hiện đại</a:t>
            </a:r>
            <a:r>
              <a:rPr lang="vi-VN" sz="3200" dirty="0" smtClean="0">
                <a:latin typeface="Times New Roman (Headings)"/>
              </a:rPr>
              <a:t>.</a:t>
            </a:r>
            <a:endParaRPr lang="en-US" sz="3200" dirty="0">
              <a:latin typeface="Times New Roman (Headings)"/>
            </a:endParaRPr>
          </a:p>
        </p:txBody>
      </p:sp>
      <p:sp>
        <p:nvSpPr>
          <p:cNvPr id="3" name="Content Placeholder 2"/>
          <p:cNvSpPr>
            <a:spLocks noGrp="1"/>
          </p:cNvSpPr>
          <p:nvPr>
            <p:ph idx="1"/>
          </p:nvPr>
        </p:nvSpPr>
        <p:spPr>
          <a:xfrm>
            <a:off x="572493" y="1853514"/>
            <a:ext cx="11100021" cy="4443919"/>
          </a:xfrm>
        </p:spPr>
        <p:txBody>
          <a:bodyPr/>
          <a:lstStyle/>
          <a:p>
            <a:r>
              <a:rPr lang="vi-VN" dirty="0" smtClean="0">
                <a:latin typeface="+mj-lt"/>
              </a:rPr>
              <a:t>Đẩy </a:t>
            </a:r>
            <a:r>
              <a:rPr lang="vi-VN" dirty="0">
                <a:latin typeface="+mj-lt"/>
              </a:rPr>
              <a:t>mạnh ứng dụng những thành tựu khoa học, công nghệ mới, hiện đại</a:t>
            </a:r>
            <a:endParaRPr lang="en-US" dirty="0">
              <a:latin typeface="+mj-lt"/>
            </a:endParaRPr>
          </a:p>
          <a:p>
            <a:r>
              <a:rPr lang="vi-VN" dirty="0" smtClean="0">
                <a:latin typeface="+mj-lt"/>
              </a:rPr>
              <a:t>Chuyền </a:t>
            </a:r>
            <a:r>
              <a:rPr lang="vi-VN" dirty="0">
                <a:latin typeface="+mj-lt"/>
              </a:rPr>
              <a:t>đổi cơ cấu kinh tế theo hướng hiện đại, hợp lý và hiệu quả</a:t>
            </a:r>
            <a:endParaRPr lang="en-US" dirty="0">
              <a:latin typeface="+mj-lt"/>
            </a:endParaRPr>
          </a:p>
          <a:p>
            <a:r>
              <a:rPr lang="vi-VN" dirty="0">
                <a:latin typeface="+mj-lt"/>
              </a:rPr>
              <a:t>Từng bước hoàn thiện quan hệ sản xuất phù hợp với trình độ phát triển của lực lượng sản xuất</a:t>
            </a:r>
            <a:endParaRPr lang="en-US" dirty="0">
              <a:latin typeface="+mj-lt"/>
            </a:endParaRPr>
          </a:p>
          <a:p>
            <a:r>
              <a:rPr lang="vi-VN" dirty="0" smtClean="0">
                <a:latin typeface="+mj-lt"/>
              </a:rPr>
              <a:t>Sẵn sàng </a:t>
            </a:r>
            <a:r>
              <a:rPr lang="vi-VN" dirty="0">
                <a:latin typeface="+mj-lt"/>
              </a:rPr>
              <a:t>thích ứng với tác động của bối cảnh cách mạng công nghiệp làn thứ tư (4.0)</a:t>
            </a:r>
            <a:endParaRPr lang="en-US" dirty="0">
              <a:latin typeface="+mj-lt"/>
            </a:endParaRPr>
          </a:p>
          <a:p>
            <a:pPr marL="0" indent="0">
              <a:buNone/>
            </a:pPr>
            <a:endParaRPr lang="en-US" dirty="0">
              <a:latin typeface="+mj-lt"/>
            </a:endParaRPr>
          </a:p>
        </p:txBody>
      </p:sp>
    </p:spTree>
    <p:extLst>
      <p:ext uri="{BB962C8B-B14F-4D97-AF65-F5344CB8AC3E}">
        <p14:creationId xmlns:p14="http://schemas.microsoft.com/office/powerpoint/2010/main" val="1251812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3200" b="1" dirty="0" smtClean="0">
                <a:solidFill>
                  <a:srgbClr val="FF0000"/>
                </a:solidFill>
                <a:latin typeface="Times New Roman (Headings)"/>
              </a:rPr>
              <a:t>6.2. </a:t>
            </a:r>
            <a:r>
              <a:rPr lang="vi-VN" sz="3200" b="1" dirty="0" smtClean="0">
                <a:solidFill>
                  <a:srgbClr val="FF0000"/>
                </a:solidFill>
                <a:latin typeface="Times New Roman (Headings)"/>
              </a:rPr>
              <a:t>HỘI </a:t>
            </a:r>
            <a:r>
              <a:rPr lang="vi-VN" sz="3200" b="1" dirty="0">
                <a:solidFill>
                  <a:srgbClr val="FF0000"/>
                </a:solidFill>
                <a:latin typeface="Times New Roman (Headings)"/>
              </a:rPr>
              <a:t>NHẬP KINH TẾ QUỐC TẾ CỦA VIỆT </a:t>
            </a:r>
            <a:r>
              <a:rPr lang="vi-VN" sz="3200" b="1" dirty="0" smtClean="0">
                <a:solidFill>
                  <a:srgbClr val="FF0000"/>
                </a:solidFill>
                <a:latin typeface="Times New Roman (Headings)"/>
              </a:rPr>
              <a:t>NAM</a:t>
            </a:r>
            <a:endParaRPr lang="en-US" sz="3200" b="1" dirty="0">
              <a:solidFill>
                <a:srgbClr val="FF0000"/>
              </a:solidFill>
              <a:latin typeface="Times New Roman (Headings)"/>
            </a:endParaRPr>
          </a:p>
        </p:txBody>
      </p:sp>
      <p:sp>
        <p:nvSpPr>
          <p:cNvPr id="4" name="TextBox 3"/>
          <p:cNvSpPr txBox="1"/>
          <p:nvPr/>
        </p:nvSpPr>
        <p:spPr>
          <a:xfrm>
            <a:off x="679622" y="1507524"/>
            <a:ext cx="10577383" cy="523220"/>
          </a:xfrm>
          <a:prstGeom prst="rect">
            <a:avLst/>
          </a:prstGeom>
          <a:noFill/>
        </p:spPr>
        <p:txBody>
          <a:bodyPr wrap="square" rtlCol="0">
            <a:spAutoFit/>
          </a:bodyPr>
          <a:lstStyle/>
          <a:p>
            <a:r>
              <a:rPr lang="en-US" sz="2800" b="1" dirty="0" smtClean="0">
                <a:latin typeface="Times New Roman (Headings)"/>
              </a:rPr>
              <a:t>6.2.1. </a:t>
            </a:r>
            <a:r>
              <a:rPr lang="vi-VN" sz="2800" b="1" dirty="0" smtClean="0">
                <a:latin typeface="Times New Roman (Headings)"/>
              </a:rPr>
              <a:t>Khái </a:t>
            </a:r>
            <a:r>
              <a:rPr lang="vi-VN" sz="2800" b="1" dirty="0">
                <a:latin typeface="Times New Roman (Headings)"/>
              </a:rPr>
              <a:t>niệm và nội dung hội nhập kinh tế quốc </a:t>
            </a:r>
            <a:r>
              <a:rPr lang="vi-VN" sz="2800" b="1" dirty="0" smtClean="0">
                <a:latin typeface="Times New Roman (Headings)"/>
              </a:rPr>
              <a:t>t</a:t>
            </a:r>
            <a:r>
              <a:rPr lang="en-US" sz="2800" b="1" dirty="0" smtClean="0">
                <a:latin typeface="Times New Roman (Headings)"/>
              </a:rPr>
              <a:t>ế</a:t>
            </a:r>
            <a:endParaRPr lang="en-US" sz="2800" b="1" dirty="0">
              <a:latin typeface="Times New Roman (Headings)"/>
            </a:endParaRPr>
          </a:p>
        </p:txBody>
      </p:sp>
      <p:sp>
        <p:nvSpPr>
          <p:cNvPr id="5" name="TextBox 4"/>
          <p:cNvSpPr txBox="1"/>
          <p:nvPr/>
        </p:nvSpPr>
        <p:spPr>
          <a:xfrm>
            <a:off x="679622" y="2199503"/>
            <a:ext cx="9798908" cy="1384995"/>
          </a:xfrm>
          <a:prstGeom prst="rect">
            <a:avLst/>
          </a:prstGeom>
          <a:noFill/>
        </p:spPr>
        <p:txBody>
          <a:bodyPr wrap="square" rtlCol="0">
            <a:spAutoFit/>
          </a:bodyPr>
          <a:lstStyle/>
          <a:p>
            <a:pPr lvl="0"/>
            <a:r>
              <a:rPr lang="en-US" sz="2800" i="1" dirty="0" smtClean="0">
                <a:latin typeface="Times New Roman (Headings)"/>
              </a:rPr>
              <a:t>6.2.1.1. </a:t>
            </a:r>
            <a:r>
              <a:rPr lang="vi-VN" sz="2800" i="1" dirty="0" smtClean="0">
                <a:latin typeface="Times New Roman (Headings)"/>
              </a:rPr>
              <a:t>Kh</a:t>
            </a:r>
            <a:r>
              <a:rPr lang="en-US" sz="2800" i="1" dirty="0">
                <a:latin typeface="Times New Roman (Headings)"/>
              </a:rPr>
              <a:t>á</a:t>
            </a:r>
            <a:r>
              <a:rPr lang="vi-VN" sz="2800" i="1" dirty="0" smtClean="0">
                <a:latin typeface="Times New Roman (Headings)"/>
              </a:rPr>
              <a:t>i </a:t>
            </a:r>
            <a:r>
              <a:rPr lang="vi-VN" sz="2800" i="1" dirty="0">
                <a:latin typeface="Times New Roman (Headings)"/>
              </a:rPr>
              <a:t>niệm và sự cần thiết khách quan hội nhập kinh </a:t>
            </a:r>
            <a:r>
              <a:rPr lang="vi-VN" sz="2800" i="1" dirty="0" smtClean="0">
                <a:latin typeface="Times New Roman (Headings)"/>
              </a:rPr>
              <a:t>t</a:t>
            </a:r>
            <a:r>
              <a:rPr lang="en-US" sz="2800" i="1" dirty="0" smtClean="0">
                <a:latin typeface="Times New Roman (Headings)"/>
              </a:rPr>
              <a:t>ế </a:t>
            </a:r>
            <a:r>
              <a:rPr lang="vi-VN" sz="2800" i="1" dirty="0" smtClean="0">
                <a:latin typeface="Times New Roman (Headings)"/>
              </a:rPr>
              <a:t>quốc </a:t>
            </a:r>
            <a:r>
              <a:rPr lang="vi-VN" sz="2800" i="1" dirty="0">
                <a:latin typeface="Times New Roman (Headings)"/>
              </a:rPr>
              <a:t>tế</a:t>
            </a:r>
            <a:endParaRPr lang="en-US" sz="2800" dirty="0">
              <a:latin typeface="Times New Roman (Headings)"/>
            </a:endParaRPr>
          </a:p>
          <a:p>
            <a:endParaRPr lang="en-US" sz="2800" dirty="0">
              <a:latin typeface="Times New Roman (Headings)"/>
            </a:endParaRPr>
          </a:p>
        </p:txBody>
      </p:sp>
      <p:sp>
        <p:nvSpPr>
          <p:cNvPr id="6" name="TextBox 5"/>
          <p:cNvSpPr txBox="1"/>
          <p:nvPr/>
        </p:nvSpPr>
        <p:spPr>
          <a:xfrm>
            <a:off x="840259" y="3385751"/>
            <a:ext cx="9724768" cy="2308324"/>
          </a:xfrm>
          <a:prstGeom prst="rect">
            <a:avLst/>
          </a:prstGeom>
          <a:noFill/>
        </p:spPr>
        <p:txBody>
          <a:bodyPr wrap="square" rtlCol="0">
            <a:spAutoFit/>
          </a:bodyPr>
          <a:lstStyle/>
          <a:p>
            <a:r>
              <a:rPr lang="vi-VN" sz="2400" i="1" dirty="0" smtClean="0">
                <a:solidFill>
                  <a:srgbClr val="FF0000"/>
                </a:solidFill>
              </a:rPr>
              <a:t>Kh</a:t>
            </a:r>
            <a:r>
              <a:rPr lang="en-US" sz="2400" i="1" dirty="0" smtClean="0">
                <a:solidFill>
                  <a:srgbClr val="FF0000"/>
                </a:solidFill>
              </a:rPr>
              <a:t>ái</a:t>
            </a:r>
            <a:r>
              <a:rPr lang="vi-VN" sz="2400" i="1" dirty="0" smtClean="0">
                <a:solidFill>
                  <a:srgbClr val="FF0000"/>
                </a:solidFill>
              </a:rPr>
              <a:t> </a:t>
            </a:r>
            <a:r>
              <a:rPr lang="vi-VN" sz="2400" i="1" dirty="0">
                <a:solidFill>
                  <a:srgbClr val="FF0000"/>
                </a:solidFill>
              </a:rPr>
              <a:t>niệm về hội nhập kinh tế quốc tế:</a:t>
            </a:r>
            <a:endParaRPr lang="en-US" sz="2400" dirty="0">
              <a:solidFill>
                <a:srgbClr val="FF0000"/>
              </a:solidFill>
            </a:endParaRPr>
          </a:p>
          <a:p>
            <a:r>
              <a:rPr lang="vi-VN" sz="2400" dirty="0"/>
              <a:t>Hội nhập kinh tế quốc tế của một quốc gia là quá trình quốc gia </a:t>
            </a:r>
            <a:r>
              <a:rPr lang="en-US" sz="2400" dirty="0"/>
              <a:t>đ</a:t>
            </a:r>
            <a:r>
              <a:rPr lang="vi-VN" sz="2400" dirty="0" smtClean="0"/>
              <a:t>ó </a:t>
            </a:r>
            <a:r>
              <a:rPr lang="vi-VN" sz="2400" dirty="0"/>
              <a:t>thực hiện gắn kết nền kinh tế của mình với nền kinh tế thế giới dựa trên sự chia sẻ lợi ích đồng thời tuân thù các chuẩn mực quốc tế chung.</a:t>
            </a:r>
            <a:endParaRPr lang="en-US" sz="2400" dirty="0"/>
          </a:p>
          <a:p>
            <a:endParaRPr lang="en-US" sz="2400" dirty="0"/>
          </a:p>
        </p:txBody>
      </p:sp>
    </p:spTree>
    <p:extLst>
      <p:ext uri="{BB962C8B-B14F-4D97-AF65-F5344CB8AC3E}">
        <p14:creationId xmlns:p14="http://schemas.microsoft.com/office/powerpoint/2010/main" val="70521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624" y="785256"/>
            <a:ext cx="9310315" cy="946840"/>
          </a:xfrm>
        </p:spPr>
        <p:txBody>
          <a:bodyPr>
            <a:noAutofit/>
          </a:bodyPr>
          <a:lstStyle/>
          <a:p>
            <a:r>
              <a:rPr lang="en-US" sz="3600" b="1" i="1" dirty="0" smtClean="0">
                <a:latin typeface="Times New Roman (Headings)"/>
              </a:rPr>
              <a:t>Tính tất </a:t>
            </a:r>
            <a:r>
              <a:rPr lang="vi-VN" sz="3600" b="1" i="1" dirty="0" smtClean="0">
                <a:latin typeface="Times New Roman (Headings)"/>
              </a:rPr>
              <a:t>yếu </a:t>
            </a:r>
            <a:r>
              <a:rPr lang="vi-VN" sz="3600" b="1" i="1" dirty="0">
                <a:latin typeface="Times New Roman (Headings)"/>
              </a:rPr>
              <a:t>khách quan của hội nhập kinh tế quốc tế</a:t>
            </a:r>
            <a:r>
              <a:rPr lang="en-US" sz="3600" b="1" dirty="0">
                <a:latin typeface="Times New Roman (Headings)"/>
              </a:rPr>
              <a:t/>
            </a:r>
            <a:br>
              <a:rPr lang="en-US" sz="3600" b="1" dirty="0">
                <a:latin typeface="Times New Roman (Headings)"/>
              </a:rPr>
            </a:br>
            <a:endParaRPr lang="en-US" sz="3600" b="1" dirty="0">
              <a:latin typeface="Times New Roman (Headings)"/>
            </a:endParaRPr>
          </a:p>
        </p:txBody>
      </p:sp>
      <p:sp>
        <p:nvSpPr>
          <p:cNvPr id="3" name="Content Placeholder 2"/>
          <p:cNvSpPr>
            <a:spLocks noGrp="1"/>
          </p:cNvSpPr>
          <p:nvPr>
            <p:ph idx="1"/>
          </p:nvPr>
        </p:nvSpPr>
        <p:spPr>
          <a:xfrm>
            <a:off x="572493" y="1940011"/>
            <a:ext cx="11100021" cy="2397211"/>
          </a:xfrm>
        </p:spPr>
        <p:txBody>
          <a:bodyPr/>
          <a:lstStyle/>
          <a:p>
            <a:r>
              <a:rPr lang="vi-VN" i="1" dirty="0">
                <a:latin typeface="+mj-lt"/>
              </a:rPr>
              <a:t>Thứ </a:t>
            </a:r>
            <a:r>
              <a:rPr lang="vi-VN" i="1" dirty="0" smtClean="0">
                <a:latin typeface="+mj-lt"/>
              </a:rPr>
              <a:t>nh</a:t>
            </a:r>
            <a:r>
              <a:rPr lang="en-US" i="1" dirty="0" smtClean="0">
                <a:latin typeface="+mj-lt"/>
              </a:rPr>
              <a:t>ấ</a:t>
            </a:r>
            <a:r>
              <a:rPr lang="vi-VN" i="1" dirty="0" smtClean="0">
                <a:latin typeface="+mj-lt"/>
              </a:rPr>
              <a:t>t</a:t>
            </a:r>
            <a:r>
              <a:rPr lang="vi-VN" i="1" dirty="0">
                <a:latin typeface="+mj-lt"/>
              </a:rPr>
              <a:t>,</a:t>
            </a:r>
            <a:r>
              <a:rPr lang="vi-VN" dirty="0">
                <a:latin typeface="+mj-lt"/>
              </a:rPr>
              <a:t> do xu thế khách quan trong bối cảnh toàn cầu hóa kinh tế.</a:t>
            </a:r>
            <a:endParaRPr lang="en-US" dirty="0">
              <a:latin typeface="+mj-lt"/>
            </a:endParaRPr>
          </a:p>
          <a:p>
            <a:r>
              <a:rPr lang="vi-VN" i="1" dirty="0">
                <a:latin typeface="+mj-lt"/>
              </a:rPr>
              <a:t>Thứ hai,</a:t>
            </a:r>
            <a:r>
              <a:rPr lang="vi-VN" dirty="0">
                <a:latin typeface="+mj-lt"/>
              </a:rPr>
              <a:t> hội nhập kinh tế quốc tế là phương thức phát triển phổ biến của các nước, nhất là các nước đang và kém phát triền trong điều kiện hiện nay.</a:t>
            </a:r>
            <a:endParaRPr lang="en-US" dirty="0">
              <a:latin typeface="+mj-lt"/>
            </a:endParaRPr>
          </a:p>
          <a:p>
            <a:pPr marL="0" indent="0">
              <a:buNone/>
            </a:pPr>
            <a:endParaRPr lang="en-US" dirty="0">
              <a:latin typeface="+mj-lt"/>
            </a:endParaRPr>
          </a:p>
        </p:txBody>
      </p:sp>
    </p:spTree>
    <p:extLst>
      <p:ext uri="{BB962C8B-B14F-4D97-AF65-F5344CB8AC3E}">
        <p14:creationId xmlns:p14="http://schemas.microsoft.com/office/powerpoint/2010/main" val="2586683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5840" y="748186"/>
            <a:ext cx="10136160" cy="946840"/>
          </a:xfrm>
        </p:spPr>
        <p:txBody>
          <a:bodyPr>
            <a:normAutofit fontScale="90000"/>
          </a:bodyPr>
          <a:lstStyle/>
          <a:p>
            <a:pPr lvl="0" algn="ctr"/>
            <a:r>
              <a:rPr lang="en-US" i="1" dirty="0" smtClean="0">
                <a:solidFill>
                  <a:srgbClr val="FF0000"/>
                </a:solidFill>
                <a:latin typeface="Times New Roman (Headings)"/>
              </a:rPr>
              <a:t>6.2.1.2. </a:t>
            </a:r>
            <a:r>
              <a:rPr lang="vi-VN" i="1" dirty="0" smtClean="0">
                <a:solidFill>
                  <a:srgbClr val="FF0000"/>
                </a:solidFill>
                <a:latin typeface="Times New Roman (Headings)"/>
              </a:rPr>
              <a:t>Nội </a:t>
            </a:r>
            <a:r>
              <a:rPr lang="vi-VN" i="1" dirty="0">
                <a:solidFill>
                  <a:srgbClr val="FF0000"/>
                </a:solidFill>
                <a:latin typeface="Times New Roman (Headings)"/>
              </a:rPr>
              <a:t>dung hội </a:t>
            </a:r>
            <a:r>
              <a:rPr lang="en-US" i="1" dirty="0" smtClean="0">
                <a:solidFill>
                  <a:srgbClr val="FF0000"/>
                </a:solidFill>
                <a:latin typeface="Times New Roman (Headings)"/>
              </a:rPr>
              <a:t>nhập</a:t>
            </a:r>
            <a:r>
              <a:rPr lang="vi-VN" i="1" dirty="0" smtClean="0">
                <a:solidFill>
                  <a:srgbClr val="FF0000"/>
                </a:solidFill>
                <a:latin typeface="Times New Roman (Headings)"/>
              </a:rPr>
              <a:t> </a:t>
            </a:r>
            <a:r>
              <a:rPr lang="vi-VN" i="1" dirty="0">
                <a:solidFill>
                  <a:srgbClr val="FF0000"/>
                </a:solidFill>
                <a:latin typeface="Times New Roman (Headings)"/>
              </a:rPr>
              <a:t>kinh tế quốc tế</a:t>
            </a:r>
            <a:r>
              <a:rPr lang="en-US" dirty="0">
                <a:solidFill>
                  <a:srgbClr val="FF0000"/>
                </a:solidFill>
                <a:latin typeface="Times New Roman (Headings)"/>
              </a:rPr>
              <a:t/>
            </a:r>
            <a:br>
              <a:rPr lang="en-US" dirty="0">
                <a:solidFill>
                  <a:srgbClr val="FF0000"/>
                </a:solidFill>
                <a:latin typeface="Times New Roman (Headings)"/>
              </a:rPr>
            </a:br>
            <a:endParaRPr lang="en-US" dirty="0">
              <a:solidFill>
                <a:srgbClr val="FF0000"/>
              </a:solidFill>
              <a:latin typeface="Times New Roman (Headings)"/>
            </a:endParaRPr>
          </a:p>
        </p:txBody>
      </p:sp>
      <p:sp>
        <p:nvSpPr>
          <p:cNvPr id="3" name="Content Placeholder 2"/>
          <p:cNvSpPr>
            <a:spLocks noGrp="1"/>
          </p:cNvSpPr>
          <p:nvPr>
            <p:ph idx="1"/>
          </p:nvPr>
        </p:nvSpPr>
        <p:spPr>
          <a:xfrm>
            <a:off x="572493" y="2333278"/>
            <a:ext cx="11100021" cy="2251079"/>
          </a:xfrm>
        </p:spPr>
        <p:txBody>
          <a:bodyPr/>
          <a:lstStyle/>
          <a:p>
            <a:r>
              <a:rPr lang="vi-VN" i="1" dirty="0"/>
              <a:t>Thứ nhất,</a:t>
            </a:r>
            <a:r>
              <a:rPr lang="vi-VN" dirty="0"/>
              <a:t> chuẩn bị các điều kiện để thực hiện hội nhập </a:t>
            </a:r>
            <a:r>
              <a:rPr lang="vi-VN" dirty="0" smtClean="0"/>
              <a:t>hiệu</a:t>
            </a:r>
            <a:r>
              <a:rPr lang="en-US" dirty="0" smtClean="0"/>
              <a:t> quả </a:t>
            </a:r>
            <a:r>
              <a:rPr lang="vi-VN" dirty="0" smtClean="0"/>
              <a:t>thành công</a:t>
            </a:r>
            <a:endParaRPr lang="en-US" dirty="0" smtClean="0"/>
          </a:p>
          <a:p>
            <a:r>
              <a:rPr lang="vi-VN" i="1" dirty="0"/>
              <a:t>Thứ hai,</a:t>
            </a:r>
            <a:r>
              <a:rPr lang="vi-VN" dirty="0"/>
              <a:t> thực hiện đa dạng các hình thức, các mức độ hội nhập kinh tế quốc tế.</a:t>
            </a:r>
            <a:endParaRPr lang="en-US" dirty="0"/>
          </a:p>
          <a:p>
            <a:pPr marL="0" indent="0">
              <a:buNone/>
            </a:pPr>
            <a:endParaRPr lang="en-US" dirty="0"/>
          </a:p>
        </p:txBody>
      </p:sp>
    </p:spTree>
    <p:extLst>
      <p:ext uri="{BB962C8B-B14F-4D97-AF65-F5344CB8AC3E}">
        <p14:creationId xmlns:p14="http://schemas.microsoft.com/office/powerpoint/2010/main" val="10678084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smtClean="0">
                <a:solidFill>
                  <a:srgbClr val="FF0000"/>
                </a:solidFill>
                <a:latin typeface="Times New Roman (Headings)"/>
              </a:rPr>
              <a:t>6.2.2. </a:t>
            </a:r>
            <a:r>
              <a:rPr lang="vi-VN" b="1" dirty="0" smtClean="0">
                <a:solidFill>
                  <a:srgbClr val="FF0000"/>
                </a:solidFill>
                <a:latin typeface="Times New Roman (Headings)"/>
              </a:rPr>
              <a:t>Tác </a:t>
            </a:r>
            <a:r>
              <a:rPr lang="vi-VN" b="1" dirty="0">
                <a:solidFill>
                  <a:srgbClr val="FF0000"/>
                </a:solidFill>
                <a:latin typeface="Times New Roman (Headings)"/>
              </a:rPr>
              <a:t>động của hội nhập kinh tế quốc tế đến phát triển của Việt </a:t>
            </a:r>
            <a:r>
              <a:rPr lang="vi-VN" b="1" dirty="0" smtClean="0">
                <a:solidFill>
                  <a:srgbClr val="FF0000"/>
                </a:solidFill>
                <a:latin typeface="Times New Roman (Headings)"/>
              </a:rPr>
              <a:t>Nam</a:t>
            </a:r>
            <a:endParaRPr lang="en-US" dirty="0">
              <a:solidFill>
                <a:srgbClr val="FF0000"/>
              </a:solidFill>
              <a:latin typeface="Times New Roman (Headings)"/>
            </a:endParaRPr>
          </a:p>
        </p:txBody>
      </p:sp>
      <p:sp>
        <p:nvSpPr>
          <p:cNvPr id="3" name="Content Placeholder 2"/>
          <p:cNvSpPr>
            <a:spLocks noGrp="1"/>
          </p:cNvSpPr>
          <p:nvPr>
            <p:ph idx="1"/>
          </p:nvPr>
        </p:nvSpPr>
        <p:spPr>
          <a:xfrm>
            <a:off x="572493" y="3150973"/>
            <a:ext cx="11100021" cy="3146459"/>
          </a:xfrm>
        </p:spPr>
        <p:txBody>
          <a:bodyPr/>
          <a:lstStyle/>
          <a:p>
            <a:pPr marL="0" indent="0">
              <a:buNone/>
            </a:pPr>
            <a:r>
              <a:rPr lang="vi-VN" dirty="0"/>
              <a:t>* Tạo điều kiện mở rộng thị trường, tiếp thu khoa học công nghệ, vốn, chuyển dịch cơ cấu kinh tế trong nước</a:t>
            </a:r>
            <a:r>
              <a:rPr lang="vi-VN" dirty="0" smtClean="0"/>
              <a:t>.</a:t>
            </a:r>
            <a:endParaRPr lang="en-US" dirty="0" smtClean="0"/>
          </a:p>
          <a:p>
            <a:pPr marL="0" indent="0">
              <a:buNone/>
            </a:pPr>
            <a:r>
              <a:rPr lang="vi-VN" dirty="0"/>
              <a:t>* Tạo cơ hội để nâng cao chất lượng nguồn nhân lực</a:t>
            </a:r>
            <a:endParaRPr lang="en-US" dirty="0"/>
          </a:p>
          <a:p>
            <a:pPr marL="0" indent="0">
              <a:buNone/>
            </a:pPr>
            <a:r>
              <a:rPr lang="vi-VN" dirty="0"/>
              <a:t>* Tạo diều kiện để thúc đẩy hội nhập của các lĩnh vực vãn hóa, chính trị, củng cố an ninh quốc phòng.</a:t>
            </a:r>
            <a:endParaRPr lang="en-US" dirty="0"/>
          </a:p>
          <a:p>
            <a:endParaRPr lang="en-US" dirty="0"/>
          </a:p>
        </p:txBody>
      </p:sp>
      <p:sp>
        <p:nvSpPr>
          <p:cNvPr id="4" name="TextBox 3"/>
          <p:cNvSpPr txBox="1"/>
          <p:nvPr/>
        </p:nvSpPr>
        <p:spPr>
          <a:xfrm>
            <a:off x="494270" y="1606377"/>
            <a:ext cx="10231395" cy="523220"/>
          </a:xfrm>
          <a:prstGeom prst="rect">
            <a:avLst/>
          </a:prstGeom>
          <a:noFill/>
        </p:spPr>
        <p:txBody>
          <a:bodyPr wrap="square" rtlCol="0">
            <a:spAutoFit/>
          </a:bodyPr>
          <a:lstStyle/>
          <a:p>
            <a:pPr lvl="0"/>
            <a:r>
              <a:rPr lang="en-US" sz="2800" i="1" dirty="0" smtClean="0"/>
              <a:t>6.2.2.1 </a:t>
            </a:r>
            <a:r>
              <a:rPr lang="vi-VN" sz="2800" i="1" dirty="0" smtClean="0"/>
              <a:t>Tác </a:t>
            </a:r>
            <a:r>
              <a:rPr lang="vi-VN" sz="2800" i="1" dirty="0"/>
              <a:t>động tích cực của hội nhập kình tế quốc </a:t>
            </a:r>
            <a:r>
              <a:rPr lang="vi-VN" sz="2800" i="1" dirty="0" smtClean="0"/>
              <a:t>tế</a:t>
            </a:r>
            <a:endParaRPr lang="en-US" sz="2800" dirty="0"/>
          </a:p>
        </p:txBody>
      </p:sp>
    </p:spTree>
    <p:extLst>
      <p:ext uri="{BB962C8B-B14F-4D97-AF65-F5344CB8AC3E}">
        <p14:creationId xmlns:p14="http://schemas.microsoft.com/office/powerpoint/2010/main" val="19109081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i="1" dirty="0" smtClean="0">
                <a:latin typeface="Times New Roman (Headings)"/>
              </a:rPr>
              <a:t>6.2.2.2. </a:t>
            </a:r>
            <a:r>
              <a:rPr lang="vi-VN" b="1" i="1" dirty="0" smtClean="0">
                <a:latin typeface="Times New Roman (Headings)"/>
              </a:rPr>
              <a:t>Tác </a:t>
            </a:r>
            <a:r>
              <a:rPr lang="vi-VN" b="1" i="1" dirty="0">
                <a:latin typeface="Times New Roman (Headings)"/>
              </a:rPr>
              <a:t>động tiêu cực của hội nhập kinh tế quốc </a:t>
            </a:r>
            <a:r>
              <a:rPr lang="vi-VN" b="1" i="1" dirty="0" smtClean="0">
                <a:latin typeface="Times New Roman (Headings)"/>
              </a:rPr>
              <a:t>tế</a:t>
            </a:r>
            <a:endParaRPr lang="en-US" b="1" dirty="0">
              <a:latin typeface="Times New Roman (Headings)"/>
            </a:endParaRPr>
          </a:p>
        </p:txBody>
      </p:sp>
      <p:sp>
        <p:nvSpPr>
          <p:cNvPr id="3" name="Content Placeholder 2"/>
          <p:cNvSpPr>
            <a:spLocks noGrp="1"/>
          </p:cNvSpPr>
          <p:nvPr>
            <p:ph idx="1"/>
          </p:nvPr>
        </p:nvSpPr>
        <p:spPr/>
        <p:txBody>
          <a:bodyPr>
            <a:normAutofit/>
          </a:bodyPr>
          <a:lstStyle/>
          <a:p>
            <a:r>
              <a:rPr lang="vi-VN" dirty="0" smtClean="0">
                <a:latin typeface="+mj-lt"/>
              </a:rPr>
              <a:t>Hội </a:t>
            </a:r>
            <a:r>
              <a:rPr lang="vi-VN" dirty="0">
                <a:latin typeface="+mj-lt"/>
              </a:rPr>
              <a:t>nhập kinh tế quốc tế làm gia tăng sự cạnh tranh gay gắt khiến nhiều doanh nghiệp và ngành kinh tế nước ta gặp khó khăn trong phát triển, thậm chí là phá sản, gây </a:t>
            </a:r>
            <a:r>
              <a:rPr lang="vi-VN" dirty="0" smtClean="0">
                <a:latin typeface="+mj-lt"/>
              </a:rPr>
              <a:t>nhi</a:t>
            </a:r>
            <a:r>
              <a:rPr lang="en-US" dirty="0" smtClean="0">
                <a:latin typeface="+mj-lt"/>
              </a:rPr>
              <a:t>ề</a:t>
            </a:r>
            <a:r>
              <a:rPr lang="vi-VN" dirty="0" smtClean="0">
                <a:latin typeface="+mj-lt"/>
              </a:rPr>
              <a:t>u </a:t>
            </a:r>
            <a:r>
              <a:rPr lang="vi-VN" dirty="0">
                <a:latin typeface="+mj-lt"/>
              </a:rPr>
              <a:t>hậu quả bất lọi về mặt kinh tế - xã hội.</a:t>
            </a:r>
            <a:endParaRPr lang="en-US" dirty="0">
              <a:latin typeface="+mj-lt"/>
            </a:endParaRPr>
          </a:p>
          <a:p>
            <a:pPr lvl="0"/>
            <a:r>
              <a:rPr lang="vi-VN" dirty="0">
                <a:latin typeface="+mj-lt"/>
              </a:rPr>
              <a:t>Hội nhập kinh tế quốc tế có thể làm gia tăng sự phụ thuộc của nền kinh tế quốc gia vào thị trường bên ngoài, khiến nền kinh </a:t>
            </a:r>
            <a:r>
              <a:rPr lang="en-US" dirty="0" smtClean="0">
                <a:latin typeface="+mj-lt"/>
              </a:rPr>
              <a:t>tế dễ </a:t>
            </a:r>
            <a:r>
              <a:rPr lang="vi-VN" dirty="0" smtClean="0">
                <a:latin typeface="+mj-lt"/>
              </a:rPr>
              <a:t>bị </a:t>
            </a:r>
            <a:r>
              <a:rPr lang="vi-VN" dirty="0">
                <a:latin typeface="+mj-lt"/>
              </a:rPr>
              <a:t>tồn thương trước những biến động khôn lường về chính trị, kinh tế và thị trường quốc tế.</a:t>
            </a:r>
            <a:endParaRPr lang="en-US" dirty="0">
              <a:latin typeface="+mj-lt"/>
            </a:endParaRPr>
          </a:p>
          <a:p>
            <a:pPr lvl="0"/>
            <a:r>
              <a:rPr lang="vi-VN" dirty="0">
                <a:latin typeface="+mj-lt"/>
              </a:rPr>
              <a:t>Hội nhập kinh tế quốc tế có thể dẫn đến phân phối không công bằng </a:t>
            </a:r>
            <a:r>
              <a:rPr lang="vi-VN" dirty="0" smtClean="0">
                <a:latin typeface="+mj-lt"/>
              </a:rPr>
              <a:t>l</a:t>
            </a:r>
            <a:r>
              <a:rPr lang="en-US" dirty="0" smtClean="0">
                <a:latin typeface="+mj-lt"/>
              </a:rPr>
              <a:t>ợi</a:t>
            </a:r>
            <a:r>
              <a:rPr lang="vi-VN" dirty="0" smtClean="0">
                <a:latin typeface="+mj-lt"/>
              </a:rPr>
              <a:t> </a:t>
            </a:r>
            <a:r>
              <a:rPr lang="vi-VN" dirty="0">
                <a:latin typeface="+mj-lt"/>
              </a:rPr>
              <a:t>ích và rủi ro cho các nước và các nhóm khác nhau trong xã hội, do vậy có nguy cơ làm tăng khoảng cách giàu - nghèo và bất bình đẳng xã hội.</a:t>
            </a:r>
            <a:endParaRPr lang="en-US" dirty="0">
              <a:latin typeface="+mj-lt"/>
            </a:endParaRPr>
          </a:p>
          <a:p>
            <a:endParaRPr lang="en-US" dirty="0">
              <a:latin typeface="+mj-lt"/>
            </a:endParaRPr>
          </a:p>
        </p:txBody>
      </p:sp>
    </p:spTree>
    <p:extLst>
      <p:ext uri="{BB962C8B-B14F-4D97-AF65-F5344CB8AC3E}">
        <p14:creationId xmlns:p14="http://schemas.microsoft.com/office/powerpoint/2010/main" val="33176350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vi-VN" dirty="0">
                <a:latin typeface="+mj-lt"/>
              </a:rPr>
              <a:t>Trong quá trình hội nhập kinh tế quốc tế, các nước đang phát triển như nước ta phải </a:t>
            </a:r>
            <a:r>
              <a:rPr lang="vi-VN" dirty="0" smtClean="0">
                <a:latin typeface="+mj-lt"/>
              </a:rPr>
              <a:t>đ</a:t>
            </a:r>
            <a:r>
              <a:rPr lang="en-US" dirty="0" smtClean="0">
                <a:latin typeface="+mj-lt"/>
              </a:rPr>
              <a:t>ố</a:t>
            </a:r>
            <a:r>
              <a:rPr lang="vi-VN" dirty="0" smtClean="0">
                <a:latin typeface="+mj-lt"/>
              </a:rPr>
              <a:t>i </a:t>
            </a:r>
            <a:r>
              <a:rPr lang="vi-VN" dirty="0">
                <a:latin typeface="+mj-lt"/>
              </a:rPr>
              <a:t>mặt với nguy cơ chuyên dịch cơ câu kinh </a:t>
            </a:r>
            <a:r>
              <a:rPr lang="vi-VN" dirty="0" smtClean="0">
                <a:latin typeface="+mj-lt"/>
              </a:rPr>
              <a:t>t</a:t>
            </a:r>
            <a:r>
              <a:rPr lang="en-US" dirty="0" smtClean="0">
                <a:latin typeface="+mj-lt"/>
              </a:rPr>
              <a:t>ế</a:t>
            </a:r>
            <a:r>
              <a:rPr lang="vi-VN" dirty="0" smtClean="0">
                <a:latin typeface="+mj-lt"/>
              </a:rPr>
              <a:t> </a:t>
            </a:r>
            <a:r>
              <a:rPr lang="vi-VN" dirty="0">
                <a:latin typeface="+mj-lt"/>
              </a:rPr>
              <a:t>tự nhiên bất lợi, do thiên hướng tập trung vào các ngành sừ dụng nhiều tài nguyên, nhiều sức lao động, nhưng có giá trị gia tăng thấp. </a:t>
            </a:r>
            <a:endParaRPr lang="en-US" dirty="0" smtClean="0">
              <a:latin typeface="+mj-lt"/>
            </a:endParaRPr>
          </a:p>
          <a:p>
            <a:pPr lvl="0"/>
            <a:r>
              <a:rPr lang="vi-VN" dirty="0">
                <a:latin typeface="+mj-lt"/>
              </a:rPr>
              <a:t>Hội nhập kinh tế quốc </a:t>
            </a:r>
            <a:r>
              <a:rPr lang="vi-VN" dirty="0" smtClean="0">
                <a:latin typeface="+mj-lt"/>
              </a:rPr>
              <a:t>t</a:t>
            </a:r>
            <a:r>
              <a:rPr lang="en-US" dirty="0" smtClean="0">
                <a:latin typeface="+mj-lt"/>
              </a:rPr>
              <a:t>ế</a:t>
            </a:r>
            <a:r>
              <a:rPr lang="vi-VN" dirty="0" smtClean="0">
                <a:latin typeface="+mj-lt"/>
              </a:rPr>
              <a:t> </a:t>
            </a:r>
            <a:r>
              <a:rPr lang="vi-VN" dirty="0">
                <a:latin typeface="+mj-lt"/>
              </a:rPr>
              <a:t>có thề tạo ra một số thách thức đối với quyền lực Nhà nước, chủ quyền quốc gia và phát sinh nhiều vấn đề phức tạp đối với việc duy trì an ninh và ổn định trật tự, an toàn xã hội.</a:t>
            </a:r>
            <a:endParaRPr lang="en-US" dirty="0">
              <a:latin typeface="+mj-lt"/>
            </a:endParaRPr>
          </a:p>
          <a:p>
            <a:pPr lvl="0"/>
            <a:r>
              <a:rPr lang="vi-VN" dirty="0">
                <a:latin typeface="+mj-lt"/>
              </a:rPr>
              <a:t>Hội nhập có thể làm gia tăng nguy cơ bản sắc dân tộc và văn hóa truyền thống Việt Nam bị xói mòn trước sự “xâm lăng” của văn hóa nước ngoài.</a:t>
            </a:r>
            <a:endParaRPr lang="en-US" dirty="0">
              <a:latin typeface="+mj-lt"/>
            </a:endParaRPr>
          </a:p>
          <a:p>
            <a:pPr lvl="0"/>
            <a:r>
              <a:rPr lang="vi-VN" dirty="0">
                <a:latin typeface="+mj-lt"/>
              </a:rPr>
              <a:t>Hội nhập có thể làm tăng nguy cơ gia tăng của tình trạng </a:t>
            </a:r>
            <a:r>
              <a:rPr lang="vi-VN" dirty="0" smtClean="0">
                <a:latin typeface="+mj-lt"/>
              </a:rPr>
              <a:t>kh</a:t>
            </a:r>
            <a:r>
              <a:rPr lang="en-US" dirty="0">
                <a:latin typeface="+mj-lt"/>
              </a:rPr>
              <a:t>ủ</a:t>
            </a:r>
            <a:r>
              <a:rPr lang="vi-VN" dirty="0" smtClean="0">
                <a:latin typeface="+mj-lt"/>
              </a:rPr>
              <a:t>ng </a:t>
            </a:r>
            <a:r>
              <a:rPr lang="vi-VN" dirty="0">
                <a:latin typeface="+mj-lt"/>
              </a:rPr>
              <a:t>bố quốc tế, buôn lậu, tội phạm xuyên quốc gia, dịch bệnh, nhập cư bất hợp pháp...</a:t>
            </a:r>
            <a:endParaRPr lang="en-US" dirty="0">
              <a:latin typeface="+mj-lt"/>
            </a:endParaRPr>
          </a:p>
          <a:p>
            <a:pPr marL="0" indent="0">
              <a:buNone/>
            </a:pPr>
            <a:endParaRPr lang="en-US" dirty="0">
              <a:latin typeface="+mj-lt"/>
            </a:endParaRPr>
          </a:p>
        </p:txBody>
      </p:sp>
    </p:spTree>
    <p:extLst>
      <p:ext uri="{BB962C8B-B14F-4D97-AF65-F5344CB8AC3E}">
        <p14:creationId xmlns:p14="http://schemas.microsoft.com/office/powerpoint/2010/main" val="1864511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8771" y="259492"/>
            <a:ext cx="9310315" cy="2088292"/>
          </a:xfrm>
        </p:spPr>
        <p:txBody>
          <a:bodyPr>
            <a:normAutofit/>
          </a:bodyPr>
          <a:lstStyle/>
          <a:p>
            <a:pPr lvl="0"/>
            <a:r>
              <a:rPr lang="en-US" sz="3600" b="1" dirty="0" smtClean="0">
                <a:solidFill>
                  <a:srgbClr val="FF0000"/>
                </a:solidFill>
                <a:latin typeface="Times New Roman (Headings)"/>
              </a:rPr>
              <a:t>6.2.3. Phương </a:t>
            </a:r>
            <a:r>
              <a:rPr lang="vi-VN" sz="3600" b="1" dirty="0">
                <a:solidFill>
                  <a:srgbClr val="FF0000"/>
                </a:solidFill>
                <a:latin typeface="Times New Roman (Headings)"/>
              </a:rPr>
              <a:t>hướng nâng cao hiệu quả hội nhập kinh tế quốc tế trong phát triển của Việt </a:t>
            </a:r>
            <a:r>
              <a:rPr lang="vi-VN" sz="3600" b="1" dirty="0" smtClean="0">
                <a:solidFill>
                  <a:srgbClr val="FF0000"/>
                </a:solidFill>
                <a:latin typeface="Times New Roman (Headings)"/>
              </a:rPr>
              <a:t>Nam</a:t>
            </a:r>
            <a:endParaRPr lang="en-US" sz="3600" dirty="0">
              <a:solidFill>
                <a:srgbClr val="FF0000"/>
              </a:solidFill>
              <a:latin typeface="Times New Roman (Headings)"/>
            </a:endParaRPr>
          </a:p>
        </p:txBody>
      </p:sp>
      <p:sp>
        <p:nvSpPr>
          <p:cNvPr id="3" name="Content Placeholder 2"/>
          <p:cNvSpPr>
            <a:spLocks noGrp="1"/>
          </p:cNvSpPr>
          <p:nvPr>
            <p:ph idx="1"/>
          </p:nvPr>
        </p:nvSpPr>
        <p:spPr>
          <a:xfrm>
            <a:off x="572493" y="2471351"/>
            <a:ext cx="11100021" cy="939114"/>
          </a:xfrm>
        </p:spPr>
        <p:txBody>
          <a:bodyPr/>
          <a:lstStyle/>
          <a:p>
            <a:pPr marL="0" lvl="0" indent="0">
              <a:buNone/>
            </a:pPr>
            <a:r>
              <a:rPr lang="en-US" b="1" i="1" dirty="0" smtClean="0"/>
              <a:t>6.2.3.1. </a:t>
            </a:r>
            <a:r>
              <a:rPr lang="vi-VN" b="1" i="1" dirty="0" smtClean="0"/>
              <a:t>Nh</a:t>
            </a:r>
            <a:r>
              <a:rPr lang="en-US" b="1" i="1" dirty="0" smtClean="0"/>
              <a:t>ậ</a:t>
            </a:r>
            <a:r>
              <a:rPr lang="vi-VN" b="1" i="1" dirty="0" smtClean="0"/>
              <a:t>n </a:t>
            </a:r>
            <a:r>
              <a:rPr lang="vi-VN" b="1" i="1" dirty="0"/>
              <a:t>thức sâu sắc về thời cơ và thách thức do hội nhập </a:t>
            </a:r>
            <a:r>
              <a:rPr lang="vi-VN" b="1" i="1" dirty="0" smtClean="0"/>
              <a:t>k</a:t>
            </a:r>
            <a:r>
              <a:rPr lang="en-US" b="1" i="1" dirty="0" smtClean="0"/>
              <a:t>i</a:t>
            </a:r>
            <a:r>
              <a:rPr lang="vi-VN" b="1" i="1" dirty="0" smtClean="0"/>
              <a:t>nh </a:t>
            </a:r>
            <a:r>
              <a:rPr lang="vi-VN" b="1" i="1" dirty="0"/>
              <a:t>tế quốc tế mang lại</a:t>
            </a:r>
            <a:endParaRPr lang="en-US" b="1" dirty="0"/>
          </a:p>
          <a:p>
            <a:endParaRPr lang="en-US" b="1" dirty="0"/>
          </a:p>
        </p:txBody>
      </p:sp>
      <p:sp>
        <p:nvSpPr>
          <p:cNvPr id="4" name="TextBox 3"/>
          <p:cNvSpPr txBox="1"/>
          <p:nvPr/>
        </p:nvSpPr>
        <p:spPr>
          <a:xfrm>
            <a:off x="630195" y="3447536"/>
            <a:ext cx="10750378" cy="3108543"/>
          </a:xfrm>
          <a:prstGeom prst="rect">
            <a:avLst/>
          </a:prstGeom>
          <a:noFill/>
        </p:spPr>
        <p:txBody>
          <a:bodyPr wrap="square" rtlCol="0">
            <a:spAutoFit/>
          </a:bodyPr>
          <a:lstStyle/>
          <a:p>
            <a:r>
              <a:rPr lang="vi-VN" sz="2800" dirty="0" smtClean="0">
                <a:latin typeface="+mj-lt"/>
              </a:rPr>
              <a:t>Trước hết </a:t>
            </a:r>
            <a:r>
              <a:rPr lang="vi-VN" sz="2800" dirty="0">
                <a:latin typeface="+mj-lt"/>
              </a:rPr>
              <a:t>càn phải thấy rằng hội nhập kinh tế là một thực tiễn khách quan, là xu thế khách quan của thời đại, không một quốc gia nào có thể né tránh hoặc quay lưng với hội nhập. </a:t>
            </a:r>
            <a:endParaRPr lang="en-US" sz="2800" dirty="0" smtClean="0">
              <a:latin typeface="+mj-lt"/>
            </a:endParaRPr>
          </a:p>
          <a:p>
            <a:r>
              <a:rPr lang="vi-VN" sz="2800" dirty="0">
                <a:latin typeface="+mj-lt"/>
              </a:rPr>
              <a:t>Nhận thức về hội nhập kinh tế cần phải thấy rõ cà mặt tích cực và tiêu cực vì tác động của nó là đa chiều, đa phương diện</a:t>
            </a:r>
            <a:r>
              <a:rPr lang="vi-VN" sz="2800" dirty="0" smtClean="0">
                <a:latin typeface="+mj-lt"/>
              </a:rPr>
              <a:t>.</a:t>
            </a:r>
            <a:endParaRPr lang="en-US" sz="2800" dirty="0" smtClean="0">
              <a:latin typeface="+mj-lt"/>
            </a:endParaRPr>
          </a:p>
          <a:p>
            <a:r>
              <a:rPr lang="vi-VN" sz="2800" dirty="0" smtClean="0">
                <a:latin typeface="+mj-lt"/>
              </a:rPr>
              <a:t>Chủ thể </a:t>
            </a:r>
            <a:r>
              <a:rPr lang="vi-VN" sz="2800" dirty="0">
                <a:latin typeface="+mj-lt"/>
              </a:rPr>
              <a:t>tham gia hội nhập, nhà nước là một chủ </a:t>
            </a:r>
            <a:r>
              <a:rPr lang="vi-VN" sz="2800" dirty="0" smtClean="0">
                <a:latin typeface="+mj-lt"/>
              </a:rPr>
              <a:t>th</a:t>
            </a:r>
            <a:r>
              <a:rPr lang="en-US" sz="2800" dirty="0" smtClean="0">
                <a:latin typeface="+mj-lt"/>
              </a:rPr>
              <a:t>ể</a:t>
            </a:r>
            <a:r>
              <a:rPr lang="vi-VN" sz="2800" dirty="0" smtClean="0">
                <a:latin typeface="+mj-lt"/>
              </a:rPr>
              <a:t> </a:t>
            </a:r>
            <a:r>
              <a:rPr lang="vi-VN" sz="2800" dirty="0">
                <a:latin typeface="+mj-lt"/>
              </a:rPr>
              <a:t>quan trọng nhưng không phải là duy nhất.</a:t>
            </a:r>
            <a:endParaRPr lang="en-US" sz="2800" dirty="0">
              <a:latin typeface="+mj-lt"/>
            </a:endParaRPr>
          </a:p>
        </p:txBody>
      </p:sp>
    </p:spTree>
    <p:extLst>
      <p:ext uri="{BB962C8B-B14F-4D97-AF65-F5344CB8AC3E}">
        <p14:creationId xmlns:p14="http://schemas.microsoft.com/office/powerpoint/2010/main" val="1534176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i="1" dirty="0" smtClean="0">
                <a:latin typeface="Times New Roman (Headings)"/>
              </a:rPr>
              <a:t>6.2.3.2. </a:t>
            </a:r>
            <a:r>
              <a:rPr lang="vi-VN" sz="3600" i="1" dirty="0" smtClean="0">
                <a:latin typeface="Times New Roman (Headings)"/>
              </a:rPr>
              <a:t>Xây </a:t>
            </a:r>
            <a:r>
              <a:rPr lang="vi-VN" sz="3600" i="1" dirty="0">
                <a:latin typeface="Times New Roman (Headings)"/>
              </a:rPr>
              <a:t>dựng chiến lược và </a:t>
            </a:r>
            <a:r>
              <a:rPr lang="en-US" sz="3600" i="1" dirty="0" smtClean="0">
                <a:latin typeface="Times New Roman (Headings)"/>
              </a:rPr>
              <a:t>l</a:t>
            </a:r>
            <a:r>
              <a:rPr lang="vi-VN" sz="3600" i="1" dirty="0" smtClean="0">
                <a:latin typeface="Times New Roman (Headings)"/>
              </a:rPr>
              <a:t>ộ </a:t>
            </a:r>
            <a:r>
              <a:rPr lang="vi-VN" sz="3600" i="1" dirty="0">
                <a:latin typeface="Times New Roman (Headings)"/>
              </a:rPr>
              <a:t>trình hội nhập kinh tế phù hợp</a:t>
            </a:r>
            <a:endParaRPr lang="en-US" sz="3600" dirty="0">
              <a:latin typeface="Times New Roman (Headings)"/>
            </a:endParaRPr>
          </a:p>
        </p:txBody>
      </p:sp>
      <p:sp>
        <p:nvSpPr>
          <p:cNvPr id="3" name="Content Placeholder 2"/>
          <p:cNvSpPr>
            <a:spLocks noGrp="1"/>
          </p:cNvSpPr>
          <p:nvPr>
            <p:ph idx="1"/>
          </p:nvPr>
        </p:nvSpPr>
        <p:spPr/>
        <p:txBody>
          <a:bodyPr/>
          <a:lstStyle/>
          <a:p>
            <a:r>
              <a:rPr lang="vi-VN" dirty="0" smtClean="0">
                <a:latin typeface="+mj-lt"/>
              </a:rPr>
              <a:t>Cần đánh </a:t>
            </a:r>
            <a:r>
              <a:rPr lang="vi-VN" dirty="0">
                <a:latin typeface="+mj-lt"/>
              </a:rPr>
              <a:t>giá đúng được bối cảnh quốc tế, xu hướng vận động kinh tế, chính trị thế giới; tác động của toàn cầu hóa, của cách mạng công nghiệp </a:t>
            </a:r>
            <a:r>
              <a:rPr lang="vi-VN" dirty="0" smtClean="0">
                <a:latin typeface="+mj-lt"/>
              </a:rPr>
              <a:t>đ</a:t>
            </a:r>
            <a:r>
              <a:rPr lang="en-US" dirty="0" smtClean="0">
                <a:latin typeface="+mj-lt"/>
              </a:rPr>
              <a:t>ố</a:t>
            </a:r>
            <a:r>
              <a:rPr lang="vi-VN" dirty="0" smtClean="0">
                <a:latin typeface="+mj-lt"/>
              </a:rPr>
              <a:t>i </a:t>
            </a:r>
            <a:r>
              <a:rPr lang="vi-VN" dirty="0">
                <a:latin typeface="+mj-lt"/>
              </a:rPr>
              <a:t>với các nước và cụ thể hóa đối với nước ta. </a:t>
            </a:r>
            <a:endParaRPr lang="en-US" dirty="0" smtClean="0">
              <a:latin typeface="+mj-lt"/>
            </a:endParaRPr>
          </a:p>
          <a:p>
            <a:r>
              <a:rPr lang="vi-VN" dirty="0" smtClean="0">
                <a:latin typeface="+mj-lt"/>
              </a:rPr>
              <a:t>Cần phải </a:t>
            </a:r>
            <a:r>
              <a:rPr lang="vi-VN" dirty="0">
                <a:latin typeface="+mj-lt"/>
              </a:rPr>
              <a:t>đánh giá được vai trò của tổ chức kinh tế quốc tế, các công ty xuyên quốc gia và vai trò của các nước lớn như Mỹ, Trung Quốc, Nhật Bản, Nga và EU cũng như các điều chỉnh chính sách của họ trong vai trò chủ đạo, dẫn dắt các xu hướng liên kết kinh tế quốc tế.</a:t>
            </a:r>
            <a:endParaRPr lang="en-US" dirty="0">
              <a:latin typeface="+mj-lt"/>
            </a:endParaRPr>
          </a:p>
          <a:p>
            <a:endParaRPr lang="en-US" dirty="0">
              <a:latin typeface="+mj-lt"/>
            </a:endParaRPr>
          </a:p>
        </p:txBody>
      </p:sp>
    </p:spTree>
    <p:extLst>
      <p:ext uri="{BB962C8B-B14F-4D97-AF65-F5344CB8AC3E}">
        <p14:creationId xmlns:p14="http://schemas.microsoft.com/office/powerpoint/2010/main" val="2074688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365126"/>
            <a:ext cx="9310315" cy="1228896"/>
          </a:xfrm>
        </p:spPr>
        <p:txBody>
          <a:bodyPr>
            <a:noAutofit/>
          </a:bodyPr>
          <a:lstStyle/>
          <a:p>
            <a:pPr lvl="0"/>
            <a:r>
              <a:rPr lang="en-US" sz="2800" b="1" i="1" dirty="0" smtClean="0">
                <a:latin typeface="Times New Roman (Headings)"/>
              </a:rPr>
              <a:t>6.2.3.3. </a:t>
            </a:r>
            <a:r>
              <a:rPr lang="vi-VN" sz="2800" b="1" i="1" dirty="0" smtClean="0">
                <a:latin typeface="Times New Roman (Headings)"/>
              </a:rPr>
              <a:t>Tích </a:t>
            </a:r>
            <a:r>
              <a:rPr lang="vi-VN" sz="2800" b="1" i="1" dirty="0">
                <a:latin typeface="Times New Roman (Headings)"/>
              </a:rPr>
              <a:t>cực, chủ động tham gia vào các liên kết kinh tế quốc tế và thực hiện dầy đủ các cam kết của Việt Nam trong các liên kết kinh tể quốc tế và khu </a:t>
            </a:r>
            <a:r>
              <a:rPr lang="vi-VN" sz="2800" b="1" i="1" dirty="0" smtClean="0">
                <a:latin typeface="Times New Roman (Headings)"/>
              </a:rPr>
              <a:t>vực</a:t>
            </a:r>
            <a:endParaRPr lang="en-US" sz="2800" b="1" dirty="0">
              <a:latin typeface="Times New Roman (Headings)"/>
            </a:endParaRPr>
          </a:p>
        </p:txBody>
      </p:sp>
      <p:sp>
        <p:nvSpPr>
          <p:cNvPr id="3" name="Content Placeholder 2"/>
          <p:cNvSpPr>
            <a:spLocks noGrp="1"/>
          </p:cNvSpPr>
          <p:nvPr>
            <p:ph idx="1"/>
          </p:nvPr>
        </p:nvSpPr>
        <p:spPr>
          <a:xfrm>
            <a:off x="572493" y="1964725"/>
            <a:ext cx="11100021" cy="3089189"/>
          </a:xfrm>
        </p:spPr>
        <p:txBody>
          <a:bodyPr/>
          <a:lstStyle/>
          <a:p>
            <a:pPr marL="0" indent="395288">
              <a:buNone/>
            </a:pPr>
            <a:r>
              <a:rPr lang="vi-VN" dirty="0">
                <a:latin typeface="+mj-lt"/>
              </a:rPr>
              <a:t>Việt nam đã thực hiện nhiều cải cách chính sách thương mại theo hướng minh bạch và tự do hóa thề hiện ở các cam kết đa phương về pháp luật và thể chế cũng như các cam kết mở cửa thị trường hàng hoá, dịch vụ. Thực hiện các cam kết hội nhập sâu rộng nhằm xây dựng Cộng đồng </a:t>
            </a:r>
            <a:r>
              <a:rPr lang="en-US" dirty="0">
                <a:latin typeface="+mj-lt"/>
              </a:rPr>
              <a:t>ASEAN; </a:t>
            </a:r>
            <a:r>
              <a:rPr lang="vi-VN" dirty="0">
                <a:latin typeface="+mj-lt"/>
              </a:rPr>
              <a:t>thực hiện nghiêm túc các cam kêt hợp tác của APEC, tích cực đê xuất và triển khai nhiều sáng kiến, hoạt động của ASEM...</a:t>
            </a:r>
            <a:endParaRPr lang="en-US" dirty="0">
              <a:latin typeface="+mj-lt"/>
            </a:endParaRPr>
          </a:p>
          <a:p>
            <a:pPr marL="0" indent="395288">
              <a:buNone/>
            </a:pPr>
            <a:endParaRPr lang="en-US" dirty="0">
              <a:latin typeface="+mj-lt"/>
            </a:endParaRPr>
          </a:p>
        </p:txBody>
      </p:sp>
    </p:spTree>
    <p:extLst>
      <p:ext uri="{BB962C8B-B14F-4D97-AF65-F5344CB8AC3E}">
        <p14:creationId xmlns:p14="http://schemas.microsoft.com/office/powerpoint/2010/main" val="870640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2493" y="1431235"/>
            <a:ext cx="11100021" cy="3116051"/>
          </a:xfrm>
        </p:spPr>
        <p:txBody>
          <a:bodyPr/>
          <a:lstStyle/>
          <a:p>
            <a:pPr marL="0" indent="741363">
              <a:buNone/>
            </a:pPr>
            <a:r>
              <a:rPr lang="vi-VN" dirty="0"/>
              <a:t>Việt Nam triền khai đầy đủ, nghiêm túc các cam kết hội nhập kinh tế quốc tế, đặc biệt là về cắt giảm thuế quan, mở cửa dịch vụ, đầu tư,... về cơ bản Việt Nam đã hoàn thành lộ trình cắt giảm theo </a:t>
            </a:r>
            <a:r>
              <a:rPr lang="en-US" dirty="0"/>
              <a:t>WT0 </a:t>
            </a:r>
            <a:r>
              <a:rPr lang="vi-VN" dirty="0"/>
              <a:t>từ năm 2014. Bên cạnh đó, Việt Nam đã thực hiện đầy đủ nghĩa vụ ban hành các biểu thuế ưu đãi, thuế nhập khẩu đối với các </a:t>
            </a:r>
            <a:r>
              <a:rPr lang="en-US" dirty="0"/>
              <a:t>FTA </a:t>
            </a:r>
            <a:r>
              <a:rPr lang="vi-VN" dirty="0"/>
              <a:t>đã ký kết.</a:t>
            </a:r>
            <a:endParaRPr lang="en-US" dirty="0"/>
          </a:p>
          <a:p>
            <a:endParaRPr lang="en-US" dirty="0"/>
          </a:p>
        </p:txBody>
      </p:sp>
    </p:spTree>
    <p:extLst>
      <p:ext uri="{BB962C8B-B14F-4D97-AF65-F5344CB8AC3E}">
        <p14:creationId xmlns:p14="http://schemas.microsoft.com/office/powerpoint/2010/main" val="174440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0554" y="1069461"/>
            <a:ext cx="9310315" cy="946840"/>
          </a:xfrm>
        </p:spPr>
        <p:txBody>
          <a:bodyPr>
            <a:noAutofit/>
          </a:bodyPr>
          <a:lstStyle/>
          <a:p>
            <a:pPr lvl="0"/>
            <a:r>
              <a:rPr lang="en-US" b="1" i="1" dirty="0" smtClean="0">
                <a:latin typeface="Times New Roman (Headings)"/>
              </a:rPr>
              <a:t>6.2.3.4. </a:t>
            </a:r>
            <a:r>
              <a:rPr lang="vi-VN" b="1" i="1" dirty="0" smtClean="0">
                <a:latin typeface="Times New Roman (Headings)"/>
              </a:rPr>
              <a:t>Hoàn </a:t>
            </a:r>
            <a:r>
              <a:rPr lang="vi-VN" b="1" i="1" dirty="0">
                <a:latin typeface="Times New Roman (Headings)"/>
              </a:rPr>
              <a:t>thiện thể chế </a:t>
            </a:r>
            <a:r>
              <a:rPr lang="vi-VN" b="1" i="1" dirty="0" smtClean="0">
                <a:latin typeface="Times New Roman (Headings)"/>
              </a:rPr>
              <a:t>k</a:t>
            </a:r>
            <a:r>
              <a:rPr lang="en-US" b="1" i="1" dirty="0" smtClean="0">
                <a:latin typeface="Times New Roman (Headings)"/>
              </a:rPr>
              <a:t>i</a:t>
            </a:r>
            <a:r>
              <a:rPr lang="vi-VN" b="1" i="1" dirty="0" smtClean="0">
                <a:latin typeface="Times New Roman (Headings)"/>
              </a:rPr>
              <a:t>nh </a:t>
            </a:r>
            <a:r>
              <a:rPr lang="vi-VN" b="1" i="1" dirty="0">
                <a:latin typeface="Times New Roman (Headings)"/>
              </a:rPr>
              <a:t>tế và luật pháp</a:t>
            </a:r>
            <a:r>
              <a:rPr lang="en-US" b="1" dirty="0">
                <a:latin typeface="Times New Roman (Headings)"/>
              </a:rPr>
              <a:t/>
            </a:r>
            <a:br>
              <a:rPr lang="en-US" b="1" dirty="0">
                <a:latin typeface="Times New Roman (Headings)"/>
              </a:rPr>
            </a:br>
            <a:endParaRPr lang="en-US" b="1" dirty="0">
              <a:latin typeface="Times New Roman (Headings)"/>
            </a:endParaRPr>
          </a:p>
        </p:txBody>
      </p:sp>
      <p:sp>
        <p:nvSpPr>
          <p:cNvPr id="3" name="Content Placeholder 2"/>
          <p:cNvSpPr>
            <a:spLocks noGrp="1"/>
          </p:cNvSpPr>
          <p:nvPr>
            <p:ph idx="1"/>
          </p:nvPr>
        </p:nvSpPr>
        <p:spPr>
          <a:xfrm>
            <a:off x="572493" y="2150077"/>
            <a:ext cx="11100021" cy="3076832"/>
          </a:xfrm>
        </p:spPr>
        <p:txBody>
          <a:bodyPr/>
          <a:lstStyle/>
          <a:p>
            <a:pPr marL="0" indent="284163"/>
            <a:r>
              <a:rPr lang="vi-VN" dirty="0"/>
              <a:t>Đi đôi với hoàn thiện cơ chế thị trường cần đổi mới cơ chế quản lý của nhà nước </a:t>
            </a:r>
            <a:r>
              <a:rPr lang="vi-VN" dirty="0" smtClean="0"/>
              <a:t>tr</a:t>
            </a:r>
            <a:r>
              <a:rPr lang="en-US" dirty="0"/>
              <a:t>ê</a:t>
            </a:r>
            <a:r>
              <a:rPr lang="vi-VN" dirty="0" smtClean="0"/>
              <a:t>n </a:t>
            </a:r>
            <a:r>
              <a:rPr lang="vi-VN" dirty="0"/>
              <a:t>cơ sở thực hiện đúng các chức năng của nhà nước trong định hướng, tạo môi trường, hỗ trợ và giám sát hoạt động các chủ thể kinh tế</a:t>
            </a:r>
            <a:r>
              <a:rPr lang="vi-VN" dirty="0" smtClean="0"/>
              <a:t>.</a:t>
            </a:r>
            <a:endParaRPr lang="en-US" dirty="0" smtClean="0"/>
          </a:p>
          <a:p>
            <a:pPr marL="0" indent="284163"/>
            <a:r>
              <a:rPr lang="vi-VN" dirty="0"/>
              <a:t>Nhà nước cằn rà soát, hoàn thiện hệ thống pháp luật, nhất là luật pháp liên quan đến hội nhập kinh tế như: đất đai, đầu tư, thương mại, doanh nghiệp, thuế, tài chính tín dụng, </a:t>
            </a:r>
            <a:r>
              <a:rPr lang="vi-VN" dirty="0" smtClean="0"/>
              <a:t>... </a:t>
            </a:r>
            <a:endParaRPr lang="en-US" dirty="0"/>
          </a:p>
        </p:txBody>
      </p:sp>
    </p:spTree>
    <p:extLst>
      <p:ext uri="{BB962C8B-B14F-4D97-AF65-F5344CB8AC3E}">
        <p14:creationId xmlns:p14="http://schemas.microsoft.com/office/powerpoint/2010/main" val="1883916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5841" y="785255"/>
            <a:ext cx="9310315" cy="946840"/>
          </a:xfrm>
        </p:spPr>
        <p:txBody>
          <a:bodyPr>
            <a:normAutofit fontScale="90000"/>
          </a:bodyPr>
          <a:lstStyle/>
          <a:p>
            <a:r>
              <a:rPr lang="en-US" b="1" i="1" dirty="0" smtClean="0">
                <a:latin typeface="Times New Roman (Headings)"/>
              </a:rPr>
              <a:t>6.2.3.5. </a:t>
            </a:r>
            <a:r>
              <a:rPr lang="vi-VN" b="1" i="1" dirty="0" smtClean="0">
                <a:latin typeface="Times New Roman (Headings)"/>
              </a:rPr>
              <a:t>N</a:t>
            </a:r>
            <a:r>
              <a:rPr lang="en-US" b="1" i="1" dirty="0" smtClean="0">
                <a:latin typeface="Times New Roman (Headings)"/>
              </a:rPr>
              <a:t>â</a:t>
            </a:r>
            <a:r>
              <a:rPr lang="vi-VN" b="1" i="1" dirty="0" smtClean="0">
                <a:latin typeface="Times New Roman (Headings)"/>
              </a:rPr>
              <a:t>ng cao năng lực cạnh tranh quốc tế của nền kinh tế</a:t>
            </a:r>
            <a:endParaRPr lang="en-US" b="1" dirty="0">
              <a:latin typeface="Times New Roman (Headings)"/>
            </a:endParaRPr>
          </a:p>
        </p:txBody>
      </p:sp>
      <p:sp>
        <p:nvSpPr>
          <p:cNvPr id="3" name="Content Placeholder 2"/>
          <p:cNvSpPr>
            <a:spLocks noGrp="1"/>
          </p:cNvSpPr>
          <p:nvPr>
            <p:ph idx="1"/>
          </p:nvPr>
        </p:nvSpPr>
        <p:spPr>
          <a:xfrm>
            <a:off x="560136" y="3667808"/>
            <a:ext cx="11100021" cy="1003046"/>
          </a:xfrm>
        </p:spPr>
        <p:txBody>
          <a:bodyPr/>
          <a:lstStyle/>
          <a:p>
            <a:pPr marL="0" indent="0">
              <a:buNone/>
            </a:pPr>
            <a:r>
              <a:rPr lang="vi-VN" dirty="0"/>
              <a:t>Nhà nước cần tăng cường hỗ trợ các doanh nghiệp, giúp các doanh nghiệp vượt qua những thách thức của thời kỳ hội nhập.</a:t>
            </a:r>
            <a:endParaRPr lang="en-US" dirty="0"/>
          </a:p>
        </p:txBody>
      </p:sp>
    </p:spTree>
    <p:extLst>
      <p:ext uri="{BB962C8B-B14F-4D97-AF65-F5344CB8AC3E}">
        <p14:creationId xmlns:p14="http://schemas.microsoft.com/office/powerpoint/2010/main" val="5568500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3600" b="1" i="1" dirty="0" smtClean="0">
                <a:solidFill>
                  <a:srgbClr val="FF0000"/>
                </a:solidFill>
                <a:latin typeface="Times New Roman (Headings)"/>
              </a:rPr>
              <a:t>6.2.3.6. </a:t>
            </a:r>
            <a:r>
              <a:rPr lang="vi-VN" sz="3600" b="1" i="1" dirty="0" smtClean="0">
                <a:solidFill>
                  <a:srgbClr val="FF0000"/>
                </a:solidFill>
                <a:latin typeface="Times New Roman (Headings)"/>
              </a:rPr>
              <a:t>Xây </a:t>
            </a:r>
            <a:r>
              <a:rPr lang="vi-VN" sz="3600" b="1" i="1" dirty="0">
                <a:solidFill>
                  <a:srgbClr val="FF0000"/>
                </a:solidFill>
                <a:latin typeface="Times New Roman (Headings)"/>
              </a:rPr>
              <a:t>dựng nền kinh tế </a:t>
            </a:r>
            <a:r>
              <a:rPr lang="en-US" sz="3600" b="1" i="1" dirty="0">
                <a:solidFill>
                  <a:srgbClr val="FF0000"/>
                </a:solidFill>
                <a:latin typeface="Times New Roman (Headings)"/>
              </a:rPr>
              <a:t>đ</a:t>
            </a:r>
            <a:r>
              <a:rPr lang="vi-VN" sz="3600" b="1" i="1" dirty="0" smtClean="0">
                <a:solidFill>
                  <a:srgbClr val="FF0000"/>
                </a:solidFill>
                <a:latin typeface="Times New Roman (Headings)"/>
              </a:rPr>
              <a:t>ộc </a:t>
            </a:r>
            <a:r>
              <a:rPr lang="vi-VN" sz="3600" b="1" i="1" dirty="0">
                <a:solidFill>
                  <a:srgbClr val="FF0000"/>
                </a:solidFill>
                <a:latin typeface="Times New Roman (Headings)"/>
              </a:rPr>
              <a:t>lập, tự chủ của Việt </a:t>
            </a:r>
            <a:r>
              <a:rPr lang="vi-VN" sz="3600" b="1" i="1" dirty="0" smtClean="0">
                <a:solidFill>
                  <a:srgbClr val="FF0000"/>
                </a:solidFill>
                <a:latin typeface="Times New Roman (Headings)"/>
              </a:rPr>
              <a:t>Nam</a:t>
            </a:r>
            <a:endParaRPr lang="en-US" sz="3600" b="1" dirty="0">
              <a:solidFill>
                <a:srgbClr val="FF0000"/>
              </a:solidFill>
              <a:latin typeface="Times New Roman (Headings)"/>
            </a:endParaRPr>
          </a:p>
        </p:txBody>
      </p:sp>
      <p:sp>
        <p:nvSpPr>
          <p:cNvPr id="3" name="Content Placeholder 2"/>
          <p:cNvSpPr>
            <a:spLocks noGrp="1"/>
          </p:cNvSpPr>
          <p:nvPr>
            <p:ph idx="1"/>
          </p:nvPr>
        </p:nvSpPr>
        <p:spPr>
          <a:xfrm>
            <a:off x="523066" y="2419776"/>
            <a:ext cx="11100021" cy="4178732"/>
          </a:xfrm>
        </p:spPr>
        <p:txBody>
          <a:bodyPr>
            <a:normAutofit lnSpcReduction="10000"/>
          </a:bodyPr>
          <a:lstStyle/>
          <a:p>
            <a:r>
              <a:rPr lang="vi-VN" i="1" dirty="0">
                <a:latin typeface="+mj-lt"/>
              </a:rPr>
              <a:t>Thứ nhất,</a:t>
            </a:r>
            <a:r>
              <a:rPr lang="vi-VN" dirty="0">
                <a:latin typeface="+mj-lt"/>
              </a:rPr>
              <a:t> hoàn thiện, bồ sung đường lối chung và đường lối kinh tế, xây dựng và phát triển đất nước.</a:t>
            </a:r>
            <a:endParaRPr lang="en-US" dirty="0">
              <a:latin typeface="+mj-lt"/>
            </a:endParaRPr>
          </a:p>
          <a:p>
            <a:r>
              <a:rPr lang="vi-VN" i="1" dirty="0">
                <a:latin typeface="+mj-lt"/>
              </a:rPr>
              <a:t>Thứ hai,</a:t>
            </a:r>
            <a:r>
              <a:rPr lang="vi-VN" dirty="0">
                <a:latin typeface="+mj-lt"/>
              </a:rPr>
              <a:t> </a:t>
            </a:r>
            <a:r>
              <a:rPr lang="vi-VN" dirty="0" smtClean="0">
                <a:latin typeface="+mj-lt"/>
              </a:rPr>
              <a:t>đ</a:t>
            </a:r>
            <a:r>
              <a:rPr lang="en-US" dirty="0" smtClean="0">
                <a:latin typeface="+mj-lt"/>
              </a:rPr>
              <a:t>ẩ</a:t>
            </a:r>
            <a:r>
              <a:rPr lang="vi-VN" dirty="0" smtClean="0">
                <a:latin typeface="+mj-lt"/>
              </a:rPr>
              <a:t>y </a:t>
            </a:r>
            <a:r>
              <a:rPr lang="vi-VN" dirty="0">
                <a:latin typeface="+mj-lt"/>
              </a:rPr>
              <a:t>mạnh công nghiệp hóa, hiện đại hóa đất nước. Đây là nhiệm vụ trọng tâm nhằm xây dựng nền kinh tế độc lập, tự chủ, xây dựng cơ sở vật chất cho </a:t>
            </a:r>
            <a:r>
              <a:rPr lang="vi-VN" dirty="0" smtClean="0">
                <a:latin typeface="+mj-lt"/>
              </a:rPr>
              <a:t>CNX</a:t>
            </a:r>
            <a:r>
              <a:rPr lang="en-US" dirty="0" smtClean="0">
                <a:latin typeface="+mj-lt"/>
              </a:rPr>
              <a:t>H</a:t>
            </a:r>
            <a:r>
              <a:rPr lang="vi-VN" dirty="0" smtClean="0">
                <a:latin typeface="+mj-lt"/>
              </a:rPr>
              <a:t>, </a:t>
            </a:r>
            <a:r>
              <a:rPr lang="vi-VN" dirty="0">
                <a:latin typeface="+mj-lt"/>
              </a:rPr>
              <a:t>giúp Việt Nam đi tắt, đón đầu, tránh được nguy cơ tụt hậu xa hơn về kinh tế so với các nước khác. </a:t>
            </a:r>
            <a:endParaRPr lang="en-US" dirty="0" smtClean="0">
              <a:latin typeface="+mj-lt"/>
            </a:endParaRPr>
          </a:p>
          <a:p>
            <a:r>
              <a:rPr lang="vi-VN" i="1" dirty="0">
                <a:latin typeface="+mj-lt"/>
              </a:rPr>
              <a:t>Thứ ha,</a:t>
            </a:r>
            <a:r>
              <a:rPr lang="vi-VN" dirty="0">
                <a:latin typeface="+mj-lt"/>
              </a:rPr>
              <a:t> đẩy mạnh quan hệ kinh tế đối ngoại và chủ động HNKTQT đáp ứng </a:t>
            </a:r>
            <a:r>
              <a:rPr lang="vi-VN" dirty="0" smtClean="0">
                <a:latin typeface="+mj-lt"/>
              </a:rPr>
              <a:t>y</a:t>
            </a:r>
            <a:r>
              <a:rPr lang="en-US" dirty="0">
                <a:latin typeface="+mj-lt"/>
              </a:rPr>
              <a:t>ê</a:t>
            </a:r>
            <a:r>
              <a:rPr lang="vi-VN" dirty="0" smtClean="0">
                <a:latin typeface="+mj-lt"/>
              </a:rPr>
              <a:t>u </a:t>
            </a:r>
            <a:r>
              <a:rPr lang="vi-VN" dirty="0">
                <a:latin typeface="+mj-lt"/>
              </a:rPr>
              <a:t>cầu và lợi ích của đất nước trong quá trình phát triển đồng thời qua đó phát huy vai trò của Việt Nam trong quá trình hợp tác với các nước, các tổ chức khu vực và thế giới. </a:t>
            </a:r>
            <a:endParaRPr lang="en-US" dirty="0">
              <a:latin typeface="+mj-lt"/>
            </a:endParaRPr>
          </a:p>
        </p:txBody>
      </p:sp>
      <p:sp>
        <p:nvSpPr>
          <p:cNvPr id="4" name="TextBox 3"/>
          <p:cNvSpPr txBox="1"/>
          <p:nvPr/>
        </p:nvSpPr>
        <p:spPr>
          <a:xfrm>
            <a:off x="691977" y="1198606"/>
            <a:ext cx="10948087" cy="1077218"/>
          </a:xfrm>
          <a:prstGeom prst="rect">
            <a:avLst/>
          </a:prstGeom>
          <a:noFill/>
        </p:spPr>
        <p:txBody>
          <a:bodyPr wrap="square" rtlCol="0">
            <a:spAutoFit/>
          </a:bodyPr>
          <a:lstStyle/>
          <a:p>
            <a:r>
              <a:rPr lang="vi-VN" sz="3200" u="sng" dirty="0" smtClean="0">
                <a:solidFill>
                  <a:schemeClr val="accent6">
                    <a:lumMod val="75000"/>
                  </a:schemeClr>
                </a:solidFill>
              </a:rPr>
              <a:t>Xây dựng </a:t>
            </a:r>
            <a:r>
              <a:rPr lang="vi-VN" sz="3200" u="sng" dirty="0">
                <a:solidFill>
                  <a:schemeClr val="accent6">
                    <a:lumMod val="75000"/>
                  </a:schemeClr>
                </a:solidFill>
              </a:rPr>
              <a:t>thành công nền kinh tế độc lập tự </a:t>
            </a:r>
            <a:r>
              <a:rPr lang="vi-VN" sz="3200" u="sng" dirty="0" smtClean="0">
                <a:solidFill>
                  <a:schemeClr val="accent6">
                    <a:lumMod val="75000"/>
                  </a:schemeClr>
                </a:solidFill>
              </a:rPr>
              <a:t>chủ</a:t>
            </a:r>
            <a:r>
              <a:rPr lang="en-US" sz="3200" u="sng" dirty="0" smtClean="0">
                <a:solidFill>
                  <a:schemeClr val="accent6">
                    <a:lumMod val="75000"/>
                  </a:schemeClr>
                </a:solidFill>
              </a:rPr>
              <a:t> </a:t>
            </a:r>
            <a:r>
              <a:rPr lang="vi-VN" sz="3200" u="sng" dirty="0" smtClean="0">
                <a:solidFill>
                  <a:schemeClr val="accent6">
                    <a:lumMod val="75000"/>
                  </a:schemeClr>
                </a:solidFill>
              </a:rPr>
              <a:t>phải </a:t>
            </a:r>
            <a:r>
              <a:rPr lang="vi-VN" sz="3200" u="sng" dirty="0">
                <a:solidFill>
                  <a:schemeClr val="accent6">
                    <a:lumMod val="75000"/>
                  </a:schemeClr>
                </a:solidFill>
              </a:rPr>
              <a:t>thực hiện một số biện pháp sau đây</a:t>
            </a:r>
            <a:r>
              <a:rPr lang="en-US" sz="3200" u="sng" dirty="0" smtClean="0">
                <a:solidFill>
                  <a:schemeClr val="accent6">
                    <a:lumMod val="75000"/>
                  </a:schemeClr>
                </a:solidFill>
              </a:rPr>
              <a:t>:</a:t>
            </a:r>
            <a:endParaRPr lang="en-US" sz="3200" u="sng" dirty="0">
              <a:solidFill>
                <a:schemeClr val="accent6">
                  <a:lumMod val="75000"/>
                </a:schemeClr>
              </a:solidFill>
            </a:endParaRPr>
          </a:p>
        </p:txBody>
      </p:sp>
    </p:spTree>
    <p:extLst>
      <p:ext uri="{BB962C8B-B14F-4D97-AF65-F5344CB8AC3E}">
        <p14:creationId xmlns:p14="http://schemas.microsoft.com/office/powerpoint/2010/main" val="11589478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vi-VN" i="1" dirty="0">
                <a:latin typeface="+mj-lt"/>
              </a:rPr>
              <a:t>Thứ tư,</a:t>
            </a:r>
            <a:r>
              <a:rPr lang="vi-VN" dirty="0">
                <a:latin typeface="+mj-lt"/>
              </a:rPr>
              <a:t> tăng cường năng lực cạnh tranh </a:t>
            </a:r>
            <a:r>
              <a:rPr lang="vi-VN" dirty="0" smtClean="0">
                <a:latin typeface="+mj-lt"/>
              </a:rPr>
              <a:t>c</a:t>
            </a:r>
            <a:r>
              <a:rPr lang="en-US" dirty="0">
                <a:latin typeface="+mj-lt"/>
              </a:rPr>
              <a:t>ủ</a:t>
            </a:r>
            <a:r>
              <a:rPr lang="vi-VN" dirty="0" smtClean="0">
                <a:latin typeface="+mj-lt"/>
              </a:rPr>
              <a:t>a </a:t>
            </a:r>
            <a:r>
              <a:rPr lang="vi-VN" dirty="0">
                <a:latin typeface="+mj-lt"/>
              </a:rPr>
              <a:t>nền kinh tế bằng đổi mới, hoàn thiện thể chế kinh tế, hành chính, đặc biệt là tăng cường áp dụng khoa học công nghệ hiện đại, đào tạo nguồn nhân lực chất lượng cao cho các ngành kinh tế, nhất là những ngành có vị thế của Việt Nam.</a:t>
            </a:r>
            <a:endParaRPr lang="en-US" dirty="0">
              <a:latin typeface="+mj-lt"/>
            </a:endParaRPr>
          </a:p>
          <a:p>
            <a:r>
              <a:rPr lang="vi-VN" i="1" dirty="0">
                <a:latin typeface="+mj-lt"/>
              </a:rPr>
              <a:t>Thứ năm,</a:t>
            </a:r>
            <a:r>
              <a:rPr lang="vi-VN" dirty="0">
                <a:latin typeface="+mj-lt"/>
              </a:rPr>
              <a:t> kết hợp chặt chẽ kinh tế với quốc phòng, an ninh và đối ngoại trong hội nhập quốc tế.</a:t>
            </a:r>
            <a:endParaRPr lang="en-US" dirty="0">
              <a:latin typeface="+mj-lt"/>
            </a:endParaRPr>
          </a:p>
        </p:txBody>
      </p:sp>
    </p:spTree>
    <p:extLst>
      <p:ext uri="{BB962C8B-B14F-4D97-AF65-F5344CB8AC3E}">
        <p14:creationId xmlns:p14="http://schemas.microsoft.com/office/powerpoint/2010/main" val="3657070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900</TotalTime>
  <Words>3286</Words>
  <Application>Microsoft Office PowerPoint</Application>
  <PresentationFormat>Custom</PresentationFormat>
  <Paragraphs>198</Paragraphs>
  <Slides>53</Slides>
  <Notes>4</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Chương 6</vt:lpstr>
      <vt:lpstr>6.1. CÔNG NGHIỆP HÓA, HIỆN ĐẠI HÓA Ở VIỆT NAM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Vai trò của cách mạng công nghiệp dối với phát triển</vt:lpstr>
      <vt:lpstr>PowerPoint Presentation</vt:lpstr>
      <vt:lpstr>PowerPoint Presentation</vt:lpstr>
      <vt:lpstr>PowerPoint Presentation</vt:lpstr>
      <vt:lpstr>6.1.1.2. Công nghiệp hóa và các mô hình công nghiệp hóa trên thế giới </vt:lpstr>
      <vt:lpstr>Các mô hình công nghiệp hoá tiêu biểu trên thế giới </vt:lpstr>
      <vt:lpstr>Mô hình công nghiệp hoá kiêu Liên Xô (cũ)</vt:lpstr>
      <vt:lpstr>Mô hình công nghiệp hóa của Nhật Bản và các nước công nghiệp mới (NICs)</vt:lpstr>
      <vt:lpstr>6.1.2 Tính tất yếu khách quan và nội dung cua công nghiệp hóa, hiện đại hóa ở Việt Nam</vt:lpstr>
      <vt:lpstr>PowerPoint Presentation</vt:lpstr>
      <vt:lpstr>6.1.2.2. Nội dung công nghiệp hóa, hiện đại hóa ở Việt Nam</vt:lpstr>
      <vt:lpstr>Hai là, thực hiện các nhiệm vụ để chuyển đổi nền sản xuất - xã hội lạc hậu sang nền sản xuất - xã hội hiện đại.</vt:lpstr>
      <vt:lpstr>6.2. HỘI NHẬP KINH TẾ QUỐC TẾ CỦA VIỆT NAM</vt:lpstr>
      <vt:lpstr>Tính tất yếu khách quan của hội nhập kinh tế quốc tế </vt:lpstr>
      <vt:lpstr>6.2.1.2. Nội dung hội nhập kinh tế quốc tế </vt:lpstr>
      <vt:lpstr>6.2.2. Tác động của hội nhập kinh tế quốc tế đến phát triển của Việt Nam</vt:lpstr>
      <vt:lpstr>6.2.2.2. Tác động tiêu cực của hội nhập kinh tế quốc tế</vt:lpstr>
      <vt:lpstr>PowerPoint Presentation</vt:lpstr>
      <vt:lpstr>6.2.3. Phương hướng nâng cao hiệu quả hội nhập kinh tế quốc tế trong phát triển của Việt Nam</vt:lpstr>
      <vt:lpstr>6.2.3.2. Xây dựng chiến lược và lộ trình hội nhập kinh tế phù hợp</vt:lpstr>
      <vt:lpstr>6.2.3.3. Tích cực, chủ động tham gia vào các liên kết kinh tế quốc tế và thực hiện dầy đủ các cam kết của Việt Nam trong các liên kết kinh tể quốc tế và khu vực</vt:lpstr>
      <vt:lpstr>PowerPoint Presentation</vt:lpstr>
      <vt:lpstr>6.2.3.4. Hoàn thiện thể chế kinh tế và luật pháp </vt:lpstr>
      <vt:lpstr>6.2.3.5. Nâng cao năng lực cạnh tranh quốc tế của nền kinh tế</vt:lpstr>
      <vt:lpstr>6.2.3.6. Xây dựng nền kinh tế độc lập, tự chủ của Việt Nam</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pc</cp:lastModifiedBy>
  <cp:revision>27</cp:revision>
  <dcterms:created xsi:type="dcterms:W3CDTF">2020-05-27T05:21:30Z</dcterms:created>
  <dcterms:modified xsi:type="dcterms:W3CDTF">2020-08-13T18:34:48Z</dcterms:modified>
</cp:coreProperties>
</file>