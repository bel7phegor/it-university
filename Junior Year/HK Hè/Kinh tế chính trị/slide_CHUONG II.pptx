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13" r:id="rId3"/>
    <p:sldId id="314" r:id="rId4"/>
    <p:sldId id="315" r:id="rId5"/>
    <p:sldId id="318" r:id="rId6"/>
    <p:sldId id="319" r:id="rId7"/>
    <p:sldId id="320" r:id="rId8"/>
    <p:sldId id="321" r:id="rId9"/>
    <p:sldId id="322" r:id="rId10"/>
    <p:sldId id="323" r:id="rId11"/>
    <p:sldId id="324" r:id="rId12"/>
    <p:sldId id="325" r:id="rId13"/>
    <p:sldId id="326" r:id="rId14"/>
    <p:sldId id="328" r:id="rId15"/>
    <p:sldId id="329" r:id="rId16"/>
    <p:sldId id="330" r:id="rId17"/>
    <p:sldId id="331" r:id="rId18"/>
    <p:sldId id="332" r:id="rId19"/>
    <p:sldId id="333" r:id="rId20"/>
    <p:sldId id="334" r:id="rId21"/>
    <p:sldId id="335" r:id="rId22"/>
    <p:sldId id="457" r:id="rId23"/>
    <p:sldId id="336" r:id="rId24"/>
    <p:sldId id="338" r:id="rId25"/>
    <p:sldId id="444" r:id="rId26"/>
    <p:sldId id="445" r:id="rId27"/>
    <p:sldId id="446" r:id="rId28"/>
    <p:sldId id="447" r:id="rId29"/>
    <p:sldId id="355" r:id="rId30"/>
    <p:sldId id="449" r:id="rId31"/>
    <p:sldId id="450" r:id="rId32"/>
    <p:sldId id="451" r:id="rId33"/>
    <p:sldId id="452" r:id="rId34"/>
    <p:sldId id="360" r:id="rId35"/>
    <p:sldId id="453" r:id="rId36"/>
    <p:sldId id="361" r:id="rId37"/>
    <p:sldId id="454" r:id="rId38"/>
    <p:sldId id="455" r:id="rId39"/>
    <p:sldId id="456" r:id="rId40"/>
    <p:sldId id="409" r:id="rId41"/>
    <p:sldId id="410" r:id="rId42"/>
    <p:sldId id="411" r:id="rId43"/>
    <p:sldId id="458"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42" r:id="rId59"/>
    <p:sldId id="443" r:id="rId60"/>
    <p:sldId id="363" r:id="rId61"/>
    <p:sldId id="36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858"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80C86-E78F-4846-8768-178226CFD775}" type="datetimeFigureOut">
              <a:rPr lang="en-US" smtClean="0"/>
              <a:t>4/26/2022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F50290-3CA7-484C-992F-057E4B9D8197}" type="slidenum">
              <a:rPr lang="en-US" smtClean="0"/>
              <a:t>‹#›</a:t>
            </a:fld>
            <a:endParaRPr lang="en-US"/>
          </a:p>
        </p:txBody>
      </p:sp>
    </p:spTree>
    <p:extLst>
      <p:ext uri="{BB962C8B-B14F-4D97-AF65-F5344CB8AC3E}">
        <p14:creationId xmlns:p14="http://schemas.microsoft.com/office/powerpoint/2010/main" val="492957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31466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82541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14061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319425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8" name="Footer Placeholder 7">
            <a:extLst>
              <a:ext uri="{FF2B5EF4-FFF2-40B4-BE49-F238E27FC236}">
                <a16:creationId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794086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4" name="Footer Placeholder 3">
            <a:extLst>
              <a:ext uri="{FF2B5EF4-FFF2-40B4-BE49-F238E27FC236}">
                <a16:creationId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575841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3" name="Footer Placeholder 2">
            <a:extLst>
              <a:ext uri="{FF2B5EF4-FFF2-40B4-BE49-F238E27FC236}">
                <a16:creationId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93627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77882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6" name="Footer Placeholder 5">
            <a:extLst>
              <a:ext uri="{FF2B5EF4-FFF2-40B4-BE49-F238E27FC236}">
                <a16:creationId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99707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46818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117024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3"/>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3"/>
          <p:cNvSpPr>
            <a:spLocks noGrp="1"/>
          </p:cNvSpPr>
          <p:nvPr>
            <p:ph type="dt" sz="half" idx="10"/>
          </p:nvPr>
        </p:nvSpPr>
        <p:spPr/>
        <p:txBody>
          <a:bodyPr/>
          <a:lstStyle>
            <a:lvl1pPr>
              <a:defRPr/>
            </a:lvl1pPr>
          </a:lstStyle>
          <a:p>
            <a:pPr>
              <a:defRPr/>
            </a:pPr>
            <a:endParaRPr lang="en-US"/>
          </a:p>
        </p:txBody>
      </p:sp>
      <p:sp>
        <p:nvSpPr>
          <p:cNvPr id="7" name="Footer Placeholder 9"/>
          <p:cNvSpPr>
            <a:spLocks noGrp="1"/>
          </p:cNvSpPr>
          <p:nvPr>
            <p:ph type="ftr" sz="quarter" idx="11"/>
          </p:nvPr>
        </p:nvSpPr>
        <p:spPr/>
        <p:txBody>
          <a:bodyPr/>
          <a:lstStyle>
            <a:lvl1pPr>
              <a:defRPr/>
            </a:lvl1pPr>
          </a:lstStyle>
          <a:p>
            <a:pPr>
              <a:defRPr/>
            </a:pPr>
            <a:endParaRPr lang="en-US"/>
          </a:p>
        </p:txBody>
      </p:sp>
      <p:sp>
        <p:nvSpPr>
          <p:cNvPr id="8" name="Slide Number Placeholder 21"/>
          <p:cNvSpPr>
            <a:spLocks noGrp="1"/>
          </p:cNvSpPr>
          <p:nvPr>
            <p:ph type="sldNum" sz="quarter" idx="12"/>
          </p:nvPr>
        </p:nvSpPr>
        <p:spPr/>
        <p:txBody>
          <a:bodyPr/>
          <a:lstStyle>
            <a:lvl1pPr>
              <a:defRPr/>
            </a:lvl1pPr>
          </a:lstStyle>
          <a:p>
            <a:pPr>
              <a:defRPr/>
            </a:pPr>
            <a:fld id="{11D80DF8-777D-41AC-BB67-9407BA03DA3E}" type="slidenum">
              <a:rPr lang="en-US"/>
              <a:pPr>
                <a:defRPr/>
              </a:pPr>
              <a:t>‹#›</a:t>
            </a:fld>
            <a:endParaRPr lang="en-US"/>
          </a:p>
        </p:txBody>
      </p:sp>
    </p:spTree>
    <p:extLst>
      <p:ext uri="{BB962C8B-B14F-4D97-AF65-F5344CB8AC3E}">
        <p14:creationId xmlns:p14="http://schemas.microsoft.com/office/powerpoint/2010/main" val="3938772978"/>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GV: LƯƠNG XUÂN THÀNH</a:t>
            </a:r>
          </a:p>
        </p:txBody>
      </p:sp>
      <p:sp>
        <p:nvSpPr>
          <p:cNvPr id="4" name="Rectangle 6"/>
          <p:cNvSpPr>
            <a:spLocks noGrp="1" noChangeArrowheads="1"/>
          </p:cNvSpPr>
          <p:nvPr>
            <p:ph type="sldNum" sz="quarter" idx="11"/>
          </p:nvPr>
        </p:nvSpPr>
        <p:spPr>
          <a:ln/>
        </p:spPr>
        <p:txBody>
          <a:bodyPr/>
          <a:lstStyle>
            <a:lvl1pPr>
              <a:defRPr/>
            </a:lvl1pPr>
          </a:lstStyle>
          <a:p>
            <a:pPr>
              <a:defRPr/>
            </a:pPr>
            <a:fld id="{A938CA0F-BEA9-4EFD-B834-C0ACC0B4B651}" type="slidenum">
              <a:rPr lang="en-US"/>
              <a:pPr>
                <a:defRPr/>
              </a:pPr>
              <a:t>‹#›</a:t>
            </a:fld>
            <a:endParaRPr lang="en-US"/>
          </a:p>
        </p:txBody>
      </p:sp>
    </p:spTree>
    <p:extLst>
      <p:ext uri="{BB962C8B-B14F-4D97-AF65-F5344CB8AC3E}">
        <p14:creationId xmlns:p14="http://schemas.microsoft.com/office/powerpoint/2010/main" val="1981236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t>4/26/2022</a:t>
            </a:fld>
            <a:endParaRPr lang="en-US"/>
          </a:p>
        </p:txBody>
      </p:sp>
      <p:sp>
        <p:nvSpPr>
          <p:cNvPr id="5" name="Footer Placeholder 4">
            <a:extLst>
              <a:ext uri="{FF2B5EF4-FFF2-40B4-BE49-F238E27FC236}">
                <a16:creationId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7.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gif"/><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4"/>
          <p:cNvSpPr>
            <a:spLocks noChangeArrowheads="1" noChangeShapeType="1" noTextEdit="1"/>
          </p:cNvSpPr>
          <p:nvPr/>
        </p:nvSpPr>
        <p:spPr bwMode="auto">
          <a:xfrm>
            <a:off x="1117600" y="1371600"/>
            <a:ext cx="10058400" cy="1143000"/>
          </a:xfrm>
          <a:prstGeom prst="rect">
            <a:avLst/>
          </a:prstGeom>
        </p:spPr>
        <p:txBody>
          <a:bodyPr wrap="none" fromWordArt="1">
            <a:prstTxWarp prst="textFadeUp">
              <a:avLst>
                <a:gd name="adj" fmla="val 10968"/>
              </a:avLst>
            </a:prstTxWarp>
          </a:bodyPr>
          <a:lstStyle/>
          <a:p>
            <a:pPr algn="ctr"/>
            <a:r>
              <a:rPr lang="vi-VN" sz="3600" b="1" kern="10" dirty="0">
                <a:ln w="12700">
                  <a:solidFill>
                    <a:srgbClr val="B2B2B2"/>
                  </a:solidFill>
                  <a:round/>
                  <a:headEnd/>
                  <a:tailEnd/>
                </a:ln>
                <a:gradFill rotWithShape="1">
                  <a:gsLst>
                    <a:gs pos="0">
                      <a:srgbClr val="520402"/>
                    </a:gs>
                    <a:gs pos="100000">
                      <a:srgbClr val="FFCC00"/>
                    </a:gs>
                  </a:gsLst>
                  <a:lin ang="5400000" scaled="1"/>
                </a:gradFill>
                <a:effectLst>
                  <a:outerShdw dist="35921" dir="2700000" sy="50000" rotWithShape="0">
                    <a:srgbClr val="875B0D">
                      <a:alpha val="70000"/>
                    </a:srgbClr>
                  </a:outerShdw>
                </a:effectLst>
                <a:latin typeface="Times New Roman"/>
                <a:cs typeface="Times New Roman"/>
              </a:rPr>
              <a:t>Chương	2</a:t>
            </a:r>
            <a:endParaRPr lang="en-US" sz="3600" b="1" kern="10" dirty="0">
              <a:ln w="12700">
                <a:solidFill>
                  <a:srgbClr val="B2B2B2"/>
                </a:solidFill>
                <a:round/>
                <a:headEnd/>
                <a:tailEnd/>
              </a:ln>
              <a:gradFill rotWithShape="1">
                <a:gsLst>
                  <a:gs pos="0">
                    <a:srgbClr val="520402"/>
                  </a:gs>
                  <a:gs pos="100000">
                    <a:srgbClr val="FFCC00"/>
                  </a:gs>
                </a:gsLst>
                <a:lin ang="5400000" scaled="1"/>
              </a:gradFill>
              <a:effectLst>
                <a:outerShdw dist="35921" dir="2700000" sy="50000" rotWithShape="0">
                  <a:srgbClr val="875B0D">
                    <a:alpha val="70000"/>
                  </a:srgbClr>
                </a:outerShdw>
              </a:effectLst>
              <a:latin typeface="Times New Roman"/>
              <a:cs typeface="Times New Roman"/>
            </a:endParaRPr>
          </a:p>
        </p:txBody>
      </p:sp>
      <p:sp>
        <p:nvSpPr>
          <p:cNvPr id="5" name="WordArt 5"/>
          <p:cNvSpPr>
            <a:spLocks noChangeArrowheads="1" noChangeShapeType="1" noTextEdit="1"/>
          </p:cNvSpPr>
          <p:nvPr/>
        </p:nvSpPr>
        <p:spPr bwMode="auto">
          <a:xfrm>
            <a:off x="921265" y="2869857"/>
            <a:ext cx="10871200" cy="2743200"/>
          </a:xfrm>
          <a:prstGeom prst="rect">
            <a:avLst/>
          </a:prstGeom>
        </p:spPr>
        <p:txBody>
          <a:bodyPr wrap="none" fromWordArt="1">
            <a:prstTxWarp prst="textPlain">
              <a:avLst>
                <a:gd name="adj" fmla="val 50532"/>
              </a:avLst>
            </a:prstTxWarp>
          </a:bodyPr>
          <a:lstStyle/>
          <a:p>
            <a:pPr algn="ctr"/>
            <a:r>
              <a:rPr lang="vi-VN" sz="3600" b="1" kern="10" dirty="0">
                <a:ln w="12700">
                  <a:solidFill>
                    <a:srgbClr val="FF00FF"/>
                  </a:solidFill>
                  <a:round/>
                  <a:headEnd/>
                  <a:tailEnd/>
                </a:ln>
                <a:solidFill>
                  <a:srgbClr val="FF00FF">
                    <a:alpha val="50195"/>
                  </a:srgbClr>
                </a:solidFill>
                <a:effectLst>
                  <a:outerShdw dist="45791" dir="2021404" algn="ctr" rotWithShape="0">
                    <a:srgbClr val="9999FF"/>
                  </a:outerShdw>
                </a:effectLst>
                <a:latin typeface="Times New Roman"/>
                <a:cs typeface="Times New Roman"/>
              </a:rPr>
              <a:t>Hàng hóa, thị trường</a:t>
            </a:r>
          </a:p>
          <a:p>
            <a:pPr algn="ctr"/>
            <a:r>
              <a:rPr lang="vi-VN" sz="3600" b="1" kern="10" dirty="0">
                <a:ln w="12700">
                  <a:solidFill>
                    <a:srgbClr val="FF00FF"/>
                  </a:solidFill>
                  <a:round/>
                  <a:headEnd/>
                  <a:tailEnd/>
                </a:ln>
                <a:solidFill>
                  <a:srgbClr val="FF00FF">
                    <a:alpha val="50195"/>
                  </a:srgbClr>
                </a:solidFill>
                <a:effectLst>
                  <a:outerShdw dist="45791" dir="2021404" algn="ctr" rotWithShape="0">
                    <a:srgbClr val="9999FF"/>
                  </a:outerShdw>
                </a:effectLst>
                <a:latin typeface="Times New Roman"/>
                <a:cs typeface="Times New Roman"/>
              </a:rPr>
              <a:t> và vai trò của các chủ thể tham gia thị trường</a:t>
            </a:r>
          </a:p>
          <a:p>
            <a:pPr algn="ctr"/>
            <a:endParaRPr lang="en-US" sz="3600" b="1" kern="10" dirty="0">
              <a:ln w="12700">
                <a:solidFill>
                  <a:srgbClr val="FF00FF"/>
                </a:solidFill>
                <a:round/>
                <a:headEnd/>
                <a:tailEnd/>
              </a:ln>
              <a:solidFill>
                <a:srgbClr val="FF00FF">
                  <a:alpha val="50195"/>
                </a:srgbClr>
              </a:solidFill>
              <a:effectLst>
                <a:outerShdw dist="45791" dir="2021404" algn="ctr" rotWithShape="0">
                  <a:srgbClr val="9999FF"/>
                </a:outerShdw>
              </a:effectLst>
              <a:latin typeface="Times New Roman"/>
              <a:cs typeface="Times New Roman"/>
            </a:endParaRPr>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4)">
                                      <p:cBhvr>
                                        <p:cTn id="7" dur="1000"/>
                                        <p:tgtEl>
                                          <p:spTgt spid="4"/>
                                        </p:tgtEl>
                                      </p:cBhvr>
                                    </p:animEffect>
                                  </p:childTnLst>
                                </p:cTn>
                              </p:par>
                            </p:childTnLst>
                          </p:cTn>
                        </p:par>
                        <p:par>
                          <p:cTn id="8" fill="hold">
                            <p:stCondLst>
                              <p:cond delay="1000"/>
                            </p:stCondLst>
                            <p:childTnLst>
                              <p:par>
                                <p:cTn id="9" presetID="8"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amond(in)">
                                      <p:cBhvr>
                                        <p:cTn id="11" dur="2000"/>
                                        <p:tgtEl>
                                          <p:spTgt spid="5"/>
                                        </p:tgtEl>
                                      </p:cBhvr>
                                    </p:animEffect>
                                  </p:childTnLst>
                                </p:cTn>
                              </p:par>
                            </p:childTnLst>
                          </p:cTn>
                        </p:par>
                        <p:par>
                          <p:cTn id="12" fill="hold">
                            <p:stCondLst>
                              <p:cond delay="3000"/>
                            </p:stCondLst>
                            <p:childTnLst>
                              <p:par>
                                <p:cTn id="13" presetID="23" presetClass="emph" presetSubtype="0" fill="hold" grpId="1" nodeType="afterEffect">
                                  <p:stCondLst>
                                    <p:cond delay="0"/>
                                  </p:stCondLst>
                                  <p:childTnLst>
                                    <p:animClr clrSpc="hsl" dir="cw">
                                      <p:cBhvr override="childStyle">
                                        <p:cTn id="14" dur="2000" fill="hold"/>
                                        <p:tgtEl>
                                          <p:spTgt spid="5"/>
                                        </p:tgtEl>
                                        <p:attrNameLst>
                                          <p:attrName>style.color</p:attrName>
                                        </p:attrNameLst>
                                      </p:cBhvr>
                                      <p:by>
                                        <p:hsl h="10842353" s="0" l="0"/>
                                      </p:by>
                                    </p:animClr>
                                    <p:animClr clrSpc="hsl" dir="cw">
                                      <p:cBhvr>
                                        <p:cTn id="15" dur="2000" fill="hold"/>
                                        <p:tgtEl>
                                          <p:spTgt spid="5"/>
                                        </p:tgtEl>
                                        <p:attrNameLst>
                                          <p:attrName>fillcolor</p:attrName>
                                        </p:attrNameLst>
                                      </p:cBhvr>
                                      <p:by>
                                        <p:hsl h="10842353" s="0" l="0"/>
                                      </p:by>
                                    </p:animClr>
                                    <p:animClr clrSpc="hsl" dir="cw">
                                      <p:cBhvr>
                                        <p:cTn id="16" dur="2000" fill="hold"/>
                                        <p:tgtEl>
                                          <p:spTgt spid="5"/>
                                        </p:tgtEl>
                                        <p:attrNameLst>
                                          <p:attrName>stroke.color</p:attrName>
                                        </p:attrNameLst>
                                      </p:cBhvr>
                                      <p:by>
                                        <p:hsl h="10842353" s="0" l="0"/>
                                      </p:by>
                                    </p:animClr>
                                    <p:set>
                                      <p:cBhvr>
                                        <p:cTn id="17" dur="2000" fill="hold"/>
                                        <p:tgtEl>
                                          <p:spTgt spid="5"/>
                                        </p:tgtEl>
                                        <p:attrNameLst>
                                          <p:attrName>fill.type</p:attrName>
                                        </p:attrNameLst>
                                      </p:cBhvr>
                                      <p:to>
                                        <p:strVal val="solid"/>
                                      </p:to>
                                    </p:set>
                                  </p:childTnLst>
                                </p:cTn>
                              </p:par>
                            </p:childTnLst>
                          </p:cTn>
                        </p:par>
                        <p:par>
                          <p:cTn id="18" fill="hold">
                            <p:stCondLst>
                              <p:cond delay="5000"/>
                            </p:stCondLst>
                            <p:childTnLst>
                              <p:par>
                                <p:cTn id="19" presetID="27" presetClass="emph" presetSubtype="0" fill="hold" grpId="2" nodeType="afterEffect">
                                  <p:stCondLst>
                                    <p:cond delay="0"/>
                                  </p:stCondLst>
                                  <p:childTnLst>
                                    <p:animClr clrSpc="rgb" dir="cw">
                                      <p:cBhvr override="childStyle">
                                        <p:cTn id="20" dur="1000" autoRev="1" fill="hold"/>
                                        <p:tgtEl>
                                          <p:spTgt spid="5"/>
                                        </p:tgtEl>
                                        <p:attrNameLst>
                                          <p:attrName>style.color</p:attrName>
                                        </p:attrNameLst>
                                      </p:cBhvr>
                                      <p:to>
                                        <a:schemeClr val="bg1"/>
                                      </p:to>
                                    </p:animClr>
                                    <p:animClr clrSpc="rgb" dir="cw">
                                      <p:cBhvr>
                                        <p:cTn id="21" dur="1000" autoRev="1" fill="hold"/>
                                        <p:tgtEl>
                                          <p:spTgt spid="5"/>
                                        </p:tgtEl>
                                        <p:attrNameLst>
                                          <p:attrName>fillcolor</p:attrName>
                                        </p:attrNameLst>
                                      </p:cBhvr>
                                      <p:to>
                                        <a:schemeClr val="bg1"/>
                                      </p:to>
                                    </p:animClr>
                                    <p:set>
                                      <p:cBhvr>
                                        <p:cTn id="22" dur="1000" autoRev="1" fill="hold"/>
                                        <p:tgtEl>
                                          <p:spTgt spid="5"/>
                                        </p:tgtEl>
                                        <p:attrNameLst>
                                          <p:attrName>fill.type</p:attrName>
                                        </p:attrNameLst>
                                      </p:cBhvr>
                                      <p:to>
                                        <p:strVal val="solid"/>
                                      </p:to>
                                    </p:set>
                                    <p:set>
                                      <p:cBhvr>
                                        <p:cTn id="23" dur="1000" autoRev="1" fill="hold"/>
                                        <p:tgtEl>
                                          <p:spTgt spid="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5"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GV: LƯƠNG XUÂN THÀNH</a:t>
            </a:r>
          </a:p>
        </p:txBody>
      </p:sp>
      <p:sp>
        <p:nvSpPr>
          <p:cNvPr id="7" name="Slide Number Placeholder 3"/>
          <p:cNvSpPr>
            <a:spLocks noGrp="1"/>
          </p:cNvSpPr>
          <p:nvPr>
            <p:ph type="sldNum" sz="quarter" idx="11"/>
          </p:nvPr>
        </p:nvSpPr>
        <p:spPr/>
        <p:txBody>
          <a:bodyPr/>
          <a:lstStyle/>
          <a:p>
            <a:pPr>
              <a:defRPr/>
            </a:pPr>
            <a:fld id="{44377B6E-9956-40CC-9ED6-33775AD6D600}" type="slidenum">
              <a:rPr lang="en-US"/>
              <a:pPr>
                <a:defRPr/>
              </a:pPr>
              <a:t>2</a:t>
            </a:fld>
            <a:endParaRPr lang="en-US"/>
          </a:p>
        </p:txBody>
      </p:sp>
      <p:sp>
        <p:nvSpPr>
          <p:cNvPr id="4100" name="Text Box 4"/>
          <p:cNvSpPr txBox="1">
            <a:spLocks noChangeArrowheads="1"/>
          </p:cNvSpPr>
          <p:nvPr/>
        </p:nvSpPr>
        <p:spPr bwMode="auto">
          <a:xfrm>
            <a:off x="2273642" y="609600"/>
            <a:ext cx="900395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lvl="0" algn="ctr"/>
            <a:r>
              <a:rPr lang="en-US" sz="2800" dirty="0"/>
              <a:t>2.1. </a:t>
            </a:r>
            <a:r>
              <a:rPr lang="vi-VN" sz="2800" dirty="0"/>
              <a:t>LÝ LUẬN CỦA C.MÁC VÈ SẢN XUẤT HÀNG HÓA VÀ HÀNG HÓA</a:t>
            </a:r>
            <a:endParaRPr lang="en-US" sz="2800" dirty="0"/>
          </a:p>
        </p:txBody>
      </p:sp>
      <p:sp>
        <p:nvSpPr>
          <p:cNvPr id="4101" name="Text Box 6"/>
          <p:cNvSpPr txBox="1">
            <a:spLocks noChangeArrowheads="1"/>
          </p:cNvSpPr>
          <p:nvPr/>
        </p:nvSpPr>
        <p:spPr bwMode="auto">
          <a:xfrm>
            <a:off x="1117600" y="1796472"/>
            <a:ext cx="965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sz="2800" dirty="0"/>
              <a:t>2.1.1. Sản xuất hàng hóa</a:t>
            </a:r>
          </a:p>
          <a:p>
            <a:r>
              <a:rPr lang="vi-VN" sz="2800" i="1" dirty="0"/>
              <a:t>Khái niệm sản xuất hàng hóa</a:t>
            </a:r>
            <a:endParaRPr lang="en-US" sz="2800" dirty="0"/>
          </a:p>
        </p:txBody>
      </p:sp>
      <p:sp>
        <p:nvSpPr>
          <p:cNvPr id="4102" name="Text Box 7"/>
          <p:cNvSpPr txBox="1">
            <a:spLocks noChangeArrowheads="1"/>
          </p:cNvSpPr>
          <p:nvPr/>
        </p:nvSpPr>
        <p:spPr bwMode="auto">
          <a:xfrm>
            <a:off x="1320800" y="3232074"/>
            <a:ext cx="9753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2800" dirty="0"/>
              <a:t>Lịch sử phát triển xã hội trải đã và đang trải qua 2 kiểu tổ chức kinh tế đó là sản xuất tự cấp tự túc và sản xuất hàng hóa.</a:t>
            </a:r>
          </a:p>
        </p:txBody>
      </p:sp>
      <p:sp>
        <p:nvSpPr>
          <p:cNvPr id="4103" name="Text Box 88"/>
          <p:cNvSpPr txBox="1">
            <a:spLocks noChangeArrowheads="1"/>
          </p:cNvSpPr>
          <p:nvPr/>
        </p:nvSpPr>
        <p:spPr bwMode="auto">
          <a:xfrm>
            <a:off x="1625600" y="4365626"/>
            <a:ext cx="7315200"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80000"/>
              </a:lnSpc>
              <a:spcBef>
                <a:spcPct val="50000"/>
              </a:spcBef>
              <a:buFontTx/>
              <a:buChar char="-"/>
            </a:pPr>
            <a:r>
              <a:rPr lang="en-US" altLang="en-US" sz="2800">
                <a:solidFill>
                  <a:srgbClr val="9900CC"/>
                </a:solidFill>
              </a:rPr>
              <a:t>Sản xuất tự cấp tự túc</a:t>
            </a:r>
          </a:p>
        </p:txBody>
      </p:sp>
      <p:sp>
        <p:nvSpPr>
          <p:cNvPr id="2" name="TextBox 1"/>
          <p:cNvSpPr txBox="1">
            <a:spLocks noChangeArrowheads="1"/>
          </p:cNvSpPr>
          <p:nvPr/>
        </p:nvSpPr>
        <p:spPr bwMode="auto">
          <a:xfrm>
            <a:off x="1625600" y="5029200"/>
            <a:ext cx="7620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a:solidFill>
                  <a:srgbClr val="9900CC"/>
                </a:solidFill>
              </a:rPr>
              <a:t>- Sản xuất hàng hóa</a:t>
            </a:r>
          </a:p>
          <a:p>
            <a:pPr eaLnBrk="1" hangingPunct="1"/>
            <a:endParaRPr lang="en-US" altLang="en-US" sz="2800"/>
          </a:p>
        </p:txBody>
      </p:sp>
    </p:spTree>
    <p:extLst>
      <p:ext uri="{BB962C8B-B14F-4D97-AF65-F5344CB8AC3E}">
        <p14:creationId xmlns:p14="http://schemas.microsoft.com/office/powerpoint/2010/main" val="3264898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3"/>
                                        </p:tgtEl>
                                        <p:attrNameLst>
                                          <p:attrName>style.visibility</p:attrName>
                                        </p:attrNameLst>
                                      </p:cBhvr>
                                      <p:to>
                                        <p:strVal val="visible"/>
                                      </p:to>
                                    </p:set>
                                    <p:anim calcmode="lin" valueType="num">
                                      <p:cBhvr additive="base">
                                        <p:cTn id="7" dur="500" fill="hold"/>
                                        <p:tgtEl>
                                          <p:spTgt spid="4103"/>
                                        </p:tgtEl>
                                        <p:attrNameLst>
                                          <p:attrName>ppt_x</p:attrName>
                                        </p:attrNameLst>
                                      </p:cBhvr>
                                      <p:tavLst>
                                        <p:tav tm="0">
                                          <p:val>
                                            <p:strVal val="#ppt_x"/>
                                          </p:val>
                                        </p:tav>
                                        <p:tav tm="100000">
                                          <p:val>
                                            <p:strVal val="#ppt_x"/>
                                          </p:val>
                                        </p:tav>
                                      </p:tavLst>
                                    </p:anim>
                                    <p:anim calcmode="lin" valueType="num">
                                      <p:cBhvr additive="base">
                                        <p:cTn id="8" dur="500" fill="hold"/>
                                        <p:tgtEl>
                                          <p:spTgt spid="410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pPr>
              <a:defRPr/>
            </a:pPr>
            <a:r>
              <a:rPr lang="en-US"/>
              <a:t>GV: LƯƠNG XUÂN THÀNH</a:t>
            </a:r>
          </a:p>
        </p:txBody>
      </p:sp>
      <p:sp>
        <p:nvSpPr>
          <p:cNvPr id="26" name="Slide Number Placeholder 3"/>
          <p:cNvSpPr>
            <a:spLocks noGrp="1"/>
          </p:cNvSpPr>
          <p:nvPr>
            <p:ph type="sldNum" sz="quarter" idx="11"/>
          </p:nvPr>
        </p:nvSpPr>
        <p:spPr/>
        <p:txBody>
          <a:bodyPr/>
          <a:lstStyle/>
          <a:p>
            <a:pPr>
              <a:defRPr/>
            </a:pPr>
            <a:fld id="{8770FF07-7C91-44ED-87AA-5ED9D9A866BE}" type="slidenum">
              <a:rPr lang="en-US"/>
              <a:pPr>
                <a:defRPr/>
              </a:pPr>
              <a:t>3</a:t>
            </a:fld>
            <a:endParaRPr lang="en-US"/>
          </a:p>
        </p:txBody>
      </p:sp>
      <p:graphicFrame>
        <p:nvGraphicFramePr>
          <p:cNvPr id="6177" name="Group 33"/>
          <p:cNvGraphicFramePr>
            <a:graphicFrameLocks noGrp="1"/>
          </p:cNvGraphicFramePr>
          <p:nvPr>
            <p:ph/>
          </p:nvPr>
        </p:nvGraphicFramePr>
        <p:xfrm>
          <a:off x="914400" y="1763713"/>
          <a:ext cx="10464801" cy="4413250"/>
        </p:xfrm>
        <a:graphic>
          <a:graphicData uri="http://schemas.openxmlformats.org/drawingml/2006/table">
            <a:tbl>
              <a:tblPr/>
              <a:tblGrid>
                <a:gridCol w="2724151">
                  <a:extLst>
                    <a:ext uri="{9D8B030D-6E8A-4147-A177-3AD203B41FA5}">
                      <a16:colId xmlns:a16="http://schemas.microsoft.com/office/drawing/2014/main" val="20000"/>
                    </a:ext>
                  </a:extLst>
                </a:gridCol>
                <a:gridCol w="3985683">
                  <a:extLst>
                    <a:ext uri="{9D8B030D-6E8A-4147-A177-3AD203B41FA5}">
                      <a16:colId xmlns:a16="http://schemas.microsoft.com/office/drawing/2014/main" val="20001"/>
                    </a:ext>
                  </a:extLst>
                </a:gridCol>
                <a:gridCol w="3754967">
                  <a:extLst>
                    <a:ext uri="{9D8B030D-6E8A-4147-A177-3AD203B41FA5}">
                      <a16:colId xmlns:a16="http://schemas.microsoft.com/office/drawing/2014/main" val="20002"/>
                    </a:ext>
                  </a:extLst>
                </a:gridCol>
              </a:tblGrid>
              <a:tr h="9753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1371600" algn="l"/>
                        </a:tabLst>
                      </a:pPr>
                      <a:r>
                        <a:rPr kumimoji="0" lang="fr-FR" sz="2900" b="1" i="0" u="none" strike="noStrike" cap="none" normalizeH="0" baseline="0" dirty="0" err="1">
                          <a:ln>
                            <a:noFill/>
                          </a:ln>
                          <a:solidFill>
                            <a:schemeClr val="tx1"/>
                          </a:solidFill>
                          <a:effectLst/>
                          <a:latin typeface="Arial" charset="0"/>
                          <a:ea typeface="Batang" pitchFamily="18" charset="-127"/>
                        </a:rPr>
                        <a:t>Tiêu</a:t>
                      </a:r>
                      <a:r>
                        <a:rPr kumimoji="0" lang="fr-FR" sz="2900" b="1" i="0" u="none" strike="noStrike" cap="none" normalizeH="0" baseline="0" dirty="0">
                          <a:ln>
                            <a:noFill/>
                          </a:ln>
                          <a:solidFill>
                            <a:schemeClr val="tx1"/>
                          </a:solidFill>
                          <a:effectLst/>
                          <a:latin typeface="Arial" charset="0"/>
                          <a:ea typeface="Batang" pitchFamily="18" charset="-127"/>
                        </a:rPr>
                        <a:t> </a:t>
                      </a:r>
                      <a:r>
                        <a:rPr kumimoji="0" lang="fr-FR" sz="2900" b="1" i="0" u="none" strike="noStrike" cap="none" normalizeH="0" baseline="0" dirty="0" err="1">
                          <a:ln>
                            <a:noFill/>
                          </a:ln>
                          <a:solidFill>
                            <a:schemeClr val="tx1"/>
                          </a:solidFill>
                          <a:effectLst/>
                          <a:latin typeface="Arial" charset="0"/>
                          <a:ea typeface="Batang" pitchFamily="18" charset="-127"/>
                        </a:rPr>
                        <a:t>chí</a:t>
                      </a:r>
                      <a:endParaRPr kumimoji="0" lang="fr-FR" sz="4000" b="0" i="0" u="none" strike="noStrike" cap="none" normalizeH="0" baseline="0" dirty="0">
                        <a:ln>
                          <a:noFill/>
                        </a:ln>
                        <a:solidFill>
                          <a:schemeClr val="tx1"/>
                        </a:solidFill>
                        <a:effectLst/>
                        <a:latin typeface="Arial" charset="0"/>
                      </a:endParaRPr>
                    </a:p>
                  </a:txBody>
                  <a:tcPr marL="121920" marR="121920"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1371600" algn="l"/>
                        </a:tabLst>
                      </a:pPr>
                      <a:r>
                        <a:rPr kumimoji="0" lang="fr-FR" sz="2900" b="1" i="0" u="none" strike="noStrike" cap="none" normalizeH="0" baseline="0">
                          <a:ln>
                            <a:noFill/>
                          </a:ln>
                          <a:solidFill>
                            <a:schemeClr val="tx1"/>
                          </a:solidFill>
                          <a:effectLst/>
                          <a:latin typeface="Arial" charset="0"/>
                          <a:ea typeface="Batang" pitchFamily="18" charset="-127"/>
                        </a:rPr>
                        <a:t>Sản xuất TCTT</a:t>
                      </a:r>
                      <a:endParaRPr kumimoji="0" lang="fr-FR" sz="4000" b="0" i="0" u="none" strike="noStrike" cap="none" normalizeH="0" baseline="0">
                        <a:ln>
                          <a:noFill/>
                        </a:ln>
                        <a:solidFill>
                          <a:schemeClr val="tx1"/>
                        </a:solidFill>
                        <a:effectLst/>
                        <a:latin typeface="Arial" charset="0"/>
                      </a:endParaRPr>
                    </a:p>
                  </a:txBody>
                  <a:tcPr marL="121920" marR="121920"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1371600" algn="l"/>
                        </a:tabLst>
                      </a:pPr>
                      <a:r>
                        <a:rPr kumimoji="0" lang="fr-FR" sz="2900" b="1" i="0" u="none" strike="noStrike" cap="none" normalizeH="0" baseline="0">
                          <a:ln>
                            <a:noFill/>
                          </a:ln>
                          <a:solidFill>
                            <a:schemeClr val="tx1"/>
                          </a:solidFill>
                          <a:effectLst/>
                          <a:latin typeface="Arial" charset="0"/>
                          <a:ea typeface="Batang" pitchFamily="18" charset="-127"/>
                        </a:rPr>
                        <a:t>Sản xuất hàng hoá</a:t>
                      </a:r>
                      <a:endParaRPr kumimoji="0" lang="fr-FR" sz="4000" b="0" i="0" u="none" strike="noStrike" cap="none" normalizeH="0" baseline="0">
                        <a:ln>
                          <a:noFill/>
                        </a:ln>
                        <a:solidFill>
                          <a:schemeClr val="tx1"/>
                        </a:solidFill>
                        <a:effectLst/>
                        <a:latin typeface="Arial" charset="0"/>
                      </a:endParaRPr>
                    </a:p>
                  </a:txBody>
                  <a:tcPr marL="121920" marR="121920"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110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r>
                        <a:rPr kumimoji="0" lang="fr-FR" sz="2900" b="0" i="1" u="none" strike="noStrike" cap="none" normalizeH="0" baseline="0">
                          <a:ln>
                            <a:noFill/>
                          </a:ln>
                          <a:solidFill>
                            <a:schemeClr val="tx1"/>
                          </a:solidFill>
                          <a:effectLst/>
                          <a:latin typeface="Arial" charset="0"/>
                          <a:ea typeface="Batang" pitchFamily="18" charset="-127"/>
                        </a:rPr>
                        <a:t>Mục đích sản xuất</a:t>
                      </a:r>
                      <a:endParaRPr kumimoji="0" lang="fr-FR" sz="4000" b="0" i="0" u="none" strike="noStrike" cap="none" normalizeH="0" baseline="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0951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r>
                        <a:rPr kumimoji="0" lang="fr-FR" sz="2900" b="0" i="1" u="none" strike="noStrike" cap="none" normalizeH="0" baseline="0">
                          <a:ln>
                            <a:noFill/>
                          </a:ln>
                          <a:solidFill>
                            <a:schemeClr val="tx1"/>
                          </a:solidFill>
                          <a:effectLst/>
                          <a:latin typeface="Arial" charset="0"/>
                          <a:ea typeface="Batang" pitchFamily="18" charset="-127"/>
                        </a:rPr>
                        <a:t>Quy mô sản xuất</a:t>
                      </a:r>
                      <a:endParaRPr kumimoji="0" lang="fr-FR" sz="4000" b="0" i="0" u="none" strike="noStrike" cap="none" normalizeH="0" baseline="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17296">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r>
                        <a:rPr kumimoji="0" lang="fr-FR" sz="2900" b="0" i="1" u="none" strike="noStrike" cap="none" normalizeH="0" baseline="0">
                          <a:ln>
                            <a:noFill/>
                          </a:ln>
                          <a:solidFill>
                            <a:schemeClr val="tx1"/>
                          </a:solidFill>
                          <a:effectLst/>
                          <a:latin typeface="Arial" charset="0"/>
                          <a:ea typeface="Batang" pitchFamily="18" charset="-127"/>
                        </a:rPr>
                        <a:t>Phương pháp sản xuất</a:t>
                      </a:r>
                      <a:endParaRPr kumimoji="0" lang="fr-FR" sz="4000" b="0" i="0" u="none" strike="noStrike" cap="none" normalizeH="0" baseline="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1371600" algn="l"/>
                        </a:tabLst>
                      </a:pPr>
                      <a:endParaRPr kumimoji="0" lang="fr-FR" sz="4000" b="0" i="0" u="none" strike="noStrike" cap="none" normalizeH="0" baseline="0" dirty="0">
                        <a:ln>
                          <a:noFill/>
                        </a:ln>
                        <a:solidFill>
                          <a:schemeClr val="tx1"/>
                        </a:solidFill>
                        <a:effectLst/>
                        <a:latin typeface="Arial" charset="0"/>
                      </a:endParaRPr>
                    </a:p>
                  </a:txBody>
                  <a:tcPr marL="121920" marR="121920"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146" name="Text Box 31"/>
          <p:cNvSpPr txBox="1">
            <a:spLocks noChangeArrowheads="1"/>
          </p:cNvSpPr>
          <p:nvPr/>
        </p:nvSpPr>
        <p:spPr bwMode="auto">
          <a:xfrm>
            <a:off x="1930400" y="457201"/>
            <a:ext cx="9347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600" dirty="0"/>
              <a:t>So sánh kiểu sản xuất TCTT và sản xuất hàng hóa</a:t>
            </a:r>
          </a:p>
        </p:txBody>
      </p:sp>
      <p:sp>
        <p:nvSpPr>
          <p:cNvPr id="5147" name="TextBox 1"/>
          <p:cNvSpPr txBox="1">
            <a:spLocks noChangeArrowheads="1"/>
          </p:cNvSpPr>
          <p:nvPr/>
        </p:nvSpPr>
        <p:spPr bwMode="auto">
          <a:xfrm>
            <a:off x="3759200" y="2819400"/>
            <a:ext cx="3657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endParaRPr lang="en-US" altLang="en-US"/>
          </a:p>
        </p:txBody>
      </p:sp>
      <p:sp>
        <p:nvSpPr>
          <p:cNvPr id="3" name="TextBox 2"/>
          <p:cNvSpPr txBox="1">
            <a:spLocks noChangeArrowheads="1"/>
          </p:cNvSpPr>
          <p:nvPr/>
        </p:nvSpPr>
        <p:spPr bwMode="auto">
          <a:xfrm>
            <a:off x="3759200" y="2819400"/>
            <a:ext cx="3657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Để tiêu dùng cá nhân và gia đình</a:t>
            </a:r>
            <a:endParaRPr lang="fr-FR" altLang="en-US" sz="2400" b="0">
              <a:latin typeface="Arial" charset="0"/>
            </a:endParaRPr>
          </a:p>
          <a:p>
            <a:pPr eaLnBrk="1" hangingPunct="1"/>
            <a:endParaRPr lang="en-US" altLang="en-US"/>
          </a:p>
        </p:txBody>
      </p:sp>
      <p:sp>
        <p:nvSpPr>
          <p:cNvPr id="4" name="TextBox 3"/>
          <p:cNvSpPr txBox="1">
            <a:spLocks noChangeArrowheads="1"/>
          </p:cNvSpPr>
          <p:nvPr/>
        </p:nvSpPr>
        <p:spPr bwMode="auto">
          <a:xfrm>
            <a:off x="7721600" y="2819400"/>
            <a:ext cx="335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Sản xuất để trao đổi (bán)</a:t>
            </a:r>
            <a:endParaRPr lang="fr-FR" altLang="en-US" sz="2400" b="0">
              <a:latin typeface="Arial" charset="0"/>
            </a:endParaRPr>
          </a:p>
          <a:p>
            <a:pPr eaLnBrk="1" hangingPunct="1"/>
            <a:endParaRPr lang="en-US" altLang="en-US"/>
          </a:p>
        </p:txBody>
      </p:sp>
      <p:sp>
        <p:nvSpPr>
          <p:cNvPr id="5" name="TextBox 4"/>
          <p:cNvSpPr txBox="1">
            <a:spLocks noChangeArrowheads="1"/>
          </p:cNvSpPr>
          <p:nvPr/>
        </p:nvSpPr>
        <p:spPr bwMode="auto">
          <a:xfrm>
            <a:off x="3759200" y="3835400"/>
            <a:ext cx="2946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Nhỏ</a:t>
            </a:r>
            <a:endParaRPr lang="fr-FR" altLang="en-US" sz="2400" b="0">
              <a:latin typeface="Arial" charset="0"/>
            </a:endParaRPr>
          </a:p>
          <a:p>
            <a:pPr eaLnBrk="1" hangingPunct="1"/>
            <a:endParaRPr lang="en-US" altLang="en-US"/>
          </a:p>
        </p:txBody>
      </p:sp>
      <p:sp>
        <p:nvSpPr>
          <p:cNvPr id="6" name="TextBox 5"/>
          <p:cNvSpPr txBox="1">
            <a:spLocks noChangeArrowheads="1"/>
          </p:cNvSpPr>
          <p:nvPr/>
        </p:nvSpPr>
        <p:spPr bwMode="auto">
          <a:xfrm>
            <a:off x="7721600" y="3835400"/>
            <a:ext cx="314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Lớn</a:t>
            </a:r>
            <a:endParaRPr lang="fr-FR" altLang="en-US" sz="2400" b="0">
              <a:latin typeface="Arial" charset="0"/>
            </a:endParaRPr>
          </a:p>
          <a:p>
            <a:pPr eaLnBrk="1" hangingPunct="1"/>
            <a:endParaRPr lang="en-US" altLang="en-US"/>
          </a:p>
        </p:txBody>
      </p:sp>
      <p:sp>
        <p:nvSpPr>
          <p:cNvPr id="7" name="TextBox 6"/>
          <p:cNvSpPr txBox="1">
            <a:spLocks noChangeArrowheads="1"/>
          </p:cNvSpPr>
          <p:nvPr/>
        </p:nvSpPr>
        <p:spPr bwMode="auto">
          <a:xfrm>
            <a:off x="3962400" y="4953000"/>
            <a:ext cx="314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Thủ công lạc hậu</a:t>
            </a:r>
            <a:endParaRPr lang="fr-FR" altLang="en-US" sz="2400" b="0">
              <a:latin typeface="Arial" charset="0"/>
            </a:endParaRPr>
          </a:p>
          <a:p>
            <a:pPr eaLnBrk="1" hangingPunct="1"/>
            <a:endParaRPr lang="en-US" altLang="en-US"/>
          </a:p>
        </p:txBody>
      </p:sp>
      <p:sp>
        <p:nvSpPr>
          <p:cNvPr id="8" name="TextBox 7"/>
          <p:cNvSpPr txBox="1">
            <a:spLocks noChangeArrowheads="1"/>
          </p:cNvSpPr>
          <p:nvPr/>
        </p:nvSpPr>
        <p:spPr bwMode="auto">
          <a:xfrm>
            <a:off x="7823200" y="4953000"/>
            <a:ext cx="3048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fr-FR" altLang="en-US" b="0">
                <a:latin typeface="Arial" charset="0"/>
                <a:ea typeface="Batang" pitchFamily="18" charset="-127"/>
              </a:rPr>
              <a:t>Sử dụng phương pháp tiên tiến</a:t>
            </a:r>
            <a:endParaRPr lang="fr-FR" altLang="en-US" sz="2400" b="0">
              <a:latin typeface="Arial" charset="0"/>
            </a:endParaRPr>
          </a:p>
          <a:p>
            <a:pPr eaLnBrk="1" hangingPunct="1"/>
            <a:endParaRPr lang="en-US" altLang="en-US"/>
          </a:p>
        </p:txBody>
      </p:sp>
    </p:spTree>
    <p:extLst>
      <p:ext uri="{BB962C8B-B14F-4D97-AF65-F5344CB8AC3E}">
        <p14:creationId xmlns:p14="http://schemas.microsoft.com/office/powerpoint/2010/main" val="3517052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arn(inVertical)">
                                      <p:cBhvr>
                                        <p:cTn id="26" dur="500"/>
                                        <p:tgtEl>
                                          <p:spTgt spid="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arn(inVertical)">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heel(1)">
                                      <p:cBhvr>
                                        <p:cTn id="3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CEAD0924-4BDE-42F8-826C-B0AB67991702}" type="slidenum">
              <a:rPr lang="en-US"/>
              <a:pPr>
                <a:defRPr/>
              </a:pPr>
              <a:t>4</a:t>
            </a:fld>
            <a:endParaRPr lang="en-US"/>
          </a:p>
        </p:txBody>
      </p:sp>
      <p:sp>
        <p:nvSpPr>
          <p:cNvPr id="10244" name="Text Box 4"/>
          <p:cNvSpPr txBox="1">
            <a:spLocks noChangeArrowheads="1"/>
          </p:cNvSpPr>
          <p:nvPr/>
        </p:nvSpPr>
        <p:spPr bwMode="auto">
          <a:xfrm>
            <a:off x="914400" y="1143000"/>
            <a:ext cx="10464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600" dirty="0"/>
              <a:t>Sản xuất hàng hóa ra đời, tồn tại khi có đủ 2 điều kiện sau đây:</a:t>
            </a:r>
          </a:p>
        </p:txBody>
      </p:sp>
      <p:sp>
        <p:nvSpPr>
          <p:cNvPr id="2" name="TextBox 1"/>
          <p:cNvSpPr txBox="1">
            <a:spLocks noChangeArrowheads="1"/>
          </p:cNvSpPr>
          <p:nvPr/>
        </p:nvSpPr>
        <p:spPr bwMode="auto">
          <a:xfrm>
            <a:off x="933451" y="3449638"/>
            <a:ext cx="10668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3200" i="1" u="sng">
                <a:solidFill>
                  <a:srgbClr val="0000FF"/>
                </a:solidFill>
              </a:rPr>
              <a:t>Thứ hai:</a:t>
            </a:r>
            <a:r>
              <a:rPr lang="en-US" altLang="en-US" sz="3200">
                <a:solidFill>
                  <a:srgbClr val="0000FF"/>
                </a:solidFill>
              </a:rPr>
              <a:t> Chế độ tư hữu về tư liệu sản xuất.</a:t>
            </a:r>
          </a:p>
          <a:p>
            <a:pPr eaLnBrk="1" hangingPunct="1"/>
            <a:endParaRPr lang="en-US" altLang="en-US" sz="3200"/>
          </a:p>
        </p:txBody>
      </p:sp>
      <p:sp>
        <p:nvSpPr>
          <p:cNvPr id="5" name="TextBox 4"/>
          <p:cNvSpPr txBox="1">
            <a:spLocks noChangeArrowheads="1"/>
          </p:cNvSpPr>
          <p:nvPr/>
        </p:nvSpPr>
        <p:spPr bwMode="auto">
          <a:xfrm>
            <a:off x="914400" y="2371726"/>
            <a:ext cx="102616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3200" i="1" u="sng">
                <a:solidFill>
                  <a:srgbClr val="0000FF"/>
                </a:solidFill>
              </a:rPr>
              <a:t>Thứ nhất:</a:t>
            </a:r>
            <a:r>
              <a:rPr lang="en-US" altLang="en-US" sz="3200">
                <a:solidFill>
                  <a:srgbClr val="0000FF"/>
                </a:solidFill>
              </a:rPr>
              <a:t> Có sự phân công lao động xã hội</a:t>
            </a:r>
          </a:p>
          <a:p>
            <a:pPr eaLnBrk="1" hangingPunct="1"/>
            <a:endParaRPr lang="en-US" altLang="en-US" sz="3200"/>
          </a:p>
        </p:txBody>
      </p:sp>
    </p:spTree>
    <p:extLst>
      <p:ext uri="{BB962C8B-B14F-4D97-AF65-F5344CB8AC3E}">
        <p14:creationId xmlns:p14="http://schemas.microsoft.com/office/powerpoint/2010/main" val="49060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Box 6"/>
          <p:cNvSpPr txBox="1">
            <a:spLocks noChangeArrowheads="1"/>
          </p:cNvSpPr>
          <p:nvPr/>
        </p:nvSpPr>
        <p:spPr bwMode="auto">
          <a:xfrm>
            <a:off x="1727200" y="1920876"/>
            <a:ext cx="934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dirty="0"/>
              <a:t>Đặc trưng của sản xuất hàng hóa</a:t>
            </a:r>
          </a:p>
        </p:txBody>
      </p:sp>
      <p:sp>
        <p:nvSpPr>
          <p:cNvPr id="8" name="TextBox 7"/>
          <p:cNvSpPr txBox="1">
            <a:spLocks noChangeArrowheads="1"/>
          </p:cNvSpPr>
          <p:nvPr/>
        </p:nvSpPr>
        <p:spPr bwMode="auto">
          <a:xfrm>
            <a:off x="1189567" y="4775200"/>
            <a:ext cx="9652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150000"/>
              </a:lnSpc>
              <a:spcBef>
                <a:spcPts val="1800"/>
              </a:spcBef>
              <a:spcAft>
                <a:spcPts val="1800"/>
              </a:spcAft>
            </a:pPr>
            <a:r>
              <a:rPr lang="en-US" altLang="en-US" sz="2800" b="0" i="1"/>
              <a:t>Thứ ba</a:t>
            </a:r>
            <a:r>
              <a:rPr lang="en-US" altLang="en-US" sz="2800" b="0"/>
              <a:t>, mục đích sản xuất hàng hóa là giá trị</a:t>
            </a:r>
          </a:p>
        </p:txBody>
      </p:sp>
      <p:sp>
        <p:nvSpPr>
          <p:cNvPr id="9" name="TextBox 8"/>
          <p:cNvSpPr txBox="1">
            <a:spLocks noChangeArrowheads="1"/>
          </p:cNvSpPr>
          <p:nvPr/>
        </p:nvSpPr>
        <p:spPr bwMode="auto">
          <a:xfrm>
            <a:off x="1016000" y="2667000"/>
            <a:ext cx="10464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b="0" i="1"/>
              <a:t>Thứ nhất</a:t>
            </a:r>
            <a:r>
              <a:rPr lang="en-US" altLang="en-US" sz="2800" b="0"/>
              <a:t>, Sản xuất hàng hóa là sản xuất để trao đổi </a:t>
            </a:r>
          </a:p>
          <a:p>
            <a:pPr eaLnBrk="1" hangingPunct="1"/>
            <a:endParaRPr lang="en-US" altLang="en-US" sz="2800"/>
          </a:p>
        </p:txBody>
      </p:sp>
      <p:sp>
        <p:nvSpPr>
          <p:cNvPr id="11" name="TextBox 10"/>
          <p:cNvSpPr txBox="1">
            <a:spLocks noChangeArrowheads="1"/>
          </p:cNvSpPr>
          <p:nvPr/>
        </p:nvSpPr>
        <p:spPr bwMode="auto">
          <a:xfrm>
            <a:off x="1219200" y="3536950"/>
            <a:ext cx="9637184"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b="0" i="1"/>
              <a:t>Thứ hai</a:t>
            </a:r>
            <a:r>
              <a:rPr lang="en-US" altLang="en-US" sz="2800" b="0"/>
              <a:t>, lao động người sản xuất hàng hóa vừa mang tính chất tư nhân, vừa mang tính xã hội.</a:t>
            </a:r>
          </a:p>
          <a:p>
            <a:pPr eaLnBrk="1" hangingPunct="1"/>
            <a:endParaRPr lang="en-US" altLang="en-US" sz="2800"/>
          </a:p>
        </p:txBody>
      </p:sp>
    </p:spTree>
    <p:extLst>
      <p:ext uri="{BB962C8B-B14F-4D97-AF65-F5344CB8AC3E}">
        <p14:creationId xmlns:p14="http://schemas.microsoft.com/office/powerpoint/2010/main" val="1736791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6CF0AE6B-F25C-4FEB-9B6E-E77B2246A059}" type="slidenum">
              <a:rPr lang="en-US"/>
              <a:pPr>
                <a:defRPr/>
              </a:pPr>
              <a:t>6</a:t>
            </a:fld>
            <a:endParaRPr lang="en-US"/>
          </a:p>
        </p:txBody>
      </p:sp>
      <p:sp>
        <p:nvSpPr>
          <p:cNvPr id="10244" name="Text Box 4"/>
          <p:cNvSpPr txBox="1">
            <a:spLocks noChangeArrowheads="1"/>
          </p:cNvSpPr>
          <p:nvPr/>
        </p:nvSpPr>
        <p:spPr bwMode="auto">
          <a:xfrm>
            <a:off x="1422400" y="990600"/>
            <a:ext cx="944880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marL="165100" eaLnBrk="0" hangingPunct="0">
              <a:tabLst>
                <a:tab pos="165100" algn="l"/>
              </a:tabLst>
              <a:defRPr b="1">
                <a:solidFill>
                  <a:schemeClr val="tx1"/>
                </a:solidFill>
                <a:latin typeface="Times New Roman" pitchFamily="18" charset="0"/>
              </a:defRPr>
            </a:lvl1pPr>
            <a:lvl2pPr marL="742950" indent="-285750" eaLnBrk="0" hangingPunct="0">
              <a:tabLst>
                <a:tab pos="165100" algn="l"/>
              </a:tabLst>
              <a:defRPr b="1">
                <a:solidFill>
                  <a:schemeClr val="tx1"/>
                </a:solidFill>
                <a:latin typeface="Times New Roman" pitchFamily="18" charset="0"/>
              </a:defRPr>
            </a:lvl2pPr>
            <a:lvl3pPr marL="1143000" indent="-228600" eaLnBrk="0" hangingPunct="0">
              <a:tabLst>
                <a:tab pos="165100" algn="l"/>
              </a:tabLst>
              <a:defRPr b="1">
                <a:solidFill>
                  <a:schemeClr val="tx1"/>
                </a:solidFill>
                <a:latin typeface="Times New Roman" pitchFamily="18" charset="0"/>
              </a:defRPr>
            </a:lvl3pPr>
            <a:lvl4pPr marL="1600200" indent="-228600" eaLnBrk="0" hangingPunct="0">
              <a:tabLst>
                <a:tab pos="165100" algn="l"/>
              </a:tabLst>
              <a:defRPr b="1">
                <a:solidFill>
                  <a:schemeClr val="tx1"/>
                </a:solidFill>
                <a:latin typeface="Times New Roman" pitchFamily="18" charset="0"/>
              </a:defRPr>
            </a:lvl4pPr>
            <a:lvl5pPr marL="2057400" indent="-228600" eaLnBrk="0" hangingPunct="0">
              <a:tabLst>
                <a:tab pos="165100" algn="l"/>
              </a:tabLst>
              <a:defRPr b="1">
                <a:solidFill>
                  <a:schemeClr val="tx1"/>
                </a:solidFill>
                <a:latin typeface="Times New Roman" pitchFamily="18" charset="0"/>
              </a:defRPr>
            </a:lvl5pPr>
            <a:lvl6pPr marL="2514600" indent="-228600" eaLnBrk="0" fontAlgn="base" hangingPunct="0">
              <a:spcBef>
                <a:spcPct val="0"/>
              </a:spcBef>
              <a:spcAft>
                <a:spcPct val="0"/>
              </a:spcAft>
              <a:tabLst>
                <a:tab pos="165100" algn="l"/>
              </a:tabLst>
              <a:defRPr b="1">
                <a:solidFill>
                  <a:schemeClr val="tx1"/>
                </a:solidFill>
                <a:latin typeface="Times New Roman" pitchFamily="18" charset="0"/>
              </a:defRPr>
            </a:lvl6pPr>
            <a:lvl7pPr marL="2971800" indent="-228600" eaLnBrk="0" fontAlgn="base" hangingPunct="0">
              <a:spcBef>
                <a:spcPct val="0"/>
              </a:spcBef>
              <a:spcAft>
                <a:spcPct val="0"/>
              </a:spcAft>
              <a:tabLst>
                <a:tab pos="165100" algn="l"/>
              </a:tabLst>
              <a:defRPr b="1">
                <a:solidFill>
                  <a:schemeClr val="tx1"/>
                </a:solidFill>
                <a:latin typeface="Times New Roman" pitchFamily="18" charset="0"/>
              </a:defRPr>
            </a:lvl7pPr>
            <a:lvl8pPr marL="3429000" indent="-228600" eaLnBrk="0" fontAlgn="base" hangingPunct="0">
              <a:spcBef>
                <a:spcPct val="0"/>
              </a:spcBef>
              <a:spcAft>
                <a:spcPct val="0"/>
              </a:spcAft>
              <a:tabLst>
                <a:tab pos="165100" algn="l"/>
              </a:tabLst>
              <a:defRPr b="1">
                <a:solidFill>
                  <a:schemeClr val="tx1"/>
                </a:solidFill>
                <a:latin typeface="Times New Roman" pitchFamily="18" charset="0"/>
              </a:defRPr>
            </a:lvl8pPr>
            <a:lvl9pPr marL="3886200" indent="-228600" eaLnBrk="0" fontAlgn="base" hangingPunct="0">
              <a:spcBef>
                <a:spcPct val="0"/>
              </a:spcBef>
              <a:spcAft>
                <a:spcPct val="0"/>
              </a:spcAft>
              <a:tabLst>
                <a:tab pos="165100" algn="l"/>
              </a:tabLst>
              <a:defRPr b="1">
                <a:solidFill>
                  <a:schemeClr val="tx1"/>
                </a:solidFill>
                <a:latin typeface="Times New Roman" pitchFamily="18" charset="0"/>
              </a:defRPr>
            </a:lvl9pPr>
          </a:lstStyle>
          <a:p>
            <a:r>
              <a:rPr lang="en-US" sz="3200" dirty="0"/>
              <a:t>2.1.2. Hàng hóa </a:t>
            </a:r>
          </a:p>
          <a:p>
            <a:r>
              <a:rPr lang="en-US" altLang="en-US" sz="3200" dirty="0"/>
              <a:t>2.1.2.1. Khái niệm và hai thuộc tính của hàng hóa</a:t>
            </a:r>
          </a:p>
          <a:p>
            <a:pPr algn="just" eaLnBrk="1" fontAlgn="ctr" hangingPunct="1">
              <a:spcBef>
                <a:spcPct val="50000"/>
              </a:spcBef>
            </a:pPr>
            <a:r>
              <a:rPr lang="en-US" altLang="en-US" sz="3200" dirty="0"/>
              <a:t>Khái niệm hàng hóa:</a:t>
            </a:r>
          </a:p>
          <a:p>
            <a:pPr algn="just" eaLnBrk="1" fontAlgn="ctr" hangingPunct="1">
              <a:spcBef>
                <a:spcPct val="50000"/>
              </a:spcBef>
            </a:pPr>
            <a:r>
              <a:rPr lang="en-US" altLang="en-US" sz="3200" dirty="0">
                <a:solidFill>
                  <a:srgbClr val="FF0000"/>
                </a:solidFill>
              </a:rPr>
              <a:t> Hàng hóa là sản phẩm của lao động, có thể thỏa mãn nhu cầu nào đó của con người thông qua trao đổi, mua bán</a:t>
            </a:r>
          </a:p>
          <a:p>
            <a:pPr algn="just" eaLnBrk="1" fontAlgn="ctr" hangingPunct="1">
              <a:spcBef>
                <a:spcPct val="50000"/>
              </a:spcBef>
            </a:pPr>
            <a:endParaRPr lang="en-US" altLang="en-US" sz="3200" dirty="0">
              <a:solidFill>
                <a:srgbClr val="FF0000"/>
              </a:solidFill>
            </a:endParaRPr>
          </a:p>
        </p:txBody>
      </p:sp>
    </p:spTree>
    <p:extLst>
      <p:ext uri="{BB962C8B-B14F-4D97-AF65-F5344CB8AC3E}">
        <p14:creationId xmlns:p14="http://schemas.microsoft.com/office/powerpoint/2010/main" val="4216750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4">
                                            <p:txEl>
                                              <p:pRg st="3" end="3"/>
                                            </p:txEl>
                                          </p:spTgt>
                                        </p:tgtEl>
                                        <p:attrNameLst>
                                          <p:attrName>style.visibility</p:attrName>
                                        </p:attrNameLst>
                                      </p:cBhvr>
                                      <p:to>
                                        <p:strVal val="visible"/>
                                      </p:to>
                                    </p:set>
                                    <p:animEffect transition="in" filter="blinds(horizontal)">
                                      <p:cBhvr>
                                        <p:cTn id="7" dur="500"/>
                                        <p:tgtEl>
                                          <p:spTgt spid="102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GV: LƯƠNG XUÂN THÀNH</a:t>
            </a:r>
          </a:p>
        </p:txBody>
      </p:sp>
      <p:sp>
        <p:nvSpPr>
          <p:cNvPr id="5" name="Slide Number Placeholder 4"/>
          <p:cNvSpPr>
            <a:spLocks noGrp="1"/>
          </p:cNvSpPr>
          <p:nvPr>
            <p:ph type="sldNum" sz="quarter" idx="11"/>
          </p:nvPr>
        </p:nvSpPr>
        <p:spPr/>
        <p:txBody>
          <a:bodyPr/>
          <a:lstStyle/>
          <a:p>
            <a:pPr>
              <a:defRPr/>
            </a:pPr>
            <a:fld id="{66012259-E53B-4AA6-AE50-C75876A42337}" type="slidenum">
              <a:rPr lang="en-US"/>
              <a:pPr>
                <a:defRPr/>
              </a:pPr>
              <a:t>7</a:t>
            </a:fld>
            <a:endParaRPr lang="en-US"/>
          </a:p>
        </p:txBody>
      </p:sp>
      <p:sp>
        <p:nvSpPr>
          <p:cNvPr id="15364" name="Text Box 4"/>
          <p:cNvSpPr txBox="1">
            <a:spLocks noChangeArrowheads="1"/>
          </p:cNvSpPr>
          <p:nvPr/>
        </p:nvSpPr>
        <p:spPr bwMode="auto">
          <a:xfrm>
            <a:off x="2438400" y="1066801"/>
            <a:ext cx="7010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4800" i="1"/>
              <a:t>Hàng hóa</a:t>
            </a:r>
          </a:p>
        </p:txBody>
      </p:sp>
      <p:sp>
        <p:nvSpPr>
          <p:cNvPr id="15365" name="Text Box 5"/>
          <p:cNvSpPr txBox="1">
            <a:spLocks noChangeArrowheads="1"/>
          </p:cNvSpPr>
          <p:nvPr/>
        </p:nvSpPr>
        <p:spPr bwMode="auto">
          <a:xfrm>
            <a:off x="1828800" y="1905000"/>
            <a:ext cx="85344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200" u="sng" dirty="0"/>
              <a:t>Phân thành 2 loại:</a:t>
            </a:r>
          </a:p>
        </p:txBody>
      </p:sp>
      <p:sp>
        <p:nvSpPr>
          <p:cNvPr id="2" name="TextBox 1"/>
          <p:cNvSpPr txBox="1">
            <a:spLocks noChangeArrowheads="1"/>
          </p:cNvSpPr>
          <p:nvPr/>
        </p:nvSpPr>
        <p:spPr bwMode="auto">
          <a:xfrm>
            <a:off x="1524000" y="3124201"/>
            <a:ext cx="93472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buFontTx/>
              <a:buChar char="-"/>
            </a:pPr>
            <a:r>
              <a:rPr lang="en-US" altLang="en-US" sz="2800"/>
              <a:t>Hàng hóa hữu hình: lương thực, quần áo, tư liệu sản xuất…</a:t>
            </a:r>
          </a:p>
          <a:p>
            <a:pPr eaLnBrk="1" hangingPunct="1">
              <a:spcBef>
                <a:spcPct val="50000"/>
              </a:spcBef>
              <a:buFontTx/>
              <a:buChar char="-"/>
            </a:pPr>
            <a:r>
              <a:rPr lang="en-US" altLang="en-US" sz="2800"/>
              <a:t>Hàng hóa vô hình: dịch vụ vận tải, dịch vụ khám chữa bệnh..</a:t>
            </a:r>
          </a:p>
          <a:p>
            <a:pPr eaLnBrk="1" hangingPunct="1"/>
            <a:endParaRPr lang="en-US" altLang="en-US" sz="2800"/>
          </a:p>
        </p:txBody>
      </p:sp>
    </p:spTree>
    <p:extLst>
      <p:ext uri="{BB962C8B-B14F-4D97-AF65-F5344CB8AC3E}">
        <p14:creationId xmlns:p14="http://schemas.microsoft.com/office/powerpoint/2010/main" val="2757185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3622017D-879D-4F42-AE4D-24E1E6CAC37B}" type="slidenum">
              <a:rPr lang="en-US"/>
              <a:pPr>
                <a:defRPr/>
              </a:pPr>
              <a:t>8</a:t>
            </a:fld>
            <a:endParaRPr lang="en-US"/>
          </a:p>
        </p:txBody>
      </p:sp>
      <p:sp>
        <p:nvSpPr>
          <p:cNvPr id="16388" name="Text Box 4"/>
          <p:cNvSpPr txBox="1">
            <a:spLocks noChangeArrowheads="1"/>
          </p:cNvSpPr>
          <p:nvPr/>
        </p:nvSpPr>
        <p:spPr bwMode="auto">
          <a:xfrm>
            <a:off x="1016000" y="1143001"/>
            <a:ext cx="100584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325" indent="223838"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200" dirty="0"/>
              <a:t>Hai thuộc tính của hàng hóa:</a:t>
            </a:r>
          </a:p>
          <a:p>
            <a:pPr eaLnBrk="1" hangingPunct="1">
              <a:spcBef>
                <a:spcPct val="50000"/>
              </a:spcBef>
              <a:buFontTx/>
              <a:buBlip>
                <a:blip r:embed="rId2"/>
              </a:buBlip>
            </a:pPr>
            <a:r>
              <a:rPr lang="en-US" altLang="en-US" sz="3200" dirty="0">
                <a:solidFill>
                  <a:srgbClr val="9900CC"/>
                </a:solidFill>
              </a:rPr>
              <a:t> Giá trị sử dụng:</a:t>
            </a:r>
          </a:p>
        </p:txBody>
      </p:sp>
      <p:sp>
        <p:nvSpPr>
          <p:cNvPr id="2" name="TextBox 1"/>
          <p:cNvSpPr txBox="1">
            <a:spLocks noChangeArrowheads="1"/>
          </p:cNvSpPr>
          <p:nvPr/>
        </p:nvSpPr>
        <p:spPr bwMode="auto">
          <a:xfrm>
            <a:off x="1035051" y="2806700"/>
            <a:ext cx="10058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b="0">
                <a:solidFill>
                  <a:srgbClr val="0000FF"/>
                </a:solidFill>
              </a:rPr>
              <a:t>Giá trị sử dụng là công dụng của sản phẩm có thể thoãi mãn nhu cầu nào đó của con người.</a:t>
            </a:r>
            <a:endParaRPr lang="en-US" altLang="en-US" sz="2800">
              <a:solidFill>
                <a:srgbClr val="0000FF"/>
              </a:solidFill>
            </a:endParaRPr>
          </a:p>
          <a:p>
            <a:pPr eaLnBrk="1" hangingPunct="1"/>
            <a:endParaRPr lang="en-US" altLang="en-US" sz="2800"/>
          </a:p>
        </p:txBody>
      </p:sp>
    </p:spTree>
    <p:extLst>
      <p:ext uri="{BB962C8B-B14F-4D97-AF65-F5344CB8AC3E}">
        <p14:creationId xmlns:p14="http://schemas.microsoft.com/office/powerpoint/2010/main" val="3043682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8C231536-68F2-4184-ADA7-AF02B595E1E7}" type="slidenum">
              <a:rPr lang="en-US"/>
              <a:pPr>
                <a:defRPr/>
              </a:pPr>
              <a:t>9</a:t>
            </a:fld>
            <a:endParaRPr lang="en-US"/>
          </a:p>
        </p:txBody>
      </p:sp>
      <p:sp>
        <p:nvSpPr>
          <p:cNvPr id="12292" name="Text Box 4"/>
          <p:cNvSpPr txBox="1">
            <a:spLocks noChangeArrowheads="1"/>
          </p:cNvSpPr>
          <p:nvPr/>
        </p:nvSpPr>
        <p:spPr bwMode="auto">
          <a:xfrm>
            <a:off x="812800" y="381001"/>
            <a:ext cx="1036320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69913" indent="-569913"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125000"/>
              </a:lnSpc>
            </a:pPr>
            <a:r>
              <a:rPr lang="en-US" altLang="en-US" sz="3600" dirty="0"/>
              <a:t>                   </a:t>
            </a:r>
            <a:r>
              <a:rPr lang="en-US" altLang="en-US" sz="3600" u="sng" dirty="0"/>
              <a:t>- Đặc trưng:</a:t>
            </a:r>
            <a:r>
              <a:rPr lang="en-US" altLang="en-US" sz="3600" dirty="0"/>
              <a:t>	</a:t>
            </a:r>
          </a:p>
          <a:p>
            <a:pPr eaLnBrk="1" hangingPunct="1">
              <a:lnSpc>
                <a:spcPct val="125000"/>
              </a:lnSpc>
            </a:pPr>
            <a:r>
              <a:rPr lang="en-US" altLang="en-US" sz="3600" dirty="0"/>
              <a:t>	+ GTSD do thuộc tính tự nhiên của vật quyết định.</a:t>
            </a:r>
          </a:p>
          <a:p>
            <a:pPr eaLnBrk="1" hangingPunct="1">
              <a:lnSpc>
                <a:spcPct val="125000"/>
              </a:lnSpc>
            </a:pPr>
            <a:r>
              <a:rPr lang="en-US" altLang="en-US" sz="3600" dirty="0"/>
              <a:t>	+ GTSD là một phạm trù vĩnh viễn.</a:t>
            </a:r>
          </a:p>
          <a:p>
            <a:pPr eaLnBrk="1" hangingPunct="1">
              <a:lnSpc>
                <a:spcPct val="125000"/>
              </a:lnSpc>
            </a:pPr>
            <a:r>
              <a:rPr lang="en-US" altLang="en-US" sz="3600" dirty="0"/>
              <a:t>	+ GTSD của hàng hoá chỉ thể hiện khi tiêu dùng.</a:t>
            </a:r>
          </a:p>
          <a:p>
            <a:pPr eaLnBrk="1" hangingPunct="1">
              <a:lnSpc>
                <a:spcPct val="125000"/>
              </a:lnSpc>
            </a:pPr>
            <a:r>
              <a:rPr lang="en-US" altLang="en-US" sz="3600" dirty="0"/>
              <a:t>	+ KHKT ngày càng phát triển -&gt; nhiều GTSD/vật</a:t>
            </a:r>
          </a:p>
        </p:txBody>
      </p:sp>
    </p:spTree>
    <p:extLst>
      <p:ext uri="{BB962C8B-B14F-4D97-AF65-F5344CB8AC3E}">
        <p14:creationId xmlns:p14="http://schemas.microsoft.com/office/powerpoint/2010/main" val="2689961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2">
                                            <p:txEl>
                                              <p:pRg st="1" end="1"/>
                                            </p:txEl>
                                          </p:spTgt>
                                        </p:tgtEl>
                                        <p:attrNameLst>
                                          <p:attrName>style.visibility</p:attrName>
                                        </p:attrNameLst>
                                      </p:cBhvr>
                                      <p:to>
                                        <p:strVal val="visible"/>
                                      </p:to>
                                    </p:set>
                                    <p:animEffect transition="in" filter="blinds(horizontal)">
                                      <p:cBhvr>
                                        <p:cTn id="7" dur="500"/>
                                        <p:tgtEl>
                                          <p:spTgt spid="1229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292">
                                            <p:txEl>
                                              <p:pRg st="2" end="2"/>
                                            </p:txEl>
                                          </p:spTgt>
                                        </p:tgtEl>
                                        <p:attrNameLst>
                                          <p:attrName>style.visibility</p:attrName>
                                        </p:attrNameLst>
                                      </p:cBhvr>
                                      <p:to>
                                        <p:strVal val="visible"/>
                                      </p:to>
                                    </p:set>
                                    <p:animEffect transition="in" filter="blinds(horizontal)">
                                      <p:cBhvr>
                                        <p:cTn id="12" dur="500"/>
                                        <p:tgtEl>
                                          <p:spTgt spid="1229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animEffect transition="in" filter="blinds(horizontal)">
                                      <p:cBhvr>
                                        <p:cTn id="17" dur="500"/>
                                        <p:tgtEl>
                                          <p:spTgt spid="1229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2292">
                                            <p:txEl>
                                              <p:pRg st="4" end="4"/>
                                            </p:txEl>
                                          </p:spTgt>
                                        </p:tgtEl>
                                        <p:attrNameLst>
                                          <p:attrName>style.visibility</p:attrName>
                                        </p:attrNameLst>
                                      </p:cBhvr>
                                      <p:to>
                                        <p:strVal val="visible"/>
                                      </p:to>
                                    </p:set>
                                    <p:animEffect transition="in" filter="blinds(horizontal)">
                                      <p:cBhvr>
                                        <p:cTn id="22" dur="500"/>
                                        <p:tgtEl>
                                          <p:spTgt spid="122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B9390FE5-C45C-4F3E-88F8-DE437FBFFC1A}" type="slidenum">
              <a:rPr lang="en-US"/>
              <a:pPr>
                <a:defRPr/>
              </a:pPr>
              <a:t>10</a:t>
            </a:fld>
            <a:endParaRPr lang="en-US"/>
          </a:p>
        </p:txBody>
      </p:sp>
      <p:sp>
        <p:nvSpPr>
          <p:cNvPr id="13316" name="Text Box 4"/>
          <p:cNvSpPr txBox="1">
            <a:spLocks noChangeArrowheads="1"/>
          </p:cNvSpPr>
          <p:nvPr/>
        </p:nvSpPr>
        <p:spPr bwMode="auto">
          <a:xfrm>
            <a:off x="812800" y="1435100"/>
            <a:ext cx="10363200" cy="4153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115000"/>
              </a:lnSpc>
              <a:spcBef>
                <a:spcPct val="50000"/>
              </a:spcBef>
              <a:buFontTx/>
              <a:buBlip>
                <a:blip r:embed="rId2"/>
              </a:buBlip>
            </a:pPr>
            <a:r>
              <a:rPr lang="en-US" altLang="en-US" sz="2400" dirty="0">
                <a:solidFill>
                  <a:srgbClr val="FF0000"/>
                </a:solidFill>
                <a:latin typeface="Times" panose="020B0500000000000000" pitchFamily="34" charset="0"/>
                <a:ea typeface="Times" panose="020B0500000000000000" pitchFamily="34" charset="0"/>
                <a:cs typeface="Times" panose="020B0500000000000000" pitchFamily="34" charset="0"/>
              </a:rPr>
              <a:t> Giá trị của hàng hoá</a:t>
            </a:r>
            <a:r>
              <a:rPr lang="en-US" altLang="en-US" sz="2400" dirty="0">
                <a:latin typeface="Times" panose="020B0500000000000000" pitchFamily="34" charset="0"/>
                <a:ea typeface="Times" panose="020B0500000000000000" pitchFamily="34" charset="0"/>
                <a:cs typeface="Times" panose="020B0500000000000000" pitchFamily="34" charset="0"/>
              </a:rPr>
              <a:t> </a:t>
            </a:r>
          </a:p>
          <a:p>
            <a:pPr eaLnBrk="1" hangingPunct="1">
              <a:lnSpc>
                <a:spcPct val="115000"/>
              </a:lnSpc>
              <a:spcBef>
                <a:spcPct val="50000"/>
              </a:spcBef>
            </a:pPr>
            <a:r>
              <a:rPr lang="en-US" altLang="ko-KR" sz="2400" dirty="0">
                <a:solidFill>
                  <a:srgbClr val="0000FF"/>
                </a:solidFill>
                <a:latin typeface="Times" panose="020B0500000000000000" pitchFamily="34" charset="0"/>
                <a:ea typeface="Times" panose="020B0500000000000000" pitchFamily="34" charset="0"/>
                <a:cs typeface="Times" panose="020B0500000000000000" pitchFamily="34" charset="0"/>
              </a:rPr>
              <a:t> </a:t>
            </a:r>
            <a:r>
              <a:rPr lang="en-US" altLang="ko-KR" sz="2400" dirty="0">
                <a:latin typeface="Times" panose="020B0500000000000000" pitchFamily="34" charset="0"/>
                <a:ea typeface="Times" panose="020B0500000000000000" pitchFamily="34" charset="0"/>
                <a:cs typeface="Times" panose="020B0500000000000000" pitchFamily="34" charset="0"/>
              </a:rPr>
              <a:t>Giá trị trao đổi: là quan hệ tỷ lệ về lượng giữa một giá trị sử dụng này với một GTSD </a:t>
            </a:r>
            <a:r>
              <a:rPr lang="en-US" altLang="ko-KR" sz="2400" dirty="0" err="1">
                <a:latin typeface="Times" panose="020B0500000000000000" pitchFamily="34" charset="0"/>
                <a:ea typeface="Times" panose="020B0500000000000000" pitchFamily="34" charset="0"/>
                <a:cs typeface="Times" panose="020B0500000000000000" pitchFamily="34" charset="0"/>
              </a:rPr>
              <a:t>khác</a:t>
            </a:r>
            <a:r>
              <a:rPr lang="en-US" altLang="ko-KR" sz="2400" dirty="0">
                <a:latin typeface="Times" panose="020B0500000000000000" pitchFamily="34" charset="0"/>
                <a:ea typeface="Times" panose="020B0500000000000000" pitchFamily="34" charset="0"/>
                <a:cs typeface="Times" panose="020B0500000000000000" pitchFamily="34" charset="0"/>
              </a:rPr>
              <a:t>.</a:t>
            </a:r>
          </a:p>
          <a:p>
            <a:pPr eaLnBrk="1" hangingPunct="1">
              <a:lnSpc>
                <a:spcPct val="115000"/>
              </a:lnSpc>
              <a:spcBef>
                <a:spcPct val="50000"/>
              </a:spcBef>
            </a:pP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Hai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hàng</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hóa</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có</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thể</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trao</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đổi</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được</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với</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nhau</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vì</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chúng</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có</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lượng</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lao</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động</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hao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phí</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bằng</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 </a:t>
            </a:r>
            <a:r>
              <a:rPr lang="en-US" sz="2400" dirty="0" err="1">
                <a:solidFill>
                  <a:srgbClr val="0070C0"/>
                </a:solidFill>
                <a:latin typeface="Times" panose="020B0500000000000000" pitchFamily="34" charset="0"/>
                <a:ea typeface="Times" panose="020B0500000000000000" pitchFamily="34" charset="0"/>
                <a:cs typeface="Times" panose="020B0500000000000000" pitchFamily="34" charset="0"/>
              </a:rPr>
              <a:t>nhau</a:t>
            </a:r>
            <a:r>
              <a:rPr lang="en-US" sz="2400" dirty="0">
                <a:solidFill>
                  <a:srgbClr val="0070C0"/>
                </a:solidFill>
                <a:latin typeface="Times" panose="020B0500000000000000" pitchFamily="34" charset="0"/>
                <a:ea typeface="Times" panose="020B0500000000000000" pitchFamily="34" charset="0"/>
                <a:cs typeface="Times" panose="020B0500000000000000" pitchFamily="34" charset="0"/>
              </a:rPr>
              <a:t>.</a:t>
            </a:r>
            <a:endParaRPr lang="en-US" altLang="ko-KR" sz="2400" dirty="0">
              <a:solidFill>
                <a:srgbClr val="0070C0"/>
              </a:solidFill>
              <a:latin typeface="Times" panose="020B0500000000000000" pitchFamily="34" charset="0"/>
              <a:ea typeface="Times" panose="020B0500000000000000" pitchFamily="34" charset="0"/>
              <a:cs typeface="Times" panose="020B0500000000000000" pitchFamily="34" charset="0"/>
            </a:endParaRPr>
          </a:p>
          <a:p>
            <a:pPr eaLnBrk="1" hangingPunct="1">
              <a:lnSpc>
                <a:spcPct val="115000"/>
              </a:lnSpc>
              <a:spcBef>
                <a:spcPct val="50000"/>
              </a:spcBef>
            </a:pPr>
            <a:r>
              <a:rPr lang="en-US" altLang="ko-KR" sz="2400" dirty="0">
                <a:latin typeface="Times" panose="020B0500000000000000" pitchFamily="34" charset="0"/>
                <a:ea typeface="Times" panose="020B0500000000000000" pitchFamily="34" charset="0"/>
                <a:cs typeface="Times" panose="020B0500000000000000" pitchFamily="34" charset="0"/>
              </a:rPr>
              <a:t>Giá trị của hàng hoá: là lao động của người sản xuất hàng hoá kết tinh trong hàng hoá.</a:t>
            </a:r>
          </a:p>
          <a:p>
            <a:pPr eaLnBrk="1" hangingPunct="1">
              <a:lnSpc>
                <a:spcPct val="115000"/>
              </a:lnSpc>
            </a:pPr>
            <a:r>
              <a:rPr lang="en-US" altLang="en-US" sz="2400" dirty="0">
                <a:latin typeface="Times" panose="020B0500000000000000" pitchFamily="34" charset="0"/>
                <a:ea typeface="Times" panose="020B0500000000000000" pitchFamily="34" charset="0"/>
                <a:cs typeface="Times" panose="020B0500000000000000" pitchFamily="34" charset="0"/>
              </a:rPr>
              <a:t> </a:t>
            </a:r>
          </a:p>
        </p:txBody>
      </p:sp>
    </p:spTree>
    <p:extLst>
      <p:ext uri="{BB962C8B-B14F-4D97-AF65-F5344CB8AC3E}">
        <p14:creationId xmlns:p14="http://schemas.microsoft.com/office/powerpoint/2010/main" val="2061791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animEffect transition="in" filter="blinds(horizontal)">
                                      <p:cBhvr>
                                        <p:cTn id="7" dur="500"/>
                                        <p:tgtEl>
                                          <p:spTgt spid="133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316">
                                            <p:txEl>
                                              <p:pRg st="2" end="2"/>
                                            </p:txEl>
                                          </p:spTgt>
                                        </p:tgtEl>
                                        <p:attrNameLst>
                                          <p:attrName>style.visibility</p:attrName>
                                        </p:attrNameLst>
                                      </p:cBhvr>
                                      <p:to>
                                        <p:strVal val="visible"/>
                                      </p:to>
                                    </p:set>
                                    <p:animEffect transition="in" filter="blinds(horizontal)">
                                      <p:cBhvr>
                                        <p:cTn id="12" dur="500"/>
                                        <p:tgtEl>
                                          <p:spTgt spid="1331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3316">
                                            <p:txEl>
                                              <p:pRg st="3" end="3"/>
                                            </p:txEl>
                                          </p:spTgt>
                                        </p:tgtEl>
                                        <p:attrNameLst>
                                          <p:attrName>style.visibility</p:attrName>
                                        </p:attrNameLst>
                                      </p:cBhvr>
                                      <p:to>
                                        <p:strVal val="visible"/>
                                      </p:to>
                                    </p:set>
                                    <p:animEffect transition="in" filter="blinds(horizontal)">
                                      <p:cBhvr>
                                        <p:cTn id="17" dur="500"/>
                                        <p:tgtEl>
                                          <p:spTgt spid="13316">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3316">
                                            <p:txEl>
                                              <p:pRg st="4" end="4"/>
                                            </p:txEl>
                                          </p:spTgt>
                                        </p:tgtEl>
                                        <p:attrNameLst>
                                          <p:attrName>style.visibility</p:attrName>
                                        </p:attrNameLst>
                                      </p:cBhvr>
                                      <p:to>
                                        <p:strVal val="visible"/>
                                      </p:to>
                                    </p:set>
                                    <p:animEffect transition="in" filter="blinds(horizontal)">
                                      <p:cBhvr>
                                        <p:cTn id="20" dur="500"/>
                                        <p:tgtEl>
                                          <p:spTgt spid="133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4A472295-BF3D-4B15-8A7E-7D685ACD89D0}" type="slidenum">
              <a:rPr lang="en-US"/>
              <a:pPr>
                <a:defRPr/>
              </a:pPr>
              <a:t>11</a:t>
            </a:fld>
            <a:endParaRPr lang="en-US"/>
          </a:p>
        </p:txBody>
      </p:sp>
      <p:sp>
        <p:nvSpPr>
          <p:cNvPr id="19460" name="Text Box 4"/>
          <p:cNvSpPr txBox="1">
            <a:spLocks noChangeArrowheads="1"/>
          </p:cNvSpPr>
          <p:nvPr/>
        </p:nvSpPr>
        <p:spPr bwMode="auto">
          <a:xfrm>
            <a:off x="1625600" y="1219201"/>
            <a:ext cx="9245600"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40000"/>
              </a:spcBef>
              <a:spcAft>
                <a:spcPct val="55000"/>
              </a:spcAft>
            </a:pPr>
            <a:r>
              <a:rPr lang="en-US" altLang="en-US" sz="2800" u="sng"/>
              <a:t>Đặc trưng: </a:t>
            </a:r>
            <a:endParaRPr lang="en-US" altLang="en-US" sz="2800"/>
          </a:p>
          <a:p>
            <a:pPr eaLnBrk="1" hangingPunct="1">
              <a:spcBef>
                <a:spcPct val="40000"/>
              </a:spcBef>
              <a:spcAft>
                <a:spcPct val="55000"/>
              </a:spcAft>
            </a:pPr>
            <a:endParaRPr lang="en-US" altLang="en-US" sz="2800"/>
          </a:p>
        </p:txBody>
      </p:sp>
      <p:sp>
        <p:nvSpPr>
          <p:cNvPr id="2" name="TextBox 1"/>
          <p:cNvSpPr txBox="1"/>
          <p:nvPr/>
        </p:nvSpPr>
        <p:spPr>
          <a:xfrm>
            <a:off x="1602317" y="3343275"/>
            <a:ext cx="9245600" cy="1815882"/>
          </a:xfrm>
          <a:prstGeom prst="rect">
            <a:avLst/>
          </a:prstGeom>
          <a:noFill/>
        </p:spPr>
        <p:txBody>
          <a:bodyPr>
            <a:spAutoFit/>
          </a:bodyPr>
          <a:lstStyle/>
          <a:p>
            <a:pPr indent="290513">
              <a:buFont typeface="Arial" pitchFamily="34" charset="0"/>
              <a:buChar char="•"/>
              <a:defRPr/>
            </a:pPr>
            <a:r>
              <a:rPr lang="en-US" sz="2800" b="0" dirty="0" err="1"/>
              <a:t>Giá</a:t>
            </a:r>
            <a:r>
              <a:rPr lang="en-US" sz="2800" b="0" dirty="0"/>
              <a:t> </a:t>
            </a:r>
            <a:r>
              <a:rPr lang="en-US" sz="2800" b="0" dirty="0" err="1"/>
              <a:t>trị</a:t>
            </a:r>
            <a:r>
              <a:rPr lang="en-US" sz="2800" b="0" dirty="0"/>
              <a:t> </a:t>
            </a:r>
            <a:r>
              <a:rPr lang="en-US" sz="2800" b="0" dirty="0" err="1"/>
              <a:t>hàng</a:t>
            </a:r>
            <a:r>
              <a:rPr lang="en-US" sz="2800" b="0" dirty="0"/>
              <a:t> </a:t>
            </a:r>
            <a:r>
              <a:rPr lang="en-US" sz="2800" b="0" dirty="0" err="1"/>
              <a:t>hoá</a:t>
            </a:r>
            <a:r>
              <a:rPr lang="en-US" sz="2800" b="0" dirty="0"/>
              <a:t> </a:t>
            </a:r>
            <a:r>
              <a:rPr lang="en-US" sz="2800" b="0" dirty="0" err="1"/>
              <a:t>biểu</a:t>
            </a:r>
            <a:r>
              <a:rPr lang="en-US" sz="2800" b="0" dirty="0"/>
              <a:t> </a:t>
            </a:r>
            <a:r>
              <a:rPr lang="en-US" sz="2800" b="0" dirty="0" err="1"/>
              <a:t>hiện</a:t>
            </a:r>
            <a:r>
              <a:rPr lang="en-US" sz="2800" b="0" dirty="0"/>
              <a:t> </a:t>
            </a:r>
            <a:r>
              <a:rPr lang="en-US" sz="2800" b="0" dirty="0" err="1"/>
              <a:t>quan</a:t>
            </a:r>
            <a:r>
              <a:rPr lang="en-US" sz="2800" b="0" dirty="0"/>
              <a:t> </a:t>
            </a:r>
            <a:r>
              <a:rPr lang="en-US" sz="2800" b="0" dirty="0" err="1"/>
              <a:t>hệ</a:t>
            </a:r>
            <a:r>
              <a:rPr lang="en-US" sz="2800" b="0" dirty="0"/>
              <a:t> </a:t>
            </a:r>
            <a:r>
              <a:rPr lang="en-US" sz="2800" b="0" dirty="0" err="1"/>
              <a:t>sản</a:t>
            </a:r>
            <a:r>
              <a:rPr lang="en-US" sz="2800" b="0" dirty="0"/>
              <a:t> </a:t>
            </a:r>
            <a:r>
              <a:rPr lang="en-US" sz="2800" b="0" dirty="0" err="1"/>
              <a:t>xuất</a:t>
            </a:r>
            <a:r>
              <a:rPr lang="en-US" sz="2800" b="0" dirty="0"/>
              <a:t> </a:t>
            </a:r>
            <a:r>
              <a:rPr lang="en-US" sz="2800" b="0" dirty="0" err="1"/>
              <a:t>xã</a:t>
            </a:r>
            <a:r>
              <a:rPr lang="en-US" sz="2800" b="0" dirty="0"/>
              <a:t> </a:t>
            </a:r>
            <a:r>
              <a:rPr lang="en-US" sz="2800" b="0" dirty="0" err="1"/>
              <a:t>hội</a:t>
            </a:r>
            <a:r>
              <a:rPr lang="en-US" sz="2800" b="0" dirty="0"/>
              <a:t> </a:t>
            </a:r>
            <a:r>
              <a:rPr lang="en-US" sz="2800" b="0" dirty="0" err="1"/>
              <a:t>của</a:t>
            </a:r>
            <a:r>
              <a:rPr lang="en-US" sz="2800" b="0" dirty="0"/>
              <a:t> </a:t>
            </a:r>
            <a:r>
              <a:rPr lang="en-US" sz="2800" b="0" dirty="0" err="1"/>
              <a:t>người</a:t>
            </a:r>
            <a:r>
              <a:rPr lang="en-US" sz="2800" b="0" dirty="0"/>
              <a:t> </a:t>
            </a:r>
            <a:r>
              <a:rPr lang="en-US" sz="2800" b="0" dirty="0" err="1"/>
              <a:t>sản</a:t>
            </a:r>
            <a:r>
              <a:rPr lang="en-US" sz="2800" b="0" dirty="0"/>
              <a:t> </a:t>
            </a:r>
            <a:r>
              <a:rPr lang="en-US" sz="2800" b="0" dirty="0" err="1"/>
              <a:t>xuất</a:t>
            </a:r>
            <a:r>
              <a:rPr lang="en-US" sz="2800" b="0" dirty="0"/>
              <a:t> </a:t>
            </a:r>
            <a:r>
              <a:rPr lang="en-US" sz="2800" b="0" dirty="0" err="1"/>
              <a:t>hàng</a:t>
            </a:r>
            <a:r>
              <a:rPr lang="en-US" sz="2800" b="0" dirty="0"/>
              <a:t> </a:t>
            </a:r>
            <a:r>
              <a:rPr lang="en-US" sz="2800" b="0" dirty="0" err="1"/>
              <a:t>hóa</a:t>
            </a:r>
            <a:r>
              <a:rPr lang="en-US" sz="2800" b="0" dirty="0"/>
              <a:t>, </a:t>
            </a:r>
            <a:r>
              <a:rPr lang="en-US" sz="2800" b="0" dirty="0" err="1"/>
              <a:t>tức</a:t>
            </a:r>
            <a:r>
              <a:rPr lang="en-US" sz="2800" b="0" dirty="0"/>
              <a:t> </a:t>
            </a:r>
            <a:r>
              <a:rPr lang="en-US" sz="2800" b="0" dirty="0" err="1"/>
              <a:t>là</a:t>
            </a:r>
            <a:r>
              <a:rPr lang="en-US" sz="2800" b="0" dirty="0"/>
              <a:t> </a:t>
            </a:r>
            <a:r>
              <a:rPr lang="en-US" sz="2800" b="0" dirty="0" err="1"/>
              <a:t>những</a:t>
            </a:r>
            <a:r>
              <a:rPr lang="en-US" sz="2800" b="0" dirty="0"/>
              <a:t> </a:t>
            </a:r>
            <a:r>
              <a:rPr lang="en-US" sz="2800" b="0" dirty="0" err="1"/>
              <a:t>quan</a:t>
            </a:r>
            <a:r>
              <a:rPr lang="en-US" sz="2800" b="0" dirty="0"/>
              <a:t> </a:t>
            </a:r>
            <a:r>
              <a:rPr lang="en-US" sz="2800" b="0" dirty="0" err="1"/>
              <a:t>hệ</a:t>
            </a:r>
            <a:r>
              <a:rPr lang="en-US" sz="2800" b="0" dirty="0"/>
              <a:t> </a:t>
            </a:r>
            <a:r>
              <a:rPr lang="en-US" sz="2800" b="0" dirty="0" err="1"/>
              <a:t>kinh</a:t>
            </a:r>
            <a:r>
              <a:rPr lang="en-US" sz="2800" b="0" dirty="0"/>
              <a:t> </a:t>
            </a:r>
            <a:r>
              <a:rPr lang="en-US" sz="2800" b="0" dirty="0" err="1"/>
              <a:t>tế</a:t>
            </a:r>
            <a:r>
              <a:rPr lang="en-US" sz="2800" b="0" dirty="0"/>
              <a:t> </a:t>
            </a:r>
            <a:r>
              <a:rPr lang="en-US" sz="2800" b="0" dirty="0" err="1"/>
              <a:t>giữa</a:t>
            </a:r>
            <a:r>
              <a:rPr lang="en-US" sz="2800" b="0" dirty="0"/>
              <a:t> </a:t>
            </a:r>
            <a:r>
              <a:rPr lang="en-US" sz="2800" b="0" dirty="0" err="1"/>
              <a:t>những</a:t>
            </a:r>
            <a:r>
              <a:rPr lang="en-US" sz="2800" b="0" dirty="0"/>
              <a:t> </a:t>
            </a:r>
            <a:r>
              <a:rPr lang="en-US" sz="2800" b="0" dirty="0" err="1"/>
              <a:t>người</a:t>
            </a:r>
            <a:r>
              <a:rPr lang="en-US" sz="2800" b="0" dirty="0"/>
              <a:t> </a:t>
            </a:r>
            <a:r>
              <a:rPr lang="en-US" sz="2800" b="0" dirty="0" err="1"/>
              <a:t>sản</a:t>
            </a:r>
            <a:r>
              <a:rPr lang="en-US" sz="2800" b="0" dirty="0"/>
              <a:t> </a:t>
            </a:r>
            <a:r>
              <a:rPr lang="en-US" sz="2800" b="0" dirty="0" err="1"/>
              <a:t>xuất</a:t>
            </a:r>
            <a:r>
              <a:rPr lang="en-US" sz="2800" b="0" dirty="0"/>
              <a:t> </a:t>
            </a:r>
            <a:r>
              <a:rPr lang="en-US" sz="2800" b="0" dirty="0" err="1"/>
              <a:t>hàng</a:t>
            </a:r>
            <a:r>
              <a:rPr lang="en-US" sz="2800" b="0" dirty="0"/>
              <a:t> </a:t>
            </a:r>
            <a:r>
              <a:rPr lang="en-US" sz="2800" b="0" dirty="0" err="1"/>
              <a:t>hoá</a:t>
            </a:r>
            <a:r>
              <a:rPr lang="en-US" sz="2800" b="0" dirty="0"/>
              <a:t>.</a:t>
            </a:r>
          </a:p>
          <a:p>
            <a:pPr marL="285750" indent="-285750">
              <a:buFont typeface="Arial" pitchFamily="34" charset="0"/>
              <a:buChar char="•"/>
              <a:defRPr/>
            </a:pPr>
            <a:endParaRPr lang="en-US" sz="2800" b="0" dirty="0"/>
          </a:p>
        </p:txBody>
      </p:sp>
      <p:sp>
        <p:nvSpPr>
          <p:cNvPr id="5" name="TextBox 4"/>
          <p:cNvSpPr txBox="1"/>
          <p:nvPr/>
        </p:nvSpPr>
        <p:spPr>
          <a:xfrm>
            <a:off x="1625600" y="2057400"/>
            <a:ext cx="8737600" cy="954088"/>
          </a:xfrm>
          <a:prstGeom prst="rect">
            <a:avLst/>
          </a:prstGeom>
          <a:noFill/>
        </p:spPr>
        <p:txBody>
          <a:bodyPr>
            <a:spAutoFit/>
          </a:bodyPr>
          <a:lstStyle/>
          <a:p>
            <a:pPr indent="347663">
              <a:buFont typeface="Arial" pitchFamily="34" charset="0"/>
              <a:buChar char="•"/>
              <a:defRPr/>
            </a:pPr>
            <a:r>
              <a:rPr lang="en-US" sz="2800" b="0" dirty="0" err="1"/>
              <a:t>Giá</a:t>
            </a:r>
            <a:r>
              <a:rPr lang="en-US" sz="2800" b="0" dirty="0"/>
              <a:t> </a:t>
            </a:r>
            <a:r>
              <a:rPr lang="en-US" sz="2800" b="0" dirty="0" err="1"/>
              <a:t>trị</a:t>
            </a:r>
            <a:r>
              <a:rPr lang="en-US" sz="2800" b="0" dirty="0"/>
              <a:t> </a:t>
            </a:r>
            <a:r>
              <a:rPr lang="en-US" sz="2800" b="0" dirty="0" err="1"/>
              <a:t>hàng</a:t>
            </a:r>
            <a:r>
              <a:rPr lang="en-US" sz="2800" b="0" dirty="0"/>
              <a:t> </a:t>
            </a:r>
            <a:r>
              <a:rPr lang="en-US" sz="2800" b="0" dirty="0" err="1"/>
              <a:t>hoá</a:t>
            </a:r>
            <a:r>
              <a:rPr lang="en-US" sz="2800" b="0" dirty="0"/>
              <a:t> </a:t>
            </a:r>
            <a:r>
              <a:rPr lang="en-US" sz="2800" b="0" dirty="0" err="1"/>
              <a:t>là</a:t>
            </a:r>
            <a:r>
              <a:rPr lang="en-US" sz="2800" b="0" dirty="0"/>
              <a:t> </a:t>
            </a:r>
            <a:r>
              <a:rPr lang="en-US" sz="2800" b="0" dirty="0" err="1"/>
              <a:t>phạm</a:t>
            </a:r>
            <a:r>
              <a:rPr lang="en-US" sz="2800" b="0" dirty="0"/>
              <a:t> </a:t>
            </a:r>
            <a:r>
              <a:rPr lang="en-US" sz="2800" b="0" dirty="0" err="1"/>
              <a:t>trù</a:t>
            </a:r>
            <a:r>
              <a:rPr lang="en-US" sz="2800" b="0" dirty="0"/>
              <a:t> </a:t>
            </a:r>
            <a:r>
              <a:rPr lang="en-US" sz="2800" b="0" dirty="0" err="1"/>
              <a:t>lịch</a:t>
            </a:r>
            <a:r>
              <a:rPr lang="en-US" sz="2800" b="0" dirty="0"/>
              <a:t> </a:t>
            </a:r>
            <a:r>
              <a:rPr lang="en-US" sz="2800" b="0" dirty="0" err="1"/>
              <a:t>sử</a:t>
            </a:r>
            <a:r>
              <a:rPr lang="en-US" sz="2800" b="0" dirty="0"/>
              <a:t> </a:t>
            </a:r>
          </a:p>
          <a:p>
            <a:pPr marL="457200" indent="-457200">
              <a:buFont typeface="Arial" pitchFamily="34" charset="0"/>
              <a:buChar char="•"/>
              <a:defRPr/>
            </a:pPr>
            <a:endParaRPr lang="en-US" sz="2800" b="0" dirty="0"/>
          </a:p>
        </p:txBody>
      </p:sp>
    </p:spTree>
    <p:extLst>
      <p:ext uri="{BB962C8B-B14F-4D97-AF65-F5344CB8AC3E}">
        <p14:creationId xmlns:p14="http://schemas.microsoft.com/office/powerpoint/2010/main" val="2772189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GV: LƯƠNG XUÂN THÀNH</a:t>
            </a:r>
          </a:p>
        </p:txBody>
      </p:sp>
      <p:sp>
        <p:nvSpPr>
          <p:cNvPr id="5" name="Slide Number Placeholder 4"/>
          <p:cNvSpPr>
            <a:spLocks noGrp="1"/>
          </p:cNvSpPr>
          <p:nvPr>
            <p:ph type="sldNum" sz="quarter" idx="11"/>
          </p:nvPr>
        </p:nvSpPr>
        <p:spPr/>
        <p:txBody>
          <a:bodyPr/>
          <a:lstStyle/>
          <a:p>
            <a:pPr>
              <a:defRPr/>
            </a:pPr>
            <a:fld id="{9D04D8A3-247E-4595-85CB-18E09A9AB517}" type="slidenum">
              <a:rPr lang="en-US"/>
              <a:pPr>
                <a:defRPr/>
              </a:pPr>
              <a:t>12</a:t>
            </a:fld>
            <a:endParaRPr lang="en-US"/>
          </a:p>
        </p:txBody>
      </p:sp>
      <p:sp>
        <p:nvSpPr>
          <p:cNvPr id="20484" name="Text Box 4"/>
          <p:cNvSpPr txBox="1">
            <a:spLocks noChangeArrowheads="1"/>
          </p:cNvSpPr>
          <p:nvPr/>
        </p:nvSpPr>
        <p:spPr bwMode="auto">
          <a:xfrm>
            <a:off x="1320800" y="2667000"/>
            <a:ext cx="9652000" cy="171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40000"/>
              </a:spcBef>
            </a:pPr>
            <a:r>
              <a:rPr lang="en-US" altLang="en-US" sz="2800" dirty="0"/>
              <a:t>- Mặt thống nhất thể hiện ở chỗ: </a:t>
            </a:r>
          </a:p>
          <a:p>
            <a:pPr eaLnBrk="1" hangingPunct="1">
              <a:spcBef>
                <a:spcPct val="40000"/>
              </a:spcBef>
            </a:pPr>
            <a:r>
              <a:rPr lang="en-US" altLang="en-US" sz="2800" dirty="0"/>
              <a:t>+  Song song tồn tại không tách rồi nhau</a:t>
            </a:r>
          </a:p>
          <a:p>
            <a:pPr eaLnBrk="1" hangingPunct="1">
              <a:spcBef>
                <a:spcPct val="40000"/>
              </a:spcBef>
            </a:pPr>
            <a:r>
              <a:rPr lang="en-US" altLang="en-US" sz="2800" dirty="0"/>
              <a:t>+  Đều do lao động tạo ra</a:t>
            </a:r>
          </a:p>
        </p:txBody>
      </p:sp>
      <p:sp>
        <p:nvSpPr>
          <p:cNvPr id="20485" name="Text Box 5"/>
          <p:cNvSpPr txBox="1">
            <a:spLocks noChangeArrowheads="1"/>
          </p:cNvSpPr>
          <p:nvPr/>
        </p:nvSpPr>
        <p:spPr bwMode="auto">
          <a:xfrm>
            <a:off x="2557848" y="533400"/>
            <a:ext cx="9227751"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200" dirty="0"/>
              <a:t>Mối quan hệ  giữa hai  thuộc tính  giá trị sử dụng và giá trị của hàng hoá.</a:t>
            </a:r>
          </a:p>
        </p:txBody>
      </p:sp>
    </p:spTree>
    <p:extLst>
      <p:ext uri="{BB962C8B-B14F-4D97-AF65-F5344CB8AC3E}">
        <p14:creationId xmlns:p14="http://schemas.microsoft.com/office/powerpoint/2010/main" val="1593967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0484">
                                            <p:txEl>
                                              <p:pRg st="1" end="1"/>
                                            </p:txEl>
                                          </p:spTgt>
                                        </p:tgtEl>
                                        <p:attrNameLst>
                                          <p:attrName>style.visibility</p:attrName>
                                        </p:attrNameLst>
                                      </p:cBhvr>
                                      <p:to>
                                        <p:strVal val="visible"/>
                                      </p:to>
                                    </p:set>
                                    <p:animEffect transition="in" filter="barn(inVertical)">
                                      <p:cBhvr>
                                        <p:cTn id="7" dur="500"/>
                                        <p:tgtEl>
                                          <p:spTgt spid="2048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0484">
                                            <p:txEl>
                                              <p:pRg st="2" end="2"/>
                                            </p:txEl>
                                          </p:spTgt>
                                        </p:tgtEl>
                                        <p:attrNameLst>
                                          <p:attrName>style.visibility</p:attrName>
                                        </p:attrNameLst>
                                      </p:cBhvr>
                                      <p:to>
                                        <p:strVal val="visible"/>
                                      </p:to>
                                    </p:set>
                                    <p:animEffect transition="in" filter="wipe(down)">
                                      <p:cBhvr>
                                        <p:cTn id="12" dur="500"/>
                                        <p:tgtEl>
                                          <p:spTgt spid="204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GV: LƯƠNG XUÂN THÀNH</a:t>
            </a:r>
          </a:p>
        </p:txBody>
      </p:sp>
      <p:sp>
        <p:nvSpPr>
          <p:cNvPr id="6" name="Slide Number Placeholder 4"/>
          <p:cNvSpPr>
            <a:spLocks noGrp="1"/>
          </p:cNvSpPr>
          <p:nvPr>
            <p:ph type="sldNum" sz="quarter" idx="11"/>
          </p:nvPr>
        </p:nvSpPr>
        <p:spPr/>
        <p:txBody>
          <a:bodyPr/>
          <a:lstStyle/>
          <a:p>
            <a:pPr>
              <a:defRPr/>
            </a:pPr>
            <a:fld id="{1A23FD8B-9B3C-4BFB-AB39-30EB697E044E}" type="slidenum">
              <a:rPr lang="en-US"/>
              <a:pPr>
                <a:defRPr/>
              </a:pPr>
              <a:t>13</a:t>
            </a:fld>
            <a:endParaRPr lang="en-US"/>
          </a:p>
        </p:txBody>
      </p:sp>
      <p:sp>
        <p:nvSpPr>
          <p:cNvPr id="21508" name="Text Box 4"/>
          <p:cNvSpPr txBox="1">
            <a:spLocks noChangeArrowheads="1"/>
          </p:cNvSpPr>
          <p:nvPr/>
        </p:nvSpPr>
        <p:spPr bwMode="auto">
          <a:xfrm>
            <a:off x="4165600" y="685801"/>
            <a:ext cx="3962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6000" i="1" dirty="0"/>
              <a:t>Đối lập</a:t>
            </a:r>
          </a:p>
        </p:txBody>
      </p:sp>
      <p:sp>
        <p:nvSpPr>
          <p:cNvPr id="21509" name="Text Box 5"/>
          <p:cNvSpPr txBox="1">
            <a:spLocks noChangeArrowheads="1"/>
          </p:cNvSpPr>
          <p:nvPr/>
        </p:nvSpPr>
        <p:spPr bwMode="auto">
          <a:xfrm>
            <a:off x="914400" y="2286001"/>
            <a:ext cx="457200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spcBef>
                <a:spcPct val="50000"/>
              </a:spcBef>
            </a:pPr>
            <a:r>
              <a:rPr lang="en-US" altLang="en-US" sz="2400" u="sng">
                <a:solidFill>
                  <a:srgbClr val="FF3300"/>
                </a:solidFill>
                <a:latin typeface="Tahoma" pitchFamily="34" charset="0"/>
                <a:cs typeface="Arial" charset="0"/>
              </a:rPr>
              <a:t>Giá trị</a:t>
            </a:r>
          </a:p>
          <a:p>
            <a:pPr eaLnBrk="1" hangingPunct="1">
              <a:spcBef>
                <a:spcPct val="50000"/>
              </a:spcBef>
            </a:pPr>
            <a:r>
              <a:rPr lang="en-US" altLang="en-US" sz="2400">
                <a:latin typeface="Tahoma" pitchFamily="34" charset="0"/>
                <a:cs typeface="Arial" charset="0"/>
              </a:rPr>
              <a:t>-Mục đích của người sản xuất</a:t>
            </a:r>
          </a:p>
          <a:p>
            <a:pPr eaLnBrk="1" hangingPunct="1">
              <a:spcBef>
                <a:spcPct val="50000"/>
              </a:spcBef>
              <a:buFontTx/>
              <a:buChar char="-"/>
            </a:pPr>
            <a:r>
              <a:rPr lang="en-US" altLang="en-US" sz="2400">
                <a:latin typeface="Tahoma" pitchFamily="34" charset="0"/>
                <a:cs typeface="Arial" charset="0"/>
              </a:rPr>
              <a:t>Tạo ra trong sản xuất</a:t>
            </a:r>
          </a:p>
          <a:p>
            <a:pPr eaLnBrk="1" hangingPunct="1">
              <a:spcBef>
                <a:spcPct val="50000"/>
              </a:spcBef>
              <a:buFontTx/>
              <a:buChar char="-"/>
            </a:pPr>
            <a:r>
              <a:rPr lang="en-US" altLang="en-US" sz="2400">
                <a:latin typeface="Tahoma" pitchFamily="34" charset="0"/>
                <a:cs typeface="Arial" charset="0"/>
              </a:rPr>
              <a:t> Thực hiện trước</a:t>
            </a:r>
          </a:p>
        </p:txBody>
      </p:sp>
      <p:sp>
        <p:nvSpPr>
          <p:cNvPr id="21510" name="Text Box 6"/>
          <p:cNvSpPr txBox="1">
            <a:spLocks noChangeArrowheads="1"/>
          </p:cNvSpPr>
          <p:nvPr/>
        </p:nvSpPr>
        <p:spPr bwMode="auto">
          <a:xfrm>
            <a:off x="6299200" y="2286001"/>
            <a:ext cx="46736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spcBef>
                <a:spcPct val="50000"/>
              </a:spcBef>
            </a:pPr>
            <a:r>
              <a:rPr lang="en-US" altLang="en-US" sz="2400" u="sng">
                <a:solidFill>
                  <a:srgbClr val="FF3300"/>
                </a:solidFill>
                <a:latin typeface="Tahoma" pitchFamily="34" charset="0"/>
                <a:cs typeface="Arial" charset="0"/>
              </a:rPr>
              <a:t>Giá trị sử dụng</a:t>
            </a:r>
          </a:p>
          <a:p>
            <a:pPr eaLnBrk="1" hangingPunct="1">
              <a:spcBef>
                <a:spcPct val="50000"/>
              </a:spcBef>
              <a:buFontTx/>
              <a:buChar char="-"/>
            </a:pPr>
            <a:r>
              <a:rPr lang="en-US" altLang="en-US" sz="2400">
                <a:latin typeface="Tahoma" pitchFamily="34" charset="0"/>
                <a:cs typeface="Arial" charset="0"/>
              </a:rPr>
              <a:t>Mục đích của người mua</a:t>
            </a:r>
          </a:p>
          <a:p>
            <a:pPr eaLnBrk="1" hangingPunct="1">
              <a:spcBef>
                <a:spcPct val="50000"/>
              </a:spcBef>
              <a:buFontTx/>
              <a:buChar char="-"/>
            </a:pPr>
            <a:r>
              <a:rPr lang="en-US" altLang="en-US" sz="2400">
                <a:latin typeface="Tahoma" pitchFamily="34" charset="0"/>
                <a:cs typeface="Arial" charset="0"/>
              </a:rPr>
              <a:t>Thực hiện trong tiêu dùng</a:t>
            </a:r>
          </a:p>
          <a:p>
            <a:pPr eaLnBrk="1" hangingPunct="1">
              <a:spcBef>
                <a:spcPct val="50000"/>
              </a:spcBef>
              <a:buFontTx/>
              <a:buChar char="-"/>
            </a:pPr>
            <a:r>
              <a:rPr lang="en-US" altLang="en-US" sz="2400">
                <a:latin typeface="Tahoma" pitchFamily="34" charset="0"/>
                <a:cs typeface="Arial" charset="0"/>
              </a:rPr>
              <a:t>Thực hiện sau</a:t>
            </a:r>
          </a:p>
        </p:txBody>
      </p:sp>
    </p:spTree>
    <p:extLst>
      <p:ext uri="{BB962C8B-B14F-4D97-AF65-F5344CB8AC3E}">
        <p14:creationId xmlns:p14="http://schemas.microsoft.com/office/powerpoint/2010/main" val="1276304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GV: LƯƠNG XUÂN THÀNH</a:t>
            </a:r>
          </a:p>
        </p:txBody>
      </p:sp>
      <p:sp>
        <p:nvSpPr>
          <p:cNvPr id="5" name="Slide Number Placeholder 4"/>
          <p:cNvSpPr>
            <a:spLocks noGrp="1"/>
          </p:cNvSpPr>
          <p:nvPr>
            <p:ph type="sldNum" sz="quarter" idx="11"/>
          </p:nvPr>
        </p:nvSpPr>
        <p:spPr/>
        <p:txBody>
          <a:bodyPr/>
          <a:lstStyle/>
          <a:p>
            <a:pPr>
              <a:defRPr/>
            </a:pPr>
            <a:fld id="{027445D5-0D0B-458E-9223-F91C362CE341}" type="slidenum">
              <a:rPr lang="en-US"/>
              <a:pPr>
                <a:defRPr/>
              </a:pPr>
              <a:t>14</a:t>
            </a:fld>
            <a:endParaRPr lang="en-US"/>
          </a:p>
        </p:txBody>
      </p:sp>
      <p:sp>
        <p:nvSpPr>
          <p:cNvPr id="22532" name="Text Box 4"/>
          <p:cNvSpPr txBox="1">
            <a:spLocks noChangeArrowheads="1"/>
          </p:cNvSpPr>
          <p:nvPr/>
        </p:nvSpPr>
        <p:spPr bwMode="auto">
          <a:xfrm>
            <a:off x="1117600" y="1752601"/>
            <a:ext cx="100584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en-US" sz="2800" i="1" dirty="0">
                <a:solidFill>
                  <a:srgbClr val="9900CC"/>
                </a:solidFill>
              </a:rPr>
              <a:t> Lao động cụ thể</a:t>
            </a:r>
            <a:endParaRPr lang="en-US" altLang="en-US" sz="2800" dirty="0">
              <a:solidFill>
                <a:srgbClr val="9900CC"/>
              </a:solidFill>
            </a:endParaRPr>
          </a:p>
          <a:p>
            <a:pPr algn="just" eaLnBrk="1" hangingPunct="1">
              <a:spcBef>
                <a:spcPct val="50000"/>
              </a:spcBef>
            </a:pPr>
            <a:r>
              <a:rPr lang="en-US" altLang="en-US" sz="2800" b="0" dirty="0"/>
              <a:t>Lao động cụ thể là lao động có ích dưới một hình thức cụ thể của những nghề nghiệp chuyên môn nhất định. Mỗi lao động cụ thể có mục đích riêng, đối tượng riêng, phương pháp, phương tiện và kết quả riêng.</a:t>
            </a:r>
          </a:p>
        </p:txBody>
      </p:sp>
      <p:sp>
        <p:nvSpPr>
          <p:cNvPr id="22533" name="Text Box 5"/>
          <p:cNvSpPr txBox="1">
            <a:spLocks noChangeArrowheads="1"/>
          </p:cNvSpPr>
          <p:nvPr/>
        </p:nvSpPr>
        <p:spPr bwMode="auto">
          <a:xfrm>
            <a:off x="2397211" y="381000"/>
            <a:ext cx="9448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sz="3200" dirty="0"/>
              <a:t>2.1.2.2. Tính chất hai mặt của lao động sản xuất hàng hóa</a:t>
            </a:r>
          </a:p>
        </p:txBody>
      </p:sp>
    </p:spTree>
    <p:extLst>
      <p:ext uri="{BB962C8B-B14F-4D97-AF65-F5344CB8AC3E}">
        <p14:creationId xmlns:p14="http://schemas.microsoft.com/office/powerpoint/2010/main" val="1243020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BA68E6EC-2F3F-4837-8ED3-A355E47BDC6F}" type="slidenum">
              <a:rPr lang="en-US"/>
              <a:pPr>
                <a:defRPr/>
              </a:pPr>
              <a:t>15</a:t>
            </a:fld>
            <a:endParaRPr lang="en-US"/>
          </a:p>
        </p:txBody>
      </p:sp>
      <p:sp>
        <p:nvSpPr>
          <p:cNvPr id="86020" name="Text Box 4"/>
          <p:cNvSpPr txBox="1">
            <a:spLocks noChangeArrowheads="1"/>
          </p:cNvSpPr>
          <p:nvPr/>
        </p:nvSpPr>
        <p:spPr bwMode="auto">
          <a:xfrm>
            <a:off x="1117600" y="1524000"/>
            <a:ext cx="9956800" cy="3280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40000"/>
              </a:spcBef>
              <a:spcAft>
                <a:spcPct val="40000"/>
              </a:spcAft>
            </a:pPr>
            <a:r>
              <a:rPr lang="en-US" altLang="en-US" sz="2800" u="sng" dirty="0"/>
              <a:t>Đặc trưng của lao động cụ thể</a:t>
            </a:r>
            <a:endParaRPr lang="en-US" altLang="en-US" sz="2800" dirty="0"/>
          </a:p>
          <a:p>
            <a:pPr eaLnBrk="1" hangingPunct="1">
              <a:spcBef>
                <a:spcPct val="40000"/>
              </a:spcBef>
              <a:spcAft>
                <a:spcPct val="40000"/>
              </a:spcAft>
            </a:pPr>
            <a:r>
              <a:rPr lang="en-US" altLang="en-US" sz="2800" dirty="0"/>
              <a:t>- Lao động cụ thể tạo ra giá trị sử dụng của sản phẩm.</a:t>
            </a:r>
          </a:p>
          <a:p>
            <a:pPr eaLnBrk="1" hangingPunct="1">
              <a:spcBef>
                <a:spcPct val="40000"/>
              </a:spcBef>
              <a:spcAft>
                <a:spcPct val="40000"/>
              </a:spcAft>
            </a:pPr>
            <a:r>
              <a:rPr lang="en-US" altLang="en-US" sz="2800" dirty="0"/>
              <a:t>- Lao động cụ thể  là phạm trù vĩnh viễn.</a:t>
            </a:r>
          </a:p>
          <a:p>
            <a:pPr eaLnBrk="1" hangingPunct="1">
              <a:spcBef>
                <a:spcPct val="40000"/>
              </a:spcBef>
              <a:spcAft>
                <a:spcPct val="40000"/>
              </a:spcAft>
            </a:pPr>
            <a:r>
              <a:rPr lang="en-US" altLang="en-US" sz="2800" dirty="0"/>
              <a:t>- Xã hội càng phát triển thì càng tạo nhiều lao động cụ thể khác nhau.</a:t>
            </a:r>
          </a:p>
        </p:txBody>
      </p:sp>
    </p:spTree>
    <p:extLst>
      <p:ext uri="{BB962C8B-B14F-4D97-AF65-F5344CB8AC3E}">
        <p14:creationId xmlns:p14="http://schemas.microsoft.com/office/powerpoint/2010/main" val="91866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6020">
                                            <p:txEl>
                                              <p:pRg st="1" end="1"/>
                                            </p:txEl>
                                          </p:spTgt>
                                        </p:tgtEl>
                                        <p:attrNameLst>
                                          <p:attrName>style.visibility</p:attrName>
                                        </p:attrNameLst>
                                      </p:cBhvr>
                                      <p:to>
                                        <p:strVal val="visible"/>
                                      </p:to>
                                    </p:set>
                                    <p:animEffect transition="in" filter="blinds(horizontal)">
                                      <p:cBhvr>
                                        <p:cTn id="7" dur="500"/>
                                        <p:tgtEl>
                                          <p:spTgt spid="8602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6020">
                                            <p:txEl>
                                              <p:pRg st="2" end="2"/>
                                            </p:txEl>
                                          </p:spTgt>
                                        </p:tgtEl>
                                        <p:attrNameLst>
                                          <p:attrName>style.visibility</p:attrName>
                                        </p:attrNameLst>
                                      </p:cBhvr>
                                      <p:to>
                                        <p:strVal val="visible"/>
                                      </p:to>
                                    </p:set>
                                    <p:animEffect transition="in" filter="blinds(horizontal)">
                                      <p:cBhvr>
                                        <p:cTn id="12" dur="500"/>
                                        <p:tgtEl>
                                          <p:spTgt spid="8602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6020">
                                            <p:txEl>
                                              <p:pRg st="3" end="3"/>
                                            </p:txEl>
                                          </p:spTgt>
                                        </p:tgtEl>
                                        <p:attrNameLst>
                                          <p:attrName>style.visibility</p:attrName>
                                        </p:attrNameLst>
                                      </p:cBhvr>
                                      <p:to>
                                        <p:strVal val="visible"/>
                                      </p:to>
                                    </p:set>
                                    <p:animEffect transition="in" filter="blinds(horizontal)">
                                      <p:cBhvr>
                                        <p:cTn id="17" dur="500"/>
                                        <p:tgtEl>
                                          <p:spTgt spid="860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E171EBC2-F7AC-4591-88FD-C58D480170C9}" type="slidenum">
              <a:rPr lang="en-US"/>
              <a:pPr>
                <a:defRPr/>
              </a:pPr>
              <a:t>16</a:t>
            </a:fld>
            <a:endParaRPr lang="en-US"/>
          </a:p>
        </p:txBody>
      </p:sp>
      <p:sp>
        <p:nvSpPr>
          <p:cNvPr id="24580" name="Text Box 4"/>
          <p:cNvSpPr txBox="1">
            <a:spLocks noChangeArrowheads="1"/>
          </p:cNvSpPr>
          <p:nvPr/>
        </p:nvSpPr>
        <p:spPr bwMode="auto">
          <a:xfrm>
            <a:off x="1219200" y="1431926"/>
            <a:ext cx="9956800"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125000"/>
              </a:lnSpc>
            </a:pPr>
            <a:r>
              <a:rPr lang="en-US" altLang="en-US" sz="2800" i="1" dirty="0">
                <a:solidFill>
                  <a:srgbClr val="9900CC"/>
                </a:solidFill>
              </a:rPr>
              <a:t>Lao động trừu tượng</a:t>
            </a:r>
            <a:endParaRPr lang="en-US" altLang="en-US" sz="2800" dirty="0">
              <a:solidFill>
                <a:srgbClr val="9900CC"/>
              </a:solidFill>
            </a:endParaRPr>
          </a:p>
          <a:p>
            <a:pPr eaLnBrk="1" hangingPunct="1">
              <a:lnSpc>
                <a:spcPct val="125000"/>
              </a:lnSpc>
            </a:pPr>
            <a:r>
              <a:rPr lang="en-US" altLang="en-US" sz="2800" dirty="0"/>
              <a:t>- Lao động trừu tượng là lao động của người sản xuất hàng hoá nếu không kể đến hình thức cụ thể của nó như thế nào mà chỉ tính sự tiêu hao sức lực nói chung của con người (sức óc, thần kinh, cơ bắp).</a:t>
            </a:r>
            <a:endParaRPr lang="en-US" altLang="en-US" sz="2800" u="sng" dirty="0"/>
          </a:p>
        </p:txBody>
      </p:sp>
    </p:spTree>
    <p:extLst>
      <p:ext uri="{BB962C8B-B14F-4D97-AF65-F5344CB8AC3E}">
        <p14:creationId xmlns:p14="http://schemas.microsoft.com/office/powerpoint/2010/main" val="4086821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5875B9E1-2F95-4851-8C62-EF345CFC45B7}" type="slidenum">
              <a:rPr lang="en-US"/>
              <a:pPr>
                <a:defRPr/>
              </a:pPr>
              <a:t>17</a:t>
            </a:fld>
            <a:endParaRPr lang="en-US"/>
          </a:p>
        </p:txBody>
      </p:sp>
      <p:sp>
        <p:nvSpPr>
          <p:cNvPr id="87045" name="Rectangle 5"/>
          <p:cNvSpPr>
            <a:spLocks noChangeArrowheads="1"/>
          </p:cNvSpPr>
          <p:nvPr/>
        </p:nvSpPr>
        <p:spPr bwMode="auto">
          <a:xfrm>
            <a:off x="914400" y="1524000"/>
            <a:ext cx="10160000"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40000"/>
              </a:spcBef>
              <a:spcAft>
                <a:spcPct val="40000"/>
              </a:spcAft>
            </a:pPr>
            <a:r>
              <a:rPr lang="en-US" altLang="en-US" sz="3200" u="sng" dirty="0"/>
              <a:t>Đặc trưng</a:t>
            </a:r>
            <a:endParaRPr lang="en-US" altLang="en-US" sz="3200" dirty="0"/>
          </a:p>
          <a:p>
            <a:pPr eaLnBrk="1" hangingPunct="1">
              <a:spcBef>
                <a:spcPct val="40000"/>
              </a:spcBef>
              <a:spcAft>
                <a:spcPct val="40000"/>
              </a:spcAft>
            </a:pPr>
            <a:r>
              <a:rPr lang="en-US" altLang="en-US" sz="3200" dirty="0"/>
              <a:t>	- Lao động trừu tượng tạo ra giá trị của hàng hoá.</a:t>
            </a:r>
          </a:p>
          <a:p>
            <a:pPr eaLnBrk="1" hangingPunct="1">
              <a:spcBef>
                <a:spcPct val="40000"/>
              </a:spcBef>
              <a:spcAft>
                <a:spcPct val="40000"/>
              </a:spcAft>
            </a:pPr>
            <a:r>
              <a:rPr lang="en-US" altLang="en-US" sz="3200" dirty="0"/>
              <a:t>	- Lao động trừu tượng là một phạm trù lịch sử.</a:t>
            </a:r>
          </a:p>
        </p:txBody>
      </p:sp>
    </p:spTree>
    <p:extLst>
      <p:ext uri="{BB962C8B-B14F-4D97-AF65-F5344CB8AC3E}">
        <p14:creationId xmlns:p14="http://schemas.microsoft.com/office/powerpoint/2010/main" val="3819036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45">
                                            <p:txEl>
                                              <p:pRg st="1" end="1"/>
                                            </p:txEl>
                                          </p:spTgt>
                                        </p:tgtEl>
                                        <p:attrNameLst>
                                          <p:attrName>style.visibility</p:attrName>
                                        </p:attrNameLst>
                                      </p:cBhvr>
                                      <p:to>
                                        <p:strVal val="visible"/>
                                      </p:to>
                                    </p:set>
                                    <p:animEffect transition="in" filter="blinds(horizontal)">
                                      <p:cBhvr>
                                        <p:cTn id="7" dur="500"/>
                                        <p:tgtEl>
                                          <p:spTgt spid="8704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45">
                                            <p:txEl>
                                              <p:pRg st="2" end="2"/>
                                            </p:txEl>
                                          </p:spTgt>
                                        </p:tgtEl>
                                        <p:attrNameLst>
                                          <p:attrName>style.visibility</p:attrName>
                                        </p:attrNameLst>
                                      </p:cBhvr>
                                      <p:to>
                                        <p:strVal val="visible"/>
                                      </p:to>
                                    </p:set>
                                    <p:animEffect transition="in" filter="blinds(horizontal)">
                                      <p:cBhvr>
                                        <p:cTn id="12" dur="500"/>
                                        <p:tgtEl>
                                          <p:spTgt spid="870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FAE5D2EB-35BF-43F1-BEE8-9923563B627A}" type="slidenum">
              <a:rPr lang="en-US"/>
              <a:pPr>
                <a:defRPr/>
              </a:pPr>
              <a:t>18</a:t>
            </a:fld>
            <a:endParaRPr lang="en-US"/>
          </a:p>
        </p:txBody>
      </p:sp>
      <p:sp>
        <p:nvSpPr>
          <p:cNvPr id="17412" name="Text Box 4"/>
          <p:cNvSpPr txBox="1">
            <a:spLocks noChangeArrowheads="1"/>
          </p:cNvSpPr>
          <p:nvPr/>
        </p:nvSpPr>
        <p:spPr bwMode="auto">
          <a:xfrm>
            <a:off x="1117600" y="1143000"/>
            <a:ext cx="9855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sz="3200" dirty="0">
                <a:solidFill>
                  <a:srgbClr val="FF0000"/>
                </a:solidFill>
              </a:rPr>
              <a:t>2.1.2.3. Lượng giá trị của hàng hóa và các nhân tố ảnh hưởng đến lượng giá trị của hàng hóa.</a:t>
            </a:r>
          </a:p>
          <a:p>
            <a:r>
              <a:rPr lang="en-US" sz="3200" i="1" dirty="0"/>
              <a:t>Lượng giá trị của hàng hóa</a:t>
            </a:r>
            <a:endParaRPr lang="en-US" sz="3200" dirty="0"/>
          </a:p>
          <a:p>
            <a:pPr eaLnBrk="1" hangingPunct="1">
              <a:spcBef>
                <a:spcPct val="50000"/>
              </a:spcBef>
            </a:pPr>
            <a:endParaRPr lang="en-US" altLang="en-US" sz="3200" dirty="0">
              <a:solidFill>
                <a:srgbClr val="FF0000"/>
              </a:solidFill>
            </a:endParaRPr>
          </a:p>
          <a:p>
            <a:pPr eaLnBrk="1" hangingPunct="1">
              <a:spcBef>
                <a:spcPct val="50000"/>
              </a:spcBef>
            </a:pPr>
            <a:r>
              <a:rPr lang="en-US" altLang="ko-KR" sz="3200" i="1" dirty="0">
                <a:ea typeface="굴림" charset="-127"/>
              </a:rPr>
              <a:t>Lượng giá trị của hàng hoá</a:t>
            </a:r>
            <a:r>
              <a:rPr lang="en-US" altLang="ko-KR" sz="3200" dirty="0">
                <a:ea typeface="굴림" charset="-127"/>
              </a:rPr>
              <a:t>: là số lượng lao động xã hội của người sản xuất hàng hoá kết tinh trong hàng hoá </a:t>
            </a:r>
          </a:p>
        </p:txBody>
      </p:sp>
    </p:spTree>
    <p:extLst>
      <p:ext uri="{BB962C8B-B14F-4D97-AF65-F5344CB8AC3E}">
        <p14:creationId xmlns:p14="http://schemas.microsoft.com/office/powerpoint/2010/main" val="24841175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2">
                                            <p:txEl>
                                              <p:pRg st="3" end="3"/>
                                            </p:txEl>
                                          </p:spTgt>
                                        </p:tgtEl>
                                        <p:attrNameLst>
                                          <p:attrName>style.visibility</p:attrName>
                                        </p:attrNameLst>
                                      </p:cBhvr>
                                      <p:to>
                                        <p:strVal val="visible"/>
                                      </p:to>
                                    </p:set>
                                    <p:animEffect transition="in" filter="blinds(horizontal)">
                                      <p:cBhvr>
                                        <p:cTn id="7" dur="500"/>
                                        <p:tgtEl>
                                          <p:spTgt spid="174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E511F65C-94A9-480E-9BB6-4D092061DC99}" type="slidenum">
              <a:rPr lang="en-US"/>
              <a:pPr>
                <a:defRPr/>
              </a:pPr>
              <a:t>19</a:t>
            </a:fld>
            <a:endParaRPr lang="en-US"/>
          </a:p>
        </p:txBody>
      </p:sp>
      <p:sp>
        <p:nvSpPr>
          <p:cNvPr id="27652" name="Text Box 4"/>
          <p:cNvSpPr txBox="1">
            <a:spLocks noChangeArrowheads="1"/>
          </p:cNvSpPr>
          <p:nvPr/>
        </p:nvSpPr>
        <p:spPr bwMode="auto">
          <a:xfrm>
            <a:off x="914400" y="1371601"/>
            <a:ext cx="103632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r>
              <a:rPr lang="en-US" altLang="ko-KR" sz="2800" dirty="0">
                <a:ea typeface="굴림" charset="-127"/>
              </a:rPr>
              <a:t>Thước đo lượng giá trị hàng hóa:</a:t>
            </a:r>
          </a:p>
          <a:p>
            <a:pPr eaLnBrk="1" hangingPunct="1"/>
            <a:endParaRPr lang="en-US" altLang="ko-KR" sz="2800" dirty="0">
              <a:ea typeface="굴림" charset="-127"/>
            </a:endParaRPr>
          </a:p>
          <a:p>
            <a:pPr eaLnBrk="1" hangingPunct="1"/>
            <a:r>
              <a:rPr lang="en-US" altLang="en-US" sz="2800" i="1" dirty="0">
                <a:solidFill>
                  <a:srgbClr val="0070C0"/>
                </a:solidFill>
              </a:rPr>
              <a:t>Thời gian lao động xã hội cần thiết</a:t>
            </a:r>
            <a:r>
              <a:rPr lang="en-US" altLang="en-US" sz="2800" dirty="0">
                <a:solidFill>
                  <a:srgbClr val="0070C0"/>
                </a:solidFill>
              </a:rPr>
              <a:t>: là thời gian cần thiết để sản xuất ra một hàng hóa trong điều </a:t>
            </a:r>
            <a:r>
              <a:rPr lang="en-US" altLang="en-US" sz="2800" dirty="0" err="1">
                <a:solidFill>
                  <a:srgbClr val="0070C0"/>
                </a:solidFill>
              </a:rPr>
              <a:t>kiện</a:t>
            </a:r>
            <a:r>
              <a:rPr lang="en-US" altLang="en-US" sz="2800" dirty="0">
                <a:solidFill>
                  <a:srgbClr val="0070C0"/>
                </a:solidFill>
              </a:rPr>
              <a:t> </a:t>
            </a:r>
            <a:r>
              <a:rPr lang="en-US" altLang="en-US" sz="2800" dirty="0" err="1">
                <a:solidFill>
                  <a:srgbClr val="0070C0"/>
                </a:solidFill>
              </a:rPr>
              <a:t>trung</a:t>
            </a:r>
            <a:r>
              <a:rPr lang="en-US" altLang="en-US" sz="2800" dirty="0">
                <a:solidFill>
                  <a:srgbClr val="0070C0"/>
                </a:solidFill>
              </a:rPr>
              <a:t> </a:t>
            </a:r>
            <a:r>
              <a:rPr lang="en-US" altLang="en-US" sz="2800" dirty="0" err="1">
                <a:solidFill>
                  <a:srgbClr val="0070C0"/>
                </a:solidFill>
              </a:rPr>
              <a:t>bình</a:t>
            </a:r>
            <a:r>
              <a:rPr lang="en-US" altLang="en-US" sz="2800" dirty="0">
                <a:solidFill>
                  <a:srgbClr val="0070C0"/>
                </a:solidFill>
              </a:rPr>
              <a:t> </a:t>
            </a:r>
            <a:r>
              <a:rPr lang="en-US" altLang="en-US" sz="2800" dirty="0" err="1">
                <a:solidFill>
                  <a:srgbClr val="0070C0"/>
                </a:solidFill>
              </a:rPr>
              <a:t>của</a:t>
            </a:r>
            <a:r>
              <a:rPr lang="en-US" altLang="en-US" sz="2800" dirty="0">
                <a:solidFill>
                  <a:srgbClr val="0070C0"/>
                </a:solidFill>
              </a:rPr>
              <a:t> </a:t>
            </a:r>
            <a:r>
              <a:rPr lang="en-US" altLang="en-US" sz="2800" dirty="0" err="1">
                <a:solidFill>
                  <a:srgbClr val="0070C0"/>
                </a:solidFill>
              </a:rPr>
              <a:t>xã</a:t>
            </a:r>
            <a:r>
              <a:rPr lang="en-US" altLang="en-US" sz="2800" dirty="0">
                <a:solidFill>
                  <a:srgbClr val="0070C0"/>
                </a:solidFill>
              </a:rPr>
              <a:t> </a:t>
            </a:r>
            <a:r>
              <a:rPr lang="en-US" altLang="en-US" sz="2800" dirty="0" err="1">
                <a:solidFill>
                  <a:srgbClr val="0070C0"/>
                </a:solidFill>
              </a:rPr>
              <a:t>hội</a:t>
            </a:r>
            <a:r>
              <a:rPr lang="en-US" altLang="en-US" sz="2800" dirty="0"/>
              <a:t>.</a:t>
            </a:r>
          </a:p>
        </p:txBody>
      </p:sp>
    </p:spTree>
    <p:extLst>
      <p:ext uri="{BB962C8B-B14F-4D97-AF65-F5344CB8AC3E}">
        <p14:creationId xmlns:p14="http://schemas.microsoft.com/office/powerpoint/2010/main" val="3184754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GV: LƯƠNG XUÂN THÀNH</a:t>
            </a:r>
          </a:p>
        </p:txBody>
      </p:sp>
      <p:sp>
        <p:nvSpPr>
          <p:cNvPr id="7" name="Slide Number Placeholder 4"/>
          <p:cNvSpPr>
            <a:spLocks noGrp="1"/>
          </p:cNvSpPr>
          <p:nvPr>
            <p:ph type="sldNum" sz="quarter" idx="11"/>
          </p:nvPr>
        </p:nvSpPr>
        <p:spPr/>
        <p:txBody>
          <a:bodyPr/>
          <a:lstStyle/>
          <a:p>
            <a:pPr>
              <a:defRPr/>
            </a:pPr>
            <a:fld id="{F2A899DB-40B6-4C80-89B9-789BDE12E810}" type="slidenum">
              <a:rPr lang="en-US"/>
              <a:pPr>
                <a:defRPr/>
              </a:pPr>
              <a:t>20</a:t>
            </a:fld>
            <a:endParaRPr lang="en-US"/>
          </a:p>
        </p:txBody>
      </p:sp>
      <p:sp>
        <p:nvSpPr>
          <p:cNvPr id="28676" name="Text Box 5"/>
          <p:cNvSpPr txBox="1">
            <a:spLocks noChangeArrowheads="1"/>
          </p:cNvSpPr>
          <p:nvPr/>
        </p:nvSpPr>
        <p:spPr bwMode="auto">
          <a:xfrm>
            <a:off x="1422400" y="2852738"/>
            <a:ext cx="955040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10000"/>
              </a:spcBef>
              <a:spcAft>
                <a:spcPct val="10000"/>
              </a:spcAft>
              <a:buFont typeface="Wingdings" pitchFamily="2" charset="2"/>
              <a:buChar char="v"/>
            </a:pPr>
            <a:r>
              <a:rPr lang="en-US" altLang="en-US" sz="2800" i="1" u="sng" dirty="0"/>
              <a:t>Năng suất lao động</a:t>
            </a:r>
            <a:r>
              <a:rPr lang="en-US" altLang="en-US" sz="2800" dirty="0"/>
              <a:t>: là năng lực sản xuất của người lao động, là hiệu quả hay hiệu suất của lao động, được tính bằng số lượng sản phẩm được tạo ra trên một đơn vị thời gian hoặc lượng thời gian cần thiết tiêu hao trên một đơn vị sản phẩm.</a:t>
            </a:r>
          </a:p>
          <a:p>
            <a:pPr eaLnBrk="1" hangingPunct="1">
              <a:spcBef>
                <a:spcPct val="10000"/>
              </a:spcBef>
              <a:spcAft>
                <a:spcPct val="10000"/>
              </a:spcAft>
            </a:pPr>
            <a:r>
              <a:rPr lang="en-US" altLang="en-US" sz="2800" dirty="0"/>
              <a:t>	 			 	 </a:t>
            </a:r>
          </a:p>
        </p:txBody>
      </p:sp>
      <p:sp>
        <p:nvSpPr>
          <p:cNvPr id="28677" name="Text Box 6"/>
          <p:cNvSpPr txBox="1">
            <a:spLocks noChangeArrowheads="1"/>
          </p:cNvSpPr>
          <p:nvPr/>
        </p:nvSpPr>
        <p:spPr bwMode="auto">
          <a:xfrm>
            <a:off x="2347784" y="838201"/>
            <a:ext cx="903141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sz="3600" i="1" dirty="0"/>
              <a:t>Các nhân tố ảnh hưởng đến lượng giá trị của hàng hóa </a:t>
            </a:r>
            <a:endParaRPr lang="en-US" sz="3600" dirty="0"/>
          </a:p>
        </p:txBody>
      </p:sp>
      <p:sp>
        <p:nvSpPr>
          <p:cNvPr id="28678" name="Text Box 7"/>
          <p:cNvSpPr txBox="1">
            <a:spLocks noChangeArrowheads="1"/>
          </p:cNvSpPr>
          <p:nvPr/>
        </p:nvSpPr>
        <p:spPr bwMode="auto">
          <a:xfrm>
            <a:off x="1727200" y="2147888"/>
            <a:ext cx="5892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2800" i="1" dirty="0"/>
              <a:t>Một là, năng suất lao động</a:t>
            </a:r>
          </a:p>
        </p:txBody>
      </p:sp>
      <p:sp>
        <p:nvSpPr>
          <p:cNvPr id="28679" name="Text Box 8"/>
          <p:cNvSpPr txBox="1">
            <a:spLocks noChangeArrowheads="1"/>
          </p:cNvSpPr>
          <p:nvPr/>
        </p:nvSpPr>
        <p:spPr bwMode="auto">
          <a:xfrm>
            <a:off x="1727200" y="55626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2400" i="1" dirty="0"/>
              <a:t>(</a:t>
            </a:r>
            <a:r>
              <a:rPr lang="en-US" altLang="en-US" sz="2400" i="1" dirty="0" err="1"/>
              <a:t>Cần</a:t>
            </a:r>
            <a:r>
              <a:rPr lang="en-US" altLang="en-US" sz="2400" i="1" dirty="0"/>
              <a:t> </a:t>
            </a:r>
            <a:r>
              <a:rPr lang="en-US" altLang="en-US" sz="2400" i="1" dirty="0" err="1"/>
              <a:t>phân</a:t>
            </a:r>
            <a:r>
              <a:rPr lang="en-US" altLang="en-US" sz="2400" i="1" dirty="0"/>
              <a:t> </a:t>
            </a:r>
            <a:r>
              <a:rPr lang="en-US" altLang="en-US" sz="2400" i="1" dirty="0" err="1"/>
              <a:t>biệt</a:t>
            </a:r>
            <a:r>
              <a:rPr lang="en-US" altLang="en-US" sz="2400" i="1" dirty="0"/>
              <a:t> </a:t>
            </a:r>
            <a:r>
              <a:rPr lang="en-US" altLang="en-US" sz="2400" i="1" dirty="0" err="1"/>
              <a:t>tăng</a:t>
            </a:r>
            <a:r>
              <a:rPr lang="en-US" altLang="en-US" sz="2400" i="1" dirty="0"/>
              <a:t> NSLĐ </a:t>
            </a:r>
            <a:r>
              <a:rPr lang="en-US" altLang="en-US" sz="2400" i="1" dirty="0" err="1"/>
              <a:t>và</a:t>
            </a:r>
            <a:r>
              <a:rPr lang="en-US" altLang="en-US" sz="2400" i="1" dirty="0"/>
              <a:t> </a:t>
            </a:r>
            <a:r>
              <a:rPr lang="en-US" altLang="en-US" sz="2400" i="1" dirty="0" err="1"/>
              <a:t>tăng</a:t>
            </a:r>
            <a:r>
              <a:rPr lang="en-US" altLang="en-US" sz="2400" i="1" dirty="0"/>
              <a:t> CĐLĐ?)</a:t>
            </a:r>
          </a:p>
        </p:txBody>
      </p:sp>
    </p:spTree>
    <p:extLst>
      <p:ext uri="{BB962C8B-B14F-4D97-AF65-F5344CB8AC3E}">
        <p14:creationId xmlns:p14="http://schemas.microsoft.com/office/powerpoint/2010/main" val="3323997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0"/>
          </p:nvPr>
        </p:nvSpPr>
        <p:spPr/>
        <p:txBody>
          <a:bodyPr/>
          <a:lstStyle/>
          <a:p>
            <a:pPr>
              <a:defRPr/>
            </a:pPr>
            <a:r>
              <a:rPr lang="en-US"/>
              <a:t>GV: LƯƠNG XUÂN THÀNH</a:t>
            </a:r>
          </a:p>
        </p:txBody>
      </p:sp>
      <p:sp>
        <p:nvSpPr>
          <p:cNvPr id="4" name="Slide Number Placeholder 4"/>
          <p:cNvSpPr>
            <a:spLocks noGrp="1"/>
          </p:cNvSpPr>
          <p:nvPr>
            <p:ph type="sldNum" sz="quarter" idx="11"/>
          </p:nvPr>
        </p:nvSpPr>
        <p:spPr/>
        <p:txBody>
          <a:bodyPr/>
          <a:lstStyle/>
          <a:p>
            <a:pPr>
              <a:defRPr/>
            </a:pPr>
            <a:fld id="{B1963AF8-BABD-4F96-BAAD-75A898786727}" type="slidenum">
              <a:rPr lang="en-US"/>
              <a:pPr>
                <a:defRPr/>
              </a:pPr>
              <a:t>21</a:t>
            </a:fld>
            <a:endParaRPr lang="en-US" dirty="0"/>
          </a:p>
        </p:txBody>
      </p:sp>
      <p:sp>
        <p:nvSpPr>
          <p:cNvPr id="29700" name="Text Box 4"/>
          <p:cNvSpPr txBox="1">
            <a:spLocks noChangeArrowheads="1"/>
          </p:cNvSpPr>
          <p:nvPr/>
        </p:nvSpPr>
        <p:spPr bwMode="auto">
          <a:xfrm>
            <a:off x="1625600" y="2024064"/>
            <a:ext cx="944880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buFont typeface="Wingdings" pitchFamily="2" charset="2"/>
              <a:buChar char="v"/>
            </a:pPr>
            <a:r>
              <a:rPr lang="en-US" altLang="en-US" sz="2800" dirty="0"/>
              <a:t>Cường độ lao động:</a:t>
            </a:r>
          </a:p>
          <a:p>
            <a:pPr eaLnBrk="1" hangingPunct="1">
              <a:spcBef>
                <a:spcPct val="50000"/>
              </a:spcBef>
            </a:pPr>
            <a:r>
              <a:rPr lang="en-US" altLang="en-US" sz="2800" dirty="0"/>
              <a:t>Cường độ lao động là mức độ khẩn trương, nặng nhọc, căng thẳng trong một đơn vị thời gian.</a:t>
            </a:r>
          </a:p>
        </p:txBody>
      </p:sp>
    </p:spTree>
    <p:extLst>
      <p:ext uri="{BB962C8B-B14F-4D97-AF65-F5344CB8AC3E}">
        <p14:creationId xmlns:p14="http://schemas.microsoft.com/office/powerpoint/2010/main" val="2336051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6038EC-445B-43CE-9BFA-2E9312FDC95E}"/>
              </a:ext>
            </a:extLst>
          </p:cNvPr>
          <p:cNvSpPr txBox="1"/>
          <p:nvPr/>
        </p:nvSpPr>
        <p:spPr>
          <a:xfrm>
            <a:off x="2521974" y="575187"/>
            <a:ext cx="8745794" cy="523220"/>
          </a:xfrm>
          <a:prstGeom prst="rect">
            <a:avLst/>
          </a:prstGeom>
          <a:noFill/>
        </p:spPr>
        <p:txBody>
          <a:bodyPr wrap="square" rtlCol="0">
            <a:spAutoFit/>
          </a:bodyPr>
          <a:lstStyle/>
          <a:p>
            <a:r>
              <a:rPr lang="en-US" altLang="en-US" sz="2800" i="1" dirty="0">
                <a:solidFill>
                  <a:srgbClr val="0070C0"/>
                </a:solidFill>
              </a:rPr>
              <a:t>(</a:t>
            </a:r>
            <a:r>
              <a:rPr lang="en-US" altLang="en-US" sz="2800" i="1" dirty="0" err="1">
                <a:solidFill>
                  <a:srgbClr val="0070C0"/>
                </a:solidFill>
              </a:rPr>
              <a:t>Cần</a:t>
            </a:r>
            <a:r>
              <a:rPr lang="en-US" altLang="en-US" sz="2800" i="1" dirty="0">
                <a:solidFill>
                  <a:srgbClr val="0070C0"/>
                </a:solidFill>
              </a:rPr>
              <a:t> </a:t>
            </a:r>
            <a:r>
              <a:rPr lang="en-US" altLang="en-US" sz="2800" i="1" dirty="0" err="1">
                <a:solidFill>
                  <a:srgbClr val="0070C0"/>
                </a:solidFill>
              </a:rPr>
              <a:t>phân</a:t>
            </a:r>
            <a:r>
              <a:rPr lang="en-US" altLang="en-US" sz="2800" i="1" dirty="0">
                <a:solidFill>
                  <a:srgbClr val="0070C0"/>
                </a:solidFill>
              </a:rPr>
              <a:t> </a:t>
            </a:r>
            <a:r>
              <a:rPr lang="en-US" altLang="en-US" sz="2800" i="1" dirty="0" err="1">
                <a:solidFill>
                  <a:srgbClr val="0070C0"/>
                </a:solidFill>
              </a:rPr>
              <a:t>biệt</a:t>
            </a:r>
            <a:r>
              <a:rPr lang="en-US" altLang="en-US" sz="2800" i="1" dirty="0">
                <a:solidFill>
                  <a:srgbClr val="0070C0"/>
                </a:solidFill>
              </a:rPr>
              <a:t> </a:t>
            </a:r>
            <a:r>
              <a:rPr lang="en-US" altLang="en-US" sz="2800" i="1" dirty="0" err="1">
                <a:solidFill>
                  <a:srgbClr val="0070C0"/>
                </a:solidFill>
              </a:rPr>
              <a:t>tăng</a:t>
            </a:r>
            <a:r>
              <a:rPr lang="en-US" altLang="en-US" sz="2800" i="1" dirty="0">
                <a:solidFill>
                  <a:srgbClr val="0070C0"/>
                </a:solidFill>
              </a:rPr>
              <a:t> NSLĐ </a:t>
            </a:r>
            <a:r>
              <a:rPr lang="en-US" altLang="en-US" sz="2800" i="1" dirty="0" err="1">
                <a:solidFill>
                  <a:srgbClr val="0070C0"/>
                </a:solidFill>
              </a:rPr>
              <a:t>và</a:t>
            </a:r>
            <a:r>
              <a:rPr lang="en-US" altLang="en-US" sz="2800" i="1" dirty="0">
                <a:solidFill>
                  <a:srgbClr val="0070C0"/>
                </a:solidFill>
              </a:rPr>
              <a:t> </a:t>
            </a:r>
            <a:r>
              <a:rPr lang="en-US" altLang="en-US" sz="2800" i="1" dirty="0" err="1">
                <a:solidFill>
                  <a:srgbClr val="0070C0"/>
                </a:solidFill>
              </a:rPr>
              <a:t>tăng</a:t>
            </a:r>
            <a:r>
              <a:rPr lang="en-US" altLang="en-US" sz="2800" i="1" dirty="0">
                <a:solidFill>
                  <a:srgbClr val="0070C0"/>
                </a:solidFill>
              </a:rPr>
              <a:t> CĐLĐ?)</a:t>
            </a:r>
            <a:endParaRPr lang="en-US" sz="2800" dirty="0">
              <a:solidFill>
                <a:srgbClr val="0070C0"/>
              </a:solidFill>
            </a:endParaRPr>
          </a:p>
        </p:txBody>
      </p:sp>
      <p:sp>
        <p:nvSpPr>
          <p:cNvPr id="6" name="TextBox 5">
            <a:extLst>
              <a:ext uri="{FF2B5EF4-FFF2-40B4-BE49-F238E27FC236}">
                <a16:creationId xmlns:a16="http://schemas.microsoft.com/office/drawing/2014/main" id="{55DF2CBE-0F64-49E8-8BD2-9D7A7207F475}"/>
              </a:ext>
            </a:extLst>
          </p:cNvPr>
          <p:cNvSpPr txBox="1"/>
          <p:nvPr/>
        </p:nvSpPr>
        <p:spPr>
          <a:xfrm>
            <a:off x="707923" y="1563329"/>
            <a:ext cx="10899058" cy="3170099"/>
          </a:xfrm>
          <a:prstGeom prst="rect">
            <a:avLst/>
          </a:prstGeom>
          <a:noFill/>
        </p:spPr>
        <p:txBody>
          <a:bodyPr wrap="square" rtlCol="0">
            <a:spAutoFit/>
          </a:bodyPr>
          <a:lstStyle/>
          <a:p>
            <a:pPr indent="339725"/>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Giống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nhau</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cùng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làm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tăng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làm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ra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thời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gian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t>
            </a:r>
          </a:p>
          <a:p>
            <a:pPr indent="339725"/>
            <a:r>
              <a:rPr lang="en-US" sz="25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Khác</a:t>
            </a:r>
            <a:r>
              <a:rPr lang="en-US" sz="25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nhau</a:t>
            </a:r>
            <a:r>
              <a:rPr lang="en-US" sz="25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năng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suất</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lao</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tỷ</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lệ</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nghịch</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tỷ</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lệ</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thuận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với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ra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thời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gian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5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Nên</a:t>
            </a:r>
            <a:r>
              <a:rPr lang="en-US" sz="25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năng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suất</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lao</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tăng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lên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bao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nhiêu</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lần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thì</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sẽ</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giảm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bấy</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nhiêu</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lần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tổng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thay</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đổi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tăng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cường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lao</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hao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phí</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lao</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tang,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tang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tương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ứng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hao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phí</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đơn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vị</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phẩm</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5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đổi</a:t>
            </a:r>
            <a:r>
              <a:rPr lang="en-US" sz="25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t>
            </a:r>
          </a:p>
          <a:p>
            <a:pPr indent="339725"/>
            <a:endParaRPr lang="en-US" sz="25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151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GV: LƯƠNG XUÂN THÀNH</a:t>
            </a:r>
          </a:p>
        </p:txBody>
      </p:sp>
      <p:sp>
        <p:nvSpPr>
          <p:cNvPr id="7" name="Slide Number Placeholder 4"/>
          <p:cNvSpPr>
            <a:spLocks noGrp="1"/>
          </p:cNvSpPr>
          <p:nvPr>
            <p:ph type="sldNum" sz="quarter" idx="11"/>
          </p:nvPr>
        </p:nvSpPr>
        <p:spPr/>
        <p:txBody>
          <a:bodyPr/>
          <a:lstStyle/>
          <a:p>
            <a:pPr>
              <a:defRPr/>
            </a:pPr>
            <a:fld id="{17CEBFCA-B411-4515-8B30-5B743B8B1E9C}" type="slidenum">
              <a:rPr lang="en-US"/>
              <a:pPr>
                <a:defRPr/>
              </a:pPr>
              <a:t>23</a:t>
            </a:fld>
            <a:endParaRPr lang="en-US"/>
          </a:p>
        </p:txBody>
      </p:sp>
      <p:sp>
        <p:nvSpPr>
          <p:cNvPr id="30724" name="Text Box 4"/>
          <p:cNvSpPr txBox="1">
            <a:spLocks noChangeArrowheads="1"/>
          </p:cNvSpPr>
          <p:nvPr/>
        </p:nvSpPr>
        <p:spPr bwMode="auto">
          <a:xfrm>
            <a:off x="1727200" y="762001"/>
            <a:ext cx="934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endParaRPr lang="en-US" altLang="en-US"/>
          </a:p>
        </p:txBody>
      </p:sp>
      <p:sp>
        <p:nvSpPr>
          <p:cNvPr id="30725" name="Text Box 5"/>
          <p:cNvSpPr txBox="1">
            <a:spLocks noChangeArrowheads="1"/>
          </p:cNvSpPr>
          <p:nvPr/>
        </p:nvSpPr>
        <p:spPr bwMode="auto">
          <a:xfrm>
            <a:off x="2133600" y="457200"/>
            <a:ext cx="9144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buFont typeface="Wingdings" pitchFamily="2" charset="2"/>
              <a:buNone/>
            </a:pPr>
            <a:r>
              <a:rPr lang="en-US" altLang="en-US" sz="3600" dirty="0"/>
              <a:t>Hai là, Mức độ phức tạp của lao động: lao động giản đơn và lao động phức tạp.</a:t>
            </a:r>
          </a:p>
        </p:txBody>
      </p:sp>
      <p:sp>
        <p:nvSpPr>
          <p:cNvPr id="30726" name="Text Box 7"/>
          <p:cNvSpPr txBox="1">
            <a:spLocks noChangeArrowheads="1"/>
          </p:cNvSpPr>
          <p:nvPr/>
        </p:nvSpPr>
        <p:spPr bwMode="auto">
          <a:xfrm>
            <a:off x="711200" y="2362201"/>
            <a:ext cx="109728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2800"/>
              <a:t>Lao động giản đơn:</a:t>
            </a:r>
          </a:p>
          <a:p>
            <a:pPr eaLnBrk="1" hangingPunct="1">
              <a:spcBef>
                <a:spcPct val="50000"/>
              </a:spcBef>
            </a:pPr>
            <a:r>
              <a:rPr lang="en-US" altLang="en-US" sz="2800"/>
              <a:t>Lao động phức tạp:</a:t>
            </a:r>
          </a:p>
        </p:txBody>
      </p:sp>
      <p:sp>
        <p:nvSpPr>
          <p:cNvPr id="30727" name="Text Box 8"/>
          <p:cNvSpPr txBox="1">
            <a:spLocks noChangeArrowheads="1"/>
          </p:cNvSpPr>
          <p:nvPr/>
        </p:nvSpPr>
        <p:spPr bwMode="auto">
          <a:xfrm>
            <a:off x="1117600" y="4084638"/>
            <a:ext cx="93472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Times New Roman" pitchFamily="18" charset="0"/>
              </a:defRPr>
            </a:lvl1pPr>
            <a:lvl2pPr marL="742950" indent="-285750" eaLnBrk="0" hangingPunct="0">
              <a:defRPr b="1">
                <a:solidFill>
                  <a:schemeClr val="tx1"/>
                </a:solidFill>
                <a:latin typeface="Times New Roman" pitchFamily="18" charset="0"/>
              </a:defRPr>
            </a:lvl2pPr>
            <a:lvl3pPr marL="1143000" indent="-228600" eaLnBrk="0" hangingPunct="0">
              <a:defRPr b="1">
                <a:solidFill>
                  <a:schemeClr val="tx1"/>
                </a:solidFill>
                <a:latin typeface="Times New Roman" pitchFamily="18" charset="0"/>
              </a:defRPr>
            </a:lvl3pPr>
            <a:lvl4pPr marL="1600200" indent="-228600" eaLnBrk="0" hangingPunct="0">
              <a:defRPr b="1">
                <a:solidFill>
                  <a:schemeClr val="tx1"/>
                </a:solidFill>
                <a:latin typeface="Times New Roman" pitchFamily="18" charset="0"/>
              </a:defRPr>
            </a:lvl4pPr>
            <a:lvl5pPr marL="2057400" indent="-228600" eaLnBrk="0" hangingPunct="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spcBef>
                <a:spcPct val="50000"/>
              </a:spcBef>
            </a:pPr>
            <a:r>
              <a:rPr lang="en-US" altLang="en-US" sz="3200" dirty="0" err="1">
                <a:solidFill>
                  <a:srgbClr val="0070C0"/>
                </a:solidFill>
              </a:rPr>
              <a:t>Trong</a:t>
            </a:r>
            <a:r>
              <a:rPr lang="en-US" altLang="en-US" sz="3200" dirty="0">
                <a:solidFill>
                  <a:srgbClr val="0070C0"/>
                </a:solidFill>
              </a:rPr>
              <a:t> </a:t>
            </a:r>
            <a:r>
              <a:rPr lang="en-US" altLang="en-US" sz="3200" dirty="0" err="1">
                <a:solidFill>
                  <a:srgbClr val="0070C0"/>
                </a:solidFill>
              </a:rPr>
              <a:t>cùng</a:t>
            </a:r>
            <a:r>
              <a:rPr lang="en-US" altLang="en-US" sz="3200" dirty="0">
                <a:solidFill>
                  <a:srgbClr val="0070C0"/>
                </a:solidFill>
              </a:rPr>
              <a:t> 1 </a:t>
            </a:r>
            <a:r>
              <a:rPr lang="en-US" altLang="en-US" sz="3200" dirty="0" err="1">
                <a:solidFill>
                  <a:srgbClr val="0070C0"/>
                </a:solidFill>
              </a:rPr>
              <a:t>đơn</a:t>
            </a:r>
            <a:r>
              <a:rPr lang="en-US" altLang="en-US" sz="3200" dirty="0">
                <a:solidFill>
                  <a:srgbClr val="0070C0"/>
                </a:solidFill>
              </a:rPr>
              <a:t> </a:t>
            </a:r>
            <a:r>
              <a:rPr lang="en-US" altLang="en-US" sz="3200" dirty="0" err="1">
                <a:solidFill>
                  <a:srgbClr val="0070C0"/>
                </a:solidFill>
              </a:rPr>
              <a:t>vị</a:t>
            </a:r>
            <a:r>
              <a:rPr lang="en-US" altLang="en-US" sz="3200" dirty="0">
                <a:solidFill>
                  <a:srgbClr val="0070C0"/>
                </a:solidFill>
              </a:rPr>
              <a:t> </a:t>
            </a:r>
            <a:r>
              <a:rPr lang="en-US" altLang="en-US" sz="3200" dirty="0" err="1">
                <a:solidFill>
                  <a:srgbClr val="0070C0"/>
                </a:solidFill>
              </a:rPr>
              <a:t>thời</a:t>
            </a:r>
            <a:r>
              <a:rPr lang="en-US" altLang="en-US" sz="3200" dirty="0">
                <a:solidFill>
                  <a:srgbClr val="0070C0"/>
                </a:solidFill>
              </a:rPr>
              <a:t> </a:t>
            </a:r>
            <a:r>
              <a:rPr lang="en-US" altLang="en-US" sz="3200" dirty="0" err="1">
                <a:solidFill>
                  <a:srgbClr val="0070C0"/>
                </a:solidFill>
              </a:rPr>
              <a:t>gian</a:t>
            </a:r>
            <a:r>
              <a:rPr lang="en-US" altLang="en-US" sz="3200" dirty="0">
                <a:solidFill>
                  <a:srgbClr val="0070C0"/>
                </a:solidFill>
              </a:rPr>
              <a:t> </a:t>
            </a:r>
            <a:r>
              <a:rPr lang="en-US" altLang="en-US" sz="3200" dirty="0" err="1">
                <a:solidFill>
                  <a:srgbClr val="0070C0"/>
                </a:solidFill>
              </a:rPr>
              <a:t>lao</a:t>
            </a:r>
            <a:r>
              <a:rPr lang="en-US" altLang="en-US" sz="3200" dirty="0">
                <a:solidFill>
                  <a:srgbClr val="0070C0"/>
                </a:solidFill>
              </a:rPr>
              <a:t> </a:t>
            </a:r>
            <a:r>
              <a:rPr lang="en-US" altLang="en-US" sz="3200" dirty="0" err="1">
                <a:solidFill>
                  <a:srgbClr val="0070C0"/>
                </a:solidFill>
              </a:rPr>
              <a:t>động</a:t>
            </a:r>
            <a:r>
              <a:rPr lang="en-US" altLang="en-US" sz="3200" dirty="0">
                <a:solidFill>
                  <a:srgbClr val="0070C0"/>
                </a:solidFill>
              </a:rPr>
              <a:t> </a:t>
            </a:r>
            <a:r>
              <a:rPr lang="en-US" altLang="en-US" sz="3200" dirty="0" err="1">
                <a:solidFill>
                  <a:srgbClr val="0070C0"/>
                </a:solidFill>
              </a:rPr>
              <a:t>phức</a:t>
            </a:r>
            <a:r>
              <a:rPr lang="en-US" altLang="en-US" sz="3200" dirty="0">
                <a:solidFill>
                  <a:srgbClr val="0070C0"/>
                </a:solidFill>
              </a:rPr>
              <a:t> </a:t>
            </a:r>
            <a:r>
              <a:rPr lang="en-US" altLang="en-US" sz="3200" dirty="0" err="1">
                <a:solidFill>
                  <a:srgbClr val="0070C0"/>
                </a:solidFill>
              </a:rPr>
              <a:t>tạp</a:t>
            </a:r>
            <a:r>
              <a:rPr lang="en-US" altLang="en-US" sz="3200" dirty="0">
                <a:solidFill>
                  <a:srgbClr val="0070C0"/>
                </a:solidFill>
              </a:rPr>
              <a:t> </a:t>
            </a:r>
            <a:r>
              <a:rPr lang="en-US" altLang="en-US" sz="3200" dirty="0" err="1">
                <a:solidFill>
                  <a:srgbClr val="0070C0"/>
                </a:solidFill>
              </a:rPr>
              <a:t>tạo</a:t>
            </a:r>
            <a:r>
              <a:rPr lang="en-US" altLang="en-US" sz="3200" dirty="0">
                <a:solidFill>
                  <a:srgbClr val="0070C0"/>
                </a:solidFill>
              </a:rPr>
              <a:t> </a:t>
            </a:r>
            <a:r>
              <a:rPr lang="en-US" altLang="en-US" sz="3200" dirty="0" err="1">
                <a:solidFill>
                  <a:srgbClr val="0070C0"/>
                </a:solidFill>
              </a:rPr>
              <a:t>ra</a:t>
            </a:r>
            <a:r>
              <a:rPr lang="en-US" altLang="en-US" sz="3200" dirty="0">
                <a:solidFill>
                  <a:srgbClr val="0070C0"/>
                </a:solidFill>
              </a:rPr>
              <a:t> </a:t>
            </a:r>
            <a:r>
              <a:rPr lang="en-US" altLang="en-US" sz="3200" dirty="0" err="1">
                <a:solidFill>
                  <a:srgbClr val="0070C0"/>
                </a:solidFill>
              </a:rPr>
              <a:t>nhiều</a:t>
            </a:r>
            <a:r>
              <a:rPr lang="en-US" altLang="en-US" sz="3200" dirty="0">
                <a:solidFill>
                  <a:srgbClr val="0070C0"/>
                </a:solidFill>
              </a:rPr>
              <a:t> </a:t>
            </a:r>
            <a:r>
              <a:rPr lang="en-US" altLang="en-US" sz="3200" dirty="0" err="1">
                <a:solidFill>
                  <a:srgbClr val="0070C0"/>
                </a:solidFill>
              </a:rPr>
              <a:t>giá</a:t>
            </a:r>
            <a:r>
              <a:rPr lang="en-US" altLang="en-US" sz="3200" dirty="0">
                <a:solidFill>
                  <a:srgbClr val="0070C0"/>
                </a:solidFill>
              </a:rPr>
              <a:t> </a:t>
            </a:r>
            <a:r>
              <a:rPr lang="en-US" altLang="en-US" sz="3200" dirty="0" err="1">
                <a:solidFill>
                  <a:srgbClr val="0070C0"/>
                </a:solidFill>
              </a:rPr>
              <a:t>trị</a:t>
            </a:r>
            <a:r>
              <a:rPr lang="en-US" altLang="en-US" sz="3200" dirty="0">
                <a:solidFill>
                  <a:srgbClr val="0070C0"/>
                </a:solidFill>
              </a:rPr>
              <a:t> </a:t>
            </a:r>
            <a:r>
              <a:rPr lang="en-US" altLang="en-US" sz="3200" dirty="0" err="1">
                <a:solidFill>
                  <a:srgbClr val="0070C0"/>
                </a:solidFill>
              </a:rPr>
              <a:t>hơn</a:t>
            </a:r>
            <a:r>
              <a:rPr lang="en-US" altLang="en-US" sz="3200" dirty="0">
                <a:solidFill>
                  <a:srgbClr val="0070C0"/>
                </a:solidFill>
              </a:rPr>
              <a:t> </a:t>
            </a:r>
            <a:r>
              <a:rPr lang="en-US" altLang="en-US" sz="3200" dirty="0" err="1">
                <a:solidFill>
                  <a:srgbClr val="0070C0"/>
                </a:solidFill>
              </a:rPr>
              <a:t>lao</a:t>
            </a:r>
            <a:r>
              <a:rPr lang="en-US" altLang="en-US" sz="3200" dirty="0">
                <a:solidFill>
                  <a:srgbClr val="0070C0"/>
                </a:solidFill>
              </a:rPr>
              <a:t> </a:t>
            </a:r>
            <a:r>
              <a:rPr lang="en-US" altLang="en-US" sz="3200" dirty="0" err="1">
                <a:solidFill>
                  <a:srgbClr val="0070C0"/>
                </a:solidFill>
              </a:rPr>
              <a:t>động</a:t>
            </a:r>
            <a:r>
              <a:rPr lang="en-US" altLang="en-US" sz="3200" dirty="0">
                <a:solidFill>
                  <a:srgbClr val="0070C0"/>
                </a:solidFill>
              </a:rPr>
              <a:t> </a:t>
            </a:r>
            <a:r>
              <a:rPr lang="en-US" altLang="en-US" sz="3200" dirty="0" err="1">
                <a:solidFill>
                  <a:srgbClr val="0070C0"/>
                </a:solidFill>
              </a:rPr>
              <a:t>giản</a:t>
            </a:r>
            <a:r>
              <a:rPr lang="en-US" altLang="en-US" sz="3200" dirty="0">
                <a:solidFill>
                  <a:srgbClr val="0070C0"/>
                </a:solidFill>
              </a:rPr>
              <a:t> </a:t>
            </a:r>
            <a:r>
              <a:rPr lang="en-US" altLang="en-US" sz="3200" dirty="0" err="1">
                <a:solidFill>
                  <a:srgbClr val="0070C0"/>
                </a:solidFill>
              </a:rPr>
              <a:t>đơn</a:t>
            </a:r>
            <a:r>
              <a:rPr lang="en-US" altLang="en-US" sz="3200" dirty="0">
                <a:solidFill>
                  <a:srgbClr val="0070C0"/>
                </a:solidFill>
              </a:rPr>
              <a:t>.</a:t>
            </a:r>
          </a:p>
        </p:txBody>
      </p:sp>
    </p:spTree>
    <p:extLst>
      <p:ext uri="{BB962C8B-B14F-4D97-AF65-F5344CB8AC3E}">
        <p14:creationId xmlns:p14="http://schemas.microsoft.com/office/powerpoint/2010/main" val="4125991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0047" y="617837"/>
            <a:ext cx="9310315" cy="1124465"/>
          </a:xfrm>
        </p:spPr>
        <p:txBody>
          <a:bodyPr>
            <a:normAutofit fontScale="90000"/>
          </a:bodyPr>
          <a:lstStyle/>
          <a:p>
            <a:r>
              <a:rPr lang="en-US" b="1" i="1" dirty="0">
                <a:solidFill>
                  <a:srgbClr val="FF0000"/>
                </a:solidFill>
              </a:rPr>
              <a:t>2.1.3. Tiền tệ</a:t>
            </a:r>
            <a:br>
              <a:rPr lang="en-US" dirty="0">
                <a:solidFill>
                  <a:srgbClr val="FF0000"/>
                </a:solidFill>
              </a:rPr>
            </a:b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8476" y="2407420"/>
            <a:ext cx="10856968" cy="1695024"/>
          </a:xfrm>
        </p:spPr>
        <p:txBody>
          <a:bodyPr/>
          <a:lstStyle/>
          <a:p>
            <a:pPr marL="0" indent="0">
              <a:buNone/>
            </a:pPr>
            <a:r>
              <a:rPr lang="en-US" dirty="0"/>
              <a:t>Tiền là một loại hàng hóa đặc biệt, đóng vai trò vật ngang giá chung cho các hàng hóa; tiền thể hiện lao động xã hội và quan hệ kinh tế giữa những người sản xuất hàng hóa.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255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624" y="822326"/>
            <a:ext cx="9310315" cy="946840"/>
          </a:xfrm>
        </p:spPr>
        <p:txBody>
          <a:bodyPr>
            <a:normAutofit fontScale="90000"/>
          </a:bodyPr>
          <a:lstStyle/>
          <a:p>
            <a:pPr lvl="0"/>
            <a:r>
              <a:rPr lang="en-US" i="1" dirty="0">
                <a:solidFill>
                  <a:srgbClr val="FF0000"/>
                </a:solidFill>
              </a:rPr>
              <a:t>2.1.3.1. </a:t>
            </a:r>
            <a:r>
              <a:rPr lang="vi-VN" i="1" dirty="0">
                <a:solidFill>
                  <a:srgbClr val="FF0000"/>
                </a:solidFill>
              </a:rPr>
              <a:t>Nguồn gốc và bản chất của tiền</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683704" y="2222067"/>
            <a:ext cx="11100021" cy="2905987"/>
          </a:xfrm>
        </p:spPr>
        <p:txBody>
          <a:bodyPr/>
          <a:lstStyle/>
          <a:p>
            <a:pPr marL="0" indent="0">
              <a:buNone/>
            </a:pPr>
            <a:r>
              <a:rPr lang="vi-VN" i="1" dirty="0"/>
              <a:t>- Hình thải giả trị giản đơn hay ngẫu nhiên</a:t>
            </a:r>
            <a:endParaRPr lang="en-US" dirty="0"/>
          </a:p>
          <a:p>
            <a:pPr marL="0" indent="0">
              <a:buNone/>
            </a:pPr>
            <a:r>
              <a:rPr lang="vi-VN" dirty="0"/>
              <a:t>Đây là hình thái ban đầu của giá trị xuất hiện trong thời kỳ sơ khai của trao đồi hàng hóa. Khi đó, việc trao đối giữa các hàng hóa với nhau mang tính ngẫu nhiên. Người ta trao đồi trực tiếp hàng hóa này này lấy hàng hóa khác.</a:t>
            </a:r>
            <a:endParaRPr lang="en-US" dirty="0"/>
          </a:p>
          <a:p>
            <a:endParaRPr lang="en-US" dirty="0"/>
          </a:p>
        </p:txBody>
      </p:sp>
    </p:spTree>
    <p:extLst>
      <p:ext uri="{BB962C8B-B14F-4D97-AF65-F5344CB8AC3E}">
        <p14:creationId xmlns:p14="http://schemas.microsoft.com/office/powerpoint/2010/main" val="3974444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72493" y="1431235"/>
            <a:ext cx="11100021" cy="2807133"/>
          </a:xfrm>
        </p:spPr>
        <p:txBody>
          <a:bodyPr/>
          <a:lstStyle/>
          <a:p>
            <a:pPr marL="0" lvl="0" indent="0">
              <a:buNone/>
            </a:pPr>
            <a:r>
              <a:rPr lang="en-US" i="1" dirty="0"/>
              <a:t>- </a:t>
            </a:r>
            <a:r>
              <a:rPr lang="vi-VN" i="1" dirty="0"/>
              <a:t>Hình thái giả trị đầy đủ hay mở rộng</a:t>
            </a:r>
            <a:endParaRPr lang="en-US" dirty="0"/>
          </a:p>
          <a:p>
            <a:pPr marL="0" indent="0">
              <a:buNone/>
            </a:pPr>
            <a:r>
              <a:rPr lang="vi-VN" dirty="0"/>
              <a:t>Khi trình độ phát triển của sản xuất hàng hóa được nâng lên, trao đồi trở nên thường xuyên hơn, một hàng hóa có thể được đặt trong mối quan hệ với nhiều hàng hóa khác. Hình thái giá trị đầy đủ hay mở rộng xuất hiện.</a:t>
            </a:r>
            <a:endParaRPr lang="en-US" dirty="0"/>
          </a:p>
          <a:p>
            <a:pPr marL="0" indent="0">
              <a:buNone/>
            </a:pPr>
            <a:endParaRPr lang="en-US" dirty="0"/>
          </a:p>
        </p:txBody>
      </p:sp>
    </p:spTree>
    <p:extLst>
      <p:ext uri="{BB962C8B-B14F-4D97-AF65-F5344CB8AC3E}">
        <p14:creationId xmlns:p14="http://schemas.microsoft.com/office/powerpoint/2010/main" val="2378509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97206" y="2518630"/>
            <a:ext cx="11100021" cy="2646495"/>
          </a:xfrm>
        </p:spPr>
        <p:txBody>
          <a:bodyPr/>
          <a:lstStyle/>
          <a:p>
            <a:pPr marL="0" lvl="0" indent="0">
              <a:buNone/>
            </a:pPr>
            <a:r>
              <a:rPr lang="en-US" i="1" dirty="0"/>
              <a:t>- </a:t>
            </a:r>
            <a:r>
              <a:rPr lang="vi-VN" i="1" dirty="0"/>
              <a:t>Hình thái chung của giá trị</a:t>
            </a:r>
            <a:endParaRPr lang="en-US" dirty="0"/>
          </a:p>
          <a:p>
            <a:pPr marL="0" indent="0">
              <a:buNone/>
            </a:pPr>
            <a:r>
              <a:rPr lang="vi-VN" dirty="0"/>
              <a:t>Việc trao đổi trực tiếp sẽ trở nên không còn thích hợp khi trình độ sản xuất hàng hóa phát triển cao hơn, chủng loại hàng hóa càng phong phú hơn. Trình độ sàn xuất này thúc đẩy sự hình thành hình thái chung của giá trị.</a:t>
            </a:r>
            <a:endParaRPr lang="en-US" dirty="0"/>
          </a:p>
          <a:p>
            <a:endParaRPr lang="en-US" dirty="0"/>
          </a:p>
        </p:txBody>
      </p:sp>
    </p:spTree>
    <p:extLst>
      <p:ext uri="{BB962C8B-B14F-4D97-AF65-F5344CB8AC3E}">
        <p14:creationId xmlns:p14="http://schemas.microsoft.com/office/powerpoint/2010/main" val="3910660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72493" y="2407419"/>
            <a:ext cx="11100021" cy="2868916"/>
          </a:xfrm>
        </p:spPr>
        <p:txBody>
          <a:bodyPr/>
          <a:lstStyle/>
          <a:p>
            <a:pPr marL="0" lvl="0" indent="0">
              <a:buNone/>
            </a:pPr>
            <a:r>
              <a:rPr lang="en-US" i="1" dirty="0"/>
              <a:t>- </a:t>
            </a:r>
            <a:r>
              <a:rPr lang="vi-VN" i="1" dirty="0"/>
              <a:t>Hình thải tiền</a:t>
            </a:r>
            <a:endParaRPr lang="en-US" dirty="0"/>
          </a:p>
          <a:p>
            <a:pPr marL="0" indent="0">
              <a:buNone/>
            </a:pPr>
            <a:r>
              <a:rPr lang="vi-VN" dirty="0"/>
              <a:t>Khi lực lượng sản xuất và phân công lao động xã hội phát triển hơn nữa, sàn xuất hàng hóa và thị trường ngày càng mở rộng, thì tình hình có nhiêu vật làm ngang giá chung sẽ gây trở ngại cho trao đôi giữa các địa phương trong một quôc gia. Do đó, đòi hỏi khách quan là càn có một loại hàng hóa làm vật ngang giá chung thống nhất.</a:t>
            </a:r>
            <a:endParaRPr lang="en-US" dirty="0"/>
          </a:p>
          <a:p>
            <a:endParaRPr lang="en-US" dirty="0"/>
          </a:p>
        </p:txBody>
      </p:sp>
    </p:spTree>
    <p:extLst>
      <p:ext uri="{BB962C8B-B14F-4D97-AF65-F5344CB8AC3E}">
        <p14:creationId xmlns:p14="http://schemas.microsoft.com/office/powerpoint/2010/main" val="968379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7754" y="402196"/>
            <a:ext cx="9310315" cy="946840"/>
          </a:xfrm>
        </p:spPr>
        <p:txBody>
          <a:bodyPr>
            <a:noAutofit/>
          </a:bodyPr>
          <a:lstStyle/>
          <a:p>
            <a:pPr lvl="0"/>
            <a:r>
              <a:rPr lang="en-US" sz="2800" i="1" dirty="0">
                <a:solidFill>
                  <a:srgbClr val="FF0000"/>
                </a:solidFill>
              </a:rPr>
              <a:t>2.1.3.2. </a:t>
            </a:r>
            <a:r>
              <a:rPr lang="vi-VN" sz="2800" i="1" dirty="0">
                <a:solidFill>
                  <a:srgbClr val="FF0000"/>
                </a:solidFill>
              </a:rPr>
              <a:t>Chức năng của tiền</a:t>
            </a:r>
            <a:endParaRPr lang="en-US" sz="2800"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i="1" dirty="0"/>
              <a:t>Thước đo giá trị</a:t>
            </a:r>
            <a:r>
              <a:rPr lang="en-US" dirty="0"/>
              <a:t>. Làm chức năng thước đo giá trị, tiền dùng để biểu hiện và đo lường giá trị của tất cả các hàng hóa khác nhau. </a:t>
            </a:r>
          </a:p>
          <a:p>
            <a:r>
              <a:rPr lang="en-US" i="1" dirty="0"/>
              <a:t>Phương tiện lưu thông</a:t>
            </a:r>
            <a:r>
              <a:rPr lang="en-US" dirty="0"/>
              <a:t>. Làm chức năng phương tiện lưu thông, tiền được dùng làm môi giới cho quá trình trao đổi hàng hóa.</a:t>
            </a:r>
          </a:p>
          <a:p>
            <a:r>
              <a:rPr lang="en-US" i="1" dirty="0"/>
              <a:t>Phương tiện cất trữ</a:t>
            </a:r>
            <a:r>
              <a:rPr lang="en-US" dirty="0"/>
              <a:t>. Tiền là đại diện cho giá trị, đại diện cho của cải nên khi tiền xuất hiện, thay vì cất trữ hàng hóa, người dân có thể cất trữ bằng tiền. </a:t>
            </a:r>
          </a:p>
          <a:p>
            <a:r>
              <a:rPr lang="en-US" i="1" dirty="0"/>
              <a:t>Phương tiện thanh toán</a:t>
            </a:r>
            <a:r>
              <a:rPr lang="en-US" dirty="0"/>
              <a:t>. Làm chức năng thanh toán, tiền được dùng để chi trả sau khi việc giao dịch, mua bán đã hoàn thành, tức thanh toán việc mua bán chịu.</a:t>
            </a:r>
          </a:p>
          <a:p>
            <a:r>
              <a:rPr lang="en-US" i="1" dirty="0"/>
              <a:t>Tiền tệ thế giới</a:t>
            </a:r>
            <a:r>
              <a:rPr lang="en-US" dirty="0"/>
              <a:t>. Khi trao đổi hàng hóa mở rộng ra ngoài biên giới, giữa các nước thì tiền làm chức năng tiền tệ thế giới.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7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7689" y="358346"/>
            <a:ext cx="9310315" cy="2743200"/>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2.1.4. </a:t>
            </a:r>
            <a:r>
              <a:rPr lang="vi-VN" sz="3200" b="1" dirty="0">
                <a:solidFill>
                  <a:srgbClr val="FF0000"/>
                </a:solidFill>
                <a:latin typeface="Times New Roman" panose="02020603050405020304" pitchFamily="18" charset="0"/>
                <a:cs typeface="Times New Roman" panose="02020603050405020304" pitchFamily="18" charset="0"/>
              </a:rPr>
              <a:t>Dịch vụ và quan hệ trao đổi trong trường họp một số yếu tố khác hàng hóa thông </a:t>
            </a:r>
            <a:r>
              <a:rPr lang="en-US" sz="3200" b="1" dirty="0">
                <a:solidFill>
                  <a:srgbClr val="FF0000"/>
                </a:solidFill>
                <a:latin typeface="Times New Roman" panose="02020603050405020304" pitchFamily="18" charset="0"/>
                <a:cs typeface="Times New Roman" panose="02020603050405020304" pitchFamily="18" charset="0"/>
              </a:rPr>
              <a:t>thường ở </a:t>
            </a:r>
            <a:r>
              <a:rPr lang="vi-VN" sz="3200" b="1" dirty="0">
                <a:solidFill>
                  <a:srgbClr val="FF0000"/>
                </a:solidFill>
                <a:latin typeface="Times New Roman" panose="02020603050405020304" pitchFamily="18" charset="0"/>
                <a:cs typeface="Times New Roman" panose="02020603050405020304" pitchFamily="18" charset="0"/>
              </a:rPr>
              <a:t>điều kiện ngày nay</a:t>
            </a:r>
            <a:br>
              <a:rPr lang="en-US" sz="3200" b="1" dirty="0">
                <a:latin typeface="Times New Roman" panose="02020603050405020304" pitchFamily="18" charset="0"/>
                <a:cs typeface="Times New Roman" panose="02020603050405020304" pitchFamily="18" charset="0"/>
              </a:rPr>
            </a:br>
            <a:br>
              <a:rPr lang="en-US" sz="3200" dirty="0"/>
            </a:br>
            <a:r>
              <a:rPr lang="en-US" sz="3200" i="1" dirty="0">
                <a:latin typeface="Times New Roman" panose="02020603050405020304" pitchFamily="18" charset="0"/>
                <a:cs typeface="Times New Roman" panose="02020603050405020304" pitchFamily="18" charset="0"/>
              </a:rPr>
              <a:t>2.1.4.1. Dịch vụ</a:t>
            </a:r>
            <a:endParaRPr lang="en-US" sz="3200" dirty="0"/>
          </a:p>
        </p:txBody>
      </p:sp>
      <p:sp>
        <p:nvSpPr>
          <p:cNvPr id="3" name="Content Placeholder 2"/>
          <p:cNvSpPr>
            <a:spLocks noGrp="1"/>
          </p:cNvSpPr>
          <p:nvPr>
            <p:ph idx="1"/>
          </p:nvPr>
        </p:nvSpPr>
        <p:spPr>
          <a:xfrm>
            <a:off x="473639" y="3348681"/>
            <a:ext cx="11100021" cy="2293844"/>
          </a:xfrm>
        </p:spPr>
        <p:txBody>
          <a:bodyPr>
            <a:normAutofit fontScale="85000" lnSpcReduction="20000"/>
          </a:bodyPr>
          <a:lstStyle/>
          <a:p>
            <a:pPr marL="0" indent="0">
              <a:buNone/>
            </a:pPr>
            <a:r>
              <a:rPr lang="en-US" b="1" dirty="0"/>
              <a:t>Dịch vụ được coi là hàng hóa đặc biệt do các thuộc tính sau:</a:t>
            </a:r>
          </a:p>
          <a:p>
            <a:r>
              <a:rPr lang="en-US" dirty="0"/>
              <a:t>Dịch vụ là hàng hóa vô hình không thể cầm nắm được. </a:t>
            </a:r>
          </a:p>
          <a:p>
            <a:r>
              <a:rPr lang="en-US" dirty="0"/>
              <a:t>Hàng hóa dịch vụ không thể tách rời nhà cung cấp dịch vụ. </a:t>
            </a:r>
          </a:p>
          <a:p>
            <a:r>
              <a:rPr lang="en-US" dirty="0"/>
              <a:t>Chất lượng dịch vụ mang tính không đồng nhất, không ổn định và khó xác định. </a:t>
            </a:r>
          </a:p>
          <a:p>
            <a:r>
              <a:rPr lang="en-US" dirty="0"/>
              <a:t>Dịch vụ là hàng hóa không thể tích lũy lại hay lưu trữ. </a:t>
            </a:r>
          </a:p>
          <a:p>
            <a:r>
              <a:rPr lang="en-US" dirty="0"/>
              <a:t>Dịch vụ tạo ra lợi ích nhưng không bao gồm sở hữu. </a:t>
            </a:r>
          </a:p>
        </p:txBody>
      </p:sp>
    </p:spTree>
    <p:extLst>
      <p:ext uri="{BB962C8B-B14F-4D97-AF65-F5344CB8AC3E}">
        <p14:creationId xmlns:p14="http://schemas.microsoft.com/office/powerpoint/2010/main" val="2976376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9981" y="562834"/>
            <a:ext cx="9310315" cy="946840"/>
          </a:xfrm>
        </p:spPr>
        <p:txBody>
          <a:bodyPr>
            <a:noAutofit/>
          </a:bodyPr>
          <a:lstStyle/>
          <a:p>
            <a:pPr lvl="0"/>
            <a:r>
              <a:rPr lang="en-US" sz="3200" b="1" i="1" dirty="0">
                <a:solidFill>
                  <a:srgbClr val="FF0000"/>
                </a:solidFill>
              </a:rPr>
              <a:t>2.1.4.2. </a:t>
            </a:r>
            <a:r>
              <a:rPr lang="vi-VN" sz="3200" b="1" i="1" dirty="0">
                <a:solidFill>
                  <a:srgbClr val="FF0000"/>
                </a:solidFill>
              </a:rPr>
              <a:t>Quan hệ trao đổi trong trường hợp một sổ yếu tổ khác hàng hóa thông thường ở điều kiện ngày nay</a:t>
            </a:r>
            <a:endParaRPr lang="en-US" sz="3200" b="1" dirty="0">
              <a:solidFill>
                <a:srgbClr val="FF0000"/>
              </a:solidFill>
            </a:endParaRPr>
          </a:p>
        </p:txBody>
      </p:sp>
      <p:sp>
        <p:nvSpPr>
          <p:cNvPr id="3" name="Content Placeholder 2"/>
          <p:cNvSpPr>
            <a:spLocks noGrp="1"/>
          </p:cNvSpPr>
          <p:nvPr>
            <p:ph idx="1"/>
          </p:nvPr>
        </p:nvSpPr>
        <p:spPr>
          <a:xfrm>
            <a:off x="572493" y="1991802"/>
            <a:ext cx="11100021" cy="4866198"/>
          </a:xfrm>
        </p:spPr>
        <p:txBody>
          <a:bodyPr/>
          <a:lstStyle/>
          <a:p>
            <a:pPr marL="0" indent="0">
              <a:buNone/>
            </a:pPr>
            <a:r>
              <a:rPr lang="vi-VN" i="1" dirty="0"/>
              <a:t>- Quan hệ trong trường hợp trao đôi quyên sừ dụng đắt</a:t>
            </a:r>
            <a:endParaRPr lang="en-US" dirty="0"/>
          </a:p>
          <a:p>
            <a:pPr marL="0" indent="0">
              <a:buNone/>
            </a:pPr>
            <a:r>
              <a:rPr lang="vi-VN" dirty="0"/>
              <a:t>Khi thực hiện mua, bán quyền sử dụng đất, nhiều người lầm tưởng dó là mua bán đất đai. Trên thực tế, họ trao đổi với nhau quyền sử dụng đất.</a:t>
            </a:r>
            <a:endParaRPr lang="en-US" dirty="0"/>
          </a:p>
          <a:p>
            <a:pPr marL="0" indent="0">
              <a:buNone/>
            </a:pPr>
            <a:r>
              <a:rPr lang="vi-VN" dirty="0"/>
              <a:t>Quyền sử dụng đất, có giá trị sử dụng, có giá cả nhưng không do hao phí lao động tạo ra theo cách như các hàng hóa thông thường. Giá cả của quyền sừ dụng đất chịu tác động của nhiều yếu tố: giá trị của tiền, quan hệ cung cầu, đầu cơ, sự khan hiếm, do tốc độ đô thị hóa, công nghiệp hóa, gia tăng dân số...</a:t>
            </a:r>
            <a:endParaRPr lang="en-US" dirty="0"/>
          </a:p>
          <a:p>
            <a:pPr marL="0" indent="0">
              <a:buNone/>
            </a:pPr>
            <a:endParaRPr lang="en-US" dirty="0"/>
          </a:p>
        </p:txBody>
      </p:sp>
    </p:spTree>
    <p:extLst>
      <p:ext uri="{BB962C8B-B14F-4D97-AF65-F5344CB8AC3E}">
        <p14:creationId xmlns:p14="http://schemas.microsoft.com/office/powerpoint/2010/main" val="1233377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661688"/>
            <a:ext cx="9310315" cy="946840"/>
          </a:xfrm>
        </p:spPr>
        <p:txBody>
          <a:bodyPr>
            <a:normAutofit fontScale="90000"/>
          </a:bodyPr>
          <a:lstStyle/>
          <a:p>
            <a:pPr lvl="0"/>
            <a:r>
              <a:rPr lang="vi-VN" i="1" dirty="0"/>
              <a:t>Quan hệ trong trao đôi thương hiệu (danh tiêng)</a:t>
            </a:r>
            <a:br>
              <a:rPr lang="en-US" dirty="0"/>
            </a:br>
            <a:endParaRPr lang="en-US" dirty="0"/>
          </a:p>
        </p:txBody>
      </p:sp>
      <p:sp>
        <p:nvSpPr>
          <p:cNvPr id="3" name="Content Placeholder 2"/>
          <p:cNvSpPr>
            <a:spLocks noGrp="1"/>
          </p:cNvSpPr>
          <p:nvPr>
            <p:ph idx="1"/>
          </p:nvPr>
        </p:nvSpPr>
        <p:spPr/>
        <p:txBody>
          <a:bodyPr/>
          <a:lstStyle/>
          <a:p>
            <a:pPr marL="0" indent="0">
              <a:buNone/>
            </a:pPr>
            <a:r>
              <a:rPr lang="vi-VN" dirty="0"/>
              <a:t>Ngày nay, thương hiệu của một doanh nghiệp cũng có thể được trao đồi, mua bán, được định giá, tức chúng có giá cả, thậm chí có giá cả cao. Thương hiệu hay danh tiếng, là kết quả của sự nỗ lực của sự hao phí sức lao động của người nắm giữ thương hiệu, thậm chí là của nhiều người. Do đó, giá cả cùa thương hiệu, nhất là những thương hiệu nổi tiếng thường rất cao. Điểm cần chú ý là, thương hiệu chỉ có thể được hình thành dựa trcn một kiểu sản xuất hàng hóa, dịch vụ thực mới có giá cả cao.</a:t>
            </a:r>
            <a:endParaRPr lang="en-US" dirty="0"/>
          </a:p>
          <a:p>
            <a:pPr marL="0" indent="0">
              <a:buNone/>
            </a:pPr>
            <a:endParaRPr lang="en-US" dirty="0"/>
          </a:p>
        </p:txBody>
      </p:sp>
    </p:spTree>
    <p:extLst>
      <p:ext uri="{BB962C8B-B14F-4D97-AF65-F5344CB8AC3E}">
        <p14:creationId xmlns:p14="http://schemas.microsoft.com/office/powerpoint/2010/main" val="743083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9981" y="612262"/>
            <a:ext cx="9310315" cy="946840"/>
          </a:xfrm>
        </p:spPr>
        <p:txBody>
          <a:bodyPr>
            <a:noAutofit/>
          </a:bodyPr>
          <a:lstStyle/>
          <a:p>
            <a:pPr lvl="0"/>
            <a:r>
              <a:rPr lang="vi-VN" sz="3200" i="1" dirty="0"/>
              <a:t>Quan hệ trong trao đổi, mua bán ch</a:t>
            </a:r>
            <a:r>
              <a:rPr lang="en-US" sz="3200" i="1" dirty="0"/>
              <a:t>ứ</a:t>
            </a:r>
            <a:r>
              <a:rPr lang="vi-VN" sz="3200" i="1" dirty="0"/>
              <a:t>ng khoán, chứng quyền và một số giấy tờ c</a:t>
            </a:r>
            <a:r>
              <a:rPr lang="en-US" sz="3200" i="1" dirty="0"/>
              <a:t>ó</a:t>
            </a:r>
            <a:r>
              <a:rPr lang="vi-VN" sz="3200" i="1" dirty="0"/>
              <a:t> gi</a:t>
            </a:r>
            <a:r>
              <a:rPr lang="en-US" sz="3200" i="1" dirty="0"/>
              <a:t>á</a:t>
            </a:r>
            <a:br>
              <a:rPr lang="en-US" sz="3200" dirty="0"/>
            </a:br>
            <a:endParaRPr lang="en-US" sz="3200" dirty="0"/>
          </a:p>
        </p:txBody>
      </p:sp>
      <p:sp>
        <p:nvSpPr>
          <p:cNvPr id="3" name="Content Placeholder 2"/>
          <p:cNvSpPr>
            <a:spLocks noGrp="1"/>
          </p:cNvSpPr>
          <p:nvPr>
            <p:ph idx="1"/>
          </p:nvPr>
        </p:nvSpPr>
        <p:spPr>
          <a:xfrm>
            <a:off x="770201" y="2617484"/>
            <a:ext cx="11100021" cy="2695922"/>
          </a:xfrm>
        </p:spPr>
        <p:txBody>
          <a:bodyPr/>
          <a:lstStyle/>
          <a:p>
            <a:pPr marL="0" indent="0">
              <a:buNone/>
            </a:pPr>
            <a:r>
              <a:rPr lang="vi-VN" dirty="0"/>
              <a:t>Chứng khoán, chứng quyền, các loại giấy tờ có giá khác cũng có một số đặc trưng như hàng hóa, mang lại thu nhập cho người mua, bán. Sự phát triển của các giao dịch mua, bán chứng khoán, chứng quyền dần thúc đẩy hình thành một loại thị trường yếu tố có tính hàng hóa phái sinh, phân biệt</a:t>
            </a:r>
            <a:endParaRPr lang="en-US" dirty="0"/>
          </a:p>
          <a:p>
            <a:pPr marL="0" indent="0">
              <a:buNone/>
            </a:pPr>
            <a:endParaRPr lang="en-US" dirty="0"/>
          </a:p>
        </p:txBody>
      </p:sp>
    </p:spTree>
    <p:extLst>
      <p:ext uri="{BB962C8B-B14F-4D97-AF65-F5344CB8AC3E}">
        <p14:creationId xmlns:p14="http://schemas.microsoft.com/office/powerpoint/2010/main" val="568730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267" y="481914"/>
            <a:ext cx="9310315" cy="1371600"/>
          </a:xfrm>
        </p:spPr>
        <p:txBody>
          <a:bodyPr>
            <a:noAutofit/>
          </a:bodyPr>
          <a:lstStyle/>
          <a:p>
            <a:r>
              <a:rPr lang="en-US" sz="2800" b="1" dirty="0">
                <a:solidFill>
                  <a:srgbClr val="FF0000"/>
                </a:solidFill>
                <a:latin typeface="Times New Roman" panose="02020603050405020304" pitchFamily="18" charset="0"/>
                <a:cs typeface="Times New Roman" panose="02020603050405020304" pitchFamily="18" charset="0"/>
              </a:rPr>
              <a:t>2.2. </a:t>
            </a:r>
            <a:r>
              <a:rPr lang="vi-VN" sz="2800" b="1" dirty="0">
                <a:solidFill>
                  <a:srgbClr val="FF0000"/>
                </a:solidFill>
                <a:latin typeface="Times New Roman" panose="02020603050405020304" pitchFamily="18" charset="0"/>
                <a:cs typeface="Times New Roman" panose="02020603050405020304" pitchFamily="18" charset="0"/>
              </a:rPr>
              <a:t>THỊ TRƯỜNG VÀ N</a:t>
            </a:r>
            <a:r>
              <a:rPr lang="en-US" sz="2800" b="1" dirty="0">
                <a:solidFill>
                  <a:srgbClr val="FF0000"/>
                </a:solidFill>
                <a:latin typeface="Times New Roman" panose="02020603050405020304" pitchFamily="18" charset="0"/>
                <a:cs typeface="Times New Roman" panose="02020603050405020304" pitchFamily="18" charset="0"/>
              </a:rPr>
              <a:t>Ề</a:t>
            </a:r>
            <a:r>
              <a:rPr lang="vi-VN" sz="2800" b="1" dirty="0">
                <a:solidFill>
                  <a:srgbClr val="FF0000"/>
                </a:solidFill>
                <a:latin typeface="Times New Roman" panose="02020603050405020304" pitchFamily="18" charset="0"/>
                <a:cs typeface="Times New Roman" panose="02020603050405020304" pitchFamily="18" charset="0"/>
              </a:rPr>
              <a:t>N KINH TÉ THỊ TRƯỜNG</a:t>
            </a:r>
            <a:br>
              <a:rPr lang="en-US" sz="2800" dirty="0">
                <a:solidFill>
                  <a:srgbClr val="FF0000"/>
                </a:solidFill>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2.2.1. </a:t>
            </a:r>
            <a:r>
              <a:rPr lang="vi-VN" sz="2800" b="1" dirty="0">
                <a:solidFill>
                  <a:srgbClr val="FF0000"/>
                </a:solidFill>
              </a:rPr>
              <a:t>Khái niệm, phân loại và vai trò của thị trường</a:t>
            </a:r>
            <a:br>
              <a:rPr lang="en-US" sz="2800" b="1" dirty="0">
                <a:solidFill>
                  <a:srgbClr val="FF0000"/>
                </a:solidFill>
                <a:latin typeface="Times New Roman" panose="02020603050405020304" pitchFamily="18" charset="0"/>
                <a:cs typeface="Times New Roman" panose="02020603050405020304" pitchFamily="18" charset="0"/>
              </a:rPr>
            </a:b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2493" y="1940011"/>
            <a:ext cx="11100021" cy="4357422"/>
          </a:xfrm>
        </p:spPr>
        <p:txBody>
          <a:bodyPr/>
          <a:lstStyle/>
          <a:p>
            <a:pPr marL="0" lvl="0" indent="0">
              <a:buNone/>
            </a:pPr>
            <a:r>
              <a:rPr lang="en-US" b="1" dirty="0">
                <a:latin typeface="Times New Roman" pitchFamily="18" charset="0"/>
                <a:cs typeface="Times New Roman" pitchFamily="18" charset="0"/>
              </a:rPr>
              <a:t>2.2.1.1 </a:t>
            </a:r>
            <a:r>
              <a:rPr lang="vi-VN" b="1" i="1" dirty="0"/>
              <a:t>Khái niệm và phân loại thị trường</a:t>
            </a:r>
            <a:endParaRPr lang="en-US" b="1" dirty="0"/>
          </a:p>
          <a:p>
            <a:pPr marL="0" indent="0">
              <a:buNone/>
            </a:pPr>
            <a:br>
              <a:rPr lang="en-US" dirty="0">
                <a:latin typeface="Times New Roman" pitchFamily="18" charset="0"/>
                <a:cs typeface="Times New Roman" pitchFamily="18" charset="0"/>
              </a:rPr>
            </a:br>
            <a:r>
              <a:rPr lang="vi-VN" i="1" dirty="0"/>
              <a:t>- Khái niệm thị trường</a:t>
            </a:r>
            <a:endParaRPr lang="en-US" dirty="0"/>
          </a:p>
          <a:p>
            <a:pPr marL="0" indent="0">
              <a:buNone/>
            </a:pPr>
            <a:r>
              <a:rPr lang="vi-VN" i="1" dirty="0"/>
              <a:t>Thị trường là tổng hòa những quan hệ kinh tế trong đó nhu cầu của các chủ thê được đáp ứng thông qua việc trao đổi, mua bản với sự xác định giá cả và số lượng hàng hỏa, dịch vụ tương ứng với trình độ phát triển nhắt định của nền sản xuất xã hội.</a:t>
            </a:r>
            <a:endParaRPr lang="en-US" dirty="0"/>
          </a:p>
          <a:p>
            <a:pPr marL="0" indent="0">
              <a:buNone/>
            </a:pP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0737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i="1" dirty="0"/>
              <a:t>- Ph</a:t>
            </a:r>
            <a:r>
              <a:rPr lang="en-US" i="1" dirty="0"/>
              <a:t>â</a:t>
            </a:r>
            <a:r>
              <a:rPr lang="vi-VN" i="1" dirty="0"/>
              <a:t>n loại thị trường</a:t>
            </a:r>
            <a:br>
              <a:rPr lang="en-US" dirty="0"/>
            </a:br>
            <a:endParaRPr lang="en-US" dirty="0"/>
          </a:p>
        </p:txBody>
      </p:sp>
      <p:sp>
        <p:nvSpPr>
          <p:cNvPr id="3" name="Content Placeholder 2"/>
          <p:cNvSpPr>
            <a:spLocks noGrp="1"/>
          </p:cNvSpPr>
          <p:nvPr>
            <p:ph idx="1"/>
          </p:nvPr>
        </p:nvSpPr>
        <p:spPr/>
        <p:txBody>
          <a:bodyPr>
            <a:normAutofit/>
          </a:bodyPr>
          <a:lstStyle/>
          <a:p>
            <a:pPr marL="0" indent="395288">
              <a:buNone/>
            </a:pPr>
            <a:r>
              <a:rPr lang="vi-VN" dirty="0"/>
              <a:t>Căn cứ theo đối tượng trao đổi, mua bán cụ thể, có các loại thị trường như: thị trường hàng hóa, thị trường dịch vụ. Trong mỗi loại thị trường này lại có thề cụ thể ra thành các thị trường theo các loại hàng hóa, dịch vụ khác nhau rất phong phú.</a:t>
            </a:r>
            <a:endParaRPr lang="en-US" dirty="0"/>
          </a:p>
          <a:p>
            <a:pPr marL="0" indent="395288">
              <a:buNone/>
            </a:pPr>
            <a:r>
              <a:rPr lang="vi-VN" dirty="0"/>
              <a:t>Căn cứ vào phạm vi các quan hệ, có các loại thị trường trong nước, thị trường thế giới.</a:t>
            </a:r>
            <a:endParaRPr lang="en-US" dirty="0"/>
          </a:p>
          <a:p>
            <a:pPr marL="0" indent="395288">
              <a:buNone/>
            </a:pPr>
            <a:r>
              <a:rPr lang="vi-VN" dirty="0"/>
              <a:t>Căn cứ vào vai trò cùa các yếu tố được trao đổi, mua bán, có thị trường tư liệu tiêu dùng, thị trường tư liệu sản xuất.</a:t>
            </a:r>
            <a:endParaRPr lang="en-US" dirty="0"/>
          </a:p>
          <a:p>
            <a:pPr marL="0" indent="395288">
              <a:buNone/>
            </a:pPr>
            <a:r>
              <a:rPr lang="vi-VN" dirty="0"/>
              <a:t>Căn cứ vào tính chất và cơ chế vận hành, chia ra thị trường tự do, thị trường có diều tiết, thị trường cạnh tranh hoàn hảo, thị trường cạnh tranh không hoàn hảo (độc quyền).</a:t>
            </a:r>
            <a:endParaRPr lang="en-US" dirty="0"/>
          </a:p>
          <a:p>
            <a:pPr marL="0" indent="395288">
              <a:buNone/>
            </a:pPr>
            <a:endParaRPr lang="en-US" dirty="0"/>
          </a:p>
        </p:txBody>
      </p:sp>
    </p:spTree>
    <p:extLst>
      <p:ext uri="{BB962C8B-B14F-4D97-AF65-F5344CB8AC3E}">
        <p14:creationId xmlns:p14="http://schemas.microsoft.com/office/powerpoint/2010/main" val="162502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2273" y="345988"/>
            <a:ext cx="9310315" cy="889687"/>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 </a:t>
            </a:r>
            <a:br>
              <a:rPr lang="en-US" sz="4000" b="1"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2.2.1.2</a:t>
            </a:r>
            <a:r>
              <a:rPr lang="en-US" b="1" i="1" dirty="0">
                <a:solidFill>
                  <a:srgbClr val="FF0000"/>
                </a:solidFill>
                <a:latin typeface="Times New Roman" panose="02020603050405020304" pitchFamily="18" charset="0"/>
                <a:cs typeface="Times New Roman" panose="02020603050405020304" pitchFamily="18" charset="0"/>
              </a:rPr>
              <a:t>. </a:t>
            </a:r>
            <a:r>
              <a:rPr lang="x-none" b="1" i="1" dirty="0">
                <a:solidFill>
                  <a:srgbClr val="FF0000"/>
                </a:solidFill>
                <a:latin typeface="Times New Roman" panose="02020603050405020304" pitchFamily="18" charset="0"/>
                <a:cs typeface="Times New Roman" panose="02020603050405020304" pitchFamily="18" charset="0"/>
              </a:rPr>
              <a:t>Vai trò của thị trường</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2493" y="1431235"/>
            <a:ext cx="11100021" cy="3474397"/>
          </a:xfrm>
        </p:spPr>
        <p:txBody>
          <a:bodyPr/>
          <a:lstStyle/>
          <a:p>
            <a:pPr marL="0" indent="346075">
              <a:buNone/>
            </a:pPr>
            <a:r>
              <a:rPr lang="vi-VN" i="1" dirty="0"/>
              <a:t>Một là,</a:t>
            </a:r>
            <a:r>
              <a:rPr lang="vi-VN" dirty="0"/>
              <a:t> thị trường thực hiện giá trị hàng hóa, ỉà điều kiện, môi trường cho sản xuất phát triền.</a:t>
            </a:r>
            <a:endParaRPr lang="en-US" dirty="0"/>
          </a:p>
          <a:p>
            <a:pPr marL="0" indent="346075">
              <a:lnSpc>
                <a:spcPct val="100000"/>
              </a:lnSpc>
              <a:spcBef>
                <a:spcPts val="600"/>
              </a:spcBef>
              <a:buNone/>
            </a:pPr>
            <a:r>
              <a:rPr lang="vi-VN" i="1" dirty="0"/>
              <a:t>Hai là,</a:t>
            </a:r>
            <a:r>
              <a:rPr lang="vi-VN" dirty="0"/>
              <a:t> thị trường kích thích sự sáng tạo của mọi thành vicn trong xã hội, tạo ra cách thức phân bổ nguồn lực hiệu quả trong nền kinh tế.</a:t>
            </a:r>
            <a:endParaRPr lang="en-US" dirty="0"/>
          </a:p>
          <a:p>
            <a:pPr marL="0" indent="346075">
              <a:buNone/>
            </a:pPr>
            <a:r>
              <a:rPr lang="vi-VN" i="1" dirty="0"/>
              <a:t>Ba là,</a:t>
            </a:r>
            <a:r>
              <a:rPr lang="vi-VN" dirty="0"/>
              <a:t> thị trường gắn kết nền kinh tế thành một chỉnh thể, gắn kết nền kinh tế quốc gia với nền kinh tế thế giới.</a:t>
            </a:r>
            <a:endParaRPr lang="en-US" dirty="0"/>
          </a:p>
        </p:txBody>
      </p:sp>
    </p:spTree>
    <p:extLst>
      <p:ext uri="{BB962C8B-B14F-4D97-AF65-F5344CB8AC3E}">
        <p14:creationId xmlns:p14="http://schemas.microsoft.com/office/powerpoint/2010/main" val="40737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4775" y="1100446"/>
            <a:ext cx="9310315" cy="946840"/>
          </a:xfrm>
        </p:spPr>
        <p:txBody>
          <a:bodyPr>
            <a:noAutofit/>
          </a:bodyPr>
          <a:lstStyle/>
          <a:p>
            <a:pPr lvl="0"/>
            <a:r>
              <a:rPr lang="en-US" sz="3600" b="1" dirty="0">
                <a:solidFill>
                  <a:srgbClr val="FF0000"/>
                </a:solidFill>
                <a:latin typeface="Times New Roman (Headings)"/>
              </a:rPr>
              <a:t>2.2.2. </a:t>
            </a:r>
            <a:r>
              <a:rPr lang="vi-VN" sz="3600" b="1" dirty="0">
                <a:solidFill>
                  <a:srgbClr val="FF0000"/>
                </a:solidFill>
                <a:latin typeface="Times New Roman (Headings)"/>
              </a:rPr>
              <a:t>N</a:t>
            </a:r>
            <a:r>
              <a:rPr lang="en-US" sz="3600" b="1" dirty="0">
                <a:solidFill>
                  <a:srgbClr val="FF0000"/>
                </a:solidFill>
                <a:latin typeface="Times New Roman (Headings)"/>
              </a:rPr>
              <a:t>ề</a:t>
            </a:r>
            <a:r>
              <a:rPr lang="vi-VN" sz="3600" b="1" dirty="0">
                <a:solidFill>
                  <a:srgbClr val="FF0000"/>
                </a:solidFill>
                <a:latin typeface="Times New Roman (Headings)"/>
              </a:rPr>
              <a:t>n kinh tế thị trường và một số quy luật ch</a:t>
            </a:r>
            <a:r>
              <a:rPr lang="en-US" sz="3600" b="1" dirty="0">
                <a:solidFill>
                  <a:srgbClr val="FF0000"/>
                </a:solidFill>
                <a:latin typeface="Times New Roman (Headings)"/>
              </a:rPr>
              <a:t>ủ</a:t>
            </a:r>
            <a:r>
              <a:rPr lang="vi-VN" sz="3600" b="1" dirty="0">
                <a:solidFill>
                  <a:srgbClr val="FF0000"/>
                </a:solidFill>
                <a:latin typeface="Times New Roman (Headings)"/>
              </a:rPr>
              <a:t> yếu của nền kinh tế thị trường</a:t>
            </a:r>
            <a:br>
              <a:rPr lang="en-US" sz="3600" b="1" dirty="0">
                <a:solidFill>
                  <a:srgbClr val="FF0000"/>
                </a:solidFill>
                <a:latin typeface="Times New Roman (Headings)"/>
              </a:rPr>
            </a:br>
            <a:endParaRPr lang="en-US" sz="3600" dirty="0">
              <a:solidFill>
                <a:srgbClr val="FF0000"/>
              </a:solidFill>
              <a:latin typeface="Times New Roman (Headings)"/>
            </a:endParaRPr>
          </a:p>
        </p:txBody>
      </p:sp>
      <p:sp>
        <p:nvSpPr>
          <p:cNvPr id="3" name="Content Placeholder 2"/>
          <p:cNvSpPr>
            <a:spLocks noGrp="1"/>
          </p:cNvSpPr>
          <p:nvPr>
            <p:ph idx="1"/>
          </p:nvPr>
        </p:nvSpPr>
        <p:spPr>
          <a:xfrm>
            <a:off x="572493" y="2211859"/>
            <a:ext cx="11100021" cy="4085574"/>
          </a:xfrm>
        </p:spPr>
        <p:txBody>
          <a:bodyPr/>
          <a:lstStyle/>
          <a:p>
            <a:pPr marL="0" lvl="0" indent="0">
              <a:buNone/>
            </a:pPr>
            <a:r>
              <a:rPr lang="en-US" i="1" dirty="0"/>
              <a:t>2.2.2.1. </a:t>
            </a:r>
            <a:r>
              <a:rPr lang="vi-VN" i="1" dirty="0"/>
              <a:t>Nền kinh tế thị trường</a:t>
            </a:r>
            <a:endParaRPr lang="en-US" dirty="0"/>
          </a:p>
          <a:p>
            <a:pPr marL="0" lvl="0" indent="0">
              <a:buNone/>
            </a:pPr>
            <a:r>
              <a:rPr lang="vi-VN" dirty="0"/>
              <a:t>Khái niệm</a:t>
            </a:r>
            <a:endParaRPr lang="en-US" dirty="0"/>
          </a:p>
          <a:p>
            <a:pPr marL="0" indent="0">
              <a:buNone/>
            </a:pPr>
            <a:r>
              <a:rPr lang="vi-VN" dirty="0"/>
              <a:t>Nen kinh tế thị trường là nền kinh tế được vận hành theo cơ chế thị trường. Đó là nền kinh tế hàng hóa phát triển cao, ở đó mọi quan hệ sản xuất và trao đồi đều được thông qua thị trường, chịu sự tác động, điều tiết của các quy luật thị trường.</a:t>
            </a:r>
            <a:endParaRPr lang="en-US" dirty="0"/>
          </a:p>
          <a:p>
            <a:pPr marL="0" indent="0">
              <a:buNone/>
            </a:pPr>
            <a:endParaRPr lang="en-US" dirty="0"/>
          </a:p>
        </p:txBody>
      </p:sp>
    </p:spTree>
    <p:extLst>
      <p:ext uri="{BB962C8B-B14F-4D97-AF65-F5344CB8AC3E}">
        <p14:creationId xmlns:p14="http://schemas.microsoft.com/office/powerpoint/2010/main" val="236549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i="1" dirty="0"/>
              <a:t>- Ưu thế của nền kinh tế thị trường</a:t>
            </a:r>
            <a:endParaRPr lang="en-US" dirty="0"/>
          </a:p>
        </p:txBody>
      </p:sp>
      <p:sp>
        <p:nvSpPr>
          <p:cNvPr id="3" name="Content Placeholder 2"/>
          <p:cNvSpPr>
            <a:spLocks noGrp="1"/>
          </p:cNvSpPr>
          <p:nvPr>
            <p:ph idx="1"/>
          </p:nvPr>
        </p:nvSpPr>
        <p:spPr/>
        <p:txBody>
          <a:bodyPr/>
          <a:lstStyle/>
          <a:p>
            <a:pPr marL="0" indent="284163">
              <a:buNone/>
            </a:pPr>
            <a:r>
              <a:rPr lang="vi-VN" i="1" dirty="0"/>
              <a:t>Một là,</a:t>
            </a:r>
            <a:r>
              <a:rPr lang="vi-VN" dirty="0"/>
              <a:t> nền kinh tế thị trường luôn tạo ra động lực cho sự sáng tạo các chủ thể kinh tế.</a:t>
            </a:r>
            <a:endParaRPr lang="en-US" dirty="0"/>
          </a:p>
          <a:p>
            <a:pPr marL="0" indent="284163">
              <a:buNone/>
            </a:pPr>
            <a:r>
              <a:rPr lang="vi-VN" i="1" dirty="0"/>
              <a:t>Hai là,</a:t>
            </a:r>
            <a:r>
              <a:rPr lang="vi-VN" dirty="0"/>
              <a:t> nền kinh tế thị trường luôn phát huy tốt nhất tiềm năng của mọi chủ thể, các vùng miền cũng như lợi thế quốc gia.</a:t>
            </a:r>
            <a:endParaRPr lang="en-US" dirty="0"/>
          </a:p>
          <a:p>
            <a:pPr marL="0" indent="284163">
              <a:buNone/>
            </a:pPr>
            <a:r>
              <a:rPr lang="vi-VN" i="1" dirty="0"/>
              <a:t>Ba là,</a:t>
            </a:r>
            <a:r>
              <a:rPr lang="vi-VN" dirty="0"/>
              <a:t> nền kinh tế thị trường tạo luôn tạo ra các phương thức dể thỏa mãn tối đa nhu cầu của con người, từ đó thúc đay tiến bộ, văn minh xã hội.</a:t>
            </a:r>
            <a:endParaRPr lang="en-US" dirty="0"/>
          </a:p>
          <a:p>
            <a:endParaRPr lang="en-US" dirty="0"/>
          </a:p>
        </p:txBody>
      </p:sp>
    </p:spTree>
    <p:extLst>
      <p:ext uri="{BB962C8B-B14F-4D97-AF65-F5344CB8AC3E}">
        <p14:creationId xmlns:p14="http://schemas.microsoft.com/office/powerpoint/2010/main" val="3031544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i="1" dirty="0"/>
              <a:t>- Khuyết tật của nền kinh tế thị trường</a:t>
            </a:r>
            <a:endParaRPr lang="en-US" dirty="0"/>
          </a:p>
        </p:txBody>
      </p:sp>
      <p:sp>
        <p:nvSpPr>
          <p:cNvPr id="3" name="Content Placeholder 2"/>
          <p:cNvSpPr>
            <a:spLocks noGrp="1"/>
          </p:cNvSpPr>
          <p:nvPr>
            <p:ph idx="1"/>
          </p:nvPr>
        </p:nvSpPr>
        <p:spPr/>
        <p:txBody>
          <a:bodyPr/>
          <a:lstStyle/>
          <a:p>
            <a:pPr marL="0" indent="234950">
              <a:buNone/>
            </a:pPr>
            <a:r>
              <a:rPr lang="vi-VN" i="1" dirty="0"/>
              <a:t>Một là,</a:t>
            </a:r>
            <a:r>
              <a:rPr lang="vi-VN" dirty="0"/>
              <a:t> trong nền kinh tế thị trường luôn tiềm ẩn nhũng rủi ro khủng hoảng.</a:t>
            </a:r>
            <a:endParaRPr lang="en-US" dirty="0"/>
          </a:p>
          <a:p>
            <a:pPr marL="0" indent="234950">
              <a:buNone/>
            </a:pPr>
            <a:r>
              <a:rPr lang="vi-VN" i="1" dirty="0"/>
              <a:t>Hai là,</a:t>
            </a:r>
            <a:r>
              <a:rPr lang="vi-VN" dirty="0"/>
              <a:t> nền kinh tế thị trường không tự khắc phục được xu hướng cạn kiệt tải nguyên không thể tái tạo, suy thoái môi trường tự nhiên, môi trường xã hội.</a:t>
            </a:r>
            <a:endParaRPr lang="en-US" dirty="0"/>
          </a:p>
          <a:p>
            <a:pPr marL="0" indent="234950">
              <a:buNone/>
            </a:pPr>
            <a:r>
              <a:rPr lang="vi-VN" i="1" dirty="0"/>
              <a:t>Ba là,</a:t>
            </a:r>
            <a:r>
              <a:rPr lang="vi-VN" dirty="0"/>
              <a:t> nền kinh tế thị trường không tự khắc phục được hiện tượng phân hóa sâu sắc trong xã hội.</a:t>
            </a:r>
            <a:endParaRPr lang="en-US" dirty="0"/>
          </a:p>
          <a:p>
            <a:endParaRPr lang="en-US" dirty="0"/>
          </a:p>
        </p:txBody>
      </p:sp>
    </p:spTree>
    <p:extLst>
      <p:ext uri="{BB962C8B-B14F-4D97-AF65-F5344CB8AC3E}">
        <p14:creationId xmlns:p14="http://schemas.microsoft.com/office/powerpoint/2010/main" val="3161858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idx="1"/>
          </p:nvPr>
        </p:nvSpPr>
        <p:spPr>
          <a:xfrm>
            <a:off x="0" y="2001795"/>
            <a:ext cx="12192000" cy="3978876"/>
          </a:xfrm>
        </p:spPr>
        <p:txBody>
          <a:bodyPr/>
          <a:lstStyle/>
          <a:p>
            <a:pPr marL="609600" indent="-609600" eaLnBrk="1" hangingPunct="1">
              <a:buFont typeface="Wingdings" pitchFamily="2" charset="2"/>
              <a:buNone/>
            </a:pPr>
            <a:r>
              <a:rPr lang="en-US" altLang="en-US" sz="2000" b="1" dirty="0">
                <a:cs typeface="Times New Roman" pitchFamily="18" charset="0"/>
              </a:rPr>
              <a:t>	</a:t>
            </a:r>
            <a:endParaRPr lang="en-US" altLang="en-US" sz="3400" b="1" i="1" dirty="0">
              <a:solidFill>
                <a:srgbClr val="FF3300"/>
              </a:solidFill>
              <a:latin typeface="Times New Roman" pitchFamily="18" charset="0"/>
              <a:cs typeface="Times New Roman" pitchFamily="18" charset="0"/>
            </a:endParaRPr>
          </a:p>
          <a:p>
            <a:pPr marL="609600" indent="-609600" eaLnBrk="1" hangingPunct="1">
              <a:buFont typeface="Wingdings" pitchFamily="2" charset="2"/>
              <a:buNone/>
            </a:pPr>
            <a:r>
              <a:rPr lang="en-US" altLang="en-US" sz="2800" dirty="0">
                <a:cs typeface="Times New Roman" pitchFamily="18" charset="0"/>
              </a:rPr>
              <a:t>     </a:t>
            </a:r>
            <a:r>
              <a:rPr lang="en-US" altLang="en-US" sz="4000" dirty="0">
                <a:cs typeface="Times New Roman" pitchFamily="18" charset="0"/>
              </a:rPr>
              <a:t>	</a:t>
            </a:r>
            <a:r>
              <a:rPr lang="en-US" altLang="en-US" sz="3800" dirty="0">
                <a:cs typeface="Times New Roman" pitchFamily="18" charset="0"/>
              </a:rPr>
              <a:t>	</a:t>
            </a:r>
            <a:endParaRPr lang="en-US" altLang="en-US" dirty="0">
              <a:cs typeface="Times New Roman" pitchFamily="18" charset="0"/>
            </a:endParaRPr>
          </a:p>
          <a:p>
            <a:pPr marL="609600" indent="-609600" eaLnBrk="1" hangingPunct="1">
              <a:buFont typeface="Wingdings" pitchFamily="2" charset="2"/>
              <a:buNone/>
            </a:pPr>
            <a:r>
              <a:rPr lang="en-US" altLang="en-US" dirty="0">
                <a:cs typeface="Times New Roman" pitchFamily="18" charset="0"/>
              </a:rPr>
              <a:t> </a:t>
            </a:r>
          </a:p>
        </p:txBody>
      </p:sp>
      <p:sp>
        <p:nvSpPr>
          <p:cNvPr id="3" name="Rounded Rectangle 2"/>
          <p:cNvSpPr/>
          <p:nvPr/>
        </p:nvSpPr>
        <p:spPr bwMode="auto">
          <a:xfrm>
            <a:off x="2235200" y="2357430"/>
            <a:ext cx="8940800" cy="271464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600" dirty="0" err="1">
                <a:latin typeface="+mn-lt"/>
                <a:cs typeface="Times New Roman" pitchFamily="18" charset="0"/>
              </a:rPr>
              <a:t>Sản</a:t>
            </a:r>
            <a:r>
              <a:rPr lang="en-US" sz="3600" dirty="0">
                <a:latin typeface="+mn-lt"/>
                <a:cs typeface="Times New Roman" pitchFamily="18" charset="0"/>
              </a:rPr>
              <a:t> </a:t>
            </a:r>
            <a:r>
              <a:rPr lang="en-US" sz="3600" dirty="0" err="1">
                <a:latin typeface="+mn-lt"/>
                <a:cs typeface="Times New Roman" pitchFamily="18" charset="0"/>
              </a:rPr>
              <a:t>xuất</a:t>
            </a:r>
            <a:r>
              <a:rPr lang="en-US" sz="3600" dirty="0">
                <a:latin typeface="+mn-lt"/>
                <a:cs typeface="Times New Roman" pitchFamily="18" charset="0"/>
              </a:rPr>
              <a:t> </a:t>
            </a:r>
            <a:r>
              <a:rPr lang="en-US" sz="3600" dirty="0" err="1">
                <a:latin typeface="+mn-lt"/>
                <a:cs typeface="Times New Roman" pitchFamily="18" charset="0"/>
              </a:rPr>
              <a:t>và</a:t>
            </a:r>
            <a:r>
              <a:rPr lang="en-US" sz="3600" dirty="0">
                <a:latin typeface="+mn-lt"/>
                <a:cs typeface="Times New Roman" pitchFamily="18" charset="0"/>
              </a:rPr>
              <a:t> </a:t>
            </a:r>
            <a:r>
              <a:rPr lang="en-US" sz="3600" dirty="0" err="1">
                <a:latin typeface="+mn-lt"/>
                <a:cs typeface="Times New Roman" pitchFamily="18" charset="0"/>
              </a:rPr>
              <a:t>trao</a:t>
            </a:r>
            <a:r>
              <a:rPr lang="en-US" sz="3600" dirty="0">
                <a:latin typeface="+mn-lt"/>
                <a:cs typeface="Times New Roman" pitchFamily="18" charset="0"/>
              </a:rPr>
              <a:t> </a:t>
            </a:r>
            <a:r>
              <a:rPr lang="en-US" sz="3600" dirty="0" err="1">
                <a:latin typeface="+mn-lt"/>
                <a:cs typeface="Times New Roman" pitchFamily="18" charset="0"/>
              </a:rPr>
              <a:t>đổi</a:t>
            </a:r>
            <a:r>
              <a:rPr lang="en-US" sz="3600" dirty="0">
                <a:latin typeface="+mn-lt"/>
                <a:cs typeface="Times New Roman" pitchFamily="18" charset="0"/>
              </a:rPr>
              <a:t> </a:t>
            </a:r>
            <a:r>
              <a:rPr lang="en-US" sz="3600" dirty="0" err="1">
                <a:latin typeface="+mn-lt"/>
                <a:cs typeface="Times New Roman" pitchFamily="18" charset="0"/>
              </a:rPr>
              <a:t>hàng</a:t>
            </a:r>
            <a:r>
              <a:rPr lang="en-US" sz="3600" dirty="0">
                <a:latin typeface="+mn-lt"/>
                <a:cs typeface="Times New Roman" pitchFamily="18" charset="0"/>
              </a:rPr>
              <a:t> </a:t>
            </a:r>
            <a:r>
              <a:rPr lang="en-US" sz="3600" dirty="0" err="1">
                <a:latin typeface="+mn-lt"/>
                <a:cs typeface="Times New Roman" pitchFamily="18" charset="0"/>
              </a:rPr>
              <a:t>hoá</a:t>
            </a:r>
            <a:r>
              <a:rPr lang="en-US" sz="3600" dirty="0">
                <a:latin typeface="+mn-lt"/>
                <a:cs typeface="Times New Roman" pitchFamily="18" charset="0"/>
              </a:rPr>
              <a:t> </a:t>
            </a:r>
            <a:r>
              <a:rPr lang="en-US" sz="3600" dirty="0" err="1">
                <a:latin typeface="+mn-lt"/>
                <a:cs typeface="Times New Roman" pitchFamily="18" charset="0"/>
              </a:rPr>
              <a:t>phải</a:t>
            </a:r>
            <a:r>
              <a:rPr lang="en-US" sz="3600" dirty="0">
                <a:latin typeface="+mn-lt"/>
                <a:cs typeface="Times New Roman" pitchFamily="18" charset="0"/>
              </a:rPr>
              <a:t> </a:t>
            </a:r>
            <a:r>
              <a:rPr lang="en-US" sz="3600" dirty="0" err="1">
                <a:latin typeface="+mn-lt"/>
                <a:cs typeface="Times New Roman" pitchFamily="18" charset="0"/>
              </a:rPr>
              <a:t>dựa</a:t>
            </a:r>
            <a:r>
              <a:rPr lang="en-US" sz="3600" dirty="0">
                <a:latin typeface="+mn-lt"/>
                <a:cs typeface="Times New Roman" pitchFamily="18" charset="0"/>
              </a:rPr>
              <a:t> </a:t>
            </a:r>
            <a:r>
              <a:rPr lang="en-US" sz="3600" dirty="0" err="1">
                <a:latin typeface="+mn-lt"/>
                <a:cs typeface="Times New Roman" pitchFamily="18" charset="0"/>
              </a:rPr>
              <a:t>trên</a:t>
            </a:r>
            <a:r>
              <a:rPr lang="en-US" sz="3600" dirty="0">
                <a:latin typeface="+mn-lt"/>
                <a:cs typeface="Times New Roman" pitchFamily="18" charset="0"/>
              </a:rPr>
              <a:t> </a:t>
            </a:r>
            <a:r>
              <a:rPr lang="en-US" sz="3600" dirty="0" err="1">
                <a:latin typeface="+mn-lt"/>
                <a:cs typeface="Times New Roman" pitchFamily="18" charset="0"/>
              </a:rPr>
              <a:t>cơ</a:t>
            </a:r>
            <a:r>
              <a:rPr lang="en-US" sz="3600" dirty="0">
                <a:latin typeface="+mn-lt"/>
                <a:cs typeface="Times New Roman" pitchFamily="18" charset="0"/>
              </a:rPr>
              <a:t> </a:t>
            </a:r>
            <a:r>
              <a:rPr lang="en-US" sz="3600" dirty="0" err="1">
                <a:latin typeface="+mn-lt"/>
                <a:cs typeface="Times New Roman" pitchFamily="18" charset="0"/>
              </a:rPr>
              <a:t>sở</a:t>
            </a:r>
            <a:r>
              <a:rPr lang="en-US" sz="3600" dirty="0">
                <a:latin typeface="+mn-lt"/>
                <a:cs typeface="Times New Roman" pitchFamily="18" charset="0"/>
              </a:rPr>
              <a:t> </a:t>
            </a:r>
            <a:r>
              <a:rPr lang="en-US" sz="3600" dirty="0" err="1">
                <a:latin typeface="+mn-lt"/>
                <a:cs typeface="Times New Roman" pitchFamily="18" charset="0"/>
              </a:rPr>
              <a:t>giá</a:t>
            </a:r>
            <a:r>
              <a:rPr lang="en-US" sz="3600" dirty="0">
                <a:latin typeface="+mn-lt"/>
                <a:cs typeface="Times New Roman" pitchFamily="18" charset="0"/>
              </a:rPr>
              <a:t> </a:t>
            </a:r>
            <a:r>
              <a:rPr lang="en-US" sz="3600" dirty="0" err="1">
                <a:latin typeface="+mn-lt"/>
                <a:cs typeface="Times New Roman" pitchFamily="18" charset="0"/>
              </a:rPr>
              <a:t>trị</a:t>
            </a:r>
            <a:r>
              <a:rPr lang="en-US" sz="3600" dirty="0">
                <a:latin typeface="+mn-lt"/>
                <a:cs typeface="Times New Roman" pitchFamily="18" charset="0"/>
              </a:rPr>
              <a:t> </a:t>
            </a:r>
            <a:r>
              <a:rPr lang="en-US" sz="3600" dirty="0" err="1">
                <a:latin typeface="+mn-lt"/>
                <a:cs typeface="Times New Roman" pitchFamily="18" charset="0"/>
              </a:rPr>
              <a:t>của</a:t>
            </a:r>
            <a:r>
              <a:rPr lang="en-US" sz="3600" dirty="0">
                <a:latin typeface="+mn-lt"/>
                <a:cs typeface="Times New Roman" pitchFamily="18" charset="0"/>
              </a:rPr>
              <a:t> </a:t>
            </a:r>
            <a:r>
              <a:rPr lang="en-US" sz="3600" dirty="0" err="1">
                <a:latin typeface="+mn-lt"/>
                <a:cs typeface="Times New Roman" pitchFamily="18" charset="0"/>
              </a:rPr>
              <a:t>nó</a:t>
            </a:r>
            <a:r>
              <a:rPr lang="en-US" sz="3600" dirty="0">
                <a:latin typeface="+mn-lt"/>
                <a:cs typeface="Times New Roman" pitchFamily="18" charset="0"/>
              </a:rPr>
              <a:t>, </a:t>
            </a:r>
            <a:r>
              <a:rPr lang="en-US" sz="3600" dirty="0" err="1">
                <a:latin typeface="+mn-lt"/>
                <a:cs typeface="Times New Roman" pitchFamily="18" charset="0"/>
              </a:rPr>
              <a:t>tức</a:t>
            </a:r>
            <a:r>
              <a:rPr lang="en-US" sz="3600" dirty="0">
                <a:latin typeface="+mn-lt"/>
                <a:cs typeface="Times New Roman" pitchFamily="18" charset="0"/>
              </a:rPr>
              <a:t> </a:t>
            </a:r>
            <a:r>
              <a:rPr lang="en-US" sz="3600" dirty="0" err="1">
                <a:latin typeface="+mn-lt"/>
                <a:cs typeface="Times New Roman" pitchFamily="18" charset="0"/>
              </a:rPr>
              <a:t>trên</a:t>
            </a:r>
            <a:r>
              <a:rPr lang="en-US" sz="3600" dirty="0">
                <a:latin typeface="+mn-lt"/>
                <a:cs typeface="Times New Roman" pitchFamily="18" charset="0"/>
              </a:rPr>
              <a:t> </a:t>
            </a:r>
            <a:r>
              <a:rPr lang="en-US" sz="3600" dirty="0" err="1">
                <a:latin typeface="+mn-lt"/>
                <a:cs typeface="Times New Roman" pitchFamily="18" charset="0"/>
              </a:rPr>
              <a:t>cơ</a:t>
            </a:r>
            <a:r>
              <a:rPr lang="en-US" sz="3600" dirty="0">
                <a:latin typeface="+mn-lt"/>
                <a:cs typeface="Times New Roman" pitchFamily="18" charset="0"/>
              </a:rPr>
              <a:t> </a:t>
            </a:r>
            <a:r>
              <a:rPr lang="en-US" sz="3600" dirty="0" err="1">
                <a:latin typeface="+mn-lt"/>
                <a:cs typeface="Times New Roman" pitchFamily="18" charset="0"/>
              </a:rPr>
              <a:t>sở</a:t>
            </a:r>
            <a:r>
              <a:rPr lang="en-US" sz="3600" dirty="0">
                <a:latin typeface="+mn-lt"/>
                <a:cs typeface="Times New Roman" pitchFamily="18" charset="0"/>
              </a:rPr>
              <a:t> </a:t>
            </a:r>
            <a:r>
              <a:rPr lang="en-US" sz="3600" b="1" dirty="0" err="1">
                <a:latin typeface="+mn-lt"/>
                <a:cs typeface="Times New Roman" pitchFamily="18" charset="0"/>
              </a:rPr>
              <a:t>hao</a:t>
            </a:r>
            <a:r>
              <a:rPr lang="en-US" sz="3600" b="1" dirty="0">
                <a:latin typeface="+mn-lt"/>
                <a:cs typeface="Times New Roman" pitchFamily="18" charset="0"/>
              </a:rPr>
              <a:t> </a:t>
            </a:r>
            <a:r>
              <a:rPr lang="en-US" sz="3600" b="1" dirty="0" err="1">
                <a:latin typeface="+mn-lt"/>
                <a:cs typeface="Times New Roman" pitchFamily="18" charset="0"/>
              </a:rPr>
              <a:t>phí</a:t>
            </a:r>
            <a:r>
              <a:rPr lang="en-US" sz="3600" b="1" dirty="0">
                <a:latin typeface="+mn-lt"/>
                <a:cs typeface="Times New Roman" pitchFamily="18" charset="0"/>
              </a:rPr>
              <a:t> </a:t>
            </a:r>
            <a:r>
              <a:rPr lang="en-US" sz="3600" b="1" dirty="0" err="1">
                <a:latin typeface="+mn-lt"/>
                <a:cs typeface="Times New Roman" pitchFamily="18" charset="0"/>
              </a:rPr>
              <a:t>lao</a:t>
            </a:r>
            <a:r>
              <a:rPr lang="en-US" sz="3600" b="1" dirty="0">
                <a:latin typeface="+mn-lt"/>
                <a:cs typeface="Times New Roman" pitchFamily="18" charset="0"/>
              </a:rPr>
              <a:t> </a:t>
            </a:r>
            <a:r>
              <a:rPr lang="en-US" sz="3600" b="1" dirty="0" err="1">
                <a:latin typeface="+mn-lt"/>
                <a:cs typeface="Times New Roman" pitchFamily="18" charset="0"/>
              </a:rPr>
              <a:t>động</a:t>
            </a:r>
            <a:r>
              <a:rPr lang="en-US" sz="3600" b="1" dirty="0">
                <a:latin typeface="+mn-lt"/>
                <a:cs typeface="Times New Roman" pitchFamily="18" charset="0"/>
              </a:rPr>
              <a:t> </a:t>
            </a:r>
            <a:r>
              <a:rPr lang="en-US" sz="3600" b="1" dirty="0" err="1">
                <a:latin typeface="+mn-lt"/>
                <a:cs typeface="Times New Roman" pitchFamily="18" charset="0"/>
              </a:rPr>
              <a:t>xã</a:t>
            </a:r>
            <a:r>
              <a:rPr lang="en-US" sz="3600" b="1" dirty="0">
                <a:latin typeface="+mn-lt"/>
                <a:cs typeface="Times New Roman" pitchFamily="18" charset="0"/>
              </a:rPr>
              <a:t> </a:t>
            </a:r>
            <a:r>
              <a:rPr lang="en-US" sz="3600" b="1" dirty="0" err="1">
                <a:latin typeface="+mn-lt"/>
                <a:cs typeface="Times New Roman" pitchFamily="18" charset="0"/>
              </a:rPr>
              <a:t>hội</a:t>
            </a:r>
            <a:r>
              <a:rPr lang="en-US" sz="3600" b="1" dirty="0">
                <a:latin typeface="+mn-lt"/>
                <a:cs typeface="Times New Roman" pitchFamily="18" charset="0"/>
              </a:rPr>
              <a:t> </a:t>
            </a:r>
            <a:r>
              <a:rPr lang="en-US" sz="3600" b="1" dirty="0" err="1">
                <a:latin typeface="+mn-lt"/>
                <a:cs typeface="Times New Roman" pitchFamily="18" charset="0"/>
              </a:rPr>
              <a:t>cần</a:t>
            </a:r>
            <a:r>
              <a:rPr lang="en-US" sz="3600" b="1" dirty="0">
                <a:latin typeface="+mn-lt"/>
                <a:cs typeface="Times New Roman" pitchFamily="18" charset="0"/>
              </a:rPr>
              <a:t> </a:t>
            </a:r>
            <a:r>
              <a:rPr lang="en-US" sz="3600" b="1" dirty="0" err="1">
                <a:latin typeface="+mn-lt"/>
                <a:cs typeface="Times New Roman" pitchFamily="18" charset="0"/>
              </a:rPr>
              <a:t>thiết</a:t>
            </a:r>
            <a:r>
              <a:rPr lang="en-US" sz="3600" dirty="0">
                <a:latin typeface="+mn-lt"/>
                <a:cs typeface="Times New Roman" pitchFamily="18" charset="0"/>
              </a:rPr>
              <a:t>.</a:t>
            </a:r>
            <a:endParaRPr lang="en-US" sz="3600" dirty="0">
              <a:latin typeface="+mn-lt"/>
            </a:endParaRPr>
          </a:p>
        </p:txBody>
      </p:sp>
      <p:sp>
        <p:nvSpPr>
          <p:cNvPr id="2" name="TextBox 1"/>
          <p:cNvSpPr txBox="1"/>
          <p:nvPr/>
        </p:nvSpPr>
        <p:spPr>
          <a:xfrm>
            <a:off x="2940908" y="593124"/>
            <a:ext cx="8909222" cy="1569660"/>
          </a:xfrm>
          <a:prstGeom prst="rect">
            <a:avLst/>
          </a:prstGeom>
          <a:noFill/>
        </p:spPr>
        <p:txBody>
          <a:bodyPr wrap="square" rtlCol="0">
            <a:spAutoFit/>
          </a:bodyPr>
          <a:lstStyle/>
          <a:p>
            <a:pPr lvl="0"/>
            <a:r>
              <a:rPr lang="en-US" altLang="en-US" sz="3200" b="1" dirty="0">
                <a:solidFill>
                  <a:srgbClr val="FF0000"/>
                </a:solidFill>
                <a:latin typeface="Times New Roman (Headings)"/>
                <a:cs typeface="Times New Roman" pitchFamily="18" charset="0"/>
              </a:rPr>
              <a:t>2.2.2.2 </a:t>
            </a:r>
            <a:r>
              <a:rPr lang="vi-VN" sz="3200" b="1" dirty="0">
                <a:solidFill>
                  <a:srgbClr val="FF0000"/>
                </a:solidFill>
                <a:latin typeface="Times New Roman (Headings)"/>
              </a:rPr>
              <a:t>Một s</a:t>
            </a:r>
            <a:r>
              <a:rPr lang="en-US" sz="3200" b="1" dirty="0">
                <a:solidFill>
                  <a:srgbClr val="FF0000"/>
                </a:solidFill>
                <a:latin typeface="Times New Roman (Headings)"/>
              </a:rPr>
              <a:t>ố</a:t>
            </a:r>
            <a:r>
              <a:rPr lang="vi-VN" sz="3200" b="1" dirty="0">
                <a:solidFill>
                  <a:srgbClr val="FF0000"/>
                </a:solidFill>
                <a:latin typeface="Times New Roman (Headings)"/>
              </a:rPr>
              <a:t> quy luật kinh tế chủ yếu của nền kinh tế thị trường</a:t>
            </a:r>
            <a:endParaRPr lang="en-US" sz="3200" b="1" dirty="0">
              <a:solidFill>
                <a:srgbClr val="FF0000"/>
              </a:solidFill>
              <a:latin typeface="Times New Roman (Headings)"/>
            </a:endParaRPr>
          </a:p>
          <a:p>
            <a:pPr marL="609600" indent="-609600"/>
            <a:r>
              <a:rPr lang="en-US" altLang="en-US" sz="3200" b="1" i="1" dirty="0">
                <a:solidFill>
                  <a:srgbClr val="FF0000"/>
                </a:solidFill>
                <a:latin typeface="Times New Roman" pitchFamily="18" charset="0"/>
                <a:cs typeface="Times New Roman" pitchFamily="18" charset="0"/>
              </a:rPr>
              <a:t>Quy luật giá trị:</a:t>
            </a:r>
            <a:endParaRPr lang="en-US" sz="3200" b="1" dirty="0">
              <a:solidFill>
                <a:srgbClr val="FF0000"/>
              </a:solidFill>
            </a:endParaRPr>
          </a:p>
        </p:txBody>
      </p:sp>
    </p:spTree>
    <p:extLst>
      <p:ext uri="{BB962C8B-B14F-4D97-AF65-F5344CB8AC3E}">
        <p14:creationId xmlns:p14="http://schemas.microsoft.com/office/powerpoint/2010/main" val="146984720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anim calcmode="lin" valueType="num">
                                      <p:cBhvr>
                                        <p:cTn id="7" dur="500" fill="hold"/>
                                        <p:tgtEl>
                                          <p:spTgt spid="4813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13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8130">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48130">
                                            <p:txEl>
                                              <p:pRg st="1" end="1"/>
                                            </p:txEl>
                                          </p:spTgt>
                                        </p:tgtEl>
                                        <p:attrNameLst>
                                          <p:attrName>style.visibility</p:attrName>
                                        </p:attrNameLst>
                                      </p:cBhvr>
                                      <p:to>
                                        <p:strVal val="visible"/>
                                      </p:to>
                                    </p:set>
                                    <p:anim calcmode="lin" valueType="num">
                                      <p:cBhvr>
                                        <p:cTn id="14" dur="500" fill="hold"/>
                                        <p:tgtEl>
                                          <p:spTgt spid="48130">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8130">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8130">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checkerboard(across)">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Group 2"/>
          <p:cNvGrpSpPr/>
          <p:nvPr/>
        </p:nvGrpSpPr>
        <p:grpSpPr>
          <a:xfrm>
            <a:off x="203200" y="152400"/>
            <a:ext cx="11785600" cy="6705600"/>
            <a:chOff x="203200" y="152400"/>
            <a:chExt cx="11785600" cy="6705600"/>
          </a:xfrm>
        </p:grpSpPr>
        <p:sp>
          <p:nvSpPr>
            <p:cNvPr id="111619" name="AutoShape 3"/>
            <p:cNvSpPr>
              <a:spLocks noChangeArrowheads="1"/>
            </p:cNvSpPr>
            <p:nvPr/>
          </p:nvSpPr>
          <p:spPr bwMode="auto">
            <a:xfrm>
              <a:off x="7315200" y="2133600"/>
              <a:ext cx="4673600" cy="29718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algn="ctr" fontAlgn="auto">
                <a:spcBef>
                  <a:spcPts val="0"/>
                </a:spcBef>
                <a:spcAft>
                  <a:spcPts val="0"/>
                </a:spcAft>
                <a:defRPr/>
              </a:pPr>
              <a:endParaRPr lang="en-US">
                <a:latin typeface="Verdana" pitchFamily="34" charset="0"/>
              </a:endParaRPr>
            </a:p>
          </p:txBody>
        </p:sp>
        <p:sp>
          <p:nvSpPr>
            <p:cNvPr id="111620" name="AutoShape 4"/>
            <p:cNvSpPr>
              <a:spLocks noChangeArrowheads="1"/>
            </p:cNvSpPr>
            <p:nvPr/>
          </p:nvSpPr>
          <p:spPr bwMode="auto">
            <a:xfrm>
              <a:off x="203200" y="2057400"/>
              <a:ext cx="4775200" cy="3048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algn="ctr" fontAlgn="auto">
                <a:spcBef>
                  <a:spcPts val="0"/>
                </a:spcBef>
                <a:spcAft>
                  <a:spcPts val="0"/>
                </a:spcAft>
                <a:defRPr/>
              </a:pPr>
              <a:endParaRPr lang="en-US" sz="2800" dirty="0">
                <a:cs typeface="Times New Roman" pitchFamily="18" charset="0"/>
              </a:endParaRPr>
            </a:p>
            <a:p>
              <a:pPr algn="ctr" fontAlgn="auto">
                <a:spcBef>
                  <a:spcPts val="0"/>
                </a:spcBef>
                <a:spcAft>
                  <a:spcPts val="0"/>
                </a:spcAft>
                <a:defRPr/>
              </a:pPr>
              <a:r>
                <a:rPr lang="en-US" sz="3100" b="1" dirty="0" err="1">
                  <a:solidFill>
                    <a:srgbClr val="0000CC"/>
                  </a:solidFill>
                  <a:latin typeface="Times New Roman" pitchFamily="18" charset="0"/>
                  <a:cs typeface="Times New Roman" pitchFamily="18" charset="0"/>
                </a:rPr>
                <a:t>Hao</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phí</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lao</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động</a:t>
              </a:r>
              <a:endParaRPr lang="en-US" sz="3100" b="1" dirty="0">
                <a:solidFill>
                  <a:srgbClr val="0000CC"/>
                </a:solidFill>
                <a:latin typeface="Times New Roman" pitchFamily="18" charset="0"/>
                <a:cs typeface="Times New Roman" pitchFamily="18" charset="0"/>
              </a:endParaRPr>
            </a:p>
            <a:p>
              <a:pPr algn="ctr" fontAlgn="auto">
                <a:spcBef>
                  <a:spcPts val="0"/>
                </a:spcBef>
                <a:spcAft>
                  <a:spcPts val="0"/>
                </a:spcAft>
                <a:defRPr/>
              </a:pP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cá</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biệt</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phù</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hợp</a:t>
              </a:r>
              <a:r>
                <a:rPr lang="en-US" sz="3100" b="1" dirty="0">
                  <a:solidFill>
                    <a:srgbClr val="0000CC"/>
                  </a:solidFill>
                  <a:latin typeface="Times New Roman" pitchFamily="18" charset="0"/>
                  <a:cs typeface="Times New Roman" pitchFamily="18" charset="0"/>
                </a:rPr>
                <a:t> </a:t>
              </a:r>
            </a:p>
            <a:p>
              <a:pPr algn="ctr" fontAlgn="auto">
                <a:spcBef>
                  <a:spcPts val="0"/>
                </a:spcBef>
                <a:spcAft>
                  <a:spcPts val="0"/>
                </a:spcAft>
                <a:defRPr/>
              </a:pPr>
              <a:r>
                <a:rPr lang="en-US" sz="3100" b="1" dirty="0">
                  <a:solidFill>
                    <a:srgbClr val="0000CC"/>
                  </a:solidFill>
                  <a:latin typeface="Times New Roman" pitchFamily="18" charset="0"/>
                  <a:cs typeface="Times New Roman" pitchFamily="18" charset="0"/>
                </a:rPr>
                <a:t>(</a:t>
              </a:r>
              <a:r>
                <a:rPr lang="en-US" sz="3100" b="1" dirty="0" err="1">
                  <a:solidFill>
                    <a:srgbClr val="C00000"/>
                  </a:solidFill>
                  <a:latin typeface="Times New Roman" pitchFamily="18" charset="0"/>
                  <a:cs typeface="Times New Roman" pitchFamily="18" charset="0"/>
                </a:rPr>
                <a:t>nhỏ</a:t>
              </a:r>
              <a:r>
                <a:rPr lang="en-US" sz="3100" b="1" dirty="0">
                  <a:solidFill>
                    <a:srgbClr val="C00000"/>
                  </a:solidFill>
                  <a:latin typeface="Times New Roman" pitchFamily="18" charset="0"/>
                  <a:cs typeface="Times New Roman" pitchFamily="18" charset="0"/>
                </a:rPr>
                <a:t> </a:t>
              </a:r>
              <a:r>
                <a:rPr lang="en-US" sz="3100" b="1" dirty="0" err="1">
                  <a:solidFill>
                    <a:srgbClr val="C00000"/>
                  </a:solidFill>
                  <a:latin typeface="Times New Roman" pitchFamily="18" charset="0"/>
                  <a:cs typeface="Times New Roman" pitchFamily="18" charset="0"/>
                </a:rPr>
                <a:t>hơn</a:t>
              </a:r>
              <a:r>
                <a:rPr lang="en-US" sz="3100" b="1" dirty="0">
                  <a:solidFill>
                    <a:srgbClr val="C00000"/>
                  </a:solidFill>
                  <a:latin typeface="Times New Roman" pitchFamily="18" charset="0"/>
                  <a:cs typeface="Times New Roman" pitchFamily="18" charset="0"/>
                </a:rPr>
                <a:t> </a:t>
              </a:r>
              <a:r>
                <a:rPr lang="en-US" sz="3100" b="1" dirty="0" err="1">
                  <a:solidFill>
                    <a:srgbClr val="C00000"/>
                  </a:solidFill>
                  <a:latin typeface="Times New Roman" pitchFamily="18" charset="0"/>
                  <a:cs typeface="Times New Roman" pitchFamily="18" charset="0"/>
                </a:rPr>
                <a:t>hoặc</a:t>
              </a:r>
              <a:r>
                <a:rPr lang="en-US" sz="3100" b="1" dirty="0">
                  <a:solidFill>
                    <a:srgbClr val="C00000"/>
                  </a:solidFill>
                  <a:latin typeface="Times New Roman" pitchFamily="18" charset="0"/>
                  <a:cs typeface="Times New Roman" pitchFamily="18" charset="0"/>
                </a:rPr>
                <a:t> </a:t>
              </a:r>
              <a:r>
                <a:rPr lang="en-US" sz="3100" b="1" dirty="0" err="1">
                  <a:solidFill>
                    <a:srgbClr val="C00000"/>
                  </a:solidFill>
                  <a:latin typeface="Times New Roman" pitchFamily="18" charset="0"/>
                  <a:cs typeface="Times New Roman" pitchFamily="18" charset="0"/>
                </a:rPr>
                <a:t>bằng</a:t>
              </a:r>
              <a:r>
                <a:rPr lang="en-US" sz="3100" b="1" dirty="0">
                  <a:solidFill>
                    <a:srgbClr val="0000CC"/>
                  </a:solidFill>
                  <a:latin typeface="Times New Roman" pitchFamily="18" charset="0"/>
                  <a:cs typeface="Times New Roman" pitchFamily="18" charset="0"/>
                </a:rPr>
                <a:t>) </a:t>
              </a:r>
            </a:p>
            <a:p>
              <a:pPr algn="ctr" fontAlgn="auto">
                <a:spcBef>
                  <a:spcPts val="0"/>
                </a:spcBef>
                <a:spcAft>
                  <a:spcPts val="0"/>
                </a:spcAft>
                <a:defRPr/>
              </a:pPr>
              <a:r>
                <a:rPr lang="en-US" sz="3100" b="1" dirty="0" err="1">
                  <a:solidFill>
                    <a:srgbClr val="0000CC"/>
                  </a:solidFill>
                  <a:latin typeface="Times New Roman" pitchFamily="18" charset="0"/>
                  <a:cs typeface="Times New Roman" pitchFamily="18" charset="0"/>
                </a:rPr>
                <a:t>Với</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hao</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phí</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lao</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động</a:t>
              </a:r>
              <a:endParaRPr lang="en-US" sz="3100" b="1" dirty="0">
                <a:solidFill>
                  <a:srgbClr val="0000CC"/>
                </a:solidFill>
                <a:latin typeface="Times New Roman" pitchFamily="18" charset="0"/>
                <a:cs typeface="Times New Roman" pitchFamily="18" charset="0"/>
              </a:endParaRPr>
            </a:p>
            <a:p>
              <a:pPr algn="ctr" fontAlgn="auto">
                <a:spcBef>
                  <a:spcPts val="0"/>
                </a:spcBef>
                <a:spcAft>
                  <a:spcPts val="0"/>
                </a:spcAft>
                <a:defRPr/>
              </a:pP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xã</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hội</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cần</a:t>
              </a:r>
              <a:r>
                <a:rPr lang="en-US" sz="3100" b="1" dirty="0">
                  <a:solidFill>
                    <a:srgbClr val="0000CC"/>
                  </a:solidFill>
                  <a:latin typeface="Times New Roman" pitchFamily="18" charset="0"/>
                  <a:cs typeface="Times New Roman" pitchFamily="18" charset="0"/>
                </a:rPr>
                <a:t> </a:t>
              </a:r>
              <a:r>
                <a:rPr lang="en-US" sz="3100" b="1" dirty="0" err="1">
                  <a:solidFill>
                    <a:srgbClr val="0000CC"/>
                  </a:solidFill>
                  <a:latin typeface="Times New Roman" pitchFamily="18" charset="0"/>
                  <a:cs typeface="Times New Roman" pitchFamily="18" charset="0"/>
                </a:rPr>
                <a:t>thiết</a:t>
              </a:r>
              <a:endParaRPr lang="en-US" sz="3100" b="1" dirty="0">
                <a:solidFill>
                  <a:srgbClr val="0000CC"/>
                </a:solidFill>
                <a:latin typeface="Times New Roman" pitchFamily="18" charset="0"/>
                <a:cs typeface="Times New Roman" pitchFamily="18" charset="0"/>
              </a:endParaRPr>
            </a:p>
          </p:txBody>
        </p:sp>
        <p:sp>
          <p:nvSpPr>
            <p:cNvPr id="193541" name="Text Box 5"/>
            <p:cNvSpPr txBox="1">
              <a:spLocks noChangeArrowheads="1"/>
            </p:cNvSpPr>
            <p:nvPr/>
          </p:nvSpPr>
          <p:spPr bwMode="auto">
            <a:xfrm>
              <a:off x="304800" y="2209800"/>
              <a:ext cx="4368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20000"/>
                </a:spcBef>
                <a:buClr>
                  <a:schemeClr val="hlink"/>
                </a:buClr>
                <a:buSzPct val="60000"/>
                <a:buFont typeface="Wingdings" pitchFamily="2" charset="2"/>
                <a:buNone/>
              </a:pPr>
              <a:r>
                <a:rPr lang="en-US" altLang="en-US" sz="3200" b="1">
                  <a:solidFill>
                    <a:srgbClr val="FF3300"/>
                  </a:solidFill>
                  <a:latin typeface="Times New Roman" pitchFamily="18" charset="0"/>
                  <a:cs typeface="Times New Roman" pitchFamily="18" charset="0"/>
                </a:rPr>
                <a:t>+</a:t>
              </a:r>
              <a:r>
                <a:rPr lang="en-US" altLang="en-US" sz="3200" b="1" u="sng">
                  <a:solidFill>
                    <a:srgbClr val="FF3300"/>
                  </a:solidFill>
                  <a:latin typeface="Times New Roman" pitchFamily="18" charset="0"/>
                  <a:cs typeface="Times New Roman" pitchFamily="18" charset="0"/>
                </a:rPr>
                <a:t> Trong sản xuất:</a:t>
              </a:r>
              <a:endParaRPr lang="en-US" altLang="en-US" sz="2900" b="1">
                <a:solidFill>
                  <a:srgbClr val="C00000"/>
                </a:solidFill>
                <a:latin typeface="Times New Roman" pitchFamily="18" charset="0"/>
              </a:endParaRPr>
            </a:p>
          </p:txBody>
        </p:sp>
        <p:sp>
          <p:nvSpPr>
            <p:cNvPr id="111622" name="Freeform 6"/>
            <p:cNvSpPr>
              <a:spLocks/>
            </p:cNvSpPr>
            <p:nvPr/>
          </p:nvSpPr>
          <p:spPr bwMode="gray">
            <a:xfrm>
              <a:off x="4978400" y="19812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8900000" scaled="1"/>
              <a:tileRect/>
            </a:gradFill>
            <a:ln w="0">
              <a:noFill/>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193543" name="Freeform 7"/>
            <p:cNvSpPr>
              <a:spLocks/>
            </p:cNvSpPr>
            <p:nvPr/>
          </p:nvSpPr>
          <p:spPr bwMode="gray">
            <a:xfrm flipH="1">
              <a:off x="6096000" y="19812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10800000" scaled="1"/>
              <a:tileRect/>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193544" name="Text Box 8"/>
            <p:cNvSpPr txBox="1">
              <a:spLocks noChangeArrowheads="1"/>
            </p:cNvSpPr>
            <p:nvPr/>
          </p:nvSpPr>
          <p:spPr bwMode="auto">
            <a:xfrm>
              <a:off x="7315200" y="2209801"/>
              <a:ext cx="457200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20000"/>
                </a:spcBef>
                <a:buClr>
                  <a:schemeClr val="hlink"/>
                </a:buClr>
                <a:buSzPct val="60000"/>
                <a:buFont typeface="Wingdings" pitchFamily="2" charset="2"/>
                <a:buNone/>
              </a:pPr>
              <a:r>
                <a:rPr lang="en-US" altLang="en-US" sz="3200" dirty="0">
                  <a:latin typeface="Times New Roman" pitchFamily="18" charset="0"/>
                  <a:cs typeface="Times New Roman" pitchFamily="18" charset="0"/>
                </a:rPr>
                <a:t> </a:t>
              </a:r>
              <a:r>
                <a:rPr lang="en-US" altLang="en-US" sz="3200" b="1" dirty="0">
                  <a:solidFill>
                    <a:srgbClr val="FF3300"/>
                  </a:solidFill>
                  <a:latin typeface="Times New Roman" pitchFamily="18" charset="0"/>
                  <a:cs typeface="Times New Roman" pitchFamily="18" charset="0"/>
                </a:rPr>
                <a:t>+T</a:t>
              </a:r>
              <a:r>
                <a:rPr lang="en-US" altLang="en-US" sz="3200" b="1" u="sng" dirty="0">
                  <a:solidFill>
                    <a:srgbClr val="FF3300"/>
                  </a:solidFill>
                  <a:latin typeface="Times New Roman" pitchFamily="18" charset="0"/>
                  <a:cs typeface="Times New Roman" pitchFamily="18" charset="0"/>
                </a:rPr>
                <a:t>rong trao đổi</a:t>
              </a:r>
              <a:r>
                <a:rPr lang="en-US" altLang="en-US" sz="3200" dirty="0">
                  <a:latin typeface="Times New Roman" pitchFamily="18" charset="0"/>
                  <a:cs typeface="Times New Roman" pitchFamily="18" charset="0"/>
                </a:rPr>
                <a:t>: </a:t>
              </a:r>
              <a:r>
                <a:rPr lang="en-US" altLang="en-US" sz="3000" b="1" dirty="0">
                  <a:solidFill>
                    <a:srgbClr val="0000CC"/>
                  </a:solidFill>
                  <a:latin typeface="Times New Roman" pitchFamily="18" charset="0"/>
                  <a:cs typeface="Times New Roman" pitchFamily="18" charset="0"/>
                </a:rPr>
                <a:t>phải thực hiện theo nguyên tắc </a:t>
              </a:r>
              <a:r>
                <a:rPr lang="en-US" altLang="en-US" sz="3000" b="1" dirty="0">
                  <a:solidFill>
                    <a:srgbClr val="C00000"/>
                  </a:solidFill>
                  <a:latin typeface="Times New Roman" pitchFamily="18" charset="0"/>
                  <a:cs typeface="Times New Roman" pitchFamily="18" charset="0"/>
                </a:rPr>
                <a:t>trao đổi ngang giá</a:t>
              </a:r>
              <a:r>
                <a:rPr lang="en-US" altLang="en-US" sz="3000" b="1" dirty="0">
                  <a:solidFill>
                    <a:srgbClr val="0000CC"/>
                  </a:solidFill>
                  <a:latin typeface="Times New Roman" pitchFamily="18" charset="0"/>
                  <a:cs typeface="Times New Roman" pitchFamily="18" charset="0"/>
                </a:rPr>
                <a:t> tức là dựa trên cơ sở hao phí   LĐXHCT</a:t>
              </a:r>
              <a:endParaRPr lang="en-US" altLang="en-US" sz="3000" b="1" dirty="0">
                <a:solidFill>
                  <a:srgbClr val="0000CC"/>
                </a:solidFill>
                <a:latin typeface="Times New Roman" pitchFamily="18" charset="0"/>
              </a:endParaRPr>
            </a:p>
          </p:txBody>
        </p:sp>
        <p:grpSp>
          <p:nvGrpSpPr>
            <p:cNvPr id="2" name="Group 9"/>
            <p:cNvGrpSpPr>
              <a:grpSpLocks/>
            </p:cNvGrpSpPr>
            <p:nvPr/>
          </p:nvGrpSpPr>
          <p:grpSpPr bwMode="auto">
            <a:xfrm>
              <a:off x="3657600" y="762000"/>
              <a:ext cx="5283200" cy="1295400"/>
              <a:chOff x="1997" y="1314"/>
              <a:chExt cx="1889" cy="1009"/>
            </a:xfrm>
          </p:grpSpPr>
          <p:grpSp>
            <p:nvGrpSpPr>
              <p:cNvPr id="23574"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59"/>
                  <a:ext cx="1905" cy="905"/>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7"/>
                  <a:ext cx="1905" cy="905"/>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8"/>
                <a:ext cx="1570" cy="769"/>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4267200" y="914401"/>
              <a:ext cx="38608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600" b="1" dirty="0">
                  <a:solidFill>
                    <a:srgbClr val="FFFF00"/>
                  </a:solidFill>
                  <a:latin typeface="Times New Roman" pitchFamily="18" charset="0"/>
                </a:rPr>
                <a:t>YÊU CẦU</a:t>
              </a:r>
            </a:p>
            <a:p>
              <a:pPr algn="ctr" eaLnBrk="1" hangingPunct="1"/>
              <a:endParaRPr lang="en-US" altLang="en-US" sz="2600" b="1" dirty="0">
                <a:latin typeface=".VnTime" pitchFamily="34" charset="0"/>
              </a:endParaRPr>
            </a:p>
          </p:txBody>
        </p:sp>
        <p:sp>
          <p:nvSpPr>
            <p:cNvPr id="111627" name="Rectangle 18"/>
            <p:cNvSpPr>
              <a:spLocks noChangeArrowheads="1"/>
            </p:cNvSpPr>
            <p:nvPr/>
          </p:nvSpPr>
          <p:spPr bwMode="auto">
            <a:xfrm>
              <a:off x="914400" y="152400"/>
              <a:ext cx="10261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200" b="1" dirty="0">
                  <a:solidFill>
                    <a:srgbClr val="0000CC"/>
                  </a:solidFill>
                </a:rPr>
                <a:t>YÊU CẦU CỦA QUY LUẬT GIÁ TRỊ</a:t>
              </a:r>
            </a:p>
          </p:txBody>
        </p:sp>
        <p:sp>
          <p:nvSpPr>
            <p:cNvPr id="20" name="Rounded Rectangle 19"/>
            <p:cNvSpPr/>
            <p:nvPr/>
          </p:nvSpPr>
          <p:spPr bwMode="auto">
            <a:xfrm>
              <a:off x="304800" y="5181600"/>
              <a:ext cx="11582400" cy="1676400"/>
            </a:xfrm>
            <a:prstGeom prst="roundRect">
              <a:avLst/>
            </a:prstGeom>
            <a:blipFill>
              <a:blip r:embed="rId3"/>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200" b="1" dirty="0" err="1">
                  <a:solidFill>
                    <a:srgbClr val="FF0000"/>
                  </a:solidFill>
                  <a:latin typeface="+mn-lt"/>
                  <a:cs typeface="Times New Roman" pitchFamily="18" charset="0"/>
                </a:rPr>
                <a:t>Tuy</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nhiên</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Khối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lượng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sản</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phẩm</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mà</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những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người</a:t>
              </a:r>
              <a:r>
                <a:rPr lang="en-US" sz="3200" b="1" dirty="0">
                  <a:solidFill>
                    <a:srgbClr val="FF0000"/>
                  </a:solidFill>
                  <a:latin typeface="+mn-lt"/>
                  <a:cs typeface="Times New Roman" pitchFamily="18" charset="0"/>
                </a:rPr>
                <a:t> SX </a:t>
              </a:r>
              <a:r>
                <a:rPr lang="en-US" sz="3200" b="1" dirty="0" err="1">
                  <a:solidFill>
                    <a:srgbClr val="FF0000"/>
                  </a:solidFill>
                  <a:latin typeface="+mn-lt"/>
                  <a:cs typeface="Times New Roman" pitchFamily="18" charset="0"/>
                </a:rPr>
                <a:t>tạo</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ra</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phải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phù</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hợp</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nhu</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cầu</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có</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khả</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năng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thanh</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toán</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của</a:t>
              </a:r>
              <a:r>
                <a:rPr lang="en-US" sz="3200" b="1" dirty="0">
                  <a:solidFill>
                    <a:srgbClr val="FF0000"/>
                  </a:solidFill>
                  <a:latin typeface="+mn-lt"/>
                  <a:cs typeface="Times New Roman" pitchFamily="18" charset="0"/>
                </a:rPr>
                <a:t> XH</a:t>
              </a:r>
              <a:endParaRPr lang="en-US" sz="3200" b="1" dirty="0">
                <a:solidFill>
                  <a:srgbClr val="FF0000"/>
                </a:solidFill>
                <a:latin typeface="+mn-lt"/>
                <a:cs typeface="+mn-cs"/>
              </a:endParaRPr>
            </a:p>
          </p:txBody>
        </p:sp>
      </p:grpSp>
    </p:spTree>
    <p:extLst>
      <p:ext uri="{BB962C8B-B14F-4D97-AF65-F5344CB8AC3E}">
        <p14:creationId xmlns:p14="http://schemas.microsoft.com/office/powerpoint/2010/main" val="3970254652"/>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609600" y="228600"/>
            <a:ext cx="10972800" cy="609600"/>
          </a:xfrm>
        </p:spPr>
        <p:txBody>
          <a:bodyPr rtlCol="0">
            <a:normAutofit fontScale="90000"/>
          </a:bodyPr>
          <a:lstStyle/>
          <a:p>
            <a:pPr algn="ctr" eaLnBrk="1" fontAlgn="auto" hangingPunct="1">
              <a:spcAft>
                <a:spcPts val="0"/>
              </a:spcAft>
              <a:defRPr/>
            </a:pPr>
            <a:r>
              <a:rPr lang="en-US" sz="4000" b="1" i="1" u="sng">
                <a:solidFill>
                  <a:srgbClr val="FF3300"/>
                </a:solidFill>
                <a:latin typeface="Times New Roman" pitchFamily="18" charset="0"/>
                <a:cs typeface="Times New Roman" pitchFamily="18" charset="0"/>
              </a:rPr>
              <a:t>Ngang giá</a:t>
            </a:r>
            <a:r>
              <a:rPr lang="en-US" sz="4000" b="1">
                <a:latin typeface="Times New Roman" pitchFamily="18" charset="0"/>
                <a:cs typeface="Times New Roman" pitchFamily="18" charset="0"/>
              </a:rPr>
              <a:t> </a:t>
            </a:r>
            <a:r>
              <a:rPr lang="en-US" sz="4000" b="1">
                <a:solidFill>
                  <a:srgbClr val="FF0000"/>
                </a:solidFill>
                <a:latin typeface="Times New Roman" pitchFamily="18" charset="0"/>
                <a:cs typeface="Times New Roman" pitchFamily="18" charset="0"/>
              </a:rPr>
              <a:t>:</a:t>
            </a:r>
          </a:p>
        </p:txBody>
      </p:sp>
      <p:sp>
        <p:nvSpPr>
          <p:cNvPr id="111619" name="Rectangle 3"/>
          <p:cNvSpPr>
            <a:spLocks noGrp="1" noChangeArrowheads="1"/>
          </p:cNvSpPr>
          <p:nvPr>
            <p:ph type="body" sz="half" idx="1"/>
          </p:nvPr>
        </p:nvSpPr>
        <p:spPr>
          <a:xfrm>
            <a:off x="0" y="1143000"/>
            <a:ext cx="12192000" cy="5410200"/>
          </a:xfrm>
          <a:solidFill>
            <a:schemeClr val="bg1"/>
          </a:solidFill>
          <a:ln>
            <a:solidFill>
              <a:srgbClr val="990099"/>
            </a:solidFill>
            <a:miter lim="800000"/>
            <a:headEnd/>
            <a:tailEnd/>
          </a:ln>
        </p:spPr>
        <p:txBody>
          <a:bodyPr/>
          <a:lstStyle/>
          <a:p>
            <a:pPr eaLnBrk="1" hangingPunct="1">
              <a:buFont typeface="Wingdings" pitchFamily="2" charset="2"/>
              <a:buNone/>
            </a:pPr>
            <a:r>
              <a:rPr lang="en-US" altLang="en-US" sz="3800" dirty="0"/>
              <a:t>	</a:t>
            </a:r>
            <a:r>
              <a:rPr lang="en-US" altLang="en-US" b="1" dirty="0">
                <a:solidFill>
                  <a:srgbClr val="0000CC"/>
                </a:solidFill>
                <a:latin typeface="Times New Roman" pitchFamily="18" charset="0"/>
                <a:cs typeface="Times New Roman" pitchFamily="18" charset="0"/>
              </a:rPr>
              <a:t>Giá cả vận động lên xuống </a:t>
            </a:r>
            <a:r>
              <a:rPr lang="en-US" altLang="en-US" b="1" dirty="0">
                <a:solidFill>
                  <a:srgbClr val="C00000"/>
                </a:solidFill>
                <a:latin typeface="Times New Roman" pitchFamily="18" charset="0"/>
                <a:cs typeface="Times New Roman" pitchFamily="18" charset="0"/>
              </a:rPr>
              <a:t>xoay quanh giá trị</a:t>
            </a:r>
            <a:r>
              <a:rPr lang="en-US" altLang="en-US" dirty="0">
                <a:latin typeface="Times New Roman" pitchFamily="18" charset="0"/>
                <a:cs typeface="Times New Roman" pitchFamily="18" charset="0"/>
              </a:rPr>
              <a:t>. Điều đó có nghĩa là do tác động của  quan hệ cung cầu về hàng hóa trên thị trường làm cho giá cả ở từng nơi , từng lúc, từng mặt hàng có thể (lớn hơn, nhỏ hơn, hoặc bằng) giá trị của nó.</a:t>
            </a:r>
          </a:p>
          <a:p>
            <a:pPr eaLnBrk="1" hangingPunct="1">
              <a:buFont typeface="Wingdings" pitchFamily="2" charset="2"/>
              <a:buNone/>
            </a:pPr>
            <a:r>
              <a:rPr lang="en-US" altLang="en-US" dirty="0">
                <a:latin typeface="Times New Roman" pitchFamily="18" charset="0"/>
                <a:cs typeface="Times New Roman" pitchFamily="18" charset="0"/>
              </a:rPr>
              <a:t>	</a:t>
            </a:r>
            <a:r>
              <a:rPr lang="en-US" altLang="en-US" b="1" dirty="0">
                <a:latin typeface="Times New Roman" pitchFamily="18" charset="0"/>
                <a:cs typeface="Times New Roman" pitchFamily="18" charset="0"/>
              </a:rPr>
              <a:t>Nhưng trong một thời gian nhất định, xét trên góc độ cả toàn bộ  nền kinh tế thì:</a:t>
            </a:r>
          </a:p>
          <a:p>
            <a:pPr eaLnBrk="1" hangingPunct="1">
              <a:buFont typeface="Wingdings" pitchFamily="2" charset="2"/>
              <a:buNone/>
            </a:pPr>
            <a:r>
              <a:rPr lang="en-US" altLang="en-US" sz="2400" dirty="0">
                <a:latin typeface="Times New Roman" pitchFamily="18" charset="0"/>
                <a:cs typeface="Times New Roman" pitchFamily="18" charset="0"/>
              </a:rPr>
              <a:t>      </a:t>
            </a:r>
          </a:p>
          <a:p>
            <a:pPr eaLnBrk="1" hangingPunct="1">
              <a:buFont typeface="Wingdings" pitchFamily="2" charset="2"/>
              <a:buNone/>
            </a:pPr>
            <a:r>
              <a:rPr lang="en-US" altLang="en-US" sz="2400" dirty="0"/>
              <a:t>            </a:t>
            </a:r>
          </a:p>
          <a:p>
            <a:pPr eaLnBrk="1" hangingPunct="1">
              <a:buFont typeface="Wingdings" pitchFamily="2" charset="2"/>
              <a:buNone/>
            </a:pPr>
            <a:endParaRPr lang="en-US" altLang="en-US" sz="2400" dirty="0"/>
          </a:p>
        </p:txBody>
      </p:sp>
      <p:graphicFrame>
        <p:nvGraphicFramePr>
          <p:cNvPr id="24580" name="Object 27"/>
          <p:cNvGraphicFramePr>
            <a:graphicFrameLocks noGrp="1" noChangeAspect="1"/>
          </p:cNvGraphicFramePr>
          <p:nvPr>
            <p:ph sz="quarter" idx="2"/>
          </p:nvPr>
        </p:nvGraphicFramePr>
        <p:xfrm>
          <a:off x="8648701" y="2362201"/>
          <a:ext cx="486833" cy="593725"/>
        </p:xfrm>
        <a:graphic>
          <a:graphicData uri="http://schemas.openxmlformats.org/presentationml/2006/ole">
            <mc:AlternateContent xmlns:mc="http://schemas.openxmlformats.org/markup-compatibility/2006">
              <mc:Choice xmlns:v="urn:schemas-microsoft-com:vml" Requires="v">
                <p:oleObj spid="_x0000_s2175" name="Equation" r:id="rId3" imgW="101468" imgH="164885" progId="Equation.3">
                  <p:embed/>
                </p:oleObj>
              </mc:Choice>
              <mc:Fallback>
                <p:oleObj name="Equation" r:id="rId3" imgW="101468" imgH="164885"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8701" y="2362201"/>
                        <a:ext cx="486833"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1" name="Object 28"/>
          <p:cNvGraphicFramePr>
            <a:graphicFrameLocks noGrp="1" noChangeAspect="1"/>
          </p:cNvGraphicFramePr>
          <p:nvPr>
            <p:ph sz="quarter" idx="3"/>
          </p:nvPr>
        </p:nvGraphicFramePr>
        <p:xfrm>
          <a:off x="8644467" y="4740275"/>
          <a:ext cx="484717" cy="590550"/>
        </p:xfrm>
        <a:graphic>
          <a:graphicData uri="http://schemas.openxmlformats.org/presentationml/2006/ole">
            <mc:AlternateContent xmlns:mc="http://schemas.openxmlformats.org/markup-compatibility/2006">
              <mc:Choice xmlns:v="urn:schemas-microsoft-com:vml" Requires="v">
                <p:oleObj spid="_x0000_s2176" name="Equation" r:id="rId5" imgW="101468" imgH="164885" progId="Equation.3">
                  <p:embed/>
                </p:oleObj>
              </mc:Choice>
              <mc:Fallback>
                <p:oleObj name="Equation" r:id="rId5" imgW="101468" imgH="164885"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4467" y="4740275"/>
                        <a:ext cx="484717"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2" name="Object 29"/>
          <p:cNvGraphicFramePr>
            <a:graphicFrameLocks noChangeAspect="1"/>
          </p:cNvGraphicFramePr>
          <p:nvPr/>
        </p:nvGraphicFramePr>
        <p:xfrm>
          <a:off x="6028267" y="3346450"/>
          <a:ext cx="135467" cy="165100"/>
        </p:xfrm>
        <a:graphic>
          <a:graphicData uri="http://schemas.openxmlformats.org/presentationml/2006/ole">
            <mc:AlternateContent xmlns:mc="http://schemas.openxmlformats.org/markup-compatibility/2006">
              <mc:Choice xmlns:v="urn:schemas-microsoft-com:vml" Requires="v">
                <p:oleObj spid="_x0000_s2177" name="Equation" r:id="rId6" imgW="101468" imgH="164885" progId="Equation.3">
                  <p:embed/>
                </p:oleObj>
              </mc:Choice>
              <mc:Fallback>
                <p:oleObj name="Equation" r:id="rId6" imgW="101468" imgH="1648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8267" y="3346450"/>
                        <a:ext cx="135467"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3" name="Object 30"/>
          <p:cNvGraphicFramePr>
            <a:graphicFrameLocks noChangeAspect="1"/>
          </p:cNvGraphicFramePr>
          <p:nvPr/>
        </p:nvGraphicFramePr>
        <p:xfrm>
          <a:off x="6028267" y="3346450"/>
          <a:ext cx="135467" cy="165100"/>
        </p:xfrm>
        <a:graphic>
          <a:graphicData uri="http://schemas.openxmlformats.org/presentationml/2006/ole">
            <mc:AlternateContent xmlns:mc="http://schemas.openxmlformats.org/markup-compatibility/2006">
              <mc:Choice xmlns:v="urn:schemas-microsoft-com:vml" Requires="v">
                <p:oleObj spid="_x0000_s2178" name="Equation" r:id="rId7" imgW="101468" imgH="164885" progId="Equation.3">
                  <p:embed/>
                </p:oleObj>
              </mc:Choice>
              <mc:Fallback>
                <p:oleObj name="Equation" r:id="rId7" imgW="101468" imgH="1648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8267" y="3346450"/>
                        <a:ext cx="135467"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4" name="Object 31"/>
          <p:cNvGraphicFramePr>
            <a:graphicFrameLocks noChangeAspect="1"/>
          </p:cNvGraphicFramePr>
          <p:nvPr/>
        </p:nvGraphicFramePr>
        <p:xfrm>
          <a:off x="6028267" y="3346450"/>
          <a:ext cx="135467" cy="165100"/>
        </p:xfrm>
        <a:graphic>
          <a:graphicData uri="http://schemas.openxmlformats.org/presentationml/2006/ole">
            <mc:AlternateContent xmlns:mc="http://schemas.openxmlformats.org/markup-compatibility/2006">
              <mc:Choice xmlns:v="urn:schemas-microsoft-com:vml" Requires="v">
                <p:oleObj spid="_x0000_s2179" name="Equation" r:id="rId8" imgW="101468" imgH="164885" progId="Equation.3">
                  <p:embed/>
                </p:oleObj>
              </mc:Choice>
              <mc:Fallback>
                <p:oleObj name="Equation" r:id="rId8" imgW="101468" imgH="1648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8267" y="3346450"/>
                        <a:ext cx="135467"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633" name="Rectangle 17"/>
          <p:cNvSpPr>
            <a:spLocks noChangeArrowheads="1"/>
          </p:cNvSpPr>
          <p:nvPr/>
        </p:nvSpPr>
        <p:spPr bwMode="auto">
          <a:xfrm>
            <a:off x="304800" y="4876800"/>
            <a:ext cx="11582400" cy="914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a:t> </a:t>
            </a:r>
          </a:p>
          <a:p>
            <a:pPr algn="ctr" eaLnBrk="1" hangingPunct="1"/>
            <a:r>
              <a:rPr lang="en-US" altLang="en-US" sz="3600" b="1" u="sng">
                <a:solidFill>
                  <a:srgbClr val="FFFF00"/>
                </a:solidFill>
              </a:rPr>
              <a:t>Tổng của giá cả = tổng của giá trị.</a:t>
            </a:r>
          </a:p>
          <a:p>
            <a:pPr algn="ctr" eaLnBrk="1" hangingPunct="1"/>
            <a:endParaRPr lang="en-US" altLang="en-US" sz="2400"/>
          </a:p>
        </p:txBody>
      </p:sp>
    </p:spTree>
    <p:extLst>
      <p:ext uri="{BB962C8B-B14F-4D97-AF65-F5344CB8AC3E}">
        <p14:creationId xmlns:p14="http://schemas.microsoft.com/office/powerpoint/2010/main" val="384763532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p:cTn id="7" dur="500" fill="hold"/>
                                        <p:tgtEl>
                                          <p:spTgt spid="111618"/>
                                        </p:tgtEl>
                                        <p:attrNameLst>
                                          <p:attrName>ppt_w</p:attrName>
                                        </p:attrNameLst>
                                      </p:cBhvr>
                                      <p:tavLst>
                                        <p:tav tm="0">
                                          <p:val>
                                            <p:fltVal val="0"/>
                                          </p:val>
                                        </p:tav>
                                        <p:tav tm="100000">
                                          <p:val>
                                            <p:strVal val="#ppt_w"/>
                                          </p:val>
                                        </p:tav>
                                      </p:tavLst>
                                    </p:anim>
                                    <p:anim calcmode="lin" valueType="num">
                                      <p:cBhvr>
                                        <p:cTn id="8" dur="500" fill="hold"/>
                                        <p:tgtEl>
                                          <p:spTgt spid="111618"/>
                                        </p:tgtEl>
                                        <p:attrNameLst>
                                          <p:attrName>ppt_h</p:attrName>
                                        </p:attrNameLst>
                                      </p:cBhvr>
                                      <p:tavLst>
                                        <p:tav tm="0">
                                          <p:val>
                                            <p:fltVal val="0"/>
                                          </p:val>
                                        </p:tav>
                                        <p:tav tm="100000">
                                          <p:val>
                                            <p:strVal val="#ppt_h"/>
                                          </p:val>
                                        </p:tav>
                                      </p:tavLst>
                                    </p:anim>
                                    <p:animEffect transition="in" filter="fade">
                                      <p:cBhvr>
                                        <p:cTn id="9" dur="500"/>
                                        <p:tgtEl>
                                          <p:spTgt spid="11161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11619">
                                            <p:txEl>
                                              <p:pRg st="0" end="0"/>
                                            </p:txEl>
                                          </p:spTgt>
                                        </p:tgtEl>
                                        <p:attrNameLst>
                                          <p:attrName>style.visibility</p:attrName>
                                        </p:attrNameLst>
                                      </p:cBhvr>
                                      <p:to>
                                        <p:strVal val="visible"/>
                                      </p:to>
                                    </p:set>
                                    <p:anim calcmode="lin" valueType="num">
                                      <p:cBhvr>
                                        <p:cTn id="14" dur="500" fill="hold"/>
                                        <p:tgtEl>
                                          <p:spTgt spid="11161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1161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11619">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11619">
                                            <p:txEl>
                                              <p:pRg st="1" end="1"/>
                                            </p:txEl>
                                          </p:spTgt>
                                        </p:tgtEl>
                                        <p:attrNameLst>
                                          <p:attrName>style.visibility</p:attrName>
                                        </p:attrNameLst>
                                      </p:cBhvr>
                                      <p:to>
                                        <p:strVal val="visible"/>
                                      </p:to>
                                    </p:set>
                                    <p:anim calcmode="lin" valueType="num">
                                      <p:cBhvr>
                                        <p:cTn id="21" dur="500" fill="hold"/>
                                        <p:tgtEl>
                                          <p:spTgt spid="111619">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11619">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11619">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111633"/>
                                        </p:tgtEl>
                                        <p:attrNameLst>
                                          <p:attrName>style.visibility</p:attrName>
                                        </p:attrNameLst>
                                      </p:cBhvr>
                                      <p:to>
                                        <p:strVal val="visible"/>
                                      </p:to>
                                    </p:set>
                                    <p:anim calcmode="lin" valueType="num">
                                      <p:cBhvr>
                                        <p:cTn id="28" dur="500" fill="hold"/>
                                        <p:tgtEl>
                                          <p:spTgt spid="111633"/>
                                        </p:tgtEl>
                                        <p:attrNameLst>
                                          <p:attrName>ppt_w</p:attrName>
                                        </p:attrNameLst>
                                      </p:cBhvr>
                                      <p:tavLst>
                                        <p:tav tm="0">
                                          <p:val>
                                            <p:fltVal val="0"/>
                                          </p:val>
                                        </p:tav>
                                        <p:tav tm="100000">
                                          <p:val>
                                            <p:strVal val="#ppt_w"/>
                                          </p:val>
                                        </p:tav>
                                      </p:tavLst>
                                    </p:anim>
                                    <p:anim calcmode="lin" valueType="num">
                                      <p:cBhvr>
                                        <p:cTn id="29" dur="500" fill="hold"/>
                                        <p:tgtEl>
                                          <p:spTgt spid="111633"/>
                                        </p:tgtEl>
                                        <p:attrNameLst>
                                          <p:attrName>ppt_h</p:attrName>
                                        </p:attrNameLst>
                                      </p:cBhvr>
                                      <p:tavLst>
                                        <p:tav tm="0">
                                          <p:val>
                                            <p:fltVal val="0"/>
                                          </p:val>
                                        </p:tav>
                                        <p:tav tm="100000">
                                          <p:val>
                                            <p:strVal val="#ppt_h"/>
                                          </p:val>
                                        </p:tav>
                                      </p:tavLst>
                                    </p:anim>
                                    <p:animEffect transition="in" filter="fade">
                                      <p:cBhvr>
                                        <p:cTn id="30" dur="500"/>
                                        <p:tgtEl>
                                          <p:spTgt spid="111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p:bldP spid="111619" grpId="0" build="p"/>
      <p:bldP spid="11163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8CF297F-F475-4ECF-BDCE-9D7EB0E1DE62}"/>
              </a:ext>
            </a:extLst>
          </p:cNvPr>
          <p:cNvSpPr txBox="1"/>
          <p:nvPr/>
        </p:nvSpPr>
        <p:spPr>
          <a:xfrm>
            <a:off x="1163782" y="2376523"/>
            <a:ext cx="9670473" cy="1815882"/>
          </a:xfrm>
          <a:prstGeom prst="rect">
            <a:avLst/>
          </a:prstGeom>
          <a:noFill/>
        </p:spPr>
        <p:txBody>
          <a:bodyPr wrap="square" rtlCol="0">
            <a:spAutoFit/>
          </a:bodyPr>
          <a:lstStyle/>
          <a:p>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Quy</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luật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tác</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dụng</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tiết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lưu</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hàng</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hoá</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kích</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thích</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cải</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tiến</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kỹ</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thuật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hợp</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lý</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hóa</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hoá</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sản</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xuất</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những</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giàu</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nghèo</a:t>
            </a:r>
            <a:r>
              <a:rPr lang="en-US" sz="2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solidFill>
                <a:srgbClr val="0070C0"/>
              </a:solidFill>
            </a:endParaRPr>
          </a:p>
        </p:txBody>
      </p:sp>
      <p:sp>
        <p:nvSpPr>
          <p:cNvPr id="7" name="TextBox 6">
            <a:extLst>
              <a:ext uri="{FF2B5EF4-FFF2-40B4-BE49-F238E27FC236}">
                <a16:creationId xmlns:a16="http://schemas.microsoft.com/office/drawing/2014/main" id="{0F763F12-9D26-47EF-ABF9-F31CBFB0253F}"/>
              </a:ext>
            </a:extLst>
          </p:cNvPr>
          <p:cNvSpPr txBox="1"/>
          <p:nvPr/>
        </p:nvSpPr>
        <p:spPr>
          <a:xfrm>
            <a:off x="2632364" y="623455"/>
            <a:ext cx="8783781" cy="1446550"/>
          </a:xfrm>
          <a:prstGeom prst="rect">
            <a:avLst/>
          </a:prstGeom>
          <a:noFill/>
        </p:spPr>
        <p:txBody>
          <a:bodyPr wrap="square" rtlCol="0">
            <a:spAutoFit/>
          </a:bodyPr>
          <a:lstStyle/>
          <a:p>
            <a:r>
              <a:rPr lang="en-US" altLang="en-US" sz="4400" b="1" i="1" dirty="0" err="1">
                <a:solidFill>
                  <a:srgbClr val="0000CC"/>
                </a:solidFill>
                <a:latin typeface="Times New Roman" pitchFamily="18" charset="0"/>
                <a:cs typeface="Times New Roman" pitchFamily="18" charset="0"/>
              </a:rPr>
              <a:t>Tác</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dụng</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của</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quy</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luật</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giá</a:t>
            </a:r>
            <a:r>
              <a:rPr lang="en-US" altLang="en-US" sz="4400" b="1" i="1" dirty="0">
                <a:solidFill>
                  <a:srgbClr val="0000CC"/>
                </a:solidFill>
                <a:latin typeface="Times New Roman" pitchFamily="18" charset="0"/>
                <a:cs typeface="Times New Roman" pitchFamily="18" charset="0"/>
              </a:rPr>
              <a:t> </a:t>
            </a:r>
            <a:r>
              <a:rPr lang="en-US" altLang="en-US" sz="4400" b="1" i="1" dirty="0" err="1">
                <a:solidFill>
                  <a:srgbClr val="0000CC"/>
                </a:solidFill>
                <a:latin typeface="Times New Roman" pitchFamily="18" charset="0"/>
                <a:cs typeface="Times New Roman" pitchFamily="18" charset="0"/>
              </a:rPr>
              <a:t>trị</a:t>
            </a:r>
            <a:endParaRPr lang="en-US" altLang="en-US" sz="4400" b="1" dirty="0">
              <a:solidFill>
                <a:srgbClr val="0000CC"/>
              </a:solidFill>
            </a:endParaRPr>
          </a:p>
          <a:p>
            <a:endParaRPr lang="en-US" sz="4400" dirty="0"/>
          </a:p>
        </p:txBody>
      </p:sp>
    </p:spTree>
    <p:extLst>
      <p:ext uri="{BB962C8B-B14F-4D97-AF65-F5344CB8AC3E}">
        <p14:creationId xmlns:p14="http://schemas.microsoft.com/office/powerpoint/2010/main" val="2393083095"/>
      </p:ext>
    </p:extLst>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AutoShape 3"/>
          <p:cNvSpPr>
            <a:spLocks noChangeArrowheads="1"/>
          </p:cNvSpPr>
          <p:nvPr/>
        </p:nvSpPr>
        <p:spPr bwMode="auto">
          <a:xfrm>
            <a:off x="7010400" y="2057400"/>
            <a:ext cx="5181600" cy="3429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fontAlgn="auto">
              <a:lnSpc>
                <a:spcPct val="90000"/>
              </a:lnSpc>
              <a:spcBef>
                <a:spcPts val="0"/>
              </a:spcBef>
              <a:spcAft>
                <a:spcPts val="0"/>
              </a:spcAft>
              <a:buFont typeface="Wingdings" pitchFamily="2" charset="2"/>
              <a:buNone/>
              <a:defRPr/>
            </a:pPr>
            <a:r>
              <a:rPr lang="en-US" sz="3200" b="1" i="1" dirty="0" err="1">
                <a:solidFill>
                  <a:srgbClr val="0000CC"/>
                </a:solidFill>
                <a:latin typeface="Times New Roman" pitchFamily="18" charset="0"/>
                <a:cs typeface="Times New Roman" pitchFamily="18" charset="0"/>
              </a:rPr>
              <a:t>Điều</a:t>
            </a:r>
            <a:r>
              <a:rPr lang="en-US" sz="3200" b="1" i="1" dirty="0">
                <a:solidFill>
                  <a:srgbClr val="0000CC"/>
                </a:solidFill>
                <a:latin typeface="Times New Roman" pitchFamily="18" charset="0"/>
                <a:cs typeface="Times New Roman" pitchFamily="18" charset="0"/>
              </a:rPr>
              <a:t> </a:t>
            </a:r>
            <a:r>
              <a:rPr lang="en-US" sz="3200" b="1" i="1" dirty="0" err="1">
                <a:solidFill>
                  <a:srgbClr val="0000CC"/>
                </a:solidFill>
                <a:latin typeface="Times New Roman" pitchFamily="18" charset="0"/>
                <a:cs typeface="Times New Roman" pitchFamily="18" charset="0"/>
              </a:rPr>
              <a:t>tiết</a:t>
            </a:r>
            <a:r>
              <a:rPr lang="en-US" sz="3200" b="1" i="1" dirty="0">
                <a:solidFill>
                  <a:srgbClr val="0000CC"/>
                </a:solidFill>
                <a:latin typeface="Times New Roman" pitchFamily="18" charset="0"/>
                <a:cs typeface="Times New Roman" pitchFamily="18" charset="0"/>
              </a:rPr>
              <a:t> </a:t>
            </a:r>
            <a:r>
              <a:rPr lang="en-US" sz="3200" b="1" i="1" dirty="0" err="1">
                <a:solidFill>
                  <a:srgbClr val="0000CC"/>
                </a:solidFill>
                <a:latin typeface="Times New Roman" pitchFamily="18" charset="0"/>
                <a:cs typeface="Times New Roman" pitchFamily="18" charset="0"/>
              </a:rPr>
              <a:t>lưu</a:t>
            </a:r>
            <a:r>
              <a:rPr lang="en-US" sz="3200" b="1" i="1" dirty="0">
                <a:solidFill>
                  <a:srgbClr val="0000CC"/>
                </a:solidFill>
                <a:latin typeface="Times New Roman" pitchFamily="18" charset="0"/>
                <a:cs typeface="Times New Roman" pitchFamily="18" charset="0"/>
              </a:rPr>
              <a:t> </a:t>
            </a:r>
            <a:r>
              <a:rPr lang="en-US" sz="3200" b="1" i="1" dirty="0" err="1">
                <a:solidFill>
                  <a:srgbClr val="0000CC"/>
                </a:solidFill>
                <a:latin typeface="Times New Roman" pitchFamily="18" charset="0"/>
                <a:cs typeface="Times New Roman" pitchFamily="18" charset="0"/>
              </a:rPr>
              <a:t>thông</a:t>
            </a:r>
            <a:r>
              <a:rPr lang="en-US" sz="3200" b="1" i="1" dirty="0">
                <a:solidFill>
                  <a:srgbClr val="0000CC"/>
                </a:solidFill>
                <a:latin typeface="Times New Roman" pitchFamily="18" charset="0"/>
                <a:cs typeface="Times New Roman" pitchFamily="18" charset="0"/>
              </a:rPr>
              <a:t>:</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Phân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phối</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nguồn</a:t>
            </a:r>
            <a:r>
              <a:rPr lang="en-US" sz="3000" b="1" dirty="0">
                <a:latin typeface="Times New Roman" pitchFamily="18" charset="0"/>
                <a:cs typeface="Times New Roman" pitchFamily="18" charset="0"/>
              </a:rPr>
              <a:t> HH</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từ</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nơi</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có</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giá</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cả</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thấp</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đến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nơi</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có</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giá</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cả</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cao</a:t>
            </a:r>
            <a:endParaRPr lang="en-US" sz="3000" b="1" dirty="0">
              <a:latin typeface="Times New Roman" pitchFamily="18" charset="0"/>
              <a:cs typeface="Times New Roman" pitchFamily="18" charset="0"/>
            </a:endParaRPr>
          </a:p>
          <a:p>
            <a:pPr marL="609600" indent="-609600" algn="ctr" fontAlgn="auto">
              <a:lnSpc>
                <a:spcPct val="90000"/>
              </a:lnSpc>
              <a:spcBef>
                <a:spcPts val="0"/>
              </a:spcBef>
              <a:spcAft>
                <a:spcPts val="0"/>
              </a:spcAft>
              <a:buFont typeface="Wingdings" pitchFamily="2" charset="2"/>
              <a:buNone/>
              <a:defRPr/>
            </a:pPr>
            <a:r>
              <a:rPr lang="en-US" sz="3000" b="1" dirty="0">
                <a:latin typeface="Times New Roman" pitchFamily="18" charset="0"/>
                <a:cs typeface="Times New Roman" pitchFamily="18" charset="0"/>
              </a:rPr>
              <a:t>-&gt;</a:t>
            </a:r>
            <a:r>
              <a:rPr lang="en-US" sz="3000" b="1" dirty="0" err="1">
                <a:latin typeface="Times New Roman" pitchFamily="18" charset="0"/>
                <a:cs typeface="Times New Roman" pitchFamily="18" charset="0"/>
              </a:rPr>
              <a:t>Điều</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tiết</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tự</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phát</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a:latin typeface="Times New Roman" pitchFamily="18" charset="0"/>
                <a:cs typeface="Times New Roman" pitchFamily="18" charset="0"/>
              </a:rPr>
              <a:t>-&gt;</a:t>
            </a:r>
            <a:r>
              <a:rPr lang="en-US" sz="3000" b="1" dirty="0" err="1">
                <a:latin typeface="Times New Roman" pitchFamily="18" charset="0"/>
                <a:cs typeface="Times New Roman" pitchFamily="18" charset="0"/>
              </a:rPr>
              <a:t>Thông</a:t>
            </a:r>
            <a:r>
              <a:rPr lang="en-US" sz="3000" b="1" dirty="0">
                <a:latin typeface="Times New Roman" pitchFamily="18" charset="0"/>
                <a:cs typeface="Times New Roman" pitchFamily="18" charset="0"/>
              </a:rPr>
              <a:t> qua </a:t>
            </a:r>
            <a:r>
              <a:rPr lang="en-US" sz="3000" b="1" dirty="0" err="1">
                <a:latin typeface="Times New Roman" pitchFamily="18" charset="0"/>
                <a:cs typeface="Times New Roman" pitchFamily="18" charset="0"/>
              </a:rPr>
              <a:t>sự</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lên</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xuống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của</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giá</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cả</a:t>
            </a:r>
            <a:r>
              <a:rPr lang="en-US" sz="3000" b="1" dirty="0">
                <a:latin typeface="Times New Roman" pitchFamily="18" charset="0"/>
                <a:cs typeface="Times New Roman" pitchFamily="18" charset="0"/>
              </a:rPr>
              <a:t>  </a:t>
            </a:r>
          </a:p>
        </p:txBody>
      </p:sp>
      <p:sp>
        <p:nvSpPr>
          <p:cNvPr id="111620" name="AutoShape 4"/>
          <p:cNvSpPr>
            <a:spLocks noChangeArrowheads="1"/>
          </p:cNvSpPr>
          <p:nvPr/>
        </p:nvSpPr>
        <p:spPr bwMode="auto">
          <a:xfrm>
            <a:off x="203200" y="2057400"/>
            <a:ext cx="4775200" cy="3429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fontAlgn="auto">
              <a:spcBef>
                <a:spcPts val="0"/>
              </a:spcBef>
              <a:spcAft>
                <a:spcPts val="0"/>
              </a:spcAft>
              <a:buFont typeface="Wingdings" pitchFamily="2" charset="2"/>
              <a:buNone/>
              <a:defRPr/>
            </a:pPr>
            <a:r>
              <a:rPr lang="en-US" sz="3200" b="1" i="1" dirty="0" err="1">
                <a:solidFill>
                  <a:srgbClr val="0000CC"/>
                </a:solidFill>
                <a:latin typeface="Times New Roman" pitchFamily="18" charset="0"/>
                <a:cs typeface="Times New Roman" pitchFamily="18" charset="0"/>
              </a:rPr>
              <a:t>Điều</a:t>
            </a:r>
            <a:r>
              <a:rPr lang="en-US" sz="3200" b="1" i="1" dirty="0">
                <a:solidFill>
                  <a:srgbClr val="0000CC"/>
                </a:solidFill>
                <a:latin typeface="Times New Roman" pitchFamily="18" charset="0"/>
                <a:cs typeface="Times New Roman" pitchFamily="18" charset="0"/>
              </a:rPr>
              <a:t> </a:t>
            </a:r>
            <a:r>
              <a:rPr lang="en-US" sz="3200" b="1" i="1" dirty="0" err="1">
                <a:solidFill>
                  <a:srgbClr val="0000CC"/>
                </a:solidFill>
                <a:latin typeface="Times New Roman" pitchFamily="18" charset="0"/>
                <a:cs typeface="Times New Roman" pitchFamily="18" charset="0"/>
              </a:rPr>
              <a:t>tiết</a:t>
            </a:r>
            <a:r>
              <a:rPr lang="en-US" sz="3200" b="1" i="1" dirty="0">
                <a:solidFill>
                  <a:srgbClr val="0000CC"/>
                </a:solidFill>
                <a:latin typeface="Times New Roman" pitchFamily="18" charset="0"/>
                <a:cs typeface="Times New Roman" pitchFamily="18" charset="0"/>
              </a:rPr>
              <a:t> SX</a:t>
            </a:r>
            <a:r>
              <a:rPr lang="en-US" sz="3200" dirty="0">
                <a:latin typeface="Times New Roman" pitchFamily="18" charset="0"/>
                <a:cs typeface="Times New Roman" pitchFamily="18" charset="0"/>
              </a:rPr>
              <a:t>:</a:t>
            </a:r>
          </a:p>
          <a:p>
            <a:pPr marL="609600" indent="-609600" algn="ctr" fontAlgn="auto">
              <a:spcBef>
                <a:spcPts val="0"/>
              </a:spcBef>
              <a:spcAft>
                <a:spcPts val="0"/>
              </a:spcAft>
              <a:buFont typeface="Wingdings" pitchFamily="2" charset="2"/>
              <a:buNone/>
              <a:defRPr/>
            </a:pP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phân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phối</a:t>
            </a:r>
            <a:r>
              <a:rPr lang="en-US" sz="3000" b="1" dirty="0">
                <a:latin typeface="Times New Roman" pitchFamily="18" charset="0"/>
                <a:cs typeface="Times New Roman" pitchFamily="18" charset="0"/>
              </a:rPr>
              <a:t> TLSX </a:t>
            </a:r>
            <a:r>
              <a:rPr lang="en-US" sz="3000" b="1" dirty="0" err="1">
                <a:latin typeface="Times New Roman" pitchFamily="18" charset="0"/>
                <a:cs typeface="Times New Roman" pitchFamily="18" charset="0"/>
              </a:rPr>
              <a:t>và</a:t>
            </a:r>
            <a:r>
              <a:rPr lang="en-US" sz="3000" b="1" dirty="0">
                <a:latin typeface="Times New Roman" pitchFamily="18" charset="0"/>
                <a:cs typeface="Times New Roman" pitchFamily="18" charset="0"/>
              </a:rPr>
              <a:t> </a:t>
            </a:r>
          </a:p>
          <a:p>
            <a:pPr marL="609600" indent="-609600" algn="ctr" fontAlgn="auto">
              <a:spcBef>
                <a:spcPts val="0"/>
              </a:spcBef>
              <a:spcAft>
                <a:spcPts val="0"/>
              </a:spcAft>
              <a:buFont typeface="Wingdings" pitchFamily="2" charset="2"/>
              <a:buNone/>
              <a:defRPr/>
            </a:pPr>
            <a:r>
              <a:rPr lang="en-US" sz="3000" b="1" dirty="0">
                <a:latin typeface="Times New Roman" pitchFamily="18" charset="0"/>
                <a:cs typeface="Times New Roman" pitchFamily="18" charset="0"/>
              </a:rPr>
              <a:t>SLĐ </a:t>
            </a:r>
            <a:r>
              <a:rPr lang="en-US" sz="3000" b="1" dirty="0" err="1">
                <a:latin typeface="Times New Roman" pitchFamily="18" charset="0"/>
                <a:cs typeface="Times New Roman" pitchFamily="18" charset="0"/>
              </a:rPr>
              <a:t>vào</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các</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ngành</a:t>
            </a:r>
            <a:r>
              <a:rPr lang="en-US" sz="3000" b="1" dirty="0">
                <a:latin typeface="Times New Roman" pitchFamily="18" charset="0"/>
                <a:cs typeface="Times New Roman" pitchFamily="18" charset="0"/>
              </a:rPr>
              <a:t> </a:t>
            </a:r>
          </a:p>
          <a:p>
            <a:pPr marL="609600" indent="-609600" algn="ctr" fontAlgn="auto">
              <a:spcBef>
                <a:spcPts val="0"/>
              </a:spcBef>
              <a:spcAft>
                <a:spcPts val="0"/>
              </a:spcAft>
              <a:buFont typeface="Wingdings" pitchFamily="2" charset="2"/>
              <a:buNone/>
              <a:defRPr/>
            </a:pPr>
            <a:r>
              <a:rPr lang="en-US" sz="3000" b="1" dirty="0" err="1">
                <a:latin typeface="Times New Roman" pitchFamily="18" charset="0"/>
                <a:cs typeface="Times New Roman" pitchFamily="18" charset="0"/>
              </a:rPr>
              <a:t>vùng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khác</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nhau</a:t>
            </a:r>
            <a:endParaRPr lang="en-US" sz="3000" b="1" dirty="0">
              <a:latin typeface="Times New Roman" pitchFamily="18" charset="0"/>
              <a:cs typeface="Times New Roman" pitchFamily="18" charset="0"/>
            </a:endParaRPr>
          </a:p>
          <a:p>
            <a:pPr marL="609600" indent="-609600" algn="ctr" fontAlgn="auto">
              <a:spcBef>
                <a:spcPts val="0"/>
              </a:spcBef>
              <a:spcAft>
                <a:spcPts val="0"/>
              </a:spcAft>
              <a:buFont typeface="Wingdings" pitchFamily="2" charset="2"/>
              <a:buNone/>
              <a:defRPr/>
            </a:pPr>
            <a:r>
              <a:rPr lang="en-US" sz="3000" b="1" dirty="0" err="1">
                <a:latin typeface="Times New Roman" pitchFamily="18" charset="0"/>
                <a:cs typeface="Times New Roman" pitchFamily="18" charset="0"/>
              </a:rPr>
              <a:t>Tự</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phát</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Thông</a:t>
            </a:r>
            <a:r>
              <a:rPr lang="en-US" sz="3000" b="1" dirty="0">
                <a:latin typeface="Times New Roman" pitchFamily="18" charset="0"/>
                <a:cs typeface="Times New Roman" pitchFamily="18" charset="0"/>
              </a:rPr>
              <a:t> qua </a:t>
            </a:r>
          </a:p>
          <a:p>
            <a:pPr marL="609600" indent="-609600" algn="ctr" fontAlgn="auto">
              <a:spcBef>
                <a:spcPts val="0"/>
              </a:spcBef>
              <a:spcAft>
                <a:spcPts val="0"/>
              </a:spcAft>
              <a:buFont typeface="Wingdings" pitchFamily="2" charset="2"/>
              <a:buNone/>
              <a:defRPr/>
            </a:pPr>
            <a:r>
              <a:rPr lang="en-US" sz="3000" b="1" dirty="0" err="1">
                <a:latin typeface="Times New Roman" pitchFamily="18" charset="0"/>
                <a:cs typeface="Times New Roman" pitchFamily="18" charset="0"/>
              </a:rPr>
              <a:t>sự</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lên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xuống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của</a:t>
            </a:r>
            <a:r>
              <a:rPr lang="en-US" sz="3000" b="1" dirty="0">
                <a:latin typeface="Times New Roman" pitchFamily="18" charset="0"/>
                <a:cs typeface="Times New Roman" pitchFamily="18" charset="0"/>
              </a:rPr>
              <a:t> </a:t>
            </a:r>
          </a:p>
          <a:p>
            <a:pPr marL="609600" indent="-609600" algn="ctr" fontAlgn="auto">
              <a:spcBef>
                <a:spcPts val="0"/>
              </a:spcBef>
              <a:spcAft>
                <a:spcPts val="0"/>
              </a:spcAft>
              <a:buFont typeface="Wingdings" pitchFamily="2" charset="2"/>
              <a:buNone/>
              <a:defRPr/>
            </a:pPr>
            <a:r>
              <a:rPr lang="en-US" sz="3000" b="1" dirty="0" err="1">
                <a:latin typeface="Times New Roman" pitchFamily="18" charset="0"/>
                <a:cs typeface="Times New Roman" pitchFamily="18" charset="0"/>
              </a:rPr>
              <a:t>giá</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cả</a:t>
            </a:r>
            <a:r>
              <a:rPr lang="en-US" sz="3000" b="1" dirty="0">
                <a:latin typeface="Times New Roman" pitchFamily="18" charset="0"/>
                <a:cs typeface="Times New Roman" pitchFamily="18" charset="0"/>
              </a:rPr>
              <a:t> </a:t>
            </a:r>
          </a:p>
        </p:txBody>
      </p:sp>
      <p:sp>
        <p:nvSpPr>
          <p:cNvPr id="111622" name="Freeform 6"/>
          <p:cNvSpPr>
            <a:spLocks/>
          </p:cNvSpPr>
          <p:nvPr/>
        </p:nvSpPr>
        <p:spPr bwMode="gray">
          <a:xfrm>
            <a:off x="4978400" y="21336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A391FF"/>
              </a:gs>
              <a:gs pos="50000">
                <a:srgbClr val="C6BCFF"/>
              </a:gs>
              <a:gs pos="100000">
                <a:srgbClr val="E3D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3543" name="Freeform 7"/>
          <p:cNvSpPr>
            <a:spLocks/>
          </p:cNvSpPr>
          <p:nvPr/>
        </p:nvSpPr>
        <p:spPr bwMode="gray">
          <a:xfrm flipH="1">
            <a:off x="5791200" y="21336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10800000" scaled="1"/>
            <a:tileRect/>
          </a:gradFill>
          <a:ln w="0">
            <a:noFill/>
            <a:prstDash val="solid"/>
            <a:round/>
            <a:headEnd/>
            <a:tailEnd/>
          </a:ln>
        </p:spPr>
        <p:txBody>
          <a:bodyPr/>
          <a:lstStyle/>
          <a:p>
            <a:pPr fontAlgn="auto">
              <a:spcBef>
                <a:spcPts val="0"/>
              </a:spcBef>
              <a:spcAft>
                <a:spcPts val="0"/>
              </a:spcAft>
              <a:defRPr/>
            </a:pPr>
            <a:endParaRPr lang="en-US">
              <a:latin typeface="+mn-lt"/>
              <a:cs typeface="+mn-cs"/>
            </a:endParaRPr>
          </a:p>
        </p:txBody>
      </p:sp>
      <p:grpSp>
        <p:nvGrpSpPr>
          <p:cNvPr id="2" name="Group 9"/>
          <p:cNvGrpSpPr>
            <a:grpSpLocks/>
          </p:cNvGrpSpPr>
          <p:nvPr/>
        </p:nvGrpSpPr>
        <p:grpSpPr bwMode="auto">
          <a:xfrm>
            <a:off x="3657600" y="914400"/>
            <a:ext cx="5283200" cy="1219200"/>
            <a:chOff x="1997" y="1314"/>
            <a:chExt cx="1889" cy="1009"/>
          </a:xfrm>
        </p:grpSpPr>
        <p:grpSp>
          <p:nvGrpSpPr>
            <p:cNvPr id="25613"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61"/>
                <a:ext cx="1905" cy="903"/>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9"/>
                <a:ext cx="1905" cy="903"/>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8"/>
              <a:ext cx="1570" cy="769"/>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4064000" y="1066800"/>
            <a:ext cx="45720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2800" b="1">
                <a:solidFill>
                  <a:srgbClr val="FF0000"/>
                </a:solidFill>
                <a:latin typeface="Times New Roman" pitchFamily="18" charset="0"/>
              </a:rPr>
              <a:t>- Điều tiết SX và lưu thông HH</a:t>
            </a:r>
          </a:p>
          <a:p>
            <a:pPr algn="ctr" eaLnBrk="1" hangingPunct="1"/>
            <a:endParaRPr lang="en-US" altLang="en-US" sz="2600" b="1">
              <a:latin typeface=".VnTime" pitchFamily="34" charset="0"/>
            </a:endParaRPr>
          </a:p>
        </p:txBody>
      </p:sp>
      <p:sp>
        <p:nvSpPr>
          <p:cNvPr id="111627" name="Rectangle 18"/>
          <p:cNvSpPr>
            <a:spLocks noChangeArrowheads="1"/>
          </p:cNvSpPr>
          <p:nvPr/>
        </p:nvSpPr>
        <p:spPr bwMode="auto">
          <a:xfrm>
            <a:off x="914400" y="152401"/>
            <a:ext cx="10261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600" b="1" i="1" dirty="0">
                <a:solidFill>
                  <a:srgbClr val="0000CC"/>
                </a:solidFill>
                <a:latin typeface="Times New Roman" pitchFamily="18" charset="0"/>
                <a:cs typeface="Times New Roman" pitchFamily="18" charset="0"/>
              </a:rPr>
              <a:t>Tác dụng của quy luật giá trị</a:t>
            </a:r>
            <a:endParaRPr lang="en-US" altLang="en-US" sz="3600" b="1" dirty="0">
              <a:solidFill>
                <a:srgbClr val="0000CC"/>
              </a:solidFill>
            </a:endParaRPr>
          </a:p>
        </p:txBody>
      </p:sp>
    </p:spTree>
    <p:extLst>
      <p:ext uri="{BB962C8B-B14F-4D97-AF65-F5344CB8AC3E}">
        <p14:creationId xmlns:p14="http://schemas.microsoft.com/office/powerpoint/2010/main" val="345997622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11627">
                                            <p:txEl>
                                              <p:pRg st="0" end="0"/>
                                            </p:txEl>
                                          </p:spTgt>
                                        </p:tgtEl>
                                        <p:attrNameLst>
                                          <p:attrName>style.visibility</p:attrName>
                                        </p:attrNameLst>
                                      </p:cBhvr>
                                      <p:to>
                                        <p:strVal val="visible"/>
                                      </p:to>
                                    </p:set>
                                    <p:animEffect transition="in" filter="diamond(in)">
                                      <p:cBhvr>
                                        <p:cTn id="7" dur="500"/>
                                        <p:tgtEl>
                                          <p:spTgt spid="111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3553"/>
                                        </p:tgtEl>
                                        <p:attrNameLst>
                                          <p:attrName>style.visibility</p:attrName>
                                        </p:attrNameLst>
                                      </p:cBhvr>
                                      <p:to>
                                        <p:strVal val="visible"/>
                                      </p:to>
                                    </p:set>
                                    <p:animEffect transition="in" filter="blinds(horizontal)">
                                      <p:cBhvr>
                                        <p:cTn id="15" dur="500"/>
                                        <p:tgtEl>
                                          <p:spTgt spid="19355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1622"/>
                                        </p:tgtEl>
                                        <p:attrNameLst>
                                          <p:attrName>style.visibility</p:attrName>
                                        </p:attrNameLst>
                                      </p:cBhvr>
                                      <p:to>
                                        <p:strVal val="visible"/>
                                      </p:to>
                                    </p:set>
                                    <p:animEffect transition="in" filter="blinds(horizontal)">
                                      <p:cBhvr>
                                        <p:cTn id="20" dur="500"/>
                                        <p:tgtEl>
                                          <p:spTgt spid="1116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11620"/>
                                        </p:tgtEl>
                                        <p:attrNameLst>
                                          <p:attrName>style.visibility</p:attrName>
                                        </p:attrNameLst>
                                      </p:cBhvr>
                                      <p:to>
                                        <p:strVal val="visible"/>
                                      </p:to>
                                    </p:set>
                                    <p:animEffect transition="in" filter="checkerboard(across)">
                                      <p:cBhvr>
                                        <p:cTn id="25" dur="500"/>
                                        <p:tgtEl>
                                          <p:spTgt spid="1116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93543"/>
                                        </p:tgtEl>
                                        <p:attrNameLst>
                                          <p:attrName>style.visibility</p:attrName>
                                        </p:attrNameLst>
                                      </p:cBhvr>
                                      <p:to>
                                        <p:strVal val="visible"/>
                                      </p:to>
                                    </p:set>
                                    <p:animEffect transition="in" filter="blinds(horizontal)">
                                      <p:cBhvr>
                                        <p:cTn id="30" dur="500"/>
                                        <p:tgtEl>
                                          <p:spTgt spid="19354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111619"/>
                                        </p:tgtEl>
                                        <p:attrNameLst>
                                          <p:attrName>style.visibility</p:attrName>
                                        </p:attrNameLst>
                                      </p:cBhvr>
                                      <p:to>
                                        <p:strVal val="visible"/>
                                      </p:to>
                                    </p:set>
                                    <p:animEffect transition="in" filter="checkerboard(across)">
                                      <p:cBhvr>
                                        <p:cTn id="35" dur="500"/>
                                        <p:tgtEl>
                                          <p:spTgt spid="11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2" grpId="0" animBg="1"/>
      <p:bldP spid="193553"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77330"/>
            <a:ext cx="12192000" cy="5371070"/>
          </a:xfrm>
        </p:spPr>
        <p:txBody>
          <a:bodyPr/>
          <a:lstStyle/>
          <a:p>
            <a:pPr eaLnBrk="1" hangingPunct="1"/>
            <a:endParaRPr lang="en-US" altLang="en-US" dirty="0"/>
          </a:p>
        </p:txBody>
      </p:sp>
      <p:sp>
        <p:nvSpPr>
          <p:cNvPr id="4" name="Rounded Rectangle 3"/>
          <p:cNvSpPr/>
          <p:nvPr/>
        </p:nvSpPr>
        <p:spPr bwMode="auto">
          <a:xfrm>
            <a:off x="304800" y="1676400"/>
            <a:ext cx="3352800" cy="3124200"/>
          </a:xfrm>
          <a:prstGeom prst="roundRect">
            <a:avLst/>
          </a:prstGeom>
          <a:blipFill>
            <a:blip r:embed="rId2"/>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200" b="1" dirty="0" err="1">
                <a:latin typeface="+mn-lt"/>
                <a:cs typeface="Times New Roman" pitchFamily="18" charset="0"/>
              </a:rPr>
              <a:t>Người</a:t>
            </a:r>
            <a:r>
              <a:rPr lang="en-US" sz="3200" b="1" dirty="0">
                <a:latin typeface="+mn-lt"/>
                <a:cs typeface="Times New Roman" pitchFamily="18" charset="0"/>
              </a:rPr>
              <a:t> SX </a:t>
            </a:r>
            <a:r>
              <a:rPr lang="en-US" sz="3200" b="1" dirty="0" err="1">
                <a:latin typeface="+mn-lt"/>
                <a:cs typeface="Times New Roman" pitchFamily="18" charset="0"/>
              </a:rPr>
              <a:t>nếu</a:t>
            </a:r>
            <a:r>
              <a:rPr lang="en-US" sz="3200" b="1" dirty="0">
                <a:latin typeface="+mn-lt"/>
                <a:cs typeface="Times New Roman" pitchFamily="18" charset="0"/>
              </a:rPr>
              <a:t> </a:t>
            </a:r>
            <a:r>
              <a:rPr lang="en-US" sz="3200" b="1" dirty="0" err="1">
                <a:latin typeface="+mn-lt"/>
                <a:cs typeface="Times New Roman" pitchFamily="18" charset="0"/>
              </a:rPr>
              <a:t>hao</a:t>
            </a:r>
            <a:r>
              <a:rPr lang="en-US" sz="3200" b="1" dirty="0">
                <a:latin typeface="+mn-lt"/>
                <a:cs typeface="Times New Roman" pitchFamily="18" charset="0"/>
              </a:rPr>
              <a:t> </a:t>
            </a:r>
            <a:r>
              <a:rPr lang="en-US" sz="3200" b="1" dirty="0" err="1">
                <a:latin typeface="+mn-lt"/>
                <a:cs typeface="Times New Roman" pitchFamily="18" charset="0"/>
              </a:rPr>
              <a:t>phí</a:t>
            </a:r>
            <a:r>
              <a:rPr lang="en-US" sz="3200" b="1" dirty="0">
                <a:latin typeface="+mn-lt"/>
                <a:cs typeface="Times New Roman" pitchFamily="18" charset="0"/>
              </a:rPr>
              <a:t> </a:t>
            </a:r>
            <a:r>
              <a:rPr lang="en-US" sz="3200" b="1" dirty="0" err="1">
                <a:latin typeface="+mn-lt"/>
                <a:cs typeface="Times New Roman" pitchFamily="18" charset="0"/>
              </a:rPr>
              <a:t>lao</a:t>
            </a:r>
            <a:r>
              <a:rPr lang="en-US" sz="3200" b="1" dirty="0">
                <a:latin typeface="+mn-lt"/>
                <a:cs typeface="Times New Roman" pitchFamily="18" charset="0"/>
              </a:rPr>
              <a:t> </a:t>
            </a:r>
            <a:r>
              <a:rPr lang="en-US" sz="3200" b="1" dirty="0" err="1">
                <a:latin typeface="+mn-lt"/>
                <a:cs typeface="Times New Roman" pitchFamily="18" charset="0"/>
              </a:rPr>
              <a:t>động</a:t>
            </a:r>
            <a:r>
              <a:rPr lang="en-US" sz="3200" b="1" dirty="0">
                <a:latin typeface="+mn-lt"/>
                <a:cs typeface="Times New Roman" pitchFamily="18" charset="0"/>
              </a:rPr>
              <a:t> </a:t>
            </a:r>
            <a:r>
              <a:rPr lang="en-US" sz="3200" b="1" dirty="0" err="1">
                <a:latin typeface="+mn-lt"/>
                <a:cs typeface="Times New Roman" pitchFamily="18" charset="0"/>
              </a:rPr>
              <a:t>cá</a:t>
            </a:r>
            <a:r>
              <a:rPr lang="en-US" sz="3200" b="1" dirty="0">
                <a:latin typeface="+mn-lt"/>
                <a:cs typeface="Times New Roman" pitchFamily="18" charset="0"/>
              </a:rPr>
              <a:t> </a:t>
            </a:r>
            <a:r>
              <a:rPr lang="en-US" sz="3200" b="1" dirty="0" err="1">
                <a:latin typeface="+mn-lt"/>
                <a:cs typeface="Times New Roman" pitchFamily="18" charset="0"/>
              </a:rPr>
              <a:t>biệt</a:t>
            </a:r>
            <a:r>
              <a:rPr lang="en-US" sz="3200" b="1" dirty="0">
                <a:latin typeface="+mn-lt"/>
                <a:cs typeface="Times New Roman" pitchFamily="18" charset="0"/>
              </a:rPr>
              <a:t> &lt; </a:t>
            </a:r>
            <a:r>
              <a:rPr lang="en-US" sz="3200" b="1" dirty="0" err="1">
                <a:latin typeface="+mn-lt"/>
                <a:cs typeface="Times New Roman" pitchFamily="18" charset="0"/>
              </a:rPr>
              <a:t>hao</a:t>
            </a:r>
            <a:r>
              <a:rPr lang="en-US" sz="3200" b="1" dirty="0">
                <a:latin typeface="+mn-lt"/>
                <a:cs typeface="Times New Roman" pitchFamily="18" charset="0"/>
              </a:rPr>
              <a:t> </a:t>
            </a:r>
            <a:r>
              <a:rPr lang="en-US" sz="3200" b="1" dirty="0" err="1">
                <a:latin typeface="+mn-lt"/>
                <a:cs typeface="Times New Roman" pitchFamily="18" charset="0"/>
              </a:rPr>
              <a:t>phí</a:t>
            </a:r>
            <a:r>
              <a:rPr lang="en-US" sz="3200" b="1" dirty="0">
                <a:latin typeface="+mn-lt"/>
                <a:cs typeface="Times New Roman" pitchFamily="18" charset="0"/>
              </a:rPr>
              <a:t> LĐXH CT</a:t>
            </a:r>
            <a:endParaRPr lang="en-US" sz="3200" b="1" dirty="0">
              <a:latin typeface="+mn-lt"/>
              <a:cs typeface="+mn-cs"/>
            </a:endParaRPr>
          </a:p>
        </p:txBody>
      </p:sp>
      <p:sp>
        <p:nvSpPr>
          <p:cNvPr id="5" name="Oval 4"/>
          <p:cNvSpPr/>
          <p:nvPr/>
        </p:nvSpPr>
        <p:spPr bwMode="auto">
          <a:xfrm>
            <a:off x="4368800" y="2667000"/>
            <a:ext cx="2540000" cy="1143000"/>
          </a:xfrm>
          <a:prstGeom prst="ellipse">
            <a:avLst/>
          </a:prstGeom>
          <a:solidFill>
            <a:srgbClr val="FF0000"/>
          </a:solidFill>
          <a:ln w="9525" cap="flat" cmpd="sng" algn="ctr">
            <a:solidFill>
              <a:schemeClr val="tx1"/>
            </a:solidFill>
            <a:prstDash val="solid"/>
            <a:round/>
            <a:headEnd type="none" w="med" len="med"/>
            <a:tailEnd type="none" w="med" len="med"/>
          </a:ln>
          <a:effectLst/>
          <a:scene3d>
            <a:camera prst="orthographicFront"/>
            <a:lightRig rig="threePt" dir="t"/>
          </a:scene3d>
          <a:sp3d>
            <a:bevelT w="139700" h="139700" prst="divot"/>
          </a:sp3d>
        </p:spPr>
        <p:txBody>
          <a:bodyPr/>
          <a:lstStyle/>
          <a:p>
            <a:pPr fontAlgn="auto">
              <a:spcBef>
                <a:spcPts val="0"/>
              </a:spcBef>
              <a:spcAft>
                <a:spcPts val="0"/>
              </a:spcAft>
              <a:defRPr/>
            </a:pPr>
            <a:r>
              <a:rPr lang="en-US" sz="3400" b="1" dirty="0">
                <a:solidFill>
                  <a:srgbClr val="FFFF73"/>
                </a:solidFill>
                <a:latin typeface="+mn-lt"/>
                <a:cs typeface="Times New Roman" pitchFamily="18" charset="0"/>
              </a:rPr>
              <a:t>GIÀU</a:t>
            </a:r>
            <a:endParaRPr lang="en-US" sz="3400" dirty="0">
              <a:solidFill>
                <a:srgbClr val="FFFF73"/>
              </a:solidFill>
              <a:latin typeface="+mn-lt"/>
              <a:cs typeface="+mn-cs"/>
            </a:endParaRPr>
          </a:p>
        </p:txBody>
      </p:sp>
      <p:sp>
        <p:nvSpPr>
          <p:cNvPr id="6" name="Rounded Rectangle 5"/>
          <p:cNvSpPr/>
          <p:nvPr/>
        </p:nvSpPr>
        <p:spPr bwMode="auto">
          <a:xfrm>
            <a:off x="7620000" y="1143000"/>
            <a:ext cx="4267200" cy="4191000"/>
          </a:xfrm>
          <a:prstGeom prst="roundRect">
            <a:avLst/>
          </a:prstGeom>
          <a:blipFill>
            <a:blip r:embed="rId2"/>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200" b="1" dirty="0" err="1">
                <a:latin typeface="+mn-lt"/>
                <a:cs typeface="Times New Roman" pitchFamily="18" charset="0"/>
              </a:rPr>
              <a:t>Muốn</a:t>
            </a:r>
            <a:r>
              <a:rPr lang="en-US" sz="3200" b="1" dirty="0">
                <a:latin typeface="+mn-lt"/>
                <a:cs typeface="Times New Roman" pitchFamily="18" charset="0"/>
              </a:rPr>
              <a:t> </a:t>
            </a:r>
            <a:r>
              <a:rPr lang="en-US" sz="3200" b="1" dirty="0" err="1">
                <a:latin typeface="+mn-lt"/>
                <a:cs typeface="Times New Roman" pitchFamily="18" charset="0"/>
              </a:rPr>
              <a:t>vậy</a:t>
            </a:r>
            <a:r>
              <a:rPr lang="en-US" sz="3200" b="1" dirty="0">
                <a:latin typeface="+mn-lt"/>
                <a:cs typeface="Times New Roman" pitchFamily="18" charset="0"/>
              </a:rPr>
              <a:t> </a:t>
            </a:r>
            <a:r>
              <a:rPr lang="en-US" sz="3200" b="1" dirty="0" err="1">
                <a:latin typeface="+mn-lt"/>
                <a:cs typeface="Times New Roman" pitchFamily="18" charset="0"/>
              </a:rPr>
              <a:t>phải</a:t>
            </a:r>
            <a:r>
              <a:rPr lang="en-US" sz="3200" b="1" dirty="0">
                <a:latin typeface="+mn-lt"/>
                <a:cs typeface="Times New Roman" pitchFamily="18" charset="0"/>
              </a:rPr>
              <a:t> </a:t>
            </a:r>
            <a:r>
              <a:rPr lang="en-US" sz="3200" b="1" dirty="0" err="1">
                <a:solidFill>
                  <a:srgbClr val="0000CC"/>
                </a:solidFill>
                <a:latin typeface="+mn-lt"/>
                <a:cs typeface="Times New Roman" pitchFamily="18" charset="0"/>
              </a:rPr>
              <a:t>cải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tiến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kỹ</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thuật</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cải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tiến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tổ</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chức</a:t>
            </a:r>
            <a:r>
              <a:rPr lang="en-US" sz="3200" b="1" dirty="0">
                <a:solidFill>
                  <a:srgbClr val="0000CC"/>
                </a:solidFill>
                <a:latin typeface="+mn-lt"/>
                <a:cs typeface="Times New Roman" pitchFamily="18" charset="0"/>
              </a:rPr>
              <a:t> , </a:t>
            </a:r>
            <a:r>
              <a:rPr lang="en-US" sz="3200" b="1" dirty="0" err="1">
                <a:solidFill>
                  <a:srgbClr val="0000CC"/>
                </a:solidFill>
                <a:latin typeface="+mn-lt"/>
                <a:cs typeface="Times New Roman" pitchFamily="18" charset="0"/>
              </a:rPr>
              <a:t>quản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lý</a:t>
            </a:r>
            <a:r>
              <a:rPr lang="en-US" sz="3200" b="1" dirty="0">
                <a:latin typeface="+mn-lt"/>
                <a:cs typeface="Times New Roman" pitchFamily="18" charset="0"/>
              </a:rPr>
              <a:t>, </a:t>
            </a:r>
            <a:r>
              <a:rPr lang="en-US" sz="3200" b="1" dirty="0" err="1">
                <a:latin typeface="+mn-lt"/>
                <a:cs typeface="Times New Roman" pitchFamily="18" charset="0"/>
              </a:rPr>
              <a:t>để</a:t>
            </a:r>
            <a:r>
              <a:rPr lang="en-US" sz="3200" b="1" dirty="0">
                <a:latin typeface="+mn-lt"/>
                <a:cs typeface="Times New Roman" pitchFamily="18" charset="0"/>
              </a:rPr>
              <a:t> </a:t>
            </a:r>
            <a:r>
              <a:rPr lang="en-US" sz="3200" b="1" dirty="0" err="1">
                <a:latin typeface="+mn-lt"/>
                <a:cs typeface="Times New Roman" pitchFamily="18" charset="0"/>
              </a:rPr>
              <a:t>nâng</a:t>
            </a:r>
            <a:r>
              <a:rPr lang="en-US" sz="3200" b="1" dirty="0">
                <a:latin typeface="+mn-lt"/>
                <a:cs typeface="Times New Roman" pitchFamily="18" charset="0"/>
              </a:rPr>
              <a:t> </a:t>
            </a:r>
            <a:r>
              <a:rPr lang="en-US" sz="3200" b="1" dirty="0" err="1">
                <a:latin typeface="+mn-lt"/>
                <a:cs typeface="Times New Roman" pitchFamily="18" charset="0"/>
              </a:rPr>
              <a:t>cao</a:t>
            </a:r>
            <a:r>
              <a:rPr lang="en-US" sz="3200" b="1" dirty="0">
                <a:latin typeface="+mn-lt"/>
                <a:cs typeface="Times New Roman" pitchFamily="18" charset="0"/>
              </a:rPr>
              <a:t> NSLĐ </a:t>
            </a:r>
            <a:r>
              <a:rPr lang="en-US" sz="3200" b="1" dirty="0" err="1">
                <a:latin typeface="+mn-lt"/>
                <a:cs typeface="Times New Roman" pitchFamily="18" charset="0"/>
              </a:rPr>
              <a:t>hạ</a:t>
            </a:r>
            <a:r>
              <a:rPr lang="en-US" sz="3200" b="1" dirty="0">
                <a:latin typeface="+mn-lt"/>
                <a:cs typeface="Times New Roman" pitchFamily="18" charset="0"/>
              </a:rPr>
              <a:t> </a:t>
            </a:r>
            <a:r>
              <a:rPr lang="en-US" sz="3200" b="1" dirty="0" err="1">
                <a:latin typeface="+mn-lt"/>
                <a:cs typeface="Times New Roman" pitchFamily="18" charset="0"/>
              </a:rPr>
              <a:t>giá</a:t>
            </a:r>
            <a:r>
              <a:rPr lang="en-US" sz="3200" b="1" dirty="0">
                <a:latin typeface="+mn-lt"/>
                <a:cs typeface="Times New Roman" pitchFamily="18" charset="0"/>
              </a:rPr>
              <a:t> </a:t>
            </a:r>
            <a:r>
              <a:rPr lang="en-US" sz="3200" b="1" dirty="0" err="1">
                <a:latin typeface="+mn-lt"/>
                <a:cs typeface="Times New Roman" pitchFamily="18" charset="0"/>
              </a:rPr>
              <a:t>thành</a:t>
            </a:r>
            <a:r>
              <a:rPr lang="en-US" sz="3200" b="1" dirty="0">
                <a:latin typeface="+mn-lt"/>
                <a:cs typeface="Times New Roman" pitchFamily="18" charset="0"/>
              </a:rPr>
              <a:t> </a:t>
            </a:r>
            <a:r>
              <a:rPr lang="en-US" sz="3200" b="1" dirty="0" err="1">
                <a:latin typeface="+mn-lt"/>
                <a:cs typeface="Times New Roman" pitchFamily="18" charset="0"/>
              </a:rPr>
              <a:t>sản</a:t>
            </a:r>
            <a:r>
              <a:rPr lang="en-US" sz="3200" b="1" dirty="0">
                <a:latin typeface="+mn-lt"/>
                <a:cs typeface="Times New Roman" pitchFamily="18" charset="0"/>
              </a:rPr>
              <a:t> </a:t>
            </a:r>
            <a:r>
              <a:rPr lang="en-US" sz="3200" b="1" dirty="0" err="1">
                <a:latin typeface="+mn-lt"/>
                <a:cs typeface="Times New Roman" pitchFamily="18" charset="0"/>
              </a:rPr>
              <a:t>phẩm</a:t>
            </a:r>
            <a:r>
              <a:rPr lang="en-US" sz="3200" b="1" dirty="0">
                <a:latin typeface="+mn-lt"/>
                <a:cs typeface="Times New Roman" pitchFamily="18" charset="0"/>
              </a:rPr>
              <a:t> </a:t>
            </a:r>
            <a:endParaRPr lang="en-US" sz="3200" b="1" dirty="0">
              <a:latin typeface="+mn-lt"/>
              <a:cs typeface="+mn-cs"/>
            </a:endParaRPr>
          </a:p>
        </p:txBody>
      </p:sp>
      <p:sp>
        <p:nvSpPr>
          <p:cNvPr id="9" name="Right Arrow 8"/>
          <p:cNvSpPr>
            <a:spLocks noChangeArrowheads="1"/>
          </p:cNvSpPr>
          <p:nvPr/>
        </p:nvSpPr>
        <p:spPr bwMode="auto">
          <a:xfrm>
            <a:off x="3759200" y="3048000"/>
            <a:ext cx="508000" cy="304800"/>
          </a:xfrm>
          <a:prstGeom prst="rightArrow">
            <a:avLst>
              <a:gd name="adj1" fmla="val 50000"/>
              <a:gd name="adj2" fmla="val 50000"/>
            </a:avLst>
          </a:prstGeom>
          <a:solidFill>
            <a:srgbClr val="00FF00"/>
          </a:solidFill>
          <a:ln w="9525" algn="ctr">
            <a:solidFill>
              <a:schemeClr val="tx1"/>
            </a:solid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Times New Roman" pitchFamily="18" charset="0"/>
            </a:endParaRPr>
          </a:p>
        </p:txBody>
      </p:sp>
      <p:sp>
        <p:nvSpPr>
          <p:cNvPr id="10" name="Right Arrow 9"/>
          <p:cNvSpPr>
            <a:spLocks noChangeArrowheads="1"/>
          </p:cNvSpPr>
          <p:nvPr/>
        </p:nvSpPr>
        <p:spPr bwMode="auto">
          <a:xfrm>
            <a:off x="7010400" y="3048000"/>
            <a:ext cx="508000" cy="304800"/>
          </a:xfrm>
          <a:prstGeom prst="rightArrow">
            <a:avLst>
              <a:gd name="adj1" fmla="val 50000"/>
              <a:gd name="adj2" fmla="val 50000"/>
            </a:avLst>
          </a:prstGeom>
          <a:solidFill>
            <a:srgbClr val="00FF00"/>
          </a:solidFill>
          <a:ln w="9525" algn="ctr">
            <a:solidFill>
              <a:schemeClr val="tx1"/>
            </a:solid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Times New Roman" pitchFamily="18" charset="0"/>
            </a:endParaRPr>
          </a:p>
        </p:txBody>
      </p:sp>
      <p:sp>
        <p:nvSpPr>
          <p:cNvPr id="11" name="Rounded Rectangle 10"/>
          <p:cNvSpPr/>
          <p:nvPr/>
        </p:nvSpPr>
        <p:spPr bwMode="auto">
          <a:xfrm>
            <a:off x="304800" y="5486400"/>
            <a:ext cx="11582400" cy="1143000"/>
          </a:xfrm>
          <a:prstGeom prst="roundRect">
            <a:avLst/>
          </a:prstGeom>
          <a:blipFill>
            <a:blip r:embed="rId3"/>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000" b="1" dirty="0" err="1">
                <a:latin typeface="+mn-lt"/>
                <a:cs typeface="Times New Roman" pitchFamily="18" charset="0"/>
              </a:rPr>
              <a:t>Từng</a:t>
            </a:r>
            <a:r>
              <a:rPr lang="en-US" sz="3000" b="1" dirty="0">
                <a:latin typeface="+mn-lt"/>
                <a:cs typeface="Times New Roman" pitchFamily="18" charset="0"/>
              </a:rPr>
              <a:t> </a:t>
            </a:r>
            <a:r>
              <a:rPr lang="en-US" sz="3000" b="1" dirty="0" err="1">
                <a:latin typeface="+mn-lt"/>
                <a:cs typeface="Times New Roman" pitchFamily="18" charset="0"/>
              </a:rPr>
              <a:t>người</a:t>
            </a:r>
            <a:r>
              <a:rPr lang="en-US" sz="3000" b="1" dirty="0">
                <a:latin typeface="+mn-lt"/>
                <a:cs typeface="Times New Roman" pitchFamily="18" charset="0"/>
              </a:rPr>
              <a:t> </a:t>
            </a:r>
            <a:r>
              <a:rPr lang="en-US" sz="3000" b="1" dirty="0" err="1">
                <a:latin typeface="+mn-lt"/>
                <a:cs typeface="Times New Roman" pitchFamily="18" charset="0"/>
              </a:rPr>
              <a:t>vì</a:t>
            </a:r>
            <a:r>
              <a:rPr lang="en-US" sz="3000" b="1" dirty="0">
                <a:latin typeface="+mn-lt"/>
                <a:cs typeface="Times New Roman" pitchFamily="18" charset="0"/>
              </a:rPr>
              <a:t> </a:t>
            </a:r>
            <a:r>
              <a:rPr lang="en-US" sz="3000" b="1" dirty="0" err="1">
                <a:latin typeface="+mn-lt"/>
                <a:cs typeface="Times New Roman" pitchFamily="18" charset="0"/>
              </a:rPr>
              <a:t>lợi</a:t>
            </a:r>
            <a:r>
              <a:rPr lang="en-US" sz="3000" b="1" dirty="0">
                <a:latin typeface="+mn-lt"/>
                <a:cs typeface="Times New Roman" pitchFamily="18" charset="0"/>
              </a:rPr>
              <a:t> </a:t>
            </a:r>
            <a:r>
              <a:rPr lang="en-US" sz="3000" b="1" dirty="0" err="1">
                <a:latin typeface="+mn-lt"/>
                <a:cs typeface="Times New Roman" pitchFamily="18" charset="0"/>
              </a:rPr>
              <a:t>ích</a:t>
            </a:r>
            <a:r>
              <a:rPr lang="en-US" sz="3000" b="1" dirty="0">
                <a:latin typeface="+mn-lt"/>
                <a:cs typeface="Times New Roman" pitchFamily="18" charset="0"/>
              </a:rPr>
              <a:t> </a:t>
            </a:r>
            <a:r>
              <a:rPr lang="en-US" sz="3000" b="1" dirty="0" err="1">
                <a:latin typeface="+mn-lt"/>
                <a:cs typeface="Times New Roman" pitchFamily="18" charset="0"/>
              </a:rPr>
              <a:t>của</a:t>
            </a:r>
            <a:r>
              <a:rPr lang="en-US" sz="3000" b="1" dirty="0">
                <a:latin typeface="+mn-lt"/>
                <a:cs typeface="Times New Roman" pitchFamily="18" charset="0"/>
              </a:rPr>
              <a:t> </a:t>
            </a:r>
            <a:r>
              <a:rPr lang="en-US" sz="3000" b="1" dirty="0" err="1">
                <a:latin typeface="+mn-lt"/>
                <a:cs typeface="Times New Roman" pitchFamily="18" charset="0"/>
              </a:rPr>
              <a:t>mình</a:t>
            </a:r>
            <a:r>
              <a:rPr lang="en-US" sz="3000" b="1" dirty="0">
                <a:latin typeface="+mn-lt"/>
                <a:cs typeface="Times New Roman" pitchFamily="18" charset="0"/>
              </a:rPr>
              <a:t> </a:t>
            </a:r>
            <a:r>
              <a:rPr lang="en-US" sz="3000" b="1" dirty="0" err="1">
                <a:latin typeface="+mn-lt"/>
                <a:cs typeface="Times New Roman" pitchFamily="18" charset="0"/>
              </a:rPr>
              <a:t>mà</a:t>
            </a:r>
            <a:r>
              <a:rPr lang="en-US" sz="3000" b="1" dirty="0">
                <a:latin typeface="+mn-lt"/>
                <a:cs typeface="Times New Roman" pitchFamily="18" charset="0"/>
              </a:rPr>
              <a:t> </a:t>
            </a:r>
            <a:r>
              <a:rPr lang="en-US" sz="3000" b="1" dirty="0" err="1">
                <a:latin typeface="+mn-lt"/>
                <a:cs typeface="Times New Roman" pitchFamily="18" charset="0"/>
              </a:rPr>
              <a:t>tìm</a:t>
            </a:r>
            <a:r>
              <a:rPr lang="en-US" sz="3000" b="1" dirty="0">
                <a:latin typeface="+mn-lt"/>
                <a:cs typeface="Times New Roman" pitchFamily="18" charset="0"/>
              </a:rPr>
              <a:t> </a:t>
            </a:r>
            <a:r>
              <a:rPr lang="en-US" sz="3000" b="1" dirty="0" err="1">
                <a:latin typeface="+mn-lt"/>
                <a:cs typeface="Times New Roman" pitchFamily="18" charset="0"/>
              </a:rPr>
              <a:t>cách</a:t>
            </a:r>
            <a:r>
              <a:rPr lang="en-US" sz="3000" b="1" dirty="0">
                <a:latin typeface="+mn-lt"/>
                <a:cs typeface="Times New Roman" pitchFamily="18" charset="0"/>
              </a:rPr>
              <a:t> </a:t>
            </a:r>
            <a:r>
              <a:rPr lang="en-US" sz="3200" b="1" dirty="0" err="1">
                <a:solidFill>
                  <a:srgbClr val="FF0000"/>
                </a:solidFill>
                <a:latin typeface="+mn-lt"/>
                <a:cs typeface="Times New Roman" pitchFamily="18" charset="0"/>
              </a:rPr>
              <a:t>cải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tiến</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kỹ</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thuật</a:t>
            </a:r>
            <a:r>
              <a:rPr lang="en-US" sz="3200" b="1" dirty="0">
                <a:solidFill>
                  <a:srgbClr val="FF0000"/>
                </a:solidFill>
                <a:latin typeface="+mn-lt"/>
                <a:cs typeface="Times New Roman" pitchFamily="18" charset="0"/>
              </a:rPr>
              <a:t> </a:t>
            </a:r>
            <a:r>
              <a:rPr lang="en-US" sz="3000" b="1" dirty="0" err="1">
                <a:solidFill>
                  <a:srgbClr val="0000CC"/>
                </a:solidFill>
                <a:latin typeface="+mn-lt"/>
                <a:cs typeface="Times New Roman" pitchFamily="18" charset="0"/>
              </a:rPr>
              <a:t>sẽ</a:t>
            </a:r>
            <a:r>
              <a:rPr lang="en-US" sz="3000" b="1" dirty="0">
                <a:solidFill>
                  <a:srgbClr val="0000CC"/>
                </a:solidFill>
                <a:latin typeface="+mn-lt"/>
                <a:cs typeface="Times New Roman" pitchFamily="18" charset="0"/>
              </a:rPr>
              <a:t> </a:t>
            </a:r>
            <a:r>
              <a:rPr lang="en-US" sz="3000" b="1" dirty="0" err="1">
                <a:solidFill>
                  <a:srgbClr val="0000CC"/>
                </a:solidFill>
                <a:latin typeface="+mn-lt"/>
                <a:cs typeface="Times New Roman" pitchFamily="18" charset="0"/>
              </a:rPr>
              <a:t>thúc</a:t>
            </a:r>
            <a:r>
              <a:rPr lang="en-US" sz="3000" b="1" dirty="0">
                <a:solidFill>
                  <a:srgbClr val="0000CC"/>
                </a:solidFill>
                <a:latin typeface="+mn-lt"/>
                <a:cs typeface="Times New Roman" pitchFamily="18" charset="0"/>
              </a:rPr>
              <a:t> </a:t>
            </a:r>
            <a:r>
              <a:rPr lang="en-US" sz="3000" b="1" dirty="0" err="1">
                <a:solidFill>
                  <a:srgbClr val="0000CC"/>
                </a:solidFill>
                <a:latin typeface="+mn-lt"/>
                <a:cs typeface="Times New Roman" pitchFamily="18" charset="0"/>
              </a:rPr>
              <a:t>đẩy</a:t>
            </a:r>
            <a:r>
              <a:rPr lang="en-US" sz="3000" b="1" dirty="0">
                <a:solidFill>
                  <a:srgbClr val="0000CC"/>
                </a:solidFill>
                <a:latin typeface="+mn-lt"/>
                <a:cs typeface="Times New Roman" pitchFamily="18" charset="0"/>
              </a:rPr>
              <a:t> LLSX </a:t>
            </a:r>
            <a:r>
              <a:rPr lang="en-US" sz="3000" b="1" dirty="0" err="1">
                <a:solidFill>
                  <a:srgbClr val="0000CC"/>
                </a:solidFill>
                <a:latin typeface="+mn-lt"/>
                <a:cs typeface="Times New Roman" pitchFamily="18" charset="0"/>
              </a:rPr>
              <a:t>của</a:t>
            </a:r>
            <a:r>
              <a:rPr lang="en-US" sz="3000" b="1" dirty="0">
                <a:solidFill>
                  <a:srgbClr val="0000CC"/>
                </a:solidFill>
                <a:latin typeface="+mn-lt"/>
                <a:cs typeface="Times New Roman" pitchFamily="18" charset="0"/>
              </a:rPr>
              <a:t> XH </a:t>
            </a:r>
            <a:r>
              <a:rPr lang="en-US" sz="3000" b="1" dirty="0" err="1">
                <a:solidFill>
                  <a:srgbClr val="0000CC"/>
                </a:solidFill>
                <a:latin typeface="+mn-lt"/>
                <a:cs typeface="Times New Roman" pitchFamily="18" charset="0"/>
              </a:rPr>
              <a:t>phát</a:t>
            </a:r>
            <a:r>
              <a:rPr lang="en-US" sz="30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triển</a:t>
            </a:r>
            <a:endParaRPr lang="en-US" sz="3200" dirty="0">
              <a:solidFill>
                <a:srgbClr val="0000CC"/>
              </a:solidFill>
              <a:latin typeface="+mn-lt"/>
              <a:cs typeface="+mn-cs"/>
            </a:endParaRPr>
          </a:p>
        </p:txBody>
      </p:sp>
      <p:sp>
        <p:nvSpPr>
          <p:cNvPr id="2" name="TextBox 1"/>
          <p:cNvSpPr txBox="1"/>
          <p:nvPr/>
        </p:nvSpPr>
        <p:spPr>
          <a:xfrm>
            <a:off x="2710935" y="271854"/>
            <a:ext cx="9106930" cy="1384995"/>
          </a:xfrm>
          <a:prstGeom prst="rect">
            <a:avLst/>
          </a:prstGeom>
          <a:noFill/>
        </p:spPr>
        <p:txBody>
          <a:bodyPr wrap="square" rtlCol="0">
            <a:spAutoFit/>
          </a:bodyPr>
          <a:lstStyle/>
          <a:p>
            <a:r>
              <a:rPr lang="en-US" altLang="en-US" sz="2800" b="1" u="sng" dirty="0">
                <a:solidFill>
                  <a:srgbClr val="FF3300"/>
                </a:solidFill>
                <a:latin typeface="Times New Roman" pitchFamily="18" charset="0"/>
                <a:cs typeface="Times New Roman" pitchFamily="18" charset="0"/>
              </a:rPr>
              <a:t>- Kích thích cải tiến kỹ thuật, hợp lý hoá sản</a:t>
            </a:r>
            <a:r>
              <a:rPr lang="en-US" altLang="en-US" sz="2800" dirty="0">
                <a:latin typeface="Times New Roman" pitchFamily="18" charset="0"/>
                <a:cs typeface="Times New Roman" pitchFamily="18" charset="0"/>
              </a:rPr>
              <a:t> </a:t>
            </a:r>
            <a:r>
              <a:rPr lang="en-US" altLang="en-US" sz="2800" b="1" u="sng" dirty="0">
                <a:solidFill>
                  <a:srgbClr val="FF3300"/>
                </a:solidFill>
                <a:latin typeface="Times New Roman" pitchFamily="18" charset="0"/>
                <a:cs typeface="Times New Roman" pitchFamily="18" charset="0"/>
              </a:rPr>
              <a:t>xuất, tăng năng suất lao động</a:t>
            </a:r>
            <a:r>
              <a:rPr lang="en-US" altLang="en-US" sz="2800" dirty="0">
                <a:latin typeface="Times New Roman" pitchFamily="18" charset="0"/>
                <a:cs typeface="Times New Roman" pitchFamily="18" charset="0"/>
              </a:rPr>
              <a:t>    </a:t>
            </a:r>
          </a:p>
          <a:p>
            <a:endParaRPr lang="en-US" sz="2800" dirty="0"/>
          </a:p>
        </p:txBody>
      </p:sp>
    </p:spTree>
    <p:extLst>
      <p:ext uri="{BB962C8B-B14F-4D97-AF65-F5344CB8AC3E}">
        <p14:creationId xmlns:p14="http://schemas.microsoft.com/office/powerpoint/2010/main" val="416832282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childTnLst>
                                </p:cTn>
                              </p:par>
                              <p:par>
                                <p:cTn id="20" presetID="23" presetClass="entr" presetSubtype="16"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checkerboard(across)">
                                      <p:cBhvr>
                                        <p:cTn id="28" dur="500"/>
                                        <p:tgtEl>
                                          <p:spTgt spid="10"/>
                                        </p:tgtEl>
                                      </p:cBhvr>
                                    </p:animEffect>
                                  </p:childTnLst>
                                </p:cTn>
                              </p:par>
                              <p:par>
                                <p:cTn id="29" presetID="5" presetClass="entr" presetSubtype="1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heckerboard(across)">
                                      <p:cBhvr>
                                        <p:cTn id="31" dur="500"/>
                                        <p:tgtEl>
                                          <p:spTgt spid="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54908"/>
            <a:ext cx="12192000" cy="6203092"/>
          </a:xfrm>
        </p:spPr>
        <p:txBody>
          <a:bodyPr/>
          <a:lstStyle/>
          <a:p>
            <a:pPr marL="0" indent="0" algn="ctr" eaLnBrk="1" hangingPunct="1">
              <a:buNone/>
            </a:pPr>
            <a:endParaRPr lang="en-US" altLang="en-US" dirty="0">
              <a:latin typeface="Times New Roman" pitchFamily="18" charset="0"/>
              <a:cs typeface="Times New Roman" pitchFamily="18" charset="0"/>
            </a:endParaRPr>
          </a:p>
        </p:txBody>
      </p:sp>
      <p:sp>
        <p:nvSpPr>
          <p:cNvPr id="4" name="Rounded Rectangle 3"/>
          <p:cNvSpPr/>
          <p:nvPr/>
        </p:nvSpPr>
        <p:spPr bwMode="auto">
          <a:xfrm>
            <a:off x="508000" y="1219200"/>
            <a:ext cx="11277600" cy="1143000"/>
          </a:xfrm>
          <a:prstGeom prst="roundRect">
            <a:avLst/>
          </a:prstGeom>
          <a:blipFill>
            <a:blip r:embed="rId2"/>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fontAlgn="auto">
              <a:spcBef>
                <a:spcPts val="0"/>
              </a:spcBef>
              <a:spcAft>
                <a:spcPts val="0"/>
              </a:spcAft>
              <a:defRPr/>
            </a:pP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Người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nào</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có</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trị</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biệt</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nhỏ</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hơn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trị</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xã</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hội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có</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lợi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trở</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nên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giàu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có</a:t>
            </a:r>
            <a:endParaRPr lang="en-US" sz="3200" b="1" dirty="0">
              <a:solidFill>
                <a:srgbClr val="0000CC"/>
              </a:solidFill>
              <a:latin typeface="+mn-lt"/>
              <a:cs typeface="+mn-cs"/>
            </a:endParaRPr>
          </a:p>
        </p:txBody>
      </p:sp>
      <p:sp>
        <p:nvSpPr>
          <p:cNvPr id="5" name="Rounded Rectangle 4"/>
          <p:cNvSpPr/>
          <p:nvPr/>
        </p:nvSpPr>
        <p:spPr bwMode="auto">
          <a:xfrm>
            <a:off x="508000" y="2438400"/>
            <a:ext cx="11277600" cy="1143000"/>
          </a:xfrm>
          <a:prstGeom prst="roundRect">
            <a:avLst/>
          </a:prstGeom>
          <a:blipFill>
            <a:blip r:embed="rId2"/>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fontAlgn="auto">
              <a:spcBef>
                <a:spcPts val="0"/>
              </a:spcBef>
              <a:spcAft>
                <a:spcPts val="0"/>
              </a:spcAft>
              <a:defRPr/>
            </a:pP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Người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nào</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có</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trị</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biệt</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lớn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hơn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giá</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trị</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xã</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hội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sẽ</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bất</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lợi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trở</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nên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nghèo</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khó</a:t>
            </a:r>
            <a:endParaRPr lang="en-US" sz="3200" b="1" dirty="0">
              <a:solidFill>
                <a:srgbClr val="0000CC"/>
              </a:solidFill>
              <a:latin typeface="+mn-lt"/>
              <a:cs typeface="+mn-cs"/>
            </a:endParaRPr>
          </a:p>
        </p:txBody>
      </p:sp>
      <p:sp>
        <p:nvSpPr>
          <p:cNvPr id="6" name="Rounded Rectangle 5"/>
          <p:cNvSpPr/>
          <p:nvPr/>
        </p:nvSpPr>
        <p:spPr bwMode="auto">
          <a:xfrm>
            <a:off x="304800" y="4267200"/>
            <a:ext cx="11582400" cy="2286000"/>
          </a:xfrm>
          <a:prstGeom prst="roundRect">
            <a:avLst>
              <a:gd name="adj" fmla="val 11111"/>
            </a:avLst>
          </a:prstGeom>
          <a:blipFill>
            <a:blip r:embed="rId3"/>
            <a:tile tx="0" ty="0" sx="100000" sy="100000" flip="none" algn="tl"/>
          </a:blip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marL="609600" indent="-609600" algn="ctr" fontAlgn="auto">
              <a:spcBef>
                <a:spcPts val="0"/>
              </a:spcBef>
              <a:spcAft>
                <a:spcPts val="0"/>
              </a:spcAft>
              <a:defRPr/>
            </a:pPr>
            <a:r>
              <a:rPr lang="en-US" sz="3200" b="1" dirty="0">
                <a:solidFill>
                  <a:srgbClr val="FF0000"/>
                </a:solidFill>
                <a:latin typeface="+mn-lt"/>
                <a:cs typeface="Times New Roman" pitchFamily="18" charset="0"/>
              </a:rPr>
              <a:t>Y/C  </a:t>
            </a:r>
            <a:r>
              <a:rPr lang="en-US" sz="3200" b="1" dirty="0" err="1">
                <a:solidFill>
                  <a:srgbClr val="FF0000"/>
                </a:solidFill>
                <a:latin typeface="+mn-lt"/>
                <a:cs typeface="Times New Roman" pitchFamily="18" charset="0"/>
              </a:rPr>
              <a:t>của</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quy</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luật</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giá</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trị</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là</a:t>
            </a:r>
            <a:r>
              <a:rPr lang="en-US" sz="3200" b="1" dirty="0">
                <a:solidFill>
                  <a:srgbClr val="FF0000"/>
                </a:solidFill>
                <a:latin typeface="+mn-lt"/>
                <a:cs typeface="Times New Roman" pitchFamily="18" charset="0"/>
              </a:rPr>
              <a:t> y/c </a:t>
            </a:r>
            <a:r>
              <a:rPr lang="en-US" sz="3200" b="1" dirty="0" err="1">
                <a:solidFill>
                  <a:srgbClr val="FF0000"/>
                </a:solidFill>
                <a:latin typeface="+mn-lt"/>
                <a:cs typeface="Times New Roman" pitchFamily="18" charset="0"/>
              </a:rPr>
              <a:t>khách</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quan</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nghiêm</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ngặt</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cho</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mọi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người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mọi</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tổ</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chức</a:t>
            </a:r>
            <a:r>
              <a:rPr lang="en-US" sz="3200" b="1" dirty="0">
                <a:solidFill>
                  <a:srgbClr val="FF0000"/>
                </a:solidFill>
                <a:latin typeface="+mn-lt"/>
                <a:cs typeface="Times New Roman" pitchFamily="18" charset="0"/>
              </a:rPr>
              <a:t> SX KD </a:t>
            </a:r>
            <a:r>
              <a:rPr lang="en-US" sz="3200" b="1" dirty="0" err="1">
                <a:solidFill>
                  <a:srgbClr val="FF0000"/>
                </a:solidFill>
                <a:latin typeface="+mn-lt"/>
                <a:cs typeface="Times New Roman" pitchFamily="18" charset="0"/>
              </a:rPr>
              <a:t>Đảm</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bảo</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công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bằng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bình</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đẳng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cho</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những</a:t>
            </a:r>
            <a:r>
              <a:rPr lang="en-US" sz="3200" b="1" dirty="0">
                <a:solidFill>
                  <a:srgbClr val="FF0000"/>
                </a:solidFill>
                <a:latin typeface="+mn-lt"/>
                <a:cs typeface="Times New Roman" pitchFamily="18" charset="0"/>
              </a:rPr>
              <a:t>  </a:t>
            </a:r>
            <a:r>
              <a:rPr lang="en-US" sz="3200" b="1" dirty="0" err="1">
                <a:solidFill>
                  <a:srgbClr val="FF0000"/>
                </a:solidFill>
                <a:latin typeface="+mn-lt"/>
                <a:cs typeface="Times New Roman" pitchFamily="18" charset="0"/>
              </a:rPr>
              <a:t>người</a:t>
            </a:r>
            <a:r>
              <a:rPr lang="en-US" sz="3200" b="1" dirty="0">
                <a:solidFill>
                  <a:srgbClr val="FF0000"/>
                </a:solidFill>
                <a:latin typeface="+mn-lt"/>
                <a:cs typeface="Times New Roman" pitchFamily="18" charset="0"/>
              </a:rPr>
              <a:t> SX</a:t>
            </a:r>
          </a:p>
        </p:txBody>
      </p:sp>
      <p:sp>
        <p:nvSpPr>
          <p:cNvPr id="7" name="Rectangle 6"/>
          <p:cNvSpPr>
            <a:spLocks noChangeArrowheads="1"/>
          </p:cNvSpPr>
          <p:nvPr/>
        </p:nvSpPr>
        <p:spPr bwMode="auto">
          <a:xfrm>
            <a:off x="406400" y="3657601"/>
            <a:ext cx="19752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3600">
                <a:latin typeface="Times New Roman" pitchFamily="18" charset="0"/>
                <a:cs typeface="Times New Roman" pitchFamily="18" charset="0"/>
              </a:rPr>
              <a:t> </a:t>
            </a:r>
            <a:r>
              <a:rPr lang="en-US" altLang="en-US" sz="3600" b="1">
                <a:solidFill>
                  <a:srgbClr val="002060"/>
                </a:solidFill>
                <a:latin typeface="Times New Roman" pitchFamily="18" charset="0"/>
                <a:cs typeface="Times New Roman" pitchFamily="18" charset="0"/>
              </a:rPr>
              <a:t>Như vậy</a:t>
            </a:r>
            <a:endParaRPr lang="en-US" altLang="en-US" sz="3600" b="1">
              <a:solidFill>
                <a:srgbClr val="002060"/>
              </a:solidFill>
              <a:latin typeface="Times New Roman" pitchFamily="18" charset="0"/>
            </a:endParaRPr>
          </a:p>
        </p:txBody>
      </p:sp>
      <p:sp>
        <p:nvSpPr>
          <p:cNvPr id="2" name="TextBox 1"/>
          <p:cNvSpPr txBox="1"/>
          <p:nvPr/>
        </p:nvSpPr>
        <p:spPr>
          <a:xfrm>
            <a:off x="2236573" y="321276"/>
            <a:ext cx="10046043" cy="954107"/>
          </a:xfrm>
          <a:prstGeom prst="rect">
            <a:avLst/>
          </a:prstGeom>
          <a:noFill/>
        </p:spPr>
        <p:txBody>
          <a:bodyPr wrap="square" rtlCol="0">
            <a:spAutoFit/>
          </a:bodyPr>
          <a:lstStyle/>
          <a:p>
            <a:r>
              <a:rPr lang="en-US" altLang="en-US" sz="2800" dirty="0">
                <a:solidFill>
                  <a:srgbClr val="FF3300"/>
                </a:solidFill>
                <a:latin typeface="Times New Roman" pitchFamily="18" charset="0"/>
                <a:cs typeface="Times New Roman" pitchFamily="18" charset="0"/>
              </a:rPr>
              <a:t>-</a:t>
            </a:r>
            <a:r>
              <a:rPr lang="en-US" altLang="en-US" sz="2800" b="1" dirty="0">
                <a:solidFill>
                  <a:srgbClr val="FF3300"/>
                </a:solidFill>
                <a:latin typeface="Times New Roman" pitchFamily="18" charset="0"/>
                <a:cs typeface="Times New Roman" pitchFamily="18" charset="0"/>
              </a:rPr>
              <a:t> </a:t>
            </a:r>
            <a:r>
              <a:rPr lang="en-US" altLang="en-US" sz="2800" b="1" u="sng" dirty="0">
                <a:solidFill>
                  <a:srgbClr val="FF3300"/>
                </a:solidFill>
                <a:latin typeface="Times New Roman" pitchFamily="18" charset="0"/>
                <a:cs typeface="Times New Roman" pitchFamily="18" charset="0"/>
              </a:rPr>
              <a:t>Phân hoá những người sản xuất hàng hoá thành giàu, nghèo</a:t>
            </a:r>
            <a:r>
              <a:rPr lang="en-US" altLang="en-US" sz="2800" b="1" dirty="0">
                <a:solidFill>
                  <a:srgbClr val="FF3300"/>
                </a:solidFill>
                <a:latin typeface="Times New Roman" pitchFamily="18" charset="0"/>
                <a:cs typeface="Times New Roman" pitchFamily="18" charset="0"/>
              </a:rPr>
              <a:t>:</a:t>
            </a:r>
            <a:endParaRPr lang="en-US" altLang="en-US" sz="2800" dirty="0">
              <a:latin typeface="Times New Roman" pitchFamily="18" charset="0"/>
              <a:cs typeface="Times New Roman" pitchFamily="18" charset="0"/>
            </a:endParaRPr>
          </a:p>
          <a:p>
            <a:endParaRPr lang="en-US" sz="2800" dirty="0"/>
          </a:p>
        </p:txBody>
      </p:sp>
    </p:spTree>
    <p:extLst>
      <p:ext uri="{BB962C8B-B14F-4D97-AF65-F5344CB8AC3E}">
        <p14:creationId xmlns:p14="http://schemas.microsoft.com/office/powerpoint/2010/main" val="64295486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 calcmode="lin" valueType="num">
                                      <p:cBhvr>
                                        <p:cTn id="23"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7">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checkerboard(across)">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Group 2"/>
          <p:cNvGrpSpPr/>
          <p:nvPr/>
        </p:nvGrpSpPr>
        <p:grpSpPr>
          <a:xfrm>
            <a:off x="0" y="914401"/>
            <a:ext cx="11887200" cy="5562599"/>
            <a:chOff x="0" y="1"/>
            <a:chExt cx="12192000" cy="6476999"/>
          </a:xfrm>
        </p:grpSpPr>
        <p:sp>
          <p:nvSpPr>
            <p:cNvPr id="111619" name="AutoShape 3"/>
            <p:cNvSpPr>
              <a:spLocks noChangeArrowheads="1"/>
            </p:cNvSpPr>
            <p:nvPr/>
          </p:nvSpPr>
          <p:spPr bwMode="auto">
            <a:xfrm>
              <a:off x="7112000" y="1828800"/>
              <a:ext cx="4775200" cy="46482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lnSpc>
                  <a:spcPct val="90000"/>
                </a:lnSpc>
                <a:spcBef>
                  <a:spcPts val="0"/>
                </a:spcBef>
                <a:spcAft>
                  <a:spcPts val="0"/>
                </a:spcAft>
                <a:buFont typeface="Wingdings" pitchFamily="2" charset="2"/>
                <a:buNone/>
                <a:defRPr/>
              </a:pPr>
              <a:r>
                <a:rPr lang="en-US" sz="3200" b="1" dirty="0" err="1">
                  <a:solidFill>
                    <a:srgbClr val="0000CC"/>
                  </a:solidFill>
                  <a:latin typeface="Times New Roman" pitchFamily="18" charset="0"/>
                  <a:cs typeface="Times New Roman" pitchFamily="18" charset="0"/>
                </a:rPr>
                <a:t>Cung</a:t>
              </a:r>
              <a:r>
                <a:rPr lang="en-US" sz="3200" b="1" dirty="0">
                  <a:solidFill>
                    <a:srgbClr val="0000CC"/>
                  </a:solidFill>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Phản ánh  khối lượng </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sản phẩm hàng hóa</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được sản xuất và</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đưa ra thị trường </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để bán. Cung do</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Sản xuất quyết</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định</a:t>
              </a:r>
            </a:p>
            <a:p>
              <a:pPr marL="609600" indent="-609600" algn="ctr" fontAlgn="auto">
                <a:lnSpc>
                  <a:spcPct val="90000"/>
                </a:lnSpc>
                <a:spcBef>
                  <a:spcPts val="0"/>
                </a:spcBef>
                <a:spcAft>
                  <a:spcPts val="0"/>
                </a:spcAft>
                <a:buFont typeface="Wingdings" pitchFamily="2" charset="2"/>
                <a:buNone/>
                <a:defRPr/>
              </a:pPr>
              <a:r>
                <a:rPr lang="en-US" sz="3200" dirty="0">
                  <a:latin typeface="Times New Roman" pitchFamily="18" charset="0"/>
                  <a:cs typeface="Times New Roman" pitchFamily="18" charset="0"/>
                </a:rPr>
                <a:t> </a:t>
              </a:r>
              <a:endParaRPr lang="en-US" sz="3200" b="1" dirty="0">
                <a:latin typeface="Times New Roman" pitchFamily="18" charset="0"/>
                <a:cs typeface="Times New Roman" pitchFamily="18" charset="0"/>
              </a:endParaRPr>
            </a:p>
          </p:txBody>
        </p:sp>
        <p:sp>
          <p:nvSpPr>
            <p:cNvPr id="111620" name="AutoShape 4"/>
            <p:cNvSpPr>
              <a:spLocks noChangeArrowheads="1"/>
            </p:cNvSpPr>
            <p:nvPr/>
          </p:nvSpPr>
          <p:spPr bwMode="auto">
            <a:xfrm>
              <a:off x="304800" y="1752600"/>
              <a:ext cx="4775200" cy="4572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spcBef>
                  <a:spcPts val="0"/>
                </a:spcBef>
                <a:spcAft>
                  <a:spcPts val="0"/>
                </a:spcAft>
                <a:defRPr/>
              </a:pPr>
              <a:r>
                <a:rPr lang="en-US" sz="3200" b="1" dirty="0">
                  <a:solidFill>
                    <a:srgbClr val="0000CC"/>
                  </a:solidFill>
                  <a:latin typeface="Times New Roman" pitchFamily="18" charset="0"/>
                  <a:cs typeface="Times New Roman" pitchFamily="18" charset="0"/>
                </a:rPr>
                <a:t>Cầu:</a:t>
              </a:r>
              <a:r>
                <a:rPr lang="en-US" sz="3200" dirty="0">
                  <a:solidFill>
                    <a:srgbClr val="0000CC"/>
                  </a:solidFill>
                  <a:latin typeface="Times New Roman" pitchFamily="18" charset="0"/>
                  <a:cs typeface="Times New Roman" pitchFamily="18" charset="0"/>
                </a:rPr>
                <a:t> </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Phản ánh nhu </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cầu tiêu dùng và có</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khả năng thanh toán</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của xã hội. Chỉ những</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nhu cầu có khả năng </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thanh toán mới tạo</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thành cầu trong kinh</a:t>
              </a:r>
            </a:p>
            <a:p>
              <a:pPr marL="609600" indent="-609600" algn="ctr" fontAlgn="auto">
                <a:spcBef>
                  <a:spcPts val="0"/>
                </a:spcBef>
                <a:spcAft>
                  <a:spcPts val="0"/>
                </a:spcAft>
                <a:defRPr/>
              </a:pPr>
              <a:r>
                <a:rPr lang="en-US" sz="3200" dirty="0">
                  <a:solidFill>
                    <a:schemeClr val="tx1"/>
                  </a:solidFill>
                  <a:latin typeface="Times New Roman" pitchFamily="18" charset="0"/>
                  <a:cs typeface="Times New Roman" pitchFamily="18" charset="0"/>
                </a:rPr>
                <a:t>tế</a:t>
              </a:r>
            </a:p>
            <a:p>
              <a:pPr marL="609600" indent="-609600" algn="ctr" fontAlgn="auto">
                <a:spcBef>
                  <a:spcPts val="0"/>
                </a:spcBef>
                <a:spcAft>
                  <a:spcPts val="0"/>
                </a:spcAft>
                <a:defRPr/>
              </a:pPr>
              <a:endParaRPr lang="en-US" sz="3200" b="1" dirty="0">
                <a:latin typeface="Times New Roman" pitchFamily="18" charset="0"/>
                <a:cs typeface="Times New Roman" pitchFamily="18" charset="0"/>
              </a:endParaRPr>
            </a:p>
          </p:txBody>
        </p:sp>
        <p:sp>
          <p:nvSpPr>
            <p:cNvPr id="111622" name="Freeform 6"/>
            <p:cNvSpPr>
              <a:spLocks/>
            </p:cNvSpPr>
            <p:nvPr/>
          </p:nvSpPr>
          <p:spPr bwMode="gray">
            <a:xfrm>
              <a:off x="4978400" y="17526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A391FF"/>
                </a:gs>
                <a:gs pos="50000">
                  <a:srgbClr val="C6BCFF"/>
                </a:gs>
                <a:gs pos="100000">
                  <a:srgbClr val="E3D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3543" name="Freeform 7"/>
            <p:cNvSpPr>
              <a:spLocks/>
            </p:cNvSpPr>
            <p:nvPr/>
          </p:nvSpPr>
          <p:spPr bwMode="gray">
            <a:xfrm flipH="1">
              <a:off x="5994400" y="16764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0" scaled="1"/>
              <a:tileRect/>
            </a:gradFill>
            <a:ln w="0">
              <a:noFill/>
              <a:prstDash val="solid"/>
              <a:round/>
              <a:headEnd/>
              <a:tailEnd/>
            </a:ln>
          </p:spPr>
          <p:txBody>
            <a:bodyPr/>
            <a:lstStyle/>
            <a:p>
              <a:pPr fontAlgn="auto">
                <a:spcBef>
                  <a:spcPts val="0"/>
                </a:spcBef>
                <a:spcAft>
                  <a:spcPts val="0"/>
                </a:spcAft>
                <a:defRPr/>
              </a:pPr>
              <a:endParaRPr lang="en-US">
                <a:latin typeface="+mn-lt"/>
                <a:cs typeface="+mn-cs"/>
              </a:endParaRPr>
            </a:p>
          </p:txBody>
        </p:sp>
        <p:grpSp>
          <p:nvGrpSpPr>
            <p:cNvPr id="2" name="Group 9"/>
            <p:cNvGrpSpPr>
              <a:grpSpLocks/>
            </p:cNvGrpSpPr>
            <p:nvPr/>
          </p:nvGrpSpPr>
          <p:grpSpPr bwMode="auto">
            <a:xfrm>
              <a:off x="3657600" y="762000"/>
              <a:ext cx="5283200" cy="990600"/>
              <a:chOff x="1997" y="1314"/>
              <a:chExt cx="1889" cy="1009"/>
            </a:xfrm>
          </p:grpSpPr>
          <p:grpSp>
            <p:nvGrpSpPr>
              <p:cNvPr id="28685"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59"/>
                  <a:ext cx="1905" cy="905"/>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9"/>
                  <a:ext cx="1905" cy="903"/>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6"/>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50" cy="825"/>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9"/>
                <a:ext cx="1570" cy="768"/>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5"/>
                <a:ext cx="1382" cy="623"/>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4064000" y="914401"/>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2800" b="1" u="sng">
                  <a:solidFill>
                    <a:srgbClr val="FF3300"/>
                  </a:solidFill>
                  <a:latin typeface="Times New Roman" pitchFamily="18" charset="0"/>
                  <a:cs typeface="Times New Roman" pitchFamily="18" charset="0"/>
                </a:rPr>
                <a:t>Khái niệm:</a:t>
              </a:r>
              <a:endParaRPr lang="en-US" altLang="en-US" sz="2600" b="1">
                <a:latin typeface=".VnTime" pitchFamily="34" charset="0"/>
              </a:endParaRPr>
            </a:p>
          </p:txBody>
        </p:sp>
        <p:sp>
          <p:nvSpPr>
            <p:cNvPr id="111627" name="Rectangle 18"/>
            <p:cNvSpPr>
              <a:spLocks noChangeArrowheads="1"/>
            </p:cNvSpPr>
            <p:nvPr/>
          </p:nvSpPr>
          <p:spPr bwMode="auto">
            <a:xfrm>
              <a:off x="0" y="1"/>
              <a:ext cx="12192000" cy="752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600" b="1" i="1" u="sng" dirty="0">
                  <a:solidFill>
                    <a:srgbClr val="CC3399"/>
                  </a:solidFill>
                  <a:latin typeface="Times New Roman" pitchFamily="18" charset="0"/>
                  <a:cs typeface="Times New Roman" pitchFamily="18" charset="0"/>
                </a:rPr>
                <a:t>Quy luật cung cầu</a:t>
              </a:r>
              <a:endParaRPr lang="en-US" altLang="en-US" sz="3600" b="1" dirty="0">
                <a:solidFill>
                  <a:srgbClr val="0000CC"/>
                </a:solidFill>
              </a:endParaRPr>
            </a:p>
          </p:txBody>
        </p:sp>
      </p:grpSp>
    </p:spTree>
    <p:extLst>
      <p:ext uri="{BB962C8B-B14F-4D97-AF65-F5344CB8AC3E}">
        <p14:creationId xmlns:p14="http://schemas.microsoft.com/office/powerpoint/2010/main" val="395832195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AutoShape 3"/>
          <p:cNvSpPr>
            <a:spLocks noChangeArrowheads="1"/>
          </p:cNvSpPr>
          <p:nvPr/>
        </p:nvSpPr>
        <p:spPr bwMode="auto">
          <a:xfrm>
            <a:off x="7112000" y="1828800"/>
            <a:ext cx="4775200" cy="4191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algn="ctr" fontAlgn="auto">
              <a:spcBef>
                <a:spcPts val="0"/>
              </a:spcBef>
              <a:spcAft>
                <a:spcPts val="0"/>
              </a:spcAft>
              <a:defRPr/>
            </a:pPr>
            <a:r>
              <a:rPr lang="en-US" sz="3200" b="1" dirty="0">
                <a:solidFill>
                  <a:srgbClr val="009900"/>
                </a:solidFill>
                <a:latin typeface="Times New Roman" pitchFamily="18" charset="0"/>
                <a:cs typeface="Times New Roman" pitchFamily="18" charset="0"/>
              </a:rPr>
              <a:t>+</a:t>
            </a:r>
            <a:r>
              <a:rPr lang="en-US" sz="3200"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Các</a:t>
            </a:r>
            <a:r>
              <a:rPr lang="en-US" sz="3200" b="1" i="1" u="sng"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nhân</a:t>
            </a:r>
            <a:r>
              <a:rPr lang="en-US" sz="3200" b="1" i="1" u="sng"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tố</a:t>
            </a:r>
            <a:r>
              <a:rPr lang="en-US" sz="3200" b="1" i="1" u="sng"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ảnh</a:t>
            </a:r>
            <a:r>
              <a:rPr lang="en-US" sz="3200" b="1" i="1" u="sng" dirty="0">
                <a:solidFill>
                  <a:srgbClr val="009900"/>
                </a:solidFill>
                <a:latin typeface="Times New Roman" pitchFamily="18" charset="0"/>
                <a:cs typeface="Times New Roman" pitchFamily="18" charset="0"/>
              </a:rPr>
              <a:t> </a:t>
            </a:r>
          </a:p>
          <a:p>
            <a:pPr algn="ctr" fontAlgn="auto">
              <a:spcBef>
                <a:spcPts val="0"/>
              </a:spcBef>
              <a:spcAft>
                <a:spcPts val="0"/>
              </a:spcAft>
              <a:defRPr/>
            </a:pPr>
            <a:r>
              <a:rPr lang="en-US" sz="3200" b="1" i="1" u="sng" dirty="0" err="1">
                <a:solidFill>
                  <a:srgbClr val="009900"/>
                </a:solidFill>
                <a:latin typeface="Times New Roman" pitchFamily="18" charset="0"/>
                <a:cs typeface="Times New Roman" pitchFamily="18" charset="0"/>
              </a:rPr>
              <a:t>hưởng</a:t>
            </a:r>
            <a:r>
              <a:rPr lang="en-US" sz="3200" b="1" i="1" u="sng"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đến</a:t>
            </a:r>
            <a:r>
              <a:rPr lang="en-US" sz="3200" b="1" i="1" u="sng" dirty="0">
                <a:solidFill>
                  <a:srgbClr val="009900"/>
                </a:solidFill>
                <a:latin typeface="Times New Roman" pitchFamily="18" charset="0"/>
                <a:cs typeface="Times New Roman" pitchFamily="18" charset="0"/>
              </a:rPr>
              <a:t> </a:t>
            </a:r>
            <a:r>
              <a:rPr lang="en-US" sz="3200" b="1" i="1" u="sng" dirty="0" err="1">
                <a:solidFill>
                  <a:srgbClr val="009900"/>
                </a:solidFill>
                <a:latin typeface="Times New Roman" pitchFamily="18" charset="0"/>
                <a:cs typeface="Times New Roman" pitchFamily="18" charset="0"/>
              </a:rPr>
              <a:t>cung</a:t>
            </a:r>
            <a:r>
              <a:rPr lang="en-US" sz="3200" dirty="0">
                <a:solidFill>
                  <a:srgbClr val="009900"/>
                </a:solidFill>
                <a:latin typeface="Times New Roman" pitchFamily="18" charset="0"/>
                <a:cs typeface="Times New Roman" pitchFamily="18" charset="0"/>
              </a:rPr>
              <a:t>:</a:t>
            </a:r>
          </a:p>
          <a:p>
            <a:pPr algn="ctr" fontAlgn="auto">
              <a:spcBef>
                <a:spcPts val="0"/>
              </a:spcBef>
              <a:spcAft>
                <a:spcPts val="0"/>
              </a:spcAft>
              <a:defRPr/>
            </a:pPr>
            <a:r>
              <a:rPr lang="en-US" sz="3200" b="1" dirty="0" err="1">
                <a:latin typeface="Times New Roman" pitchFamily="18" charset="0"/>
                <a:cs typeface="Times New Roman" pitchFamily="18" charset="0"/>
              </a:rPr>
              <a:t>Số</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lượng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chất</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err="1">
                <a:latin typeface="Times New Roman" pitchFamily="18" charset="0"/>
                <a:cs typeface="Times New Roman" pitchFamily="18" charset="0"/>
              </a:rPr>
              <a:t>lượng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các</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nguồn</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err="1">
                <a:latin typeface="Times New Roman" pitchFamily="18" charset="0"/>
                <a:cs typeface="Times New Roman" pitchFamily="18" charset="0"/>
              </a:rPr>
              <a:t>lực</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các</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yếu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tố</a:t>
            </a:r>
            <a:r>
              <a:rPr lang="en-US" sz="3200" b="1" dirty="0">
                <a:latin typeface="Times New Roman" pitchFamily="18" charset="0"/>
                <a:cs typeface="Times New Roman" pitchFamily="18" charset="0"/>
              </a:rPr>
              <a:t> SX</a:t>
            </a:r>
          </a:p>
          <a:p>
            <a:pPr algn="ctr" fontAlgn="auto">
              <a:spcBef>
                <a:spcPts val="0"/>
              </a:spcBef>
              <a:spcAft>
                <a:spcPts val="0"/>
              </a:spcAft>
              <a:defRPr/>
            </a:pPr>
            <a:r>
              <a:rPr lang="en-US" sz="3200" b="1" dirty="0" err="1">
                <a:latin typeface="Times New Roman" pitchFamily="18" charset="0"/>
                <a:cs typeface="Times New Roman" pitchFamily="18" charset="0"/>
              </a:rPr>
              <a:t>được</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sử</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dụng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năng</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err="1">
                <a:latin typeface="Times New Roman" pitchFamily="18" charset="0"/>
                <a:cs typeface="Times New Roman" pitchFamily="18" charset="0"/>
              </a:rPr>
              <a:t>suất</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lao</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động</a:t>
            </a:r>
            <a:r>
              <a:rPr lang="en-US" sz="3200" b="1" dirty="0">
                <a:latin typeface="Times New Roman" pitchFamily="18" charset="0"/>
                <a:cs typeface="Times New Roman" pitchFamily="18" charset="0"/>
              </a:rPr>
              <a:t>, </a:t>
            </a:r>
          </a:p>
          <a:p>
            <a:pPr algn="ctr" fontAlgn="auto">
              <a:spcBef>
                <a:spcPts val="0"/>
              </a:spcBef>
              <a:spcAft>
                <a:spcPts val="0"/>
              </a:spcAft>
              <a:defRPr/>
            </a:pPr>
            <a:r>
              <a:rPr lang="en-US" sz="3200" b="1" dirty="0" err="1">
                <a:latin typeface="Times New Roman" pitchFamily="18" charset="0"/>
                <a:cs typeface="Times New Roman" pitchFamily="18" charset="0"/>
              </a:rPr>
              <a:t>và</a:t>
            </a:r>
            <a:r>
              <a:rPr lang="en-US" sz="3200" b="1" dirty="0">
                <a:latin typeface="Times New Roman" pitchFamily="18" charset="0"/>
                <a:cs typeface="Times New Roman" pitchFamily="18" charset="0"/>
              </a:rPr>
              <a:t> chi </a:t>
            </a:r>
            <a:r>
              <a:rPr lang="en-US" sz="3200" b="1" dirty="0" err="1">
                <a:latin typeface="Times New Roman" pitchFamily="18" charset="0"/>
                <a:cs typeface="Times New Roman" pitchFamily="18" charset="0"/>
              </a:rPr>
              <a:t>phí</a:t>
            </a:r>
            <a:r>
              <a:rPr lang="en-US" sz="3200" b="1" dirty="0">
                <a:latin typeface="Times New Roman" pitchFamily="18" charset="0"/>
                <a:cs typeface="Times New Roman" pitchFamily="18" charset="0"/>
              </a:rPr>
              <a:t> SX…</a:t>
            </a:r>
          </a:p>
        </p:txBody>
      </p:sp>
      <p:sp>
        <p:nvSpPr>
          <p:cNvPr id="111620" name="AutoShape 4"/>
          <p:cNvSpPr>
            <a:spLocks noChangeArrowheads="1"/>
          </p:cNvSpPr>
          <p:nvPr/>
        </p:nvSpPr>
        <p:spPr bwMode="auto">
          <a:xfrm>
            <a:off x="304800" y="1752600"/>
            <a:ext cx="4775200" cy="41148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spcBef>
                <a:spcPts val="0"/>
              </a:spcBef>
              <a:spcAft>
                <a:spcPts val="0"/>
              </a:spcAft>
              <a:defRPr/>
            </a:pPr>
            <a:r>
              <a:rPr lang="en-US" sz="3200" b="1" dirty="0">
                <a:solidFill>
                  <a:srgbClr val="009900"/>
                </a:solidFill>
                <a:latin typeface="Times New Roman" pitchFamily="18" charset="0"/>
                <a:cs typeface="Times New Roman" pitchFamily="18" charset="0"/>
              </a:rPr>
              <a:t>+</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Các</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nhân</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tố</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ảnh</a:t>
            </a:r>
            <a:endParaRPr lang="en-US" sz="3200" b="1" u="sng" dirty="0">
              <a:solidFill>
                <a:srgbClr val="009900"/>
              </a:solidFill>
              <a:latin typeface="Times New Roman" pitchFamily="18" charset="0"/>
              <a:cs typeface="Times New Roman" pitchFamily="18" charset="0"/>
            </a:endParaRPr>
          </a:p>
          <a:p>
            <a:pPr marL="609600" indent="-609600" algn="ctr" fontAlgn="auto">
              <a:spcBef>
                <a:spcPts val="0"/>
              </a:spcBef>
              <a:spcAft>
                <a:spcPts val="0"/>
              </a:spcAft>
              <a:defRPr/>
            </a:pP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hưởng</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đến</a:t>
            </a:r>
            <a:r>
              <a:rPr lang="en-US" sz="3200" b="1" u="sng" dirty="0">
                <a:solidFill>
                  <a:srgbClr val="009900"/>
                </a:solidFill>
                <a:latin typeface="Times New Roman" pitchFamily="18" charset="0"/>
                <a:cs typeface="Times New Roman" pitchFamily="18" charset="0"/>
              </a:rPr>
              <a:t> </a:t>
            </a:r>
            <a:r>
              <a:rPr lang="en-US" sz="3200" b="1" u="sng" dirty="0" err="1">
                <a:solidFill>
                  <a:srgbClr val="009900"/>
                </a:solidFill>
                <a:latin typeface="Times New Roman" pitchFamily="18" charset="0"/>
                <a:cs typeface="Times New Roman" pitchFamily="18" charset="0"/>
              </a:rPr>
              <a:t>cầu</a:t>
            </a:r>
            <a:r>
              <a:rPr lang="en-US" sz="3200" dirty="0">
                <a:solidFill>
                  <a:srgbClr val="009900"/>
                </a:solidFill>
                <a:latin typeface="Times New Roman" pitchFamily="18" charset="0"/>
                <a:cs typeface="Times New Roman" pitchFamily="18" charset="0"/>
              </a:rPr>
              <a:t>:</a:t>
            </a:r>
          </a:p>
          <a:p>
            <a:pPr marL="609600" indent="-609600" algn="ctr" fontAlgn="auto">
              <a:spcBef>
                <a:spcPts val="0"/>
              </a:spcBef>
              <a:spcAft>
                <a:spcPts val="0"/>
              </a:spcAft>
              <a:defRPr/>
            </a:pPr>
            <a:r>
              <a:rPr lang="en-US" sz="3200" dirty="0">
                <a:latin typeface="Times New Roman" pitchFamily="18" charset="0"/>
                <a:cs typeface="Times New Roman" pitchFamily="18" charset="0"/>
              </a:rPr>
              <a:t> </a:t>
            </a:r>
            <a:r>
              <a:rPr lang="en-US" sz="3200" b="1" dirty="0" err="1">
                <a:latin typeface="Times New Roman" pitchFamily="18" charset="0"/>
                <a:cs typeface="Times New Roman" pitchFamily="18" charset="0"/>
              </a:rPr>
              <a:t>thu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nhập</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sức</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mua</a:t>
            </a:r>
            <a:r>
              <a:rPr lang="en-US" sz="3200" b="1" dirty="0">
                <a:latin typeface="Times New Roman" pitchFamily="18" charset="0"/>
                <a:cs typeface="Times New Roman" pitchFamily="18" charset="0"/>
              </a:rPr>
              <a:t> </a:t>
            </a:r>
          </a:p>
          <a:p>
            <a:pPr marL="609600" indent="-609600" algn="ctr" fontAlgn="auto">
              <a:spcBef>
                <a:spcPts val="0"/>
              </a:spcBef>
              <a:spcAft>
                <a:spcPts val="0"/>
              </a:spcAft>
              <a:defRPr/>
            </a:pPr>
            <a:r>
              <a:rPr lang="en-US" sz="3200" b="1" dirty="0" err="1">
                <a:latin typeface="Times New Roman" pitchFamily="18" charset="0"/>
                <a:cs typeface="Times New Roman" pitchFamily="18" charset="0"/>
              </a:rPr>
              <a:t>của</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tiền</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giá</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cả</a:t>
            </a:r>
            <a:endParaRPr lang="en-US" sz="3200" b="1" dirty="0">
              <a:latin typeface="Times New Roman" pitchFamily="18" charset="0"/>
              <a:cs typeface="Times New Roman" pitchFamily="18" charset="0"/>
            </a:endParaRPr>
          </a:p>
          <a:p>
            <a:pPr marL="609600" indent="-609600" algn="ctr" fontAlgn="auto">
              <a:spcBef>
                <a:spcPts val="0"/>
              </a:spcBef>
              <a:spcAft>
                <a:spcPts val="0"/>
              </a:spcAft>
              <a:defRPr/>
            </a:pP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hàng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hóa</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lãi</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suất</a:t>
            </a:r>
            <a:r>
              <a:rPr lang="en-US" sz="3200" b="1" dirty="0">
                <a:latin typeface="Times New Roman" pitchFamily="18" charset="0"/>
                <a:cs typeface="Times New Roman" pitchFamily="18" charset="0"/>
              </a:rPr>
              <a:t>,</a:t>
            </a:r>
          </a:p>
          <a:p>
            <a:pPr marL="609600" indent="-609600" algn="ctr" fontAlgn="auto">
              <a:spcBef>
                <a:spcPts val="0"/>
              </a:spcBef>
              <a:spcAft>
                <a:spcPts val="0"/>
              </a:spcAft>
              <a:defRPr/>
            </a:pP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thị</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hiếu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của</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người</a:t>
            </a:r>
            <a:endParaRPr lang="en-US" sz="3200" b="1" dirty="0">
              <a:latin typeface="Times New Roman" pitchFamily="18" charset="0"/>
              <a:cs typeface="Times New Roman" pitchFamily="18" charset="0"/>
            </a:endParaRPr>
          </a:p>
          <a:p>
            <a:pPr marL="609600" indent="-609600" algn="ctr" fontAlgn="auto">
              <a:spcBef>
                <a:spcPts val="0"/>
              </a:spcBef>
              <a:spcAft>
                <a:spcPts val="0"/>
              </a:spcAft>
              <a:defRPr/>
            </a:pP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tiêu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dùng</a:t>
            </a:r>
            <a:r>
              <a:rPr lang="en-US" sz="3200" b="1" dirty="0">
                <a:latin typeface="Times New Roman" pitchFamily="18" charset="0"/>
                <a:cs typeface="Times New Roman" pitchFamily="18" charset="0"/>
              </a:rPr>
              <a:t>…</a:t>
            </a:r>
          </a:p>
        </p:txBody>
      </p:sp>
      <p:sp>
        <p:nvSpPr>
          <p:cNvPr id="111622" name="Freeform 6"/>
          <p:cNvSpPr>
            <a:spLocks/>
          </p:cNvSpPr>
          <p:nvPr/>
        </p:nvSpPr>
        <p:spPr bwMode="gray">
          <a:xfrm>
            <a:off x="5080000" y="20574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A391FF"/>
              </a:gs>
              <a:gs pos="50000">
                <a:srgbClr val="C6BCFF"/>
              </a:gs>
              <a:gs pos="100000">
                <a:srgbClr val="E3D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3543" name="Freeform 7"/>
          <p:cNvSpPr>
            <a:spLocks/>
          </p:cNvSpPr>
          <p:nvPr/>
        </p:nvSpPr>
        <p:spPr bwMode="gray">
          <a:xfrm flipH="1">
            <a:off x="5892800" y="21336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0" scaled="1"/>
            <a:tileRect/>
          </a:gradFill>
          <a:ln w="0">
            <a:noFill/>
            <a:prstDash val="solid"/>
            <a:round/>
            <a:headEnd/>
            <a:tailEnd/>
          </a:ln>
        </p:spPr>
        <p:txBody>
          <a:bodyPr/>
          <a:lstStyle/>
          <a:p>
            <a:pPr fontAlgn="auto">
              <a:spcBef>
                <a:spcPts val="0"/>
              </a:spcBef>
              <a:spcAft>
                <a:spcPts val="0"/>
              </a:spcAft>
              <a:defRPr/>
            </a:pPr>
            <a:endParaRPr lang="en-US">
              <a:latin typeface="+mn-lt"/>
              <a:cs typeface="+mn-cs"/>
            </a:endParaRPr>
          </a:p>
        </p:txBody>
      </p:sp>
      <p:grpSp>
        <p:nvGrpSpPr>
          <p:cNvPr id="2" name="Group 9"/>
          <p:cNvGrpSpPr>
            <a:grpSpLocks/>
          </p:cNvGrpSpPr>
          <p:nvPr/>
        </p:nvGrpSpPr>
        <p:grpSpPr bwMode="auto">
          <a:xfrm>
            <a:off x="3352800" y="228600"/>
            <a:ext cx="5892800" cy="1524000"/>
            <a:chOff x="1997" y="1314"/>
            <a:chExt cx="1889" cy="1009"/>
          </a:xfrm>
        </p:grpSpPr>
        <p:grpSp>
          <p:nvGrpSpPr>
            <p:cNvPr id="29708"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65"/>
                <a:ext cx="1905" cy="899"/>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7"/>
                <a:ext cx="1905" cy="899"/>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49"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8"/>
              <a:ext cx="1570" cy="769"/>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4"/>
              <a:ext cx="1382" cy="618"/>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3962400" y="304801"/>
            <a:ext cx="47752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2900" b="1" i="1" u="sng">
                <a:solidFill>
                  <a:srgbClr val="FF3300"/>
                </a:solidFill>
                <a:latin typeface="Times New Roman" pitchFamily="18" charset="0"/>
                <a:cs typeface="Times New Roman" pitchFamily="18" charset="0"/>
              </a:rPr>
              <a:t> Các nhân tố ảnh  hưởng  đến cung và cầu:</a:t>
            </a:r>
            <a:endParaRPr lang="en-US" altLang="en-US" sz="2900" b="1">
              <a:latin typeface=".VnTime" pitchFamily="34" charset="0"/>
            </a:endParaRPr>
          </a:p>
        </p:txBody>
      </p:sp>
    </p:spTree>
    <p:extLst>
      <p:ext uri="{BB962C8B-B14F-4D97-AF65-F5344CB8AC3E}">
        <p14:creationId xmlns:p14="http://schemas.microsoft.com/office/powerpoint/2010/main" val="274466378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3553"/>
                                        </p:tgtEl>
                                        <p:attrNameLst>
                                          <p:attrName>style.visibility</p:attrName>
                                        </p:attrNameLst>
                                      </p:cBhvr>
                                      <p:to>
                                        <p:strVal val="visible"/>
                                      </p:to>
                                    </p:set>
                                    <p:animEffect transition="in" filter="blinds(horizontal)">
                                      <p:cBhvr>
                                        <p:cTn id="10" dur="500"/>
                                        <p:tgtEl>
                                          <p:spTgt spid="19355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1622"/>
                                        </p:tgtEl>
                                        <p:attrNameLst>
                                          <p:attrName>style.visibility</p:attrName>
                                        </p:attrNameLst>
                                      </p:cBhvr>
                                      <p:to>
                                        <p:strVal val="visible"/>
                                      </p:to>
                                    </p:set>
                                    <p:animEffect transition="in" filter="blinds(horizontal)">
                                      <p:cBhvr>
                                        <p:cTn id="15" dur="500"/>
                                        <p:tgtEl>
                                          <p:spTgt spid="11162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11620"/>
                                        </p:tgtEl>
                                        <p:attrNameLst>
                                          <p:attrName>style.visibility</p:attrName>
                                        </p:attrNameLst>
                                      </p:cBhvr>
                                      <p:to>
                                        <p:strVal val="visible"/>
                                      </p:to>
                                    </p:set>
                                    <p:animEffect transition="in" filter="checkerboard(across)">
                                      <p:cBhvr>
                                        <p:cTn id="20" dur="500"/>
                                        <p:tgtEl>
                                          <p:spTgt spid="1116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93543"/>
                                        </p:tgtEl>
                                        <p:attrNameLst>
                                          <p:attrName>style.visibility</p:attrName>
                                        </p:attrNameLst>
                                      </p:cBhvr>
                                      <p:to>
                                        <p:strVal val="visible"/>
                                      </p:to>
                                    </p:set>
                                    <p:animEffect transition="in" filter="blinds(horizontal)">
                                      <p:cBhvr>
                                        <p:cTn id="25" dur="500"/>
                                        <p:tgtEl>
                                          <p:spTgt spid="19354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111619"/>
                                        </p:tgtEl>
                                        <p:attrNameLst>
                                          <p:attrName>style.visibility</p:attrName>
                                        </p:attrNameLst>
                                      </p:cBhvr>
                                      <p:to>
                                        <p:strVal val="visible"/>
                                      </p:to>
                                    </p:set>
                                    <p:animEffect transition="in" filter="checkerboard(across)">
                                      <p:cBhvr>
                                        <p:cTn id="30" dur="500"/>
                                        <p:tgtEl>
                                          <p:spTgt spid="11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2" grpId="0" animBg="1"/>
      <p:bldP spid="193553"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AutoShape 3"/>
          <p:cNvSpPr>
            <a:spLocks noChangeArrowheads="1"/>
          </p:cNvSpPr>
          <p:nvPr/>
        </p:nvSpPr>
        <p:spPr bwMode="auto">
          <a:xfrm>
            <a:off x="7112000" y="1828800"/>
            <a:ext cx="4775200" cy="36576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algn="ctr" fontAlgn="auto">
              <a:spcBef>
                <a:spcPts val="0"/>
              </a:spcBef>
              <a:spcAft>
                <a:spcPts val="0"/>
              </a:spcAft>
              <a:defRPr/>
            </a:pP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Cầu</a:t>
            </a: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tác</a:t>
            </a: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động</a:t>
            </a:r>
            <a:endParaRPr lang="en-US" sz="3200" b="1" dirty="0">
              <a:solidFill>
                <a:srgbClr val="0000CC"/>
              </a:solidFill>
              <a:latin typeface="Times New Roman" pitchFamily="18" charset="0"/>
              <a:cs typeface="Times New Roman" pitchFamily="18" charset="0"/>
            </a:endParaRPr>
          </a:p>
          <a:p>
            <a:pPr algn="ctr" fontAlgn="auto">
              <a:spcBef>
                <a:spcPts val="0"/>
              </a:spcBef>
              <a:spcAft>
                <a:spcPts val="0"/>
              </a:spcAft>
              <a:defRPr/>
            </a:pP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đến</a:t>
            </a: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cung</a:t>
            </a:r>
            <a:r>
              <a:rPr lang="en-US" sz="3200" b="1" dirty="0">
                <a:solidFill>
                  <a:srgbClr val="0000CC"/>
                </a:solidFill>
                <a:latin typeface="Times New Roman" pitchFamily="18" charset="0"/>
                <a:cs typeface="Times New Roman" pitchFamily="18" charset="0"/>
              </a:rPr>
              <a:t>: </a:t>
            </a:r>
          </a:p>
          <a:p>
            <a:pPr algn="ctr" fontAlgn="auto">
              <a:spcBef>
                <a:spcPts val="0"/>
              </a:spcBef>
              <a:spcAft>
                <a:spcPts val="0"/>
              </a:spcAft>
              <a:defRPr/>
            </a:pPr>
            <a:r>
              <a:rPr lang="en-US" sz="3200" b="1" dirty="0" err="1">
                <a:latin typeface="Times New Roman" pitchFamily="18" charset="0"/>
                <a:cs typeface="Times New Roman" pitchFamily="18" charset="0"/>
              </a:rPr>
              <a:t>Nếu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không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có</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tiêu</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err="1">
                <a:latin typeface="Times New Roman" pitchFamily="18" charset="0"/>
                <a:cs typeface="Times New Roman" pitchFamily="18" charset="0"/>
              </a:rPr>
              <a:t>dùng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cũng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không</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err="1">
                <a:latin typeface="Times New Roman" pitchFamily="18" charset="0"/>
                <a:cs typeface="Times New Roman" pitchFamily="18" charset="0"/>
              </a:rPr>
              <a:t>có</a:t>
            </a:r>
            <a:r>
              <a:rPr lang="en-US" sz="3200" b="1" dirty="0">
                <a:latin typeface="Times New Roman" pitchFamily="18" charset="0"/>
                <a:cs typeface="Times New Roman" pitchFamily="18" charset="0"/>
              </a:rPr>
              <a:t> SX ,</a:t>
            </a:r>
            <a:r>
              <a:rPr lang="en-US" sz="3200" b="1" dirty="0" err="1">
                <a:latin typeface="Times New Roman" pitchFamily="18" charset="0"/>
                <a:cs typeface="Times New Roman" pitchFamily="18" charset="0"/>
              </a:rPr>
              <a:t>tiêu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dùng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ít</a:t>
            </a:r>
            <a:endParaRPr lang="en-US" sz="3200" b="1" dirty="0">
              <a:latin typeface="Times New Roman" pitchFamily="18" charset="0"/>
              <a:cs typeface="Times New Roman" pitchFamily="18" charset="0"/>
            </a:endParaRPr>
          </a:p>
          <a:p>
            <a:pPr algn="ctr" fontAlgn="auto">
              <a:spcBef>
                <a:spcPts val="0"/>
              </a:spcBef>
              <a:spcAft>
                <a:spcPts val="0"/>
              </a:spcAft>
              <a:defRPr/>
            </a:pP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sx</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không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phát</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triển</a:t>
            </a:r>
            <a:endParaRPr lang="en-US" sz="3200" b="1" dirty="0">
              <a:latin typeface="Times New Roman" pitchFamily="18" charset="0"/>
              <a:cs typeface="Times New Roman" pitchFamily="18" charset="0"/>
            </a:endParaRPr>
          </a:p>
        </p:txBody>
      </p:sp>
      <p:sp>
        <p:nvSpPr>
          <p:cNvPr id="111620" name="AutoShape 4"/>
          <p:cNvSpPr>
            <a:spLocks noChangeArrowheads="1"/>
          </p:cNvSpPr>
          <p:nvPr/>
        </p:nvSpPr>
        <p:spPr bwMode="auto">
          <a:xfrm>
            <a:off x="304800" y="1752600"/>
            <a:ext cx="4775200" cy="36576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spcBef>
                <a:spcPts val="0"/>
              </a:spcBef>
              <a:spcAft>
                <a:spcPts val="0"/>
              </a:spcAft>
              <a:defRPr/>
            </a:pP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Cung</a:t>
            </a: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quyết</a:t>
            </a:r>
            <a:endParaRPr lang="en-US" sz="3200" b="1" dirty="0">
              <a:solidFill>
                <a:srgbClr val="0000CC"/>
              </a:solidFill>
              <a:latin typeface="Times New Roman" pitchFamily="18" charset="0"/>
              <a:cs typeface="Times New Roman" pitchFamily="18" charset="0"/>
            </a:endParaRPr>
          </a:p>
          <a:p>
            <a:pPr marL="609600" indent="-609600" algn="ctr" fontAlgn="auto">
              <a:spcBef>
                <a:spcPts val="0"/>
              </a:spcBef>
              <a:spcAft>
                <a:spcPts val="0"/>
              </a:spcAft>
              <a:defRPr/>
            </a:pP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định</a:t>
            </a:r>
            <a:r>
              <a:rPr lang="en-US" sz="3200" b="1" dirty="0">
                <a:solidFill>
                  <a:srgbClr val="0000CC"/>
                </a:solidFill>
                <a:latin typeface="Times New Roman" pitchFamily="18" charset="0"/>
                <a:cs typeface="Times New Roman" pitchFamily="18" charset="0"/>
              </a:rPr>
              <a:t> </a:t>
            </a:r>
            <a:r>
              <a:rPr lang="en-US" sz="3200" b="1" dirty="0" err="1">
                <a:solidFill>
                  <a:srgbClr val="0000CC"/>
                </a:solidFill>
                <a:latin typeface="Times New Roman" pitchFamily="18" charset="0"/>
                <a:cs typeface="Times New Roman" pitchFamily="18" charset="0"/>
              </a:rPr>
              <a:t>cầu</a:t>
            </a:r>
            <a:r>
              <a:rPr lang="en-US" sz="3200" b="1" dirty="0">
                <a:solidFill>
                  <a:srgbClr val="0000CC"/>
                </a:solidFill>
                <a:latin typeface="Times New Roman" pitchFamily="18" charset="0"/>
                <a:cs typeface="Times New Roman" pitchFamily="18" charset="0"/>
              </a:rPr>
              <a:t>:</a:t>
            </a:r>
          </a:p>
          <a:p>
            <a:pPr marL="609600" indent="-609600" algn="ctr" fontAlgn="auto">
              <a:spcBef>
                <a:spcPts val="0"/>
              </a:spcBef>
              <a:spcAft>
                <a:spcPts val="0"/>
              </a:spcAft>
              <a:defRPr/>
            </a:pP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SX </a:t>
            </a:r>
            <a:r>
              <a:rPr lang="en-US" sz="3200" b="1" dirty="0" err="1">
                <a:latin typeface="Times New Roman" pitchFamily="18" charset="0"/>
                <a:cs typeface="Times New Roman" pitchFamily="18" charset="0"/>
              </a:rPr>
              <a:t>quyết</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định</a:t>
            </a:r>
            <a:r>
              <a:rPr lang="en-US" sz="3200" b="1" dirty="0">
                <a:latin typeface="Times New Roman" pitchFamily="18" charset="0"/>
                <a:cs typeface="Times New Roman" pitchFamily="18" charset="0"/>
              </a:rPr>
              <a:t> </a:t>
            </a:r>
          </a:p>
          <a:p>
            <a:pPr marL="609600" indent="-609600" algn="ctr" fontAlgn="auto">
              <a:spcBef>
                <a:spcPts val="0"/>
              </a:spcBef>
              <a:spcAft>
                <a:spcPts val="0"/>
              </a:spcAft>
              <a:defRPr/>
            </a:pPr>
            <a:r>
              <a:rPr lang="en-US" sz="3200" b="1" dirty="0" err="1">
                <a:latin typeface="Times New Roman" pitchFamily="18" charset="0"/>
                <a:cs typeface="Times New Roman" pitchFamily="18" charset="0"/>
              </a:rPr>
              <a:t>tiêu</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dùng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về</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số</a:t>
            </a:r>
            <a:r>
              <a:rPr lang="en-US" sz="3200" b="1" dirty="0">
                <a:latin typeface="Times New Roman" pitchFamily="18" charset="0"/>
                <a:cs typeface="Times New Roman" pitchFamily="18" charset="0"/>
              </a:rPr>
              <a:t> </a:t>
            </a:r>
          </a:p>
          <a:p>
            <a:pPr marL="609600" indent="-609600" algn="ctr" fontAlgn="auto">
              <a:spcBef>
                <a:spcPts val="0"/>
              </a:spcBef>
              <a:spcAft>
                <a:spcPts val="0"/>
              </a:spcAft>
              <a:defRPr/>
            </a:pPr>
            <a:r>
              <a:rPr lang="en-US" sz="3200" b="1" dirty="0" err="1">
                <a:latin typeface="Times New Roman" pitchFamily="18" charset="0"/>
                <a:cs typeface="Times New Roman" pitchFamily="18" charset="0"/>
              </a:rPr>
              <a:t>lượng,chất</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lượng</a:t>
            </a:r>
            <a:r>
              <a:rPr lang="en-US" sz="3200" b="1" dirty="0">
                <a:latin typeface="Times New Roman" pitchFamily="18" charset="0"/>
                <a:cs typeface="Times New Roman" pitchFamily="18" charset="0"/>
              </a:rPr>
              <a:t> ,</a:t>
            </a:r>
          </a:p>
          <a:p>
            <a:pPr marL="609600" indent="-609600" algn="ctr" fontAlgn="auto">
              <a:spcBef>
                <a:spcPts val="0"/>
              </a:spcBef>
              <a:spcAft>
                <a:spcPts val="0"/>
              </a:spcAft>
              <a:defRPr/>
            </a:pPr>
            <a:r>
              <a:rPr lang="en-US" sz="3200" b="1" dirty="0" err="1">
                <a:latin typeface="Times New Roman" pitchFamily="18" charset="0"/>
                <a:cs typeface="Times New Roman" pitchFamily="18" charset="0"/>
              </a:rPr>
              <a:t>cơ</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cấu,chủng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loại</a:t>
            </a:r>
            <a:r>
              <a:rPr lang="en-US" sz="3200" b="1" dirty="0">
                <a:cs typeface="Times New Roman" pitchFamily="18" charset="0"/>
              </a:rPr>
              <a:t>.</a:t>
            </a:r>
          </a:p>
        </p:txBody>
      </p:sp>
      <p:sp>
        <p:nvSpPr>
          <p:cNvPr id="111622" name="Freeform 6"/>
          <p:cNvSpPr>
            <a:spLocks/>
          </p:cNvSpPr>
          <p:nvPr/>
        </p:nvSpPr>
        <p:spPr bwMode="gray">
          <a:xfrm>
            <a:off x="4978400" y="16764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A391FF"/>
              </a:gs>
              <a:gs pos="50000">
                <a:srgbClr val="C6BCFF"/>
              </a:gs>
              <a:gs pos="100000">
                <a:srgbClr val="E3DFFF"/>
              </a:gs>
            </a:gsLst>
            <a:lin ang="0" scaled="1"/>
          </a:gradFill>
          <a:ln w="0">
            <a:noFill/>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193543" name="Freeform 7"/>
          <p:cNvSpPr>
            <a:spLocks/>
          </p:cNvSpPr>
          <p:nvPr/>
        </p:nvSpPr>
        <p:spPr bwMode="gray">
          <a:xfrm flipH="1">
            <a:off x="6096000" y="17526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0" scaled="1"/>
            <a:tileRect/>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grpSp>
        <p:nvGrpSpPr>
          <p:cNvPr id="2" name="Group 9"/>
          <p:cNvGrpSpPr>
            <a:grpSpLocks/>
          </p:cNvGrpSpPr>
          <p:nvPr/>
        </p:nvGrpSpPr>
        <p:grpSpPr bwMode="auto">
          <a:xfrm>
            <a:off x="3352800" y="228600"/>
            <a:ext cx="5892800" cy="1524000"/>
            <a:chOff x="1997" y="1314"/>
            <a:chExt cx="1889" cy="1009"/>
          </a:xfrm>
        </p:grpSpPr>
        <p:grpSp>
          <p:nvGrpSpPr>
            <p:cNvPr id="30736"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65"/>
                <a:ext cx="1905" cy="899"/>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7"/>
                <a:ext cx="1905" cy="899"/>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49"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8"/>
              <a:ext cx="1570" cy="769"/>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4"/>
              <a:ext cx="1382" cy="618"/>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4368800" y="381000"/>
            <a:ext cx="386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 typeface="Wingdings" pitchFamily="2" charset="2"/>
              <a:buNone/>
            </a:pPr>
            <a:r>
              <a:rPr lang="en-US" altLang="en-US" sz="2800">
                <a:latin typeface="Times New Roman" pitchFamily="18" charset="0"/>
              </a:rPr>
              <a:t> </a:t>
            </a:r>
            <a:r>
              <a:rPr lang="en-US" altLang="en-US" sz="3000" b="1" u="sng">
                <a:solidFill>
                  <a:srgbClr val="FF3300"/>
                </a:solidFill>
                <a:latin typeface="Times New Roman" pitchFamily="18" charset="0"/>
                <a:cs typeface="Times New Roman" pitchFamily="18" charset="0"/>
              </a:rPr>
              <a:t> Mối  quan hệ cung , cầu</a:t>
            </a:r>
          </a:p>
        </p:txBody>
      </p:sp>
    </p:spTree>
    <p:extLst>
      <p:ext uri="{BB962C8B-B14F-4D97-AF65-F5344CB8AC3E}">
        <p14:creationId xmlns:p14="http://schemas.microsoft.com/office/powerpoint/2010/main" val="102052741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3553"/>
                                        </p:tgtEl>
                                        <p:attrNameLst>
                                          <p:attrName>style.visibility</p:attrName>
                                        </p:attrNameLst>
                                      </p:cBhvr>
                                      <p:to>
                                        <p:strVal val="visible"/>
                                      </p:to>
                                    </p:set>
                                    <p:animEffect transition="in" filter="blinds(horizontal)">
                                      <p:cBhvr>
                                        <p:cTn id="10" dur="500"/>
                                        <p:tgtEl>
                                          <p:spTgt spid="19355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11622"/>
                                        </p:tgtEl>
                                        <p:attrNameLst>
                                          <p:attrName>style.visibility</p:attrName>
                                        </p:attrNameLst>
                                      </p:cBhvr>
                                      <p:to>
                                        <p:strVal val="visible"/>
                                      </p:to>
                                    </p:set>
                                    <p:animEffect transition="in" filter="blinds(horizontal)">
                                      <p:cBhvr>
                                        <p:cTn id="15" dur="500"/>
                                        <p:tgtEl>
                                          <p:spTgt spid="11162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11620"/>
                                        </p:tgtEl>
                                        <p:attrNameLst>
                                          <p:attrName>style.visibility</p:attrName>
                                        </p:attrNameLst>
                                      </p:cBhvr>
                                      <p:to>
                                        <p:strVal val="visible"/>
                                      </p:to>
                                    </p:set>
                                    <p:animEffect transition="in" filter="checkerboard(across)">
                                      <p:cBhvr>
                                        <p:cTn id="20" dur="500"/>
                                        <p:tgtEl>
                                          <p:spTgt spid="1116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93543"/>
                                        </p:tgtEl>
                                        <p:attrNameLst>
                                          <p:attrName>style.visibility</p:attrName>
                                        </p:attrNameLst>
                                      </p:cBhvr>
                                      <p:to>
                                        <p:strVal val="visible"/>
                                      </p:to>
                                    </p:set>
                                    <p:animEffect transition="in" filter="blinds(horizontal)">
                                      <p:cBhvr>
                                        <p:cTn id="25" dur="500"/>
                                        <p:tgtEl>
                                          <p:spTgt spid="19354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111619"/>
                                        </p:tgtEl>
                                        <p:attrNameLst>
                                          <p:attrName>style.visibility</p:attrName>
                                        </p:attrNameLst>
                                      </p:cBhvr>
                                      <p:to>
                                        <p:strVal val="visible"/>
                                      </p:to>
                                    </p:set>
                                    <p:animEffect transition="in" filter="checkerboard(across)">
                                      <p:cBhvr>
                                        <p:cTn id="30" dur="500"/>
                                        <p:tgtEl>
                                          <p:spTgt spid="11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53" grpId="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1117600" y="1538785"/>
            <a:ext cx="10769600" cy="4206922"/>
          </a:xfrm>
        </p:spPr>
        <p:txBody>
          <a:bodyPr>
            <a:normAutofit/>
          </a:bodyPr>
          <a:lstStyle/>
          <a:p>
            <a:pPr>
              <a:buFont typeface="Wingdings" pitchFamily="2" charset="2"/>
              <a:buChar char="Ø"/>
            </a:pPr>
            <a:r>
              <a:rPr lang="en-US" altLang="en-US" sz="3600" dirty="0">
                <a:solidFill>
                  <a:srgbClr val="0070C0"/>
                </a:solidFill>
                <a:latin typeface="Times New Roman" panose="02020603050405020304" pitchFamily="18" charset="0"/>
                <a:cs typeface="Times New Roman" panose="02020603050405020304" pitchFamily="18" charset="0"/>
              </a:rPr>
              <a:t>  </a:t>
            </a:r>
            <a:r>
              <a:rPr lang="en-US" sz="3600" dirty="0">
                <a:solidFill>
                  <a:srgbClr val="0070C0"/>
                </a:solidFill>
                <a:latin typeface="Times New Roman" panose="02020603050405020304" pitchFamily="18" charset="0"/>
                <a:cs typeface="Times New Roman" panose="02020603050405020304" pitchFamily="18" charset="0"/>
              </a:rPr>
              <a:t>Quan </a:t>
            </a:r>
            <a:r>
              <a:rPr lang="en-US" sz="3600" dirty="0" err="1">
                <a:solidFill>
                  <a:srgbClr val="0070C0"/>
                </a:solidFill>
                <a:latin typeface="Times New Roman" panose="02020603050405020304" pitchFamily="18" charset="0"/>
                <a:cs typeface="Times New Roman" panose="02020603050405020304" pitchFamily="18" charset="0"/>
              </a:rPr>
              <a:t>hệ</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cung</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cầu</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trên</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thị</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trưởng</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ảnh</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hưởng</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đến</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giá</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cả</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hàng</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hóa</a:t>
            </a:r>
            <a:r>
              <a:rPr lang="en-US" sz="3600" dirty="0">
                <a:solidFill>
                  <a:srgbClr val="0070C0"/>
                </a:solidFill>
                <a:latin typeface="Times New Roman" panose="02020603050405020304" pitchFamily="18" charset="0"/>
                <a:cs typeface="Times New Roman" panose="02020603050405020304" pitchFamily="18" charset="0"/>
              </a:rPr>
              <a:t>.</a:t>
            </a:r>
            <a:r>
              <a:rPr lang="en-US" altLang="en-US" sz="3600" dirty="0">
                <a:solidFill>
                  <a:srgbClr val="0070C0"/>
                </a:solidFill>
                <a:latin typeface="Times New Roman" pitchFamily="18" charset="0"/>
                <a:cs typeface="Times New Roman" pitchFamily="18" charset="0"/>
              </a:rPr>
              <a:t>        </a:t>
            </a:r>
          </a:p>
          <a:p>
            <a:pPr marL="0" indent="0">
              <a:buNone/>
            </a:pPr>
            <a:r>
              <a:rPr lang="en-US" altLang="en-US" sz="3600" dirty="0">
                <a:solidFill>
                  <a:srgbClr val="0070C0"/>
                </a:solidFill>
                <a:latin typeface="Times New Roman" pitchFamily="18" charset="0"/>
                <a:cs typeface="Times New Roman" pitchFamily="18" charset="0"/>
              </a:rPr>
              <a:t> Khi cung = cầu, thì giá cả = giá trị</a:t>
            </a:r>
          </a:p>
          <a:p>
            <a:pPr eaLnBrk="1" hangingPunct="1">
              <a:buFont typeface="Wingdings" pitchFamily="2" charset="2"/>
              <a:buNone/>
            </a:pPr>
            <a:r>
              <a:rPr lang="en-US" altLang="en-US" sz="3600" dirty="0">
                <a:solidFill>
                  <a:srgbClr val="0070C0"/>
                </a:solidFill>
                <a:latin typeface="Times New Roman" pitchFamily="18" charset="0"/>
                <a:cs typeface="Times New Roman" pitchFamily="18" charset="0"/>
              </a:rPr>
              <a:t>	Khi cung &gt; cầu, thì giá cả &lt; giá trị</a:t>
            </a:r>
          </a:p>
          <a:p>
            <a:pPr eaLnBrk="1" hangingPunct="1">
              <a:buFont typeface="Wingdings" pitchFamily="2" charset="2"/>
              <a:buNone/>
            </a:pPr>
            <a:r>
              <a:rPr lang="en-US" altLang="en-US" sz="3600" dirty="0">
                <a:solidFill>
                  <a:srgbClr val="0070C0"/>
                </a:solidFill>
                <a:latin typeface="Times New Roman" pitchFamily="18" charset="0"/>
                <a:cs typeface="Times New Roman" pitchFamily="18" charset="0"/>
              </a:rPr>
              <a:t>	Khi cung &lt; cầu, thì giá cả &gt; giá trị</a:t>
            </a:r>
          </a:p>
          <a:p>
            <a:pPr marL="0" indent="0" eaLnBrk="1" hangingPunct="1">
              <a:buNone/>
            </a:pPr>
            <a:endParaRPr lang="en-US" altLang="en-US" sz="3600"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3588750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 calcmode="lin" valueType="num">
                                      <p:cBhvr>
                                        <p:cTn id="7" dur="500" fill="hold"/>
                                        <p:tgtEl>
                                          <p:spTgt spid="686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86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86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8611">
                                            <p:txEl>
                                              <p:pRg st="1" end="1"/>
                                            </p:txEl>
                                          </p:spTgt>
                                        </p:tgtEl>
                                        <p:attrNameLst>
                                          <p:attrName>style.visibility</p:attrName>
                                        </p:attrNameLst>
                                      </p:cBhvr>
                                      <p:to>
                                        <p:strVal val="visible"/>
                                      </p:to>
                                    </p:set>
                                    <p:anim calcmode="lin" valueType="num">
                                      <p:cBhvr>
                                        <p:cTn id="14" dur="500" fill="hold"/>
                                        <p:tgtEl>
                                          <p:spTgt spid="6861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861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861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68611">
                                            <p:txEl>
                                              <p:pRg st="2" end="2"/>
                                            </p:txEl>
                                          </p:spTgt>
                                        </p:tgtEl>
                                        <p:attrNameLst>
                                          <p:attrName>style.visibility</p:attrName>
                                        </p:attrNameLst>
                                      </p:cBhvr>
                                      <p:to>
                                        <p:strVal val="visible"/>
                                      </p:to>
                                    </p:set>
                                    <p:anim calcmode="lin" valueType="num">
                                      <p:cBhvr>
                                        <p:cTn id="21" dur="500" fill="hold"/>
                                        <p:tgtEl>
                                          <p:spTgt spid="6861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6861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6861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68611">
                                            <p:txEl>
                                              <p:pRg st="3" end="3"/>
                                            </p:txEl>
                                          </p:spTgt>
                                        </p:tgtEl>
                                        <p:attrNameLst>
                                          <p:attrName>style.visibility</p:attrName>
                                        </p:attrNameLst>
                                      </p:cBhvr>
                                      <p:to>
                                        <p:strVal val="visible"/>
                                      </p:to>
                                    </p:set>
                                    <p:anim calcmode="lin" valueType="num">
                                      <p:cBhvr>
                                        <p:cTn id="28" dur="500" fill="hold"/>
                                        <p:tgtEl>
                                          <p:spTgt spid="68611">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68611">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686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idx="1"/>
          </p:nvPr>
        </p:nvSpPr>
        <p:spPr>
          <a:xfrm>
            <a:off x="812800" y="1255594"/>
            <a:ext cx="11074400" cy="5602406"/>
          </a:xfrm>
          <a:ln>
            <a:solidFill>
              <a:srgbClr val="00FFFF"/>
            </a:solidFill>
            <a:miter lim="800000"/>
            <a:headEnd/>
            <a:tailEnd/>
          </a:ln>
        </p:spPr>
        <p:txBody>
          <a:bodyPr/>
          <a:lstStyle/>
          <a:p>
            <a:pPr marL="609600" indent="-609600">
              <a:buFont typeface="Wingdings" pitchFamily="2" charset="2"/>
              <a:buNone/>
            </a:pPr>
            <a:endParaRPr lang="en-US" altLang="en-US" sz="3600" b="1" dirty="0">
              <a:solidFill>
                <a:srgbClr val="FF3300"/>
              </a:solidFill>
              <a:latin typeface="Times New Roman" pitchFamily="18" charset="0"/>
              <a:cs typeface="Times New Roman" pitchFamily="18" charset="0"/>
            </a:endParaRPr>
          </a:p>
          <a:p>
            <a:pPr marL="609600" indent="-609600">
              <a:buFont typeface="Wingdings" pitchFamily="2" charset="2"/>
              <a:buNone/>
            </a:pPr>
            <a:r>
              <a:rPr lang="en-US" altLang="en-US" sz="3400" b="1" dirty="0">
                <a:solidFill>
                  <a:srgbClr val="0000CC"/>
                </a:solidFill>
                <a:latin typeface="Times New Roman" pitchFamily="18" charset="0"/>
                <a:cs typeface="Times New Roman" pitchFamily="18" charset="0"/>
              </a:rPr>
              <a:t>Quy luật lưu thông tiền tệ</a:t>
            </a:r>
          </a:p>
          <a:p>
            <a:pPr marL="609600" indent="-609600">
              <a:buFont typeface="Wingdings" pitchFamily="2" charset="2"/>
              <a:buNone/>
            </a:pPr>
            <a:r>
              <a:rPr lang="en-US" altLang="en-US" sz="4000" dirty="0">
                <a:latin typeface="Times New Roman" pitchFamily="18" charset="0"/>
                <a:cs typeface="Times New Roman" pitchFamily="18" charset="0"/>
              </a:rPr>
              <a:t>	</a:t>
            </a:r>
            <a:r>
              <a:rPr lang="en-US" altLang="en-US" sz="3800" dirty="0">
                <a:latin typeface="Times New Roman" pitchFamily="18" charset="0"/>
                <a:cs typeface="Times New Roman" pitchFamily="18" charset="0"/>
              </a:rPr>
              <a:t>	</a:t>
            </a:r>
            <a:r>
              <a:rPr lang="en-US" altLang="en-US" sz="3600" dirty="0">
                <a:latin typeface="Times New Roman" pitchFamily="18" charset="0"/>
                <a:cs typeface="Times New Roman" pitchFamily="18" charset="0"/>
              </a:rPr>
              <a:t>Quy luật lưu thông tiền tệ là qui luật </a:t>
            </a:r>
            <a:r>
              <a:rPr lang="en-US" altLang="en-US" sz="3600" b="1" dirty="0">
                <a:solidFill>
                  <a:srgbClr val="CC00CC"/>
                </a:solidFill>
                <a:latin typeface="Times New Roman" pitchFamily="18" charset="0"/>
                <a:cs typeface="Times New Roman" pitchFamily="18" charset="0"/>
              </a:rPr>
              <a:t>qui định số lượng tiền cần thiết cho lưu thông hàng hoá</a:t>
            </a:r>
            <a:r>
              <a:rPr lang="en-US" altLang="en-US" sz="3600" dirty="0">
                <a:latin typeface="Times New Roman" pitchFamily="18" charset="0"/>
                <a:cs typeface="Times New Roman" pitchFamily="18" charset="0"/>
              </a:rPr>
              <a:t> ở mỗi thời kỳ nhất định.</a:t>
            </a:r>
          </a:p>
          <a:p>
            <a:pPr marL="609600" indent="-609600">
              <a:buFont typeface="Wingdings" pitchFamily="2" charset="2"/>
              <a:buNone/>
            </a:pPr>
            <a:r>
              <a:rPr lang="en-US" altLang="en-US" sz="3600" dirty="0">
                <a:latin typeface="Times New Roman" pitchFamily="18" charset="0"/>
                <a:cs typeface="Times New Roman" pitchFamily="18" charset="0"/>
              </a:rPr>
              <a:t>	-	Khi tiền mới chỉ thực hiện chức năng là phương tiện lưu thông, thì số lượng tiền cần thiết cho lưu thông được tính theo công thức:</a:t>
            </a:r>
          </a:p>
          <a:p>
            <a:pPr marL="609600" indent="-609600">
              <a:buFont typeface="Wingdings" pitchFamily="2" charset="2"/>
              <a:buNone/>
            </a:pPr>
            <a:endParaRPr lang="en-US" altLang="en-US" sz="3800" dirty="0">
              <a:cs typeface="Times New Roman" pitchFamily="18" charset="0"/>
            </a:endParaRPr>
          </a:p>
        </p:txBody>
      </p:sp>
    </p:spTree>
    <p:extLst>
      <p:ext uri="{BB962C8B-B14F-4D97-AF65-F5344CB8AC3E}">
        <p14:creationId xmlns:p14="http://schemas.microsoft.com/office/powerpoint/2010/main" val="36908428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43010">
                                            <p:txEl>
                                              <p:pRg st="1" end="1"/>
                                            </p:txEl>
                                          </p:spTgt>
                                        </p:tgtEl>
                                        <p:attrNameLst>
                                          <p:attrName>style.visibility</p:attrName>
                                        </p:attrNameLst>
                                      </p:cBhvr>
                                      <p:to>
                                        <p:strVal val="visible"/>
                                      </p:to>
                                    </p:set>
                                    <p:anim calcmode="lin" valueType="num">
                                      <p:cBhvr>
                                        <p:cTn id="7" dur="500" fill="hold"/>
                                        <p:tgtEl>
                                          <p:spTgt spid="43010">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3010">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3010">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43010">
                                            <p:txEl>
                                              <p:pRg st="2" end="2"/>
                                            </p:txEl>
                                          </p:spTgt>
                                        </p:tgtEl>
                                        <p:attrNameLst>
                                          <p:attrName>style.visibility</p:attrName>
                                        </p:attrNameLst>
                                      </p:cBhvr>
                                      <p:to>
                                        <p:strVal val="visible"/>
                                      </p:to>
                                    </p:set>
                                    <p:anim calcmode="lin" valueType="num">
                                      <p:cBhvr>
                                        <p:cTn id="14" dur="500" fill="hold"/>
                                        <p:tgtEl>
                                          <p:spTgt spid="43010">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43010">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43010">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43010">
                                            <p:txEl>
                                              <p:pRg st="3" end="3"/>
                                            </p:txEl>
                                          </p:spTgt>
                                        </p:tgtEl>
                                        <p:attrNameLst>
                                          <p:attrName>style.visibility</p:attrName>
                                        </p:attrNameLst>
                                      </p:cBhvr>
                                      <p:to>
                                        <p:strVal val="visible"/>
                                      </p:to>
                                    </p:set>
                                    <p:anim calcmode="lin" valueType="num">
                                      <p:cBhvr>
                                        <p:cTn id="21" dur="500" fill="hold"/>
                                        <p:tgtEl>
                                          <p:spTgt spid="43010">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43010">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430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82276" name="Picture 4" descr="m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73600" y="838201"/>
            <a:ext cx="2946400" cy="1228725"/>
          </a:xfrm>
          <a:solidFill>
            <a:srgbClr val="FF3300"/>
          </a:solidFill>
          <a:ln>
            <a:solidFill>
              <a:srgbClr val="FF3300"/>
            </a:solidFill>
            <a:miter lim="800000"/>
            <a:headEnd/>
            <a:tailEnd/>
          </a:ln>
        </p:spPr>
      </p:pic>
      <p:sp>
        <p:nvSpPr>
          <p:cNvPr id="182279" name="Rectangle 7"/>
          <p:cNvSpPr>
            <a:spLocks noChangeArrowheads="1"/>
          </p:cNvSpPr>
          <p:nvPr/>
        </p:nvSpPr>
        <p:spPr bwMode="auto">
          <a:xfrm>
            <a:off x="1320800" y="2362201"/>
            <a:ext cx="105664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n-US" altLang="en-US" sz="3200">
                <a:latin typeface="Times New Roman" pitchFamily="18" charset="0"/>
              </a:rPr>
              <a:t>     Trong đó:</a:t>
            </a:r>
          </a:p>
          <a:p>
            <a:pPr algn="just" eaLnBrk="1" hangingPunct="1"/>
            <a:r>
              <a:rPr lang="en-US" altLang="en-US" sz="3200">
                <a:latin typeface="Times New Roman" pitchFamily="18" charset="0"/>
              </a:rPr>
              <a:t> </a:t>
            </a:r>
            <a:r>
              <a:rPr lang="en-US" altLang="en-US" sz="3200" b="1">
                <a:solidFill>
                  <a:srgbClr val="FF3300"/>
                </a:solidFill>
                <a:latin typeface="Times New Roman" pitchFamily="18" charset="0"/>
              </a:rPr>
              <a:t>M</a:t>
            </a:r>
            <a:r>
              <a:rPr lang="en-US" altLang="en-US" sz="3200" b="1">
                <a:latin typeface="Times New Roman" pitchFamily="18" charset="0"/>
              </a:rPr>
              <a:t>:</a:t>
            </a:r>
            <a:r>
              <a:rPr lang="en-US" altLang="en-US" sz="3200">
                <a:latin typeface="Times New Roman" pitchFamily="18" charset="0"/>
              </a:rPr>
              <a:t> là lượng tiền cần thiết cho lưu thông</a:t>
            </a:r>
          </a:p>
          <a:p>
            <a:pPr algn="just" eaLnBrk="1" hangingPunct="1"/>
            <a:r>
              <a:rPr lang="en-US" altLang="en-US" sz="3200">
                <a:solidFill>
                  <a:srgbClr val="FF3300"/>
                </a:solidFill>
                <a:latin typeface="Times New Roman" pitchFamily="18" charset="0"/>
              </a:rPr>
              <a:t> </a:t>
            </a:r>
            <a:r>
              <a:rPr lang="en-US" altLang="en-US" sz="3200" b="1">
                <a:solidFill>
                  <a:srgbClr val="FF3300"/>
                </a:solidFill>
                <a:latin typeface="Times New Roman" pitchFamily="18" charset="0"/>
              </a:rPr>
              <a:t>P</a:t>
            </a:r>
            <a:r>
              <a:rPr lang="en-US" altLang="en-US" sz="3200" b="1">
                <a:latin typeface="Times New Roman" pitchFamily="18" charset="0"/>
              </a:rPr>
              <a:t>:</a:t>
            </a:r>
            <a:r>
              <a:rPr lang="en-US" altLang="en-US" sz="3200">
                <a:latin typeface="Times New Roman" pitchFamily="18" charset="0"/>
              </a:rPr>
              <a:t>  là mức giá cả</a:t>
            </a:r>
          </a:p>
          <a:p>
            <a:pPr algn="just" eaLnBrk="1" hangingPunct="1"/>
            <a:r>
              <a:rPr lang="en-US" altLang="en-US" sz="3200">
                <a:solidFill>
                  <a:srgbClr val="FF3300"/>
                </a:solidFill>
                <a:latin typeface="Times New Roman" pitchFamily="18" charset="0"/>
              </a:rPr>
              <a:t> </a:t>
            </a:r>
            <a:r>
              <a:rPr lang="en-US" altLang="en-US" sz="3200" b="1">
                <a:solidFill>
                  <a:srgbClr val="FF3300"/>
                </a:solidFill>
                <a:latin typeface="Times New Roman" pitchFamily="18" charset="0"/>
              </a:rPr>
              <a:t>Q</a:t>
            </a:r>
            <a:r>
              <a:rPr lang="en-US" altLang="en-US" sz="3200" b="1">
                <a:latin typeface="Times New Roman" pitchFamily="18" charset="0"/>
              </a:rPr>
              <a:t>:</a:t>
            </a:r>
            <a:r>
              <a:rPr lang="en-US" altLang="en-US" sz="3200">
                <a:latin typeface="Times New Roman" pitchFamily="18" charset="0"/>
              </a:rPr>
              <a:t> là khối lượng hàng hoá đem ra lưu thông</a:t>
            </a:r>
          </a:p>
          <a:p>
            <a:pPr algn="just" eaLnBrk="1" hangingPunct="1"/>
            <a:r>
              <a:rPr lang="en-US" altLang="en-US" sz="3200">
                <a:latin typeface="Times New Roman" pitchFamily="18" charset="0"/>
              </a:rPr>
              <a:t> </a:t>
            </a:r>
            <a:r>
              <a:rPr lang="en-US" altLang="en-US" sz="3200" b="1">
                <a:solidFill>
                  <a:srgbClr val="FF3300"/>
                </a:solidFill>
                <a:latin typeface="Times New Roman" pitchFamily="18" charset="0"/>
              </a:rPr>
              <a:t>V</a:t>
            </a:r>
            <a:r>
              <a:rPr lang="en-US" altLang="en-US" sz="3200" b="1">
                <a:latin typeface="Times New Roman" pitchFamily="18" charset="0"/>
              </a:rPr>
              <a:t>:</a:t>
            </a:r>
            <a:r>
              <a:rPr lang="en-US" altLang="en-US" sz="3200">
                <a:latin typeface="Times New Roman" pitchFamily="18" charset="0"/>
              </a:rPr>
              <a:t> là số vòng luân chuyển trung bình của một đơn vị tiền tệ.</a:t>
            </a:r>
          </a:p>
        </p:txBody>
      </p:sp>
    </p:spTree>
    <p:extLst>
      <p:ext uri="{BB962C8B-B14F-4D97-AF65-F5344CB8AC3E}">
        <p14:creationId xmlns:p14="http://schemas.microsoft.com/office/powerpoint/2010/main" val="392127977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182276"/>
                                        </p:tgtEl>
                                        <p:attrNameLst>
                                          <p:attrName>style.visibility</p:attrName>
                                        </p:attrNameLst>
                                      </p:cBhvr>
                                      <p:to>
                                        <p:strVal val="visible"/>
                                      </p:to>
                                    </p:set>
                                    <p:anim calcmode="lin" valueType="num">
                                      <p:cBhvr>
                                        <p:cTn id="7" dur="500" fill="hold"/>
                                        <p:tgtEl>
                                          <p:spTgt spid="182276"/>
                                        </p:tgtEl>
                                        <p:attrNameLst>
                                          <p:attrName>ppt_w</p:attrName>
                                        </p:attrNameLst>
                                      </p:cBhvr>
                                      <p:tavLst>
                                        <p:tav tm="0">
                                          <p:val>
                                            <p:fltVal val="0"/>
                                          </p:val>
                                        </p:tav>
                                        <p:tav tm="100000">
                                          <p:val>
                                            <p:strVal val="#ppt_w"/>
                                          </p:val>
                                        </p:tav>
                                      </p:tavLst>
                                    </p:anim>
                                    <p:anim calcmode="lin" valueType="num">
                                      <p:cBhvr>
                                        <p:cTn id="8" dur="500" fill="hold"/>
                                        <p:tgtEl>
                                          <p:spTgt spid="182276"/>
                                        </p:tgtEl>
                                        <p:attrNameLst>
                                          <p:attrName>ppt_h</p:attrName>
                                        </p:attrNameLst>
                                      </p:cBhvr>
                                      <p:tavLst>
                                        <p:tav tm="0">
                                          <p:val>
                                            <p:fltVal val="0"/>
                                          </p:val>
                                        </p:tav>
                                        <p:tav tm="100000">
                                          <p:val>
                                            <p:strVal val="#ppt_h"/>
                                          </p:val>
                                        </p:tav>
                                      </p:tavLst>
                                    </p:anim>
                                    <p:animEffect transition="in" filter="fade">
                                      <p:cBhvr>
                                        <p:cTn id="9" dur="500"/>
                                        <p:tgtEl>
                                          <p:spTgt spid="18227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82279">
                                            <p:txEl>
                                              <p:pRg st="0" end="0"/>
                                            </p:txEl>
                                          </p:spTgt>
                                        </p:tgtEl>
                                        <p:attrNameLst>
                                          <p:attrName>style.visibility</p:attrName>
                                        </p:attrNameLst>
                                      </p:cBhvr>
                                      <p:to>
                                        <p:strVal val="visible"/>
                                      </p:to>
                                    </p:set>
                                    <p:anim calcmode="lin" valueType="num">
                                      <p:cBhvr>
                                        <p:cTn id="14" dur="500" fill="hold"/>
                                        <p:tgtEl>
                                          <p:spTgt spid="18227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8227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82279">
                                            <p:txEl>
                                              <p:pRg st="0" end="0"/>
                                            </p:txEl>
                                          </p:spTgt>
                                        </p:tgtEl>
                                      </p:cBhvr>
                                    </p:animEffect>
                                  </p:childTnLst>
                                </p:cTn>
                              </p:par>
                            </p:childTnLst>
                          </p:cTn>
                        </p:par>
                        <p:par>
                          <p:cTn id="17" fill="hold" nodeType="afterGroup">
                            <p:stCondLst>
                              <p:cond delay="500"/>
                            </p:stCondLst>
                            <p:childTnLst>
                              <p:par>
                                <p:cTn id="18" presetID="53" presetClass="entr" presetSubtype="0" fill="hold" nodeType="afterEffect">
                                  <p:stCondLst>
                                    <p:cond delay="0"/>
                                  </p:stCondLst>
                                  <p:childTnLst>
                                    <p:set>
                                      <p:cBhvr>
                                        <p:cTn id="19" dur="1" fill="hold">
                                          <p:stCondLst>
                                            <p:cond delay="0"/>
                                          </p:stCondLst>
                                        </p:cTn>
                                        <p:tgtEl>
                                          <p:spTgt spid="182279">
                                            <p:txEl>
                                              <p:pRg st="1" end="1"/>
                                            </p:txEl>
                                          </p:spTgt>
                                        </p:tgtEl>
                                        <p:attrNameLst>
                                          <p:attrName>style.visibility</p:attrName>
                                        </p:attrNameLst>
                                      </p:cBhvr>
                                      <p:to>
                                        <p:strVal val="visible"/>
                                      </p:to>
                                    </p:set>
                                    <p:anim calcmode="lin" valueType="num">
                                      <p:cBhvr>
                                        <p:cTn id="20" dur="500" fill="hold"/>
                                        <p:tgtEl>
                                          <p:spTgt spid="182279">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182279">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182279">
                                            <p:txEl>
                                              <p:pRg st="1" end="1"/>
                                            </p:txEl>
                                          </p:spTgt>
                                        </p:tgtEl>
                                      </p:cBhvr>
                                    </p:animEffect>
                                  </p:childTnLst>
                                </p:cTn>
                              </p:par>
                            </p:childTnLst>
                          </p:cTn>
                        </p:par>
                        <p:par>
                          <p:cTn id="23" fill="hold" nodeType="afterGroup">
                            <p:stCondLst>
                              <p:cond delay="1000"/>
                            </p:stCondLst>
                            <p:childTnLst>
                              <p:par>
                                <p:cTn id="24" presetID="53" presetClass="entr" presetSubtype="0" fill="hold" nodeType="afterEffect">
                                  <p:stCondLst>
                                    <p:cond delay="0"/>
                                  </p:stCondLst>
                                  <p:childTnLst>
                                    <p:set>
                                      <p:cBhvr>
                                        <p:cTn id="25" dur="1" fill="hold">
                                          <p:stCondLst>
                                            <p:cond delay="0"/>
                                          </p:stCondLst>
                                        </p:cTn>
                                        <p:tgtEl>
                                          <p:spTgt spid="182279">
                                            <p:txEl>
                                              <p:pRg st="2" end="2"/>
                                            </p:txEl>
                                          </p:spTgt>
                                        </p:tgtEl>
                                        <p:attrNameLst>
                                          <p:attrName>style.visibility</p:attrName>
                                        </p:attrNameLst>
                                      </p:cBhvr>
                                      <p:to>
                                        <p:strVal val="visible"/>
                                      </p:to>
                                    </p:set>
                                    <p:anim calcmode="lin" valueType="num">
                                      <p:cBhvr>
                                        <p:cTn id="26" dur="500" fill="hold"/>
                                        <p:tgtEl>
                                          <p:spTgt spid="182279">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182279">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182279">
                                            <p:txEl>
                                              <p:pRg st="2" end="2"/>
                                            </p:txEl>
                                          </p:spTgt>
                                        </p:tgtEl>
                                      </p:cBhvr>
                                    </p:animEffect>
                                  </p:childTnLst>
                                </p:cTn>
                              </p:par>
                            </p:childTnLst>
                          </p:cTn>
                        </p:par>
                        <p:par>
                          <p:cTn id="29" fill="hold" nodeType="afterGroup">
                            <p:stCondLst>
                              <p:cond delay="1500"/>
                            </p:stCondLst>
                            <p:childTnLst>
                              <p:par>
                                <p:cTn id="30" presetID="53" presetClass="entr" presetSubtype="0" fill="hold" nodeType="afterEffect">
                                  <p:stCondLst>
                                    <p:cond delay="0"/>
                                  </p:stCondLst>
                                  <p:childTnLst>
                                    <p:set>
                                      <p:cBhvr>
                                        <p:cTn id="31" dur="1" fill="hold">
                                          <p:stCondLst>
                                            <p:cond delay="0"/>
                                          </p:stCondLst>
                                        </p:cTn>
                                        <p:tgtEl>
                                          <p:spTgt spid="182279">
                                            <p:txEl>
                                              <p:pRg st="3" end="3"/>
                                            </p:txEl>
                                          </p:spTgt>
                                        </p:tgtEl>
                                        <p:attrNameLst>
                                          <p:attrName>style.visibility</p:attrName>
                                        </p:attrNameLst>
                                      </p:cBhvr>
                                      <p:to>
                                        <p:strVal val="visible"/>
                                      </p:to>
                                    </p:set>
                                    <p:anim calcmode="lin" valueType="num">
                                      <p:cBhvr>
                                        <p:cTn id="32" dur="500" fill="hold"/>
                                        <p:tgtEl>
                                          <p:spTgt spid="182279">
                                            <p:txEl>
                                              <p:pRg st="3" end="3"/>
                                            </p:txEl>
                                          </p:spTgt>
                                        </p:tgtEl>
                                        <p:attrNameLst>
                                          <p:attrName>ppt_w</p:attrName>
                                        </p:attrNameLst>
                                      </p:cBhvr>
                                      <p:tavLst>
                                        <p:tav tm="0">
                                          <p:val>
                                            <p:fltVal val="0"/>
                                          </p:val>
                                        </p:tav>
                                        <p:tav tm="100000">
                                          <p:val>
                                            <p:strVal val="#ppt_w"/>
                                          </p:val>
                                        </p:tav>
                                      </p:tavLst>
                                    </p:anim>
                                    <p:anim calcmode="lin" valueType="num">
                                      <p:cBhvr>
                                        <p:cTn id="33" dur="500" fill="hold"/>
                                        <p:tgtEl>
                                          <p:spTgt spid="182279">
                                            <p:txEl>
                                              <p:pRg st="3" end="3"/>
                                            </p:txEl>
                                          </p:spTgt>
                                        </p:tgtEl>
                                        <p:attrNameLst>
                                          <p:attrName>ppt_h</p:attrName>
                                        </p:attrNameLst>
                                      </p:cBhvr>
                                      <p:tavLst>
                                        <p:tav tm="0">
                                          <p:val>
                                            <p:fltVal val="0"/>
                                          </p:val>
                                        </p:tav>
                                        <p:tav tm="100000">
                                          <p:val>
                                            <p:strVal val="#ppt_h"/>
                                          </p:val>
                                        </p:tav>
                                      </p:tavLst>
                                    </p:anim>
                                    <p:animEffect transition="in" filter="fade">
                                      <p:cBhvr>
                                        <p:cTn id="34" dur="500"/>
                                        <p:tgtEl>
                                          <p:spTgt spid="182279">
                                            <p:txEl>
                                              <p:pRg st="3" end="3"/>
                                            </p:txEl>
                                          </p:spTgt>
                                        </p:tgtEl>
                                      </p:cBhvr>
                                    </p:animEffect>
                                  </p:childTnLst>
                                </p:cTn>
                              </p:par>
                            </p:childTnLst>
                          </p:cTn>
                        </p:par>
                        <p:par>
                          <p:cTn id="35" fill="hold" nodeType="afterGroup">
                            <p:stCondLst>
                              <p:cond delay="2000"/>
                            </p:stCondLst>
                            <p:childTnLst>
                              <p:par>
                                <p:cTn id="36" presetID="53" presetClass="entr" presetSubtype="0" fill="hold" nodeType="afterEffect">
                                  <p:stCondLst>
                                    <p:cond delay="0"/>
                                  </p:stCondLst>
                                  <p:childTnLst>
                                    <p:set>
                                      <p:cBhvr>
                                        <p:cTn id="37" dur="1" fill="hold">
                                          <p:stCondLst>
                                            <p:cond delay="0"/>
                                          </p:stCondLst>
                                        </p:cTn>
                                        <p:tgtEl>
                                          <p:spTgt spid="182279">
                                            <p:txEl>
                                              <p:pRg st="4" end="4"/>
                                            </p:txEl>
                                          </p:spTgt>
                                        </p:tgtEl>
                                        <p:attrNameLst>
                                          <p:attrName>style.visibility</p:attrName>
                                        </p:attrNameLst>
                                      </p:cBhvr>
                                      <p:to>
                                        <p:strVal val="visible"/>
                                      </p:to>
                                    </p:set>
                                    <p:anim calcmode="lin" valueType="num">
                                      <p:cBhvr>
                                        <p:cTn id="38" dur="500" fill="hold"/>
                                        <p:tgtEl>
                                          <p:spTgt spid="182279">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182279">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1822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p:cNvSpPr>
            <a:spLocks noGrp="1"/>
          </p:cNvSpPr>
          <p:nvPr>
            <p:ph idx="1"/>
          </p:nvPr>
        </p:nvSpPr>
        <p:spPr>
          <a:xfrm>
            <a:off x="2906972" y="559558"/>
            <a:ext cx="8904027" cy="4503762"/>
          </a:xfrm>
        </p:spPr>
        <p:txBody>
          <a:bodyPr>
            <a:normAutofit lnSpcReduction="10000"/>
          </a:bodyPr>
          <a:lstStyle/>
          <a:p>
            <a:pPr>
              <a:buFont typeface="Arial" charset="0"/>
              <a:buNone/>
            </a:pPr>
            <a:endParaRPr lang="en-US" altLang="en-US" dirty="0"/>
          </a:p>
          <a:p>
            <a:pPr>
              <a:buFont typeface="Arial" charset="0"/>
              <a:buNone/>
            </a:pPr>
            <a:r>
              <a:rPr lang="en-US" altLang="en-US" dirty="0"/>
              <a:t>          </a:t>
            </a:r>
          </a:p>
          <a:p>
            <a:pPr>
              <a:buFont typeface="Arial" charset="0"/>
              <a:buNone/>
            </a:pPr>
            <a:r>
              <a:rPr lang="en-US" altLang="en-US" b="1" dirty="0">
                <a:solidFill>
                  <a:srgbClr val="FF0000"/>
                </a:solidFill>
              </a:rPr>
              <a:t>M</a:t>
            </a:r>
            <a:r>
              <a:rPr lang="en-US" altLang="en-US" dirty="0"/>
              <a:t>=</a:t>
            </a:r>
          </a:p>
          <a:p>
            <a:pPr>
              <a:buFont typeface="Arial" charset="0"/>
              <a:buNone/>
            </a:pPr>
            <a:r>
              <a:rPr lang="en-US" altLang="en-US" dirty="0"/>
              <a:t>                         </a:t>
            </a:r>
          </a:p>
          <a:p>
            <a:pPr>
              <a:buFont typeface="Arial" charset="0"/>
              <a:buNone/>
            </a:pPr>
            <a:r>
              <a:rPr lang="en-US" altLang="en-US" dirty="0"/>
              <a:t>Trong đó: </a:t>
            </a:r>
            <a:r>
              <a:rPr lang="en-US" altLang="en-US" dirty="0">
                <a:solidFill>
                  <a:srgbClr val="0070C0"/>
                </a:solidFill>
              </a:rPr>
              <a:t>P.Q</a:t>
            </a:r>
            <a:r>
              <a:rPr lang="en-US" altLang="en-US" dirty="0"/>
              <a:t> là tổng giá cả hàng hóa , </a:t>
            </a:r>
          </a:p>
          <a:p>
            <a:pPr>
              <a:buFont typeface="Arial" charset="0"/>
              <a:buNone/>
            </a:pPr>
            <a:r>
              <a:rPr lang="en-US" altLang="en-US" dirty="0">
                <a:solidFill>
                  <a:srgbClr val="0070C0"/>
                </a:solidFill>
              </a:rPr>
              <a:t>G1</a:t>
            </a:r>
            <a:r>
              <a:rPr lang="en-US" altLang="en-US" dirty="0"/>
              <a:t> là tổng giá cả hàng hóa bán chịu,</a:t>
            </a:r>
          </a:p>
          <a:p>
            <a:pPr>
              <a:buFont typeface="Arial" charset="0"/>
              <a:buNone/>
            </a:pPr>
            <a:r>
              <a:rPr lang="en-US" altLang="en-US" dirty="0"/>
              <a:t> </a:t>
            </a:r>
            <a:r>
              <a:rPr lang="en-US" altLang="en-US" dirty="0">
                <a:solidFill>
                  <a:srgbClr val="0070C0"/>
                </a:solidFill>
              </a:rPr>
              <a:t>G2</a:t>
            </a:r>
            <a:r>
              <a:rPr lang="en-US" altLang="en-US" dirty="0"/>
              <a:t> là tổng giá cả hàng hóa khấu trừ cho nhau</a:t>
            </a:r>
          </a:p>
          <a:p>
            <a:pPr>
              <a:buFont typeface="Arial" charset="0"/>
              <a:buNone/>
            </a:pPr>
            <a:r>
              <a:rPr lang="en-US" altLang="en-US" dirty="0">
                <a:solidFill>
                  <a:srgbClr val="0070C0"/>
                </a:solidFill>
              </a:rPr>
              <a:t>G3</a:t>
            </a:r>
            <a:r>
              <a:rPr lang="en-US" altLang="en-US" dirty="0"/>
              <a:t> là tổng giá cả đến kỳ thanh toán</a:t>
            </a:r>
          </a:p>
          <a:p>
            <a:pPr>
              <a:buFont typeface="Arial" charset="0"/>
              <a:buNone/>
            </a:pPr>
            <a:r>
              <a:rPr lang="en-US" altLang="en-US" dirty="0">
                <a:solidFill>
                  <a:srgbClr val="0070C0"/>
                </a:solidFill>
              </a:rPr>
              <a:t>V</a:t>
            </a:r>
            <a:r>
              <a:rPr lang="en-US" altLang="en-US" dirty="0"/>
              <a:t> là số vòng quay trung bình của tiền tệ</a:t>
            </a:r>
          </a:p>
        </p:txBody>
      </p:sp>
      <p:cxnSp>
        <p:nvCxnSpPr>
          <p:cNvPr id="5" name="Straight Connector 4"/>
          <p:cNvCxnSpPr/>
          <p:nvPr/>
        </p:nvCxnSpPr>
        <p:spPr>
          <a:xfrm>
            <a:off x="3721859" y="1644651"/>
            <a:ext cx="4476751" cy="1587"/>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217186" y="1071564"/>
            <a:ext cx="4476749" cy="42862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2500" b="1" dirty="0">
                <a:solidFill>
                  <a:srgbClr val="FF0000"/>
                </a:solidFill>
              </a:rPr>
              <a:t>P.Q – (G1+G2)+ G3</a:t>
            </a:r>
          </a:p>
        </p:txBody>
      </p:sp>
      <p:sp>
        <p:nvSpPr>
          <p:cNvPr id="8" name="Rectangle 7"/>
          <p:cNvSpPr/>
          <p:nvPr/>
        </p:nvSpPr>
        <p:spPr>
          <a:xfrm>
            <a:off x="3595581" y="1786364"/>
            <a:ext cx="4476751" cy="3571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2500" b="1" dirty="0">
                <a:solidFill>
                  <a:srgbClr val="FF0000"/>
                </a:solidFill>
              </a:rPr>
              <a:t>V</a:t>
            </a:r>
          </a:p>
        </p:txBody>
      </p:sp>
    </p:spTree>
    <p:extLst>
      <p:ext uri="{BB962C8B-B14F-4D97-AF65-F5344CB8AC3E}">
        <p14:creationId xmlns:p14="http://schemas.microsoft.com/office/powerpoint/2010/main" val="1872832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33015"/>
            <a:ext cx="12192000" cy="5424984"/>
          </a:xfrm>
        </p:spPr>
        <p:txBody>
          <a:bodyPr rtlCol="0">
            <a:normAutofit/>
          </a:bodyPr>
          <a:lstStyle/>
          <a:p>
            <a:pPr marL="609600" indent="-609600" fontAlgn="auto">
              <a:spcAft>
                <a:spcPts val="0"/>
              </a:spcAft>
              <a:buFont typeface="Wingdings" pitchFamily="2" charset="2"/>
              <a:buNone/>
              <a:defRPr/>
            </a:pPr>
            <a:endParaRPr lang="en-US" sz="3600" b="1" u="sng" dirty="0">
              <a:solidFill>
                <a:srgbClr val="0000CC"/>
              </a:solidFill>
              <a:latin typeface="Times New Roman" pitchFamily="18" charset="0"/>
              <a:cs typeface="Times New Roman" pitchFamily="18" charset="0"/>
            </a:endParaRPr>
          </a:p>
          <a:p>
            <a:pPr marL="609600" indent="-609600" fontAlgn="auto">
              <a:spcAft>
                <a:spcPts val="0"/>
              </a:spcAft>
              <a:buFont typeface="Wingdings" pitchFamily="2" charset="2"/>
              <a:buNone/>
              <a:defRPr/>
            </a:pPr>
            <a:r>
              <a:rPr lang="en-US" b="1" dirty="0">
                <a:solidFill>
                  <a:schemeClr val="hlink"/>
                </a:solidFill>
                <a:latin typeface="Times New Roman" pitchFamily="18" charset="0"/>
                <a:cs typeface="Times New Roman" pitchFamily="18" charset="0"/>
              </a:rPr>
              <a:t>          </a:t>
            </a:r>
            <a:endParaRPr lang="en-US" dirty="0"/>
          </a:p>
        </p:txBody>
      </p:sp>
      <p:sp>
        <p:nvSpPr>
          <p:cNvPr id="4" name="Pentagon 3"/>
          <p:cNvSpPr/>
          <p:nvPr/>
        </p:nvSpPr>
        <p:spPr bwMode="auto">
          <a:xfrm>
            <a:off x="508000" y="2743200"/>
            <a:ext cx="2336800" cy="1143000"/>
          </a:xfrm>
          <a:prstGeom prst="homePlate">
            <a:avLst>
              <a:gd name="adj" fmla="val 41579"/>
            </a:avLst>
          </a:prstGeom>
          <a:solidFill>
            <a:srgbClr val="FFFFC5"/>
          </a:solidFill>
          <a:ln w="9525"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a:lstStyle/>
          <a:p>
            <a:pPr algn="ctr" fontAlgn="auto">
              <a:spcBef>
                <a:spcPts val="0"/>
              </a:spcBef>
              <a:spcAft>
                <a:spcPts val="0"/>
              </a:spcAft>
              <a:defRPr/>
            </a:pPr>
            <a:r>
              <a:rPr lang="en-US" sz="3300" dirty="0">
                <a:latin typeface="+mn-lt"/>
                <a:cs typeface="Times New Roman" pitchFamily="18" charset="0"/>
              </a:rPr>
              <a:t> </a:t>
            </a:r>
            <a:r>
              <a:rPr lang="en-US" sz="3300" b="1" dirty="0">
                <a:solidFill>
                  <a:srgbClr val="FF3300"/>
                </a:solidFill>
                <a:latin typeface="+mn-lt"/>
                <a:cs typeface="Times New Roman" pitchFamily="18" charset="0"/>
              </a:rPr>
              <a:t>khái niệm</a:t>
            </a:r>
            <a:endParaRPr lang="en-US" sz="3300" dirty="0">
              <a:latin typeface="+mn-lt"/>
              <a:cs typeface="+mn-cs"/>
            </a:endParaRPr>
          </a:p>
        </p:txBody>
      </p:sp>
      <p:sp>
        <p:nvSpPr>
          <p:cNvPr id="5" name="Horizontal Scroll 4"/>
          <p:cNvSpPr/>
          <p:nvPr/>
        </p:nvSpPr>
        <p:spPr bwMode="auto">
          <a:xfrm>
            <a:off x="2641600" y="838200"/>
            <a:ext cx="8940800" cy="4800600"/>
          </a:xfrm>
          <a:prstGeom prst="horizontalScroll">
            <a:avLst/>
          </a:prstGeom>
          <a:solidFill>
            <a:schemeClr val="tx2">
              <a:lumMod val="20000"/>
              <a:lumOff val="80000"/>
            </a:schemeClr>
          </a:solidFill>
          <a:ln w="9525" cap="flat" cmpd="sng" algn="ctr">
            <a:solidFill>
              <a:schemeClr val="tx1"/>
            </a:solidFill>
            <a:prstDash val="solid"/>
            <a:round/>
            <a:headEnd type="none" w="med" len="med"/>
            <a:tailEnd type="none" w="med" len="med"/>
          </a:ln>
          <a:effectLst>
            <a:innerShdw blurRad="63500" dist="50800" dir="8100000">
              <a:prstClr val="black">
                <a:alpha val="50000"/>
              </a:prstClr>
            </a:innerShdw>
          </a:effectLst>
          <a:scene3d>
            <a:camera prst="perspectiveLeft"/>
            <a:lightRig rig="threePt" dir="t"/>
          </a:scene3d>
        </p:spPr>
        <p:txBody>
          <a:bodyPr/>
          <a:lstStyle/>
          <a:p>
            <a:pPr algn="ctr" fontAlgn="auto">
              <a:spcBef>
                <a:spcPts val="0"/>
              </a:spcBef>
              <a:spcAft>
                <a:spcPts val="0"/>
              </a:spcAft>
              <a:defRPr/>
            </a:pPr>
            <a:r>
              <a:rPr lang="en-US" sz="3200" b="1" dirty="0" err="1">
                <a:solidFill>
                  <a:srgbClr val="0000CC"/>
                </a:solidFill>
                <a:latin typeface="+mn-lt"/>
                <a:cs typeface="Times New Roman" pitchFamily="18" charset="0"/>
              </a:rPr>
              <a:t>Là</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sự</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ganh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đua</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giữa</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các</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chủ</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thể</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tham</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gia</a:t>
            </a:r>
            <a:r>
              <a:rPr lang="en-US" sz="3200" b="1" dirty="0">
                <a:solidFill>
                  <a:srgbClr val="0000CC"/>
                </a:solidFill>
                <a:latin typeface="+mn-lt"/>
                <a:cs typeface="Times New Roman" pitchFamily="18" charset="0"/>
              </a:rPr>
              <a:t> SX –</a:t>
            </a:r>
            <a:r>
              <a:rPr lang="en-US" sz="3200" b="1" dirty="0" err="1">
                <a:solidFill>
                  <a:srgbClr val="0000CC"/>
                </a:solidFill>
                <a:latin typeface="+mn-lt"/>
                <a:cs typeface="Times New Roman" pitchFamily="18" charset="0"/>
              </a:rPr>
              <a:t>kinh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doanh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với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nhau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nhằm</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giành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những</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điều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kiện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thuận</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lợi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trong</a:t>
            </a:r>
            <a:r>
              <a:rPr lang="en-US" sz="3200" b="1" dirty="0">
                <a:solidFill>
                  <a:srgbClr val="0000CC"/>
                </a:solidFill>
                <a:latin typeface="+mn-lt"/>
                <a:cs typeface="Times New Roman" pitchFamily="18" charset="0"/>
              </a:rPr>
              <a:t> SX - </a:t>
            </a:r>
            <a:r>
              <a:rPr lang="en-US" sz="3200" b="1" dirty="0" err="1">
                <a:solidFill>
                  <a:srgbClr val="0000CC"/>
                </a:solidFill>
                <a:latin typeface="+mn-lt"/>
                <a:cs typeface="Times New Roman" pitchFamily="18" charset="0"/>
              </a:rPr>
              <a:t>kinh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doanh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tiêu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thụ</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hàng</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hóa</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dịch</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vụ</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để</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thu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được</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nhiều</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lơi</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cho</a:t>
            </a:r>
            <a:r>
              <a:rPr lang="en-US" sz="3200" b="1" dirty="0">
                <a:solidFill>
                  <a:srgbClr val="0000CC"/>
                </a:solidFill>
                <a:latin typeface="+mn-lt"/>
                <a:cs typeface="Times New Roman" pitchFamily="18" charset="0"/>
              </a:rPr>
              <a:t> </a:t>
            </a:r>
            <a:r>
              <a:rPr lang="en-US" sz="3200" b="1" dirty="0" err="1">
                <a:solidFill>
                  <a:srgbClr val="0000CC"/>
                </a:solidFill>
                <a:latin typeface="+mn-lt"/>
                <a:cs typeface="Times New Roman" pitchFamily="18" charset="0"/>
              </a:rPr>
              <a:t>mình</a:t>
            </a:r>
            <a:endParaRPr lang="en-US" sz="3200" b="1" dirty="0">
              <a:solidFill>
                <a:srgbClr val="0000CC"/>
              </a:solidFill>
              <a:latin typeface="+mn-lt"/>
              <a:cs typeface="+mn-cs"/>
            </a:endParaRPr>
          </a:p>
        </p:txBody>
      </p:sp>
      <p:sp>
        <p:nvSpPr>
          <p:cNvPr id="2" name="TextBox 1"/>
          <p:cNvSpPr txBox="1"/>
          <p:nvPr/>
        </p:nvSpPr>
        <p:spPr>
          <a:xfrm>
            <a:off x="3521122" y="532263"/>
            <a:ext cx="4271750" cy="954107"/>
          </a:xfrm>
          <a:prstGeom prst="rect">
            <a:avLst/>
          </a:prstGeom>
          <a:noFill/>
        </p:spPr>
        <p:txBody>
          <a:bodyPr wrap="square" rtlCol="0">
            <a:spAutoFit/>
          </a:bodyPr>
          <a:lstStyle/>
          <a:p>
            <a:r>
              <a:rPr lang="en-US" sz="2800" b="1" dirty="0">
                <a:solidFill>
                  <a:srgbClr val="CC3399"/>
                </a:solidFill>
                <a:latin typeface="Times New Roman" pitchFamily="18" charset="0"/>
                <a:cs typeface="Times New Roman" pitchFamily="18" charset="0"/>
              </a:rPr>
              <a:t>Cạnh tranh</a:t>
            </a:r>
          </a:p>
          <a:p>
            <a:endParaRPr lang="en-US" sz="2800" dirty="0"/>
          </a:p>
        </p:txBody>
      </p:sp>
    </p:spTree>
    <p:extLst>
      <p:ext uri="{BB962C8B-B14F-4D97-AF65-F5344CB8AC3E}">
        <p14:creationId xmlns:p14="http://schemas.microsoft.com/office/powerpoint/2010/main" val="178687308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1"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4)">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heckerboard(across)">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0" y="152400"/>
            <a:ext cx="12192000" cy="990600"/>
          </a:xfrm>
        </p:spPr>
        <p:txBody>
          <a:bodyPr rtlCol="0">
            <a:normAutofit fontScale="90000"/>
          </a:bodyPr>
          <a:lstStyle/>
          <a:p>
            <a:pPr algn="ctr" fontAlgn="auto">
              <a:spcAft>
                <a:spcPts val="0"/>
              </a:spcAft>
              <a:defRPr/>
            </a:pPr>
            <a:br>
              <a:rPr lang="en-US" sz="2400" dirty="0">
                <a:latin typeface=".VnTime" pitchFamily="34" charset="0"/>
              </a:rPr>
            </a:br>
            <a:r>
              <a:rPr lang="en-US" sz="3200" u="sng" dirty="0">
                <a:solidFill>
                  <a:srgbClr val="FF3300"/>
                </a:solidFill>
                <a:cs typeface="Times New Roman" pitchFamily="18" charset="0"/>
              </a:rPr>
              <a:t> </a:t>
            </a:r>
            <a:r>
              <a:rPr lang="en-US" b="1" u="sng" dirty="0">
                <a:solidFill>
                  <a:srgbClr val="FF3300"/>
                </a:solidFill>
                <a:latin typeface="Times New Roman" pitchFamily="18" charset="0"/>
                <a:cs typeface="Times New Roman" pitchFamily="18" charset="0"/>
              </a:rPr>
              <a:t> Các loại cạnh tranh:</a:t>
            </a:r>
            <a:br>
              <a:rPr lang="en-US" sz="3600" dirty="0">
                <a:solidFill>
                  <a:srgbClr val="0000CC"/>
                </a:solidFill>
                <a:cs typeface="Times New Roman" pitchFamily="18" charset="0"/>
              </a:rPr>
            </a:br>
            <a:endParaRPr lang="en-US" sz="3600" dirty="0">
              <a:solidFill>
                <a:srgbClr val="0000CC"/>
              </a:solidFill>
              <a:cs typeface="Times New Roman" pitchFamily="18" charset="0"/>
            </a:endParaRPr>
          </a:p>
        </p:txBody>
      </p:sp>
      <p:sp>
        <p:nvSpPr>
          <p:cNvPr id="86019" name="AutoShape 3"/>
          <p:cNvSpPr>
            <a:spLocks noChangeArrowheads="1"/>
          </p:cNvSpPr>
          <p:nvPr/>
        </p:nvSpPr>
        <p:spPr bwMode="auto">
          <a:xfrm>
            <a:off x="7213600" y="1600200"/>
            <a:ext cx="4368800" cy="3505200"/>
          </a:xfrm>
          <a:prstGeom prst="roundRect">
            <a:avLst>
              <a:gd name="adj" fmla="val 16667"/>
            </a:avLst>
          </a:prstGeom>
          <a:blipFill>
            <a:blip r:embed="rId2"/>
            <a:tile tx="0" ty="0" sx="100000" sy="100000" flip="none" algn="tl"/>
          </a:blipFill>
          <a:ln w="38100">
            <a:solidFill>
              <a:schemeClr val="tx1"/>
            </a:solidFill>
            <a:round/>
            <a:headEnd/>
            <a:tailEnd/>
          </a:ln>
          <a:scene3d>
            <a:camera prst="orthographicFront"/>
            <a:lightRig rig="threePt" dir="t"/>
          </a:scene3d>
          <a:sp3d>
            <a:bevelT prst="angle"/>
          </a:sp3d>
        </p:spPr>
        <p:txBody>
          <a:bodyPr wrap="none" anchor="ctr"/>
          <a:lstStyle/>
          <a:p>
            <a:pPr algn="ctr" fontAlgn="auto">
              <a:spcBef>
                <a:spcPts val="0"/>
              </a:spcBef>
              <a:spcAft>
                <a:spcPts val="0"/>
              </a:spcAft>
              <a:defRPr/>
            </a:pPr>
            <a:r>
              <a:rPr lang="en-US" sz="3200" b="1" dirty="0" err="1">
                <a:latin typeface="+mn-lt"/>
                <a:cs typeface="Times New Roman" pitchFamily="18" charset="0"/>
              </a:rPr>
              <a:t>Giữa</a:t>
            </a:r>
            <a:r>
              <a:rPr lang="en-US" sz="3200" b="1" dirty="0">
                <a:latin typeface="+mn-lt"/>
                <a:cs typeface="Times New Roman" pitchFamily="18" charset="0"/>
              </a:rPr>
              <a:t> </a:t>
            </a:r>
            <a:r>
              <a:rPr lang="en-US" sz="3200" b="1" dirty="0" err="1">
                <a:latin typeface="+mn-lt"/>
                <a:cs typeface="Times New Roman" pitchFamily="18" charset="0"/>
              </a:rPr>
              <a:t>người</a:t>
            </a:r>
            <a:r>
              <a:rPr lang="en-US" sz="3200" b="1" dirty="0">
                <a:latin typeface="+mn-lt"/>
                <a:cs typeface="Times New Roman" pitchFamily="18" charset="0"/>
              </a:rPr>
              <a:t> </a:t>
            </a:r>
            <a:r>
              <a:rPr lang="en-US" sz="3200" b="1" dirty="0" err="1">
                <a:latin typeface="+mn-lt"/>
                <a:cs typeface="Times New Roman" pitchFamily="18" charset="0"/>
              </a:rPr>
              <a:t>sản</a:t>
            </a:r>
            <a:endParaRPr lang="en-US" sz="3200" b="1" dirty="0">
              <a:latin typeface="+mn-lt"/>
              <a:cs typeface="Times New Roman" pitchFamily="18" charset="0"/>
            </a:endParaRPr>
          </a:p>
          <a:p>
            <a:pPr algn="ctr" fontAlgn="auto">
              <a:spcBef>
                <a:spcPts val="0"/>
              </a:spcBef>
              <a:spcAft>
                <a:spcPts val="0"/>
              </a:spcAft>
              <a:defRPr/>
            </a:pPr>
            <a:r>
              <a:rPr lang="en-US" sz="3200" b="1" dirty="0">
                <a:latin typeface="+mn-lt"/>
                <a:cs typeface="Times New Roman" pitchFamily="18" charset="0"/>
              </a:rPr>
              <a:t> </a:t>
            </a:r>
            <a:r>
              <a:rPr lang="en-US" sz="3200" b="1" dirty="0" err="1">
                <a:latin typeface="+mn-lt"/>
                <a:cs typeface="Times New Roman" pitchFamily="18" charset="0"/>
              </a:rPr>
              <a:t>xuất</a:t>
            </a:r>
            <a:r>
              <a:rPr lang="en-US" sz="3200" b="1" dirty="0">
                <a:latin typeface="+mn-lt"/>
                <a:cs typeface="Times New Roman" pitchFamily="18" charset="0"/>
              </a:rPr>
              <a:t> </a:t>
            </a:r>
            <a:r>
              <a:rPr lang="en-US" sz="3200" b="1" dirty="0" err="1">
                <a:latin typeface="+mn-lt"/>
                <a:cs typeface="Times New Roman" pitchFamily="18" charset="0"/>
              </a:rPr>
              <a:t>với</a:t>
            </a:r>
            <a:r>
              <a:rPr lang="en-US" sz="3200" b="1" dirty="0">
                <a:latin typeface="+mn-lt"/>
                <a:cs typeface="Times New Roman" pitchFamily="18" charset="0"/>
              </a:rPr>
              <a:t> </a:t>
            </a:r>
            <a:r>
              <a:rPr lang="en-US" sz="3200" b="1" dirty="0" err="1">
                <a:latin typeface="+mn-lt"/>
                <a:cs typeface="Times New Roman" pitchFamily="18" charset="0"/>
              </a:rPr>
              <a:t>người</a:t>
            </a:r>
            <a:endParaRPr lang="en-US" sz="3200" b="1" dirty="0">
              <a:latin typeface="+mn-lt"/>
              <a:cs typeface="Times New Roman" pitchFamily="18" charset="0"/>
            </a:endParaRPr>
          </a:p>
          <a:p>
            <a:pPr algn="ctr" fontAlgn="auto">
              <a:spcBef>
                <a:spcPts val="0"/>
              </a:spcBef>
              <a:spcAft>
                <a:spcPts val="0"/>
              </a:spcAft>
              <a:defRPr/>
            </a:pPr>
            <a:r>
              <a:rPr lang="en-US" sz="3200" b="1" dirty="0">
                <a:latin typeface="+mn-lt"/>
                <a:cs typeface="Times New Roman" pitchFamily="18" charset="0"/>
              </a:rPr>
              <a:t> </a:t>
            </a:r>
            <a:r>
              <a:rPr lang="en-US" sz="3200" b="1" dirty="0" err="1">
                <a:latin typeface="+mn-lt"/>
                <a:cs typeface="Times New Roman" pitchFamily="18" charset="0"/>
              </a:rPr>
              <a:t>sản</a:t>
            </a:r>
            <a:r>
              <a:rPr lang="en-US" sz="3200" b="1" dirty="0">
                <a:latin typeface="+mn-lt"/>
                <a:cs typeface="Times New Roman" pitchFamily="18" charset="0"/>
              </a:rPr>
              <a:t> </a:t>
            </a:r>
            <a:r>
              <a:rPr lang="en-US" sz="3200" b="1" dirty="0" err="1">
                <a:latin typeface="+mn-lt"/>
                <a:cs typeface="Times New Roman" pitchFamily="18" charset="0"/>
              </a:rPr>
              <a:t>xuất</a:t>
            </a:r>
            <a:endParaRPr lang="en-US" sz="3200" b="1" dirty="0">
              <a:latin typeface="+mn-lt"/>
              <a:cs typeface="Times New Roman" pitchFamily="18" charset="0"/>
            </a:endParaRPr>
          </a:p>
          <a:p>
            <a:pPr algn="ctr" fontAlgn="auto">
              <a:spcBef>
                <a:spcPts val="0"/>
              </a:spcBef>
              <a:spcAft>
                <a:spcPts val="0"/>
              </a:spcAft>
              <a:defRPr/>
            </a:pPr>
            <a:r>
              <a:rPr lang="en-US" sz="3200" b="1" dirty="0">
                <a:solidFill>
                  <a:srgbClr val="FF0000"/>
                </a:solidFill>
                <a:latin typeface="+mn-lt"/>
                <a:cs typeface="Times New Roman" pitchFamily="18" charset="0"/>
              </a:rPr>
              <a:t>+</a:t>
            </a:r>
            <a:r>
              <a:rPr lang="en-US" sz="3200" b="1" dirty="0" err="1">
                <a:latin typeface="+mn-lt"/>
                <a:cs typeface="Times New Roman" pitchFamily="18" charset="0"/>
              </a:rPr>
              <a:t>Trong</a:t>
            </a:r>
            <a:r>
              <a:rPr lang="en-US" sz="3200" b="1" dirty="0">
                <a:latin typeface="+mn-lt"/>
                <a:cs typeface="Times New Roman" pitchFamily="18" charset="0"/>
              </a:rPr>
              <a:t> </a:t>
            </a:r>
            <a:r>
              <a:rPr lang="en-US" sz="3200" b="1" dirty="0" err="1">
                <a:latin typeface="+mn-lt"/>
                <a:cs typeface="Times New Roman" pitchFamily="18" charset="0"/>
              </a:rPr>
              <a:t>cùng</a:t>
            </a:r>
            <a:r>
              <a:rPr lang="en-US" sz="3200" b="1" dirty="0">
                <a:latin typeface="+mn-lt"/>
                <a:cs typeface="Times New Roman" pitchFamily="18" charset="0"/>
              </a:rPr>
              <a:t> </a:t>
            </a:r>
            <a:r>
              <a:rPr lang="en-US" sz="3200" b="1" dirty="0" err="1">
                <a:latin typeface="+mn-lt"/>
                <a:cs typeface="Times New Roman" pitchFamily="18" charset="0"/>
              </a:rPr>
              <a:t>một</a:t>
            </a:r>
            <a:endParaRPr lang="en-US" sz="3200" b="1" dirty="0">
              <a:latin typeface="+mn-lt"/>
              <a:cs typeface="Times New Roman" pitchFamily="18" charset="0"/>
            </a:endParaRPr>
          </a:p>
          <a:p>
            <a:pPr algn="ctr" fontAlgn="auto">
              <a:spcBef>
                <a:spcPts val="0"/>
              </a:spcBef>
              <a:spcAft>
                <a:spcPts val="0"/>
              </a:spcAft>
              <a:defRPr/>
            </a:pPr>
            <a:r>
              <a:rPr lang="en-US" sz="3200" b="1" dirty="0">
                <a:latin typeface="+mn-lt"/>
                <a:cs typeface="Times New Roman" pitchFamily="18" charset="0"/>
              </a:rPr>
              <a:t> ngành</a:t>
            </a:r>
          </a:p>
          <a:p>
            <a:pPr fontAlgn="auto">
              <a:spcBef>
                <a:spcPts val="0"/>
              </a:spcBef>
              <a:spcAft>
                <a:spcPts val="0"/>
              </a:spcAft>
              <a:defRPr/>
            </a:pPr>
            <a:r>
              <a:rPr lang="en-US" sz="3200" b="1" dirty="0">
                <a:solidFill>
                  <a:srgbClr val="FF0000"/>
                </a:solidFill>
                <a:latin typeface="+mn-lt"/>
                <a:cs typeface="Times New Roman" pitchFamily="18" charset="0"/>
              </a:rPr>
              <a:t>+</a:t>
            </a:r>
            <a:r>
              <a:rPr lang="en-US" sz="3200" b="1" dirty="0">
                <a:latin typeface="+mn-lt"/>
                <a:cs typeface="Times New Roman" pitchFamily="18" charset="0"/>
              </a:rPr>
              <a:t> Khác ngành</a:t>
            </a:r>
          </a:p>
        </p:txBody>
      </p:sp>
      <p:sp>
        <p:nvSpPr>
          <p:cNvPr id="86020" name="AutoShape 4"/>
          <p:cNvSpPr>
            <a:spLocks noChangeArrowheads="1"/>
          </p:cNvSpPr>
          <p:nvPr/>
        </p:nvSpPr>
        <p:spPr bwMode="auto">
          <a:xfrm>
            <a:off x="508000" y="1600199"/>
            <a:ext cx="4964752" cy="4077269"/>
          </a:xfrm>
          <a:prstGeom prst="roundRect">
            <a:avLst>
              <a:gd name="adj" fmla="val 16667"/>
            </a:avLst>
          </a:prstGeom>
          <a:blipFill>
            <a:blip r:embed="rId2"/>
            <a:tile tx="0" ty="0" sx="100000" sy="100000" flip="none" algn="tl"/>
          </a:blipFill>
          <a:ln w="38100">
            <a:solidFill>
              <a:schemeClr val="tx1"/>
            </a:solidFill>
            <a:round/>
            <a:headEnd/>
            <a:tailEnd/>
          </a:ln>
          <a:scene3d>
            <a:camera prst="orthographicFront"/>
            <a:lightRig rig="threePt" dir="t"/>
          </a:scene3d>
          <a:sp3d>
            <a:bevelT prst="angle"/>
          </a:sp3d>
        </p:spPr>
        <p:txBody>
          <a:bodyPr wrap="none" anchor="ctr"/>
          <a:lstStyle/>
          <a:p>
            <a:pPr algn="ctr" fontAlgn="auto">
              <a:spcBef>
                <a:spcPts val="0"/>
              </a:spcBef>
              <a:spcAft>
                <a:spcPts val="0"/>
              </a:spcAft>
              <a:defRPr/>
            </a:pPr>
            <a:endParaRPr lang="en-US">
              <a:latin typeface="Verdana" pitchFamily="34" charset="0"/>
              <a:cs typeface="+mn-cs"/>
            </a:endParaRPr>
          </a:p>
        </p:txBody>
      </p:sp>
      <p:sp>
        <p:nvSpPr>
          <p:cNvPr id="208901" name="Text Box 5"/>
          <p:cNvSpPr txBox="1">
            <a:spLocks noChangeArrowheads="1"/>
          </p:cNvSpPr>
          <p:nvPr/>
        </p:nvSpPr>
        <p:spPr bwMode="auto">
          <a:xfrm>
            <a:off x="406400" y="1981200"/>
            <a:ext cx="4470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200" b="1">
                <a:latin typeface="Times New Roman" pitchFamily="18" charset="0"/>
                <a:cs typeface="Times New Roman" pitchFamily="18" charset="0"/>
              </a:rPr>
              <a:t>Giữa người sản xuất với người tiêu dùng</a:t>
            </a:r>
            <a:endParaRPr lang="en-US" altLang="en-US" sz="3200" b="1" i="1">
              <a:latin typeface=".VnTime" pitchFamily="34" charset="0"/>
            </a:endParaRPr>
          </a:p>
        </p:txBody>
      </p:sp>
      <p:sp>
        <p:nvSpPr>
          <p:cNvPr id="208902" name="Freeform 6"/>
          <p:cNvSpPr>
            <a:spLocks/>
          </p:cNvSpPr>
          <p:nvPr/>
        </p:nvSpPr>
        <p:spPr bwMode="gray">
          <a:xfrm>
            <a:off x="4673600" y="11430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0" scaled="1"/>
            <a:tileRect/>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208904" name="Freeform 8"/>
          <p:cNvSpPr>
            <a:spLocks/>
          </p:cNvSpPr>
          <p:nvPr/>
        </p:nvSpPr>
        <p:spPr bwMode="gray">
          <a:xfrm flipH="1">
            <a:off x="5994400" y="1066800"/>
            <a:ext cx="1204384" cy="1295400"/>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208914" name="Text Box 18"/>
          <p:cNvSpPr txBox="1">
            <a:spLocks noChangeArrowheads="1"/>
          </p:cNvSpPr>
          <p:nvPr/>
        </p:nvSpPr>
        <p:spPr bwMode="auto">
          <a:xfrm>
            <a:off x="7416800" y="2438400"/>
            <a:ext cx="406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 typeface="Wingdings" pitchFamily="2" charset="2"/>
              <a:buNone/>
            </a:pPr>
            <a:endParaRPr lang="en-US" altLang="en-US" sz="3200">
              <a:latin typeface="Times New Roman" pitchFamily="18" charset="0"/>
              <a:cs typeface="Times New Roman" pitchFamily="18" charset="0"/>
            </a:endParaRPr>
          </a:p>
        </p:txBody>
      </p:sp>
    </p:spTree>
    <p:extLst>
      <p:ext uri="{BB962C8B-B14F-4D97-AF65-F5344CB8AC3E}">
        <p14:creationId xmlns:p14="http://schemas.microsoft.com/office/powerpoint/2010/main" val="50701951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 calcmode="lin" valueType="num">
                                      <p:cBhvr>
                                        <p:cTn id="7" dur="500" fill="hold"/>
                                        <p:tgtEl>
                                          <p:spTgt spid="208898"/>
                                        </p:tgtEl>
                                        <p:attrNameLst>
                                          <p:attrName>ppt_w</p:attrName>
                                        </p:attrNameLst>
                                      </p:cBhvr>
                                      <p:tavLst>
                                        <p:tav tm="0">
                                          <p:val>
                                            <p:fltVal val="0"/>
                                          </p:val>
                                        </p:tav>
                                        <p:tav tm="100000">
                                          <p:val>
                                            <p:strVal val="#ppt_w"/>
                                          </p:val>
                                        </p:tav>
                                      </p:tavLst>
                                    </p:anim>
                                    <p:anim calcmode="lin" valueType="num">
                                      <p:cBhvr>
                                        <p:cTn id="8" dur="500" fill="hold"/>
                                        <p:tgtEl>
                                          <p:spTgt spid="20889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nodeType="clickEffect">
                                  <p:stCondLst>
                                    <p:cond delay="0"/>
                                  </p:stCondLst>
                                  <p:childTnLst>
                                    <p:set>
                                      <p:cBhvr>
                                        <p:cTn id="12" dur="1" fill="hold">
                                          <p:stCondLst>
                                            <p:cond delay="0"/>
                                          </p:stCondLst>
                                        </p:cTn>
                                        <p:tgtEl>
                                          <p:spTgt spid="208902"/>
                                        </p:tgtEl>
                                        <p:attrNameLst>
                                          <p:attrName>style.visibility</p:attrName>
                                        </p:attrNameLst>
                                      </p:cBhvr>
                                      <p:to>
                                        <p:strVal val="visible"/>
                                      </p:to>
                                    </p:set>
                                    <p:animEffect transition="in" filter="strips(downLeft)">
                                      <p:cBhvr>
                                        <p:cTn id="13" dur="500"/>
                                        <p:tgtEl>
                                          <p:spTgt spid="20890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208901"/>
                                        </p:tgtEl>
                                        <p:attrNameLst>
                                          <p:attrName>style.visibility</p:attrName>
                                        </p:attrNameLst>
                                      </p:cBhvr>
                                      <p:to>
                                        <p:strVal val="visible"/>
                                      </p:to>
                                    </p:set>
                                    <p:animEffect transition="in" filter="strips(downLeft)">
                                      <p:cBhvr>
                                        <p:cTn id="16" dur="500"/>
                                        <p:tgtEl>
                                          <p:spTgt spid="208901"/>
                                        </p:tgtEl>
                                      </p:cBhvr>
                                    </p:animEffect>
                                  </p:childTnLst>
                                </p:cTn>
                              </p:par>
                              <p:par>
                                <p:cTn id="17" presetID="18" presetClass="entr" presetSubtype="12" fill="hold" nodeType="withEffect">
                                  <p:stCondLst>
                                    <p:cond delay="0"/>
                                  </p:stCondLst>
                                  <p:childTnLst>
                                    <p:set>
                                      <p:cBhvr>
                                        <p:cTn id="18" dur="1" fill="hold">
                                          <p:stCondLst>
                                            <p:cond delay="0"/>
                                          </p:stCondLst>
                                        </p:cTn>
                                        <p:tgtEl>
                                          <p:spTgt spid="86020"/>
                                        </p:tgtEl>
                                        <p:attrNameLst>
                                          <p:attrName>style.visibility</p:attrName>
                                        </p:attrNameLst>
                                      </p:cBhvr>
                                      <p:to>
                                        <p:strVal val="visible"/>
                                      </p:to>
                                    </p:set>
                                    <p:animEffect transition="in" filter="strips(downLeft)">
                                      <p:cBhvr>
                                        <p:cTn id="19" dur="500"/>
                                        <p:tgtEl>
                                          <p:spTgt spid="8602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nodeType="clickEffect">
                                  <p:stCondLst>
                                    <p:cond delay="0"/>
                                  </p:stCondLst>
                                  <p:childTnLst>
                                    <p:set>
                                      <p:cBhvr>
                                        <p:cTn id="23" dur="1" fill="hold">
                                          <p:stCondLst>
                                            <p:cond delay="0"/>
                                          </p:stCondLst>
                                        </p:cTn>
                                        <p:tgtEl>
                                          <p:spTgt spid="208904"/>
                                        </p:tgtEl>
                                        <p:attrNameLst>
                                          <p:attrName>style.visibility</p:attrName>
                                        </p:attrNameLst>
                                      </p:cBhvr>
                                      <p:to>
                                        <p:strVal val="visible"/>
                                      </p:to>
                                    </p:set>
                                    <p:animEffect transition="in" filter="strips(downLeft)">
                                      <p:cBhvr>
                                        <p:cTn id="24" dur="500"/>
                                        <p:tgtEl>
                                          <p:spTgt spid="208904"/>
                                        </p:tgtEl>
                                      </p:cBhvr>
                                    </p:animEffect>
                                  </p:childTnLst>
                                </p:cTn>
                              </p:par>
                              <p:par>
                                <p:cTn id="25" presetID="18" presetClass="entr" presetSubtype="12" fill="hold" grpId="0" nodeType="withEffect" nodePh="1">
                                  <p:stCondLst>
                                    <p:cond delay="0"/>
                                  </p:stCondLst>
                                  <p:endCondLst>
                                    <p:cond evt="begin" delay="0">
                                      <p:tn val="25"/>
                                    </p:cond>
                                  </p:endCondLst>
                                  <p:childTnLst>
                                    <p:set>
                                      <p:cBhvr>
                                        <p:cTn id="26" dur="1" fill="hold">
                                          <p:stCondLst>
                                            <p:cond delay="0"/>
                                          </p:stCondLst>
                                        </p:cTn>
                                        <p:tgtEl>
                                          <p:spTgt spid="208914"/>
                                        </p:tgtEl>
                                        <p:attrNameLst>
                                          <p:attrName>style.visibility</p:attrName>
                                        </p:attrNameLst>
                                      </p:cBhvr>
                                      <p:to>
                                        <p:strVal val="visible"/>
                                      </p:to>
                                    </p:set>
                                    <p:animEffect transition="in" filter="strips(downLeft)">
                                      <p:cBhvr>
                                        <p:cTn id="27" dur="500"/>
                                        <p:tgtEl>
                                          <p:spTgt spid="208914"/>
                                        </p:tgtEl>
                                      </p:cBhvr>
                                    </p:animEffect>
                                  </p:childTnLst>
                                </p:cTn>
                              </p:par>
                              <p:par>
                                <p:cTn id="28" presetID="18" presetClass="entr" presetSubtype="12" fill="hold" nodeType="withEffect">
                                  <p:stCondLst>
                                    <p:cond delay="0"/>
                                  </p:stCondLst>
                                  <p:childTnLst>
                                    <p:set>
                                      <p:cBhvr>
                                        <p:cTn id="29" dur="1" fill="hold">
                                          <p:stCondLst>
                                            <p:cond delay="0"/>
                                          </p:stCondLst>
                                        </p:cTn>
                                        <p:tgtEl>
                                          <p:spTgt spid="86019"/>
                                        </p:tgtEl>
                                        <p:attrNameLst>
                                          <p:attrName>style.visibility</p:attrName>
                                        </p:attrNameLst>
                                      </p:cBhvr>
                                      <p:to>
                                        <p:strVal val="visible"/>
                                      </p:to>
                                    </p:set>
                                    <p:animEffect transition="in" filter="strips(downLeft)">
                                      <p:cBhvr>
                                        <p:cTn id="30" dur="500"/>
                                        <p:tgtEl>
                                          <p:spTgt spid="86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p:bldP spid="208901" grpId="0"/>
      <p:bldP spid="208914"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0" y="152400"/>
            <a:ext cx="12192000" cy="1295400"/>
          </a:xfrm>
        </p:spPr>
        <p:txBody>
          <a:bodyPr rtlCol="0">
            <a:normAutofit fontScale="90000"/>
          </a:bodyPr>
          <a:lstStyle/>
          <a:p>
            <a:pPr algn="ctr" fontAlgn="auto">
              <a:spcAft>
                <a:spcPts val="0"/>
              </a:spcAft>
              <a:defRPr/>
            </a:pPr>
            <a:br>
              <a:rPr lang="en-US" sz="2400" dirty="0">
                <a:latin typeface=".VnTime" pitchFamily="34" charset="0"/>
              </a:rPr>
            </a:br>
            <a:r>
              <a:rPr lang="en-US" sz="3200" u="sng" dirty="0">
                <a:solidFill>
                  <a:srgbClr val="FF3300"/>
                </a:solidFill>
                <a:cs typeface="Times New Roman" pitchFamily="18" charset="0"/>
              </a:rPr>
              <a:t> </a:t>
            </a:r>
            <a:r>
              <a:rPr lang="en-US" b="1" u="sng" dirty="0">
                <a:solidFill>
                  <a:srgbClr val="FF3300"/>
                </a:solidFill>
                <a:latin typeface="Times New Roman" pitchFamily="18" charset="0"/>
                <a:cs typeface="Times New Roman" pitchFamily="18" charset="0"/>
              </a:rPr>
              <a:t> Các hình thức cạnh tranh: </a:t>
            </a:r>
            <a:br>
              <a:rPr lang="en-US" sz="3600" dirty="0">
                <a:solidFill>
                  <a:srgbClr val="0000CC"/>
                </a:solidFill>
                <a:cs typeface="Times New Roman" pitchFamily="18" charset="0"/>
              </a:rPr>
            </a:br>
            <a:endParaRPr lang="en-US" sz="3600" dirty="0">
              <a:solidFill>
                <a:srgbClr val="0000CC"/>
              </a:solidFill>
              <a:cs typeface="Times New Roman" pitchFamily="18" charset="0"/>
            </a:endParaRPr>
          </a:p>
        </p:txBody>
      </p:sp>
      <p:sp>
        <p:nvSpPr>
          <p:cNvPr id="86019" name="AutoShape 3"/>
          <p:cNvSpPr>
            <a:spLocks noChangeArrowheads="1"/>
          </p:cNvSpPr>
          <p:nvPr/>
        </p:nvSpPr>
        <p:spPr bwMode="auto">
          <a:xfrm>
            <a:off x="7416800" y="1600200"/>
            <a:ext cx="4165600" cy="3657600"/>
          </a:xfrm>
          <a:prstGeom prst="roundRect">
            <a:avLst>
              <a:gd name="adj" fmla="val 16667"/>
            </a:avLst>
          </a:prstGeom>
          <a:solidFill>
            <a:srgbClr val="F4FE98"/>
          </a:solidFill>
          <a:ln w="38100">
            <a:solidFill>
              <a:schemeClr val="tx1"/>
            </a:solidFill>
            <a:round/>
            <a:headEnd/>
            <a:tailEnd/>
          </a:ln>
          <a:scene3d>
            <a:camera prst="orthographicFront"/>
            <a:lightRig rig="threePt" dir="t"/>
          </a:scene3d>
          <a:sp3d>
            <a:bevelT prst="angle"/>
          </a:sp3d>
        </p:spPr>
        <p:txBody>
          <a:bodyPr wrap="none" anchor="ctr"/>
          <a:lstStyle/>
          <a:p>
            <a:pPr algn="ctr" fontAlgn="auto">
              <a:spcBef>
                <a:spcPts val="0"/>
              </a:spcBef>
              <a:spcAft>
                <a:spcPts val="0"/>
              </a:spcAft>
              <a:defRPr/>
            </a:pPr>
            <a:endParaRPr lang="en-US">
              <a:latin typeface="Verdana" pitchFamily="34" charset="0"/>
              <a:cs typeface="+mn-cs"/>
            </a:endParaRPr>
          </a:p>
        </p:txBody>
      </p:sp>
      <p:sp>
        <p:nvSpPr>
          <p:cNvPr id="86020" name="AutoShape 4"/>
          <p:cNvSpPr>
            <a:spLocks noChangeArrowheads="1"/>
          </p:cNvSpPr>
          <p:nvPr/>
        </p:nvSpPr>
        <p:spPr bwMode="auto">
          <a:xfrm>
            <a:off x="508000" y="1600200"/>
            <a:ext cx="4368800" cy="3733800"/>
          </a:xfrm>
          <a:prstGeom prst="roundRect">
            <a:avLst>
              <a:gd name="adj" fmla="val 16667"/>
            </a:avLst>
          </a:prstGeom>
          <a:solidFill>
            <a:srgbClr val="F4FE98"/>
          </a:solidFill>
          <a:ln w="38100">
            <a:solidFill>
              <a:schemeClr val="tx1"/>
            </a:solidFill>
            <a:round/>
            <a:headEnd/>
            <a:tailEnd/>
          </a:ln>
          <a:scene3d>
            <a:camera prst="orthographicFront"/>
            <a:lightRig rig="threePt" dir="t"/>
          </a:scene3d>
          <a:sp3d>
            <a:bevelT prst="angle"/>
          </a:sp3d>
        </p:spPr>
        <p:txBody>
          <a:bodyPr wrap="none" anchor="ctr"/>
          <a:lstStyle/>
          <a:p>
            <a:pPr algn="ctr" fontAlgn="auto">
              <a:spcBef>
                <a:spcPts val="0"/>
              </a:spcBef>
              <a:spcAft>
                <a:spcPts val="0"/>
              </a:spcAft>
              <a:defRPr/>
            </a:pPr>
            <a:endParaRPr lang="en-US">
              <a:latin typeface="Verdana" pitchFamily="34" charset="0"/>
              <a:cs typeface="+mn-cs"/>
            </a:endParaRPr>
          </a:p>
        </p:txBody>
      </p:sp>
      <p:sp>
        <p:nvSpPr>
          <p:cNvPr id="208901" name="Text Box 5"/>
          <p:cNvSpPr txBox="1">
            <a:spLocks noChangeArrowheads="1"/>
          </p:cNvSpPr>
          <p:nvPr/>
        </p:nvSpPr>
        <p:spPr bwMode="auto">
          <a:xfrm>
            <a:off x="406400" y="1676401"/>
            <a:ext cx="44704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200" b="1">
                <a:latin typeface="Times New Roman" pitchFamily="18" charset="0"/>
                <a:cs typeface="Times New Roman" pitchFamily="18" charset="0"/>
              </a:rPr>
              <a:t>Cạnh tranh giá cả: Cải tiến kỹ thuật, tăng năng suất lao động để nâng cao chất lượng, giảm chi phí hàng hóa…</a:t>
            </a:r>
            <a:endParaRPr lang="en-US" altLang="en-US" sz="3200" b="1" i="1">
              <a:latin typeface=".VnTime" pitchFamily="34" charset="0"/>
            </a:endParaRPr>
          </a:p>
        </p:txBody>
      </p:sp>
      <p:sp>
        <p:nvSpPr>
          <p:cNvPr id="208902" name="Freeform 6"/>
          <p:cNvSpPr>
            <a:spLocks/>
          </p:cNvSpPr>
          <p:nvPr/>
        </p:nvSpPr>
        <p:spPr bwMode="gray">
          <a:xfrm>
            <a:off x="4978400" y="18288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37901" name="AutoShape 7"/>
          <p:cNvSpPr>
            <a:spLocks noChangeAspect="1" noChangeArrowheads="1" noTextEdit="1"/>
          </p:cNvSpPr>
          <p:nvPr/>
        </p:nvSpPr>
        <p:spPr bwMode="gray">
          <a:xfrm flipH="1">
            <a:off x="6491818" y="3252788"/>
            <a:ext cx="1212849"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08904" name="Freeform 8"/>
          <p:cNvSpPr>
            <a:spLocks/>
          </p:cNvSpPr>
          <p:nvPr/>
        </p:nvSpPr>
        <p:spPr bwMode="gray">
          <a:xfrm flipH="1">
            <a:off x="6096000" y="1828800"/>
            <a:ext cx="1204384" cy="1295400"/>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a:scene3d>
            <a:camera prst="orthographicFront"/>
            <a:lightRig rig="threePt" dir="t"/>
          </a:scene3d>
          <a:sp3d>
            <a:bevelT prst="angle"/>
          </a:sp3d>
        </p:spPr>
        <p:txBody>
          <a:bodyPr/>
          <a:lstStyle/>
          <a:p>
            <a:pPr fontAlgn="auto">
              <a:spcBef>
                <a:spcPts val="0"/>
              </a:spcBef>
              <a:spcAft>
                <a:spcPts val="0"/>
              </a:spcAft>
              <a:defRPr/>
            </a:pPr>
            <a:endParaRPr lang="en-US">
              <a:latin typeface="+mn-lt"/>
              <a:cs typeface="+mn-cs"/>
            </a:endParaRPr>
          </a:p>
        </p:txBody>
      </p:sp>
      <p:sp>
        <p:nvSpPr>
          <p:cNvPr id="208914" name="Text Box 18"/>
          <p:cNvSpPr txBox="1">
            <a:spLocks noChangeArrowheads="1"/>
          </p:cNvSpPr>
          <p:nvPr/>
        </p:nvSpPr>
        <p:spPr bwMode="auto">
          <a:xfrm>
            <a:off x="7416800" y="2438400"/>
            <a:ext cx="4064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200" b="1">
                <a:latin typeface="Times New Roman" pitchFamily="18" charset="0"/>
                <a:cs typeface="Times New Roman" pitchFamily="18" charset="0"/>
              </a:rPr>
              <a:t>Cạnh tranh phi giá: Quảng cáo, khuyến mãi…</a:t>
            </a:r>
            <a:endParaRPr lang="en-US" altLang="en-US" sz="3200" b="1" i="1">
              <a:latin typeface=".VnTime" pitchFamily="34" charset="0"/>
            </a:endParaRPr>
          </a:p>
        </p:txBody>
      </p:sp>
    </p:spTree>
    <p:extLst>
      <p:ext uri="{BB962C8B-B14F-4D97-AF65-F5344CB8AC3E}">
        <p14:creationId xmlns:p14="http://schemas.microsoft.com/office/powerpoint/2010/main" val="54939630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 calcmode="lin" valueType="num">
                                      <p:cBhvr>
                                        <p:cTn id="7" dur="500" fill="hold"/>
                                        <p:tgtEl>
                                          <p:spTgt spid="208898"/>
                                        </p:tgtEl>
                                        <p:attrNameLst>
                                          <p:attrName>ppt_w</p:attrName>
                                        </p:attrNameLst>
                                      </p:cBhvr>
                                      <p:tavLst>
                                        <p:tav tm="0">
                                          <p:val>
                                            <p:fltVal val="0"/>
                                          </p:val>
                                        </p:tav>
                                        <p:tav tm="100000">
                                          <p:val>
                                            <p:strVal val="#ppt_w"/>
                                          </p:val>
                                        </p:tav>
                                      </p:tavLst>
                                    </p:anim>
                                    <p:anim calcmode="lin" valueType="num">
                                      <p:cBhvr>
                                        <p:cTn id="8" dur="500" fill="hold"/>
                                        <p:tgtEl>
                                          <p:spTgt spid="20889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nodeType="clickEffect">
                                  <p:stCondLst>
                                    <p:cond delay="0"/>
                                  </p:stCondLst>
                                  <p:childTnLst>
                                    <p:set>
                                      <p:cBhvr>
                                        <p:cTn id="12" dur="1" fill="hold">
                                          <p:stCondLst>
                                            <p:cond delay="0"/>
                                          </p:stCondLst>
                                        </p:cTn>
                                        <p:tgtEl>
                                          <p:spTgt spid="208902"/>
                                        </p:tgtEl>
                                        <p:attrNameLst>
                                          <p:attrName>style.visibility</p:attrName>
                                        </p:attrNameLst>
                                      </p:cBhvr>
                                      <p:to>
                                        <p:strVal val="visible"/>
                                      </p:to>
                                    </p:set>
                                    <p:animEffect transition="in" filter="strips(downLeft)">
                                      <p:cBhvr>
                                        <p:cTn id="13" dur="500"/>
                                        <p:tgtEl>
                                          <p:spTgt spid="208902"/>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208901"/>
                                        </p:tgtEl>
                                        <p:attrNameLst>
                                          <p:attrName>style.visibility</p:attrName>
                                        </p:attrNameLst>
                                      </p:cBhvr>
                                      <p:to>
                                        <p:strVal val="visible"/>
                                      </p:to>
                                    </p:set>
                                    <p:animEffect transition="in" filter="strips(downLeft)">
                                      <p:cBhvr>
                                        <p:cTn id="16" dur="500"/>
                                        <p:tgtEl>
                                          <p:spTgt spid="208901"/>
                                        </p:tgtEl>
                                      </p:cBhvr>
                                    </p:animEffect>
                                  </p:childTnLst>
                                </p:cTn>
                              </p:par>
                              <p:par>
                                <p:cTn id="17" presetID="18" presetClass="entr" presetSubtype="12" fill="hold" nodeType="withEffect">
                                  <p:stCondLst>
                                    <p:cond delay="0"/>
                                  </p:stCondLst>
                                  <p:childTnLst>
                                    <p:set>
                                      <p:cBhvr>
                                        <p:cTn id="18" dur="1" fill="hold">
                                          <p:stCondLst>
                                            <p:cond delay="0"/>
                                          </p:stCondLst>
                                        </p:cTn>
                                        <p:tgtEl>
                                          <p:spTgt spid="86020"/>
                                        </p:tgtEl>
                                        <p:attrNameLst>
                                          <p:attrName>style.visibility</p:attrName>
                                        </p:attrNameLst>
                                      </p:cBhvr>
                                      <p:to>
                                        <p:strVal val="visible"/>
                                      </p:to>
                                    </p:set>
                                    <p:animEffect transition="in" filter="strips(downLeft)">
                                      <p:cBhvr>
                                        <p:cTn id="19" dur="500"/>
                                        <p:tgtEl>
                                          <p:spTgt spid="8602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nodeType="clickEffect">
                                  <p:stCondLst>
                                    <p:cond delay="0"/>
                                  </p:stCondLst>
                                  <p:childTnLst>
                                    <p:set>
                                      <p:cBhvr>
                                        <p:cTn id="23" dur="1" fill="hold">
                                          <p:stCondLst>
                                            <p:cond delay="0"/>
                                          </p:stCondLst>
                                        </p:cTn>
                                        <p:tgtEl>
                                          <p:spTgt spid="208904"/>
                                        </p:tgtEl>
                                        <p:attrNameLst>
                                          <p:attrName>style.visibility</p:attrName>
                                        </p:attrNameLst>
                                      </p:cBhvr>
                                      <p:to>
                                        <p:strVal val="visible"/>
                                      </p:to>
                                    </p:set>
                                    <p:animEffect transition="in" filter="strips(downLeft)">
                                      <p:cBhvr>
                                        <p:cTn id="24" dur="500"/>
                                        <p:tgtEl>
                                          <p:spTgt spid="208904"/>
                                        </p:tgtEl>
                                      </p:cBhvr>
                                    </p:animEffect>
                                  </p:childTnLst>
                                </p:cTn>
                              </p:par>
                              <p:par>
                                <p:cTn id="25" presetID="18" presetClass="entr" presetSubtype="12" fill="hold" grpId="0" nodeType="withEffect">
                                  <p:stCondLst>
                                    <p:cond delay="0"/>
                                  </p:stCondLst>
                                  <p:childTnLst>
                                    <p:set>
                                      <p:cBhvr>
                                        <p:cTn id="26" dur="1" fill="hold">
                                          <p:stCondLst>
                                            <p:cond delay="0"/>
                                          </p:stCondLst>
                                        </p:cTn>
                                        <p:tgtEl>
                                          <p:spTgt spid="208914"/>
                                        </p:tgtEl>
                                        <p:attrNameLst>
                                          <p:attrName>style.visibility</p:attrName>
                                        </p:attrNameLst>
                                      </p:cBhvr>
                                      <p:to>
                                        <p:strVal val="visible"/>
                                      </p:to>
                                    </p:set>
                                    <p:animEffect transition="in" filter="strips(downLeft)">
                                      <p:cBhvr>
                                        <p:cTn id="27" dur="500"/>
                                        <p:tgtEl>
                                          <p:spTgt spid="208914"/>
                                        </p:tgtEl>
                                      </p:cBhvr>
                                    </p:animEffect>
                                  </p:childTnLst>
                                </p:cTn>
                              </p:par>
                              <p:par>
                                <p:cTn id="28" presetID="18" presetClass="entr" presetSubtype="12" fill="hold" nodeType="withEffect">
                                  <p:stCondLst>
                                    <p:cond delay="0"/>
                                  </p:stCondLst>
                                  <p:childTnLst>
                                    <p:set>
                                      <p:cBhvr>
                                        <p:cTn id="29" dur="1" fill="hold">
                                          <p:stCondLst>
                                            <p:cond delay="0"/>
                                          </p:stCondLst>
                                        </p:cTn>
                                        <p:tgtEl>
                                          <p:spTgt spid="86019"/>
                                        </p:tgtEl>
                                        <p:attrNameLst>
                                          <p:attrName>style.visibility</p:attrName>
                                        </p:attrNameLst>
                                      </p:cBhvr>
                                      <p:to>
                                        <p:strVal val="visible"/>
                                      </p:to>
                                    </p:set>
                                    <p:animEffect transition="in" filter="strips(downLeft)">
                                      <p:cBhvr>
                                        <p:cTn id="30" dur="500"/>
                                        <p:tgtEl>
                                          <p:spTgt spid="86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p:bldP spid="208901" grpId="0"/>
      <p:bldP spid="208914"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9" name="AutoShape 3"/>
          <p:cNvSpPr>
            <a:spLocks noChangeArrowheads="1"/>
          </p:cNvSpPr>
          <p:nvPr/>
        </p:nvSpPr>
        <p:spPr bwMode="auto">
          <a:xfrm>
            <a:off x="7315200" y="2133600"/>
            <a:ext cx="4572000" cy="41910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lnSpc>
                <a:spcPct val="90000"/>
              </a:lnSpc>
              <a:spcBef>
                <a:spcPts val="0"/>
              </a:spcBef>
              <a:spcAft>
                <a:spcPts val="0"/>
              </a:spcAft>
              <a:buFont typeface="Wingdings" pitchFamily="2" charset="2"/>
              <a:buNone/>
              <a:defRPr/>
            </a:pPr>
            <a:r>
              <a:rPr lang="en-US" sz="3600" b="1" dirty="0" err="1">
                <a:solidFill>
                  <a:srgbClr val="0000CC"/>
                </a:solidFill>
                <a:latin typeface="Times New Roman" pitchFamily="18" charset="0"/>
                <a:cs typeface="Times New Roman" pitchFamily="18" charset="0"/>
              </a:rPr>
              <a:t>Tiêu</a:t>
            </a:r>
            <a:r>
              <a:rPr lang="en-US" sz="3600" b="1" dirty="0">
                <a:solidFill>
                  <a:srgbClr val="0000CC"/>
                </a:solidFill>
                <a:latin typeface="Times New Roman" pitchFamily="18" charset="0"/>
                <a:cs typeface="Times New Roman" pitchFamily="18" charset="0"/>
              </a:rPr>
              <a:t> </a:t>
            </a:r>
            <a:r>
              <a:rPr lang="en-US" sz="3600" b="1" dirty="0" err="1">
                <a:solidFill>
                  <a:srgbClr val="0000CC"/>
                </a:solidFill>
                <a:latin typeface="Times New Roman" pitchFamily="18" charset="0"/>
                <a:cs typeface="Times New Roman" pitchFamily="18" charset="0"/>
              </a:rPr>
              <a:t>cực</a:t>
            </a:r>
            <a:r>
              <a:rPr lang="en-US" sz="3600" b="1" dirty="0">
                <a:solidFill>
                  <a:srgbClr val="0000CC"/>
                </a:solidFill>
                <a:latin typeface="Times New Roman" pitchFamily="18" charset="0"/>
                <a:cs typeface="Times New Roman" pitchFamily="18" charset="0"/>
              </a:rPr>
              <a:t>:</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Cạnh</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tranh</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làm</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Xuất</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hiện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và</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phát</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triển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các</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hình</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thức</a:t>
            </a:r>
            <a:endParaRPr lang="en-US" sz="3000" b="1" dirty="0">
              <a:latin typeface="Times New Roman" pitchFamily="18" charset="0"/>
              <a:cs typeface="Times New Roman" pitchFamily="18" charset="0"/>
            </a:endParaRP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lừa</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đảo,đầu</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cơ</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Làm</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hàng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giả</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trốn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thuế</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ăn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cắp</a:t>
            </a:r>
            <a:r>
              <a:rPr lang="en-US" sz="3000" b="1" dirty="0">
                <a:latin typeface="Times New Roman" pitchFamily="18" charset="0"/>
                <a:cs typeface="Times New Roman" pitchFamily="18" charset="0"/>
              </a:rPr>
              <a:t> </a:t>
            </a:r>
          </a:p>
          <a:p>
            <a:pPr marL="609600" indent="-609600" algn="ctr" fontAlgn="auto">
              <a:lnSpc>
                <a:spcPct val="90000"/>
              </a:lnSpc>
              <a:spcBef>
                <a:spcPts val="0"/>
              </a:spcBef>
              <a:spcAft>
                <a:spcPts val="0"/>
              </a:spcAft>
              <a:buFont typeface="Wingdings" pitchFamily="2" charset="2"/>
              <a:buNone/>
              <a:defRPr/>
            </a:pPr>
            <a:r>
              <a:rPr lang="en-US" sz="3000" b="1" dirty="0" err="1">
                <a:latin typeface="Times New Roman" pitchFamily="18" charset="0"/>
                <a:cs typeface="Times New Roman" pitchFamily="18" charset="0"/>
              </a:rPr>
              <a:t>bản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quyền</a:t>
            </a:r>
            <a:r>
              <a:rPr lang="en-US" b="1" dirty="0">
                <a:latin typeface="Times New Roman" pitchFamily="18" charset="0"/>
                <a:cs typeface="Times New Roman" pitchFamily="18" charset="0"/>
              </a:rPr>
              <a:t>…</a:t>
            </a:r>
          </a:p>
        </p:txBody>
      </p:sp>
      <p:sp>
        <p:nvSpPr>
          <p:cNvPr id="111620" name="AutoShape 4"/>
          <p:cNvSpPr>
            <a:spLocks noChangeArrowheads="1"/>
          </p:cNvSpPr>
          <p:nvPr/>
        </p:nvSpPr>
        <p:spPr bwMode="auto">
          <a:xfrm>
            <a:off x="203200" y="2057400"/>
            <a:ext cx="4775200" cy="4343400"/>
          </a:xfrm>
          <a:prstGeom prst="roundRect">
            <a:avLst>
              <a:gd name="adj" fmla="val 16667"/>
            </a:avLst>
          </a:prstGeom>
          <a:blipFill>
            <a:blip r:embed="rId2"/>
            <a:tile tx="0" ty="0" sx="100000" sy="100000" flip="none" algn="tl"/>
          </a:blipFill>
          <a:ln>
            <a:headEnd/>
            <a:tailEnd/>
          </a:ln>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none" anchor="ctr"/>
          <a:lstStyle/>
          <a:p>
            <a:pPr marL="609600" indent="-609600" algn="ctr" fontAlgn="auto">
              <a:spcBef>
                <a:spcPts val="0"/>
              </a:spcBef>
              <a:spcAft>
                <a:spcPts val="0"/>
              </a:spcAft>
              <a:defRPr/>
            </a:pPr>
            <a:r>
              <a:rPr lang="en-US" sz="3600" b="1" dirty="0" err="1">
                <a:solidFill>
                  <a:srgbClr val="0000CC"/>
                </a:solidFill>
                <a:latin typeface="Times New Roman" pitchFamily="18" charset="0"/>
                <a:cs typeface="Times New Roman" pitchFamily="18" charset="0"/>
              </a:rPr>
              <a:t>Tích</a:t>
            </a:r>
            <a:r>
              <a:rPr lang="en-US" sz="3600" b="1" dirty="0">
                <a:solidFill>
                  <a:srgbClr val="0000CC"/>
                </a:solidFill>
                <a:latin typeface="Times New Roman" pitchFamily="18" charset="0"/>
                <a:cs typeface="Times New Roman" pitchFamily="18" charset="0"/>
              </a:rPr>
              <a:t> </a:t>
            </a:r>
            <a:r>
              <a:rPr lang="en-US" sz="3600" b="1" dirty="0" err="1">
                <a:solidFill>
                  <a:srgbClr val="0000CC"/>
                </a:solidFill>
                <a:latin typeface="Times New Roman" pitchFamily="18" charset="0"/>
                <a:cs typeface="Times New Roman" pitchFamily="18" charset="0"/>
              </a:rPr>
              <a:t>cực</a:t>
            </a:r>
            <a:r>
              <a:rPr lang="en-US" sz="3600" b="1" dirty="0">
                <a:solidFill>
                  <a:srgbClr val="0000CC"/>
                </a:solidFill>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Buộc</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những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người</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a:latin typeface="Times New Roman" pitchFamily="18" charset="0"/>
                <a:cs typeface="Times New Roman" pitchFamily="18" charset="0"/>
              </a:rPr>
              <a:t>SX - </a:t>
            </a:r>
            <a:r>
              <a:rPr lang="en-US" sz="3000" b="1" dirty="0" err="1">
                <a:latin typeface="Times New Roman" pitchFamily="18" charset="0"/>
                <a:cs typeface="Times New Roman" pitchFamily="18" charset="0"/>
              </a:rPr>
              <a:t>kinh</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doanh</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phải</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thường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xuyên</a:t>
            </a:r>
            <a:endParaRPr lang="en-US" sz="3000" b="1" dirty="0">
              <a:latin typeface="Times New Roman" pitchFamily="18" charset="0"/>
              <a:cs typeface="Times New Roman" pitchFamily="18" charset="0"/>
            </a:endParaRP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cải</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tiến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kỹ</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thuật</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áp</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dụng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phương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pháp</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công</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nghệ</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mới</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tổ</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chức</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quản</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lý</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có</a:t>
            </a:r>
            <a:r>
              <a:rPr lang="en-US" sz="3000" b="1" dirty="0">
                <a:latin typeface="Times New Roman" pitchFamily="18" charset="0"/>
                <a:cs typeface="Times New Roman" pitchFamily="18" charset="0"/>
              </a:rPr>
              <a:t> </a:t>
            </a:r>
          </a:p>
          <a:p>
            <a:pPr marL="609600" indent="-609600" algn="ctr" fontAlgn="auto">
              <a:spcBef>
                <a:spcPts val="0"/>
              </a:spcBef>
              <a:spcAft>
                <a:spcPts val="0"/>
              </a:spcAft>
              <a:defRPr/>
            </a:pPr>
            <a:r>
              <a:rPr lang="en-US" sz="3000" b="1" dirty="0" err="1">
                <a:latin typeface="Times New Roman" pitchFamily="18" charset="0"/>
                <a:cs typeface="Times New Roman" pitchFamily="18" charset="0"/>
              </a:rPr>
              <a:t>hiệu</a:t>
            </a:r>
            <a:r>
              <a:rPr lang="en-US" sz="3000" b="1" dirty="0">
                <a:latin typeface="Times New Roman" pitchFamily="18" charset="0"/>
                <a:cs typeface="Times New Roman" pitchFamily="18" charset="0"/>
              </a:rPr>
              <a:t> </a:t>
            </a:r>
            <a:r>
              <a:rPr lang="en-US" sz="3000" b="1" dirty="0" err="1">
                <a:latin typeface="Times New Roman" pitchFamily="18" charset="0"/>
                <a:cs typeface="Times New Roman" pitchFamily="18" charset="0"/>
              </a:rPr>
              <a:t>quả</a:t>
            </a:r>
            <a:r>
              <a:rPr lang="en-US" sz="3000" b="1" dirty="0">
                <a:latin typeface="Times New Roman" pitchFamily="18" charset="0"/>
                <a:cs typeface="Times New Roman" pitchFamily="18" charset="0"/>
              </a:rPr>
              <a:t>.</a:t>
            </a:r>
          </a:p>
        </p:txBody>
      </p:sp>
      <p:sp>
        <p:nvSpPr>
          <p:cNvPr id="111622" name="Freeform 6"/>
          <p:cNvSpPr>
            <a:spLocks/>
          </p:cNvSpPr>
          <p:nvPr/>
        </p:nvSpPr>
        <p:spPr bwMode="gray">
          <a:xfrm>
            <a:off x="4978400" y="2133601"/>
            <a:ext cx="1204384" cy="1241425"/>
          </a:xfrm>
          <a:custGeom>
            <a:avLst/>
            <a:gdLst>
              <a:gd name="T0" fmla="*/ 2147483647 w 580"/>
              <a:gd name="T1" fmla="*/ 0 h 798"/>
              <a:gd name="T2" fmla="*/ 2147483647 w 580"/>
              <a:gd name="T3" fmla="*/ 2147483647 h 798"/>
              <a:gd name="T4" fmla="*/ 2147483647 w 580"/>
              <a:gd name="T5" fmla="*/ 2147483647 h 798"/>
              <a:gd name="T6" fmla="*/ 2147483647 w 580"/>
              <a:gd name="T7" fmla="*/ 2147483647 h 798"/>
              <a:gd name="T8" fmla="*/ 2147483647 w 580"/>
              <a:gd name="T9" fmla="*/ 2147483647 h 798"/>
              <a:gd name="T10" fmla="*/ 2147483647 w 580"/>
              <a:gd name="T11" fmla="*/ 2147483647 h 798"/>
              <a:gd name="T12" fmla="*/ 2147483647 w 580"/>
              <a:gd name="T13" fmla="*/ 2147483647 h 798"/>
              <a:gd name="T14" fmla="*/ 2147483647 w 580"/>
              <a:gd name="T15" fmla="*/ 2147483647 h 798"/>
              <a:gd name="T16" fmla="*/ 2147483647 w 580"/>
              <a:gd name="T17" fmla="*/ 2147483647 h 798"/>
              <a:gd name="T18" fmla="*/ 2147483647 w 580"/>
              <a:gd name="T19" fmla="*/ 2147483647 h 798"/>
              <a:gd name="T20" fmla="*/ 2147483647 w 580"/>
              <a:gd name="T21" fmla="*/ 2147483647 h 798"/>
              <a:gd name="T22" fmla="*/ 2147483647 w 580"/>
              <a:gd name="T23" fmla="*/ 2147483647 h 798"/>
              <a:gd name="T24" fmla="*/ 0 w 580"/>
              <a:gd name="T25" fmla="*/ 2147483647 h 798"/>
              <a:gd name="T26" fmla="*/ 2147483647 w 580"/>
              <a:gd name="T27" fmla="*/ 2147483647 h 798"/>
              <a:gd name="T28" fmla="*/ 2147483647 w 580"/>
              <a:gd name="T29" fmla="*/ 2147483647 h 798"/>
              <a:gd name="T30" fmla="*/ 2147483647 w 580"/>
              <a:gd name="T31" fmla="*/ 2147483647 h 798"/>
              <a:gd name="T32" fmla="*/ 2147483647 w 580"/>
              <a:gd name="T33" fmla="*/ 2147483647 h 798"/>
              <a:gd name="T34" fmla="*/ 2147483647 w 580"/>
              <a:gd name="T35" fmla="*/ 2147483647 h 798"/>
              <a:gd name="T36" fmla="*/ 2147483647 w 580"/>
              <a:gd name="T37" fmla="*/ 2147483647 h 798"/>
              <a:gd name="T38" fmla="*/ 2147483647 w 580"/>
              <a:gd name="T39" fmla="*/ 2147483647 h 798"/>
              <a:gd name="T40" fmla="*/ 2147483647 w 580"/>
              <a:gd name="T41" fmla="*/ 2147483647 h 798"/>
              <a:gd name="T42" fmla="*/ 2147483647 w 580"/>
              <a:gd name="T43" fmla="*/ 2147483647 h 798"/>
              <a:gd name="T44" fmla="*/ 2147483647 w 580"/>
              <a:gd name="T45" fmla="*/ 2147483647 h 798"/>
              <a:gd name="T46" fmla="*/ 2147483647 w 580"/>
              <a:gd name="T47" fmla="*/ 2147483647 h 798"/>
              <a:gd name="T48" fmla="*/ 2147483647 w 580"/>
              <a:gd name="T49" fmla="*/ 2147483647 h 798"/>
              <a:gd name="T50" fmla="*/ 2147483647 w 580"/>
              <a:gd name="T51" fmla="*/ 2147483647 h 798"/>
              <a:gd name="T52" fmla="*/ 2147483647 w 580"/>
              <a:gd name="T53" fmla="*/ 0 h 798"/>
              <a:gd name="T54" fmla="*/ 214748364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A391FF"/>
              </a:gs>
              <a:gs pos="50000">
                <a:srgbClr val="C6BCFF"/>
              </a:gs>
              <a:gs pos="100000">
                <a:srgbClr val="E3D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3543" name="Freeform 7"/>
          <p:cNvSpPr>
            <a:spLocks/>
          </p:cNvSpPr>
          <p:nvPr/>
        </p:nvSpPr>
        <p:spPr bwMode="gray">
          <a:xfrm flipH="1">
            <a:off x="6096000" y="2133601"/>
            <a:ext cx="1204384"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flip="none" rotWithShape="1">
            <a:gsLst>
              <a:gs pos="0">
                <a:schemeClr val="hlink"/>
              </a:gs>
              <a:gs pos="100000">
                <a:schemeClr val="hlink">
                  <a:gamma/>
                  <a:tint val="31765"/>
                  <a:invGamma/>
                </a:schemeClr>
              </a:gs>
            </a:gsLst>
            <a:lin ang="10800000" scaled="1"/>
            <a:tileRect/>
          </a:gradFill>
          <a:ln w="0">
            <a:noFill/>
            <a:prstDash val="solid"/>
            <a:round/>
            <a:headEnd/>
            <a:tailEnd/>
          </a:ln>
        </p:spPr>
        <p:txBody>
          <a:bodyPr/>
          <a:lstStyle/>
          <a:p>
            <a:pPr fontAlgn="auto">
              <a:spcBef>
                <a:spcPts val="0"/>
              </a:spcBef>
              <a:spcAft>
                <a:spcPts val="0"/>
              </a:spcAft>
              <a:defRPr/>
            </a:pPr>
            <a:endParaRPr lang="en-US">
              <a:latin typeface="+mn-lt"/>
              <a:cs typeface="+mn-cs"/>
            </a:endParaRPr>
          </a:p>
        </p:txBody>
      </p:sp>
      <p:grpSp>
        <p:nvGrpSpPr>
          <p:cNvPr id="2" name="Group 9"/>
          <p:cNvGrpSpPr>
            <a:grpSpLocks/>
          </p:cNvGrpSpPr>
          <p:nvPr/>
        </p:nvGrpSpPr>
        <p:grpSpPr bwMode="auto">
          <a:xfrm>
            <a:off x="3657600" y="914400"/>
            <a:ext cx="5283200" cy="1219200"/>
            <a:chOff x="1997" y="1314"/>
            <a:chExt cx="1889" cy="1009"/>
          </a:xfrm>
        </p:grpSpPr>
        <p:grpSp>
          <p:nvGrpSpPr>
            <p:cNvPr id="38925" name="Group 10"/>
            <p:cNvGrpSpPr>
              <a:grpSpLocks/>
            </p:cNvGrpSpPr>
            <p:nvPr/>
          </p:nvGrpSpPr>
          <p:grpSpPr bwMode="auto">
            <a:xfrm>
              <a:off x="1997" y="1404"/>
              <a:ext cx="1889" cy="919"/>
              <a:chOff x="1973" y="1027"/>
              <a:chExt cx="1926" cy="937"/>
            </a:xfrm>
          </p:grpSpPr>
          <p:sp>
            <p:nvSpPr>
              <p:cNvPr id="193547" name="Oval 11"/>
              <p:cNvSpPr>
                <a:spLocks noChangeArrowheads="1"/>
              </p:cNvSpPr>
              <p:nvPr/>
            </p:nvSpPr>
            <p:spPr bwMode="gray">
              <a:xfrm>
                <a:off x="1994" y="1061"/>
                <a:ext cx="1905" cy="903"/>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3548" name="Oval 12"/>
              <p:cNvSpPr>
                <a:spLocks noChangeArrowheads="1"/>
              </p:cNvSpPr>
              <p:nvPr/>
            </p:nvSpPr>
            <p:spPr bwMode="gray">
              <a:xfrm>
                <a:off x="1973" y="1029"/>
                <a:ext cx="1905" cy="903"/>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sp>
          <p:nvSpPr>
            <p:cNvPr id="193549" name="Oval 13"/>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0" name="Oval 14"/>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1" name="Oval 15"/>
            <p:cNvSpPr>
              <a:spLocks noChangeArrowheads="1"/>
            </p:cNvSpPr>
            <p:nvPr/>
          </p:nvSpPr>
          <p:spPr bwMode="gray">
            <a:xfrm>
              <a:off x="2125" y="1328"/>
              <a:ext cx="1570" cy="769"/>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sp>
          <p:nvSpPr>
            <p:cNvPr id="193552" name="Oval 16"/>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fontAlgn="auto">
                <a:spcBef>
                  <a:spcPts val="0"/>
                </a:spcBef>
                <a:spcAft>
                  <a:spcPts val="0"/>
                </a:spcAft>
                <a:defRPr/>
              </a:pPr>
              <a:endParaRPr lang="en-US">
                <a:latin typeface="+mn-lt"/>
                <a:cs typeface="+mn-cs"/>
              </a:endParaRPr>
            </a:p>
          </p:txBody>
        </p:sp>
      </p:grpSp>
      <p:sp>
        <p:nvSpPr>
          <p:cNvPr id="193553" name="Rectangle 17"/>
          <p:cNvSpPr>
            <a:spLocks noChangeArrowheads="1"/>
          </p:cNvSpPr>
          <p:nvPr/>
        </p:nvSpPr>
        <p:spPr bwMode="auto">
          <a:xfrm>
            <a:off x="4064000" y="1066801"/>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2800" b="1">
                <a:solidFill>
                  <a:srgbClr val="CC3399"/>
                </a:solidFill>
                <a:latin typeface="Times New Roman" pitchFamily="18" charset="0"/>
                <a:cs typeface="Times New Roman" pitchFamily="18" charset="0"/>
              </a:rPr>
              <a:t>Tác động hai mặt</a:t>
            </a:r>
            <a:endParaRPr lang="en-US" altLang="en-US" sz="2600" b="1">
              <a:latin typeface=".VnTime" pitchFamily="34" charset="0"/>
            </a:endParaRPr>
          </a:p>
        </p:txBody>
      </p:sp>
      <p:sp>
        <p:nvSpPr>
          <p:cNvPr id="111627" name="Rectangle 18"/>
          <p:cNvSpPr>
            <a:spLocks noChangeArrowheads="1"/>
          </p:cNvSpPr>
          <p:nvPr/>
        </p:nvSpPr>
        <p:spPr bwMode="auto">
          <a:xfrm>
            <a:off x="914400" y="152401"/>
            <a:ext cx="10261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3600" b="1">
                <a:solidFill>
                  <a:srgbClr val="FF3300"/>
                </a:solidFill>
                <a:latin typeface="Times New Roman" pitchFamily="18" charset="0"/>
                <a:cs typeface="Times New Roman" pitchFamily="18" charset="0"/>
              </a:rPr>
              <a:t>  </a:t>
            </a:r>
            <a:r>
              <a:rPr lang="en-US" altLang="en-US" sz="3600" b="1" u="sng">
                <a:solidFill>
                  <a:srgbClr val="FF3300"/>
                </a:solidFill>
                <a:latin typeface="Times New Roman" pitchFamily="18" charset="0"/>
                <a:cs typeface="Times New Roman" pitchFamily="18" charset="0"/>
              </a:rPr>
              <a:t>Vai trò của cạnh tranh</a:t>
            </a:r>
            <a:r>
              <a:rPr lang="en-US" altLang="en-US" sz="3600" b="1">
                <a:latin typeface="Times New Roman" pitchFamily="18" charset="0"/>
                <a:cs typeface="Times New Roman" pitchFamily="18" charset="0"/>
              </a:rPr>
              <a:t>:</a:t>
            </a:r>
            <a:r>
              <a:rPr lang="en-US" altLang="en-US" sz="3600">
                <a:latin typeface="Times New Roman" pitchFamily="18" charset="0"/>
                <a:cs typeface="Times New Roman" pitchFamily="18" charset="0"/>
              </a:rPr>
              <a:t> </a:t>
            </a:r>
            <a:endParaRPr lang="en-US" altLang="en-US" sz="3600" b="1">
              <a:solidFill>
                <a:srgbClr val="0000CC"/>
              </a:solidFill>
            </a:endParaRPr>
          </a:p>
        </p:txBody>
      </p:sp>
    </p:spTree>
    <p:extLst>
      <p:ext uri="{BB962C8B-B14F-4D97-AF65-F5344CB8AC3E}">
        <p14:creationId xmlns:p14="http://schemas.microsoft.com/office/powerpoint/2010/main" val="39050713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11627">
                                            <p:txEl>
                                              <p:pRg st="0" end="0"/>
                                            </p:txEl>
                                          </p:spTgt>
                                        </p:tgtEl>
                                        <p:attrNameLst>
                                          <p:attrName>style.visibility</p:attrName>
                                        </p:attrNameLst>
                                      </p:cBhvr>
                                      <p:to>
                                        <p:strVal val="visible"/>
                                      </p:to>
                                    </p:set>
                                    <p:animEffect transition="in" filter="diamond(in)">
                                      <p:cBhvr>
                                        <p:cTn id="7" dur="500"/>
                                        <p:tgtEl>
                                          <p:spTgt spid="111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93553"/>
                                        </p:tgtEl>
                                        <p:attrNameLst>
                                          <p:attrName>style.visibility</p:attrName>
                                        </p:attrNameLst>
                                      </p:cBhvr>
                                      <p:to>
                                        <p:strVal val="visible"/>
                                      </p:to>
                                    </p:set>
                                    <p:animEffect transition="in" filter="blinds(horizontal)">
                                      <p:cBhvr>
                                        <p:cTn id="15" dur="500"/>
                                        <p:tgtEl>
                                          <p:spTgt spid="19355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1622"/>
                                        </p:tgtEl>
                                        <p:attrNameLst>
                                          <p:attrName>style.visibility</p:attrName>
                                        </p:attrNameLst>
                                      </p:cBhvr>
                                      <p:to>
                                        <p:strVal val="visible"/>
                                      </p:to>
                                    </p:set>
                                    <p:animEffect transition="in" filter="blinds(horizontal)">
                                      <p:cBhvr>
                                        <p:cTn id="20" dur="500"/>
                                        <p:tgtEl>
                                          <p:spTgt spid="1116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11620"/>
                                        </p:tgtEl>
                                        <p:attrNameLst>
                                          <p:attrName>style.visibility</p:attrName>
                                        </p:attrNameLst>
                                      </p:cBhvr>
                                      <p:to>
                                        <p:strVal val="visible"/>
                                      </p:to>
                                    </p:set>
                                    <p:animEffect transition="in" filter="checkerboard(across)">
                                      <p:cBhvr>
                                        <p:cTn id="25" dur="500"/>
                                        <p:tgtEl>
                                          <p:spTgt spid="1116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93543"/>
                                        </p:tgtEl>
                                        <p:attrNameLst>
                                          <p:attrName>style.visibility</p:attrName>
                                        </p:attrNameLst>
                                      </p:cBhvr>
                                      <p:to>
                                        <p:strVal val="visible"/>
                                      </p:to>
                                    </p:set>
                                    <p:animEffect transition="in" filter="blinds(horizontal)">
                                      <p:cBhvr>
                                        <p:cTn id="30" dur="500"/>
                                        <p:tgtEl>
                                          <p:spTgt spid="19354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111619"/>
                                        </p:tgtEl>
                                        <p:attrNameLst>
                                          <p:attrName>style.visibility</p:attrName>
                                        </p:attrNameLst>
                                      </p:cBhvr>
                                      <p:to>
                                        <p:strVal val="visible"/>
                                      </p:to>
                                    </p:set>
                                    <p:animEffect transition="in" filter="checkerboard(across)">
                                      <p:cBhvr>
                                        <p:cTn id="35" dur="500"/>
                                        <p:tgtEl>
                                          <p:spTgt spid="11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2" grpId="0" animBg="1"/>
      <p:bldP spid="19355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nvSpPr>
        <p:spPr bwMode="auto">
          <a:xfrm>
            <a:off x="8737600" y="6248400"/>
            <a:ext cx="2844800" cy="457200"/>
          </a:xfrm>
          <a:prstGeom prst="rect">
            <a:avLst/>
          </a:prstGeom>
          <a:noFill/>
          <a:ln>
            <a:miter lim="800000"/>
            <a:headEnd/>
            <a:tailEnd/>
          </a:ln>
        </p:spPr>
        <p:txBody>
          <a:bodyPr anchor="b"/>
          <a:lstStyle/>
          <a:p>
            <a:pPr algn="r">
              <a:defRPr/>
            </a:pPr>
            <a:fld id="{81007A2A-3D57-4D9A-9C7E-F29E6C2463A8}" type="slidenum">
              <a:rPr lang="en-US">
                <a:effectLst>
                  <a:outerShdw blurRad="38100" dist="38100" dir="2700000" algn="tl">
                    <a:srgbClr val="000000"/>
                  </a:outerShdw>
                </a:effectLst>
                <a:cs typeface="+mn-cs"/>
              </a:rPr>
              <a:pPr algn="r">
                <a:defRPr/>
              </a:pPr>
              <a:t>58</a:t>
            </a:fld>
            <a:r>
              <a:rPr lang="en-US">
                <a:effectLst>
                  <a:outerShdw blurRad="38100" dist="38100" dir="2700000" algn="tl">
                    <a:srgbClr val="000000"/>
                  </a:outerShdw>
                </a:effectLst>
                <a:cs typeface="+mn-cs"/>
              </a:rPr>
              <a:t>/25</a:t>
            </a:r>
          </a:p>
        </p:txBody>
      </p:sp>
      <p:pic>
        <p:nvPicPr>
          <p:cNvPr id="56323" name="Picture 5" descr="Dal River, Dalarna, Swed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Text Box 4"/>
          <p:cNvSpPr txBox="1">
            <a:spLocks noChangeArrowheads="1"/>
          </p:cNvSpPr>
          <p:nvPr/>
        </p:nvSpPr>
        <p:spPr bwMode="auto">
          <a:xfrm>
            <a:off x="1219200" y="3581401"/>
            <a:ext cx="9956800" cy="2678113"/>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sz="6000" b="1" dirty="0">
                <a:solidFill>
                  <a:srgbClr val="FFFF00"/>
                </a:solidFill>
                <a:latin typeface="Times New Roman" pitchFamily="18" charset="0"/>
                <a:cs typeface="Times New Roman" pitchFamily="18" charset="0"/>
              </a:rPr>
              <a:t>2.3 </a:t>
            </a:r>
            <a:r>
              <a:rPr lang="en-US" altLang="en-US" sz="6000" b="1" dirty="0" err="1">
                <a:solidFill>
                  <a:srgbClr val="FFFF00"/>
                </a:solidFill>
                <a:latin typeface="Times New Roman" pitchFamily="18" charset="0"/>
                <a:cs typeface="Times New Roman" pitchFamily="18" charset="0"/>
              </a:rPr>
              <a:t>Vai</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trò</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các</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chủ</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thể</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tham</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gia</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thị</a:t>
            </a:r>
            <a:r>
              <a:rPr lang="en-US" altLang="en-US" sz="6000" b="1" dirty="0">
                <a:solidFill>
                  <a:srgbClr val="FFFF00"/>
                </a:solidFill>
                <a:latin typeface="Times New Roman" pitchFamily="18" charset="0"/>
                <a:cs typeface="Times New Roman" pitchFamily="18" charset="0"/>
              </a:rPr>
              <a:t> </a:t>
            </a:r>
            <a:r>
              <a:rPr lang="en-US" altLang="en-US" sz="6000" b="1" dirty="0" err="1">
                <a:solidFill>
                  <a:srgbClr val="FFFF00"/>
                </a:solidFill>
                <a:latin typeface="Times New Roman" pitchFamily="18" charset="0"/>
                <a:cs typeface="Times New Roman" pitchFamily="18" charset="0"/>
              </a:rPr>
              <a:t>trường</a:t>
            </a:r>
            <a:endParaRPr lang="en-US" altLang="en-US" sz="6000" b="1" dirty="0">
              <a:solidFill>
                <a:srgbClr val="FFFF00"/>
              </a:solidFill>
              <a:latin typeface="Algerian" pitchFamily="82" charset="0"/>
              <a:cs typeface="Times New Roman" pitchFamily="18" charset="0"/>
            </a:endParaRPr>
          </a:p>
          <a:p>
            <a:pPr algn="ctr" eaLnBrk="1" hangingPunct="1">
              <a:spcBef>
                <a:spcPct val="50000"/>
              </a:spcBef>
            </a:pPr>
            <a:endParaRPr lang="en-US" altLang="en-US" sz="3200" b="1" dirty="0">
              <a:solidFill>
                <a:srgbClr val="FFFF00"/>
              </a:solidFill>
            </a:endParaRPr>
          </a:p>
        </p:txBody>
      </p:sp>
    </p:spTree>
    <p:extLst>
      <p:ext uri="{BB962C8B-B14F-4D97-AF65-F5344CB8AC3E}">
        <p14:creationId xmlns:p14="http://schemas.microsoft.com/office/powerpoint/2010/main" val="22860886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4388">
                                            <p:txEl>
                                              <p:pRg st="0" end="0"/>
                                            </p:txEl>
                                          </p:spTgt>
                                        </p:tgtEl>
                                        <p:attrNameLst>
                                          <p:attrName>style.visibility</p:attrName>
                                        </p:attrNameLst>
                                      </p:cBhvr>
                                      <p:to>
                                        <p:strVal val="visible"/>
                                      </p:to>
                                    </p:set>
                                    <p:animEffect transition="in" filter="fade">
                                      <p:cBhvr>
                                        <p:cTn id="7" dur="770" decel="100000"/>
                                        <p:tgtEl>
                                          <p:spTgt spid="144388">
                                            <p:txEl>
                                              <p:pRg st="0" end="0"/>
                                            </p:txEl>
                                          </p:spTgt>
                                        </p:tgtEl>
                                      </p:cBhvr>
                                    </p:animEffect>
                                    <p:animScale>
                                      <p:cBhvr>
                                        <p:cTn id="8" dur="770" decel="100000"/>
                                        <p:tgtEl>
                                          <p:spTgt spid="144388">
                                            <p:txEl>
                                              <p:pRg st="0" end="0"/>
                                            </p:txEl>
                                          </p:spTgt>
                                        </p:tgtEl>
                                      </p:cBhvr>
                                      <p:from x="10000" y="10000"/>
                                      <p:to x="200000" y="450000"/>
                                    </p:animScale>
                                    <p:animScale>
                                      <p:cBhvr>
                                        <p:cTn id="9" dur="1230" accel="100000" fill="hold">
                                          <p:stCondLst>
                                            <p:cond delay="770"/>
                                          </p:stCondLst>
                                        </p:cTn>
                                        <p:tgtEl>
                                          <p:spTgt spid="144388">
                                            <p:txEl>
                                              <p:pRg st="0" end="0"/>
                                            </p:txEl>
                                          </p:spTgt>
                                        </p:tgtEl>
                                      </p:cBhvr>
                                      <p:from x="200000" y="450000"/>
                                      <p:to x="100000" y="100000"/>
                                    </p:animScale>
                                    <p:set>
                                      <p:cBhvr>
                                        <p:cTn id="10" dur="770" fill="hold"/>
                                        <p:tgtEl>
                                          <p:spTgt spid="144388">
                                            <p:txEl>
                                              <p:pRg st="0" end="0"/>
                                            </p:txEl>
                                          </p:spTgt>
                                        </p:tgtEl>
                                        <p:attrNameLst>
                                          <p:attrName>ppt_x</p:attrName>
                                        </p:attrNameLst>
                                      </p:cBhvr>
                                      <p:to>
                                        <p:strVal val="(0.5)"/>
                                      </p:to>
                                    </p:set>
                                    <p:anim from="(0.5)" to="(#ppt_x)" calcmode="lin" valueType="num">
                                      <p:cBhvr>
                                        <p:cTn id="11" dur="1230" accel="100000" fill="hold">
                                          <p:stCondLst>
                                            <p:cond delay="770"/>
                                          </p:stCondLst>
                                        </p:cTn>
                                        <p:tgtEl>
                                          <p:spTgt spid="144388">
                                            <p:txEl>
                                              <p:pRg st="0" end="0"/>
                                            </p:txEl>
                                          </p:spTgt>
                                        </p:tgtEl>
                                        <p:attrNameLst>
                                          <p:attrName>ppt_x</p:attrName>
                                        </p:attrNameLst>
                                      </p:cBhvr>
                                    </p:anim>
                                    <p:set>
                                      <p:cBhvr>
                                        <p:cTn id="12" dur="770" fill="hold"/>
                                        <p:tgtEl>
                                          <p:spTgt spid="144388">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4388">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txBox="1">
            <a:spLocks noGrp="1"/>
          </p:cNvSpPr>
          <p:nvPr/>
        </p:nvSpPr>
        <p:spPr bwMode="auto">
          <a:xfrm>
            <a:off x="8737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fld id="{BF468495-4F87-45EC-A7E6-24713470E8B3}" type="slidenum">
              <a:rPr lang="en-US" altLang="en-US" sz="1400"/>
              <a:pPr algn="r" eaLnBrk="1" hangingPunct="1"/>
              <a:t>59</a:t>
            </a:fld>
            <a:endParaRPr lang="en-US" altLang="en-US" sz="1400"/>
          </a:p>
        </p:txBody>
      </p:sp>
      <p:sp>
        <p:nvSpPr>
          <p:cNvPr id="10248" name="WordArt 5"/>
          <p:cNvSpPr>
            <a:spLocks noChangeArrowheads="1" noChangeShapeType="1" noTextEdit="1"/>
          </p:cNvSpPr>
          <p:nvPr/>
        </p:nvSpPr>
        <p:spPr bwMode="auto">
          <a:xfrm>
            <a:off x="1727201" y="762000"/>
            <a:ext cx="6777567" cy="427038"/>
          </a:xfrm>
          <a:prstGeom prst="rect">
            <a:avLst/>
          </a:prstGeom>
        </p:spPr>
        <p:txBody>
          <a:bodyPr wrap="none" fromWordArt="1">
            <a:prstTxWarp prst="textPlain">
              <a:avLst>
                <a:gd name="adj" fmla="val 50000"/>
              </a:avLst>
            </a:prstTxWarp>
          </a:bodyPr>
          <a:lstStyle/>
          <a:p>
            <a:pPr algn="ctr"/>
            <a:r>
              <a:rPr lang="vi-VN" sz="4000" b="1" kern="1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NỘI DUNG</a:t>
            </a:r>
            <a:endParaRPr lang="en-US" sz="4000" b="1" kern="1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endParaRPr>
          </a:p>
        </p:txBody>
      </p:sp>
      <p:grpSp>
        <p:nvGrpSpPr>
          <p:cNvPr id="2" name="Group 7"/>
          <p:cNvGrpSpPr>
            <a:grpSpLocks/>
          </p:cNvGrpSpPr>
          <p:nvPr/>
        </p:nvGrpSpPr>
        <p:grpSpPr bwMode="auto">
          <a:xfrm>
            <a:off x="4978400" y="2743200"/>
            <a:ext cx="6908800" cy="3276600"/>
            <a:chOff x="2290" y="1527"/>
            <a:chExt cx="3072" cy="1637"/>
          </a:xfrm>
        </p:grpSpPr>
        <p:pic>
          <p:nvPicPr>
            <p:cNvPr id="57353" name="Picture 8" descr="BD13635_"/>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057" y="1527"/>
              <a:ext cx="95" cy="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4" name="Rectangle 9"/>
            <p:cNvSpPr>
              <a:spLocks noChangeArrowheads="1"/>
            </p:cNvSpPr>
            <p:nvPr/>
          </p:nvSpPr>
          <p:spPr bwMode="auto">
            <a:xfrm>
              <a:off x="2290" y="3068"/>
              <a:ext cx="3072" cy="96"/>
            </a:xfrm>
            <a:prstGeom prst="rect">
              <a:avLst/>
            </a:prstGeom>
            <a:gradFill rotWithShape="0">
              <a:gsLst>
                <a:gs pos="0">
                  <a:srgbClr val="FFF200"/>
                </a:gs>
                <a:gs pos="45000">
                  <a:srgbClr val="FF7A00"/>
                </a:gs>
                <a:gs pos="70000">
                  <a:srgbClr val="FF0300"/>
                </a:gs>
                <a:gs pos="100000">
                  <a:srgbClr val="4D0808"/>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vi-VN" altLang="en-US"/>
            </a:p>
          </p:txBody>
        </p:sp>
        <p:pic>
          <p:nvPicPr>
            <p:cNvPr id="57355" name="Picture 10" descr="celtic0131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 y="2706"/>
              <a:ext cx="39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Rounded Rectangle 9"/>
          <p:cNvSpPr/>
          <p:nvPr/>
        </p:nvSpPr>
        <p:spPr bwMode="auto">
          <a:xfrm>
            <a:off x="914400" y="1447800"/>
            <a:ext cx="9753600" cy="838200"/>
          </a:xfrm>
          <a:prstGeom prst="roundRect">
            <a:avLst/>
          </a:prstGeom>
          <a:blipFill>
            <a:blip r:embed="rId4"/>
            <a:tile tx="0" ty="0" sx="100000" sy="100000" flip="none" algn="tl"/>
          </a:blipFill>
          <a:ln>
            <a:solidFill>
              <a:srgbClr val="0070C0"/>
            </a:solidFill>
            <a:headEnd type="none" w="med" len="med"/>
            <a:tailEnd type="none" w="med" len="med"/>
          </a:ln>
          <a:scene3d>
            <a:camera prst="orthographicFront">
              <a:rot lat="0" lon="0" rev="0"/>
            </a:camera>
            <a:lightRig rig="balanced" dir="t">
              <a:rot lat="0" lon="0" rev="0"/>
            </a:lightRig>
          </a:scene3d>
          <a:sp3d>
            <a:bevelT w="47625" h="69850" prst="angle"/>
            <a:contourClr>
              <a:schemeClr val="lt1"/>
            </a:contourClr>
          </a:sp3d>
        </p:spPr>
        <p:style>
          <a:lnRef idx="0">
            <a:schemeClr val="accent1"/>
          </a:lnRef>
          <a:fillRef idx="3">
            <a:schemeClr val="accent1"/>
          </a:fillRef>
          <a:effectRef idx="3">
            <a:schemeClr val="accent1"/>
          </a:effectRef>
          <a:fontRef idx="minor">
            <a:schemeClr val="lt1"/>
          </a:fontRef>
        </p:style>
        <p:txBody>
          <a:bodyPr/>
          <a:lstStyle/>
          <a:p>
            <a:pPr>
              <a:defRPr/>
            </a:pPr>
            <a:r>
              <a:rPr lang="en-US"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2.3.1 Người sản xuất</a:t>
            </a:r>
            <a:endParaRPr lang="vi-VN"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cs typeface="Arial"/>
            </a:endParaRPr>
          </a:p>
        </p:txBody>
      </p:sp>
      <p:sp>
        <p:nvSpPr>
          <p:cNvPr id="11" name="Rounded Rectangle 10"/>
          <p:cNvSpPr/>
          <p:nvPr/>
        </p:nvSpPr>
        <p:spPr bwMode="auto">
          <a:xfrm>
            <a:off x="914400" y="2362200"/>
            <a:ext cx="9753600" cy="990600"/>
          </a:xfrm>
          <a:prstGeom prst="roundRect">
            <a:avLst/>
          </a:prstGeom>
          <a:blipFill>
            <a:blip r:embed="rId4"/>
            <a:tile tx="0" ty="0" sx="100000" sy="100000" flip="none" algn="tl"/>
          </a:blipFill>
          <a:ln>
            <a:solidFill>
              <a:srgbClr val="0070C0"/>
            </a:solidFill>
            <a:headEnd type="none" w="med" len="med"/>
            <a:tailEnd type="none" w="med" len="med"/>
          </a:ln>
          <a:scene3d>
            <a:camera prst="orthographicFront">
              <a:rot lat="0" lon="0" rev="0"/>
            </a:camera>
            <a:lightRig rig="balanced" dir="t">
              <a:rot lat="0" lon="0" rev="0"/>
            </a:lightRig>
          </a:scene3d>
          <a:sp3d>
            <a:bevelT w="47625" h="69850" prst="angle"/>
            <a:contourClr>
              <a:schemeClr val="lt1"/>
            </a:contourClr>
          </a:sp3d>
        </p:spPr>
        <p:style>
          <a:lnRef idx="0">
            <a:schemeClr val="accent1"/>
          </a:lnRef>
          <a:fillRef idx="3">
            <a:schemeClr val="accent1"/>
          </a:fillRef>
          <a:effectRef idx="3">
            <a:schemeClr val="accent1"/>
          </a:effectRef>
          <a:fontRef idx="minor">
            <a:schemeClr val="lt1"/>
          </a:fontRef>
        </p:style>
        <p:txBody>
          <a:bodyPr/>
          <a:lstStyle/>
          <a:p>
            <a:pPr>
              <a:defRPr/>
            </a:pPr>
            <a:r>
              <a:rPr lang="en-US"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2.3.2. Người tiêu dùng</a:t>
            </a:r>
            <a:endParaRPr lang="vi-VN"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cs typeface="Arial"/>
            </a:endParaRPr>
          </a:p>
        </p:txBody>
      </p:sp>
      <p:sp>
        <p:nvSpPr>
          <p:cNvPr id="12" name="Rounded Rectangle 11"/>
          <p:cNvSpPr/>
          <p:nvPr/>
        </p:nvSpPr>
        <p:spPr bwMode="auto">
          <a:xfrm>
            <a:off x="914400" y="3429000"/>
            <a:ext cx="9753600" cy="1066800"/>
          </a:xfrm>
          <a:prstGeom prst="roundRect">
            <a:avLst/>
          </a:prstGeom>
          <a:blipFill>
            <a:blip r:embed="rId4"/>
            <a:tile tx="0" ty="0" sx="100000" sy="100000" flip="none" algn="tl"/>
          </a:blipFill>
          <a:ln>
            <a:solidFill>
              <a:srgbClr val="0070C0"/>
            </a:solidFill>
            <a:headEnd type="none" w="med" len="med"/>
            <a:tailEnd type="none" w="med" len="med"/>
          </a:ln>
          <a:scene3d>
            <a:camera prst="orthographicFront">
              <a:rot lat="0" lon="0" rev="0"/>
            </a:camera>
            <a:lightRig rig="balanced" dir="t">
              <a:rot lat="0" lon="0" rev="0"/>
            </a:lightRig>
          </a:scene3d>
          <a:sp3d>
            <a:bevelT w="47625" h="69850" prst="angle"/>
            <a:contourClr>
              <a:schemeClr val="lt1"/>
            </a:contourClr>
          </a:sp3d>
        </p:spPr>
        <p:style>
          <a:lnRef idx="0">
            <a:schemeClr val="accent1"/>
          </a:lnRef>
          <a:fillRef idx="3">
            <a:schemeClr val="accent1"/>
          </a:fillRef>
          <a:effectRef idx="3">
            <a:schemeClr val="accent1"/>
          </a:effectRef>
          <a:fontRef idx="minor">
            <a:schemeClr val="lt1"/>
          </a:fontRef>
        </p:style>
        <p:txBody>
          <a:bodyPr/>
          <a:lstStyle/>
          <a:p>
            <a:pPr lvl="0"/>
            <a:r>
              <a:rPr lang="en-US"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2.3.3. </a:t>
            </a:r>
            <a:r>
              <a:rPr lang="vi-VN"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Các chủ thể trung gian trong thị trường</a:t>
            </a:r>
            <a:endParaRPr lang="en-US"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endParaRPr>
          </a:p>
        </p:txBody>
      </p:sp>
      <p:sp>
        <p:nvSpPr>
          <p:cNvPr id="13" name="Rounded Rectangle 12"/>
          <p:cNvSpPr/>
          <p:nvPr/>
        </p:nvSpPr>
        <p:spPr bwMode="auto">
          <a:xfrm>
            <a:off x="914400" y="4572000"/>
            <a:ext cx="9753600" cy="1066800"/>
          </a:xfrm>
          <a:prstGeom prst="roundRect">
            <a:avLst/>
          </a:prstGeom>
          <a:blipFill>
            <a:blip r:embed="rId4"/>
            <a:tile tx="0" ty="0" sx="100000" sy="100000" flip="none" algn="tl"/>
          </a:blipFill>
          <a:ln>
            <a:solidFill>
              <a:srgbClr val="0070C0"/>
            </a:solidFill>
            <a:headEnd type="none" w="med" len="med"/>
            <a:tailEnd type="none" w="med" len="med"/>
          </a:ln>
          <a:scene3d>
            <a:camera prst="orthographicFront">
              <a:rot lat="0" lon="0" rev="0"/>
            </a:camera>
            <a:lightRig rig="balanced" dir="t">
              <a:rot lat="0" lon="0" rev="0"/>
            </a:lightRig>
          </a:scene3d>
          <a:sp3d>
            <a:bevelT w="47625" h="69850" prst="angle"/>
            <a:contourClr>
              <a:schemeClr val="lt1"/>
            </a:contourClr>
          </a:sp3d>
        </p:spPr>
        <p:style>
          <a:lnRef idx="0">
            <a:schemeClr val="accent1"/>
          </a:lnRef>
          <a:fillRef idx="3">
            <a:schemeClr val="accent1"/>
          </a:fillRef>
          <a:effectRef idx="3">
            <a:schemeClr val="accent1"/>
          </a:effectRef>
          <a:fontRef idx="minor">
            <a:schemeClr val="lt1"/>
          </a:fontRef>
        </p:style>
        <p:txBody>
          <a:bodyPr/>
          <a:lstStyle/>
          <a:p>
            <a:pPr>
              <a:defRPr/>
            </a:pPr>
            <a:r>
              <a:rPr lang="en-US" sz="3000" b="1" kern="10" dirty="0">
                <a:ln w="12700">
                  <a:solidFill>
                    <a:srgbClr val="FFFF00"/>
                  </a:solidFill>
                  <a:round/>
                  <a:headEnd/>
                  <a:tailEnd/>
                </a:ln>
                <a:solidFill>
                  <a:srgbClr val="FF0000"/>
                </a:solidFill>
                <a:effectLst>
                  <a:outerShdw dist="35921" dir="2700000" sy="50000" kx="2115830" algn="bl" rotWithShape="0">
                    <a:srgbClr val="C0C0C0">
                      <a:alpha val="79999"/>
                    </a:srgbClr>
                  </a:outerShdw>
                </a:effectLst>
                <a:latin typeface="Arial"/>
                <a:cs typeface="Arial"/>
              </a:rPr>
              <a:t>2.3.4. Nhà nước</a:t>
            </a:r>
          </a:p>
        </p:txBody>
      </p:sp>
    </p:spTree>
    <p:extLst>
      <p:ext uri="{BB962C8B-B14F-4D97-AF65-F5344CB8AC3E}">
        <p14:creationId xmlns:p14="http://schemas.microsoft.com/office/powerpoint/2010/main" val="3716892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10248"/>
                                        </p:tgtEl>
                                        <p:attrNameLst>
                                          <p:attrName>style.visibility</p:attrName>
                                        </p:attrNameLst>
                                      </p:cBhvr>
                                      <p:to>
                                        <p:strVal val="visible"/>
                                      </p:to>
                                    </p:set>
                                    <p:anim calcmode="lin" valueType="num">
                                      <p:cBhvr>
                                        <p:cTn id="14" dur="500" fill="hold"/>
                                        <p:tgtEl>
                                          <p:spTgt spid="10248"/>
                                        </p:tgtEl>
                                        <p:attrNameLst>
                                          <p:attrName>ppt_w</p:attrName>
                                        </p:attrNameLst>
                                      </p:cBhvr>
                                      <p:tavLst>
                                        <p:tav tm="0">
                                          <p:val>
                                            <p:fltVal val="0"/>
                                          </p:val>
                                        </p:tav>
                                        <p:tav tm="100000">
                                          <p:val>
                                            <p:strVal val="#ppt_w"/>
                                          </p:val>
                                        </p:tav>
                                      </p:tavLst>
                                    </p:anim>
                                    <p:anim calcmode="lin" valueType="num">
                                      <p:cBhvr>
                                        <p:cTn id="15" dur="500" fill="hold"/>
                                        <p:tgtEl>
                                          <p:spTgt spid="10248"/>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ox(in)">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ox(in)">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ox(in)">
                                      <p:cBhvr>
                                        <p:cTn id="30" dur="5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ox(in)">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73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7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598</TotalTime>
  <Words>4202</Words>
  <Application>Microsoft Office PowerPoint</Application>
  <PresentationFormat>Widescreen</PresentationFormat>
  <Paragraphs>365</Paragraphs>
  <Slides>61</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4" baseType="lpstr">
      <vt:lpstr>.VnTime</vt:lpstr>
      <vt:lpstr>Algerian</vt:lpstr>
      <vt:lpstr>Arial</vt:lpstr>
      <vt:lpstr>Calibri</vt:lpstr>
      <vt:lpstr>Calibri Light</vt:lpstr>
      <vt:lpstr>Tahoma</vt:lpstr>
      <vt:lpstr>Times</vt:lpstr>
      <vt:lpstr>Times New Roman</vt:lpstr>
      <vt:lpstr>Times New Roman (Headings)</vt:lpstr>
      <vt:lpstr>Verdana</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2.1.3. Tiền tệ </vt:lpstr>
      <vt:lpstr>2.1.3.1. Nguồn gốc và bản chất của tiền </vt:lpstr>
      <vt:lpstr>PowerPoint Presentation</vt:lpstr>
      <vt:lpstr>PowerPoint Presentation</vt:lpstr>
      <vt:lpstr>PowerPoint Presentation</vt:lpstr>
      <vt:lpstr>2.1.3.2. Chức năng của tiền</vt:lpstr>
      <vt:lpstr>2.1.4. Dịch vụ và quan hệ trao đổi trong trường họp một số yếu tố khác hàng hóa thông thường ở điều kiện ngày nay  2.1.4.1. Dịch vụ</vt:lpstr>
      <vt:lpstr>2.1.4.2. Quan hệ trao đổi trong trường hợp một sổ yếu tổ khác hàng hóa thông thường ở điều kiện ngày nay</vt:lpstr>
      <vt:lpstr>Quan hệ trong trao đôi thương hiệu (danh tiêng) </vt:lpstr>
      <vt:lpstr>Quan hệ trong trao đổi, mua bán chứng khoán, chứng quyền và một số giấy tờ có giá </vt:lpstr>
      <vt:lpstr>2.2. THỊ TRƯỜNG VÀ NỀN KINH TÉ THỊ TRƯỜNG 2.2.1. Khái niệm, phân loại và vai trò của thị trường </vt:lpstr>
      <vt:lpstr>- Phân loại thị trường </vt:lpstr>
      <vt:lpstr>  2.2.1.2. Vai trò của thị trường</vt:lpstr>
      <vt:lpstr>2.2.2. Nền kinh tế thị trường và một số quy luật chủ yếu của nền kinh tế thị trường </vt:lpstr>
      <vt:lpstr>- Ưu thế của nền kinh tế thị trường</vt:lpstr>
      <vt:lpstr>- Khuyết tật của nền kinh tế thị trường</vt:lpstr>
      <vt:lpstr>PowerPoint Presentation</vt:lpstr>
      <vt:lpstr>PowerPoint Presentation</vt:lpstr>
      <vt:lpstr>Ngang giá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Các loại cạnh tranh: </vt:lpstr>
      <vt:lpstr>   Các hình thức cạnh tranh: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Thành Lương xuân</cp:lastModifiedBy>
  <cp:revision>38</cp:revision>
  <dcterms:created xsi:type="dcterms:W3CDTF">2020-05-27T05:21:30Z</dcterms:created>
  <dcterms:modified xsi:type="dcterms:W3CDTF">2022-04-25T17:37:33Z</dcterms:modified>
</cp:coreProperties>
</file>