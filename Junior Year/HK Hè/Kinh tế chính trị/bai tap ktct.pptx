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79" r:id="rId2"/>
    <p:sldId id="480" r:id="rId3"/>
    <p:sldId id="489" r:id="rId4"/>
    <p:sldId id="481" r:id="rId5"/>
    <p:sldId id="491" r:id="rId6"/>
    <p:sldId id="482" r:id="rId7"/>
    <p:sldId id="483" r:id="rId8"/>
    <p:sldId id="484" r:id="rId9"/>
    <p:sldId id="485" r:id="rId10"/>
    <p:sldId id="486" r:id="rId11"/>
    <p:sldId id="487" r:id="rId12"/>
    <p:sldId id="49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06126-1D1D-4FCC-81D4-5E5A162C9E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743629-8346-4334-941E-3CC0089712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50B865-4EBA-43B9-8A84-8D13B86B82AB}"/>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5" name="Footer Placeholder 4">
            <a:extLst>
              <a:ext uri="{FF2B5EF4-FFF2-40B4-BE49-F238E27FC236}">
                <a16:creationId xmlns:a16="http://schemas.microsoft.com/office/drawing/2014/main" id="{B26E8F72-EE5D-4E80-ADF2-04190BB482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74AC8-04ED-439F-9F58-DF88A4B17F4B}"/>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4092522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AD8-A4CB-471B-BEF9-A32BDEE267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C3C31C-20AC-48A5-B75E-B8FE4654A6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CD947-9555-4A9A-A8BE-A08032EF60AC}"/>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5" name="Footer Placeholder 4">
            <a:extLst>
              <a:ext uri="{FF2B5EF4-FFF2-40B4-BE49-F238E27FC236}">
                <a16:creationId xmlns:a16="http://schemas.microsoft.com/office/drawing/2014/main" id="{F447BCD7-E77D-4ED3-9B12-6B8129E6D5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269169-1365-4E65-ACD9-0CEC27206B97}"/>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3468661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AA48A-6CE2-45EA-923D-B24EE378AE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03D9A6-BE0D-4D57-B24D-AFD0A8D329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A02228-1E2C-433C-9BA1-ECEF2BA491F8}"/>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5" name="Footer Placeholder 4">
            <a:extLst>
              <a:ext uri="{FF2B5EF4-FFF2-40B4-BE49-F238E27FC236}">
                <a16:creationId xmlns:a16="http://schemas.microsoft.com/office/drawing/2014/main" id="{144E868B-BF3E-413D-B4F9-1E91EF98B3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75785A-8828-4191-A32F-03365CEC60C2}"/>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175721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5A6C9-B5C6-4692-9D6C-E13D0089D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391BDD-F001-43EA-8078-9D0960E593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A74D64-5506-42AD-A1C3-3799241AC3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594F35-9E0A-438F-84E5-CAB1102B9395}"/>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6" name="Footer Placeholder 5">
            <a:extLst>
              <a:ext uri="{FF2B5EF4-FFF2-40B4-BE49-F238E27FC236}">
                <a16:creationId xmlns:a16="http://schemas.microsoft.com/office/drawing/2014/main" id="{C148B90A-A8FB-4606-91E9-9DA3C6E23E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571F2E-82EC-4F9E-8CF9-1BEECBB9620C}"/>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3022766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ED66E-EE97-4512-9F80-2D3E25D5E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C87219-617C-418B-8DFD-410C451C07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1BFB21-8678-4F43-BE2F-6A5F6E148B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5873E3-CE53-404F-9018-7BCF3E5C61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076DAF-854C-4EAE-BF7A-099178F84F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BE9A0E-C4F7-40BD-95B5-46F29AD4A21B}"/>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8" name="Footer Placeholder 7">
            <a:extLst>
              <a:ext uri="{FF2B5EF4-FFF2-40B4-BE49-F238E27FC236}">
                <a16:creationId xmlns:a16="http://schemas.microsoft.com/office/drawing/2014/main" id="{71C7CDF5-C2BA-4C83-83BB-7340D081AA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FB0B73-2228-4B5C-AE47-54B7734F34B1}"/>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436371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B3DEA-9068-45FB-BDE9-886BC117D5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16C3D8-4E50-49A4-8F65-59DFD8BBE6D2}"/>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4" name="Footer Placeholder 3">
            <a:extLst>
              <a:ext uri="{FF2B5EF4-FFF2-40B4-BE49-F238E27FC236}">
                <a16:creationId xmlns:a16="http://schemas.microsoft.com/office/drawing/2014/main" id="{D8292911-6C48-42AD-8FAD-3B721041550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CA6347-ADBE-4E88-AC99-62B374A8C3BA}"/>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3934110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118A78-A540-48CD-BE65-7B01992A9104}"/>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3" name="Footer Placeholder 2">
            <a:extLst>
              <a:ext uri="{FF2B5EF4-FFF2-40B4-BE49-F238E27FC236}">
                <a16:creationId xmlns:a16="http://schemas.microsoft.com/office/drawing/2014/main" id="{6C92D5F2-CACD-4A2E-9E57-9A70F8475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EDB145-89CC-4D1A-BE16-9FF882C95352}"/>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2039649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84CBC-8150-435F-A52F-D41146C1A5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FB22E9-1629-4ADB-A0F3-7923A18642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57EA08-0440-43ED-8DE2-194D463423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F10EE-4FB0-47D4-B7FF-CA8CC2E2C8C1}"/>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6" name="Footer Placeholder 5">
            <a:extLst>
              <a:ext uri="{FF2B5EF4-FFF2-40B4-BE49-F238E27FC236}">
                <a16:creationId xmlns:a16="http://schemas.microsoft.com/office/drawing/2014/main" id="{2EDED702-C9FB-4A45-ABE2-F8CA64FB75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2298F7-57E2-42DB-94D5-2B30F3EF1048}"/>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1209896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09AEF-9730-44E6-BD34-177F7DD439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9BB6A9-697E-4F3C-962F-7745351248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4F0B74-CC78-4AB6-86B4-3B6D9D807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693E2F-CFC3-4C59-B7B4-522AF1C2F000}"/>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6" name="Footer Placeholder 5">
            <a:extLst>
              <a:ext uri="{FF2B5EF4-FFF2-40B4-BE49-F238E27FC236}">
                <a16:creationId xmlns:a16="http://schemas.microsoft.com/office/drawing/2014/main" id="{A09C93BA-022E-4AAE-98FF-025593E0AE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F0F18-3BEB-4E19-AEA9-07D046726D4D}"/>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4239646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4EA8D-AA1A-48A8-B73A-F0BAD7116E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29F2C5-1EA9-4B6C-8545-CC8057D75B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04E89-E461-4412-A4AC-40763CAE7AFB}"/>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5" name="Footer Placeholder 4">
            <a:extLst>
              <a:ext uri="{FF2B5EF4-FFF2-40B4-BE49-F238E27FC236}">
                <a16:creationId xmlns:a16="http://schemas.microsoft.com/office/drawing/2014/main" id="{3EAA0717-FF60-40B0-8F64-C18DD7635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4074A2-466C-4701-B49C-9F0C69B10B38}"/>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12580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4A0D75-20E5-4008-9D85-F6E9A9AF9A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5EFBD2-03F5-4B9D-B811-52B19B88B9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DB3B1-EF0F-4605-A48F-F1F57DD43210}"/>
              </a:ext>
            </a:extLst>
          </p:cNvPr>
          <p:cNvSpPr>
            <a:spLocks noGrp="1"/>
          </p:cNvSpPr>
          <p:nvPr>
            <p:ph type="dt" sz="half" idx="10"/>
          </p:nvPr>
        </p:nvSpPr>
        <p:spPr/>
        <p:txBody>
          <a:bodyPr/>
          <a:lstStyle/>
          <a:p>
            <a:fld id="{9CD6013F-AC1E-4FF0-8330-3D3065367CB7}" type="datetimeFigureOut">
              <a:rPr lang="en-US" smtClean="0"/>
              <a:t>4/26/2022</a:t>
            </a:fld>
            <a:endParaRPr lang="en-US"/>
          </a:p>
        </p:txBody>
      </p:sp>
      <p:sp>
        <p:nvSpPr>
          <p:cNvPr id="5" name="Footer Placeholder 4">
            <a:extLst>
              <a:ext uri="{FF2B5EF4-FFF2-40B4-BE49-F238E27FC236}">
                <a16:creationId xmlns:a16="http://schemas.microsoft.com/office/drawing/2014/main" id="{7B3B336E-EE5D-441A-B371-9DF232D1DD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9C9981-8BB9-4687-B89A-78BF98CABBB1}"/>
              </a:ext>
            </a:extLst>
          </p:cNvPr>
          <p:cNvSpPr>
            <a:spLocks noGrp="1"/>
          </p:cNvSpPr>
          <p:nvPr>
            <p:ph type="sldNum" sz="quarter" idx="12"/>
          </p:nvPr>
        </p:nvSpPr>
        <p:spPr/>
        <p:txBody>
          <a:bodyPr/>
          <a:lstStyle/>
          <a:p>
            <a:fld id="{FE5DF8E6-376B-44EF-BD3C-26D4682D6149}" type="slidenum">
              <a:rPr lang="en-US" smtClean="0"/>
              <a:t>‹#›</a:t>
            </a:fld>
            <a:endParaRPr lang="en-US"/>
          </a:p>
        </p:txBody>
      </p:sp>
    </p:spTree>
    <p:extLst>
      <p:ext uri="{BB962C8B-B14F-4D97-AF65-F5344CB8AC3E}">
        <p14:creationId xmlns:p14="http://schemas.microsoft.com/office/powerpoint/2010/main" val="2072332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C8ED78-0148-43C9-B4EF-27AD2DA95D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D6AFAB-9EBD-4DD3-A839-BA8D866C95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3BE1D4-BCB7-4227-9853-C3A53C205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6013F-AC1E-4FF0-8330-3D3065367CB7}" type="datetimeFigureOut">
              <a:rPr lang="en-US" smtClean="0"/>
              <a:t>4/26/2022</a:t>
            </a:fld>
            <a:endParaRPr lang="en-US"/>
          </a:p>
        </p:txBody>
      </p:sp>
      <p:sp>
        <p:nvSpPr>
          <p:cNvPr id="5" name="Footer Placeholder 4">
            <a:extLst>
              <a:ext uri="{FF2B5EF4-FFF2-40B4-BE49-F238E27FC236}">
                <a16:creationId xmlns:a16="http://schemas.microsoft.com/office/drawing/2014/main" id="{971D4D3E-F2F0-4FDC-AE6F-659E96ECD6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A76CCD3-E29E-47EB-BDF6-12F3E3D60F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5DF8E6-376B-44EF-BD3C-26D4682D6149}" type="slidenum">
              <a:rPr lang="en-US" smtClean="0"/>
              <a:t>‹#›</a:t>
            </a:fld>
            <a:endParaRPr lang="en-US"/>
          </a:p>
        </p:txBody>
      </p:sp>
    </p:spTree>
    <p:extLst>
      <p:ext uri="{BB962C8B-B14F-4D97-AF65-F5344CB8AC3E}">
        <p14:creationId xmlns:p14="http://schemas.microsoft.com/office/powerpoint/2010/main" val="390197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D56970-8C97-4070-A290-946F87E5CAD9}"/>
              </a:ext>
            </a:extLst>
          </p:cNvPr>
          <p:cNvSpPr txBox="1"/>
          <p:nvPr/>
        </p:nvSpPr>
        <p:spPr>
          <a:xfrm>
            <a:off x="852054" y="2006355"/>
            <a:ext cx="10487891" cy="4031873"/>
          </a:xfrm>
          <a:prstGeom prst="rect">
            <a:avLst/>
          </a:prstGeom>
          <a:noFill/>
        </p:spPr>
        <p:txBody>
          <a:bodyPr wrap="square" rtlCol="0">
            <a:spAutoFit/>
          </a:bodyPr>
          <a:lstStyle/>
          <a:p>
            <a:r>
              <a:rPr lang="en-US" sz="3200" dirty="0"/>
              <a:t>Theo </a:t>
            </a:r>
            <a:r>
              <a:rPr lang="en-US" sz="3200" dirty="0" err="1"/>
              <a:t>bài</a:t>
            </a:r>
            <a:r>
              <a:rPr lang="en-US" sz="3200" dirty="0"/>
              <a:t> ra ta </a:t>
            </a:r>
            <a:r>
              <a:rPr lang="en-US" sz="3200" dirty="0" err="1"/>
              <a:t>có</a:t>
            </a:r>
            <a:r>
              <a:rPr lang="en-US" sz="3200" dirty="0"/>
              <a:t>: </a:t>
            </a:r>
          </a:p>
          <a:p>
            <a:r>
              <a:rPr lang="en-US" sz="3200" dirty="0"/>
              <a:t>c = 300.000 + 900.000 = 1.200.000 $ (1)</a:t>
            </a:r>
          </a:p>
          <a:p>
            <a:r>
              <a:rPr lang="en-US" sz="3200" dirty="0"/>
              <a:t>c + v + m = 3.000.000 $ (2)</a:t>
            </a:r>
          </a:p>
          <a:p>
            <a:r>
              <a:rPr lang="en-US" sz="3200" dirty="0" err="1"/>
              <a:t>Từ</a:t>
            </a:r>
            <a:r>
              <a:rPr lang="en-US" sz="3200" dirty="0"/>
              <a:t> (1) </a:t>
            </a:r>
            <a:r>
              <a:rPr lang="en-US" sz="3200" dirty="0" err="1"/>
              <a:t>và</a:t>
            </a:r>
            <a:r>
              <a:rPr lang="en-US" sz="3200" dirty="0"/>
              <a:t> (2) ta </a:t>
            </a:r>
            <a:r>
              <a:rPr lang="en-US" sz="3200" dirty="0" err="1"/>
              <a:t>có</a:t>
            </a:r>
            <a:r>
              <a:rPr lang="en-US" sz="3200" dirty="0"/>
              <a:t>: v + m = 1.800.000 $ </a:t>
            </a:r>
          </a:p>
          <a:p>
            <a:r>
              <a:rPr lang="en-US" sz="3200" dirty="0" err="1"/>
              <a:t>Mặt</a:t>
            </a:r>
            <a:r>
              <a:rPr lang="en-US" sz="3200" dirty="0"/>
              <a:t> </a:t>
            </a:r>
            <a:r>
              <a:rPr lang="en-US" sz="3200" dirty="0" err="1"/>
              <a:t>khác</a:t>
            </a:r>
            <a:r>
              <a:rPr lang="en-US" sz="3200" dirty="0"/>
              <a:t>: m’ = 200% =&gt; m = 2v  </a:t>
            </a:r>
          </a:p>
          <a:p>
            <a:r>
              <a:rPr lang="en-US" sz="3200" dirty="0"/>
              <a:t>3v= 1.800.000 $</a:t>
            </a:r>
          </a:p>
          <a:p>
            <a:r>
              <a:rPr lang="en-US" sz="3200" dirty="0"/>
              <a:t>v= 600.000$</a:t>
            </a:r>
          </a:p>
          <a:p>
            <a:r>
              <a:rPr lang="en-US" sz="3200" dirty="0" err="1"/>
              <a:t>Vậy</a:t>
            </a:r>
            <a:r>
              <a:rPr lang="en-US" sz="3200" dirty="0"/>
              <a:t> </a:t>
            </a:r>
            <a:r>
              <a:rPr lang="en-US" sz="3200" dirty="0" err="1"/>
              <a:t>tư</a:t>
            </a:r>
            <a:r>
              <a:rPr lang="en-US" sz="3200" dirty="0"/>
              <a:t> </a:t>
            </a:r>
            <a:r>
              <a:rPr lang="en-US" sz="3200" dirty="0" err="1"/>
              <a:t>bản</a:t>
            </a:r>
            <a:r>
              <a:rPr lang="en-US" sz="3200" dirty="0"/>
              <a:t> </a:t>
            </a:r>
            <a:r>
              <a:rPr lang="en-US" sz="3200" dirty="0" err="1"/>
              <a:t>khả</a:t>
            </a:r>
            <a:r>
              <a:rPr lang="en-US" sz="3200" dirty="0"/>
              <a:t> </a:t>
            </a:r>
            <a:r>
              <a:rPr lang="en-US" sz="3200" dirty="0" err="1"/>
              <a:t>biến</a:t>
            </a:r>
            <a:r>
              <a:rPr lang="en-US" sz="3200" dirty="0"/>
              <a:t> </a:t>
            </a:r>
            <a:r>
              <a:rPr lang="en-US" sz="3200" dirty="0" err="1"/>
              <a:t>bằng</a:t>
            </a:r>
            <a:r>
              <a:rPr lang="en-US" sz="3200" dirty="0"/>
              <a:t> 600.000$</a:t>
            </a:r>
          </a:p>
        </p:txBody>
      </p:sp>
      <p:sp>
        <p:nvSpPr>
          <p:cNvPr id="5" name="Rectangle 4">
            <a:extLst>
              <a:ext uri="{FF2B5EF4-FFF2-40B4-BE49-F238E27FC236}">
                <a16:creationId xmlns:a16="http://schemas.microsoft.com/office/drawing/2014/main" id="{7DBE2017-18EB-4DBA-8DF4-70FE8EE1AFAE}"/>
              </a:ext>
            </a:extLst>
          </p:cNvPr>
          <p:cNvSpPr/>
          <p:nvPr/>
        </p:nvSpPr>
        <p:spPr>
          <a:xfrm>
            <a:off x="4253345" y="529027"/>
            <a:ext cx="6096000" cy="1477328"/>
          </a:xfrm>
          <a:prstGeom prst="rect">
            <a:avLst/>
          </a:prstGeom>
        </p:spPr>
        <p:txBody>
          <a:bodyPr>
            <a:spAutoFit/>
          </a:bodyPr>
          <a:lstStyle/>
          <a:p>
            <a:r>
              <a:rPr lang="vi-VN" dirty="0">
                <a:latin typeface="Times New Roman (Headings)"/>
              </a:rPr>
              <a:t>Bài </a:t>
            </a:r>
            <a:r>
              <a:rPr lang="en-US" dirty="0">
                <a:latin typeface="Times New Roman (Headings)"/>
              </a:rPr>
              <a:t>2</a:t>
            </a:r>
            <a:r>
              <a:rPr lang="vi-VN" dirty="0">
                <a:latin typeface="Times New Roman (Headings)"/>
              </a:rPr>
              <a:t>: Trong quá trình sản xuất sản phẩm, hao mòn thiết bị và máy móc là </a:t>
            </a:r>
            <a:r>
              <a:rPr lang="en-US" dirty="0">
                <a:latin typeface="Times New Roman (Headings)"/>
              </a:rPr>
              <a:t>3</a:t>
            </a:r>
            <a:r>
              <a:rPr lang="vi-VN" dirty="0">
                <a:latin typeface="Times New Roman (Headings)"/>
              </a:rPr>
              <a:t>00.000 đô la. Chi phí nguyên liệu, vật liệu và nhiên liệu là </a:t>
            </a:r>
            <a:r>
              <a:rPr lang="en-US" dirty="0">
                <a:latin typeface="Times New Roman (Headings)"/>
              </a:rPr>
              <a:t>9</a:t>
            </a:r>
            <a:r>
              <a:rPr lang="vi-VN" dirty="0">
                <a:latin typeface="Times New Roman (Headings)"/>
              </a:rPr>
              <a:t>00.000 đô la. Hãy xác định chi phí tư bản khả biến nếu biết rằng giá trị của 1 sản phẩm là </a:t>
            </a:r>
            <a:r>
              <a:rPr lang="en-US" dirty="0">
                <a:latin typeface="Times New Roman (Headings)"/>
              </a:rPr>
              <a:t>3</a:t>
            </a:r>
            <a:r>
              <a:rPr lang="vi-VN" dirty="0">
                <a:latin typeface="Times New Roman (Headings)"/>
              </a:rPr>
              <a:t>.000</a:t>
            </a:r>
            <a:r>
              <a:rPr lang="en-US" dirty="0">
                <a:latin typeface="Times New Roman (Headings)"/>
              </a:rPr>
              <a:t>.</a:t>
            </a:r>
            <a:r>
              <a:rPr lang="vi-VN" dirty="0">
                <a:latin typeface="Times New Roman (Headings)"/>
              </a:rPr>
              <a:t>000 đô la và trình độ bóc lột là 200%.</a:t>
            </a:r>
            <a:endParaRPr lang="en-US" dirty="0">
              <a:latin typeface="Times New Roman (Headings)"/>
            </a:endParaRPr>
          </a:p>
        </p:txBody>
      </p:sp>
    </p:spTree>
    <p:extLst>
      <p:ext uri="{BB962C8B-B14F-4D97-AF65-F5344CB8AC3E}">
        <p14:creationId xmlns:p14="http://schemas.microsoft.com/office/powerpoint/2010/main" val="303677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89A127-EA5E-48EC-8EAF-19B29D928E1D}"/>
              </a:ext>
            </a:extLst>
          </p:cNvPr>
          <p:cNvSpPr txBox="1"/>
          <p:nvPr/>
        </p:nvSpPr>
        <p:spPr>
          <a:xfrm>
            <a:off x="415636" y="1454727"/>
            <a:ext cx="11208328" cy="3416320"/>
          </a:xfrm>
          <a:prstGeom prst="rect">
            <a:avLst/>
          </a:prstGeom>
          <a:noFill/>
        </p:spPr>
        <p:txBody>
          <a:bodyPr wrap="square" rtlCol="0">
            <a:spAutoFit/>
          </a:bodyPr>
          <a:lstStyle/>
          <a:p>
            <a:r>
              <a:rPr lang="vi-VN" sz="3600" dirty="0">
                <a:latin typeface="Times New Roman" panose="02020603050405020304" pitchFamily="18" charset="0"/>
              </a:rPr>
              <a:t>Bài 3: Có 100 công nhân làm thuê, sản xuất 1 tháng được 12.500 đơn vị sản phẩm với chi phí tư bản bất biến là 250.000 đô la. Giá trị sức lao động 1 tháng của 1 công nhân là 250 đô la, m’ = 300%. Hãy xác định giá trị của 1 đơn vị sản phẩm và kết cấu của nó</a:t>
            </a:r>
            <a:r>
              <a:rPr lang="en-US" sz="3600" dirty="0">
                <a:latin typeface="Times New Roman" panose="02020603050405020304" pitchFamily="18" charset="0"/>
              </a:rPr>
              <a:t>, </a:t>
            </a:r>
            <a:r>
              <a:rPr lang="en-US" sz="3600" dirty="0" err="1">
                <a:latin typeface="Times New Roman" panose="02020603050405020304" pitchFamily="18" charset="0"/>
              </a:rPr>
              <a:t>khối</a:t>
            </a:r>
            <a:r>
              <a:rPr lang="en-US" sz="3600" dirty="0">
                <a:latin typeface="Times New Roman" panose="02020603050405020304" pitchFamily="18" charset="0"/>
              </a:rPr>
              <a:t> l</a:t>
            </a:r>
            <a:r>
              <a:rPr lang="vi-VN" sz="3600" dirty="0">
                <a:latin typeface="Times New Roman" panose="02020603050405020304" pitchFamily="18" charset="0"/>
              </a:rPr>
              <a:t>ư</a:t>
            </a:r>
            <a:r>
              <a:rPr lang="en-US" sz="3600" dirty="0" err="1">
                <a:latin typeface="Times New Roman" panose="02020603050405020304" pitchFamily="18" charset="0"/>
              </a:rPr>
              <a:t>ợng</a:t>
            </a:r>
            <a:r>
              <a:rPr lang="en-US" sz="3600" dirty="0">
                <a:latin typeface="Times New Roman" panose="02020603050405020304" pitchFamily="18" charset="0"/>
              </a:rPr>
              <a:t> </a:t>
            </a:r>
            <a:r>
              <a:rPr lang="en-US" sz="3600" dirty="0" err="1">
                <a:latin typeface="Times New Roman" panose="02020603050405020304" pitchFamily="18" charset="0"/>
              </a:rPr>
              <a:t>giá</a:t>
            </a:r>
            <a:r>
              <a:rPr lang="en-US" sz="3600" dirty="0">
                <a:latin typeface="Times New Roman" panose="02020603050405020304" pitchFamily="18" charset="0"/>
              </a:rPr>
              <a:t> </a:t>
            </a:r>
            <a:r>
              <a:rPr lang="en-US" sz="3600" dirty="0" err="1">
                <a:latin typeface="Times New Roman" panose="02020603050405020304" pitchFamily="18" charset="0"/>
              </a:rPr>
              <a:t>trị</a:t>
            </a:r>
            <a:r>
              <a:rPr lang="en-US" sz="3600" dirty="0">
                <a:latin typeface="Times New Roman" panose="02020603050405020304" pitchFamily="18" charset="0"/>
              </a:rPr>
              <a:t> </a:t>
            </a:r>
            <a:r>
              <a:rPr lang="en-US" sz="3600" dirty="0" err="1">
                <a:latin typeface="Times New Roman" panose="02020603050405020304" pitchFamily="18" charset="0"/>
              </a:rPr>
              <a:t>thặng</a:t>
            </a:r>
            <a:r>
              <a:rPr lang="en-US" sz="3600" dirty="0">
                <a:latin typeface="Times New Roman" panose="02020603050405020304" pitchFamily="18" charset="0"/>
              </a:rPr>
              <a:t> d</a:t>
            </a:r>
            <a:r>
              <a:rPr lang="vi-VN" sz="3600" dirty="0">
                <a:latin typeface="Times New Roman" panose="02020603050405020304" pitchFamily="18" charset="0"/>
              </a:rPr>
              <a:t>ư</a:t>
            </a:r>
            <a:r>
              <a:rPr lang="en-US" sz="3600" dirty="0">
                <a:latin typeface="Times New Roman" panose="02020603050405020304" pitchFamily="18" charset="0"/>
              </a:rPr>
              <a:t> </a:t>
            </a:r>
            <a:r>
              <a:rPr lang="en-US" sz="3600" dirty="0" err="1">
                <a:latin typeface="Times New Roman" panose="02020603050405020304" pitchFamily="18" charset="0"/>
              </a:rPr>
              <a:t>nhà</a:t>
            </a:r>
            <a:r>
              <a:rPr lang="en-US" sz="3600" dirty="0">
                <a:latin typeface="Times New Roman" panose="02020603050405020304" pitchFamily="18" charset="0"/>
              </a:rPr>
              <a:t> t</a:t>
            </a:r>
            <a:r>
              <a:rPr lang="vi-VN" sz="3600" dirty="0">
                <a:latin typeface="Times New Roman" panose="02020603050405020304" pitchFamily="18" charset="0"/>
              </a:rPr>
              <a:t>ư</a:t>
            </a:r>
            <a:r>
              <a:rPr lang="en-US" sz="3600" dirty="0">
                <a:latin typeface="Times New Roman" panose="02020603050405020304" pitchFamily="18" charset="0"/>
              </a:rPr>
              <a:t> </a:t>
            </a:r>
            <a:r>
              <a:rPr lang="en-US" sz="3600" dirty="0" err="1">
                <a:latin typeface="Times New Roman" panose="02020603050405020304" pitchFamily="18" charset="0"/>
              </a:rPr>
              <a:t>bản</a:t>
            </a:r>
            <a:r>
              <a:rPr lang="en-US" sz="3600" dirty="0">
                <a:latin typeface="Times New Roman" panose="02020603050405020304" pitchFamily="18" charset="0"/>
              </a:rPr>
              <a:t> </a:t>
            </a:r>
            <a:r>
              <a:rPr lang="en-US" sz="3600" dirty="0" err="1">
                <a:latin typeface="Times New Roman" panose="02020603050405020304" pitchFamily="18" charset="0"/>
              </a:rPr>
              <a:t>thu</a:t>
            </a:r>
            <a:r>
              <a:rPr lang="en-US" sz="3600" dirty="0">
                <a:latin typeface="Times New Roman" panose="02020603050405020304" pitchFamily="18" charset="0"/>
              </a:rPr>
              <a:t> đ</a:t>
            </a:r>
            <a:r>
              <a:rPr lang="vi-VN" sz="3600" dirty="0">
                <a:latin typeface="Times New Roman" panose="02020603050405020304" pitchFamily="18" charset="0"/>
              </a:rPr>
              <a:t>ư</a:t>
            </a:r>
            <a:r>
              <a:rPr lang="en-US" sz="3600" dirty="0" err="1">
                <a:latin typeface="Times New Roman" panose="02020603050405020304" pitchFamily="18" charset="0"/>
              </a:rPr>
              <a:t>ợc</a:t>
            </a:r>
            <a:r>
              <a:rPr lang="en-US" sz="3600" dirty="0">
                <a:latin typeface="Times New Roman" panose="02020603050405020304" pitchFamily="18" charset="0"/>
              </a:rPr>
              <a:t>?</a:t>
            </a:r>
            <a:r>
              <a:rPr lang="vi-VN" sz="3600" dirty="0">
                <a:latin typeface="Times New Roman" panose="02020603050405020304" pitchFamily="18" charset="0"/>
              </a:rPr>
              <a:t> </a:t>
            </a:r>
            <a:endParaRPr lang="en-US" sz="3600" dirty="0">
              <a:latin typeface="Times New Roman" panose="02020603050405020304" pitchFamily="18" charset="0"/>
            </a:endParaRPr>
          </a:p>
        </p:txBody>
      </p:sp>
    </p:spTree>
    <p:extLst>
      <p:ext uri="{BB962C8B-B14F-4D97-AF65-F5344CB8AC3E}">
        <p14:creationId xmlns:p14="http://schemas.microsoft.com/office/powerpoint/2010/main" val="69043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4DA2BB-C41E-4701-B852-DC9E67C759FA}"/>
              </a:ext>
            </a:extLst>
          </p:cNvPr>
          <p:cNvSpPr txBox="1"/>
          <p:nvPr/>
        </p:nvSpPr>
        <p:spPr>
          <a:xfrm>
            <a:off x="4483100" y="451427"/>
            <a:ext cx="6963064" cy="954107"/>
          </a:xfrm>
          <a:prstGeom prst="rect">
            <a:avLst/>
          </a:prstGeom>
          <a:noFill/>
        </p:spPr>
        <p:txBody>
          <a:bodyPr wrap="square" rtlCol="0">
            <a:spAutoFit/>
          </a:bodyPr>
          <a:lstStyle/>
          <a:p>
            <a:r>
              <a:rPr lang="vi-VN" sz="1400" dirty="0">
                <a:latin typeface="Times New Roman" panose="02020603050405020304" pitchFamily="18" charset="0"/>
              </a:rPr>
              <a:t>Bài 3: Có 100 công nhân làm thuê, sản xuất 1 tháng được 12.500 đơn vị sản phẩm với chi phí tư bản bất biến là 250.000 đô la. Giá trị sức lao động 1 tháng của 1 công nhân là 250 đô la, m’ = 300%. Hãy xác định giá trị của 1 đơn vị sản phẩm và kết cấu của nó</a:t>
            </a:r>
            <a:r>
              <a:rPr lang="en-US" sz="1400" dirty="0">
                <a:latin typeface="Times New Roman" panose="02020603050405020304" pitchFamily="18" charset="0"/>
              </a:rPr>
              <a:t>, </a:t>
            </a:r>
            <a:r>
              <a:rPr lang="en-US" sz="1400" dirty="0" err="1">
                <a:latin typeface="Times New Roman" panose="02020603050405020304" pitchFamily="18" charset="0"/>
              </a:rPr>
              <a:t>khối</a:t>
            </a:r>
            <a:r>
              <a:rPr lang="en-US" sz="1400" dirty="0">
                <a:latin typeface="Times New Roman" panose="02020603050405020304" pitchFamily="18" charset="0"/>
              </a:rPr>
              <a:t> l</a:t>
            </a:r>
            <a:r>
              <a:rPr lang="vi-VN" sz="1400" dirty="0">
                <a:latin typeface="Times New Roman" panose="02020603050405020304" pitchFamily="18" charset="0"/>
              </a:rPr>
              <a:t>ư</a:t>
            </a:r>
            <a:r>
              <a:rPr lang="en-US" sz="1400" dirty="0" err="1">
                <a:latin typeface="Times New Roman" panose="02020603050405020304" pitchFamily="18" charset="0"/>
              </a:rPr>
              <a:t>ợng</a:t>
            </a:r>
            <a:r>
              <a:rPr lang="en-US" sz="1400" dirty="0">
                <a:latin typeface="Times New Roman" panose="02020603050405020304" pitchFamily="18" charset="0"/>
              </a:rPr>
              <a:t> </a:t>
            </a:r>
            <a:r>
              <a:rPr lang="en-US" sz="1400" dirty="0" err="1">
                <a:latin typeface="Times New Roman" panose="02020603050405020304" pitchFamily="18" charset="0"/>
              </a:rPr>
              <a:t>giá</a:t>
            </a:r>
            <a:r>
              <a:rPr lang="en-US" sz="1400" dirty="0">
                <a:latin typeface="Times New Roman" panose="02020603050405020304" pitchFamily="18" charset="0"/>
              </a:rPr>
              <a:t> </a:t>
            </a:r>
            <a:r>
              <a:rPr lang="en-US" sz="1400" dirty="0" err="1">
                <a:latin typeface="Times New Roman" panose="02020603050405020304" pitchFamily="18" charset="0"/>
              </a:rPr>
              <a:t>trị</a:t>
            </a:r>
            <a:r>
              <a:rPr lang="en-US" sz="1400" dirty="0">
                <a:latin typeface="Times New Roman" panose="02020603050405020304" pitchFamily="18" charset="0"/>
              </a:rPr>
              <a:t> </a:t>
            </a:r>
            <a:r>
              <a:rPr lang="en-US" sz="1400" dirty="0" err="1">
                <a:latin typeface="Times New Roman" panose="02020603050405020304" pitchFamily="18" charset="0"/>
              </a:rPr>
              <a:t>thặng</a:t>
            </a:r>
            <a:r>
              <a:rPr lang="en-US" sz="1400" dirty="0">
                <a:latin typeface="Times New Roman" panose="02020603050405020304" pitchFamily="18" charset="0"/>
              </a:rPr>
              <a:t> d</a:t>
            </a:r>
            <a:r>
              <a:rPr lang="vi-VN" sz="1400" dirty="0">
                <a:latin typeface="Times New Roman" panose="02020603050405020304" pitchFamily="18" charset="0"/>
              </a:rPr>
              <a:t>ư</a:t>
            </a:r>
            <a:r>
              <a:rPr lang="en-US" sz="1400" dirty="0">
                <a:latin typeface="Times New Roman" panose="02020603050405020304" pitchFamily="18" charset="0"/>
              </a:rPr>
              <a:t> </a:t>
            </a:r>
            <a:r>
              <a:rPr lang="en-US" sz="1400" dirty="0" err="1">
                <a:latin typeface="Times New Roman" panose="02020603050405020304" pitchFamily="18" charset="0"/>
              </a:rPr>
              <a:t>nhà</a:t>
            </a:r>
            <a:r>
              <a:rPr lang="en-US" sz="1400" dirty="0">
                <a:latin typeface="Times New Roman" panose="02020603050405020304" pitchFamily="18" charset="0"/>
              </a:rPr>
              <a:t> t</a:t>
            </a:r>
            <a:r>
              <a:rPr lang="vi-VN" sz="1400" dirty="0">
                <a:latin typeface="Times New Roman" panose="02020603050405020304" pitchFamily="18" charset="0"/>
              </a:rPr>
              <a:t>ư</a:t>
            </a:r>
            <a:r>
              <a:rPr lang="en-US" sz="1400" dirty="0">
                <a:latin typeface="Times New Roman" panose="02020603050405020304" pitchFamily="18" charset="0"/>
              </a:rPr>
              <a:t> </a:t>
            </a:r>
            <a:r>
              <a:rPr lang="en-US" sz="1400" dirty="0" err="1">
                <a:latin typeface="Times New Roman" panose="02020603050405020304" pitchFamily="18" charset="0"/>
              </a:rPr>
              <a:t>bản</a:t>
            </a:r>
            <a:r>
              <a:rPr lang="en-US" sz="1400" dirty="0">
                <a:latin typeface="Times New Roman" panose="02020603050405020304" pitchFamily="18" charset="0"/>
              </a:rPr>
              <a:t> </a:t>
            </a:r>
            <a:r>
              <a:rPr lang="en-US" sz="1400" dirty="0" err="1">
                <a:latin typeface="Times New Roman" panose="02020603050405020304" pitchFamily="18" charset="0"/>
              </a:rPr>
              <a:t>thu</a:t>
            </a:r>
            <a:r>
              <a:rPr lang="en-US" sz="1400" dirty="0">
                <a:latin typeface="Times New Roman" panose="02020603050405020304" pitchFamily="18" charset="0"/>
              </a:rPr>
              <a:t> đ</a:t>
            </a:r>
            <a:r>
              <a:rPr lang="vi-VN" sz="1400" dirty="0">
                <a:latin typeface="Times New Roman" panose="02020603050405020304" pitchFamily="18" charset="0"/>
              </a:rPr>
              <a:t>ư</a:t>
            </a:r>
            <a:r>
              <a:rPr lang="en-US" sz="1400" dirty="0" err="1">
                <a:latin typeface="Times New Roman" panose="02020603050405020304" pitchFamily="18" charset="0"/>
              </a:rPr>
              <a:t>ợc</a:t>
            </a:r>
            <a:r>
              <a:rPr lang="en-US" sz="1400" dirty="0">
                <a:latin typeface="Times New Roman" panose="02020603050405020304" pitchFamily="18" charset="0"/>
              </a:rPr>
              <a:t>?</a:t>
            </a:r>
            <a:r>
              <a:rPr lang="vi-VN" sz="1400" dirty="0">
                <a:latin typeface="Times New Roman" panose="02020603050405020304" pitchFamily="18" charset="0"/>
              </a:rPr>
              <a:t> </a:t>
            </a:r>
            <a:endParaRPr lang="en-US" sz="1400" dirty="0">
              <a:latin typeface="Times New Roman" panose="02020603050405020304" pitchFamily="18" charset="0"/>
            </a:endParaRPr>
          </a:p>
        </p:txBody>
      </p:sp>
      <p:sp>
        <p:nvSpPr>
          <p:cNvPr id="5" name="TextBox 4">
            <a:extLst>
              <a:ext uri="{FF2B5EF4-FFF2-40B4-BE49-F238E27FC236}">
                <a16:creationId xmlns:a16="http://schemas.microsoft.com/office/drawing/2014/main" id="{FA1377EB-514E-4C4A-96A0-34F35C391B9C}"/>
              </a:ext>
            </a:extLst>
          </p:cNvPr>
          <p:cNvSpPr txBox="1"/>
          <p:nvPr/>
        </p:nvSpPr>
        <p:spPr>
          <a:xfrm>
            <a:off x="635000" y="1663700"/>
            <a:ext cx="10909300" cy="3970318"/>
          </a:xfrm>
          <a:prstGeom prst="rect">
            <a:avLst/>
          </a:prstGeom>
          <a:noFill/>
        </p:spPr>
        <p:txBody>
          <a:bodyPr wrap="square" rtlCol="0">
            <a:spAutoFit/>
          </a:bodyPr>
          <a:lstStyle/>
          <a:p>
            <a:r>
              <a:rPr lang="en-US" dirty="0"/>
              <a:t>100 </a:t>
            </a:r>
            <a:r>
              <a:rPr lang="en-US" dirty="0" err="1"/>
              <a:t>cn</a:t>
            </a:r>
            <a:endParaRPr lang="en-US" dirty="0"/>
          </a:p>
          <a:p>
            <a:r>
              <a:rPr lang="en-US" dirty="0"/>
              <a:t>12.500sp/ </a:t>
            </a:r>
            <a:r>
              <a:rPr lang="en-US" dirty="0" err="1"/>
              <a:t>tháng</a:t>
            </a:r>
            <a:endParaRPr lang="en-US" dirty="0"/>
          </a:p>
          <a:p>
            <a:r>
              <a:rPr lang="en-US" dirty="0"/>
              <a:t>c/1 </a:t>
            </a:r>
            <a:r>
              <a:rPr lang="en-US" dirty="0" err="1"/>
              <a:t>tháng</a:t>
            </a:r>
            <a:r>
              <a:rPr lang="en-US" dirty="0"/>
              <a:t> = 250.000</a:t>
            </a:r>
          </a:p>
          <a:p>
            <a:r>
              <a:rPr lang="en-US" dirty="0"/>
              <a:t>v/1cn 1 </a:t>
            </a:r>
            <a:r>
              <a:rPr lang="en-US" dirty="0" err="1"/>
              <a:t>tháng</a:t>
            </a:r>
            <a:r>
              <a:rPr lang="en-US" dirty="0"/>
              <a:t>= 250 </a:t>
            </a:r>
          </a:p>
          <a:p>
            <a:r>
              <a:rPr lang="en-US" dirty="0"/>
              <a:t>m’ = 300%</a:t>
            </a:r>
          </a:p>
          <a:p>
            <a:r>
              <a:rPr lang="en-US" dirty="0"/>
              <a:t>G/1sp=</a:t>
            </a:r>
            <a:r>
              <a:rPr lang="en-US" dirty="0" err="1"/>
              <a:t>c+v+m</a:t>
            </a:r>
            <a:r>
              <a:rPr lang="en-US" dirty="0"/>
              <a:t>?</a:t>
            </a:r>
          </a:p>
          <a:p>
            <a:r>
              <a:rPr lang="en-US" dirty="0"/>
              <a:t>M/1 </a:t>
            </a:r>
            <a:r>
              <a:rPr lang="en-US" dirty="0" err="1"/>
              <a:t>tháng</a:t>
            </a:r>
            <a:r>
              <a:rPr lang="en-US" dirty="0"/>
              <a:t>=?</a:t>
            </a:r>
          </a:p>
          <a:p>
            <a:r>
              <a:rPr lang="en-US" dirty="0" err="1"/>
              <a:t>Giải</a:t>
            </a:r>
            <a:r>
              <a:rPr lang="en-US" dirty="0"/>
              <a:t>: chi </a:t>
            </a:r>
            <a:r>
              <a:rPr lang="en-US" dirty="0" err="1"/>
              <a:t>phí</a:t>
            </a:r>
            <a:r>
              <a:rPr lang="en-US" dirty="0"/>
              <a:t> </a:t>
            </a:r>
            <a:r>
              <a:rPr lang="en-US" dirty="0" err="1"/>
              <a:t>tbbb</a:t>
            </a:r>
            <a:r>
              <a:rPr lang="en-US" dirty="0"/>
              <a:t>/ 1 </a:t>
            </a:r>
            <a:r>
              <a:rPr lang="en-US" dirty="0" err="1"/>
              <a:t>sp</a:t>
            </a:r>
            <a:r>
              <a:rPr lang="en-US" dirty="0"/>
              <a:t>: c/1sp=250.000/12.500=20$</a:t>
            </a:r>
          </a:p>
          <a:p>
            <a:r>
              <a:rPr lang="en-US" dirty="0" err="1"/>
              <a:t>Số</a:t>
            </a:r>
            <a:r>
              <a:rPr lang="en-US" dirty="0"/>
              <a:t> l</a:t>
            </a:r>
            <a:r>
              <a:rPr lang="vi-VN" dirty="0"/>
              <a:t>ư</a:t>
            </a:r>
            <a:r>
              <a:rPr lang="en-US" dirty="0" err="1"/>
              <a:t>ợng</a:t>
            </a:r>
            <a:r>
              <a:rPr lang="en-US" dirty="0"/>
              <a:t> </a:t>
            </a:r>
            <a:r>
              <a:rPr lang="en-US" dirty="0" err="1"/>
              <a:t>sản</a:t>
            </a:r>
            <a:r>
              <a:rPr lang="en-US" dirty="0"/>
              <a:t> </a:t>
            </a:r>
            <a:r>
              <a:rPr lang="en-US" dirty="0" err="1"/>
              <a:t>phẩm</a:t>
            </a:r>
            <a:r>
              <a:rPr lang="en-US" dirty="0"/>
              <a:t> 1 </a:t>
            </a:r>
            <a:r>
              <a:rPr lang="en-US" dirty="0" err="1"/>
              <a:t>cn</a:t>
            </a:r>
            <a:r>
              <a:rPr lang="en-US" dirty="0"/>
              <a:t> </a:t>
            </a:r>
            <a:r>
              <a:rPr lang="en-US" dirty="0" err="1"/>
              <a:t>sản</a:t>
            </a:r>
            <a:r>
              <a:rPr lang="en-US" dirty="0"/>
              <a:t> </a:t>
            </a:r>
            <a:r>
              <a:rPr lang="en-US" dirty="0" err="1"/>
              <a:t>xuất</a:t>
            </a:r>
            <a:r>
              <a:rPr lang="en-US" dirty="0"/>
              <a:t> </a:t>
            </a:r>
            <a:r>
              <a:rPr lang="en-US" dirty="0" err="1"/>
              <a:t>trong</a:t>
            </a:r>
            <a:r>
              <a:rPr lang="en-US" dirty="0"/>
              <a:t> 1 </a:t>
            </a:r>
            <a:r>
              <a:rPr lang="en-US" dirty="0" err="1"/>
              <a:t>tháng</a:t>
            </a:r>
            <a:r>
              <a:rPr lang="en-US" dirty="0"/>
              <a:t>: 12.500/100=125sp</a:t>
            </a:r>
          </a:p>
          <a:p>
            <a:r>
              <a:rPr lang="en-US" dirty="0" err="1"/>
              <a:t>Giá</a:t>
            </a:r>
            <a:r>
              <a:rPr lang="en-US" dirty="0"/>
              <a:t> </a:t>
            </a:r>
            <a:r>
              <a:rPr lang="en-US" dirty="0" err="1"/>
              <a:t>trị</a:t>
            </a:r>
            <a:r>
              <a:rPr lang="en-US" dirty="0"/>
              <a:t> </a:t>
            </a:r>
            <a:r>
              <a:rPr lang="en-US" dirty="0" err="1"/>
              <a:t>sức</a:t>
            </a:r>
            <a:r>
              <a:rPr lang="en-US" dirty="0"/>
              <a:t> </a:t>
            </a:r>
            <a:r>
              <a:rPr lang="en-US" dirty="0" err="1"/>
              <a:t>lđ</a:t>
            </a:r>
            <a:r>
              <a:rPr lang="en-US" dirty="0"/>
              <a:t> </a:t>
            </a:r>
            <a:r>
              <a:rPr lang="en-US" dirty="0" err="1"/>
              <a:t>trong</a:t>
            </a:r>
            <a:r>
              <a:rPr lang="en-US" dirty="0"/>
              <a:t> 1 </a:t>
            </a:r>
            <a:r>
              <a:rPr lang="en-US" dirty="0" err="1"/>
              <a:t>sp</a:t>
            </a:r>
            <a:r>
              <a:rPr lang="en-US" dirty="0"/>
              <a:t>: v/1sp=250/125=2$</a:t>
            </a:r>
          </a:p>
          <a:p>
            <a:r>
              <a:rPr lang="en-US" dirty="0" err="1"/>
              <a:t>Giá</a:t>
            </a:r>
            <a:r>
              <a:rPr lang="en-US" dirty="0"/>
              <a:t> </a:t>
            </a:r>
            <a:r>
              <a:rPr lang="en-US" dirty="0" err="1"/>
              <a:t>trị</a:t>
            </a:r>
            <a:r>
              <a:rPr lang="en-US" dirty="0"/>
              <a:t> </a:t>
            </a:r>
            <a:r>
              <a:rPr lang="en-US" dirty="0" err="1"/>
              <a:t>thặng</a:t>
            </a:r>
            <a:r>
              <a:rPr lang="en-US" dirty="0"/>
              <a:t> d</a:t>
            </a:r>
            <a:r>
              <a:rPr lang="vi-VN" dirty="0"/>
              <a:t>ư</a:t>
            </a:r>
            <a:r>
              <a:rPr lang="en-US" dirty="0"/>
              <a:t> 1 </a:t>
            </a:r>
            <a:r>
              <a:rPr lang="en-US" dirty="0" err="1"/>
              <a:t>sp</a:t>
            </a:r>
            <a:r>
              <a:rPr lang="en-US" dirty="0"/>
              <a:t>: m’=(m/v)x100%=300%=3 =&gt; m/v=3=&gt;m=3v=3*2=6$</a:t>
            </a:r>
          </a:p>
          <a:p>
            <a:r>
              <a:rPr lang="vi-VN" dirty="0">
                <a:latin typeface="Times New Roman" panose="02020603050405020304" pitchFamily="18" charset="0"/>
              </a:rPr>
              <a:t>giá trị của 1 đơn vị sản phẩm và kết cấu của nó</a:t>
            </a:r>
            <a:r>
              <a:rPr lang="en-US" dirty="0">
                <a:latin typeface="Times New Roman" panose="02020603050405020304" pitchFamily="18" charset="0"/>
              </a:rPr>
              <a:t>: </a:t>
            </a:r>
            <a:r>
              <a:rPr lang="en-US" dirty="0"/>
              <a:t>G/1sp=</a:t>
            </a:r>
            <a:r>
              <a:rPr lang="en-US" dirty="0" err="1"/>
              <a:t>c+v+m</a:t>
            </a:r>
            <a:r>
              <a:rPr lang="en-US" dirty="0"/>
              <a:t>=20+2+6=28$</a:t>
            </a:r>
          </a:p>
          <a:p>
            <a:r>
              <a:rPr lang="en-US" dirty="0" err="1">
                <a:latin typeface="Times New Roman" panose="02020603050405020304" pitchFamily="18" charset="0"/>
              </a:rPr>
              <a:t>khối</a:t>
            </a:r>
            <a:r>
              <a:rPr lang="en-US" dirty="0">
                <a:latin typeface="Times New Roman" panose="02020603050405020304" pitchFamily="18" charset="0"/>
              </a:rPr>
              <a:t> l</a:t>
            </a:r>
            <a:r>
              <a:rPr lang="vi-VN" dirty="0">
                <a:latin typeface="Times New Roman" panose="02020603050405020304" pitchFamily="18" charset="0"/>
              </a:rPr>
              <a:t>ư</a:t>
            </a:r>
            <a:r>
              <a:rPr lang="en-US" dirty="0" err="1">
                <a:latin typeface="Times New Roman" panose="02020603050405020304" pitchFamily="18" charset="0"/>
              </a:rPr>
              <a:t>ợng</a:t>
            </a:r>
            <a:r>
              <a:rPr lang="en-US" dirty="0">
                <a:latin typeface="Times New Roman" panose="02020603050405020304" pitchFamily="18" charset="0"/>
              </a:rPr>
              <a:t> </a:t>
            </a:r>
            <a:r>
              <a:rPr lang="en-US" dirty="0" err="1">
                <a:latin typeface="Times New Roman" panose="02020603050405020304" pitchFamily="18" charset="0"/>
              </a:rPr>
              <a:t>giá</a:t>
            </a:r>
            <a:r>
              <a:rPr lang="en-US" dirty="0">
                <a:latin typeface="Times New Roman" panose="02020603050405020304" pitchFamily="18" charset="0"/>
              </a:rPr>
              <a:t> </a:t>
            </a:r>
            <a:r>
              <a:rPr lang="en-US" dirty="0" err="1">
                <a:latin typeface="Times New Roman" panose="02020603050405020304" pitchFamily="18" charset="0"/>
              </a:rPr>
              <a:t>trị</a:t>
            </a:r>
            <a:r>
              <a:rPr lang="en-US" dirty="0">
                <a:latin typeface="Times New Roman" panose="02020603050405020304" pitchFamily="18" charset="0"/>
              </a:rPr>
              <a:t> </a:t>
            </a:r>
            <a:r>
              <a:rPr lang="en-US" dirty="0" err="1">
                <a:latin typeface="Times New Roman" panose="02020603050405020304" pitchFamily="18" charset="0"/>
              </a:rPr>
              <a:t>thặng</a:t>
            </a:r>
            <a:r>
              <a:rPr lang="en-US" dirty="0">
                <a:latin typeface="Times New Roman" panose="02020603050405020304" pitchFamily="18" charset="0"/>
              </a:rPr>
              <a:t> d</a:t>
            </a:r>
            <a:r>
              <a:rPr lang="vi-VN" dirty="0">
                <a:latin typeface="Times New Roman" panose="02020603050405020304" pitchFamily="18" charset="0"/>
              </a:rPr>
              <a:t>ư</a:t>
            </a:r>
            <a:r>
              <a:rPr lang="en-US" dirty="0">
                <a:latin typeface="Times New Roman" panose="02020603050405020304" pitchFamily="18" charset="0"/>
              </a:rPr>
              <a:t> </a:t>
            </a:r>
            <a:r>
              <a:rPr lang="en-US" dirty="0" err="1">
                <a:latin typeface="Times New Roman" panose="02020603050405020304" pitchFamily="18" charset="0"/>
              </a:rPr>
              <a:t>nhà</a:t>
            </a:r>
            <a:r>
              <a:rPr lang="en-US" dirty="0">
                <a:latin typeface="Times New Roman" panose="02020603050405020304" pitchFamily="18" charset="0"/>
              </a:rPr>
              <a:t> t</a:t>
            </a:r>
            <a:r>
              <a:rPr lang="vi-VN" dirty="0">
                <a:latin typeface="Times New Roman" panose="02020603050405020304" pitchFamily="18" charset="0"/>
              </a:rPr>
              <a:t>ư</a:t>
            </a:r>
            <a:r>
              <a:rPr lang="en-US" dirty="0">
                <a:latin typeface="Times New Roman" panose="02020603050405020304" pitchFamily="18" charset="0"/>
              </a:rPr>
              <a:t> </a:t>
            </a:r>
            <a:r>
              <a:rPr lang="en-US" dirty="0" err="1">
                <a:latin typeface="Times New Roman" panose="02020603050405020304" pitchFamily="18" charset="0"/>
              </a:rPr>
              <a:t>bản</a:t>
            </a:r>
            <a:r>
              <a:rPr lang="en-US" dirty="0">
                <a:latin typeface="Times New Roman" panose="02020603050405020304" pitchFamily="18" charset="0"/>
              </a:rPr>
              <a:t> </a:t>
            </a:r>
            <a:r>
              <a:rPr lang="en-US" dirty="0" err="1">
                <a:latin typeface="Times New Roman" panose="02020603050405020304" pitchFamily="18" charset="0"/>
              </a:rPr>
              <a:t>thu</a:t>
            </a:r>
            <a:r>
              <a:rPr lang="en-US" dirty="0">
                <a:latin typeface="Times New Roman" panose="02020603050405020304" pitchFamily="18" charset="0"/>
              </a:rPr>
              <a:t> đ</a:t>
            </a:r>
            <a:r>
              <a:rPr lang="vi-VN" dirty="0">
                <a:latin typeface="Times New Roman" panose="02020603050405020304" pitchFamily="18" charset="0"/>
              </a:rPr>
              <a:t>ư</a:t>
            </a:r>
            <a:r>
              <a:rPr lang="en-US" dirty="0" err="1">
                <a:latin typeface="Times New Roman" panose="02020603050405020304" pitchFamily="18" charset="0"/>
              </a:rPr>
              <a:t>ợc</a:t>
            </a:r>
            <a:r>
              <a:rPr lang="en-US" dirty="0">
                <a:latin typeface="Times New Roman" panose="02020603050405020304" pitchFamily="18" charset="0"/>
              </a:rPr>
              <a:t>: M=6*</a:t>
            </a:r>
            <a:r>
              <a:rPr lang="en-US" dirty="0"/>
              <a:t> 12.500sp=75.000$</a:t>
            </a:r>
          </a:p>
          <a:p>
            <a:endParaRPr lang="en-US" dirty="0"/>
          </a:p>
        </p:txBody>
      </p:sp>
    </p:spTree>
    <p:extLst>
      <p:ext uri="{BB962C8B-B14F-4D97-AF65-F5344CB8AC3E}">
        <p14:creationId xmlns:p14="http://schemas.microsoft.com/office/powerpoint/2010/main" val="2534147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03D84A-A86C-44AF-A8ED-1E437EFC3ABA}"/>
              </a:ext>
            </a:extLst>
          </p:cNvPr>
          <p:cNvSpPr/>
          <p:nvPr/>
        </p:nvSpPr>
        <p:spPr>
          <a:xfrm>
            <a:off x="775854" y="659780"/>
            <a:ext cx="10377055" cy="5865837"/>
          </a:xfrm>
          <a:prstGeom prst="rect">
            <a:avLst/>
          </a:prstGeom>
        </p:spPr>
        <p:txBody>
          <a:bodyPr wrap="square">
            <a:spAutoFit/>
          </a:bodyPr>
          <a:lstStyle/>
          <a:p>
            <a:pPr algn="just">
              <a:lnSpc>
                <a:spcPct val="107000"/>
              </a:lnSpc>
              <a:spcAft>
                <a:spcPts val="800"/>
              </a:spcAft>
            </a:pPr>
            <a:r>
              <a:rPr lang="en-US" dirty="0">
                <a:latin typeface="Times New Roman (Headings)"/>
                <a:ea typeface="Calibri" panose="020F0502020204030204" pitchFamily="34" charset="0"/>
                <a:cs typeface="Times New Roman" panose="02020603050405020304" pitchFamily="18" charset="0"/>
              </a:rPr>
              <a:t>Ta </a:t>
            </a:r>
            <a:r>
              <a:rPr lang="en-US" dirty="0" err="1">
                <a:latin typeface="Times New Roman (Headings)"/>
                <a:ea typeface="Calibri" panose="020F0502020204030204" pitchFamily="34" charset="0"/>
                <a:cs typeface="Times New Roman" panose="02020603050405020304" pitchFamily="18" charset="0"/>
              </a:rPr>
              <a:t>có</a:t>
            </a:r>
            <a:r>
              <a:rPr lang="en-US" dirty="0">
                <a:latin typeface="Times New Roman (Headings)"/>
                <a:ea typeface="Calibri" panose="020F0502020204030204" pitchFamily="34" charset="0"/>
                <a:cs typeface="Times New Roman" panose="02020603050405020304" pitchFamily="18" charset="0"/>
              </a:rPr>
              <a:t>: </a:t>
            </a:r>
          </a:p>
          <a:p>
            <a:pPr indent="457200" algn="just">
              <a:lnSpc>
                <a:spcPct val="107000"/>
              </a:lnSpc>
              <a:spcAft>
                <a:spcPts val="800"/>
              </a:spcAft>
            </a:pPr>
            <a:r>
              <a:rPr lang="en-US" dirty="0">
                <a:latin typeface="Times New Roman (Headings)"/>
                <a:ea typeface="Calibri" panose="020F0502020204030204" pitchFamily="34" charset="0"/>
                <a:cs typeface="Times New Roman" panose="02020603050405020304" pitchFamily="18" charset="0"/>
              </a:rPr>
              <a:t>- Chi </a:t>
            </a:r>
            <a:r>
              <a:rPr lang="en-US" dirty="0" err="1">
                <a:latin typeface="Times New Roman (Headings)"/>
                <a:ea typeface="Calibri" panose="020F0502020204030204" pitchFamily="34" charset="0"/>
                <a:cs typeface="Times New Roman" panose="02020603050405020304" pitchFamily="18" charset="0"/>
              </a:rPr>
              <a:t>phí</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tư</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bản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bất</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biến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của</a:t>
            </a:r>
            <a:r>
              <a:rPr lang="en-US" dirty="0">
                <a:latin typeface="Times New Roman (Headings)"/>
                <a:ea typeface="Calibri" panose="020F0502020204030204" pitchFamily="34" charset="0"/>
                <a:cs typeface="Times New Roman" panose="02020603050405020304" pitchFamily="18" charset="0"/>
              </a:rPr>
              <a:t> 01 </a:t>
            </a:r>
            <a:r>
              <a:rPr lang="en-US" dirty="0" err="1">
                <a:latin typeface="Times New Roman (Headings)"/>
                <a:ea typeface="Calibri" panose="020F0502020204030204" pitchFamily="34" charset="0"/>
                <a:cs typeface="Times New Roman" panose="02020603050405020304" pitchFamily="18" charset="0"/>
              </a:rPr>
              <a:t>sản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phẩn</a:t>
            </a:r>
            <a:r>
              <a:rPr lang="en-US" dirty="0">
                <a:latin typeface="Times New Roman (Headings)"/>
                <a:ea typeface="Calibri" panose="020F0502020204030204" pitchFamily="34" charset="0"/>
                <a:cs typeface="Times New Roman" panose="02020603050405020304" pitchFamily="18" charset="0"/>
              </a:rPr>
              <a:t>: c</a:t>
            </a:r>
            <a:r>
              <a:rPr lang="en-US" baseline="-25000" dirty="0">
                <a:latin typeface="Times New Roman (Headings)"/>
                <a:ea typeface="Calibri" panose="020F0502020204030204" pitchFamily="34" charset="0"/>
                <a:cs typeface="Times New Roman" panose="02020603050405020304" pitchFamily="18" charset="0"/>
              </a:rPr>
              <a:t>1sp</a:t>
            </a:r>
            <a:r>
              <a:rPr lang="en-US" dirty="0">
                <a:latin typeface="Times New Roman (Headings)"/>
                <a:ea typeface="Calibri" panose="020F0502020204030204" pitchFamily="34" charset="0"/>
                <a:cs typeface="Times New Roman" panose="02020603050405020304" pitchFamily="18" charset="0"/>
              </a:rPr>
              <a:t> = 250.000/12.500 = 20$</a:t>
            </a:r>
          </a:p>
          <a:p>
            <a:pPr indent="457200" algn="just">
              <a:lnSpc>
                <a:spcPct val="107000"/>
              </a:lnSpc>
              <a:spcAft>
                <a:spcPts val="800"/>
              </a:spcAft>
            </a:pP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Số</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lượng</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sản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phẩm</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của</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một</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công</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nhân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sản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xuất</a:t>
            </a:r>
            <a:r>
              <a:rPr lang="en-US" dirty="0">
                <a:latin typeface="Times New Roman (Headings)"/>
                <a:ea typeface="Calibri" panose="020F0502020204030204" pitchFamily="34" charset="0"/>
                <a:cs typeface="Times New Roman" panose="02020603050405020304" pitchFamily="18" charset="0"/>
              </a:rPr>
              <a:t> ra </a:t>
            </a:r>
            <a:r>
              <a:rPr lang="en-US" dirty="0" err="1">
                <a:latin typeface="Times New Roman (Headings)"/>
                <a:ea typeface="Calibri" panose="020F0502020204030204" pitchFamily="34" charset="0"/>
                <a:cs typeface="Times New Roman" panose="02020603050405020304" pitchFamily="18" charset="0"/>
              </a:rPr>
              <a:t>trong</a:t>
            </a:r>
            <a:r>
              <a:rPr lang="en-US" dirty="0">
                <a:latin typeface="Times New Roman (Headings)"/>
                <a:ea typeface="Calibri" panose="020F0502020204030204" pitchFamily="34" charset="0"/>
                <a:cs typeface="Times New Roman" panose="02020603050405020304" pitchFamily="18" charset="0"/>
              </a:rPr>
              <a:t> 1 </a:t>
            </a:r>
            <a:r>
              <a:rPr lang="en-US" dirty="0" err="1">
                <a:latin typeface="Times New Roman (Headings)"/>
                <a:ea typeface="Calibri" panose="020F0502020204030204" pitchFamily="34" charset="0"/>
                <a:cs typeface="Times New Roman" panose="02020603050405020304" pitchFamily="18" charset="0"/>
              </a:rPr>
              <a:t>tháng</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là</a:t>
            </a:r>
            <a:r>
              <a:rPr lang="en-US" dirty="0">
                <a:latin typeface="Times New Roman (Headings)"/>
                <a:ea typeface="Calibri" panose="020F0502020204030204" pitchFamily="34" charset="0"/>
                <a:cs typeface="Times New Roman" panose="02020603050405020304" pitchFamily="18" charset="0"/>
              </a:rPr>
              <a:t>:</a:t>
            </a:r>
          </a:p>
          <a:p>
            <a:pPr indent="457200" algn="just">
              <a:lnSpc>
                <a:spcPct val="107000"/>
              </a:lnSpc>
              <a:spcAft>
                <a:spcPts val="800"/>
              </a:spcAft>
            </a:pPr>
            <a:r>
              <a:rPr lang="en-US" dirty="0">
                <a:latin typeface="Times New Roman (Headings)"/>
                <a:ea typeface="Calibri" panose="020F0502020204030204" pitchFamily="34" charset="0"/>
                <a:cs typeface="Times New Roman" panose="02020603050405020304" pitchFamily="18" charset="0"/>
              </a:rPr>
              <a:t>	12.500/100 = 125 (</a:t>
            </a:r>
            <a:r>
              <a:rPr lang="en-US" dirty="0" err="1">
                <a:latin typeface="Times New Roman (Headings)"/>
                <a:ea typeface="Calibri" panose="020F0502020204030204" pitchFamily="34" charset="0"/>
                <a:cs typeface="Times New Roman" panose="02020603050405020304" pitchFamily="18" charset="0"/>
              </a:rPr>
              <a:t>sản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phẩm</a:t>
            </a:r>
            <a:r>
              <a:rPr lang="en-US" dirty="0">
                <a:latin typeface="Times New Roman (Headings)"/>
                <a:ea typeface="Calibri" panose="020F0502020204030204" pitchFamily="34" charset="0"/>
                <a:cs typeface="Times New Roman" panose="02020603050405020304" pitchFamily="18" charset="0"/>
              </a:rPr>
              <a:t>)</a:t>
            </a:r>
          </a:p>
          <a:p>
            <a:pPr indent="457200" algn="just">
              <a:lnSpc>
                <a:spcPct val="107000"/>
              </a:lnSpc>
              <a:spcAft>
                <a:spcPts val="800"/>
              </a:spcAft>
            </a:pP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Giá</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trị</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sức</a:t>
            </a:r>
            <a:r>
              <a:rPr lang="en-US" dirty="0">
                <a:latin typeface="Times New Roman (Headings)"/>
                <a:ea typeface="Calibri" panose="020F0502020204030204" pitchFamily="34" charset="0"/>
                <a:cs typeface="Times New Roman" panose="02020603050405020304" pitchFamily="18" charset="0"/>
              </a:rPr>
              <a:t> lao </a:t>
            </a:r>
            <a:r>
              <a:rPr lang="en-US" dirty="0" err="1">
                <a:latin typeface="Times New Roman (Headings)"/>
                <a:ea typeface="Calibri" panose="020F0502020204030204" pitchFamily="34" charset="0"/>
                <a:cs typeface="Times New Roman" panose="02020603050405020304" pitchFamily="18" charset="0"/>
              </a:rPr>
              <a:t>động</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trong</a:t>
            </a:r>
            <a:r>
              <a:rPr lang="en-US" dirty="0">
                <a:latin typeface="Times New Roman (Headings)"/>
                <a:ea typeface="Calibri" panose="020F0502020204030204" pitchFamily="34" charset="0"/>
                <a:cs typeface="Times New Roman" panose="02020603050405020304" pitchFamily="18" charset="0"/>
              </a:rPr>
              <a:t> 01 </a:t>
            </a:r>
            <a:r>
              <a:rPr lang="en-US" dirty="0" err="1">
                <a:latin typeface="Times New Roman (Headings)"/>
                <a:ea typeface="Calibri" panose="020F0502020204030204" pitchFamily="34" charset="0"/>
                <a:cs typeface="Times New Roman" panose="02020603050405020304" pitchFamily="18" charset="0"/>
              </a:rPr>
              <a:t>sản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phẩm</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là</a:t>
            </a:r>
            <a:r>
              <a:rPr lang="en-US" dirty="0">
                <a:latin typeface="Times New Roman (Headings)"/>
                <a:ea typeface="Calibri" panose="020F0502020204030204" pitchFamily="34" charset="0"/>
                <a:cs typeface="Times New Roman" panose="02020603050405020304" pitchFamily="18" charset="0"/>
              </a:rPr>
              <a:t>:</a:t>
            </a:r>
          </a:p>
          <a:p>
            <a:pPr indent="457200" algn="just">
              <a:lnSpc>
                <a:spcPct val="107000"/>
              </a:lnSpc>
              <a:spcAft>
                <a:spcPts val="800"/>
              </a:spcAft>
            </a:pPr>
            <a:r>
              <a:rPr lang="en-US" dirty="0">
                <a:latin typeface="Times New Roman (Headings)"/>
                <a:ea typeface="Calibri" panose="020F0502020204030204" pitchFamily="34" charset="0"/>
                <a:cs typeface="Times New Roman" panose="02020603050405020304" pitchFamily="18" charset="0"/>
              </a:rPr>
              <a:t>	v</a:t>
            </a:r>
            <a:r>
              <a:rPr lang="en-US" baseline="-25000" dirty="0">
                <a:latin typeface="Times New Roman (Headings)"/>
                <a:ea typeface="Calibri" panose="020F0502020204030204" pitchFamily="34" charset="0"/>
                <a:cs typeface="Times New Roman" panose="02020603050405020304" pitchFamily="18" charset="0"/>
              </a:rPr>
              <a:t>1sp</a:t>
            </a:r>
            <a:r>
              <a:rPr lang="en-US" dirty="0">
                <a:latin typeface="Times New Roman (Headings)"/>
                <a:ea typeface="Calibri" panose="020F0502020204030204" pitchFamily="34" charset="0"/>
                <a:cs typeface="Times New Roman" panose="02020603050405020304" pitchFamily="18" charset="0"/>
              </a:rPr>
              <a:t> = 250/125 = 2$</a:t>
            </a:r>
          </a:p>
          <a:p>
            <a:pPr indent="457200" algn="just">
              <a:lnSpc>
                <a:spcPct val="107000"/>
              </a:lnSpc>
              <a:spcAft>
                <a:spcPts val="800"/>
              </a:spcAft>
            </a:pP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Giá</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trị</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thặng</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dư</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trong</a:t>
            </a:r>
            <a:r>
              <a:rPr lang="en-US" dirty="0">
                <a:latin typeface="Times New Roman (Headings)"/>
                <a:ea typeface="Calibri" panose="020F0502020204030204" pitchFamily="34" charset="0"/>
                <a:cs typeface="Times New Roman" panose="02020603050405020304" pitchFamily="18" charset="0"/>
              </a:rPr>
              <a:t> 1 </a:t>
            </a:r>
            <a:r>
              <a:rPr lang="en-US" dirty="0" err="1">
                <a:latin typeface="Times New Roman (Headings)"/>
                <a:ea typeface="Calibri" panose="020F0502020204030204" pitchFamily="34" charset="0"/>
                <a:cs typeface="Times New Roman" panose="02020603050405020304" pitchFamily="18" charset="0"/>
              </a:rPr>
              <a:t>sản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phẩm</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là</a:t>
            </a:r>
            <a:r>
              <a:rPr lang="en-US" dirty="0">
                <a:latin typeface="Times New Roman (Headings)"/>
                <a:ea typeface="Calibri" panose="020F0502020204030204" pitchFamily="34" charset="0"/>
                <a:cs typeface="Times New Roman" panose="02020603050405020304" pitchFamily="18" charset="0"/>
              </a:rPr>
              <a:t>: </a:t>
            </a:r>
          </a:p>
          <a:p>
            <a:pPr marL="457200" marR="0" indent="457200" algn="just">
              <a:lnSpc>
                <a:spcPct val="107000"/>
              </a:lnSpc>
              <a:spcBef>
                <a:spcPts val="0"/>
              </a:spcBef>
              <a:spcAft>
                <a:spcPts val="800"/>
              </a:spcAft>
            </a:pPr>
            <a:r>
              <a:rPr lang="en-US" dirty="0">
                <a:latin typeface="Times New Roman (Headings)"/>
                <a:ea typeface="Calibri" panose="020F0502020204030204" pitchFamily="34" charset="0"/>
                <a:cs typeface="Times New Roman" panose="02020603050405020304" pitchFamily="18" charset="0"/>
              </a:rPr>
              <a:t>m’ = 300% =&gt; m = 3 v = 3 x 2 = 6$</a:t>
            </a:r>
          </a:p>
          <a:p>
            <a:pPr indent="457200" algn="just">
              <a:lnSpc>
                <a:spcPct val="107000"/>
              </a:lnSpc>
              <a:spcAft>
                <a:spcPts val="800"/>
              </a:spcAft>
            </a:pPr>
            <a:r>
              <a:rPr lang="en-US" dirty="0" err="1">
                <a:latin typeface="Times New Roman (Headings)"/>
                <a:ea typeface="Calibri" panose="020F0502020204030204" pitchFamily="34" charset="0"/>
                <a:cs typeface="Times New Roman" panose="02020603050405020304" pitchFamily="18" charset="0"/>
              </a:rPr>
              <a:t>Vậy</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Giá</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trị</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của</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một</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đơn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vị</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sản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phẩm</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và</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kết</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cấu</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của</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nó</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là</a:t>
            </a:r>
            <a:r>
              <a:rPr lang="en-US" dirty="0">
                <a:latin typeface="Times New Roman (Headings)"/>
                <a:ea typeface="Calibri" panose="020F0502020204030204" pitchFamily="34" charset="0"/>
                <a:cs typeface="Times New Roman" panose="02020603050405020304" pitchFamily="18" charset="0"/>
              </a:rPr>
              <a:t>:</a:t>
            </a:r>
          </a:p>
          <a:p>
            <a:pPr indent="457200" algn="just">
              <a:lnSpc>
                <a:spcPct val="107000"/>
              </a:lnSpc>
              <a:spcAft>
                <a:spcPts val="800"/>
              </a:spcAft>
            </a:pPr>
            <a:r>
              <a:rPr lang="en-US" dirty="0">
                <a:latin typeface="Times New Roman (Headings)"/>
                <a:ea typeface="Calibri" panose="020F0502020204030204" pitchFamily="34" charset="0"/>
                <a:cs typeface="Times New Roman" panose="02020603050405020304" pitchFamily="18" charset="0"/>
              </a:rPr>
              <a:t>	G = c + v + m = 20 + 2+6= 28$</a:t>
            </a:r>
          </a:p>
          <a:p>
            <a:pPr indent="457200" algn="just">
              <a:lnSpc>
                <a:spcPct val="107000"/>
              </a:lnSpc>
              <a:spcAft>
                <a:spcPts val="800"/>
              </a:spcAft>
            </a:pPr>
            <a:r>
              <a:rPr lang="en-US" dirty="0" err="1">
                <a:latin typeface="Times New Roman (Headings)"/>
                <a:ea typeface="Calibri" panose="020F0502020204030204" pitchFamily="34" charset="0"/>
                <a:cs typeface="Times New Roman" panose="02020603050405020304" pitchFamily="18" charset="0"/>
              </a:rPr>
              <a:t>Khối</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lượng</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giá</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trị</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thặng</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dư</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nhà</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tư</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bản</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thu</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được</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trong</a:t>
            </a:r>
            <a:r>
              <a:rPr lang="en-US" dirty="0">
                <a:latin typeface="Times New Roman (Headings)"/>
                <a:ea typeface="Calibri" panose="020F0502020204030204" pitchFamily="34" charset="0"/>
                <a:cs typeface="Times New Roman" panose="02020603050405020304" pitchFamily="18" charset="0"/>
              </a:rPr>
              <a:t> 01 </a:t>
            </a:r>
            <a:r>
              <a:rPr lang="en-US" dirty="0" err="1">
                <a:latin typeface="Times New Roman (Headings)"/>
                <a:ea typeface="Calibri" panose="020F0502020204030204" pitchFamily="34" charset="0"/>
                <a:cs typeface="Times New Roman" panose="02020603050405020304" pitchFamily="18" charset="0"/>
              </a:rPr>
              <a:t>tháng</a:t>
            </a:r>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ea typeface="Calibri" panose="020F0502020204030204" pitchFamily="34" charset="0"/>
                <a:cs typeface="Times New Roman" panose="02020603050405020304" pitchFamily="18" charset="0"/>
              </a:rPr>
              <a:t>là</a:t>
            </a:r>
            <a:r>
              <a:rPr lang="en-US" dirty="0">
                <a:latin typeface="Times New Roman (Headings)"/>
                <a:ea typeface="Calibri" panose="020F0502020204030204" pitchFamily="34" charset="0"/>
                <a:cs typeface="Times New Roman" panose="02020603050405020304" pitchFamily="18" charset="0"/>
              </a:rPr>
              <a:t>:</a:t>
            </a:r>
          </a:p>
          <a:p>
            <a:r>
              <a:rPr lang="en-US" dirty="0">
                <a:latin typeface="Times New Roman (Headings)"/>
                <a:ea typeface="Calibri" panose="020F0502020204030204" pitchFamily="34" charset="0"/>
                <a:cs typeface="Times New Roman" panose="02020603050405020304" pitchFamily="18" charset="0"/>
              </a:rPr>
              <a:t>	</a:t>
            </a:r>
            <a:r>
              <a:rPr lang="en-US" dirty="0" err="1">
                <a:latin typeface="Times New Roman (Headings)"/>
              </a:rPr>
              <a:t>Giá</a:t>
            </a:r>
            <a:r>
              <a:rPr lang="en-US" dirty="0">
                <a:latin typeface="Times New Roman (Headings)"/>
              </a:rPr>
              <a:t> </a:t>
            </a:r>
            <a:r>
              <a:rPr lang="en-US" dirty="0" err="1">
                <a:latin typeface="Times New Roman (Headings)"/>
              </a:rPr>
              <a:t>trị</a:t>
            </a:r>
            <a:r>
              <a:rPr lang="en-US" dirty="0">
                <a:latin typeface="Times New Roman (Headings)"/>
              </a:rPr>
              <a:t> </a:t>
            </a:r>
            <a:r>
              <a:rPr lang="en-US" dirty="0" err="1">
                <a:latin typeface="Times New Roman (Headings)"/>
              </a:rPr>
              <a:t>thặng</a:t>
            </a:r>
            <a:r>
              <a:rPr lang="en-US" dirty="0">
                <a:latin typeface="Times New Roman (Headings)"/>
              </a:rPr>
              <a:t> </a:t>
            </a:r>
            <a:r>
              <a:rPr lang="en-US" dirty="0" err="1">
                <a:latin typeface="Times New Roman (Headings)"/>
              </a:rPr>
              <a:t>dư</a:t>
            </a:r>
            <a:r>
              <a:rPr lang="en-US" dirty="0">
                <a:latin typeface="Times New Roman (Headings)"/>
              </a:rPr>
              <a:t> </a:t>
            </a:r>
            <a:r>
              <a:rPr lang="en-US" dirty="0" err="1">
                <a:latin typeface="Times New Roman (Headings)"/>
              </a:rPr>
              <a:t>trong</a:t>
            </a:r>
            <a:r>
              <a:rPr lang="en-US" dirty="0">
                <a:latin typeface="Times New Roman (Headings)"/>
              </a:rPr>
              <a:t> 1 </a:t>
            </a:r>
            <a:r>
              <a:rPr lang="en-US" dirty="0" err="1">
                <a:latin typeface="Times New Roman (Headings)"/>
              </a:rPr>
              <a:t>sản</a:t>
            </a:r>
            <a:r>
              <a:rPr lang="en-US" dirty="0">
                <a:latin typeface="Times New Roman (Headings)"/>
              </a:rPr>
              <a:t> </a:t>
            </a:r>
            <a:r>
              <a:rPr lang="en-US" dirty="0" err="1">
                <a:latin typeface="Times New Roman (Headings)"/>
              </a:rPr>
              <a:t>phẩm</a:t>
            </a:r>
            <a:r>
              <a:rPr lang="en-US" dirty="0">
                <a:latin typeface="Times New Roman (Headings)"/>
              </a:rPr>
              <a:t> </a:t>
            </a:r>
            <a:r>
              <a:rPr lang="en-US" dirty="0" err="1">
                <a:latin typeface="Times New Roman (Headings)"/>
              </a:rPr>
              <a:t>là</a:t>
            </a:r>
            <a:r>
              <a:rPr lang="en-US" dirty="0">
                <a:latin typeface="Times New Roman (Headings)"/>
              </a:rPr>
              <a:t> 100.000 </a:t>
            </a:r>
          </a:p>
          <a:p>
            <a:r>
              <a:rPr lang="en-US" dirty="0">
                <a:latin typeface="Times New Roman (Headings)"/>
              </a:rPr>
              <a:t>12.500</a:t>
            </a:r>
            <a:r>
              <a:rPr lang="vi-VN" dirty="0">
                <a:latin typeface="Times New Roman (Headings)"/>
              </a:rPr>
              <a:t> sản phẩm</a:t>
            </a:r>
            <a:r>
              <a:rPr lang="en-US" dirty="0">
                <a:latin typeface="Times New Roman (Headings)"/>
              </a:rPr>
              <a:t>: M=6 x 12500= 75.000 $</a:t>
            </a:r>
          </a:p>
          <a:p>
            <a:r>
              <a:rPr lang="en-US" dirty="0" err="1">
                <a:latin typeface="Times New Roman (Headings)"/>
              </a:rPr>
              <a:t>Hoặc</a:t>
            </a:r>
            <a:r>
              <a:rPr lang="en-US" dirty="0">
                <a:latin typeface="Times New Roman (Headings)"/>
              </a:rPr>
              <a:t>: </a:t>
            </a:r>
          </a:p>
          <a:p>
            <a:r>
              <a:rPr lang="en-US" dirty="0">
                <a:latin typeface="Times New Roman (Headings)"/>
              </a:rPr>
              <a:t>M= </a:t>
            </a:r>
            <a:r>
              <a:rPr lang="en-US" dirty="0" err="1">
                <a:latin typeface="Times New Roman (Headings)"/>
              </a:rPr>
              <a:t>m’.V</a:t>
            </a:r>
            <a:r>
              <a:rPr lang="en-US" dirty="0">
                <a:latin typeface="Times New Roman (Headings)"/>
              </a:rPr>
              <a:t>. </a:t>
            </a:r>
            <a:r>
              <a:rPr lang="en-US" dirty="0" err="1">
                <a:latin typeface="Times New Roman (Headings)"/>
              </a:rPr>
              <a:t>Số</a:t>
            </a:r>
            <a:r>
              <a:rPr lang="en-US" dirty="0">
                <a:latin typeface="Times New Roman (Headings)"/>
              </a:rPr>
              <a:t> </a:t>
            </a:r>
            <a:r>
              <a:rPr lang="en-US" dirty="0" err="1">
                <a:latin typeface="Times New Roman (Headings)"/>
              </a:rPr>
              <a:t>lượng</a:t>
            </a:r>
            <a:r>
              <a:rPr lang="en-US" dirty="0">
                <a:latin typeface="Times New Roman (Headings)"/>
              </a:rPr>
              <a:t> </a:t>
            </a:r>
            <a:r>
              <a:rPr lang="en-US" dirty="0" err="1">
                <a:latin typeface="Times New Roman (Headings)"/>
              </a:rPr>
              <a:t>sản</a:t>
            </a:r>
            <a:r>
              <a:rPr lang="en-US" dirty="0">
                <a:latin typeface="Times New Roman (Headings)"/>
              </a:rPr>
              <a:t> </a:t>
            </a:r>
            <a:r>
              <a:rPr lang="en-US" dirty="0" err="1">
                <a:latin typeface="Times New Roman (Headings)"/>
              </a:rPr>
              <a:t>phẩm</a:t>
            </a:r>
            <a:r>
              <a:rPr lang="en-US" dirty="0">
                <a:latin typeface="Times New Roman (Headings)"/>
              </a:rPr>
              <a:t> </a:t>
            </a:r>
            <a:r>
              <a:rPr lang="en-US" dirty="0" err="1">
                <a:latin typeface="Times New Roman (Headings)"/>
              </a:rPr>
              <a:t>của</a:t>
            </a:r>
            <a:r>
              <a:rPr lang="en-US" dirty="0">
                <a:latin typeface="Times New Roman (Headings)"/>
              </a:rPr>
              <a:t> </a:t>
            </a:r>
            <a:r>
              <a:rPr lang="en-US" dirty="0" err="1">
                <a:latin typeface="Times New Roman (Headings)"/>
              </a:rPr>
              <a:t>một</a:t>
            </a:r>
            <a:r>
              <a:rPr lang="en-US" dirty="0">
                <a:latin typeface="Times New Roman (Headings)"/>
              </a:rPr>
              <a:t> </a:t>
            </a:r>
            <a:r>
              <a:rPr lang="en-US" dirty="0" err="1">
                <a:latin typeface="Times New Roman (Headings)"/>
              </a:rPr>
              <a:t>công</a:t>
            </a:r>
            <a:r>
              <a:rPr lang="en-US" dirty="0">
                <a:latin typeface="Times New Roman (Headings)"/>
              </a:rPr>
              <a:t> </a:t>
            </a:r>
            <a:r>
              <a:rPr lang="en-US" dirty="0" err="1">
                <a:latin typeface="Times New Roman (Headings)"/>
              </a:rPr>
              <a:t>nhân</a:t>
            </a:r>
            <a:r>
              <a:rPr lang="en-US" dirty="0">
                <a:latin typeface="Times New Roman (Headings)"/>
              </a:rPr>
              <a:t> </a:t>
            </a:r>
            <a:r>
              <a:rPr lang="en-US" dirty="0" err="1">
                <a:latin typeface="Times New Roman (Headings)"/>
              </a:rPr>
              <a:t>sản</a:t>
            </a:r>
            <a:r>
              <a:rPr lang="en-US" dirty="0">
                <a:latin typeface="Times New Roman (Headings)"/>
              </a:rPr>
              <a:t> </a:t>
            </a:r>
            <a:r>
              <a:rPr lang="en-US" dirty="0" err="1">
                <a:latin typeface="Times New Roman (Headings)"/>
              </a:rPr>
              <a:t>xuất</a:t>
            </a:r>
            <a:r>
              <a:rPr lang="en-US" dirty="0">
                <a:latin typeface="Times New Roman (Headings)"/>
              </a:rPr>
              <a:t> ra </a:t>
            </a:r>
            <a:r>
              <a:rPr lang="en-US" dirty="0" err="1">
                <a:latin typeface="Times New Roman (Headings)"/>
              </a:rPr>
              <a:t>trong</a:t>
            </a:r>
            <a:r>
              <a:rPr lang="en-US" dirty="0">
                <a:latin typeface="Times New Roman (Headings)"/>
              </a:rPr>
              <a:t> 1 </a:t>
            </a:r>
            <a:r>
              <a:rPr lang="en-US" dirty="0" err="1">
                <a:latin typeface="Times New Roman (Headings)"/>
              </a:rPr>
              <a:t>tháng</a:t>
            </a:r>
            <a:r>
              <a:rPr lang="en-US" dirty="0">
                <a:latin typeface="Times New Roman (Headings)"/>
              </a:rPr>
              <a:t> =300%.(</a:t>
            </a:r>
            <a:r>
              <a:rPr lang="en-US" dirty="0" err="1">
                <a:latin typeface="Times New Roman (Headings)"/>
              </a:rPr>
              <a:t>v.N</a:t>
            </a:r>
            <a:r>
              <a:rPr lang="en-US" dirty="0">
                <a:latin typeface="Times New Roman (Headings)"/>
              </a:rPr>
              <a:t>). </a:t>
            </a:r>
            <a:r>
              <a:rPr lang="en-US" dirty="0" err="1">
                <a:latin typeface="Times New Roman (Headings)"/>
              </a:rPr>
              <a:t>Số</a:t>
            </a:r>
            <a:r>
              <a:rPr lang="en-US" dirty="0">
                <a:latin typeface="Times New Roman (Headings)"/>
              </a:rPr>
              <a:t> </a:t>
            </a:r>
            <a:r>
              <a:rPr lang="en-US" dirty="0" err="1">
                <a:latin typeface="Times New Roman (Headings)"/>
              </a:rPr>
              <a:t>lượng</a:t>
            </a:r>
            <a:r>
              <a:rPr lang="en-US" dirty="0">
                <a:latin typeface="Times New Roman (Headings)"/>
              </a:rPr>
              <a:t> </a:t>
            </a:r>
            <a:r>
              <a:rPr lang="en-US" dirty="0" err="1">
                <a:latin typeface="Times New Roman (Headings)"/>
              </a:rPr>
              <a:t>sản</a:t>
            </a:r>
            <a:r>
              <a:rPr lang="en-US" dirty="0">
                <a:latin typeface="Times New Roman (Headings)"/>
              </a:rPr>
              <a:t> </a:t>
            </a:r>
            <a:r>
              <a:rPr lang="en-US" dirty="0" err="1">
                <a:latin typeface="Times New Roman (Headings)"/>
              </a:rPr>
              <a:t>phẩm</a:t>
            </a:r>
            <a:r>
              <a:rPr lang="en-US" dirty="0">
                <a:latin typeface="Times New Roman (Headings)"/>
              </a:rPr>
              <a:t> </a:t>
            </a:r>
            <a:r>
              <a:rPr lang="en-US" dirty="0" err="1">
                <a:latin typeface="Times New Roman (Headings)"/>
              </a:rPr>
              <a:t>của</a:t>
            </a:r>
            <a:r>
              <a:rPr lang="en-US" dirty="0">
                <a:latin typeface="Times New Roman (Headings)"/>
              </a:rPr>
              <a:t> </a:t>
            </a:r>
            <a:r>
              <a:rPr lang="en-US" dirty="0" err="1">
                <a:latin typeface="Times New Roman (Headings)"/>
              </a:rPr>
              <a:t>một</a:t>
            </a:r>
            <a:r>
              <a:rPr lang="en-US" dirty="0">
                <a:latin typeface="Times New Roman (Headings)"/>
              </a:rPr>
              <a:t> </a:t>
            </a:r>
            <a:r>
              <a:rPr lang="en-US" dirty="0" err="1">
                <a:latin typeface="Times New Roman (Headings)"/>
              </a:rPr>
              <a:t>công</a:t>
            </a:r>
            <a:r>
              <a:rPr lang="en-US" dirty="0">
                <a:latin typeface="Times New Roman (Headings)"/>
              </a:rPr>
              <a:t> </a:t>
            </a:r>
            <a:r>
              <a:rPr lang="en-US" dirty="0" err="1">
                <a:latin typeface="Times New Roman (Headings)"/>
              </a:rPr>
              <a:t>nhân</a:t>
            </a:r>
            <a:r>
              <a:rPr lang="en-US" dirty="0">
                <a:latin typeface="Times New Roman (Headings)"/>
              </a:rPr>
              <a:t> </a:t>
            </a:r>
            <a:r>
              <a:rPr lang="en-US" dirty="0" err="1">
                <a:latin typeface="Times New Roman (Headings)"/>
              </a:rPr>
              <a:t>sản</a:t>
            </a:r>
            <a:r>
              <a:rPr lang="en-US" dirty="0">
                <a:latin typeface="Times New Roman (Headings)"/>
              </a:rPr>
              <a:t> </a:t>
            </a:r>
            <a:r>
              <a:rPr lang="en-US" dirty="0" err="1">
                <a:latin typeface="Times New Roman (Headings)"/>
              </a:rPr>
              <a:t>xuất</a:t>
            </a:r>
            <a:r>
              <a:rPr lang="en-US" dirty="0">
                <a:latin typeface="Times New Roman (Headings)"/>
              </a:rPr>
              <a:t> ra </a:t>
            </a:r>
            <a:r>
              <a:rPr lang="en-US" dirty="0" err="1">
                <a:latin typeface="Times New Roman (Headings)"/>
              </a:rPr>
              <a:t>trong</a:t>
            </a:r>
            <a:r>
              <a:rPr lang="en-US" dirty="0">
                <a:latin typeface="Times New Roman (Headings)"/>
              </a:rPr>
              <a:t> 1 </a:t>
            </a:r>
            <a:r>
              <a:rPr lang="en-US" dirty="0" err="1">
                <a:latin typeface="Times New Roman (Headings)"/>
              </a:rPr>
              <a:t>tháng</a:t>
            </a:r>
            <a:r>
              <a:rPr lang="en-US" dirty="0">
                <a:latin typeface="Times New Roman (Headings)"/>
              </a:rPr>
              <a:t> =3x2x100x125= 75.000 $</a:t>
            </a:r>
            <a:endParaRPr lang="en-US" dirty="0">
              <a:effectLst/>
              <a:latin typeface="Times New Roman (Headings)"/>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978336E9-D146-46FF-81DA-EE0A1903D4C1}"/>
              </a:ext>
            </a:extLst>
          </p:cNvPr>
          <p:cNvSpPr txBox="1"/>
          <p:nvPr/>
        </p:nvSpPr>
        <p:spPr>
          <a:xfrm>
            <a:off x="7606145" y="2521059"/>
            <a:ext cx="3214255" cy="1815882"/>
          </a:xfrm>
          <a:prstGeom prst="rect">
            <a:avLst/>
          </a:prstGeom>
          <a:noFill/>
        </p:spPr>
        <p:txBody>
          <a:bodyPr wrap="square" rtlCol="0">
            <a:spAutoFit/>
          </a:bodyPr>
          <a:lstStyle/>
          <a:p>
            <a:r>
              <a:rPr lang="vi-VN" sz="1400" dirty="0">
                <a:latin typeface="Times New Roman" panose="02020603050405020304" pitchFamily="18" charset="0"/>
              </a:rPr>
              <a:t>Bài 3: Có 100 công nhân làm thuê, sản xuất 1 tháng được 12.500 đơn vị sản phẩm với chi phí tư bản bất biến là 250.000 đô la. Giá trị sức lao động 1 tháng của 1 công nhân là 250 đô la, m’ = 300%. Hãy xác định giá trị của 1 đơn vị sản phẩm và kết cấu của nó</a:t>
            </a:r>
            <a:r>
              <a:rPr lang="en-US" sz="1400" dirty="0">
                <a:latin typeface="Times New Roman" panose="02020603050405020304" pitchFamily="18" charset="0"/>
              </a:rPr>
              <a:t>, </a:t>
            </a:r>
            <a:r>
              <a:rPr lang="en-US" sz="1400" dirty="0" err="1">
                <a:latin typeface="Times New Roman" panose="02020603050405020304" pitchFamily="18" charset="0"/>
              </a:rPr>
              <a:t>khối</a:t>
            </a:r>
            <a:r>
              <a:rPr lang="en-US" sz="1400" dirty="0">
                <a:latin typeface="Times New Roman" panose="02020603050405020304" pitchFamily="18" charset="0"/>
              </a:rPr>
              <a:t> l</a:t>
            </a:r>
            <a:r>
              <a:rPr lang="vi-VN" sz="1400" dirty="0">
                <a:latin typeface="Times New Roman" panose="02020603050405020304" pitchFamily="18" charset="0"/>
              </a:rPr>
              <a:t>ư</a:t>
            </a:r>
            <a:r>
              <a:rPr lang="en-US" sz="1400" dirty="0" err="1">
                <a:latin typeface="Times New Roman" panose="02020603050405020304" pitchFamily="18" charset="0"/>
              </a:rPr>
              <a:t>ợng</a:t>
            </a:r>
            <a:r>
              <a:rPr lang="en-US" sz="1400" dirty="0">
                <a:latin typeface="Times New Roman" panose="02020603050405020304" pitchFamily="18" charset="0"/>
              </a:rPr>
              <a:t> </a:t>
            </a:r>
            <a:r>
              <a:rPr lang="en-US" sz="1400" dirty="0" err="1">
                <a:latin typeface="Times New Roman" panose="02020603050405020304" pitchFamily="18" charset="0"/>
              </a:rPr>
              <a:t>giá</a:t>
            </a:r>
            <a:r>
              <a:rPr lang="en-US" sz="1400" dirty="0">
                <a:latin typeface="Times New Roman" panose="02020603050405020304" pitchFamily="18" charset="0"/>
              </a:rPr>
              <a:t> </a:t>
            </a:r>
            <a:r>
              <a:rPr lang="en-US" sz="1400" dirty="0" err="1">
                <a:latin typeface="Times New Roman" panose="02020603050405020304" pitchFamily="18" charset="0"/>
              </a:rPr>
              <a:t>trị</a:t>
            </a:r>
            <a:r>
              <a:rPr lang="en-US" sz="1400" dirty="0">
                <a:latin typeface="Times New Roman" panose="02020603050405020304" pitchFamily="18" charset="0"/>
              </a:rPr>
              <a:t> </a:t>
            </a:r>
            <a:r>
              <a:rPr lang="en-US" sz="1400" dirty="0" err="1">
                <a:latin typeface="Times New Roman" panose="02020603050405020304" pitchFamily="18" charset="0"/>
              </a:rPr>
              <a:t>thặng</a:t>
            </a:r>
            <a:r>
              <a:rPr lang="en-US" sz="1400" dirty="0">
                <a:latin typeface="Times New Roman" panose="02020603050405020304" pitchFamily="18" charset="0"/>
              </a:rPr>
              <a:t> d</a:t>
            </a:r>
            <a:r>
              <a:rPr lang="vi-VN" sz="1400" dirty="0">
                <a:latin typeface="Times New Roman" panose="02020603050405020304" pitchFamily="18" charset="0"/>
              </a:rPr>
              <a:t>ư</a:t>
            </a:r>
            <a:r>
              <a:rPr lang="en-US" sz="1400" dirty="0">
                <a:latin typeface="Times New Roman" panose="02020603050405020304" pitchFamily="18" charset="0"/>
              </a:rPr>
              <a:t> </a:t>
            </a:r>
            <a:r>
              <a:rPr lang="en-US" sz="1400" dirty="0" err="1">
                <a:latin typeface="Times New Roman" panose="02020603050405020304" pitchFamily="18" charset="0"/>
              </a:rPr>
              <a:t>nhà</a:t>
            </a:r>
            <a:r>
              <a:rPr lang="en-US" sz="1400" dirty="0">
                <a:latin typeface="Times New Roman" panose="02020603050405020304" pitchFamily="18" charset="0"/>
              </a:rPr>
              <a:t> t</a:t>
            </a:r>
            <a:r>
              <a:rPr lang="vi-VN" sz="1400" dirty="0">
                <a:latin typeface="Times New Roman" panose="02020603050405020304" pitchFamily="18" charset="0"/>
              </a:rPr>
              <a:t>ư</a:t>
            </a:r>
            <a:r>
              <a:rPr lang="en-US" sz="1400" dirty="0">
                <a:latin typeface="Times New Roman" panose="02020603050405020304" pitchFamily="18" charset="0"/>
              </a:rPr>
              <a:t> </a:t>
            </a:r>
            <a:r>
              <a:rPr lang="en-US" sz="1400" dirty="0" err="1">
                <a:latin typeface="Times New Roman" panose="02020603050405020304" pitchFamily="18" charset="0"/>
              </a:rPr>
              <a:t>bản</a:t>
            </a:r>
            <a:r>
              <a:rPr lang="en-US" sz="1400" dirty="0">
                <a:latin typeface="Times New Roman" panose="02020603050405020304" pitchFamily="18" charset="0"/>
              </a:rPr>
              <a:t> </a:t>
            </a:r>
            <a:r>
              <a:rPr lang="en-US" sz="1400" dirty="0" err="1">
                <a:latin typeface="Times New Roman" panose="02020603050405020304" pitchFamily="18" charset="0"/>
              </a:rPr>
              <a:t>thu</a:t>
            </a:r>
            <a:r>
              <a:rPr lang="en-US" sz="1400" dirty="0">
                <a:latin typeface="Times New Roman" panose="02020603050405020304" pitchFamily="18" charset="0"/>
              </a:rPr>
              <a:t> đ</a:t>
            </a:r>
            <a:r>
              <a:rPr lang="vi-VN" sz="1400" dirty="0">
                <a:latin typeface="Times New Roman" panose="02020603050405020304" pitchFamily="18" charset="0"/>
              </a:rPr>
              <a:t>ư</a:t>
            </a:r>
            <a:r>
              <a:rPr lang="en-US" sz="1400" dirty="0" err="1">
                <a:latin typeface="Times New Roman" panose="02020603050405020304" pitchFamily="18" charset="0"/>
              </a:rPr>
              <a:t>ợc</a:t>
            </a:r>
            <a:r>
              <a:rPr lang="en-US" sz="1400" dirty="0">
                <a:latin typeface="Times New Roman" panose="02020603050405020304" pitchFamily="18" charset="0"/>
              </a:rPr>
              <a:t>?</a:t>
            </a:r>
            <a:r>
              <a:rPr lang="vi-VN" sz="1400" dirty="0">
                <a:latin typeface="Times New Roman" panose="02020603050405020304" pitchFamily="18" charset="0"/>
              </a:rPr>
              <a:t> </a:t>
            </a:r>
            <a:endParaRPr lang="en-US" sz="1400" dirty="0">
              <a:latin typeface="Times New Roman" panose="02020603050405020304" pitchFamily="18" charset="0"/>
            </a:endParaRPr>
          </a:p>
        </p:txBody>
      </p:sp>
    </p:spTree>
    <p:extLst>
      <p:ext uri="{BB962C8B-B14F-4D97-AF65-F5344CB8AC3E}">
        <p14:creationId xmlns:p14="http://schemas.microsoft.com/office/powerpoint/2010/main" val="1104321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C5566C6-7283-4542-8AAA-56C3127AEB81}"/>
              </a:ext>
            </a:extLst>
          </p:cNvPr>
          <p:cNvSpPr/>
          <p:nvPr/>
        </p:nvSpPr>
        <p:spPr>
          <a:xfrm>
            <a:off x="1004455" y="1665099"/>
            <a:ext cx="10183090" cy="2246769"/>
          </a:xfrm>
          <a:prstGeom prst="rect">
            <a:avLst/>
          </a:prstGeom>
        </p:spPr>
        <p:txBody>
          <a:bodyPr wrap="square">
            <a:spAutoFit/>
          </a:bodyPr>
          <a:lstStyle/>
          <a:p>
            <a:r>
              <a:rPr lang="vi-VN" sz="2800" dirty="0"/>
              <a:t>Bài 25 :Trình độ bóc lột là </a:t>
            </a:r>
            <a:r>
              <a:rPr lang="en-US" sz="2800" dirty="0"/>
              <a:t>1</a:t>
            </a:r>
            <a:r>
              <a:rPr lang="vi-VN" sz="2800" dirty="0"/>
              <a:t>00% và cấu tạo hữu cơ của tư bản là </a:t>
            </a:r>
            <a:r>
              <a:rPr lang="en-US" sz="2800" dirty="0"/>
              <a:t>6</a:t>
            </a:r>
            <a:r>
              <a:rPr lang="vi-VN" sz="2800" dirty="0"/>
              <a:t>:</a:t>
            </a:r>
            <a:r>
              <a:rPr lang="en-US" sz="2800" dirty="0"/>
              <a:t>4</a:t>
            </a:r>
            <a:r>
              <a:rPr lang="vi-VN" sz="2800" dirty="0"/>
              <a:t>. Trong giá trị hàng hoá có </a:t>
            </a:r>
            <a:r>
              <a:rPr lang="en-US" sz="2800" dirty="0"/>
              <a:t>1000$  </a:t>
            </a:r>
            <a:r>
              <a:rPr lang="vi-VN" sz="2800" dirty="0"/>
              <a:t>giá trị thặng dư. Với điều kiện tư bản bất biến hao mòn hoàn toàn trong 1 chu kỳ sản xuất. Hãy xác định: chi phí sản xuất tư bản và giá trị hàng hoá đó.</a:t>
            </a:r>
            <a:endParaRPr lang="en-US" sz="2800" dirty="0"/>
          </a:p>
        </p:txBody>
      </p:sp>
    </p:spTree>
    <p:extLst>
      <p:ext uri="{BB962C8B-B14F-4D97-AF65-F5344CB8AC3E}">
        <p14:creationId xmlns:p14="http://schemas.microsoft.com/office/powerpoint/2010/main" val="1991904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0FB3E7-BE52-4BB8-BD7B-47818AE7AC10}"/>
              </a:ext>
            </a:extLst>
          </p:cNvPr>
          <p:cNvSpPr/>
          <p:nvPr/>
        </p:nvSpPr>
        <p:spPr>
          <a:xfrm>
            <a:off x="1004455" y="1665099"/>
            <a:ext cx="10183090" cy="2246769"/>
          </a:xfrm>
          <a:prstGeom prst="rect">
            <a:avLst/>
          </a:prstGeom>
        </p:spPr>
        <p:txBody>
          <a:bodyPr wrap="square">
            <a:spAutoFit/>
          </a:bodyPr>
          <a:lstStyle/>
          <a:p>
            <a:r>
              <a:rPr lang="vi-VN" sz="2800" dirty="0"/>
              <a:t>Bài 25 :Trình độ bóc lột là </a:t>
            </a:r>
            <a:r>
              <a:rPr lang="en-US" sz="2800" dirty="0"/>
              <a:t>1</a:t>
            </a:r>
            <a:r>
              <a:rPr lang="vi-VN" sz="2800" dirty="0"/>
              <a:t>00% và cấu tạo hữu cơ của tư bản là </a:t>
            </a:r>
            <a:r>
              <a:rPr lang="en-US" sz="2800" dirty="0"/>
              <a:t>6</a:t>
            </a:r>
            <a:r>
              <a:rPr lang="vi-VN" sz="2800" dirty="0"/>
              <a:t>:</a:t>
            </a:r>
            <a:r>
              <a:rPr lang="en-US" sz="2800" dirty="0"/>
              <a:t>4</a:t>
            </a:r>
            <a:r>
              <a:rPr lang="vi-VN" sz="2800" dirty="0"/>
              <a:t>. Trong giá trị hàng hoá có </a:t>
            </a:r>
            <a:r>
              <a:rPr lang="en-US" sz="2800" dirty="0"/>
              <a:t>1000$  </a:t>
            </a:r>
            <a:r>
              <a:rPr lang="vi-VN" sz="2800" dirty="0"/>
              <a:t>giá trị thặng dư. Với điều kiện tư bản bất biến hao mòn hoàn toàn trong 1 chu kỳ sản xuất. Hãy xác định: chi phí sản xuất tư bản và giá trị hàng hoá đó.</a:t>
            </a:r>
            <a:endParaRPr lang="en-US" sz="2800" dirty="0"/>
          </a:p>
        </p:txBody>
      </p:sp>
      <p:sp>
        <p:nvSpPr>
          <p:cNvPr id="3" name="TextBox 2">
            <a:extLst>
              <a:ext uri="{FF2B5EF4-FFF2-40B4-BE49-F238E27FC236}">
                <a16:creationId xmlns:a16="http://schemas.microsoft.com/office/drawing/2014/main" id="{5A3BC04B-3806-44B7-A4CF-6EE66D6A91BA}"/>
              </a:ext>
            </a:extLst>
          </p:cNvPr>
          <p:cNvSpPr txBox="1"/>
          <p:nvPr/>
        </p:nvSpPr>
        <p:spPr>
          <a:xfrm>
            <a:off x="1108364" y="3911868"/>
            <a:ext cx="5403273" cy="1477328"/>
          </a:xfrm>
          <a:prstGeom prst="rect">
            <a:avLst/>
          </a:prstGeom>
          <a:noFill/>
        </p:spPr>
        <p:txBody>
          <a:bodyPr wrap="square" rtlCol="0">
            <a:spAutoFit/>
          </a:bodyPr>
          <a:lstStyle/>
          <a:p>
            <a:r>
              <a:rPr lang="en-US" dirty="0"/>
              <a:t>m’= 100%</a:t>
            </a:r>
          </a:p>
          <a:p>
            <a:r>
              <a:rPr lang="en-US" dirty="0"/>
              <a:t>c/v=6/4</a:t>
            </a:r>
          </a:p>
          <a:p>
            <a:r>
              <a:rPr lang="en-US" dirty="0"/>
              <a:t> m=1000</a:t>
            </a:r>
          </a:p>
          <a:p>
            <a:r>
              <a:rPr lang="en-US" dirty="0"/>
              <a:t>k=</a:t>
            </a:r>
            <a:r>
              <a:rPr lang="en-US" dirty="0" err="1"/>
              <a:t>c+v</a:t>
            </a:r>
            <a:r>
              <a:rPr lang="en-US" dirty="0"/>
              <a:t>?</a:t>
            </a:r>
          </a:p>
          <a:p>
            <a:r>
              <a:rPr lang="en-US" dirty="0"/>
              <a:t>G= </a:t>
            </a:r>
            <a:r>
              <a:rPr lang="en-US" dirty="0" err="1"/>
              <a:t>c+v+m</a:t>
            </a:r>
            <a:r>
              <a:rPr lang="en-US" dirty="0"/>
              <a:t>?</a:t>
            </a:r>
          </a:p>
        </p:txBody>
      </p:sp>
      <p:sp>
        <p:nvSpPr>
          <p:cNvPr id="4" name="TextBox 3">
            <a:extLst>
              <a:ext uri="{FF2B5EF4-FFF2-40B4-BE49-F238E27FC236}">
                <a16:creationId xmlns:a16="http://schemas.microsoft.com/office/drawing/2014/main" id="{4131D9AF-C797-435E-9E8D-BB0BEDCE6BF2}"/>
              </a:ext>
            </a:extLst>
          </p:cNvPr>
          <p:cNvSpPr txBox="1"/>
          <p:nvPr/>
        </p:nvSpPr>
        <p:spPr>
          <a:xfrm>
            <a:off x="3619500" y="3771900"/>
            <a:ext cx="7315200" cy="2031325"/>
          </a:xfrm>
          <a:prstGeom prst="rect">
            <a:avLst/>
          </a:prstGeom>
          <a:noFill/>
        </p:spPr>
        <p:txBody>
          <a:bodyPr wrap="square" rtlCol="0">
            <a:spAutoFit/>
          </a:bodyPr>
          <a:lstStyle/>
          <a:p>
            <a:r>
              <a:rPr lang="en-US" dirty="0"/>
              <a:t>m’=(m/v)*100% =100%</a:t>
            </a:r>
          </a:p>
          <a:p>
            <a:r>
              <a:rPr lang="en-US" dirty="0"/>
              <a:t>m/v=1 =&gt; m=v=1000$</a:t>
            </a:r>
          </a:p>
          <a:p>
            <a:r>
              <a:rPr lang="en-US" dirty="0"/>
              <a:t>c=(6/4)*v=1.5*1000=1500$</a:t>
            </a:r>
          </a:p>
          <a:p>
            <a:r>
              <a:rPr lang="vi-VN" dirty="0"/>
              <a:t>chi phí sản xuất tư bản </a:t>
            </a:r>
            <a:r>
              <a:rPr lang="en-US" dirty="0"/>
              <a:t>k=</a:t>
            </a:r>
            <a:r>
              <a:rPr lang="en-US" dirty="0" err="1"/>
              <a:t>c+v</a:t>
            </a:r>
            <a:r>
              <a:rPr lang="en-US" dirty="0"/>
              <a:t>=1000+1500=2500$</a:t>
            </a:r>
          </a:p>
          <a:p>
            <a:r>
              <a:rPr lang="vi-VN" dirty="0"/>
              <a:t>giá trị hàng hoá đó</a:t>
            </a:r>
            <a:r>
              <a:rPr lang="en-US" dirty="0"/>
              <a:t>: G=</a:t>
            </a:r>
            <a:r>
              <a:rPr lang="en-US" dirty="0" err="1"/>
              <a:t>c+v+m</a:t>
            </a:r>
            <a:r>
              <a:rPr lang="en-US" dirty="0"/>
              <a:t>=1500+1000+1000=3500$</a:t>
            </a:r>
          </a:p>
          <a:p>
            <a:endParaRPr lang="en-US" dirty="0"/>
          </a:p>
          <a:p>
            <a:endParaRPr lang="en-US" dirty="0"/>
          </a:p>
        </p:txBody>
      </p:sp>
    </p:spTree>
    <p:extLst>
      <p:ext uri="{BB962C8B-B14F-4D97-AF65-F5344CB8AC3E}">
        <p14:creationId xmlns:p14="http://schemas.microsoft.com/office/powerpoint/2010/main" val="649995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8447CE-F747-4834-AF41-E5FEABDADD21}"/>
              </a:ext>
            </a:extLst>
          </p:cNvPr>
          <p:cNvSpPr txBox="1"/>
          <p:nvPr/>
        </p:nvSpPr>
        <p:spPr>
          <a:xfrm>
            <a:off x="7952509" y="1565564"/>
            <a:ext cx="3061855" cy="2862322"/>
          </a:xfrm>
          <a:prstGeom prst="rect">
            <a:avLst/>
          </a:prstGeom>
          <a:noFill/>
        </p:spPr>
        <p:txBody>
          <a:bodyPr wrap="square" rtlCol="0">
            <a:spAutoFit/>
          </a:bodyPr>
          <a:lstStyle/>
          <a:p>
            <a:r>
              <a:rPr lang="vi-VN" dirty="0"/>
              <a:t>Bài 25 :Trình độ bóc lột là </a:t>
            </a:r>
            <a:r>
              <a:rPr lang="en-US" dirty="0"/>
              <a:t>1</a:t>
            </a:r>
            <a:r>
              <a:rPr lang="vi-VN" dirty="0"/>
              <a:t>00% và cấu tạo hữu cơ của tư bản là </a:t>
            </a:r>
            <a:r>
              <a:rPr lang="en-US" dirty="0"/>
              <a:t>6</a:t>
            </a:r>
            <a:r>
              <a:rPr lang="vi-VN" dirty="0"/>
              <a:t>:</a:t>
            </a:r>
            <a:r>
              <a:rPr lang="en-US" dirty="0"/>
              <a:t>4</a:t>
            </a:r>
            <a:r>
              <a:rPr lang="vi-VN" dirty="0"/>
              <a:t>. Trong giá trị hàng hoá có </a:t>
            </a:r>
            <a:r>
              <a:rPr lang="en-US" dirty="0"/>
              <a:t>1000$  </a:t>
            </a:r>
            <a:r>
              <a:rPr lang="vi-VN" dirty="0"/>
              <a:t>giá trị thặng dư. Với điều kiện tư bản bất biến hao mòn hoàn toàn trong 1 chu kỳ sản xuất. Hãy xác định: chi phí sản xuất tư bản và giá trị hàng hoá đó.</a:t>
            </a:r>
            <a:endParaRPr lang="en-US" dirty="0"/>
          </a:p>
        </p:txBody>
      </p:sp>
      <p:sp>
        <p:nvSpPr>
          <p:cNvPr id="5" name="TextBox 4">
            <a:extLst>
              <a:ext uri="{FF2B5EF4-FFF2-40B4-BE49-F238E27FC236}">
                <a16:creationId xmlns:a16="http://schemas.microsoft.com/office/drawing/2014/main" id="{E7658D56-D338-47D5-B809-12D96ACE56D0}"/>
              </a:ext>
            </a:extLst>
          </p:cNvPr>
          <p:cNvSpPr txBox="1"/>
          <p:nvPr/>
        </p:nvSpPr>
        <p:spPr>
          <a:xfrm>
            <a:off x="706582" y="1565564"/>
            <a:ext cx="6871854" cy="2862322"/>
          </a:xfrm>
          <a:prstGeom prst="rect">
            <a:avLst/>
          </a:prstGeom>
          <a:noFill/>
        </p:spPr>
        <p:txBody>
          <a:bodyPr wrap="square" rtlCol="0">
            <a:spAutoFit/>
          </a:bodyPr>
          <a:lstStyle/>
          <a:p>
            <a:r>
              <a:rPr lang="en-US" dirty="0"/>
              <a:t>Ta </a:t>
            </a:r>
            <a:r>
              <a:rPr lang="en-US" dirty="0" err="1"/>
              <a:t>có</a:t>
            </a:r>
            <a:r>
              <a:rPr lang="en-US" dirty="0"/>
              <a:t>: </a:t>
            </a:r>
          </a:p>
          <a:p>
            <a:r>
              <a:rPr lang="en-US" dirty="0"/>
              <a:t>- c/v = 6/4 =&gt; c =(6/4)v</a:t>
            </a:r>
          </a:p>
          <a:p>
            <a:r>
              <a:rPr lang="en-US" dirty="0"/>
              <a:t>- m’ = 100% =&gt; m’=(m/v)x100%=100%        m/v=1        m = v = 1000$</a:t>
            </a:r>
          </a:p>
          <a:p>
            <a:r>
              <a:rPr lang="en-US" dirty="0"/>
              <a:t>	ta </a:t>
            </a:r>
            <a:r>
              <a:rPr lang="en-US" dirty="0" err="1"/>
              <a:t>có</a:t>
            </a:r>
            <a:r>
              <a:rPr lang="en-US" dirty="0"/>
              <a:t>: c = (6/4)v = (6/4 )*1000= 1.500</a:t>
            </a:r>
          </a:p>
          <a:p>
            <a:r>
              <a:rPr lang="en-US" dirty="0" err="1"/>
              <a:t>Vậy</a:t>
            </a:r>
            <a:r>
              <a:rPr lang="en-US" dirty="0"/>
              <a:t>:</a:t>
            </a:r>
          </a:p>
          <a:p>
            <a:r>
              <a:rPr lang="en-US" dirty="0"/>
              <a:t>Chi </a:t>
            </a:r>
            <a:r>
              <a:rPr lang="en-US" dirty="0" err="1"/>
              <a:t>phí</a:t>
            </a:r>
            <a:r>
              <a:rPr lang="en-US" dirty="0"/>
              <a:t> </a:t>
            </a:r>
            <a:r>
              <a:rPr lang="en-US" dirty="0" err="1"/>
              <a:t>sản</a:t>
            </a:r>
            <a:r>
              <a:rPr lang="en-US" dirty="0"/>
              <a:t> </a:t>
            </a:r>
            <a:r>
              <a:rPr lang="en-US" dirty="0" err="1"/>
              <a:t>xuất</a:t>
            </a:r>
            <a:r>
              <a:rPr lang="en-US" dirty="0"/>
              <a:t> </a:t>
            </a:r>
            <a:r>
              <a:rPr lang="en-US" dirty="0" err="1"/>
              <a:t>tư</a:t>
            </a:r>
            <a:r>
              <a:rPr lang="en-US" dirty="0"/>
              <a:t> </a:t>
            </a:r>
            <a:r>
              <a:rPr lang="en-US" dirty="0" err="1"/>
              <a:t>bản</a:t>
            </a:r>
            <a:r>
              <a:rPr lang="en-US" dirty="0"/>
              <a:t> </a:t>
            </a:r>
            <a:r>
              <a:rPr lang="en-US" dirty="0" err="1"/>
              <a:t>của</a:t>
            </a:r>
            <a:r>
              <a:rPr lang="en-US" dirty="0"/>
              <a:t> </a:t>
            </a:r>
            <a:r>
              <a:rPr lang="en-US" dirty="0" err="1"/>
              <a:t>doanh</a:t>
            </a:r>
            <a:r>
              <a:rPr lang="en-US" dirty="0"/>
              <a:t> </a:t>
            </a:r>
            <a:r>
              <a:rPr lang="en-US" dirty="0" err="1"/>
              <a:t>nghiệp</a:t>
            </a:r>
            <a:r>
              <a:rPr lang="en-US" dirty="0"/>
              <a:t>: K = c + v = 1500  +1000= 2500$</a:t>
            </a:r>
          </a:p>
          <a:p>
            <a:r>
              <a:rPr lang="en-US" dirty="0" err="1"/>
              <a:t>Tổng</a:t>
            </a:r>
            <a:r>
              <a:rPr lang="en-US" dirty="0"/>
              <a:t> </a:t>
            </a:r>
            <a:r>
              <a:rPr lang="en-US" dirty="0" err="1"/>
              <a:t>giá</a:t>
            </a:r>
            <a:r>
              <a:rPr lang="en-US" dirty="0"/>
              <a:t> </a:t>
            </a:r>
            <a:r>
              <a:rPr lang="en-US" dirty="0" err="1"/>
              <a:t>trị</a:t>
            </a:r>
            <a:r>
              <a:rPr lang="en-US" dirty="0"/>
              <a:t> </a:t>
            </a:r>
            <a:r>
              <a:rPr lang="en-US" dirty="0" err="1"/>
              <a:t>hàng</a:t>
            </a:r>
            <a:r>
              <a:rPr lang="en-US" dirty="0"/>
              <a:t> </a:t>
            </a:r>
            <a:r>
              <a:rPr lang="en-US" dirty="0" err="1"/>
              <a:t>hóa</a:t>
            </a:r>
            <a:r>
              <a:rPr lang="en-US" dirty="0"/>
              <a:t> </a:t>
            </a:r>
            <a:r>
              <a:rPr lang="en-US" dirty="0" err="1"/>
              <a:t>của</a:t>
            </a:r>
            <a:r>
              <a:rPr lang="en-US" dirty="0"/>
              <a:t> </a:t>
            </a:r>
            <a:r>
              <a:rPr lang="en-US" dirty="0" err="1"/>
              <a:t>doanh</a:t>
            </a:r>
            <a:r>
              <a:rPr lang="en-US" dirty="0"/>
              <a:t> </a:t>
            </a:r>
            <a:r>
              <a:rPr lang="en-US" dirty="0" err="1"/>
              <a:t>nghiệp</a:t>
            </a:r>
            <a:r>
              <a:rPr lang="en-US" dirty="0"/>
              <a:t>: G = c + v + m = 1500 +1000+1000 = 3500 $</a:t>
            </a:r>
          </a:p>
          <a:p>
            <a:endParaRPr lang="en-US" dirty="0"/>
          </a:p>
        </p:txBody>
      </p:sp>
    </p:spTree>
    <p:extLst>
      <p:ext uri="{BB962C8B-B14F-4D97-AF65-F5344CB8AC3E}">
        <p14:creationId xmlns:p14="http://schemas.microsoft.com/office/powerpoint/2010/main" val="2218315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336D5F0-3DEE-4EF4-9562-192357A385E9}"/>
              </a:ext>
            </a:extLst>
          </p:cNvPr>
          <p:cNvSpPr/>
          <p:nvPr/>
        </p:nvSpPr>
        <p:spPr>
          <a:xfrm>
            <a:off x="374072" y="1443889"/>
            <a:ext cx="10640291" cy="3027047"/>
          </a:xfrm>
          <a:prstGeom prst="rect">
            <a:avLst/>
          </a:prstGeom>
        </p:spPr>
        <p:txBody>
          <a:bodyPr wrap="square">
            <a:spAutoFit/>
          </a:bodyPr>
          <a:lstStyle/>
          <a:p>
            <a:pPr algn="just">
              <a:lnSpc>
                <a:spcPct val="107000"/>
              </a:lnSpc>
              <a:spcAft>
                <a:spcPts val="800"/>
              </a:spcAft>
            </a:pPr>
            <a:r>
              <a:rPr lang="en-US" sz="3600" dirty="0" err="1">
                <a:latin typeface="Times New Roman" panose="02020603050405020304" pitchFamily="18" charset="0"/>
                <a:ea typeface="Calibri" panose="020F0502020204030204" pitchFamily="34" charset="0"/>
                <a:cs typeface="Times New Roman" panose="02020603050405020304" pitchFamily="18" charset="0"/>
              </a:rPr>
              <a:t>Một</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nhà</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tư</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bản</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đầu</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tư</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vào</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lĩnh</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vực</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công</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nghiệp</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có</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quy</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mô</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tư</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bản</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đầu</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tư</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cho</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sản</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xuất</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là</a:t>
            </a:r>
            <a:r>
              <a:rPr lang="en-US" sz="3600" dirty="0">
                <a:latin typeface="Times New Roman" panose="02020603050405020304" pitchFamily="18" charset="0"/>
                <a:ea typeface="Calibri" panose="020F0502020204030204" pitchFamily="34" charset="0"/>
                <a:cs typeface="Times New Roman" panose="02020603050405020304" pitchFamily="18" charset="0"/>
              </a:rPr>
              <a:t> 50.000$, </a:t>
            </a:r>
            <a:r>
              <a:rPr lang="en-US" sz="3600" dirty="0" err="1">
                <a:latin typeface="Times New Roman" panose="02020603050405020304" pitchFamily="18" charset="0"/>
                <a:ea typeface="Calibri" panose="020F0502020204030204" pitchFamily="34" charset="0"/>
                <a:cs typeface="Times New Roman" panose="02020603050405020304" pitchFamily="18" charset="0"/>
              </a:rPr>
              <a:t>cấu</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tạo</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hữu</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cơ</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tư</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bản</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là</a:t>
            </a:r>
            <a:r>
              <a:rPr lang="en-US" sz="3600" dirty="0">
                <a:latin typeface="Times New Roman" panose="02020603050405020304" pitchFamily="18" charset="0"/>
                <a:ea typeface="Calibri" panose="020F0502020204030204" pitchFamily="34" charset="0"/>
                <a:cs typeface="Times New Roman" panose="02020603050405020304" pitchFamily="18" charset="0"/>
              </a:rPr>
              <a:t> 6/4 </a:t>
            </a:r>
            <a:r>
              <a:rPr lang="en-US" sz="3600" dirty="0" err="1">
                <a:latin typeface="Times New Roman" panose="02020603050405020304" pitchFamily="18" charset="0"/>
                <a:ea typeface="Calibri" panose="020F0502020204030204" pitchFamily="34" charset="0"/>
                <a:cs typeface="Times New Roman" panose="02020603050405020304" pitchFamily="18" charset="0"/>
              </a:rPr>
              <a:t>và</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tỷ</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suất</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giá</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trị</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thặng</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dư</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là</a:t>
            </a:r>
            <a:r>
              <a:rPr lang="en-US" sz="3600" dirty="0">
                <a:latin typeface="Times New Roman" panose="02020603050405020304" pitchFamily="18" charset="0"/>
                <a:ea typeface="Calibri" panose="020F0502020204030204" pitchFamily="34" charset="0"/>
                <a:cs typeface="Times New Roman" panose="02020603050405020304" pitchFamily="18" charset="0"/>
              </a:rPr>
              <a:t> 200%. </a:t>
            </a:r>
            <a:r>
              <a:rPr lang="en-US" sz="3600" dirty="0" err="1">
                <a:latin typeface="Times New Roman" panose="02020603050405020304" pitchFamily="18" charset="0"/>
                <a:ea typeface="Calibri" panose="020F0502020204030204" pitchFamily="34" charset="0"/>
                <a:cs typeface="Times New Roman" panose="02020603050405020304" pitchFamily="18" charset="0"/>
              </a:rPr>
              <a:t>Nếu</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không</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có</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tư</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bản</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thương</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nghiệp</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tham</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gia</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thì</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lợi</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nhuận</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của</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tư</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bản</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công</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nghiệp</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sẽ</a:t>
            </a:r>
            <a:r>
              <a:rPr lang="en-US" sz="3600" dirty="0">
                <a:latin typeface="Times New Roman" panose="02020603050405020304" pitchFamily="18" charset="0"/>
                <a:ea typeface="Calibri" panose="020F0502020204030204" pitchFamily="34" charset="0"/>
                <a:cs typeface="Times New Roman" panose="02020603050405020304" pitchFamily="18" charset="0"/>
              </a:rPr>
              <a:t> </a:t>
            </a:r>
            <a:r>
              <a:rPr lang="en-US" sz="3600" dirty="0" err="1">
                <a:latin typeface="Times New Roman" panose="02020603050405020304" pitchFamily="18" charset="0"/>
                <a:ea typeface="Calibri" panose="020F0502020204030204" pitchFamily="34" charset="0"/>
                <a:cs typeface="Times New Roman" panose="02020603050405020304" pitchFamily="18" charset="0"/>
              </a:rPr>
              <a:t>là</a:t>
            </a:r>
            <a:r>
              <a:rPr lang="en-US" sz="3600" dirty="0">
                <a:latin typeface="Times New Roman" panose="02020603050405020304" pitchFamily="18" charset="0"/>
                <a:ea typeface="Calibri" panose="020F0502020204030204" pitchFamily="34" charset="0"/>
                <a:cs typeface="Times New Roman" panose="02020603050405020304" pitchFamily="18" charset="0"/>
              </a:rPr>
              <a:t> bao </a:t>
            </a:r>
            <a:r>
              <a:rPr lang="en-US" sz="3600" dirty="0" err="1">
                <a:latin typeface="Times New Roman" panose="02020603050405020304" pitchFamily="18" charset="0"/>
                <a:ea typeface="Calibri" panose="020F0502020204030204" pitchFamily="34" charset="0"/>
                <a:cs typeface="Times New Roman" panose="02020603050405020304" pitchFamily="18" charset="0"/>
              </a:rPr>
              <a:t>nhiêu</a:t>
            </a:r>
            <a:r>
              <a:rPr lang="en-US" sz="3600" dirty="0">
                <a:latin typeface="Times New Roman" panose="02020603050405020304" pitchFamily="18" charset="0"/>
                <a:ea typeface="Calibri" panose="020F0502020204030204" pitchFamily="34" charset="0"/>
                <a:cs typeface="Times New Roman" panose="02020603050405020304" pitchFamily="18"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0640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AD0849-BB08-40F0-8AD5-34FD520909CE}"/>
              </a:ext>
            </a:extLst>
          </p:cNvPr>
          <p:cNvSpPr/>
          <p:nvPr/>
        </p:nvSpPr>
        <p:spPr>
          <a:xfrm>
            <a:off x="2826328" y="349381"/>
            <a:ext cx="6096000" cy="1559529"/>
          </a:xfrm>
          <a:prstGeom prst="rect">
            <a:avLst/>
          </a:prstGeom>
        </p:spPr>
        <p:txBody>
          <a:bodyPr>
            <a:spAutoFit/>
          </a:bodyPr>
          <a:lstStyle/>
          <a:p>
            <a:pPr algn="just">
              <a:lnSpc>
                <a:spcPct val="107000"/>
              </a:lnSpc>
              <a:spcAft>
                <a:spcPts val="800"/>
              </a:spcAft>
            </a:pPr>
            <a:r>
              <a:rPr lang="en-US" dirty="0" err="1">
                <a:latin typeface="Times New Roman" panose="02020603050405020304" pitchFamily="18" charset="0"/>
                <a:ea typeface="Calibri" panose="020F0502020204030204" pitchFamily="34" charset="0"/>
                <a:cs typeface="Times New Roman" panose="02020603050405020304" pitchFamily="18" charset="0"/>
              </a:rPr>
              <a:t>Một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nhà</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tư</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đầu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tư</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vào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lĩnh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vực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công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nghiệp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quy</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mô</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tư</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đầu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tư</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xuất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là</a:t>
            </a:r>
            <a:r>
              <a:rPr lang="en-US" dirty="0">
                <a:latin typeface="Times New Roman" panose="02020603050405020304" pitchFamily="18" charset="0"/>
                <a:ea typeface="Calibri" panose="020F0502020204030204" pitchFamily="34" charset="0"/>
                <a:cs typeface="Times New Roman" panose="02020603050405020304" pitchFamily="18" charset="0"/>
              </a:rPr>
              <a:t> 50.000$, </a:t>
            </a:r>
            <a:r>
              <a:rPr lang="en-US" dirty="0" err="1">
                <a:latin typeface="Times New Roman" panose="02020603050405020304" pitchFamily="18" charset="0"/>
                <a:ea typeface="Calibri" panose="020F0502020204030204" pitchFamily="34" charset="0"/>
                <a:cs typeface="Times New Roman" panose="02020603050405020304" pitchFamily="18" charset="0"/>
              </a:rPr>
              <a:t>cấu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tạo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hữu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cơ</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tư</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là</a:t>
            </a:r>
            <a:r>
              <a:rPr lang="en-US" dirty="0">
                <a:latin typeface="Times New Roman" panose="02020603050405020304" pitchFamily="18" charset="0"/>
                <a:ea typeface="Calibri" panose="020F0502020204030204" pitchFamily="34" charset="0"/>
                <a:cs typeface="Times New Roman" panose="02020603050405020304" pitchFamily="18" charset="0"/>
              </a:rPr>
              <a:t> 6/4 </a:t>
            </a:r>
            <a:r>
              <a:rPr lang="en-US" dirty="0" err="1">
                <a:latin typeface="Times New Roman" panose="02020603050405020304" pitchFamily="18" charset="0"/>
                <a:ea typeface="Calibri" panose="020F0502020204030204" pitchFamily="34" charset="0"/>
                <a:cs typeface="Times New Roman" panose="02020603050405020304" pitchFamily="18" charset="0"/>
              </a:rPr>
              <a:t>và</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tỷ</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suất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giá</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trị</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thặng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dư</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là</a:t>
            </a:r>
            <a:r>
              <a:rPr lang="en-US" dirty="0">
                <a:latin typeface="Times New Roman" panose="02020603050405020304" pitchFamily="18" charset="0"/>
                <a:ea typeface="Calibri" panose="020F0502020204030204" pitchFamily="34" charset="0"/>
                <a:cs typeface="Times New Roman" panose="02020603050405020304" pitchFamily="18" charset="0"/>
              </a:rPr>
              <a:t> 200%. </a:t>
            </a:r>
            <a:r>
              <a:rPr lang="en-US" dirty="0" err="1">
                <a:latin typeface="Times New Roman" panose="02020603050405020304" pitchFamily="18" charset="0"/>
                <a:ea typeface="Calibri" panose="020F0502020204030204" pitchFamily="34" charset="0"/>
                <a:cs typeface="Times New Roman" panose="02020603050405020304" pitchFamily="18" charset="0"/>
              </a:rPr>
              <a:t>Nếu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không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tư</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thương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nghiệp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tham</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gia</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thì</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lợi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nhuận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của</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tư</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bản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công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nghiệp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sẽ</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là</a:t>
            </a:r>
            <a:r>
              <a:rPr lang="en-US" dirty="0">
                <a:latin typeface="Times New Roman" panose="02020603050405020304" pitchFamily="18" charset="0"/>
                <a:ea typeface="Calibri" panose="020F0502020204030204" pitchFamily="34" charset="0"/>
                <a:cs typeface="Times New Roman" panose="02020603050405020304" pitchFamily="18" charset="0"/>
              </a:rPr>
              <a:t> bao </a:t>
            </a:r>
            <a:r>
              <a:rPr lang="en-US" dirty="0" err="1">
                <a:latin typeface="Times New Roman" panose="02020603050405020304" pitchFamily="18" charset="0"/>
                <a:ea typeface="Calibri" panose="020F0502020204030204" pitchFamily="34" charset="0"/>
                <a:cs typeface="Times New Roman" panose="02020603050405020304" pitchFamily="18" charset="0"/>
              </a:rPr>
              <a:t>nhiêu</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6257ADE3-E71E-4468-90EA-3009497BF64A}"/>
              </a:ext>
            </a:extLst>
          </p:cNvPr>
          <p:cNvSpPr txBox="1"/>
          <p:nvPr/>
        </p:nvSpPr>
        <p:spPr>
          <a:xfrm>
            <a:off x="782781" y="2050473"/>
            <a:ext cx="10626437" cy="3416320"/>
          </a:xfrm>
          <a:prstGeom prst="rect">
            <a:avLst/>
          </a:prstGeom>
          <a:noFill/>
        </p:spPr>
        <p:txBody>
          <a:bodyPr wrap="square" rtlCol="0">
            <a:spAutoFit/>
          </a:bodyPr>
          <a:lstStyle/>
          <a:p>
            <a:r>
              <a:rPr lang="en-US" sz="2400" dirty="0"/>
              <a:t>Ta </a:t>
            </a:r>
            <a:r>
              <a:rPr lang="en-US" sz="2400" dirty="0" err="1"/>
              <a:t>có</a:t>
            </a:r>
            <a:r>
              <a:rPr lang="en-US" sz="2400" dirty="0"/>
              <a:t>: </a:t>
            </a:r>
          </a:p>
          <a:p>
            <a:r>
              <a:rPr lang="en-US" sz="2400" dirty="0"/>
              <a:t>	- </a:t>
            </a:r>
            <a:r>
              <a:rPr lang="en-US" sz="2400" dirty="0" err="1"/>
              <a:t>Tư</a:t>
            </a:r>
            <a:r>
              <a:rPr lang="en-US" sz="2400" dirty="0"/>
              <a:t> </a:t>
            </a:r>
            <a:r>
              <a:rPr lang="en-US" sz="2400" dirty="0" err="1"/>
              <a:t>bản</a:t>
            </a:r>
            <a:r>
              <a:rPr lang="en-US" sz="2400" dirty="0"/>
              <a:t> </a:t>
            </a:r>
            <a:r>
              <a:rPr lang="en-US" sz="2400" dirty="0" err="1"/>
              <a:t>đầu</a:t>
            </a:r>
            <a:r>
              <a:rPr lang="en-US" sz="2400" dirty="0"/>
              <a:t> </a:t>
            </a:r>
            <a:r>
              <a:rPr lang="en-US" sz="2400" dirty="0" err="1"/>
              <a:t>tư</a:t>
            </a:r>
            <a:r>
              <a:rPr lang="en-US" sz="2400" dirty="0"/>
              <a:t>:  k=c + v = 50.000$</a:t>
            </a:r>
          </a:p>
          <a:p>
            <a:r>
              <a:rPr lang="en-US" sz="2400" dirty="0"/>
              <a:t>	- </a:t>
            </a:r>
            <a:r>
              <a:rPr lang="en-US" sz="2400" dirty="0" err="1"/>
              <a:t>Cấu</a:t>
            </a:r>
            <a:r>
              <a:rPr lang="en-US" sz="2400" dirty="0"/>
              <a:t> </a:t>
            </a:r>
            <a:r>
              <a:rPr lang="en-US" sz="2400" dirty="0" err="1"/>
              <a:t>tạo</a:t>
            </a:r>
            <a:r>
              <a:rPr lang="en-US" sz="2400" dirty="0"/>
              <a:t> </a:t>
            </a:r>
            <a:r>
              <a:rPr lang="en-US" sz="2400" dirty="0" err="1"/>
              <a:t>hữu</a:t>
            </a:r>
            <a:r>
              <a:rPr lang="en-US" sz="2400" dirty="0"/>
              <a:t> </a:t>
            </a:r>
            <a:r>
              <a:rPr lang="en-US" sz="2400" dirty="0" err="1"/>
              <a:t>cơ</a:t>
            </a:r>
            <a:r>
              <a:rPr lang="en-US" sz="2400" dirty="0"/>
              <a:t>: c/v = 6/4 =&gt; c=(6/4)v</a:t>
            </a:r>
          </a:p>
          <a:p>
            <a:r>
              <a:rPr lang="en-US" sz="2400" dirty="0"/>
              <a:t>	ta </a:t>
            </a:r>
            <a:r>
              <a:rPr lang="en-US" sz="2400" dirty="0" err="1"/>
              <a:t>có</a:t>
            </a:r>
            <a:r>
              <a:rPr lang="en-US" sz="2400" dirty="0"/>
              <a:t>: k=(6/4)v + v = 50.000$ =&gt; 2.5v = 50.000 =&gt; v = 50.000/2.5= 20.000$</a:t>
            </a:r>
          </a:p>
          <a:p>
            <a:r>
              <a:rPr lang="en-US" sz="2400" dirty="0" err="1"/>
              <a:t>Bên</a:t>
            </a:r>
            <a:r>
              <a:rPr lang="en-US" sz="2400" dirty="0"/>
              <a:t> </a:t>
            </a:r>
            <a:r>
              <a:rPr lang="en-US" sz="2400" dirty="0" err="1"/>
              <a:t>cạnh</a:t>
            </a:r>
            <a:r>
              <a:rPr lang="en-US" sz="2400" dirty="0"/>
              <a:t> </a:t>
            </a:r>
            <a:r>
              <a:rPr lang="en-US" sz="2400" dirty="0" err="1"/>
              <a:t>đó</a:t>
            </a:r>
            <a:r>
              <a:rPr lang="en-US" sz="2400" dirty="0"/>
              <a:t> ta </a:t>
            </a:r>
            <a:r>
              <a:rPr lang="en-US" sz="2400" dirty="0" err="1"/>
              <a:t>có</a:t>
            </a:r>
            <a:r>
              <a:rPr lang="en-US" sz="2400" dirty="0"/>
              <a:t>: m’ = 200%   m’=(m/v)*100%=2    =&gt;m/v=2  =&gt; m = 2v = 40.000$</a:t>
            </a:r>
          </a:p>
          <a:p>
            <a:r>
              <a:rPr lang="en-US" sz="2400" dirty="0" err="1"/>
              <a:t>Nếu</a:t>
            </a:r>
            <a:r>
              <a:rPr lang="en-US" sz="2400" dirty="0"/>
              <a:t> </a:t>
            </a:r>
            <a:r>
              <a:rPr lang="en-US" sz="2400" dirty="0" err="1"/>
              <a:t>không</a:t>
            </a:r>
            <a:r>
              <a:rPr lang="en-US" sz="2400" dirty="0"/>
              <a:t> </a:t>
            </a:r>
            <a:r>
              <a:rPr lang="en-US" sz="2400" dirty="0" err="1"/>
              <a:t>có</a:t>
            </a:r>
            <a:r>
              <a:rPr lang="en-US" sz="2400" dirty="0"/>
              <a:t> </a:t>
            </a:r>
            <a:r>
              <a:rPr lang="en-US" sz="2400" dirty="0" err="1"/>
              <a:t>tư</a:t>
            </a:r>
            <a:r>
              <a:rPr lang="en-US" sz="2400" dirty="0"/>
              <a:t> </a:t>
            </a:r>
            <a:r>
              <a:rPr lang="en-US" sz="2400" dirty="0" err="1"/>
              <a:t>bản</a:t>
            </a:r>
            <a:r>
              <a:rPr lang="en-US" sz="2400" dirty="0"/>
              <a:t> </a:t>
            </a:r>
            <a:r>
              <a:rPr lang="en-US" sz="2400" dirty="0" err="1"/>
              <a:t>thương</a:t>
            </a:r>
            <a:r>
              <a:rPr lang="en-US" sz="2400" dirty="0"/>
              <a:t> </a:t>
            </a:r>
            <a:r>
              <a:rPr lang="en-US" sz="2400" dirty="0" err="1"/>
              <a:t>nghiệp</a:t>
            </a:r>
            <a:r>
              <a:rPr lang="en-US" sz="2400" dirty="0"/>
              <a:t> </a:t>
            </a:r>
            <a:r>
              <a:rPr lang="en-US" sz="2400" dirty="0" err="1"/>
              <a:t>tham</a:t>
            </a:r>
            <a:r>
              <a:rPr lang="en-US" sz="2400" dirty="0"/>
              <a:t> </a:t>
            </a:r>
            <a:r>
              <a:rPr lang="en-US" sz="2400" dirty="0" err="1"/>
              <a:t>gia</a:t>
            </a:r>
            <a:r>
              <a:rPr lang="en-US" sz="2400" dirty="0"/>
              <a:t> </a:t>
            </a:r>
            <a:r>
              <a:rPr lang="en-US" sz="2400" dirty="0" err="1"/>
              <a:t>vào</a:t>
            </a:r>
            <a:r>
              <a:rPr lang="en-US" sz="2400" dirty="0"/>
              <a:t> </a:t>
            </a:r>
            <a:r>
              <a:rPr lang="en-US" sz="2400" dirty="0" err="1"/>
              <a:t>thì</a:t>
            </a:r>
            <a:r>
              <a:rPr lang="en-US" sz="2400" dirty="0"/>
              <a:t> </a:t>
            </a:r>
            <a:r>
              <a:rPr lang="en-US" sz="2400" dirty="0" err="1"/>
              <a:t>lợi</a:t>
            </a:r>
            <a:r>
              <a:rPr lang="en-US" sz="2400" dirty="0"/>
              <a:t> </a:t>
            </a:r>
            <a:r>
              <a:rPr lang="en-US" sz="2400" dirty="0" err="1"/>
              <a:t>nhuận</a:t>
            </a:r>
            <a:r>
              <a:rPr lang="en-US" sz="2400" dirty="0"/>
              <a:t> </a:t>
            </a:r>
            <a:r>
              <a:rPr lang="en-US" sz="2400" dirty="0" err="1"/>
              <a:t>của</a:t>
            </a:r>
            <a:r>
              <a:rPr lang="en-US" sz="2400" dirty="0"/>
              <a:t> </a:t>
            </a:r>
            <a:r>
              <a:rPr lang="en-US" sz="2400" dirty="0" err="1"/>
              <a:t>nhà</a:t>
            </a:r>
            <a:r>
              <a:rPr lang="en-US" sz="2400" dirty="0"/>
              <a:t> </a:t>
            </a:r>
            <a:r>
              <a:rPr lang="en-US" sz="2400" dirty="0" err="1"/>
              <a:t>tư</a:t>
            </a:r>
            <a:r>
              <a:rPr lang="en-US" sz="2400" dirty="0"/>
              <a:t> </a:t>
            </a:r>
            <a:r>
              <a:rPr lang="en-US" sz="2400" dirty="0" err="1"/>
              <a:t>bản</a:t>
            </a:r>
            <a:r>
              <a:rPr lang="en-US" sz="2400" dirty="0"/>
              <a:t> </a:t>
            </a:r>
            <a:r>
              <a:rPr lang="en-US" sz="2400" dirty="0" err="1"/>
              <a:t>thu</a:t>
            </a:r>
            <a:r>
              <a:rPr lang="en-US" sz="2400" dirty="0"/>
              <a:t> </a:t>
            </a:r>
            <a:r>
              <a:rPr lang="en-US" sz="2400" dirty="0" err="1"/>
              <a:t>được</a:t>
            </a:r>
            <a:r>
              <a:rPr lang="en-US" sz="2400" dirty="0"/>
              <a:t> </a:t>
            </a:r>
            <a:r>
              <a:rPr lang="en-US" sz="2400" dirty="0" err="1"/>
              <a:t>bằng</a:t>
            </a:r>
            <a:r>
              <a:rPr lang="en-US" sz="2400" dirty="0"/>
              <a:t> </a:t>
            </a:r>
            <a:r>
              <a:rPr lang="en-US" sz="2400" dirty="0" err="1"/>
              <a:t>với</a:t>
            </a:r>
            <a:r>
              <a:rPr lang="en-US" sz="2400" dirty="0"/>
              <a:t> </a:t>
            </a:r>
            <a:r>
              <a:rPr lang="en-US" sz="2400" dirty="0" err="1"/>
              <a:t>giá</a:t>
            </a:r>
            <a:r>
              <a:rPr lang="en-US" sz="2400" dirty="0"/>
              <a:t> </a:t>
            </a:r>
            <a:r>
              <a:rPr lang="en-US" sz="2400" dirty="0" err="1"/>
              <a:t>trị</a:t>
            </a:r>
            <a:r>
              <a:rPr lang="en-US" sz="2400" dirty="0"/>
              <a:t> </a:t>
            </a:r>
            <a:r>
              <a:rPr lang="en-US" sz="2400" dirty="0" err="1"/>
              <a:t>thặng</a:t>
            </a:r>
            <a:r>
              <a:rPr lang="en-US" sz="2400" dirty="0"/>
              <a:t> </a:t>
            </a:r>
            <a:r>
              <a:rPr lang="en-US" sz="2400" dirty="0" err="1"/>
              <a:t>dư</a:t>
            </a:r>
            <a:r>
              <a:rPr lang="en-US" sz="2400" dirty="0"/>
              <a:t> </a:t>
            </a:r>
            <a:r>
              <a:rPr lang="en-US" sz="2400" dirty="0" err="1"/>
              <a:t>nhà</a:t>
            </a:r>
            <a:r>
              <a:rPr lang="en-US" sz="2400" dirty="0"/>
              <a:t> </a:t>
            </a:r>
            <a:r>
              <a:rPr lang="en-US" sz="2400" dirty="0" err="1"/>
              <a:t>tư</a:t>
            </a:r>
            <a:r>
              <a:rPr lang="en-US" sz="2400" dirty="0"/>
              <a:t> </a:t>
            </a:r>
            <a:r>
              <a:rPr lang="en-US" sz="2400" dirty="0" err="1"/>
              <a:t>bản</a:t>
            </a:r>
            <a:r>
              <a:rPr lang="en-US" sz="2400" dirty="0"/>
              <a:t> </a:t>
            </a:r>
            <a:r>
              <a:rPr lang="en-US" sz="2400" dirty="0" err="1"/>
              <a:t>công</a:t>
            </a:r>
            <a:r>
              <a:rPr lang="en-US" sz="2400" dirty="0"/>
              <a:t> </a:t>
            </a:r>
            <a:r>
              <a:rPr lang="en-US" sz="2400" dirty="0" err="1"/>
              <a:t>nghiệp</a:t>
            </a:r>
            <a:r>
              <a:rPr lang="en-US" sz="2400" dirty="0"/>
              <a:t> </a:t>
            </a:r>
            <a:r>
              <a:rPr lang="en-US" sz="2400" dirty="0" err="1"/>
              <a:t>thu</a:t>
            </a:r>
            <a:r>
              <a:rPr lang="en-US" sz="2400" dirty="0"/>
              <a:t> </a:t>
            </a:r>
            <a:r>
              <a:rPr lang="en-US" sz="2400" dirty="0" err="1"/>
              <a:t>được</a:t>
            </a:r>
            <a:r>
              <a:rPr lang="en-US" sz="2400" dirty="0"/>
              <a:t>.</a:t>
            </a:r>
          </a:p>
          <a:p>
            <a:r>
              <a:rPr lang="en-US" sz="2400" dirty="0" err="1"/>
              <a:t>Vậy</a:t>
            </a:r>
            <a:r>
              <a:rPr lang="en-US" sz="2400" dirty="0"/>
              <a:t> p = m = 40.000$</a:t>
            </a:r>
          </a:p>
          <a:p>
            <a:endParaRPr lang="en-US" sz="2400" dirty="0"/>
          </a:p>
        </p:txBody>
      </p:sp>
    </p:spTree>
    <p:extLst>
      <p:ext uri="{BB962C8B-B14F-4D97-AF65-F5344CB8AC3E}">
        <p14:creationId xmlns:p14="http://schemas.microsoft.com/office/powerpoint/2010/main" val="1423236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FBD1BD-E464-47AA-9B91-13BA9D3E163A}"/>
              </a:ext>
            </a:extLst>
          </p:cNvPr>
          <p:cNvSpPr txBox="1"/>
          <p:nvPr/>
        </p:nvSpPr>
        <p:spPr>
          <a:xfrm>
            <a:off x="775855" y="1537855"/>
            <a:ext cx="10986654" cy="2862322"/>
          </a:xfrm>
          <a:prstGeom prst="rect">
            <a:avLst/>
          </a:prstGeom>
          <a:noFill/>
        </p:spPr>
        <p:txBody>
          <a:bodyPr wrap="square" rtlCol="0">
            <a:spAutoFit/>
          </a:bodyPr>
          <a:lstStyle/>
          <a:p>
            <a:r>
              <a:rPr lang="vi-VN" sz="3600" dirty="0"/>
              <a:t>Bài 5: Tư bản đầu tư 900. 000 đô la, trong đó bỏ vào tư liệu sản xuất là 780.000 đô la. Số công nhân làm thuê thu hút vào sản xuất là 400 người. Hãy xác định khối lượng giá trị mới do 1 công nhân tạo ra, biết rằng tỷ suất giá trị thặng dư là 200%.</a:t>
            </a:r>
            <a:endParaRPr lang="en-US" sz="3600" dirty="0"/>
          </a:p>
        </p:txBody>
      </p:sp>
    </p:spTree>
    <p:extLst>
      <p:ext uri="{BB962C8B-B14F-4D97-AF65-F5344CB8AC3E}">
        <p14:creationId xmlns:p14="http://schemas.microsoft.com/office/powerpoint/2010/main" val="94001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279FCD9-5C62-493C-A8F8-864BB3B6C96D}"/>
              </a:ext>
            </a:extLst>
          </p:cNvPr>
          <p:cNvSpPr/>
          <p:nvPr/>
        </p:nvSpPr>
        <p:spPr>
          <a:xfrm>
            <a:off x="3158837" y="529027"/>
            <a:ext cx="6096000" cy="1477328"/>
          </a:xfrm>
          <a:prstGeom prst="rect">
            <a:avLst/>
          </a:prstGeom>
        </p:spPr>
        <p:txBody>
          <a:bodyPr>
            <a:spAutoFit/>
          </a:bodyPr>
          <a:lstStyle/>
          <a:p>
            <a:r>
              <a:rPr lang="vi-VN" dirty="0"/>
              <a:t>Bài 5: Tư bản đầu tư 900. 000 đô la, trong đó bỏ vào tư liệu sản xuất là 780.000 đô la. Số công nhân làm thuê thu hút vào sản xuất là 400 người. Hãy xác định khối lượng giá trị mới do 1 công nhân tạo ra, biết rằng tỷ suất giá trị thặng dư là 200%.</a:t>
            </a:r>
            <a:endParaRPr lang="en-US" dirty="0"/>
          </a:p>
        </p:txBody>
      </p:sp>
      <p:sp>
        <p:nvSpPr>
          <p:cNvPr id="5" name="TextBox 4">
            <a:extLst>
              <a:ext uri="{FF2B5EF4-FFF2-40B4-BE49-F238E27FC236}">
                <a16:creationId xmlns:a16="http://schemas.microsoft.com/office/drawing/2014/main" id="{46444840-7E66-4D09-B30A-C122E8C0B84D}"/>
              </a:ext>
            </a:extLst>
          </p:cNvPr>
          <p:cNvSpPr txBox="1"/>
          <p:nvPr/>
        </p:nvSpPr>
        <p:spPr>
          <a:xfrm>
            <a:off x="817418" y="2258291"/>
            <a:ext cx="10681855" cy="3539430"/>
          </a:xfrm>
          <a:prstGeom prst="rect">
            <a:avLst/>
          </a:prstGeom>
          <a:noFill/>
        </p:spPr>
        <p:txBody>
          <a:bodyPr wrap="square" rtlCol="0">
            <a:spAutoFit/>
          </a:bodyPr>
          <a:lstStyle/>
          <a:p>
            <a:r>
              <a:rPr lang="en-US" sz="2800" dirty="0"/>
              <a:t> </a:t>
            </a:r>
            <a:r>
              <a:rPr lang="vi-VN" sz="2800" dirty="0"/>
              <a:t>Tư bản đầu tư </a:t>
            </a:r>
            <a:r>
              <a:rPr lang="en-US" sz="2800" dirty="0"/>
              <a:t>: k= </a:t>
            </a:r>
            <a:r>
              <a:rPr lang="en-US" sz="2800" dirty="0" err="1"/>
              <a:t>c+v</a:t>
            </a:r>
            <a:r>
              <a:rPr lang="en-US" sz="2800" dirty="0"/>
              <a:t>=900.000$</a:t>
            </a:r>
          </a:p>
          <a:p>
            <a:r>
              <a:rPr lang="vi-VN" sz="2800" dirty="0"/>
              <a:t>tư liệu sản xuất</a:t>
            </a:r>
            <a:r>
              <a:rPr lang="en-US" sz="2800" dirty="0"/>
              <a:t>: c= 780.000$</a:t>
            </a:r>
          </a:p>
          <a:p>
            <a:r>
              <a:rPr lang="en-US" sz="2800" dirty="0" err="1"/>
              <a:t>v+m</a:t>
            </a:r>
            <a:r>
              <a:rPr lang="en-US" sz="2800" dirty="0"/>
              <a:t>=?(1cn)</a:t>
            </a:r>
          </a:p>
          <a:p>
            <a:pPr marL="285750" indent="-285750">
              <a:buFont typeface="Symbol" panose="05050102010706020507" pitchFamily="18" charset="2"/>
              <a:buChar char="Þ"/>
            </a:pPr>
            <a:r>
              <a:rPr lang="en-US" sz="2800" dirty="0"/>
              <a:t>v=900.000 – 780.000= 120.000$</a:t>
            </a:r>
          </a:p>
          <a:p>
            <a:r>
              <a:rPr lang="en-US" sz="2800" dirty="0" err="1"/>
              <a:t>Mà</a:t>
            </a:r>
            <a:r>
              <a:rPr lang="en-US" sz="2800" dirty="0"/>
              <a:t> m’=(m/v).100%=200% =&gt;m=2v= 2x 120.000= 240.000$</a:t>
            </a:r>
          </a:p>
          <a:p>
            <a:r>
              <a:rPr lang="en-US" sz="2800" dirty="0" err="1"/>
              <a:t>Giá</a:t>
            </a:r>
            <a:r>
              <a:rPr lang="en-US" sz="2800" dirty="0"/>
              <a:t> </a:t>
            </a:r>
            <a:r>
              <a:rPr lang="en-US" sz="2800" dirty="0" err="1"/>
              <a:t>trị</a:t>
            </a:r>
            <a:r>
              <a:rPr lang="en-US" sz="2800" dirty="0"/>
              <a:t> </a:t>
            </a:r>
            <a:r>
              <a:rPr lang="en-US" sz="2800" dirty="0" err="1"/>
              <a:t>mới</a:t>
            </a:r>
            <a:r>
              <a:rPr lang="en-US" sz="2800" dirty="0"/>
              <a:t> do 400 </a:t>
            </a:r>
            <a:r>
              <a:rPr lang="en-US" sz="2800" dirty="0" err="1"/>
              <a:t>công</a:t>
            </a:r>
            <a:r>
              <a:rPr lang="en-US" sz="2800" dirty="0"/>
              <a:t> </a:t>
            </a:r>
            <a:r>
              <a:rPr lang="en-US" sz="2800" dirty="0" err="1"/>
              <a:t>nhân</a:t>
            </a:r>
            <a:r>
              <a:rPr lang="en-US" sz="2800" dirty="0"/>
              <a:t> </a:t>
            </a:r>
            <a:r>
              <a:rPr lang="en-US" sz="2800" dirty="0" err="1"/>
              <a:t>tạo</a:t>
            </a:r>
            <a:r>
              <a:rPr lang="en-US" sz="2800" dirty="0"/>
              <a:t> ra </a:t>
            </a:r>
            <a:r>
              <a:rPr lang="en-US" sz="2800" dirty="0" err="1"/>
              <a:t>là</a:t>
            </a:r>
            <a:r>
              <a:rPr lang="en-US" sz="2800" dirty="0"/>
              <a:t> : </a:t>
            </a:r>
            <a:r>
              <a:rPr lang="en-US" sz="2800" dirty="0" err="1"/>
              <a:t>v+m</a:t>
            </a:r>
            <a:r>
              <a:rPr lang="en-US" sz="2800" dirty="0"/>
              <a:t>=120.000+240.000=360.000$</a:t>
            </a:r>
          </a:p>
          <a:p>
            <a:r>
              <a:rPr lang="en-US" sz="2800" dirty="0" err="1"/>
              <a:t>Giá</a:t>
            </a:r>
            <a:r>
              <a:rPr lang="en-US" sz="2800" dirty="0"/>
              <a:t> </a:t>
            </a:r>
            <a:r>
              <a:rPr lang="en-US" sz="2800" dirty="0" err="1"/>
              <a:t>trị</a:t>
            </a:r>
            <a:r>
              <a:rPr lang="en-US" sz="2800" dirty="0"/>
              <a:t> </a:t>
            </a:r>
            <a:r>
              <a:rPr lang="en-US" sz="2800" dirty="0" err="1"/>
              <a:t>mới</a:t>
            </a:r>
            <a:r>
              <a:rPr lang="en-US" sz="2800" dirty="0"/>
              <a:t> do 1 </a:t>
            </a:r>
            <a:r>
              <a:rPr lang="en-US" sz="2800" dirty="0" err="1"/>
              <a:t>công</a:t>
            </a:r>
            <a:r>
              <a:rPr lang="en-US" sz="2800" dirty="0"/>
              <a:t> </a:t>
            </a:r>
            <a:r>
              <a:rPr lang="en-US" sz="2800" dirty="0" err="1"/>
              <a:t>nhân</a:t>
            </a:r>
            <a:r>
              <a:rPr lang="en-US" sz="2800" dirty="0"/>
              <a:t> </a:t>
            </a:r>
            <a:r>
              <a:rPr lang="en-US" sz="2800" dirty="0" err="1"/>
              <a:t>tạo</a:t>
            </a:r>
            <a:r>
              <a:rPr lang="en-US" sz="2800" dirty="0"/>
              <a:t> ra </a:t>
            </a:r>
            <a:r>
              <a:rPr lang="en-US" sz="2800" dirty="0" err="1"/>
              <a:t>là</a:t>
            </a:r>
            <a:r>
              <a:rPr lang="en-US" sz="2800" dirty="0"/>
              <a:t>: 360.000/400=900$</a:t>
            </a:r>
          </a:p>
        </p:txBody>
      </p:sp>
    </p:spTree>
    <p:extLst>
      <p:ext uri="{BB962C8B-B14F-4D97-AF65-F5344CB8AC3E}">
        <p14:creationId xmlns:p14="http://schemas.microsoft.com/office/powerpoint/2010/main" val="2511158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06DD8-A967-4CD0-9868-7435D08C3D57}"/>
              </a:ext>
            </a:extLst>
          </p:cNvPr>
          <p:cNvSpPr txBox="1"/>
          <p:nvPr/>
        </p:nvSpPr>
        <p:spPr>
          <a:xfrm>
            <a:off x="775855" y="512618"/>
            <a:ext cx="11000509" cy="1200329"/>
          </a:xfrm>
          <a:prstGeom prst="rect">
            <a:avLst/>
          </a:prstGeom>
          <a:noFill/>
        </p:spPr>
        <p:txBody>
          <a:bodyPr wrap="square" rtlCol="0">
            <a:spAutoFit/>
          </a:bodyPr>
          <a:lstStyle/>
          <a:p>
            <a:r>
              <a:rPr lang="en-US" sz="1800" dirty="0" err="1">
                <a:effectLst/>
                <a:latin typeface="Times New Roman" panose="02020603050405020304" pitchFamily="18" charset="0"/>
                <a:ea typeface="Times New Roman" panose="02020603050405020304" pitchFamily="18" charset="0"/>
              </a:rPr>
              <a:t>Tư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ứng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trước</a:t>
            </a:r>
            <a:r>
              <a:rPr lang="en-US" sz="1800" dirty="0">
                <a:effectLst/>
                <a:latin typeface="Times New Roman" panose="02020603050405020304" pitchFamily="18" charset="0"/>
                <a:ea typeface="Times New Roman" panose="02020603050405020304" pitchFamily="18" charset="0"/>
              </a:rPr>
              <a:t> 20 </a:t>
            </a:r>
            <a:r>
              <a:rPr lang="en-US" sz="1800" dirty="0" err="1">
                <a:effectLst/>
                <a:latin typeface="Times New Roman" panose="02020603050405020304" pitchFamily="18" charset="0"/>
                <a:ea typeface="Times New Roman" panose="02020603050405020304" pitchFamily="18" charset="0"/>
              </a:rPr>
              <a:t>đô</a:t>
            </a:r>
            <a:r>
              <a:rPr lang="en-US" sz="1800" dirty="0">
                <a:effectLst/>
                <a:latin typeface="Times New Roman" panose="02020603050405020304" pitchFamily="18" charset="0"/>
                <a:ea typeface="Times New Roman" panose="02020603050405020304" pitchFamily="18" charset="0"/>
              </a:rPr>
              <a:t> la. </a:t>
            </a:r>
            <a:r>
              <a:rPr lang="en-US" sz="1800" dirty="0" err="1">
                <a:effectLst/>
                <a:latin typeface="Times New Roman" panose="02020603050405020304" pitchFamily="18" charset="0"/>
                <a:ea typeface="Times New Roman" panose="02020603050405020304" pitchFamily="18" charset="0"/>
              </a:rPr>
              <a:t>Trong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đó</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bỏ</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xưởng</a:t>
            </a:r>
            <a:r>
              <a:rPr lang="en-US" sz="1800" dirty="0">
                <a:effectLst/>
                <a:latin typeface="Times New Roman" panose="02020603050405020304" pitchFamily="18" charset="0"/>
                <a:ea typeface="Times New Roman" panose="02020603050405020304" pitchFamily="18" charset="0"/>
              </a:rPr>
              <a:t> 6 </a:t>
            </a:r>
            <a:r>
              <a:rPr lang="en-US" sz="1800" dirty="0" err="1">
                <a:effectLst/>
                <a:latin typeface="Times New Roman" panose="02020603050405020304" pitchFamily="18" charset="0"/>
                <a:ea typeface="Times New Roman" panose="02020603050405020304" pitchFamily="18" charset="0"/>
              </a:rPr>
              <a:t>đô</a:t>
            </a:r>
            <a:r>
              <a:rPr lang="en-US" sz="1800" dirty="0">
                <a:effectLst/>
                <a:latin typeface="Times New Roman" panose="02020603050405020304" pitchFamily="18" charset="0"/>
                <a:ea typeface="Times New Roman" panose="02020603050405020304" pitchFamily="18" charset="0"/>
              </a:rPr>
              <a:t> la, </a:t>
            </a:r>
            <a:r>
              <a:rPr lang="en-US" sz="1800" dirty="0" err="1">
                <a:effectLst/>
                <a:latin typeface="Times New Roman" panose="02020603050405020304" pitchFamily="18" charset="0"/>
                <a:ea typeface="Times New Roman" panose="02020603050405020304" pitchFamily="18" charset="0"/>
              </a:rPr>
              <a:t>máy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móc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thiết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là</a:t>
            </a:r>
            <a:r>
              <a:rPr lang="en-US" sz="1800" dirty="0">
                <a:effectLst/>
                <a:latin typeface="Times New Roman" panose="02020603050405020304" pitchFamily="18" charset="0"/>
                <a:ea typeface="Times New Roman" panose="02020603050405020304" pitchFamily="18" charset="0"/>
              </a:rPr>
              <a:t> 2 </a:t>
            </a:r>
            <a:r>
              <a:rPr lang="en-US" sz="1800" dirty="0" err="1">
                <a:effectLst/>
                <a:latin typeface="Times New Roman" panose="02020603050405020304" pitchFamily="18" charset="0"/>
                <a:ea typeface="Times New Roman" panose="02020603050405020304" pitchFamily="18" charset="0"/>
              </a:rPr>
              <a:t>đô</a:t>
            </a:r>
            <a:r>
              <a:rPr lang="en-US" sz="1800" dirty="0">
                <a:effectLst/>
                <a:latin typeface="Times New Roman" panose="02020603050405020304" pitchFamily="18" charset="0"/>
                <a:ea typeface="Times New Roman" panose="02020603050405020304" pitchFamily="18" charset="0"/>
              </a:rPr>
              <a:t> la. </a:t>
            </a:r>
            <a:r>
              <a:rPr lang="en-US" sz="1800" dirty="0" err="1">
                <a:effectLst/>
                <a:latin typeface="Times New Roman" panose="02020603050405020304" pitchFamily="18" charset="0"/>
                <a:ea typeface="Times New Roman" panose="02020603050405020304" pitchFamily="18" charset="0"/>
              </a:rPr>
              <a:t>Giá</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của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nguyên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nhiên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và</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vật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liệu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phụ</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gấp</a:t>
            </a:r>
            <a:r>
              <a:rPr lang="en-US" sz="1800" dirty="0">
                <a:effectLst/>
                <a:latin typeface="Times New Roman" panose="02020603050405020304" pitchFamily="18" charset="0"/>
                <a:ea typeface="Times New Roman" panose="02020603050405020304" pitchFamily="18" charset="0"/>
              </a:rPr>
              <a:t> 4 </a:t>
            </a:r>
            <a:r>
              <a:rPr lang="en-US" sz="1800" dirty="0" err="1">
                <a:effectLst/>
                <a:latin typeface="Times New Roman" panose="02020603050405020304" pitchFamily="18" charset="0"/>
                <a:ea typeface="Times New Roman" panose="02020603050405020304" pitchFamily="18" charset="0"/>
              </a:rPr>
              <a:t>lần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giá</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trị</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sức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lao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động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Hãy</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xác</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định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cố</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định</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động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bất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biến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khả</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biến</a:t>
            </a:r>
            <a:r>
              <a:rPr lang="en-US" sz="1800" dirty="0">
                <a:effectLst/>
                <a:latin typeface="Times New Roman" panose="02020603050405020304" pitchFamily="18" charset="0"/>
                <a:ea typeface="Times New Roman" panose="02020603050405020304" pitchFamily="18" charset="0"/>
              </a:rPr>
              <a:t>.</a:t>
            </a:r>
          </a:p>
          <a:p>
            <a:endParaRPr lang="en-US" dirty="0"/>
          </a:p>
        </p:txBody>
      </p:sp>
      <p:sp>
        <p:nvSpPr>
          <p:cNvPr id="5" name="TextBox 4">
            <a:extLst>
              <a:ext uri="{FF2B5EF4-FFF2-40B4-BE49-F238E27FC236}">
                <a16:creationId xmlns:a16="http://schemas.microsoft.com/office/drawing/2014/main" id="{1439FBA2-41CE-4434-B87E-50CE2D3BFCA5}"/>
              </a:ext>
            </a:extLst>
          </p:cNvPr>
          <p:cNvSpPr txBox="1"/>
          <p:nvPr/>
        </p:nvSpPr>
        <p:spPr>
          <a:xfrm>
            <a:off x="900545" y="1712947"/>
            <a:ext cx="11000509" cy="2308324"/>
          </a:xfrm>
          <a:prstGeom prst="rect">
            <a:avLst/>
          </a:prstGeom>
          <a:noFill/>
        </p:spPr>
        <p:txBody>
          <a:bodyPr wrap="square" rtlCol="0">
            <a:spAutoFit/>
          </a:bodyPr>
          <a:lstStyle/>
          <a:p>
            <a:pPr marL="0" marR="0" indent="457200" algn="just">
              <a:spcBef>
                <a:spcPts val="0"/>
              </a:spcBef>
              <a:spcAft>
                <a:spcPts val="0"/>
              </a:spcAft>
            </a:pPr>
            <a:r>
              <a:rPr lang="en-US" sz="1800" dirty="0" err="1">
                <a:effectLst/>
                <a:latin typeface="Times New Roman" panose="02020603050405020304" pitchFamily="18" charset="0"/>
                <a:ea typeface="Times New Roman" panose="02020603050405020304" pitchFamily="18" charset="0"/>
              </a:rPr>
              <a:t>Tư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ứng</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trước</a:t>
            </a:r>
            <a:r>
              <a:rPr lang="en-US" sz="1800" dirty="0">
                <a:effectLst/>
                <a:latin typeface="Times New Roman" panose="02020603050405020304" pitchFamily="18" charset="0"/>
                <a:ea typeface="Times New Roman" panose="02020603050405020304" pitchFamily="18" charset="0"/>
              </a:rPr>
              <a:t>: k=</a:t>
            </a:r>
            <a:r>
              <a:rPr lang="en-US" sz="1800" dirty="0" err="1">
                <a:effectLst/>
                <a:latin typeface="Times New Roman" panose="02020603050405020304" pitchFamily="18" charset="0"/>
                <a:ea typeface="Times New Roman" panose="02020603050405020304" pitchFamily="18" charset="0"/>
              </a:rPr>
              <a:t>c+v</a:t>
            </a:r>
            <a:r>
              <a:rPr lang="en-US" sz="1800" dirty="0">
                <a:effectLst/>
                <a:latin typeface="Times New Roman" panose="02020603050405020304" pitchFamily="18" charset="0"/>
                <a:ea typeface="Times New Roman" panose="02020603050405020304" pitchFamily="18" charset="0"/>
              </a:rPr>
              <a:t>=20$</a:t>
            </a:r>
          </a:p>
          <a:p>
            <a:pPr marL="0" marR="0" indent="457200" algn="just">
              <a:spcBef>
                <a:spcPts val="0"/>
              </a:spcBef>
              <a:spcAft>
                <a:spcPts val="0"/>
              </a:spcAft>
            </a:pPr>
            <a:r>
              <a:rPr lang="en-US" sz="1800" dirty="0" err="1">
                <a:effectLst/>
                <a:latin typeface="Times New Roman" panose="02020603050405020304" pitchFamily="18" charset="0"/>
                <a:ea typeface="Times New Roman" panose="02020603050405020304" pitchFamily="18" charset="0"/>
              </a:rPr>
              <a:t>Tư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cố</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định</a:t>
            </a:r>
            <a:r>
              <a:rPr lang="en-US" sz="1800" dirty="0">
                <a:effectLst/>
                <a:latin typeface="Times New Roman" panose="02020603050405020304" pitchFamily="18" charset="0"/>
                <a:ea typeface="Times New Roman" panose="02020603050405020304" pitchFamily="18" charset="0"/>
              </a:rPr>
              <a:t>: c</a:t>
            </a:r>
            <a:r>
              <a:rPr lang="en-US" sz="1800" baseline="-25000" dirty="0">
                <a:effectLst/>
                <a:latin typeface="Times New Roman" panose="02020603050405020304" pitchFamily="18" charset="0"/>
                <a:ea typeface="Times New Roman" panose="02020603050405020304" pitchFamily="18" charset="0"/>
              </a:rPr>
              <a:t>1</a:t>
            </a:r>
            <a:r>
              <a:rPr lang="en-US" sz="1800" dirty="0">
                <a:effectLst/>
                <a:latin typeface="Times New Roman" panose="02020603050405020304" pitchFamily="18" charset="0"/>
                <a:ea typeface="Times New Roman" panose="02020603050405020304" pitchFamily="18" charset="0"/>
              </a:rPr>
              <a:t>= 6 + 2=8$</a:t>
            </a:r>
          </a:p>
          <a:p>
            <a:pPr marL="0" marR="0" indent="457200" algn="just">
              <a:spcBef>
                <a:spcPts val="0"/>
              </a:spcBef>
              <a:spcAft>
                <a:spcPts val="0"/>
              </a:spcAft>
            </a:pPr>
            <a:r>
              <a:rPr lang="en-US" sz="1800" dirty="0" err="1">
                <a:effectLst/>
                <a:latin typeface="Times New Roman" panose="02020603050405020304" pitchFamily="18" charset="0"/>
                <a:ea typeface="Times New Roman" panose="02020603050405020304" pitchFamily="18" charset="0"/>
              </a:rPr>
              <a:t>Tư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lưu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động</a:t>
            </a:r>
            <a:r>
              <a:rPr lang="en-US" sz="1800" b="1"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t>
            </a:r>
            <a:r>
              <a:rPr lang="en-US" sz="1800" baseline="-25000" dirty="0">
                <a:effectLst/>
                <a:latin typeface="Times New Roman" panose="02020603050405020304" pitchFamily="18" charset="0"/>
                <a:ea typeface="Times New Roman" panose="02020603050405020304" pitchFamily="18" charset="0"/>
              </a:rPr>
              <a:t>2</a:t>
            </a:r>
            <a:r>
              <a:rPr lang="en-US" sz="1800" dirty="0">
                <a:effectLst/>
                <a:latin typeface="Times New Roman" panose="02020603050405020304" pitchFamily="18" charset="0"/>
                <a:ea typeface="Times New Roman" panose="02020603050405020304" pitchFamily="18" charset="0"/>
              </a:rPr>
              <a:t>+v=20-8=12$</a:t>
            </a:r>
          </a:p>
          <a:p>
            <a:pPr marL="0" marR="0" indent="457200"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c</a:t>
            </a:r>
            <a:r>
              <a:rPr lang="en-US" sz="1800" baseline="-25000" dirty="0">
                <a:effectLst/>
                <a:latin typeface="Times New Roman" panose="02020603050405020304" pitchFamily="18" charset="0"/>
                <a:ea typeface="Times New Roman" panose="02020603050405020304" pitchFamily="18" charset="0"/>
              </a:rPr>
              <a:t>2</a:t>
            </a:r>
            <a:r>
              <a:rPr lang="en-US" sz="1800" dirty="0">
                <a:effectLst/>
                <a:latin typeface="Times New Roman" panose="02020603050405020304" pitchFamily="18" charset="0"/>
                <a:ea typeface="Times New Roman" panose="02020603050405020304" pitchFamily="18" charset="0"/>
              </a:rPr>
              <a:t>=4v</a:t>
            </a:r>
          </a:p>
          <a:p>
            <a:pPr marL="0" marR="0" indent="457200" algn="just">
              <a:spcBef>
                <a:spcPts val="0"/>
              </a:spcBef>
              <a:spcAft>
                <a:spcPts val="0"/>
              </a:spcAft>
            </a:pPr>
            <a:r>
              <a:rPr lang="en-US" sz="1800" dirty="0">
                <a:effectLst/>
                <a:latin typeface="Times New Roman" panose="02020603050405020304" pitchFamily="18" charset="0"/>
                <a:ea typeface="Times New Roman" panose="02020603050405020304" pitchFamily="18" charset="0"/>
              </a:rPr>
              <a:t>=&gt;5v=12$</a:t>
            </a:r>
          </a:p>
          <a:p>
            <a:pPr marL="0" marR="0" indent="457200" algn="just">
              <a:spcBef>
                <a:spcPts val="0"/>
              </a:spcBef>
              <a:spcAft>
                <a:spcPts val="0"/>
              </a:spcAft>
            </a:pPr>
            <a:r>
              <a:rPr lang="en-US" sz="1800" dirty="0" err="1">
                <a:effectLst/>
                <a:latin typeface="Times New Roman" panose="02020603050405020304" pitchFamily="18" charset="0"/>
                <a:ea typeface="Times New Roman" panose="02020603050405020304" pitchFamily="18" charset="0"/>
              </a:rPr>
              <a:t>Tư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khả</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biến</a:t>
            </a:r>
            <a:r>
              <a:rPr lang="en-US" sz="1800" dirty="0">
                <a:effectLst/>
                <a:latin typeface="Times New Roman" panose="02020603050405020304" pitchFamily="18" charset="0"/>
                <a:ea typeface="Times New Roman" panose="02020603050405020304" pitchFamily="18" charset="0"/>
              </a:rPr>
              <a:t> v=12/5=2.4$</a:t>
            </a:r>
          </a:p>
          <a:p>
            <a:pPr marL="0" marR="0" indent="457200" algn="just">
              <a:spcBef>
                <a:spcPts val="0"/>
              </a:spcBef>
              <a:spcAft>
                <a:spcPts val="0"/>
              </a:spcAft>
            </a:pPr>
            <a:r>
              <a:rPr lang="en-US" sz="1800" dirty="0" err="1">
                <a:effectLst/>
                <a:latin typeface="Times New Roman" panose="02020603050405020304" pitchFamily="18" charset="0"/>
                <a:ea typeface="Times New Roman" panose="02020603050405020304" pitchFamily="18" charset="0"/>
              </a:rPr>
              <a:t>Tư</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bản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bất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biến</a:t>
            </a:r>
            <a:r>
              <a:rPr lang="en-US" sz="1800" dirty="0">
                <a:effectLst/>
                <a:latin typeface="Times New Roman" panose="02020603050405020304" pitchFamily="18" charset="0"/>
                <a:ea typeface="Times New Roman" panose="02020603050405020304" pitchFamily="18" charset="0"/>
              </a:rPr>
              <a:t> c=20-2.4=17.6$</a:t>
            </a:r>
          </a:p>
          <a:p>
            <a:endParaRPr lang="en-US" dirty="0"/>
          </a:p>
        </p:txBody>
      </p:sp>
    </p:spTree>
    <p:extLst>
      <p:ext uri="{BB962C8B-B14F-4D97-AF65-F5344CB8AC3E}">
        <p14:creationId xmlns:p14="http://schemas.microsoft.com/office/powerpoint/2010/main" val="134721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1810</Words>
  <Application>Microsoft Office PowerPoint</Application>
  <PresentationFormat>Widescreen</PresentationFormat>
  <Paragraphs>86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Symbol</vt:lpstr>
      <vt:lpstr>Times New Roman</vt:lpstr>
      <vt:lpstr>Times New Roman (Headings)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Thành Lương xuân</dc:creator>
  <cp:lastModifiedBy>Thành Lương xuân</cp:lastModifiedBy>
  <cp:revision>3</cp:revision>
  <dcterms:created xsi:type="dcterms:W3CDTF">2022-04-25T17:59:31Z</dcterms:created>
  <dcterms:modified xsi:type="dcterms:W3CDTF">2022-04-25T18:21:21Z</dcterms:modified>
</cp:coreProperties>
</file>