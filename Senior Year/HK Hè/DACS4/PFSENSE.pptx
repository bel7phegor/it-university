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3" r:id="rId5"/>
    <p:sldId id="262" r:id="rId6"/>
    <p:sldId id="259" r:id="rId7"/>
    <p:sldId id="260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6" d="100"/>
          <a:sy n="96" d="100"/>
        </p:scale>
        <p:origin x="-106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63F975-2E8E-455A-B167-F4949407675F}" type="datetimeFigureOut">
              <a:rPr lang="vi-VN" smtClean="0"/>
              <a:t>24/05/2025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74345-9A94-48A8-95CC-1C2EE5F3E63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35393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74345-9A94-48A8-95CC-1C2EE5F3E63E}" type="slidenum">
              <a:rPr lang="vi-VN" smtClean="0"/>
              <a:t>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98375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rPr dirty="0" err="1"/>
              <a:t>Giới</a:t>
            </a:r>
            <a:r>
              <a:rPr dirty="0"/>
              <a:t> </a:t>
            </a:r>
            <a:r>
              <a:rPr dirty="0" err="1"/>
              <a:t>thiệu</a:t>
            </a:r>
            <a:r>
              <a:rPr dirty="0"/>
              <a:t> </a:t>
            </a:r>
            <a:r>
              <a:rPr dirty="0" err="1"/>
              <a:t>về</a:t>
            </a:r>
            <a:r>
              <a:rPr dirty="0"/>
              <a:t> </a:t>
            </a:r>
            <a:r>
              <a:rPr dirty="0" err="1"/>
              <a:t>pfSense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ts val="3000"/>
              </a:lnSpc>
              <a:defRPr sz="2400">
                <a:solidFill>
                  <a:srgbClr val="3C3C3C"/>
                </a:solidFill>
              </a:defRPr>
            </a:pPr>
            <a:r>
              <a:rPr dirty="0" err="1"/>
              <a:t>Tường</a:t>
            </a:r>
            <a:r>
              <a:rPr dirty="0"/>
              <a:t> </a:t>
            </a:r>
            <a:r>
              <a:rPr dirty="0" err="1"/>
              <a:t>lửa</a:t>
            </a:r>
            <a:r>
              <a:rPr dirty="0"/>
              <a:t> </a:t>
            </a:r>
            <a:r>
              <a:rPr dirty="0" err="1"/>
              <a:t>mã</a:t>
            </a:r>
            <a:r>
              <a:rPr dirty="0"/>
              <a:t> </a:t>
            </a:r>
            <a:r>
              <a:rPr dirty="0" err="1" smtClean="0"/>
              <a:t>nguồn</a:t>
            </a:r>
            <a:r>
              <a:rPr dirty="0" smtClean="0"/>
              <a:t> </a:t>
            </a:r>
            <a:r>
              <a:rPr dirty="0" err="1"/>
              <a:t>mở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doanh</a:t>
            </a:r>
            <a:r>
              <a:rPr dirty="0"/>
              <a:t> </a:t>
            </a:r>
            <a:r>
              <a:rPr dirty="0" err="1" smtClean="0"/>
              <a:t>nghiệp</a:t>
            </a:r>
            <a:endParaRPr lang="vi-VN" dirty="0" smtClean="0"/>
          </a:p>
          <a:p>
            <a:pPr>
              <a:lnSpc>
                <a:spcPts val="3000"/>
              </a:lnSpc>
              <a:defRPr sz="2400">
                <a:solidFill>
                  <a:srgbClr val="3C3C3C"/>
                </a:solidFill>
              </a:defRPr>
            </a:pPr>
            <a:endParaRPr lang="vi-VN" dirty="0"/>
          </a:p>
          <a:p>
            <a:pPr>
              <a:lnSpc>
                <a:spcPts val="3000"/>
              </a:lnSpc>
              <a:defRPr sz="2400">
                <a:solidFill>
                  <a:srgbClr val="3C3C3C"/>
                </a:solidFill>
              </a:defRPr>
            </a:pPr>
            <a:r>
              <a:rPr lang="vi-VN" dirty="0" smtClean="0"/>
              <a:t>Thuyết trình: Nguyễn An Phúc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rPr dirty="0" err="1">
                <a:solidFill>
                  <a:schemeClr val="bg1"/>
                </a:solidFill>
              </a:rPr>
              <a:t>pfSense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là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gì</a:t>
            </a:r>
            <a:r>
              <a:rPr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009692"/>
          </a:xfrm>
        </p:spPr>
        <p:txBody>
          <a:bodyPr/>
          <a:lstStyle/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</a:t>
            </a:r>
            <a:r>
              <a:rPr dirty="0" err="1"/>
              <a:t>pfSense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điều</a:t>
            </a:r>
            <a:r>
              <a:rPr dirty="0"/>
              <a:t> </a:t>
            </a:r>
            <a:r>
              <a:rPr dirty="0" err="1"/>
              <a:t>hành</a:t>
            </a:r>
            <a:r>
              <a:rPr dirty="0"/>
              <a:t> Firewall/Router </a:t>
            </a:r>
            <a:r>
              <a:rPr dirty="0" err="1"/>
              <a:t>mã</a:t>
            </a:r>
            <a:r>
              <a:rPr dirty="0"/>
              <a:t> </a:t>
            </a:r>
            <a:r>
              <a:rPr dirty="0" err="1"/>
              <a:t>nguồn</a:t>
            </a:r>
            <a:r>
              <a:rPr dirty="0"/>
              <a:t> </a:t>
            </a:r>
            <a:r>
              <a:rPr dirty="0" err="1"/>
              <a:t>mở</a:t>
            </a:r>
            <a:r>
              <a:rPr dirty="0"/>
              <a:t> </a:t>
            </a:r>
            <a:r>
              <a:rPr dirty="0" err="1"/>
              <a:t>dựa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FreeBSD.</a:t>
            </a:r>
          </a:p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</a:t>
            </a:r>
            <a:r>
              <a:rPr dirty="0" err="1"/>
              <a:t>Dùng</a:t>
            </a:r>
            <a:r>
              <a:rPr dirty="0"/>
              <a:t>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quản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tường</a:t>
            </a:r>
            <a:r>
              <a:rPr dirty="0"/>
              <a:t> </a:t>
            </a:r>
            <a:r>
              <a:rPr dirty="0" err="1"/>
              <a:t>lửa</a:t>
            </a:r>
            <a:r>
              <a:rPr dirty="0"/>
              <a:t>, </a:t>
            </a:r>
            <a:r>
              <a:rPr dirty="0" err="1"/>
              <a:t>mạng</a:t>
            </a:r>
            <a:r>
              <a:rPr dirty="0"/>
              <a:t>, VPN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bảo</a:t>
            </a:r>
            <a:r>
              <a:rPr dirty="0"/>
              <a:t> </a:t>
            </a:r>
            <a:r>
              <a:rPr dirty="0" err="1"/>
              <a:t>mật</a:t>
            </a:r>
            <a:r>
              <a:rPr dirty="0"/>
              <a:t>.</a:t>
            </a:r>
          </a:p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</a:t>
            </a:r>
            <a:r>
              <a:rPr dirty="0" err="1"/>
              <a:t>Giao</a:t>
            </a:r>
            <a:r>
              <a:rPr dirty="0"/>
              <a:t> </a:t>
            </a:r>
            <a:r>
              <a:rPr dirty="0" err="1"/>
              <a:t>diện</a:t>
            </a:r>
            <a:r>
              <a:rPr dirty="0"/>
              <a:t> web, </a:t>
            </a:r>
            <a:r>
              <a:rPr dirty="0" err="1"/>
              <a:t>dễ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cần</a:t>
            </a:r>
            <a:r>
              <a:rPr dirty="0"/>
              <a:t> </a:t>
            </a:r>
            <a:r>
              <a:rPr dirty="0" err="1"/>
              <a:t>dòng</a:t>
            </a:r>
            <a:r>
              <a:rPr dirty="0"/>
              <a:t> </a:t>
            </a:r>
            <a:r>
              <a:rPr dirty="0" err="1"/>
              <a:t>lệnh</a:t>
            </a:r>
            <a:r>
              <a:rPr dirty="0" smtClean="0"/>
              <a:t>.</a:t>
            </a:r>
            <a:endParaRPr lang="vi-VN" dirty="0" smtClean="0"/>
          </a:p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endParaRPr dirty="0"/>
          </a:p>
        </p:txBody>
      </p:sp>
      <p:pic>
        <p:nvPicPr>
          <p:cNvPr id="5" name="Picture 4" descr="https://upload.wikimedia.org/wikipedia/commons/thumb/2/2a/PfSense_logo.svg/640px-PfSense_logo.svg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940" y="4047214"/>
            <a:ext cx="4580283" cy="1440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5477"/>
            <a:ext cx="8229600" cy="1143000"/>
          </a:xfrm>
        </p:spPr>
        <p:txBody>
          <a:bodyPr/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rPr dirty="0" err="1">
                <a:solidFill>
                  <a:schemeClr val="bg1"/>
                </a:solidFill>
              </a:rPr>
              <a:t>Các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chức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năng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chính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372" y="1075415"/>
            <a:ext cx="8229600" cy="2979750"/>
          </a:xfrm>
        </p:spPr>
        <p:txBody>
          <a:bodyPr>
            <a:noAutofit/>
          </a:bodyPr>
          <a:lstStyle/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r>
              <a:rPr sz="2400" dirty="0" smtClean="0">
                <a:latin typeface="+mj-lt"/>
              </a:rPr>
              <a:t>Alias:</a:t>
            </a:r>
            <a:endParaRPr lang="vi-VN" sz="2400" dirty="0" smtClean="0">
              <a:latin typeface="+mj-lt"/>
            </a:endParaRPr>
          </a:p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endParaRPr lang="vi-VN" sz="2400" dirty="0">
              <a:latin typeface="+mj-lt"/>
            </a:endParaRPr>
          </a:p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endParaRPr lang="vi-VN" sz="2400" dirty="0" smtClean="0">
              <a:latin typeface="+mj-lt"/>
            </a:endParaRPr>
          </a:p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endParaRPr lang="vi-VN" sz="2400" dirty="0">
              <a:latin typeface="+mj-lt"/>
            </a:endParaRPr>
          </a:p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endParaRPr lang="vi-VN" sz="2400" dirty="0" smtClean="0">
              <a:latin typeface="+mj-lt"/>
            </a:endParaRPr>
          </a:p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endParaRPr lang="vi-VN" sz="2400" dirty="0">
              <a:latin typeface="+mj-lt"/>
            </a:endParaRPr>
          </a:p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endParaRPr sz="2400" dirty="0">
              <a:latin typeface="+mj-lt"/>
            </a:endParaRPr>
          </a:p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r>
              <a:rPr lang="vi-VN" sz="2400" dirty="0">
                <a:latin typeface="+mj-lt"/>
              </a:rPr>
              <a:t>Là công cụ gom nhóm các địa chỉ IP, port, hoặc URL thành một tên duy nhất</a:t>
            </a:r>
            <a:r>
              <a:rPr lang="vi-VN" sz="2400" dirty="0" smtClean="0">
                <a:latin typeface="+mj-lt"/>
              </a:rPr>
              <a:t>.</a:t>
            </a:r>
            <a:endParaRPr lang="vi-VN" sz="2400" dirty="0">
              <a:latin typeface="+mj-lt"/>
            </a:endParaRPr>
          </a:p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r>
              <a:rPr lang="vi-VN" sz="2400" dirty="0">
                <a:latin typeface="+mj-lt"/>
              </a:rPr>
              <a:t>Giúp đơn giản hóa việc quản lý firewall rules và NAT</a:t>
            </a:r>
            <a:r>
              <a:rPr lang="vi-VN" sz="2400" dirty="0" smtClean="0">
                <a:latin typeface="+mj-lt"/>
              </a:rPr>
              <a:t>.</a:t>
            </a:r>
          </a:p>
          <a:p>
            <a:r>
              <a:rPr lang="vi-VN" sz="2400" dirty="0">
                <a:latin typeface="+mj-lt"/>
              </a:rPr>
              <a:t>Giảm số lượng rule trùng lặp.</a:t>
            </a:r>
          </a:p>
          <a:p>
            <a:r>
              <a:rPr lang="vi-VN" sz="2400" dirty="0">
                <a:latin typeface="+mj-lt"/>
              </a:rPr>
              <a:t>Dễ dàng cập nhật (chỉ sửa alias, không cần sửa từng rule).</a:t>
            </a:r>
          </a:p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endParaRPr lang="vi-VN" sz="2400" dirty="0" smtClean="0">
              <a:latin typeface="+mj-lt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1692273" y="1228477"/>
            <a:ext cx="6600935" cy="25563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rPr dirty="0" err="1">
                <a:solidFill>
                  <a:schemeClr val="bg1"/>
                </a:solidFill>
              </a:rPr>
              <a:t>Các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chức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năng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chính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26489"/>
            <a:ext cx="8229600" cy="4525963"/>
          </a:xfrm>
        </p:spPr>
        <p:txBody>
          <a:bodyPr>
            <a:noAutofit/>
          </a:bodyPr>
          <a:lstStyle/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r>
              <a:rPr sz="1800" dirty="0" smtClean="0">
                <a:latin typeface="+mj-lt"/>
              </a:rPr>
              <a:t>Firewall </a:t>
            </a:r>
            <a:r>
              <a:rPr sz="1800" dirty="0">
                <a:latin typeface="+mj-lt"/>
              </a:rPr>
              <a:t>Rules:</a:t>
            </a:r>
          </a:p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r>
              <a:rPr lang="vi-VN" sz="1800" dirty="0">
                <a:latin typeface="+mj-lt"/>
              </a:rPr>
              <a:t>Là các luật kiểm soát lưu lượng mạng (cho phép/chặn) dựa trên</a:t>
            </a:r>
            <a:r>
              <a:rPr lang="vi-VN" sz="1800" dirty="0" smtClean="0">
                <a:latin typeface="+mj-lt"/>
              </a:rPr>
              <a:t>:</a:t>
            </a:r>
            <a:endParaRPr lang="vi-VN" sz="1800" dirty="0">
              <a:latin typeface="+mj-lt"/>
            </a:endParaRPr>
          </a:p>
          <a:p>
            <a:pPr>
              <a:lnSpc>
                <a:spcPts val="3000"/>
              </a:lnSpc>
              <a:defRPr sz="2400">
                <a:solidFill>
                  <a:srgbClr val="3C3C3C"/>
                </a:solidFill>
              </a:defRPr>
            </a:pPr>
            <a:r>
              <a:rPr lang="vi-VN" sz="1800" dirty="0">
                <a:latin typeface="+mj-lt"/>
              </a:rPr>
              <a:t>Nguồn (Source) và Đích (Destination</a:t>
            </a:r>
            <a:r>
              <a:rPr lang="vi-VN" sz="1800" dirty="0" smtClean="0">
                <a:latin typeface="+mj-lt"/>
              </a:rPr>
              <a:t>).</a:t>
            </a:r>
            <a:endParaRPr lang="vi-VN" sz="1800" dirty="0">
              <a:latin typeface="+mj-lt"/>
            </a:endParaRPr>
          </a:p>
          <a:p>
            <a:pPr>
              <a:lnSpc>
                <a:spcPts val="3000"/>
              </a:lnSpc>
              <a:defRPr sz="2400">
                <a:solidFill>
                  <a:srgbClr val="3C3C3C"/>
                </a:solidFill>
              </a:defRPr>
            </a:pPr>
            <a:r>
              <a:rPr lang="vi-VN" sz="1800" dirty="0">
                <a:latin typeface="+mj-lt"/>
              </a:rPr>
              <a:t>Giao thức (TCP/UDP/ICMP</a:t>
            </a:r>
            <a:r>
              <a:rPr lang="vi-VN" sz="1800" dirty="0" smtClean="0">
                <a:latin typeface="+mj-lt"/>
              </a:rPr>
              <a:t>).</a:t>
            </a:r>
            <a:endParaRPr lang="vi-VN" sz="1800" dirty="0">
              <a:latin typeface="+mj-lt"/>
            </a:endParaRPr>
          </a:p>
          <a:p>
            <a:pPr>
              <a:lnSpc>
                <a:spcPts val="3000"/>
              </a:lnSpc>
              <a:defRPr sz="2400">
                <a:solidFill>
                  <a:srgbClr val="3C3C3C"/>
                </a:solidFill>
              </a:defRPr>
            </a:pPr>
            <a:r>
              <a:rPr lang="vi-VN" sz="1800" dirty="0">
                <a:latin typeface="+mj-lt"/>
              </a:rPr>
              <a:t>Cổng (Port</a:t>
            </a:r>
            <a:r>
              <a:rPr lang="vi-VN" sz="1800" dirty="0" smtClean="0">
                <a:latin typeface="+mj-lt"/>
              </a:rPr>
              <a:t>).</a:t>
            </a:r>
          </a:p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endParaRPr lang="en-US" sz="1800" dirty="0">
              <a:latin typeface="+mj-lt"/>
            </a:endParaRPr>
          </a:p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endParaRPr lang="vi-VN" sz="1800" dirty="0" smtClean="0">
              <a:latin typeface="+mj-lt"/>
            </a:endParaRPr>
          </a:p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endParaRPr lang="en-US" sz="1800" dirty="0" smtClean="0">
              <a:latin typeface="+mj-lt"/>
            </a:endParaRPr>
          </a:p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loại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rules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pfSense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  <a:endParaRPr lang="vi-VN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r>
              <a:rPr lang="vi-VN" sz="1800" dirty="0">
                <a:latin typeface="+mj-lt"/>
              </a:rPr>
              <a:t>Floating Rules: Áp dụng cho nhiều interface (vd: chặn SSH trên cả WAN/LAN</a:t>
            </a:r>
            <a:r>
              <a:rPr lang="vi-VN" sz="1800" dirty="0" smtClean="0">
                <a:latin typeface="+mj-lt"/>
              </a:rPr>
              <a:t>).</a:t>
            </a:r>
            <a:endParaRPr lang="vi-VN" sz="1800" dirty="0">
              <a:latin typeface="+mj-lt"/>
            </a:endParaRPr>
          </a:p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r>
              <a:rPr lang="vi-VN" sz="1800" dirty="0">
                <a:latin typeface="+mj-lt"/>
              </a:rPr>
              <a:t>Interface Rules: Áp dụng riêng cho từng interface (vd: LAN, WAN, DMZ).</a:t>
            </a: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4150581" y="2647784"/>
            <a:ext cx="4834393" cy="235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688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148"/>
            <a:ext cx="8229600" cy="1143000"/>
          </a:xfrm>
        </p:spPr>
        <p:txBody>
          <a:bodyPr/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rPr dirty="0" err="1">
                <a:solidFill>
                  <a:schemeClr val="bg1"/>
                </a:solidFill>
              </a:rPr>
              <a:t>Các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chức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năng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chính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7950"/>
            <a:ext cx="8229600" cy="4525963"/>
          </a:xfrm>
        </p:spPr>
        <p:txBody>
          <a:bodyPr>
            <a:noAutofit/>
          </a:bodyPr>
          <a:lstStyle/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r>
              <a:rPr dirty="0" smtClean="0"/>
              <a:t>NAT </a:t>
            </a:r>
            <a:r>
              <a:rPr dirty="0"/>
              <a:t>(Network Address Translation</a:t>
            </a:r>
            <a:r>
              <a:rPr dirty="0" smtClean="0"/>
              <a:t>):</a:t>
            </a:r>
            <a:endParaRPr lang="vi-VN" dirty="0" smtClean="0"/>
          </a:p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r>
              <a:rPr lang="vi-VN" sz="1400" dirty="0"/>
              <a:t>a. NAT Outbound</a:t>
            </a:r>
          </a:p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r>
              <a:rPr lang="vi-VN" sz="1400" dirty="0"/>
              <a:t>Mục </a:t>
            </a:r>
            <a:r>
              <a:rPr lang="vi-VN" sz="1400" dirty="0" smtClean="0"/>
              <a:t>đích: Dịch </a:t>
            </a:r>
            <a:r>
              <a:rPr lang="vi-VN" sz="1400" dirty="0"/>
              <a:t>địa chỉ IP nội bộ (private) sang IP công </a:t>
            </a:r>
            <a:r>
              <a:rPr lang="vi-VN" sz="1400" dirty="0" smtClean="0"/>
              <a:t>cộng (public) khi ra Internet.</a:t>
            </a:r>
          </a:p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r>
              <a:rPr lang="vi-VN" sz="1400" dirty="0"/>
              <a:t>SNAT (Source NAT): Thay đổi IP nguồn của gói </a:t>
            </a:r>
            <a:r>
              <a:rPr lang="vi-VN" sz="1400" dirty="0" smtClean="0"/>
              <a:t>tin. Ví </a:t>
            </a:r>
            <a:r>
              <a:rPr lang="vi-VN" sz="1400" dirty="0"/>
              <a:t>dụ: 192.168.1.100 → 203.0.113.5</a:t>
            </a:r>
            <a:r>
              <a:rPr lang="vi-VN" sz="1400" dirty="0" smtClean="0"/>
              <a:t>.</a:t>
            </a:r>
          </a:p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r>
              <a:rPr lang="vi-VN" sz="1400" dirty="0"/>
              <a:t>b. NAT 1:1</a:t>
            </a:r>
          </a:p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r>
              <a:rPr lang="vi-VN" sz="1400" dirty="0"/>
              <a:t>Mục </a:t>
            </a:r>
            <a:r>
              <a:rPr lang="vi-VN" sz="1400" dirty="0" smtClean="0"/>
              <a:t>đích: Ánh </a:t>
            </a:r>
            <a:r>
              <a:rPr lang="vi-VN" sz="1400" dirty="0"/>
              <a:t>xạ 1 IP public ↔ 1 IP private cố </a:t>
            </a:r>
            <a:r>
              <a:rPr lang="vi-VN" sz="1400" dirty="0" smtClean="0"/>
              <a:t>định. Thường </a:t>
            </a:r>
            <a:r>
              <a:rPr lang="vi-VN" sz="1400" dirty="0"/>
              <a:t>dùng cho server nội bộ cần public IP (vd: Mail Server). </a:t>
            </a:r>
            <a:r>
              <a:rPr lang="vi-VN" sz="1400" dirty="0" smtClean="0"/>
              <a:t>Ví dụ: Public </a:t>
            </a:r>
            <a:r>
              <a:rPr lang="vi-VN" sz="1400" dirty="0"/>
              <a:t>IP: 203.0.113.10 → Private IP: 192.168.1.100 </a:t>
            </a:r>
          </a:p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r>
              <a:rPr lang="vi-VN" sz="1400" dirty="0"/>
              <a:t>c. Port Forwarding</a:t>
            </a:r>
          </a:p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r>
              <a:rPr lang="vi-VN" sz="1400" dirty="0"/>
              <a:t>Mục </a:t>
            </a:r>
            <a:r>
              <a:rPr lang="vi-VN" sz="1400" dirty="0" smtClean="0"/>
              <a:t>đích: Chuyển </a:t>
            </a:r>
            <a:r>
              <a:rPr lang="vi-VN" sz="1400" dirty="0"/>
              <a:t>hướng một cổng (port) trên IP public đến một dịch vụ nội bộ</a:t>
            </a:r>
            <a:r>
              <a:rPr lang="vi-VN" sz="1400" dirty="0" smtClean="0"/>
              <a:t>.</a:t>
            </a:r>
          </a:p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r>
              <a:rPr lang="vi-VN" sz="1400" dirty="0"/>
              <a:t>Public: 203.0.113.5:80 → Private: 192.168.1.10:80 (Web Server)  </a:t>
            </a:r>
          </a:p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r>
              <a:rPr lang="vi-VN" sz="1400" dirty="0"/>
              <a:t>Public: 203.0.113.5:2222 → Private: 192.168.1.20:22 (SSH) </a:t>
            </a:r>
            <a:endParaRPr lang="vi-VN" sz="1400" dirty="0" smtClean="0"/>
          </a:p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2416384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rPr dirty="0" err="1">
                <a:solidFill>
                  <a:schemeClr val="bg1"/>
                </a:solidFill>
              </a:rPr>
              <a:t>Các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chức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năng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nâng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cao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🔸 OSPF (Open Shortest Path First):</a:t>
            </a:r>
          </a:p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</a:t>
            </a:r>
            <a:r>
              <a:rPr dirty="0" err="1"/>
              <a:t>Hỗ</a:t>
            </a:r>
            <a:r>
              <a:rPr dirty="0"/>
              <a:t> </a:t>
            </a:r>
            <a:r>
              <a:rPr dirty="0" err="1"/>
              <a:t>trợ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 </a:t>
            </a:r>
            <a:r>
              <a:rPr dirty="0" err="1"/>
              <a:t>tuyến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 qua FRR package.</a:t>
            </a:r>
          </a:p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🔸 </a:t>
            </a:r>
            <a:r>
              <a:rPr dirty="0" err="1"/>
              <a:t>Giám</a:t>
            </a:r>
            <a:r>
              <a:rPr dirty="0"/>
              <a:t> </a:t>
            </a:r>
            <a:r>
              <a:rPr dirty="0" err="1"/>
              <a:t>sát</a:t>
            </a:r>
            <a:r>
              <a:rPr dirty="0"/>
              <a:t> &amp; Logging:</a:t>
            </a:r>
          </a:p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Dashboard: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kê</a:t>
            </a:r>
            <a:r>
              <a:rPr dirty="0"/>
              <a:t> </a:t>
            </a:r>
            <a:r>
              <a:rPr dirty="0" err="1"/>
              <a:t>thời</a:t>
            </a:r>
            <a:r>
              <a:rPr dirty="0"/>
              <a:t> </a:t>
            </a:r>
            <a:r>
              <a:rPr dirty="0" err="1"/>
              <a:t>gian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, </a:t>
            </a:r>
            <a:r>
              <a:rPr dirty="0" err="1"/>
              <a:t>trạng</a:t>
            </a:r>
            <a:r>
              <a:rPr dirty="0"/>
              <a:t> </a:t>
            </a:r>
            <a:r>
              <a:rPr dirty="0" err="1"/>
              <a:t>thái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nối</a:t>
            </a:r>
            <a:r>
              <a:rPr dirty="0"/>
              <a:t>.</a:t>
            </a:r>
          </a:p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Logs: Theo </a:t>
            </a:r>
            <a:r>
              <a:rPr dirty="0" err="1"/>
              <a:t>dõi</a:t>
            </a:r>
            <a:r>
              <a:rPr dirty="0"/>
              <a:t> rule, block, </a:t>
            </a:r>
            <a:r>
              <a:rPr dirty="0" err="1"/>
              <a:t>sự</a:t>
            </a:r>
            <a:r>
              <a:rPr dirty="0"/>
              <a:t> </a:t>
            </a:r>
            <a:r>
              <a:rPr dirty="0" err="1"/>
              <a:t>kiện</a:t>
            </a:r>
            <a:r>
              <a:rPr dirty="0"/>
              <a:t>.</a:t>
            </a:r>
          </a:p>
          <a:p>
            <a:pPr marL="0" indent="0">
              <a:lnSpc>
                <a:spcPts val="3000"/>
              </a:lnSpc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Package </a:t>
            </a:r>
            <a:r>
              <a:rPr dirty="0" err="1"/>
              <a:t>thêm</a:t>
            </a:r>
            <a:r>
              <a:rPr dirty="0"/>
              <a:t>: </a:t>
            </a:r>
            <a:r>
              <a:rPr dirty="0" err="1"/>
              <a:t>ntopng</a:t>
            </a:r>
            <a:r>
              <a:rPr dirty="0"/>
              <a:t>, </a:t>
            </a:r>
            <a:r>
              <a:rPr dirty="0" err="1"/>
              <a:t>Zabbix</a:t>
            </a:r>
            <a:r>
              <a:rPr dirty="0"/>
              <a:t>, SNMP...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rPr dirty="0" err="1">
                <a:solidFill>
                  <a:schemeClr val="bg1"/>
                </a:solidFill>
              </a:rPr>
              <a:t>Tổng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kết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3000"/>
              </a:lnSpc>
              <a:defRPr sz="2400">
                <a:solidFill>
                  <a:srgbClr val="3C3C3C"/>
                </a:solidFill>
              </a:defRPr>
            </a:pPr>
            <a:r>
              <a:rPr dirty="0" err="1"/>
              <a:t>pfSense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giải</a:t>
            </a:r>
            <a:r>
              <a:rPr dirty="0"/>
              <a:t> </a:t>
            </a:r>
            <a:r>
              <a:rPr dirty="0" err="1"/>
              <a:t>pháp</a:t>
            </a:r>
            <a:r>
              <a:rPr dirty="0"/>
              <a:t> </a:t>
            </a:r>
            <a:r>
              <a:rPr dirty="0" err="1"/>
              <a:t>mạnh</a:t>
            </a:r>
            <a:r>
              <a:rPr dirty="0"/>
              <a:t> </a:t>
            </a:r>
            <a:r>
              <a:rPr dirty="0" err="1"/>
              <a:t>mẽ</a:t>
            </a:r>
            <a:r>
              <a:rPr dirty="0"/>
              <a:t>, </a:t>
            </a:r>
            <a:r>
              <a:rPr dirty="0" err="1"/>
              <a:t>miễn</a:t>
            </a:r>
            <a:r>
              <a:rPr dirty="0"/>
              <a:t> </a:t>
            </a:r>
            <a:r>
              <a:rPr dirty="0" err="1"/>
              <a:t>phí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mạng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nhỏ</a:t>
            </a:r>
            <a:r>
              <a:rPr dirty="0"/>
              <a:t> </a:t>
            </a:r>
            <a:r>
              <a:rPr dirty="0" err="1"/>
              <a:t>đến</a:t>
            </a:r>
            <a:r>
              <a:rPr dirty="0"/>
              <a:t> </a:t>
            </a:r>
            <a:r>
              <a:rPr dirty="0" err="1"/>
              <a:t>doanh</a:t>
            </a:r>
            <a:r>
              <a:rPr dirty="0"/>
              <a:t> </a:t>
            </a:r>
            <a:r>
              <a:rPr dirty="0" err="1"/>
              <a:t>nghiệp</a:t>
            </a:r>
            <a:r>
              <a:rPr dirty="0"/>
              <a:t>:</a:t>
            </a:r>
          </a:p>
          <a:p>
            <a:pPr>
              <a:lnSpc>
                <a:spcPts val="3000"/>
              </a:lnSpc>
              <a:defRPr sz="2400">
                <a:solidFill>
                  <a:srgbClr val="3C3C3C"/>
                </a:solidFill>
              </a:defRPr>
            </a:pPr>
            <a:r>
              <a:rPr dirty="0" smtClean="0"/>
              <a:t>✔</a:t>
            </a:r>
            <a:r>
              <a:rPr dirty="0" err="1" smtClean="0"/>
              <a:t>Tường</a:t>
            </a:r>
            <a:r>
              <a:rPr dirty="0" smtClean="0"/>
              <a:t> </a:t>
            </a:r>
            <a:r>
              <a:rPr dirty="0" err="1"/>
              <a:t>lửa</a:t>
            </a:r>
            <a:r>
              <a:rPr dirty="0"/>
              <a:t> </a:t>
            </a:r>
            <a:r>
              <a:rPr dirty="0" err="1"/>
              <a:t>linh</a:t>
            </a:r>
            <a:r>
              <a:rPr dirty="0"/>
              <a:t> </a:t>
            </a:r>
            <a:r>
              <a:rPr dirty="0" err="1"/>
              <a:t>hoạt</a:t>
            </a:r>
            <a:endParaRPr dirty="0"/>
          </a:p>
          <a:p>
            <a:pPr>
              <a:lnSpc>
                <a:spcPts val="3000"/>
              </a:lnSpc>
              <a:defRPr sz="2400">
                <a:solidFill>
                  <a:srgbClr val="3C3C3C"/>
                </a:solidFill>
              </a:defRPr>
            </a:pPr>
            <a:r>
              <a:rPr dirty="0" smtClean="0"/>
              <a:t>✔NAT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 </a:t>
            </a:r>
            <a:r>
              <a:rPr dirty="0" err="1"/>
              <a:t>tuyến</a:t>
            </a:r>
            <a:r>
              <a:rPr dirty="0"/>
              <a:t> </a:t>
            </a:r>
            <a:r>
              <a:rPr dirty="0" err="1"/>
              <a:t>mạng</a:t>
            </a:r>
            <a:endParaRPr dirty="0"/>
          </a:p>
          <a:p>
            <a:pPr>
              <a:lnSpc>
                <a:spcPts val="3000"/>
              </a:lnSpc>
              <a:defRPr sz="2400">
                <a:solidFill>
                  <a:srgbClr val="3C3C3C"/>
                </a:solidFill>
              </a:defRPr>
            </a:pPr>
            <a:r>
              <a:rPr dirty="0" smtClean="0"/>
              <a:t>✔VPN </a:t>
            </a:r>
            <a:r>
              <a:rPr dirty="0"/>
              <a:t>site-to-site, remote access</a:t>
            </a:r>
          </a:p>
          <a:p>
            <a:pPr>
              <a:lnSpc>
                <a:spcPts val="3000"/>
              </a:lnSpc>
              <a:defRPr sz="2400">
                <a:solidFill>
                  <a:srgbClr val="3C3C3C"/>
                </a:solidFill>
              </a:defRPr>
            </a:pPr>
            <a:r>
              <a:rPr dirty="0" smtClean="0"/>
              <a:t>✔</a:t>
            </a:r>
            <a:r>
              <a:rPr dirty="0" err="1" smtClean="0"/>
              <a:t>Mở</a:t>
            </a:r>
            <a:r>
              <a:rPr dirty="0" smtClean="0"/>
              <a:t> </a:t>
            </a:r>
            <a:r>
              <a:rPr dirty="0" err="1"/>
              <a:t>rộng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package: IDS/IPS, OSPF, </a:t>
            </a:r>
            <a:r>
              <a:rPr dirty="0" err="1"/>
              <a:t>giám</a:t>
            </a:r>
            <a:r>
              <a:rPr dirty="0"/>
              <a:t> </a:t>
            </a:r>
            <a:r>
              <a:rPr dirty="0" err="1"/>
              <a:t>sát</a:t>
            </a:r>
            <a:r>
              <a:rPr dirty="0"/>
              <a:t>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472</Words>
  <Application>Microsoft Office PowerPoint</Application>
  <PresentationFormat>On-screen Show (4:3)</PresentationFormat>
  <Paragraphs>57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Giới thiệu về pfSense</vt:lpstr>
      <vt:lpstr>pfSense là gì?</vt:lpstr>
      <vt:lpstr>Các chức năng chính</vt:lpstr>
      <vt:lpstr>Các chức năng chính</vt:lpstr>
      <vt:lpstr>Các chức năng chính</vt:lpstr>
      <vt:lpstr>Các chức năng nâng cao</vt:lpstr>
      <vt:lpstr>Tổng kết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Giới thiệu về pfSense</dc:title>
  <dc:subject/>
  <dc:creator/>
  <cp:keywords/>
  <dc:description>generated using python-pptx</dc:description>
  <cp:lastModifiedBy>DELL</cp:lastModifiedBy>
  <cp:revision>17</cp:revision>
  <dcterms:created xsi:type="dcterms:W3CDTF">2013-01-27T09:14:16Z</dcterms:created>
  <dcterms:modified xsi:type="dcterms:W3CDTF">2025-05-23T22:47:23Z</dcterms:modified>
  <cp:category/>
</cp:coreProperties>
</file>