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  <p:sldMasterId id="2147483675" r:id="rId3"/>
  </p:sldMasterIdLst>
  <p:sldIdLst>
    <p:sldId id="256" r:id="rId4"/>
    <p:sldId id="573" r:id="rId5"/>
    <p:sldId id="526" r:id="rId6"/>
    <p:sldId id="527" r:id="rId7"/>
    <p:sldId id="528" r:id="rId8"/>
    <p:sldId id="529" r:id="rId9"/>
    <p:sldId id="530" r:id="rId10"/>
    <p:sldId id="531" r:id="rId11"/>
    <p:sldId id="532" r:id="rId12"/>
    <p:sldId id="533" r:id="rId13"/>
    <p:sldId id="534" r:id="rId14"/>
    <p:sldId id="535" r:id="rId15"/>
    <p:sldId id="536" r:id="rId16"/>
    <p:sldId id="537" r:id="rId17"/>
    <p:sldId id="538" r:id="rId18"/>
    <p:sldId id="539" r:id="rId19"/>
    <p:sldId id="540" r:id="rId20"/>
    <p:sldId id="541" r:id="rId21"/>
    <p:sldId id="542" r:id="rId22"/>
    <p:sldId id="543" r:id="rId23"/>
    <p:sldId id="544" r:id="rId24"/>
    <p:sldId id="545" r:id="rId25"/>
    <p:sldId id="546" r:id="rId26"/>
    <p:sldId id="547" r:id="rId27"/>
    <p:sldId id="548" r:id="rId28"/>
    <p:sldId id="549" r:id="rId29"/>
    <p:sldId id="550" r:id="rId30"/>
    <p:sldId id="551" r:id="rId31"/>
    <p:sldId id="552" r:id="rId32"/>
    <p:sldId id="553" r:id="rId33"/>
    <p:sldId id="554" r:id="rId34"/>
    <p:sldId id="555" r:id="rId35"/>
    <p:sldId id="556" r:id="rId36"/>
    <p:sldId id="557" r:id="rId37"/>
    <p:sldId id="558" r:id="rId38"/>
    <p:sldId id="559" r:id="rId39"/>
    <p:sldId id="560" r:id="rId40"/>
    <p:sldId id="561" r:id="rId41"/>
    <p:sldId id="562" r:id="rId42"/>
    <p:sldId id="563" r:id="rId43"/>
    <p:sldId id="564" r:id="rId44"/>
    <p:sldId id="565" r:id="rId45"/>
    <p:sldId id="566" r:id="rId46"/>
    <p:sldId id="567" r:id="rId47"/>
    <p:sldId id="568" r:id="rId48"/>
    <p:sldId id="569" r:id="rId49"/>
    <p:sldId id="570" r:id="rId50"/>
    <p:sldId id="571" r:id="rId51"/>
    <p:sldId id="572" r:id="rId52"/>
    <p:sldId id="574" r:id="rId53"/>
    <p:sldId id="575" r:id="rId54"/>
    <p:sldId id="576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VO Duc An" initials="VDA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72" y="20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viewProps" Target="viewProps.xml"/><Relationship Id="rId5" Type="http://schemas.openxmlformats.org/officeDocument/2006/relationships/slide" Target="slides/slide2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commentAuthors" Target="commentAuthor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presProps" Target="presProps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15-09-20T13:45:16.527" idx="12">
    <p:pos x="3925" y="257"/>
    <p:text>TODO example: design class diagram</p:text>
  </p:cm>
</p:cmLst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4668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4176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619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25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0865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58413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270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826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07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187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246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029594365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>
              <a:t>‹#›</a:t>
            </a:fld>
            <a:endParaRPr/>
          </a:p>
        </p:txBody>
      </p:sp>
      <p:sp>
        <p:nvSpPr>
          <p:cNvPr id="34" name="Shape 34"/>
          <p:cNvSpPr>
            <a:spLocks noGrp="1"/>
          </p:cNvSpPr>
          <p:nvPr>
            <p:ph type="title"/>
          </p:nvPr>
        </p:nvSpPr>
        <p:spPr>
          <a:xfrm>
            <a:off x="609599" y="2720181"/>
            <a:ext cx="10972802" cy="1417638"/>
          </a:xfrm>
          <a:prstGeom prst="rect">
            <a:avLst/>
          </a:prstGeom>
        </p:spPr>
        <p:txBody>
          <a:bodyPr anchor="ctr"/>
          <a:lstStyle>
            <a:lvl1pPr algn="ctr">
              <a:defRPr sz="3500"/>
            </a:lvl1pPr>
          </a:lstStyle>
          <a:p>
            <a:pPr lvl="0">
              <a:defRPr sz="1800" b="0"/>
            </a:pPr>
            <a:r>
              <a:rPr sz="3500" b="1"/>
              <a:t>Title Text</a:t>
            </a:r>
          </a:p>
        </p:txBody>
      </p:sp>
    </p:spTree>
    <p:extLst>
      <p:ext uri="{BB962C8B-B14F-4D97-AF65-F5344CB8AC3E}">
        <p14:creationId xmlns:p14="http://schemas.microsoft.com/office/powerpoint/2010/main" val="327844406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4435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0407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1262062"/>
          </a:xfrm>
        </p:spPr>
        <p:txBody>
          <a:bodyPr anchor="b">
            <a:normAutofit/>
          </a:bodyPr>
          <a:lstStyle>
            <a:lvl1pPr>
              <a:defRPr sz="48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grpSp>
        <p:nvGrpSpPr>
          <p:cNvPr id="7" name="Group 24"/>
          <p:cNvGrpSpPr/>
          <p:nvPr userDrawn="1"/>
        </p:nvGrpSpPr>
        <p:grpSpPr>
          <a:xfrm>
            <a:off x="790786" y="3023729"/>
            <a:ext cx="10588414" cy="139983"/>
            <a:chOff x="0" y="0"/>
            <a:chExt cx="11982027" cy="139982"/>
          </a:xfrm>
          <a:solidFill>
            <a:srgbClr val="FFC000"/>
          </a:solidFill>
        </p:grpSpPr>
        <p:sp>
          <p:nvSpPr>
            <p:cNvPr id="8" name="Shape 22"/>
            <p:cNvSpPr/>
            <p:nvPr/>
          </p:nvSpPr>
          <p:spPr>
            <a:xfrm>
              <a:off x="-1" y="0"/>
              <a:ext cx="7404894" cy="139983"/>
            </a:xfrm>
            <a:prstGeom prst="rect">
              <a:avLst/>
            </a:prstGeom>
            <a:grpFill/>
            <a:ln w="12700" cap="flat">
              <a:solidFill>
                <a:srgbClr val="FFC000"/>
              </a:solidFill>
              <a:miter lim="400000"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>
                <a:defRPr sz="24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pPr>
              <a:endParaRPr sz="2400">
                <a:solidFill>
                  <a:prstClr val="black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" name="Shape 23"/>
            <p:cNvSpPr/>
            <p:nvPr/>
          </p:nvSpPr>
          <p:spPr>
            <a:xfrm>
              <a:off x="0" y="0"/>
              <a:ext cx="11982027" cy="1"/>
            </a:xfrm>
            <a:prstGeom prst="line">
              <a:avLst/>
            </a:prstGeom>
            <a:grpFill/>
            <a:ln w="12700" cap="flat">
              <a:solidFill>
                <a:srgbClr val="FFC000"/>
              </a:solidFill>
              <a:prstDash val="solid"/>
              <a:round/>
            </a:ln>
            <a:effectLst/>
          </p:spPr>
          <p:txBody>
            <a:bodyPr wrap="square" lIns="65023" tIns="65023" rIns="65023" bIns="65023" numCol="1" anchor="t">
              <a:noAutofit/>
            </a:bodyPr>
            <a:lstStyle/>
            <a:p>
              <a:pPr defTabSz="457200">
                <a:defRPr sz="1600"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 sz="1600">
                <a:solidFill>
                  <a:prstClr val="black"/>
                </a:solidFill>
                <a:latin typeface="Helvetica"/>
                <a:ea typeface="Helvetica"/>
                <a:cs typeface="Helvetica"/>
                <a:sym typeface="Helvetica"/>
              </a:endParaRPr>
            </a:p>
          </p:txBody>
        </p: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0785" y="3492499"/>
            <a:ext cx="10588415" cy="28049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334482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625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2781611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31423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726630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3628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75239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489186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41146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210469009"/>
      </p:ext>
    </p:extLst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2C102-B8AE-4CC8-8DFD-907875E47A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06CCF0-B4C9-4910-B71B-BC5228E90B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BE8D5-EACC-475F-B772-4C6E30ECC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7793E9-AE2F-44EA-9261-CDDE0A320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B453C0-1394-4470-9C6B-5680634C4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8364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8593C6-3D1B-460E-B901-F4BB8F0EF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46840"/>
          </a:xfrm>
        </p:spPr>
        <p:txBody>
          <a:bodyPr/>
          <a:lstStyle>
            <a:lvl1pPr algn="ctr">
              <a:defRPr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BE0FE-78F6-411B-A5F1-2D9DD895E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493" y="1431235"/>
            <a:ext cx="11100021" cy="48661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7351A-05B1-4209-ABD5-8A3B58E66B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372B3-9D16-415C-AFC6-5D4652E2A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96612-9E2F-40CF-99EB-6E186AFA1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343849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184B0-B474-49DB-90DF-EA5251578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1C19F0-1FB7-4AE0-896E-2777B6C62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464CF-570F-4361-9C22-BC3CA88D1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B62D1-8837-45F2-8787-A2B9AB185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02877-DE60-4015-8FCF-892ACE36A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030318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8C28F-0E26-4450-B5E9-87FEB7BDC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A839B7-197F-4E24-9034-3FAB490EBD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4A0A18-C706-495C-B58F-7AF0D336D6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573B90-884B-4A9F-A8FA-7F1E17F9D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8F9F5E-BDB1-45F3-BCE2-76B6520C3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84A89C-CCFA-45DE-98FF-AD7815AB8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654410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7480A-21EF-4CFF-9025-CCD9FA4E3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9536" y="365125"/>
            <a:ext cx="9295852" cy="95947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8E34F7-5664-4D9D-945D-F455A3DFE8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230B20-378D-4F09-8BF3-DEC4AF85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6BB53C-6E2D-4274-9D7E-A670158CB3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67D38A-88C4-4F01-BFB9-D94E541EC2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9B471D-3ADB-4293-9A4B-67CF34A75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774760-CCCB-42BA-9A1B-D8E7D8A94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3038AC-F431-4B77-9D3B-926E6AB69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03074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AF7B9-53C0-4585-9B89-2FBA7B70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201745-3FA6-4569-A489-EF0EA162A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BFEA74-BC5E-4B0B-835D-E657A873B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FD1EE18-4D1C-4701-8BBA-0169DC7CC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209426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19FDDA1-6ACB-4F4D-B161-8B6F564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317F60-55C3-4BB3-BDEB-861CA8251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E89CA0-249C-4A75-A3B7-DBDE4463B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83236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4949C-EB4F-4ACF-8ADE-56A8C29C7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6C2B-8498-44CE-B005-71433DDBB6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0CAAFC-D17E-4850-87AB-4B0A70BF44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0FB378-A528-4D34-A3DA-9AAD40376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1E530-6145-4EB0-B9A0-4C5FC5E73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277388-E30C-4DA3-B6CF-2F670642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58960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74CB1-3943-4F0E-9F85-C3E76CA810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3E7326-9859-4138-A3F6-5A4E1D605F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411D02-CB68-43D9-85FC-185924DA2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D51B13-BF22-4142-BD28-F2F7C6142E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197E58-C0D2-4770-BF0F-B8560F93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79F60B-0CBB-4728-801E-BBB606D2C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93929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5D5A0-D36B-42D3-8503-A08848E90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9DE344-B2E6-4D08-8EFD-71DBF31471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4F3758-74C8-452E-83A6-2CC57BC5F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0A3BFC-EC66-4779-8648-8C5557A28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D2088-CE38-4639-9C50-5E8FE341B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90622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6662CB-0803-47C7-B8F3-343BD63757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913163-7159-4A13-99D8-0BF55A00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37CC0-663F-45FD-AF01-CB2762545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24968-DE40-4BED-BFBB-FACFDD8CFF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1762EC-6177-4132-ACB5-5C730475D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120827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Shape 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pPr lvl="0">
              <a:defRPr sz="1800" b="0"/>
            </a:pPr>
            <a:r>
              <a:rPr sz="2700" b="1"/>
              <a:t>Title Text</a:t>
            </a:r>
          </a:p>
        </p:txBody>
      </p:sp>
      <p:sp>
        <p:nvSpPr>
          <p:cNvPr id="13" name="Shape 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 marL="992566" indent="-597932"/>
            <a:lvl3pPr marL="1328548" indent="-567180"/>
            <a:lvl4pPr marL="1677132" indent="-583581"/>
            <a:lvl5pPr marL="2086118" indent="-667026"/>
          </a:lstStyle>
          <a:p>
            <a:pPr lvl="0">
              <a:defRPr sz="1800"/>
            </a:pPr>
            <a:r>
              <a:rPr sz="2000"/>
              <a:t>Body Level One</a:t>
            </a:r>
          </a:p>
          <a:p>
            <a:pPr lvl="1">
              <a:defRPr sz="1800"/>
            </a:pPr>
            <a:r>
              <a:rPr sz="2000"/>
              <a:t>Body Level Two</a:t>
            </a:r>
          </a:p>
          <a:p>
            <a:pPr lvl="2">
              <a:defRPr sz="1800"/>
            </a:pPr>
            <a:r>
              <a:rPr sz="2000"/>
              <a:t>Body Level Three</a:t>
            </a:r>
          </a:p>
          <a:p>
            <a:pPr lvl="3">
              <a:defRPr sz="1800"/>
            </a:pPr>
            <a:r>
              <a:rPr sz="2000"/>
              <a:t>Body Level Four</a:t>
            </a:r>
          </a:p>
          <a:p>
            <a:pPr lvl="4">
              <a:defRPr sz="1800"/>
            </a:pPr>
            <a:r>
              <a:rPr sz="2000"/>
              <a:t>Body Level Five</a:t>
            </a:r>
          </a:p>
        </p:txBody>
      </p:sp>
    </p:spTree>
    <p:extLst>
      <p:ext uri="{BB962C8B-B14F-4D97-AF65-F5344CB8AC3E}">
        <p14:creationId xmlns:p14="http://schemas.microsoft.com/office/powerpoint/2010/main" val="426894027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image" Target="../media/image1.jp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/>
              <a:t>16-Nov-21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27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747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D6C713-6B5B-4652-B919-0C9C326BA8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484" y="365126"/>
            <a:ext cx="9310315" cy="93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03E2E6-5E74-4663-AD70-D00426D6A4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4543" y="1447137"/>
            <a:ext cx="10789257" cy="47298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27BD6-A005-4E4E-8C32-0E1B6CC0CD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050990" y="6520441"/>
            <a:ext cx="1530409" cy="34631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4A6D4B-7653-4E0B-8F57-D38CF83377B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16-Nov-21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2D051F-F1D7-4D05-9D06-0B2E7BC102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28987"/>
            <a:ext cx="41148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1EC13-E05F-4BCF-8EC0-B2CDC67773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28987"/>
            <a:ext cx="2743200" cy="329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B023F-0D85-424A-AD30-ACA2241933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8413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www.agilemodeling.com/artifacts/classDiagram.htm" TargetMode="Externa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286FF-B124-458F-B57B-2B1D24945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200" b="1"/>
              <a:t>SYSTEMS</a:t>
            </a:r>
            <a:br>
              <a:rPr lang="en-US" sz="7200" b="1"/>
            </a:br>
            <a:r>
              <a:rPr lang="en-US" sz="7200" b="1"/>
              <a:t>ANALYSIS AND DESIGN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B71ED79-E603-4351-A7EB-B158BDF0B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3600" y="3856038"/>
            <a:ext cx="10477500" cy="1655762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vi-VN" b="1"/>
              <a:t>Nguy</a:t>
            </a:r>
            <a:r>
              <a:rPr lang="en-US" b="1"/>
              <a:t>e</a:t>
            </a:r>
            <a:r>
              <a:rPr lang="vi-VN" b="1"/>
              <a:t>n Thanh B</a:t>
            </a:r>
            <a:r>
              <a:rPr lang="en-US" b="1"/>
              <a:t>i</a:t>
            </a:r>
            <a:r>
              <a:rPr lang="vi-VN" b="1"/>
              <a:t>nh, Nguy</a:t>
            </a:r>
            <a:r>
              <a:rPr lang="en-US" b="1"/>
              <a:t>e</a:t>
            </a:r>
            <a:r>
              <a:rPr lang="vi-VN" b="1"/>
              <a:t>n Quang V</a:t>
            </a:r>
            <a:r>
              <a:rPr lang="en-US" b="1"/>
              <a:t>u</a:t>
            </a:r>
            <a:r>
              <a:rPr lang="vi-VN" b="1"/>
              <a:t>, L</a:t>
            </a:r>
            <a:r>
              <a:rPr lang="en-US" b="1"/>
              <a:t>e</a:t>
            </a:r>
            <a:r>
              <a:rPr lang="vi-VN" b="1"/>
              <a:t> Vi</a:t>
            </a:r>
            <a:r>
              <a:rPr lang="en-US" b="1"/>
              <a:t>e</a:t>
            </a:r>
            <a:r>
              <a:rPr lang="vi-VN" b="1"/>
              <a:t>t Tr</a:t>
            </a:r>
            <a:r>
              <a:rPr lang="en-US" b="1"/>
              <a:t>uo</a:t>
            </a:r>
            <a:r>
              <a:rPr lang="vi-VN" b="1"/>
              <a:t>ng, Nguy</a:t>
            </a:r>
            <a:r>
              <a:rPr lang="en-US" b="1"/>
              <a:t>e</a:t>
            </a:r>
            <a:r>
              <a:rPr lang="vi-VN" b="1"/>
              <a:t>n Th</a:t>
            </a:r>
            <a:r>
              <a:rPr lang="en-US" b="1"/>
              <a:t>i</a:t>
            </a:r>
            <a:r>
              <a:rPr lang="vi-VN" b="1"/>
              <a:t> H</a:t>
            </a:r>
            <a:r>
              <a:rPr lang="en-US" b="1"/>
              <a:t>a</a:t>
            </a:r>
            <a:r>
              <a:rPr lang="vi-VN" b="1"/>
              <a:t>nh, V</a:t>
            </a:r>
            <a:r>
              <a:rPr lang="en-US" b="1"/>
              <a:t>o</a:t>
            </a:r>
            <a:r>
              <a:rPr lang="vi-VN" b="1"/>
              <a:t> V</a:t>
            </a:r>
            <a:r>
              <a:rPr lang="en-US" b="1"/>
              <a:t>a</a:t>
            </a:r>
            <a:r>
              <a:rPr lang="vi-VN" b="1"/>
              <a:t>n L</a:t>
            </a:r>
            <a:r>
              <a:rPr lang="en-US" b="1"/>
              <a:t>uon</a:t>
            </a:r>
            <a:r>
              <a:rPr lang="vi-VN" b="1"/>
              <a:t>g</a:t>
            </a:r>
            <a:r>
              <a:rPr lang="en-US" b="1"/>
              <a:t>,</a:t>
            </a:r>
            <a:r>
              <a:rPr lang="vi-VN" b="1"/>
              <a:t> L</a:t>
            </a:r>
            <a:r>
              <a:rPr lang="en-US" b="1"/>
              <a:t>e</a:t>
            </a:r>
            <a:r>
              <a:rPr lang="vi-VN" b="1"/>
              <a:t> Th</a:t>
            </a:r>
            <a:r>
              <a:rPr lang="en-US" b="1"/>
              <a:t>i</a:t>
            </a:r>
            <a:r>
              <a:rPr lang="vi-VN" b="1"/>
              <a:t> B</a:t>
            </a:r>
            <a:r>
              <a:rPr lang="en-US" b="1"/>
              <a:t>i</a:t>
            </a:r>
            <a:r>
              <a:rPr lang="vi-VN" b="1"/>
              <a:t>ch Tra</a:t>
            </a:r>
            <a:endParaRPr lang="en-US" b="1"/>
          </a:p>
          <a:p>
            <a:pPr algn="l">
              <a:lnSpc>
                <a:spcPct val="100000"/>
              </a:lnSpc>
            </a:pPr>
            <a:r>
              <a:rPr lang="en-US" b="1"/>
              <a:t>Faculty of Computer Science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9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65238"/>
            <a:ext cx="10515600" cy="1655761"/>
          </a:xfrm>
        </p:spPr>
        <p:txBody>
          <a:bodyPr>
            <a:normAutofit/>
          </a:bodyPr>
          <a:lstStyle/>
          <a:p>
            <a:r>
              <a:rPr lang="en-US"/>
              <a:t>Design principles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3327400"/>
            <a:ext cx="10515600" cy="3174999"/>
          </a:xfrm>
        </p:spPr>
        <p:txBody>
          <a:bodyPr>
            <a:normAutofit/>
          </a:bodyPr>
          <a:lstStyle/>
          <a:p>
            <a:pPr lvl="0">
              <a:defRPr sz="1800"/>
            </a:pPr>
            <a:r>
              <a:rPr lang="en-US" sz="2400"/>
              <a:t>General Responsibility Assignment Software Principles/Patterns - GRASP</a:t>
            </a:r>
          </a:p>
          <a:p>
            <a:endParaRPr 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580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2" name="Shape 3772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773" name="Shape 377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Analysis phase</a:t>
            </a:r>
          </a:p>
        </p:txBody>
      </p:sp>
      <p:sp>
        <p:nvSpPr>
          <p:cNvPr id="3774" name="Shape 377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analysis phase provides an understanding of the requirements, concepts and the behaviour of the system.</a:t>
            </a:r>
          </a:p>
          <a:p>
            <a:pPr lvl="0">
              <a:defRPr sz="1800"/>
            </a:pPr>
            <a:r>
              <a:rPr sz="2000"/>
              <a:t>Some documents may be obtained at the end of the analysis phase</a:t>
            </a:r>
          </a:p>
          <a:p>
            <a:pPr lvl="1">
              <a:defRPr sz="1800"/>
            </a:pPr>
            <a:r>
              <a:rPr sz="2000"/>
              <a:t>A description of the functionalities</a:t>
            </a:r>
          </a:p>
          <a:p>
            <a:pPr lvl="1">
              <a:defRPr sz="1800"/>
            </a:pPr>
            <a:r>
              <a:rPr sz="2000"/>
              <a:t>A description of the use-cases</a:t>
            </a:r>
          </a:p>
          <a:p>
            <a:pPr lvl="1">
              <a:defRPr sz="1800"/>
            </a:pPr>
            <a:r>
              <a:rPr sz="2000"/>
              <a:t>A description of the conceptual models</a:t>
            </a:r>
          </a:p>
          <a:p>
            <a:pPr lvl="1">
              <a:defRPr sz="1800"/>
            </a:pPr>
            <a:r>
              <a:rPr sz="2000"/>
              <a:t>The system sequence diagrams</a:t>
            </a:r>
          </a:p>
          <a:p>
            <a:pPr lvl="1">
              <a:defRPr sz="1800"/>
            </a:pPr>
            <a:r>
              <a:rPr sz="2000"/>
              <a:t>Activity diagrams</a:t>
            </a:r>
          </a:p>
        </p:txBody>
      </p:sp>
      <p:pic>
        <p:nvPicPr>
          <p:cNvPr id="3775" name="AnalysisPhas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03480" y="3483280"/>
            <a:ext cx="5022725" cy="3084459"/>
          </a:xfrm>
          <a:prstGeom prst="rect">
            <a:avLst/>
          </a:prstGeom>
          <a:ln w="6350">
            <a:solidFill/>
            <a:round/>
          </a:ln>
        </p:spPr>
      </p:pic>
    </p:spTree>
    <p:extLst>
      <p:ext uri="{BB962C8B-B14F-4D97-AF65-F5344CB8AC3E}">
        <p14:creationId xmlns:p14="http://schemas.microsoft.com/office/powerpoint/2010/main" val="124722583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7" name="Shape 3777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778" name="Shape 377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Design phase</a:t>
            </a:r>
          </a:p>
        </p:txBody>
      </p:sp>
      <p:sp>
        <p:nvSpPr>
          <p:cNvPr id="3779" name="Shape 377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design phase is to construct diagrams to describe communications between objects and their responsibilities to meet the requirements</a:t>
            </a:r>
          </a:p>
          <a:p>
            <a:pPr lvl="0">
              <a:defRPr sz="1800"/>
            </a:pPr>
            <a:r>
              <a:rPr sz="2000"/>
              <a:t>The resulting main diagrams in the design phase are</a:t>
            </a:r>
          </a:p>
          <a:p>
            <a:pPr lvl="1">
              <a:defRPr sz="1800"/>
            </a:pPr>
            <a:r>
              <a:rPr sz="2000"/>
              <a:t>Class diagrams</a:t>
            </a:r>
          </a:p>
          <a:p>
            <a:pPr lvl="1">
              <a:defRPr sz="1800"/>
            </a:pPr>
            <a:r>
              <a:rPr sz="2000"/>
              <a:t>Interaction diagrams</a:t>
            </a:r>
          </a:p>
          <a:p>
            <a:pPr lvl="2">
              <a:defRPr sz="1800"/>
            </a:pPr>
            <a:endParaRPr/>
          </a:p>
          <a:p>
            <a:pPr lvl="0">
              <a:defRPr sz="1800"/>
            </a:pPr>
            <a:r>
              <a:rPr sz="2000"/>
              <a:t>This phase requires some </a:t>
            </a:r>
            <a:r>
              <a:rPr sz="2000" b="1"/>
              <a:t>design principles</a:t>
            </a:r>
            <a:endParaRPr sz="2000"/>
          </a:p>
          <a:p>
            <a:pPr lvl="1">
              <a:defRPr sz="1800"/>
            </a:pPr>
            <a:r>
              <a:rPr sz="2000" b="1"/>
              <a:t>GRASP design principles</a:t>
            </a:r>
          </a:p>
          <a:p>
            <a:pPr lvl="1">
              <a:defRPr sz="1800"/>
            </a:pPr>
            <a:r>
              <a:rPr sz="2000"/>
              <a:t>GoF Design patterns</a:t>
            </a:r>
          </a:p>
        </p:txBody>
      </p:sp>
      <p:pic>
        <p:nvPicPr>
          <p:cNvPr id="3780" name="DesignPhas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6832339" y="3496793"/>
            <a:ext cx="5029995" cy="3088924"/>
          </a:xfrm>
          <a:prstGeom prst="rect">
            <a:avLst/>
          </a:prstGeom>
          <a:ln w="6350">
            <a:solidFill/>
            <a:round/>
          </a:ln>
        </p:spPr>
      </p:pic>
    </p:spTree>
    <p:extLst>
      <p:ext uri="{BB962C8B-B14F-4D97-AF65-F5344CB8AC3E}">
        <p14:creationId xmlns:p14="http://schemas.microsoft.com/office/powerpoint/2010/main" val="345560537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2" name="Shape 378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783" name="Shape 378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i="1"/>
              <a:t>Understanding responsibilities is key to object-oriented design.</a:t>
            </a:r>
          </a:p>
          <a:p>
            <a:pPr lvl="0" algn="r">
              <a:defRPr sz="1800" b="0"/>
            </a:pPr>
            <a:r>
              <a:t>Martin Fowler</a:t>
            </a:r>
          </a:p>
        </p:txBody>
      </p:sp>
    </p:spTree>
    <p:extLst>
      <p:ext uri="{BB962C8B-B14F-4D97-AF65-F5344CB8AC3E}">
        <p14:creationId xmlns:p14="http://schemas.microsoft.com/office/powerpoint/2010/main" val="335375311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5" name="Shape 378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786" name="Shape 378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Responsibilities-Driven Design</a:t>
            </a:r>
          </a:p>
        </p:txBody>
      </p:sp>
      <p:sp>
        <p:nvSpPr>
          <p:cNvPr id="3787" name="Shape 378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/>
              <a:t>RDD is a metaphor for thinking about object-oriented design.</a:t>
            </a:r>
          </a:p>
          <a:p>
            <a:pPr lvl="0">
              <a:defRPr sz="1800"/>
            </a:pPr>
            <a:endParaRPr sz="2300"/>
          </a:p>
          <a:p>
            <a:pPr lvl="0">
              <a:defRPr sz="1800"/>
            </a:pPr>
            <a:r>
              <a:rPr sz="2300"/>
              <a:t>Think of software objects similar to people with responsibilities who collaborate with other people to get work done.</a:t>
            </a:r>
          </a:p>
          <a:p>
            <a:pPr lvl="0">
              <a:defRPr sz="1800"/>
            </a:pPr>
            <a:endParaRPr sz="2300"/>
          </a:p>
          <a:p>
            <a:pPr lvl="0">
              <a:defRPr sz="1800"/>
            </a:pPr>
            <a:r>
              <a:rPr sz="2300"/>
              <a:t>RDD leads to viewing an OO design as a community of collaborating responsible objects.</a:t>
            </a:r>
          </a:p>
        </p:txBody>
      </p:sp>
    </p:spTree>
    <p:extLst>
      <p:ext uri="{BB962C8B-B14F-4D97-AF65-F5344CB8AC3E}">
        <p14:creationId xmlns:p14="http://schemas.microsoft.com/office/powerpoint/2010/main" val="1708716641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" name="Shape 378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790" name="Shape 379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GRASP</a:t>
            </a:r>
          </a:p>
        </p:txBody>
      </p:sp>
      <p:sp>
        <p:nvSpPr>
          <p:cNvPr id="3791" name="Shape 379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/>
              <a:t>General Responsibility Assignment Software Patterns or Principles (GRASP)</a:t>
            </a:r>
          </a:p>
          <a:p>
            <a:pPr lvl="1">
              <a:defRPr sz="1800"/>
            </a:pPr>
            <a:r>
              <a:rPr sz="2300"/>
              <a:t>Pattern is a solution which can be applied to a problem in a new context</a:t>
            </a:r>
          </a:p>
          <a:p>
            <a:pPr lvl="0">
              <a:defRPr sz="1800"/>
            </a:pPr>
            <a:r>
              <a:rPr sz="2300"/>
              <a:t>A learning aid for OO Design with responsibilities.</a:t>
            </a:r>
          </a:p>
          <a:p>
            <a:pPr lvl="0">
              <a:defRPr sz="1800"/>
            </a:pPr>
            <a:r>
              <a:rPr sz="2300"/>
              <a:t>A collection of patterns/principles for achieving good design - patterns of assigning responsibility.</a:t>
            </a:r>
          </a:p>
        </p:txBody>
      </p:sp>
    </p:spTree>
    <p:extLst>
      <p:ext uri="{BB962C8B-B14F-4D97-AF65-F5344CB8AC3E}">
        <p14:creationId xmlns:p14="http://schemas.microsoft.com/office/powerpoint/2010/main" val="164438527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3" name="Shape 379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794" name="Shape 379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 dirty="0"/>
              <a:t>Responsibility</a:t>
            </a:r>
          </a:p>
        </p:txBody>
      </p:sp>
      <p:sp>
        <p:nvSpPr>
          <p:cNvPr id="3795" name="Shape 379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A </a:t>
            </a:r>
            <a:r>
              <a:rPr sz="2000" b="1" dirty="0"/>
              <a:t>responsibility</a:t>
            </a:r>
            <a:r>
              <a:rPr sz="2000" dirty="0"/>
              <a:t> is an duty or a contract of a class</a:t>
            </a:r>
          </a:p>
          <a:p>
            <a:pPr lvl="0">
              <a:defRPr sz="1800"/>
            </a:pPr>
            <a:r>
              <a:rPr sz="2000" dirty="0"/>
              <a:t>The determination of the attributes and operations of a class is essentially based on its responsibilities</a:t>
            </a:r>
          </a:p>
          <a:p>
            <a:pPr lvl="0">
              <a:defRPr sz="1800"/>
            </a:pPr>
            <a:r>
              <a:rPr sz="2000" dirty="0"/>
              <a:t>The responsibilities of an object relate to the behavior of an object</a:t>
            </a:r>
          </a:p>
          <a:p>
            <a:pPr lvl="0">
              <a:defRPr sz="1800"/>
            </a:pPr>
            <a:r>
              <a:rPr sz="2000" dirty="0"/>
              <a:t>Two main types of responsibility</a:t>
            </a:r>
          </a:p>
          <a:p>
            <a:pPr lvl="1">
              <a:defRPr sz="1800"/>
            </a:pPr>
            <a:r>
              <a:rPr sz="2000" b="1" dirty="0"/>
              <a:t>Do</a:t>
            </a:r>
          </a:p>
          <a:p>
            <a:pPr lvl="2">
              <a:defRPr sz="1800"/>
            </a:pPr>
            <a:r>
              <a:rPr dirty="0"/>
              <a:t>The object accomplishes something itself</a:t>
            </a:r>
          </a:p>
          <a:p>
            <a:pPr lvl="2">
              <a:defRPr sz="1800"/>
            </a:pPr>
            <a:r>
              <a:rPr dirty="0"/>
              <a:t>The object initiates an action of another object</a:t>
            </a:r>
          </a:p>
          <a:p>
            <a:pPr lvl="2">
              <a:defRPr sz="1800"/>
            </a:pPr>
            <a:r>
              <a:rPr dirty="0"/>
              <a:t>The object controls or coordinates activities of other objects</a:t>
            </a:r>
          </a:p>
          <a:p>
            <a:pPr lvl="1">
              <a:defRPr sz="1800"/>
            </a:pPr>
            <a:r>
              <a:rPr sz="2000" b="1" dirty="0"/>
              <a:t>Know</a:t>
            </a:r>
          </a:p>
          <a:p>
            <a:pPr lvl="2">
              <a:defRPr sz="1800"/>
            </a:pPr>
            <a:r>
              <a:rPr dirty="0"/>
              <a:t>The object knows private encapsulated data</a:t>
            </a:r>
          </a:p>
          <a:p>
            <a:pPr lvl="2">
              <a:defRPr sz="1800"/>
            </a:pPr>
            <a:r>
              <a:rPr dirty="0"/>
              <a:t>The object knows the objects to which it is linked</a:t>
            </a:r>
          </a:p>
          <a:p>
            <a:pPr lvl="2">
              <a:defRPr sz="1800"/>
            </a:pPr>
            <a:r>
              <a:rPr dirty="0"/>
              <a:t>The object has data that it can calculate or derive</a:t>
            </a:r>
          </a:p>
        </p:txBody>
      </p:sp>
    </p:spTree>
    <p:extLst>
      <p:ext uri="{BB962C8B-B14F-4D97-AF65-F5344CB8AC3E}">
        <p14:creationId xmlns:p14="http://schemas.microsoft.com/office/powerpoint/2010/main" val="590904879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7" name="Shape 379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798" name="Shape 379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Responsibility</a:t>
            </a:r>
          </a:p>
        </p:txBody>
      </p:sp>
      <p:sp>
        <p:nvSpPr>
          <p:cNvPr id="3799" name="Shape 3799"/>
          <p:cNvSpPr>
            <a:spLocks noGrp="1"/>
          </p:cNvSpPr>
          <p:nvPr>
            <p:ph type="body" idx="1"/>
          </p:nvPr>
        </p:nvSpPr>
        <p:spPr>
          <a:xfrm>
            <a:off x="564543" y="1447136"/>
            <a:ext cx="11246457" cy="50298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b="1" dirty="0"/>
              <a:t>The responsibilities are assigned to classes during the design phase</a:t>
            </a:r>
          </a:p>
          <a:p>
            <a:pPr lvl="1">
              <a:defRPr sz="1800"/>
            </a:pPr>
            <a:r>
              <a:rPr sz="2000" dirty="0"/>
              <a:t>Example</a:t>
            </a:r>
          </a:p>
          <a:p>
            <a:pPr lvl="2">
              <a:defRPr sz="1800"/>
            </a:pPr>
            <a:r>
              <a:rPr dirty="0"/>
              <a:t>An object of </a:t>
            </a:r>
            <a:r>
              <a:rPr i="1" dirty="0"/>
              <a:t>Sale</a:t>
            </a:r>
            <a:r>
              <a:rPr dirty="0"/>
              <a:t> class is responsible for creating an object of </a:t>
            </a:r>
            <a:r>
              <a:rPr i="1" dirty="0"/>
              <a:t>Payment</a:t>
            </a:r>
            <a:r>
              <a:rPr dirty="0"/>
              <a:t> class (do)</a:t>
            </a:r>
          </a:p>
          <a:p>
            <a:pPr lvl="2">
              <a:defRPr sz="1800"/>
            </a:pPr>
            <a:r>
              <a:rPr dirty="0"/>
              <a:t>An object of </a:t>
            </a:r>
            <a:r>
              <a:rPr i="1" dirty="0"/>
              <a:t>Sale</a:t>
            </a:r>
            <a:r>
              <a:rPr dirty="0"/>
              <a:t> class is responsible for knowing its total (know).</a:t>
            </a:r>
          </a:p>
          <a:p>
            <a:pPr lvl="0">
              <a:defRPr sz="1800"/>
            </a:pPr>
            <a:r>
              <a:rPr sz="2000" dirty="0"/>
              <a:t>The translation of responsibilities into methods of classes depends on the granularity of the responsibilities</a:t>
            </a:r>
          </a:p>
          <a:p>
            <a:pPr lvl="1">
              <a:defRPr sz="1800"/>
            </a:pPr>
            <a:r>
              <a:rPr sz="2000" dirty="0"/>
              <a:t>A responsibility can be translated by several methods of several classes</a:t>
            </a:r>
          </a:p>
          <a:p>
            <a:pPr lvl="2">
              <a:defRPr sz="1800"/>
            </a:pPr>
            <a:r>
              <a:rPr dirty="0"/>
              <a:t>Responsibility “offer access to the database” can be translated to several methods of several classes</a:t>
            </a:r>
          </a:p>
          <a:p>
            <a:pPr lvl="1">
              <a:defRPr sz="1800"/>
            </a:pPr>
            <a:r>
              <a:rPr sz="2000" dirty="0"/>
              <a:t>A responsibility can be translated by one method</a:t>
            </a:r>
          </a:p>
          <a:p>
            <a:pPr lvl="2">
              <a:defRPr sz="1800"/>
            </a:pPr>
            <a:r>
              <a:rPr dirty="0"/>
              <a:t>Responsibility “create a </a:t>
            </a:r>
            <a:r>
              <a:rPr i="1" dirty="0"/>
              <a:t>Sale</a:t>
            </a:r>
            <a:r>
              <a:rPr dirty="0"/>
              <a:t>” can be translated by only one method.</a:t>
            </a:r>
          </a:p>
        </p:txBody>
      </p:sp>
    </p:spTree>
    <p:extLst>
      <p:ext uri="{BB962C8B-B14F-4D97-AF65-F5344CB8AC3E}">
        <p14:creationId xmlns:p14="http://schemas.microsoft.com/office/powerpoint/2010/main" val="202854710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1" name="Shape 380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802" name="Shape 380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Assignment and discovery of responsibilities</a:t>
            </a:r>
          </a:p>
        </p:txBody>
      </p:sp>
      <p:sp>
        <p:nvSpPr>
          <p:cNvPr id="3803" name="Shape 380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The assignment of responsibilities to objects is very important in object-oriented design.</a:t>
            </a:r>
          </a:p>
          <a:p>
            <a:pPr lvl="0">
              <a:defRPr sz="1800"/>
            </a:pPr>
            <a:r>
              <a:rPr sz="2000" b="1" dirty="0"/>
              <a:t>The discovery of responsibilities is achieved when building interaction diagrams</a:t>
            </a:r>
          </a:p>
        </p:txBody>
      </p:sp>
      <p:grpSp>
        <p:nvGrpSpPr>
          <p:cNvPr id="3814" name="Group 3814"/>
          <p:cNvGrpSpPr/>
          <p:nvPr/>
        </p:nvGrpSpPr>
        <p:grpSpPr>
          <a:xfrm>
            <a:off x="3531112" y="2277070"/>
            <a:ext cx="4479220" cy="2303860"/>
            <a:chOff x="0" y="0"/>
            <a:chExt cx="4777834" cy="3276600"/>
          </a:xfrm>
        </p:grpSpPr>
        <p:sp>
          <p:nvSpPr>
            <p:cNvPr id="3804" name="Shape 3804"/>
            <p:cNvSpPr/>
            <p:nvPr/>
          </p:nvSpPr>
          <p:spPr>
            <a:xfrm>
              <a:off x="2012950" y="0"/>
              <a:ext cx="563571" cy="50338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2000" u="sng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 u="none"/>
              </a:pPr>
              <a:r>
                <a:rPr sz="1700"/>
                <a:t>:Sale</a:t>
              </a:r>
            </a:p>
          </p:txBody>
        </p:sp>
        <p:sp>
          <p:nvSpPr>
            <p:cNvPr id="3805" name="Shape 3805"/>
            <p:cNvSpPr/>
            <p:nvPr/>
          </p:nvSpPr>
          <p:spPr>
            <a:xfrm>
              <a:off x="2325687" y="457200"/>
              <a:ext cx="1" cy="685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lg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06" name="Shape 3806"/>
            <p:cNvSpPr/>
            <p:nvPr/>
          </p:nvSpPr>
          <p:spPr>
            <a:xfrm>
              <a:off x="2249487" y="1143000"/>
              <a:ext cx="152401" cy="1828800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pPr>
              <a:endParaRPr/>
            </a:p>
          </p:txBody>
        </p:sp>
        <p:sp>
          <p:nvSpPr>
            <p:cNvPr id="3807" name="Shape 3807"/>
            <p:cNvSpPr/>
            <p:nvPr/>
          </p:nvSpPr>
          <p:spPr>
            <a:xfrm>
              <a:off x="2325687" y="2971800"/>
              <a:ext cx="1" cy="304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lg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08" name="Shape 3808"/>
            <p:cNvSpPr/>
            <p:nvPr/>
          </p:nvSpPr>
          <p:spPr>
            <a:xfrm>
              <a:off x="152400" y="761999"/>
              <a:ext cx="1285136" cy="503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20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700"/>
                <a:t>pay(amount)</a:t>
              </a:r>
            </a:p>
          </p:txBody>
        </p:sp>
        <p:sp>
          <p:nvSpPr>
            <p:cNvPr id="3809" name="Shape 3809"/>
            <p:cNvSpPr/>
            <p:nvPr/>
          </p:nvSpPr>
          <p:spPr>
            <a:xfrm>
              <a:off x="0" y="1143000"/>
              <a:ext cx="2209800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10" name="Shape 3810"/>
            <p:cNvSpPr/>
            <p:nvPr/>
          </p:nvSpPr>
          <p:spPr>
            <a:xfrm>
              <a:off x="3800475" y="889000"/>
              <a:ext cx="977359" cy="50338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2000" u="sng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 u="none"/>
              </a:pPr>
              <a:r>
                <a:rPr sz="1700"/>
                <a:t>:Payment</a:t>
              </a:r>
            </a:p>
          </p:txBody>
        </p:sp>
        <p:sp>
          <p:nvSpPr>
            <p:cNvPr id="3811" name="Shape 3811"/>
            <p:cNvSpPr/>
            <p:nvPr/>
          </p:nvSpPr>
          <p:spPr>
            <a:xfrm>
              <a:off x="2401887" y="1219200"/>
              <a:ext cx="1371601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  <a:tailEnd type="triangle" w="med" len="med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  <p:sp>
          <p:nvSpPr>
            <p:cNvPr id="3812" name="Shape 3812"/>
            <p:cNvSpPr/>
            <p:nvPr/>
          </p:nvSpPr>
          <p:spPr>
            <a:xfrm>
              <a:off x="2478087" y="838201"/>
              <a:ext cx="1177414" cy="50338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5719" tIns="45719" rIns="45719" bIns="45719" numCol="1" anchor="t">
              <a:spAutoFit/>
            </a:bodyPr>
            <a:lstStyle>
              <a:lvl1pPr marL="0" marR="0">
                <a:defRPr sz="2000">
                  <a:uFillTx/>
                  <a:latin typeface="Times New Roman"/>
                  <a:ea typeface="Times New Roman"/>
                  <a:cs typeface="Times New Roman"/>
                  <a:sym typeface="Times New Roman"/>
                </a:defRPr>
              </a:lvl1pPr>
            </a:lstStyle>
            <a:p>
              <a:pPr lvl="0">
                <a:defRPr sz="1800"/>
              </a:pPr>
              <a:r>
                <a:rPr sz="1700"/>
                <a:t>&lt;&lt;create&gt;&gt;</a:t>
              </a:r>
            </a:p>
          </p:txBody>
        </p:sp>
        <p:sp>
          <p:nvSpPr>
            <p:cNvPr id="3813" name="Shape 3813"/>
            <p:cNvSpPr/>
            <p:nvPr/>
          </p:nvSpPr>
          <p:spPr>
            <a:xfrm>
              <a:off x="4357687" y="1295400"/>
              <a:ext cx="1" cy="144780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lgDash"/>
              <a:miter lim="8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 defTabSz="382676">
                <a:defRPr>
                  <a:uFillTx/>
                  <a:latin typeface="Helvetica"/>
                  <a:ea typeface="Helvetica"/>
                  <a:cs typeface="Helvetica"/>
                  <a:sym typeface="Helvetica"/>
                </a:defRPr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21974582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6" name="Shape 381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817" name="Shape 381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GRASP patterns</a:t>
            </a:r>
          </a:p>
        </p:txBody>
      </p:sp>
      <p:sp>
        <p:nvSpPr>
          <p:cNvPr id="3818" name="Shape 381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We consider 5 among 9 GRASP patterns/principles</a:t>
            </a:r>
          </a:p>
          <a:p>
            <a:pPr lvl="1">
              <a:defRPr sz="1800"/>
            </a:pPr>
            <a:r>
              <a:rPr sz="2000" b="1" dirty="0"/>
              <a:t>Low Coupling</a:t>
            </a:r>
            <a:r>
              <a:rPr sz="2000" dirty="0"/>
              <a:t>: assigning responsibilities in a low coupling way</a:t>
            </a:r>
          </a:p>
          <a:p>
            <a:pPr lvl="1">
              <a:defRPr sz="1800"/>
            </a:pPr>
            <a:r>
              <a:rPr sz="2000" b="1" dirty="0"/>
              <a:t>High Cohesion</a:t>
            </a:r>
            <a:r>
              <a:rPr sz="2000" dirty="0"/>
              <a:t>: assigning the responsibilities to ensure that cohesion remains high</a:t>
            </a:r>
            <a:endParaRPr sz="2000" b="1" dirty="0"/>
          </a:p>
          <a:p>
            <a:pPr lvl="1">
              <a:defRPr sz="1800"/>
            </a:pPr>
            <a:r>
              <a:rPr sz="2000" b="1" dirty="0"/>
              <a:t>Creator</a:t>
            </a:r>
            <a:r>
              <a:rPr sz="2000" dirty="0"/>
              <a:t>: assigning the creation responsibility of an object to another object</a:t>
            </a:r>
          </a:p>
          <a:p>
            <a:pPr lvl="1">
              <a:defRPr sz="1800"/>
            </a:pPr>
            <a:r>
              <a:rPr sz="2000" b="1" dirty="0"/>
              <a:t>Information Expert</a:t>
            </a:r>
            <a:r>
              <a:rPr sz="2000" dirty="0"/>
              <a:t>: the common principle when assigning responsibilities to classes</a:t>
            </a:r>
          </a:p>
          <a:p>
            <a:pPr lvl="1">
              <a:defRPr sz="1800"/>
            </a:pPr>
            <a:r>
              <a:rPr sz="2000" b="1" dirty="0"/>
              <a:t>Controller</a:t>
            </a:r>
            <a:r>
              <a:rPr sz="2000" dirty="0"/>
              <a:t>: assigning the responsibility for management of the system event messages</a:t>
            </a:r>
          </a:p>
          <a:p>
            <a:pPr lvl="1">
              <a:defRPr sz="1800"/>
            </a:pPr>
            <a:r>
              <a:rPr sz="2000" b="1" dirty="0"/>
              <a:t>Polymorphism</a:t>
            </a:r>
          </a:p>
          <a:p>
            <a:pPr lvl="1">
              <a:defRPr sz="1800"/>
            </a:pPr>
            <a:r>
              <a:rPr sz="2000" b="1" dirty="0"/>
              <a:t>Indirection</a:t>
            </a:r>
          </a:p>
          <a:p>
            <a:pPr lvl="1">
              <a:defRPr sz="1800"/>
            </a:pPr>
            <a:r>
              <a:rPr sz="2000" b="1" dirty="0"/>
              <a:t>Pure fabrication</a:t>
            </a:r>
          </a:p>
          <a:p>
            <a:pPr lvl="1">
              <a:defRPr sz="1800"/>
            </a:pPr>
            <a:r>
              <a:rPr sz="2000" b="1" dirty="0"/>
              <a:t>Protected variations</a:t>
            </a:r>
          </a:p>
        </p:txBody>
      </p:sp>
    </p:spTree>
    <p:extLst>
      <p:ext uri="{BB962C8B-B14F-4D97-AF65-F5344CB8AC3E}">
        <p14:creationId xmlns:p14="http://schemas.microsoft.com/office/powerpoint/2010/main" val="411885449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0" name="Shape 382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 b="1" dirty="0"/>
              <a:t>Coupling</a:t>
            </a:r>
            <a:r>
              <a:rPr sz="2300" dirty="0"/>
              <a:t>: Amount of relations between objects/sub-systems</a:t>
            </a:r>
          </a:p>
          <a:p>
            <a:pPr lvl="0">
              <a:defRPr sz="1800"/>
            </a:pPr>
            <a:r>
              <a:rPr sz="2300" b="1" dirty="0"/>
              <a:t>Cohesion</a:t>
            </a:r>
            <a:r>
              <a:rPr sz="2300" dirty="0"/>
              <a:t>: Amount of relations within sub-system</a:t>
            </a:r>
          </a:p>
        </p:txBody>
      </p:sp>
      <p:sp>
        <p:nvSpPr>
          <p:cNvPr id="3821" name="Shape 3821"/>
          <p:cNvSpPr/>
          <p:nvPr/>
        </p:nvSpPr>
        <p:spPr>
          <a:xfrm>
            <a:off x="4567949" y="3656634"/>
            <a:ext cx="1667620" cy="1248064"/>
          </a:xfrm>
          <a:prstGeom prst="rect">
            <a:avLst/>
          </a:prstGeom>
          <a:solidFill>
            <a:srgbClr val="DEFB3E">
              <a:alpha val="96000"/>
            </a:srgbClr>
          </a:solidFill>
          <a:ln w="38100">
            <a:solidFill/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22" name="Shape 3822"/>
          <p:cNvSpPr/>
          <p:nvPr/>
        </p:nvSpPr>
        <p:spPr>
          <a:xfrm>
            <a:off x="1518436" y="3659972"/>
            <a:ext cx="1667619" cy="1248064"/>
          </a:xfrm>
          <a:prstGeom prst="rect">
            <a:avLst/>
          </a:prstGeom>
          <a:solidFill>
            <a:srgbClr val="DEFB3E">
              <a:alpha val="96000"/>
            </a:srgbClr>
          </a:solidFill>
          <a:ln w="38100">
            <a:solidFill/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23" name="Shape 382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824" name="Shape 38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Coupling and Cohesion</a:t>
            </a:r>
          </a:p>
        </p:txBody>
      </p:sp>
      <p:sp>
        <p:nvSpPr>
          <p:cNvPr id="3825" name="Shape 3825"/>
          <p:cNvSpPr/>
          <p:nvPr/>
        </p:nvSpPr>
        <p:spPr>
          <a:xfrm>
            <a:off x="2072270" y="3875485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26" name="Shape 3826"/>
          <p:cNvSpPr/>
          <p:nvPr/>
        </p:nvSpPr>
        <p:spPr>
          <a:xfrm>
            <a:off x="2683457" y="4000500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27" name="Shape 3827"/>
          <p:cNvSpPr/>
          <p:nvPr/>
        </p:nvSpPr>
        <p:spPr>
          <a:xfrm>
            <a:off x="2358020" y="4577952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28" name="Shape 3828"/>
          <p:cNvSpPr/>
          <p:nvPr/>
        </p:nvSpPr>
        <p:spPr>
          <a:xfrm>
            <a:off x="1667457" y="4298156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29" name="Shape 3829"/>
          <p:cNvSpPr/>
          <p:nvPr/>
        </p:nvSpPr>
        <p:spPr>
          <a:xfrm>
            <a:off x="1703682" y="3960108"/>
            <a:ext cx="362016" cy="3437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2" h="21387" extrusionOk="0">
                <a:moveTo>
                  <a:pt x="21232" y="374"/>
                </a:moveTo>
                <a:cubicBezTo>
                  <a:pt x="17723" y="-213"/>
                  <a:pt x="14086" y="-109"/>
                  <a:pt x="10639" y="678"/>
                </a:cubicBezTo>
                <a:cubicBezTo>
                  <a:pt x="7141" y="1477"/>
                  <a:pt x="3946" y="2953"/>
                  <a:pt x="1341" y="4976"/>
                </a:cubicBezTo>
                <a:cubicBezTo>
                  <a:pt x="-56" y="8269"/>
                  <a:pt x="-368" y="11793"/>
                  <a:pt x="435" y="15210"/>
                </a:cubicBezTo>
                <a:cubicBezTo>
                  <a:pt x="944" y="17378"/>
                  <a:pt x="1895" y="19464"/>
                  <a:pt x="3252" y="21387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30" name="Shape 3830"/>
          <p:cNvSpPr/>
          <p:nvPr/>
        </p:nvSpPr>
        <p:spPr>
          <a:xfrm>
            <a:off x="1934362" y="4107749"/>
            <a:ext cx="398640" cy="2721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1" h="21600" extrusionOk="0">
                <a:moveTo>
                  <a:pt x="18190" y="0"/>
                </a:moveTo>
                <a:cubicBezTo>
                  <a:pt x="20528" y="1731"/>
                  <a:pt x="21600" y="4969"/>
                  <a:pt x="20838" y="8000"/>
                </a:cubicBezTo>
                <a:cubicBezTo>
                  <a:pt x="20265" y="10282"/>
                  <a:pt x="18708" y="12085"/>
                  <a:pt x="16698" y="12796"/>
                </a:cubicBezTo>
                <a:lnTo>
                  <a:pt x="3842" y="11258"/>
                </a:lnTo>
                <a:lnTo>
                  <a:pt x="0" y="21600"/>
                </a:ln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31" name="Shape 3831"/>
          <p:cNvSpPr/>
          <p:nvPr/>
        </p:nvSpPr>
        <p:spPr>
          <a:xfrm>
            <a:off x="2347354" y="3866648"/>
            <a:ext cx="411375" cy="14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8" h="20686" extrusionOk="0">
                <a:moveTo>
                  <a:pt x="0" y="10073"/>
                </a:moveTo>
                <a:cubicBezTo>
                  <a:pt x="1452" y="5798"/>
                  <a:pt x="3587" y="2626"/>
                  <a:pt x="6058" y="1073"/>
                </a:cubicBezTo>
                <a:cubicBezTo>
                  <a:pt x="9218" y="-914"/>
                  <a:pt x="12654" y="-118"/>
                  <a:pt x="15501" y="3261"/>
                </a:cubicBezTo>
                <a:cubicBezTo>
                  <a:pt x="18055" y="3766"/>
                  <a:pt x="20233" y="7159"/>
                  <a:pt x="21095" y="11973"/>
                </a:cubicBezTo>
                <a:cubicBezTo>
                  <a:pt x="21600" y="14793"/>
                  <a:pt x="21592" y="17877"/>
                  <a:pt x="21071" y="20686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32" name="Shape 3832"/>
          <p:cNvSpPr/>
          <p:nvPr/>
        </p:nvSpPr>
        <p:spPr>
          <a:xfrm>
            <a:off x="1919102" y="4457738"/>
            <a:ext cx="473843" cy="215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5" extrusionOk="0">
                <a:moveTo>
                  <a:pt x="0" y="3705"/>
                </a:moveTo>
                <a:cubicBezTo>
                  <a:pt x="1818" y="1438"/>
                  <a:pt x="4085" y="139"/>
                  <a:pt x="6447" y="10"/>
                </a:cubicBezTo>
                <a:cubicBezTo>
                  <a:pt x="8742" y="-115"/>
                  <a:pt x="11002" y="873"/>
                  <a:pt x="12894" y="2827"/>
                </a:cubicBezTo>
                <a:lnTo>
                  <a:pt x="13448" y="18178"/>
                </a:lnTo>
                <a:lnTo>
                  <a:pt x="21600" y="21485"/>
                </a:ln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33" name="Shape 3833"/>
          <p:cNvSpPr/>
          <p:nvPr/>
        </p:nvSpPr>
        <p:spPr>
          <a:xfrm>
            <a:off x="2576855" y="4217881"/>
            <a:ext cx="369916" cy="402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6" h="21600" extrusionOk="0">
                <a:moveTo>
                  <a:pt x="2443" y="21600"/>
                </a:moveTo>
                <a:cubicBezTo>
                  <a:pt x="832" y="19867"/>
                  <a:pt x="-17" y="17842"/>
                  <a:pt x="0" y="15775"/>
                </a:cubicBezTo>
                <a:cubicBezTo>
                  <a:pt x="17" y="13701"/>
                  <a:pt x="906" y="11675"/>
                  <a:pt x="2557" y="9950"/>
                </a:cubicBezTo>
                <a:cubicBezTo>
                  <a:pt x="4541" y="9099"/>
                  <a:pt x="6824" y="8648"/>
                  <a:pt x="9152" y="8648"/>
                </a:cubicBezTo>
                <a:cubicBezTo>
                  <a:pt x="11481" y="8649"/>
                  <a:pt x="13764" y="9099"/>
                  <a:pt x="15748" y="9951"/>
                </a:cubicBezTo>
                <a:cubicBezTo>
                  <a:pt x="18681" y="9067"/>
                  <a:pt x="20749" y="7184"/>
                  <a:pt x="21210" y="4976"/>
                </a:cubicBezTo>
                <a:cubicBezTo>
                  <a:pt x="21583" y="3193"/>
                  <a:pt x="20852" y="1384"/>
                  <a:pt x="19201" y="0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34" name="Shape 3834"/>
          <p:cNvSpPr/>
          <p:nvPr/>
        </p:nvSpPr>
        <p:spPr>
          <a:xfrm>
            <a:off x="5108363" y="3865384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35" name="Shape 3835"/>
          <p:cNvSpPr/>
          <p:nvPr/>
        </p:nvSpPr>
        <p:spPr>
          <a:xfrm>
            <a:off x="5719551" y="3990399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36" name="Shape 3836"/>
          <p:cNvSpPr/>
          <p:nvPr/>
        </p:nvSpPr>
        <p:spPr>
          <a:xfrm>
            <a:off x="5394113" y="4567853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37" name="Shape 3837"/>
          <p:cNvSpPr/>
          <p:nvPr/>
        </p:nvSpPr>
        <p:spPr>
          <a:xfrm>
            <a:off x="4703551" y="4288055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38" name="Shape 3838"/>
          <p:cNvSpPr/>
          <p:nvPr/>
        </p:nvSpPr>
        <p:spPr>
          <a:xfrm>
            <a:off x="4739776" y="3950007"/>
            <a:ext cx="362015" cy="3437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2" h="21387" extrusionOk="0">
                <a:moveTo>
                  <a:pt x="21232" y="374"/>
                </a:moveTo>
                <a:cubicBezTo>
                  <a:pt x="17723" y="-213"/>
                  <a:pt x="14086" y="-109"/>
                  <a:pt x="10639" y="678"/>
                </a:cubicBezTo>
                <a:cubicBezTo>
                  <a:pt x="7141" y="1477"/>
                  <a:pt x="3946" y="2953"/>
                  <a:pt x="1341" y="4976"/>
                </a:cubicBezTo>
                <a:cubicBezTo>
                  <a:pt x="-56" y="8269"/>
                  <a:pt x="-368" y="11793"/>
                  <a:pt x="435" y="15210"/>
                </a:cubicBezTo>
                <a:cubicBezTo>
                  <a:pt x="944" y="17378"/>
                  <a:pt x="1895" y="19464"/>
                  <a:pt x="3252" y="21387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39" name="Shape 3839"/>
          <p:cNvSpPr/>
          <p:nvPr/>
        </p:nvSpPr>
        <p:spPr>
          <a:xfrm>
            <a:off x="5383448" y="3856547"/>
            <a:ext cx="411375" cy="14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8" h="20686" extrusionOk="0">
                <a:moveTo>
                  <a:pt x="0" y="10073"/>
                </a:moveTo>
                <a:cubicBezTo>
                  <a:pt x="1452" y="5798"/>
                  <a:pt x="3587" y="2626"/>
                  <a:pt x="6058" y="1073"/>
                </a:cubicBezTo>
                <a:cubicBezTo>
                  <a:pt x="9218" y="-914"/>
                  <a:pt x="12654" y="-118"/>
                  <a:pt x="15501" y="3261"/>
                </a:cubicBezTo>
                <a:cubicBezTo>
                  <a:pt x="18055" y="3766"/>
                  <a:pt x="20233" y="7159"/>
                  <a:pt x="21095" y="11973"/>
                </a:cubicBezTo>
                <a:cubicBezTo>
                  <a:pt x="21600" y="14793"/>
                  <a:pt x="21592" y="17877"/>
                  <a:pt x="21071" y="20686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40" name="Shape 3840"/>
          <p:cNvSpPr/>
          <p:nvPr/>
        </p:nvSpPr>
        <p:spPr>
          <a:xfrm>
            <a:off x="4955194" y="4447638"/>
            <a:ext cx="473843" cy="2151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5" extrusionOk="0">
                <a:moveTo>
                  <a:pt x="0" y="3705"/>
                </a:moveTo>
                <a:cubicBezTo>
                  <a:pt x="1818" y="1438"/>
                  <a:pt x="4085" y="139"/>
                  <a:pt x="6447" y="10"/>
                </a:cubicBezTo>
                <a:cubicBezTo>
                  <a:pt x="8742" y="-115"/>
                  <a:pt x="11002" y="873"/>
                  <a:pt x="12894" y="2827"/>
                </a:cubicBezTo>
                <a:lnTo>
                  <a:pt x="13448" y="18178"/>
                </a:lnTo>
                <a:lnTo>
                  <a:pt x="21600" y="21485"/>
                </a:ln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41" name="Shape 3841"/>
          <p:cNvSpPr/>
          <p:nvPr/>
        </p:nvSpPr>
        <p:spPr>
          <a:xfrm>
            <a:off x="5612949" y="4207782"/>
            <a:ext cx="369916" cy="4026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6" h="21600" extrusionOk="0">
                <a:moveTo>
                  <a:pt x="2443" y="21600"/>
                </a:moveTo>
                <a:cubicBezTo>
                  <a:pt x="832" y="19867"/>
                  <a:pt x="-17" y="17842"/>
                  <a:pt x="0" y="15775"/>
                </a:cubicBezTo>
                <a:cubicBezTo>
                  <a:pt x="17" y="13701"/>
                  <a:pt x="906" y="11675"/>
                  <a:pt x="2557" y="9950"/>
                </a:cubicBezTo>
                <a:cubicBezTo>
                  <a:pt x="4541" y="9099"/>
                  <a:pt x="6824" y="8648"/>
                  <a:pt x="9152" y="8648"/>
                </a:cubicBezTo>
                <a:cubicBezTo>
                  <a:pt x="11481" y="8649"/>
                  <a:pt x="13764" y="9099"/>
                  <a:pt x="15748" y="9951"/>
                </a:cubicBezTo>
                <a:cubicBezTo>
                  <a:pt x="18681" y="9067"/>
                  <a:pt x="20749" y="7184"/>
                  <a:pt x="21210" y="4976"/>
                </a:cubicBezTo>
                <a:cubicBezTo>
                  <a:pt x="21583" y="3193"/>
                  <a:pt x="20852" y="1384"/>
                  <a:pt x="19201" y="0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42" name="Shape 3842"/>
          <p:cNvSpPr/>
          <p:nvPr/>
        </p:nvSpPr>
        <p:spPr>
          <a:xfrm>
            <a:off x="5259308" y="4079890"/>
            <a:ext cx="254504" cy="5023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6" h="21600" extrusionOk="0">
                <a:moveTo>
                  <a:pt x="7097" y="0"/>
                </a:moveTo>
                <a:cubicBezTo>
                  <a:pt x="4207" y="965"/>
                  <a:pt x="2071" y="2224"/>
                  <a:pt x="931" y="3635"/>
                </a:cubicBezTo>
                <a:cubicBezTo>
                  <a:pt x="-19" y="4810"/>
                  <a:pt x="-246" y="6054"/>
                  <a:pt x="268" y="7269"/>
                </a:cubicBezTo>
                <a:cubicBezTo>
                  <a:pt x="4220" y="7324"/>
                  <a:pt x="8076" y="7758"/>
                  <a:pt x="11489" y="8532"/>
                </a:cubicBezTo>
                <a:cubicBezTo>
                  <a:pt x="14089" y="9122"/>
                  <a:pt x="16377" y="9898"/>
                  <a:pt x="18229" y="10819"/>
                </a:cubicBezTo>
                <a:cubicBezTo>
                  <a:pt x="19939" y="12544"/>
                  <a:pt x="20922" y="14364"/>
                  <a:pt x="21139" y="16210"/>
                </a:cubicBezTo>
                <a:cubicBezTo>
                  <a:pt x="21354" y="18027"/>
                  <a:pt x="20824" y="19847"/>
                  <a:pt x="19569" y="21600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43" name="Shape 3843"/>
          <p:cNvSpPr/>
          <p:nvPr/>
        </p:nvSpPr>
        <p:spPr>
          <a:xfrm>
            <a:off x="2978608" y="3774336"/>
            <a:ext cx="2222932" cy="501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4347"/>
                </a:moveTo>
                <a:lnTo>
                  <a:pt x="6202" y="21600"/>
                </a:lnTo>
                <a:lnTo>
                  <a:pt x="11970" y="382"/>
                </a:lnTo>
                <a:lnTo>
                  <a:pt x="18453" y="0"/>
                </a:lnTo>
                <a:lnTo>
                  <a:pt x="21600" y="4503"/>
                </a:lnTo>
              </a:path>
            </a:pathLst>
          </a:custGeom>
          <a:ln w="38100">
            <a:solidFill/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44" name="Shape 3844"/>
          <p:cNvSpPr/>
          <p:nvPr/>
        </p:nvSpPr>
        <p:spPr>
          <a:xfrm>
            <a:off x="2666069" y="4252275"/>
            <a:ext cx="2042612" cy="645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239"/>
                </a:moveTo>
                <a:lnTo>
                  <a:pt x="5925" y="21600"/>
                </a:lnTo>
                <a:lnTo>
                  <a:pt x="9078" y="7505"/>
                </a:lnTo>
                <a:lnTo>
                  <a:pt x="17496" y="0"/>
                </a:lnTo>
                <a:lnTo>
                  <a:pt x="21600" y="4169"/>
                </a:lnTo>
              </a:path>
            </a:pathLst>
          </a:custGeom>
          <a:ln w="38100">
            <a:solidFill/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45" name="Shape 3845"/>
          <p:cNvSpPr/>
          <p:nvPr/>
        </p:nvSpPr>
        <p:spPr>
          <a:xfrm>
            <a:off x="7757940" y="4689739"/>
            <a:ext cx="1605913" cy="1"/>
          </a:xfrm>
          <a:prstGeom prst="line">
            <a:avLst/>
          </a:pr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46" name="Shape 3846"/>
          <p:cNvSpPr/>
          <p:nvPr/>
        </p:nvSpPr>
        <p:spPr>
          <a:xfrm>
            <a:off x="7757940" y="4102349"/>
            <a:ext cx="1605913" cy="1"/>
          </a:xfrm>
          <a:prstGeom prst="line">
            <a:avLst/>
          </a:prstGeom>
          <a:ln w="38100">
            <a:solidFill/>
            <a:prstDash val="sysDot"/>
            <a:miter lim="400000"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47" name="Shape 3847"/>
          <p:cNvSpPr/>
          <p:nvPr/>
        </p:nvSpPr>
        <p:spPr>
          <a:xfrm>
            <a:off x="9669863" y="3905526"/>
            <a:ext cx="999582" cy="393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400"/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Coupling</a:t>
            </a:r>
          </a:p>
        </p:txBody>
      </p:sp>
      <p:sp>
        <p:nvSpPr>
          <p:cNvPr id="3848" name="Shape 3848"/>
          <p:cNvSpPr/>
          <p:nvPr/>
        </p:nvSpPr>
        <p:spPr>
          <a:xfrm>
            <a:off x="9669863" y="4482815"/>
            <a:ext cx="1049276" cy="393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400"/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Cohesion</a:t>
            </a:r>
          </a:p>
        </p:txBody>
      </p:sp>
      <p:sp>
        <p:nvSpPr>
          <p:cNvPr id="3849" name="Shape 3849"/>
          <p:cNvSpPr/>
          <p:nvPr/>
        </p:nvSpPr>
        <p:spPr>
          <a:xfrm>
            <a:off x="4564804" y="4989434"/>
            <a:ext cx="1464646" cy="393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400"/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Sub-system 2</a:t>
            </a:r>
          </a:p>
        </p:txBody>
      </p:sp>
      <p:sp>
        <p:nvSpPr>
          <p:cNvPr id="3850" name="Shape 3850"/>
          <p:cNvSpPr/>
          <p:nvPr/>
        </p:nvSpPr>
        <p:spPr>
          <a:xfrm>
            <a:off x="1515292" y="4989434"/>
            <a:ext cx="1464646" cy="3936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400"/>
            </a:lvl1pPr>
          </a:lstStyle>
          <a:p>
            <a:pPr lvl="0">
              <a:defRPr sz="1800">
                <a:uFillTx/>
              </a:defRPr>
            </a:pPr>
            <a:r>
              <a:rPr sz="2000">
                <a:uFill>
                  <a:solidFill/>
                </a:uFill>
              </a:rPr>
              <a:t>Sub-system 1</a:t>
            </a:r>
          </a:p>
        </p:txBody>
      </p:sp>
    </p:spTree>
    <p:extLst>
      <p:ext uri="{BB962C8B-B14F-4D97-AF65-F5344CB8AC3E}">
        <p14:creationId xmlns:p14="http://schemas.microsoft.com/office/powerpoint/2010/main" val="3173356014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2" name="Shape 385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853" name="Shape 385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Properties of a good architecture</a:t>
            </a:r>
          </a:p>
        </p:txBody>
      </p:sp>
      <p:sp>
        <p:nvSpPr>
          <p:cNvPr id="3854" name="Shape 3854"/>
          <p:cNvSpPr>
            <a:spLocks noGrp="1"/>
          </p:cNvSpPr>
          <p:nvPr>
            <p:ph type="body" idx="1"/>
          </p:nvPr>
        </p:nvSpPr>
        <p:spPr>
          <a:xfrm>
            <a:off x="304800" y="1306794"/>
            <a:ext cx="11480801" cy="4139451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/>
              <a:t>Minimises coupling between modules</a:t>
            </a:r>
          </a:p>
          <a:p>
            <a:pPr lvl="1">
              <a:defRPr sz="1800"/>
            </a:pPr>
            <a:r>
              <a:rPr sz="2300"/>
              <a:t>Goal: modules don’t need to know much about one another to interact</a:t>
            </a:r>
          </a:p>
          <a:p>
            <a:pPr lvl="1">
              <a:defRPr sz="1800"/>
            </a:pPr>
            <a:r>
              <a:rPr sz="2300"/>
              <a:t>Low coupling makes future change easier</a:t>
            </a:r>
          </a:p>
          <a:p>
            <a:pPr lvl="0">
              <a:defRPr sz="1800"/>
            </a:pPr>
            <a:r>
              <a:rPr sz="2300"/>
              <a:t>Maximises cohesion within modules</a:t>
            </a:r>
          </a:p>
          <a:p>
            <a:pPr lvl="1">
              <a:defRPr sz="1800"/>
            </a:pPr>
            <a:r>
              <a:rPr sz="2300"/>
              <a:t>Goal: the content of each module are strongly inter-related</a:t>
            </a:r>
          </a:p>
          <a:p>
            <a:pPr lvl="1">
              <a:defRPr sz="1800"/>
            </a:pPr>
            <a:r>
              <a:rPr sz="2300"/>
              <a:t>High cohesion makes a module easier to understand</a:t>
            </a:r>
          </a:p>
        </p:txBody>
      </p:sp>
      <p:sp>
        <p:nvSpPr>
          <p:cNvPr id="3855" name="Shape 3855"/>
          <p:cNvSpPr/>
          <p:nvPr/>
        </p:nvSpPr>
        <p:spPr>
          <a:xfrm>
            <a:off x="10013073" y="4871071"/>
            <a:ext cx="1667620" cy="1248064"/>
          </a:xfrm>
          <a:prstGeom prst="rect">
            <a:avLst/>
          </a:prstGeom>
          <a:solidFill>
            <a:srgbClr val="DEFB3E">
              <a:alpha val="96000"/>
            </a:srgbClr>
          </a:solidFill>
          <a:ln w="38100">
            <a:solidFill/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56" name="Shape 3856"/>
          <p:cNvSpPr/>
          <p:nvPr/>
        </p:nvSpPr>
        <p:spPr>
          <a:xfrm>
            <a:off x="6963561" y="4874409"/>
            <a:ext cx="1667620" cy="1248064"/>
          </a:xfrm>
          <a:prstGeom prst="rect">
            <a:avLst/>
          </a:prstGeom>
          <a:solidFill>
            <a:srgbClr val="DEFB3E">
              <a:alpha val="96000"/>
            </a:srgbClr>
          </a:solidFill>
          <a:ln w="38100">
            <a:solidFill/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57" name="Shape 3857"/>
          <p:cNvSpPr/>
          <p:nvPr/>
        </p:nvSpPr>
        <p:spPr>
          <a:xfrm>
            <a:off x="7517394" y="5089922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58" name="Shape 3858"/>
          <p:cNvSpPr/>
          <p:nvPr/>
        </p:nvSpPr>
        <p:spPr>
          <a:xfrm>
            <a:off x="8128582" y="5214938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59" name="Shape 3859"/>
          <p:cNvSpPr/>
          <p:nvPr/>
        </p:nvSpPr>
        <p:spPr>
          <a:xfrm>
            <a:off x="7803144" y="5792390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60" name="Shape 3860"/>
          <p:cNvSpPr/>
          <p:nvPr/>
        </p:nvSpPr>
        <p:spPr>
          <a:xfrm>
            <a:off x="7112582" y="5512594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61" name="Shape 3861"/>
          <p:cNvSpPr/>
          <p:nvPr/>
        </p:nvSpPr>
        <p:spPr>
          <a:xfrm>
            <a:off x="7148808" y="5174545"/>
            <a:ext cx="362015" cy="3437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2" h="21387" extrusionOk="0">
                <a:moveTo>
                  <a:pt x="21232" y="374"/>
                </a:moveTo>
                <a:cubicBezTo>
                  <a:pt x="17723" y="-213"/>
                  <a:pt x="14086" y="-109"/>
                  <a:pt x="10639" y="678"/>
                </a:cubicBezTo>
                <a:cubicBezTo>
                  <a:pt x="7141" y="1477"/>
                  <a:pt x="3946" y="2953"/>
                  <a:pt x="1341" y="4976"/>
                </a:cubicBezTo>
                <a:cubicBezTo>
                  <a:pt x="-56" y="8269"/>
                  <a:pt x="-368" y="11793"/>
                  <a:pt x="435" y="15210"/>
                </a:cubicBezTo>
                <a:cubicBezTo>
                  <a:pt x="944" y="17378"/>
                  <a:pt x="1895" y="19464"/>
                  <a:pt x="3252" y="21387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62" name="Shape 3862"/>
          <p:cNvSpPr/>
          <p:nvPr/>
        </p:nvSpPr>
        <p:spPr>
          <a:xfrm>
            <a:off x="7379486" y="5322186"/>
            <a:ext cx="398640" cy="2721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1" h="21600" extrusionOk="0">
                <a:moveTo>
                  <a:pt x="18190" y="0"/>
                </a:moveTo>
                <a:cubicBezTo>
                  <a:pt x="20528" y="1731"/>
                  <a:pt x="21600" y="4969"/>
                  <a:pt x="20838" y="8000"/>
                </a:cubicBezTo>
                <a:cubicBezTo>
                  <a:pt x="20265" y="10282"/>
                  <a:pt x="18708" y="12085"/>
                  <a:pt x="16698" y="12796"/>
                </a:cubicBezTo>
                <a:lnTo>
                  <a:pt x="3842" y="11258"/>
                </a:lnTo>
                <a:lnTo>
                  <a:pt x="0" y="21600"/>
                </a:ln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63" name="Shape 3863"/>
          <p:cNvSpPr/>
          <p:nvPr/>
        </p:nvSpPr>
        <p:spPr>
          <a:xfrm>
            <a:off x="7792478" y="5081085"/>
            <a:ext cx="411375" cy="14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8" h="20686" extrusionOk="0">
                <a:moveTo>
                  <a:pt x="0" y="10073"/>
                </a:moveTo>
                <a:cubicBezTo>
                  <a:pt x="1452" y="5798"/>
                  <a:pt x="3587" y="2626"/>
                  <a:pt x="6058" y="1073"/>
                </a:cubicBezTo>
                <a:cubicBezTo>
                  <a:pt x="9218" y="-914"/>
                  <a:pt x="12654" y="-118"/>
                  <a:pt x="15501" y="3261"/>
                </a:cubicBezTo>
                <a:cubicBezTo>
                  <a:pt x="18055" y="3766"/>
                  <a:pt x="20233" y="7159"/>
                  <a:pt x="21095" y="11973"/>
                </a:cubicBezTo>
                <a:cubicBezTo>
                  <a:pt x="21600" y="14793"/>
                  <a:pt x="21592" y="17877"/>
                  <a:pt x="21071" y="20686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64" name="Shape 3864"/>
          <p:cNvSpPr/>
          <p:nvPr/>
        </p:nvSpPr>
        <p:spPr>
          <a:xfrm>
            <a:off x="7364226" y="5672176"/>
            <a:ext cx="473843" cy="215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5" extrusionOk="0">
                <a:moveTo>
                  <a:pt x="0" y="3705"/>
                </a:moveTo>
                <a:cubicBezTo>
                  <a:pt x="1818" y="1438"/>
                  <a:pt x="4085" y="139"/>
                  <a:pt x="6447" y="10"/>
                </a:cubicBezTo>
                <a:cubicBezTo>
                  <a:pt x="8742" y="-115"/>
                  <a:pt x="11002" y="873"/>
                  <a:pt x="12894" y="2827"/>
                </a:cubicBezTo>
                <a:lnTo>
                  <a:pt x="13448" y="18178"/>
                </a:lnTo>
                <a:lnTo>
                  <a:pt x="21600" y="21485"/>
                </a:ln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65" name="Shape 3865"/>
          <p:cNvSpPr/>
          <p:nvPr/>
        </p:nvSpPr>
        <p:spPr>
          <a:xfrm>
            <a:off x="8021981" y="5432319"/>
            <a:ext cx="369916" cy="402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6" h="21600" extrusionOk="0">
                <a:moveTo>
                  <a:pt x="2443" y="21600"/>
                </a:moveTo>
                <a:cubicBezTo>
                  <a:pt x="832" y="19867"/>
                  <a:pt x="-17" y="17842"/>
                  <a:pt x="0" y="15775"/>
                </a:cubicBezTo>
                <a:cubicBezTo>
                  <a:pt x="17" y="13701"/>
                  <a:pt x="906" y="11675"/>
                  <a:pt x="2557" y="9950"/>
                </a:cubicBezTo>
                <a:cubicBezTo>
                  <a:pt x="4541" y="9099"/>
                  <a:pt x="6824" y="8648"/>
                  <a:pt x="9152" y="8648"/>
                </a:cubicBezTo>
                <a:cubicBezTo>
                  <a:pt x="11481" y="8649"/>
                  <a:pt x="13764" y="9099"/>
                  <a:pt x="15748" y="9951"/>
                </a:cubicBezTo>
                <a:cubicBezTo>
                  <a:pt x="18681" y="9067"/>
                  <a:pt x="20749" y="7184"/>
                  <a:pt x="21210" y="4976"/>
                </a:cubicBezTo>
                <a:cubicBezTo>
                  <a:pt x="21583" y="3193"/>
                  <a:pt x="20852" y="1384"/>
                  <a:pt x="19201" y="0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66" name="Shape 3866"/>
          <p:cNvSpPr/>
          <p:nvPr/>
        </p:nvSpPr>
        <p:spPr>
          <a:xfrm>
            <a:off x="10553488" y="5079821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67" name="Shape 3867"/>
          <p:cNvSpPr/>
          <p:nvPr/>
        </p:nvSpPr>
        <p:spPr>
          <a:xfrm>
            <a:off x="11164675" y="5204837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68" name="Shape 3868"/>
          <p:cNvSpPr/>
          <p:nvPr/>
        </p:nvSpPr>
        <p:spPr>
          <a:xfrm>
            <a:off x="10839238" y="5782290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69" name="Shape 3869"/>
          <p:cNvSpPr/>
          <p:nvPr/>
        </p:nvSpPr>
        <p:spPr>
          <a:xfrm>
            <a:off x="10148676" y="5502493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70" name="Shape 3870"/>
          <p:cNvSpPr/>
          <p:nvPr/>
        </p:nvSpPr>
        <p:spPr>
          <a:xfrm>
            <a:off x="10184902" y="5164444"/>
            <a:ext cx="362015" cy="3437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2" h="21387" extrusionOk="0">
                <a:moveTo>
                  <a:pt x="21232" y="374"/>
                </a:moveTo>
                <a:cubicBezTo>
                  <a:pt x="17723" y="-213"/>
                  <a:pt x="14086" y="-109"/>
                  <a:pt x="10639" y="678"/>
                </a:cubicBezTo>
                <a:cubicBezTo>
                  <a:pt x="7141" y="1477"/>
                  <a:pt x="3946" y="2953"/>
                  <a:pt x="1341" y="4976"/>
                </a:cubicBezTo>
                <a:cubicBezTo>
                  <a:pt x="-56" y="8269"/>
                  <a:pt x="-368" y="11793"/>
                  <a:pt x="435" y="15210"/>
                </a:cubicBezTo>
                <a:cubicBezTo>
                  <a:pt x="944" y="17378"/>
                  <a:pt x="1895" y="19464"/>
                  <a:pt x="3252" y="21387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71" name="Shape 3871"/>
          <p:cNvSpPr/>
          <p:nvPr/>
        </p:nvSpPr>
        <p:spPr>
          <a:xfrm>
            <a:off x="10828572" y="5070984"/>
            <a:ext cx="411375" cy="1492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8" h="20686" extrusionOk="0">
                <a:moveTo>
                  <a:pt x="0" y="10073"/>
                </a:moveTo>
                <a:cubicBezTo>
                  <a:pt x="1452" y="5798"/>
                  <a:pt x="3587" y="2626"/>
                  <a:pt x="6058" y="1073"/>
                </a:cubicBezTo>
                <a:cubicBezTo>
                  <a:pt x="9218" y="-914"/>
                  <a:pt x="12654" y="-118"/>
                  <a:pt x="15501" y="3261"/>
                </a:cubicBezTo>
                <a:cubicBezTo>
                  <a:pt x="18055" y="3766"/>
                  <a:pt x="20233" y="7159"/>
                  <a:pt x="21095" y="11973"/>
                </a:cubicBezTo>
                <a:cubicBezTo>
                  <a:pt x="21600" y="14793"/>
                  <a:pt x="21592" y="17877"/>
                  <a:pt x="21071" y="20686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72" name="Shape 3872"/>
          <p:cNvSpPr/>
          <p:nvPr/>
        </p:nvSpPr>
        <p:spPr>
          <a:xfrm>
            <a:off x="10400319" y="5662075"/>
            <a:ext cx="473843" cy="215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5" extrusionOk="0">
                <a:moveTo>
                  <a:pt x="0" y="3705"/>
                </a:moveTo>
                <a:cubicBezTo>
                  <a:pt x="1818" y="1438"/>
                  <a:pt x="4085" y="139"/>
                  <a:pt x="6447" y="10"/>
                </a:cubicBezTo>
                <a:cubicBezTo>
                  <a:pt x="8742" y="-115"/>
                  <a:pt x="11002" y="873"/>
                  <a:pt x="12894" y="2827"/>
                </a:cubicBezTo>
                <a:lnTo>
                  <a:pt x="13448" y="18178"/>
                </a:lnTo>
                <a:lnTo>
                  <a:pt x="21600" y="21485"/>
                </a:ln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73" name="Shape 3873"/>
          <p:cNvSpPr/>
          <p:nvPr/>
        </p:nvSpPr>
        <p:spPr>
          <a:xfrm>
            <a:off x="11058074" y="5422218"/>
            <a:ext cx="369916" cy="402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6" h="21600" extrusionOk="0">
                <a:moveTo>
                  <a:pt x="2443" y="21600"/>
                </a:moveTo>
                <a:cubicBezTo>
                  <a:pt x="832" y="19867"/>
                  <a:pt x="-17" y="17842"/>
                  <a:pt x="0" y="15775"/>
                </a:cubicBezTo>
                <a:cubicBezTo>
                  <a:pt x="17" y="13701"/>
                  <a:pt x="906" y="11675"/>
                  <a:pt x="2557" y="9950"/>
                </a:cubicBezTo>
                <a:cubicBezTo>
                  <a:pt x="4541" y="9099"/>
                  <a:pt x="6824" y="8648"/>
                  <a:pt x="9152" y="8648"/>
                </a:cubicBezTo>
                <a:cubicBezTo>
                  <a:pt x="11481" y="8649"/>
                  <a:pt x="13764" y="9099"/>
                  <a:pt x="15748" y="9951"/>
                </a:cubicBezTo>
                <a:cubicBezTo>
                  <a:pt x="18681" y="9067"/>
                  <a:pt x="20749" y="7184"/>
                  <a:pt x="21210" y="4976"/>
                </a:cubicBezTo>
                <a:cubicBezTo>
                  <a:pt x="21583" y="3193"/>
                  <a:pt x="20852" y="1384"/>
                  <a:pt x="19201" y="0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74" name="Shape 3874"/>
          <p:cNvSpPr/>
          <p:nvPr/>
        </p:nvSpPr>
        <p:spPr>
          <a:xfrm>
            <a:off x="10704432" y="5294328"/>
            <a:ext cx="254505" cy="5023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86" h="21600" extrusionOk="0">
                <a:moveTo>
                  <a:pt x="7097" y="0"/>
                </a:moveTo>
                <a:cubicBezTo>
                  <a:pt x="4207" y="965"/>
                  <a:pt x="2071" y="2224"/>
                  <a:pt x="931" y="3635"/>
                </a:cubicBezTo>
                <a:cubicBezTo>
                  <a:pt x="-19" y="4810"/>
                  <a:pt x="-246" y="6054"/>
                  <a:pt x="268" y="7269"/>
                </a:cubicBezTo>
                <a:cubicBezTo>
                  <a:pt x="4220" y="7324"/>
                  <a:pt x="8076" y="7758"/>
                  <a:pt x="11489" y="8532"/>
                </a:cubicBezTo>
                <a:cubicBezTo>
                  <a:pt x="14089" y="9122"/>
                  <a:pt x="16377" y="9898"/>
                  <a:pt x="18229" y="10819"/>
                </a:cubicBezTo>
                <a:cubicBezTo>
                  <a:pt x="19939" y="12544"/>
                  <a:pt x="20922" y="14364"/>
                  <a:pt x="21139" y="16210"/>
                </a:cubicBezTo>
                <a:cubicBezTo>
                  <a:pt x="21354" y="18027"/>
                  <a:pt x="20824" y="19847"/>
                  <a:pt x="19569" y="21600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75" name="Shape 3875"/>
          <p:cNvSpPr/>
          <p:nvPr/>
        </p:nvSpPr>
        <p:spPr>
          <a:xfrm>
            <a:off x="8111194" y="5466713"/>
            <a:ext cx="2042612" cy="645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239"/>
                </a:moveTo>
                <a:lnTo>
                  <a:pt x="5925" y="21600"/>
                </a:lnTo>
                <a:lnTo>
                  <a:pt x="9078" y="7505"/>
                </a:lnTo>
                <a:lnTo>
                  <a:pt x="17496" y="0"/>
                </a:lnTo>
                <a:lnTo>
                  <a:pt x="21600" y="4169"/>
                </a:lnTo>
              </a:path>
            </a:pathLst>
          </a:custGeom>
          <a:ln w="38100">
            <a:solidFill/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76" name="Shape 3876"/>
          <p:cNvSpPr/>
          <p:nvPr/>
        </p:nvSpPr>
        <p:spPr>
          <a:xfrm>
            <a:off x="3641718" y="4826581"/>
            <a:ext cx="1667620" cy="1248064"/>
          </a:xfrm>
          <a:prstGeom prst="rect">
            <a:avLst/>
          </a:prstGeom>
          <a:solidFill>
            <a:srgbClr val="DEFB3E">
              <a:alpha val="96000"/>
            </a:srgbClr>
          </a:solidFill>
          <a:ln w="38100">
            <a:solidFill/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77" name="Shape 3877"/>
          <p:cNvSpPr/>
          <p:nvPr/>
        </p:nvSpPr>
        <p:spPr>
          <a:xfrm>
            <a:off x="592204" y="4829919"/>
            <a:ext cx="1667620" cy="1248064"/>
          </a:xfrm>
          <a:prstGeom prst="rect">
            <a:avLst/>
          </a:prstGeom>
          <a:solidFill>
            <a:srgbClr val="DEFB3E">
              <a:alpha val="96000"/>
            </a:srgbClr>
          </a:solidFill>
          <a:ln w="38100">
            <a:solidFill/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78" name="Shape 3878"/>
          <p:cNvSpPr/>
          <p:nvPr/>
        </p:nvSpPr>
        <p:spPr>
          <a:xfrm>
            <a:off x="1146038" y="5045431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79" name="Shape 3879"/>
          <p:cNvSpPr/>
          <p:nvPr/>
        </p:nvSpPr>
        <p:spPr>
          <a:xfrm>
            <a:off x="1757226" y="5170446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80" name="Shape 3880"/>
          <p:cNvSpPr/>
          <p:nvPr/>
        </p:nvSpPr>
        <p:spPr>
          <a:xfrm>
            <a:off x="1431788" y="5747900"/>
            <a:ext cx="296492" cy="2235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81" name="Shape 3881"/>
          <p:cNvSpPr/>
          <p:nvPr/>
        </p:nvSpPr>
        <p:spPr>
          <a:xfrm>
            <a:off x="741226" y="5468102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82" name="Shape 3882"/>
          <p:cNvSpPr/>
          <p:nvPr/>
        </p:nvSpPr>
        <p:spPr>
          <a:xfrm>
            <a:off x="992870" y="5627686"/>
            <a:ext cx="473843" cy="2151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5" extrusionOk="0">
                <a:moveTo>
                  <a:pt x="0" y="3705"/>
                </a:moveTo>
                <a:cubicBezTo>
                  <a:pt x="1818" y="1438"/>
                  <a:pt x="4085" y="139"/>
                  <a:pt x="6447" y="10"/>
                </a:cubicBezTo>
                <a:cubicBezTo>
                  <a:pt x="8742" y="-115"/>
                  <a:pt x="11002" y="873"/>
                  <a:pt x="12894" y="2827"/>
                </a:cubicBezTo>
                <a:lnTo>
                  <a:pt x="13448" y="18178"/>
                </a:lnTo>
                <a:lnTo>
                  <a:pt x="21600" y="21485"/>
                </a:ln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83" name="Shape 3883"/>
          <p:cNvSpPr/>
          <p:nvPr/>
        </p:nvSpPr>
        <p:spPr>
          <a:xfrm>
            <a:off x="4182132" y="5035330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84" name="Shape 3884"/>
          <p:cNvSpPr/>
          <p:nvPr/>
        </p:nvSpPr>
        <p:spPr>
          <a:xfrm>
            <a:off x="4793319" y="5160346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85" name="Shape 3885"/>
          <p:cNvSpPr/>
          <p:nvPr/>
        </p:nvSpPr>
        <p:spPr>
          <a:xfrm>
            <a:off x="4467882" y="5737799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86" name="Shape 3886"/>
          <p:cNvSpPr/>
          <p:nvPr/>
        </p:nvSpPr>
        <p:spPr>
          <a:xfrm>
            <a:off x="3777320" y="5458002"/>
            <a:ext cx="296492" cy="223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rgbClr val="A0FA00"/>
          </a:solidFill>
          <a:ln w="38100">
            <a:solidFill>
              <a:srgbClr val="0B5D18"/>
            </a:solidFill>
            <a:round/>
          </a:ln>
        </p:spPr>
        <p:txBody>
          <a:bodyPr lIns="0" tIns="0" rIns="0" bIns="0" anchor="ctr"/>
          <a:lstStyle/>
          <a:p>
            <a:pPr lvl="0"/>
            <a:endParaRPr/>
          </a:p>
        </p:txBody>
      </p:sp>
      <p:sp>
        <p:nvSpPr>
          <p:cNvPr id="3887" name="Shape 3887"/>
          <p:cNvSpPr/>
          <p:nvPr/>
        </p:nvSpPr>
        <p:spPr>
          <a:xfrm>
            <a:off x="4686718" y="5377729"/>
            <a:ext cx="369916" cy="4026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6" h="21600" extrusionOk="0">
                <a:moveTo>
                  <a:pt x="2443" y="21600"/>
                </a:moveTo>
                <a:cubicBezTo>
                  <a:pt x="832" y="19867"/>
                  <a:pt x="-17" y="17842"/>
                  <a:pt x="0" y="15775"/>
                </a:cubicBezTo>
                <a:cubicBezTo>
                  <a:pt x="17" y="13701"/>
                  <a:pt x="906" y="11675"/>
                  <a:pt x="2557" y="9950"/>
                </a:cubicBezTo>
                <a:cubicBezTo>
                  <a:pt x="4541" y="9099"/>
                  <a:pt x="6824" y="8648"/>
                  <a:pt x="9152" y="8648"/>
                </a:cubicBezTo>
                <a:cubicBezTo>
                  <a:pt x="11481" y="8649"/>
                  <a:pt x="13764" y="9099"/>
                  <a:pt x="15748" y="9951"/>
                </a:cubicBezTo>
                <a:cubicBezTo>
                  <a:pt x="18681" y="9067"/>
                  <a:pt x="20749" y="7184"/>
                  <a:pt x="21210" y="4976"/>
                </a:cubicBezTo>
                <a:cubicBezTo>
                  <a:pt x="21583" y="3193"/>
                  <a:pt x="20852" y="1384"/>
                  <a:pt x="19201" y="0"/>
                </a:cubicBezTo>
              </a:path>
            </a:pathLst>
          </a:custGeom>
          <a:ln w="38100">
            <a:solidFill/>
            <a:round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88" name="Shape 3888"/>
          <p:cNvSpPr/>
          <p:nvPr/>
        </p:nvSpPr>
        <p:spPr>
          <a:xfrm>
            <a:off x="2052377" y="4944283"/>
            <a:ext cx="2222932" cy="5019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4347"/>
                </a:moveTo>
                <a:lnTo>
                  <a:pt x="6202" y="21600"/>
                </a:lnTo>
                <a:lnTo>
                  <a:pt x="11970" y="382"/>
                </a:lnTo>
                <a:lnTo>
                  <a:pt x="18453" y="0"/>
                </a:lnTo>
                <a:lnTo>
                  <a:pt x="21600" y="4503"/>
                </a:lnTo>
              </a:path>
            </a:pathLst>
          </a:custGeom>
          <a:ln w="38100">
            <a:solidFill/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89" name="Shape 3889"/>
          <p:cNvSpPr/>
          <p:nvPr/>
        </p:nvSpPr>
        <p:spPr>
          <a:xfrm>
            <a:off x="1739838" y="5422222"/>
            <a:ext cx="2042611" cy="6456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6239"/>
                </a:moveTo>
                <a:lnTo>
                  <a:pt x="5925" y="21600"/>
                </a:lnTo>
                <a:lnTo>
                  <a:pt x="9078" y="7505"/>
                </a:lnTo>
                <a:lnTo>
                  <a:pt x="17496" y="0"/>
                </a:lnTo>
                <a:lnTo>
                  <a:pt x="21600" y="4169"/>
                </a:lnTo>
              </a:path>
            </a:pathLst>
          </a:custGeom>
          <a:ln w="38100">
            <a:solidFill/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grpSp>
        <p:nvGrpSpPr>
          <p:cNvPr id="3892" name="Group 3892"/>
          <p:cNvGrpSpPr/>
          <p:nvPr/>
        </p:nvGrpSpPr>
        <p:grpSpPr>
          <a:xfrm>
            <a:off x="2736366" y="5791583"/>
            <a:ext cx="818177" cy="634493"/>
            <a:chOff x="101062" y="17902"/>
            <a:chExt cx="872720" cy="902388"/>
          </a:xfrm>
        </p:grpSpPr>
        <p:sp>
          <p:nvSpPr>
            <p:cNvPr id="3890" name="Shape 3890"/>
            <p:cNvSpPr/>
            <p:nvPr/>
          </p:nvSpPr>
          <p:spPr>
            <a:xfrm>
              <a:off x="101062" y="32248"/>
              <a:ext cx="872721" cy="872721"/>
            </a:xfrm>
            <a:prstGeom prst="line">
              <a:avLst/>
            </a:prstGeom>
            <a:noFill/>
            <a:ln w="254000" cap="flat">
              <a:solidFill>
                <a:srgbClr val="86100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3891" name="Shape 3891"/>
            <p:cNvSpPr/>
            <p:nvPr/>
          </p:nvSpPr>
          <p:spPr>
            <a:xfrm flipV="1">
              <a:off x="107327" y="17902"/>
              <a:ext cx="742104" cy="902390"/>
            </a:xfrm>
            <a:prstGeom prst="line">
              <a:avLst/>
            </a:prstGeom>
            <a:noFill/>
            <a:ln w="254000" cap="flat">
              <a:solidFill>
                <a:srgbClr val="86100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</p:grpSp>
      <p:sp>
        <p:nvSpPr>
          <p:cNvPr id="3893" name="Shape 3893"/>
          <p:cNvSpPr/>
          <p:nvPr/>
        </p:nvSpPr>
        <p:spPr>
          <a:xfrm>
            <a:off x="9011439" y="5693341"/>
            <a:ext cx="783658" cy="7830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5226"/>
                </a:moveTo>
                <a:lnTo>
                  <a:pt x="8339" y="21600"/>
                </a:lnTo>
                <a:lnTo>
                  <a:pt x="21600" y="0"/>
                </a:lnTo>
              </a:path>
            </a:pathLst>
          </a:custGeom>
          <a:ln w="254000">
            <a:solidFill>
              <a:srgbClr val="861001"/>
            </a:solidFill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94" name="Shape 3894"/>
          <p:cNvSpPr/>
          <p:nvPr/>
        </p:nvSpPr>
        <p:spPr>
          <a:xfrm>
            <a:off x="1404565" y="4574364"/>
            <a:ext cx="3828171" cy="5950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9304"/>
                </a:moveTo>
                <a:lnTo>
                  <a:pt x="3297" y="2345"/>
                </a:lnTo>
                <a:lnTo>
                  <a:pt x="14228" y="0"/>
                </a:lnTo>
                <a:lnTo>
                  <a:pt x="21600" y="7212"/>
                </a:lnTo>
                <a:lnTo>
                  <a:pt x="20014" y="21600"/>
                </a:lnTo>
              </a:path>
            </a:pathLst>
          </a:custGeom>
          <a:ln w="38100">
            <a:solidFill/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895" name="Shape 3895"/>
          <p:cNvSpPr/>
          <p:nvPr/>
        </p:nvSpPr>
        <p:spPr>
          <a:xfrm>
            <a:off x="845096" y="5683281"/>
            <a:ext cx="3928732" cy="6686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6809" y="21408"/>
                </a:lnTo>
                <a:lnTo>
                  <a:pt x="20208" y="21600"/>
                </a:lnTo>
                <a:lnTo>
                  <a:pt x="21600" y="7004"/>
                </a:lnTo>
              </a:path>
            </a:pathLst>
          </a:custGeom>
          <a:ln w="38100">
            <a:solidFill/>
            <a:custDash>
              <a:ds d="200000" sp="200000"/>
            </a:custDash>
            <a:miter lim="400000"/>
            <a:headEnd type="oval"/>
            <a:tailEnd type="oval"/>
          </a:ln>
        </p:spPr>
        <p:txBody>
          <a:bodyPr lIns="0" tIns="0" rIns="0" bIns="0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355302352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7" name="Shape 389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898" name="Shape 389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 dirty="0"/>
              <a:t>Low coupling</a:t>
            </a:r>
          </a:p>
        </p:txBody>
      </p:sp>
      <p:sp>
        <p:nvSpPr>
          <p:cNvPr id="3899" name="Shape 3899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 dirty="0"/>
              <a:t>Problem: How to support low dependency, low change impact, and increase reuse?</a:t>
            </a:r>
          </a:p>
          <a:p>
            <a:pPr lvl="0">
              <a:defRPr sz="1800"/>
            </a:pPr>
            <a:r>
              <a:rPr sz="2300" dirty="0"/>
              <a:t>Coupling:</a:t>
            </a:r>
          </a:p>
          <a:p>
            <a:pPr lvl="1">
              <a:defRPr sz="1800"/>
            </a:pPr>
            <a:r>
              <a:rPr sz="2300" dirty="0"/>
              <a:t>Measure how strongly one element is connected to, has knowledge of or relies on other elements</a:t>
            </a:r>
          </a:p>
          <a:p>
            <a:pPr lvl="1">
              <a:defRPr sz="1800"/>
            </a:pPr>
            <a:r>
              <a:rPr sz="2300" dirty="0"/>
              <a:t>An element with low (or weak) coupling is not dependent on two many other elements</a:t>
            </a:r>
          </a:p>
        </p:txBody>
      </p:sp>
    </p:spTree>
    <p:extLst>
      <p:ext uri="{BB962C8B-B14F-4D97-AF65-F5344CB8AC3E}">
        <p14:creationId xmlns:p14="http://schemas.microsoft.com/office/powerpoint/2010/main" val="3056411393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" name="Shape 390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02" name="Shape 390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 dirty="0"/>
              <a:t>When are two classes coupled?</a:t>
            </a:r>
          </a:p>
        </p:txBody>
      </p:sp>
      <p:sp>
        <p:nvSpPr>
          <p:cNvPr id="3903" name="Shape 390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 dirty="0"/>
              <a:t>Common forms of coupling from </a:t>
            </a:r>
            <a:r>
              <a:rPr sz="2300" dirty="0" err="1"/>
              <a:t>TypeX</a:t>
            </a:r>
            <a:r>
              <a:rPr sz="2300" dirty="0"/>
              <a:t> to </a:t>
            </a:r>
            <a:r>
              <a:rPr sz="2300" dirty="0" err="1"/>
              <a:t>TypeY</a:t>
            </a:r>
            <a:endParaRPr sz="2300" dirty="0"/>
          </a:p>
          <a:p>
            <a:pPr lvl="1">
              <a:defRPr sz="1800"/>
            </a:pPr>
            <a:r>
              <a:rPr sz="2300" dirty="0" err="1"/>
              <a:t>TypeX</a:t>
            </a:r>
            <a:r>
              <a:rPr sz="2300" dirty="0"/>
              <a:t> has an attribute that refers to a </a:t>
            </a:r>
            <a:r>
              <a:rPr sz="2300" dirty="0" err="1"/>
              <a:t>TypeY</a:t>
            </a:r>
            <a:r>
              <a:rPr sz="2300" dirty="0"/>
              <a:t> instance</a:t>
            </a:r>
          </a:p>
          <a:p>
            <a:pPr lvl="1">
              <a:defRPr sz="1800"/>
            </a:pPr>
            <a:r>
              <a:rPr sz="2300" dirty="0"/>
              <a:t>A </a:t>
            </a:r>
            <a:r>
              <a:rPr sz="2300" dirty="0" err="1"/>
              <a:t>TypeX</a:t>
            </a:r>
            <a:r>
              <a:rPr sz="2300" dirty="0"/>
              <a:t> object calls on services of </a:t>
            </a:r>
            <a:r>
              <a:rPr sz="2300" dirty="0" err="1"/>
              <a:t>TypeY</a:t>
            </a:r>
            <a:r>
              <a:rPr sz="2300" dirty="0"/>
              <a:t> object</a:t>
            </a:r>
          </a:p>
          <a:p>
            <a:pPr lvl="1">
              <a:defRPr sz="1800"/>
            </a:pPr>
            <a:r>
              <a:rPr sz="2300" dirty="0" err="1"/>
              <a:t>TypeX</a:t>
            </a:r>
            <a:r>
              <a:rPr sz="2300" dirty="0"/>
              <a:t> has a method that references an instance of </a:t>
            </a:r>
            <a:r>
              <a:rPr sz="2300" dirty="0" err="1"/>
              <a:t>TypeY</a:t>
            </a:r>
            <a:r>
              <a:rPr sz="2300" dirty="0"/>
              <a:t> (parameter, local variable, return type)</a:t>
            </a:r>
          </a:p>
          <a:p>
            <a:pPr lvl="1">
              <a:defRPr sz="1800"/>
            </a:pPr>
            <a:r>
              <a:rPr sz="2300" dirty="0" err="1"/>
              <a:t>TypeX</a:t>
            </a:r>
            <a:r>
              <a:rPr sz="2300" dirty="0"/>
              <a:t> is a direct or indirect subclass of </a:t>
            </a:r>
            <a:r>
              <a:rPr sz="2300" dirty="0" err="1"/>
              <a:t>TypeY</a:t>
            </a:r>
            <a:endParaRPr sz="2300" dirty="0"/>
          </a:p>
          <a:p>
            <a:pPr lvl="1">
              <a:defRPr sz="1800"/>
            </a:pPr>
            <a:r>
              <a:rPr sz="2300" dirty="0" err="1"/>
              <a:t>TypeX</a:t>
            </a:r>
            <a:r>
              <a:rPr sz="2300" dirty="0"/>
              <a:t> is an interface and </a:t>
            </a:r>
            <a:r>
              <a:rPr sz="2300" dirty="0" err="1"/>
              <a:t>TypeY</a:t>
            </a:r>
            <a:r>
              <a:rPr sz="2300" dirty="0"/>
              <a:t> implements that interface</a:t>
            </a:r>
          </a:p>
        </p:txBody>
      </p:sp>
    </p:spTree>
    <p:extLst>
      <p:ext uri="{BB962C8B-B14F-4D97-AF65-F5344CB8AC3E}">
        <p14:creationId xmlns:p14="http://schemas.microsoft.com/office/powerpoint/2010/main" val="186590856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5" name="Shape 390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06" name="Shape 390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High coupling (Bad)</a:t>
            </a:r>
          </a:p>
        </p:txBody>
      </p:sp>
      <p:sp>
        <p:nvSpPr>
          <p:cNvPr id="3907" name="Shape 390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 dirty="0"/>
              <a:t>A class with high (or strong) coupling relies on many other classes. Such classes may be undesirable and suffer from the following problems:</a:t>
            </a:r>
          </a:p>
          <a:p>
            <a:pPr lvl="1">
              <a:defRPr sz="1800"/>
            </a:pPr>
            <a:r>
              <a:rPr sz="2300" dirty="0"/>
              <a:t>Force local changes because of changes in related classes</a:t>
            </a:r>
          </a:p>
          <a:p>
            <a:pPr lvl="1">
              <a:defRPr sz="1800"/>
            </a:pPr>
            <a:r>
              <a:rPr sz="2300" dirty="0"/>
              <a:t>Harder to understand in isolation</a:t>
            </a:r>
          </a:p>
          <a:p>
            <a:pPr lvl="1">
              <a:defRPr sz="1800"/>
            </a:pPr>
            <a:r>
              <a:rPr sz="2300" dirty="0"/>
              <a:t>Harder to reuse because its use requires the additional presence of the classes on which it is dependent</a:t>
            </a:r>
          </a:p>
        </p:txBody>
      </p:sp>
    </p:spTree>
    <p:extLst>
      <p:ext uri="{BB962C8B-B14F-4D97-AF65-F5344CB8AC3E}">
        <p14:creationId xmlns:p14="http://schemas.microsoft.com/office/powerpoint/2010/main" val="310666317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9" name="Shape 390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10" name="Shape 391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Solution</a:t>
            </a:r>
          </a:p>
        </p:txBody>
      </p:sp>
      <p:sp>
        <p:nvSpPr>
          <p:cNvPr id="3911" name="Shape 3911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 dirty="0"/>
              <a:t>Assign responsibility so that coupling remain low</a:t>
            </a:r>
          </a:p>
          <a:p>
            <a:pPr lvl="0">
              <a:defRPr sz="1800"/>
            </a:pPr>
            <a:r>
              <a:rPr sz="2300" dirty="0"/>
              <a:t>Use this principle to evaluate alternatives</a:t>
            </a:r>
          </a:p>
        </p:txBody>
      </p:sp>
    </p:spTree>
    <p:extLst>
      <p:ext uri="{BB962C8B-B14F-4D97-AF65-F5344CB8AC3E}">
        <p14:creationId xmlns:p14="http://schemas.microsoft.com/office/powerpoint/2010/main" val="2233825039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3" name="Shape 3913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14" name="Shape 391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Low Coupling pattern</a:t>
            </a:r>
          </a:p>
        </p:txBody>
      </p:sp>
      <p:sp>
        <p:nvSpPr>
          <p:cNvPr id="3915" name="Shape 391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>
              <a:defRPr sz="1800"/>
            </a:pPr>
            <a:r>
              <a:rPr sz="2000"/>
              <a:t>Coupling</a:t>
            </a:r>
          </a:p>
          <a:p>
            <a:pPr lvl="1">
              <a:defRPr sz="1800"/>
            </a:pPr>
            <a:r>
              <a:rPr sz="2000"/>
              <a:t>the dependency between objects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When depended upon element changes, it affects the dependant also</a:t>
            </a:r>
          </a:p>
          <a:p>
            <a:pPr lvl="1">
              <a:defRPr sz="1800"/>
            </a:pPr>
            <a:r>
              <a:rPr sz="2000"/>
              <a:t>Two elements are coupled, if</a:t>
            </a:r>
          </a:p>
          <a:p>
            <a:pPr lvl="2">
              <a:defRPr sz="1800"/>
            </a:pPr>
            <a:r>
              <a:t>One element has aggregation/composition association with another element</a:t>
            </a:r>
          </a:p>
          <a:p>
            <a:pPr lvl="2">
              <a:defRPr sz="1800"/>
            </a:pPr>
            <a:r>
              <a:t>One element implements/extends other element</a:t>
            </a:r>
          </a:p>
          <a:p>
            <a:pPr lvl="1">
              <a:defRPr sz="1800"/>
            </a:pPr>
            <a:r>
              <a:rPr sz="2000"/>
              <a:t>A class has a low coupling if it is not dependent on too many other classes</a:t>
            </a:r>
          </a:p>
        </p:txBody>
      </p:sp>
      <p:sp>
        <p:nvSpPr>
          <p:cNvPr id="3916" name="Shape 3916"/>
          <p:cNvSpPr/>
          <p:nvPr/>
        </p:nvSpPr>
        <p:spPr>
          <a:xfrm>
            <a:off x="2635249" y="2008287"/>
            <a:ext cx="1629978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:A</a:t>
            </a:r>
          </a:p>
        </p:txBody>
      </p:sp>
      <p:sp>
        <p:nvSpPr>
          <p:cNvPr id="3917" name="Shape 3917"/>
          <p:cNvSpPr/>
          <p:nvPr/>
        </p:nvSpPr>
        <p:spPr>
          <a:xfrm>
            <a:off x="6584219" y="2008287"/>
            <a:ext cx="1629978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:B</a:t>
            </a:r>
          </a:p>
        </p:txBody>
      </p:sp>
      <p:sp>
        <p:nvSpPr>
          <p:cNvPr id="3918" name="Shape 3918"/>
          <p:cNvSpPr/>
          <p:nvPr/>
        </p:nvSpPr>
        <p:spPr>
          <a:xfrm>
            <a:off x="6584219" y="2975669"/>
            <a:ext cx="1629978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:C</a:t>
            </a:r>
          </a:p>
        </p:txBody>
      </p:sp>
      <p:sp>
        <p:nvSpPr>
          <p:cNvPr id="3919" name="Shape 3919"/>
          <p:cNvSpPr/>
          <p:nvPr/>
        </p:nvSpPr>
        <p:spPr>
          <a:xfrm>
            <a:off x="4250880" y="2142009"/>
            <a:ext cx="2347685" cy="1"/>
          </a:xfrm>
          <a:prstGeom prst="line">
            <a:avLst/>
          </a:prstGeom>
          <a:ln w="12700">
            <a:solidFill/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20" name="Shape 3920"/>
          <p:cNvSpPr/>
          <p:nvPr/>
        </p:nvSpPr>
        <p:spPr>
          <a:xfrm>
            <a:off x="7399207" y="2265210"/>
            <a:ext cx="1" cy="700429"/>
          </a:xfrm>
          <a:prstGeom prst="line">
            <a:avLst/>
          </a:prstGeom>
          <a:ln w="12700">
            <a:solidFill/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21" name="Shape 3921"/>
          <p:cNvSpPr/>
          <p:nvPr/>
        </p:nvSpPr>
        <p:spPr>
          <a:xfrm>
            <a:off x="4009895" y="2265210"/>
            <a:ext cx="2831886" cy="699794"/>
          </a:xfrm>
          <a:prstGeom prst="line">
            <a:avLst/>
          </a:prstGeom>
          <a:ln w="12700">
            <a:solidFill/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526794744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3" name="Shape 3923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19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24" name="Shape 39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Low Coupling pattern</a:t>
            </a:r>
          </a:p>
        </p:txBody>
      </p:sp>
      <p:sp>
        <p:nvSpPr>
          <p:cNvPr id="3925" name="Shape 3925"/>
          <p:cNvSpPr>
            <a:spLocks noGrp="1"/>
          </p:cNvSpPr>
          <p:nvPr>
            <p:ph type="body" idx="1"/>
          </p:nvPr>
        </p:nvSpPr>
        <p:spPr>
          <a:xfrm>
            <a:off x="297843" y="1314120"/>
            <a:ext cx="11487757" cy="554388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Problem</a:t>
            </a:r>
          </a:p>
          <a:p>
            <a:pPr lvl="1">
              <a:defRPr sz="1800"/>
            </a:pPr>
            <a:r>
              <a:rPr sz="2000"/>
              <a:t>How can we reduce the impact of change in depended upon elements on dependant elements?</a:t>
            </a:r>
          </a:p>
          <a:p>
            <a:pPr lvl="0">
              <a:defRPr sz="1800"/>
            </a:pPr>
            <a:r>
              <a:rPr sz="2000"/>
              <a:t>Solution</a:t>
            </a:r>
          </a:p>
          <a:p>
            <a:pPr lvl="1">
              <a:defRPr sz="1800"/>
            </a:pPr>
            <a:r>
              <a:rPr sz="2000"/>
              <a:t>Assign responsibilities so that coupling remain low</a:t>
            </a:r>
          </a:p>
          <a:p>
            <a:pPr lvl="1">
              <a:defRPr sz="1800"/>
            </a:pPr>
            <a:r>
              <a:rPr sz="2000"/>
              <a:t>Minimise the dependency hence making system maintainable, efficient and code reusable</a:t>
            </a:r>
          </a:p>
        </p:txBody>
      </p:sp>
      <p:grpSp>
        <p:nvGrpSpPr>
          <p:cNvPr id="3932" name="Group 3932"/>
          <p:cNvGrpSpPr/>
          <p:nvPr/>
        </p:nvGrpSpPr>
        <p:grpSpPr>
          <a:xfrm>
            <a:off x="3052527" y="3072212"/>
            <a:ext cx="5578948" cy="1336713"/>
            <a:chOff x="0" y="0"/>
            <a:chExt cx="5950876" cy="1901101"/>
          </a:xfrm>
        </p:grpSpPr>
        <p:sp>
          <p:nvSpPr>
            <p:cNvPr id="3926" name="Shape 3926"/>
            <p:cNvSpPr/>
            <p:nvPr/>
          </p:nvSpPr>
          <p:spPr>
            <a:xfrm>
              <a:off x="0" y="0"/>
              <a:ext cx="1738642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b="1">
                  <a:latin typeface="Verdana"/>
                  <a:ea typeface="Verdana"/>
                  <a:cs typeface="Verdana"/>
                  <a:sym typeface="Verdana"/>
                </a:rPr>
                <a:t>:A</a:t>
              </a:r>
            </a:p>
          </p:txBody>
        </p:sp>
        <p:sp>
          <p:nvSpPr>
            <p:cNvPr id="3927" name="Shape 3927"/>
            <p:cNvSpPr/>
            <p:nvPr/>
          </p:nvSpPr>
          <p:spPr>
            <a:xfrm>
              <a:off x="4212233" y="0"/>
              <a:ext cx="173864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:B</a:t>
              </a:r>
            </a:p>
          </p:txBody>
        </p:sp>
        <p:sp>
          <p:nvSpPr>
            <p:cNvPr id="3928" name="Shape 3928"/>
            <p:cNvSpPr/>
            <p:nvPr/>
          </p:nvSpPr>
          <p:spPr>
            <a:xfrm>
              <a:off x="4212233" y="1375832"/>
              <a:ext cx="173864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b="1">
                  <a:latin typeface="Verdana"/>
                  <a:ea typeface="Verdana"/>
                  <a:cs typeface="Verdana"/>
                  <a:sym typeface="Verdana"/>
                </a:rPr>
                <a:t>:C</a:t>
              </a:r>
            </a:p>
          </p:txBody>
        </p:sp>
        <p:sp>
          <p:nvSpPr>
            <p:cNvPr id="3929" name="Shape 3929"/>
            <p:cNvSpPr/>
            <p:nvPr/>
          </p:nvSpPr>
          <p:spPr>
            <a:xfrm>
              <a:off x="1723339" y="190182"/>
              <a:ext cx="25041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3930" name="Shape 3930"/>
            <p:cNvSpPr/>
            <p:nvPr/>
          </p:nvSpPr>
          <p:spPr>
            <a:xfrm>
              <a:off x="5081555" y="365402"/>
              <a:ext cx="1" cy="99616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3931" name="Shape 3931"/>
            <p:cNvSpPr/>
            <p:nvPr/>
          </p:nvSpPr>
          <p:spPr>
            <a:xfrm>
              <a:off x="1466288" y="365402"/>
              <a:ext cx="3020678" cy="99526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</p:grpSp>
      <p:grpSp>
        <p:nvGrpSpPr>
          <p:cNvPr id="3938" name="Group 3938"/>
          <p:cNvGrpSpPr/>
          <p:nvPr/>
        </p:nvGrpSpPr>
        <p:grpSpPr>
          <a:xfrm>
            <a:off x="3306527" y="5331815"/>
            <a:ext cx="5578948" cy="1336713"/>
            <a:chOff x="0" y="0"/>
            <a:chExt cx="5950876" cy="1901102"/>
          </a:xfrm>
        </p:grpSpPr>
        <p:sp>
          <p:nvSpPr>
            <p:cNvPr id="3933" name="Shape 3933"/>
            <p:cNvSpPr/>
            <p:nvPr/>
          </p:nvSpPr>
          <p:spPr>
            <a:xfrm>
              <a:off x="0" y="0"/>
              <a:ext cx="1738642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b="1">
                  <a:latin typeface="Verdana"/>
                  <a:ea typeface="Verdana"/>
                  <a:cs typeface="Verdana"/>
                  <a:sym typeface="Verdana"/>
                </a:rPr>
                <a:t>:A</a:t>
              </a:r>
            </a:p>
          </p:txBody>
        </p:sp>
        <p:sp>
          <p:nvSpPr>
            <p:cNvPr id="3934" name="Shape 3934"/>
            <p:cNvSpPr/>
            <p:nvPr/>
          </p:nvSpPr>
          <p:spPr>
            <a:xfrm>
              <a:off x="4212233" y="0"/>
              <a:ext cx="173864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:B</a:t>
              </a:r>
            </a:p>
          </p:txBody>
        </p:sp>
        <p:sp>
          <p:nvSpPr>
            <p:cNvPr id="3935" name="Shape 3935"/>
            <p:cNvSpPr/>
            <p:nvPr/>
          </p:nvSpPr>
          <p:spPr>
            <a:xfrm>
              <a:off x="4212233" y="1375833"/>
              <a:ext cx="173864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b="1">
                  <a:latin typeface="Verdana"/>
                  <a:ea typeface="Verdana"/>
                  <a:cs typeface="Verdana"/>
                  <a:sym typeface="Verdana"/>
                </a:rPr>
                <a:t>:C</a:t>
              </a:r>
            </a:p>
          </p:txBody>
        </p:sp>
        <p:sp>
          <p:nvSpPr>
            <p:cNvPr id="3936" name="Shape 3936"/>
            <p:cNvSpPr/>
            <p:nvPr/>
          </p:nvSpPr>
          <p:spPr>
            <a:xfrm>
              <a:off x="1723339" y="190182"/>
              <a:ext cx="2504197" cy="1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  <p:sp>
          <p:nvSpPr>
            <p:cNvPr id="3937" name="Shape 3937"/>
            <p:cNvSpPr/>
            <p:nvPr/>
          </p:nvSpPr>
          <p:spPr>
            <a:xfrm>
              <a:off x="5081555" y="365402"/>
              <a:ext cx="1" cy="996166"/>
            </a:xfrm>
            <a:prstGeom prst="line">
              <a:avLst/>
            </a:prstGeom>
            <a:noFill/>
            <a:ln w="127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pPr lvl="0"/>
              <a:endParaRPr/>
            </a:p>
          </p:txBody>
        </p:sp>
      </p:grpSp>
      <p:sp>
        <p:nvSpPr>
          <p:cNvPr id="3939" name="Shape 3939"/>
          <p:cNvSpPr/>
          <p:nvPr/>
        </p:nvSpPr>
        <p:spPr>
          <a:xfrm rot="5400000">
            <a:off x="5395516" y="4478114"/>
            <a:ext cx="892969" cy="682626"/>
          </a:xfrm>
          <a:prstGeom prst="rightArrow">
            <a:avLst>
              <a:gd name="adj1" fmla="val 32000"/>
              <a:gd name="adj2" fmla="val 111628"/>
            </a:avLst>
          </a:prstGeom>
          <a:solidFill>
            <a:srgbClr val="EBEBEB"/>
          </a:solidFill>
          <a:ln w="6350">
            <a:solidFill/>
            <a:round/>
          </a:ln>
        </p:spPr>
        <p:txBody>
          <a:bodyPr lIns="42520" tIns="42520" rIns="42520" bIns="42520" anchor="ctr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06235520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1" name="Shape 394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42" name="Shape 394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Example</a:t>
            </a:r>
          </a:p>
        </p:txBody>
      </p:sp>
      <p:sp>
        <p:nvSpPr>
          <p:cNvPr id="3943" name="Shape 3943"/>
          <p:cNvSpPr>
            <a:spLocks noGrp="1"/>
          </p:cNvSpPr>
          <p:nvPr>
            <p:ph type="body" idx="1"/>
          </p:nvPr>
        </p:nvSpPr>
        <p:spPr>
          <a:xfrm>
            <a:off x="399443" y="1370937"/>
            <a:ext cx="114242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We have three following class</a:t>
            </a:r>
            <a:r>
              <a:rPr lang="en-US" sz="2000" dirty="0"/>
              <a:t>es</a:t>
            </a:r>
            <a:r>
              <a:rPr sz="2000" dirty="0"/>
              <a:t> in the Cash Register system</a:t>
            </a:r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0">
              <a:defRPr sz="1800"/>
            </a:pPr>
            <a:r>
              <a:rPr sz="2000"/>
              <a:t>Supposing </a:t>
            </a:r>
            <a:r>
              <a:rPr sz="2000" dirty="0"/>
              <a:t>that we would like to create an instance of Payment and associate it with Sale.</a:t>
            </a:r>
          </a:p>
          <a:p>
            <a:pPr lvl="0">
              <a:defRPr sz="1800"/>
            </a:pPr>
            <a:r>
              <a:rPr sz="2000" dirty="0"/>
              <a:t>How can we assign responsibilities to adhere to Low Coupling pattern?</a:t>
            </a:r>
          </a:p>
        </p:txBody>
      </p:sp>
      <p:grpSp>
        <p:nvGrpSpPr>
          <p:cNvPr id="3946" name="Group 3946"/>
          <p:cNvGrpSpPr/>
          <p:nvPr/>
        </p:nvGrpSpPr>
        <p:grpSpPr>
          <a:xfrm>
            <a:off x="821529" y="2021279"/>
            <a:ext cx="2266655" cy="553581"/>
            <a:chOff x="0" y="0"/>
            <a:chExt cx="2417763" cy="787314"/>
          </a:xfrm>
        </p:grpSpPr>
        <p:sp>
          <p:nvSpPr>
            <p:cNvPr id="3944" name="Shape 3944"/>
            <p:cNvSpPr/>
            <p:nvPr/>
          </p:nvSpPr>
          <p:spPr>
            <a:xfrm>
              <a:off x="0" y="37147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 </a:t>
              </a:r>
            </a:p>
          </p:txBody>
        </p:sp>
        <p:sp>
          <p:nvSpPr>
            <p:cNvPr id="3945" name="Shape 3945"/>
            <p:cNvSpPr/>
            <p:nvPr/>
          </p:nvSpPr>
          <p:spPr>
            <a:xfrm>
              <a:off x="0" y="0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Register</a:t>
              </a:r>
            </a:p>
          </p:txBody>
        </p:sp>
      </p:grpSp>
      <p:grpSp>
        <p:nvGrpSpPr>
          <p:cNvPr id="3949" name="Group 3949"/>
          <p:cNvGrpSpPr/>
          <p:nvPr/>
        </p:nvGrpSpPr>
        <p:grpSpPr>
          <a:xfrm>
            <a:off x="4962672" y="2021279"/>
            <a:ext cx="2266655" cy="553581"/>
            <a:chOff x="0" y="0"/>
            <a:chExt cx="2417763" cy="787314"/>
          </a:xfrm>
        </p:grpSpPr>
        <p:sp>
          <p:nvSpPr>
            <p:cNvPr id="3947" name="Shape 3947"/>
            <p:cNvSpPr/>
            <p:nvPr/>
          </p:nvSpPr>
          <p:spPr>
            <a:xfrm>
              <a:off x="0" y="37147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 </a:t>
              </a:r>
            </a:p>
          </p:txBody>
        </p:sp>
        <p:sp>
          <p:nvSpPr>
            <p:cNvPr id="3948" name="Shape 3948"/>
            <p:cNvSpPr/>
            <p:nvPr/>
          </p:nvSpPr>
          <p:spPr>
            <a:xfrm>
              <a:off x="0" y="0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Payment</a:t>
              </a:r>
            </a:p>
          </p:txBody>
        </p:sp>
      </p:grpSp>
      <p:grpSp>
        <p:nvGrpSpPr>
          <p:cNvPr id="3952" name="Group 3952"/>
          <p:cNvGrpSpPr/>
          <p:nvPr/>
        </p:nvGrpSpPr>
        <p:grpSpPr>
          <a:xfrm>
            <a:off x="9103815" y="1963236"/>
            <a:ext cx="2266655" cy="639453"/>
            <a:chOff x="0" y="-12700"/>
            <a:chExt cx="2417763" cy="909444"/>
          </a:xfrm>
        </p:grpSpPr>
        <p:sp>
          <p:nvSpPr>
            <p:cNvPr id="3950" name="Shape 3950"/>
            <p:cNvSpPr/>
            <p:nvPr/>
          </p:nvSpPr>
          <p:spPr>
            <a:xfrm>
              <a:off x="0" y="371475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 </a:t>
              </a:r>
            </a:p>
          </p:txBody>
        </p:sp>
        <p:sp>
          <p:nvSpPr>
            <p:cNvPr id="3951" name="Shape 3951"/>
            <p:cNvSpPr/>
            <p:nvPr/>
          </p:nvSpPr>
          <p:spPr>
            <a:xfrm>
              <a:off x="0" y="-12700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/>
              <a:r>
                <a:t>Sale</a:t>
              </a:r>
            </a:p>
          </p:txBody>
        </p:sp>
      </p:grpSp>
      <p:pic>
        <p:nvPicPr>
          <p:cNvPr id="3953" name="pasted-image.png"/>
          <p:cNvPicPr/>
          <p:nvPr/>
        </p:nvPicPr>
        <p:blipFill>
          <a:blip r:embed="rId2"/>
          <a:stretch>
            <a:fillRect/>
          </a:stretch>
        </p:blipFill>
        <p:spPr>
          <a:xfrm>
            <a:off x="2907016" y="3603034"/>
            <a:ext cx="6377968" cy="2690705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1668331156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5" name="Shape 395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56" name="Shape 39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 dirty="0"/>
              <a:t>Solution</a:t>
            </a:r>
            <a:r>
              <a:rPr lang="en-US" sz="2700" b="1" dirty="0"/>
              <a:t>s</a:t>
            </a:r>
            <a:endParaRPr sz="2700" b="1" dirty="0"/>
          </a:p>
        </p:txBody>
      </p:sp>
      <p:sp>
        <p:nvSpPr>
          <p:cNvPr id="3957" name="Shape 3957"/>
          <p:cNvSpPr>
            <a:spLocks noGrp="1"/>
          </p:cNvSpPr>
          <p:nvPr>
            <p:ph type="body" idx="1"/>
          </p:nvPr>
        </p:nvSpPr>
        <p:spPr>
          <a:xfrm>
            <a:off x="356273" y="1271128"/>
            <a:ext cx="10972800" cy="5256672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dirty="0"/>
              <a:t>Solution 1</a:t>
            </a:r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/>
              <a:t>Solution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958" name="Shape 3958"/>
          <p:cNvSpPr/>
          <p:nvPr/>
        </p:nvSpPr>
        <p:spPr>
          <a:xfrm>
            <a:off x="2179916" y="1398539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:Register</a:t>
            </a:r>
          </a:p>
        </p:txBody>
      </p:sp>
      <p:sp>
        <p:nvSpPr>
          <p:cNvPr id="3959" name="Shape 3959"/>
          <p:cNvSpPr/>
          <p:nvPr/>
        </p:nvSpPr>
        <p:spPr>
          <a:xfrm>
            <a:off x="6321060" y="1398539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u="sng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u="none"/>
            </a:pPr>
            <a:r>
              <a:rPr u="sng"/>
              <a:t>p:Payment</a:t>
            </a:r>
          </a:p>
        </p:txBody>
      </p:sp>
      <p:sp>
        <p:nvSpPr>
          <p:cNvPr id="3960" name="Shape 3960"/>
          <p:cNvSpPr/>
          <p:nvPr/>
        </p:nvSpPr>
        <p:spPr>
          <a:xfrm>
            <a:off x="6321060" y="2709342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:Sale</a:t>
            </a:r>
          </a:p>
        </p:txBody>
      </p:sp>
      <p:sp>
        <p:nvSpPr>
          <p:cNvPr id="3961" name="Shape 3961"/>
          <p:cNvSpPr/>
          <p:nvPr/>
        </p:nvSpPr>
        <p:spPr>
          <a:xfrm>
            <a:off x="4447539" y="1536676"/>
            <a:ext cx="1872552" cy="1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62" name="Shape 3962"/>
          <p:cNvSpPr/>
          <p:nvPr/>
        </p:nvSpPr>
        <p:spPr>
          <a:xfrm flipV="1">
            <a:off x="3179896" y="2843065"/>
            <a:ext cx="3140195" cy="1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63" name="Shape 3963"/>
          <p:cNvSpPr/>
          <p:nvPr/>
        </p:nvSpPr>
        <p:spPr>
          <a:xfrm>
            <a:off x="3191949" y="1674451"/>
            <a:ext cx="1" cy="1180499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64" name="Shape 3964"/>
          <p:cNvSpPr/>
          <p:nvPr/>
        </p:nvSpPr>
        <p:spPr>
          <a:xfrm>
            <a:off x="4850401" y="1204261"/>
            <a:ext cx="99227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1: create()</a:t>
            </a:r>
          </a:p>
        </p:txBody>
      </p:sp>
      <p:sp>
        <p:nvSpPr>
          <p:cNvPr id="3965" name="Shape 3965"/>
          <p:cNvSpPr/>
          <p:nvPr/>
        </p:nvSpPr>
        <p:spPr>
          <a:xfrm>
            <a:off x="4850401" y="1627188"/>
            <a:ext cx="1022982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66" name="Shape 3966"/>
          <p:cNvSpPr/>
          <p:nvPr/>
        </p:nvSpPr>
        <p:spPr>
          <a:xfrm>
            <a:off x="4297017" y="2504498"/>
            <a:ext cx="165726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2: addPayment(p)</a:t>
            </a:r>
          </a:p>
        </p:txBody>
      </p:sp>
      <p:sp>
        <p:nvSpPr>
          <p:cNvPr id="3967" name="Shape 3967"/>
          <p:cNvSpPr/>
          <p:nvPr/>
        </p:nvSpPr>
        <p:spPr>
          <a:xfrm>
            <a:off x="4572588" y="2896271"/>
            <a:ext cx="1022982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15" name="Shape 3972">
            <a:extLst>
              <a:ext uri="{FF2B5EF4-FFF2-40B4-BE49-F238E27FC236}">
                <a16:creationId xmlns:a16="http://schemas.microsoft.com/office/drawing/2014/main" id="{F95D1ADA-BFAE-CB41-82EB-DA13583CD41B}"/>
              </a:ext>
            </a:extLst>
          </p:cNvPr>
          <p:cNvSpPr/>
          <p:nvPr/>
        </p:nvSpPr>
        <p:spPr>
          <a:xfrm>
            <a:off x="2179916" y="4335869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:Register</a:t>
            </a:r>
          </a:p>
        </p:txBody>
      </p:sp>
      <p:sp>
        <p:nvSpPr>
          <p:cNvPr id="16" name="Shape 3973">
            <a:extLst>
              <a:ext uri="{FF2B5EF4-FFF2-40B4-BE49-F238E27FC236}">
                <a16:creationId xmlns:a16="http://schemas.microsoft.com/office/drawing/2014/main" id="{8E70F485-1E0E-EC48-9FB5-685E46CEACEE}"/>
              </a:ext>
            </a:extLst>
          </p:cNvPr>
          <p:cNvSpPr/>
          <p:nvPr/>
        </p:nvSpPr>
        <p:spPr>
          <a:xfrm>
            <a:off x="6321060" y="4335869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:Sale</a:t>
            </a:r>
          </a:p>
        </p:txBody>
      </p:sp>
      <p:sp>
        <p:nvSpPr>
          <p:cNvPr id="17" name="Shape 3974">
            <a:extLst>
              <a:ext uri="{FF2B5EF4-FFF2-40B4-BE49-F238E27FC236}">
                <a16:creationId xmlns:a16="http://schemas.microsoft.com/office/drawing/2014/main" id="{3C7E241E-C6C9-7F45-B9AF-10C005C9307C}"/>
              </a:ext>
            </a:extLst>
          </p:cNvPr>
          <p:cNvSpPr/>
          <p:nvPr/>
        </p:nvSpPr>
        <p:spPr>
          <a:xfrm>
            <a:off x="6321060" y="5646672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:Payment</a:t>
            </a:r>
          </a:p>
        </p:txBody>
      </p:sp>
      <p:sp>
        <p:nvSpPr>
          <p:cNvPr id="18" name="Shape 3975">
            <a:extLst>
              <a:ext uri="{FF2B5EF4-FFF2-40B4-BE49-F238E27FC236}">
                <a16:creationId xmlns:a16="http://schemas.microsoft.com/office/drawing/2014/main" id="{2217A3F2-25BD-5A4A-A34B-2A200010A9FA}"/>
              </a:ext>
            </a:extLst>
          </p:cNvPr>
          <p:cNvSpPr/>
          <p:nvPr/>
        </p:nvSpPr>
        <p:spPr>
          <a:xfrm>
            <a:off x="4447539" y="4469591"/>
            <a:ext cx="1872552" cy="1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19" name="Shape 3976">
            <a:extLst>
              <a:ext uri="{FF2B5EF4-FFF2-40B4-BE49-F238E27FC236}">
                <a16:creationId xmlns:a16="http://schemas.microsoft.com/office/drawing/2014/main" id="{E94CB747-32C8-5E40-8FF3-A5EBF2E8709D}"/>
              </a:ext>
            </a:extLst>
          </p:cNvPr>
          <p:cNvSpPr/>
          <p:nvPr/>
        </p:nvSpPr>
        <p:spPr>
          <a:xfrm>
            <a:off x="7454386" y="4609141"/>
            <a:ext cx="1" cy="1034016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20" name="Shape 3977">
            <a:extLst>
              <a:ext uri="{FF2B5EF4-FFF2-40B4-BE49-F238E27FC236}">
                <a16:creationId xmlns:a16="http://schemas.microsoft.com/office/drawing/2014/main" id="{F3F3E580-96D9-E740-B0FF-8BA11BC53BDC}"/>
              </a:ext>
            </a:extLst>
          </p:cNvPr>
          <p:cNvSpPr/>
          <p:nvPr/>
        </p:nvSpPr>
        <p:spPr>
          <a:xfrm>
            <a:off x="4443507" y="4139209"/>
            <a:ext cx="17685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1: createPayment()</a:t>
            </a:r>
          </a:p>
        </p:txBody>
      </p:sp>
      <p:sp>
        <p:nvSpPr>
          <p:cNvPr id="21" name="Shape 3978">
            <a:extLst>
              <a:ext uri="{FF2B5EF4-FFF2-40B4-BE49-F238E27FC236}">
                <a16:creationId xmlns:a16="http://schemas.microsoft.com/office/drawing/2014/main" id="{71E6780E-64B7-E84C-90E9-BC32BD155273}"/>
              </a:ext>
            </a:extLst>
          </p:cNvPr>
          <p:cNvSpPr/>
          <p:nvPr/>
        </p:nvSpPr>
        <p:spPr>
          <a:xfrm>
            <a:off x="4850401" y="4559757"/>
            <a:ext cx="1022982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22" name="Shape 3979">
            <a:extLst>
              <a:ext uri="{FF2B5EF4-FFF2-40B4-BE49-F238E27FC236}">
                <a16:creationId xmlns:a16="http://schemas.microsoft.com/office/drawing/2014/main" id="{4C8E8783-41E2-8D43-9BF1-F933C3E9CFA3}"/>
              </a:ext>
            </a:extLst>
          </p:cNvPr>
          <p:cNvSpPr/>
          <p:nvPr/>
        </p:nvSpPr>
        <p:spPr>
          <a:xfrm>
            <a:off x="6309180" y="4951253"/>
            <a:ext cx="99227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1: create()</a:t>
            </a:r>
          </a:p>
        </p:txBody>
      </p:sp>
      <p:sp>
        <p:nvSpPr>
          <p:cNvPr id="23" name="Shape 3980">
            <a:extLst>
              <a:ext uri="{FF2B5EF4-FFF2-40B4-BE49-F238E27FC236}">
                <a16:creationId xmlns:a16="http://schemas.microsoft.com/office/drawing/2014/main" id="{988836E9-892A-9749-AC18-60978C3233F4}"/>
              </a:ext>
            </a:extLst>
          </p:cNvPr>
          <p:cNvSpPr/>
          <p:nvPr/>
        </p:nvSpPr>
        <p:spPr>
          <a:xfrm>
            <a:off x="7519649" y="4986582"/>
            <a:ext cx="1" cy="360810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24" name="Shape 3995">
            <a:extLst>
              <a:ext uri="{FF2B5EF4-FFF2-40B4-BE49-F238E27FC236}">
                <a16:creationId xmlns:a16="http://schemas.microsoft.com/office/drawing/2014/main" id="{A65D2D36-1701-A247-A66A-BFBF735F98F2}"/>
              </a:ext>
            </a:extLst>
          </p:cNvPr>
          <p:cNvSpPr/>
          <p:nvPr/>
        </p:nvSpPr>
        <p:spPr>
          <a:xfrm flipV="1">
            <a:off x="1119385" y="3434077"/>
            <a:ext cx="9930695" cy="1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243551203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6" name="Shape 398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3987" name="Shape 398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Solutions</a:t>
            </a:r>
          </a:p>
        </p:txBody>
      </p:sp>
      <p:sp>
        <p:nvSpPr>
          <p:cNvPr id="3988" name="Shape 3988"/>
          <p:cNvSpPr>
            <a:spLocks noGrp="1"/>
          </p:cNvSpPr>
          <p:nvPr>
            <p:ph type="body" idx="1"/>
          </p:nvPr>
        </p:nvSpPr>
        <p:spPr>
          <a:xfrm>
            <a:off x="447371" y="1306866"/>
            <a:ext cx="11363629" cy="524633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Solution 1: </a:t>
            </a:r>
            <a:r>
              <a:rPr sz="2000" i="1"/>
              <a:t>Register </a:t>
            </a:r>
            <a:r>
              <a:rPr sz="2000"/>
              <a:t>knows both </a:t>
            </a:r>
            <a:r>
              <a:rPr sz="2000" i="1"/>
              <a:t>Payment</a:t>
            </a:r>
            <a:r>
              <a:rPr sz="2000"/>
              <a:t> and </a:t>
            </a:r>
            <a:r>
              <a:rPr sz="2000" i="1"/>
              <a:t>Sale</a:t>
            </a:r>
            <a:r>
              <a:rPr sz="2000"/>
              <a:t>. </a:t>
            </a:r>
            <a:r>
              <a:rPr sz="2000" i="1"/>
              <a:t>Register</a:t>
            </a:r>
            <a:r>
              <a:rPr sz="2000"/>
              <a:t> depends on both </a:t>
            </a:r>
            <a:r>
              <a:rPr sz="2000" i="1"/>
              <a:t>Payment</a:t>
            </a:r>
            <a:r>
              <a:rPr sz="2000"/>
              <a:t> and </a:t>
            </a:r>
            <a:r>
              <a:rPr sz="2000" i="1"/>
              <a:t>Sale</a:t>
            </a:r>
            <a:r>
              <a:rPr sz="2000"/>
              <a:t>.</a:t>
            </a:r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Solution 2: </a:t>
            </a:r>
            <a:r>
              <a:rPr sz="2000" i="1"/>
              <a:t>Register</a:t>
            </a:r>
            <a:r>
              <a:rPr sz="2000"/>
              <a:t> and </a:t>
            </a:r>
            <a:r>
              <a:rPr sz="2000" i="1"/>
              <a:t>Sale</a:t>
            </a:r>
            <a:r>
              <a:rPr sz="2000"/>
              <a:t> are coupled, </a:t>
            </a:r>
            <a:r>
              <a:rPr sz="2000" i="1"/>
              <a:t>Sale</a:t>
            </a:r>
            <a:r>
              <a:rPr sz="2000"/>
              <a:t> and </a:t>
            </a:r>
            <a:r>
              <a:rPr sz="2000" i="1"/>
              <a:t>Payment</a:t>
            </a:r>
            <a:r>
              <a:rPr sz="2000"/>
              <a:t> are coupled.</a:t>
            </a:r>
          </a:p>
        </p:txBody>
      </p:sp>
      <p:sp>
        <p:nvSpPr>
          <p:cNvPr id="3989" name="Shape 3989"/>
          <p:cNvSpPr/>
          <p:nvPr/>
        </p:nvSpPr>
        <p:spPr>
          <a:xfrm>
            <a:off x="2638101" y="1969591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:Register</a:t>
            </a:r>
          </a:p>
        </p:txBody>
      </p:sp>
      <p:sp>
        <p:nvSpPr>
          <p:cNvPr id="3990" name="Shape 3990"/>
          <p:cNvSpPr/>
          <p:nvPr/>
        </p:nvSpPr>
        <p:spPr>
          <a:xfrm>
            <a:off x="6779246" y="1969591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u="sng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u="none"/>
            </a:pPr>
            <a:r>
              <a:rPr u="sng"/>
              <a:t>p:Payment</a:t>
            </a:r>
          </a:p>
        </p:txBody>
      </p:sp>
      <p:sp>
        <p:nvSpPr>
          <p:cNvPr id="3991" name="Shape 3991"/>
          <p:cNvSpPr/>
          <p:nvPr/>
        </p:nvSpPr>
        <p:spPr>
          <a:xfrm>
            <a:off x="6779246" y="3280394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:Sale</a:t>
            </a:r>
          </a:p>
        </p:txBody>
      </p:sp>
      <p:sp>
        <p:nvSpPr>
          <p:cNvPr id="3992" name="Shape 3992"/>
          <p:cNvSpPr/>
          <p:nvPr/>
        </p:nvSpPr>
        <p:spPr>
          <a:xfrm>
            <a:off x="2638101" y="4725888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:Register</a:t>
            </a:r>
          </a:p>
        </p:txBody>
      </p:sp>
      <p:sp>
        <p:nvSpPr>
          <p:cNvPr id="3993" name="Shape 3993"/>
          <p:cNvSpPr/>
          <p:nvPr/>
        </p:nvSpPr>
        <p:spPr>
          <a:xfrm>
            <a:off x="6779246" y="4725888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:Sale</a:t>
            </a:r>
          </a:p>
        </p:txBody>
      </p:sp>
      <p:sp>
        <p:nvSpPr>
          <p:cNvPr id="3994" name="Shape 3994"/>
          <p:cNvSpPr/>
          <p:nvPr/>
        </p:nvSpPr>
        <p:spPr>
          <a:xfrm>
            <a:off x="6779246" y="6036692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:Payment</a:t>
            </a:r>
          </a:p>
        </p:txBody>
      </p:sp>
      <p:sp>
        <p:nvSpPr>
          <p:cNvPr id="3995" name="Shape 3995"/>
          <p:cNvSpPr/>
          <p:nvPr/>
        </p:nvSpPr>
        <p:spPr>
          <a:xfrm flipV="1">
            <a:off x="876653" y="3875484"/>
            <a:ext cx="9930695" cy="1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96" name="Shape 3996"/>
          <p:cNvSpPr/>
          <p:nvPr/>
        </p:nvSpPr>
        <p:spPr>
          <a:xfrm>
            <a:off x="4905724" y="2107728"/>
            <a:ext cx="1872552" cy="1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97" name="Shape 3997"/>
          <p:cNvSpPr/>
          <p:nvPr/>
        </p:nvSpPr>
        <p:spPr>
          <a:xfrm>
            <a:off x="4905724" y="4859610"/>
            <a:ext cx="1872552" cy="1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98" name="Shape 3998"/>
          <p:cNvSpPr/>
          <p:nvPr/>
        </p:nvSpPr>
        <p:spPr>
          <a:xfrm>
            <a:off x="7912572" y="4999160"/>
            <a:ext cx="1" cy="1034016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3999" name="Shape 3999"/>
          <p:cNvSpPr/>
          <p:nvPr/>
        </p:nvSpPr>
        <p:spPr>
          <a:xfrm flipV="1">
            <a:off x="3638082" y="3414117"/>
            <a:ext cx="3140195" cy="1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00" name="Shape 4000"/>
          <p:cNvSpPr/>
          <p:nvPr/>
        </p:nvSpPr>
        <p:spPr>
          <a:xfrm>
            <a:off x="3650134" y="2245503"/>
            <a:ext cx="1" cy="1180499"/>
          </a:xfrm>
          <a:prstGeom prst="line">
            <a:avLst/>
          </a:prstGeom>
          <a:ln w="12700">
            <a:solidFill/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01" name="Shape 4001"/>
          <p:cNvSpPr/>
          <p:nvPr/>
        </p:nvSpPr>
        <p:spPr>
          <a:xfrm>
            <a:off x="5308586" y="1775313"/>
            <a:ext cx="99227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1: create()</a:t>
            </a:r>
          </a:p>
        </p:txBody>
      </p:sp>
      <p:sp>
        <p:nvSpPr>
          <p:cNvPr id="4002" name="Shape 4002"/>
          <p:cNvSpPr/>
          <p:nvPr/>
        </p:nvSpPr>
        <p:spPr>
          <a:xfrm>
            <a:off x="5308586" y="2198241"/>
            <a:ext cx="1022982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03" name="Shape 4003"/>
          <p:cNvSpPr/>
          <p:nvPr/>
        </p:nvSpPr>
        <p:spPr>
          <a:xfrm>
            <a:off x="4755203" y="3075550"/>
            <a:ext cx="165726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2: addPayment(p)</a:t>
            </a:r>
          </a:p>
        </p:txBody>
      </p:sp>
      <p:sp>
        <p:nvSpPr>
          <p:cNvPr id="4004" name="Shape 4004"/>
          <p:cNvSpPr/>
          <p:nvPr/>
        </p:nvSpPr>
        <p:spPr>
          <a:xfrm>
            <a:off x="5030774" y="3467323"/>
            <a:ext cx="1022982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05" name="Shape 4005"/>
          <p:cNvSpPr/>
          <p:nvPr/>
        </p:nvSpPr>
        <p:spPr>
          <a:xfrm>
            <a:off x="4901692" y="4529228"/>
            <a:ext cx="17685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1: createPayment()</a:t>
            </a:r>
          </a:p>
        </p:txBody>
      </p:sp>
      <p:sp>
        <p:nvSpPr>
          <p:cNvPr id="4006" name="Shape 4006"/>
          <p:cNvSpPr/>
          <p:nvPr/>
        </p:nvSpPr>
        <p:spPr>
          <a:xfrm>
            <a:off x="5308586" y="4949776"/>
            <a:ext cx="1022982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07" name="Shape 4007"/>
          <p:cNvSpPr/>
          <p:nvPr/>
        </p:nvSpPr>
        <p:spPr>
          <a:xfrm>
            <a:off x="6767365" y="5341272"/>
            <a:ext cx="99227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1: create()</a:t>
            </a:r>
          </a:p>
        </p:txBody>
      </p:sp>
      <p:sp>
        <p:nvSpPr>
          <p:cNvPr id="4008" name="Shape 4008"/>
          <p:cNvSpPr/>
          <p:nvPr/>
        </p:nvSpPr>
        <p:spPr>
          <a:xfrm>
            <a:off x="7977834" y="5376601"/>
            <a:ext cx="1" cy="360810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09" name="Shape 4009"/>
          <p:cNvSpPr/>
          <p:nvPr/>
        </p:nvSpPr>
        <p:spPr>
          <a:xfrm>
            <a:off x="9719469" y="4516650"/>
            <a:ext cx="1911016" cy="571501"/>
          </a:xfrm>
          <a:prstGeom prst="wedgeEllipseCallout">
            <a:avLst>
              <a:gd name="adj1" fmla="val -129792"/>
              <a:gd name="adj2" fmla="val 104904"/>
            </a:avLst>
          </a:prstGeom>
          <a:solidFill>
            <a:srgbClr val="EBEBEB"/>
          </a:solidFill>
          <a:ln w="6350"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42520" tIns="42520" rIns="42520" bIns="42520" anchor="ctr"/>
          <a:lstStyle>
            <a:lvl1pPr algn="ctr"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Lower coupling</a:t>
            </a:r>
          </a:p>
        </p:txBody>
      </p:sp>
    </p:spTree>
    <p:extLst>
      <p:ext uri="{BB962C8B-B14F-4D97-AF65-F5344CB8AC3E}">
        <p14:creationId xmlns:p14="http://schemas.microsoft.com/office/powerpoint/2010/main" val="1393043351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1" name="Shape 401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012" name="Shape 40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High Cohesion pattern</a:t>
            </a:r>
          </a:p>
        </p:txBody>
      </p:sp>
      <p:sp>
        <p:nvSpPr>
          <p:cNvPr id="4013" name="Shape 4013"/>
          <p:cNvSpPr>
            <a:spLocks noGrp="1"/>
          </p:cNvSpPr>
          <p:nvPr>
            <p:ph type="body" idx="1"/>
          </p:nvPr>
        </p:nvSpPr>
        <p:spPr>
          <a:xfrm>
            <a:off x="355600" y="1081945"/>
            <a:ext cx="11480801" cy="5005259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/>
              <a:t>Problem</a:t>
            </a:r>
          </a:p>
          <a:p>
            <a:pPr lvl="1">
              <a:defRPr sz="1800"/>
            </a:pPr>
            <a:r>
              <a:rPr sz="2300"/>
              <a:t>How to ensure that the operations of any element are functionally related?</a:t>
            </a:r>
          </a:p>
          <a:p>
            <a:pPr lvl="1">
              <a:defRPr sz="1800"/>
            </a:pPr>
            <a:endParaRPr sz="2300"/>
          </a:p>
          <a:p>
            <a:pPr lvl="0">
              <a:defRPr sz="1800"/>
            </a:pPr>
            <a:r>
              <a:rPr sz="2300"/>
              <a:t>Solution</a:t>
            </a:r>
          </a:p>
          <a:p>
            <a:pPr lvl="1">
              <a:defRPr sz="1800"/>
            </a:pPr>
            <a:r>
              <a:rPr sz="2300"/>
              <a:t>Clearly define the purpose of the element</a:t>
            </a:r>
          </a:p>
          <a:p>
            <a:pPr lvl="1">
              <a:defRPr sz="1800"/>
            </a:pPr>
            <a:r>
              <a:rPr sz="2300"/>
              <a:t>Gather related responsibilities into an element</a:t>
            </a:r>
          </a:p>
          <a:p>
            <a:pPr lvl="1">
              <a:defRPr sz="1800"/>
            </a:pPr>
            <a:endParaRPr sz="2300"/>
          </a:p>
          <a:p>
            <a:pPr lvl="0">
              <a:defRPr sz="1800"/>
            </a:pPr>
            <a:r>
              <a:rPr sz="2300"/>
              <a:t>Benefit</a:t>
            </a:r>
          </a:p>
          <a:p>
            <a:pPr lvl="1">
              <a:defRPr sz="1800"/>
            </a:pPr>
            <a:r>
              <a:rPr sz="2300"/>
              <a:t>Easily to understand and maintain</a:t>
            </a:r>
          </a:p>
        </p:txBody>
      </p:sp>
    </p:spTree>
    <p:extLst>
      <p:ext uri="{BB962C8B-B14F-4D97-AF65-F5344CB8AC3E}">
        <p14:creationId xmlns:p14="http://schemas.microsoft.com/office/powerpoint/2010/main" val="2016842028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5" name="Shape 401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016" name="Shape 40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Low cohesion</a:t>
            </a:r>
          </a:p>
        </p:txBody>
      </p:sp>
      <p:sp>
        <p:nvSpPr>
          <p:cNvPr id="4017" name="Shape 401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/>
              <a:t>A class with low cohesion does many unrelated things or does too much work. Such classes are undesirable; they suffer from the following problems:</a:t>
            </a:r>
          </a:p>
          <a:p>
            <a:pPr lvl="1">
              <a:defRPr sz="1800"/>
            </a:pPr>
            <a:r>
              <a:rPr sz="2300"/>
              <a:t>hard to comprehend</a:t>
            </a:r>
          </a:p>
          <a:p>
            <a:pPr lvl="1">
              <a:defRPr sz="1800"/>
            </a:pPr>
            <a:r>
              <a:rPr sz="2300"/>
              <a:t>hard to reuse</a:t>
            </a:r>
          </a:p>
          <a:p>
            <a:pPr lvl="1">
              <a:defRPr sz="1800"/>
            </a:pPr>
            <a:r>
              <a:rPr sz="2300"/>
              <a:t>hard to maintain</a:t>
            </a:r>
          </a:p>
          <a:p>
            <a:pPr lvl="1">
              <a:defRPr sz="1800"/>
            </a:pPr>
            <a:r>
              <a:rPr sz="2300"/>
              <a:t>constantly affected by change</a:t>
            </a:r>
          </a:p>
        </p:txBody>
      </p:sp>
    </p:spTree>
    <p:extLst>
      <p:ext uri="{BB962C8B-B14F-4D97-AF65-F5344CB8AC3E}">
        <p14:creationId xmlns:p14="http://schemas.microsoft.com/office/powerpoint/2010/main" val="1657887320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9" name="Shape 4019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020" name="Shape 4020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High Cohesion pattern</a:t>
            </a:r>
          </a:p>
        </p:txBody>
      </p:sp>
      <p:sp>
        <p:nvSpPr>
          <p:cNvPr id="4021" name="Shape 4021"/>
          <p:cNvSpPr>
            <a:spLocks noGrp="1"/>
          </p:cNvSpPr>
          <p:nvPr>
            <p:ph type="body" idx="1"/>
          </p:nvPr>
        </p:nvSpPr>
        <p:spPr>
          <a:xfrm>
            <a:off x="374043" y="1301030"/>
            <a:ext cx="11436957" cy="5226770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 for Low Cohesion</a:t>
            </a:r>
          </a:p>
        </p:txBody>
      </p:sp>
      <p:sp>
        <p:nvSpPr>
          <p:cNvPr id="4022" name="Shape 4022"/>
          <p:cNvSpPr/>
          <p:nvPr/>
        </p:nvSpPr>
        <p:spPr>
          <a:xfrm>
            <a:off x="8729495" y="1452890"/>
            <a:ext cx="2899111" cy="118527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getStudentDetails()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accessDB()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dbCalls()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insertDB()</a:t>
            </a:r>
          </a:p>
        </p:txBody>
      </p:sp>
      <p:sp>
        <p:nvSpPr>
          <p:cNvPr id="4023" name="Shape 4023"/>
          <p:cNvSpPr/>
          <p:nvPr/>
        </p:nvSpPr>
        <p:spPr>
          <a:xfrm>
            <a:off x="8729495" y="1182767"/>
            <a:ext cx="2899111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Student</a:t>
            </a:r>
          </a:p>
        </p:txBody>
      </p:sp>
      <p:sp>
        <p:nvSpPr>
          <p:cNvPr id="4024" name="Shape 4024"/>
          <p:cNvSpPr/>
          <p:nvPr/>
        </p:nvSpPr>
        <p:spPr>
          <a:xfrm>
            <a:off x="1968499" y="1582638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 u="sng">
                <a:latin typeface="Verdana"/>
                <a:ea typeface="Verdana"/>
                <a:cs typeface="Verdana"/>
                <a:sym typeface="Verdana"/>
              </a:rPr>
              <a:t>:Student</a:t>
            </a:r>
          </a:p>
        </p:txBody>
      </p:sp>
      <p:sp>
        <p:nvSpPr>
          <p:cNvPr id="4025" name="Shape 4025"/>
          <p:cNvSpPr/>
          <p:nvPr/>
        </p:nvSpPr>
        <p:spPr>
          <a:xfrm flipV="1">
            <a:off x="3101826" y="1866086"/>
            <a:ext cx="1" cy="4146980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26" name="Shape 4026"/>
          <p:cNvSpPr/>
          <p:nvPr/>
        </p:nvSpPr>
        <p:spPr>
          <a:xfrm>
            <a:off x="2995848" y="2243413"/>
            <a:ext cx="223863" cy="3317086"/>
          </a:xfrm>
          <a:prstGeom prst="rect">
            <a:avLst/>
          </a:prstGeom>
          <a:solidFill>
            <a:srgbClr val="EBEBEB"/>
          </a:solidFill>
          <a:ln w="6350">
            <a:solidFill/>
            <a:round/>
          </a:ln>
        </p:spPr>
        <p:txBody>
          <a:bodyPr lIns="42520" tIns="42520" rIns="42520" bIns="42520" anchor="ctr"/>
          <a:lstStyle/>
          <a:p>
            <a:pPr lvl="0"/>
            <a:endParaRPr/>
          </a:p>
        </p:txBody>
      </p:sp>
      <p:sp>
        <p:nvSpPr>
          <p:cNvPr id="4027" name="Shape 4027"/>
          <p:cNvSpPr/>
          <p:nvPr/>
        </p:nvSpPr>
        <p:spPr>
          <a:xfrm>
            <a:off x="3226674" y="2322835"/>
            <a:ext cx="2410706" cy="53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" y="445"/>
                </a:moveTo>
                <a:lnTo>
                  <a:pt x="21550" y="0"/>
                </a:lnTo>
                <a:lnTo>
                  <a:pt x="21600" y="21054"/>
                </a:lnTo>
                <a:lnTo>
                  <a:pt x="0" y="21600"/>
                </a:lnTo>
              </a:path>
            </a:pathLst>
          </a:cu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28" name="Shape 4028"/>
          <p:cNvSpPr/>
          <p:nvPr/>
        </p:nvSpPr>
        <p:spPr>
          <a:xfrm>
            <a:off x="3202861" y="3372522"/>
            <a:ext cx="2410706" cy="53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" y="445"/>
                </a:moveTo>
                <a:lnTo>
                  <a:pt x="21550" y="0"/>
                </a:lnTo>
                <a:lnTo>
                  <a:pt x="21600" y="21054"/>
                </a:lnTo>
                <a:lnTo>
                  <a:pt x="0" y="21600"/>
                </a:lnTo>
              </a:path>
            </a:pathLst>
          </a:cu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29" name="Shape 4029"/>
          <p:cNvSpPr/>
          <p:nvPr/>
        </p:nvSpPr>
        <p:spPr>
          <a:xfrm>
            <a:off x="3202861" y="4464784"/>
            <a:ext cx="2410706" cy="53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" y="445"/>
                </a:moveTo>
                <a:lnTo>
                  <a:pt x="21550" y="0"/>
                </a:lnTo>
                <a:lnTo>
                  <a:pt x="21600" y="21054"/>
                </a:lnTo>
                <a:lnTo>
                  <a:pt x="0" y="21600"/>
                </a:lnTo>
              </a:path>
            </a:pathLst>
          </a:cu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30" name="Shape 4030"/>
          <p:cNvSpPr/>
          <p:nvPr/>
        </p:nvSpPr>
        <p:spPr>
          <a:xfrm>
            <a:off x="4059998" y="2033128"/>
            <a:ext cx="2374959" cy="362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getStudentDetails()</a:t>
            </a:r>
          </a:p>
        </p:txBody>
      </p:sp>
      <p:sp>
        <p:nvSpPr>
          <p:cNvPr id="4031" name="Shape 4031"/>
          <p:cNvSpPr/>
          <p:nvPr/>
        </p:nvSpPr>
        <p:spPr>
          <a:xfrm>
            <a:off x="4659699" y="3092784"/>
            <a:ext cx="2597777" cy="362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accessDB(), dbCalls()</a:t>
            </a:r>
          </a:p>
        </p:txBody>
      </p:sp>
      <p:sp>
        <p:nvSpPr>
          <p:cNvPr id="4032" name="Shape 4032"/>
          <p:cNvSpPr/>
          <p:nvPr/>
        </p:nvSpPr>
        <p:spPr>
          <a:xfrm>
            <a:off x="4690497" y="4152441"/>
            <a:ext cx="1288123" cy="362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insertDB()</a:t>
            </a:r>
          </a:p>
        </p:txBody>
      </p:sp>
    </p:spTree>
    <p:extLst>
      <p:ext uri="{BB962C8B-B14F-4D97-AF65-F5344CB8AC3E}">
        <p14:creationId xmlns:p14="http://schemas.microsoft.com/office/powerpoint/2010/main" val="53926323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4" name="Shape 403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035" name="Shape 40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High Cohesion pattern</a:t>
            </a:r>
          </a:p>
        </p:txBody>
      </p:sp>
      <p:sp>
        <p:nvSpPr>
          <p:cNvPr id="4036" name="Shape 4036"/>
          <p:cNvSpPr>
            <a:spLocks noGrp="1"/>
          </p:cNvSpPr>
          <p:nvPr>
            <p:ph type="body" idx="1"/>
          </p:nvPr>
        </p:nvSpPr>
        <p:spPr>
          <a:xfrm>
            <a:off x="301624" y="1213256"/>
            <a:ext cx="11649076" cy="531454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 for High Cohesion</a:t>
            </a:r>
          </a:p>
        </p:txBody>
      </p:sp>
      <p:sp>
        <p:nvSpPr>
          <p:cNvPr id="4037" name="Shape 4037"/>
          <p:cNvSpPr/>
          <p:nvPr/>
        </p:nvSpPr>
        <p:spPr>
          <a:xfrm>
            <a:off x="8729495" y="1452890"/>
            <a:ext cx="2899111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 getStudentDetails()</a:t>
            </a:r>
          </a:p>
        </p:txBody>
      </p:sp>
      <p:sp>
        <p:nvSpPr>
          <p:cNvPr id="4038" name="Shape 4038"/>
          <p:cNvSpPr/>
          <p:nvPr/>
        </p:nvSpPr>
        <p:spPr>
          <a:xfrm>
            <a:off x="8729495" y="1182767"/>
            <a:ext cx="2899111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Student</a:t>
            </a:r>
          </a:p>
        </p:txBody>
      </p:sp>
      <p:sp>
        <p:nvSpPr>
          <p:cNvPr id="4039" name="Shape 4039"/>
          <p:cNvSpPr/>
          <p:nvPr/>
        </p:nvSpPr>
        <p:spPr>
          <a:xfrm>
            <a:off x="8729495" y="2664050"/>
            <a:ext cx="2899111" cy="908280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accessDB()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dbCalls()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insertDB()</a:t>
            </a:r>
          </a:p>
        </p:txBody>
      </p:sp>
      <p:sp>
        <p:nvSpPr>
          <p:cNvPr id="4040" name="Shape 4040"/>
          <p:cNvSpPr/>
          <p:nvPr/>
        </p:nvSpPr>
        <p:spPr>
          <a:xfrm>
            <a:off x="8729495" y="2393927"/>
            <a:ext cx="2899111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DB</a:t>
            </a:r>
          </a:p>
        </p:txBody>
      </p:sp>
      <p:sp>
        <p:nvSpPr>
          <p:cNvPr id="4041" name="Shape 4041"/>
          <p:cNvSpPr/>
          <p:nvPr/>
        </p:nvSpPr>
        <p:spPr>
          <a:xfrm>
            <a:off x="301624" y="1582638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 u="sng">
                <a:latin typeface="Verdana"/>
                <a:ea typeface="Verdana"/>
                <a:cs typeface="Verdana"/>
                <a:sym typeface="Verdana"/>
              </a:rPr>
              <a:t>:Student</a:t>
            </a:r>
          </a:p>
        </p:txBody>
      </p:sp>
      <p:sp>
        <p:nvSpPr>
          <p:cNvPr id="4042" name="Shape 4042"/>
          <p:cNvSpPr/>
          <p:nvPr/>
        </p:nvSpPr>
        <p:spPr>
          <a:xfrm flipV="1">
            <a:off x="1434951" y="1866086"/>
            <a:ext cx="1" cy="4146980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43" name="Shape 4043"/>
          <p:cNvSpPr/>
          <p:nvPr/>
        </p:nvSpPr>
        <p:spPr>
          <a:xfrm>
            <a:off x="1328973" y="2243413"/>
            <a:ext cx="223863" cy="3317086"/>
          </a:xfrm>
          <a:prstGeom prst="rect">
            <a:avLst/>
          </a:prstGeom>
          <a:solidFill>
            <a:srgbClr val="EBEBEB"/>
          </a:solidFill>
          <a:ln w="6350">
            <a:solidFill/>
            <a:round/>
          </a:ln>
        </p:spPr>
        <p:txBody>
          <a:bodyPr lIns="42520" tIns="42520" rIns="42520" bIns="42520" anchor="ctr"/>
          <a:lstStyle/>
          <a:p>
            <a:pPr lvl="0"/>
            <a:endParaRPr/>
          </a:p>
        </p:txBody>
      </p:sp>
      <p:sp>
        <p:nvSpPr>
          <p:cNvPr id="4044" name="Shape 4044"/>
          <p:cNvSpPr/>
          <p:nvPr/>
        </p:nvSpPr>
        <p:spPr>
          <a:xfrm>
            <a:off x="1559799" y="2322835"/>
            <a:ext cx="2410706" cy="53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" y="445"/>
                </a:moveTo>
                <a:lnTo>
                  <a:pt x="21550" y="0"/>
                </a:lnTo>
                <a:lnTo>
                  <a:pt x="21600" y="21054"/>
                </a:lnTo>
                <a:lnTo>
                  <a:pt x="0" y="21600"/>
                </a:lnTo>
              </a:path>
            </a:pathLst>
          </a:cu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45" name="Shape 4045"/>
          <p:cNvSpPr/>
          <p:nvPr/>
        </p:nvSpPr>
        <p:spPr>
          <a:xfrm>
            <a:off x="2393123" y="2033128"/>
            <a:ext cx="2374959" cy="362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getStudentDetails()</a:t>
            </a:r>
          </a:p>
        </p:txBody>
      </p:sp>
      <p:sp>
        <p:nvSpPr>
          <p:cNvPr id="4046" name="Shape 4046"/>
          <p:cNvSpPr/>
          <p:nvPr/>
        </p:nvSpPr>
        <p:spPr>
          <a:xfrm>
            <a:off x="5504890" y="1582638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 u="sng">
                <a:latin typeface="Verdana"/>
                <a:ea typeface="Verdana"/>
                <a:cs typeface="Verdana"/>
                <a:sym typeface="Verdana"/>
              </a:rPr>
              <a:t>:DB</a:t>
            </a:r>
          </a:p>
        </p:txBody>
      </p:sp>
      <p:sp>
        <p:nvSpPr>
          <p:cNvPr id="4047" name="Shape 4047"/>
          <p:cNvSpPr/>
          <p:nvPr/>
        </p:nvSpPr>
        <p:spPr>
          <a:xfrm flipV="1">
            <a:off x="6632263" y="1866086"/>
            <a:ext cx="1" cy="4146980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48" name="Shape 4048"/>
          <p:cNvSpPr/>
          <p:nvPr/>
        </p:nvSpPr>
        <p:spPr>
          <a:xfrm>
            <a:off x="6526285" y="2243413"/>
            <a:ext cx="223863" cy="3317086"/>
          </a:xfrm>
          <a:prstGeom prst="rect">
            <a:avLst/>
          </a:prstGeom>
          <a:solidFill>
            <a:srgbClr val="EBEBEB"/>
          </a:solidFill>
          <a:ln w="6350">
            <a:solidFill/>
            <a:round/>
          </a:ln>
        </p:spPr>
        <p:txBody>
          <a:bodyPr lIns="42520" tIns="42520" rIns="42520" bIns="42520" anchor="ctr"/>
          <a:lstStyle/>
          <a:p>
            <a:pPr lvl="0"/>
            <a:endParaRPr/>
          </a:p>
        </p:txBody>
      </p:sp>
      <p:sp>
        <p:nvSpPr>
          <p:cNvPr id="4049" name="Shape 4049"/>
          <p:cNvSpPr/>
          <p:nvPr/>
        </p:nvSpPr>
        <p:spPr>
          <a:xfrm flipV="1">
            <a:off x="1539003" y="3406455"/>
            <a:ext cx="4995161" cy="1"/>
          </a:xfrm>
          <a:prstGeom prst="line">
            <a:avLst/>
          </a:prstGeom>
          <a:ln w="25400">
            <a:solidFill/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50" name="Shape 4050"/>
          <p:cNvSpPr/>
          <p:nvPr/>
        </p:nvSpPr>
        <p:spPr>
          <a:xfrm>
            <a:off x="6733935" y="3789241"/>
            <a:ext cx="2410707" cy="53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" y="445"/>
                </a:moveTo>
                <a:lnTo>
                  <a:pt x="21550" y="0"/>
                </a:lnTo>
                <a:lnTo>
                  <a:pt x="21600" y="21054"/>
                </a:lnTo>
                <a:lnTo>
                  <a:pt x="0" y="21600"/>
                </a:lnTo>
              </a:path>
            </a:pathLst>
          </a:cu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51" name="Shape 4051"/>
          <p:cNvSpPr/>
          <p:nvPr/>
        </p:nvSpPr>
        <p:spPr>
          <a:xfrm>
            <a:off x="6733935" y="4881503"/>
            <a:ext cx="2410707" cy="53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" y="445"/>
                </a:moveTo>
                <a:lnTo>
                  <a:pt x="21550" y="0"/>
                </a:lnTo>
                <a:lnTo>
                  <a:pt x="21600" y="21054"/>
                </a:lnTo>
                <a:lnTo>
                  <a:pt x="0" y="21600"/>
                </a:lnTo>
              </a:path>
            </a:pathLst>
          </a:custGeom>
          <a:ln w="25400">
            <a:solidFill/>
            <a:round/>
            <a:tailEnd type="arrow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52" name="Shape 4052"/>
          <p:cNvSpPr/>
          <p:nvPr/>
        </p:nvSpPr>
        <p:spPr>
          <a:xfrm>
            <a:off x="8190773" y="3509503"/>
            <a:ext cx="2597777" cy="362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accessDB(), dbCalls()</a:t>
            </a:r>
          </a:p>
        </p:txBody>
      </p:sp>
      <p:sp>
        <p:nvSpPr>
          <p:cNvPr id="4053" name="Shape 4053"/>
          <p:cNvSpPr/>
          <p:nvPr/>
        </p:nvSpPr>
        <p:spPr>
          <a:xfrm>
            <a:off x="8221570" y="4569159"/>
            <a:ext cx="1799481" cy="362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insertDB(data)</a:t>
            </a:r>
          </a:p>
        </p:txBody>
      </p:sp>
      <p:sp>
        <p:nvSpPr>
          <p:cNvPr id="4054" name="Shape 4054"/>
          <p:cNvSpPr/>
          <p:nvPr/>
        </p:nvSpPr>
        <p:spPr>
          <a:xfrm>
            <a:off x="3132651" y="3133533"/>
            <a:ext cx="2376562" cy="362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insertStudent(data)</a:t>
            </a:r>
          </a:p>
        </p:txBody>
      </p:sp>
    </p:spTree>
    <p:extLst>
      <p:ext uri="{BB962C8B-B14F-4D97-AF65-F5344CB8AC3E}">
        <p14:creationId xmlns:p14="http://schemas.microsoft.com/office/powerpoint/2010/main" val="2258467056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6" name="Shape 405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057" name="Shape 405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 dirty="0"/>
              <a:t>Rules of thumb</a:t>
            </a:r>
          </a:p>
        </p:txBody>
      </p:sp>
      <p:sp>
        <p:nvSpPr>
          <p:cNvPr id="4058" name="Shape 405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 dirty="0"/>
              <a:t>For high cohesion, a class must</a:t>
            </a:r>
          </a:p>
          <a:p>
            <a:pPr lvl="1">
              <a:defRPr sz="1800"/>
            </a:pPr>
            <a:r>
              <a:rPr sz="2300" dirty="0"/>
              <a:t>have few methods</a:t>
            </a:r>
          </a:p>
          <a:p>
            <a:pPr lvl="1">
              <a:defRPr sz="1800"/>
            </a:pPr>
            <a:r>
              <a:rPr sz="2300" dirty="0"/>
              <a:t>have a small number of lines of code</a:t>
            </a:r>
          </a:p>
          <a:p>
            <a:pPr lvl="1">
              <a:defRPr sz="1800"/>
            </a:pPr>
            <a:r>
              <a:rPr sz="2300" dirty="0"/>
              <a:t>not do too much work</a:t>
            </a:r>
          </a:p>
          <a:p>
            <a:pPr lvl="1">
              <a:defRPr sz="1800"/>
            </a:pPr>
            <a:r>
              <a:rPr sz="2300" dirty="0"/>
              <a:t>have high relatedness of code</a:t>
            </a:r>
          </a:p>
        </p:txBody>
      </p:sp>
    </p:spTree>
    <p:extLst>
      <p:ext uri="{BB962C8B-B14F-4D97-AF65-F5344CB8AC3E}">
        <p14:creationId xmlns:p14="http://schemas.microsoft.com/office/powerpoint/2010/main" val="223057757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0" name="Shape 4060"/>
          <p:cNvSpPr>
            <a:spLocks noGrp="1"/>
          </p:cNvSpPr>
          <p:nvPr>
            <p:ph type="sldNum" sz="quarter" idx="2"/>
          </p:nvPr>
        </p:nvSpPr>
        <p:spPr>
          <a:xfrm>
            <a:off x="11679764" y="6548438"/>
            <a:ext cx="313269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061" name="Shape 406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endParaRPr/>
          </a:p>
        </p:txBody>
      </p:sp>
      <p:sp>
        <p:nvSpPr>
          <p:cNvPr id="4062" name="Shape 406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TODO </a:t>
            </a:r>
            <a:r>
              <a:rPr sz="2000" u="sng">
                <a:hlinkClick r:id="rId2"/>
              </a:rPr>
              <a:t>http://www.agilemodeling.com/artifacts/classDiagram.htm</a:t>
            </a:r>
            <a:r>
              <a:rPr sz="2000"/>
              <a:t> example if low and high cohesion</a:t>
            </a:r>
          </a:p>
        </p:txBody>
      </p:sp>
      <p:pic>
        <p:nvPicPr>
          <p:cNvPr id="4063" name="pasted-image.png"/>
          <p:cNvPicPr/>
          <p:nvPr/>
        </p:nvPicPr>
        <p:blipFill>
          <a:blip r:embed="rId3"/>
          <a:stretch>
            <a:fillRect/>
          </a:stretch>
        </p:blipFill>
        <p:spPr>
          <a:xfrm>
            <a:off x="3351610" y="2656582"/>
            <a:ext cx="5965031" cy="1723430"/>
          </a:xfrm>
          <a:prstGeom prst="rect">
            <a:avLst/>
          </a:prstGeom>
          <a:ln w="6350">
            <a:round/>
          </a:ln>
        </p:spPr>
      </p:pic>
    </p:spTree>
    <p:extLst>
      <p:ext uri="{BB962C8B-B14F-4D97-AF65-F5344CB8AC3E}">
        <p14:creationId xmlns:p14="http://schemas.microsoft.com/office/powerpoint/2010/main" val="223633040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" name="Shape 406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29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066" name="Shape 406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“creator” pattern</a:t>
            </a:r>
          </a:p>
        </p:txBody>
      </p:sp>
      <p:sp>
        <p:nvSpPr>
          <p:cNvPr id="4067" name="Shape 4067"/>
          <p:cNvSpPr>
            <a:spLocks noGrp="1"/>
          </p:cNvSpPr>
          <p:nvPr>
            <p:ph type="body" idx="1"/>
          </p:nvPr>
        </p:nvSpPr>
        <p:spPr>
          <a:xfrm>
            <a:off x="412143" y="1296647"/>
            <a:ext cx="114242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Problem</a:t>
            </a:r>
          </a:p>
          <a:p>
            <a:pPr lvl="1">
              <a:defRPr sz="1800"/>
            </a:pPr>
            <a:r>
              <a:rPr sz="2000"/>
              <a:t>Who is responsible for creating objects/instances of a class?</a:t>
            </a:r>
          </a:p>
          <a:p>
            <a:pPr lvl="0">
              <a:defRPr sz="1800"/>
            </a:pPr>
            <a:r>
              <a:rPr sz="2000"/>
              <a:t>Example</a:t>
            </a:r>
          </a:p>
          <a:p>
            <a:pPr lvl="1">
              <a:defRPr sz="1800"/>
            </a:pPr>
            <a:r>
              <a:rPr sz="2000"/>
              <a:t>Who should be responsible for creating a SalesLineItem instance?</a:t>
            </a:r>
          </a:p>
        </p:txBody>
      </p:sp>
      <p:grpSp>
        <p:nvGrpSpPr>
          <p:cNvPr id="4070" name="Group 4070"/>
          <p:cNvGrpSpPr/>
          <p:nvPr/>
        </p:nvGrpSpPr>
        <p:grpSpPr>
          <a:xfrm>
            <a:off x="2218530" y="2868984"/>
            <a:ext cx="2266655" cy="667881"/>
            <a:chOff x="0" y="-162558"/>
            <a:chExt cx="2417763" cy="949872"/>
          </a:xfrm>
        </p:grpSpPr>
        <p:sp>
          <p:nvSpPr>
            <p:cNvPr id="4068" name="Shape 4068"/>
            <p:cNvSpPr/>
            <p:nvPr/>
          </p:nvSpPr>
          <p:spPr>
            <a:xfrm>
              <a:off x="0" y="37147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time</a:t>
              </a:r>
            </a:p>
          </p:txBody>
        </p:sp>
        <p:sp>
          <p:nvSpPr>
            <p:cNvPr id="4069" name="Shape 4069"/>
            <p:cNvSpPr/>
            <p:nvPr/>
          </p:nvSpPr>
          <p:spPr>
            <a:xfrm>
              <a:off x="0" y="-162558"/>
              <a:ext cx="2417763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</a:t>
              </a:r>
            </a:p>
          </p:txBody>
        </p:sp>
      </p:grpSp>
      <p:grpSp>
        <p:nvGrpSpPr>
          <p:cNvPr id="4073" name="Group 4073"/>
          <p:cNvGrpSpPr/>
          <p:nvPr/>
        </p:nvGrpSpPr>
        <p:grpSpPr>
          <a:xfrm>
            <a:off x="2218530" y="4870425"/>
            <a:ext cx="2266655" cy="680582"/>
            <a:chOff x="0" y="0"/>
            <a:chExt cx="2417763" cy="967935"/>
          </a:xfrm>
        </p:grpSpPr>
        <p:sp>
          <p:nvSpPr>
            <p:cNvPr id="4071" name="Shape 4071"/>
            <p:cNvSpPr/>
            <p:nvPr/>
          </p:nvSpPr>
          <p:spPr>
            <a:xfrm>
              <a:off x="0" y="552098"/>
              <a:ext cx="2417763" cy="415837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quantity</a:t>
              </a:r>
            </a:p>
          </p:txBody>
        </p:sp>
        <p:sp>
          <p:nvSpPr>
            <p:cNvPr id="4072" name="Shape 4072"/>
            <p:cNvSpPr/>
            <p:nvPr/>
          </p:nvSpPr>
          <p:spPr>
            <a:xfrm>
              <a:off x="0" y="0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SalesLineItem</a:t>
              </a:r>
            </a:p>
          </p:txBody>
        </p:sp>
      </p:grpSp>
      <p:grpSp>
        <p:nvGrpSpPr>
          <p:cNvPr id="4076" name="Group 4076"/>
          <p:cNvGrpSpPr/>
          <p:nvPr/>
        </p:nvGrpSpPr>
        <p:grpSpPr>
          <a:xfrm>
            <a:off x="7477125" y="4838713"/>
            <a:ext cx="2924175" cy="904601"/>
            <a:chOff x="0" y="0"/>
            <a:chExt cx="2600060" cy="1286543"/>
          </a:xfrm>
        </p:grpSpPr>
        <p:sp>
          <p:nvSpPr>
            <p:cNvPr id="4074" name="Shape 4074"/>
            <p:cNvSpPr/>
            <p:nvPr/>
          </p:nvSpPr>
          <p:spPr>
            <a:xfrm>
              <a:off x="0" y="399483"/>
              <a:ext cx="2600061" cy="88706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description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price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itemID</a:t>
              </a:r>
            </a:p>
          </p:txBody>
        </p:sp>
        <p:sp>
          <p:nvSpPr>
            <p:cNvPr id="4075" name="Shape 4075"/>
            <p:cNvSpPr/>
            <p:nvPr/>
          </p:nvSpPr>
          <p:spPr>
            <a:xfrm>
              <a:off x="0" y="0"/>
              <a:ext cx="2600061" cy="709511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ProductDescription</a:t>
              </a:r>
            </a:p>
          </p:txBody>
        </p:sp>
      </p:grpSp>
      <p:sp>
        <p:nvSpPr>
          <p:cNvPr id="4077" name="Shape 4077"/>
          <p:cNvSpPr/>
          <p:nvPr/>
        </p:nvSpPr>
        <p:spPr>
          <a:xfrm flipV="1">
            <a:off x="3288357" y="3554291"/>
            <a:ext cx="1" cy="1280160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78" name="Shape 4078"/>
          <p:cNvSpPr/>
          <p:nvPr/>
        </p:nvSpPr>
        <p:spPr>
          <a:xfrm>
            <a:off x="4511276" y="5004147"/>
            <a:ext cx="2975476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79" name="Shape 4079"/>
          <p:cNvSpPr/>
          <p:nvPr/>
        </p:nvSpPr>
        <p:spPr>
          <a:xfrm>
            <a:off x="3375670" y="3523635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080" name="Shape 4080"/>
          <p:cNvSpPr/>
          <p:nvPr/>
        </p:nvSpPr>
        <p:spPr>
          <a:xfrm>
            <a:off x="3349268" y="4581492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081" name="Shape 4081"/>
          <p:cNvSpPr/>
          <p:nvPr/>
        </p:nvSpPr>
        <p:spPr>
          <a:xfrm>
            <a:off x="4500205" y="4742226"/>
            <a:ext cx="1948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*</a:t>
            </a:r>
          </a:p>
        </p:txBody>
      </p:sp>
      <p:sp>
        <p:nvSpPr>
          <p:cNvPr id="4082" name="Shape 4082"/>
          <p:cNvSpPr/>
          <p:nvPr/>
        </p:nvSpPr>
        <p:spPr>
          <a:xfrm>
            <a:off x="7135455" y="4715437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083" name="Shape 4083"/>
          <p:cNvSpPr/>
          <p:nvPr/>
        </p:nvSpPr>
        <p:spPr>
          <a:xfrm>
            <a:off x="3351857" y="4013279"/>
            <a:ext cx="82793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contains</a:t>
            </a:r>
          </a:p>
        </p:txBody>
      </p:sp>
      <p:sp>
        <p:nvSpPr>
          <p:cNvPr id="4084" name="Shape 4084"/>
          <p:cNvSpPr/>
          <p:nvPr/>
        </p:nvSpPr>
        <p:spPr>
          <a:xfrm>
            <a:off x="5356231" y="4719902"/>
            <a:ext cx="122772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described-by</a:t>
            </a:r>
          </a:p>
        </p:txBody>
      </p:sp>
    </p:spTree>
    <p:extLst>
      <p:ext uri="{BB962C8B-B14F-4D97-AF65-F5344CB8AC3E}">
        <p14:creationId xmlns:p14="http://schemas.microsoft.com/office/powerpoint/2010/main" val="1488988778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6" name="Shape 408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087" name="Shape 408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“creator” pattern</a:t>
            </a:r>
          </a:p>
        </p:txBody>
      </p:sp>
      <p:sp>
        <p:nvSpPr>
          <p:cNvPr id="4088" name="Shape 4088"/>
          <p:cNvSpPr>
            <a:spLocks noGrp="1"/>
          </p:cNvSpPr>
          <p:nvPr>
            <p:ph type="body" idx="1"/>
          </p:nvPr>
        </p:nvSpPr>
        <p:spPr>
          <a:xfrm>
            <a:off x="380999" y="1343884"/>
            <a:ext cx="11430001" cy="4729826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lvl="0">
              <a:defRPr sz="1800"/>
            </a:pPr>
            <a:r>
              <a:rPr sz="2000"/>
              <a:t>Example (continue)</a:t>
            </a:r>
          </a:p>
          <a:p>
            <a:pPr lvl="1">
              <a:defRPr sz="1800"/>
            </a:pPr>
            <a:r>
              <a:rPr sz="2000" i="1"/>
              <a:t>Sale</a:t>
            </a:r>
            <a:r>
              <a:rPr sz="2000"/>
              <a:t> contains </a:t>
            </a:r>
            <a:r>
              <a:rPr sz="2000" i="1"/>
              <a:t>SalesLineItem</a:t>
            </a:r>
            <a:r>
              <a:rPr sz="2000"/>
              <a:t>, so </a:t>
            </a:r>
            <a:r>
              <a:rPr sz="2000" i="1"/>
              <a:t>Sale</a:t>
            </a:r>
            <a:r>
              <a:rPr sz="2000"/>
              <a:t> should be responsible for creating objects of </a:t>
            </a:r>
            <a:r>
              <a:rPr sz="2000" i="1"/>
              <a:t>SalesLineItem</a:t>
            </a:r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1">
              <a:defRPr sz="1800"/>
            </a:pPr>
            <a:endParaRPr sz="2000" i="1"/>
          </a:p>
          <a:p>
            <a:pPr lvl="2">
              <a:defRPr sz="1800"/>
            </a:pPr>
            <a:r>
              <a:rPr i="1"/>
              <a:t>“makeLineItem(quantity)” </a:t>
            </a:r>
            <a:r>
              <a:t>method will be introduced to </a:t>
            </a:r>
            <a:r>
              <a:rPr i="1"/>
              <a:t>Sale</a:t>
            </a:r>
            <a:r>
              <a:t> class</a:t>
            </a:r>
          </a:p>
        </p:txBody>
      </p:sp>
      <p:sp>
        <p:nvSpPr>
          <p:cNvPr id="4089" name="Shape 4089"/>
          <p:cNvSpPr/>
          <p:nvPr/>
        </p:nvSpPr>
        <p:spPr>
          <a:xfrm>
            <a:off x="380999" y="2189857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 u="sng">
                <a:latin typeface="Verdana"/>
                <a:ea typeface="Verdana"/>
                <a:cs typeface="Verdana"/>
                <a:sym typeface="Verdana"/>
              </a:rPr>
              <a:t>:Register</a:t>
            </a:r>
          </a:p>
        </p:txBody>
      </p:sp>
      <p:sp>
        <p:nvSpPr>
          <p:cNvPr id="4090" name="Shape 4090"/>
          <p:cNvSpPr/>
          <p:nvPr/>
        </p:nvSpPr>
        <p:spPr>
          <a:xfrm>
            <a:off x="4915296" y="2189857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 u="sng">
                <a:latin typeface="Verdana"/>
                <a:ea typeface="Verdana"/>
                <a:cs typeface="Verdana"/>
                <a:sym typeface="Verdana"/>
              </a:rPr>
              <a:t>:Sale</a:t>
            </a:r>
          </a:p>
        </p:txBody>
      </p:sp>
      <p:sp>
        <p:nvSpPr>
          <p:cNvPr id="4091" name="Shape 4091"/>
          <p:cNvSpPr/>
          <p:nvPr/>
        </p:nvSpPr>
        <p:spPr>
          <a:xfrm>
            <a:off x="9340143" y="3710880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 u="sng">
                <a:latin typeface="Verdana"/>
                <a:ea typeface="Verdana"/>
                <a:cs typeface="Verdana"/>
                <a:sym typeface="Verdana"/>
              </a:rPr>
              <a:t>:SalesLineItem</a:t>
            </a:r>
          </a:p>
        </p:txBody>
      </p:sp>
      <p:sp>
        <p:nvSpPr>
          <p:cNvPr id="4092" name="Shape 4092"/>
          <p:cNvSpPr/>
          <p:nvPr/>
        </p:nvSpPr>
        <p:spPr>
          <a:xfrm flipV="1">
            <a:off x="1514325" y="2473304"/>
            <a:ext cx="1" cy="2139671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93" name="Shape 4093"/>
          <p:cNvSpPr/>
          <p:nvPr/>
        </p:nvSpPr>
        <p:spPr>
          <a:xfrm flipV="1">
            <a:off x="6096000" y="2464375"/>
            <a:ext cx="1" cy="2139671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94" name="Shape 4094"/>
          <p:cNvSpPr/>
          <p:nvPr/>
        </p:nvSpPr>
        <p:spPr>
          <a:xfrm>
            <a:off x="1408347" y="3342680"/>
            <a:ext cx="211958" cy="892969"/>
          </a:xfrm>
          <a:prstGeom prst="rect">
            <a:avLst/>
          </a:prstGeom>
          <a:solidFill>
            <a:srgbClr val="EBEBEB"/>
          </a:solidFill>
          <a:ln w="6350">
            <a:solidFill/>
            <a:round/>
          </a:ln>
        </p:spPr>
        <p:txBody>
          <a:bodyPr lIns="42520" tIns="42520" rIns="42520" bIns="42520" anchor="ctr"/>
          <a:lstStyle/>
          <a:p>
            <a:pPr lvl="0"/>
            <a:endParaRPr/>
          </a:p>
        </p:txBody>
      </p:sp>
      <p:sp>
        <p:nvSpPr>
          <p:cNvPr id="4095" name="Shape 4095"/>
          <p:cNvSpPr/>
          <p:nvPr/>
        </p:nvSpPr>
        <p:spPr>
          <a:xfrm>
            <a:off x="5995974" y="3342680"/>
            <a:ext cx="211958" cy="892969"/>
          </a:xfrm>
          <a:prstGeom prst="rect">
            <a:avLst/>
          </a:prstGeom>
          <a:solidFill>
            <a:srgbClr val="EBEBEB"/>
          </a:solidFill>
          <a:ln w="6350">
            <a:solidFill/>
            <a:round/>
          </a:ln>
        </p:spPr>
        <p:txBody>
          <a:bodyPr lIns="42520" tIns="42520" rIns="42520" bIns="42520" anchor="ctr"/>
          <a:lstStyle/>
          <a:p>
            <a:pPr lvl="0"/>
            <a:endParaRPr/>
          </a:p>
        </p:txBody>
      </p:sp>
      <p:sp>
        <p:nvSpPr>
          <p:cNvPr id="4096" name="Shape 4096"/>
          <p:cNvSpPr/>
          <p:nvPr/>
        </p:nvSpPr>
        <p:spPr>
          <a:xfrm flipV="1">
            <a:off x="10473470" y="3961183"/>
            <a:ext cx="1" cy="569365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97" name="Shape 4097"/>
          <p:cNvSpPr/>
          <p:nvPr/>
        </p:nvSpPr>
        <p:spPr>
          <a:xfrm>
            <a:off x="1615281" y="3543140"/>
            <a:ext cx="4379765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98" name="Shape 4098"/>
          <p:cNvSpPr/>
          <p:nvPr/>
        </p:nvSpPr>
        <p:spPr>
          <a:xfrm>
            <a:off x="6196955" y="3844603"/>
            <a:ext cx="3150878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099" name="Shape 4099"/>
          <p:cNvSpPr/>
          <p:nvPr/>
        </p:nvSpPr>
        <p:spPr>
          <a:xfrm>
            <a:off x="2649663" y="3247818"/>
            <a:ext cx="2211196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makeLineItem(quantity)</a:t>
            </a:r>
          </a:p>
        </p:txBody>
      </p:sp>
      <p:sp>
        <p:nvSpPr>
          <p:cNvPr id="4100" name="Shape 4100"/>
          <p:cNvSpPr/>
          <p:nvPr/>
        </p:nvSpPr>
        <p:spPr>
          <a:xfrm>
            <a:off x="7136335" y="3535057"/>
            <a:ext cx="151440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create(quantity)</a:t>
            </a:r>
          </a:p>
        </p:txBody>
      </p:sp>
    </p:spTree>
    <p:extLst>
      <p:ext uri="{BB962C8B-B14F-4D97-AF65-F5344CB8AC3E}">
        <p14:creationId xmlns:p14="http://schemas.microsoft.com/office/powerpoint/2010/main" val="4012786820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Shape 410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103" name="Shape 410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“creator” pattern</a:t>
            </a:r>
          </a:p>
        </p:txBody>
      </p:sp>
      <p:sp>
        <p:nvSpPr>
          <p:cNvPr id="4104" name="Shape 4104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Discussion</a:t>
            </a:r>
          </a:p>
          <a:p>
            <a:pPr lvl="1">
              <a:defRPr sz="1800"/>
            </a:pPr>
            <a:r>
              <a:rPr sz="2000" dirty="0"/>
              <a:t>Basic idea is to find a creator that needs to be connected to the created object in any event</a:t>
            </a:r>
          </a:p>
          <a:p>
            <a:pPr lvl="1">
              <a:defRPr sz="1800"/>
            </a:pPr>
            <a:r>
              <a:rPr sz="2000" dirty="0"/>
              <a:t>Also need </a:t>
            </a:r>
            <a:r>
              <a:rPr sz="2000" dirty="0" err="1"/>
              <a:t>initialisation</a:t>
            </a:r>
            <a:r>
              <a:rPr sz="2000" dirty="0"/>
              <a:t> data to be nearby - sometimes requires that it is passed into client. e.g., </a:t>
            </a:r>
            <a:r>
              <a:rPr sz="2000" i="1" dirty="0" err="1"/>
              <a:t>ProductionDescription</a:t>
            </a:r>
            <a:r>
              <a:rPr sz="2000" dirty="0"/>
              <a:t> needs to be passed in.</a:t>
            </a:r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r>
              <a:rPr sz="2000" dirty="0"/>
              <a:t>Assign class B the responsibility to create an instance of class A if one of these is true</a:t>
            </a:r>
          </a:p>
          <a:p>
            <a:pPr lvl="2">
              <a:defRPr sz="1800"/>
            </a:pPr>
            <a:r>
              <a:rPr dirty="0"/>
              <a:t>B contains A</a:t>
            </a:r>
          </a:p>
          <a:p>
            <a:pPr lvl="2">
              <a:defRPr sz="1800"/>
            </a:pPr>
            <a:r>
              <a:rPr dirty="0"/>
              <a:t>B aggregates A</a:t>
            </a:r>
          </a:p>
          <a:p>
            <a:pPr lvl="2">
              <a:defRPr sz="1800"/>
            </a:pPr>
            <a:r>
              <a:rPr dirty="0"/>
              <a:t>B has data for </a:t>
            </a:r>
            <a:r>
              <a:rPr dirty="0" err="1"/>
              <a:t>initialising</a:t>
            </a:r>
            <a:r>
              <a:rPr dirty="0"/>
              <a:t> A</a:t>
            </a:r>
          </a:p>
          <a:p>
            <a:pPr lvl="2">
              <a:defRPr sz="1800"/>
            </a:pPr>
            <a:r>
              <a:rPr dirty="0"/>
              <a:t>B closely uses A</a:t>
            </a:r>
          </a:p>
        </p:txBody>
      </p:sp>
    </p:spTree>
    <p:extLst>
      <p:ext uri="{BB962C8B-B14F-4D97-AF65-F5344CB8AC3E}">
        <p14:creationId xmlns:p14="http://schemas.microsoft.com/office/powerpoint/2010/main" val="1659514248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" name="Shape 4106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107" name="Shape 4107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“creator” pattern</a:t>
            </a:r>
          </a:p>
        </p:txBody>
      </p:sp>
      <p:sp>
        <p:nvSpPr>
          <p:cNvPr id="4108" name="Shape 4108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Application</a:t>
            </a:r>
          </a:p>
          <a:p>
            <a:pPr lvl="1">
              <a:defRPr sz="1800"/>
            </a:pPr>
            <a:r>
              <a:rPr sz="2000" dirty="0"/>
              <a:t>Guide in the assigning responsibility for creating objects</a:t>
            </a:r>
          </a:p>
          <a:p>
            <a:pPr lvl="1">
              <a:defRPr sz="1800"/>
            </a:pPr>
            <a:r>
              <a:rPr sz="2000" dirty="0"/>
              <a:t>Help to find the class who is responsible for creating objects</a:t>
            </a:r>
          </a:p>
          <a:p>
            <a:pPr lvl="1">
              <a:defRPr sz="1800"/>
            </a:pPr>
            <a:endParaRPr sz="2000" dirty="0"/>
          </a:p>
          <a:p>
            <a:pPr lvl="0">
              <a:defRPr sz="1800"/>
            </a:pPr>
            <a:r>
              <a:rPr sz="2000" dirty="0"/>
              <a:t>Advantages</a:t>
            </a:r>
          </a:p>
          <a:p>
            <a:pPr lvl="1">
              <a:defRPr sz="1800"/>
            </a:pPr>
            <a:r>
              <a:rPr sz="2000" dirty="0"/>
              <a:t>The “creator” pattern supports the low coupling between classes</a:t>
            </a:r>
          </a:p>
          <a:p>
            <a:pPr lvl="2">
              <a:defRPr sz="1800"/>
            </a:pPr>
            <a:r>
              <a:rPr dirty="0"/>
              <a:t>Fewer dependencies and more reusability</a:t>
            </a:r>
          </a:p>
          <a:p>
            <a:pPr lvl="2">
              <a:defRPr sz="1800"/>
            </a:pPr>
            <a:r>
              <a:rPr dirty="0"/>
              <a:t>The coupling is not increased because the created class is visible to the “creator” class</a:t>
            </a:r>
          </a:p>
        </p:txBody>
      </p:sp>
    </p:spTree>
    <p:extLst>
      <p:ext uri="{BB962C8B-B14F-4D97-AF65-F5344CB8AC3E}">
        <p14:creationId xmlns:p14="http://schemas.microsoft.com/office/powerpoint/2010/main" val="238698595"/>
      </p:ext>
    </p:extLst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0" name="Shape 4110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111" name="Shape 4111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112" name="Shape 4112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Problem</a:t>
            </a:r>
          </a:p>
          <a:p>
            <a:pPr lvl="1">
              <a:defRPr sz="1800"/>
            </a:pPr>
            <a:r>
              <a:rPr sz="2000" dirty="0"/>
              <a:t>What is the general principle of assigning responsibilities to objects?</a:t>
            </a:r>
          </a:p>
          <a:p>
            <a:pPr lvl="2">
              <a:defRPr sz="1800"/>
            </a:pPr>
            <a:r>
              <a:rPr dirty="0"/>
              <a:t>Consider that there may be 100s or 1000s of classes</a:t>
            </a:r>
          </a:p>
          <a:p>
            <a:pPr lvl="2">
              <a:defRPr sz="1800"/>
            </a:pPr>
            <a:r>
              <a:rPr dirty="0"/>
              <a:t>To which ones do we assign a particular functionality?</a:t>
            </a:r>
          </a:p>
          <a:p>
            <a:pPr lvl="2">
              <a:defRPr sz="1800"/>
            </a:pPr>
            <a:r>
              <a:rPr dirty="0"/>
              <a:t>Assigning well makes our design easier to understand, maintain, extend and reuse.</a:t>
            </a:r>
          </a:p>
          <a:p>
            <a:pPr lvl="2">
              <a:defRPr sz="1800"/>
            </a:pPr>
            <a:endParaRPr dirty="0"/>
          </a:p>
          <a:p>
            <a:pPr lvl="0">
              <a:defRPr sz="1800"/>
            </a:pPr>
            <a:r>
              <a:rPr sz="2000" dirty="0"/>
              <a:t>Solution</a:t>
            </a:r>
          </a:p>
          <a:p>
            <a:pPr lvl="1">
              <a:defRPr sz="1800"/>
            </a:pPr>
            <a:r>
              <a:rPr sz="2000" dirty="0"/>
              <a:t>Assign responsibility to the information expert - the class that has the information to fulfil the responsibility</a:t>
            </a:r>
          </a:p>
          <a:p>
            <a:pPr lvl="1">
              <a:defRPr sz="1800"/>
            </a:pPr>
            <a:endParaRPr sz="2000" dirty="0"/>
          </a:p>
          <a:p>
            <a:pPr lvl="0">
              <a:defRPr sz="1800"/>
            </a:pPr>
            <a:r>
              <a:rPr sz="2000" dirty="0"/>
              <a:t>Application</a:t>
            </a:r>
          </a:p>
          <a:p>
            <a:pPr lvl="1">
              <a:defRPr sz="1800"/>
            </a:pPr>
            <a:r>
              <a:rPr sz="2000" dirty="0"/>
              <a:t>One of the most used patterns in object-oriented design</a:t>
            </a:r>
          </a:p>
          <a:p>
            <a:pPr lvl="1">
              <a:defRPr sz="1800"/>
            </a:pPr>
            <a:r>
              <a:rPr sz="2000" dirty="0"/>
              <a:t>Accomplishing of a responsibility can request information distributed among several objects or classes, this implies several “partial experts” working together to fulfil the responsibility</a:t>
            </a:r>
          </a:p>
        </p:txBody>
      </p:sp>
    </p:spTree>
    <p:extLst>
      <p:ext uri="{BB962C8B-B14F-4D97-AF65-F5344CB8AC3E}">
        <p14:creationId xmlns:p14="http://schemas.microsoft.com/office/powerpoint/2010/main" val="3570666501"/>
      </p:ext>
    </p:extLst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4" name="Shape 411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115" name="Shape 411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116" name="Shape 4116"/>
          <p:cNvSpPr>
            <a:spLocks noGrp="1"/>
          </p:cNvSpPr>
          <p:nvPr>
            <p:ph type="body" idx="1"/>
          </p:nvPr>
        </p:nvSpPr>
        <p:spPr>
          <a:xfrm>
            <a:off x="412143" y="1248634"/>
            <a:ext cx="114369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</a:t>
            </a:r>
          </a:p>
          <a:p>
            <a:pPr lvl="1">
              <a:defRPr sz="1800"/>
            </a:pPr>
            <a:r>
              <a:rPr sz="2000"/>
              <a:t>In the </a:t>
            </a:r>
            <a:r>
              <a:rPr sz="2000" i="1"/>
              <a:t>CashRegister</a:t>
            </a:r>
            <a:r>
              <a:rPr sz="2000"/>
              <a:t> system, who is responsible for knowing the grand total of a </a:t>
            </a:r>
            <a:r>
              <a:rPr sz="2000" i="1"/>
              <a:t>Sale</a:t>
            </a:r>
            <a:r>
              <a:rPr sz="2000"/>
              <a:t>?</a:t>
            </a:r>
          </a:p>
        </p:txBody>
      </p:sp>
      <p:grpSp>
        <p:nvGrpSpPr>
          <p:cNvPr id="4119" name="Group 4119"/>
          <p:cNvGrpSpPr/>
          <p:nvPr/>
        </p:nvGrpSpPr>
        <p:grpSpPr>
          <a:xfrm>
            <a:off x="2333376" y="2352249"/>
            <a:ext cx="2266655" cy="667881"/>
            <a:chOff x="0" y="0"/>
            <a:chExt cx="2417763" cy="949871"/>
          </a:xfrm>
        </p:grpSpPr>
        <p:sp>
          <p:nvSpPr>
            <p:cNvPr id="4117" name="Shape 4117"/>
            <p:cNvSpPr/>
            <p:nvPr/>
          </p:nvSpPr>
          <p:spPr>
            <a:xfrm>
              <a:off x="0" y="534035"/>
              <a:ext cx="2417763" cy="415836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time</a:t>
              </a:r>
            </a:p>
          </p:txBody>
        </p:sp>
        <p:sp>
          <p:nvSpPr>
            <p:cNvPr id="4118" name="Shape 4118"/>
            <p:cNvSpPr/>
            <p:nvPr/>
          </p:nvSpPr>
          <p:spPr>
            <a:xfrm>
              <a:off x="0" y="0"/>
              <a:ext cx="2417763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</a:t>
              </a:r>
            </a:p>
          </p:txBody>
        </p:sp>
      </p:grpSp>
      <p:grpSp>
        <p:nvGrpSpPr>
          <p:cNvPr id="4122" name="Group 4122"/>
          <p:cNvGrpSpPr/>
          <p:nvPr/>
        </p:nvGrpSpPr>
        <p:grpSpPr>
          <a:xfrm>
            <a:off x="2333376" y="4239391"/>
            <a:ext cx="2266655" cy="667882"/>
            <a:chOff x="0" y="0"/>
            <a:chExt cx="2417763" cy="949873"/>
          </a:xfrm>
        </p:grpSpPr>
        <p:sp>
          <p:nvSpPr>
            <p:cNvPr id="4120" name="Shape 4120"/>
            <p:cNvSpPr/>
            <p:nvPr/>
          </p:nvSpPr>
          <p:spPr>
            <a:xfrm>
              <a:off x="0" y="534035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quantity</a:t>
              </a:r>
            </a:p>
          </p:txBody>
        </p:sp>
        <p:sp>
          <p:nvSpPr>
            <p:cNvPr id="4121" name="Shape 4121"/>
            <p:cNvSpPr/>
            <p:nvPr/>
          </p:nvSpPr>
          <p:spPr>
            <a:xfrm>
              <a:off x="0" y="0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SalesLineItem</a:t>
              </a:r>
            </a:p>
          </p:txBody>
        </p:sp>
      </p:grpSp>
      <p:grpSp>
        <p:nvGrpSpPr>
          <p:cNvPr id="4125" name="Group 4125"/>
          <p:cNvGrpSpPr/>
          <p:nvPr/>
        </p:nvGrpSpPr>
        <p:grpSpPr>
          <a:xfrm>
            <a:off x="7591970" y="4207805"/>
            <a:ext cx="2758530" cy="904349"/>
            <a:chOff x="0" y="0"/>
            <a:chExt cx="2599334" cy="1286184"/>
          </a:xfrm>
        </p:grpSpPr>
        <p:sp>
          <p:nvSpPr>
            <p:cNvPr id="4123" name="Shape 4123"/>
            <p:cNvSpPr/>
            <p:nvPr/>
          </p:nvSpPr>
          <p:spPr>
            <a:xfrm>
              <a:off x="0" y="399372"/>
              <a:ext cx="2599334" cy="88681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description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price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itemID</a:t>
              </a:r>
            </a:p>
          </p:txBody>
        </p:sp>
        <p:sp>
          <p:nvSpPr>
            <p:cNvPr id="4124" name="Shape 4124"/>
            <p:cNvSpPr/>
            <p:nvPr/>
          </p:nvSpPr>
          <p:spPr>
            <a:xfrm>
              <a:off x="0" y="0"/>
              <a:ext cx="2599334" cy="70931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ProductDescription</a:t>
              </a:r>
            </a:p>
          </p:txBody>
        </p:sp>
      </p:grpSp>
      <p:sp>
        <p:nvSpPr>
          <p:cNvPr id="4126" name="Shape 4126"/>
          <p:cNvSpPr/>
          <p:nvPr/>
        </p:nvSpPr>
        <p:spPr>
          <a:xfrm flipV="1">
            <a:off x="3466703" y="3033069"/>
            <a:ext cx="1" cy="1197016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127" name="Shape 4127"/>
          <p:cNvSpPr/>
          <p:nvPr/>
        </p:nvSpPr>
        <p:spPr>
          <a:xfrm>
            <a:off x="4626122" y="4373113"/>
            <a:ext cx="2975475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128" name="Shape 4128"/>
          <p:cNvSpPr/>
          <p:nvPr/>
        </p:nvSpPr>
        <p:spPr>
          <a:xfrm>
            <a:off x="3464113" y="2968192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129" name="Shape 4129"/>
          <p:cNvSpPr/>
          <p:nvPr/>
        </p:nvSpPr>
        <p:spPr>
          <a:xfrm>
            <a:off x="3464113" y="3950458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130" name="Shape 4130"/>
          <p:cNvSpPr/>
          <p:nvPr/>
        </p:nvSpPr>
        <p:spPr>
          <a:xfrm>
            <a:off x="4615052" y="4111192"/>
            <a:ext cx="1948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*</a:t>
            </a:r>
          </a:p>
        </p:txBody>
      </p:sp>
      <p:sp>
        <p:nvSpPr>
          <p:cNvPr id="4131" name="Shape 4131"/>
          <p:cNvSpPr/>
          <p:nvPr/>
        </p:nvSpPr>
        <p:spPr>
          <a:xfrm>
            <a:off x="7250302" y="4084403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132" name="Shape 4132"/>
          <p:cNvSpPr/>
          <p:nvPr/>
        </p:nvSpPr>
        <p:spPr>
          <a:xfrm>
            <a:off x="3440301" y="3457836"/>
            <a:ext cx="82793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contains</a:t>
            </a:r>
          </a:p>
        </p:txBody>
      </p:sp>
      <p:sp>
        <p:nvSpPr>
          <p:cNvPr id="4133" name="Shape 4133"/>
          <p:cNvSpPr/>
          <p:nvPr/>
        </p:nvSpPr>
        <p:spPr>
          <a:xfrm>
            <a:off x="5471077" y="4088868"/>
            <a:ext cx="122772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described-by</a:t>
            </a:r>
          </a:p>
        </p:txBody>
      </p:sp>
    </p:spTree>
    <p:extLst>
      <p:ext uri="{BB962C8B-B14F-4D97-AF65-F5344CB8AC3E}">
        <p14:creationId xmlns:p14="http://schemas.microsoft.com/office/powerpoint/2010/main" val="828347450"/>
      </p:ext>
    </p:extLst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5" name="Shape 413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136" name="Shape 413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137" name="Shape 4137"/>
          <p:cNvSpPr>
            <a:spLocks noGrp="1"/>
          </p:cNvSpPr>
          <p:nvPr>
            <p:ph type="body" idx="1"/>
          </p:nvPr>
        </p:nvSpPr>
        <p:spPr>
          <a:xfrm>
            <a:off x="412143" y="1263112"/>
            <a:ext cx="11436957" cy="5239287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Example: Responsibilities</a:t>
            </a:r>
          </a:p>
        </p:txBody>
      </p:sp>
      <p:graphicFrame>
        <p:nvGraphicFramePr>
          <p:cNvPr id="4138" name="Table 4138"/>
          <p:cNvGraphicFramePr/>
          <p:nvPr>
            <p:extLst>
              <p:ext uri="{D42A27DB-BD31-4B8C-83A1-F6EECF244321}">
                <p14:modId xmlns:p14="http://schemas.microsoft.com/office/powerpoint/2010/main" val="4094287359"/>
              </p:ext>
            </p:extLst>
          </p:nvPr>
        </p:nvGraphicFramePr>
        <p:xfrm>
          <a:off x="1131404" y="4673815"/>
          <a:ext cx="9794688" cy="1669112"/>
        </p:xfrm>
        <a:graphic>
          <a:graphicData uri="http://schemas.openxmlformats.org/drawingml/2006/table">
            <a:tbl>
              <a:tblPr/>
              <a:tblGrid>
                <a:gridCol w="4897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73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7278">
                <a:tc>
                  <a:txBody>
                    <a:bodyPr/>
                    <a:lstStyle/>
                    <a:p>
                      <a:pPr marL="40639" marR="40639" lvl="0" algn="ctr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uFill>
                            <a:solidFill/>
                          </a:uFill>
                          <a:sym typeface="Candara"/>
                        </a:rPr>
                        <a:t>Class</a:t>
                      </a:r>
                    </a:p>
                  </a:txBody>
                  <a:tcPr marL="47625" marR="47625" marT="35719" marB="3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tc>
                  <a:txBody>
                    <a:bodyPr/>
                    <a:lstStyle/>
                    <a:p>
                      <a:pPr marL="40639" marR="40639" lvl="0" algn="ctr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uFill>
                            <a:solidFill/>
                          </a:uFill>
                          <a:sym typeface="Candara"/>
                        </a:rPr>
                        <a:t>Responsibility</a:t>
                      </a:r>
                    </a:p>
                  </a:txBody>
                  <a:tcPr marL="47625" marR="47625" marT="35719" marB="3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DE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278">
                <a:tc>
                  <a:txBody>
                    <a:bodyPr/>
                    <a:lstStyle/>
                    <a:p>
                      <a:pPr marL="40639" marR="40639" lvl="0" algn="l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uFill>
                            <a:solidFill/>
                          </a:uFill>
                          <a:sym typeface="Candara"/>
                        </a:rPr>
                        <a:t>Sale</a:t>
                      </a:r>
                    </a:p>
                  </a:txBody>
                  <a:tcPr marL="47625" marR="47625" marT="35719" marB="3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639" marR="40639" lvl="0" algn="l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000">
                          <a:uFill>
                            <a:solidFill/>
                          </a:uFill>
                          <a:sym typeface="Candara"/>
                        </a:rPr>
                        <a:t>knows sale total</a:t>
                      </a:r>
                    </a:p>
                  </a:txBody>
                  <a:tcPr marL="47625" marR="47625" marT="35719" marB="3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278">
                <a:tc>
                  <a:txBody>
                    <a:bodyPr/>
                    <a:lstStyle/>
                    <a:p>
                      <a:pPr marL="40639" marR="40639" lvl="0" algn="l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uFill>
                            <a:solidFill/>
                          </a:uFill>
                          <a:sym typeface="Candara"/>
                        </a:rPr>
                        <a:t>SaleLineItem</a:t>
                      </a:r>
                    </a:p>
                  </a:txBody>
                  <a:tcPr marL="47625" marR="47625" marT="35719" marB="3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639" marR="40639" lvl="0" algn="l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000">
                          <a:uFill>
                            <a:solidFill/>
                          </a:uFill>
                          <a:sym typeface="Candara"/>
                        </a:rPr>
                        <a:t>knows line items subtotal</a:t>
                      </a:r>
                    </a:p>
                  </a:txBody>
                  <a:tcPr marL="47625" marR="47625" marT="35719" marB="3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278">
                <a:tc>
                  <a:txBody>
                    <a:bodyPr/>
                    <a:lstStyle/>
                    <a:p>
                      <a:pPr marL="40639" marR="40639" lvl="0" algn="l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000" b="1">
                          <a:uFill>
                            <a:solidFill/>
                          </a:uFill>
                          <a:sym typeface="Candara"/>
                        </a:rPr>
                        <a:t>ProductDescription</a:t>
                      </a:r>
                    </a:p>
                  </a:txBody>
                  <a:tcPr marL="47625" marR="47625" marT="35719" marB="3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0639" marR="40639" lvl="0" algn="l">
                        <a:spcBef>
                          <a:spcPts val="600"/>
                        </a:spcBef>
                        <a:tabLst>
                          <a:tab pos="914400" algn="l"/>
                        </a:tabLst>
                        <a:defRPr sz="1800"/>
                      </a:pPr>
                      <a:r>
                        <a:rPr sz="2000">
                          <a:uFill>
                            <a:solidFill/>
                          </a:uFill>
                          <a:sym typeface="Candara"/>
                        </a:rPr>
                        <a:t>knows product price</a:t>
                      </a:r>
                    </a:p>
                  </a:txBody>
                  <a:tcPr marL="47625" marR="47625" marT="35719" marB="357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141" name="Group 4141"/>
          <p:cNvGrpSpPr/>
          <p:nvPr/>
        </p:nvGrpSpPr>
        <p:grpSpPr>
          <a:xfrm>
            <a:off x="2248266" y="1574755"/>
            <a:ext cx="2266655" cy="655181"/>
            <a:chOff x="0" y="-144496"/>
            <a:chExt cx="2417763" cy="931810"/>
          </a:xfrm>
        </p:grpSpPr>
        <p:sp>
          <p:nvSpPr>
            <p:cNvPr id="4139" name="Shape 4139"/>
            <p:cNvSpPr/>
            <p:nvPr/>
          </p:nvSpPr>
          <p:spPr>
            <a:xfrm>
              <a:off x="0" y="37147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time</a:t>
              </a:r>
            </a:p>
          </p:txBody>
        </p:sp>
        <p:sp>
          <p:nvSpPr>
            <p:cNvPr id="4140" name="Shape 4140"/>
            <p:cNvSpPr/>
            <p:nvPr/>
          </p:nvSpPr>
          <p:spPr>
            <a:xfrm>
              <a:off x="0" y="-144496"/>
              <a:ext cx="2417763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</a:t>
              </a:r>
            </a:p>
          </p:txBody>
        </p:sp>
      </p:grpSp>
      <p:grpSp>
        <p:nvGrpSpPr>
          <p:cNvPr id="4144" name="Group 4144"/>
          <p:cNvGrpSpPr/>
          <p:nvPr/>
        </p:nvGrpSpPr>
        <p:grpSpPr>
          <a:xfrm>
            <a:off x="2248266" y="3499996"/>
            <a:ext cx="2266655" cy="680582"/>
            <a:chOff x="0" y="0"/>
            <a:chExt cx="2417763" cy="967935"/>
          </a:xfrm>
        </p:grpSpPr>
        <p:sp>
          <p:nvSpPr>
            <p:cNvPr id="4142" name="Shape 4142"/>
            <p:cNvSpPr/>
            <p:nvPr/>
          </p:nvSpPr>
          <p:spPr>
            <a:xfrm>
              <a:off x="0" y="552098"/>
              <a:ext cx="2417763" cy="415837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quantity</a:t>
              </a:r>
            </a:p>
          </p:txBody>
        </p:sp>
        <p:sp>
          <p:nvSpPr>
            <p:cNvPr id="4143" name="Shape 4143"/>
            <p:cNvSpPr/>
            <p:nvPr/>
          </p:nvSpPr>
          <p:spPr>
            <a:xfrm>
              <a:off x="0" y="0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SalesLineItem</a:t>
              </a:r>
            </a:p>
          </p:txBody>
        </p:sp>
      </p:grpSp>
      <p:grpSp>
        <p:nvGrpSpPr>
          <p:cNvPr id="4147" name="Group 4147"/>
          <p:cNvGrpSpPr/>
          <p:nvPr/>
        </p:nvGrpSpPr>
        <p:grpSpPr>
          <a:xfrm>
            <a:off x="7506858" y="3468410"/>
            <a:ext cx="2678541" cy="904348"/>
            <a:chOff x="0" y="0"/>
            <a:chExt cx="2599333" cy="1286183"/>
          </a:xfrm>
        </p:grpSpPr>
        <p:sp>
          <p:nvSpPr>
            <p:cNvPr id="4145" name="Shape 4145"/>
            <p:cNvSpPr/>
            <p:nvPr/>
          </p:nvSpPr>
          <p:spPr>
            <a:xfrm>
              <a:off x="0" y="399372"/>
              <a:ext cx="2599334" cy="886812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description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price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itemID</a:t>
              </a:r>
            </a:p>
          </p:txBody>
        </p:sp>
        <p:sp>
          <p:nvSpPr>
            <p:cNvPr id="4146" name="Shape 4146"/>
            <p:cNvSpPr/>
            <p:nvPr/>
          </p:nvSpPr>
          <p:spPr>
            <a:xfrm>
              <a:off x="0" y="0"/>
              <a:ext cx="2599334" cy="70931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ProductDescription</a:t>
              </a:r>
            </a:p>
          </p:txBody>
        </p:sp>
      </p:grpSp>
      <p:sp>
        <p:nvSpPr>
          <p:cNvPr id="4148" name="Shape 4148"/>
          <p:cNvSpPr/>
          <p:nvPr/>
        </p:nvSpPr>
        <p:spPr>
          <a:xfrm flipV="1">
            <a:off x="3381592" y="2268273"/>
            <a:ext cx="1" cy="1197016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149" name="Shape 4149"/>
          <p:cNvSpPr/>
          <p:nvPr/>
        </p:nvSpPr>
        <p:spPr>
          <a:xfrm>
            <a:off x="4541011" y="3633717"/>
            <a:ext cx="2975475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150" name="Shape 4150"/>
          <p:cNvSpPr/>
          <p:nvPr/>
        </p:nvSpPr>
        <p:spPr>
          <a:xfrm>
            <a:off x="3379003" y="2228796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151" name="Shape 4151"/>
          <p:cNvSpPr/>
          <p:nvPr/>
        </p:nvSpPr>
        <p:spPr>
          <a:xfrm>
            <a:off x="3379002" y="3211062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152" name="Shape 4152"/>
          <p:cNvSpPr/>
          <p:nvPr/>
        </p:nvSpPr>
        <p:spPr>
          <a:xfrm>
            <a:off x="4529941" y="3371796"/>
            <a:ext cx="1948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*</a:t>
            </a:r>
          </a:p>
        </p:txBody>
      </p:sp>
      <p:sp>
        <p:nvSpPr>
          <p:cNvPr id="4153" name="Shape 4153"/>
          <p:cNvSpPr/>
          <p:nvPr/>
        </p:nvSpPr>
        <p:spPr>
          <a:xfrm>
            <a:off x="7165190" y="3345007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154" name="Shape 4154"/>
          <p:cNvSpPr/>
          <p:nvPr/>
        </p:nvSpPr>
        <p:spPr>
          <a:xfrm>
            <a:off x="3355190" y="2718441"/>
            <a:ext cx="82793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contains</a:t>
            </a:r>
          </a:p>
        </p:txBody>
      </p:sp>
      <p:sp>
        <p:nvSpPr>
          <p:cNvPr id="4155" name="Shape 4155"/>
          <p:cNvSpPr/>
          <p:nvPr/>
        </p:nvSpPr>
        <p:spPr>
          <a:xfrm>
            <a:off x="5385965" y="3349472"/>
            <a:ext cx="122772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described-by</a:t>
            </a:r>
          </a:p>
        </p:txBody>
      </p:sp>
    </p:spTree>
    <p:extLst>
      <p:ext uri="{BB962C8B-B14F-4D97-AF65-F5344CB8AC3E}">
        <p14:creationId xmlns:p14="http://schemas.microsoft.com/office/powerpoint/2010/main" val="4206267464"/>
      </p:ext>
    </p:extLst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7" name="Shape 4157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158" name="Shape 415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159" name="Shape 4159"/>
          <p:cNvSpPr>
            <a:spLocks noGrp="1"/>
          </p:cNvSpPr>
          <p:nvPr>
            <p:ph type="body" idx="1"/>
          </p:nvPr>
        </p:nvSpPr>
        <p:spPr>
          <a:xfrm>
            <a:off x="386743" y="1314118"/>
            <a:ext cx="114242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 (continue)</a:t>
            </a:r>
          </a:p>
          <a:p>
            <a:pPr lvl="1">
              <a:defRPr sz="1800"/>
            </a:pPr>
            <a:r>
              <a:rPr sz="2000"/>
              <a:t>To calculate </a:t>
            </a:r>
            <a:r>
              <a:rPr sz="2000" b="1"/>
              <a:t>grand total</a:t>
            </a:r>
            <a:r>
              <a:rPr sz="2000"/>
              <a:t> of a </a:t>
            </a:r>
            <a:r>
              <a:rPr sz="2000" i="1"/>
              <a:t>Sale</a:t>
            </a:r>
            <a:r>
              <a:rPr sz="2000"/>
              <a:t>, it is necessary to know the instances of </a:t>
            </a:r>
            <a:r>
              <a:rPr sz="2000" i="1"/>
              <a:t>SalesLineItem</a:t>
            </a:r>
            <a:r>
              <a:rPr sz="2000"/>
              <a:t> and the sub-total of each instance.</a:t>
            </a:r>
          </a:p>
          <a:p>
            <a:pPr lvl="1">
              <a:defRPr sz="1800"/>
            </a:pPr>
            <a:r>
              <a:rPr sz="2000"/>
              <a:t>According to the pattern, </a:t>
            </a:r>
            <a:r>
              <a:rPr sz="2000" i="1"/>
              <a:t>Sale</a:t>
            </a:r>
            <a:r>
              <a:rPr sz="2000"/>
              <a:t> knows the information</a:t>
            </a:r>
          </a:p>
        </p:txBody>
      </p:sp>
      <p:grpSp>
        <p:nvGrpSpPr>
          <p:cNvPr id="4162" name="Group 4162"/>
          <p:cNvGrpSpPr/>
          <p:nvPr/>
        </p:nvGrpSpPr>
        <p:grpSpPr>
          <a:xfrm>
            <a:off x="2333376" y="2889349"/>
            <a:ext cx="2266655" cy="680582"/>
            <a:chOff x="0" y="0"/>
            <a:chExt cx="2417763" cy="967935"/>
          </a:xfrm>
        </p:grpSpPr>
        <p:sp>
          <p:nvSpPr>
            <p:cNvPr id="4160" name="Shape 4160"/>
            <p:cNvSpPr/>
            <p:nvPr/>
          </p:nvSpPr>
          <p:spPr>
            <a:xfrm>
              <a:off x="0" y="552098"/>
              <a:ext cx="2417763" cy="415837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time</a:t>
              </a:r>
            </a:p>
          </p:txBody>
        </p:sp>
        <p:sp>
          <p:nvSpPr>
            <p:cNvPr id="4161" name="Shape 4161"/>
            <p:cNvSpPr/>
            <p:nvPr/>
          </p:nvSpPr>
          <p:spPr>
            <a:xfrm>
              <a:off x="0" y="0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</a:t>
              </a:r>
            </a:p>
          </p:txBody>
        </p:sp>
      </p:grpSp>
      <p:grpSp>
        <p:nvGrpSpPr>
          <p:cNvPr id="4165" name="Group 4165"/>
          <p:cNvGrpSpPr/>
          <p:nvPr/>
        </p:nvGrpSpPr>
        <p:grpSpPr>
          <a:xfrm>
            <a:off x="2333376" y="4776490"/>
            <a:ext cx="2266655" cy="667882"/>
            <a:chOff x="0" y="0"/>
            <a:chExt cx="2417763" cy="949873"/>
          </a:xfrm>
        </p:grpSpPr>
        <p:sp>
          <p:nvSpPr>
            <p:cNvPr id="4163" name="Shape 4163"/>
            <p:cNvSpPr/>
            <p:nvPr/>
          </p:nvSpPr>
          <p:spPr>
            <a:xfrm>
              <a:off x="0" y="534035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quantity</a:t>
              </a:r>
            </a:p>
          </p:txBody>
        </p:sp>
        <p:sp>
          <p:nvSpPr>
            <p:cNvPr id="4164" name="Shape 4164"/>
            <p:cNvSpPr/>
            <p:nvPr/>
          </p:nvSpPr>
          <p:spPr>
            <a:xfrm>
              <a:off x="0" y="0"/>
              <a:ext cx="2417763" cy="52526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SalesLineItem</a:t>
              </a:r>
            </a:p>
          </p:txBody>
        </p:sp>
      </p:grpSp>
      <p:grpSp>
        <p:nvGrpSpPr>
          <p:cNvPr id="4168" name="Group 4168"/>
          <p:cNvGrpSpPr/>
          <p:nvPr/>
        </p:nvGrpSpPr>
        <p:grpSpPr>
          <a:xfrm>
            <a:off x="7591968" y="4737863"/>
            <a:ext cx="2733131" cy="918432"/>
            <a:chOff x="0" y="0"/>
            <a:chExt cx="2639814" cy="1306213"/>
          </a:xfrm>
        </p:grpSpPr>
        <p:sp>
          <p:nvSpPr>
            <p:cNvPr id="4166" name="Shape 4166"/>
            <p:cNvSpPr/>
            <p:nvPr/>
          </p:nvSpPr>
          <p:spPr>
            <a:xfrm>
              <a:off x="0" y="405591"/>
              <a:ext cx="2639815" cy="90062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description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price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itemID</a:t>
              </a:r>
            </a:p>
          </p:txBody>
        </p:sp>
        <p:sp>
          <p:nvSpPr>
            <p:cNvPr id="4167" name="Shape 4167"/>
            <p:cNvSpPr/>
            <p:nvPr/>
          </p:nvSpPr>
          <p:spPr>
            <a:xfrm>
              <a:off x="0" y="0"/>
              <a:ext cx="2639815" cy="72035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ProductDescription</a:t>
              </a:r>
            </a:p>
          </p:txBody>
        </p:sp>
      </p:grpSp>
      <p:sp>
        <p:nvSpPr>
          <p:cNvPr id="4169" name="Shape 4169"/>
          <p:cNvSpPr/>
          <p:nvPr/>
        </p:nvSpPr>
        <p:spPr>
          <a:xfrm flipV="1">
            <a:off x="3466703" y="3570168"/>
            <a:ext cx="1" cy="1197016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170" name="Shape 4170"/>
          <p:cNvSpPr/>
          <p:nvPr/>
        </p:nvSpPr>
        <p:spPr>
          <a:xfrm>
            <a:off x="4626122" y="4910212"/>
            <a:ext cx="2975475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171" name="Shape 4171"/>
          <p:cNvSpPr/>
          <p:nvPr/>
        </p:nvSpPr>
        <p:spPr>
          <a:xfrm>
            <a:off x="3464113" y="3505291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172" name="Shape 4172"/>
          <p:cNvSpPr/>
          <p:nvPr/>
        </p:nvSpPr>
        <p:spPr>
          <a:xfrm>
            <a:off x="3464113" y="4487556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173" name="Shape 4173"/>
          <p:cNvSpPr/>
          <p:nvPr/>
        </p:nvSpPr>
        <p:spPr>
          <a:xfrm>
            <a:off x="4615052" y="4648291"/>
            <a:ext cx="1948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*</a:t>
            </a:r>
          </a:p>
        </p:txBody>
      </p:sp>
      <p:sp>
        <p:nvSpPr>
          <p:cNvPr id="4174" name="Shape 4174"/>
          <p:cNvSpPr/>
          <p:nvPr/>
        </p:nvSpPr>
        <p:spPr>
          <a:xfrm>
            <a:off x="7250302" y="4621502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175" name="Shape 4175"/>
          <p:cNvSpPr/>
          <p:nvPr/>
        </p:nvSpPr>
        <p:spPr>
          <a:xfrm>
            <a:off x="3440301" y="3994936"/>
            <a:ext cx="82793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contains</a:t>
            </a:r>
          </a:p>
        </p:txBody>
      </p:sp>
      <p:sp>
        <p:nvSpPr>
          <p:cNvPr id="4176" name="Shape 4176"/>
          <p:cNvSpPr/>
          <p:nvPr/>
        </p:nvSpPr>
        <p:spPr>
          <a:xfrm>
            <a:off x="5471077" y="4625967"/>
            <a:ext cx="122772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described-by</a:t>
            </a:r>
          </a:p>
        </p:txBody>
      </p:sp>
    </p:spTree>
    <p:extLst>
      <p:ext uri="{BB962C8B-B14F-4D97-AF65-F5344CB8AC3E}">
        <p14:creationId xmlns:p14="http://schemas.microsoft.com/office/powerpoint/2010/main" val="4218091032"/>
      </p:ext>
    </p:extLst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8" name="Shape 417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179" name="Shape 417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180" name="Shape 4180"/>
          <p:cNvSpPr>
            <a:spLocks noGrp="1"/>
          </p:cNvSpPr>
          <p:nvPr>
            <p:ph type="body" idx="1"/>
          </p:nvPr>
        </p:nvSpPr>
        <p:spPr>
          <a:xfrm>
            <a:off x="374043" y="1294737"/>
            <a:ext cx="107892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 (continue)</a:t>
            </a:r>
          </a:p>
          <a:p>
            <a:pPr lvl="1">
              <a:defRPr sz="1800"/>
            </a:pPr>
            <a:r>
              <a:rPr sz="2000"/>
              <a:t>Introduce “</a:t>
            </a:r>
            <a:r>
              <a:rPr sz="2000" i="1"/>
              <a:t>getTotal()</a:t>
            </a:r>
            <a:r>
              <a:rPr sz="2000"/>
              <a:t>” method to </a:t>
            </a:r>
            <a:r>
              <a:rPr sz="2000" i="1"/>
              <a:t>Sale</a:t>
            </a:r>
            <a:r>
              <a:rPr sz="2000"/>
              <a:t> class</a:t>
            </a:r>
          </a:p>
        </p:txBody>
      </p:sp>
      <p:sp>
        <p:nvSpPr>
          <p:cNvPr id="4181" name="Shape 4181"/>
          <p:cNvSpPr/>
          <p:nvPr/>
        </p:nvSpPr>
        <p:spPr>
          <a:xfrm>
            <a:off x="2989864" y="3014641"/>
            <a:ext cx="1629978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:Sale</a:t>
            </a:r>
          </a:p>
        </p:txBody>
      </p:sp>
      <p:sp>
        <p:nvSpPr>
          <p:cNvPr id="4182" name="Shape 4182"/>
          <p:cNvSpPr/>
          <p:nvPr/>
        </p:nvSpPr>
        <p:spPr>
          <a:xfrm flipH="1">
            <a:off x="1347797" y="3146130"/>
            <a:ext cx="1638908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183" name="Shape 4183"/>
          <p:cNvSpPr/>
          <p:nvPr/>
        </p:nvSpPr>
        <p:spPr>
          <a:xfrm>
            <a:off x="1419095" y="2807563"/>
            <a:ext cx="1208614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t = getTotal()</a:t>
            </a:r>
          </a:p>
        </p:txBody>
      </p:sp>
      <p:sp>
        <p:nvSpPr>
          <p:cNvPr id="4184" name="Shape 4184"/>
          <p:cNvSpPr/>
          <p:nvPr/>
        </p:nvSpPr>
        <p:spPr>
          <a:xfrm>
            <a:off x="1735419" y="3288633"/>
            <a:ext cx="1022983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grpSp>
        <p:nvGrpSpPr>
          <p:cNvPr id="4189" name="Group 4189"/>
          <p:cNvGrpSpPr/>
          <p:nvPr/>
        </p:nvGrpSpPr>
        <p:grpSpPr>
          <a:xfrm>
            <a:off x="7542757" y="2757349"/>
            <a:ext cx="2266656" cy="963665"/>
            <a:chOff x="0" y="-1"/>
            <a:chExt cx="2417764" cy="1370545"/>
          </a:xfrm>
        </p:grpSpPr>
        <p:grpSp>
          <p:nvGrpSpPr>
            <p:cNvPr id="4187" name="Group 4187"/>
            <p:cNvGrpSpPr/>
            <p:nvPr/>
          </p:nvGrpSpPr>
          <p:grpSpPr>
            <a:xfrm>
              <a:off x="0" y="-1"/>
              <a:ext cx="2417764" cy="949875"/>
              <a:chOff x="0" y="0"/>
              <a:chExt cx="2417763" cy="949873"/>
            </a:xfrm>
          </p:grpSpPr>
          <p:sp>
            <p:nvSpPr>
              <p:cNvPr id="4185" name="Shape 4185"/>
              <p:cNvSpPr/>
              <p:nvPr/>
            </p:nvSpPr>
            <p:spPr>
              <a:xfrm>
                <a:off x="0" y="534036"/>
                <a:ext cx="2417763" cy="41583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sz="1800"/>
                </a:pPr>
                <a:r>
                  <a:rPr sz="1300"/>
                  <a:t>time</a:t>
                </a:r>
              </a:p>
            </p:txBody>
          </p:sp>
          <p:sp>
            <p:nvSpPr>
              <p:cNvPr id="4186" name="Shape 4186"/>
              <p:cNvSpPr/>
              <p:nvPr/>
            </p:nvSpPr>
            <p:spPr>
              <a:xfrm>
                <a:off x="0" y="0"/>
                <a:ext cx="2417763" cy="52526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 algn="ctr">
                  <a:defRPr sz="1800" b="1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b="0"/>
                </a:pPr>
                <a:r>
                  <a:rPr b="1"/>
                  <a:t>Sale</a:t>
                </a:r>
              </a:p>
            </p:txBody>
          </p:sp>
        </p:grpSp>
        <p:sp>
          <p:nvSpPr>
            <p:cNvPr id="4188" name="Shape 4188"/>
            <p:cNvSpPr/>
            <p:nvPr/>
          </p:nvSpPr>
          <p:spPr>
            <a:xfrm>
              <a:off x="0" y="95470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getTotal()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09311852"/>
      </p:ext>
    </p:extLst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1" name="Shape 419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192" name="Shape 419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193" name="Shape 4193"/>
          <p:cNvSpPr>
            <a:spLocks noGrp="1"/>
          </p:cNvSpPr>
          <p:nvPr>
            <p:ph type="body" idx="1"/>
          </p:nvPr>
        </p:nvSpPr>
        <p:spPr>
          <a:xfrm>
            <a:off x="386743" y="1314118"/>
            <a:ext cx="114369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</a:t>
            </a:r>
          </a:p>
          <a:p>
            <a:pPr lvl="1">
              <a:defRPr sz="1800"/>
            </a:pPr>
            <a:r>
              <a:rPr sz="2000"/>
              <a:t>Then, we need to determine the sub-total of each </a:t>
            </a:r>
            <a:r>
              <a:rPr sz="2000" i="1"/>
              <a:t>SalesLineItems</a:t>
            </a:r>
            <a:r>
              <a:rPr sz="2000"/>
              <a:t>. To do so, we need to know the number of </a:t>
            </a:r>
            <a:r>
              <a:rPr sz="2000" i="1"/>
              <a:t>ProductDescription</a:t>
            </a:r>
            <a:endParaRPr sz="2000"/>
          </a:p>
          <a:p>
            <a:pPr lvl="1">
              <a:defRPr sz="1800"/>
            </a:pPr>
            <a:r>
              <a:rPr sz="2000"/>
              <a:t>According to the pattern, </a:t>
            </a:r>
            <a:r>
              <a:rPr sz="2000" i="1"/>
              <a:t>SalesLineItem</a:t>
            </a:r>
            <a:r>
              <a:rPr sz="2000"/>
              <a:t> is the expert.</a:t>
            </a:r>
          </a:p>
        </p:txBody>
      </p:sp>
      <p:grpSp>
        <p:nvGrpSpPr>
          <p:cNvPr id="4196" name="Group 4196"/>
          <p:cNvGrpSpPr/>
          <p:nvPr/>
        </p:nvGrpSpPr>
        <p:grpSpPr>
          <a:xfrm>
            <a:off x="2333376" y="2775049"/>
            <a:ext cx="2266655" cy="667881"/>
            <a:chOff x="0" y="-162558"/>
            <a:chExt cx="2417763" cy="949872"/>
          </a:xfrm>
        </p:grpSpPr>
        <p:sp>
          <p:nvSpPr>
            <p:cNvPr id="4194" name="Shape 4194"/>
            <p:cNvSpPr/>
            <p:nvPr/>
          </p:nvSpPr>
          <p:spPr>
            <a:xfrm>
              <a:off x="0" y="37147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time</a:t>
              </a:r>
            </a:p>
          </p:txBody>
        </p:sp>
        <p:sp>
          <p:nvSpPr>
            <p:cNvPr id="4195" name="Shape 4195"/>
            <p:cNvSpPr/>
            <p:nvPr/>
          </p:nvSpPr>
          <p:spPr>
            <a:xfrm>
              <a:off x="0" y="-162558"/>
              <a:ext cx="2417763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</a:t>
              </a:r>
            </a:p>
          </p:txBody>
        </p:sp>
      </p:grpSp>
      <p:grpSp>
        <p:nvGrpSpPr>
          <p:cNvPr id="4199" name="Group 4199"/>
          <p:cNvGrpSpPr/>
          <p:nvPr/>
        </p:nvGrpSpPr>
        <p:grpSpPr>
          <a:xfrm>
            <a:off x="2333376" y="4674890"/>
            <a:ext cx="2266655" cy="655181"/>
            <a:chOff x="0" y="-144496"/>
            <a:chExt cx="2417763" cy="931810"/>
          </a:xfrm>
        </p:grpSpPr>
        <p:sp>
          <p:nvSpPr>
            <p:cNvPr id="4197" name="Shape 4197"/>
            <p:cNvSpPr/>
            <p:nvPr/>
          </p:nvSpPr>
          <p:spPr>
            <a:xfrm>
              <a:off x="0" y="37147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quantity</a:t>
              </a:r>
            </a:p>
          </p:txBody>
        </p:sp>
        <p:sp>
          <p:nvSpPr>
            <p:cNvPr id="4198" name="Shape 4198"/>
            <p:cNvSpPr/>
            <p:nvPr/>
          </p:nvSpPr>
          <p:spPr>
            <a:xfrm>
              <a:off x="0" y="-144496"/>
              <a:ext cx="2417763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SalesLineItem</a:t>
              </a:r>
            </a:p>
          </p:txBody>
        </p:sp>
      </p:grpSp>
      <p:grpSp>
        <p:nvGrpSpPr>
          <p:cNvPr id="4202" name="Group 4202"/>
          <p:cNvGrpSpPr/>
          <p:nvPr/>
        </p:nvGrpSpPr>
        <p:grpSpPr>
          <a:xfrm>
            <a:off x="7591970" y="4727506"/>
            <a:ext cx="2733130" cy="939144"/>
            <a:chOff x="0" y="0"/>
            <a:chExt cx="2699345" cy="1335670"/>
          </a:xfrm>
        </p:grpSpPr>
        <p:sp>
          <p:nvSpPr>
            <p:cNvPr id="4200" name="Shape 4200"/>
            <p:cNvSpPr/>
            <p:nvPr/>
          </p:nvSpPr>
          <p:spPr>
            <a:xfrm>
              <a:off x="0" y="414738"/>
              <a:ext cx="2699346" cy="92093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description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price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itemID</a:t>
              </a:r>
            </a:p>
          </p:txBody>
        </p:sp>
        <p:sp>
          <p:nvSpPr>
            <p:cNvPr id="4201" name="Shape 4201"/>
            <p:cNvSpPr/>
            <p:nvPr/>
          </p:nvSpPr>
          <p:spPr>
            <a:xfrm>
              <a:off x="0" y="0"/>
              <a:ext cx="2699346" cy="73660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ProductDescription</a:t>
              </a:r>
            </a:p>
          </p:txBody>
        </p:sp>
      </p:grpSp>
      <p:sp>
        <p:nvSpPr>
          <p:cNvPr id="4203" name="Shape 4203"/>
          <p:cNvSpPr/>
          <p:nvPr/>
        </p:nvSpPr>
        <p:spPr>
          <a:xfrm flipV="1">
            <a:off x="3466703" y="3468568"/>
            <a:ext cx="1" cy="1197016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04" name="Shape 4204"/>
          <p:cNvSpPr/>
          <p:nvPr/>
        </p:nvSpPr>
        <p:spPr>
          <a:xfrm>
            <a:off x="4626122" y="4910212"/>
            <a:ext cx="2975475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05" name="Shape 4205"/>
          <p:cNvSpPr/>
          <p:nvPr/>
        </p:nvSpPr>
        <p:spPr>
          <a:xfrm>
            <a:off x="3464113" y="3429091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206" name="Shape 4206"/>
          <p:cNvSpPr/>
          <p:nvPr/>
        </p:nvSpPr>
        <p:spPr>
          <a:xfrm>
            <a:off x="3464113" y="4411356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207" name="Shape 4207"/>
          <p:cNvSpPr/>
          <p:nvPr/>
        </p:nvSpPr>
        <p:spPr>
          <a:xfrm>
            <a:off x="4615052" y="4648291"/>
            <a:ext cx="1948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*</a:t>
            </a:r>
          </a:p>
        </p:txBody>
      </p:sp>
      <p:sp>
        <p:nvSpPr>
          <p:cNvPr id="4208" name="Shape 4208"/>
          <p:cNvSpPr/>
          <p:nvPr/>
        </p:nvSpPr>
        <p:spPr>
          <a:xfrm>
            <a:off x="7250302" y="4621502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209" name="Shape 4209"/>
          <p:cNvSpPr/>
          <p:nvPr/>
        </p:nvSpPr>
        <p:spPr>
          <a:xfrm>
            <a:off x="3440301" y="3918736"/>
            <a:ext cx="82793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contains</a:t>
            </a:r>
          </a:p>
        </p:txBody>
      </p:sp>
      <p:sp>
        <p:nvSpPr>
          <p:cNvPr id="4210" name="Shape 4210"/>
          <p:cNvSpPr/>
          <p:nvPr/>
        </p:nvSpPr>
        <p:spPr>
          <a:xfrm>
            <a:off x="5471077" y="4625967"/>
            <a:ext cx="122772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described-by</a:t>
            </a:r>
          </a:p>
        </p:txBody>
      </p:sp>
    </p:spTree>
    <p:extLst>
      <p:ext uri="{BB962C8B-B14F-4D97-AF65-F5344CB8AC3E}">
        <p14:creationId xmlns:p14="http://schemas.microsoft.com/office/powerpoint/2010/main" val="7129562"/>
      </p:ext>
    </p:extLst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2" name="Shape 421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39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213" name="Shape 421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214" name="Shape 4214"/>
          <p:cNvSpPr>
            <a:spLocks noGrp="1"/>
          </p:cNvSpPr>
          <p:nvPr>
            <p:ph type="body" idx="1"/>
          </p:nvPr>
        </p:nvSpPr>
        <p:spPr>
          <a:xfrm>
            <a:off x="412143" y="1261286"/>
            <a:ext cx="114115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</a:t>
            </a:r>
          </a:p>
          <a:p>
            <a:pPr lvl="1">
              <a:defRPr sz="1800"/>
            </a:pPr>
            <a:r>
              <a:rPr sz="2000"/>
              <a:t>Introduce the “get</a:t>
            </a:r>
            <a:r>
              <a:rPr sz="2000" i="1"/>
              <a:t>SubTotal()</a:t>
            </a:r>
            <a:r>
              <a:rPr sz="2000"/>
              <a:t>” method to </a:t>
            </a:r>
            <a:r>
              <a:rPr sz="2000" i="1"/>
              <a:t>SalesLineItem</a:t>
            </a:r>
            <a:r>
              <a:rPr sz="2000"/>
              <a:t> class</a:t>
            </a:r>
          </a:p>
        </p:txBody>
      </p:sp>
      <p:grpSp>
        <p:nvGrpSpPr>
          <p:cNvPr id="4219" name="Group 4219"/>
          <p:cNvGrpSpPr/>
          <p:nvPr/>
        </p:nvGrpSpPr>
        <p:grpSpPr>
          <a:xfrm>
            <a:off x="9168357" y="2361553"/>
            <a:ext cx="2266656" cy="963665"/>
            <a:chOff x="0" y="-1"/>
            <a:chExt cx="2417764" cy="1370545"/>
          </a:xfrm>
        </p:grpSpPr>
        <p:grpSp>
          <p:nvGrpSpPr>
            <p:cNvPr id="4217" name="Group 4217"/>
            <p:cNvGrpSpPr/>
            <p:nvPr/>
          </p:nvGrpSpPr>
          <p:grpSpPr>
            <a:xfrm>
              <a:off x="0" y="-1"/>
              <a:ext cx="2417764" cy="949875"/>
              <a:chOff x="0" y="0"/>
              <a:chExt cx="2417763" cy="949873"/>
            </a:xfrm>
          </p:grpSpPr>
          <p:sp>
            <p:nvSpPr>
              <p:cNvPr id="4215" name="Shape 4215"/>
              <p:cNvSpPr/>
              <p:nvPr/>
            </p:nvSpPr>
            <p:spPr>
              <a:xfrm>
                <a:off x="0" y="534036"/>
                <a:ext cx="2417763" cy="41583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sz="1800"/>
                </a:pPr>
                <a:r>
                  <a:rPr sz="1300"/>
                  <a:t>time</a:t>
                </a:r>
              </a:p>
            </p:txBody>
          </p:sp>
          <p:sp>
            <p:nvSpPr>
              <p:cNvPr id="4216" name="Shape 4216"/>
              <p:cNvSpPr/>
              <p:nvPr/>
            </p:nvSpPr>
            <p:spPr>
              <a:xfrm>
                <a:off x="0" y="0"/>
                <a:ext cx="2417763" cy="52526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 algn="ctr">
                  <a:defRPr sz="1800" b="1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b="0"/>
                </a:pPr>
                <a:r>
                  <a:rPr b="1"/>
                  <a:t>Sale</a:t>
                </a:r>
              </a:p>
            </p:txBody>
          </p:sp>
        </p:grpSp>
        <p:sp>
          <p:nvSpPr>
            <p:cNvPr id="4218" name="Shape 4218"/>
            <p:cNvSpPr/>
            <p:nvPr/>
          </p:nvSpPr>
          <p:spPr>
            <a:xfrm>
              <a:off x="0" y="95470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getTotal()</a:t>
              </a:r>
            </a:p>
          </p:txBody>
        </p:sp>
      </p:grpSp>
      <p:sp>
        <p:nvSpPr>
          <p:cNvPr id="4220" name="Shape 4220"/>
          <p:cNvSpPr/>
          <p:nvPr/>
        </p:nvSpPr>
        <p:spPr>
          <a:xfrm>
            <a:off x="2174875" y="3358556"/>
            <a:ext cx="1629978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:Sale</a:t>
            </a:r>
          </a:p>
        </p:txBody>
      </p:sp>
      <p:sp>
        <p:nvSpPr>
          <p:cNvPr id="4221" name="Shape 4221"/>
          <p:cNvSpPr/>
          <p:nvPr/>
        </p:nvSpPr>
        <p:spPr>
          <a:xfrm>
            <a:off x="6266718" y="3260329"/>
            <a:ext cx="2266654" cy="631281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lineItems[i] : </a:t>
            </a:r>
          </a:p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SalesLineItem</a:t>
            </a:r>
          </a:p>
        </p:txBody>
      </p:sp>
      <p:sp>
        <p:nvSpPr>
          <p:cNvPr id="4222" name="Shape 4222"/>
          <p:cNvSpPr/>
          <p:nvPr/>
        </p:nvSpPr>
        <p:spPr>
          <a:xfrm flipH="1">
            <a:off x="3811362" y="3492278"/>
            <a:ext cx="2448846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23" name="Shape 4223"/>
          <p:cNvSpPr/>
          <p:nvPr/>
        </p:nvSpPr>
        <p:spPr>
          <a:xfrm flipH="1">
            <a:off x="532808" y="3490045"/>
            <a:ext cx="1638908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24" name="Shape 4224"/>
          <p:cNvSpPr/>
          <p:nvPr/>
        </p:nvSpPr>
        <p:spPr>
          <a:xfrm>
            <a:off x="604106" y="3151478"/>
            <a:ext cx="1208614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t = getTotal()</a:t>
            </a:r>
          </a:p>
        </p:txBody>
      </p:sp>
      <p:sp>
        <p:nvSpPr>
          <p:cNvPr id="4225" name="Shape 4225"/>
          <p:cNvSpPr/>
          <p:nvPr/>
        </p:nvSpPr>
        <p:spPr>
          <a:xfrm>
            <a:off x="3918791" y="3151478"/>
            <a:ext cx="205256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1: *: st = getSubTotal()</a:t>
            </a:r>
          </a:p>
        </p:txBody>
      </p:sp>
      <p:sp>
        <p:nvSpPr>
          <p:cNvPr id="4226" name="Shape 4226"/>
          <p:cNvSpPr/>
          <p:nvPr/>
        </p:nvSpPr>
        <p:spPr>
          <a:xfrm>
            <a:off x="4539167" y="3629349"/>
            <a:ext cx="1022982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27" name="Shape 4227"/>
          <p:cNvSpPr/>
          <p:nvPr/>
        </p:nvSpPr>
        <p:spPr>
          <a:xfrm>
            <a:off x="920430" y="3632548"/>
            <a:ext cx="1022983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grpSp>
        <p:nvGrpSpPr>
          <p:cNvPr id="4232" name="Group 4232"/>
          <p:cNvGrpSpPr/>
          <p:nvPr/>
        </p:nvGrpSpPr>
        <p:grpSpPr>
          <a:xfrm>
            <a:off x="9168357" y="3917019"/>
            <a:ext cx="2266656" cy="964551"/>
            <a:chOff x="0" y="-1"/>
            <a:chExt cx="2417764" cy="1371805"/>
          </a:xfrm>
        </p:grpSpPr>
        <p:grpSp>
          <p:nvGrpSpPr>
            <p:cNvPr id="4230" name="Group 4230"/>
            <p:cNvGrpSpPr/>
            <p:nvPr/>
          </p:nvGrpSpPr>
          <p:grpSpPr>
            <a:xfrm>
              <a:off x="0" y="-1"/>
              <a:ext cx="2417764" cy="949871"/>
              <a:chOff x="0" y="0"/>
              <a:chExt cx="2417763" cy="949869"/>
            </a:xfrm>
          </p:grpSpPr>
          <p:sp>
            <p:nvSpPr>
              <p:cNvPr id="4228" name="Shape 4228"/>
              <p:cNvSpPr/>
              <p:nvPr/>
            </p:nvSpPr>
            <p:spPr>
              <a:xfrm>
                <a:off x="0" y="534034"/>
                <a:ext cx="2417763" cy="415835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sz="1800"/>
                </a:pPr>
                <a:r>
                  <a:rPr sz="1300"/>
                  <a:t>quantity</a:t>
                </a:r>
              </a:p>
            </p:txBody>
          </p:sp>
          <p:sp>
            <p:nvSpPr>
              <p:cNvPr id="4229" name="Shape 4229"/>
              <p:cNvSpPr/>
              <p:nvPr/>
            </p:nvSpPr>
            <p:spPr>
              <a:xfrm>
                <a:off x="0" y="0"/>
                <a:ext cx="2417763" cy="525267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 algn="ctr">
                  <a:defRPr sz="1800" b="1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b="0"/>
                </a:pPr>
                <a:r>
                  <a:rPr b="1"/>
                  <a:t>SalesLineItem</a:t>
                </a:r>
              </a:p>
            </p:txBody>
          </p:sp>
        </p:grpSp>
        <p:sp>
          <p:nvSpPr>
            <p:cNvPr id="4231" name="Shape 4231"/>
            <p:cNvSpPr/>
            <p:nvPr/>
          </p:nvSpPr>
          <p:spPr>
            <a:xfrm>
              <a:off x="0" y="95596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 b="0"/>
              </a:pPr>
              <a:r>
                <a:rPr sz="1300"/>
                <a:t>getSubTotal()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36473557"/>
      </p:ext>
    </p:extLst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4" name="Shape 423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40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235" name="Shape 423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236" name="Shape 4236"/>
          <p:cNvSpPr>
            <a:spLocks noGrp="1"/>
          </p:cNvSpPr>
          <p:nvPr>
            <p:ph type="body" idx="1"/>
          </p:nvPr>
        </p:nvSpPr>
        <p:spPr>
          <a:xfrm>
            <a:off x="399443" y="1314118"/>
            <a:ext cx="114115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</a:t>
            </a:r>
          </a:p>
          <a:p>
            <a:pPr lvl="1">
              <a:defRPr sz="1800"/>
            </a:pPr>
            <a:r>
              <a:rPr sz="2000"/>
              <a:t>To calculate the sub-total, </a:t>
            </a:r>
            <a:r>
              <a:rPr sz="2000" i="1"/>
              <a:t>SalesLineItem</a:t>
            </a:r>
            <a:r>
              <a:rPr sz="2000"/>
              <a:t> needs to know the price of each product.</a:t>
            </a:r>
          </a:p>
          <a:p>
            <a:pPr lvl="1">
              <a:defRPr sz="1800"/>
            </a:pPr>
            <a:r>
              <a:rPr sz="2000" i="1"/>
              <a:t>ProductionDescription</a:t>
            </a:r>
            <a:r>
              <a:rPr sz="2000"/>
              <a:t> est expert.</a:t>
            </a:r>
          </a:p>
        </p:txBody>
      </p:sp>
      <p:grpSp>
        <p:nvGrpSpPr>
          <p:cNvPr id="4239" name="Group 4239"/>
          <p:cNvGrpSpPr/>
          <p:nvPr/>
        </p:nvGrpSpPr>
        <p:grpSpPr>
          <a:xfrm>
            <a:off x="2333376" y="2775049"/>
            <a:ext cx="2266655" cy="667881"/>
            <a:chOff x="0" y="-162558"/>
            <a:chExt cx="2417763" cy="949872"/>
          </a:xfrm>
        </p:grpSpPr>
        <p:sp>
          <p:nvSpPr>
            <p:cNvPr id="4237" name="Shape 4237"/>
            <p:cNvSpPr/>
            <p:nvPr/>
          </p:nvSpPr>
          <p:spPr>
            <a:xfrm>
              <a:off x="0" y="371476"/>
              <a:ext cx="2417763" cy="41583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time</a:t>
              </a:r>
            </a:p>
          </p:txBody>
        </p:sp>
        <p:sp>
          <p:nvSpPr>
            <p:cNvPr id="4238" name="Shape 4238"/>
            <p:cNvSpPr/>
            <p:nvPr/>
          </p:nvSpPr>
          <p:spPr>
            <a:xfrm>
              <a:off x="0" y="-162558"/>
              <a:ext cx="2417763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</a:t>
              </a:r>
            </a:p>
          </p:txBody>
        </p:sp>
      </p:grpSp>
      <p:grpSp>
        <p:nvGrpSpPr>
          <p:cNvPr id="4242" name="Group 4242"/>
          <p:cNvGrpSpPr/>
          <p:nvPr/>
        </p:nvGrpSpPr>
        <p:grpSpPr>
          <a:xfrm>
            <a:off x="2333376" y="4712990"/>
            <a:ext cx="2266655" cy="655182"/>
            <a:chOff x="0" y="-90310"/>
            <a:chExt cx="2417763" cy="931812"/>
          </a:xfrm>
        </p:grpSpPr>
        <p:sp>
          <p:nvSpPr>
            <p:cNvPr id="4240" name="Shape 4240"/>
            <p:cNvSpPr/>
            <p:nvPr/>
          </p:nvSpPr>
          <p:spPr>
            <a:xfrm>
              <a:off x="0" y="425663"/>
              <a:ext cx="2417763" cy="41583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quantity</a:t>
              </a:r>
            </a:p>
          </p:txBody>
        </p:sp>
        <p:sp>
          <p:nvSpPr>
            <p:cNvPr id="4241" name="Shape 4241"/>
            <p:cNvSpPr/>
            <p:nvPr/>
          </p:nvSpPr>
          <p:spPr>
            <a:xfrm>
              <a:off x="0" y="-90310"/>
              <a:ext cx="2417763" cy="525268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SalesLineItem</a:t>
              </a:r>
            </a:p>
          </p:txBody>
        </p:sp>
      </p:grpSp>
      <p:grpSp>
        <p:nvGrpSpPr>
          <p:cNvPr id="4245" name="Group 4245"/>
          <p:cNvGrpSpPr/>
          <p:nvPr/>
        </p:nvGrpSpPr>
        <p:grpSpPr>
          <a:xfrm>
            <a:off x="7591970" y="4727506"/>
            <a:ext cx="2783930" cy="939144"/>
            <a:chOff x="0" y="0"/>
            <a:chExt cx="2699345" cy="1335670"/>
          </a:xfrm>
        </p:grpSpPr>
        <p:sp>
          <p:nvSpPr>
            <p:cNvPr id="4243" name="Shape 4243"/>
            <p:cNvSpPr/>
            <p:nvPr/>
          </p:nvSpPr>
          <p:spPr>
            <a:xfrm>
              <a:off x="0" y="414738"/>
              <a:ext cx="2699346" cy="920933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/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description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price</a:t>
              </a:r>
            </a:p>
            <a:p>
              <a:pPr>
                <a:defRPr sz="1800">
                  <a:uFillTx/>
                </a:defRPr>
              </a:pPr>
              <a:r>
                <a:rPr sz="1300">
                  <a:latin typeface="Verdana"/>
                  <a:ea typeface="Verdana"/>
                  <a:cs typeface="Verdana"/>
                  <a:sym typeface="Verdana"/>
                </a:rPr>
                <a:t>itemID</a:t>
              </a:r>
            </a:p>
          </p:txBody>
        </p:sp>
        <p:sp>
          <p:nvSpPr>
            <p:cNvPr id="4244" name="Shape 4244"/>
            <p:cNvSpPr/>
            <p:nvPr/>
          </p:nvSpPr>
          <p:spPr>
            <a:xfrm>
              <a:off x="0" y="0"/>
              <a:ext cx="2699346" cy="736605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noAutofit/>
            </a:bodyPr>
            <a:lstStyle>
              <a:lvl1pPr marL="0" marR="0" algn="ctr">
                <a:defRPr sz="1800" b="1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b="0"/>
              </a:pPr>
              <a:r>
                <a:rPr b="1"/>
                <a:t>ProductDescription</a:t>
              </a:r>
            </a:p>
          </p:txBody>
        </p:sp>
      </p:grpSp>
      <p:sp>
        <p:nvSpPr>
          <p:cNvPr id="4246" name="Shape 4246"/>
          <p:cNvSpPr/>
          <p:nvPr/>
        </p:nvSpPr>
        <p:spPr>
          <a:xfrm flipV="1">
            <a:off x="3428603" y="3493968"/>
            <a:ext cx="1" cy="1197016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47" name="Shape 4247"/>
          <p:cNvSpPr/>
          <p:nvPr/>
        </p:nvSpPr>
        <p:spPr>
          <a:xfrm>
            <a:off x="4626122" y="4910212"/>
            <a:ext cx="2975475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48" name="Shape 4248"/>
          <p:cNvSpPr/>
          <p:nvPr/>
        </p:nvSpPr>
        <p:spPr>
          <a:xfrm>
            <a:off x="3464113" y="3505291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249" name="Shape 4249"/>
          <p:cNvSpPr/>
          <p:nvPr/>
        </p:nvSpPr>
        <p:spPr>
          <a:xfrm>
            <a:off x="3464113" y="4411356"/>
            <a:ext cx="414487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1..*</a:t>
            </a:r>
          </a:p>
        </p:txBody>
      </p:sp>
      <p:sp>
        <p:nvSpPr>
          <p:cNvPr id="4250" name="Shape 4250"/>
          <p:cNvSpPr/>
          <p:nvPr/>
        </p:nvSpPr>
        <p:spPr>
          <a:xfrm>
            <a:off x="4615052" y="4648291"/>
            <a:ext cx="194875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*</a:t>
            </a:r>
          </a:p>
        </p:txBody>
      </p:sp>
      <p:sp>
        <p:nvSpPr>
          <p:cNvPr id="4251" name="Shape 4251"/>
          <p:cNvSpPr/>
          <p:nvPr/>
        </p:nvSpPr>
        <p:spPr>
          <a:xfrm>
            <a:off x="7250302" y="4621502"/>
            <a:ext cx="196478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</a:t>
            </a:r>
          </a:p>
        </p:txBody>
      </p:sp>
      <p:sp>
        <p:nvSpPr>
          <p:cNvPr id="4252" name="Shape 4252"/>
          <p:cNvSpPr/>
          <p:nvPr/>
        </p:nvSpPr>
        <p:spPr>
          <a:xfrm>
            <a:off x="3440301" y="3994936"/>
            <a:ext cx="82793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contains</a:t>
            </a:r>
          </a:p>
        </p:txBody>
      </p:sp>
      <p:sp>
        <p:nvSpPr>
          <p:cNvPr id="4253" name="Shape 4253"/>
          <p:cNvSpPr/>
          <p:nvPr/>
        </p:nvSpPr>
        <p:spPr>
          <a:xfrm>
            <a:off x="5471077" y="4625967"/>
            <a:ext cx="122772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described-by</a:t>
            </a:r>
          </a:p>
        </p:txBody>
      </p:sp>
    </p:spTree>
    <p:extLst>
      <p:ext uri="{BB962C8B-B14F-4D97-AF65-F5344CB8AC3E}">
        <p14:creationId xmlns:p14="http://schemas.microsoft.com/office/powerpoint/2010/main" val="718633803"/>
      </p:ext>
    </p:extLst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5" name="Shape 425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256" name="Shape 425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257" name="Shape 4257"/>
          <p:cNvSpPr>
            <a:spLocks noGrp="1"/>
          </p:cNvSpPr>
          <p:nvPr>
            <p:ph type="body" idx="1"/>
          </p:nvPr>
        </p:nvSpPr>
        <p:spPr>
          <a:xfrm>
            <a:off x="348643" y="1261286"/>
            <a:ext cx="11559221" cy="5215714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</a:t>
            </a:r>
          </a:p>
          <a:p>
            <a:pPr lvl="1">
              <a:defRPr sz="1800"/>
            </a:pPr>
            <a:r>
              <a:rPr sz="2000"/>
              <a:t>Introduce the “</a:t>
            </a:r>
            <a:r>
              <a:rPr sz="2000" i="1"/>
              <a:t>getPrice()</a:t>
            </a:r>
            <a:r>
              <a:rPr sz="2000"/>
              <a:t>” method to </a:t>
            </a:r>
            <a:r>
              <a:rPr sz="2000" i="1"/>
              <a:t>ProductDescription</a:t>
            </a:r>
            <a:r>
              <a:rPr sz="2000"/>
              <a:t> class</a:t>
            </a:r>
          </a:p>
        </p:txBody>
      </p:sp>
      <p:grpSp>
        <p:nvGrpSpPr>
          <p:cNvPr id="4262" name="Group 4262"/>
          <p:cNvGrpSpPr/>
          <p:nvPr/>
        </p:nvGrpSpPr>
        <p:grpSpPr>
          <a:xfrm>
            <a:off x="9178105" y="3410824"/>
            <a:ext cx="2266656" cy="989950"/>
            <a:chOff x="0" y="-180621"/>
            <a:chExt cx="2417764" cy="1407928"/>
          </a:xfrm>
        </p:grpSpPr>
        <p:grpSp>
          <p:nvGrpSpPr>
            <p:cNvPr id="4260" name="Group 4260"/>
            <p:cNvGrpSpPr/>
            <p:nvPr/>
          </p:nvGrpSpPr>
          <p:grpSpPr>
            <a:xfrm>
              <a:off x="0" y="-180621"/>
              <a:ext cx="2417764" cy="967933"/>
              <a:chOff x="0" y="-180620"/>
              <a:chExt cx="2417763" cy="967931"/>
            </a:xfrm>
          </p:grpSpPr>
          <p:sp>
            <p:nvSpPr>
              <p:cNvPr id="4258" name="Shape 4258"/>
              <p:cNvSpPr/>
              <p:nvPr/>
            </p:nvSpPr>
            <p:spPr>
              <a:xfrm>
                <a:off x="0" y="371475"/>
                <a:ext cx="2417763" cy="41583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sz="1800"/>
                </a:pPr>
                <a:r>
                  <a:rPr sz="1300"/>
                  <a:t>quantity</a:t>
                </a:r>
              </a:p>
            </p:txBody>
          </p:sp>
          <p:sp>
            <p:nvSpPr>
              <p:cNvPr id="4259" name="Shape 4259"/>
              <p:cNvSpPr/>
              <p:nvPr/>
            </p:nvSpPr>
            <p:spPr>
              <a:xfrm>
                <a:off x="0" y="-180620"/>
                <a:ext cx="2417763" cy="52526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 algn="ctr">
                  <a:defRPr sz="1800" b="1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b="0"/>
                </a:pPr>
                <a:r>
                  <a:rPr b="1"/>
                  <a:t>SalesLineItem</a:t>
                </a:r>
              </a:p>
            </p:txBody>
          </p:sp>
        </p:grpSp>
        <p:sp>
          <p:nvSpPr>
            <p:cNvPr id="4261" name="Shape 4261"/>
            <p:cNvSpPr/>
            <p:nvPr/>
          </p:nvSpPr>
          <p:spPr>
            <a:xfrm>
              <a:off x="0" y="811468"/>
              <a:ext cx="2417763" cy="41583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getSubTotal()</a:t>
              </a:r>
            </a:p>
          </p:txBody>
        </p:sp>
      </p:grpSp>
      <p:sp>
        <p:nvSpPr>
          <p:cNvPr id="4263" name="Shape 4263"/>
          <p:cNvSpPr/>
          <p:nvPr/>
        </p:nvSpPr>
        <p:spPr>
          <a:xfrm>
            <a:off x="9178105" y="5367542"/>
            <a:ext cx="2620195" cy="639233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/>
          <a:lstStyle/>
          <a:p>
            <a:pPr>
              <a:defRPr sz="1800">
                <a:uFillTx/>
              </a:defRPr>
            </a:pPr>
            <a:r>
              <a:rPr sz="1300">
                <a:latin typeface="Verdana"/>
                <a:ea typeface="Verdana"/>
                <a:cs typeface="Verdana"/>
                <a:sym typeface="Verdana"/>
              </a:rPr>
              <a:t>description</a:t>
            </a:r>
          </a:p>
          <a:p>
            <a:pPr>
              <a:defRPr sz="1800">
                <a:uFillTx/>
              </a:defRPr>
            </a:pPr>
            <a:r>
              <a:rPr sz="1300">
                <a:latin typeface="Verdana"/>
                <a:ea typeface="Verdana"/>
                <a:cs typeface="Verdana"/>
                <a:sym typeface="Verdana"/>
              </a:rPr>
              <a:t>price</a:t>
            </a:r>
          </a:p>
          <a:p>
            <a:pPr>
              <a:defRPr sz="1800">
                <a:uFillTx/>
              </a:defRPr>
            </a:pPr>
            <a:r>
              <a:rPr sz="1300">
                <a:latin typeface="Verdana"/>
                <a:ea typeface="Verdana"/>
                <a:cs typeface="Verdana"/>
                <a:sym typeface="Verdana"/>
              </a:rPr>
              <a:t>itemID</a:t>
            </a:r>
          </a:p>
        </p:txBody>
      </p:sp>
      <p:sp>
        <p:nvSpPr>
          <p:cNvPr id="4264" name="Shape 4264"/>
          <p:cNvSpPr/>
          <p:nvPr/>
        </p:nvSpPr>
        <p:spPr>
          <a:xfrm>
            <a:off x="9178105" y="5097526"/>
            <a:ext cx="2620195" cy="267445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/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ProductDescription</a:t>
            </a:r>
          </a:p>
        </p:txBody>
      </p:sp>
      <p:sp>
        <p:nvSpPr>
          <p:cNvPr id="4265" name="Shape 4265"/>
          <p:cNvSpPr/>
          <p:nvPr/>
        </p:nvSpPr>
        <p:spPr>
          <a:xfrm>
            <a:off x="9178105" y="6011806"/>
            <a:ext cx="2620195" cy="277338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8267" tIns="38268" rIns="38267" bIns="38268">
            <a:spAutoFit/>
          </a:bodyPr>
          <a:lstStyle>
            <a:lvl1pPr marL="0" marR="0">
              <a:defRPr sz="16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sz="1800" b="0"/>
            </a:pPr>
            <a:r>
              <a:rPr sz="1300"/>
              <a:t>getPrice()</a:t>
            </a:r>
          </a:p>
        </p:txBody>
      </p:sp>
      <p:sp>
        <p:nvSpPr>
          <p:cNvPr id="4266" name="Shape 4266"/>
          <p:cNvSpPr/>
          <p:nvPr/>
        </p:nvSpPr>
        <p:spPr>
          <a:xfrm>
            <a:off x="2174875" y="2189857"/>
            <a:ext cx="1629978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:Sale</a:t>
            </a:r>
          </a:p>
        </p:txBody>
      </p:sp>
      <p:sp>
        <p:nvSpPr>
          <p:cNvPr id="4267" name="Shape 4267"/>
          <p:cNvSpPr/>
          <p:nvPr/>
        </p:nvSpPr>
        <p:spPr>
          <a:xfrm>
            <a:off x="6266718" y="2091630"/>
            <a:ext cx="2266654" cy="631281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lineItems[i] : </a:t>
            </a:r>
          </a:p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SalesLineItem</a:t>
            </a:r>
          </a:p>
        </p:txBody>
      </p:sp>
      <p:sp>
        <p:nvSpPr>
          <p:cNvPr id="4268" name="Shape 4268"/>
          <p:cNvSpPr/>
          <p:nvPr/>
        </p:nvSpPr>
        <p:spPr>
          <a:xfrm>
            <a:off x="6101642" y="4594919"/>
            <a:ext cx="2737557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>
                <a:latin typeface="Verdana"/>
                <a:ea typeface="Verdana"/>
                <a:cs typeface="Verdana"/>
                <a:sym typeface="Verdana"/>
              </a:rPr>
              <a:t>:ProductDescription</a:t>
            </a:r>
          </a:p>
        </p:txBody>
      </p:sp>
      <p:sp>
        <p:nvSpPr>
          <p:cNvPr id="4269" name="Shape 4269"/>
          <p:cNvSpPr/>
          <p:nvPr/>
        </p:nvSpPr>
        <p:spPr>
          <a:xfrm flipV="1">
            <a:off x="7400045" y="2558136"/>
            <a:ext cx="1" cy="2034175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70" name="Shape 4270"/>
          <p:cNvSpPr/>
          <p:nvPr/>
        </p:nvSpPr>
        <p:spPr>
          <a:xfrm flipH="1">
            <a:off x="3811362" y="2323579"/>
            <a:ext cx="2448846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71" name="Shape 4271"/>
          <p:cNvSpPr/>
          <p:nvPr/>
        </p:nvSpPr>
        <p:spPr>
          <a:xfrm flipH="1">
            <a:off x="532808" y="2321346"/>
            <a:ext cx="1638908" cy="1"/>
          </a:xfrm>
          <a:prstGeom prst="line">
            <a:avLst/>
          </a:prstGeom>
          <a:ln w="635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72" name="Shape 4272"/>
          <p:cNvSpPr/>
          <p:nvPr/>
        </p:nvSpPr>
        <p:spPr>
          <a:xfrm>
            <a:off x="604106" y="1982779"/>
            <a:ext cx="1208614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t = getTotal()</a:t>
            </a:r>
          </a:p>
        </p:txBody>
      </p:sp>
      <p:sp>
        <p:nvSpPr>
          <p:cNvPr id="4273" name="Shape 4273"/>
          <p:cNvSpPr/>
          <p:nvPr/>
        </p:nvSpPr>
        <p:spPr>
          <a:xfrm>
            <a:off x="3918791" y="1982779"/>
            <a:ext cx="205256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1: *: st = getSubTotal()</a:t>
            </a:r>
          </a:p>
        </p:txBody>
      </p:sp>
      <p:sp>
        <p:nvSpPr>
          <p:cNvPr id="4274" name="Shape 4274"/>
          <p:cNvSpPr/>
          <p:nvPr/>
        </p:nvSpPr>
        <p:spPr>
          <a:xfrm>
            <a:off x="5931208" y="3410835"/>
            <a:ext cx="132204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1.1: getPrice()</a:t>
            </a:r>
          </a:p>
        </p:txBody>
      </p:sp>
      <p:sp>
        <p:nvSpPr>
          <p:cNvPr id="4275" name="Shape 4275"/>
          <p:cNvSpPr/>
          <p:nvPr/>
        </p:nvSpPr>
        <p:spPr>
          <a:xfrm>
            <a:off x="4539167" y="2460650"/>
            <a:ext cx="1022982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76" name="Shape 4276"/>
          <p:cNvSpPr/>
          <p:nvPr/>
        </p:nvSpPr>
        <p:spPr>
          <a:xfrm>
            <a:off x="920430" y="2463849"/>
            <a:ext cx="1022983" cy="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77" name="Shape 4277"/>
          <p:cNvSpPr/>
          <p:nvPr/>
        </p:nvSpPr>
        <p:spPr>
          <a:xfrm>
            <a:off x="7523475" y="3224733"/>
            <a:ext cx="1" cy="700981"/>
          </a:xfrm>
          <a:prstGeom prst="line">
            <a:avLst/>
          </a:prstGeom>
          <a:ln w="12700">
            <a:solidFill/>
            <a:round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grpSp>
        <p:nvGrpSpPr>
          <p:cNvPr id="4282" name="Group 4282"/>
          <p:cNvGrpSpPr/>
          <p:nvPr/>
        </p:nvGrpSpPr>
        <p:grpSpPr>
          <a:xfrm>
            <a:off x="9178105" y="1880758"/>
            <a:ext cx="2266656" cy="963665"/>
            <a:chOff x="0" y="-144497"/>
            <a:chExt cx="2417764" cy="1370545"/>
          </a:xfrm>
        </p:grpSpPr>
        <p:grpSp>
          <p:nvGrpSpPr>
            <p:cNvPr id="4280" name="Group 4280"/>
            <p:cNvGrpSpPr/>
            <p:nvPr/>
          </p:nvGrpSpPr>
          <p:grpSpPr>
            <a:xfrm>
              <a:off x="0" y="-144497"/>
              <a:ext cx="2417764" cy="931809"/>
              <a:chOff x="0" y="-144496"/>
              <a:chExt cx="2417763" cy="931807"/>
            </a:xfrm>
          </p:grpSpPr>
          <p:sp>
            <p:nvSpPr>
              <p:cNvPr id="4278" name="Shape 4278"/>
              <p:cNvSpPr/>
              <p:nvPr/>
            </p:nvSpPr>
            <p:spPr>
              <a:xfrm>
                <a:off x="0" y="371475"/>
                <a:ext cx="2417763" cy="41583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>
                  <a:defRPr sz="1600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sz="1800"/>
                </a:pPr>
                <a:r>
                  <a:rPr sz="1300"/>
                  <a:t>time</a:t>
                </a:r>
              </a:p>
            </p:txBody>
          </p:sp>
          <p:sp>
            <p:nvSpPr>
              <p:cNvPr id="4279" name="Shape 4279"/>
              <p:cNvSpPr/>
              <p:nvPr/>
            </p:nvSpPr>
            <p:spPr>
              <a:xfrm>
                <a:off x="0" y="-144496"/>
                <a:ext cx="2417763" cy="525266"/>
              </a:xfrm>
              <a:prstGeom prst="rect">
                <a:avLst/>
              </a:prstGeom>
              <a:noFill/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  <a:extLst>
                <a:ext uri="{C572A759-6A51-4108-AA02-DFA0A04FC94B}">
                  <ma14:wrappingTextBoxFlag xmlns="" xmlns:ma14="http://schemas.microsoft.com/office/mac/drawingml/2011/main" val="1"/>
                </a:ext>
              </a:extLst>
            </p:spPr>
            <p:txBody>
              <a:bodyPr wrap="square" lIns="45719" tIns="45719" rIns="45719" bIns="45719" numCol="1" anchor="t">
                <a:spAutoFit/>
              </a:bodyPr>
              <a:lstStyle>
                <a:lvl1pPr marL="0" marR="0" algn="ctr">
                  <a:defRPr sz="1800" b="1">
                    <a:uFillTx/>
                    <a:latin typeface="Verdana"/>
                    <a:ea typeface="Verdana"/>
                    <a:cs typeface="Verdana"/>
                    <a:sym typeface="Verdana"/>
                  </a:defRPr>
                </a:lvl1pPr>
              </a:lstStyle>
              <a:p>
                <a:pPr lvl="0">
                  <a:defRPr b="0"/>
                </a:pPr>
                <a:r>
                  <a:rPr b="1"/>
                  <a:t>Sale</a:t>
                </a:r>
              </a:p>
            </p:txBody>
          </p:sp>
        </p:grpSp>
        <p:sp>
          <p:nvSpPr>
            <p:cNvPr id="4281" name="Shape 4281"/>
            <p:cNvSpPr/>
            <p:nvPr/>
          </p:nvSpPr>
          <p:spPr>
            <a:xfrm>
              <a:off x="0" y="810209"/>
              <a:ext cx="2417763" cy="415839"/>
            </a:xfrm>
            <a:prstGeom prst="rect">
              <a:avLst/>
            </a:prstGeom>
            <a:noFill/>
            <a:ln w="9525" cap="flat">
              <a:solidFill>
                <a:srgbClr val="000000"/>
              </a:solidFill>
              <a:prstDash val="solid"/>
              <a:round/>
            </a:ln>
            <a:effectLst/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square" lIns="45719" tIns="45719" rIns="45719" bIns="45719" numCol="1" anchor="t">
              <a:spAutoFit/>
            </a:bodyPr>
            <a:lstStyle>
              <a:lvl1pPr marL="0" marR="0">
                <a:defRPr sz="1600">
                  <a:uFillTx/>
                  <a:latin typeface="Verdana"/>
                  <a:ea typeface="Verdana"/>
                  <a:cs typeface="Verdana"/>
                  <a:sym typeface="Verdana"/>
                </a:defRPr>
              </a:lvl1pPr>
            </a:lstStyle>
            <a:p>
              <a:pPr lvl="0">
                <a:defRPr sz="1800"/>
              </a:pPr>
              <a:r>
                <a:rPr sz="1300"/>
                <a:t>getTotal()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42924971"/>
      </p:ext>
    </p:extLst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4" name="Shape 4284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285" name="Shape 428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Information Expert pattern</a:t>
            </a:r>
          </a:p>
        </p:txBody>
      </p:sp>
      <p:sp>
        <p:nvSpPr>
          <p:cNvPr id="4286" name="Shape 4286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300" dirty="0"/>
              <a:t>Advantages</a:t>
            </a:r>
          </a:p>
          <a:p>
            <a:pPr lvl="1">
              <a:defRPr sz="1800"/>
            </a:pPr>
            <a:r>
              <a:rPr sz="2300" dirty="0"/>
              <a:t>The encapsulation is maintained since objects use their own information to satisfy responsibility</a:t>
            </a:r>
          </a:p>
          <a:p>
            <a:pPr lvl="1">
              <a:defRPr sz="1800"/>
            </a:pPr>
            <a:r>
              <a:rPr sz="2300" dirty="0"/>
              <a:t>This pattern supports loose coupling, this allows the system to be more robust and easier to maintain</a:t>
            </a:r>
          </a:p>
          <a:p>
            <a:pPr lvl="1">
              <a:defRPr sz="1800"/>
            </a:pPr>
            <a:r>
              <a:rPr sz="2300" dirty="0"/>
              <a:t>The </a:t>
            </a:r>
            <a:r>
              <a:rPr sz="2300" dirty="0" err="1"/>
              <a:t>behaviour</a:t>
            </a:r>
            <a:r>
              <a:rPr sz="2300" dirty="0"/>
              <a:t> is distributed among the classes that possess the necessary information, it encourages more coherent and smaller definitions are easier to understand and maintain</a:t>
            </a:r>
          </a:p>
        </p:txBody>
      </p:sp>
    </p:spTree>
    <p:extLst>
      <p:ext uri="{BB962C8B-B14F-4D97-AF65-F5344CB8AC3E}">
        <p14:creationId xmlns:p14="http://schemas.microsoft.com/office/powerpoint/2010/main" val="2119763458"/>
      </p:ext>
    </p:extLst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8" name="Shape 428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43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289" name="Shape 428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Controller pattern</a:t>
            </a:r>
          </a:p>
        </p:txBody>
      </p:sp>
      <p:sp>
        <p:nvSpPr>
          <p:cNvPr id="4290" name="Shape 4290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Problem</a:t>
            </a:r>
          </a:p>
          <a:p>
            <a:pPr lvl="1">
              <a:defRPr sz="1800"/>
            </a:pPr>
            <a:r>
              <a:rPr sz="2000"/>
              <a:t>Which first object beyond the User Interface (UI) layer receives and coordinates (“controls”) a system operation?</a:t>
            </a:r>
          </a:p>
        </p:txBody>
      </p:sp>
      <p:pic>
        <p:nvPicPr>
          <p:cNvPr id="4291" name="pasted-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1139" y="2533267"/>
            <a:ext cx="1852973" cy="1389730"/>
          </a:xfrm>
          <a:prstGeom prst="rect">
            <a:avLst/>
          </a:prstGeom>
          <a:ln w="6350">
            <a:round/>
          </a:ln>
        </p:spPr>
      </p:pic>
      <p:pic>
        <p:nvPicPr>
          <p:cNvPr id="4292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4545" y="2628749"/>
            <a:ext cx="1598352" cy="1198765"/>
          </a:xfrm>
          <a:prstGeom prst="rect">
            <a:avLst/>
          </a:prstGeom>
          <a:ln>
            <a:solidFill/>
            <a:round/>
          </a:ln>
        </p:spPr>
      </p:pic>
      <p:pic>
        <p:nvPicPr>
          <p:cNvPr id="4293" name="pasted-image.png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986" y="2671245"/>
            <a:ext cx="2672528" cy="1113773"/>
          </a:xfrm>
          <a:prstGeom prst="rect">
            <a:avLst/>
          </a:prstGeom>
          <a:ln>
            <a:solidFill/>
            <a:round/>
          </a:ln>
        </p:spPr>
      </p:pic>
      <p:sp>
        <p:nvSpPr>
          <p:cNvPr id="4294" name="Shape 4294"/>
          <p:cNvSpPr/>
          <p:nvPr/>
        </p:nvSpPr>
        <p:spPr>
          <a:xfrm>
            <a:off x="610830" y="3054391"/>
            <a:ext cx="173337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Presentation Layer</a:t>
            </a:r>
          </a:p>
        </p:txBody>
      </p:sp>
      <p:sp>
        <p:nvSpPr>
          <p:cNvPr id="4295" name="Shape 4295"/>
          <p:cNvSpPr/>
          <p:nvPr/>
        </p:nvSpPr>
        <p:spPr>
          <a:xfrm>
            <a:off x="393638" y="4692649"/>
            <a:ext cx="10896725" cy="60922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96" name="Shape 4296"/>
          <p:cNvSpPr/>
          <p:nvPr/>
        </p:nvSpPr>
        <p:spPr>
          <a:xfrm>
            <a:off x="4646045" y="4495402"/>
            <a:ext cx="5738121" cy="1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97" name="Shape 4297"/>
          <p:cNvSpPr/>
          <p:nvPr/>
        </p:nvSpPr>
        <p:spPr>
          <a:xfrm flipV="1">
            <a:off x="4643251" y="4148016"/>
            <a:ext cx="1" cy="351235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98" name="Shape 4298"/>
          <p:cNvSpPr/>
          <p:nvPr/>
        </p:nvSpPr>
        <p:spPr>
          <a:xfrm flipV="1">
            <a:off x="7334250" y="4143025"/>
            <a:ext cx="1" cy="351235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299" name="Shape 4299"/>
          <p:cNvSpPr/>
          <p:nvPr/>
        </p:nvSpPr>
        <p:spPr>
          <a:xfrm flipV="1">
            <a:off x="10378971" y="4150121"/>
            <a:ext cx="1" cy="351235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00" name="Shape 4300"/>
          <p:cNvSpPr/>
          <p:nvPr/>
        </p:nvSpPr>
        <p:spPr>
          <a:xfrm flipV="1">
            <a:off x="7334250" y="4502844"/>
            <a:ext cx="1" cy="824716"/>
          </a:xfrm>
          <a:prstGeom prst="line">
            <a:avLst/>
          </a:prstGeom>
          <a:ln w="12700">
            <a:solidFill/>
            <a:round/>
            <a:head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01" name="Shape 4301"/>
          <p:cNvSpPr/>
          <p:nvPr/>
        </p:nvSpPr>
        <p:spPr>
          <a:xfrm>
            <a:off x="7282298" y="4825495"/>
            <a:ext cx="161257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events / requests</a:t>
            </a:r>
          </a:p>
        </p:txBody>
      </p:sp>
      <p:sp>
        <p:nvSpPr>
          <p:cNvPr id="4302" name="Shape 4302"/>
          <p:cNvSpPr/>
          <p:nvPr/>
        </p:nvSpPr>
        <p:spPr>
          <a:xfrm>
            <a:off x="610830" y="5280909"/>
            <a:ext cx="186969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Business Logic Layer</a:t>
            </a:r>
          </a:p>
        </p:txBody>
      </p:sp>
      <p:sp>
        <p:nvSpPr>
          <p:cNvPr id="4303" name="Shape 4303"/>
          <p:cNvSpPr/>
          <p:nvPr/>
        </p:nvSpPr>
        <p:spPr>
          <a:xfrm>
            <a:off x="6200923" y="5319587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u="sng">
                <a:latin typeface="Verdana"/>
                <a:ea typeface="Verdana"/>
                <a:cs typeface="Verdana"/>
                <a:sym typeface="Verdana"/>
              </a:rPr>
              <a:t>:Class ???</a:t>
            </a:r>
          </a:p>
        </p:txBody>
      </p:sp>
      <p:sp>
        <p:nvSpPr>
          <p:cNvPr id="4304" name="Shape 4304"/>
          <p:cNvSpPr/>
          <p:nvPr/>
        </p:nvSpPr>
        <p:spPr>
          <a:xfrm>
            <a:off x="4209727" y="3817830"/>
            <a:ext cx="73829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Web UI</a:t>
            </a:r>
          </a:p>
        </p:txBody>
      </p:sp>
      <p:sp>
        <p:nvSpPr>
          <p:cNvPr id="4305" name="Shape 4305"/>
          <p:cNvSpPr/>
          <p:nvPr/>
        </p:nvSpPr>
        <p:spPr>
          <a:xfrm>
            <a:off x="6704702" y="3817830"/>
            <a:ext cx="105729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Desktop UI</a:t>
            </a:r>
          </a:p>
        </p:txBody>
      </p:sp>
      <p:sp>
        <p:nvSpPr>
          <p:cNvPr id="4306" name="Shape 4306"/>
          <p:cNvSpPr/>
          <p:nvPr/>
        </p:nvSpPr>
        <p:spPr>
          <a:xfrm>
            <a:off x="9847952" y="3817830"/>
            <a:ext cx="953096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Mobile UI</a:t>
            </a:r>
          </a:p>
        </p:txBody>
      </p:sp>
    </p:spTree>
    <p:extLst>
      <p:ext uri="{BB962C8B-B14F-4D97-AF65-F5344CB8AC3E}">
        <p14:creationId xmlns:p14="http://schemas.microsoft.com/office/powerpoint/2010/main" val="1906006841"/>
      </p:ext>
    </p:extLst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8" name="Shape 430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44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309" name="Shape 430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Controller pattern</a:t>
            </a:r>
          </a:p>
        </p:txBody>
      </p:sp>
      <p:sp>
        <p:nvSpPr>
          <p:cNvPr id="4310" name="Shape 4310"/>
          <p:cNvSpPr>
            <a:spLocks noGrp="1"/>
          </p:cNvSpPr>
          <p:nvPr>
            <p:ph type="body" idx="1"/>
          </p:nvPr>
        </p:nvSpPr>
        <p:spPr>
          <a:xfrm>
            <a:off x="344855" y="1231236"/>
            <a:ext cx="11478845" cy="5271163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Solution</a:t>
            </a:r>
          </a:p>
          <a:p>
            <a:pPr lvl="1">
              <a:defRPr sz="1800"/>
            </a:pPr>
            <a:r>
              <a:rPr sz="2000" dirty="0"/>
              <a:t>A </a:t>
            </a:r>
            <a:r>
              <a:rPr sz="2000" b="1" dirty="0"/>
              <a:t>Controller</a:t>
            </a:r>
            <a:r>
              <a:rPr sz="2000" dirty="0"/>
              <a:t> is the first object beyond the UI layer that is responsible for receiving and handling a system operation.</a:t>
            </a:r>
          </a:p>
          <a:p>
            <a:pPr lvl="1">
              <a:defRPr sz="1800"/>
            </a:pPr>
            <a:r>
              <a:rPr sz="2000" dirty="0"/>
              <a:t>A controller should delegate the work to other objects. The controller only receives the requests but doesn’t not actually solve them.</a:t>
            </a:r>
          </a:p>
        </p:txBody>
      </p:sp>
      <p:sp>
        <p:nvSpPr>
          <p:cNvPr id="4314" name="Shape 4314"/>
          <p:cNvSpPr/>
          <p:nvPr/>
        </p:nvSpPr>
        <p:spPr>
          <a:xfrm>
            <a:off x="610830" y="3054391"/>
            <a:ext cx="173337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Presentation Layer</a:t>
            </a:r>
          </a:p>
        </p:txBody>
      </p:sp>
      <p:sp>
        <p:nvSpPr>
          <p:cNvPr id="4318" name="Shape 4318"/>
          <p:cNvSpPr/>
          <p:nvPr/>
        </p:nvSpPr>
        <p:spPr>
          <a:xfrm>
            <a:off x="393637" y="4970718"/>
            <a:ext cx="10896725" cy="60922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19" name="Shape 4319"/>
          <p:cNvSpPr/>
          <p:nvPr/>
        </p:nvSpPr>
        <p:spPr>
          <a:xfrm>
            <a:off x="4667237" y="4709334"/>
            <a:ext cx="5738121" cy="1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25" name="Shape 4325"/>
          <p:cNvSpPr/>
          <p:nvPr/>
        </p:nvSpPr>
        <p:spPr>
          <a:xfrm>
            <a:off x="610830" y="5280909"/>
            <a:ext cx="186969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Business Logic Layer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3784545" y="2748341"/>
            <a:ext cx="7349567" cy="3140602"/>
            <a:chOff x="3784545" y="2533267"/>
            <a:chExt cx="7349567" cy="3140602"/>
          </a:xfrm>
        </p:grpSpPr>
        <p:pic>
          <p:nvPicPr>
            <p:cNvPr id="4311" name="pasted-image.png"/>
            <p:cNvPicPr/>
            <p:nvPr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281139" y="2533267"/>
              <a:ext cx="1852973" cy="1389730"/>
            </a:xfrm>
            <a:prstGeom prst="rect">
              <a:avLst/>
            </a:prstGeom>
            <a:ln w="6350">
              <a:round/>
            </a:ln>
          </p:spPr>
        </p:pic>
        <p:pic>
          <p:nvPicPr>
            <p:cNvPr id="4312" name="pasted-image.png"/>
            <p:cNvPicPr/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84545" y="2628749"/>
              <a:ext cx="1598352" cy="1198765"/>
            </a:xfrm>
            <a:prstGeom prst="rect">
              <a:avLst/>
            </a:prstGeom>
            <a:ln>
              <a:solidFill/>
              <a:round/>
            </a:ln>
          </p:spPr>
        </p:pic>
        <p:pic>
          <p:nvPicPr>
            <p:cNvPr id="4313" name="pasted-image.png"/>
            <p:cNvPicPr/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997986" y="2671245"/>
              <a:ext cx="2672528" cy="1113773"/>
            </a:xfrm>
            <a:prstGeom prst="rect">
              <a:avLst/>
            </a:prstGeom>
            <a:ln>
              <a:solidFill/>
              <a:round/>
            </a:ln>
          </p:spPr>
        </p:pic>
        <p:sp>
          <p:nvSpPr>
            <p:cNvPr id="4315" name="Shape 4315"/>
            <p:cNvSpPr/>
            <p:nvPr/>
          </p:nvSpPr>
          <p:spPr>
            <a:xfrm>
              <a:off x="4209727" y="3817830"/>
              <a:ext cx="738293" cy="3474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2520" tIns="42520" rIns="42520" bIns="42520" anchor="ctr">
              <a:spAutoFit/>
            </a:bodyPr>
            <a:lstStyle>
              <a:lvl1pPr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1700">
                  <a:uFill>
                    <a:solidFill/>
                  </a:uFill>
                </a:rPr>
                <a:t>Web UI</a:t>
              </a:r>
            </a:p>
          </p:txBody>
        </p:sp>
        <p:sp>
          <p:nvSpPr>
            <p:cNvPr id="4316" name="Shape 4316"/>
            <p:cNvSpPr/>
            <p:nvPr/>
          </p:nvSpPr>
          <p:spPr>
            <a:xfrm>
              <a:off x="6704702" y="3817830"/>
              <a:ext cx="1057290" cy="3474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2520" tIns="42520" rIns="42520" bIns="42520" anchor="ctr">
              <a:spAutoFit/>
            </a:bodyPr>
            <a:lstStyle>
              <a:lvl1pPr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1700">
                  <a:uFill>
                    <a:solidFill/>
                  </a:uFill>
                </a:rPr>
                <a:t>Desktop UI</a:t>
              </a:r>
            </a:p>
          </p:txBody>
        </p:sp>
        <p:sp>
          <p:nvSpPr>
            <p:cNvPr id="4317" name="Shape 4317"/>
            <p:cNvSpPr/>
            <p:nvPr/>
          </p:nvSpPr>
          <p:spPr>
            <a:xfrm>
              <a:off x="9847952" y="3817830"/>
              <a:ext cx="953096" cy="3474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2520" tIns="42520" rIns="42520" bIns="42520" anchor="ctr">
              <a:spAutoFit/>
            </a:bodyPr>
            <a:lstStyle>
              <a:lvl1pPr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1700">
                  <a:uFill>
                    <a:solidFill/>
                  </a:uFill>
                </a:rPr>
                <a:t>Mobile UI</a:t>
              </a:r>
            </a:p>
          </p:txBody>
        </p:sp>
        <p:sp>
          <p:nvSpPr>
            <p:cNvPr id="4320" name="Shape 4320"/>
            <p:cNvSpPr/>
            <p:nvPr/>
          </p:nvSpPr>
          <p:spPr>
            <a:xfrm flipV="1">
              <a:off x="4643251" y="4148016"/>
              <a:ext cx="1" cy="351235"/>
            </a:xfrm>
            <a:prstGeom prst="line">
              <a:avLst/>
            </a:prstGeom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4321" name="Shape 4321"/>
            <p:cNvSpPr/>
            <p:nvPr/>
          </p:nvSpPr>
          <p:spPr>
            <a:xfrm flipV="1">
              <a:off x="7334250" y="4143025"/>
              <a:ext cx="1" cy="351235"/>
            </a:xfrm>
            <a:prstGeom prst="line">
              <a:avLst/>
            </a:prstGeom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4322" name="Shape 4322"/>
            <p:cNvSpPr/>
            <p:nvPr/>
          </p:nvSpPr>
          <p:spPr>
            <a:xfrm flipV="1">
              <a:off x="10378971" y="4150121"/>
              <a:ext cx="1" cy="351235"/>
            </a:xfrm>
            <a:prstGeom prst="line">
              <a:avLst/>
            </a:prstGeom>
            <a:ln w="12700">
              <a:solidFill/>
              <a:round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4323" name="Shape 4323"/>
            <p:cNvSpPr/>
            <p:nvPr/>
          </p:nvSpPr>
          <p:spPr>
            <a:xfrm flipV="1">
              <a:off x="7334250" y="4502844"/>
              <a:ext cx="1" cy="824716"/>
            </a:xfrm>
            <a:prstGeom prst="line">
              <a:avLst/>
            </a:prstGeom>
            <a:ln w="12700">
              <a:solidFill/>
              <a:round/>
              <a:headEnd type="triangle"/>
            </a:ln>
          </p:spPr>
          <p:txBody>
            <a:bodyPr lIns="0" tIns="0" rIns="0" bIns="0"/>
            <a:lstStyle/>
            <a:p>
              <a:pPr lvl="0"/>
              <a:endParaRPr/>
            </a:p>
          </p:txBody>
        </p:sp>
        <p:sp>
          <p:nvSpPr>
            <p:cNvPr id="4324" name="Shape 4324"/>
            <p:cNvSpPr/>
            <p:nvPr/>
          </p:nvSpPr>
          <p:spPr>
            <a:xfrm>
              <a:off x="7460098" y="4825495"/>
              <a:ext cx="1612570" cy="34748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wrap="none" lIns="42520" tIns="42520" rIns="42520" bIns="42520" anchor="ctr">
              <a:spAutoFit/>
            </a:bodyPr>
            <a:lstStyle>
              <a:lvl1pPr>
                <a:defRPr sz="2000"/>
              </a:lvl1pPr>
            </a:lstStyle>
            <a:p>
              <a:pPr lvl="0">
                <a:defRPr sz="1800">
                  <a:uFillTx/>
                </a:defRPr>
              </a:pPr>
              <a:r>
                <a:rPr sz="1700">
                  <a:uFill>
                    <a:solidFill/>
                  </a:uFill>
                </a:rPr>
                <a:t>events / requests</a:t>
              </a:r>
            </a:p>
          </p:txBody>
        </p:sp>
        <p:sp>
          <p:nvSpPr>
            <p:cNvPr id="4326" name="Shape 4326"/>
            <p:cNvSpPr/>
            <p:nvPr/>
          </p:nvSpPr>
          <p:spPr>
            <a:xfrm>
              <a:off x="6200923" y="5319587"/>
              <a:ext cx="2266654" cy="354282"/>
            </a:xfrm>
            <a:prstGeom prst="rect">
              <a:avLst/>
            </a:prstGeom>
            <a:ln>
              <a:solidFill/>
              <a:round/>
            </a:ln>
            <a:extLst>
              <a:ext uri="{C572A759-6A51-4108-AA02-DFA0A04FC94B}">
                <ma14:wrappingTextBoxFlag xmlns="" xmlns:ma14="http://schemas.microsoft.com/office/mac/drawingml/2011/main" val="1"/>
              </a:ext>
            </a:extLst>
          </p:spPr>
          <p:txBody>
            <a:bodyPr lIns="38267" tIns="38268" rIns="38267" bIns="38268">
              <a:spAutoFit/>
            </a:bodyPr>
            <a:lstStyle/>
            <a:p>
              <a:pPr algn="ctr">
                <a:defRPr sz="1800">
                  <a:uFillTx/>
                </a:defRPr>
              </a:pPr>
              <a:r>
                <a:rPr b="1" u="sng">
                  <a:latin typeface="Verdana"/>
                  <a:ea typeface="Verdana"/>
                  <a:cs typeface="Verdana"/>
                  <a:sym typeface="Verdana"/>
                </a:rPr>
                <a:t>:Controller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6363119"/>
      </p:ext>
    </p:extLst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8" name="Shape 4328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45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329" name="Shape 4329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Controller pattern</a:t>
            </a:r>
          </a:p>
        </p:txBody>
      </p:sp>
      <p:sp>
        <p:nvSpPr>
          <p:cNvPr id="4330" name="Shape 4330"/>
          <p:cNvSpPr>
            <a:spLocks noGrp="1"/>
          </p:cNvSpPr>
          <p:nvPr>
            <p:ph type="body" idx="1"/>
          </p:nvPr>
        </p:nvSpPr>
        <p:spPr>
          <a:xfrm>
            <a:off x="386743" y="1234940"/>
            <a:ext cx="11449657" cy="5508760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pPr lvl="0">
              <a:defRPr sz="1800"/>
            </a:pPr>
            <a:r>
              <a:rPr sz="2000" dirty="0"/>
              <a:t>Application</a:t>
            </a:r>
          </a:p>
          <a:p>
            <a:pPr lvl="1">
              <a:defRPr sz="1800"/>
            </a:pPr>
            <a:r>
              <a:rPr sz="2000" dirty="0"/>
              <a:t>The Controller pattern can be applied to all the systems that need to process external events</a:t>
            </a:r>
          </a:p>
          <a:p>
            <a:pPr lvl="1">
              <a:defRPr sz="1800"/>
            </a:pPr>
            <a:r>
              <a:rPr sz="2000" dirty="0"/>
              <a:t>A controller class is selected to process the events</a:t>
            </a:r>
          </a:p>
          <a:p>
            <a:pPr lvl="0">
              <a:defRPr sz="1800"/>
            </a:pPr>
            <a:r>
              <a:rPr sz="2000" dirty="0"/>
              <a:t>Example</a:t>
            </a:r>
          </a:p>
          <a:p>
            <a:pPr lvl="1">
              <a:defRPr sz="1800"/>
            </a:pPr>
            <a:r>
              <a:rPr sz="2000" dirty="0"/>
              <a:t>The Cash Register system has several events</a:t>
            </a:r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lang="en-US" sz="2000" dirty="0"/>
          </a:p>
          <a:p>
            <a:pPr lvl="1">
              <a:defRPr sz="1800"/>
            </a:pPr>
            <a:r>
              <a:rPr sz="2000" dirty="0"/>
              <a:t>What class can be the controller (i.e., what class processes the events)?</a:t>
            </a:r>
          </a:p>
        </p:txBody>
      </p:sp>
      <p:sp>
        <p:nvSpPr>
          <p:cNvPr id="4331" name="Shape 4331"/>
          <p:cNvSpPr/>
          <p:nvPr/>
        </p:nvSpPr>
        <p:spPr>
          <a:xfrm>
            <a:off x="4962673" y="3391076"/>
            <a:ext cx="2266654" cy="284727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endSale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enterItem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makeNewSale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makePayment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 sz="1800">
                <a:uFillTx/>
              </a:defRPr>
            </a:pP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makeReturnItem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dirty="0" err="1">
                <a:latin typeface="Verdana"/>
                <a:ea typeface="Verdana"/>
                <a:cs typeface="Verdana"/>
                <a:sym typeface="Verdana"/>
              </a:rPr>
              <a:t>enterReturnItem</a:t>
            </a:r>
            <a:r>
              <a:rPr dirty="0">
                <a:latin typeface="Verdana"/>
                <a:ea typeface="Verdana"/>
                <a:cs typeface="Verdana"/>
                <a:sym typeface="Verdana"/>
              </a:rPr>
              <a:t>()</a:t>
            </a:r>
          </a:p>
          <a:p>
            <a:pPr>
              <a:defRPr sz="1800">
                <a:uFillTx/>
              </a:defRPr>
            </a:pPr>
            <a:r>
              <a:rPr dirty="0">
                <a:latin typeface="Verdana"/>
                <a:ea typeface="Verdana"/>
                <a:cs typeface="Verdana"/>
                <a:sym typeface="Verdana"/>
              </a:rPr>
              <a:t>….</a:t>
            </a:r>
          </a:p>
        </p:txBody>
      </p:sp>
      <p:sp>
        <p:nvSpPr>
          <p:cNvPr id="4332" name="Shape 4332"/>
          <p:cNvSpPr/>
          <p:nvPr/>
        </p:nvSpPr>
        <p:spPr>
          <a:xfrm>
            <a:off x="4962673" y="3019353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System</a:t>
            </a:r>
          </a:p>
        </p:txBody>
      </p:sp>
      <p:pic>
        <p:nvPicPr>
          <p:cNvPr id="4333" name="pasted-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83544" y="2313233"/>
            <a:ext cx="1598353" cy="1198765"/>
          </a:xfrm>
          <a:prstGeom prst="rect">
            <a:avLst/>
          </a:prstGeom>
          <a:ln>
            <a:solidFill/>
            <a:round/>
          </a:ln>
        </p:spPr>
      </p:pic>
      <p:pic>
        <p:nvPicPr>
          <p:cNvPr id="4334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22162" y="3998792"/>
            <a:ext cx="2672527" cy="1113773"/>
          </a:xfrm>
          <a:prstGeom prst="rect">
            <a:avLst/>
          </a:prstGeom>
          <a:ln>
            <a:solidFill/>
            <a:round/>
          </a:ln>
        </p:spPr>
      </p:pic>
      <p:sp>
        <p:nvSpPr>
          <p:cNvPr id="4335" name="Shape 4335"/>
          <p:cNvSpPr/>
          <p:nvPr/>
        </p:nvSpPr>
        <p:spPr>
          <a:xfrm>
            <a:off x="8908727" y="3502314"/>
            <a:ext cx="73829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Web UI</a:t>
            </a:r>
          </a:p>
        </p:txBody>
      </p:sp>
      <p:sp>
        <p:nvSpPr>
          <p:cNvPr id="4336" name="Shape 4336"/>
          <p:cNvSpPr/>
          <p:nvPr/>
        </p:nvSpPr>
        <p:spPr>
          <a:xfrm>
            <a:off x="8728878" y="5145377"/>
            <a:ext cx="105729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Desktop UI</a:t>
            </a:r>
          </a:p>
        </p:txBody>
      </p:sp>
      <p:pic>
        <p:nvPicPr>
          <p:cNvPr id="4337" name="pasted-image.png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05502" y="2995874"/>
            <a:ext cx="2605437" cy="1099169"/>
          </a:xfrm>
          <a:prstGeom prst="rect">
            <a:avLst/>
          </a:prstGeom>
          <a:ln w="6350">
            <a:round/>
          </a:ln>
        </p:spPr>
      </p:pic>
      <p:sp>
        <p:nvSpPr>
          <p:cNvPr id="4338" name="Shape 4338"/>
          <p:cNvSpPr/>
          <p:nvPr/>
        </p:nvSpPr>
        <p:spPr>
          <a:xfrm>
            <a:off x="690205" y="4381939"/>
            <a:ext cx="173337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Presentation Layer</a:t>
            </a:r>
          </a:p>
        </p:txBody>
      </p:sp>
      <p:sp>
        <p:nvSpPr>
          <p:cNvPr id="4339" name="Shape 4339"/>
          <p:cNvSpPr/>
          <p:nvPr/>
        </p:nvSpPr>
        <p:spPr>
          <a:xfrm flipV="1">
            <a:off x="7279460" y="3271462"/>
            <a:ext cx="1215104" cy="547994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40" name="Shape 4340"/>
          <p:cNvSpPr/>
          <p:nvPr/>
        </p:nvSpPr>
        <p:spPr>
          <a:xfrm>
            <a:off x="7279712" y="3873021"/>
            <a:ext cx="725105" cy="364554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957680608"/>
      </p:ext>
    </p:extLst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2" name="Shape 4342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46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343" name="Shape 4343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Controller pattern</a:t>
            </a:r>
          </a:p>
        </p:txBody>
      </p:sp>
      <p:sp>
        <p:nvSpPr>
          <p:cNvPr id="4344" name="Shape 4344"/>
          <p:cNvSpPr>
            <a:spLocks noGrp="1"/>
          </p:cNvSpPr>
          <p:nvPr>
            <p:ph type="body" idx="1"/>
          </p:nvPr>
        </p:nvSpPr>
        <p:spPr>
          <a:xfrm>
            <a:off x="361950" y="1301090"/>
            <a:ext cx="11468099" cy="5556909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Example: Cash Register system</a:t>
            </a:r>
          </a:p>
          <a:p>
            <a:pPr lvl="1">
              <a:defRPr sz="1800"/>
            </a:pPr>
            <a:r>
              <a:rPr sz="2000"/>
              <a:t>Solution 1: use one controller</a:t>
            </a:r>
          </a:p>
        </p:txBody>
      </p:sp>
      <p:sp>
        <p:nvSpPr>
          <p:cNvPr id="4345" name="Shape 4345"/>
          <p:cNvSpPr/>
          <p:nvPr/>
        </p:nvSpPr>
        <p:spPr>
          <a:xfrm>
            <a:off x="4506745" y="2026890"/>
            <a:ext cx="2266654" cy="2016276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endSale()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enterItem()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makeNewSale()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makePayment()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makeReturnItem()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nterReturnItem()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….</a:t>
            </a:r>
          </a:p>
        </p:txBody>
      </p:sp>
      <p:sp>
        <p:nvSpPr>
          <p:cNvPr id="4346" name="Shape 4346"/>
          <p:cNvSpPr/>
          <p:nvPr/>
        </p:nvSpPr>
        <p:spPr>
          <a:xfrm>
            <a:off x="4506745" y="1680567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System</a:t>
            </a:r>
          </a:p>
        </p:txBody>
      </p:sp>
      <p:pic>
        <p:nvPicPr>
          <p:cNvPr id="4347" name="pasted-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4114" y="658265"/>
            <a:ext cx="1598353" cy="1198765"/>
          </a:xfrm>
          <a:prstGeom prst="rect">
            <a:avLst/>
          </a:prstGeom>
          <a:ln>
            <a:solidFill/>
            <a:round/>
          </a:ln>
        </p:spPr>
      </p:pic>
      <p:pic>
        <p:nvPicPr>
          <p:cNvPr id="4348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2732" y="2343823"/>
            <a:ext cx="2672528" cy="1113773"/>
          </a:xfrm>
          <a:prstGeom prst="rect">
            <a:avLst/>
          </a:prstGeom>
          <a:ln>
            <a:solidFill/>
            <a:round/>
          </a:ln>
        </p:spPr>
      </p:pic>
      <p:sp>
        <p:nvSpPr>
          <p:cNvPr id="4349" name="Shape 4349"/>
          <p:cNvSpPr/>
          <p:nvPr/>
        </p:nvSpPr>
        <p:spPr>
          <a:xfrm>
            <a:off x="8389298" y="1847346"/>
            <a:ext cx="73829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Web UI</a:t>
            </a:r>
          </a:p>
        </p:txBody>
      </p:sp>
      <p:sp>
        <p:nvSpPr>
          <p:cNvPr id="4350" name="Shape 4350"/>
          <p:cNvSpPr/>
          <p:nvPr/>
        </p:nvSpPr>
        <p:spPr>
          <a:xfrm>
            <a:off x="8209448" y="3490408"/>
            <a:ext cx="105729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Desktop UI</a:t>
            </a:r>
          </a:p>
        </p:txBody>
      </p:sp>
      <p:sp>
        <p:nvSpPr>
          <p:cNvPr id="4351" name="Shape 4351"/>
          <p:cNvSpPr/>
          <p:nvPr/>
        </p:nvSpPr>
        <p:spPr>
          <a:xfrm>
            <a:off x="1714147" y="2560282"/>
            <a:ext cx="173337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Presentation Layer</a:t>
            </a:r>
          </a:p>
        </p:txBody>
      </p:sp>
      <p:sp>
        <p:nvSpPr>
          <p:cNvPr id="4352" name="Shape 4352"/>
          <p:cNvSpPr/>
          <p:nvPr/>
        </p:nvSpPr>
        <p:spPr>
          <a:xfrm flipV="1">
            <a:off x="6760032" y="1616493"/>
            <a:ext cx="1215104" cy="547993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53" name="Shape 4353"/>
          <p:cNvSpPr/>
          <p:nvPr/>
        </p:nvSpPr>
        <p:spPr>
          <a:xfrm>
            <a:off x="6760283" y="2218053"/>
            <a:ext cx="725105" cy="364554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54" name="Shape 4354"/>
          <p:cNvSpPr/>
          <p:nvPr/>
        </p:nvSpPr>
        <p:spPr>
          <a:xfrm>
            <a:off x="647638" y="3871817"/>
            <a:ext cx="10896725" cy="60922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55" name="Shape 4355"/>
          <p:cNvSpPr/>
          <p:nvPr/>
        </p:nvSpPr>
        <p:spPr>
          <a:xfrm>
            <a:off x="4506745" y="4670157"/>
            <a:ext cx="2266654" cy="2016276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endSale()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enterItem()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makeNewSale()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makePayment()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makeReturnItem()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enterReturnItem()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….</a:t>
            </a:r>
          </a:p>
        </p:txBody>
      </p:sp>
      <p:sp>
        <p:nvSpPr>
          <p:cNvPr id="4356" name="Shape 4356"/>
          <p:cNvSpPr/>
          <p:nvPr/>
        </p:nvSpPr>
        <p:spPr>
          <a:xfrm>
            <a:off x="4519445" y="4311134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Register</a:t>
            </a:r>
          </a:p>
        </p:txBody>
      </p:sp>
      <p:sp>
        <p:nvSpPr>
          <p:cNvPr id="4357" name="Shape 4357"/>
          <p:cNvSpPr/>
          <p:nvPr/>
        </p:nvSpPr>
        <p:spPr>
          <a:xfrm>
            <a:off x="1627582" y="5093763"/>
            <a:ext cx="186969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Business Logic Layer</a:t>
            </a:r>
          </a:p>
        </p:txBody>
      </p:sp>
      <p:sp>
        <p:nvSpPr>
          <p:cNvPr id="4358" name="Shape 4358"/>
          <p:cNvSpPr/>
          <p:nvPr/>
        </p:nvSpPr>
        <p:spPr>
          <a:xfrm flipV="1">
            <a:off x="5524500" y="4047004"/>
            <a:ext cx="1" cy="274320"/>
          </a:xfrm>
          <a:prstGeom prst="line">
            <a:avLst/>
          </a:prstGeom>
          <a:ln w="12700">
            <a:solidFill/>
            <a:round/>
            <a:head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59" name="Shape 4359"/>
          <p:cNvSpPr/>
          <p:nvPr/>
        </p:nvSpPr>
        <p:spPr>
          <a:xfrm>
            <a:off x="5802749" y="3978068"/>
            <a:ext cx="161257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events / requests</a:t>
            </a:r>
          </a:p>
        </p:txBody>
      </p:sp>
    </p:spTree>
    <p:extLst>
      <p:ext uri="{BB962C8B-B14F-4D97-AF65-F5344CB8AC3E}">
        <p14:creationId xmlns:p14="http://schemas.microsoft.com/office/powerpoint/2010/main" val="334017868"/>
      </p:ext>
    </p:extLst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1" name="Shape 436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47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362" name="Shape 436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Controller pattern</a:t>
            </a:r>
          </a:p>
        </p:txBody>
      </p:sp>
      <p:sp>
        <p:nvSpPr>
          <p:cNvPr id="4363" name="Shape 4363"/>
          <p:cNvSpPr>
            <a:spLocks noGrp="1"/>
          </p:cNvSpPr>
          <p:nvPr>
            <p:ph type="body" idx="1"/>
          </p:nvPr>
        </p:nvSpPr>
        <p:spPr>
          <a:xfrm>
            <a:off x="386743" y="1440790"/>
            <a:ext cx="11436957" cy="5214009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Example: Cash Register system</a:t>
            </a:r>
          </a:p>
          <a:p>
            <a:pPr lvl="1">
              <a:defRPr sz="1800"/>
            </a:pPr>
            <a:r>
              <a:rPr sz="2000"/>
              <a:t>Solution 2: use several controllers</a:t>
            </a:r>
          </a:p>
        </p:txBody>
      </p:sp>
      <p:sp>
        <p:nvSpPr>
          <p:cNvPr id="4364" name="Shape 4364"/>
          <p:cNvSpPr/>
          <p:nvPr/>
        </p:nvSpPr>
        <p:spPr>
          <a:xfrm>
            <a:off x="4443245" y="2433290"/>
            <a:ext cx="2266654" cy="2016276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endSale()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enterItem()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makeNewSale()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makePayment()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makeReturnItem()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enterReturnItem()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….</a:t>
            </a:r>
          </a:p>
        </p:txBody>
      </p:sp>
      <p:sp>
        <p:nvSpPr>
          <p:cNvPr id="4365" name="Shape 4365"/>
          <p:cNvSpPr/>
          <p:nvPr/>
        </p:nvSpPr>
        <p:spPr>
          <a:xfrm>
            <a:off x="4443245" y="2086967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System</a:t>
            </a:r>
          </a:p>
        </p:txBody>
      </p:sp>
      <p:pic>
        <p:nvPicPr>
          <p:cNvPr id="4366" name="pasted-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64114" y="1305965"/>
            <a:ext cx="1598353" cy="1198765"/>
          </a:xfrm>
          <a:prstGeom prst="rect">
            <a:avLst/>
          </a:prstGeom>
          <a:ln>
            <a:solidFill/>
            <a:round/>
          </a:ln>
        </p:spPr>
      </p:pic>
      <p:pic>
        <p:nvPicPr>
          <p:cNvPr id="4367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02732" y="2991523"/>
            <a:ext cx="2672528" cy="1113773"/>
          </a:xfrm>
          <a:prstGeom prst="rect">
            <a:avLst/>
          </a:prstGeom>
          <a:ln>
            <a:solidFill/>
            <a:round/>
          </a:ln>
        </p:spPr>
      </p:pic>
      <p:sp>
        <p:nvSpPr>
          <p:cNvPr id="4368" name="Shape 4368"/>
          <p:cNvSpPr/>
          <p:nvPr/>
        </p:nvSpPr>
        <p:spPr>
          <a:xfrm>
            <a:off x="8389298" y="2495046"/>
            <a:ext cx="73829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Web UI</a:t>
            </a:r>
          </a:p>
        </p:txBody>
      </p:sp>
      <p:sp>
        <p:nvSpPr>
          <p:cNvPr id="4369" name="Shape 4369"/>
          <p:cNvSpPr/>
          <p:nvPr/>
        </p:nvSpPr>
        <p:spPr>
          <a:xfrm>
            <a:off x="8209448" y="4138108"/>
            <a:ext cx="105729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Desktop UI</a:t>
            </a:r>
          </a:p>
        </p:txBody>
      </p:sp>
      <p:sp>
        <p:nvSpPr>
          <p:cNvPr id="4370" name="Shape 4370"/>
          <p:cNvSpPr/>
          <p:nvPr/>
        </p:nvSpPr>
        <p:spPr>
          <a:xfrm>
            <a:off x="1714147" y="2560282"/>
            <a:ext cx="173337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Presentation Layer</a:t>
            </a:r>
          </a:p>
        </p:txBody>
      </p:sp>
      <p:sp>
        <p:nvSpPr>
          <p:cNvPr id="4371" name="Shape 4371"/>
          <p:cNvSpPr/>
          <p:nvPr/>
        </p:nvSpPr>
        <p:spPr>
          <a:xfrm flipV="1">
            <a:off x="6760032" y="2264193"/>
            <a:ext cx="1215104" cy="547993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72" name="Shape 4372"/>
          <p:cNvSpPr/>
          <p:nvPr/>
        </p:nvSpPr>
        <p:spPr>
          <a:xfrm>
            <a:off x="6760283" y="2865753"/>
            <a:ext cx="725105" cy="364554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  <a:tail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73" name="Shape 4373"/>
          <p:cNvSpPr/>
          <p:nvPr/>
        </p:nvSpPr>
        <p:spPr>
          <a:xfrm>
            <a:off x="647638" y="4519517"/>
            <a:ext cx="10896725" cy="60922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74" name="Shape 4374"/>
          <p:cNvSpPr/>
          <p:nvPr/>
        </p:nvSpPr>
        <p:spPr>
          <a:xfrm>
            <a:off x="4443245" y="5317857"/>
            <a:ext cx="2899111" cy="118527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endSale()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enterItem()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makeNewSale()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makePayment()</a:t>
            </a:r>
          </a:p>
        </p:txBody>
      </p:sp>
      <p:sp>
        <p:nvSpPr>
          <p:cNvPr id="4375" name="Shape 4375"/>
          <p:cNvSpPr/>
          <p:nvPr/>
        </p:nvSpPr>
        <p:spPr>
          <a:xfrm>
            <a:off x="4443245" y="4958834"/>
            <a:ext cx="2899111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ProcessSaleHandler</a:t>
            </a:r>
          </a:p>
        </p:txBody>
      </p:sp>
      <p:sp>
        <p:nvSpPr>
          <p:cNvPr id="4376" name="Shape 4376"/>
          <p:cNvSpPr/>
          <p:nvPr/>
        </p:nvSpPr>
        <p:spPr>
          <a:xfrm>
            <a:off x="1627582" y="5093763"/>
            <a:ext cx="186969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Business Logic Layer</a:t>
            </a:r>
          </a:p>
        </p:txBody>
      </p:sp>
      <p:sp>
        <p:nvSpPr>
          <p:cNvPr id="4377" name="Shape 4377"/>
          <p:cNvSpPr/>
          <p:nvPr/>
        </p:nvSpPr>
        <p:spPr>
          <a:xfrm flipV="1">
            <a:off x="5461000" y="4415304"/>
            <a:ext cx="1" cy="548640"/>
          </a:xfrm>
          <a:prstGeom prst="line">
            <a:avLst/>
          </a:prstGeom>
          <a:ln w="12700">
            <a:solidFill/>
            <a:round/>
            <a:head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78" name="Shape 4378"/>
          <p:cNvSpPr/>
          <p:nvPr/>
        </p:nvSpPr>
        <p:spPr>
          <a:xfrm>
            <a:off x="5574149" y="4549568"/>
            <a:ext cx="161257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events / requests</a:t>
            </a:r>
          </a:p>
        </p:txBody>
      </p:sp>
      <p:sp>
        <p:nvSpPr>
          <p:cNvPr id="4379" name="Shape 4379"/>
          <p:cNvSpPr/>
          <p:nvPr/>
        </p:nvSpPr>
        <p:spPr>
          <a:xfrm>
            <a:off x="8165933" y="5305157"/>
            <a:ext cx="3035466" cy="918556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enterReturnItem()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….</a:t>
            </a:r>
          </a:p>
        </p:txBody>
      </p:sp>
      <p:sp>
        <p:nvSpPr>
          <p:cNvPr id="4380" name="Shape 4380"/>
          <p:cNvSpPr/>
          <p:nvPr/>
        </p:nvSpPr>
        <p:spPr>
          <a:xfrm>
            <a:off x="8165933" y="4958834"/>
            <a:ext cx="3035467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HandleReturnsHandler</a:t>
            </a:r>
          </a:p>
        </p:txBody>
      </p:sp>
      <p:sp>
        <p:nvSpPr>
          <p:cNvPr id="4381" name="Shape 4381"/>
          <p:cNvSpPr/>
          <p:nvPr/>
        </p:nvSpPr>
        <p:spPr>
          <a:xfrm flipH="1" flipV="1">
            <a:off x="6638215" y="4313704"/>
            <a:ext cx="2111754" cy="646682"/>
          </a:xfrm>
          <a:prstGeom prst="line">
            <a:avLst/>
          </a:prstGeom>
          <a:ln w="12700">
            <a:solidFill/>
            <a:round/>
            <a:head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1256319309"/>
      </p:ext>
    </p:extLst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3" name="Shape 438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48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384" name="Shape 438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Controller pattern</a:t>
            </a:r>
          </a:p>
        </p:txBody>
      </p:sp>
      <p:sp>
        <p:nvSpPr>
          <p:cNvPr id="4385" name="Shape 4385"/>
          <p:cNvSpPr>
            <a:spLocks noGrp="1"/>
          </p:cNvSpPr>
          <p:nvPr>
            <p:ph type="body" idx="1"/>
          </p:nvPr>
        </p:nvSpPr>
        <p:spPr>
          <a:xfrm>
            <a:off x="344855" y="1329662"/>
            <a:ext cx="10789257" cy="4729826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Discussion</a:t>
            </a:r>
          </a:p>
          <a:p>
            <a:pPr lvl="1">
              <a:defRPr sz="1800"/>
            </a:pPr>
            <a:r>
              <a:rPr sz="2000" dirty="0"/>
              <a:t>Advantages</a:t>
            </a:r>
          </a:p>
          <a:p>
            <a:pPr lvl="2">
              <a:defRPr sz="1800"/>
            </a:pPr>
            <a:r>
              <a:rPr dirty="0"/>
              <a:t>This is simply a delegation pattern - the UI should not contain application logic</a:t>
            </a:r>
          </a:p>
          <a:p>
            <a:pPr lvl="2">
              <a:defRPr sz="1800"/>
            </a:pPr>
            <a:r>
              <a:rPr dirty="0"/>
              <a:t>Increase potential for reuse and pluggable interfaces</a:t>
            </a:r>
          </a:p>
          <a:p>
            <a:pPr lvl="2">
              <a:defRPr sz="1800"/>
            </a:pPr>
            <a:r>
              <a:rPr dirty="0"/>
              <a:t>Creates opportunity to reason about state of a use-case, for example, to ensure that operations occur in a legal sequence.</a:t>
            </a:r>
          </a:p>
        </p:txBody>
      </p:sp>
      <p:pic>
        <p:nvPicPr>
          <p:cNvPr id="4386" name="pasted-image.png"/>
          <p:cNvPicPr/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81139" y="3138106"/>
            <a:ext cx="1852973" cy="1389730"/>
          </a:xfrm>
          <a:prstGeom prst="rect">
            <a:avLst/>
          </a:prstGeom>
          <a:ln w="6350">
            <a:round/>
          </a:ln>
        </p:spPr>
      </p:pic>
      <p:pic>
        <p:nvPicPr>
          <p:cNvPr id="4387" name="pasted-image.png"/>
          <p:cNvPicPr/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4545" y="3233587"/>
            <a:ext cx="1598352" cy="1198765"/>
          </a:xfrm>
          <a:prstGeom prst="rect">
            <a:avLst/>
          </a:prstGeom>
          <a:ln>
            <a:solidFill/>
            <a:round/>
          </a:ln>
        </p:spPr>
      </p:pic>
      <p:pic>
        <p:nvPicPr>
          <p:cNvPr id="4388" name="pasted-image.png"/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986" y="3276083"/>
            <a:ext cx="2672528" cy="1113773"/>
          </a:xfrm>
          <a:prstGeom prst="rect">
            <a:avLst/>
          </a:prstGeom>
          <a:ln>
            <a:solidFill/>
            <a:round/>
          </a:ln>
        </p:spPr>
      </p:pic>
      <p:sp>
        <p:nvSpPr>
          <p:cNvPr id="4389" name="Shape 4389"/>
          <p:cNvSpPr/>
          <p:nvPr/>
        </p:nvSpPr>
        <p:spPr>
          <a:xfrm>
            <a:off x="610830" y="3659230"/>
            <a:ext cx="173337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Presentation Layer</a:t>
            </a:r>
          </a:p>
        </p:txBody>
      </p:sp>
      <p:sp>
        <p:nvSpPr>
          <p:cNvPr id="4390" name="Shape 4390"/>
          <p:cNvSpPr/>
          <p:nvPr/>
        </p:nvSpPr>
        <p:spPr>
          <a:xfrm>
            <a:off x="4209727" y="4422668"/>
            <a:ext cx="73829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Web UI</a:t>
            </a:r>
          </a:p>
        </p:txBody>
      </p:sp>
      <p:sp>
        <p:nvSpPr>
          <p:cNvPr id="4391" name="Shape 4391"/>
          <p:cNvSpPr/>
          <p:nvPr/>
        </p:nvSpPr>
        <p:spPr>
          <a:xfrm>
            <a:off x="6704702" y="4422668"/>
            <a:ext cx="105729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Desktop UI</a:t>
            </a:r>
          </a:p>
        </p:txBody>
      </p:sp>
      <p:sp>
        <p:nvSpPr>
          <p:cNvPr id="4392" name="Shape 4392"/>
          <p:cNvSpPr/>
          <p:nvPr/>
        </p:nvSpPr>
        <p:spPr>
          <a:xfrm>
            <a:off x="9847952" y="4422668"/>
            <a:ext cx="953096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Mobile UI</a:t>
            </a:r>
          </a:p>
        </p:txBody>
      </p:sp>
      <p:sp>
        <p:nvSpPr>
          <p:cNvPr id="4393" name="Shape 4393"/>
          <p:cNvSpPr/>
          <p:nvPr/>
        </p:nvSpPr>
        <p:spPr>
          <a:xfrm>
            <a:off x="393638" y="5297488"/>
            <a:ext cx="10896725" cy="60922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94" name="Shape 4394"/>
          <p:cNvSpPr/>
          <p:nvPr/>
        </p:nvSpPr>
        <p:spPr>
          <a:xfrm>
            <a:off x="4646045" y="5100241"/>
            <a:ext cx="5738121" cy="1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95" name="Shape 4395"/>
          <p:cNvSpPr/>
          <p:nvPr/>
        </p:nvSpPr>
        <p:spPr>
          <a:xfrm flipV="1">
            <a:off x="4643251" y="4752854"/>
            <a:ext cx="1" cy="351236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96" name="Shape 4396"/>
          <p:cNvSpPr/>
          <p:nvPr/>
        </p:nvSpPr>
        <p:spPr>
          <a:xfrm flipV="1">
            <a:off x="7334250" y="4747863"/>
            <a:ext cx="1" cy="351235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97" name="Shape 4397"/>
          <p:cNvSpPr/>
          <p:nvPr/>
        </p:nvSpPr>
        <p:spPr>
          <a:xfrm flipV="1">
            <a:off x="10378971" y="4754960"/>
            <a:ext cx="1" cy="351235"/>
          </a:xfrm>
          <a:prstGeom prst="line">
            <a:avLst/>
          </a:prstGeom>
          <a:ln w="12700">
            <a:solidFill/>
            <a:round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98" name="Shape 4398"/>
          <p:cNvSpPr/>
          <p:nvPr/>
        </p:nvSpPr>
        <p:spPr>
          <a:xfrm flipV="1">
            <a:off x="7334250" y="5107683"/>
            <a:ext cx="1" cy="824716"/>
          </a:xfrm>
          <a:prstGeom prst="line">
            <a:avLst/>
          </a:prstGeom>
          <a:ln w="12700">
            <a:solidFill/>
            <a:round/>
            <a:head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399" name="Shape 4399"/>
          <p:cNvSpPr/>
          <p:nvPr/>
        </p:nvSpPr>
        <p:spPr>
          <a:xfrm>
            <a:off x="7282298" y="5430334"/>
            <a:ext cx="161257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events / requests</a:t>
            </a:r>
          </a:p>
        </p:txBody>
      </p:sp>
      <p:sp>
        <p:nvSpPr>
          <p:cNvPr id="4400" name="Shape 4400"/>
          <p:cNvSpPr/>
          <p:nvPr/>
        </p:nvSpPr>
        <p:spPr>
          <a:xfrm>
            <a:off x="610830" y="5885748"/>
            <a:ext cx="186969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Business Logic Layer</a:t>
            </a:r>
          </a:p>
        </p:txBody>
      </p:sp>
      <p:sp>
        <p:nvSpPr>
          <p:cNvPr id="4401" name="Shape 4401"/>
          <p:cNvSpPr/>
          <p:nvPr/>
        </p:nvSpPr>
        <p:spPr>
          <a:xfrm>
            <a:off x="6200923" y="5924426"/>
            <a:ext cx="2266654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 algn="ctr">
              <a:defRPr sz="1800">
                <a:uFillTx/>
              </a:defRPr>
            </a:pPr>
            <a:r>
              <a:rPr b="1" u="sng">
                <a:latin typeface="Verdana"/>
                <a:ea typeface="Verdana"/>
                <a:cs typeface="Verdana"/>
                <a:sym typeface="Verdana"/>
              </a:rPr>
              <a:t>:Controller</a:t>
            </a:r>
          </a:p>
        </p:txBody>
      </p:sp>
    </p:spTree>
    <p:extLst>
      <p:ext uri="{BB962C8B-B14F-4D97-AF65-F5344CB8AC3E}">
        <p14:creationId xmlns:p14="http://schemas.microsoft.com/office/powerpoint/2010/main" val="99195734"/>
      </p:ext>
    </p:extLst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" name="Shape 4403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t>49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4404" name="Shape 4404"/>
          <p:cNvSpPr>
            <a:spLocks noGrp="1"/>
          </p:cNvSpPr>
          <p:nvPr>
            <p:ph type="title"/>
          </p:nvPr>
        </p:nvSpPr>
        <p:spPr>
          <a:xfrm>
            <a:off x="1983057" y="327026"/>
            <a:ext cx="9310315" cy="930938"/>
          </a:xfrm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Controller pattern</a:t>
            </a:r>
          </a:p>
        </p:txBody>
      </p:sp>
      <p:sp>
        <p:nvSpPr>
          <p:cNvPr id="4405" name="Shape 4405"/>
          <p:cNvSpPr>
            <a:spLocks noGrp="1"/>
          </p:cNvSpPr>
          <p:nvPr>
            <p:ph type="body" idx="1"/>
          </p:nvPr>
        </p:nvSpPr>
        <p:spPr>
          <a:xfrm>
            <a:off x="371171" y="1309798"/>
            <a:ext cx="11452529" cy="5230702"/>
          </a:xfrm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 dirty="0"/>
              <a:t>Discussion</a:t>
            </a:r>
          </a:p>
          <a:p>
            <a:pPr lvl="1">
              <a:defRPr sz="1800"/>
            </a:pPr>
            <a:r>
              <a:rPr sz="2000" dirty="0"/>
              <a:t>Difficulty: </a:t>
            </a:r>
            <a:r>
              <a:rPr sz="2000" b="1" dirty="0"/>
              <a:t>Bloated controllers</a:t>
            </a:r>
            <a:endParaRPr sz="2000" dirty="0"/>
          </a:p>
          <a:p>
            <a:pPr lvl="2">
              <a:defRPr sz="1800"/>
            </a:pPr>
            <a:r>
              <a:rPr dirty="0"/>
              <a:t>a single controller that receives all system events, does too much of the work handling events, has to many attributes (duplicating information found elsewhere), etc.</a:t>
            </a:r>
          </a:p>
          <a:p>
            <a:pPr lvl="2">
              <a:defRPr sz="1800"/>
            </a:pPr>
            <a:r>
              <a:rPr dirty="0"/>
              <a:t>Remedies</a:t>
            </a:r>
          </a:p>
          <a:p>
            <a:pPr lvl="3">
              <a:defRPr sz="1800"/>
            </a:pPr>
            <a:r>
              <a:rPr sz="2000" dirty="0"/>
              <a:t>Add more controllers</a:t>
            </a:r>
          </a:p>
          <a:p>
            <a:pPr lvl="3">
              <a:defRPr sz="1800"/>
            </a:pPr>
            <a:r>
              <a:rPr sz="2000" dirty="0"/>
              <a:t>Design controller so that it primarily delegates the fulfilment of each system operation to other objects.</a:t>
            </a:r>
          </a:p>
        </p:txBody>
      </p:sp>
      <p:sp>
        <p:nvSpPr>
          <p:cNvPr id="4406" name="Shape 4406"/>
          <p:cNvSpPr/>
          <p:nvPr/>
        </p:nvSpPr>
        <p:spPr>
          <a:xfrm>
            <a:off x="4708674" y="4051230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>
              <a:defRPr sz="1800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/>
            <a:r>
              <a:t>…</a:t>
            </a:r>
          </a:p>
        </p:txBody>
      </p:sp>
      <p:sp>
        <p:nvSpPr>
          <p:cNvPr id="4407" name="Shape 4407"/>
          <p:cNvSpPr/>
          <p:nvPr/>
        </p:nvSpPr>
        <p:spPr>
          <a:xfrm>
            <a:off x="4708674" y="3781107"/>
            <a:ext cx="2266653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/>
              <a:t>System</a:t>
            </a:r>
          </a:p>
        </p:txBody>
      </p:sp>
      <p:sp>
        <p:nvSpPr>
          <p:cNvPr id="4408" name="Shape 4408"/>
          <p:cNvSpPr/>
          <p:nvPr/>
        </p:nvSpPr>
        <p:spPr>
          <a:xfrm>
            <a:off x="1714147" y="4009873"/>
            <a:ext cx="1733373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Presentation Layer</a:t>
            </a:r>
          </a:p>
        </p:txBody>
      </p:sp>
      <p:sp>
        <p:nvSpPr>
          <p:cNvPr id="4409" name="Shape 4409"/>
          <p:cNvSpPr/>
          <p:nvPr/>
        </p:nvSpPr>
        <p:spPr>
          <a:xfrm>
            <a:off x="647638" y="4529637"/>
            <a:ext cx="10896724" cy="60922"/>
          </a:xfrm>
          <a:prstGeom prst="line">
            <a:avLst/>
          </a:prstGeom>
          <a:ln w="12700">
            <a:solidFill/>
            <a:custDash>
              <a:ds d="200000" sp="200000"/>
            </a:custDash>
            <a:miter lim="400000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410" name="Shape 4410"/>
          <p:cNvSpPr/>
          <p:nvPr/>
        </p:nvSpPr>
        <p:spPr>
          <a:xfrm>
            <a:off x="4443245" y="5239077"/>
            <a:ext cx="2899111" cy="1185279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endSale()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enterItem()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makeNewSale()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makePayment()</a:t>
            </a:r>
          </a:p>
        </p:txBody>
      </p:sp>
      <p:sp>
        <p:nvSpPr>
          <p:cNvPr id="4411" name="Shape 4411"/>
          <p:cNvSpPr/>
          <p:nvPr/>
        </p:nvSpPr>
        <p:spPr>
          <a:xfrm>
            <a:off x="4443245" y="4968954"/>
            <a:ext cx="2899111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 dirty="0" err="1"/>
              <a:t>ProcessSaleHandler</a:t>
            </a:r>
            <a:endParaRPr b="1" dirty="0"/>
          </a:p>
        </p:txBody>
      </p:sp>
      <p:sp>
        <p:nvSpPr>
          <p:cNvPr id="4412" name="Shape 4412"/>
          <p:cNvSpPr/>
          <p:nvPr/>
        </p:nvSpPr>
        <p:spPr>
          <a:xfrm>
            <a:off x="1627582" y="5751584"/>
            <a:ext cx="1869692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Business Logic Layer</a:t>
            </a:r>
          </a:p>
        </p:txBody>
      </p:sp>
      <p:sp>
        <p:nvSpPr>
          <p:cNvPr id="4413" name="Shape 4413"/>
          <p:cNvSpPr/>
          <p:nvPr/>
        </p:nvSpPr>
        <p:spPr>
          <a:xfrm flipV="1">
            <a:off x="5461000" y="4323824"/>
            <a:ext cx="1" cy="648633"/>
          </a:xfrm>
          <a:prstGeom prst="line">
            <a:avLst/>
          </a:prstGeom>
          <a:ln w="12700">
            <a:solidFill/>
            <a:round/>
            <a:head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  <p:sp>
        <p:nvSpPr>
          <p:cNvPr id="4414" name="Shape 4414"/>
          <p:cNvSpPr/>
          <p:nvPr/>
        </p:nvSpPr>
        <p:spPr>
          <a:xfrm>
            <a:off x="5409049" y="4559688"/>
            <a:ext cx="1612570" cy="3474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42520" tIns="42520" rIns="42520" bIns="42520" anchor="ctr">
            <a:spAutoFit/>
          </a:bodyPr>
          <a:lstStyle>
            <a:lvl1pPr>
              <a:defRPr sz="2000"/>
            </a:lvl1pPr>
          </a:lstStyle>
          <a:p>
            <a:pPr lvl="0">
              <a:defRPr sz="1800">
                <a:uFillTx/>
              </a:defRPr>
            </a:pPr>
            <a:r>
              <a:rPr sz="1700">
                <a:uFill>
                  <a:solidFill/>
                </a:uFill>
              </a:rPr>
              <a:t>events / requests</a:t>
            </a:r>
          </a:p>
        </p:txBody>
      </p:sp>
      <p:sp>
        <p:nvSpPr>
          <p:cNvPr id="4415" name="Shape 4415"/>
          <p:cNvSpPr/>
          <p:nvPr/>
        </p:nvSpPr>
        <p:spPr>
          <a:xfrm>
            <a:off x="8165933" y="5315277"/>
            <a:ext cx="3035466" cy="908280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8267" tIns="38268" rIns="38267" bIns="38268">
            <a:spAutoFit/>
          </a:bodyPr>
          <a:lstStyle/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makeReturnItem()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 enterReturnItem()</a:t>
            </a:r>
          </a:p>
          <a:p>
            <a:pPr>
              <a:defRPr sz="1800">
                <a:uFillTx/>
              </a:defRPr>
            </a:pPr>
            <a:r>
              <a:rPr>
                <a:latin typeface="Verdana"/>
                <a:ea typeface="Verdana"/>
                <a:cs typeface="Verdana"/>
                <a:sym typeface="Verdana"/>
              </a:rPr>
              <a:t>….</a:t>
            </a:r>
          </a:p>
        </p:txBody>
      </p:sp>
      <p:sp>
        <p:nvSpPr>
          <p:cNvPr id="4416" name="Shape 4416"/>
          <p:cNvSpPr/>
          <p:nvPr/>
        </p:nvSpPr>
        <p:spPr>
          <a:xfrm>
            <a:off x="8165933" y="4968954"/>
            <a:ext cx="3035467" cy="354282"/>
          </a:xfrm>
          <a:prstGeom prst="rect">
            <a:avLst/>
          </a:prstGeom>
          <a:ln>
            <a:solidFill/>
            <a:round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38267" tIns="38268" rIns="38267" bIns="38268">
            <a:spAutoFit/>
          </a:bodyPr>
          <a:lstStyle>
            <a:lvl1pPr marL="0" marR="0" algn="ctr">
              <a:defRPr sz="1800" b="1">
                <a:uFillTx/>
                <a:latin typeface="Verdana"/>
                <a:ea typeface="Verdana"/>
                <a:cs typeface="Verdana"/>
                <a:sym typeface="Verdana"/>
              </a:defRPr>
            </a:lvl1pPr>
          </a:lstStyle>
          <a:p>
            <a:pPr lvl="0">
              <a:defRPr b="0"/>
            </a:pPr>
            <a:r>
              <a:rPr b="1" dirty="0" err="1"/>
              <a:t>HandleReturnsHandler</a:t>
            </a:r>
            <a:endParaRPr b="1" dirty="0"/>
          </a:p>
        </p:txBody>
      </p:sp>
      <p:sp>
        <p:nvSpPr>
          <p:cNvPr id="4417" name="Shape 4417"/>
          <p:cNvSpPr/>
          <p:nvPr/>
        </p:nvSpPr>
        <p:spPr>
          <a:xfrm flipH="1" flipV="1">
            <a:off x="6638215" y="4323824"/>
            <a:ext cx="2111754" cy="646682"/>
          </a:xfrm>
          <a:prstGeom prst="line">
            <a:avLst/>
          </a:prstGeom>
          <a:ln w="12700">
            <a:solidFill/>
            <a:round/>
            <a:headEnd type="triangle"/>
          </a:ln>
        </p:spPr>
        <p:txBody>
          <a:bodyPr lIns="0" tIns="0" rIns="0" bIns="0"/>
          <a:lstStyle/>
          <a:p>
            <a:pPr lvl="0"/>
            <a:endParaRPr/>
          </a:p>
        </p:txBody>
      </p:sp>
    </p:spTree>
    <p:extLst>
      <p:ext uri="{BB962C8B-B14F-4D97-AF65-F5344CB8AC3E}">
        <p14:creationId xmlns:p14="http://schemas.microsoft.com/office/powerpoint/2010/main" val="3120286667"/>
      </p:ext>
    </p:extLst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265238"/>
            <a:ext cx="10515600" cy="1655761"/>
          </a:xfrm>
        </p:spPr>
        <p:txBody>
          <a:bodyPr>
            <a:normAutofit/>
          </a:bodyPr>
          <a:lstStyle/>
          <a:p>
            <a:r>
              <a:rPr lang="en-US"/>
              <a:t>Conclusions</a:t>
            </a:r>
            <a:endParaRPr lang="en-US" b="1"/>
          </a:p>
        </p:txBody>
      </p:sp>
      <p:sp>
        <p:nvSpPr>
          <p:cNvPr id="3" name="Text Placeholder 2"/>
          <p:cNvSpPr>
            <a:spLocks noGrp="1"/>
          </p:cNvSpPr>
          <p:nvPr>
            <p:ph type="body" idx="4294967295"/>
          </p:nvPr>
        </p:nvSpPr>
        <p:spPr>
          <a:xfrm>
            <a:off x="831850" y="3327400"/>
            <a:ext cx="10515600" cy="3174999"/>
          </a:xfrm>
        </p:spPr>
        <p:txBody>
          <a:bodyPr>
            <a:normAutofit/>
          </a:bodyPr>
          <a:lstStyle/>
          <a:p>
            <a:endParaRPr lang="en-US" sz="24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85741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1" name="Shape 5411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pPr>
                <a:defRPr sz="1800">
                  <a:solidFill>
                    <a:srgbClr val="000000"/>
                  </a:solidFill>
                </a:defRPr>
              </a:pPr>
              <a:t>51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412" name="Shape 541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Conclusions</a:t>
            </a:r>
          </a:p>
        </p:txBody>
      </p:sp>
      <p:sp>
        <p:nvSpPr>
          <p:cNvPr id="5413" name="Shape 541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lvl="0">
              <a:defRPr sz="1800"/>
            </a:pPr>
            <a:r>
              <a:rPr sz="2000" dirty="0"/>
              <a:t>Distinction between functional approach and object-oriented approach</a:t>
            </a:r>
          </a:p>
          <a:p>
            <a:pPr lvl="0">
              <a:defRPr sz="1800"/>
            </a:pPr>
            <a:r>
              <a:rPr sz="2000" dirty="0"/>
              <a:t>Master the basic object-oriented concepts</a:t>
            </a:r>
          </a:p>
          <a:p>
            <a:pPr lvl="0">
              <a:defRPr sz="1800"/>
            </a:pPr>
            <a:endParaRPr sz="2000" dirty="0"/>
          </a:p>
          <a:p>
            <a:pPr lvl="0">
              <a:defRPr sz="1800"/>
            </a:pPr>
            <a:endParaRPr sz="2000" dirty="0"/>
          </a:p>
          <a:p>
            <a:pPr lvl="0">
              <a:defRPr sz="1800"/>
            </a:pPr>
            <a:r>
              <a:rPr sz="2000" dirty="0"/>
              <a:t>UML: a modelling language</a:t>
            </a:r>
          </a:p>
          <a:p>
            <a:pPr lvl="1">
              <a:defRPr sz="1800"/>
            </a:pPr>
            <a:r>
              <a:rPr sz="2000" dirty="0"/>
              <a:t>Need a development process</a:t>
            </a:r>
          </a:p>
          <a:p>
            <a:pPr lvl="1">
              <a:defRPr sz="1800"/>
            </a:pPr>
            <a:r>
              <a:rPr sz="2000" dirty="0"/>
              <a:t>Different views</a:t>
            </a:r>
          </a:p>
          <a:p>
            <a:pPr lvl="1">
              <a:defRPr sz="1800"/>
            </a:pPr>
            <a:r>
              <a:rPr sz="2000" dirty="0"/>
              <a:t>Different models</a:t>
            </a:r>
          </a:p>
          <a:p>
            <a:pPr lvl="1">
              <a:defRPr sz="1800"/>
            </a:pPr>
            <a:r>
              <a:rPr sz="2000" dirty="0"/>
              <a:t>Use of the models in different development activities</a:t>
            </a:r>
          </a:p>
          <a:p>
            <a:pPr lvl="1">
              <a:defRPr sz="1800"/>
            </a:pPr>
            <a:endParaRPr sz="2000" dirty="0"/>
          </a:p>
          <a:p>
            <a:pPr lvl="1">
              <a:defRPr sz="1800"/>
            </a:pPr>
            <a:endParaRPr sz="2000" dirty="0"/>
          </a:p>
          <a:p>
            <a:pPr lvl="0">
              <a:defRPr sz="1800"/>
            </a:pPr>
            <a:r>
              <a:rPr sz="2000" dirty="0"/>
              <a:t>Master the main diagrams</a:t>
            </a:r>
          </a:p>
          <a:p>
            <a:pPr lvl="1">
              <a:defRPr sz="1800"/>
            </a:pPr>
            <a:r>
              <a:rPr sz="2000" dirty="0"/>
              <a:t>Use-case diagram</a:t>
            </a:r>
          </a:p>
          <a:p>
            <a:pPr lvl="1">
              <a:defRPr sz="1800"/>
            </a:pPr>
            <a:r>
              <a:rPr sz="2000" dirty="0"/>
              <a:t>Class diagram</a:t>
            </a:r>
          </a:p>
          <a:p>
            <a:pPr lvl="1">
              <a:defRPr sz="1800"/>
            </a:pPr>
            <a:r>
              <a:rPr sz="2000" dirty="0"/>
              <a:t>Interaction diagram</a:t>
            </a:r>
          </a:p>
        </p:txBody>
      </p:sp>
    </p:spTree>
    <p:extLst>
      <p:ext uri="{BB962C8B-B14F-4D97-AF65-F5344CB8AC3E}">
        <p14:creationId xmlns:p14="http://schemas.microsoft.com/office/powerpoint/2010/main" val="2539606349"/>
      </p:ext>
    </p:extLst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5" name="Shape 5415"/>
          <p:cNvSpPr>
            <a:spLocks noGrp="1"/>
          </p:cNvSpPr>
          <p:nvPr>
            <p:ph type="sldNum" sz="quarter" idx="2"/>
          </p:nvPr>
        </p:nvSpPr>
        <p:spPr>
          <a:xfrm>
            <a:off x="11359632" y="6548438"/>
            <a:ext cx="633401" cy="332542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800">
                <a:solidFill>
                  <a:srgbClr val="CC0000"/>
                </a:solidFill>
              </a:rPr>
              <a:pPr>
                <a:defRPr sz="1800">
                  <a:solidFill>
                    <a:srgbClr val="000000"/>
                  </a:solidFill>
                </a:defRPr>
              </a:pPr>
              <a:t>52</a:t>
            </a:fld>
            <a:endParaRPr sz="1800">
              <a:solidFill>
                <a:srgbClr val="CC0000"/>
              </a:solidFill>
            </a:endParaRPr>
          </a:p>
        </p:txBody>
      </p:sp>
      <p:sp>
        <p:nvSpPr>
          <p:cNvPr id="5416" name="Shape 5416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 b="0"/>
            </a:pPr>
            <a:r>
              <a:rPr sz="2700" b="1"/>
              <a:t>Conclusions</a:t>
            </a:r>
          </a:p>
        </p:txBody>
      </p:sp>
      <p:sp>
        <p:nvSpPr>
          <p:cNvPr id="5417" name="Shape 5417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2000"/>
              <a:t>The UML concepts can be extended</a:t>
            </a:r>
          </a:p>
          <a:p>
            <a:pPr lvl="1">
              <a:defRPr sz="1800"/>
            </a:pPr>
            <a:r>
              <a:rPr sz="2000"/>
              <a:t>The extensions</a:t>
            </a:r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Transformation of models to code</a:t>
            </a:r>
          </a:p>
          <a:p>
            <a:pPr lvl="1">
              <a:defRPr sz="1800"/>
            </a:pPr>
            <a:r>
              <a:rPr sz="2000"/>
              <a:t>Models independent of programming language</a:t>
            </a:r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The automatic code generation is only a supplement</a:t>
            </a:r>
          </a:p>
          <a:p>
            <a:pPr lvl="1">
              <a:defRPr sz="1800"/>
            </a:pPr>
            <a:r>
              <a:rPr sz="2000"/>
              <a:t>The models guide the coding process</a:t>
            </a:r>
          </a:p>
          <a:p>
            <a:pPr lvl="1">
              <a:defRPr sz="1800"/>
            </a:pPr>
            <a:endParaRPr sz="2000"/>
          </a:p>
          <a:p>
            <a:pPr lvl="0">
              <a:defRPr sz="1800"/>
            </a:pPr>
            <a:r>
              <a:rPr sz="2000"/>
              <a:t>Master design principles</a:t>
            </a:r>
          </a:p>
          <a:p>
            <a:pPr lvl="1">
              <a:defRPr sz="1800"/>
            </a:pPr>
            <a:r>
              <a:rPr sz="2000"/>
              <a:t>GRAPS principles/patterns</a:t>
            </a:r>
          </a:p>
          <a:p>
            <a:pPr lvl="1">
              <a:defRPr sz="1800"/>
            </a:pPr>
            <a:r>
              <a:rPr sz="2000"/>
              <a:t>Some design patterns</a:t>
            </a:r>
          </a:p>
        </p:txBody>
      </p:sp>
    </p:spTree>
    <p:extLst>
      <p:ext uri="{BB962C8B-B14F-4D97-AF65-F5344CB8AC3E}">
        <p14:creationId xmlns:p14="http://schemas.microsoft.com/office/powerpoint/2010/main" val="903491497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2972</TotalTime>
  <Words>2671</Words>
  <Application>Microsoft Office PowerPoint</Application>
  <PresentationFormat>Widescreen</PresentationFormat>
  <Paragraphs>667</Paragraphs>
  <Slides>52</Slides>
  <Notes>0</Notes>
  <HiddenSlides>5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52</vt:i4>
      </vt:variant>
    </vt:vector>
  </HeadingPairs>
  <TitlesOfParts>
    <vt:vector size="62" baseType="lpstr">
      <vt:lpstr>Arial</vt:lpstr>
      <vt:lpstr>Calibri</vt:lpstr>
      <vt:lpstr>Calibri Light</vt:lpstr>
      <vt:lpstr>Candara</vt:lpstr>
      <vt:lpstr>Helvetica</vt:lpstr>
      <vt:lpstr>Times New Roman</vt:lpstr>
      <vt:lpstr>Verdana</vt:lpstr>
      <vt:lpstr>Office Theme</vt:lpstr>
      <vt:lpstr>1_Office Theme</vt:lpstr>
      <vt:lpstr>2_Office Theme</vt:lpstr>
      <vt:lpstr>SYSTEMS ANALYSIS AND DESIGN</vt:lpstr>
      <vt:lpstr>Design principles</vt:lpstr>
      <vt:lpstr>Analysis phase</vt:lpstr>
      <vt:lpstr>Design phase</vt:lpstr>
      <vt:lpstr>Understanding responsibilities is key to object-oriented design. Martin Fowler</vt:lpstr>
      <vt:lpstr>Responsibilities-Driven Design</vt:lpstr>
      <vt:lpstr>GRASP</vt:lpstr>
      <vt:lpstr>Responsibility</vt:lpstr>
      <vt:lpstr>Responsibility</vt:lpstr>
      <vt:lpstr>Assignment and discovery of responsibilities</vt:lpstr>
      <vt:lpstr>GRASP patterns</vt:lpstr>
      <vt:lpstr>Coupling and Cohesion</vt:lpstr>
      <vt:lpstr>Properties of a good architecture</vt:lpstr>
      <vt:lpstr>Low coupling</vt:lpstr>
      <vt:lpstr>When are two classes coupled?</vt:lpstr>
      <vt:lpstr>High coupling (Bad)</vt:lpstr>
      <vt:lpstr>Solution</vt:lpstr>
      <vt:lpstr>Low Coupling pattern</vt:lpstr>
      <vt:lpstr>Low Coupling pattern</vt:lpstr>
      <vt:lpstr>Example</vt:lpstr>
      <vt:lpstr>Solutions</vt:lpstr>
      <vt:lpstr>Solutions</vt:lpstr>
      <vt:lpstr>High Cohesion pattern</vt:lpstr>
      <vt:lpstr>Low cohesion</vt:lpstr>
      <vt:lpstr>High Cohesion pattern</vt:lpstr>
      <vt:lpstr>High Cohesion pattern</vt:lpstr>
      <vt:lpstr>Rules of thumb</vt:lpstr>
      <vt:lpstr>PowerPoint Presentation</vt:lpstr>
      <vt:lpstr>“creator” pattern</vt:lpstr>
      <vt:lpstr>“creator” pattern</vt:lpstr>
      <vt:lpstr>“creator” pattern</vt:lpstr>
      <vt:lpstr>“creator” pattern</vt:lpstr>
      <vt:lpstr>Information Expert pattern</vt:lpstr>
      <vt:lpstr>Information Expert pattern</vt:lpstr>
      <vt:lpstr>Information Expert pattern</vt:lpstr>
      <vt:lpstr>Information Expert pattern</vt:lpstr>
      <vt:lpstr>Information Expert pattern</vt:lpstr>
      <vt:lpstr>Information Expert pattern</vt:lpstr>
      <vt:lpstr>Information Expert pattern</vt:lpstr>
      <vt:lpstr>Information Expert pattern</vt:lpstr>
      <vt:lpstr>Information Expert pattern</vt:lpstr>
      <vt:lpstr>Information Expert pattern</vt:lpstr>
      <vt:lpstr>Controller pattern</vt:lpstr>
      <vt:lpstr>Controller pattern</vt:lpstr>
      <vt:lpstr>Controller pattern</vt:lpstr>
      <vt:lpstr>Controller pattern</vt:lpstr>
      <vt:lpstr>Controller pattern</vt:lpstr>
      <vt:lpstr>Controller pattern</vt:lpstr>
      <vt:lpstr>Controller pattern</vt:lpstr>
      <vt:lpstr>Conclusions</vt:lpstr>
      <vt:lpstr>Conclusions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SYSTEMS ANALYSIS AND DESIGN</dc:title>
  <dc:creator>Toan Le</dc:creator>
  <cp:lastModifiedBy>TUAN NGUYEN</cp:lastModifiedBy>
  <cp:revision>116</cp:revision>
  <dcterms:created xsi:type="dcterms:W3CDTF">2020-05-27T05:21:30Z</dcterms:created>
  <dcterms:modified xsi:type="dcterms:W3CDTF">2021-11-16T02:56:16Z</dcterms:modified>
</cp:coreProperties>
</file>