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6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46840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431235"/>
            <a:ext cx="11100021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1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C19F0-1FB7-4AE0-896E-2777B6C62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1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2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536" y="365125"/>
            <a:ext cx="9295852" cy="95947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8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4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70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26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7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8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2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543" y="1447137"/>
            <a:ext cx="10789257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0990" y="6520441"/>
            <a:ext cx="1530409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A6D4B-7653-4E0B-8F57-D38CF83377BB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8987"/>
            <a:ext cx="41148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28987"/>
            <a:ext cx="27432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2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286FF-B124-458F-B57B-2B1D24945A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/>
              <a:t>SYSTEMS</a:t>
            </a:r>
            <a:br>
              <a:rPr lang="en-US" sz="7200" b="1"/>
            </a:br>
            <a:r>
              <a:rPr lang="en-US" sz="7200" b="1"/>
              <a:t>ANALYSIS AND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71ED79-E603-4351-A7EB-B158BDF0BA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600" y="3856038"/>
            <a:ext cx="10477500" cy="137636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vi-VN" b="1"/>
              <a:t>Nguy</a:t>
            </a:r>
            <a:r>
              <a:rPr lang="en-US" b="1"/>
              <a:t>e</a:t>
            </a:r>
            <a:r>
              <a:rPr lang="vi-VN" b="1"/>
              <a:t>n Thanh B</a:t>
            </a:r>
            <a:r>
              <a:rPr lang="en-US" b="1"/>
              <a:t>i</a:t>
            </a:r>
            <a:r>
              <a:rPr lang="vi-VN" b="1"/>
              <a:t>nh, Nguy</a:t>
            </a:r>
            <a:r>
              <a:rPr lang="en-US" b="1"/>
              <a:t>e</a:t>
            </a:r>
            <a:r>
              <a:rPr lang="vi-VN" b="1"/>
              <a:t>n Quang V</a:t>
            </a:r>
            <a:r>
              <a:rPr lang="en-US" b="1"/>
              <a:t>u</a:t>
            </a:r>
            <a:r>
              <a:rPr lang="vi-VN" b="1"/>
              <a:t>, L</a:t>
            </a:r>
            <a:r>
              <a:rPr lang="en-US" b="1"/>
              <a:t>e</a:t>
            </a:r>
            <a:r>
              <a:rPr lang="vi-VN" b="1"/>
              <a:t> Vi</a:t>
            </a:r>
            <a:r>
              <a:rPr lang="en-US" b="1"/>
              <a:t>e</a:t>
            </a:r>
            <a:r>
              <a:rPr lang="vi-VN" b="1"/>
              <a:t>t Tr</a:t>
            </a:r>
            <a:r>
              <a:rPr lang="en-US" b="1"/>
              <a:t>uo</a:t>
            </a:r>
            <a:r>
              <a:rPr lang="vi-VN" b="1"/>
              <a:t>ng, Nguy</a:t>
            </a:r>
            <a:r>
              <a:rPr lang="en-US" b="1"/>
              <a:t>e</a:t>
            </a:r>
            <a:r>
              <a:rPr lang="vi-VN" b="1"/>
              <a:t>n Th</a:t>
            </a:r>
            <a:r>
              <a:rPr lang="en-US" b="1"/>
              <a:t>i</a:t>
            </a:r>
            <a:r>
              <a:rPr lang="vi-VN" b="1"/>
              <a:t> H</a:t>
            </a:r>
            <a:r>
              <a:rPr lang="en-US" b="1"/>
              <a:t>a</a:t>
            </a:r>
            <a:r>
              <a:rPr lang="vi-VN" b="1"/>
              <a:t>nh, V</a:t>
            </a:r>
            <a:r>
              <a:rPr lang="en-US" b="1"/>
              <a:t>o</a:t>
            </a:r>
            <a:r>
              <a:rPr lang="vi-VN" b="1"/>
              <a:t> V</a:t>
            </a:r>
            <a:r>
              <a:rPr lang="en-US" b="1"/>
              <a:t>a</a:t>
            </a:r>
            <a:r>
              <a:rPr lang="vi-VN" b="1"/>
              <a:t>n L</a:t>
            </a:r>
            <a:r>
              <a:rPr lang="en-US" b="1"/>
              <a:t>uon</a:t>
            </a:r>
            <a:r>
              <a:rPr lang="vi-VN" b="1"/>
              <a:t>g</a:t>
            </a:r>
            <a:r>
              <a:rPr lang="en-US" b="1"/>
              <a:t>,</a:t>
            </a:r>
            <a:r>
              <a:rPr lang="vi-VN" b="1"/>
              <a:t> L</a:t>
            </a:r>
            <a:r>
              <a:rPr lang="en-US" b="1"/>
              <a:t>e</a:t>
            </a:r>
            <a:r>
              <a:rPr lang="vi-VN" b="1"/>
              <a:t> Th</a:t>
            </a:r>
            <a:r>
              <a:rPr lang="en-US" b="1"/>
              <a:t>i</a:t>
            </a:r>
            <a:r>
              <a:rPr lang="vi-VN" b="1"/>
              <a:t> B</a:t>
            </a:r>
            <a:r>
              <a:rPr lang="en-US" b="1"/>
              <a:t>i</a:t>
            </a:r>
            <a:r>
              <a:rPr lang="vi-VN" b="1"/>
              <a:t>ch Tra</a:t>
            </a:r>
            <a:endParaRPr lang="en-US" b="1"/>
          </a:p>
          <a:p>
            <a:pPr algn="l">
              <a:lnSpc>
                <a:spcPct val="100000"/>
              </a:lnSpc>
            </a:pPr>
            <a:r>
              <a:rPr lang="en-US" b="1"/>
              <a:t>Faculty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1456091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D1B0C-9F51-49D2-9435-3E7CBF678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1137672"/>
          </a:xfrm>
        </p:spPr>
        <p:txBody>
          <a:bodyPr/>
          <a:lstStyle/>
          <a:p>
            <a:pPr algn="ctr"/>
            <a:r>
              <a:rPr lang="x-none" b="1"/>
              <a:t>Objectives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BB65F-E818-4AC8-969E-874A837A9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27" y="1825625"/>
            <a:ext cx="11235193" cy="4535418"/>
          </a:xfrm>
        </p:spPr>
        <p:txBody>
          <a:bodyPr/>
          <a:lstStyle/>
          <a:p>
            <a:r>
              <a:rPr lang="x-none"/>
              <a:t>Master the object-oriented concepts and the unified modeling language (UML) in analysis and design</a:t>
            </a:r>
          </a:p>
          <a:p>
            <a:r>
              <a:rPr lang="x-none"/>
              <a:t>Apply UML to analysis and design real problems</a:t>
            </a:r>
          </a:p>
          <a:p>
            <a:r>
              <a:rPr lang="x-none"/>
              <a:t>Evaluate analysis and design documents</a:t>
            </a:r>
          </a:p>
          <a:p>
            <a:r>
              <a:rPr lang="en-US"/>
              <a:t>D</a:t>
            </a:r>
            <a:r>
              <a:rPr lang="x-none"/>
              <a:t>evelop professional attitude</a:t>
            </a:r>
          </a:p>
          <a:p>
            <a:r>
              <a:rPr lang="x-none"/>
              <a:t>Develop problem solving, communication and teamwork skills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448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D1B0C-9F51-49D2-9435-3E7CBF678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1137672"/>
          </a:xfrm>
        </p:spPr>
        <p:txBody>
          <a:bodyPr/>
          <a:lstStyle/>
          <a:p>
            <a:r>
              <a:rPr lang="en-US"/>
              <a:t>Assessment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BB65F-E818-4AC8-969E-874A837A9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27" y="1346200"/>
            <a:ext cx="11235193" cy="5014843"/>
          </a:xfrm>
        </p:spPr>
        <p:txBody>
          <a:bodyPr>
            <a:normAutofit/>
          </a:bodyPr>
          <a:lstStyle/>
          <a:p>
            <a:r>
              <a:rPr lang="en-US" dirty="0"/>
              <a:t>Attendance</a:t>
            </a:r>
          </a:p>
          <a:p>
            <a:pPr lvl="1"/>
            <a:r>
              <a:rPr lang="en-US" dirty="0"/>
              <a:t>10%</a:t>
            </a:r>
          </a:p>
          <a:p>
            <a:r>
              <a:rPr lang="en-US" dirty="0"/>
              <a:t>Assignments</a:t>
            </a:r>
          </a:p>
          <a:p>
            <a:pPr lvl="1"/>
            <a:r>
              <a:rPr lang="en-CA" dirty="0"/>
              <a:t>Team</a:t>
            </a:r>
          </a:p>
          <a:p>
            <a:pPr lvl="1"/>
            <a:r>
              <a:rPr lang="en-US" dirty="0"/>
              <a:t>20%</a:t>
            </a:r>
          </a:p>
          <a:p>
            <a:r>
              <a:rPr lang="en-US" dirty="0"/>
              <a:t>Midterm exam</a:t>
            </a:r>
          </a:p>
          <a:p>
            <a:pPr lvl="1"/>
            <a:r>
              <a:rPr lang="en-US" dirty="0"/>
              <a:t>Essay</a:t>
            </a:r>
          </a:p>
          <a:p>
            <a:pPr lvl="1"/>
            <a:r>
              <a:rPr lang="en-US" dirty="0"/>
              <a:t>20%</a:t>
            </a:r>
          </a:p>
          <a:p>
            <a:r>
              <a:rPr lang="en-US" dirty="0"/>
              <a:t>Final exam</a:t>
            </a:r>
          </a:p>
          <a:p>
            <a:pPr lvl="1"/>
            <a:r>
              <a:rPr lang="en-US" dirty="0"/>
              <a:t>Multiple-choice</a:t>
            </a:r>
          </a:p>
          <a:p>
            <a:pPr lvl="1"/>
            <a:r>
              <a:rPr lang="en-US" dirty="0"/>
              <a:t>50%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38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D1B0C-9F51-49D2-9435-3E7CBF678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1137672"/>
          </a:xfrm>
        </p:spPr>
        <p:txBody>
          <a:bodyPr/>
          <a:lstStyle/>
          <a:p>
            <a:r>
              <a:rPr lang="en-US"/>
              <a:t>Plan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BB65F-E818-4AC8-969E-874A837A9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27" y="1320800"/>
            <a:ext cx="11235193" cy="5207000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r>
              <a:rPr lang="en-US" dirty="0"/>
              <a:t>Introduction to object-oriented development</a:t>
            </a:r>
          </a:p>
          <a:p>
            <a:pPr marL="800100" lvl="1" indent="-342900"/>
            <a:r>
              <a:rPr lang="en-US" sz="2200" dirty="0"/>
              <a:t>Functional approach</a:t>
            </a:r>
          </a:p>
          <a:p>
            <a:pPr marL="800100" lvl="1" indent="-342900"/>
            <a:r>
              <a:rPr lang="en-US" sz="2200" dirty="0"/>
              <a:t>Object-oriented approach</a:t>
            </a:r>
          </a:p>
          <a:p>
            <a:pPr marL="800100" lvl="1" indent="-342900"/>
            <a:r>
              <a:rPr lang="en-US" sz="2200" dirty="0"/>
              <a:t>Object-oriented concepts</a:t>
            </a:r>
          </a:p>
          <a:p>
            <a:r>
              <a:rPr lang="en-US" dirty="0"/>
              <a:t>An overview of Unified modeling language</a:t>
            </a:r>
          </a:p>
          <a:p>
            <a:pPr lvl="1"/>
            <a:r>
              <a:rPr lang="en-US" dirty="0"/>
              <a:t>Modeling concept</a:t>
            </a:r>
          </a:p>
          <a:p>
            <a:pPr lvl="1"/>
            <a:r>
              <a:rPr lang="en-US" dirty="0"/>
              <a:t>Object-oriented modeling methods</a:t>
            </a:r>
          </a:p>
          <a:p>
            <a:pPr lvl="1"/>
            <a:r>
              <a:rPr lang="en-US" dirty="0"/>
              <a:t>History of UML</a:t>
            </a:r>
          </a:p>
          <a:p>
            <a:pPr lvl="1"/>
            <a:r>
              <a:rPr lang="en-US" dirty="0"/>
              <a:t>Basic elements of UML</a:t>
            </a:r>
          </a:p>
          <a:p>
            <a:r>
              <a:rPr lang="en-US" dirty="0"/>
              <a:t>UML and Software development process</a:t>
            </a:r>
          </a:p>
          <a:p>
            <a:r>
              <a:rPr lang="en-US" dirty="0"/>
              <a:t>Requirements modeling</a:t>
            </a:r>
          </a:p>
          <a:p>
            <a:pPr lvl="1"/>
            <a:r>
              <a:rPr lang="en-US" dirty="0"/>
              <a:t>Requirements determination </a:t>
            </a:r>
          </a:p>
          <a:p>
            <a:pPr lvl="1"/>
            <a:r>
              <a:rPr lang="en-US" dirty="0"/>
              <a:t>Use-case diagrams</a:t>
            </a:r>
          </a:p>
          <a:p>
            <a:r>
              <a:rPr lang="en-US" dirty="0"/>
              <a:t>Static structural modeling</a:t>
            </a:r>
          </a:p>
          <a:p>
            <a:pPr lvl="1"/>
            <a:r>
              <a:rPr lang="en-US" dirty="0"/>
              <a:t>Class diagrams</a:t>
            </a:r>
          </a:p>
          <a:p>
            <a:pPr lvl="1"/>
            <a:r>
              <a:rPr lang="en-US" dirty="0"/>
              <a:t>Object diagrams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404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D1B0C-9F51-49D2-9435-3E7CBF678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1137672"/>
          </a:xfrm>
        </p:spPr>
        <p:txBody>
          <a:bodyPr/>
          <a:lstStyle/>
          <a:p>
            <a:r>
              <a:rPr lang="en-US"/>
              <a:t>Plan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BB65F-E818-4AC8-969E-874A837A9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27" y="1282700"/>
            <a:ext cx="11235193" cy="5078343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r>
              <a:rPr lang="en-US" dirty="0"/>
              <a:t>Dynamic behavioral modeling</a:t>
            </a:r>
          </a:p>
          <a:p>
            <a:pPr lvl="1"/>
            <a:r>
              <a:rPr lang="en-US" dirty="0"/>
              <a:t>Activity diagrams</a:t>
            </a:r>
          </a:p>
          <a:p>
            <a:pPr lvl="1"/>
            <a:r>
              <a:rPr lang="en-US" dirty="0"/>
              <a:t>State diagrams</a:t>
            </a:r>
          </a:p>
          <a:p>
            <a:pPr lvl="1"/>
            <a:r>
              <a:rPr lang="en-US" dirty="0"/>
              <a:t>Interaction diagrams</a:t>
            </a:r>
          </a:p>
          <a:p>
            <a:r>
              <a:rPr lang="en-US" dirty="0"/>
              <a:t>Architectural modeling</a:t>
            </a:r>
          </a:p>
          <a:p>
            <a:pPr lvl="1"/>
            <a:r>
              <a:rPr lang="en-US" dirty="0"/>
              <a:t>Package diagrams</a:t>
            </a:r>
          </a:p>
          <a:p>
            <a:pPr lvl="1"/>
            <a:r>
              <a:rPr lang="en-US" dirty="0"/>
              <a:t>Component diagrams</a:t>
            </a:r>
          </a:p>
          <a:p>
            <a:pPr lvl="1"/>
            <a:r>
              <a:rPr lang="en-US" dirty="0"/>
              <a:t>Deployment diagrams</a:t>
            </a:r>
          </a:p>
          <a:p>
            <a:r>
              <a:rPr lang="en-US" dirty="0"/>
              <a:t>Design principles</a:t>
            </a:r>
          </a:p>
          <a:p>
            <a:pPr lvl="1"/>
            <a:r>
              <a:rPr lang="en-US" dirty="0"/>
              <a:t>GRASP: assignment of responsibilities</a:t>
            </a:r>
          </a:p>
          <a:p>
            <a:r>
              <a:rPr lang="en-US" dirty="0"/>
              <a:t>Design patterns</a:t>
            </a:r>
          </a:p>
          <a:p>
            <a:r>
              <a:rPr lang="en-US" dirty="0"/>
              <a:t>Implementation</a:t>
            </a:r>
          </a:p>
          <a:p>
            <a:pPr lvl="1"/>
            <a:r>
              <a:rPr lang="en-US" dirty="0"/>
              <a:t>Remind of object-oriented programming</a:t>
            </a:r>
          </a:p>
          <a:p>
            <a:r>
              <a:rPr lang="en-US" dirty="0"/>
              <a:t>Case study</a:t>
            </a:r>
          </a:p>
          <a:p>
            <a:r>
              <a:rPr lang="en-US" dirty="0"/>
              <a:t>Conclusions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373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D1B0C-9F51-49D2-9435-3E7CBF678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1137672"/>
          </a:xfrm>
        </p:spPr>
        <p:txBody>
          <a:bodyPr/>
          <a:lstStyle/>
          <a:p>
            <a:r>
              <a:rPr lang="en-US"/>
              <a:t>References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BB65F-E818-4AC8-969E-874A837A9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27" y="1295400"/>
            <a:ext cx="8624073" cy="506564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Core textbook:</a:t>
            </a:r>
          </a:p>
          <a:p>
            <a:pPr lvl="1"/>
            <a:r>
              <a:rPr lang="en-US" dirty="0"/>
              <a:t>[Dennis et al, 2015] Alan Dennis, Barbara Haley Wixom, David </a:t>
            </a:r>
            <a:r>
              <a:rPr lang="en-US" dirty="0" err="1"/>
              <a:t>Tegarden</a:t>
            </a:r>
            <a:r>
              <a:rPr lang="en-US" dirty="0"/>
              <a:t>, </a:t>
            </a:r>
            <a:r>
              <a:rPr lang="en-US" i="1" dirty="0"/>
              <a:t>System Analysis and Design – An Object oriented approach with UML</a:t>
            </a:r>
            <a:r>
              <a:rPr lang="en-US" dirty="0"/>
              <a:t>, 5th Edition, Wiley, 2015.</a:t>
            </a:r>
          </a:p>
          <a:p>
            <a:pPr lvl="1"/>
            <a:r>
              <a:rPr lang="en-US" dirty="0"/>
              <a:t>[</a:t>
            </a:r>
            <a:r>
              <a:rPr lang="en-US" dirty="0" err="1"/>
              <a:t>Larman</a:t>
            </a:r>
            <a:r>
              <a:rPr lang="en-US" dirty="0"/>
              <a:t>, 2004] Craig </a:t>
            </a:r>
            <a:r>
              <a:rPr lang="en-US" dirty="0" err="1"/>
              <a:t>Larman</a:t>
            </a:r>
            <a:r>
              <a:rPr lang="en-US" dirty="0"/>
              <a:t>, Applying UML and Patterns: An Introduction to Object-Oriented Analysis and Design and Iterative Development, Third Edition, </a:t>
            </a:r>
            <a:r>
              <a:rPr lang="en-US" dirty="0" err="1"/>
              <a:t>Addision</a:t>
            </a:r>
            <a:r>
              <a:rPr lang="en-US" dirty="0"/>
              <a:t>-Wesley, 2004.</a:t>
            </a:r>
          </a:p>
          <a:p>
            <a:r>
              <a:rPr lang="en-US" dirty="0"/>
              <a:t>Additional textbooks:</a:t>
            </a:r>
          </a:p>
          <a:p>
            <a:pPr lvl="1"/>
            <a:r>
              <a:rPr lang="en-US" dirty="0"/>
              <a:t>[Rumbaugh et al., 2006] James Rumbaugh, Ivar Jacobson, Grady </a:t>
            </a:r>
            <a:r>
              <a:rPr lang="en-US" dirty="0" err="1"/>
              <a:t>Booch</a:t>
            </a:r>
            <a:r>
              <a:rPr lang="en-US" dirty="0"/>
              <a:t>, </a:t>
            </a:r>
            <a:r>
              <a:rPr lang="en-US" i="1" dirty="0"/>
              <a:t>The Unified modeling language reference manual</a:t>
            </a:r>
            <a:r>
              <a:rPr lang="en-US" dirty="0"/>
              <a:t>, Second Edition, </a:t>
            </a:r>
            <a:r>
              <a:rPr lang="en-US" dirty="0" err="1"/>
              <a:t>Addision</a:t>
            </a:r>
            <a:r>
              <a:rPr lang="en-US" dirty="0"/>
              <a:t>-Wesley, 2006.</a:t>
            </a:r>
          </a:p>
          <a:p>
            <a:pPr lvl="1"/>
            <a:r>
              <a:rPr lang="en-US" dirty="0"/>
              <a:t> [Mike, 2005] Mike </a:t>
            </a:r>
            <a:r>
              <a:rPr lang="en-US" dirty="0" err="1"/>
              <a:t>O’Doccherty</a:t>
            </a:r>
            <a:r>
              <a:rPr lang="en-US" dirty="0"/>
              <a:t>, </a:t>
            </a:r>
            <a:r>
              <a:rPr lang="en-US" i="1" dirty="0"/>
              <a:t>Object - Oriented Analysis – Understanding system development with UML 2.0</a:t>
            </a:r>
            <a:r>
              <a:rPr lang="en-US" dirty="0"/>
              <a:t>, First Edition, John Wiley &amp;Son, 2005.</a:t>
            </a:r>
          </a:p>
          <a:p>
            <a:pPr lvl="1"/>
            <a:r>
              <a:rPr lang="en-US" dirty="0"/>
              <a:t>[UML] </a:t>
            </a:r>
            <a:r>
              <a:rPr lang="vi-VN" dirty="0"/>
              <a:t>The Unified Modeling Language</a:t>
            </a:r>
            <a:r>
              <a:rPr lang="en-US" b="1" dirty="0"/>
              <a:t>, </a:t>
            </a:r>
            <a:r>
              <a:rPr lang="vi-VN" dirty="0"/>
              <a:t>https://www.uml-diagrams.org/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800" y="1752600"/>
            <a:ext cx="246888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80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  <a:endParaRPr lang="vi-V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2863850"/>
            <a:ext cx="3038475" cy="1504950"/>
          </a:xfrm>
        </p:spPr>
      </p:pic>
    </p:spTree>
    <p:extLst>
      <p:ext uri="{BB962C8B-B14F-4D97-AF65-F5344CB8AC3E}">
        <p14:creationId xmlns:p14="http://schemas.microsoft.com/office/powerpoint/2010/main" val="3166132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4066</TotalTime>
  <Words>355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SYSTEMS ANALYSIS AND DESIGN</vt:lpstr>
      <vt:lpstr>Objectives</vt:lpstr>
      <vt:lpstr>Assessment</vt:lpstr>
      <vt:lpstr>Plan</vt:lpstr>
      <vt:lpstr>Plan</vt:lpstr>
      <vt:lpstr>References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ANALYSIS AND DESIGN</dc:title>
  <dc:creator>Toan Le</dc:creator>
  <cp:lastModifiedBy>TUAN NGUYEN</cp:lastModifiedBy>
  <cp:revision>56</cp:revision>
  <dcterms:created xsi:type="dcterms:W3CDTF">2020-05-27T05:21:30Z</dcterms:created>
  <dcterms:modified xsi:type="dcterms:W3CDTF">2021-08-10T01:13:04Z</dcterms:modified>
</cp:coreProperties>
</file>