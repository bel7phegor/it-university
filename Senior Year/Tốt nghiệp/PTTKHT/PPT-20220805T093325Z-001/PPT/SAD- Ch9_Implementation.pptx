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598" r:id="rId4"/>
    <p:sldId id="574" r:id="rId5"/>
    <p:sldId id="575" r:id="rId6"/>
    <p:sldId id="576" r:id="rId7"/>
    <p:sldId id="577" r:id="rId8"/>
    <p:sldId id="578" r:id="rId9"/>
    <p:sldId id="579" r:id="rId10"/>
    <p:sldId id="580" r:id="rId11"/>
    <p:sldId id="581" r:id="rId12"/>
    <p:sldId id="582" r:id="rId13"/>
    <p:sldId id="583" r:id="rId14"/>
    <p:sldId id="584" r:id="rId15"/>
    <p:sldId id="585" r:id="rId16"/>
    <p:sldId id="586" r:id="rId17"/>
    <p:sldId id="587" r:id="rId18"/>
    <p:sldId id="588" r:id="rId19"/>
    <p:sldId id="589" r:id="rId20"/>
    <p:sldId id="590" r:id="rId21"/>
    <p:sldId id="591" r:id="rId22"/>
    <p:sldId id="592" r:id="rId23"/>
    <p:sldId id="593" r:id="rId24"/>
    <p:sldId id="594" r:id="rId25"/>
    <p:sldId id="595" r:id="rId26"/>
    <p:sldId id="596" r:id="rId27"/>
    <p:sldId id="59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O Duc An" initials="VDA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02959436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316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118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24"/>
          <p:cNvGrpSpPr/>
          <p:nvPr userDrawn="1"/>
        </p:nvGrpSpPr>
        <p:grpSpPr>
          <a:xfrm>
            <a:off x="790786" y="3023729"/>
            <a:ext cx="10588414" cy="139983"/>
            <a:chOff x="0" y="0"/>
            <a:chExt cx="11982027" cy="139982"/>
          </a:xfrm>
          <a:solidFill>
            <a:srgbClr val="FFC000"/>
          </a:solidFill>
        </p:grpSpPr>
        <p:sp>
          <p:nvSpPr>
            <p:cNvPr id="8" name="Shape 22"/>
            <p:cNvSpPr/>
            <p:nvPr/>
          </p:nvSpPr>
          <p:spPr>
            <a:xfrm>
              <a:off x="-1" y="0"/>
              <a:ext cx="7404894" cy="139983"/>
            </a:xfrm>
            <a:prstGeom prst="rect">
              <a:avLst/>
            </a:prstGeom>
            <a:grpFill/>
            <a:ln w="12700" cap="flat">
              <a:solidFill>
                <a:srgbClr val="FFC000"/>
              </a:solidFill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>
                <a:defRPr sz="24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 sz="240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Shape 23"/>
            <p:cNvSpPr/>
            <p:nvPr/>
          </p:nvSpPr>
          <p:spPr>
            <a:xfrm>
              <a:off x="0" y="0"/>
              <a:ext cx="11982027" cy="1"/>
            </a:xfrm>
            <a:prstGeom prst="line">
              <a:avLst/>
            </a:prstGeom>
            <a:grpFill/>
            <a:ln w="12700" cap="flat">
              <a:solidFill>
                <a:srgbClr val="FFC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defTabSz="457200">
                <a:defRPr sz="16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sz="1600">
                <a:solidFill>
                  <a:prstClr val="black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85" y="3492499"/>
            <a:ext cx="10588415" cy="280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8134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306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808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1356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5583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715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809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085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403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40267126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865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/>
              <a:t>SYSTEMS</a:t>
            </a:r>
            <a:br>
              <a:rPr lang="en-US" sz="7200" b="1"/>
            </a:br>
            <a:r>
              <a:rPr lang="en-US" sz="7200" b="1"/>
              <a:t>ANALYSIS AND DESIGN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71ED79-E603-4351-A7EB-B158BDF0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3856038"/>
            <a:ext cx="104775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vi-VN" b="1"/>
              <a:t>Nguy</a:t>
            </a:r>
            <a:r>
              <a:rPr lang="en-US" b="1"/>
              <a:t>e</a:t>
            </a:r>
            <a:r>
              <a:rPr lang="vi-VN" b="1"/>
              <a:t>n Thanh B</a:t>
            </a:r>
            <a:r>
              <a:rPr lang="en-US" b="1"/>
              <a:t>i</a:t>
            </a:r>
            <a:r>
              <a:rPr lang="vi-VN" b="1"/>
              <a:t>nh, Nguy</a:t>
            </a:r>
            <a:r>
              <a:rPr lang="en-US" b="1"/>
              <a:t>e</a:t>
            </a:r>
            <a:r>
              <a:rPr lang="vi-VN" b="1"/>
              <a:t>n Quang V</a:t>
            </a:r>
            <a:r>
              <a:rPr lang="en-US" b="1"/>
              <a:t>u</a:t>
            </a:r>
            <a:r>
              <a:rPr lang="vi-VN" b="1"/>
              <a:t>, L</a:t>
            </a:r>
            <a:r>
              <a:rPr lang="en-US" b="1"/>
              <a:t>e</a:t>
            </a:r>
            <a:r>
              <a:rPr lang="vi-VN" b="1"/>
              <a:t> Vi</a:t>
            </a:r>
            <a:r>
              <a:rPr lang="en-US" b="1"/>
              <a:t>e</a:t>
            </a:r>
            <a:r>
              <a:rPr lang="vi-VN" b="1"/>
              <a:t>t Tr</a:t>
            </a:r>
            <a:r>
              <a:rPr lang="en-US" b="1"/>
              <a:t>uo</a:t>
            </a:r>
            <a:r>
              <a:rPr lang="vi-VN" b="1"/>
              <a:t>ng, Nguy</a:t>
            </a:r>
            <a:r>
              <a:rPr lang="en-US" b="1"/>
              <a:t>e</a:t>
            </a:r>
            <a:r>
              <a:rPr lang="vi-VN" b="1"/>
              <a:t>n Th</a:t>
            </a:r>
            <a:r>
              <a:rPr lang="en-US" b="1"/>
              <a:t>i</a:t>
            </a:r>
            <a:r>
              <a:rPr lang="vi-VN" b="1"/>
              <a:t> H</a:t>
            </a:r>
            <a:r>
              <a:rPr lang="en-US" b="1"/>
              <a:t>a</a:t>
            </a:r>
            <a:r>
              <a:rPr lang="vi-VN" b="1"/>
              <a:t>nh, V</a:t>
            </a:r>
            <a:r>
              <a:rPr lang="en-US" b="1"/>
              <a:t>o</a:t>
            </a:r>
            <a:r>
              <a:rPr lang="vi-VN" b="1"/>
              <a:t> V</a:t>
            </a:r>
            <a:r>
              <a:rPr lang="en-US" b="1"/>
              <a:t>a</a:t>
            </a:r>
            <a:r>
              <a:rPr lang="vi-VN" b="1"/>
              <a:t>n L</a:t>
            </a:r>
            <a:r>
              <a:rPr lang="en-US" b="1"/>
              <a:t>uon</a:t>
            </a:r>
            <a:r>
              <a:rPr lang="vi-VN" b="1"/>
              <a:t>g</a:t>
            </a:r>
            <a:r>
              <a:rPr lang="en-US" b="1"/>
              <a:t>,</a:t>
            </a:r>
            <a:r>
              <a:rPr lang="vi-VN" b="1"/>
              <a:t> L</a:t>
            </a:r>
            <a:r>
              <a:rPr lang="en-US" b="1"/>
              <a:t>e</a:t>
            </a:r>
            <a:r>
              <a:rPr lang="vi-VN" b="1"/>
              <a:t> Th</a:t>
            </a:r>
            <a:r>
              <a:rPr lang="en-US" b="1"/>
              <a:t>i</a:t>
            </a:r>
            <a:r>
              <a:rPr lang="vi-VN" b="1"/>
              <a:t> B</a:t>
            </a:r>
            <a:r>
              <a:rPr lang="en-US" b="1"/>
              <a:t>i</a:t>
            </a:r>
            <a:r>
              <a:rPr lang="vi-VN" b="1"/>
              <a:t>ch Tra</a:t>
            </a:r>
            <a:endParaRPr lang="en-US" b="1"/>
          </a:p>
          <a:p>
            <a:pPr algn="l">
              <a:lnSpc>
                <a:spcPct val="100000"/>
              </a:lnSpc>
            </a:pPr>
            <a:r>
              <a:rPr lang="en-US" b="1"/>
              <a:t>Faculty of Computer Science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65238"/>
            <a:ext cx="10515600" cy="1655761"/>
          </a:xfrm>
        </p:spPr>
        <p:txBody>
          <a:bodyPr>
            <a:normAutofit/>
          </a:bodyPr>
          <a:lstStyle/>
          <a:p>
            <a:r>
              <a:rPr lang="en-US"/>
              <a:t>Implementation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US" sz="2400"/>
              <a:t>Reminders of object-oriented programming</a:t>
            </a:r>
          </a:p>
          <a:p>
            <a:pPr lvl="0">
              <a:defRPr sz="1800"/>
            </a:pPr>
            <a:r>
              <a:rPr lang="en-US" sz="2400"/>
              <a:t>From design to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197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" name="Shape 442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24" name="Shape 44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425" name="Shape 442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Functional/imperative programming</a:t>
            </a:r>
          </a:p>
          <a:p>
            <a:pPr lvl="1">
              <a:defRPr sz="1800"/>
            </a:pPr>
            <a:r>
              <a:rPr sz="2000"/>
              <a:t>C/Pascal</a:t>
            </a:r>
          </a:p>
        </p:txBody>
      </p:sp>
      <p:grpSp>
        <p:nvGrpSpPr>
          <p:cNvPr id="4428" name="Group 4428"/>
          <p:cNvGrpSpPr/>
          <p:nvPr/>
        </p:nvGrpSpPr>
        <p:grpSpPr>
          <a:xfrm>
            <a:off x="5072062" y="2514823"/>
            <a:ext cx="1785938" cy="589360"/>
            <a:chOff x="0" y="0"/>
            <a:chExt cx="1905000" cy="838200"/>
          </a:xfrm>
        </p:grpSpPr>
        <p:sp>
          <p:nvSpPr>
            <p:cNvPr id="4426" name="Shape 4426"/>
            <p:cNvSpPr/>
            <p:nvPr/>
          </p:nvSpPr>
          <p:spPr>
            <a:xfrm>
              <a:off x="0" y="0"/>
              <a:ext cx="1905000" cy="8382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27" name="Shape 4427"/>
            <p:cNvSpPr/>
            <p:nvPr/>
          </p:nvSpPr>
          <p:spPr>
            <a:xfrm>
              <a:off x="643357" y="156466"/>
              <a:ext cx="618288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18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003366"/>
                  </a:solidFill>
                </a:rPr>
                <a:t>Data</a:t>
              </a:r>
            </a:p>
          </p:txBody>
        </p:sp>
      </p:grpSp>
      <p:grpSp>
        <p:nvGrpSpPr>
          <p:cNvPr id="4431" name="Group 4431"/>
          <p:cNvGrpSpPr/>
          <p:nvPr/>
        </p:nvGrpSpPr>
        <p:grpSpPr>
          <a:xfrm>
            <a:off x="3857625" y="3623728"/>
            <a:ext cx="1500188" cy="353941"/>
            <a:chOff x="0" y="-23091"/>
            <a:chExt cx="1600200" cy="503382"/>
          </a:xfrm>
        </p:grpSpPr>
        <p:sp>
          <p:nvSpPr>
            <p:cNvPr id="4429" name="Shape 4429"/>
            <p:cNvSpPr/>
            <p:nvPr/>
          </p:nvSpPr>
          <p:spPr>
            <a:xfrm>
              <a:off x="0" y="0"/>
              <a:ext cx="1600200" cy="4572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30" name="Shape 4430"/>
            <p:cNvSpPr/>
            <p:nvPr/>
          </p:nvSpPr>
          <p:spPr>
            <a:xfrm>
              <a:off x="206263" y="-23091"/>
              <a:ext cx="1187672" cy="503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700"/>
                <a:t>Function 1</a:t>
              </a:r>
            </a:p>
          </p:txBody>
        </p:sp>
      </p:grpSp>
      <p:grpSp>
        <p:nvGrpSpPr>
          <p:cNvPr id="4434" name="Group 4434"/>
          <p:cNvGrpSpPr/>
          <p:nvPr/>
        </p:nvGrpSpPr>
        <p:grpSpPr>
          <a:xfrm>
            <a:off x="8215312" y="3302259"/>
            <a:ext cx="1500188" cy="353941"/>
            <a:chOff x="0" y="-23091"/>
            <a:chExt cx="1600200" cy="503382"/>
          </a:xfrm>
        </p:grpSpPr>
        <p:sp>
          <p:nvSpPr>
            <p:cNvPr id="4432" name="Shape 4432"/>
            <p:cNvSpPr/>
            <p:nvPr/>
          </p:nvSpPr>
          <p:spPr>
            <a:xfrm>
              <a:off x="0" y="0"/>
              <a:ext cx="1600200" cy="4572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33" name="Shape 4433"/>
            <p:cNvSpPr/>
            <p:nvPr/>
          </p:nvSpPr>
          <p:spPr>
            <a:xfrm>
              <a:off x="206263" y="-23091"/>
              <a:ext cx="1187672" cy="503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700"/>
                <a:t>Function 3</a:t>
              </a:r>
            </a:p>
          </p:txBody>
        </p:sp>
      </p:grpSp>
      <p:grpSp>
        <p:nvGrpSpPr>
          <p:cNvPr id="4437" name="Group 4437"/>
          <p:cNvGrpSpPr/>
          <p:nvPr/>
        </p:nvGrpSpPr>
        <p:grpSpPr>
          <a:xfrm>
            <a:off x="6000750" y="3838041"/>
            <a:ext cx="1500188" cy="353941"/>
            <a:chOff x="0" y="-23091"/>
            <a:chExt cx="1600200" cy="503382"/>
          </a:xfrm>
        </p:grpSpPr>
        <p:sp>
          <p:nvSpPr>
            <p:cNvPr id="4435" name="Shape 4435"/>
            <p:cNvSpPr/>
            <p:nvPr/>
          </p:nvSpPr>
          <p:spPr>
            <a:xfrm>
              <a:off x="0" y="0"/>
              <a:ext cx="1600200" cy="4572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36" name="Shape 4436"/>
            <p:cNvSpPr/>
            <p:nvPr/>
          </p:nvSpPr>
          <p:spPr>
            <a:xfrm>
              <a:off x="206263" y="-23091"/>
              <a:ext cx="1187672" cy="503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700"/>
                <a:t>Function 2</a:t>
              </a:r>
            </a:p>
          </p:txBody>
        </p:sp>
      </p:grpSp>
      <p:sp>
        <p:nvSpPr>
          <p:cNvPr id="4438" name="Shape 4438"/>
          <p:cNvSpPr/>
          <p:nvPr/>
        </p:nvSpPr>
        <p:spPr>
          <a:xfrm flipH="1" flipV="1">
            <a:off x="6143625" y="2943448"/>
            <a:ext cx="571501" cy="910829"/>
          </a:xfrm>
          <a:prstGeom prst="line">
            <a:avLst/>
          </a:prstGeom>
          <a:ln w="28575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39" name="Shape 4439"/>
          <p:cNvSpPr/>
          <p:nvPr/>
        </p:nvSpPr>
        <p:spPr>
          <a:xfrm flipV="1">
            <a:off x="4429125" y="2943448"/>
            <a:ext cx="1285875" cy="696516"/>
          </a:xfrm>
          <a:prstGeom prst="line">
            <a:avLst/>
          </a:prstGeom>
          <a:ln w="28575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40" name="Shape 4440"/>
          <p:cNvSpPr/>
          <p:nvPr/>
        </p:nvSpPr>
        <p:spPr>
          <a:xfrm>
            <a:off x="6500813" y="2836292"/>
            <a:ext cx="1928813" cy="482204"/>
          </a:xfrm>
          <a:prstGeom prst="line">
            <a:avLst/>
          </a:prstGeom>
          <a:ln w="28575">
            <a:solidFill/>
            <a:miter/>
            <a:head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931191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2" name="Shape 444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43" name="Shape 44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444" name="Shape 4444"/>
          <p:cNvSpPr>
            <a:spLocks noGrp="1"/>
          </p:cNvSpPr>
          <p:nvPr>
            <p:ph type="body" idx="1"/>
          </p:nvPr>
        </p:nvSpPr>
        <p:spPr>
          <a:xfrm>
            <a:off x="355600" y="791170"/>
            <a:ext cx="11480801" cy="5397799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Object-oriented programming</a:t>
            </a:r>
          </a:p>
          <a:p>
            <a:pPr lvl="1">
              <a:defRPr sz="1800"/>
            </a:pPr>
            <a:r>
              <a:rPr sz="2000"/>
              <a:t>C++, Java, C#, …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marL="760038" lvl="1" indent="-365402">
              <a:spcBef>
                <a:spcPts val="335"/>
              </a:spcBef>
              <a:defRPr sz="1800"/>
            </a:pPr>
            <a:r>
              <a:rPr sz="2000"/>
              <a:t>Encapsulation : class</a:t>
            </a:r>
          </a:p>
          <a:p>
            <a:pPr marL="1092222" lvl="2" indent="-330855">
              <a:spcBef>
                <a:spcPts val="335"/>
              </a:spcBef>
              <a:defRPr sz="1800"/>
            </a:pPr>
            <a:r>
              <a:t>Attributes</a:t>
            </a:r>
          </a:p>
          <a:p>
            <a:pPr marL="1092222" lvl="2" indent="-330855">
              <a:spcBef>
                <a:spcPts val="335"/>
              </a:spcBef>
              <a:defRPr sz="1800"/>
            </a:pPr>
            <a:r>
              <a:t>Methods</a:t>
            </a:r>
          </a:p>
          <a:p>
            <a:pPr marL="1092222" lvl="2" indent="-330855">
              <a:spcBef>
                <a:spcPts val="335"/>
              </a:spcBef>
              <a:defRPr sz="1800"/>
            </a:pPr>
            <a:r>
              <a:t>Constructors et destructors</a:t>
            </a:r>
          </a:p>
          <a:p>
            <a:pPr marL="760038" lvl="1" indent="-365402">
              <a:spcBef>
                <a:spcPts val="335"/>
              </a:spcBef>
              <a:defRPr sz="1800"/>
            </a:pPr>
            <a:r>
              <a:rPr sz="2000"/>
              <a:t>Inheritance</a:t>
            </a:r>
          </a:p>
          <a:p>
            <a:pPr marL="760038" lvl="1" indent="-365402">
              <a:spcBef>
                <a:spcPts val="335"/>
              </a:spcBef>
              <a:defRPr sz="1800"/>
            </a:pPr>
            <a:r>
              <a:rPr sz="2000"/>
              <a:t>Abstract classes et interfaces</a:t>
            </a:r>
          </a:p>
          <a:p>
            <a:pPr marL="760038" lvl="1" indent="-365402">
              <a:spcBef>
                <a:spcPts val="335"/>
              </a:spcBef>
              <a:defRPr sz="1800"/>
            </a:pPr>
            <a:r>
              <a:rPr sz="2000"/>
              <a:t>Polymorphism</a:t>
            </a:r>
          </a:p>
        </p:txBody>
      </p:sp>
      <p:grpSp>
        <p:nvGrpSpPr>
          <p:cNvPr id="4447" name="Group 4447"/>
          <p:cNvGrpSpPr/>
          <p:nvPr/>
        </p:nvGrpSpPr>
        <p:grpSpPr>
          <a:xfrm>
            <a:off x="4613672" y="1395128"/>
            <a:ext cx="2143125" cy="910829"/>
            <a:chOff x="0" y="0"/>
            <a:chExt cx="2286000" cy="1295400"/>
          </a:xfrm>
        </p:grpSpPr>
        <p:sp>
          <p:nvSpPr>
            <p:cNvPr id="4445" name="Shape 4445"/>
            <p:cNvSpPr/>
            <p:nvPr/>
          </p:nvSpPr>
          <p:spPr>
            <a:xfrm>
              <a:off x="0" y="0"/>
              <a:ext cx="2286000" cy="12954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46" name="Shape 4446"/>
            <p:cNvSpPr/>
            <p:nvPr/>
          </p:nvSpPr>
          <p:spPr>
            <a:xfrm>
              <a:off x="833856" y="188089"/>
              <a:ext cx="618287" cy="9192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>
                  <a:solidFill>
                    <a:srgbClr val="003366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</a:p>
            <a:p>
              <a:pPr algn="ctr">
                <a:defRPr sz="1800">
                  <a:uFillTx/>
                </a:defRPr>
              </a:pPr>
              <a:endParaRPr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50" name="Group 4450"/>
          <p:cNvGrpSpPr/>
          <p:nvPr/>
        </p:nvGrpSpPr>
        <p:grpSpPr>
          <a:xfrm>
            <a:off x="4685109" y="1861095"/>
            <a:ext cx="2000250" cy="353941"/>
            <a:chOff x="0" y="-23091"/>
            <a:chExt cx="2133600" cy="503382"/>
          </a:xfrm>
        </p:grpSpPr>
        <p:sp>
          <p:nvSpPr>
            <p:cNvPr id="4448" name="Shape 4448"/>
            <p:cNvSpPr/>
            <p:nvPr/>
          </p:nvSpPr>
          <p:spPr>
            <a:xfrm>
              <a:off x="0" y="0"/>
              <a:ext cx="2133600" cy="4572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49" name="Shape 4449"/>
            <p:cNvSpPr/>
            <p:nvPr/>
          </p:nvSpPr>
          <p:spPr>
            <a:xfrm>
              <a:off x="512290" y="-23091"/>
              <a:ext cx="1109019" cy="503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700"/>
                <a:t>Functions</a:t>
              </a:r>
            </a:p>
          </p:txBody>
        </p:sp>
      </p:grpSp>
      <p:sp>
        <p:nvSpPr>
          <p:cNvPr id="4451" name="Shape 4451"/>
          <p:cNvSpPr/>
          <p:nvPr/>
        </p:nvSpPr>
        <p:spPr>
          <a:xfrm>
            <a:off x="5685234" y="1716596"/>
            <a:ext cx="0" cy="214313"/>
          </a:xfrm>
          <a:prstGeom prst="line">
            <a:avLst/>
          </a:prstGeom>
          <a:ln>
            <a:solidFill/>
            <a:miter/>
            <a:head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52" name="Shape 4452"/>
          <p:cNvSpPr/>
          <p:nvPr/>
        </p:nvSpPr>
        <p:spPr>
          <a:xfrm flipH="1">
            <a:off x="3970734" y="2305956"/>
            <a:ext cx="857251" cy="375048"/>
          </a:xfrm>
          <a:prstGeom prst="line">
            <a:avLst/>
          </a:prstGeom>
          <a:ln w="28575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53" name="Shape 4453"/>
          <p:cNvSpPr/>
          <p:nvPr/>
        </p:nvSpPr>
        <p:spPr>
          <a:xfrm>
            <a:off x="6756797" y="2198799"/>
            <a:ext cx="1000126" cy="428626"/>
          </a:xfrm>
          <a:prstGeom prst="line">
            <a:avLst/>
          </a:prstGeom>
          <a:ln w="28575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54" name="Shape 4454"/>
          <p:cNvSpPr/>
          <p:nvPr/>
        </p:nvSpPr>
        <p:spPr>
          <a:xfrm flipV="1">
            <a:off x="5470922" y="3002471"/>
            <a:ext cx="1428751" cy="214313"/>
          </a:xfrm>
          <a:prstGeom prst="line">
            <a:avLst/>
          </a:prstGeom>
          <a:ln w="28575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55" name="Shape 4455"/>
          <p:cNvSpPr/>
          <p:nvPr/>
        </p:nvSpPr>
        <p:spPr>
          <a:xfrm flipH="1">
            <a:off x="4899421" y="2305956"/>
            <a:ext cx="714376" cy="428626"/>
          </a:xfrm>
          <a:prstGeom prst="line">
            <a:avLst/>
          </a:prstGeom>
          <a:ln w="28575">
            <a:solidFill/>
            <a:miter/>
            <a:head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56" name="Shape 4456"/>
          <p:cNvSpPr/>
          <p:nvPr/>
        </p:nvSpPr>
        <p:spPr>
          <a:xfrm>
            <a:off x="4268391" y="2400911"/>
            <a:ext cx="1013435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800">
                <a:solidFill>
                  <a:srgbClr val="003366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3366"/>
                </a:solidFill>
              </a:rPr>
              <a:t>message</a:t>
            </a:r>
          </a:p>
        </p:txBody>
      </p:sp>
      <p:grpSp>
        <p:nvGrpSpPr>
          <p:cNvPr id="4459" name="Group 4459"/>
          <p:cNvGrpSpPr/>
          <p:nvPr/>
        </p:nvGrpSpPr>
        <p:grpSpPr>
          <a:xfrm>
            <a:off x="3244453" y="2733464"/>
            <a:ext cx="2143125" cy="910829"/>
            <a:chOff x="0" y="0"/>
            <a:chExt cx="2286000" cy="1295400"/>
          </a:xfrm>
        </p:grpSpPr>
        <p:sp>
          <p:nvSpPr>
            <p:cNvPr id="4457" name="Shape 4457"/>
            <p:cNvSpPr/>
            <p:nvPr/>
          </p:nvSpPr>
          <p:spPr>
            <a:xfrm>
              <a:off x="0" y="0"/>
              <a:ext cx="2286000" cy="12954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58" name="Shape 4458"/>
            <p:cNvSpPr/>
            <p:nvPr/>
          </p:nvSpPr>
          <p:spPr>
            <a:xfrm>
              <a:off x="833857" y="97199"/>
              <a:ext cx="618288" cy="5252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18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>
                  <a:solidFill>
                    <a:srgbClr val="000000"/>
                  </a:solidFill>
                </a:defRPr>
              </a:pPr>
              <a:r>
                <a:rPr>
                  <a:solidFill>
                    <a:srgbClr val="003366"/>
                  </a:solidFill>
                </a:rPr>
                <a:t>Data</a:t>
              </a:r>
            </a:p>
          </p:txBody>
        </p:sp>
      </p:grpSp>
      <p:grpSp>
        <p:nvGrpSpPr>
          <p:cNvPr id="4462" name="Group 4462"/>
          <p:cNvGrpSpPr/>
          <p:nvPr/>
        </p:nvGrpSpPr>
        <p:grpSpPr>
          <a:xfrm>
            <a:off x="3315891" y="3223244"/>
            <a:ext cx="2000250" cy="353941"/>
            <a:chOff x="0" y="-23091"/>
            <a:chExt cx="2133600" cy="503382"/>
          </a:xfrm>
        </p:grpSpPr>
        <p:sp>
          <p:nvSpPr>
            <p:cNvPr id="4460" name="Shape 4460"/>
            <p:cNvSpPr/>
            <p:nvPr/>
          </p:nvSpPr>
          <p:spPr>
            <a:xfrm>
              <a:off x="0" y="0"/>
              <a:ext cx="2133600" cy="4572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61" name="Shape 4461"/>
            <p:cNvSpPr/>
            <p:nvPr/>
          </p:nvSpPr>
          <p:spPr>
            <a:xfrm>
              <a:off x="512290" y="-23091"/>
              <a:ext cx="1109019" cy="503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700"/>
                <a:t>Functions</a:t>
              </a:r>
            </a:p>
          </p:txBody>
        </p:sp>
      </p:grpSp>
      <p:sp>
        <p:nvSpPr>
          <p:cNvPr id="4463" name="Shape 4463"/>
          <p:cNvSpPr/>
          <p:nvPr/>
        </p:nvSpPr>
        <p:spPr>
          <a:xfrm>
            <a:off x="4316016" y="3054933"/>
            <a:ext cx="0" cy="214313"/>
          </a:xfrm>
          <a:prstGeom prst="line">
            <a:avLst/>
          </a:prstGeom>
          <a:ln>
            <a:solidFill/>
            <a:miter/>
            <a:head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4466" name="Group 4466"/>
          <p:cNvGrpSpPr/>
          <p:nvPr/>
        </p:nvGrpSpPr>
        <p:grpSpPr>
          <a:xfrm>
            <a:off x="6935391" y="2656446"/>
            <a:ext cx="2143125" cy="910829"/>
            <a:chOff x="0" y="0"/>
            <a:chExt cx="2286000" cy="1295400"/>
          </a:xfrm>
        </p:grpSpPr>
        <p:sp>
          <p:nvSpPr>
            <p:cNvPr id="4464" name="Shape 4464"/>
            <p:cNvSpPr/>
            <p:nvPr/>
          </p:nvSpPr>
          <p:spPr>
            <a:xfrm>
              <a:off x="0" y="0"/>
              <a:ext cx="2286000" cy="1295400"/>
            </a:xfrm>
            <a:prstGeom prst="roundRect">
              <a:avLst>
                <a:gd name="adj" fmla="val 16667"/>
              </a:avLst>
            </a:prstGeom>
            <a:solidFill>
              <a:srgbClr val="CCFFFF"/>
            </a:solidFill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65" name="Shape 4465"/>
            <p:cNvSpPr/>
            <p:nvPr/>
          </p:nvSpPr>
          <p:spPr>
            <a:xfrm>
              <a:off x="833856" y="188089"/>
              <a:ext cx="618287" cy="9192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>
                  <a:solidFill>
                    <a:srgbClr val="003366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</a:p>
            <a:p>
              <a:pPr algn="ctr">
                <a:defRPr sz="1800">
                  <a:uFillTx/>
                </a:defRPr>
              </a:pPr>
              <a:endParaRPr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69" name="Group 4469"/>
          <p:cNvGrpSpPr/>
          <p:nvPr/>
        </p:nvGrpSpPr>
        <p:grpSpPr>
          <a:xfrm>
            <a:off x="7006828" y="3122413"/>
            <a:ext cx="2000250" cy="353941"/>
            <a:chOff x="0" y="-23091"/>
            <a:chExt cx="2133600" cy="503382"/>
          </a:xfrm>
        </p:grpSpPr>
        <p:sp>
          <p:nvSpPr>
            <p:cNvPr id="4467" name="Shape 4467"/>
            <p:cNvSpPr/>
            <p:nvPr/>
          </p:nvSpPr>
          <p:spPr>
            <a:xfrm>
              <a:off x="0" y="0"/>
              <a:ext cx="2133600" cy="4572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4468" name="Shape 4468"/>
            <p:cNvSpPr/>
            <p:nvPr/>
          </p:nvSpPr>
          <p:spPr>
            <a:xfrm>
              <a:off x="512290" y="-23091"/>
              <a:ext cx="1109019" cy="5033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marL="0" marR="0" algn="ctr">
                <a:defRPr sz="2000">
                  <a:solidFill>
                    <a:srgbClr val="003366"/>
                  </a:solidFill>
                  <a:uFillTx/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1700"/>
                <a:t>Functions</a:t>
              </a:r>
            </a:p>
          </p:txBody>
        </p:sp>
      </p:grpSp>
      <p:sp>
        <p:nvSpPr>
          <p:cNvPr id="4470" name="Shape 4470"/>
          <p:cNvSpPr/>
          <p:nvPr/>
        </p:nvSpPr>
        <p:spPr>
          <a:xfrm>
            <a:off x="8006953" y="2977915"/>
            <a:ext cx="0" cy="214313"/>
          </a:xfrm>
          <a:prstGeom prst="line">
            <a:avLst/>
          </a:prstGeom>
          <a:ln>
            <a:solidFill/>
            <a:miter/>
            <a:head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71" name="Shape 4471"/>
          <p:cNvSpPr/>
          <p:nvPr/>
        </p:nvSpPr>
        <p:spPr>
          <a:xfrm>
            <a:off x="7182445" y="2183172"/>
            <a:ext cx="1013435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800">
                <a:solidFill>
                  <a:srgbClr val="003366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3366"/>
                </a:solidFill>
              </a:rPr>
              <a:t>message</a:t>
            </a:r>
          </a:p>
        </p:txBody>
      </p:sp>
      <p:sp>
        <p:nvSpPr>
          <p:cNvPr id="4472" name="Shape 4472"/>
          <p:cNvSpPr/>
          <p:nvPr/>
        </p:nvSpPr>
        <p:spPr>
          <a:xfrm>
            <a:off x="5698359" y="3098229"/>
            <a:ext cx="1013435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1800">
                <a:solidFill>
                  <a:srgbClr val="003366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3366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47152162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" name="Shape 447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75" name="Shape 447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476" name="Shape 447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Class : C++</a:t>
            </a:r>
          </a:p>
        </p:txBody>
      </p:sp>
      <p:sp>
        <p:nvSpPr>
          <p:cNvPr id="4477" name="Shape 4477"/>
          <p:cNvSpPr/>
          <p:nvPr/>
        </p:nvSpPr>
        <p:spPr>
          <a:xfrm>
            <a:off x="2922240" y="1286098"/>
            <a:ext cx="6347520" cy="700225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b="1" dirty="0">
                <a:latin typeface="Verdana"/>
                <a:ea typeface="Verdana"/>
                <a:cs typeface="Verdana"/>
                <a:sym typeface="Verdana"/>
              </a:rPr>
              <a:t>class User { 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public: 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User(string n, int a):name(n), age(a) {}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string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getName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 {return name;}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int 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getAge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 const {return age;}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void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setName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(string n) {name = n;}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void 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s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et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Age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(int a) {age = a;}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void print() const ;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…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[private:]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string name; 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int age; 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}; </a:t>
            </a:r>
          </a:p>
          <a:p>
            <a:pPr>
              <a:defRPr sz="1800">
                <a:uFillTx/>
              </a:defRPr>
            </a:pP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void	User::print() const {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cout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 &lt;&lt; "name: " &lt;&lt; name &lt;&lt; " age: " &lt;&lt; age &lt;&lt;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endl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; 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}</a:t>
            </a:r>
          </a:p>
          <a:p>
            <a:pPr>
              <a:defRPr sz="1800">
                <a:uFillTx/>
              </a:defRPr>
            </a:pP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…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User u(" Nguyen Van A ", 35); 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User* p = new User( " Nguyen Van A ", 35 ); 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…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delete p;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6014844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9" name="Shape 447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80" name="Shape 448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481" name="Shape 448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Class : Java</a:t>
            </a:r>
          </a:p>
        </p:txBody>
      </p:sp>
      <p:sp>
        <p:nvSpPr>
          <p:cNvPr id="4482" name="Shape 4482"/>
          <p:cNvSpPr/>
          <p:nvPr/>
        </p:nvSpPr>
        <p:spPr>
          <a:xfrm>
            <a:off x="2239143" y="1926059"/>
            <a:ext cx="8194696" cy="506326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b="1" dirty="0">
                <a:latin typeface="Verdana"/>
                <a:ea typeface="Verdana"/>
                <a:cs typeface="Verdana"/>
                <a:sym typeface="Verdana"/>
              </a:rPr>
              <a:t>class User { 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public 	User(String n, int a) {name = n; age = a;}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public 	String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getName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 {return name;}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public 	int 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getAge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 {return age;}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public 	void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setName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(String n) {name = n;}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public 	void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set</a:t>
            </a:r>
            <a:r>
              <a:rPr lang="en-US" dirty="0" err="1">
                <a:latin typeface="Verdana"/>
                <a:ea typeface="Verdana"/>
                <a:cs typeface="Verdana"/>
                <a:sym typeface="Verdana"/>
              </a:rPr>
              <a:t>Age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(int a) {age = a;}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public 	void print(){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   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System.out.println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 "name: " + name + " age: " + age );  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}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	…</a:t>
            </a:r>
          </a:p>
          <a:p>
            <a:pPr marL="0" lvl="1" indent="382676">
              <a:defRPr sz="1800">
                <a:uFillTx/>
              </a:defRPr>
            </a:pP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private	String name; </a:t>
            </a:r>
          </a:p>
          <a:p>
            <a:pPr marL="0" lvl="1" indent="382676"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private 	int age;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}</a:t>
            </a:r>
          </a:p>
          <a:p>
            <a:pPr>
              <a:defRPr sz="1800">
                <a:uFillTx/>
              </a:defRPr>
            </a:pP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…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User u = new User (“Nguyen Van A", 35 );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739612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4" name="Shape 448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85" name="Shape 44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486" name="Shape 448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Constructor and Destructor: C++</a:t>
            </a:r>
          </a:p>
          <a:p>
            <a:pPr lvl="1">
              <a:defRPr sz="1800"/>
            </a:pPr>
            <a:r>
              <a:rPr sz="2000"/>
              <a:t>Constructor</a:t>
            </a:r>
          </a:p>
          <a:p>
            <a:pPr lvl="2">
              <a:defRPr sz="1800"/>
            </a:pPr>
            <a:r>
              <a:t>initialise attributes and then allocate memory for the attributes</a:t>
            </a:r>
          </a:p>
          <a:p>
            <a:pPr lvl="1">
              <a:defRPr sz="1800"/>
            </a:pPr>
            <a:r>
              <a:rPr sz="2000"/>
              <a:t>Destructor</a:t>
            </a:r>
          </a:p>
          <a:p>
            <a:pPr lvl="2">
              <a:defRPr sz="1800"/>
            </a:pPr>
            <a:r>
              <a:t>De-allocate the dynamic memory</a:t>
            </a:r>
          </a:p>
          <a:p>
            <a:pPr lvl="2">
              <a:defRPr sz="1800"/>
            </a:pPr>
            <a:r>
              <a:t>Mandatory: if there are pointer attributes and the memory allocations</a:t>
            </a:r>
          </a:p>
        </p:txBody>
      </p:sp>
      <p:sp>
        <p:nvSpPr>
          <p:cNvPr id="4487" name="Shape 4487"/>
          <p:cNvSpPr/>
          <p:nvPr/>
        </p:nvSpPr>
        <p:spPr>
          <a:xfrm>
            <a:off x="3195358" y="4143375"/>
            <a:ext cx="7694751" cy="1739277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class TypeA {};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class ClassB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TypeA* p;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public:	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ClassB(TypeA* q ) : p( new TypeA(*q) ) {}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	</a:t>
            </a:r>
            <a:r>
              <a:rPr b="1">
                <a:solidFill>
                  <a:srgbClr val="990033"/>
                </a:solidFill>
                <a:latin typeface="Verdana"/>
                <a:ea typeface="Verdana"/>
                <a:cs typeface="Verdana"/>
                <a:sym typeface="Verdana"/>
              </a:rPr>
              <a:t>~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ClassB(){ delete p; } 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}; </a:t>
            </a:r>
          </a:p>
        </p:txBody>
      </p:sp>
      <p:sp>
        <p:nvSpPr>
          <p:cNvPr id="4488" name="Shape 4488"/>
          <p:cNvSpPr/>
          <p:nvPr/>
        </p:nvSpPr>
        <p:spPr>
          <a:xfrm>
            <a:off x="8470819" y="3359695"/>
            <a:ext cx="1189765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700"/>
              <a:t>Constructor</a:t>
            </a:r>
          </a:p>
        </p:txBody>
      </p:sp>
      <p:sp>
        <p:nvSpPr>
          <p:cNvPr id="4489" name="Shape 4489"/>
          <p:cNvSpPr/>
          <p:nvPr/>
        </p:nvSpPr>
        <p:spPr>
          <a:xfrm flipH="1">
            <a:off x="6338608" y="3647122"/>
            <a:ext cx="2231513" cy="1106445"/>
          </a:xfrm>
          <a:prstGeom prst="line">
            <a:avLst/>
          </a:prstGeom>
          <a:ln w="25400">
            <a:solidFill/>
            <a:prstDash val="dash"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490" name="Shape 4490"/>
          <p:cNvSpPr/>
          <p:nvPr/>
        </p:nvSpPr>
        <p:spPr>
          <a:xfrm>
            <a:off x="9336502" y="5738753"/>
            <a:ext cx="108076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700"/>
              <a:t>Destructor</a:t>
            </a:r>
          </a:p>
        </p:txBody>
      </p:sp>
      <p:sp>
        <p:nvSpPr>
          <p:cNvPr id="4491" name="Shape 4491"/>
          <p:cNvSpPr/>
          <p:nvPr/>
        </p:nvSpPr>
        <p:spPr>
          <a:xfrm flipH="1" flipV="1">
            <a:off x="5592483" y="5173266"/>
            <a:ext cx="3727216" cy="669913"/>
          </a:xfrm>
          <a:prstGeom prst="line">
            <a:avLst/>
          </a:prstGeom>
          <a:ln w="25400">
            <a:solidFill/>
            <a:prstDash val="dash"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291465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3" name="Shape 449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94" name="Shape 44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495" name="Shape 449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Constructor and destructor: Java</a:t>
            </a:r>
          </a:p>
          <a:p>
            <a:pPr lvl="1">
              <a:defRPr sz="1800"/>
            </a:pPr>
            <a:r>
              <a:rPr sz="2000"/>
              <a:t>There are constructors</a:t>
            </a:r>
          </a:p>
          <a:p>
            <a:pPr lvl="1">
              <a:defRPr sz="1800"/>
            </a:pPr>
            <a:r>
              <a:rPr sz="2000"/>
              <a:t>There are no destructor: The </a:t>
            </a:r>
            <a:r>
              <a:rPr sz="2000" b="1"/>
              <a:t>garbage collector</a:t>
            </a:r>
            <a:r>
              <a:rPr sz="2000"/>
              <a:t> is responsible for managing the heap memory</a:t>
            </a:r>
          </a:p>
        </p:txBody>
      </p:sp>
      <p:pic>
        <p:nvPicPr>
          <p:cNvPr id="4496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913342" y="3516332"/>
            <a:ext cx="3904812" cy="1640021"/>
          </a:xfrm>
          <a:prstGeom prst="rect">
            <a:avLst/>
          </a:prstGeom>
          <a:ln w="6350">
            <a:round/>
          </a:ln>
        </p:spPr>
      </p:pic>
      <p:pic>
        <p:nvPicPr>
          <p:cNvPr id="4497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227927" y="2854942"/>
            <a:ext cx="5793080" cy="2962801"/>
          </a:xfrm>
          <a:prstGeom prst="rect">
            <a:avLst/>
          </a:prstGeom>
          <a:ln w="6350">
            <a:round/>
          </a:ln>
        </p:spPr>
      </p:pic>
      <p:sp>
        <p:nvSpPr>
          <p:cNvPr id="4498" name="Shape 4498"/>
          <p:cNvSpPr/>
          <p:nvPr/>
        </p:nvSpPr>
        <p:spPr>
          <a:xfrm>
            <a:off x="429240" y="5219791"/>
            <a:ext cx="4873014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New objects are allocated at the end of the used heap</a:t>
            </a:r>
          </a:p>
        </p:txBody>
      </p:sp>
      <p:sp>
        <p:nvSpPr>
          <p:cNvPr id="4499" name="Shape 4499"/>
          <p:cNvSpPr/>
          <p:nvPr/>
        </p:nvSpPr>
        <p:spPr>
          <a:xfrm>
            <a:off x="6806773" y="5773596"/>
            <a:ext cx="4635386" cy="609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/>
          <a:p>
            <a:pPr lvl="0" algn="ctr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GC roots are special objects referenced by the JVM.</a:t>
            </a:r>
          </a:p>
          <a:p>
            <a:pPr lvl="0" algn="ctr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Non reachable objects are garbaged-collected</a:t>
            </a:r>
          </a:p>
        </p:txBody>
      </p:sp>
    </p:spTree>
    <p:extLst>
      <p:ext uri="{BB962C8B-B14F-4D97-AF65-F5344CB8AC3E}">
        <p14:creationId xmlns:p14="http://schemas.microsoft.com/office/powerpoint/2010/main" val="121928872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1" name="Shape 450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02" name="Shape 450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03" name="Shape 450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Inheritance: C++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Multiple inheritance: C++</a:t>
            </a:r>
          </a:p>
        </p:txBody>
      </p:sp>
      <p:sp>
        <p:nvSpPr>
          <p:cNvPr id="4504" name="Shape 4504"/>
          <p:cNvSpPr/>
          <p:nvPr/>
        </p:nvSpPr>
        <p:spPr>
          <a:xfrm>
            <a:off x="2061404" y="1487165"/>
            <a:ext cx="8578006" cy="284727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b="1">
                <a:solidFill>
                  <a:srgbClr val="990033"/>
                </a:solidFill>
                <a:latin typeface="Verdana"/>
                <a:ea typeface="Verdana"/>
                <a:cs typeface="Verdana"/>
                <a:sym typeface="Verdana"/>
              </a:rPr>
              <a:t>class StudentUser : public User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	public: StudentUser(string n, int a, string school) : User(n, a){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	schoolEnrolled = school;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}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void print()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	User::print();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	cout &lt;&lt; "School Enrolled: " &lt;&lt; schoolEnrolled &lt;&lt; endl;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}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 string schoolEnrolled;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}; </a:t>
            </a:r>
          </a:p>
        </p:txBody>
      </p:sp>
      <p:sp>
        <p:nvSpPr>
          <p:cNvPr id="4505" name="Shape 4505"/>
          <p:cNvSpPr/>
          <p:nvPr/>
        </p:nvSpPr>
        <p:spPr>
          <a:xfrm>
            <a:off x="2550958" y="4757291"/>
            <a:ext cx="7056756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b="1">
                <a:solidFill>
                  <a:srgbClr val="990033"/>
                </a:solidFill>
                <a:latin typeface="Verdana"/>
                <a:ea typeface="Verdana"/>
                <a:cs typeface="Verdana"/>
                <a:sym typeface="Verdana"/>
              </a:rPr>
              <a:t>class StudentUser : public User, public Student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 { … };</a:t>
            </a:r>
          </a:p>
        </p:txBody>
      </p:sp>
    </p:spTree>
    <p:extLst>
      <p:ext uri="{BB962C8B-B14F-4D97-AF65-F5344CB8AC3E}">
        <p14:creationId xmlns:p14="http://schemas.microsoft.com/office/powerpoint/2010/main" val="61754211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7" name="Shape 450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08" name="Shape 45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09" name="Shape 450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Inheritance: Java</a:t>
            </a:r>
          </a:p>
        </p:txBody>
      </p:sp>
      <p:sp>
        <p:nvSpPr>
          <p:cNvPr id="4510" name="Shape 4510"/>
          <p:cNvSpPr/>
          <p:nvPr/>
        </p:nvSpPr>
        <p:spPr>
          <a:xfrm>
            <a:off x="2592651" y="1316384"/>
            <a:ext cx="6460439" cy="347821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 b="1">
                <a:solidFill>
                  <a:srgbClr val="990033"/>
                </a:solidFill>
                <a:latin typeface="Verdana"/>
                <a:ea typeface="Verdana"/>
                <a:cs typeface="Verdana"/>
                <a:sym typeface="Verdana"/>
              </a:rPr>
              <a:t>class StudentUser extends User</a:t>
            </a:r>
            <a:r>
              <a:rPr sz="1700" b="1">
                <a:latin typeface="Verdana"/>
                <a:ea typeface="Verdana"/>
                <a:cs typeface="Verdana"/>
                <a:sym typeface="Verdana"/>
              </a:rPr>
              <a:t> {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public StudentUser( String n, int a, String school ) {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super(n, a);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schoolEnrolled = school;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} </a:t>
            </a:r>
          </a:p>
          <a:p>
            <a:pPr>
              <a:defRPr sz="1800">
                <a:uFillTx/>
              </a:defRPr>
            </a:pP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public void print() {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super.print();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System.out.print( " School: " + schoolEnrolled );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}</a:t>
            </a:r>
          </a:p>
          <a:p>
            <a:pPr>
              <a:defRPr sz="1800">
                <a:uFillTx/>
              </a:defRPr>
            </a:pP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private String schoolEnrolled;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04021030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2" name="Shape 451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13" name="Shape 45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14" name="Shape 451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Abstract classes and interfaces</a:t>
            </a:r>
          </a:p>
          <a:p>
            <a:pPr lvl="1">
              <a:defRPr sz="1800"/>
            </a:pPr>
            <a:r>
              <a:rPr sz="2000"/>
              <a:t>Java and C++ offer the abstract class concept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r>
              <a:rPr sz="2000"/>
              <a:t>Additionally, Java offers the interface concept</a:t>
            </a:r>
          </a:p>
          <a:p>
            <a:pPr lvl="2">
              <a:defRPr sz="1800"/>
            </a:pPr>
            <a:r>
              <a:t>An interface is similar a class abstract: no object can be created</a:t>
            </a:r>
          </a:p>
          <a:p>
            <a:pPr lvl="2">
              <a:defRPr sz="1800"/>
            </a:pPr>
            <a:r>
              <a:t>An interface contains only the method declarations</a:t>
            </a:r>
          </a:p>
        </p:txBody>
      </p:sp>
      <p:sp>
        <p:nvSpPr>
          <p:cNvPr id="4515" name="Shape 4515"/>
          <p:cNvSpPr/>
          <p:nvPr/>
        </p:nvSpPr>
        <p:spPr>
          <a:xfrm>
            <a:off x="5605489" y="1981274"/>
            <a:ext cx="670392" cy="338894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700"/>
              <a:t>Shape</a:t>
            </a:r>
          </a:p>
        </p:txBody>
      </p:sp>
      <p:sp>
        <p:nvSpPr>
          <p:cNvPr id="4516" name="Shape 4516"/>
          <p:cNvSpPr/>
          <p:nvPr/>
        </p:nvSpPr>
        <p:spPr>
          <a:xfrm>
            <a:off x="4605364" y="2642071"/>
            <a:ext cx="601977" cy="338894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700"/>
              <a:t>Circle</a:t>
            </a:r>
          </a:p>
        </p:txBody>
      </p:sp>
      <p:sp>
        <p:nvSpPr>
          <p:cNvPr id="4517" name="Shape 4517"/>
          <p:cNvSpPr/>
          <p:nvPr/>
        </p:nvSpPr>
        <p:spPr>
          <a:xfrm>
            <a:off x="6391301" y="2642071"/>
            <a:ext cx="1017539" cy="338894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 lvl="0">
              <a:defRPr sz="1800"/>
            </a:pPr>
            <a:r>
              <a:rPr sz="1700"/>
              <a:t>Rectangle</a:t>
            </a:r>
          </a:p>
        </p:txBody>
      </p:sp>
      <p:sp>
        <p:nvSpPr>
          <p:cNvPr id="4518" name="Shape 4518"/>
          <p:cNvSpPr/>
          <p:nvPr/>
        </p:nvSpPr>
        <p:spPr>
          <a:xfrm>
            <a:off x="5962677" y="2374181"/>
            <a:ext cx="1" cy="107157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19" name="Shape 4519"/>
          <p:cNvSpPr/>
          <p:nvPr/>
        </p:nvSpPr>
        <p:spPr>
          <a:xfrm>
            <a:off x="4891114" y="2481337"/>
            <a:ext cx="1" cy="160735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20" name="Shape 4520"/>
          <p:cNvSpPr/>
          <p:nvPr/>
        </p:nvSpPr>
        <p:spPr>
          <a:xfrm>
            <a:off x="6891364" y="2481337"/>
            <a:ext cx="1" cy="160735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21" name="Shape 4521"/>
          <p:cNvSpPr/>
          <p:nvPr/>
        </p:nvSpPr>
        <p:spPr>
          <a:xfrm>
            <a:off x="4891114" y="2481337"/>
            <a:ext cx="2000251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22" name="Shape 4522"/>
          <p:cNvSpPr/>
          <p:nvPr/>
        </p:nvSpPr>
        <p:spPr>
          <a:xfrm>
            <a:off x="5891239" y="2267024"/>
            <a:ext cx="142876" cy="107157"/>
          </a:xfrm>
          <a:prstGeom prst="triangle">
            <a:avLst/>
          </a:prstGeom>
          <a:ln w="12700"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523" name="Shape 4523"/>
          <p:cNvSpPr/>
          <p:nvPr/>
        </p:nvSpPr>
        <p:spPr>
          <a:xfrm>
            <a:off x="7379520" y="1981274"/>
            <a:ext cx="159308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/>
            </a:pPr>
            <a:r>
              <a:rPr sz="1700"/>
              <a:t>Abstract class</a:t>
            </a:r>
          </a:p>
        </p:txBody>
      </p:sp>
      <p:sp>
        <p:nvSpPr>
          <p:cNvPr id="4524" name="Shape 4524"/>
          <p:cNvSpPr/>
          <p:nvPr/>
        </p:nvSpPr>
        <p:spPr>
          <a:xfrm flipH="1">
            <a:off x="6367489" y="2150938"/>
            <a:ext cx="1000126" cy="1"/>
          </a:xfrm>
          <a:prstGeom prst="line">
            <a:avLst/>
          </a:prstGeom>
          <a:ln w="25400">
            <a:solidFill/>
            <a:prstDash val="dash"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051522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" name="Shape 452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27" name="Shape 452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28" name="Shape 452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Abstract class: C++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Abstract class: Java</a:t>
            </a:r>
          </a:p>
        </p:txBody>
      </p:sp>
      <p:sp>
        <p:nvSpPr>
          <p:cNvPr id="4529" name="Shape 4529"/>
          <p:cNvSpPr/>
          <p:nvPr/>
        </p:nvSpPr>
        <p:spPr>
          <a:xfrm>
            <a:off x="3406148" y="1407541"/>
            <a:ext cx="4968044" cy="164694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class Shape {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public: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virtual double area( ) = 0;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virtual double circumference() = 0;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....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 </a:t>
            </a:r>
          </a:p>
        </p:txBody>
      </p:sp>
      <p:sp>
        <p:nvSpPr>
          <p:cNvPr id="4530" name="Shape 4530"/>
          <p:cNvSpPr/>
          <p:nvPr/>
        </p:nvSpPr>
        <p:spPr>
          <a:xfrm>
            <a:off x="3166628" y="4111503"/>
            <a:ext cx="5411434" cy="138533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abstract class Shape {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abstract public double area( );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abstract public double circumference();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....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77324292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2" name="Shape 453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33" name="Shape 453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34" name="Shape 453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Java interface</a:t>
            </a:r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Multiple inheritance in Java</a:t>
            </a:r>
          </a:p>
        </p:txBody>
      </p:sp>
      <p:sp>
        <p:nvSpPr>
          <p:cNvPr id="4535" name="Shape 4535"/>
          <p:cNvSpPr/>
          <p:nvPr/>
        </p:nvSpPr>
        <p:spPr>
          <a:xfrm>
            <a:off x="2624898" y="1487165"/>
            <a:ext cx="6601503" cy="243177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 b="1">
                <a:latin typeface="Verdana"/>
                <a:ea typeface="Verdana"/>
                <a:cs typeface="Verdana"/>
                <a:sym typeface="Verdana"/>
              </a:rPr>
              <a:t>interface MyInterface {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public double area( );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public double circumference();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…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 </a:t>
            </a:r>
          </a:p>
          <a:p>
            <a:pPr>
              <a:defRPr sz="1800">
                <a:uFillTx/>
              </a:defRPr>
            </a:pP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sz="1700" b="1">
                <a:latin typeface="Verdana"/>
                <a:ea typeface="Verdana"/>
                <a:cs typeface="Verdana"/>
                <a:sym typeface="Verdana"/>
              </a:rPr>
              <a:t>class MyClass implements MyInterface {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	// Implement the declared methods of MyInterface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  <p:sp>
        <p:nvSpPr>
          <p:cNvPr id="4536" name="Shape 4536"/>
          <p:cNvSpPr/>
          <p:nvPr/>
        </p:nvSpPr>
        <p:spPr>
          <a:xfrm>
            <a:off x="873791" y="4405189"/>
            <a:ext cx="9462864" cy="862114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 b="1">
                <a:latin typeface="Verdana"/>
                <a:ea typeface="Verdana"/>
                <a:cs typeface="Verdana"/>
                <a:sym typeface="Verdana"/>
              </a:rPr>
              <a:t>class MyClass extends SuperClass implements MyInterface1, MyInterface2 {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 // Implement the declared methods of MyInterface1 and MyInterface2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029433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8" name="Shape 453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39" name="Shape 453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40" name="Shape 454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Polymorphism in C++</a:t>
            </a:r>
          </a:p>
        </p:txBody>
      </p:sp>
      <p:sp>
        <p:nvSpPr>
          <p:cNvPr id="4541" name="Shape 4541"/>
          <p:cNvSpPr/>
          <p:nvPr/>
        </p:nvSpPr>
        <p:spPr>
          <a:xfrm>
            <a:off x="2273025" y="1323481"/>
            <a:ext cx="8730383" cy="557109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class User {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string name;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int age;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public: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User(string nm, int a) {name=nm; age=a;}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sz="1700" b="1">
                <a:latin typeface="Verdana"/>
                <a:ea typeface="Verdana"/>
                <a:cs typeface="Verdana"/>
                <a:sym typeface="Verdana"/>
              </a:rPr>
              <a:t>virtual  void print() </a:t>
            </a:r>
            <a:r>
              <a:rPr sz="1700">
                <a:latin typeface="Verdana"/>
                <a:ea typeface="Verdana"/>
                <a:cs typeface="Verdana"/>
                <a:sym typeface="Verdana"/>
              </a:rPr>
              <a:t>{                                                 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    cout &lt;&lt; "Name: " &lt;&lt; name &lt;&lt; " Age: " &lt;&lt; age;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}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};</a:t>
            </a:r>
          </a:p>
          <a:p>
            <a:pPr>
              <a:defRPr sz="1800">
                <a:uFillTx/>
              </a:defRPr>
            </a:pP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class StudentUser : public User {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string schoolEnrolled;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public: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StudentUser(string name, int y, string school) : User(name, y) {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   schoolEnrolled = school;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}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sz="1700" b="1">
                <a:latin typeface="Verdana"/>
                <a:ea typeface="Verdana"/>
                <a:cs typeface="Verdana"/>
                <a:sym typeface="Verdana"/>
              </a:rPr>
              <a:t>void print() </a:t>
            </a:r>
            <a:r>
              <a:rPr sz="1700">
                <a:latin typeface="Verdana"/>
                <a:ea typeface="Verdana"/>
                <a:cs typeface="Verdana"/>
                <a:sym typeface="Verdana"/>
              </a:rPr>
              <a:t>{                                                               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    User::print();        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    cout &lt;&lt; " School Enrolled: " &lt;&lt; schoolEnrolled;     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   }</a:t>
            </a:r>
          </a:p>
          <a:p>
            <a:pPr>
              <a:defRPr sz="1800">
                <a:uFillTx/>
              </a:defRPr>
            </a:pPr>
            <a:r>
              <a:rPr sz="1700">
                <a:latin typeface="Verdana"/>
                <a:ea typeface="Verdana"/>
                <a:cs typeface="Verdana"/>
                <a:sym typeface="Verdana"/>
              </a:rPr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109587999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3" name="Shape 454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44" name="Shape 45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45" name="Shape 454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Polymorphism in C++</a:t>
            </a:r>
          </a:p>
        </p:txBody>
      </p:sp>
      <p:sp>
        <p:nvSpPr>
          <p:cNvPr id="4546" name="Shape 4546"/>
          <p:cNvSpPr/>
          <p:nvPr/>
        </p:nvSpPr>
        <p:spPr>
          <a:xfrm>
            <a:off x="2537388" y="1720670"/>
            <a:ext cx="7117224" cy="452465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int main()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{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User* users[3];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users[0] = new User( "Buster Dandy", 34 );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users[1] = new StudentUser("Missy Showoff", 25, "Math"); </a:t>
            </a:r>
          </a:p>
          <a:p>
            <a:pPr marL="0" lvl="2" indent="765353"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users[2] = new User( "Mister Meister", 28 );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for (int i=0; i&lt;3; i++)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{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    users[i]-&gt;</a:t>
            </a:r>
            <a:r>
              <a:rPr sz="1700" b="1"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sz="1700">
                <a:latin typeface="Arial"/>
                <a:ea typeface="Arial"/>
                <a:cs typeface="Arial"/>
                <a:sym typeface="Arial"/>
              </a:rPr>
              <a:t>();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    cout &lt;&lt; endl;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  	} </a:t>
            </a:r>
          </a:p>
          <a:p>
            <a:pPr>
              <a:defRPr sz="1800">
                <a:uFillTx/>
              </a:defRPr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delete [] users;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	return 0; </a:t>
            </a:r>
          </a:p>
          <a:p>
            <a:pPr>
              <a:defRPr sz="1800">
                <a:uFillTx/>
              </a:defRPr>
            </a:pPr>
            <a:r>
              <a:rPr sz="1700">
                <a:latin typeface="Arial"/>
                <a:ea typeface="Arial"/>
                <a:cs typeface="Arial"/>
                <a:sym typeface="Arial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145723105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8" name="Shape 454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49" name="Shape 454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50" name="Shape 455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Polymorphism in Java</a:t>
            </a:r>
          </a:p>
        </p:txBody>
      </p:sp>
      <p:sp>
        <p:nvSpPr>
          <p:cNvPr id="4551" name="Shape 4551"/>
          <p:cNvSpPr/>
          <p:nvPr/>
        </p:nvSpPr>
        <p:spPr>
          <a:xfrm>
            <a:off x="2662256" y="1307109"/>
            <a:ext cx="6867489" cy="727925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class User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public User( String str, int yy )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 name = str;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 age = yy;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}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public void print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() {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  System.out.print( "name: " + name + " age: " + age 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} </a:t>
            </a:r>
          </a:p>
          <a:p>
            <a:pPr>
              <a:defRPr sz="1800">
                <a:uFillTx/>
              </a:defRPr>
            </a:pPr>
            <a:endParaRPr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private String name;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private int age;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} </a:t>
            </a:r>
          </a:p>
          <a:p>
            <a:pPr>
              <a:defRPr sz="1800">
                <a:uFillTx/>
              </a:defRPr>
            </a:pPr>
            <a:endParaRPr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class StudentUser extends User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public StudentUser( String nam, int y, String sch )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  super(nam, y);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  schoolEnrolled = sch;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}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public void print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()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  super.print();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  System.out.print( " School: " + schoolEnrolled 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} </a:t>
            </a:r>
          </a:p>
          <a:p>
            <a:pPr>
              <a:defRPr sz="1800">
                <a:uFillTx/>
              </a:defRPr>
            </a:pPr>
            <a:endParaRPr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private String schoolEnrolled;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89967717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3" name="Shape 455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54" name="Shape 455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Object-oriented programming</a:t>
            </a:r>
          </a:p>
        </p:txBody>
      </p:sp>
      <p:sp>
        <p:nvSpPr>
          <p:cNvPr id="4555" name="Shape 455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Polymorphism in Java</a:t>
            </a:r>
          </a:p>
        </p:txBody>
      </p:sp>
      <p:sp>
        <p:nvSpPr>
          <p:cNvPr id="4556" name="Shape 4556"/>
          <p:cNvSpPr/>
          <p:nvPr/>
        </p:nvSpPr>
        <p:spPr>
          <a:xfrm>
            <a:off x="2306495" y="2100364"/>
            <a:ext cx="7579011" cy="450926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class Test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public static void main( String[] args )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User[] users = new User [3];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users[0] = new User( "Buster Dandy", 34 );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users[1] = new StudentUser( "Missy Showoff",25, "Math");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users[2] = new User( "Mister Meister", 28 );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for (int i=0; i&lt;3; i++)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{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	users [i].</a:t>
            </a:r>
            <a:r>
              <a:rPr b="1">
                <a:latin typeface="Verdana"/>
                <a:ea typeface="Verdana"/>
                <a:cs typeface="Verdana"/>
                <a:sym typeface="Verdana"/>
              </a:rPr>
              <a:t>print</a:t>
            </a:r>
            <a:r>
              <a:rPr>
                <a:latin typeface="Verdana"/>
                <a:ea typeface="Verdana"/>
                <a:cs typeface="Verdana"/>
                <a:sym typeface="Verdana"/>
              </a:rPr>
              <a:t>();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	System.out.println();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	}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    } 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86810114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8" name="Shape 455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59" name="Shape 455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Main Activities of Software Development</a:t>
            </a:r>
          </a:p>
        </p:txBody>
      </p:sp>
      <p:grpSp>
        <p:nvGrpSpPr>
          <p:cNvPr id="4567" name="Group 4567"/>
          <p:cNvGrpSpPr/>
          <p:nvPr/>
        </p:nvGrpSpPr>
        <p:grpSpPr>
          <a:xfrm>
            <a:off x="1727677" y="927334"/>
            <a:ext cx="8736647" cy="5363848"/>
            <a:chOff x="0" y="0"/>
            <a:chExt cx="9319088" cy="7628583"/>
          </a:xfrm>
        </p:grpSpPr>
        <p:sp>
          <p:nvSpPr>
            <p:cNvPr id="4560" name="Shape 4560"/>
            <p:cNvSpPr/>
            <p:nvPr/>
          </p:nvSpPr>
          <p:spPr>
            <a:xfrm>
              <a:off x="3186443" y="0"/>
              <a:ext cx="2946202" cy="2336007"/>
            </a:xfrm>
            <a:prstGeom prst="roundRect">
              <a:avLst>
                <a:gd name="adj" fmla="val 8155"/>
              </a:avLst>
            </a:prstGeom>
            <a:solidFill>
              <a:srgbClr val="00F900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  <a:latin typeface="Gill Sans SemiBold"/>
                  <a:ea typeface="Gill Sans SemiBold"/>
                  <a:cs typeface="Gill Sans SemiBold"/>
                  <a:sym typeface="Gill Sans SemiBold"/>
                </a:rPr>
                <a:t>Analysis</a:t>
              </a:r>
            </a:p>
            <a:p>
              <a:pPr lvl="0" algn="ctr">
                <a:defRPr sz="1800">
                  <a:uFillTx/>
                </a:defRPr>
              </a:pPr>
              <a:endParaRPr>
                <a:uFill>
                  <a:solidFill/>
                </a:uFill>
              </a:endParaRP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Define the conceptual model</a:t>
              </a:r>
            </a:p>
          </p:txBody>
        </p:sp>
        <p:sp>
          <p:nvSpPr>
            <p:cNvPr id="4561" name="Shape 4561"/>
            <p:cNvSpPr/>
            <p:nvPr/>
          </p:nvSpPr>
          <p:spPr>
            <a:xfrm>
              <a:off x="6372886" y="0"/>
              <a:ext cx="2946203" cy="2336007"/>
            </a:xfrm>
            <a:prstGeom prst="roundRect">
              <a:avLst>
                <a:gd name="adj" fmla="val 8155"/>
              </a:avLst>
            </a:prstGeom>
            <a:solidFill>
              <a:srgbClr val="00F900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  <a:latin typeface="Gill Sans SemiBold"/>
                  <a:ea typeface="Gill Sans SemiBold"/>
                  <a:cs typeface="Gill Sans SemiBold"/>
                  <a:sym typeface="Gill Sans SemiBold"/>
                </a:rPr>
                <a:t>Design</a:t>
              </a:r>
            </a:p>
            <a:p>
              <a:pPr lvl="0" algn="ctr">
                <a:defRPr sz="1800">
                  <a:uFillTx/>
                </a:defRPr>
              </a:pPr>
              <a:endParaRPr>
                <a:uFill>
                  <a:solidFill/>
                </a:uFill>
              </a:endParaRP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Design the solution / software plan</a:t>
              </a:r>
            </a:p>
          </p:txBody>
        </p:sp>
        <p:sp>
          <p:nvSpPr>
            <p:cNvPr id="4562" name="Shape 4562"/>
            <p:cNvSpPr/>
            <p:nvPr/>
          </p:nvSpPr>
          <p:spPr>
            <a:xfrm>
              <a:off x="0" y="2646288"/>
              <a:ext cx="2946202" cy="2336007"/>
            </a:xfrm>
            <a:prstGeom prst="roundRect">
              <a:avLst>
                <a:gd name="adj" fmla="val 8155"/>
              </a:avLst>
            </a:prstGeom>
            <a:solidFill>
              <a:srgbClr val="FF7E79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  <a:latin typeface="Gill Sans SemiBold"/>
                  <a:ea typeface="Gill Sans SemiBold"/>
                  <a:cs typeface="Gill Sans SemiBold"/>
                  <a:sym typeface="Gill Sans SemiBold"/>
                </a:rPr>
                <a:t>Implementation</a:t>
              </a:r>
            </a:p>
            <a:p>
              <a:pPr lvl="0" algn="ctr">
                <a:defRPr sz="1800">
                  <a:uFillTx/>
                </a:defRPr>
              </a:pPr>
              <a:endParaRPr>
                <a:uFill>
                  <a:solidFill/>
                </a:uFill>
              </a:endParaRP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Code the system based on the design</a:t>
              </a:r>
            </a:p>
          </p:txBody>
        </p:sp>
        <p:sp>
          <p:nvSpPr>
            <p:cNvPr id="4563" name="Shape 4563"/>
            <p:cNvSpPr/>
            <p:nvPr/>
          </p:nvSpPr>
          <p:spPr>
            <a:xfrm>
              <a:off x="3186443" y="2646288"/>
              <a:ext cx="2946202" cy="2336007"/>
            </a:xfrm>
            <a:prstGeom prst="roundRect">
              <a:avLst>
                <a:gd name="adj" fmla="val 8155"/>
              </a:avLst>
            </a:prstGeom>
            <a:solidFill>
              <a:srgbClr val="FF7E79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  <a:latin typeface="Gill Sans SemiBold"/>
                  <a:ea typeface="Gill Sans SemiBold"/>
                  <a:cs typeface="Gill Sans SemiBold"/>
                  <a:sym typeface="Gill Sans SemiBold"/>
                </a:rPr>
                <a:t>Integration and Test</a:t>
              </a:r>
            </a:p>
            <a:p>
              <a:pPr lvl="0" algn="ctr">
                <a:defRPr sz="1800">
                  <a:uFillTx/>
                </a:defRPr>
              </a:pPr>
              <a:endParaRPr>
                <a:uFill>
                  <a:solidFill/>
                </a:uFill>
              </a:endParaRP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Prove that the system meets the requirements</a:t>
              </a:r>
            </a:p>
          </p:txBody>
        </p:sp>
        <p:sp>
          <p:nvSpPr>
            <p:cNvPr id="4564" name="Shape 4564"/>
            <p:cNvSpPr/>
            <p:nvPr/>
          </p:nvSpPr>
          <p:spPr>
            <a:xfrm>
              <a:off x="6372886" y="2646288"/>
              <a:ext cx="2946203" cy="2336007"/>
            </a:xfrm>
            <a:prstGeom prst="roundRect">
              <a:avLst>
                <a:gd name="adj" fmla="val 8155"/>
              </a:avLst>
            </a:prstGeom>
            <a:solidFill>
              <a:srgbClr val="FF7E79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  <a:latin typeface="Gill Sans SemiBold"/>
                  <a:ea typeface="Gill Sans SemiBold"/>
                  <a:cs typeface="Gill Sans SemiBold"/>
                  <a:sym typeface="Gill Sans SemiBold"/>
                </a:rPr>
                <a:t>Deployment</a:t>
              </a:r>
            </a:p>
            <a:p>
              <a:pPr lvl="0" algn="ctr">
                <a:defRPr sz="1800">
                  <a:uFillTx/>
                </a:defRPr>
              </a:pPr>
              <a:endParaRPr>
                <a:uFill>
                  <a:solidFill/>
                </a:uFill>
              </a:endParaRP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Installation and training</a:t>
              </a:r>
            </a:p>
          </p:txBody>
        </p:sp>
        <p:sp>
          <p:nvSpPr>
            <p:cNvPr id="4565" name="Shape 4565"/>
            <p:cNvSpPr/>
            <p:nvPr/>
          </p:nvSpPr>
          <p:spPr>
            <a:xfrm>
              <a:off x="3186443" y="5292576"/>
              <a:ext cx="2946202" cy="2336008"/>
            </a:xfrm>
            <a:prstGeom prst="roundRect">
              <a:avLst>
                <a:gd name="adj" fmla="val 8155"/>
              </a:avLst>
            </a:prstGeom>
            <a:solidFill>
              <a:srgbClr val="FF7E79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  <a:latin typeface="Gill Sans SemiBold"/>
                  <a:ea typeface="Gill Sans SemiBold"/>
                  <a:cs typeface="Gill Sans SemiBold"/>
                  <a:sym typeface="Gill Sans SemiBold"/>
                </a:rPr>
                <a:t>Maintenance</a:t>
              </a:r>
            </a:p>
            <a:p>
              <a:pPr lvl="0" algn="ctr">
                <a:defRPr sz="1800">
                  <a:uFillTx/>
                </a:defRPr>
              </a:pPr>
              <a:endParaRPr>
                <a:uFill>
                  <a:solidFill/>
                </a:uFill>
              </a:endParaRP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Post-install review</a:t>
              </a: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Support docs</a:t>
              </a: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Active support</a:t>
              </a:r>
            </a:p>
          </p:txBody>
        </p:sp>
        <p:sp>
          <p:nvSpPr>
            <p:cNvPr id="4566" name="Shape 4566"/>
            <p:cNvSpPr/>
            <p:nvPr/>
          </p:nvSpPr>
          <p:spPr>
            <a:xfrm>
              <a:off x="0" y="0"/>
              <a:ext cx="2946202" cy="2336007"/>
            </a:xfrm>
            <a:prstGeom prst="roundRect">
              <a:avLst>
                <a:gd name="adj" fmla="val 8155"/>
              </a:avLst>
            </a:prstGeom>
            <a:solidFill>
              <a:srgbClr val="00F900"/>
            </a:solidFill>
            <a:ln w="6350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1800">
                  <a:uFillTx/>
                </a:defRPr>
              </a:pPr>
              <a:r>
                <a:rPr sz="2000">
                  <a:uFill>
                    <a:solidFill/>
                  </a:uFill>
                  <a:latin typeface="Gill Sans SemiBold"/>
                  <a:ea typeface="Gill Sans SemiBold"/>
                  <a:cs typeface="Gill Sans SemiBold"/>
                  <a:sym typeface="Gill Sans SemiBold"/>
                </a:rPr>
                <a:t>Requirements Gathering</a:t>
              </a:r>
            </a:p>
            <a:p>
              <a:pPr lvl="0" algn="ctr">
                <a:defRPr sz="1800">
                  <a:uFillTx/>
                </a:defRPr>
              </a:pPr>
              <a:endParaRPr>
                <a:uFill>
                  <a:solidFill/>
                </a:uFill>
              </a:endParaRPr>
            </a:p>
            <a:p>
              <a:pPr lvl="0" algn="ctr">
                <a:defRPr sz="1800">
                  <a:uFillTx/>
                </a:defRPr>
              </a:pPr>
              <a:r>
                <a:rPr>
                  <a:uFill>
                    <a:solidFill/>
                  </a:uFill>
                </a:rPr>
                <a:t>Define requirement specification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006224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9" name="Shape 456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70" name="Shape 457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571" name="Shape 4571"/>
          <p:cNvSpPr>
            <a:spLocks noGrp="1"/>
          </p:cNvSpPr>
          <p:nvPr>
            <p:ph type="body" idx="1"/>
          </p:nvPr>
        </p:nvSpPr>
        <p:spPr>
          <a:xfrm>
            <a:off x="355600" y="1342568"/>
            <a:ext cx="11480801" cy="453338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Generation of source code from the design model</a:t>
            </a:r>
          </a:p>
          <a:p>
            <a:pPr lvl="0">
              <a:defRPr sz="1800"/>
            </a:pPr>
            <a:r>
              <a:rPr sz="2300"/>
              <a:t>Object-oriented code includes</a:t>
            </a:r>
          </a:p>
          <a:p>
            <a:pPr lvl="1">
              <a:defRPr sz="1800"/>
            </a:pPr>
            <a:r>
              <a:rPr sz="2300"/>
              <a:t>Definitions of classes and interfaces</a:t>
            </a:r>
          </a:p>
          <a:p>
            <a:pPr lvl="1">
              <a:defRPr sz="1800"/>
            </a:pPr>
            <a:r>
              <a:rPr sz="2300"/>
              <a:t>Definitions of methods</a:t>
            </a:r>
          </a:p>
          <a:p>
            <a:pPr lvl="0">
              <a:defRPr sz="1800"/>
            </a:pPr>
            <a:r>
              <a:rPr sz="2300"/>
              <a:t>The </a:t>
            </a:r>
            <a:r>
              <a:rPr sz="2300" b="1"/>
              <a:t>class diagrams</a:t>
            </a:r>
            <a:r>
              <a:rPr sz="2300"/>
              <a:t> are transformed to </a:t>
            </a:r>
            <a:r>
              <a:rPr sz="2300" b="1"/>
              <a:t>classes</a:t>
            </a:r>
            <a:r>
              <a:rPr sz="2300"/>
              <a:t> and </a:t>
            </a:r>
            <a:r>
              <a:rPr sz="2300" b="1"/>
              <a:t>interfaces</a:t>
            </a:r>
            <a:endParaRPr sz="2300"/>
          </a:p>
          <a:p>
            <a:pPr lvl="0">
              <a:defRPr sz="1800"/>
            </a:pPr>
            <a:r>
              <a:rPr sz="2300"/>
              <a:t>The </a:t>
            </a:r>
            <a:r>
              <a:rPr sz="2300" b="1"/>
              <a:t>interaction diagrams</a:t>
            </a:r>
            <a:r>
              <a:rPr sz="2300"/>
              <a:t> are transformed to </a:t>
            </a:r>
            <a:r>
              <a:rPr sz="2300" b="1"/>
              <a:t>code of methods</a:t>
            </a:r>
            <a:r>
              <a:rPr sz="2300"/>
              <a:t>.</a:t>
            </a:r>
          </a:p>
          <a:p>
            <a:pPr lvl="0">
              <a:defRPr sz="1800"/>
            </a:pPr>
            <a:r>
              <a:rPr sz="2300"/>
              <a:t>Other diagrams allow to guide the programmer during coding</a:t>
            </a:r>
          </a:p>
        </p:txBody>
      </p:sp>
    </p:spTree>
    <p:extLst>
      <p:ext uri="{BB962C8B-B14F-4D97-AF65-F5344CB8AC3E}">
        <p14:creationId xmlns:p14="http://schemas.microsoft.com/office/powerpoint/2010/main" val="170656603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3" name="Shape 457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574" name="Shape 457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575" name="Shape 457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Class definition</a:t>
            </a:r>
          </a:p>
          <a:p>
            <a:pPr lvl="1">
              <a:defRPr sz="1800"/>
            </a:pPr>
            <a:r>
              <a:rPr sz="2000"/>
              <a:t>Example of a part of class diagram</a:t>
            </a:r>
          </a:p>
        </p:txBody>
      </p:sp>
      <p:sp>
        <p:nvSpPr>
          <p:cNvPr id="4576" name="Shape 4576"/>
          <p:cNvSpPr/>
          <p:nvPr/>
        </p:nvSpPr>
        <p:spPr>
          <a:xfrm>
            <a:off x="2233910" y="2703091"/>
            <a:ext cx="1979721" cy="1339454"/>
          </a:xfrm>
          <a:prstGeom prst="rect">
            <a:avLst/>
          </a:prstGeom>
          <a:ln w="12700"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577" name="Shape 4577"/>
          <p:cNvSpPr/>
          <p:nvPr/>
        </p:nvSpPr>
        <p:spPr>
          <a:xfrm>
            <a:off x="2424410" y="2718717"/>
            <a:ext cx="1385332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ListOfOrders</a:t>
            </a:r>
          </a:p>
        </p:txBody>
      </p:sp>
      <p:sp>
        <p:nvSpPr>
          <p:cNvPr id="4578" name="Shape 4578"/>
          <p:cNvSpPr/>
          <p:nvPr/>
        </p:nvSpPr>
        <p:spPr>
          <a:xfrm>
            <a:off x="2233910" y="3101578"/>
            <a:ext cx="1433422" cy="631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>
                <a:latin typeface="Arial"/>
                <a:ea typeface="Arial"/>
                <a:cs typeface="Arial"/>
                <a:sym typeface="Arial"/>
              </a:rPr>
              <a:t> datePlaced</a:t>
            </a:r>
          </a:p>
          <a:p>
            <a:pPr>
              <a:defRPr sz="1800">
                <a:uFillTx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− </a:t>
            </a:r>
            <a:r>
              <a:rPr>
                <a:latin typeface="Arial"/>
                <a:ea typeface="Arial"/>
                <a:cs typeface="Arial"/>
                <a:sym typeface="Arial"/>
              </a:rPr>
              <a:t>clientID</a:t>
            </a:r>
          </a:p>
        </p:txBody>
      </p:sp>
      <p:sp>
        <p:nvSpPr>
          <p:cNvPr id="4579" name="Shape 4579"/>
          <p:cNvSpPr/>
          <p:nvPr/>
        </p:nvSpPr>
        <p:spPr>
          <a:xfrm>
            <a:off x="2265814" y="3688647"/>
            <a:ext cx="1750816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+ total() : double</a:t>
            </a:r>
          </a:p>
        </p:txBody>
      </p:sp>
      <p:sp>
        <p:nvSpPr>
          <p:cNvPr id="4580" name="Shape 4580"/>
          <p:cNvSpPr/>
          <p:nvPr/>
        </p:nvSpPr>
        <p:spPr>
          <a:xfrm>
            <a:off x="2233910" y="3024559"/>
            <a:ext cx="1975266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81" name="Shape 4581"/>
          <p:cNvSpPr/>
          <p:nvPr/>
        </p:nvSpPr>
        <p:spPr>
          <a:xfrm>
            <a:off x="2233910" y="3613919"/>
            <a:ext cx="1975266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82" name="Shape 4582"/>
          <p:cNvSpPr/>
          <p:nvPr/>
        </p:nvSpPr>
        <p:spPr>
          <a:xfrm>
            <a:off x="5170289" y="2006575"/>
            <a:ext cx="2305654" cy="1339454"/>
          </a:xfrm>
          <a:prstGeom prst="rect">
            <a:avLst/>
          </a:prstGeom>
          <a:ln w="12700"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583" name="Shape 4583"/>
          <p:cNvSpPr/>
          <p:nvPr/>
        </p:nvSpPr>
        <p:spPr>
          <a:xfrm>
            <a:off x="5500688" y="2022202"/>
            <a:ext cx="1103203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OneOrder</a:t>
            </a:r>
          </a:p>
        </p:txBody>
      </p:sp>
      <p:sp>
        <p:nvSpPr>
          <p:cNvPr id="4584" name="Shape 4584"/>
          <p:cNvSpPr/>
          <p:nvPr/>
        </p:nvSpPr>
        <p:spPr>
          <a:xfrm>
            <a:off x="5170289" y="2405062"/>
            <a:ext cx="1933559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>
                <a:latin typeface="Arial"/>
                <a:ea typeface="Arial"/>
                <a:cs typeface="Arial"/>
                <a:sym typeface="Arial"/>
              </a:rPr>
              <a:t> quantity: Integer</a:t>
            </a:r>
          </a:p>
        </p:txBody>
      </p:sp>
      <p:sp>
        <p:nvSpPr>
          <p:cNvPr id="4585" name="Shape 4585"/>
          <p:cNvSpPr/>
          <p:nvPr/>
        </p:nvSpPr>
        <p:spPr>
          <a:xfrm>
            <a:off x="5101829" y="2996654"/>
            <a:ext cx="2122713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+ subtotal() : double</a:t>
            </a:r>
          </a:p>
        </p:txBody>
      </p:sp>
      <p:sp>
        <p:nvSpPr>
          <p:cNvPr id="4586" name="Shape 4586"/>
          <p:cNvSpPr/>
          <p:nvPr/>
        </p:nvSpPr>
        <p:spPr>
          <a:xfrm>
            <a:off x="5170289" y="2328044"/>
            <a:ext cx="2305654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87" name="Shape 4587"/>
          <p:cNvSpPr/>
          <p:nvPr/>
        </p:nvSpPr>
        <p:spPr>
          <a:xfrm>
            <a:off x="5170289" y="2917403"/>
            <a:ext cx="2305654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88" name="Shape 4588"/>
          <p:cNvSpPr/>
          <p:nvPr/>
        </p:nvSpPr>
        <p:spPr>
          <a:xfrm>
            <a:off x="8432602" y="2703091"/>
            <a:ext cx="2088464" cy="1339454"/>
          </a:xfrm>
          <a:prstGeom prst="rect">
            <a:avLst/>
          </a:prstGeom>
          <a:ln w="12700"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589" name="Shape 4589"/>
          <p:cNvSpPr/>
          <p:nvPr/>
        </p:nvSpPr>
        <p:spPr>
          <a:xfrm>
            <a:off x="8835925" y="2718717"/>
            <a:ext cx="902828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AirPlane</a:t>
            </a:r>
          </a:p>
        </p:txBody>
      </p:sp>
      <p:sp>
        <p:nvSpPr>
          <p:cNvPr id="4590" name="Shape 4590"/>
          <p:cNvSpPr/>
          <p:nvPr/>
        </p:nvSpPr>
        <p:spPr>
          <a:xfrm>
            <a:off x="8432602" y="3101578"/>
            <a:ext cx="1338845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 sz="1700">
                <a:latin typeface="Arial"/>
                <a:ea typeface="Arial"/>
                <a:cs typeface="Arial"/>
                <a:sym typeface="Arial"/>
              </a:rPr>
              <a:t> price : float</a:t>
            </a:r>
          </a:p>
        </p:txBody>
      </p:sp>
      <p:sp>
        <p:nvSpPr>
          <p:cNvPr id="4591" name="Shape 4591"/>
          <p:cNvSpPr/>
          <p:nvPr/>
        </p:nvSpPr>
        <p:spPr>
          <a:xfrm>
            <a:off x="8459391" y="3693170"/>
            <a:ext cx="180692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+ getPrice() : float</a:t>
            </a:r>
          </a:p>
        </p:txBody>
      </p:sp>
      <p:sp>
        <p:nvSpPr>
          <p:cNvPr id="4592" name="Shape 4592"/>
          <p:cNvSpPr/>
          <p:nvPr/>
        </p:nvSpPr>
        <p:spPr>
          <a:xfrm>
            <a:off x="8432602" y="3024559"/>
            <a:ext cx="2088464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93" name="Shape 4593"/>
          <p:cNvSpPr/>
          <p:nvPr/>
        </p:nvSpPr>
        <p:spPr>
          <a:xfrm>
            <a:off x="8432602" y="3613919"/>
            <a:ext cx="2088463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94" name="Shape 4594"/>
          <p:cNvSpPr/>
          <p:nvPr/>
        </p:nvSpPr>
        <p:spPr>
          <a:xfrm flipV="1">
            <a:off x="3192048" y="2221780"/>
            <a:ext cx="1975265" cy="1"/>
          </a:xfrm>
          <a:prstGeom prst="line">
            <a:avLst/>
          </a:prstGeom>
          <a:ln w="12700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95" name="Shape 4595"/>
          <p:cNvSpPr/>
          <p:nvPr/>
        </p:nvSpPr>
        <p:spPr>
          <a:xfrm flipV="1">
            <a:off x="7492835" y="2220887"/>
            <a:ext cx="1983563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596" name="Shape 4596"/>
          <p:cNvSpPr/>
          <p:nvPr/>
        </p:nvSpPr>
        <p:spPr>
          <a:xfrm>
            <a:off x="3383359" y="2454526"/>
            <a:ext cx="205522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1</a:t>
            </a:r>
          </a:p>
        </p:txBody>
      </p:sp>
      <p:sp>
        <p:nvSpPr>
          <p:cNvPr id="4597" name="Shape 4597"/>
          <p:cNvSpPr/>
          <p:nvPr/>
        </p:nvSpPr>
        <p:spPr>
          <a:xfrm>
            <a:off x="4622930" y="2195156"/>
            <a:ext cx="423530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1..*</a:t>
            </a:r>
          </a:p>
        </p:txBody>
      </p:sp>
      <p:sp>
        <p:nvSpPr>
          <p:cNvPr id="4598" name="Shape 4598"/>
          <p:cNvSpPr/>
          <p:nvPr/>
        </p:nvSpPr>
        <p:spPr>
          <a:xfrm>
            <a:off x="7499449" y="2195156"/>
            <a:ext cx="167050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*</a:t>
            </a:r>
          </a:p>
        </p:txBody>
      </p:sp>
      <p:sp>
        <p:nvSpPr>
          <p:cNvPr id="4599" name="Shape 4599"/>
          <p:cNvSpPr/>
          <p:nvPr/>
        </p:nvSpPr>
        <p:spPr>
          <a:xfrm>
            <a:off x="9216429" y="2422306"/>
            <a:ext cx="205522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1</a:t>
            </a:r>
          </a:p>
        </p:txBody>
      </p:sp>
      <p:sp>
        <p:nvSpPr>
          <p:cNvPr id="4600" name="Shape 4600"/>
          <p:cNvSpPr/>
          <p:nvPr/>
        </p:nvSpPr>
        <p:spPr>
          <a:xfrm>
            <a:off x="3198421" y="2215714"/>
            <a:ext cx="1" cy="482204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01" name="Shape 4601"/>
          <p:cNvSpPr/>
          <p:nvPr/>
        </p:nvSpPr>
        <p:spPr>
          <a:xfrm>
            <a:off x="9476833" y="2206785"/>
            <a:ext cx="1" cy="482204"/>
          </a:xfrm>
          <a:prstGeom prst="line">
            <a:avLst/>
          </a:prstGeom>
          <a:ln w="12700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02" name="Shape 4602"/>
          <p:cNvSpPr/>
          <p:nvPr/>
        </p:nvSpPr>
        <p:spPr>
          <a:xfrm>
            <a:off x="8076688" y="1951765"/>
            <a:ext cx="1135263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contains &gt;</a:t>
            </a:r>
          </a:p>
        </p:txBody>
      </p:sp>
      <p:sp>
        <p:nvSpPr>
          <p:cNvPr id="4603" name="Shape 4603"/>
          <p:cNvSpPr/>
          <p:nvPr/>
        </p:nvSpPr>
        <p:spPr>
          <a:xfrm>
            <a:off x="4215130" y="1954638"/>
            <a:ext cx="731307" cy="354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1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800"/>
              <a:t>orders</a:t>
            </a:r>
          </a:p>
        </p:txBody>
      </p:sp>
    </p:spTree>
    <p:extLst>
      <p:ext uri="{BB962C8B-B14F-4D97-AF65-F5344CB8AC3E}">
        <p14:creationId xmlns:p14="http://schemas.microsoft.com/office/powerpoint/2010/main" val="66623392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5" name="Shape 460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606" name="Shape 460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607" name="Shape 460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Class definition</a:t>
            </a:r>
          </a:p>
          <a:p>
            <a:pPr lvl="1">
              <a:defRPr sz="1800"/>
            </a:pPr>
            <a:r>
              <a:rPr sz="2000"/>
              <a:t>Code of OneOrder class</a:t>
            </a:r>
          </a:p>
        </p:txBody>
      </p:sp>
      <p:sp>
        <p:nvSpPr>
          <p:cNvPr id="4608" name="Shape 4608"/>
          <p:cNvSpPr/>
          <p:nvPr/>
        </p:nvSpPr>
        <p:spPr>
          <a:xfrm>
            <a:off x="2649547" y="2793876"/>
            <a:ext cx="2462858" cy="1339454"/>
          </a:xfrm>
          <a:prstGeom prst="rect">
            <a:avLst/>
          </a:prstGeom>
          <a:ln w="12700">
            <a:solidFill>
              <a:srgbClr val="336699"/>
            </a:solidFill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09" name="Shape 4609"/>
          <p:cNvSpPr/>
          <p:nvPr/>
        </p:nvSpPr>
        <p:spPr>
          <a:xfrm>
            <a:off x="3260982" y="2809503"/>
            <a:ext cx="104870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CC33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OneOrder</a:t>
            </a:r>
          </a:p>
        </p:txBody>
      </p:sp>
      <p:sp>
        <p:nvSpPr>
          <p:cNvPr id="4610" name="Shape 4610"/>
          <p:cNvSpPr/>
          <p:nvPr/>
        </p:nvSpPr>
        <p:spPr>
          <a:xfrm>
            <a:off x="2704365" y="3192364"/>
            <a:ext cx="183898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solidFill>
                  <a:srgbClr val="CC3300"/>
                </a:solidFill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 sz="1700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quantity: Integer</a:t>
            </a:r>
          </a:p>
        </p:txBody>
      </p:sp>
      <p:sp>
        <p:nvSpPr>
          <p:cNvPr id="4611" name="Shape 4611"/>
          <p:cNvSpPr/>
          <p:nvPr/>
        </p:nvSpPr>
        <p:spPr>
          <a:xfrm>
            <a:off x="2695436" y="3783956"/>
            <a:ext cx="201531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CC33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+ subtotal() : double</a:t>
            </a:r>
          </a:p>
        </p:txBody>
      </p:sp>
      <p:sp>
        <p:nvSpPr>
          <p:cNvPr id="4612" name="Shape 4612"/>
          <p:cNvSpPr/>
          <p:nvPr/>
        </p:nvSpPr>
        <p:spPr>
          <a:xfrm>
            <a:off x="2649547" y="3115345"/>
            <a:ext cx="2462858" cy="1"/>
          </a:xfrm>
          <a:prstGeom prst="line">
            <a:avLst/>
          </a:prstGeom>
          <a:ln w="12700">
            <a:solidFill>
              <a:srgbClr val="336699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13" name="Shape 4613"/>
          <p:cNvSpPr/>
          <p:nvPr/>
        </p:nvSpPr>
        <p:spPr>
          <a:xfrm>
            <a:off x="2649547" y="3704704"/>
            <a:ext cx="2462858" cy="1"/>
          </a:xfrm>
          <a:prstGeom prst="line">
            <a:avLst/>
          </a:prstGeom>
          <a:ln w="12700">
            <a:solidFill>
              <a:srgbClr val="336699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14" name="Shape 4614"/>
          <p:cNvSpPr/>
          <p:nvPr/>
        </p:nvSpPr>
        <p:spPr>
          <a:xfrm>
            <a:off x="5459174" y="3168923"/>
            <a:ext cx="785813" cy="58936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A3B2C1"/>
          </a:solidFill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15" name="Shape 4615"/>
          <p:cNvSpPr/>
          <p:nvPr/>
        </p:nvSpPr>
        <p:spPr>
          <a:xfrm>
            <a:off x="6602173" y="2728020"/>
            <a:ext cx="2568220" cy="2170164"/>
          </a:xfrm>
          <a:prstGeom prst="rect">
            <a:avLst/>
          </a:prstGeom>
          <a:ln w="12700">
            <a:solidFill>
              <a:srgbClr val="6600FF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public class OneOrder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public double subTotal()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{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private int quantity;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324429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4" grpId="0" animBg="1" advAuto="0"/>
      <p:bldP spid="4615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7" name="Shape 461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618" name="Shape 461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619" name="Shape 461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Class definition</a:t>
            </a:r>
          </a:p>
          <a:p>
            <a:pPr lvl="1">
              <a:defRPr sz="1800"/>
            </a:pPr>
            <a:r>
              <a:rPr sz="2000"/>
              <a:t>Code of OneOrder class</a:t>
            </a:r>
          </a:p>
        </p:txBody>
      </p:sp>
      <p:sp>
        <p:nvSpPr>
          <p:cNvPr id="4620" name="Shape 4620"/>
          <p:cNvSpPr/>
          <p:nvPr/>
        </p:nvSpPr>
        <p:spPr>
          <a:xfrm>
            <a:off x="6802671" y="2755022"/>
            <a:ext cx="785813" cy="58936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A3B2C1"/>
          </a:solidFill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21" name="Shape 4621"/>
          <p:cNvSpPr/>
          <p:nvPr/>
        </p:nvSpPr>
        <p:spPr>
          <a:xfrm>
            <a:off x="7731358" y="2397835"/>
            <a:ext cx="3294560" cy="2431774"/>
          </a:xfrm>
          <a:prstGeom prst="rect">
            <a:avLst/>
          </a:prstGeom>
          <a:ln w="12700">
            <a:solidFill>
              <a:srgbClr val="6600FF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public class OneOrder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public double subTotal()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{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private int quantity;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sz="1700" b="1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rPr>
              <a:t>private AirPlane airPlane;</a:t>
            </a:r>
            <a:endParaRPr sz="1700">
              <a:solidFill>
                <a:srgbClr val="336699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4622" name="Shape 4622"/>
          <p:cNvSpPr/>
          <p:nvPr/>
        </p:nvSpPr>
        <p:spPr>
          <a:xfrm>
            <a:off x="1656194" y="2194684"/>
            <a:ext cx="2200086" cy="1339454"/>
          </a:xfrm>
          <a:prstGeom prst="rect">
            <a:avLst/>
          </a:prstGeom>
          <a:ln w="12700">
            <a:solidFill>
              <a:srgbClr val="990033"/>
            </a:solidFill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23" name="Shape 4623"/>
          <p:cNvSpPr/>
          <p:nvPr/>
        </p:nvSpPr>
        <p:spPr>
          <a:xfrm>
            <a:off x="2178035" y="2251407"/>
            <a:ext cx="104870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990033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OneOrder</a:t>
            </a:r>
          </a:p>
        </p:txBody>
      </p:sp>
      <p:sp>
        <p:nvSpPr>
          <p:cNvPr id="4624" name="Shape 4624"/>
          <p:cNvSpPr/>
          <p:nvPr/>
        </p:nvSpPr>
        <p:spPr>
          <a:xfrm>
            <a:off x="1680007" y="2593171"/>
            <a:ext cx="183898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solidFill>
                  <a:srgbClr val="CC3300"/>
                </a:solidFill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 sz="1700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7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quantity: Integer</a:t>
            </a:r>
          </a:p>
        </p:txBody>
      </p:sp>
      <p:sp>
        <p:nvSpPr>
          <p:cNvPr id="4625" name="Shape 4625"/>
          <p:cNvSpPr/>
          <p:nvPr/>
        </p:nvSpPr>
        <p:spPr>
          <a:xfrm>
            <a:off x="1611546" y="3184763"/>
            <a:ext cx="201531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990033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+ subtotal() : double</a:t>
            </a:r>
          </a:p>
        </p:txBody>
      </p:sp>
      <p:sp>
        <p:nvSpPr>
          <p:cNvPr id="4626" name="Shape 4626"/>
          <p:cNvSpPr/>
          <p:nvPr/>
        </p:nvSpPr>
        <p:spPr>
          <a:xfrm>
            <a:off x="1656194" y="2516153"/>
            <a:ext cx="2200086" cy="1"/>
          </a:xfrm>
          <a:prstGeom prst="line">
            <a:avLst/>
          </a:prstGeom>
          <a:ln w="12700">
            <a:solidFill>
              <a:srgbClr val="990033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27" name="Shape 4627"/>
          <p:cNvSpPr/>
          <p:nvPr/>
        </p:nvSpPr>
        <p:spPr>
          <a:xfrm>
            <a:off x="1656194" y="3105512"/>
            <a:ext cx="2200086" cy="1"/>
          </a:xfrm>
          <a:prstGeom prst="line">
            <a:avLst/>
          </a:prstGeom>
          <a:ln w="12700">
            <a:solidFill>
              <a:srgbClr val="990033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28" name="Shape 4628"/>
          <p:cNvSpPr/>
          <p:nvPr/>
        </p:nvSpPr>
        <p:spPr>
          <a:xfrm>
            <a:off x="4713784" y="2915756"/>
            <a:ext cx="1946013" cy="1339454"/>
          </a:xfrm>
          <a:prstGeom prst="rect">
            <a:avLst/>
          </a:prstGeom>
          <a:ln w="12700"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29" name="Shape 4629"/>
          <p:cNvSpPr/>
          <p:nvPr/>
        </p:nvSpPr>
        <p:spPr>
          <a:xfrm>
            <a:off x="5187944" y="2917784"/>
            <a:ext cx="902828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AirPlane</a:t>
            </a:r>
          </a:p>
        </p:txBody>
      </p:sp>
      <p:sp>
        <p:nvSpPr>
          <p:cNvPr id="4630" name="Shape 4630"/>
          <p:cNvSpPr/>
          <p:nvPr/>
        </p:nvSpPr>
        <p:spPr>
          <a:xfrm>
            <a:off x="4896182" y="3314243"/>
            <a:ext cx="1338845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 sz="1700">
                <a:latin typeface="Arial"/>
                <a:ea typeface="Arial"/>
                <a:cs typeface="Arial"/>
                <a:sym typeface="Arial"/>
              </a:rPr>
              <a:t> price : float</a:t>
            </a:r>
          </a:p>
        </p:txBody>
      </p:sp>
      <p:sp>
        <p:nvSpPr>
          <p:cNvPr id="4631" name="Shape 4631"/>
          <p:cNvSpPr/>
          <p:nvPr/>
        </p:nvSpPr>
        <p:spPr>
          <a:xfrm>
            <a:off x="4708659" y="3905835"/>
            <a:ext cx="180692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+ getPrice() : float</a:t>
            </a:r>
          </a:p>
        </p:txBody>
      </p:sp>
      <p:sp>
        <p:nvSpPr>
          <p:cNvPr id="4632" name="Shape 4632"/>
          <p:cNvSpPr/>
          <p:nvPr/>
        </p:nvSpPr>
        <p:spPr>
          <a:xfrm>
            <a:off x="4713784" y="3237225"/>
            <a:ext cx="1954943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33" name="Shape 4633"/>
          <p:cNvSpPr/>
          <p:nvPr/>
        </p:nvSpPr>
        <p:spPr>
          <a:xfrm>
            <a:off x="4713784" y="3826584"/>
            <a:ext cx="1946013" cy="1"/>
          </a:xfrm>
          <a:prstGeom prst="line">
            <a:avLst/>
          </a:prstGeom>
          <a:ln w="12700"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34" name="Shape 4634"/>
          <p:cNvSpPr/>
          <p:nvPr/>
        </p:nvSpPr>
        <p:spPr>
          <a:xfrm>
            <a:off x="3851068" y="2433553"/>
            <a:ext cx="1845810" cy="1"/>
          </a:xfrm>
          <a:prstGeom prst="line">
            <a:avLst/>
          </a:prstGeom>
          <a:ln w="12700">
            <a:solidFill>
              <a:srgbClr val="336699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35" name="Shape 4635"/>
          <p:cNvSpPr/>
          <p:nvPr/>
        </p:nvSpPr>
        <p:spPr>
          <a:xfrm>
            <a:off x="3897546" y="2383323"/>
            <a:ext cx="16224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*</a:t>
            </a:r>
          </a:p>
        </p:txBody>
      </p:sp>
      <p:sp>
        <p:nvSpPr>
          <p:cNvPr id="4636" name="Shape 4636"/>
          <p:cNvSpPr/>
          <p:nvPr/>
        </p:nvSpPr>
        <p:spPr>
          <a:xfrm>
            <a:off x="5446846" y="2673538"/>
            <a:ext cx="199110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1</a:t>
            </a:r>
          </a:p>
        </p:txBody>
      </p:sp>
      <p:sp>
        <p:nvSpPr>
          <p:cNvPr id="4637" name="Shape 4637"/>
          <p:cNvSpPr/>
          <p:nvPr/>
        </p:nvSpPr>
        <p:spPr>
          <a:xfrm>
            <a:off x="5696878" y="2433553"/>
            <a:ext cx="1" cy="482204"/>
          </a:xfrm>
          <a:prstGeom prst="line">
            <a:avLst/>
          </a:prstGeom>
          <a:ln w="12700">
            <a:solidFill>
              <a:srgbClr val="336699"/>
            </a:solidFill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38" name="Shape 4638"/>
          <p:cNvSpPr/>
          <p:nvPr/>
        </p:nvSpPr>
        <p:spPr>
          <a:xfrm>
            <a:off x="3904028" y="2173068"/>
            <a:ext cx="1079159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contains &gt;</a:t>
            </a:r>
          </a:p>
        </p:txBody>
      </p:sp>
      <p:grpSp>
        <p:nvGrpSpPr>
          <p:cNvPr id="4641" name="Group 4641"/>
          <p:cNvGrpSpPr/>
          <p:nvPr/>
        </p:nvGrpSpPr>
        <p:grpSpPr>
          <a:xfrm>
            <a:off x="2205575" y="4091646"/>
            <a:ext cx="7073409" cy="1906078"/>
            <a:chOff x="0" y="-811478"/>
            <a:chExt cx="7544969" cy="2710864"/>
          </a:xfrm>
        </p:grpSpPr>
        <p:sp>
          <p:nvSpPr>
            <p:cNvPr id="4639" name="Shape 4639"/>
            <p:cNvSpPr/>
            <p:nvPr/>
          </p:nvSpPr>
          <p:spPr>
            <a:xfrm>
              <a:off x="0" y="1023937"/>
              <a:ext cx="7544969" cy="8754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700">
                  <a:latin typeface="Verdana"/>
                  <a:ea typeface="Verdana"/>
                  <a:cs typeface="Verdana"/>
                  <a:sym typeface="Verdana"/>
                </a:rPr>
                <a:t>If the role of an association is not explicit, the created attribute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latin typeface="Verdana"/>
                  <a:ea typeface="Verdana"/>
                  <a:cs typeface="Verdana"/>
                  <a:sym typeface="Verdana"/>
                </a:rPr>
                <a:t>takes the associated role.</a:t>
              </a:r>
            </a:p>
          </p:txBody>
        </p:sp>
        <p:sp>
          <p:nvSpPr>
            <p:cNvPr id="4640" name="Shape 4640"/>
            <p:cNvSpPr/>
            <p:nvPr/>
          </p:nvSpPr>
          <p:spPr>
            <a:xfrm flipV="1">
              <a:off x="3911599" y="-811478"/>
              <a:ext cx="2802534" cy="189097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28102806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0" grpId="0" animBg="1" advAuto="0"/>
      <p:bldP spid="4621" grpId="0" animBg="1" advAuto="0"/>
      <p:bldP spid="4641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3" name="Shape 464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644" name="Shape 464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645" name="Shape 464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Definition of classes</a:t>
            </a:r>
          </a:p>
          <a:p>
            <a:pPr lvl="1">
              <a:defRPr sz="1800"/>
            </a:pPr>
            <a:r>
              <a:rPr sz="2000"/>
              <a:t>Code of ListOfOrders class</a:t>
            </a:r>
          </a:p>
        </p:txBody>
      </p:sp>
      <p:sp>
        <p:nvSpPr>
          <p:cNvPr id="4646" name="Shape 4646"/>
          <p:cNvSpPr/>
          <p:nvPr/>
        </p:nvSpPr>
        <p:spPr>
          <a:xfrm>
            <a:off x="7084174" y="3134321"/>
            <a:ext cx="785813" cy="589359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A3B2C1"/>
          </a:solidFill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47" name="Shape 4647"/>
          <p:cNvSpPr/>
          <p:nvPr/>
        </p:nvSpPr>
        <p:spPr>
          <a:xfrm>
            <a:off x="8311555" y="2759880"/>
            <a:ext cx="3311922" cy="2693384"/>
          </a:xfrm>
          <a:prstGeom prst="rect">
            <a:avLst/>
          </a:prstGeom>
          <a:ln>
            <a:solidFill>
              <a:srgbClr val="6600FF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public class ListOfOrder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public double total()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{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}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private Date datePlaced;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private int clientID;</a:t>
            </a:r>
          </a:p>
          <a:p>
            <a:pPr>
              <a:defRPr sz="1800">
                <a:uFillTx/>
              </a:defRPr>
            </a:pPr>
            <a:r>
              <a:rPr sz="1700" b="1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   private List orders; 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6600FF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</a:p>
        </p:txBody>
      </p:sp>
      <p:sp>
        <p:nvSpPr>
          <p:cNvPr id="4648" name="Shape 4648"/>
          <p:cNvSpPr/>
          <p:nvPr/>
        </p:nvSpPr>
        <p:spPr>
          <a:xfrm>
            <a:off x="2108894" y="3265896"/>
            <a:ext cx="1900536" cy="1339454"/>
          </a:xfrm>
          <a:prstGeom prst="rect">
            <a:avLst/>
          </a:prstGeom>
          <a:ln>
            <a:solidFill>
              <a:srgbClr val="336699"/>
            </a:solidFill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49" name="Shape 4649"/>
          <p:cNvSpPr/>
          <p:nvPr/>
        </p:nvSpPr>
        <p:spPr>
          <a:xfrm>
            <a:off x="2335504" y="3309219"/>
            <a:ext cx="1314800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ListOfOrders</a:t>
            </a:r>
          </a:p>
        </p:txBody>
      </p:sp>
      <p:sp>
        <p:nvSpPr>
          <p:cNvPr id="4650" name="Shape 4650"/>
          <p:cNvSpPr/>
          <p:nvPr/>
        </p:nvSpPr>
        <p:spPr>
          <a:xfrm>
            <a:off x="2113856" y="3631914"/>
            <a:ext cx="1364493" cy="600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solidFill>
                  <a:srgbClr val="336699"/>
                </a:solidFill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 sz="17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rPr>
              <a:t> datePlaced</a:t>
            </a:r>
          </a:p>
          <a:p>
            <a:pPr>
              <a:defRPr sz="1800">
                <a:uFillTx/>
              </a:defRPr>
            </a:pPr>
            <a:r>
              <a:rPr sz="1700">
                <a:solidFill>
                  <a:srgbClr val="336699"/>
                </a:solidFill>
                <a:latin typeface="Symbol"/>
                <a:ea typeface="Symbol"/>
                <a:cs typeface="Symbol"/>
                <a:sym typeface="Symbol"/>
              </a:rPr>
              <a:t>− </a:t>
            </a:r>
            <a:r>
              <a:rPr sz="1700">
                <a:solidFill>
                  <a:srgbClr val="336699"/>
                </a:solidFill>
                <a:latin typeface="Arial"/>
                <a:ea typeface="Arial"/>
                <a:cs typeface="Arial"/>
                <a:sym typeface="Arial"/>
              </a:rPr>
              <a:t>clientID</a:t>
            </a:r>
          </a:p>
        </p:txBody>
      </p:sp>
      <p:sp>
        <p:nvSpPr>
          <p:cNvPr id="4651" name="Shape 4651"/>
          <p:cNvSpPr/>
          <p:nvPr/>
        </p:nvSpPr>
        <p:spPr>
          <a:xfrm>
            <a:off x="2146620" y="4221274"/>
            <a:ext cx="166265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+ total() : double</a:t>
            </a:r>
          </a:p>
        </p:txBody>
      </p:sp>
      <p:sp>
        <p:nvSpPr>
          <p:cNvPr id="4652" name="Shape 4652"/>
          <p:cNvSpPr/>
          <p:nvPr/>
        </p:nvSpPr>
        <p:spPr>
          <a:xfrm>
            <a:off x="2108894" y="3587365"/>
            <a:ext cx="1900537" cy="1"/>
          </a:xfrm>
          <a:prstGeom prst="line">
            <a:avLst/>
          </a:prstGeom>
          <a:ln>
            <a:solidFill>
              <a:srgbClr val="336699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53" name="Shape 4653"/>
          <p:cNvSpPr/>
          <p:nvPr/>
        </p:nvSpPr>
        <p:spPr>
          <a:xfrm>
            <a:off x="2099965" y="4176724"/>
            <a:ext cx="1909466" cy="1"/>
          </a:xfrm>
          <a:prstGeom prst="line">
            <a:avLst/>
          </a:prstGeom>
          <a:ln>
            <a:solidFill>
              <a:srgbClr val="336699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54" name="Shape 4654"/>
          <p:cNvSpPr/>
          <p:nvPr/>
        </p:nvSpPr>
        <p:spPr>
          <a:xfrm>
            <a:off x="4506516" y="2569381"/>
            <a:ext cx="2200085" cy="1339454"/>
          </a:xfrm>
          <a:prstGeom prst="rect">
            <a:avLst/>
          </a:prstGeom>
          <a:ln>
            <a:solidFill/>
            <a:round/>
          </a:ln>
        </p:spPr>
        <p:txBody>
          <a:bodyPr lIns="38267" tIns="38268" rIns="38267" bIns="38268" anchor="ctr"/>
          <a:lstStyle/>
          <a:p>
            <a:pPr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pPr>
            <a:endParaRPr/>
          </a:p>
        </p:txBody>
      </p:sp>
      <p:sp>
        <p:nvSpPr>
          <p:cNvPr id="4655" name="Shape 4655"/>
          <p:cNvSpPr/>
          <p:nvPr/>
        </p:nvSpPr>
        <p:spPr>
          <a:xfrm>
            <a:off x="4836914" y="2585007"/>
            <a:ext cx="104870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OneOrder</a:t>
            </a:r>
          </a:p>
        </p:txBody>
      </p:sp>
      <p:sp>
        <p:nvSpPr>
          <p:cNvPr id="4656" name="Shape 4656"/>
          <p:cNvSpPr/>
          <p:nvPr/>
        </p:nvSpPr>
        <p:spPr>
          <a:xfrm>
            <a:off x="4506516" y="2967869"/>
            <a:ext cx="183898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sz="1700">
                <a:latin typeface="Symbol"/>
                <a:ea typeface="Symbol"/>
                <a:cs typeface="Symbol"/>
                <a:sym typeface="Symbol"/>
              </a:rPr>
              <a:t>−</a:t>
            </a:r>
            <a:r>
              <a:rPr sz="1700">
                <a:latin typeface="Arial"/>
                <a:ea typeface="Arial"/>
                <a:cs typeface="Arial"/>
                <a:sym typeface="Arial"/>
              </a:rPr>
              <a:t> quantity: Integer</a:t>
            </a:r>
          </a:p>
        </p:txBody>
      </p:sp>
      <p:sp>
        <p:nvSpPr>
          <p:cNvPr id="4657" name="Shape 4657"/>
          <p:cNvSpPr/>
          <p:nvPr/>
        </p:nvSpPr>
        <p:spPr>
          <a:xfrm>
            <a:off x="4438055" y="3559460"/>
            <a:ext cx="2015312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+ subtotal() : double</a:t>
            </a:r>
          </a:p>
        </p:txBody>
      </p:sp>
      <p:sp>
        <p:nvSpPr>
          <p:cNvPr id="4658" name="Shape 4658"/>
          <p:cNvSpPr/>
          <p:nvPr/>
        </p:nvSpPr>
        <p:spPr>
          <a:xfrm>
            <a:off x="4506516" y="2890849"/>
            <a:ext cx="2209014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59" name="Shape 4659"/>
          <p:cNvSpPr/>
          <p:nvPr/>
        </p:nvSpPr>
        <p:spPr>
          <a:xfrm>
            <a:off x="4506516" y="3480209"/>
            <a:ext cx="2200085" cy="1"/>
          </a:xfrm>
          <a:prstGeom prst="line">
            <a:avLst/>
          </a:prstGeom>
          <a:ln>
            <a:solidFill/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60" name="Shape 4660"/>
          <p:cNvSpPr/>
          <p:nvPr/>
        </p:nvSpPr>
        <p:spPr>
          <a:xfrm>
            <a:off x="3146226" y="2784586"/>
            <a:ext cx="1357313" cy="1"/>
          </a:xfrm>
          <a:prstGeom prst="line">
            <a:avLst/>
          </a:prstGeom>
          <a:ln>
            <a:solidFill>
              <a:srgbClr val="336699"/>
            </a:solidFill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61" name="Shape 4661"/>
          <p:cNvSpPr/>
          <p:nvPr/>
        </p:nvSpPr>
        <p:spPr>
          <a:xfrm>
            <a:off x="3152180" y="3067211"/>
            <a:ext cx="199110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1</a:t>
            </a:r>
          </a:p>
        </p:txBody>
      </p:sp>
      <p:sp>
        <p:nvSpPr>
          <p:cNvPr id="4662" name="Shape 4662"/>
          <p:cNvSpPr/>
          <p:nvPr/>
        </p:nvSpPr>
        <p:spPr>
          <a:xfrm>
            <a:off x="4045149" y="2773648"/>
            <a:ext cx="405898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1..*</a:t>
            </a:r>
          </a:p>
        </p:txBody>
      </p:sp>
      <p:sp>
        <p:nvSpPr>
          <p:cNvPr id="4663" name="Shape 4663"/>
          <p:cNvSpPr/>
          <p:nvPr/>
        </p:nvSpPr>
        <p:spPr>
          <a:xfrm>
            <a:off x="3146227" y="2783693"/>
            <a:ext cx="0" cy="482204"/>
          </a:xfrm>
          <a:prstGeom prst="line">
            <a:avLst/>
          </a:prstGeom>
          <a:ln>
            <a:solidFill>
              <a:srgbClr val="336699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64" name="Shape 4664"/>
          <p:cNvSpPr/>
          <p:nvPr/>
        </p:nvSpPr>
        <p:spPr>
          <a:xfrm>
            <a:off x="3617205" y="2561399"/>
            <a:ext cx="696041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solidFill>
                  <a:srgbClr val="336699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700"/>
              <a:t>orders</a:t>
            </a:r>
          </a:p>
        </p:txBody>
      </p:sp>
    </p:spTree>
    <p:extLst>
      <p:ext uri="{BB962C8B-B14F-4D97-AF65-F5344CB8AC3E}">
        <p14:creationId xmlns:p14="http://schemas.microsoft.com/office/powerpoint/2010/main" val="291309341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46" grpId="0" animBg="1" advAuto="0"/>
      <p:bldP spid="4647" grpId="0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6" name="Shape 466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667" name="Shape 46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668" name="Shape 466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Method definition</a:t>
            </a:r>
          </a:p>
          <a:p>
            <a:pPr lvl="1">
              <a:defRPr sz="1800"/>
            </a:pPr>
            <a:r>
              <a:rPr sz="2000"/>
              <a:t>Interaction diagram defines the </a:t>
            </a:r>
            <a:r>
              <a:rPr sz="2000" b="1"/>
              <a:t>getTotal()</a:t>
            </a:r>
            <a:r>
              <a:rPr sz="2000"/>
              <a:t> method</a:t>
            </a:r>
          </a:p>
        </p:txBody>
      </p:sp>
      <p:sp>
        <p:nvSpPr>
          <p:cNvPr id="4669" name="Shape 4669"/>
          <p:cNvSpPr/>
          <p:nvPr/>
        </p:nvSpPr>
        <p:spPr>
          <a:xfrm>
            <a:off x="3419617" y="2799462"/>
            <a:ext cx="1375714" cy="338894"/>
          </a:xfrm>
          <a:prstGeom prst="rect">
            <a:avLst/>
          </a:prstGeom>
          <a:ln w="12700">
            <a:solidFill>
              <a:srgbClr val="CC3300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 u="sng">
                <a:solidFill>
                  <a:srgbClr val="CC33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u="none">
                <a:solidFill>
                  <a:srgbClr val="000000"/>
                </a:solidFill>
              </a:defRPr>
            </a:pPr>
            <a:r>
              <a:rPr sz="1700"/>
              <a:t>:ListOfOrders</a:t>
            </a:r>
          </a:p>
        </p:txBody>
      </p:sp>
      <p:sp>
        <p:nvSpPr>
          <p:cNvPr id="4670" name="Shape 4670"/>
          <p:cNvSpPr/>
          <p:nvPr/>
        </p:nvSpPr>
        <p:spPr>
          <a:xfrm>
            <a:off x="8348804" y="2799462"/>
            <a:ext cx="1109615" cy="338894"/>
          </a:xfrm>
          <a:prstGeom prst="rect">
            <a:avLst/>
          </a:prstGeom>
          <a:ln w="12700">
            <a:solidFill>
              <a:srgbClr val="CC3300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 u="sng">
                <a:solidFill>
                  <a:srgbClr val="CC33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u="none">
                <a:solidFill>
                  <a:srgbClr val="000000"/>
                </a:solidFill>
              </a:defRPr>
            </a:pPr>
            <a:r>
              <a:rPr sz="1700"/>
              <a:t>:OneOrder</a:t>
            </a:r>
          </a:p>
        </p:txBody>
      </p:sp>
      <p:sp>
        <p:nvSpPr>
          <p:cNvPr id="4671" name="Shape 4671"/>
          <p:cNvSpPr/>
          <p:nvPr/>
        </p:nvSpPr>
        <p:spPr>
          <a:xfrm>
            <a:off x="8417265" y="4135567"/>
            <a:ext cx="963743" cy="338894"/>
          </a:xfrm>
          <a:prstGeom prst="rect">
            <a:avLst/>
          </a:prstGeom>
          <a:ln w="12700">
            <a:solidFill>
              <a:srgbClr val="CC3300"/>
            </a:solidFill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 u="sng">
                <a:solidFill>
                  <a:srgbClr val="CC3300"/>
                </a:solidFill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u="none">
                <a:solidFill>
                  <a:srgbClr val="000000"/>
                </a:solidFill>
              </a:defRPr>
            </a:pPr>
            <a:r>
              <a:rPr sz="1700"/>
              <a:t>:AirPlane</a:t>
            </a:r>
          </a:p>
        </p:txBody>
      </p:sp>
      <p:sp>
        <p:nvSpPr>
          <p:cNvPr id="4672" name="Shape 4672"/>
          <p:cNvSpPr/>
          <p:nvPr/>
        </p:nvSpPr>
        <p:spPr>
          <a:xfrm flipV="1">
            <a:off x="4916279" y="2938765"/>
            <a:ext cx="3443874" cy="1"/>
          </a:xfrm>
          <a:prstGeom prst="line">
            <a:avLst/>
          </a:prstGeom>
          <a:ln w="12700">
            <a:solidFill>
              <a:srgbClr val="CC3300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73" name="Shape 4673"/>
          <p:cNvSpPr/>
          <p:nvPr/>
        </p:nvSpPr>
        <p:spPr>
          <a:xfrm>
            <a:off x="8920305" y="3048378"/>
            <a:ext cx="1" cy="1071563"/>
          </a:xfrm>
          <a:prstGeom prst="line">
            <a:avLst/>
          </a:prstGeom>
          <a:ln w="12700">
            <a:solidFill>
              <a:srgbClr val="CC3300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74" name="Shape 4674"/>
          <p:cNvSpPr/>
          <p:nvPr/>
        </p:nvSpPr>
        <p:spPr>
          <a:xfrm>
            <a:off x="6229492" y="3000380"/>
            <a:ext cx="642938" cy="1"/>
          </a:xfrm>
          <a:prstGeom prst="line">
            <a:avLst/>
          </a:prstGeom>
          <a:ln w="12700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75" name="Shape 4675"/>
          <p:cNvSpPr/>
          <p:nvPr/>
        </p:nvSpPr>
        <p:spPr>
          <a:xfrm>
            <a:off x="1907524" y="3012659"/>
            <a:ext cx="642938" cy="1"/>
          </a:xfrm>
          <a:prstGeom prst="line">
            <a:avLst/>
          </a:prstGeom>
          <a:ln w="12700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76" name="Shape 4676"/>
          <p:cNvSpPr/>
          <p:nvPr/>
        </p:nvSpPr>
        <p:spPr>
          <a:xfrm>
            <a:off x="1705117" y="2937872"/>
            <a:ext cx="1706906" cy="1"/>
          </a:xfrm>
          <a:prstGeom prst="line">
            <a:avLst/>
          </a:prstGeom>
          <a:ln w="12700">
            <a:solidFill>
              <a:srgbClr val="CC3300"/>
            </a:solidFill>
            <a:miter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77" name="Shape 4677"/>
          <p:cNvSpPr/>
          <p:nvPr/>
        </p:nvSpPr>
        <p:spPr>
          <a:xfrm>
            <a:off x="9003648" y="3366497"/>
            <a:ext cx="1" cy="375048"/>
          </a:xfrm>
          <a:prstGeom prst="line">
            <a:avLst/>
          </a:prstGeom>
          <a:ln w="12700">
            <a:solidFill/>
            <a:miter/>
            <a:tailEnd type="triangle"/>
          </a:ln>
        </p:spPr>
        <p:txBody>
          <a:bodyPr lIns="38267" tIns="38268" rIns="38267" bIns="38268"/>
          <a:lstStyle/>
          <a:p>
            <a:pPr defTabSz="382676">
              <a:defRPr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4678" name="Shape 4678"/>
          <p:cNvSpPr/>
          <p:nvPr/>
        </p:nvSpPr>
        <p:spPr>
          <a:xfrm>
            <a:off x="1764648" y="2632030"/>
            <a:ext cx="1292229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1 : getTotal()</a:t>
            </a:r>
          </a:p>
        </p:txBody>
      </p:sp>
      <p:sp>
        <p:nvSpPr>
          <p:cNvPr id="4679" name="Shape 4679"/>
          <p:cNvSpPr/>
          <p:nvPr/>
        </p:nvSpPr>
        <p:spPr>
          <a:xfrm>
            <a:off x="5181742" y="2668866"/>
            <a:ext cx="2691780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2 : *[for each] getSubtotal()</a:t>
            </a:r>
          </a:p>
        </p:txBody>
      </p:sp>
      <p:sp>
        <p:nvSpPr>
          <p:cNvPr id="4680" name="Shape 4680"/>
          <p:cNvSpPr/>
          <p:nvPr/>
        </p:nvSpPr>
        <p:spPr>
          <a:xfrm>
            <a:off x="7461788" y="3435702"/>
            <a:ext cx="1327624" cy="338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8267" tIns="38268" rIns="38267" bIns="38268">
            <a:spAutoFit/>
          </a:bodyPr>
          <a:lstStyle>
            <a:lvl1pPr marL="0" marR="0">
              <a:defRPr sz="2000">
                <a:uFillTx/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/>
            </a:pPr>
            <a:r>
              <a:rPr sz="1700"/>
              <a:t>3 : getPrice()</a:t>
            </a:r>
          </a:p>
        </p:txBody>
      </p:sp>
      <p:grpSp>
        <p:nvGrpSpPr>
          <p:cNvPr id="4683" name="Group 4683"/>
          <p:cNvGrpSpPr/>
          <p:nvPr/>
        </p:nvGrpSpPr>
        <p:grpSpPr>
          <a:xfrm>
            <a:off x="1193334" y="3132802"/>
            <a:ext cx="2563785" cy="2133574"/>
            <a:chOff x="0" y="0"/>
            <a:chExt cx="2734702" cy="3034416"/>
          </a:xfrm>
        </p:grpSpPr>
        <p:sp>
          <p:nvSpPr>
            <p:cNvPr id="4681" name="Shape 4681"/>
            <p:cNvSpPr/>
            <p:nvPr/>
          </p:nvSpPr>
          <p:spPr>
            <a:xfrm>
              <a:off x="0" y="1414831"/>
              <a:ext cx="2734702" cy="1619585"/>
            </a:xfrm>
            <a:prstGeom prst="rect">
              <a:avLst/>
            </a:prstGeom>
            <a:noFill/>
            <a:ln w="12700" cap="flat">
              <a:solidFill>
                <a:srgbClr val="6600FF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public double getTotal()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	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</a:p>
          </p:txBody>
        </p:sp>
        <p:sp>
          <p:nvSpPr>
            <p:cNvPr id="4682" name="Shape 4682"/>
            <p:cNvSpPr/>
            <p:nvPr/>
          </p:nvSpPr>
          <p:spPr>
            <a:xfrm>
              <a:off x="1129225" y="0"/>
              <a:ext cx="533401" cy="12128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00"/>
                  </a:moveTo>
                  <a:lnTo>
                    <a:pt x="5400" y="162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00"/>
                  </a:lnTo>
                  <a:lnTo>
                    <a:pt x="21600" y="162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3B2C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grpSp>
        <p:nvGrpSpPr>
          <p:cNvPr id="4686" name="Group 4686"/>
          <p:cNvGrpSpPr/>
          <p:nvPr/>
        </p:nvGrpSpPr>
        <p:grpSpPr>
          <a:xfrm>
            <a:off x="3117090" y="3132802"/>
            <a:ext cx="3984131" cy="3161897"/>
            <a:chOff x="0" y="0"/>
            <a:chExt cx="4249738" cy="4496919"/>
          </a:xfrm>
        </p:grpSpPr>
        <p:sp>
          <p:nvSpPr>
            <p:cNvPr id="4684" name="Shape 4684"/>
            <p:cNvSpPr/>
            <p:nvPr/>
          </p:nvSpPr>
          <p:spPr>
            <a:xfrm>
              <a:off x="0" y="1389063"/>
              <a:ext cx="4249738" cy="3107856"/>
            </a:xfrm>
            <a:prstGeom prst="rect">
              <a:avLst/>
            </a:prstGeom>
            <a:noFill/>
            <a:ln w="12700" cap="flat">
              <a:solidFill>
                <a:srgbClr val="6600FF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public double getTotal()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double sum = 0;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  for (int i=0; i&lt;orders.size(); i++)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    sum += orders.elementAt(i).getSubtotal();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  return sum;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6600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</a:p>
          </p:txBody>
        </p:sp>
        <p:sp>
          <p:nvSpPr>
            <p:cNvPr id="4685" name="Shape 4685"/>
            <p:cNvSpPr/>
            <p:nvPr/>
          </p:nvSpPr>
          <p:spPr>
            <a:xfrm>
              <a:off x="3313112" y="0"/>
              <a:ext cx="533401" cy="12588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00"/>
                  </a:moveTo>
                  <a:lnTo>
                    <a:pt x="5400" y="162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00"/>
                  </a:lnTo>
                  <a:lnTo>
                    <a:pt x="21600" y="162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3B2C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grpSp>
        <p:nvGrpSpPr>
          <p:cNvPr id="4689" name="Group 4689"/>
          <p:cNvGrpSpPr/>
          <p:nvPr/>
        </p:nvGrpSpPr>
        <p:grpSpPr>
          <a:xfrm>
            <a:off x="1993237" y="3140118"/>
            <a:ext cx="5279995" cy="1138771"/>
            <a:chOff x="0" y="0"/>
            <a:chExt cx="5631994" cy="1619583"/>
          </a:xfrm>
        </p:grpSpPr>
        <p:sp>
          <p:nvSpPr>
            <p:cNvPr id="4687" name="Shape 4687"/>
            <p:cNvSpPr/>
            <p:nvPr/>
          </p:nvSpPr>
          <p:spPr>
            <a:xfrm>
              <a:off x="0" y="0"/>
              <a:ext cx="4584244" cy="1619583"/>
            </a:xfrm>
            <a:prstGeom prst="rect">
              <a:avLst/>
            </a:prstGeom>
            <a:noFill/>
            <a:ln w="12700" cap="flat">
              <a:solidFill>
                <a:srgbClr val="6600FF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public double getSubtotal()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  return (quantity * airPlane.getPrice());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</a:p>
          </p:txBody>
        </p:sp>
        <p:sp>
          <p:nvSpPr>
            <p:cNvPr id="4688" name="Shape 4688"/>
            <p:cNvSpPr/>
            <p:nvPr/>
          </p:nvSpPr>
          <p:spPr>
            <a:xfrm rot="5400000">
              <a:off x="4873962" y="169378"/>
              <a:ext cx="657226" cy="858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200"/>
                  </a:moveTo>
                  <a:lnTo>
                    <a:pt x="5400" y="162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6200"/>
                  </a:lnTo>
                  <a:lnTo>
                    <a:pt x="21600" y="162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A3B2C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  <p:grpSp>
        <p:nvGrpSpPr>
          <p:cNvPr id="4692" name="Group 4692"/>
          <p:cNvGrpSpPr/>
          <p:nvPr/>
        </p:nvGrpSpPr>
        <p:grpSpPr>
          <a:xfrm>
            <a:off x="3990203" y="3123163"/>
            <a:ext cx="3238501" cy="1138771"/>
            <a:chOff x="0" y="0"/>
            <a:chExt cx="3454400" cy="1619583"/>
          </a:xfrm>
        </p:grpSpPr>
        <p:sp>
          <p:nvSpPr>
            <p:cNvPr id="4690" name="Shape 4690"/>
            <p:cNvSpPr/>
            <p:nvPr/>
          </p:nvSpPr>
          <p:spPr>
            <a:xfrm>
              <a:off x="0" y="0"/>
              <a:ext cx="2667000" cy="1619583"/>
            </a:xfrm>
            <a:prstGeom prst="rect">
              <a:avLst/>
            </a:prstGeom>
            <a:noFill/>
            <a:ln w="12700" cap="flat">
              <a:solidFill>
                <a:srgbClr val="6600FF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public float getPrice()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  return price;</a:t>
              </a:r>
            </a:p>
            <a:p>
              <a:pPr>
                <a:defRPr sz="1800">
                  <a:uFillTx/>
                </a:defRPr>
              </a:pPr>
              <a:r>
                <a:rPr sz="1700">
                  <a:solidFill>
                    <a:srgbClr val="336699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</a:p>
          </p:txBody>
        </p:sp>
        <p:sp>
          <p:nvSpPr>
            <p:cNvPr id="4691" name="Shape 4691"/>
            <p:cNvSpPr/>
            <p:nvPr/>
          </p:nvSpPr>
          <p:spPr>
            <a:xfrm>
              <a:off x="2844800" y="365415"/>
              <a:ext cx="609600" cy="533401"/>
            </a:xfrm>
            <a:prstGeom prst="leftArrow">
              <a:avLst>
                <a:gd name="adj1" fmla="val 50000"/>
                <a:gd name="adj2" fmla="val 28571"/>
              </a:avLst>
            </a:prstGeom>
            <a:solidFill>
              <a:srgbClr val="A3B2C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5329830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3" grpId="0" animBg="1" advAuto="0"/>
      <p:bldP spid="4683" grpId="1" animBg="1" advAuto="0"/>
      <p:bldP spid="4686" grpId="0" animBg="1" advAuto="0"/>
      <p:bldP spid="4686" grpId="1" animBg="1" advAuto="0"/>
      <p:bldP spid="4689" grpId="0" animBg="1" advAuto="0"/>
      <p:bldP spid="4689" grpId="1" animBg="1" advAuto="0"/>
      <p:bldP spid="4692" grpId="0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4" name="Shape 4694"/>
          <p:cNvSpPr>
            <a:spLocks noGrp="1"/>
          </p:cNvSpPr>
          <p:nvPr>
            <p:ph type="sldNum" sz="quarter" idx="2"/>
          </p:nvPr>
        </p:nvSpPr>
        <p:spPr>
          <a:xfrm>
            <a:off x="11297176" y="7395461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695" name="Shape 469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696" name="Shape 469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Implementation order</a:t>
            </a:r>
          </a:p>
          <a:p>
            <a:pPr lvl="1">
              <a:defRPr sz="1800"/>
            </a:pPr>
            <a:r>
              <a:rPr sz="2000"/>
              <a:t>Class must be implemented from the least coupled/dependent to the most coupled/dependent</a:t>
            </a:r>
          </a:p>
        </p:txBody>
      </p:sp>
      <p:sp>
        <p:nvSpPr>
          <p:cNvPr id="4697" name="Shape 4697"/>
          <p:cNvSpPr/>
          <p:nvPr/>
        </p:nvSpPr>
        <p:spPr>
          <a:xfrm>
            <a:off x="1104357" y="2888944"/>
            <a:ext cx="2011413" cy="445416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Store</a:t>
            </a:r>
          </a:p>
        </p:txBody>
      </p:sp>
      <p:sp>
        <p:nvSpPr>
          <p:cNvPr id="4698" name="Shape 4698"/>
          <p:cNvSpPr/>
          <p:nvPr/>
        </p:nvSpPr>
        <p:spPr>
          <a:xfrm>
            <a:off x="5027837" y="2888944"/>
            <a:ext cx="2011414" cy="445416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ProductCatalog</a:t>
            </a:r>
          </a:p>
        </p:txBody>
      </p:sp>
      <p:sp>
        <p:nvSpPr>
          <p:cNvPr id="4699" name="Shape 4699"/>
          <p:cNvSpPr/>
          <p:nvPr/>
        </p:nvSpPr>
        <p:spPr>
          <a:xfrm>
            <a:off x="1104357" y="4514147"/>
            <a:ext cx="2011413" cy="445416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CashRegister</a:t>
            </a:r>
          </a:p>
        </p:txBody>
      </p:sp>
      <p:sp>
        <p:nvSpPr>
          <p:cNvPr id="4700" name="Shape 4700"/>
          <p:cNvSpPr/>
          <p:nvPr/>
        </p:nvSpPr>
        <p:spPr>
          <a:xfrm>
            <a:off x="4771482" y="5347586"/>
            <a:ext cx="2011413" cy="445415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Sale</a:t>
            </a:r>
          </a:p>
        </p:txBody>
      </p:sp>
      <p:sp>
        <p:nvSpPr>
          <p:cNvPr id="4701" name="Shape 4701"/>
          <p:cNvSpPr/>
          <p:nvPr/>
        </p:nvSpPr>
        <p:spPr>
          <a:xfrm>
            <a:off x="8950576" y="6139350"/>
            <a:ext cx="2011413" cy="445416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Payment</a:t>
            </a:r>
          </a:p>
        </p:txBody>
      </p:sp>
      <p:sp>
        <p:nvSpPr>
          <p:cNvPr id="4702" name="Shape 4702"/>
          <p:cNvSpPr/>
          <p:nvPr/>
        </p:nvSpPr>
        <p:spPr>
          <a:xfrm>
            <a:off x="8950576" y="4514147"/>
            <a:ext cx="2011413" cy="445416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LineItem</a:t>
            </a:r>
          </a:p>
        </p:txBody>
      </p:sp>
      <p:sp>
        <p:nvSpPr>
          <p:cNvPr id="4703" name="Shape 4703"/>
          <p:cNvSpPr/>
          <p:nvPr/>
        </p:nvSpPr>
        <p:spPr>
          <a:xfrm>
            <a:off x="8950576" y="2888944"/>
            <a:ext cx="2364260" cy="445416"/>
          </a:xfrm>
          <a:prstGeom prst="rect">
            <a:avLst/>
          </a:prstGeom>
          <a:ln w="1270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ProductDescription</a:t>
            </a:r>
          </a:p>
        </p:txBody>
      </p:sp>
      <p:sp>
        <p:nvSpPr>
          <p:cNvPr id="4704" name="Shape 4704"/>
          <p:cNvSpPr/>
          <p:nvPr/>
        </p:nvSpPr>
        <p:spPr>
          <a:xfrm>
            <a:off x="3129566" y="3111652"/>
            <a:ext cx="1886857" cy="1"/>
          </a:xfrm>
          <a:prstGeom prst="line">
            <a:avLst/>
          </a:pr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05" name="Shape 4705"/>
          <p:cNvSpPr/>
          <p:nvPr/>
        </p:nvSpPr>
        <p:spPr>
          <a:xfrm>
            <a:off x="7058628" y="3111652"/>
            <a:ext cx="1886857" cy="1"/>
          </a:xfrm>
          <a:prstGeom prst="line">
            <a:avLst/>
          </a:pr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06" name="Shape 4706"/>
          <p:cNvSpPr/>
          <p:nvPr/>
        </p:nvSpPr>
        <p:spPr>
          <a:xfrm flipH="1">
            <a:off x="2110063" y="3350393"/>
            <a:ext cx="1" cy="1149508"/>
          </a:xfrm>
          <a:prstGeom prst="line">
            <a:avLst/>
          </a:pr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07" name="Shape 4707"/>
          <p:cNvSpPr/>
          <p:nvPr/>
        </p:nvSpPr>
        <p:spPr>
          <a:xfrm>
            <a:off x="10132704" y="3350393"/>
            <a:ext cx="1" cy="1149508"/>
          </a:xfrm>
          <a:prstGeom prst="line">
            <a:avLst/>
          </a:prstGeom>
          <a:ln w="25400">
            <a:solidFill/>
            <a:round/>
            <a:head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08" name="Shape 4708"/>
          <p:cNvSpPr/>
          <p:nvPr/>
        </p:nvSpPr>
        <p:spPr>
          <a:xfrm>
            <a:off x="3117659" y="4806088"/>
            <a:ext cx="1630624" cy="761443"/>
          </a:xfrm>
          <a:prstGeom prst="line">
            <a:avLst/>
          </a:pr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09" name="Shape 4709"/>
          <p:cNvSpPr/>
          <p:nvPr/>
        </p:nvSpPr>
        <p:spPr>
          <a:xfrm flipV="1">
            <a:off x="6788779" y="4767391"/>
            <a:ext cx="2177939" cy="711401"/>
          </a:xfrm>
          <a:prstGeom prst="line">
            <a:avLst/>
          </a:pr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10" name="Shape 4710"/>
          <p:cNvSpPr/>
          <p:nvPr/>
        </p:nvSpPr>
        <p:spPr>
          <a:xfrm>
            <a:off x="6776872" y="5716916"/>
            <a:ext cx="2201525" cy="541953"/>
          </a:xfrm>
          <a:prstGeom prst="line">
            <a:avLst/>
          </a:pr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11" name="Shape 4711"/>
          <p:cNvSpPr/>
          <p:nvPr/>
        </p:nvSpPr>
        <p:spPr>
          <a:xfrm flipV="1">
            <a:off x="3117659" y="3370295"/>
            <a:ext cx="2368954" cy="1215529"/>
          </a:xfrm>
          <a:prstGeom prst="line">
            <a:avLst/>
          </a:pr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12" name="Shape 4712"/>
          <p:cNvSpPr/>
          <p:nvPr/>
        </p:nvSpPr>
        <p:spPr>
          <a:xfrm>
            <a:off x="564543" y="3140916"/>
            <a:ext cx="4185915" cy="25890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721" y="61"/>
                </a:moveTo>
                <a:lnTo>
                  <a:pt x="0" y="0"/>
                </a:lnTo>
                <a:lnTo>
                  <a:pt x="4" y="21514"/>
                </a:lnTo>
                <a:lnTo>
                  <a:pt x="21600" y="21600"/>
                </a:lnTo>
              </a:path>
            </a:pathLst>
          </a:cu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713" name="Shape 4713"/>
          <p:cNvSpPr/>
          <p:nvPr/>
        </p:nvSpPr>
        <p:spPr>
          <a:xfrm>
            <a:off x="4749722" y="2806724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714" name="Shape 4714"/>
          <p:cNvSpPr/>
          <p:nvPr/>
        </p:nvSpPr>
        <p:spPr>
          <a:xfrm>
            <a:off x="7040010" y="2806724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715" name="Shape 4715"/>
          <p:cNvSpPr/>
          <p:nvPr/>
        </p:nvSpPr>
        <p:spPr>
          <a:xfrm>
            <a:off x="8432721" y="3097792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716" name="Shape 4716"/>
          <p:cNvSpPr/>
          <p:nvPr/>
        </p:nvSpPr>
        <p:spPr>
          <a:xfrm>
            <a:off x="9824122" y="3288927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717" name="Shape 4717"/>
          <p:cNvSpPr/>
          <p:nvPr/>
        </p:nvSpPr>
        <p:spPr>
          <a:xfrm>
            <a:off x="8345409" y="4563116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718" name="Shape 4718"/>
          <p:cNvSpPr/>
          <p:nvPr/>
        </p:nvSpPr>
        <p:spPr>
          <a:xfrm>
            <a:off x="6757908" y="5673102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719" name="Shape 4719"/>
          <p:cNvSpPr/>
          <p:nvPr/>
        </p:nvSpPr>
        <p:spPr>
          <a:xfrm>
            <a:off x="8617920" y="6152599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720" name="Shape 4720"/>
          <p:cNvSpPr/>
          <p:nvPr/>
        </p:nvSpPr>
        <p:spPr>
          <a:xfrm>
            <a:off x="4436134" y="5210126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721" name="Shape 4721"/>
          <p:cNvSpPr/>
          <p:nvPr/>
        </p:nvSpPr>
        <p:spPr>
          <a:xfrm>
            <a:off x="4426251" y="5666641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722" name="Shape 4722"/>
          <p:cNvSpPr/>
          <p:nvPr/>
        </p:nvSpPr>
        <p:spPr>
          <a:xfrm>
            <a:off x="3090783" y="4806403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723" name="Shape 4723"/>
          <p:cNvSpPr/>
          <p:nvPr/>
        </p:nvSpPr>
        <p:spPr>
          <a:xfrm>
            <a:off x="2049341" y="3314225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724" name="Shape 4724"/>
          <p:cNvSpPr/>
          <p:nvPr/>
        </p:nvSpPr>
        <p:spPr>
          <a:xfrm>
            <a:off x="2045263" y="4102283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725" name="Shape 4725"/>
          <p:cNvSpPr/>
          <p:nvPr/>
        </p:nvSpPr>
        <p:spPr>
          <a:xfrm>
            <a:off x="10756356" y="5874866"/>
            <a:ext cx="655640" cy="363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2520" tIns="42520" rIns="42520" bIns="42520" anchor="ctr"/>
          <a:lstStyle>
            <a:lvl1pPr algn="ctr">
              <a:defRPr sz="24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1</a:t>
            </a:r>
          </a:p>
        </p:txBody>
      </p:sp>
      <p:sp>
        <p:nvSpPr>
          <p:cNvPr id="4726" name="Shape 4726"/>
          <p:cNvSpPr/>
          <p:nvPr/>
        </p:nvSpPr>
        <p:spPr>
          <a:xfrm>
            <a:off x="10751273" y="4301306"/>
            <a:ext cx="655640" cy="363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2520" tIns="42520" rIns="42520" bIns="42520" anchor="ctr"/>
          <a:lstStyle>
            <a:lvl1pPr algn="ctr">
              <a:defRPr sz="24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2</a:t>
            </a:r>
          </a:p>
        </p:txBody>
      </p:sp>
      <p:sp>
        <p:nvSpPr>
          <p:cNvPr id="4727" name="Shape 4727"/>
          <p:cNvSpPr/>
          <p:nvPr/>
        </p:nvSpPr>
        <p:spPr>
          <a:xfrm>
            <a:off x="11225593" y="2677297"/>
            <a:ext cx="655640" cy="363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2520" tIns="42520" rIns="42520" bIns="42520" anchor="ctr"/>
          <a:lstStyle>
            <a:lvl1pPr algn="ctr">
              <a:defRPr sz="24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3</a:t>
            </a:r>
          </a:p>
        </p:txBody>
      </p:sp>
      <p:sp>
        <p:nvSpPr>
          <p:cNvPr id="4728" name="Shape 4728"/>
          <p:cNvSpPr/>
          <p:nvPr/>
        </p:nvSpPr>
        <p:spPr>
          <a:xfrm>
            <a:off x="6386588" y="2558975"/>
            <a:ext cx="655639" cy="363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2520" tIns="42520" rIns="42520" bIns="42520" anchor="ctr"/>
          <a:lstStyle>
            <a:lvl1pPr algn="ctr">
              <a:defRPr sz="24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4</a:t>
            </a:r>
          </a:p>
        </p:txBody>
      </p:sp>
      <p:sp>
        <p:nvSpPr>
          <p:cNvPr id="4729" name="Shape 4729"/>
          <p:cNvSpPr/>
          <p:nvPr/>
        </p:nvSpPr>
        <p:spPr>
          <a:xfrm>
            <a:off x="6017669" y="5095007"/>
            <a:ext cx="655640" cy="363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2520" tIns="42520" rIns="42520" bIns="42520" anchor="ctr"/>
          <a:lstStyle>
            <a:lvl1pPr algn="ctr">
              <a:defRPr sz="24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5</a:t>
            </a:r>
          </a:p>
        </p:txBody>
      </p:sp>
      <p:sp>
        <p:nvSpPr>
          <p:cNvPr id="4730" name="Shape 4730"/>
          <p:cNvSpPr/>
          <p:nvPr/>
        </p:nvSpPr>
        <p:spPr>
          <a:xfrm>
            <a:off x="2556919" y="4249701"/>
            <a:ext cx="655640" cy="363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2520" tIns="42520" rIns="42520" bIns="42520" anchor="ctr"/>
          <a:lstStyle>
            <a:lvl1pPr algn="ctr">
              <a:defRPr sz="24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6</a:t>
            </a:r>
          </a:p>
        </p:txBody>
      </p:sp>
      <p:sp>
        <p:nvSpPr>
          <p:cNvPr id="4731" name="Shape 4731"/>
          <p:cNvSpPr/>
          <p:nvPr/>
        </p:nvSpPr>
        <p:spPr>
          <a:xfrm>
            <a:off x="2895124" y="2651495"/>
            <a:ext cx="655640" cy="3637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2520" tIns="42520" rIns="42520" bIns="42520" anchor="ctr"/>
          <a:lstStyle>
            <a:lvl1pPr algn="ctr">
              <a:defRPr sz="2400">
                <a:latin typeface="Gill Sans SemiBold"/>
                <a:ea typeface="Gill Sans SemiBold"/>
                <a:cs typeface="Gill Sans SemiBold"/>
                <a:sym typeface="Gill Sans SemiBold"/>
              </a:defRPr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4360927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Shape 473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734" name="Shape 473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From design to code</a:t>
            </a:r>
          </a:p>
        </p:txBody>
      </p:sp>
      <p:sp>
        <p:nvSpPr>
          <p:cNvPr id="4735" name="Shape 473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Several UML tools</a:t>
            </a:r>
          </a:p>
          <a:p>
            <a:pPr lvl="1">
              <a:defRPr sz="1800"/>
            </a:pPr>
            <a:r>
              <a:rPr sz="2000"/>
              <a:t>Rational Rose, Dia ULM, Piosedon for UML, Umbrello, Power Design, Dia, </a:t>
            </a:r>
            <a:r>
              <a:rPr sz="2000" b="1"/>
              <a:t>StarUML</a:t>
            </a:r>
            <a:endParaRPr sz="2000"/>
          </a:p>
          <a:p>
            <a:pPr lvl="2">
              <a:defRPr sz="1800"/>
            </a:pPr>
            <a:r>
              <a:t>Draw UML diagrams</a:t>
            </a:r>
          </a:p>
          <a:p>
            <a:pPr lvl="2">
              <a:defRPr sz="1800"/>
            </a:pPr>
            <a:r>
              <a:t>Automatically generate source code: Java, C++, C#, …</a:t>
            </a:r>
          </a:p>
          <a:p>
            <a:pPr lvl="2">
              <a:defRPr sz="1800"/>
            </a:pPr>
            <a:endParaRPr/>
          </a:p>
          <a:p>
            <a:pPr lvl="2">
              <a:defRPr sz="1800"/>
            </a:pPr>
            <a:endParaRPr/>
          </a:p>
          <a:p>
            <a:pPr lvl="0">
              <a:defRPr sz="1800"/>
            </a:pPr>
            <a:r>
              <a:rPr sz="2000"/>
              <a:t>Automatically source code generation</a:t>
            </a:r>
          </a:p>
          <a:p>
            <a:pPr lvl="1">
              <a:defRPr sz="1800"/>
            </a:pPr>
            <a:r>
              <a:rPr sz="2000"/>
              <a:t>Imperfect</a:t>
            </a:r>
          </a:p>
          <a:p>
            <a:pPr lvl="1">
              <a:defRPr sz="1800"/>
            </a:pPr>
            <a:r>
              <a:rPr sz="2000"/>
              <a:t>Only the skeleton</a:t>
            </a:r>
          </a:p>
        </p:txBody>
      </p:sp>
    </p:spTree>
    <p:extLst>
      <p:ext uri="{BB962C8B-B14F-4D97-AF65-F5344CB8AC3E}">
        <p14:creationId xmlns:p14="http://schemas.microsoft.com/office/powerpoint/2010/main" val="378668094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2172</TotalTime>
  <Words>1902</Words>
  <Application>Microsoft Office PowerPoint</Application>
  <PresentationFormat>Widescreen</PresentationFormat>
  <Paragraphs>497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7" baseType="lpstr">
      <vt:lpstr>Arial</vt:lpstr>
      <vt:lpstr>Calibri</vt:lpstr>
      <vt:lpstr>Calibri Light</vt:lpstr>
      <vt:lpstr>Gill Sans SemiBold</vt:lpstr>
      <vt:lpstr>Helvetica</vt:lpstr>
      <vt:lpstr>Symbol</vt:lpstr>
      <vt:lpstr>Tahoma</vt:lpstr>
      <vt:lpstr>Times New Roman</vt:lpstr>
      <vt:lpstr>Verdana</vt:lpstr>
      <vt:lpstr>Office Theme</vt:lpstr>
      <vt:lpstr>1_Office Theme</vt:lpstr>
      <vt:lpstr>SYSTEMS ANALYSIS AND DESIGN</vt:lpstr>
      <vt:lpstr>Implementation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Object-oriented programming</vt:lpstr>
      <vt:lpstr>Main Activities of Software Development</vt:lpstr>
      <vt:lpstr>From design to code</vt:lpstr>
      <vt:lpstr>From design to code</vt:lpstr>
      <vt:lpstr>From design to code</vt:lpstr>
      <vt:lpstr>From design to code</vt:lpstr>
      <vt:lpstr>From design to code</vt:lpstr>
      <vt:lpstr>From design to code</vt:lpstr>
      <vt:lpstr>From design to code</vt:lpstr>
      <vt:lpstr>From design to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</dc:title>
  <dc:creator>Toan Le</dc:creator>
  <cp:lastModifiedBy>TUAN NGUYEN</cp:lastModifiedBy>
  <cp:revision>98</cp:revision>
  <dcterms:created xsi:type="dcterms:W3CDTF">2020-05-27T05:21:30Z</dcterms:created>
  <dcterms:modified xsi:type="dcterms:W3CDTF">2021-11-16T02:56:19Z</dcterms:modified>
</cp:coreProperties>
</file>