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2C102-B8AE-4CC8-8DFD-907875E47A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06CCF0-B4C9-4910-B71B-BC5228E90B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BE8D5-EACC-475F-B772-4C6E30ECC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t>8/7/2021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7793E9-AE2F-44EA-9261-CDDE0A320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B453C0-1394-4470-9C6B-5680634C4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668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593C6-3D1B-460E-B901-F4BB8F0EF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3484" y="365126"/>
            <a:ext cx="9310315" cy="946840"/>
          </a:xfrm>
        </p:spPr>
        <p:txBody>
          <a:bodyPr/>
          <a:lstStyle>
            <a:lvl1pPr algn="ctr"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BE0FE-78F6-411B-A5F1-2D9DD895E4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1431235"/>
            <a:ext cx="11100021" cy="48661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87351A-05B1-4209-ABD5-8A3B58E66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t>8/7/2021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9372B3-9D16-415C-AFC6-5D4652E2A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C96612-9E2F-40CF-99EB-6E186AFA1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417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184B0-B474-49DB-90DF-EA5251578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1262062"/>
          </a:xfrm>
        </p:spPr>
        <p:txBody>
          <a:bodyPr anchor="b">
            <a:normAutofit/>
          </a:bodyPr>
          <a:lstStyle>
            <a:lvl1pPr>
              <a:defRPr sz="48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6464CF-570F-4361-9C22-BC3CA88D1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t>8/7/2021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8B62D1-8837-45F2-8787-A2B9AB185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E02877-DE60-4015-8FCF-892ACE36A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24"/>
          <p:cNvGrpSpPr/>
          <p:nvPr userDrawn="1"/>
        </p:nvGrpSpPr>
        <p:grpSpPr>
          <a:xfrm>
            <a:off x="790786" y="3023729"/>
            <a:ext cx="10588414" cy="139983"/>
            <a:chOff x="0" y="0"/>
            <a:chExt cx="11982027" cy="139982"/>
          </a:xfrm>
          <a:solidFill>
            <a:srgbClr val="FFC000"/>
          </a:solidFill>
        </p:grpSpPr>
        <p:sp>
          <p:nvSpPr>
            <p:cNvPr id="8" name="Shape 22"/>
            <p:cNvSpPr/>
            <p:nvPr/>
          </p:nvSpPr>
          <p:spPr>
            <a:xfrm>
              <a:off x="-1" y="0"/>
              <a:ext cx="7404894" cy="139983"/>
            </a:xfrm>
            <a:prstGeom prst="rect">
              <a:avLst/>
            </a:prstGeom>
            <a:grpFill/>
            <a:ln w="12700" cap="flat">
              <a:solidFill>
                <a:srgbClr val="FFC000"/>
              </a:solidFill>
              <a:miter lim="400000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marL="0" marR="0" lvl="0">
                <a:defRPr sz="2400">
                  <a:uFillTx/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endParaRPr/>
            </a:p>
          </p:txBody>
        </p:sp>
        <p:sp>
          <p:nvSpPr>
            <p:cNvPr id="9" name="Shape 23"/>
            <p:cNvSpPr/>
            <p:nvPr/>
          </p:nvSpPr>
          <p:spPr>
            <a:xfrm>
              <a:off x="0" y="0"/>
              <a:ext cx="11982027" cy="1"/>
            </a:xfrm>
            <a:prstGeom prst="line">
              <a:avLst/>
            </a:prstGeom>
            <a:grpFill/>
            <a:ln w="12700" cap="flat">
              <a:solidFill>
                <a:srgbClr val="FFC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marL="0" marR="0" lvl="0" defTabSz="457200">
                <a:defRPr sz="1600"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B9BE0FE-78F6-411B-A5F1-2D9DD895E4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0785" y="3492499"/>
            <a:ext cx="10588415" cy="28049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40619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8C28F-0E26-4450-B5E9-87FEB7BDC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839B7-197F-4E24-9034-3FAB490EBD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4A0A18-C706-495C-B58F-7AF0D336D6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573B90-884B-4A9F-A8FA-7F1E17F9D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t>8/7/2021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8F9F5E-BDB1-45F3-BCE2-76B6520C3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84A89C-CCFA-45DE-98FF-AD7815AB8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425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7480A-21EF-4CFF-9025-CCD9FA4E3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9536" y="365125"/>
            <a:ext cx="9295852" cy="95947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8E34F7-5664-4D9D-945D-F455A3DFE8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230B20-378D-4F09-8BF3-DEC4AF8599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6BB53C-6E2D-4274-9D7E-A670158CB3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67D38A-88C4-4F01-BFB9-D94E541EC2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9B471D-3ADB-4293-9A4B-67CF34A75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t>8/7/2021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774760-CCCB-42BA-9A1B-D8E7D8A94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3038AC-F431-4B77-9D3B-926E6AB69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086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AF7B9-53C0-4585-9B89-2FBA7B701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201745-3FA6-4569-A489-EF0EA162A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t>8/7/2021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BFEA74-BC5E-4B0B-835D-E657A873B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D1EE18-4D1C-4701-8BBA-0169DC7CC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841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9FDDA1-6ACB-4F4D-B161-8B6F56410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t>8/7/2021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317F60-55C3-4BB3-BDEB-861CA8251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E89CA0-249C-4A75-A3B7-DBDE4463B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270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4949C-EB4F-4ACF-8ADE-56A8C29C7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26C2B-8498-44CE-B005-71433DDBB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0CAAFC-D17E-4850-87AB-4B0A70BF44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0FB378-A528-4D34-A3DA-9AAD40376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t>8/7/2021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E1E530-6145-4EB0-B9A0-4C5FC5E73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277388-E30C-4DA3-B6CF-2F6706424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826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74CB1-3943-4F0E-9F85-C3E76CA81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3E7326-9859-4138-A3F6-5A4E1D605F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411D02-CB68-43D9-85FC-185924DA25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D51B13-BF22-4142-BD28-F2F7C6142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t>8/7/2021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197E58-C0D2-4770-BF0F-B8560F934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79F60B-0CBB-4728-801E-BBB606D2C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075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5D5A0-D36B-42D3-8503-A08848E90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9DE344-B2E6-4D08-8EFD-71DBF31471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4F3758-74C8-452E-83A6-2CC57BC5F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t>8/7/2021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0A3BFC-EC66-4779-8648-8C5557A28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1D2088-CE38-4639-9C50-5E8FE341B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187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6662CB-0803-47C7-B8F3-343BD63757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913163-7159-4A13-99D8-0BF55A0089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937CC0-663F-45FD-AF01-CB2762545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t>8/7/2021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24968-DE40-4BED-BFBB-FACFDD8CF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1762EC-6177-4132-ACB5-5C730475D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0246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‹#›</a:t>
            </a:fld>
            <a:endParaRPr/>
          </a:p>
        </p:txBody>
      </p:sp>
      <p:sp>
        <p:nvSpPr>
          <p:cNvPr id="12" name="Shape 1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200"/>
            </a:lvl1pPr>
          </a:lstStyle>
          <a:p>
            <a:pPr lvl="0">
              <a:defRPr sz="1800" b="0"/>
            </a:pPr>
            <a:r>
              <a:rPr sz="2700" b="1"/>
              <a:t>Title Text</a:t>
            </a:r>
          </a:p>
        </p:txBody>
      </p:sp>
      <p:sp>
        <p:nvSpPr>
          <p:cNvPr id="13" name="Shape 1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2pPr marL="992566" indent="-597932"/>
            <a:lvl3pPr marL="1328548" indent="-567180"/>
            <a:lvl4pPr marL="1677132" indent="-583581"/>
            <a:lvl5pPr marL="2086118" indent="-667026"/>
          </a:lstStyle>
          <a:p>
            <a:pPr lvl="0">
              <a:defRPr sz="1800"/>
            </a:pPr>
            <a:r>
              <a:rPr sz="2000"/>
              <a:t>Body Level One</a:t>
            </a:r>
          </a:p>
          <a:p>
            <a:pPr lvl="1">
              <a:defRPr sz="1800"/>
            </a:pPr>
            <a:r>
              <a:rPr sz="2000"/>
              <a:t>Body Level Two</a:t>
            </a:r>
          </a:p>
          <a:p>
            <a:pPr lvl="2">
              <a:defRPr sz="1800"/>
            </a:pPr>
            <a:r>
              <a:rPr sz="2000"/>
              <a:t>Body Level Three</a:t>
            </a:r>
          </a:p>
          <a:p>
            <a:pPr lvl="3">
              <a:defRPr sz="1800"/>
            </a:pPr>
            <a:r>
              <a:rPr sz="2000"/>
              <a:t>Body Level Four</a:t>
            </a:r>
          </a:p>
          <a:p>
            <a:pPr lvl="4">
              <a:defRPr sz="1800"/>
            </a:pPr>
            <a:r>
              <a:rPr sz="2000"/>
              <a:t>Body Level Five</a:t>
            </a:r>
          </a:p>
        </p:txBody>
      </p:sp>
    </p:spTree>
    <p:extLst>
      <p:ext uri="{BB962C8B-B14F-4D97-AF65-F5344CB8AC3E}">
        <p14:creationId xmlns:p14="http://schemas.microsoft.com/office/powerpoint/2010/main" val="4029594365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D6C713-6B5B-4652-B919-0C9C326BA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3484" y="365126"/>
            <a:ext cx="9310315" cy="93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03E2E6-5E74-4663-AD70-D00426D6A4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4543" y="1447137"/>
            <a:ext cx="10789257" cy="47298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927BD6-A005-4E4E-8C32-0E1B6CC0CD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050990" y="6520441"/>
            <a:ext cx="1530409" cy="3463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4A6D4B-7653-4E0B-8F57-D38CF83377BB}" type="datetimeFigureOut">
              <a:rPr lang="en-US" smtClean="0"/>
              <a:t>8/7/2021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2D051F-F1D7-4D05-9D06-0B2E7BC102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28987"/>
            <a:ext cx="4114800" cy="3292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1EC13-E05F-4BCF-8EC0-B2CDC67773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528987"/>
            <a:ext cx="2743200" cy="3292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B023F-0D85-424A-AD30-ACA224193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027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286FF-B124-458F-B57B-2B1D24945A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7200" b="1"/>
              <a:t>SYSTEMS</a:t>
            </a:r>
            <a:br>
              <a:rPr lang="en-US" sz="7200" b="1"/>
            </a:br>
            <a:r>
              <a:rPr lang="en-US" sz="7200" b="1"/>
              <a:t>ANALYSIS AND DESIGN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71ED79-E603-4351-A7EB-B158BDF0BA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3600" y="3856038"/>
            <a:ext cx="10477500" cy="1655762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vi-VN" b="1"/>
              <a:t>Nguy</a:t>
            </a:r>
            <a:r>
              <a:rPr lang="en-US" b="1"/>
              <a:t>e</a:t>
            </a:r>
            <a:r>
              <a:rPr lang="vi-VN" b="1"/>
              <a:t>n Thanh B</a:t>
            </a:r>
            <a:r>
              <a:rPr lang="en-US" b="1"/>
              <a:t>i</a:t>
            </a:r>
            <a:r>
              <a:rPr lang="vi-VN" b="1"/>
              <a:t>nh, Nguy</a:t>
            </a:r>
            <a:r>
              <a:rPr lang="en-US" b="1"/>
              <a:t>e</a:t>
            </a:r>
            <a:r>
              <a:rPr lang="vi-VN" b="1"/>
              <a:t>n Quang V</a:t>
            </a:r>
            <a:r>
              <a:rPr lang="en-US" b="1"/>
              <a:t>u</a:t>
            </a:r>
            <a:r>
              <a:rPr lang="vi-VN" b="1"/>
              <a:t>, L</a:t>
            </a:r>
            <a:r>
              <a:rPr lang="en-US" b="1"/>
              <a:t>e</a:t>
            </a:r>
            <a:r>
              <a:rPr lang="vi-VN" b="1"/>
              <a:t> Vi</a:t>
            </a:r>
            <a:r>
              <a:rPr lang="en-US" b="1"/>
              <a:t>e</a:t>
            </a:r>
            <a:r>
              <a:rPr lang="vi-VN" b="1"/>
              <a:t>t Tr</a:t>
            </a:r>
            <a:r>
              <a:rPr lang="en-US" b="1"/>
              <a:t>uo</a:t>
            </a:r>
            <a:r>
              <a:rPr lang="vi-VN" b="1"/>
              <a:t>ng, Nguy</a:t>
            </a:r>
            <a:r>
              <a:rPr lang="en-US" b="1"/>
              <a:t>e</a:t>
            </a:r>
            <a:r>
              <a:rPr lang="vi-VN" b="1"/>
              <a:t>n Th</a:t>
            </a:r>
            <a:r>
              <a:rPr lang="en-US" b="1"/>
              <a:t>i</a:t>
            </a:r>
            <a:r>
              <a:rPr lang="vi-VN" b="1"/>
              <a:t> H</a:t>
            </a:r>
            <a:r>
              <a:rPr lang="en-US" b="1"/>
              <a:t>a</a:t>
            </a:r>
            <a:r>
              <a:rPr lang="vi-VN" b="1"/>
              <a:t>nh, V</a:t>
            </a:r>
            <a:r>
              <a:rPr lang="en-US" b="1"/>
              <a:t>o</a:t>
            </a:r>
            <a:r>
              <a:rPr lang="vi-VN" b="1"/>
              <a:t> V</a:t>
            </a:r>
            <a:r>
              <a:rPr lang="en-US" b="1"/>
              <a:t>a</a:t>
            </a:r>
            <a:r>
              <a:rPr lang="vi-VN" b="1"/>
              <a:t>n L</a:t>
            </a:r>
            <a:r>
              <a:rPr lang="en-US" b="1"/>
              <a:t>uon</a:t>
            </a:r>
            <a:r>
              <a:rPr lang="vi-VN" b="1"/>
              <a:t>g</a:t>
            </a:r>
            <a:r>
              <a:rPr lang="en-US" b="1"/>
              <a:t>,</a:t>
            </a:r>
            <a:r>
              <a:rPr lang="vi-VN" b="1"/>
              <a:t> L</a:t>
            </a:r>
            <a:r>
              <a:rPr lang="en-US" b="1"/>
              <a:t>e</a:t>
            </a:r>
            <a:r>
              <a:rPr lang="vi-VN" b="1"/>
              <a:t> Th</a:t>
            </a:r>
            <a:r>
              <a:rPr lang="en-US" b="1"/>
              <a:t>i</a:t>
            </a:r>
            <a:r>
              <a:rPr lang="vi-VN" b="1"/>
              <a:t> B</a:t>
            </a:r>
            <a:r>
              <a:rPr lang="en-US" b="1"/>
              <a:t>i</a:t>
            </a:r>
            <a:r>
              <a:rPr lang="vi-VN" b="1"/>
              <a:t>ch Tra</a:t>
            </a:r>
            <a:endParaRPr lang="en-US" b="1"/>
          </a:p>
          <a:p>
            <a:pPr algn="l">
              <a:lnSpc>
                <a:spcPct val="100000"/>
              </a:lnSpc>
            </a:pPr>
            <a:r>
              <a:rPr lang="en-US" b="1"/>
              <a:t>Faculty of Computer Science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091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700" y="1265238"/>
            <a:ext cx="11430000" cy="1655761"/>
          </a:xfrm>
        </p:spPr>
        <p:txBody>
          <a:bodyPr>
            <a:normAutofit/>
          </a:bodyPr>
          <a:lstStyle/>
          <a:p>
            <a:r>
              <a:rPr lang="en-US" b="1" dirty="0"/>
              <a:t>Introduction to object-oriented </a:t>
            </a:r>
            <a:r>
              <a:rPr lang="en-US" dirty="0"/>
              <a:t>development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4294967295"/>
          </p:nvPr>
        </p:nvSpPr>
        <p:spPr>
          <a:xfrm>
            <a:off x="831850" y="3327400"/>
            <a:ext cx="10515600" cy="3174999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600">
                <a:solidFill>
                  <a:schemeClr val="tx1"/>
                </a:solidFill>
              </a:rPr>
              <a:t>Functional approach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600">
                <a:solidFill>
                  <a:schemeClr val="tx1"/>
                </a:solidFill>
              </a:rPr>
              <a:t>Object-oriented approach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600">
                <a:solidFill>
                  <a:schemeClr val="tx1"/>
                </a:solidFill>
              </a:rPr>
              <a:t>Object-oriented concepts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2200">
                <a:solidFill>
                  <a:schemeClr val="tx1"/>
                </a:solidFill>
              </a:rPr>
              <a:t>Objects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2200">
                <a:solidFill>
                  <a:schemeClr val="tx1"/>
                </a:solidFill>
              </a:rPr>
              <a:t>Classes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2200">
                <a:solidFill>
                  <a:schemeClr val="tx1"/>
                </a:solidFill>
              </a:rPr>
              <a:t>Encapsulation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2200">
                <a:solidFill>
                  <a:schemeClr val="tx1"/>
                </a:solidFill>
              </a:rPr>
              <a:t>Inheritance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2200">
                <a:solidFill>
                  <a:schemeClr val="tx1"/>
                </a:solidFill>
              </a:rPr>
              <a:t>Polymorphism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2200">
                <a:solidFill>
                  <a:schemeClr val="tx1"/>
                </a:solidFill>
              </a:rPr>
              <a:t>Abstraction</a:t>
            </a:r>
          </a:p>
          <a:p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8278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Functional/procedural approach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>
              <a:defRPr sz="1800"/>
            </a:pPr>
            <a:r>
              <a:rPr lang="en-US" sz="2400"/>
              <a:t>Based on specified functions of the system</a:t>
            </a:r>
          </a:p>
          <a:p>
            <a:pPr lvl="1">
              <a:defRPr sz="1800"/>
            </a:pPr>
            <a:r>
              <a:rPr lang="en-US"/>
              <a:t>A system consists of several functions</a:t>
            </a:r>
          </a:p>
          <a:p>
            <a:pPr lvl="0">
              <a:defRPr sz="1800"/>
            </a:pPr>
            <a:r>
              <a:rPr lang="en-US" sz="2400"/>
              <a:t>Decomposition of functions into sub-functions</a:t>
            </a:r>
          </a:p>
          <a:p>
            <a:pPr lvl="1">
              <a:defRPr sz="1800"/>
            </a:pPr>
            <a:r>
              <a:rPr lang="en-US"/>
              <a:t>A system consists of sub-systems</a:t>
            </a:r>
          </a:p>
          <a:p>
            <a:pPr lvl="1">
              <a:defRPr sz="1800"/>
            </a:pPr>
            <a:r>
              <a:rPr lang="en-US"/>
              <a:t>A sub-system is divided into smaller subsystems</a:t>
            </a:r>
          </a:p>
          <a:p>
            <a:pPr lvl="1">
              <a:defRPr sz="1800"/>
            </a:pPr>
            <a:endParaRPr lang="en-US"/>
          </a:p>
          <a:p>
            <a:pPr lvl="1">
              <a:defRPr sz="1800"/>
            </a:pPr>
            <a:endParaRPr lang="en-US"/>
          </a:p>
          <a:p>
            <a:pPr lvl="1">
              <a:defRPr sz="1800"/>
            </a:pPr>
            <a:endParaRPr lang="en-US"/>
          </a:p>
          <a:p>
            <a:pPr lvl="1">
              <a:defRPr sz="1800"/>
            </a:pPr>
            <a:endParaRPr lang="en-US"/>
          </a:p>
          <a:p>
            <a:pPr lvl="1">
              <a:defRPr sz="1800"/>
            </a:pPr>
            <a:endParaRPr lang="en-US"/>
          </a:p>
          <a:p>
            <a:pPr lvl="1">
              <a:defRPr sz="1800"/>
            </a:pPr>
            <a:endParaRPr lang="en-US"/>
          </a:p>
          <a:p>
            <a:pPr lvl="1">
              <a:defRPr sz="1800"/>
            </a:pPr>
            <a:endParaRPr lang="en-US"/>
          </a:p>
          <a:p>
            <a:pPr lvl="1">
              <a:defRPr sz="1800"/>
            </a:pPr>
            <a:endParaRPr lang="en-US"/>
          </a:p>
          <a:p>
            <a:pPr lvl="0">
              <a:defRPr sz="1800"/>
            </a:pPr>
            <a:endParaRPr lang="en-US" sz="2400"/>
          </a:p>
          <a:p>
            <a:pPr lvl="0">
              <a:defRPr sz="1800"/>
            </a:pPr>
            <a:endParaRPr lang="en-US" sz="2400"/>
          </a:p>
          <a:p>
            <a:pPr lvl="0">
              <a:defRPr sz="1800"/>
            </a:pPr>
            <a:endParaRPr lang="en-US" sz="2400"/>
          </a:p>
          <a:p>
            <a:pPr lvl="0">
              <a:defRPr sz="1800"/>
            </a:pPr>
            <a:r>
              <a:rPr lang="en-US" sz="2400"/>
              <a:t>Functions communicate using shared data or transfer of parameters</a:t>
            </a:r>
            <a:endParaRPr lang="vi-VN"/>
          </a:p>
        </p:txBody>
      </p:sp>
      <p:grpSp>
        <p:nvGrpSpPr>
          <p:cNvPr id="4" name="Group 78"/>
          <p:cNvGrpSpPr/>
          <p:nvPr/>
        </p:nvGrpSpPr>
        <p:grpSpPr>
          <a:xfrm>
            <a:off x="1257608" y="2713731"/>
            <a:ext cx="9401260" cy="3081867"/>
            <a:chOff x="0" y="0"/>
            <a:chExt cx="9401258" cy="3081866"/>
          </a:xfrm>
        </p:grpSpPr>
        <p:sp>
          <p:nvSpPr>
            <p:cNvPr id="5" name="Shape 65"/>
            <p:cNvSpPr/>
            <p:nvPr/>
          </p:nvSpPr>
          <p:spPr>
            <a:xfrm>
              <a:off x="4368800" y="0"/>
              <a:ext cx="1270000" cy="508000"/>
            </a:xfrm>
            <a:prstGeom prst="rect">
              <a:avLst/>
            </a:prstGeom>
            <a:solidFill>
              <a:srgbClr val="EBEBEB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ctr">
                <a:defRPr sz="2000"/>
              </a:lvl1pPr>
            </a:lstStyle>
            <a:p>
              <a:pPr lvl="0">
                <a:defRPr sz="1800">
                  <a:uFillTx/>
                </a:defRPr>
              </a:pPr>
              <a:r>
                <a:rPr sz="2000">
                  <a:uFill>
                    <a:solidFill/>
                  </a:uFill>
                </a:rPr>
                <a:t>System</a:t>
              </a:r>
            </a:p>
          </p:txBody>
        </p:sp>
        <p:sp>
          <p:nvSpPr>
            <p:cNvPr id="6" name="Shape 66"/>
            <p:cNvSpPr/>
            <p:nvPr/>
          </p:nvSpPr>
          <p:spPr>
            <a:xfrm>
              <a:off x="1549399" y="1176866"/>
              <a:ext cx="1555355" cy="508001"/>
            </a:xfrm>
            <a:prstGeom prst="rect">
              <a:avLst/>
            </a:prstGeom>
            <a:solidFill>
              <a:srgbClr val="EBEBEB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ctr">
                <a:defRPr sz="2000"/>
              </a:lvl1pPr>
            </a:lstStyle>
            <a:p>
              <a:pPr lvl="0">
                <a:defRPr sz="1800">
                  <a:uFillTx/>
                </a:defRPr>
              </a:pPr>
              <a:r>
                <a:rPr sz="2000">
                  <a:uFill>
                    <a:solidFill/>
                  </a:uFill>
                </a:rPr>
                <a:t>Function 1</a:t>
              </a:r>
            </a:p>
          </p:txBody>
        </p:sp>
        <p:sp>
          <p:nvSpPr>
            <p:cNvPr id="7" name="Shape 67"/>
            <p:cNvSpPr/>
            <p:nvPr/>
          </p:nvSpPr>
          <p:spPr>
            <a:xfrm>
              <a:off x="6570133" y="1176866"/>
              <a:ext cx="1555354" cy="508001"/>
            </a:xfrm>
            <a:prstGeom prst="rect">
              <a:avLst/>
            </a:prstGeom>
            <a:solidFill>
              <a:srgbClr val="EBEBEB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ctr">
                <a:defRPr sz="2000"/>
              </a:lvl1pPr>
            </a:lstStyle>
            <a:p>
              <a:pPr lvl="0">
                <a:defRPr sz="1800">
                  <a:uFillTx/>
                </a:defRPr>
              </a:pPr>
              <a:r>
                <a:rPr sz="2000">
                  <a:uFill>
                    <a:solidFill/>
                  </a:uFill>
                </a:rPr>
                <a:t>Function 2</a:t>
              </a:r>
            </a:p>
          </p:txBody>
        </p:sp>
        <p:sp>
          <p:nvSpPr>
            <p:cNvPr id="8" name="Shape 68"/>
            <p:cNvSpPr/>
            <p:nvPr/>
          </p:nvSpPr>
          <p:spPr>
            <a:xfrm>
              <a:off x="0" y="2573866"/>
              <a:ext cx="1555354" cy="508001"/>
            </a:xfrm>
            <a:prstGeom prst="rect">
              <a:avLst/>
            </a:prstGeom>
            <a:solidFill>
              <a:srgbClr val="EBEBEB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ctr">
                <a:defRPr sz="2000"/>
              </a:lvl1pPr>
            </a:lstStyle>
            <a:p>
              <a:pPr lvl="0">
                <a:defRPr sz="1800">
                  <a:uFillTx/>
                </a:defRPr>
              </a:pPr>
              <a:r>
                <a:rPr sz="2000">
                  <a:uFill>
                    <a:solidFill/>
                  </a:uFill>
                </a:rPr>
                <a:t>Function 1.1</a:t>
              </a:r>
            </a:p>
          </p:txBody>
        </p:sp>
        <p:sp>
          <p:nvSpPr>
            <p:cNvPr id="9" name="Shape 69"/>
            <p:cNvSpPr/>
            <p:nvPr/>
          </p:nvSpPr>
          <p:spPr>
            <a:xfrm>
              <a:off x="2921000" y="2573866"/>
              <a:ext cx="1555354" cy="508001"/>
            </a:xfrm>
            <a:prstGeom prst="rect">
              <a:avLst/>
            </a:prstGeom>
            <a:solidFill>
              <a:srgbClr val="EBEBEB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ctr">
                <a:defRPr sz="2000"/>
              </a:lvl1pPr>
            </a:lstStyle>
            <a:p>
              <a:pPr lvl="0">
                <a:defRPr sz="1800">
                  <a:uFillTx/>
                </a:defRPr>
              </a:pPr>
              <a:r>
                <a:rPr sz="2000">
                  <a:uFill>
                    <a:solidFill/>
                  </a:uFill>
                </a:rPr>
                <a:t>Function 1.2</a:t>
              </a:r>
            </a:p>
          </p:txBody>
        </p:sp>
        <p:sp>
          <p:nvSpPr>
            <p:cNvPr id="10" name="Shape 70"/>
            <p:cNvSpPr/>
            <p:nvPr/>
          </p:nvSpPr>
          <p:spPr>
            <a:xfrm>
              <a:off x="5145039" y="2573866"/>
              <a:ext cx="1555354" cy="508001"/>
            </a:xfrm>
            <a:prstGeom prst="rect">
              <a:avLst/>
            </a:prstGeom>
            <a:solidFill>
              <a:srgbClr val="EBEBEB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ctr">
                <a:defRPr sz="2000"/>
              </a:lvl1pPr>
            </a:lstStyle>
            <a:p>
              <a:pPr lvl="0">
                <a:defRPr sz="1800">
                  <a:uFillTx/>
                </a:defRPr>
              </a:pPr>
              <a:r>
                <a:rPr sz="2000">
                  <a:uFill>
                    <a:solidFill/>
                  </a:uFill>
                </a:rPr>
                <a:t>Function 2.1</a:t>
              </a:r>
            </a:p>
          </p:txBody>
        </p:sp>
        <p:sp>
          <p:nvSpPr>
            <p:cNvPr id="11" name="Shape 71"/>
            <p:cNvSpPr/>
            <p:nvPr/>
          </p:nvSpPr>
          <p:spPr>
            <a:xfrm>
              <a:off x="7845905" y="2573866"/>
              <a:ext cx="1555354" cy="508001"/>
            </a:xfrm>
            <a:prstGeom prst="rect">
              <a:avLst/>
            </a:prstGeom>
            <a:solidFill>
              <a:srgbClr val="EBEBEB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ctr">
                <a:defRPr sz="2000"/>
              </a:lvl1pPr>
            </a:lstStyle>
            <a:p>
              <a:pPr lvl="0">
                <a:defRPr sz="1800">
                  <a:uFillTx/>
                </a:defRPr>
              </a:pPr>
              <a:r>
                <a:rPr sz="2000">
                  <a:uFill>
                    <a:solidFill/>
                  </a:uFill>
                </a:rPr>
                <a:t>Function 2.2</a:t>
              </a:r>
            </a:p>
          </p:txBody>
        </p:sp>
        <p:sp>
          <p:nvSpPr>
            <p:cNvPr id="12" name="Shape 72"/>
            <p:cNvSpPr/>
            <p:nvPr/>
          </p:nvSpPr>
          <p:spPr>
            <a:xfrm flipH="1">
              <a:off x="3109862" y="506981"/>
              <a:ext cx="1569908" cy="801365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/>
              <a:endParaRPr/>
            </a:p>
          </p:txBody>
        </p:sp>
        <p:sp>
          <p:nvSpPr>
            <p:cNvPr id="13" name="Shape 73"/>
            <p:cNvSpPr/>
            <p:nvPr/>
          </p:nvSpPr>
          <p:spPr>
            <a:xfrm>
              <a:off x="5280984" y="501753"/>
              <a:ext cx="1288734" cy="801830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/>
              <a:endParaRPr/>
            </a:p>
          </p:txBody>
        </p:sp>
        <p:sp>
          <p:nvSpPr>
            <p:cNvPr id="14" name="Shape 74"/>
            <p:cNvSpPr/>
            <p:nvPr/>
          </p:nvSpPr>
          <p:spPr>
            <a:xfrm flipH="1">
              <a:off x="1186672" y="1681937"/>
              <a:ext cx="639496" cy="936525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/>
              <a:endParaRPr/>
            </a:p>
          </p:txBody>
        </p:sp>
        <p:sp>
          <p:nvSpPr>
            <p:cNvPr id="15" name="Shape 75"/>
            <p:cNvSpPr/>
            <p:nvPr/>
          </p:nvSpPr>
          <p:spPr>
            <a:xfrm>
              <a:off x="2688569" y="1681937"/>
              <a:ext cx="554570" cy="936287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/>
              <a:endParaRPr/>
            </a:p>
          </p:txBody>
        </p:sp>
        <p:sp>
          <p:nvSpPr>
            <p:cNvPr id="16" name="Shape 76"/>
            <p:cNvSpPr/>
            <p:nvPr/>
          </p:nvSpPr>
          <p:spPr>
            <a:xfrm>
              <a:off x="7895568" y="1681797"/>
              <a:ext cx="554571" cy="936287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/>
              <a:endParaRPr/>
            </a:p>
          </p:txBody>
        </p:sp>
        <p:sp>
          <p:nvSpPr>
            <p:cNvPr id="17" name="Shape 77"/>
            <p:cNvSpPr/>
            <p:nvPr/>
          </p:nvSpPr>
          <p:spPr>
            <a:xfrm flipH="1">
              <a:off x="6359665" y="1681797"/>
              <a:ext cx="477572" cy="899834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166132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80"/>
          <p:cNvSpPr>
            <a:spLocks noGrp="1"/>
          </p:cNvSpPr>
          <p:nvPr>
            <p:ph type="sldNum" sz="quarter" idx="2"/>
          </p:nvPr>
        </p:nvSpPr>
        <p:spPr>
          <a:xfrm>
            <a:off x="11692682" y="6548438"/>
            <a:ext cx="300352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4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81" name="Shape 8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Functional approach</a:t>
            </a:r>
          </a:p>
        </p:txBody>
      </p:sp>
      <p:sp>
        <p:nvSpPr>
          <p:cNvPr id="82" name="Shape 82"/>
          <p:cNvSpPr>
            <a:spLocks noGrp="1"/>
          </p:cNvSpPr>
          <p:nvPr>
            <p:ph type="body" idx="1"/>
          </p:nvPr>
        </p:nvSpPr>
        <p:spPr>
          <a:xfrm>
            <a:off x="564543" y="1447137"/>
            <a:ext cx="11094057" cy="4729826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Advantages</a:t>
            </a:r>
          </a:p>
          <a:p>
            <a:pPr lvl="1">
              <a:defRPr sz="1800"/>
            </a:pPr>
            <a:r>
              <a:rPr sz="2000"/>
              <a:t>Easy to apply</a:t>
            </a:r>
          </a:p>
          <a:p>
            <a:pPr lvl="1">
              <a:defRPr sz="1800"/>
            </a:pPr>
            <a:r>
              <a:rPr sz="2000"/>
              <a:t>Work well when data are simple</a:t>
            </a:r>
          </a:p>
          <a:p>
            <a:pPr lvl="1">
              <a:defRPr sz="1800"/>
            </a:pPr>
            <a:r>
              <a:rPr sz="2000"/>
              <a:t>Help to reduce complexity</a:t>
            </a:r>
          </a:p>
          <a:p>
            <a:pPr lvl="1">
              <a:defRPr sz="1800"/>
            </a:pPr>
            <a:r>
              <a:rPr sz="2000"/>
              <a:t>Obtain expected results</a:t>
            </a:r>
          </a:p>
          <a:p>
            <a:pPr lvl="0">
              <a:defRPr sz="1800"/>
            </a:pPr>
            <a:r>
              <a:rPr sz="2000"/>
              <a:t>Disadvantages</a:t>
            </a:r>
          </a:p>
          <a:p>
            <a:pPr lvl="1">
              <a:defRPr sz="1800"/>
            </a:pPr>
            <a:r>
              <a:rPr sz="2000"/>
              <a:t>Functions are separated from data</a:t>
            </a:r>
          </a:p>
          <a:p>
            <a:pPr lvl="1">
              <a:defRPr sz="1800"/>
            </a:pPr>
            <a:r>
              <a:rPr sz="2000"/>
              <a:t>Structure of the system is defined based on the functions, therefore a change of functions will cause difficulties in change of the structure</a:t>
            </a:r>
          </a:p>
          <a:p>
            <a:pPr lvl="1">
              <a:defRPr sz="1800"/>
            </a:pPr>
            <a:r>
              <a:rPr sz="2000"/>
              <a:t>The system is weakly open</a:t>
            </a:r>
          </a:p>
          <a:p>
            <a:pPr lvl="1">
              <a:defRPr sz="1800"/>
            </a:pPr>
            <a:r>
              <a:rPr sz="2000"/>
              <a:t>Difficult to re-use</a:t>
            </a:r>
          </a:p>
          <a:p>
            <a:pPr lvl="1">
              <a:defRPr sz="1800"/>
            </a:pPr>
            <a:r>
              <a:rPr sz="2000"/>
              <a:t>An significant maintenant cost</a:t>
            </a:r>
          </a:p>
        </p:txBody>
      </p:sp>
    </p:spTree>
    <p:extLst>
      <p:ext uri="{BB962C8B-B14F-4D97-AF65-F5344CB8AC3E}">
        <p14:creationId xmlns:p14="http://schemas.microsoft.com/office/powerpoint/2010/main" val="3604482955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The solution of a problem is organized around the concept of objects</a:t>
            </a:r>
          </a:p>
          <a:p>
            <a:pPr lvl="0">
              <a:defRPr sz="1800"/>
            </a:pPr>
            <a:r>
              <a:rPr sz="2000"/>
              <a:t>The object is an abstraction of data also containing functions</a:t>
            </a:r>
          </a:p>
          <a:p>
            <a:pPr lvl="0">
              <a:defRPr sz="1800"/>
            </a:pPr>
            <a:r>
              <a:rPr sz="2000"/>
              <a:t>A system consists of objects and relationships between them</a:t>
            </a:r>
          </a:p>
          <a:p>
            <a:pPr lvl="0">
              <a:defRPr sz="1800"/>
            </a:pPr>
            <a:r>
              <a:rPr sz="2000"/>
              <a:t>Objects communicated by exchanging messages to perform a task</a:t>
            </a:r>
          </a:p>
          <a:p>
            <a:pPr lvl="0">
              <a:defRPr sz="1800"/>
            </a:pPr>
            <a:r>
              <a:rPr sz="2000"/>
              <a:t>No global variables</a:t>
            </a:r>
          </a:p>
          <a:p>
            <a:pPr lvl="0">
              <a:defRPr sz="1800"/>
            </a:pPr>
            <a:r>
              <a:rPr sz="2000"/>
              <a:t>Encapsulation</a:t>
            </a:r>
          </a:p>
          <a:p>
            <a:pPr lvl="0">
              <a:defRPr sz="1800"/>
            </a:pPr>
            <a:r>
              <a:rPr sz="2000"/>
              <a:t>Inheritance</a:t>
            </a:r>
          </a:p>
        </p:txBody>
      </p:sp>
      <p:sp>
        <p:nvSpPr>
          <p:cNvPr id="85" name="Shape 85"/>
          <p:cNvSpPr>
            <a:spLocks noGrp="1"/>
          </p:cNvSpPr>
          <p:nvPr>
            <p:ph type="sldNum" sz="quarter" idx="2"/>
          </p:nvPr>
        </p:nvSpPr>
        <p:spPr>
          <a:xfrm>
            <a:off x="11692682" y="6548438"/>
            <a:ext cx="300352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5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86" name="Shape 8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Object-oriented approach</a:t>
            </a:r>
          </a:p>
        </p:txBody>
      </p:sp>
      <p:grpSp>
        <p:nvGrpSpPr>
          <p:cNvPr id="100" name="Group 100"/>
          <p:cNvGrpSpPr/>
          <p:nvPr/>
        </p:nvGrpSpPr>
        <p:grpSpPr>
          <a:xfrm>
            <a:off x="5546761" y="3577828"/>
            <a:ext cx="6078686" cy="2557219"/>
            <a:chOff x="0" y="0"/>
            <a:chExt cx="6483930" cy="3636933"/>
          </a:xfrm>
        </p:grpSpPr>
        <p:sp>
          <p:nvSpPr>
            <p:cNvPr id="87" name="Shape 87"/>
            <p:cNvSpPr/>
            <p:nvPr/>
          </p:nvSpPr>
          <p:spPr>
            <a:xfrm>
              <a:off x="0" y="0"/>
              <a:ext cx="6483931" cy="3636934"/>
            </a:xfrm>
            <a:prstGeom prst="rect">
              <a:avLst/>
            </a:prstGeom>
            <a:solidFill>
              <a:srgbClr val="EBEBEB"/>
            </a:solidFill>
            <a:ln w="63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lvl="0"/>
              <a:endParaRPr/>
            </a:p>
          </p:txBody>
        </p:sp>
        <p:grpSp>
          <p:nvGrpSpPr>
            <p:cNvPr id="98" name="Group 98"/>
            <p:cNvGrpSpPr/>
            <p:nvPr/>
          </p:nvGrpSpPr>
          <p:grpSpPr>
            <a:xfrm>
              <a:off x="529218" y="129366"/>
              <a:ext cx="5543037" cy="3378201"/>
              <a:chOff x="0" y="0"/>
              <a:chExt cx="5543035" cy="3378200"/>
            </a:xfrm>
          </p:grpSpPr>
          <p:sp>
            <p:nvSpPr>
              <p:cNvPr id="88" name="Shape 88"/>
              <p:cNvSpPr/>
              <p:nvPr/>
            </p:nvSpPr>
            <p:spPr>
              <a:xfrm>
                <a:off x="1809236" y="0"/>
                <a:ext cx="1270001" cy="508000"/>
              </a:xfrm>
              <a:prstGeom prst="rect">
                <a:avLst/>
              </a:prstGeom>
              <a:solidFill>
                <a:srgbClr val="EBEBEB"/>
              </a:solidFill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noAutofit/>
              </a:bodyPr>
              <a:lstStyle>
                <a:lvl1pPr algn="ctr">
                  <a:defRPr sz="2000"/>
                </a:lvl1pPr>
              </a:lstStyle>
              <a:p>
                <a:pPr lvl="0">
                  <a:defRPr sz="1800">
                    <a:uFillTx/>
                  </a:defRPr>
                </a:pPr>
                <a:r>
                  <a:rPr sz="1700">
                    <a:uFill>
                      <a:solidFill/>
                    </a:uFill>
                  </a:rPr>
                  <a:t>Object 2</a:t>
                </a:r>
              </a:p>
            </p:txBody>
          </p:sp>
          <p:sp>
            <p:nvSpPr>
              <p:cNvPr id="89" name="Shape 89"/>
              <p:cNvSpPr/>
              <p:nvPr/>
            </p:nvSpPr>
            <p:spPr>
              <a:xfrm>
                <a:off x="2596635" y="2870200"/>
                <a:ext cx="1270001" cy="508000"/>
              </a:xfrm>
              <a:prstGeom prst="rect">
                <a:avLst/>
              </a:prstGeom>
              <a:solidFill>
                <a:srgbClr val="EBEBEB"/>
              </a:solidFill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noAutofit/>
              </a:bodyPr>
              <a:lstStyle>
                <a:lvl1pPr algn="ctr">
                  <a:defRPr sz="2000"/>
                </a:lvl1pPr>
              </a:lstStyle>
              <a:p>
                <a:pPr lvl="0">
                  <a:defRPr sz="1800">
                    <a:uFillTx/>
                  </a:defRPr>
                </a:pPr>
                <a:r>
                  <a:rPr sz="1700">
                    <a:uFill>
                      <a:solidFill/>
                    </a:uFill>
                  </a:rPr>
                  <a:t>Object 4</a:t>
                </a:r>
              </a:p>
            </p:txBody>
          </p:sp>
          <p:sp>
            <p:nvSpPr>
              <p:cNvPr id="90" name="Shape 90"/>
              <p:cNvSpPr/>
              <p:nvPr/>
            </p:nvSpPr>
            <p:spPr>
              <a:xfrm>
                <a:off x="0" y="1388533"/>
                <a:ext cx="1270000" cy="508001"/>
              </a:xfrm>
              <a:prstGeom prst="rect">
                <a:avLst/>
              </a:prstGeom>
              <a:solidFill>
                <a:srgbClr val="EBEBEB"/>
              </a:solidFill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noAutofit/>
              </a:bodyPr>
              <a:lstStyle>
                <a:lvl1pPr algn="ctr">
                  <a:defRPr sz="2000"/>
                </a:lvl1pPr>
              </a:lstStyle>
              <a:p>
                <a:pPr lvl="0">
                  <a:defRPr sz="1800">
                    <a:uFillTx/>
                  </a:defRPr>
                </a:pPr>
                <a:r>
                  <a:rPr sz="1700">
                    <a:uFill>
                      <a:solidFill/>
                    </a:uFill>
                  </a:rPr>
                  <a:t>Object 1</a:t>
                </a:r>
              </a:p>
            </p:txBody>
          </p:sp>
          <p:sp>
            <p:nvSpPr>
              <p:cNvPr id="91" name="Shape 91"/>
              <p:cNvSpPr/>
              <p:nvPr/>
            </p:nvSpPr>
            <p:spPr>
              <a:xfrm>
                <a:off x="4273035" y="1143000"/>
                <a:ext cx="1270001" cy="508000"/>
              </a:xfrm>
              <a:prstGeom prst="rect">
                <a:avLst/>
              </a:prstGeom>
              <a:solidFill>
                <a:srgbClr val="EBEBEB"/>
              </a:solidFill>
              <a:ln w="19050" cap="flat">
                <a:solidFill>
                  <a:srgbClr val="000000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noAutofit/>
              </a:bodyPr>
              <a:lstStyle>
                <a:lvl1pPr algn="ctr">
                  <a:defRPr sz="2000"/>
                </a:lvl1pPr>
              </a:lstStyle>
              <a:p>
                <a:pPr lvl="0">
                  <a:defRPr sz="1800">
                    <a:uFillTx/>
                  </a:defRPr>
                </a:pPr>
                <a:r>
                  <a:rPr sz="1700">
                    <a:uFill>
                      <a:solidFill/>
                    </a:uFill>
                  </a:rPr>
                  <a:t>Object 3</a:t>
                </a:r>
              </a:p>
            </p:txBody>
          </p:sp>
          <p:sp>
            <p:nvSpPr>
              <p:cNvPr id="92" name="Shape 92"/>
              <p:cNvSpPr/>
              <p:nvPr/>
            </p:nvSpPr>
            <p:spPr>
              <a:xfrm>
                <a:off x="3063975" y="336399"/>
                <a:ext cx="1443155" cy="799426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/>
                <a:endParaRPr/>
              </a:p>
            </p:txBody>
          </p:sp>
          <p:sp>
            <p:nvSpPr>
              <p:cNvPr id="93" name="Shape 93"/>
              <p:cNvSpPr/>
              <p:nvPr/>
            </p:nvSpPr>
            <p:spPr>
              <a:xfrm flipV="1">
                <a:off x="1267851" y="1387347"/>
                <a:ext cx="2999367" cy="256090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/>
                <a:endParaRPr/>
              </a:p>
            </p:txBody>
          </p:sp>
          <p:sp>
            <p:nvSpPr>
              <p:cNvPr id="94" name="Shape 94"/>
              <p:cNvSpPr/>
              <p:nvPr/>
            </p:nvSpPr>
            <p:spPr>
              <a:xfrm>
                <a:off x="676374" y="1897259"/>
                <a:ext cx="1904192" cy="1310335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/>
                <a:endParaRPr/>
              </a:p>
            </p:txBody>
          </p:sp>
          <p:sp>
            <p:nvSpPr>
              <p:cNvPr id="95" name="Shape 95"/>
              <p:cNvSpPr/>
              <p:nvPr/>
            </p:nvSpPr>
            <p:spPr>
              <a:xfrm flipV="1">
                <a:off x="910188" y="555595"/>
                <a:ext cx="1085189" cy="802359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/>
                <a:endParaRPr/>
              </a:p>
            </p:txBody>
          </p:sp>
          <p:sp>
            <p:nvSpPr>
              <p:cNvPr id="96" name="Shape 96"/>
              <p:cNvSpPr/>
              <p:nvPr/>
            </p:nvSpPr>
            <p:spPr>
              <a:xfrm>
                <a:off x="2512366" y="536428"/>
                <a:ext cx="751402" cy="2291264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/>
                <a:endParaRPr/>
              </a:p>
            </p:txBody>
          </p:sp>
          <p:sp>
            <p:nvSpPr>
              <p:cNvPr id="97" name="Shape 97"/>
              <p:cNvSpPr/>
              <p:nvPr/>
            </p:nvSpPr>
            <p:spPr>
              <a:xfrm flipH="1">
                <a:off x="3873542" y="1644499"/>
                <a:ext cx="711027" cy="1555142"/>
              </a:xfrm>
              <a:prstGeom prst="line">
                <a:avLst/>
              </a:prstGeom>
              <a:noFill/>
              <a:ln w="1905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/>
                <a:endParaRPr/>
              </a:p>
            </p:txBody>
          </p:sp>
        </p:grpSp>
        <p:sp>
          <p:nvSpPr>
            <p:cNvPr id="99" name="Shape 99"/>
            <p:cNvSpPr/>
            <p:nvPr/>
          </p:nvSpPr>
          <p:spPr>
            <a:xfrm>
              <a:off x="8518" y="53166"/>
              <a:ext cx="976512" cy="508001"/>
            </a:xfrm>
            <a:prstGeom prst="rect">
              <a:avLst/>
            </a:prstGeom>
            <a:solidFill>
              <a:srgbClr val="EBEBEB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ctr">
                <a:defRPr sz="2000"/>
              </a:lvl1pPr>
            </a:lstStyle>
            <a:p>
              <a:pPr lvl="0">
                <a:defRPr sz="1800">
                  <a:uFillTx/>
                </a:defRPr>
              </a:pPr>
              <a:r>
                <a:rPr sz="1700">
                  <a:uFill>
                    <a:solidFill/>
                  </a:uFill>
                </a:rPr>
                <a:t>System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84780998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>
            <a:spLocks noGrp="1"/>
          </p:cNvSpPr>
          <p:nvPr>
            <p:ph type="sldNum" sz="quarter" idx="2"/>
          </p:nvPr>
        </p:nvSpPr>
        <p:spPr>
          <a:xfrm>
            <a:off x="11692682" y="6548438"/>
            <a:ext cx="300352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6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103" name="Shape 10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Object-oriented approach</a:t>
            </a:r>
          </a:p>
        </p:txBody>
      </p:sp>
      <p:sp>
        <p:nvSpPr>
          <p:cNvPr id="104" name="Shape 104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Advantages</a:t>
            </a:r>
          </a:p>
          <a:p>
            <a:pPr lvl="1">
              <a:defRPr sz="1800"/>
            </a:pPr>
            <a:r>
              <a:rPr sz="2000"/>
              <a:t>Very close to the real world</a:t>
            </a:r>
          </a:p>
          <a:p>
            <a:pPr lvl="1">
              <a:defRPr sz="1800"/>
            </a:pPr>
            <a:r>
              <a:rPr sz="2000"/>
              <a:t>Easy to reuse</a:t>
            </a:r>
          </a:p>
          <a:p>
            <a:pPr lvl="1">
              <a:defRPr sz="1800"/>
            </a:pPr>
            <a:r>
              <a:rPr sz="2000"/>
              <a:t>Hide information (encapsulation)</a:t>
            </a:r>
          </a:p>
          <a:p>
            <a:pPr lvl="1">
              <a:defRPr sz="1800"/>
            </a:pPr>
            <a:r>
              <a:rPr sz="2000"/>
              <a:t>Lower development cost (inheritance)</a:t>
            </a:r>
          </a:p>
          <a:p>
            <a:pPr lvl="1">
              <a:defRPr sz="1800"/>
            </a:pPr>
            <a:r>
              <a:rPr sz="2000"/>
              <a:t>Suitable for complex systems</a:t>
            </a:r>
          </a:p>
          <a:p>
            <a:pPr lvl="1">
              <a:defRPr sz="1800"/>
            </a:pPr>
            <a:endParaRPr sz="2000"/>
          </a:p>
          <a:p>
            <a:pPr lvl="0">
              <a:defRPr sz="1800"/>
            </a:pPr>
            <a:r>
              <a:rPr sz="2000"/>
              <a:t>Functional approach v.s. object-oriented approach</a:t>
            </a:r>
          </a:p>
          <a:p>
            <a:pPr lvl="1">
              <a:defRPr sz="1800"/>
            </a:pPr>
            <a:r>
              <a:rPr sz="2000"/>
              <a:t>Functional approach</a:t>
            </a:r>
          </a:p>
          <a:p>
            <a:pPr lvl="2">
              <a:defRPr sz="1800"/>
            </a:pPr>
            <a:r>
              <a:t>System = algorithms + data structures</a:t>
            </a:r>
          </a:p>
          <a:p>
            <a:pPr lvl="1">
              <a:defRPr sz="1800"/>
            </a:pPr>
            <a:r>
              <a:rPr sz="2000"/>
              <a:t>Object-oriented approaches</a:t>
            </a:r>
          </a:p>
          <a:p>
            <a:pPr lvl="2">
              <a:defRPr sz="1800"/>
            </a:pPr>
            <a:r>
              <a:t>System = Σ objects</a:t>
            </a:r>
          </a:p>
          <a:p>
            <a:pPr lvl="2">
              <a:defRPr sz="1800"/>
            </a:pPr>
            <a:r>
              <a:t>Object = algorithms + data structures</a:t>
            </a:r>
          </a:p>
        </p:txBody>
      </p:sp>
    </p:spTree>
    <p:extLst>
      <p:ext uri="{BB962C8B-B14F-4D97-AF65-F5344CB8AC3E}">
        <p14:creationId xmlns:p14="http://schemas.microsoft.com/office/powerpoint/2010/main" val="610295315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106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Object is the concept describing an entity in the real world</a:t>
            </a:r>
          </a:p>
          <a:p>
            <a:pPr lvl="0">
              <a:defRPr sz="1800"/>
            </a:pPr>
            <a:r>
              <a:rPr sz="2000"/>
              <a:t>There are relationships between the objects</a:t>
            </a:r>
          </a:p>
          <a:p>
            <a:pPr lvl="0">
              <a:defRPr sz="1800"/>
            </a:pPr>
            <a:r>
              <a:rPr sz="2000"/>
              <a:t>Example</a:t>
            </a:r>
          </a:p>
          <a:p>
            <a:pPr lvl="1">
              <a:defRPr sz="1800"/>
            </a:pPr>
            <a:r>
              <a:rPr sz="2000"/>
              <a:t>The Student “Micheal” is an object</a:t>
            </a:r>
          </a:p>
          <a:p>
            <a:pPr lvl="1">
              <a:defRPr sz="1800"/>
            </a:pPr>
            <a:r>
              <a:rPr sz="2000"/>
              <a:t>The Student can’t be an object !</a:t>
            </a:r>
          </a:p>
          <a:p>
            <a:pPr lvl="0">
              <a:defRPr sz="1800"/>
            </a:pPr>
            <a:r>
              <a:rPr sz="2000"/>
              <a:t>Object = state + </a:t>
            </a:r>
            <a:r>
              <a:rPr lang="en-US" sz="2000"/>
              <a:t>behavior</a:t>
            </a:r>
            <a:r>
              <a:rPr sz="2000"/>
              <a:t> + identity</a:t>
            </a:r>
          </a:p>
          <a:p>
            <a:pPr lvl="1">
              <a:defRPr sz="1800"/>
            </a:pPr>
            <a:r>
              <a:rPr sz="2000"/>
              <a:t>State (data) describes the characteristics of an object at a given time, and is saved in the variables</a:t>
            </a:r>
          </a:p>
          <a:p>
            <a:pPr lvl="1">
              <a:defRPr sz="1800"/>
            </a:pPr>
            <a:r>
              <a:rPr sz="2000"/>
              <a:t>The </a:t>
            </a:r>
            <a:r>
              <a:rPr lang="en-US" sz="2000"/>
              <a:t>behavior</a:t>
            </a:r>
            <a:r>
              <a:rPr sz="2000"/>
              <a:t> is expressed by the functions of the object</a:t>
            </a:r>
          </a:p>
          <a:p>
            <a:pPr lvl="1">
              <a:defRPr sz="1800"/>
            </a:pPr>
            <a:r>
              <a:rPr sz="2000"/>
              <a:t>Each object has a unique identity</a:t>
            </a:r>
          </a:p>
          <a:p>
            <a:pPr lvl="0">
              <a:defRPr sz="1800"/>
            </a:pPr>
            <a:r>
              <a:rPr sz="2000"/>
              <a:t>Example</a:t>
            </a:r>
          </a:p>
        </p:txBody>
      </p:sp>
      <p:sp>
        <p:nvSpPr>
          <p:cNvPr id="107" name="Shape 107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7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108" name="Shape 10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Objects</a:t>
            </a:r>
          </a:p>
        </p:txBody>
      </p:sp>
      <p:sp>
        <p:nvSpPr>
          <p:cNvPr id="109" name="Shape 109"/>
          <p:cNvSpPr/>
          <p:nvPr/>
        </p:nvSpPr>
        <p:spPr>
          <a:xfrm>
            <a:off x="5293330" y="4815152"/>
            <a:ext cx="2092524" cy="1677722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267" tIns="38268" rIns="38267" bIns="38268">
            <a:spAutoFit/>
          </a:bodyPr>
          <a:lstStyle/>
          <a:p>
            <a:pPr algn="ctr">
              <a:defRPr sz="1800">
                <a:uFillTx/>
              </a:defRPr>
            </a:pPr>
            <a:r>
              <a:rPr sz="1700" u="sng">
                <a:latin typeface="Verdana"/>
                <a:ea typeface="Verdana"/>
                <a:cs typeface="Verdana"/>
                <a:sym typeface="Verdana"/>
              </a:rPr>
              <a:t>aRectangle</a:t>
            </a:r>
            <a:endParaRPr u="sng">
              <a:latin typeface="Verdana"/>
              <a:ea typeface="Verdana"/>
              <a:cs typeface="Verdana"/>
              <a:sym typeface="Verdana"/>
            </a:endParaRPr>
          </a:p>
          <a:p>
            <a:pPr>
              <a:defRPr sz="1800">
                <a:uFillTx/>
              </a:defRPr>
            </a:pPr>
            <a:r>
              <a:rPr sz="1700">
                <a:latin typeface="Verdana"/>
                <a:ea typeface="Verdana"/>
                <a:cs typeface="Verdana"/>
                <a:sym typeface="Verdana"/>
              </a:rPr>
              <a:t>length = 2</a:t>
            </a:r>
          </a:p>
          <a:p>
            <a:pPr>
              <a:defRPr sz="1800">
                <a:uFillTx/>
              </a:defRPr>
            </a:pPr>
            <a:r>
              <a:rPr sz="1700">
                <a:latin typeface="Verdana"/>
                <a:ea typeface="Verdana"/>
                <a:cs typeface="Verdana"/>
                <a:sym typeface="Verdana"/>
              </a:rPr>
              <a:t>width = 4</a:t>
            </a:r>
          </a:p>
          <a:p>
            <a:pPr>
              <a:defRPr sz="1800">
                <a:uFillTx/>
              </a:defRPr>
            </a:pPr>
            <a:r>
              <a:rPr sz="1700">
                <a:latin typeface="Verdana"/>
                <a:ea typeface="Verdana"/>
                <a:cs typeface="Verdana"/>
                <a:sym typeface="Verdana"/>
              </a:rPr>
              <a:t>origin = aPoint</a:t>
            </a:r>
          </a:p>
          <a:p>
            <a:pPr>
              <a:defRPr sz="1800">
                <a:uFillTx/>
              </a:defRPr>
            </a:pPr>
            <a:endParaRPr>
              <a:latin typeface="Verdana"/>
              <a:ea typeface="Verdana"/>
              <a:cs typeface="Verdana"/>
              <a:sym typeface="Verdana"/>
            </a:endParaRP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area()</a:t>
            </a:r>
          </a:p>
        </p:txBody>
      </p:sp>
      <p:sp>
        <p:nvSpPr>
          <p:cNvPr id="110" name="Shape 110"/>
          <p:cNvSpPr/>
          <p:nvPr/>
        </p:nvSpPr>
        <p:spPr>
          <a:xfrm>
            <a:off x="5127129" y="5260206"/>
            <a:ext cx="2092524" cy="1"/>
          </a:xfrm>
          <a:prstGeom prst="line">
            <a:avLst/>
          </a:prstGeom>
          <a:ln>
            <a:solidFill/>
            <a:round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11" name="Shape 111"/>
          <p:cNvSpPr/>
          <p:nvPr/>
        </p:nvSpPr>
        <p:spPr>
          <a:xfrm>
            <a:off x="7557493" y="4860726"/>
            <a:ext cx="1957090" cy="1185279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267" tIns="38268" rIns="38267" bIns="38268">
            <a:spAutoFit/>
          </a:bodyPr>
          <a:lstStyle/>
          <a:p>
            <a:pPr algn="ctr">
              <a:defRPr sz="1800">
                <a:uFillTx/>
              </a:defRPr>
            </a:pPr>
            <a:r>
              <a:rPr u="sng">
                <a:latin typeface="Verdana"/>
                <a:ea typeface="Verdana"/>
                <a:cs typeface="Verdana"/>
                <a:sym typeface="Verdana"/>
              </a:rPr>
              <a:t>aPoint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x = 0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y = 0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move()</a:t>
            </a:r>
          </a:p>
        </p:txBody>
      </p:sp>
      <p:sp>
        <p:nvSpPr>
          <p:cNvPr id="112" name="Shape 112"/>
          <p:cNvSpPr/>
          <p:nvPr/>
        </p:nvSpPr>
        <p:spPr>
          <a:xfrm>
            <a:off x="7557493" y="5201890"/>
            <a:ext cx="1957090" cy="1"/>
          </a:xfrm>
          <a:prstGeom prst="line">
            <a:avLst/>
          </a:prstGeom>
          <a:ln>
            <a:solidFill/>
            <a:round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13" name="Shape 113"/>
          <p:cNvSpPr/>
          <p:nvPr/>
        </p:nvSpPr>
        <p:spPr>
          <a:xfrm>
            <a:off x="7557493" y="5715521"/>
            <a:ext cx="1957090" cy="1"/>
          </a:xfrm>
          <a:prstGeom prst="line">
            <a:avLst/>
          </a:prstGeom>
          <a:ln>
            <a:solidFill/>
            <a:round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grpSp>
        <p:nvGrpSpPr>
          <p:cNvPr id="116" name="Group 116"/>
          <p:cNvGrpSpPr/>
          <p:nvPr/>
        </p:nvGrpSpPr>
        <p:grpSpPr>
          <a:xfrm>
            <a:off x="9716988" y="5260654"/>
            <a:ext cx="1485306" cy="353840"/>
            <a:chOff x="0" y="0"/>
            <a:chExt cx="1584325" cy="503238"/>
          </a:xfrm>
        </p:grpSpPr>
        <p:sp>
          <p:nvSpPr>
            <p:cNvPr id="114" name="Shape 114"/>
            <p:cNvSpPr/>
            <p:nvPr/>
          </p:nvSpPr>
          <p:spPr>
            <a:xfrm>
              <a:off x="0" y="0"/>
              <a:ext cx="1584325" cy="503238"/>
            </a:xfrm>
            <a:prstGeom prst="leftArrow">
              <a:avLst>
                <a:gd name="adj1" fmla="val 50000"/>
                <a:gd name="adj2" fmla="val 78707"/>
              </a:avLst>
            </a:prstGeom>
            <a:solidFill>
              <a:srgbClr val="C0C0C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600">
                  <a:solidFill>
                    <a:srgbClr val="CC0000"/>
                  </a:solidFill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115" name="Shape 115"/>
            <p:cNvSpPr/>
            <p:nvPr/>
          </p:nvSpPr>
          <p:spPr>
            <a:xfrm>
              <a:off x="619657" y="43701"/>
              <a:ext cx="543052" cy="4158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>
              <a:lvl1pPr marL="0" marR="0" algn="ctr">
                <a:defRPr sz="1600">
                  <a:solidFill>
                    <a:srgbClr val="CC0000"/>
                  </a:solidFill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1300"/>
                <a:t>state</a:t>
              </a:r>
            </a:p>
          </p:txBody>
        </p:sp>
      </p:grpSp>
      <p:grpSp>
        <p:nvGrpSpPr>
          <p:cNvPr id="119" name="Group 119"/>
          <p:cNvGrpSpPr/>
          <p:nvPr/>
        </p:nvGrpSpPr>
        <p:grpSpPr>
          <a:xfrm>
            <a:off x="9716988" y="5717332"/>
            <a:ext cx="1485306" cy="353840"/>
            <a:chOff x="0" y="0"/>
            <a:chExt cx="1584325" cy="503238"/>
          </a:xfrm>
        </p:grpSpPr>
        <p:sp>
          <p:nvSpPr>
            <p:cNvPr id="117" name="Shape 117"/>
            <p:cNvSpPr/>
            <p:nvPr/>
          </p:nvSpPr>
          <p:spPr>
            <a:xfrm>
              <a:off x="0" y="0"/>
              <a:ext cx="1584325" cy="503238"/>
            </a:xfrm>
            <a:prstGeom prst="leftArrow">
              <a:avLst>
                <a:gd name="adj1" fmla="val 50000"/>
                <a:gd name="adj2" fmla="val 78707"/>
              </a:avLst>
            </a:prstGeom>
            <a:solidFill>
              <a:srgbClr val="C0C0C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600">
                  <a:solidFill>
                    <a:srgbClr val="CC0000"/>
                  </a:solidFill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118" name="Shape 118"/>
            <p:cNvSpPr/>
            <p:nvPr/>
          </p:nvSpPr>
          <p:spPr>
            <a:xfrm>
              <a:off x="455338" y="43701"/>
              <a:ext cx="871688" cy="4158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>
              <a:lvl1pPr marL="0" marR="0" algn="ctr">
                <a:defRPr sz="1600">
                  <a:solidFill>
                    <a:srgbClr val="CC0000"/>
                  </a:solidFill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lang="en-US" sz="1300"/>
                <a:t>behavior</a:t>
              </a:r>
              <a:endParaRPr sz="1300"/>
            </a:p>
          </p:txBody>
        </p:sp>
      </p:grpSp>
      <p:sp>
        <p:nvSpPr>
          <p:cNvPr id="120" name="Shape 120"/>
          <p:cNvSpPr/>
          <p:nvPr/>
        </p:nvSpPr>
        <p:spPr>
          <a:xfrm>
            <a:off x="5127129" y="6083277"/>
            <a:ext cx="2092524" cy="1"/>
          </a:xfrm>
          <a:prstGeom prst="line">
            <a:avLst/>
          </a:prstGeom>
          <a:ln>
            <a:solidFill/>
            <a:round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grpSp>
        <p:nvGrpSpPr>
          <p:cNvPr id="123" name="Group 123"/>
          <p:cNvGrpSpPr/>
          <p:nvPr/>
        </p:nvGrpSpPr>
        <p:grpSpPr>
          <a:xfrm>
            <a:off x="9716988" y="4729014"/>
            <a:ext cx="1485306" cy="353840"/>
            <a:chOff x="0" y="0"/>
            <a:chExt cx="1584325" cy="503238"/>
          </a:xfrm>
        </p:grpSpPr>
        <p:sp>
          <p:nvSpPr>
            <p:cNvPr id="121" name="Shape 121"/>
            <p:cNvSpPr/>
            <p:nvPr/>
          </p:nvSpPr>
          <p:spPr>
            <a:xfrm>
              <a:off x="0" y="0"/>
              <a:ext cx="1584325" cy="503238"/>
            </a:xfrm>
            <a:prstGeom prst="leftArrow">
              <a:avLst>
                <a:gd name="adj1" fmla="val 50000"/>
                <a:gd name="adj2" fmla="val 78707"/>
              </a:avLst>
            </a:prstGeom>
            <a:solidFill>
              <a:srgbClr val="C0C0C0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600">
                  <a:solidFill>
                    <a:srgbClr val="CC0000"/>
                  </a:solidFill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122" name="Shape 122"/>
            <p:cNvSpPr/>
            <p:nvPr/>
          </p:nvSpPr>
          <p:spPr>
            <a:xfrm>
              <a:off x="504685" y="43701"/>
              <a:ext cx="772996" cy="4158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>
              <a:lvl1pPr marL="0" marR="0" algn="ctr">
                <a:defRPr sz="1600">
                  <a:solidFill>
                    <a:srgbClr val="CC0000"/>
                  </a:solidFill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1300"/>
                <a:t>identity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99489353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125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8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126" name="Shape 12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Objects</a:t>
            </a:r>
          </a:p>
        </p:txBody>
      </p:sp>
      <p:sp>
        <p:nvSpPr>
          <p:cNvPr id="127" name="Shape 127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 dirty="0"/>
              <a:t>State = Set of attributes</a:t>
            </a:r>
          </a:p>
          <a:p>
            <a:pPr lvl="1">
              <a:defRPr sz="1800"/>
            </a:pPr>
            <a:r>
              <a:rPr sz="2000" dirty="0"/>
              <a:t>An attribute describes one property of the object</a:t>
            </a:r>
          </a:p>
          <a:p>
            <a:pPr lvl="1">
              <a:defRPr sz="1800"/>
            </a:pPr>
            <a:r>
              <a:rPr sz="2000" dirty="0"/>
              <a:t>At every moment, an attribute has a value in a specific set of attributes area</a:t>
            </a:r>
          </a:p>
          <a:p>
            <a:pPr lvl="1">
              <a:defRPr sz="1800"/>
            </a:pPr>
            <a:r>
              <a:rPr sz="2000" dirty="0"/>
              <a:t>Example</a:t>
            </a:r>
          </a:p>
          <a:p>
            <a:pPr lvl="2">
              <a:defRPr sz="1800"/>
            </a:pPr>
            <a:r>
              <a:rPr dirty="0"/>
              <a:t>The car has properties: color, length, width, weight, number of </a:t>
            </a:r>
            <a:r>
              <a:rPr dirty="0" err="1"/>
              <a:t>kilometres</a:t>
            </a:r>
            <a:r>
              <a:rPr dirty="0"/>
              <a:t>, …</a:t>
            </a:r>
          </a:p>
          <a:p>
            <a:pPr lvl="2">
              <a:defRPr sz="1800"/>
            </a:pPr>
            <a:r>
              <a:rPr dirty="0"/>
              <a:t>A Renault 207 weighs 1300 pounds, it is red, …</a:t>
            </a:r>
          </a:p>
          <a:p>
            <a:pPr>
              <a:defRPr sz="1800"/>
            </a:pPr>
            <a:r>
              <a:rPr lang="en-US"/>
              <a:t>behavior</a:t>
            </a:r>
            <a:r>
              <a:t> </a:t>
            </a:r>
            <a:r>
              <a:rPr dirty="0"/>
              <a:t>= Set of functions</a:t>
            </a:r>
          </a:p>
          <a:p>
            <a:pPr lvl="1">
              <a:defRPr sz="1800"/>
            </a:pPr>
            <a:r>
              <a:rPr dirty="0"/>
              <a:t>A function/method is the ability of the object to perform a task</a:t>
            </a:r>
          </a:p>
          <a:p>
            <a:pPr lvl="1">
              <a:defRPr sz="1800"/>
            </a:pPr>
            <a:r>
              <a:rPr sz="2000"/>
              <a:t>The </a:t>
            </a:r>
            <a:r>
              <a:rPr lang="en-US" sz="2000"/>
              <a:t>behavior</a:t>
            </a:r>
            <a:r>
              <a:rPr sz="2000"/>
              <a:t> </a:t>
            </a:r>
            <a:r>
              <a:rPr sz="2000" dirty="0"/>
              <a:t>depends on state</a:t>
            </a:r>
          </a:p>
          <a:p>
            <a:pPr lvl="2">
              <a:defRPr sz="1800"/>
            </a:pPr>
            <a:r>
              <a:rPr dirty="0"/>
              <a:t>Example: A car can start the engine then run, …</a:t>
            </a:r>
          </a:p>
        </p:txBody>
      </p:sp>
    </p:spTree>
    <p:extLst>
      <p:ext uri="{BB962C8B-B14F-4D97-AF65-F5344CB8AC3E}">
        <p14:creationId xmlns:p14="http://schemas.microsoft.com/office/powerpoint/2010/main" val="2969553025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129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9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130" name="Shape 13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Objects</a:t>
            </a:r>
          </a:p>
        </p:txBody>
      </p:sp>
      <p:sp>
        <p:nvSpPr>
          <p:cNvPr id="131" name="Shape 131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pPr lvl="0">
              <a:defRPr sz="1800"/>
            </a:pPr>
            <a:r>
              <a:rPr sz="2000"/>
              <a:t>Links</a:t>
            </a:r>
          </a:p>
          <a:p>
            <a:pPr lvl="1">
              <a:defRPr sz="1800"/>
            </a:pPr>
            <a:r>
              <a:rPr sz="2000"/>
              <a:t>Between objects, there may be links</a:t>
            </a:r>
          </a:p>
          <a:p>
            <a:pPr lvl="1">
              <a:defRPr sz="1800"/>
            </a:pPr>
            <a:r>
              <a:rPr sz="2000"/>
              <a:t>Example</a:t>
            </a:r>
          </a:p>
          <a:p>
            <a:pPr lvl="1">
              <a:defRPr sz="1800"/>
            </a:pPr>
            <a:endParaRPr sz="2000"/>
          </a:p>
          <a:p>
            <a:pPr lvl="1">
              <a:defRPr sz="1800"/>
            </a:pPr>
            <a:endParaRPr sz="2000"/>
          </a:p>
          <a:p>
            <a:pPr lvl="0">
              <a:defRPr sz="1800"/>
            </a:pPr>
            <a:r>
              <a:rPr sz="2000"/>
              <a:t>Communication between objects</a:t>
            </a:r>
          </a:p>
          <a:p>
            <a:pPr lvl="1">
              <a:defRPr sz="1800"/>
            </a:pPr>
            <a:r>
              <a:rPr sz="2000"/>
              <a:t>Send messages</a:t>
            </a:r>
          </a:p>
          <a:p>
            <a:pPr lvl="1">
              <a:defRPr sz="1800"/>
            </a:pPr>
            <a:endParaRPr sz="2000"/>
          </a:p>
          <a:p>
            <a:pPr lvl="1">
              <a:defRPr sz="1800"/>
            </a:pPr>
            <a:endParaRPr sz="2000"/>
          </a:p>
          <a:p>
            <a:pPr lvl="1">
              <a:defRPr sz="1800"/>
            </a:pPr>
            <a:r>
              <a:rPr sz="2000"/>
              <a:t>Message types</a:t>
            </a:r>
          </a:p>
          <a:p>
            <a:pPr lvl="2">
              <a:defRPr sz="1800"/>
            </a:pPr>
            <a:r>
              <a:t>constructor</a:t>
            </a:r>
          </a:p>
          <a:p>
            <a:pPr lvl="2">
              <a:defRPr sz="1800"/>
            </a:pPr>
            <a:r>
              <a:t>destructor</a:t>
            </a:r>
          </a:p>
          <a:p>
            <a:pPr lvl="2">
              <a:defRPr sz="1800"/>
            </a:pPr>
            <a:r>
              <a:t>getter</a:t>
            </a:r>
          </a:p>
          <a:p>
            <a:pPr lvl="2">
              <a:defRPr sz="1800"/>
            </a:pPr>
            <a:r>
              <a:t>setter</a:t>
            </a:r>
          </a:p>
          <a:p>
            <a:pPr lvl="2">
              <a:defRPr sz="1800"/>
            </a:pPr>
            <a:r>
              <a:t>others</a:t>
            </a:r>
          </a:p>
        </p:txBody>
      </p:sp>
      <p:grpSp>
        <p:nvGrpSpPr>
          <p:cNvPr id="136" name="Group 136"/>
          <p:cNvGrpSpPr/>
          <p:nvPr/>
        </p:nvGrpSpPr>
        <p:grpSpPr>
          <a:xfrm>
            <a:off x="2975920" y="2292357"/>
            <a:ext cx="6268554" cy="497899"/>
            <a:chOff x="0" y="-52677"/>
            <a:chExt cx="6686455" cy="708119"/>
          </a:xfrm>
        </p:grpSpPr>
        <p:sp>
          <p:nvSpPr>
            <p:cNvPr id="132" name="Shape 132"/>
            <p:cNvSpPr/>
            <p:nvPr/>
          </p:nvSpPr>
          <p:spPr>
            <a:xfrm>
              <a:off x="0" y="130175"/>
              <a:ext cx="1020106" cy="525267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marL="0" marR="0">
                <a:defRPr sz="1800" u="sng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u="none"/>
              </a:pPr>
              <a:r>
                <a:rPr u="sng"/>
                <a:t>Michael</a:t>
              </a:r>
            </a:p>
          </p:txBody>
        </p:sp>
        <p:sp>
          <p:nvSpPr>
            <p:cNvPr id="133" name="Shape 133"/>
            <p:cNvSpPr/>
            <p:nvPr/>
          </p:nvSpPr>
          <p:spPr>
            <a:xfrm>
              <a:off x="3529012" y="130175"/>
              <a:ext cx="3157443" cy="525267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marL="0" marR="0">
                <a:defRPr sz="1800" u="sng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u="none"/>
              </a:pPr>
              <a:r>
                <a:rPr u="sng"/>
                <a:t>the university of Danang</a:t>
              </a:r>
            </a:p>
          </p:txBody>
        </p:sp>
        <p:sp>
          <p:nvSpPr>
            <p:cNvPr id="134" name="Shape 134"/>
            <p:cNvSpPr/>
            <p:nvPr/>
          </p:nvSpPr>
          <p:spPr>
            <a:xfrm flipV="1">
              <a:off x="982899" y="346074"/>
              <a:ext cx="2546114" cy="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35" name="Shape 135"/>
            <p:cNvSpPr/>
            <p:nvPr/>
          </p:nvSpPr>
          <p:spPr>
            <a:xfrm>
              <a:off x="1517119" y="-52677"/>
              <a:ext cx="1309074" cy="52526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marL="0" marR="0"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/>
              <a:r>
                <a:t>studies at</a:t>
              </a:r>
            </a:p>
          </p:txBody>
        </p:sp>
      </p:grpSp>
      <p:grpSp>
        <p:nvGrpSpPr>
          <p:cNvPr id="141" name="Group 141"/>
          <p:cNvGrpSpPr/>
          <p:nvPr/>
        </p:nvGrpSpPr>
        <p:grpSpPr>
          <a:xfrm>
            <a:off x="2975920" y="3665269"/>
            <a:ext cx="6268554" cy="535343"/>
            <a:chOff x="0" y="-105931"/>
            <a:chExt cx="6686455" cy="761373"/>
          </a:xfrm>
        </p:grpSpPr>
        <p:sp>
          <p:nvSpPr>
            <p:cNvPr id="137" name="Shape 137"/>
            <p:cNvSpPr/>
            <p:nvPr/>
          </p:nvSpPr>
          <p:spPr>
            <a:xfrm>
              <a:off x="0" y="130175"/>
              <a:ext cx="1020106" cy="525267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marL="0" marR="0">
                <a:defRPr sz="1800" u="sng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u="none"/>
              </a:pPr>
              <a:r>
                <a:rPr u="sng"/>
                <a:t>Michael</a:t>
              </a:r>
            </a:p>
          </p:txBody>
        </p:sp>
        <p:sp>
          <p:nvSpPr>
            <p:cNvPr id="138" name="Shape 138"/>
            <p:cNvSpPr/>
            <p:nvPr/>
          </p:nvSpPr>
          <p:spPr>
            <a:xfrm>
              <a:off x="3529012" y="130175"/>
              <a:ext cx="3157443" cy="525267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marL="0" marR="0">
                <a:defRPr sz="1800" u="sng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u="none"/>
              </a:pPr>
              <a:r>
                <a:rPr u="sng"/>
                <a:t>the university of Danang</a:t>
              </a:r>
            </a:p>
          </p:txBody>
        </p:sp>
        <p:sp>
          <p:nvSpPr>
            <p:cNvPr id="139" name="Shape 139"/>
            <p:cNvSpPr/>
            <p:nvPr/>
          </p:nvSpPr>
          <p:spPr>
            <a:xfrm>
              <a:off x="936625" y="346075"/>
              <a:ext cx="2592388" cy="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40" name="Shape 140"/>
            <p:cNvSpPr/>
            <p:nvPr/>
          </p:nvSpPr>
          <p:spPr>
            <a:xfrm>
              <a:off x="1530350" y="-105931"/>
              <a:ext cx="1399698" cy="52526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marL="0" marR="0"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/>
              <a:r>
                <a:t>registers()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18638447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Shape 14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10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144" name="Shape 14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Classes</a:t>
            </a:r>
          </a:p>
        </p:txBody>
      </p:sp>
      <p:sp>
        <p:nvSpPr>
          <p:cNvPr id="145" name="Shape 145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pPr lvl="0">
              <a:defRPr sz="1800"/>
            </a:pPr>
            <a:r>
              <a:rPr sz="2000"/>
              <a:t>A class is an abstract description of a set of objects having</a:t>
            </a:r>
          </a:p>
          <a:p>
            <a:pPr lvl="1">
              <a:defRPr sz="1800"/>
            </a:pPr>
            <a:r>
              <a:rPr sz="2000"/>
              <a:t>similar properties</a:t>
            </a:r>
          </a:p>
          <a:p>
            <a:pPr lvl="1">
              <a:defRPr sz="1800"/>
            </a:pPr>
            <a:r>
              <a:rPr sz="2000"/>
              <a:t>common </a:t>
            </a:r>
            <a:r>
              <a:rPr lang="en-US" sz="2000"/>
              <a:t>behavior</a:t>
            </a:r>
            <a:endParaRPr sz="2000"/>
          </a:p>
          <a:p>
            <a:pPr lvl="1">
              <a:defRPr sz="1800"/>
            </a:pPr>
            <a:r>
              <a:rPr sz="2000"/>
              <a:t>common relationship with other objects</a:t>
            </a:r>
          </a:p>
          <a:p>
            <a:pPr lvl="0">
              <a:defRPr sz="1800"/>
            </a:pPr>
            <a:r>
              <a:rPr sz="2000"/>
              <a:t>Class is an abstraction</a:t>
            </a:r>
          </a:p>
          <a:p>
            <a:pPr lvl="1">
              <a:defRPr sz="1800"/>
            </a:pPr>
            <a:r>
              <a:rPr sz="2000"/>
              <a:t>Abstraction: search for common aspects and omit the differences</a:t>
            </a:r>
          </a:p>
          <a:p>
            <a:pPr lvl="1">
              <a:defRPr sz="1800"/>
            </a:pPr>
            <a:endParaRPr sz="2000"/>
          </a:p>
          <a:p>
            <a:pPr lvl="1">
              <a:defRPr sz="1800"/>
            </a:pPr>
            <a:endParaRPr sz="2000"/>
          </a:p>
          <a:p>
            <a:pPr lvl="1">
              <a:defRPr sz="1800"/>
            </a:pPr>
            <a:endParaRPr sz="2000"/>
          </a:p>
          <a:p>
            <a:pPr lvl="1">
              <a:defRPr sz="1800"/>
            </a:pPr>
            <a:endParaRPr sz="2000"/>
          </a:p>
          <a:p>
            <a:pPr lvl="1">
              <a:defRPr sz="1800"/>
            </a:pPr>
            <a:endParaRPr sz="2000"/>
          </a:p>
          <a:p>
            <a:pPr lvl="1">
              <a:defRPr sz="1800"/>
            </a:pPr>
            <a:endParaRPr sz="2000"/>
          </a:p>
          <a:p>
            <a:pPr lvl="1">
              <a:defRPr sz="1800"/>
            </a:pPr>
            <a:endParaRPr sz="2000"/>
          </a:p>
          <a:p>
            <a:pPr lvl="1">
              <a:defRPr sz="1800"/>
            </a:pPr>
            <a:r>
              <a:rPr sz="2000"/>
              <a:t>Reduce the complexity</a:t>
            </a:r>
          </a:p>
        </p:txBody>
      </p:sp>
      <p:grpSp>
        <p:nvGrpSpPr>
          <p:cNvPr id="155" name="Group 155"/>
          <p:cNvGrpSpPr/>
          <p:nvPr/>
        </p:nvGrpSpPr>
        <p:grpSpPr>
          <a:xfrm>
            <a:off x="3179155" y="3616016"/>
            <a:ext cx="5171324" cy="1736639"/>
            <a:chOff x="0" y="0"/>
            <a:chExt cx="5516077" cy="2469885"/>
          </a:xfrm>
        </p:grpSpPr>
        <p:pic>
          <p:nvPicPr>
            <p:cNvPr id="146" name="image.png"/>
            <p:cNvPicPr/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0" y="0"/>
              <a:ext cx="5516078" cy="129154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47" name="Shape 147"/>
            <p:cNvSpPr/>
            <p:nvPr/>
          </p:nvSpPr>
          <p:spPr>
            <a:xfrm>
              <a:off x="2264061" y="1811249"/>
              <a:ext cx="823297" cy="6586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148" name="Shape 148"/>
            <p:cNvSpPr/>
            <p:nvPr/>
          </p:nvSpPr>
          <p:spPr>
            <a:xfrm>
              <a:off x="2511050" y="2058237"/>
              <a:ext cx="82330" cy="8233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149" name="Shape 149"/>
            <p:cNvSpPr/>
            <p:nvPr/>
          </p:nvSpPr>
          <p:spPr>
            <a:xfrm>
              <a:off x="2758038" y="2058237"/>
              <a:ext cx="82331" cy="8233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150" name="Shape 150"/>
            <p:cNvSpPr/>
            <p:nvPr/>
          </p:nvSpPr>
          <p:spPr>
            <a:xfrm>
              <a:off x="2675709" y="1975908"/>
              <a:ext cx="1" cy="24698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51" name="Shape 151"/>
            <p:cNvSpPr/>
            <p:nvPr/>
          </p:nvSpPr>
          <p:spPr>
            <a:xfrm>
              <a:off x="2562506" y="2305226"/>
              <a:ext cx="246989" cy="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52" name="Shape 152"/>
            <p:cNvSpPr/>
            <p:nvPr/>
          </p:nvSpPr>
          <p:spPr>
            <a:xfrm>
              <a:off x="946789" y="1317272"/>
              <a:ext cx="1234944" cy="576308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53" name="Shape 153"/>
            <p:cNvSpPr/>
            <p:nvPr/>
          </p:nvSpPr>
          <p:spPr>
            <a:xfrm>
              <a:off x="2758038" y="1317272"/>
              <a:ext cx="1" cy="411648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54" name="Shape 154"/>
            <p:cNvSpPr/>
            <p:nvPr/>
          </p:nvSpPr>
          <p:spPr>
            <a:xfrm flipH="1">
              <a:off x="3087357" y="1317272"/>
              <a:ext cx="1728920" cy="658637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798777479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157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11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158" name="Shape 15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Class</a:t>
            </a:r>
          </a:p>
        </p:txBody>
      </p:sp>
      <p:sp>
        <p:nvSpPr>
          <p:cNvPr id="159" name="Shape 159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Relationship</a:t>
            </a:r>
          </a:p>
          <a:p>
            <a:pPr lvl="1">
              <a:defRPr sz="1800"/>
            </a:pPr>
            <a:r>
              <a:rPr sz="2000"/>
              <a:t>There may be relationship between classes</a:t>
            </a:r>
          </a:p>
          <a:p>
            <a:pPr lvl="1">
              <a:defRPr sz="1800"/>
            </a:pPr>
            <a:r>
              <a:rPr sz="2000"/>
              <a:t>A relationship between classes is the set of links between their objects</a:t>
            </a:r>
          </a:p>
          <a:p>
            <a:pPr lvl="1">
              <a:defRPr sz="1800"/>
            </a:pPr>
            <a:endParaRPr sz="2000"/>
          </a:p>
          <a:p>
            <a:pPr lvl="1">
              <a:defRPr sz="1800"/>
            </a:pPr>
            <a:endParaRPr sz="2000"/>
          </a:p>
          <a:p>
            <a:pPr lvl="1">
              <a:defRPr sz="1800"/>
            </a:pPr>
            <a:endParaRPr sz="2000"/>
          </a:p>
          <a:p>
            <a:pPr lvl="0">
              <a:defRPr sz="1800"/>
            </a:pPr>
            <a:r>
              <a:rPr sz="2000"/>
              <a:t>Class/Object</a:t>
            </a:r>
          </a:p>
          <a:p>
            <a:pPr lvl="1">
              <a:defRPr sz="1800"/>
            </a:pPr>
            <a:r>
              <a:rPr sz="2000"/>
              <a:t>An object is an instance of a class</a:t>
            </a:r>
          </a:p>
          <a:p>
            <a:pPr lvl="1">
              <a:defRPr sz="1800"/>
            </a:pPr>
            <a:r>
              <a:rPr sz="2000"/>
              <a:t>A value is an instance of an attribute</a:t>
            </a:r>
          </a:p>
          <a:p>
            <a:pPr lvl="1">
              <a:defRPr sz="1800"/>
            </a:pPr>
            <a:r>
              <a:rPr sz="2000"/>
              <a:t>A link between objects is an instance of the relationship between classes</a:t>
            </a:r>
          </a:p>
        </p:txBody>
      </p:sp>
      <p:grpSp>
        <p:nvGrpSpPr>
          <p:cNvPr id="164" name="Group 164"/>
          <p:cNvGrpSpPr/>
          <p:nvPr/>
        </p:nvGrpSpPr>
        <p:grpSpPr>
          <a:xfrm>
            <a:off x="3733990" y="2647504"/>
            <a:ext cx="4677327" cy="527757"/>
            <a:chOff x="88900" y="-95143"/>
            <a:chExt cx="4989148" cy="750586"/>
          </a:xfrm>
        </p:grpSpPr>
        <p:sp>
          <p:nvSpPr>
            <p:cNvPr id="160" name="Shape 160"/>
            <p:cNvSpPr/>
            <p:nvPr/>
          </p:nvSpPr>
          <p:spPr>
            <a:xfrm>
              <a:off x="88900" y="130174"/>
              <a:ext cx="1073112" cy="525269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marL="0" marR="0"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/>
              <a:r>
                <a:t>Student</a:t>
              </a:r>
            </a:p>
          </p:txBody>
        </p:sp>
        <p:sp>
          <p:nvSpPr>
            <p:cNvPr id="161" name="Shape 161"/>
            <p:cNvSpPr/>
            <p:nvPr/>
          </p:nvSpPr>
          <p:spPr>
            <a:xfrm>
              <a:off x="3743325" y="130174"/>
              <a:ext cx="1334723" cy="525269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marL="0" marR="0"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/>
              <a:r>
                <a:t>University</a:t>
              </a:r>
            </a:p>
          </p:txBody>
        </p:sp>
        <p:sp>
          <p:nvSpPr>
            <p:cNvPr id="162" name="Shape 162"/>
            <p:cNvSpPr/>
            <p:nvPr/>
          </p:nvSpPr>
          <p:spPr>
            <a:xfrm>
              <a:off x="1150937" y="346075"/>
              <a:ext cx="2592388" cy="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63" name="Shape 163"/>
            <p:cNvSpPr/>
            <p:nvPr/>
          </p:nvSpPr>
          <p:spPr>
            <a:xfrm>
              <a:off x="1511299" y="-95143"/>
              <a:ext cx="1348402" cy="5252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marL="0" marR="0"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/>
              <a:r>
                <a:t>Studies at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51929604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hape 16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12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167" name="Shape 16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Classes</a:t>
            </a:r>
          </a:p>
        </p:txBody>
      </p:sp>
      <p:sp>
        <p:nvSpPr>
          <p:cNvPr id="168" name="Shape 168"/>
          <p:cNvSpPr>
            <a:spLocks noGrp="1"/>
          </p:cNvSpPr>
          <p:nvPr>
            <p:ph type="body" idx="1"/>
          </p:nvPr>
        </p:nvSpPr>
        <p:spPr>
          <a:xfrm>
            <a:off x="564543" y="1447136"/>
            <a:ext cx="10789257" cy="5093363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Example: Class / Object</a:t>
            </a:r>
          </a:p>
        </p:txBody>
      </p:sp>
      <p:sp>
        <p:nvSpPr>
          <p:cNvPr id="169" name="Shape 169"/>
          <p:cNvSpPr/>
          <p:nvPr/>
        </p:nvSpPr>
        <p:spPr>
          <a:xfrm>
            <a:off x="6348760" y="5319700"/>
            <a:ext cx="1957091" cy="1"/>
          </a:xfrm>
          <a:prstGeom prst="line">
            <a:avLst/>
          </a:prstGeom>
          <a:ln>
            <a:solidFill/>
            <a:round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70" name="Shape 170"/>
          <p:cNvSpPr/>
          <p:nvPr/>
        </p:nvSpPr>
        <p:spPr>
          <a:xfrm>
            <a:off x="6348760" y="3279068"/>
            <a:ext cx="1957091" cy="1"/>
          </a:xfrm>
          <a:prstGeom prst="line">
            <a:avLst/>
          </a:prstGeom>
          <a:ln>
            <a:solidFill/>
            <a:round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71" name="Shape 171"/>
          <p:cNvSpPr/>
          <p:nvPr/>
        </p:nvSpPr>
        <p:spPr>
          <a:xfrm>
            <a:off x="6348760" y="3805398"/>
            <a:ext cx="1957091" cy="1"/>
          </a:xfrm>
          <a:prstGeom prst="line">
            <a:avLst/>
          </a:prstGeom>
          <a:ln>
            <a:solidFill/>
            <a:round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72" name="Shape 172"/>
          <p:cNvSpPr/>
          <p:nvPr/>
        </p:nvSpPr>
        <p:spPr>
          <a:xfrm>
            <a:off x="2850604" y="3891446"/>
            <a:ext cx="1957091" cy="1"/>
          </a:xfrm>
          <a:prstGeom prst="line">
            <a:avLst/>
          </a:prstGeom>
          <a:ln>
            <a:solidFill/>
            <a:round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73" name="Shape 173"/>
          <p:cNvSpPr/>
          <p:nvPr/>
        </p:nvSpPr>
        <p:spPr>
          <a:xfrm>
            <a:off x="2850604" y="4707595"/>
            <a:ext cx="1957091" cy="1"/>
          </a:xfrm>
          <a:prstGeom prst="line">
            <a:avLst/>
          </a:prstGeom>
          <a:ln>
            <a:solidFill/>
            <a:round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74" name="Shape 174"/>
          <p:cNvSpPr/>
          <p:nvPr/>
        </p:nvSpPr>
        <p:spPr>
          <a:xfrm>
            <a:off x="2837904" y="2528131"/>
            <a:ext cx="1957091" cy="1"/>
          </a:xfrm>
          <a:prstGeom prst="line">
            <a:avLst/>
          </a:prstGeom>
          <a:ln>
            <a:solidFill/>
            <a:round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75" name="Shape 175"/>
          <p:cNvSpPr/>
          <p:nvPr/>
        </p:nvSpPr>
        <p:spPr>
          <a:xfrm>
            <a:off x="2837904" y="3079861"/>
            <a:ext cx="1957091" cy="1"/>
          </a:xfrm>
          <a:prstGeom prst="line">
            <a:avLst/>
          </a:prstGeom>
          <a:ln>
            <a:solidFill/>
            <a:round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76" name="Shape 176"/>
          <p:cNvSpPr/>
          <p:nvPr/>
        </p:nvSpPr>
        <p:spPr>
          <a:xfrm>
            <a:off x="6347272" y="2110817"/>
            <a:ext cx="1957090" cy="1"/>
          </a:xfrm>
          <a:prstGeom prst="line">
            <a:avLst/>
          </a:prstGeom>
          <a:ln>
            <a:solidFill/>
            <a:round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77" name="Shape 177"/>
          <p:cNvSpPr/>
          <p:nvPr/>
        </p:nvSpPr>
        <p:spPr>
          <a:xfrm>
            <a:off x="6347272" y="2624447"/>
            <a:ext cx="1957090" cy="1"/>
          </a:xfrm>
          <a:prstGeom prst="line">
            <a:avLst/>
          </a:prstGeom>
          <a:ln>
            <a:solidFill/>
            <a:round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78" name="Shape 178"/>
          <p:cNvSpPr/>
          <p:nvPr/>
        </p:nvSpPr>
        <p:spPr>
          <a:xfrm>
            <a:off x="8239095" y="4908438"/>
            <a:ext cx="607001" cy="1"/>
          </a:xfrm>
          <a:prstGeom prst="line">
            <a:avLst/>
          </a:prstGeom>
          <a:ln>
            <a:solidFill/>
            <a:prstDash val="sysDot"/>
            <a:round/>
            <a:headEnd type="oval"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79" name="Shape 179"/>
          <p:cNvSpPr/>
          <p:nvPr/>
        </p:nvSpPr>
        <p:spPr>
          <a:xfrm flipV="1">
            <a:off x="8846096" y="3339046"/>
            <a:ext cx="1" cy="1569393"/>
          </a:xfrm>
          <a:prstGeom prst="line">
            <a:avLst/>
          </a:prstGeom>
          <a:ln>
            <a:solidFill/>
            <a:prstDash val="sysDot"/>
            <a:round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80" name="Shape 180"/>
          <p:cNvSpPr/>
          <p:nvPr/>
        </p:nvSpPr>
        <p:spPr>
          <a:xfrm>
            <a:off x="6348760" y="4175088"/>
            <a:ext cx="1957091" cy="1462278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267" tIns="38268" rIns="38267" bIns="38268">
            <a:spAutoFit/>
          </a:bodyPr>
          <a:lstStyle/>
          <a:p>
            <a:pPr algn="ctr">
              <a:defRPr sz="1800">
                <a:uFillTx/>
              </a:defRPr>
            </a:pPr>
            <a:r>
              <a:rPr u="sng">
                <a:latin typeface="Verdana"/>
                <a:ea typeface="Verdana"/>
                <a:cs typeface="Verdana"/>
                <a:sym typeface="Verdana"/>
              </a:rPr>
              <a:t>aRectangle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length = 2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width = 4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origin = point2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area()</a:t>
            </a:r>
          </a:p>
        </p:txBody>
      </p:sp>
      <p:sp>
        <p:nvSpPr>
          <p:cNvPr id="181" name="Shape 181"/>
          <p:cNvSpPr/>
          <p:nvPr/>
        </p:nvSpPr>
        <p:spPr>
          <a:xfrm>
            <a:off x="6348760" y="4516251"/>
            <a:ext cx="1957091" cy="1"/>
          </a:xfrm>
          <a:prstGeom prst="line">
            <a:avLst/>
          </a:prstGeom>
          <a:ln>
            <a:solidFill/>
            <a:round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82" name="Shape 182"/>
          <p:cNvSpPr/>
          <p:nvPr/>
        </p:nvSpPr>
        <p:spPr>
          <a:xfrm>
            <a:off x="6348760" y="2950604"/>
            <a:ext cx="1957091" cy="1185279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267" tIns="38268" rIns="38267" bIns="38268">
            <a:spAutoFit/>
          </a:bodyPr>
          <a:lstStyle/>
          <a:p>
            <a:pPr algn="ctr">
              <a:defRPr sz="1800">
                <a:uFillTx/>
              </a:defRPr>
            </a:pPr>
            <a:r>
              <a:rPr u="sng">
                <a:latin typeface="Verdana"/>
                <a:ea typeface="Verdana"/>
                <a:cs typeface="Verdana"/>
                <a:sym typeface="Verdana"/>
              </a:rPr>
              <a:t>point2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x = 0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y = 0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move()</a:t>
            </a:r>
          </a:p>
        </p:txBody>
      </p:sp>
      <p:sp>
        <p:nvSpPr>
          <p:cNvPr id="183" name="Shape 183"/>
          <p:cNvSpPr/>
          <p:nvPr/>
        </p:nvSpPr>
        <p:spPr>
          <a:xfrm>
            <a:off x="2837904" y="3575683"/>
            <a:ext cx="1957091" cy="1462278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267" tIns="38268" rIns="38267" bIns="38268">
            <a:spAutoFit/>
          </a:bodyPr>
          <a:lstStyle/>
          <a:p>
            <a:pPr algn="ctr"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Rectangle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length : float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width : float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origin: Point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area()</a:t>
            </a:r>
          </a:p>
        </p:txBody>
      </p:sp>
      <p:sp>
        <p:nvSpPr>
          <p:cNvPr id="184" name="Shape 184"/>
          <p:cNvSpPr/>
          <p:nvPr/>
        </p:nvSpPr>
        <p:spPr>
          <a:xfrm>
            <a:off x="2837904" y="2225067"/>
            <a:ext cx="1957091" cy="1185279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267" tIns="38268" rIns="38267" bIns="38268">
            <a:spAutoFit/>
          </a:bodyPr>
          <a:lstStyle/>
          <a:p>
            <a:pPr algn="ctr"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Point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x : float 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y : float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move()</a:t>
            </a:r>
          </a:p>
        </p:txBody>
      </p:sp>
      <p:sp>
        <p:nvSpPr>
          <p:cNvPr id="185" name="Shape 185"/>
          <p:cNvSpPr/>
          <p:nvPr/>
        </p:nvSpPr>
        <p:spPr>
          <a:xfrm>
            <a:off x="6347272" y="1769653"/>
            <a:ext cx="1957090" cy="1185279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267" tIns="38268" rIns="38267" bIns="38268">
            <a:spAutoFit/>
          </a:bodyPr>
          <a:lstStyle/>
          <a:p>
            <a:pPr algn="ctr">
              <a:defRPr sz="1800">
                <a:uFillTx/>
              </a:defRPr>
            </a:pPr>
            <a:r>
              <a:rPr u="sng">
                <a:latin typeface="Verdana"/>
                <a:ea typeface="Verdana"/>
                <a:cs typeface="Verdana"/>
                <a:sym typeface="Verdana"/>
              </a:rPr>
              <a:t>point1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x = 5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y = 5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move()</a:t>
            </a:r>
          </a:p>
        </p:txBody>
      </p:sp>
      <p:sp>
        <p:nvSpPr>
          <p:cNvPr id="186" name="Shape 186"/>
          <p:cNvSpPr/>
          <p:nvPr/>
        </p:nvSpPr>
        <p:spPr>
          <a:xfrm flipV="1">
            <a:off x="4794994" y="2123491"/>
            <a:ext cx="1552278" cy="405186"/>
          </a:xfrm>
          <a:prstGeom prst="line">
            <a:avLst/>
          </a:prstGeom>
          <a:ln>
            <a:solidFill/>
            <a:prstDash val="sysDot"/>
            <a:round/>
            <a:tailEnd type="triangle"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87" name="Shape 187"/>
          <p:cNvSpPr/>
          <p:nvPr/>
        </p:nvSpPr>
        <p:spPr>
          <a:xfrm>
            <a:off x="4794994" y="2680481"/>
            <a:ext cx="1552278" cy="456531"/>
          </a:xfrm>
          <a:prstGeom prst="line">
            <a:avLst/>
          </a:prstGeom>
          <a:ln>
            <a:solidFill/>
            <a:prstDash val="sysDot"/>
            <a:round/>
            <a:tailEnd type="triangle"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88" name="Shape 188"/>
          <p:cNvSpPr/>
          <p:nvPr/>
        </p:nvSpPr>
        <p:spPr>
          <a:xfrm>
            <a:off x="4794994" y="3996494"/>
            <a:ext cx="1552278" cy="456531"/>
          </a:xfrm>
          <a:prstGeom prst="line">
            <a:avLst/>
          </a:prstGeom>
          <a:ln>
            <a:solidFill/>
            <a:prstDash val="sysDot"/>
            <a:round/>
            <a:tailEnd type="triangle"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89" name="Shape 189"/>
          <p:cNvSpPr/>
          <p:nvPr/>
        </p:nvSpPr>
        <p:spPr>
          <a:xfrm flipH="1">
            <a:off x="8305850" y="3339046"/>
            <a:ext cx="540247" cy="1"/>
          </a:xfrm>
          <a:prstGeom prst="line">
            <a:avLst/>
          </a:prstGeom>
          <a:ln>
            <a:solidFill/>
            <a:prstDash val="sysDot"/>
            <a:round/>
            <a:tailEnd type="triangle"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6061568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Shape 19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13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192" name="Shape 19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Encapsulation</a:t>
            </a:r>
          </a:p>
        </p:txBody>
      </p:sp>
      <p:sp>
        <p:nvSpPr>
          <p:cNvPr id="193" name="Shape 19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Data + Processing of data = Object</a:t>
            </a:r>
          </a:p>
          <a:p>
            <a:pPr lvl="0">
              <a:defRPr sz="1800"/>
            </a:pPr>
            <a:r>
              <a:rPr sz="2000"/>
              <a:t>Attributes + Methods = Class</a:t>
            </a:r>
          </a:p>
          <a:p>
            <a:pPr lvl="0">
              <a:defRPr sz="1800"/>
            </a:pPr>
            <a:endParaRPr sz="2000"/>
          </a:p>
          <a:p>
            <a:pPr lvl="0">
              <a:defRPr sz="1800"/>
            </a:pPr>
            <a:endParaRPr sz="2000"/>
          </a:p>
          <a:p>
            <a:pPr lvl="0">
              <a:defRPr sz="1800"/>
            </a:pPr>
            <a:endParaRPr sz="2000"/>
          </a:p>
          <a:p>
            <a:pPr lvl="0">
              <a:defRPr sz="1800"/>
            </a:pPr>
            <a:endParaRPr sz="2000"/>
          </a:p>
          <a:p>
            <a:pPr lvl="0">
              <a:defRPr sz="1800"/>
            </a:pPr>
            <a:endParaRPr sz="2000"/>
          </a:p>
          <a:p>
            <a:pPr lvl="0">
              <a:defRPr sz="1800"/>
            </a:pPr>
            <a:r>
              <a:rPr sz="2000"/>
              <a:t>The state of object is encapsulated by a set of attributes</a:t>
            </a:r>
          </a:p>
          <a:p>
            <a:pPr lvl="0">
              <a:defRPr sz="1800"/>
            </a:pPr>
            <a:r>
              <a:rPr sz="2000"/>
              <a:t>The </a:t>
            </a:r>
            <a:r>
              <a:rPr lang="en-US" sz="2000"/>
              <a:t>behavior</a:t>
            </a:r>
            <a:r>
              <a:rPr sz="2000"/>
              <a:t> is encapsulated by a set of methods</a:t>
            </a:r>
          </a:p>
          <a:p>
            <a:pPr lvl="1">
              <a:defRPr sz="1800"/>
            </a:pPr>
            <a:r>
              <a:rPr sz="2000"/>
              <a:t>Users of an object know the messages that the object can receive (public methods)</a:t>
            </a:r>
          </a:p>
          <a:p>
            <a:pPr lvl="1">
              <a:defRPr sz="1800"/>
            </a:pPr>
            <a:r>
              <a:rPr sz="2000"/>
              <a:t>The implementations of methods are hidden from external users</a:t>
            </a:r>
          </a:p>
        </p:txBody>
      </p:sp>
      <p:grpSp>
        <p:nvGrpSpPr>
          <p:cNvPr id="197" name="Group 197"/>
          <p:cNvGrpSpPr/>
          <p:nvPr/>
        </p:nvGrpSpPr>
        <p:grpSpPr>
          <a:xfrm>
            <a:off x="5112244" y="2308324"/>
            <a:ext cx="1909467" cy="1477325"/>
            <a:chOff x="-10320" y="70061"/>
            <a:chExt cx="2036763" cy="2101082"/>
          </a:xfrm>
        </p:grpSpPr>
        <p:sp>
          <p:nvSpPr>
            <p:cNvPr id="194" name="Shape 194"/>
            <p:cNvSpPr/>
            <p:nvPr/>
          </p:nvSpPr>
          <p:spPr>
            <a:xfrm>
              <a:off x="-10320" y="70061"/>
              <a:ext cx="2036763" cy="2101082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algn="ctr">
                <a:defRPr sz="1800">
                  <a:uFillTx/>
                </a:defRPr>
              </a:pPr>
              <a:r>
                <a:rPr b="1">
                  <a:latin typeface="Verdana"/>
                  <a:ea typeface="Verdana"/>
                  <a:cs typeface="Verdana"/>
                  <a:sym typeface="Verdana"/>
                </a:rPr>
                <a:t>Class</a:t>
              </a:r>
            </a:p>
            <a:p>
              <a:pPr algn="ctr">
                <a:defRPr sz="1800">
                  <a:uFillTx/>
                </a:defRPr>
              </a:pPr>
              <a:endParaRPr>
                <a:latin typeface="Verdana"/>
                <a:ea typeface="Verdana"/>
                <a:cs typeface="Verdana"/>
                <a:sym typeface="Verdana"/>
              </a:endParaRPr>
            </a:p>
            <a:p>
              <a:pPr algn="ctr">
                <a:defRPr sz="1800">
                  <a:uFillTx/>
                </a:defRPr>
              </a:pPr>
              <a:r>
                <a:rPr>
                  <a:latin typeface="Verdana"/>
                  <a:ea typeface="Verdana"/>
                  <a:cs typeface="Verdana"/>
                  <a:sym typeface="Verdana"/>
                </a:rPr>
                <a:t>attributes</a:t>
              </a:r>
            </a:p>
            <a:p>
              <a:pPr algn="ctr">
                <a:defRPr sz="1800">
                  <a:uFillTx/>
                </a:defRPr>
              </a:pPr>
              <a:endParaRPr>
                <a:latin typeface="Verdana"/>
                <a:ea typeface="Verdana"/>
                <a:cs typeface="Verdana"/>
                <a:sym typeface="Verdana"/>
              </a:endParaRPr>
            </a:p>
            <a:p>
              <a:pPr algn="ctr">
                <a:defRPr sz="1800">
                  <a:uFillTx/>
                </a:defRPr>
              </a:pPr>
              <a:r>
                <a:rPr>
                  <a:latin typeface="Verdana"/>
                  <a:ea typeface="Verdana"/>
                  <a:cs typeface="Verdana"/>
                  <a:sym typeface="Verdana"/>
                </a:rPr>
                <a:t>methods</a:t>
              </a:r>
            </a:p>
          </p:txBody>
        </p:sp>
        <p:sp>
          <p:nvSpPr>
            <p:cNvPr id="195" name="Shape 195"/>
            <p:cNvSpPr/>
            <p:nvPr/>
          </p:nvSpPr>
          <p:spPr>
            <a:xfrm>
              <a:off x="-10320" y="648546"/>
              <a:ext cx="2016125" cy="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96" name="Shape 196"/>
            <p:cNvSpPr/>
            <p:nvPr/>
          </p:nvSpPr>
          <p:spPr>
            <a:xfrm>
              <a:off x="10318" y="1531866"/>
              <a:ext cx="2016125" cy="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895792925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Shape 199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14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200" name="Shape 20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Encapsulation</a:t>
            </a:r>
          </a:p>
        </p:txBody>
      </p:sp>
      <p:sp>
        <p:nvSpPr>
          <p:cNvPr id="201" name="Shape 201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Advantages</a:t>
            </a:r>
          </a:p>
          <a:p>
            <a:pPr lvl="1">
              <a:defRPr sz="1800"/>
            </a:pPr>
            <a:r>
              <a:rPr sz="2000"/>
              <a:t>Hide the information</a:t>
            </a:r>
          </a:p>
          <a:p>
            <a:pPr lvl="1">
              <a:defRPr sz="1800"/>
            </a:pPr>
            <a:r>
              <a:rPr sz="2000"/>
              <a:t>Restrict access to the information from the exterior</a:t>
            </a:r>
          </a:p>
          <a:p>
            <a:pPr lvl="1">
              <a:defRPr sz="1800"/>
            </a:pPr>
            <a:r>
              <a:rPr sz="2000"/>
              <a:t>Avoid the global changes in the whole system: the internal implementation can be modified without affecting the external users</a:t>
            </a:r>
          </a:p>
          <a:p>
            <a:pPr lvl="1">
              <a:defRPr sz="1800"/>
            </a:pPr>
            <a:r>
              <a:rPr sz="2000"/>
              <a:t>Facilitate the modularity</a:t>
            </a:r>
          </a:p>
          <a:p>
            <a:pPr lvl="1">
              <a:defRPr sz="1800"/>
            </a:pPr>
            <a:r>
              <a:rPr sz="2000"/>
              <a:t>Easy to reuse</a:t>
            </a:r>
          </a:p>
          <a:p>
            <a:pPr lvl="1">
              <a:defRPr sz="1800"/>
            </a:pPr>
            <a:r>
              <a:rPr sz="2000"/>
              <a:t>Easy to maintain</a:t>
            </a:r>
          </a:p>
        </p:txBody>
      </p:sp>
    </p:spTree>
    <p:extLst>
      <p:ext uri="{BB962C8B-B14F-4D97-AF65-F5344CB8AC3E}">
        <p14:creationId xmlns:p14="http://schemas.microsoft.com/office/powerpoint/2010/main" val="2894898746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hape 20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15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204" name="Shape 20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Inheritance</a:t>
            </a:r>
          </a:p>
        </p:txBody>
      </p:sp>
      <p:sp>
        <p:nvSpPr>
          <p:cNvPr id="205" name="Shape 205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Inheritance allows the reuse of the state and the </a:t>
            </a:r>
            <a:r>
              <a:rPr lang="en-US" sz="2000"/>
              <a:t>behavior</a:t>
            </a:r>
            <a:r>
              <a:rPr sz="2000"/>
              <a:t> of a class by other classes</a:t>
            </a:r>
          </a:p>
          <a:p>
            <a:pPr lvl="0">
              <a:defRPr sz="1800"/>
            </a:pPr>
            <a:r>
              <a:rPr sz="2000"/>
              <a:t>A class is derived from one or more classes by sharing attributes and methods</a:t>
            </a:r>
          </a:p>
          <a:p>
            <a:pPr lvl="0">
              <a:defRPr sz="1800"/>
            </a:pPr>
            <a:r>
              <a:rPr sz="2000"/>
              <a:t>Subclass inherits attributes and methods of parent-class</a:t>
            </a:r>
          </a:p>
          <a:p>
            <a:pPr lvl="0">
              <a:defRPr sz="1800"/>
            </a:pPr>
            <a:r>
              <a:rPr sz="2000"/>
              <a:t>Generalisation / Specialisation</a:t>
            </a:r>
          </a:p>
          <a:p>
            <a:pPr lvl="1">
              <a:defRPr sz="1800"/>
            </a:pPr>
            <a:r>
              <a:rPr sz="2000"/>
              <a:t>Generalisation: common attributes of sub-classes are used to construct the parent-class</a:t>
            </a:r>
          </a:p>
          <a:p>
            <a:pPr lvl="1">
              <a:defRPr sz="1800"/>
            </a:pPr>
            <a:r>
              <a:rPr sz="2000"/>
              <a:t>Specialisation: sub-classes are constructed from the parent-class by adding other attributes that are unique to them</a:t>
            </a:r>
          </a:p>
        </p:txBody>
      </p:sp>
      <p:grpSp>
        <p:nvGrpSpPr>
          <p:cNvPr id="16" name="Group 216"/>
          <p:cNvGrpSpPr/>
          <p:nvPr/>
        </p:nvGrpSpPr>
        <p:grpSpPr>
          <a:xfrm>
            <a:off x="4491549" y="3911852"/>
            <a:ext cx="3982644" cy="2525486"/>
            <a:chOff x="0" y="-245264"/>
            <a:chExt cx="4248152" cy="2560087"/>
          </a:xfrm>
        </p:grpSpPr>
        <p:sp>
          <p:nvSpPr>
            <p:cNvPr id="17" name="Shape 206"/>
            <p:cNvSpPr/>
            <p:nvPr/>
          </p:nvSpPr>
          <p:spPr>
            <a:xfrm>
              <a:off x="1333500" y="72443"/>
              <a:ext cx="1599205" cy="525269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marL="0" marR="0"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/>
              <a:r>
                <a:t>Parent-class</a:t>
              </a:r>
            </a:p>
          </p:txBody>
        </p:sp>
        <p:sp>
          <p:nvSpPr>
            <p:cNvPr id="18" name="Shape 207"/>
            <p:cNvSpPr/>
            <p:nvPr/>
          </p:nvSpPr>
          <p:spPr>
            <a:xfrm>
              <a:off x="1520825" y="1350962"/>
              <a:ext cx="1286845" cy="525269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marL="0" marR="0"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/>
              <a:r>
                <a:t>Sub-class</a:t>
              </a:r>
            </a:p>
          </p:txBody>
        </p:sp>
        <p:sp>
          <p:nvSpPr>
            <p:cNvPr id="19" name="Shape 208"/>
            <p:cNvSpPr/>
            <p:nvPr/>
          </p:nvSpPr>
          <p:spPr>
            <a:xfrm>
              <a:off x="2016125" y="603250"/>
              <a:ext cx="217488" cy="2174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grpSp>
          <p:nvGrpSpPr>
            <p:cNvPr id="20" name="Group 211"/>
            <p:cNvGrpSpPr/>
            <p:nvPr/>
          </p:nvGrpSpPr>
          <p:grpSpPr>
            <a:xfrm>
              <a:off x="0" y="-127049"/>
              <a:ext cx="719139" cy="2441872"/>
              <a:chOff x="0" y="-127049"/>
              <a:chExt cx="719138" cy="2441871"/>
            </a:xfrm>
          </p:grpSpPr>
          <p:sp>
            <p:nvSpPr>
              <p:cNvPr id="25" name="Shape 209"/>
              <p:cNvSpPr/>
              <p:nvPr/>
            </p:nvSpPr>
            <p:spPr>
              <a:xfrm rot="16200000">
                <a:off x="-612775" y="612775"/>
                <a:ext cx="1944688" cy="719138"/>
              </a:xfrm>
              <a:prstGeom prst="rightArrow">
                <a:avLst>
                  <a:gd name="adj1" fmla="val 50000"/>
                  <a:gd name="adj2" fmla="val 67605"/>
                </a:avLst>
              </a:prstGeom>
              <a:solidFill>
                <a:srgbClr val="A3B2C1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800">
                    <a:uFillTx/>
                    <a:latin typeface="Verdana"/>
                    <a:ea typeface="Verdana"/>
                    <a:cs typeface="Verdana"/>
                    <a:sym typeface="Verdana"/>
                  </a:defRPr>
                </a:pPr>
                <a:endParaRPr/>
              </a:p>
            </p:txBody>
          </p:sp>
          <p:sp>
            <p:nvSpPr>
              <p:cNvPr id="26" name="Shape 210"/>
              <p:cNvSpPr/>
              <p:nvPr/>
            </p:nvSpPr>
            <p:spPr>
              <a:xfrm rot="16200000">
                <a:off x="-861368" y="896911"/>
                <a:ext cx="2441871" cy="39395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>
                <a:lvl1pPr marL="0" marR="0" algn="ctr">
                  <a:defRPr sz="1800">
                    <a:uFillTx/>
                    <a:latin typeface="Verdana"/>
                    <a:ea typeface="Verdana"/>
                    <a:cs typeface="Verdana"/>
                    <a:sym typeface="Verdana"/>
                  </a:defRPr>
                </a:lvl1pPr>
              </a:lstStyle>
              <a:p>
                <a:pPr lvl="0"/>
                <a:r>
                  <a:t>generalisation</a:t>
                </a:r>
              </a:p>
            </p:txBody>
          </p:sp>
        </p:grpSp>
        <p:grpSp>
          <p:nvGrpSpPr>
            <p:cNvPr id="21" name="Group 214"/>
            <p:cNvGrpSpPr/>
            <p:nvPr/>
          </p:nvGrpSpPr>
          <p:grpSpPr>
            <a:xfrm>
              <a:off x="3529012" y="-245264"/>
              <a:ext cx="719140" cy="2338185"/>
              <a:chOff x="0" y="-318289"/>
              <a:chExt cx="719138" cy="2338184"/>
            </a:xfrm>
          </p:grpSpPr>
          <p:sp>
            <p:nvSpPr>
              <p:cNvPr id="23" name="Shape 212"/>
              <p:cNvSpPr/>
              <p:nvPr/>
            </p:nvSpPr>
            <p:spPr>
              <a:xfrm rot="5400000">
                <a:off x="-612775" y="612775"/>
                <a:ext cx="1944688" cy="719138"/>
              </a:xfrm>
              <a:prstGeom prst="rightArrow">
                <a:avLst>
                  <a:gd name="adj1" fmla="val 50000"/>
                  <a:gd name="adj2" fmla="val 67605"/>
                </a:avLst>
              </a:prstGeom>
              <a:solidFill>
                <a:srgbClr val="A3B2C1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800">
                    <a:uFillTx/>
                    <a:latin typeface="Verdana"/>
                    <a:ea typeface="Verdana"/>
                    <a:cs typeface="Verdana"/>
                    <a:sym typeface="Verdana"/>
                  </a:defRPr>
                </a:pPr>
                <a:endParaRPr/>
              </a:p>
            </p:txBody>
          </p:sp>
          <p:sp>
            <p:nvSpPr>
              <p:cNvPr id="24" name="Shape 213"/>
              <p:cNvSpPr/>
              <p:nvPr/>
            </p:nvSpPr>
            <p:spPr>
              <a:xfrm rot="5400000">
                <a:off x="-809523" y="653827"/>
                <a:ext cx="2338184" cy="39395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>
                <a:lvl1pPr marL="0" marR="0" algn="ctr">
                  <a:defRPr sz="1800">
                    <a:uFillTx/>
                    <a:latin typeface="Verdana"/>
                    <a:ea typeface="Verdana"/>
                    <a:cs typeface="Verdana"/>
                    <a:sym typeface="Verdana"/>
                  </a:defRPr>
                </a:lvl1pPr>
              </a:lstStyle>
              <a:p>
                <a:pPr lvl="0"/>
                <a:r>
                  <a:t>specialisation</a:t>
                </a:r>
              </a:p>
            </p:txBody>
          </p:sp>
        </p:grpSp>
        <p:sp>
          <p:nvSpPr>
            <p:cNvPr id="22" name="Shape 215"/>
            <p:cNvSpPr/>
            <p:nvPr/>
          </p:nvSpPr>
          <p:spPr>
            <a:xfrm>
              <a:off x="2132012" y="820737"/>
              <a:ext cx="1" cy="503238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062158744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Shape 21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16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219" name="Shape 219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Inheritance</a:t>
            </a:r>
          </a:p>
        </p:txBody>
      </p:sp>
      <p:sp>
        <p:nvSpPr>
          <p:cNvPr id="220" name="Shape 220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 fontScale="70000" lnSpcReduction="20000"/>
          </a:bodyPr>
          <a:lstStyle/>
          <a:p>
            <a:pPr lvl="0">
              <a:defRPr sz="1800"/>
            </a:pPr>
            <a:r>
              <a:rPr sz="3100" b="1"/>
              <a:t>Single inheritance</a:t>
            </a:r>
            <a:r>
              <a:rPr sz="3100"/>
              <a:t>: a sub-class inherits from only one parent-class</a:t>
            </a:r>
          </a:p>
          <a:p>
            <a:pPr lvl="0">
              <a:defRPr sz="1800"/>
            </a:pPr>
            <a:r>
              <a:rPr sz="3100" b="1"/>
              <a:t>Multiple inheritance</a:t>
            </a:r>
            <a:r>
              <a:rPr sz="3100"/>
              <a:t>: a sub-class inherits from multiple parent-classes</a:t>
            </a:r>
          </a:p>
          <a:p>
            <a:pPr lvl="0">
              <a:defRPr sz="1800"/>
            </a:pPr>
            <a:endParaRPr sz="2000"/>
          </a:p>
          <a:p>
            <a:pPr lvl="0">
              <a:defRPr sz="1800"/>
            </a:pPr>
            <a:r>
              <a:rPr sz="2000"/>
              <a:t>Example : a tree of inheritance</a:t>
            </a:r>
          </a:p>
          <a:p>
            <a:pPr lvl="0">
              <a:defRPr sz="1800"/>
            </a:pPr>
            <a:endParaRPr sz="2000"/>
          </a:p>
          <a:p>
            <a:pPr lvl="0">
              <a:defRPr sz="1800"/>
            </a:pPr>
            <a:endParaRPr sz="2000"/>
          </a:p>
          <a:p>
            <a:pPr lvl="0">
              <a:defRPr sz="1800"/>
            </a:pPr>
            <a:endParaRPr sz="2000"/>
          </a:p>
          <a:p>
            <a:pPr lvl="0">
              <a:defRPr sz="1800"/>
            </a:pPr>
            <a:endParaRPr sz="2000"/>
          </a:p>
          <a:p>
            <a:pPr lvl="0">
              <a:defRPr sz="1800"/>
            </a:pPr>
            <a:endParaRPr sz="2000"/>
          </a:p>
          <a:p>
            <a:pPr lvl="0">
              <a:defRPr sz="1800"/>
            </a:pPr>
            <a:endParaRPr sz="2000"/>
          </a:p>
          <a:p>
            <a:pPr lvl="0">
              <a:defRPr sz="1800"/>
            </a:pPr>
            <a:endParaRPr sz="2000"/>
          </a:p>
          <a:p>
            <a:pPr lvl="0">
              <a:defRPr sz="1800"/>
            </a:pPr>
            <a:endParaRPr sz="2000"/>
          </a:p>
          <a:p>
            <a:pPr lvl="0">
              <a:defRPr sz="1800"/>
            </a:pPr>
            <a:endParaRPr sz="2000"/>
          </a:p>
          <a:p>
            <a:pPr lvl="0">
              <a:defRPr sz="1800"/>
            </a:pPr>
            <a:endParaRPr sz="2000"/>
          </a:p>
          <a:p>
            <a:pPr lvl="0">
              <a:defRPr sz="1800"/>
            </a:pPr>
            <a:endParaRPr sz="2000"/>
          </a:p>
          <a:p>
            <a:pPr lvl="0">
              <a:defRPr sz="1800"/>
            </a:pPr>
            <a:r>
              <a:rPr sz="2000"/>
              <a:t>What is the difficulty of multiple inheritance?</a:t>
            </a:r>
          </a:p>
        </p:txBody>
      </p:sp>
      <p:grpSp>
        <p:nvGrpSpPr>
          <p:cNvPr id="259" name="Group 259"/>
          <p:cNvGrpSpPr/>
          <p:nvPr/>
        </p:nvGrpSpPr>
        <p:grpSpPr>
          <a:xfrm>
            <a:off x="983663" y="2733306"/>
            <a:ext cx="8604224" cy="3118322"/>
            <a:chOff x="0" y="0"/>
            <a:chExt cx="9177837" cy="4434945"/>
          </a:xfrm>
        </p:grpSpPr>
        <p:sp>
          <p:nvSpPr>
            <p:cNvPr id="221" name="Shape 221"/>
            <p:cNvSpPr/>
            <p:nvPr/>
          </p:nvSpPr>
          <p:spPr>
            <a:xfrm>
              <a:off x="6266668" y="62135"/>
              <a:ext cx="1060733" cy="525269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marL="0" marR="0"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/>
              <a:r>
                <a:t>Polygon</a:t>
              </a:r>
            </a:p>
          </p:txBody>
        </p:sp>
        <p:sp>
          <p:nvSpPr>
            <p:cNvPr id="222" name="Shape 222"/>
            <p:cNvSpPr/>
            <p:nvPr/>
          </p:nvSpPr>
          <p:spPr>
            <a:xfrm>
              <a:off x="4609317" y="1343247"/>
              <a:ext cx="1776620" cy="525269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marL="0" marR="0"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/>
              <a:r>
                <a:t>Parallelogram</a:t>
              </a:r>
            </a:p>
          </p:txBody>
        </p:sp>
        <p:sp>
          <p:nvSpPr>
            <p:cNvPr id="223" name="Shape 223"/>
            <p:cNvSpPr/>
            <p:nvPr/>
          </p:nvSpPr>
          <p:spPr>
            <a:xfrm>
              <a:off x="6769904" y="451072"/>
              <a:ext cx="217489" cy="2174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224" name="Shape 224"/>
            <p:cNvSpPr/>
            <p:nvPr/>
          </p:nvSpPr>
          <p:spPr>
            <a:xfrm>
              <a:off x="7635092" y="1343247"/>
              <a:ext cx="1071266" cy="525269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marL="0" marR="0"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/>
              <a:r>
                <a:t>Triangle</a:t>
              </a:r>
            </a:p>
          </p:txBody>
        </p:sp>
        <p:sp>
          <p:nvSpPr>
            <p:cNvPr id="225" name="Shape 225"/>
            <p:cNvSpPr/>
            <p:nvPr/>
          </p:nvSpPr>
          <p:spPr>
            <a:xfrm>
              <a:off x="3633004" y="2465609"/>
              <a:ext cx="1308185" cy="525269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marL="0" marR="0"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/>
              <a:r>
                <a:t>Rectangle</a:t>
              </a:r>
            </a:p>
          </p:txBody>
        </p:sp>
        <p:sp>
          <p:nvSpPr>
            <p:cNvPr id="226" name="Shape 226"/>
            <p:cNvSpPr/>
            <p:nvPr/>
          </p:nvSpPr>
          <p:spPr>
            <a:xfrm>
              <a:off x="5938054" y="2481484"/>
              <a:ext cx="1116133" cy="525269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marL="0" marR="0"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/>
              <a:r>
                <a:t>Lozenge</a:t>
              </a:r>
            </a:p>
          </p:txBody>
        </p:sp>
        <p:sp>
          <p:nvSpPr>
            <p:cNvPr id="227" name="Shape 227"/>
            <p:cNvSpPr/>
            <p:nvPr/>
          </p:nvSpPr>
          <p:spPr>
            <a:xfrm>
              <a:off x="5474504" y="898747"/>
              <a:ext cx="2735264" cy="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28" name="Shape 228"/>
            <p:cNvSpPr/>
            <p:nvPr/>
          </p:nvSpPr>
          <p:spPr>
            <a:xfrm>
              <a:off x="5474504" y="898747"/>
              <a:ext cx="1" cy="4318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29" name="Shape 229"/>
            <p:cNvSpPr/>
            <p:nvPr/>
          </p:nvSpPr>
          <p:spPr>
            <a:xfrm>
              <a:off x="8209767" y="898747"/>
              <a:ext cx="1" cy="4318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0" name="Shape 230"/>
            <p:cNvSpPr/>
            <p:nvPr/>
          </p:nvSpPr>
          <p:spPr>
            <a:xfrm>
              <a:off x="6871504" y="681260"/>
              <a:ext cx="1" cy="2159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1" name="Shape 231"/>
            <p:cNvSpPr/>
            <p:nvPr/>
          </p:nvSpPr>
          <p:spPr>
            <a:xfrm>
              <a:off x="4321979" y="2152872"/>
              <a:ext cx="2160589" cy="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2" name="Shape 232"/>
            <p:cNvSpPr/>
            <p:nvPr/>
          </p:nvSpPr>
          <p:spPr>
            <a:xfrm>
              <a:off x="4321979" y="2152872"/>
              <a:ext cx="1" cy="287338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3" name="Shape 233"/>
            <p:cNvSpPr/>
            <p:nvPr/>
          </p:nvSpPr>
          <p:spPr>
            <a:xfrm>
              <a:off x="5474504" y="1935384"/>
              <a:ext cx="1" cy="2159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4" name="Shape 234"/>
            <p:cNvSpPr/>
            <p:nvPr/>
          </p:nvSpPr>
          <p:spPr>
            <a:xfrm>
              <a:off x="6482567" y="2152872"/>
              <a:ext cx="1" cy="287338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5" name="Shape 235"/>
            <p:cNvSpPr/>
            <p:nvPr/>
          </p:nvSpPr>
          <p:spPr>
            <a:xfrm>
              <a:off x="5357029" y="1717897"/>
              <a:ext cx="217489" cy="2174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236" name="Shape 236"/>
            <p:cNvSpPr/>
            <p:nvPr/>
          </p:nvSpPr>
          <p:spPr>
            <a:xfrm>
              <a:off x="4993492" y="3909676"/>
              <a:ext cx="973939" cy="525269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marL="0" marR="0"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/>
              <a:r>
                <a:t>Square</a:t>
              </a:r>
            </a:p>
          </p:txBody>
        </p:sp>
        <p:sp>
          <p:nvSpPr>
            <p:cNvPr id="237" name="Shape 237"/>
            <p:cNvSpPr/>
            <p:nvPr/>
          </p:nvSpPr>
          <p:spPr>
            <a:xfrm>
              <a:off x="4217204" y="2856134"/>
              <a:ext cx="217489" cy="2174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238" name="Shape 238"/>
            <p:cNvSpPr/>
            <p:nvPr/>
          </p:nvSpPr>
          <p:spPr>
            <a:xfrm>
              <a:off x="4347380" y="3073622"/>
              <a:ext cx="1063248" cy="51836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9" name="Shape 239"/>
            <p:cNvSpPr/>
            <p:nvPr/>
          </p:nvSpPr>
          <p:spPr>
            <a:xfrm flipH="1">
              <a:off x="5414583" y="3075209"/>
              <a:ext cx="1063222" cy="51518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40" name="Shape 240"/>
            <p:cNvSpPr/>
            <p:nvPr/>
          </p:nvSpPr>
          <p:spPr>
            <a:xfrm>
              <a:off x="6376204" y="2857722"/>
              <a:ext cx="217489" cy="2174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grpSp>
          <p:nvGrpSpPr>
            <p:cNvPr id="243" name="Group 243"/>
            <p:cNvGrpSpPr/>
            <p:nvPr/>
          </p:nvGrpSpPr>
          <p:grpSpPr>
            <a:xfrm>
              <a:off x="930766" y="1232026"/>
              <a:ext cx="2317055" cy="498574"/>
              <a:chOff x="0" y="0"/>
              <a:chExt cx="2317053" cy="498573"/>
            </a:xfrm>
          </p:grpSpPr>
          <p:sp>
            <p:nvSpPr>
              <p:cNvPr id="241" name="Shape 241"/>
              <p:cNvSpPr/>
              <p:nvPr/>
            </p:nvSpPr>
            <p:spPr>
              <a:xfrm>
                <a:off x="0" y="0"/>
                <a:ext cx="2317054" cy="49857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0" y="21600"/>
                    </a:lnTo>
                    <a:lnTo>
                      <a:pt x="18900" y="21600"/>
                    </a:lnTo>
                    <a:lnTo>
                      <a:pt x="21600" y="18900"/>
                    </a:lnTo>
                    <a:lnTo>
                      <a:pt x="21600" y="0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6699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1800">
                    <a:uFillTx/>
                    <a:latin typeface="Verdana"/>
                    <a:ea typeface="Verdana"/>
                    <a:cs typeface="Verdana"/>
                    <a:sym typeface="Verdana"/>
                  </a:defRPr>
                </a:pPr>
                <a:endParaRPr/>
              </a:p>
            </p:txBody>
          </p:sp>
          <p:sp>
            <p:nvSpPr>
              <p:cNvPr id="242" name="Shape 242"/>
              <p:cNvSpPr/>
              <p:nvPr/>
            </p:nvSpPr>
            <p:spPr>
              <a:xfrm>
                <a:off x="2089375" y="424512"/>
                <a:ext cx="227679" cy="7406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5592" y="736"/>
                    </a:lnTo>
                    <a:cubicBezTo>
                      <a:pt x="7752" y="4048"/>
                      <a:pt x="13504" y="4048"/>
                      <a:pt x="21600" y="0"/>
                    </a:cubicBezTo>
                  </a:path>
                </a:pathLst>
              </a:custGeom>
              <a:noFill/>
              <a:ln w="9525" cap="flat">
                <a:solidFill>
                  <a:srgbClr val="6699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1800">
                    <a:uFillTx/>
                    <a:latin typeface="Verdana"/>
                    <a:ea typeface="Verdana"/>
                    <a:cs typeface="Verdana"/>
                    <a:sym typeface="Verdana"/>
                  </a:defRPr>
                </a:pPr>
                <a:endParaRPr/>
              </a:p>
            </p:txBody>
          </p:sp>
        </p:grpSp>
        <p:sp>
          <p:nvSpPr>
            <p:cNvPr id="244" name="Shape 244"/>
            <p:cNvSpPr/>
            <p:nvPr/>
          </p:nvSpPr>
          <p:spPr>
            <a:xfrm>
              <a:off x="990876" y="1302198"/>
              <a:ext cx="2281990" cy="5252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marL="0" marR="0">
                <a:defRPr sz="1800">
                  <a:solidFill>
                    <a:srgbClr val="6699FF"/>
                  </a:solidFill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>
                  <a:solidFill>
                    <a:srgbClr val="000000"/>
                  </a:solidFill>
                </a:defRPr>
              </a:pPr>
              <a:r>
                <a:rPr>
                  <a:solidFill>
                    <a:srgbClr val="6699FF"/>
                  </a:solidFill>
                </a:rPr>
                <a:t>single inheritance</a:t>
              </a:r>
            </a:p>
          </p:txBody>
        </p:sp>
        <p:sp>
          <p:nvSpPr>
            <p:cNvPr id="245" name="Shape 245"/>
            <p:cNvSpPr/>
            <p:nvPr/>
          </p:nvSpPr>
          <p:spPr>
            <a:xfrm flipH="1" flipV="1">
              <a:off x="3282167" y="1646459"/>
              <a:ext cx="2180961" cy="395554"/>
            </a:xfrm>
            <a:prstGeom prst="line">
              <a:avLst/>
            </a:prstGeom>
            <a:noFill/>
            <a:ln w="9525" cap="flat">
              <a:solidFill>
                <a:srgbClr val="6699FF"/>
              </a:solidFill>
              <a:prstDash val="dash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46" name="Shape 246"/>
            <p:cNvSpPr/>
            <p:nvPr/>
          </p:nvSpPr>
          <p:spPr>
            <a:xfrm flipH="1">
              <a:off x="3282167" y="565372"/>
              <a:ext cx="3527426" cy="720726"/>
            </a:xfrm>
            <a:prstGeom prst="line">
              <a:avLst/>
            </a:prstGeom>
            <a:noFill/>
            <a:ln w="9525" cap="flat">
              <a:solidFill>
                <a:srgbClr val="6699FF"/>
              </a:solidFill>
              <a:prstDash val="dash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47" name="Shape 247"/>
            <p:cNvSpPr/>
            <p:nvPr/>
          </p:nvSpPr>
          <p:spPr>
            <a:xfrm>
              <a:off x="7363655" y="0"/>
              <a:ext cx="662928" cy="5110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810"/>
                  </a:moveTo>
                  <a:lnTo>
                    <a:pt x="5370" y="0"/>
                  </a:lnTo>
                  <a:lnTo>
                    <a:pt x="14630" y="1215"/>
                  </a:lnTo>
                  <a:lnTo>
                    <a:pt x="21600" y="10827"/>
                  </a:lnTo>
                  <a:lnTo>
                    <a:pt x="16614" y="19597"/>
                  </a:lnTo>
                  <a:lnTo>
                    <a:pt x="8561" y="21600"/>
                  </a:lnTo>
                  <a:lnTo>
                    <a:pt x="679" y="16285"/>
                  </a:lnTo>
                  <a:lnTo>
                    <a:pt x="0" y="8810"/>
                  </a:lnTo>
                  <a:close/>
                </a:path>
              </a:pathLst>
            </a:custGeom>
            <a:solidFill>
              <a:srgbClr val="70BF41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/>
              <a:endParaRPr/>
            </a:p>
          </p:txBody>
        </p:sp>
        <p:sp>
          <p:nvSpPr>
            <p:cNvPr id="248" name="Shape 248"/>
            <p:cNvSpPr/>
            <p:nvPr/>
          </p:nvSpPr>
          <p:spPr>
            <a:xfrm>
              <a:off x="8762441" y="1172591"/>
              <a:ext cx="415396" cy="6505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3841"/>
                  </a:moveTo>
                  <a:lnTo>
                    <a:pt x="21600" y="0"/>
                  </a:lnTo>
                  <a:lnTo>
                    <a:pt x="19846" y="21600"/>
                  </a:lnTo>
                  <a:lnTo>
                    <a:pt x="0" y="13841"/>
                  </a:lnTo>
                  <a:close/>
                </a:path>
              </a:pathLst>
            </a:custGeom>
            <a:solidFill>
              <a:srgbClr val="70BF41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/>
              <a:endParaRPr/>
            </a:p>
          </p:txBody>
        </p:sp>
        <p:sp>
          <p:nvSpPr>
            <p:cNvPr id="249" name="Shape 249"/>
            <p:cNvSpPr/>
            <p:nvPr/>
          </p:nvSpPr>
          <p:spPr>
            <a:xfrm>
              <a:off x="3593872" y="1363580"/>
              <a:ext cx="945840" cy="2685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16073" y="303"/>
                  </a:lnTo>
                  <a:lnTo>
                    <a:pt x="21600" y="21297"/>
                  </a:lnTo>
                  <a:lnTo>
                    <a:pt x="6725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0BF41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/>
              <a:endParaRPr/>
            </a:p>
          </p:txBody>
        </p:sp>
        <p:sp>
          <p:nvSpPr>
            <p:cNvPr id="250" name="Shape 250"/>
            <p:cNvSpPr/>
            <p:nvPr/>
          </p:nvSpPr>
          <p:spPr>
            <a:xfrm>
              <a:off x="2483812" y="2467518"/>
              <a:ext cx="931335" cy="304159"/>
            </a:xfrm>
            <a:prstGeom prst="rect">
              <a:avLst/>
            </a:prstGeom>
            <a:solidFill>
              <a:srgbClr val="70BF41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  <a:endParaRPr/>
            </a:p>
          </p:txBody>
        </p:sp>
        <p:sp>
          <p:nvSpPr>
            <p:cNvPr id="251" name="Shape 251"/>
            <p:cNvSpPr/>
            <p:nvPr/>
          </p:nvSpPr>
          <p:spPr>
            <a:xfrm>
              <a:off x="7098145" y="2464186"/>
              <a:ext cx="931335" cy="3108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0800"/>
                  </a:moveTo>
                  <a:lnTo>
                    <a:pt x="10800" y="21600"/>
                  </a:lnTo>
                  <a:lnTo>
                    <a:pt x="21600" y="1080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70BF41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  <a:endParaRPr/>
            </a:p>
          </p:txBody>
        </p:sp>
        <p:sp>
          <p:nvSpPr>
            <p:cNvPr id="252" name="Shape 252"/>
            <p:cNvSpPr/>
            <p:nvPr/>
          </p:nvSpPr>
          <p:spPr>
            <a:xfrm>
              <a:off x="6099079" y="3912322"/>
              <a:ext cx="381001" cy="381001"/>
            </a:xfrm>
            <a:prstGeom prst="rect">
              <a:avLst/>
            </a:prstGeom>
            <a:solidFill>
              <a:srgbClr val="70BF41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  <a:endParaRPr/>
            </a:p>
          </p:txBody>
        </p:sp>
        <p:sp>
          <p:nvSpPr>
            <p:cNvPr id="253" name="Shape 253"/>
            <p:cNvSpPr/>
            <p:nvPr/>
          </p:nvSpPr>
          <p:spPr>
            <a:xfrm>
              <a:off x="5416070" y="3594682"/>
              <a:ext cx="1" cy="31685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grpSp>
          <p:nvGrpSpPr>
            <p:cNvPr id="256" name="Group 256"/>
            <p:cNvGrpSpPr/>
            <p:nvPr/>
          </p:nvGrpSpPr>
          <p:grpSpPr>
            <a:xfrm>
              <a:off x="7900" y="3501301"/>
              <a:ext cx="2317054" cy="498575"/>
              <a:chOff x="0" y="0"/>
              <a:chExt cx="2317053" cy="498573"/>
            </a:xfrm>
          </p:grpSpPr>
          <p:sp>
            <p:nvSpPr>
              <p:cNvPr id="254" name="Shape 254"/>
              <p:cNvSpPr/>
              <p:nvPr/>
            </p:nvSpPr>
            <p:spPr>
              <a:xfrm>
                <a:off x="0" y="0"/>
                <a:ext cx="2317054" cy="49857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0" y="21600"/>
                    </a:lnTo>
                    <a:lnTo>
                      <a:pt x="18900" y="21600"/>
                    </a:lnTo>
                    <a:lnTo>
                      <a:pt x="21600" y="18900"/>
                    </a:lnTo>
                    <a:lnTo>
                      <a:pt x="21600" y="0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6699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1800">
                    <a:uFillTx/>
                    <a:latin typeface="Verdana"/>
                    <a:ea typeface="Verdana"/>
                    <a:cs typeface="Verdana"/>
                    <a:sym typeface="Verdana"/>
                  </a:defRPr>
                </a:pPr>
                <a:endParaRPr/>
              </a:p>
            </p:txBody>
          </p:sp>
          <p:sp>
            <p:nvSpPr>
              <p:cNvPr id="255" name="Shape 255"/>
              <p:cNvSpPr/>
              <p:nvPr/>
            </p:nvSpPr>
            <p:spPr>
              <a:xfrm>
                <a:off x="2089375" y="424512"/>
                <a:ext cx="227679" cy="7406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5592" y="736"/>
                    </a:lnTo>
                    <a:cubicBezTo>
                      <a:pt x="7752" y="4048"/>
                      <a:pt x="13504" y="4048"/>
                      <a:pt x="21600" y="0"/>
                    </a:cubicBezTo>
                  </a:path>
                </a:pathLst>
              </a:custGeom>
              <a:noFill/>
              <a:ln w="9525" cap="flat">
                <a:solidFill>
                  <a:srgbClr val="6699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1800">
                    <a:uFillTx/>
                    <a:latin typeface="Verdana"/>
                    <a:ea typeface="Verdana"/>
                    <a:cs typeface="Verdana"/>
                    <a:sym typeface="Verdana"/>
                  </a:defRPr>
                </a:pPr>
                <a:endParaRPr/>
              </a:p>
            </p:txBody>
          </p:sp>
        </p:grpSp>
        <p:sp>
          <p:nvSpPr>
            <p:cNvPr id="257" name="Shape 257"/>
            <p:cNvSpPr/>
            <p:nvPr/>
          </p:nvSpPr>
          <p:spPr>
            <a:xfrm>
              <a:off x="0" y="3565168"/>
              <a:ext cx="2558989" cy="5252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marL="0" marR="0">
                <a:defRPr sz="1800">
                  <a:solidFill>
                    <a:srgbClr val="6699FF"/>
                  </a:solidFill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>
                  <a:solidFill>
                    <a:srgbClr val="000000"/>
                  </a:solidFill>
                </a:defRPr>
              </a:pPr>
              <a:r>
                <a:rPr>
                  <a:solidFill>
                    <a:srgbClr val="6699FF"/>
                  </a:solidFill>
                </a:rPr>
                <a:t>multiple inheritance</a:t>
              </a:r>
            </a:p>
          </p:txBody>
        </p:sp>
        <p:sp>
          <p:nvSpPr>
            <p:cNvPr id="258" name="Shape 258"/>
            <p:cNvSpPr/>
            <p:nvPr/>
          </p:nvSpPr>
          <p:spPr>
            <a:xfrm flipH="1" flipV="1">
              <a:off x="2325434" y="3778396"/>
              <a:ext cx="2662816" cy="361406"/>
            </a:xfrm>
            <a:prstGeom prst="line">
              <a:avLst/>
            </a:prstGeom>
            <a:noFill/>
            <a:ln w="9525" cap="flat">
              <a:solidFill>
                <a:srgbClr val="6699FF"/>
              </a:solidFill>
              <a:prstDash val="dash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03166060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Shape 26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17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262" name="Shape 26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Inheritance</a:t>
            </a:r>
          </a:p>
        </p:txBody>
      </p:sp>
      <p:sp>
        <p:nvSpPr>
          <p:cNvPr id="263" name="Shape 263"/>
          <p:cNvSpPr>
            <a:spLocks noGrp="1"/>
          </p:cNvSpPr>
          <p:nvPr>
            <p:ph type="body" idx="1"/>
          </p:nvPr>
        </p:nvSpPr>
        <p:spPr>
          <a:xfrm>
            <a:off x="564543" y="1219200"/>
            <a:ext cx="10890857" cy="5350740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 dirty="0"/>
              <a:t>Advantages</a:t>
            </a:r>
          </a:p>
          <a:p>
            <a:pPr lvl="1">
              <a:defRPr sz="1800"/>
            </a:pPr>
            <a:r>
              <a:rPr sz="2000" dirty="0"/>
              <a:t>Organization of classes</a:t>
            </a:r>
          </a:p>
          <a:p>
            <a:pPr lvl="2">
              <a:defRPr sz="1800"/>
            </a:pPr>
            <a:r>
              <a:rPr dirty="0"/>
              <a:t>classes are organized hierarchically</a:t>
            </a:r>
          </a:p>
          <a:p>
            <a:pPr lvl="2">
              <a:defRPr sz="1800"/>
            </a:pPr>
            <a:r>
              <a:rPr dirty="0"/>
              <a:t>facilitation of the management of classes</a:t>
            </a:r>
          </a:p>
          <a:p>
            <a:pPr lvl="1">
              <a:defRPr sz="1800"/>
            </a:pPr>
            <a:r>
              <a:rPr sz="2000" dirty="0"/>
              <a:t>Construction of classes</a:t>
            </a:r>
          </a:p>
          <a:p>
            <a:pPr lvl="2">
              <a:defRPr sz="1800"/>
            </a:pPr>
            <a:r>
              <a:rPr dirty="0"/>
              <a:t>sub-classes are constructed from parent-classes</a:t>
            </a:r>
          </a:p>
          <a:p>
            <a:pPr lvl="1">
              <a:defRPr sz="1800"/>
            </a:pPr>
            <a:r>
              <a:rPr sz="2000" dirty="0"/>
              <a:t>Reduction of development cost by avoiding to re-write the code</a:t>
            </a:r>
          </a:p>
          <a:p>
            <a:pPr lvl="1">
              <a:defRPr sz="1800"/>
            </a:pPr>
            <a:r>
              <a:rPr sz="2000" dirty="0"/>
              <a:t>Allowing to apply easily the technique of </a:t>
            </a:r>
            <a:r>
              <a:rPr sz="2000" i="1" dirty="0"/>
              <a:t>polymorphism</a:t>
            </a:r>
          </a:p>
        </p:txBody>
      </p:sp>
      <p:grpSp>
        <p:nvGrpSpPr>
          <p:cNvPr id="302" name="Group 302"/>
          <p:cNvGrpSpPr/>
          <p:nvPr/>
        </p:nvGrpSpPr>
        <p:grpSpPr>
          <a:xfrm>
            <a:off x="1539889" y="3451618"/>
            <a:ext cx="8604224" cy="3118322"/>
            <a:chOff x="0" y="0"/>
            <a:chExt cx="9177837" cy="4434945"/>
          </a:xfrm>
        </p:grpSpPr>
        <p:sp>
          <p:nvSpPr>
            <p:cNvPr id="264" name="Shape 264"/>
            <p:cNvSpPr/>
            <p:nvPr/>
          </p:nvSpPr>
          <p:spPr>
            <a:xfrm>
              <a:off x="6266668" y="62135"/>
              <a:ext cx="1060733" cy="525269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marL="0" marR="0"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/>
              <a:r>
                <a:t>Polygon</a:t>
              </a:r>
            </a:p>
          </p:txBody>
        </p:sp>
        <p:sp>
          <p:nvSpPr>
            <p:cNvPr id="265" name="Shape 265"/>
            <p:cNvSpPr/>
            <p:nvPr/>
          </p:nvSpPr>
          <p:spPr>
            <a:xfrm>
              <a:off x="4609317" y="1343247"/>
              <a:ext cx="1776620" cy="525269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marL="0" marR="0"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/>
              <a:r>
                <a:t>Parallelogram</a:t>
              </a:r>
            </a:p>
          </p:txBody>
        </p:sp>
        <p:sp>
          <p:nvSpPr>
            <p:cNvPr id="266" name="Shape 266"/>
            <p:cNvSpPr/>
            <p:nvPr/>
          </p:nvSpPr>
          <p:spPr>
            <a:xfrm>
              <a:off x="6769904" y="451072"/>
              <a:ext cx="217489" cy="2174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267" name="Shape 267"/>
            <p:cNvSpPr/>
            <p:nvPr/>
          </p:nvSpPr>
          <p:spPr>
            <a:xfrm>
              <a:off x="7635092" y="1343247"/>
              <a:ext cx="1071266" cy="525269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marL="0" marR="0"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/>
              <a:r>
                <a:t>Triangle</a:t>
              </a:r>
            </a:p>
          </p:txBody>
        </p:sp>
        <p:sp>
          <p:nvSpPr>
            <p:cNvPr id="268" name="Shape 268"/>
            <p:cNvSpPr/>
            <p:nvPr/>
          </p:nvSpPr>
          <p:spPr>
            <a:xfrm>
              <a:off x="3633004" y="2465609"/>
              <a:ext cx="1308185" cy="525269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marL="0" marR="0"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/>
              <a:r>
                <a:t>Rectangle</a:t>
              </a:r>
            </a:p>
          </p:txBody>
        </p:sp>
        <p:sp>
          <p:nvSpPr>
            <p:cNvPr id="269" name="Shape 269"/>
            <p:cNvSpPr/>
            <p:nvPr/>
          </p:nvSpPr>
          <p:spPr>
            <a:xfrm>
              <a:off x="5938054" y="2481484"/>
              <a:ext cx="1116133" cy="525269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marL="0" marR="0"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/>
              <a:r>
                <a:t>Lozenge</a:t>
              </a:r>
            </a:p>
          </p:txBody>
        </p:sp>
        <p:sp>
          <p:nvSpPr>
            <p:cNvPr id="270" name="Shape 270"/>
            <p:cNvSpPr/>
            <p:nvPr/>
          </p:nvSpPr>
          <p:spPr>
            <a:xfrm>
              <a:off x="5474504" y="898747"/>
              <a:ext cx="2735264" cy="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71" name="Shape 271"/>
            <p:cNvSpPr/>
            <p:nvPr/>
          </p:nvSpPr>
          <p:spPr>
            <a:xfrm>
              <a:off x="5474504" y="898747"/>
              <a:ext cx="1" cy="4318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72" name="Shape 272"/>
            <p:cNvSpPr/>
            <p:nvPr/>
          </p:nvSpPr>
          <p:spPr>
            <a:xfrm>
              <a:off x="8209767" y="898747"/>
              <a:ext cx="1" cy="4318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73" name="Shape 273"/>
            <p:cNvSpPr/>
            <p:nvPr/>
          </p:nvSpPr>
          <p:spPr>
            <a:xfrm>
              <a:off x="6871504" y="681260"/>
              <a:ext cx="1" cy="2159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74" name="Shape 274"/>
            <p:cNvSpPr/>
            <p:nvPr/>
          </p:nvSpPr>
          <p:spPr>
            <a:xfrm>
              <a:off x="4321979" y="2152872"/>
              <a:ext cx="2160589" cy="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75" name="Shape 275"/>
            <p:cNvSpPr/>
            <p:nvPr/>
          </p:nvSpPr>
          <p:spPr>
            <a:xfrm>
              <a:off x="4321979" y="2152872"/>
              <a:ext cx="1" cy="287338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76" name="Shape 276"/>
            <p:cNvSpPr/>
            <p:nvPr/>
          </p:nvSpPr>
          <p:spPr>
            <a:xfrm>
              <a:off x="5474504" y="1935384"/>
              <a:ext cx="1" cy="2159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77" name="Shape 277"/>
            <p:cNvSpPr/>
            <p:nvPr/>
          </p:nvSpPr>
          <p:spPr>
            <a:xfrm>
              <a:off x="6482567" y="2152872"/>
              <a:ext cx="1" cy="287338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78" name="Shape 278"/>
            <p:cNvSpPr/>
            <p:nvPr/>
          </p:nvSpPr>
          <p:spPr>
            <a:xfrm>
              <a:off x="5357029" y="1717897"/>
              <a:ext cx="217489" cy="2174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279" name="Shape 279"/>
            <p:cNvSpPr/>
            <p:nvPr/>
          </p:nvSpPr>
          <p:spPr>
            <a:xfrm>
              <a:off x="4993492" y="3909676"/>
              <a:ext cx="973939" cy="525269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marL="0" marR="0"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/>
              <a:r>
                <a:t>Square</a:t>
              </a:r>
            </a:p>
          </p:txBody>
        </p:sp>
        <p:sp>
          <p:nvSpPr>
            <p:cNvPr id="280" name="Shape 280"/>
            <p:cNvSpPr/>
            <p:nvPr/>
          </p:nvSpPr>
          <p:spPr>
            <a:xfrm>
              <a:off x="4217204" y="2856134"/>
              <a:ext cx="217489" cy="2174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281" name="Shape 281"/>
            <p:cNvSpPr/>
            <p:nvPr/>
          </p:nvSpPr>
          <p:spPr>
            <a:xfrm>
              <a:off x="4347380" y="3073622"/>
              <a:ext cx="1063248" cy="51836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82" name="Shape 282"/>
            <p:cNvSpPr/>
            <p:nvPr/>
          </p:nvSpPr>
          <p:spPr>
            <a:xfrm flipH="1">
              <a:off x="5414583" y="3075209"/>
              <a:ext cx="1063222" cy="51518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83" name="Shape 283"/>
            <p:cNvSpPr/>
            <p:nvPr/>
          </p:nvSpPr>
          <p:spPr>
            <a:xfrm>
              <a:off x="6376204" y="2857722"/>
              <a:ext cx="217489" cy="2174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grpSp>
          <p:nvGrpSpPr>
            <p:cNvPr id="286" name="Group 286"/>
            <p:cNvGrpSpPr/>
            <p:nvPr/>
          </p:nvGrpSpPr>
          <p:grpSpPr>
            <a:xfrm>
              <a:off x="930766" y="1232026"/>
              <a:ext cx="2317055" cy="498574"/>
              <a:chOff x="0" y="0"/>
              <a:chExt cx="2317053" cy="498573"/>
            </a:xfrm>
          </p:grpSpPr>
          <p:sp>
            <p:nvSpPr>
              <p:cNvPr id="284" name="Shape 284"/>
              <p:cNvSpPr/>
              <p:nvPr/>
            </p:nvSpPr>
            <p:spPr>
              <a:xfrm>
                <a:off x="0" y="0"/>
                <a:ext cx="2317054" cy="49857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0" y="21600"/>
                    </a:lnTo>
                    <a:lnTo>
                      <a:pt x="18900" y="21600"/>
                    </a:lnTo>
                    <a:lnTo>
                      <a:pt x="21600" y="18900"/>
                    </a:lnTo>
                    <a:lnTo>
                      <a:pt x="21600" y="0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6699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1800">
                    <a:uFillTx/>
                    <a:latin typeface="Verdana"/>
                    <a:ea typeface="Verdana"/>
                    <a:cs typeface="Verdana"/>
                    <a:sym typeface="Verdana"/>
                  </a:defRPr>
                </a:pPr>
                <a:endParaRPr/>
              </a:p>
            </p:txBody>
          </p:sp>
          <p:sp>
            <p:nvSpPr>
              <p:cNvPr id="285" name="Shape 285"/>
              <p:cNvSpPr/>
              <p:nvPr/>
            </p:nvSpPr>
            <p:spPr>
              <a:xfrm>
                <a:off x="2089375" y="424512"/>
                <a:ext cx="227679" cy="7406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5592" y="736"/>
                    </a:lnTo>
                    <a:cubicBezTo>
                      <a:pt x="7752" y="4048"/>
                      <a:pt x="13504" y="4048"/>
                      <a:pt x="21600" y="0"/>
                    </a:cubicBezTo>
                  </a:path>
                </a:pathLst>
              </a:custGeom>
              <a:noFill/>
              <a:ln w="9525" cap="flat">
                <a:solidFill>
                  <a:srgbClr val="6699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1800">
                    <a:uFillTx/>
                    <a:latin typeface="Verdana"/>
                    <a:ea typeface="Verdana"/>
                    <a:cs typeface="Verdana"/>
                    <a:sym typeface="Verdana"/>
                  </a:defRPr>
                </a:pPr>
                <a:endParaRPr/>
              </a:p>
            </p:txBody>
          </p:sp>
        </p:grpSp>
        <p:sp>
          <p:nvSpPr>
            <p:cNvPr id="287" name="Shape 287"/>
            <p:cNvSpPr/>
            <p:nvPr/>
          </p:nvSpPr>
          <p:spPr>
            <a:xfrm>
              <a:off x="990876" y="1302198"/>
              <a:ext cx="2281990" cy="5252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marL="0" marR="0">
                <a:defRPr sz="1800">
                  <a:solidFill>
                    <a:srgbClr val="6699FF"/>
                  </a:solidFill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>
                  <a:solidFill>
                    <a:srgbClr val="000000"/>
                  </a:solidFill>
                </a:defRPr>
              </a:pPr>
              <a:r>
                <a:rPr>
                  <a:solidFill>
                    <a:srgbClr val="6699FF"/>
                  </a:solidFill>
                </a:rPr>
                <a:t>single inheritance</a:t>
              </a:r>
            </a:p>
          </p:txBody>
        </p:sp>
        <p:sp>
          <p:nvSpPr>
            <p:cNvPr id="288" name="Shape 288"/>
            <p:cNvSpPr/>
            <p:nvPr/>
          </p:nvSpPr>
          <p:spPr>
            <a:xfrm flipH="1" flipV="1">
              <a:off x="3282167" y="1646459"/>
              <a:ext cx="2180961" cy="395554"/>
            </a:xfrm>
            <a:prstGeom prst="line">
              <a:avLst/>
            </a:prstGeom>
            <a:noFill/>
            <a:ln w="9525" cap="flat">
              <a:solidFill>
                <a:srgbClr val="6699FF"/>
              </a:solidFill>
              <a:prstDash val="dash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89" name="Shape 289"/>
            <p:cNvSpPr/>
            <p:nvPr/>
          </p:nvSpPr>
          <p:spPr>
            <a:xfrm flipH="1">
              <a:off x="3282167" y="565372"/>
              <a:ext cx="3527426" cy="720726"/>
            </a:xfrm>
            <a:prstGeom prst="line">
              <a:avLst/>
            </a:prstGeom>
            <a:noFill/>
            <a:ln w="9525" cap="flat">
              <a:solidFill>
                <a:srgbClr val="6699FF"/>
              </a:solidFill>
              <a:prstDash val="dash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90" name="Shape 290"/>
            <p:cNvSpPr/>
            <p:nvPr/>
          </p:nvSpPr>
          <p:spPr>
            <a:xfrm>
              <a:off x="7363655" y="0"/>
              <a:ext cx="662928" cy="5110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810"/>
                  </a:moveTo>
                  <a:lnTo>
                    <a:pt x="5370" y="0"/>
                  </a:lnTo>
                  <a:lnTo>
                    <a:pt x="14630" y="1215"/>
                  </a:lnTo>
                  <a:lnTo>
                    <a:pt x="21600" y="10827"/>
                  </a:lnTo>
                  <a:lnTo>
                    <a:pt x="16614" y="19597"/>
                  </a:lnTo>
                  <a:lnTo>
                    <a:pt x="8561" y="21600"/>
                  </a:lnTo>
                  <a:lnTo>
                    <a:pt x="679" y="16285"/>
                  </a:lnTo>
                  <a:lnTo>
                    <a:pt x="0" y="8810"/>
                  </a:lnTo>
                  <a:close/>
                </a:path>
              </a:pathLst>
            </a:custGeom>
            <a:solidFill>
              <a:srgbClr val="70BF41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/>
              <a:endParaRPr/>
            </a:p>
          </p:txBody>
        </p:sp>
        <p:sp>
          <p:nvSpPr>
            <p:cNvPr id="291" name="Shape 291"/>
            <p:cNvSpPr/>
            <p:nvPr/>
          </p:nvSpPr>
          <p:spPr>
            <a:xfrm>
              <a:off x="8762441" y="1172591"/>
              <a:ext cx="415396" cy="6505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3841"/>
                  </a:moveTo>
                  <a:lnTo>
                    <a:pt x="21600" y="0"/>
                  </a:lnTo>
                  <a:lnTo>
                    <a:pt x="19846" y="21600"/>
                  </a:lnTo>
                  <a:lnTo>
                    <a:pt x="0" y="13841"/>
                  </a:lnTo>
                  <a:close/>
                </a:path>
              </a:pathLst>
            </a:custGeom>
            <a:solidFill>
              <a:srgbClr val="70BF41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/>
              <a:endParaRPr/>
            </a:p>
          </p:txBody>
        </p:sp>
        <p:sp>
          <p:nvSpPr>
            <p:cNvPr id="292" name="Shape 292"/>
            <p:cNvSpPr/>
            <p:nvPr/>
          </p:nvSpPr>
          <p:spPr>
            <a:xfrm>
              <a:off x="3593872" y="1363580"/>
              <a:ext cx="945840" cy="2685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16073" y="303"/>
                  </a:lnTo>
                  <a:lnTo>
                    <a:pt x="21600" y="21297"/>
                  </a:lnTo>
                  <a:lnTo>
                    <a:pt x="6725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0BF41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/>
              <a:endParaRPr/>
            </a:p>
          </p:txBody>
        </p:sp>
        <p:sp>
          <p:nvSpPr>
            <p:cNvPr id="293" name="Shape 293"/>
            <p:cNvSpPr/>
            <p:nvPr/>
          </p:nvSpPr>
          <p:spPr>
            <a:xfrm>
              <a:off x="2483812" y="2467518"/>
              <a:ext cx="931335" cy="304159"/>
            </a:xfrm>
            <a:prstGeom prst="rect">
              <a:avLst/>
            </a:prstGeom>
            <a:solidFill>
              <a:srgbClr val="70BF41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  <a:endParaRPr/>
            </a:p>
          </p:txBody>
        </p:sp>
        <p:sp>
          <p:nvSpPr>
            <p:cNvPr id="294" name="Shape 294"/>
            <p:cNvSpPr/>
            <p:nvPr/>
          </p:nvSpPr>
          <p:spPr>
            <a:xfrm>
              <a:off x="7098145" y="2464186"/>
              <a:ext cx="931335" cy="3108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0800"/>
                  </a:moveTo>
                  <a:lnTo>
                    <a:pt x="10800" y="21600"/>
                  </a:lnTo>
                  <a:lnTo>
                    <a:pt x="21600" y="1080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70BF41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  <a:endParaRPr/>
            </a:p>
          </p:txBody>
        </p:sp>
        <p:sp>
          <p:nvSpPr>
            <p:cNvPr id="295" name="Shape 295"/>
            <p:cNvSpPr/>
            <p:nvPr/>
          </p:nvSpPr>
          <p:spPr>
            <a:xfrm>
              <a:off x="6099079" y="3912322"/>
              <a:ext cx="381001" cy="381001"/>
            </a:xfrm>
            <a:prstGeom prst="rect">
              <a:avLst/>
            </a:prstGeom>
            <a:solidFill>
              <a:srgbClr val="70BF41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  <a:endParaRPr/>
            </a:p>
          </p:txBody>
        </p:sp>
        <p:sp>
          <p:nvSpPr>
            <p:cNvPr id="296" name="Shape 296"/>
            <p:cNvSpPr/>
            <p:nvPr/>
          </p:nvSpPr>
          <p:spPr>
            <a:xfrm>
              <a:off x="5416070" y="3594682"/>
              <a:ext cx="1" cy="316859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grpSp>
          <p:nvGrpSpPr>
            <p:cNvPr id="299" name="Group 299"/>
            <p:cNvGrpSpPr/>
            <p:nvPr/>
          </p:nvGrpSpPr>
          <p:grpSpPr>
            <a:xfrm>
              <a:off x="7900" y="3501301"/>
              <a:ext cx="2317054" cy="498575"/>
              <a:chOff x="0" y="0"/>
              <a:chExt cx="2317053" cy="498573"/>
            </a:xfrm>
          </p:grpSpPr>
          <p:sp>
            <p:nvSpPr>
              <p:cNvPr id="297" name="Shape 297"/>
              <p:cNvSpPr/>
              <p:nvPr/>
            </p:nvSpPr>
            <p:spPr>
              <a:xfrm>
                <a:off x="0" y="0"/>
                <a:ext cx="2317054" cy="49857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0" y="21600"/>
                    </a:lnTo>
                    <a:lnTo>
                      <a:pt x="18900" y="21600"/>
                    </a:lnTo>
                    <a:lnTo>
                      <a:pt x="21600" y="18900"/>
                    </a:lnTo>
                    <a:lnTo>
                      <a:pt x="21600" y="0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6699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1800">
                    <a:uFillTx/>
                    <a:latin typeface="Verdana"/>
                    <a:ea typeface="Verdana"/>
                    <a:cs typeface="Verdana"/>
                    <a:sym typeface="Verdana"/>
                  </a:defRPr>
                </a:pPr>
                <a:endParaRPr/>
              </a:p>
            </p:txBody>
          </p:sp>
          <p:sp>
            <p:nvSpPr>
              <p:cNvPr id="298" name="Shape 298"/>
              <p:cNvSpPr/>
              <p:nvPr/>
            </p:nvSpPr>
            <p:spPr>
              <a:xfrm>
                <a:off x="2089375" y="424512"/>
                <a:ext cx="227679" cy="7406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5592" y="736"/>
                    </a:lnTo>
                    <a:cubicBezTo>
                      <a:pt x="7752" y="4048"/>
                      <a:pt x="13504" y="4048"/>
                      <a:pt x="21600" y="0"/>
                    </a:cubicBezTo>
                  </a:path>
                </a:pathLst>
              </a:custGeom>
              <a:noFill/>
              <a:ln w="9525" cap="flat">
                <a:solidFill>
                  <a:srgbClr val="6699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1800">
                    <a:uFillTx/>
                    <a:latin typeface="Verdana"/>
                    <a:ea typeface="Verdana"/>
                    <a:cs typeface="Verdana"/>
                    <a:sym typeface="Verdana"/>
                  </a:defRPr>
                </a:pPr>
                <a:endParaRPr/>
              </a:p>
            </p:txBody>
          </p:sp>
        </p:grpSp>
        <p:sp>
          <p:nvSpPr>
            <p:cNvPr id="300" name="Shape 300"/>
            <p:cNvSpPr/>
            <p:nvPr/>
          </p:nvSpPr>
          <p:spPr>
            <a:xfrm>
              <a:off x="0" y="3565168"/>
              <a:ext cx="2558989" cy="5252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marL="0" marR="0">
                <a:defRPr sz="1800">
                  <a:solidFill>
                    <a:srgbClr val="6699FF"/>
                  </a:solidFill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>
                  <a:solidFill>
                    <a:srgbClr val="000000"/>
                  </a:solidFill>
                </a:defRPr>
              </a:pPr>
              <a:r>
                <a:rPr>
                  <a:solidFill>
                    <a:srgbClr val="6699FF"/>
                  </a:solidFill>
                </a:rPr>
                <a:t>multiple inheritance</a:t>
              </a:r>
            </a:p>
          </p:txBody>
        </p:sp>
        <p:sp>
          <p:nvSpPr>
            <p:cNvPr id="301" name="Shape 301"/>
            <p:cNvSpPr/>
            <p:nvPr/>
          </p:nvSpPr>
          <p:spPr>
            <a:xfrm flipH="1" flipV="1">
              <a:off x="2325434" y="3778396"/>
              <a:ext cx="2662816" cy="361406"/>
            </a:xfrm>
            <a:prstGeom prst="line">
              <a:avLst/>
            </a:prstGeom>
            <a:noFill/>
            <a:ln w="9525" cap="flat">
              <a:solidFill>
                <a:srgbClr val="6699FF"/>
              </a:solidFill>
              <a:prstDash val="dash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217591363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Shape 30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18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305" name="Shape 305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Polymorphism</a:t>
            </a:r>
          </a:p>
        </p:txBody>
      </p:sp>
      <p:sp>
        <p:nvSpPr>
          <p:cNvPr id="306" name="Shape 306"/>
          <p:cNvSpPr>
            <a:spLocks noGrp="1"/>
          </p:cNvSpPr>
          <p:nvPr>
            <p:ph type="body" idx="1"/>
          </p:nvPr>
        </p:nvSpPr>
        <p:spPr>
          <a:xfrm>
            <a:off x="399443" y="1292790"/>
            <a:ext cx="11398857" cy="5009117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Polymorphism of methods</a:t>
            </a:r>
          </a:p>
          <a:p>
            <a:pPr lvl="1">
              <a:defRPr sz="1800"/>
            </a:pPr>
            <a:r>
              <a:rPr sz="2000"/>
              <a:t>Different methods are capable of answering to a request</a:t>
            </a:r>
          </a:p>
          <a:p>
            <a:pPr lvl="1">
              <a:defRPr sz="1800"/>
            </a:pPr>
            <a:r>
              <a:rPr sz="2000"/>
              <a:t>Methods having the same name are defined differently (different </a:t>
            </a:r>
            <a:r>
              <a:rPr lang="en-US" sz="2000"/>
              <a:t>behavior</a:t>
            </a:r>
            <a:r>
              <a:rPr sz="2000"/>
              <a:t>s) in different classes</a:t>
            </a:r>
          </a:p>
          <a:p>
            <a:pPr lvl="1">
              <a:defRPr sz="1800"/>
            </a:pPr>
            <a:r>
              <a:rPr sz="2000"/>
              <a:t>Sub-classes inherit the specification of methods from parent-class and these methods can be re-defined appropriately</a:t>
            </a:r>
          </a:p>
          <a:p>
            <a:pPr lvl="1">
              <a:defRPr sz="1800"/>
            </a:pPr>
            <a:r>
              <a:rPr sz="2000"/>
              <a:t>Reducing the use of conditional statements (e.g., if-else, switch)</a:t>
            </a:r>
          </a:p>
          <a:p>
            <a:pPr lvl="0">
              <a:defRPr sz="1800"/>
            </a:pPr>
            <a:r>
              <a:rPr sz="2000"/>
              <a:t>Procedural approach </a:t>
            </a:r>
            <a:r>
              <a:rPr sz="2000" i="1"/>
              <a:t>versus</a:t>
            </a:r>
            <a:r>
              <a:rPr sz="2000"/>
              <a:t> Object-oriented approach</a:t>
            </a:r>
          </a:p>
        </p:txBody>
      </p:sp>
      <p:grpSp>
        <p:nvGrpSpPr>
          <p:cNvPr id="334" name="Group 334"/>
          <p:cNvGrpSpPr/>
          <p:nvPr/>
        </p:nvGrpSpPr>
        <p:grpSpPr>
          <a:xfrm>
            <a:off x="599266" y="3797349"/>
            <a:ext cx="4506134" cy="2650056"/>
            <a:chOff x="0" y="-41548"/>
            <a:chExt cx="4251326" cy="3005379"/>
          </a:xfrm>
        </p:grpSpPr>
        <p:grpSp>
          <p:nvGrpSpPr>
            <p:cNvPr id="321" name="Group 321"/>
            <p:cNvGrpSpPr/>
            <p:nvPr/>
          </p:nvGrpSpPr>
          <p:grpSpPr>
            <a:xfrm>
              <a:off x="1441450" y="-41548"/>
              <a:ext cx="792164" cy="415838"/>
              <a:chOff x="0" y="-41547"/>
              <a:chExt cx="792163" cy="415836"/>
            </a:xfrm>
          </p:grpSpPr>
          <p:sp>
            <p:nvSpPr>
              <p:cNvPr id="319" name="Shape 319"/>
              <p:cNvSpPr/>
              <p:nvPr/>
            </p:nvSpPr>
            <p:spPr>
              <a:xfrm>
                <a:off x="0" y="21907"/>
                <a:ext cx="792163" cy="288926"/>
              </a:xfrm>
              <a:prstGeom prst="roundRect">
                <a:avLst>
                  <a:gd name="adj" fmla="val 16667"/>
                </a:avLst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600">
                    <a:uFillTx/>
                    <a:latin typeface="Verdana"/>
                    <a:ea typeface="Verdana"/>
                    <a:cs typeface="Verdana"/>
                    <a:sym typeface="Verdana"/>
                  </a:defRPr>
                </a:pPr>
                <a:endParaRPr/>
              </a:p>
            </p:txBody>
          </p:sp>
          <p:sp>
            <p:nvSpPr>
              <p:cNvPr id="320" name="Shape 320"/>
              <p:cNvSpPr/>
              <p:nvPr/>
            </p:nvSpPr>
            <p:spPr>
              <a:xfrm>
                <a:off x="126264" y="-41547"/>
                <a:ext cx="539632" cy="41583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>
                <a:lvl1pPr marL="0" marR="0" algn="ctr">
                  <a:defRPr sz="1600">
                    <a:uFillTx/>
                    <a:latin typeface="Verdana"/>
                    <a:ea typeface="Verdana"/>
                    <a:cs typeface="Verdana"/>
                    <a:sym typeface="Verdana"/>
                  </a:defRPr>
                </a:lvl1pPr>
              </a:lstStyle>
              <a:p>
                <a:pPr lvl="0">
                  <a:defRPr sz="1800"/>
                </a:pPr>
                <a:r>
                  <a:rPr sz="1300"/>
                  <a:t>main</a:t>
                </a:r>
              </a:p>
            </p:txBody>
          </p:sp>
        </p:grpSp>
        <p:grpSp>
          <p:nvGrpSpPr>
            <p:cNvPr id="324" name="Group 324"/>
            <p:cNvGrpSpPr/>
            <p:nvPr/>
          </p:nvGrpSpPr>
          <p:grpSpPr>
            <a:xfrm>
              <a:off x="649286" y="606152"/>
              <a:ext cx="2376490" cy="415838"/>
              <a:chOff x="0" y="-41547"/>
              <a:chExt cx="2376488" cy="415836"/>
            </a:xfrm>
          </p:grpSpPr>
          <p:sp>
            <p:nvSpPr>
              <p:cNvPr id="322" name="Shape 322"/>
              <p:cNvSpPr/>
              <p:nvPr/>
            </p:nvSpPr>
            <p:spPr>
              <a:xfrm>
                <a:off x="0" y="21907"/>
                <a:ext cx="2376488" cy="288926"/>
              </a:xfrm>
              <a:prstGeom prst="roundRect">
                <a:avLst>
                  <a:gd name="adj" fmla="val 16667"/>
                </a:avLst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600">
                    <a:uFillTx/>
                    <a:latin typeface="Verdana"/>
                    <a:ea typeface="Verdana"/>
                    <a:cs typeface="Verdana"/>
                    <a:sym typeface="Verdana"/>
                  </a:defRPr>
                </a:pPr>
                <a:endParaRPr/>
              </a:p>
            </p:txBody>
          </p:sp>
          <p:sp>
            <p:nvSpPr>
              <p:cNvPr id="323" name="Shape 323"/>
              <p:cNvSpPr/>
              <p:nvPr/>
            </p:nvSpPr>
            <p:spPr>
              <a:xfrm>
                <a:off x="86611" y="-41547"/>
                <a:ext cx="2203265" cy="41583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>
                <a:lvl1pPr marL="0" marR="0" algn="ctr">
                  <a:defRPr sz="1600">
                    <a:uFillTx/>
                    <a:latin typeface="Verdana"/>
                    <a:ea typeface="Verdana"/>
                    <a:cs typeface="Verdana"/>
                    <a:sym typeface="Verdana"/>
                  </a:defRPr>
                </a:lvl1pPr>
              </a:lstStyle>
              <a:p>
                <a:pPr lvl="0">
                  <a:defRPr sz="1800"/>
                </a:pPr>
                <a:r>
                  <a:rPr sz="1300"/>
                  <a:t>execute the transaction</a:t>
                </a:r>
              </a:p>
            </p:txBody>
          </p:sp>
        </p:grpSp>
        <p:grpSp>
          <p:nvGrpSpPr>
            <p:cNvPr id="327" name="Group 327"/>
            <p:cNvGrpSpPr/>
            <p:nvPr/>
          </p:nvGrpSpPr>
          <p:grpSpPr>
            <a:xfrm>
              <a:off x="0" y="1256700"/>
              <a:ext cx="2017714" cy="1707129"/>
              <a:chOff x="0" y="-133632"/>
              <a:chExt cx="2017713" cy="1707128"/>
            </a:xfrm>
          </p:grpSpPr>
          <p:sp>
            <p:nvSpPr>
              <p:cNvPr id="325" name="Shape 325"/>
              <p:cNvSpPr/>
              <p:nvPr/>
            </p:nvSpPr>
            <p:spPr>
              <a:xfrm>
                <a:off x="0" y="0"/>
                <a:ext cx="2017713" cy="1439863"/>
              </a:xfrm>
              <a:prstGeom prst="roundRect">
                <a:avLst>
                  <a:gd name="adj" fmla="val 16667"/>
                </a:avLst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1400">
                    <a:uFillTx/>
                    <a:latin typeface="Verdana"/>
                    <a:ea typeface="Verdana"/>
                    <a:cs typeface="Verdana"/>
                    <a:sym typeface="Verdana"/>
                  </a:defRPr>
                </a:pPr>
                <a:endParaRPr/>
              </a:p>
            </p:txBody>
          </p:sp>
          <p:sp>
            <p:nvSpPr>
              <p:cNvPr id="326" name="Shape 326"/>
              <p:cNvSpPr/>
              <p:nvPr/>
            </p:nvSpPr>
            <p:spPr>
              <a:xfrm>
                <a:off x="70258" y="-133632"/>
                <a:ext cx="1557005" cy="170712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/>
              <a:p>
                <a:pPr>
                  <a:defRPr sz="1800">
                    <a:uFillTx/>
                  </a:defRPr>
                </a:pPr>
                <a:r>
                  <a:rPr sz="1200">
                    <a:latin typeface="Verdana"/>
                    <a:ea typeface="Verdana"/>
                    <a:cs typeface="Verdana"/>
                    <a:sym typeface="Verdana"/>
                  </a:rPr>
                  <a:t>calculate costs</a:t>
                </a:r>
              </a:p>
              <a:p>
                <a:pPr>
                  <a:defRPr sz="1800">
                    <a:uFillTx/>
                  </a:defRPr>
                </a:pPr>
                <a:r>
                  <a:rPr sz="1200">
                    <a:latin typeface="Verdana"/>
                    <a:ea typeface="Verdana"/>
                    <a:cs typeface="Verdana"/>
                    <a:sym typeface="Verdana"/>
                  </a:rPr>
                  <a:t>if current account</a:t>
                </a:r>
              </a:p>
              <a:p>
                <a:pPr>
                  <a:defRPr sz="1800">
                    <a:uFillTx/>
                  </a:defRPr>
                </a:pPr>
                <a:r>
                  <a:rPr sz="1200">
                    <a:latin typeface="Verdana"/>
                    <a:ea typeface="Verdana"/>
                    <a:cs typeface="Verdana"/>
                    <a:sym typeface="Verdana"/>
                  </a:rPr>
                  <a:t>   …</a:t>
                </a:r>
              </a:p>
              <a:p>
                <a:pPr>
                  <a:defRPr sz="1800">
                    <a:uFillTx/>
                  </a:defRPr>
                </a:pPr>
                <a:r>
                  <a:rPr sz="1200">
                    <a:latin typeface="Verdana"/>
                    <a:ea typeface="Verdana"/>
                    <a:cs typeface="Verdana"/>
                    <a:sym typeface="Verdana"/>
                  </a:rPr>
                  <a:t>if saving account</a:t>
                </a:r>
              </a:p>
              <a:p>
                <a:pPr>
                  <a:defRPr sz="1800">
                    <a:uFillTx/>
                  </a:defRPr>
                </a:pPr>
                <a:r>
                  <a:rPr sz="1200">
                    <a:latin typeface="Verdana"/>
                    <a:ea typeface="Verdana"/>
                    <a:cs typeface="Verdana"/>
                    <a:sym typeface="Verdana"/>
                  </a:rPr>
                  <a:t>   …</a:t>
                </a:r>
              </a:p>
              <a:p>
                <a:pPr>
                  <a:defRPr sz="1800">
                    <a:uFillTx/>
                  </a:defRPr>
                </a:pPr>
                <a:r>
                  <a:rPr sz="1200">
                    <a:latin typeface="Verdana"/>
                    <a:ea typeface="Verdana"/>
                    <a:cs typeface="Verdana"/>
                    <a:sym typeface="Verdana"/>
                  </a:rPr>
                  <a:t>else …</a:t>
                </a:r>
              </a:p>
            </p:txBody>
          </p:sp>
        </p:grpSp>
        <p:grpSp>
          <p:nvGrpSpPr>
            <p:cNvPr id="330" name="Group 330"/>
            <p:cNvGrpSpPr/>
            <p:nvPr/>
          </p:nvGrpSpPr>
          <p:grpSpPr>
            <a:xfrm>
              <a:off x="2233612" y="1256700"/>
              <a:ext cx="2017714" cy="1707131"/>
              <a:chOff x="0" y="-133632"/>
              <a:chExt cx="2017713" cy="1707130"/>
            </a:xfrm>
          </p:grpSpPr>
          <p:sp>
            <p:nvSpPr>
              <p:cNvPr id="328" name="Shape 328"/>
              <p:cNvSpPr/>
              <p:nvPr/>
            </p:nvSpPr>
            <p:spPr>
              <a:xfrm>
                <a:off x="0" y="0"/>
                <a:ext cx="2017713" cy="1439863"/>
              </a:xfrm>
              <a:prstGeom prst="roundRect">
                <a:avLst>
                  <a:gd name="adj" fmla="val 16667"/>
                </a:avLst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1400">
                    <a:uFillTx/>
                    <a:latin typeface="Verdana"/>
                    <a:ea typeface="Verdana"/>
                    <a:cs typeface="Verdana"/>
                    <a:sym typeface="Verdana"/>
                  </a:defRPr>
                </a:pPr>
                <a:endParaRPr/>
              </a:p>
            </p:txBody>
          </p:sp>
          <p:sp>
            <p:nvSpPr>
              <p:cNvPr id="329" name="Shape 329"/>
              <p:cNvSpPr/>
              <p:nvPr/>
            </p:nvSpPr>
            <p:spPr>
              <a:xfrm>
                <a:off x="70258" y="-133632"/>
                <a:ext cx="1596332" cy="17071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/>
              <a:p>
                <a:pPr>
                  <a:defRPr sz="1800">
                    <a:uFillTx/>
                  </a:defRPr>
                </a:pPr>
                <a:r>
                  <a:rPr sz="1200">
                    <a:latin typeface="Verdana"/>
                    <a:ea typeface="Verdana"/>
                    <a:cs typeface="Verdana"/>
                    <a:sym typeface="Verdana"/>
                  </a:rPr>
                  <a:t>calculate interests</a:t>
                </a:r>
              </a:p>
              <a:p>
                <a:pPr>
                  <a:defRPr sz="1800">
                    <a:uFillTx/>
                  </a:defRPr>
                </a:pPr>
                <a:r>
                  <a:rPr sz="1200">
                    <a:latin typeface="Verdana"/>
                    <a:ea typeface="Verdana"/>
                    <a:cs typeface="Verdana"/>
                    <a:sym typeface="Verdana"/>
                  </a:rPr>
                  <a:t>if current account</a:t>
                </a:r>
              </a:p>
              <a:p>
                <a:pPr>
                  <a:defRPr sz="1800">
                    <a:uFillTx/>
                  </a:defRPr>
                </a:pPr>
                <a:r>
                  <a:rPr sz="1200">
                    <a:latin typeface="Verdana"/>
                    <a:ea typeface="Verdana"/>
                    <a:cs typeface="Verdana"/>
                    <a:sym typeface="Verdana"/>
                  </a:rPr>
                  <a:t>   …</a:t>
                </a:r>
              </a:p>
              <a:p>
                <a:pPr>
                  <a:defRPr sz="1800">
                    <a:uFillTx/>
                  </a:defRPr>
                </a:pPr>
                <a:r>
                  <a:rPr sz="1200">
                    <a:latin typeface="Verdana"/>
                    <a:ea typeface="Verdana"/>
                    <a:cs typeface="Verdana"/>
                    <a:sym typeface="Verdana"/>
                  </a:rPr>
                  <a:t>if saving account</a:t>
                </a:r>
              </a:p>
              <a:p>
                <a:pPr>
                  <a:defRPr sz="1800">
                    <a:uFillTx/>
                  </a:defRPr>
                </a:pPr>
                <a:r>
                  <a:rPr sz="1200">
                    <a:latin typeface="Verdana"/>
                    <a:ea typeface="Verdana"/>
                    <a:cs typeface="Verdana"/>
                    <a:sym typeface="Verdana"/>
                  </a:rPr>
                  <a:t>   …</a:t>
                </a:r>
              </a:p>
              <a:p>
                <a:pPr>
                  <a:defRPr sz="1800">
                    <a:uFillTx/>
                  </a:defRPr>
                </a:pPr>
                <a:r>
                  <a:rPr sz="1200">
                    <a:latin typeface="Verdana"/>
                    <a:ea typeface="Verdana"/>
                    <a:cs typeface="Verdana"/>
                    <a:sym typeface="Verdana"/>
                  </a:rPr>
                  <a:t>else …</a:t>
                </a:r>
              </a:p>
            </p:txBody>
          </p:sp>
        </p:grpSp>
        <p:sp>
          <p:nvSpPr>
            <p:cNvPr id="331" name="Shape 331"/>
            <p:cNvSpPr/>
            <p:nvPr/>
          </p:nvSpPr>
          <p:spPr>
            <a:xfrm>
              <a:off x="1801812" y="309244"/>
              <a:ext cx="1" cy="360364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32" name="Shape 332"/>
            <p:cNvSpPr/>
            <p:nvPr/>
          </p:nvSpPr>
          <p:spPr>
            <a:xfrm flipH="1">
              <a:off x="865187" y="958532"/>
              <a:ext cx="792164" cy="4318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33" name="Shape 333"/>
            <p:cNvSpPr/>
            <p:nvPr/>
          </p:nvSpPr>
          <p:spPr>
            <a:xfrm>
              <a:off x="2017712" y="958532"/>
              <a:ext cx="1008063" cy="4318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  <p:pic>
        <p:nvPicPr>
          <p:cNvPr id="335" name="pasted-image.png"/>
          <p:cNvPicPr/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89861" y="5561424"/>
            <a:ext cx="1305279" cy="894830"/>
          </a:xfrm>
          <a:prstGeom prst="rect">
            <a:avLst/>
          </a:prstGeom>
          <a:ln w="6350">
            <a:round/>
          </a:ln>
        </p:spPr>
      </p:pic>
      <p:pic>
        <p:nvPicPr>
          <p:cNvPr id="336" name="pasted-image.png"/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94627" y="5561424"/>
            <a:ext cx="1932441" cy="894830"/>
          </a:xfrm>
          <a:prstGeom prst="rect">
            <a:avLst/>
          </a:prstGeom>
          <a:ln w="6350">
            <a:round/>
          </a:ln>
        </p:spPr>
      </p:pic>
      <p:grpSp>
        <p:nvGrpSpPr>
          <p:cNvPr id="35" name="Group 318"/>
          <p:cNvGrpSpPr/>
          <p:nvPr/>
        </p:nvGrpSpPr>
        <p:grpSpPr>
          <a:xfrm>
            <a:off x="6726025" y="3677603"/>
            <a:ext cx="3982642" cy="1859725"/>
            <a:chOff x="0" y="-170302"/>
            <a:chExt cx="4248150" cy="2644936"/>
          </a:xfrm>
        </p:grpSpPr>
        <p:sp>
          <p:nvSpPr>
            <p:cNvPr id="36" name="Shape 307"/>
            <p:cNvSpPr/>
            <p:nvPr/>
          </p:nvSpPr>
          <p:spPr>
            <a:xfrm>
              <a:off x="1584325" y="-170302"/>
              <a:ext cx="1008063" cy="941108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algn="ctr">
                <a:defRPr sz="1800">
                  <a:uFillTx/>
                </a:defRPr>
              </a:pPr>
              <a:r>
                <a:rPr sz="1300">
                  <a:latin typeface="Verdana"/>
                  <a:ea typeface="Verdana"/>
                  <a:cs typeface="Verdana"/>
                  <a:sym typeface="Verdana"/>
                </a:rPr>
                <a:t>Account</a:t>
              </a:r>
            </a:p>
            <a:p>
              <a:pPr>
                <a:defRPr sz="1800">
                  <a:uFillTx/>
                </a:defRPr>
              </a:pPr>
              <a:r>
                <a:rPr sz="1200">
                  <a:latin typeface="Verdana"/>
                  <a:ea typeface="Verdana"/>
                  <a:cs typeface="Verdana"/>
                  <a:sym typeface="Verdana"/>
                </a:rPr>
                <a:t>credit</a:t>
              </a:r>
            </a:p>
            <a:p>
              <a:pPr>
                <a:defRPr sz="1800">
                  <a:uFillTx/>
                </a:defRPr>
              </a:pPr>
              <a:r>
                <a:rPr sz="1200">
                  <a:latin typeface="Verdana"/>
                  <a:ea typeface="Verdana"/>
                  <a:cs typeface="Verdana"/>
                  <a:sym typeface="Verdana"/>
                </a:rPr>
                <a:t>debit</a:t>
              </a:r>
            </a:p>
          </p:txBody>
        </p:sp>
        <p:sp>
          <p:nvSpPr>
            <p:cNvPr id="37" name="Shape 308"/>
            <p:cNvSpPr/>
            <p:nvPr/>
          </p:nvSpPr>
          <p:spPr>
            <a:xfrm>
              <a:off x="1584325" y="180549"/>
              <a:ext cx="1008063" cy="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8" name="Shape 309"/>
            <p:cNvSpPr/>
            <p:nvPr/>
          </p:nvSpPr>
          <p:spPr>
            <a:xfrm>
              <a:off x="2376487" y="1512887"/>
              <a:ext cx="1871663" cy="941109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algn="ctr">
                <a:defRPr sz="1800">
                  <a:uFillTx/>
                </a:defRPr>
              </a:pPr>
              <a:r>
                <a:rPr sz="1300">
                  <a:latin typeface="Verdana"/>
                  <a:ea typeface="Verdana"/>
                  <a:cs typeface="Verdana"/>
                  <a:sym typeface="Verdana"/>
                </a:rPr>
                <a:t>SavingAccount</a:t>
              </a:r>
            </a:p>
            <a:p>
              <a:pPr>
                <a:defRPr sz="1800">
                  <a:uFillTx/>
                </a:defRPr>
              </a:pPr>
              <a:r>
                <a:rPr sz="1200">
                  <a:latin typeface="Verdana"/>
                  <a:ea typeface="Verdana"/>
                  <a:cs typeface="Verdana"/>
                  <a:sym typeface="Verdana"/>
                </a:rPr>
                <a:t>Calculate costs</a:t>
              </a:r>
            </a:p>
            <a:p>
              <a:pPr>
                <a:defRPr sz="1800">
                  <a:uFillTx/>
                </a:defRPr>
              </a:pPr>
              <a:r>
                <a:rPr sz="1200">
                  <a:latin typeface="Verdana"/>
                  <a:ea typeface="Verdana"/>
                  <a:cs typeface="Verdana"/>
                  <a:sym typeface="Verdana"/>
                </a:rPr>
                <a:t>Calculate interests</a:t>
              </a:r>
            </a:p>
          </p:txBody>
        </p:sp>
        <p:sp>
          <p:nvSpPr>
            <p:cNvPr id="39" name="Shape 310"/>
            <p:cNvSpPr/>
            <p:nvPr/>
          </p:nvSpPr>
          <p:spPr>
            <a:xfrm>
              <a:off x="2376487" y="1846672"/>
              <a:ext cx="1871663" cy="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0" name="Shape 311"/>
            <p:cNvSpPr/>
            <p:nvPr/>
          </p:nvSpPr>
          <p:spPr>
            <a:xfrm>
              <a:off x="0" y="1533525"/>
              <a:ext cx="1943100" cy="941109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algn="ctr">
                <a:defRPr sz="1800">
                  <a:uFillTx/>
                </a:defRPr>
              </a:pPr>
              <a:r>
                <a:rPr sz="1300">
                  <a:latin typeface="Verdana"/>
                  <a:ea typeface="Verdana"/>
                  <a:cs typeface="Verdana"/>
                  <a:sym typeface="Verdana"/>
                </a:rPr>
                <a:t>CurrentAccount</a:t>
              </a:r>
            </a:p>
            <a:p>
              <a:pPr>
                <a:defRPr sz="1800">
                  <a:uFillTx/>
                </a:defRPr>
              </a:pPr>
              <a:r>
                <a:rPr sz="1200">
                  <a:latin typeface="Verdana"/>
                  <a:ea typeface="Verdana"/>
                  <a:cs typeface="Verdana"/>
                  <a:sym typeface="Verdana"/>
                </a:rPr>
                <a:t>Calculate costs</a:t>
              </a:r>
            </a:p>
            <a:p>
              <a:pPr>
                <a:defRPr sz="1800">
                  <a:uFillTx/>
                </a:defRPr>
              </a:pPr>
              <a:r>
                <a:rPr sz="1200">
                  <a:latin typeface="Verdana"/>
                  <a:ea typeface="Verdana"/>
                  <a:cs typeface="Verdana"/>
                  <a:sym typeface="Verdana"/>
                </a:rPr>
                <a:t>Calculate interests</a:t>
              </a:r>
            </a:p>
          </p:txBody>
        </p:sp>
        <p:sp>
          <p:nvSpPr>
            <p:cNvPr id="41" name="Shape 312"/>
            <p:cNvSpPr/>
            <p:nvPr/>
          </p:nvSpPr>
          <p:spPr>
            <a:xfrm>
              <a:off x="0" y="1875247"/>
              <a:ext cx="1943100" cy="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2" name="Shape 313"/>
            <p:cNvSpPr/>
            <p:nvPr/>
          </p:nvSpPr>
          <p:spPr>
            <a:xfrm>
              <a:off x="865187" y="1225550"/>
              <a:ext cx="1" cy="287338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3" name="Shape 314"/>
            <p:cNvSpPr/>
            <p:nvPr/>
          </p:nvSpPr>
          <p:spPr>
            <a:xfrm>
              <a:off x="3384550" y="1225550"/>
              <a:ext cx="0" cy="287338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4" name="Shape 315"/>
            <p:cNvSpPr/>
            <p:nvPr/>
          </p:nvSpPr>
          <p:spPr>
            <a:xfrm>
              <a:off x="865187" y="1211262"/>
              <a:ext cx="2519363" cy="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5" name="Shape 316"/>
            <p:cNvSpPr/>
            <p:nvPr/>
          </p:nvSpPr>
          <p:spPr>
            <a:xfrm>
              <a:off x="1944687" y="763587"/>
              <a:ext cx="287339" cy="217489"/>
            </a:xfrm>
            <a:prstGeom prst="triangl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46" name="Shape 317"/>
            <p:cNvSpPr/>
            <p:nvPr/>
          </p:nvSpPr>
          <p:spPr>
            <a:xfrm flipV="1">
              <a:off x="2089150" y="981075"/>
              <a:ext cx="0" cy="21590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886474216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Shape 33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19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339" name="Shape 339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Polymorphism: dynamic linking</a:t>
            </a:r>
          </a:p>
        </p:txBody>
      </p:sp>
      <p:sp>
        <p:nvSpPr>
          <p:cNvPr id="340" name="Shape 340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The method to be executed by an object depends on the class of the object: dynamic linking</a:t>
            </a:r>
          </a:p>
          <a:p>
            <a:pPr lvl="0">
              <a:defRPr sz="1800"/>
            </a:pPr>
            <a:r>
              <a:rPr sz="2000"/>
              <a:t>The dynamic linking is necessary when</a:t>
            </a:r>
          </a:p>
          <a:p>
            <a:pPr lvl="1">
              <a:defRPr sz="1800"/>
            </a:pPr>
            <a:r>
              <a:rPr sz="2000"/>
              <a:t>A variable refers to an object whose class of membership is part of an inheritance tree</a:t>
            </a:r>
          </a:p>
          <a:p>
            <a:pPr lvl="1">
              <a:defRPr sz="1800"/>
            </a:pPr>
            <a:r>
              <a:rPr sz="2000"/>
              <a:t>Several methods exist for the same message (name) in the inheritance tree (polymorphism)</a:t>
            </a:r>
          </a:p>
        </p:txBody>
      </p:sp>
      <p:sp>
        <p:nvSpPr>
          <p:cNvPr id="341" name="Shape 341"/>
          <p:cNvSpPr/>
          <p:nvPr/>
        </p:nvSpPr>
        <p:spPr>
          <a:xfrm>
            <a:off x="2021285" y="3605610"/>
            <a:ext cx="1821656" cy="646670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267" tIns="38268" rIns="38267" bIns="38268">
            <a:spAutoFit/>
          </a:bodyPr>
          <a:lstStyle/>
          <a:p>
            <a:pPr algn="ctr">
              <a:defRPr sz="1800">
                <a:uFillTx/>
              </a:defRPr>
            </a:pPr>
            <a:r>
              <a:rPr sz="1300">
                <a:latin typeface="Verdana"/>
                <a:ea typeface="Verdana"/>
                <a:cs typeface="Verdana"/>
                <a:sym typeface="Verdana"/>
              </a:rPr>
              <a:t>Account</a:t>
            </a:r>
          </a:p>
          <a:p>
            <a:pPr>
              <a:defRPr sz="1800">
                <a:uFillTx/>
              </a:defRPr>
            </a:pPr>
            <a:r>
              <a:rPr sz="1200">
                <a:latin typeface="Verdana"/>
                <a:ea typeface="Verdana"/>
                <a:cs typeface="Verdana"/>
                <a:sym typeface="Verdana"/>
              </a:rPr>
              <a:t>calculateCosts()</a:t>
            </a:r>
          </a:p>
          <a:p>
            <a:pPr>
              <a:defRPr sz="1800">
                <a:uFillTx/>
              </a:defRPr>
            </a:pPr>
            <a:r>
              <a:rPr sz="1200">
                <a:latin typeface="Verdana"/>
                <a:ea typeface="Verdana"/>
                <a:cs typeface="Verdana"/>
                <a:sym typeface="Verdana"/>
              </a:rPr>
              <a:t>calculateInterests()</a:t>
            </a:r>
          </a:p>
        </p:txBody>
      </p:sp>
      <p:sp>
        <p:nvSpPr>
          <p:cNvPr id="342" name="Shape 342"/>
          <p:cNvSpPr/>
          <p:nvPr/>
        </p:nvSpPr>
        <p:spPr>
          <a:xfrm>
            <a:off x="3174504" y="4796358"/>
            <a:ext cx="1754684" cy="677448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267" tIns="38268" rIns="38267" bIns="38268">
            <a:spAutoFit/>
          </a:bodyPr>
          <a:lstStyle/>
          <a:p>
            <a:pPr>
              <a:defRPr sz="1800">
                <a:uFillTx/>
              </a:defRPr>
            </a:pPr>
            <a:r>
              <a:rPr sz="1300">
                <a:latin typeface="Verdana"/>
                <a:ea typeface="Verdana"/>
                <a:cs typeface="Verdana"/>
                <a:sym typeface="Verdana"/>
              </a:rPr>
              <a:t>SavingAccount</a:t>
            </a:r>
          </a:p>
          <a:p>
            <a:pPr>
              <a:defRPr sz="1800">
                <a:uFillTx/>
              </a:defRPr>
            </a:pPr>
            <a:r>
              <a:rPr sz="1300">
                <a:latin typeface="Verdana"/>
                <a:ea typeface="Verdana"/>
                <a:cs typeface="Verdana"/>
                <a:sym typeface="Verdana"/>
              </a:rPr>
              <a:t>calculateCosts()</a:t>
            </a:r>
          </a:p>
          <a:p>
            <a:pPr>
              <a:defRPr sz="1800">
                <a:uFillTx/>
              </a:defRPr>
            </a:pPr>
            <a:r>
              <a:rPr sz="1300">
                <a:latin typeface="Verdana"/>
                <a:ea typeface="Verdana"/>
                <a:cs typeface="Verdana"/>
                <a:sym typeface="Verdana"/>
              </a:rPr>
              <a:t>calculateInterests()</a:t>
            </a:r>
          </a:p>
        </p:txBody>
      </p:sp>
      <p:sp>
        <p:nvSpPr>
          <p:cNvPr id="343" name="Shape 343"/>
          <p:cNvSpPr/>
          <p:nvPr/>
        </p:nvSpPr>
        <p:spPr>
          <a:xfrm>
            <a:off x="3187204" y="5049193"/>
            <a:ext cx="1754684" cy="0"/>
          </a:xfrm>
          <a:prstGeom prst="line">
            <a:avLst/>
          </a:prstGeom>
          <a:ln>
            <a:solidFill/>
            <a:round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344" name="Shape 344"/>
          <p:cNvSpPr/>
          <p:nvPr/>
        </p:nvSpPr>
        <p:spPr>
          <a:xfrm>
            <a:off x="946547" y="4810870"/>
            <a:ext cx="1821656" cy="646670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267" tIns="38268" rIns="38267" bIns="38268">
            <a:spAutoFit/>
          </a:bodyPr>
          <a:lstStyle/>
          <a:p>
            <a:pPr>
              <a:defRPr sz="1800">
                <a:uFillTx/>
              </a:defRPr>
            </a:pPr>
            <a:r>
              <a:rPr sz="1300">
                <a:latin typeface="Verdana"/>
                <a:ea typeface="Verdana"/>
                <a:cs typeface="Verdana"/>
                <a:sym typeface="Verdana"/>
              </a:rPr>
              <a:t>CurrentAccount</a:t>
            </a:r>
          </a:p>
          <a:p>
            <a:pPr>
              <a:defRPr sz="1800">
                <a:uFillTx/>
              </a:defRPr>
            </a:pPr>
            <a:r>
              <a:rPr sz="1200">
                <a:latin typeface="Verdana"/>
                <a:ea typeface="Verdana"/>
                <a:cs typeface="Verdana"/>
                <a:sym typeface="Verdana"/>
              </a:rPr>
              <a:t>calculateCosts()</a:t>
            </a:r>
          </a:p>
          <a:p>
            <a:pPr>
              <a:defRPr sz="1800">
                <a:uFillTx/>
              </a:defRPr>
            </a:pPr>
            <a:r>
              <a:rPr sz="1200">
                <a:latin typeface="Verdana"/>
                <a:ea typeface="Verdana"/>
                <a:cs typeface="Verdana"/>
                <a:sym typeface="Verdana"/>
              </a:rPr>
              <a:t>calculateInterests()</a:t>
            </a:r>
          </a:p>
        </p:txBody>
      </p:sp>
      <p:sp>
        <p:nvSpPr>
          <p:cNvPr id="345" name="Shape 345"/>
          <p:cNvSpPr/>
          <p:nvPr/>
        </p:nvSpPr>
        <p:spPr>
          <a:xfrm>
            <a:off x="959247" y="5069284"/>
            <a:ext cx="1821656" cy="0"/>
          </a:xfrm>
          <a:prstGeom prst="line">
            <a:avLst/>
          </a:prstGeom>
          <a:ln>
            <a:solidFill/>
            <a:round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346" name="Shape 346"/>
          <p:cNvSpPr/>
          <p:nvPr/>
        </p:nvSpPr>
        <p:spPr>
          <a:xfrm>
            <a:off x="1757660" y="4594324"/>
            <a:ext cx="1" cy="202035"/>
          </a:xfrm>
          <a:prstGeom prst="line">
            <a:avLst/>
          </a:prstGeom>
          <a:ln>
            <a:solidFill/>
            <a:round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347" name="Shape 347"/>
          <p:cNvSpPr/>
          <p:nvPr/>
        </p:nvSpPr>
        <p:spPr>
          <a:xfrm>
            <a:off x="4119563" y="4594324"/>
            <a:ext cx="0" cy="202035"/>
          </a:xfrm>
          <a:prstGeom prst="line">
            <a:avLst/>
          </a:prstGeom>
          <a:ln>
            <a:solidFill/>
            <a:round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348" name="Shape 348"/>
          <p:cNvSpPr/>
          <p:nvPr/>
        </p:nvSpPr>
        <p:spPr>
          <a:xfrm>
            <a:off x="1757660" y="4584278"/>
            <a:ext cx="2361903" cy="1"/>
          </a:xfrm>
          <a:prstGeom prst="line">
            <a:avLst/>
          </a:prstGeom>
          <a:ln>
            <a:solidFill/>
            <a:round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349" name="Shape 349"/>
          <p:cNvSpPr/>
          <p:nvPr/>
        </p:nvSpPr>
        <p:spPr>
          <a:xfrm>
            <a:off x="2769691" y="4269507"/>
            <a:ext cx="269379" cy="152921"/>
          </a:xfrm>
          <a:prstGeom prst="triangle">
            <a:avLst/>
          </a:prstGeom>
          <a:ln>
            <a:solidFill/>
            <a:round/>
          </a:ln>
        </p:spPr>
        <p:txBody>
          <a:bodyPr lIns="38267" tIns="38268" rIns="38267" bIns="38268" anchor="ctr"/>
          <a:lstStyle/>
          <a:p>
            <a:pPr>
              <a:defRPr sz="1800">
                <a:uFillTx/>
                <a:latin typeface="Verdana"/>
                <a:ea typeface="Verdana"/>
                <a:cs typeface="Verdana"/>
                <a:sym typeface="Verdana"/>
              </a:defRPr>
            </a:pPr>
            <a:endParaRPr/>
          </a:p>
        </p:txBody>
      </p:sp>
      <p:sp>
        <p:nvSpPr>
          <p:cNvPr id="350" name="Shape 350"/>
          <p:cNvSpPr/>
          <p:nvPr/>
        </p:nvSpPr>
        <p:spPr>
          <a:xfrm flipV="1">
            <a:off x="2905125" y="4422428"/>
            <a:ext cx="0" cy="151805"/>
          </a:xfrm>
          <a:prstGeom prst="line">
            <a:avLst/>
          </a:prstGeom>
          <a:ln>
            <a:solidFill/>
            <a:round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351" name="Shape 351"/>
          <p:cNvSpPr/>
          <p:nvPr/>
        </p:nvSpPr>
        <p:spPr>
          <a:xfrm>
            <a:off x="7106542" y="3056261"/>
            <a:ext cx="4248295" cy="32781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8267" tIns="38268" rIns="38267" bIns="38268">
            <a:spAutoFit/>
          </a:bodyPr>
          <a:lstStyle/>
          <a:p>
            <a:pPr>
              <a:defRPr sz="1800">
                <a:uFillTx/>
              </a:defRPr>
            </a:pPr>
            <a:r>
              <a:rPr sz="1300" dirty="0">
                <a:latin typeface="Verdana"/>
                <a:ea typeface="Verdana"/>
                <a:cs typeface="Verdana"/>
                <a:sym typeface="Verdana"/>
              </a:rPr>
              <a:t>int </a:t>
            </a:r>
            <a:r>
              <a:rPr sz="1300" dirty="0" err="1">
                <a:latin typeface="Verdana"/>
                <a:ea typeface="Verdana"/>
                <a:cs typeface="Verdana"/>
                <a:sym typeface="Verdana"/>
              </a:rPr>
              <a:t>calculateCost</a:t>
            </a:r>
            <a:r>
              <a:rPr sz="1300" dirty="0">
                <a:latin typeface="Verdana"/>
                <a:ea typeface="Verdana"/>
                <a:cs typeface="Verdana"/>
                <a:sym typeface="Verdana"/>
              </a:rPr>
              <a:t>(Account accounts)</a:t>
            </a:r>
          </a:p>
          <a:p>
            <a:pPr>
              <a:defRPr sz="1800">
                <a:uFillTx/>
              </a:defRPr>
            </a:pPr>
            <a:r>
              <a:rPr sz="1300" dirty="0">
                <a:latin typeface="Verdana"/>
                <a:ea typeface="Verdana"/>
                <a:cs typeface="Verdana"/>
                <a:sym typeface="Verdana"/>
              </a:rPr>
              <a:t>{</a:t>
            </a:r>
          </a:p>
          <a:p>
            <a:pPr>
              <a:defRPr sz="1800">
                <a:uFillTx/>
              </a:defRPr>
            </a:pPr>
            <a:r>
              <a:rPr sz="1300" dirty="0">
                <a:latin typeface="Verdana"/>
                <a:ea typeface="Verdana"/>
                <a:cs typeface="Verdana"/>
                <a:sym typeface="Verdana"/>
              </a:rPr>
              <a:t>     int s = 0;</a:t>
            </a:r>
          </a:p>
          <a:p>
            <a:pPr>
              <a:defRPr sz="1800">
                <a:uFillTx/>
              </a:defRPr>
            </a:pPr>
            <a:r>
              <a:rPr sz="1300" dirty="0">
                <a:latin typeface="Verdana"/>
                <a:ea typeface="Verdana"/>
                <a:cs typeface="Verdana"/>
                <a:sym typeface="Verdana"/>
              </a:rPr>
              <a:t>     for (int </a:t>
            </a:r>
            <a:r>
              <a:rPr sz="1300" dirty="0" err="1">
                <a:latin typeface="Verdana"/>
                <a:ea typeface="Verdana"/>
                <a:cs typeface="Verdana"/>
                <a:sym typeface="Verdana"/>
              </a:rPr>
              <a:t>i</a:t>
            </a:r>
            <a:r>
              <a:rPr sz="1300" dirty="0">
                <a:latin typeface="Verdana"/>
                <a:ea typeface="Verdana"/>
                <a:cs typeface="Verdana"/>
                <a:sym typeface="Verdana"/>
              </a:rPr>
              <a:t> = 0; </a:t>
            </a:r>
            <a:r>
              <a:rPr sz="1300" dirty="0" err="1">
                <a:latin typeface="Verdana"/>
                <a:ea typeface="Verdana"/>
                <a:cs typeface="Verdana"/>
                <a:sym typeface="Verdana"/>
              </a:rPr>
              <a:t>i</a:t>
            </a:r>
            <a:r>
              <a:rPr sz="1300" dirty="0">
                <a:latin typeface="Verdana"/>
                <a:ea typeface="Verdana"/>
                <a:cs typeface="Verdana"/>
                <a:sym typeface="Verdana"/>
              </a:rPr>
              <a:t> &lt; </a:t>
            </a:r>
            <a:r>
              <a:rPr sz="1300" dirty="0" err="1">
                <a:latin typeface="Verdana"/>
                <a:ea typeface="Verdana"/>
                <a:cs typeface="Verdana"/>
                <a:sym typeface="Verdana"/>
              </a:rPr>
              <a:t>accounts.length</a:t>
            </a:r>
            <a:r>
              <a:rPr sz="1300" dirty="0">
                <a:latin typeface="Verdana"/>
                <a:ea typeface="Verdana"/>
                <a:cs typeface="Verdana"/>
                <a:sym typeface="Verdana"/>
              </a:rPr>
              <a:t>; </a:t>
            </a:r>
            <a:r>
              <a:rPr sz="1300" dirty="0" err="1">
                <a:latin typeface="Verdana"/>
                <a:ea typeface="Verdana"/>
                <a:cs typeface="Verdana"/>
                <a:sym typeface="Verdana"/>
              </a:rPr>
              <a:t>i</a:t>
            </a:r>
            <a:r>
              <a:rPr sz="1300" dirty="0">
                <a:latin typeface="Verdana"/>
                <a:ea typeface="Verdana"/>
                <a:cs typeface="Verdana"/>
                <a:sym typeface="Verdana"/>
              </a:rPr>
              <a:t>++)</a:t>
            </a:r>
          </a:p>
          <a:p>
            <a:pPr>
              <a:defRPr sz="1800">
                <a:uFillTx/>
              </a:defRPr>
            </a:pPr>
            <a:r>
              <a:rPr sz="1300" dirty="0">
                <a:latin typeface="Verdana"/>
                <a:ea typeface="Verdana"/>
                <a:cs typeface="Verdana"/>
                <a:sym typeface="Verdana"/>
              </a:rPr>
              <a:t>	s = s + accounts[</a:t>
            </a:r>
            <a:r>
              <a:rPr sz="1300" dirty="0" err="1">
                <a:latin typeface="Verdana"/>
                <a:ea typeface="Verdana"/>
                <a:cs typeface="Verdana"/>
                <a:sym typeface="Verdana"/>
              </a:rPr>
              <a:t>i</a:t>
            </a:r>
            <a:r>
              <a:rPr sz="1300" dirty="0">
                <a:latin typeface="Verdana"/>
                <a:ea typeface="Verdana"/>
                <a:cs typeface="Verdana"/>
                <a:sym typeface="Verdana"/>
              </a:rPr>
              <a:t>]-&gt;</a:t>
            </a:r>
            <a:r>
              <a:rPr sz="1300" dirty="0" err="1">
                <a:latin typeface="Verdana"/>
                <a:ea typeface="Verdana"/>
                <a:cs typeface="Verdana"/>
                <a:sym typeface="Verdana"/>
              </a:rPr>
              <a:t>calculateCosts</a:t>
            </a:r>
            <a:r>
              <a:rPr sz="1300" dirty="0">
                <a:latin typeface="Verdana"/>
                <a:ea typeface="Verdana"/>
                <a:cs typeface="Verdana"/>
                <a:sym typeface="Verdana"/>
              </a:rPr>
              <a:t>();</a:t>
            </a:r>
          </a:p>
          <a:p>
            <a:pPr>
              <a:defRPr sz="1800">
                <a:uFillTx/>
              </a:defRPr>
            </a:pPr>
            <a:r>
              <a:rPr sz="1300" dirty="0">
                <a:latin typeface="Verdana"/>
                <a:ea typeface="Verdana"/>
                <a:cs typeface="Verdana"/>
                <a:sym typeface="Verdana"/>
              </a:rPr>
              <a:t>     return s;</a:t>
            </a:r>
          </a:p>
          <a:p>
            <a:pPr>
              <a:defRPr sz="1800">
                <a:uFillTx/>
              </a:defRPr>
            </a:pPr>
            <a:r>
              <a:rPr sz="1300" dirty="0">
                <a:latin typeface="Verdana"/>
                <a:ea typeface="Verdana"/>
                <a:cs typeface="Verdana"/>
                <a:sym typeface="Verdana"/>
              </a:rPr>
              <a:t>}</a:t>
            </a:r>
          </a:p>
          <a:p>
            <a:pPr>
              <a:defRPr sz="1800">
                <a:uFillTx/>
              </a:defRPr>
            </a:pPr>
            <a:endParaRPr sz="1300" dirty="0">
              <a:latin typeface="Verdana"/>
              <a:ea typeface="Verdana"/>
              <a:cs typeface="Verdana"/>
              <a:sym typeface="Verdana"/>
            </a:endParaRPr>
          </a:p>
          <a:p>
            <a:pPr>
              <a:defRPr sz="1800">
                <a:uFillTx/>
              </a:defRPr>
            </a:pPr>
            <a:r>
              <a:rPr sz="1300" dirty="0">
                <a:latin typeface="Verdana"/>
                <a:ea typeface="Verdana"/>
                <a:cs typeface="Verdana"/>
                <a:sym typeface="Verdana"/>
              </a:rPr>
              <a:t>void main()</a:t>
            </a:r>
          </a:p>
          <a:p>
            <a:pPr>
              <a:defRPr sz="1800">
                <a:uFillTx/>
              </a:defRPr>
            </a:pPr>
            <a:r>
              <a:rPr sz="1300" dirty="0">
                <a:latin typeface="Verdana"/>
                <a:ea typeface="Verdana"/>
                <a:cs typeface="Verdana"/>
                <a:sym typeface="Verdana"/>
              </a:rPr>
              <a:t>{</a:t>
            </a:r>
          </a:p>
          <a:p>
            <a:pPr>
              <a:defRPr sz="1800">
                <a:uFillTx/>
              </a:defRPr>
            </a:pPr>
            <a:r>
              <a:rPr sz="1300" dirty="0">
                <a:latin typeface="Verdana"/>
                <a:ea typeface="Verdana"/>
                <a:cs typeface="Verdana"/>
                <a:sym typeface="Verdana"/>
              </a:rPr>
              <a:t>     Account accounts = new Account[2];</a:t>
            </a:r>
          </a:p>
          <a:p>
            <a:pPr>
              <a:defRPr sz="1800">
                <a:uFillTx/>
              </a:defRPr>
            </a:pPr>
            <a:r>
              <a:rPr sz="1300" dirty="0">
                <a:latin typeface="Verdana"/>
                <a:ea typeface="Verdana"/>
                <a:cs typeface="Verdana"/>
                <a:sym typeface="Verdana"/>
              </a:rPr>
              <a:t>     accounts[0] = new </a:t>
            </a:r>
            <a:r>
              <a:rPr sz="1300" dirty="0" err="1">
                <a:latin typeface="Verdana"/>
                <a:ea typeface="Verdana"/>
                <a:cs typeface="Verdana"/>
                <a:sym typeface="Verdana"/>
              </a:rPr>
              <a:t>CurrentAccount</a:t>
            </a:r>
            <a:r>
              <a:rPr sz="1300" dirty="0">
                <a:latin typeface="Verdana"/>
                <a:ea typeface="Verdana"/>
                <a:cs typeface="Verdana"/>
                <a:sym typeface="Verdana"/>
              </a:rPr>
              <a:t>();</a:t>
            </a:r>
          </a:p>
          <a:p>
            <a:pPr>
              <a:defRPr sz="1800">
                <a:uFillTx/>
              </a:defRPr>
            </a:pPr>
            <a:r>
              <a:rPr sz="1300" dirty="0">
                <a:latin typeface="Verdana"/>
                <a:ea typeface="Verdana"/>
                <a:cs typeface="Verdana"/>
                <a:sym typeface="Verdana"/>
              </a:rPr>
              <a:t>     accounts[1] = new </a:t>
            </a:r>
            <a:r>
              <a:rPr sz="1300" dirty="0" err="1">
                <a:latin typeface="Verdana"/>
                <a:ea typeface="Verdana"/>
                <a:cs typeface="Verdana"/>
                <a:sym typeface="Verdana"/>
              </a:rPr>
              <a:t>SavingAccount</a:t>
            </a:r>
            <a:r>
              <a:rPr sz="1300" dirty="0">
                <a:latin typeface="Verdana"/>
                <a:ea typeface="Verdana"/>
                <a:cs typeface="Verdana"/>
                <a:sym typeface="Verdana"/>
              </a:rPr>
              <a:t>();</a:t>
            </a:r>
          </a:p>
          <a:p>
            <a:pPr>
              <a:defRPr sz="1800">
                <a:uFillTx/>
              </a:defRPr>
            </a:pPr>
            <a:r>
              <a:rPr sz="1300" dirty="0">
                <a:latin typeface="Verdana"/>
                <a:ea typeface="Verdana"/>
                <a:cs typeface="Verdana"/>
                <a:sym typeface="Verdana"/>
              </a:rPr>
              <a:t>     int s = </a:t>
            </a:r>
            <a:r>
              <a:rPr sz="1300" dirty="0" err="1">
                <a:latin typeface="Verdana"/>
                <a:ea typeface="Verdana"/>
                <a:cs typeface="Verdana"/>
                <a:sym typeface="Verdana"/>
              </a:rPr>
              <a:t>calculateCost</a:t>
            </a:r>
            <a:r>
              <a:rPr sz="1300" dirty="0">
                <a:latin typeface="Verdana"/>
                <a:ea typeface="Verdana"/>
                <a:cs typeface="Verdana"/>
                <a:sym typeface="Verdana"/>
              </a:rPr>
              <a:t>(accounts);</a:t>
            </a:r>
          </a:p>
          <a:p>
            <a:pPr>
              <a:defRPr sz="1800">
                <a:uFillTx/>
              </a:defRPr>
            </a:pPr>
            <a:r>
              <a:rPr sz="1300" dirty="0">
                <a:latin typeface="Verdana"/>
                <a:ea typeface="Verdana"/>
                <a:cs typeface="Verdana"/>
                <a:sym typeface="Verdana"/>
              </a:rPr>
              <a:t>     …</a:t>
            </a:r>
          </a:p>
          <a:p>
            <a:pPr>
              <a:defRPr sz="1800">
                <a:uFillTx/>
              </a:defRPr>
            </a:pPr>
            <a:r>
              <a:rPr sz="1300" dirty="0">
                <a:latin typeface="Verdana"/>
                <a:ea typeface="Verdana"/>
                <a:cs typeface="Verdana"/>
                <a:sym typeface="Verdana"/>
              </a:rPr>
              <a:t>}</a:t>
            </a:r>
          </a:p>
        </p:txBody>
      </p:sp>
      <p:sp>
        <p:nvSpPr>
          <p:cNvPr id="352" name="Shape 352"/>
          <p:cNvSpPr/>
          <p:nvPr/>
        </p:nvSpPr>
        <p:spPr>
          <a:xfrm>
            <a:off x="2055316" y="3830389"/>
            <a:ext cx="1778993" cy="0"/>
          </a:xfrm>
          <a:prstGeom prst="line">
            <a:avLst/>
          </a:prstGeom>
          <a:ln>
            <a:solidFill/>
            <a:round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46912005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Shape 35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20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355" name="Shape 355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Abstraction: abstract class</a:t>
            </a:r>
          </a:p>
        </p:txBody>
      </p:sp>
      <p:sp>
        <p:nvSpPr>
          <p:cNvPr id="356" name="Shape 356"/>
          <p:cNvSpPr>
            <a:spLocks noGrp="1"/>
          </p:cNvSpPr>
          <p:nvPr>
            <p:ph type="body" idx="1"/>
          </p:nvPr>
        </p:nvSpPr>
        <p:spPr>
          <a:xfrm>
            <a:off x="368300" y="1247864"/>
            <a:ext cx="11480799" cy="5508535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An abstract class</a:t>
            </a:r>
          </a:p>
          <a:p>
            <a:pPr lvl="1">
              <a:defRPr sz="1800"/>
            </a:pPr>
            <a:r>
              <a:rPr sz="2000"/>
              <a:t>indicates the common characteristics of the sub-classes</a:t>
            </a:r>
          </a:p>
          <a:p>
            <a:pPr lvl="1">
              <a:defRPr sz="1800"/>
            </a:pPr>
            <a:r>
              <a:rPr sz="2000"/>
              <a:t>can’t have instances/objects</a:t>
            </a:r>
          </a:p>
          <a:p>
            <a:pPr lvl="0">
              <a:defRPr sz="1800"/>
            </a:pPr>
            <a:r>
              <a:rPr sz="2000"/>
              <a:t>A concrete class</a:t>
            </a:r>
          </a:p>
          <a:p>
            <a:pPr lvl="1">
              <a:defRPr sz="1800"/>
            </a:pPr>
            <a:r>
              <a:rPr sz="2000"/>
              <a:t>contains a complete characterization of real-world objects</a:t>
            </a:r>
          </a:p>
          <a:p>
            <a:pPr lvl="1">
              <a:defRPr sz="1800"/>
            </a:pPr>
            <a:r>
              <a:rPr sz="2000"/>
              <a:t>is expected to have instances/objects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6BF4225-5C35-46E4-B63B-DEB85B0C0D79}"/>
              </a:ext>
            </a:extLst>
          </p:cNvPr>
          <p:cNvGrpSpPr/>
          <p:nvPr/>
        </p:nvGrpSpPr>
        <p:grpSpPr>
          <a:xfrm>
            <a:off x="3683736" y="2861098"/>
            <a:ext cx="8424915" cy="3716089"/>
            <a:chOff x="1468437" y="3064743"/>
            <a:chExt cx="8424915" cy="3716089"/>
          </a:xfrm>
        </p:grpSpPr>
        <p:grpSp>
          <p:nvGrpSpPr>
            <p:cNvPr id="386" name="Group 386"/>
            <p:cNvGrpSpPr/>
            <p:nvPr/>
          </p:nvGrpSpPr>
          <p:grpSpPr>
            <a:xfrm>
              <a:off x="2257807" y="3064743"/>
              <a:ext cx="7635545" cy="3716089"/>
              <a:chOff x="-43566" y="0"/>
              <a:chExt cx="8144579" cy="5285102"/>
            </a:xfrm>
          </p:grpSpPr>
          <p:sp>
            <p:nvSpPr>
              <p:cNvPr id="357" name="Shape 357"/>
              <p:cNvSpPr/>
              <p:nvPr/>
            </p:nvSpPr>
            <p:spPr>
              <a:xfrm>
                <a:off x="4030015" y="2159001"/>
                <a:ext cx="1529648" cy="1313177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algn="ctr">
                  <a:defRPr sz="1800">
                    <a:uFillTx/>
                  </a:defRPr>
                </a:pPr>
                <a:r>
                  <a:rPr b="1" i="1">
                    <a:solidFill>
                      <a:srgbClr val="CC0000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Polygon</a:t>
                </a:r>
              </a:p>
              <a:p>
                <a:pPr>
                  <a:defRPr sz="1800">
                    <a:uFillTx/>
                  </a:defRPr>
                </a:pPr>
                <a:r>
                  <a:rPr i="1">
                    <a:latin typeface="Verdana"/>
                    <a:ea typeface="Verdana"/>
                    <a:cs typeface="Verdana"/>
                    <a:sym typeface="Verdana"/>
                  </a:rPr>
                  <a:t>area()</a:t>
                </a:r>
              </a:p>
              <a:p>
                <a:pPr>
                  <a:defRPr sz="1800">
                    <a:uFillTx/>
                  </a:defRPr>
                </a:pPr>
                <a:r>
                  <a:rPr i="1">
                    <a:latin typeface="Verdana"/>
                    <a:ea typeface="Verdana"/>
                    <a:cs typeface="Verdana"/>
                    <a:sym typeface="Verdana"/>
                  </a:rPr>
                  <a:t>perimeter()</a:t>
                </a:r>
              </a:p>
            </p:txBody>
          </p:sp>
          <p:sp>
            <p:nvSpPr>
              <p:cNvPr id="358" name="Shape 358"/>
              <p:cNvSpPr/>
              <p:nvPr/>
            </p:nvSpPr>
            <p:spPr>
              <a:xfrm>
                <a:off x="2579687" y="3971925"/>
                <a:ext cx="2462214" cy="1313177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t">
                <a:spAutoFit/>
              </a:bodyPr>
              <a:lstStyle/>
              <a:p>
                <a:pPr algn="ctr">
                  <a:defRPr sz="1800">
                    <a:uFillTx/>
                  </a:defRPr>
                </a:pPr>
                <a:r>
                  <a:rPr b="1">
                    <a:latin typeface="Verdana"/>
                    <a:ea typeface="Verdana"/>
                    <a:cs typeface="Verdana"/>
                    <a:sym typeface="Verdana"/>
                  </a:rPr>
                  <a:t>Parallelogram</a:t>
                </a:r>
              </a:p>
              <a:p>
                <a:pPr>
                  <a:defRPr sz="1800">
                    <a:uFillTx/>
                  </a:defRPr>
                </a:pPr>
                <a:r>
                  <a:rPr>
                    <a:latin typeface="Verdana"/>
                    <a:ea typeface="Verdana"/>
                    <a:cs typeface="Verdana"/>
                    <a:sym typeface="Verdana"/>
                  </a:rPr>
                  <a:t>area()</a:t>
                </a:r>
              </a:p>
              <a:p>
                <a:pPr>
                  <a:defRPr sz="1800">
                    <a:uFillTx/>
                  </a:defRPr>
                </a:pPr>
                <a:r>
                  <a:rPr>
                    <a:latin typeface="Verdana"/>
                    <a:ea typeface="Verdana"/>
                    <a:cs typeface="Verdana"/>
                    <a:sym typeface="Verdana"/>
                  </a:rPr>
                  <a:t>perimeter()</a:t>
                </a:r>
              </a:p>
            </p:txBody>
          </p:sp>
          <p:sp>
            <p:nvSpPr>
              <p:cNvPr id="359" name="Shape 359"/>
              <p:cNvSpPr/>
              <p:nvPr/>
            </p:nvSpPr>
            <p:spPr>
              <a:xfrm>
                <a:off x="4740275" y="3079750"/>
                <a:ext cx="217488" cy="2174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1800">
                    <a:uFillTx/>
                    <a:latin typeface="Verdana"/>
                    <a:ea typeface="Verdana"/>
                    <a:cs typeface="Verdana"/>
                    <a:sym typeface="Verdana"/>
                  </a:defRPr>
                </a:pPr>
                <a:endParaRPr/>
              </a:p>
            </p:txBody>
          </p:sp>
          <p:sp>
            <p:nvSpPr>
              <p:cNvPr id="360" name="Shape 360"/>
              <p:cNvSpPr/>
              <p:nvPr/>
            </p:nvSpPr>
            <p:spPr>
              <a:xfrm>
                <a:off x="5561896" y="3971925"/>
                <a:ext cx="1529648" cy="1313177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algn="ctr">
                  <a:defRPr sz="1800">
                    <a:uFillTx/>
                  </a:defRPr>
                </a:pPr>
                <a:r>
                  <a:rPr b="1">
                    <a:latin typeface="Verdana"/>
                    <a:ea typeface="Verdana"/>
                    <a:cs typeface="Verdana"/>
                    <a:sym typeface="Verdana"/>
                  </a:rPr>
                  <a:t>Triangle</a:t>
                </a:r>
              </a:p>
              <a:p>
                <a:pPr>
                  <a:defRPr sz="1800">
                    <a:uFillTx/>
                  </a:defRPr>
                </a:pPr>
                <a:r>
                  <a:rPr>
                    <a:latin typeface="Verdana"/>
                    <a:ea typeface="Verdana"/>
                    <a:cs typeface="Verdana"/>
                    <a:sym typeface="Verdana"/>
                  </a:rPr>
                  <a:t>area()</a:t>
                </a:r>
              </a:p>
              <a:p>
                <a:pPr>
                  <a:defRPr sz="1800">
                    <a:uFillTx/>
                  </a:defRPr>
                </a:pPr>
                <a:r>
                  <a:rPr>
                    <a:latin typeface="Verdana"/>
                    <a:ea typeface="Verdana"/>
                    <a:cs typeface="Verdana"/>
                    <a:sym typeface="Verdana"/>
                  </a:rPr>
                  <a:t>perimeter()</a:t>
                </a:r>
              </a:p>
            </p:txBody>
          </p:sp>
          <p:sp>
            <p:nvSpPr>
              <p:cNvPr id="361" name="Shape 361"/>
              <p:cNvSpPr/>
              <p:nvPr/>
            </p:nvSpPr>
            <p:spPr>
              <a:xfrm>
                <a:off x="3444875" y="3527425"/>
                <a:ext cx="2735263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382676">
                  <a:defRPr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/>
              </a:p>
            </p:txBody>
          </p:sp>
          <p:sp>
            <p:nvSpPr>
              <p:cNvPr id="362" name="Shape 362"/>
              <p:cNvSpPr/>
              <p:nvPr/>
            </p:nvSpPr>
            <p:spPr>
              <a:xfrm>
                <a:off x="3444875" y="3527425"/>
                <a:ext cx="0" cy="43180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382676">
                  <a:defRPr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/>
              </a:p>
            </p:txBody>
          </p:sp>
          <p:sp>
            <p:nvSpPr>
              <p:cNvPr id="363" name="Shape 363"/>
              <p:cNvSpPr/>
              <p:nvPr/>
            </p:nvSpPr>
            <p:spPr>
              <a:xfrm>
                <a:off x="6180137" y="3527425"/>
                <a:ext cx="1" cy="43180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382676">
                  <a:defRPr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/>
              </a:p>
            </p:txBody>
          </p:sp>
          <p:sp>
            <p:nvSpPr>
              <p:cNvPr id="364" name="Shape 364"/>
              <p:cNvSpPr/>
              <p:nvPr/>
            </p:nvSpPr>
            <p:spPr>
              <a:xfrm>
                <a:off x="4841875" y="3309937"/>
                <a:ext cx="0" cy="21590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382676">
                  <a:defRPr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/>
              </a:p>
            </p:txBody>
          </p:sp>
          <p:sp>
            <p:nvSpPr>
              <p:cNvPr id="365" name="Shape 365"/>
              <p:cNvSpPr/>
              <p:nvPr/>
            </p:nvSpPr>
            <p:spPr>
              <a:xfrm>
                <a:off x="4084637" y="2506663"/>
                <a:ext cx="1511301" cy="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382676">
                  <a:defRPr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/>
              </a:p>
            </p:txBody>
          </p:sp>
          <p:sp>
            <p:nvSpPr>
              <p:cNvPr id="366" name="Shape 366"/>
              <p:cNvSpPr/>
              <p:nvPr/>
            </p:nvSpPr>
            <p:spPr>
              <a:xfrm>
                <a:off x="5600700" y="4305300"/>
                <a:ext cx="1512888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382676">
                  <a:defRPr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/>
              </a:p>
            </p:txBody>
          </p:sp>
          <p:sp>
            <p:nvSpPr>
              <p:cNvPr id="367" name="Shape 367"/>
              <p:cNvSpPr/>
              <p:nvPr/>
            </p:nvSpPr>
            <p:spPr>
              <a:xfrm>
                <a:off x="2173697" y="196955"/>
                <a:ext cx="1529648" cy="1313177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algn="ctr">
                  <a:defRPr sz="1800">
                    <a:uFillTx/>
                  </a:defRPr>
                </a:pPr>
                <a:r>
                  <a:rPr b="1" i="1">
                    <a:solidFill>
                      <a:srgbClr val="CC0000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Figure</a:t>
                </a:r>
              </a:p>
              <a:p>
                <a:pPr>
                  <a:defRPr sz="1800">
                    <a:uFillTx/>
                  </a:defRPr>
                </a:pPr>
                <a:r>
                  <a:rPr i="1">
                    <a:latin typeface="Verdana"/>
                    <a:ea typeface="Verdana"/>
                    <a:cs typeface="Verdana"/>
                    <a:sym typeface="Verdana"/>
                  </a:rPr>
                  <a:t>area()</a:t>
                </a:r>
              </a:p>
              <a:p>
                <a:pPr>
                  <a:defRPr sz="1800">
                    <a:uFillTx/>
                  </a:defRPr>
                </a:pPr>
                <a:r>
                  <a:rPr i="1">
                    <a:latin typeface="Verdana"/>
                    <a:ea typeface="Verdana"/>
                    <a:cs typeface="Verdana"/>
                    <a:sym typeface="Verdana"/>
                  </a:rPr>
                  <a:t>perimeter()</a:t>
                </a:r>
              </a:p>
            </p:txBody>
          </p:sp>
          <p:sp>
            <p:nvSpPr>
              <p:cNvPr id="368" name="Shape 368"/>
              <p:cNvSpPr/>
              <p:nvPr/>
            </p:nvSpPr>
            <p:spPr>
              <a:xfrm>
                <a:off x="2192044" y="647700"/>
                <a:ext cx="1511301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382676">
                  <a:defRPr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/>
              </a:p>
            </p:txBody>
          </p:sp>
          <p:sp>
            <p:nvSpPr>
              <p:cNvPr id="369" name="Shape 369"/>
              <p:cNvSpPr/>
              <p:nvPr/>
            </p:nvSpPr>
            <p:spPr>
              <a:xfrm>
                <a:off x="-43566" y="2159001"/>
                <a:ext cx="1529648" cy="1313177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algn="ctr">
                  <a:defRPr sz="1800">
                    <a:uFillTx/>
                  </a:defRPr>
                </a:pPr>
                <a:r>
                  <a:rPr b="1">
                    <a:latin typeface="Verdana"/>
                    <a:ea typeface="Verdana"/>
                    <a:cs typeface="Verdana"/>
                    <a:sym typeface="Verdana"/>
                  </a:rPr>
                  <a:t>Ellipse</a:t>
                </a:r>
              </a:p>
              <a:p>
                <a:pPr>
                  <a:defRPr sz="1800">
                    <a:uFillTx/>
                  </a:defRPr>
                </a:pPr>
                <a:r>
                  <a:rPr>
                    <a:latin typeface="Verdana"/>
                    <a:ea typeface="Verdana"/>
                    <a:cs typeface="Verdana"/>
                    <a:sym typeface="Verdana"/>
                  </a:rPr>
                  <a:t>area()</a:t>
                </a:r>
              </a:p>
              <a:p>
                <a:pPr>
                  <a:defRPr sz="1800">
                    <a:uFillTx/>
                  </a:defRPr>
                </a:pPr>
                <a:r>
                  <a:rPr>
                    <a:latin typeface="Verdana"/>
                    <a:ea typeface="Verdana"/>
                    <a:cs typeface="Verdana"/>
                    <a:sym typeface="Verdana"/>
                  </a:rPr>
                  <a:t>perimeter()</a:t>
                </a:r>
              </a:p>
            </p:txBody>
          </p:sp>
          <p:sp>
            <p:nvSpPr>
              <p:cNvPr id="370" name="Shape 370"/>
              <p:cNvSpPr/>
              <p:nvPr/>
            </p:nvSpPr>
            <p:spPr>
              <a:xfrm>
                <a:off x="11112" y="2506662"/>
                <a:ext cx="1511301" cy="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382676">
                  <a:defRPr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/>
              </a:p>
            </p:txBody>
          </p:sp>
          <p:sp>
            <p:nvSpPr>
              <p:cNvPr id="371" name="Shape 371"/>
              <p:cNvSpPr/>
              <p:nvPr/>
            </p:nvSpPr>
            <p:spPr>
              <a:xfrm>
                <a:off x="-43566" y="3825876"/>
                <a:ext cx="1529648" cy="1313177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algn="ctr">
                  <a:defRPr sz="1800">
                    <a:uFillTx/>
                  </a:defRPr>
                </a:pPr>
                <a:r>
                  <a:rPr b="1">
                    <a:latin typeface="Verdana"/>
                    <a:ea typeface="Verdana"/>
                    <a:cs typeface="Verdana"/>
                    <a:sym typeface="Verdana"/>
                  </a:rPr>
                  <a:t>Circle</a:t>
                </a:r>
              </a:p>
              <a:p>
                <a:pPr>
                  <a:defRPr sz="1800">
                    <a:uFillTx/>
                  </a:defRPr>
                </a:pPr>
                <a:r>
                  <a:rPr>
                    <a:latin typeface="Verdana"/>
                    <a:ea typeface="Verdana"/>
                    <a:cs typeface="Verdana"/>
                    <a:sym typeface="Verdana"/>
                  </a:rPr>
                  <a:t>area()</a:t>
                </a:r>
              </a:p>
              <a:p>
                <a:pPr>
                  <a:defRPr sz="1800">
                    <a:uFillTx/>
                  </a:defRPr>
                </a:pPr>
                <a:r>
                  <a:rPr>
                    <a:latin typeface="Verdana"/>
                    <a:ea typeface="Verdana"/>
                    <a:cs typeface="Verdana"/>
                    <a:sym typeface="Verdana"/>
                  </a:rPr>
                  <a:t>perimeter()</a:t>
                </a:r>
              </a:p>
            </p:txBody>
          </p:sp>
          <p:sp>
            <p:nvSpPr>
              <p:cNvPr id="372" name="Shape 372"/>
              <p:cNvSpPr/>
              <p:nvPr/>
            </p:nvSpPr>
            <p:spPr>
              <a:xfrm>
                <a:off x="11112" y="4173537"/>
                <a:ext cx="1511301" cy="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382676">
                  <a:defRPr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/>
              </a:p>
            </p:txBody>
          </p:sp>
          <p:sp>
            <p:nvSpPr>
              <p:cNvPr id="373" name="Shape 373"/>
              <p:cNvSpPr/>
              <p:nvPr/>
            </p:nvSpPr>
            <p:spPr>
              <a:xfrm>
                <a:off x="2808287" y="1511300"/>
                <a:ext cx="217488" cy="2174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1800">
                    <a:uFillTx/>
                    <a:latin typeface="Verdana"/>
                    <a:ea typeface="Verdana"/>
                    <a:cs typeface="Verdana"/>
                    <a:sym typeface="Verdana"/>
                  </a:defRPr>
                </a:pPr>
                <a:endParaRPr/>
              </a:p>
            </p:txBody>
          </p:sp>
          <p:sp>
            <p:nvSpPr>
              <p:cNvPr id="374" name="Shape 374"/>
              <p:cNvSpPr/>
              <p:nvPr/>
            </p:nvSpPr>
            <p:spPr>
              <a:xfrm>
                <a:off x="2922587" y="1727200"/>
                <a:ext cx="1" cy="21590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382676">
                  <a:defRPr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/>
              </a:p>
            </p:txBody>
          </p:sp>
          <p:sp>
            <p:nvSpPr>
              <p:cNvPr id="375" name="Shape 375"/>
              <p:cNvSpPr/>
              <p:nvPr/>
            </p:nvSpPr>
            <p:spPr>
              <a:xfrm>
                <a:off x="792162" y="1943100"/>
                <a:ext cx="4103688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382676">
                  <a:defRPr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/>
              </a:p>
            </p:txBody>
          </p:sp>
          <p:sp>
            <p:nvSpPr>
              <p:cNvPr id="376" name="Shape 376"/>
              <p:cNvSpPr/>
              <p:nvPr/>
            </p:nvSpPr>
            <p:spPr>
              <a:xfrm>
                <a:off x="792162" y="1943100"/>
                <a:ext cx="1" cy="21590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382676">
                  <a:defRPr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/>
              </a:p>
            </p:txBody>
          </p:sp>
          <p:sp>
            <p:nvSpPr>
              <p:cNvPr id="377" name="Shape 377"/>
              <p:cNvSpPr/>
              <p:nvPr/>
            </p:nvSpPr>
            <p:spPr>
              <a:xfrm>
                <a:off x="4895850" y="1943100"/>
                <a:ext cx="0" cy="21590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382676">
                  <a:defRPr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/>
              </a:p>
            </p:txBody>
          </p:sp>
          <p:sp>
            <p:nvSpPr>
              <p:cNvPr id="378" name="Shape 378"/>
              <p:cNvSpPr/>
              <p:nvPr/>
            </p:nvSpPr>
            <p:spPr>
              <a:xfrm flipH="1">
                <a:off x="719137" y="3311525"/>
                <a:ext cx="1" cy="50482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382676">
                  <a:defRPr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/>
              </a:p>
            </p:txBody>
          </p:sp>
          <p:sp>
            <p:nvSpPr>
              <p:cNvPr id="379" name="Shape 379"/>
              <p:cNvSpPr/>
              <p:nvPr/>
            </p:nvSpPr>
            <p:spPr>
              <a:xfrm>
                <a:off x="588962" y="3095625"/>
                <a:ext cx="217488" cy="2174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1800">
                    <a:uFillTx/>
                    <a:latin typeface="Verdana"/>
                    <a:ea typeface="Verdana"/>
                    <a:cs typeface="Verdana"/>
                    <a:sym typeface="Verdana"/>
                  </a:defRPr>
                </a:pPr>
                <a:endParaRPr/>
              </a:p>
            </p:txBody>
          </p:sp>
          <p:sp>
            <p:nvSpPr>
              <p:cNvPr id="380" name="Shape 380"/>
              <p:cNvSpPr/>
              <p:nvPr/>
            </p:nvSpPr>
            <p:spPr>
              <a:xfrm>
                <a:off x="2592387" y="4319587"/>
                <a:ext cx="2449513" cy="1589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382676">
                  <a:defRPr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/>
              </a:p>
            </p:txBody>
          </p:sp>
          <p:grpSp>
            <p:nvGrpSpPr>
              <p:cNvPr id="383" name="Group 383"/>
              <p:cNvGrpSpPr/>
              <p:nvPr/>
            </p:nvGrpSpPr>
            <p:grpSpPr>
              <a:xfrm>
                <a:off x="4392612" y="0"/>
                <a:ext cx="3708401" cy="1439864"/>
                <a:chOff x="0" y="0"/>
                <a:chExt cx="3708400" cy="1439863"/>
              </a:xfrm>
            </p:grpSpPr>
            <p:sp>
              <p:nvSpPr>
                <p:cNvPr id="381" name="Shape 381"/>
                <p:cNvSpPr/>
                <p:nvPr/>
              </p:nvSpPr>
              <p:spPr>
                <a:xfrm>
                  <a:off x="0" y="0"/>
                  <a:ext cx="3708400" cy="143986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1462" y="4342"/>
                      </a:moveTo>
                      <a:lnTo>
                        <a:pt x="9722" y="1887"/>
                      </a:lnTo>
                      <a:lnTo>
                        <a:pt x="8550" y="6382"/>
                      </a:lnTo>
                      <a:lnTo>
                        <a:pt x="4502" y="3625"/>
                      </a:lnTo>
                      <a:lnTo>
                        <a:pt x="5372" y="7817"/>
                      </a:lnTo>
                      <a:lnTo>
                        <a:pt x="1172" y="8270"/>
                      </a:lnTo>
                      <a:lnTo>
                        <a:pt x="3935" y="11592"/>
                      </a:lnTo>
                      <a:lnTo>
                        <a:pt x="0" y="12877"/>
                      </a:lnTo>
                      <a:lnTo>
                        <a:pt x="3330" y="15370"/>
                      </a:lnTo>
                      <a:lnTo>
                        <a:pt x="1285" y="17825"/>
                      </a:lnTo>
                      <a:lnTo>
                        <a:pt x="4805" y="18240"/>
                      </a:lnTo>
                      <a:lnTo>
                        <a:pt x="4917" y="21600"/>
                      </a:lnTo>
                      <a:lnTo>
                        <a:pt x="7527" y="18125"/>
                      </a:lnTo>
                      <a:lnTo>
                        <a:pt x="8700" y="19712"/>
                      </a:lnTo>
                      <a:lnTo>
                        <a:pt x="9872" y="17370"/>
                      </a:lnTo>
                      <a:lnTo>
                        <a:pt x="11612" y="18842"/>
                      </a:lnTo>
                      <a:lnTo>
                        <a:pt x="12180" y="15935"/>
                      </a:lnTo>
                      <a:lnTo>
                        <a:pt x="14942" y="17370"/>
                      </a:lnTo>
                      <a:lnTo>
                        <a:pt x="14640" y="14350"/>
                      </a:lnTo>
                      <a:lnTo>
                        <a:pt x="18877" y="15632"/>
                      </a:lnTo>
                      <a:lnTo>
                        <a:pt x="16380" y="12310"/>
                      </a:lnTo>
                      <a:lnTo>
                        <a:pt x="18270" y="11290"/>
                      </a:lnTo>
                      <a:lnTo>
                        <a:pt x="16985" y="9402"/>
                      </a:lnTo>
                      <a:lnTo>
                        <a:pt x="21600" y="6645"/>
                      </a:lnTo>
                      <a:lnTo>
                        <a:pt x="16380" y="6532"/>
                      </a:lnTo>
                      <a:lnTo>
                        <a:pt x="18007" y="3172"/>
                      </a:lnTo>
                      <a:lnTo>
                        <a:pt x="14525" y="5777"/>
                      </a:lnTo>
                      <a:lnTo>
                        <a:pt x="14790" y="0"/>
                      </a:lnTo>
                      <a:close/>
                    </a:path>
                  </a:pathLst>
                </a:custGeom>
                <a:solidFill>
                  <a:srgbClr val="CCFFFF"/>
                </a:soli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 sz="1800" b="1">
                      <a:solidFill>
                        <a:srgbClr val="CC0000"/>
                      </a:solidFill>
                      <a:uFillTx/>
                      <a:latin typeface="Verdana"/>
                      <a:ea typeface="Verdana"/>
                      <a:cs typeface="Verdana"/>
                      <a:sym typeface="Verdana"/>
                    </a:defRPr>
                  </a:pPr>
                  <a:endParaRPr/>
                </a:p>
              </p:txBody>
            </p:sp>
            <p:sp>
              <p:nvSpPr>
                <p:cNvPr id="382" name="Shape 382"/>
                <p:cNvSpPr/>
                <p:nvPr/>
              </p:nvSpPr>
              <p:spPr>
                <a:xfrm>
                  <a:off x="700853" y="481194"/>
                  <a:ext cx="2034057" cy="52526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a14="http://schemas.microsoft.com/office/mac/drawingml/2011/main" val="1"/>
                  </a:ext>
                </a:extLst>
              </p:spPr>
              <p:txBody>
                <a:bodyPr wrap="none" lIns="45719" tIns="45719" rIns="45719" bIns="45719" numCol="1" anchor="ctr">
                  <a:spAutoFit/>
                </a:bodyPr>
                <a:lstStyle>
                  <a:lvl1pPr marL="0" marR="0" algn="ctr">
                    <a:defRPr sz="1800" b="1">
                      <a:solidFill>
                        <a:srgbClr val="CC0000"/>
                      </a:solidFill>
                      <a:uFillTx/>
                      <a:latin typeface="Verdana"/>
                      <a:ea typeface="Verdana"/>
                      <a:cs typeface="Verdana"/>
                      <a:sym typeface="Verdana"/>
                    </a:defRPr>
                  </a:lvl1pPr>
                </a:lstStyle>
                <a:p>
                  <a:pPr lvl="0">
                    <a:defRPr b="0">
                      <a:solidFill>
                        <a:srgbClr val="000000"/>
                      </a:solidFill>
                    </a:defRPr>
                  </a:pPr>
                  <a:r>
                    <a:rPr b="1">
                      <a:solidFill>
                        <a:srgbClr val="CC0000"/>
                      </a:solidFill>
                    </a:rPr>
                    <a:t>Abstract class</a:t>
                  </a:r>
                </a:p>
              </p:txBody>
            </p:sp>
          </p:grpSp>
          <p:sp>
            <p:nvSpPr>
              <p:cNvPr id="384" name="Shape 384"/>
              <p:cNvSpPr/>
              <p:nvPr/>
            </p:nvSpPr>
            <p:spPr>
              <a:xfrm flipH="1">
                <a:off x="3384550" y="647700"/>
                <a:ext cx="1296988" cy="73025"/>
              </a:xfrm>
              <a:prstGeom prst="line">
                <a:avLst/>
              </a:prstGeom>
              <a:noFill/>
              <a:ln w="28575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382676">
                  <a:defRPr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/>
              </a:p>
            </p:txBody>
          </p:sp>
          <p:sp>
            <p:nvSpPr>
              <p:cNvPr id="385" name="Shape 385"/>
              <p:cNvSpPr/>
              <p:nvPr/>
            </p:nvSpPr>
            <p:spPr>
              <a:xfrm flipH="1">
                <a:off x="5400674" y="1223962"/>
                <a:ext cx="504826" cy="1152526"/>
              </a:xfrm>
              <a:prstGeom prst="line">
                <a:avLst/>
              </a:prstGeom>
              <a:noFill/>
              <a:ln w="28575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382676">
                  <a:defRPr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/>
              </a:p>
            </p:txBody>
          </p:sp>
        </p:grpSp>
        <p:sp>
          <p:nvSpPr>
            <p:cNvPr id="387" name="Shape 387"/>
            <p:cNvSpPr/>
            <p:nvPr/>
          </p:nvSpPr>
          <p:spPr>
            <a:xfrm>
              <a:off x="7713066" y="4611633"/>
              <a:ext cx="621495" cy="35933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810"/>
                  </a:moveTo>
                  <a:lnTo>
                    <a:pt x="5370" y="0"/>
                  </a:lnTo>
                  <a:lnTo>
                    <a:pt x="14630" y="1215"/>
                  </a:lnTo>
                  <a:lnTo>
                    <a:pt x="21600" y="10827"/>
                  </a:lnTo>
                  <a:lnTo>
                    <a:pt x="16614" y="19597"/>
                  </a:lnTo>
                  <a:lnTo>
                    <a:pt x="8561" y="21600"/>
                  </a:lnTo>
                  <a:lnTo>
                    <a:pt x="679" y="16285"/>
                  </a:lnTo>
                  <a:lnTo>
                    <a:pt x="0" y="8810"/>
                  </a:lnTo>
                  <a:close/>
                </a:path>
              </a:pathLst>
            </a:custGeom>
            <a:solidFill>
              <a:srgbClr val="70BF41"/>
            </a:solidFill>
            <a:ln w="12700">
              <a:solidFill/>
              <a:round/>
            </a:ln>
          </p:spPr>
          <p:txBody>
            <a:bodyPr lIns="0" tIns="0" rIns="0" bIns="0"/>
            <a:lstStyle/>
            <a:p>
              <a:pPr lvl="0"/>
              <a:endParaRPr/>
            </a:p>
          </p:txBody>
        </p:sp>
        <p:sp>
          <p:nvSpPr>
            <p:cNvPr id="388" name="Shape 388"/>
            <p:cNvSpPr/>
            <p:nvPr/>
          </p:nvSpPr>
          <p:spPr>
            <a:xfrm>
              <a:off x="4115394" y="5636729"/>
              <a:ext cx="886726" cy="1888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16073" y="303"/>
                  </a:lnTo>
                  <a:lnTo>
                    <a:pt x="21600" y="21297"/>
                  </a:lnTo>
                  <a:lnTo>
                    <a:pt x="6725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0BF41"/>
            </a:solidFill>
            <a:ln w="12700">
              <a:solidFill/>
              <a:round/>
            </a:ln>
          </p:spPr>
          <p:txBody>
            <a:bodyPr lIns="0" tIns="0" rIns="0" bIns="0"/>
            <a:lstStyle/>
            <a:p>
              <a:pPr lvl="0"/>
              <a:endParaRPr/>
            </a:p>
          </p:txBody>
        </p:sp>
        <p:sp>
          <p:nvSpPr>
            <p:cNvPr id="389" name="Shape 389"/>
            <p:cNvSpPr/>
            <p:nvPr/>
          </p:nvSpPr>
          <p:spPr>
            <a:xfrm>
              <a:off x="8691053" y="5502440"/>
              <a:ext cx="389435" cy="4574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3841"/>
                  </a:moveTo>
                  <a:lnTo>
                    <a:pt x="21600" y="0"/>
                  </a:lnTo>
                  <a:lnTo>
                    <a:pt x="19846" y="21600"/>
                  </a:lnTo>
                  <a:lnTo>
                    <a:pt x="0" y="13841"/>
                  </a:lnTo>
                  <a:close/>
                </a:path>
              </a:pathLst>
            </a:custGeom>
            <a:solidFill>
              <a:srgbClr val="70BF41"/>
            </a:solidFill>
            <a:ln w="12700">
              <a:solidFill/>
              <a:round/>
            </a:ln>
          </p:spPr>
          <p:txBody>
            <a:bodyPr lIns="0" tIns="0" rIns="0" bIns="0"/>
            <a:lstStyle/>
            <a:p>
              <a:pPr lvl="0"/>
              <a:endParaRPr/>
            </a:p>
          </p:txBody>
        </p:sp>
        <p:sp>
          <p:nvSpPr>
            <p:cNvPr id="390" name="Shape 390"/>
            <p:cNvSpPr/>
            <p:nvPr/>
          </p:nvSpPr>
          <p:spPr>
            <a:xfrm>
              <a:off x="1468437" y="4392752"/>
              <a:ext cx="892703" cy="3280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70BF41"/>
            </a:solidFill>
            <a:ln w="12700">
              <a:solidFill/>
              <a:round/>
            </a:ln>
          </p:spPr>
          <p:txBody>
            <a:bodyPr lIns="0" tIns="0" rIns="0" bIns="0" anchor="ctr"/>
            <a:lstStyle/>
            <a:p>
              <a:pPr lvl="0"/>
              <a:endParaRPr/>
            </a:p>
          </p:txBody>
        </p:sp>
        <p:sp>
          <p:nvSpPr>
            <p:cNvPr id="391" name="Shape 391"/>
            <p:cNvSpPr/>
            <p:nvPr/>
          </p:nvSpPr>
          <p:spPr>
            <a:xfrm>
              <a:off x="1785937" y="5498970"/>
              <a:ext cx="621495" cy="4643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70BF41"/>
            </a:solidFill>
            <a:ln w="12700">
              <a:solidFill/>
              <a:round/>
            </a:ln>
          </p:spPr>
          <p:txBody>
            <a:bodyPr lIns="0" tIns="0" rIns="0" bIns="0" anchor="ctr"/>
            <a:lstStyle/>
            <a:p>
              <a:pPr lvl="0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327822429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Shape 39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21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394" name="Shape 39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Abstraction: abstract method</a:t>
            </a:r>
          </a:p>
        </p:txBody>
      </p:sp>
      <p:sp>
        <p:nvSpPr>
          <p:cNvPr id="395" name="Shape 395"/>
          <p:cNvSpPr>
            <a:spLocks noGrp="1"/>
          </p:cNvSpPr>
          <p:nvPr>
            <p:ph type="body" idx="1"/>
          </p:nvPr>
        </p:nvSpPr>
        <p:spPr>
          <a:xfrm>
            <a:off x="397332" y="1319939"/>
            <a:ext cx="11895221" cy="472982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 sz="1800"/>
            </a:pPr>
            <a:r>
              <a:rPr sz="2000" dirty="0"/>
              <a:t>A method should be defined at the highest possible abstraction level</a:t>
            </a:r>
          </a:p>
          <a:p>
            <a:pPr lvl="1">
              <a:defRPr sz="1800"/>
            </a:pPr>
            <a:r>
              <a:rPr sz="2000" dirty="0"/>
              <a:t>At this level, the method can be abstract (i.e., no implementation)</a:t>
            </a:r>
          </a:p>
          <a:p>
            <a:pPr lvl="1">
              <a:defRPr sz="1800"/>
            </a:pPr>
            <a:r>
              <a:rPr sz="2000" dirty="0"/>
              <a:t>In this case, the class is also abstract</a:t>
            </a:r>
          </a:p>
          <a:p>
            <a:pPr lvl="1">
              <a:defRPr sz="1800"/>
            </a:pPr>
            <a:r>
              <a:rPr sz="2000" dirty="0"/>
              <a:t>If a class has an abstract method, at least one of its subclasses must implement this method</a:t>
            </a:r>
          </a:p>
          <a:p>
            <a:pPr lvl="1">
              <a:defRPr sz="1800"/>
            </a:pPr>
            <a:r>
              <a:rPr dirty="0"/>
              <a:t>All the methods of a class at the bottom of the inheritance tree must be concrete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1A42219-FD7A-4AC8-A4DA-241D34F66997}"/>
              </a:ext>
            </a:extLst>
          </p:cNvPr>
          <p:cNvGrpSpPr/>
          <p:nvPr/>
        </p:nvGrpSpPr>
        <p:grpSpPr>
          <a:xfrm>
            <a:off x="1604159" y="2964109"/>
            <a:ext cx="8526119" cy="3893891"/>
            <a:chOff x="1468437" y="2882900"/>
            <a:chExt cx="8526119" cy="3893891"/>
          </a:xfrm>
        </p:grpSpPr>
        <p:grpSp>
          <p:nvGrpSpPr>
            <p:cNvPr id="425" name="Group 425"/>
            <p:cNvGrpSpPr/>
            <p:nvPr/>
          </p:nvGrpSpPr>
          <p:grpSpPr>
            <a:xfrm>
              <a:off x="2156604" y="2882900"/>
              <a:ext cx="7837952" cy="3893891"/>
              <a:chOff x="-43566" y="0"/>
              <a:chExt cx="8360480" cy="5537972"/>
            </a:xfrm>
          </p:grpSpPr>
          <p:sp>
            <p:nvSpPr>
              <p:cNvPr id="396" name="Shape 396"/>
              <p:cNvSpPr/>
              <p:nvPr/>
            </p:nvSpPr>
            <p:spPr>
              <a:xfrm>
                <a:off x="4030573" y="2159001"/>
                <a:ext cx="1529648" cy="1313177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algn="ctr">
                  <a:defRPr sz="1800">
                    <a:uFillTx/>
                  </a:defRPr>
                </a:pPr>
                <a:r>
                  <a:rPr b="1" i="1">
                    <a:latin typeface="Verdana"/>
                    <a:ea typeface="Verdana"/>
                    <a:cs typeface="Verdana"/>
                    <a:sym typeface="Verdana"/>
                  </a:rPr>
                  <a:t>Polygon</a:t>
                </a:r>
              </a:p>
              <a:p>
                <a:pPr>
                  <a:defRPr sz="1800">
                    <a:uFillTx/>
                  </a:defRPr>
                </a:pPr>
                <a:r>
                  <a:rPr i="1">
                    <a:solidFill>
                      <a:srgbClr val="CC0000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area()</a:t>
                </a:r>
              </a:p>
              <a:p>
                <a:pPr>
                  <a:defRPr sz="1800">
                    <a:uFillTx/>
                  </a:defRPr>
                </a:pPr>
                <a:r>
                  <a:rPr i="1">
                    <a:solidFill>
                      <a:srgbClr val="CC0000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parimeter()</a:t>
                </a:r>
              </a:p>
            </p:txBody>
          </p:sp>
          <p:sp>
            <p:nvSpPr>
              <p:cNvPr id="397" name="Shape 397"/>
              <p:cNvSpPr/>
              <p:nvPr/>
            </p:nvSpPr>
            <p:spPr>
              <a:xfrm>
                <a:off x="2579687" y="4224796"/>
                <a:ext cx="2460626" cy="1313176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t">
                <a:spAutoFit/>
              </a:bodyPr>
              <a:lstStyle/>
              <a:p>
                <a:pPr algn="ctr">
                  <a:defRPr sz="1800">
                    <a:uFillTx/>
                  </a:defRPr>
                </a:pPr>
                <a:r>
                  <a:rPr b="1">
                    <a:latin typeface="Verdana"/>
                    <a:ea typeface="Verdana"/>
                    <a:cs typeface="Verdana"/>
                    <a:sym typeface="Verdana"/>
                  </a:rPr>
                  <a:t>Parallelogram</a:t>
                </a:r>
              </a:p>
              <a:p>
                <a:pPr>
                  <a:defRPr sz="1800">
                    <a:uFillTx/>
                  </a:defRPr>
                </a:pPr>
                <a:r>
                  <a:rPr>
                    <a:latin typeface="Verdana"/>
                    <a:ea typeface="Verdana"/>
                    <a:cs typeface="Verdana"/>
                    <a:sym typeface="Verdana"/>
                  </a:rPr>
                  <a:t>area()</a:t>
                </a:r>
              </a:p>
              <a:p>
                <a:pPr>
                  <a:defRPr sz="1800">
                    <a:uFillTx/>
                  </a:defRPr>
                </a:pPr>
                <a:r>
                  <a:rPr>
                    <a:latin typeface="Verdana"/>
                    <a:ea typeface="Verdana"/>
                    <a:cs typeface="Verdana"/>
                    <a:sym typeface="Verdana"/>
                  </a:rPr>
                  <a:t>perimeter()</a:t>
                </a:r>
              </a:p>
            </p:txBody>
          </p:sp>
          <p:sp>
            <p:nvSpPr>
              <p:cNvPr id="398" name="Shape 398"/>
              <p:cNvSpPr/>
              <p:nvPr/>
            </p:nvSpPr>
            <p:spPr>
              <a:xfrm>
                <a:off x="4726728" y="3440994"/>
                <a:ext cx="217488" cy="21748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1800">
                    <a:uFillTx/>
                    <a:latin typeface="Verdana"/>
                    <a:ea typeface="Verdana"/>
                    <a:cs typeface="Verdana"/>
                    <a:sym typeface="Verdana"/>
                  </a:defRPr>
                </a:pPr>
                <a:endParaRPr/>
              </a:p>
            </p:txBody>
          </p:sp>
          <p:sp>
            <p:nvSpPr>
              <p:cNvPr id="399" name="Shape 399"/>
              <p:cNvSpPr/>
              <p:nvPr/>
            </p:nvSpPr>
            <p:spPr>
              <a:xfrm>
                <a:off x="5561896" y="4224793"/>
                <a:ext cx="1529648" cy="1313176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algn="ctr">
                  <a:defRPr sz="1800">
                    <a:uFillTx/>
                  </a:defRPr>
                </a:pPr>
                <a:r>
                  <a:rPr b="1">
                    <a:latin typeface="Verdana"/>
                    <a:ea typeface="Verdana"/>
                    <a:cs typeface="Verdana"/>
                    <a:sym typeface="Verdana"/>
                  </a:rPr>
                  <a:t>Triangle</a:t>
                </a:r>
              </a:p>
              <a:p>
                <a:pPr>
                  <a:defRPr sz="1800">
                    <a:uFillTx/>
                  </a:defRPr>
                </a:pPr>
                <a:r>
                  <a:rPr>
                    <a:latin typeface="Verdana"/>
                    <a:ea typeface="Verdana"/>
                    <a:cs typeface="Verdana"/>
                    <a:sym typeface="Verdana"/>
                  </a:rPr>
                  <a:t>area()</a:t>
                </a:r>
              </a:p>
              <a:p>
                <a:pPr>
                  <a:defRPr sz="1800">
                    <a:uFillTx/>
                  </a:defRPr>
                </a:pPr>
                <a:r>
                  <a:rPr>
                    <a:latin typeface="Verdana"/>
                    <a:ea typeface="Verdana"/>
                    <a:cs typeface="Verdana"/>
                    <a:sym typeface="Verdana"/>
                  </a:rPr>
                  <a:t>perimeter()</a:t>
                </a:r>
              </a:p>
            </p:txBody>
          </p:sp>
          <p:sp>
            <p:nvSpPr>
              <p:cNvPr id="400" name="Shape 400"/>
              <p:cNvSpPr/>
              <p:nvPr/>
            </p:nvSpPr>
            <p:spPr>
              <a:xfrm>
                <a:off x="3444875" y="3906732"/>
                <a:ext cx="2735263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382676">
                  <a:defRPr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/>
              </a:p>
            </p:txBody>
          </p:sp>
          <p:sp>
            <p:nvSpPr>
              <p:cNvPr id="401" name="Shape 401"/>
              <p:cNvSpPr/>
              <p:nvPr/>
            </p:nvSpPr>
            <p:spPr>
              <a:xfrm>
                <a:off x="3444875" y="3852544"/>
                <a:ext cx="0" cy="364134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382676">
                  <a:defRPr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/>
              </a:p>
            </p:txBody>
          </p:sp>
          <p:sp>
            <p:nvSpPr>
              <p:cNvPr id="402" name="Shape 402"/>
              <p:cNvSpPr/>
              <p:nvPr/>
            </p:nvSpPr>
            <p:spPr>
              <a:xfrm>
                <a:off x="6180137" y="3870608"/>
                <a:ext cx="1" cy="364134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382676">
                  <a:defRPr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/>
              </a:p>
            </p:txBody>
          </p:sp>
          <p:sp>
            <p:nvSpPr>
              <p:cNvPr id="403" name="Shape 403"/>
              <p:cNvSpPr/>
              <p:nvPr/>
            </p:nvSpPr>
            <p:spPr>
              <a:xfrm>
                <a:off x="4841875" y="3671179"/>
                <a:ext cx="0" cy="21590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382676">
                  <a:defRPr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/>
              </a:p>
            </p:txBody>
          </p:sp>
          <p:sp>
            <p:nvSpPr>
              <p:cNvPr id="404" name="Shape 404"/>
              <p:cNvSpPr/>
              <p:nvPr/>
            </p:nvSpPr>
            <p:spPr>
              <a:xfrm>
                <a:off x="4084637" y="2615036"/>
                <a:ext cx="1511301" cy="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382676">
                  <a:defRPr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/>
              </a:p>
            </p:txBody>
          </p:sp>
          <p:sp>
            <p:nvSpPr>
              <p:cNvPr id="405" name="Shape 405"/>
              <p:cNvSpPr/>
              <p:nvPr/>
            </p:nvSpPr>
            <p:spPr>
              <a:xfrm>
                <a:off x="5573607" y="4702668"/>
                <a:ext cx="1512888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382676">
                  <a:defRPr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/>
              </a:p>
            </p:txBody>
          </p:sp>
          <p:sp>
            <p:nvSpPr>
              <p:cNvPr id="406" name="Shape 406"/>
              <p:cNvSpPr/>
              <p:nvPr/>
            </p:nvSpPr>
            <p:spPr>
              <a:xfrm>
                <a:off x="2160151" y="160830"/>
                <a:ext cx="1529648" cy="1313178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algn="ctr">
                  <a:defRPr sz="1800">
                    <a:uFillTx/>
                  </a:defRPr>
                </a:pPr>
                <a:r>
                  <a:rPr b="1" i="1">
                    <a:latin typeface="Verdana"/>
                    <a:ea typeface="Verdana"/>
                    <a:cs typeface="Verdana"/>
                    <a:sym typeface="Verdana"/>
                  </a:rPr>
                  <a:t>Figure</a:t>
                </a:r>
              </a:p>
              <a:p>
                <a:pPr>
                  <a:defRPr sz="1800">
                    <a:uFillTx/>
                  </a:defRPr>
                </a:pPr>
                <a:r>
                  <a:rPr i="1">
                    <a:solidFill>
                      <a:srgbClr val="CC0000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area()</a:t>
                </a:r>
              </a:p>
              <a:p>
                <a:pPr>
                  <a:defRPr sz="1800">
                    <a:uFillTx/>
                  </a:defRPr>
                </a:pPr>
                <a:r>
                  <a:rPr i="1">
                    <a:solidFill>
                      <a:srgbClr val="CC0000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perimeter()</a:t>
                </a:r>
              </a:p>
            </p:txBody>
          </p:sp>
          <p:sp>
            <p:nvSpPr>
              <p:cNvPr id="407" name="Shape 407"/>
              <p:cNvSpPr/>
              <p:nvPr/>
            </p:nvSpPr>
            <p:spPr>
              <a:xfrm>
                <a:off x="2214774" y="689116"/>
                <a:ext cx="1511301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382676">
                  <a:defRPr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/>
              </a:p>
            </p:txBody>
          </p:sp>
          <p:sp>
            <p:nvSpPr>
              <p:cNvPr id="408" name="Shape 408"/>
              <p:cNvSpPr/>
              <p:nvPr/>
            </p:nvSpPr>
            <p:spPr>
              <a:xfrm>
                <a:off x="-43566" y="2159001"/>
                <a:ext cx="1529648" cy="1313177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algn="ctr">
                  <a:defRPr sz="1800">
                    <a:uFillTx/>
                  </a:defRPr>
                </a:pPr>
                <a:r>
                  <a:rPr b="1">
                    <a:latin typeface="Verdana"/>
                    <a:ea typeface="Verdana"/>
                    <a:cs typeface="Verdana"/>
                    <a:sym typeface="Verdana"/>
                  </a:rPr>
                  <a:t>Ellipse</a:t>
                </a:r>
              </a:p>
              <a:p>
                <a:pPr>
                  <a:defRPr sz="1800">
                    <a:uFillTx/>
                  </a:defRPr>
                </a:pPr>
                <a:r>
                  <a:rPr>
                    <a:latin typeface="Verdana"/>
                    <a:ea typeface="Verdana"/>
                    <a:cs typeface="Verdana"/>
                    <a:sym typeface="Verdana"/>
                  </a:rPr>
                  <a:t>area()</a:t>
                </a:r>
              </a:p>
              <a:p>
                <a:pPr>
                  <a:defRPr sz="1800">
                    <a:uFillTx/>
                  </a:defRPr>
                </a:pPr>
                <a:r>
                  <a:rPr>
                    <a:latin typeface="Verdana"/>
                    <a:ea typeface="Verdana"/>
                    <a:cs typeface="Verdana"/>
                    <a:sym typeface="Verdana"/>
                  </a:rPr>
                  <a:t>perimeter()</a:t>
                </a:r>
              </a:p>
            </p:txBody>
          </p:sp>
          <p:sp>
            <p:nvSpPr>
              <p:cNvPr id="409" name="Shape 409"/>
              <p:cNvSpPr/>
              <p:nvPr/>
            </p:nvSpPr>
            <p:spPr>
              <a:xfrm>
                <a:off x="11112" y="2615036"/>
                <a:ext cx="1511301" cy="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382676">
                  <a:defRPr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/>
              </a:p>
            </p:txBody>
          </p:sp>
          <p:sp>
            <p:nvSpPr>
              <p:cNvPr id="410" name="Shape 410"/>
              <p:cNvSpPr/>
              <p:nvPr/>
            </p:nvSpPr>
            <p:spPr>
              <a:xfrm>
                <a:off x="-43566" y="4078744"/>
                <a:ext cx="1529648" cy="1313176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 algn="ctr">
                  <a:defRPr sz="1800">
                    <a:uFillTx/>
                  </a:defRPr>
                </a:pPr>
                <a:r>
                  <a:rPr b="1">
                    <a:latin typeface="Verdana"/>
                    <a:ea typeface="Verdana"/>
                    <a:cs typeface="Verdana"/>
                    <a:sym typeface="Verdana"/>
                  </a:rPr>
                  <a:t>Circle</a:t>
                </a:r>
              </a:p>
              <a:p>
                <a:pPr>
                  <a:defRPr sz="1800">
                    <a:uFillTx/>
                  </a:defRPr>
                </a:pPr>
                <a:r>
                  <a:rPr>
                    <a:latin typeface="Verdana"/>
                    <a:ea typeface="Verdana"/>
                    <a:cs typeface="Verdana"/>
                    <a:sym typeface="Verdana"/>
                  </a:rPr>
                  <a:t>area()</a:t>
                </a:r>
              </a:p>
              <a:p>
                <a:pPr>
                  <a:defRPr sz="1800">
                    <a:uFillTx/>
                  </a:defRPr>
                </a:pPr>
                <a:r>
                  <a:rPr>
                    <a:latin typeface="Verdana"/>
                    <a:ea typeface="Verdana"/>
                    <a:cs typeface="Verdana"/>
                    <a:sym typeface="Verdana"/>
                  </a:rPr>
                  <a:t>perimeter()</a:t>
                </a:r>
              </a:p>
            </p:txBody>
          </p:sp>
          <p:sp>
            <p:nvSpPr>
              <p:cNvPr id="411" name="Shape 411"/>
              <p:cNvSpPr/>
              <p:nvPr/>
            </p:nvSpPr>
            <p:spPr>
              <a:xfrm>
                <a:off x="-15981" y="4570903"/>
                <a:ext cx="1511301" cy="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382676">
                  <a:defRPr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/>
              </a:p>
            </p:txBody>
          </p:sp>
          <p:sp>
            <p:nvSpPr>
              <p:cNvPr id="412" name="Shape 412"/>
              <p:cNvSpPr/>
              <p:nvPr/>
            </p:nvSpPr>
            <p:spPr>
              <a:xfrm>
                <a:off x="2808287" y="1511300"/>
                <a:ext cx="217488" cy="2174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1800">
                    <a:uFillTx/>
                    <a:latin typeface="Verdana"/>
                    <a:ea typeface="Verdana"/>
                    <a:cs typeface="Verdana"/>
                    <a:sym typeface="Verdana"/>
                  </a:defRPr>
                </a:pPr>
                <a:endParaRPr/>
              </a:p>
            </p:txBody>
          </p:sp>
          <p:sp>
            <p:nvSpPr>
              <p:cNvPr id="413" name="Shape 413"/>
              <p:cNvSpPr/>
              <p:nvPr/>
            </p:nvSpPr>
            <p:spPr>
              <a:xfrm>
                <a:off x="2922587" y="1727200"/>
                <a:ext cx="1" cy="21590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382676">
                  <a:defRPr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/>
              </a:p>
            </p:txBody>
          </p:sp>
          <p:sp>
            <p:nvSpPr>
              <p:cNvPr id="414" name="Shape 414"/>
              <p:cNvSpPr/>
              <p:nvPr/>
            </p:nvSpPr>
            <p:spPr>
              <a:xfrm>
                <a:off x="792162" y="1943100"/>
                <a:ext cx="4103688" cy="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382676">
                  <a:defRPr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/>
              </a:p>
            </p:txBody>
          </p:sp>
          <p:sp>
            <p:nvSpPr>
              <p:cNvPr id="415" name="Shape 415"/>
              <p:cNvSpPr/>
              <p:nvPr/>
            </p:nvSpPr>
            <p:spPr>
              <a:xfrm>
                <a:off x="792162" y="1943100"/>
                <a:ext cx="1" cy="21590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382676">
                  <a:defRPr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/>
              </a:p>
            </p:txBody>
          </p:sp>
          <p:sp>
            <p:nvSpPr>
              <p:cNvPr id="416" name="Shape 416"/>
              <p:cNvSpPr/>
              <p:nvPr/>
            </p:nvSpPr>
            <p:spPr>
              <a:xfrm>
                <a:off x="4895850" y="1943100"/>
                <a:ext cx="0" cy="215900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382676">
                  <a:defRPr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/>
              </a:p>
            </p:txBody>
          </p:sp>
          <p:sp>
            <p:nvSpPr>
              <p:cNvPr id="417" name="Shape 417"/>
              <p:cNvSpPr/>
              <p:nvPr/>
            </p:nvSpPr>
            <p:spPr>
              <a:xfrm flipH="1">
                <a:off x="719137" y="3564395"/>
                <a:ext cx="1" cy="504824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382676">
                  <a:defRPr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/>
              </a:p>
            </p:txBody>
          </p:sp>
          <p:sp>
            <p:nvSpPr>
              <p:cNvPr id="418" name="Shape 418"/>
              <p:cNvSpPr/>
              <p:nvPr/>
            </p:nvSpPr>
            <p:spPr>
              <a:xfrm>
                <a:off x="588962" y="3438807"/>
                <a:ext cx="217488" cy="21748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 sz="1800">
                    <a:uFillTx/>
                    <a:latin typeface="Verdana"/>
                    <a:ea typeface="Verdana"/>
                    <a:cs typeface="Verdana"/>
                    <a:sym typeface="Verdana"/>
                  </a:defRPr>
                </a:pPr>
                <a:endParaRPr/>
              </a:p>
            </p:txBody>
          </p:sp>
          <p:sp>
            <p:nvSpPr>
              <p:cNvPr id="419" name="Shape 419"/>
              <p:cNvSpPr/>
              <p:nvPr/>
            </p:nvSpPr>
            <p:spPr>
              <a:xfrm>
                <a:off x="2565294" y="4716952"/>
                <a:ext cx="2447926" cy="1589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382676">
                  <a:defRPr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/>
              </a:p>
            </p:txBody>
          </p:sp>
          <p:grpSp>
            <p:nvGrpSpPr>
              <p:cNvPr id="422" name="Group 422"/>
              <p:cNvGrpSpPr/>
              <p:nvPr/>
            </p:nvGrpSpPr>
            <p:grpSpPr>
              <a:xfrm>
                <a:off x="4032250" y="0"/>
                <a:ext cx="4284664" cy="1439864"/>
                <a:chOff x="0" y="0"/>
                <a:chExt cx="4284663" cy="1439863"/>
              </a:xfrm>
            </p:grpSpPr>
            <p:sp>
              <p:nvSpPr>
                <p:cNvPr id="420" name="Shape 420"/>
                <p:cNvSpPr/>
                <p:nvPr/>
              </p:nvSpPr>
              <p:spPr>
                <a:xfrm>
                  <a:off x="0" y="0"/>
                  <a:ext cx="4284663" cy="143986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1462" y="4342"/>
                      </a:moveTo>
                      <a:lnTo>
                        <a:pt x="9722" y="1887"/>
                      </a:lnTo>
                      <a:lnTo>
                        <a:pt x="8550" y="6382"/>
                      </a:lnTo>
                      <a:lnTo>
                        <a:pt x="4502" y="3625"/>
                      </a:lnTo>
                      <a:lnTo>
                        <a:pt x="5372" y="7817"/>
                      </a:lnTo>
                      <a:lnTo>
                        <a:pt x="1172" y="8270"/>
                      </a:lnTo>
                      <a:lnTo>
                        <a:pt x="3935" y="11592"/>
                      </a:lnTo>
                      <a:lnTo>
                        <a:pt x="0" y="12877"/>
                      </a:lnTo>
                      <a:lnTo>
                        <a:pt x="3330" y="15370"/>
                      </a:lnTo>
                      <a:lnTo>
                        <a:pt x="1285" y="17825"/>
                      </a:lnTo>
                      <a:lnTo>
                        <a:pt x="4805" y="18240"/>
                      </a:lnTo>
                      <a:lnTo>
                        <a:pt x="4917" y="21600"/>
                      </a:lnTo>
                      <a:lnTo>
                        <a:pt x="7527" y="18125"/>
                      </a:lnTo>
                      <a:lnTo>
                        <a:pt x="8700" y="19712"/>
                      </a:lnTo>
                      <a:lnTo>
                        <a:pt x="9872" y="17370"/>
                      </a:lnTo>
                      <a:lnTo>
                        <a:pt x="11612" y="18842"/>
                      </a:lnTo>
                      <a:lnTo>
                        <a:pt x="12180" y="15935"/>
                      </a:lnTo>
                      <a:lnTo>
                        <a:pt x="14942" y="17370"/>
                      </a:lnTo>
                      <a:lnTo>
                        <a:pt x="14640" y="14350"/>
                      </a:lnTo>
                      <a:lnTo>
                        <a:pt x="18877" y="15632"/>
                      </a:lnTo>
                      <a:lnTo>
                        <a:pt x="16380" y="12310"/>
                      </a:lnTo>
                      <a:lnTo>
                        <a:pt x="18270" y="11290"/>
                      </a:lnTo>
                      <a:lnTo>
                        <a:pt x="16985" y="9402"/>
                      </a:lnTo>
                      <a:lnTo>
                        <a:pt x="21600" y="6645"/>
                      </a:lnTo>
                      <a:lnTo>
                        <a:pt x="16380" y="6532"/>
                      </a:lnTo>
                      <a:lnTo>
                        <a:pt x="18007" y="3172"/>
                      </a:lnTo>
                      <a:lnTo>
                        <a:pt x="14525" y="5777"/>
                      </a:lnTo>
                      <a:lnTo>
                        <a:pt x="14790" y="0"/>
                      </a:lnTo>
                      <a:close/>
                    </a:path>
                  </a:pathLst>
                </a:custGeom>
                <a:solidFill>
                  <a:srgbClr val="CCFFFF"/>
                </a:solidFill>
                <a:ln w="9525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 sz="1800" b="1">
                      <a:solidFill>
                        <a:srgbClr val="CC0000"/>
                      </a:solidFill>
                      <a:uFillTx/>
                      <a:latin typeface="Verdana"/>
                      <a:ea typeface="Verdana"/>
                      <a:cs typeface="Verdana"/>
                      <a:sym typeface="Verdana"/>
                    </a:defRPr>
                  </a:pPr>
                  <a:endParaRPr/>
                </a:p>
              </p:txBody>
            </p:sp>
            <p:sp>
              <p:nvSpPr>
                <p:cNvPr id="421" name="Shape 421"/>
                <p:cNvSpPr/>
                <p:nvPr/>
              </p:nvSpPr>
              <p:spPr>
                <a:xfrm>
                  <a:off x="723290" y="481194"/>
                  <a:ext cx="2523081" cy="52526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a14="http://schemas.microsoft.com/office/mac/drawingml/2011/main" val="1"/>
                  </a:ext>
                </a:extLst>
              </p:spPr>
              <p:txBody>
                <a:bodyPr wrap="none" lIns="45719" tIns="45719" rIns="45719" bIns="45719" numCol="1" anchor="ctr">
                  <a:spAutoFit/>
                </a:bodyPr>
                <a:lstStyle>
                  <a:lvl1pPr marL="0" marR="0" algn="ctr">
                    <a:defRPr sz="1800" b="1">
                      <a:solidFill>
                        <a:srgbClr val="CC0000"/>
                      </a:solidFill>
                      <a:uFillTx/>
                      <a:latin typeface="Verdana"/>
                      <a:ea typeface="Verdana"/>
                      <a:cs typeface="Verdana"/>
                      <a:sym typeface="Verdana"/>
                    </a:defRPr>
                  </a:lvl1pPr>
                </a:lstStyle>
                <a:p>
                  <a:pPr lvl="0">
                    <a:defRPr b="0">
                      <a:solidFill>
                        <a:srgbClr val="000000"/>
                      </a:solidFill>
                    </a:defRPr>
                  </a:pPr>
                  <a:r>
                    <a:rPr b="1">
                      <a:solidFill>
                        <a:srgbClr val="CC0000"/>
                      </a:solidFill>
                    </a:rPr>
                    <a:t>Abstract Methods</a:t>
                  </a:r>
                </a:p>
              </p:txBody>
            </p:sp>
          </p:grpSp>
          <p:sp>
            <p:nvSpPr>
              <p:cNvPr id="423" name="Shape 423"/>
              <p:cNvSpPr/>
              <p:nvPr/>
            </p:nvSpPr>
            <p:spPr>
              <a:xfrm flipH="1">
                <a:off x="3313112" y="1008061"/>
                <a:ext cx="1170432" cy="73025"/>
              </a:xfrm>
              <a:prstGeom prst="line">
                <a:avLst/>
              </a:prstGeom>
              <a:noFill/>
              <a:ln w="28575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382676">
                  <a:defRPr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/>
              </a:p>
            </p:txBody>
          </p:sp>
          <p:sp>
            <p:nvSpPr>
              <p:cNvPr id="424" name="Shape 424"/>
              <p:cNvSpPr/>
              <p:nvPr/>
            </p:nvSpPr>
            <p:spPr>
              <a:xfrm flipH="1">
                <a:off x="5473700" y="1225549"/>
                <a:ext cx="503238" cy="1439864"/>
              </a:xfrm>
              <a:prstGeom prst="line">
                <a:avLst/>
              </a:prstGeom>
              <a:noFill/>
              <a:ln w="28575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382676">
                  <a:defRPr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/>
              </a:p>
            </p:txBody>
          </p:sp>
        </p:grpSp>
        <p:sp>
          <p:nvSpPr>
            <p:cNvPr id="426" name="Shape 426"/>
            <p:cNvSpPr/>
            <p:nvPr/>
          </p:nvSpPr>
          <p:spPr>
            <a:xfrm>
              <a:off x="7713066" y="4611633"/>
              <a:ext cx="621495" cy="35933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810"/>
                  </a:moveTo>
                  <a:lnTo>
                    <a:pt x="5370" y="0"/>
                  </a:lnTo>
                  <a:lnTo>
                    <a:pt x="14630" y="1215"/>
                  </a:lnTo>
                  <a:lnTo>
                    <a:pt x="21600" y="10827"/>
                  </a:lnTo>
                  <a:lnTo>
                    <a:pt x="16614" y="19597"/>
                  </a:lnTo>
                  <a:lnTo>
                    <a:pt x="8561" y="21600"/>
                  </a:lnTo>
                  <a:lnTo>
                    <a:pt x="679" y="16285"/>
                  </a:lnTo>
                  <a:lnTo>
                    <a:pt x="0" y="8810"/>
                  </a:lnTo>
                  <a:close/>
                </a:path>
              </a:pathLst>
            </a:custGeom>
            <a:solidFill>
              <a:srgbClr val="70BF41"/>
            </a:solidFill>
            <a:ln w="12700">
              <a:solidFill/>
              <a:round/>
            </a:ln>
          </p:spPr>
          <p:txBody>
            <a:bodyPr lIns="0" tIns="0" rIns="0" bIns="0"/>
            <a:lstStyle/>
            <a:p>
              <a:pPr lvl="0"/>
              <a:endParaRPr/>
            </a:p>
          </p:txBody>
        </p:sp>
        <p:sp>
          <p:nvSpPr>
            <p:cNvPr id="427" name="Shape 427"/>
            <p:cNvSpPr/>
            <p:nvPr/>
          </p:nvSpPr>
          <p:spPr>
            <a:xfrm>
              <a:off x="4115394" y="5636729"/>
              <a:ext cx="886726" cy="1888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16073" y="303"/>
                  </a:lnTo>
                  <a:lnTo>
                    <a:pt x="21600" y="21297"/>
                  </a:lnTo>
                  <a:lnTo>
                    <a:pt x="6725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0BF41"/>
            </a:solidFill>
            <a:ln w="12700">
              <a:solidFill/>
              <a:round/>
            </a:ln>
          </p:spPr>
          <p:txBody>
            <a:bodyPr lIns="0" tIns="0" rIns="0" bIns="0"/>
            <a:lstStyle/>
            <a:p>
              <a:pPr lvl="0"/>
              <a:endParaRPr/>
            </a:p>
          </p:txBody>
        </p:sp>
        <p:sp>
          <p:nvSpPr>
            <p:cNvPr id="428" name="Shape 428"/>
            <p:cNvSpPr/>
            <p:nvPr/>
          </p:nvSpPr>
          <p:spPr>
            <a:xfrm>
              <a:off x="8691053" y="5502440"/>
              <a:ext cx="389435" cy="4574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3841"/>
                  </a:moveTo>
                  <a:lnTo>
                    <a:pt x="21600" y="0"/>
                  </a:lnTo>
                  <a:lnTo>
                    <a:pt x="19846" y="21600"/>
                  </a:lnTo>
                  <a:lnTo>
                    <a:pt x="0" y="13841"/>
                  </a:lnTo>
                  <a:close/>
                </a:path>
              </a:pathLst>
            </a:custGeom>
            <a:solidFill>
              <a:srgbClr val="70BF41"/>
            </a:solidFill>
            <a:ln w="12700">
              <a:solidFill/>
              <a:round/>
            </a:ln>
          </p:spPr>
          <p:txBody>
            <a:bodyPr lIns="0" tIns="0" rIns="0" bIns="0"/>
            <a:lstStyle/>
            <a:p>
              <a:pPr lvl="0"/>
              <a:endParaRPr/>
            </a:p>
          </p:txBody>
        </p:sp>
        <p:sp>
          <p:nvSpPr>
            <p:cNvPr id="429" name="Shape 429"/>
            <p:cNvSpPr/>
            <p:nvPr/>
          </p:nvSpPr>
          <p:spPr>
            <a:xfrm>
              <a:off x="1468437" y="4392752"/>
              <a:ext cx="892703" cy="3280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70BF41"/>
            </a:solidFill>
            <a:ln w="12700">
              <a:solidFill/>
              <a:round/>
            </a:ln>
          </p:spPr>
          <p:txBody>
            <a:bodyPr lIns="0" tIns="0" rIns="0" bIns="0" anchor="ctr"/>
            <a:lstStyle/>
            <a:p>
              <a:pPr lvl="0"/>
              <a:endParaRPr/>
            </a:p>
          </p:txBody>
        </p:sp>
        <p:sp>
          <p:nvSpPr>
            <p:cNvPr id="430" name="Shape 430"/>
            <p:cNvSpPr/>
            <p:nvPr/>
          </p:nvSpPr>
          <p:spPr>
            <a:xfrm>
              <a:off x="1583531" y="5498970"/>
              <a:ext cx="621495" cy="4643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70BF41"/>
            </a:solidFill>
            <a:ln w="12700">
              <a:solidFill/>
              <a:round/>
            </a:ln>
          </p:spPr>
          <p:txBody>
            <a:bodyPr lIns="0" tIns="0" rIns="0" bIns="0" anchor="ctr"/>
            <a:lstStyle/>
            <a:p>
              <a:pPr lvl="0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12061118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2268</TotalTime>
  <Words>1427</Words>
  <Application>Microsoft Office PowerPoint</Application>
  <PresentationFormat>Widescreen</PresentationFormat>
  <Paragraphs>394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Calibri</vt:lpstr>
      <vt:lpstr>Calibri Light</vt:lpstr>
      <vt:lpstr>Helvetica</vt:lpstr>
      <vt:lpstr>Times New Roman</vt:lpstr>
      <vt:lpstr>Verdana</vt:lpstr>
      <vt:lpstr>Office Theme</vt:lpstr>
      <vt:lpstr>SYSTEMS ANALYSIS AND DESIGN</vt:lpstr>
      <vt:lpstr>Introduction to object-oriented development</vt:lpstr>
      <vt:lpstr>Functional/procedural approach</vt:lpstr>
      <vt:lpstr>Functional approach</vt:lpstr>
      <vt:lpstr>Object-oriented approach</vt:lpstr>
      <vt:lpstr>Object-oriented approach</vt:lpstr>
      <vt:lpstr>Objects</vt:lpstr>
      <vt:lpstr>Objects</vt:lpstr>
      <vt:lpstr>Objects</vt:lpstr>
      <vt:lpstr>Classes</vt:lpstr>
      <vt:lpstr>Class</vt:lpstr>
      <vt:lpstr>Classes</vt:lpstr>
      <vt:lpstr>Encapsulation</vt:lpstr>
      <vt:lpstr>Encapsulation</vt:lpstr>
      <vt:lpstr>Inheritance</vt:lpstr>
      <vt:lpstr>Inheritance</vt:lpstr>
      <vt:lpstr>Inheritance</vt:lpstr>
      <vt:lpstr>Polymorphism</vt:lpstr>
      <vt:lpstr>Polymorphism: dynamic linking</vt:lpstr>
      <vt:lpstr>Abstraction: abstract class</vt:lpstr>
      <vt:lpstr>Abstraction: abstract method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SYSTEMS ANALYSIS AND DESIGN</dc:title>
  <dc:creator>Toan Le</dc:creator>
  <cp:lastModifiedBy>TUAN NGUYEN</cp:lastModifiedBy>
  <cp:revision>57</cp:revision>
  <dcterms:created xsi:type="dcterms:W3CDTF">2020-05-27T05:21:30Z</dcterms:created>
  <dcterms:modified xsi:type="dcterms:W3CDTF">2021-08-07T07:51:02Z</dcterms:modified>
</cp:coreProperties>
</file>