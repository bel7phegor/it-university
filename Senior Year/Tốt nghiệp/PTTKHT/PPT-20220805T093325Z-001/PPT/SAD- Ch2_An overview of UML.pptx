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5" r:id="rId2"/>
  </p:sldMasterIdLst>
  <p:sldIdLst>
    <p:sldId id="256" r:id="rId3"/>
    <p:sldId id="314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15" r:id="rId31"/>
    <p:sldId id="303" r:id="rId32"/>
    <p:sldId id="304" r:id="rId33"/>
    <p:sldId id="305" r:id="rId34"/>
    <p:sldId id="307" r:id="rId35"/>
    <p:sldId id="308" r:id="rId36"/>
    <p:sldId id="309" r:id="rId37"/>
    <p:sldId id="310" r:id="rId38"/>
    <p:sldId id="311" r:id="rId39"/>
    <p:sldId id="31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O Duc An" initials="VD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06-17T09:53:20.520" idx="3">
    <p:pos x="4096" y="3134"/>
    <p:text>“package” diagram?</p:tex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02959436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62769099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401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72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6206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24"/>
          <p:cNvGrpSpPr/>
          <p:nvPr userDrawn="1"/>
        </p:nvGrpSpPr>
        <p:grpSpPr>
          <a:xfrm>
            <a:off x="790786" y="3023729"/>
            <a:ext cx="10588414" cy="139983"/>
            <a:chOff x="0" y="0"/>
            <a:chExt cx="11982027" cy="139982"/>
          </a:xfrm>
          <a:solidFill>
            <a:srgbClr val="FFC000"/>
          </a:solidFill>
        </p:grpSpPr>
        <p:sp>
          <p:nvSpPr>
            <p:cNvPr id="8" name="Shape 22"/>
            <p:cNvSpPr/>
            <p:nvPr/>
          </p:nvSpPr>
          <p:spPr>
            <a:xfrm>
              <a:off x="-1" y="0"/>
              <a:ext cx="7404894" cy="139983"/>
            </a:xfrm>
            <a:prstGeom prst="rect">
              <a:avLst/>
            </a:prstGeom>
            <a:grpFill/>
            <a:ln w="12700" cap="flat">
              <a:solidFill>
                <a:srgbClr val="FFC000"/>
              </a:solidFill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>
                <a:defRPr sz="24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 sz="240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Shape 23"/>
            <p:cNvSpPr/>
            <p:nvPr/>
          </p:nvSpPr>
          <p:spPr>
            <a:xfrm>
              <a:off x="0" y="0"/>
              <a:ext cx="11982027" cy="1"/>
            </a:xfrm>
            <a:prstGeom prst="line">
              <a:avLst/>
            </a:prstGeom>
            <a:grpFill/>
            <a:ln w="12700" cap="flat">
              <a:solidFill>
                <a:srgbClr val="FFC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defTabSz="457200">
                <a:defRPr sz="16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sz="1600">
                <a:solidFill>
                  <a:prstClr val="black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85" y="3492499"/>
            <a:ext cx="10588415" cy="280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6963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313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4945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154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3022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773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040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3363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013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6799376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06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86FF-B124-458F-B57B-2B1D24945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/>
              <a:t>SYSTEMS</a:t>
            </a:r>
            <a:br>
              <a:rPr lang="en-US" sz="7200" b="1"/>
            </a:br>
            <a:r>
              <a:rPr lang="en-US" sz="7200" b="1"/>
              <a:t>ANALYSIS AND DESIGN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B71ED79-E603-4351-A7EB-B158BDF0BA05}"/>
              </a:ext>
            </a:extLst>
          </p:cNvPr>
          <p:cNvSpPr txBox="1">
            <a:spLocks/>
          </p:cNvSpPr>
          <p:nvPr/>
        </p:nvSpPr>
        <p:spPr>
          <a:xfrm>
            <a:off x="863600" y="3856038"/>
            <a:ext cx="104775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vi-VN" b="1"/>
              <a:t>Nguy</a:t>
            </a:r>
            <a:r>
              <a:rPr lang="en-US" b="1"/>
              <a:t>e</a:t>
            </a:r>
            <a:r>
              <a:rPr lang="vi-VN" b="1"/>
              <a:t>n Thanh B</a:t>
            </a:r>
            <a:r>
              <a:rPr lang="en-US" b="1"/>
              <a:t>i</a:t>
            </a:r>
            <a:r>
              <a:rPr lang="vi-VN" b="1"/>
              <a:t>nh, Nguy</a:t>
            </a:r>
            <a:r>
              <a:rPr lang="en-US" b="1"/>
              <a:t>e</a:t>
            </a:r>
            <a:r>
              <a:rPr lang="vi-VN" b="1"/>
              <a:t>n Quang V</a:t>
            </a:r>
            <a:r>
              <a:rPr lang="en-US" b="1"/>
              <a:t>u</a:t>
            </a:r>
            <a:r>
              <a:rPr lang="vi-VN" b="1"/>
              <a:t>, L</a:t>
            </a:r>
            <a:r>
              <a:rPr lang="en-US" b="1"/>
              <a:t>e</a:t>
            </a:r>
            <a:r>
              <a:rPr lang="vi-VN" b="1"/>
              <a:t> Vi</a:t>
            </a:r>
            <a:r>
              <a:rPr lang="en-US" b="1"/>
              <a:t>e</a:t>
            </a:r>
            <a:r>
              <a:rPr lang="vi-VN" b="1"/>
              <a:t>t Tr</a:t>
            </a:r>
            <a:r>
              <a:rPr lang="en-US" b="1"/>
              <a:t>uo</a:t>
            </a:r>
            <a:r>
              <a:rPr lang="vi-VN" b="1"/>
              <a:t>ng, Nguy</a:t>
            </a:r>
            <a:r>
              <a:rPr lang="en-US" b="1"/>
              <a:t>e</a:t>
            </a:r>
            <a:r>
              <a:rPr lang="vi-VN" b="1"/>
              <a:t>n Th</a:t>
            </a:r>
            <a:r>
              <a:rPr lang="en-US" b="1"/>
              <a:t>i</a:t>
            </a:r>
            <a:r>
              <a:rPr lang="vi-VN" b="1"/>
              <a:t> H</a:t>
            </a:r>
            <a:r>
              <a:rPr lang="en-US" b="1"/>
              <a:t>a</a:t>
            </a:r>
            <a:r>
              <a:rPr lang="vi-VN" b="1"/>
              <a:t>nh, V</a:t>
            </a:r>
            <a:r>
              <a:rPr lang="en-US" b="1"/>
              <a:t>o</a:t>
            </a:r>
            <a:r>
              <a:rPr lang="vi-VN" b="1"/>
              <a:t> V</a:t>
            </a:r>
            <a:r>
              <a:rPr lang="en-US" b="1"/>
              <a:t>a</a:t>
            </a:r>
            <a:r>
              <a:rPr lang="vi-VN" b="1"/>
              <a:t>n L</a:t>
            </a:r>
            <a:r>
              <a:rPr lang="en-US" b="1"/>
              <a:t>uon</a:t>
            </a:r>
            <a:r>
              <a:rPr lang="vi-VN" b="1"/>
              <a:t>g</a:t>
            </a:r>
            <a:r>
              <a:rPr lang="en-US" b="1"/>
              <a:t>,</a:t>
            </a:r>
            <a:r>
              <a:rPr lang="vi-VN" b="1"/>
              <a:t> L</a:t>
            </a:r>
            <a:r>
              <a:rPr lang="en-US" b="1"/>
              <a:t>e</a:t>
            </a:r>
            <a:r>
              <a:rPr lang="vi-VN" b="1"/>
              <a:t> Th</a:t>
            </a:r>
            <a:r>
              <a:rPr lang="en-US" b="1"/>
              <a:t>i</a:t>
            </a:r>
            <a:r>
              <a:rPr lang="vi-VN" b="1"/>
              <a:t> B</a:t>
            </a:r>
            <a:r>
              <a:rPr lang="en-US" b="1"/>
              <a:t>i</a:t>
            </a:r>
            <a:r>
              <a:rPr lang="vi-VN" b="1"/>
              <a:t>ch Tra</a:t>
            </a:r>
            <a:endParaRPr lang="en-US" b="1"/>
          </a:p>
          <a:p>
            <a:pPr algn="l">
              <a:lnSpc>
                <a:spcPct val="100000"/>
              </a:lnSpc>
            </a:pPr>
            <a:r>
              <a:rPr lang="en-US" b="1"/>
              <a:t>Faculty of Computer Science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65238"/>
            <a:ext cx="10979150" cy="1655761"/>
          </a:xfrm>
        </p:spPr>
        <p:txBody>
          <a:bodyPr>
            <a:normAutofit/>
          </a:bodyPr>
          <a:lstStyle/>
          <a:p>
            <a:r>
              <a:rPr lang="en-US"/>
              <a:t>An overview of Unified modeling language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3327400"/>
            <a:ext cx="10515600" cy="3174999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/>
              <a:t>Modeling concept</a:t>
            </a:r>
          </a:p>
          <a:p>
            <a:pPr lvl="0">
              <a:defRPr sz="1800"/>
            </a:pPr>
            <a:r>
              <a:rPr lang="en-US"/>
              <a:t>Object-oriented modeling techniques</a:t>
            </a:r>
          </a:p>
          <a:p>
            <a:pPr lvl="0">
              <a:defRPr sz="1800"/>
            </a:pPr>
            <a:r>
              <a:rPr lang="en-US"/>
              <a:t>History of UML</a:t>
            </a:r>
          </a:p>
          <a:p>
            <a:pPr lvl="0">
              <a:defRPr sz="1800"/>
            </a:pPr>
            <a:r>
              <a:rPr lang="en-US"/>
              <a:t>Brief introduction to UML</a:t>
            </a:r>
          </a:p>
          <a:p>
            <a:pPr lvl="1">
              <a:defRPr sz="1800"/>
            </a:pPr>
            <a:r>
              <a:rPr lang="en-US"/>
              <a:t>Notions</a:t>
            </a:r>
          </a:p>
          <a:p>
            <a:pPr lvl="1">
              <a:defRPr sz="1800"/>
            </a:pPr>
            <a:r>
              <a:rPr lang="en-US"/>
              <a:t>Diagrams</a:t>
            </a:r>
          </a:p>
          <a:p>
            <a:pPr lvl="1">
              <a:defRPr sz="1800"/>
            </a:pPr>
            <a:r>
              <a:rPr lang="en-US"/>
              <a:t>Views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08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43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37" name="Shape 43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Model and </a:t>
            </a:r>
            <a:r>
              <a:rPr lang="en-US" sz="2700" b="1"/>
              <a:t>modeling</a:t>
            </a:r>
            <a:endParaRPr sz="2700" b="1"/>
          </a:p>
        </p:txBody>
      </p:sp>
      <p:sp>
        <p:nvSpPr>
          <p:cNvPr id="438" name="Shape 438"/>
          <p:cNvSpPr>
            <a:spLocks noGrp="1"/>
          </p:cNvSpPr>
          <p:nvPr>
            <p:ph type="body" idx="1"/>
          </p:nvPr>
        </p:nvSpPr>
        <p:spPr>
          <a:xfrm>
            <a:off x="355600" y="1384300"/>
            <a:ext cx="7076543" cy="4813598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 </a:t>
            </a:r>
            <a:r>
              <a:rPr sz="2000" b="1"/>
              <a:t>model</a:t>
            </a:r>
            <a:r>
              <a:rPr sz="2000"/>
              <a:t> is a simplification of reality. We build models so we can better understand the system we are developing.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lang="en-US" sz="2000" b="1"/>
              <a:t>Modeling</a:t>
            </a:r>
            <a:r>
              <a:rPr sz="2000"/>
              <a:t> is the process of building models to represent a system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lang="en-US" sz="2000"/>
              <a:t>Modeling</a:t>
            </a:r>
            <a:endParaRPr sz="2000"/>
          </a:p>
          <a:p>
            <a:pPr lvl="1">
              <a:defRPr sz="1800"/>
            </a:pPr>
            <a:r>
              <a:rPr sz="2000"/>
              <a:t>helps us to visualise a system as it is or as we want it to be</a:t>
            </a:r>
          </a:p>
          <a:p>
            <a:pPr lvl="1">
              <a:defRPr sz="1800"/>
            </a:pPr>
            <a:r>
              <a:rPr sz="2000"/>
              <a:t>allows us to specify the structure or behaviour of a system</a:t>
            </a:r>
          </a:p>
          <a:p>
            <a:pPr lvl="1">
              <a:defRPr sz="1800"/>
            </a:pPr>
            <a:r>
              <a:rPr sz="2000"/>
              <a:t>gives us a template that guides us in constructing a system</a:t>
            </a:r>
          </a:p>
          <a:p>
            <a:pPr lvl="1">
              <a:defRPr sz="1800"/>
            </a:pPr>
            <a:r>
              <a:rPr sz="2000"/>
              <a:t>documents the decision we have made</a:t>
            </a:r>
          </a:p>
        </p:txBody>
      </p:sp>
      <p:pic>
        <p:nvPicPr>
          <p:cNvPr id="439" name="pasted-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4087" y="4240165"/>
            <a:ext cx="4583101" cy="2093438"/>
          </a:xfrm>
          <a:prstGeom prst="rect">
            <a:avLst/>
          </a:prstGeom>
          <a:ln w="6350">
            <a:round/>
          </a:ln>
        </p:spPr>
      </p:pic>
      <p:pic>
        <p:nvPicPr>
          <p:cNvPr id="440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4972" y="1308100"/>
            <a:ext cx="2442333" cy="752326"/>
          </a:xfrm>
          <a:prstGeom prst="rect">
            <a:avLst/>
          </a:prstGeom>
          <a:ln w="6350">
            <a:round/>
          </a:ln>
        </p:spPr>
      </p:pic>
      <p:pic>
        <p:nvPicPr>
          <p:cNvPr id="441" name="pasted-image.png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6036" y="2177258"/>
            <a:ext cx="2761223" cy="752326"/>
          </a:xfrm>
          <a:prstGeom prst="rect">
            <a:avLst/>
          </a:prstGeom>
          <a:ln w="6350">
            <a:round/>
          </a:ln>
        </p:spPr>
      </p:pic>
      <p:pic>
        <p:nvPicPr>
          <p:cNvPr id="442" name="pasted-image.png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4972" y="2929584"/>
            <a:ext cx="2662287" cy="873563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41699868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45" name="Shape 4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Model and </a:t>
            </a:r>
            <a:r>
              <a:rPr lang="en-US" sz="2700" b="1"/>
              <a:t>modeling</a:t>
            </a:r>
            <a:r>
              <a:rPr sz="2700" b="1"/>
              <a:t>: Example</a:t>
            </a:r>
          </a:p>
        </p:txBody>
      </p:sp>
      <p:pic>
        <p:nvPicPr>
          <p:cNvPr id="446" name="Screen Shot 2015-08-17 at 09.05.37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192" y="1233283"/>
            <a:ext cx="5775524" cy="2027441"/>
          </a:xfrm>
          <a:prstGeom prst="rect">
            <a:avLst/>
          </a:prstGeom>
          <a:ln w="6350">
            <a:round/>
          </a:ln>
        </p:spPr>
      </p:pic>
      <p:pic>
        <p:nvPicPr>
          <p:cNvPr id="447" name="Screen Shot 2015-08-17 at 09.06.29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192" y="3873294"/>
            <a:ext cx="5775524" cy="1851842"/>
          </a:xfrm>
          <a:prstGeom prst="rect">
            <a:avLst/>
          </a:prstGeom>
          <a:ln w="6350">
            <a:round/>
          </a:ln>
        </p:spPr>
      </p:pic>
      <p:pic>
        <p:nvPicPr>
          <p:cNvPr id="448" name="pasted-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329126" y="1144914"/>
            <a:ext cx="4568172" cy="4568172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333940102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1" name="Shape 4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Model and </a:t>
            </a:r>
            <a:r>
              <a:rPr lang="en-US" sz="2700" b="1"/>
              <a:t>modeling</a:t>
            </a:r>
            <a:r>
              <a:rPr sz="2700" b="1"/>
              <a:t>: Example</a:t>
            </a:r>
          </a:p>
        </p:txBody>
      </p:sp>
      <p:pic>
        <p:nvPicPr>
          <p:cNvPr id="452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222873" y="1787892"/>
            <a:ext cx="5953125" cy="2536032"/>
          </a:xfrm>
          <a:prstGeom prst="rect">
            <a:avLst/>
          </a:prstGeom>
          <a:ln w="6350">
            <a:round/>
          </a:ln>
        </p:spPr>
      </p:pic>
      <p:pic>
        <p:nvPicPr>
          <p:cNvPr id="453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222873" y="4323924"/>
            <a:ext cx="5746254" cy="2154846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14697023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6" name="Shape 4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en-US" sz="2700" b="1"/>
              <a:t>Modeling</a:t>
            </a:r>
            <a:endParaRPr sz="2700" b="1"/>
          </a:p>
        </p:txBody>
      </p:sp>
      <p:sp>
        <p:nvSpPr>
          <p:cNvPr id="457" name="Shape 457"/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2604163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 sz="1800"/>
            </a:pPr>
            <a:r>
              <a:rPr sz="2400"/>
              <a:t>A model is a simple representation of a part of the real system with a specific purpose</a:t>
            </a:r>
          </a:p>
          <a:p>
            <a:pPr lvl="1">
              <a:defRPr sz="1800"/>
            </a:pPr>
            <a:r>
              <a:t>The actual system is complex, then it is necessary to simplify</a:t>
            </a:r>
          </a:p>
          <a:p>
            <a:pPr lvl="1">
              <a:defRPr sz="1800"/>
            </a:pPr>
            <a:r>
              <a:t>Master the complexity of the system</a:t>
            </a:r>
          </a:p>
          <a:p>
            <a:pPr lvl="0">
              <a:defRPr sz="1800"/>
            </a:pPr>
            <a:r>
              <a:rPr sz="2400"/>
              <a:t>A model represents the system</a:t>
            </a:r>
          </a:p>
          <a:p>
            <a:pPr lvl="1">
              <a:defRPr sz="1800"/>
            </a:pPr>
            <a:r>
              <a:t>at certain abstraction level,</a:t>
            </a:r>
          </a:p>
          <a:p>
            <a:pPr lvl="1">
              <a:defRPr sz="1800"/>
            </a:pPr>
            <a:r>
              <a:t>according to a viewpoint,</a:t>
            </a:r>
          </a:p>
          <a:p>
            <a:pPr lvl="1">
              <a:defRPr sz="1800"/>
            </a:pPr>
            <a:r>
              <a:t>by means of description (e.g., text, image, …)</a:t>
            </a:r>
          </a:p>
        </p:txBody>
      </p:sp>
    </p:spTree>
    <p:extLst>
      <p:ext uri="{BB962C8B-B14F-4D97-AF65-F5344CB8AC3E}">
        <p14:creationId xmlns:p14="http://schemas.microsoft.com/office/powerpoint/2010/main" val="378603846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60" name="Shape 4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en-US" sz="2700" b="1"/>
              <a:t>Modeling</a:t>
            </a:r>
            <a:r>
              <a:rPr sz="2700" b="1"/>
              <a:t>: why?</a:t>
            </a:r>
          </a:p>
        </p:txBody>
      </p:sp>
      <p:sp>
        <p:nvSpPr>
          <p:cNvPr id="461" name="Shape 4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Better understand the system</a:t>
            </a:r>
          </a:p>
          <a:p>
            <a:pPr lvl="1">
              <a:defRPr sz="1800"/>
            </a:pPr>
            <a:r>
              <a:rPr sz="2000"/>
              <a:t>Facilitate the master the problem</a:t>
            </a:r>
          </a:p>
          <a:p>
            <a:pPr lvl="0">
              <a:defRPr sz="1800"/>
            </a:pPr>
            <a:r>
              <a:rPr sz="2000"/>
              <a:t>Ease the communication</a:t>
            </a:r>
          </a:p>
          <a:p>
            <a:pPr lvl="1">
              <a:defRPr sz="1800"/>
            </a:pPr>
            <a:r>
              <a:rPr sz="2000"/>
              <a:t>Supply means of communication between developers</a:t>
            </a:r>
          </a:p>
          <a:p>
            <a:pPr lvl="0">
              <a:defRPr sz="1800"/>
            </a:pPr>
            <a:r>
              <a:rPr sz="2000"/>
              <a:t>Better complete the system</a:t>
            </a:r>
          </a:p>
          <a:p>
            <a:pPr lvl="1">
              <a:defRPr sz="1800"/>
            </a:pPr>
            <a:r>
              <a:rPr sz="2000"/>
              <a:t>Ease the recognition of consistency between models and the needs to improve and complete the system</a:t>
            </a:r>
          </a:p>
          <a:p>
            <a:pPr lvl="0">
              <a:defRPr sz="1800"/>
            </a:pPr>
            <a:r>
              <a:rPr sz="2000"/>
              <a:t>Specify the structure and the behaviour of the system</a:t>
            </a:r>
          </a:p>
          <a:p>
            <a:pPr lvl="0">
              <a:defRPr sz="1800"/>
            </a:pPr>
            <a:r>
              <a:rPr sz="2000"/>
              <a:t>Document the important decisions</a:t>
            </a:r>
          </a:p>
        </p:txBody>
      </p:sp>
    </p:spTree>
    <p:extLst>
      <p:ext uri="{BB962C8B-B14F-4D97-AF65-F5344CB8AC3E}">
        <p14:creationId xmlns:p14="http://schemas.microsoft.com/office/powerpoint/2010/main" val="339915265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hape 4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en-US" sz="2700" b="1" dirty="0"/>
              <a:t>Modeling</a:t>
            </a:r>
            <a:endParaRPr sz="2700" b="1" dirty="0"/>
          </a:p>
        </p:txBody>
      </p:sp>
      <p:sp>
        <p:nvSpPr>
          <p:cNvPr id="465" name="Shape 465"/>
          <p:cNvSpPr>
            <a:spLocks noGrp="1"/>
          </p:cNvSpPr>
          <p:nvPr>
            <p:ph idx="1"/>
          </p:nvPr>
        </p:nvSpPr>
        <p:spPr>
          <a:xfrm>
            <a:off x="572493" y="1431235"/>
            <a:ext cx="11040387" cy="4898445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2400" dirty="0"/>
              <a:t>Meta-model</a:t>
            </a:r>
          </a:p>
          <a:p>
            <a:pPr lvl="1">
              <a:defRPr sz="1800"/>
            </a:pPr>
            <a:r>
              <a:rPr sz="2000" dirty="0"/>
              <a:t>is a representation of a model</a:t>
            </a:r>
          </a:p>
          <a:p>
            <a:pPr lvl="1">
              <a:defRPr sz="1800"/>
            </a:pPr>
            <a:r>
              <a:rPr sz="2000" dirty="0"/>
              <a:t>can be used to</a:t>
            </a:r>
          </a:p>
          <a:p>
            <a:pPr lvl="2">
              <a:defRPr sz="1800"/>
            </a:pPr>
            <a:r>
              <a:rPr dirty="0"/>
              <a:t>describe the syntax and the semantic of a model</a:t>
            </a:r>
          </a:p>
          <a:p>
            <a:pPr lvl="2">
              <a:defRPr sz="1800"/>
            </a:pPr>
            <a:r>
              <a:rPr dirty="0"/>
              <a:t>manipulate models with tools</a:t>
            </a:r>
          </a:p>
          <a:p>
            <a:pPr lvl="2">
              <a:defRPr sz="1800"/>
            </a:pPr>
            <a:r>
              <a:rPr dirty="0"/>
              <a:t>transform models</a:t>
            </a:r>
          </a:p>
          <a:p>
            <a:pPr lvl="2">
              <a:defRPr sz="1800"/>
            </a:pPr>
            <a:r>
              <a:rPr dirty="0"/>
              <a:t>verify and maintain the coherence between models</a:t>
            </a:r>
          </a:p>
        </p:txBody>
      </p:sp>
      <p:sp>
        <p:nvSpPr>
          <p:cNvPr id="463" name="Shape 46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8</a:t>
            </a:fld>
            <a:endParaRPr sz="180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00014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7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68" name="Shape 4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Principles of </a:t>
            </a:r>
            <a:r>
              <a:rPr lang="en-US" sz="2700" b="1"/>
              <a:t>modeling</a:t>
            </a:r>
            <a:endParaRPr sz="2700" b="1"/>
          </a:p>
        </p:txBody>
      </p:sp>
      <p:sp>
        <p:nvSpPr>
          <p:cNvPr id="469" name="Shape 46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choice of the appropriate model</a:t>
            </a:r>
          </a:p>
          <a:p>
            <a:pPr lvl="1">
              <a:defRPr sz="1800"/>
            </a:pPr>
            <a:r>
              <a:rPr sz="2000"/>
              <a:t>Data view: entity-association model</a:t>
            </a:r>
          </a:p>
          <a:p>
            <a:pPr lvl="1">
              <a:defRPr sz="1800"/>
            </a:pPr>
            <a:r>
              <a:rPr sz="2000"/>
              <a:t>Structural view: algorithm</a:t>
            </a:r>
          </a:p>
          <a:p>
            <a:pPr lvl="1">
              <a:defRPr sz="1800"/>
            </a:pPr>
            <a:r>
              <a:rPr sz="2000"/>
              <a:t>Object-oriented view: classes and relations between them</a:t>
            </a:r>
          </a:p>
          <a:p>
            <a:pPr lvl="0">
              <a:defRPr sz="1800"/>
            </a:pPr>
            <a:r>
              <a:rPr sz="2000"/>
              <a:t>The models must represent the system at different levels of abstraction (according to the needs of the users)</a:t>
            </a:r>
          </a:p>
          <a:p>
            <a:pPr lvl="0">
              <a:defRPr sz="1800"/>
            </a:pPr>
            <a:r>
              <a:rPr sz="2000"/>
              <a:t>Models must be connected to the real world</a:t>
            </a:r>
          </a:p>
          <a:p>
            <a:pPr lvl="1">
              <a:defRPr sz="1800"/>
            </a:pPr>
            <a:r>
              <a:rPr sz="2000"/>
              <a:t>Constructed models are close to real systems</a:t>
            </a:r>
          </a:p>
          <a:p>
            <a:pPr lvl="1">
              <a:defRPr sz="1800"/>
            </a:pPr>
            <a:r>
              <a:rPr sz="2000"/>
              <a:t>Object approach &gt; Procedural approach</a:t>
            </a:r>
          </a:p>
          <a:p>
            <a:pPr lvl="0">
              <a:defRPr sz="1800"/>
            </a:pPr>
            <a:r>
              <a:rPr sz="2000"/>
              <a:t>A system must be modelled by a set of models</a:t>
            </a:r>
          </a:p>
          <a:p>
            <a:pPr lvl="1">
              <a:defRPr sz="1800"/>
            </a:pPr>
            <a:r>
              <a:rPr sz="2000"/>
              <a:t>A model is not sufficient</a:t>
            </a:r>
          </a:p>
          <a:p>
            <a:pPr lvl="1">
              <a:defRPr sz="1800"/>
            </a:pPr>
            <a:r>
              <a:rPr sz="2000"/>
              <a:t>Describe different views of the systems: dynamic, static, installation, use, …</a:t>
            </a:r>
          </a:p>
        </p:txBody>
      </p:sp>
    </p:spTree>
    <p:extLst>
      <p:ext uri="{BB962C8B-B14F-4D97-AF65-F5344CB8AC3E}">
        <p14:creationId xmlns:p14="http://schemas.microsoft.com/office/powerpoint/2010/main" val="7159546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72" name="Shape 47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lang="en-US" sz="2700" b="1"/>
              <a:t>Modeling</a:t>
            </a:r>
            <a:endParaRPr sz="2700" b="1"/>
          </a:p>
        </p:txBody>
      </p:sp>
      <p:sp>
        <p:nvSpPr>
          <p:cNvPr id="473" name="Shape 47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 </a:t>
            </a:r>
            <a:r>
              <a:rPr sz="2000" b="1"/>
              <a:t>good model</a:t>
            </a:r>
            <a:r>
              <a:rPr sz="2000"/>
              <a:t> should</a:t>
            </a:r>
          </a:p>
          <a:p>
            <a:pPr lvl="1">
              <a:defRPr sz="1800"/>
            </a:pPr>
            <a:r>
              <a:rPr sz="2000"/>
              <a:t>use a standardized notation</a:t>
            </a:r>
          </a:p>
          <a:p>
            <a:pPr lvl="1">
              <a:defRPr sz="1800"/>
            </a:pPr>
            <a:r>
              <a:rPr sz="2000"/>
              <a:t>be understandable for customers and users</a:t>
            </a:r>
          </a:p>
          <a:p>
            <a:pPr lvl="1">
              <a:defRPr sz="1800"/>
            </a:pPr>
            <a:r>
              <a:rPr sz="2000"/>
              <a:t>allow software developers to understand the system</a:t>
            </a:r>
          </a:p>
          <a:p>
            <a:pPr lvl="1">
              <a:defRPr sz="1800"/>
            </a:pPr>
            <a:r>
              <a:rPr sz="2000"/>
              <a:t>provide an abstract view of the software </a:t>
            </a:r>
          </a:p>
          <a:p>
            <a:pPr lvl="1">
              <a:defRPr sz="1800"/>
            </a:pPr>
            <a:r>
              <a:rPr sz="2000"/>
              <a:t>be visual</a:t>
            </a:r>
          </a:p>
        </p:txBody>
      </p:sp>
    </p:spTree>
    <p:extLst>
      <p:ext uri="{BB962C8B-B14F-4D97-AF65-F5344CB8AC3E}">
        <p14:creationId xmlns:p14="http://schemas.microsoft.com/office/powerpoint/2010/main" val="246105004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76" name="Shape 47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Benefits of </a:t>
            </a:r>
            <a:r>
              <a:rPr lang="en-US" sz="2700" b="1"/>
              <a:t>modeling</a:t>
            </a:r>
            <a:endParaRPr sz="2700" b="1"/>
          </a:p>
        </p:txBody>
      </p:sp>
      <p:sp>
        <p:nvSpPr>
          <p:cNvPr id="477" name="Shape 47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Ease the revision and the evolution of the system</a:t>
            </a:r>
          </a:p>
          <a:p>
            <a:pPr lvl="0">
              <a:defRPr sz="1800"/>
            </a:pPr>
            <a:r>
              <a:rPr sz="2000"/>
              <a:t>Reduce errors by allowing to detect errors early in the stages of development</a:t>
            </a:r>
          </a:p>
          <a:p>
            <a:pPr lvl="0">
              <a:defRPr sz="1800"/>
            </a:pPr>
            <a:r>
              <a:rPr sz="2000"/>
              <a:t>Reduce development cost</a:t>
            </a:r>
          </a:p>
          <a:p>
            <a:pPr lvl="0">
              <a:defRPr sz="1800"/>
            </a:pPr>
            <a:r>
              <a:rPr sz="2000"/>
              <a:t>Reduce time-to-market</a:t>
            </a:r>
          </a:p>
          <a:p>
            <a:pPr lvl="0">
              <a:defRPr sz="1800"/>
            </a:pPr>
            <a:r>
              <a:rPr sz="2000"/>
              <a:t>Reduce complexity by mechanism of abstraction</a:t>
            </a:r>
          </a:p>
        </p:txBody>
      </p:sp>
    </p:spTree>
    <p:extLst>
      <p:ext uri="{BB962C8B-B14F-4D97-AF65-F5344CB8AC3E}">
        <p14:creationId xmlns:p14="http://schemas.microsoft.com/office/powerpoint/2010/main" val="345650270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0" name="Shape 48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</a:t>
            </a:r>
            <a:r>
              <a:rPr lang="en-US" sz="2700" b="1"/>
              <a:t>modeling</a:t>
            </a:r>
            <a:r>
              <a:rPr sz="2700" b="1"/>
              <a:t> techniques</a:t>
            </a:r>
          </a:p>
        </p:txBody>
      </p:sp>
      <p:sp>
        <p:nvSpPr>
          <p:cNvPr id="481" name="Shape 48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b="1"/>
              <a:t>Object-oriented </a:t>
            </a:r>
            <a:r>
              <a:rPr lang="en-US" sz="2000" b="1"/>
              <a:t>modeling</a:t>
            </a:r>
            <a:r>
              <a:rPr sz="2000" b="1"/>
              <a:t> techniques</a:t>
            </a:r>
            <a:r>
              <a:rPr sz="2000"/>
              <a:t> are processes/methodologies/approaches for software </a:t>
            </a:r>
            <a:r>
              <a:rPr lang="en-US" sz="2000"/>
              <a:t>modeling</a:t>
            </a:r>
            <a:r>
              <a:rPr sz="2000"/>
              <a:t> and designing</a:t>
            </a:r>
          </a:p>
          <a:p>
            <a:pPr lvl="1">
              <a:defRPr sz="1800"/>
            </a:pPr>
            <a:r>
              <a:rPr sz="2000"/>
              <a:t>1975 - 1990: several object-oriented techniques are developed</a:t>
            </a:r>
          </a:p>
          <a:p>
            <a:pPr lvl="1">
              <a:defRPr sz="1800"/>
            </a:pPr>
            <a:r>
              <a:rPr sz="2000"/>
              <a:t>1990 - 1994: there are more than 50 object-oriented </a:t>
            </a:r>
            <a:r>
              <a:rPr lang="en-US" sz="2000"/>
              <a:t>modeling</a:t>
            </a:r>
            <a:r>
              <a:rPr sz="2000"/>
              <a:t> techniques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Best-known techniques</a:t>
            </a:r>
          </a:p>
          <a:p>
            <a:pPr lvl="1">
              <a:defRPr sz="1800"/>
            </a:pPr>
            <a:r>
              <a:rPr sz="2000"/>
              <a:t>OOD (Object-Oriented Design)</a:t>
            </a:r>
          </a:p>
          <a:p>
            <a:pPr lvl="1">
              <a:defRPr sz="1800"/>
            </a:pPr>
            <a:r>
              <a:rPr sz="2000"/>
              <a:t>OOSE (Object-Oriented Software Engineering)</a:t>
            </a:r>
          </a:p>
          <a:p>
            <a:pPr lvl="1">
              <a:defRPr sz="1800"/>
            </a:pPr>
            <a:r>
              <a:rPr sz="2000"/>
              <a:t>OMT (Object </a:t>
            </a:r>
            <a:r>
              <a:rPr lang="en-US" sz="2000"/>
              <a:t>Modeling</a:t>
            </a:r>
            <a:r>
              <a:rPr sz="2000"/>
              <a:t> Technique)</a:t>
            </a:r>
          </a:p>
        </p:txBody>
      </p:sp>
    </p:spTree>
    <p:extLst>
      <p:ext uri="{BB962C8B-B14F-4D97-AF65-F5344CB8AC3E}">
        <p14:creationId xmlns:p14="http://schemas.microsoft.com/office/powerpoint/2010/main" val="278860259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4" name="Shape 48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OMT technique</a:t>
            </a:r>
          </a:p>
        </p:txBody>
      </p:sp>
      <p:sp>
        <p:nvSpPr>
          <p:cNvPr id="485" name="Shape 485"/>
          <p:cNvSpPr>
            <a:spLocks noGrp="1"/>
          </p:cNvSpPr>
          <p:nvPr>
            <p:ph type="body" idx="1"/>
          </p:nvPr>
        </p:nvSpPr>
        <p:spPr>
          <a:xfrm>
            <a:off x="564543" y="1219200"/>
            <a:ext cx="10789257" cy="49577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Developed by Jim Rumbaugh (1991)</a:t>
            </a:r>
          </a:p>
          <a:p>
            <a:pPr lvl="0">
              <a:defRPr sz="1800"/>
            </a:pPr>
            <a:r>
              <a:rPr sz="2000"/>
              <a:t>Consists of 3 main types of models</a:t>
            </a:r>
          </a:p>
          <a:p>
            <a:pPr lvl="1">
              <a:defRPr sz="1800"/>
            </a:pPr>
            <a:r>
              <a:rPr sz="2000"/>
              <a:t>Object model: Object diagram</a:t>
            </a:r>
          </a:p>
          <a:p>
            <a:pPr lvl="1">
              <a:defRPr sz="1800"/>
            </a:pPr>
            <a:r>
              <a:rPr sz="2000"/>
              <a:t>Dynamic model: State diagram</a:t>
            </a:r>
          </a:p>
          <a:p>
            <a:pPr lvl="1">
              <a:defRPr sz="1800"/>
            </a:pPr>
            <a:r>
              <a:rPr sz="2000"/>
              <a:t>Functional model: Data flow diagram</a:t>
            </a:r>
          </a:p>
        </p:txBody>
      </p:sp>
      <p:pic>
        <p:nvPicPr>
          <p:cNvPr id="486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33997" y="3362003"/>
            <a:ext cx="4284900" cy="2860524"/>
          </a:xfrm>
          <a:prstGeom prst="rect">
            <a:avLst/>
          </a:prstGeom>
          <a:ln w="6350">
            <a:solidFill/>
            <a:round/>
          </a:ln>
        </p:spPr>
      </p:pic>
      <p:pic>
        <p:nvPicPr>
          <p:cNvPr id="487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257216" y="5344100"/>
            <a:ext cx="5868605" cy="840278"/>
          </a:xfrm>
          <a:prstGeom prst="rect">
            <a:avLst/>
          </a:prstGeom>
          <a:ln w="6350">
            <a:solidFill/>
            <a:round/>
          </a:ln>
        </p:spPr>
      </p:pic>
      <p:pic>
        <p:nvPicPr>
          <p:cNvPr id="488" name="Screen Shot 2015-06-16 at 17.12.54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6860685" y="1075877"/>
            <a:ext cx="5238217" cy="3996733"/>
          </a:xfrm>
          <a:prstGeom prst="rect">
            <a:avLst/>
          </a:prstGeom>
          <a:ln w="6350">
            <a:solidFill/>
            <a:round/>
          </a:ln>
        </p:spPr>
      </p:pic>
      <p:sp>
        <p:nvSpPr>
          <p:cNvPr id="489" name="Shape 489"/>
          <p:cNvSpPr/>
          <p:nvPr/>
        </p:nvSpPr>
        <p:spPr>
          <a:xfrm>
            <a:off x="1589566" y="6161477"/>
            <a:ext cx="1948881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OMT Object Diagram</a:t>
            </a:r>
          </a:p>
        </p:txBody>
      </p:sp>
      <p:sp>
        <p:nvSpPr>
          <p:cNvPr id="490" name="Shape 490"/>
          <p:cNvSpPr/>
          <p:nvPr/>
        </p:nvSpPr>
        <p:spPr>
          <a:xfrm>
            <a:off x="7559185" y="4665048"/>
            <a:ext cx="2211004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OMT Data flow Diagram</a:t>
            </a:r>
          </a:p>
        </p:txBody>
      </p:sp>
      <p:sp>
        <p:nvSpPr>
          <p:cNvPr id="491" name="Shape 491"/>
          <p:cNvSpPr/>
          <p:nvPr/>
        </p:nvSpPr>
        <p:spPr>
          <a:xfrm>
            <a:off x="8346553" y="6126407"/>
            <a:ext cx="1815126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OMT State Diagram</a:t>
            </a:r>
          </a:p>
        </p:txBody>
      </p:sp>
    </p:spTree>
    <p:extLst>
      <p:ext uri="{BB962C8B-B14F-4D97-AF65-F5344CB8AC3E}">
        <p14:creationId xmlns:p14="http://schemas.microsoft.com/office/powerpoint/2010/main" val="52893331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Shape 49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4" name="Shape 4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OOD technique</a:t>
            </a:r>
          </a:p>
        </p:txBody>
      </p:sp>
      <p:sp>
        <p:nvSpPr>
          <p:cNvPr id="495" name="Shape 49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Developed by Grady Booch (1991)</a:t>
            </a:r>
          </a:p>
          <a:p>
            <a:pPr lvl="0">
              <a:defRPr sz="1800"/>
            </a:pPr>
            <a:r>
              <a:rPr sz="2000"/>
              <a:t>Consists of </a:t>
            </a:r>
          </a:p>
          <a:p>
            <a:pPr lvl="0">
              <a:defRPr sz="1800"/>
            </a:pPr>
            <a:r>
              <a:rPr sz="2000"/>
              <a:t>Static view</a:t>
            </a:r>
          </a:p>
          <a:p>
            <a:pPr lvl="1">
              <a:defRPr sz="1800"/>
            </a:pPr>
            <a:r>
              <a:rPr sz="2000"/>
              <a:t>Class diagram</a:t>
            </a:r>
          </a:p>
          <a:p>
            <a:pPr lvl="1">
              <a:defRPr sz="1800"/>
            </a:pPr>
            <a:r>
              <a:rPr sz="2000"/>
              <a:t>Object diagram</a:t>
            </a:r>
          </a:p>
          <a:p>
            <a:pPr lvl="1">
              <a:defRPr sz="1800"/>
            </a:pPr>
            <a:r>
              <a:rPr sz="2000"/>
              <a:t>Module diagram</a:t>
            </a:r>
          </a:p>
          <a:p>
            <a:pPr lvl="0">
              <a:defRPr sz="1800"/>
            </a:pPr>
            <a:r>
              <a:rPr sz="2000"/>
              <a:t>Dynamic view</a:t>
            </a:r>
          </a:p>
          <a:p>
            <a:pPr lvl="1">
              <a:defRPr sz="1800"/>
            </a:pPr>
            <a:r>
              <a:rPr sz="2000"/>
              <a:t>State transition diagram</a:t>
            </a:r>
          </a:p>
          <a:p>
            <a:pPr lvl="1">
              <a:defRPr sz="1800"/>
            </a:pPr>
            <a:r>
              <a:rPr sz="2000"/>
              <a:t>Process diagram</a:t>
            </a:r>
          </a:p>
          <a:p>
            <a:pPr lvl="1">
              <a:defRPr sz="1800"/>
            </a:pPr>
            <a:r>
              <a:rPr sz="2000"/>
              <a:t>Interaction diagram</a:t>
            </a:r>
          </a:p>
        </p:txBody>
      </p:sp>
      <p:pic>
        <p:nvPicPr>
          <p:cNvPr id="496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534050" y="3662882"/>
            <a:ext cx="3896880" cy="2761720"/>
          </a:xfrm>
          <a:prstGeom prst="rect">
            <a:avLst/>
          </a:prstGeom>
          <a:ln w="6350">
            <a:round/>
          </a:ln>
        </p:spPr>
      </p:pic>
      <p:pic>
        <p:nvPicPr>
          <p:cNvPr id="497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792428" y="1117600"/>
            <a:ext cx="4922925" cy="2381433"/>
          </a:xfrm>
          <a:prstGeom prst="rect">
            <a:avLst/>
          </a:prstGeom>
          <a:ln>
            <a:solidFill/>
            <a:round/>
          </a:ln>
        </p:spPr>
      </p:pic>
    </p:spTree>
    <p:extLst>
      <p:ext uri="{BB962C8B-B14F-4D97-AF65-F5344CB8AC3E}">
        <p14:creationId xmlns:p14="http://schemas.microsoft.com/office/powerpoint/2010/main" val="111810635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00" name="Shape 50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OOSE technique</a:t>
            </a:r>
          </a:p>
        </p:txBody>
      </p:sp>
      <p:sp>
        <p:nvSpPr>
          <p:cNvPr id="501" name="Shape 50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Developed by Ivar Jacobson (1992)</a:t>
            </a:r>
          </a:p>
          <a:p>
            <a:pPr lvl="0">
              <a:defRPr sz="1800"/>
            </a:pPr>
            <a:r>
              <a:rPr sz="2000"/>
              <a:t>Consists of 5 models</a:t>
            </a:r>
          </a:p>
          <a:p>
            <a:pPr lvl="1">
              <a:defRPr sz="1800"/>
            </a:pPr>
            <a:r>
              <a:rPr sz="2000"/>
              <a:t>Requirements model: Problem domain diagram, Use-case diagram</a:t>
            </a:r>
          </a:p>
          <a:p>
            <a:pPr lvl="1">
              <a:defRPr sz="1800"/>
            </a:pPr>
            <a:r>
              <a:rPr sz="2000"/>
              <a:t>Analysis model: Analysis diagram</a:t>
            </a:r>
          </a:p>
          <a:p>
            <a:pPr lvl="1">
              <a:defRPr sz="1800"/>
            </a:pPr>
            <a:r>
              <a:rPr sz="2000"/>
              <a:t>Design model: State transition diagrams, Interaction diagrams</a:t>
            </a:r>
          </a:p>
          <a:p>
            <a:pPr lvl="1">
              <a:defRPr sz="1800"/>
            </a:pPr>
            <a:r>
              <a:rPr sz="2000"/>
              <a:t>Implementation model</a:t>
            </a:r>
          </a:p>
          <a:p>
            <a:pPr lvl="1">
              <a:defRPr sz="1800"/>
            </a:pPr>
            <a:r>
              <a:rPr sz="2000"/>
              <a:t>Test model</a:t>
            </a:r>
          </a:p>
        </p:txBody>
      </p:sp>
      <p:pic>
        <p:nvPicPr>
          <p:cNvPr id="502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277493" y="3167650"/>
            <a:ext cx="4085733" cy="3160386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19539014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50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05" name="Shape 5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History of UML</a:t>
            </a:r>
          </a:p>
        </p:txBody>
      </p:sp>
      <p:sp>
        <p:nvSpPr>
          <p:cNvPr id="506" name="Shape 50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lvl="0">
              <a:defRPr sz="1800"/>
            </a:pPr>
            <a:r>
              <a:rPr sz="2000"/>
              <a:t>Too many object-oriented </a:t>
            </a:r>
            <a:r>
              <a:rPr lang="en-US" sz="2000"/>
              <a:t>modeling</a:t>
            </a:r>
            <a:r>
              <a:rPr sz="2000"/>
              <a:t> techniques</a:t>
            </a:r>
          </a:p>
          <a:p>
            <a:pPr lvl="1">
              <a:defRPr sz="1800"/>
            </a:pPr>
            <a:r>
              <a:rPr sz="2000"/>
              <a:t>Need for standardisation</a:t>
            </a:r>
          </a:p>
          <a:p>
            <a:pPr lvl="2">
              <a:defRPr sz="1800"/>
            </a:pPr>
            <a:r>
              <a:t>Unification of </a:t>
            </a:r>
            <a:r>
              <a:rPr lang="en-US"/>
              <a:t>modeling</a:t>
            </a:r>
            <a:r>
              <a:t> techniques</a:t>
            </a:r>
          </a:p>
          <a:p>
            <a:pPr lvl="0">
              <a:defRPr sz="1800"/>
            </a:pPr>
            <a:r>
              <a:rPr sz="2000"/>
              <a:t>In 1994</a:t>
            </a:r>
          </a:p>
          <a:p>
            <a:pPr lvl="1">
              <a:defRPr sz="1800"/>
            </a:pPr>
            <a:r>
              <a:rPr sz="2000"/>
              <a:t>Rumbaugh and Booch unified their approaches for the UML project at Rational Software</a:t>
            </a:r>
          </a:p>
          <a:p>
            <a:pPr lvl="0">
              <a:defRPr sz="1800"/>
            </a:pPr>
            <a:r>
              <a:rPr sz="2000"/>
              <a:t>In 1995</a:t>
            </a:r>
          </a:p>
          <a:p>
            <a:pPr lvl="1">
              <a:defRPr sz="1800"/>
            </a:pPr>
            <a:r>
              <a:rPr sz="2000"/>
              <a:t>The first version was released under the name “Unified Method” v0.8</a:t>
            </a:r>
          </a:p>
          <a:p>
            <a:pPr lvl="0">
              <a:defRPr sz="1800"/>
            </a:pPr>
            <a:r>
              <a:rPr sz="2000"/>
              <a:t>In 1996</a:t>
            </a:r>
          </a:p>
          <a:p>
            <a:pPr lvl="1">
              <a:defRPr sz="1800"/>
            </a:pPr>
            <a:r>
              <a:rPr sz="2000"/>
              <a:t>Jacobson joined the team</a:t>
            </a:r>
          </a:p>
          <a:p>
            <a:pPr lvl="0">
              <a:defRPr sz="1800"/>
            </a:pPr>
            <a:r>
              <a:rPr sz="2000"/>
              <a:t>In 1997</a:t>
            </a:r>
          </a:p>
          <a:p>
            <a:pPr lvl="1">
              <a:defRPr sz="1800"/>
            </a:pPr>
            <a:r>
              <a:rPr sz="2000"/>
              <a:t>The birth of UML v0.9 integrating OOSE</a:t>
            </a:r>
          </a:p>
          <a:p>
            <a:pPr lvl="1">
              <a:defRPr sz="1800"/>
            </a:pPr>
            <a:r>
              <a:rPr sz="2000"/>
              <a:t>The first conference of the UML is organized</a:t>
            </a:r>
          </a:p>
          <a:p>
            <a:pPr lvl="0">
              <a:defRPr sz="1800"/>
            </a:pPr>
            <a:r>
              <a:rPr sz="2000"/>
              <a:t>In 2005, UML 2.0 is released</a:t>
            </a:r>
          </a:p>
          <a:p>
            <a:pPr lvl="1">
              <a:defRPr sz="1800"/>
            </a:pPr>
            <a:r>
              <a:rPr sz="2000"/>
              <a:t>New diagrams, enhancement of existing diagrams</a:t>
            </a:r>
          </a:p>
          <a:p>
            <a:pPr lvl="0">
              <a:defRPr sz="1800"/>
            </a:pPr>
            <a:r>
              <a:rPr sz="2000"/>
              <a:t>In September, 2013, UML v.2.5 RTF - Beta 2</a:t>
            </a:r>
            <a:endParaRPr lang="en-US" sz="2000"/>
          </a:p>
          <a:p>
            <a:pPr>
              <a:defRPr sz="1800"/>
            </a:pPr>
            <a:r>
              <a:rPr lang="en-US" sz="2000"/>
              <a:t>In June, 2015, UML v.2.5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1580508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50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09" name="Shape 50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History of UML</a:t>
            </a:r>
          </a:p>
        </p:txBody>
      </p:sp>
      <p:sp>
        <p:nvSpPr>
          <p:cNvPr id="510" name="Shape 51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Contributions to UML</a:t>
            </a:r>
          </a:p>
        </p:txBody>
      </p:sp>
      <p:sp>
        <p:nvSpPr>
          <p:cNvPr id="511" name="Shape 511"/>
          <p:cNvSpPr/>
          <p:nvPr/>
        </p:nvSpPr>
        <p:spPr>
          <a:xfrm>
            <a:off x="2247697" y="2852883"/>
            <a:ext cx="872371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Booch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OOD</a:t>
            </a:r>
          </a:p>
        </p:txBody>
      </p:sp>
      <p:sp>
        <p:nvSpPr>
          <p:cNvPr id="512" name="Shape 512"/>
          <p:cNvSpPr/>
          <p:nvPr/>
        </p:nvSpPr>
        <p:spPr>
          <a:xfrm>
            <a:off x="1727748" y="3468589"/>
            <a:ext cx="1475100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Rumbaugh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OMT</a:t>
            </a:r>
          </a:p>
        </p:txBody>
      </p:sp>
      <p:sp>
        <p:nvSpPr>
          <p:cNvPr id="513" name="Shape 513"/>
          <p:cNvSpPr/>
          <p:nvPr/>
        </p:nvSpPr>
        <p:spPr>
          <a:xfrm>
            <a:off x="1827134" y="4235469"/>
            <a:ext cx="1276328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Jacobson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OOSE</a:t>
            </a:r>
          </a:p>
        </p:txBody>
      </p:sp>
      <p:sp>
        <p:nvSpPr>
          <p:cNvPr id="514" name="Shape 514"/>
          <p:cNvSpPr/>
          <p:nvPr/>
        </p:nvSpPr>
        <p:spPr>
          <a:xfrm>
            <a:off x="2837955" y="4854301"/>
            <a:ext cx="2137141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Myers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Pre and post-conditions</a:t>
            </a:r>
          </a:p>
        </p:txBody>
      </p:sp>
      <p:sp>
        <p:nvSpPr>
          <p:cNvPr id="515" name="Shape 515"/>
          <p:cNvSpPr/>
          <p:nvPr/>
        </p:nvSpPr>
        <p:spPr>
          <a:xfrm>
            <a:off x="2564960" y="2237177"/>
            <a:ext cx="1898293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Gamma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Framework, patterns</a:t>
            </a:r>
          </a:p>
        </p:txBody>
      </p:sp>
      <p:sp>
        <p:nvSpPr>
          <p:cNvPr id="516" name="Shape 516"/>
          <p:cNvSpPr/>
          <p:nvPr/>
        </p:nvSpPr>
        <p:spPr>
          <a:xfrm>
            <a:off x="4654006" y="1601292"/>
            <a:ext cx="2375988" cy="723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HP Fusion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Description of operations, 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numbering messages</a:t>
            </a:r>
          </a:p>
        </p:txBody>
      </p:sp>
      <p:sp>
        <p:nvSpPr>
          <p:cNvPr id="517" name="Shape 517"/>
          <p:cNvSpPr/>
          <p:nvPr/>
        </p:nvSpPr>
        <p:spPr>
          <a:xfrm>
            <a:off x="7768425" y="1727014"/>
            <a:ext cx="1837379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Harel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Finite state machine</a:t>
            </a:r>
          </a:p>
        </p:txBody>
      </p:sp>
      <p:sp>
        <p:nvSpPr>
          <p:cNvPr id="518" name="Shape 518"/>
          <p:cNvSpPr/>
          <p:nvPr/>
        </p:nvSpPr>
        <p:spPr>
          <a:xfrm>
            <a:off x="8446090" y="2522076"/>
            <a:ext cx="1617767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Wirfs-Brock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Responsabilities</a:t>
            </a:r>
          </a:p>
        </p:txBody>
      </p:sp>
      <p:sp>
        <p:nvSpPr>
          <p:cNvPr id="519" name="Shape 519"/>
          <p:cNvSpPr/>
          <p:nvPr/>
        </p:nvSpPr>
        <p:spPr>
          <a:xfrm>
            <a:off x="8459065" y="3444528"/>
            <a:ext cx="1821349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Shlear-Mellor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Life cycle of objects</a:t>
            </a:r>
          </a:p>
        </p:txBody>
      </p:sp>
      <p:sp>
        <p:nvSpPr>
          <p:cNvPr id="520" name="Shape 520"/>
          <p:cNvSpPr/>
          <p:nvPr/>
        </p:nvSpPr>
        <p:spPr>
          <a:xfrm>
            <a:off x="7594765" y="4689979"/>
            <a:ext cx="1699520" cy="815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Embley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Singleton classes, 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Composite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objects</a:t>
            </a:r>
          </a:p>
        </p:txBody>
      </p:sp>
      <p:sp>
        <p:nvSpPr>
          <p:cNvPr id="521" name="Shape 521"/>
          <p:cNvSpPr/>
          <p:nvPr/>
        </p:nvSpPr>
        <p:spPr>
          <a:xfrm>
            <a:off x="5662816" y="4975498"/>
            <a:ext cx="1228238" cy="538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Odell</a:t>
            </a:r>
          </a:p>
          <a:p>
            <a:pPr algn="ctr">
              <a:defRPr sz="1800">
                <a:uFillTx/>
              </a:defRPr>
            </a:pPr>
            <a:r>
              <a:rPr sz="1200" b="1" i="1">
                <a:solidFill>
                  <a:srgbClr val="6699FF"/>
                </a:solidFill>
                <a:latin typeface="Verdana"/>
                <a:ea typeface="Verdana"/>
                <a:cs typeface="Verdana"/>
                <a:sym typeface="Verdana"/>
              </a:rPr>
              <a:t>Classification</a:t>
            </a:r>
          </a:p>
        </p:txBody>
      </p:sp>
      <p:sp>
        <p:nvSpPr>
          <p:cNvPr id="522" name="Shape 522"/>
          <p:cNvSpPr/>
          <p:nvPr/>
        </p:nvSpPr>
        <p:spPr>
          <a:xfrm>
            <a:off x="3173529" y="3004687"/>
            <a:ext cx="1214438" cy="101576"/>
          </a:xfrm>
          <a:prstGeom prst="line">
            <a:avLst/>
          </a:prstGeom>
          <a:ln w="19050">
            <a:solidFill>
              <a:srgbClr val="3333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3" name="Shape 523"/>
          <p:cNvSpPr/>
          <p:nvPr/>
        </p:nvSpPr>
        <p:spPr>
          <a:xfrm>
            <a:off x="3216880" y="3620394"/>
            <a:ext cx="1010544" cy="1"/>
          </a:xfrm>
          <a:prstGeom prst="line">
            <a:avLst/>
          </a:prstGeom>
          <a:ln w="19050">
            <a:solidFill>
              <a:srgbClr val="3333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4" name="Shape 524"/>
          <p:cNvSpPr/>
          <p:nvPr/>
        </p:nvSpPr>
        <p:spPr>
          <a:xfrm flipV="1">
            <a:off x="3078811" y="4012283"/>
            <a:ext cx="1145978" cy="202035"/>
          </a:xfrm>
          <a:prstGeom prst="line">
            <a:avLst/>
          </a:prstGeom>
          <a:ln w="19050">
            <a:solidFill>
              <a:srgbClr val="3333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5" name="Shape 525"/>
          <p:cNvSpPr/>
          <p:nvPr/>
        </p:nvSpPr>
        <p:spPr>
          <a:xfrm>
            <a:off x="4387728" y="2440327"/>
            <a:ext cx="945060" cy="253381"/>
          </a:xfrm>
          <a:prstGeom prst="line">
            <a:avLst/>
          </a:prstGeom>
          <a:ln w="19050">
            <a:solidFill>
              <a:srgbClr val="6699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6" name="Shape 526"/>
          <p:cNvSpPr/>
          <p:nvPr/>
        </p:nvSpPr>
        <p:spPr>
          <a:xfrm>
            <a:off x="5788421" y="2158280"/>
            <a:ext cx="68462" cy="353840"/>
          </a:xfrm>
          <a:prstGeom prst="line">
            <a:avLst/>
          </a:prstGeom>
          <a:ln w="19050">
            <a:solidFill>
              <a:srgbClr val="6699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7" name="Shape 527"/>
          <p:cNvSpPr/>
          <p:nvPr/>
        </p:nvSpPr>
        <p:spPr>
          <a:xfrm flipH="1">
            <a:off x="7305989" y="2132199"/>
            <a:ext cx="742654" cy="455415"/>
          </a:xfrm>
          <a:prstGeom prst="line">
            <a:avLst/>
          </a:prstGeom>
          <a:ln w="19050">
            <a:solidFill>
              <a:srgbClr val="6699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8" name="Shape 528"/>
          <p:cNvSpPr/>
          <p:nvPr/>
        </p:nvSpPr>
        <p:spPr>
          <a:xfrm flipH="1">
            <a:off x="7527823" y="2673881"/>
            <a:ext cx="945060" cy="353840"/>
          </a:xfrm>
          <a:prstGeom prst="line">
            <a:avLst/>
          </a:prstGeom>
          <a:ln w="19050">
            <a:solidFill>
              <a:srgbClr val="6699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9" name="Shape 529"/>
          <p:cNvSpPr/>
          <p:nvPr/>
        </p:nvSpPr>
        <p:spPr>
          <a:xfrm flipH="1" flipV="1">
            <a:off x="7640356" y="3495873"/>
            <a:ext cx="876598" cy="50231"/>
          </a:xfrm>
          <a:prstGeom prst="line">
            <a:avLst/>
          </a:prstGeom>
          <a:ln w="19050">
            <a:solidFill>
              <a:srgbClr val="6699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30" name="Shape 530"/>
          <p:cNvSpPr/>
          <p:nvPr/>
        </p:nvSpPr>
        <p:spPr>
          <a:xfrm flipV="1">
            <a:off x="4338126" y="4348657"/>
            <a:ext cx="811114" cy="607219"/>
          </a:xfrm>
          <a:prstGeom prst="line">
            <a:avLst/>
          </a:prstGeom>
          <a:ln w="19050">
            <a:solidFill>
              <a:srgbClr val="6699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31" name="Shape 531"/>
          <p:cNvSpPr/>
          <p:nvPr/>
        </p:nvSpPr>
        <p:spPr>
          <a:xfrm flipH="1" flipV="1">
            <a:off x="6175731" y="4418508"/>
            <a:ext cx="66974" cy="556990"/>
          </a:xfrm>
          <a:prstGeom prst="line">
            <a:avLst/>
          </a:prstGeom>
          <a:ln w="19050">
            <a:solidFill>
              <a:srgbClr val="6699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32" name="Shape 532"/>
          <p:cNvSpPr/>
          <p:nvPr/>
        </p:nvSpPr>
        <p:spPr>
          <a:xfrm flipH="1" flipV="1">
            <a:off x="7250923" y="4233448"/>
            <a:ext cx="742653" cy="506760"/>
          </a:xfrm>
          <a:prstGeom prst="line">
            <a:avLst/>
          </a:prstGeom>
          <a:ln w="19050">
            <a:solidFill>
              <a:srgbClr val="6699FF"/>
            </a:solidFill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533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262496" y="2495848"/>
            <a:ext cx="3500438" cy="1866305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128699963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53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36" name="Shape 5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</a:t>
            </a:r>
          </a:p>
        </p:txBody>
      </p:sp>
      <p:sp>
        <p:nvSpPr>
          <p:cNvPr id="537" name="Shape 53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2000" b="1" dirty="0"/>
              <a:t>UML</a:t>
            </a:r>
            <a:r>
              <a:rPr sz="2000" dirty="0"/>
              <a:t> (Unified Modeling Language) is </a:t>
            </a:r>
            <a:r>
              <a:rPr sz="2000" b="1" dirty="0"/>
              <a:t>a </a:t>
            </a:r>
            <a:r>
              <a:rPr lang="en-US" sz="2000" b="1" dirty="0"/>
              <a:t>modeling</a:t>
            </a:r>
            <a:r>
              <a:rPr sz="2000" b="1" dirty="0"/>
              <a:t> language</a:t>
            </a:r>
            <a:endParaRPr sz="2000" dirty="0"/>
          </a:p>
          <a:p>
            <a:pPr lvl="1">
              <a:defRPr sz="1800"/>
            </a:pPr>
            <a:r>
              <a:rPr sz="2000" dirty="0"/>
              <a:t>consisting of the vocabulary, syntax and semantics</a:t>
            </a:r>
          </a:p>
          <a:p>
            <a:pPr lvl="1">
              <a:defRPr sz="1800"/>
            </a:pPr>
            <a:r>
              <a:rPr sz="2000" dirty="0"/>
              <a:t>allowing to represent a system at different levels: conceptual, physical</a:t>
            </a:r>
          </a:p>
          <a:p>
            <a:pPr lvl="1">
              <a:defRPr sz="1800"/>
            </a:pPr>
            <a:r>
              <a:rPr sz="2000" dirty="0"/>
              <a:t>consisting of vocabulary and rules to describe different models representing a system</a:t>
            </a:r>
          </a:p>
          <a:p>
            <a:pPr lvl="0">
              <a:defRPr sz="1800"/>
            </a:pPr>
            <a:endParaRPr sz="2000" dirty="0"/>
          </a:p>
          <a:p>
            <a:pPr lvl="0">
              <a:defRPr sz="1800"/>
            </a:pPr>
            <a:endParaRPr sz="2000" dirty="0"/>
          </a:p>
          <a:p>
            <a:pPr lvl="0">
              <a:defRPr sz="1800"/>
            </a:pPr>
            <a:r>
              <a:rPr sz="2000" b="1" dirty="0"/>
              <a:t>UML</a:t>
            </a:r>
            <a:r>
              <a:rPr sz="2000" dirty="0"/>
              <a:t> </a:t>
            </a:r>
          </a:p>
          <a:p>
            <a:pPr lvl="1">
              <a:defRPr sz="1800"/>
            </a:pPr>
            <a:r>
              <a:rPr sz="2000" dirty="0"/>
              <a:t>is neither a methodology nor a process</a:t>
            </a:r>
          </a:p>
          <a:p>
            <a:pPr lvl="1">
              <a:defRPr sz="1800"/>
            </a:pPr>
            <a:r>
              <a:rPr sz="2000" dirty="0"/>
              <a:t>allows freedom of design</a:t>
            </a:r>
          </a:p>
          <a:p>
            <a:pPr lvl="1">
              <a:defRPr sz="1800"/>
            </a:pPr>
            <a:r>
              <a:rPr sz="2000" dirty="0"/>
              <a:t>can be combined with several development processes</a:t>
            </a:r>
          </a:p>
        </p:txBody>
      </p:sp>
      <p:pic>
        <p:nvPicPr>
          <p:cNvPr id="538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797409" y="2853531"/>
            <a:ext cx="2375933" cy="1266761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23740408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5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41" name="Shape 5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</a:t>
            </a:r>
          </a:p>
        </p:txBody>
      </p:sp>
      <p:sp>
        <p:nvSpPr>
          <p:cNvPr id="542" name="Shape 54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000" dirty="0"/>
          </a:p>
          <a:p>
            <a:pPr lvl="0">
              <a:defRPr sz="1800"/>
            </a:pPr>
            <a:r>
              <a:rPr sz="2000" dirty="0"/>
              <a:t>UML is </a:t>
            </a:r>
            <a:r>
              <a:rPr sz="2000" b="1" dirty="0"/>
              <a:t>a language of </a:t>
            </a:r>
            <a:r>
              <a:rPr sz="2000" b="1" dirty="0" err="1"/>
              <a:t>visualisation</a:t>
            </a:r>
            <a:endParaRPr sz="2000" dirty="0"/>
          </a:p>
          <a:p>
            <a:pPr lvl="1">
              <a:defRPr sz="1800"/>
            </a:pPr>
            <a:r>
              <a:rPr sz="2000" dirty="0"/>
              <a:t>using graphical representations</a:t>
            </a:r>
          </a:p>
          <a:p>
            <a:pPr lvl="1">
              <a:defRPr sz="1800"/>
            </a:pPr>
            <a:r>
              <a:rPr sz="2000" dirty="0"/>
              <a:t>providing a better view of the system (thanks to graphical representations)</a:t>
            </a:r>
          </a:p>
          <a:p>
            <a:pPr lvl="0">
              <a:defRPr sz="1800"/>
            </a:pPr>
            <a:r>
              <a:rPr sz="2000" dirty="0"/>
              <a:t>UML is </a:t>
            </a:r>
            <a:r>
              <a:rPr sz="2000" b="1" dirty="0"/>
              <a:t>a language of specification</a:t>
            </a:r>
            <a:endParaRPr sz="2000" dirty="0"/>
          </a:p>
          <a:p>
            <a:pPr lvl="1">
              <a:defRPr sz="1800"/>
            </a:pPr>
            <a:r>
              <a:rPr sz="2000" dirty="0"/>
              <a:t>allowing to specify a system without ambiguity</a:t>
            </a:r>
          </a:p>
          <a:p>
            <a:pPr lvl="1">
              <a:defRPr sz="1800"/>
            </a:pPr>
            <a:r>
              <a:rPr sz="2000" dirty="0"/>
              <a:t>allowing to specify a system at different stages: analysis, design, deployment</a:t>
            </a:r>
          </a:p>
          <a:p>
            <a:pPr lvl="0">
              <a:defRPr sz="1800"/>
            </a:pPr>
            <a:r>
              <a:rPr sz="2000" dirty="0"/>
              <a:t>UML is </a:t>
            </a:r>
            <a:r>
              <a:rPr sz="2000" b="1" dirty="0"/>
              <a:t>a language of construction</a:t>
            </a:r>
            <a:endParaRPr sz="2000" dirty="0"/>
          </a:p>
          <a:p>
            <a:pPr lvl="1">
              <a:defRPr sz="1800"/>
            </a:pPr>
            <a:r>
              <a:rPr sz="2000" dirty="0"/>
              <a:t>allowing to simulate the system</a:t>
            </a:r>
          </a:p>
          <a:p>
            <a:pPr lvl="1">
              <a:defRPr sz="1800"/>
            </a:pPr>
            <a:r>
              <a:rPr sz="2000" dirty="0"/>
              <a:t>UML models are easily transformed into source code </a:t>
            </a:r>
          </a:p>
          <a:p>
            <a:pPr lvl="0">
              <a:defRPr sz="1800"/>
            </a:pPr>
            <a:r>
              <a:rPr sz="2000" dirty="0"/>
              <a:t>UML is </a:t>
            </a:r>
            <a:r>
              <a:rPr sz="2000" b="1" dirty="0"/>
              <a:t>a language of documentation</a:t>
            </a:r>
            <a:endParaRPr sz="2000" dirty="0"/>
          </a:p>
          <a:p>
            <a:pPr lvl="1">
              <a:defRPr sz="1800"/>
            </a:pPr>
            <a:r>
              <a:rPr sz="2000" dirty="0"/>
              <a:t>allowing to describe all the development stages of the system</a:t>
            </a:r>
          </a:p>
          <a:p>
            <a:pPr lvl="1">
              <a:defRPr sz="1800"/>
            </a:pPr>
            <a:r>
              <a:rPr sz="2000" dirty="0"/>
              <a:t>Built models are complete documents of the system</a:t>
            </a:r>
          </a:p>
        </p:txBody>
      </p:sp>
      <p:pic>
        <p:nvPicPr>
          <p:cNvPr id="543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051409" y="4606131"/>
            <a:ext cx="2375933" cy="1266761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302429520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46" name="Shape 54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the diagrams</a:t>
            </a:r>
          </a:p>
        </p:txBody>
      </p:sp>
      <p:sp>
        <p:nvSpPr>
          <p:cNvPr id="547" name="Shape 547"/>
          <p:cNvSpPr>
            <a:spLocks noGrp="1"/>
          </p:cNvSpPr>
          <p:nvPr>
            <p:ph type="body" idx="1"/>
          </p:nvPr>
        </p:nvSpPr>
        <p:spPr>
          <a:xfrm>
            <a:off x="406401" y="1447136"/>
            <a:ext cx="11338442" cy="50552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>
              <a:defRPr sz="1800"/>
            </a:pPr>
            <a:r>
              <a:rPr sz="2000"/>
              <a:t>Consisting of 10 main diagrams</a:t>
            </a:r>
          </a:p>
          <a:p>
            <a:pPr lvl="1">
              <a:defRPr sz="1800"/>
            </a:pPr>
            <a:r>
              <a:rPr sz="2000" b="1"/>
              <a:t>Requirements</a:t>
            </a:r>
            <a:r>
              <a:rPr sz="2000"/>
              <a:t> </a:t>
            </a:r>
            <a:r>
              <a:rPr lang="en-US" sz="2000" b="1"/>
              <a:t>modeling</a:t>
            </a:r>
            <a:endParaRPr sz="2000" b="1"/>
          </a:p>
          <a:p>
            <a:pPr lvl="2">
              <a:defRPr sz="1800"/>
            </a:pPr>
            <a:r>
              <a:t>Use-case diagrams</a:t>
            </a:r>
          </a:p>
          <a:p>
            <a:pPr lvl="1">
              <a:defRPr sz="1800"/>
            </a:pPr>
            <a:r>
              <a:rPr sz="2000" b="1"/>
              <a:t>Static structur</a:t>
            </a:r>
            <a:r>
              <a:rPr lang="en-US" sz="2000" b="1"/>
              <a:t>al</a:t>
            </a:r>
            <a:r>
              <a:rPr sz="2000"/>
              <a:t> </a:t>
            </a:r>
            <a:r>
              <a:rPr lang="en-US" sz="2000" b="1"/>
              <a:t>modeling</a:t>
            </a:r>
            <a:endParaRPr sz="2000" b="1"/>
          </a:p>
          <a:p>
            <a:pPr lvl="2">
              <a:defRPr sz="1800"/>
            </a:pPr>
            <a:r>
              <a:t>Class diagrams</a:t>
            </a:r>
          </a:p>
          <a:p>
            <a:pPr lvl="2">
              <a:defRPr sz="1800"/>
            </a:pPr>
            <a:r>
              <a:t>Object diagrams</a:t>
            </a:r>
          </a:p>
          <a:p>
            <a:pPr lvl="1">
              <a:defRPr sz="1800"/>
            </a:pPr>
            <a:r>
              <a:rPr sz="2000" b="1"/>
              <a:t>Dynamic behavior</a:t>
            </a:r>
            <a:r>
              <a:rPr lang="en-US" sz="2000" b="1"/>
              <a:t>al</a:t>
            </a:r>
            <a:r>
              <a:rPr sz="2000" b="1"/>
              <a:t> </a:t>
            </a:r>
            <a:r>
              <a:rPr lang="en-US" sz="2000" b="1"/>
              <a:t>modeling</a:t>
            </a:r>
            <a:endParaRPr sz="2000" b="1"/>
          </a:p>
          <a:p>
            <a:pPr lvl="2">
              <a:defRPr sz="1800"/>
            </a:pPr>
            <a:r>
              <a:t>Interaction diagrams</a:t>
            </a:r>
          </a:p>
          <a:p>
            <a:pPr lvl="3">
              <a:defRPr sz="1800"/>
            </a:pPr>
            <a:r>
              <a:rPr sz="2000"/>
              <a:t>Sequence diagrams</a:t>
            </a:r>
          </a:p>
          <a:p>
            <a:pPr lvl="3">
              <a:defRPr sz="1800"/>
            </a:pPr>
            <a:r>
              <a:rPr lang="en-US" sz="2000"/>
              <a:t>Communication diagrams</a:t>
            </a:r>
            <a:endParaRPr sz="2000"/>
          </a:p>
          <a:p>
            <a:pPr lvl="2">
              <a:defRPr sz="1800"/>
            </a:pPr>
            <a:r>
              <a:t>Activity diagrams</a:t>
            </a:r>
          </a:p>
          <a:p>
            <a:pPr lvl="2">
              <a:defRPr sz="1800"/>
            </a:pPr>
            <a:r>
              <a:t>State diagrams</a:t>
            </a:r>
          </a:p>
          <a:p>
            <a:pPr lvl="1">
              <a:defRPr sz="1800"/>
            </a:pPr>
            <a:r>
              <a:rPr sz="2000" b="1"/>
              <a:t>Architectural </a:t>
            </a:r>
            <a:r>
              <a:rPr lang="en-US" sz="2000" b="1"/>
              <a:t>modeling</a:t>
            </a:r>
            <a:endParaRPr sz="2000" b="1"/>
          </a:p>
          <a:p>
            <a:pPr lvl="2">
              <a:defRPr sz="1800"/>
            </a:pPr>
            <a:r>
              <a:t>Package diagrams</a:t>
            </a:r>
          </a:p>
          <a:p>
            <a:pPr lvl="2">
              <a:defRPr sz="1800"/>
            </a:pPr>
            <a:r>
              <a:t>Component diagrams</a:t>
            </a:r>
          </a:p>
          <a:p>
            <a:pPr lvl="2">
              <a:defRPr sz="1800"/>
            </a:pPr>
            <a:r>
              <a:t>Deployment diagrams</a:t>
            </a:r>
          </a:p>
        </p:txBody>
      </p:sp>
      <p:pic>
        <p:nvPicPr>
          <p:cNvPr id="548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844909" y="3056731"/>
            <a:ext cx="2375933" cy="1266761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45219991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51" name="Shape 5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Use-case diagram</a:t>
            </a:r>
          </a:p>
        </p:txBody>
      </p:sp>
      <p:sp>
        <p:nvSpPr>
          <p:cNvPr id="552" name="Shape 55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Showing the possible uses of a system</a:t>
            </a:r>
          </a:p>
          <a:p>
            <a:pPr lvl="0">
              <a:defRPr sz="1800"/>
            </a:pPr>
            <a:r>
              <a:rPr sz="2000" dirty="0"/>
              <a:t>Describing </a:t>
            </a:r>
            <a:r>
              <a:rPr sz="2000" b="1" dirty="0"/>
              <a:t>the static view</a:t>
            </a:r>
            <a:r>
              <a:rPr sz="2000" dirty="0"/>
              <a:t> of the system according to users perspective</a:t>
            </a:r>
          </a:p>
          <a:p>
            <a:pPr lvl="0">
              <a:defRPr sz="1800"/>
            </a:pPr>
            <a:r>
              <a:rPr sz="2000" dirty="0"/>
              <a:t>Being very important to understand the functions of the system</a:t>
            </a:r>
          </a:p>
          <a:p>
            <a:pPr lvl="0">
              <a:defRPr sz="1800"/>
            </a:pPr>
            <a:endParaRPr sz="2000" dirty="0"/>
          </a:p>
          <a:p>
            <a:pPr lvl="0">
              <a:defRPr sz="1800"/>
            </a:pPr>
            <a:r>
              <a:rPr sz="2000" dirty="0"/>
              <a:t>Example</a:t>
            </a:r>
          </a:p>
        </p:txBody>
      </p:sp>
      <p:grpSp>
        <p:nvGrpSpPr>
          <p:cNvPr id="576" name="Group 576"/>
          <p:cNvGrpSpPr/>
          <p:nvPr/>
        </p:nvGrpSpPr>
        <p:grpSpPr>
          <a:xfrm>
            <a:off x="2365375" y="2794248"/>
            <a:ext cx="6974446" cy="2227958"/>
            <a:chOff x="0" y="0"/>
            <a:chExt cx="7439407" cy="3168650"/>
          </a:xfrm>
        </p:grpSpPr>
        <p:sp>
          <p:nvSpPr>
            <p:cNvPr id="553" name="Shape 553"/>
            <p:cNvSpPr/>
            <p:nvPr/>
          </p:nvSpPr>
          <p:spPr>
            <a:xfrm>
              <a:off x="2016125" y="0"/>
              <a:ext cx="5400675" cy="3168650"/>
            </a:xfrm>
            <a:prstGeom prst="rect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grpSp>
          <p:nvGrpSpPr>
            <p:cNvPr id="559" name="Group 559"/>
            <p:cNvGrpSpPr/>
            <p:nvPr/>
          </p:nvGrpSpPr>
          <p:grpSpPr>
            <a:xfrm>
              <a:off x="228599" y="836612"/>
              <a:ext cx="457202" cy="914401"/>
              <a:chOff x="0" y="0"/>
              <a:chExt cx="457200" cy="914399"/>
            </a:xfrm>
          </p:grpSpPr>
          <p:sp>
            <p:nvSpPr>
              <p:cNvPr id="554" name="Shape 554"/>
              <p:cNvSpPr/>
              <p:nvPr/>
            </p:nvSpPr>
            <p:spPr>
              <a:xfrm>
                <a:off x="76199" y="-1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555" name="Shape 555"/>
              <p:cNvSpPr/>
              <p:nvPr/>
            </p:nvSpPr>
            <p:spPr>
              <a:xfrm flipH="1">
                <a:off x="228599" y="304800"/>
                <a:ext cx="1" cy="4572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56" name="Shape 556"/>
              <p:cNvSpPr/>
              <p:nvPr/>
            </p:nvSpPr>
            <p:spPr>
              <a:xfrm flipH="1">
                <a:off x="-1" y="762000"/>
                <a:ext cx="228602" cy="1524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57" name="Shape 557"/>
              <p:cNvSpPr/>
              <p:nvPr/>
            </p:nvSpPr>
            <p:spPr>
              <a:xfrm>
                <a:off x="228599" y="762000"/>
                <a:ext cx="228602" cy="1524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58" name="Shape 558"/>
              <p:cNvSpPr/>
              <p:nvPr/>
            </p:nvSpPr>
            <p:spPr>
              <a:xfrm>
                <a:off x="0" y="533400"/>
                <a:ext cx="45720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560" name="Shape 560"/>
            <p:cNvSpPr/>
            <p:nvPr/>
          </p:nvSpPr>
          <p:spPr>
            <a:xfrm>
              <a:off x="0" y="1668462"/>
              <a:ext cx="862799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admin</a:t>
              </a:r>
            </a:p>
          </p:txBody>
        </p:sp>
        <p:sp>
          <p:nvSpPr>
            <p:cNvPr id="561" name="Shape 561"/>
            <p:cNvSpPr/>
            <p:nvPr/>
          </p:nvSpPr>
          <p:spPr>
            <a:xfrm>
              <a:off x="2285999" y="227012"/>
              <a:ext cx="2286002" cy="533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62" name="Shape 562"/>
            <p:cNvSpPr/>
            <p:nvPr/>
          </p:nvSpPr>
          <p:spPr>
            <a:xfrm>
              <a:off x="2894822" y="279400"/>
              <a:ext cx="1117569" cy="503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20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700"/>
                <a:t>add user</a:t>
              </a:r>
            </a:p>
          </p:txBody>
        </p:sp>
        <p:sp>
          <p:nvSpPr>
            <p:cNvPr id="563" name="Shape 563"/>
            <p:cNvSpPr/>
            <p:nvPr/>
          </p:nvSpPr>
          <p:spPr>
            <a:xfrm flipV="1">
              <a:off x="914399" y="608012"/>
              <a:ext cx="1295401" cy="685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4" name="Shape 564"/>
            <p:cNvSpPr/>
            <p:nvPr/>
          </p:nvSpPr>
          <p:spPr>
            <a:xfrm>
              <a:off x="838200" y="1370012"/>
              <a:ext cx="1447801" cy="762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5" name="Shape 565"/>
            <p:cNvSpPr/>
            <p:nvPr/>
          </p:nvSpPr>
          <p:spPr>
            <a:xfrm>
              <a:off x="838199" y="1446212"/>
              <a:ext cx="1447802" cy="8382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6" name="Shape 566"/>
            <p:cNvSpPr/>
            <p:nvPr/>
          </p:nvSpPr>
          <p:spPr>
            <a:xfrm>
              <a:off x="2285999" y="1141412"/>
              <a:ext cx="2286002" cy="533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67" name="Shape 567"/>
            <p:cNvSpPr/>
            <p:nvPr/>
          </p:nvSpPr>
          <p:spPr>
            <a:xfrm>
              <a:off x="2753635" y="1193800"/>
              <a:ext cx="1403117" cy="503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20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700"/>
                <a:t>delete user</a:t>
              </a:r>
            </a:p>
          </p:txBody>
        </p:sp>
        <p:sp>
          <p:nvSpPr>
            <p:cNvPr id="568" name="Shape 568"/>
            <p:cNvSpPr/>
            <p:nvPr/>
          </p:nvSpPr>
          <p:spPr>
            <a:xfrm>
              <a:off x="2285999" y="2132012"/>
              <a:ext cx="2286002" cy="533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69" name="Shape 569"/>
            <p:cNvSpPr/>
            <p:nvPr/>
          </p:nvSpPr>
          <p:spPr>
            <a:xfrm>
              <a:off x="2713302" y="2184400"/>
              <a:ext cx="1480608" cy="503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20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700"/>
                <a:t>modify user</a:t>
              </a:r>
            </a:p>
          </p:txBody>
        </p:sp>
        <p:sp>
          <p:nvSpPr>
            <p:cNvPr id="570" name="Shape 570"/>
            <p:cNvSpPr/>
            <p:nvPr/>
          </p:nvSpPr>
          <p:spPr>
            <a:xfrm>
              <a:off x="5562599" y="1522412"/>
              <a:ext cx="1676401" cy="533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71" name="Shape 571"/>
            <p:cNvSpPr/>
            <p:nvPr/>
          </p:nvSpPr>
          <p:spPr>
            <a:xfrm>
              <a:off x="5865583" y="1574800"/>
              <a:ext cx="1124408" cy="503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20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700"/>
                <a:t>find user</a:t>
              </a:r>
            </a:p>
          </p:txBody>
        </p:sp>
        <p:sp>
          <p:nvSpPr>
            <p:cNvPr id="572" name="Shape 572"/>
            <p:cNvSpPr/>
            <p:nvPr/>
          </p:nvSpPr>
          <p:spPr>
            <a:xfrm>
              <a:off x="4572000" y="1446212"/>
              <a:ext cx="1219201" cy="152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3" name="Shape 573"/>
            <p:cNvSpPr/>
            <p:nvPr/>
          </p:nvSpPr>
          <p:spPr>
            <a:xfrm flipV="1">
              <a:off x="4571999" y="1979612"/>
              <a:ext cx="1295401" cy="4572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4" name="Shape 574"/>
            <p:cNvSpPr/>
            <p:nvPr/>
          </p:nvSpPr>
          <p:spPr>
            <a:xfrm>
              <a:off x="4538443" y="1549400"/>
              <a:ext cx="991038" cy="4158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&lt;&lt;use&gt;&gt;</a:t>
              </a:r>
            </a:p>
          </p:txBody>
        </p:sp>
        <p:sp>
          <p:nvSpPr>
            <p:cNvPr id="575" name="Shape 575"/>
            <p:cNvSpPr/>
            <p:nvPr/>
          </p:nvSpPr>
          <p:spPr>
            <a:xfrm>
              <a:off x="5184775" y="73025"/>
              <a:ext cx="2254632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UserManagement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111984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Describing the classes and their relationship</a:t>
            </a:r>
          </a:p>
          <a:p>
            <a:pPr lvl="0">
              <a:defRPr sz="1800"/>
            </a:pPr>
            <a:r>
              <a:rPr sz="2000"/>
              <a:t>Describing </a:t>
            </a:r>
            <a:r>
              <a:rPr sz="2000" b="1"/>
              <a:t>the static view</a:t>
            </a:r>
            <a:r>
              <a:rPr sz="2000"/>
              <a:t> of the system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Example</a:t>
            </a:r>
          </a:p>
        </p:txBody>
      </p:sp>
      <p:sp>
        <p:nvSpPr>
          <p:cNvPr id="579" name="Shape 57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80" name="Shape 58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class diagram</a:t>
            </a:r>
          </a:p>
        </p:txBody>
      </p:sp>
      <p:grpSp>
        <p:nvGrpSpPr>
          <p:cNvPr id="608" name="Group 608"/>
          <p:cNvGrpSpPr/>
          <p:nvPr/>
        </p:nvGrpSpPr>
        <p:grpSpPr>
          <a:xfrm>
            <a:off x="3005535" y="2819926"/>
            <a:ext cx="6275650" cy="2792783"/>
            <a:chOff x="0" y="0"/>
            <a:chExt cx="6694025" cy="3971956"/>
          </a:xfrm>
        </p:grpSpPr>
        <p:grpSp>
          <p:nvGrpSpPr>
            <p:cNvPr id="601" name="Group 601"/>
            <p:cNvGrpSpPr/>
            <p:nvPr/>
          </p:nvGrpSpPr>
          <p:grpSpPr>
            <a:xfrm>
              <a:off x="1149192" y="62135"/>
              <a:ext cx="5073354" cy="3909821"/>
              <a:chOff x="0" y="0"/>
              <a:chExt cx="5073353" cy="3909820"/>
            </a:xfrm>
          </p:grpSpPr>
          <p:sp>
            <p:nvSpPr>
              <p:cNvPr id="581" name="Shape 581"/>
              <p:cNvSpPr/>
              <p:nvPr/>
            </p:nvSpPr>
            <p:spPr>
              <a:xfrm>
                <a:off x="2633662" y="0"/>
                <a:ext cx="1060732" cy="525269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marL="0" marR="0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/>
                <a:r>
                  <a:t>Polygon</a:t>
                </a:r>
              </a:p>
            </p:txBody>
          </p:sp>
          <p:sp>
            <p:nvSpPr>
              <p:cNvPr id="582" name="Shape 582"/>
              <p:cNvSpPr/>
              <p:nvPr/>
            </p:nvSpPr>
            <p:spPr>
              <a:xfrm>
                <a:off x="976312" y="1281113"/>
                <a:ext cx="1776620" cy="525269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marL="0" marR="0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/>
                <a:r>
                  <a:t>Parallelogram</a:t>
                </a:r>
              </a:p>
            </p:txBody>
          </p:sp>
          <p:sp>
            <p:nvSpPr>
              <p:cNvPr id="583" name="Shape 583"/>
              <p:cNvSpPr/>
              <p:nvPr/>
            </p:nvSpPr>
            <p:spPr>
              <a:xfrm>
                <a:off x="3136900" y="388937"/>
                <a:ext cx="217488" cy="217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584" name="Shape 584"/>
              <p:cNvSpPr/>
              <p:nvPr/>
            </p:nvSpPr>
            <p:spPr>
              <a:xfrm>
                <a:off x="4002087" y="1281113"/>
                <a:ext cx="1071266" cy="525269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marL="0" marR="0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/>
                <a:r>
                  <a:t>Triangle</a:t>
                </a:r>
              </a:p>
            </p:txBody>
          </p:sp>
          <p:sp>
            <p:nvSpPr>
              <p:cNvPr id="585" name="Shape 585"/>
              <p:cNvSpPr/>
              <p:nvPr/>
            </p:nvSpPr>
            <p:spPr>
              <a:xfrm>
                <a:off x="0" y="2403475"/>
                <a:ext cx="1308185" cy="525269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marL="0" marR="0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/>
                <a:r>
                  <a:t>Rectangle</a:t>
                </a:r>
              </a:p>
            </p:txBody>
          </p:sp>
          <p:sp>
            <p:nvSpPr>
              <p:cNvPr id="586" name="Shape 586"/>
              <p:cNvSpPr/>
              <p:nvPr/>
            </p:nvSpPr>
            <p:spPr>
              <a:xfrm>
                <a:off x="2305050" y="2419350"/>
                <a:ext cx="1116133" cy="525269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marL="0" marR="0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/>
                <a:r>
                  <a:t>Lozenge</a:t>
                </a:r>
              </a:p>
            </p:txBody>
          </p:sp>
          <p:sp>
            <p:nvSpPr>
              <p:cNvPr id="587" name="Shape 587"/>
              <p:cNvSpPr/>
              <p:nvPr/>
            </p:nvSpPr>
            <p:spPr>
              <a:xfrm>
                <a:off x="1841500" y="836612"/>
                <a:ext cx="2735263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88" name="Shape 588"/>
              <p:cNvSpPr/>
              <p:nvPr/>
            </p:nvSpPr>
            <p:spPr>
              <a:xfrm>
                <a:off x="1841500" y="836612"/>
                <a:ext cx="0" cy="4318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89" name="Shape 589"/>
              <p:cNvSpPr/>
              <p:nvPr/>
            </p:nvSpPr>
            <p:spPr>
              <a:xfrm>
                <a:off x="4576762" y="836612"/>
                <a:ext cx="1" cy="4318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90" name="Shape 590"/>
              <p:cNvSpPr/>
              <p:nvPr/>
            </p:nvSpPr>
            <p:spPr>
              <a:xfrm>
                <a:off x="3238500" y="619125"/>
                <a:ext cx="0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91" name="Shape 591"/>
              <p:cNvSpPr/>
              <p:nvPr/>
            </p:nvSpPr>
            <p:spPr>
              <a:xfrm>
                <a:off x="688975" y="2090737"/>
                <a:ext cx="2160588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92" name="Shape 592"/>
              <p:cNvSpPr/>
              <p:nvPr/>
            </p:nvSpPr>
            <p:spPr>
              <a:xfrm flipH="1">
                <a:off x="688974" y="2090737"/>
                <a:ext cx="1" cy="28733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93" name="Shape 593"/>
              <p:cNvSpPr/>
              <p:nvPr/>
            </p:nvSpPr>
            <p:spPr>
              <a:xfrm>
                <a:off x="1841500" y="1873250"/>
                <a:ext cx="0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94" name="Shape 594"/>
              <p:cNvSpPr/>
              <p:nvPr/>
            </p:nvSpPr>
            <p:spPr>
              <a:xfrm>
                <a:off x="2849562" y="2090737"/>
                <a:ext cx="1" cy="28733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95" name="Shape 595"/>
              <p:cNvSpPr/>
              <p:nvPr/>
            </p:nvSpPr>
            <p:spPr>
              <a:xfrm>
                <a:off x="1724025" y="1655762"/>
                <a:ext cx="217488" cy="217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596" name="Shape 596"/>
              <p:cNvSpPr/>
              <p:nvPr/>
            </p:nvSpPr>
            <p:spPr>
              <a:xfrm>
                <a:off x="1309687" y="3384551"/>
                <a:ext cx="973939" cy="525269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marL="0" marR="0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/>
                <a:r>
                  <a:t>Square</a:t>
                </a:r>
              </a:p>
            </p:txBody>
          </p:sp>
          <p:sp>
            <p:nvSpPr>
              <p:cNvPr id="597" name="Shape 597"/>
              <p:cNvSpPr/>
              <p:nvPr/>
            </p:nvSpPr>
            <p:spPr>
              <a:xfrm>
                <a:off x="584200" y="2794000"/>
                <a:ext cx="217488" cy="217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598" name="Shape 598"/>
              <p:cNvSpPr/>
              <p:nvPr/>
            </p:nvSpPr>
            <p:spPr>
              <a:xfrm>
                <a:off x="714374" y="3011487"/>
                <a:ext cx="877889" cy="36036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599" name="Shape 599"/>
              <p:cNvSpPr/>
              <p:nvPr/>
            </p:nvSpPr>
            <p:spPr>
              <a:xfrm flipH="1">
                <a:off x="1952624" y="3013074"/>
                <a:ext cx="892176" cy="3587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600" name="Shape 600"/>
              <p:cNvSpPr/>
              <p:nvPr/>
            </p:nvSpPr>
            <p:spPr>
              <a:xfrm>
                <a:off x="2743200" y="2795587"/>
                <a:ext cx="217488" cy="217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</p:grpSp>
        <p:sp>
          <p:nvSpPr>
            <p:cNvPr id="602" name="Shape 602"/>
            <p:cNvSpPr/>
            <p:nvPr/>
          </p:nvSpPr>
          <p:spPr>
            <a:xfrm>
              <a:off x="4879842" y="0"/>
              <a:ext cx="662928" cy="511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10"/>
                  </a:moveTo>
                  <a:lnTo>
                    <a:pt x="5370" y="0"/>
                  </a:lnTo>
                  <a:lnTo>
                    <a:pt x="14630" y="1215"/>
                  </a:lnTo>
                  <a:lnTo>
                    <a:pt x="21600" y="10827"/>
                  </a:lnTo>
                  <a:lnTo>
                    <a:pt x="16614" y="19597"/>
                  </a:lnTo>
                  <a:lnTo>
                    <a:pt x="8561" y="21600"/>
                  </a:lnTo>
                  <a:lnTo>
                    <a:pt x="679" y="16285"/>
                  </a:lnTo>
                  <a:lnTo>
                    <a:pt x="0" y="881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603" name="Shape 603"/>
            <p:cNvSpPr/>
            <p:nvPr/>
          </p:nvSpPr>
          <p:spPr>
            <a:xfrm>
              <a:off x="6278628" y="1172591"/>
              <a:ext cx="415397" cy="650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841"/>
                  </a:moveTo>
                  <a:lnTo>
                    <a:pt x="21600" y="0"/>
                  </a:lnTo>
                  <a:lnTo>
                    <a:pt x="19846" y="21600"/>
                  </a:lnTo>
                  <a:lnTo>
                    <a:pt x="0" y="13841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604" name="Shape 604"/>
            <p:cNvSpPr/>
            <p:nvPr/>
          </p:nvSpPr>
          <p:spPr>
            <a:xfrm>
              <a:off x="1110059" y="1363580"/>
              <a:ext cx="945840" cy="268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6073" y="303"/>
                  </a:lnTo>
                  <a:lnTo>
                    <a:pt x="21600" y="21297"/>
                  </a:lnTo>
                  <a:lnTo>
                    <a:pt x="6725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605" name="Shape 605"/>
            <p:cNvSpPr/>
            <p:nvPr/>
          </p:nvSpPr>
          <p:spPr>
            <a:xfrm>
              <a:off x="0" y="2467518"/>
              <a:ext cx="931334" cy="304159"/>
            </a:xfrm>
            <a:prstGeom prst="rect">
              <a:avLst/>
            </a:pr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606" name="Shape 606"/>
            <p:cNvSpPr/>
            <p:nvPr/>
          </p:nvSpPr>
          <p:spPr>
            <a:xfrm>
              <a:off x="4614333" y="2464186"/>
              <a:ext cx="931334" cy="310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607" name="Shape 607"/>
            <p:cNvSpPr/>
            <p:nvPr/>
          </p:nvSpPr>
          <p:spPr>
            <a:xfrm>
              <a:off x="3564466" y="3449330"/>
              <a:ext cx="381001" cy="381001"/>
            </a:xfrm>
            <a:prstGeom prst="rect">
              <a:avLst/>
            </a:pr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9587248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6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611" name="Shape 61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object diagram</a:t>
            </a:r>
          </a:p>
        </p:txBody>
      </p:sp>
      <p:sp>
        <p:nvSpPr>
          <p:cNvPr id="612" name="Shape 612"/>
          <p:cNvSpPr>
            <a:spLocks noGrp="1"/>
          </p:cNvSpPr>
          <p:nvPr>
            <p:ph type="body" idx="1"/>
          </p:nvPr>
        </p:nvSpPr>
        <p:spPr>
          <a:xfrm>
            <a:off x="564543" y="1308100"/>
            <a:ext cx="10789257" cy="48688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Describing a set of objects and their relationship</a:t>
            </a:r>
          </a:p>
          <a:p>
            <a:pPr lvl="0">
              <a:defRPr sz="1800"/>
            </a:pPr>
            <a:r>
              <a:rPr sz="2000"/>
              <a:t>An object diagram represents the same information that a class diagram but at the instance level of classes</a:t>
            </a:r>
          </a:p>
          <a:p>
            <a:pPr lvl="0">
              <a:defRPr sz="1800"/>
            </a:pPr>
            <a:r>
              <a:rPr sz="2000"/>
              <a:t>Describing </a:t>
            </a:r>
            <a:r>
              <a:rPr sz="2000" b="1"/>
              <a:t>the static view</a:t>
            </a:r>
            <a:r>
              <a:rPr sz="2000"/>
              <a:t> of the system</a:t>
            </a:r>
          </a:p>
          <a:p>
            <a:pPr lvl="0">
              <a:defRPr sz="1800"/>
            </a:pPr>
            <a:r>
              <a:rPr sz="2000"/>
              <a:t>Example</a:t>
            </a:r>
          </a:p>
        </p:txBody>
      </p:sp>
      <p:grpSp>
        <p:nvGrpSpPr>
          <p:cNvPr id="624" name="Group 624"/>
          <p:cNvGrpSpPr/>
          <p:nvPr/>
        </p:nvGrpSpPr>
        <p:grpSpPr>
          <a:xfrm>
            <a:off x="4479663" y="3121696"/>
            <a:ext cx="4361458" cy="369330"/>
            <a:chOff x="0" y="0"/>
            <a:chExt cx="4652221" cy="525268"/>
          </a:xfrm>
        </p:grpSpPr>
        <p:sp>
          <p:nvSpPr>
            <p:cNvPr id="621" name="Shape 621"/>
            <p:cNvSpPr/>
            <p:nvPr/>
          </p:nvSpPr>
          <p:spPr>
            <a:xfrm>
              <a:off x="0" y="0"/>
              <a:ext cx="1334723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University</a:t>
              </a:r>
            </a:p>
          </p:txBody>
        </p:sp>
        <p:sp>
          <p:nvSpPr>
            <p:cNvPr id="622" name="Shape 622"/>
            <p:cNvSpPr/>
            <p:nvPr/>
          </p:nvSpPr>
          <p:spPr>
            <a:xfrm>
              <a:off x="3683000" y="0"/>
              <a:ext cx="969221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Faculty</a:t>
              </a:r>
            </a:p>
          </p:txBody>
        </p:sp>
        <p:sp>
          <p:nvSpPr>
            <p:cNvPr id="623" name="Shape 623"/>
            <p:cNvSpPr/>
            <p:nvPr/>
          </p:nvSpPr>
          <p:spPr>
            <a:xfrm>
              <a:off x="1289708" y="210608"/>
              <a:ext cx="239826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 type="diamond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625" name="Shape 625"/>
          <p:cNvSpPr/>
          <p:nvPr/>
        </p:nvSpPr>
        <p:spPr>
          <a:xfrm>
            <a:off x="368890" y="3101531"/>
            <a:ext cx="1429430" cy="307777"/>
          </a:xfrm>
          <a:prstGeom prst="rect">
            <a:avLst/>
          </a:prstGeom>
          <a:solidFill>
            <a:srgbClr val="DCDEE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400"/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Class diagram</a:t>
            </a:r>
          </a:p>
        </p:txBody>
      </p:sp>
      <p:sp>
        <p:nvSpPr>
          <p:cNvPr id="626" name="Shape 626"/>
          <p:cNvSpPr/>
          <p:nvPr/>
        </p:nvSpPr>
        <p:spPr>
          <a:xfrm>
            <a:off x="368889" y="5324651"/>
            <a:ext cx="1597745" cy="307777"/>
          </a:xfrm>
          <a:prstGeom prst="rect">
            <a:avLst/>
          </a:prstGeom>
          <a:solidFill>
            <a:srgbClr val="DCDEE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400"/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Object diagram</a:t>
            </a:r>
          </a:p>
        </p:txBody>
      </p:sp>
      <p:sp>
        <p:nvSpPr>
          <p:cNvPr id="627" name="Shape 627"/>
          <p:cNvSpPr/>
          <p:nvPr/>
        </p:nvSpPr>
        <p:spPr>
          <a:xfrm rot="5400000">
            <a:off x="6329674" y="3756555"/>
            <a:ext cx="892969" cy="406741"/>
          </a:xfrm>
          <a:prstGeom prst="rightArrow">
            <a:avLst>
              <a:gd name="adj1" fmla="val 32000"/>
              <a:gd name="adj2" fmla="val 111628"/>
            </a:avLst>
          </a:prstGeom>
          <a:solidFill>
            <a:srgbClr val="EBEBEB"/>
          </a:solidFill>
          <a:ln w="6350">
            <a:solidFill/>
            <a:round/>
          </a:ln>
        </p:spPr>
        <p:txBody>
          <a:bodyPr lIns="42520" tIns="42520" rIns="42520" bIns="42520" anchor="ctr"/>
          <a:lstStyle/>
          <a:p>
            <a:pPr lvl="0"/>
            <a:endParaRPr/>
          </a:p>
        </p:txBody>
      </p:sp>
      <p:grpSp>
        <p:nvGrpSpPr>
          <p:cNvPr id="20" name="Group 620"/>
          <p:cNvGrpSpPr/>
          <p:nvPr/>
        </p:nvGrpSpPr>
        <p:grpSpPr>
          <a:xfrm>
            <a:off x="4699150" y="4321887"/>
            <a:ext cx="4423234" cy="2079366"/>
            <a:chOff x="882764" y="0"/>
            <a:chExt cx="4718116" cy="2957319"/>
          </a:xfrm>
        </p:grpSpPr>
        <p:sp>
          <p:nvSpPr>
            <p:cNvPr id="21" name="Shape 613"/>
            <p:cNvSpPr/>
            <p:nvPr/>
          </p:nvSpPr>
          <p:spPr>
            <a:xfrm>
              <a:off x="882764" y="1277855"/>
              <a:ext cx="1963955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 u="sng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u="none"/>
              </a:pPr>
              <a:r>
                <a:rPr lang="en-US" u="sng"/>
                <a:t>VKU</a:t>
              </a:r>
              <a:r>
                <a:rPr u="sng"/>
                <a:t>:University</a:t>
              </a:r>
            </a:p>
          </p:txBody>
        </p:sp>
        <p:sp>
          <p:nvSpPr>
            <p:cNvPr id="22" name="Shape 614"/>
            <p:cNvSpPr/>
            <p:nvPr/>
          </p:nvSpPr>
          <p:spPr>
            <a:xfrm>
              <a:off x="4040187" y="0"/>
              <a:ext cx="1420626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 u="sng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u="none"/>
              </a:pPr>
              <a:r>
                <a:rPr lang="en-US" u="sng"/>
                <a:t>CS</a:t>
              </a:r>
              <a:r>
                <a:rPr u="sng"/>
                <a:t>:Faculty</a:t>
              </a:r>
            </a:p>
          </p:txBody>
        </p:sp>
        <p:sp>
          <p:nvSpPr>
            <p:cNvPr id="23" name="Shape 615"/>
            <p:cNvSpPr/>
            <p:nvPr/>
          </p:nvSpPr>
          <p:spPr>
            <a:xfrm>
              <a:off x="4105275" y="1136649"/>
              <a:ext cx="1408657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 u="sng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u="none"/>
              </a:pPr>
              <a:r>
                <a:rPr lang="en-US" u="sng"/>
                <a:t>CE</a:t>
              </a:r>
              <a:r>
                <a:rPr u="sng"/>
                <a:t>:Faculty</a:t>
              </a:r>
            </a:p>
          </p:txBody>
        </p:sp>
        <p:sp>
          <p:nvSpPr>
            <p:cNvPr id="24" name="Shape 616"/>
            <p:cNvSpPr/>
            <p:nvPr/>
          </p:nvSpPr>
          <p:spPr>
            <a:xfrm>
              <a:off x="4175124" y="2432050"/>
              <a:ext cx="1425756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 u="sng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u="none"/>
              </a:pPr>
              <a:r>
                <a:rPr lang="en-US" u="sng"/>
                <a:t>DE</a:t>
              </a:r>
              <a:r>
                <a:rPr u="sng"/>
                <a:t>:Faculty</a:t>
              </a:r>
            </a:p>
          </p:txBody>
        </p:sp>
        <p:sp>
          <p:nvSpPr>
            <p:cNvPr id="25" name="Shape 617"/>
            <p:cNvSpPr/>
            <p:nvPr/>
          </p:nvSpPr>
          <p:spPr>
            <a:xfrm flipV="1">
              <a:off x="2881312" y="215900"/>
              <a:ext cx="1152526" cy="12239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" name="Shape 618"/>
            <p:cNvSpPr/>
            <p:nvPr/>
          </p:nvSpPr>
          <p:spPr>
            <a:xfrm flipV="1">
              <a:off x="2881312" y="1368425"/>
              <a:ext cx="1152526" cy="144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" name="Shape 619"/>
            <p:cNvSpPr/>
            <p:nvPr/>
          </p:nvSpPr>
          <p:spPr>
            <a:xfrm>
              <a:off x="2881312" y="1584325"/>
              <a:ext cx="1295401" cy="10080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5316497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630" name="Shape 63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interaction diagram</a:t>
            </a:r>
          </a:p>
        </p:txBody>
      </p:sp>
      <p:sp>
        <p:nvSpPr>
          <p:cNvPr id="631" name="Shape 63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Describing the behaviours of the system by the interactions between the composing objects</a:t>
            </a:r>
          </a:p>
          <a:p>
            <a:pPr lvl="0">
              <a:defRPr sz="1800"/>
            </a:pPr>
            <a:r>
              <a:rPr lang="en-US" sz="2000"/>
              <a:t>modeling</a:t>
            </a:r>
            <a:r>
              <a:rPr sz="2000"/>
              <a:t> </a:t>
            </a:r>
            <a:r>
              <a:rPr sz="2000" b="1"/>
              <a:t>the dynamic view</a:t>
            </a:r>
            <a:r>
              <a:rPr sz="2000"/>
              <a:t> of the system</a:t>
            </a:r>
          </a:p>
          <a:p>
            <a:pPr lvl="0">
              <a:defRPr sz="1800"/>
            </a:pPr>
            <a:r>
              <a:rPr sz="2000"/>
              <a:t>The interaction diagram is an extension of the object diagram by describing the interactions between objects</a:t>
            </a:r>
          </a:p>
          <a:p>
            <a:pPr lvl="0">
              <a:defRPr sz="1800"/>
            </a:pPr>
            <a:r>
              <a:rPr sz="2000"/>
              <a:t>Consisting of two types of diagrams</a:t>
            </a:r>
          </a:p>
          <a:p>
            <a:pPr lvl="1">
              <a:defRPr sz="1800"/>
            </a:pPr>
            <a:r>
              <a:rPr sz="2000" b="1"/>
              <a:t>Sequence Diagram</a:t>
            </a:r>
            <a:r>
              <a:rPr sz="2000"/>
              <a:t> describes the interactions between objects with the emphasis on sequencing of messages</a:t>
            </a:r>
          </a:p>
          <a:p>
            <a:pPr lvl="1">
              <a:defRPr sz="1800"/>
            </a:pPr>
            <a:r>
              <a:rPr sz="2000" b="1"/>
              <a:t>Co</a:t>
            </a:r>
            <a:r>
              <a:rPr lang="en-US" sz="2000" b="1"/>
              <a:t>mmunitaion</a:t>
            </a:r>
            <a:r>
              <a:rPr sz="2000" b="1"/>
              <a:t> Diagram</a:t>
            </a:r>
            <a:r>
              <a:rPr sz="2000"/>
              <a:t> describes the interactions between objects with the emphasis on the structure of objects</a:t>
            </a:r>
          </a:p>
        </p:txBody>
      </p:sp>
    </p:spTree>
    <p:extLst>
      <p:ext uri="{BB962C8B-B14F-4D97-AF65-F5344CB8AC3E}">
        <p14:creationId xmlns:p14="http://schemas.microsoft.com/office/powerpoint/2010/main" val="61333106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3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634" name="Shape 6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interaction diagram</a:t>
            </a:r>
          </a:p>
        </p:txBody>
      </p:sp>
      <p:sp>
        <p:nvSpPr>
          <p:cNvPr id="635" name="Shape 63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Sequence Diagram example</a:t>
            </a:r>
          </a:p>
        </p:txBody>
      </p:sp>
      <p:sp>
        <p:nvSpPr>
          <p:cNvPr id="636" name="Shape 636"/>
          <p:cNvSpPr/>
          <p:nvPr/>
        </p:nvSpPr>
        <p:spPr>
          <a:xfrm>
            <a:off x="1754186" y="3283334"/>
            <a:ext cx="1295564" cy="33889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 u="sng">
                <a:solidFill>
                  <a:srgbClr val="6666FF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sz="1700" u="sng">
                <a:latin typeface="Verdana"/>
                <a:ea typeface="Verdana"/>
                <a:cs typeface="Verdana"/>
                <a:sym typeface="Verdana"/>
              </a:rPr>
              <a:t>Document</a:t>
            </a:r>
          </a:p>
        </p:txBody>
      </p:sp>
      <p:sp>
        <p:nvSpPr>
          <p:cNvPr id="637" name="Shape 637"/>
          <p:cNvSpPr/>
          <p:nvPr/>
        </p:nvSpPr>
        <p:spPr>
          <a:xfrm>
            <a:off x="2374800" y="3610384"/>
            <a:ext cx="1" cy="214313"/>
          </a:xfrm>
          <a:prstGeom prst="line">
            <a:avLst/>
          </a:prstGeom>
          <a:ln>
            <a:solidFill/>
            <a:prstDash val="lg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38" name="Shape 638"/>
          <p:cNvSpPr/>
          <p:nvPr/>
        </p:nvSpPr>
        <p:spPr>
          <a:xfrm>
            <a:off x="5361780" y="3283334"/>
            <a:ext cx="550744" cy="33889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 u="sng">
                <a:solidFill>
                  <a:srgbClr val="6666FF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sz="1700" u="sng">
                <a:latin typeface="Verdana"/>
                <a:ea typeface="Verdana"/>
                <a:cs typeface="Verdana"/>
                <a:sym typeface="Verdana"/>
              </a:rPr>
              <a:t>Fax</a:t>
            </a:r>
          </a:p>
        </p:txBody>
      </p:sp>
      <p:sp>
        <p:nvSpPr>
          <p:cNvPr id="639" name="Shape 639"/>
          <p:cNvSpPr/>
          <p:nvPr/>
        </p:nvSpPr>
        <p:spPr>
          <a:xfrm>
            <a:off x="4205385" y="3700798"/>
            <a:ext cx="639936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call()</a:t>
            </a:r>
          </a:p>
        </p:txBody>
      </p:sp>
      <p:sp>
        <p:nvSpPr>
          <p:cNvPr id="640" name="Shape 640"/>
          <p:cNvSpPr/>
          <p:nvPr/>
        </p:nvSpPr>
        <p:spPr>
          <a:xfrm>
            <a:off x="8268393" y="3283334"/>
            <a:ext cx="1730619" cy="33889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 u="sng">
                <a:solidFill>
                  <a:srgbClr val="6666FF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sz="1700" u="sng">
                <a:latin typeface="Verdana"/>
                <a:ea typeface="Verdana"/>
                <a:cs typeface="Verdana"/>
                <a:sym typeface="Verdana"/>
              </a:rPr>
              <a:t>TelephoneLine</a:t>
            </a:r>
          </a:p>
        </p:txBody>
      </p:sp>
      <p:sp>
        <p:nvSpPr>
          <p:cNvPr id="641" name="Shape 641"/>
          <p:cNvSpPr/>
          <p:nvPr/>
        </p:nvSpPr>
        <p:spPr>
          <a:xfrm>
            <a:off x="5696643" y="3610384"/>
            <a:ext cx="1" cy="267891"/>
          </a:xfrm>
          <a:prstGeom prst="line">
            <a:avLst/>
          </a:prstGeom>
          <a:ln>
            <a:solidFill/>
            <a:prstDash val="lg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42" name="Shape 642"/>
          <p:cNvSpPr/>
          <p:nvPr/>
        </p:nvSpPr>
        <p:spPr>
          <a:xfrm>
            <a:off x="9339956" y="3610384"/>
            <a:ext cx="1" cy="482204"/>
          </a:xfrm>
          <a:prstGeom prst="line">
            <a:avLst/>
          </a:prstGeom>
          <a:ln>
            <a:solidFill/>
            <a:prstDash val="lg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43" name="Shape 643"/>
          <p:cNvSpPr/>
          <p:nvPr/>
        </p:nvSpPr>
        <p:spPr>
          <a:xfrm>
            <a:off x="5832077" y="3861532"/>
            <a:ext cx="639936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call()</a:t>
            </a:r>
          </a:p>
        </p:txBody>
      </p:sp>
      <p:sp>
        <p:nvSpPr>
          <p:cNvPr id="644" name="Shape 644"/>
          <p:cNvSpPr/>
          <p:nvPr/>
        </p:nvSpPr>
        <p:spPr>
          <a:xfrm>
            <a:off x="5832078" y="4408475"/>
            <a:ext cx="1734786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compose(num)</a:t>
            </a:r>
          </a:p>
        </p:txBody>
      </p:sp>
      <p:sp>
        <p:nvSpPr>
          <p:cNvPr id="645" name="Shape 645"/>
          <p:cNvSpPr/>
          <p:nvPr/>
        </p:nvSpPr>
        <p:spPr>
          <a:xfrm>
            <a:off x="2639713" y="4933094"/>
            <a:ext cx="1327624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send(page)</a:t>
            </a:r>
          </a:p>
        </p:txBody>
      </p:sp>
      <p:sp>
        <p:nvSpPr>
          <p:cNvPr id="646" name="Shape 646"/>
          <p:cNvSpPr/>
          <p:nvPr/>
        </p:nvSpPr>
        <p:spPr>
          <a:xfrm>
            <a:off x="5763616" y="5040251"/>
            <a:ext cx="1668423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transfer(page)</a:t>
            </a:r>
          </a:p>
        </p:txBody>
      </p:sp>
      <p:sp>
        <p:nvSpPr>
          <p:cNvPr id="647" name="Shape 647"/>
          <p:cNvSpPr/>
          <p:nvPr/>
        </p:nvSpPr>
        <p:spPr>
          <a:xfrm>
            <a:off x="2303362" y="3878275"/>
            <a:ext cx="142876" cy="1660923"/>
          </a:xfrm>
          <a:prstGeom prst="rect">
            <a:avLst/>
          </a:prstGeom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648" name="Shape 648"/>
          <p:cNvSpPr/>
          <p:nvPr/>
        </p:nvSpPr>
        <p:spPr>
          <a:xfrm>
            <a:off x="5625206" y="3878275"/>
            <a:ext cx="142876" cy="1553766"/>
          </a:xfrm>
          <a:prstGeom prst="rect">
            <a:avLst/>
          </a:prstGeom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649" name="Shape 649"/>
          <p:cNvSpPr/>
          <p:nvPr/>
        </p:nvSpPr>
        <p:spPr>
          <a:xfrm>
            <a:off x="5696643" y="5432040"/>
            <a:ext cx="1" cy="214313"/>
          </a:xfrm>
          <a:prstGeom prst="line">
            <a:avLst/>
          </a:prstGeom>
          <a:ln>
            <a:solidFill/>
            <a:prstDash val="lg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0" name="Shape 650"/>
          <p:cNvSpPr/>
          <p:nvPr/>
        </p:nvSpPr>
        <p:spPr>
          <a:xfrm>
            <a:off x="9268518" y="4092587"/>
            <a:ext cx="142876" cy="1339454"/>
          </a:xfrm>
          <a:prstGeom prst="rect">
            <a:avLst/>
          </a:prstGeom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651" name="Shape 651"/>
          <p:cNvSpPr/>
          <p:nvPr/>
        </p:nvSpPr>
        <p:spPr>
          <a:xfrm flipV="1">
            <a:off x="2446237" y="3985431"/>
            <a:ext cx="3178970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2" name="Shape 652"/>
          <p:cNvSpPr/>
          <p:nvPr/>
        </p:nvSpPr>
        <p:spPr>
          <a:xfrm>
            <a:off x="2446237" y="5217728"/>
            <a:ext cx="3178970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3" name="Shape 653"/>
          <p:cNvSpPr/>
          <p:nvPr/>
        </p:nvSpPr>
        <p:spPr>
          <a:xfrm>
            <a:off x="5768081" y="4092587"/>
            <a:ext cx="3500439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4" name="Shape 654"/>
          <p:cNvSpPr/>
          <p:nvPr/>
        </p:nvSpPr>
        <p:spPr>
          <a:xfrm>
            <a:off x="5768081" y="4681946"/>
            <a:ext cx="3500439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5" name="Shape 655"/>
          <p:cNvSpPr/>
          <p:nvPr/>
        </p:nvSpPr>
        <p:spPr>
          <a:xfrm>
            <a:off x="5768081" y="5324884"/>
            <a:ext cx="3500439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6" name="Shape 656"/>
          <p:cNvSpPr/>
          <p:nvPr/>
        </p:nvSpPr>
        <p:spPr>
          <a:xfrm flipH="1">
            <a:off x="2446237" y="4938675"/>
            <a:ext cx="3178970" cy="1"/>
          </a:xfrm>
          <a:prstGeom prst="line">
            <a:avLst/>
          </a:prstGeom>
          <a:ln>
            <a:solidFill/>
            <a:prstDash val="dash"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7" name="Shape 657"/>
          <p:cNvSpPr/>
          <p:nvPr/>
        </p:nvSpPr>
        <p:spPr>
          <a:xfrm>
            <a:off x="4410768" y="4665204"/>
            <a:ext cx="1048701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compose</a:t>
            </a:r>
          </a:p>
        </p:txBody>
      </p:sp>
      <p:sp>
        <p:nvSpPr>
          <p:cNvPr id="658" name="Shape 658"/>
          <p:cNvSpPr/>
          <p:nvPr/>
        </p:nvSpPr>
        <p:spPr>
          <a:xfrm flipH="1" flipV="1">
            <a:off x="5768081" y="4414056"/>
            <a:ext cx="3500439" cy="1"/>
          </a:xfrm>
          <a:prstGeom prst="line">
            <a:avLst/>
          </a:prstGeom>
          <a:ln>
            <a:solidFill/>
            <a:prstDash val="dash"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9" name="Shape 659"/>
          <p:cNvSpPr/>
          <p:nvPr/>
        </p:nvSpPr>
        <p:spPr>
          <a:xfrm>
            <a:off x="7518299" y="4140585"/>
            <a:ext cx="1506647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invitedSound</a:t>
            </a:r>
          </a:p>
        </p:txBody>
      </p:sp>
      <p:sp>
        <p:nvSpPr>
          <p:cNvPr id="660" name="Shape 660"/>
          <p:cNvSpPr/>
          <p:nvPr/>
        </p:nvSpPr>
        <p:spPr>
          <a:xfrm flipH="1">
            <a:off x="5768081" y="4949837"/>
            <a:ext cx="3500439" cy="1"/>
          </a:xfrm>
          <a:prstGeom prst="line">
            <a:avLst/>
          </a:prstGeom>
          <a:ln>
            <a:solidFill/>
            <a:prstDash val="dash"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61" name="Shape 661"/>
          <p:cNvSpPr/>
          <p:nvPr/>
        </p:nvSpPr>
        <p:spPr>
          <a:xfrm>
            <a:off x="7732612" y="4676366"/>
            <a:ext cx="1196177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connected</a:t>
            </a:r>
          </a:p>
        </p:txBody>
      </p:sp>
      <p:pic>
        <p:nvPicPr>
          <p:cNvPr id="662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277045" y="2016390"/>
            <a:ext cx="1894150" cy="1060725"/>
          </a:xfrm>
          <a:prstGeom prst="rect">
            <a:avLst/>
          </a:prstGeom>
          <a:ln w="6350">
            <a:round/>
          </a:ln>
        </p:spPr>
      </p:pic>
      <p:pic>
        <p:nvPicPr>
          <p:cNvPr id="663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397480" y="1833052"/>
            <a:ext cx="2552455" cy="1427401"/>
          </a:xfrm>
          <a:prstGeom prst="rect">
            <a:avLst/>
          </a:prstGeom>
          <a:ln w="6350">
            <a:round/>
          </a:ln>
        </p:spPr>
      </p:pic>
      <p:pic>
        <p:nvPicPr>
          <p:cNvPr id="664" name="pasted-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423199" y="1833052"/>
            <a:ext cx="1903203" cy="1427401"/>
          </a:xfrm>
          <a:prstGeom prst="rect">
            <a:avLst/>
          </a:prstGeom>
          <a:ln w="6350">
            <a:round/>
          </a:ln>
        </p:spPr>
      </p:pic>
      <p:sp>
        <p:nvSpPr>
          <p:cNvPr id="665" name="Shape 665"/>
          <p:cNvSpPr/>
          <p:nvPr/>
        </p:nvSpPr>
        <p:spPr>
          <a:xfrm>
            <a:off x="4170923" y="5715668"/>
            <a:ext cx="301725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“Sending Fax”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208996465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668" name="Shape 6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interaction diagram</a:t>
            </a:r>
          </a:p>
        </p:txBody>
      </p:sp>
      <p:sp>
        <p:nvSpPr>
          <p:cNvPr id="669" name="Shape 66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2000"/>
              <a:t>Communication diagram</a:t>
            </a:r>
            <a:r>
              <a:rPr sz="2000"/>
              <a:t> example</a:t>
            </a:r>
          </a:p>
        </p:txBody>
      </p:sp>
      <p:sp>
        <p:nvSpPr>
          <p:cNvPr id="670" name="Shape 670"/>
          <p:cNvSpPr/>
          <p:nvPr/>
        </p:nvSpPr>
        <p:spPr>
          <a:xfrm>
            <a:off x="1127783" y="3448992"/>
            <a:ext cx="1295564" cy="33889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 u="sng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 u="none"/>
            </a:pPr>
            <a:r>
              <a:rPr sz="1700"/>
              <a:t>:Document</a:t>
            </a:r>
          </a:p>
        </p:txBody>
      </p:sp>
      <p:sp>
        <p:nvSpPr>
          <p:cNvPr id="671" name="Shape 671"/>
          <p:cNvSpPr/>
          <p:nvPr/>
        </p:nvSpPr>
        <p:spPr>
          <a:xfrm>
            <a:off x="5062798" y="3466851"/>
            <a:ext cx="550744" cy="33889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 u="sng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 u="none"/>
            </a:pPr>
            <a:r>
              <a:rPr sz="1700"/>
              <a:t>:Fax</a:t>
            </a:r>
          </a:p>
        </p:txBody>
      </p:sp>
      <p:sp>
        <p:nvSpPr>
          <p:cNvPr id="672" name="Shape 672"/>
          <p:cNvSpPr/>
          <p:nvPr/>
        </p:nvSpPr>
        <p:spPr>
          <a:xfrm>
            <a:off x="9051392" y="3448992"/>
            <a:ext cx="1730619" cy="33889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 u="sng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 u="none"/>
            </a:pPr>
            <a:r>
              <a:rPr sz="1700"/>
              <a:t>:TelephoneLine</a:t>
            </a:r>
          </a:p>
        </p:txBody>
      </p:sp>
      <p:sp>
        <p:nvSpPr>
          <p:cNvPr id="673" name="Shape 673"/>
          <p:cNvSpPr/>
          <p:nvPr/>
        </p:nvSpPr>
        <p:spPr>
          <a:xfrm>
            <a:off x="2582069" y="3579589"/>
            <a:ext cx="2480731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74" name="Shape 674"/>
          <p:cNvSpPr/>
          <p:nvPr/>
        </p:nvSpPr>
        <p:spPr>
          <a:xfrm>
            <a:off x="5705736" y="3579589"/>
            <a:ext cx="3344851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75" name="Shape 675"/>
          <p:cNvSpPr/>
          <p:nvPr/>
        </p:nvSpPr>
        <p:spPr>
          <a:xfrm>
            <a:off x="2560998" y="3002508"/>
            <a:ext cx="1731580" cy="631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1: call()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3: send(page)</a:t>
            </a:r>
          </a:p>
        </p:txBody>
      </p:sp>
      <p:sp>
        <p:nvSpPr>
          <p:cNvPr id="676" name="Shape 676"/>
          <p:cNvSpPr/>
          <p:nvPr/>
        </p:nvSpPr>
        <p:spPr>
          <a:xfrm>
            <a:off x="7098767" y="3716883"/>
            <a:ext cx="2364126" cy="631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1.2: invitedSound()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1.4: connected</a:t>
            </a:r>
          </a:p>
        </p:txBody>
      </p:sp>
      <p:sp>
        <p:nvSpPr>
          <p:cNvPr id="677" name="Shape 677"/>
          <p:cNvSpPr/>
          <p:nvPr/>
        </p:nvSpPr>
        <p:spPr>
          <a:xfrm>
            <a:off x="3669767" y="3770461"/>
            <a:ext cx="1802113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2: connected()</a:t>
            </a:r>
          </a:p>
        </p:txBody>
      </p:sp>
      <p:sp>
        <p:nvSpPr>
          <p:cNvPr id="678" name="Shape 678"/>
          <p:cNvSpPr/>
          <p:nvPr/>
        </p:nvSpPr>
        <p:spPr>
          <a:xfrm>
            <a:off x="2669642" y="3490292"/>
            <a:ext cx="857251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79" name="Shape 679"/>
          <p:cNvSpPr/>
          <p:nvPr/>
        </p:nvSpPr>
        <p:spPr>
          <a:xfrm flipH="1">
            <a:off x="4062674" y="3704605"/>
            <a:ext cx="857251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80" name="Shape 680"/>
          <p:cNvSpPr/>
          <p:nvPr/>
        </p:nvSpPr>
        <p:spPr>
          <a:xfrm>
            <a:off x="6134361" y="3490292"/>
            <a:ext cx="857251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81" name="Shape 681"/>
          <p:cNvSpPr/>
          <p:nvPr/>
        </p:nvSpPr>
        <p:spPr>
          <a:xfrm flipH="1">
            <a:off x="7670267" y="3704605"/>
            <a:ext cx="857251" cy="1"/>
          </a:xfrm>
          <a:prstGeom prst="line">
            <a:avLst/>
          </a:prstGeom>
          <a:ln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82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060042" y="2016390"/>
            <a:ext cx="1894151" cy="1060725"/>
          </a:xfrm>
          <a:prstGeom prst="rect">
            <a:avLst/>
          </a:prstGeom>
          <a:ln w="6350">
            <a:round/>
          </a:ln>
        </p:spPr>
      </p:pic>
      <p:pic>
        <p:nvPicPr>
          <p:cNvPr id="683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842624" y="1833052"/>
            <a:ext cx="2552454" cy="1427401"/>
          </a:xfrm>
          <a:prstGeom prst="rect">
            <a:avLst/>
          </a:prstGeom>
          <a:ln w="6350">
            <a:round/>
          </a:ln>
        </p:spPr>
      </p:pic>
      <p:pic>
        <p:nvPicPr>
          <p:cNvPr id="684" name="pasted-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93899" y="1833978"/>
            <a:ext cx="1903202" cy="1427402"/>
          </a:xfrm>
          <a:prstGeom prst="rect">
            <a:avLst/>
          </a:prstGeom>
          <a:ln w="6350">
            <a:round/>
          </a:ln>
        </p:spPr>
      </p:pic>
      <p:sp>
        <p:nvSpPr>
          <p:cNvPr id="685" name="Shape 685"/>
          <p:cNvSpPr/>
          <p:nvPr/>
        </p:nvSpPr>
        <p:spPr>
          <a:xfrm>
            <a:off x="6007856" y="2823914"/>
            <a:ext cx="2392018" cy="908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1.1: call()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1.3: compose(num)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3.1: transfer(page)</a:t>
            </a:r>
          </a:p>
        </p:txBody>
      </p:sp>
      <p:sp>
        <p:nvSpPr>
          <p:cNvPr id="686" name="Shape 686"/>
          <p:cNvSpPr/>
          <p:nvPr/>
        </p:nvSpPr>
        <p:spPr>
          <a:xfrm>
            <a:off x="4104054" y="4378069"/>
            <a:ext cx="3540791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“Sending Fax” </a:t>
            </a:r>
            <a:r>
              <a:rPr lang="en-US" sz="1700">
                <a:uFill>
                  <a:solidFill/>
                </a:uFill>
              </a:rPr>
              <a:t>Communication diagram</a:t>
            </a:r>
            <a:endParaRPr sz="1700">
              <a:uFill>
                <a:solidFill/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119544463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689" name="Shape 68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activity diagram</a:t>
            </a:r>
          </a:p>
        </p:txBody>
      </p:sp>
      <p:sp>
        <p:nvSpPr>
          <p:cNvPr id="690" name="Shape 69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Describing the information flows in the system</a:t>
            </a:r>
          </a:p>
          <a:p>
            <a:pPr lvl="0">
              <a:defRPr sz="1800"/>
            </a:pPr>
            <a:r>
              <a:rPr lang="en-US" sz="2000"/>
              <a:t>Modeling</a:t>
            </a:r>
            <a:r>
              <a:rPr sz="2000"/>
              <a:t> </a:t>
            </a:r>
            <a:r>
              <a:rPr sz="2000" b="1"/>
              <a:t>the dynamic view</a:t>
            </a:r>
            <a:r>
              <a:rPr sz="2000"/>
              <a:t> of the system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Example: Making coffee</a:t>
            </a:r>
          </a:p>
        </p:txBody>
      </p:sp>
      <p:grpSp>
        <p:nvGrpSpPr>
          <p:cNvPr id="694" name="Group 694"/>
          <p:cNvGrpSpPr/>
          <p:nvPr/>
        </p:nvGrpSpPr>
        <p:grpSpPr>
          <a:xfrm>
            <a:off x="3795015" y="2460866"/>
            <a:ext cx="6476422" cy="3938365"/>
            <a:chOff x="0" y="0"/>
            <a:chExt cx="6908182" cy="5601229"/>
          </a:xfrm>
        </p:grpSpPr>
        <p:pic>
          <p:nvPicPr>
            <p:cNvPr id="691" name="CoffeePreparationActivityDiagram1.png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6908183" cy="5601230"/>
            </a:xfrm>
            <a:prstGeom prst="rect">
              <a:avLst/>
            </a:prstGeom>
            <a:ln w="6350" cap="flat">
              <a:noFill/>
              <a:round/>
            </a:ln>
            <a:effectLst/>
          </p:spPr>
        </p:pic>
        <p:pic>
          <p:nvPicPr>
            <p:cNvPr id="692" name="pasted-image.png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16358" y="518863"/>
              <a:ext cx="625659" cy="389936"/>
            </a:xfrm>
            <a:prstGeom prst="rect">
              <a:avLst/>
            </a:prstGeom>
            <a:ln w="6350" cap="flat">
              <a:noFill/>
              <a:round/>
            </a:ln>
            <a:effectLst/>
          </p:spPr>
        </p:pic>
        <p:pic>
          <p:nvPicPr>
            <p:cNvPr id="693" name="pasted-image-small.png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79691" y="4139707"/>
              <a:ext cx="1473532" cy="963767"/>
            </a:xfrm>
            <a:prstGeom prst="rect">
              <a:avLst/>
            </a:prstGeom>
            <a:ln w="6350" cap="flat">
              <a:noFill/>
              <a:rou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94196210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Shape 69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697" name="Shape 69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state diagram</a:t>
            </a:r>
          </a:p>
        </p:txBody>
      </p:sp>
      <p:sp>
        <p:nvSpPr>
          <p:cNvPr id="698" name="Shape 698"/>
          <p:cNvSpPr>
            <a:spLocks noGrp="1"/>
          </p:cNvSpPr>
          <p:nvPr>
            <p:ph type="body" idx="1"/>
          </p:nvPr>
        </p:nvSpPr>
        <p:spPr>
          <a:xfrm>
            <a:off x="539143" y="1303667"/>
            <a:ext cx="107892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Describing the internal behaviour of the system</a:t>
            </a:r>
          </a:p>
          <a:p>
            <a:pPr lvl="0">
              <a:defRPr sz="1800"/>
            </a:pPr>
            <a:r>
              <a:rPr lang="en-US" sz="2000"/>
              <a:t>Modeling</a:t>
            </a:r>
            <a:r>
              <a:rPr sz="2000"/>
              <a:t> the </a:t>
            </a:r>
            <a:r>
              <a:rPr sz="2000" b="1"/>
              <a:t>dynamic view</a:t>
            </a:r>
            <a:r>
              <a:rPr sz="2000"/>
              <a:t> of the system</a:t>
            </a:r>
          </a:p>
          <a:p>
            <a:pPr lvl="0">
              <a:defRPr sz="1800"/>
            </a:pPr>
            <a:r>
              <a:rPr sz="2000"/>
              <a:t>Example</a:t>
            </a:r>
          </a:p>
        </p:txBody>
      </p:sp>
      <p:pic>
        <p:nvPicPr>
          <p:cNvPr id="699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84607" y="2049998"/>
            <a:ext cx="5444786" cy="4314993"/>
          </a:xfrm>
          <a:prstGeom prst="rect">
            <a:avLst/>
          </a:prstGeom>
          <a:ln w="6350">
            <a:round/>
          </a:ln>
        </p:spPr>
      </p:pic>
      <p:sp>
        <p:nvSpPr>
          <p:cNvPr id="700" name="Shape 700"/>
          <p:cNvSpPr/>
          <p:nvPr/>
        </p:nvSpPr>
        <p:spPr>
          <a:xfrm>
            <a:off x="3183106" y="6239760"/>
            <a:ext cx="37945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“Online Shopping Account” State Diagram</a:t>
            </a:r>
          </a:p>
        </p:txBody>
      </p:sp>
      <p:pic>
        <p:nvPicPr>
          <p:cNvPr id="701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6294" y="3587180"/>
            <a:ext cx="2442333" cy="752326"/>
          </a:xfrm>
          <a:prstGeom prst="rect">
            <a:avLst/>
          </a:prstGeom>
          <a:ln w="6350">
            <a:round/>
          </a:ln>
        </p:spPr>
      </p:pic>
      <p:pic>
        <p:nvPicPr>
          <p:cNvPr id="702" name="pasted-image.png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6847" y="4540003"/>
            <a:ext cx="2761224" cy="752325"/>
          </a:xfrm>
          <a:prstGeom prst="rect">
            <a:avLst/>
          </a:prstGeom>
          <a:ln w="6350">
            <a:round/>
          </a:ln>
        </p:spPr>
      </p:pic>
      <p:pic>
        <p:nvPicPr>
          <p:cNvPr id="703" name="pasted-image.png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6315" y="5279882"/>
            <a:ext cx="2662288" cy="873564"/>
          </a:xfrm>
          <a:prstGeom prst="rect">
            <a:avLst/>
          </a:prstGeom>
          <a:ln w="6350">
            <a:round/>
          </a:ln>
        </p:spPr>
      </p:pic>
      <p:pic>
        <p:nvPicPr>
          <p:cNvPr id="704" name="pasted-image.png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4118" y="998159"/>
            <a:ext cx="2186683" cy="1648645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202096180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725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726" name="Shape 7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800" b="0"/>
            </a:pPr>
            <a:r>
              <a:rPr sz="2700" b="1"/>
              <a:t>Introduction to UML: </a:t>
            </a:r>
            <a:r>
              <a:rPr lang="en-US" sz="2800" b="1"/>
              <a:t>Package diagrams</a:t>
            </a:r>
            <a:endParaRPr sz="2700" b="1"/>
          </a:p>
        </p:txBody>
      </p:sp>
      <p:sp>
        <p:nvSpPr>
          <p:cNvPr id="727" name="Shape 727"/>
          <p:cNvSpPr>
            <a:spLocks noGrp="1"/>
          </p:cNvSpPr>
          <p:nvPr>
            <p:ph type="body" idx="1"/>
          </p:nvPr>
        </p:nvSpPr>
        <p:spPr>
          <a:xfrm>
            <a:off x="408378" y="1304494"/>
            <a:ext cx="11259157" cy="519790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Packages</a:t>
            </a:r>
          </a:p>
          <a:p>
            <a:pPr lvl="1">
              <a:defRPr sz="1800"/>
            </a:pPr>
            <a:r>
              <a:rPr lang="en-US" sz="2000"/>
              <a:t>Universal element is used to organize classes, or some other group into a group</a:t>
            </a:r>
          </a:p>
          <a:p>
            <a:pPr>
              <a:defRPr sz="1800"/>
            </a:pPr>
            <a:r>
              <a:rPr lang="en-US" sz="2000"/>
              <a:t>Package diagrams </a:t>
            </a:r>
          </a:p>
          <a:p>
            <a:pPr lvl="1">
              <a:defRPr sz="1800"/>
            </a:pPr>
            <a:r>
              <a:rPr lang="en-US" sz="2000"/>
              <a:t>Displays packages and the relationships between packages. </a:t>
            </a:r>
          </a:p>
          <a:p>
            <a:pPr lvl="1">
              <a:defRPr sz="1800"/>
            </a:pPr>
            <a:r>
              <a:rPr sz="2000"/>
              <a:t>Example</a:t>
            </a:r>
          </a:p>
        </p:txBody>
      </p:sp>
      <p:grpSp>
        <p:nvGrpSpPr>
          <p:cNvPr id="745" name="Group 745"/>
          <p:cNvGrpSpPr/>
          <p:nvPr/>
        </p:nvGrpSpPr>
        <p:grpSpPr>
          <a:xfrm>
            <a:off x="3582292" y="3154844"/>
            <a:ext cx="5027416" cy="2941155"/>
            <a:chOff x="-1" y="0"/>
            <a:chExt cx="5362576" cy="3384550"/>
          </a:xfrm>
        </p:grpSpPr>
        <p:sp>
          <p:nvSpPr>
            <p:cNvPr id="728" name="Shape 728"/>
            <p:cNvSpPr/>
            <p:nvPr/>
          </p:nvSpPr>
          <p:spPr>
            <a:xfrm>
              <a:off x="28575" y="354012"/>
              <a:ext cx="3429000" cy="12954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29" name="Shape 729"/>
            <p:cNvSpPr/>
            <p:nvPr/>
          </p:nvSpPr>
          <p:spPr>
            <a:xfrm>
              <a:off x="28574" y="6350"/>
              <a:ext cx="1084264" cy="34766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30" name="Shape 730"/>
            <p:cNvSpPr/>
            <p:nvPr/>
          </p:nvSpPr>
          <p:spPr>
            <a:xfrm>
              <a:off x="180975" y="671512"/>
              <a:ext cx="1581150" cy="8255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31" name="Shape 731"/>
            <p:cNvSpPr/>
            <p:nvPr/>
          </p:nvSpPr>
          <p:spPr>
            <a:xfrm>
              <a:off x="180975" y="515937"/>
              <a:ext cx="457200" cy="1524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32" name="Shape 732"/>
            <p:cNvSpPr/>
            <p:nvPr/>
          </p:nvSpPr>
          <p:spPr>
            <a:xfrm>
              <a:off x="2162175" y="671512"/>
              <a:ext cx="1143001" cy="8255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33" name="Shape 733"/>
            <p:cNvSpPr/>
            <p:nvPr/>
          </p:nvSpPr>
          <p:spPr>
            <a:xfrm>
              <a:off x="2162175" y="515937"/>
              <a:ext cx="457200" cy="1524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34" name="Shape 734"/>
            <p:cNvSpPr/>
            <p:nvPr/>
          </p:nvSpPr>
          <p:spPr>
            <a:xfrm>
              <a:off x="3990975" y="2414587"/>
              <a:ext cx="1371600" cy="8255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35" name="Shape 735"/>
            <p:cNvSpPr/>
            <p:nvPr/>
          </p:nvSpPr>
          <p:spPr>
            <a:xfrm>
              <a:off x="3990975" y="2259012"/>
              <a:ext cx="457200" cy="1524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36" name="Shape 736"/>
            <p:cNvSpPr/>
            <p:nvPr/>
          </p:nvSpPr>
          <p:spPr>
            <a:xfrm>
              <a:off x="-1" y="0"/>
              <a:ext cx="1019901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System</a:t>
              </a:r>
            </a:p>
          </p:txBody>
        </p:sp>
        <p:sp>
          <p:nvSpPr>
            <p:cNvPr id="737" name="Shape 737"/>
            <p:cNvSpPr/>
            <p:nvPr/>
          </p:nvSpPr>
          <p:spPr>
            <a:xfrm>
              <a:off x="3994150" y="2401887"/>
              <a:ext cx="457559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DB</a:t>
              </a:r>
            </a:p>
          </p:txBody>
        </p:sp>
        <p:sp>
          <p:nvSpPr>
            <p:cNvPr id="738" name="Shape 738"/>
            <p:cNvSpPr/>
            <p:nvPr/>
          </p:nvSpPr>
          <p:spPr>
            <a:xfrm>
              <a:off x="249237" y="631825"/>
              <a:ext cx="808083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Client</a:t>
              </a:r>
            </a:p>
          </p:txBody>
        </p:sp>
        <p:sp>
          <p:nvSpPr>
            <p:cNvPr id="739" name="Shape 739"/>
            <p:cNvSpPr/>
            <p:nvPr/>
          </p:nvSpPr>
          <p:spPr>
            <a:xfrm>
              <a:off x="2120900" y="631825"/>
              <a:ext cx="1035495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Product</a:t>
              </a:r>
            </a:p>
          </p:txBody>
        </p:sp>
        <p:sp>
          <p:nvSpPr>
            <p:cNvPr id="740" name="Shape 740"/>
            <p:cNvSpPr/>
            <p:nvPr/>
          </p:nvSpPr>
          <p:spPr>
            <a:xfrm flipH="1">
              <a:off x="892174" y="1655762"/>
              <a:ext cx="1" cy="8636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lgDash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1" name="Shape 741"/>
            <p:cNvSpPr/>
            <p:nvPr/>
          </p:nvSpPr>
          <p:spPr>
            <a:xfrm>
              <a:off x="23812" y="2559050"/>
              <a:ext cx="1371601" cy="8255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42" name="Shape 742"/>
            <p:cNvSpPr/>
            <p:nvPr/>
          </p:nvSpPr>
          <p:spPr>
            <a:xfrm>
              <a:off x="23812" y="2403475"/>
              <a:ext cx="457201" cy="1524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43" name="Shape 743"/>
            <p:cNvSpPr/>
            <p:nvPr/>
          </p:nvSpPr>
          <p:spPr>
            <a:xfrm>
              <a:off x="26987" y="2546351"/>
              <a:ext cx="1216741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Interface</a:t>
              </a:r>
            </a:p>
          </p:txBody>
        </p:sp>
        <p:sp>
          <p:nvSpPr>
            <p:cNvPr id="744" name="Shape 744"/>
            <p:cNvSpPr/>
            <p:nvPr/>
          </p:nvSpPr>
          <p:spPr>
            <a:xfrm>
              <a:off x="2979737" y="1655762"/>
              <a:ext cx="1008064" cy="7921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lgDash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9510973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Shape 70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707" name="Shape 70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component diagrams</a:t>
            </a:r>
          </a:p>
        </p:txBody>
      </p:sp>
      <p:sp>
        <p:nvSpPr>
          <p:cNvPr id="708" name="Shape 70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Describe the organisation of different components of the system</a:t>
            </a:r>
          </a:p>
          <a:p>
            <a:pPr lvl="0">
              <a:defRPr sz="1800"/>
            </a:pPr>
            <a:r>
              <a:rPr sz="2000"/>
              <a:t>The </a:t>
            </a:r>
            <a:r>
              <a:rPr sz="2000" b="1"/>
              <a:t>static view</a:t>
            </a:r>
            <a:r>
              <a:rPr sz="2000"/>
              <a:t> of the organisation of the system</a:t>
            </a:r>
          </a:p>
          <a:p>
            <a:pPr lvl="0">
              <a:defRPr sz="1800"/>
            </a:pPr>
            <a:r>
              <a:rPr sz="2000"/>
              <a:t>Example</a:t>
            </a:r>
          </a:p>
        </p:txBody>
      </p:sp>
      <p:pic>
        <p:nvPicPr>
          <p:cNvPr id="709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970307" y="2485645"/>
            <a:ext cx="6936936" cy="3617408"/>
          </a:xfrm>
          <a:prstGeom prst="rect">
            <a:avLst/>
          </a:prstGeom>
          <a:ln w="6350">
            <a:round/>
          </a:ln>
        </p:spPr>
      </p:pic>
      <p:sp>
        <p:nvSpPr>
          <p:cNvPr id="710" name="Shape 710"/>
          <p:cNvSpPr/>
          <p:nvPr/>
        </p:nvSpPr>
        <p:spPr>
          <a:xfrm>
            <a:off x="2083054" y="6103053"/>
            <a:ext cx="4375956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“Online Shopping Website” Component Diagram</a:t>
            </a:r>
          </a:p>
        </p:txBody>
      </p:sp>
      <p:pic>
        <p:nvPicPr>
          <p:cNvPr id="711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1544" y="2692860"/>
            <a:ext cx="2442333" cy="752326"/>
          </a:xfrm>
          <a:prstGeom prst="rect">
            <a:avLst/>
          </a:prstGeom>
          <a:ln w="6350">
            <a:round/>
          </a:ln>
        </p:spPr>
      </p:pic>
      <p:pic>
        <p:nvPicPr>
          <p:cNvPr id="712" name="pasted-image.png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2097" y="3645682"/>
            <a:ext cx="2761224" cy="752326"/>
          </a:xfrm>
          <a:prstGeom prst="rect">
            <a:avLst/>
          </a:prstGeom>
          <a:ln w="6350">
            <a:round/>
          </a:ln>
        </p:spPr>
      </p:pic>
      <p:pic>
        <p:nvPicPr>
          <p:cNvPr id="713" name="pasted-image.png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1565" y="4385563"/>
            <a:ext cx="2662288" cy="873563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4897270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Shape 7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716" name="Shape 7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deployment diagrams</a:t>
            </a:r>
          </a:p>
        </p:txBody>
      </p:sp>
      <p:sp>
        <p:nvSpPr>
          <p:cNvPr id="717" name="Shape 71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Describing the physical organisation of different components (machines) of the system (material)</a:t>
            </a:r>
          </a:p>
        </p:txBody>
      </p:sp>
      <p:pic>
        <p:nvPicPr>
          <p:cNvPr id="718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445438" y="1872504"/>
            <a:ext cx="9301125" cy="3473509"/>
          </a:xfrm>
          <a:prstGeom prst="rect">
            <a:avLst/>
          </a:prstGeom>
          <a:ln w="6350">
            <a:round/>
          </a:ln>
        </p:spPr>
      </p:pic>
      <p:sp>
        <p:nvSpPr>
          <p:cNvPr id="719" name="Shape 719"/>
          <p:cNvSpPr/>
          <p:nvPr/>
        </p:nvSpPr>
        <p:spPr>
          <a:xfrm>
            <a:off x="3159011" y="5434103"/>
            <a:ext cx="526055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An example of deployment diagram of JEE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82211527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Shape 72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722" name="Shape 7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extension mechanism</a:t>
            </a:r>
          </a:p>
        </p:txBody>
      </p:sp>
      <p:sp>
        <p:nvSpPr>
          <p:cNvPr id="723" name="Shape 7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Built-in extension mechanism</a:t>
            </a:r>
          </a:p>
          <a:p>
            <a:pPr lvl="1">
              <a:defRPr sz="1800"/>
            </a:pPr>
            <a:r>
              <a:rPr sz="2000"/>
              <a:t>Stereotypes</a:t>
            </a:r>
          </a:p>
          <a:p>
            <a:pPr lvl="1">
              <a:defRPr sz="1800"/>
            </a:pPr>
            <a:r>
              <a:rPr sz="2000"/>
              <a:t>Tagged values</a:t>
            </a:r>
          </a:p>
          <a:p>
            <a:pPr lvl="0">
              <a:defRPr sz="1800"/>
            </a:pPr>
            <a:r>
              <a:rPr sz="2000"/>
              <a:t>Notes</a:t>
            </a:r>
          </a:p>
          <a:p>
            <a:pPr lvl="0">
              <a:defRPr sz="1800"/>
            </a:pPr>
            <a:r>
              <a:rPr sz="2000"/>
              <a:t>Constraints</a:t>
            </a:r>
          </a:p>
          <a:p>
            <a:pPr lvl="1">
              <a:defRPr sz="1800"/>
            </a:pPr>
            <a:r>
              <a:rPr sz="2000"/>
              <a:t>OCL textual language</a:t>
            </a:r>
          </a:p>
        </p:txBody>
      </p:sp>
    </p:spTree>
    <p:extLst>
      <p:ext uri="{BB962C8B-B14F-4D97-AF65-F5344CB8AC3E}">
        <p14:creationId xmlns:p14="http://schemas.microsoft.com/office/powerpoint/2010/main" val="71263760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Shape 74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748" name="Shape 7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general mechanisms</a:t>
            </a:r>
          </a:p>
        </p:txBody>
      </p:sp>
      <p:sp>
        <p:nvSpPr>
          <p:cNvPr id="749" name="Shape 749"/>
          <p:cNvSpPr>
            <a:spLocks noGrp="1"/>
          </p:cNvSpPr>
          <p:nvPr>
            <p:ph type="body" idx="1"/>
          </p:nvPr>
        </p:nvSpPr>
        <p:spPr>
          <a:xfrm>
            <a:off x="608675" y="1259082"/>
            <a:ext cx="10789257" cy="5306818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Stereotype</a:t>
            </a:r>
          </a:p>
          <a:p>
            <a:pPr lvl="1">
              <a:defRPr sz="1800"/>
            </a:pPr>
            <a:r>
              <a:rPr sz="2000"/>
              <a:t>is a built-in extension mechanism</a:t>
            </a:r>
          </a:p>
          <a:p>
            <a:pPr lvl="1">
              <a:defRPr sz="1800"/>
            </a:pPr>
            <a:r>
              <a:rPr sz="2000"/>
              <a:t>expands the vocabulary of UML</a:t>
            </a:r>
          </a:p>
          <a:p>
            <a:pPr lvl="1">
              <a:defRPr sz="1800"/>
            </a:pPr>
            <a:r>
              <a:rPr sz="2000"/>
              <a:t>is used to create new types of UML elements that derive from the existing kinds but which are adapted to a given problem</a:t>
            </a:r>
          </a:p>
          <a:p>
            <a:pPr lvl="1">
              <a:defRPr sz="1800"/>
            </a:pPr>
            <a:r>
              <a:rPr sz="2000"/>
              <a:t>there are predefined stereotypes in UML</a:t>
            </a:r>
          </a:p>
          <a:p>
            <a:pPr lvl="1">
              <a:defRPr sz="1800"/>
            </a:pPr>
            <a:r>
              <a:rPr sz="2000"/>
              <a:t>Notation</a:t>
            </a:r>
          </a:p>
          <a:p>
            <a:pPr lvl="2">
              <a:defRPr sz="1800"/>
            </a:pPr>
            <a:r>
              <a:t>“name of stereotype”</a:t>
            </a:r>
          </a:p>
          <a:p>
            <a:pPr lvl="2">
              <a:defRPr sz="1800"/>
            </a:pPr>
            <a:r>
              <a:t>Possibility to introduce an icon</a:t>
            </a:r>
          </a:p>
        </p:txBody>
      </p:sp>
      <p:grpSp>
        <p:nvGrpSpPr>
          <p:cNvPr id="754" name="Group 754"/>
          <p:cNvGrpSpPr/>
          <p:nvPr/>
        </p:nvGrpSpPr>
        <p:grpSpPr>
          <a:xfrm>
            <a:off x="1411138" y="4167275"/>
            <a:ext cx="2025552" cy="1435399"/>
            <a:chOff x="0" y="0"/>
            <a:chExt cx="2160588" cy="1728788"/>
          </a:xfrm>
        </p:grpSpPr>
        <p:sp>
          <p:nvSpPr>
            <p:cNvPr id="750" name="Shape 750"/>
            <p:cNvSpPr/>
            <p:nvPr/>
          </p:nvSpPr>
          <p:spPr>
            <a:xfrm>
              <a:off x="0" y="0"/>
              <a:ext cx="2160588" cy="172878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51" name="Shape 751"/>
            <p:cNvSpPr/>
            <p:nvPr/>
          </p:nvSpPr>
          <p:spPr>
            <a:xfrm>
              <a:off x="566737" y="50800"/>
              <a:ext cx="893576" cy="656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« Actor »</a:t>
              </a:r>
            </a:p>
            <a:p>
              <a:pPr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Customer</a:t>
              </a:r>
            </a:p>
          </p:txBody>
        </p:sp>
        <p:sp>
          <p:nvSpPr>
            <p:cNvPr id="752" name="Shape 752"/>
            <p:cNvSpPr/>
            <p:nvPr/>
          </p:nvSpPr>
          <p:spPr>
            <a:xfrm>
              <a:off x="0" y="576262"/>
              <a:ext cx="2160588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3" name="Shape 753"/>
            <p:cNvSpPr/>
            <p:nvPr/>
          </p:nvSpPr>
          <p:spPr>
            <a:xfrm>
              <a:off x="0" y="1081087"/>
              <a:ext cx="2160588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763" name="Group 763"/>
          <p:cNvGrpSpPr/>
          <p:nvPr/>
        </p:nvGrpSpPr>
        <p:grpSpPr>
          <a:xfrm>
            <a:off x="4804916" y="4262623"/>
            <a:ext cx="2025553" cy="1215555"/>
            <a:chOff x="0" y="0"/>
            <a:chExt cx="2160588" cy="1728788"/>
          </a:xfrm>
        </p:grpSpPr>
        <p:sp>
          <p:nvSpPr>
            <p:cNvPr id="755" name="Shape 755"/>
            <p:cNvSpPr/>
            <p:nvPr/>
          </p:nvSpPr>
          <p:spPr>
            <a:xfrm>
              <a:off x="0" y="0"/>
              <a:ext cx="2160588" cy="172878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56" name="Shape 756"/>
            <p:cNvSpPr/>
            <p:nvPr/>
          </p:nvSpPr>
          <p:spPr>
            <a:xfrm>
              <a:off x="358775" y="128587"/>
              <a:ext cx="893576" cy="393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4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200"/>
                <a:t>Customer</a:t>
              </a:r>
            </a:p>
          </p:txBody>
        </p:sp>
        <p:grpSp>
          <p:nvGrpSpPr>
            <p:cNvPr id="762" name="Group 762"/>
            <p:cNvGrpSpPr/>
            <p:nvPr/>
          </p:nvGrpSpPr>
          <p:grpSpPr>
            <a:xfrm>
              <a:off x="1655762" y="28574"/>
              <a:ext cx="287338" cy="504826"/>
              <a:chOff x="0" y="0"/>
              <a:chExt cx="287337" cy="504825"/>
            </a:xfrm>
          </p:grpSpPr>
          <p:sp>
            <p:nvSpPr>
              <p:cNvPr id="757" name="Shape 757"/>
              <p:cNvSpPr/>
              <p:nvPr/>
            </p:nvSpPr>
            <p:spPr>
              <a:xfrm>
                <a:off x="71437" y="-1"/>
                <a:ext cx="144463" cy="1444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758" name="Shape 758"/>
              <p:cNvSpPr/>
              <p:nvPr/>
            </p:nvSpPr>
            <p:spPr>
              <a:xfrm flipH="1">
                <a:off x="142875" y="144462"/>
                <a:ext cx="1" cy="2159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759" name="Shape 759"/>
              <p:cNvSpPr/>
              <p:nvPr/>
            </p:nvSpPr>
            <p:spPr>
              <a:xfrm>
                <a:off x="0" y="215900"/>
                <a:ext cx="287338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760" name="Shape 760"/>
              <p:cNvSpPr/>
              <p:nvPr/>
            </p:nvSpPr>
            <p:spPr>
              <a:xfrm flipH="1">
                <a:off x="-1" y="360362"/>
                <a:ext cx="142877" cy="14446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761" name="Shape 761"/>
              <p:cNvSpPr/>
              <p:nvPr/>
            </p:nvSpPr>
            <p:spPr>
              <a:xfrm>
                <a:off x="142874" y="360362"/>
                <a:ext cx="144464" cy="14446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</p:grpSp>
      </p:grpSp>
      <p:sp>
        <p:nvSpPr>
          <p:cNvPr id="764" name="Shape 764"/>
          <p:cNvSpPr/>
          <p:nvPr/>
        </p:nvSpPr>
        <p:spPr>
          <a:xfrm>
            <a:off x="6916290" y="5765601"/>
            <a:ext cx="1248669" cy="44661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sz="1200">
                <a:latin typeface="Verdana"/>
                <a:ea typeface="Verdana"/>
                <a:cs typeface="Verdana"/>
                <a:sym typeface="Verdana"/>
              </a:rPr>
              <a:t>« datatype »</a:t>
            </a:r>
          </a:p>
          <a:p>
            <a:pPr algn="ctr">
              <a:defRPr sz="1800">
                <a:uFillTx/>
              </a:defRPr>
            </a:pPr>
            <a:r>
              <a:rPr sz="1200">
                <a:latin typeface="Verdana"/>
                <a:ea typeface="Verdana"/>
                <a:cs typeface="Verdana"/>
                <a:sym typeface="Verdana"/>
              </a:rPr>
              <a:t>Float</a:t>
            </a:r>
          </a:p>
        </p:txBody>
      </p:sp>
      <p:grpSp>
        <p:nvGrpSpPr>
          <p:cNvPr id="768" name="Group 768"/>
          <p:cNvGrpSpPr/>
          <p:nvPr/>
        </p:nvGrpSpPr>
        <p:grpSpPr>
          <a:xfrm>
            <a:off x="3061890" y="5602674"/>
            <a:ext cx="1958579" cy="910830"/>
            <a:chOff x="0" y="0"/>
            <a:chExt cx="2089150" cy="1295400"/>
          </a:xfrm>
        </p:grpSpPr>
        <p:sp>
          <p:nvSpPr>
            <p:cNvPr id="765" name="Shape 765"/>
            <p:cNvSpPr/>
            <p:nvPr/>
          </p:nvSpPr>
          <p:spPr>
            <a:xfrm>
              <a:off x="0" y="155575"/>
              <a:ext cx="2089150" cy="113982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66" name="Shape 766"/>
            <p:cNvSpPr/>
            <p:nvPr/>
          </p:nvSpPr>
          <p:spPr>
            <a:xfrm>
              <a:off x="0" y="0"/>
              <a:ext cx="457200" cy="1524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67" name="Shape 767"/>
            <p:cNvSpPr/>
            <p:nvPr/>
          </p:nvSpPr>
          <p:spPr>
            <a:xfrm>
              <a:off x="193675" y="168276"/>
              <a:ext cx="1409957" cy="70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« subsystem »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User Interface</a:t>
              </a:r>
            </a:p>
          </p:txBody>
        </p:sp>
      </p:grpSp>
      <p:grpSp>
        <p:nvGrpSpPr>
          <p:cNvPr id="773" name="Group 773"/>
          <p:cNvGrpSpPr/>
          <p:nvPr/>
        </p:nvGrpSpPr>
        <p:grpSpPr>
          <a:xfrm>
            <a:off x="8222753" y="4064001"/>
            <a:ext cx="2025552" cy="1434268"/>
            <a:chOff x="0" y="0"/>
            <a:chExt cx="2160588" cy="1728788"/>
          </a:xfrm>
        </p:grpSpPr>
        <p:sp>
          <p:nvSpPr>
            <p:cNvPr id="769" name="Shape 769"/>
            <p:cNvSpPr/>
            <p:nvPr/>
          </p:nvSpPr>
          <p:spPr>
            <a:xfrm>
              <a:off x="0" y="0"/>
              <a:ext cx="2160588" cy="172878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70" name="Shape 770"/>
            <p:cNvSpPr/>
            <p:nvPr/>
          </p:nvSpPr>
          <p:spPr>
            <a:xfrm>
              <a:off x="618102" y="50800"/>
              <a:ext cx="891045" cy="6565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« utility »</a:t>
              </a:r>
            </a:p>
            <a:p>
              <a:pPr algn="ctr"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Maths</a:t>
              </a:r>
            </a:p>
          </p:txBody>
        </p:sp>
        <p:sp>
          <p:nvSpPr>
            <p:cNvPr id="771" name="Shape 771"/>
            <p:cNvSpPr/>
            <p:nvPr/>
          </p:nvSpPr>
          <p:spPr>
            <a:xfrm>
              <a:off x="0" y="576262"/>
              <a:ext cx="2160588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2" name="Shape 772"/>
            <p:cNvSpPr/>
            <p:nvPr/>
          </p:nvSpPr>
          <p:spPr>
            <a:xfrm>
              <a:off x="0" y="1081087"/>
              <a:ext cx="2160588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1632092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Shape 7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776" name="Shape 77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general mechanisms</a:t>
            </a:r>
          </a:p>
        </p:txBody>
      </p:sp>
      <p:sp>
        <p:nvSpPr>
          <p:cNvPr id="777" name="Shape 77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Tagged values</a:t>
            </a:r>
          </a:p>
          <a:p>
            <a:pPr lvl="1">
              <a:defRPr sz="1800"/>
            </a:pPr>
            <a:r>
              <a:rPr sz="2000"/>
              <a:t>Another extension mechanism</a:t>
            </a:r>
          </a:p>
          <a:p>
            <a:pPr lvl="1">
              <a:defRPr sz="1800"/>
            </a:pPr>
            <a:r>
              <a:rPr sz="2000"/>
              <a:t>Provide additional information on the elements of UML</a:t>
            </a:r>
          </a:p>
          <a:p>
            <a:pPr lvl="1">
              <a:defRPr sz="1800"/>
            </a:pPr>
            <a:r>
              <a:rPr sz="2000"/>
              <a:t>Pairs of type {name = value}</a:t>
            </a:r>
          </a:p>
          <a:p>
            <a:pPr lvl="1">
              <a:defRPr sz="1800"/>
            </a:pPr>
            <a:r>
              <a:rPr sz="2000"/>
              <a:t>Example</a:t>
            </a:r>
          </a:p>
        </p:txBody>
      </p:sp>
      <p:grpSp>
        <p:nvGrpSpPr>
          <p:cNvPr id="782" name="Group 782"/>
          <p:cNvGrpSpPr/>
          <p:nvPr/>
        </p:nvGrpSpPr>
        <p:grpSpPr>
          <a:xfrm>
            <a:off x="4829224" y="3392264"/>
            <a:ext cx="2025553" cy="1548036"/>
            <a:chOff x="0" y="0"/>
            <a:chExt cx="2160588" cy="1770063"/>
          </a:xfrm>
        </p:grpSpPr>
        <p:sp>
          <p:nvSpPr>
            <p:cNvPr id="778" name="Shape 778"/>
            <p:cNvSpPr/>
            <p:nvPr/>
          </p:nvSpPr>
          <p:spPr>
            <a:xfrm>
              <a:off x="0" y="41275"/>
              <a:ext cx="2160588" cy="172878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79" name="Shape 779"/>
            <p:cNvSpPr/>
            <p:nvPr/>
          </p:nvSpPr>
          <p:spPr>
            <a:xfrm>
              <a:off x="382271" y="0"/>
              <a:ext cx="1391283" cy="9411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Class</a:t>
              </a:r>
            </a:p>
            <a:p>
              <a:pPr algn="ctr"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{author = NTB,</a:t>
              </a:r>
            </a:p>
            <a:p>
              <a:pPr algn="ctr"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version = 2.0}</a:t>
              </a:r>
            </a:p>
          </p:txBody>
        </p:sp>
        <p:sp>
          <p:nvSpPr>
            <p:cNvPr id="780" name="Shape 780"/>
            <p:cNvSpPr/>
            <p:nvPr/>
          </p:nvSpPr>
          <p:spPr>
            <a:xfrm>
              <a:off x="0" y="762000"/>
              <a:ext cx="2160588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1" name="Shape 781"/>
            <p:cNvSpPr/>
            <p:nvPr/>
          </p:nvSpPr>
          <p:spPr>
            <a:xfrm>
              <a:off x="0" y="1265237"/>
              <a:ext cx="2160588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1707150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78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785" name="Shape 78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general mechanisms</a:t>
            </a:r>
          </a:p>
        </p:txBody>
      </p:sp>
      <p:sp>
        <p:nvSpPr>
          <p:cNvPr id="786" name="Shape 78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Notes</a:t>
            </a:r>
          </a:p>
          <a:p>
            <a:pPr lvl="1">
              <a:defRPr sz="1800"/>
            </a:pPr>
            <a:r>
              <a:rPr sz="2000"/>
              <a:t>are comments attached to one or more </a:t>
            </a:r>
            <a:r>
              <a:rPr lang="en-US" sz="2000"/>
              <a:t>modeling</a:t>
            </a:r>
            <a:r>
              <a:rPr sz="2000"/>
              <a:t> elements</a:t>
            </a:r>
          </a:p>
          <a:p>
            <a:pPr lvl="1">
              <a:defRPr sz="1800"/>
            </a:pPr>
            <a:r>
              <a:rPr sz="2000"/>
              <a:t>provide additional information on </a:t>
            </a:r>
            <a:r>
              <a:rPr lang="en-US" sz="2000"/>
              <a:t>modeling</a:t>
            </a:r>
            <a:r>
              <a:rPr sz="2000"/>
              <a:t> elements</a:t>
            </a:r>
          </a:p>
          <a:p>
            <a:pPr lvl="1">
              <a:defRPr sz="1800"/>
            </a:pPr>
            <a:r>
              <a:rPr sz="2000"/>
              <a:t>belong to the view, not the models</a:t>
            </a:r>
          </a:p>
        </p:txBody>
      </p:sp>
      <p:pic>
        <p:nvPicPr>
          <p:cNvPr id="787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615906" y="3040934"/>
            <a:ext cx="4399919" cy="2657320"/>
          </a:xfrm>
          <a:prstGeom prst="rect">
            <a:avLst/>
          </a:prstGeom>
          <a:ln w="6350">
            <a:round/>
          </a:ln>
        </p:spPr>
      </p:pic>
      <p:pic>
        <p:nvPicPr>
          <p:cNvPr id="788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66515" y="3837155"/>
            <a:ext cx="2087998" cy="1064879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664666071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Shape 79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791" name="Shape 79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general mechanisms</a:t>
            </a:r>
          </a:p>
        </p:txBody>
      </p:sp>
      <p:sp>
        <p:nvSpPr>
          <p:cNvPr id="792" name="Shape 79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Constraints</a:t>
            </a:r>
          </a:p>
          <a:p>
            <a:pPr lvl="1">
              <a:defRPr sz="1800"/>
            </a:pPr>
            <a:r>
              <a:rPr sz="2000"/>
              <a:t>are restrictions that limit the use of an element or the element semantic</a:t>
            </a:r>
          </a:p>
          <a:p>
            <a:pPr lvl="1">
              <a:defRPr sz="1800"/>
            </a:pPr>
            <a:r>
              <a:rPr sz="2000"/>
              <a:t>are expressed in natural language</a:t>
            </a:r>
          </a:p>
          <a:p>
            <a:pPr lvl="1">
              <a:defRPr sz="1800"/>
            </a:pPr>
            <a:r>
              <a:rPr sz="2000"/>
              <a:t>are expressed in OCL (Object Constraint Language)</a:t>
            </a:r>
          </a:p>
          <a:p>
            <a:pPr lvl="1">
              <a:defRPr sz="1800"/>
            </a:pPr>
            <a:r>
              <a:rPr sz="2000"/>
              <a:t>Example</a:t>
            </a:r>
          </a:p>
        </p:txBody>
      </p:sp>
      <p:grpSp>
        <p:nvGrpSpPr>
          <p:cNvPr id="798" name="Group 798"/>
          <p:cNvGrpSpPr/>
          <p:nvPr/>
        </p:nvGrpSpPr>
        <p:grpSpPr>
          <a:xfrm>
            <a:off x="1569145" y="3277079"/>
            <a:ext cx="3039071" cy="1599721"/>
            <a:chOff x="0" y="0"/>
            <a:chExt cx="3241675" cy="1728788"/>
          </a:xfrm>
        </p:grpSpPr>
        <p:sp>
          <p:nvSpPr>
            <p:cNvPr id="793" name="Shape 793"/>
            <p:cNvSpPr/>
            <p:nvPr/>
          </p:nvSpPr>
          <p:spPr>
            <a:xfrm>
              <a:off x="0" y="0"/>
              <a:ext cx="3241675" cy="172878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794" name="Shape 794"/>
            <p:cNvSpPr/>
            <p:nvPr/>
          </p:nvSpPr>
          <p:spPr>
            <a:xfrm>
              <a:off x="948488" y="47624"/>
              <a:ext cx="1308185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Rectangle</a:t>
              </a:r>
            </a:p>
          </p:txBody>
        </p:sp>
        <p:sp>
          <p:nvSpPr>
            <p:cNvPr id="795" name="Shape 795"/>
            <p:cNvSpPr/>
            <p:nvPr/>
          </p:nvSpPr>
          <p:spPr>
            <a:xfrm>
              <a:off x="0" y="433387"/>
              <a:ext cx="3241675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6" name="Shape 796"/>
            <p:cNvSpPr/>
            <p:nvPr/>
          </p:nvSpPr>
          <p:spPr>
            <a:xfrm>
              <a:off x="1587" y="433386"/>
              <a:ext cx="2659870" cy="809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width:int {width &gt; 0}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height:int </a:t>
              </a:r>
              <a:r>
                <a:rPr>
                  <a:latin typeface="Verdana"/>
                  <a:ea typeface="Verdana"/>
                  <a:cs typeface="Verdana"/>
                  <a:sym typeface="Verdana"/>
                </a:rPr>
                <a:t>{height &gt; 0}</a:t>
              </a:r>
            </a:p>
          </p:txBody>
        </p:sp>
        <p:sp>
          <p:nvSpPr>
            <p:cNvPr id="797" name="Shape 797"/>
            <p:cNvSpPr/>
            <p:nvPr/>
          </p:nvSpPr>
          <p:spPr>
            <a:xfrm>
              <a:off x="0" y="1152525"/>
              <a:ext cx="3241675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806" name="Group 806"/>
          <p:cNvGrpSpPr/>
          <p:nvPr/>
        </p:nvGrpSpPr>
        <p:grpSpPr>
          <a:xfrm>
            <a:off x="6675152" y="3229472"/>
            <a:ext cx="3774852" cy="2155328"/>
            <a:chOff x="-137262" y="0"/>
            <a:chExt cx="4026507" cy="2541394"/>
          </a:xfrm>
        </p:grpSpPr>
        <p:sp>
          <p:nvSpPr>
            <p:cNvPr id="799" name="Shape 799"/>
            <p:cNvSpPr/>
            <p:nvPr/>
          </p:nvSpPr>
          <p:spPr>
            <a:xfrm>
              <a:off x="1084292" y="0"/>
              <a:ext cx="1697214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BankAccount</a:t>
              </a:r>
            </a:p>
          </p:txBody>
        </p:sp>
        <p:sp>
          <p:nvSpPr>
            <p:cNvPr id="800" name="Shape 800"/>
            <p:cNvSpPr/>
            <p:nvPr/>
          </p:nvSpPr>
          <p:spPr>
            <a:xfrm>
              <a:off x="2600689" y="2016125"/>
              <a:ext cx="1288556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Organism</a:t>
              </a:r>
            </a:p>
          </p:txBody>
        </p:sp>
        <p:sp>
          <p:nvSpPr>
            <p:cNvPr id="801" name="Shape 801"/>
            <p:cNvSpPr/>
            <p:nvPr/>
          </p:nvSpPr>
          <p:spPr>
            <a:xfrm>
              <a:off x="-137262" y="2016125"/>
              <a:ext cx="131933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 algn="ctr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Individual</a:t>
              </a:r>
            </a:p>
          </p:txBody>
        </p:sp>
        <p:sp>
          <p:nvSpPr>
            <p:cNvPr id="802" name="Shape 802"/>
            <p:cNvSpPr/>
            <p:nvPr/>
          </p:nvSpPr>
          <p:spPr>
            <a:xfrm flipH="1">
              <a:off x="463666" y="376237"/>
              <a:ext cx="863601" cy="16573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3" name="Shape 803"/>
            <p:cNvSpPr/>
            <p:nvPr/>
          </p:nvSpPr>
          <p:spPr>
            <a:xfrm>
              <a:off x="2406766" y="376237"/>
              <a:ext cx="865189" cy="16573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4" name="Shape 804"/>
            <p:cNvSpPr/>
            <p:nvPr/>
          </p:nvSpPr>
          <p:spPr>
            <a:xfrm>
              <a:off x="895466" y="1168400"/>
              <a:ext cx="19431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5" name="Shape 805"/>
            <p:cNvSpPr/>
            <p:nvPr/>
          </p:nvSpPr>
          <p:spPr>
            <a:xfrm>
              <a:off x="1614604" y="1096962"/>
              <a:ext cx="805210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{xor}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7036317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Shape 80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809" name="Shape 80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views</a:t>
            </a:r>
          </a:p>
        </p:txBody>
      </p:sp>
      <p:sp>
        <p:nvSpPr>
          <p:cNvPr id="810" name="Shape 81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 system is modelled by 5 different views in the UML</a:t>
            </a:r>
          </a:p>
        </p:txBody>
      </p:sp>
      <p:grpSp>
        <p:nvGrpSpPr>
          <p:cNvPr id="822" name="Group 822"/>
          <p:cNvGrpSpPr/>
          <p:nvPr/>
        </p:nvGrpSpPr>
        <p:grpSpPr>
          <a:xfrm>
            <a:off x="3009056" y="2112428"/>
            <a:ext cx="5665889" cy="3031071"/>
            <a:chOff x="-1" y="0"/>
            <a:chExt cx="6043614" cy="3744913"/>
          </a:xfrm>
        </p:grpSpPr>
        <p:sp>
          <p:nvSpPr>
            <p:cNvPr id="811" name="Shape 811"/>
            <p:cNvSpPr/>
            <p:nvPr/>
          </p:nvSpPr>
          <p:spPr>
            <a:xfrm>
              <a:off x="-1" y="0"/>
              <a:ext cx="6043614" cy="3744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812" name="Shape 812"/>
            <p:cNvSpPr/>
            <p:nvPr/>
          </p:nvSpPr>
          <p:spPr>
            <a:xfrm>
              <a:off x="1624012" y="1344612"/>
              <a:ext cx="2705101" cy="10556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813" name="Shape 813"/>
            <p:cNvSpPr/>
            <p:nvPr/>
          </p:nvSpPr>
          <p:spPr>
            <a:xfrm>
              <a:off x="0" y="1920875"/>
              <a:ext cx="1624013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4" name="Shape 814"/>
            <p:cNvSpPr/>
            <p:nvPr/>
          </p:nvSpPr>
          <p:spPr>
            <a:xfrm>
              <a:off x="4329112" y="1920875"/>
              <a:ext cx="17145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5" name="Shape 815"/>
            <p:cNvSpPr/>
            <p:nvPr/>
          </p:nvSpPr>
          <p:spPr>
            <a:xfrm flipH="1">
              <a:off x="2976562" y="0"/>
              <a:ext cx="1" cy="13446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6" name="Shape 816"/>
            <p:cNvSpPr/>
            <p:nvPr/>
          </p:nvSpPr>
          <p:spPr>
            <a:xfrm flipH="1">
              <a:off x="2976562" y="2400299"/>
              <a:ext cx="1" cy="134461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7" name="Shape 817"/>
            <p:cNvSpPr/>
            <p:nvPr/>
          </p:nvSpPr>
          <p:spPr>
            <a:xfrm>
              <a:off x="879475" y="762001"/>
              <a:ext cx="1454414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Static view</a:t>
              </a:r>
            </a:p>
          </p:txBody>
        </p:sp>
        <p:sp>
          <p:nvSpPr>
            <p:cNvPr id="818" name="Shape 818"/>
            <p:cNvSpPr/>
            <p:nvPr/>
          </p:nvSpPr>
          <p:spPr>
            <a:xfrm>
              <a:off x="3024187" y="2617787"/>
              <a:ext cx="2239175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Deployment view</a:t>
              </a:r>
            </a:p>
          </p:txBody>
        </p:sp>
        <p:sp>
          <p:nvSpPr>
            <p:cNvPr id="819" name="Shape 819"/>
            <p:cNvSpPr/>
            <p:nvPr/>
          </p:nvSpPr>
          <p:spPr>
            <a:xfrm>
              <a:off x="708471" y="2617787"/>
              <a:ext cx="1822035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Dynamic view</a:t>
              </a:r>
            </a:p>
          </p:txBody>
        </p:sp>
        <p:sp>
          <p:nvSpPr>
            <p:cNvPr id="820" name="Shape 820"/>
            <p:cNvSpPr/>
            <p:nvPr/>
          </p:nvSpPr>
          <p:spPr>
            <a:xfrm>
              <a:off x="2252662" y="1644649"/>
              <a:ext cx="1457833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User Views</a:t>
              </a:r>
            </a:p>
          </p:txBody>
        </p:sp>
        <p:sp>
          <p:nvSpPr>
            <p:cNvPr id="821" name="Shape 821"/>
            <p:cNvSpPr/>
            <p:nvPr/>
          </p:nvSpPr>
          <p:spPr>
            <a:xfrm>
              <a:off x="3052762" y="792162"/>
              <a:ext cx="2313589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Architectural 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58417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Shape 8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825" name="Shape 82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Introduction to UML: views</a:t>
            </a:r>
          </a:p>
        </p:txBody>
      </p:sp>
      <p:sp>
        <p:nvSpPr>
          <p:cNvPr id="826" name="Shape 82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Diagrams and views</a:t>
            </a:r>
          </a:p>
        </p:txBody>
      </p:sp>
      <p:grpSp>
        <p:nvGrpSpPr>
          <p:cNvPr id="838" name="Group 838"/>
          <p:cNvGrpSpPr/>
          <p:nvPr/>
        </p:nvGrpSpPr>
        <p:grpSpPr>
          <a:xfrm>
            <a:off x="2652860" y="1986297"/>
            <a:ext cx="6886281" cy="4325603"/>
            <a:chOff x="-1" y="0"/>
            <a:chExt cx="7345364" cy="4103688"/>
          </a:xfrm>
        </p:grpSpPr>
        <p:sp>
          <p:nvSpPr>
            <p:cNvPr id="827" name="Shape 827"/>
            <p:cNvSpPr/>
            <p:nvPr/>
          </p:nvSpPr>
          <p:spPr>
            <a:xfrm>
              <a:off x="-1" y="0"/>
              <a:ext cx="7345364" cy="41036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828" name="Shape 828"/>
            <p:cNvSpPr/>
            <p:nvPr/>
          </p:nvSpPr>
          <p:spPr>
            <a:xfrm>
              <a:off x="2344737" y="1344612"/>
              <a:ext cx="2705101" cy="10556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829" name="Shape 829"/>
            <p:cNvSpPr/>
            <p:nvPr/>
          </p:nvSpPr>
          <p:spPr>
            <a:xfrm>
              <a:off x="3697287" y="0"/>
              <a:ext cx="1589" cy="13446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0" name="Shape 830"/>
            <p:cNvSpPr/>
            <p:nvPr/>
          </p:nvSpPr>
          <p:spPr>
            <a:xfrm flipH="1">
              <a:off x="3673475" y="2400299"/>
              <a:ext cx="23813" cy="17033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1" name="Shape 831"/>
            <p:cNvSpPr/>
            <p:nvPr/>
          </p:nvSpPr>
          <p:spPr>
            <a:xfrm>
              <a:off x="1911289" y="477837"/>
              <a:ext cx="1739961" cy="10943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r">
                <a:defRPr sz="1800">
                  <a:uFillTx/>
                </a:defRPr>
              </a:pPr>
              <a:r>
                <a:rPr>
                  <a:latin typeface="Verdana"/>
                  <a:ea typeface="Verdana"/>
                  <a:cs typeface="Verdana"/>
                  <a:sym typeface="Verdana"/>
                </a:rPr>
                <a:t>Static view</a:t>
              </a:r>
            </a:p>
            <a:p>
              <a:pPr algn="r"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Class diagrams</a:t>
              </a:r>
            </a:p>
            <a:p>
              <a:pPr algn="r"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Object diagrams</a:t>
              </a:r>
            </a:p>
          </p:txBody>
        </p:sp>
        <p:sp>
          <p:nvSpPr>
            <p:cNvPr id="832" name="Shape 832"/>
            <p:cNvSpPr/>
            <p:nvPr/>
          </p:nvSpPr>
          <p:spPr>
            <a:xfrm>
              <a:off x="3673475" y="2412999"/>
              <a:ext cx="2292249" cy="809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>
                  <a:latin typeface="Verdana"/>
                  <a:ea typeface="Verdana"/>
                  <a:cs typeface="Verdana"/>
                  <a:sym typeface="Verdana"/>
                </a:rPr>
                <a:t>Deployment view</a:t>
              </a:r>
            </a:p>
            <a:p>
              <a:pPr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Deployment diagrams</a:t>
              </a:r>
            </a:p>
          </p:txBody>
        </p:sp>
        <p:sp>
          <p:nvSpPr>
            <p:cNvPr id="833" name="Shape 833"/>
            <p:cNvSpPr/>
            <p:nvPr/>
          </p:nvSpPr>
          <p:spPr>
            <a:xfrm>
              <a:off x="1424957" y="2392362"/>
              <a:ext cx="2213594" cy="13788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r">
                <a:defRPr sz="1800">
                  <a:uFillTx/>
                </a:defRPr>
              </a:pPr>
              <a:r>
                <a:rPr>
                  <a:latin typeface="Verdana"/>
                  <a:ea typeface="Verdana"/>
                  <a:cs typeface="Verdana"/>
                  <a:sym typeface="Verdana"/>
                </a:rPr>
                <a:t>Dynamic view</a:t>
              </a:r>
            </a:p>
            <a:p>
              <a:pPr algn="r"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Interaction diagrams</a:t>
              </a:r>
            </a:p>
            <a:p>
              <a:pPr algn="r"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State diagrams</a:t>
              </a:r>
            </a:p>
            <a:p>
              <a:pPr algn="r"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Activity diagrams</a:t>
              </a:r>
            </a:p>
          </p:txBody>
        </p:sp>
        <p:sp>
          <p:nvSpPr>
            <p:cNvPr id="834" name="Shape 834"/>
            <p:cNvSpPr/>
            <p:nvPr/>
          </p:nvSpPr>
          <p:spPr>
            <a:xfrm>
              <a:off x="2749318" y="1511300"/>
              <a:ext cx="1989601" cy="809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>
                  <a:latin typeface="Verdana"/>
                  <a:ea typeface="Verdana"/>
                  <a:cs typeface="Verdana"/>
                  <a:sym typeface="Verdana"/>
                </a:rPr>
                <a:t>Users view</a:t>
              </a:r>
            </a:p>
            <a:p>
              <a:pPr algn="ctr"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Use-case diagrams</a:t>
              </a:r>
            </a:p>
          </p:txBody>
        </p:sp>
        <p:sp>
          <p:nvSpPr>
            <p:cNvPr id="835" name="Shape 835"/>
            <p:cNvSpPr/>
            <p:nvPr/>
          </p:nvSpPr>
          <p:spPr>
            <a:xfrm>
              <a:off x="3744912" y="496887"/>
              <a:ext cx="2313589" cy="10943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>
                  <a:latin typeface="Verdana"/>
                  <a:ea typeface="Verdana"/>
                  <a:cs typeface="Verdana"/>
                  <a:sym typeface="Verdana"/>
                </a:rPr>
                <a:t>Architectural view</a:t>
              </a:r>
            </a:p>
            <a:p>
              <a:pPr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Package diagrams</a:t>
              </a:r>
              <a:endParaRPr b="1">
                <a:latin typeface="Verdana"/>
                <a:ea typeface="Verdana"/>
                <a:cs typeface="Verdana"/>
                <a:sym typeface="Verdana"/>
              </a:endParaRPr>
            </a:p>
            <a:p>
              <a:pPr>
                <a:defRPr sz="1800">
                  <a:uFillTx/>
                </a:defRPr>
              </a:pPr>
              <a:r>
                <a:rPr sz="1300" b="1">
                  <a:latin typeface="Verdana"/>
                  <a:ea typeface="Verdana"/>
                  <a:cs typeface="Verdana"/>
                  <a:sym typeface="Verdana"/>
                </a:rPr>
                <a:t>Component diagrams</a:t>
              </a:r>
            </a:p>
          </p:txBody>
        </p:sp>
        <p:sp>
          <p:nvSpPr>
            <p:cNvPr id="836" name="Shape 836"/>
            <p:cNvSpPr/>
            <p:nvPr/>
          </p:nvSpPr>
          <p:spPr>
            <a:xfrm>
              <a:off x="15875" y="1914525"/>
              <a:ext cx="230505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7" name="Shape 837"/>
            <p:cNvSpPr/>
            <p:nvPr/>
          </p:nvSpPr>
          <p:spPr>
            <a:xfrm>
              <a:off x="5041900" y="1943100"/>
              <a:ext cx="2303463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9558743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</TotalTime>
  <Words>1788</Words>
  <Application>Microsoft Office PowerPoint</Application>
  <PresentationFormat>Widescreen</PresentationFormat>
  <Paragraphs>408</Paragraphs>
  <Slides>38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Helvetica</vt:lpstr>
      <vt:lpstr>Times New Roman</vt:lpstr>
      <vt:lpstr>Verdana</vt:lpstr>
      <vt:lpstr>Office Theme</vt:lpstr>
      <vt:lpstr>2_Office Theme</vt:lpstr>
      <vt:lpstr>SYSTEMS ANALYSIS AND DESIGN</vt:lpstr>
      <vt:lpstr>An overview of Unified modeling language</vt:lpstr>
      <vt:lpstr>Model and modeling</vt:lpstr>
      <vt:lpstr>Model and modeling: Example</vt:lpstr>
      <vt:lpstr>Model and modeling: Example</vt:lpstr>
      <vt:lpstr>Modeling</vt:lpstr>
      <vt:lpstr>Modeling: why?</vt:lpstr>
      <vt:lpstr>Modeling</vt:lpstr>
      <vt:lpstr>Principles of modeling</vt:lpstr>
      <vt:lpstr>Modeling</vt:lpstr>
      <vt:lpstr>Benefits of modeling</vt:lpstr>
      <vt:lpstr>Object-oriented modeling techniques</vt:lpstr>
      <vt:lpstr>OMT technique</vt:lpstr>
      <vt:lpstr>OOD technique</vt:lpstr>
      <vt:lpstr>OOSE technique</vt:lpstr>
      <vt:lpstr>History of UML</vt:lpstr>
      <vt:lpstr>History of UML</vt:lpstr>
      <vt:lpstr>Introduction to UML</vt:lpstr>
      <vt:lpstr>Introduction to UML</vt:lpstr>
      <vt:lpstr>Introduction to UML: the diagrams</vt:lpstr>
      <vt:lpstr>Introduction to UML: Use-case diagram</vt:lpstr>
      <vt:lpstr>Introduction to UML: class diagram</vt:lpstr>
      <vt:lpstr>Introduction to UML: object diagram</vt:lpstr>
      <vt:lpstr>Introduction to UML: interaction diagram</vt:lpstr>
      <vt:lpstr>Introduction to UML: interaction diagram</vt:lpstr>
      <vt:lpstr>Introduction to UML: interaction diagram</vt:lpstr>
      <vt:lpstr>Introduction to UML: activity diagram</vt:lpstr>
      <vt:lpstr>Introduction to UML: state diagram</vt:lpstr>
      <vt:lpstr>Introduction to UML: Package diagrams</vt:lpstr>
      <vt:lpstr>Introduction to UML: component diagrams</vt:lpstr>
      <vt:lpstr>Introduction to UML: deployment diagrams</vt:lpstr>
      <vt:lpstr>Introduction to UML: extension mechanism</vt:lpstr>
      <vt:lpstr>Introduction to UML: general mechanisms</vt:lpstr>
      <vt:lpstr>Introduction to UML: general mechanisms</vt:lpstr>
      <vt:lpstr>Introduction to UML: general mechanisms</vt:lpstr>
      <vt:lpstr>Introduction to UML: general mechanisms</vt:lpstr>
      <vt:lpstr>Introduction to UML: views</vt:lpstr>
      <vt:lpstr>Introduction to UML: views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</dc:title>
  <dc:creator>Toan Le</dc:creator>
  <cp:lastModifiedBy>TUAN NGUYEN</cp:lastModifiedBy>
  <cp:revision>78</cp:revision>
  <dcterms:created xsi:type="dcterms:W3CDTF">2020-05-27T05:21:30Z</dcterms:created>
  <dcterms:modified xsi:type="dcterms:W3CDTF">2021-08-17T02:02:05Z</dcterms:modified>
</cp:coreProperties>
</file>