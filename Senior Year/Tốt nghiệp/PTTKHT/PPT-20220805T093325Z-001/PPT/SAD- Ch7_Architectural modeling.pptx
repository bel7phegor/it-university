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1"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384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husvOnJF8204Aael1eqtV5nMGC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2" d="100"/>
          <a:sy n="42" d="100"/>
        </p:scale>
        <p:origin x="-80" y="-4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8337203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3" name="Google Shape;46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88" name="Google Shape;488;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23</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5"/>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5"/>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5"/>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age" type="tx">
  <p:cSld name="TITLE_AND_BODY">
    <p:spTree>
      <p:nvGrpSpPr>
        <p:cNvPr id="1" name="Shape 21"/>
        <p:cNvGrpSpPr/>
        <p:nvPr/>
      </p:nvGrpSpPr>
      <p:grpSpPr>
        <a:xfrm>
          <a:off x="0" y="0"/>
          <a:ext cx="0" cy="0"/>
          <a:chOff x="0" y="0"/>
          <a:chExt cx="0" cy="0"/>
        </a:xfrm>
      </p:grpSpPr>
      <p:sp>
        <p:nvSpPr>
          <p:cNvPr id="22" name="Google Shape;22;p28"/>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28"/>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8"/>
          <p:cNvSpPr txBox="1">
            <a:spLocks noGrp="1"/>
          </p:cNvSpPr>
          <p:nvPr>
            <p:ph type="body" idx="1"/>
          </p:nvPr>
        </p:nvSpPr>
        <p:spPr>
          <a:xfrm>
            <a:off x="564543" y="1447137"/>
            <a:ext cx="10789257" cy="472982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2043484" y="365126"/>
            <a:ext cx="9310315" cy="94684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9"/>
          <p:cNvSpPr txBox="1">
            <a:spLocks noGrp="1"/>
          </p:cNvSpPr>
          <p:nvPr>
            <p:ph type="body" idx="1"/>
          </p:nvPr>
        </p:nvSpPr>
        <p:spPr>
          <a:xfrm>
            <a:off x="572493" y="1431235"/>
            <a:ext cx="11100021" cy="486619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29"/>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9"/>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9"/>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30"/>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0"/>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0"/>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1"/>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31"/>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1"/>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1"/>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2"/>
          <p:cNvSpPr txBox="1">
            <a:spLocks noGrp="1"/>
          </p:cNvSpPr>
          <p:nvPr>
            <p:ph type="title"/>
          </p:nvPr>
        </p:nvSpPr>
        <p:spPr>
          <a:xfrm>
            <a:off x="2059536" y="365125"/>
            <a:ext cx="9295852" cy="95947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3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3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2"/>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2"/>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2"/>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3"/>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3"/>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3"/>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3"/>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34"/>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4"/>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4"/>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3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3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3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35"/>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5"/>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5"/>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36"/>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72" name="Google Shape;72;p3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36"/>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6"/>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6"/>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7"/>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37"/>
          <p:cNvSpPr txBox="1">
            <a:spLocks noGrp="1"/>
          </p:cNvSpPr>
          <p:nvPr>
            <p:ph type="body" idx="1"/>
          </p:nvPr>
        </p:nvSpPr>
        <p:spPr>
          <a:xfrm rot="5400000">
            <a:off x="3594258" y="-1582579"/>
            <a:ext cx="4729826" cy="1078925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37"/>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7"/>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7"/>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3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3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38"/>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8"/>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8"/>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94"/>
        <p:cNvGrpSpPr/>
        <p:nvPr/>
      </p:nvGrpSpPr>
      <p:grpSpPr>
        <a:xfrm>
          <a:off x="0" y="0"/>
          <a:ext cx="0" cy="0"/>
          <a:chOff x="0" y="0"/>
          <a:chExt cx="0" cy="0"/>
        </a:xfrm>
      </p:grpSpPr>
      <p:sp>
        <p:nvSpPr>
          <p:cNvPr id="95" name="Google Shape;95;p27"/>
          <p:cNvSpPr txBox="1">
            <a:spLocks noGrp="1"/>
          </p:cNvSpPr>
          <p:nvPr>
            <p:ph type="title"/>
          </p:nvPr>
        </p:nvSpPr>
        <p:spPr>
          <a:xfrm>
            <a:off x="831850" y="1709739"/>
            <a:ext cx="10515600" cy="126206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00"/>
              <a:buFont typeface="Arial"/>
              <a:buNone/>
              <a:defRPr sz="48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27"/>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7"/>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7"/>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grpSp>
        <p:nvGrpSpPr>
          <p:cNvPr id="99" name="Google Shape;99;p27"/>
          <p:cNvGrpSpPr/>
          <p:nvPr/>
        </p:nvGrpSpPr>
        <p:grpSpPr>
          <a:xfrm>
            <a:off x="790785" y="3023729"/>
            <a:ext cx="10588415" cy="139984"/>
            <a:chOff x="-1" y="0"/>
            <a:chExt cx="11982028" cy="139983"/>
          </a:xfrm>
        </p:grpSpPr>
        <p:sp>
          <p:nvSpPr>
            <p:cNvPr id="100" name="Google Shape;100;p27"/>
            <p:cNvSpPr/>
            <p:nvPr/>
          </p:nvSpPr>
          <p:spPr>
            <a:xfrm>
              <a:off x="-1" y="0"/>
              <a:ext cx="7404894" cy="139983"/>
            </a:xfrm>
            <a:prstGeom prst="rect">
              <a:avLst/>
            </a:prstGeom>
            <a:solidFill>
              <a:srgbClr val="FFC000"/>
            </a:solidFill>
            <a:ln w="12700" cap="flat" cmpd="sng">
              <a:solidFill>
                <a:srgbClr val="FFC000"/>
              </a:solidFill>
              <a:prstDash val="solid"/>
              <a:miter lim="400000"/>
              <a:headEnd type="none" w="sm" len="sm"/>
              <a:tailEnd type="none" w="sm" len="sm"/>
            </a:ln>
          </p:spPr>
          <p:txBody>
            <a:bodyPr spcFirstLastPara="1" wrap="square" lIns="65000" tIns="65000" rIns="65000" bIns="65000" anchor="t" anchorCtr="0">
              <a:noAutofit/>
            </a:bodyPr>
            <a:lstStyle/>
            <a:p>
              <a:pPr marL="0" marR="0" lvl="0" indent="0" algn="l" rtl="0">
                <a:spcBef>
                  <a:spcPts val="0"/>
                </a:spcBef>
                <a:spcAft>
                  <a:spcPts val="0"/>
                </a:spcAft>
                <a:buNone/>
              </a:pPr>
              <a:endParaRPr sz="2400" b="0" i="0" u="none" strike="noStrike" cap="none">
                <a:solidFill>
                  <a:srgbClr val="000000"/>
                </a:solidFill>
                <a:latin typeface="Times New Roman"/>
                <a:ea typeface="Times New Roman"/>
                <a:cs typeface="Times New Roman"/>
                <a:sym typeface="Times New Roman"/>
              </a:endParaRPr>
            </a:p>
          </p:txBody>
        </p:sp>
        <p:cxnSp>
          <p:nvCxnSpPr>
            <p:cNvPr id="101" name="Google Shape;101;p27"/>
            <p:cNvCxnSpPr/>
            <p:nvPr/>
          </p:nvCxnSpPr>
          <p:spPr>
            <a:xfrm>
              <a:off x="0" y="0"/>
              <a:ext cx="11982027" cy="1"/>
            </a:xfrm>
            <a:prstGeom prst="straightConnector1">
              <a:avLst/>
            </a:prstGeom>
            <a:solidFill>
              <a:srgbClr val="FFC000"/>
            </a:solidFill>
            <a:ln w="12700" cap="flat" cmpd="sng">
              <a:solidFill>
                <a:srgbClr val="FFC000"/>
              </a:solidFill>
              <a:prstDash val="solid"/>
              <a:round/>
              <a:headEnd type="none" w="sm" len="sm"/>
              <a:tailEnd type="none" w="sm" len="sm"/>
            </a:ln>
          </p:spPr>
        </p:cxnSp>
      </p:grpSp>
      <p:sp>
        <p:nvSpPr>
          <p:cNvPr id="102" name="Google Shape;102;p27"/>
          <p:cNvSpPr txBox="1">
            <a:spLocks noGrp="1"/>
          </p:cNvSpPr>
          <p:nvPr>
            <p:ph type="body" idx="1"/>
          </p:nvPr>
        </p:nvSpPr>
        <p:spPr>
          <a:xfrm>
            <a:off x="790785" y="3492499"/>
            <a:ext cx="10588415" cy="280493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03"/>
        <p:cNvGrpSpPr/>
        <p:nvPr/>
      </p:nvGrpSpPr>
      <p:grpSpPr>
        <a:xfrm>
          <a:off x="0" y="0"/>
          <a:ext cx="0" cy="0"/>
          <a:chOff x="0" y="0"/>
          <a:chExt cx="0" cy="0"/>
        </a:xfrm>
      </p:grpSpPr>
      <p:sp>
        <p:nvSpPr>
          <p:cNvPr id="104" name="Google Shape;104;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3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6" name="Google Shape;106;p39"/>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39"/>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39"/>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9"/>
        <p:cNvGrpSpPr/>
        <p:nvPr/>
      </p:nvGrpSpPr>
      <p:grpSpPr>
        <a:xfrm>
          <a:off x="0" y="0"/>
          <a:ext cx="0" cy="0"/>
          <a:chOff x="0" y="0"/>
          <a:chExt cx="0" cy="0"/>
        </a:xfrm>
      </p:grpSpPr>
      <p:sp>
        <p:nvSpPr>
          <p:cNvPr id="110" name="Google Shape;110;p40"/>
          <p:cNvSpPr txBox="1">
            <a:spLocks noGrp="1"/>
          </p:cNvSpPr>
          <p:nvPr>
            <p:ph type="title"/>
          </p:nvPr>
        </p:nvSpPr>
        <p:spPr>
          <a:xfrm>
            <a:off x="2043484" y="365126"/>
            <a:ext cx="9310315" cy="94684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40"/>
          <p:cNvSpPr txBox="1">
            <a:spLocks noGrp="1"/>
          </p:cNvSpPr>
          <p:nvPr>
            <p:ph type="body" idx="1"/>
          </p:nvPr>
        </p:nvSpPr>
        <p:spPr>
          <a:xfrm>
            <a:off x="572493" y="1431235"/>
            <a:ext cx="11100021" cy="486619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40"/>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40"/>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40"/>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5"/>
        <p:cNvGrpSpPr/>
        <p:nvPr/>
      </p:nvGrpSpPr>
      <p:grpSpPr>
        <a:xfrm>
          <a:off x="0" y="0"/>
          <a:ext cx="0" cy="0"/>
          <a:chOff x="0" y="0"/>
          <a:chExt cx="0" cy="0"/>
        </a:xfrm>
      </p:grpSpPr>
      <p:sp>
        <p:nvSpPr>
          <p:cNvPr id="116" name="Google Shape;116;p41"/>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4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4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41"/>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41"/>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41"/>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2"/>
        <p:cNvGrpSpPr/>
        <p:nvPr/>
      </p:nvGrpSpPr>
      <p:grpSpPr>
        <a:xfrm>
          <a:off x="0" y="0"/>
          <a:ext cx="0" cy="0"/>
          <a:chOff x="0" y="0"/>
          <a:chExt cx="0" cy="0"/>
        </a:xfrm>
      </p:grpSpPr>
      <p:sp>
        <p:nvSpPr>
          <p:cNvPr id="123" name="Google Shape;123;p42"/>
          <p:cNvSpPr txBox="1">
            <a:spLocks noGrp="1"/>
          </p:cNvSpPr>
          <p:nvPr>
            <p:ph type="title"/>
          </p:nvPr>
        </p:nvSpPr>
        <p:spPr>
          <a:xfrm>
            <a:off x="2059536" y="365125"/>
            <a:ext cx="9295852" cy="95947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4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5" name="Google Shape;125;p4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4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7" name="Google Shape;127;p4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42"/>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42"/>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42"/>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1"/>
        <p:cNvGrpSpPr/>
        <p:nvPr/>
      </p:nvGrpSpPr>
      <p:grpSpPr>
        <a:xfrm>
          <a:off x="0" y="0"/>
          <a:ext cx="0" cy="0"/>
          <a:chOff x="0" y="0"/>
          <a:chExt cx="0" cy="0"/>
        </a:xfrm>
      </p:grpSpPr>
      <p:sp>
        <p:nvSpPr>
          <p:cNvPr id="132" name="Google Shape;132;p43"/>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43"/>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43"/>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43"/>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6"/>
        <p:cNvGrpSpPr/>
        <p:nvPr/>
      </p:nvGrpSpPr>
      <p:grpSpPr>
        <a:xfrm>
          <a:off x="0" y="0"/>
          <a:ext cx="0" cy="0"/>
          <a:chOff x="0" y="0"/>
          <a:chExt cx="0" cy="0"/>
        </a:xfrm>
      </p:grpSpPr>
      <p:sp>
        <p:nvSpPr>
          <p:cNvPr id="137" name="Google Shape;137;p44"/>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44"/>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44"/>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0"/>
        <p:cNvGrpSpPr/>
        <p:nvPr/>
      </p:nvGrpSpPr>
      <p:grpSpPr>
        <a:xfrm>
          <a:off x="0" y="0"/>
          <a:ext cx="0" cy="0"/>
          <a:chOff x="0" y="0"/>
          <a:chExt cx="0" cy="0"/>
        </a:xfrm>
      </p:grpSpPr>
      <p:sp>
        <p:nvSpPr>
          <p:cNvPr id="141" name="Google Shape;141;p4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4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3" name="Google Shape;143;p4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45"/>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45"/>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45"/>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46"/>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150" name="Google Shape;150;p4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1" name="Google Shape;151;p46"/>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46"/>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46"/>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4"/>
        <p:cNvGrpSpPr/>
        <p:nvPr/>
      </p:nvGrpSpPr>
      <p:grpSpPr>
        <a:xfrm>
          <a:off x="0" y="0"/>
          <a:ext cx="0" cy="0"/>
          <a:chOff x="0" y="0"/>
          <a:chExt cx="0" cy="0"/>
        </a:xfrm>
      </p:grpSpPr>
      <p:sp>
        <p:nvSpPr>
          <p:cNvPr id="155" name="Google Shape;155;p47"/>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47"/>
          <p:cNvSpPr txBox="1">
            <a:spLocks noGrp="1"/>
          </p:cNvSpPr>
          <p:nvPr>
            <p:ph type="body" idx="1"/>
          </p:nvPr>
        </p:nvSpPr>
        <p:spPr>
          <a:xfrm rot="5400000">
            <a:off x="3594258" y="-1582579"/>
            <a:ext cx="4729826" cy="1078925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7" name="Google Shape;157;p47"/>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47"/>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47"/>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0"/>
        <p:cNvGrpSpPr/>
        <p:nvPr/>
      </p:nvGrpSpPr>
      <p:grpSpPr>
        <a:xfrm>
          <a:off x="0" y="0"/>
          <a:ext cx="0" cy="0"/>
          <a:chOff x="0" y="0"/>
          <a:chExt cx="0" cy="0"/>
        </a:xfrm>
      </p:grpSpPr>
      <p:sp>
        <p:nvSpPr>
          <p:cNvPr id="161" name="Google Shape;161;p4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4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3" name="Google Shape;163;p48"/>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48"/>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48"/>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page" type="tx">
  <p:cSld name="TITLE_AND_BODY">
    <p:spTree>
      <p:nvGrpSpPr>
        <p:cNvPr id="1" name="Shape 166"/>
        <p:cNvGrpSpPr/>
        <p:nvPr/>
      </p:nvGrpSpPr>
      <p:grpSpPr>
        <a:xfrm>
          <a:off x="0" y="0"/>
          <a:ext cx="0" cy="0"/>
          <a:chOff x="0" y="0"/>
          <a:chExt cx="0" cy="0"/>
        </a:xfrm>
      </p:grpSpPr>
      <p:sp>
        <p:nvSpPr>
          <p:cNvPr id="167" name="Google Shape;167;p49"/>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
        <p:nvSpPr>
          <p:cNvPr id="168" name="Google Shape;168;p49"/>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9" name="Google Shape;169;p49"/>
          <p:cNvSpPr txBox="1">
            <a:spLocks noGrp="1"/>
          </p:cNvSpPr>
          <p:nvPr>
            <p:ph type="body" idx="1"/>
          </p:nvPr>
        </p:nvSpPr>
        <p:spPr>
          <a:xfrm>
            <a:off x="564543" y="1447137"/>
            <a:ext cx="10789257" cy="472982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24"/>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4"/>
          <p:cNvSpPr txBox="1">
            <a:spLocks noGrp="1"/>
          </p:cNvSpPr>
          <p:nvPr>
            <p:ph type="body" idx="1"/>
          </p:nvPr>
        </p:nvSpPr>
        <p:spPr>
          <a:xfrm>
            <a:off x="564543" y="1447137"/>
            <a:ext cx="10789257" cy="4729826"/>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4"/>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4"/>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4"/>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88"/>
        <p:cNvGrpSpPr/>
        <p:nvPr/>
      </p:nvGrpSpPr>
      <p:grpSpPr>
        <a:xfrm>
          <a:off x="0" y="0"/>
          <a:ext cx="0" cy="0"/>
          <a:chOff x="0" y="0"/>
          <a:chExt cx="0" cy="0"/>
        </a:xfrm>
      </p:grpSpPr>
      <p:sp>
        <p:nvSpPr>
          <p:cNvPr id="89" name="Google Shape;89;p26"/>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0" name="Google Shape;90;p26"/>
          <p:cNvSpPr txBox="1">
            <a:spLocks noGrp="1"/>
          </p:cNvSpPr>
          <p:nvPr>
            <p:ph type="body" idx="1"/>
          </p:nvPr>
        </p:nvSpPr>
        <p:spPr>
          <a:xfrm>
            <a:off x="564543" y="1447137"/>
            <a:ext cx="10789257" cy="4729826"/>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1" name="Google Shape;91;p26"/>
          <p:cNvSpPr txBox="1">
            <a:spLocks noGrp="1"/>
          </p:cNvSpPr>
          <p:nvPr>
            <p:ph type="dt" idx="10"/>
          </p:nvPr>
        </p:nvSpPr>
        <p:spPr>
          <a:xfrm>
            <a:off x="2050990" y="6520441"/>
            <a:ext cx="1530409" cy="34631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2" name="Google Shape;92;p26"/>
          <p:cNvSpPr txBox="1">
            <a:spLocks noGrp="1"/>
          </p:cNvSpPr>
          <p:nvPr>
            <p:ph type="ftr" idx="11"/>
          </p:nvPr>
        </p:nvSpPr>
        <p:spPr>
          <a:xfrm>
            <a:off x="4038600" y="6528987"/>
            <a:ext cx="4114800" cy="32922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3" name="Google Shape;93;p26"/>
          <p:cNvSpPr txBox="1">
            <a:spLocks noGrp="1"/>
          </p:cNvSpPr>
          <p:nvPr>
            <p:ph type="sldNum" idx="12"/>
          </p:nvPr>
        </p:nvSpPr>
        <p:spPr>
          <a:xfrm>
            <a:off x="8610600" y="6528987"/>
            <a:ext cx="2743200" cy="32922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7200"/>
              <a:buFont typeface="Arial"/>
              <a:buNone/>
            </a:pPr>
            <a:r>
              <a:rPr lang="en-US" sz="7200" b="1"/>
              <a:t>SYSTEMS</a:t>
            </a:r>
            <a:br>
              <a:rPr lang="en-US" sz="7200" b="1"/>
            </a:br>
            <a:r>
              <a:rPr lang="en-US" sz="7200" b="1"/>
              <a:t>ANALYSIS AND DESIGN</a:t>
            </a:r>
            <a:endParaRPr/>
          </a:p>
        </p:txBody>
      </p:sp>
      <p:sp>
        <p:nvSpPr>
          <p:cNvPr id="175" name="Google Shape;175;p1"/>
          <p:cNvSpPr txBox="1">
            <a:spLocks noGrp="1"/>
          </p:cNvSpPr>
          <p:nvPr>
            <p:ph type="subTitle" idx="1"/>
          </p:nvPr>
        </p:nvSpPr>
        <p:spPr>
          <a:xfrm>
            <a:off x="863600" y="3856038"/>
            <a:ext cx="10477500" cy="165576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400"/>
              <a:buNone/>
            </a:pPr>
            <a:r>
              <a:rPr lang="en-US" b="1"/>
              <a:t>Nguyen Thanh Binh, Nguyen Quang Vu, Le Viet Truong, Nguyen Thi Hanh, Vo Van Luong, Le Thi Bich Tra</a:t>
            </a:r>
            <a:endParaRPr b="1"/>
          </a:p>
          <a:p>
            <a:pPr marL="0" lvl="0" indent="0" algn="l" rtl="0">
              <a:lnSpc>
                <a:spcPct val="100000"/>
              </a:lnSpc>
              <a:spcBef>
                <a:spcPts val="1000"/>
              </a:spcBef>
              <a:spcAft>
                <a:spcPts val="0"/>
              </a:spcAft>
              <a:buClr>
                <a:schemeClr val="dk1"/>
              </a:buClr>
              <a:buSzPts val="2400"/>
              <a:buNone/>
            </a:pPr>
            <a:r>
              <a:rPr lang="en-US" b="1"/>
              <a:t>Faculty of Computer Science</a:t>
            </a:r>
            <a:endParaRPr/>
          </a:p>
          <a:p>
            <a:pPr marL="0" lvl="0" indent="0" algn="ctr" rtl="0">
              <a:lnSpc>
                <a:spcPct val="90000"/>
              </a:lnSpc>
              <a:spcBef>
                <a:spcPts val="100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
          <p:cNvSpPr txBox="1">
            <a:spLocks noGrp="1"/>
          </p:cNvSpPr>
          <p:nvPr>
            <p:ph type="title"/>
          </p:nvPr>
        </p:nvSpPr>
        <p:spPr>
          <a:xfrm>
            <a:off x="831850" y="1265238"/>
            <a:ext cx="10515600" cy="1655761"/>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800"/>
              <a:buFont typeface="Arial"/>
              <a:buNone/>
            </a:pPr>
            <a:r>
              <a:rPr lang="en-US"/>
              <a:t>Architectural &amp; Deployment modelling</a:t>
            </a:r>
            <a:endParaRPr b="1"/>
          </a:p>
        </p:txBody>
      </p:sp>
      <p:sp>
        <p:nvSpPr>
          <p:cNvPr id="181" name="Google Shape;181;p2"/>
          <p:cNvSpPr txBox="1">
            <a:spLocks noGrp="1"/>
          </p:cNvSpPr>
          <p:nvPr>
            <p:ph type="body" idx="4294967295"/>
          </p:nvPr>
        </p:nvSpPr>
        <p:spPr>
          <a:xfrm>
            <a:off x="831850" y="3327400"/>
            <a:ext cx="10515600" cy="317499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Package diagrams</a:t>
            </a:r>
            <a:endParaRPr/>
          </a:p>
          <a:p>
            <a:pPr marL="228600" lvl="0" indent="-228600" algn="l" rtl="0">
              <a:lnSpc>
                <a:spcPct val="90000"/>
              </a:lnSpc>
              <a:spcBef>
                <a:spcPts val="1000"/>
              </a:spcBef>
              <a:spcAft>
                <a:spcPts val="0"/>
              </a:spcAft>
              <a:buClr>
                <a:schemeClr val="dk1"/>
              </a:buClr>
              <a:buSzPts val="2400"/>
              <a:buChar char="•"/>
            </a:pPr>
            <a:r>
              <a:rPr lang="en-US" sz="2400"/>
              <a:t>Component diagrams</a:t>
            </a:r>
            <a:endParaRPr/>
          </a:p>
          <a:p>
            <a:pPr marL="228600" lvl="0" indent="-228600" algn="l" rtl="0">
              <a:lnSpc>
                <a:spcPct val="90000"/>
              </a:lnSpc>
              <a:spcBef>
                <a:spcPts val="1000"/>
              </a:spcBef>
              <a:spcAft>
                <a:spcPts val="0"/>
              </a:spcAft>
              <a:buClr>
                <a:schemeClr val="dk1"/>
              </a:buClr>
              <a:buSzPts val="2400"/>
              <a:buChar char="•"/>
            </a:pPr>
            <a:r>
              <a:rPr lang="en-US" sz="2400"/>
              <a:t>Deployment diagrams</a:t>
            </a:r>
            <a:endParaRPr/>
          </a:p>
          <a:p>
            <a:pPr marL="228600" lvl="0" indent="-76200" algn="l" rtl="0">
              <a:lnSpc>
                <a:spcPct val="90000"/>
              </a:lnSpc>
              <a:spcBef>
                <a:spcPts val="1000"/>
              </a:spcBef>
              <a:spcAft>
                <a:spcPts val="0"/>
              </a:spcAft>
              <a:buClr>
                <a:schemeClr val="dk1"/>
              </a:buClr>
              <a:buSzPts val="2400"/>
              <a:buNone/>
            </a:pPr>
            <a:endParaRPr sz="2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3</a:t>
            </a:fld>
            <a:endParaRPr sz="1800">
              <a:solidFill>
                <a:srgbClr val="CC0000"/>
              </a:solidFill>
            </a:endParaRPr>
          </a:p>
        </p:txBody>
      </p:sp>
      <p:sp>
        <p:nvSpPr>
          <p:cNvPr id="187" name="Google Shape;187;p3"/>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Views</a:t>
            </a:r>
            <a:endParaRPr sz="2700" b="1"/>
          </a:p>
        </p:txBody>
      </p:sp>
      <p:sp>
        <p:nvSpPr>
          <p:cNvPr id="188" name="Google Shape;188;p3"/>
          <p:cNvSpPr txBox="1">
            <a:spLocks noGrp="1"/>
          </p:cNvSpPr>
          <p:nvPr>
            <p:ph type="body" idx="1"/>
          </p:nvPr>
        </p:nvSpPr>
        <p:spPr>
          <a:xfrm>
            <a:off x="564543" y="1447137"/>
            <a:ext cx="10789257" cy="4729826"/>
          </a:xfrm>
          <a:prstGeom prst="rect">
            <a:avLst/>
          </a:prstGeom>
          <a:noFill/>
          <a:ln>
            <a:noFill/>
          </a:ln>
        </p:spPr>
        <p:txBody>
          <a:bodyPr spcFirstLastPara="1" wrap="square" lIns="91425" tIns="45700" rIns="91425" bIns="45700" anchor="t" anchorCtr="0">
            <a:normAutofit/>
          </a:bodyPr>
          <a:lstStyle/>
          <a:p>
            <a:pPr marL="228600" lvl="0" indent="-101600" algn="l" rtl="0">
              <a:lnSpc>
                <a:spcPct val="90000"/>
              </a:lnSpc>
              <a:spcBef>
                <a:spcPts val="0"/>
              </a:spcBef>
              <a:spcAft>
                <a:spcPts val="0"/>
              </a:spcAft>
              <a:buClr>
                <a:schemeClr val="dk1"/>
              </a:buClr>
              <a:buSzPts val="2000"/>
              <a:buNone/>
            </a:pPr>
            <a:endParaRPr sz="2000"/>
          </a:p>
        </p:txBody>
      </p:sp>
      <p:grpSp>
        <p:nvGrpSpPr>
          <p:cNvPr id="189" name="Google Shape;189;p3"/>
          <p:cNvGrpSpPr/>
          <p:nvPr/>
        </p:nvGrpSpPr>
        <p:grpSpPr>
          <a:xfrm>
            <a:off x="2384194" y="1917700"/>
            <a:ext cx="6886280" cy="3426029"/>
            <a:chOff x="-1" y="0"/>
            <a:chExt cx="7345364" cy="4103688"/>
          </a:xfrm>
        </p:grpSpPr>
        <p:sp>
          <p:nvSpPr>
            <p:cNvPr id="190" name="Google Shape;190;p3"/>
            <p:cNvSpPr/>
            <p:nvPr/>
          </p:nvSpPr>
          <p:spPr>
            <a:xfrm>
              <a:off x="-1" y="0"/>
              <a:ext cx="7345364" cy="4103688"/>
            </a:xfrm>
            <a:custGeom>
              <a:avLst/>
              <a:gdLst/>
              <a:ahLst/>
              <a:cxnLst/>
              <a:rect l="l" t="t"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9525"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91" name="Google Shape;191;p3"/>
            <p:cNvSpPr/>
            <p:nvPr/>
          </p:nvSpPr>
          <p:spPr>
            <a:xfrm>
              <a:off x="2344737" y="1344612"/>
              <a:ext cx="2705101" cy="1055688"/>
            </a:xfrm>
            <a:custGeom>
              <a:avLst/>
              <a:gdLst/>
              <a:ahLst/>
              <a:cxnLst/>
              <a:rect l="l" t="t"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9525"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192" name="Google Shape;192;p3"/>
            <p:cNvCxnSpPr/>
            <p:nvPr/>
          </p:nvCxnSpPr>
          <p:spPr>
            <a:xfrm>
              <a:off x="3697287" y="0"/>
              <a:ext cx="1589" cy="1344613"/>
            </a:xfrm>
            <a:prstGeom prst="straightConnector1">
              <a:avLst/>
            </a:prstGeom>
            <a:noFill/>
            <a:ln w="9525" cap="flat" cmpd="sng">
              <a:solidFill>
                <a:srgbClr val="000000"/>
              </a:solidFill>
              <a:prstDash val="solid"/>
              <a:miter lim="800000"/>
              <a:headEnd type="none" w="sm" len="sm"/>
              <a:tailEnd type="none" w="sm" len="sm"/>
            </a:ln>
          </p:spPr>
        </p:cxnSp>
        <p:cxnSp>
          <p:nvCxnSpPr>
            <p:cNvPr id="193" name="Google Shape;193;p3"/>
            <p:cNvCxnSpPr/>
            <p:nvPr/>
          </p:nvCxnSpPr>
          <p:spPr>
            <a:xfrm flipH="1">
              <a:off x="3673475" y="2400299"/>
              <a:ext cx="23813" cy="1703389"/>
            </a:xfrm>
            <a:prstGeom prst="straightConnector1">
              <a:avLst/>
            </a:prstGeom>
            <a:noFill/>
            <a:ln w="9525" cap="flat" cmpd="sng">
              <a:solidFill>
                <a:srgbClr val="000000"/>
              </a:solidFill>
              <a:prstDash val="solid"/>
              <a:miter lim="800000"/>
              <a:headEnd type="none" w="sm" len="sm"/>
              <a:tailEnd type="none" w="sm" len="sm"/>
            </a:ln>
          </p:spPr>
        </p:cxnSp>
        <p:sp>
          <p:nvSpPr>
            <p:cNvPr id="194" name="Google Shape;194;p3"/>
            <p:cNvSpPr/>
            <p:nvPr/>
          </p:nvSpPr>
          <p:spPr>
            <a:xfrm>
              <a:off x="1911289" y="477837"/>
              <a:ext cx="1739961" cy="1094313"/>
            </a:xfrm>
            <a:prstGeom prst="rect">
              <a:avLst/>
            </a:prstGeom>
            <a:noFill/>
            <a:ln>
              <a:noFill/>
            </a:ln>
          </p:spPr>
          <p:txBody>
            <a:bodyPr spcFirstLastPara="1" wrap="square" lIns="45700" tIns="45700" rIns="45700" bIns="45700" anchor="t" anchorCtr="0">
              <a:spAutoFit/>
            </a:bodyPr>
            <a:lstStyle/>
            <a:p>
              <a:pPr marL="0" marR="0" lvl="0" indent="0" algn="r" rtl="0">
                <a:spcBef>
                  <a:spcPts val="0"/>
                </a:spcBef>
                <a:spcAft>
                  <a:spcPts val="0"/>
                </a:spcAft>
                <a:buNone/>
              </a:pPr>
              <a:r>
                <a:rPr lang="en-US" sz="1800" b="0" i="0" u="none" strike="noStrike" cap="none">
                  <a:solidFill>
                    <a:schemeClr val="dk1"/>
                  </a:solidFill>
                  <a:latin typeface="Verdana"/>
                  <a:ea typeface="Verdana"/>
                  <a:cs typeface="Verdana"/>
                  <a:sym typeface="Verdana"/>
                </a:rPr>
                <a:t>Static view</a:t>
              </a:r>
              <a:endParaRPr/>
            </a:p>
            <a:p>
              <a:pPr marL="0" marR="0" lvl="0" indent="0" algn="r" rtl="0">
                <a:spcBef>
                  <a:spcPts val="0"/>
                </a:spcBef>
                <a:spcAft>
                  <a:spcPts val="0"/>
                </a:spcAft>
                <a:buNone/>
              </a:pPr>
              <a:r>
                <a:rPr lang="en-US" sz="1300" b="1" i="0" u="none" strike="noStrike" cap="none">
                  <a:solidFill>
                    <a:schemeClr val="dk1"/>
                  </a:solidFill>
                  <a:latin typeface="Verdana"/>
                  <a:ea typeface="Verdana"/>
                  <a:cs typeface="Verdana"/>
                  <a:sym typeface="Verdana"/>
                </a:rPr>
                <a:t>Class diagrams</a:t>
              </a:r>
              <a:endParaRPr/>
            </a:p>
            <a:p>
              <a:pPr marL="0" marR="0" lvl="0" indent="0" algn="r" rtl="0">
                <a:spcBef>
                  <a:spcPts val="0"/>
                </a:spcBef>
                <a:spcAft>
                  <a:spcPts val="0"/>
                </a:spcAft>
                <a:buNone/>
              </a:pPr>
              <a:r>
                <a:rPr lang="en-US" sz="1300" b="1" i="0" u="none" strike="noStrike" cap="none">
                  <a:solidFill>
                    <a:schemeClr val="dk1"/>
                  </a:solidFill>
                  <a:latin typeface="Verdana"/>
                  <a:ea typeface="Verdana"/>
                  <a:cs typeface="Verdana"/>
                  <a:sym typeface="Verdana"/>
                </a:rPr>
                <a:t>Object diagrams</a:t>
              </a:r>
              <a:endParaRPr/>
            </a:p>
          </p:txBody>
        </p:sp>
        <p:sp>
          <p:nvSpPr>
            <p:cNvPr id="195" name="Google Shape;195;p3"/>
            <p:cNvSpPr/>
            <p:nvPr/>
          </p:nvSpPr>
          <p:spPr>
            <a:xfrm>
              <a:off x="3673475" y="2412999"/>
              <a:ext cx="2292249" cy="809792"/>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Verdana"/>
                  <a:ea typeface="Verdana"/>
                  <a:cs typeface="Verdana"/>
                  <a:sym typeface="Verdana"/>
                </a:rPr>
                <a:t>Deployment view</a:t>
              </a:r>
              <a:endParaRPr/>
            </a:p>
            <a:p>
              <a:pPr marL="0" marR="0" lvl="0" indent="0" algn="l" rtl="0">
                <a:spcBef>
                  <a:spcPts val="0"/>
                </a:spcBef>
                <a:spcAft>
                  <a:spcPts val="0"/>
                </a:spcAft>
                <a:buNone/>
              </a:pPr>
              <a:r>
                <a:rPr lang="en-US" sz="1300" b="1" i="0" u="none" strike="noStrike" cap="none">
                  <a:solidFill>
                    <a:schemeClr val="dk1"/>
                  </a:solidFill>
                  <a:latin typeface="Verdana"/>
                  <a:ea typeface="Verdana"/>
                  <a:cs typeface="Verdana"/>
                  <a:sym typeface="Verdana"/>
                </a:rPr>
                <a:t>Deployment diagrams</a:t>
              </a:r>
              <a:endParaRPr/>
            </a:p>
          </p:txBody>
        </p:sp>
        <p:sp>
          <p:nvSpPr>
            <p:cNvPr id="196" name="Google Shape;196;p3"/>
            <p:cNvSpPr/>
            <p:nvPr/>
          </p:nvSpPr>
          <p:spPr>
            <a:xfrm>
              <a:off x="1424957" y="2392362"/>
              <a:ext cx="2213594" cy="1378835"/>
            </a:xfrm>
            <a:prstGeom prst="rect">
              <a:avLst/>
            </a:prstGeom>
            <a:noFill/>
            <a:ln>
              <a:noFill/>
            </a:ln>
          </p:spPr>
          <p:txBody>
            <a:bodyPr spcFirstLastPara="1" wrap="square" lIns="45700" tIns="45700" rIns="45700" bIns="45700" anchor="t" anchorCtr="0">
              <a:spAutoFit/>
            </a:bodyPr>
            <a:lstStyle/>
            <a:p>
              <a:pPr marL="0" marR="0" lvl="0" indent="0" algn="r" rtl="0">
                <a:spcBef>
                  <a:spcPts val="0"/>
                </a:spcBef>
                <a:spcAft>
                  <a:spcPts val="0"/>
                </a:spcAft>
                <a:buNone/>
              </a:pPr>
              <a:r>
                <a:rPr lang="en-US" sz="1800" b="0" i="0" u="none" strike="noStrike" cap="none">
                  <a:solidFill>
                    <a:schemeClr val="dk1"/>
                  </a:solidFill>
                  <a:latin typeface="Verdana"/>
                  <a:ea typeface="Verdana"/>
                  <a:cs typeface="Verdana"/>
                  <a:sym typeface="Verdana"/>
                </a:rPr>
                <a:t>Dynamic view</a:t>
              </a:r>
              <a:endParaRPr/>
            </a:p>
            <a:p>
              <a:pPr marL="0" marR="0" lvl="0" indent="0" algn="r" rtl="0">
                <a:spcBef>
                  <a:spcPts val="0"/>
                </a:spcBef>
                <a:spcAft>
                  <a:spcPts val="0"/>
                </a:spcAft>
                <a:buNone/>
              </a:pPr>
              <a:r>
                <a:rPr lang="en-US" sz="1300" b="1" i="0" u="none" strike="noStrike" cap="none">
                  <a:solidFill>
                    <a:schemeClr val="dk1"/>
                  </a:solidFill>
                  <a:latin typeface="Verdana"/>
                  <a:ea typeface="Verdana"/>
                  <a:cs typeface="Verdana"/>
                  <a:sym typeface="Verdana"/>
                </a:rPr>
                <a:t>Interaction diagrams</a:t>
              </a:r>
              <a:endParaRPr/>
            </a:p>
            <a:p>
              <a:pPr marL="0" marR="0" lvl="0" indent="0" algn="r" rtl="0">
                <a:spcBef>
                  <a:spcPts val="0"/>
                </a:spcBef>
                <a:spcAft>
                  <a:spcPts val="0"/>
                </a:spcAft>
                <a:buNone/>
              </a:pPr>
              <a:r>
                <a:rPr lang="en-US" sz="1300" b="1" i="0" u="none" strike="noStrike" cap="none">
                  <a:solidFill>
                    <a:schemeClr val="dk1"/>
                  </a:solidFill>
                  <a:latin typeface="Verdana"/>
                  <a:ea typeface="Verdana"/>
                  <a:cs typeface="Verdana"/>
                  <a:sym typeface="Verdana"/>
                </a:rPr>
                <a:t>State diagrams</a:t>
              </a:r>
              <a:endParaRPr/>
            </a:p>
            <a:p>
              <a:pPr marL="0" marR="0" lvl="0" indent="0" algn="r" rtl="0">
                <a:spcBef>
                  <a:spcPts val="0"/>
                </a:spcBef>
                <a:spcAft>
                  <a:spcPts val="0"/>
                </a:spcAft>
                <a:buNone/>
              </a:pPr>
              <a:r>
                <a:rPr lang="en-US" sz="1300" b="1" i="0" u="none" strike="noStrike" cap="none">
                  <a:solidFill>
                    <a:schemeClr val="dk1"/>
                  </a:solidFill>
                  <a:latin typeface="Verdana"/>
                  <a:ea typeface="Verdana"/>
                  <a:cs typeface="Verdana"/>
                  <a:sym typeface="Verdana"/>
                </a:rPr>
                <a:t>Activity diagrams</a:t>
              </a:r>
              <a:endParaRPr/>
            </a:p>
          </p:txBody>
        </p:sp>
        <p:sp>
          <p:nvSpPr>
            <p:cNvPr id="197" name="Google Shape;197;p3"/>
            <p:cNvSpPr/>
            <p:nvPr/>
          </p:nvSpPr>
          <p:spPr>
            <a:xfrm>
              <a:off x="2749318" y="1511300"/>
              <a:ext cx="1989602" cy="809792"/>
            </a:xfrm>
            <a:prstGeom prst="rect">
              <a:avLst/>
            </a:prstGeom>
            <a:noFill/>
            <a:ln>
              <a:noFill/>
            </a:ln>
          </p:spPr>
          <p:txBody>
            <a:bodyPr spcFirstLastPara="1" wrap="square" lIns="45700" tIns="45700" rIns="45700"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Verdana"/>
                  <a:ea typeface="Verdana"/>
                  <a:cs typeface="Verdana"/>
                  <a:sym typeface="Verdana"/>
                </a:rPr>
                <a:t>Users view</a:t>
              </a:r>
              <a:endParaRPr/>
            </a:p>
            <a:p>
              <a:pPr marL="0" marR="0" lvl="0" indent="0" algn="ctr" rtl="0">
                <a:spcBef>
                  <a:spcPts val="0"/>
                </a:spcBef>
                <a:spcAft>
                  <a:spcPts val="0"/>
                </a:spcAft>
                <a:buNone/>
              </a:pPr>
              <a:r>
                <a:rPr lang="en-US" sz="1300" b="1" i="0" u="none" strike="noStrike" cap="none">
                  <a:solidFill>
                    <a:schemeClr val="dk1"/>
                  </a:solidFill>
                  <a:latin typeface="Verdana"/>
                  <a:ea typeface="Verdana"/>
                  <a:cs typeface="Verdana"/>
                  <a:sym typeface="Verdana"/>
                </a:rPr>
                <a:t>Use-case diagrams</a:t>
              </a:r>
              <a:endParaRPr/>
            </a:p>
          </p:txBody>
        </p:sp>
        <p:sp>
          <p:nvSpPr>
            <p:cNvPr id="198" name="Google Shape;198;p3"/>
            <p:cNvSpPr/>
            <p:nvPr/>
          </p:nvSpPr>
          <p:spPr>
            <a:xfrm>
              <a:off x="3744912" y="496887"/>
              <a:ext cx="2313589" cy="1094313"/>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Verdana"/>
                  <a:ea typeface="Verdana"/>
                  <a:cs typeface="Verdana"/>
                  <a:sym typeface="Verdana"/>
                </a:rPr>
                <a:t>Architectural view</a:t>
              </a:r>
              <a:endParaRPr/>
            </a:p>
            <a:p>
              <a:pPr marL="0" marR="0" lvl="0" indent="0" algn="l" rtl="0">
                <a:spcBef>
                  <a:spcPts val="0"/>
                </a:spcBef>
                <a:spcAft>
                  <a:spcPts val="0"/>
                </a:spcAft>
                <a:buNone/>
              </a:pPr>
              <a:r>
                <a:rPr lang="en-US" sz="1300" b="1" i="0" u="none" strike="noStrike" cap="none">
                  <a:solidFill>
                    <a:schemeClr val="dk1"/>
                  </a:solidFill>
                  <a:latin typeface="Verdana"/>
                  <a:ea typeface="Verdana"/>
                  <a:cs typeface="Verdana"/>
                  <a:sym typeface="Verdana"/>
                </a:rPr>
                <a:t>Package diagrams</a:t>
              </a:r>
              <a:endParaRPr sz="1800" b="1" i="0" u="none" strike="noStrike" cap="none">
                <a:solidFill>
                  <a:schemeClr val="dk1"/>
                </a:solidFill>
                <a:latin typeface="Verdana"/>
                <a:ea typeface="Verdana"/>
                <a:cs typeface="Verdana"/>
                <a:sym typeface="Verdana"/>
              </a:endParaRPr>
            </a:p>
            <a:p>
              <a:pPr marL="0" marR="0" lvl="0" indent="0" algn="l" rtl="0">
                <a:spcBef>
                  <a:spcPts val="0"/>
                </a:spcBef>
                <a:spcAft>
                  <a:spcPts val="0"/>
                </a:spcAft>
                <a:buNone/>
              </a:pPr>
              <a:r>
                <a:rPr lang="en-US" sz="1300" b="1" i="0" u="none" strike="noStrike" cap="none">
                  <a:solidFill>
                    <a:schemeClr val="dk1"/>
                  </a:solidFill>
                  <a:latin typeface="Verdana"/>
                  <a:ea typeface="Verdana"/>
                  <a:cs typeface="Verdana"/>
                  <a:sym typeface="Verdana"/>
                </a:rPr>
                <a:t>Component diagrams</a:t>
              </a:r>
              <a:endParaRPr/>
            </a:p>
          </p:txBody>
        </p:sp>
        <p:cxnSp>
          <p:nvCxnSpPr>
            <p:cNvPr id="199" name="Google Shape;199;p3"/>
            <p:cNvCxnSpPr/>
            <p:nvPr/>
          </p:nvCxnSpPr>
          <p:spPr>
            <a:xfrm>
              <a:off x="15875" y="1914525"/>
              <a:ext cx="2305050" cy="0"/>
            </a:xfrm>
            <a:prstGeom prst="straightConnector1">
              <a:avLst/>
            </a:prstGeom>
            <a:noFill/>
            <a:ln w="9525" cap="flat" cmpd="sng">
              <a:solidFill>
                <a:srgbClr val="000000"/>
              </a:solidFill>
              <a:prstDash val="solid"/>
              <a:round/>
              <a:headEnd type="none" w="sm" len="sm"/>
              <a:tailEnd type="none" w="sm" len="sm"/>
            </a:ln>
          </p:spPr>
        </p:cxnSp>
        <p:cxnSp>
          <p:nvCxnSpPr>
            <p:cNvPr id="200" name="Google Shape;200;p3"/>
            <p:cNvCxnSpPr/>
            <p:nvPr/>
          </p:nvCxnSpPr>
          <p:spPr>
            <a:xfrm>
              <a:off x="5041900" y="1943100"/>
              <a:ext cx="2303463" cy="0"/>
            </a:xfrm>
            <a:prstGeom prst="straightConnector1">
              <a:avLst/>
            </a:prstGeom>
            <a:noFill/>
            <a:ln w="9525" cap="flat" cmpd="sng">
              <a:solidFill>
                <a:srgbClr val="000000"/>
              </a:solidFill>
              <a:prstDash val="solid"/>
              <a:round/>
              <a:headEnd type="none" w="sm" len="sm"/>
              <a:tailEnd type="none" w="sm" len="sm"/>
            </a:ln>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4"/>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4</a:t>
            </a:fld>
            <a:endParaRPr sz="1800">
              <a:solidFill>
                <a:srgbClr val="CC0000"/>
              </a:solidFill>
            </a:endParaRPr>
          </a:p>
        </p:txBody>
      </p:sp>
      <p:sp>
        <p:nvSpPr>
          <p:cNvPr id="206" name="Google Shape;206;p4"/>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Package diagrams</a:t>
            </a:r>
            <a:endParaRPr/>
          </a:p>
        </p:txBody>
      </p:sp>
      <p:sp>
        <p:nvSpPr>
          <p:cNvPr id="207" name="Google Shape;207;p4"/>
          <p:cNvSpPr txBox="1">
            <a:spLocks noGrp="1"/>
          </p:cNvSpPr>
          <p:nvPr>
            <p:ph type="body" idx="1"/>
          </p:nvPr>
        </p:nvSpPr>
        <p:spPr>
          <a:xfrm>
            <a:off x="348643" y="1294736"/>
            <a:ext cx="10789257" cy="50806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A package allows to group related elements</a:t>
            </a:r>
            <a:endParaRPr/>
          </a:p>
          <a:p>
            <a:pPr marL="992565" lvl="1" indent="-597931" algn="l" rtl="0">
              <a:lnSpc>
                <a:spcPct val="90000"/>
              </a:lnSpc>
              <a:spcBef>
                <a:spcPts val="500"/>
              </a:spcBef>
              <a:spcAft>
                <a:spcPts val="0"/>
              </a:spcAft>
              <a:buClr>
                <a:schemeClr val="dk1"/>
              </a:buClr>
              <a:buSzPts val="2000"/>
              <a:buChar char="•"/>
            </a:pPr>
            <a:r>
              <a:rPr lang="en-US" sz="2000"/>
              <a:t>Several related classes are grouped together into a package</a:t>
            </a:r>
            <a:endParaRPr/>
          </a:p>
          <a:p>
            <a:pPr marL="992565" lvl="1" indent="-597931" algn="l" rtl="0">
              <a:lnSpc>
                <a:spcPct val="90000"/>
              </a:lnSpc>
              <a:spcBef>
                <a:spcPts val="500"/>
              </a:spcBef>
              <a:spcAft>
                <a:spcPts val="0"/>
              </a:spcAft>
              <a:buClr>
                <a:schemeClr val="dk1"/>
              </a:buClr>
              <a:buSzPts val="2000"/>
              <a:buChar char="•"/>
            </a:pPr>
            <a:r>
              <a:rPr lang="en-US" sz="2000"/>
              <a:t>Several related packages are grouped into another package</a:t>
            </a:r>
            <a:endParaRPr/>
          </a:p>
          <a:p>
            <a:pPr marL="228600" lvl="0" indent="-228600" algn="l" rtl="0">
              <a:lnSpc>
                <a:spcPct val="90000"/>
              </a:lnSpc>
              <a:spcBef>
                <a:spcPts val="1000"/>
              </a:spcBef>
              <a:spcAft>
                <a:spcPts val="0"/>
              </a:spcAft>
              <a:buClr>
                <a:schemeClr val="dk1"/>
              </a:buClr>
              <a:buSzPts val="2000"/>
              <a:buChar char="•"/>
            </a:pPr>
            <a:r>
              <a:rPr lang="en-US" sz="2000"/>
              <a:t>Notation</a:t>
            </a:r>
            <a:endParaRPr/>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1000"/>
              </a:spcBef>
              <a:spcAft>
                <a:spcPts val="0"/>
              </a:spcAft>
              <a:buClr>
                <a:schemeClr val="dk1"/>
              </a:buClr>
              <a:buSzPts val="2000"/>
              <a:buChar char="•"/>
            </a:pPr>
            <a:r>
              <a:rPr lang="en-US" sz="2000"/>
              <a:t>Dependency</a:t>
            </a:r>
            <a:endParaRPr sz="2000"/>
          </a:p>
          <a:p>
            <a:pPr marL="992565" lvl="1" indent="-597931" algn="l" rtl="0">
              <a:lnSpc>
                <a:spcPct val="90000"/>
              </a:lnSpc>
              <a:spcBef>
                <a:spcPts val="500"/>
              </a:spcBef>
              <a:spcAft>
                <a:spcPts val="0"/>
              </a:spcAft>
              <a:buClr>
                <a:schemeClr val="dk1"/>
              </a:buClr>
              <a:buSzPts val="2000"/>
              <a:buChar char="•"/>
            </a:pPr>
            <a:r>
              <a:rPr lang="en-US" sz="2000"/>
              <a:t>A package may depend on another package</a:t>
            </a:r>
            <a:endParaRPr/>
          </a:p>
          <a:p>
            <a:pPr marL="1328548" lvl="2" indent="-567179" algn="l" rtl="0">
              <a:lnSpc>
                <a:spcPct val="90000"/>
              </a:lnSpc>
              <a:spcBef>
                <a:spcPts val="500"/>
              </a:spcBef>
              <a:spcAft>
                <a:spcPts val="0"/>
              </a:spcAft>
              <a:buClr>
                <a:schemeClr val="dk1"/>
              </a:buClr>
              <a:buSzPts val="1800"/>
              <a:buChar char="•"/>
            </a:pPr>
            <a:r>
              <a:rPr lang="en-US"/>
              <a:t>For example, a package refers to an element of another package</a:t>
            </a:r>
            <a:endParaRPr/>
          </a:p>
          <a:p>
            <a:pPr marL="992565" lvl="1" indent="-597931" algn="l" rtl="0">
              <a:lnSpc>
                <a:spcPct val="90000"/>
              </a:lnSpc>
              <a:spcBef>
                <a:spcPts val="500"/>
              </a:spcBef>
              <a:spcAft>
                <a:spcPts val="0"/>
              </a:spcAft>
              <a:buClr>
                <a:schemeClr val="dk1"/>
              </a:buClr>
              <a:buSzPts val="2000"/>
              <a:buChar char="•"/>
            </a:pPr>
            <a:r>
              <a:rPr lang="en-US" sz="2000"/>
              <a:t>Notation</a:t>
            </a:r>
            <a:endParaRPr/>
          </a:p>
        </p:txBody>
      </p:sp>
      <p:grpSp>
        <p:nvGrpSpPr>
          <p:cNvPr id="208" name="Google Shape;208;p4"/>
          <p:cNvGrpSpPr/>
          <p:nvPr/>
        </p:nvGrpSpPr>
        <p:grpSpPr>
          <a:xfrm>
            <a:off x="3006823" y="2702554"/>
            <a:ext cx="5670353" cy="779116"/>
            <a:chOff x="0" y="0"/>
            <a:chExt cx="6048375" cy="1108075"/>
          </a:xfrm>
        </p:grpSpPr>
        <p:pic>
          <p:nvPicPr>
            <p:cNvPr id="209" name="Google Shape;209;p4"/>
            <p:cNvPicPr preferRelativeResize="0"/>
            <p:nvPr/>
          </p:nvPicPr>
          <p:blipFill rotWithShape="1">
            <a:blip r:embed="rId3">
              <a:alphaModFix/>
            </a:blip>
            <a:srcRect/>
            <a:stretch/>
          </p:blipFill>
          <p:spPr>
            <a:xfrm>
              <a:off x="0" y="0"/>
              <a:ext cx="6048375" cy="1108075"/>
            </a:xfrm>
            <a:prstGeom prst="rect">
              <a:avLst/>
            </a:prstGeom>
            <a:noFill/>
            <a:ln>
              <a:noFill/>
            </a:ln>
          </p:spPr>
        </p:pic>
        <p:grpSp>
          <p:nvGrpSpPr>
            <p:cNvPr id="210" name="Google Shape;210;p4"/>
            <p:cNvGrpSpPr/>
            <p:nvPr/>
          </p:nvGrpSpPr>
          <p:grpSpPr>
            <a:xfrm>
              <a:off x="4534576" y="320738"/>
              <a:ext cx="1270384" cy="466600"/>
              <a:chOff x="0" y="0"/>
              <a:chExt cx="1270382" cy="466598"/>
            </a:xfrm>
          </p:grpSpPr>
          <p:sp>
            <p:nvSpPr>
              <p:cNvPr id="211" name="Google Shape;211;p4"/>
              <p:cNvSpPr/>
              <p:nvPr/>
            </p:nvSpPr>
            <p:spPr>
              <a:xfrm>
                <a:off x="381" y="0"/>
                <a:ext cx="1270001" cy="466598"/>
              </a:xfrm>
              <a:prstGeom prst="rect">
                <a:avLst/>
              </a:prstGeom>
              <a:solidFill>
                <a:srgbClr val="FFFFFF"/>
              </a:solid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12" name="Google Shape;212;p4"/>
              <p:cNvSpPr/>
              <p:nvPr/>
            </p:nvSpPr>
            <p:spPr>
              <a:xfrm>
                <a:off x="0" y="47266"/>
                <a:ext cx="932836" cy="372065"/>
              </a:xfrm>
              <a:prstGeom prst="rect">
                <a:avLst/>
              </a:prstGeom>
              <a:solidFill>
                <a:srgbClr val="FFFFFF"/>
              </a:solid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700" b="0" i="0" u="none" strike="noStrike" cap="none">
                    <a:solidFill>
                      <a:schemeClr val="dk1"/>
                    </a:solidFill>
                    <a:latin typeface="Arial"/>
                    <a:ea typeface="Arial"/>
                    <a:cs typeface="Arial"/>
                    <a:sym typeface="Arial"/>
                  </a:rPr>
                  <a:t>a package</a:t>
                </a:r>
                <a:endParaRPr/>
              </a:p>
            </p:txBody>
          </p:sp>
        </p:grpSp>
      </p:grpSp>
      <p:grpSp>
        <p:nvGrpSpPr>
          <p:cNvPr id="213" name="Google Shape;213;p4"/>
          <p:cNvGrpSpPr/>
          <p:nvPr/>
        </p:nvGrpSpPr>
        <p:grpSpPr>
          <a:xfrm>
            <a:off x="3336230" y="4571205"/>
            <a:ext cx="5265540" cy="1618507"/>
            <a:chOff x="0" y="0"/>
            <a:chExt cx="5616575" cy="2301875"/>
          </a:xfrm>
        </p:grpSpPr>
        <p:pic>
          <p:nvPicPr>
            <p:cNvPr id="214" name="Google Shape;214;p4"/>
            <p:cNvPicPr preferRelativeResize="0"/>
            <p:nvPr/>
          </p:nvPicPr>
          <p:blipFill rotWithShape="1">
            <a:blip r:embed="rId4">
              <a:alphaModFix/>
            </a:blip>
            <a:srcRect/>
            <a:stretch/>
          </p:blipFill>
          <p:spPr>
            <a:xfrm>
              <a:off x="0" y="0"/>
              <a:ext cx="5616575" cy="2301875"/>
            </a:xfrm>
            <a:prstGeom prst="rect">
              <a:avLst/>
            </a:prstGeom>
            <a:noFill/>
            <a:ln>
              <a:noFill/>
            </a:ln>
          </p:spPr>
        </p:pic>
        <p:sp>
          <p:nvSpPr>
            <p:cNvPr id="215" name="Google Shape;215;p4"/>
            <p:cNvSpPr/>
            <p:nvPr/>
          </p:nvSpPr>
          <p:spPr>
            <a:xfrm>
              <a:off x="3993239" y="249984"/>
              <a:ext cx="1325150" cy="372067"/>
            </a:xfrm>
            <a:prstGeom prst="rect">
              <a:avLst/>
            </a:prstGeom>
            <a:solidFill>
              <a:srgbClr val="FFFFFF"/>
            </a:solid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700" b="0" i="0" u="none" strike="noStrike" cap="none">
                  <a:solidFill>
                    <a:schemeClr val="dk1"/>
                  </a:solidFill>
                  <a:latin typeface="Arial"/>
                  <a:ea typeface="Arial"/>
                  <a:cs typeface="Arial"/>
                  <a:sym typeface="Arial"/>
                </a:rPr>
                <a:t>a dependency</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5"/>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5</a:t>
            </a:fld>
            <a:endParaRPr sz="1800">
              <a:solidFill>
                <a:srgbClr val="CC0000"/>
              </a:solidFill>
            </a:endParaRPr>
          </a:p>
        </p:txBody>
      </p:sp>
      <p:sp>
        <p:nvSpPr>
          <p:cNvPr id="221" name="Google Shape;221;p5"/>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Package diagrams</a:t>
            </a:r>
            <a:endParaRPr/>
          </a:p>
        </p:txBody>
      </p:sp>
      <p:sp>
        <p:nvSpPr>
          <p:cNvPr id="222" name="Google Shape;222;p5"/>
          <p:cNvSpPr txBox="1">
            <a:spLocks noGrp="1"/>
          </p:cNvSpPr>
          <p:nvPr>
            <p:ph type="body" idx="1"/>
          </p:nvPr>
        </p:nvSpPr>
        <p:spPr>
          <a:xfrm>
            <a:off x="564543" y="1447137"/>
            <a:ext cx="10789257"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Example</a:t>
            </a:r>
            <a:endParaRPr/>
          </a:p>
        </p:txBody>
      </p:sp>
      <p:grpSp>
        <p:nvGrpSpPr>
          <p:cNvPr id="223" name="Google Shape;223;p5"/>
          <p:cNvGrpSpPr/>
          <p:nvPr/>
        </p:nvGrpSpPr>
        <p:grpSpPr>
          <a:xfrm>
            <a:off x="3024188" y="2406786"/>
            <a:ext cx="6143626" cy="2184426"/>
            <a:chOff x="-1" y="0"/>
            <a:chExt cx="6553201" cy="3106738"/>
          </a:xfrm>
        </p:grpSpPr>
        <p:sp>
          <p:nvSpPr>
            <p:cNvPr id="224" name="Google Shape;224;p5"/>
            <p:cNvSpPr/>
            <p:nvPr/>
          </p:nvSpPr>
          <p:spPr>
            <a:xfrm>
              <a:off x="2320925" y="363537"/>
              <a:ext cx="4191000" cy="1371601"/>
            </a:xfrm>
            <a:prstGeom prst="rect">
              <a:avLst/>
            </a:prstGeom>
            <a:noFill/>
            <a:ln w="9525" cap="flat" cmpd="sng">
              <a:solidFill>
                <a:srgbClr val="CC3300"/>
              </a:solidFill>
              <a:prstDash val="solid"/>
              <a:round/>
              <a:headEnd type="none" w="sm" len="sm"/>
              <a:tailEnd type="none" w="sm" len="sm"/>
            </a:ln>
          </p:spPr>
          <p:txBody>
            <a:bodyPr spcFirstLastPara="1" wrap="square" lIns="45700" tIns="45700" rIns="45700"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5" name="Google Shape;225;p5"/>
            <p:cNvSpPr/>
            <p:nvPr/>
          </p:nvSpPr>
          <p:spPr>
            <a:xfrm>
              <a:off x="2320925" y="77787"/>
              <a:ext cx="1423988" cy="285751"/>
            </a:xfrm>
            <a:prstGeom prst="rect">
              <a:avLst/>
            </a:prstGeom>
            <a:noFill/>
            <a:ln w="9525" cap="flat" cmpd="sng">
              <a:solidFill>
                <a:srgbClr val="CC3300"/>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6" name="Google Shape;226;p5"/>
            <p:cNvSpPr/>
            <p:nvPr/>
          </p:nvSpPr>
          <p:spPr>
            <a:xfrm>
              <a:off x="2625725" y="757237"/>
              <a:ext cx="1447800" cy="825501"/>
            </a:xfrm>
            <a:prstGeom prst="rect">
              <a:avLst/>
            </a:prstGeom>
            <a:noFill/>
            <a:ln w="9525" cap="flat" cmpd="sng">
              <a:solidFill>
                <a:srgbClr val="CC3300"/>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7" name="Google Shape;227;p5"/>
            <p:cNvSpPr/>
            <p:nvPr/>
          </p:nvSpPr>
          <p:spPr>
            <a:xfrm>
              <a:off x="2625725" y="601662"/>
              <a:ext cx="457200" cy="152401"/>
            </a:xfrm>
            <a:prstGeom prst="rect">
              <a:avLst/>
            </a:prstGeom>
            <a:noFill/>
            <a:ln w="9525" cap="flat" cmpd="sng">
              <a:solidFill>
                <a:srgbClr val="CC3300"/>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8" name="Google Shape;228;p5"/>
            <p:cNvSpPr/>
            <p:nvPr/>
          </p:nvSpPr>
          <p:spPr>
            <a:xfrm>
              <a:off x="4835525" y="757237"/>
              <a:ext cx="1371600" cy="825501"/>
            </a:xfrm>
            <a:prstGeom prst="rect">
              <a:avLst/>
            </a:prstGeom>
            <a:noFill/>
            <a:ln w="9525" cap="flat" cmpd="sng">
              <a:solidFill>
                <a:srgbClr val="CC3300"/>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29" name="Google Shape;229;p5"/>
            <p:cNvSpPr/>
            <p:nvPr/>
          </p:nvSpPr>
          <p:spPr>
            <a:xfrm>
              <a:off x="4835525" y="601662"/>
              <a:ext cx="457200" cy="152401"/>
            </a:xfrm>
            <a:prstGeom prst="rect">
              <a:avLst/>
            </a:prstGeom>
            <a:noFill/>
            <a:ln w="9525" cap="flat" cmpd="sng">
              <a:solidFill>
                <a:srgbClr val="CC3300"/>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0" name="Google Shape;230;p5"/>
            <p:cNvSpPr/>
            <p:nvPr/>
          </p:nvSpPr>
          <p:spPr>
            <a:xfrm>
              <a:off x="4840287" y="2281237"/>
              <a:ext cx="1712913" cy="825501"/>
            </a:xfrm>
            <a:prstGeom prst="rect">
              <a:avLst/>
            </a:prstGeom>
            <a:noFill/>
            <a:ln w="9525" cap="flat" cmpd="sng">
              <a:solidFill>
                <a:srgbClr val="CC3300"/>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1" name="Google Shape;231;p5"/>
            <p:cNvSpPr/>
            <p:nvPr/>
          </p:nvSpPr>
          <p:spPr>
            <a:xfrm>
              <a:off x="4840287" y="2135187"/>
              <a:ext cx="609601" cy="152401"/>
            </a:xfrm>
            <a:prstGeom prst="rect">
              <a:avLst/>
            </a:prstGeom>
            <a:noFill/>
            <a:ln w="9525" cap="flat" cmpd="sng">
              <a:solidFill>
                <a:srgbClr val="CC3300"/>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2" name="Google Shape;232;p5"/>
            <p:cNvSpPr/>
            <p:nvPr/>
          </p:nvSpPr>
          <p:spPr>
            <a:xfrm>
              <a:off x="2778125" y="896937"/>
              <a:ext cx="533400" cy="152401"/>
            </a:xfrm>
            <a:prstGeom prst="rect">
              <a:avLst/>
            </a:prstGeom>
            <a:noFill/>
            <a:ln w="9525" cap="flat" cmpd="sng">
              <a:solidFill>
                <a:srgbClr val="6666FF"/>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3" name="Google Shape;233;p5"/>
            <p:cNvSpPr/>
            <p:nvPr/>
          </p:nvSpPr>
          <p:spPr>
            <a:xfrm>
              <a:off x="2778125" y="1201737"/>
              <a:ext cx="533400" cy="152401"/>
            </a:xfrm>
            <a:prstGeom prst="rect">
              <a:avLst/>
            </a:prstGeom>
            <a:noFill/>
            <a:ln w="9525" cap="flat" cmpd="sng">
              <a:solidFill>
                <a:srgbClr val="6666FF"/>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4" name="Google Shape;234;p5"/>
            <p:cNvSpPr/>
            <p:nvPr/>
          </p:nvSpPr>
          <p:spPr>
            <a:xfrm>
              <a:off x="3463925" y="896937"/>
              <a:ext cx="533400" cy="152401"/>
            </a:xfrm>
            <a:prstGeom prst="rect">
              <a:avLst/>
            </a:prstGeom>
            <a:noFill/>
            <a:ln w="9525" cap="flat" cmpd="sng">
              <a:solidFill>
                <a:srgbClr val="6666FF"/>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235" name="Google Shape;235;p5"/>
            <p:cNvCxnSpPr/>
            <p:nvPr/>
          </p:nvCxnSpPr>
          <p:spPr>
            <a:xfrm>
              <a:off x="4073525" y="1201737"/>
              <a:ext cx="762000" cy="1"/>
            </a:xfrm>
            <a:prstGeom prst="straightConnector1">
              <a:avLst/>
            </a:prstGeom>
            <a:noFill/>
            <a:ln w="9525" cap="flat" cmpd="sng">
              <a:solidFill>
                <a:srgbClr val="000000"/>
              </a:solidFill>
              <a:prstDash val="lgDash"/>
              <a:miter lim="800000"/>
              <a:headEnd type="none" w="sm" len="sm"/>
              <a:tailEnd type="triangle" w="med" len="med"/>
            </a:ln>
          </p:spPr>
        </p:cxnSp>
        <p:cxnSp>
          <p:nvCxnSpPr>
            <p:cNvPr id="236" name="Google Shape;236;p5"/>
            <p:cNvCxnSpPr/>
            <p:nvPr/>
          </p:nvCxnSpPr>
          <p:spPr>
            <a:xfrm>
              <a:off x="5673725" y="1735137"/>
              <a:ext cx="0" cy="533401"/>
            </a:xfrm>
            <a:prstGeom prst="straightConnector1">
              <a:avLst/>
            </a:prstGeom>
            <a:noFill/>
            <a:ln w="9525" cap="flat" cmpd="sng">
              <a:solidFill>
                <a:srgbClr val="000000"/>
              </a:solidFill>
              <a:prstDash val="lgDash"/>
              <a:miter lim="800000"/>
              <a:headEnd type="none" w="sm" len="sm"/>
              <a:tailEnd type="triangle" w="med" len="med"/>
            </a:ln>
          </p:spPr>
        </p:cxnSp>
        <p:grpSp>
          <p:nvGrpSpPr>
            <p:cNvPr id="237" name="Google Shape;237;p5"/>
            <p:cNvGrpSpPr/>
            <p:nvPr/>
          </p:nvGrpSpPr>
          <p:grpSpPr>
            <a:xfrm>
              <a:off x="-1" y="712787"/>
              <a:ext cx="1330327" cy="304802"/>
              <a:chOff x="0" y="0"/>
              <a:chExt cx="1330326" cy="304801"/>
            </a:xfrm>
          </p:grpSpPr>
          <p:sp>
            <p:nvSpPr>
              <p:cNvPr id="238" name="Google Shape;238;p5"/>
              <p:cNvSpPr/>
              <p:nvPr/>
            </p:nvSpPr>
            <p:spPr>
              <a:xfrm rot="-5400000">
                <a:off x="512762" y="-512763"/>
                <a:ext cx="304801" cy="1330326"/>
              </a:xfrm>
              <a:custGeom>
                <a:avLst/>
                <a:gdLst/>
                <a:ahLst/>
                <a:cxnLst/>
                <a:rect l="l" t="t" r="r" b="b"/>
                <a:pathLst>
                  <a:path w="21600" h="21600" extrusionOk="0">
                    <a:moveTo>
                      <a:pt x="0" y="0"/>
                    </a:moveTo>
                    <a:lnTo>
                      <a:pt x="0" y="21600"/>
                    </a:lnTo>
                    <a:lnTo>
                      <a:pt x="18900" y="21600"/>
                    </a:lnTo>
                    <a:lnTo>
                      <a:pt x="21600" y="18900"/>
                    </a:lnTo>
                    <a:lnTo>
                      <a:pt x="21600" y="0"/>
                    </a:lnTo>
                    <a:close/>
                  </a:path>
                </a:pathLst>
              </a:custGeom>
              <a:noFill/>
              <a:ln w="9525"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39" name="Google Shape;239;p5"/>
              <p:cNvSpPr/>
              <p:nvPr/>
            </p:nvSpPr>
            <p:spPr>
              <a:xfrm rot="-5400000">
                <a:off x="1228129" y="-64096"/>
                <a:ext cx="38101" cy="166292"/>
              </a:xfrm>
              <a:custGeom>
                <a:avLst/>
                <a:gdLst/>
                <a:ahLst/>
                <a:cxnLst/>
                <a:rect l="l" t="t" r="r" b="b"/>
                <a:pathLst>
                  <a:path w="21600" h="21600" extrusionOk="0">
                    <a:moveTo>
                      <a:pt x="0" y="21600"/>
                    </a:moveTo>
                    <a:lnTo>
                      <a:pt x="5592" y="736"/>
                    </a:lnTo>
                    <a:cubicBezTo>
                      <a:pt x="7752" y="4048"/>
                      <a:pt x="13504" y="4048"/>
                      <a:pt x="21600" y="0"/>
                    </a:cubicBezTo>
                  </a:path>
                </a:pathLst>
              </a:custGeom>
              <a:noFill/>
              <a:ln w="9525"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
          <p:nvSpPr>
            <p:cNvPr id="240" name="Google Shape;240;p5"/>
            <p:cNvSpPr/>
            <p:nvPr/>
          </p:nvSpPr>
          <p:spPr>
            <a:xfrm>
              <a:off x="73025" y="677862"/>
              <a:ext cx="772175" cy="415838"/>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300" b="0" i="0" u="none" strike="noStrike" cap="none">
                  <a:solidFill>
                    <a:schemeClr val="dk1"/>
                  </a:solidFill>
                  <a:latin typeface="Arial"/>
                  <a:ea typeface="Arial"/>
                  <a:cs typeface="Arial"/>
                  <a:sym typeface="Arial"/>
                </a:rPr>
                <a:t>package</a:t>
              </a:r>
              <a:endParaRPr/>
            </a:p>
          </p:txBody>
        </p:sp>
        <p:cxnSp>
          <p:nvCxnSpPr>
            <p:cNvPr id="241" name="Google Shape;241;p5"/>
            <p:cNvCxnSpPr/>
            <p:nvPr/>
          </p:nvCxnSpPr>
          <p:spPr>
            <a:xfrm rot="10800000" flipH="1">
              <a:off x="1330324" y="592137"/>
              <a:ext cx="990602" cy="304801"/>
            </a:xfrm>
            <a:prstGeom prst="straightConnector1">
              <a:avLst/>
            </a:prstGeom>
            <a:noFill/>
            <a:ln w="9525" cap="flat" cmpd="sng">
              <a:solidFill>
                <a:srgbClr val="000000"/>
              </a:solidFill>
              <a:prstDash val="dash"/>
              <a:miter lim="800000"/>
              <a:headEnd type="none" w="sm" len="sm"/>
              <a:tailEnd type="none" w="sm" len="sm"/>
            </a:ln>
          </p:spPr>
        </p:cxnSp>
        <p:cxnSp>
          <p:nvCxnSpPr>
            <p:cNvPr id="242" name="Google Shape;242;p5"/>
            <p:cNvCxnSpPr/>
            <p:nvPr/>
          </p:nvCxnSpPr>
          <p:spPr>
            <a:xfrm>
              <a:off x="1330324" y="896937"/>
              <a:ext cx="1295401" cy="152401"/>
            </a:xfrm>
            <a:prstGeom prst="straightConnector1">
              <a:avLst/>
            </a:prstGeom>
            <a:noFill/>
            <a:ln w="9525" cap="flat" cmpd="sng">
              <a:solidFill>
                <a:srgbClr val="000000"/>
              </a:solidFill>
              <a:prstDash val="dash"/>
              <a:miter lim="800000"/>
              <a:headEnd type="none" w="sm" len="sm"/>
              <a:tailEnd type="none" w="sm" len="sm"/>
            </a:ln>
          </p:spPr>
        </p:cxnSp>
        <p:grpSp>
          <p:nvGrpSpPr>
            <p:cNvPr id="243" name="Google Shape;243;p5"/>
            <p:cNvGrpSpPr/>
            <p:nvPr/>
          </p:nvGrpSpPr>
          <p:grpSpPr>
            <a:xfrm>
              <a:off x="936625" y="1627187"/>
              <a:ext cx="850901" cy="304802"/>
              <a:chOff x="0" y="0"/>
              <a:chExt cx="850901" cy="304800"/>
            </a:xfrm>
          </p:grpSpPr>
          <p:sp>
            <p:nvSpPr>
              <p:cNvPr id="244" name="Google Shape;244;p5"/>
              <p:cNvSpPr/>
              <p:nvPr/>
            </p:nvSpPr>
            <p:spPr>
              <a:xfrm rot="-5400000">
                <a:off x="273050" y="-273050"/>
                <a:ext cx="304800" cy="850900"/>
              </a:xfrm>
              <a:custGeom>
                <a:avLst/>
                <a:gdLst/>
                <a:ahLst/>
                <a:cxnLst/>
                <a:rect l="l" t="t" r="r" b="b"/>
                <a:pathLst>
                  <a:path w="21600" h="21600" extrusionOk="0">
                    <a:moveTo>
                      <a:pt x="0" y="0"/>
                    </a:moveTo>
                    <a:lnTo>
                      <a:pt x="0" y="21600"/>
                    </a:lnTo>
                    <a:lnTo>
                      <a:pt x="18900" y="21600"/>
                    </a:lnTo>
                    <a:lnTo>
                      <a:pt x="21600" y="18900"/>
                    </a:lnTo>
                    <a:lnTo>
                      <a:pt x="21600" y="0"/>
                    </a:lnTo>
                    <a:close/>
                  </a:path>
                </a:pathLst>
              </a:custGeom>
              <a:noFill/>
              <a:ln w="9525"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45" name="Google Shape;245;p5"/>
              <p:cNvSpPr/>
              <p:nvPr/>
            </p:nvSpPr>
            <p:spPr>
              <a:xfrm rot="-5400000">
                <a:off x="778668" y="-34132"/>
                <a:ext cx="38101" cy="106364"/>
              </a:xfrm>
              <a:custGeom>
                <a:avLst/>
                <a:gdLst/>
                <a:ahLst/>
                <a:cxnLst/>
                <a:rect l="l" t="t" r="r" b="b"/>
                <a:pathLst>
                  <a:path w="21600" h="21600" extrusionOk="0">
                    <a:moveTo>
                      <a:pt x="0" y="21600"/>
                    </a:moveTo>
                    <a:lnTo>
                      <a:pt x="5592" y="736"/>
                    </a:lnTo>
                    <a:cubicBezTo>
                      <a:pt x="7752" y="4048"/>
                      <a:pt x="13504" y="4048"/>
                      <a:pt x="21600" y="0"/>
                    </a:cubicBezTo>
                  </a:path>
                </a:pathLst>
              </a:custGeom>
              <a:noFill/>
              <a:ln w="9525"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
          <p:nvSpPr>
            <p:cNvPr id="246" name="Google Shape;246;p5"/>
            <p:cNvSpPr/>
            <p:nvPr/>
          </p:nvSpPr>
          <p:spPr>
            <a:xfrm>
              <a:off x="936625" y="1625599"/>
              <a:ext cx="543053" cy="415838"/>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300" b="0" i="0" u="none" strike="noStrike" cap="none">
                  <a:solidFill>
                    <a:schemeClr val="dk1"/>
                  </a:solidFill>
                  <a:latin typeface="Arial"/>
                  <a:ea typeface="Arial"/>
                  <a:cs typeface="Arial"/>
                  <a:sym typeface="Arial"/>
                </a:rPr>
                <a:t>Class</a:t>
              </a:r>
              <a:endParaRPr/>
            </a:p>
          </p:txBody>
        </p:sp>
        <p:cxnSp>
          <p:nvCxnSpPr>
            <p:cNvPr id="247" name="Google Shape;247;p5"/>
            <p:cNvCxnSpPr/>
            <p:nvPr/>
          </p:nvCxnSpPr>
          <p:spPr>
            <a:xfrm rot="10800000" flipH="1">
              <a:off x="1787525" y="1049337"/>
              <a:ext cx="1066801" cy="685801"/>
            </a:xfrm>
            <a:prstGeom prst="straightConnector1">
              <a:avLst/>
            </a:prstGeom>
            <a:noFill/>
            <a:ln w="9525" cap="flat" cmpd="sng">
              <a:solidFill>
                <a:srgbClr val="000000"/>
              </a:solidFill>
              <a:prstDash val="dash"/>
              <a:miter lim="800000"/>
              <a:headEnd type="none" w="sm" len="sm"/>
              <a:tailEnd type="none" w="sm" len="sm"/>
            </a:ln>
          </p:spPr>
        </p:cxnSp>
        <p:cxnSp>
          <p:nvCxnSpPr>
            <p:cNvPr id="248" name="Google Shape;248;p5"/>
            <p:cNvCxnSpPr/>
            <p:nvPr/>
          </p:nvCxnSpPr>
          <p:spPr>
            <a:xfrm rot="10800000" flipH="1">
              <a:off x="1787524" y="1354137"/>
              <a:ext cx="1219202" cy="457201"/>
            </a:xfrm>
            <a:prstGeom prst="straightConnector1">
              <a:avLst/>
            </a:prstGeom>
            <a:noFill/>
            <a:ln w="9525" cap="flat" cmpd="sng">
              <a:solidFill>
                <a:srgbClr val="000000"/>
              </a:solidFill>
              <a:prstDash val="dash"/>
              <a:miter lim="800000"/>
              <a:headEnd type="none" w="sm" len="sm"/>
              <a:tailEnd type="none" w="sm" len="sm"/>
            </a:ln>
          </p:spPr>
        </p:cxnSp>
        <p:grpSp>
          <p:nvGrpSpPr>
            <p:cNvPr id="249" name="Google Shape;249;p5"/>
            <p:cNvGrpSpPr/>
            <p:nvPr/>
          </p:nvGrpSpPr>
          <p:grpSpPr>
            <a:xfrm>
              <a:off x="2447924" y="2192336"/>
              <a:ext cx="1473203" cy="304802"/>
              <a:chOff x="0" y="0"/>
              <a:chExt cx="1473202" cy="304801"/>
            </a:xfrm>
          </p:grpSpPr>
          <p:sp>
            <p:nvSpPr>
              <p:cNvPr id="250" name="Google Shape;250;p5"/>
              <p:cNvSpPr/>
              <p:nvPr/>
            </p:nvSpPr>
            <p:spPr>
              <a:xfrm rot="-5400000">
                <a:off x="584200" y="-584201"/>
                <a:ext cx="304801" cy="1473202"/>
              </a:xfrm>
              <a:custGeom>
                <a:avLst/>
                <a:gdLst/>
                <a:ahLst/>
                <a:cxnLst/>
                <a:rect l="l" t="t" r="r" b="b"/>
                <a:pathLst>
                  <a:path w="21600" h="21600" extrusionOk="0">
                    <a:moveTo>
                      <a:pt x="0" y="0"/>
                    </a:moveTo>
                    <a:lnTo>
                      <a:pt x="0" y="21600"/>
                    </a:lnTo>
                    <a:lnTo>
                      <a:pt x="18900" y="21600"/>
                    </a:lnTo>
                    <a:lnTo>
                      <a:pt x="21600" y="18900"/>
                    </a:lnTo>
                    <a:lnTo>
                      <a:pt x="21600" y="0"/>
                    </a:lnTo>
                    <a:close/>
                  </a:path>
                </a:pathLst>
              </a:custGeom>
              <a:noFill/>
              <a:ln w="9525"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51" name="Google Shape;251;p5"/>
              <p:cNvSpPr/>
              <p:nvPr/>
            </p:nvSpPr>
            <p:spPr>
              <a:xfrm rot="-5400000">
                <a:off x="1362075" y="-73025"/>
                <a:ext cx="38101" cy="184151"/>
              </a:xfrm>
              <a:custGeom>
                <a:avLst/>
                <a:gdLst/>
                <a:ahLst/>
                <a:cxnLst/>
                <a:rect l="l" t="t" r="r" b="b"/>
                <a:pathLst>
                  <a:path w="21600" h="21600" extrusionOk="0">
                    <a:moveTo>
                      <a:pt x="0" y="21600"/>
                    </a:moveTo>
                    <a:lnTo>
                      <a:pt x="5592" y="736"/>
                    </a:lnTo>
                    <a:cubicBezTo>
                      <a:pt x="7752" y="4048"/>
                      <a:pt x="13504" y="4048"/>
                      <a:pt x="21600" y="0"/>
                    </a:cubicBezTo>
                  </a:path>
                </a:pathLst>
              </a:custGeom>
              <a:noFill/>
              <a:ln w="9525" cap="flat" cmpd="sng">
                <a:solidFill>
                  <a:srgbClr val="000000"/>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
          <p:nvSpPr>
            <p:cNvPr id="252" name="Google Shape;252;p5"/>
            <p:cNvSpPr/>
            <p:nvPr/>
          </p:nvSpPr>
          <p:spPr>
            <a:xfrm>
              <a:off x="2447925" y="2190750"/>
              <a:ext cx="1098761" cy="415838"/>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300" b="0" i="0" u="none" strike="noStrike" cap="none">
                  <a:solidFill>
                    <a:schemeClr val="dk1"/>
                  </a:solidFill>
                  <a:latin typeface="Arial"/>
                  <a:ea typeface="Arial"/>
                  <a:cs typeface="Arial"/>
                  <a:sym typeface="Arial"/>
                </a:rPr>
                <a:t>Dependency</a:t>
              </a:r>
              <a:endParaRPr/>
            </a:p>
          </p:txBody>
        </p:sp>
        <p:cxnSp>
          <p:nvCxnSpPr>
            <p:cNvPr id="253" name="Google Shape;253;p5"/>
            <p:cNvCxnSpPr/>
            <p:nvPr/>
          </p:nvCxnSpPr>
          <p:spPr>
            <a:xfrm rot="10800000" flipH="1">
              <a:off x="3540125" y="1201737"/>
              <a:ext cx="914401" cy="990601"/>
            </a:xfrm>
            <a:prstGeom prst="straightConnector1">
              <a:avLst/>
            </a:prstGeom>
            <a:noFill/>
            <a:ln w="9525" cap="flat" cmpd="sng">
              <a:solidFill>
                <a:srgbClr val="000000"/>
              </a:solidFill>
              <a:prstDash val="dash"/>
              <a:miter lim="800000"/>
              <a:headEnd type="none" w="sm" len="sm"/>
              <a:tailEnd type="none" w="sm" len="sm"/>
            </a:ln>
          </p:spPr>
        </p:cxnSp>
        <p:cxnSp>
          <p:nvCxnSpPr>
            <p:cNvPr id="254" name="Google Shape;254;p5"/>
            <p:cNvCxnSpPr/>
            <p:nvPr/>
          </p:nvCxnSpPr>
          <p:spPr>
            <a:xfrm rot="10800000" flipH="1">
              <a:off x="3921125" y="1887537"/>
              <a:ext cx="1752601" cy="381001"/>
            </a:xfrm>
            <a:prstGeom prst="straightConnector1">
              <a:avLst/>
            </a:prstGeom>
            <a:noFill/>
            <a:ln w="9525" cap="flat" cmpd="sng">
              <a:solidFill>
                <a:srgbClr val="000000"/>
              </a:solidFill>
              <a:prstDash val="dash"/>
              <a:miter lim="800000"/>
              <a:headEnd type="none" w="sm" len="sm"/>
              <a:tailEnd type="none" w="sm" len="sm"/>
            </a:ln>
          </p:spPr>
        </p:cxnSp>
        <p:sp>
          <p:nvSpPr>
            <p:cNvPr id="255" name="Google Shape;255;p5"/>
            <p:cNvSpPr/>
            <p:nvPr/>
          </p:nvSpPr>
          <p:spPr>
            <a:xfrm>
              <a:off x="2263775" y="0"/>
              <a:ext cx="1521098" cy="525269"/>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800" b="0" i="0" u="none" strike="noStrike" cap="none">
                  <a:solidFill>
                    <a:srgbClr val="CC3300"/>
                  </a:solidFill>
                  <a:latin typeface="Arial"/>
                  <a:ea typeface="Arial"/>
                  <a:cs typeface="Arial"/>
                  <a:sym typeface="Arial"/>
                </a:rPr>
                <a:t>Subsystem 1</a:t>
              </a:r>
              <a:endParaRPr/>
            </a:p>
          </p:txBody>
        </p:sp>
        <p:sp>
          <p:nvSpPr>
            <p:cNvPr id="256" name="Google Shape;256;p5"/>
            <p:cNvSpPr/>
            <p:nvPr/>
          </p:nvSpPr>
          <p:spPr>
            <a:xfrm>
              <a:off x="4897437" y="2370137"/>
              <a:ext cx="1521098" cy="525269"/>
            </a:xfrm>
            <a:prstGeom prst="rect">
              <a:avLst/>
            </a:prstGeom>
            <a:noFill/>
            <a:ln>
              <a:noFill/>
            </a:ln>
          </p:spPr>
          <p:txBody>
            <a:bodyPr spcFirstLastPara="1" wrap="square" lIns="45700" tIns="45700" rIns="45700" bIns="45700" anchor="t" anchorCtr="0">
              <a:spAutoFit/>
            </a:bodyPr>
            <a:lstStyle/>
            <a:p>
              <a:pPr marL="0" marR="0" lvl="0" indent="0" algn="l" rtl="0">
                <a:spcBef>
                  <a:spcPts val="0"/>
                </a:spcBef>
                <a:spcAft>
                  <a:spcPts val="0"/>
                </a:spcAft>
                <a:buNone/>
              </a:pPr>
              <a:r>
                <a:rPr lang="en-US" sz="1800" b="0" i="0" u="none" strike="noStrike" cap="none">
                  <a:solidFill>
                    <a:srgbClr val="CC3300"/>
                  </a:solidFill>
                  <a:latin typeface="Arial"/>
                  <a:ea typeface="Arial"/>
                  <a:cs typeface="Arial"/>
                  <a:sym typeface="Arial"/>
                </a:rPr>
                <a:t>Subsystem 2</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6"/>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6</a:t>
            </a:fld>
            <a:endParaRPr sz="1800">
              <a:solidFill>
                <a:srgbClr val="CC0000"/>
              </a:solidFill>
            </a:endParaRPr>
          </a:p>
        </p:txBody>
      </p:sp>
      <p:sp>
        <p:nvSpPr>
          <p:cNvPr id="262" name="Google Shape;262;p6"/>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Package diagram</a:t>
            </a:r>
            <a:endParaRPr/>
          </a:p>
        </p:txBody>
      </p:sp>
      <p:sp>
        <p:nvSpPr>
          <p:cNvPr id="263" name="Google Shape;263;p6"/>
          <p:cNvSpPr txBox="1">
            <a:spLocks noGrp="1"/>
          </p:cNvSpPr>
          <p:nvPr>
            <p:ph type="body" idx="1"/>
          </p:nvPr>
        </p:nvSpPr>
        <p:spPr>
          <a:xfrm>
            <a:off x="386743" y="1320137"/>
            <a:ext cx="10789257"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Why packages?</a:t>
            </a:r>
            <a:endParaRPr/>
          </a:p>
          <a:p>
            <a:pPr marL="992565" lvl="1" indent="-597931" algn="l" rtl="0">
              <a:lnSpc>
                <a:spcPct val="90000"/>
              </a:lnSpc>
              <a:spcBef>
                <a:spcPts val="500"/>
              </a:spcBef>
              <a:spcAft>
                <a:spcPts val="0"/>
              </a:spcAft>
              <a:buClr>
                <a:schemeClr val="dk1"/>
              </a:buClr>
              <a:buSzPts val="2000"/>
              <a:buChar char="•"/>
            </a:pPr>
            <a:r>
              <a:rPr lang="en-US" sz="2000"/>
              <a:t>Easy to manage, understand and manipulate</a:t>
            </a:r>
            <a:endParaRPr/>
          </a:p>
          <a:p>
            <a:pPr marL="992565" lvl="1" indent="-597931" algn="l" rtl="0">
              <a:lnSpc>
                <a:spcPct val="90000"/>
              </a:lnSpc>
              <a:spcBef>
                <a:spcPts val="500"/>
              </a:spcBef>
              <a:spcAft>
                <a:spcPts val="0"/>
              </a:spcAft>
              <a:buClr>
                <a:schemeClr val="dk1"/>
              </a:buClr>
              <a:buSzPts val="2000"/>
              <a:buChar char="•"/>
            </a:pPr>
            <a:r>
              <a:rPr lang="en-US" sz="2000"/>
              <a:t>Reduce complexity</a:t>
            </a:r>
            <a:endParaRPr/>
          </a:p>
          <a:p>
            <a:pPr marL="992565" lvl="1" indent="-597931" algn="l" rtl="0">
              <a:lnSpc>
                <a:spcPct val="90000"/>
              </a:lnSpc>
              <a:spcBef>
                <a:spcPts val="500"/>
              </a:spcBef>
              <a:spcAft>
                <a:spcPts val="0"/>
              </a:spcAft>
              <a:buClr>
                <a:schemeClr val="dk1"/>
              </a:buClr>
              <a:buSzPts val="2000"/>
              <a:buChar char="•"/>
            </a:pPr>
            <a:r>
              <a:rPr lang="en-US" sz="2000"/>
              <a:t>Iterative development: different developers, teams work simultaneously on different packages</a:t>
            </a:r>
            <a:endParaRPr/>
          </a:p>
          <a:p>
            <a:pPr marL="228600" lvl="0" indent="-228600" algn="l" rtl="0">
              <a:lnSpc>
                <a:spcPct val="90000"/>
              </a:lnSpc>
              <a:spcBef>
                <a:spcPts val="1000"/>
              </a:spcBef>
              <a:spcAft>
                <a:spcPts val="0"/>
              </a:spcAft>
              <a:buClr>
                <a:schemeClr val="dk1"/>
              </a:buClr>
              <a:buSzPts val="2000"/>
              <a:buChar char="•"/>
            </a:pPr>
            <a:r>
              <a:rPr lang="en-US" sz="2000"/>
              <a:t>Example</a:t>
            </a:r>
            <a:endParaRPr/>
          </a:p>
        </p:txBody>
      </p:sp>
      <p:pic>
        <p:nvPicPr>
          <p:cNvPr id="264" name="Google Shape;264;p6"/>
          <p:cNvPicPr preferRelativeResize="0"/>
          <p:nvPr/>
        </p:nvPicPr>
        <p:blipFill rotWithShape="1">
          <a:blip r:embed="rId3">
            <a:alphaModFix/>
          </a:blip>
          <a:srcRect/>
          <a:stretch/>
        </p:blipFill>
        <p:spPr>
          <a:xfrm>
            <a:off x="3975074" y="2616047"/>
            <a:ext cx="5384852" cy="41403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7"/>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7</a:t>
            </a:fld>
            <a:endParaRPr sz="1800">
              <a:solidFill>
                <a:srgbClr val="CC0000"/>
              </a:solidFill>
            </a:endParaRPr>
          </a:p>
        </p:txBody>
      </p:sp>
      <p:sp>
        <p:nvSpPr>
          <p:cNvPr id="270" name="Google Shape;270;p7"/>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Package diagrams</a:t>
            </a:r>
            <a:endParaRPr/>
          </a:p>
        </p:txBody>
      </p:sp>
      <p:sp>
        <p:nvSpPr>
          <p:cNvPr id="271" name="Google Shape;271;p7"/>
          <p:cNvSpPr txBox="1">
            <a:spLocks noGrp="1"/>
          </p:cNvSpPr>
          <p:nvPr>
            <p:ph type="body" idx="1"/>
          </p:nvPr>
        </p:nvSpPr>
        <p:spPr>
          <a:xfrm>
            <a:off x="374043" y="1221305"/>
            <a:ext cx="10789257" cy="4729826"/>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Organizing principles of packages</a:t>
            </a:r>
            <a:endParaRPr/>
          </a:p>
          <a:p>
            <a:pPr marL="992565" marR="0" lvl="1" indent="-597931" algn="l" rtl="0">
              <a:lnSpc>
                <a:spcPct val="90000"/>
              </a:lnSpc>
              <a:spcBef>
                <a:spcPts val="500"/>
              </a:spcBef>
              <a:spcAft>
                <a:spcPts val="0"/>
              </a:spcAft>
              <a:buClr>
                <a:schemeClr val="dk1"/>
              </a:buClr>
              <a:buSzPts val="2000"/>
              <a:buFont typeface="Arial"/>
              <a:buChar char="•"/>
            </a:pPr>
            <a:r>
              <a:rPr lang="en-US" sz="2000" b="1" i="0" u="none" strike="noStrike" cap="none">
                <a:solidFill>
                  <a:schemeClr val="dk1"/>
                </a:solidFill>
                <a:latin typeface="Arial"/>
                <a:ea typeface="Arial"/>
                <a:cs typeface="Arial"/>
                <a:sym typeface="Arial"/>
              </a:rPr>
              <a:t>Functional cohesion</a:t>
            </a:r>
            <a:endParaRPr/>
          </a:p>
          <a:p>
            <a:pPr marL="1328548" marR="0" lvl="2" indent="-567179" algn="l" rtl="0">
              <a:lnSpc>
                <a:spcPct val="90000"/>
              </a:lnSpc>
              <a:spcBef>
                <a:spcPts val="5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Classes/interfaces that are grouped are strongly associated in terms of purpose, service, collaboration, function</a:t>
            </a:r>
            <a:endParaRPr/>
          </a:p>
          <a:p>
            <a:pPr marL="1677131" marR="0" lvl="3" indent="-583580" algn="l" rtl="0">
              <a:lnSpc>
                <a:spcPct val="90000"/>
              </a:lnSpc>
              <a:spcBef>
                <a:spcPts val="5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Example: all elements of the “payment” package are related to the payment of the products</a:t>
            </a:r>
            <a:endParaRPr/>
          </a:p>
        </p:txBody>
      </p:sp>
      <p:pic>
        <p:nvPicPr>
          <p:cNvPr id="272" name="Google Shape;272;p7"/>
          <p:cNvPicPr preferRelativeResize="0"/>
          <p:nvPr/>
        </p:nvPicPr>
        <p:blipFill rotWithShape="1">
          <a:blip r:embed="rId3">
            <a:alphaModFix/>
          </a:blip>
          <a:srcRect/>
          <a:stretch/>
        </p:blipFill>
        <p:spPr>
          <a:xfrm>
            <a:off x="318788" y="3224451"/>
            <a:ext cx="6615412" cy="2043783"/>
          </a:xfrm>
          <a:prstGeom prst="rect">
            <a:avLst/>
          </a:prstGeom>
          <a:noFill/>
          <a:ln>
            <a:noFill/>
          </a:ln>
        </p:spPr>
      </p:pic>
      <p:grpSp>
        <p:nvGrpSpPr>
          <p:cNvPr id="273" name="Google Shape;273;p7"/>
          <p:cNvGrpSpPr/>
          <p:nvPr/>
        </p:nvGrpSpPr>
        <p:grpSpPr>
          <a:xfrm>
            <a:off x="7840209" y="3096313"/>
            <a:ext cx="3957404" cy="2082220"/>
            <a:chOff x="0" y="-3463"/>
            <a:chExt cx="4221229" cy="2961378"/>
          </a:xfrm>
        </p:grpSpPr>
        <p:sp>
          <p:nvSpPr>
            <p:cNvPr id="274" name="Google Shape;274;p7"/>
            <p:cNvSpPr/>
            <p:nvPr/>
          </p:nvSpPr>
          <p:spPr>
            <a:xfrm>
              <a:off x="1984" y="508997"/>
              <a:ext cx="4219245" cy="2448918"/>
            </a:xfrm>
            <a:prstGeom prst="rect">
              <a:avLst/>
            </a:prstGeom>
            <a:noFill/>
            <a:ln w="1270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75" name="Google Shape;275;p7"/>
            <p:cNvSpPr/>
            <p:nvPr/>
          </p:nvSpPr>
          <p:spPr>
            <a:xfrm>
              <a:off x="0" y="0"/>
              <a:ext cx="1757429" cy="511049"/>
            </a:xfrm>
            <a:prstGeom prst="rect">
              <a:avLst/>
            </a:prstGeom>
            <a:noFill/>
            <a:ln w="1270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76" name="Google Shape;276;p7"/>
            <p:cNvSpPr/>
            <p:nvPr/>
          </p:nvSpPr>
          <p:spPr>
            <a:xfrm>
              <a:off x="331059" y="-3463"/>
              <a:ext cx="1028110" cy="517976"/>
            </a:xfrm>
            <a:prstGeom prst="rect">
              <a:avLst/>
            </a:prstGeom>
            <a:noFill/>
            <a:ln>
              <a:noFill/>
            </a:ln>
          </p:spPr>
          <p:txBody>
            <a:bodyPr spcFirstLastPara="1" wrap="square" lIns="50800" tIns="50800" rIns="50800" bIns="50800" anchor="ctr" anchorCtr="0">
              <a:spAutoFit/>
            </a:bodyPr>
            <a:lstStyle/>
            <a:p>
              <a:pPr marL="0" marR="0" lvl="0" indent="0" algn="l" rtl="0">
                <a:spcBef>
                  <a:spcPts val="0"/>
                </a:spcBef>
                <a:spcAft>
                  <a:spcPts val="0"/>
                </a:spcAft>
                <a:buNone/>
              </a:pPr>
              <a:r>
                <a:rPr lang="en-US" sz="1700" b="0" i="0" u="none" strike="noStrike" cap="none">
                  <a:solidFill>
                    <a:schemeClr val="dk1"/>
                  </a:solidFill>
                  <a:latin typeface="Arial"/>
                  <a:ea typeface="Arial"/>
                  <a:cs typeface="Arial"/>
                  <a:sym typeface="Arial"/>
                </a:rPr>
                <a:t>Payments</a:t>
              </a:r>
              <a:endParaRPr/>
            </a:p>
          </p:txBody>
        </p:sp>
        <p:sp>
          <p:nvSpPr>
            <p:cNvPr id="277" name="Google Shape;277;p7"/>
            <p:cNvSpPr/>
            <p:nvPr/>
          </p:nvSpPr>
          <p:spPr>
            <a:xfrm>
              <a:off x="160866" y="787399"/>
              <a:ext cx="1757430" cy="511049"/>
            </a:xfrm>
            <a:prstGeom prst="rect">
              <a:avLst/>
            </a:prstGeom>
            <a:noFill/>
            <a:ln w="1270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700" b="0" i="0" u="none" strike="noStrike" cap="none">
                  <a:solidFill>
                    <a:schemeClr val="dk1"/>
                  </a:solidFill>
                  <a:latin typeface="Arial"/>
                  <a:ea typeface="Arial"/>
                  <a:cs typeface="Arial"/>
                  <a:sym typeface="Arial"/>
                </a:rPr>
                <a:t>CashPayment</a:t>
              </a:r>
              <a:endParaRPr/>
            </a:p>
          </p:txBody>
        </p:sp>
        <p:sp>
          <p:nvSpPr>
            <p:cNvPr id="278" name="Google Shape;278;p7"/>
            <p:cNvSpPr/>
            <p:nvPr/>
          </p:nvSpPr>
          <p:spPr>
            <a:xfrm>
              <a:off x="2269066" y="787399"/>
              <a:ext cx="1757430" cy="511049"/>
            </a:xfrm>
            <a:prstGeom prst="rect">
              <a:avLst/>
            </a:prstGeom>
            <a:noFill/>
            <a:ln w="1270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700" b="0" i="0" u="none" strike="noStrike" cap="none">
                  <a:solidFill>
                    <a:schemeClr val="dk1"/>
                  </a:solidFill>
                  <a:latin typeface="Arial"/>
                  <a:ea typeface="Arial"/>
                  <a:cs typeface="Arial"/>
                  <a:sym typeface="Arial"/>
                </a:rPr>
                <a:t>CreditPayment</a:t>
              </a:r>
              <a:endParaRPr/>
            </a:p>
          </p:txBody>
        </p:sp>
        <p:sp>
          <p:nvSpPr>
            <p:cNvPr id="279" name="Google Shape;279;p7"/>
            <p:cNvSpPr/>
            <p:nvPr/>
          </p:nvSpPr>
          <p:spPr>
            <a:xfrm>
              <a:off x="160866" y="1635139"/>
              <a:ext cx="1757430" cy="511049"/>
            </a:xfrm>
            <a:prstGeom prst="rect">
              <a:avLst/>
            </a:prstGeom>
            <a:noFill/>
            <a:ln w="1270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700" b="0" i="0" u="none" strike="noStrike" cap="none">
                  <a:solidFill>
                    <a:schemeClr val="dk1"/>
                  </a:solidFill>
                  <a:latin typeface="Arial"/>
                  <a:ea typeface="Arial"/>
                  <a:cs typeface="Arial"/>
                  <a:sym typeface="Arial"/>
                </a:rPr>
                <a:t>DebitPayment</a:t>
              </a:r>
              <a:endParaRPr/>
            </a:p>
          </p:txBody>
        </p:sp>
      </p:grpSp>
      <p:sp>
        <p:nvSpPr>
          <p:cNvPr id="280" name="Google Shape;280;p7"/>
          <p:cNvSpPr/>
          <p:nvPr/>
        </p:nvSpPr>
        <p:spPr>
          <a:xfrm>
            <a:off x="2262405" y="5261463"/>
            <a:ext cx="2084123" cy="347481"/>
          </a:xfrm>
          <a:prstGeom prst="rect">
            <a:avLst/>
          </a:prstGeom>
          <a:noFill/>
          <a:ln>
            <a:noFill/>
          </a:ln>
        </p:spPr>
        <p:txBody>
          <a:bodyPr spcFirstLastPara="1" wrap="square" lIns="42500" tIns="42500" rIns="42500" bIns="42500" anchor="ctr" anchorCtr="0">
            <a:spAutoFit/>
          </a:bodyPr>
          <a:lstStyle/>
          <a:p>
            <a:pPr marL="0" marR="0" lvl="0" indent="0" algn="ctr" rtl="0">
              <a:spcBef>
                <a:spcPts val="0"/>
              </a:spcBef>
              <a:spcAft>
                <a:spcPts val="0"/>
              </a:spcAft>
              <a:buNone/>
            </a:pPr>
            <a:r>
              <a:rPr lang="en-US" sz="1700" b="0" i="0" u="none" strike="noStrike" cap="none">
                <a:solidFill>
                  <a:schemeClr val="dk1"/>
                </a:solidFill>
                <a:latin typeface="Arial"/>
                <a:ea typeface="Arial"/>
                <a:cs typeface="Arial"/>
                <a:sym typeface="Arial"/>
              </a:rPr>
              <a:t>“Domain” package</a:t>
            </a:r>
            <a:endParaRPr/>
          </a:p>
        </p:txBody>
      </p:sp>
      <p:sp>
        <p:nvSpPr>
          <p:cNvPr id="281" name="Google Shape;281;p7"/>
          <p:cNvSpPr/>
          <p:nvPr/>
        </p:nvSpPr>
        <p:spPr>
          <a:xfrm>
            <a:off x="8838545" y="5261463"/>
            <a:ext cx="2524530" cy="347481"/>
          </a:xfrm>
          <a:prstGeom prst="rect">
            <a:avLst/>
          </a:prstGeom>
          <a:noFill/>
          <a:ln>
            <a:noFill/>
          </a:ln>
        </p:spPr>
        <p:txBody>
          <a:bodyPr spcFirstLastPara="1" wrap="square" lIns="42500" tIns="42500" rIns="42500" bIns="42500" anchor="ctr" anchorCtr="0">
            <a:spAutoFit/>
          </a:bodyPr>
          <a:lstStyle/>
          <a:p>
            <a:pPr marL="0" marR="0" lvl="0" indent="0" algn="ctr" rtl="0">
              <a:spcBef>
                <a:spcPts val="0"/>
              </a:spcBef>
              <a:spcAft>
                <a:spcPts val="0"/>
              </a:spcAft>
              <a:buNone/>
            </a:pPr>
            <a:r>
              <a:rPr lang="en-US" sz="1700" b="0" i="0" u="none" strike="noStrike" cap="none">
                <a:solidFill>
                  <a:schemeClr val="dk1"/>
                </a:solidFill>
                <a:latin typeface="Arial"/>
                <a:ea typeface="Arial"/>
                <a:cs typeface="Arial"/>
                <a:sym typeface="Arial"/>
              </a:rPr>
              <a:t>“Payments” package</a:t>
            </a:r>
            <a:endParaRPr/>
          </a:p>
        </p:txBody>
      </p:sp>
      <p:sp>
        <p:nvSpPr>
          <p:cNvPr id="282" name="Google Shape;282;p7"/>
          <p:cNvSpPr/>
          <p:nvPr/>
        </p:nvSpPr>
        <p:spPr>
          <a:xfrm>
            <a:off x="6991433" y="4204856"/>
            <a:ext cx="673266" cy="361553"/>
          </a:xfrm>
          <a:prstGeom prst="rightArrow">
            <a:avLst>
              <a:gd name="adj1" fmla="val 50000"/>
              <a:gd name="adj2" fmla="val 31490"/>
            </a:avLst>
          </a:prstGeom>
          <a:solidFill>
            <a:srgbClr val="A3B2C1"/>
          </a:solidFill>
          <a:ln>
            <a:noFill/>
          </a:ln>
        </p:spPr>
        <p:txBody>
          <a:bodyPr spcFirstLastPara="1" wrap="square" lIns="38250" tIns="38250" rIns="38250" bIns="3825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8"/>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8</a:t>
            </a:fld>
            <a:endParaRPr sz="1800">
              <a:solidFill>
                <a:srgbClr val="CC0000"/>
              </a:solidFill>
            </a:endParaRPr>
          </a:p>
        </p:txBody>
      </p:sp>
      <p:sp>
        <p:nvSpPr>
          <p:cNvPr id="288" name="Google Shape;288;p8"/>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Package diagrams</a:t>
            </a:r>
            <a:endParaRPr/>
          </a:p>
        </p:txBody>
      </p:sp>
      <p:sp>
        <p:nvSpPr>
          <p:cNvPr id="289" name="Google Shape;289;p8"/>
          <p:cNvSpPr txBox="1">
            <a:spLocks noGrp="1"/>
          </p:cNvSpPr>
          <p:nvPr>
            <p:ph type="body" idx="1"/>
          </p:nvPr>
        </p:nvSpPr>
        <p:spPr>
          <a:xfrm>
            <a:off x="424843" y="1345537"/>
            <a:ext cx="11411557"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Organizing principles of packages</a:t>
            </a:r>
            <a:endParaRPr/>
          </a:p>
          <a:p>
            <a:pPr marL="992565" lvl="1" indent="-597931" algn="l" rtl="0">
              <a:lnSpc>
                <a:spcPct val="90000"/>
              </a:lnSpc>
              <a:spcBef>
                <a:spcPts val="500"/>
              </a:spcBef>
              <a:spcAft>
                <a:spcPts val="0"/>
              </a:spcAft>
              <a:buClr>
                <a:schemeClr val="dk1"/>
              </a:buClr>
              <a:buSzPts val="2000"/>
              <a:buChar char="•"/>
            </a:pPr>
            <a:r>
              <a:rPr lang="en-US" sz="2000"/>
              <a:t>Functional cohesion</a:t>
            </a:r>
            <a:endParaRPr/>
          </a:p>
          <a:p>
            <a:pPr marL="1328548" lvl="2" indent="-567179" algn="l" rtl="0">
              <a:lnSpc>
                <a:spcPct val="90000"/>
              </a:lnSpc>
              <a:spcBef>
                <a:spcPts val="500"/>
              </a:spcBef>
              <a:spcAft>
                <a:spcPts val="0"/>
              </a:spcAft>
              <a:buClr>
                <a:schemeClr val="dk1"/>
              </a:buClr>
              <a:buSzPts val="1800"/>
              <a:buChar char="•"/>
            </a:pPr>
            <a:r>
              <a:rPr lang="en-US" b="1"/>
              <a:t>The cohesion of a package is quantified by</a:t>
            </a:r>
            <a:endParaRPr/>
          </a:p>
          <a:p>
            <a:pPr marL="1328548" lvl="2" indent="-440179" algn="l" rtl="0">
              <a:lnSpc>
                <a:spcPct val="90000"/>
              </a:lnSpc>
              <a:spcBef>
                <a:spcPts val="500"/>
              </a:spcBef>
              <a:spcAft>
                <a:spcPts val="0"/>
              </a:spcAft>
              <a:buClr>
                <a:schemeClr val="dk1"/>
              </a:buClr>
              <a:buSzPts val="2000"/>
              <a:buNone/>
            </a:pPr>
            <a:endParaRPr/>
          </a:p>
          <a:p>
            <a:pPr marL="1328548" lvl="2" indent="-440179" algn="l" rtl="0">
              <a:lnSpc>
                <a:spcPct val="90000"/>
              </a:lnSpc>
              <a:spcBef>
                <a:spcPts val="500"/>
              </a:spcBef>
              <a:spcAft>
                <a:spcPts val="0"/>
              </a:spcAft>
              <a:buClr>
                <a:schemeClr val="dk1"/>
              </a:buClr>
              <a:buSzPts val="2000"/>
              <a:buNone/>
            </a:pPr>
            <a:endParaRPr/>
          </a:p>
          <a:p>
            <a:pPr marL="1328548" lvl="2" indent="-440179" algn="l" rtl="0">
              <a:lnSpc>
                <a:spcPct val="90000"/>
              </a:lnSpc>
              <a:spcBef>
                <a:spcPts val="500"/>
              </a:spcBef>
              <a:spcAft>
                <a:spcPts val="0"/>
              </a:spcAft>
              <a:buClr>
                <a:schemeClr val="dk1"/>
              </a:buClr>
              <a:buSzPts val="2000"/>
              <a:buNone/>
            </a:pPr>
            <a:endParaRPr/>
          </a:p>
          <a:p>
            <a:pPr marL="1677131" lvl="3" indent="-583580" algn="l" rtl="0">
              <a:lnSpc>
                <a:spcPct val="90000"/>
              </a:lnSpc>
              <a:spcBef>
                <a:spcPts val="500"/>
              </a:spcBef>
              <a:spcAft>
                <a:spcPts val="0"/>
              </a:spcAft>
              <a:buClr>
                <a:schemeClr val="dk1"/>
              </a:buClr>
              <a:buSzPts val="2000"/>
              <a:buChar char="•"/>
            </a:pPr>
            <a:r>
              <a:rPr lang="en-US" sz="2000"/>
              <a:t>A small value of C can say that</a:t>
            </a:r>
            <a:endParaRPr/>
          </a:p>
          <a:p>
            <a:pPr marL="2086118" lvl="4" indent="-667026" algn="l" rtl="0">
              <a:lnSpc>
                <a:spcPct val="90000"/>
              </a:lnSpc>
              <a:spcBef>
                <a:spcPts val="500"/>
              </a:spcBef>
              <a:spcAft>
                <a:spcPts val="0"/>
              </a:spcAft>
              <a:buClr>
                <a:schemeClr val="dk1"/>
              </a:buClr>
              <a:buSzPts val="2000"/>
              <a:buChar char="•"/>
            </a:pPr>
            <a:r>
              <a:rPr lang="en-US" sz="2000"/>
              <a:t>The package contains too many non-related items, is not well organised</a:t>
            </a:r>
            <a:endParaRPr/>
          </a:p>
          <a:p>
            <a:pPr marL="2086118" lvl="4" indent="-667026" algn="l" rtl="0">
              <a:lnSpc>
                <a:spcPct val="90000"/>
              </a:lnSpc>
              <a:spcBef>
                <a:spcPts val="500"/>
              </a:spcBef>
              <a:spcAft>
                <a:spcPts val="0"/>
              </a:spcAft>
              <a:buClr>
                <a:schemeClr val="dk1"/>
              </a:buClr>
              <a:buSzPts val="2000"/>
              <a:buChar char="•"/>
            </a:pPr>
            <a:r>
              <a:rPr lang="en-US" sz="2000"/>
              <a:t>The package contains no-related items with the intent of the designer</a:t>
            </a:r>
            <a:endParaRPr/>
          </a:p>
          <a:p>
            <a:pPr marL="2468794" lvl="5" indent="-667026" algn="l" rtl="0">
              <a:lnSpc>
                <a:spcPct val="90000"/>
              </a:lnSpc>
              <a:spcBef>
                <a:spcPts val="500"/>
              </a:spcBef>
              <a:spcAft>
                <a:spcPts val="0"/>
              </a:spcAft>
              <a:buClr>
                <a:schemeClr val="dk1"/>
              </a:buClr>
              <a:buSzPts val="2000"/>
              <a:buChar char="▪"/>
            </a:pPr>
            <a:r>
              <a:rPr lang="en-US" sz="2000"/>
              <a:t>for example a “tools” packages</a:t>
            </a:r>
            <a:endParaRPr/>
          </a:p>
          <a:p>
            <a:pPr marL="2086118" lvl="4" indent="-667026" algn="l" rtl="0">
              <a:lnSpc>
                <a:spcPct val="90000"/>
              </a:lnSpc>
              <a:spcBef>
                <a:spcPts val="500"/>
              </a:spcBef>
              <a:spcAft>
                <a:spcPts val="0"/>
              </a:spcAft>
              <a:buClr>
                <a:schemeClr val="dk1"/>
              </a:buClr>
              <a:buSzPts val="2000"/>
              <a:buChar char="•"/>
            </a:pPr>
            <a:r>
              <a:rPr lang="en-US" sz="2000"/>
              <a:t>The package contains a subset of highly cohesive elements, but the whole is not cohesive</a:t>
            </a:r>
            <a:endParaRPr/>
          </a:p>
        </p:txBody>
      </p:sp>
      <p:grpSp>
        <p:nvGrpSpPr>
          <p:cNvPr id="290" name="Google Shape;290;p8"/>
          <p:cNvGrpSpPr/>
          <p:nvPr/>
        </p:nvGrpSpPr>
        <p:grpSpPr>
          <a:xfrm>
            <a:off x="3871007" y="2462733"/>
            <a:ext cx="5928313" cy="734069"/>
            <a:chOff x="0" y="-63217"/>
            <a:chExt cx="4971785" cy="1044009"/>
          </a:xfrm>
        </p:grpSpPr>
        <p:sp>
          <p:nvSpPr>
            <p:cNvPr id="291" name="Google Shape;291;p8"/>
            <p:cNvSpPr/>
            <p:nvPr/>
          </p:nvSpPr>
          <p:spPr>
            <a:xfrm>
              <a:off x="0" y="173849"/>
              <a:ext cx="453116" cy="583635"/>
            </a:xfrm>
            <a:prstGeom prst="rect">
              <a:avLst/>
            </a:prstGeom>
            <a:noFill/>
            <a:ln>
              <a:noFill/>
            </a:ln>
          </p:spPr>
          <p:txBody>
            <a:bodyPr spcFirstLastPara="1" wrap="square" lIns="50800" tIns="50800" rIns="50800" bIns="50800" anchor="ctr" anchorCtr="0">
              <a:spAutoFit/>
            </a:bodyPr>
            <a:lstStyle/>
            <a:p>
              <a:pPr marL="0" marR="0" lvl="0" indent="0" algn="l" rtl="0">
                <a:spcBef>
                  <a:spcPts val="0"/>
                </a:spcBef>
                <a:spcAft>
                  <a:spcPts val="0"/>
                </a:spcAft>
                <a:buNone/>
              </a:pPr>
              <a:r>
                <a:rPr lang="en-US" sz="2000" b="0" i="0" u="none" strike="noStrike" cap="none">
                  <a:solidFill>
                    <a:schemeClr val="dk1"/>
                  </a:solidFill>
                  <a:latin typeface="Arial"/>
                  <a:ea typeface="Arial"/>
                  <a:cs typeface="Arial"/>
                  <a:sym typeface="Arial"/>
                </a:rPr>
                <a:t>C =</a:t>
              </a:r>
              <a:endParaRPr/>
            </a:p>
          </p:txBody>
        </p:sp>
        <p:sp>
          <p:nvSpPr>
            <p:cNvPr id="292" name="Google Shape;292;p8"/>
            <p:cNvSpPr/>
            <p:nvPr/>
          </p:nvSpPr>
          <p:spPr>
            <a:xfrm>
              <a:off x="651933" y="-63217"/>
              <a:ext cx="3824500" cy="583636"/>
            </a:xfrm>
            <a:prstGeom prst="rect">
              <a:avLst/>
            </a:prstGeom>
            <a:noFill/>
            <a:ln>
              <a:noFill/>
            </a:ln>
          </p:spPr>
          <p:txBody>
            <a:bodyPr spcFirstLastPara="1" wrap="square" lIns="50800" tIns="50800" rIns="50800" bIns="50800" anchor="ctr" anchorCtr="0">
              <a:spAutoFit/>
            </a:bodyPr>
            <a:lstStyle/>
            <a:p>
              <a:pPr marL="0" marR="0" lvl="0" indent="0" algn="l" rtl="0">
                <a:spcBef>
                  <a:spcPts val="0"/>
                </a:spcBef>
                <a:spcAft>
                  <a:spcPts val="0"/>
                </a:spcAft>
                <a:buNone/>
              </a:pPr>
              <a:r>
                <a:rPr lang="en-US" sz="2000" b="0" i="0" u="none" strike="noStrike" cap="none">
                  <a:solidFill>
                    <a:schemeClr val="dk1"/>
                  </a:solidFill>
                  <a:latin typeface="Arial"/>
                  <a:ea typeface="Arial"/>
                  <a:cs typeface="Arial"/>
                  <a:sym typeface="Arial"/>
                </a:rPr>
                <a:t>Number Of Internal Relationships</a:t>
              </a:r>
              <a:endParaRPr/>
            </a:p>
          </p:txBody>
        </p:sp>
        <p:sp>
          <p:nvSpPr>
            <p:cNvPr id="293" name="Google Shape;293;p8"/>
            <p:cNvSpPr/>
            <p:nvPr/>
          </p:nvSpPr>
          <p:spPr>
            <a:xfrm>
              <a:off x="1377321" y="397157"/>
              <a:ext cx="2442583" cy="583635"/>
            </a:xfrm>
            <a:prstGeom prst="rect">
              <a:avLst/>
            </a:prstGeom>
            <a:noFill/>
            <a:ln>
              <a:noFill/>
            </a:ln>
          </p:spPr>
          <p:txBody>
            <a:bodyPr spcFirstLastPara="1" wrap="square" lIns="50800" tIns="50800" rIns="50800" bIns="50800" anchor="ctr" anchorCtr="0">
              <a:spAutoFit/>
            </a:bodyPr>
            <a:lstStyle/>
            <a:p>
              <a:pPr marL="0" marR="0" lvl="0" indent="0" algn="l" rtl="0">
                <a:spcBef>
                  <a:spcPts val="0"/>
                </a:spcBef>
                <a:spcAft>
                  <a:spcPts val="0"/>
                </a:spcAft>
                <a:buNone/>
              </a:pPr>
              <a:r>
                <a:rPr lang="en-US" sz="2000" b="0" i="0" u="none" strike="noStrike" cap="none">
                  <a:solidFill>
                    <a:schemeClr val="dk1"/>
                  </a:solidFill>
                  <a:latin typeface="Arial"/>
                  <a:ea typeface="Arial"/>
                  <a:cs typeface="Arial"/>
                  <a:sym typeface="Arial"/>
                </a:rPr>
                <a:t>Number Of Elements</a:t>
              </a:r>
              <a:endParaRPr/>
            </a:p>
          </p:txBody>
        </p:sp>
        <p:cxnSp>
          <p:nvCxnSpPr>
            <p:cNvPr id="294" name="Google Shape;294;p8"/>
            <p:cNvCxnSpPr/>
            <p:nvPr/>
          </p:nvCxnSpPr>
          <p:spPr>
            <a:xfrm>
              <a:off x="696874" y="465666"/>
              <a:ext cx="4274911" cy="1"/>
            </a:xfrm>
            <a:prstGeom prst="straightConnector1">
              <a:avLst/>
            </a:prstGeom>
            <a:noFill/>
            <a:ln w="25400" cap="flat" cmpd="sng">
              <a:solidFill>
                <a:srgbClr val="000000"/>
              </a:solidFill>
              <a:prstDash val="solid"/>
              <a:round/>
              <a:headEnd type="none" w="sm" len="sm"/>
              <a:tailEnd type="none" w="sm" len="sm"/>
            </a:ln>
          </p:spPr>
        </p:cxn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9"/>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9</a:t>
            </a:fld>
            <a:endParaRPr sz="1800">
              <a:solidFill>
                <a:srgbClr val="CC0000"/>
              </a:solidFill>
            </a:endParaRPr>
          </a:p>
        </p:txBody>
      </p:sp>
      <p:sp>
        <p:nvSpPr>
          <p:cNvPr id="300" name="Google Shape;300;p9"/>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Package diagrams</a:t>
            </a:r>
            <a:endParaRPr/>
          </a:p>
        </p:txBody>
      </p:sp>
      <p:sp>
        <p:nvSpPr>
          <p:cNvPr id="301" name="Google Shape;301;p9"/>
          <p:cNvSpPr txBox="1">
            <a:spLocks noGrp="1"/>
          </p:cNvSpPr>
          <p:nvPr>
            <p:ph type="body" idx="1"/>
          </p:nvPr>
        </p:nvSpPr>
        <p:spPr>
          <a:xfrm>
            <a:off x="364319" y="1216560"/>
            <a:ext cx="10789257" cy="5442324"/>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Organizing principles of packages (continued)</a:t>
            </a:r>
            <a:endParaRPr/>
          </a:p>
          <a:p>
            <a:pPr marL="992565" lvl="1" indent="-597931" algn="l" rtl="0">
              <a:lnSpc>
                <a:spcPct val="90000"/>
              </a:lnSpc>
              <a:spcBef>
                <a:spcPts val="500"/>
              </a:spcBef>
              <a:spcAft>
                <a:spcPts val="0"/>
              </a:spcAft>
              <a:buClr>
                <a:schemeClr val="dk1"/>
              </a:buClr>
              <a:buSzPts val="2000"/>
              <a:buChar char="•"/>
            </a:pPr>
            <a:r>
              <a:rPr lang="en-US" sz="2000" b="1"/>
              <a:t>Package of interface</a:t>
            </a:r>
            <a:endParaRPr/>
          </a:p>
          <a:p>
            <a:pPr marL="1328548" lvl="2" indent="-567179" algn="l" rtl="0">
              <a:lnSpc>
                <a:spcPct val="90000"/>
              </a:lnSpc>
              <a:spcBef>
                <a:spcPts val="500"/>
              </a:spcBef>
              <a:spcAft>
                <a:spcPts val="0"/>
              </a:spcAft>
              <a:buClr>
                <a:schemeClr val="dk1"/>
              </a:buClr>
              <a:buSzPts val="1800"/>
              <a:buChar char="•"/>
            </a:pPr>
            <a:r>
              <a:rPr lang="en-US"/>
              <a:t>Related interfaces are placed in a package</a:t>
            </a:r>
            <a:endParaRPr/>
          </a:p>
          <a:p>
            <a:pPr marL="1328548" lvl="2" indent="-567179" algn="l" rtl="0">
              <a:lnSpc>
                <a:spcPct val="90000"/>
              </a:lnSpc>
              <a:spcBef>
                <a:spcPts val="500"/>
              </a:spcBef>
              <a:spcAft>
                <a:spcPts val="0"/>
              </a:spcAft>
              <a:buClr>
                <a:schemeClr val="dk1"/>
              </a:buClr>
              <a:buSzPts val="1800"/>
              <a:buChar char="•"/>
            </a:pPr>
            <a:r>
              <a:rPr lang="en-US"/>
              <a:t>The implementation classes are separated</a:t>
            </a:r>
            <a:endParaRPr/>
          </a:p>
        </p:txBody>
      </p:sp>
      <p:sp>
        <p:nvSpPr>
          <p:cNvPr id="302" name="Google Shape;302;p9"/>
          <p:cNvSpPr/>
          <p:nvPr/>
        </p:nvSpPr>
        <p:spPr>
          <a:xfrm>
            <a:off x="4769320" y="2566148"/>
            <a:ext cx="485788" cy="347481"/>
          </a:xfrm>
          <a:prstGeom prst="rect">
            <a:avLst/>
          </a:prstGeom>
          <a:noFill/>
          <a:ln>
            <a:noFill/>
          </a:ln>
        </p:spPr>
        <p:txBody>
          <a:bodyPr spcFirstLastPara="1" wrap="square" lIns="42500" tIns="42500" rIns="42500" bIns="42500" anchor="ctr" anchorCtr="0">
            <a:spAutoFit/>
          </a:bodyPr>
          <a:lstStyle/>
          <a:p>
            <a:pPr marL="0" marR="0" lvl="0" indent="0" algn="l" rtl="0">
              <a:spcBef>
                <a:spcPts val="0"/>
              </a:spcBef>
              <a:spcAft>
                <a:spcPts val="0"/>
              </a:spcAft>
              <a:buNone/>
            </a:pPr>
            <a:r>
              <a:rPr lang="en-US" sz="1700" b="0" i="0" u="none" strike="noStrike" cap="none">
                <a:solidFill>
                  <a:schemeClr val="dk1"/>
                </a:solidFill>
                <a:latin typeface="Arial"/>
                <a:ea typeface="Arial"/>
                <a:cs typeface="Arial"/>
                <a:sym typeface="Arial"/>
              </a:rPr>
              <a:t>DAO</a:t>
            </a:r>
            <a:endParaRPr/>
          </a:p>
        </p:txBody>
      </p:sp>
      <p:pic>
        <p:nvPicPr>
          <p:cNvPr id="303" name="Google Shape;303;p9"/>
          <p:cNvPicPr preferRelativeResize="0"/>
          <p:nvPr/>
        </p:nvPicPr>
        <p:blipFill rotWithShape="1">
          <a:blip r:embed="rId3">
            <a:alphaModFix/>
          </a:blip>
          <a:srcRect/>
          <a:stretch/>
        </p:blipFill>
        <p:spPr>
          <a:xfrm>
            <a:off x="364319" y="3816606"/>
            <a:ext cx="2884988" cy="993354"/>
          </a:xfrm>
          <a:prstGeom prst="rect">
            <a:avLst/>
          </a:prstGeom>
          <a:noFill/>
          <a:ln>
            <a:noFill/>
          </a:ln>
        </p:spPr>
      </p:pic>
      <p:pic>
        <p:nvPicPr>
          <p:cNvPr id="304" name="Google Shape;304;p9"/>
          <p:cNvPicPr preferRelativeResize="0"/>
          <p:nvPr/>
        </p:nvPicPr>
        <p:blipFill rotWithShape="1">
          <a:blip r:embed="rId4">
            <a:alphaModFix/>
          </a:blip>
          <a:srcRect/>
          <a:stretch/>
        </p:blipFill>
        <p:spPr>
          <a:xfrm>
            <a:off x="8902709" y="4281399"/>
            <a:ext cx="2884988" cy="916701"/>
          </a:xfrm>
          <a:prstGeom prst="rect">
            <a:avLst/>
          </a:prstGeom>
          <a:noFill/>
          <a:ln>
            <a:noFill/>
          </a:ln>
        </p:spPr>
      </p:pic>
      <p:grpSp>
        <p:nvGrpSpPr>
          <p:cNvPr id="305" name="Google Shape;305;p9"/>
          <p:cNvGrpSpPr/>
          <p:nvPr/>
        </p:nvGrpSpPr>
        <p:grpSpPr>
          <a:xfrm>
            <a:off x="384143" y="2528898"/>
            <a:ext cx="11517854" cy="4015396"/>
            <a:chOff x="364319" y="2127171"/>
            <a:chExt cx="11517854" cy="4015396"/>
          </a:xfrm>
        </p:grpSpPr>
        <p:sp>
          <p:nvSpPr>
            <p:cNvPr id="306" name="Google Shape;306;p9"/>
            <p:cNvSpPr/>
            <p:nvPr/>
          </p:nvSpPr>
          <p:spPr>
            <a:xfrm>
              <a:off x="4377469" y="2485059"/>
              <a:ext cx="3955543" cy="1331547"/>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07" name="Google Shape;307;p9"/>
            <p:cNvSpPr/>
            <p:nvPr/>
          </p:nvSpPr>
          <p:spPr>
            <a:xfrm>
              <a:off x="4375609" y="2127171"/>
              <a:ext cx="1647591" cy="35933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08" name="Google Shape;308;p9"/>
            <p:cNvSpPr/>
            <p:nvPr/>
          </p:nvSpPr>
          <p:spPr>
            <a:xfrm>
              <a:off x="4526420" y="2680812"/>
              <a:ext cx="1647591"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1" u="none" strike="noStrike" cap="none">
                  <a:solidFill>
                    <a:schemeClr val="dk1"/>
                  </a:solidFill>
                  <a:latin typeface="Arial"/>
                  <a:ea typeface="Arial"/>
                  <a:cs typeface="Arial"/>
                  <a:sym typeface="Arial"/>
                </a:rPr>
                <a:t>CashPayment</a:t>
              </a:r>
              <a:endParaRPr/>
            </a:p>
          </p:txBody>
        </p:sp>
        <p:sp>
          <p:nvSpPr>
            <p:cNvPr id="309" name="Google Shape;309;p9"/>
            <p:cNvSpPr/>
            <p:nvPr/>
          </p:nvSpPr>
          <p:spPr>
            <a:xfrm>
              <a:off x="6502858" y="2680812"/>
              <a:ext cx="1647591"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1" u="none" strike="noStrike" cap="none">
                  <a:solidFill>
                    <a:schemeClr val="dk1"/>
                  </a:solidFill>
                  <a:latin typeface="Arial"/>
                  <a:ea typeface="Arial"/>
                  <a:cs typeface="Arial"/>
                  <a:sym typeface="Arial"/>
                </a:rPr>
                <a:t>CreditPayment</a:t>
              </a:r>
              <a:endParaRPr/>
            </a:p>
          </p:txBody>
        </p:sp>
        <p:sp>
          <p:nvSpPr>
            <p:cNvPr id="310" name="Google Shape;310;p9"/>
            <p:cNvSpPr/>
            <p:nvPr/>
          </p:nvSpPr>
          <p:spPr>
            <a:xfrm>
              <a:off x="4526420" y="3276878"/>
              <a:ext cx="1647591"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1" u="none" strike="noStrike" cap="none">
                  <a:solidFill>
                    <a:schemeClr val="dk1"/>
                  </a:solidFill>
                  <a:latin typeface="Arial"/>
                  <a:ea typeface="Arial"/>
                  <a:cs typeface="Arial"/>
                  <a:sym typeface="Arial"/>
                </a:rPr>
                <a:t>DebitPayment</a:t>
              </a:r>
              <a:endParaRPr/>
            </a:p>
          </p:txBody>
        </p:sp>
        <p:sp>
          <p:nvSpPr>
            <p:cNvPr id="311" name="Google Shape;311;p9"/>
            <p:cNvSpPr/>
            <p:nvPr/>
          </p:nvSpPr>
          <p:spPr>
            <a:xfrm>
              <a:off x="367171" y="4445831"/>
              <a:ext cx="1647591" cy="35933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12" name="Google Shape;312;p9"/>
            <p:cNvSpPr/>
            <p:nvPr/>
          </p:nvSpPr>
          <p:spPr>
            <a:xfrm>
              <a:off x="558477" y="4451756"/>
              <a:ext cx="1054084" cy="347481"/>
            </a:xfrm>
            <a:prstGeom prst="rect">
              <a:avLst/>
            </a:prstGeom>
            <a:noFill/>
            <a:ln>
              <a:noFill/>
            </a:ln>
          </p:spPr>
          <p:txBody>
            <a:bodyPr spcFirstLastPara="1" wrap="square" lIns="42500" tIns="42500" rIns="42500" bIns="42500" anchor="ctr" anchorCtr="0">
              <a:spAutoFit/>
            </a:bodyPr>
            <a:lstStyle/>
            <a:p>
              <a:pPr marL="0" marR="0" lvl="0" indent="0" algn="l" rtl="0">
                <a:spcBef>
                  <a:spcPts val="0"/>
                </a:spcBef>
                <a:spcAft>
                  <a:spcPts val="0"/>
                </a:spcAft>
                <a:buNone/>
              </a:pPr>
              <a:r>
                <a:rPr lang="en-US" sz="1700" b="0" i="0" u="none" strike="noStrike" cap="none">
                  <a:solidFill>
                    <a:schemeClr val="dk1"/>
                  </a:solidFill>
                  <a:latin typeface="Arial"/>
                  <a:ea typeface="Arial"/>
                  <a:cs typeface="Arial"/>
                  <a:sym typeface="Arial"/>
                </a:rPr>
                <a:t>SQLiteDAO</a:t>
              </a:r>
              <a:endParaRPr/>
            </a:p>
          </p:txBody>
        </p:sp>
        <p:sp>
          <p:nvSpPr>
            <p:cNvPr id="313" name="Google Shape;313;p9"/>
            <p:cNvSpPr/>
            <p:nvPr/>
          </p:nvSpPr>
          <p:spPr>
            <a:xfrm>
              <a:off x="473646" y="4997825"/>
              <a:ext cx="2497088"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CashPaymentSQLiteImpl</a:t>
              </a:r>
              <a:endParaRPr/>
            </a:p>
          </p:txBody>
        </p:sp>
        <p:sp>
          <p:nvSpPr>
            <p:cNvPr id="314" name="Google Shape;314;p9"/>
            <p:cNvSpPr/>
            <p:nvPr/>
          </p:nvSpPr>
          <p:spPr>
            <a:xfrm>
              <a:off x="3094075" y="4997825"/>
              <a:ext cx="2497089"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CreditPaymentSQLiteImpl</a:t>
              </a:r>
              <a:endParaRPr/>
            </a:p>
          </p:txBody>
        </p:sp>
        <p:sp>
          <p:nvSpPr>
            <p:cNvPr id="315" name="Google Shape;315;p9"/>
            <p:cNvSpPr/>
            <p:nvPr/>
          </p:nvSpPr>
          <p:spPr>
            <a:xfrm>
              <a:off x="475259" y="5595538"/>
              <a:ext cx="2493863"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DebitPaymentSQLiteImpl</a:t>
              </a:r>
              <a:endParaRPr/>
            </a:p>
          </p:txBody>
        </p:sp>
        <p:sp>
          <p:nvSpPr>
            <p:cNvPr id="316" name="Google Shape;316;p9"/>
            <p:cNvSpPr/>
            <p:nvPr/>
          </p:nvSpPr>
          <p:spPr>
            <a:xfrm>
              <a:off x="6590171" y="4445831"/>
              <a:ext cx="1647591" cy="35933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17" name="Google Shape;317;p9"/>
            <p:cNvSpPr/>
            <p:nvPr/>
          </p:nvSpPr>
          <p:spPr>
            <a:xfrm>
              <a:off x="6793383" y="4451756"/>
              <a:ext cx="1056777" cy="347481"/>
            </a:xfrm>
            <a:prstGeom prst="rect">
              <a:avLst/>
            </a:prstGeom>
            <a:noFill/>
            <a:ln>
              <a:noFill/>
            </a:ln>
          </p:spPr>
          <p:txBody>
            <a:bodyPr spcFirstLastPara="1" wrap="square" lIns="42500" tIns="42500" rIns="42500" bIns="42500" anchor="ctr" anchorCtr="0">
              <a:spAutoFit/>
            </a:bodyPr>
            <a:lstStyle/>
            <a:p>
              <a:pPr marL="0" marR="0" lvl="0" indent="0" algn="l" rtl="0">
                <a:spcBef>
                  <a:spcPts val="0"/>
                </a:spcBef>
                <a:spcAft>
                  <a:spcPts val="0"/>
                </a:spcAft>
                <a:buNone/>
              </a:pPr>
              <a:r>
                <a:rPr lang="en-US" sz="1700" b="0" i="0" u="none" strike="noStrike" cap="none">
                  <a:solidFill>
                    <a:schemeClr val="dk1"/>
                  </a:solidFill>
                  <a:latin typeface="Arial"/>
                  <a:ea typeface="Arial"/>
                  <a:cs typeface="Arial"/>
                  <a:sym typeface="Arial"/>
                </a:rPr>
                <a:t>OracleDAO</a:t>
              </a:r>
              <a:endParaRPr/>
            </a:p>
          </p:txBody>
        </p:sp>
        <p:sp>
          <p:nvSpPr>
            <p:cNvPr id="318" name="Google Shape;318;p9"/>
            <p:cNvSpPr/>
            <p:nvPr/>
          </p:nvSpPr>
          <p:spPr>
            <a:xfrm>
              <a:off x="364319" y="4802090"/>
              <a:ext cx="5306468" cy="13315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19" name="Google Shape;319;p9"/>
            <p:cNvSpPr/>
            <p:nvPr/>
          </p:nvSpPr>
          <p:spPr>
            <a:xfrm>
              <a:off x="6575705" y="4811019"/>
              <a:ext cx="5306468" cy="13315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20" name="Google Shape;320;p9"/>
            <p:cNvSpPr/>
            <p:nvPr/>
          </p:nvSpPr>
          <p:spPr>
            <a:xfrm>
              <a:off x="4498175" y="3832979"/>
              <a:ext cx="203896" cy="152922"/>
            </a:xfrm>
            <a:custGeom>
              <a:avLst/>
              <a:gdLst/>
              <a:ahLst/>
              <a:cxnLst/>
              <a:rect l="l" t="t" r="r" b="b"/>
              <a:pathLst>
                <a:path w="21600" h="21600" extrusionOk="0">
                  <a:moveTo>
                    <a:pt x="10800" y="0"/>
                  </a:moveTo>
                  <a:lnTo>
                    <a:pt x="21600" y="21600"/>
                  </a:lnTo>
                  <a:lnTo>
                    <a:pt x="0" y="21600"/>
                  </a:lnTo>
                  <a:close/>
                </a:path>
              </a:pathLst>
            </a:custGeom>
            <a:noFill/>
            <a:ln>
              <a:noFill/>
            </a:ln>
          </p:spPr>
          <p:txBody>
            <a:bodyPr spcFirstLastPara="1" wrap="square" lIns="38250" tIns="38250" rIns="38250" bIns="3825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321" name="Google Shape;321;p9"/>
            <p:cNvCxnSpPr/>
            <p:nvPr/>
          </p:nvCxnSpPr>
          <p:spPr>
            <a:xfrm>
              <a:off x="4599378" y="3980950"/>
              <a:ext cx="1" cy="837536"/>
            </a:xfrm>
            <a:prstGeom prst="straightConnector1">
              <a:avLst/>
            </a:prstGeom>
            <a:noFill/>
            <a:ln>
              <a:noFill/>
            </a:ln>
          </p:spPr>
        </p:cxnSp>
        <p:sp>
          <p:nvSpPr>
            <p:cNvPr id="322" name="Google Shape;322;p9"/>
            <p:cNvSpPr/>
            <p:nvPr/>
          </p:nvSpPr>
          <p:spPr>
            <a:xfrm>
              <a:off x="7984628" y="3823049"/>
              <a:ext cx="203895" cy="152921"/>
            </a:xfrm>
            <a:custGeom>
              <a:avLst/>
              <a:gdLst/>
              <a:ahLst/>
              <a:cxnLst/>
              <a:rect l="l" t="t" r="r" b="b"/>
              <a:pathLst>
                <a:path w="21600" h="21600" extrusionOk="0">
                  <a:moveTo>
                    <a:pt x="10800" y="0"/>
                  </a:moveTo>
                  <a:lnTo>
                    <a:pt x="21600" y="21600"/>
                  </a:lnTo>
                  <a:lnTo>
                    <a:pt x="0" y="21600"/>
                  </a:lnTo>
                  <a:close/>
                </a:path>
              </a:pathLst>
            </a:custGeom>
            <a:noFill/>
            <a:ln>
              <a:noFill/>
            </a:ln>
          </p:spPr>
          <p:txBody>
            <a:bodyPr spcFirstLastPara="1" wrap="square" lIns="38250" tIns="38250" rIns="38250" bIns="3825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323" name="Google Shape;323;p9"/>
            <p:cNvCxnSpPr/>
            <p:nvPr/>
          </p:nvCxnSpPr>
          <p:spPr>
            <a:xfrm>
              <a:off x="8085832" y="3970598"/>
              <a:ext cx="1" cy="527695"/>
            </a:xfrm>
            <a:prstGeom prst="straightConnector1">
              <a:avLst/>
            </a:prstGeom>
            <a:noFill/>
            <a:ln>
              <a:noFill/>
            </a:ln>
          </p:spPr>
        </p:cxnSp>
        <p:sp>
          <p:nvSpPr>
            <p:cNvPr id="324" name="Google Shape;324;p9"/>
            <p:cNvSpPr/>
            <p:nvPr/>
          </p:nvSpPr>
          <p:spPr>
            <a:xfrm>
              <a:off x="6670179" y="4989342"/>
              <a:ext cx="2497089"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CashPaymentOracleImpl</a:t>
              </a:r>
              <a:endParaRPr/>
            </a:p>
          </p:txBody>
        </p:sp>
        <p:sp>
          <p:nvSpPr>
            <p:cNvPr id="325" name="Google Shape;325;p9"/>
            <p:cNvSpPr/>
            <p:nvPr/>
          </p:nvSpPr>
          <p:spPr>
            <a:xfrm>
              <a:off x="9290608" y="4989342"/>
              <a:ext cx="2497089"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CreditPaymentOracleImpl</a:t>
              </a:r>
              <a:endParaRPr/>
            </a:p>
          </p:txBody>
        </p:sp>
        <p:sp>
          <p:nvSpPr>
            <p:cNvPr id="326" name="Google Shape;326;p9"/>
            <p:cNvSpPr/>
            <p:nvPr/>
          </p:nvSpPr>
          <p:spPr>
            <a:xfrm>
              <a:off x="6671793" y="5587055"/>
              <a:ext cx="2493863"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DebitPaymentOracleImpl</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0"/>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10</a:t>
            </a:fld>
            <a:endParaRPr sz="1800">
              <a:solidFill>
                <a:srgbClr val="CC0000"/>
              </a:solidFill>
            </a:endParaRPr>
          </a:p>
        </p:txBody>
      </p:sp>
      <p:sp>
        <p:nvSpPr>
          <p:cNvPr id="332" name="Google Shape;332;p10"/>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Package diagrams</a:t>
            </a:r>
            <a:endParaRPr/>
          </a:p>
        </p:txBody>
      </p:sp>
      <p:sp>
        <p:nvSpPr>
          <p:cNvPr id="333" name="Google Shape;333;p10"/>
          <p:cNvSpPr txBox="1">
            <a:spLocks noGrp="1"/>
          </p:cNvSpPr>
          <p:nvPr>
            <p:ph type="body" idx="1"/>
          </p:nvPr>
        </p:nvSpPr>
        <p:spPr>
          <a:xfrm>
            <a:off x="564543" y="1447137"/>
            <a:ext cx="10789257"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Organizing principles of packages (continued)</a:t>
            </a:r>
            <a:endParaRPr/>
          </a:p>
          <a:p>
            <a:pPr marL="992565" lvl="1" indent="-597931" algn="l" rtl="0">
              <a:lnSpc>
                <a:spcPct val="90000"/>
              </a:lnSpc>
              <a:spcBef>
                <a:spcPts val="500"/>
              </a:spcBef>
              <a:spcAft>
                <a:spcPts val="0"/>
              </a:spcAft>
              <a:buClr>
                <a:schemeClr val="dk1"/>
              </a:buClr>
              <a:buSzPts val="2000"/>
              <a:buChar char="•"/>
            </a:pPr>
            <a:r>
              <a:rPr lang="en-US" sz="2000" b="1"/>
              <a:t>Package of unstable elements</a:t>
            </a:r>
            <a:endParaRPr/>
          </a:p>
          <a:p>
            <a:pPr marL="1328548" lvl="2" indent="-567179" algn="l" rtl="0">
              <a:lnSpc>
                <a:spcPct val="90000"/>
              </a:lnSpc>
              <a:spcBef>
                <a:spcPts val="500"/>
              </a:spcBef>
              <a:spcAft>
                <a:spcPts val="0"/>
              </a:spcAft>
              <a:buClr>
                <a:schemeClr val="dk1"/>
              </a:buClr>
              <a:buSzPts val="1800"/>
              <a:buChar char="•"/>
            </a:pPr>
            <a:r>
              <a:rPr lang="en-US"/>
              <a:t>Stable elements are grouped in a package</a:t>
            </a:r>
            <a:endParaRPr/>
          </a:p>
          <a:p>
            <a:pPr marL="1328548" lvl="2" indent="-567179" algn="l" rtl="0">
              <a:lnSpc>
                <a:spcPct val="90000"/>
              </a:lnSpc>
              <a:spcBef>
                <a:spcPts val="500"/>
              </a:spcBef>
              <a:spcAft>
                <a:spcPts val="0"/>
              </a:spcAft>
              <a:buClr>
                <a:schemeClr val="dk1"/>
              </a:buClr>
              <a:buSzPts val="1800"/>
              <a:buChar char="•"/>
            </a:pPr>
            <a:r>
              <a:rPr lang="en-US"/>
              <a:t>Unstable elements are grouped together in a package</a:t>
            </a:r>
            <a:endParaRPr/>
          </a:p>
          <a:p>
            <a:pPr marL="1677131" lvl="3" indent="-583580" algn="l" rtl="0">
              <a:lnSpc>
                <a:spcPct val="90000"/>
              </a:lnSpc>
              <a:spcBef>
                <a:spcPts val="500"/>
              </a:spcBef>
              <a:spcAft>
                <a:spcPts val="0"/>
              </a:spcAft>
              <a:buClr>
                <a:schemeClr val="dk1"/>
              </a:buClr>
              <a:buSzPts val="2000"/>
              <a:buChar char="•"/>
            </a:pPr>
            <a:r>
              <a:rPr lang="en-US" sz="2000"/>
              <a:t>These are items that are often modified and redistributed</a:t>
            </a:r>
            <a:endParaRPr/>
          </a:p>
          <a:p>
            <a:pPr marL="1677131" lvl="3" indent="-583580" algn="l" rtl="0">
              <a:lnSpc>
                <a:spcPct val="90000"/>
              </a:lnSpc>
              <a:spcBef>
                <a:spcPts val="500"/>
              </a:spcBef>
              <a:spcAft>
                <a:spcPts val="0"/>
              </a:spcAft>
              <a:buClr>
                <a:schemeClr val="dk1"/>
              </a:buClr>
              <a:buSzPts val="2000"/>
              <a:buChar char="•"/>
            </a:pPr>
            <a:r>
              <a:rPr lang="en-US" sz="2000"/>
              <a:t>To reduce the impact on the stable elements</a:t>
            </a:r>
            <a:endParaRPr/>
          </a:p>
          <a:p>
            <a:pPr marL="1677131" lvl="3" indent="-583580" algn="l" rtl="0">
              <a:lnSpc>
                <a:spcPct val="90000"/>
              </a:lnSpc>
              <a:spcBef>
                <a:spcPts val="500"/>
              </a:spcBef>
              <a:spcAft>
                <a:spcPts val="0"/>
              </a:spcAft>
              <a:buClr>
                <a:schemeClr val="dk1"/>
              </a:buClr>
              <a:buSzPts val="2000"/>
              <a:buChar char="•"/>
            </a:pPr>
            <a:r>
              <a:rPr lang="en-US" sz="2000"/>
              <a:t>Example: a package includes twenty classes of which ten are often modified and redistributed. It is best to separate them into two packages: one includes ten stable classes, the other is unstable.</a:t>
            </a:r>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1"/>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11</a:t>
            </a:fld>
            <a:endParaRPr sz="1800">
              <a:solidFill>
                <a:srgbClr val="CC0000"/>
              </a:solidFill>
            </a:endParaRPr>
          </a:p>
        </p:txBody>
      </p:sp>
      <p:sp>
        <p:nvSpPr>
          <p:cNvPr id="339" name="Google Shape;339;p11"/>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Package diagrams</a:t>
            </a:r>
            <a:endParaRPr/>
          </a:p>
        </p:txBody>
      </p:sp>
      <p:sp>
        <p:nvSpPr>
          <p:cNvPr id="340" name="Google Shape;340;p11"/>
          <p:cNvSpPr txBox="1">
            <a:spLocks noGrp="1"/>
          </p:cNvSpPr>
          <p:nvPr>
            <p:ph type="body" idx="1"/>
          </p:nvPr>
        </p:nvSpPr>
        <p:spPr>
          <a:xfrm>
            <a:off x="304396" y="1154436"/>
            <a:ext cx="11477725"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Organizing principles of packages (continued)</a:t>
            </a:r>
            <a:endParaRPr/>
          </a:p>
          <a:p>
            <a:pPr marL="992565" lvl="1" indent="-597931" algn="l" rtl="0">
              <a:lnSpc>
                <a:spcPct val="90000"/>
              </a:lnSpc>
              <a:spcBef>
                <a:spcPts val="500"/>
              </a:spcBef>
              <a:spcAft>
                <a:spcPts val="0"/>
              </a:spcAft>
              <a:buClr>
                <a:schemeClr val="dk1"/>
              </a:buClr>
              <a:buSzPts val="2000"/>
              <a:buChar char="•"/>
            </a:pPr>
            <a:r>
              <a:rPr lang="en-US" sz="2000"/>
              <a:t>The more dependent the more stable</a:t>
            </a:r>
            <a:endParaRPr/>
          </a:p>
          <a:p>
            <a:pPr marL="1328548" lvl="2" indent="-567179" algn="l" rtl="0">
              <a:lnSpc>
                <a:spcPct val="90000"/>
              </a:lnSpc>
              <a:spcBef>
                <a:spcPts val="500"/>
              </a:spcBef>
              <a:spcAft>
                <a:spcPts val="0"/>
              </a:spcAft>
              <a:buClr>
                <a:schemeClr val="dk1"/>
              </a:buClr>
              <a:buSzPts val="1800"/>
              <a:buChar char="•"/>
            </a:pPr>
            <a:r>
              <a:rPr lang="en-US"/>
              <a:t>The more dependent a package has, the more stable it should be</a:t>
            </a:r>
            <a:endParaRPr/>
          </a:p>
          <a:p>
            <a:pPr marL="1677131" lvl="3" indent="-583580" algn="l" rtl="0">
              <a:lnSpc>
                <a:spcPct val="90000"/>
              </a:lnSpc>
              <a:spcBef>
                <a:spcPts val="500"/>
              </a:spcBef>
              <a:spcAft>
                <a:spcPts val="0"/>
              </a:spcAft>
              <a:buClr>
                <a:schemeClr val="dk1"/>
              </a:buClr>
              <a:buSzPts val="2000"/>
              <a:buChar char="•"/>
            </a:pPr>
            <a:r>
              <a:rPr lang="en-US" sz="2000"/>
              <a:t>Since changes on these packages has big impact on other packages</a:t>
            </a:r>
            <a:endParaRPr/>
          </a:p>
          <a:p>
            <a:pPr marL="1677131" lvl="3" indent="-583580" algn="l" rtl="0">
              <a:lnSpc>
                <a:spcPct val="90000"/>
              </a:lnSpc>
              <a:spcBef>
                <a:spcPts val="500"/>
              </a:spcBef>
              <a:spcAft>
                <a:spcPts val="0"/>
              </a:spcAft>
              <a:buClr>
                <a:schemeClr val="dk1"/>
              </a:buClr>
              <a:buSzPts val="2000"/>
              <a:buChar char="•"/>
            </a:pPr>
            <a:r>
              <a:rPr lang="en-US" sz="2000"/>
              <a:t>For example, a “tools” package needs to be stable.</a:t>
            </a:r>
            <a:endParaRPr/>
          </a:p>
          <a:p>
            <a:pPr marL="1328548" lvl="2" indent="-567179" algn="l" rtl="0">
              <a:lnSpc>
                <a:spcPct val="90000"/>
              </a:lnSpc>
              <a:spcBef>
                <a:spcPts val="500"/>
              </a:spcBef>
              <a:spcAft>
                <a:spcPts val="0"/>
              </a:spcAft>
              <a:buClr>
                <a:schemeClr val="dk1"/>
              </a:buClr>
              <a:buSzPts val="1800"/>
              <a:buChar char="•"/>
            </a:pPr>
            <a:r>
              <a:rPr lang="en-US"/>
              <a:t>Some ways to improve the stability of a package</a:t>
            </a:r>
            <a:endParaRPr/>
          </a:p>
          <a:p>
            <a:pPr marL="1677131" lvl="3" indent="-583580" algn="l" rtl="0">
              <a:lnSpc>
                <a:spcPct val="90000"/>
              </a:lnSpc>
              <a:spcBef>
                <a:spcPts val="500"/>
              </a:spcBef>
              <a:spcAft>
                <a:spcPts val="0"/>
              </a:spcAft>
              <a:buClr>
                <a:schemeClr val="dk1"/>
              </a:buClr>
              <a:buSzPts val="2000"/>
              <a:buChar char="•"/>
            </a:pPr>
            <a:r>
              <a:rPr lang="en-US" sz="2000"/>
              <a:t>It contains only interfaces or abstract classes</a:t>
            </a:r>
            <a:endParaRPr/>
          </a:p>
          <a:p>
            <a:pPr marL="1677131" lvl="3" indent="-583580" algn="l" rtl="0">
              <a:lnSpc>
                <a:spcPct val="90000"/>
              </a:lnSpc>
              <a:spcBef>
                <a:spcPts val="500"/>
              </a:spcBef>
              <a:spcAft>
                <a:spcPts val="0"/>
              </a:spcAft>
              <a:buClr>
                <a:schemeClr val="dk1"/>
              </a:buClr>
              <a:buSzPts val="2000"/>
              <a:buChar char="•"/>
            </a:pPr>
            <a:r>
              <a:rPr lang="en-US" sz="2000"/>
              <a:t>It doesn’t depend on other packages, or depends only on very stable packages</a:t>
            </a:r>
            <a:endParaRPr/>
          </a:p>
          <a:p>
            <a:pPr marL="1677131" lvl="3" indent="-583580" algn="l" rtl="0">
              <a:lnSpc>
                <a:spcPct val="90000"/>
              </a:lnSpc>
              <a:spcBef>
                <a:spcPts val="500"/>
              </a:spcBef>
              <a:spcAft>
                <a:spcPts val="0"/>
              </a:spcAft>
              <a:buClr>
                <a:schemeClr val="dk1"/>
              </a:buClr>
              <a:buSzPts val="2000"/>
              <a:buChar char="•"/>
            </a:pPr>
            <a:r>
              <a:rPr lang="en-US" sz="2000"/>
              <a:t>It contains stable code (well implemented)</a:t>
            </a:r>
            <a:endParaRPr/>
          </a:p>
        </p:txBody>
      </p:sp>
      <p:grpSp>
        <p:nvGrpSpPr>
          <p:cNvPr id="31" name="Group 3659"/>
          <p:cNvGrpSpPr/>
          <p:nvPr/>
        </p:nvGrpSpPr>
        <p:grpSpPr>
          <a:xfrm>
            <a:off x="5383671" y="4928545"/>
            <a:ext cx="1424660" cy="719730"/>
            <a:chOff x="0" y="0"/>
            <a:chExt cx="1519636" cy="1023614"/>
          </a:xfrm>
        </p:grpSpPr>
        <p:sp>
          <p:nvSpPr>
            <p:cNvPr id="32" name="Shape 3656"/>
            <p:cNvSpPr/>
            <p:nvPr/>
          </p:nvSpPr>
          <p:spPr>
            <a:xfrm>
              <a:off x="3042" y="0"/>
              <a:ext cx="662928" cy="230921"/>
            </a:xfrm>
            <a:prstGeom prst="rect">
              <a:avLst/>
            </a:prstGeom>
            <a:noFill/>
            <a:ln w="12700" cap="flat">
              <a:solidFill>
                <a:srgbClr val="000000"/>
              </a:solidFill>
              <a:prstDash val="solid"/>
              <a:round/>
            </a:ln>
            <a:effectLst/>
          </p:spPr>
          <p:txBody>
            <a:bodyPr wrap="square" lIns="0" tIns="0" rIns="0" bIns="0" numCol="1" anchor="ctr">
              <a:noAutofit/>
            </a:bodyPr>
            <a:lstStyle/>
            <a:p>
              <a:pPr lvl="0"/>
              <a:endParaRPr/>
            </a:p>
          </p:txBody>
        </p:sp>
        <p:sp>
          <p:nvSpPr>
            <p:cNvPr id="33" name="Shape 3657"/>
            <p:cNvSpPr/>
            <p:nvPr/>
          </p:nvSpPr>
          <p:spPr>
            <a:xfrm>
              <a:off x="0" y="226551"/>
              <a:ext cx="1519636" cy="797063"/>
            </a:xfrm>
            <a:prstGeom prst="rect">
              <a:avLst/>
            </a:prstGeom>
            <a:noFill/>
            <a:ln w="12700" cap="flat">
              <a:solidFill>
                <a:srgbClr val="000000"/>
              </a:solidFill>
              <a:prstDash val="solid"/>
              <a:round/>
            </a:ln>
            <a:effectLst/>
          </p:spPr>
          <p:txBody>
            <a:bodyPr wrap="square" lIns="0" tIns="0" rIns="0" bIns="0" numCol="1" anchor="ctr">
              <a:noAutofit/>
            </a:bodyPr>
            <a:lstStyle/>
            <a:p>
              <a:pPr lvl="0"/>
              <a:endParaRPr/>
            </a:p>
          </p:txBody>
        </p:sp>
        <p:sp>
          <p:nvSpPr>
            <p:cNvPr id="34" name="Shape 3658"/>
            <p:cNvSpPr/>
            <p:nvPr/>
          </p:nvSpPr>
          <p:spPr>
            <a:xfrm>
              <a:off x="407822" y="366095"/>
              <a:ext cx="591478" cy="51797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defRPr sz="2000"/>
              </a:lvl1pPr>
            </a:lstStyle>
            <a:p>
              <a:pPr lvl="0">
                <a:defRPr sz="1800">
                  <a:uFillTx/>
                </a:defRPr>
              </a:pPr>
              <a:r>
                <a:rPr sz="1700">
                  <a:uFill>
                    <a:solidFill/>
                  </a:uFill>
                </a:rPr>
                <a:t>Tools</a:t>
              </a:r>
            </a:p>
          </p:txBody>
        </p:sp>
      </p:grpSp>
      <p:grpSp>
        <p:nvGrpSpPr>
          <p:cNvPr id="35" name="Group 3663"/>
          <p:cNvGrpSpPr/>
          <p:nvPr/>
        </p:nvGrpSpPr>
        <p:grpSpPr>
          <a:xfrm>
            <a:off x="2756358" y="4220124"/>
            <a:ext cx="1424660" cy="719730"/>
            <a:chOff x="0" y="0"/>
            <a:chExt cx="1519636" cy="1023614"/>
          </a:xfrm>
        </p:grpSpPr>
        <p:sp>
          <p:nvSpPr>
            <p:cNvPr id="36" name="Shape 3660"/>
            <p:cNvSpPr/>
            <p:nvPr/>
          </p:nvSpPr>
          <p:spPr>
            <a:xfrm>
              <a:off x="3042" y="0"/>
              <a:ext cx="662928" cy="230921"/>
            </a:xfrm>
            <a:prstGeom prst="rect">
              <a:avLst/>
            </a:prstGeom>
            <a:noFill/>
            <a:ln w="12700" cap="flat">
              <a:solidFill>
                <a:srgbClr val="000000"/>
              </a:solidFill>
              <a:prstDash val="solid"/>
              <a:round/>
            </a:ln>
            <a:effectLst/>
          </p:spPr>
          <p:txBody>
            <a:bodyPr wrap="square" lIns="0" tIns="0" rIns="0" bIns="0" numCol="1" anchor="ctr">
              <a:noAutofit/>
            </a:bodyPr>
            <a:lstStyle/>
            <a:p>
              <a:pPr lvl="0"/>
              <a:endParaRPr/>
            </a:p>
          </p:txBody>
        </p:sp>
        <p:sp>
          <p:nvSpPr>
            <p:cNvPr id="37" name="Shape 3661"/>
            <p:cNvSpPr/>
            <p:nvPr/>
          </p:nvSpPr>
          <p:spPr>
            <a:xfrm>
              <a:off x="0" y="226551"/>
              <a:ext cx="1519636" cy="797063"/>
            </a:xfrm>
            <a:prstGeom prst="rect">
              <a:avLst/>
            </a:prstGeom>
            <a:noFill/>
            <a:ln w="12700" cap="flat">
              <a:solidFill>
                <a:srgbClr val="000000"/>
              </a:solidFill>
              <a:prstDash val="solid"/>
              <a:round/>
            </a:ln>
            <a:effectLst/>
          </p:spPr>
          <p:txBody>
            <a:bodyPr wrap="square" lIns="0" tIns="0" rIns="0" bIns="0" numCol="1" anchor="ctr">
              <a:noAutofit/>
            </a:bodyPr>
            <a:lstStyle/>
            <a:p>
              <a:pPr lvl="0"/>
              <a:endParaRPr/>
            </a:p>
          </p:txBody>
        </p:sp>
        <p:sp>
          <p:nvSpPr>
            <p:cNvPr id="38" name="Shape 3662"/>
            <p:cNvSpPr/>
            <p:nvPr/>
          </p:nvSpPr>
          <p:spPr>
            <a:xfrm>
              <a:off x="407822" y="366095"/>
              <a:ext cx="316326" cy="51797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defRPr sz="2000"/>
              </a:lvl1pPr>
            </a:lstStyle>
            <a:p>
              <a:pPr lvl="0">
                <a:defRPr sz="1800">
                  <a:uFillTx/>
                </a:defRPr>
              </a:pPr>
              <a:r>
                <a:rPr sz="1700">
                  <a:uFill>
                    <a:solidFill/>
                  </a:uFill>
                </a:rPr>
                <a:t>UI</a:t>
              </a:r>
            </a:p>
          </p:txBody>
        </p:sp>
      </p:grpSp>
      <p:grpSp>
        <p:nvGrpSpPr>
          <p:cNvPr id="39" name="Group 3667"/>
          <p:cNvGrpSpPr/>
          <p:nvPr/>
        </p:nvGrpSpPr>
        <p:grpSpPr>
          <a:xfrm>
            <a:off x="2756358" y="5154764"/>
            <a:ext cx="1424660" cy="719730"/>
            <a:chOff x="0" y="0"/>
            <a:chExt cx="1519636" cy="1023614"/>
          </a:xfrm>
        </p:grpSpPr>
        <p:sp>
          <p:nvSpPr>
            <p:cNvPr id="40" name="Shape 3664"/>
            <p:cNvSpPr/>
            <p:nvPr/>
          </p:nvSpPr>
          <p:spPr>
            <a:xfrm>
              <a:off x="3042" y="0"/>
              <a:ext cx="662928" cy="230921"/>
            </a:xfrm>
            <a:prstGeom prst="rect">
              <a:avLst/>
            </a:prstGeom>
            <a:noFill/>
            <a:ln w="12700" cap="flat">
              <a:solidFill>
                <a:srgbClr val="000000"/>
              </a:solidFill>
              <a:prstDash val="solid"/>
              <a:round/>
            </a:ln>
            <a:effectLst/>
          </p:spPr>
          <p:txBody>
            <a:bodyPr wrap="square" lIns="0" tIns="0" rIns="0" bIns="0" numCol="1" anchor="ctr">
              <a:noAutofit/>
            </a:bodyPr>
            <a:lstStyle/>
            <a:p>
              <a:pPr lvl="0"/>
              <a:endParaRPr/>
            </a:p>
          </p:txBody>
        </p:sp>
        <p:sp>
          <p:nvSpPr>
            <p:cNvPr id="41" name="Shape 3665"/>
            <p:cNvSpPr/>
            <p:nvPr/>
          </p:nvSpPr>
          <p:spPr>
            <a:xfrm>
              <a:off x="0" y="226551"/>
              <a:ext cx="1519636" cy="797063"/>
            </a:xfrm>
            <a:prstGeom prst="rect">
              <a:avLst/>
            </a:prstGeom>
            <a:noFill/>
            <a:ln w="12700" cap="flat">
              <a:solidFill>
                <a:srgbClr val="000000"/>
              </a:solidFill>
              <a:prstDash val="solid"/>
              <a:round/>
            </a:ln>
            <a:effectLst/>
          </p:spPr>
          <p:txBody>
            <a:bodyPr wrap="square" lIns="0" tIns="0" rIns="0" bIns="0" numCol="1" anchor="ctr">
              <a:noAutofit/>
            </a:bodyPr>
            <a:lstStyle/>
            <a:p>
              <a:pPr lvl="0"/>
              <a:endParaRPr/>
            </a:p>
          </p:txBody>
        </p:sp>
        <p:sp>
          <p:nvSpPr>
            <p:cNvPr id="42" name="Shape 3666"/>
            <p:cNvSpPr/>
            <p:nvPr/>
          </p:nvSpPr>
          <p:spPr>
            <a:xfrm>
              <a:off x="268121" y="366095"/>
              <a:ext cx="919910" cy="51797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defRPr sz="2000"/>
              </a:lvl1pPr>
            </a:lstStyle>
            <a:p>
              <a:pPr lvl="0">
                <a:defRPr sz="1800">
                  <a:uFillTx/>
                </a:defRPr>
              </a:pPr>
              <a:r>
                <a:rPr sz="1700">
                  <a:uFill>
                    <a:solidFill/>
                  </a:uFill>
                </a:rPr>
                <a:t>Business</a:t>
              </a:r>
            </a:p>
          </p:txBody>
        </p:sp>
      </p:grpSp>
      <p:grpSp>
        <p:nvGrpSpPr>
          <p:cNvPr id="43" name="Group 3671"/>
          <p:cNvGrpSpPr/>
          <p:nvPr/>
        </p:nvGrpSpPr>
        <p:grpSpPr>
          <a:xfrm>
            <a:off x="2798693" y="6089405"/>
            <a:ext cx="1424660" cy="719730"/>
            <a:chOff x="0" y="0"/>
            <a:chExt cx="1519636" cy="1023614"/>
          </a:xfrm>
        </p:grpSpPr>
        <p:sp>
          <p:nvSpPr>
            <p:cNvPr id="44" name="Shape 3668"/>
            <p:cNvSpPr/>
            <p:nvPr/>
          </p:nvSpPr>
          <p:spPr>
            <a:xfrm>
              <a:off x="3042" y="0"/>
              <a:ext cx="662928" cy="230921"/>
            </a:xfrm>
            <a:prstGeom prst="rect">
              <a:avLst/>
            </a:prstGeom>
            <a:noFill/>
            <a:ln w="12700" cap="flat">
              <a:solidFill>
                <a:srgbClr val="000000"/>
              </a:solidFill>
              <a:prstDash val="solid"/>
              <a:round/>
            </a:ln>
            <a:effectLst/>
          </p:spPr>
          <p:txBody>
            <a:bodyPr wrap="square" lIns="0" tIns="0" rIns="0" bIns="0" numCol="1" anchor="ctr">
              <a:noAutofit/>
            </a:bodyPr>
            <a:lstStyle/>
            <a:p>
              <a:pPr lvl="0"/>
              <a:endParaRPr/>
            </a:p>
          </p:txBody>
        </p:sp>
        <p:sp>
          <p:nvSpPr>
            <p:cNvPr id="45" name="Shape 3669"/>
            <p:cNvSpPr/>
            <p:nvPr/>
          </p:nvSpPr>
          <p:spPr>
            <a:xfrm>
              <a:off x="0" y="226551"/>
              <a:ext cx="1519636" cy="797063"/>
            </a:xfrm>
            <a:prstGeom prst="rect">
              <a:avLst/>
            </a:prstGeom>
            <a:noFill/>
            <a:ln w="12700" cap="flat">
              <a:solidFill>
                <a:srgbClr val="000000"/>
              </a:solidFill>
              <a:prstDash val="solid"/>
              <a:round/>
            </a:ln>
            <a:effectLst/>
          </p:spPr>
          <p:txBody>
            <a:bodyPr wrap="square" lIns="0" tIns="0" rIns="0" bIns="0" numCol="1" anchor="ctr">
              <a:noAutofit/>
            </a:bodyPr>
            <a:lstStyle/>
            <a:p>
              <a:pPr lvl="0"/>
              <a:endParaRPr/>
            </a:p>
          </p:txBody>
        </p:sp>
        <p:sp>
          <p:nvSpPr>
            <p:cNvPr id="46" name="Shape 3670"/>
            <p:cNvSpPr/>
            <p:nvPr/>
          </p:nvSpPr>
          <p:spPr>
            <a:xfrm>
              <a:off x="268121" y="366095"/>
              <a:ext cx="536010" cy="51797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50800" tIns="50800" rIns="50800" bIns="50800" numCol="1" anchor="ctr">
              <a:spAutoFit/>
            </a:bodyPr>
            <a:lstStyle>
              <a:lvl1pPr>
                <a:defRPr sz="2000"/>
              </a:lvl1pPr>
            </a:lstStyle>
            <a:p>
              <a:pPr lvl="0">
                <a:defRPr sz="1800">
                  <a:uFillTx/>
                </a:defRPr>
              </a:pPr>
              <a:r>
                <a:rPr sz="1700">
                  <a:uFill>
                    <a:solidFill/>
                  </a:uFill>
                </a:rPr>
                <a:t>DAO</a:t>
              </a:r>
            </a:p>
          </p:txBody>
        </p:sp>
      </p:grpSp>
      <p:sp>
        <p:nvSpPr>
          <p:cNvPr id="47" name="Shape 3672"/>
          <p:cNvSpPr/>
          <p:nvPr/>
        </p:nvSpPr>
        <p:spPr>
          <a:xfrm>
            <a:off x="3849688" y="4935018"/>
            <a:ext cx="1" cy="370047"/>
          </a:xfrm>
          <a:prstGeom prst="line">
            <a:avLst/>
          </a:prstGeom>
          <a:ln w="25400">
            <a:solidFill/>
            <a:custDash>
              <a:ds d="200000" sp="200000"/>
            </a:custDash>
            <a:miter lim="400000"/>
            <a:tailEnd type="arrow"/>
          </a:ln>
        </p:spPr>
        <p:txBody>
          <a:bodyPr lIns="0" tIns="0" rIns="0" bIns="0"/>
          <a:lstStyle/>
          <a:p>
            <a:pPr lvl="0"/>
            <a:endParaRPr/>
          </a:p>
        </p:txBody>
      </p:sp>
      <p:sp>
        <p:nvSpPr>
          <p:cNvPr id="48" name="Shape 3673"/>
          <p:cNvSpPr/>
          <p:nvPr/>
        </p:nvSpPr>
        <p:spPr>
          <a:xfrm>
            <a:off x="3849688" y="5881565"/>
            <a:ext cx="1" cy="370047"/>
          </a:xfrm>
          <a:prstGeom prst="line">
            <a:avLst/>
          </a:prstGeom>
          <a:ln w="25400">
            <a:solidFill/>
            <a:custDash>
              <a:ds d="200000" sp="200000"/>
            </a:custDash>
            <a:miter lim="400000"/>
            <a:tailEnd type="arrow"/>
          </a:ln>
        </p:spPr>
        <p:txBody>
          <a:bodyPr lIns="0" tIns="0" rIns="0" bIns="0"/>
          <a:lstStyle/>
          <a:p>
            <a:pPr lvl="0"/>
            <a:endParaRPr/>
          </a:p>
        </p:txBody>
      </p:sp>
      <p:sp>
        <p:nvSpPr>
          <p:cNvPr id="49" name="Shape 3674"/>
          <p:cNvSpPr/>
          <p:nvPr/>
        </p:nvSpPr>
        <p:spPr>
          <a:xfrm>
            <a:off x="4135723" y="4739464"/>
            <a:ext cx="1275831" cy="550158"/>
          </a:xfrm>
          <a:prstGeom prst="line">
            <a:avLst/>
          </a:prstGeom>
          <a:ln w="25400">
            <a:solidFill/>
            <a:custDash>
              <a:ds d="200000" sp="200000"/>
            </a:custDash>
            <a:miter lim="400000"/>
            <a:tailEnd type="arrow"/>
          </a:ln>
        </p:spPr>
        <p:txBody>
          <a:bodyPr lIns="0" tIns="0" rIns="0" bIns="0"/>
          <a:lstStyle/>
          <a:p>
            <a:pPr lvl="0"/>
            <a:endParaRPr/>
          </a:p>
        </p:txBody>
      </p:sp>
      <p:sp>
        <p:nvSpPr>
          <p:cNvPr id="50" name="Shape 3675"/>
          <p:cNvSpPr/>
          <p:nvPr/>
        </p:nvSpPr>
        <p:spPr>
          <a:xfrm>
            <a:off x="4175125" y="5429128"/>
            <a:ext cx="1193011" cy="1"/>
          </a:xfrm>
          <a:prstGeom prst="line">
            <a:avLst/>
          </a:prstGeom>
          <a:ln w="25400">
            <a:solidFill/>
            <a:custDash>
              <a:ds d="200000" sp="200000"/>
            </a:custDash>
            <a:miter lim="400000"/>
            <a:tailEnd type="arrow"/>
          </a:ln>
        </p:spPr>
        <p:txBody>
          <a:bodyPr lIns="0" tIns="0" rIns="0" bIns="0"/>
          <a:lstStyle/>
          <a:p>
            <a:pPr lvl="0"/>
            <a:endParaRPr/>
          </a:p>
        </p:txBody>
      </p:sp>
      <p:sp>
        <p:nvSpPr>
          <p:cNvPr id="51" name="Shape 3676"/>
          <p:cNvSpPr/>
          <p:nvPr/>
        </p:nvSpPr>
        <p:spPr>
          <a:xfrm flipV="1">
            <a:off x="4172703" y="5585194"/>
            <a:ext cx="1202078" cy="901558"/>
          </a:xfrm>
          <a:prstGeom prst="line">
            <a:avLst/>
          </a:prstGeom>
          <a:ln w="25400">
            <a:solidFill/>
            <a:custDash>
              <a:ds d="200000" sp="200000"/>
            </a:custDash>
            <a:miter lim="400000"/>
            <a:tailEnd type="arrow"/>
          </a:ln>
        </p:spPr>
        <p:txBody>
          <a:bodyPr lIns="0" tIns="0" rIns="0" bIns="0"/>
          <a:lstStyle/>
          <a:p>
            <a:pPr lvl="0"/>
            <a:endParaRPr/>
          </a:p>
        </p:txBody>
      </p:sp>
      <p:sp>
        <p:nvSpPr>
          <p:cNvPr id="52" name="Shape 3677"/>
          <p:cNvSpPr/>
          <p:nvPr/>
        </p:nvSpPr>
        <p:spPr>
          <a:xfrm>
            <a:off x="3785704" y="4885385"/>
            <a:ext cx="412883" cy="362869"/>
          </a:xfrm>
          <a:prstGeom prst="rect">
            <a:avLst/>
          </a:prstGeom>
          <a:ln w="12700">
            <a:miter lim="400000"/>
          </a:ln>
          <a:extLst>
            <a:ext uri="{C572A759-6A51-4108-AA02-DFA0A04FC94B}">
              <ma14:wrappingTextBoxFlag xmlns="" xmlns:ma14="http://schemas.microsoft.com/office/mac/drawingml/2011/main" val="1"/>
            </a:ext>
          </a:extLst>
        </p:spPr>
        <p:txBody>
          <a:bodyPr wrap="none" lIns="42520" tIns="42520" rIns="42520" bIns="42520" anchor="ctr">
            <a:spAutoFit/>
          </a:bodyPr>
          <a:lstStyle>
            <a:lvl1pPr>
              <a:defRPr sz="1800"/>
            </a:lvl1pPr>
          </a:lstStyle>
          <a:p>
            <a:pPr lvl="0">
              <a:defRPr>
                <a:uFillTx/>
              </a:defRPr>
            </a:pPr>
            <a:r>
              <a:rPr>
                <a:uFill>
                  <a:solidFill/>
                </a:uFill>
              </a:rPr>
              <a:t>use</a:t>
            </a:r>
          </a:p>
        </p:txBody>
      </p:sp>
      <p:sp>
        <p:nvSpPr>
          <p:cNvPr id="53" name="Shape 3678"/>
          <p:cNvSpPr/>
          <p:nvPr/>
        </p:nvSpPr>
        <p:spPr>
          <a:xfrm>
            <a:off x="4584687" y="4724651"/>
            <a:ext cx="412883" cy="362869"/>
          </a:xfrm>
          <a:prstGeom prst="rect">
            <a:avLst/>
          </a:prstGeom>
          <a:ln w="12700">
            <a:miter lim="400000"/>
          </a:ln>
          <a:extLst>
            <a:ext uri="{C572A759-6A51-4108-AA02-DFA0A04FC94B}">
              <ma14:wrappingTextBoxFlag xmlns="" xmlns:ma14="http://schemas.microsoft.com/office/mac/drawingml/2011/main" val="1"/>
            </a:ext>
          </a:extLst>
        </p:spPr>
        <p:txBody>
          <a:bodyPr wrap="none" lIns="42520" tIns="42520" rIns="42520" bIns="42520" anchor="ctr">
            <a:spAutoFit/>
          </a:bodyPr>
          <a:lstStyle>
            <a:lvl1pPr>
              <a:defRPr sz="1800"/>
            </a:lvl1pPr>
          </a:lstStyle>
          <a:p>
            <a:pPr lvl="0">
              <a:defRPr>
                <a:uFillTx/>
              </a:defRPr>
            </a:pPr>
            <a:r>
              <a:rPr>
                <a:uFill>
                  <a:solidFill/>
                </a:uFill>
              </a:rPr>
              <a:t>use</a:t>
            </a:r>
          </a:p>
        </p:txBody>
      </p:sp>
      <p:sp>
        <p:nvSpPr>
          <p:cNvPr id="54" name="Shape 3679"/>
          <p:cNvSpPr/>
          <p:nvPr/>
        </p:nvSpPr>
        <p:spPr>
          <a:xfrm>
            <a:off x="4492143" y="5163984"/>
            <a:ext cx="412883" cy="362869"/>
          </a:xfrm>
          <a:prstGeom prst="rect">
            <a:avLst/>
          </a:prstGeom>
          <a:ln w="12700">
            <a:miter lim="400000"/>
          </a:ln>
          <a:extLst>
            <a:ext uri="{C572A759-6A51-4108-AA02-DFA0A04FC94B}">
              <ma14:wrappingTextBoxFlag xmlns="" xmlns:ma14="http://schemas.microsoft.com/office/mac/drawingml/2011/main" val="1"/>
            </a:ext>
          </a:extLst>
        </p:spPr>
        <p:txBody>
          <a:bodyPr wrap="none" lIns="42520" tIns="42520" rIns="42520" bIns="42520" anchor="ctr">
            <a:spAutoFit/>
          </a:bodyPr>
          <a:lstStyle>
            <a:lvl1pPr>
              <a:defRPr sz="1800"/>
            </a:lvl1pPr>
          </a:lstStyle>
          <a:p>
            <a:pPr lvl="0">
              <a:defRPr>
                <a:uFillTx/>
              </a:defRPr>
            </a:pPr>
            <a:r>
              <a:rPr>
                <a:uFill>
                  <a:solidFill/>
                </a:uFill>
              </a:rPr>
              <a:t>use</a:t>
            </a:r>
          </a:p>
        </p:txBody>
      </p:sp>
      <p:sp>
        <p:nvSpPr>
          <p:cNvPr id="55" name="Shape 3680"/>
          <p:cNvSpPr/>
          <p:nvPr/>
        </p:nvSpPr>
        <p:spPr>
          <a:xfrm>
            <a:off x="3785704" y="5857292"/>
            <a:ext cx="412883" cy="362869"/>
          </a:xfrm>
          <a:prstGeom prst="rect">
            <a:avLst/>
          </a:prstGeom>
          <a:ln w="12700">
            <a:miter lim="400000"/>
          </a:ln>
          <a:extLst>
            <a:ext uri="{C572A759-6A51-4108-AA02-DFA0A04FC94B}">
              <ma14:wrappingTextBoxFlag xmlns="" xmlns:ma14="http://schemas.microsoft.com/office/mac/drawingml/2011/main" val="1"/>
            </a:ext>
          </a:extLst>
        </p:spPr>
        <p:txBody>
          <a:bodyPr wrap="none" lIns="42520" tIns="42520" rIns="42520" bIns="42520" anchor="ctr">
            <a:spAutoFit/>
          </a:bodyPr>
          <a:lstStyle>
            <a:lvl1pPr>
              <a:defRPr sz="1800"/>
            </a:lvl1pPr>
          </a:lstStyle>
          <a:p>
            <a:pPr lvl="0">
              <a:defRPr>
                <a:uFillTx/>
              </a:defRPr>
            </a:pPr>
            <a:r>
              <a:rPr>
                <a:uFill>
                  <a:solidFill/>
                </a:uFill>
              </a:rPr>
              <a:t>use</a:t>
            </a:r>
          </a:p>
        </p:txBody>
      </p:sp>
      <p:sp>
        <p:nvSpPr>
          <p:cNvPr id="56" name="Shape 3681"/>
          <p:cNvSpPr/>
          <p:nvPr/>
        </p:nvSpPr>
        <p:spPr>
          <a:xfrm>
            <a:off x="4706454" y="5884262"/>
            <a:ext cx="412883" cy="362869"/>
          </a:xfrm>
          <a:prstGeom prst="rect">
            <a:avLst/>
          </a:prstGeom>
          <a:ln w="12700">
            <a:miter lim="400000"/>
          </a:ln>
          <a:extLst>
            <a:ext uri="{C572A759-6A51-4108-AA02-DFA0A04FC94B}">
              <ma14:wrappingTextBoxFlag xmlns="" xmlns:ma14="http://schemas.microsoft.com/office/mac/drawingml/2011/main" val="1"/>
            </a:ext>
          </a:extLst>
        </p:spPr>
        <p:txBody>
          <a:bodyPr wrap="none" lIns="42520" tIns="42520" rIns="42520" bIns="42520" anchor="ctr">
            <a:spAutoFit/>
          </a:bodyPr>
          <a:lstStyle>
            <a:lvl1pPr>
              <a:defRPr sz="1800"/>
            </a:lvl1pPr>
          </a:lstStyle>
          <a:p>
            <a:pPr lvl="0">
              <a:defRPr>
                <a:uFillTx/>
              </a:defRPr>
            </a:pPr>
            <a:r>
              <a:rPr>
                <a:uFill>
                  <a:solidFill/>
                </a:uFill>
              </a:rPr>
              <a:t>use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12"/>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12</a:t>
            </a:fld>
            <a:endParaRPr sz="1800">
              <a:solidFill>
                <a:srgbClr val="CC0000"/>
              </a:solidFill>
            </a:endParaRPr>
          </a:p>
        </p:txBody>
      </p:sp>
      <p:sp>
        <p:nvSpPr>
          <p:cNvPr id="372" name="Google Shape;372;p12"/>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Package diagrams</a:t>
            </a:r>
            <a:endParaRPr/>
          </a:p>
        </p:txBody>
      </p:sp>
      <p:sp>
        <p:nvSpPr>
          <p:cNvPr id="373" name="Google Shape;373;p12"/>
          <p:cNvSpPr txBox="1">
            <a:spLocks noGrp="1"/>
          </p:cNvSpPr>
          <p:nvPr>
            <p:ph type="body" idx="1"/>
          </p:nvPr>
        </p:nvSpPr>
        <p:spPr>
          <a:xfrm>
            <a:off x="367171" y="1268122"/>
            <a:ext cx="11420526" cy="525967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Organizing principles of packages (continued)</a:t>
            </a:r>
            <a:endParaRPr/>
          </a:p>
          <a:p>
            <a:pPr marL="992565" lvl="1" indent="-597931" algn="l" rtl="0">
              <a:lnSpc>
                <a:spcPct val="90000"/>
              </a:lnSpc>
              <a:spcBef>
                <a:spcPts val="500"/>
              </a:spcBef>
              <a:spcAft>
                <a:spcPts val="0"/>
              </a:spcAft>
              <a:buClr>
                <a:schemeClr val="dk1"/>
              </a:buClr>
              <a:buSzPts val="2000"/>
              <a:buChar char="•"/>
            </a:pPr>
            <a:r>
              <a:rPr lang="en-US" sz="2000" b="1"/>
              <a:t>Package of independent elements</a:t>
            </a:r>
            <a:endParaRPr/>
          </a:p>
          <a:p>
            <a:pPr marL="1328548" lvl="2" indent="-567179" algn="l" rtl="0">
              <a:lnSpc>
                <a:spcPct val="90000"/>
              </a:lnSpc>
              <a:spcBef>
                <a:spcPts val="500"/>
              </a:spcBef>
              <a:spcAft>
                <a:spcPts val="0"/>
              </a:spcAft>
              <a:buClr>
                <a:schemeClr val="dk1"/>
              </a:buClr>
              <a:buSzPts val="1800"/>
              <a:buChar char="•"/>
            </a:pPr>
            <a:r>
              <a:rPr lang="en-US"/>
              <a:t>The elements that are used independently or in different contexts are separated into different packages</a:t>
            </a:r>
            <a:endParaRPr/>
          </a:p>
          <a:p>
            <a:pPr marL="1328548" lvl="2" indent="-567179" algn="l" rtl="0">
              <a:lnSpc>
                <a:spcPct val="90000"/>
              </a:lnSpc>
              <a:spcBef>
                <a:spcPts val="500"/>
              </a:spcBef>
              <a:spcAft>
                <a:spcPts val="0"/>
              </a:spcAft>
              <a:buClr>
                <a:schemeClr val="dk1"/>
              </a:buClr>
              <a:buSzPts val="1800"/>
              <a:buChar char="•"/>
            </a:pPr>
            <a:r>
              <a:rPr lang="en-US"/>
              <a:t>Example: SQLLite &amp; Oracle for development/testing &amp; production environments respectively</a:t>
            </a:r>
            <a:endParaRPr/>
          </a:p>
        </p:txBody>
      </p:sp>
      <p:sp>
        <p:nvSpPr>
          <p:cNvPr id="374" name="Google Shape;374;p12"/>
          <p:cNvSpPr/>
          <p:nvPr/>
        </p:nvSpPr>
        <p:spPr>
          <a:xfrm>
            <a:off x="4375609" y="3093307"/>
            <a:ext cx="3955543" cy="1331547"/>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5" name="Google Shape;375;p12"/>
          <p:cNvSpPr/>
          <p:nvPr/>
        </p:nvSpPr>
        <p:spPr>
          <a:xfrm>
            <a:off x="4375609" y="2723674"/>
            <a:ext cx="1647591" cy="35933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6" name="Google Shape;376;p12"/>
          <p:cNvSpPr/>
          <p:nvPr/>
        </p:nvSpPr>
        <p:spPr>
          <a:xfrm>
            <a:off x="4769320" y="2729599"/>
            <a:ext cx="485788" cy="347481"/>
          </a:xfrm>
          <a:prstGeom prst="rect">
            <a:avLst/>
          </a:prstGeom>
          <a:noFill/>
          <a:ln>
            <a:noFill/>
          </a:ln>
        </p:spPr>
        <p:txBody>
          <a:bodyPr spcFirstLastPara="1" wrap="square" lIns="42500" tIns="42500" rIns="42500" bIns="42500" anchor="ctr" anchorCtr="0">
            <a:spAutoFit/>
          </a:bodyPr>
          <a:lstStyle/>
          <a:p>
            <a:pPr marL="0" marR="0" lvl="0" indent="0" algn="l" rtl="0">
              <a:spcBef>
                <a:spcPts val="0"/>
              </a:spcBef>
              <a:spcAft>
                <a:spcPts val="0"/>
              </a:spcAft>
              <a:buNone/>
            </a:pPr>
            <a:r>
              <a:rPr lang="en-US" sz="1700" b="0" i="0" u="none" strike="noStrike" cap="none">
                <a:solidFill>
                  <a:schemeClr val="dk1"/>
                </a:solidFill>
                <a:latin typeface="Arial"/>
                <a:ea typeface="Arial"/>
                <a:cs typeface="Arial"/>
                <a:sym typeface="Arial"/>
              </a:rPr>
              <a:t>DAO</a:t>
            </a:r>
            <a:endParaRPr/>
          </a:p>
        </p:txBody>
      </p:sp>
      <p:sp>
        <p:nvSpPr>
          <p:cNvPr id="377" name="Google Shape;377;p12"/>
          <p:cNvSpPr/>
          <p:nvPr/>
        </p:nvSpPr>
        <p:spPr>
          <a:xfrm>
            <a:off x="4526420" y="3163015"/>
            <a:ext cx="1647591"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1" u="none" strike="noStrike" cap="none">
                <a:solidFill>
                  <a:schemeClr val="dk1"/>
                </a:solidFill>
                <a:latin typeface="Arial"/>
                <a:ea typeface="Arial"/>
                <a:cs typeface="Arial"/>
                <a:sym typeface="Arial"/>
              </a:rPr>
              <a:t>CashPayment</a:t>
            </a:r>
            <a:endParaRPr/>
          </a:p>
        </p:txBody>
      </p:sp>
      <p:sp>
        <p:nvSpPr>
          <p:cNvPr id="378" name="Google Shape;378;p12"/>
          <p:cNvSpPr/>
          <p:nvPr/>
        </p:nvSpPr>
        <p:spPr>
          <a:xfrm>
            <a:off x="6502858" y="3163015"/>
            <a:ext cx="1647591"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1" u="none" strike="noStrike" cap="none">
                <a:solidFill>
                  <a:schemeClr val="dk1"/>
                </a:solidFill>
                <a:latin typeface="Arial"/>
                <a:ea typeface="Arial"/>
                <a:cs typeface="Arial"/>
                <a:sym typeface="Arial"/>
              </a:rPr>
              <a:t>CreditPayment</a:t>
            </a:r>
            <a:endParaRPr/>
          </a:p>
        </p:txBody>
      </p:sp>
      <p:sp>
        <p:nvSpPr>
          <p:cNvPr id="379" name="Google Shape;379;p12"/>
          <p:cNvSpPr/>
          <p:nvPr/>
        </p:nvSpPr>
        <p:spPr>
          <a:xfrm>
            <a:off x="4526420" y="3759081"/>
            <a:ext cx="1647591"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1" u="none" strike="noStrike" cap="none">
                <a:solidFill>
                  <a:schemeClr val="dk1"/>
                </a:solidFill>
                <a:latin typeface="Arial"/>
                <a:ea typeface="Arial"/>
                <a:cs typeface="Arial"/>
                <a:sym typeface="Arial"/>
              </a:rPr>
              <a:t>DebitPayment</a:t>
            </a:r>
            <a:endParaRPr/>
          </a:p>
        </p:txBody>
      </p:sp>
      <p:sp>
        <p:nvSpPr>
          <p:cNvPr id="380" name="Google Shape;380;p12"/>
          <p:cNvSpPr/>
          <p:nvPr/>
        </p:nvSpPr>
        <p:spPr>
          <a:xfrm>
            <a:off x="367171" y="4763331"/>
            <a:ext cx="1647591" cy="35933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1" name="Google Shape;381;p12"/>
          <p:cNvSpPr/>
          <p:nvPr/>
        </p:nvSpPr>
        <p:spPr>
          <a:xfrm>
            <a:off x="558477" y="4769256"/>
            <a:ext cx="1054084" cy="347481"/>
          </a:xfrm>
          <a:prstGeom prst="rect">
            <a:avLst/>
          </a:prstGeom>
          <a:noFill/>
          <a:ln>
            <a:noFill/>
          </a:ln>
        </p:spPr>
        <p:txBody>
          <a:bodyPr spcFirstLastPara="1" wrap="square" lIns="42500" tIns="42500" rIns="42500" bIns="42500" anchor="ctr" anchorCtr="0">
            <a:spAutoFit/>
          </a:bodyPr>
          <a:lstStyle/>
          <a:p>
            <a:pPr marL="0" marR="0" lvl="0" indent="0" algn="l" rtl="0">
              <a:spcBef>
                <a:spcPts val="0"/>
              </a:spcBef>
              <a:spcAft>
                <a:spcPts val="0"/>
              </a:spcAft>
              <a:buNone/>
            </a:pPr>
            <a:r>
              <a:rPr lang="en-US" sz="1700" b="0" i="0" u="none" strike="noStrike" cap="none">
                <a:solidFill>
                  <a:schemeClr val="dk1"/>
                </a:solidFill>
                <a:latin typeface="Arial"/>
                <a:ea typeface="Arial"/>
                <a:cs typeface="Arial"/>
                <a:sym typeface="Arial"/>
              </a:rPr>
              <a:t>SQLiteDAO</a:t>
            </a:r>
            <a:endParaRPr/>
          </a:p>
        </p:txBody>
      </p:sp>
      <p:sp>
        <p:nvSpPr>
          <p:cNvPr id="382" name="Google Shape;382;p12"/>
          <p:cNvSpPr/>
          <p:nvPr/>
        </p:nvSpPr>
        <p:spPr>
          <a:xfrm>
            <a:off x="473646" y="5315325"/>
            <a:ext cx="2497088"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CashPaymentSQLiteImpl</a:t>
            </a:r>
            <a:endParaRPr/>
          </a:p>
        </p:txBody>
      </p:sp>
      <p:sp>
        <p:nvSpPr>
          <p:cNvPr id="383" name="Google Shape;383;p12"/>
          <p:cNvSpPr/>
          <p:nvPr/>
        </p:nvSpPr>
        <p:spPr>
          <a:xfrm>
            <a:off x="3094075" y="5315325"/>
            <a:ext cx="2497089"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CreditPaymentSQLiteImpl</a:t>
            </a:r>
            <a:endParaRPr/>
          </a:p>
        </p:txBody>
      </p:sp>
      <p:sp>
        <p:nvSpPr>
          <p:cNvPr id="384" name="Google Shape;384;p12"/>
          <p:cNvSpPr/>
          <p:nvPr/>
        </p:nvSpPr>
        <p:spPr>
          <a:xfrm>
            <a:off x="475259" y="5913038"/>
            <a:ext cx="2493863"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DebitPaymentSQLiteImpl</a:t>
            </a:r>
            <a:endParaRPr/>
          </a:p>
        </p:txBody>
      </p:sp>
      <p:sp>
        <p:nvSpPr>
          <p:cNvPr id="385" name="Google Shape;385;p12"/>
          <p:cNvSpPr/>
          <p:nvPr/>
        </p:nvSpPr>
        <p:spPr>
          <a:xfrm>
            <a:off x="364319" y="5119590"/>
            <a:ext cx="5306468" cy="13315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86" name="Google Shape;386;p12"/>
          <p:cNvPicPr preferRelativeResize="0"/>
          <p:nvPr/>
        </p:nvPicPr>
        <p:blipFill rotWithShape="1">
          <a:blip r:embed="rId3">
            <a:alphaModFix/>
          </a:blip>
          <a:srcRect/>
          <a:stretch/>
        </p:blipFill>
        <p:spPr>
          <a:xfrm>
            <a:off x="364319" y="3641833"/>
            <a:ext cx="2884988" cy="993354"/>
          </a:xfrm>
          <a:prstGeom prst="rect">
            <a:avLst/>
          </a:prstGeom>
          <a:noFill/>
          <a:ln>
            <a:noFill/>
          </a:ln>
        </p:spPr>
      </p:pic>
      <p:pic>
        <p:nvPicPr>
          <p:cNvPr id="387" name="Google Shape;387;p12"/>
          <p:cNvPicPr preferRelativeResize="0"/>
          <p:nvPr/>
        </p:nvPicPr>
        <p:blipFill rotWithShape="1">
          <a:blip r:embed="rId4">
            <a:alphaModFix/>
          </a:blip>
          <a:srcRect/>
          <a:stretch/>
        </p:blipFill>
        <p:spPr>
          <a:xfrm>
            <a:off x="8931837" y="3765401"/>
            <a:ext cx="2884988" cy="916701"/>
          </a:xfrm>
          <a:prstGeom prst="rect">
            <a:avLst/>
          </a:prstGeom>
          <a:noFill/>
          <a:ln>
            <a:noFill/>
          </a:ln>
        </p:spPr>
      </p:pic>
      <p:grpSp>
        <p:nvGrpSpPr>
          <p:cNvPr id="388" name="Google Shape;388;p12"/>
          <p:cNvGrpSpPr/>
          <p:nvPr/>
        </p:nvGrpSpPr>
        <p:grpSpPr>
          <a:xfrm rot="3552759">
            <a:off x="4156607" y="4097717"/>
            <a:ext cx="152923" cy="1314010"/>
            <a:chOff x="0" y="0"/>
            <a:chExt cx="217488" cy="1401609"/>
          </a:xfrm>
        </p:grpSpPr>
        <p:sp>
          <p:nvSpPr>
            <p:cNvPr id="389" name="Google Shape;389;p12"/>
            <p:cNvSpPr/>
            <p:nvPr/>
          </p:nvSpPr>
          <p:spPr>
            <a:xfrm>
              <a:off x="0" y="0"/>
              <a:ext cx="217488" cy="217488"/>
            </a:xfrm>
            <a:custGeom>
              <a:avLst/>
              <a:gdLst/>
              <a:ahLst/>
              <a:cxnLst/>
              <a:rect l="l" t="t" r="r" b="b"/>
              <a:pathLst>
                <a:path w="21600" h="21600" extrusionOk="0">
                  <a:moveTo>
                    <a:pt x="10800" y="0"/>
                  </a:moveTo>
                  <a:lnTo>
                    <a:pt x="21600" y="21600"/>
                  </a:lnTo>
                  <a:lnTo>
                    <a:pt x="0" y="21600"/>
                  </a:lnTo>
                  <a:close/>
                </a:path>
              </a:pathLst>
            </a:custGeom>
            <a:noFill/>
            <a:ln w="12700" cap="flat" cmpd="sng">
              <a:solidFill>
                <a:srgbClr val="000000"/>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390" name="Google Shape;390;p12"/>
            <p:cNvCxnSpPr/>
            <p:nvPr/>
          </p:nvCxnSpPr>
          <p:spPr>
            <a:xfrm flipH="1">
              <a:off x="107949" y="210446"/>
              <a:ext cx="1" cy="1191163"/>
            </a:xfrm>
            <a:prstGeom prst="straightConnector1">
              <a:avLst/>
            </a:prstGeom>
            <a:noFill/>
            <a:ln w="12700" cap="flat" cmpd="sng">
              <a:solidFill>
                <a:srgbClr val="000000"/>
              </a:solidFill>
              <a:prstDash val="dash"/>
              <a:round/>
              <a:headEnd type="none" w="sm" len="sm"/>
              <a:tailEnd type="none" w="sm" len="sm"/>
            </a:ln>
          </p:spPr>
        </p:cxnSp>
      </p:grpSp>
      <p:grpSp>
        <p:nvGrpSpPr>
          <p:cNvPr id="391" name="Google Shape;391;p12"/>
          <p:cNvGrpSpPr/>
          <p:nvPr/>
        </p:nvGrpSpPr>
        <p:grpSpPr>
          <a:xfrm>
            <a:off x="6423305" y="4359782"/>
            <a:ext cx="5306468" cy="2036785"/>
            <a:chOff x="6423305" y="4397882"/>
            <a:chExt cx="5306468" cy="2036785"/>
          </a:xfrm>
        </p:grpSpPr>
        <p:sp>
          <p:nvSpPr>
            <p:cNvPr id="392" name="Google Shape;392;p12"/>
            <p:cNvSpPr/>
            <p:nvPr/>
          </p:nvSpPr>
          <p:spPr>
            <a:xfrm>
              <a:off x="6437771" y="4737931"/>
              <a:ext cx="1647591" cy="35933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93" name="Google Shape;393;p12"/>
            <p:cNvSpPr/>
            <p:nvPr/>
          </p:nvSpPr>
          <p:spPr>
            <a:xfrm>
              <a:off x="6640983" y="4743856"/>
              <a:ext cx="1056777" cy="347481"/>
            </a:xfrm>
            <a:prstGeom prst="rect">
              <a:avLst/>
            </a:prstGeom>
            <a:noFill/>
            <a:ln>
              <a:noFill/>
            </a:ln>
          </p:spPr>
          <p:txBody>
            <a:bodyPr spcFirstLastPara="1" wrap="square" lIns="42500" tIns="42500" rIns="42500" bIns="42500" anchor="ctr" anchorCtr="0">
              <a:spAutoFit/>
            </a:bodyPr>
            <a:lstStyle/>
            <a:p>
              <a:pPr marL="0" marR="0" lvl="0" indent="0" algn="l" rtl="0">
                <a:spcBef>
                  <a:spcPts val="0"/>
                </a:spcBef>
                <a:spcAft>
                  <a:spcPts val="0"/>
                </a:spcAft>
                <a:buNone/>
              </a:pPr>
              <a:r>
                <a:rPr lang="en-US" sz="1700" b="0" i="0" u="none" strike="noStrike" cap="none">
                  <a:solidFill>
                    <a:schemeClr val="dk1"/>
                  </a:solidFill>
                  <a:latin typeface="Arial"/>
                  <a:ea typeface="Arial"/>
                  <a:cs typeface="Arial"/>
                  <a:sym typeface="Arial"/>
                </a:rPr>
                <a:t>OracleDAO</a:t>
              </a:r>
              <a:endParaRPr/>
            </a:p>
          </p:txBody>
        </p:sp>
        <p:sp>
          <p:nvSpPr>
            <p:cNvPr id="394" name="Google Shape;394;p12"/>
            <p:cNvSpPr/>
            <p:nvPr/>
          </p:nvSpPr>
          <p:spPr>
            <a:xfrm>
              <a:off x="6423305" y="5103119"/>
              <a:ext cx="5306468" cy="13315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nvGrpSpPr>
            <p:cNvPr id="395" name="Google Shape;395;p12"/>
            <p:cNvGrpSpPr/>
            <p:nvPr/>
          </p:nvGrpSpPr>
          <p:grpSpPr>
            <a:xfrm rot="-3395955">
              <a:off x="8655434" y="4163738"/>
              <a:ext cx="152922" cy="1325791"/>
              <a:chOff x="0" y="0"/>
              <a:chExt cx="217488" cy="1414176"/>
            </a:xfrm>
          </p:grpSpPr>
          <p:sp>
            <p:nvSpPr>
              <p:cNvPr id="396" name="Google Shape;396;p12"/>
              <p:cNvSpPr/>
              <p:nvPr/>
            </p:nvSpPr>
            <p:spPr>
              <a:xfrm>
                <a:off x="0" y="0"/>
                <a:ext cx="217488" cy="217488"/>
              </a:xfrm>
              <a:custGeom>
                <a:avLst/>
                <a:gdLst/>
                <a:ahLst/>
                <a:cxnLst/>
                <a:rect l="l" t="t" r="r" b="b"/>
                <a:pathLst>
                  <a:path w="21600" h="21600" extrusionOk="0">
                    <a:moveTo>
                      <a:pt x="10800" y="0"/>
                    </a:moveTo>
                    <a:lnTo>
                      <a:pt x="21600" y="21600"/>
                    </a:lnTo>
                    <a:lnTo>
                      <a:pt x="0" y="21600"/>
                    </a:lnTo>
                    <a:close/>
                  </a:path>
                </a:pathLst>
              </a:custGeom>
              <a:noFill/>
              <a:ln w="12700" cap="flat" cmpd="sng">
                <a:solidFill>
                  <a:srgbClr val="000000"/>
                </a:solidFill>
                <a:prstDash val="solid"/>
                <a:round/>
                <a:headEnd type="none" w="sm" len="sm"/>
                <a:tailEnd type="none" w="sm" len="sm"/>
              </a:ln>
            </p:spPr>
            <p:txBody>
              <a:bodyPr spcFirstLastPara="1" wrap="square" lIns="45700" tIns="45700" rIns="45700"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397" name="Google Shape;397;p12"/>
              <p:cNvCxnSpPr/>
              <p:nvPr/>
            </p:nvCxnSpPr>
            <p:spPr>
              <a:xfrm flipH="1">
                <a:off x="107949" y="209848"/>
                <a:ext cx="1" cy="1204328"/>
              </a:xfrm>
              <a:prstGeom prst="straightConnector1">
                <a:avLst/>
              </a:prstGeom>
              <a:noFill/>
              <a:ln w="12700" cap="flat" cmpd="sng">
                <a:solidFill>
                  <a:srgbClr val="000000"/>
                </a:solidFill>
                <a:prstDash val="dash"/>
                <a:round/>
                <a:headEnd type="none" w="sm" len="sm"/>
                <a:tailEnd type="none" w="sm" len="sm"/>
              </a:ln>
            </p:spPr>
          </p:cxnSp>
        </p:grpSp>
        <p:sp>
          <p:nvSpPr>
            <p:cNvPr id="398" name="Google Shape;398;p12"/>
            <p:cNvSpPr/>
            <p:nvPr/>
          </p:nvSpPr>
          <p:spPr>
            <a:xfrm>
              <a:off x="6517779" y="5281442"/>
              <a:ext cx="2497089"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CashPaymentOracleImpl</a:t>
              </a:r>
              <a:endParaRPr/>
            </a:p>
          </p:txBody>
        </p:sp>
        <p:sp>
          <p:nvSpPr>
            <p:cNvPr id="399" name="Google Shape;399;p12"/>
            <p:cNvSpPr/>
            <p:nvPr/>
          </p:nvSpPr>
          <p:spPr>
            <a:xfrm>
              <a:off x="9138208" y="5281442"/>
              <a:ext cx="2497089"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CreditPaymentOracleImpl</a:t>
              </a:r>
              <a:endParaRPr/>
            </a:p>
          </p:txBody>
        </p:sp>
        <p:sp>
          <p:nvSpPr>
            <p:cNvPr id="400" name="Google Shape;400;p12"/>
            <p:cNvSpPr/>
            <p:nvPr/>
          </p:nvSpPr>
          <p:spPr>
            <a:xfrm>
              <a:off x="6519393" y="5879155"/>
              <a:ext cx="2493863" cy="35933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Arial"/>
                  <a:ea typeface="Arial"/>
                  <a:cs typeface="Arial"/>
                  <a:sym typeface="Arial"/>
                </a:rPr>
                <a:t>DebitPaymentOracleImpl</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13"/>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13</a:t>
            </a:fld>
            <a:endParaRPr sz="1800">
              <a:solidFill>
                <a:srgbClr val="CC0000"/>
              </a:solidFill>
            </a:endParaRPr>
          </a:p>
        </p:txBody>
      </p:sp>
      <p:sp>
        <p:nvSpPr>
          <p:cNvPr id="406" name="Google Shape;406;p13"/>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Component diagrams</a:t>
            </a:r>
            <a:endParaRPr/>
          </a:p>
        </p:txBody>
      </p:sp>
      <p:sp>
        <p:nvSpPr>
          <p:cNvPr id="407" name="Google Shape;407;p13"/>
          <p:cNvSpPr txBox="1">
            <a:spLocks noGrp="1"/>
          </p:cNvSpPr>
          <p:nvPr>
            <p:ph type="body" idx="1"/>
          </p:nvPr>
        </p:nvSpPr>
        <p:spPr>
          <a:xfrm>
            <a:off x="399443" y="1320136"/>
            <a:ext cx="11411557" cy="52076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A component diagram models the </a:t>
            </a:r>
            <a:r>
              <a:rPr lang="en-US" sz="2000" b="1"/>
              <a:t>architectural view</a:t>
            </a:r>
            <a:r>
              <a:rPr lang="en-US" sz="2000"/>
              <a:t> of the system, the physical implementation of the system</a:t>
            </a:r>
            <a:endParaRPr/>
          </a:p>
          <a:p>
            <a:pPr marL="992565" lvl="1" indent="-597931" algn="l" rtl="0">
              <a:lnSpc>
                <a:spcPct val="90000"/>
              </a:lnSpc>
              <a:spcBef>
                <a:spcPts val="500"/>
              </a:spcBef>
              <a:spcAft>
                <a:spcPts val="0"/>
              </a:spcAft>
              <a:buClr>
                <a:schemeClr val="dk1"/>
              </a:buClr>
              <a:buSzPts val="2000"/>
              <a:buChar char="•"/>
            </a:pPr>
            <a:r>
              <a:rPr lang="en-US" sz="2000"/>
              <a:t>Classes describe the logical organization, while </a:t>
            </a:r>
            <a:r>
              <a:rPr lang="en-US" sz="2000" i="1"/>
              <a:t>Components</a:t>
            </a:r>
            <a:r>
              <a:rPr lang="en-US" sz="2000"/>
              <a:t> describe the physical implementations</a:t>
            </a:r>
            <a:endParaRPr/>
          </a:p>
          <a:p>
            <a:pPr marL="228600" lvl="0" indent="-228600" algn="l" rtl="0">
              <a:lnSpc>
                <a:spcPct val="90000"/>
              </a:lnSpc>
              <a:spcBef>
                <a:spcPts val="1000"/>
              </a:spcBef>
              <a:spcAft>
                <a:spcPts val="0"/>
              </a:spcAft>
              <a:buClr>
                <a:schemeClr val="dk1"/>
              </a:buClr>
              <a:buSzPts val="2000"/>
              <a:buChar char="•"/>
            </a:pPr>
            <a:r>
              <a:rPr lang="en-US" sz="2000"/>
              <a:t>Component diagrams define physical software modules and their relationships to one another</a:t>
            </a:r>
            <a:endParaRPr/>
          </a:p>
          <a:p>
            <a:pPr marL="228600" lvl="0" indent="-228600" algn="l" rtl="0">
              <a:lnSpc>
                <a:spcPct val="90000"/>
              </a:lnSpc>
              <a:spcBef>
                <a:spcPts val="1000"/>
              </a:spcBef>
              <a:spcAft>
                <a:spcPts val="0"/>
              </a:spcAft>
              <a:buClr>
                <a:schemeClr val="dk1"/>
              </a:buClr>
              <a:buSzPts val="2000"/>
              <a:buChar char="•"/>
            </a:pPr>
            <a:r>
              <a:rPr lang="en-US" sz="2000" i="1"/>
              <a:t>Components</a:t>
            </a:r>
            <a:r>
              <a:rPr lang="en-US" sz="2000"/>
              <a:t> may represent anything from a single class to applications, subsystems, and systems</a:t>
            </a:r>
            <a:endParaRPr/>
          </a:p>
          <a:p>
            <a:pPr marL="228600" lvl="0" indent="-228600" algn="l" rtl="0">
              <a:lnSpc>
                <a:spcPct val="90000"/>
              </a:lnSpc>
              <a:spcBef>
                <a:spcPts val="1000"/>
              </a:spcBef>
              <a:spcAft>
                <a:spcPts val="0"/>
              </a:spcAft>
              <a:buClr>
                <a:schemeClr val="dk1"/>
              </a:buClr>
              <a:buSzPts val="2000"/>
              <a:buChar char="•"/>
            </a:pPr>
            <a:r>
              <a:rPr lang="en-US" sz="2000" i="1"/>
              <a:t>Artifacts</a:t>
            </a:r>
            <a:r>
              <a:rPr lang="en-US" sz="2000"/>
              <a:t> that </a:t>
            </a:r>
            <a:r>
              <a:rPr lang="en-US" sz="2000" i="1"/>
              <a:t>implement</a:t>
            </a:r>
            <a:r>
              <a:rPr lang="en-US" sz="2000"/>
              <a:t> components</a:t>
            </a:r>
            <a:endParaRPr/>
          </a:p>
          <a:p>
            <a:pPr marL="228600" lvl="0" indent="-228600" algn="l" rtl="0">
              <a:lnSpc>
                <a:spcPct val="90000"/>
              </a:lnSpc>
              <a:spcBef>
                <a:spcPts val="1000"/>
              </a:spcBef>
              <a:spcAft>
                <a:spcPts val="0"/>
              </a:spcAft>
              <a:buClr>
                <a:schemeClr val="dk1"/>
              </a:buClr>
              <a:buSzPts val="2000"/>
              <a:buChar char="•"/>
            </a:pPr>
            <a:r>
              <a:rPr lang="en-US" sz="2000"/>
              <a:t>The artifacts may be any type of code that can reside in any type of memory-source code, binary files, scripts, executable files, databases, or applications</a:t>
            </a:r>
            <a:endParaRPr/>
          </a:p>
          <a:p>
            <a:pPr marL="228600" lvl="0" indent="-228600" algn="l" rtl="0">
              <a:lnSpc>
                <a:spcPct val="90000"/>
              </a:lnSpc>
              <a:spcBef>
                <a:spcPts val="1000"/>
              </a:spcBef>
              <a:spcAft>
                <a:spcPts val="0"/>
              </a:spcAft>
              <a:buClr>
                <a:schemeClr val="dk1"/>
              </a:buClr>
              <a:buSzPts val="2000"/>
              <a:buChar char="•"/>
            </a:pPr>
            <a:r>
              <a:rPr lang="en-US" sz="2000" i="1"/>
              <a:t>Dependencies</a:t>
            </a:r>
            <a:r>
              <a:rPr lang="en-US" sz="2000"/>
              <a:t> represent the types of relationships that exist between components on a Component diagram</a:t>
            </a:r>
            <a:endParaRPr/>
          </a:p>
          <a:p>
            <a:pPr marL="228600" lvl="0" indent="-228600" algn="l" rtl="0">
              <a:lnSpc>
                <a:spcPct val="90000"/>
              </a:lnSpc>
              <a:spcBef>
                <a:spcPts val="1000"/>
              </a:spcBef>
              <a:spcAft>
                <a:spcPts val="0"/>
              </a:spcAft>
              <a:buClr>
                <a:schemeClr val="dk1"/>
              </a:buClr>
              <a:buSzPts val="2000"/>
              <a:buChar char="•"/>
            </a:pPr>
            <a:r>
              <a:rPr lang="en-US" sz="2000"/>
              <a:t>Notation</a:t>
            </a:r>
            <a:endParaRPr/>
          </a:p>
        </p:txBody>
      </p:sp>
      <p:pic>
        <p:nvPicPr>
          <p:cNvPr id="408" name="Google Shape;408;p13"/>
          <p:cNvPicPr preferRelativeResize="0"/>
          <p:nvPr/>
        </p:nvPicPr>
        <p:blipFill rotWithShape="1">
          <a:blip r:embed="rId3">
            <a:alphaModFix/>
          </a:blip>
          <a:srcRect/>
          <a:stretch/>
        </p:blipFill>
        <p:spPr>
          <a:xfrm>
            <a:off x="2700338" y="4808538"/>
            <a:ext cx="6726365" cy="1268400"/>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4"/>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14</a:t>
            </a:fld>
            <a:endParaRPr sz="1800">
              <a:solidFill>
                <a:srgbClr val="CC0000"/>
              </a:solidFill>
            </a:endParaRPr>
          </a:p>
        </p:txBody>
      </p:sp>
      <p:sp>
        <p:nvSpPr>
          <p:cNvPr id="414" name="Google Shape;414;p14"/>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Component diagrams</a:t>
            </a:r>
            <a:endParaRPr/>
          </a:p>
        </p:txBody>
      </p:sp>
      <p:sp>
        <p:nvSpPr>
          <p:cNvPr id="415" name="Google Shape;415;p14"/>
          <p:cNvSpPr txBox="1">
            <a:spLocks noGrp="1"/>
          </p:cNvSpPr>
          <p:nvPr>
            <p:ph type="body" idx="1"/>
          </p:nvPr>
        </p:nvSpPr>
        <p:spPr>
          <a:xfrm>
            <a:off x="412143" y="1307436"/>
            <a:ext cx="11411557" cy="52330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Modeling dependencies</a:t>
            </a:r>
            <a:endParaRPr/>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1000"/>
              </a:spcBef>
              <a:spcAft>
                <a:spcPts val="0"/>
              </a:spcAft>
              <a:buClr>
                <a:schemeClr val="dk1"/>
              </a:buClr>
              <a:buSzPts val="2000"/>
              <a:buChar char="•"/>
            </a:pPr>
            <a:r>
              <a:rPr lang="en-US" sz="2000"/>
              <a:t>A component is an abstraction, a representation of a requirement for the physical software. </a:t>
            </a:r>
            <a:endParaRPr/>
          </a:p>
          <a:p>
            <a:pPr marL="228600" lvl="0" indent="-228600" algn="l" rtl="0">
              <a:lnSpc>
                <a:spcPct val="90000"/>
              </a:lnSpc>
              <a:spcBef>
                <a:spcPts val="1000"/>
              </a:spcBef>
              <a:spcAft>
                <a:spcPts val="0"/>
              </a:spcAft>
              <a:buClr>
                <a:schemeClr val="dk1"/>
              </a:buClr>
              <a:buSzPts val="2000"/>
              <a:buChar char="•"/>
            </a:pPr>
            <a:r>
              <a:rPr lang="en-US" sz="2000" i="1"/>
              <a:t>Realization</a:t>
            </a:r>
            <a:r>
              <a:rPr lang="en-US" sz="2000"/>
              <a:t> refers to any implementation of a requirement.</a:t>
            </a:r>
            <a:endParaRPr/>
          </a:p>
          <a:p>
            <a:pPr marL="228600" lvl="0" indent="-228600" algn="l" rtl="0">
              <a:lnSpc>
                <a:spcPct val="90000"/>
              </a:lnSpc>
              <a:spcBef>
                <a:spcPts val="1000"/>
              </a:spcBef>
              <a:spcAft>
                <a:spcPts val="0"/>
              </a:spcAft>
              <a:buClr>
                <a:schemeClr val="dk1"/>
              </a:buClr>
              <a:buSzPts val="2000"/>
              <a:buChar char="•"/>
            </a:pPr>
            <a:r>
              <a:rPr lang="en-US" sz="2000"/>
              <a:t>Component can contain the realizations (implementations)</a:t>
            </a:r>
            <a:endParaRPr/>
          </a:p>
        </p:txBody>
      </p:sp>
      <p:pic>
        <p:nvPicPr>
          <p:cNvPr id="416" name="Google Shape;416;p14"/>
          <p:cNvPicPr preferRelativeResize="0"/>
          <p:nvPr/>
        </p:nvPicPr>
        <p:blipFill rotWithShape="1">
          <a:blip r:embed="rId3">
            <a:alphaModFix/>
          </a:blip>
          <a:srcRect/>
          <a:stretch/>
        </p:blipFill>
        <p:spPr>
          <a:xfrm>
            <a:off x="3469482" y="1475979"/>
            <a:ext cx="5987858" cy="1462748"/>
          </a:xfrm>
          <a:prstGeom prst="rect">
            <a:avLst/>
          </a:prstGeom>
          <a:noFill/>
          <a:ln>
            <a:noFill/>
          </a:ln>
        </p:spPr>
      </p:pic>
      <p:pic>
        <p:nvPicPr>
          <p:cNvPr id="417" name="Google Shape;417;p14"/>
          <p:cNvPicPr preferRelativeResize="0"/>
          <p:nvPr/>
        </p:nvPicPr>
        <p:blipFill rotWithShape="1">
          <a:blip r:embed="rId4">
            <a:alphaModFix/>
          </a:blip>
          <a:srcRect/>
          <a:stretch/>
        </p:blipFill>
        <p:spPr>
          <a:xfrm>
            <a:off x="825500" y="4061045"/>
            <a:ext cx="5987858" cy="1706540"/>
          </a:xfrm>
          <a:prstGeom prst="rect">
            <a:avLst/>
          </a:prstGeom>
          <a:noFill/>
          <a:ln>
            <a:noFill/>
          </a:ln>
        </p:spPr>
      </p:pic>
      <p:pic>
        <p:nvPicPr>
          <p:cNvPr id="418" name="Google Shape;418;p14"/>
          <p:cNvPicPr preferRelativeResize="0"/>
          <p:nvPr/>
        </p:nvPicPr>
        <p:blipFill rotWithShape="1">
          <a:blip r:embed="rId5">
            <a:alphaModFix/>
          </a:blip>
          <a:srcRect/>
          <a:stretch/>
        </p:blipFill>
        <p:spPr>
          <a:xfrm>
            <a:off x="7679531" y="3887440"/>
            <a:ext cx="2952750" cy="292000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15"/>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15</a:t>
            </a:fld>
            <a:endParaRPr sz="1800">
              <a:solidFill>
                <a:srgbClr val="CC0000"/>
              </a:solidFill>
            </a:endParaRPr>
          </a:p>
        </p:txBody>
      </p:sp>
      <p:sp>
        <p:nvSpPr>
          <p:cNvPr id="424" name="Google Shape;424;p15"/>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Component diagrams</a:t>
            </a:r>
            <a:endParaRPr/>
          </a:p>
        </p:txBody>
      </p:sp>
      <p:sp>
        <p:nvSpPr>
          <p:cNvPr id="425" name="Google Shape;425;p15"/>
          <p:cNvSpPr txBox="1">
            <a:spLocks noGrp="1"/>
          </p:cNvSpPr>
          <p:nvPr>
            <p:ph type="body" idx="1"/>
          </p:nvPr>
        </p:nvSpPr>
        <p:spPr>
          <a:xfrm>
            <a:off x="457014" y="1282036"/>
            <a:ext cx="11392086" cy="52457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A fundamental feature of components is the ability to define interfaces</a:t>
            </a:r>
            <a:endParaRPr/>
          </a:p>
          <a:p>
            <a:pPr marL="228600" lvl="0" indent="-228600" algn="l" rtl="0">
              <a:lnSpc>
                <a:spcPct val="90000"/>
              </a:lnSpc>
              <a:spcBef>
                <a:spcPts val="1000"/>
              </a:spcBef>
              <a:spcAft>
                <a:spcPts val="0"/>
              </a:spcAft>
              <a:buClr>
                <a:schemeClr val="dk1"/>
              </a:buClr>
              <a:buSzPts val="2000"/>
              <a:buChar char="•"/>
            </a:pPr>
            <a:r>
              <a:rPr lang="en-US" sz="2000"/>
              <a:t>Interfaces come in two types: </a:t>
            </a:r>
            <a:r>
              <a:rPr lang="en-US" sz="2000" i="1"/>
              <a:t>required</a:t>
            </a:r>
            <a:r>
              <a:rPr lang="en-US" sz="2000"/>
              <a:t> and </a:t>
            </a:r>
            <a:r>
              <a:rPr lang="en-US" sz="2000" i="1"/>
              <a:t>provided</a:t>
            </a:r>
            <a:endParaRPr/>
          </a:p>
          <a:p>
            <a:pPr marL="992565" lvl="1" indent="-597931" algn="l" rtl="0">
              <a:lnSpc>
                <a:spcPct val="90000"/>
              </a:lnSpc>
              <a:spcBef>
                <a:spcPts val="500"/>
              </a:spcBef>
              <a:spcAft>
                <a:spcPts val="0"/>
              </a:spcAft>
              <a:buClr>
                <a:schemeClr val="dk1"/>
              </a:buClr>
              <a:buSzPts val="2000"/>
              <a:buChar char="•"/>
            </a:pPr>
            <a:r>
              <a:rPr lang="en-US" sz="2000" i="1"/>
              <a:t>Provided interface</a:t>
            </a:r>
            <a:r>
              <a:rPr lang="en-US" sz="2000"/>
              <a:t>: defines how another component must ask for access to a provided service</a:t>
            </a:r>
            <a:endParaRPr/>
          </a:p>
          <a:p>
            <a:pPr marL="992565" lvl="1" indent="-597931" algn="l" rtl="0">
              <a:lnSpc>
                <a:spcPct val="90000"/>
              </a:lnSpc>
              <a:spcBef>
                <a:spcPts val="500"/>
              </a:spcBef>
              <a:spcAft>
                <a:spcPts val="0"/>
              </a:spcAft>
              <a:buClr>
                <a:schemeClr val="dk1"/>
              </a:buClr>
              <a:buSzPts val="2000"/>
              <a:buChar char="•"/>
            </a:pPr>
            <a:r>
              <a:rPr lang="en-US" sz="2000" i="1"/>
              <a:t>Required interface: </a:t>
            </a:r>
            <a:r>
              <a:rPr lang="en-US" sz="2000"/>
              <a:t>defines an interface exactly what it needs</a:t>
            </a:r>
            <a:endParaRPr/>
          </a:p>
          <a:p>
            <a:pPr marL="228600" lvl="0" indent="-228600" algn="l" rtl="0">
              <a:lnSpc>
                <a:spcPct val="90000"/>
              </a:lnSpc>
              <a:spcBef>
                <a:spcPts val="1000"/>
              </a:spcBef>
              <a:spcAft>
                <a:spcPts val="0"/>
              </a:spcAft>
              <a:buClr>
                <a:schemeClr val="dk1"/>
              </a:buClr>
              <a:buSzPts val="2000"/>
              <a:buChar char="•"/>
            </a:pPr>
            <a:r>
              <a:rPr lang="en-US" sz="2000"/>
              <a:t>Example: Order component </a:t>
            </a:r>
            <a:r>
              <a:rPr lang="en-US" sz="2000" i="1"/>
              <a:t>provides</a:t>
            </a:r>
            <a:r>
              <a:rPr lang="en-US" sz="2000"/>
              <a:t> the services "add line items to the order", "cancel the order", and "pay for the order"; and </a:t>
            </a:r>
            <a:r>
              <a:rPr lang="en-US" sz="2000" i="1"/>
              <a:t>requires</a:t>
            </a:r>
            <a:r>
              <a:rPr lang="en-US" sz="2000"/>
              <a:t> discount (from other component)</a:t>
            </a:r>
            <a:endParaRPr/>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1000"/>
              </a:spcBef>
              <a:spcAft>
                <a:spcPts val="0"/>
              </a:spcAft>
              <a:buClr>
                <a:schemeClr val="dk1"/>
              </a:buClr>
              <a:buSzPts val="2000"/>
              <a:buChar char="•"/>
            </a:pPr>
            <a:r>
              <a:rPr lang="en-US" sz="2000"/>
              <a:t>Connecting required and provided interfaces to form a partnership between components</a:t>
            </a:r>
            <a:endParaRPr/>
          </a:p>
        </p:txBody>
      </p:sp>
      <p:pic>
        <p:nvPicPr>
          <p:cNvPr id="426" name="Google Shape;426;p15"/>
          <p:cNvPicPr preferRelativeResize="0"/>
          <p:nvPr/>
        </p:nvPicPr>
        <p:blipFill rotWithShape="1">
          <a:blip r:embed="rId3">
            <a:alphaModFix/>
          </a:blip>
          <a:srcRect/>
          <a:stretch/>
        </p:blipFill>
        <p:spPr>
          <a:xfrm>
            <a:off x="3210286" y="3485433"/>
            <a:ext cx="5282714" cy="815048"/>
          </a:xfrm>
          <a:prstGeom prst="rect">
            <a:avLst/>
          </a:prstGeom>
          <a:noFill/>
          <a:ln>
            <a:noFill/>
          </a:ln>
        </p:spPr>
      </p:pic>
      <p:pic>
        <p:nvPicPr>
          <p:cNvPr id="427" name="Google Shape;427;p15"/>
          <p:cNvPicPr preferRelativeResize="0"/>
          <p:nvPr/>
        </p:nvPicPr>
        <p:blipFill rotWithShape="1">
          <a:blip r:embed="rId4">
            <a:alphaModFix/>
          </a:blip>
          <a:srcRect/>
          <a:stretch/>
        </p:blipFill>
        <p:spPr>
          <a:xfrm>
            <a:off x="2805906" y="5128566"/>
            <a:ext cx="5687094" cy="76775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16"/>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16</a:t>
            </a:fld>
            <a:endParaRPr sz="1800">
              <a:solidFill>
                <a:srgbClr val="CC0000"/>
              </a:solidFill>
            </a:endParaRPr>
          </a:p>
        </p:txBody>
      </p:sp>
      <p:sp>
        <p:nvSpPr>
          <p:cNvPr id="433" name="Google Shape;433;p16"/>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Component diagrams</a:t>
            </a:r>
            <a:endParaRPr/>
          </a:p>
        </p:txBody>
      </p:sp>
      <p:sp>
        <p:nvSpPr>
          <p:cNvPr id="434" name="Google Shape;434;p16"/>
          <p:cNvSpPr txBox="1">
            <a:spLocks noGrp="1"/>
          </p:cNvSpPr>
          <p:nvPr>
            <p:ph type="body" idx="1"/>
          </p:nvPr>
        </p:nvSpPr>
        <p:spPr>
          <a:xfrm>
            <a:off x="564543" y="1447137"/>
            <a:ext cx="10789257"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UML 2.0 provides a way to represent all of the information defined so far for a component, including interfaces, realizations, and artifacts</a:t>
            </a:r>
            <a:endParaRPr/>
          </a:p>
          <a:p>
            <a:pPr marL="992565" lvl="1" indent="-597931" algn="l" rtl="0">
              <a:lnSpc>
                <a:spcPct val="90000"/>
              </a:lnSpc>
              <a:spcBef>
                <a:spcPts val="500"/>
              </a:spcBef>
              <a:spcAft>
                <a:spcPts val="0"/>
              </a:spcAft>
              <a:buClr>
                <a:schemeClr val="dk1"/>
              </a:buClr>
              <a:buSzPts val="2000"/>
              <a:buChar char="•"/>
            </a:pPr>
            <a:r>
              <a:rPr lang="en-US" sz="2000"/>
              <a:t>white box view</a:t>
            </a:r>
            <a:endParaRPr/>
          </a:p>
        </p:txBody>
      </p:sp>
      <p:pic>
        <p:nvPicPr>
          <p:cNvPr id="435" name="Google Shape;435;p16"/>
          <p:cNvPicPr preferRelativeResize="0"/>
          <p:nvPr/>
        </p:nvPicPr>
        <p:blipFill rotWithShape="1">
          <a:blip r:embed="rId3">
            <a:alphaModFix/>
          </a:blip>
          <a:srcRect/>
          <a:stretch/>
        </p:blipFill>
        <p:spPr>
          <a:xfrm>
            <a:off x="4318000" y="2134195"/>
            <a:ext cx="3048001" cy="366117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17"/>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17</a:t>
            </a:fld>
            <a:endParaRPr sz="1800">
              <a:solidFill>
                <a:srgbClr val="CC0000"/>
              </a:solidFill>
            </a:endParaRPr>
          </a:p>
        </p:txBody>
      </p:sp>
      <p:sp>
        <p:nvSpPr>
          <p:cNvPr id="441" name="Google Shape;441;p17"/>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Components diagrams</a:t>
            </a:r>
            <a:endParaRPr/>
          </a:p>
        </p:txBody>
      </p:sp>
      <p:sp>
        <p:nvSpPr>
          <p:cNvPr id="442" name="Google Shape;442;p17"/>
          <p:cNvSpPr txBox="1">
            <a:spLocks noGrp="1"/>
          </p:cNvSpPr>
          <p:nvPr>
            <p:ph type="body" idx="1"/>
          </p:nvPr>
        </p:nvSpPr>
        <p:spPr>
          <a:xfrm>
            <a:off x="564543" y="1447137"/>
            <a:ext cx="10789257"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b="1"/>
              <a:t>Ports</a:t>
            </a:r>
            <a:r>
              <a:rPr lang="en-US" sz="2000"/>
              <a:t> map the interfaces of the component to the realizations that support them </a:t>
            </a:r>
            <a:endParaRPr/>
          </a:p>
          <a:p>
            <a:pPr marL="228600" lvl="0" indent="-228600" algn="l" rtl="0">
              <a:lnSpc>
                <a:spcPct val="90000"/>
              </a:lnSpc>
              <a:spcBef>
                <a:spcPts val="1000"/>
              </a:spcBef>
              <a:spcAft>
                <a:spcPts val="0"/>
              </a:spcAft>
              <a:buClr>
                <a:schemeClr val="dk1"/>
              </a:buClr>
              <a:buSzPts val="2000"/>
              <a:buChar char="•"/>
            </a:pPr>
            <a:r>
              <a:rPr lang="en-US" sz="2000"/>
              <a:t>A port appears as a small square in the edge of the component</a:t>
            </a:r>
            <a:endParaRPr/>
          </a:p>
        </p:txBody>
      </p:sp>
      <p:pic>
        <p:nvPicPr>
          <p:cNvPr id="443" name="Google Shape;443;p17"/>
          <p:cNvPicPr preferRelativeResize="0"/>
          <p:nvPr/>
        </p:nvPicPr>
        <p:blipFill rotWithShape="1">
          <a:blip r:embed="rId3">
            <a:alphaModFix/>
          </a:blip>
          <a:srcRect/>
          <a:stretch/>
        </p:blipFill>
        <p:spPr>
          <a:xfrm>
            <a:off x="2059781" y="2557562"/>
            <a:ext cx="7564438" cy="23827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18"/>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18</a:t>
            </a:fld>
            <a:endParaRPr sz="1800">
              <a:solidFill>
                <a:srgbClr val="CC0000"/>
              </a:solidFill>
            </a:endParaRPr>
          </a:p>
        </p:txBody>
      </p:sp>
      <p:sp>
        <p:nvSpPr>
          <p:cNvPr id="449" name="Google Shape;449;p18"/>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Component diagrams</a:t>
            </a:r>
            <a:endParaRPr/>
          </a:p>
        </p:txBody>
      </p:sp>
      <p:sp>
        <p:nvSpPr>
          <p:cNvPr id="450" name="Google Shape;450;p18"/>
          <p:cNvSpPr txBox="1">
            <a:spLocks noGrp="1"/>
          </p:cNvSpPr>
          <p:nvPr>
            <p:ph type="body" idx="1"/>
          </p:nvPr>
        </p:nvSpPr>
        <p:spPr>
          <a:xfrm>
            <a:off x="343181" y="1205836"/>
            <a:ext cx="11436957" cy="540220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A </a:t>
            </a:r>
            <a:r>
              <a:rPr lang="en-US" sz="2000" b="1"/>
              <a:t>connector</a:t>
            </a:r>
            <a:r>
              <a:rPr lang="en-US" sz="2000"/>
              <a:t> is a </a:t>
            </a:r>
            <a:r>
              <a:rPr lang="en-US" sz="2000" b="1"/>
              <a:t>link</a:t>
            </a:r>
            <a:r>
              <a:rPr lang="en-US" sz="2000"/>
              <a:t> that enables communication between two or more components</a:t>
            </a:r>
            <a:endParaRPr/>
          </a:p>
          <a:p>
            <a:pPr marL="992565" lvl="1" indent="-597931" algn="l" rtl="0">
              <a:lnSpc>
                <a:spcPct val="90000"/>
              </a:lnSpc>
              <a:spcBef>
                <a:spcPts val="500"/>
              </a:spcBef>
              <a:spcAft>
                <a:spcPts val="0"/>
              </a:spcAft>
              <a:buClr>
                <a:schemeClr val="dk1"/>
              </a:buClr>
              <a:buSzPts val="2000"/>
              <a:buChar char="•"/>
            </a:pPr>
            <a:r>
              <a:rPr lang="en-US" sz="2000"/>
              <a:t>Two types of connection: delegation connector &amp; assembly connector</a:t>
            </a:r>
            <a:endParaRPr/>
          </a:p>
          <a:p>
            <a:pPr marL="228600" lvl="0" indent="-228600" algn="l" rtl="0">
              <a:lnSpc>
                <a:spcPct val="90000"/>
              </a:lnSpc>
              <a:spcBef>
                <a:spcPts val="1000"/>
              </a:spcBef>
              <a:spcAft>
                <a:spcPts val="0"/>
              </a:spcAft>
              <a:buClr>
                <a:schemeClr val="dk1"/>
              </a:buClr>
              <a:buSzPts val="2000"/>
              <a:buChar char="•"/>
            </a:pPr>
            <a:r>
              <a:rPr lang="en-US" sz="2000"/>
              <a:t>A </a:t>
            </a:r>
            <a:r>
              <a:rPr lang="en-US" sz="2000" i="1"/>
              <a:t>delegation connector</a:t>
            </a:r>
            <a:r>
              <a:rPr lang="en-US" sz="2000"/>
              <a:t> maps a request from one port to either another port or to a realization that provides the implementation for the request</a:t>
            </a:r>
            <a:endParaRPr/>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b="1"/>
          </a:p>
          <a:p>
            <a:pPr marL="228600" lvl="0" indent="-101600" algn="l" rtl="0">
              <a:lnSpc>
                <a:spcPct val="90000"/>
              </a:lnSpc>
              <a:spcBef>
                <a:spcPts val="1000"/>
              </a:spcBef>
              <a:spcAft>
                <a:spcPts val="0"/>
              </a:spcAft>
              <a:buClr>
                <a:schemeClr val="dk1"/>
              </a:buClr>
              <a:buSzPts val="2000"/>
              <a:buNone/>
            </a:pPr>
            <a:endParaRPr sz="2000" b="1"/>
          </a:p>
          <a:p>
            <a:pPr marL="228600" lvl="0" indent="-101600" algn="l" rtl="0">
              <a:lnSpc>
                <a:spcPct val="90000"/>
              </a:lnSpc>
              <a:spcBef>
                <a:spcPts val="1000"/>
              </a:spcBef>
              <a:spcAft>
                <a:spcPts val="0"/>
              </a:spcAft>
              <a:buClr>
                <a:schemeClr val="dk1"/>
              </a:buClr>
              <a:buSzPts val="2000"/>
              <a:buNone/>
            </a:pPr>
            <a:endParaRPr sz="2000" b="1"/>
          </a:p>
          <a:p>
            <a:pPr marL="228600" lvl="0" indent="-228600" algn="l" rtl="0">
              <a:lnSpc>
                <a:spcPct val="90000"/>
              </a:lnSpc>
              <a:spcBef>
                <a:spcPts val="1000"/>
              </a:spcBef>
              <a:spcAft>
                <a:spcPts val="0"/>
              </a:spcAft>
              <a:buClr>
                <a:schemeClr val="dk1"/>
              </a:buClr>
              <a:buSzPts val="2000"/>
              <a:buChar char="•"/>
            </a:pPr>
            <a:r>
              <a:rPr lang="en-US" sz="2000"/>
              <a:t>An </a:t>
            </a:r>
            <a:r>
              <a:rPr lang="en-US" sz="2000" i="1"/>
              <a:t>assembly connector</a:t>
            </a:r>
            <a:r>
              <a:rPr lang="en-US" sz="2000"/>
              <a:t> is used to map a required interface to a provided interface</a:t>
            </a:r>
            <a:endParaRPr/>
          </a:p>
        </p:txBody>
      </p:sp>
      <p:pic>
        <p:nvPicPr>
          <p:cNvPr id="451" name="Google Shape;451;p18"/>
          <p:cNvPicPr preferRelativeResize="0"/>
          <p:nvPr/>
        </p:nvPicPr>
        <p:blipFill rotWithShape="1">
          <a:blip r:embed="rId3">
            <a:alphaModFix/>
          </a:blip>
          <a:srcRect/>
          <a:stretch/>
        </p:blipFill>
        <p:spPr>
          <a:xfrm>
            <a:off x="3218654" y="2604095"/>
            <a:ext cx="5000625" cy="1645920"/>
          </a:xfrm>
          <a:prstGeom prst="rect">
            <a:avLst/>
          </a:prstGeom>
          <a:noFill/>
          <a:ln>
            <a:noFill/>
          </a:ln>
        </p:spPr>
      </p:pic>
      <p:pic>
        <p:nvPicPr>
          <p:cNvPr id="452" name="Google Shape;452;p18"/>
          <p:cNvPicPr preferRelativeResize="0"/>
          <p:nvPr/>
        </p:nvPicPr>
        <p:blipFill rotWithShape="1">
          <a:blip r:embed="rId4">
            <a:alphaModFix/>
          </a:blip>
          <a:srcRect/>
          <a:stretch/>
        </p:blipFill>
        <p:spPr>
          <a:xfrm>
            <a:off x="3774281" y="4566344"/>
            <a:ext cx="4574758" cy="2244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19"/>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19</a:t>
            </a:fld>
            <a:endParaRPr sz="1800">
              <a:solidFill>
                <a:srgbClr val="CC0000"/>
              </a:solidFill>
            </a:endParaRPr>
          </a:p>
        </p:txBody>
      </p:sp>
      <p:sp>
        <p:nvSpPr>
          <p:cNvPr id="458" name="Google Shape;458;p19"/>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Component diagrams</a:t>
            </a:r>
            <a:endParaRPr/>
          </a:p>
        </p:txBody>
      </p:sp>
      <p:sp>
        <p:nvSpPr>
          <p:cNvPr id="459" name="Google Shape;459;p19"/>
          <p:cNvSpPr txBox="1">
            <a:spLocks noGrp="1"/>
          </p:cNvSpPr>
          <p:nvPr>
            <p:ph type="body" idx="1"/>
          </p:nvPr>
        </p:nvSpPr>
        <p:spPr>
          <a:xfrm>
            <a:off x="366900" y="1167737"/>
            <a:ext cx="11487757"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Example: Online shopping example with three related subsystems - Webstore, Warehouses and Accounting</a:t>
            </a:r>
            <a:endParaRPr/>
          </a:p>
        </p:txBody>
      </p:sp>
      <p:pic>
        <p:nvPicPr>
          <p:cNvPr id="460" name="Google Shape;460;p19"/>
          <p:cNvPicPr preferRelativeResize="0"/>
          <p:nvPr/>
        </p:nvPicPr>
        <p:blipFill rotWithShape="1">
          <a:blip r:embed="rId3">
            <a:alphaModFix/>
          </a:blip>
          <a:srcRect/>
          <a:stretch/>
        </p:blipFill>
        <p:spPr>
          <a:xfrm>
            <a:off x="1912145" y="1580554"/>
            <a:ext cx="9715500" cy="52352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20"/>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20</a:t>
            </a:fld>
            <a:endParaRPr sz="1800">
              <a:solidFill>
                <a:srgbClr val="CC0000"/>
              </a:solidFill>
            </a:endParaRPr>
          </a:p>
        </p:txBody>
      </p:sp>
      <p:sp>
        <p:nvSpPr>
          <p:cNvPr id="466" name="Google Shape;466;p20"/>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Deployment diagrams</a:t>
            </a:r>
            <a:endParaRPr/>
          </a:p>
        </p:txBody>
      </p:sp>
      <p:sp>
        <p:nvSpPr>
          <p:cNvPr id="467" name="Google Shape;467;p20"/>
          <p:cNvSpPr txBox="1">
            <a:spLocks noGrp="1"/>
          </p:cNvSpPr>
          <p:nvPr>
            <p:ph type="body" idx="1"/>
          </p:nvPr>
        </p:nvSpPr>
        <p:spPr>
          <a:xfrm>
            <a:off x="475643" y="1307437"/>
            <a:ext cx="11246457"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b="1"/>
              <a:t>Deployment diagram</a:t>
            </a:r>
            <a:r>
              <a:rPr lang="en-US" sz="2000"/>
              <a:t> shows the architectural of a system as deployment (distribution) of software artifacts to deployment targets</a:t>
            </a:r>
            <a:endParaRPr/>
          </a:p>
          <a:p>
            <a:pPr marL="992565" lvl="1" indent="-597931" algn="l" rtl="0">
              <a:lnSpc>
                <a:spcPct val="90000"/>
              </a:lnSpc>
              <a:spcBef>
                <a:spcPts val="500"/>
              </a:spcBef>
              <a:spcAft>
                <a:spcPts val="0"/>
              </a:spcAft>
              <a:buClr>
                <a:schemeClr val="dk1"/>
              </a:buClr>
              <a:buSzPts val="2000"/>
              <a:buChar char="•"/>
            </a:pPr>
            <a:r>
              <a:rPr lang="en-US" sz="2000" b="1"/>
              <a:t>Artifacts</a:t>
            </a:r>
            <a:r>
              <a:rPr lang="en-US" sz="2000"/>
              <a:t> represent concrete elements in physical world such as executable files, libraries, archives, database schemas, configuration files, …</a:t>
            </a:r>
            <a:endParaRPr/>
          </a:p>
          <a:p>
            <a:pPr marL="992565" lvl="1" indent="-597931" algn="l" rtl="0">
              <a:lnSpc>
                <a:spcPct val="90000"/>
              </a:lnSpc>
              <a:spcBef>
                <a:spcPts val="500"/>
              </a:spcBef>
              <a:spcAft>
                <a:spcPts val="0"/>
              </a:spcAft>
              <a:buClr>
                <a:schemeClr val="dk1"/>
              </a:buClr>
              <a:buSzPts val="2000"/>
              <a:buChar char="•"/>
            </a:pPr>
            <a:r>
              <a:rPr lang="en-US" sz="2000"/>
              <a:t>Deployment target is usually represented by a </a:t>
            </a:r>
            <a:r>
              <a:rPr lang="en-US" sz="2000" b="1"/>
              <a:t>node</a:t>
            </a:r>
            <a:r>
              <a:rPr lang="en-US" sz="2000"/>
              <a:t> which is either hardware device or software execution environment. </a:t>
            </a:r>
            <a:r>
              <a:rPr lang="en-US" sz="2000" b="1"/>
              <a:t>Nodes</a:t>
            </a:r>
            <a:r>
              <a:rPr lang="en-US" sz="2000"/>
              <a:t> could be connected</a:t>
            </a:r>
            <a:endParaRPr/>
          </a:p>
          <a:p>
            <a:pPr marL="228600" lvl="0" indent="-228600" algn="l" rtl="0">
              <a:lnSpc>
                <a:spcPct val="90000"/>
              </a:lnSpc>
              <a:spcBef>
                <a:spcPts val="1000"/>
              </a:spcBef>
              <a:spcAft>
                <a:spcPts val="0"/>
              </a:spcAft>
              <a:buClr>
                <a:schemeClr val="dk1"/>
              </a:buClr>
              <a:buSzPts val="2000"/>
              <a:buChar char="•"/>
            </a:pPr>
            <a:r>
              <a:rPr lang="en-US" sz="2000"/>
              <a:t>Deployments diagrams could describe architecture at </a:t>
            </a:r>
            <a:r>
              <a:rPr lang="en-US" sz="2000" b="1"/>
              <a:t>specification level</a:t>
            </a:r>
            <a:r>
              <a:rPr lang="en-US" sz="2000"/>
              <a:t> (also call type level) or at </a:t>
            </a:r>
            <a:r>
              <a:rPr lang="en-US" sz="2000" b="1"/>
              <a:t>instance level</a:t>
            </a:r>
            <a:r>
              <a:rPr lang="en-US" sz="2000"/>
              <a:t> (similar to class diagrams and object diagrams).</a:t>
            </a:r>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21"/>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21</a:t>
            </a:fld>
            <a:endParaRPr sz="1800">
              <a:solidFill>
                <a:srgbClr val="CC0000"/>
              </a:solidFill>
            </a:endParaRPr>
          </a:p>
        </p:txBody>
      </p:sp>
      <p:sp>
        <p:nvSpPr>
          <p:cNvPr id="473" name="Google Shape;473;p21"/>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Deployment diagrams</a:t>
            </a:r>
            <a:endParaRPr/>
          </a:p>
        </p:txBody>
      </p:sp>
      <p:sp>
        <p:nvSpPr>
          <p:cNvPr id="474" name="Google Shape;474;p21"/>
          <p:cNvSpPr txBox="1">
            <a:spLocks noGrp="1"/>
          </p:cNvSpPr>
          <p:nvPr>
            <p:ph type="body" idx="1"/>
          </p:nvPr>
        </p:nvSpPr>
        <p:spPr>
          <a:xfrm>
            <a:off x="412143" y="1256637"/>
            <a:ext cx="11436957"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b="1"/>
              <a:t>Specification level</a:t>
            </a:r>
            <a:r>
              <a:rPr lang="en-US" sz="2000"/>
              <a:t> (also call type level) deployment diagram shows some overview of deployment of artefacts to deployment targets, without referencing specific instances of artefacts or nodes.</a:t>
            </a:r>
            <a:endParaRPr/>
          </a:p>
        </p:txBody>
      </p:sp>
      <p:pic>
        <p:nvPicPr>
          <p:cNvPr id="475" name="Google Shape;475;p21"/>
          <p:cNvPicPr preferRelativeResize="0"/>
          <p:nvPr/>
        </p:nvPicPr>
        <p:blipFill rotWithShape="1">
          <a:blip r:embed="rId3">
            <a:alphaModFix/>
          </a:blip>
          <a:srcRect/>
          <a:stretch/>
        </p:blipFill>
        <p:spPr>
          <a:xfrm>
            <a:off x="1138225" y="1982618"/>
            <a:ext cx="9656776" cy="3892888"/>
          </a:xfrm>
          <a:prstGeom prst="rect">
            <a:avLst/>
          </a:prstGeom>
          <a:noFill/>
          <a:ln>
            <a:noFill/>
          </a:ln>
        </p:spPr>
      </p:pic>
      <p:sp>
        <p:nvSpPr>
          <p:cNvPr id="476" name="Google Shape;476;p21"/>
          <p:cNvSpPr/>
          <p:nvPr/>
        </p:nvSpPr>
        <p:spPr>
          <a:xfrm>
            <a:off x="1117997" y="5790694"/>
            <a:ext cx="9956007" cy="701424"/>
          </a:xfrm>
          <a:prstGeom prst="rect">
            <a:avLst/>
          </a:prstGeom>
          <a:noFill/>
          <a:ln>
            <a:noFill/>
          </a:ln>
        </p:spPr>
        <p:txBody>
          <a:bodyPr spcFirstLastPara="1" wrap="square" lIns="42500" tIns="42500" rIns="42500" bIns="42500" anchor="ctr" anchorCtr="0">
            <a:spAutoFit/>
          </a:bodyPr>
          <a:lstStyle/>
          <a:p>
            <a:pPr marL="0" marR="0" lvl="0" indent="0" algn="ctr" rtl="0">
              <a:spcBef>
                <a:spcPts val="0"/>
              </a:spcBef>
              <a:spcAft>
                <a:spcPts val="0"/>
              </a:spcAft>
              <a:buNone/>
            </a:pPr>
            <a:r>
              <a:rPr lang="en-US" sz="2000" b="0" i="1" u="none" strike="noStrike" cap="none">
                <a:solidFill>
                  <a:schemeClr val="dk1"/>
                </a:solidFill>
                <a:latin typeface="Arial"/>
                <a:ea typeface="Arial"/>
                <a:cs typeface="Arial"/>
                <a:sym typeface="Arial"/>
              </a:rPr>
              <a:t>Specification level deployment diagram -</a:t>
            </a:r>
            <a:endParaRPr/>
          </a:p>
          <a:p>
            <a:pPr marL="0" marR="0" lvl="0" indent="0" algn="ctr" rtl="0">
              <a:spcBef>
                <a:spcPts val="0"/>
              </a:spcBef>
              <a:spcAft>
                <a:spcPts val="0"/>
              </a:spcAft>
              <a:buNone/>
            </a:pPr>
            <a:r>
              <a:rPr lang="en-US" sz="2000" b="0" i="1" u="none" strike="noStrike" cap="none">
                <a:solidFill>
                  <a:schemeClr val="dk1"/>
                </a:solidFill>
                <a:latin typeface="Arial"/>
                <a:ea typeface="Arial"/>
                <a:cs typeface="Arial"/>
                <a:sym typeface="Arial"/>
              </a:rPr>
              <a:t>web application deployed to Tomcat JSP server and database schemas - to database system</a:t>
            </a:r>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22"/>
          <p:cNvSpPr txBox="1">
            <a:spLocks noGrp="1"/>
          </p:cNvSpPr>
          <p:nvPr>
            <p:ph type="sldNum" idx="12"/>
          </p:nvPr>
        </p:nvSpPr>
        <p:spPr>
          <a:xfrm>
            <a:off x="11359632" y="6548438"/>
            <a:ext cx="633401" cy="332542"/>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800">
                <a:solidFill>
                  <a:srgbClr val="CC0000"/>
                </a:solidFill>
              </a:rPr>
              <a:t>22</a:t>
            </a:fld>
            <a:endParaRPr sz="1800">
              <a:solidFill>
                <a:srgbClr val="CC0000"/>
              </a:solidFill>
            </a:endParaRPr>
          </a:p>
        </p:txBody>
      </p:sp>
      <p:sp>
        <p:nvSpPr>
          <p:cNvPr id="482" name="Google Shape;482;p22"/>
          <p:cNvSpPr txBox="1">
            <a:spLocks noGrp="1"/>
          </p:cNvSpPr>
          <p:nvPr>
            <p:ph type="title"/>
          </p:nvPr>
        </p:nvSpPr>
        <p:spPr>
          <a:xfrm>
            <a:off x="2043484" y="365126"/>
            <a:ext cx="9310315" cy="93093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700"/>
              <a:buFont typeface="Arial"/>
              <a:buNone/>
            </a:pPr>
            <a:r>
              <a:rPr lang="en-US" sz="2700" b="1"/>
              <a:t>Deployment diagrams</a:t>
            </a:r>
            <a:endParaRPr/>
          </a:p>
        </p:txBody>
      </p:sp>
      <p:sp>
        <p:nvSpPr>
          <p:cNvPr id="483" name="Google Shape;483;p22"/>
          <p:cNvSpPr txBox="1">
            <a:spLocks noGrp="1"/>
          </p:cNvSpPr>
          <p:nvPr>
            <p:ph type="body" idx="1"/>
          </p:nvPr>
        </p:nvSpPr>
        <p:spPr>
          <a:xfrm>
            <a:off x="284747" y="1241853"/>
            <a:ext cx="11538953" cy="47298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b="1"/>
              <a:t>Instance level</a:t>
            </a:r>
            <a:r>
              <a:rPr lang="en-US" sz="2000"/>
              <a:t> deployment diagram shows deployment of instances of artefacts to specific instances of deployment targets. It could be useful for example to show the differences in deployments to development, staging or production environments with the names/ids specific to deployment services or devices</a:t>
            </a:r>
            <a:endParaRPr/>
          </a:p>
        </p:txBody>
      </p:sp>
      <p:pic>
        <p:nvPicPr>
          <p:cNvPr id="484" name="Google Shape;484;p22"/>
          <p:cNvPicPr preferRelativeResize="0"/>
          <p:nvPr/>
        </p:nvPicPr>
        <p:blipFill rotWithShape="1">
          <a:blip r:embed="rId3">
            <a:alphaModFix/>
          </a:blip>
          <a:srcRect/>
          <a:stretch/>
        </p:blipFill>
        <p:spPr>
          <a:xfrm>
            <a:off x="1208980" y="2203667"/>
            <a:ext cx="9266040" cy="3742612"/>
          </a:xfrm>
          <a:prstGeom prst="rect">
            <a:avLst/>
          </a:prstGeom>
          <a:noFill/>
          <a:ln>
            <a:noFill/>
          </a:ln>
        </p:spPr>
      </p:pic>
      <p:sp>
        <p:nvSpPr>
          <p:cNvPr id="485" name="Google Shape;485;p22"/>
          <p:cNvSpPr/>
          <p:nvPr/>
        </p:nvSpPr>
        <p:spPr>
          <a:xfrm>
            <a:off x="1117997" y="5883230"/>
            <a:ext cx="9956007" cy="701424"/>
          </a:xfrm>
          <a:prstGeom prst="rect">
            <a:avLst/>
          </a:prstGeom>
          <a:noFill/>
          <a:ln>
            <a:noFill/>
          </a:ln>
        </p:spPr>
        <p:txBody>
          <a:bodyPr spcFirstLastPara="1" wrap="square" lIns="42500" tIns="42500" rIns="42500" bIns="42500" anchor="ctr" anchorCtr="0">
            <a:spAutoFit/>
          </a:bodyPr>
          <a:lstStyle/>
          <a:p>
            <a:pPr marL="0" marR="0" lvl="0" indent="0" algn="ctr" rtl="0">
              <a:spcBef>
                <a:spcPts val="0"/>
              </a:spcBef>
              <a:spcAft>
                <a:spcPts val="0"/>
              </a:spcAft>
              <a:buNone/>
            </a:pPr>
            <a:r>
              <a:rPr lang="en-US" sz="2000" b="0" i="0" u="none" strike="noStrike" cap="none">
                <a:solidFill>
                  <a:schemeClr val="dk1"/>
                </a:solidFill>
                <a:latin typeface="Arial"/>
                <a:ea typeface="Arial"/>
                <a:cs typeface="Arial"/>
                <a:sym typeface="Arial"/>
              </a:rPr>
              <a:t>Instance level deployment diagram - web application deployed to Tomcat JSP server and database shemas - to database system</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23"/>
          <p:cNvSpPr txBox="1">
            <a:spLocks noGrp="1"/>
          </p:cNvSpPr>
          <p:nvPr>
            <p:ph type="title"/>
          </p:nvPr>
        </p:nvSpPr>
        <p:spPr>
          <a:xfrm>
            <a:off x="2043484" y="365126"/>
            <a:ext cx="9310315" cy="94684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en-US"/>
              <a:t>Project</a:t>
            </a:r>
            <a:endParaRPr/>
          </a:p>
        </p:txBody>
      </p:sp>
      <p:sp>
        <p:nvSpPr>
          <p:cNvPr id="492" name="Google Shape;492;p23"/>
          <p:cNvSpPr txBox="1">
            <a:spLocks noGrp="1"/>
          </p:cNvSpPr>
          <p:nvPr>
            <p:ph type="body" idx="1"/>
          </p:nvPr>
        </p:nvSpPr>
        <p:spPr>
          <a:xfrm>
            <a:off x="732368" y="1600200"/>
            <a:ext cx="10723033" cy="455295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Divide groups of 4-5 students</a:t>
            </a:r>
            <a:endParaRPr/>
          </a:p>
          <a:p>
            <a:pPr marL="228600" lvl="0" indent="-228600" algn="l" rtl="0">
              <a:lnSpc>
                <a:spcPct val="90000"/>
              </a:lnSpc>
              <a:spcBef>
                <a:spcPts val="1000"/>
              </a:spcBef>
              <a:spcAft>
                <a:spcPts val="0"/>
              </a:spcAft>
              <a:buClr>
                <a:schemeClr val="dk1"/>
              </a:buClr>
              <a:buSzPts val="2800"/>
              <a:buChar char="•"/>
            </a:pPr>
            <a:r>
              <a:rPr lang="en-US"/>
              <a:t>Each group chooses a problem</a:t>
            </a:r>
            <a:endParaRPr/>
          </a:p>
          <a:p>
            <a:pPr marL="228600" lvl="0" indent="-228600" algn="l" rtl="0">
              <a:lnSpc>
                <a:spcPct val="90000"/>
              </a:lnSpc>
              <a:spcBef>
                <a:spcPts val="1000"/>
              </a:spcBef>
              <a:spcAft>
                <a:spcPts val="0"/>
              </a:spcAft>
              <a:buClr>
                <a:schemeClr val="dk1"/>
              </a:buClr>
              <a:buSzPts val="2800"/>
              <a:buChar char="•"/>
            </a:pPr>
            <a:r>
              <a:rPr lang="en-US"/>
              <a:t>Building </a:t>
            </a:r>
            <a:endParaRPr/>
          </a:p>
          <a:p>
            <a:pPr marL="685800" lvl="1" indent="-228600" algn="l" rtl="0">
              <a:lnSpc>
                <a:spcPct val="90000"/>
              </a:lnSpc>
              <a:spcBef>
                <a:spcPts val="500"/>
              </a:spcBef>
              <a:spcAft>
                <a:spcPts val="0"/>
              </a:spcAft>
              <a:buClr>
                <a:schemeClr val="dk1"/>
              </a:buClr>
              <a:buSzPts val="2000"/>
              <a:buChar char="•"/>
            </a:pPr>
            <a:r>
              <a:rPr lang="en-US" sz="2000"/>
              <a:t>Package diagrams</a:t>
            </a:r>
            <a:endParaRPr/>
          </a:p>
          <a:p>
            <a:pPr marL="685800" lvl="1" indent="-228600" algn="l" rtl="0">
              <a:lnSpc>
                <a:spcPct val="90000"/>
              </a:lnSpc>
              <a:spcBef>
                <a:spcPts val="500"/>
              </a:spcBef>
              <a:spcAft>
                <a:spcPts val="0"/>
              </a:spcAft>
              <a:buClr>
                <a:schemeClr val="dk1"/>
              </a:buClr>
              <a:buSzPts val="2000"/>
              <a:buChar char="•"/>
            </a:pPr>
            <a:r>
              <a:rPr lang="en-US" sz="2000"/>
              <a:t>Component diagrams</a:t>
            </a:r>
            <a:endParaRPr/>
          </a:p>
          <a:p>
            <a:pPr marL="685800" lvl="1" indent="-228600" algn="l" rtl="0">
              <a:lnSpc>
                <a:spcPct val="90000"/>
              </a:lnSpc>
              <a:spcBef>
                <a:spcPts val="500"/>
              </a:spcBef>
              <a:spcAft>
                <a:spcPts val="0"/>
              </a:spcAft>
              <a:buClr>
                <a:schemeClr val="dk1"/>
              </a:buClr>
              <a:buSzPts val="2000"/>
              <a:buChar char="•"/>
            </a:pPr>
            <a:r>
              <a:rPr lang="en-US" sz="2000"/>
              <a:t>Deployment diagrams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1183</Words>
  <Application>Microsoft Office PowerPoint</Application>
  <PresentationFormat>Custom</PresentationFormat>
  <Paragraphs>219</Paragraphs>
  <Slides>23</Slides>
  <Notes>23</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Office Theme</vt:lpstr>
      <vt:lpstr>1_Office Theme</vt:lpstr>
      <vt:lpstr>SYSTEMS ANALYSIS AND DESIGN</vt:lpstr>
      <vt:lpstr>Architectural &amp; Deployment modelling</vt:lpstr>
      <vt:lpstr>Views</vt:lpstr>
      <vt:lpstr>Package diagrams</vt:lpstr>
      <vt:lpstr>Package diagrams</vt:lpstr>
      <vt:lpstr>Package diagram</vt:lpstr>
      <vt:lpstr>Package diagrams</vt:lpstr>
      <vt:lpstr>Package diagrams</vt:lpstr>
      <vt:lpstr>Package diagrams</vt:lpstr>
      <vt:lpstr>Package diagrams</vt:lpstr>
      <vt:lpstr>Package diagrams</vt:lpstr>
      <vt:lpstr>Package diagrams</vt:lpstr>
      <vt:lpstr>Component diagrams</vt:lpstr>
      <vt:lpstr>Component diagrams</vt:lpstr>
      <vt:lpstr>Component diagrams</vt:lpstr>
      <vt:lpstr>Component diagrams</vt:lpstr>
      <vt:lpstr>Components diagrams</vt:lpstr>
      <vt:lpstr>Component diagrams</vt:lpstr>
      <vt:lpstr>Component diagrams</vt:lpstr>
      <vt:lpstr>Deployment diagrams</vt:lpstr>
      <vt:lpstr>Deployment diagrams</vt:lpstr>
      <vt:lpstr>Deployment diagrams</vt:lpstr>
      <vt:lpstr>Project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 AND DESIGN</dc:title>
  <dc:creator>Toan Le</dc:creator>
  <cp:lastModifiedBy>Dell</cp:lastModifiedBy>
  <cp:revision>3</cp:revision>
  <dcterms:created xsi:type="dcterms:W3CDTF">2020-05-27T05:21:30Z</dcterms:created>
  <dcterms:modified xsi:type="dcterms:W3CDTF">2022-11-17T03:00:11Z</dcterms:modified>
</cp:coreProperties>
</file>