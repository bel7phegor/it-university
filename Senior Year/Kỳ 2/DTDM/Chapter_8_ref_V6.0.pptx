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38"/>
  </p:notesMasterIdLst>
  <p:handoutMasterIdLst>
    <p:handoutMasterId r:id="rId139"/>
  </p:handoutMasterIdLst>
  <p:sldIdLst>
    <p:sldId id="646" r:id="rId2"/>
    <p:sldId id="653" r:id="rId3"/>
    <p:sldId id="654" r:id="rId4"/>
    <p:sldId id="655" r:id="rId5"/>
    <p:sldId id="436" r:id="rId6"/>
    <p:sldId id="437" r:id="rId7"/>
    <p:sldId id="438" r:id="rId8"/>
    <p:sldId id="439" r:id="rId9"/>
    <p:sldId id="440" r:id="rId10"/>
    <p:sldId id="441" r:id="rId11"/>
    <p:sldId id="570" r:id="rId12"/>
    <p:sldId id="260" r:id="rId13"/>
    <p:sldId id="262" r:id="rId14"/>
    <p:sldId id="264" r:id="rId15"/>
    <p:sldId id="566" r:id="rId16"/>
    <p:sldId id="567" r:id="rId17"/>
    <p:sldId id="266" r:id="rId18"/>
    <p:sldId id="267" r:id="rId19"/>
    <p:sldId id="268" r:id="rId20"/>
    <p:sldId id="399" r:id="rId21"/>
    <p:sldId id="400" r:id="rId22"/>
    <p:sldId id="401" r:id="rId23"/>
    <p:sldId id="402" r:id="rId24"/>
    <p:sldId id="430" r:id="rId25"/>
    <p:sldId id="403" r:id="rId26"/>
    <p:sldId id="404" r:id="rId27"/>
    <p:sldId id="405" r:id="rId28"/>
    <p:sldId id="406" r:id="rId29"/>
    <p:sldId id="407" r:id="rId30"/>
    <p:sldId id="431" r:id="rId31"/>
    <p:sldId id="408" r:id="rId32"/>
    <p:sldId id="409" r:id="rId33"/>
    <p:sldId id="571" r:id="rId34"/>
    <p:sldId id="545" r:id="rId35"/>
    <p:sldId id="546" r:id="rId36"/>
    <p:sldId id="547" r:id="rId37"/>
    <p:sldId id="548" r:id="rId38"/>
    <p:sldId id="549" r:id="rId39"/>
    <p:sldId id="550" r:id="rId40"/>
    <p:sldId id="551" r:id="rId41"/>
    <p:sldId id="552" r:id="rId42"/>
    <p:sldId id="553" r:id="rId43"/>
    <p:sldId id="554" r:id="rId44"/>
    <p:sldId id="555" r:id="rId45"/>
    <p:sldId id="556" r:id="rId46"/>
    <p:sldId id="572" r:id="rId47"/>
    <p:sldId id="558" r:id="rId48"/>
    <p:sldId id="559" r:id="rId49"/>
    <p:sldId id="560" r:id="rId50"/>
    <p:sldId id="561" r:id="rId51"/>
    <p:sldId id="562" r:id="rId52"/>
    <p:sldId id="563" r:id="rId53"/>
    <p:sldId id="564" r:id="rId54"/>
    <p:sldId id="650" r:id="rId55"/>
    <p:sldId id="429" r:id="rId56"/>
    <p:sldId id="424" r:id="rId57"/>
    <p:sldId id="425" r:id="rId58"/>
    <p:sldId id="573" r:id="rId59"/>
    <p:sldId id="446" r:id="rId60"/>
    <p:sldId id="447" r:id="rId61"/>
    <p:sldId id="448" r:id="rId62"/>
    <p:sldId id="449" r:id="rId63"/>
    <p:sldId id="575" r:id="rId64"/>
    <p:sldId id="576" r:id="rId65"/>
    <p:sldId id="577" r:id="rId66"/>
    <p:sldId id="578" r:id="rId67"/>
    <p:sldId id="579" r:id="rId68"/>
    <p:sldId id="580" r:id="rId69"/>
    <p:sldId id="581" r:id="rId70"/>
    <p:sldId id="582" r:id="rId71"/>
    <p:sldId id="583" r:id="rId72"/>
    <p:sldId id="584" r:id="rId73"/>
    <p:sldId id="585" r:id="rId74"/>
    <p:sldId id="586" r:id="rId75"/>
    <p:sldId id="587" r:id="rId76"/>
    <p:sldId id="588" r:id="rId77"/>
    <p:sldId id="589" r:id="rId78"/>
    <p:sldId id="590" r:id="rId79"/>
    <p:sldId id="591" r:id="rId80"/>
    <p:sldId id="592" r:id="rId81"/>
    <p:sldId id="593" r:id="rId82"/>
    <p:sldId id="594" r:id="rId83"/>
    <p:sldId id="595" r:id="rId84"/>
    <p:sldId id="596" r:id="rId85"/>
    <p:sldId id="597" r:id="rId86"/>
    <p:sldId id="598" r:id="rId87"/>
    <p:sldId id="599" r:id="rId88"/>
    <p:sldId id="600" r:id="rId89"/>
    <p:sldId id="601" r:id="rId90"/>
    <p:sldId id="602" r:id="rId91"/>
    <p:sldId id="603" r:id="rId92"/>
    <p:sldId id="604" r:id="rId93"/>
    <p:sldId id="605" r:id="rId94"/>
    <p:sldId id="606" r:id="rId95"/>
    <p:sldId id="607" r:id="rId96"/>
    <p:sldId id="608" r:id="rId97"/>
    <p:sldId id="609" r:id="rId98"/>
    <p:sldId id="610" r:id="rId99"/>
    <p:sldId id="611" r:id="rId100"/>
    <p:sldId id="612" r:id="rId101"/>
    <p:sldId id="613" r:id="rId102"/>
    <p:sldId id="614" r:id="rId103"/>
    <p:sldId id="615" r:id="rId104"/>
    <p:sldId id="616" r:id="rId105"/>
    <p:sldId id="617" r:id="rId106"/>
    <p:sldId id="618" r:id="rId107"/>
    <p:sldId id="619" r:id="rId108"/>
    <p:sldId id="620" r:id="rId109"/>
    <p:sldId id="621" r:id="rId110"/>
    <p:sldId id="622" r:id="rId111"/>
    <p:sldId id="623" r:id="rId112"/>
    <p:sldId id="624" r:id="rId113"/>
    <p:sldId id="625" r:id="rId114"/>
    <p:sldId id="626" r:id="rId115"/>
    <p:sldId id="627" r:id="rId116"/>
    <p:sldId id="628" r:id="rId117"/>
    <p:sldId id="629" r:id="rId118"/>
    <p:sldId id="630" r:id="rId119"/>
    <p:sldId id="631" r:id="rId120"/>
    <p:sldId id="651" r:id="rId121"/>
    <p:sldId id="652" r:id="rId122"/>
    <p:sldId id="632" r:id="rId123"/>
    <p:sldId id="647" r:id="rId124"/>
    <p:sldId id="634" r:id="rId125"/>
    <p:sldId id="635" r:id="rId126"/>
    <p:sldId id="636" r:id="rId127"/>
    <p:sldId id="637" r:id="rId128"/>
    <p:sldId id="638" r:id="rId129"/>
    <p:sldId id="639" r:id="rId130"/>
    <p:sldId id="640" r:id="rId131"/>
    <p:sldId id="641" r:id="rId132"/>
    <p:sldId id="649" r:id="rId133"/>
    <p:sldId id="642" r:id="rId134"/>
    <p:sldId id="643" r:id="rId135"/>
    <p:sldId id="648" r:id="rId136"/>
    <p:sldId id="645" r:id="rId137"/>
  </p:sldIdLst>
  <p:sldSz cx="9144000" cy="6858000" type="screen4x3"/>
  <p:notesSz cx="7315200" cy="9601200"/>
  <p:defaultTextStyle>
    <a:defPPr>
      <a:defRPr lang="en-US"/>
    </a:defPPr>
    <a:lvl1pPr algn="l" rtl="0" eaLnBrk="0" fontAlgn="base" hangingPunct="0">
      <a:spcBef>
        <a:spcPct val="0"/>
      </a:spcBef>
      <a:spcAft>
        <a:spcPct val="0"/>
      </a:spcAft>
      <a:defRPr sz="2000" kern="1200">
        <a:solidFill>
          <a:schemeClr val="tx1"/>
        </a:solidFill>
        <a:latin typeface="Comic Sans MS" pitchFamily="66" charset="0"/>
        <a:ea typeface="ＭＳ Ｐゴシック" pitchFamily="34" charset="-128"/>
        <a:cs typeface="+mn-cs"/>
      </a:defRPr>
    </a:lvl1pPr>
    <a:lvl2pPr marL="457200" algn="l" rtl="0" eaLnBrk="0" fontAlgn="base" hangingPunct="0">
      <a:spcBef>
        <a:spcPct val="0"/>
      </a:spcBef>
      <a:spcAft>
        <a:spcPct val="0"/>
      </a:spcAft>
      <a:defRPr sz="2000" kern="1200">
        <a:solidFill>
          <a:schemeClr val="tx1"/>
        </a:solidFill>
        <a:latin typeface="Comic Sans MS" pitchFamily="66" charset="0"/>
        <a:ea typeface="ＭＳ Ｐゴシック" pitchFamily="34" charset="-128"/>
        <a:cs typeface="+mn-cs"/>
      </a:defRPr>
    </a:lvl2pPr>
    <a:lvl3pPr marL="914400" algn="l" rtl="0" eaLnBrk="0" fontAlgn="base" hangingPunct="0">
      <a:spcBef>
        <a:spcPct val="0"/>
      </a:spcBef>
      <a:spcAft>
        <a:spcPct val="0"/>
      </a:spcAft>
      <a:defRPr sz="2000" kern="1200">
        <a:solidFill>
          <a:schemeClr val="tx1"/>
        </a:solidFill>
        <a:latin typeface="Comic Sans MS" pitchFamily="66" charset="0"/>
        <a:ea typeface="ＭＳ Ｐゴシック" pitchFamily="34" charset="-128"/>
        <a:cs typeface="+mn-cs"/>
      </a:defRPr>
    </a:lvl3pPr>
    <a:lvl4pPr marL="1371600" algn="l" rtl="0" eaLnBrk="0" fontAlgn="base" hangingPunct="0">
      <a:spcBef>
        <a:spcPct val="0"/>
      </a:spcBef>
      <a:spcAft>
        <a:spcPct val="0"/>
      </a:spcAft>
      <a:defRPr sz="2000" kern="1200">
        <a:solidFill>
          <a:schemeClr val="tx1"/>
        </a:solidFill>
        <a:latin typeface="Comic Sans MS" pitchFamily="66" charset="0"/>
        <a:ea typeface="ＭＳ Ｐゴシック" pitchFamily="34" charset="-128"/>
        <a:cs typeface="+mn-cs"/>
      </a:defRPr>
    </a:lvl4pPr>
    <a:lvl5pPr marL="1828800" algn="l" rtl="0" eaLnBrk="0" fontAlgn="base" hangingPunct="0">
      <a:spcBef>
        <a:spcPct val="0"/>
      </a:spcBef>
      <a:spcAft>
        <a:spcPct val="0"/>
      </a:spcAft>
      <a:defRPr sz="2000" kern="1200">
        <a:solidFill>
          <a:schemeClr val="tx1"/>
        </a:solidFill>
        <a:latin typeface="Comic Sans MS" pitchFamily="66" charset="0"/>
        <a:ea typeface="ＭＳ Ｐゴシック" pitchFamily="34" charset="-128"/>
        <a:cs typeface="+mn-cs"/>
      </a:defRPr>
    </a:lvl5pPr>
    <a:lvl6pPr marL="2286000" algn="l" defTabSz="914400" rtl="0" eaLnBrk="1" latinLnBrk="0" hangingPunct="1">
      <a:defRPr sz="2000" kern="1200">
        <a:solidFill>
          <a:schemeClr val="tx1"/>
        </a:solidFill>
        <a:latin typeface="Comic Sans MS" pitchFamily="66" charset="0"/>
        <a:ea typeface="ＭＳ Ｐゴシック" pitchFamily="34" charset="-128"/>
        <a:cs typeface="+mn-cs"/>
      </a:defRPr>
    </a:lvl6pPr>
    <a:lvl7pPr marL="2743200" algn="l" defTabSz="914400" rtl="0" eaLnBrk="1" latinLnBrk="0" hangingPunct="1">
      <a:defRPr sz="2000" kern="1200">
        <a:solidFill>
          <a:schemeClr val="tx1"/>
        </a:solidFill>
        <a:latin typeface="Comic Sans MS" pitchFamily="66" charset="0"/>
        <a:ea typeface="ＭＳ Ｐゴシック" pitchFamily="34" charset="-128"/>
        <a:cs typeface="+mn-cs"/>
      </a:defRPr>
    </a:lvl7pPr>
    <a:lvl8pPr marL="3200400" algn="l" defTabSz="914400" rtl="0" eaLnBrk="1" latinLnBrk="0" hangingPunct="1">
      <a:defRPr sz="2000" kern="1200">
        <a:solidFill>
          <a:schemeClr val="tx1"/>
        </a:solidFill>
        <a:latin typeface="Comic Sans MS" pitchFamily="66" charset="0"/>
        <a:ea typeface="ＭＳ Ｐゴシック" pitchFamily="34" charset="-128"/>
        <a:cs typeface="+mn-cs"/>
      </a:defRPr>
    </a:lvl8pPr>
    <a:lvl9pPr marL="3657600" algn="l" defTabSz="914400" rtl="0" eaLnBrk="1" latinLnBrk="0" hangingPunct="1">
      <a:defRPr sz="2000" kern="1200">
        <a:solidFill>
          <a:schemeClr val="tx1"/>
        </a:solidFill>
        <a:latin typeface="Comic Sans MS" pitchFamily="66" charset="0"/>
        <a:ea typeface="ＭＳ Ｐゴシック"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00CCFF"/>
    <a:srgbClr val="0099CC"/>
    <a:srgbClr val="000099"/>
    <a:srgbClr val="FF0000"/>
    <a:srgbClr val="FFFF00"/>
    <a:srgbClr val="DDDDDD"/>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492"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1186"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a:defRPr sz="1300">
                <a:latin typeface="Comic Sans MS" pitchFamily="66" charset="0"/>
                <a:ea typeface="+mn-ea"/>
              </a:defRPr>
            </a:lvl1pPr>
          </a:lstStyle>
          <a:p>
            <a:pPr>
              <a:defRPr/>
            </a:pPr>
            <a:endParaRPr lang="en-US"/>
          </a:p>
        </p:txBody>
      </p:sp>
      <p:sp>
        <p:nvSpPr>
          <p:cNvPr id="221187" name="Rectangle 3"/>
          <p:cNvSpPr>
            <a:spLocks noGrp="1" noChangeArrowheads="1"/>
          </p:cNvSpPr>
          <p:nvPr>
            <p:ph type="dt" sz="quarter"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a:defRPr sz="1300"/>
            </a:lvl1pPr>
          </a:lstStyle>
          <a:p>
            <a:fld id="{A6AA8691-AD57-4B58-998A-D01A8D1F6C7F}" type="datetimeFigureOut">
              <a:rPr lang="en-US" altLang="en-US"/>
              <a:pPr/>
              <a:t>9/8/2015</a:t>
            </a:fld>
            <a:endParaRPr lang="en-US" altLang="en-US"/>
          </a:p>
        </p:txBody>
      </p:sp>
      <p:sp>
        <p:nvSpPr>
          <p:cNvPr id="221188" name="Rectangle 4"/>
          <p:cNvSpPr>
            <a:spLocks noGrp="1" noChangeArrowheads="1"/>
          </p:cNvSpPr>
          <p:nvPr>
            <p:ph type="ftr" sz="quarter" idx="2"/>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a:defRPr sz="1300">
                <a:latin typeface="Comic Sans MS" pitchFamily="66" charset="0"/>
                <a:ea typeface="+mn-ea"/>
              </a:defRPr>
            </a:lvl1pPr>
          </a:lstStyle>
          <a:p>
            <a:pPr>
              <a:defRPr/>
            </a:pPr>
            <a:endParaRPr lang="en-US"/>
          </a:p>
        </p:txBody>
      </p:sp>
      <p:sp>
        <p:nvSpPr>
          <p:cNvPr id="221189" name="Rectangle 5"/>
          <p:cNvSpPr>
            <a:spLocks noGrp="1" noChangeArrowheads="1"/>
          </p:cNvSpPr>
          <p:nvPr>
            <p:ph type="sldNum" sz="quarter" idx="3"/>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a:defRPr sz="1300"/>
            </a:lvl1pPr>
          </a:lstStyle>
          <a:p>
            <a:fld id="{DDE5E92E-C913-48A1-80D6-852359F33C91}" type="slidenum">
              <a:rPr lang="en-US" altLang="en-US"/>
              <a:pPr/>
              <a:t>‹#›</a:t>
            </a:fld>
            <a:endParaRPr lang="en-US" altLang="en-US"/>
          </a:p>
        </p:txBody>
      </p:sp>
    </p:spTree>
    <p:extLst>
      <p:ext uri="{BB962C8B-B14F-4D97-AF65-F5344CB8AC3E}">
        <p14:creationId xmlns:p14="http://schemas.microsoft.com/office/powerpoint/2010/main" val="16035728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661" tIns="48331" rIns="96661" bIns="48331" numCol="1" anchor="t" anchorCtr="0" compatLnSpc="1">
            <a:prstTxWarp prst="textNoShape">
              <a:avLst/>
            </a:prstTxWarp>
          </a:bodyPr>
          <a:lstStyle>
            <a:lvl1pPr defTabSz="966788">
              <a:defRPr sz="1300">
                <a:latin typeface="Times New Roman" pitchFamily="18" charset="0"/>
                <a:ea typeface="+mn-ea"/>
              </a:defRPr>
            </a:lvl1pPr>
          </a:lstStyle>
          <a:p>
            <a:pPr>
              <a:defRPr/>
            </a:pPr>
            <a:endParaRPr lang="en-US"/>
          </a:p>
        </p:txBody>
      </p:sp>
      <p:sp>
        <p:nvSpPr>
          <p:cNvPr id="3075" name="Rectangle 3"/>
          <p:cNvSpPr>
            <a:spLocks noGrp="1" noChangeArrowheads="1"/>
          </p:cNvSpPr>
          <p:nvPr>
            <p:ph type="dt" idx="1"/>
          </p:nvPr>
        </p:nvSpPr>
        <p:spPr bwMode="auto">
          <a:xfrm>
            <a:off x="4144963" y="0"/>
            <a:ext cx="3170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661" tIns="48331" rIns="96661" bIns="48331" numCol="1" anchor="t" anchorCtr="0" compatLnSpc="1">
            <a:prstTxWarp prst="textNoShape">
              <a:avLst/>
            </a:prstTxWarp>
          </a:bodyPr>
          <a:lstStyle>
            <a:lvl1pPr algn="r" defTabSz="966788">
              <a:defRPr sz="1300">
                <a:latin typeface="Times New Roman" pitchFamily="18" charset="0"/>
                <a:ea typeface="+mn-ea"/>
              </a:defRPr>
            </a:lvl1pPr>
          </a:lstStyle>
          <a:p>
            <a:pPr>
              <a:defRPr/>
            </a:pPr>
            <a:endParaRPr lang="en-US"/>
          </a:p>
        </p:txBody>
      </p:sp>
      <p:sp>
        <p:nvSpPr>
          <p:cNvPr id="1946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74725" y="4560888"/>
            <a:ext cx="5365750" cy="431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661" tIns="48331" rIns="96661" bIns="4833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078" name="Rectangle 6"/>
          <p:cNvSpPr>
            <a:spLocks noGrp="1" noChangeArrowheads="1"/>
          </p:cNvSpPr>
          <p:nvPr>
            <p:ph type="ftr" sz="quarter" idx="4"/>
          </p:nvPr>
        </p:nvSpPr>
        <p:spPr bwMode="auto">
          <a:xfrm>
            <a:off x="0" y="9121775"/>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661" tIns="48331" rIns="96661" bIns="48331" numCol="1" anchor="b" anchorCtr="0" compatLnSpc="1">
            <a:prstTxWarp prst="textNoShape">
              <a:avLst/>
            </a:prstTxWarp>
          </a:bodyPr>
          <a:lstStyle>
            <a:lvl1pPr defTabSz="966788">
              <a:defRPr sz="1300">
                <a:latin typeface="Times New Roman" pitchFamily="18" charset="0"/>
                <a:ea typeface="+mn-ea"/>
              </a:defRPr>
            </a:lvl1pPr>
          </a:lstStyle>
          <a:p>
            <a:pPr>
              <a:defRPr/>
            </a:pPr>
            <a:endParaRPr lang="en-US"/>
          </a:p>
        </p:txBody>
      </p:sp>
      <p:sp>
        <p:nvSpPr>
          <p:cNvPr id="3079" name="Rectangle 7"/>
          <p:cNvSpPr>
            <a:spLocks noGrp="1" noChangeArrowheads="1"/>
          </p:cNvSpPr>
          <p:nvPr>
            <p:ph type="sldNum" sz="quarter" idx="5"/>
          </p:nvPr>
        </p:nvSpPr>
        <p:spPr bwMode="auto">
          <a:xfrm>
            <a:off x="4144963" y="9121775"/>
            <a:ext cx="3170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661" tIns="48331" rIns="96661" bIns="48331" numCol="1" anchor="b" anchorCtr="0" compatLnSpc="1">
            <a:prstTxWarp prst="textNoShape">
              <a:avLst/>
            </a:prstTxWarp>
          </a:bodyPr>
          <a:lstStyle>
            <a:lvl1pPr algn="r" defTabSz="966788">
              <a:defRPr sz="1300">
                <a:latin typeface="Times New Roman" pitchFamily="18" charset="0"/>
              </a:defRPr>
            </a:lvl1pPr>
          </a:lstStyle>
          <a:p>
            <a:fld id="{F46196F7-7FD7-4823-AA23-3CD46104CEBE}" type="slidenum">
              <a:rPr lang="en-US" altLang="en-US"/>
              <a:pPr/>
              <a:t>‹#›</a:t>
            </a:fld>
            <a:endParaRPr lang="en-US" altLang="en-US"/>
          </a:p>
        </p:txBody>
      </p:sp>
    </p:spTree>
    <p:extLst>
      <p:ext uri="{BB962C8B-B14F-4D97-AF65-F5344CB8AC3E}">
        <p14:creationId xmlns:p14="http://schemas.microsoft.com/office/powerpoint/2010/main" val="6787521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F46196F7-7FD7-4823-AA23-3CD46104CEBE}" type="slidenum">
              <a:rPr lang="en-US" altLang="en-US" smtClean="0"/>
              <a:pPr/>
              <a:t>3</a:t>
            </a:fld>
            <a:endParaRPr lang="en-US" altLang="en-US"/>
          </a:p>
        </p:txBody>
      </p:sp>
    </p:spTree>
    <p:extLst>
      <p:ext uri="{BB962C8B-B14F-4D97-AF65-F5344CB8AC3E}">
        <p14:creationId xmlns:p14="http://schemas.microsoft.com/office/powerpoint/2010/main" val="3125566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F9FDF72A-5791-4EC3-A8DC-80FBB01A8A76}" type="slidenum">
              <a:rPr lang="en-US" altLang="en-US" sz="1300">
                <a:latin typeface="Times New Roman" pitchFamily="18" charset="0"/>
              </a:rPr>
              <a:pPr/>
              <a:t>5</a:t>
            </a:fld>
            <a:endParaRPr lang="en-US" altLang="en-US" sz="1300">
              <a:latin typeface="Times New Roman" pitchFamily="18" charset="0"/>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395A1BF9-1760-4877-A431-2E80A2875BCF}" type="slidenum">
              <a:rPr lang="en-US" altLang="en-US" sz="1300">
                <a:latin typeface="Times New Roman" pitchFamily="18" charset="0"/>
              </a:rPr>
              <a:pPr/>
              <a:t>6</a:t>
            </a:fld>
            <a:endParaRPr lang="en-US" altLang="en-US" sz="1300">
              <a:latin typeface="Times New Roman" pitchFamily="18" charset="0"/>
            </a:endParaRPr>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91DD4038-7EAD-49BB-8F63-02ECFEBDDE50}" type="slidenum">
              <a:rPr lang="en-US" altLang="en-US" sz="1300">
                <a:latin typeface="Times New Roman" pitchFamily="18" charset="0"/>
              </a:rPr>
              <a:pPr/>
              <a:t>7</a:t>
            </a:fld>
            <a:endParaRPr lang="en-US" altLang="en-US" sz="1300">
              <a:latin typeface="Times New Roman" pitchFamily="18" charset="0"/>
            </a:endParaRPr>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04063BCA-9A07-4E80-9757-A86AFDDD123E}" type="slidenum">
              <a:rPr lang="en-US" altLang="en-US" sz="1300">
                <a:latin typeface="Times New Roman" pitchFamily="18" charset="0"/>
              </a:rPr>
              <a:pPr/>
              <a:t>8</a:t>
            </a:fld>
            <a:endParaRPr lang="en-US" altLang="en-US" sz="1300">
              <a:latin typeface="Times New Roman" pitchFamily="18" charset="0"/>
            </a:endParaRPr>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AB0B2DF2-75E7-48B7-9F84-20A6302C063E}" type="slidenum">
              <a:rPr lang="en-US" altLang="en-US" sz="1300">
                <a:latin typeface="Times New Roman" pitchFamily="18" charset="0"/>
              </a:rPr>
              <a:pPr/>
              <a:t>9</a:t>
            </a:fld>
            <a:endParaRPr lang="en-US" altLang="en-US" sz="1300">
              <a:latin typeface="Times New Roman" pitchFamily="18" charset="0"/>
            </a:endParaRPr>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D13574AC-3F92-4AE5-9721-4D7485DDCC42}" type="slidenum">
              <a:rPr lang="en-US" altLang="en-US" sz="1300">
                <a:latin typeface="Times New Roman" pitchFamily="18" charset="0"/>
              </a:rPr>
              <a:pPr/>
              <a:t>10</a:t>
            </a:fld>
            <a:endParaRPr lang="en-US" altLang="en-US" sz="1300">
              <a:latin typeface="Times New Roman" pitchFamily="18" charset="0"/>
            </a:endParaRPr>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B2401E44-6997-4638-90AE-20D0854904F0}" type="slidenum">
              <a:rPr lang="en-US" altLang="en-US" sz="1300">
                <a:latin typeface="Times New Roman" pitchFamily="18" charset="0"/>
              </a:rPr>
              <a:pPr/>
              <a:t>11</a:t>
            </a:fld>
            <a:endParaRPr lang="en-US" altLang="en-US" sz="1300">
              <a:latin typeface="Times New Roman" pitchFamily="18" charset="0"/>
            </a:endParaRPr>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a:ln/>
        </p:spPr>
      </p:sp>
      <p:sp>
        <p:nvSpPr>
          <p:cNvPr id="40962" name="Notes Placeholder 2"/>
          <p:cNvSpPr>
            <a:spLocks noGrp="1"/>
          </p:cNvSpPr>
          <p:nvPr>
            <p:ph type="body" idx="1"/>
          </p:nvPr>
        </p:nvSpPr>
        <p:spPr>
          <a:noFill/>
        </p:spPr>
        <p:txBody>
          <a:bodyPr/>
          <a:lstStyle/>
          <a:p>
            <a:endParaRPr lang="en-US" altLang="en-US" smtClean="0">
              <a:ea typeface="ＭＳ Ｐゴシック" pitchFamily="34" charset="-128"/>
            </a:endParaRPr>
          </a:p>
        </p:txBody>
      </p:sp>
      <p:sp>
        <p:nvSpPr>
          <p:cNvPr id="40963" name="Slide Number Placeholder 3"/>
          <p:cNvSpPr>
            <a:spLocks noGrp="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C2E33A85-4199-4F58-98D7-D51925E87325}" type="slidenum">
              <a:rPr lang="en-US" altLang="en-US" sz="1300">
                <a:latin typeface="Times New Roman" pitchFamily="18" charset="0"/>
              </a:rPr>
              <a:pPr/>
              <a:t>16</a:t>
            </a:fld>
            <a:endParaRPr lang="en-US" altLang="en-US" sz="130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58CFCDC9-A4B0-4EB1-AABC-9BC091D613AE}" type="slidenum">
              <a:rPr lang="en-US" altLang="en-US" sz="1300">
                <a:latin typeface="Times New Roman" pitchFamily="18" charset="0"/>
              </a:rPr>
              <a:pPr/>
              <a:t>33</a:t>
            </a:fld>
            <a:endParaRPr lang="en-US" altLang="en-US" sz="1300">
              <a:latin typeface="Times New Roman" pitchFamily="18" charset="0"/>
            </a:endParaRPr>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8C3C765E-19C8-4EDE-985D-E986A0973897}" type="slidenum">
              <a:rPr lang="en-US" altLang="en-US" sz="1300">
                <a:latin typeface="Times New Roman" pitchFamily="18" charset="0"/>
              </a:rPr>
              <a:pPr/>
              <a:t>46</a:t>
            </a:fld>
            <a:endParaRPr lang="en-US" altLang="en-US" sz="1300">
              <a:latin typeface="Times New Roman" pitchFamily="18" charset="0"/>
            </a:endParaRPr>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F8F32B58-4326-4A4A-B5F4-FA7230A17C2B}" type="slidenum">
              <a:rPr lang="en-US" altLang="en-US" sz="1300">
                <a:latin typeface="Times New Roman" pitchFamily="18" charset="0"/>
              </a:rPr>
              <a:pPr/>
              <a:t>58</a:t>
            </a:fld>
            <a:endParaRPr lang="en-US" altLang="en-US" sz="1300">
              <a:latin typeface="Times New Roman" pitchFamily="18" charset="0"/>
            </a:endParaRPr>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EB9FEF11-6CD5-406B-881B-03A9C2A703AA}" type="slidenum">
              <a:rPr lang="en-US" altLang="en-US" sz="1300">
                <a:latin typeface="Times New Roman" pitchFamily="18" charset="0"/>
              </a:rPr>
              <a:pPr/>
              <a:t>59</a:t>
            </a:fld>
            <a:endParaRPr lang="en-US" altLang="en-US" sz="1300">
              <a:latin typeface="Times New Roman" pitchFamily="18" charset="0"/>
            </a:endParaRPr>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DFFCD313-092B-46FB-9FCF-E594D38D9E2E}" type="slidenum">
              <a:rPr lang="en-US" altLang="en-US" sz="1300">
                <a:latin typeface="Times New Roman" pitchFamily="18" charset="0"/>
              </a:rPr>
              <a:pPr/>
              <a:t>60</a:t>
            </a:fld>
            <a:endParaRPr lang="en-US" altLang="en-US" sz="1300">
              <a:latin typeface="Times New Roman" pitchFamily="18" charset="0"/>
            </a:endParaRPr>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2C2FB6D5-16A6-4DA3-B25D-1AEBE3367D8C}" type="slidenum">
              <a:rPr lang="en-US" altLang="en-US" sz="1300">
                <a:latin typeface="Times New Roman" pitchFamily="18" charset="0"/>
              </a:rPr>
              <a:pPr/>
              <a:t>61</a:t>
            </a:fld>
            <a:endParaRPr lang="en-US" altLang="en-US" sz="1300">
              <a:latin typeface="Times New Roman" pitchFamily="18" charset="0"/>
            </a:endParaRPr>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5FE784D2-100A-4A1A-9B75-A5E9355947EE}" type="slidenum">
              <a:rPr lang="en-US" altLang="en-US" sz="1300">
                <a:latin typeface="Times New Roman" pitchFamily="18" charset="0"/>
              </a:rPr>
              <a:pPr/>
              <a:t>62</a:t>
            </a:fld>
            <a:endParaRPr lang="en-US" altLang="en-US" sz="1300">
              <a:latin typeface="Times New Roman" pitchFamily="18" charset="0"/>
            </a:endParaRPr>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F6F2EEB4-B6F2-45BE-B10D-421AA8769CE6}" type="slidenum">
              <a:rPr lang="en-US" altLang="en-US" sz="1300">
                <a:latin typeface="Times New Roman" pitchFamily="18" charset="0"/>
              </a:rPr>
              <a:pPr/>
              <a:t>63</a:t>
            </a:fld>
            <a:endParaRPr lang="en-US" altLang="en-US" sz="1300">
              <a:latin typeface="Times New Roman" pitchFamily="18" charset="0"/>
            </a:endParaRPr>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F68F892B-D719-481E-A335-2265A4594774}" type="slidenum">
              <a:rPr lang="en-US" altLang="en-US" sz="1300">
                <a:latin typeface="Times New Roman" pitchFamily="18" charset="0"/>
              </a:rPr>
              <a:pPr/>
              <a:t>84</a:t>
            </a:fld>
            <a:endParaRPr lang="en-US" altLang="en-US" sz="1300">
              <a:latin typeface="Times New Roman" pitchFamily="18" charset="0"/>
            </a:endParaRPr>
          </a:p>
        </p:txBody>
      </p:sp>
      <p:sp>
        <p:nvSpPr>
          <p:cNvPr id="119810" name="Rectangle 2"/>
          <p:cNvSpPr>
            <a:spLocks noGrp="1" noRot="1" noChangeAspect="1" noChangeArrowheads="1" noTextEdit="1"/>
          </p:cNvSpPr>
          <p:nvPr>
            <p:ph type="sldImg"/>
          </p:nvPr>
        </p:nvSpPr>
        <p:spPr>
          <a:ln/>
        </p:spPr>
      </p:sp>
      <p:sp>
        <p:nvSpPr>
          <p:cNvPr id="119811"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1067C83D-C99E-4DC9-8FF5-ACF9B2794844}" type="slidenum">
              <a:rPr lang="en-US" altLang="en-US" sz="1300">
                <a:latin typeface="Times New Roman" pitchFamily="18" charset="0"/>
              </a:rPr>
              <a:pPr/>
              <a:t>107</a:t>
            </a:fld>
            <a:endParaRPr lang="en-US" altLang="en-US" sz="1300">
              <a:latin typeface="Times New Roman" pitchFamily="18" charset="0"/>
            </a:endParaRPr>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E6FBF601-8D73-496A-98A0-974EE0CBF88D}" type="slidenum">
              <a:rPr lang="en-US" altLang="en-US" sz="1300">
                <a:latin typeface="Times New Roman" pitchFamily="18" charset="0"/>
              </a:rPr>
              <a:pPr/>
              <a:t>116</a:t>
            </a:fld>
            <a:endParaRPr lang="en-US" altLang="en-US" sz="1300">
              <a:latin typeface="Times New Roman" pitchFamily="18" charset="0"/>
            </a:endParaRPr>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33B005F0-8D44-4E50-A2AA-85A604CDD1FF}" type="slidenum">
              <a:rPr lang="en-US" altLang="en-US" sz="1300">
                <a:latin typeface="Times New Roman" pitchFamily="18" charset="0"/>
              </a:rPr>
              <a:pPr/>
              <a:t>117</a:t>
            </a:fld>
            <a:endParaRPr lang="en-US" altLang="en-US" sz="1300">
              <a:latin typeface="Times New Roman" pitchFamily="18" charset="0"/>
            </a:endParaRPr>
          </a:p>
        </p:txBody>
      </p:sp>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B208C949-5A49-49CF-9F90-84DB257B016A}" type="slidenum">
              <a:rPr lang="en-US" altLang="en-US" sz="1300">
                <a:latin typeface="Times New Roman" pitchFamily="18" charset="0"/>
              </a:rPr>
              <a:pPr/>
              <a:t>118</a:t>
            </a:fld>
            <a:endParaRPr lang="en-US" altLang="en-US" sz="1300">
              <a:latin typeface="Times New Roman" pitchFamily="18" charset="0"/>
            </a:endParaRPr>
          </a:p>
        </p:txBody>
      </p:sp>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E1A10748-4DB8-43E7-85E7-3AA1677636E5}" type="slidenum">
              <a:rPr lang="en-US" altLang="en-US" sz="1300">
                <a:latin typeface="Times New Roman" pitchFamily="18" charset="0"/>
              </a:rPr>
              <a:pPr/>
              <a:t>119</a:t>
            </a:fld>
            <a:endParaRPr lang="en-US" altLang="en-US" sz="1300">
              <a:latin typeface="Times New Roman" pitchFamily="18" charset="0"/>
            </a:endParaRPr>
          </a:p>
        </p:txBody>
      </p:sp>
      <p:sp>
        <p:nvSpPr>
          <p:cNvPr id="160770" name="Rectangle 2"/>
          <p:cNvSpPr>
            <a:spLocks noGrp="1" noRot="1" noChangeAspect="1" noChangeArrowheads="1" noTextEdit="1"/>
          </p:cNvSpPr>
          <p:nvPr>
            <p:ph type="sldImg"/>
          </p:nvPr>
        </p:nvSpPr>
        <p:spPr>
          <a:ln/>
        </p:spPr>
      </p:sp>
      <p:sp>
        <p:nvSpPr>
          <p:cNvPr id="160771"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9D0FA972-70C1-49CD-A257-66A080E59AFD}" type="slidenum">
              <a:rPr lang="en-US" altLang="en-US" sz="1300">
                <a:latin typeface="Times New Roman" pitchFamily="18" charset="0"/>
              </a:rPr>
              <a:pPr/>
              <a:t>122</a:t>
            </a:fld>
            <a:endParaRPr lang="en-US" altLang="en-US" sz="1300">
              <a:latin typeface="Times New Roman" pitchFamily="18" charset="0"/>
            </a:endParaRPr>
          </a:p>
        </p:txBody>
      </p:sp>
      <p:sp>
        <p:nvSpPr>
          <p:cNvPr id="162818" name="Rectangle 2"/>
          <p:cNvSpPr>
            <a:spLocks noGrp="1" noRot="1" noChangeAspect="1" noChangeArrowheads="1" noTextEdit="1"/>
          </p:cNvSpPr>
          <p:nvPr>
            <p:ph type="sldImg"/>
          </p:nvPr>
        </p:nvSpPr>
        <p:spPr>
          <a:ln/>
        </p:spPr>
      </p:sp>
      <p:sp>
        <p:nvSpPr>
          <p:cNvPr id="162819"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EDF80779-6750-4E7D-809B-1596C78AF095}" type="slidenum">
              <a:rPr lang="en-US" altLang="en-US" sz="1300">
                <a:latin typeface="Times New Roman" pitchFamily="18" charset="0"/>
              </a:rPr>
              <a:pPr/>
              <a:t>123</a:t>
            </a:fld>
            <a:endParaRPr lang="en-US" altLang="en-US" sz="1300">
              <a:latin typeface="Times New Roman" pitchFamily="18" charset="0"/>
            </a:endParaRPr>
          </a:p>
        </p:txBody>
      </p:sp>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AA5D2C4A-82E8-4602-8263-19B7B43EE6F0}" type="slidenum">
              <a:rPr lang="en-US" altLang="en-US" sz="1300">
                <a:latin typeface="Times New Roman" pitchFamily="18" charset="0"/>
              </a:rPr>
              <a:pPr/>
              <a:t>124</a:t>
            </a:fld>
            <a:endParaRPr lang="en-US" altLang="en-US" sz="1300">
              <a:latin typeface="Times New Roman" pitchFamily="18" charset="0"/>
            </a:endParaRPr>
          </a:p>
        </p:txBody>
      </p:sp>
      <p:sp>
        <p:nvSpPr>
          <p:cNvPr id="166914" name="Rectangle 2"/>
          <p:cNvSpPr>
            <a:spLocks noGrp="1" noRot="1" noChangeAspect="1" noChangeArrowheads="1" noTextEdit="1"/>
          </p:cNvSpPr>
          <p:nvPr>
            <p:ph type="sldImg"/>
          </p:nvPr>
        </p:nvSpPr>
        <p:spPr>
          <a:ln/>
        </p:spPr>
      </p:sp>
      <p:sp>
        <p:nvSpPr>
          <p:cNvPr id="166915"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A331C9DC-76C4-43E4-9218-1A5D7B6765BD}" type="slidenum">
              <a:rPr lang="en-US" altLang="en-US" sz="1300">
                <a:latin typeface="Times New Roman" pitchFamily="18" charset="0"/>
              </a:rPr>
              <a:pPr/>
              <a:t>125</a:t>
            </a:fld>
            <a:endParaRPr lang="en-US" altLang="en-US" sz="1300">
              <a:latin typeface="Times New Roman" pitchFamily="18" charset="0"/>
            </a:endParaRPr>
          </a:p>
        </p:txBody>
      </p:sp>
      <p:sp>
        <p:nvSpPr>
          <p:cNvPr id="168962"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D656D83A-3194-4950-B404-E496EEFB561E}" type="slidenum">
              <a:rPr lang="en-US" altLang="en-US" sz="1300">
                <a:latin typeface="Times New Roman" pitchFamily="18" charset="0"/>
              </a:rPr>
              <a:pPr/>
              <a:t>126</a:t>
            </a:fld>
            <a:endParaRPr lang="en-US" altLang="en-US" sz="1300">
              <a:latin typeface="Times New Roman" pitchFamily="18" charset="0"/>
            </a:endParaRPr>
          </a:p>
        </p:txBody>
      </p:sp>
      <p:sp>
        <p:nvSpPr>
          <p:cNvPr id="171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19BA722A-DFE7-4208-863A-1D1C5303DFB5}" type="slidenum">
              <a:rPr lang="en-US" altLang="en-US" sz="1300">
                <a:latin typeface="Times New Roman" pitchFamily="18" charset="0"/>
              </a:rPr>
              <a:pPr/>
              <a:t>127</a:t>
            </a:fld>
            <a:endParaRPr lang="en-US" altLang="en-US" sz="1300">
              <a:latin typeface="Times New Roman" pitchFamily="18" charset="0"/>
            </a:endParaRPr>
          </a:p>
        </p:txBody>
      </p:sp>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A32F05DD-BCDC-4ABA-81D1-D4E99F652F21}" type="slidenum">
              <a:rPr lang="en-US" altLang="en-US" sz="1300">
                <a:latin typeface="Times New Roman" pitchFamily="18" charset="0"/>
              </a:rPr>
              <a:pPr/>
              <a:t>128</a:t>
            </a:fld>
            <a:endParaRPr lang="en-US" altLang="en-US" sz="1300">
              <a:latin typeface="Times New Roman" pitchFamily="18" charset="0"/>
            </a:endParaRPr>
          </a:p>
        </p:txBody>
      </p:sp>
      <p:sp>
        <p:nvSpPr>
          <p:cNvPr id="175106"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1329615A-0EF7-4DBB-9504-CB853BA4F4B1}" type="slidenum">
              <a:rPr lang="en-US" altLang="en-US" sz="1300">
                <a:latin typeface="Times New Roman" pitchFamily="18" charset="0"/>
              </a:rPr>
              <a:pPr/>
              <a:t>129</a:t>
            </a:fld>
            <a:endParaRPr lang="en-US" altLang="en-US" sz="1300">
              <a:latin typeface="Times New Roman" pitchFamily="18" charset="0"/>
            </a:endParaRPr>
          </a:p>
        </p:txBody>
      </p:sp>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090017A6-8A11-457C-9BAE-2724AAFAFCA9}" type="slidenum">
              <a:rPr lang="en-US" altLang="en-US" sz="1300">
                <a:latin typeface="Times New Roman" pitchFamily="18" charset="0"/>
              </a:rPr>
              <a:pPr/>
              <a:t>130</a:t>
            </a:fld>
            <a:endParaRPr lang="en-US" altLang="en-US" sz="1300">
              <a:latin typeface="Times New Roman" pitchFamily="18" charset="0"/>
            </a:endParaRPr>
          </a:p>
        </p:txBody>
      </p:sp>
      <p:sp>
        <p:nvSpPr>
          <p:cNvPr id="179202" name="Rectangle 2"/>
          <p:cNvSpPr>
            <a:spLocks noGrp="1" noRot="1" noChangeAspect="1" noChangeArrowheads="1" noTextEdit="1"/>
          </p:cNvSpPr>
          <p:nvPr>
            <p:ph type="sldImg"/>
          </p:nvPr>
        </p:nvSpPr>
        <p:spPr>
          <a:ln/>
        </p:spPr>
      </p:sp>
      <p:sp>
        <p:nvSpPr>
          <p:cNvPr id="179203"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7A519BBA-9B35-4362-9313-CFF1BF8F557C}" type="slidenum">
              <a:rPr lang="en-US" altLang="en-US" sz="1300">
                <a:latin typeface="Times New Roman" pitchFamily="18" charset="0"/>
              </a:rPr>
              <a:pPr/>
              <a:t>131</a:t>
            </a:fld>
            <a:endParaRPr lang="en-US" altLang="en-US" sz="1300">
              <a:latin typeface="Times New Roman" pitchFamily="18" charset="0"/>
            </a:endParaRPr>
          </a:p>
        </p:txBody>
      </p:sp>
      <p:sp>
        <p:nvSpPr>
          <p:cNvPr id="181250" name="Rectangle 2"/>
          <p:cNvSpPr>
            <a:spLocks noGrp="1" noRot="1" noChangeAspect="1" noChangeArrowheads="1" noTextEdit="1"/>
          </p:cNvSpPr>
          <p:nvPr>
            <p:ph type="sldImg"/>
          </p:nvPr>
        </p:nvSpPr>
        <p:spPr>
          <a:ln/>
        </p:spPr>
      </p:sp>
      <p:sp>
        <p:nvSpPr>
          <p:cNvPr id="181251"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8856B855-35FD-41EC-8A27-20B134340D47}" type="slidenum">
              <a:rPr lang="en-US" altLang="en-US" sz="1300">
                <a:latin typeface="Times New Roman" pitchFamily="18" charset="0"/>
              </a:rPr>
              <a:pPr/>
              <a:t>132</a:t>
            </a:fld>
            <a:endParaRPr lang="en-US" altLang="en-US" sz="1300">
              <a:latin typeface="Times New Roman" pitchFamily="18" charset="0"/>
            </a:endParaRPr>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BA36E87D-1D92-412A-939B-C9A028371875}" type="slidenum">
              <a:rPr lang="en-US" altLang="en-US" sz="1300">
                <a:latin typeface="Times New Roman" pitchFamily="18" charset="0"/>
              </a:rPr>
              <a:pPr/>
              <a:t>133</a:t>
            </a:fld>
            <a:endParaRPr lang="en-US" altLang="en-US" sz="1300">
              <a:latin typeface="Times New Roman" pitchFamily="18" charset="0"/>
            </a:endParaRPr>
          </a:p>
        </p:txBody>
      </p:sp>
      <p:sp>
        <p:nvSpPr>
          <p:cNvPr id="185346" name="Rectangle 2"/>
          <p:cNvSpPr>
            <a:spLocks noGrp="1" noRot="1" noChangeAspect="1" noChangeArrowheads="1" noTextEdit="1"/>
          </p:cNvSpPr>
          <p:nvPr>
            <p:ph type="sldImg"/>
          </p:nvPr>
        </p:nvSpPr>
        <p:spPr>
          <a:ln/>
        </p:spPr>
      </p:sp>
      <p:sp>
        <p:nvSpPr>
          <p:cNvPr id="185347"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6B07C964-F3D1-4A84-8774-77447D420291}" type="slidenum">
              <a:rPr lang="en-US" altLang="en-US" sz="1300">
                <a:latin typeface="Times New Roman" pitchFamily="18" charset="0"/>
              </a:rPr>
              <a:pPr/>
              <a:t>134</a:t>
            </a:fld>
            <a:endParaRPr lang="en-US" altLang="en-US" sz="1300">
              <a:latin typeface="Times New Roman" pitchFamily="18" charset="0"/>
            </a:endParaRPr>
          </a:p>
        </p:txBody>
      </p:sp>
      <p:sp>
        <p:nvSpPr>
          <p:cNvPr id="187394" name="Rectangle 2"/>
          <p:cNvSpPr>
            <a:spLocks noGrp="1" noRot="1" noChangeAspect="1" noChangeArrowheads="1" noTextEdit="1"/>
          </p:cNvSpPr>
          <p:nvPr>
            <p:ph type="sldImg"/>
          </p:nvPr>
        </p:nvSpPr>
        <p:spPr>
          <a:ln/>
        </p:spPr>
      </p:sp>
      <p:sp>
        <p:nvSpPr>
          <p:cNvPr id="187395"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30BD248E-65EE-4B03-BBF2-3939DC745596}" type="slidenum">
              <a:rPr lang="en-US" altLang="en-US" sz="1300">
                <a:latin typeface="Times New Roman" pitchFamily="18" charset="0"/>
              </a:rPr>
              <a:pPr/>
              <a:t>135</a:t>
            </a:fld>
            <a:endParaRPr lang="en-US" altLang="en-US" sz="1300">
              <a:latin typeface="Times New Roman" pitchFamily="18" charset="0"/>
            </a:endParaRPr>
          </a:p>
        </p:txBody>
      </p:sp>
      <p:sp>
        <p:nvSpPr>
          <p:cNvPr id="189442" name="Rectangle 2"/>
          <p:cNvSpPr>
            <a:spLocks noGrp="1" noRot="1" noChangeAspect="1" noChangeArrowheads="1" noTextEdit="1"/>
          </p:cNvSpPr>
          <p:nvPr>
            <p:ph type="sldImg"/>
          </p:nvPr>
        </p:nvSpPr>
        <p:spPr>
          <a:ln/>
        </p:spPr>
      </p:sp>
      <p:sp>
        <p:nvSpPr>
          <p:cNvPr id="189443"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7"/>
          <p:cNvSpPr>
            <a:spLocks noGrp="1" noChangeArrowheads="1"/>
          </p:cNvSpPr>
          <p:nvPr>
            <p:ph type="sldNum" sz="quarter" idx="5"/>
          </p:nvPr>
        </p:nvSpPr>
        <p:spPr>
          <a:noFill/>
        </p:spPr>
        <p:txBody>
          <a:bodyPr/>
          <a:lstStyle>
            <a:lvl1pPr defTabSz="966788">
              <a:defRPr sz="2000">
                <a:solidFill>
                  <a:schemeClr val="tx1"/>
                </a:solidFill>
                <a:latin typeface="Comic Sans MS" pitchFamily="66" charset="0"/>
                <a:ea typeface="ＭＳ Ｐゴシック" pitchFamily="34" charset="-128"/>
              </a:defRPr>
            </a:lvl1pPr>
            <a:lvl2pPr marL="742950" indent="-285750" defTabSz="966788">
              <a:defRPr sz="2000">
                <a:solidFill>
                  <a:schemeClr val="tx1"/>
                </a:solidFill>
                <a:latin typeface="Comic Sans MS" pitchFamily="66" charset="0"/>
                <a:ea typeface="ＭＳ Ｐゴシック" pitchFamily="34" charset="-128"/>
              </a:defRPr>
            </a:lvl2pPr>
            <a:lvl3pPr marL="1143000" indent="-228600" defTabSz="966788">
              <a:defRPr sz="2000">
                <a:solidFill>
                  <a:schemeClr val="tx1"/>
                </a:solidFill>
                <a:latin typeface="Comic Sans MS" pitchFamily="66" charset="0"/>
                <a:ea typeface="ＭＳ Ｐゴシック" pitchFamily="34" charset="-128"/>
              </a:defRPr>
            </a:lvl3pPr>
            <a:lvl4pPr marL="1600200" indent="-228600" defTabSz="966788">
              <a:defRPr sz="2000">
                <a:solidFill>
                  <a:schemeClr val="tx1"/>
                </a:solidFill>
                <a:latin typeface="Comic Sans MS" pitchFamily="66" charset="0"/>
                <a:ea typeface="ＭＳ Ｐゴシック" pitchFamily="34" charset="-128"/>
              </a:defRPr>
            </a:lvl4pPr>
            <a:lvl5pPr marL="2057400" indent="-228600" defTabSz="966788">
              <a:defRPr sz="2000">
                <a:solidFill>
                  <a:schemeClr val="tx1"/>
                </a:solidFill>
                <a:latin typeface="Comic Sans MS" pitchFamily="66" charset="0"/>
                <a:ea typeface="ＭＳ Ｐゴシック" pitchFamily="34" charset="-128"/>
              </a:defRPr>
            </a:lvl5pPr>
            <a:lvl6pPr marL="25146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defTabSz="966788"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fld id="{8DDD86D5-D073-4E7F-B998-C2657334A5CE}" type="slidenum">
              <a:rPr lang="en-US" altLang="en-US" sz="1300">
                <a:latin typeface="Times New Roman" pitchFamily="18" charset="0"/>
              </a:rPr>
              <a:pPr/>
              <a:t>136</a:t>
            </a:fld>
            <a:endParaRPr lang="en-US" altLang="en-US" sz="1300">
              <a:latin typeface="Times New Roman" pitchFamily="18" charset="0"/>
            </a:endParaRPr>
          </a:p>
        </p:txBody>
      </p:sp>
      <p:sp>
        <p:nvSpPr>
          <p:cNvPr id="191490" name="Rectangle 2"/>
          <p:cNvSpPr>
            <a:spLocks noGrp="1" noRot="1" noChangeAspect="1" noChangeArrowheads="1" noTextEdit="1"/>
          </p:cNvSpPr>
          <p:nvPr>
            <p:ph type="sldImg"/>
          </p:nvPr>
        </p:nvSpPr>
        <p:spPr>
          <a:ln/>
        </p:spPr>
      </p:sp>
      <p:sp>
        <p:nvSpPr>
          <p:cNvPr id="191491" name="Rectangle 3"/>
          <p:cNvSpPr>
            <a:spLocks noGrp="1" noChangeArrowheads="1"/>
          </p:cNvSpPr>
          <p:nvPr>
            <p:ph type="body" idx="1"/>
          </p:nvPr>
        </p:nvSpPr>
        <p:spPr>
          <a:noFill/>
        </p:spPr>
        <p:txBody>
          <a:bodyPr/>
          <a:lstStyle/>
          <a:p>
            <a:endParaRPr lang="en-US" altLang="en-US" smtClean="0">
              <a:ea typeface="ＭＳ Ｐゴシック"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52037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1216501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1850668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400" u="none">
                <a:latin typeface="Gill Sans MT" pitchFamily="34" charset="0"/>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1573743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3169157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3046026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393019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3226037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1926456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2123544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21270392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33400" y="1600200"/>
            <a:ext cx="3810000" cy="464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495800" y="1600200"/>
            <a:ext cx="3810000" cy="464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24904980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533400" y="1600200"/>
            <a:ext cx="3810000" cy="464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495800" y="1600200"/>
            <a:ext cx="3810000" cy="464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653763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33400" y="1600200"/>
            <a:ext cx="3810000" cy="464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495800" y="1600200"/>
            <a:ext cx="3810000" cy="2247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495800" y="4000500"/>
            <a:ext cx="3810000" cy="2247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40939623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533400" y="1600200"/>
            <a:ext cx="3810000" cy="2247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533400" y="4000500"/>
            <a:ext cx="3810000" cy="2247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495800" y="1600200"/>
            <a:ext cx="3810000" cy="464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25535350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533400" y="1600200"/>
            <a:ext cx="7772400" cy="4648200"/>
          </a:xfrm>
        </p:spPr>
        <p:txBody>
          <a:bodyPr/>
          <a:lstStyle/>
          <a:p>
            <a:pPr lvl="0"/>
            <a:endParaRPr lang="en-US" noProof="0" smtClean="0"/>
          </a:p>
        </p:txBody>
      </p:sp>
      <p:sp>
        <p:nvSpPr>
          <p:cNvPr id="4" name="Rectangle 5"/>
          <p:cNvSpPr>
            <a:spLocks noGrp="1" noChangeArrowheads="1"/>
          </p:cNvSpPr>
          <p:nvPr>
            <p:ph type="ftr" sz="quarter" idx="10"/>
          </p:nvPr>
        </p:nvSpPr>
        <p:spPr>
          <a:ln/>
        </p:spPr>
        <p:txBody>
          <a:bodyPr/>
          <a:lstStyle>
            <a:lvl1pPr>
              <a:defRPr/>
            </a:lvl1pPr>
          </a:lstStyle>
          <a:p>
            <a:pPr>
              <a:defRPr/>
            </a:pPr>
            <a:r>
              <a:rPr lang="en-US"/>
              <a:t>Network Security</a:t>
            </a:r>
          </a:p>
        </p:txBody>
      </p:sp>
    </p:spTree>
    <p:extLst>
      <p:ext uri="{BB962C8B-B14F-4D97-AF65-F5344CB8AC3E}">
        <p14:creationId xmlns:p14="http://schemas.microsoft.com/office/powerpoint/2010/main" val="1809572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533400" y="1600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2293" name="Rectangle 5"/>
          <p:cNvSpPr>
            <a:spLocks noGrp="1" noChangeArrowheads="1"/>
          </p:cNvSpPr>
          <p:nvPr>
            <p:ph type="ftr" sz="quarter" idx="3"/>
          </p:nvPr>
        </p:nvSpPr>
        <p:spPr bwMode="auto">
          <a:xfrm>
            <a:off x="4648200" y="6477000"/>
            <a:ext cx="3862388"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ea typeface="+mn-ea"/>
              </a:defRPr>
            </a:lvl1pPr>
          </a:lstStyle>
          <a:p>
            <a:pPr>
              <a:defRPr/>
            </a:pPr>
            <a:r>
              <a:rPr lang="en-US"/>
              <a:t>Network Security</a:t>
            </a:r>
          </a:p>
        </p:txBody>
      </p:sp>
      <p:sp>
        <p:nvSpPr>
          <p:cNvPr id="1029" name="Rectangle 6"/>
          <p:cNvSpPr>
            <a:spLocks noChangeArrowheads="1"/>
          </p:cNvSpPr>
          <p:nvPr/>
        </p:nvSpPr>
        <p:spPr bwMode="auto">
          <a:xfrm>
            <a:off x="8315325" y="6477000"/>
            <a:ext cx="6762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1200">
                <a:latin typeface="Arial" pitchFamily="34" charset="0"/>
                <a:cs typeface="Arial" pitchFamily="34" charset="0"/>
              </a:rPr>
              <a:t>8-</a:t>
            </a:r>
            <a:fld id="{B6F97348-27A5-4B12-AF0A-79B85D928A11}" type="slidenum">
              <a:rPr lang="en-US" altLang="en-US" sz="1200">
                <a:latin typeface="Arial" pitchFamily="34" charset="0"/>
                <a:cs typeface="Arial" pitchFamily="34" charset="0"/>
              </a:rPr>
              <a:pPr algn="r"/>
              <a:t>‹#›</a:t>
            </a:fld>
            <a:endParaRPr lang="en-US" altLang="en-US" sz="1200">
              <a:latin typeface="Arial" pitchFamily="34" charset="0"/>
              <a:cs typeface="Arial"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dt="0"/>
  <p:txStyles>
    <p:title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spcBef>
          <a:spcPct val="20000"/>
        </a:spcBef>
        <a:spcAft>
          <a:spcPct val="0"/>
        </a:spcAft>
        <a:buClr>
          <a:srgbClr val="000099"/>
        </a:buClr>
        <a:buSzPct val="70000"/>
        <a:buFont typeface="Wingdings" pitchFamily="2" charset="2"/>
        <a:buChar char="v"/>
        <a:defRPr sz="2800">
          <a:solidFill>
            <a:schemeClr val="tx1"/>
          </a:solidFill>
          <a:latin typeface="Gill Sans MT" pitchFamily="34" charset="0"/>
          <a:ea typeface="ＭＳ Ｐゴシック" charset="0"/>
          <a:cs typeface="+mn-cs"/>
        </a:defRPr>
      </a:lvl1pPr>
      <a:lvl2pPr marL="742950" indent="-285750" algn="l" rtl="0" eaLnBrk="0" fontAlgn="base" hangingPunct="0">
        <a:spcBef>
          <a:spcPct val="20000"/>
        </a:spcBef>
        <a:spcAft>
          <a:spcPct val="0"/>
        </a:spcAft>
        <a:buClr>
          <a:srgbClr val="000099"/>
        </a:buClr>
        <a:buFont typeface="Wingdings" pitchFamily="2" charset="2"/>
        <a:buChar char="§"/>
        <a:defRPr sz="2400">
          <a:solidFill>
            <a:schemeClr val="tx1"/>
          </a:solidFill>
          <a:latin typeface="Gill Sans MT" pitchFamily="34" charset="0"/>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wmf"/><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wmf"/></Relationships>
</file>

<file path=ppt/slides/_rels/slide1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wmf"/></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7.wmf"/></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0.wmf"/><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0.wmf"/><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wmf"/><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7.wmf"/><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4.xml"/><Relationship Id="rId5" Type="http://schemas.openxmlformats.org/officeDocument/2006/relationships/image" Target="../media/image4.pn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wmf"/><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image" Target="../media/image13.wmf"/><Relationship Id="rId4" Type="http://schemas.openxmlformats.org/officeDocument/2006/relationships/image" Target="../media/image7.wmf"/></Relationships>
</file>

<file path=ppt/slides/_rels/slide5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12.wmf"/><Relationship Id="rId1" Type="http://schemas.openxmlformats.org/officeDocument/2006/relationships/slideLayout" Target="../slideLayouts/slideLayout15.xml"/><Relationship Id="rId5" Type="http://schemas.openxmlformats.org/officeDocument/2006/relationships/image" Target="../media/image2.png"/><Relationship Id="rId4" Type="http://schemas.openxmlformats.org/officeDocument/2006/relationships/image" Target="../media/image13.wmf"/></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wmf"/></Relationships>
</file>

<file path=ppt/slides/_rels/slide60.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wmf"/></Relationships>
</file>

<file path=ppt/slides/_rels/slide61.xml.rels><?xml version="1.0" encoding="UTF-8" standalone="yes"?>
<Relationships xmlns="http://schemas.openxmlformats.org/package/2006/relationships"><Relationship Id="rId3" Type="http://schemas.openxmlformats.org/officeDocument/2006/relationships/image" Target="../media/image11.wmf"/><Relationship Id="rId7"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7.wmf"/></Relationships>
</file>

<file path=ppt/slides/_rels/slide6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2.png"/><Relationship Id="rId5" Type="http://schemas.openxmlformats.org/officeDocument/2006/relationships/image" Target="../media/image11.wmf"/><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wmf"/><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11.wmf"/></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6.png"/></Relationships>
</file>

<file path=ppt/slides/_rels/slide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9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hyperlink" Target="http://en.wikipedia.org/wiki/Wired_Equivalent_Privacy"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image" Target="../media/image21.wmf"/></Relationships>
</file>

<file path=ppt/slides/_rels/slide1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2.png"/><Relationship Id="rId4" Type="http://schemas.openxmlformats.org/officeDocument/2006/relationships/image" Target="../media/image15.png"/></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2.png"/><Relationship Id="rId4" Type="http://schemas.openxmlformats.org/officeDocument/2006/relationships/image" Target="../media/image15.png"/></Relationships>
</file>

<file path=ppt/slides/_rels/slide1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25.png"/></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131.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33.xml"/><Relationship Id="rId7"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26.wmf"/><Relationship Id="rId11" Type="http://schemas.openxmlformats.org/officeDocument/2006/relationships/oleObject" Target="../embeddings/oleObject7.bin"/><Relationship Id="rId5" Type="http://schemas.openxmlformats.org/officeDocument/2006/relationships/oleObject" Target="../embeddings/oleObject2.bin"/><Relationship Id="rId10" Type="http://schemas.openxmlformats.org/officeDocument/2006/relationships/oleObject" Target="../embeddings/oleObject6.bin"/><Relationship Id="rId4" Type="http://schemas.openxmlformats.org/officeDocument/2006/relationships/image" Target="../media/image2.png"/><Relationship Id="rId9" Type="http://schemas.openxmlformats.org/officeDocument/2006/relationships/oleObject" Target="../embeddings/oleObject5.bin"/></Relationships>
</file>

<file path=ppt/slides/_rels/slide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3"/>
          <p:cNvSpPr>
            <a:spLocks noChangeArrowheads="1"/>
          </p:cNvSpPr>
          <p:nvPr/>
        </p:nvSpPr>
        <p:spPr bwMode="auto">
          <a:xfrm>
            <a:off x="371475" y="715963"/>
            <a:ext cx="4487863"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eaLnBrk="1" hangingPunct="1">
              <a:lnSpc>
                <a:spcPct val="85000"/>
              </a:lnSpc>
              <a:defRPr/>
            </a:pPr>
            <a:r>
              <a:rPr lang="en-US" sz="4400" dirty="0">
                <a:solidFill>
                  <a:srgbClr val="000099"/>
                </a:solidFill>
                <a:latin typeface="Gill Sans MT" charset="0"/>
                <a:ea typeface="ＭＳ Ｐゴシック" charset="0"/>
                <a:cs typeface="Arial" charset="0"/>
              </a:rPr>
              <a:t>Chapter 8</a:t>
            </a:r>
            <a:r>
              <a:rPr lang="en-US" sz="4800" dirty="0">
                <a:solidFill>
                  <a:srgbClr val="000099"/>
                </a:solidFill>
                <a:latin typeface="Gill Sans MT" charset="0"/>
                <a:ea typeface="ＭＳ Ｐゴシック" charset="0"/>
                <a:cs typeface="Arial" charset="0"/>
              </a:rPr>
              <a:t/>
            </a:r>
            <a:br>
              <a:rPr lang="en-US" sz="4800" dirty="0">
                <a:solidFill>
                  <a:srgbClr val="000099"/>
                </a:solidFill>
                <a:latin typeface="Gill Sans MT" charset="0"/>
                <a:ea typeface="ＭＳ Ｐゴシック" charset="0"/>
                <a:cs typeface="Arial" charset="0"/>
              </a:rPr>
            </a:br>
            <a:r>
              <a:rPr lang="en-US" sz="4400" dirty="0">
                <a:solidFill>
                  <a:srgbClr val="000099"/>
                </a:solidFill>
                <a:latin typeface="Gill Sans MT" charset="0"/>
                <a:ea typeface="ＭＳ Ｐゴシック" charset="0"/>
                <a:cs typeface="Arial" charset="0"/>
              </a:rPr>
              <a:t>Security</a:t>
            </a:r>
          </a:p>
        </p:txBody>
      </p:sp>
      <p:sp>
        <p:nvSpPr>
          <p:cNvPr id="8197" name="Rectangle 4"/>
          <p:cNvSpPr>
            <a:spLocks noChangeArrowheads="1"/>
          </p:cNvSpPr>
          <p:nvPr/>
        </p:nvSpPr>
        <p:spPr bwMode="auto">
          <a:xfrm>
            <a:off x="6184900" y="3078163"/>
            <a:ext cx="2881313" cy="286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eaLnBrk="1" hangingPunct="1">
              <a:lnSpc>
                <a:spcPct val="85000"/>
              </a:lnSpc>
              <a:defRPr/>
            </a:pPr>
            <a:r>
              <a:rPr lang="en-US" sz="2800" dirty="0">
                <a:solidFill>
                  <a:srgbClr val="008000"/>
                </a:solidFill>
                <a:latin typeface="Gill Sans MT" charset="0"/>
                <a:ea typeface="ＭＳ Ｐゴシック" charset="0"/>
                <a:cs typeface="Arial" charset="0"/>
              </a:rPr>
              <a:t>Computer Networking: A Top Down Approach </a:t>
            </a:r>
            <a:br>
              <a:rPr lang="en-US" sz="2800" dirty="0">
                <a:solidFill>
                  <a:srgbClr val="008000"/>
                </a:solidFill>
                <a:latin typeface="Gill Sans MT" charset="0"/>
                <a:ea typeface="ＭＳ Ｐゴシック" charset="0"/>
                <a:cs typeface="Arial" charset="0"/>
              </a:rPr>
            </a:br>
            <a:r>
              <a:rPr lang="en-US" dirty="0">
                <a:solidFill>
                  <a:srgbClr val="008000"/>
                </a:solidFill>
                <a:latin typeface="Gill Sans MT" charset="0"/>
                <a:ea typeface="ＭＳ Ｐゴシック" charset="0"/>
                <a:cs typeface="Arial" charset="0"/>
              </a:rPr>
              <a:t>6</a:t>
            </a:r>
            <a:r>
              <a:rPr lang="en-US" baseline="30000" dirty="0">
                <a:solidFill>
                  <a:srgbClr val="008000"/>
                </a:solidFill>
                <a:latin typeface="Gill Sans MT" charset="0"/>
                <a:ea typeface="ＭＳ Ｐゴシック" charset="0"/>
                <a:cs typeface="Arial" charset="0"/>
              </a:rPr>
              <a:t>th</a:t>
            </a:r>
            <a:r>
              <a:rPr lang="en-US" dirty="0">
                <a:solidFill>
                  <a:srgbClr val="008000"/>
                </a:solidFill>
                <a:latin typeface="Gill Sans MT" charset="0"/>
                <a:ea typeface="ＭＳ Ｐゴシック" charset="0"/>
                <a:cs typeface="Arial" charset="0"/>
              </a:rPr>
              <a:t> edition </a:t>
            </a:r>
            <a:br>
              <a:rPr lang="en-US" dirty="0">
                <a:solidFill>
                  <a:srgbClr val="008000"/>
                </a:solidFill>
                <a:latin typeface="Gill Sans MT" charset="0"/>
                <a:ea typeface="ＭＳ Ｐゴシック" charset="0"/>
                <a:cs typeface="Arial" charset="0"/>
              </a:rPr>
            </a:br>
            <a:r>
              <a:rPr lang="en-US" dirty="0">
                <a:solidFill>
                  <a:srgbClr val="008000"/>
                </a:solidFill>
                <a:latin typeface="Gill Sans MT" charset="0"/>
                <a:ea typeface="ＭＳ Ｐゴシック" charset="0"/>
                <a:cs typeface="Arial" charset="0"/>
              </a:rPr>
              <a:t>Jim Kurose, Keith Ross</a:t>
            </a:r>
            <a:br>
              <a:rPr lang="en-US" dirty="0">
                <a:solidFill>
                  <a:srgbClr val="008000"/>
                </a:solidFill>
                <a:latin typeface="Gill Sans MT" charset="0"/>
                <a:ea typeface="ＭＳ Ｐゴシック" charset="0"/>
                <a:cs typeface="Arial" charset="0"/>
              </a:rPr>
            </a:br>
            <a:r>
              <a:rPr lang="en-US" dirty="0">
                <a:solidFill>
                  <a:srgbClr val="008000"/>
                </a:solidFill>
                <a:latin typeface="Gill Sans MT" charset="0"/>
                <a:ea typeface="ＭＳ Ｐゴシック" charset="0"/>
                <a:cs typeface="Arial" charset="0"/>
              </a:rPr>
              <a:t>Addison-Wesley</a:t>
            </a:r>
            <a:br>
              <a:rPr lang="en-US" dirty="0">
                <a:solidFill>
                  <a:srgbClr val="008000"/>
                </a:solidFill>
                <a:latin typeface="Gill Sans MT" charset="0"/>
                <a:ea typeface="ＭＳ Ｐゴシック" charset="0"/>
                <a:cs typeface="Arial" charset="0"/>
              </a:rPr>
            </a:br>
            <a:r>
              <a:rPr lang="en-US" dirty="0">
                <a:solidFill>
                  <a:srgbClr val="008000"/>
                </a:solidFill>
                <a:latin typeface="Gill Sans MT" charset="0"/>
                <a:ea typeface="ＭＳ Ｐゴシック" charset="0"/>
                <a:cs typeface="Arial" charset="0"/>
              </a:rPr>
              <a:t>March 2012</a:t>
            </a:r>
          </a:p>
        </p:txBody>
      </p:sp>
      <p:sp>
        <p:nvSpPr>
          <p:cNvPr id="8199" name="Text Box 6"/>
          <p:cNvSpPr txBox="1">
            <a:spLocks noChangeArrowheads="1"/>
          </p:cNvSpPr>
          <p:nvPr/>
        </p:nvSpPr>
        <p:spPr bwMode="auto">
          <a:xfrm>
            <a:off x="369888" y="3268663"/>
            <a:ext cx="5378450" cy="1481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A note on the use of these ppt slides:</a:t>
            </a:r>
          </a:p>
          <a:p>
            <a:r>
              <a:rPr lang="en-US" altLang="en-US" sz="1200">
                <a:latin typeface="Arial" pitchFamily="34" charset="0"/>
                <a:cs typeface="Arial" pitchFamily="34" charset="0"/>
              </a:rPr>
              <a:t>We</a:t>
            </a:r>
            <a:r>
              <a:rPr lang="ja-JP" altLang="en-US" sz="1200">
                <a:latin typeface="Arial" pitchFamily="34" charset="0"/>
                <a:cs typeface="Arial" pitchFamily="34" charset="0"/>
              </a:rPr>
              <a:t>’</a:t>
            </a:r>
            <a:r>
              <a:rPr lang="en-US" altLang="ja-JP" sz="1200">
                <a:latin typeface="Arial" pitchFamily="34" charset="0"/>
                <a:cs typeface="Arial" pitchFamily="34" charset="0"/>
              </a:rPr>
              <a:t>re making these slides freely available to all (faculty, students, readers). They</a:t>
            </a:r>
            <a:r>
              <a:rPr lang="ja-JP" altLang="en-US" sz="1200">
                <a:latin typeface="Arial" pitchFamily="34" charset="0"/>
                <a:cs typeface="Arial" pitchFamily="34" charset="0"/>
              </a:rPr>
              <a:t>’</a:t>
            </a:r>
            <a:r>
              <a:rPr lang="en-US" altLang="ja-JP" sz="1200">
                <a:latin typeface="Arial" pitchFamily="34" charset="0"/>
                <a:cs typeface="Arial" pitchFamily="34" charset="0"/>
              </a:rPr>
              <a:t>re in PowerPoint form so you see the animations; and can add, modify, and delete slides  (including this one) and slide content to suit your needs. They obviously represent a lot of work on our part. In return for use, we only ask the following:</a:t>
            </a:r>
          </a:p>
          <a:p>
            <a:pPr>
              <a:lnSpc>
                <a:spcPct val="85000"/>
              </a:lnSpc>
            </a:pPr>
            <a:endParaRPr lang="en-US" altLang="en-US" sz="1400">
              <a:latin typeface="Arial" pitchFamily="34" charset="0"/>
              <a:cs typeface="Arial" pitchFamily="34" charset="0"/>
            </a:endParaRPr>
          </a:p>
        </p:txBody>
      </p:sp>
      <p:sp>
        <p:nvSpPr>
          <p:cNvPr id="8200" name="Text Box 7"/>
          <p:cNvSpPr txBox="1">
            <a:spLocks noChangeArrowheads="1"/>
          </p:cNvSpPr>
          <p:nvPr/>
        </p:nvSpPr>
        <p:spPr bwMode="auto">
          <a:xfrm>
            <a:off x="373063" y="4267200"/>
            <a:ext cx="5378450"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173038" indent="-173038">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nSpc>
                <a:spcPct val="85000"/>
              </a:lnSpc>
            </a:pPr>
            <a:endParaRPr lang="en-US" altLang="en-US" sz="1400">
              <a:latin typeface="Gill Sans MT" pitchFamily="34" charset="0"/>
              <a:cs typeface="Arial" pitchFamily="34" charset="0"/>
            </a:endParaRPr>
          </a:p>
          <a:p>
            <a:pPr>
              <a:buClr>
                <a:srgbClr val="000099"/>
              </a:buClr>
              <a:buSzPct val="75000"/>
              <a:buFont typeface="Wingdings" pitchFamily="2" charset="2"/>
              <a:buChar char="v"/>
            </a:pPr>
            <a:r>
              <a:rPr lang="en-US" altLang="en-US" sz="1200">
                <a:latin typeface="Arial" pitchFamily="34" charset="0"/>
                <a:cs typeface="Arial" pitchFamily="34" charset="0"/>
              </a:rPr>
              <a:t>If you use these slides (e.g., in a class) that you mention their source (after all, we</a:t>
            </a:r>
            <a:r>
              <a:rPr lang="ja-JP" altLang="en-US" sz="1200">
                <a:latin typeface="Arial" pitchFamily="34" charset="0"/>
                <a:cs typeface="Arial" pitchFamily="34" charset="0"/>
              </a:rPr>
              <a:t>’</a:t>
            </a:r>
            <a:r>
              <a:rPr lang="en-US" altLang="ja-JP" sz="1200">
                <a:latin typeface="Arial" pitchFamily="34" charset="0"/>
                <a:cs typeface="Arial" pitchFamily="34" charset="0"/>
              </a:rPr>
              <a:t>d like people to use our book!)</a:t>
            </a:r>
          </a:p>
          <a:p>
            <a:pPr>
              <a:buClr>
                <a:srgbClr val="000099"/>
              </a:buClr>
              <a:buSzPct val="75000"/>
              <a:buFont typeface="Wingdings" pitchFamily="2" charset="2"/>
              <a:buChar char="v"/>
            </a:pPr>
            <a:r>
              <a:rPr lang="en-US" altLang="en-US" sz="1200">
                <a:latin typeface="Arial" pitchFamily="34" charset="0"/>
                <a:cs typeface="Arial" pitchFamily="34" charset="0"/>
              </a:rPr>
              <a:t>If you post any slides on a www site, that you note that they are adapted from (or perhaps identical to) our slides, and note our copyright of this material.</a:t>
            </a:r>
          </a:p>
          <a:p>
            <a:pPr>
              <a:buClr>
                <a:schemeClr val="accent2"/>
              </a:buClr>
              <a:buFont typeface="Wingdings" pitchFamily="2" charset="2"/>
              <a:buChar char="q"/>
            </a:pPr>
            <a:endParaRPr lang="en-US" altLang="en-US" sz="1200">
              <a:latin typeface="Arial" pitchFamily="34" charset="0"/>
              <a:cs typeface="Arial" pitchFamily="34" charset="0"/>
            </a:endParaRPr>
          </a:p>
          <a:p>
            <a:pPr>
              <a:lnSpc>
                <a:spcPct val="85000"/>
              </a:lnSpc>
              <a:buClr>
                <a:schemeClr val="accent2"/>
              </a:buClr>
              <a:buFont typeface="Wingdings" pitchFamily="2" charset="2"/>
              <a:buNone/>
            </a:pPr>
            <a:r>
              <a:rPr lang="en-US" altLang="en-US" sz="1200">
                <a:latin typeface="Arial" pitchFamily="34" charset="0"/>
                <a:cs typeface="Arial" pitchFamily="34" charset="0"/>
              </a:rPr>
              <a:t>Thanks and enjoy!  JFK/KWR</a:t>
            </a:r>
          </a:p>
          <a:p>
            <a:pPr>
              <a:lnSpc>
                <a:spcPct val="85000"/>
              </a:lnSpc>
            </a:pPr>
            <a:endParaRPr lang="en-US" altLang="en-US" sz="1200">
              <a:latin typeface="Arial" pitchFamily="34" charset="0"/>
              <a:cs typeface="Arial" pitchFamily="34" charset="0"/>
            </a:endParaRPr>
          </a:p>
          <a:p>
            <a:pPr>
              <a:lnSpc>
                <a:spcPct val="85000"/>
              </a:lnSpc>
            </a:pPr>
            <a:r>
              <a:rPr lang="en-US" altLang="en-US" sz="1200">
                <a:latin typeface="Arial" pitchFamily="34" charset="0"/>
                <a:cs typeface="Arial" pitchFamily="34" charset="0"/>
              </a:rPr>
              <a:t>     All material copyright 1996-2012</a:t>
            </a:r>
          </a:p>
          <a:p>
            <a:pPr>
              <a:lnSpc>
                <a:spcPct val="85000"/>
              </a:lnSpc>
            </a:pPr>
            <a:r>
              <a:rPr lang="en-US" altLang="en-US" sz="1200">
                <a:latin typeface="Arial" pitchFamily="34" charset="0"/>
                <a:cs typeface="Arial" pitchFamily="34" charset="0"/>
              </a:rPr>
              <a:t>     J.F Kurose and K.W. Ross, All Rights Reserved</a:t>
            </a:r>
          </a:p>
        </p:txBody>
      </p:sp>
      <p:pic>
        <p:nvPicPr>
          <p:cNvPr id="8201"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 y="5942013"/>
            <a:ext cx="187325"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20486" name="Picture 9"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438" y="2097088"/>
            <a:ext cx="2736850"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1" descr="6e_cover.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32525" y="511175"/>
            <a:ext cx="2306638" cy="277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8" name="TextBox 2"/>
          <p:cNvSpPr txBox="1">
            <a:spLocks noChangeArrowheads="1"/>
          </p:cNvSpPr>
          <p:nvPr/>
        </p:nvSpPr>
        <p:spPr bwMode="auto">
          <a:xfrm>
            <a:off x="-1995488" y="3043238"/>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1600" i="1">
              <a:latin typeface="Tahoma"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Course Description</a:t>
            </a:r>
            <a:endParaRPr lang="en-CA" dirty="0"/>
          </a:p>
        </p:txBody>
      </p:sp>
      <p:sp>
        <p:nvSpPr>
          <p:cNvPr id="3" name="Content Placeholder 2"/>
          <p:cNvSpPr>
            <a:spLocks noGrp="1"/>
          </p:cNvSpPr>
          <p:nvPr>
            <p:ph idx="1"/>
          </p:nvPr>
        </p:nvSpPr>
        <p:spPr/>
        <p:txBody>
          <a:bodyPr/>
          <a:lstStyle/>
          <a:p>
            <a:r>
              <a:rPr lang="en-US" dirty="0"/>
              <a:t>This course will introduce students to advanced topics in network security. Topics will include encryption and authentication techniques, detection and analysis of intrusions, and the security of electronic mail and web access. </a:t>
            </a:r>
            <a:endParaRPr lang="en-US" dirty="0" smtClean="0"/>
          </a:p>
          <a:p>
            <a:r>
              <a:rPr lang="en-US" dirty="0" smtClean="0"/>
              <a:t>Restricted </a:t>
            </a:r>
            <a:r>
              <a:rPr lang="en-US" dirty="0"/>
              <a:t>to Computer Science </a:t>
            </a:r>
            <a:r>
              <a:rPr lang="en-US" dirty="0" smtClean="0"/>
              <a:t>students</a:t>
            </a:r>
            <a:r>
              <a:rPr lang="en-US" dirty="0"/>
              <a:t> </a:t>
            </a:r>
            <a:r>
              <a:rPr lang="en-US" dirty="0" smtClean="0"/>
              <a:t>or permission of instructor. </a:t>
            </a:r>
          </a:p>
          <a:p>
            <a:r>
              <a:rPr lang="en-US" dirty="0" smtClean="0"/>
              <a:t>Prerequisite</a:t>
            </a:r>
            <a:r>
              <a:rPr lang="en-US" dirty="0"/>
              <a:t>: 60-367</a:t>
            </a:r>
            <a:r>
              <a:rPr lang="en-US" dirty="0" smtClean="0"/>
              <a:t>.</a:t>
            </a:r>
            <a:endParaRPr lang="en-CA" dirty="0"/>
          </a:p>
        </p:txBody>
      </p:sp>
      <p:sp>
        <p:nvSpPr>
          <p:cNvPr id="4" name="Footer Placeholder 3"/>
          <p:cNvSpPr>
            <a:spLocks noGrp="1"/>
          </p:cNvSpPr>
          <p:nvPr>
            <p:ph type="ftr" sz="quarter" idx="4294967295"/>
          </p:nvPr>
        </p:nvSpPr>
        <p:spPr>
          <a:xfrm>
            <a:off x="5576888" y="6467475"/>
            <a:ext cx="2895600" cy="287338"/>
          </a:xfrm>
          <a:prstGeom prst="rect">
            <a:avLst/>
          </a:prstGeom>
        </p:spPr>
        <p:txBody>
          <a:bodyPr/>
          <a:lstStyle/>
          <a:p>
            <a:pPr>
              <a:defRPr/>
            </a:pPr>
            <a:r>
              <a:rPr lang="en-US" smtClean="0"/>
              <a:t>Introduction</a:t>
            </a:r>
            <a:endParaRPr lang="en-US"/>
          </a:p>
        </p:txBody>
      </p:sp>
      <p:sp>
        <p:nvSpPr>
          <p:cNvPr id="5" name="Slide Number Placeholder 4"/>
          <p:cNvSpPr>
            <a:spLocks noGrp="1"/>
          </p:cNvSpPr>
          <p:nvPr>
            <p:ph type="sldNum" sz="quarter" idx="4294967295"/>
          </p:nvPr>
        </p:nvSpPr>
        <p:spPr>
          <a:xfrm>
            <a:off x="8324850" y="6462713"/>
            <a:ext cx="676275" cy="276225"/>
          </a:xfrm>
          <a:prstGeom prst="rect">
            <a:avLst/>
          </a:prstGeom>
        </p:spPr>
        <p:txBody>
          <a:bodyPr/>
          <a:lstStyle/>
          <a:p>
            <a:r>
              <a:rPr lang="en-US" altLang="en-US" smtClean="0"/>
              <a:t>2-</a:t>
            </a:r>
            <a:fld id="{86BE937F-82E5-4CB2-8842-67E10A2689A3}" type="slidenum">
              <a:rPr lang="en-US" altLang="en-US" smtClean="0"/>
              <a:pPr/>
              <a:t>2</a:t>
            </a:fld>
            <a:endParaRPr lang="en-US" altLang="en-US"/>
          </a:p>
        </p:txBody>
      </p:sp>
    </p:spTree>
    <p:extLst>
      <p:ext uri="{BB962C8B-B14F-4D97-AF65-F5344CB8AC3E}">
        <p14:creationId xmlns:p14="http://schemas.microsoft.com/office/powerpoint/2010/main" val="19359763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z="4000" dirty="0" smtClean="0"/>
              <a:t>Basis for Evaluation - Requirements</a:t>
            </a:r>
            <a:endParaRPr lang="en-CA" sz="400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606369902"/>
              </p:ext>
            </p:extLst>
          </p:nvPr>
        </p:nvGraphicFramePr>
        <p:xfrm>
          <a:off x="533400" y="1314389"/>
          <a:ext cx="8253415" cy="4937247"/>
        </p:xfrm>
        <a:graphic>
          <a:graphicData uri="http://schemas.openxmlformats.org/drawingml/2006/table">
            <a:tbl>
              <a:tblPr>
                <a:tableStyleId>{5C22544A-7EE6-4342-B048-85BDC9FD1C3A}</a:tableStyleId>
              </a:tblPr>
              <a:tblGrid>
                <a:gridCol w="2195513"/>
                <a:gridCol w="2543176"/>
                <a:gridCol w="2386013"/>
                <a:gridCol w="1128713"/>
              </a:tblGrid>
              <a:tr h="377049">
                <a:tc>
                  <a:txBody>
                    <a:bodyPr/>
                    <a:lstStyle/>
                    <a:p>
                      <a:pPr>
                        <a:spcAft>
                          <a:spcPts val="0"/>
                        </a:spcAft>
                      </a:pPr>
                      <a:r>
                        <a:rPr lang="en-US" sz="2000" b="1" u="sng" dirty="0">
                          <a:effectLst/>
                        </a:rPr>
                        <a:t>Component</a:t>
                      </a:r>
                      <a:endParaRPr lang="en-CA" sz="3200" b="1" u="sng" dirty="0">
                        <a:effectLst/>
                        <a:latin typeface="Times New Roman"/>
                        <a:ea typeface="Times New Roman"/>
                      </a:endParaRPr>
                    </a:p>
                  </a:txBody>
                  <a:tcPr marL="68580" marR="68580" marT="0" marB="0"/>
                </a:tc>
                <a:tc>
                  <a:txBody>
                    <a:bodyPr/>
                    <a:lstStyle/>
                    <a:p>
                      <a:pPr>
                        <a:spcAft>
                          <a:spcPts val="0"/>
                        </a:spcAft>
                      </a:pPr>
                      <a:r>
                        <a:rPr lang="en-US" sz="2000" b="1" u="sng">
                          <a:effectLst/>
                        </a:rPr>
                        <a:t>Date </a:t>
                      </a:r>
                      <a:endParaRPr lang="en-CA" sz="3200" b="1" u="sng">
                        <a:effectLst/>
                        <a:latin typeface="Times New Roman"/>
                        <a:ea typeface="Times New Roman"/>
                      </a:endParaRPr>
                    </a:p>
                  </a:txBody>
                  <a:tcPr marL="68580" marR="68580" marT="0" marB="0"/>
                </a:tc>
                <a:tc>
                  <a:txBody>
                    <a:bodyPr/>
                    <a:lstStyle/>
                    <a:p>
                      <a:pPr>
                        <a:spcAft>
                          <a:spcPts val="0"/>
                        </a:spcAft>
                      </a:pPr>
                      <a:r>
                        <a:rPr lang="en-US" sz="2000" b="1" u="sng">
                          <a:effectLst/>
                        </a:rPr>
                        <a:t>Location</a:t>
                      </a:r>
                      <a:endParaRPr lang="en-CA" sz="3200" b="1" u="sng">
                        <a:effectLst/>
                        <a:latin typeface="Times New Roman"/>
                        <a:ea typeface="Times New Roman"/>
                      </a:endParaRPr>
                    </a:p>
                  </a:txBody>
                  <a:tcPr marL="68580" marR="68580" marT="0" marB="0"/>
                </a:tc>
                <a:tc>
                  <a:txBody>
                    <a:bodyPr/>
                    <a:lstStyle/>
                    <a:p>
                      <a:pPr>
                        <a:spcAft>
                          <a:spcPts val="0"/>
                        </a:spcAft>
                      </a:pPr>
                      <a:r>
                        <a:rPr lang="en-US" sz="2000" b="1" u="sng" dirty="0">
                          <a:effectLst/>
                        </a:rPr>
                        <a:t>Weight</a:t>
                      </a:r>
                      <a:endParaRPr lang="en-CA" sz="3200" b="1" u="sng" dirty="0">
                        <a:effectLst/>
                        <a:latin typeface="Times New Roman"/>
                        <a:ea typeface="Times New Roman"/>
                      </a:endParaRPr>
                    </a:p>
                  </a:txBody>
                  <a:tcPr marL="68580" marR="68580" marT="0" marB="0"/>
                </a:tc>
              </a:tr>
              <a:tr h="754099">
                <a:tc>
                  <a:txBody>
                    <a:bodyPr/>
                    <a:lstStyle/>
                    <a:p>
                      <a:pPr>
                        <a:spcAft>
                          <a:spcPts val="0"/>
                        </a:spcAft>
                      </a:pPr>
                      <a:r>
                        <a:rPr lang="en-US" sz="2000" dirty="0">
                          <a:effectLst/>
                        </a:rPr>
                        <a:t>Midterm Exam #1</a:t>
                      </a:r>
                      <a:endParaRPr lang="en-CA" sz="3200" dirty="0">
                        <a:effectLst/>
                        <a:latin typeface="Times New Roman"/>
                        <a:ea typeface="Times New Roman"/>
                      </a:endParaRPr>
                    </a:p>
                  </a:txBody>
                  <a:tcPr marL="68580" marR="68580" marT="0" marB="0">
                    <a:solidFill>
                      <a:schemeClr val="accent1">
                        <a:lumMod val="20000"/>
                        <a:lumOff val="80000"/>
                      </a:schemeClr>
                    </a:solidFill>
                  </a:tcPr>
                </a:tc>
                <a:tc>
                  <a:txBody>
                    <a:bodyPr/>
                    <a:lstStyle/>
                    <a:p>
                      <a:pPr>
                        <a:spcAft>
                          <a:spcPts val="0"/>
                        </a:spcAft>
                      </a:pPr>
                      <a:r>
                        <a:rPr lang="en-US" sz="1800" kern="1200" dirty="0" smtClean="0">
                          <a:solidFill>
                            <a:schemeClr val="dk1"/>
                          </a:solidFill>
                          <a:effectLst/>
                          <a:latin typeface="+mn-lt"/>
                          <a:ea typeface="+mn-ea"/>
                          <a:cs typeface="+mn-cs"/>
                        </a:rPr>
                        <a:t>Thursday November 12 - in lecture room</a:t>
                      </a:r>
                      <a:endParaRPr lang="en-CA" sz="3200" dirty="0">
                        <a:effectLst/>
                        <a:latin typeface="Times New Roman"/>
                        <a:ea typeface="Times New Roman"/>
                      </a:endParaRPr>
                    </a:p>
                  </a:txBody>
                  <a:tcPr marL="68580" marR="68580" marT="0" marB="0">
                    <a:solidFill>
                      <a:schemeClr val="accent1">
                        <a:lumMod val="20000"/>
                        <a:lumOff val="80000"/>
                      </a:schemeClr>
                    </a:solidFill>
                  </a:tcPr>
                </a:tc>
                <a:tc>
                  <a:txBody>
                    <a:bodyPr/>
                    <a:lstStyle/>
                    <a:p>
                      <a:pPr>
                        <a:spcAft>
                          <a:spcPts val="0"/>
                        </a:spcAft>
                      </a:pPr>
                      <a:r>
                        <a:rPr lang="en-US" sz="2000" dirty="0" smtClean="0">
                          <a:effectLst/>
                        </a:rPr>
                        <a:t>ER 2137 (regular </a:t>
                      </a:r>
                      <a:r>
                        <a:rPr lang="en-US" sz="2000" dirty="0">
                          <a:effectLst/>
                        </a:rPr>
                        <a:t>classroom)</a:t>
                      </a:r>
                      <a:endParaRPr lang="en-CA" sz="3200" dirty="0">
                        <a:effectLst/>
                        <a:latin typeface="Times New Roman"/>
                        <a:ea typeface="Times New Roman"/>
                      </a:endParaRPr>
                    </a:p>
                  </a:txBody>
                  <a:tcPr marL="68580" marR="68580" marT="0" marB="0">
                    <a:solidFill>
                      <a:schemeClr val="accent1">
                        <a:lumMod val="20000"/>
                        <a:lumOff val="80000"/>
                      </a:schemeClr>
                    </a:solidFill>
                  </a:tcPr>
                </a:tc>
                <a:tc>
                  <a:txBody>
                    <a:bodyPr/>
                    <a:lstStyle/>
                    <a:p>
                      <a:pPr>
                        <a:spcAft>
                          <a:spcPts val="0"/>
                        </a:spcAft>
                      </a:pPr>
                      <a:r>
                        <a:rPr lang="en-US" sz="2000" dirty="0" smtClean="0">
                          <a:effectLst/>
                        </a:rPr>
                        <a:t>20%</a:t>
                      </a:r>
                      <a:endParaRPr lang="en-CA" sz="3200" dirty="0">
                        <a:effectLst/>
                        <a:latin typeface="Times New Roman"/>
                        <a:ea typeface="Times New Roman"/>
                      </a:endParaRPr>
                    </a:p>
                  </a:txBody>
                  <a:tcPr marL="68580" marR="68580" marT="0" marB="0">
                    <a:solidFill>
                      <a:schemeClr val="accent1">
                        <a:lumMod val="20000"/>
                        <a:lumOff val="80000"/>
                      </a:schemeClr>
                    </a:solidFill>
                  </a:tcPr>
                </a:tc>
              </a:tr>
              <a:tr h="1162363">
                <a:tc>
                  <a:txBody>
                    <a:bodyPr/>
                    <a:lstStyle/>
                    <a:p>
                      <a:pPr>
                        <a:spcAft>
                          <a:spcPts val="0"/>
                        </a:spcAft>
                      </a:pPr>
                      <a:r>
                        <a:rPr lang="en-US" sz="2000" dirty="0">
                          <a:effectLst/>
                        </a:rPr>
                        <a:t>Research </a:t>
                      </a:r>
                      <a:r>
                        <a:rPr lang="en-US" sz="2000" dirty="0" smtClean="0">
                          <a:effectLst/>
                        </a:rPr>
                        <a:t>Essay (Individual)</a:t>
                      </a:r>
                      <a:endParaRPr lang="en-CA" sz="3200" dirty="0">
                        <a:effectLst/>
                        <a:latin typeface="Times New Roman"/>
                        <a:ea typeface="Times New Roman"/>
                      </a:endParaRPr>
                    </a:p>
                  </a:txBody>
                  <a:tcPr marL="68580" marR="68580" marT="0" marB="0"/>
                </a:tc>
                <a:tc>
                  <a:txBody>
                    <a:bodyPr/>
                    <a:lstStyle/>
                    <a:p>
                      <a:pPr>
                        <a:spcAft>
                          <a:spcPts val="0"/>
                        </a:spcAft>
                      </a:pPr>
                      <a:r>
                        <a:rPr lang="en-US" sz="1800" kern="1200" dirty="0" smtClean="0">
                          <a:solidFill>
                            <a:schemeClr val="dk1"/>
                          </a:solidFill>
                          <a:effectLst/>
                          <a:latin typeface="+mn-lt"/>
                          <a:ea typeface="+mn-ea"/>
                          <a:cs typeface="+mn-cs"/>
                        </a:rPr>
                        <a:t>Sunday November 22 (23:59:59ET) </a:t>
                      </a:r>
                      <a:endParaRPr lang="en-CA" sz="3200" dirty="0">
                        <a:effectLst/>
                        <a:latin typeface="Times New Roman"/>
                        <a:ea typeface="Times New Roman"/>
                      </a:endParaRPr>
                    </a:p>
                  </a:txBody>
                  <a:tcPr marL="68580" marR="68580" marT="0" marB="0"/>
                </a:tc>
                <a:tc>
                  <a:txBody>
                    <a:bodyPr/>
                    <a:lstStyle/>
                    <a:p>
                      <a:pPr>
                        <a:spcAft>
                          <a:spcPts val="0"/>
                        </a:spcAft>
                      </a:pPr>
                      <a:r>
                        <a:rPr lang="en-US" sz="2000" dirty="0">
                          <a:effectLst/>
                        </a:rPr>
                        <a:t>Email submission </a:t>
                      </a:r>
                      <a:r>
                        <a:rPr lang="en-US" sz="2000" dirty="0" smtClean="0">
                          <a:effectLst/>
                        </a:rPr>
                        <a:t>to:</a:t>
                      </a:r>
                      <a:r>
                        <a:rPr lang="en-US" sz="2000" baseline="0" dirty="0" smtClean="0">
                          <a:effectLst/>
                        </a:rPr>
                        <a:t> </a:t>
                      </a:r>
                      <a:r>
                        <a:rPr lang="en-US" sz="1800" u="sng" dirty="0" smtClean="0">
                          <a:solidFill>
                            <a:schemeClr val="tx1"/>
                          </a:solidFill>
                          <a:effectLst/>
                        </a:rPr>
                        <a:t>rkent@uwindsor.ca</a:t>
                      </a:r>
                      <a:endParaRPr lang="en-CA" sz="1800" dirty="0">
                        <a:solidFill>
                          <a:schemeClr val="tx1"/>
                        </a:solidFill>
                        <a:effectLst/>
                        <a:latin typeface="Times New Roman"/>
                        <a:ea typeface="Times New Roman"/>
                      </a:endParaRPr>
                    </a:p>
                  </a:txBody>
                  <a:tcPr marL="68580" marR="68580" marT="0" marB="0"/>
                </a:tc>
                <a:tc>
                  <a:txBody>
                    <a:bodyPr/>
                    <a:lstStyle/>
                    <a:p>
                      <a:pPr>
                        <a:spcAft>
                          <a:spcPts val="0"/>
                        </a:spcAft>
                      </a:pPr>
                      <a:r>
                        <a:rPr lang="en-US" sz="2000" dirty="0" smtClean="0">
                          <a:effectLst/>
                        </a:rPr>
                        <a:t>20%</a:t>
                      </a:r>
                      <a:endParaRPr lang="en-CA" sz="3200" dirty="0">
                        <a:effectLst/>
                        <a:latin typeface="Times New Roman"/>
                        <a:ea typeface="Times New Roman"/>
                      </a:endParaRPr>
                    </a:p>
                  </a:txBody>
                  <a:tcPr marL="68580" marR="68580" marT="0" marB="0"/>
                </a:tc>
              </a:tr>
              <a:tr h="1162363">
                <a:tc>
                  <a:txBody>
                    <a:bodyPr/>
                    <a:lstStyle/>
                    <a:p>
                      <a:pPr>
                        <a:spcAft>
                          <a:spcPts val="0"/>
                        </a:spcAft>
                      </a:pPr>
                      <a:r>
                        <a:rPr lang="en-US" sz="2000" dirty="0" smtClean="0">
                          <a:effectLst/>
                        </a:rPr>
                        <a:t>Seminar presentation (Individual)</a:t>
                      </a:r>
                      <a:endParaRPr lang="en-CA" sz="3200" dirty="0">
                        <a:effectLst/>
                        <a:latin typeface="Times New Roman"/>
                        <a:ea typeface="Times New Roman"/>
                      </a:endParaRPr>
                    </a:p>
                  </a:txBody>
                  <a:tcPr marL="68580" marR="68580" marT="0" marB="0">
                    <a:solidFill>
                      <a:schemeClr val="accent1">
                        <a:lumMod val="20000"/>
                        <a:lumOff val="80000"/>
                      </a:schemeClr>
                    </a:solidFill>
                  </a:tcPr>
                </a:tc>
                <a:tc>
                  <a:txBody>
                    <a:bodyPr/>
                    <a:lstStyle/>
                    <a:p>
                      <a:pPr>
                        <a:spcAft>
                          <a:spcPts val="0"/>
                        </a:spcAft>
                      </a:pPr>
                      <a:r>
                        <a:rPr lang="en-US" sz="1800" kern="1200" dirty="0" smtClean="0">
                          <a:solidFill>
                            <a:schemeClr val="dk1"/>
                          </a:solidFill>
                          <a:effectLst/>
                          <a:latin typeface="+mn-lt"/>
                          <a:ea typeface="+mn-ea"/>
                          <a:cs typeface="+mn-cs"/>
                        </a:rPr>
                        <a:t>TBD</a:t>
                      </a:r>
                      <a:endParaRPr lang="en-CA" sz="3200" dirty="0">
                        <a:effectLst/>
                        <a:latin typeface="Times New Roman"/>
                        <a:ea typeface="Times New Roman"/>
                      </a:endParaRPr>
                    </a:p>
                  </a:txBody>
                  <a:tcPr marL="68580" marR="68580" marT="0" marB="0">
                    <a:solidFill>
                      <a:schemeClr val="accent1">
                        <a:lumMod val="20000"/>
                        <a:lumOff val="80000"/>
                      </a:schemeClr>
                    </a:solidFill>
                  </a:tcPr>
                </a:tc>
                <a:tc>
                  <a:txBody>
                    <a:bodyPr/>
                    <a:lstStyle/>
                    <a:p>
                      <a:pPr>
                        <a:spcAft>
                          <a:spcPts val="0"/>
                        </a:spcAft>
                      </a:pPr>
                      <a:r>
                        <a:rPr lang="en-US" sz="2000" dirty="0" smtClean="0">
                          <a:effectLst/>
                        </a:rPr>
                        <a:t>ER 2137 (regular classroom)</a:t>
                      </a:r>
                      <a:endParaRPr lang="en-CA" sz="3200" dirty="0">
                        <a:effectLst/>
                        <a:latin typeface="Times New Roman"/>
                        <a:ea typeface="Times New Roman"/>
                      </a:endParaRPr>
                    </a:p>
                  </a:txBody>
                  <a:tcPr marL="68580" marR="68580" marT="0" marB="0">
                    <a:solidFill>
                      <a:schemeClr val="accent1">
                        <a:lumMod val="20000"/>
                        <a:lumOff val="80000"/>
                      </a:schemeClr>
                    </a:solidFill>
                  </a:tcPr>
                </a:tc>
                <a:tc>
                  <a:txBody>
                    <a:bodyPr/>
                    <a:lstStyle/>
                    <a:p>
                      <a:pPr>
                        <a:spcAft>
                          <a:spcPts val="0"/>
                        </a:spcAft>
                      </a:pPr>
                      <a:r>
                        <a:rPr lang="en-US" sz="2000" dirty="0" smtClean="0">
                          <a:effectLst/>
                        </a:rPr>
                        <a:t>10%</a:t>
                      </a:r>
                      <a:endParaRPr lang="en-CA" sz="3200" dirty="0">
                        <a:effectLst/>
                        <a:latin typeface="Times New Roman"/>
                        <a:ea typeface="Times New Roman"/>
                      </a:endParaRPr>
                    </a:p>
                  </a:txBody>
                  <a:tcPr marL="68580" marR="68580" marT="0" marB="0">
                    <a:solidFill>
                      <a:schemeClr val="accent1">
                        <a:lumMod val="20000"/>
                        <a:lumOff val="80000"/>
                      </a:schemeClr>
                    </a:solidFill>
                  </a:tcPr>
                </a:tc>
              </a:tr>
              <a:tr h="871773">
                <a:tc>
                  <a:txBody>
                    <a:bodyPr/>
                    <a:lstStyle/>
                    <a:p>
                      <a:pPr>
                        <a:spcAft>
                          <a:spcPts val="0"/>
                        </a:spcAft>
                      </a:pPr>
                      <a:r>
                        <a:rPr lang="en-US" sz="2000" dirty="0" smtClean="0">
                          <a:effectLst/>
                        </a:rPr>
                        <a:t>Project I (Group)</a:t>
                      </a:r>
                      <a:endParaRPr lang="en-CA" sz="3200" dirty="0">
                        <a:effectLst/>
                        <a:latin typeface="Times New Roman"/>
                        <a:ea typeface="Times New Roman"/>
                      </a:endParaRPr>
                    </a:p>
                  </a:txBody>
                  <a:tcPr marL="68580" marR="68580" marT="0" marB="0"/>
                </a:tc>
                <a:tc>
                  <a:txBody>
                    <a:bodyPr/>
                    <a:lstStyle/>
                    <a:p>
                      <a:pPr>
                        <a:spcAft>
                          <a:spcPts val="0"/>
                        </a:spcAft>
                      </a:pPr>
                      <a:r>
                        <a:rPr lang="en-US" sz="2000" dirty="0" smtClean="0">
                          <a:effectLst/>
                        </a:rPr>
                        <a:t>TBD</a:t>
                      </a:r>
                      <a:endParaRPr lang="en-CA" sz="3200" dirty="0">
                        <a:effectLst/>
                        <a:latin typeface="Times New Roman"/>
                        <a:ea typeface="Times New Roman"/>
                      </a:endParaRPr>
                    </a:p>
                  </a:txBody>
                  <a:tcPr marL="68580" marR="68580" marT="0" marB="0"/>
                </a:tc>
                <a:tc>
                  <a:txBody>
                    <a:bodyPr/>
                    <a:lstStyle/>
                    <a:p>
                      <a:pPr>
                        <a:spcAft>
                          <a:spcPts val="0"/>
                        </a:spcAft>
                      </a:pPr>
                      <a:r>
                        <a:rPr lang="en-US" sz="2000" dirty="0" smtClean="0">
                          <a:effectLst/>
                        </a:rPr>
                        <a:t>ER 2137 (regular classroom) + Email</a:t>
                      </a:r>
                      <a:endParaRPr lang="en-CA" sz="3200" dirty="0">
                        <a:effectLst/>
                        <a:latin typeface="Times New Roman"/>
                        <a:ea typeface="Times New Roman"/>
                      </a:endParaRPr>
                    </a:p>
                  </a:txBody>
                  <a:tcPr marL="68580" marR="68580" marT="0" marB="0"/>
                </a:tc>
                <a:tc>
                  <a:txBody>
                    <a:bodyPr/>
                    <a:lstStyle/>
                    <a:p>
                      <a:pPr>
                        <a:spcAft>
                          <a:spcPts val="0"/>
                        </a:spcAft>
                      </a:pPr>
                      <a:r>
                        <a:rPr lang="en-US" sz="2000" dirty="0" smtClean="0">
                          <a:effectLst/>
                        </a:rPr>
                        <a:t>25%</a:t>
                      </a:r>
                      <a:endParaRPr lang="en-CA" sz="3200" dirty="0">
                        <a:effectLst/>
                        <a:latin typeface="Times New Roman"/>
                        <a:ea typeface="Times New Roman"/>
                      </a:endParaRPr>
                    </a:p>
                  </a:txBody>
                  <a:tcPr marL="68580" marR="68580" marT="0" marB="0"/>
                </a:tc>
              </a:tr>
              <a:tr h="581182">
                <a:tc>
                  <a:txBody>
                    <a:bodyPr/>
                    <a:lstStyle/>
                    <a:p>
                      <a:pPr>
                        <a:spcAft>
                          <a:spcPts val="0"/>
                        </a:spcAft>
                      </a:pPr>
                      <a:r>
                        <a:rPr lang="en-US" sz="2000" dirty="0" smtClean="0">
                          <a:effectLst/>
                          <a:latin typeface="+mn-lt"/>
                          <a:ea typeface="+mn-ea"/>
                        </a:rPr>
                        <a:t>Project</a:t>
                      </a:r>
                      <a:r>
                        <a:rPr lang="en-US" sz="2000" baseline="0" dirty="0" smtClean="0">
                          <a:effectLst/>
                          <a:latin typeface="+mn-lt"/>
                          <a:ea typeface="+mn-ea"/>
                        </a:rPr>
                        <a:t> II (Group)</a:t>
                      </a:r>
                      <a:endParaRPr lang="en-CA" sz="3200" dirty="0">
                        <a:effectLst/>
                        <a:latin typeface="Times New Roman"/>
                        <a:ea typeface="Times New Roman"/>
                      </a:endParaRPr>
                    </a:p>
                  </a:txBody>
                  <a:tcPr marL="68580" marR="68580" marT="0" marB="0">
                    <a:solidFill>
                      <a:schemeClr val="accent1">
                        <a:lumMod val="20000"/>
                        <a:lumOff val="80000"/>
                      </a:schemeClr>
                    </a:solidFill>
                  </a:tcPr>
                </a:tc>
                <a:tc>
                  <a:txBody>
                    <a:bodyPr/>
                    <a:lstStyle/>
                    <a:p>
                      <a:pPr>
                        <a:spcAft>
                          <a:spcPts val="0"/>
                        </a:spcAft>
                      </a:pPr>
                      <a:r>
                        <a:rPr lang="en-US" sz="1800" kern="1200" dirty="0" smtClean="0">
                          <a:solidFill>
                            <a:schemeClr val="dk1"/>
                          </a:solidFill>
                          <a:effectLst/>
                          <a:latin typeface="+mn-lt"/>
                          <a:ea typeface="+mn-ea"/>
                          <a:cs typeface="+mn-cs"/>
                        </a:rPr>
                        <a:t>TBD</a:t>
                      </a:r>
                      <a:endParaRPr lang="en-CA" sz="3200" dirty="0">
                        <a:effectLst/>
                        <a:latin typeface="Times New Roman"/>
                        <a:ea typeface="Times New Roman"/>
                      </a:endParaRPr>
                    </a:p>
                  </a:txBody>
                  <a:tcPr marL="68580" marR="68580" marT="0" marB="0">
                    <a:solidFill>
                      <a:schemeClr val="accent1">
                        <a:lumMod val="20000"/>
                        <a:lumOff val="80000"/>
                      </a:schemeClr>
                    </a:solidFill>
                  </a:tcPr>
                </a:tc>
                <a:tc>
                  <a:txBody>
                    <a:bodyPr/>
                    <a:lstStyle/>
                    <a:p>
                      <a:pPr>
                        <a:spcAft>
                          <a:spcPts val="0"/>
                        </a:spcAft>
                      </a:pPr>
                      <a:r>
                        <a:rPr lang="en-US" sz="2000" dirty="0" smtClean="0">
                          <a:effectLst/>
                        </a:rPr>
                        <a:t>ER 2137 (regular classroom) + Email</a:t>
                      </a:r>
                      <a:endParaRPr lang="en-CA" sz="3200" dirty="0">
                        <a:effectLst/>
                        <a:latin typeface="Times New Roman"/>
                        <a:ea typeface="Times New Roman"/>
                      </a:endParaRPr>
                    </a:p>
                  </a:txBody>
                  <a:tcPr marL="68580" marR="68580" marT="0" marB="0">
                    <a:solidFill>
                      <a:schemeClr val="accent1">
                        <a:lumMod val="20000"/>
                        <a:lumOff val="80000"/>
                      </a:schemeClr>
                    </a:solidFill>
                  </a:tcPr>
                </a:tc>
                <a:tc>
                  <a:txBody>
                    <a:bodyPr/>
                    <a:lstStyle/>
                    <a:p>
                      <a:pPr>
                        <a:spcAft>
                          <a:spcPts val="0"/>
                        </a:spcAft>
                      </a:pPr>
                      <a:r>
                        <a:rPr lang="en-US" sz="2000" dirty="0" smtClean="0">
                          <a:effectLst/>
                        </a:rPr>
                        <a:t>25%</a:t>
                      </a:r>
                      <a:endParaRPr lang="en-CA" sz="3200" dirty="0">
                        <a:effectLst/>
                        <a:latin typeface="Times New Roman"/>
                        <a:ea typeface="Times New Roman"/>
                      </a:endParaRPr>
                    </a:p>
                  </a:txBody>
                  <a:tcPr marL="68580" marR="68580" marT="0" marB="0">
                    <a:solidFill>
                      <a:schemeClr val="accent1">
                        <a:lumMod val="20000"/>
                        <a:lumOff val="80000"/>
                      </a:schemeClr>
                    </a:solidFill>
                  </a:tcPr>
                </a:tc>
              </a:tr>
            </a:tbl>
          </a:graphicData>
        </a:graphic>
      </p:graphicFrame>
      <p:sp>
        <p:nvSpPr>
          <p:cNvPr id="4" name="Footer Placeholder 3"/>
          <p:cNvSpPr>
            <a:spLocks noGrp="1"/>
          </p:cNvSpPr>
          <p:nvPr>
            <p:ph type="ftr" sz="quarter" idx="4294967295"/>
          </p:nvPr>
        </p:nvSpPr>
        <p:spPr>
          <a:xfrm>
            <a:off x="5576888" y="6467475"/>
            <a:ext cx="2895600" cy="287338"/>
          </a:xfrm>
          <a:prstGeom prst="rect">
            <a:avLst/>
          </a:prstGeom>
        </p:spPr>
        <p:txBody>
          <a:bodyPr/>
          <a:lstStyle/>
          <a:p>
            <a:pPr>
              <a:defRPr/>
            </a:pPr>
            <a:r>
              <a:rPr lang="en-US" smtClean="0"/>
              <a:t>Introduction</a:t>
            </a:r>
            <a:endParaRPr lang="en-US"/>
          </a:p>
        </p:txBody>
      </p:sp>
      <p:sp>
        <p:nvSpPr>
          <p:cNvPr id="5" name="Slide Number Placeholder 4"/>
          <p:cNvSpPr>
            <a:spLocks noGrp="1"/>
          </p:cNvSpPr>
          <p:nvPr>
            <p:ph type="sldNum" sz="quarter" idx="4294967295"/>
          </p:nvPr>
        </p:nvSpPr>
        <p:spPr>
          <a:xfrm>
            <a:off x="8324850" y="6462713"/>
            <a:ext cx="676275" cy="276225"/>
          </a:xfrm>
          <a:prstGeom prst="rect">
            <a:avLst/>
          </a:prstGeom>
        </p:spPr>
        <p:txBody>
          <a:bodyPr/>
          <a:lstStyle/>
          <a:p>
            <a:r>
              <a:rPr lang="en-US" altLang="en-US" smtClean="0"/>
              <a:t>2-</a:t>
            </a:r>
            <a:fld id="{86BE937F-82E5-4CB2-8842-67E10A2689A3}" type="slidenum">
              <a:rPr lang="en-US" altLang="en-US" smtClean="0"/>
              <a:pPr/>
              <a:t>3</a:t>
            </a:fld>
            <a:endParaRPr lang="en-US" altLang="en-US"/>
          </a:p>
        </p:txBody>
      </p:sp>
      <p:sp>
        <p:nvSpPr>
          <p:cNvPr id="7" name="Rectangle 1"/>
          <p:cNvSpPr>
            <a:spLocks noChangeArrowheads="1"/>
          </p:cNvSpPr>
          <p:nvPr/>
        </p:nvSpPr>
        <p:spPr bwMode="auto">
          <a:xfrm>
            <a:off x="533400" y="332581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smtClean="0">
              <a:ln>
                <a:noFill/>
              </a:ln>
              <a:solidFill>
                <a:schemeClr val="tx1"/>
              </a:solidFill>
              <a:effectLst/>
              <a:latin typeface="Arial" pitchFamily="34" charset="0"/>
              <a:ea typeface="ＭＳ Ｐゴシック" pitchFamily="34" charset="-128"/>
            </a:endParaRPr>
          </a:p>
        </p:txBody>
      </p:sp>
    </p:spTree>
    <p:extLst>
      <p:ext uri="{BB962C8B-B14F-4D97-AF65-F5344CB8AC3E}">
        <p14:creationId xmlns:p14="http://schemas.microsoft.com/office/powerpoint/2010/main" val="41419911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Resources</a:t>
            </a:r>
            <a:endParaRPr lang="en-CA" dirty="0"/>
          </a:p>
        </p:txBody>
      </p:sp>
      <p:sp>
        <p:nvSpPr>
          <p:cNvPr id="3" name="Content Placeholder 2"/>
          <p:cNvSpPr>
            <a:spLocks noGrp="1"/>
          </p:cNvSpPr>
          <p:nvPr>
            <p:ph idx="1"/>
          </p:nvPr>
        </p:nvSpPr>
        <p:spPr/>
        <p:txBody>
          <a:bodyPr/>
          <a:lstStyle/>
          <a:p>
            <a:r>
              <a:rPr lang="en-CA" dirty="0" smtClean="0"/>
              <a:t>Blackboard LMS will be used.</a:t>
            </a:r>
            <a:endParaRPr lang="en-CA" dirty="0"/>
          </a:p>
          <a:p>
            <a:r>
              <a:rPr lang="en-US" dirty="0"/>
              <a:t>The following computing resources will be available for students taking this course:</a:t>
            </a:r>
            <a:endParaRPr lang="en-CA" dirty="0"/>
          </a:p>
          <a:p>
            <a:pPr lvl="1"/>
            <a:r>
              <a:rPr lang="en-US" dirty="0" smtClean="0"/>
              <a:t>A </a:t>
            </a:r>
            <a:r>
              <a:rPr lang="en-US" dirty="0"/>
              <a:t>distributed-computing network, accessible through a graphic interface provided by workstations located in dedicated laboratories on the 3</a:t>
            </a:r>
            <a:r>
              <a:rPr lang="en-US" baseline="30000" dirty="0"/>
              <a:t>rd</a:t>
            </a:r>
            <a:r>
              <a:rPr lang="en-US" dirty="0"/>
              <a:t> floor of Lambton Tower and Erie Hall, or through PCs in an open laboratory in the Computer Centre, or, for students who have the necessary equipment, from campus and home using network connectivity.</a:t>
            </a:r>
            <a:endParaRPr lang="en-CA" dirty="0"/>
          </a:p>
          <a:p>
            <a:pPr lvl="1"/>
            <a:r>
              <a:rPr lang="en-US" dirty="0"/>
              <a:t>State-of-the-art parallel-processing computer servers.</a:t>
            </a:r>
            <a:endParaRPr lang="en-CA" dirty="0"/>
          </a:p>
        </p:txBody>
      </p:sp>
      <p:sp>
        <p:nvSpPr>
          <p:cNvPr id="4" name="Footer Placeholder 3"/>
          <p:cNvSpPr>
            <a:spLocks noGrp="1"/>
          </p:cNvSpPr>
          <p:nvPr>
            <p:ph type="ftr" sz="quarter" idx="4294967295"/>
          </p:nvPr>
        </p:nvSpPr>
        <p:spPr>
          <a:xfrm>
            <a:off x="5576888" y="6467475"/>
            <a:ext cx="2895600" cy="287338"/>
          </a:xfrm>
          <a:prstGeom prst="rect">
            <a:avLst/>
          </a:prstGeom>
        </p:spPr>
        <p:txBody>
          <a:bodyPr/>
          <a:lstStyle/>
          <a:p>
            <a:pPr>
              <a:defRPr/>
            </a:pPr>
            <a:r>
              <a:rPr lang="en-US" smtClean="0"/>
              <a:t>Introduction</a:t>
            </a:r>
            <a:endParaRPr lang="en-US"/>
          </a:p>
        </p:txBody>
      </p:sp>
      <p:sp>
        <p:nvSpPr>
          <p:cNvPr id="5" name="Slide Number Placeholder 4"/>
          <p:cNvSpPr>
            <a:spLocks noGrp="1"/>
          </p:cNvSpPr>
          <p:nvPr>
            <p:ph type="sldNum" sz="quarter" idx="4294967295"/>
          </p:nvPr>
        </p:nvSpPr>
        <p:spPr>
          <a:xfrm>
            <a:off x="8324850" y="6462713"/>
            <a:ext cx="676275" cy="276225"/>
          </a:xfrm>
          <a:prstGeom prst="rect">
            <a:avLst/>
          </a:prstGeom>
        </p:spPr>
        <p:txBody>
          <a:bodyPr/>
          <a:lstStyle/>
          <a:p>
            <a:r>
              <a:rPr lang="en-US" altLang="en-US" smtClean="0"/>
              <a:t>2-</a:t>
            </a:r>
            <a:fld id="{86BE937F-82E5-4CB2-8842-67E10A2689A3}" type="slidenum">
              <a:rPr lang="en-US" altLang="en-US" smtClean="0"/>
              <a:pPr/>
              <a:t>4</a:t>
            </a:fld>
            <a:endParaRPr lang="en-US" altLang="en-US"/>
          </a:p>
        </p:txBody>
      </p:sp>
    </p:spTree>
    <p:extLst>
      <p:ext uri="{BB962C8B-B14F-4D97-AF65-F5344CB8AC3E}">
        <p14:creationId xmlns:p14="http://schemas.microsoft.com/office/powerpoint/2010/main" val="31602435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21506" name="Rectangle 2"/>
          <p:cNvSpPr>
            <a:spLocks noGrp="1" noChangeArrowheads="1"/>
          </p:cNvSpPr>
          <p:nvPr>
            <p:ph type="title"/>
          </p:nvPr>
        </p:nvSpPr>
        <p:spPr/>
        <p:txBody>
          <a:bodyPr/>
          <a:lstStyle/>
          <a:p>
            <a:r>
              <a:rPr lang="en-US" altLang="en-US" smtClean="0">
                <a:ea typeface="ＭＳ Ｐゴシック" pitchFamily="34" charset="-128"/>
              </a:rPr>
              <a:t>Chapter 8: Network Security</a:t>
            </a:r>
          </a:p>
        </p:txBody>
      </p:sp>
      <p:sp>
        <p:nvSpPr>
          <p:cNvPr id="21507" name="Rectangle 3"/>
          <p:cNvSpPr>
            <a:spLocks noGrp="1" noChangeArrowheads="1"/>
          </p:cNvSpPr>
          <p:nvPr>
            <p:ph type="body" sz="half" idx="1"/>
          </p:nvPr>
        </p:nvSpPr>
        <p:spPr>
          <a:xfrm>
            <a:off x="533400" y="1371600"/>
            <a:ext cx="8321675" cy="4972050"/>
          </a:xfrm>
        </p:spPr>
        <p:txBody>
          <a:bodyPr/>
          <a:lstStyle/>
          <a:p>
            <a:pPr>
              <a:buFont typeface="Wingdings" pitchFamily="2" charset="2"/>
              <a:buNone/>
            </a:pPr>
            <a:r>
              <a:rPr lang="en-US" altLang="en-US" sz="3200" i="1" smtClean="0">
                <a:solidFill>
                  <a:srgbClr val="C00000"/>
                </a:solidFill>
                <a:ea typeface="ＭＳ Ｐゴシック" pitchFamily="34" charset="-128"/>
              </a:rPr>
              <a:t>Chapter goals: </a:t>
            </a:r>
          </a:p>
          <a:p>
            <a:r>
              <a:rPr lang="en-US" altLang="en-US" smtClean="0">
                <a:ea typeface="ＭＳ Ｐゴシック" pitchFamily="34" charset="-128"/>
              </a:rPr>
              <a:t>understand principles of network security:</a:t>
            </a:r>
            <a:r>
              <a:rPr lang="en-US" altLang="en-US" sz="2400" smtClean="0">
                <a:ea typeface="ＭＳ Ｐゴシック" pitchFamily="34" charset="-128"/>
              </a:rPr>
              <a:t> </a:t>
            </a:r>
          </a:p>
          <a:p>
            <a:pPr lvl="1"/>
            <a:r>
              <a:rPr lang="en-US" altLang="en-US" smtClean="0">
                <a:ea typeface="ＭＳ Ｐゴシック" pitchFamily="34" charset="-128"/>
              </a:rPr>
              <a:t>cryptography and its </a:t>
            </a:r>
            <a:r>
              <a:rPr lang="en-US" altLang="en-US" i="1" smtClean="0">
                <a:ea typeface="ＭＳ Ｐゴシック" pitchFamily="34" charset="-128"/>
              </a:rPr>
              <a:t>many</a:t>
            </a:r>
            <a:r>
              <a:rPr lang="en-US" altLang="en-US" smtClean="0">
                <a:ea typeface="ＭＳ Ｐゴシック" pitchFamily="34" charset="-128"/>
              </a:rPr>
              <a:t> uses beyond </a:t>
            </a:r>
            <a:r>
              <a:rPr lang="ja-JP" altLang="en-US" smtClean="0">
                <a:ea typeface="ＭＳ Ｐゴシック" pitchFamily="34" charset="-128"/>
              </a:rPr>
              <a:t>“</a:t>
            </a:r>
            <a:r>
              <a:rPr lang="en-US" altLang="ja-JP" smtClean="0">
                <a:ea typeface="ＭＳ Ｐゴシック" pitchFamily="34" charset="-128"/>
              </a:rPr>
              <a:t>confidentiality</a:t>
            </a:r>
            <a:r>
              <a:rPr lang="ja-JP" altLang="en-US" smtClean="0">
                <a:ea typeface="ＭＳ Ｐゴシック" pitchFamily="34" charset="-128"/>
              </a:rPr>
              <a:t>”</a:t>
            </a:r>
            <a:endParaRPr lang="en-US" altLang="ja-JP" smtClean="0">
              <a:ea typeface="ＭＳ Ｐゴシック" pitchFamily="34" charset="-128"/>
            </a:endParaRPr>
          </a:p>
          <a:p>
            <a:pPr lvl="1"/>
            <a:r>
              <a:rPr lang="en-US" altLang="en-US" smtClean="0">
                <a:ea typeface="ＭＳ Ｐゴシック" pitchFamily="34" charset="-128"/>
              </a:rPr>
              <a:t>authentication</a:t>
            </a:r>
          </a:p>
          <a:p>
            <a:pPr lvl="1"/>
            <a:r>
              <a:rPr lang="en-US" altLang="en-US" smtClean="0">
                <a:ea typeface="ＭＳ Ｐゴシック" pitchFamily="34" charset="-128"/>
              </a:rPr>
              <a:t>message integrity</a:t>
            </a:r>
          </a:p>
          <a:p>
            <a:r>
              <a:rPr lang="en-US" altLang="en-US" smtClean="0">
                <a:ea typeface="ＭＳ Ｐゴシック" pitchFamily="34" charset="-128"/>
              </a:rPr>
              <a:t>security in practice:</a:t>
            </a:r>
          </a:p>
          <a:p>
            <a:pPr lvl="1"/>
            <a:r>
              <a:rPr lang="en-US" altLang="en-US" smtClean="0">
                <a:ea typeface="ＭＳ Ｐゴシック" pitchFamily="34" charset="-128"/>
              </a:rPr>
              <a:t>firewalls and intrusion detection systems</a:t>
            </a:r>
          </a:p>
          <a:p>
            <a:pPr lvl="1"/>
            <a:r>
              <a:rPr lang="en-US" altLang="en-US" smtClean="0">
                <a:ea typeface="ＭＳ Ｐゴシック" pitchFamily="34" charset="-128"/>
              </a:rPr>
              <a:t>security in application, transport, network, link layers</a:t>
            </a:r>
          </a:p>
        </p:txBody>
      </p:sp>
      <p:pic>
        <p:nvPicPr>
          <p:cNvPr id="21508" name="Picture 17"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713" y="1038225"/>
            <a:ext cx="6856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23554" name="Rectangle 2"/>
          <p:cNvSpPr>
            <a:spLocks noGrp="1" noChangeArrowheads="1"/>
          </p:cNvSpPr>
          <p:nvPr>
            <p:ph type="title"/>
          </p:nvPr>
        </p:nvSpPr>
        <p:spPr/>
        <p:txBody>
          <a:bodyPr/>
          <a:lstStyle/>
          <a:p>
            <a:r>
              <a:rPr lang="en-US" altLang="en-US" smtClean="0">
                <a:ea typeface="ＭＳ Ｐゴシック" pitchFamily="34" charset="-128"/>
              </a:rPr>
              <a:t>Chapter 8 roadmap</a:t>
            </a:r>
          </a:p>
        </p:txBody>
      </p:sp>
      <p:sp>
        <p:nvSpPr>
          <p:cNvPr id="23555" name="Rectangle 3"/>
          <p:cNvSpPr>
            <a:spLocks noGrp="1" noChangeArrowheads="1"/>
          </p:cNvSpPr>
          <p:nvPr>
            <p:ph type="body" idx="1"/>
          </p:nvPr>
        </p:nvSpPr>
        <p:spPr>
          <a:xfrm>
            <a:off x="650875" y="1668463"/>
            <a:ext cx="7772400" cy="4648200"/>
          </a:xfrm>
        </p:spPr>
        <p:txBody>
          <a:bodyPr/>
          <a:lstStyle/>
          <a:p>
            <a:pPr>
              <a:buFont typeface="Wingdings" pitchFamily="2" charset="2"/>
              <a:buNone/>
            </a:pPr>
            <a:r>
              <a:rPr lang="en-US" altLang="en-US" i="1" smtClean="0">
                <a:solidFill>
                  <a:srgbClr val="C00000"/>
                </a:solidFill>
                <a:ea typeface="ＭＳ Ｐゴシック" pitchFamily="34" charset="-128"/>
              </a:rPr>
              <a:t>8.1 What is network security?</a:t>
            </a:r>
          </a:p>
          <a:p>
            <a:pPr>
              <a:buFont typeface="Wingdings" pitchFamily="2" charset="2"/>
              <a:buNone/>
            </a:pPr>
            <a:r>
              <a:rPr lang="en-US" altLang="en-US" smtClean="0">
                <a:solidFill>
                  <a:srgbClr val="000099"/>
                </a:solidFill>
                <a:ea typeface="ＭＳ Ｐゴシック" pitchFamily="34" charset="-128"/>
              </a:rPr>
              <a:t>8.2</a:t>
            </a:r>
            <a:r>
              <a:rPr lang="en-US" altLang="en-US" smtClean="0">
                <a:ea typeface="ＭＳ Ｐゴシック" pitchFamily="34" charset="-128"/>
              </a:rPr>
              <a:t> Principles of cryptography</a:t>
            </a:r>
          </a:p>
          <a:p>
            <a:pPr>
              <a:buFont typeface="Wingdings" pitchFamily="2" charset="2"/>
              <a:buNone/>
            </a:pPr>
            <a:r>
              <a:rPr lang="en-US" altLang="en-US" smtClean="0">
                <a:solidFill>
                  <a:srgbClr val="000099"/>
                </a:solidFill>
                <a:ea typeface="ＭＳ Ｐゴシック" pitchFamily="34" charset="-128"/>
              </a:rPr>
              <a:t>8.3</a:t>
            </a:r>
            <a:r>
              <a:rPr lang="en-US" altLang="en-US" smtClean="0">
                <a:ea typeface="ＭＳ Ｐゴシック" pitchFamily="34" charset="-128"/>
              </a:rPr>
              <a:t> Message integrity, authentication</a:t>
            </a:r>
          </a:p>
          <a:p>
            <a:pPr>
              <a:buFont typeface="Wingdings" pitchFamily="2" charset="2"/>
              <a:buNone/>
            </a:pPr>
            <a:r>
              <a:rPr lang="en-US" altLang="en-US" smtClean="0">
                <a:solidFill>
                  <a:srgbClr val="000099"/>
                </a:solidFill>
                <a:ea typeface="ＭＳ Ｐゴシック" pitchFamily="34" charset="-128"/>
              </a:rPr>
              <a:t>8.4 </a:t>
            </a:r>
            <a:r>
              <a:rPr lang="en-US" altLang="en-US" smtClean="0">
                <a:ea typeface="ＭＳ Ｐゴシック" pitchFamily="34" charset="-128"/>
              </a:rPr>
              <a:t>Securing e-mail</a:t>
            </a:r>
          </a:p>
          <a:p>
            <a:pPr>
              <a:buFont typeface="Wingdings" pitchFamily="2" charset="2"/>
              <a:buNone/>
            </a:pPr>
            <a:r>
              <a:rPr lang="en-US" altLang="en-US" smtClean="0">
                <a:solidFill>
                  <a:srgbClr val="000099"/>
                </a:solidFill>
                <a:ea typeface="ＭＳ Ｐゴシック" pitchFamily="34" charset="-128"/>
              </a:rPr>
              <a:t>8.5</a:t>
            </a:r>
            <a:r>
              <a:rPr lang="en-US" altLang="en-US" smtClean="0">
                <a:ea typeface="ＭＳ Ｐゴシック" pitchFamily="34" charset="-128"/>
              </a:rPr>
              <a:t> Securing TCP connections: SSL</a:t>
            </a:r>
          </a:p>
          <a:p>
            <a:pPr>
              <a:buFont typeface="Wingdings" pitchFamily="2" charset="2"/>
              <a:buNone/>
            </a:pPr>
            <a:r>
              <a:rPr lang="en-US" altLang="en-US" smtClean="0">
                <a:solidFill>
                  <a:srgbClr val="000099"/>
                </a:solidFill>
                <a:ea typeface="ＭＳ Ｐゴシック" pitchFamily="34" charset="-128"/>
              </a:rPr>
              <a:t>8.6</a:t>
            </a:r>
            <a:r>
              <a:rPr lang="en-US" altLang="en-US" smtClean="0">
                <a:ea typeface="ＭＳ Ｐゴシック" pitchFamily="34" charset="-128"/>
              </a:rPr>
              <a:t> Network layer security: IPsec</a:t>
            </a:r>
          </a:p>
          <a:p>
            <a:pPr>
              <a:buFont typeface="Wingdings" pitchFamily="2" charset="2"/>
              <a:buNone/>
            </a:pPr>
            <a:r>
              <a:rPr lang="en-US" altLang="en-US" smtClean="0">
                <a:solidFill>
                  <a:srgbClr val="000099"/>
                </a:solidFill>
                <a:ea typeface="ＭＳ Ｐゴシック" pitchFamily="34" charset="-128"/>
              </a:rPr>
              <a:t>8.7</a:t>
            </a:r>
            <a:r>
              <a:rPr lang="en-US" altLang="en-US" smtClean="0">
                <a:ea typeface="ＭＳ Ｐゴシック" pitchFamily="34" charset="-128"/>
              </a:rPr>
              <a:t> Securing wireless LANs</a:t>
            </a:r>
          </a:p>
          <a:p>
            <a:pPr>
              <a:buFont typeface="Wingdings" pitchFamily="2" charset="2"/>
              <a:buNone/>
            </a:pPr>
            <a:r>
              <a:rPr lang="en-US" altLang="en-US" smtClean="0">
                <a:solidFill>
                  <a:srgbClr val="000099"/>
                </a:solidFill>
                <a:ea typeface="ＭＳ Ｐゴシック" pitchFamily="34" charset="-128"/>
              </a:rPr>
              <a:t>8.8</a:t>
            </a:r>
            <a:r>
              <a:rPr lang="en-US" altLang="en-US" smtClean="0">
                <a:ea typeface="ＭＳ Ｐゴシック" pitchFamily="34" charset="-128"/>
              </a:rPr>
              <a:t> Operational security: firewalls and IDS</a:t>
            </a:r>
          </a:p>
        </p:txBody>
      </p:sp>
      <p:pic>
        <p:nvPicPr>
          <p:cNvPr id="23556" name="Picture 22"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238" y="1066800"/>
            <a:ext cx="4570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25602" name="Rectangle 2"/>
          <p:cNvSpPr>
            <a:spLocks noGrp="1" noChangeArrowheads="1"/>
          </p:cNvSpPr>
          <p:nvPr>
            <p:ph type="title"/>
          </p:nvPr>
        </p:nvSpPr>
        <p:spPr/>
        <p:txBody>
          <a:bodyPr/>
          <a:lstStyle/>
          <a:p>
            <a:r>
              <a:rPr lang="en-US" altLang="en-US" smtClean="0">
                <a:ea typeface="ＭＳ Ｐゴシック" pitchFamily="34" charset="-128"/>
              </a:rPr>
              <a:t>What is network security?</a:t>
            </a:r>
          </a:p>
        </p:txBody>
      </p:sp>
      <p:sp>
        <p:nvSpPr>
          <p:cNvPr id="25603" name="Rectangle 3"/>
          <p:cNvSpPr>
            <a:spLocks noGrp="1" noChangeArrowheads="1"/>
          </p:cNvSpPr>
          <p:nvPr>
            <p:ph type="body" idx="1"/>
          </p:nvPr>
        </p:nvSpPr>
        <p:spPr/>
        <p:txBody>
          <a:bodyPr/>
          <a:lstStyle/>
          <a:p>
            <a:pPr>
              <a:buFont typeface="Wingdings" pitchFamily="2" charset="2"/>
              <a:buNone/>
            </a:pPr>
            <a:r>
              <a:rPr lang="en-US" altLang="en-US" i="1" dirty="0" smtClean="0">
                <a:solidFill>
                  <a:srgbClr val="C00000"/>
                </a:solidFill>
                <a:ea typeface="ＭＳ Ｐゴシック" pitchFamily="34" charset="-128"/>
              </a:rPr>
              <a:t>confidentiality</a:t>
            </a:r>
            <a:r>
              <a:rPr lang="en-US" altLang="en-US" dirty="0" smtClean="0">
                <a:solidFill>
                  <a:srgbClr val="C00000"/>
                </a:solidFill>
                <a:ea typeface="ＭＳ Ｐゴシック" pitchFamily="34" charset="-128"/>
              </a:rPr>
              <a:t>: </a:t>
            </a:r>
            <a:r>
              <a:rPr lang="en-US" altLang="en-US" sz="2400" dirty="0" smtClean="0">
                <a:ea typeface="ＭＳ Ｐゴシック" pitchFamily="34" charset="-128"/>
              </a:rPr>
              <a:t>only sender, intended receiver should </a:t>
            </a:r>
            <a:r>
              <a:rPr lang="ja-JP" altLang="en-US" sz="2400" dirty="0" smtClean="0">
                <a:ea typeface="ＭＳ Ｐゴシック" pitchFamily="34" charset="-128"/>
              </a:rPr>
              <a:t>“</a:t>
            </a:r>
            <a:r>
              <a:rPr lang="en-US" altLang="ja-JP" sz="2400" dirty="0" smtClean="0">
                <a:ea typeface="ＭＳ Ｐゴシック" pitchFamily="34" charset="-128"/>
              </a:rPr>
              <a:t>understand</a:t>
            </a:r>
            <a:r>
              <a:rPr lang="ja-JP" altLang="en-US" sz="2400" dirty="0" smtClean="0">
                <a:ea typeface="ＭＳ Ｐゴシック" pitchFamily="34" charset="-128"/>
              </a:rPr>
              <a:t>”</a:t>
            </a:r>
            <a:r>
              <a:rPr lang="en-US" altLang="ja-JP" sz="2400" dirty="0" smtClean="0">
                <a:ea typeface="ＭＳ Ｐゴシック" pitchFamily="34" charset="-128"/>
              </a:rPr>
              <a:t> message contents</a:t>
            </a:r>
          </a:p>
          <a:p>
            <a:pPr lvl="1"/>
            <a:r>
              <a:rPr lang="en-US" altLang="en-US" dirty="0" smtClean="0">
                <a:ea typeface="ＭＳ Ｐゴシック" pitchFamily="34" charset="-128"/>
              </a:rPr>
              <a:t>sender encrypts message</a:t>
            </a:r>
          </a:p>
          <a:p>
            <a:pPr lvl="1"/>
            <a:r>
              <a:rPr lang="en-US" altLang="en-US" dirty="0" smtClean="0">
                <a:ea typeface="ＭＳ Ｐゴシック" pitchFamily="34" charset="-128"/>
              </a:rPr>
              <a:t>receiver decrypts message</a:t>
            </a:r>
          </a:p>
          <a:p>
            <a:pPr>
              <a:buFont typeface="Wingdings" pitchFamily="2" charset="2"/>
              <a:buNone/>
            </a:pPr>
            <a:r>
              <a:rPr lang="en-US" altLang="en-US" i="1" dirty="0" smtClean="0">
                <a:solidFill>
                  <a:srgbClr val="C00000"/>
                </a:solidFill>
                <a:ea typeface="ＭＳ Ｐゴシック" pitchFamily="34" charset="-128"/>
              </a:rPr>
              <a:t>authentication: </a:t>
            </a:r>
            <a:r>
              <a:rPr lang="en-US" altLang="en-US" sz="2400" dirty="0" smtClean="0">
                <a:ea typeface="ＭＳ Ｐゴシック" pitchFamily="34" charset="-128"/>
              </a:rPr>
              <a:t>sender, receiver want to confirm identity of each other </a:t>
            </a:r>
          </a:p>
          <a:p>
            <a:pPr>
              <a:buFont typeface="Wingdings" pitchFamily="2" charset="2"/>
              <a:buNone/>
            </a:pPr>
            <a:r>
              <a:rPr lang="en-US" altLang="en-US" i="1" dirty="0" smtClean="0">
                <a:solidFill>
                  <a:srgbClr val="C00000"/>
                </a:solidFill>
                <a:ea typeface="ＭＳ Ｐゴシック" pitchFamily="34" charset="-128"/>
              </a:rPr>
              <a:t>message integrity: </a:t>
            </a:r>
            <a:r>
              <a:rPr lang="en-US" altLang="en-US" sz="2400" dirty="0" smtClean="0">
                <a:ea typeface="ＭＳ Ｐゴシック" pitchFamily="34" charset="-128"/>
              </a:rPr>
              <a:t>sender, receiver want to ensure message not altered (in transit, or afterwards) without detection</a:t>
            </a:r>
          </a:p>
          <a:p>
            <a:pPr>
              <a:buFont typeface="Wingdings" pitchFamily="2" charset="2"/>
              <a:buNone/>
            </a:pPr>
            <a:r>
              <a:rPr lang="en-US" altLang="en-US" i="1" dirty="0" smtClean="0">
                <a:solidFill>
                  <a:srgbClr val="C00000"/>
                </a:solidFill>
                <a:ea typeface="ＭＳ Ｐゴシック" pitchFamily="34" charset="-128"/>
              </a:rPr>
              <a:t>access and availability</a:t>
            </a:r>
            <a:r>
              <a:rPr lang="en-US" altLang="en-US" sz="2400" dirty="0" smtClean="0">
                <a:solidFill>
                  <a:srgbClr val="FF0000"/>
                </a:solidFill>
                <a:ea typeface="ＭＳ Ｐゴシック" pitchFamily="34" charset="-128"/>
              </a:rPr>
              <a:t>:</a:t>
            </a:r>
            <a:r>
              <a:rPr lang="en-US" altLang="en-US" sz="2400" dirty="0" smtClean="0">
                <a:ea typeface="ＭＳ Ｐゴシック" pitchFamily="34" charset="-128"/>
              </a:rPr>
              <a:t> services must be accessible and available to users</a:t>
            </a:r>
          </a:p>
        </p:txBody>
      </p:sp>
      <p:pic>
        <p:nvPicPr>
          <p:cNvPr id="25604" name="Picture 18"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663" y="1041400"/>
            <a:ext cx="6399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a:cs typeface="Arial"/>
              </a:rPr>
              <a:t>Network Security</a:t>
            </a:r>
          </a:p>
        </p:txBody>
      </p:sp>
      <p:sp>
        <p:nvSpPr>
          <p:cNvPr id="27650" name="Rectangle 2"/>
          <p:cNvSpPr>
            <a:spLocks noGrp="1" noChangeArrowheads="1"/>
          </p:cNvSpPr>
          <p:nvPr>
            <p:ph type="title"/>
          </p:nvPr>
        </p:nvSpPr>
        <p:spPr>
          <a:xfrm>
            <a:off x="228600" y="152400"/>
            <a:ext cx="8404225" cy="990600"/>
          </a:xfrm>
        </p:spPr>
        <p:txBody>
          <a:bodyPr/>
          <a:lstStyle/>
          <a:p>
            <a:r>
              <a:rPr lang="en-US" altLang="en-US" sz="4000" smtClean="0">
                <a:ea typeface="ＭＳ Ｐゴシック" pitchFamily="34" charset="-128"/>
              </a:rPr>
              <a:t>Friends and enemies: Alice, Bob, Trudy</a:t>
            </a:r>
          </a:p>
        </p:txBody>
      </p:sp>
      <p:sp>
        <p:nvSpPr>
          <p:cNvPr id="27651" name="Rectangle 3"/>
          <p:cNvSpPr>
            <a:spLocks noGrp="1" noChangeArrowheads="1"/>
          </p:cNvSpPr>
          <p:nvPr>
            <p:ph type="body" sz="half" idx="1"/>
          </p:nvPr>
        </p:nvSpPr>
        <p:spPr>
          <a:xfrm>
            <a:off x="533400" y="1282700"/>
            <a:ext cx="8142288" cy="1617663"/>
          </a:xfrm>
        </p:spPr>
        <p:txBody>
          <a:bodyPr/>
          <a:lstStyle/>
          <a:p>
            <a:r>
              <a:rPr lang="en-US" altLang="en-US" sz="2400" smtClean="0">
                <a:ea typeface="ＭＳ Ｐゴシック" pitchFamily="34" charset="-128"/>
              </a:rPr>
              <a:t>well-known in network security world</a:t>
            </a:r>
          </a:p>
          <a:p>
            <a:r>
              <a:rPr lang="en-US" altLang="en-US" sz="2400" smtClean="0">
                <a:ea typeface="ＭＳ Ｐゴシック" pitchFamily="34" charset="-128"/>
              </a:rPr>
              <a:t>Bob, Alice (lovers!) want to communicate </a:t>
            </a:r>
            <a:r>
              <a:rPr lang="ja-JP" altLang="en-US" sz="2400" smtClean="0">
                <a:ea typeface="ＭＳ Ｐゴシック" pitchFamily="34" charset="-128"/>
              </a:rPr>
              <a:t>“</a:t>
            </a:r>
            <a:r>
              <a:rPr lang="en-US" altLang="ja-JP" sz="2400" smtClean="0">
                <a:ea typeface="ＭＳ Ｐゴシック" pitchFamily="34" charset="-128"/>
              </a:rPr>
              <a:t>securely</a:t>
            </a:r>
            <a:r>
              <a:rPr lang="ja-JP" altLang="en-US" sz="2400" smtClean="0">
                <a:ea typeface="ＭＳ Ｐゴシック" pitchFamily="34" charset="-128"/>
              </a:rPr>
              <a:t>”</a:t>
            </a:r>
            <a:endParaRPr lang="en-US" altLang="ja-JP" sz="2400" smtClean="0">
              <a:ea typeface="ＭＳ Ｐゴシック" pitchFamily="34" charset="-128"/>
            </a:endParaRPr>
          </a:p>
          <a:p>
            <a:r>
              <a:rPr lang="en-US" altLang="en-US" sz="2400" smtClean="0">
                <a:ea typeface="ＭＳ Ｐゴシック" pitchFamily="34" charset="-128"/>
              </a:rPr>
              <a:t>Trudy (intruder) may intercept, delete, add messages</a:t>
            </a:r>
          </a:p>
        </p:txBody>
      </p:sp>
      <p:pic>
        <p:nvPicPr>
          <p:cNvPr id="27652" name="Picture 6" descr="Al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7950" y="3370263"/>
            <a:ext cx="6985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1825" y="3417888"/>
            <a:ext cx="812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9" descr="Eve"/>
          <p:cNvPicPr>
            <a:picLocks noGrp="1"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4408488" y="5337175"/>
            <a:ext cx="1082675" cy="1295400"/>
          </a:xfrm>
          <a:noFill/>
        </p:spPr>
      </p:pic>
      <p:sp>
        <p:nvSpPr>
          <p:cNvPr id="27655" name="Rectangle 11"/>
          <p:cNvSpPr>
            <a:spLocks noChangeArrowheads="1"/>
          </p:cNvSpPr>
          <p:nvPr/>
        </p:nvSpPr>
        <p:spPr bwMode="auto">
          <a:xfrm>
            <a:off x="2038350" y="4205288"/>
            <a:ext cx="1293813" cy="803275"/>
          </a:xfrm>
          <a:prstGeom prst="rect">
            <a:avLst/>
          </a:prstGeom>
          <a:solidFill>
            <a:srgbClr val="0080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27656" name="Text Box 12"/>
          <p:cNvSpPr txBox="1">
            <a:spLocks noChangeArrowheads="1"/>
          </p:cNvSpPr>
          <p:nvPr/>
        </p:nvSpPr>
        <p:spPr bwMode="auto">
          <a:xfrm>
            <a:off x="2152650" y="4235450"/>
            <a:ext cx="968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chemeClr val="bg1"/>
                </a:solidFill>
                <a:latin typeface="Arial" pitchFamily="34" charset="0"/>
                <a:cs typeface="Arial" pitchFamily="34" charset="0"/>
              </a:rPr>
              <a:t>secure</a:t>
            </a:r>
          </a:p>
          <a:p>
            <a:r>
              <a:rPr lang="en-US" altLang="en-US">
                <a:solidFill>
                  <a:schemeClr val="bg1"/>
                </a:solidFill>
                <a:latin typeface="Arial" pitchFamily="34" charset="0"/>
                <a:cs typeface="Arial" pitchFamily="34" charset="0"/>
              </a:rPr>
              <a:t>sender</a:t>
            </a:r>
          </a:p>
        </p:txBody>
      </p:sp>
      <p:sp>
        <p:nvSpPr>
          <p:cNvPr id="27657" name="Rectangle 13"/>
          <p:cNvSpPr>
            <a:spLocks noChangeArrowheads="1"/>
          </p:cNvSpPr>
          <p:nvPr/>
        </p:nvSpPr>
        <p:spPr bwMode="auto">
          <a:xfrm>
            <a:off x="5780088" y="4217988"/>
            <a:ext cx="1293812" cy="803275"/>
          </a:xfrm>
          <a:prstGeom prst="rect">
            <a:avLst/>
          </a:prstGeom>
          <a:solidFill>
            <a:srgbClr val="0080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s</a:t>
            </a:r>
          </a:p>
        </p:txBody>
      </p:sp>
      <p:sp>
        <p:nvSpPr>
          <p:cNvPr id="27658" name="Text Box 14"/>
          <p:cNvSpPr txBox="1">
            <a:spLocks noChangeArrowheads="1"/>
          </p:cNvSpPr>
          <p:nvPr/>
        </p:nvSpPr>
        <p:spPr bwMode="auto">
          <a:xfrm>
            <a:off x="5867400" y="4248150"/>
            <a:ext cx="10969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chemeClr val="bg1"/>
                </a:solidFill>
                <a:latin typeface="Arial" pitchFamily="34" charset="0"/>
                <a:cs typeface="Arial" pitchFamily="34" charset="0"/>
              </a:rPr>
              <a:t>secure</a:t>
            </a:r>
          </a:p>
          <a:p>
            <a:r>
              <a:rPr lang="en-US" altLang="en-US">
                <a:solidFill>
                  <a:schemeClr val="bg1"/>
                </a:solidFill>
                <a:latin typeface="Arial" pitchFamily="34" charset="0"/>
                <a:cs typeface="Arial" pitchFamily="34" charset="0"/>
              </a:rPr>
              <a:t>receiver</a:t>
            </a:r>
          </a:p>
        </p:txBody>
      </p:sp>
      <p:sp>
        <p:nvSpPr>
          <p:cNvPr id="27659" name="Text Box 18"/>
          <p:cNvSpPr txBox="1">
            <a:spLocks noChangeArrowheads="1"/>
          </p:cNvSpPr>
          <p:nvPr/>
        </p:nvSpPr>
        <p:spPr bwMode="auto">
          <a:xfrm>
            <a:off x="3052763" y="3460750"/>
            <a:ext cx="1082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channel</a:t>
            </a:r>
          </a:p>
        </p:txBody>
      </p:sp>
      <p:sp>
        <p:nvSpPr>
          <p:cNvPr id="27660" name="Line 19"/>
          <p:cNvSpPr>
            <a:spLocks noChangeShapeType="1"/>
          </p:cNvSpPr>
          <p:nvPr/>
        </p:nvSpPr>
        <p:spPr bwMode="auto">
          <a:xfrm>
            <a:off x="3768725" y="3883025"/>
            <a:ext cx="238125" cy="449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27661" name="Rectangle 21"/>
          <p:cNvSpPr>
            <a:spLocks noChangeArrowheads="1"/>
          </p:cNvSpPr>
          <p:nvPr/>
        </p:nvSpPr>
        <p:spPr bwMode="auto">
          <a:xfrm>
            <a:off x="3332163" y="4403725"/>
            <a:ext cx="2447925" cy="366713"/>
          </a:xfrm>
          <a:prstGeom prst="rect">
            <a:avLst/>
          </a:prstGeom>
          <a:solidFill>
            <a:srgbClr val="FF00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27662" name="Line 17"/>
          <p:cNvSpPr>
            <a:spLocks noChangeShapeType="1"/>
          </p:cNvSpPr>
          <p:nvPr/>
        </p:nvSpPr>
        <p:spPr bwMode="auto">
          <a:xfrm flipV="1">
            <a:off x="3375025" y="4616450"/>
            <a:ext cx="2460625" cy="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27663" name="Text Box 23"/>
          <p:cNvSpPr txBox="1">
            <a:spLocks noChangeArrowheads="1"/>
          </p:cNvSpPr>
          <p:nvPr/>
        </p:nvSpPr>
        <p:spPr bwMode="auto">
          <a:xfrm>
            <a:off x="4200525" y="3417888"/>
            <a:ext cx="18891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data, control messages</a:t>
            </a:r>
          </a:p>
        </p:txBody>
      </p:sp>
      <p:sp>
        <p:nvSpPr>
          <p:cNvPr id="27664" name="Line 24"/>
          <p:cNvSpPr>
            <a:spLocks noChangeShapeType="1"/>
          </p:cNvSpPr>
          <p:nvPr/>
        </p:nvSpPr>
        <p:spPr bwMode="auto">
          <a:xfrm>
            <a:off x="5046663" y="4035425"/>
            <a:ext cx="223837" cy="517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27665" name="Freeform 25"/>
          <p:cNvSpPr>
            <a:spLocks/>
          </p:cNvSpPr>
          <p:nvPr/>
        </p:nvSpPr>
        <p:spPr bwMode="auto">
          <a:xfrm>
            <a:off x="3854450" y="4656138"/>
            <a:ext cx="573088" cy="914400"/>
          </a:xfrm>
          <a:custGeom>
            <a:avLst/>
            <a:gdLst>
              <a:gd name="T0" fmla="*/ 0 w 344"/>
              <a:gd name="T1" fmla="*/ 0 h 789"/>
              <a:gd name="T2" fmla="*/ 2147483647 w 344"/>
              <a:gd name="T3" fmla="*/ 2147483647 h 789"/>
              <a:gd name="T4" fmla="*/ 2147483647 w 344"/>
              <a:gd name="T5" fmla="*/ 2147483647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5715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27666" name="Freeform 26"/>
          <p:cNvSpPr>
            <a:spLocks/>
          </p:cNvSpPr>
          <p:nvPr/>
        </p:nvSpPr>
        <p:spPr bwMode="auto">
          <a:xfrm flipH="1">
            <a:off x="4529138" y="4654550"/>
            <a:ext cx="573087" cy="914400"/>
          </a:xfrm>
          <a:custGeom>
            <a:avLst/>
            <a:gdLst>
              <a:gd name="T0" fmla="*/ 0 w 344"/>
              <a:gd name="T1" fmla="*/ 0 h 789"/>
              <a:gd name="T2" fmla="*/ 2147483647 w 344"/>
              <a:gd name="T3" fmla="*/ 2147483647 h 789"/>
              <a:gd name="T4" fmla="*/ 2147483647 w 344"/>
              <a:gd name="T5" fmla="*/ 2147483647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5715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27667" name="Line 27"/>
          <p:cNvSpPr>
            <a:spLocks noChangeShapeType="1"/>
          </p:cNvSpPr>
          <p:nvPr/>
        </p:nvSpPr>
        <p:spPr bwMode="auto">
          <a:xfrm flipV="1">
            <a:off x="1279525" y="4586288"/>
            <a:ext cx="8143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27668" name="Text Box 28"/>
          <p:cNvSpPr txBox="1">
            <a:spLocks noChangeArrowheads="1"/>
          </p:cNvSpPr>
          <p:nvPr/>
        </p:nvSpPr>
        <p:spPr bwMode="auto">
          <a:xfrm>
            <a:off x="504825" y="4316413"/>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data</a:t>
            </a:r>
          </a:p>
        </p:txBody>
      </p:sp>
      <p:sp>
        <p:nvSpPr>
          <p:cNvPr id="27669" name="Line 29"/>
          <p:cNvSpPr>
            <a:spLocks noChangeShapeType="1"/>
          </p:cNvSpPr>
          <p:nvPr/>
        </p:nvSpPr>
        <p:spPr bwMode="auto">
          <a:xfrm flipV="1">
            <a:off x="7086600" y="4556125"/>
            <a:ext cx="8143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27670" name="Text Box 30"/>
          <p:cNvSpPr txBox="1">
            <a:spLocks noChangeArrowheads="1"/>
          </p:cNvSpPr>
          <p:nvPr/>
        </p:nvSpPr>
        <p:spPr bwMode="auto">
          <a:xfrm>
            <a:off x="7874000" y="4286250"/>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data</a:t>
            </a:r>
          </a:p>
        </p:txBody>
      </p:sp>
      <p:sp>
        <p:nvSpPr>
          <p:cNvPr id="27671" name="Text Box 31"/>
          <p:cNvSpPr txBox="1">
            <a:spLocks noChangeArrowheads="1"/>
          </p:cNvSpPr>
          <p:nvPr/>
        </p:nvSpPr>
        <p:spPr bwMode="auto">
          <a:xfrm>
            <a:off x="701675" y="3089275"/>
            <a:ext cx="781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000099"/>
                </a:solidFill>
                <a:latin typeface="Arial" pitchFamily="34" charset="0"/>
                <a:cs typeface="Arial" pitchFamily="34" charset="0"/>
              </a:rPr>
              <a:t>Alice</a:t>
            </a:r>
          </a:p>
        </p:txBody>
      </p:sp>
      <p:sp>
        <p:nvSpPr>
          <p:cNvPr id="27672" name="Text Box 32"/>
          <p:cNvSpPr txBox="1">
            <a:spLocks noChangeArrowheads="1"/>
          </p:cNvSpPr>
          <p:nvPr/>
        </p:nvSpPr>
        <p:spPr bwMode="auto">
          <a:xfrm>
            <a:off x="7670800" y="3100388"/>
            <a:ext cx="641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000099"/>
                </a:solidFill>
                <a:latin typeface="Arial" pitchFamily="34" charset="0"/>
                <a:cs typeface="Arial" pitchFamily="34" charset="0"/>
              </a:rPr>
              <a:t>Bob</a:t>
            </a:r>
          </a:p>
        </p:txBody>
      </p:sp>
      <p:sp>
        <p:nvSpPr>
          <p:cNvPr id="27673" name="Text Box 33"/>
          <p:cNvSpPr txBox="1">
            <a:spLocks noChangeArrowheads="1"/>
          </p:cNvSpPr>
          <p:nvPr/>
        </p:nvSpPr>
        <p:spPr bwMode="auto">
          <a:xfrm>
            <a:off x="3359150" y="5727700"/>
            <a:ext cx="830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000099"/>
                </a:solidFill>
                <a:latin typeface="Arial" pitchFamily="34" charset="0"/>
                <a:cs typeface="Arial" pitchFamily="34" charset="0"/>
              </a:rPr>
              <a:t>Trudy</a:t>
            </a:r>
          </a:p>
        </p:txBody>
      </p:sp>
      <p:pic>
        <p:nvPicPr>
          <p:cNvPr id="27674" name="Picture 6" descr="underline_bas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063" y="850900"/>
            <a:ext cx="8228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29698" name="Rectangle 2"/>
          <p:cNvSpPr>
            <a:spLocks noGrp="1" noChangeArrowheads="1"/>
          </p:cNvSpPr>
          <p:nvPr>
            <p:ph type="title"/>
          </p:nvPr>
        </p:nvSpPr>
        <p:spPr/>
        <p:txBody>
          <a:bodyPr/>
          <a:lstStyle/>
          <a:p>
            <a:r>
              <a:rPr lang="en-US" altLang="en-US" smtClean="0">
                <a:ea typeface="ＭＳ Ｐゴシック" pitchFamily="34" charset="-128"/>
              </a:rPr>
              <a:t>Who might Bob, Alice be?</a:t>
            </a:r>
          </a:p>
        </p:txBody>
      </p:sp>
      <p:sp>
        <p:nvSpPr>
          <p:cNvPr id="29699" name="Rectangle 3"/>
          <p:cNvSpPr>
            <a:spLocks noGrp="1" noChangeArrowheads="1"/>
          </p:cNvSpPr>
          <p:nvPr>
            <p:ph type="body" idx="1"/>
          </p:nvPr>
        </p:nvSpPr>
        <p:spPr>
          <a:xfrm>
            <a:off x="533400" y="1600200"/>
            <a:ext cx="7772400" cy="3240088"/>
          </a:xfrm>
        </p:spPr>
        <p:txBody>
          <a:bodyPr/>
          <a:lstStyle/>
          <a:p>
            <a:pPr>
              <a:lnSpc>
                <a:spcPct val="90000"/>
              </a:lnSpc>
            </a:pPr>
            <a:r>
              <a:rPr lang="en-US" altLang="en-US" smtClean="0">
                <a:ea typeface="ＭＳ Ｐゴシック" pitchFamily="34" charset="-128"/>
              </a:rPr>
              <a:t>… well, </a:t>
            </a:r>
            <a:r>
              <a:rPr lang="en-US" altLang="en-US" i="1" smtClean="0">
                <a:ea typeface="ＭＳ Ｐゴシック" pitchFamily="34" charset="-128"/>
              </a:rPr>
              <a:t>real-life</a:t>
            </a:r>
            <a:r>
              <a:rPr lang="en-US" altLang="en-US" smtClean="0">
                <a:ea typeface="ＭＳ Ｐゴシック" pitchFamily="34" charset="-128"/>
              </a:rPr>
              <a:t> Bobs and Alices!</a:t>
            </a:r>
          </a:p>
          <a:p>
            <a:pPr>
              <a:lnSpc>
                <a:spcPct val="90000"/>
              </a:lnSpc>
            </a:pPr>
            <a:r>
              <a:rPr lang="en-US" altLang="en-US" smtClean="0">
                <a:ea typeface="ＭＳ Ｐゴシック" pitchFamily="34" charset="-128"/>
              </a:rPr>
              <a:t>Web browser/server for electronic transactions (e.g., on-line purchases)</a:t>
            </a:r>
          </a:p>
          <a:p>
            <a:pPr>
              <a:lnSpc>
                <a:spcPct val="90000"/>
              </a:lnSpc>
            </a:pPr>
            <a:r>
              <a:rPr lang="en-US" altLang="en-US" smtClean="0">
                <a:ea typeface="ＭＳ Ｐゴシック" pitchFamily="34" charset="-128"/>
              </a:rPr>
              <a:t>on-line banking client/server</a:t>
            </a:r>
          </a:p>
          <a:p>
            <a:pPr>
              <a:lnSpc>
                <a:spcPct val="90000"/>
              </a:lnSpc>
            </a:pPr>
            <a:r>
              <a:rPr lang="en-US" altLang="en-US" smtClean="0">
                <a:ea typeface="ＭＳ Ｐゴシック" pitchFamily="34" charset="-128"/>
              </a:rPr>
              <a:t>DNS servers</a:t>
            </a:r>
          </a:p>
          <a:p>
            <a:pPr>
              <a:lnSpc>
                <a:spcPct val="90000"/>
              </a:lnSpc>
            </a:pPr>
            <a:r>
              <a:rPr lang="en-US" altLang="en-US" smtClean="0">
                <a:ea typeface="ＭＳ Ｐゴシック" pitchFamily="34" charset="-128"/>
              </a:rPr>
              <a:t>routers exchanging routing table updates</a:t>
            </a:r>
          </a:p>
          <a:p>
            <a:pPr>
              <a:lnSpc>
                <a:spcPct val="90000"/>
              </a:lnSpc>
            </a:pPr>
            <a:r>
              <a:rPr lang="en-US" altLang="en-US" smtClean="0">
                <a:ea typeface="ＭＳ Ｐゴシック" pitchFamily="34" charset="-128"/>
              </a:rPr>
              <a:t>other examples?</a:t>
            </a:r>
          </a:p>
        </p:txBody>
      </p:sp>
      <p:pic>
        <p:nvPicPr>
          <p:cNvPr id="29700" name="Picture 19"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25" y="1055688"/>
            <a:ext cx="59420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1746" name="Rectangle 2"/>
          <p:cNvSpPr>
            <a:spLocks noGrp="1" noChangeArrowheads="1"/>
          </p:cNvSpPr>
          <p:nvPr>
            <p:ph type="title"/>
          </p:nvPr>
        </p:nvSpPr>
        <p:spPr>
          <a:xfrm>
            <a:off x="174625" y="109538"/>
            <a:ext cx="8718550" cy="1000125"/>
          </a:xfrm>
        </p:spPr>
        <p:txBody>
          <a:bodyPr/>
          <a:lstStyle/>
          <a:p>
            <a:r>
              <a:rPr lang="en-US" altLang="en-US" sz="4000" smtClean="0">
                <a:ea typeface="ＭＳ Ｐゴシック" pitchFamily="34" charset="-128"/>
              </a:rPr>
              <a:t>There are bad guys (and girls) out there!</a:t>
            </a:r>
          </a:p>
        </p:txBody>
      </p:sp>
      <p:sp>
        <p:nvSpPr>
          <p:cNvPr id="31747" name="Rectangle 14"/>
          <p:cNvSpPr>
            <a:spLocks noGrp="1" noChangeArrowheads="1"/>
          </p:cNvSpPr>
          <p:nvPr>
            <p:ph type="body" idx="1"/>
          </p:nvPr>
        </p:nvSpPr>
        <p:spPr>
          <a:xfrm>
            <a:off x="617538" y="1262063"/>
            <a:ext cx="7958137" cy="4648200"/>
          </a:xfrm>
        </p:spPr>
        <p:txBody>
          <a:bodyPr/>
          <a:lstStyle/>
          <a:p>
            <a:pPr>
              <a:lnSpc>
                <a:spcPct val="90000"/>
              </a:lnSpc>
              <a:buFont typeface="Wingdings" pitchFamily="2" charset="2"/>
              <a:buNone/>
            </a:pPr>
            <a:r>
              <a:rPr lang="en-US" altLang="en-US" i="1" u="sng" smtClean="0">
                <a:solidFill>
                  <a:srgbClr val="C00000"/>
                </a:solidFill>
                <a:ea typeface="ＭＳ Ｐゴシック" pitchFamily="34" charset="-128"/>
              </a:rPr>
              <a:t>Q:</a:t>
            </a:r>
            <a:r>
              <a:rPr lang="en-US" altLang="en-US" i="1" smtClean="0">
                <a:solidFill>
                  <a:srgbClr val="C00000"/>
                </a:solidFill>
                <a:ea typeface="ＭＳ Ｐゴシック" pitchFamily="34" charset="-128"/>
              </a:rPr>
              <a:t> </a:t>
            </a:r>
            <a:r>
              <a:rPr lang="en-US" altLang="en-US" smtClean="0">
                <a:ea typeface="ＭＳ Ｐゴシック" pitchFamily="34" charset="-128"/>
              </a:rPr>
              <a:t>What can a </a:t>
            </a:r>
            <a:r>
              <a:rPr lang="ja-JP" altLang="en-US" smtClean="0">
                <a:ea typeface="ＭＳ Ｐゴシック" pitchFamily="34" charset="-128"/>
              </a:rPr>
              <a:t>“</a:t>
            </a:r>
            <a:r>
              <a:rPr lang="en-US" altLang="ja-JP" smtClean="0">
                <a:ea typeface="ＭＳ Ｐゴシック" pitchFamily="34" charset="-128"/>
              </a:rPr>
              <a:t>bad guy</a:t>
            </a:r>
            <a:r>
              <a:rPr lang="ja-JP" altLang="en-US" smtClean="0">
                <a:ea typeface="ＭＳ Ｐゴシック" pitchFamily="34" charset="-128"/>
              </a:rPr>
              <a:t>”</a:t>
            </a:r>
            <a:r>
              <a:rPr lang="en-US" altLang="ja-JP" smtClean="0">
                <a:ea typeface="ＭＳ Ｐゴシック" pitchFamily="34" charset="-128"/>
              </a:rPr>
              <a:t> do?</a:t>
            </a:r>
          </a:p>
          <a:p>
            <a:pPr>
              <a:lnSpc>
                <a:spcPct val="90000"/>
              </a:lnSpc>
              <a:buFont typeface="Wingdings" pitchFamily="2" charset="2"/>
              <a:buNone/>
            </a:pPr>
            <a:r>
              <a:rPr lang="en-US" altLang="en-US" i="1" u="sng" smtClean="0">
                <a:solidFill>
                  <a:srgbClr val="C00000"/>
                </a:solidFill>
                <a:ea typeface="ＭＳ Ｐゴシック" pitchFamily="34" charset="-128"/>
              </a:rPr>
              <a:t>A:</a:t>
            </a:r>
            <a:r>
              <a:rPr lang="en-US" altLang="en-US" i="1" smtClean="0">
                <a:solidFill>
                  <a:srgbClr val="C00000"/>
                </a:solidFill>
                <a:ea typeface="ＭＳ Ｐゴシック" pitchFamily="34" charset="-128"/>
              </a:rPr>
              <a:t> </a:t>
            </a:r>
            <a:r>
              <a:rPr lang="en-US" altLang="en-US" smtClean="0">
                <a:ea typeface="ＭＳ Ｐゴシック" pitchFamily="34" charset="-128"/>
              </a:rPr>
              <a:t>A lot! See section 1.6</a:t>
            </a:r>
          </a:p>
          <a:p>
            <a:pPr lvl="1">
              <a:lnSpc>
                <a:spcPct val="90000"/>
              </a:lnSpc>
            </a:pPr>
            <a:r>
              <a:rPr lang="en-US" altLang="en-US" sz="2800" i="1" smtClean="0">
                <a:solidFill>
                  <a:srgbClr val="C00000"/>
                </a:solidFill>
                <a:ea typeface="ＭＳ Ｐゴシック" pitchFamily="34" charset="-128"/>
              </a:rPr>
              <a:t>eavesdrop:</a:t>
            </a:r>
            <a:r>
              <a:rPr lang="en-US" altLang="en-US" sz="2800" smtClean="0">
                <a:solidFill>
                  <a:srgbClr val="C00000"/>
                </a:solidFill>
                <a:ea typeface="ＭＳ Ｐゴシック" pitchFamily="34" charset="-128"/>
              </a:rPr>
              <a:t> </a:t>
            </a:r>
            <a:r>
              <a:rPr lang="en-US" altLang="en-US" sz="2800" smtClean="0">
                <a:ea typeface="ＭＳ Ｐゴシック" pitchFamily="34" charset="-128"/>
              </a:rPr>
              <a:t>intercept messages</a:t>
            </a:r>
          </a:p>
          <a:p>
            <a:pPr lvl="1">
              <a:lnSpc>
                <a:spcPct val="90000"/>
              </a:lnSpc>
            </a:pPr>
            <a:r>
              <a:rPr lang="en-US" altLang="en-US" sz="2800" smtClean="0">
                <a:ea typeface="ＭＳ Ｐゴシック" pitchFamily="34" charset="-128"/>
              </a:rPr>
              <a:t>actively </a:t>
            </a:r>
            <a:r>
              <a:rPr lang="en-US" altLang="en-US" sz="2800" i="1" smtClean="0">
                <a:solidFill>
                  <a:srgbClr val="C00000"/>
                </a:solidFill>
                <a:ea typeface="ＭＳ Ｐゴシック" pitchFamily="34" charset="-128"/>
              </a:rPr>
              <a:t>insert</a:t>
            </a:r>
            <a:r>
              <a:rPr lang="en-US" altLang="en-US" sz="2800" smtClean="0">
                <a:ea typeface="ＭＳ Ｐゴシック" pitchFamily="34" charset="-128"/>
              </a:rPr>
              <a:t> messages into connection</a:t>
            </a:r>
          </a:p>
          <a:p>
            <a:pPr lvl="1">
              <a:lnSpc>
                <a:spcPct val="90000"/>
              </a:lnSpc>
            </a:pPr>
            <a:r>
              <a:rPr lang="en-US" altLang="en-US" sz="2800" i="1" smtClean="0">
                <a:solidFill>
                  <a:srgbClr val="C00000"/>
                </a:solidFill>
                <a:ea typeface="ＭＳ Ｐゴシック" pitchFamily="34" charset="-128"/>
              </a:rPr>
              <a:t>impersonation:</a:t>
            </a:r>
            <a:r>
              <a:rPr lang="en-US" altLang="en-US" sz="2800" smtClean="0">
                <a:solidFill>
                  <a:srgbClr val="C00000"/>
                </a:solidFill>
                <a:ea typeface="ＭＳ Ｐゴシック" pitchFamily="34" charset="-128"/>
              </a:rPr>
              <a:t> </a:t>
            </a:r>
            <a:r>
              <a:rPr lang="en-US" altLang="en-US" sz="2800" smtClean="0">
                <a:ea typeface="ＭＳ Ｐゴシック" pitchFamily="34" charset="-128"/>
              </a:rPr>
              <a:t>can fake (spoof) source address in packet (or any field in packet)</a:t>
            </a:r>
          </a:p>
          <a:p>
            <a:pPr lvl="1">
              <a:lnSpc>
                <a:spcPct val="90000"/>
              </a:lnSpc>
            </a:pPr>
            <a:r>
              <a:rPr lang="en-US" altLang="en-US" sz="2800" i="1" smtClean="0">
                <a:solidFill>
                  <a:srgbClr val="C00000"/>
                </a:solidFill>
                <a:ea typeface="ＭＳ Ｐゴシック" pitchFamily="34" charset="-128"/>
              </a:rPr>
              <a:t>hijacking:</a:t>
            </a:r>
            <a:r>
              <a:rPr lang="en-US" altLang="en-US" sz="2800" smtClean="0">
                <a:solidFill>
                  <a:srgbClr val="C00000"/>
                </a:solidFill>
                <a:ea typeface="ＭＳ Ｐゴシック" pitchFamily="34" charset="-128"/>
              </a:rPr>
              <a:t> </a:t>
            </a:r>
            <a:r>
              <a:rPr lang="ja-JP" altLang="en-US" sz="2800" smtClean="0">
                <a:ea typeface="ＭＳ Ｐゴシック" pitchFamily="34" charset="-128"/>
              </a:rPr>
              <a:t>“</a:t>
            </a:r>
            <a:r>
              <a:rPr lang="en-US" altLang="ja-JP" sz="2800" smtClean="0">
                <a:ea typeface="ＭＳ Ｐゴシック" pitchFamily="34" charset="-128"/>
              </a:rPr>
              <a:t>take over</a:t>
            </a:r>
            <a:r>
              <a:rPr lang="ja-JP" altLang="en-US" sz="2800" smtClean="0">
                <a:ea typeface="ＭＳ Ｐゴシック" pitchFamily="34" charset="-128"/>
              </a:rPr>
              <a:t>”</a:t>
            </a:r>
            <a:r>
              <a:rPr lang="en-US" altLang="ja-JP" sz="2800" smtClean="0">
                <a:ea typeface="ＭＳ Ｐゴシック" pitchFamily="34" charset="-128"/>
              </a:rPr>
              <a:t> ongoing connection by removing sender or receiver, inserting himself in place</a:t>
            </a:r>
          </a:p>
          <a:p>
            <a:pPr lvl="1">
              <a:lnSpc>
                <a:spcPct val="90000"/>
              </a:lnSpc>
            </a:pPr>
            <a:r>
              <a:rPr lang="en-US" altLang="en-US" sz="2800" i="1" smtClean="0">
                <a:solidFill>
                  <a:srgbClr val="C00000"/>
                </a:solidFill>
                <a:ea typeface="ＭＳ Ｐゴシック" pitchFamily="34" charset="-128"/>
              </a:rPr>
              <a:t>denial of service</a:t>
            </a:r>
            <a:r>
              <a:rPr lang="en-US" altLang="en-US" sz="2800" smtClean="0">
                <a:solidFill>
                  <a:srgbClr val="C00000"/>
                </a:solidFill>
                <a:ea typeface="ＭＳ Ｐゴシック" pitchFamily="34" charset="-128"/>
              </a:rPr>
              <a:t>: </a:t>
            </a:r>
            <a:r>
              <a:rPr lang="en-US" altLang="en-US" sz="2800" smtClean="0">
                <a:ea typeface="ＭＳ Ｐゴシック" pitchFamily="34" charset="-128"/>
              </a:rPr>
              <a:t>prevent service from being used by others (e.g.,  by overloading resources)</a:t>
            </a:r>
          </a:p>
          <a:p>
            <a:pPr>
              <a:lnSpc>
                <a:spcPct val="90000"/>
              </a:lnSpc>
              <a:buFont typeface="Wingdings" pitchFamily="2" charset="2"/>
              <a:buNone/>
            </a:pPr>
            <a:endParaRPr lang="en-US" altLang="en-US" smtClean="0">
              <a:ea typeface="ＭＳ Ｐゴシック" pitchFamily="34" charset="-128"/>
            </a:endParaRPr>
          </a:p>
        </p:txBody>
      </p:sp>
      <p:pic>
        <p:nvPicPr>
          <p:cNvPr id="31748" name="Picture 6" descr="underline_ba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847725"/>
            <a:ext cx="82280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3794" name="Rectangle 2"/>
          <p:cNvSpPr>
            <a:spLocks noGrp="1" noChangeArrowheads="1"/>
          </p:cNvSpPr>
          <p:nvPr>
            <p:ph type="title"/>
          </p:nvPr>
        </p:nvSpPr>
        <p:spPr/>
        <p:txBody>
          <a:bodyPr/>
          <a:lstStyle/>
          <a:p>
            <a:r>
              <a:rPr lang="en-US" altLang="en-US" smtClean="0">
                <a:ea typeface="ＭＳ Ｐゴシック" pitchFamily="34" charset="-128"/>
              </a:rPr>
              <a:t>Chapter 8 roadmap</a:t>
            </a:r>
          </a:p>
        </p:txBody>
      </p:sp>
      <p:sp>
        <p:nvSpPr>
          <p:cNvPr id="33795" name="Rectangle 3"/>
          <p:cNvSpPr>
            <a:spLocks noGrp="1" noChangeArrowheads="1"/>
          </p:cNvSpPr>
          <p:nvPr>
            <p:ph type="body" idx="1"/>
          </p:nvPr>
        </p:nvSpPr>
        <p:spPr>
          <a:xfrm>
            <a:off x="650875" y="1668463"/>
            <a:ext cx="7772400" cy="4648200"/>
          </a:xfrm>
        </p:spPr>
        <p:txBody>
          <a:bodyPr/>
          <a:lstStyle/>
          <a:p>
            <a:pPr>
              <a:buFont typeface="Wingdings" pitchFamily="2" charset="2"/>
              <a:buNone/>
            </a:pPr>
            <a:r>
              <a:rPr lang="en-US" altLang="en-US" smtClean="0">
                <a:solidFill>
                  <a:srgbClr val="000099"/>
                </a:solidFill>
                <a:ea typeface="ＭＳ Ｐゴシック" pitchFamily="34" charset="-128"/>
              </a:rPr>
              <a:t>8.1</a:t>
            </a:r>
            <a:r>
              <a:rPr lang="en-US" altLang="en-US" smtClean="0">
                <a:ea typeface="ＭＳ Ｐゴシック" pitchFamily="34" charset="-128"/>
              </a:rPr>
              <a:t> What is network security?</a:t>
            </a:r>
          </a:p>
          <a:p>
            <a:pPr>
              <a:buFont typeface="Wingdings" pitchFamily="2" charset="2"/>
              <a:buNone/>
            </a:pPr>
            <a:r>
              <a:rPr lang="en-US" altLang="en-US" i="1" smtClean="0">
                <a:solidFill>
                  <a:srgbClr val="C00000"/>
                </a:solidFill>
                <a:ea typeface="ＭＳ Ｐゴシック" pitchFamily="34" charset="-128"/>
              </a:rPr>
              <a:t>8.2 Principles of cryptography</a:t>
            </a:r>
          </a:p>
          <a:p>
            <a:pPr>
              <a:buFont typeface="Wingdings" pitchFamily="2" charset="2"/>
              <a:buNone/>
            </a:pPr>
            <a:r>
              <a:rPr lang="en-US" altLang="en-US" smtClean="0">
                <a:solidFill>
                  <a:srgbClr val="000099"/>
                </a:solidFill>
                <a:ea typeface="ＭＳ Ｐゴシック" pitchFamily="34" charset="-128"/>
              </a:rPr>
              <a:t>8.3</a:t>
            </a:r>
            <a:r>
              <a:rPr lang="en-US" altLang="en-US" smtClean="0">
                <a:ea typeface="ＭＳ Ｐゴシック" pitchFamily="34" charset="-128"/>
              </a:rPr>
              <a:t> Message integrity, authentication</a:t>
            </a:r>
          </a:p>
          <a:p>
            <a:pPr>
              <a:buFont typeface="Wingdings" pitchFamily="2" charset="2"/>
              <a:buNone/>
            </a:pPr>
            <a:r>
              <a:rPr lang="en-US" altLang="en-US" smtClean="0">
                <a:solidFill>
                  <a:srgbClr val="000099"/>
                </a:solidFill>
                <a:ea typeface="ＭＳ Ｐゴシック" pitchFamily="34" charset="-128"/>
              </a:rPr>
              <a:t>8.4 </a:t>
            </a:r>
            <a:r>
              <a:rPr lang="en-US" altLang="en-US" smtClean="0">
                <a:ea typeface="ＭＳ Ｐゴシック" pitchFamily="34" charset="-128"/>
              </a:rPr>
              <a:t>Securing e-mail</a:t>
            </a:r>
          </a:p>
          <a:p>
            <a:pPr>
              <a:buFont typeface="Wingdings" pitchFamily="2" charset="2"/>
              <a:buNone/>
            </a:pPr>
            <a:r>
              <a:rPr lang="en-US" altLang="en-US" smtClean="0">
                <a:solidFill>
                  <a:srgbClr val="000099"/>
                </a:solidFill>
                <a:ea typeface="ＭＳ Ｐゴシック" pitchFamily="34" charset="-128"/>
              </a:rPr>
              <a:t>8.5</a:t>
            </a:r>
            <a:r>
              <a:rPr lang="en-US" altLang="en-US" smtClean="0">
                <a:ea typeface="ＭＳ Ｐゴシック" pitchFamily="34" charset="-128"/>
              </a:rPr>
              <a:t> Securing TCP connections: SSL</a:t>
            </a:r>
          </a:p>
          <a:p>
            <a:pPr>
              <a:buFont typeface="Wingdings" pitchFamily="2" charset="2"/>
              <a:buNone/>
            </a:pPr>
            <a:r>
              <a:rPr lang="en-US" altLang="en-US" smtClean="0">
                <a:solidFill>
                  <a:srgbClr val="000099"/>
                </a:solidFill>
                <a:ea typeface="ＭＳ Ｐゴシック" pitchFamily="34" charset="-128"/>
              </a:rPr>
              <a:t>8.6</a:t>
            </a:r>
            <a:r>
              <a:rPr lang="en-US" altLang="en-US" smtClean="0">
                <a:ea typeface="ＭＳ Ｐゴシック" pitchFamily="34" charset="-128"/>
              </a:rPr>
              <a:t> Network layer security: IPsec</a:t>
            </a:r>
          </a:p>
          <a:p>
            <a:pPr>
              <a:buFont typeface="Wingdings" pitchFamily="2" charset="2"/>
              <a:buNone/>
            </a:pPr>
            <a:r>
              <a:rPr lang="en-US" altLang="en-US" smtClean="0">
                <a:solidFill>
                  <a:srgbClr val="000099"/>
                </a:solidFill>
                <a:ea typeface="ＭＳ Ｐゴシック" pitchFamily="34" charset="-128"/>
              </a:rPr>
              <a:t>8.7</a:t>
            </a:r>
            <a:r>
              <a:rPr lang="en-US" altLang="en-US" smtClean="0">
                <a:ea typeface="ＭＳ Ｐゴシック" pitchFamily="34" charset="-128"/>
              </a:rPr>
              <a:t> Securing wireless LANs</a:t>
            </a:r>
          </a:p>
          <a:p>
            <a:pPr>
              <a:buFont typeface="Wingdings" pitchFamily="2" charset="2"/>
              <a:buNone/>
            </a:pPr>
            <a:r>
              <a:rPr lang="en-US" altLang="en-US" smtClean="0">
                <a:solidFill>
                  <a:srgbClr val="000099"/>
                </a:solidFill>
                <a:ea typeface="ＭＳ Ｐゴシック" pitchFamily="34" charset="-128"/>
              </a:rPr>
              <a:t>8.8</a:t>
            </a:r>
            <a:r>
              <a:rPr lang="en-US" altLang="en-US" smtClean="0">
                <a:ea typeface="ＭＳ Ｐゴシック" pitchFamily="34" charset="-128"/>
              </a:rPr>
              <a:t> Operational security: firewalls and IDS</a:t>
            </a:r>
          </a:p>
        </p:txBody>
      </p:sp>
      <p:pic>
        <p:nvPicPr>
          <p:cNvPr id="33796" name="Picture 22"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238" y="1066800"/>
            <a:ext cx="4570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5842" name="Rectangle 2"/>
          <p:cNvSpPr>
            <a:spLocks noGrp="1" noChangeArrowheads="1"/>
          </p:cNvSpPr>
          <p:nvPr>
            <p:ph type="title"/>
          </p:nvPr>
        </p:nvSpPr>
        <p:spPr>
          <a:xfrm>
            <a:off x="533400" y="0"/>
            <a:ext cx="7772400" cy="1143000"/>
          </a:xfrm>
        </p:spPr>
        <p:txBody>
          <a:bodyPr/>
          <a:lstStyle/>
          <a:p>
            <a:r>
              <a:rPr lang="en-US" altLang="en-US" sz="3600" smtClean="0">
                <a:ea typeface="ＭＳ Ｐゴシック" pitchFamily="34" charset="-128"/>
              </a:rPr>
              <a:t>The language of cryptography</a:t>
            </a:r>
            <a:endParaRPr lang="en-US" altLang="en-US" smtClean="0">
              <a:ea typeface="ＭＳ Ｐゴシック" pitchFamily="34" charset="-128"/>
            </a:endParaRPr>
          </a:p>
        </p:txBody>
      </p:sp>
      <p:sp>
        <p:nvSpPr>
          <p:cNvPr id="35843" name="Rectangle 3"/>
          <p:cNvSpPr>
            <a:spLocks noGrp="1" noChangeArrowheads="1"/>
          </p:cNvSpPr>
          <p:nvPr>
            <p:ph type="body" idx="1"/>
          </p:nvPr>
        </p:nvSpPr>
        <p:spPr>
          <a:xfrm>
            <a:off x="327025" y="4811713"/>
            <a:ext cx="8218488" cy="1203325"/>
          </a:xfrm>
        </p:spPr>
        <p:txBody>
          <a:bodyPr/>
          <a:lstStyle/>
          <a:p>
            <a:pPr>
              <a:buFont typeface="Wingdings" pitchFamily="2" charset="2"/>
              <a:buNone/>
            </a:pPr>
            <a:r>
              <a:rPr lang="en-US" altLang="en-US" sz="2400" smtClean="0">
                <a:solidFill>
                  <a:srgbClr val="C00000"/>
                </a:solidFill>
                <a:ea typeface="ＭＳ Ｐゴシック" pitchFamily="34" charset="-128"/>
              </a:rPr>
              <a:t>m</a:t>
            </a:r>
            <a:r>
              <a:rPr lang="en-US" altLang="en-US" sz="2400" smtClean="0">
                <a:solidFill>
                  <a:srgbClr val="FF0000"/>
                </a:solidFill>
                <a:ea typeface="ＭＳ Ｐゴシック" pitchFamily="34" charset="-128"/>
              </a:rPr>
              <a:t> </a:t>
            </a:r>
            <a:r>
              <a:rPr lang="en-US" altLang="en-US" sz="2400" smtClean="0">
                <a:ea typeface="ＭＳ Ｐゴシック" pitchFamily="34" charset="-128"/>
              </a:rPr>
              <a:t>plaintext message</a:t>
            </a:r>
          </a:p>
          <a:p>
            <a:pPr>
              <a:buFont typeface="Wingdings" pitchFamily="2" charset="2"/>
              <a:buNone/>
            </a:pPr>
            <a:r>
              <a:rPr lang="en-US" altLang="en-US" sz="2400" smtClean="0">
                <a:solidFill>
                  <a:srgbClr val="C00000"/>
                </a:solidFill>
                <a:ea typeface="ＭＳ Ｐゴシック" pitchFamily="34" charset="-128"/>
              </a:rPr>
              <a:t>K</a:t>
            </a:r>
            <a:r>
              <a:rPr lang="en-US" altLang="en-US" sz="2400" baseline="-25000" smtClean="0">
                <a:solidFill>
                  <a:srgbClr val="C00000"/>
                </a:solidFill>
                <a:ea typeface="ＭＳ Ｐゴシック" pitchFamily="34" charset="-128"/>
              </a:rPr>
              <a:t>A</a:t>
            </a:r>
            <a:r>
              <a:rPr lang="en-US" altLang="en-US" sz="2400" smtClean="0">
                <a:solidFill>
                  <a:srgbClr val="C00000"/>
                </a:solidFill>
                <a:ea typeface="ＭＳ Ｐゴシック" pitchFamily="34" charset="-128"/>
              </a:rPr>
              <a:t>(m) </a:t>
            </a:r>
            <a:r>
              <a:rPr lang="en-US" altLang="en-US" sz="2400" smtClean="0">
                <a:ea typeface="ＭＳ Ｐゴシック" pitchFamily="34" charset="-128"/>
              </a:rPr>
              <a:t>ciphertext, encrypted with key K</a:t>
            </a:r>
            <a:r>
              <a:rPr lang="en-US" altLang="en-US" sz="2400" baseline="-25000" smtClean="0">
                <a:ea typeface="ＭＳ Ｐゴシック" pitchFamily="34" charset="-128"/>
              </a:rPr>
              <a:t>A</a:t>
            </a:r>
            <a:endParaRPr lang="en-US" altLang="en-US" sz="2400" smtClean="0">
              <a:ea typeface="ＭＳ Ｐゴシック" pitchFamily="34" charset="-128"/>
            </a:endParaRPr>
          </a:p>
          <a:p>
            <a:pPr>
              <a:buFont typeface="Wingdings" pitchFamily="2" charset="2"/>
              <a:buNone/>
            </a:pPr>
            <a:r>
              <a:rPr lang="en-US" altLang="en-US" sz="2400" smtClean="0">
                <a:solidFill>
                  <a:srgbClr val="C00000"/>
                </a:solidFill>
                <a:ea typeface="ＭＳ Ｐゴシック" pitchFamily="34" charset="-128"/>
              </a:rPr>
              <a:t>m = K</a:t>
            </a:r>
            <a:r>
              <a:rPr lang="en-US" altLang="en-US" sz="2400" baseline="-25000" smtClean="0">
                <a:solidFill>
                  <a:srgbClr val="C00000"/>
                </a:solidFill>
                <a:ea typeface="ＭＳ Ｐゴシック" pitchFamily="34" charset="-128"/>
              </a:rPr>
              <a:t>B</a:t>
            </a:r>
            <a:r>
              <a:rPr lang="en-US" altLang="en-US" sz="2400" smtClean="0">
                <a:solidFill>
                  <a:srgbClr val="C00000"/>
                </a:solidFill>
                <a:ea typeface="ＭＳ Ｐゴシック" pitchFamily="34" charset="-128"/>
              </a:rPr>
              <a:t>(K</a:t>
            </a:r>
            <a:r>
              <a:rPr lang="en-US" altLang="en-US" sz="2400" baseline="-25000" smtClean="0">
                <a:solidFill>
                  <a:srgbClr val="C00000"/>
                </a:solidFill>
                <a:ea typeface="ＭＳ Ｐゴシック" pitchFamily="34" charset="-128"/>
              </a:rPr>
              <a:t>A</a:t>
            </a:r>
            <a:r>
              <a:rPr lang="en-US" altLang="en-US" sz="2400" smtClean="0">
                <a:solidFill>
                  <a:srgbClr val="C00000"/>
                </a:solidFill>
                <a:ea typeface="ＭＳ Ｐゴシック" pitchFamily="34" charset="-128"/>
              </a:rPr>
              <a:t>(m))</a:t>
            </a:r>
            <a:endParaRPr lang="en-US" altLang="en-US" sz="2400" baseline="-25000" smtClean="0">
              <a:solidFill>
                <a:srgbClr val="C00000"/>
              </a:solidFill>
              <a:ea typeface="ＭＳ Ｐゴシック" pitchFamily="34" charset="-128"/>
            </a:endParaRPr>
          </a:p>
          <a:p>
            <a:pPr>
              <a:buFont typeface="Wingdings" pitchFamily="2" charset="2"/>
              <a:buNone/>
            </a:pPr>
            <a:endParaRPr lang="en-US" altLang="en-US" sz="2400" smtClean="0">
              <a:ea typeface="ＭＳ Ｐゴシック" pitchFamily="34" charset="-128"/>
            </a:endParaRPr>
          </a:p>
        </p:txBody>
      </p:sp>
      <p:grpSp>
        <p:nvGrpSpPr>
          <p:cNvPr id="35844" name="Group 4"/>
          <p:cNvGrpSpPr>
            <a:grpSpLocks/>
          </p:cNvGrpSpPr>
          <p:nvPr/>
        </p:nvGrpSpPr>
        <p:grpSpPr bwMode="auto">
          <a:xfrm>
            <a:off x="652463" y="1447800"/>
            <a:ext cx="7750175" cy="3309938"/>
            <a:chOff x="392" y="896"/>
            <a:chExt cx="4882" cy="2085"/>
          </a:xfrm>
        </p:grpSpPr>
        <p:sp>
          <p:nvSpPr>
            <p:cNvPr id="35846" name="Text Box 5"/>
            <p:cNvSpPr txBox="1">
              <a:spLocks noChangeArrowheads="1"/>
            </p:cNvSpPr>
            <p:nvPr/>
          </p:nvSpPr>
          <p:spPr bwMode="auto">
            <a:xfrm>
              <a:off x="392" y="1679"/>
              <a:ext cx="718"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plaintext</a:t>
              </a:r>
            </a:p>
          </p:txBody>
        </p:sp>
        <p:sp>
          <p:nvSpPr>
            <p:cNvPr id="35847" name="Text Box 6"/>
            <p:cNvSpPr txBox="1">
              <a:spLocks noChangeArrowheads="1"/>
            </p:cNvSpPr>
            <p:nvPr/>
          </p:nvSpPr>
          <p:spPr bwMode="auto">
            <a:xfrm>
              <a:off x="4517" y="1667"/>
              <a:ext cx="718"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plaintext</a:t>
              </a:r>
            </a:p>
          </p:txBody>
        </p:sp>
        <p:sp>
          <p:nvSpPr>
            <p:cNvPr id="35848" name="Text Box 7"/>
            <p:cNvSpPr txBox="1">
              <a:spLocks noChangeArrowheads="1"/>
            </p:cNvSpPr>
            <p:nvPr/>
          </p:nvSpPr>
          <p:spPr bwMode="auto">
            <a:xfrm>
              <a:off x="2442" y="1655"/>
              <a:ext cx="816"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ciphertext</a:t>
              </a:r>
            </a:p>
          </p:txBody>
        </p:sp>
        <p:grpSp>
          <p:nvGrpSpPr>
            <p:cNvPr id="35849" name="Group 8"/>
            <p:cNvGrpSpPr>
              <a:grpSpLocks/>
            </p:cNvGrpSpPr>
            <p:nvPr/>
          </p:nvGrpSpPr>
          <p:grpSpPr bwMode="auto">
            <a:xfrm>
              <a:off x="1336" y="1036"/>
              <a:ext cx="335" cy="383"/>
              <a:chOff x="189" y="1789"/>
              <a:chExt cx="335" cy="383"/>
            </a:xfrm>
          </p:grpSpPr>
          <p:sp>
            <p:nvSpPr>
              <p:cNvPr id="35871" name="Text Box 9"/>
              <p:cNvSpPr txBox="1">
                <a:spLocks noChangeArrowheads="1"/>
              </p:cNvSpPr>
              <p:nvPr/>
            </p:nvSpPr>
            <p:spPr bwMode="auto">
              <a:xfrm>
                <a:off x="189" y="1789"/>
                <a:ext cx="246" cy="2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K</a:t>
                </a:r>
              </a:p>
            </p:txBody>
          </p:sp>
          <p:sp>
            <p:nvSpPr>
              <p:cNvPr id="35872" name="Text Box 10"/>
              <p:cNvSpPr txBox="1">
                <a:spLocks noChangeArrowheads="1"/>
              </p:cNvSpPr>
              <p:nvPr/>
            </p:nvSpPr>
            <p:spPr bwMode="auto">
              <a:xfrm>
                <a:off x="291" y="1922"/>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A</a:t>
                </a:r>
              </a:p>
            </p:txBody>
          </p:sp>
        </p:grpSp>
        <p:pic>
          <p:nvPicPr>
            <p:cNvPr id="35850" name="Picture 11"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 y="1050"/>
              <a:ext cx="440"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1" name="Picture 12"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3" y="2165"/>
              <a:ext cx="682"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2" name="Rectangle 13"/>
            <p:cNvSpPr>
              <a:spLocks noChangeArrowheads="1"/>
            </p:cNvSpPr>
            <p:nvPr/>
          </p:nvSpPr>
          <p:spPr bwMode="auto">
            <a:xfrm>
              <a:off x="1249" y="1621"/>
              <a:ext cx="877" cy="506"/>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35853" name="Text Box 14"/>
            <p:cNvSpPr txBox="1">
              <a:spLocks noChangeArrowheads="1"/>
            </p:cNvSpPr>
            <p:nvPr/>
          </p:nvSpPr>
          <p:spPr bwMode="auto">
            <a:xfrm>
              <a:off x="1265" y="1627"/>
              <a:ext cx="862"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chemeClr val="bg1"/>
                  </a:solidFill>
                  <a:latin typeface="Arial" pitchFamily="34" charset="0"/>
                  <a:cs typeface="Arial" pitchFamily="34" charset="0"/>
                </a:rPr>
                <a:t>encryption</a:t>
              </a:r>
            </a:p>
            <a:p>
              <a:pPr algn="ctr"/>
              <a:r>
                <a:rPr lang="en-US" altLang="en-US">
                  <a:solidFill>
                    <a:schemeClr val="bg1"/>
                  </a:solidFill>
                  <a:latin typeface="Arial" pitchFamily="34" charset="0"/>
                  <a:cs typeface="Arial" pitchFamily="34" charset="0"/>
                </a:rPr>
                <a:t>algorithm</a:t>
              </a:r>
            </a:p>
          </p:txBody>
        </p:sp>
        <p:sp>
          <p:nvSpPr>
            <p:cNvPr id="35854" name="Rectangle 15"/>
            <p:cNvSpPr>
              <a:spLocks noChangeArrowheads="1"/>
            </p:cNvSpPr>
            <p:nvPr/>
          </p:nvSpPr>
          <p:spPr bwMode="auto">
            <a:xfrm>
              <a:off x="3606" y="1629"/>
              <a:ext cx="868" cy="506"/>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35855" name="Text Box 16"/>
            <p:cNvSpPr txBox="1">
              <a:spLocks noChangeArrowheads="1"/>
            </p:cNvSpPr>
            <p:nvPr/>
          </p:nvSpPr>
          <p:spPr bwMode="auto">
            <a:xfrm>
              <a:off x="3619" y="1644"/>
              <a:ext cx="9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chemeClr val="bg1"/>
                  </a:solidFill>
                  <a:latin typeface="Arial" pitchFamily="34" charset="0"/>
                  <a:cs typeface="Arial" pitchFamily="34" charset="0"/>
                </a:rPr>
                <a:t>decryption </a:t>
              </a:r>
            </a:p>
            <a:p>
              <a:pPr algn="ctr"/>
              <a:r>
                <a:rPr lang="en-US" altLang="en-US">
                  <a:solidFill>
                    <a:schemeClr val="bg1"/>
                  </a:solidFill>
                  <a:latin typeface="Arial" pitchFamily="34" charset="0"/>
                  <a:cs typeface="Arial" pitchFamily="34" charset="0"/>
                </a:rPr>
                <a:t>algorithm</a:t>
              </a:r>
            </a:p>
          </p:txBody>
        </p:sp>
        <p:sp>
          <p:nvSpPr>
            <p:cNvPr id="35856" name="Line 17"/>
            <p:cNvSpPr>
              <a:spLocks noChangeShapeType="1"/>
            </p:cNvSpPr>
            <p:nvPr/>
          </p:nvSpPr>
          <p:spPr bwMode="auto">
            <a:xfrm>
              <a:off x="2144" y="1881"/>
              <a:ext cx="1450" cy="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35857" name="Freeform 18"/>
            <p:cNvSpPr>
              <a:spLocks/>
            </p:cNvSpPr>
            <p:nvPr/>
          </p:nvSpPr>
          <p:spPr bwMode="auto">
            <a:xfrm>
              <a:off x="2446" y="1914"/>
              <a:ext cx="361" cy="576"/>
            </a:xfrm>
            <a:custGeom>
              <a:avLst/>
              <a:gdLst>
                <a:gd name="T0" fmla="*/ 0 w 344"/>
                <a:gd name="T1" fmla="*/ 0 h 789"/>
                <a:gd name="T2" fmla="*/ 458 w 344"/>
                <a:gd name="T3" fmla="*/ 11 h 789"/>
                <a:gd name="T4" fmla="*/ 484 w 344"/>
                <a:gd name="T5" fmla="*/ 64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1905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35858" name="Freeform 19"/>
            <p:cNvSpPr>
              <a:spLocks/>
            </p:cNvSpPr>
            <p:nvPr/>
          </p:nvSpPr>
          <p:spPr bwMode="auto">
            <a:xfrm flipH="1">
              <a:off x="2871" y="1913"/>
              <a:ext cx="361" cy="576"/>
            </a:xfrm>
            <a:custGeom>
              <a:avLst/>
              <a:gdLst>
                <a:gd name="T0" fmla="*/ 0 w 344"/>
                <a:gd name="T1" fmla="*/ 0 h 789"/>
                <a:gd name="T2" fmla="*/ 458 w 344"/>
                <a:gd name="T3" fmla="*/ 11 h 789"/>
                <a:gd name="T4" fmla="*/ 484 w 344"/>
                <a:gd name="T5" fmla="*/ 64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1905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35859" name="Line 20"/>
            <p:cNvSpPr>
              <a:spLocks noChangeShapeType="1"/>
            </p:cNvSpPr>
            <p:nvPr/>
          </p:nvSpPr>
          <p:spPr bwMode="auto">
            <a:xfrm flipH="1">
              <a:off x="1495" y="1382"/>
              <a:ext cx="1" cy="24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35860" name="Line 21"/>
            <p:cNvSpPr>
              <a:spLocks noChangeShapeType="1"/>
            </p:cNvSpPr>
            <p:nvPr/>
          </p:nvSpPr>
          <p:spPr bwMode="auto">
            <a:xfrm flipH="1">
              <a:off x="3744" y="1363"/>
              <a:ext cx="1" cy="24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35861" name="Text Box 22"/>
            <p:cNvSpPr txBox="1">
              <a:spLocks noChangeArrowheads="1"/>
            </p:cNvSpPr>
            <p:nvPr/>
          </p:nvSpPr>
          <p:spPr bwMode="auto">
            <a:xfrm>
              <a:off x="1603" y="897"/>
              <a:ext cx="950" cy="6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Alice</a:t>
              </a:r>
              <a:r>
                <a:rPr lang="ja-JP" altLang="en-US">
                  <a:latin typeface="Arial" pitchFamily="34" charset="0"/>
                  <a:cs typeface="Arial" pitchFamily="34" charset="0"/>
                </a:rPr>
                <a:t>’</a:t>
              </a:r>
              <a:r>
                <a:rPr lang="en-US" altLang="ja-JP">
                  <a:latin typeface="Arial" pitchFamily="34" charset="0"/>
                  <a:cs typeface="Arial" pitchFamily="34" charset="0"/>
                </a:rPr>
                <a:t>s </a:t>
              </a:r>
            </a:p>
            <a:p>
              <a:r>
                <a:rPr lang="en-US" altLang="en-US">
                  <a:latin typeface="Arial" pitchFamily="34" charset="0"/>
                  <a:cs typeface="Arial" pitchFamily="34" charset="0"/>
                </a:rPr>
                <a:t>encryption</a:t>
              </a:r>
            </a:p>
            <a:p>
              <a:r>
                <a:rPr lang="en-US" altLang="en-US">
                  <a:latin typeface="Arial" pitchFamily="34" charset="0"/>
                  <a:cs typeface="Arial" pitchFamily="34" charset="0"/>
                </a:rPr>
                <a:t>key</a:t>
              </a:r>
            </a:p>
          </p:txBody>
        </p:sp>
        <p:sp>
          <p:nvSpPr>
            <p:cNvPr id="35862" name="Text Box 23"/>
            <p:cNvSpPr txBox="1">
              <a:spLocks noChangeArrowheads="1"/>
            </p:cNvSpPr>
            <p:nvPr/>
          </p:nvSpPr>
          <p:spPr bwMode="auto">
            <a:xfrm>
              <a:off x="3896" y="940"/>
              <a:ext cx="950" cy="6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Bob</a:t>
              </a:r>
              <a:r>
                <a:rPr lang="ja-JP" altLang="en-US">
                  <a:latin typeface="Arial" pitchFamily="34" charset="0"/>
                  <a:cs typeface="Arial" pitchFamily="34" charset="0"/>
                </a:rPr>
                <a:t>’</a:t>
              </a:r>
              <a:r>
                <a:rPr lang="en-US" altLang="ja-JP">
                  <a:latin typeface="Arial" pitchFamily="34" charset="0"/>
                  <a:cs typeface="Arial" pitchFamily="34" charset="0"/>
                </a:rPr>
                <a:t>s </a:t>
              </a:r>
            </a:p>
            <a:p>
              <a:r>
                <a:rPr lang="en-US" altLang="en-US">
                  <a:latin typeface="Arial" pitchFamily="34" charset="0"/>
                  <a:cs typeface="Arial" pitchFamily="34" charset="0"/>
                </a:rPr>
                <a:t>decryption</a:t>
              </a:r>
            </a:p>
            <a:p>
              <a:r>
                <a:rPr lang="en-US" altLang="en-US">
                  <a:latin typeface="Arial" pitchFamily="34" charset="0"/>
                  <a:cs typeface="Arial" pitchFamily="34" charset="0"/>
                </a:rPr>
                <a:t>key</a:t>
              </a:r>
            </a:p>
          </p:txBody>
        </p:sp>
        <p:pic>
          <p:nvPicPr>
            <p:cNvPr id="35863" name="Picture 24"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 y="1178"/>
              <a:ext cx="51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5864" name="Group 25"/>
            <p:cNvGrpSpPr>
              <a:grpSpLocks/>
            </p:cNvGrpSpPr>
            <p:nvPr/>
          </p:nvGrpSpPr>
          <p:grpSpPr bwMode="auto">
            <a:xfrm>
              <a:off x="3650" y="1118"/>
              <a:ext cx="360" cy="385"/>
              <a:chOff x="189" y="1789"/>
              <a:chExt cx="360" cy="385"/>
            </a:xfrm>
          </p:grpSpPr>
          <p:sp>
            <p:nvSpPr>
              <p:cNvPr id="35869" name="Text Box 26"/>
              <p:cNvSpPr txBox="1">
                <a:spLocks noChangeArrowheads="1"/>
              </p:cNvSpPr>
              <p:nvPr/>
            </p:nvSpPr>
            <p:spPr bwMode="auto">
              <a:xfrm>
                <a:off x="189" y="1789"/>
                <a:ext cx="246" cy="2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K</a:t>
                </a:r>
              </a:p>
            </p:txBody>
          </p:sp>
          <p:sp>
            <p:nvSpPr>
              <p:cNvPr id="35870" name="Text Box 27"/>
              <p:cNvSpPr txBox="1">
                <a:spLocks noChangeArrowheads="1"/>
              </p:cNvSpPr>
              <p:nvPr/>
            </p:nvSpPr>
            <p:spPr bwMode="auto">
              <a:xfrm>
                <a:off x="325" y="1922"/>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B</a:t>
                </a:r>
              </a:p>
            </p:txBody>
          </p:sp>
        </p:grpSp>
        <p:sp>
          <p:nvSpPr>
            <p:cNvPr id="35865" name="Line 28"/>
            <p:cNvSpPr>
              <a:spLocks noChangeShapeType="1"/>
            </p:cNvSpPr>
            <p:nvPr/>
          </p:nvSpPr>
          <p:spPr bwMode="auto">
            <a:xfrm>
              <a:off x="780" y="1897"/>
              <a:ext cx="4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35866" name="Line 29"/>
            <p:cNvSpPr>
              <a:spLocks noChangeShapeType="1"/>
            </p:cNvSpPr>
            <p:nvPr/>
          </p:nvSpPr>
          <p:spPr bwMode="auto">
            <a:xfrm>
              <a:off x="4518" y="1904"/>
              <a:ext cx="4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35867" name="Picture 30" descr="BS00768_[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flipV="1">
              <a:off x="1371" y="896"/>
              <a:ext cx="293"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68" name="Picture 31" descr="BS00768_[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flipV="1">
              <a:off x="3625" y="955"/>
              <a:ext cx="293"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5845" name="Picture 19" descr="underline_bas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6113" y="784225"/>
            <a:ext cx="5942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6866" name="Rectangle 2"/>
          <p:cNvSpPr>
            <a:spLocks noGrp="1" noChangeArrowheads="1"/>
          </p:cNvSpPr>
          <p:nvPr>
            <p:ph type="title"/>
          </p:nvPr>
        </p:nvSpPr>
        <p:spPr/>
        <p:txBody>
          <a:bodyPr/>
          <a:lstStyle/>
          <a:p>
            <a:r>
              <a:rPr lang="en-US" altLang="en-US" smtClean="0">
                <a:ea typeface="ＭＳ Ｐゴシック" pitchFamily="34" charset="-128"/>
              </a:rPr>
              <a:t>Breaking an encryption scheme</a:t>
            </a:r>
          </a:p>
        </p:txBody>
      </p:sp>
      <p:sp>
        <p:nvSpPr>
          <p:cNvPr id="36867" name="Rectangle 3"/>
          <p:cNvSpPr>
            <a:spLocks noGrp="1" noChangeArrowheads="1"/>
          </p:cNvSpPr>
          <p:nvPr>
            <p:ph type="body" sz="half" idx="1"/>
          </p:nvPr>
        </p:nvSpPr>
        <p:spPr/>
        <p:txBody>
          <a:bodyPr/>
          <a:lstStyle/>
          <a:p>
            <a:r>
              <a:rPr lang="en-US" altLang="en-US" sz="2400" smtClean="0">
                <a:solidFill>
                  <a:srgbClr val="C00000"/>
                </a:solidFill>
                <a:ea typeface="ＭＳ Ｐゴシック" pitchFamily="34" charset="-128"/>
              </a:rPr>
              <a:t>cipher-text only attack: </a:t>
            </a:r>
            <a:r>
              <a:rPr lang="en-US" altLang="en-US" sz="2400" smtClean="0">
                <a:ea typeface="ＭＳ Ｐゴシック" pitchFamily="34" charset="-128"/>
              </a:rPr>
              <a:t>Trudy has ciphertext she can analyze</a:t>
            </a:r>
          </a:p>
          <a:p>
            <a:r>
              <a:rPr lang="en-US" altLang="en-US" sz="2400" smtClean="0">
                <a:solidFill>
                  <a:srgbClr val="C00000"/>
                </a:solidFill>
                <a:ea typeface="ＭＳ Ｐゴシック" pitchFamily="34" charset="-128"/>
              </a:rPr>
              <a:t>two approaches:</a:t>
            </a:r>
          </a:p>
          <a:p>
            <a:pPr lvl="1"/>
            <a:r>
              <a:rPr lang="en-US" altLang="en-US" smtClean="0">
                <a:ea typeface="ＭＳ Ｐゴシック" pitchFamily="34" charset="-128"/>
              </a:rPr>
              <a:t>brute force: search through all keys </a:t>
            </a:r>
          </a:p>
          <a:p>
            <a:pPr lvl="1"/>
            <a:r>
              <a:rPr lang="en-US" altLang="en-US" smtClean="0">
                <a:ea typeface="ＭＳ Ｐゴシック" pitchFamily="34" charset="-128"/>
              </a:rPr>
              <a:t>statistical analysis</a:t>
            </a:r>
          </a:p>
        </p:txBody>
      </p:sp>
      <p:sp>
        <p:nvSpPr>
          <p:cNvPr id="36868" name="Rectangle 4"/>
          <p:cNvSpPr>
            <a:spLocks noGrp="1" noChangeArrowheads="1"/>
          </p:cNvSpPr>
          <p:nvPr>
            <p:ph type="body" sz="half" idx="2"/>
          </p:nvPr>
        </p:nvSpPr>
        <p:spPr>
          <a:xfrm>
            <a:off x="4495800" y="1600200"/>
            <a:ext cx="4119563" cy="4648200"/>
          </a:xfrm>
        </p:spPr>
        <p:txBody>
          <a:bodyPr/>
          <a:lstStyle/>
          <a:p>
            <a:r>
              <a:rPr lang="en-US" altLang="en-US" sz="2400" smtClean="0">
                <a:solidFill>
                  <a:srgbClr val="C00000"/>
                </a:solidFill>
                <a:ea typeface="ＭＳ Ｐゴシック" pitchFamily="34" charset="-128"/>
              </a:rPr>
              <a:t>known-plaintext attack: </a:t>
            </a:r>
            <a:r>
              <a:rPr lang="en-US" altLang="en-US" sz="2400" smtClean="0">
                <a:ea typeface="ＭＳ Ｐゴシック" pitchFamily="34" charset="-128"/>
              </a:rPr>
              <a:t>Trudy has plaintext corresponding to ciphertext</a:t>
            </a:r>
          </a:p>
          <a:p>
            <a:pPr lvl="1"/>
            <a:r>
              <a:rPr lang="en-US" altLang="en-US" smtClean="0">
                <a:ea typeface="ＭＳ Ｐゴシック" pitchFamily="34" charset="-128"/>
              </a:rPr>
              <a:t>e.g., in monoalphabetic cipher, Trudy determines pairings for a,l,i,c,e,b,o,</a:t>
            </a:r>
          </a:p>
          <a:p>
            <a:r>
              <a:rPr lang="en-US" altLang="en-US" sz="2400" smtClean="0">
                <a:solidFill>
                  <a:srgbClr val="C00000"/>
                </a:solidFill>
                <a:ea typeface="ＭＳ Ｐゴシック" pitchFamily="34" charset="-128"/>
              </a:rPr>
              <a:t>chosen-plaintext attack: </a:t>
            </a:r>
            <a:r>
              <a:rPr lang="en-US" altLang="en-US" sz="2400" smtClean="0">
                <a:ea typeface="ＭＳ Ｐゴシック" pitchFamily="34" charset="-128"/>
              </a:rPr>
              <a:t>Trudy can get ciphertext for chosen plaintext</a:t>
            </a:r>
          </a:p>
          <a:p>
            <a:pPr>
              <a:buFont typeface="Wingdings" pitchFamily="2" charset="2"/>
              <a:buNone/>
            </a:pPr>
            <a:endParaRPr lang="en-US" altLang="en-US" sz="2400" smtClean="0">
              <a:ea typeface="ＭＳ Ｐゴシック" pitchFamily="34" charset="-128"/>
            </a:endParaRPr>
          </a:p>
        </p:txBody>
      </p:sp>
      <p:pic>
        <p:nvPicPr>
          <p:cNvPr id="36869" name="Picture 16"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150" y="1054100"/>
            <a:ext cx="7313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7890" name="Rectangle 2"/>
          <p:cNvSpPr>
            <a:spLocks noGrp="1" noChangeArrowheads="1"/>
          </p:cNvSpPr>
          <p:nvPr>
            <p:ph type="title"/>
          </p:nvPr>
        </p:nvSpPr>
        <p:spPr>
          <a:xfrm>
            <a:off x="381000" y="141288"/>
            <a:ext cx="7772400" cy="1143000"/>
          </a:xfrm>
        </p:spPr>
        <p:txBody>
          <a:bodyPr/>
          <a:lstStyle/>
          <a:p>
            <a:r>
              <a:rPr lang="en-US" altLang="en-US" sz="3600" smtClean="0">
                <a:ea typeface="ＭＳ Ｐゴシック" pitchFamily="34" charset="-128"/>
              </a:rPr>
              <a:t>Symmetric key cryptography</a:t>
            </a:r>
            <a:endParaRPr lang="en-US" altLang="en-US" smtClean="0">
              <a:ea typeface="ＭＳ Ｐゴシック" pitchFamily="34" charset="-128"/>
            </a:endParaRPr>
          </a:p>
        </p:txBody>
      </p:sp>
      <p:sp>
        <p:nvSpPr>
          <p:cNvPr id="37891" name="Rectangle 3"/>
          <p:cNvSpPr>
            <a:spLocks noGrp="1" noChangeArrowheads="1"/>
          </p:cNvSpPr>
          <p:nvPr>
            <p:ph type="body" idx="1"/>
          </p:nvPr>
        </p:nvSpPr>
        <p:spPr>
          <a:xfrm>
            <a:off x="625475" y="4021138"/>
            <a:ext cx="8218488" cy="1979612"/>
          </a:xfrm>
        </p:spPr>
        <p:txBody>
          <a:bodyPr/>
          <a:lstStyle/>
          <a:p>
            <a:pPr>
              <a:lnSpc>
                <a:spcPct val="90000"/>
              </a:lnSpc>
              <a:buFont typeface="Wingdings" pitchFamily="2" charset="2"/>
              <a:buNone/>
            </a:pPr>
            <a:r>
              <a:rPr lang="en-US" altLang="en-US" sz="2400" smtClean="0">
                <a:solidFill>
                  <a:srgbClr val="C00000"/>
                </a:solidFill>
                <a:ea typeface="ＭＳ Ｐゴシック" pitchFamily="34" charset="-128"/>
              </a:rPr>
              <a:t>symmetric key crypto</a:t>
            </a:r>
            <a:r>
              <a:rPr lang="en-US" altLang="en-US" sz="2400" smtClean="0">
                <a:ea typeface="ＭＳ Ｐゴシック" pitchFamily="34" charset="-128"/>
              </a:rPr>
              <a:t>: Bob and Alice share same (symmetric) key: K</a:t>
            </a:r>
          </a:p>
          <a:p>
            <a:pPr>
              <a:lnSpc>
                <a:spcPct val="90000"/>
              </a:lnSpc>
            </a:pPr>
            <a:r>
              <a:rPr lang="en-US" altLang="en-US" sz="2400" smtClean="0">
                <a:ea typeface="ＭＳ Ｐゴシック" pitchFamily="34" charset="-128"/>
              </a:rPr>
              <a:t>e.g., key is knowing substitution pattern in mono alphabetic substitution cipher</a:t>
            </a:r>
          </a:p>
          <a:p>
            <a:pPr>
              <a:lnSpc>
                <a:spcPct val="90000"/>
              </a:lnSpc>
              <a:buFont typeface="Wingdings" pitchFamily="2" charset="2"/>
              <a:buNone/>
            </a:pPr>
            <a:r>
              <a:rPr lang="en-US" altLang="en-US" sz="2400" i="1" u="sng" smtClean="0">
                <a:solidFill>
                  <a:srgbClr val="C00000"/>
                </a:solidFill>
                <a:ea typeface="ＭＳ Ｐゴシック" pitchFamily="34" charset="-128"/>
              </a:rPr>
              <a:t>Q:</a:t>
            </a:r>
            <a:r>
              <a:rPr lang="en-US" altLang="en-US" sz="2400" i="1" smtClean="0">
                <a:solidFill>
                  <a:srgbClr val="C00000"/>
                </a:solidFill>
                <a:ea typeface="ＭＳ Ｐゴシック" pitchFamily="34" charset="-128"/>
              </a:rPr>
              <a:t> </a:t>
            </a:r>
            <a:r>
              <a:rPr lang="en-US" altLang="en-US" sz="2400" smtClean="0">
                <a:ea typeface="ＭＳ Ｐゴシック" pitchFamily="34" charset="-128"/>
              </a:rPr>
              <a:t>how do Bob and Alice agree on key value?</a:t>
            </a:r>
            <a:endParaRPr lang="en-US" altLang="en-US" sz="2400" i="1" smtClean="0">
              <a:ea typeface="ＭＳ Ｐゴシック" pitchFamily="34" charset="-128"/>
            </a:endParaRPr>
          </a:p>
        </p:txBody>
      </p:sp>
      <p:sp>
        <p:nvSpPr>
          <p:cNvPr id="37892" name="Text Box 4"/>
          <p:cNvSpPr txBox="1">
            <a:spLocks noChangeArrowheads="1"/>
          </p:cNvSpPr>
          <p:nvPr/>
        </p:nvSpPr>
        <p:spPr bwMode="auto">
          <a:xfrm>
            <a:off x="6546850" y="2632075"/>
            <a:ext cx="1141413"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plaintext</a:t>
            </a:r>
          </a:p>
        </p:txBody>
      </p:sp>
      <p:sp>
        <p:nvSpPr>
          <p:cNvPr id="37893" name="Text Box 5"/>
          <p:cNvSpPr txBox="1">
            <a:spLocks noChangeArrowheads="1"/>
          </p:cNvSpPr>
          <p:nvPr/>
        </p:nvSpPr>
        <p:spPr bwMode="auto">
          <a:xfrm>
            <a:off x="3543300" y="2613025"/>
            <a:ext cx="1295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ciphertext</a:t>
            </a:r>
          </a:p>
        </p:txBody>
      </p:sp>
      <p:grpSp>
        <p:nvGrpSpPr>
          <p:cNvPr id="37894" name="Group 6"/>
          <p:cNvGrpSpPr>
            <a:grpSpLocks/>
          </p:cNvGrpSpPr>
          <p:nvPr/>
        </p:nvGrpSpPr>
        <p:grpSpPr bwMode="auto">
          <a:xfrm>
            <a:off x="2165350" y="1716088"/>
            <a:ext cx="642938" cy="579437"/>
            <a:chOff x="1382" y="1036"/>
            <a:chExt cx="405" cy="365"/>
          </a:xfrm>
        </p:grpSpPr>
        <p:sp>
          <p:nvSpPr>
            <p:cNvPr id="37917" name="Text Box 7"/>
            <p:cNvSpPr txBox="1">
              <a:spLocks noChangeArrowheads="1"/>
            </p:cNvSpPr>
            <p:nvPr/>
          </p:nvSpPr>
          <p:spPr bwMode="auto">
            <a:xfrm>
              <a:off x="1382" y="1036"/>
              <a:ext cx="246" cy="2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K</a:t>
              </a:r>
            </a:p>
          </p:txBody>
        </p:sp>
        <p:sp>
          <p:nvSpPr>
            <p:cNvPr id="37918" name="Text Box 8"/>
            <p:cNvSpPr txBox="1">
              <a:spLocks noChangeArrowheads="1"/>
            </p:cNvSpPr>
            <p:nvPr/>
          </p:nvSpPr>
          <p:spPr bwMode="auto">
            <a:xfrm>
              <a:off x="1560" y="1151"/>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S</a:t>
              </a:r>
            </a:p>
          </p:txBody>
        </p:sp>
      </p:grpSp>
      <p:pic>
        <p:nvPicPr>
          <p:cNvPr id="37895" name="Picture 9"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0950" y="1666875"/>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6" name="Rectangle 10"/>
          <p:cNvSpPr>
            <a:spLocks noChangeArrowheads="1"/>
          </p:cNvSpPr>
          <p:nvPr/>
        </p:nvSpPr>
        <p:spPr bwMode="auto">
          <a:xfrm>
            <a:off x="1982788" y="2573338"/>
            <a:ext cx="1392237" cy="803275"/>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37897" name="Text Box 11"/>
          <p:cNvSpPr txBox="1">
            <a:spLocks noChangeArrowheads="1"/>
          </p:cNvSpPr>
          <p:nvPr/>
        </p:nvSpPr>
        <p:spPr bwMode="auto">
          <a:xfrm>
            <a:off x="2008188" y="2582863"/>
            <a:ext cx="13684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chemeClr val="bg1"/>
                </a:solidFill>
                <a:latin typeface="Arial" pitchFamily="34" charset="0"/>
                <a:cs typeface="Arial" pitchFamily="34" charset="0"/>
              </a:rPr>
              <a:t>encryption</a:t>
            </a:r>
          </a:p>
          <a:p>
            <a:pPr algn="ctr"/>
            <a:r>
              <a:rPr lang="en-US" altLang="en-US">
                <a:solidFill>
                  <a:schemeClr val="bg1"/>
                </a:solidFill>
                <a:latin typeface="Arial" pitchFamily="34" charset="0"/>
                <a:cs typeface="Arial" pitchFamily="34" charset="0"/>
              </a:rPr>
              <a:t>algorithm</a:t>
            </a:r>
          </a:p>
        </p:txBody>
      </p:sp>
      <p:sp>
        <p:nvSpPr>
          <p:cNvPr id="37898" name="Rectangle 12"/>
          <p:cNvSpPr>
            <a:spLocks noChangeArrowheads="1"/>
          </p:cNvSpPr>
          <p:nvPr/>
        </p:nvSpPr>
        <p:spPr bwMode="auto">
          <a:xfrm>
            <a:off x="5100638" y="2571750"/>
            <a:ext cx="1377950" cy="803275"/>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37899" name="Text Box 13"/>
          <p:cNvSpPr txBox="1">
            <a:spLocks noChangeArrowheads="1"/>
          </p:cNvSpPr>
          <p:nvPr/>
        </p:nvSpPr>
        <p:spPr bwMode="auto">
          <a:xfrm>
            <a:off x="5121275" y="2595563"/>
            <a:ext cx="14382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chemeClr val="bg1"/>
                </a:solidFill>
                <a:latin typeface="Arial" pitchFamily="34" charset="0"/>
                <a:cs typeface="Arial" pitchFamily="34" charset="0"/>
              </a:rPr>
              <a:t>decryption </a:t>
            </a:r>
          </a:p>
          <a:p>
            <a:pPr algn="ctr"/>
            <a:r>
              <a:rPr lang="en-US" altLang="en-US">
                <a:solidFill>
                  <a:schemeClr val="bg1"/>
                </a:solidFill>
                <a:latin typeface="Arial" pitchFamily="34" charset="0"/>
                <a:cs typeface="Arial" pitchFamily="34" charset="0"/>
              </a:rPr>
              <a:t>algorithm</a:t>
            </a:r>
          </a:p>
        </p:txBody>
      </p:sp>
      <p:sp>
        <p:nvSpPr>
          <p:cNvPr id="37900" name="Line 14"/>
          <p:cNvSpPr>
            <a:spLocks noChangeShapeType="1"/>
          </p:cNvSpPr>
          <p:nvPr/>
        </p:nvSpPr>
        <p:spPr bwMode="auto">
          <a:xfrm>
            <a:off x="3403600" y="2986088"/>
            <a:ext cx="1692275" cy="79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37901" name="Line 15"/>
          <p:cNvSpPr>
            <a:spLocks noChangeShapeType="1"/>
          </p:cNvSpPr>
          <p:nvPr/>
        </p:nvSpPr>
        <p:spPr bwMode="auto">
          <a:xfrm flipH="1">
            <a:off x="2373313" y="2193925"/>
            <a:ext cx="1587" cy="3921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37902" name="Picture 16" descr="Bo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5788" y="1855788"/>
            <a:ext cx="812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3" name="Line 17"/>
          <p:cNvSpPr>
            <a:spLocks noChangeShapeType="1"/>
          </p:cNvSpPr>
          <p:nvPr/>
        </p:nvSpPr>
        <p:spPr bwMode="auto">
          <a:xfrm>
            <a:off x="1238250" y="3011488"/>
            <a:ext cx="6746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37904" name="Line 18"/>
          <p:cNvSpPr>
            <a:spLocks noChangeShapeType="1"/>
          </p:cNvSpPr>
          <p:nvPr/>
        </p:nvSpPr>
        <p:spPr bwMode="auto">
          <a:xfrm>
            <a:off x="6548438" y="3008313"/>
            <a:ext cx="6746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37905" name="Picture 19" descr="BS00768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flipV="1">
            <a:off x="2511425" y="1639888"/>
            <a:ext cx="465138"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6" name="Text Box 20"/>
          <p:cNvSpPr txBox="1">
            <a:spLocks noChangeArrowheads="1"/>
          </p:cNvSpPr>
          <p:nvPr/>
        </p:nvSpPr>
        <p:spPr bwMode="auto">
          <a:xfrm>
            <a:off x="1773238" y="4481513"/>
            <a:ext cx="3254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S</a:t>
            </a:r>
          </a:p>
        </p:txBody>
      </p:sp>
      <p:grpSp>
        <p:nvGrpSpPr>
          <p:cNvPr id="37907" name="Group 21"/>
          <p:cNvGrpSpPr>
            <a:grpSpLocks/>
          </p:cNvGrpSpPr>
          <p:nvPr/>
        </p:nvGrpSpPr>
        <p:grpSpPr bwMode="auto">
          <a:xfrm>
            <a:off x="5351463" y="1665288"/>
            <a:ext cx="642937" cy="579437"/>
            <a:chOff x="1382" y="1036"/>
            <a:chExt cx="405" cy="365"/>
          </a:xfrm>
        </p:grpSpPr>
        <p:sp>
          <p:nvSpPr>
            <p:cNvPr id="37915" name="Text Box 22"/>
            <p:cNvSpPr txBox="1">
              <a:spLocks noChangeArrowheads="1"/>
            </p:cNvSpPr>
            <p:nvPr/>
          </p:nvSpPr>
          <p:spPr bwMode="auto">
            <a:xfrm>
              <a:off x="1382" y="1036"/>
              <a:ext cx="246" cy="2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K</a:t>
              </a:r>
            </a:p>
          </p:txBody>
        </p:sp>
        <p:sp>
          <p:nvSpPr>
            <p:cNvPr id="37916" name="Text Box 23"/>
            <p:cNvSpPr txBox="1">
              <a:spLocks noChangeArrowheads="1"/>
            </p:cNvSpPr>
            <p:nvPr/>
          </p:nvSpPr>
          <p:spPr bwMode="auto">
            <a:xfrm>
              <a:off x="1560" y="1151"/>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S</a:t>
              </a:r>
            </a:p>
          </p:txBody>
        </p:sp>
      </p:grpSp>
      <p:sp>
        <p:nvSpPr>
          <p:cNvPr id="37908" name="Line 24"/>
          <p:cNvSpPr>
            <a:spLocks noChangeShapeType="1"/>
          </p:cNvSpPr>
          <p:nvPr/>
        </p:nvSpPr>
        <p:spPr bwMode="auto">
          <a:xfrm flipH="1">
            <a:off x="5559425" y="2143125"/>
            <a:ext cx="1588" cy="3921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37909" name="Picture 25" descr="BS00768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flipV="1">
            <a:off x="5697538" y="1589088"/>
            <a:ext cx="465137"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10" name="Text Box 26"/>
          <p:cNvSpPr txBox="1">
            <a:spLocks noChangeArrowheads="1"/>
          </p:cNvSpPr>
          <p:nvPr/>
        </p:nvSpPr>
        <p:spPr bwMode="auto">
          <a:xfrm>
            <a:off x="355600" y="2643188"/>
            <a:ext cx="15795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plaintext</a:t>
            </a:r>
          </a:p>
          <a:p>
            <a:pPr algn="ctr"/>
            <a:r>
              <a:rPr lang="en-US" altLang="en-US">
                <a:solidFill>
                  <a:srgbClr val="C00000"/>
                </a:solidFill>
                <a:latin typeface="Arial" pitchFamily="34" charset="0"/>
                <a:cs typeface="Arial" pitchFamily="34" charset="0"/>
              </a:rPr>
              <a:t>message, m</a:t>
            </a:r>
          </a:p>
        </p:txBody>
      </p:sp>
      <p:sp>
        <p:nvSpPr>
          <p:cNvPr id="37911" name="Text Box 27"/>
          <p:cNvSpPr txBox="1">
            <a:spLocks noChangeArrowheads="1"/>
          </p:cNvSpPr>
          <p:nvPr/>
        </p:nvSpPr>
        <p:spPr bwMode="auto">
          <a:xfrm>
            <a:off x="3662363" y="3149600"/>
            <a:ext cx="1028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K    (m)</a:t>
            </a:r>
          </a:p>
        </p:txBody>
      </p:sp>
      <p:sp>
        <p:nvSpPr>
          <p:cNvPr id="37912" name="Text Box 28"/>
          <p:cNvSpPr txBox="1">
            <a:spLocks noChangeArrowheads="1"/>
          </p:cNvSpPr>
          <p:nvPr/>
        </p:nvSpPr>
        <p:spPr bwMode="auto">
          <a:xfrm>
            <a:off x="3914775" y="3341688"/>
            <a:ext cx="3254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FF0000"/>
                </a:solidFill>
                <a:latin typeface="Arial" pitchFamily="34" charset="0"/>
                <a:cs typeface="Arial" pitchFamily="34" charset="0"/>
              </a:rPr>
              <a:t>S</a:t>
            </a:r>
          </a:p>
        </p:txBody>
      </p:sp>
      <p:sp>
        <p:nvSpPr>
          <p:cNvPr id="37913" name="Text Box 35"/>
          <p:cNvSpPr txBox="1">
            <a:spLocks noChangeArrowheads="1"/>
          </p:cNvSpPr>
          <p:nvPr/>
        </p:nvSpPr>
        <p:spPr bwMode="auto">
          <a:xfrm>
            <a:off x="6689725" y="3141663"/>
            <a:ext cx="1811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C00000"/>
                </a:solidFill>
                <a:latin typeface="Arial" pitchFamily="34" charset="0"/>
                <a:cs typeface="Arial" pitchFamily="34" charset="0"/>
              </a:rPr>
              <a:t>m = K</a:t>
            </a:r>
            <a:r>
              <a:rPr lang="en-US" altLang="en-US" baseline="-25000">
                <a:solidFill>
                  <a:srgbClr val="C00000"/>
                </a:solidFill>
                <a:latin typeface="Arial" pitchFamily="34" charset="0"/>
                <a:cs typeface="Arial" pitchFamily="34" charset="0"/>
              </a:rPr>
              <a:t>S</a:t>
            </a:r>
            <a:r>
              <a:rPr lang="en-US" altLang="en-US">
                <a:solidFill>
                  <a:srgbClr val="C00000"/>
                </a:solidFill>
                <a:latin typeface="Arial" pitchFamily="34" charset="0"/>
                <a:cs typeface="Arial" pitchFamily="34" charset="0"/>
              </a:rPr>
              <a:t>(K</a:t>
            </a:r>
            <a:r>
              <a:rPr lang="en-US" altLang="en-US" baseline="-25000">
                <a:solidFill>
                  <a:srgbClr val="C00000"/>
                </a:solidFill>
                <a:latin typeface="Arial" pitchFamily="34" charset="0"/>
                <a:cs typeface="Arial" pitchFamily="34" charset="0"/>
              </a:rPr>
              <a:t>S</a:t>
            </a:r>
            <a:r>
              <a:rPr lang="en-US" altLang="en-US">
                <a:solidFill>
                  <a:srgbClr val="C00000"/>
                </a:solidFill>
                <a:latin typeface="Arial" pitchFamily="34" charset="0"/>
                <a:cs typeface="Arial" pitchFamily="34" charset="0"/>
              </a:rPr>
              <a:t>(m))</a:t>
            </a:r>
          </a:p>
        </p:txBody>
      </p:sp>
      <p:pic>
        <p:nvPicPr>
          <p:cNvPr id="37914" name="Picture 20"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 y="950913"/>
            <a:ext cx="54848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8914" name="Rectangle 2"/>
          <p:cNvSpPr>
            <a:spLocks noGrp="1" noChangeArrowheads="1"/>
          </p:cNvSpPr>
          <p:nvPr>
            <p:ph type="title" idx="4294967295"/>
          </p:nvPr>
        </p:nvSpPr>
        <p:spPr>
          <a:xfrm>
            <a:off x="468313" y="109538"/>
            <a:ext cx="7772400" cy="1143000"/>
          </a:xfrm>
        </p:spPr>
        <p:txBody>
          <a:bodyPr/>
          <a:lstStyle/>
          <a:p>
            <a:r>
              <a:rPr lang="en-US" altLang="en-US" smtClean="0">
                <a:ea typeface="ＭＳ Ｐゴシック" pitchFamily="34" charset="-128"/>
              </a:rPr>
              <a:t>Simple encryption scheme</a:t>
            </a:r>
          </a:p>
        </p:txBody>
      </p:sp>
      <p:sp>
        <p:nvSpPr>
          <p:cNvPr id="38915" name="Rectangle 3"/>
          <p:cNvSpPr>
            <a:spLocks noGrp="1" noChangeArrowheads="1"/>
          </p:cNvSpPr>
          <p:nvPr>
            <p:ph type="body" idx="4294967295"/>
          </p:nvPr>
        </p:nvSpPr>
        <p:spPr>
          <a:xfrm>
            <a:off x="544513" y="1398588"/>
            <a:ext cx="8077200" cy="1214437"/>
          </a:xfrm>
        </p:spPr>
        <p:txBody>
          <a:bodyPr/>
          <a:lstStyle/>
          <a:p>
            <a:pPr>
              <a:buFont typeface="Wingdings" pitchFamily="2" charset="2"/>
              <a:buNone/>
            </a:pPr>
            <a:r>
              <a:rPr lang="en-US" altLang="en-US" i="1" smtClean="0">
                <a:solidFill>
                  <a:srgbClr val="C00000"/>
                </a:solidFill>
                <a:ea typeface="ＭＳ Ｐゴシック" pitchFamily="34" charset="-128"/>
              </a:rPr>
              <a:t>substitution cipher: </a:t>
            </a:r>
            <a:r>
              <a:rPr lang="en-US" altLang="en-US" sz="2400" smtClean="0">
                <a:ea typeface="ＭＳ Ｐゴシック" pitchFamily="34" charset="-128"/>
              </a:rPr>
              <a:t>substituting one thing for another</a:t>
            </a:r>
          </a:p>
          <a:p>
            <a:pPr lvl="1"/>
            <a:r>
              <a:rPr lang="en-US" altLang="en-US" sz="2000" smtClean="0">
                <a:ea typeface="ＭＳ Ｐゴシック" pitchFamily="34" charset="-128"/>
              </a:rPr>
              <a:t>monoalphabetic cipher: substitute one letter for another</a:t>
            </a:r>
            <a:endParaRPr lang="en-US" altLang="en-US" smtClean="0">
              <a:ea typeface="ＭＳ Ｐゴシック" pitchFamily="34" charset="-128"/>
            </a:endParaRPr>
          </a:p>
        </p:txBody>
      </p:sp>
      <p:sp>
        <p:nvSpPr>
          <p:cNvPr id="38916" name="Rectangle 4"/>
          <p:cNvSpPr>
            <a:spLocks noChangeArrowheads="1"/>
          </p:cNvSpPr>
          <p:nvPr/>
        </p:nvSpPr>
        <p:spPr bwMode="auto">
          <a:xfrm>
            <a:off x="1174750" y="2516188"/>
            <a:ext cx="7121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b="1">
                <a:latin typeface="Courier New" pitchFamily="49" charset="0"/>
              </a:rPr>
              <a:t>plaintext:  abcdefghijklmnopqrstuvwxyz</a:t>
            </a:r>
          </a:p>
        </p:txBody>
      </p:sp>
      <p:sp>
        <p:nvSpPr>
          <p:cNvPr id="38917" name="Rectangle 5"/>
          <p:cNvSpPr>
            <a:spLocks noChangeArrowheads="1"/>
          </p:cNvSpPr>
          <p:nvPr/>
        </p:nvSpPr>
        <p:spPr bwMode="auto">
          <a:xfrm>
            <a:off x="1011238" y="3295650"/>
            <a:ext cx="7304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b="1">
                <a:latin typeface="Courier New" pitchFamily="49" charset="0"/>
              </a:rPr>
              <a:t>ciphertext:  mnbvcxzasdfghjklpoiuytrewq</a:t>
            </a:r>
          </a:p>
        </p:txBody>
      </p:sp>
      <p:sp>
        <p:nvSpPr>
          <p:cNvPr id="38918" name="Line 6"/>
          <p:cNvSpPr>
            <a:spLocks noChangeShapeType="1"/>
          </p:cNvSpPr>
          <p:nvPr/>
        </p:nvSpPr>
        <p:spPr bwMode="auto">
          <a:xfrm>
            <a:off x="3536950" y="2925763"/>
            <a:ext cx="0" cy="49371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38919" name="Line 7"/>
          <p:cNvSpPr>
            <a:spLocks noChangeShapeType="1"/>
          </p:cNvSpPr>
          <p:nvPr/>
        </p:nvSpPr>
        <p:spPr bwMode="auto">
          <a:xfrm>
            <a:off x="8110538" y="2889250"/>
            <a:ext cx="0" cy="49371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38920" name="Rectangle 8"/>
          <p:cNvSpPr>
            <a:spLocks noChangeArrowheads="1"/>
          </p:cNvSpPr>
          <p:nvPr/>
        </p:nvSpPr>
        <p:spPr bwMode="auto">
          <a:xfrm>
            <a:off x="2120900" y="4067175"/>
            <a:ext cx="6208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b="1">
                <a:latin typeface="Courier New" pitchFamily="49" charset="0"/>
              </a:rPr>
              <a:t>Plaintext: bob. i love you. alice</a:t>
            </a:r>
          </a:p>
        </p:txBody>
      </p:sp>
      <p:sp>
        <p:nvSpPr>
          <p:cNvPr id="38921" name="Rectangle 9"/>
          <p:cNvSpPr>
            <a:spLocks noChangeArrowheads="1"/>
          </p:cNvSpPr>
          <p:nvPr/>
        </p:nvSpPr>
        <p:spPr bwMode="auto">
          <a:xfrm>
            <a:off x="1965325" y="4492625"/>
            <a:ext cx="6391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b="1">
                <a:latin typeface="Courier New" pitchFamily="49" charset="0"/>
              </a:rPr>
              <a:t>ciphertext: nkn. s gktc wky. mgsbc</a:t>
            </a:r>
          </a:p>
        </p:txBody>
      </p:sp>
      <p:sp>
        <p:nvSpPr>
          <p:cNvPr id="38922" name="Text Box 10"/>
          <p:cNvSpPr txBox="1">
            <a:spLocks noChangeArrowheads="1"/>
          </p:cNvSpPr>
          <p:nvPr/>
        </p:nvSpPr>
        <p:spPr bwMode="auto">
          <a:xfrm>
            <a:off x="1184275" y="4002088"/>
            <a:ext cx="7826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000099"/>
                </a:solidFill>
                <a:latin typeface="Arial" pitchFamily="34" charset="0"/>
                <a:cs typeface="Arial" pitchFamily="34" charset="0"/>
              </a:rPr>
              <a:t>e.g.:</a:t>
            </a:r>
          </a:p>
        </p:txBody>
      </p:sp>
      <p:sp>
        <p:nvSpPr>
          <p:cNvPr id="38923" name="Text Box 12"/>
          <p:cNvSpPr txBox="1">
            <a:spLocks noChangeArrowheads="1"/>
          </p:cNvSpPr>
          <p:nvPr/>
        </p:nvSpPr>
        <p:spPr bwMode="auto">
          <a:xfrm>
            <a:off x="1546225" y="5332413"/>
            <a:ext cx="67945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554163">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i="1">
                <a:solidFill>
                  <a:srgbClr val="C00000"/>
                </a:solidFill>
                <a:latin typeface="Gill Sans MT" pitchFamily="34" charset="0"/>
              </a:rPr>
              <a:t>Encryption key: </a:t>
            </a:r>
            <a:r>
              <a:rPr lang="en-US" altLang="en-US" sz="2800">
                <a:latin typeface="Gill Sans MT" pitchFamily="34" charset="0"/>
              </a:rPr>
              <a:t>mapping from set of 26 letters</a:t>
            </a:r>
          </a:p>
          <a:p>
            <a:r>
              <a:rPr lang="en-US" altLang="en-US" sz="2800">
                <a:latin typeface="Gill Sans MT" pitchFamily="34" charset="0"/>
              </a:rPr>
              <a:t>                     to set of 26 letters</a:t>
            </a:r>
          </a:p>
        </p:txBody>
      </p:sp>
      <p:pic>
        <p:nvPicPr>
          <p:cNvPr id="38924" name="Picture 19"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138" y="936625"/>
            <a:ext cx="5942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5" name="Picture 25"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1027113" y="5475288"/>
            <a:ext cx="465137"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9938" name="Rectangle 2"/>
          <p:cNvSpPr>
            <a:spLocks noGrp="1" noChangeArrowheads="1"/>
          </p:cNvSpPr>
          <p:nvPr>
            <p:ph type="title" idx="4294967295"/>
          </p:nvPr>
        </p:nvSpPr>
        <p:spPr>
          <a:xfrm>
            <a:off x="347663" y="0"/>
            <a:ext cx="8353425" cy="1143000"/>
          </a:xfrm>
        </p:spPr>
        <p:txBody>
          <a:bodyPr/>
          <a:lstStyle/>
          <a:p>
            <a:r>
              <a:rPr lang="en-US" altLang="en-US" sz="3200" smtClean="0">
                <a:ea typeface="ＭＳ Ｐゴシック" pitchFamily="34" charset="-128"/>
              </a:rPr>
              <a:t>A more sophisticated encryption approach</a:t>
            </a:r>
          </a:p>
        </p:txBody>
      </p:sp>
      <p:sp>
        <p:nvSpPr>
          <p:cNvPr id="39939" name="Rectangle 3"/>
          <p:cNvSpPr>
            <a:spLocks noGrp="1" noChangeArrowheads="1"/>
          </p:cNvSpPr>
          <p:nvPr>
            <p:ph type="body" idx="4294967295"/>
          </p:nvPr>
        </p:nvSpPr>
        <p:spPr>
          <a:xfrm>
            <a:off x="519113" y="1150938"/>
            <a:ext cx="8115300" cy="4648200"/>
          </a:xfrm>
        </p:spPr>
        <p:txBody>
          <a:bodyPr/>
          <a:lstStyle/>
          <a:p>
            <a:r>
              <a:rPr lang="en-US" altLang="en-US" smtClean="0">
                <a:ea typeface="ＭＳ Ｐゴシック" pitchFamily="34" charset="-128"/>
              </a:rPr>
              <a:t>n substitution ciphers, M</a:t>
            </a:r>
            <a:r>
              <a:rPr lang="en-US" altLang="en-US" baseline="-25000" smtClean="0">
                <a:ea typeface="ＭＳ Ｐゴシック" pitchFamily="34" charset="-128"/>
              </a:rPr>
              <a:t>1</a:t>
            </a:r>
            <a:r>
              <a:rPr lang="en-US" altLang="en-US" smtClean="0">
                <a:ea typeface="ＭＳ Ｐゴシック" pitchFamily="34" charset="-128"/>
              </a:rPr>
              <a:t>,M</a:t>
            </a:r>
            <a:r>
              <a:rPr lang="en-US" altLang="en-US" baseline="-25000" smtClean="0">
                <a:ea typeface="ＭＳ Ｐゴシック" pitchFamily="34" charset="-128"/>
              </a:rPr>
              <a:t>2</a:t>
            </a:r>
            <a:r>
              <a:rPr lang="en-US" altLang="en-US" smtClean="0">
                <a:ea typeface="ＭＳ Ｐゴシック" pitchFamily="34" charset="-128"/>
              </a:rPr>
              <a:t>,…,M</a:t>
            </a:r>
            <a:r>
              <a:rPr lang="en-US" altLang="en-US" baseline="-25000" smtClean="0">
                <a:ea typeface="ＭＳ Ｐゴシック" pitchFamily="34" charset="-128"/>
              </a:rPr>
              <a:t>n</a:t>
            </a:r>
          </a:p>
          <a:p>
            <a:r>
              <a:rPr lang="en-US" altLang="en-US" smtClean="0">
                <a:ea typeface="ＭＳ Ｐゴシック" pitchFamily="34" charset="-128"/>
              </a:rPr>
              <a:t>cycling pattern:</a:t>
            </a:r>
          </a:p>
          <a:p>
            <a:pPr lvl="1"/>
            <a:r>
              <a:rPr lang="en-US" altLang="en-US" smtClean="0">
                <a:solidFill>
                  <a:srgbClr val="008000"/>
                </a:solidFill>
                <a:ea typeface="ＭＳ Ｐゴシック" pitchFamily="34" charset="-128"/>
              </a:rPr>
              <a:t>e.g., n=4: M</a:t>
            </a:r>
            <a:r>
              <a:rPr lang="en-US" altLang="en-US" baseline="-25000" smtClean="0">
                <a:solidFill>
                  <a:srgbClr val="008000"/>
                </a:solidFill>
                <a:ea typeface="ＭＳ Ｐゴシック" pitchFamily="34" charset="-128"/>
              </a:rPr>
              <a:t>1</a:t>
            </a:r>
            <a:r>
              <a:rPr lang="en-US" altLang="en-US" smtClean="0">
                <a:solidFill>
                  <a:srgbClr val="008000"/>
                </a:solidFill>
                <a:ea typeface="ＭＳ Ｐゴシック" pitchFamily="34" charset="-128"/>
              </a:rPr>
              <a:t>,M</a:t>
            </a:r>
            <a:r>
              <a:rPr lang="en-US" altLang="en-US" baseline="-25000" smtClean="0">
                <a:solidFill>
                  <a:srgbClr val="008000"/>
                </a:solidFill>
                <a:ea typeface="ＭＳ Ｐゴシック" pitchFamily="34" charset="-128"/>
              </a:rPr>
              <a:t>3</a:t>
            </a:r>
            <a:r>
              <a:rPr lang="en-US" altLang="en-US" smtClean="0">
                <a:solidFill>
                  <a:srgbClr val="008000"/>
                </a:solidFill>
                <a:ea typeface="ＭＳ Ｐゴシック" pitchFamily="34" charset="-128"/>
              </a:rPr>
              <a:t>,M</a:t>
            </a:r>
            <a:r>
              <a:rPr lang="en-US" altLang="en-US" baseline="-25000" smtClean="0">
                <a:solidFill>
                  <a:srgbClr val="008000"/>
                </a:solidFill>
                <a:ea typeface="ＭＳ Ｐゴシック" pitchFamily="34" charset="-128"/>
              </a:rPr>
              <a:t>4</a:t>
            </a:r>
            <a:r>
              <a:rPr lang="en-US" altLang="en-US" smtClean="0">
                <a:solidFill>
                  <a:srgbClr val="008000"/>
                </a:solidFill>
                <a:ea typeface="ＭＳ Ｐゴシック" pitchFamily="34" charset="-128"/>
              </a:rPr>
              <a:t>,M</a:t>
            </a:r>
            <a:r>
              <a:rPr lang="en-US" altLang="en-US" baseline="-25000" smtClean="0">
                <a:solidFill>
                  <a:srgbClr val="008000"/>
                </a:solidFill>
                <a:ea typeface="ＭＳ Ｐゴシック" pitchFamily="34" charset="-128"/>
              </a:rPr>
              <a:t>3</a:t>
            </a:r>
            <a:r>
              <a:rPr lang="en-US" altLang="en-US" smtClean="0">
                <a:solidFill>
                  <a:srgbClr val="008000"/>
                </a:solidFill>
                <a:ea typeface="ＭＳ Ｐゴシック" pitchFamily="34" charset="-128"/>
              </a:rPr>
              <a:t>,M</a:t>
            </a:r>
            <a:r>
              <a:rPr lang="en-US" altLang="en-US" baseline="-25000" smtClean="0">
                <a:solidFill>
                  <a:srgbClr val="008000"/>
                </a:solidFill>
                <a:ea typeface="ＭＳ Ｐゴシック" pitchFamily="34" charset="-128"/>
              </a:rPr>
              <a:t>2</a:t>
            </a:r>
            <a:r>
              <a:rPr lang="en-US" altLang="en-US" smtClean="0">
                <a:solidFill>
                  <a:srgbClr val="008000"/>
                </a:solidFill>
                <a:ea typeface="ＭＳ Ｐゴシック" pitchFamily="34" charset="-128"/>
              </a:rPr>
              <a:t>;   M</a:t>
            </a:r>
            <a:r>
              <a:rPr lang="en-US" altLang="en-US" baseline="-25000" smtClean="0">
                <a:solidFill>
                  <a:srgbClr val="008000"/>
                </a:solidFill>
                <a:ea typeface="ＭＳ Ｐゴシック" pitchFamily="34" charset="-128"/>
              </a:rPr>
              <a:t>1</a:t>
            </a:r>
            <a:r>
              <a:rPr lang="en-US" altLang="en-US" smtClean="0">
                <a:solidFill>
                  <a:srgbClr val="008000"/>
                </a:solidFill>
                <a:ea typeface="ＭＳ Ｐゴシック" pitchFamily="34" charset="-128"/>
              </a:rPr>
              <a:t>,M</a:t>
            </a:r>
            <a:r>
              <a:rPr lang="en-US" altLang="en-US" baseline="-25000" smtClean="0">
                <a:solidFill>
                  <a:srgbClr val="008000"/>
                </a:solidFill>
                <a:ea typeface="ＭＳ Ｐゴシック" pitchFamily="34" charset="-128"/>
              </a:rPr>
              <a:t>3</a:t>
            </a:r>
            <a:r>
              <a:rPr lang="en-US" altLang="en-US" smtClean="0">
                <a:solidFill>
                  <a:srgbClr val="008000"/>
                </a:solidFill>
                <a:ea typeface="ＭＳ Ｐゴシック" pitchFamily="34" charset="-128"/>
              </a:rPr>
              <a:t>,M</a:t>
            </a:r>
            <a:r>
              <a:rPr lang="en-US" altLang="en-US" baseline="-25000" smtClean="0">
                <a:solidFill>
                  <a:srgbClr val="008000"/>
                </a:solidFill>
                <a:ea typeface="ＭＳ Ｐゴシック" pitchFamily="34" charset="-128"/>
              </a:rPr>
              <a:t>4</a:t>
            </a:r>
            <a:r>
              <a:rPr lang="en-US" altLang="en-US" smtClean="0">
                <a:solidFill>
                  <a:srgbClr val="008000"/>
                </a:solidFill>
                <a:ea typeface="ＭＳ Ｐゴシック" pitchFamily="34" charset="-128"/>
              </a:rPr>
              <a:t>,M</a:t>
            </a:r>
            <a:r>
              <a:rPr lang="en-US" altLang="en-US" baseline="-25000" smtClean="0">
                <a:solidFill>
                  <a:srgbClr val="008000"/>
                </a:solidFill>
                <a:ea typeface="ＭＳ Ｐゴシック" pitchFamily="34" charset="-128"/>
              </a:rPr>
              <a:t>3</a:t>
            </a:r>
            <a:r>
              <a:rPr lang="en-US" altLang="en-US" smtClean="0">
                <a:solidFill>
                  <a:srgbClr val="008000"/>
                </a:solidFill>
                <a:ea typeface="ＭＳ Ｐゴシック" pitchFamily="34" charset="-128"/>
              </a:rPr>
              <a:t>,M</a:t>
            </a:r>
            <a:r>
              <a:rPr lang="en-US" altLang="en-US" baseline="-25000" smtClean="0">
                <a:solidFill>
                  <a:srgbClr val="008000"/>
                </a:solidFill>
                <a:ea typeface="ＭＳ Ｐゴシック" pitchFamily="34" charset="-128"/>
              </a:rPr>
              <a:t>2</a:t>
            </a:r>
            <a:r>
              <a:rPr lang="en-US" altLang="en-US" smtClean="0">
                <a:solidFill>
                  <a:srgbClr val="008000"/>
                </a:solidFill>
                <a:ea typeface="ＭＳ Ｐゴシック" pitchFamily="34" charset="-128"/>
              </a:rPr>
              <a:t>;</a:t>
            </a:r>
            <a:r>
              <a:rPr lang="en-US" altLang="en-US" smtClean="0">
                <a:ea typeface="ＭＳ Ｐゴシック" pitchFamily="34" charset="-128"/>
              </a:rPr>
              <a:t> ..</a:t>
            </a:r>
          </a:p>
          <a:p>
            <a:r>
              <a:rPr lang="en-US" altLang="en-US" smtClean="0">
                <a:ea typeface="ＭＳ Ｐゴシック" pitchFamily="34" charset="-128"/>
              </a:rPr>
              <a:t>for each new plaintext symbol, use subsequent subsitution pattern in cyclic pattern</a:t>
            </a:r>
          </a:p>
          <a:p>
            <a:pPr lvl="1"/>
            <a:r>
              <a:rPr lang="en-US" altLang="en-US" smtClean="0">
                <a:solidFill>
                  <a:srgbClr val="008000"/>
                </a:solidFill>
                <a:ea typeface="ＭＳ Ｐゴシック" pitchFamily="34" charset="-128"/>
              </a:rPr>
              <a:t>dog: d from M</a:t>
            </a:r>
            <a:r>
              <a:rPr lang="en-US" altLang="en-US" baseline="-25000" smtClean="0">
                <a:solidFill>
                  <a:srgbClr val="008000"/>
                </a:solidFill>
                <a:ea typeface="ＭＳ Ｐゴシック" pitchFamily="34" charset="-128"/>
              </a:rPr>
              <a:t>1</a:t>
            </a:r>
            <a:r>
              <a:rPr lang="en-US" altLang="en-US" smtClean="0">
                <a:solidFill>
                  <a:srgbClr val="008000"/>
                </a:solidFill>
                <a:ea typeface="ＭＳ Ｐゴシック" pitchFamily="34" charset="-128"/>
              </a:rPr>
              <a:t>, o from M</a:t>
            </a:r>
            <a:r>
              <a:rPr lang="en-US" altLang="en-US" baseline="-25000" smtClean="0">
                <a:solidFill>
                  <a:srgbClr val="008000"/>
                </a:solidFill>
                <a:ea typeface="ＭＳ Ｐゴシック" pitchFamily="34" charset="-128"/>
              </a:rPr>
              <a:t>3</a:t>
            </a:r>
            <a:r>
              <a:rPr lang="en-US" altLang="en-US" smtClean="0">
                <a:solidFill>
                  <a:srgbClr val="008000"/>
                </a:solidFill>
                <a:ea typeface="ＭＳ Ｐゴシック" pitchFamily="34" charset="-128"/>
              </a:rPr>
              <a:t>, g from M</a:t>
            </a:r>
            <a:r>
              <a:rPr lang="en-US" altLang="en-US" baseline="-25000" smtClean="0">
                <a:solidFill>
                  <a:srgbClr val="008000"/>
                </a:solidFill>
                <a:ea typeface="ＭＳ Ｐゴシック" pitchFamily="34" charset="-128"/>
              </a:rPr>
              <a:t>4</a:t>
            </a:r>
          </a:p>
          <a:p>
            <a:pPr lvl="1"/>
            <a:endParaRPr lang="en-US" altLang="en-US" baseline="-25000" smtClean="0">
              <a:solidFill>
                <a:srgbClr val="008000"/>
              </a:solidFill>
              <a:ea typeface="ＭＳ Ｐゴシック" pitchFamily="34" charset="-128"/>
            </a:endParaRPr>
          </a:p>
          <a:p>
            <a:pPr lvl="1">
              <a:buFont typeface="Wingdings" pitchFamily="2" charset="2"/>
              <a:buNone/>
            </a:pPr>
            <a:r>
              <a:rPr lang="en-US" altLang="en-US" sz="2800" i="1" smtClean="0">
                <a:solidFill>
                  <a:srgbClr val="C00000"/>
                </a:solidFill>
                <a:ea typeface="ＭＳ Ｐゴシック" pitchFamily="34" charset="-128"/>
              </a:rPr>
              <a:t>    Encryption key: </a:t>
            </a:r>
            <a:r>
              <a:rPr lang="en-US" altLang="en-US" sz="2800" smtClean="0">
                <a:ea typeface="ＭＳ Ｐゴシック" pitchFamily="34" charset="-128"/>
              </a:rPr>
              <a:t>n substitution ciphers, and cyclic             pattern</a:t>
            </a:r>
          </a:p>
          <a:p>
            <a:pPr lvl="1"/>
            <a:r>
              <a:rPr lang="en-US" altLang="en-US" smtClean="0">
                <a:ea typeface="ＭＳ Ｐゴシック" pitchFamily="34" charset="-128"/>
              </a:rPr>
              <a:t>key need not be just n-bit pattern</a:t>
            </a:r>
          </a:p>
        </p:txBody>
      </p:sp>
      <p:pic>
        <p:nvPicPr>
          <p:cNvPr id="39940" name="Picture 16"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863" y="803275"/>
            <a:ext cx="73136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25" descr="BS00768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flipV="1">
            <a:off x="436563" y="4471988"/>
            <a:ext cx="465137"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41986" name="Rectangle 2"/>
          <p:cNvSpPr>
            <a:spLocks noGrp="1" noChangeArrowheads="1"/>
          </p:cNvSpPr>
          <p:nvPr>
            <p:ph type="title"/>
          </p:nvPr>
        </p:nvSpPr>
        <p:spPr>
          <a:xfrm>
            <a:off x="533400" y="0"/>
            <a:ext cx="7772400" cy="1143000"/>
          </a:xfrm>
        </p:spPr>
        <p:txBody>
          <a:bodyPr/>
          <a:lstStyle/>
          <a:p>
            <a:r>
              <a:rPr lang="en-US" altLang="en-US" sz="3600" smtClean="0">
                <a:ea typeface="ＭＳ Ｐゴシック" pitchFamily="34" charset="-128"/>
              </a:rPr>
              <a:t>Symmetric key crypto: DES</a:t>
            </a:r>
            <a:endParaRPr lang="en-US" altLang="en-US" smtClean="0">
              <a:ea typeface="ＭＳ Ｐゴシック" pitchFamily="34" charset="-128"/>
            </a:endParaRPr>
          </a:p>
        </p:txBody>
      </p:sp>
      <p:sp>
        <p:nvSpPr>
          <p:cNvPr id="41987" name="Rectangle 3"/>
          <p:cNvSpPr>
            <a:spLocks noGrp="1" noChangeArrowheads="1"/>
          </p:cNvSpPr>
          <p:nvPr>
            <p:ph type="body" idx="1"/>
          </p:nvPr>
        </p:nvSpPr>
        <p:spPr>
          <a:xfrm>
            <a:off x="579438" y="1206500"/>
            <a:ext cx="8278812" cy="4648200"/>
          </a:xfrm>
        </p:spPr>
        <p:txBody>
          <a:bodyPr/>
          <a:lstStyle/>
          <a:p>
            <a:pPr>
              <a:buFont typeface="Wingdings" pitchFamily="2" charset="2"/>
              <a:buNone/>
            </a:pPr>
            <a:r>
              <a:rPr lang="en-US" altLang="en-US" smtClean="0">
                <a:solidFill>
                  <a:srgbClr val="C00000"/>
                </a:solidFill>
                <a:ea typeface="ＭＳ Ｐゴシック" pitchFamily="34" charset="-128"/>
              </a:rPr>
              <a:t>DES: Data Encryption Standard</a:t>
            </a:r>
            <a:endParaRPr lang="en-US" altLang="en-US" sz="2400" smtClean="0">
              <a:solidFill>
                <a:srgbClr val="C00000"/>
              </a:solidFill>
              <a:ea typeface="ＭＳ Ｐゴシック" pitchFamily="34" charset="-128"/>
            </a:endParaRPr>
          </a:p>
          <a:p>
            <a:r>
              <a:rPr lang="en-US" altLang="en-US" sz="2400" smtClean="0">
                <a:ea typeface="ＭＳ Ｐゴシック" pitchFamily="34" charset="-128"/>
              </a:rPr>
              <a:t>US encryption standard [NIST 1993]</a:t>
            </a:r>
          </a:p>
          <a:p>
            <a:r>
              <a:rPr lang="en-US" altLang="en-US" sz="2400" smtClean="0">
                <a:ea typeface="ＭＳ Ｐゴシック" pitchFamily="34" charset="-128"/>
              </a:rPr>
              <a:t>56-bit symmetric key, 64-bit plaintext input</a:t>
            </a:r>
          </a:p>
          <a:p>
            <a:r>
              <a:rPr lang="en-US" altLang="en-US" sz="2400" smtClean="0">
                <a:ea typeface="ＭＳ Ｐゴシック" pitchFamily="34" charset="-128"/>
              </a:rPr>
              <a:t>block cipher with cipher block chaining</a:t>
            </a:r>
          </a:p>
          <a:p>
            <a:r>
              <a:rPr lang="en-US" altLang="en-US" sz="2400" smtClean="0">
                <a:ea typeface="ＭＳ Ｐゴシック" pitchFamily="34" charset="-128"/>
              </a:rPr>
              <a:t>how secure is DES?</a:t>
            </a:r>
          </a:p>
          <a:p>
            <a:pPr lvl="1"/>
            <a:r>
              <a:rPr lang="en-US" altLang="en-US" smtClean="0">
                <a:ea typeface="ＭＳ Ｐゴシック" pitchFamily="34" charset="-128"/>
              </a:rPr>
              <a:t>DES Challenge: 56-bit-key-encrypted phrase  decrypted (brute force) in less than a day</a:t>
            </a:r>
          </a:p>
          <a:p>
            <a:pPr lvl="1"/>
            <a:r>
              <a:rPr lang="en-US" altLang="en-US" smtClean="0">
                <a:ea typeface="ＭＳ Ｐゴシック" pitchFamily="34" charset="-128"/>
              </a:rPr>
              <a:t>no known good analytic attack</a:t>
            </a:r>
          </a:p>
          <a:p>
            <a:r>
              <a:rPr lang="en-US" altLang="en-US" sz="2400" smtClean="0">
                <a:ea typeface="ＭＳ Ｐゴシック" pitchFamily="34" charset="-128"/>
              </a:rPr>
              <a:t>making DES more secure:</a:t>
            </a:r>
          </a:p>
          <a:p>
            <a:pPr lvl="1"/>
            <a:r>
              <a:rPr lang="en-US" altLang="en-US" smtClean="0">
                <a:ea typeface="ＭＳ Ｐゴシック" pitchFamily="34" charset="-128"/>
              </a:rPr>
              <a:t>3DES: encrypt 3 times with 3 different keys</a:t>
            </a:r>
          </a:p>
        </p:txBody>
      </p:sp>
      <p:pic>
        <p:nvPicPr>
          <p:cNvPr id="41988"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613" y="754063"/>
            <a:ext cx="54848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43010" name="Rectangle 2"/>
          <p:cNvSpPr>
            <a:spLocks noChangeArrowheads="1"/>
          </p:cNvSpPr>
          <p:nvPr/>
        </p:nvSpPr>
        <p:spPr bwMode="auto">
          <a:xfrm>
            <a:off x="376238" y="2222500"/>
            <a:ext cx="3717925" cy="3046413"/>
          </a:xfrm>
          <a:prstGeom prst="rect">
            <a:avLst/>
          </a:prstGeom>
          <a:solidFill>
            <a:srgbClr val="FFFFFF"/>
          </a:solidFill>
          <a:ln w="19050">
            <a:solidFill>
              <a:srgbClr val="C00000"/>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43011" name="Rectangle 3"/>
          <p:cNvSpPr>
            <a:spLocks noGrp="1" noChangeArrowheads="1"/>
          </p:cNvSpPr>
          <p:nvPr>
            <p:ph type="title"/>
          </p:nvPr>
        </p:nvSpPr>
        <p:spPr>
          <a:xfrm>
            <a:off x="293688" y="304800"/>
            <a:ext cx="3927475" cy="1143000"/>
          </a:xfrm>
        </p:spPr>
        <p:txBody>
          <a:bodyPr/>
          <a:lstStyle/>
          <a:p>
            <a:pPr>
              <a:lnSpc>
                <a:spcPts val="3700"/>
              </a:lnSpc>
            </a:pPr>
            <a:r>
              <a:rPr lang="en-US" altLang="en-US" sz="3600" smtClean="0">
                <a:ea typeface="ＭＳ Ｐゴシック" pitchFamily="34" charset="-128"/>
              </a:rPr>
              <a:t>Symmetric key </a:t>
            </a:r>
            <a:br>
              <a:rPr lang="en-US" altLang="en-US" sz="3600" smtClean="0">
                <a:ea typeface="ＭＳ Ｐゴシック" pitchFamily="34" charset="-128"/>
              </a:rPr>
            </a:br>
            <a:r>
              <a:rPr lang="en-US" altLang="en-US" sz="3600" smtClean="0">
                <a:ea typeface="ＭＳ Ｐゴシック" pitchFamily="34" charset="-128"/>
              </a:rPr>
              <a:t>crypto: DES</a:t>
            </a:r>
            <a:endParaRPr lang="en-US" altLang="en-US" smtClean="0">
              <a:ea typeface="ＭＳ Ｐゴシック" pitchFamily="34" charset="-128"/>
            </a:endParaRPr>
          </a:p>
        </p:txBody>
      </p:sp>
      <p:sp>
        <p:nvSpPr>
          <p:cNvPr id="43012" name="Rectangle 4"/>
          <p:cNvSpPr>
            <a:spLocks noGrp="1" noChangeArrowheads="1"/>
          </p:cNvSpPr>
          <p:nvPr>
            <p:ph type="body" idx="1"/>
          </p:nvPr>
        </p:nvSpPr>
        <p:spPr>
          <a:xfrm>
            <a:off x="509588" y="2517775"/>
            <a:ext cx="3527425" cy="2484438"/>
          </a:xfrm>
        </p:spPr>
        <p:txBody>
          <a:bodyPr/>
          <a:lstStyle/>
          <a:p>
            <a:pPr>
              <a:buFont typeface="Wingdings" pitchFamily="2" charset="2"/>
              <a:buNone/>
            </a:pPr>
            <a:r>
              <a:rPr lang="en-US" altLang="en-US" sz="2400" smtClean="0">
                <a:ea typeface="ＭＳ Ｐゴシック" pitchFamily="34" charset="-128"/>
              </a:rPr>
              <a:t>initial permutation </a:t>
            </a:r>
          </a:p>
          <a:p>
            <a:pPr>
              <a:buFont typeface="Wingdings" pitchFamily="2" charset="2"/>
              <a:buNone/>
            </a:pPr>
            <a:r>
              <a:rPr lang="en-US" altLang="en-US" sz="2400" smtClean="0">
                <a:ea typeface="ＭＳ Ｐゴシック" pitchFamily="34" charset="-128"/>
              </a:rPr>
              <a:t>16 identical </a:t>
            </a:r>
            <a:r>
              <a:rPr lang="ja-JP" altLang="en-US" sz="2400" smtClean="0">
                <a:ea typeface="ＭＳ Ｐゴシック" pitchFamily="34" charset="-128"/>
              </a:rPr>
              <a:t>“</a:t>
            </a:r>
            <a:r>
              <a:rPr lang="en-US" altLang="ja-JP" sz="2400" smtClean="0">
                <a:ea typeface="ＭＳ Ｐゴシック" pitchFamily="34" charset="-128"/>
              </a:rPr>
              <a:t>rounds</a:t>
            </a:r>
            <a:r>
              <a:rPr lang="ja-JP" altLang="en-US" sz="2400" smtClean="0">
                <a:ea typeface="ＭＳ Ｐゴシック" pitchFamily="34" charset="-128"/>
              </a:rPr>
              <a:t>”</a:t>
            </a:r>
            <a:r>
              <a:rPr lang="en-US" altLang="ja-JP" sz="2400" smtClean="0">
                <a:ea typeface="ＭＳ Ｐゴシック" pitchFamily="34" charset="-128"/>
              </a:rPr>
              <a:t> of function application, each using different 48 bits of key</a:t>
            </a:r>
          </a:p>
          <a:p>
            <a:pPr>
              <a:buFont typeface="Wingdings" pitchFamily="2" charset="2"/>
              <a:buNone/>
            </a:pPr>
            <a:r>
              <a:rPr lang="en-US" altLang="en-US" sz="2400" smtClean="0">
                <a:ea typeface="ＭＳ Ｐゴシック" pitchFamily="34" charset="-128"/>
              </a:rPr>
              <a:t>final permutation</a:t>
            </a:r>
            <a:endParaRPr lang="en-US" altLang="en-US" smtClean="0">
              <a:ea typeface="ＭＳ Ｐゴシック" pitchFamily="34" charset="-128"/>
            </a:endParaRPr>
          </a:p>
          <a:p>
            <a:pPr>
              <a:buFont typeface="Wingdings" pitchFamily="2" charset="2"/>
              <a:buNone/>
            </a:pPr>
            <a:endParaRPr lang="en-US" altLang="en-US" smtClean="0">
              <a:ea typeface="ＭＳ Ｐゴシック" pitchFamily="34" charset="-128"/>
            </a:endParaRPr>
          </a:p>
        </p:txBody>
      </p:sp>
      <p:grpSp>
        <p:nvGrpSpPr>
          <p:cNvPr id="43013" name="Group 5"/>
          <p:cNvGrpSpPr>
            <a:grpSpLocks/>
          </p:cNvGrpSpPr>
          <p:nvPr/>
        </p:nvGrpSpPr>
        <p:grpSpPr bwMode="auto">
          <a:xfrm>
            <a:off x="587375" y="1928813"/>
            <a:ext cx="2176463" cy="523875"/>
            <a:chOff x="384" y="1352"/>
            <a:chExt cx="1371" cy="330"/>
          </a:xfrm>
        </p:grpSpPr>
        <p:sp>
          <p:nvSpPr>
            <p:cNvPr id="43016" name="Rectangle 6"/>
            <p:cNvSpPr>
              <a:spLocks noChangeArrowheads="1"/>
            </p:cNvSpPr>
            <p:nvPr/>
          </p:nvSpPr>
          <p:spPr bwMode="auto">
            <a:xfrm>
              <a:off x="385" y="1356"/>
              <a:ext cx="1370" cy="26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43017" name="Text Box 7"/>
            <p:cNvSpPr txBox="1">
              <a:spLocks noChangeArrowheads="1"/>
            </p:cNvSpPr>
            <p:nvPr/>
          </p:nvSpPr>
          <p:spPr bwMode="auto">
            <a:xfrm>
              <a:off x="384" y="1352"/>
              <a:ext cx="13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i="1">
                  <a:solidFill>
                    <a:srgbClr val="C00000"/>
                  </a:solidFill>
                  <a:latin typeface="Gill Sans MT" pitchFamily="34" charset="0"/>
                  <a:cs typeface="Arial" pitchFamily="34" charset="0"/>
                </a:rPr>
                <a:t>DES operation</a:t>
              </a:r>
            </a:p>
          </p:txBody>
        </p:sp>
      </p:grpSp>
      <p:pic>
        <p:nvPicPr>
          <p:cNvPr id="43014" name="Picture 8" descr="07-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0588" y="282575"/>
            <a:ext cx="4043362" cy="621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5" name="Picture 24"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25" y="1327150"/>
            <a:ext cx="2851150" cy="16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44034" name="Rectangle 2"/>
          <p:cNvSpPr>
            <a:spLocks noGrp="1" noChangeArrowheads="1"/>
          </p:cNvSpPr>
          <p:nvPr>
            <p:ph type="title"/>
          </p:nvPr>
        </p:nvSpPr>
        <p:spPr>
          <a:xfrm>
            <a:off x="533400" y="228600"/>
            <a:ext cx="8207375" cy="1143000"/>
          </a:xfrm>
        </p:spPr>
        <p:txBody>
          <a:bodyPr/>
          <a:lstStyle/>
          <a:p>
            <a:r>
              <a:rPr lang="en-US" altLang="en-US" sz="3600" smtClean="0">
                <a:ea typeface="ＭＳ Ｐゴシック" pitchFamily="34" charset="-128"/>
              </a:rPr>
              <a:t>AES: Advanced Encryption Standard</a:t>
            </a:r>
          </a:p>
        </p:txBody>
      </p:sp>
      <p:sp>
        <p:nvSpPr>
          <p:cNvPr id="44035" name="Rectangle 3"/>
          <p:cNvSpPr>
            <a:spLocks noGrp="1" noChangeArrowheads="1"/>
          </p:cNvSpPr>
          <p:nvPr>
            <p:ph type="body" idx="1"/>
          </p:nvPr>
        </p:nvSpPr>
        <p:spPr/>
        <p:txBody>
          <a:bodyPr/>
          <a:lstStyle/>
          <a:p>
            <a:r>
              <a:rPr lang="en-US" altLang="en-US" dirty="0" smtClean="0">
                <a:ea typeface="ＭＳ Ｐゴシック" pitchFamily="34" charset="-128"/>
              </a:rPr>
              <a:t>symmetric-key NIST standard, replaced DES (Nov 2001)</a:t>
            </a:r>
          </a:p>
          <a:p>
            <a:r>
              <a:rPr lang="en-US" altLang="en-US" dirty="0" smtClean="0">
                <a:ea typeface="ＭＳ Ｐゴシック" pitchFamily="34" charset="-128"/>
              </a:rPr>
              <a:t>processes data in 128 bit blocks</a:t>
            </a:r>
          </a:p>
          <a:p>
            <a:r>
              <a:rPr lang="en-US" altLang="en-US" dirty="0" smtClean="0">
                <a:ea typeface="ＭＳ Ｐゴシック" pitchFamily="34" charset="-128"/>
              </a:rPr>
              <a:t>128, 192, or 256 bit keys</a:t>
            </a:r>
          </a:p>
          <a:p>
            <a:r>
              <a:rPr lang="en-US" altLang="en-US" dirty="0" smtClean="0">
                <a:ea typeface="ＭＳ Ｐゴシック" pitchFamily="34" charset="-128"/>
              </a:rPr>
              <a:t>brute force decryption (try each key) taking 1 sec on DES, takes 149 trillion years for AES</a:t>
            </a:r>
          </a:p>
        </p:txBody>
      </p:sp>
      <p:pic>
        <p:nvPicPr>
          <p:cNvPr id="44036" name="Picture 17"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488" y="993775"/>
            <a:ext cx="6856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45058" name="Rectangle 3"/>
          <p:cNvSpPr>
            <a:spLocks noGrp="1" noChangeArrowheads="1"/>
          </p:cNvSpPr>
          <p:nvPr>
            <p:ph type="title"/>
          </p:nvPr>
        </p:nvSpPr>
        <p:spPr>
          <a:xfrm>
            <a:off x="338138" y="152400"/>
            <a:ext cx="7772400" cy="1143000"/>
          </a:xfrm>
        </p:spPr>
        <p:txBody>
          <a:bodyPr/>
          <a:lstStyle/>
          <a:p>
            <a:r>
              <a:rPr lang="en-US" altLang="en-US" smtClean="0">
                <a:ea typeface="ＭＳ Ｐゴシック" pitchFamily="34" charset="-128"/>
              </a:rPr>
              <a:t>Public Key Cryptography</a:t>
            </a:r>
          </a:p>
        </p:txBody>
      </p:sp>
      <p:sp>
        <p:nvSpPr>
          <p:cNvPr id="45059" name="Rectangle 4"/>
          <p:cNvSpPr>
            <a:spLocks noGrp="1" noChangeArrowheads="1"/>
          </p:cNvSpPr>
          <p:nvPr>
            <p:ph type="body" sz="half" idx="1"/>
          </p:nvPr>
        </p:nvSpPr>
        <p:spPr>
          <a:xfrm>
            <a:off x="239713" y="1654175"/>
            <a:ext cx="3810000" cy="4648200"/>
          </a:xfrm>
        </p:spPr>
        <p:txBody>
          <a:bodyPr/>
          <a:lstStyle/>
          <a:p>
            <a:pPr>
              <a:buFont typeface="Wingdings" pitchFamily="2" charset="2"/>
              <a:buNone/>
            </a:pPr>
            <a:r>
              <a:rPr lang="en-US" altLang="en-US" i="1" smtClean="0">
                <a:solidFill>
                  <a:srgbClr val="C00000"/>
                </a:solidFill>
                <a:ea typeface="ＭＳ Ｐゴシック" pitchFamily="34" charset="-128"/>
              </a:rPr>
              <a:t>symmetric key crypto</a:t>
            </a:r>
          </a:p>
          <a:p>
            <a:r>
              <a:rPr lang="en-US" altLang="en-US" sz="2400" smtClean="0">
                <a:ea typeface="ＭＳ Ｐゴシック" pitchFamily="34" charset="-128"/>
              </a:rPr>
              <a:t>requires sender, receiver know shared secret key</a:t>
            </a:r>
          </a:p>
          <a:p>
            <a:r>
              <a:rPr lang="en-US" altLang="en-US" sz="2400" smtClean="0">
                <a:ea typeface="ＭＳ Ｐゴシック" pitchFamily="34" charset="-128"/>
              </a:rPr>
              <a:t>Q: how to agree on key in first place (particularly if never </a:t>
            </a:r>
            <a:r>
              <a:rPr lang="ja-JP" altLang="en-US" sz="2400" smtClean="0">
                <a:ea typeface="ＭＳ Ｐゴシック" pitchFamily="34" charset="-128"/>
              </a:rPr>
              <a:t>“</a:t>
            </a:r>
            <a:r>
              <a:rPr lang="en-US" altLang="ja-JP" sz="2400" smtClean="0">
                <a:ea typeface="ＭＳ Ｐゴシック" pitchFamily="34" charset="-128"/>
              </a:rPr>
              <a:t>met</a:t>
            </a:r>
            <a:r>
              <a:rPr lang="ja-JP" altLang="en-US" sz="2400" smtClean="0">
                <a:ea typeface="ＭＳ Ｐゴシック" pitchFamily="34" charset="-128"/>
              </a:rPr>
              <a:t>”</a:t>
            </a:r>
            <a:r>
              <a:rPr lang="en-US" altLang="ja-JP" sz="2400" smtClean="0">
                <a:ea typeface="ＭＳ Ｐゴシック" pitchFamily="34" charset="-128"/>
              </a:rPr>
              <a:t>)?</a:t>
            </a:r>
          </a:p>
          <a:p>
            <a:endParaRPr lang="en-US" altLang="en-US" sz="2400" smtClean="0">
              <a:ea typeface="ＭＳ Ｐゴシック" pitchFamily="34" charset="-128"/>
            </a:endParaRPr>
          </a:p>
        </p:txBody>
      </p:sp>
      <p:pic>
        <p:nvPicPr>
          <p:cNvPr id="45060" name="Picture 19"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400" y="990600"/>
            <a:ext cx="59420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
          <p:cNvGrpSpPr>
            <a:grpSpLocks/>
          </p:cNvGrpSpPr>
          <p:nvPr/>
        </p:nvGrpSpPr>
        <p:grpSpPr bwMode="auto">
          <a:xfrm>
            <a:off x="4354513" y="852488"/>
            <a:ext cx="3973512" cy="5430837"/>
            <a:chOff x="4354281" y="853168"/>
            <a:chExt cx="3973290" cy="5430157"/>
          </a:xfrm>
        </p:grpSpPr>
        <p:sp>
          <p:nvSpPr>
            <p:cNvPr id="45062" name="Rectangle 2"/>
            <p:cNvSpPr>
              <a:spLocks noChangeArrowheads="1"/>
            </p:cNvSpPr>
            <p:nvPr/>
          </p:nvSpPr>
          <p:spPr bwMode="auto">
            <a:xfrm>
              <a:off x="4354281" y="1926771"/>
              <a:ext cx="3875314" cy="3929743"/>
            </a:xfrm>
            <a:prstGeom prst="rect">
              <a:avLst/>
            </a:prstGeom>
            <a:solidFill>
              <a:schemeClr val="bg1"/>
            </a:solidFill>
            <a:ln w="19050">
              <a:solidFill>
                <a:srgbClr val="C00000"/>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pic>
          <p:nvPicPr>
            <p:cNvPr id="45063" name="Picture 6" descr="j0078625[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64009" y="853168"/>
              <a:ext cx="563562" cy="171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4" name="Rectangle 1"/>
            <p:cNvSpPr>
              <a:spLocks noChangeArrowheads="1"/>
            </p:cNvSpPr>
            <p:nvPr/>
          </p:nvSpPr>
          <p:spPr bwMode="auto">
            <a:xfrm>
              <a:off x="4528457" y="1665514"/>
              <a:ext cx="2449286" cy="500743"/>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45065" name="Rectangle 5"/>
            <p:cNvSpPr>
              <a:spLocks noChangeArrowheads="1"/>
            </p:cNvSpPr>
            <p:nvPr/>
          </p:nvSpPr>
          <p:spPr bwMode="auto">
            <a:xfrm>
              <a:off x="4519613" y="1635125"/>
              <a:ext cx="3656012"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chemeClr val="accent2"/>
                </a:buClr>
                <a:buSzPct val="85000"/>
                <a:buFont typeface="ZapfDingbats" pitchFamily="82" charset="2"/>
                <a:buNone/>
              </a:pPr>
              <a:r>
                <a:rPr lang="en-US" altLang="en-US" sz="2800" i="1">
                  <a:solidFill>
                    <a:srgbClr val="C00000"/>
                  </a:solidFill>
                  <a:latin typeface="Gill Sans MT" pitchFamily="34" charset="0"/>
                </a:rPr>
                <a:t>public key crypto</a:t>
              </a:r>
            </a:p>
            <a:p>
              <a:pPr>
                <a:spcBef>
                  <a:spcPct val="20000"/>
                </a:spcBef>
                <a:buClr>
                  <a:srgbClr val="000099"/>
                </a:buClr>
                <a:buSzPct val="75000"/>
                <a:buFont typeface="Wingdings" pitchFamily="2" charset="2"/>
                <a:buChar char="v"/>
              </a:pPr>
              <a:r>
                <a:rPr lang="en-US" altLang="en-US" sz="2400">
                  <a:latin typeface="Gill Sans MT" pitchFamily="34" charset="0"/>
                </a:rPr>
                <a:t>radically different approach [Diffie-Hellman76, RSA78]</a:t>
              </a:r>
            </a:p>
            <a:p>
              <a:pPr>
                <a:spcBef>
                  <a:spcPct val="20000"/>
                </a:spcBef>
                <a:buClr>
                  <a:srgbClr val="000099"/>
                </a:buClr>
                <a:buSzPct val="75000"/>
                <a:buFont typeface="Wingdings" pitchFamily="2" charset="2"/>
                <a:buChar char="v"/>
              </a:pPr>
              <a:r>
                <a:rPr lang="en-US" altLang="en-US" sz="2400">
                  <a:latin typeface="Gill Sans MT" pitchFamily="34" charset="0"/>
                </a:rPr>
                <a:t>sender, receiver do </a:t>
              </a:r>
              <a:r>
                <a:rPr lang="en-US" altLang="en-US" sz="2400" i="1">
                  <a:solidFill>
                    <a:srgbClr val="000099"/>
                  </a:solidFill>
                  <a:latin typeface="Gill Sans MT" pitchFamily="34" charset="0"/>
                </a:rPr>
                <a:t>not</a:t>
              </a:r>
              <a:r>
                <a:rPr lang="en-US" altLang="en-US" sz="2400">
                  <a:latin typeface="Gill Sans MT" pitchFamily="34" charset="0"/>
                </a:rPr>
                <a:t> share secret key</a:t>
              </a:r>
            </a:p>
            <a:p>
              <a:pPr>
                <a:spcBef>
                  <a:spcPct val="20000"/>
                </a:spcBef>
                <a:buClr>
                  <a:srgbClr val="000099"/>
                </a:buClr>
                <a:buSzPct val="75000"/>
                <a:buFont typeface="Wingdings" pitchFamily="2" charset="2"/>
                <a:buChar char="v"/>
              </a:pPr>
              <a:r>
                <a:rPr lang="en-US" altLang="en-US" sz="2400" i="1">
                  <a:solidFill>
                    <a:srgbClr val="000099"/>
                  </a:solidFill>
                  <a:latin typeface="Gill Sans MT" pitchFamily="34" charset="0"/>
                </a:rPr>
                <a:t>public</a:t>
              </a:r>
              <a:r>
                <a:rPr lang="en-US" altLang="en-US" sz="2400" i="1">
                  <a:solidFill>
                    <a:schemeClr val="accent2"/>
                  </a:solidFill>
                  <a:latin typeface="Gill Sans MT" pitchFamily="34" charset="0"/>
                </a:rPr>
                <a:t> </a:t>
              </a:r>
              <a:r>
                <a:rPr lang="en-US" altLang="en-US" sz="2400">
                  <a:latin typeface="Gill Sans MT" pitchFamily="34" charset="0"/>
                </a:rPr>
                <a:t>encryption key </a:t>
              </a:r>
              <a:r>
                <a:rPr lang="en-US" altLang="en-US" sz="2400" i="1">
                  <a:solidFill>
                    <a:schemeClr val="accent2"/>
                  </a:solidFill>
                  <a:latin typeface="Gill Sans MT" pitchFamily="34" charset="0"/>
                </a:rPr>
                <a:t> </a:t>
              </a:r>
              <a:r>
                <a:rPr lang="en-US" altLang="en-US" sz="2400">
                  <a:latin typeface="Gill Sans MT" pitchFamily="34" charset="0"/>
                </a:rPr>
                <a:t>known to</a:t>
              </a:r>
              <a:r>
                <a:rPr lang="en-US" altLang="en-US" sz="2400" i="1">
                  <a:solidFill>
                    <a:schemeClr val="accent2"/>
                  </a:solidFill>
                  <a:latin typeface="Gill Sans MT" pitchFamily="34" charset="0"/>
                </a:rPr>
                <a:t> </a:t>
              </a:r>
              <a:r>
                <a:rPr lang="en-US" altLang="en-US" sz="2400" i="1">
                  <a:solidFill>
                    <a:srgbClr val="000099"/>
                  </a:solidFill>
                  <a:latin typeface="Gill Sans MT" pitchFamily="34" charset="0"/>
                </a:rPr>
                <a:t>all</a:t>
              </a:r>
            </a:p>
            <a:p>
              <a:pPr>
                <a:spcBef>
                  <a:spcPct val="20000"/>
                </a:spcBef>
                <a:buClr>
                  <a:srgbClr val="000099"/>
                </a:buClr>
                <a:buSzPct val="75000"/>
                <a:buFont typeface="Wingdings" pitchFamily="2" charset="2"/>
                <a:buChar char="v"/>
              </a:pPr>
              <a:r>
                <a:rPr lang="en-US" altLang="en-US" sz="2400" i="1">
                  <a:solidFill>
                    <a:srgbClr val="000099"/>
                  </a:solidFill>
                  <a:latin typeface="Gill Sans MT" pitchFamily="34" charset="0"/>
                </a:rPr>
                <a:t>private</a:t>
              </a:r>
              <a:r>
                <a:rPr lang="en-US" altLang="en-US" sz="2400">
                  <a:latin typeface="Gill Sans MT" pitchFamily="34" charset="0"/>
                </a:rPr>
                <a:t> decryption key known only to receiver</a:t>
              </a:r>
              <a:endParaRPr lang="en-US" altLang="en-US" sz="2800">
                <a:latin typeface="Gill Sans MT" pitchFamily="34" charset="0"/>
              </a:endParaRPr>
            </a:p>
            <a:p>
              <a:pPr>
                <a:spcBef>
                  <a:spcPct val="20000"/>
                </a:spcBef>
                <a:buClr>
                  <a:schemeClr val="accent2"/>
                </a:buClr>
                <a:buSzPct val="85000"/>
                <a:buFont typeface="ZapfDingbats" pitchFamily="82" charset="2"/>
                <a:buChar char="r"/>
              </a:pPr>
              <a:endParaRPr lang="en-US" altLang="en-US" sz="28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46082" name="Rectangle 2"/>
          <p:cNvSpPr>
            <a:spLocks noGrp="1" noChangeArrowheads="1"/>
          </p:cNvSpPr>
          <p:nvPr>
            <p:ph type="title"/>
          </p:nvPr>
        </p:nvSpPr>
        <p:spPr>
          <a:xfrm>
            <a:off x="282575" y="130175"/>
            <a:ext cx="7772400" cy="1143000"/>
          </a:xfrm>
        </p:spPr>
        <p:txBody>
          <a:bodyPr/>
          <a:lstStyle/>
          <a:p>
            <a:r>
              <a:rPr lang="en-US" altLang="en-US" smtClean="0">
                <a:ea typeface="ＭＳ Ｐゴシック" pitchFamily="34" charset="-128"/>
              </a:rPr>
              <a:t>Public key cryptography</a:t>
            </a:r>
          </a:p>
        </p:txBody>
      </p:sp>
      <p:sp>
        <p:nvSpPr>
          <p:cNvPr id="46083" name="Text Box 3"/>
          <p:cNvSpPr txBox="1">
            <a:spLocks noChangeArrowheads="1"/>
          </p:cNvSpPr>
          <p:nvPr/>
        </p:nvSpPr>
        <p:spPr bwMode="auto">
          <a:xfrm>
            <a:off x="442913" y="3832225"/>
            <a:ext cx="1579562" cy="708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plaintext</a:t>
            </a:r>
          </a:p>
          <a:p>
            <a:pPr algn="ctr"/>
            <a:r>
              <a:rPr lang="en-US" altLang="en-US">
                <a:solidFill>
                  <a:srgbClr val="C00000"/>
                </a:solidFill>
                <a:latin typeface="Arial" pitchFamily="34" charset="0"/>
                <a:cs typeface="Arial" pitchFamily="34" charset="0"/>
              </a:rPr>
              <a:t>message, m</a:t>
            </a:r>
          </a:p>
        </p:txBody>
      </p:sp>
      <p:sp>
        <p:nvSpPr>
          <p:cNvPr id="46084" name="Text Box 4"/>
          <p:cNvSpPr txBox="1">
            <a:spLocks noChangeArrowheads="1"/>
          </p:cNvSpPr>
          <p:nvPr/>
        </p:nvSpPr>
        <p:spPr bwMode="auto">
          <a:xfrm>
            <a:off x="3679825" y="3835400"/>
            <a:ext cx="1295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ciphertext</a:t>
            </a:r>
          </a:p>
        </p:txBody>
      </p:sp>
      <p:pic>
        <p:nvPicPr>
          <p:cNvPr id="46085" name="Picture 5"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913" y="3081338"/>
            <a:ext cx="511175"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6" name="Rectangle 6"/>
          <p:cNvSpPr>
            <a:spLocks noChangeArrowheads="1"/>
          </p:cNvSpPr>
          <p:nvPr/>
        </p:nvSpPr>
        <p:spPr bwMode="auto">
          <a:xfrm>
            <a:off x="2109788" y="3781425"/>
            <a:ext cx="1392237" cy="803275"/>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46087" name="Text Box 7"/>
          <p:cNvSpPr txBox="1">
            <a:spLocks noChangeArrowheads="1"/>
          </p:cNvSpPr>
          <p:nvPr/>
        </p:nvSpPr>
        <p:spPr bwMode="auto">
          <a:xfrm>
            <a:off x="2135188" y="3790950"/>
            <a:ext cx="13684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chemeClr val="bg1"/>
                </a:solidFill>
                <a:latin typeface="Arial" pitchFamily="34" charset="0"/>
                <a:cs typeface="Arial" pitchFamily="34" charset="0"/>
              </a:rPr>
              <a:t>encryption</a:t>
            </a:r>
          </a:p>
          <a:p>
            <a:pPr algn="ctr"/>
            <a:r>
              <a:rPr lang="en-US" altLang="en-US">
                <a:solidFill>
                  <a:schemeClr val="bg1"/>
                </a:solidFill>
                <a:latin typeface="Arial" pitchFamily="34" charset="0"/>
                <a:cs typeface="Arial" pitchFamily="34" charset="0"/>
              </a:rPr>
              <a:t>algorithm</a:t>
            </a:r>
          </a:p>
        </p:txBody>
      </p:sp>
      <p:sp>
        <p:nvSpPr>
          <p:cNvPr id="46088" name="Rectangle 8"/>
          <p:cNvSpPr>
            <a:spLocks noChangeArrowheads="1"/>
          </p:cNvSpPr>
          <p:nvPr/>
        </p:nvSpPr>
        <p:spPr bwMode="auto">
          <a:xfrm>
            <a:off x="5330825" y="3794125"/>
            <a:ext cx="1377950" cy="803275"/>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46089" name="Text Box 9"/>
          <p:cNvSpPr txBox="1">
            <a:spLocks noChangeArrowheads="1"/>
          </p:cNvSpPr>
          <p:nvPr/>
        </p:nvSpPr>
        <p:spPr bwMode="auto">
          <a:xfrm>
            <a:off x="5351463" y="3817938"/>
            <a:ext cx="14382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chemeClr val="bg1"/>
                </a:solidFill>
                <a:latin typeface="Arial" pitchFamily="34" charset="0"/>
                <a:cs typeface="Arial" pitchFamily="34" charset="0"/>
              </a:rPr>
              <a:t>decryption </a:t>
            </a:r>
          </a:p>
          <a:p>
            <a:pPr algn="ctr"/>
            <a:r>
              <a:rPr lang="en-US" altLang="en-US">
                <a:solidFill>
                  <a:schemeClr val="bg1"/>
                </a:solidFill>
                <a:latin typeface="Arial" pitchFamily="34" charset="0"/>
                <a:cs typeface="Arial" pitchFamily="34" charset="0"/>
              </a:rPr>
              <a:t>algorithm</a:t>
            </a:r>
          </a:p>
        </p:txBody>
      </p:sp>
      <p:sp>
        <p:nvSpPr>
          <p:cNvPr id="46090" name="Line 10"/>
          <p:cNvSpPr>
            <a:spLocks noChangeShapeType="1"/>
          </p:cNvSpPr>
          <p:nvPr/>
        </p:nvSpPr>
        <p:spPr bwMode="auto">
          <a:xfrm flipV="1">
            <a:off x="3530600" y="4189413"/>
            <a:ext cx="1809750" cy="47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46091" name="Text Box 11"/>
          <p:cNvSpPr txBox="1">
            <a:spLocks noChangeArrowheads="1"/>
          </p:cNvSpPr>
          <p:nvPr/>
        </p:nvSpPr>
        <p:spPr bwMode="auto">
          <a:xfrm>
            <a:off x="6473825" y="1697038"/>
            <a:ext cx="1762125"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Bob</a:t>
            </a:r>
            <a:r>
              <a:rPr lang="ja-JP" altLang="en-US" sz="1800">
                <a:latin typeface="Arial" pitchFamily="34" charset="0"/>
                <a:cs typeface="Arial" pitchFamily="34" charset="0"/>
              </a:rPr>
              <a:t>’</a:t>
            </a:r>
            <a:r>
              <a:rPr lang="en-US" altLang="ja-JP" sz="1800">
                <a:latin typeface="Arial" pitchFamily="34" charset="0"/>
                <a:cs typeface="Arial" pitchFamily="34" charset="0"/>
              </a:rPr>
              <a:t>s </a:t>
            </a:r>
            <a:r>
              <a:rPr lang="en-US" altLang="ja-JP" sz="1800" i="1" u="sng">
                <a:solidFill>
                  <a:srgbClr val="C00000"/>
                </a:solidFill>
                <a:latin typeface="Arial" pitchFamily="34" charset="0"/>
                <a:cs typeface="Arial" pitchFamily="34" charset="0"/>
              </a:rPr>
              <a:t>public </a:t>
            </a:r>
          </a:p>
          <a:p>
            <a:r>
              <a:rPr lang="en-US" altLang="en-US" sz="1800">
                <a:latin typeface="Arial" pitchFamily="34" charset="0"/>
                <a:cs typeface="Arial" pitchFamily="34" charset="0"/>
              </a:rPr>
              <a:t>key </a:t>
            </a:r>
          </a:p>
        </p:txBody>
      </p:sp>
      <p:pic>
        <p:nvPicPr>
          <p:cNvPr id="46092" name="Picture 12" descr="Bo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8963" y="3098800"/>
            <a:ext cx="665162"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3" name="Line 13"/>
          <p:cNvSpPr>
            <a:spLocks noChangeShapeType="1"/>
          </p:cNvSpPr>
          <p:nvPr/>
        </p:nvSpPr>
        <p:spPr bwMode="auto">
          <a:xfrm>
            <a:off x="1365250" y="4219575"/>
            <a:ext cx="6746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46094" name="Line 14"/>
          <p:cNvSpPr>
            <a:spLocks noChangeShapeType="1"/>
          </p:cNvSpPr>
          <p:nvPr/>
        </p:nvSpPr>
        <p:spPr bwMode="auto">
          <a:xfrm>
            <a:off x="6750050" y="4175125"/>
            <a:ext cx="6746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46095" name="Picture 15" descr="BS00768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flipV="1">
            <a:off x="5516563" y="1839913"/>
            <a:ext cx="458787"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6" name="Text Box 16"/>
          <p:cNvSpPr txBox="1">
            <a:spLocks noChangeArrowheads="1"/>
          </p:cNvSpPr>
          <p:nvPr/>
        </p:nvSpPr>
        <p:spPr bwMode="auto">
          <a:xfrm>
            <a:off x="6808788" y="3830638"/>
            <a:ext cx="12525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plaintext</a:t>
            </a:r>
          </a:p>
          <a:p>
            <a:pPr algn="ctr"/>
            <a:r>
              <a:rPr lang="en-US" altLang="en-US">
                <a:solidFill>
                  <a:srgbClr val="C00000"/>
                </a:solidFill>
                <a:latin typeface="Arial" pitchFamily="34" charset="0"/>
                <a:cs typeface="Arial" pitchFamily="34" charset="0"/>
              </a:rPr>
              <a:t>message</a:t>
            </a:r>
          </a:p>
        </p:txBody>
      </p:sp>
      <p:grpSp>
        <p:nvGrpSpPr>
          <p:cNvPr id="46097" name="Group 17"/>
          <p:cNvGrpSpPr>
            <a:grpSpLocks/>
          </p:cNvGrpSpPr>
          <p:nvPr/>
        </p:nvGrpSpPr>
        <p:grpSpPr bwMode="auto">
          <a:xfrm>
            <a:off x="3954463" y="4162425"/>
            <a:ext cx="876300" cy="617538"/>
            <a:chOff x="2351" y="2077"/>
            <a:chExt cx="552" cy="389"/>
          </a:xfrm>
        </p:grpSpPr>
        <p:sp>
          <p:nvSpPr>
            <p:cNvPr id="46115" name="Text Box 18"/>
            <p:cNvSpPr txBox="1">
              <a:spLocks noChangeArrowheads="1"/>
            </p:cNvSpPr>
            <p:nvPr/>
          </p:nvSpPr>
          <p:spPr bwMode="auto">
            <a:xfrm>
              <a:off x="2351" y="2132"/>
              <a:ext cx="5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K  (m)</a:t>
              </a:r>
            </a:p>
          </p:txBody>
        </p:sp>
        <p:sp>
          <p:nvSpPr>
            <p:cNvPr id="46116" name="Text Box 19"/>
            <p:cNvSpPr txBox="1">
              <a:spLocks noChangeArrowheads="1"/>
            </p:cNvSpPr>
            <p:nvPr/>
          </p:nvSpPr>
          <p:spPr bwMode="auto">
            <a:xfrm>
              <a:off x="2463" y="2253"/>
              <a:ext cx="2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B</a:t>
              </a:r>
            </a:p>
          </p:txBody>
        </p:sp>
        <p:sp>
          <p:nvSpPr>
            <p:cNvPr id="46117" name="Text Box 20"/>
            <p:cNvSpPr txBox="1">
              <a:spLocks noChangeArrowheads="1"/>
            </p:cNvSpPr>
            <p:nvPr/>
          </p:nvSpPr>
          <p:spPr bwMode="auto">
            <a:xfrm>
              <a:off x="2468" y="2077"/>
              <a:ext cx="1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a:t>
              </a:r>
            </a:p>
          </p:txBody>
        </p:sp>
      </p:grpSp>
      <p:sp>
        <p:nvSpPr>
          <p:cNvPr id="46098" name="Text Box 21"/>
          <p:cNvSpPr txBox="1">
            <a:spLocks noChangeArrowheads="1"/>
          </p:cNvSpPr>
          <p:nvPr/>
        </p:nvSpPr>
        <p:spPr bwMode="auto">
          <a:xfrm>
            <a:off x="6013450" y="1757363"/>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K </a:t>
            </a:r>
          </a:p>
        </p:txBody>
      </p:sp>
      <p:sp>
        <p:nvSpPr>
          <p:cNvPr id="46099" name="Text Box 22"/>
          <p:cNvSpPr txBox="1">
            <a:spLocks noChangeArrowheads="1"/>
          </p:cNvSpPr>
          <p:nvPr/>
        </p:nvSpPr>
        <p:spPr bwMode="auto">
          <a:xfrm>
            <a:off x="6157913" y="1936750"/>
            <a:ext cx="3222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B</a:t>
            </a:r>
          </a:p>
        </p:txBody>
      </p:sp>
      <p:sp>
        <p:nvSpPr>
          <p:cNvPr id="46100" name="Text Box 23"/>
          <p:cNvSpPr txBox="1">
            <a:spLocks noChangeArrowheads="1"/>
          </p:cNvSpPr>
          <p:nvPr/>
        </p:nvSpPr>
        <p:spPr bwMode="auto">
          <a:xfrm>
            <a:off x="6165850" y="1657350"/>
            <a:ext cx="304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a:t>
            </a:r>
          </a:p>
        </p:txBody>
      </p:sp>
      <p:sp>
        <p:nvSpPr>
          <p:cNvPr id="46101" name="Text Box 24"/>
          <p:cNvSpPr txBox="1">
            <a:spLocks noChangeArrowheads="1"/>
          </p:cNvSpPr>
          <p:nvPr/>
        </p:nvSpPr>
        <p:spPr bwMode="auto">
          <a:xfrm>
            <a:off x="6470650" y="2374900"/>
            <a:ext cx="1762125"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Bob</a:t>
            </a:r>
            <a:r>
              <a:rPr lang="ja-JP" altLang="en-US" sz="1800">
                <a:latin typeface="Arial" pitchFamily="34" charset="0"/>
                <a:cs typeface="Arial" pitchFamily="34" charset="0"/>
              </a:rPr>
              <a:t>’</a:t>
            </a:r>
            <a:r>
              <a:rPr lang="en-US" altLang="ja-JP" sz="1800">
                <a:latin typeface="Arial" pitchFamily="34" charset="0"/>
                <a:cs typeface="Arial" pitchFamily="34" charset="0"/>
              </a:rPr>
              <a:t>s </a:t>
            </a:r>
            <a:r>
              <a:rPr lang="en-US" altLang="ja-JP" sz="1800" i="1" u="sng">
                <a:solidFill>
                  <a:srgbClr val="C00000"/>
                </a:solidFill>
                <a:latin typeface="Arial" pitchFamily="34" charset="0"/>
                <a:cs typeface="Arial" pitchFamily="34" charset="0"/>
              </a:rPr>
              <a:t>private</a:t>
            </a:r>
          </a:p>
          <a:p>
            <a:r>
              <a:rPr lang="en-US" altLang="en-US" sz="1800">
                <a:latin typeface="Arial" pitchFamily="34" charset="0"/>
                <a:cs typeface="Arial" pitchFamily="34" charset="0"/>
              </a:rPr>
              <a:t>key </a:t>
            </a:r>
          </a:p>
        </p:txBody>
      </p:sp>
      <p:pic>
        <p:nvPicPr>
          <p:cNvPr id="46102" name="Picture 25" descr="BS00768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flipV="1">
            <a:off x="5513388" y="2513013"/>
            <a:ext cx="54292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103" name="Text Box 26"/>
          <p:cNvSpPr txBox="1">
            <a:spLocks noChangeArrowheads="1"/>
          </p:cNvSpPr>
          <p:nvPr/>
        </p:nvSpPr>
        <p:spPr bwMode="auto">
          <a:xfrm>
            <a:off x="6022975" y="2447925"/>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K </a:t>
            </a:r>
          </a:p>
        </p:txBody>
      </p:sp>
      <p:sp>
        <p:nvSpPr>
          <p:cNvPr id="46104" name="Text Box 27"/>
          <p:cNvSpPr txBox="1">
            <a:spLocks noChangeArrowheads="1"/>
          </p:cNvSpPr>
          <p:nvPr/>
        </p:nvSpPr>
        <p:spPr bwMode="auto">
          <a:xfrm>
            <a:off x="6230938" y="2640013"/>
            <a:ext cx="3222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B</a:t>
            </a:r>
          </a:p>
        </p:txBody>
      </p:sp>
      <p:sp>
        <p:nvSpPr>
          <p:cNvPr id="46105" name="Text Box 28"/>
          <p:cNvSpPr txBox="1">
            <a:spLocks noChangeArrowheads="1"/>
          </p:cNvSpPr>
          <p:nvPr/>
        </p:nvSpPr>
        <p:spPr bwMode="auto">
          <a:xfrm>
            <a:off x="6264275" y="2360613"/>
            <a:ext cx="2524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a:t>
            </a:r>
          </a:p>
        </p:txBody>
      </p:sp>
      <p:grpSp>
        <p:nvGrpSpPr>
          <p:cNvPr id="46106" name="Group 29"/>
          <p:cNvGrpSpPr>
            <a:grpSpLocks/>
          </p:cNvGrpSpPr>
          <p:nvPr/>
        </p:nvGrpSpPr>
        <p:grpSpPr bwMode="auto">
          <a:xfrm>
            <a:off x="6840538" y="4359275"/>
            <a:ext cx="1885950" cy="636588"/>
            <a:chOff x="2413" y="3394"/>
            <a:chExt cx="1188" cy="401"/>
          </a:xfrm>
        </p:grpSpPr>
        <p:sp>
          <p:nvSpPr>
            <p:cNvPr id="46110" name="Text Box 30"/>
            <p:cNvSpPr txBox="1">
              <a:spLocks noChangeArrowheads="1"/>
            </p:cNvSpPr>
            <p:nvPr/>
          </p:nvSpPr>
          <p:spPr bwMode="auto">
            <a:xfrm>
              <a:off x="2413" y="3434"/>
              <a:ext cx="11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m = K  </a:t>
              </a:r>
              <a:r>
                <a:rPr lang="en-US" altLang="en-US" sz="2400">
                  <a:solidFill>
                    <a:srgbClr val="C00000"/>
                  </a:solidFill>
                  <a:latin typeface="Arial" pitchFamily="34" charset="0"/>
                  <a:cs typeface="Arial" pitchFamily="34" charset="0"/>
                </a:rPr>
                <a:t>(</a:t>
              </a:r>
              <a:r>
                <a:rPr lang="en-US" altLang="en-US">
                  <a:solidFill>
                    <a:srgbClr val="C00000"/>
                  </a:solidFill>
                  <a:latin typeface="Arial" pitchFamily="34" charset="0"/>
                  <a:cs typeface="Arial" pitchFamily="34" charset="0"/>
                </a:rPr>
                <a:t>K  (m)</a:t>
              </a:r>
              <a:r>
                <a:rPr lang="en-US" altLang="en-US" sz="2400">
                  <a:solidFill>
                    <a:srgbClr val="C00000"/>
                  </a:solidFill>
                  <a:latin typeface="Arial" pitchFamily="34" charset="0"/>
                  <a:cs typeface="Arial" pitchFamily="34" charset="0"/>
                </a:rPr>
                <a:t>)</a:t>
              </a:r>
            </a:p>
          </p:txBody>
        </p:sp>
        <p:sp>
          <p:nvSpPr>
            <p:cNvPr id="46111" name="Text Box 31"/>
            <p:cNvSpPr txBox="1">
              <a:spLocks noChangeArrowheads="1"/>
            </p:cNvSpPr>
            <p:nvPr/>
          </p:nvSpPr>
          <p:spPr bwMode="auto">
            <a:xfrm>
              <a:off x="3090" y="3582"/>
              <a:ext cx="2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B</a:t>
              </a:r>
            </a:p>
          </p:txBody>
        </p:sp>
        <p:sp>
          <p:nvSpPr>
            <p:cNvPr id="46112" name="Text Box 32"/>
            <p:cNvSpPr txBox="1">
              <a:spLocks noChangeArrowheads="1"/>
            </p:cNvSpPr>
            <p:nvPr/>
          </p:nvSpPr>
          <p:spPr bwMode="auto">
            <a:xfrm>
              <a:off x="3092" y="3400"/>
              <a:ext cx="1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a:t>
              </a:r>
            </a:p>
          </p:txBody>
        </p:sp>
        <p:sp>
          <p:nvSpPr>
            <p:cNvPr id="46113" name="Text Box 33"/>
            <p:cNvSpPr txBox="1">
              <a:spLocks noChangeArrowheads="1"/>
            </p:cNvSpPr>
            <p:nvPr/>
          </p:nvSpPr>
          <p:spPr bwMode="auto">
            <a:xfrm>
              <a:off x="2829" y="3570"/>
              <a:ext cx="2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B</a:t>
              </a:r>
            </a:p>
          </p:txBody>
        </p:sp>
        <p:sp>
          <p:nvSpPr>
            <p:cNvPr id="46114" name="Text Box 34"/>
            <p:cNvSpPr txBox="1">
              <a:spLocks noChangeArrowheads="1"/>
            </p:cNvSpPr>
            <p:nvPr/>
          </p:nvSpPr>
          <p:spPr bwMode="auto">
            <a:xfrm>
              <a:off x="2856" y="3394"/>
              <a:ext cx="16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a:t>
              </a:r>
            </a:p>
          </p:txBody>
        </p:sp>
      </p:grpSp>
      <p:sp>
        <p:nvSpPr>
          <p:cNvPr id="46107" name="Freeform 35"/>
          <p:cNvSpPr>
            <a:spLocks/>
          </p:cNvSpPr>
          <p:nvPr/>
        </p:nvSpPr>
        <p:spPr bwMode="auto">
          <a:xfrm>
            <a:off x="3001963" y="1973263"/>
            <a:ext cx="2393950" cy="1754187"/>
          </a:xfrm>
          <a:custGeom>
            <a:avLst/>
            <a:gdLst>
              <a:gd name="T0" fmla="*/ 2147483647 w 1508"/>
              <a:gd name="T1" fmla="*/ 0 h 1105"/>
              <a:gd name="T2" fmla="*/ 0 w 1508"/>
              <a:gd name="T3" fmla="*/ 0 h 1105"/>
              <a:gd name="T4" fmla="*/ 2147483647 w 1508"/>
              <a:gd name="T5" fmla="*/ 2147483647 h 1105"/>
              <a:gd name="T6" fmla="*/ 0 60000 65536"/>
              <a:gd name="T7" fmla="*/ 0 60000 65536"/>
              <a:gd name="T8" fmla="*/ 0 60000 65536"/>
              <a:gd name="T9" fmla="*/ 0 w 1508"/>
              <a:gd name="T10" fmla="*/ 0 h 1105"/>
              <a:gd name="T11" fmla="*/ 1508 w 1508"/>
              <a:gd name="T12" fmla="*/ 1105 h 1105"/>
            </a:gdLst>
            <a:ahLst/>
            <a:cxnLst>
              <a:cxn ang="T6">
                <a:pos x="T0" y="T1"/>
              </a:cxn>
              <a:cxn ang="T7">
                <a:pos x="T2" y="T3"/>
              </a:cxn>
              <a:cxn ang="T8">
                <a:pos x="T4" y="T5"/>
              </a:cxn>
            </a:cxnLst>
            <a:rect l="T9" t="T10" r="T11" b="T12"/>
            <a:pathLst>
              <a:path w="1508" h="1105">
                <a:moveTo>
                  <a:pt x="1508" y="0"/>
                </a:moveTo>
                <a:lnTo>
                  <a:pt x="0" y="0"/>
                </a:lnTo>
                <a:lnTo>
                  <a:pt x="5" y="1105"/>
                </a:lnTo>
              </a:path>
            </a:pathLst>
          </a:custGeom>
          <a:noFill/>
          <a:ln w="19050">
            <a:solidFill>
              <a:schemeClr val="tx1"/>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46108" name="Freeform 36"/>
          <p:cNvSpPr>
            <a:spLocks/>
          </p:cNvSpPr>
          <p:nvPr/>
        </p:nvSpPr>
        <p:spPr bwMode="auto">
          <a:xfrm>
            <a:off x="5446713" y="2646363"/>
            <a:ext cx="330200" cy="1074737"/>
          </a:xfrm>
          <a:custGeom>
            <a:avLst/>
            <a:gdLst>
              <a:gd name="T0" fmla="*/ 2147483647 w 184"/>
              <a:gd name="T1" fmla="*/ 0 h 1113"/>
              <a:gd name="T2" fmla="*/ 0 w 184"/>
              <a:gd name="T3" fmla="*/ 2147483647 h 1113"/>
              <a:gd name="T4" fmla="*/ 2147483647 w 184"/>
              <a:gd name="T5" fmla="*/ 2147483647 h 1113"/>
              <a:gd name="T6" fmla="*/ 0 60000 65536"/>
              <a:gd name="T7" fmla="*/ 0 60000 65536"/>
              <a:gd name="T8" fmla="*/ 0 60000 65536"/>
              <a:gd name="T9" fmla="*/ 0 w 184"/>
              <a:gd name="T10" fmla="*/ 0 h 1113"/>
              <a:gd name="T11" fmla="*/ 184 w 184"/>
              <a:gd name="T12" fmla="*/ 1113 h 1113"/>
            </a:gdLst>
            <a:ahLst/>
            <a:cxnLst>
              <a:cxn ang="T6">
                <a:pos x="T0" y="T1"/>
              </a:cxn>
              <a:cxn ang="T7">
                <a:pos x="T2" y="T3"/>
              </a:cxn>
              <a:cxn ang="T8">
                <a:pos x="T4" y="T5"/>
              </a:cxn>
            </a:cxnLst>
            <a:rect l="T9" t="T10" r="T11" b="T12"/>
            <a:pathLst>
              <a:path w="184" h="1113">
                <a:moveTo>
                  <a:pt x="184" y="0"/>
                </a:moveTo>
                <a:lnTo>
                  <a:pt x="0" y="8"/>
                </a:lnTo>
                <a:lnTo>
                  <a:pt x="5" y="1113"/>
                </a:lnTo>
              </a:path>
            </a:pathLst>
          </a:custGeom>
          <a:noFill/>
          <a:ln w="19050">
            <a:solidFill>
              <a:schemeClr val="tx1"/>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pic>
        <p:nvPicPr>
          <p:cNvPr id="46109" name="Picture 20"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 y="950913"/>
            <a:ext cx="54848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47106" name="Rectangle 2"/>
          <p:cNvSpPr>
            <a:spLocks noGrp="1" noChangeArrowheads="1"/>
          </p:cNvSpPr>
          <p:nvPr>
            <p:ph type="title"/>
          </p:nvPr>
        </p:nvSpPr>
        <p:spPr>
          <a:xfrm>
            <a:off x="414338" y="163513"/>
            <a:ext cx="7772400" cy="1143000"/>
          </a:xfrm>
        </p:spPr>
        <p:txBody>
          <a:bodyPr/>
          <a:lstStyle/>
          <a:p>
            <a:r>
              <a:rPr lang="en-US" altLang="en-US" smtClean="0">
                <a:ea typeface="ＭＳ Ｐゴシック" pitchFamily="34" charset="-128"/>
              </a:rPr>
              <a:t>Public key encryption algorithms</a:t>
            </a:r>
          </a:p>
        </p:txBody>
      </p:sp>
      <p:sp>
        <p:nvSpPr>
          <p:cNvPr id="47107" name="Rectangle 3"/>
          <p:cNvSpPr>
            <a:spLocks noGrp="1" noChangeArrowheads="1"/>
          </p:cNvSpPr>
          <p:nvPr>
            <p:ph type="body" idx="1"/>
          </p:nvPr>
        </p:nvSpPr>
        <p:spPr>
          <a:xfrm>
            <a:off x="2095500" y="2298700"/>
            <a:ext cx="5619750" cy="625475"/>
          </a:xfrm>
        </p:spPr>
        <p:txBody>
          <a:bodyPr/>
          <a:lstStyle/>
          <a:p>
            <a:pPr>
              <a:buFont typeface="Wingdings" pitchFamily="2" charset="2"/>
              <a:buNone/>
            </a:pPr>
            <a:r>
              <a:rPr lang="en-US" altLang="en-US" smtClean="0">
                <a:latin typeface="Arial" pitchFamily="34" charset="0"/>
                <a:ea typeface="ＭＳ Ｐゴシック" pitchFamily="34" charset="-128"/>
                <a:cs typeface="Arial" pitchFamily="34" charset="0"/>
              </a:rPr>
              <a:t>need K  ( ) and K  ( ) such that</a:t>
            </a:r>
          </a:p>
        </p:txBody>
      </p:sp>
      <p:sp>
        <p:nvSpPr>
          <p:cNvPr id="47108" name="Text Box 4"/>
          <p:cNvSpPr txBox="1">
            <a:spLocks noChangeArrowheads="1"/>
          </p:cNvSpPr>
          <p:nvPr/>
        </p:nvSpPr>
        <p:spPr bwMode="auto">
          <a:xfrm>
            <a:off x="3208338" y="2522538"/>
            <a:ext cx="3889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B</a:t>
            </a:r>
          </a:p>
        </p:txBody>
      </p:sp>
      <p:sp>
        <p:nvSpPr>
          <p:cNvPr id="47109" name="Text Box 5"/>
          <p:cNvSpPr txBox="1">
            <a:spLocks noChangeArrowheads="1"/>
          </p:cNvSpPr>
          <p:nvPr/>
        </p:nvSpPr>
        <p:spPr bwMode="auto">
          <a:xfrm>
            <a:off x="4810125" y="2560638"/>
            <a:ext cx="3889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B</a:t>
            </a:r>
          </a:p>
        </p:txBody>
      </p:sp>
      <p:sp>
        <p:nvSpPr>
          <p:cNvPr id="47110" name="Text Box 6"/>
          <p:cNvSpPr txBox="1">
            <a:spLocks noChangeArrowheads="1"/>
          </p:cNvSpPr>
          <p:nvPr/>
        </p:nvSpPr>
        <p:spPr bwMode="auto">
          <a:xfrm>
            <a:off x="3519488" y="1958975"/>
            <a:ext cx="355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4800">
                <a:latin typeface="Arial" pitchFamily="34" charset="0"/>
                <a:cs typeface="Arial" pitchFamily="34" charset="0"/>
              </a:rPr>
              <a:t>.</a:t>
            </a:r>
            <a:endParaRPr lang="en-US" altLang="en-US" sz="2400">
              <a:latin typeface="Arial" pitchFamily="34" charset="0"/>
              <a:cs typeface="Arial" pitchFamily="34" charset="0"/>
            </a:endParaRPr>
          </a:p>
        </p:txBody>
      </p:sp>
      <p:sp>
        <p:nvSpPr>
          <p:cNvPr id="47111" name="Text Box 7"/>
          <p:cNvSpPr txBox="1">
            <a:spLocks noChangeArrowheads="1"/>
          </p:cNvSpPr>
          <p:nvPr/>
        </p:nvSpPr>
        <p:spPr bwMode="auto">
          <a:xfrm>
            <a:off x="5103813" y="1997075"/>
            <a:ext cx="355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4800">
                <a:latin typeface="Arial" pitchFamily="34" charset="0"/>
                <a:cs typeface="Arial" pitchFamily="34" charset="0"/>
              </a:rPr>
              <a:t>.</a:t>
            </a:r>
            <a:endParaRPr lang="en-US" altLang="en-US" sz="2400">
              <a:latin typeface="Arial" pitchFamily="34" charset="0"/>
              <a:cs typeface="Arial" pitchFamily="34" charset="0"/>
            </a:endParaRPr>
          </a:p>
        </p:txBody>
      </p:sp>
      <p:sp>
        <p:nvSpPr>
          <p:cNvPr id="47112" name="Rectangle 8"/>
          <p:cNvSpPr>
            <a:spLocks noChangeArrowheads="1"/>
          </p:cNvSpPr>
          <p:nvPr/>
        </p:nvSpPr>
        <p:spPr bwMode="auto">
          <a:xfrm>
            <a:off x="2117725" y="3857625"/>
            <a:ext cx="5468938"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chemeClr val="accent2"/>
              </a:buClr>
              <a:buSzPct val="85000"/>
              <a:buFont typeface="ZapfDingbats" pitchFamily="82" charset="2"/>
              <a:buNone/>
            </a:pPr>
            <a:r>
              <a:rPr lang="en-US" altLang="en-US" sz="2800">
                <a:latin typeface="Arial" pitchFamily="34" charset="0"/>
                <a:cs typeface="Arial" pitchFamily="34" charset="0"/>
              </a:rPr>
              <a:t>given public key K  , it should be impossible to compute private key K  </a:t>
            </a:r>
          </a:p>
        </p:txBody>
      </p:sp>
      <p:sp>
        <p:nvSpPr>
          <p:cNvPr id="47113" name="Text Box 9"/>
          <p:cNvSpPr txBox="1">
            <a:spLocks noChangeArrowheads="1"/>
          </p:cNvSpPr>
          <p:nvPr/>
        </p:nvSpPr>
        <p:spPr bwMode="auto">
          <a:xfrm>
            <a:off x="3409950" y="4962525"/>
            <a:ext cx="390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B</a:t>
            </a:r>
          </a:p>
        </p:txBody>
      </p:sp>
      <p:sp>
        <p:nvSpPr>
          <p:cNvPr id="47114" name="Text Box 10"/>
          <p:cNvSpPr txBox="1">
            <a:spLocks noChangeArrowheads="1"/>
          </p:cNvSpPr>
          <p:nvPr/>
        </p:nvSpPr>
        <p:spPr bwMode="auto">
          <a:xfrm>
            <a:off x="4995863" y="4054475"/>
            <a:ext cx="43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B</a:t>
            </a:r>
          </a:p>
        </p:txBody>
      </p:sp>
      <p:sp>
        <p:nvSpPr>
          <p:cNvPr id="47115" name="Text Box 11"/>
          <p:cNvSpPr txBox="1">
            <a:spLocks noChangeArrowheads="1"/>
          </p:cNvSpPr>
          <p:nvPr/>
        </p:nvSpPr>
        <p:spPr bwMode="auto">
          <a:xfrm>
            <a:off x="703263" y="1535113"/>
            <a:ext cx="2200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a:latin typeface="Gill Sans MT" pitchFamily="34" charset="0"/>
                <a:cs typeface="Arial" pitchFamily="34" charset="0"/>
              </a:rPr>
              <a:t>requirements:</a:t>
            </a:r>
            <a:endParaRPr lang="en-US" altLang="en-US" sz="2400">
              <a:latin typeface="Gill Sans MT" pitchFamily="34" charset="0"/>
              <a:cs typeface="Arial" pitchFamily="34" charset="0"/>
            </a:endParaRPr>
          </a:p>
        </p:txBody>
      </p:sp>
      <p:sp>
        <p:nvSpPr>
          <p:cNvPr id="47116" name="Oval 13"/>
          <p:cNvSpPr>
            <a:spLocks noChangeArrowheads="1"/>
          </p:cNvSpPr>
          <p:nvPr/>
        </p:nvSpPr>
        <p:spPr bwMode="auto">
          <a:xfrm>
            <a:off x="1490663" y="2308225"/>
            <a:ext cx="552450" cy="517525"/>
          </a:xfrm>
          <a:prstGeom prst="ellipse">
            <a:avLst/>
          </a:prstGeom>
          <a:solidFill>
            <a:srgbClr val="FFFFFF"/>
          </a:solidFill>
          <a:ln w="19050">
            <a:solidFill>
              <a:srgbClr val="000099"/>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solidFill>
                <a:srgbClr val="000099"/>
              </a:solidFill>
              <a:latin typeface="Arial" pitchFamily="34" charset="0"/>
              <a:cs typeface="Arial" pitchFamily="34" charset="0"/>
            </a:endParaRPr>
          </a:p>
        </p:txBody>
      </p:sp>
      <p:sp>
        <p:nvSpPr>
          <p:cNvPr id="47117" name="Text Box 14"/>
          <p:cNvSpPr txBox="1">
            <a:spLocks noChangeArrowheads="1"/>
          </p:cNvSpPr>
          <p:nvPr/>
        </p:nvSpPr>
        <p:spPr bwMode="auto">
          <a:xfrm>
            <a:off x="1576388" y="2308225"/>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99"/>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a:solidFill>
                  <a:srgbClr val="000099"/>
                </a:solidFill>
                <a:latin typeface="Arial" pitchFamily="34" charset="0"/>
                <a:cs typeface="Arial" pitchFamily="34" charset="0"/>
              </a:rPr>
              <a:t>1</a:t>
            </a:r>
            <a:endParaRPr lang="en-US" altLang="en-US" sz="2400">
              <a:solidFill>
                <a:srgbClr val="000099"/>
              </a:solidFill>
              <a:latin typeface="Arial" pitchFamily="34" charset="0"/>
              <a:cs typeface="Arial" pitchFamily="34" charset="0"/>
            </a:endParaRPr>
          </a:p>
        </p:txBody>
      </p:sp>
      <p:grpSp>
        <p:nvGrpSpPr>
          <p:cNvPr id="47118" name="Group 15"/>
          <p:cNvGrpSpPr>
            <a:grpSpLocks/>
          </p:cNvGrpSpPr>
          <p:nvPr/>
        </p:nvGrpSpPr>
        <p:grpSpPr bwMode="auto">
          <a:xfrm>
            <a:off x="1524000" y="3810000"/>
            <a:ext cx="552450" cy="533400"/>
            <a:chOff x="489" y="1776"/>
            <a:chExt cx="348" cy="336"/>
          </a:xfrm>
        </p:grpSpPr>
        <p:sp>
          <p:nvSpPr>
            <p:cNvPr id="47132" name="Oval 16"/>
            <p:cNvSpPr>
              <a:spLocks noChangeArrowheads="1"/>
            </p:cNvSpPr>
            <p:nvPr/>
          </p:nvSpPr>
          <p:spPr bwMode="auto">
            <a:xfrm>
              <a:off x="489" y="1786"/>
              <a:ext cx="348" cy="326"/>
            </a:xfrm>
            <a:prstGeom prst="ellipse">
              <a:avLst/>
            </a:prstGeom>
            <a:solidFill>
              <a:srgbClr val="FFFFFF"/>
            </a:solidFill>
            <a:ln w="19050">
              <a:solidFill>
                <a:srgbClr val="000099"/>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solidFill>
                  <a:srgbClr val="000099"/>
                </a:solidFill>
                <a:latin typeface="Arial" pitchFamily="34" charset="0"/>
                <a:cs typeface="Arial" pitchFamily="34" charset="0"/>
              </a:endParaRPr>
            </a:p>
          </p:txBody>
        </p:sp>
        <p:sp>
          <p:nvSpPr>
            <p:cNvPr id="47133" name="Text Box 17"/>
            <p:cNvSpPr txBox="1">
              <a:spLocks noChangeArrowheads="1"/>
            </p:cNvSpPr>
            <p:nvPr/>
          </p:nvSpPr>
          <p:spPr bwMode="auto">
            <a:xfrm>
              <a:off x="546" y="1776"/>
              <a:ext cx="2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99"/>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a:solidFill>
                    <a:srgbClr val="000099"/>
                  </a:solidFill>
                  <a:latin typeface="Arial" pitchFamily="34" charset="0"/>
                  <a:cs typeface="Arial" pitchFamily="34" charset="0"/>
                </a:rPr>
                <a:t>2</a:t>
              </a:r>
              <a:endParaRPr lang="en-US" altLang="en-US" sz="2400">
                <a:solidFill>
                  <a:srgbClr val="000099"/>
                </a:solidFill>
                <a:latin typeface="Arial" pitchFamily="34" charset="0"/>
                <a:cs typeface="Arial" pitchFamily="34" charset="0"/>
              </a:endParaRPr>
            </a:p>
          </p:txBody>
        </p:sp>
      </p:grpSp>
      <p:sp>
        <p:nvSpPr>
          <p:cNvPr id="47119" name="Text Box 18"/>
          <p:cNvSpPr txBox="1">
            <a:spLocks noChangeArrowheads="1"/>
          </p:cNvSpPr>
          <p:nvPr/>
        </p:nvSpPr>
        <p:spPr bwMode="auto">
          <a:xfrm>
            <a:off x="1431925" y="5638800"/>
            <a:ext cx="5707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3200" i="1">
                <a:solidFill>
                  <a:srgbClr val="C00000"/>
                </a:solidFill>
                <a:latin typeface="Gill Sans MT" pitchFamily="34" charset="0"/>
              </a:rPr>
              <a:t>RSA: </a:t>
            </a:r>
            <a:r>
              <a:rPr lang="en-US" altLang="en-US" sz="2800">
                <a:latin typeface="Gill Sans MT" pitchFamily="34" charset="0"/>
              </a:rPr>
              <a:t>Rivest, Shamir, Adelson algorithm</a:t>
            </a:r>
            <a:endParaRPr lang="en-US" altLang="en-US" sz="2400">
              <a:latin typeface="Gill Sans MT" pitchFamily="34" charset="0"/>
            </a:endParaRPr>
          </a:p>
        </p:txBody>
      </p:sp>
      <p:sp>
        <p:nvSpPr>
          <p:cNvPr id="47120" name="Text Box 19"/>
          <p:cNvSpPr txBox="1">
            <a:spLocks noChangeArrowheads="1"/>
          </p:cNvSpPr>
          <p:nvPr/>
        </p:nvSpPr>
        <p:spPr bwMode="auto">
          <a:xfrm>
            <a:off x="3213100" y="2147888"/>
            <a:ext cx="365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a:t>
            </a:r>
          </a:p>
        </p:txBody>
      </p:sp>
      <p:sp>
        <p:nvSpPr>
          <p:cNvPr id="47121" name="Text Box 20"/>
          <p:cNvSpPr txBox="1">
            <a:spLocks noChangeArrowheads="1"/>
          </p:cNvSpPr>
          <p:nvPr/>
        </p:nvSpPr>
        <p:spPr bwMode="auto">
          <a:xfrm>
            <a:off x="4838700" y="2187575"/>
            <a:ext cx="285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a:t>
            </a:r>
          </a:p>
        </p:txBody>
      </p:sp>
      <p:grpSp>
        <p:nvGrpSpPr>
          <p:cNvPr id="47122" name="Group 21"/>
          <p:cNvGrpSpPr>
            <a:grpSpLocks/>
          </p:cNvGrpSpPr>
          <p:nvPr/>
        </p:nvGrpSpPr>
        <p:grpSpPr bwMode="auto">
          <a:xfrm>
            <a:off x="3238500" y="2720975"/>
            <a:ext cx="2830513" cy="947738"/>
            <a:chOff x="1340" y="1706"/>
            <a:chExt cx="1783" cy="597"/>
          </a:xfrm>
        </p:grpSpPr>
        <p:grpSp>
          <p:nvGrpSpPr>
            <p:cNvPr id="47126" name="Group 22"/>
            <p:cNvGrpSpPr>
              <a:grpSpLocks/>
            </p:cNvGrpSpPr>
            <p:nvPr/>
          </p:nvGrpSpPr>
          <p:grpSpPr bwMode="auto">
            <a:xfrm>
              <a:off x="1340" y="1841"/>
              <a:ext cx="1783" cy="462"/>
              <a:chOff x="1711" y="1463"/>
              <a:chExt cx="1783" cy="462"/>
            </a:xfrm>
          </p:grpSpPr>
          <p:sp>
            <p:nvSpPr>
              <p:cNvPr id="47129" name="Text Box 23"/>
              <p:cNvSpPr txBox="1">
                <a:spLocks noChangeArrowheads="1"/>
              </p:cNvSpPr>
              <p:nvPr/>
            </p:nvSpPr>
            <p:spPr bwMode="auto">
              <a:xfrm>
                <a:off x="1711" y="1463"/>
                <a:ext cx="17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a:solidFill>
                      <a:srgbClr val="C00000"/>
                    </a:solidFill>
                    <a:latin typeface="Arial" pitchFamily="34" charset="0"/>
                    <a:cs typeface="Arial" pitchFamily="34" charset="0"/>
                  </a:rPr>
                  <a:t>K  (K  (m))  =  m </a:t>
                </a:r>
              </a:p>
            </p:txBody>
          </p:sp>
          <p:sp>
            <p:nvSpPr>
              <p:cNvPr id="47130" name="Text Box 24"/>
              <p:cNvSpPr txBox="1">
                <a:spLocks noChangeArrowheads="1"/>
              </p:cNvSpPr>
              <p:nvPr/>
            </p:nvSpPr>
            <p:spPr bwMode="auto">
              <a:xfrm>
                <a:off x="2234" y="1634"/>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B</a:t>
                </a:r>
                <a:endParaRPr lang="en-US" altLang="en-US" sz="2800">
                  <a:solidFill>
                    <a:srgbClr val="C00000"/>
                  </a:solidFill>
                  <a:latin typeface="Arial" pitchFamily="34" charset="0"/>
                  <a:cs typeface="Arial" pitchFamily="34" charset="0"/>
                </a:endParaRPr>
              </a:p>
            </p:txBody>
          </p:sp>
          <p:sp>
            <p:nvSpPr>
              <p:cNvPr id="47131" name="Text Box 25"/>
              <p:cNvSpPr txBox="1">
                <a:spLocks noChangeArrowheads="1"/>
              </p:cNvSpPr>
              <p:nvPr/>
            </p:nvSpPr>
            <p:spPr bwMode="auto">
              <a:xfrm>
                <a:off x="1892" y="1620"/>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B</a:t>
                </a:r>
                <a:endParaRPr lang="en-US" altLang="en-US" sz="2800">
                  <a:solidFill>
                    <a:srgbClr val="C00000"/>
                  </a:solidFill>
                  <a:latin typeface="Arial" pitchFamily="34" charset="0"/>
                  <a:cs typeface="Arial" pitchFamily="34" charset="0"/>
                </a:endParaRPr>
              </a:p>
            </p:txBody>
          </p:sp>
        </p:grpSp>
        <p:sp>
          <p:nvSpPr>
            <p:cNvPr id="47127" name="Text Box 26"/>
            <p:cNvSpPr txBox="1">
              <a:spLocks noChangeArrowheads="1"/>
            </p:cNvSpPr>
            <p:nvPr/>
          </p:nvSpPr>
          <p:spPr bwMode="auto">
            <a:xfrm>
              <a:off x="1521" y="1706"/>
              <a:ext cx="18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sp>
          <p:nvSpPr>
            <p:cNvPr id="47128" name="Text Box 27"/>
            <p:cNvSpPr txBox="1">
              <a:spLocks noChangeArrowheads="1"/>
            </p:cNvSpPr>
            <p:nvPr/>
          </p:nvSpPr>
          <p:spPr bwMode="auto">
            <a:xfrm>
              <a:off x="1860" y="1722"/>
              <a:ext cx="22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grpSp>
      <p:sp>
        <p:nvSpPr>
          <p:cNvPr id="47123" name="Text Box 28"/>
          <p:cNvSpPr txBox="1">
            <a:spLocks noChangeArrowheads="1"/>
          </p:cNvSpPr>
          <p:nvPr/>
        </p:nvSpPr>
        <p:spPr bwMode="auto">
          <a:xfrm>
            <a:off x="5053013" y="3708400"/>
            <a:ext cx="365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a:t>
            </a:r>
          </a:p>
        </p:txBody>
      </p:sp>
      <p:sp>
        <p:nvSpPr>
          <p:cNvPr id="47124" name="Text Box 29"/>
          <p:cNvSpPr txBox="1">
            <a:spLocks noChangeArrowheads="1"/>
          </p:cNvSpPr>
          <p:nvPr/>
        </p:nvSpPr>
        <p:spPr bwMode="auto">
          <a:xfrm>
            <a:off x="3408363" y="4557713"/>
            <a:ext cx="285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a:t>
            </a:r>
          </a:p>
        </p:txBody>
      </p:sp>
      <p:pic>
        <p:nvPicPr>
          <p:cNvPr id="47125" name="Picture 1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363" y="954088"/>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48130" name="Rectangle 2"/>
          <p:cNvSpPr>
            <a:spLocks noGrp="1" noChangeArrowheads="1"/>
          </p:cNvSpPr>
          <p:nvPr>
            <p:ph type="title"/>
          </p:nvPr>
        </p:nvSpPr>
        <p:spPr>
          <a:xfrm>
            <a:off x="403225" y="141288"/>
            <a:ext cx="7772400" cy="1143000"/>
          </a:xfrm>
        </p:spPr>
        <p:txBody>
          <a:bodyPr/>
          <a:lstStyle/>
          <a:p>
            <a:r>
              <a:rPr lang="en-US" altLang="en-US" smtClean="0">
                <a:ea typeface="ＭＳ Ｐゴシック" pitchFamily="34" charset="-128"/>
              </a:rPr>
              <a:t>Prerequisite: modular arithmetic</a:t>
            </a:r>
          </a:p>
        </p:txBody>
      </p:sp>
      <p:sp>
        <p:nvSpPr>
          <p:cNvPr id="48131" name="Rectangle 3"/>
          <p:cNvSpPr>
            <a:spLocks noGrp="1" noChangeArrowheads="1"/>
          </p:cNvSpPr>
          <p:nvPr>
            <p:ph type="body" idx="1"/>
          </p:nvPr>
        </p:nvSpPr>
        <p:spPr>
          <a:xfrm>
            <a:off x="533400" y="1600200"/>
            <a:ext cx="7924800" cy="4648200"/>
          </a:xfrm>
        </p:spPr>
        <p:txBody>
          <a:bodyPr/>
          <a:lstStyle/>
          <a:p>
            <a:pPr marL="533400" indent="-533400">
              <a:lnSpc>
                <a:spcPct val="90000"/>
              </a:lnSpc>
            </a:pPr>
            <a:r>
              <a:rPr lang="en-US" altLang="en-US" smtClean="0">
                <a:ea typeface="ＭＳ Ｐゴシック" pitchFamily="34" charset="-128"/>
              </a:rPr>
              <a:t>x mod n = remainder of x when divide by n</a:t>
            </a:r>
          </a:p>
          <a:p>
            <a:pPr marL="533400" indent="-533400">
              <a:lnSpc>
                <a:spcPct val="90000"/>
              </a:lnSpc>
            </a:pPr>
            <a:r>
              <a:rPr lang="en-US" altLang="en-US" smtClean="0">
                <a:ea typeface="ＭＳ Ｐゴシック" pitchFamily="34" charset="-128"/>
              </a:rPr>
              <a:t>facts:</a:t>
            </a:r>
          </a:p>
          <a:p>
            <a:pPr marL="914400" lvl="1" indent="-457200">
              <a:lnSpc>
                <a:spcPct val="90000"/>
              </a:lnSpc>
              <a:buFont typeface="Wingdings" pitchFamily="2" charset="2"/>
              <a:buNone/>
            </a:pPr>
            <a:r>
              <a:rPr lang="en-US" altLang="en-US" smtClean="0">
                <a:solidFill>
                  <a:srgbClr val="000099"/>
                </a:solidFill>
                <a:ea typeface="ＭＳ Ｐゴシック" pitchFamily="34" charset="-128"/>
              </a:rPr>
              <a:t>[(a mod n) + (b mod n)] mod n = (a+b) mod n</a:t>
            </a:r>
          </a:p>
          <a:p>
            <a:pPr marL="914400" lvl="1" indent="-457200">
              <a:lnSpc>
                <a:spcPct val="90000"/>
              </a:lnSpc>
              <a:buFont typeface="Wingdings" pitchFamily="2" charset="2"/>
              <a:buNone/>
            </a:pPr>
            <a:r>
              <a:rPr lang="en-US" altLang="en-US" smtClean="0">
                <a:solidFill>
                  <a:srgbClr val="000099"/>
                </a:solidFill>
                <a:ea typeface="ＭＳ Ｐゴシック" pitchFamily="34" charset="-128"/>
              </a:rPr>
              <a:t>[(a mod n) - (b mod n)] mod n = (a-b) mod n</a:t>
            </a:r>
          </a:p>
          <a:p>
            <a:pPr marL="914400" lvl="1" indent="-457200">
              <a:lnSpc>
                <a:spcPct val="90000"/>
              </a:lnSpc>
              <a:buFont typeface="Wingdings" pitchFamily="2" charset="2"/>
              <a:buNone/>
            </a:pPr>
            <a:r>
              <a:rPr lang="en-US" altLang="en-US" smtClean="0">
                <a:solidFill>
                  <a:srgbClr val="000099"/>
                </a:solidFill>
                <a:ea typeface="ＭＳ Ｐゴシック" pitchFamily="34" charset="-128"/>
              </a:rPr>
              <a:t>[(a mod n) * (b mod n)] mod n = (a*b) mod n</a:t>
            </a:r>
          </a:p>
          <a:p>
            <a:pPr marL="533400" indent="-533400">
              <a:lnSpc>
                <a:spcPct val="90000"/>
              </a:lnSpc>
            </a:pPr>
            <a:r>
              <a:rPr lang="en-US" altLang="en-US" smtClean="0">
                <a:ea typeface="ＭＳ Ｐゴシック" pitchFamily="34" charset="-128"/>
              </a:rPr>
              <a:t>thus</a:t>
            </a:r>
          </a:p>
          <a:p>
            <a:pPr marL="533400" indent="-533400">
              <a:lnSpc>
                <a:spcPct val="90000"/>
              </a:lnSpc>
              <a:buFont typeface="Wingdings" pitchFamily="2" charset="2"/>
              <a:buNone/>
            </a:pPr>
            <a:r>
              <a:rPr lang="en-US" altLang="en-US" smtClean="0">
                <a:ea typeface="ＭＳ Ｐゴシック" pitchFamily="34" charset="-128"/>
              </a:rPr>
              <a:t>      </a:t>
            </a:r>
            <a:r>
              <a:rPr lang="en-US" altLang="en-US" smtClean="0">
                <a:solidFill>
                  <a:srgbClr val="000099"/>
                </a:solidFill>
                <a:ea typeface="ＭＳ Ｐゴシック" pitchFamily="34" charset="-128"/>
              </a:rPr>
              <a:t>(a mod n)</a:t>
            </a:r>
            <a:r>
              <a:rPr lang="en-US" altLang="en-US" baseline="30000" smtClean="0">
                <a:solidFill>
                  <a:srgbClr val="000099"/>
                </a:solidFill>
                <a:ea typeface="ＭＳ Ｐゴシック" pitchFamily="34" charset="-128"/>
              </a:rPr>
              <a:t>d</a:t>
            </a:r>
            <a:r>
              <a:rPr lang="en-US" altLang="en-US" smtClean="0">
                <a:solidFill>
                  <a:srgbClr val="000099"/>
                </a:solidFill>
                <a:ea typeface="ＭＳ Ｐゴシック" pitchFamily="34" charset="-128"/>
              </a:rPr>
              <a:t> mod n = a</a:t>
            </a:r>
            <a:r>
              <a:rPr lang="en-US" altLang="en-US" baseline="30000" smtClean="0">
                <a:solidFill>
                  <a:srgbClr val="000099"/>
                </a:solidFill>
                <a:ea typeface="ＭＳ Ｐゴシック" pitchFamily="34" charset="-128"/>
              </a:rPr>
              <a:t>d</a:t>
            </a:r>
            <a:r>
              <a:rPr lang="en-US" altLang="en-US" smtClean="0">
                <a:solidFill>
                  <a:srgbClr val="000099"/>
                </a:solidFill>
                <a:ea typeface="ＭＳ Ｐゴシック" pitchFamily="34" charset="-128"/>
              </a:rPr>
              <a:t> mod n</a:t>
            </a:r>
          </a:p>
          <a:p>
            <a:pPr marL="533400" indent="-533400">
              <a:lnSpc>
                <a:spcPct val="90000"/>
              </a:lnSpc>
            </a:pPr>
            <a:r>
              <a:rPr lang="en-US" altLang="en-US" smtClean="0">
                <a:ea typeface="ＭＳ Ｐゴシック" pitchFamily="34" charset="-128"/>
              </a:rPr>
              <a:t>example: x=14, n=10, d=2:</a:t>
            </a:r>
            <a:br>
              <a:rPr lang="en-US" altLang="en-US" smtClean="0">
                <a:ea typeface="ＭＳ Ｐゴシック" pitchFamily="34" charset="-128"/>
              </a:rPr>
            </a:br>
            <a:r>
              <a:rPr lang="en-US" altLang="en-US" smtClean="0">
                <a:ea typeface="ＭＳ Ｐゴシック" pitchFamily="34" charset="-128"/>
              </a:rPr>
              <a:t>(x mod n)</a:t>
            </a:r>
            <a:r>
              <a:rPr lang="en-US" altLang="en-US" baseline="30000" smtClean="0">
                <a:ea typeface="ＭＳ Ｐゴシック" pitchFamily="34" charset="-128"/>
              </a:rPr>
              <a:t>d</a:t>
            </a:r>
            <a:r>
              <a:rPr lang="en-US" altLang="en-US" smtClean="0">
                <a:ea typeface="ＭＳ Ｐゴシック" pitchFamily="34" charset="-128"/>
              </a:rPr>
              <a:t> mod n = 4</a:t>
            </a:r>
            <a:r>
              <a:rPr lang="en-US" altLang="en-US" baseline="30000" smtClean="0">
                <a:ea typeface="ＭＳ Ｐゴシック" pitchFamily="34" charset="-128"/>
              </a:rPr>
              <a:t>2</a:t>
            </a:r>
            <a:r>
              <a:rPr lang="en-US" altLang="en-US" smtClean="0">
                <a:ea typeface="ＭＳ Ｐゴシック" pitchFamily="34" charset="-128"/>
              </a:rPr>
              <a:t> mod 10 = 6</a:t>
            </a:r>
            <a:br>
              <a:rPr lang="en-US" altLang="en-US" smtClean="0">
                <a:ea typeface="ＭＳ Ｐゴシック" pitchFamily="34" charset="-128"/>
              </a:rPr>
            </a:br>
            <a:r>
              <a:rPr lang="en-US" altLang="en-US" smtClean="0">
                <a:ea typeface="ＭＳ Ｐゴシック" pitchFamily="34" charset="-128"/>
              </a:rPr>
              <a:t>x</a:t>
            </a:r>
            <a:r>
              <a:rPr lang="en-US" altLang="en-US" baseline="30000" smtClean="0">
                <a:ea typeface="ＭＳ Ｐゴシック" pitchFamily="34" charset="-128"/>
              </a:rPr>
              <a:t>d</a:t>
            </a:r>
            <a:r>
              <a:rPr lang="en-US" altLang="en-US" smtClean="0">
                <a:ea typeface="ＭＳ Ｐゴシック" pitchFamily="34" charset="-128"/>
              </a:rPr>
              <a:t> = 14</a:t>
            </a:r>
            <a:r>
              <a:rPr lang="en-US" altLang="en-US" baseline="30000" smtClean="0">
                <a:ea typeface="ＭＳ Ｐゴシック" pitchFamily="34" charset="-128"/>
              </a:rPr>
              <a:t>2</a:t>
            </a:r>
            <a:r>
              <a:rPr lang="en-US" altLang="en-US" smtClean="0">
                <a:ea typeface="ＭＳ Ｐゴシック" pitchFamily="34" charset="-128"/>
              </a:rPr>
              <a:t> = 196   x</a:t>
            </a:r>
            <a:r>
              <a:rPr lang="en-US" altLang="en-US" baseline="30000" smtClean="0">
                <a:ea typeface="ＭＳ Ｐゴシック" pitchFamily="34" charset="-128"/>
              </a:rPr>
              <a:t>d</a:t>
            </a:r>
            <a:r>
              <a:rPr lang="en-US" altLang="en-US" smtClean="0">
                <a:ea typeface="ＭＳ Ｐゴシック" pitchFamily="34" charset="-128"/>
              </a:rPr>
              <a:t> mod 10  = 6 </a:t>
            </a:r>
          </a:p>
        </p:txBody>
      </p:sp>
      <p:pic>
        <p:nvPicPr>
          <p:cNvPr id="48132" name="Picture 1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00" y="931863"/>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49154" name="Rectangle 2"/>
          <p:cNvSpPr>
            <a:spLocks noGrp="1" noChangeArrowheads="1"/>
          </p:cNvSpPr>
          <p:nvPr>
            <p:ph type="title"/>
          </p:nvPr>
        </p:nvSpPr>
        <p:spPr/>
        <p:txBody>
          <a:bodyPr/>
          <a:lstStyle/>
          <a:p>
            <a:r>
              <a:rPr lang="en-US" altLang="en-US" smtClean="0">
                <a:ea typeface="ＭＳ Ｐゴシック" pitchFamily="34" charset="-128"/>
              </a:rPr>
              <a:t>RSA: getting ready</a:t>
            </a:r>
          </a:p>
        </p:txBody>
      </p:sp>
      <p:sp>
        <p:nvSpPr>
          <p:cNvPr id="49155" name="Rectangle 3"/>
          <p:cNvSpPr>
            <a:spLocks noGrp="1" noChangeArrowheads="1"/>
          </p:cNvSpPr>
          <p:nvPr>
            <p:ph type="body" idx="1"/>
          </p:nvPr>
        </p:nvSpPr>
        <p:spPr/>
        <p:txBody>
          <a:bodyPr/>
          <a:lstStyle/>
          <a:p>
            <a:r>
              <a:rPr lang="en-US" altLang="en-US" sz="2400" smtClean="0">
                <a:ea typeface="ＭＳ Ｐゴシック" pitchFamily="34" charset="-128"/>
              </a:rPr>
              <a:t>message: just a bit pattern</a:t>
            </a:r>
          </a:p>
          <a:p>
            <a:r>
              <a:rPr lang="en-US" altLang="en-US" sz="2400" smtClean="0">
                <a:ea typeface="ＭＳ Ｐゴシック" pitchFamily="34" charset="-128"/>
              </a:rPr>
              <a:t>bit pattern can be uniquely represented by an integer number </a:t>
            </a:r>
          </a:p>
          <a:p>
            <a:r>
              <a:rPr lang="en-US" altLang="en-US" sz="2400" smtClean="0">
                <a:ea typeface="ＭＳ Ｐゴシック" pitchFamily="34" charset="-128"/>
              </a:rPr>
              <a:t>thus, encrypting a message is equivalent to encrypting a number.</a:t>
            </a:r>
          </a:p>
          <a:p>
            <a:pPr>
              <a:buFont typeface="Wingdings" pitchFamily="2" charset="2"/>
              <a:buNone/>
            </a:pPr>
            <a:r>
              <a:rPr lang="en-US" altLang="en-US" i="1" smtClean="0">
                <a:solidFill>
                  <a:srgbClr val="C00000"/>
                </a:solidFill>
                <a:ea typeface="ＭＳ Ｐゴシック" pitchFamily="34" charset="-128"/>
              </a:rPr>
              <a:t>example:</a:t>
            </a:r>
          </a:p>
          <a:p>
            <a:r>
              <a:rPr lang="en-US" altLang="en-US" sz="2400" smtClean="0">
                <a:ea typeface="ＭＳ Ｐゴシック" pitchFamily="34" charset="-128"/>
              </a:rPr>
              <a:t>m= 10010001 . This message is uniquely represented by the decimal number 145. </a:t>
            </a:r>
          </a:p>
          <a:p>
            <a:r>
              <a:rPr lang="en-US" altLang="en-US" sz="2400" smtClean="0">
                <a:ea typeface="ＭＳ Ｐゴシック" pitchFamily="34" charset="-128"/>
              </a:rPr>
              <a:t>to encrypt m, we encrypt the corresponding number, which gives a new number (the ciphertext).</a:t>
            </a:r>
          </a:p>
        </p:txBody>
      </p:sp>
      <p:pic>
        <p:nvPicPr>
          <p:cNvPr id="49156" name="Picture 22"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013" y="1044575"/>
            <a:ext cx="4570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50178" name="Rectangle 2"/>
          <p:cNvSpPr>
            <a:spLocks noGrp="1" noChangeArrowheads="1"/>
          </p:cNvSpPr>
          <p:nvPr>
            <p:ph type="title"/>
          </p:nvPr>
        </p:nvSpPr>
        <p:spPr>
          <a:xfrm>
            <a:off x="414338" y="98425"/>
            <a:ext cx="7772400" cy="1143000"/>
          </a:xfrm>
        </p:spPr>
        <p:txBody>
          <a:bodyPr/>
          <a:lstStyle/>
          <a:p>
            <a:r>
              <a:rPr lang="en-US" altLang="en-US" sz="3600" smtClean="0">
                <a:ea typeface="ＭＳ Ｐゴシック" pitchFamily="34" charset="-128"/>
              </a:rPr>
              <a:t>RSA: Creating public/private key pair</a:t>
            </a:r>
          </a:p>
        </p:txBody>
      </p:sp>
      <p:sp>
        <p:nvSpPr>
          <p:cNvPr id="50179" name="Text Box 3"/>
          <p:cNvSpPr txBox="1">
            <a:spLocks noChangeArrowheads="1"/>
          </p:cNvSpPr>
          <p:nvPr/>
        </p:nvSpPr>
        <p:spPr bwMode="auto">
          <a:xfrm>
            <a:off x="625475" y="1400175"/>
            <a:ext cx="60801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a:solidFill>
                  <a:srgbClr val="000099"/>
                </a:solidFill>
                <a:latin typeface="Gill Sans MT" pitchFamily="34" charset="0"/>
              </a:rPr>
              <a:t>1.</a:t>
            </a:r>
            <a:r>
              <a:rPr lang="en-US" altLang="en-US" sz="2800">
                <a:latin typeface="Gill Sans MT" pitchFamily="34" charset="0"/>
              </a:rPr>
              <a:t> choose two large prime numbers </a:t>
            </a:r>
            <a:r>
              <a:rPr lang="en-US" altLang="en-US" sz="2800" i="1">
                <a:latin typeface="Gill Sans MT" pitchFamily="34" charset="0"/>
              </a:rPr>
              <a:t>p, q.</a:t>
            </a:r>
            <a:r>
              <a:rPr lang="en-US" altLang="en-US" sz="2800">
                <a:latin typeface="Gill Sans MT" pitchFamily="34" charset="0"/>
              </a:rPr>
              <a:t> </a:t>
            </a:r>
          </a:p>
          <a:p>
            <a:r>
              <a:rPr lang="en-US" altLang="en-US" sz="2800">
                <a:latin typeface="Gill Sans MT" pitchFamily="34" charset="0"/>
              </a:rPr>
              <a:t>   (e.g., 1024 bits each)</a:t>
            </a:r>
          </a:p>
        </p:txBody>
      </p:sp>
      <p:sp>
        <p:nvSpPr>
          <p:cNvPr id="50180" name="Text Box 4"/>
          <p:cNvSpPr txBox="1">
            <a:spLocks noChangeArrowheads="1"/>
          </p:cNvSpPr>
          <p:nvPr/>
        </p:nvSpPr>
        <p:spPr bwMode="auto">
          <a:xfrm>
            <a:off x="611188" y="2386013"/>
            <a:ext cx="4945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a:solidFill>
                  <a:srgbClr val="000099"/>
                </a:solidFill>
                <a:latin typeface="Gill Sans MT" pitchFamily="34" charset="0"/>
              </a:rPr>
              <a:t>2.</a:t>
            </a:r>
            <a:r>
              <a:rPr lang="en-US" altLang="en-US" sz="2800">
                <a:latin typeface="Gill Sans MT" pitchFamily="34" charset="0"/>
              </a:rPr>
              <a:t> compute </a:t>
            </a:r>
            <a:r>
              <a:rPr lang="en-US" altLang="en-US" sz="2800" i="1">
                <a:solidFill>
                  <a:srgbClr val="C00000"/>
                </a:solidFill>
                <a:latin typeface="Gill Sans MT" pitchFamily="34" charset="0"/>
              </a:rPr>
              <a:t>n </a:t>
            </a:r>
            <a:r>
              <a:rPr lang="en-US" altLang="en-US" sz="2800" i="1">
                <a:latin typeface="Gill Sans MT" pitchFamily="34" charset="0"/>
              </a:rPr>
              <a:t>= pq,  z = (p-1)(q-1</a:t>
            </a:r>
            <a:r>
              <a:rPr lang="en-US" altLang="en-US" sz="2800">
                <a:latin typeface="Gill Sans MT" pitchFamily="34" charset="0"/>
              </a:rPr>
              <a:t>)</a:t>
            </a:r>
          </a:p>
        </p:txBody>
      </p:sp>
      <p:sp>
        <p:nvSpPr>
          <p:cNvPr id="50181" name="Text Box 5"/>
          <p:cNvSpPr txBox="1">
            <a:spLocks noChangeArrowheads="1"/>
          </p:cNvSpPr>
          <p:nvPr/>
        </p:nvSpPr>
        <p:spPr bwMode="auto">
          <a:xfrm>
            <a:off x="609600" y="3055938"/>
            <a:ext cx="76930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a:solidFill>
                  <a:srgbClr val="000099"/>
                </a:solidFill>
                <a:latin typeface="Gill Sans MT" pitchFamily="34" charset="0"/>
              </a:rPr>
              <a:t>3.</a:t>
            </a:r>
            <a:r>
              <a:rPr lang="en-US" altLang="en-US" sz="2800">
                <a:latin typeface="Gill Sans MT" pitchFamily="34" charset="0"/>
              </a:rPr>
              <a:t> choose </a:t>
            </a:r>
            <a:r>
              <a:rPr lang="en-US" altLang="en-US" sz="2800" i="1">
                <a:solidFill>
                  <a:srgbClr val="C00000"/>
                </a:solidFill>
                <a:latin typeface="Gill Sans MT" pitchFamily="34" charset="0"/>
              </a:rPr>
              <a:t>e</a:t>
            </a:r>
            <a:r>
              <a:rPr lang="en-US" altLang="en-US" sz="2800" i="1">
                <a:latin typeface="Gill Sans MT" pitchFamily="34" charset="0"/>
              </a:rPr>
              <a:t> (</a:t>
            </a:r>
            <a:r>
              <a:rPr lang="en-US" altLang="en-US" sz="2800">
                <a:latin typeface="Gill Sans MT" pitchFamily="34" charset="0"/>
              </a:rPr>
              <a:t>with</a:t>
            </a:r>
            <a:r>
              <a:rPr lang="en-US" altLang="en-US" sz="2800" i="1">
                <a:latin typeface="Gill Sans MT" pitchFamily="34" charset="0"/>
              </a:rPr>
              <a:t> e&lt;n)</a:t>
            </a:r>
            <a:r>
              <a:rPr lang="en-US" altLang="en-US" sz="2800">
                <a:latin typeface="Gill Sans MT" pitchFamily="34" charset="0"/>
              </a:rPr>
              <a:t> that has no common factors</a:t>
            </a:r>
          </a:p>
          <a:p>
            <a:r>
              <a:rPr lang="en-US" altLang="en-US" sz="2800">
                <a:latin typeface="Gill Sans MT" pitchFamily="34" charset="0"/>
              </a:rPr>
              <a:t>    with z (</a:t>
            </a:r>
            <a:r>
              <a:rPr lang="en-US" altLang="en-US" sz="2800" i="1">
                <a:latin typeface="Gill Sans MT" pitchFamily="34" charset="0"/>
              </a:rPr>
              <a:t>e, z</a:t>
            </a:r>
            <a:r>
              <a:rPr lang="en-US" altLang="en-US" sz="2800">
                <a:latin typeface="Gill Sans MT" pitchFamily="34" charset="0"/>
              </a:rPr>
              <a:t> are </a:t>
            </a:r>
            <a:r>
              <a:rPr lang="ja-JP" altLang="en-US" sz="2800">
                <a:latin typeface="Gill Sans MT" pitchFamily="34" charset="0"/>
              </a:rPr>
              <a:t>“</a:t>
            </a:r>
            <a:r>
              <a:rPr lang="en-US" altLang="ja-JP" sz="2800">
                <a:latin typeface="Gill Sans MT" pitchFamily="34" charset="0"/>
              </a:rPr>
              <a:t>relatively prime</a:t>
            </a:r>
            <a:r>
              <a:rPr lang="ja-JP" altLang="en-US" sz="2800">
                <a:latin typeface="Gill Sans MT" pitchFamily="34" charset="0"/>
              </a:rPr>
              <a:t>”</a:t>
            </a:r>
            <a:r>
              <a:rPr lang="en-US" altLang="ja-JP" sz="2800">
                <a:latin typeface="Gill Sans MT" pitchFamily="34" charset="0"/>
              </a:rPr>
              <a:t>).</a:t>
            </a:r>
            <a:endParaRPr lang="en-US" altLang="en-US" sz="2800">
              <a:latin typeface="Gill Sans MT" pitchFamily="34" charset="0"/>
            </a:endParaRPr>
          </a:p>
        </p:txBody>
      </p:sp>
      <p:sp>
        <p:nvSpPr>
          <p:cNvPr id="50182" name="Text Box 6"/>
          <p:cNvSpPr txBox="1">
            <a:spLocks noChangeArrowheads="1"/>
          </p:cNvSpPr>
          <p:nvPr/>
        </p:nvSpPr>
        <p:spPr bwMode="auto">
          <a:xfrm>
            <a:off x="625475" y="4044950"/>
            <a:ext cx="75914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a:solidFill>
                  <a:srgbClr val="000099"/>
                </a:solidFill>
                <a:latin typeface="Gill Sans MT" pitchFamily="34" charset="0"/>
              </a:rPr>
              <a:t>4.</a:t>
            </a:r>
            <a:r>
              <a:rPr lang="en-US" altLang="en-US" sz="2800">
                <a:latin typeface="Gill Sans MT" pitchFamily="34" charset="0"/>
              </a:rPr>
              <a:t> choose </a:t>
            </a:r>
            <a:r>
              <a:rPr lang="en-US" altLang="en-US" sz="2800" i="1">
                <a:solidFill>
                  <a:srgbClr val="C00000"/>
                </a:solidFill>
                <a:latin typeface="Gill Sans MT" pitchFamily="34" charset="0"/>
              </a:rPr>
              <a:t>d</a:t>
            </a:r>
            <a:r>
              <a:rPr lang="en-US" altLang="en-US" sz="2800">
                <a:latin typeface="Gill Sans MT" pitchFamily="34" charset="0"/>
              </a:rPr>
              <a:t> such that </a:t>
            </a:r>
            <a:r>
              <a:rPr lang="en-US" altLang="en-US" sz="2800" i="1">
                <a:latin typeface="Gill Sans MT" pitchFamily="34" charset="0"/>
              </a:rPr>
              <a:t>ed-1</a:t>
            </a:r>
            <a:r>
              <a:rPr lang="en-US" altLang="en-US" sz="2800">
                <a:latin typeface="Gill Sans MT" pitchFamily="34" charset="0"/>
              </a:rPr>
              <a:t> is  exactly divisible by </a:t>
            </a:r>
            <a:r>
              <a:rPr lang="en-US" altLang="en-US" sz="2800" i="1">
                <a:latin typeface="Gill Sans MT" pitchFamily="34" charset="0"/>
              </a:rPr>
              <a:t>z</a:t>
            </a:r>
            <a:r>
              <a:rPr lang="en-US" altLang="en-US" sz="2800">
                <a:latin typeface="Gill Sans MT" pitchFamily="34" charset="0"/>
              </a:rPr>
              <a:t>.</a:t>
            </a:r>
          </a:p>
          <a:p>
            <a:r>
              <a:rPr lang="en-US" altLang="en-US" sz="2800">
                <a:latin typeface="Gill Sans MT" pitchFamily="34" charset="0"/>
              </a:rPr>
              <a:t>    (in other words: </a:t>
            </a:r>
            <a:r>
              <a:rPr lang="en-US" altLang="en-US" sz="2800" i="1">
                <a:latin typeface="Gill Sans MT" pitchFamily="34" charset="0"/>
              </a:rPr>
              <a:t>ed</a:t>
            </a:r>
            <a:r>
              <a:rPr lang="en-US" altLang="en-US" sz="2800">
                <a:latin typeface="Gill Sans MT" pitchFamily="34" charset="0"/>
              </a:rPr>
              <a:t> mod </a:t>
            </a:r>
            <a:r>
              <a:rPr lang="en-US" altLang="en-US" sz="2800" i="1">
                <a:latin typeface="Gill Sans MT" pitchFamily="34" charset="0"/>
              </a:rPr>
              <a:t>z  = 1 </a:t>
            </a:r>
            <a:r>
              <a:rPr lang="en-US" altLang="en-US" sz="2800">
                <a:latin typeface="Gill Sans MT" pitchFamily="34" charset="0"/>
              </a:rPr>
              <a:t>).</a:t>
            </a:r>
          </a:p>
        </p:txBody>
      </p:sp>
      <p:sp>
        <p:nvSpPr>
          <p:cNvPr id="50183" name="Text Box 7"/>
          <p:cNvSpPr txBox="1">
            <a:spLocks noChangeArrowheads="1"/>
          </p:cNvSpPr>
          <p:nvPr/>
        </p:nvSpPr>
        <p:spPr bwMode="auto">
          <a:xfrm>
            <a:off x="636588" y="5156200"/>
            <a:ext cx="5740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a:solidFill>
                  <a:srgbClr val="000099"/>
                </a:solidFill>
                <a:latin typeface="Gill Sans MT" pitchFamily="34" charset="0"/>
              </a:rPr>
              <a:t>5.</a:t>
            </a:r>
            <a:r>
              <a:rPr lang="en-US" altLang="en-US" sz="2800">
                <a:latin typeface="Gill Sans MT" pitchFamily="34" charset="0"/>
              </a:rPr>
              <a:t> </a:t>
            </a:r>
            <a:r>
              <a:rPr lang="en-US" altLang="en-US" sz="2800" i="1">
                <a:latin typeface="Gill Sans MT" pitchFamily="34" charset="0"/>
              </a:rPr>
              <a:t>public</a:t>
            </a:r>
            <a:r>
              <a:rPr lang="en-US" altLang="en-US" sz="2800">
                <a:latin typeface="Gill Sans MT" pitchFamily="34" charset="0"/>
              </a:rPr>
              <a:t> key is </a:t>
            </a:r>
            <a:r>
              <a:rPr lang="en-US" altLang="en-US" sz="2800" i="1">
                <a:latin typeface="Gill Sans MT" pitchFamily="34" charset="0"/>
              </a:rPr>
              <a:t>(</a:t>
            </a:r>
            <a:r>
              <a:rPr lang="en-US" altLang="en-US" sz="2800" i="1">
                <a:solidFill>
                  <a:srgbClr val="C00000"/>
                </a:solidFill>
                <a:latin typeface="Gill Sans MT" pitchFamily="34" charset="0"/>
              </a:rPr>
              <a:t>n,e</a:t>
            </a:r>
            <a:r>
              <a:rPr lang="en-US" altLang="en-US" sz="2800" i="1">
                <a:latin typeface="Gill Sans MT" pitchFamily="34" charset="0"/>
              </a:rPr>
              <a:t>).</a:t>
            </a:r>
            <a:r>
              <a:rPr lang="en-US" altLang="en-US" sz="2800">
                <a:latin typeface="Gill Sans MT" pitchFamily="34" charset="0"/>
              </a:rPr>
              <a:t>  </a:t>
            </a:r>
            <a:r>
              <a:rPr lang="en-US" altLang="en-US" sz="2800" i="1">
                <a:latin typeface="Gill Sans MT" pitchFamily="34" charset="0"/>
              </a:rPr>
              <a:t>private</a:t>
            </a:r>
            <a:r>
              <a:rPr lang="en-US" altLang="en-US" sz="2800">
                <a:latin typeface="Gill Sans MT" pitchFamily="34" charset="0"/>
              </a:rPr>
              <a:t> key is </a:t>
            </a:r>
            <a:r>
              <a:rPr lang="en-US" altLang="en-US" sz="2800" i="1">
                <a:latin typeface="Gill Sans MT" pitchFamily="34" charset="0"/>
              </a:rPr>
              <a:t>(</a:t>
            </a:r>
            <a:r>
              <a:rPr lang="en-US" altLang="en-US" sz="2800" i="1">
                <a:solidFill>
                  <a:srgbClr val="C00000"/>
                </a:solidFill>
                <a:latin typeface="Gill Sans MT" pitchFamily="34" charset="0"/>
              </a:rPr>
              <a:t>n,d</a:t>
            </a:r>
            <a:r>
              <a:rPr lang="en-US" altLang="en-US" sz="2800" i="1">
                <a:latin typeface="Gill Sans MT" pitchFamily="34" charset="0"/>
              </a:rPr>
              <a:t>).</a:t>
            </a:r>
          </a:p>
        </p:txBody>
      </p:sp>
      <p:grpSp>
        <p:nvGrpSpPr>
          <p:cNvPr id="50184" name="Group 8"/>
          <p:cNvGrpSpPr>
            <a:grpSpLocks/>
          </p:cNvGrpSpPr>
          <p:nvPr/>
        </p:nvGrpSpPr>
        <p:grpSpPr bwMode="auto">
          <a:xfrm>
            <a:off x="2938463" y="5684838"/>
            <a:ext cx="612775" cy="708025"/>
            <a:chOff x="1748" y="3628"/>
            <a:chExt cx="386" cy="446"/>
          </a:xfrm>
        </p:grpSpPr>
        <p:sp>
          <p:nvSpPr>
            <p:cNvPr id="50192" name="Text Box 9"/>
            <p:cNvSpPr txBox="1">
              <a:spLocks noChangeArrowheads="1"/>
            </p:cNvSpPr>
            <p:nvPr/>
          </p:nvSpPr>
          <p:spPr bwMode="auto">
            <a:xfrm>
              <a:off x="1748" y="3700"/>
              <a:ext cx="29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K</a:t>
              </a:r>
              <a:r>
                <a:rPr lang="en-US" altLang="en-US">
                  <a:solidFill>
                    <a:srgbClr val="C00000"/>
                  </a:solidFill>
                  <a:latin typeface="Arial" pitchFamily="34" charset="0"/>
                  <a:cs typeface="Arial" pitchFamily="34" charset="0"/>
                </a:rPr>
                <a:t> </a:t>
              </a:r>
            </a:p>
          </p:txBody>
        </p:sp>
        <p:sp>
          <p:nvSpPr>
            <p:cNvPr id="50193" name="Text Box 10"/>
            <p:cNvSpPr txBox="1">
              <a:spLocks noChangeArrowheads="1"/>
            </p:cNvSpPr>
            <p:nvPr/>
          </p:nvSpPr>
          <p:spPr bwMode="auto">
            <a:xfrm>
              <a:off x="1910" y="3822"/>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B</a:t>
              </a:r>
            </a:p>
          </p:txBody>
        </p:sp>
        <p:sp>
          <p:nvSpPr>
            <p:cNvPr id="50194" name="Text Box 11"/>
            <p:cNvSpPr txBox="1">
              <a:spLocks noChangeArrowheads="1"/>
            </p:cNvSpPr>
            <p:nvPr/>
          </p:nvSpPr>
          <p:spPr bwMode="auto">
            <a:xfrm>
              <a:off x="1909" y="3628"/>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a:t>
              </a:r>
            </a:p>
          </p:txBody>
        </p:sp>
      </p:grpSp>
      <p:grpSp>
        <p:nvGrpSpPr>
          <p:cNvPr id="50185" name="Group 12"/>
          <p:cNvGrpSpPr>
            <a:grpSpLocks/>
          </p:cNvGrpSpPr>
          <p:nvPr/>
        </p:nvGrpSpPr>
        <p:grpSpPr bwMode="auto">
          <a:xfrm>
            <a:off x="5705475" y="5676900"/>
            <a:ext cx="612775" cy="708025"/>
            <a:chOff x="1748" y="3628"/>
            <a:chExt cx="386" cy="446"/>
          </a:xfrm>
        </p:grpSpPr>
        <p:sp>
          <p:nvSpPr>
            <p:cNvPr id="50189" name="Text Box 13"/>
            <p:cNvSpPr txBox="1">
              <a:spLocks noChangeArrowheads="1"/>
            </p:cNvSpPr>
            <p:nvPr/>
          </p:nvSpPr>
          <p:spPr bwMode="auto">
            <a:xfrm>
              <a:off x="1748" y="3700"/>
              <a:ext cx="29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K</a:t>
              </a:r>
              <a:r>
                <a:rPr lang="en-US" altLang="en-US">
                  <a:solidFill>
                    <a:srgbClr val="C00000"/>
                  </a:solidFill>
                  <a:latin typeface="Arial" pitchFamily="34" charset="0"/>
                  <a:cs typeface="Arial" pitchFamily="34" charset="0"/>
                </a:rPr>
                <a:t> </a:t>
              </a:r>
            </a:p>
          </p:txBody>
        </p:sp>
        <p:sp>
          <p:nvSpPr>
            <p:cNvPr id="50190" name="Text Box 14"/>
            <p:cNvSpPr txBox="1">
              <a:spLocks noChangeArrowheads="1"/>
            </p:cNvSpPr>
            <p:nvPr/>
          </p:nvSpPr>
          <p:spPr bwMode="auto">
            <a:xfrm>
              <a:off x="1910" y="3822"/>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B</a:t>
              </a:r>
            </a:p>
          </p:txBody>
        </p:sp>
        <p:sp>
          <p:nvSpPr>
            <p:cNvPr id="50191" name="Text Box 15"/>
            <p:cNvSpPr txBox="1">
              <a:spLocks noChangeArrowheads="1"/>
            </p:cNvSpPr>
            <p:nvPr/>
          </p:nvSpPr>
          <p:spPr bwMode="auto">
            <a:xfrm>
              <a:off x="1924" y="3628"/>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a:t>
              </a:r>
            </a:p>
          </p:txBody>
        </p:sp>
      </p:grpSp>
      <p:sp>
        <p:nvSpPr>
          <p:cNvPr id="50186" name="AutoShape 16"/>
          <p:cNvSpPr>
            <a:spLocks/>
          </p:cNvSpPr>
          <p:nvPr/>
        </p:nvSpPr>
        <p:spPr bwMode="auto">
          <a:xfrm rot="5400000">
            <a:off x="3064669" y="5347494"/>
            <a:ext cx="165100" cy="760412"/>
          </a:xfrm>
          <a:prstGeom prst="rightBrace">
            <a:avLst>
              <a:gd name="adj1" fmla="val 38381"/>
              <a:gd name="adj2" fmla="val 50000"/>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50187" name="AutoShape 17"/>
          <p:cNvSpPr>
            <a:spLocks/>
          </p:cNvSpPr>
          <p:nvPr/>
        </p:nvSpPr>
        <p:spPr bwMode="auto">
          <a:xfrm rot="5400000">
            <a:off x="5844382" y="5317331"/>
            <a:ext cx="165100" cy="760413"/>
          </a:xfrm>
          <a:prstGeom prst="rightBrace">
            <a:avLst>
              <a:gd name="adj1" fmla="val 38381"/>
              <a:gd name="adj2" fmla="val 50000"/>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pic>
        <p:nvPicPr>
          <p:cNvPr id="50188" name="Picture 16"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79475"/>
            <a:ext cx="7313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51202" name="Rectangle 2"/>
          <p:cNvSpPr>
            <a:spLocks noGrp="1" noChangeArrowheads="1"/>
          </p:cNvSpPr>
          <p:nvPr>
            <p:ph type="title"/>
          </p:nvPr>
        </p:nvSpPr>
        <p:spPr/>
        <p:txBody>
          <a:bodyPr/>
          <a:lstStyle/>
          <a:p>
            <a:r>
              <a:rPr lang="en-US" altLang="en-US" smtClean="0">
                <a:ea typeface="ＭＳ Ｐゴシック" pitchFamily="34" charset="-128"/>
              </a:rPr>
              <a:t>RSA: encryption, decryption</a:t>
            </a:r>
          </a:p>
        </p:txBody>
      </p:sp>
      <p:sp>
        <p:nvSpPr>
          <p:cNvPr id="51203" name="Text Box 3"/>
          <p:cNvSpPr txBox="1">
            <a:spLocks noChangeArrowheads="1"/>
          </p:cNvSpPr>
          <p:nvPr/>
        </p:nvSpPr>
        <p:spPr bwMode="auto">
          <a:xfrm>
            <a:off x="612775" y="1500188"/>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a:solidFill>
                  <a:srgbClr val="000099"/>
                </a:solidFill>
                <a:latin typeface="Gill Sans MT" pitchFamily="34" charset="0"/>
              </a:rPr>
              <a:t>0.</a:t>
            </a:r>
            <a:r>
              <a:rPr lang="en-US" altLang="en-US" sz="2800">
                <a:latin typeface="Gill Sans MT" pitchFamily="34" charset="0"/>
              </a:rPr>
              <a:t>  given (</a:t>
            </a:r>
            <a:r>
              <a:rPr lang="en-US" altLang="en-US" sz="2800" i="1">
                <a:solidFill>
                  <a:srgbClr val="C00000"/>
                </a:solidFill>
                <a:latin typeface="Gill Sans MT" pitchFamily="34" charset="0"/>
              </a:rPr>
              <a:t>n,e</a:t>
            </a:r>
            <a:r>
              <a:rPr lang="en-US" altLang="en-US" sz="2800">
                <a:latin typeface="Gill Sans MT" pitchFamily="34" charset="0"/>
              </a:rPr>
              <a:t>) and (</a:t>
            </a:r>
            <a:r>
              <a:rPr lang="en-US" altLang="en-US" sz="2800" i="1">
                <a:solidFill>
                  <a:srgbClr val="C00000"/>
                </a:solidFill>
                <a:latin typeface="Gill Sans MT" pitchFamily="34" charset="0"/>
              </a:rPr>
              <a:t>n,d</a:t>
            </a:r>
            <a:r>
              <a:rPr lang="en-US" altLang="en-US" sz="2800">
                <a:latin typeface="Gill Sans MT" pitchFamily="34" charset="0"/>
              </a:rPr>
              <a:t>) as computed above</a:t>
            </a:r>
          </a:p>
        </p:txBody>
      </p:sp>
      <p:grpSp>
        <p:nvGrpSpPr>
          <p:cNvPr id="51204" name="Group 4"/>
          <p:cNvGrpSpPr>
            <a:grpSpLocks/>
          </p:cNvGrpSpPr>
          <p:nvPr/>
        </p:nvGrpSpPr>
        <p:grpSpPr bwMode="auto">
          <a:xfrm>
            <a:off x="669925" y="2179638"/>
            <a:ext cx="6024563" cy="1031875"/>
            <a:chOff x="407" y="1521"/>
            <a:chExt cx="3795" cy="650"/>
          </a:xfrm>
        </p:grpSpPr>
        <p:sp>
          <p:nvSpPr>
            <p:cNvPr id="51219" name="Text Box 5"/>
            <p:cNvSpPr txBox="1">
              <a:spLocks noChangeArrowheads="1"/>
            </p:cNvSpPr>
            <p:nvPr/>
          </p:nvSpPr>
          <p:spPr bwMode="auto">
            <a:xfrm>
              <a:off x="407" y="1521"/>
              <a:ext cx="366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a:solidFill>
                    <a:srgbClr val="000099"/>
                  </a:solidFill>
                  <a:latin typeface="Gill Sans MT" pitchFamily="34" charset="0"/>
                </a:rPr>
                <a:t>1.</a:t>
              </a:r>
              <a:r>
                <a:rPr lang="en-US" altLang="en-US" sz="2800">
                  <a:latin typeface="Gill Sans MT" pitchFamily="34" charset="0"/>
                </a:rPr>
                <a:t> to encrypt message </a:t>
              </a:r>
              <a:r>
                <a:rPr lang="en-US" altLang="en-US" sz="2800" i="1">
                  <a:latin typeface="Gill Sans MT" pitchFamily="34" charset="0"/>
                </a:rPr>
                <a:t>m (&lt;n)</a:t>
              </a:r>
              <a:r>
                <a:rPr lang="en-US" altLang="en-US" sz="2800">
                  <a:latin typeface="Gill Sans MT" pitchFamily="34" charset="0"/>
                </a:rPr>
                <a:t>, compute</a:t>
              </a:r>
            </a:p>
          </p:txBody>
        </p:sp>
        <p:grpSp>
          <p:nvGrpSpPr>
            <p:cNvPr id="51220" name="Group 6"/>
            <p:cNvGrpSpPr>
              <a:grpSpLocks/>
            </p:cNvGrpSpPr>
            <p:nvPr/>
          </p:nvGrpSpPr>
          <p:grpSpPr bwMode="auto">
            <a:xfrm>
              <a:off x="563" y="1768"/>
              <a:ext cx="1451" cy="403"/>
              <a:chOff x="1688" y="1812"/>
              <a:chExt cx="1451" cy="403"/>
            </a:xfrm>
          </p:grpSpPr>
          <p:sp>
            <p:nvSpPr>
              <p:cNvPr id="51224" name="Text Box 7"/>
              <p:cNvSpPr txBox="1">
                <a:spLocks noChangeArrowheads="1"/>
              </p:cNvSpPr>
              <p:nvPr/>
            </p:nvSpPr>
            <p:spPr bwMode="auto">
              <a:xfrm>
                <a:off x="1688" y="1885"/>
                <a:ext cx="145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i="1">
                    <a:solidFill>
                      <a:srgbClr val="C00000"/>
                    </a:solidFill>
                    <a:latin typeface="Gill Sans MT" pitchFamily="34" charset="0"/>
                  </a:rPr>
                  <a:t>c = m   </a:t>
                </a:r>
                <a:r>
                  <a:rPr lang="en-US" altLang="en-US" sz="2800">
                    <a:solidFill>
                      <a:srgbClr val="C00000"/>
                    </a:solidFill>
                    <a:latin typeface="Gill Sans MT" pitchFamily="34" charset="0"/>
                  </a:rPr>
                  <a:t>mod</a:t>
                </a:r>
                <a:r>
                  <a:rPr lang="en-US" altLang="en-US" sz="2800" i="1">
                    <a:solidFill>
                      <a:srgbClr val="C00000"/>
                    </a:solidFill>
                    <a:latin typeface="Gill Sans MT" pitchFamily="34" charset="0"/>
                  </a:rPr>
                  <a:t>  n</a:t>
                </a:r>
              </a:p>
            </p:txBody>
          </p:sp>
          <p:sp>
            <p:nvSpPr>
              <p:cNvPr id="51225" name="Text Box 8"/>
              <p:cNvSpPr txBox="1">
                <a:spLocks noChangeArrowheads="1"/>
              </p:cNvSpPr>
              <p:nvPr/>
            </p:nvSpPr>
            <p:spPr bwMode="auto">
              <a:xfrm>
                <a:off x="2227" y="1812"/>
                <a:ext cx="21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i="1">
                    <a:solidFill>
                      <a:srgbClr val="C00000"/>
                    </a:solidFill>
                    <a:latin typeface="Gill Sans MT" pitchFamily="34" charset="0"/>
                  </a:rPr>
                  <a:t>e</a:t>
                </a:r>
              </a:p>
            </p:txBody>
          </p:sp>
        </p:grpSp>
        <p:grpSp>
          <p:nvGrpSpPr>
            <p:cNvPr id="51221" name="Group 9"/>
            <p:cNvGrpSpPr>
              <a:grpSpLocks/>
            </p:cNvGrpSpPr>
            <p:nvPr/>
          </p:nvGrpSpPr>
          <p:grpSpPr bwMode="auto">
            <a:xfrm>
              <a:off x="1966" y="1724"/>
              <a:ext cx="2236" cy="439"/>
              <a:chOff x="777" y="2538"/>
              <a:chExt cx="2236" cy="439"/>
            </a:xfrm>
          </p:grpSpPr>
          <p:sp>
            <p:nvSpPr>
              <p:cNvPr id="51222" name="Text Box 10"/>
              <p:cNvSpPr txBox="1">
                <a:spLocks noChangeArrowheads="1"/>
              </p:cNvSpPr>
              <p:nvPr/>
            </p:nvSpPr>
            <p:spPr bwMode="auto">
              <a:xfrm>
                <a:off x="777" y="2647"/>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800">
                  <a:latin typeface="Gill Sans MT" pitchFamily="34" charset="0"/>
                </a:endParaRPr>
              </a:p>
            </p:txBody>
          </p:sp>
          <p:sp>
            <p:nvSpPr>
              <p:cNvPr id="51223" name="Text Box 11"/>
              <p:cNvSpPr txBox="1">
                <a:spLocks noChangeArrowheads="1"/>
              </p:cNvSpPr>
              <p:nvPr/>
            </p:nvSpPr>
            <p:spPr bwMode="auto">
              <a:xfrm>
                <a:off x="2897" y="2538"/>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800" i="1">
                  <a:solidFill>
                    <a:srgbClr val="FF0000"/>
                  </a:solidFill>
                  <a:latin typeface="Gill Sans MT" pitchFamily="34" charset="0"/>
                </a:endParaRPr>
              </a:p>
            </p:txBody>
          </p:sp>
        </p:grpSp>
      </p:grpSp>
      <p:sp>
        <p:nvSpPr>
          <p:cNvPr id="51205" name="Text Box 12"/>
          <p:cNvSpPr txBox="1">
            <a:spLocks noChangeArrowheads="1"/>
          </p:cNvSpPr>
          <p:nvPr/>
        </p:nvSpPr>
        <p:spPr bwMode="auto">
          <a:xfrm>
            <a:off x="669925" y="3449638"/>
            <a:ext cx="6711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a:solidFill>
                  <a:srgbClr val="000099"/>
                </a:solidFill>
                <a:latin typeface="Gill Sans MT" pitchFamily="34" charset="0"/>
              </a:rPr>
              <a:t>2.</a:t>
            </a:r>
            <a:r>
              <a:rPr lang="en-US" altLang="en-US" sz="2800">
                <a:latin typeface="Gill Sans MT" pitchFamily="34" charset="0"/>
              </a:rPr>
              <a:t> to decrypt received bit pattern, </a:t>
            </a:r>
            <a:r>
              <a:rPr lang="en-US" altLang="en-US" sz="2800" i="1">
                <a:latin typeface="Gill Sans MT" pitchFamily="34" charset="0"/>
              </a:rPr>
              <a:t>c</a:t>
            </a:r>
            <a:r>
              <a:rPr lang="en-US" altLang="en-US" sz="2800">
                <a:latin typeface="Gill Sans MT" pitchFamily="34" charset="0"/>
              </a:rPr>
              <a:t>, compute</a:t>
            </a:r>
          </a:p>
        </p:txBody>
      </p:sp>
      <p:grpSp>
        <p:nvGrpSpPr>
          <p:cNvPr id="51206" name="Group 13"/>
          <p:cNvGrpSpPr>
            <a:grpSpLocks/>
          </p:cNvGrpSpPr>
          <p:nvPr/>
        </p:nvGrpSpPr>
        <p:grpSpPr bwMode="auto">
          <a:xfrm>
            <a:off x="917575" y="3841750"/>
            <a:ext cx="2303463" cy="639763"/>
            <a:chOff x="1688" y="1812"/>
            <a:chExt cx="1451" cy="403"/>
          </a:xfrm>
        </p:grpSpPr>
        <p:sp>
          <p:nvSpPr>
            <p:cNvPr id="51217" name="Text Box 14"/>
            <p:cNvSpPr txBox="1">
              <a:spLocks noChangeArrowheads="1"/>
            </p:cNvSpPr>
            <p:nvPr/>
          </p:nvSpPr>
          <p:spPr bwMode="auto">
            <a:xfrm>
              <a:off x="1688" y="1885"/>
              <a:ext cx="145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i="1">
                  <a:solidFill>
                    <a:srgbClr val="C00000"/>
                  </a:solidFill>
                  <a:latin typeface="Gill Sans MT" pitchFamily="34" charset="0"/>
                </a:rPr>
                <a:t>m = c   </a:t>
              </a:r>
              <a:r>
                <a:rPr lang="en-US" altLang="en-US" sz="2800">
                  <a:solidFill>
                    <a:srgbClr val="C00000"/>
                  </a:solidFill>
                  <a:latin typeface="Gill Sans MT" pitchFamily="34" charset="0"/>
                </a:rPr>
                <a:t>mod</a:t>
              </a:r>
              <a:r>
                <a:rPr lang="en-US" altLang="en-US" sz="2800" i="1">
                  <a:solidFill>
                    <a:srgbClr val="C00000"/>
                  </a:solidFill>
                  <a:latin typeface="Gill Sans MT" pitchFamily="34" charset="0"/>
                </a:rPr>
                <a:t>  n</a:t>
              </a:r>
            </a:p>
          </p:txBody>
        </p:sp>
        <p:sp>
          <p:nvSpPr>
            <p:cNvPr id="51218" name="Text Box 15"/>
            <p:cNvSpPr txBox="1">
              <a:spLocks noChangeArrowheads="1"/>
            </p:cNvSpPr>
            <p:nvPr/>
          </p:nvSpPr>
          <p:spPr bwMode="auto">
            <a:xfrm>
              <a:off x="2223" y="1812"/>
              <a:ext cx="22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i="1">
                  <a:solidFill>
                    <a:srgbClr val="C00000"/>
                  </a:solidFill>
                  <a:latin typeface="Gill Sans MT" pitchFamily="34" charset="0"/>
                </a:rPr>
                <a:t>d</a:t>
              </a:r>
            </a:p>
          </p:txBody>
        </p:sp>
      </p:grpSp>
      <p:grpSp>
        <p:nvGrpSpPr>
          <p:cNvPr id="51207" name="Group 16"/>
          <p:cNvGrpSpPr>
            <a:grpSpLocks/>
          </p:cNvGrpSpPr>
          <p:nvPr/>
        </p:nvGrpSpPr>
        <p:grpSpPr bwMode="auto">
          <a:xfrm>
            <a:off x="2965450" y="4922838"/>
            <a:ext cx="3935413" cy="619125"/>
            <a:chOff x="868" y="3287"/>
            <a:chExt cx="2479" cy="390"/>
          </a:xfrm>
        </p:grpSpPr>
        <p:sp>
          <p:nvSpPr>
            <p:cNvPr id="51213" name="Text Box 17"/>
            <p:cNvSpPr txBox="1">
              <a:spLocks noChangeArrowheads="1"/>
            </p:cNvSpPr>
            <p:nvPr/>
          </p:nvSpPr>
          <p:spPr bwMode="auto">
            <a:xfrm>
              <a:off x="868" y="3388"/>
              <a:ext cx="17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i="1">
                  <a:latin typeface="Arial" pitchFamily="34" charset="0"/>
                  <a:cs typeface="Arial" pitchFamily="34" charset="0"/>
                </a:rPr>
                <a:t>m  =  (m   </a:t>
              </a:r>
              <a:r>
                <a:rPr lang="en-US" altLang="en-US" sz="2400">
                  <a:latin typeface="Arial" pitchFamily="34" charset="0"/>
                  <a:cs typeface="Arial" pitchFamily="34" charset="0"/>
                </a:rPr>
                <a:t>mod</a:t>
              </a:r>
              <a:r>
                <a:rPr lang="en-US" altLang="en-US" sz="2400" i="1">
                  <a:latin typeface="Arial" pitchFamily="34" charset="0"/>
                  <a:cs typeface="Arial" pitchFamily="34" charset="0"/>
                </a:rPr>
                <a:t>  n)</a:t>
              </a:r>
            </a:p>
          </p:txBody>
        </p:sp>
        <p:sp>
          <p:nvSpPr>
            <p:cNvPr id="51214" name="Text Box 18"/>
            <p:cNvSpPr txBox="1">
              <a:spLocks noChangeArrowheads="1"/>
            </p:cNvSpPr>
            <p:nvPr/>
          </p:nvSpPr>
          <p:spPr bwMode="auto">
            <a:xfrm>
              <a:off x="1615" y="3308"/>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i="1">
                  <a:latin typeface="Arial" pitchFamily="34" charset="0"/>
                  <a:cs typeface="Arial" pitchFamily="34" charset="0"/>
                </a:rPr>
                <a:t>e</a:t>
              </a:r>
            </a:p>
          </p:txBody>
        </p:sp>
        <p:sp>
          <p:nvSpPr>
            <p:cNvPr id="51215" name="Text Box 19"/>
            <p:cNvSpPr txBox="1">
              <a:spLocks noChangeArrowheads="1"/>
            </p:cNvSpPr>
            <p:nvPr/>
          </p:nvSpPr>
          <p:spPr bwMode="auto">
            <a:xfrm>
              <a:off x="2533" y="3389"/>
              <a:ext cx="8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i="1">
                  <a:latin typeface="Arial" pitchFamily="34" charset="0"/>
                  <a:cs typeface="Arial" pitchFamily="34" charset="0"/>
                </a:rPr>
                <a:t> </a:t>
              </a:r>
              <a:r>
                <a:rPr lang="en-US" altLang="en-US" sz="2400">
                  <a:latin typeface="Arial" pitchFamily="34" charset="0"/>
                  <a:cs typeface="Arial" pitchFamily="34" charset="0"/>
                </a:rPr>
                <a:t>mod</a:t>
              </a:r>
              <a:r>
                <a:rPr lang="en-US" altLang="en-US" sz="2400" i="1">
                  <a:latin typeface="Arial" pitchFamily="34" charset="0"/>
                  <a:cs typeface="Arial" pitchFamily="34" charset="0"/>
                </a:rPr>
                <a:t>  n</a:t>
              </a:r>
            </a:p>
          </p:txBody>
        </p:sp>
        <p:sp>
          <p:nvSpPr>
            <p:cNvPr id="51216" name="Text Box 20"/>
            <p:cNvSpPr txBox="1">
              <a:spLocks noChangeArrowheads="1"/>
            </p:cNvSpPr>
            <p:nvPr/>
          </p:nvSpPr>
          <p:spPr bwMode="auto">
            <a:xfrm>
              <a:off x="2450" y="3287"/>
              <a:ext cx="2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i="1">
                  <a:latin typeface="Arial" pitchFamily="34" charset="0"/>
                  <a:cs typeface="Arial" pitchFamily="34" charset="0"/>
                </a:rPr>
                <a:t>d</a:t>
              </a:r>
            </a:p>
          </p:txBody>
        </p:sp>
      </p:grpSp>
      <p:sp>
        <p:nvSpPr>
          <p:cNvPr id="51208" name="Text Box 21"/>
          <p:cNvSpPr txBox="1">
            <a:spLocks noChangeArrowheads="1"/>
          </p:cNvSpPr>
          <p:nvPr/>
        </p:nvSpPr>
        <p:spPr bwMode="auto">
          <a:xfrm>
            <a:off x="1466850" y="4910138"/>
            <a:ext cx="14605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2800" i="1">
                <a:solidFill>
                  <a:srgbClr val="C00000"/>
                </a:solidFill>
                <a:latin typeface="Gill Sans MT" pitchFamily="34" charset="0"/>
              </a:rPr>
              <a:t>magic</a:t>
            </a:r>
          </a:p>
          <a:p>
            <a:pPr algn="r"/>
            <a:r>
              <a:rPr lang="en-US" altLang="en-US" sz="2800" i="1">
                <a:solidFill>
                  <a:srgbClr val="C00000"/>
                </a:solidFill>
                <a:latin typeface="Gill Sans MT" pitchFamily="34" charset="0"/>
              </a:rPr>
              <a:t>happens!</a:t>
            </a:r>
          </a:p>
        </p:txBody>
      </p:sp>
      <p:sp>
        <p:nvSpPr>
          <p:cNvPr id="51209" name="Rectangle 22"/>
          <p:cNvSpPr>
            <a:spLocks noChangeArrowheads="1"/>
          </p:cNvSpPr>
          <p:nvPr/>
        </p:nvSpPr>
        <p:spPr bwMode="auto">
          <a:xfrm>
            <a:off x="1198563" y="4786313"/>
            <a:ext cx="6256337" cy="1268412"/>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51210" name="AutoShape 23"/>
          <p:cNvSpPr>
            <a:spLocks/>
          </p:cNvSpPr>
          <p:nvPr/>
        </p:nvSpPr>
        <p:spPr bwMode="auto">
          <a:xfrm rot="-5400000">
            <a:off x="4688682" y="4985543"/>
            <a:ext cx="139700" cy="1223963"/>
          </a:xfrm>
          <a:prstGeom prst="leftBrace">
            <a:avLst>
              <a:gd name="adj1" fmla="val 73011"/>
              <a:gd name="adj2" fmla="val 52954"/>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51211" name="Text Box 24"/>
          <p:cNvSpPr txBox="1">
            <a:spLocks noChangeArrowheads="1"/>
          </p:cNvSpPr>
          <p:nvPr/>
        </p:nvSpPr>
        <p:spPr bwMode="auto">
          <a:xfrm>
            <a:off x="4656138" y="5584825"/>
            <a:ext cx="436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spcBef>
                <a:spcPct val="50000"/>
              </a:spcBef>
            </a:pPr>
            <a:r>
              <a:rPr lang="en-US" altLang="en-US" sz="2400">
                <a:latin typeface="Arial" pitchFamily="34" charset="0"/>
                <a:cs typeface="Arial" pitchFamily="34" charset="0"/>
              </a:rPr>
              <a:t>c</a:t>
            </a:r>
          </a:p>
        </p:txBody>
      </p:sp>
      <p:pic>
        <p:nvPicPr>
          <p:cNvPr id="51212" name="Picture 17"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850" y="1027113"/>
            <a:ext cx="68564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52226" name="Rectangle 2"/>
          <p:cNvSpPr>
            <a:spLocks noGrp="1" noChangeArrowheads="1"/>
          </p:cNvSpPr>
          <p:nvPr>
            <p:ph type="title"/>
          </p:nvPr>
        </p:nvSpPr>
        <p:spPr>
          <a:xfrm>
            <a:off x="338138" y="152400"/>
            <a:ext cx="7772400" cy="1143000"/>
          </a:xfrm>
        </p:spPr>
        <p:txBody>
          <a:bodyPr/>
          <a:lstStyle/>
          <a:p>
            <a:r>
              <a:rPr lang="en-US" altLang="en-US" smtClean="0">
                <a:ea typeface="ＭＳ Ｐゴシック" pitchFamily="34" charset="-128"/>
              </a:rPr>
              <a:t>RSA example:</a:t>
            </a:r>
          </a:p>
        </p:txBody>
      </p:sp>
      <p:sp>
        <p:nvSpPr>
          <p:cNvPr id="52227" name="Text Box 3"/>
          <p:cNvSpPr txBox="1">
            <a:spLocks noChangeArrowheads="1"/>
          </p:cNvSpPr>
          <p:nvPr/>
        </p:nvSpPr>
        <p:spPr bwMode="auto">
          <a:xfrm>
            <a:off x="533400" y="1300163"/>
            <a:ext cx="5881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Bob chooses </a:t>
            </a:r>
            <a:r>
              <a:rPr lang="en-US" altLang="en-US" sz="2400" i="1">
                <a:latin typeface="Arial" pitchFamily="34" charset="0"/>
                <a:cs typeface="Arial" pitchFamily="34" charset="0"/>
              </a:rPr>
              <a:t>p=5, q=7</a:t>
            </a:r>
            <a:r>
              <a:rPr lang="en-US" altLang="en-US" sz="2400">
                <a:latin typeface="Arial" pitchFamily="34" charset="0"/>
                <a:cs typeface="Arial" pitchFamily="34" charset="0"/>
              </a:rPr>
              <a:t>.  Then </a:t>
            </a:r>
            <a:r>
              <a:rPr lang="en-US" altLang="en-US" sz="2400" i="1">
                <a:latin typeface="Arial" pitchFamily="34" charset="0"/>
                <a:cs typeface="Arial" pitchFamily="34" charset="0"/>
              </a:rPr>
              <a:t>n=35, z=24</a:t>
            </a:r>
            <a:r>
              <a:rPr lang="en-US" altLang="en-US" sz="2400">
                <a:latin typeface="Arial" pitchFamily="34" charset="0"/>
                <a:cs typeface="Arial" pitchFamily="34" charset="0"/>
              </a:rPr>
              <a:t>.</a:t>
            </a:r>
          </a:p>
        </p:txBody>
      </p:sp>
      <p:sp>
        <p:nvSpPr>
          <p:cNvPr id="52228" name="Text Box 4"/>
          <p:cNvSpPr txBox="1">
            <a:spLocks noChangeArrowheads="1"/>
          </p:cNvSpPr>
          <p:nvPr/>
        </p:nvSpPr>
        <p:spPr bwMode="auto">
          <a:xfrm>
            <a:off x="2312988" y="1724025"/>
            <a:ext cx="51577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i="1">
                <a:latin typeface="Arial" pitchFamily="34" charset="0"/>
                <a:cs typeface="Arial" pitchFamily="34" charset="0"/>
              </a:rPr>
              <a:t>e=5</a:t>
            </a:r>
            <a:r>
              <a:rPr lang="en-US" altLang="en-US" sz="2400">
                <a:latin typeface="Arial" pitchFamily="34" charset="0"/>
                <a:cs typeface="Arial" pitchFamily="34" charset="0"/>
              </a:rPr>
              <a:t>  (so </a:t>
            </a:r>
            <a:r>
              <a:rPr lang="en-US" altLang="en-US" sz="2400" i="1">
                <a:latin typeface="Arial" pitchFamily="34" charset="0"/>
                <a:cs typeface="Arial" pitchFamily="34" charset="0"/>
              </a:rPr>
              <a:t>e, z</a:t>
            </a:r>
            <a:r>
              <a:rPr lang="en-US" altLang="en-US" sz="2400">
                <a:latin typeface="Arial" pitchFamily="34" charset="0"/>
                <a:cs typeface="Arial" pitchFamily="34" charset="0"/>
              </a:rPr>
              <a:t>  relatively prime).</a:t>
            </a:r>
          </a:p>
          <a:p>
            <a:r>
              <a:rPr lang="en-US" altLang="en-US" sz="2400" i="1">
                <a:latin typeface="Arial" pitchFamily="34" charset="0"/>
                <a:cs typeface="Arial" pitchFamily="34" charset="0"/>
              </a:rPr>
              <a:t>d=29</a:t>
            </a:r>
            <a:r>
              <a:rPr lang="en-US" altLang="en-US" sz="2400">
                <a:latin typeface="Arial" pitchFamily="34" charset="0"/>
                <a:cs typeface="Arial" pitchFamily="34" charset="0"/>
              </a:rPr>
              <a:t> (so </a:t>
            </a:r>
            <a:r>
              <a:rPr lang="en-US" altLang="en-US" sz="2400" i="1">
                <a:latin typeface="Arial" pitchFamily="34" charset="0"/>
                <a:cs typeface="Arial" pitchFamily="34" charset="0"/>
              </a:rPr>
              <a:t>ed-1</a:t>
            </a:r>
            <a:r>
              <a:rPr lang="en-US" altLang="en-US" sz="2400">
                <a:latin typeface="Arial" pitchFamily="34" charset="0"/>
                <a:cs typeface="Arial" pitchFamily="34" charset="0"/>
              </a:rPr>
              <a:t> exactly divisible by z).</a:t>
            </a:r>
          </a:p>
          <a:p>
            <a:r>
              <a:rPr lang="en-US" altLang="en-US" sz="2400">
                <a:latin typeface="Arial" pitchFamily="34" charset="0"/>
                <a:cs typeface="Arial" pitchFamily="34" charset="0"/>
              </a:rPr>
              <a:t> </a:t>
            </a:r>
          </a:p>
        </p:txBody>
      </p:sp>
      <p:sp>
        <p:nvSpPr>
          <p:cNvPr id="52229" name="Text Box 5"/>
          <p:cNvSpPr txBox="1">
            <a:spLocks noChangeArrowheads="1"/>
          </p:cNvSpPr>
          <p:nvPr/>
        </p:nvSpPr>
        <p:spPr bwMode="auto">
          <a:xfrm>
            <a:off x="1954213" y="3465513"/>
            <a:ext cx="1554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bit pattern</a:t>
            </a:r>
          </a:p>
        </p:txBody>
      </p:sp>
      <p:sp>
        <p:nvSpPr>
          <p:cNvPr id="52230" name="Text Box 6"/>
          <p:cNvSpPr txBox="1">
            <a:spLocks noChangeArrowheads="1"/>
          </p:cNvSpPr>
          <p:nvPr/>
        </p:nvSpPr>
        <p:spPr bwMode="auto">
          <a:xfrm>
            <a:off x="3810000" y="3441700"/>
            <a:ext cx="441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m</a:t>
            </a:r>
          </a:p>
        </p:txBody>
      </p:sp>
      <p:sp>
        <p:nvSpPr>
          <p:cNvPr id="52231" name="Text Box 7"/>
          <p:cNvSpPr txBox="1">
            <a:spLocks noChangeArrowheads="1"/>
          </p:cNvSpPr>
          <p:nvPr/>
        </p:nvSpPr>
        <p:spPr bwMode="auto">
          <a:xfrm>
            <a:off x="5078413" y="3462338"/>
            <a:ext cx="4397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m</a:t>
            </a:r>
          </a:p>
        </p:txBody>
      </p:sp>
      <p:sp>
        <p:nvSpPr>
          <p:cNvPr id="52232" name="Text Box 8"/>
          <p:cNvSpPr txBox="1">
            <a:spLocks noChangeArrowheads="1"/>
          </p:cNvSpPr>
          <p:nvPr/>
        </p:nvSpPr>
        <p:spPr bwMode="auto">
          <a:xfrm>
            <a:off x="5307013" y="3309938"/>
            <a:ext cx="3571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e</a:t>
            </a:r>
          </a:p>
        </p:txBody>
      </p:sp>
      <p:grpSp>
        <p:nvGrpSpPr>
          <p:cNvPr id="52233" name="Group 9"/>
          <p:cNvGrpSpPr>
            <a:grpSpLocks/>
          </p:cNvGrpSpPr>
          <p:nvPr/>
        </p:nvGrpSpPr>
        <p:grpSpPr bwMode="auto">
          <a:xfrm>
            <a:off x="6704013" y="3343275"/>
            <a:ext cx="2055812" cy="590550"/>
            <a:chOff x="2708" y="1773"/>
            <a:chExt cx="1295" cy="372"/>
          </a:xfrm>
        </p:grpSpPr>
        <p:sp>
          <p:nvSpPr>
            <p:cNvPr id="52261" name="Text Box 10"/>
            <p:cNvSpPr txBox="1">
              <a:spLocks noChangeArrowheads="1"/>
            </p:cNvSpPr>
            <p:nvPr/>
          </p:nvSpPr>
          <p:spPr bwMode="auto">
            <a:xfrm>
              <a:off x="2708" y="1854"/>
              <a:ext cx="129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c = m  mod  n</a:t>
              </a:r>
            </a:p>
          </p:txBody>
        </p:sp>
        <p:sp>
          <p:nvSpPr>
            <p:cNvPr id="52262" name="Text Box 11"/>
            <p:cNvSpPr txBox="1">
              <a:spLocks noChangeArrowheads="1"/>
            </p:cNvSpPr>
            <p:nvPr/>
          </p:nvSpPr>
          <p:spPr bwMode="auto">
            <a:xfrm>
              <a:off x="3168" y="1773"/>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e</a:t>
              </a:r>
            </a:p>
          </p:txBody>
        </p:sp>
      </p:grpSp>
      <p:sp>
        <p:nvSpPr>
          <p:cNvPr id="52234" name="Text Box 12"/>
          <p:cNvSpPr txBox="1">
            <a:spLocks noChangeArrowheads="1"/>
          </p:cNvSpPr>
          <p:nvPr/>
        </p:nvSpPr>
        <p:spPr bwMode="auto">
          <a:xfrm>
            <a:off x="2006600" y="4005263"/>
            <a:ext cx="144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rPr>
              <a:t>0000l000</a:t>
            </a:r>
            <a:endParaRPr lang="en-US" altLang="en-US" sz="2400">
              <a:solidFill>
                <a:srgbClr val="C00000"/>
              </a:solidFill>
              <a:latin typeface="Times New Roman" pitchFamily="18" charset="0"/>
            </a:endParaRPr>
          </a:p>
        </p:txBody>
      </p:sp>
      <p:sp>
        <p:nvSpPr>
          <p:cNvPr id="52235" name="Text Box 13"/>
          <p:cNvSpPr txBox="1">
            <a:spLocks noChangeArrowheads="1"/>
          </p:cNvSpPr>
          <p:nvPr/>
        </p:nvSpPr>
        <p:spPr bwMode="auto">
          <a:xfrm>
            <a:off x="3741738" y="399573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rPr>
              <a:t>12</a:t>
            </a:r>
            <a:endParaRPr lang="en-US" altLang="en-US" sz="2400">
              <a:solidFill>
                <a:srgbClr val="C00000"/>
              </a:solidFill>
              <a:latin typeface="Times New Roman" pitchFamily="18" charset="0"/>
            </a:endParaRPr>
          </a:p>
        </p:txBody>
      </p:sp>
      <p:sp>
        <p:nvSpPr>
          <p:cNvPr id="52236" name="Text Box 14"/>
          <p:cNvSpPr txBox="1">
            <a:spLocks noChangeArrowheads="1"/>
          </p:cNvSpPr>
          <p:nvPr/>
        </p:nvSpPr>
        <p:spPr bwMode="auto">
          <a:xfrm>
            <a:off x="4783138" y="3987800"/>
            <a:ext cx="1033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rPr>
              <a:t>24832</a:t>
            </a:r>
            <a:endParaRPr lang="en-US" altLang="en-US" sz="2400">
              <a:solidFill>
                <a:srgbClr val="C00000"/>
              </a:solidFill>
              <a:latin typeface="Times New Roman" pitchFamily="18" charset="0"/>
            </a:endParaRPr>
          </a:p>
        </p:txBody>
      </p:sp>
      <p:sp>
        <p:nvSpPr>
          <p:cNvPr id="52237" name="Text Box 15"/>
          <p:cNvSpPr txBox="1">
            <a:spLocks noChangeArrowheads="1"/>
          </p:cNvSpPr>
          <p:nvPr/>
        </p:nvSpPr>
        <p:spPr bwMode="auto">
          <a:xfrm>
            <a:off x="7637463" y="3986213"/>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rPr>
              <a:t>17</a:t>
            </a:r>
            <a:endParaRPr lang="en-US" altLang="en-US" sz="2400">
              <a:solidFill>
                <a:srgbClr val="C00000"/>
              </a:solidFill>
              <a:latin typeface="Times New Roman" pitchFamily="18" charset="0"/>
            </a:endParaRPr>
          </a:p>
        </p:txBody>
      </p:sp>
      <p:sp>
        <p:nvSpPr>
          <p:cNvPr id="52238" name="Text Box 28"/>
          <p:cNvSpPr txBox="1">
            <a:spLocks noChangeArrowheads="1"/>
          </p:cNvSpPr>
          <p:nvPr/>
        </p:nvSpPr>
        <p:spPr bwMode="auto">
          <a:xfrm>
            <a:off x="487363" y="3767138"/>
            <a:ext cx="1279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000099"/>
                </a:solidFill>
                <a:latin typeface="Arial" pitchFamily="34" charset="0"/>
                <a:cs typeface="Arial" pitchFamily="34" charset="0"/>
              </a:rPr>
              <a:t>encrypt:</a:t>
            </a:r>
          </a:p>
        </p:txBody>
      </p:sp>
      <p:sp>
        <p:nvSpPr>
          <p:cNvPr id="52239" name="Text Box 31"/>
          <p:cNvSpPr txBox="1">
            <a:spLocks noChangeArrowheads="1"/>
          </p:cNvSpPr>
          <p:nvPr/>
        </p:nvSpPr>
        <p:spPr bwMode="auto">
          <a:xfrm>
            <a:off x="503238" y="2667000"/>
            <a:ext cx="3865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a:latin typeface="Arial" pitchFamily="34" charset="0"/>
                <a:cs typeface="Arial" pitchFamily="34" charset="0"/>
              </a:rPr>
              <a:t>encrypting 8-bit messages.</a:t>
            </a:r>
          </a:p>
        </p:txBody>
      </p:sp>
      <p:pic>
        <p:nvPicPr>
          <p:cNvPr id="52240" name="Picture 24"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088" y="968375"/>
            <a:ext cx="3101975" cy="16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41" name="Right Brace 1"/>
          <p:cNvSpPr>
            <a:spLocks/>
          </p:cNvSpPr>
          <p:nvPr/>
        </p:nvSpPr>
        <p:spPr bwMode="auto">
          <a:xfrm rot="5400000">
            <a:off x="2625725" y="3203576"/>
            <a:ext cx="180975" cy="1403350"/>
          </a:xfrm>
          <a:prstGeom prst="rightBrace">
            <a:avLst>
              <a:gd name="adj1" fmla="val 825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52242" name="Right Brace 31"/>
          <p:cNvSpPr>
            <a:spLocks/>
          </p:cNvSpPr>
          <p:nvPr/>
        </p:nvSpPr>
        <p:spPr bwMode="auto">
          <a:xfrm rot="5400000">
            <a:off x="3948112" y="3676651"/>
            <a:ext cx="169863" cy="468312"/>
          </a:xfrm>
          <a:prstGeom prst="rightBrace">
            <a:avLst>
              <a:gd name="adj1" fmla="val 828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52243" name="Right Brace 32"/>
          <p:cNvSpPr>
            <a:spLocks/>
          </p:cNvSpPr>
          <p:nvPr/>
        </p:nvSpPr>
        <p:spPr bwMode="auto">
          <a:xfrm rot="5400000">
            <a:off x="5195094" y="3682206"/>
            <a:ext cx="168275" cy="468313"/>
          </a:xfrm>
          <a:prstGeom prst="rightBrace">
            <a:avLst>
              <a:gd name="adj1" fmla="val 836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52244" name="Right Brace 33"/>
          <p:cNvSpPr>
            <a:spLocks/>
          </p:cNvSpPr>
          <p:nvPr/>
        </p:nvSpPr>
        <p:spPr bwMode="auto">
          <a:xfrm rot="5400000">
            <a:off x="7737475" y="2892425"/>
            <a:ext cx="179388" cy="2046288"/>
          </a:xfrm>
          <a:prstGeom prst="rightBrace">
            <a:avLst>
              <a:gd name="adj1" fmla="val 834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grpSp>
        <p:nvGrpSpPr>
          <p:cNvPr id="5" name="Group 4"/>
          <p:cNvGrpSpPr>
            <a:grpSpLocks/>
          </p:cNvGrpSpPr>
          <p:nvPr/>
        </p:nvGrpSpPr>
        <p:grpSpPr bwMode="auto">
          <a:xfrm>
            <a:off x="544513" y="4729163"/>
            <a:ext cx="7564437" cy="1150937"/>
            <a:chOff x="543729" y="4729393"/>
            <a:chExt cx="7565229" cy="1150260"/>
          </a:xfrm>
        </p:grpSpPr>
        <p:sp>
          <p:nvSpPr>
            <p:cNvPr id="52247" name="Text Box 16"/>
            <p:cNvSpPr txBox="1">
              <a:spLocks noChangeArrowheads="1"/>
            </p:cNvSpPr>
            <p:nvPr/>
          </p:nvSpPr>
          <p:spPr bwMode="auto">
            <a:xfrm>
              <a:off x="2359031" y="4873856"/>
              <a:ext cx="341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c</a:t>
              </a:r>
            </a:p>
          </p:txBody>
        </p:sp>
        <p:grpSp>
          <p:nvGrpSpPr>
            <p:cNvPr id="52248" name="Group 17"/>
            <p:cNvGrpSpPr>
              <a:grpSpLocks/>
            </p:cNvGrpSpPr>
            <p:nvPr/>
          </p:nvGrpSpPr>
          <p:grpSpPr bwMode="auto">
            <a:xfrm>
              <a:off x="6053145" y="4766587"/>
              <a:ext cx="2055813" cy="590551"/>
              <a:chOff x="2708" y="1773"/>
              <a:chExt cx="1295" cy="372"/>
            </a:xfrm>
          </p:grpSpPr>
          <p:sp>
            <p:nvSpPr>
              <p:cNvPr id="52259" name="Text Box 18"/>
              <p:cNvSpPr txBox="1">
                <a:spLocks noChangeArrowheads="1"/>
              </p:cNvSpPr>
              <p:nvPr/>
            </p:nvSpPr>
            <p:spPr bwMode="auto">
              <a:xfrm>
                <a:off x="2708" y="1854"/>
                <a:ext cx="129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m = c  mod  n</a:t>
                </a:r>
              </a:p>
            </p:txBody>
          </p:sp>
          <p:sp>
            <p:nvSpPr>
              <p:cNvPr id="52260" name="Text Box 19"/>
              <p:cNvSpPr txBox="1">
                <a:spLocks noChangeArrowheads="1"/>
              </p:cNvSpPr>
              <p:nvPr/>
            </p:nvSpPr>
            <p:spPr bwMode="auto">
              <a:xfrm>
                <a:off x="3166" y="1773"/>
                <a:ext cx="2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d</a:t>
                </a:r>
              </a:p>
            </p:txBody>
          </p:sp>
        </p:grpSp>
        <p:sp>
          <p:nvSpPr>
            <p:cNvPr id="52249" name="Text Box 20"/>
            <p:cNvSpPr txBox="1">
              <a:spLocks noChangeArrowheads="1"/>
            </p:cNvSpPr>
            <p:nvPr/>
          </p:nvSpPr>
          <p:spPr bwMode="auto">
            <a:xfrm>
              <a:off x="2208219" y="5409753"/>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17</a:t>
              </a:r>
            </a:p>
          </p:txBody>
        </p:sp>
        <p:sp>
          <p:nvSpPr>
            <p:cNvPr id="52250" name="Text Box 21"/>
            <p:cNvSpPr txBox="1">
              <a:spLocks noChangeArrowheads="1"/>
            </p:cNvSpPr>
            <p:nvPr/>
          </p:nvSpPr>
          <p:spPr bwMode="auto">
            <a:xfrm>
              <a:off x="2869299" y="5541062"/>
              <a:ext cx="3213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200">
                  <a:solidFill>
                    <a:srgbClr val="C00000"/>
                  </a:solidFill>
                  <a:latin typeface="Arial" pitchFamily="34" charset="0"/>
                  <a:cs typeface="Arial" pitchFamily="34" charset="0"/>
                </a:rPr>
                <a:t>481968572106750915091411825223071697</a:t>
              </a:r>
            </a:p>
          </p:txBody>
        </p:sp>
        <p:sp>
          <p:nvSpPr>
            <p:cNvPr id="52251" name="Text Box 22"/>
            <p:cNvSpPr txBox="1">
              <a:spLocks noChangeArrowheads="1"/>
            </p:cNvSpPr>
            <p:nvPr/>
          </p:nvSpPr>
          <p:spPr bwMode="auto">
            <a:xfrm>
              <a:off x="6808794" y="5422453"/>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12</a:t>
              </a:r>
            </a:p>
          </p:txBody>
        </p:sp>
        <p:grpSp>
          <p:nvGrpSpPr>
            <p:cNvPr id="52252" name="Group 23"/>
            <p:cNvGrpSpPr>
              <a:grpSpLocks/>
            </p:cNvGrpSpPr>
            <p:nvPr/>
          </p:nvGrpSpPr>
          <p:grpSpPr bwMode="auto">
            <a:xfrm>
              <a:off x="3489331" y="4729393"/>
              <a:ext cx="514350" cy="611188"/>
              <a:chOff x="3034" y="2876"/>
              <a:chExt cx="324" cy="385"/>
            </a:xfrm>
          </p:grpSpPr>
          <p:sp>
            <p:nvSpPr>
              <p:cNvPr id="52257" name="Text Box 24"/>
              <p:cNvSpPr txBox="1">
                <a:spLocks noChangeArrowheads="1"/>
              </p:cNvSpPr>
              <p:nvPr/>
            </p:nvSpPr>
            <p:spPr bwMode="auto">
              <a:xfrm>
                <a:off x="3034" y="2973"/>
                <a:ext cx="21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c</a:t>
                </a:r>
              </a:p>
            </p:txBody>
          </p:sp>
          <p:sp>
            <p:nvSpPr>
              <p:cNvPr id="52258" name="Text Box 25"/>
              <p:cNvSpPr txBox="1">
                <a:spLocks noChangeArrowheads="1"/>
              </p:cNvSpPr>
              <p:nvPr/>
            </p:nvSpPr>
            <p:spPr bwMode="auto">
              <a:xfrm>
                <a:off x="3129" y="2876"/>
                <a:ext cx="2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d</a:t>
                </a:r>
              </a:p>
            </p:txBody>
          </p:sp>
        </p:grpSp>
        <p:sp>
          <p:nvSpPr>
            <p:cNvPr id="52253" name="Text Box 29"/>
            <p:cNvSpPr txBox="1">
              <a:spLocks noChangeArrowheads="1"/>
            </p:cNvSpPr>
            <p:nvPr/>
          </p:nvSpPr>
          <p:spPr bwMode="auto">
            <a:xfrm>
              <a:off x="543729" y="5059140"/>
              <a:ext cx="12795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000099"/>
                  </a:solidFill>
                  <a:latin typeface="Arial" pitchFamily="34" charset="0"/>
                  <a:cs typeface="Arial" pitchFamily="34" charset="0"/>
                </a:rPr>
                <a:t>decrypt:</a:t>
              </a:r>
            </a:p>
          </p:txBody>
        </p:sp>
        <p:sp>
          <p:nvSpPr>
            <p:cNvPr id="52254" name="Right Brace 36"/>
            <p:cNvSpPr>
              <a:spLocks/>
            </p:cNvSpPr>
            <p:nvPr/>
          </p:nvSpPr>
          <p:spPr bwMode="auto">
            <a:xfrm rot="5400000">
              <a:off x="2446575" y="5102686"/>
              <a:ext cx="168727" cy="468086"/>
            </a:xfrm>
            <a:prstGeom prst="rightBrace">
              <a:avLst>
                <a:gd name="adj1" fmla="val 833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52255" name="Right Brace 37"/>
            <p:cNvSpPr>
              <a:spLocks/>
            </p:cNvSpPr>
            <p:nvPr/>
          </p:nvSpPr>
          <p:spPr bwMode="auto">
            <a:xfrm rot="5400000">
              <a:off x="3605907" y="5108131"/>
              <a:ext cx="168727" cy="468086"/>
            </a:xfrm>
            <a:prstGeom prst="rightBrace">
              <a:avLst>
                <a:gd name="adj1" fmla="val 833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52256" name="Right Brace 38"/>
            <p:cNvSpPr>
              <a:spLocks/>
            </p:cNvSpPr>
            <p:nvPr/>
          </p:nvSpPr>
          <p:spPr bwMode="auto">
            <a:xfrm rot="5400000">
              <a:off x="6964140" y="4340683"/>
              <a:ext cx="179612" cy="2046514"/>
            </a:xfrm>
            <a:prstGeom prst="rightBrace">
              <a:avLst>
                <a:gd name="adj1" fmla="val 833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grpSp>
      <p:sp>
        <p:nvSpPr>
          <p:cNvPr id="6" name="Left-Right Arrow 5"/>
          <p:cNvSpPr>
            <a:spLocks noChangeArrowheads="1"/>
          </p:cNvSpPr>
          <p:nvPr/>
        </p:nvSpPr>
        <p:spPr bwMode="auto">
          <a:xfrm rot="1604466">
            <a:off x="4113213" y="4827588"/>
            <a:ext cx="2944812" cy="246062"/>
          </a:xfrm>
          <a:prstGeom prst="leftRightArrow">
            <a:avLst>
              <a:gd name="adj1" fmla="val 50000"/>
              <a:gd name="adj2" fmla="val 50032"/>
            </a:avLst>
          </a:prstGeom>
          <a:solidFill>
            <a:schemeClr val="accent2"/>
          </a:solidFill>
          <a:ln w="9525">
            <a:solidFill>
              <a:schemeClr val="bg1"/>
            </a:solidFill>
            <a:round/>
            <a:headEnd/>
            <a:tailEnd/>
          </a:ln>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53250" name="Rectangle 2"/>
          <p:cNvSpPr>
            <a:spLocks noGrp="1" noChangeArrowheads="1"/>
          </p:cNvSpPr>
          <p:nvPr>
            <p:ph type="title"/>
          </p:nvPr>
        </p:nvSpPr>
        <p:spPr>
          <a:xfrm>
            <a:off x="392113" y="141288"/>
            <a:ext cx="7772400" cy="1143000"/>
          </a:xfrm>
        </p:spPr>
        <p:txBody>
          <a:bodyPr/>
          <a:lstStyle/>
          <a:p>
            <a:r>
              <a:rPr lang="en-US" altLang="en-US" smtClean="0">
                <a:ea typeface="ＭＳ Ｐゴシック" pitchFamily="34" charset="-128"/>
              </a:rPr>
              <a:t>Why does RSA work?</a:t>
            </a:r>
          </a:p>
        </p:txBody>
      </p:sp>
      <p:sp>
        <p:nvSpPr>
          <p:cNvPr id="53251" name="Rectangle 3"/>
          <p:cNvSpPr>
            <a:spLocks noGrp="1" noChangeArrowheads="1"/>
          </p:cNvSpPr>
          <p:nvPr>
            <p:ph type="body" idx="1"/>
          </p:nvPr>
        </p:nvSpPr>
        <p:spPr/>
        <p:txBody>
          <a:bodyPr/>
          <a:lstStyle/>
          <a:p>
            <a:r>
              <a:rPr lang="en-US" altLang="en-US" sz="2400" smtClean="0">
                <a:ea typeface="ＭＳ Ｐゴシック" pitchFamily="34" charset="-128"/>
              </a:rPr>
              <a:t>must show that c</a:t>
            </a:r>
            <a:r>
              <a:rPr lang="en-US" altLang="en-US" sz="2400" baseline="30000" smtClean="0">
                <a:ea typeface="ＭＳ Ｐゴシック" pitchFamily="34" charset="-128"/>
              </a:rPr>
              <a:t>d</a:t>
            </a:r>
            <a:r>
              <a:rPr lang="en-US" altLang="en-US" sz="2400" smtClean="0">
                <a:ea typeface="ＭＳ Ｐゴシック" pitchFamily="34" charset="-128"/>
              </a:rPr>
              <a:t> mod n = m </a:t>
            </a:r>
            <a:br>
              <a:rPr lang="en-US" altLang="en-US" sz="2400" smtClean="0">
                <a:ea typeface="ＭＳ Ｐゴシック" pitchFamily="34" charset="-128"/>
              </a:rPr>
            </a:br>
            <a:r>
              <a:rPr lang="en-US" altLang="en-US" sz="2400" smtClean="0">
                <a:ea typeface="ＭＳ Ｐゴシック" pitchFamily="34" charset="-128"/>
              </a:rPr>
              <a:t>where c = m</a:t>
            </a:r>
            <a:r>
              <a:rPr lang="en-US" altLang="en-US" sz="2400" baseline="30000" smtClean="0">
                <a:ea typeface="ＭＳ Ｐゴシック" pitchFamily="34" charset="-128"/>
              </a:rPr>
              <a:t>e</a:t>
            </a:r>
            <a:r>
              <a:rPr lang="en-US" altLang="en-US" sz="2400" smtClean="0">
                <a:ea typeface="ＭＳ Ｐゴシック" pitchFamily="34" charset="-128"/>
              </a:rPr>
              <a:t> mod n</a:t>
            </a:r>
          </a:p>
          <a:p>
            <a:r>
              <a:rPr lang="en-US" altLang="en-US" sz="2400" smtClean="0">
                <a:ea typeface="ＭＳ Ｐゴシック" pitchFamily="34" charset="-128"/>
              </a:rPr>
              <a:t>fact: for any x and y: x</a:t>
            </a:r>
            <a:r>
              <a:rPr lang="en-US" altLang="en-US" sz="2400" baseline="30000" smtClean="0">
                <a:ea typeface="ＭＳ Ｐゴシック" pitchFamily="34" charset="-128"/>
              </a:rPr>
              <a:t>y</a:t>
            </a:r>
            <a:r>
              <a:rPr lang="en-US" altLang="en-US" sz="2400" smtClean="0">
                <a:ea typeface="ＭＳ Ｐゴシック" pitchFamily="34" charset="-128"/>
              </a:rPr>
              <a:t> mod n = x</a:t>
            </a:r>
            <a:r>
              <a:rPr lang="en-US" altLang="en-US" sz="2400" baseline="30000" smtClean="0">
                <a:ea typeface="ＭＳ Ｐゴシック" pitchFamily="34" charset="-128"/>
              </a:rPr>
              <a:t>(y mod z)</a:t>
            </a:r>
            <a:r>
              <a:rPr lang="en-US" altLang="en-US" sz="2400" smtClean="0">
                <a:ea typeface="ＭＳ Ｐゴシック" pitchFamily="34" charset="-128"/>
              </a:rPr>
              <a:t> mod n</a:t>
            </a:r>
          </a:p>
          <a:p>
            <a:pPr lvl="1"/>
            <a:r>
              <a:rPr lang="en-US" altLang="en-US" sz="2000" smtClean="0">
                <a:ea typeface="ＭＳ Ｐゴシック" pitchFamily="34" charset="-128"/>
              </a:rPr>
              <a:t>where n= pq and z = (p-1)(q-1)</a:t>
            </a:r>
          </a:p>
          <a:p>
            <a:r>
              <a:rPr lang="en-US" altLang="en-US" sz="2400" smtClean="0">
                <a:ea typeface="ＭＳ Ｐゴシック" pitchFamily="34" charset="-128"/>
              </a:rPr>
              <a:t>thus, </a:t>
            </a:r>
            <a:br>
              <a:rPr lang="en-US" altLang="en-US" sz="2400" smtClean="0">
                <a:ea typeface="ＭＳ Ｐゴシック" pitchFamily="34" charset="-128"/>
              </a:rPr>
            </a:br>
            <a:r>
              <a:rPr lang="en-US" altLang="en-US" sz="2400" smtClean="0">
                <a:ea typeface="ＭＳ Ｐゴシック" pitchFamily="34" charset="-128"/>
              </a:rPr>
              <a:t> c</a:t>
            </a:r>
            <a:r>
              <a:rPr lang="en-US" altLang="en-US" sz="2400" baseline="30000" smtClean="0">
                <a:ea typeface="ＭＳ Ｐゴシック" pitchFamily="34" charset="-128"/>
              </a:rPr>
              <a:t>d</a:t>
            </a:r>
            <a:r>
              <a:rPr lang="en-US" altLang="en-US" sz="2400" smtClean="0">
                <a:ea typeface="ＭＳ Ｐゴシック" pitchFamily="34" charset="-128"/>
              </a:rPr>
              <a:t> mod n = (m</a:t>
            </a:r>
            <a:r>
              <a:rPr lang="en-US" altLang="en-US" sz="2400" baseline="30000" smtClean="0">
                <a:ea typeface="ＭＳ Ｐゴシック" pitchFamily="34" charset="-128"/>
              </a:rPr>
              <a:t>e</a:t>
            </a:r>
            <a:r>
              <a:rPr lang="en-US" altLang="en-US" sz="2400" smtClean="0">
                <a:ea typeface="ＭＳ Ｐゴシック" pitchFamily="34" charset="-128"/>
              </a:rPr>
              <a:t> mod n)</a:t>
            </a:r>
            <a:r>
              <a:rPr lang="en-US" altLang="en-US" sz="2400" baseline="30000" smtClean="0">
                <a:ea typeface="ＭＳ Ｐゴシック" pitchFamily="34" charset="-128"/>
              </a:rPr>
              <a:t>d</a:t>
            </a:r>
            <a:r>
              <a:rPr lang="en-US" altLang="en-US" sz="2400" smtClean="0">
                <a:ea typeface="ＭＳ Ｐゴシック" pitchFamily="34" charset="-128"/>
              </a:rPr>
              <a:t> mod n</a:t>
            </a:r>
          </a:p>
          <a:p>
            <a:pPr>
              <a:buFont typeface="Wingdings" pitchFamily="2" charset="2"/>
              <a:buNone/>
            </a:pPr>
            <a:r>
              <a:rPr lang="en-US" altLang="en-US" sz="2400" smtClean="0">
                <a:ea typeface="ＭＳ Ｐゴシック" pitchFamily="34" charset="-128"/>
              </a:rPr>
              <a:t>                  = m</a:t>
            </a:r>
            <a:r>
              <a:rPr lang="en-US" altLang="en-US" sz="2400" baseline="30000" smtClean="0">
                <a:ea typeface="ＭＳ Ｐゴシック" pitchFamily="34" charset="-128"/>
              </a:rPr>
              <a:t>ed</a:t>
            </a:r>
            <a:r>
              <a:rPr lang="en-US" altLang="en-US" sz="2400" smtClean="0">
                <a:ea typeface="ＭＳ Ｐゴシック" pitchFamily="34" charset="-128"/>
              </a:rPr>
              <a:t> mod n </a:t>
            </a:r>
          </a:p>
          <a:p>
            <a:pPr>
              <a:buFont typeface="Wingdings" pitchFamily="2" charset="2"/>
              <a:buNone/>
            </a:pPr>
            <a:r>
              <a:rPr lang="en-US" altLang="en-US" sz="2400" smtClean="0">
                <a:ea typeface="ＭＳ Ｐゴシック" pitchFamily="34" charset="-128"/>
              </a:rPr>
              <a:t>                  = m</a:t>
            </a:r>
            <a:r>
              <a:rPr lang="en-US" altLang="en-US" sz="2400" baseline="30000" smtClean="0">
                <a:ea typeface="ＭＳ Ｐゴシック" pitchFamily="34" charset="-128"/>
              </a:rPr>
              <a:t>(ed mod z)</a:t>
            </a:r>
            <a:r>
              <a:rPr lang="en-US" altLang="en-US" sz="2400" smtClean="0">
                <a:ea typeface="ＭＳ Ｐゴシック" pitchFamily="34" charset="-128"/>
              </a:rPr>
              <a:t> mod n</a:t>
            </a:r>
          </a:p>
          <a:p>
            <a:pPr>
              <a:buFont typeface="Wingdings" pitchFamily="2" charset="2"/>
              <a:buNone/>
            </a:pPr>
            <a:r>
              <a:rPr lang="en-US" altLang="en-US" sz="2400" smtClean="0">
                <a:ea typeface="ＭＳ Ｐゴシック" pitchFamily="34" charset="-128"/>
              </a:rPr>
              <a:t>                  = m</a:t>
            </a:r>
            <a:r>
              <a:rPr lang="en-US" altLang="en-US" sz="2400" baseline="30000" smtClean="0">
                <a:ea typeface="ＭＳ Ｐゴシック" pitchFamily="34" charset="-128"/>
              </a:rPr>
              <a:t>1</a:t>
            </a:r>
            <a:r>
              <a:rPr lang="en-US" altLang="en-US" sz="2400" smtClean="0">
                <a:ea typeface="ＭＳ Ｐゴシック" pitchFamily="34" charset="-128"/>
              </a:rPr>
              <a:t> mod n</a:t>
            </a:r>
          </a:p>
          <a:p>
            <a:pPr>
              <a:buFont typeface="Wingdings" pitchFamily="2" charset="2"/>
              <a:buNone/>
            </a:pPr>
            <a:r>
              <a:rPr lang="en-US" altLang="en-US" sz="2400" smtClean="0">
                <a:ea typeface="ＭＳ Ｐゴシック" pitchFamily="34" charset="-128"/>
              </a:rPr>
              <a:t>                  = m</a:t>
            </a:r>
          </a:p>
        </p:txBody>
      </p:sp>
      <p:grpSp>
        <p:nvGrpSpPr>
          <p:cNvPr id="49160" name="Group 8"/>
          <p:cNvGrpSpPr>
            <a:grpSpLocks/>
          </p:cNvGrpSpPr>
          <p:nvPr/>
        </p:nvGrpSpPr>
        <p:grpSpPr bwMode="auto">
          <a:xfrm>
            <a:off x="3905250" y="2289175"/>
            <a:ext cx="3905250" cy="2066925"/>
            <a:chOff x="2460" y="1442"/>
            <a:chExt cx="2460" cy="1302"/>
          </a:xfrm>
        </p:grpSpPr>
        <p:sp>
          <p:nvSpPr>
            <p:cNvPr id="25607" name="Oval 6"/>
            <p:cNvSpPr>
              <a:spLocks noChangeArrowheads="1"/>
            </p:cNvSpPr>
            <p:nvPr/>
          </p:nvSpPr>
          <p:spPr bwMode="auto">
            <a:xfrm>
              <a:off x="2507" y="1442"/>
              <a:ext cx="2413" cy="441"/>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53255" name="Freeform 7"/>
            <p:cNvSpPr>
              <a:spLocks/>
            </p:cNvSpPr>
            <p:nvPr/>
          </p:nvSpPr>
          <p:spPr bwMode="auto">
            <a:xfrm>
              <a:off x="2460" y="1897"/>
              <a:ext cx="1260" cy="847"/>
            </a:xfrm>
            <a:custGeom>
              <a:avLst/>
              <a:gdLst>
                <a:gd name="T0" fmla="*/ 1260 w 1260"/>
                <a:gd name="T1" fmla="*/ 0 h 847"/>
                <a:gd name="T2" fmla="*/ 1260 w 1260"/>
                <a:gd name="T3" fmla="*/ 847 h 847"/>
                <a:gd name="T4" fmla="*/ 0 w 1260"/>
                <a:gd name="T5" fmla="*/ 847 h 847"/>
                <a:gd name="T6" fmla="*/ 0 60000 65536"/>
                <a:gd name="T7" fmla="*/ 0 60000 65536"/>
                <a:gd name="T8" fmla="*/ 0 60000 65536"/>
              </a:gdLst>
              <a:ahLst/>
              <a:cxnLst>
                <a:cxn ang="T6">
                  <a:pos x="T0" y="T1"/>
                </a:cxn>
                <a:cxn ang="T7">
                  <a:pos x="T2" y="T3"/>
                </a:cxn>
                <a:cxn ang="T8">
                  <a:pos x="T4" y="T5"/>
                </a:cxn>
              </a:cxnLst>
              <a:rect l="0" t="0" r="r" b="b"/>
              <a:pathLst>
                <a:path w="1260" h="847">
                  <a:moveTo>
                    <a:pt x="1260" y="0"/>
                  </a:moveTo>
                  <a:lnTo>
                    <a:pt x="1260" y="847"/>
                  </a:lnTo>
                  <a:lnTo>
                    <a:pt x="0" y="847"/>
                  </a:lnTo>
                </a:path>
              </a:pathLst>
            </a:custGeom>
            <a:noFill/>
            <a:ln w="952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pic>
        <p:nvPicPr>
          <p:cNvPr id="53253" name="Picture 21"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963613"/>
            <a:ext cx="50276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54274" name="Rectangle 2"/>
          <p:cNvSpPr>
            <a:spLocks noGrp="1" noChangeArrowheads="1"/>
          </p:cNvSpPr>
          <p:nvPr>
            <p:ph type="title"/>
          </p:nvPr>
        </p:nvSpPr>
        <p:spPr/>
        <p:txBody>
          <a:bodyPr/>
          <a:lstStyle/>
          <a:p>
            <a:r>
              <a:rPr lang="en-US" altLang="en-US" sz="4000" smtClean="0">
                <a:ea typeface="ＭＳ Ｐゴシック" pitchFamily="34" charset="-128"/>
              </a:rPr>
              <a:t>RSA: another important property</a:t>
            </a:r>
          </a:p>
        </p:txBody>
      </p:sp>
      <p:sp>
        <p:nvSpPr>
          <p:cNvPr id="54275" name="Text Box 3"/>
          <p:cNvSpPr txBox="1">
            <a:spLocks noChangeArrowheads="1"/>
          </p:cNvSpPr>
          <p:nvPr/>
        </p:nvSpPr>
        <p:spPr bwMode="auto">
          <a:xfrm>
            <a:off x="981075" y="1422400"/>
            <a:ext cx="70405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a:latin typeface="Gill Sans MT" pitchFamily="34" charset="0"/>
              </a:rPr>
              <a:t>The following property will be </a:t>
            </a:r>
            <a:r>
              <a:rPr lang="en-US" altLang="en-US" sz="2800" i="1">
                <a:solidFill>
                  <a:srgbClr val="C00000"/>
                </a:solidFill>
                <a:latin typeface="Gill Sans MT" pitchFamily="34" charset="0"/>
              </a:rPr>
              <a:t>very</a:t>
            </a:r>
            <a:r>
              <a:rPr lang="en-US" altLang="en-US" sz="2800">
                <a:solidFill>
                  <a:srgbClr val="C00000"/>
                </a:solidFill>
                <a:latin typeface="Gill Sans MT" pitchFamily="34" charset="0"/>
              </a:rPr>
              <a:t> </a:t>
            </a:r>
            <a:r>
              <a:rPr lang="en-US" altLang="en-US" sz="2800">
                <a:latin typeface="Gill Sans MT" pitchFamily="34" charset="0"/>
              </a:rPr>
              <a:t>useful later:</a:t>
            </a:r>
            <a:endParaRPr lang="en-US" altLang="en-US" sz="2400">
              <a:latin typeface="Gill Sans MT" pitchFamily="34" charset="0"/>
            </a:endParaRPr>
          </a:p>
        </p:txBody>
      </p:sp>
      <p:grpSp>
        <p:nvGrpSpPr>
          <p:cNvPr id="54276" name="Group 4"/>
          <p:cNvGrpSpPr>
            <a:grpSpLocks/>
          </p:cNvGrpSpPr>
          <p:nvPr/>
        </p:nvGrpSpPr>
        <p:grpSpPr bwMode="auto">
          <a:xfrm>
            <a:off x="1636713" y="2257425"/>
            <a:ext cx="5259387" cy="946150"/>
            <a:chOff x="501" y="1586"/>
            <a:chExt cx="3313" cy="596"/>
          </a:xfrm>
        </p:grpSpPr>
        <p:grpSp>
          <p:nvGrpSpPr>
            <p:cNvPr id="54283" name="Group 5"/>
            <p:cNvGrpSpPr>
              <a:grpSpLocks/>
            </p:cNvGrpSpPr>
            <p:nvPr/>
          </p:nvGrpSpPr>
          <p:grpSpPr bwMode="auto">
            <a:xfrm>
              <a:off x="501" y="1586"/>
              <a:ext cx="1807" cy="594"/>
              <a:chOff x="1328" y="1706"/>
              <a:chExt cx="1807" cy="594"/>
            </a:xfrm>
          </p:grpSpPr>
          <p:grpSp>
            <p:nvGrpSpPr>
              <p:cNvPr id="54290" name="Group 6"/>
              <p:cNvGrpSpPr>
                <a:grpSpLocks/>
              </p:cNvGrpSpPr>
              <p:nvPr/>
            </p:nvGrpSpPr>
            <p:grpSpPr bwMode="auto">
              <a:xfrm>
                <a:off x="1328" y="1811"/>
                <a:ext cx="1807" cy="489"/>
                <a:chOff x="1699" y="1433"/>
                <a:chExt cx="1807" cy="489"/>
              </a:xfrm>
            </p:grpSpPr>
            <p:sp>
              <p:nvSpPr>
                <p:cNvPr id="54293" name="Text Box 7"/>
                <p:cNvSpPr txBox="1">
                  <a:spLocks noChangeArrowheads="1"/>
                </p:cNvSpPr>
                <p:nvPr/>
              </p:nvSpPr>
              <p:spPr bwMode="auto">
                <a:xfrm>
                  <a:off x="1699" y="1433"/>
                  <a:ext cx="180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a:solidFill>
                        <a:srgbClr val="C00000"/>
                      </a:solidFill>
                      <a:latin typeface="Arial" pitchFamily="34" charset="0"/>
                      <a:cs typeface="Arial" pitchFamily="34" charset="0"/>
                    </a:rPr>
                    <a:t>K  </a:t>
                  </a:r>
                  <a:r>
                    <a:rPr lang="en-US" altLang="en-US" sz="3200">
                      <a:solidFill>
                        <a:srgbClr val="C00000"/>
                      </a:solidFill>
                      <a:latin typeface="Arial" pitchFamily="34" charset="0"/>
                      <a:cs typeface="Arial" pitchFamily="34" charset="0"/>
                    </a:rPr>
                    <a:t>(</a:t>
                  </a:r>
                  <a:r>
                    <a:rPr lang="en-US" altLang="en-US" sz="2800">
                      <a:solidFill>
                        <a:srgbClr val="C00000"/>
                      </a:solidFill>
                      <a:latin typeface="Arial" pitchFamily="34" charset="0"/>
                      <a:cs typeface="Arial" pitchFamily="34" charset="0"/>
                    </a:rPr>
                    <a:t>K  (m)</a:t>
                  </a:r>
                  <a:r>
                    <a:rPr lang="en-US" altLang="en-US" sz="3200">
                      <a:solidFill>
                        <a:srgbClr val="C00000"/>
                      </a:solidFill>
                      <a:latin typeface="Arial" pitchFamily="34" charset="0"/>
                      <a:cs typeface="Arial" pitchFamily="34" charset="0"/>
                    </a:rPr>
                    <a:t>)</a:t>
                  </a:r>
                  <a:r>
                    <a:rPr lang="en-US" altLang="en-US" sz="2800">
                      <a:solidFill>
                        <a:srgbClr val="C00000"/>
                      </a:solidFill>
                      <a:latin typeface="Arial" pitchFamily="34" charset="0"/>
                      <a:cs typeface="Arial" pitchFamily="34" charset="0"/>
                    </a:rPr>
                    <a:t>  =  m </a:t>
                  </a:r>
                </a:p>
              </p:txBody>
            </p:sp>
            <p:sp>
              <p:nvSpPr>
                <p:cNvPr id="54294" name="Text Box 8"/>
                <p:cNvSpPr txBox="1">
                  <a:spLocks noChangeArrowheads="1"/>
                </p:cNvSpPr>
                <p:nvPr/>
              </p:nvSpPr>
              <p:spPr bwMode="auto">
                <a:xfrm>
                  <a:off x="2235" y="1631"/>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B</a:t>
                  </a:r>
                  <a:endParaRPr lang="en-US" altLang="en-US" sz="2800">
                    <a:solidFill>
                      <a:srgbClr val="C00000"/>
                    </a:solidFill>
                    <a:latin typeface="Arial" pitchFamily="34" charset="0"/>
                    <a:cs typeface="Arial" pitchFamily="34" charset="0"/>
                  </a:endParaRPr>
                </a:p>
              </p:txBody>
            </p:sp>
            <p:sp>
              <p:nvSpPr>
                <p:cNvPr id="54295" name="Text Box 9"/>
                <p:cNvSpPr txBox="1">
                  <a:spLocks noChangeArrowheads="1"/>
                </p:cNvSpPr>
                <p:nvPr/>
              </p:nvSpPr>
              <p:spPr bwMode="auto">
                <a:xfrm>
                  <a:off x="1884" y="1620"/>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B</a:t>
                  </a:r>
                  <a:endParaRPr lang="en-US" altLang="en-US" sz="2800">
                    <a:solidFill>
                      <a:srgbClr val="C00000"/>
                    </a:solidFill>
                    <a:latin typeface="Arial" pitchFamily="34" charset="0"/>
                    <a:cs typeface="Arial" pitchFamily="34" charset="0"/>
                  </a:endParaRPr>
                </a:p>
              </p:txBody>
            </p:sp>
          </p:grpSp>
          <p:sp>
            <p:nvSpPr>
              <p:cNvPr id="54291" name="Text Box 10"/>
              <p:cNvSpPr txBox="1">
                <a:spLocks noChangeArrowheads="1"/>
              </p:cNvSpPr>
              <p:nvPr/>
            </p:nvSpPr>
            <p:spPr bwMode="auto">
              <a:xfrm>
                <a:off x="1523" y="1706"/>
                <a:ext cx="18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sp>
            <p:nvSpPr>
              <p:cNvPr id="54292" name="Text Box 11"/>
              <p:cNvSpPr txBox="1">
                <a:spLocks noChangeArrowheads="1"/>
              </p:cNvSpPr>
              <p:nvPr/>
            </p:nvSpPr>
            <p:spPr bwMode="auto">
              <a:xfrm>
                <a:off x="1842" y="1722"/>
                <a:ext cx="22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grpSp>
        <p:sp>
          <p:nvSpPr>
            <p:cNvPr id="54284" name="Text Box 12"/>
            <p:cNvSpPr txBox="1">
              <a:spLocks noChangeArrowheads="1"/>
            </p:cNvSpPr>
            <p:nvPr/>
          </p:nvSpPr>
          <p:spPr bwMode="auto">
            <a:xfrm>
              <a:off x="2496" y="1704"/>
              <a:ext cx="131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a:solidFill>
                    <a:srgbClr val="C00000"/>
                  </a:solidFill>
                  <a:latin typeface="Arial" pitchFamily="34" charset="0"/>
                  <a:cs typeface="Arial" pitchFamily="34" charset="0"/>
                </a:rPr>
                <a:t>K  </a:t>
              </a:r>
              <a:r>
                <a:rPr lang="en-US" altLang="en-US" sz="3200">
                  <a:solidFill>
                    <a:srgbClr val="C00000"/>
                  </a:solidFill>
                  <a:latin typeface="Arial" pitchFamily="34" charset="0"/>
                  <a:cs typeface="Arial" pitchFamily="34" charset="0"/>
                </a:rPr>
                <a:t>(</a:t>
              </a:r>
              <a:r>
                <a:rPr lang="en-US" altLang="en-US" sz="2800">
                  <a:solidFill>
                    <a:srgbClr val="C00000"/>
                  </a:solidFill>
                  <a:latin typeface="Arial" pitchFamily="34" charset="0"/>
                  <a:cs typeface="Arial" pitchFamily="34" charset="0"/>
                </a:rPr>
                <a:t>K  (m)</a:t>
              </a:r>
              <a:r>
                <a:rPr lang="en-US" altLang="en-US" sz="3200">
                  <a:solidFill>
                    <a:srgbClr val="C00000"/>
                  </a:solidFill>
                  <a:latin typeface="Arial" pitchFamily="34" charset="0"/>
                  <a:cs typeface="Arial" pitchFamily="34" charset="0"/>
                </a:rPr>
                <a:t>)</a:t>
              </a:r>
              <a:r>
                <a:rPr lang="en-US" altLang="en-US" sz="2800">
                  <a:solidFill>
                    <a:srgbClr val="C00000"/>
                  </a:solidFill>
                  <a:latin typeface="Arial" pitchFamily="34" charset="0"/>
                  <a:cs typeface="Arial" pitchFamily="34" charset="0"/>
                </a:rPr>
                <a:t>  </a:t>
              </a:r>
            </a:p>
          </p:txBody>
        </p:sp>
        <p:sp>
          <p:nvSpPr>
            <p:cNvPr id="54285" name="Text Box 13"/>
            <p:cNvSpPr txBox="1">
              <a:spLocks noChangeArrowheads="1"/>
            </p:cNvSpPr>
            <p:nvPr/>
          </p:nvSpPr>
          <p:spPr bwMode="auto">
            <a:xfrm>
              <a:off x="3074" y="1887"/>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B</a:t>
              </a:r>
              <a:endParaRPr lang="en-US" altLang="en-US" sz="2800">
                <a:solidFill>
                  <a:srgbClr val="C00000"/>
                </a:solidFill>
                <a:latin typeface="Arial" pitchFamily="34" charset="0"/>
                <a:cs typeface="Arial" pitchFamily="34" charset="0"/>
              </a:endParaRPr>
            </a:p>
          </p:txBody>
        </p:sp>
        <p:sp>
          <p:nvSpPr>
            <p:cNvPr id="54286" name="Text Box 14"/>
            <p:cNvSpPr txBox="1">
              <a:spLocks noChangeArrowheads="1"/>
            </p:cNvSpPr>
            <p:nvPr/>
          </p:nvSpPr>
          <p:spPr bwMode="auto">
            <a:xfrm>
              <a:off x="2722" y="1891"/>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B</a:t>
              </a:r>
              <a:endParaRPr lang="en-US" altLang="en-US" sz="2800">
                <a:solidFill>
                  <a:srgbClr val="C00000"/>
                </a:solidFill>
                <a:latin typeface="Arial" pitchFamily="34" charset="0"/>
                <a:cs typeface="Arial" pitchFamily="34" charset="0"/>
              </a:endParaRPr>
            </a:p>
          </p:txBody>
        </p:sp>
        <p:sp>
          <p:nvSpPr>
            <p:cNvPr id="54287" name="Text Box 15"/>
            <p:cNvSpPr txBox="1">
              <a:spLocks noChangeArrowheads="1"/>
            </p:cNvSpPr>
            <p:nvPr/>
          </p:nvSpPr>
          <p:spPr bwMode="auto">
            <a:xfrm>
              <a:off x="2709" y="1636"/>
              <a:ext cx="22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sp>
          <p:nvSpPr>
            <p:cNvPr id="54288" name="Text Box 16"/>
            <p:cNvSpPr txBox="1">
              <a:spLocks noChangeArrowheads="1"/>
            </p:cNvSpPr>
            <p:nvPr/>
          </p:nvSpPr>
          <p:spPr bwMode="auto">
            <a:xfrm>
              <a:off x="3076" y="1615"/>
              <a:ext cx="18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sp>
          <p:nvSpPr>
            <p:cNvPr id="54289" name="Text Box 17"/>
            <p:cNvSpPr txBox="1">
              <a:spLocks noChangeArrowheads="1"/>
            </p:cNvSpPr>
            <p:nvPr/>
          </p:nvSpPr>
          <p:spPr bwMode="auto">
            <a:xfrm>
              <a:off x="2253" y="1755"/>
              <a:ext cx="22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grpSp>
      <p:sp>
        <p:nvSpPr>
          <p:cNvPr id="54277" name="Text Box 18"/>
          <p:cNvSpPr txBox="1">
            <a:spLocks noChangeArrowheads="1"/>
          </p:cNvSpPr>
          <p:nvPr/>
        </p:nvSpPr>
        <p:spPr bwMode="auto">
          <a:xfrm>
            <a:off x="1163638" y="3487738"/>
            <a:ext cx="291782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a:latin typeface="Gill Sans MT" pitchFamily="34" charset="0"/>
              </a:rPr>
              <a:t>use public key first, followed by private key </a:t>
            </a:r>
            <a:endParaRPr lang="en-US" altLang="en-US" sz="2400">
              <a:latin typeface="Gill Sans MT" pitchFamily="34" charset="0"/>
            </a:endParaRPr>
          </a:p>
        </p:txBody>
      </p:sp>
      <p:sp>
        <p:nvSpPr>
          <p:cNvPr id="54278" name="Text Box 19"/>
          <p:cNvSpPr txBox="1">
            <a:spLocks noChangeArrowheads="1"/>
          </p:cNvSpPr>
          <p:nvPr/>
        </p:nvSpPr>
        <p:spPr bwMode="auto">
          <a:xfrm>
            <a:off x="4494213" y="3479800"/>
            <a:ext cx="29178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a:latin typeface="Gill Sans MT" pitchFamily="34" charset="0"/>
              </a:rPr>
              <a:t>use private key first, followed by public key </a:t>
            </a:r>
            <a:endParaRPr lang="en-US" altLang="en-US" sz="2400">
              <a:latin typeface="Gill Sans MT" pitchFamily="34" charset="0"/>
            </a:endParaRPr>
          </a:p>
        </p:txBody>
      </p:sp>
      <p:sp>
        <p:nvSpPr>
          <p:cNvPr id="54279" name="AutoShape 20"/>
          <p:cNvSpPr>
            <a:spLocks/>
          </p:cNvSpPr>
          <p:nvPr/>
        </p:nvSpPr>
        <p:spPr bwMode="auto">
          <a:xfrm rot="5400000">
            <a:off x="2481263" y="2509838"/>
            <a:ext cx="138112" cy="1509712"/>
          </a:xfrm>
          <a:prstGeom prst="rightBrace">
            <a:avLst>
              <a:gd name="adj1" fmla="val 9109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solidFill>
                <a:srgbClr val="C00000"/>
              </a:solidFill>
              <a:latin typeface="Gill Sans MT" pitchFamily="34" charset="0"/>
              <a:cs typeface="Arial" pitchFamily="34" charset="0"/>
            </a:endParaRPr>
          </a:p>
        </p:txBody>
      </p:sp>
      <p:sp>
        <p:nvSpPr>
          <p:cNvPr id="54280" name="AutoShape 21"/>
          <p:cNvSpPr>
            <a:spLocks/>
          </p:cNvSpPr>
          <p:nvPr/>
        </p:nvSpPr>
        <p:spPr bwMode="auto">
          <a:xfrm rot="5400000">
            <a:off x="5753100" y="2501900"/>
            <a:ext cx="138113" cy="1509713"/>
          </a:xfrm>
          <a:prstGeom prst="rightBrace">
            <a:avLst>
              <a:gd name="adj1" fmla="val 9109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solidFill>
                <a:srgbClr val="C00000"/>
              </a:solidFill>
              <a:latin typeface="Gill Sans MT" pitchFamily="34" charset="0"/>
              <a:cs typeface="Arial" pitchFamily="34" charset="0"/>
            </a:endParaRPr>
          </a:p>
        </p:txBody>
      </p:sp>
      <p:sp>
        <p:nvSpPr>
          <p:cNvPr id="54281" name="Text Box 22"/>
          <p:cNvSpPr txBox="1">
            <a:spLocks noChangeArrowheads="1"/>
          </p:cNvSpPr>
          <p:nvPr/>
        </p:nvSpPr>
        <p:spPr bwMode="auto">
          <a:xfrm>
            <a:off x="2708275" y="5200650"/>
            <a:ext cx="34671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3200" i="1">
                <a:solidFill>
                  <a:srgbClr val="C00000"/>
                </a:solidFill>
                <a:latin typeface="Gill Sans MT" pitchFamily="34" charset="0"/>
              </a:rPr>
              <a:t>result is the same!</a:t>
            </a:r>
            <a:r>
              <a:rPr lang="en-US" altLang="en-US" sz="3200">
                <a:solidFill>
                  <a:srgbClr val="C00000"/>
                </a:solidFill>
                <a:latin typeface="Gill Sans MT" pitchFamily="34" charset="0"/>
              </a:rPr>
              <a:t> </a:t>
            </a:r>
          </a:p>
        </p:txBody>
      </p:sp>
      <p:pic>
        <p:nvPicPr>
          <p:cNvPr id="54282" name="Picture 16"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488" y="1031875"/>
            <a:ext cx="73136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55298" name="Rectangle 3"/>
          <p:cNvSpPr>
            <a:spLocks noGrp="1" noChangeArrowheads="1"/>
          </p:cNvSpPr>
          <p:nvPr>
            <p:ph type="body" idx="1"/>
          </p:nvPr>
        </p:nvSpPr>
        <p:spPr>
          <a:xfrm>
            <a:off x="522288" y="1425575"/>
            <a:ext cx="7772400" cy="4648200"/>
          </a:xfrm>
        </p:spPr>
        <p:txBody>
          <a:bodyPr/>
          <a:lstStyle/>
          <a:p>
            <a:pPr>
              <a:buFont typeface="Wingdings" pitchFamily="2" charset="2"/>
              <a:buNone/>
            </a:pPr>
            <a:endParaRPr lang="en-US" altLang="en-US" smtClean="0">
              <a:ea typeface="ＭＳ Ｐゴシック" pitchFamily="34" charset="-128"/>
            </a:endParaRPr>
          </a:p>
          <a:p>
            <a:pPr>
              <a:buFont typeface="Wingdings" pitchFamily="2" charset="2"/>
              <a:buNone/>
            </a:pPr>
            <a:r>
              <a:rPr lang="en-US" altLang="en-US" smtClean="0">
                <a:ea typeface="ＭＳ Ｐゴシック" pitchFamily="34" charset="-128"/>
              </a:rPr>
              <a:t>follows directly from modular arithmetic:</a:t>
            </a:r>
          </a:p>
          <a:p>
            <a:pPr>
              <a:buFont typeface="Wingdings" pitchFamily="2" charset="2"/>
              <a:buNone/>
            </a:pPr>
            <a:endParaRPr lang="en-US" altLang="en-US" smtClean="0">
              <a:ea typeface="ＭＳ Ｐゴシック" pitchFamily="34" charset="-128"/>
            </a:endParaRPr>
          </a:p>
          <a:p>
            <a:pPr>
              <a:buFont typeface="Wingdings" pitchFamily="2" charset="2"/>
              <a:buNone/>
            </a:pPr>
            <a:r>
              <a:rPr lang="en-US" altLang="en-US" smtClean="0">
                <a:ea typeface="ＭＳ Ｐゴシック" pitchFamily="34" charset="-128"/>
              </a:rPr>
              <a:t>(m</a:t>
            </a:r>
            <a:r>
              <a:rPr lang="en-US" altLang="en-US" baseline="30000" smtClean="0">
                <a:ea typeface="ＭＳ Ｐゴシック" pitchFamily="34" charset="-128"/>
              </a:rPr>
              <a:t>e</a:t>
            </a:r>
            <a:r>
              <a:rPr lang="en-US" altLang="en-US" smtClean="0">
                <a:ea typeface="ＭＳ Ｐゴシック" pitchFamily="34" charset="-128"/>
              </a:rPr>
              <a:t> mod n)</a:t>
            </a:r>
            <a:r>
              <a:rPr lang="en-US" altLang="en-US" baseline="30000" smtClean="0">
                <a:ea typeface="ＭＳ Ｐゴシック" pitchFamily="34" charset="-128"/>
              </a:rPr>
              <a:t>d</a:t>
            </a:r>
            <a:r>
              <a:rPr lang="en-US" altLang="en-US" smtClean="0">
                <a:ea typeface="ＭＳ Ｐゴシック" pitchFamily="34" charset="-128"/>
              </a:rPr>
              <a:t> mod n = m</a:t>
            </a:r>
            <a:r>
              <a:rPr lang="en-US" altLang="en-US" baseline="30000" smtClean="0">
                <a:ea typeface="ＭＳ Ｐゴシック" pitchFamily="34" charset="-128"/>
              </a:rPr>
              <a:t>ed</a:t>
            </a:r>
            <a:r>
              <a:rPr lang="en-US" altLang="en-US" smtClean="0">
                <a:ea typeface="ＭＳ Ｐゴシック" pitchFamily="34" charset="-128"/>
              </a:rPr>
              <a:t> mod n</a:t>
            </a:r>
          </a:p>
          <a:p>
            <a:pPr>
              <a:buFont typeface="Wingdings" pitchFamily="2" charset="2"/>
              <a:buNone/>
            </a:pPr>
            <a:r>
              <a:rPr lang="en-US" altLang="en-US" smtClean="0">
                <a:ea typeface="ＭＳ Ｐゴシック" pitchFamily="34" charset="-128"/>
              </a:rPr>
              <a:t>                             = m</a:t>
            </a:r>
            <a:r>
              <a:rPr lang="en-US" altLang="en-US" baseline="30000" smtClean="0">
                <a:ea typeface="ＭＳ Ｐゴシック" pitchFamily="34" charset="-128"/>
              </a:rPr>
              <a:t>de</a:t>
            </a:r>
            <a:r>
              <a:rPr lang="en-US" altLang="en-US" smtClean="0">
                <a:ea typeface="ＭＳ Ｐゴシック" pitchFamily="34" charset="-128"/>
              </a:rPr>
              <a:t> mod n</a:t>
            </a:r>
          </a:p>
          <a:p>
            <a:pPr>
              <a:buFont typeface="Wingdings" pitchFamily="2" charset="2"/>
              <a:buNone/>
            </a:pPr>
            <a:r>
              <a:rPr lang="en-US" altLang="en-US" smtClean="0">
                <a:ea typeface="ＭＳ Ｐゴシック" pitchFamily="34" charset="-128"/>
              </a:rPr>
              <a:t>                             = (m</a:t>
            </a:r>
            <a:r>
              <a:rPr lang="en-US" altLang="en-US" baseline="30000" smtClean="0">
                <a:ea typeface="ＭＳ Ｐゴシック" pitchFamily="34" charset="-128"/>
              </a:rPr>
              <a:t>d</a:t>
            </a:r>
            <a:r>
              <a:rPr lang="en-US" altLang="en-US" smtClean="0">
                <a:ea typeface="ＭＳ Ｐゴシック" pitchFamily="34" charset="-128"/>
              </a:rPr>
              <a:t> mod n)</a:t>
            </a:r>
            <a:r>
              <a:rPr lang="en-US" altLang="en-US" baseline="30000" smtClean="0">
                <a:ea typeface="ＭＳ Ｐゴシック" pitchFamily="34" charset="-128"/>
              </a:rPr>
              <a:t>e</a:t>
            </a:r>
            <a:r>
              <a:rPr lang="en-US" altLang="en-US" smtClean="0">
                <a:ea typeface="ＭＳ Ｐゴシック" pitchFamily="34" charset="-128"/>
              </a:rPr>
              <a:t> mod n </a:t>
            </a:r>
          </a:p>
          <a:p>
            <a:pPr>
              <a:buFont typeface="Wingdings" pitchFamily="2" charset="2"/>
              <a:buNone/>
            </a:pPr>
            <a:endParaRPr lang="en-US" altLang="en-US" smtClean="0">
              <a:ea typeface="ＭＳ Ｐゴシック" pitchFamily="34" charset="-128"/>
            </a:endParaRPr>
          </a:p>
        </p:txBody>
      </p:sp>
      <p:grpSp>
        <p:nvGrpSpPr>
          <p:cNvPr id="55299" name="Group 1"/>
          <p:cNvGrpSpPr>
            <a:grpSpLocks/>
          </p:cNvGrpSpPr>
          <p:nvPr/>
        </p:nvGrpSpPr>
        <p:grpSpPr bwMode="auto">
          <a:xfrm>
            <a:off x="423863" y="457200"/>
            <a:ext cx="6591300" cy="946150"/>
            <a:chOff x="478971" y="838200"/>
            <a:chExt cx="6590389" cy="946150"/>
          </a:xfrm>
        </p:grpSpPr>
        <p:grpSp>
          <p:nvGrpSpPr>
            <p:cNvPr id="55301" name="Group 5"/>
            <p:cNvGrpSpPr>
              <a:grpSpLocks/>
            </p:cNvGrpSpPr>
            <p:nvPr/>
          </p:nvGrpSpPr>
          <p:grpSpPr bwMode="auto">
            <a:xfrm>
              <a:off x="1676400" y="838200"/>
              <a:ext cx="5259388" cy="946150"/>
              <a:chOff x="501" y="1586"/>
              <a:chExt cx="3313" cy="596"/>
            </a:xfrm>
          </p:grpSpPr>
          <p:grpSp>
            <p:nvGrpSpPr>
              <p:cNvPr id="55304" name="Group 6"/>
              <p:cNvGrpSpPr>
                <a:grpSpLocks/>
              </p:cNvGrpSpPr>
              <p:nvPr/>
            </p:nvGrpSpPr>
            <p:grpSpPr bwMode="auto">
              <a:xfrm>
                <a:off x="501" y="1586"/>
                <a:ext cx="1807" cy="591"/>
                <a:chOff x="1328" y="1706"/>
                <a:chExt cx="1807" cy="591"/>
              </a:xfrm>
            </p:grpSpPr>
            <p:grpSp>
              <p:nvGrpSpPr>
                <p:cNvPr id="55311" name="Group 7"/>
                <p:cNvGrpSpPr>
                  <a:grpSpLocks/>
                </p:cNvGrpSpPr>
                <p:nvPr/>
              </p:nvGrpSpPr>
              <p:grpSpPr bwMode="auto">
                <a:xfrm>
                  <a:off x="1328" y="1811"/>
                  <a:ext cx="1807" cy="486"/>
                  <a:chOff x="1699" y="1433"/>
                  <a:chExt cx="1807" cy="486"/>
                </a:xfrm>
              </p:grpSpPr>
              <p:sp>
                <p:nvSpPr>
                  <p:cNvPr id="55314" name="Text Box 8"/>
                  <p:cNvSpPr txBox="1">
                    <a:spLocks noChangeArrowheads="1"/>
                  </p:cNvSpPr>
                  <p:nvPr/>
                </p:nvSpPr>
                <p:spPr bwMode="auto">
                  <a:xfrm>
                    <a:off x="1699" y="1433"/>
                    <a:ext cx="180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a:solidFill>
                          <a:srgbClr val="C00000"/>
                        </a:solidFill>
                        <a:latin typeface="Arial" pitchFamily="34" charset="0"/>
                        <a:cs typeface="Arial" pitchFamily="34" charset="0"/>
                      </a:rPr>
                      <a:t>K  </a:t>
                    </a:r>
                    <a:r>
                      <a:rPr lang="en-US" altLang="en-US" sz="3200">
                        <a:solidFill>
                          <a:srgbClr val="C00000"/>
                        </a:solidFill>
                        <a:latin typeface="Arial" pitchFamily="34" charset="0"/>
                        <a:cs typeface="Arial" pitchFamily="34" charset="0"/>
                      </a:rPr>
                      <a:t>(</a:t>
                    </a:r>
                    <a:r>
                      <a:rPr lang="en-US" altLang="en-US" sz="2800">
                        <a:solidFill>
                          <a:srgbClr val="C00000"/>
                        </a:solidFill>
                        <a:latin typeface="Arial" pitchFamily="34" charset="0"/>
                        <a:cs typeface="Arial" pitchFamily="34" charset="0"/>
                      </a:rPr>
                      <a:t>K  (m)</a:t>
                    </a:r>
                    <a:r>
                      <a:rPr lang="en-US" altLang="en-US" sz="3200">
                        <a:solidFill>
                          <a:srgbClr val="C00000"/>
                        </a:solidFill>
                        <a:latin typeface="Arial" pitchFamily="34" charset="0"/>
                        <a:cs typeface="Arial" pitchFamily="34" charset="0"/>
                      </a:rPr>
                      <a:t>)</a:t>
                    </a:r>
                    <a:r>
                      <a:rPr lang="en-US" altLang="en-US" sz="2800">
                        <a:solidFill>
                          <a:srgbClr val="C00000"/>
                        </a:solidFill>
                        <a:latin typeface="Arial" pitchFamily="34" charset="0"/>
                        <a:cs typeface="Arial" pitchFamily="34" charset="0"/>
                      </a:rPr>
                      <a:t>  =  m </a:t>
                    </a:r>
                  </a:p>
                </p:txBody>
              </p:sp>
              <p:sp>
                <p:nvSpPr>
                  <p:cNvPr id="55315" name="Text Box 9"/>
                  <p:cNvSpPr txBox="1">
                    <a:spLocks noChangeArrowheads="1"/>
                  </p:cNvSpPr>
                  <p:nvPr/>
                </p:nvSpPr>
                <p:spPr bwMode="auto">
                  <a:xfrm>
                    <a:off x="2241" y="1628"/>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B</a:t>
                    </a:r>
                    <a:endParaRPr lang="en-US" altLang="en-US" sz="2800">
                      <a:solidFill>
                        <a:srgbClr val="C00000"/>
                      </a:solidFill>
                      <a:latin typeface="Arial" pitchFamily="34" charset="0"/>
                      <a:cs typeface="Arial" pitchFamily="34" charset="0"/>
                    </a:endParaRPr>
                  </a:p>
                </p:txBody>
              </p:sp>
              <p:sp>
                <p:nvSpPr>
                  <p:cNvPr id="55316" name="Text Box 10"/>
                  <p:cNvSpPr txBox="1">
                    <a:spLocks noChangeArrowheads="1"/>
                  </p:cNvSpPr>
                  <p:nvPr/>
                </p:nvSpPr>
                <p:spPr bwMode="auto">
                  <a:xfrm>
                    <a:off x="1881" y="1620"/>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B</a:t>
                    </a:r>
                    <a:endParaRPr lang="en-US" altLang="en-US" sz="2800">
                      <a:solidFill>
                        <a:srgbClr val="C00000"/>
                      </a:solidFill>
                      <a:latin typeface="Arial" pitchFamily="34" charset="0"/>
                      <a:cs typeface="Arial" pitchFamily="34" charset="0"/>
                    </a:endParaRPr>
                  </a:p>
                </p:txBody>
              </p:sp>
            </p:grpSp>
            <p:sp>
              <p:nvSpPr>
                <p:cNvPr id="55312" name="Text Box 11"/>
                <p:cNvSpPr txBox="1">
                  <a:spLocks noChangeArrowheads="1"/>
                </p:cNvSpPr>
                <p:nvPr/>
              </p:nvSpPr>
              <p:spPr bwMode="auto">
                <a:xfrm>
                  <a:off x="1505" y="1706"/>
                  <a:ext cx="18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sp>
              <p:nvSpPr>
                <p:cNvPr id="55313" name="Text Box 12"/>
                <p:cNvSpPr txBox="1">
                  <a:spLocks noChangeArrowheads="1"/>
                </p:cNvSpPr>
                <p:nvPr/>
              </p:nvSpPr>
              <p:spPr bwMode="auto">
                <a:xfrm>
                  <a:off x="1857" y="1725"/>
                  <a:ext cx="22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grpSp>
          <p:sp>
            <p:nvSpPr>
              <p:cNvPr id="55305" name="Text Box 13"/>
              <p:cNvSpPr txBox="1">
                <a:spLocks noChangeArrowheads="1"/>
              </p:cNvSpPr>
              <p:nvPr/>
            </p:nvSpPr>
            <p:spPr bwMode="auto">
              <a:xfrm>
                <a:off x="2496" y="1704"/>
                <a:ext cx="131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a:solidFill>
                      <a:srgbClr val="C00000"/>
                    </a:solidFill>
                    <a:latin typeface="Arial" pitchFamily="34" charset="0"/>
                    <a:cs typeface="Arial" pitchFamily="34" charset="0"/>
                  </a:rPr>
                  <a:t>K  </a:t>
                </a:r>
                <a:r>
                  <a:rPr lang="en-US" altLang="en-US" sz="3200">
                    <a:solidFill>
                      <a:srgbClr val="C00000"/>
                    </a:solidFill>
                    <a:latin typeface="Arial" pitchFamily="34" charset="0"/>
                    <a:cs typeface="Arial" pitchFamily="34" charset="0"/>
                  </a:rPr>
                  <a:t>(</a:t>
                </a:r>
                <a:r>
                  <a:rPr lang="en-US" altLang="en-US" sz="2800">
                    <a:solidFill>
                      <a:srgbClr val="C00000"/>
                    </a:solidFill>
                    <a:latin typeface="Arial" pitchFamily="34" charset="0"/>
                    <a:cs typeface="Arial" pitchFamily="34" charset="0"/>
                  </a:rPr>
                  <a:t>K  (m)</a:t>
                </a:r>
                <a:r>
                  <a:rPr lang="en-US" altLang="en-US" sz="3200">
                    <a:solidFill>
                      <a:srgbClr val="C00000"/>
                    </a:solidFill>
                    <a:latin typeface="Arial" pitchFamily="34" charset="0"/>
                    <a:cs typeface="Arial" pitchFamily="34" charset="0"/>
                  </a:rPr>
                  <a:t>)</a:t>
                </a:r>
                <a:r>
                  <a:rPr lang="en-US" altLang="en-US" sz="2800">
                    <a:solidFill>
                      <a:srgbClr val="C00000"/>
                    </a:solidFill>
                    <a:latin typeface="Arial" pitchFamily="34" charset="0"/>
                    <a:cs typeface="Arial" pitchFamily="34" charset="0"/>
                  </a:rPr>
                  <a:t>  </a:t>
                </a:r>
              </a:p>
            </p:txBody>
          </p:sp>
          <p:sp>
            <p:nvSpPr>
              <p:cNvPr id="55306" name="Text Box 14"/>
              <p:cNvSpPr txBox="1">
                <a:spLocks noChangeArrowheads="1"/>
              </p:cNvSpPr>
              <p:nvPr/>
            </p:nvSpPr>
            <p:spPr bwMode="auto">
              <a:xfrm>
                <a:off x="3077" y="1887"/>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B</a:t>
                </a:r>
                <a:endParaRPr lang="en-US" altLang="en-US" sz="2800">
                  <a:solidFill>
                    <a:srgbClr val="C00000"/>
                  </a:solidFill>
                  <a:latin typeface="Arial" pitchFamily="34" charset="0"/>
                  <a:cs typeface="Arial" pitchFamily="34" charset="0"/>
                </a:endParaRPr>
              </a:p>
            </p:txBody>
          </p:sp>
          <p:sp>
            <p:nvSpPr>
              <p:cNvPr id="55307" name="Text Box 15"/>
              <p:cNvSpPr txBox="1">
                <a:spLocks noChangeArrowheads="1"/>
              </p:cNvSpPr>
              <p:nvPr/>
            </p:nvSpPr>
            <p:spPr bwMode="auto">
              <a:xfrm>
                <a:off x="2716" y="1891"/>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B</a:t>
                </a:r>
                <a:endParaRPr lang="en-US" altLang="en-US" sz="2800">
                  <a:solidFill>
                    <a:srgbClr val="C00000"/>
                  </a:solidFill>
                  <a:latin typeface="Arial" pitchFamily="34" charset="0"/>
                  <a:cs typeface="Arial" pitchFamily="34" charset="0"/>
                </a:endParaRPr>
              </a:p>
            </p:txBody>
          </p:sp>
          <p:sp>
            <p:nvSpPr>
              <p:cNvPr id="55308" name="Text Box 16"/>
              <p:cNvSpPr txBox="1">
                <a:spLocks noChangeArrowheads="1"/>
              </p:cNvSpPr>
              <p:nvPr/>
            </p:nvSpPr>
            <p:spPr bwMode="auto">
              <a:xfrm>
                <a:off x="2694" y="1636"/>
                <a:ext cx="22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sp>
            <p:nvSpPr>
              <p:cNvPr id="55309" name="Text Box 17"/>
              <p:cNvSpPr txBox="1">
                <a:spLocks noChangeArrowheads="1"/>
              </p:cNvSpPr>
              <p:nvPr/>
            </p:nvSpPr>
            <p:spPr bwMode="auto">
              <a:xfrm>
                <a:off x="3079" y="1606"/>
                <a:ext cx="18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sp>
            <p:nvSpPr>
              <p:cNvPr id="55310" name="Text Box 18"/>
              <p:cNvSpPr txBox="1">
                <a:spLocks noChangeArrowheads="1"/>
              </p:cNvSpPr>
              <p:nvPr/>
            </p:nvSpPr>
            <p:spPr bwMode="auto">
              <a:xfrm>
                <a:off x="2253" y="1755"/>
                <a:ext cx="22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grpSp>
        <p:sp>
          <p:nvSpPr>
            <p:cNvPr id="55302" name="Text Box 33"/>
            <p:cNvSpPr txBox="1">
              <a:spLocks noChangeArrowheads="1"/>
            </p:cNvSpPr>
            <p:nvPr/>
          </p:nvSpPr>
          <p:spPr bwMode="auto">
            <a:xfrm>
              <a:off x="478971" y="881742"/>
              <a:ext cx="128214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400">
                  <a:solidFill>
                    <a:srgbClr val="000099"/>
                  </a:solidFill>
                  <a:latin typeface="Gill Sans MT" pitchFamily="34" charset="0"/>
                </a:rPr>
                <a:t>Why</a:t>
              </a:r>
            </a:p>
          </p:txBody>
        </p:sp>
        <p:sp>
          <p:nvSpPr>
            <p:cNvPr id="55303" name="Text Box 34"/>
            <p:cNvSpPr txBox="1">
              <a:spLocks noChangeArrowheads="1"/>
            </p:cNvSpPr>
            <p:nvPr/>
          </p:nvSpPr>
          <p:spPr bwMode="auto">
            <a:xfrm>
              <a:off x="6657068" y="1005114"/>
              <a:ext cx="4122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3200">
                  <a:solidFill>
                    <a:srgbClr val="C00000"/>
                  </a:solidFill>
                  <a:latin typeface="Arial" pitchFamily="34" charset="0"/>
                  <a:cs typeface="Arial" pitchFamily="34" charset="0"/>
                </a:rPr>
                <a:t>?</a:t>
              </a:r>
            </a:p>
          </p:txBody>
        </p:sp>
      </p:grpSp>
      <p:pic>
        <p:nvPicPr>
          <p:cNvPr id="55300" name="Picture 18"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688" y="1325563"/>
            <a:ext cx="63992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56322" name="Rectangle 2"/>
          <p:cNvSpPr>
            <a:spLocks noGrp="1" noChangeArrowheads="1"/>
          </p:cNvSpPr>
          <p:nvPr>
            <p:ph type="title"/>
          </p:nvPr>
        </p:nvSpPr>
        <p:spPr/>
        <p:txBody>
          <a:bodyPr/>
          <a:lstStyle/>
          <a:p>
            <a:r>
              <a:rPr lang="en-US" altLang="en-US" smtClean="0">
                <a:ea typeface="ＭＳ Ｐゴシック" pitchFamily="34" charset="-128"/>
              </a:rPr>
              <a:t>Why is RSA secure?</a:t>
            </a:r>
          </a:p>
        </p:txBody>
      </p:sp>
      <p:sp>
        <p:nvSpPr>
          <p:cNvPr id="56323" name="Rectangle 3"/>
          <p:cNvSpPr>
            <a:spLocks noGrp="1" noChangeArrowheads="1"/>
          </p:cNvSpPr>
          <p:nvPr>
            <p:ph type="body" idx="1"/>
          </p:nvPr>
        </p:nvSpPr>
        <p:spPr>
          <a:xfrm>
            <a:off x="457200" y="1371600"/>
            <a:ext cx="7772400" cy="2438400"/>
          </a:xfrm>
        </p:spPr>
        <p:txBody>
          <a:bodyPr/>
          <a:lstStyle/>
          <a:p>
            <a:r>
              <a:rPr lang="en-US" altLang="en-US" smtClean="0">
                <a:ea typeface="ＭＳ Ｐゴシック" pitchFamily="34" charset="-128"/>
              </a:rPr>
              <a:t>suppose you know Bob</a:t>
            </a:r>
            <a:r>
              <a:rPr lang="ja-JP" altLang="en-US" smtClean="0">
                <a:ea typeface="ＭＳ Ｐゴシック" pitchFamily="34" charset="-128"/>
              </a:rPr>
              <a:t>’</a:t>
            </a:r>
            <a:r>
              <a:rPr lang="en-US" altLang="ja-JP" smtClean="0">
                <a:ea typeface="ＭＳ Ｐゴシック" pitchFamily="34" charset="-128"/>
              </a:rPr>
              <a:t>s public key (n,e). How hard is it to determine d?</a:t>
            </a:r>
          </a:p>
          <a:p>
            <a:r>
              <a:rPr lang="en-US" altLang="en-US" smtClean="0">
                <a:ea typeface="ＭＳ Ｐゴシック" pitchFamily="34" charset="-128"/>
              </a:rPr>
              <a:t>essentially need to find factors of n without knowing the two factors p and q </a:t>
            </a:r>
          </a:p>
          <a:p>
            <a:pPr lvl="1"/>
            <a:r>
              <a:rPr lang="en-US" altLang="en-US" sz="2800" smtClean="0">
                <a:ea typeface="ＭＳ Ｐゴシック" pitchFamily="34" charset="-128"/>
              </a:rPr>
              <a:t>fact: factoring a big number is hard</a:t>
            </a:r>
          </a:p>
          <a:p>
            <a:pPr>
              <a:buFont typeface="Wingdings" pitchFamily="2" charset="2"/>
              <a:buNone/>
            </a:pPr>
            <a:endParaRPr lang="en-US" altLang="en-US" smtClean="0">
              <a:ea typeface="ＭＳ Ｐゴシック" pitchFamily="34" charset="-128"/>
            </a:endParaRPr>
          </a:p>
        </p:txBody>
      </p:sp>
      <p:pic>
        <p:nvPicPr>
          <p:cNvPr id="56324" name="Picture 22"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350" y="1044575"/>
            <a:ext cx="4570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57346" name="Rectangle 2"/>
          <p:cNvSpPr>
            <a:spLocks noGrp="1" noChangeArrowheads="1"/>
          </p:cNvSpPr>
          <p:nvPr>
            <p:ph type="title"/>
          </p:nvPr>
        </p:nvSpPr>
        <p:spPr/>
        <p:txBody>
          <a:bodyPr/>
          <a:lstStyle/>
          <a:p>
            <a:r>
              <a:rPr lang="en-US" altLang="en-US" smtClean="0">
                <a:ea typeface="ＭＳ Ｐゴシック" pitchFamily="34" charset="-128"/>
              </a:rPr>
              <a:t>RSA in practice: session keys</a:t>
            </a:r>
          </a:p>
        </p:txBody>
      </p:sp>
      <p:sp>
        <p:nvSpPr>
          <p:cNvPr id="57347" name="Rectangle 3"/>
          <p:cNvSpPr>
            <a:spLocks noGrp="1" noChangeArrowheads="1"/>
          </p:cNvSpPr>
          <p:nvPr>
            <p:ph type="body" idx="1"/>
          </p:nvPr>
        </p:nvSpPr>
        <p:spPr>
          <a:xfrm>
            <a:off x="522288" y="1393825"/>
            <a:ext cx="7772400" cy="4648200"/>
          </a:xfrm>
        </p:spPr>
        <p:txBody>
          <a:bodyPr/>
          <a:lstStyle/>
          <a:p>
            <a:r>
              <a:rPr lang="en-US" altLang="en-US" smtClean="0">
                <a:ea typeface="ＭＳ Ｐゴシック" pitchFamily="34" charset="-128"/>
              </a:rPr>
              <a:t>exponentiation in RSA is computationally intensive</a:t>
            </a:r>
          </a:p>
          <a:p>
            <a:r>
              <a:rPr lang="en-US" altLang="en-US" smtClean="0">
                <a:ea typeface="ＭＳ Ｐゴシック" pitchFamily="34" charset="-128"/>
              </a:rPr>
              <a:t>DES is at least 100 times faster than RSA</a:t>
            </a:r>
          </a:p>
          <a:p>
            <a:r>
              <a:rPr lang="en-US" altLang="en-US" smtClean="0">
                <a:ea typeface="ＭＳ Ｐゴシック" pitchFamily="34" charset="-128"/>
              </a:rPr>
              <a:t>use public key cryto to establish secure connection, then establish second key – symmetric session key – for encrypting data</a:t>
            </a:r>
          </a:p>
          <a:p>
            <a:pPr>
              <a:spcBef>
                <a:spcPct val="60000"/>
              </a:spcBef>
              <a:buFont typeface="Wingdings" pitchFamily="2" charset="2"/>
              <a:buNone/>
            </a:pPr>
            <a:r>
              <a:rPr lang="en-US" altLang="en-US" i="1" smtClean="0">
                <a:solidFill>
                  <a:srgbClr val="C00000"/>
                </a:solidFill>
                <a:ea typeface="ＭＳ Ｐゴシック" pitchFamily="34" charset="-128"/>
              </a:rPr>
              <a:t>session key, K</a:t>
            </a:r>
            <a:r>
              <a:rPr lang="en-US" altLang="en-US" i="1" baseline="-25000" smtClean="0">
                <a:solidFill>
                  <a:srgbClr val="C00000"/>
                </a:solidFill>
                <a:ea typeface="ＭＳ Ｐゴシック" pitchFamily="34" charset="-128"/>
              </a:rPr>
              <a:t>S</a:t>
            </a:r>
          </a:p>
          <a:p>
            <a:r>
              <a:rPr lang="en-US" altLang="en-US" sz="2400" smtClean="0">
                <a:ea typeface="ＭＳ Ｐゴシック" pitchFamily="34" charset="-128"/>
              </a:rPr>
              <a:t>Bob and Alice use RSA to exchange a symmetric key K</a:t>
            </a:r>
            <a:r>
              <a:rPr lang="en-US" altLang="en-US" sz="2400" baseline="-25000" smtClean="0">
                <a:ea typeface="ＭＳ Ｐゴシック" pitchFamily="34" charset="-128"/>
              </a:rPr>
              <a:t>S</a:t>
            </a:r>
          </a:p>
          <a:p>
            <a:r>
              <a:rPr lang="en-US" altLang="en-US" sz="2400" smtClean="0">
                <a:ea typeface="ＭＳ Ｐゴシック" pitchFamily="34" charset="-128"/>
              </a:rPr>
              <a:t>once both have K</a:t>
            </a:r>
            <a:r>
              <a:rPr lang="en-US" altLang="en-US" sz="2400" baseline="-25000" smtClean="0">
                <a:ea typeface="ＭＳ Ｐゴシック" pitchFamily="34" charset="-128"/>
              </a:rPr>
              <a:t>S</a:t>
            </a:r>
            <a:r>
              <a:rPr lang="en-US" altLang="en-US" sz="2400" smtClean="0">
                <a:ea typeface="ＭＳ Ｐゴシック" pitchFamily="34" charset="-128"/>
              </a:rPr>
              <a:t>, they use symmetric key cryptography</a:t>
            </a:r>
          </a:p>
          <a:p>
            <a:endParaRPr lang="en-US" altLang="en-US" smtClean="0">
              <a:ea typeface="ＭＳ Ｐゴシック" pitchFamily="34" charset="-128"/>
            </a:endParaRPr>
          </a:p>
        </p:txBody>
      </p:sp>
      <p:pic>
        <p:nvPicPr>
          <p:cNvPr id="57348" name="Picture 17"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079500"/>
            <a:ext cx="6856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58370" name="Rectangle 2"/>
          <p:cNvSpPr>
            <a:spLocks noGrp="1" noChangeArrowheads="1"/>
          </p:cNvSpPr>
          <p:nvPr>
            <p:ph type="title"/>
          </p:nvPr>
        </p:nvSpPr>
        <p:spPr/>
        <p:txBody>
          <a:bodyPr/>
          <a:lstStyle/>
          <a:p>
            <a:r>
              <a:rPr lang="en-US" altLang="en-US" smtClean="0">
                <a:ea typeface="ＭＳ Ｐゴシック" pitchFamily="34" charset="-128"/>
              </a:rPr>
              <a:t>Chapter 8 roadmap</a:t>
            </a:r>
          </a:p>
        </p:txBody>
      </p:sp>
      <p:sp>
        <p:nvSpPr>
          <p:cNvPr id="58371" name="Rectangle 3"/>
          <p:cNvSpPr>
            <a:spLocks noGrp="1" noChangeArrowheads="1"/>
          </p:cNvSpPr>
          <p:nvPr>
            <p:ph type="body" idx="1"/>
          </p:nvPr>
        </p:nvSpPr>
        <p:spPr>
          <a:xfrm>
            <a:off x="650875" y="1668463"/>
            <a:ext cx="7772400" cy="4648200"/>
          </a:xfrm>
        </p:spPr>
        <p:txBody>
          <a:bodyPr/>
          <a:lstStyle/>
          <a:p>
            <a:pPr>
              <a:buFont typeface="Wingdings" pitchFamily="2" charset="2"/>
              <a:buNone/>
            </a:pPr>
            <a:r>
              <a:rPr lang="en-US" altLang="en-US" smtClean="0">
                <a:solidFill>
                  <a:srgbClr val="000099"/>
                </a:solidFill>
                <a:ea typeface="ＭＳ Ｐゴシック" pitchFamily="34" charset="-128"/>
              </a:rPr>
              <a:t>8.1</a:t>
            </a:r>
            <a:r>
              <a:rPr lang="en-US" altLang="en-US" smtClean="0">
                <a:ea typeface="ＭＳ Ｐゴシック" pitchFamily="34" charset="-128"/>
              </a:rPr>
              <a:t> What is network security?</a:t>
            </a:r>
          </a:p>
          <a:p>
            <a:pPr>
              <a:buFont typeface="Wingdings" pitchFamily="2" charset="2"/>
              <a:buNone/>
            </a:pPr>
            <a:r>
              <a:rPr lang="en-US" altLang="en-US" smtClean="0">
                <a:solidFill>
                  <a:srgbClr val="000099"/>
                </a:solidFill>
                <a:ea typeface="ＭＳ Ｐゴシック" pitchFamily="34" charset="-128"/>
              </a:rPr>
              <a:t>8.2</a:t>
            </a:r>
            <a:r>
              <a:rPr lang="en-US" altLang="en-US" smtClean="0">
                <a:ea typeface="ＭＳ Ｐゴシック" pitchFamily="34" charset="-128"/>
              </a:rPr>
              <a:t> Principles of cryptography</a:t>
            </a:r>
          </a:p>
          <a:p>
            <a:pPr>
              <a:buFont typeface="Wingdings" pitchFamily="2" charset="2"/>
              <a:buNone/>
            </a:pPr>
            <a:r>
              <a:rPr lang="en-US" altLang="en-US" i="1" smtClean="0">
                <a:solidFill>
                  <a:srgbClr val="C00000"/>
                </a:solidFill>
                <a:ea typeface="ＭＳ Ｐゴシック" pitchFamily="34" charset="-128"/>
              </a:rPr>
              <a:t>8.3 </a:t>
            </a:r>
            <a:r>
              <a:rPr lang="en-US" altLang="en-US" smtClean="0">
                <a:ea typeface="ＭＳ Ｐゴシック" pitchFamily="34" charset="-128"/>
              </a:rPr>
              <a:t>Message integrity</a:t>
            </a:r>
            <a:r>
              <a:rPr lang="en-US" altLang="en-US" i="1" smtClean="0">
                <a:solidFill>
                  <a:srgbClr val="C00000"/>
                </a:solidFill>
                <a:ea typeface="ＭＳ Ｐゴシック" pitchFamily="34" charset="-128"/>
              </a:rPr>
              <a:t>, authentication</a:t>
            </a:r>
          </a:p>
          <a:p>
            <a:pPr>
              <a:buFont typeface="Wingdings" pitchFamily="2" charset="2"/>
              <a:buNone/>
            </a:pPr>
            <a:r>
              <a:rPr lang="en-US" altLang="en-US" smtClean="0">
                <a:solidFill>
                  <a:srgbClr val="000099"/>
                </a:solidFill>
                <a:ea typeface="ＭＳ Ｐゴシック" pitchFamily="34" charset="-128"/>
              </a:rPr>
              <a:t>8.4 </a:t>
            </a:r>
            <a:r>
              <a:rPr lang="en-US" altLang="en-US" smtClean="0">
                <a:ea typeface="ＭＳ Ｐゴシック" pitchFamily="34" charset="-128"/>
              </a:rPr>
              <a:t>Securing e-mail</a:t>
            </a:r>
          </a:p>
          <a:p>
            <a:pPr>
              <a:buFont typeface="Wingdings" pitchFamily="2" charset="2"/>
              <a:buNone/>
            </a:pPr>
            <a:r>
              <a:rPr lang="en-US" altLang="en-US" smtClean="0">
                <a:solidFill>
                  <a:srgbClr val="000099"/>
                </a:solidFill>
                <a:ea typeface="ＭＳ Ｐゴシック" pitchFamily="34" charset="-128"/>
              </a:rPr>
              <a:t>8.5</a:t>
            </a:r>
            <a:r>
              <a:rPr lang="en-US" altLang="en-US" smtClean="0">
                <a:ea typeface="ＭＳ Ｐゴシック" pitchFamily="34" charset="-128"/>
              </a:rPr>
              <a:t> Securing TCP connections: SSL</a:t>
            </a:r>
          </a:p>
          <a:p>
            <a:pPr>
              <a:buFont typeface="Wingdings" pitchFamily="2" charset="2"/>
              <a:buNone/>
            </a:pPr>
            <a:r>
              <a:rPr lang="en-US" altLang="en-US" smtClean="0">
                <a:solidFill>
                  <a:srgbClr val="000099"/>
                </a:solidFill>
                <a:ea typeface="ＭＳ Ｐゴシック" pitchFamily="34" charset="-128"/>
              </a:rPr>
              <a:t>8.6</a:t>
            </a:r>
            <a:r>
              <a:rPr lang="en-US" altLang="en-US" smtClean="0">
                <a:ea typeface="ＭＳ Ｐゴシック" pitchFamily="34" charset="-128"/>
              </a:rPr>
              <a:t> Network layer security: IPsec</a:t>
            </a:r>
          </a:p>
          <a:p>
            <a:pPr>
              <a:buFont typeface="Wingdings" pitchFamily="2" charset="2"/>
              <a:buNone/>
            </a:pPr>
            <a:r>
              <a:rPr lang="en-US" altLang="en-US" smtClean="0">
                <a:solidFill>
                  <a:srgbClr val="000099"/>
                </a:solidFill>
                <a:ea typeface="ＭＳ Ｐゴシック" pitchFamily="34" charset="-128"/>
              </a:rPr>
              <a:t>8.7</a:t>
            </a:r>
            <a:r>
              <a:rPr lang="en-US" altLang="en-US" smtClean="0">
                <a:ea typeface="ＭＳ Ｐゴシック" pitchFamily="34" charset="-128"/>
              </a:rPr>
              <a:t> Securing wireless LANs</a:t>
            </a:r>
          </a:p>
          <a:p>
            <a:pPr>
              <a:buFont typeface="Wingdings" pitchFamily="2" charset="2"/>
              <a:buNone/>
            </a:pPr>
            <a:r>
              <a:rPr lang="en-US" altLang="en-US" smtClean="0">
                <a:solidFill>
                  <a:srgbClr val="000099"/>
                </a:solidFill>
                <a:ea typeface="ＭＳ Ｐゴシック" pitchFamily="34" charset="-128"/>
              </a:rPr>
              <a:t>8.8</a:t>
            </a:r>
            <a:r>
              <a:rPr lang="en-US" altLang="en-US" smtClean="0">
                <a:ea typeface="ＭＳ Ｐゴシック" pitchFamily="34" charset="-128"/>
              </a:rPr>
              <a:t> Operational security: firewalls and IDS</a:t>
            </a:r>
          </a:p>
        </p:txBody>
      </p:sp>
      <p:pic>
        <p:nvPicPr>
          <p:cNvPr id="58372" name="Picture 22"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238" y="1066800"/>
            <a:ext cx="4570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60418" name="Rectangle 2"/>
          <p:cNvSpPr>
            <a:spLocks noGrp="1" noChangeArrowheads="1"/>
          </p:cNvSpPr>
          <p:nvPr>
            <p:ph type="title"/>
          </p:nvPr>
        </p:nvSpPr>
        <p:spPr>
          <a:xfrm>
            <a:off x="490538" y="312738"/>
            <a:ext cx="4276725" cy="1143000"/>
          </a:xfrm>
        </p:spPr>
        <p:txBody>
          <a:bodyPr/>
          <a:lstStyle/>
          <a:p>
            <a:r>
              <a:rPr lang="en-US" altLang="en-US" smtClean="0">
                <a:ea typeface="ＭＳ Ｐゴシック" pitchFamily="34" charset="-128"/>
              </a:rPr>
              <a:t>Authentication</a:t>
            </a:r>
          </a:p>
        </p:txBody>
      </p:sp>
      <p:sp>
        <p:nvSpPr>
          <p:cNvPr id="60419" name="Rectangle 3"/>
          <p:cNvSpPr>
            <a:spLocks noGrp="1" noChangeArrowheads="1"/>
          </p:cNvSpPr>
          <p:nvPr>
            <p:ph type="body" idx="1"/>
          </p:nvPr>
        </p:nvSpPr>
        <p:spPr>
          <a:xfrm>
            <a:off x="533400" y="1600200"/>
            <a:ext cx="7978775" cy="966788"/>
          </a:xfrm>
        </p:spPr>
        <p:txBody>
          <a:bodyPr/>
          <a:lstStyle/>
          <a:p>
            <a:pPr>
              <a:buFont typeface="Wingdings" pitchFamily="2" charset="2"/>
              <a:buNone/>
            </a:pPr>
            <a:r>
              <a:rPr lang="en-US" altLang="en-US" i="1" smtClean="0">
                <a:solidFill>
                  <a:srgbClr val="C00000"/>
                </a:solidFill>
                <a:ea typeface="ＭＳ Ｐゴシック" pitchFamily="34" charset="-128"/>
              </a:rPr>
              <a:t>Goal: </a:t>
            </a:r>
            <a:r>
              <a:rPr lang="en-US" altLang="en-US" smtClean="0">
                <a:ea typeface="ＭＳ Ｐゴシック" pitchFamily="34" charset="-128"/>
              </a:rPr>
              <a:t>Bob wants Alice to </a:t>
            </a:r>
            <a:r>
              <a:rPr lang="ja-JP" altLang="en-US" smtClean="0">
                <a:ea typeface="ＭＳ Ｐゴシック" pitchFamily="34" charset="-128"/>
              </a:rPr>
              <a:t>“</a:t>
            </a:r>
            <a:r>
              <a:rPr lang="en-US" altLang="ja-JP" smtClean="0">
                <a:ea typeface="ＭＳ Ｐゴシック" pitchFamily="34" charset="-128"/>
              </a:rPr>
              <a:t>prove</a:t>
            </a:r>
            <a:r>
              <a:rPr lang="ja-JP" altLang="en-US" smtClean="0">
                <a:ea typeface="ＭＳ Ｐゴシック" pitchFamily="34" charset="-128"/>
              </a:rPr>
              <a:t>”</a:t>
            </a:r>
            <a:r>
              <a:rPr lang="en-US" altLang="ja-JP" smtClean="0">
                <a:ea typeface="ＭＳ Ｐゴシック" pitchFamily="34" charset="-128"/>
              </a:rPr>
              <a:t> her identity to him</a:t>
            </a:r>
            <a:endParaRPr lang="en-US" altLang="en-US" smtClean="0">
              <a:ea typeface="ＭＳ Ｐゴシック" pitchFamily="34" charset="-128"/>
            </a:endParaRPr>
          </a:p>
        </p:txBody>
      </p:sp>
      <p:sp>
        <p:nvSpPr>
          <p:cNvPr id="31749" name="Text Box 4"/>
          <p:cNvSpPr txBox="1">
            <a:spLocks noChangeArrowheads="1"/>
          </p:cNvSpPr>
          <p:nvPr/>
        </p:nvSpPr>
        <p:spPr bwMode="auto">
          <a:xfrm>
            <a:off x="477838" y="2262188"/>
            <a:ext cx="560228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i="1" u="sng">
                <a:solidFill>
                  <a:srgbClr val="C00000"/>
                </a:solidFill>
                <a:latin typeface="Gill Sans MT" pitchFamily="34" charset="0"/>
              </a:rPr>
              <a:t>Protocol ap1.0:</a:t>
            </a:r>
            <a:r>
              <a:rPr lang="en-US" altLang="en-US" sz="2800" i="1">
                <a:solidFill>
                  <a:srgbClr val="C00000"/>
                </a:solidFill>
                <a:latin typeface="Gill Sans MT" pitchFamily="34" charset="0"/>
              </a:rPr>
              <a:t>  </a:t>
            </a:r>
            <a:r>
              <a:rPr lang="en-US" altLang="en-US" sz="2800">
                <a:latin typeface="Gill Sans MT" pitchFamily="34" charset="0"/>
              </a:rPr>
              <a:t>Alice says </a:t>
            </a:r>
            <a:r>
              <a:rPr lang="ja-JP" altLang="en-US" sz="2800">
                <a:latin typeface="Gill Sans MT" pitchFamily="34" charset="0"/>
              </a:rPr>
              <a:t>“</a:t>
            </a:r>
            <a:r>
              <a:rPr lang="en-US" altLang="ja-JP" sz="2800">
                <a:latin typeface="Gill Sans MT" pitchFamily="34" charset="0"/>
              </a:rPr>
              <a:t>I am Alice</a:t>
            </a:r>
            <a:r>
              <a:rPr lang="ja-JP" altLang="en-US" sz="2800">
                <a:latin typeface="Gill Sans MT" pitchFamily="34" charset="0"/>
              </a:rPr>
              <a:t>”</a:t>
            </a:r>
            <a:endParaRPr lang="en-US" altLang="en-US" sz="2800">
              <a:latin typeface="Gill Sans MT" pitchFamily="34" charset="0"/>
            </a:endParaRPr>
          </a:p>
        </p:txBody>
      </p:sp>
      <p:sp>
        <p:nvSpPr>
          <p:cNvPr id="31750" name="Text Box 5"/>
          <p:cNvSpPr txBox="1">
            <a:spLocks noChangeArrowheads="1"/>
          </p:cNvSpPr>
          <p:nvPr/>
        </p:nvSpPr>
        <p:spPr bwMode="auto">
          <a:xfrm>
            <a:off x="5281613" y="4135438"/>
            <a:ext cx="27574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Failure scenario??</a:t>
            </a:r>
          </a:p>
        </p:txBody>
      </p:sp>
      <p:pic>
        <p:nvPicPr>
          <p:cNvPr id="60422" name="Picture 6"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8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3" name="Picture 7"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413" y="4983163"/>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4" name="Picture 8"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8363" y="3811588"/>
            <a:ext cx="812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4" name="Line 9"/>
          <p:cNvSpPr>
            <a:spLocks noChangeShapeType="1"/>
          </p:cNvSpPr>
          <p:nvPr/>
        </p:nvSpPr>
        <p:spPr bwMode="auto">
          <a:xfrm>
            <a:off x="1490663" y="4248150"/>
            <a:ext cx="1870075"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1755" name="Text Box 10"/>
          <p:cNvSpPr txBox="1">
            <a:spLocks noChangeArrowheads="1"/>
          </p:cNvSpPr>
          <p:nvPr/>
        </p:nvSpPr>
        <p:spPr bwMode="auto">
          <a:xfrm>
            <a:off x="1535113" y="3749675"/>
            <a:ext cx="1725612"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sz="2400">
                <a:latin typeface="Arial" pitchFamily="34" charset="0"/>
                <a:cs typeface="Arial" pitchFamily="34" charset="0"/>
              </a:rPr>
              <a:t>“</a:t>
            </a:r>
            <a:r>
              <a:rPr lang="en-US" altLang="ja-JP" sz="2400">
                <a:latin typeface="Arial" pitchFamily="34" charset="0"/>
                <a:cs typeface="Arial" pitchFamily="34" charset="0"/>
              </a:rPr>
              <a:t>I am Alice</a:t>
            </a:r>
            <a:r>
              <a:rPr lang="ja-JP" altLang="en-US" sz="2400">
                <a:latin typeface="Arial" pitchFamily="34" charset="0"/>
                <a:cs typeface="Arial" pitchFamily="34" charset="0"/>
              </a:rPr>
              <a:t>”</a:t>
            </a:r>
            <a:endParaRPr lang="en-US" altLang="en-US" sz="2400">
              <a:latin typeface="Arial" pitchFamily="34" charset="0"/>
              <a:cs typeface="Arial" pitchFamily="34" charset="0"/>
            </a:endParaRPr>
          </a:p>
        </p:txBody>
      </p:sp>
      <p:pic>
        <p:nvPicPr>
          <p:cNvPr id="60427" name="Picture 24"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175" y="1109663"/>
            <a:ext cx="36560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2771" name="Text Box 5"/>
          <p:cNvSpPr txBox="1">
            <a:spLocks noChangeArrowheads="1"/>
          </p:cNvSpPr>
          <p:nvPr/>
        </p:nvSpPr>
        <p:spPr bwMode="auto">
          <a:xfrm>
            <a:off x="5094288" y="3840163"/>
            <a:ext cx="3586162" cy="157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in a network,</a:t>
            </a:r>
          </a:p>
          <a:p>
            <a:pPr algn="ctr"/>
            <a:r>
              <a:rPr lang="en-US" altLang="en-US" sz="2400">
                <a:latin typeface="Arial" pitchFamily="34" charset="0"/>
                <a:cs typeface="Arial" pitchFamily="34" charset="0"/>
              </a:rPr>
              <a:t>Bob can not </a:t>
            </a:r>
            <a:r>
              <a:rPr lang="ja-JP" altLang="en-US" sz="2400">
                <a:latin typeface="Arial" pitchFamily="34" charset="0"/>
                <a:cs typeface="Arial" pitchFamily="34" charset="0"/>
              </a:rPr>
              <a:t>“</a:t>
            </a:r>
            <a:r>
              <a:rPr lang="en-US" altLang="ja-JP" sz="2400">
                <a:latin typeface="Arial" pitchFamily="34" charset="0"/>
                <a:cs typeface="Arial" pitchFamily="34" charset="0"/>
              </a:rPr>
              <a:t>see</a:t>
            </a:r>
            <a:r>
              <a:rPr lang="ja-JP" altLang="en-US" sz="2400">
                <a:latin typeface="Arial" pitchFamily="34" charset="0"/>
                <a:cs typeface="Arial" pitchFamily="34" charset="0"/>
              </a:rPr>
              <a:t>”</a:t>
            </a:r>
            <a:r>
              <a:rPr lang="en-US" altLang="ja-JP" sz="2400">
                <a:latin typeface="Arial" pitchFamily="34" charset="0"/>
                <a:cs typeface="Arial" pitchFamily="34" charset="0"/>
              </a:rPr>
              <a:t> Alice, so Trudy simply declares</a:t>
            </a:r>
          </a:p>
          <a:p>
            <a:pPr algn="ctr"/>
            <a:r>
              <a:rPr lang="en-US" altLang="en-US" sz="2400">
                <a:latin typeface="Arial" pitchFamily="34" charset="0"/>
                <a:cs typeface="Arial" pitchFamily="34" charset="0"/>
              </a:rPr>
              <a:t>herself to be Alice</a:t>
            </a:r>
          </a:p>
        </p:txBody>
      </p:sp>
      <p:pic>
        <p:nvPicPr>
          <p:cNvPr id="61443" name="Picture 6"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8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4" name="Picture 7"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413" y="4983163"/>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Picture 8"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1063" y="3813175"/>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5" name="Line 9"/>
          <p:cNvSpPr>
            <a:spLocks noChangeShapeType="1"/>
          </p:cNvSpPr>
          <p:nvPr/>
        </p:nvSpPr>
        <p:spPr bwMode="auto">
          <a:xfrm flipV="1">
            <a:off x="2784475" y="4473575"/>
            <a:ext cx="773113" cy="1027113"/>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2776" name="Text Box 10"/>
          <p:cNvSpPr txBox="1">
            <a:spLocks noChangeArrowheads="1"/>
          </p:cNvSpPr>
          <p:nvPr/>
        </p:nvSpPr>
        <p:spPr bwMode="auto">
          <a:xfrm>
            <a:off x="3109913" y="5002213"/>
            <a:ext cx="1725612"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sz="2400">
                <a:latin typeface="Arial" pitchFamily="34" charset="0"/>
                <a:cs typeface="Arial" pitchFamily="34" charset="0"/>
              </a:rPr>
              <a:t>“</a:t>
            </a:r>
            <a:r>
              <a:rPr lang="en-US" altLang="ja-JP" sz="2400">
                <a:latin typeface="Arial" pitchFamily="34" charset="0"/>
                <a:cs typeface="Arial" pitchFamily="34" charset="0"/>
              </a:rPr>
              <a:t>I am Alice</a:t>
            </a:r>
            <a:r>
              <a:rPr lang="ja-JP" altLang="en-US" sz="2400">
                <a:latin typeface="Arial" pitchFamily="34" charset="0"/>
                <a:cs typeface="Arial" pitchFamily="34" charset="0"/>
              </a:rPr>
              <a:t>”</a:t>
            </a:r>
            <a:endParaRPr lang="en-US" altLang="en-US" sz="2400">
              <a:latin typeface="Arial" pitchFamily="34" charset="0"/>
              <a:cs typeface="Arial" pitchFamily="34" charset="0"/>
            </a:endParaRPr>
          </a:p>
        </p:txBody>
      </p:sp>
      <p:sp>
        <p:nvSpPr>
          <p:cNvPr id="61448" name="Rectangle 2"/>
          <p:cNvSpPr>
            <a:spLocks noGrp="1" noChangeArrowheads="1"/>
          </p:cNvSpPr>
          <p:nvPr>
            <p:ph type="title"/>
          </p:nvPr>
        </p:nvSpPr>
        <p:spPr>
          <a:xfrm>
            <a:off x="490538" y="312738"/>
            <a:ext cx="4276725" cy="1143000"/>
          </a:xfrm>
        </p:spPr>
        <p:txBody>
          <a:bodyPr/>
          <a:lstStyle/>
          <a:p>
            <a:r>
              <a:rPr lang="en-US" altLang="en-US" smtClean="0">
                <a:ea typeface="ＭＳ Ｐゴシック" pitchFamily="34" charset="-128"/>
              </a:rPr>
              <a:t>Authentication</a:t>
            </a:r>
          </a:p>
        </p:txBody>
      </p:sp>
      <p:pic>
        <p:nvPicPr>
          <p:cNvPr id="61449" name="Picture 24"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175" y="1109663"/>
            <a:ext cx="36560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50" name="Rectangle 3"/>
          <p:cNvSpPr txBox="1">
            <a:spLocks noChangeArrowheads="1"/>
          </p:cNvSpPr>
          <p:nvPr/>
        </p:nvSpPr>
        <p:spPr bwMode="auto">
          <a:xfrm>
            <a:off x="533400" y="1600200"/>
            <a:ext cx="79787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rgbClr val="000099"/>
              </a:buClr>
              <a:buSzPct val="70000"/>
              <a:buFont typeface="Wingdings" pitchFamily="2" charset="2"/>
              <a:buNone/>
            </a:pPr>
            <a:r>
              <a:rPr lang="en-US" altLang="en-US" sz="2800" i="1">
                <a:solidFill>
                  <a:srgbClr val="C00000"/>
                </a:solidFill>
                <a:latin typeface="Gill Sans MT" pitchFamily="34" charset="0"/>
              </a:rPr>
              <a:t>Goal:  </a:t>
            </a:r>
            <a:r>
              <a:rPr lang="en-US" altLang="en-US" sz="2800">
                <a:latin typeface="Gill Sans MT" pitchFamily="34" charset="0"/>
              </a:rPr>
              <a:t>Bob wants Alice to </a:t>
            </a:r>
            <a:r>
              <a:rPr lang="ja-JP" altLang="en-US" sz="2800">
                <a:latin typeface="Gill Sans MT" pitchFamily="34" charset="0"/>
              </a:rPr>
              <a:t>“</a:t>
            </a:r>
            <a:r>
              <a:rPr lang="en-US" altLang="ja-JP" sz="2800">
                <a:latin typeface="Gill Sans MT" pitchFamily="34" charset="0"/>
              </a:rPr>
              <a:t>prove</a:t>
            </a:r>
            <a:r>
              <a:rPr lang="ja-JP" altLang="en-US" sz="2800">
                <a:latin typeface="Gill Sans MT" pitchFamily="34" charset="0"/>
              </a:rPr>
              <a:t>”</a:t>
            </a:r>
            <a:r>
              <a:rPr lang="en-US" altLang="ja-JP" sz="2800">
                <a:latin typeface="Gill Sans MT" pitchFamily="34" charset="0"/>
              </a:rPr>
              <a:t> her identity to him</a:t>
            </a:r>
            <a:endParaRPr lang="en-US" altLang="en-US" sz="2800">
              <a:latin typeface="Gill Sans MT" pitchFamily="34" charset="0"/>
            </a:endParaRPr>
          </a:p>
        </p:txBody>
      </p:sp>
      <p:sp>
        <p:nvSpPr>
          <p:cNvPr id="32780" name="Text Box 4"/>
          <p:cNvSpPr txBox="1">
            <a:spLocks noChangeArrowheads="1"/>
          </p:cNvSpPr>
          <p:nvPr/>
        </p:nvSpPr>
        <p:spPr bwMode="auto">
          <a:xfrm>
            <a:off x="477838" y="2262188"/>
            <a:ext cx="560228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800" i="1" u="sng">
                <a:solidFill>
                  <a:srgbClr val="C00000"/>
                </a:solidFill>
                <a:latin typeface="Gill Sans MT" pitchFamily="34" charset="0"/>
              </a:rPr>
              <a:t>Protocol ap1.0:</a:t>
            </a:r>
            <a:r>
              <a:rPr lang="en-US" altLang="en-US" sz="2800" i="1">
                <a:solidFill>
                  <a:srgbClr val="C00000"/>
                </a:solidFill>
                <a:latin typeface="Gill Sans MT" pitchFamily="34" charset="0"/>
              </a:rPr>
              <a:t>  </a:t>
            </a:r>
            <a:r>
              <a:rPr lang="en-US" altLang="en-US" sz="2800">
                <a:latin typeface="Gill Sans MT" pitchFamily="34" charset="0"/>
              </a:rPr>
              <a:t>Alice says </a:t>
            </a:r>
            <a:r>
              <a:rPr lang="ja-JP" altLang="en-US" sz="2800">
                <a:latin typeface="Gill Sans MT" pitchFamily="34" charset="0"/>
              </a:rPr>
              <a:t>“</a:t>
            </a:r>
            <a:r>
              <a:rPr lang="en-US" altLang="ja-JP" sz="2800">
                <a:latin typeface="Gill Sans MT" pitchFamily="34" charset="0"/>
              </a:rPr>
              <a:t>I am Alice</a:t>
            </a:r>
            <a:r>
              <a:rPr lang="ja-JP" altLang="en-US" sz="2800">
                <a:latin typeface="Gill Sans MT" pitchFamily="34" charset="0"/>
              </a:rPr>
              <a:t>”</a:t>
            </a:r>
            <a:endParaRPr lang="en-US" altLang="en-US" sz="2800">
              <a:latin typeface="Gill Sans MT"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62466" name="Rectangle 2"/>
          <p:cNvSpPr>
            <a:spLocks noGrp="1" noChangeArrowheads="1"/>
          </p:cNvSpPr>
          <p:nvPr>
            <p:ph type="title"/>
          </p:nvPr>
        </p:nvSpPr>
        <p:spPr>
          <a:xfrm>
            <a:off x="358775" y="130175"/>
            <a:ext cx="7772400" cy="1143000"/>
          </a:xfrm>
        </p:spPr>
        <p:txBody>
          <a:bodyPr/>
          <a:lstStyle/>
          <a:p>
            <a:r>
              <a:rPr lang="en-US" altLang="en-US" smtClean="0">
                <a:ea typeface="ＭＳ Ｐゴシック" pitchFamily="34" charset="-128"/>
              </a:rPr>
              <a:t>Authentication: another try</a:t>
            </a:r>
          </a:p>
        </p:txBody>
      </p:sp>
      <p:sp>
        <p:nvSpPr>
          <p:cNvPr id="33796" name="Text Box 3"/>
          <p:cNvSpPr txBox="1">
            <a:spLocks noChangeArrowheads="1"/>
          </p:cNvSpPr>
          <p:nvPr/>
        </p:nvSpPr>
        <p:spPr bwMode="auto">
          <a:xfrm>
            <a:off x="725488" y="1452563"/>
            <a:ext cx="782955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2800" i="1">
                <a:solidFill>
                  <a:srgbClr val="C00000"/>
                </a:solidFill>
                <a:latin typeface="Arial" pitchFamily="34" charset="0"/>
                <a:cs typeface="Arial" pitchFamily="34" charset="0"/>
              </a:rPr>
              <a:t>Protocol ap2.0: </a:t>
            </a:r>
            <a:r>
              <a:rPr lang="en-US" altLang="en-US" sz="2400">
                <a:latin typeface="Arial" pitchFamily="34" charset="0"/>
                <a:cs typeface="Arial" pitchFamily="34" charset="0"/>
              </a:rPr>
              <a:t>Alice says </a:t>
            </a:r>
            <a:r>
              <a:rPr lang="ja-JP" altLang="en-US" sz="2400">
                <a:latin typeface="Arial" pitchFamily="34" charset="0"/>
                <a:cs typeface="Arial" pitchFamily="34" charset="0"/>
              </a:rPr>
              <a:t>“</a:t>
            </a:r>
            <a:r>
              <a:rPr lang="en-US" altLang="ja-JP" sz="2400">
                <a:latin typeface="Arial" pitchFamily="34" charset="0"/>
                <a:cs typeface="Arial" pitchFamily="34" charset="0"/>
              </a:rPr>
              <a:t>I am Alice</a:t>
            </a:r>
            <a:r>
              <a:rPr lang="ja-JP" altLang="en-US" sz="2400">
                <a:latin typeface="Arial" pitchFamily="34" charset="0"/>
                <a:cs typeface="Arial" pitchFamily="34" charset="0"/>
              </a:rPr>
              <a:t>”</a:t>
            </a:r>
            <a:r>
              <a:rPr lang="en-US" altLang="ja-JP" sz="2400">
                <a:latin typeface="Arial" pitchFamily="34" charset="0"/>
                <a:cs typeface="Arial" pitchFamily="34" charset="0"/>
              </a:rPr>
              <a:t> in an IP packet</a:t>
            </a:r>
          </a:p>
          <a:p>
            <a:pPr algn="r"/>
            <a:r>
              <a:rPr lang="en-US" altLang="en-US" sz="2400">
                <a:latin typeface="Arial" pitchFamily="34" charset="0"/>
                <a:cs typeface="Arial" pitchFamily="34" charset="0"/>
              </a:rPr>
              <a:t>containing her source IP address </a:t>
            </a:r>
          </a:p>
        </p:txBody>
      </p:sp>
      <p:sp>
        <p:nvSpPr>
          <p:cNvPr id="33797" name="Text Box 4"/>
          <p:cNvSpPr txBox="1">
            <a:spLocks noChangeArrowheads="1"/>
          </p:cNvSpPr>
          <p:nvPr/>
        </p:nvSpPr>
        <p:spPr bwMode="auto">
          <a:xfrm>
            <a:off x="6030913" y="4113213"/>
            <a:ext cx="27574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Failure scenario??</a:t>
            </a:r>
          </a:p>
        </p:txBody>
      </p:sp>
      <p:pic>
        <p:nvPicPr>
          <p:cNvPr id="62469" name="Picture 5"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0" name="Picture 6"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413" y="4983163"/>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1"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0" y="3684588"/>
            <a:ext cx="812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1" name="Line 8"/>
          <p:cNvSpPr>
            <a:spLocks noChangeShapeType="1"/>
          </p:cNvSpPr>
          <p:nvPr/>
        </p:nvSpPr>
        <p:spPr bwMode="auto">
          <a:xfrm>
            <a:off x="1238250" y="4262438"/>
            <a:ext cx="3798888"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62473" name="Group 9"/>
          <p:cNvGrpSpPr>
            <a:grpSpLocks/>
          </p:cNvGrpSpPr>
          <p:nvPr/>
        </p:nvGrpSpPr>
        <p:grpSpPr bwMode="auto">
          <a:xfrm>
            <a:off x="1574800" y="3433763"/>
            <a:ext cx="2870200" cy="649287"/>
            <a:chOff x="531" y="1791"/>
            <a:chExt cx="1808" cy="409"/>
          </a:xfrm>
        </p:grpSpPr>
        <p:sp>
          <p:nvSpPr>
            <p:cNvPr id="33804" name="Rectangle 10"/>
            <p:cNvSpPr>
              <a:spLocks noChangeArrowheads="1"/>
            </p:cNvSpPr>
            <p:nvPr/>
          </p:nvSpPr>
          <p:spPr bwMode="auto">
            <a:xfrm>
              <a:off x="540" y="1791"/>
              <a:ext cx="1799" cy="3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3805" name="Text Box 11"/>
            <p:cNvSpPr txBox="1">
              <a:spLocks noChangeArrowheads="1"/>
            </p:cNvSpPr>
            <p:nvPr/>
          </p:nvSpPr>
          <p:spPr bwMode="auto">
            <a:xfrm>
              <a:off x="1369" y="1877"/>
              <a:ext cx="923"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a:latin typeface="Arial" pitchFamily="34" charset="0"/>
                  <a:cs typeface="Arial" pitchFamily="34" charset="0"/>
                </a:rPr>
                <a:t>“</a:t>
              </a:r>
              <a:r>
                <a:rPr lang="en-US" altLang="ja-JP">
                  <a:latin typeface="Arial" pitchFamily="34" charset="0"/>
                  <a:cs typeface="Arial" pitchFamily="34" charset="0"/>
                </a:rPr>
                <a:t>I am Alice</a:t>
              </a:r>
              <a:r>
                <a:rPr lang="ja-JP" altLang="en-US">
                  <a:latin typeface="Arial" pitchFamily="34" charset="0"/>
                  <a:cs typeface="Arial" pitchFamily="34" charset="0"/>
                </a:rPr>
                <a:t>”</a:t>
              </a:r>
              <a:endParaRPr lang="en-US" altLang="en-US">
                <a:latin typeface="Arial" pitchFamily="34" charset="0"/>
                <a:cs typeface="Arial" pitchFamily="34" charset="0"/>
              </a:endParaRPr>
            </a:p>
          </p:txBody>
        </p:sp>
        <p:sp>
          <p:nvSpPr>
            <p:cNvPr id="33806" name="Text Box 12"/>
            <p:cNvSpPr txBox="1">
              <a:spLocks noChangeArrowheads="1"/>
            </p:cNvSpPr>
            <p:nvPr/>
          </p:nvSpPr>
          <p:spPr bwMode="auto">
            <a:xfrm>
              <a:off x="531" y="1793"/>
              <a:ext cx="808"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Alice</a:t>
              </a:r>
              <a:r>
                <a:rPr lang="ja-JP" altLang="en-US" sz="1800">
                  <a:latin typeface="Arial" pitchFamily="34" charset="0"/>
                  <a:cs typeface="Arial" pitchFamily="34" charset="0"/>
                </a:rPr>
                <a:t>’</a:t>
              </a:r>
              <a:r>
                <a:rPr lang="en-US" altLang="ja-JP" sz="1800">
                  <a:latin typeface="Arial" pitchFamily="34" charset="0"/>
                  <a:cs typeface="Arial" pitchFamily="34" charset="0"/>
                </a:rPr>
                <a:t>s </a:t>
              </a:r>
            </a:p>
            <a:p>
              <a:pPr algn="ctr"/>
              <a:r>
                <a:rPr lang="en-US" altLang="en-US" sz="1800">
                  <a:latin typeface="Arial" pitchFamily="34" charset="0"/>
                  <a:cs typeface="Arial" pitchFamily="34" charset="0"/>
                </a:rPr>
                <a:t>IP address</a:t>
              </a:r>
            </a:p>
          </p:txBody>
        </p:sp>
        <p:sp>
          <p:nvSpPr>
            <p:cNvPr id="33807" name="Line 13"/>
            <p:cNvSpPr>
              <a:spLocks noChangeShapeType="1"/>
            </p:cNvSpPr>
            <p:nvPr/>
          </p:nvSpPr>
          <p:spPr bwMode="auto">
            <a:xfrm flipH="1">
              <a:off x="1338" y="1797"/>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pic>
        <p:nvPicPr>
          <p:cNvPr id="62474" name="Picture 18"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063" y="965200"/>
            <a:ext cx="6399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4819" name="Text Box 4"/>
          <p:cNvSpPr txBox="1">
            <a:spLocks noChangeArrowheads="1"/>
          </p:cNvSpPr>
          <p:nvPr/>
        </p:nvSpPr>
        <p:spPr bwMode="auto">
          <a:xfrm>
            <a:off x="6351588" y="3986213"/>
            <a:ext cx="2792412" cy="1200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latin typeface="Arial" pitchFamily="34" charset="0"/>
                <a:cs typeface="Arial" pitchFamily="34" charset="0"/>
              </a:rPr>
              <a:t>Trudy can create</a:t>
            </a:r>
          </a:p>
          <a:p>
            <a:pPr algn="ctr"/>
            <a:r>
              <a:rPr lang="en-US" altLang="en-US" sz="2400">
                <a:latin typeface="Arial" pitchFamily="34" charset="0"/>
                <a:cs typeface="Arial" pitchFamily="34" charset="0"/>
              </a:rPr>
              <a:t>a packet </a:t>
            </a:r>
            <a:r>
              <a:rPr lang="ja-JP" altLang="en-US" sz="2400">
                <a:latin typeface="Arial" pitchFamily="34" charset="0"/>
                <a:cs typeface="Arial" pitchFamily="34" charset="0"/>
              </a:rPr>
              <a:t>“</a:t>
            </a:r>
            <a:r>
              <a:rPr lang="en-US" altLang="ja-JP" sz="2400">
                <a:latin typeface="Arial" pitchFamily="34" charset="0"/>
                <a:cs typeface="Arial" pitchFamily="34" charset="0"/>
              </a:rPr>
              <a:t>spoofing</a:t>
            </a:r>
            <a:r>
              <a:rPr lang="ja-JP" altLang="en-US" sz="2400">
                <a:latin typeface="Arial" pitchFamily="34" charset="0"/>
                <a:cs typeface="Arial" pitchFamily="34" charset="0"/>
              </a:rPr>
              <a:t>”</a:t>
            </a:r>
            <a:endParaRPr lang="en-US" altLang="ja-JP" sz="2400">
              <a:latin typeface="Arial" pitchFamily="34" charset="0"/>
              <a:cs typeface="Arial" pitchFamily="34" charset="0"/>
            </a:endParaRPr>
          </a:p>
          <a:p>
            <a:pPr algn="ctr"/>
            <a:r>
              <a:rPr lang="en-US" altLang="en-US" sz="2400">
                <a:latin typeface="Arial" pitchFamily="34" charset="0"/>
                <a:cs typeface="Arial" pitchFamily="34" charset="0"/>
              </a:rPr>
              <a:t>Alice</a:t>
            </a:r>
            <a:r>
              <a:rPr lang="ja-JP" altLang="en-US" sz="2400">
                <a:latin typeface="Arial" pitchFamily="34" charset="0"/>
                <a:cs typeface="Arial" pitchFamily="34" charset="0"/>
              </a:rPr>
              <a:t>’</a:t>
            </a:r>
            <a:r>
              <a:rPr lang="en-US" altLang="ja-JP" sz="2400">
                <a:latin typeface="Arial" pitchFamily="34" charset="0"/>
                <a:cs typeface="Arial" pitchFamily="34" charset="0"/>
              </a:rPr>
              <a:t>s address</a:t>
            </a:r>
            <a:endParaRPr lang="en-US" altLang="en-US" sz="2400">
              <a:latin typeface="Arial" pitchFamily="34" charset="0"/>
              <a:cs typeface="Arial" pitchFamily="34" charset="0"/>
            </a:endParaRPr>
          </a:p>
        </p:txBody>
      </p:sp>
      <p:pic>
        <p:nvPicPr>
          <p:cNvPr id="63491" name="Picture 5"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2" name="Picture 6"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413" y="4983163"/>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3"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0" y="3684588"/>
            <a:ext cx="812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Line 8"/>
          <p:cNvSpPr>
            <a:spLocks noChangeShapeType="1"/>
          </p:cNvSpPr>
          <p:nvPr/>
        </p:nvSpPr>
        <p:spPr bwMode="auto">
          <a:xfrm flipV="1">
            <a:off x="2925763" y="4262438"/>
            <a:ext cx="2111375" cy="123825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63495" name="Group 9"/>
          <p:cNvGrpSpPr>
            <a:grpSpLocks/>
          </p:cNvGrpSpPr>
          <p:nvPr/>
        </p:nvGrpSpPr>
        <p:grpSpPr bwMode="auto">
          <a:xfrm>
            <a:off x="3460750" y="4938713"/>
            <a:ext cx="2870200" cy="649287"/>
            <a:chOff x="531" y="1791"/>
            <a:chExt cx="1808" cy="409"/>
          </a:xfrm>
        </p:grpSpPr>
        <p:sp>
          <p:nvSpPr>
            <p:cNvPr id="34828" name="Rectangle 10"/>
            <p:cNvSpPr>
              <a:spLocks noChangeArrowheads="1"/>
            </p:cNvSpPr>
            <p:nvPr/>
          </p:nvSpPr>
          <p:spPr bwMode="auto">
            <a:xfrm>
              <a:off x="540" y="1791"/>
              <a:ext cx="1799" cy="3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4829" name="Text Box 11"/>
            <p:cNvSpPr txBox="1">
              <a:spLocks noChangeArrowheads="1"/>
            </p:cNvSpPr>
            <p:nvPr/>
          </p:nvSpPr>
          <p:spPr bwMode="auto">
            <a:xfrm>
              <a:off x="1369" y="1877"/>
              <a:ext cx="923"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a:latin typeface="Arial" pitchFamily="34" charset="0"/>
                  <a:cs typeface="Arial" pitchFamily="34" charset="0"/>
                </a:rPr>
                <a:t>“</a:t>
              </a:r>
              <a:r>
                <a:rPr lang="en-US" altLang="ja-JP">
                  <a:latin typeface="Arial" pitchFamily="34" charset="0"/>
                  <a:cs typeface="Arial" pitchFamily="34" charset="0"/>
                </a:rPr>
                <a:t>I am Alice</a:t>
              </a:r>
              <a:r>
                <a:rPr lang="ja-JP" altLang="en-US">
                  <a:latin typeface="Arial" pitchFamily="34" charset="0"/>
                  <a:cs typeface="Arial" pitchFamily="34" charset="0"/>
                </a:rPr>
                <a:t>”</a:t>
              </a:r>
              <a:endParaRPr lang="en-US" altLang="en-US">
                <a:latin typeface="Arial" pitchFamily="34" charset="0"/>
                <a:cs typeface="Arial" pitchFamily="34" charset="0"/>
              </a:endParaRPr>
            </a:p>
          </p:txBody>
        </p:sp>
        <p:sp>
          <p:nvSpPr>
            <p:cNvPr id="34830" name="Text Box 12"/>
            <p:cNvSpPr txBox="1">
              <a:spLocks noChangeArrowheads="1"/>
            </p:cNvSpPr>
            <p:nvPr/>
          </p:nvSpPr>
          <p:spPr bwMode="auto">
            <a:xfrm>
              <a:off x="531" y="1793"/>
              <a:ext cx="808"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Alice</a:t>
              </a:r>
              <a:r>
                <a:rPr lang="ja-JP" altLang="en-US" sz="1800">
                  <a:latin typeface="Arial" pitchFamily="34" charset="0"/>
                  <a:cs typeface="Arial" pitchFamily="34" charset="0"/>
                </a:rPr>
                <a:t>’</a:t>
              </a:r>
              <a:r>
                <a:rPr lang="en-US" altLang="ja-JP" sz="1800">
                  <a:latin typeface="Arial" pitchFamily="34" charset="0"/>
                  <a:cs typeface="Arial" pitchFamily="34" charset="0"/>
                </a:rPr>
                <a:t>s </a:t>
              </a:r>
            </a:p>
            <a:p>
              <a:pPr algn="ctr"/>
              <a:r>
                <a:rPr lang="en-US" altLang="en-US" sz="1800">
                  <a:latin typeface="Arial" pitchFamily="34" charset="0"/>
                  <a:cs typeface="Arial" pitchFamily="34" charset="0"/>
                </a:rPr>
                <a:t>IP address</a:t>
              </a:r>
            </a:p>
          </p:txBody>
        </p:sp>
        <p:sp>
          <p:nvSpPr>
            <p:cNvPr id="34831" name="Line 13"/>
            <p:cNvSpPr>
              <a:spLocks noChangeShapeType="1"/>
            </p:cNvSpPr>
            <p:nvPr/>
          </p:nvSpPr>
          <p:spPr bwMode="auto">
            <a:xfrm flipH="1">
              <a:off x="1338" y="1797"/>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sp>
        <p:nvSpPr>
          <p:cNvPr id="63496" name="Rectangle 2"/>
          <p:cNvSpPr>
            <a:spLocks noGrp="1" noChangeArrowheads="1"/>
          </p:cNvSpPr>
          <p:nvPr>
            <p:ph type="title"/>
          </p:nvPr>
        </p:nvSpPr>
        <p:spPr>
          <a:xfrm>
            <a:off x="358775" y="130175"/>
            <a:ext cx="7772400" cy="1143000"/>
          </a:xfrm>
        </p:spPr>
        <p:txBody>
          <a:bodyPr/>
          <a:lstStyle/>
          <a:p>
            <a:r>
              <a:rPr lang="en-US" altLang="en-US" smtClean="0">
                <a:ea typeface="ＭＳ Ｐゴシック" pitchFamily="34" charset="-128"/>
              </a:rPr>
              <a:t>Authentication: another try</a:t>
            </a:r>
          </a:p>
        </p:txBody>
      </p:sp>
      <p:sp>
        <p:nvSpPr>
          <p:cNvPr id="34826" name="Text Box 3"/>
          <p:cNvSpPr txBox="1">
            <a:spLocks noChangeArrowheads="1"/>
          </p:cNvSpPr>
          <p:nvPr/>
        </p:nvSpPr>
        <p:spPr bwMode="auto">
          <a:xfrm>
            <a:off x="725488" y="1452563"/>
            <a:ext cx="782955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2800" i="1">
                <a:solidFill>
                  <a:srgbClr val="C00000"/>
                </a:solidFill>
                <a:latin typeface="Arial" pitchFamily="34" charset="0"/>
                <a:cs typeface="Arial" pitchFamily="34" charset="0"/>
              </a:rPr>
              <a:t>Protocol ap2.0: </a:t>
            </a:r>
            <a:r>
              <a:rPr lang="en-US" altLang="en-US" sz="2400">
                <a:latin typeface="Arial" pitchFamily="34" charset="0"/>
                <a:cs typeface="Arial" pitchFamily="34" charset="0"/>
              </a:rPr>
              <a:t>Alice says </a:t>
            </a:r>
            <a:r>
              <a:rPr lang="ja-JP" altLang="en-US" sz="2400">
                <a:latin typeface="Arial" pitchFamily="34" charset="0"/>
                <a:cs typeface="Arial" pitchFamily="34" charset="0"/>
              </a:rPr>
              <a:t>“</a:t>
            </a:r>
            <a:r>
              <a:rPr lang="en-US" altLang="ja-JP" sz="2400">
                <a:latin typeface="Arial" pitchFamily="34" charset="0"/>
                <a:cs typeface="Arial" pitchFamily="34" charset="0"/>
              </a:rPr>
              <a:t>I am Alice</a:t>
            </a:r>
            <a:r>
              <a:rPr lang="ja-JP" altLang="en-US" sz="2400">
                <a:latin typeface="Arial" pitchFamily="34" charset="0"/>
                <a:cs typeface="Arial" pitchFamily="34" charset="0"/>
              </a:rPr>
              <a:t>”</a:t>
            </a:r>
            <a:r>
              <a:rPr lang="en-US" altLang="ja-JP" sz="2400">
                <a:latin typeface="Arial" pitchFamily="34" charset="0"/>
                <a:cs typeface="Arial" pitchFamily="34" charset="0"/>
              </a:rPr>
              <a:t> in an IP packet</a:t>
            </a:r>
          </a:p>
          <a:p>
            <a:pPr algn="r"/>
            <a:r>
              <a:rPr lang="en-US" altLang="en-US" sz="2400">
                <a:latin typeface="Arial" pitchFamily="34" charset="0"/>
                <a:cs typeface="Arial" pitchFamily="34" charset="0"/>
              </a:rPr>
              <a:t>containing her source IP address </a:t>
            </a:r>
          </a:p>
        </p:txBody>
      </p:sp>
      <p:pic>
        <p:nvPicPr>
          <p:cNvPr id="63498" name="Picture 18"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063" y="965200"/>
            <a:ext cx="6399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5843" name="Text Box 3"/>
          <p:cNvSpPr txBox="1">
            <a:spLocks noChangeArrowheads="1"/>
          </p:cNvSpPr>
          <p:nvPr/>
        </p:nvSpPr>
        <p:spPr bwMode="auto">
          <a:xfrm>
            <a:off x="736600" y="1452563"/>
            <a:ext cx="7818438"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2800" i="1">
                <a:solidFill>
                  <a:srgbClr val="C00000"/>
                </a:solidFill>
                <a:latin typeface="Gill Sans MT" pitchFamily="34" charset="0"/>
              </a:rPr>
              <a:t>Protocol ap3.0:  </a:t>
            </a:r>
            <a:r>
              <a:rPr lang="en-US" altLang="en-US" sz="2800">
                <a:latin typeface="Gill Sans MT" pitchFamily="34" charset="0"/>
              </a:rPr>
              <a:t>Alice says </a:t>
            </a:r>
            <a:r>
              <a:rPr lang="ja-JP" altLang="en-US" sz="2800">
                <a:latin typeface="Gill Sans MT" pitchFamily="34" charset="0"/>
              </a:rPr>
              <a:t>“</a:t>
            </a:r>
            <a:r>
              <a:rPr lang="en-US" altLang="ja-JP" sz="2800">
                <a:latin typeface="Gill Sans MT" pitchFamily="34" charset="0"/>
              </a:rPr>
              <a:t>I am Alice</a:t>
            </a:r>
            <a:r>
              <a:rPr lang="ja-JP" altLang="en-US" sz="2800">
                <a:latin typeface="Gill Sans MT" pitchFamily="34" charset="0"/>
              </a:rPr>
              <a:t>”</a:t>
            </a:r>
            <a:r>
              <a:rPr lang="en-US" altLang="ja-JP" sz="2800">
                <a:latin typeface="Gill Sans MT" pitchFamily="34" charset="0"/>
              </a:rPr>
              <a:t> and sends her</a:t>
            </a:r>
          </a:p>
          <a:p>
            <a:pPr algn="r"/>
            <a:r>
              <a:rPr lang="en-US" altLang="en-US" sz="2800">
                <a:latin typeface="Gill Sans MT" pitchFamily="34" charset="0"/>
              </a:rPr>
              <a:t> secret password to </a:t>
            </a:r>
            <a:r>
              <a:rPr lang="ja-JP" altLang="en-US" sz="2800">
                <a:latin typeface="Gill Sans MT" pitchFamily="34" charset="0"/>
              </a:rPr>
              <a:t>“</a:t>
            </a:r>
            <a:r>
              <a:rPr lang="en-US" altLang="ja-JP" sz="2800">
                <a:latin typeface="Gill Sans MT" pitchFamily="34" charset="0"/>
              </a:rPr>
              <a:t>prove</a:t>
            </a:r>
            <a:r>
              <a:rPr lang="ja-JP" altLang="en-US" sz="2800">
                <a:latin typeface="Gill Sans MT" pitchFamily="34" charset="0"/>
              </a:rPr>
              <a:t>”</a:t>
            </a:r>
            <a:r>
              <a:rPr lang="en-US" altLang="ja-JP" sz="2800">
                <a:latin typeface="Gill Sans MT" pitchFamily="34" charset="0"/>
              </a:rPr>
              <a:t> it.</a:t>
            </a:r>
            <a:endParaRPr lang="en-US" altLang="en-US" sz="2800">
              <a:latin typeface="Gill Sans MT" pitchFamily="34" charset="0"/>
            </a:endParaRPr>
          </a:p>
        </p:txBody>
      </p:sp>
      <p:sp>
        <p:nvSpPr>
          <p:cNvPr id="35844" name="Text Box 4"/>
          <p:cNvSpPr txBox="1">
            <a:spLocks noChangeArrowheads="1"/>
          </p:cNvSpPr>
          <p:nvPr/>
        </p:nvSpPr>
        <p:spPr bwMode="auto">
          <a:xfrm>
            <a:off x="6030913" y="4113213"/>
            <a:ext cx="27574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Failure scenario??</a:t>
            </a:r>
          </a:p>
        </p:txBody>
      </p:sp>
      <p:pic>
        <p:nvPicPr>
          <p:cNvPr id="64516" name="Picture 5"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Picture 6"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5194300"/>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1900" y="3670300"/>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Line 8"/>
          <p:cNvSpPr>
            <a:spLocks noChangeShapeType="1"/>
          </p:cNvSpPr>
          <p:nvPr/>
        </p:nvSpPr>
        <p:spPr bwMode="auto">
          <a:xfrm>
            <a:off x="1209675" y="4065588"/>
            <a:ext cx="3798888" cy="0"/>
          </a:xfrm>
          <a:prstGeom prst="line">
            <a:avLst/>
          </a:prstGeom>
          <a:noFill/>
          <a:ln w="571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64520" name="Group 9"/>
          <p:cNvGrpSpPr>
            <a:grpSpLocks/>
          </p:cNvGrpSpPr>
          <p:nvPr/>
        </p:nvGrpSpPr>
        <p:grpSpPr bwMode="auto">
          <a:xfrm>
            <a:off x="1504950" y="3306763"/>
            <a:ext cx="3046413" cy="633412"/>
            <a:chOff x="806" y="1799"/>
            <a:chExt cx="1919" cy="399"/>
          </a:xfrm>
        </p:grpSpPr>
        <p:sp>
          <p:nvSpPr>
            <p:cNvPr id="35859" name="Rectangle 10"/>
            <p:cNvSpPr>
              <a:spLocks noChangeArrowheads="1"/>
            </p:cNvSpPr>
            <p:nvPr/>
          </p:nvSpPr>
          <p:spPr bwMode="auto">
            <a:xfrm>
              <a:off x="806" y="1799"/>
              <a:ext cx="1919" cy="3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5860" name="Text Box 11"/>
            <p:cNvSpPr txBox="1">
              <a:spLocks noChangeArrowheads="1"/>
            </p:cNvSpPr>
            <p:nvPr/>
          </p:nvSpPr>
          <p:spPr bwMode="auto">
            <a:xfrm>
              <a:off x="1964" y="1876"/>
              <a:ext cx="75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sz="1800">
                  <a:latin typeface="Arial" pitchFamily="34" charset="0"/>
                  <a:cs typeface="Arial" pitchFamily="34" charset="0"/>
                </a:rPr>
                <a:t>“</a:t>
              </a:r>
              <a:r>
                <a:rPr lang="en-US" altLang="ja-JP" sz="1800">
                  <a:latin typeface="Arial" pitchFamily="34" charset="0"/>
                  <a:cs typeface="Arial" pitchFamily="34" charset="0"/>
                </a:rPr>
                <a:t>I</a:t>
              </a:r>
              <a:r>
                <a:rPr lang="ja-JP" altLang="en-US" sz="1800">
                  <a:latin typeface="Arial" pitchFamily="34" charset="0"/>
                  <a:cs typeface="Arial" pitchFamily="34" charset="0"/>
                </a:rPr>
                <a:t>’</a:t>
              </a:r>
              <a:r>
                <a:rPr lang="en-US" altLang="ja-JP" sz="1800">
                  <a:latin typeface="Arial" pitchFamily="34" charset="0"/>
                  <a:cs typeface="Arial" pitchFamily="34" charset="0"/>
                </a:rPr>
                <a:t>m Alice</a:t>
              </a:r>
              <a:r>
                <a:rPr lang="ja-JP" altLang="en-US" sz="1800">
                  <a:latin typeface="Arial" pitchFamily="34" charset="0"/>
                  <a:cs typeface="Arial" pitchFamily="34" charset="0"/>
                </a:rPr>
                <a:t>”</a:t>
              </a:r>
              <a:endParaRPr lang="en-US" altLang="en-US" sz="1800">
                <a:latin typeface="Arial" pitchFamily="34" charset="0"/>
                <a:cs typeface="Arial" pitchFamily="34" charset="0"/>
              </a:endParaRPr>
            </a:p>
          </p:txBody>
        </p:sp>
        <p:sp>
          <p:nvSpPr>
            <p:cNvPr id="35861" name="Text Box 12"/>
            <p:cNvSpPr txBox="1">
              <a:spLocks noChangeArrowheads="1"/>
            </p:cNvSpPr>
            <p:nvPr/>
          </p:nvSpPr>
          <p:spPr bwMode="auto">
            <a:xfrm>
              <a:off x="809" y="1822"/>
              <a:ext cx="53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Alice</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ctr"/>
              <a:r>
                <a:rPr lang="en-US" altLang="en-US" sz="1600">
                  <a:latin typeface="Arial" pitchFamily="34" charset="0"/>
                  <a:cs typeface="Arial" pitchFamily="34" charset="0"/>
                </a:rPr>
                <a:t>IP addr</a:t>
              </a:r>
            </a:p>
          </p:txBody>
        </p:sp>
        <p:sp>
          <p:nvSpPr>
            <p:cNvPr id="35862" name="Line 13"/>
            <p:cNvSpPr>
              <a:spLocks noChangeShapeType="1"/>
            </p:cNvSpPr>
            <p:nvPr/>
          </p:nvSpPr>
          <p:spPr bwMode="auto">
            <a:xfrm flipH="1">
              <a:off x="1337" y="180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863" name="Text Box 14"/>
            <p:cNvSpPr txBox="1">
              <a:spLocks noChangeArrowheads="1"/>
            </p:cNvSpPr>
            <p:nvPr/>
          </p:nvSpPr>
          <p:spPr bwMode="auto">
            <a:xfrm>
              <a:off x="1331" y="1813"/>
              <a:ext cx="666"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Alice</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ctr"/>
              <a:r>
                <a:rPr lang="en-US" altLang="en-US" sz="1600">
                  <a:latin typeface="Arial" pitchFamily="34" charset="0"/>
                  <a:cs typeface="Arial" pitchFamily="34" charset="0"/>
                </a:rPr>
                <a:t>password</a:t>
              </a:r>
            </a:p>
          </p:txBody>
        </p:sp>
        <p:sp>
          <p:nvSpPr>
            <p:cNvPr id="35864" name="Line 15"/>
            <p:cNvSpPr>
              <a:spLocks noChangeShapeType="1"/>
            </p:cNvSpPr>
            <p:nvPr/>
          </p:nvSpPr>
          <p:spPr bwMode="auto">
            <a:xfrm flipH="1">
              <a:off x="1973" y="180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grpSp>
        <p:nvGrpSpPr>
          <p:cNvPr id="64521" name="Group 16"/>
          <p:cNvGrpSpPr>
            <a:grpSpLocks/>
          </p:cNvGrpSpPr>
          <p:nvPr/>
        </p:nvGrpSpPr>
        <p:grpSpPr bwMode="auto">
          <a:xfrm>
            <a:off x="3063875" y="4235450"/>
            <a:ext cx="1489075" cy="633413"/>
            <a:chOff x="1000" y="2719"/>
            <a:chExt cx="938" cy="399"/>
          </a:xfrm>
        </p:grpSpPr>
        <p:sp>
          <p:nvSpPr>
            <p:cNvPr id="35855" name="Rectangle 17"/>
            <p:cNvSpPr>
              <a:spLocks noChangeArrowheads="1"/>
            </p:cNvSpPr>
            <p:nvPr/>
          </p:nvSpPr>
          <p:spPr bwMode="auto">
            <a:xfrm>
              <a:off x="1000" y="2719"/>
              <a:ext cx="938" cy="3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5856" name="Text Box 18"/>
            <p:cNvSpPr txBox="1">
              <a:spLocks noChangeArrowheads="1"/>
            </p:cNvSpPr>
            <p:nvPr/>
          </p:nvSpPr>
          <p:spPr bwMode="auto">
            <a:xfrm>
              <a:off x="1574" y="2793"/>
              <a:ext cx="32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OK</a:t>
              </a:r>
            </a:p>
          </p:txBody>
        </p:sp>
        <p:sp>
          <p:nvSpPr>
            <p:cNvPr id="35857" name="Text Box 19"/>
            <p:cNvSpPr txBox="1">
              <a:spLocks noChangeArrowheads="1"/>
            </p:cNvSpPr>
            <p:nvPr/>
          </p:nvSpPr>
          <p:spPr bwMode="auto">
            <a:xfrm>
              <a:off x="1003" y="2742"/>
              <a:ext cx="53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Alice</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ctr"/>
              <a:r>
                <a:rPr lang="en-US" altLang="en-US" sz="1600">
                  <a:latin typeface="Arial" pitchFamily="34" charset="0"/>
                  <a:cs typeface="Arial" pitchFamily="34" charset="0"/>
                </a:rPr>
                <a:t>IP addr</a:t>
              </a:r>
            </a:p>
          </p:txBody>
        </p:sp>
        <p:sp>
          <p:nvSpPr>
            <p:cNvPr id="35858" name="Line 20"/>
            <p:cNvSpPr>
              <a:spLocks noChangeShapeType="1"/>
            </p:cNvSpPr>
            <p:nvPr/>
          </p:nvSpPr>
          <p:spPr bwMode="auto">
            <a:xfrm flipH="1">
              <a:off x="1531" y="272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sp>
        <p:nvSpPr>
          <p:cNvPr id="35851" name="Line 21"/>
          <p:cNvSpPr>
            <a:spLocks noChangeShapeType="1"/>
          </p:cNvSpPr>
          <p:nvPr/>
        </p:nvSpPr>
        <p:spPr bwMode="auto">
          <a:xfrm>
            <a:off x="4627563" y="3600450"/>
            <a:ext cx="561975" cy="15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852" name="Line 22"/>
          <p:cNvSpPr>
            <a:spLocks noChangeShapeType="1"/>
          </p:cNvSpPr>
          <p:nvPr/>
        </p:nvSpPr>
        <p:spPr bwMode="auto">
          <a:xfrm flipH="1">
            <a:off x="2541588" y="4551363"/>
            <a:ext cx="452437" cy="15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64524" name="Rectangle 2"/>
          <p:cNvSpPr>
            <a:spLocks noGrp="1" noChangeArrowheads="1"/>
          </p:cNvSpPr>
          <p:nvPr>
            <p:ph type="title"/>
          </p:nvPr>
        </p:nvSpPr>
        <p:spPr>
          <a:xfrm>
            <a:off x="358775" y="130175"/>
            <a:ext cx="7772400" cy="1143000"/>
          </a:xfrm>
        </p:spPr>
        <p:txBody>
          <a:bodyPr/>
          <a:lstStyle/>
          <a:p>
            <a:r>
              <a:rPr lang="en-US" altLang="en-US" smtClean="0">
                <a:ea typeface="ＭＳ Ｐゴシック" pitchFamily="34" charset="-128"/>
              </a:rPr>
              <a:t>Authentication: another try</a:t>
            </a:r>
          </a:p>
        </p:txBody>
      </p:sp>
      <p:pic>
        <p:nvPicPr>
          <p:cNvPr id="64525" name="Picture 18"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063" y="965200"/>
            <a:ext cx="6399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6867" name="Text Box 4"/>
          <p:cNvSpPr txBox="1">
            <a:spLocks noChangeArrowheads="1"/>
          </p:cNvSpPr>
          <p:nvPr/>
        </p:nvSpPr>
        <p:spPr bwMode="auto">
          <a:xfrm>
            <a:off x="5903913" y="3865563"/>
            <a:ext cx="3001962"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i="1">
                <a:solidFill>
                  <a:srgbClr val="C00000"/>
                </a:solidFill>
                <a:latin typeface="Arial" pitchFamily="34" charset="0"/>
                <a:cs typeface="Arial" pitchFamily="34" charset="0"/>
              </a:rPr>
              <a:t>playback attack:</a:t>
            </a:r>
            <a:r>
              <a:rPr lang="en-US" altLang="en-US">
                <a:solidFill>
                  <a:srgbClr val="C00000"/>
                </a:solidFill>
                <a:latin typeface="Arial" pitchFamily="34" charset="0"/>
                <a:cs typeface="Arial" pitchFamily="34" charset="0"/>
              </a:rPr>
              <a:t> </a:t>
            </a:r>
            <a:r>
              <a:rPr lang="en-US" altLang="en-US">
                <a:latin typeface="Arial" pitchFamily="34" charset="0"/>
                <a:cs typeface="Arial" pitchFamily="34" charset="0"/>
              </a:rPr>
              <a:t>Trudy records Alice</a:t>
            </a:r>
            <a:r>
              <a:rPr lang="ja-JP" altLang="en-US">
                <a:latin typeface="Arial" pitchFamily="34" charset="0"/>
                <a:cs typeface="Arial" pitchFamily="34" charset="0"/>
              </a:rPr>
              <a:t>’</a:t>
            </a:r>
            <a:r>
              <a:rPr lang="en-US" altLang="ja-JP">
                <a:latin typeface="Arial" pitchFamily="34" charset="0"/>
                <a:cs typeface="Arial" pitchFamily="34" charset="0"/>
              </a:rPr>
              <a:t>s packet</a:t>
            </a:r>
          </a:p>
          <a:p>
            <a:pPr algn="ctr"/>
            <a:r>
              <a:rPr lang="en-US" altLang="en-US">
                <a:latin typeface="Arial" pitchFamily="34" charset="0"/>
                <a:cs typeface="Arial" pitchFamily="34" charset="0"/>
              </a:rPr>
              <a:t>and later</a:t>
            </a:r>
          </a:p>
          <a:p>
            <a:pPr algn="ctr"/>
            <a:r>
              <a:rPr lang="en-US" altLang="en-US">
                <a:latin typeface="Arial" pitchFamily="34" charset="0"/>
                <a:cs typeface="Arial" pitchFamily="34" charset="0"/>
              </a:rPr>
              <a:t>plays it back to Bob </a:t>
            </a:r>
          </a:p>
        </p:txBody>
      </p:sp>
      <p:pic>
        <p:nvPicPr>
          <p:cNvPr id="65539" name="Picture 5"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0" name="Picture 6"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5194300"/>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1900" y="3670300"/>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1" name="Line 8"/>
          <p:cNvSpPr>
            <a:spLocks noChangeShapeType="1"/>
          </p:cNvSpPr>
          <p:nvPr/>
        </p:nvSpPr>
        <p:spPr bwMode="auto">
          <a:xfrm>
            <a:off x="1209675" y="4065588"/>
            <a:ext cx="3798888" cy="0"/>
          </a:xfrm>
          <a:prstGeom prst="line">
            <a:avLst/>
          </a:prstGeom>
          <a:noFill/>
          <a:ln w="57150">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6872" name="Rectangle 9"/>
          <p:cNvSpPr>
            <a:spLocks noChangeArrowheads="1"/>
          </p:cNvSpPr>
          <p:nvPr/>
        </p:nvSpPr>
        <p:spPr bwMode="auto">
          <a:xfrm>
            <a:off x="1504950" y="3306763"/>
            <a:ext cx="3046413" cy="63341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6873" name="Text Box 10"/>
          <p:cNvSpPr txBox="1">
            <a:spLocks noChangeArrowheads="1"/>
          </p:cNvSpPr>
          <p:nvPr/>
        </p:nvSpPr>
        <p:spPr bwMode="auto">
          <a:xfrm>
            <a:off x="3343275" y="3429000"/>
            <a:ext cx="1198563"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sz="1800">
                <a:solidFill>
                  <a:schemeClr val="bg2"/>
                </a:solidFill>
                <a:latin typeface="Arial" pitchFamily="34" charset="0"/>
                <a:cs typeface="Arial" pitchFamily="34" charset="0"/>
              </a:rPr>
              <a:t>“</a:t>
            </a:r>
            <a:r>
              <a:rPr lang="en-US" altLang="ja-JP" sz="1800">
                <a:solidFill>
                  <a:schemeClr val="bg2"/>
                </a:solidFill>
                <a:latin typeface="Arial" pitchFamily="34" charset="0"/>
                <a:cs typeface="Arial" pitchFamily="34" charset="0"/>
              </a:rPr>
              <a:t>I</a:t>
            </a:r>
            <a:r>
              <a:rPr lang="ja-JP" altLang="en-US" sz="1800">
                <a:solidFill>
                  <a:schemeClr val="bg2"/>
                </a:solidFill>
                <a:latin typeface="Arial" pitchFamily="34" charset="0"/>
                <a:cs typeface="Arial" pitchFamily="34" charset="0"/>
              </a:rPr>
              <a:t>’</a:t>
            </a:r>
            <a:r>
              <a:rPr lang="en-US" altLang="ja-JP" sz="1800">
                <a:solidFill>
                  <a:schemeClr val="bg2"/>
                </a:solidFill>
                <a:latin typeface="Arial" pitchFamily="34" charset="0"/>
                <a:cs typeface="Arial" pitchFamily="34" charset="0"/>
              </a:rPr>
              <a:t>m Alice</a:t>
            </a:r>
            <a:r>
              <a:rPr lang="ja-JP" altLang="en-US" sz="1800">
                <a:solidFill>
                  <a:schemeClr val="bg2"/>
                </a:solidFill>
                <a:latin typeface="Arial" pitchFamily="34" charset="0"/>
                <a:cs typeface="Arial" pitchFamily="34" charset="0"/>
              </a:rPr>
              <a:t>”</a:t>
            </a:r>
            <a:endParaRPr lang="en-US" altLang="en-US" sz="1800">
              <a:solidFill>
                <a:schemeClr val="bg2"/>
              </a:solidFill>
              <a:latin typeface="Arial" pitchFamily="34" charset="0"/>
              <a:cs typeface="Arial" pitchFamily="34" charset="0"/>
            </a:endParaRPr>
          </a:p>
        </p:txBody>
      </p:sp>
      <p:sp>
        <p:nvSpPr>
          <p:cNvPr id="36874" name="Text Box 11"/>
          <p:cNvSpPr txBox="1">
            <a:spLocks noChangeArrowheads="1"/>
          </p:cNvSpPr>
          <p:nvPr/>
        </p:nvSpPr>
        <p:spPr bwMode="auto">
          <a:xfrm>
            <a:off x="1509713" y="3343275"/>
            <a:ext cx="842962"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chemeClr val="bg2"/>
                </a:solidFill>
                <a:latin typeface="Arial" pitchFamily="34" charset="0"/>
                <a:cs typeface="Arial" pitchFamily="34" charset="0"/>
              </a:rPr>
              <a:t>Alice</a:t>
            </a:r>
            <a:r>
              <a:rPr lang="ja-JP" altLang="en-US" sz="1600">
                <a:solidFill>
                  <a:schemeClr val="bg2"/>
                </a:solidFill>
                <a:latin typeface="Arial" pitchFamily="34" charset="0"/>
                <a:cs typeface="Arial" pitchFamily="34" charset="0"/>
              </a:rPr>
              <a:t>’</a:t>
            </a:r>
            <a:r>
              <a:rPr lang="en-US" altLang="ja-JP" sz="1600">
                <a:solidFill>
                  <a:schemeClr val="bg2"/>
                </a:solidFill>
                <a:latin typeface="Arial" pitchFamily="34" charset="0"/>
                <a:cs typeface="Arial" pitchFamily="34" charset="0"/>
              </a:rPr>
              <a:t>s </a:t>
            </a:r>
          </a:p>
          <a:p>
            <a:pPr algn="ctr"/>
            <a:r>
              <a:rPr lang="en-US" altLang="en-US" sz="1600">
                <a:solidFill>
                  <a:schemeClr val="bg2"/>
                </a:solidFill>
                <a:latin typeface="Arial" pitchFamily="34" charset="0"/>
                <a:cs typeface="Arial" pitchFamily="34" charset="0"/>
              </a:rPr>
              <a:t>IP addr</a:t>
            </a:r>
          </a:p>
        </p:txBody>
      </p:sp>
      <p:sp>
        <p:nvSpPr>
          <p:cNvPr id="36875" name="Line 12"/>
          <p:cNvSpPr>
            <a:spLocks noChangeShapeType="1"/>
          </p:cNvSpPr>
          <p:nvPr/>
        </p:nvSpPr>
        <p:spPr bwMode="auto">
          <a:xfrm flipH="1">
            <a:off x="2347913" y="3316288"/>
            <a:ext cx="0" cy="6238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6876" name="Text Box 13"/>
          <p:cNvSpPr txBox="1">
            <a:spLocks noChangeArrowheads="1"/>
          </p:cNvSpPr>
          <p:nvPr/>
        </p:nvSpPr>
        <p:spPr bwMode="auto">
          <a:xfrm>
            <a:off x="2338388" y="3328988"/>
            <a:ext cx="1057275"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chemeClr val="bg2"/>
                </a:solidFill>
                <a:latin typeface="Arial" pitchFamily="34" charset="0"/>
                <a:cs typeface="Arial" pitchFamily="34" charset="0"/>
              </a:rPr>
              <a:t>Alice</a:t>
            </a:r>
            <a:r>
              <a:rPr lang="ja-JP" altLang="en-US" sz="1600">
                <a:solidFill>
                  <a:schemeClr val="bg2"/>
                </a:solidFill>
                <a:latin typeface="Arial" pitchFamily="34" charset="0"/>
                <a:cs typeface="Arial" pitchFamily="34" charset="0"/>
              </a:rPr>
              <a:t>’</a:t>
            </a:r>
            <a:r>
              <a:rPr lang="en-US" altLang="ja-JP" sz="1600">
                <a:solidFill>
                  <a:schemeClr val="bg2"/>
                </a:solidFill>
                <a:latin typeface="Arial" pitchFamily="34" charset="0"/>
                <a:cs typeface="Arial" pitchFamily="34" charset="0"/>
              </a:rPr>
              <a:t>s </a:t>
            </a:r>
          </a:p>
          <a:p>
            <a:pPr algn="ctr"/>
            <a:r>
              <a:rPr lang="en-US" altLang="en-US" sz="1600">
                <a:solidFill>
                  <a:schemeClr val="bg2"/>
                </a:solidFill>
                <a:latin typeface="Arial" pitchFamily="34" charset="0"/>
                <a:cs typeface="Arial" pitchFamily="34" charset="0"/>
              </a:rPr>
              <a:t>password</a:t>
            </a:r>
          </a:p>
        </p:txBody>
      </p:sp>
      <p:sp>
        <p:nvSpPr>
          <p:cNvPr id="36877" name="Line 14"/>
          <p:cNvSpPr>
            <a:spLocks noChangeShapeType="1"/>
          </p:cNvSpPr>
          <p:nvPr/>
        </p:nvSpPr>
        <p:spPr bwMode="auto">
          <a:xfrm flipH="1">
            <a:off x="3357563" y="3316288"/>
            <a:ext cx="0" cy="6238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65549" name="Group 15"/>
          <p:cNvGrpSpPr>
            <a:grpSpLocks/>
          </p:cNvGrpSpPr>
          <p:nvPr/>
        </p:nvGrpSpPr>
        <p:grpSpPr bwMode="auto">
          <a:xfrm>
            <a:off x="3327400" y="4224338"/>
            <a:ext cx="1489075" cy="633412"/>
            <a:chOff x="1000" y="2719"/>
            <a:chExt cx="938" cy="399"/>
          </a:xfrm>
        </p:grpSpPr>
        <p:sp>
          <p:nvSpPr>
            <p:cNvPr id="36895" name="Rectangle 16"/>
            <p:cNvSpPr>
              <a:spLocks noChangeArrowheads="1"/>
            </p:cNvSpPr>
            <p:nvPr/>
          </p:nvSpPr>
          <p:spPr bwMode="auto">
            <a:xfrm>
              <a:off x="1000" y="2719"/>
              <a:ext cx="938" cy="3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6896" name="Text Box 17"/>
            <p:cNvSpPr txBox="1">
              <a:spLocks noChangeArrowheads="1"/>
            </p:cNvSpPr>
            <p:nvPr/>
          </p:nvSpPr>
          <p:spPr bwMode="auto">
            <a:xfrm>
              <a:off x="1574" y="2793"/>
              <a:ext cx="32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OK</a:t>
              </a:r>
            </a:p>
          </p:txBody>
        </p:sp>
        <p:sp>
          <p:nvSpPr>
            <p:cNvPr id="36897" name="Text Box 18"/>
            <p:cNvSpPr txBox="1">
              <a:spLocks noChangeArrowheads="1"/>
            </p:cNvSpPr>
            <p:nvPr/>
          </p:nvSpPr>
          <p:spPr bwMode="auto">
            <a:xfrm>
              <a:off x="1003" y="2742"/>
              <a:ext cx="53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Alice</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ctr"/>
              <a:r>
                <a:rPr lang="en-US" altLang="en-US" sz="1600">
                  <a:latin typeface="Arial" pitchFamily="34" charset="0"/>
                  <a:cs typeface="Arial" pitchFamily="34" charset="0"/>
                </a:rPr>
                <a:t>IP addr</a:t>
              </a:r>
            </a:p>
          </p:txBody>
        </p:sp>
        <p:sp>
          <p:nvSpPr>
            <p:cNvPr id="36898" name="Line 19"/>
            <p:cNvSpPr>
              <a:spLocks noChangeShapeType="1"/>
            </p:cNvSpPr>
            <p:nvPr/>
          </p:nvSpPr>
          <p:spPr bwMode="auto">
            <a:xfrm flipH="1">
              <a:off x="1531" y="272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sp>
        <p:nvSpPr>
          <p:cNvPr id="36879" name="Line 20"/>
          <p:cNvSpPr>
            <a:spLocks noChangeShapeType="1"/>
          </p:cNvSpPr>
          <p:nvPr/>
        </p:nvSpPr>
        <p:spPr bwMode="auto">
          <a:xfrm>
            <a:off x="4627563" y="3600450"/>
            <a:ext cx="561975" cy="1588"/>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pic>
        <p:nvPicPr>
          <p:cNvPr id="65551" name="Picture 21" descr="EN00179_[1]"/>
          <p:cNvPicPr>
            <a:picLocks noGrp="1" noChangeAspect="1" noChangeArrowheads="1"/>
          </p:cNvPicPr>
          <p:nvPr>
            <p:ph idx="1"/>
          </p:nvPr>
        </p:nvPicPr>
        <p:blipFill>
          <a:blip r:embed="rId5" cstate="print">
            <a:extLst>
              <a:ext uri="{28A0092B-C50C-407E-A947-70E740481C1C}">
                <a14:useLocalDpi xmlns:a14="http://schemas.microsoft.com/office/drawing/2010/main" val="0"/>
              </a:ext>
            </a:extLst>
          </a:blip>
          <a:srcRect/>
          <a:stretch>
            <a:fillRect/>
          </a:stretch>
        </p:blipFill>
        <p:spPr>
          <a:xfrm>
            <a:off x="1949450" y="5337175"/>
            <a:ext cx="862013" cy="66833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81" name="Line 22"/>
          <p:cNvSpPr>
            <a:spLocks noChangeShapeType="1"/>
          </p:cNvSpPr>
          <p:nvPr/>
        </p:nvSpPr>
        <p:spPr bwMode="auto">
          <a:xfrm>
            <a:off x="1857375" y="4106863"/>
            <a:ext cx="623888" cy="1292225"/>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6882" name="Line 23"/>
          <p:cNvSpPr>
            <a:spLocks noChangeShapeType="1"/>
          </p:cNvSpPr>
          <p:nvPr/>
        </p:nvSpPr>
        <p:spPr bwMode="auto">
          <a:xfrm flipH="1">
            <a:off x="3344863" y="4214813"/>
            <a:ext cx="1857375" cy="1554162"/>
          </a:xfrm>
          <a:prstGeom prst="line">
            <a:avLst/>
          </a:prstGeom>
          <a:noFill/>
          <a:ln w="571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65554" name="Group 24"/>
          <p:cNvGrpSpPr>
            <a:grpSpLocks/>
          </p:cNvGrpSpPr>
          <p:nvPr/>
        </p:nvGrpSpPr>
        <p:grpSpPr bwMode="auto">
          <a:xfrm>
            <a:off x="3551238" y="5368925"/>
            <a:ext cx="3046412" cy="633413"/>
            <a:chOff x="806" y="1799"/>
            <a:chExt cx="1919" cy="399"/>
          </a:xfrm>
        </p:grpSpPr>
        <p:sp>
          <p:nvSpPr>
            <p:cNvPr id="36889" name="Rectangle 25"/>
            <p:cNvSpPr>
              <a:spLocks noChangeArrowheads="1"/>
            </p:cNvSpPr>
            <p:nvPr/>
          </p:nvSpPr>
          <p:spPr bwMode="auto">
            <a:xfrm>
              <a:off x="806" y="1799"/>
              <a:ext cx="1919" cy="3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6890" name="Text Box 26"/>
            <p:cNvSpPr txBox="1">
              <a:spLocks noChangeArrowheads="1"/>
            </p:cNvSpPr>
            <p:nvPr/>
          </p:nvSpPr>
          <p:spPr bwMode="auto">
            <a:xfrm>
              <a:off x="1964" y="1876"/>
              <a:ext cx="75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sz="1800">
                  <a:latin typeface="Arial" pitchFamily="34" charset="0"/>
                  <a:cs typeface="Arial" pitchFamily="34" charset="0"/>
                </a:rPr>
                <a:t>“</a:t>
              </a:r>
              <a:r>
                <a:rPr lang="en-US" altLang="ja-JP" sz="1800">
                  <a:latin typeface="Arial" pitchFamily="34" charset="0"/>
                  <a:cs typeface="Arial" pitchFamily="34" charset="0"/>
                </a:rPr>
                <a:t>I</a:t>
              </a:r>
              <a:r>
                <a:rPr lang="ja-JP" altLang="en-US" sz="1800">
                  <a:latin typeface="Arial" pitchFamily="34" charset="0"/>
                  <a:cs typeface="Arial" pitchFamily="34" charset="0"/>
                </a:rPr>
                <a:t>’</a:t>
              </a:r>
              <a:r>
                <a:rPr lang="en-US" altLang="ja-JP" sz="1800">
                  <a:latin typeface="Arial" pitchFamily="34" charset="0"/>
                  <a:cs typeface="Arial" pitchFamily="34" charset="0"/>
                </a:rPr>
                <a:t>m Alice</a:t>
              </a:r>
              <a:r>
                <a:rPr lang="ja-JP" altLang="en-US" sz="1800">
                  <a:latin typeface="Arial" pitchFamily="34" charset="0"/>
                  <a:cs typeface="Arial" pitchFamily="34" charset="0"/>
                </a:rPr>
                <a:t>”</a:t>
              </a:r>
              <a:endParaRPr lang="en-US" altLang="en-US" sz="1800">
                <a:latin typeface="Arial" pitchFamily="34" charset="0"/>
                <a:cs typeface="Arial" pitchFamily="34" charset="0"/>
              </a:endParaRPr>
            </a:p>
          </p:txBody>
        </p:sp>
        <p:sp>
          <p:nvSpPr>
            <p:cNvPr id="36891" name="Text Box 27"/>
            <p:cNvSpPr txBox="1">
              <a:spLocks noChangeArrowheads="1"/>
            </p:cNvSpPr>
            <p:nvPr/>
          </p:nvSpPr>
          <p:spPr bwMode="auto">
            <a:xfrm>
              <a:off x="809" y="1822"/>
              <a:ext cx="53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Alice</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ctr"/>
              <a:r>
                <a:rPr lang="en-US" altLang="en-US" sz="1600">
                  <a:latin typeface="Arial" pitchFamily="34" charset="0"/>
                  <a:cs typeface="Arial" pitchFamily="34" charset="0"/>
                </a:rPr>
                <a:t>IP addr</a:t>
              </a:r>
            </a:p>
          </p:txBody>
        </p:sp>
        <p:sp>
          <p:nvSpPr>
            <p:cNvPr id="36892" name="Line 28"/>
            <p:cNvSpPr>
              <a:spLocks noChangeShapeType="1"/>
            </p:cNvSpPr>
            <p:nvPr/>
          </p:nvSpPr>
          <p:spPr bwMode="auto">
            <a:xfrm flipH="1">
              <a:off x="1337" y="180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6893" name="Text Box 29"/>
            <p:cNvSpPr txBox="1">
              <a:spLocks noChangeArrowheads="1"/>
            </p:cNvSpPr>
            <p:nvPr/>
          </p:nvSpPr>
          <p:spPr bwMode="auto">
            <a:xfrm>
              <a:off x="1331" y="1813"/>
              <a:ext cx="666"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Alice</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ctr"/>
              <a:r>
                <a:rPr lang="en-US" altLang="en-US" sz="1600">
                  <a:latin typeface="Arial" pitchFamily="34" charset="0"/>
                  <a:cs typeface="Arial" pitchFamily="34" charset="0"/>
                </a:rPr>
                <a:t>password</a:t>
              </a:r>
            </a:p>
          </p:txBody>
        </p:sp>
        <p:sp>
          <p:nvSpPr>
            <p:cNvPr id="36894" name="Line 30"/>
            <p:cNvSpPr>
              <a:spLocks noChangeShapeType="1"/>
            </p:cNvSpPr>
            <p:nvPr/>
          </p:nvSpPr>
          <p:spPr bwMode="auto">
            <a:xfrm flipH="1">
              <a:off x="1973" y="180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sp>
        <p:nvSpPr>
          <p:cNvPr id="36884" name="Line 31"/>
          <p:cNvSpPr>
            <a:spLocks noChangeShapeType="1"/>
          </p:cNvSpPr>
          <p:nvPr/>
        </p:nvSpPr>
        <p:spPr bwMode="auto">
          <a:xfrm flipV="1">
            <a:off x="4548188" y="4741863"/>
            <a:ext cx="679450" cy="5794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6885" name="Line 32"/>
          <p:cNvSpPr>
            <a:spLocks noChangeShapeType="1"/>
          </p:cNvSpPr>
          <p:nvPr/>
        </p:nvSpPr>
        <p:spPr bwMode="auto">
          <a:xfrm flipH="1">
            <a:off x="3697288" y="4878388"/>
            <a:ext cx="365125" cy="2921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6886" name="Text Box 3"/>
          <p:cNvSpPr txBox="1">
            <a:spLocks noChangeArrowheads="1"/>
          </p:cNvSpPr>
          <p:nvPr/>
        </p:nvSpPr>
        <p:spPr bwMode="auto">
          <a:xfrm>
            <a:off x="736600" y="1452563"/>
            <a:ext cx="7818438"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2800" i="1">
                <a:solidFill>
                  <a:srgbClr val="C00000"/>
                </a:solidFill>
                <a:latin typeface="Gill Sans MT" pitchFamily="34" charset="0"/>
              </a:rPr>
              <a:t>Protocol ap3.0:  </a:t>
            </a:r>
            <a:r>
              <a:rPr lang="en-US" altLang="en-US" sz="2800">
                <a:latin typeface="Gill Sans MT" pitchFamily="34" charset="0"/>
              </a:rPr>
              <a:t>Alice says </a:t>
            </a:r>
            <a:r>
              <a:rPr lang="ja-JP" altLang="en-US" sz="2800">
                <a:latin typeface="Gill Sans MT" pitchFamily="34" charset="0"/>
              </a:rPr>
              <a:t>“</a:t>
            </a:r>
            <a:r>
              <a:rPr lang="en-US" altLang="ja-JP" sz="2800">
                <a:latin typeface="Gill Sans MT" pitchFamily="34" charset="0"/>
              </a:rPr>
              <a:t>I am Alice</a:t>
            </a:r>
            <a:r>
              <a:rPr lang="ja-JP" altLang="en-US" sz="2800">
                <a:latin typeface="Gill Sans MT" pitchFamily="34" charset="0"/>
              </a:rPr>
              <a:t>”</a:t>
            </a:r>
            <a:r>
              <a:rPr lang="en-US" altLang="ja-JP" sz="2800">
                <a:latin typeface="Gill Sans MT" pitchFamily="34" charset="0"/>
              </a:rPr>
              <a:t> and sends her</a:t>
            </a:r>
          </a:p>
          <a:p>
            <a:pPr algn="r"/>
            <a:r>
              <a:rPr lang="en-US" altLang="en-US" sz="2800">
                <a:latin typeface="Gill Sans MT" pitchFamily="34" charset="0"/>
              </a:rPr>
              <a:t> secret password to </a:t>
            </a:r>
            <a:r>
              <a:rPr lang="ja-JP" altLang="en-US" sz="2800">
                <a:latin typeface="Gill Sans MT" pitchFamily="34" charset="0"/>
              </a:rPr>
              <a:t>“</a:t>
            </a:r>
            <a:r>
              <a:rPr lang="en-US" altLang="ja-JP" sz="2800">
                <a:latin typeface="Gill Sans MT" pitchFamily="34" charset="0"/>
              </a:rPr>
              <a:t>prove</a:t>
            </a:r>
            <a:r>
              <a:rPr lang="ja-JP" altLang="en-US" sz="2800">
                <a:latin typeface="Gill Sans MT" pitchFamily="34" charset="0"/>
              </a:rPr>
              <a:t>”</a:t>
            </a:r>
            <a:r>
              <a:rPr lang="en-US" altLang="ja-JP" sz="2800">
                <a:latin typeface="Gill Sans MT" pitchFamily="34" charset="0"/>
              </a:rPr>
              <a:t> it.</a:t>
            </a:r>
            <a:endParaRPr lang="en-US" altLang="en-US" sz="2800">
              <a:latin typeface="Gill Sans MT" pitchFamily="34" charset="0"/>
            </a:endParaRPr>
          </a:p>
        </p:txBody>
      </p:sp>
      <p:sp>
        <p:nvSpPr>
          <p:cNvPr id="65558" name="Rectangle 2"/>
          <p:cNvSpPr>
            <a:spLocks noGrp="1" noChangeArrowheads="1"/>
          </p:cNvSpPr>
          <p:nvPr>
            <p:ph type="title"/>
          </p:nvPr>
        </p:nvSpPr>
        <p:spPr>
          <a:xfrm>
            <a:off x="358775" y="130175"/>
            <a:ext cx="7772400" cy="1143000"/>
          </a:xfrm>
        </p:spPr>
        <p:txBody>
          <a:bodyPr/>
          <a:lstStyle/>
          <a:p>
            <a:r>
              <a:rPr lang="en-US" altLang="en-US" smtClean="0">
                <a:ea typeface="ＭＳ Ｐゴシック" pitchFamily="34" charset="-128"/>
              </a:rPr>
              <a:t>Authentication: another try</a:t>
            </a:r>
          </a:p>
        </p:txBody>
      </p:sp>
      <p:pic>
        <p:nvPicPr>
          <p:cNvPr id="65559" name="Picture 18" descr="underline_bas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063" y="965200"/>
            <a:ext cx="6399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66562" name="Rectangle 2"/>
          <p:cNvSpPr>
            <a:spLocks noGrp="1" noChangeArrowheads="1"/>
          </p:cNvSpPr>
          <p:nvPr>
            <p:ph type="title"/>
          </p:nvPr>
        </p:nvSpPr>
        <p:spPr/>
        <p:txBody>
          <a:bodyPr/>
          <a:lstStyle/>
          <a:p>
            <a:r>
              <a:rPr lang="en-US" altLang="en-US" smtClean="0">
                <a:ea typeface="ＭＳ Ｐゴシック" pitchFamily="34" charset="-128"/>
              </a:rPr>
              <a:t>Authentication: yet another try</a:t>
            </a:r>
          </a:p>
        </p:txBody>
      </p:sp>
      <p:sp>
        <p:nvSpPr>
          <p:cNvPr id="37892" name="Text Box 3"/>
          <p:cNvSpPr txBox="1">
            <a:spLocks noChangeArrowheads="1"/>
          </p:cNvSpPr>
          <p:nvPr/>
        </p:nvSpPr>
        <p:spPr bwMode="auto">
          <a:xfrm>
            <a:off x="736600" y="1452563"/>
            <a:ext cx="7818438"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2800" i="1">
                <a:solidFill>
                  <a:srgbClr val="C00000"/>
                </a:solidFill>
                <a:latin typeface="Gill Sans MT" pitchFamily="34" charset="0"/>
              </a:rPr>
              <a:t>Protocol ap3.1:  </a:t>
            </a:r>
            <a:r>
              <a:rPr lang="en-US" altLang="en-US" sz="2800">
                <a:latin typeface="Gill Sans MT" pitchFamily="34" charset="0"/>
              </a:rPr>
              <a:t>Alice says </a:t>
            </a:r>
            <a:r>
              <a:rPr lang="ja-JP" altLang="en-US" sz="2800">
                <a:latin typeface="Gill Sans MT" pitchFamily="34" charset="0"/>
              </a:rPr>
              <a:t>“</a:t>
            </a:r>
            <a:r>
              <a:rPr lang="en-US" altLang="ja-JP" sz="2800">
                <a:latin typeface="Gill Sans MT" pitchFamily="34" charset="0"/>
              </a:rPr>
              <a:t>I am Alice</a:t>
            </a:r>
            <a:r>
              <a:rPr lang="ja-JP" altLang="en-US" sz="2800">
                <a:latin typeface="Gill Sans MT" pitchFamily="34" charset="0"/>
              </a:rPr>
              <a:t>”</a:t>
            </a:r>
            <a:r>
              <a:rPr lang="en-US" altLang="ja-JP" sz="2800">
                <a:latin typeface="Gill Sans MT" pitchFamily="34" charset="0"/>
              </a:rPr>
              <a:t> and sends her</a:t>
            </a:r>
          </a:p>
          <a:p>
            <a:pPr algn="r"/>
            <a:r>
              <a:rPr lang="en-US" altLang="en-US" sz="2800" i="1">
                <a:solidFill>
                  <a:srgbClr val="FF0000"/>
                </a:solidFill>
                <a:latin typeface="Gill Sans MT" pitchFamily="34" charset="0"/>
              </a:rPr>
              <a:t> </a:t>
            </a:r>
            <a:r>
              <a:rPr lang="en-US" altLang="en-US" sz="2800" i="1">
                <a:solidFill>
                  <a:srgbClr val="C00000"/>
                </a:solidFill>
                <a:latin typeface="Gill Sans MT" pitchFamily="34" charset="0"/>
              </a:rPr>
              <a:t>encrypted</a:t>
            </a:r>
            <a:r>
              <a:rPr lang="en-US" altLang="en-US" sz="2800">
                <a:solidFill>
                  <a:srgbClr val="C00000"/>
                </a:solidFill>
                <a:latin typeface="Gill Sans MT" pitchFamily="34" charset="0"/>
              </a:rPr>
              <a:t> </a:t>
            </a:r>
            <a:r>
              <a:rPr lang="en-US" altLang="en-US" sz="2800">
                <a:latin typeface="Gill Sans MT" pitchFamily="34" charset="0"/>
              </a:rPr>
              <a:t>secret password to </a:t>
            </a:r>
            <a:r>
              <a:rPr lang="ja-JP" altLang="en-US" sz="2800">
                <a:latin typeface="Gill Sans MT" pitchFamily="34" charset="0"/>
              </a:rPr>
              <a:t>“</a:t>
            </a:r>
            <a:r>
              <a:rPr lang="en-US" altLang="ja-JP" sz="2800">
                <a:latin typeface="Gill Sans MT" pitchFamily="34" charset="0"/>
              </a:rPr>
              <a:t>prove</a:t>
            </a:r>
            <a:r>
              <a:rPr lang="ja-JP" altLang="en-US" sz="2800">
                <a:latin typeface="Gill Sans MT" pitchFamily="34" charset="0"/>
              </a:rPr>
              <a:t>”</a:t>
            </a:r>
            <a:r>
              <a:rPr lang="en-US" altLang="ja-JP" sz="2800">
                <a:latin typeface="Gill Sans MT" pitchFamily="34" charset="0"/>
              </a:rPr>
              <a:t> it.</a:t>
            </a:r>
            <a:endParaRPr lang="en-US" altLang="en-US" sz="2800">
              <a:latin typeface="Gill Sans MT" pitchFamily="34" charset="0"/>
            </a:endParaRPr>
          </a:p>
        </p:txBody>
      </p:sp>
      <p:sp>
        <p:nvSpPr>
          <p:cNvPr id="37893" name="Text Box 4"/>
          <p:cNvSpPr txBox="1">
            <a:spLocks noChangeArrowheads="1"/>
          </p:cNvSpPr>
          <p:nvPr/>
        </p:nvSpPr>
        <p:spPr bwMode="auto">
          <a:xfrm>
            <a:off x="6030913" y="4113213"/>
            <a:ext cx="27574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Failure scenario??</a:t>
            </a:r>
          </a:p>
        </p:txBody>
      </p:sp>
      <p:pic>
        <p:nvPicPr>
          <p:cNvPr id="66565" name="Picture 5"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6" name="Picture 6"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5194300"/>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7"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1900" y="3670300"/>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7" name="Line 8"/>
          <p:cNvSpPr>
            <a:spLocks noChangeShapeType="1"/>
          </p:cNvSpPr>
          <p:nvPr/>
        </p:nvSpPr>
        <p:spPr bwMode="auto">
          <a:xfrm>
            <a:off x="1209675" y="4065588"/>
            <a:ext cx="3798888" cy="0"/>
          </a:xfrm>
          <a:prstGeom prst="line">
            <a:avLst/>
          </a:prstGeom>
          <a:noFill/>
          <a:ln w="571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66569" name="Group 9"/>
          <p:cNvGrpSpPr>
            <a:grpSpLocks/>
          </p:cNvGrpSpPr>
          <p:nvPr/>
        </p:nvGrpSpPr>
        <p:grpSpPr bwMode="auto">
          <a:xfrm>
            <a:off x="1504950" y="3306763"/>
            <a:ext cx="3046413" cy="633412"/>
            <a:chOff x="806" y="1799"/>
            <a:chExt cx="1919" cy="399"/>
          </a:xfrm>
        </p:grpSpPr>
        <p:sp>
          <p:nvSpPr>
            <p:cNvPr id="37907" name="Rectangle 10"/>
            <p:cNvSpPr>
              <a:spLocks noChangeArrowheads="1"/>
            </p:cNvSpPr>
            <p:nvPr/>
          </p:nvSpPr>
          <p:spPr bwMode="auto">
            <a:xfrm>
              <a:off x="806" y="1799"/>
              <a:ext cx="1919" cy="3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7908" name="Text Box 11"/>
            <p:cNvSpPr txBox="1">
              <a:spLocks noChangeArrowheads="1"/>
            </p:cNvSpPr>
            <p:nvPr/>
          </p:nvSpPr>
          <p:spPr bwMode="auto">
            <a:xfrm>
              <a:off x="1964" y="1876"/>
              <a:ext cx="75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sz="1800">
                  <a:latin typeface="Arial" pitchFamily="34" charset="0"/>
                  <a:cs typeface="Arial" pitchFamily="34" charset="0"/>
                </a:rPr>
                <a:t>“</a:t>
              </a:r>
              <a:r>
                <a:rPr lang="en-US" altLang="ja-JP" sz="1800">
                  <a:latin typeface="Arial" pitchFamily="34" charset="0"/>
                  <a:cs typeface="Arial" pitchFamily="34" charset="0"/>
                </a:rPr>
                <a:t>I</a:t>
              </a:r>
              <a:r>
                <a:rPr lang="ja-JP" altLang="en-US" sz="1800">
                  <a:latin typeface="Arial" pitchFamily="34" charset="0"/>
                  <a:cs typeface="Arial" pitchFamily="34" charset="0"/>
                </a:rPr>
                <a:t>’</a:t>
              </a:r>
              <a:r>
                <a:rPr lang="en-US" altLang="ja-JP" sz="1800">
                  <a:latin typeface="Arial" pitchFamily="34" charset="0"/>
                  <a:cs typeface="Arial" pitchFamily="34" charset="0"/>
                </a:rPr>
                <a:t>m Alice</a:t>
              </a:r>
              <a:r>
                <a:rPr lang="ja-JP" altLang="en-US" sz="1800">
                  <a:latin typeface="Arial" pitchFamily="34" charset="0"/>
                  <a:cs typeface="Arial" pitchFamily="34" charset="0"/>
                </a:rPr>
                <a:t>”</a:t>
              </a:r>
              <a:endParaRPr lang="en-US" altLang="en-US" sz="1800">
                <a:latin typeface="Arial" pitchFamily="34" charset="0"/>
                <a:cs typeface="Arial" pitchFamily="34" charset="0"/>
              </a:endParaRPr>
            </a:p>
          </p:txBody>
        </p:sp>
        <p:sp>
          <p:nvSpPr>
            <p:cNvPr id="37909" name="Text Box 12"/>
            <p:cNvSpPr txBox="1">
              <a:spLocks noChangeArrowheads="1"/>
            </p:cNvSpPr>
            <p:nvPr/>
          </p:nvSpPr>
          <p:spPr bwMode="auto">
            <a:xfrm>
              <a:off x="809" y="1822"/>
              <a:ext cx="53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Alice</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ctr"/>
              <a:r>
                <a:rPr lang="en-US" altLang="en-US" sz="1600">
                  <a:latin typeface="Arial" pitchFamily="34" charset="0"/>
                  <a:cs typeface="Arial" pitchFamily="34" charset="0"/>
                </a:rPr>
                <a:t>IP addr</a:t>
              </a:r>
            </a:p>
          </p:txBody>
        </p:sp>
        <p:sp>
          <p:nvSpPr>
            <p:cNvPr id="37910" name="Line 13"/>
            <p:cNvSpPr>
              <a:spLocks noChangeShapeType="1"/>
            </p:cNvSpPr>
            <p:nvPr/>
          </p:nvSpPr>
          <p:spPr bwMode="auto">
            <a:xfrm flipH="1">
              <a:off x="1337" y="180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7911" name="Text Box 14"/>
            <p:cNvSpPr txBox="1">
              <a:spLocks noChangeArrowheads="1"/>
            </p:cNvSpPr>
            <p:nvPr/>
          </p:nvSpPr>
          <p:spPr bwMode="auto">
            <a:xfrm>
              <a:off x="1304" y="1813"/>
              <a:ext cx="720"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smtClean="0">
                  <a:latin typeface="Arial" charset="0"/>
                  <a:cs typeface="Arial" charset="0"/>
                </a:rPr>
                <a:t>encrypted </a:t>
              </a:r>
            </a:p>
            <a:p>
              <a:pPr algn="ctr">
                <a:defRPr/>
              </a:pPr>
              <a:r>
                <a:rPr lang="en-US" sz="1600" smtClean="0">
                  <a:latin typeface="Arial" charset="0"/>
                  <a:cs typeface="Arial" charset="0"/>
                </a:rPr>
                <a:t>password</a:t>
              </a:r>
            </a:p>
          </p:txBody>
        </p:sp>
        <p:sp>
          <p:nvSpPr>
            <p:cNvPr id="37912" name="Line 15"/>
            <p:cNvSpPr>
              <a:spLocks noChangeShapeType="1"/>
            </p:cNvSpPr>
            <p:nvPr/>
          </p:nvSpPr>
          <p:spPr bwMode="auto">
            <a:xfrm flipH="1">
              <a:off x="1973" y="180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grpSp>
        <p:nvGrpSpPr>
          <p:cNvPr id="66570" name="Group 16"/>
          <p:cNvGrpSpPr>
            <a:grpSpLocks/>
          </p:cNvGrpSpPr>
          <p:nvPr/>
        </p:nvGrpSpPr>
        <p:grpSpPr bwMode="auto">
          <a:xfrm>
            <a:off x="3063875" y="4235450"/>
            <a:ext cx="1489075" cy="633413"/>
            <a:chOff x="1000" y="2719"/>
            <a:chExt cx="938" cy="399"/>
          </a:xfrm>
        </p:grpSpPr>
        <p:sp>
          <p:nvSpPr>
            <p:cNvPr id="37903" name="Rectangle 17"/>
            <p:cNvSpPr>
              <a:spLocks noChangeArrowheads="1"/>
            </p:cNvSpPr>
            <p:nvPr/>
          </p:nvSpPr>
          <p:spPr bwMode="auto">
            <a:xfrm>
              <a:off x="1000" y="2719"/>
              <a:ext cx="938" cy="3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7904" name="Text Box 18"/>
            <p:cNvSpPr txBox="1">
              <a:spLocks noChangeArrowheads="1"/>
            </p:cNvSpPr>
            <p:nvPr/>
          </p:nvSpPr>
          <p:spPr bwMode="auto">
            <a:xfrm>
              <a:off x="1574" y="2793"/>
              <a:ext cx="32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OK</a:t>
              </a:r>
            </a:p>
          </p:txBody>
        </p:sp>
        <p:sp>
          <p:nvSpPr>
            <p:cNvPr id="37905" name="Text Box 19"/>
            <p:cNvSpPr txBox="1">
              <a:spLocks noChangeArrowheads="1"/>
            </p:cNvSpPr>
            <p:nvPr/>
          </p:nvSpPr>
          <p:spPr bwMode="auto">
            <a:xfrm>
              <a:off x="1003" y="2742"/>
              <a:ext cx="53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Alice</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ctr"/>
              <a:r>
                <a:rPr lang="en-US" altLang="en-US" sz="1600">
                  <a:latin typeface="Arial" pitchFamily="34" charset="0"/>
                  <a:cs typeface="Arial" pitchFamily="34" charset="0"/>
                </a:rPr>
                <a:t>IP addr</a:t>
              </a:r>
            </a:p>
          </p:txBody>
        </p:sp>
        <p:sp>
          <p:nvSpPr>
            <p:cNvPr id="37906" name="Line 20"/>
            <p:cNvSpPr>
              <a:spLocks noChangeShapeType="1"/>
            </p:cNvSpPr>
            <p:nvPr/>
          </p:nvSpPr>
          <p:spPr bwMode="auto">
            <a:xfrm flipH="1">
              <a:off x="1531" y="272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sp>
        <p:nvSpPr>
          <p:cNvPr id="37900" name="Line 21"/>
          <p:cNvSpPr>
            <a:spLocks noChangeShapeType="1"/>
          </p:cNvSpPr>
          <p:nvPr/>
        </p:nvSpPr>
        <p:spPr bwMode="auto">
          <a:xfrm>
            <a:off x="4627563" y="3600450"/>
            <a:ext cx="561975" cy="15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7901" name="Line 22"/>
          <p:cNvSpPr>
            <a:spLocks noChangeShapeType="1"/>
          </p:cNvSpPr>
          <p:nvPr/>
        </p:nvSpPr>
        <p:spPr bwMode="auto">
          <a:xfrm flipH="1" flipV="1">
            <a:off x="2424113" y="4537075"/>
            <a:ext cx="541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pic>
        <p:nvPicPr>
          <p:cNvPr id="66573" name="Picture 16"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75" y="1031875"/>
            <a:ext cx="7313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8915" name="Text Box 4"/>
          <p:cNvSpPr txBox="1">
            <a:spLocks noChangeArrowheads="1"/>
          </p:cNvSpPr>
          <p:nvPr/>
        </p:nvSpPr>
        <p:spPr bwMode="auto">
          <a:xfrm>
            <a:off x="6765925" y="3436938"/>
            <a:ext cx="1604963" cy="157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record</a:t>
            </a:r>
          </a:p>
          <a:p>
            <a:pPr algn="ctr">
              <a:defRPr/>
            </a:pPr>
            <a:r>
              <a:rPr lang="en-US" sz="2400" smtClean="0">
                <a:latin typeface="Arial" charset="0"/>
                <a:cs typeface="Arial" charset="0"/>
              </a:rPr>
              <a:t>and</a:t>
            </a:r>
          </a:p>
          <a:p>
            <a:pPr algn="ctr">
              <a:defRPr/>
            </a:pPr>
            <a:r>
              <a:rPr lang="en-US" sz="2400" smtClean="0">
                <a:latin typeface="Arial" charset="0"/>
                <a:cs typeface="Arial" charset="0"/>
              </a:rPr>
              <a:t>playback</a:t>
            </a:r>
          </a:p>
          <a:p>
            <a:pPr algn="ctr">
              <a:defRPr/>
            </a:pPr>
            <a:r>
              <a:rPr lang="en-US" sz="2400" i="1" smtClean="0">
                <a:solidFill>
                  <a:srgbClr val="C00000"/>
                </a:solidFill>
                <a:latin typeface="Arial" charset="0"/>
                <a:cs typeface="Arial" charset="0"/>
              </a:rPr>
              <a:t>still</a:t>
            </a:r>
            <a:r>
              <a:rPr lang="en-US" sz="2400" smtClean="0">
                <a:solidFill>
                  <a:srgbClr val="FF0000"/>
                </a:solidFill>
                <a:latin typeface="Arial" charset="0"/>
                <a:cs typeface="Arial" charset="0"/>
              </a:rPr>
              <a:t> </a:t>
            </a:r>
            <a:r>
              <a:rPr lang="en-US" sz="2400" smtClean="0">
                <a:latin typeface="Arial" charset="0"/>
                <a:cs typeface="Arial" charset="0"/>
              </a:rPr>
              <a:t>works!</a:t>
            </a:r>
          </a:p>
        </p:txBody>
      </p:sp>
      <p:pic>
        <p:nvPicPr>
          <p:cNvPr id="67587" name="Picture 5"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8" name="Picture 6"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5194300"/>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1900" y="3670300"/>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Line 8"/>
          <p:cNvSpPr>
            <a:spLocks noChangeShapeType="1"/>
          </p:cNvSpPr>
          <p:nvPr/>
        </p:nvSpPr>
        <p:spPr bwMode="auto">
          <a:xfrm>
            <a:off x="1209675" y="4065588"/>
            <a:ext cx="3798888" cy="0"/>
          </a:xfrm>
          <a:prstGeom prst="line">
            <a:avLst/>
          </a:prstGeom>
          <a:noFill/>
          <a:ln w="57150">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8920" name="Rectangle 9"/>
          <p:cNvSpPr>
            <a:spLocks noChangeArrowheads="1"/>
          </p:cNvSpPr>
          <p:nvPr/>
        </p:nvSpPr>
        <p:spPr bwMode="auto">
          <a:xfrm>
            <a:off x="1504950" y="3306763"/>
            <a:ext cx="3046413" cy="63341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8921" name="Text Box 10"/>
          <p:cNvSpPr txBox="1">
            <a:spLocks noChangeArrowheads="1"/>
          </p:cNvSpPr>
          <p:nvPr/>
        </p:nvSpPr>
        <p:spPr bwMode="auto">
          <a:xfrm>
            <a:off x="3343275" y="3429000"/>
            <a:ext cx="1198563"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sz="1800">
                <a:solidFill>
                  <a:schemeClr val="bg2"/>
                </a:solidFill>
                <a:latin typeface="Arial" pitchFamily="34" charset="0"/>
                <a:cs typeface="Arial" pitchFamily="34" charset="0"/>
              </a:rPr>
              <a:t>“</a:t>
            </a:r>
            <a:r>
              <a:rPr lang="en-US" altLang="ja-JP" sz="1800">
                <a:solidFill>
                  <a:schemeClr val="bg2"/>
                </a:solidFill>
                <a:latin typeface="Arial" pitchFamily="34" charset="0"/>
                <a:cs typeface="Arial" pitchFamily="34" charset="0"/>
              </a:rPr>
              <a:t>I</a:t>
            </a:r>
            <a:r>
              <a:rPr lang="ja-JP" altLang="en-US" sz="1800">
                <a:solidFill>
                  <a:schemeClr val="bg2"/>
                </a:solidFill>
                <a:latin typeface="Arial" pitchFamily="34" charset="0"/>
                <a:cs typeface="Arial" pitchFamily="34" charset="0"/>
              </a:rPr>
              <a:t>’</a:t>
            </a:r>
            <a:r>
              <a:rPr lang="en-US" altLang="ja-JP" sz="1800">
                <a:solidFill>
                  <a:schemeClr val="bg2"/>
                </a:solidFill>
                <a:latin typeface="Arial" pitchFamily="34" charset="0"/>
                <a:cs typeface="Arial" pitchFamily="34" charset="0"/>
              </a:rPr>
              <a:t>m Alice</a:t>
            </a:r>
            <a:r>
              <a:rPr lang="ja-JP" altLang="en-US" sz="1800">
                <a:solidFill>
                  <a:schemeClr val="bg2"/>
                </a:solidFill>
                <a:latin typeface="Arial" pitchFamily="34" charset="0"/>
                <a:cs typeface="Arial" pitchFamily="34" charset="0"/>
              </a:rPr>
              <a:t>”</a:t>
            </a:r>
            <a:endParaRPr lang="en-US" altLang="en-US" sz="1800">
              <a:solidFill>
                <a:schemeClr val="bg2"/>
              </a:solidFill>
              <a:latin typeface="Arial" pitchFamily="34" charset="0"/>
              <a:cs typeface="Arial" pitchFamily="34" charset="0"/>
            </a:endParaRPr>
          </a:p>
        </p:txBody>
      </p:sp>
      <p:sp>
        <p:nvSpPr>
          <p:cNvPr id="38922" name="Text Box 11"/>
          <p:cNvSpPr txBox="1">
            <a:spLocks noChangeArrowheads="1"/>
          </p:cNvSpPr>
          <p:nvPr/>
        </p:nvSpPr>
        <p:spPr bwMode="auto">
          <a:xfrm>
            <a:off x="1509713" y="3343275"/>
            <a:ext cx="842962"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chemeClr val="bg2"/>
                </a:solidFill>
                <a:latin typeface="Arial" pitchFamily="34" charset="0"/>
                <a:cs typeface="Arial" pitchFamily="34" charset="0"/>
              </a:rPr>
              <a:t>Alice</a:t>
            </a:r>
            <a:r>
              <a:rPr lang="ja-JP" altLang="en-US" sz="1600">
                <a:solidFill>
                  <a:schemeClr val="bg2"/>
                </a:solidFill>
                <a:latin typeface="Arial" pitchFamily="34" charset="0"/>
                <a:cs typeface="Arial" pitchFamily="34" charset="0"/>
              </a:rPr>
              <a:t>’</a:t>
            </a:r>
            <a:r>
              <a:rPr lang="en-US" altLang="ja-JP" sz="1600">
                <a:solidFill>
                  <a:schemeClr val="bg2"/>
                </a:solidFill>
                <a:latin typeface="Arial" pitchFamily="34" charset="0"/>
                <a:cs typeface="Arial" pitchFamily="34" charset="0"/>
              </a:rPr>
              <a:t>s </a:t>
            </a:r>
          </a:p>
          <a:p>
            <a:pPr algn="ctr"/>
            <a:r>
              <a:rPr lang="en-US" altLang="en-US" sz="1600">
                <a:solidFill>
                  <a:schemeClr val="bg2"/>
                </a:solidFill>
                <a:latin typeface="Arial" pitchFamily="34" charset="0"/>
                <a:cs typeface="Arial" pitchFamily="34" charset="0"/>
              </a:rPr>
              <a:t>IP addr</a:t>
            </a:r>
          </a:p>
        </p:txBody>
      </p:sp>
      <p:sp>
        <p:nvSpPr>
          <p:cNvPr id="38923" name="Line 12"/>
          <p:cNvSpPr>
            <a:spLocks noChangeShapeType="1"/>
          </p:cNvSpPr>
          <p:nvPr/>
        </p:nvSpPr>
        <p:spPr bwMode="auto">
          <a:xfrm flipH="1">
            <a:off x="2347913" y="3316288"/>
            <a:ext cx="0" cy="6238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8924" name="Text Box 13"/>
          <p:cNvSpPr txBox="1">
            <a:spLocks noChangeArrowheads="1"/>
          </p:cNvSpPr>
          <p:nvPr/>
        </p:nvSpPr>
        <p:spPr bwMode="auto">
          <a:xfrm>
            <a:off x="2325688" y="3328988"/>
            <a:ext cx="1084262"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smtClean="0">
                <a:solidFill>
                  <a:schemeClr val="bg2"/>
                </a:solidFill>
                <a:latin typeface="Arial" charset="0"/>
                <a:cs typeface="Arial" charset="0"/>
              </a:rPr>
              <a:t>encrypted</a:t>
            </a:r>
          </a:p>
          <a:p>
            <a:pPr algn="ctr">
              <a:defRPr/>
            </a:pPr>
            <a:r>
              <a:rPr lang="en-US" sz="1600" smtClean="0">
                <a:solidFill>
                  <a:schemeClr val="bg2"/>
                </a:solidFill>
                <a:latin typeface="Arial" charset="0"/>
                <a:cs typeface="Arial" charset="0"/>
              </a:rPr>
              <a:t>password</a:t>
            </a:r>
          </a:p>
        </p:txBody>
      </p:sp>
      <p:sp>
        <p:nvSpPr>
          <p:cNvPr id="38925" name="Line 14"/>
          <p:cNvSpPr>
            <a:spLocks noChangeShapeType="1"/>
          </p:cNvSpPr>
          <p:nvPr/>
        </p:nvSpPr>
        <p:spPr bwMode="auto">
          <a:xfrm flipH="1">
            <a:off x="3357563" y="3316288"/>
            <a:ext cx="0" cy="6238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67597" name="Group 15"/>
          <p:cNvGrpSpPr>
            <a:grpSpLocks/>
          </p:cNvGrpSpPr>
          <p:nvPr/>
        </p:nvGrpSpPr>
        <p:grpSpPr bwMode="auto">
          <a:xfrm>
            <a:off x="3327400" y="4224338"/>
            <a:ext cx="1489075" cy="633412"/>
            <a:chOff x="1000" y="2719"/>
            <a:chExt cx="938" cy="399"/>
          </a:xfrm>
        </p:grpSpPr>
        <p:sp>
          <p:nvSpPr>
            <p:cNvPr id="38943" name="Rectangle 16"/>
            <p:cNvSpPr>
              <a:spLocks noChangeArrowheads="1"/>
            </p:cNvSpPr>
            <p:nvPr/>
          </p:nvSpPr>
          <p:spPr bwMode="auto">
            <a:xfrm>
              <a:off x="1000" y="2719"/>
              <a:ext cx="938" cy="3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8944" name="Text Box 17"/>
            <p:cNvSpPr txBox="1">
              <a:spLocks noChangeArrowheads="1"/>
            </p:cNvSpPr>
            <p:nvPr/>
          </p:nvSpPr>
          <p:spPr bwMode="auto">
            <a:xfrm>
              <a:off x="1574" y="2793"/>
              <a:ext cx="32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OK</a:t>
              </a:r>
            </a:p>
          </p:txBody>
        </p:sp>
        <p:sp>
          <p:nvSpPr>
            <p:cNvPr id="38945" name="Text Box 18"/>
            <p:cNvSpPr txBox="1">
              <a:spLocks noChangeArrowheads="1"/>
            </p:cNvSpPr>
            <p:nvPr/>
          </p:nvSpPr>
          <p:spPr bwMode="auto">
            <a:xfrm>
              <a:off x="1003" y="2742"/>
              <a:ext cx="53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Alice</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ctr"/>
              <a:r>
                <a:rPr lang="en-US" altLang="en-US" sz="1600">
                  <a:latin typeface="Arial" pitchFamily="34" charset="0"/>
                  <a:cs typeface="Arial" pitchFamily="34" charset="0"/>
                </a:rPr>
                <a:t>IP addr</a:t>
              </a:r>
            </a:p>
          </p:txBody>
        </p:sp>
        <p:sp>
          <p:nvSpPr>
            <p:cNvPr id="38946" name="Line 19"/>
            <p:cNvSpPr>
              <a:spLocks noChangeShapeType="1"/>
            </p:cNvSpPr>
            <p:nvPr/>
          </p:nvSpPr>
          <p:spPr bwMode="auto">
            <a:xfrm flipH="1">
              <a:off x="1531" y="272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sp>
        <p:nvSpPr>
          <p:cNvPr id="38927" name="Line 20"/>
          <p:cNvSpPr>
            <a:spLocks noChangeShapeType="1"/>
          </p:cNvSpPr>
          <p:nvPr/>
        </p:nvSpPr>
        <p:spPr bwMode="auto">
          <a:xfrm>
            <a:off x="4627563" y="3600450"/>
            <a:ext cx="561975" cy="1588"/>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pic>
        <p:nvPicPr>
          <p:cNvPr id="67599" name="Picture 21" descr="EN00179_[1]"/>
          <p:cNvPicPr>
            <a:picLocks noGrp="1" noChangeAspect="1" noChangeArrowheads="1"/>
          </p:cNvPicPr>
          <p:nvPr>
            <p:ph idx="1"/>
          </p:nvPr>
        </p:nvPicPr>
        <p:blipFill>
          <a:blip r:embed="rId5" cstate="print">
            <a:extLst>
              <a:ext uri="{28A0092B-C50C-407E-A947-70E740481C1C}">
                <a14:useLocalDpi xmlns:a14="http://schemas.microsoft.com/office/drawing/2010/main" val="0"/>
              </a:ext>
            </a:extLst>
          </a:blip>
          <a:srcRect/>
          <a:stretch>
            <a:fillRect/>
          </a:stretch>
        </p:blipFill>
        <p:spPr>
          <a:xfrm>
            <a:off x="1949450" y="5337175"/>
            <a:ext cx="862013" cy="66833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929" name="Line 22"/>
          <p:cNvSpPr>
            <a:spLocks noChangeShapeType="1"/>
          </p:cNvSpPr>
          <p:nvPr/>
        </p:nvSpPr>
        <p:spPr bwMode="auto">
          <a:xfrm>
            <a:off x="1857375" y="4106863"/>
            <a:ext cx="623888" cy="1292225"/>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8930" name="Line 23"/>
          <p:cNvSpPr>
            <a:spLocks noChangeShapeType="1"/>
          </p:cNvSpPr>
          <p:nvPr/>
        </p:nvSpPr>
        <p:spPr bwMode="auto">
          <a:xfrm flipH="1">
            <a:off x="3344863" y="4214813"/>
            <a:ext cx="1857375" cy="1554162"/>
          </a:xfrm>
          <a:prstGeom prst="line">
            <a:avLst/>
          </a:prstGeom>
          <a:noFill/>
          <a:ln w="571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67602" name="Group 24"/>
          <p:cNvGrpSpPr>
            <a:grpSpLocks/>
          </p:cNvGrpSpPr>
          <p:nvPr/>
        </p:nvGrpSpPr>
        <p:grpSpPr bwMode="auto">
          <a:xfrm>
            <a:off x="3551238" y="5368925"/>
            <a:ext cx="3046412" cy="633413"/>
            <a:chOff x="806" y="1799"/>
            <a:chExt cx="1919" cy="399"/>
          </a:xfrm>
        </p:grpSpPr>
        <p:sp>
          <p:nvSpPr>
            <p:cNvPr id="38937" name="Rectangle 25"/>
            <p:cNvSpPr>
              <a:spLocks noChangeArrowheads="1"/>
            </p:cNvSpPr>
            <p:nvPr/>
          </p:nvSpPr>
          <p:spPr bwMode="auto">
            <a:xfrm>
              <a:off x="806" y="1799"/>
              <a:ext cx="1919" cy="3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38938" name="Text Box 26"/>
            <p:cNvSpPr txBox="1">
              <a:spLocks noChangeArrowheads="1"/>
            </p:cNvSpPr>
            <p:nvPr/>
          </p:nvSpPr>
          <p:spPr bwMode="auto">
            <a:xfrm>
              <a:off x="1964" y="1876"/>
              <a:ext cx="75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sz="1800">
                  <a:latin typeface="Arial" pitchFamily="34" charset="0"/>
                  <a:cs typeface="Arial" pitchFamily="34" charset="0"/>
                </a:rPr>
                <a:t>“</a:t>
              </a:r>
              <a:r>
                <a:rPr lang="en-US" altLang="ja-JP" sz="1800">
                  <a:latin typeface="Arial" pitchFamily="34" charset="0"/>
                  <a:cs typeface="Arial" pitchFamily="34" charset="0"/>
                </a:rPr>
                <a:t>I</a:t>
              </a:r>
              <a:r>
                <a:rPr lang="ja-JP" altLang="en-US" sz="1800">
                  <a:latin typeface="Arial" pitchFamily="34" charset="0"/>
                  <a:cs typeface="Arial" pitchFamily="34" charset="0"/>
                </a:rPr>
                <a:t>’</a:t>
              </a:r>
              <a:r>
                <a:rPr lang="en-US" altLang="ja-JP" sz="1800">
                  <a:latin typeface="Arial" pitchFamily="34" charset="0"/>
                  <a:cs typeface="Arial" pitchFamily="34" charset="0"/>
                </a:rPr>
                <a:t>m Alice</a:t>
              </a:r>
              <a:r>
                <a:rPr lang="ja-JP" altLang="en-US" sz="1800">
                  <a:latin typeface="Arial" pitchFamily="34" charset="0"/>
                  <a:cs typeface="Arial" pitchFamily="34" charset="0"/>
                </a:rPr>
                <a:t>”</a:t>
              </a:r>
              <a:endParaRPr lang="en-US" altLang="en-US" sz="1800">
                <a:latin typeface="Arial" pitchFamily="34" charset="0"/>
                <a:cs typeface="Arial" pitchFamily="34" charset="0"/>
              </a:endParaRPr>
            </a:p>
          </p:txBody>
        </p:sp>
        <p:sp>
          <p:nvSpPr>
            <p:cNvPr id="38939" name="Text Box 27"/>
            <p:cNvSpPr txBox="1">
              <a:spLocks noChangeArrowheads="1"/>
            </p:cNvSpPr>
            <p:nvPr/>
          </p:nvSpPr>
          <p:spPr bwMode="auto">
            <a:xfrm>
              <a:off x="809" y="1822"/>
              <a:ext cx="53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Alice</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ctr"/>
              <a:r>
                <a:rPr lang="en-US" altLang="en-US" sz="1600">
                  <a:latin typeface="Arial" pitchFamily="34" charset="0"/>
                  <a:cs typeface="Arial" pitchFamily="34" charset="0"/>
                </a:rPr>
                <a:t>IP addr</a:t>
              </a:r>
            </a:p>
          </p:txBody>
        </p:sp>
        <p:sp>
          <p:nvSpPr>
            <p:cNvPr id="38940" name="Line 28"/>
            <p:cNvSpPr>
              <a:spLocks noChangeShapeType="1"/>
            </p:cNvSpPr>
            <p:nvPr/>
          </p:nvSpPr>
          <p:spPr bwMode="auto">
            <a:xfrm flipH="1">
              <a:off x="1337" y="180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8941" name="Text Box 29"/>
            <p:cNvSpPr txBox="1">
              <a:spLocks noChangeArrowheads="1"/>
            </p:cNvSpPr>
            <p:nvPr/>
          </p:nvSpPr>
          <p:spPr bwMode="auto">
            <a:xfrm>
              <a:off x="1323" y="1813"/>
              <a:ext cx="684"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smtClean="0">
                  <a:latin typeface="Arial" charset="0"/>
                  <a:cs typeface="Arial" charset="0"/>
                </a:rPr>
                <a:t>encrypted</a:t>
              </a:r>
            </a:p>
            <a:p>
              <a:pPr algn="ctr">
                <a:defRPr/>
              </a:pPr>
              <a:r>
                <a:rPr lang="en-US" sz="1600" smtClean="0">
                  <a:latin typeface="Arial" charset="0"/>
                  <a:cs typeface="Arial" charset="0"/>
                </a:rPr>
                <a:t>password</a:t>
              </a:r>
            </a:p>
          </p:txBody>
        </p:sp>
        <p:sp>
          <p:nvSpPr>
            <p:cNvPr id="38942" name="Line 30"/>
            <p:cNvSpPr>
              <a:spLocks noChangeShapeType="1"/>
            </p:cNvSpPr>
            <p:nvPr/>
          </p:nvSpPr>
          <p:spPr bwMode="auto">
            <a:xfrm flipH="1">
              <a:off x="1973" y="1805"/>
              <a:ext cx="0" cy="3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sp>
        <p:nvSpPr>
          <p:cNvPr id="38932" name="Line 31"/>
          <p:cNvSpPr>
            <a:spLocks noChangeShapeType="1"/>
          </p:cNvSpPr>
          <p:nvPr/>
        </p:nvSpPr>
        <p:spPr bwMode="auto">
          <a:xfrm flipV="1">
            <a:off x="4548188" y="4741863"/>
            <a:ext cx="679450" cy="5794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8933" name="Line 32"/>
          <p:cNvSpPr>
            <a:spLocks noChangeShapeType="1"/>
          </p:cNvSpPr>
          <p:nvPr/>
        </p:nvSpPr>
        <p:spPr bwMode="auto">
          <a:xfrm flipH="1">
            <a:off x="3697288" y="4878388"/>
            <a:ext cx="365125" cy="2921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67605" name="Rectangle 2"/>
          <p:cNvSpPr>
            <a:spLocks noGrp="1" noChangeArrowheads="1"/>
          </p:cNvSpPr>
          <p:nvPr>
            <p:ph type="title"/>
          </p:nvPr>
        </p:nvSpPr>
        <p:spPr/>
        <p:txBody>
          <a:bodyPr/>
          <a:lstStyle/>
          <a:p>
            <a:r>
              <a:rPr lang="en-US" altLang="en-US" smtClean="0">
                <a:ea typeface="ＭＳ Ｐゴシック" pitchFamily="34" charset="-128"/>
              </a:rPr>
              <a:t>Authentication: yet another try</a:t>
            </a:r>
          </a:p>
        </p:txBody>
      </p:sp>
      <p:sp>
        <p:nvSpPr>
          <p:cNvPr id="38935" name="Text Box 3"/>
          <p:cNvSpPr txBox="1">
            <a:spLocks noChangeArrowheads="1"/>
          </p:cNvSpPr>
          <p:nvPr/>
        </p:nvSpPr>
        <p:spPr bwMode="auto">
          <a:xfrm>
            <a:off x="736600" y="1452563"/>
            <a:ext cx="7818438"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2800" i="1">
                <a:solidFill>
                  <a:srgbClr val="C00000"/>
                </a:solidFill>
                <a:latin typeface="Gill Sans MT" pitchFamily="34" charset="0"/>
              </a:rPr>
              <a:t>Protocol ap3.1:  </a:t>
            </a:r>
            <a:r>
              <a:rPr lang="en-US" altLang="en-US" sz="2800">
                <a:latin typeface="Gill Sans MT" pitchFamily="34" charset="0"/>
              </a:rPr>
              <a:t>Alice says </a:t>
            </a:r>
            <a:r>
              <a:rPr lang="ja-JP" altLang="en-US" sz="2800">
                <a:latin typeface="Gill Sans MT" pitchFamily="34" charset="0"/>
              </a:rPr>
              <a:t>“</a:t>
            </a:r>
            <a:r>
              <a:rPr lang="en-US" altLang="ja-JP" sz="2800">
                <a:latin typeface="Gill Sans MT" pitchFamily="34" charset="0"/>
              </a:rPr>
              <a:t>I am Alice</a:t>
            </a:r>
            <a:r>
              <a:rPr lang="ja-JP" altLang="en-US" sz="2800">
                <a:latin typeface="Gill Sans MT" pitchFamily="34" charset="0"/>
              </a:rPr>
              <a:t>”</a:t>
            </a:r>
            <a:r>
              <a:rPr lang="en-US" altLang="ja-JP" sz="2800">
                <a:latin typeface="Gill Sans MT" pitchFamily="34" charset="0"/>
              </a:rPr>
              <a:t> and sends her</a:t>
            </a:r>
          </a:p>
          <a:p>
            <a:pPr algn="r"/>
            <a:r>
              <a:rPr lang="en-US" altLang="en-US" sz="2800" i="1">
                <a:solidFill>
                  <a:srgbClr val="FF0000"/>
                </a:solidFill>
                <a:latin typeface="Gill Sans MT" pitchFamily="34" charset="0"/>
              </a:rPr>
              <a:t> </a:t>
            </a:r>
            <a:r>
              <a:rPr lang="en-US" altLang="en-US" sz="2800" i="1">
                <a:solidFill>
                  <a:srgbClr val="C00000"/>
                </a:solidFill>
                <a:latin typeface="Gill Sans MT" pitchFamily="34" charset="0"/>
              </a:rPr>
              <a:t>encrypted</a:t>
            </a:r>
            <a:r>
              <a:rPr lang="en-US" altLang="en-US" sz="2800">
                <a:solidFill>
                  <a:srgbClr val="C00000"/>
                </a:solidFill>
                <a:latin typeface="Gill Sans MT" pitchFamily="34" charset="0"/>
              </a:rPr>
              <a:t> </a:t>
            </a:r>
            <a:r>
              <a:rPr lang="en-US" altLang="en-US" sz="2800">
                <a:latin typeface="Gill Sans MT" pitchFamily="34" charset="0"/>
              </a:rPr>
              <a:t>secret password to </a:t>
            </a:r>
            <a:r>
              <a:rPr lang="ja-JP" altLang="en-US" sz="2800">
                <a:latin typeface="Gill Sans MT" pitchFamily="34" charset="0"/>
              </a:rPr>
              <a:t>“</a:t>
            </a:r>
            <a:r>
              <a:rPr lang="en-US" altLang="ja-JP" sz="2800">
                <a:latin typeface="Gill Sans MT" pitchFamily="34" charset="0"/>
              </a:rPr>
              <a:t>prove</a:t>
            </a:r>
            <a:r>
              <a:rPr lang="ja-JP" altLang="en-US" sz="2800">
                <a:latin typeface="Gill Sans MT" pitchFamily="34" charset="0"/>
              </a:rPr>
              <a:t>”</a:t>
            </a:r>
            <a:r>
              <a:rPr lang="en-US" altLang="ja-JP" sz="2800">
                <a:latin typeface="Gill Sans MT" pitchFamily="34" charset="0"/>
              </a:rPr>
              <a:t> it.</a:t>
            </a:r>
            <a:endParaRPr lang="en-US" altLang="en-US" sz="2800">
              <a:latin typeface="Gill Sans MT" pitchFamily="34" charset="0"/>
            </a:endParaRPr>
          </a:p>
        </p:txBody>
      </p:sp>
      <p:pic>
        <p:nvPicPr>
          <p:cNvPr id="67607" name="Picture 16" descr="underline_bas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375" y="1031875"/>
            <a:ext cx="7313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39939" name="Text Box 3"/>
          <p:cNvSpPr txBox="1">
            <a:spLocks noChangeArrowheads="1"/>
          </p:cNvSpPr>
          <p:nvPr/>
        </p:nvSpPr>
        <p:spPr bwMode="auto">
          <a:xfrm>
            <a:off x="974725" y="1316038"/>
            <a:ext cx="3536950" cy="522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r">
              <a:defRPr/>
            </a:pPr>
            <a:r>
              <a:rPr lang="en-US" sz="2800" i="1" smtClean="0">
                <a:solidFill>
                  <a:srgbClr val="C00000"/>
                </a:solidFill>
                <a:latin typeface="Gill Sans MT" charset="0"/>
              </a:rPr>
              <a:t>Goal: </a:t>
            </a:r>
            <a:r>
              <a:rPr lang="en-US" sz="2400" smtClean="0">
                <a:latin typeface="Gill Sans MT" charset="0"/>
              </a:rPr>
              <a:t>avoid playback attack</a:t>
            </a:r>
          </a:p>
        </p:txBody>
      </p:sp>
      <p:sp>
        <p:nvSpPr>
          <p:cNvPr id="206852" name="Text Box 4"/>
          <p:cNvSpPr txBox="1">
            <a:spLocks noChangeArrowheads="1"/>
          </p:cNvSpPr>
          <p:nvPr/>
        </p:nvSpPr>
        <p:spPr bwMode="auto">
          <a:xfrm>
            <a:off x="604838" y="5934075"/>
            <a:ext cx="31448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Failures, drawbacks?</a:t>
            </a:r>
          </a:p>
        </p:txBody>
      </p:sp>
      <p:sp>
        <p:nvSpPr>
          <p:cNvPr id="39941" name="Text Box 5"/>
          <p:cNvSpPr txBox="1">
            <a:spLocks noChangeArrowheads="1"/>
          </p:cNvSpPr>
          <p:nvPr/>
        </p:nvSpPr>
        <p:spPr bwMode="auto">
          <a:xfrm>
            <a:off x="903288" y="1755775"/>
            <a:ext cx="591185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r">
              <a:defRPr/>
            </a:pPr>
            <a:r>
              <a:rPr lang="en-US" sz="2800" i="1" dirty="0" smtClean="0">
                <a:solidFill>
                  <a:srgbClr val="C00000"/>
                </a:solidFill>
                <a:latin typeface="Gill Sans MT" charset="0"/>
              </a:rPr>
              <a:t>nonce: </a:t>
            </a:r>
            <a:r>
              <a:rPr lang="en-US" sz="2400" dirty="0" smtClean="0">
                <a:latin typeface="Gill Sans MT" charset="0"/>
              </a:rPr>
              <a:t>number (R) used only </a:t>
            </a:r>
            <a:r>
              <a:rPr lang="en-US" sz="2400" i="1" dirty="0" smtClean="0">
                <a:solidFill>
                  <a:srgbClr val="000099"/>
                </a:solidFill>
                <a:latin typeface="Gill Sans MT" charset="0"/>
              </a:rPr>
              <a:t>once-in-a-lifetime</a:t>
            </a:r>
          </a:p>
        </p:txBody>
      </p:sp>
      <p:sp>
        <p:nvSpPr>
          <p:cNvPr id="39942" name="Text Box 6"/>
          <p:cNvSpPr txBox="1">
            <a:spLocks noChangeArrowheads="1"/>
          </p:cNvSpPr>
          <p:nvPr/>
        </p:nvSpPr>
        <p:spPr bwMode="auto">
          <a:xfrm>
            <a:off x="750888" y="2162175"/>
            <a:ext cx="7564437"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2800" i="1">
                <a:solidFill>
                  <a:srgbClr val="C00000"/>
                </a:solidFill>
                <a:latin typeface="Gill Sans MT" pitchFamily="34" charset="0"/>
              </a:rPr>
              <a:t>ap4.0: </a:t>
            </a:r>
            <a:r>
              <a:rPr lang="en-US" altLang="en-US" sz="2400">
                <a:latin typeface="Gill Sans MT" pitchFamily="34" charset="0"/>
              </a:rPr>
              <a:t>to prove Alice </a:t>
            </a:r>
            <a:r>
              <a:rPr lang="ja-JP" altLang="en-US" sz="2400">
                <a:latin typeface="Gill Sans MT" pitchFamily="34" charset="0"/>
              </a:rPr>
              <a:t>“</a:t>
            </a:r>
            <a:r>
              <a:rPr lang="en-US" altLang="ja-JP" sz="2400">
                <a:latin typeface="Gill Sans MT" pitchFamily="34" charset="0"/>
              </a:rPr>
              <a:t>live</a:t>
            </a:r>
            <a:r>
              <a:rPr lang="ja-JP" altLang="en-US" sz="2400">
                <a:latin typeface="Gill Sans MT" pitchFamily="34" charset="0"/>
              </a:rPr>
              <a:t>”</a:t>
            </a:r>
            <a:r>
              <a:rPr lang="en-US" altLang="ja-JP" sz="2400">
                <a:latin typeface="Gill Sans MT" pitchFamily="34" charset="0"/>
              </a:rPr>
              <a:t>, Bob sends Alice </a:t>
            </a:r>
            <a:r>
              <a:rPr lang="en-US" altLang="ja-JP" sz="2400" i="1">
                <a:solidFill>
                  <a:srgbClr val="C00000"/>
                </a:solidFill>
                <a:latin typeface="Gill Sans MT" pitchFamily="34" charset="0"/>
              </a:rPr>
              <a:t>nonce</a:t>
            </a:r>
            <a:r>
              <a:rPr lang="en-US" altLang="ja-JP" sz="2400">
                <a:latin typeface="Gill Sans MT" pitchFamily="34" charset="0"/>
              </a:rPr>
              <a:t>, R.  Alice</a:t>
            </a:r>
          </a:p>
          <a:p>
            <a:pPr algn="r"/>
            <a:r>
              <a:rPr lang="en-US" altLang="en-US" sz="2400">
                <a:latin typeface="Gill Sans MT" pitchFamily="34" charset="0"/>
              </a:rPr>
              <a:t>must return R, encrypted with shared secret key</a:t>
            </a:r>
          </a:p>
        </p:txBody>
      </p:sp>
      <p:pic>
        <p:nvPicPr>
          <p:cNvPr id="68614" name="Picture 7"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2938" y="3736975"/>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5" name="Picture 8" descr="Bo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4300" y="3686175"/>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p:cNvGrpSpPr>
            <a:grpSpLocks/>
          </p:cNvGrpSpPr>
          <p:nvPr/>
        </p:nvGrpSpPr>
        <p:grpSpPr bwMode="auto">
          <a:xfrm>
            <a:off x="2733675" y="3467100"/>
            <a:ext cx="3697288" cy="614363"/>
            <a:chOff x="2733675" y="3467100"/>
            <a:chExt cx="3697288" cy="614363"/>
          </a:xfrm>
        </p:grpSpPr>
        <p:sp>
          <p:nvSpPr>
            <p:cNvPr id="39957" name="Line 9"/>
            <p:cNvSpPr>
              <a:spLocks noChangeShapeType="1"/>
            </p:cNvSpPr>
            <p:nvPr/>
          </p:nvSpPr>
          <p:spPr bwMode="auto">
            <a:xfrm>
              <a:off x="2733675" y="3819525"/>
              <a:ext cx="3697288" cy="26193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9958" name="Text Box 10"/>
            <p:cNvSpPr txBox="1">
              <a:spLocks noChangeArrowheads="1"/>
            </p:cNvSpPr>
            <p:nvPr/>
          </p:nvSpPr>
          <p:spPr bwMode="auto">
            <a:xfrm>
              <a:off x="3740150" y="3467100"/>
              <a:ext cx="1725613" cy="4619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sz="2400">
                  <a:latin typeface="Arial" pitchFamily="34" charset="0"/>
                  <a:cs typeface="Arial" pitchFamily="34" charset="0"/>
                </a:rPr>
                <a:t>“</a:t>
              </a:r>
              <a:r>
                <a:rPr lang="en-US" altLang="ja-JP" sz="2400">
                  <a:latin typeface="Arial" pitchFamily="34" charset="0"/>
                  <a:cs typeface="Arial" pitchFamily="34" charset="0"/>
                </a:rPr>
                <a:t>I am Alice</a:t>
              </a:r>
              <a:r>
                <a:rPr lang="ja-JP" altLang="en-US" sz="2400">
                  <a:latin typeface="Arial" pitchFamily="34" charset="0"/>
                  <a:cs typeface="Arial" pitchFamily="34" charset="0"/>
                </a:rPr>
                <a:t>”</a:t>
              </a:r>
              <a:endParaRPr lang="en-US" altLang="en-US" sz="2400">
                <a:latin typeface="Arial" pitchFamily="34" charset="0"/>
                <a:cs typeface="Arial" pitchFamily="34" charset="0"/>
              </a:endParaRPr>
            </a:p>
          </p:txBody>
        </p:sp>
      </p:grpSp>
      <p:grpSp>
        <p:nvGrpSpPr>
          <p:cNvPr id="3" name="Group 2"/>
          <p:cNvGrpSpPr>
            <a:grpSpLocks/>
          </p:cNvGrpSpPr>
          <p:nvPr/>
        </p:nvGrpSpPr>
        <p:grpSpPr bwMode="auto">
          <a:xfrm>
            <a:off x="2727325" y="4141788"/>
            <a:ext cx="3697288" cy="557212"/>
            <a:chOff x="2727325" y="4141788"/>
            <a:chExt cx="3697288" cy="557212"/>
          </a:xfrm>
        </p:grpSpPr>
        <p:sp>
          <p:nvSpPr>
            <p:cNvPr id="39955" name="Line 11"/>
            <p:cNvSpPr>
              <a:spLocks noChangeShapeType="1"/>
            </p:cNvSpPr>
            <p:nvPr/>
          </p:nvSpPr>
          <p:spPr bwMode="auto">
            <a:xfrm flipH="1">
              <a:off x="2727325" y="4437063"/>
              <a:ext cx="3697288" cy="261937"/>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9956" name="Text Box 13"/>
            <p:cNvSpPr txBox="1">
              <a:spLocks noChangeArrowheads="1"/>
            </p:cNvSpPr>
            <p:nvPr/>
          </p:nvSpPr>
          <p:spPr bwMode="auto">
            <a:xfrm>
              <a:off x="4276725" y="4141788"/>
              <a:ext cx="407988" cy="4619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R</a:t>
              </a:r>
            </a:p>
          </p:txBody>
        </p:sp>
      </p:grpSp>
      <p:grpSp>
        <p:nvGrpSpPr>
          <p:cNvPr id="4" name="Group 3"/>
          <p:cNvGrpSpPr>
            <a:grpSpLocks/>
          </p:cNvGrpSpPr>
          <p:nvPr/>
        </p:nvGrpSpPr>
        <p:grpSpPr bwMode="auto">
          <a:xfrm>
            <a:off x="2735263" y="4700588"/>
            <a:ext cx="5965825" cy="1616075"/>
            <a:chOff x="2735263" y="4700588"/>
            <a:chExt cx="5965825" cy="1616075"/>
          </a:xfrm>
        </p:grpSpPr>
        <p:sp>
          <p:nvSpPr>
            <p:cNvPr id="39950" name="Line 12"/>
            <p:cNvSpPr>
              <a:spLocks noChangeShapeType="1"/>
            </p:cNvSpPr>
            <p:nvPr/>
          </p:nvSpPr>
          <p:spPr bwMode="auto">
            <a:xfrm>
              <a:off x="2735263" y="5097463"/>
              <a:ext cx="3697287" cy="261937"/>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68622" name="Group 14"/>
            <p:cNvGrpSpPr>
              <a:grpSpLocks/>
            </p:cNvGrpSpPr>
            <p:nvPr/>
          </p:nvGrpSpPr>
          <p:grpSpPr bwMode="auto">
            <a:xfrm>
              <a:off x="4521202" y="4743450"/>
              <a:ext cx="1157288" cy="577850"/>
              <a:chOff x="2693" y="3555"/>
              <a:chExt cx="729" cy="364"/>
            </a:xfrm>
          </p:grpSpPr>
          <p:sp>
            <p:nvSpPr>
              <p:cNvPr id="39953" name="Text Box 15"/>
              <p:cNvSpPr txBox="1">
                <a:spLocks noChangeArrowheads="1"/>
              </p:cNvSpPr>
              <p:nvPr/>
            </p:nvSpPr>
            <p:spPr bwMode="auto">
              <a:xfrm>
                <a:off x="2693" y="3555"/>
                <a:ext cx="729" cy="29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K    (R)</a:t>
                </a:r>
              </a:p>
            </p:txBody>
          </p:sp>
          <p:sp>
            <p:nvSpPr>
              <p:cNvPr id="39954" name="Text Box 16"/>
              <p:cNvSpPr txBox="1">
                <a:spLocks noChangeArrowheads="1"/>
              </p:cNvSpPr>
              <p:nvPr/>
            </p:nvSpPr>
            <p:spPr bwMode="auto">
              <a:xfrm>
                <a:off x="2786" y="3688"/>
                <a:ext cx="372" cy="23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A-B</a:t>
                </a:r>
              </a:p>
            </p:txBody>
          </p:sp>
        </p:grpSp>
        <p:sp>
          <p:nvSpPr>
            <p:cNvPr id="39952" name="Text Box 17"/>
            <p:cNvSpPr txBox="1">
              <a:spLocks noChangeArrowheads="1"/>
            </p:cNvSpPr>
            <p:nvPr/>
          </p:nvSpPr>
          <p:spPr bwMode="auto">
            <a:xfrm>
              <a:off x="6369050" y="4700588"/>
              <a:ext cx="2332038" cy="161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latin typeface="Arial" charset="0"/>
                  <a:cs typeface="Arial" charset="0"/>
                </a:rPr>
                <a:t>Alice is live, and only Alice knows key to encrypt nonce, so it must be Alice!</a:t>
              </a:r>
            </a:p>
          </p:txBody>
        </p:sp>
      </p:grpSp>
      <p:sp>
        <p:nvSpPr>
          <p:cNvPr id="68619" name="Rectangle 2"/>
          <p:cNvSpPr>
            <a:spLocks noGrp="1" noChangeArrowheads="1"/>
          </p:cNvSpPr>
          <p:nvPr>
            <p:ph type="title"/>
          </p:nvPr>
        </p:nvSpPr>
        <p:spPr>
          <a:xfrm>
            <a:off x="468313" y="141288"/>
            <a:ext cx="7772400" cy="1143000"/>
          </a:xfrm>
        </p:spPr>
        <p:txBody>
          <a:bodyPr/>
          <a:lstStyle/>
          <a:p>
            <a:r>
              <a:rPr lang="en-US" altLang="en-US" smtClean="0">
                <a:ea typeface="ＭＳ Ｐゴシック" pitchFamily="34" charset="-128"/>
              </a:rPr>
              <a:t>Authentication: yet another try</a:t>
            </a:r>
          </a:p>
        </p:txBody>
      </p:sp>
      <p:pic>
        <p:nvPicPr>
          <p:cNvPr id="68620" name="Picture 16" descr="underline_bas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288" y="944563"/>
            <a:ext cx="73136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nodeType="afterGroup">
                            <p:stCondLst>
                              <p:cond delay="500"/>
                            </p:stCondLst>
                            <p:childTnLst>
                              <p:par>
                                <p:cTn id="19" presetID="1" presetClass="entr" presetSubtype="0" fill="hold" grpId="0" nodeType="afterEffect">
                                  <p:stCondLst>
                                    <p:cond delay="0"/>
                                  </p:stCondLst>
                                  <p:childTnLst>
                                    <p:set>
                                      <p:cBhvr>
                                        <p:cTn id="20" dur="1" fill="hold">
                                          <p:stCondLst>
                                            <p:cond delay="0"/>
                                          </p:stCondLst>
                                        </p:cTn>
                                        <p:tgtEl>
                                          <p:spTgt spid="2068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3" name="Picture 21"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088" y="1062038"/>
            <a:ext cx="50276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69635" name="Rectangle 2"/>
          <p:cNvSpPr>
            <a:spLocks noGrp="1" noChangeArrowheads="1"/>
          </p:cNvSpPr>
          <p:nvPr>
            <p:ph type="title"/>
          </p:nvPr>
        </p:nvSpPr>
        <p:spPr/>
        <p:txBody>
          <a:bodyPr/>
          <a:lstStyle/>
          <a:p>
            <a:r>
              <a:rPr lang="en-US" altLang="en-US" smtClean="0">
                <a:ea typeface="ＭＳ Ｐゴシック" pitchFamily="34" charset="-128"/>
              </a:rPr>
              <a:t>Authentication: ap5.0</a:t>
            </a:r>
          </a:p>
        </p:txBody>
      </p:sp>
      <p:sp>
        <p:nvSpPr>
          <p:cNvPr id="69636" name="Rectangle 3"/>
          <p:cNvSpPr>
            <a:spLocks noGrp="1" noChangeArrowheads="1"/>
          </p:cNvSpPr>
          <p:nvPr>
            <p:ph type="body" idx="1"/>
          </p:nvPr>
        </p:nvSpPr>
        <p:spPr>
          <a:xfrm>
            <a:off x="544513" y="1457325"/>
            <a:ext cx="8355012" cy="4648200"/>
          </a:xfrm>
        </p:spPr>
        <p:txBody>
          <a:bodyPr/>
          <a:lstStyle/>
          <a:p>
            <a:pPr>
              <a:lnSpc>
                <a:spcPts val="2800"/>
              </a:lnSpc>
              <a:buFont typeface="Wingdings" pitchFamily="2" charset="2"/>
              <a:buNone/>
            </a:pPr>
            <a:r>
              <a:rPr lang="en-US" altLang="en-US" smtClean="0">
                <a:ea typeface="ＭＳ Ｐゴシック" pitchFamily="34" charset="-128"/>
              </a:rPr>
              <a:t>ap4.0 requires shared symmetric key </a:t>
            </a:r>
          </a:p>
          <a:p>
            <a:pPr>
              <a:lnSpc>
                <a:spcPts val="2800"/>
              </a:lnSpc>
            </a:pPr>
            <a:r>
              <a:rPr lang="en-US" altLang="en-US" smtClean="0">
                <a:ea typeface="ＭＳ Ｐゴシック" pitchFamily="34" charset="-128"/>
              </a:rPr>
              <a:t>can we authenticate using public key techniques?</a:t>
            </a:r>
          </a:p>
          <a:p>
            <a:pPr>
              <a:lnSpc>
                <a:spcPts val="2800"/>
              </a:lnSpc>
              <a:buFont typeface="Wingdings" pitchFamily="2" charset="2"/>
              <a:buNone/>
            </a:pPr>
            <a:r>
              <a:rPr lang="en-US" altLang="en-US" i="1" smtClean="0">
                <a:solidFill>
                  <a:srgbClr val="C00000"/>
                </a:solidFill>
                <a:ea typeface="ＭＳ Ｐゴシック" pitchFamily="34" charset="-128"/>
              </a:rPr>
              <a:t>ap5.0: </a:t>
            </a:r>
            <a:r>
              <a:rPr lang="en-US" altLang="en-US" smtClean="0">
                <a:ea typeface="ＭＳ Ｐゴシック" pitchFamily="34" charset="-128"/>
              </a:rPr>
              <a:t>use nonce, public key cryptography</a:t>
            </a:r>
          </a:p>
        </p:txBody>
      </p:sp>
      <p:pic>
        <p:nvPicPr>
          <p:cNvPr id="69637" name="Picture 4" descr="Al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913" y="344805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5"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5275" y="3397250"/>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Line 6"/>
          <p:cNvSpPr>
            <a:spLocks noChangeShapeType="1"/>
          </p:cNvSpPr>
          <p:nvPr/>
        </p:nvSpPr>
        <p:spPr bwMode="auto">
          <a:xfrm>
            <a:off x="1644650" y="3530600"/>
            <a:ext cx="3697288" cy="26193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0968" name="Text Box 7"/>
          <p:cNvSpPr txBox="1">
            <a:spLocks noChangeArrowheads="1"/>
          </p:cNvSpPr>
          <p:nvPr/>
        </p:nvSpPr>
        <p:spPr bwMode="auto">
          <a:xfrm>
            <a:off x="2651125" y="3178175"/>
            <a:ext cx="1725613" cy="4619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sz="2400">
                <a:latin typeface="Arial" pitchFamily="34" charset="0"/>
                <a:cs typeface="Arial" pitchFamily="34" charset="0"/>
              </a:rPr>
              <a:t>“</a:t>
            </a:r>
            <a:r>
              <a:rPr lang="en-US" altLang="ja-JP" sz="2400">
                <a:latin typeface="Arial" pitchFamily="34" charset="0"/>
                <a:cs typeface="Arial" pitchFamily="34" charset="0"/>
              </a:rPr>
              <a:t>I am Alice</a:t>
            </a:r>
            <a:r>
              <a:rPr lang="ja-JP" altLang="en-US" sz="2400">
                <a:latin typeface="Arial" pitchFamily="34" charset="0"/>
                <a:cs typeface="Arial" pitchFamily="34" charset="0"/>
              </a:rPr>
              <a:t>”</a:t>
            </a:r>
            <a:endParaRPr lang="en-US" altLang="en-US" sz="2400">
              <a:latin typeface="Arial" pitchFamily="34" charset="0"/>
              <a:cs typeface="Arial" pitchFamily="34" charset="0"/>
            </a:endParaRPr>
          </a:p>
        </p:txBody>
      </p:sp>
      <p:sp>
        <p:nvSpPr>
          <p:cNvPr id="40969" name="Line 8"/>
          <p:cNvSpPr>
            <a:spLocks noChangeShapeType="1"/>
          </p:cNvSpPr>
          <p:nvPr/>
        </p:nvSpPr>
        <p:spPr bwMode="auto">
          <a:xfrm flipH="1">
            <a:off x="1609725" y="3917950"/>
            <a:ext cx="3697288" cy="26193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0970" name="Line 9"/>
          <p:cNvSpPr>
            <a:spLocks noChangeShapeType="1"/>
          </p:cNvSpPr>
          <p:nvPr/>
        </p:nvSpPr>
        <p:spPr bwMode="auto">
          <a:xfrm>
            <a:off x="1660525" y="4389438"/>
            <a:ext cx="3697288" cy="261937"/>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0971" name="Text Box 10"/>
          <p:cNvSpPr txBox="1">
            <a:spLocks noChangeArrowheads="1"/>
          </p:cNvSpPr>
          <p:nvPr/>
        </p:nvSpPr>
        <p:spPr bwMode="auto">
          <a:xfrm>
            <a:off x="2374900" y="3708400"/>
            <a:ext cx="407988" cy="4619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R</a:t>
            </a:r>
          </a:p>
        </p:txBody>
      </p:sp>
      <p:sp>
        <p:nvSpPr>
          <p:cNvPr id="40972" name="Text Box 11"/>
          <p:cNvSpPr txBox="1">
            <a:spLocks noChangeArrowheads="1"/>
          </p:cNvSpPr>
          <p:nvPr/>
        </p:nvSpPr>
        <p:spPr bwMode="auto">
          <a:xfrm>
            <a:off x="6332538" y="3455988"/>
            <a:ext cx="2332037"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latin typeface="Arial" charset="0"/>
                <a:cs typeface="Arial" charset="0"/>
              </a:rPr>
              <a:t>Bob computes</a:t>
            </a:r>
          </a:p>
          <a:p>
            <a:pPr algn="ctr">
              <a:defRPr/>
            </a:pPr>
            <a:endParaRPr lang="en-US" sz="2400" smtClean="0">
              <a:latin typeface="Arial" charset="0"/>
              <a:cs typeface="Arial" charset="0"/>
            </a:endParaRPr>
          </a:p>
        </p:txBody>
      </p:sp>
      <p:grpSp>
        <p:nvGrpSpPr>
          <p:cNvPr id="69645" name="Group 12"/>
          <p:cNvGrpSpPr>
            <a:grpSpLocks/>
          </p:cNvGrpSpPr>
          <p:nvPr/>
        </p:nvGrpSpPr>
        <p:grpSpPr bwMode="auto">
          <a:xfrm>
            <a:off x="4068763" y="3965575"/>
            <a:ext cx="1073150" cy="673100"/>
            <a:chOff x="2838" y="2891"/>
            <a:chExt cx="676" cy="424"/>
          </a:xfrm>
        </p:grpSpPr>
        <p:sp>
          <p:nvSpPr>
            <p:cNvPr id="40998" name="Text Box 13"/>
            <p:cNvSpPr txBox="1">
              <a:spLocks noChangeArrowheads="1"/>
            </p:cNvSpPr>
            <p:nvPr/>
          </p:nvSpPr>
          <p:spPr bwMode="auto">
            <a:xfrm>
              <a:off x="2838" y="2979"/>
              <a:ext cx="676" cy="29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K   (R)</a:t>
              </a:r>
            </a:p>
          </p:txBody>
        </p:sp>
        <p:sp>
          <p:nvSpPr>
            <p:cNvPr id="40999" name="Text Box 14"/>
            <p:cNvSpPr txBox="1">
              <a:spLocks noChangeArrowheads="1"/>
            </p:cNvSpPr>
            <p:nvPr/>
          </p:nvSpPr>
          <p:spPr bwMode="auto">
            <a:xfrm>
              <a:off x="2979" y="3084"/>
              <a:ext cx="221" cy="23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A</a:t>
              </a:r>
            </a:p>
          </p:txBody>
        </p:sp>
        <p:sp>
          <p:nvSpPr>
            <p:cNvPr id="41000" name="Text Box 15"/>
            <p:cNvSpPr txBox="1">
              <a:spLocks noChangeArrowheads="1"/>
            </p:cNvSpPr>
            <p:nvPr/>
          </p:nvSpPr>
          <p:spPr bwMode="auto">
            <a:xfrm>
              <a:off x="2992" y="2891"/>
              <a:ext cx="170" cy="25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latin typeface="Arial" charset="0"/>
                  <a:cs typeface="Arial" charset="0"/>
                </a:rPr>
                <a:t>-</a:t>
              </a:r>
            </a:p>
          </p:txBody>
        </p:sp>
      </p:grpSp>
      <p:sp>
        <p:nvSpPr>
          <p:cNvPr id="40974" name="Line 16"/>
          <p:cNvSpPr>
            <a:spLocks noChangeShapeType="1"/>
          </p:cNvSpPr>
          <p:nvPr/>
        </p:nvSpPr>
        <p:spPr bwMode="auto">
          <a:xfrm flipH="1">
            <a:off x="1646238" y="4811713"/>
            <a:ext cx="3697287" cy="261937"/>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0975" name="Text Box 17"/>
          <p:cNvSpPr txBox="1">
            <a:spLocks noChangeArrowheads="1"/>
          </p:cNvSpPr>
          <p:nvPr/>
        </p:nvSpPr>
        <p:spPr bwMode="auto">
          <a:xfrm>
            <a:off x="2060575" y="4722813"/>
            <a:ext cx="2887663" cy="3667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ja-JP" altLang="en-US" sz="1800">
                <a:latin typeface="Arial" pitchFamily="34" charset="0"/>
                <a:cs typeface="Arial" pitchFamily="34" charset="0"/>
              </a:rPr>
              <a:t>“</a:t>
            </a:r>
            <a:r>
              <a:rPr lang="en-US" altLang="ja-JP" sz="1800">
                <a:latin typeface="Arial" pitchFamily="34" charset="0"/>
                <a:cs typeface="Arial" pitchFamily="34" charset="0"/>
              </a:rPr>
              <a:t>send me your public key</a:t>
            </a:r>
            <a:r>
              <a:rPr lang="ja-JP" altLang="en-US" sz="1800">
                <a:latin typeface="Arial" pitchFamily="34" charset="0"/>
                <a:cs typeface="Arial" pitchFamily="34" charset="0"/>
              </a:rPr>
              <a:t>”</a:t>
            </a:r>
            <a:endParaRPr lang="en-US" altLang="en-US" sz="1800">
              <a:latin typeface="Arial" pitchFamily="34" charset="0"/>
              <a:cs typeface="Arial" pitchFamily="34" charset="0"/>
            </a:endParaRPr>
          </a:p>
        </p:txBody>
      </p:sp>
      <p:sp>
        <p:nvSpPr>
          <p:cNvPr id="40976" name="Line 18"/>
          <p:cNvSpPr>
            <a:spLocks noChangeShapeType="1"/>
          </p:cNvSpPr>
          <p:nvPr/>
        </p:nvSpPr>
        <p:spPr bwMode="auto">
          <a:xfrm>
            <a:off x="1697038" y="5383213"/>
            <a:ext cx="3697287" cy="261937"/>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69649" name="Group 19"/>
          <p:cNvGrpSpPr>
            <a:grpSpLocks/>
          </p:cNvGrpSpPr>
          <p:nvPr/>
        </p:nvGrpSpPr>
        <p:grpSpPr bwMode="auto">
          <a:xfrm>
            <a:off x="4521200" y="4960938"/>
            <a:ext cx="612775" cy="701675"/>
            <a:chOff x="828" y="3234"/>
            <a:chExt cx="386" cy="442"/>
          </a:xfrm>
        </p:grpSpPr>
        <p:sp>
          <p:nvSpPr>
            <p:cNvPr id="40995" name="Text Box 20"/>
            <p:cNvSpPr txBox="1">
              <a:spLocks noChangeArrowheads="1"/>
            </p:cNvSpPr>
            <p:nvPr/>
          </p:nvSpPr>
          <p:spPr bwMode="auto">
            <a:xfrm>
              <a:off x="828" y="3330"/>
              <a:ext cx="353" cy="29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K  </a:t>
              </a:r>
            </a:p>
          </p:txBody>
        </p:sp>
        <p:sp>
          <p:nvSpPr>
            <p:cNvPr id="40996" name="Text Box 21"/>
            <p:cNvSpPr txBox="1">
              <a:spLocks noChangeArrowheads="1"/>
            </p:cNvSpPr>
            <p:nvPr/>
          </p:nvSpPr>
          <p:spPr bwMode="auto">
            <a:xfrm>
              <a:off x="993" y="3445"/>
              <a:ext cx="221" cy="23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latin typeface="Arial" charset="0"/>
                  <a:cs typeface="Arial" charset="0"/>
                </a:rPr>
                <a:t>A</a:t>
              </a:r>
            </a:p>
          </p:txBody>
        </p:sp>
        <p:sp>
          <p:nvSpPr>
            <p:cNvPr id="40997" name="Text Box 22"/>
            <p:cNvSpPr txBox="1">
              <a:spLocks noChangeArrowheads="1"/>
            </p:cNvSpPr>
            <p:nvPr/>
          </p:nvSpPr>
          <p:spPr bwMode="auto">
            <a:xfrm>
              <a:off x="998" y="3234"/>
              <a:ext cx="210" cy="25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dirty="0" smtClean="0">
                  <a:latin typeface="Arial" charset="0"/>
                  <a:cs typeface="Arial" charset="0"/>
                </a:rPr>
                <a:t>+</a:t>
              </a:r>
            </a:p>
          </p:txBody>
        </p:sp>
      </p:grpSp>
      <p:grpSp>
        <p:nvGrpSpPr>
          <p:cNvPr id="69650" name="Group 23"/>
          <p:cNvGrpSpPr>
            <a:grpSpLocks/>
          </p:cNvGrpSpPr>
          <p:nvPr/>
        </p:nvGrpSpPr>
        <p:grpSpPr bwMode="auto">
          <a:xfrm>
            <a:off x="6388100" y="3703638"/>
            <a:ext cx="2070100" cy="714375"/>
            <a:chOff x="1117" y="3592"/>
            <a:chExt cx="1304" cy="450"/>
          </a:xfrm>
        </p:grpSpPr>
        <p:sp>
          <p:nvSpPr>
            <p:cNvPr id="40988" name="Text Box 24"/>
            <p:cNvSpPr txBox="1">
              <a:spLocks noChangeArrowheads="1"/>
            </p:cNvSpPr>
            <p:nvPr/>
          </p:nvSpPr>
          <p:spPr bwMode="auto">
            <a:xfrm>
              <a:off x="1309" y="3687"/>
              <a:ext cx="1112" cy="29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dirty="0" smtClean="0">
                  <a:latin typeface="Arial" charset="0"/>
                  <a:cs typeface="Arial" charset="0"/>
                </a:rPr>
                <a:t>(K  (R)) = R</a:t>
              </a:r>
            </a:p>
          </p:txBody>
        </p:sp>
        <p:sp>
          <p:nvSpPr>
            <p:cNvPr id="40989" name="Text Box 25"/>
            <p:cNvSpPr txBox="1">
              <a:spLocks noChangeArrowheads="1"/>
            </p:cNvSpPr>
            <p:nvPr/>
          </p:nvSpPr>
          <p:spPr bwMode="auto">
            <a:xfrm>
              <a:off x="1512" y="3811"/>
              <a:ext cx="221" cy="23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latin typeface="Arial" charset="0"/>
                  <a:cs typeface="Arial" charset="0"/>
                </a:rPr>
                <a:t>A</a:t>
              </a:r>
            </a:p>
          </p:txBody>
        </p:sp>
        <p:sp>
          <p:nvSpPr>
            <p:cNvPr id="40990" name="Text Box 26"/>
            <p:cNvSpPr txBox="1">
              <a:spLocks noChangeArrowheads="1"/>
            </p:cNvSpPr>
            <p:nvPr/>
          </p:nvSpPr>
          <p:spPr bwMode="auto">
            <a:xfrm>
              <a:off x="1542" y="3592"/>
              <a:ext cx="170" cy="25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dirty="0" smtClean="0">
                  <a:latin typeface="Arial" charset="0"/>
                  <a:cs typeface="Arial" charset="0"/>
                </a:rPr>
                <a:t>-</a:t>
              </a:r>
            </a:p>
          </p:txBody>
        </p:sp>
        <p:grpSp>
          <p:nvGrpSpPr>
            <p:cNvPr id="69662" name="Group 27"/>
            <p:cNvGrpSpPr>
              <a:grpSpLocks/>
            </p:cNvGrpSpPr>
            <p:nvPr/>
          </p:nvGrpSpPr>
          <p:grpSpPr bwMode="auto">
            <a:xfrm>
              <a:off x="1117" y="3599"/>
              <a:ext cx="342" cy="443"/>
              <a:chOff x="821" y="3255"/>
              <a:chExt cx="342" cy="443"/>
            </a:xfrm>
          </p:grpSpPr>
          <p:sp>
            <p:nvSpPr>
              <p:cNvPr id="40992" name="Text Box 28"/>
              <p:cNvSpPr txBox="1">
                <a:spLocks noChangeArrowheads="1"/>
              </p:cNvSpPr>
              <p:nvPr/>
            </p:nvSpPr>
            <p:spPr bwMode="auto">
              <a:xfrm>
                <a:off x="821" y="3355"/>
                <a:ext cx="246" cy="29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dirty="0" smtClean="0">
                    <a:latin typeface="Arial" charset="0"/>
                    <a:cs typeface="Arial" charset="0"/>
                  </a:rPr>
                  <a:t>K   </a:t>
                </a:r>
              </a:p>
            </p:txBody>
          </p:sp>
          <p:sp>
            <p:nvSpPr>
              <p:cNvPr id="40993" name="Text Box 29"/>
              <p:cNvSpPr txBox="1">
                <a:spLocks noChangeArrowheads="1"/>
              </p:cNvSpPr>
              <p:nvPr/>
            </p:nvSpPr>
            <p:spPr bwMode="auto">
              <a:xfrm>
                <a:off x="942" y="3467"/>
                <a:ext cx="221" cy="23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latin typeface="Arial" charset="0"/>
                    <a:cs typeface="Arial" charset="0"/>
                  </a:rPr>
                  <a:t>A</a:t>
                </a:r>
              </a:p>
            </p:txBody>
          </p:sp>
          <p:sp>
            <p:nvSpPr>
              <p:cNvPr id="40994" name="Text Box 30"/>
              <p:cNvSpPr txBox="1">
                <a:spLocks noChangeArrowheads="1"/>
              </p:cNvSpPr>
              <p:nvPr/>
            </p:nvSpPr>
            <p:spPr bwMode="auto">
              <a:xfrm>
                <a:off x="941" y="3255"/>
                <a:ext cx="210" cy="25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latin typeface="Arial" charset="0"/>
                    <a:cs typeface="Arial" charset="0"/>
                  </a:rPr>
                  <a:t>+</a:t>
                </a:r>
              </a:p>
            </p:txBody>
          </p:sp>
        </p:grpSp>
      </p:grpSp>
      <p:sp>
        <p:nvSpPr>
          <p:cNvPr id="40979" name="Text Box 31"/>
          <p:cNvSpPr txBox="1">
            <a:spLocks noChangeArrowheads="1"/>
          </p:cNvSpPr>
          <p:nvPr/>
        </p:nvSpPr>
        <p:spPr bwMode="auto">
          <a:xfrm>
            <a:off x="5862638" y="4352925"/>
            <a:ext cx="3035300"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dirty="0" smtClean="0">
                <a:latin typeface="Arial" charset="0"/>
                <a:cs typeface="Arial" charset="0"/>
              </a:rPr>
              <a:t>and knows only Alice could have the private key, that encrypted R such that</a:t>
            </a:r>
          </a:p>
        </p:txBody>
      </p:sp>
      <p:grpSp>
        <p:nvGrpSpPr>
          <p:cNvPr id="69652" name="Group 32"/>
          <p:cNvGrpSpPr>
            <a:grpSpLocks/>
          </p:cNvGrpSpPr>
          <p:nvPr/>
        </p:nvGrpSpPr>
        <p:grpSpPr bwMode="auto">
          <a:xfrm>
            <a:off x="6496050" y="5453063"/>
            <a:ext cx="1893888" cy="763587"/>
            <a:chOff x="938" y="3588"/>
            <a:chExt cx="1193" cy="481"/>
          </a:xfrm>
        </p:grpSpPr>
        <p:sp>
          <p:nvSpPr>
            <p:cNvPr id="40982" name="Text Box 33"/>
            <p:cNvSpPr txBox="1">
              <a:spLocks noChangeArrowheads="1"/>
            </p:cNvSpPr>
            <p:nvPr/>
          </p:nvSpPr>
          <p:spPr bwMode="auto">
            <a:xfrm>
              <a:off x="1187" y="3731"/>
              <a:ext cx="944" cy="25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latin typeface="Arial" charset="0"/>
                  <a:cs typeface="Arial" charset="0"/>
                </a:rPr>
                <a:t>(K  (R)) = R</a:t>
              </a:r>
            </a:p>
          </p:txBody>
        </p:sp>
        <p:sp>
          <p:nvSpPr>
            <p:cNvPr id="40983" name="Text Box 34"/>
            <p:cNvSpPr txBox="1">
              <a:spLocks noChangeArrowheads="1"/>
            </p:cNvSpPr>
            <p:nvPr/>
          </p:nvSpPr>
          <p:spPr bwMode="auto">
            <a:xfrm>
              <a:off x="1337" y="3819"/>
              <a:ext cx="233" cy="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latin typeface="Arial" charset="0"/>
                  <a:cs typeface="Arial" charset="0"/>
                </a:rPr>
                <a:t>A</a:t>
              </a:r>
            </a:p>
          </p:txBody>
        </p:sp>
        <p:sp>
          <p:nvSpPr>
            <p:cNvPr id="40984" name="Text Box 35"/>
            <p:cNvSpPr txBox="1">
              <a:spLocks noChangeArrowheads="1"/>
            </p:cNvSpPr>
            <p:nvPr/>
          </p:nvSpPr>
          <p:spPr bwMode="auto">
            <a:xfrm>
              <a:off x="1337" y="3588"/>
              <a:ext cx="170" cy="25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latin typeface="Arial" charset="0"/>
                  <a:cs typeface="Arial" charset="0"/>
                </a:rPr>
                <a:t>-</a:t>
              </a:r>
            </a:p>
          </p:txBody>
        </p:sp>
        <p:sp>
          <p:nvSpPr>
            <p:cNvPr id="40985" name="Text Box 36"/>
            <p:cNvSpPr txBox="1">
              <a:spLocks noChangeArrowheads="1"/>
            </p:cNvSpPr>
            <p:nvPr/>
          </p:nvSpPr>
          <p:spPr bwMode="auto">
            <a:xfrm>
              <a:off x="938" y="3718"/>
              <a:ext cx="313" cy="25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latin typeface="Arial" charset="0"/>
                  <a:cs typeface="Arial" charset="0"/>
                </a:rPr>
                <a:t>K  </a:t>
              </a:r>
            </a:p>
          </p:txBody>
        </p:sp>
        <p:sp>
          <p:nvSpPr>
            <p:cNvPr id="40986" name="Text Box 37"/>
            <p:cNvSpPr txBox="1">
              <a:spLocks noChangeArrowheads="1"/>
            </p:cNvSpPr>
            <p:nvPr/>
          </p:nvSpPr>
          <p:spPr bwMode="auto">
            <a:xfrm>
              <a:off x="1069" y="3805"/>
              <a:ext cx="233" cy="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latin typeface="Arial" charset="0"/>
                  <a:cs typeface="Arial" charset="0"/>
                </a:rPr>
                <a:t>A</a:t>
              </a:r>
            </a:p>
          </p:txBody>
        </p:sp>
        <p:sp>
          <p:nvSpPr>
            <p:cNvPr id="40987" name="Text Box 38"/>
            <p:cNvSpPr txBox="1">
              <a:spLocks noChangeArrowheads="1"/>
            </p:cNvSpPr>
            <p:nvPr/>
          </p:nvSpPr>
          <p:spPr bwMode="auto">
            <a:xfrm>
              <a:off x="1080" y="3620"/>
              <a:ext cx="210" cy="25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dirty="0" smtClean="0">
                  <a:latin typeface="Arial" charset="0"/>
                  <a:cs typeface="Arial" charset="0"/>
                </a:rPr>
                <a:t>+</a:t>
              </a:r>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cs typeface="Arial" charset="0"/>
              </a:rPr>
              <a:t>Network Security</a:t>
            </a:r>
          </a:p>
        </p:txBody>
      </p:sp>
      <p:sp>
        <p:nvSpPr>
          <p:cNvPr id="70658" name="Rectangle 2"/>
          <p:cNvSpPr>
            <a:spLocks noGrp="1" noChangeArrowheads="1"/>
          </p:cNvSpPr>
          <p:nvPr>
            <p:ph type="title"/>
          </p:nvPr>
        </p:nvSpPr>
        <p:spPr>
          <a:xfrm>
            <a:off x="457200" y="123825"/>
            <a:ext cx="4800600" cy="952500"/>
          </a:xfrm>
        </p:spPr>
        <p:txBody>
          <a:bodyPr/>
          <a:lstStyle/>
          <a:p>
            <a:r>
              <a:rPr lang="en-US" altLang="en-US" smtClean="0">
                <a:ea typeface="ＭＳ Ｐゴシック" pitchFamily="34" charset="-128"/>
              </a:rPr>
              <a:t>ap5.0: security hole</a:t>
            </a:r>
          </a:p>
        </p:txBody>
      </p:sp>
      <p:sp>
        <p:nvSpPr>
          <p:cNvPr id="70659" name="Rectangle 3"/>
          <p:cNvSpPr>
            <a:spLocks noGrp="1" noChangeArrowheads="1"/>
          </p:cNvSpPr>
          <p:nvPr>
            <p:ph type="body" sz="half" idx="1"/>
          </p:nvPr>
        </p:nvSpPr>
        <p:spPr>
          <a:xfrm>
            <a:off x="455613" y="1084263"/>
            <a:ext cx="7593012" cy="919162"/>
          </a:xfrm>
        </p:spPr>
        <p:txBody>
          <a:bodyPr/>
          <a:lstStyle/>
          <a:p>
            <a:pPr>
              <a:buFont typeface="Wingdings" pitchFamily="2" charset="2"/>
              <a:buNone/>
            </a:pPr>
            <a:r>
              <a:rPr lang="en-US" altLang="en-US" sz="2400" i="1" smtClean="0">
                <a:solidFill>
                  <a:srgbClr val="C00000"/>
                </a:solidFill>
                <a:ea typeface="ＭＳ Ｐゴシック" pitchFamily="34" charset="-128"/>
              </a:rPr>
              <a:t>man (or woman) in the middle attack: </a:t>
            </a:r>
            <a:r>
              <a:rPr lang="en-US" altLang="en-US" sz="2400" smtClean="0">
                <a:ea typeface="ＭＳ Ｐゴシック" pitchFamily="34" charset="-128"/>
              </a:rPr>
              <a:t>Trudy poses as Alice (to Bob) and as Bob (to Alice)</a:t>
            </a:r>
          </a:p>
        </p:txBody>
      </p:sp>
      <p:pic>
        <p:nvPicPr>
          <p:cNvPr id="70660" name="Picture 4" descr="Bob"/>
          <p:cNvPicPr>
            <a:picLocks noGrp="1" noChangeAspect="1" noChangeArrowheads="1"/>
          </p:cNvPicPr>
          <p:nvPr>
            <p:ph sz="quarter" idx="3"/>
          </p:nvPr>
        </p:nvPicPr>
        <p:blipFill>
          <a:blip r:embed="rId2">
            <a:extLst>
              <a:ext uri="{28A0092B-C50C-407E-A947-70E740481C1C}">
                <a14:useLocalDpi xmlns:a14="http://schemas.microsoft.com/office/drawing/2010/main" val="0"/>
              </a:ext>
            </a:extLst>
          </a:blip>
          <a:srcRect/>
          <a:stretch>
            <a:fillRect/>
          </a:stretch>
        </p:blipFill>
        <p:spPr>
          <a:xfrm>
            <a:off x="7623175" y="2306638"/>
            <a:ext cx="800100" cy="817562"/>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0661" name="Picture 5"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9263" y="2203450"/>
            <a:ext cx="954087"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2" name="Picture 6" descr="Alice"/>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1163638" y="2195513"/>
            <a:ext cx="752475" cy="9271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992" name="Line 7"/>
          <p:cNvSpPr>
            <a:spLocks noChangeShapeType="1"/>
          </p:cNvSpPr>
          <p:nvPr/>
        </p:nvSpPr>
        <p:spPr bwMode="auto">
          <a:xfrm>
            <a:off x="1936750" y="2678113"/>
            <a:ext cx="22494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1993" name="Text Box 8"/>
          <p:cNvSpPr txBox="1">
            <a:spLocks noChangeArrowheads="1"/>
          </p:cNvSpPr>
          <p:nvPr/>
        </p:nvSpPr>
        <p:spPr bwMode="auto">
          <a:xfrm>
            <a:off x="2265363" y="2328863"/>
            <a:ext cx="118427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I am Alice</a:t>
            </a:r>
          </a:p>
        </p:txBody>
      </p:sp>
      <p:sp>
        <p:nvSpPr>
          <p:cNvPr id="41994" name="Line 9"/>
          <p:cNvSpPr>
            <a:spLocks noChangeShapeType="1"/>
          </p:cNvSpPr>
          <p:nvPr/>
        </p:nvSpPr>
        <p:spPr bwMode="auto">
          <a:xfrm>
            <a:off x="5183188" y="2717800"/>
            <a:ext cx="22494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1995" name="Text Box 10"/>
          <p:cNvSpPr txBox="1">
            <a:spLocks noChangeArrowheads="1"/>
          </p:cNvSpPr>
          <p:nvPr/>
        </p:nvSpPr>
        <p:spPr bwMode="auto">
          <a:xfrm>
            <a:off x="5511800" y="2368550"/>
            <a:ext cx="11842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I am Alice</a:t>
            </a:r>
          </a:p>
        </p:txBody>
      </p:sp>
      <p:sp>
        <p:nvSpPr>
          <p:cNvPr id="41996" name="Line 11"/>
          <p:cNvSpPr>
            <a:spLocks noChangeShapeType="1"/>
          </p:cNvSpPr>
          <p:nvPr/>
        </p:nvSpPr>
        <p:spPr bwMode="auto">
          <a:xfrm flipH="1">
            <a:off x="5222875" y="2786063"/>
            <a:ext cx="2165350" cy="2809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1997" name="Text Box 12"/>
          <p:cNvSpPr txBox="1">
            <a:spLocks noChangeArrowheads="1"/>
          </p:cNvSpPr>
          <p:nvPr/>
        </p:nvSpPr>
        <p:spPr bwMode="auto">
          <a:xfrm>
            <a:off x="5321300" y="2701925"/>
            <a:ext cx="3524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R</a:t>
            </a:r>
          </a:p>
        </p:txBody>
      </p:sp>
      <p:sp>
        <p:nvSpPr>
          <p:cNvPr id="41998" name="Line 13"/>
          <p:cNvSpPr>
            <a:spLocks noChangeShapeType="1"/>
          </p:cNvSpPr>
          <p:nvPr/>
        </p:nvSpPr>
        <p:spPr bwMode="auto">
          <a:xfrm>
            <a:off x="5251450" y="3235325"/>
            <a:ext cx="22494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70670" name="Group 14"/>
          <p:cNvGrpSpPr>
            <a:grpSpLocks/>
          </p:cNvGrpSpPr>
          <p:nvPr/>
        </p:nvGrpSpPr>
        <p:grpSpPr bwMode="auto">
          <a:xfrm>
            <a:off x="6481763" y="2781300"/>
            <a:ext cx="850900" cy="681038"/>
            <a:chOff x="3732" y="350"/>
            <a:chExt cx="536" cy="429"/>
          </a:xfrm>
        </p:grpSpPr>
        <p:sp>
          <p:nvSpPr>
            <p:cNvPr id="42049" name="Text Box 15"/>
            <p:cNvSpPr txBox="1">
              <a:spLocks noChangeArrowheads="1"/>
            </p:cNvSpPr>
            <p:nvPr/>
          </p:nvSpPr>
          <p:spPr bwMode="auto">
            <a:xfrm>
              <a:off x="3843" y="546"/>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T</a:t>
              </a:r>
            </a:p>
          </p:txBody>
        </p:sp>
        <p:grpSp>
          <p:nvGrpSpPr>
            <p:cNvPr id="70721" name="Group 16"/>
            <p:cNvGrpSpPr>
              <a:grpSpLocks/>
            </p:cNvGrpSpPr>
            <p:nvPr/>
          </p:nvGrpSpPr>
          <p:grpSpPr bwMode="auto">
            <a:xfrm>
              <a:off x="3732" y="350"/>
              <a:ext cx="536" cy="325"/>
              <a:chOff x="3732" y="350"/>
              <a:chExt cx="536" cy="325"/>
            </a:xfrm>
          </p:grpSpPr>
          <p:sp>
            <p:nvSpPr>
              <p:cNvPr id="42051" name="Text Box 17"/>
              <p:cNvSpPr txBox="1">
                <a:spLocks noChangeArrowheads="1"/>
              </p:cNvSpPr>
              <p:nvPr/>
            </p:nvSpPr>
            <p:spPr bwMode="auto">
              <a:xfrm>
                <a:off x="3732" y="442"/>
                <a:ext cx="5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(R)</a:t>
                </a:r>
              </a:p>
            </p:txBody>
          </p:sp>
          <p:sp>
            <p:nvSpPr>
              <p:cNvPr id="42052" name="Text Box 18"/>
              <p:cNvSpPr txBox="1">
                <a:spLocks noChangeArrowheads="1"/>
              </p:cNvSpPr>
              <p:nvPr/>
            </p:nvSpPr>
            <p:spPr bwMode="auto">
              <a:xfrm>
                <a:off x="3853" y="350"/>
                <a:ext cx="16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t>
                </a:r>
              </a:p>
            </p:txBody>
          </p:sp>
        </p:grpSp>
      </p:grpSp>
      <p:sp>
        <p:nvSpPr>
          <p:cNvPr id="42000" name="Line 19"/>
          <p:cNvSpPr>
            <a:spLocks noChangeShapeType="1"/>
          </p:cNvSpPr>
          <p:nvPr/>
        </p:nvSpPr>
        <p:spPr bwMode="auto">
          <a:xfrm flipH="1">
            <a:off x="5289550" y="3403600"/>
            <a:ext cx="2165350" cy="2809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2001" name="Text Box 20"/>
          <p:cNvSpPr txBox="1">
            <a:spLocks noChangeArrowheads="1"/>
          </p:cNvSpPr>
          <p:nvPr/>
        </p:nvSpPr>
        <p:spPr bwMode="auto">
          <a:xfrm>
            <a:off x="5135563" y="3360738"/>
            <a:ext cx="2468562"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smtClean="0">
                <a:latin typeface="Arial" charset="0"/>
                <a:cs typeface="Arial" charset="0"/>
              </a:rPr>
              <a:t>Send me your public key</a:t>
            </a:r>
          </a:p>
        </p:txBody>
      </p:sp>
      <p:sp>
        <p:nvSpPr>
          <p:cNvPr id="42002" name="Line 21"/>
          <p:cNvSpPr>
            <a:spLocks noChangeShapeType="1"/>
          </p:cNvSpPr>
          <p:nvPr/>
        </p:nvSpPr>
        <p:spPr bwMode="auto">
          <a:xfrm>
            <a:off x="5319713" y="3922713"/>
            <a:ext cx="22494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70674" name="Group 22"/>
          <p:cNvGrpSpPr>
            <a:grpSpLocks/>
          </p:cNvGrpSpPr>
          <p:nvPr/>
        </p:nvGrpSpPr>
        <p:grpSpPr bwMode="auto">
          <a:xfrm>
            <a:off x="6937375" y="3525838"/>
            <a:ext cx="584200" cy="695325"/>
            <a:chOff x="4737" y="2510"/>
            <a:chExt cx="368" cy="438"/>
          </a:xfrm>
        </p:grpSpPr>
        <p:grpSp>
          <p:nvGrpSpPr>
            <p:cNvPr id="70716" name="Group 23"/>
            <p:cNvGrpSpPr>
              <a:grpSpLocks/>
            </p:cNvGrpSpPr>
            <p:nvPr/>
          </p:nvGrpSpPr>
          <p:grpSpPr bwMode="auto">
            <a:xfrm>
              <a:off x="4737" y="2620"/>
              <a:ext cx="368" cy="328"/>
              <a:chOff x="4737" y="2620"/>
              <a:chExt cx="368" cy="328"/>
            </a:xfrm>
          </p:grpSpPr>
          <p:sp>
            <p:nvSpPr>
              <p:cNvPr id="42047" name="Text Box 24"/>
              <p:cNvSpPr txBox="1">
                <a:spLocks noChangeArrowheads="1"/>
              </p:cNvSpPr>
              <p:nvPr/>
            </p:nvSpPr>
            <p:spPr bwMode="auto">
              <a:xfrm>
                <a:off x="4900" y="2715"/>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T</a:t>
                </a:r>
              </a:p>
            </p:txBody>
          </p:sp>
          <p:sp>
            <p:nvSpPr>
              <p:cNvPr id="42048" name="Text Box 25"/>
              <p:cNvSpPr txBox="1">
                <a:spLocks noChangeArrowheads="1"/>
              </p:cNvSpPr>
              <p:nvPr/>
            </p:nvSpPr>
            <p:spPr bwMode="auto">
              <a:xfrm>
                <a:off x="4737" y="2620"/>
                <a:ext cx="3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a:t>
                </a:r>
              </a:p>
            </p:txBody>
          </p:sp>
        </p:grpSp>
        <p:sp>
          <p:nvSpPr>
            <p:cNvPr id="42046" name="Text Box 26"/>
            <p:cNvSpPr txBox="1">
              <a:spLocks noChangeArrowheads="1"/>
            </p:cNvSpPr>
            <p:nvPr/>
          </p:nvSpPr>
          <p:spPr bwMode="auto">
            <a:xfrm>
              <a:off x="4892" y="2510"/>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sp>
        <p:nvSpPr>
          <p:cNvPr id="42004" name="Line 27"/>
          <p:cNvSpPr>
            <a:spLocks noChangeShapeType="1"/>
          </p:cNvSpPr>
          <p:nvPr/>
        </p:nvSpPr>
        <p:spPr bwMode="auto">
          <a:xfrm flipH="1">
            <a:off x="1900238" y="3430588"/>
            <a:ext cx="2165350" cy="2809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2005" name="Line 28"/>
          <p:cNvSpPr>
            <a:spLocks noChangeShapeType="1"/>
          </p:cNvSpPr>
          <p:nvPr/>
        </p:nvSpPr>
        <p:spPr bwMode="auto">
          <a:xfrm>
            <a:off x="1928813" y="3879850"/>
            <a:ext cx="22494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70677" name="Group 29"/>
          <p:cNvGrpSpPr>
            <a:grpSpLocks/>
          </p:cNvGrpSpPr>
          <p:nvPr/>
        </p:nvGrpSpPr>
        <p:grpSpPr bwMode="auto">
          <a:xfrm>
            <a:off x="3144838" y="3411538"/>
            <a:ext cx="850900" cy="654050"/>
            <a:chOff x="3732" y="350"/>
            <a:chExt cx="536" cy="412"/>
          </a:xfrm>
        </p:grpSpPr>
        <p:sp>
          <p:nvSpPr>
            <p:cNvPr id="42041" name="Text Box 30"/>
            <p:cNvSpPr txBox="1">
              <a:spLocks noChangeArrowheads="1"/>
            </p:cNvSpPr>
            <p:nvPr/>
          </p:nvSpPr>
          <p:spPr bwMode="auto">
            <a:xfrm>
              <a:off x="3815" y="531"/>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a:t>
              </a:r>
            </a:p>
          </p:txBody>
        </p:sp>
        <p:grpSp>
          <p:nvGrpSpPr>
            <p:cNvPr id="70713" name="Group 31"/>
            <p:cNvGrpSpPr>
              <a:grpSpLocks/>
            </p:cNvGrpSpPr>
            <p:nvPr/>
          </p:nvGrpSpPr>
          <p:grpSpPr bwMode="auto">
            <a:xfrm>
              <a:off x="3732" y="350"/>
              <a:ext cx="536" cy="325"/>
              <a:chOff x="3732" y="350"/>
              <a:chExt cx="536" cy="325"/>
            </a:xfrm>
          </p:grpSpPr>
          <p:sp>
            <p:nvSpPr>
              <p:cNvPr id="42043" name="Text Box 32"/>
              <p:cNvSpPr txBox="1">
                <a:spLocks noChangeArrowheads="1"/>
              </p:cNvSpPr>
              <p:nvPr/>
            </p:nvSpPr>
            <p:spPr bwMode="auto">
              <a:xfrm>
                <a:off x="3732" y="442"/>
                <a:ext cx="5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(R)</a:t>
                </a:r>
              </a:p>
            </p:txBody>
          </p:sp>
          <p:sp>
            <p:nvSpPr>
              <p:cNvPr id="42044" name="Text Box 33"/>
              <p:cNvSpPr txBox="1">
                <a:spLocks noChangeArrowheads="1"/>
              </p:cNvSpPr>
              <p:nvPr/>
            </p:nvSpPr>
            <p:spPr bwMode="auto">
              <a:xfrm>
                <a:off x="3838" y="350"/>
                <a:ext cx="16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grpSp>
      <p:sp>
        <p:nvSpPr>
          <p:cNvPr id="42007" name="Line 34"/>
          <p:cNvSpPr>
            <a:spLocks noChangeShapeType="1"/>
          </p:cNvSpPr>
          <p:nvPr/>
        </p:nvSpPr>
        <p:spPr bwMode="auto">
          <a:xfrm flipH="1">
            <a:off x="1966913" y="4048125"/>
            <a:ext cx="2165350" cy="2809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2008" name="Text Box 35"/>
          <p:cNvSpPr txBox="1">
            <a:spLocks noChangeArrowheads="1"/>
          </p:cNvSpPr>
          <p:nvPr/>
        </p:nvSpPr>
        <p:spPr bwMode="auto">
          <a:xfrm>
            <a:off x="1812925" y="4005263"/>
            <a:ext cx="2468563"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smtClean="0">
                <a:latin typeface="Arial" charset="0"/>
                <a:cs typeface="Arial" charset="0"/>
              </a:rPr>
              <a:t>Send me your public key</a:t>
            </a:r>
          </a:p>
        </p:txBody>
      </p:sp>
      <p:sp>
        <p:nvSpPr>
          <p:cNvPr id="42009" name="Line 36"/>
          <p:cNvSpPr>
            <a:spLocks noChangeShapeType="1"/>
          </p:cNvSpPr>
          <p:nvPr/>
        </p:nvSpPr>
        <p:spPr bwMode="auto">
          <a:xfrm>
            <a:off x="1997075" y="4567238"/>
            <a:ext cx="22494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70681" name="Group 37"/>
          <p:cNvGrpSpPr>
            <a:grpSpLocks/>
          </p:cNvGrpSpPr>
          <p:nvPr/>
        </p:nvGrpSpPr>
        <p:grpSpPr bwMode="auto">
          <a:xfrm>
            <a:off x="3500438" y="4125913"/>
            <a:ext cx="569912" cy="654050"/>
            <a:chOff x="4737" y="2534"/>
            <a:chExt cx="359" cy="412"/>
          </a:xfrm>
        </p:grpSpPr>
        <p:grpSp>
          <p:nvGrpSpPr>
            <p:cNvPr id="70708" name="Group 38"/>
            <p:cNvGrpSpPr>
              <a:grpSpLocks/>
            </p:cNvGrpSpPr>
            <p:nvPr/>
          </p:nvGrpSpPr>
          <p:grpSpPr bwMode="auto">
            <a:xfrm>
              <a:off x="4737" y="2620"/>
              <a:ext cx="359" cy="326"/>
              <a:chOff x="4737" y="2620"/>
              <a:chExt cx="359" cy="326"/>
            </a:xfrm>
          </p:grpSpPr>
          <p:sp>
            <p:nvSpPr>
              <p:cNvPr id="42039" name="Text Box 39"/>
              <p:cNvSpPr txBox="1">
                <a:spLocks noChangeArrowheads="1"/>
              </p:cNvSpPr>
              <p:nvPr/>
            </p:nvSpPr>
            <p:spPr bwMode="auto">
              <a:xfrm>
                <a:off x="4875" y="2715"/>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a:t>
                </a:r>
              </a:p>
            </p:txBody>
          </p:sp>
          <p:sp>
            <p:nvSpPr>
              <p:cNvPr id="42040" name="Text Box 40"/>
              <p:cNvSpPr txBox="1">
                <a:spLocks noChangeArrowheads="1"/>
              </p:cNvSpPr>
              <p:nvPr/>
            </p:nvSpPr>
            <p:spPr bwMode="auto">
              <a:xfrm>
                <a:off x="4737" y="2620"/>
                <a:ext cx="3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a:t>
                </a:r>
              </a:p>
            </p:txBody>
          </p:sp>
        </p:grpSp>
        <p:sp>
          <p:nvSpPr>
            <p:cNvPr id="42038" name="Text Box 41"/>
            <p:cNvSpPr txBox="1">
              <a:spLocks noChangeArrowheads="1"/>
            </p:cNvSpPr>
            <p:nvPr/>
          </p:nvSpPr>
          <p:spPr bwMode="auto">
            <a:xfrm>
              <a:off x="4883" y="2534"/>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sp>
        <p:nvSpPr>
          <p:cNvPr id="42011" name="Line 42"/>
          <p:cNvSpPr>
            <a:spLocks noChangeShapeType="1"/>
          </p:cNvSpPr>
          <p:nvPr/>
        </p:nvSpPr>
        <p:spPr bwMode="auto">
          <a:xfrm flipH="1" flipV="1">
            <a:off x="5364163" y="5024438"/>
            <a:ext cx="2168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70683" name="Group 43"/>
          <p:cNvGrpSpPr>
            <a:grpSpLocks/>
          </p:cNvGrpSpPr>
          <p:nvPr/>
        </p:nvGrpSpPr>
        <p:grpSpPr bwMode="auto">
          <a:xfrm>
            <a:off x="5975350" y="4506913"/>
            <a:ext cx="874713" cy="681037"/>
            <a:chOff x="3670" y="3430"/>
            <a:chExt cx="551" cy="429"/>
          </a:xfrm>
        </p:grpSpPr>
        <p:sp>
          <p:nvSpPr>
            <p:cNvPr id="42034" name="Text Box 44"/>
            <p:cNvSpPr txBox="1">
              <a:spLocks noChangeArrowheads="1"/>
            </p:cNvSpPr>
            <p:nvPr/>
          </p:nvSpPr>
          <p:spPr bwMode="auto">
            <a:xfrm>
              <a:off x="3778" y="3626"/>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T</a:t>
              </a:r>
            </a:p>
          </p:txBody>
        </p:sp>
        <p:sp>
          <p:nvSpPr>
            <p:cNvPr id="42035" name="Text Box 45"/>
            <p:cNvSpPr txBox="1">
              <a:spLocks noChangeArrowheads="1"/>
            </p:cNvSpPr>
            <p:nvPr/>
          </p:nvSpPr>
          <p:spPr bwMode="auto">
            <a:xfrm>
              <a:off x="3670" y="3540"/>
              <a:ext cx="55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(m)</a:t>
              </a:r>
            </a:p>
          </p:txBody>
        </p:sp>
        <p:sp>
          <p:nvSpPr>
            <p:cNvPr id="42036" name="Text Box 46"/>
            <p:cNvSpPr txBox="1">
              <a:spLocks noChangeArrowheads="1"/>
            </p:cNvSpPr>
            <p:nvPr/>
          </p:nvSpPr>
          <p:spPr bwMode="auto">
            <a:xfrm>
              <a:off x="3726" y="3430"/>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t>
              </a:r>
            </a:p>
          </p:txBody>
        </p:sp>
      </p:grpSp>
      <p:grpSp>
        <p:nvGrpSpPr>
          <p:cNvPr id="70684" name="Group 47"/>
          <p:cNvGrpSpPr>
            <a:grpSpLocks/>
          </p:cNvGrpSpPr>
          <p:nvPr/>
        </p:nvGrpSpPr>
        <p:grpSpPr bwMode="auto">
          <a:xfrm>
            <a:off x="3814763" y="5006975"/>
            <a:ext cx="1768475" cy="719138"/>
            <a:chOff x="1299" y="3314"/>
            <a:chExt cx="1114" cy="453"/>
          </a:xfrm>
        </p:grpSpPr>
        <p:sp>
          <p:nvSpPr>
            <p:cNvPr id="42029" name="Text Box 48"/>
            <p:cNvSpPr txBox="1">
              <a:spLocks noChangeArrowheads="1"/>
            </p:cNvSpPr>
            <p:nvPr/>
          </p:nvSpPr>
          <p:spPr bwMode="auto">
            <a:xfrm>
              <a:off x="1661" y="3526"/>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T</a:t>
              </a:r>
            </a:p>
          </p:txBody>
        </p:sp>
        <p:sp>
          <p:nvSpPr>
            <p:cNvPr id="42030" name="Text Box 49"/>
            <p:cNvSpPr txBox="1">
              <a:spLocks noChangeArrowheads="1"/>
            </p:cNvSpPr>
            <p:nvPr/>
          </p:nvSpPr>
          <p:spPr bwMode="auto">
            <a:xfrm>
              <a:off x="1299" y="3414"/>
              <a:ext cx="111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latin typeface="Arial" charset="0"/>
                  <a:cs typeface="Arial" charset="0"/>
                </a:rPr>
                <a:t>m = K  (K   (m))</a:t>
              </a:r>
            </a:p>
          </p:txBody>
        </p:sp>
        <p:sp>
          <p:nvSpPr>
            <p:cNvPr id="42031" name="Text Box 50"/>
            <p:cNvSpPr txBox="1">
              <a:spLocks noChangeArrowheads="1"/>
            </p:cNvSpPr>
            <p:nvPr/>
          </p:nvSpPr>
          <p:spPr bwMode="auto">
            <a:xfrm>
              <a:off x="1901" y="3332"/>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t>
              </a:r>
            </a:p>
          </p:txBody>
        </p:sp>
        <p:sp>
          <p:nvSpPr>
            <p:cNvPr id="42032" name="Text Box 51"/>
            <p:cNvSpPr txBox="1">
              <a:spLocks noChangeArrowheads="1"/>
            </p:cNvSpPr>
            <p:nvPr/>
          </p:nvSpPr>
          <p:spPr bwMode="auto">
            <a:xfrm>
              <a:off x="1905" y="3534"/>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T</a:t>
              </a:r>
            </a:p>
          </p:txBody>
        </p:sp>
        <p:sp>
          <p:nvSpPr>
            <p:cNvPr id="42033" name="Text Box 52"/>
            <p:cNvSpPr txBox="1">
              <a:spLocks noChangeArrowheads="1"/>
            </p:cNvSpPr>
            <p:nvPr/>
          </p:nvSpPr>
          <p:spPr bwMode="auto">
            <a:xfrm>
              <a:off x="1688" y="3314"/>
              <a:ext cx="16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sp>
        <p:nvSpPr>
          <p:cNvPr id="42014" name="Text Box 53"/>
          <p:cNvSpPr txBox="1">
            <a:spLocks noChangeArrowheads="1"/>
          </p:cNvSpPr>
          <p:nvPr/>
        </p:nvSpPr>
        <p:spPr bwMode="auto">
          <a:xfrm>
            <a:off x="3946525" y="4819650"/>
            <a:ext cx="12668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latin typeface="Arial" charset="0"/>
                <a:cs typeface="Arial" charset="0"/>
              </a:rPr>
              <a:t>Trudy gets</a:t>
            </a:r>
          </a:p>
        </p:txBody>
      </p:sp>
      <p:sp>
        <p:nvSpPr>
          <p:cNvPr id="42015" name="Text Box 54"/>
          <p:cNvSpPr txBox="1">
            <a:spLocks noChangeArrowheads="1"/>
          </p:cNvSpPr>
          <p:nvPr/>
        </p:nvSpPr>
        <p:spPr bwMode="auto">
          <a:xfrm>
            <a:off x="3714750" y="5511800"/>
            <a:ext cx="2001838"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sends m to Alice encrypted with Alice</a:t>
            </a:r>
            <a:r>
              <a:rPr lang="ja-JP" altLang="en-US" sz="1800">
                <a:latin typeface="Arial" pitchFamily="34" charset="0"/>
                <a:cs typeface="Arial" pitchFamily="34" charset="0"/>
              </a:rPr>
              <a:t>’</a:t>
            </a:r>
            <a:r>
              <a:rPr lang="en-US" altLang="ja-JP" sz="1800">
                <a:latin typeface="Arial" pitchFamily="34" charset="0"/>
                <a:cs typeface="Arial" pitchFamily="34" charset="0"/>
              </a:rPr>
              <a:t>s public key</a:t>
            </a:r>
            <a:endParaRPr lang="en-US" altLang="en-US" sz="1800">
              <a:latin typeface="Arial" pitchFamily="34" charset="0"/>
              <a:cs typeface="Arial" pitchFamily="34" charset="0"/>
            </a:endParaRPr>
          </a:p>
        </p:txBody>
      </p:sp>
      <p:sp>
        <p:nvSpPr>
          <p:cNvPr id="42016" name="Line 55"/>
          <p:cNvSpPr>
            <a:spLocks noChangeShapeType="1"/>
          </p:cNvSpPr>
          <p:nvPr/>
        </p:nvSpPr>
        <p:spPr bwMode="auto">
          <a:xfrm flipH="1">
            <a:off x="1782763" y="5767388"/>
            <a:ext cx="1712912" cy="6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70688" name="Group 56"/>
          <p:cNvGrpSpPr>
            <a:grpSpLocks/>
          </p:cNvGrpSpPr>
          <p:nvPr/>
        </p:nvGrpSpPr>
        <p:grpSpPr bwMode="auto">
          <a:xfrm>
            <a:off x="2566988" y="5230813"/>
            <a:ext cx="806450" cy="677862"/>
            <a:chOff x="3691" y="3430"/>
            <a:chExt cx="508" cy="427"/>
          </a:xfrm>
        </p:grpSpPr>
        <p:sp>
          <p:nvSpPr>
            <p:cNvPr id="42026" name="Text Box 57"/>
            <p:cNvSpPr txBox="1">
              <a:spLocks noChangeArrowheads="1"/>
            </p:cNvSpPr>
            <p:nvPr/>
          </p:nvSpPr>
          <p:spPr bwMode="auto">
            <a:xfrm>
              <a:off x="3771" y="3626"/>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a:t>
              </a:r>
              <a:endParaRPr lang="en-US" sz="2400" smtClean="0">
                <a:latin typeface="Arial" charset="0"/>
                <a:cs typeface="Arial" charset="0"/>
              </a:endParaRPr>
            </a:p>
          </p:txBody>
        </p:sp>
        <p:sp>
          <p:nvSpPr>
            <p:cNvPr id="42027" name="Text Box 58"/>
            <p:cNvSpPr txBox="1">
              <a:spLocks noChangeArrowheads="1"/>
            </p:cNvSpPr>
            <p:nvPr/>
          </p:nvSpPr>
          <p:spPr bwMode="auto">
            <a:xfrm>
              <a:off x="3691" y="3540"/>
              <a:ext cx="5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(m)</a:t>
              </a:r>
            </a:p>
          </p:txBody>
        </p:sp>
        <p:sp>
          <p:nvSpPr>
            <p:cNvPr id="42028" name="Text Box 59"/>
            <p:cNvSpPr txBox="1">
              <a:spLocks noChangeArrowheads="1"/>
            </p:cNvSpPr>
            <p:nvPr/>
          </p:nvSpPr>
          <p:spPr bwMode="auto">
            <a:xfrm>
              <a:off x="3765" y="3430"/>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grpSp>
        <p:nvGrpSpPr>
          <p:cNvPr id="70689" name="Group 60"/>
          <p:cNvGrpSpPr>
            <a:grpSpLocks/>
          </p:cNvGrpSpPr>
          <p:nvPr/>
        </p:nvGrpSpPr>
        <p:grpSpPr bwMode="auto">
          <a:xfrm>
            <a:off x="296863" y="5646738"/>
            <a:ext cx="1768475" cy="711200"/>
            <a:chOff x="1299" y="3317"/>
            <a:chExt cx="1114" cy="448"/>
          </a:xfrm>
        </p:grpSpPr>
        <p:sp>
          <p:nvSpPr>
            <p:cNvPr id="42021" name="Text Box 61"/>
            <p:cNvSpPr txBox="1">
              <a:spLocks noChangeArrowheads="1"/>
            </p:cNvSpPr>
            <p:nvPr/>
          </p:nvSpPr>
          <p:spPr bwMode="auto">
            <a:xfrm>
              <a:off x="1654" y="3526"/>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a:t>
              </a:r>
            </a:p>
          </p:txBody>
        </p:sp>
        <p:sp>
          <p:nvSpPr>
            <p:cNvPr id="42022" name="Text Box 62"/>
            <p:cNvSpPr txBox="1">
              <a:spLocks noChangeArrowheads="1"/>
            </p:cNvSpPr>
            <p:nvPr/>
          </p:nvSpPr>
          <p:spPr bwMode="auto">
            <a:xfrm>
              <a:off x="1299" y="3414"/>
              <a:ext cx="111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latin typeface="Arial" charset="0"/>
                  <a:cs typeface="Arial" charset="0"/>
                </a:rPr>
                <a:t>m = K  (K   (m))</a:t>
              </a:r>
            </a:p>
          </p:txBody>
        </p:sp>
        <p:sp>
          <p:nvSpPr>
            <p:cNvPr id="42023" name="Text Box 63"/>
            <p:cNvSpPr txBox="1">
              <a:spLocks noChangeArrowheads="1"/>
            </p:cNvSpPr>
            <p:nvPr/>
          </p:nvSpPr>
          <p:spPr bwMode="auto">
            <a:xfrm>
              <a:off x="1901" y="3332"/>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t>
              </a:r>
            </a:p>
          </p:txBody>
        </p:sp>
        <p:sp>
          <p:nvSpPr>
            <p:cNvPr id="42024" name="Text Box 64"/>
            <p:cNvSpPr txBox="1">
              <a:spLocks noChangeArrowheads="1"/>
            </p:cNvSpPr>
            <p:nvPr/>
          </p:nvSpPr>
          <p:spPr bwMode="auto">
            <a:xfrm>
              <a:off x="1898" y="3534"/>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a:t>
              </a:r>
            </a:p>
          </p:txBody>
        </p:sp>
        <p:sp>
          <p:nvSpPr>
            <p:cNvPr id="42025" name="Text Box 65"/>
            <p:cNvSpPr txBox="1">
              <a:spLocks noChangeArrowheads="1"/>
            </p:cNvSpPr>
            <p:nvPr/>
          </p:nvSpPr>
          <p:spPr bwMode="auto">
            <a:xfrm>
              <a:off x="1685" y="3317"/>
              <a:ext cx="16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sp>
        <p:nvSpPr>
          <p:cNvPr id="42019" name="Text Box 66"/>
          <p:cNvSpPr txBox="1">
            <a:spLocks noChangeArrowheads="1"/>
          </p:cNvSpPr>
          <p:nvPr/>
        </p:nvSpPr>
        <p:spPr bwMode="auto">
          <a:xfrm>
            <a:off x="2224088" y="3305175"/>
            <a:ext cx="3524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R</a:t>
            </a:r>
          </a:p>
        </p:txBody>
      </p:sp>
      <p:pic>
        <p:nvPicPr>
          <p:cNvPr id="70691" name="Picture 22"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950" y="827088"/>
            <a:ext cx="45704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1" name="Picture 6" descr="Alic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71613" y="2430463"/>
            <a:ext cx="409575" cy="50482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3011"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pic>
        <p:nvPicPr>
          <p:cNvPr id="71683" name="Picture 4" descr="Bob"/>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8343900" y="2306638"/>
            <a:ext cx="800100" cy="817562"/>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684" name="Picture 5" descr="Ev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9263" y="2203450"/>
            <a:ext cx="954087"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4" name="Line 7"/>
          <p:cNvSpPr>
            <a:spLocks noChangeShapeType="1"/>
          </p:cNvSpPr>
          <p:nvPr/>
        </p:nvSpPr>
        <p:spPr bwMode="auto">
          <a:xfrm>
            <a:off x="1936750" y="2678113"/>
            <a:ext cx="2249488"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3015" name="Line 8"/>
          <p:cNvSpPr>
            <a:spLocks noChangeShapeType="1"/>
          </p:cNvSpPr>
          <p:nvPr/>
        </p:nvSpPr>
        <p:spPr bwMode="auto">
          <a:xfrm>
            <a:off x="5183188" y="2717800"/>
            <a:ext cx="2249487"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16" name="Rectangle 3"/>
          <p:cNvSpPr txBox="1">
            <a:spLocks noChangeArrowheads="1"/>
          </p:cNvSpPr>
          <p:nvPr/>
        </p:nvSpPr>
        <p:spPr bwMode="auto">
          <a:xfrm>
            <a:off x="730250" y="3498850"/>
            <a:ext cx="7708900" cy="275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000099"/>
              </a:buClr>
              <a:buSzPct val="70000"/>
              <a:buFont typeface="Wingdings" pitchFamily="2" charset="2"/>
              <a:buChar char="v"/>
              <a:defRPr sz="2800">
                <a:solidFill>
                  <a:schemeClr val="tx1"/>
                </a:solidFill>
                <a:latin typeface="Gill Sans MT" pitchFamily="34" charset="0"/>
                <a:ea typeface="+mn-ea"/>
                <a:cs typeface="+mn-cs"/>
              </a:defRPr>
            </a:lvl1pPr>
            <a:lvl2pPr marL="742950" indent="-285750" algn="l" rtl="0" eaLnBrk="0" fontAlgn="base" hangingPunct="0">
              <a:spcBef>
                <a:spcPct val="20000"/>
              </a:spcBef>
              <a:spcAft>
                <a:spcPct val="0"/>
              </a:spcAft>
              <a:buClr>
                <a:srgbClr val="000099"/>
              </a:buClr>
              <a:buFont typeface="Wingdings" pitchFamily="2" charset="2"/>
              <a:buChar char="§"/>
              <a:defRPr sz="2400">
                <a:solidFill>
                  <a:schemeClr val="tx1"/>
                </a:solidFill>
                <a:latin typeface="Gill Sans MT" pitchFamily="34" charset="0"/>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a:lstStyle>
          <a:p>
            <a:pPr marL="0" indent="0">
              <a:buFont typeface="Wingdings" pitchFamily="2" charset="2"/>
              <a:buNone/>
              <a:defRPr/>
            </a:pPr>
            <a:r>
              <a:rPr lang="en-US" dirty="0"/>
              <a:t>d</a:t>
            </a:r>
            <a:r>
              <a:rPr lang="en-US" dirty="0" smtClean="0"/>
              <a:t>ifficult to detect:</a:t>
            </a:r>
          </a:p>
          <a:p>
            <a:pPr>
              <a:defRPr/>
            </a:pPr>
            <a:r>
              <a:rPr lang="en-US" sz="2400" dirty="0" smtClean="0"/>
              <a:t>Bob receives everything that Alice sends, and vice versa. (e.g., so Bob, Alice can meet one week later and recall conversation!)</a:t>
            </a:r>
          </a:p>
          <a:p>
            <a:pPr>
              <a:defRPr/>
            </a:pPr>
            <a:r>
              <a:rPr lang="en-US" sz="2400" dirty="0" smtClean="0"/>
              <a:t>problem is that Trudy receives all messages as well! </a:t>
            </a:r>
          </a:p>
        </p:txBody>
      </p:sp>
      <p:sp>
        <p:nvSpPr>
          <p:cNvPr id="71688" name="Rectangle 2"/>
          <p:cNvSpPr>
            <a:spLocks noGrp="1" noChangeArrowheads="1"/>
          </p:cNvSpPr>
          <p:nvPr>
            <p:ph type="title"/>
          </p:nvPr>
        </p:nvSpPr>
        <p:spPr>
          <a:xfrm>
            <a:off x="457200" y="123825"/>
            <a:ext cx="4800600" cy="952500"/>
          </a:xfrm>
        </p:spPr>
        <p:txBody>
          <a:bodyPr/>
          <a:lstStyle/>
          <a:p>
            <a:r>
              <a:rPr lang="en-US" altLang="en-US" smtClean="0">
                <a:ea typeface="ＭＳ Ｐゴシック" pitchFamily="34" charset="-128"/>
              </a:rPr>
              <a:t>ap5.0: security hole</a:t>
            </a:r>
          </a:p>
        </p:txBody>
      </p:sp>
      <p:sp>
        <p:nvSpPr>
          <p:cNvPr id="71689" name="Rectangle 3"/>
          <p:cNvSpPr txBox="1">
            <a:spLocks noChangeArrowheads="1"/>
          </p:cNvSpPr>
          <p:nvPr/>
        </p:nvSpPr>
        <p:spPr bwMode="auto">
          <a:xfrm>
            <a:off x="455613" y="1084263"/>
            <a:ext cx="7593012"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rgbClr val="000099"/>
              </a:buClr>
              <a:buSzPct val="70000"/>
              <a:buFont typeface="Wingdings" pitchFamily="2" charset="2"/>
              <a:buNone/>
            </a:pPr>
            <a:r>
              <a:rPr lang="en-US" altLang="en-US" sz="2400" i="1">
                <a:solidFill>
                  <a:srgbClr val="C00000"/>
                </a:solidFill>
                <a:latin typeface="Gill Sans MT" pitchFamily="34" charset="0"/>
              </a:rPr>
              <a:t>man (or woman) in the middle attack: </a:t>
            </a:r>
            <a:r>
              <a:rPr lang="en-US" altLang="en-US" sz="2400">
                <a:latin typeface="Gill Sans MT" pitchFamily="34" charset="0"/>
              </a:rPr>
              <a:t>Trudy poses as Alice (to Bob) and as Bob (to Alice)</a:t>
            </a:r>
          </a:p>
        </p:txBody>
      </p:sp>
      <p:pic>
        <p:nvPicPr>
          <p:cNvPr id="71690" name="Picture 22"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950" y="827088"/>
            <a:ext cx="45704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72706" name="Rectangle 2"/>
          <p:cNvSpPr>
            <a:spLocks noGrp="1" noChangeArrowheads="1"/>
          </p:cNvSpPr>
          <p:nvPr>
            <p:ph type="title"/>
          </p:nvPr>
        </p:nvSpPr>
        <p:spPr/>
        <p:txBody>
          <a:bodyPr/>
          <a:lstStyle/>
          <a:p>
            <a:r>
              <a:rPr lang="en-US" altLang="en-US" smtClean="0">
                <a:ea typeface="ＭＳ Ｐゴシック" pitchFamily="34" charset="-128"/>
              </a:rPr>
              <a:t>Chapter 8 roadmap</a:t>
            </a:r>
          </a:p>
        </p:txBody>
      </p:sp>
      <p:sp>
        <p:nvSpPr>
          <p:cNvPr id="72707" name="Rectangle 3"/>
          <p:cNvSpPr>
            <a:spLocks noGrp="1" noChangeArrowheads="1"/>
          </p:cNvSpPr>
          <p:nvPr>
            <p:ph type="body" idx="1"/>
          </p:nvPr>
        </p:nvSpPr>
        <p:spPr>
          <a:xfrm>
            <a:off x="650875" y="1668463"/>
            <a:ext cx="7772400" cy="4648200"/>
          </a:xfrm>
        </p:spPr>
        <p:txBody>
          <a:bodyPr/>
          <a:lstStyle/>
          <a:p>
            <a:pPr>
              <a:buFont typeface="Wingdings" pitchFamily="2" charset="2"/>
              <a:buNone/>
            </a:pPr>
            <a:r>
              <a:rPr lang="en-US" altLang="en-US" smtClean="0">
                <a:solidFill>
                  <a:srgbClr val="000099"/>
                </a:solidFill>
                <a:ea typeface="ＭＳ Ｐゴシック" pitchFamily="34" charset="-128"/>
              </a:rPr>
              <a:t>8.1</a:t>
            </a:r>
            <a:r>
              <a:rPr lang="en-US" altLang="en-US" smtClean="0">
                <a:ea typeface="ＭＳ Ｐゴシック" pitchFamily="34" charset="-128"/>
              </a:rPr>
              <a:t> What is network security?</a:t>
            </a:r>
          </a:p>
          <a:p>
            <a:pPr>
              <a:buFont typeface="Wingdings" pitchFamily="2" charset="2"/>
              <a:buNone/>
            </a:pPr>
            <a:r>
              <a:rPr lang="en-US" altLang="en-US" smtClean="0">
                <a:solidFill>
                  <a:srgbClr val="000099"/>
                </a:solidFill>
                <a:ea typeface="ＭＳ Ｐゴシック" pitchFamily="34" charset="-128"/>
              </a:rPr>
              <a:t>8.2</a:t>
            </a:r>
            <a:r>
              <a:rPr lang="en-US" altLang="en-US" smtClean="0">
                <a:ea typeface="ＭＳ Ｐゴシック" pitchFamily="34" charset="-128"/>
              </a:rPr>
              <a:t> Principles of cryptography</a:t>
            </a:r>
          </a:p>
          <a:p>
            <a:pPr>
              <a:buFont typeface="Wingdings" pitchFamily="2" charset="2"/>
              <a:buNone/>
            </a:pPr>
            <a:r>
              <a:rPr lang="en-US" altLang="en-US" i="1" smtClean="0">
                <a:solidFill>
                  <a:srgbClr val="C00000"/>
                </a:solidFill>
                <a:ea typeface="ＭＳ Ｐゴシック" pitchFamily="34" charset="-128"/>
              </a:rPr>
              <a:t>8.3 Message integrity, </a:t>
            </a:r>
            <a:r>
              <a:rPr lang="en-US" altLang="en-US" smtClean="0">
                <a:ea typeface="ＭＳ Ｐゴシック" pitchFamily="34" charset="-128"/>
              </a:rPr>
              <a:t>authentication</a:t>
            </a:r>
          </a:p>
          <a:p>
            <a:pPr>
              <a:buFont typeface="Wingdings" pitchFamily="2" charset="2"/>
              <a:buNone/>
            </a:pPr>
            <a:r>
              <a:rPr lang="en-US" altLang="en-US" smtClean="0">
                <a:solidFill>
                  <a:srgbClr val="000099"/>
                </a:solidFill>
                <a:ea typeface="ＭＳ Ｐゴシック" pitchFamily="34" charset="-128"/>
              </a:rPr>
              <a:t>8.4 </a:t>
            </a:r>
            <a:r>
              <a:rPr lang="en-US" altLang="en-US" smtClean="0">
                <a:ea typeface="ＭＳ Ｐゴシック" pitchFamily="34" charset="-128"/>
              </a:rPr>
              <a:t>Securing e-mail</a:t>
            </a:r>
          </a:p>
          <a:p>
            <a:pPr>
              <a:buFont typeface="Wingdings" pitchFamily="2" charset="2"/>
              <a:buNone/>
            </a:pPr>
            <a:r>
              <a:rPr lang="en-US" altLang="en-US" smtClean="0">
                <a:solidFill>
                  <a:srgbClr val="000099"/>
                </a:solidFill>
                <a:ea typeface="ＭＳ Ｐゴシック" pitchFamily="34" charset="-128"/>
              </a:rPr>
              <a:t>8.5</a:t>
            </a:r>
            <a:r>
              <a:rPr lang="en-US" altLang="en-US" smtClean="0">
                <a:ea typeface="ＭＳ Ｐゴシック" pitchFamily="34" charset="-128"/>
              </a:rPr>
              <a:t> Securing TCP connections: SSL</a:t>
            </a:r>
          </a:p>
          <a:p>
            <a:pPr>
              <a:buFont typeface="Wingdings" pitchFamily="2" charset="2"/>
              <a:buNone/>
            </a:pPr>
            <a:r>
              <a:rPr lang="en-US" altLang="en-US" smtClean="0">
                <a:solidFill>
                  <a:srgbClr val="000099"/>
                </a:solidFill>
                <a:ea typeface="ＭＳ Ｐゴシック" pitchFamily="34" charset="-128"/>
              </a:rPr>
              <a:t>8.6</a:t>
            </a:r>
            <a:r>
              <a:rPr lang="en-US" altLang="en-US" smtClean="0">
                <a:ea typeface="ＭＳ Ｐゴシック" pitchFamily="34" charset="-128"/>
              </a:rPr>
              <a:t> Network layer security: IPsec</a:t>
            </a:r>
          </a:p>
          <a:p>
            <a:pPr>
              <a:buFont typeface="Wingdings" pitchFamily="2" charset="2"/>
              <a:buNone/>
            </a:pPr>
            <a:r>
              <a:rPr lang="en-US" altLang="en-US" smtClean="0">
                <a:solidFill>
                  <a:srgbClr val="000099"/>
                </a:solidFill>
                <a:ea typeface="ＭＳ Ｐゴシック" pitchFamily="34" charset="-128"/>
              </a:rPr>
              <a:t>8.7</a:t>
            </a:r>
            <a:r>
              <a:rPr lang="en-US" altLang="en-US" smtClean="0">
                <a:ea typeface="ＭＳ Ｐゴシック" pitchFamily="34" charset="-128"/>
              </a:rPr>
              <a:t> Securing wireless LANs</a:t>
            </a:r>
          </a:p>
          <a:p>
            <a:pPr>
              <a:buFont typeface="Wingdings" pitchFamily="2" charset="2"/>
              <a:buNone/>
            </a:pPr>
            <a:r>
              <a:rPr lang="en-US" altLang="en-US" smtClean="0">
                <a:solidFill>
                  <a:srgbClr val="000099"/>
                </a:solidFill>
                <a:ea typeface="ＭＳ Ｐゴシック" pitchFamily="34" charset="-128"/>
              </a:rPr>
              <a:t>8.8</a:t>
            </a:r>
            <a:r>
              <a:rPr lang="en-US" altLang="en-US" smtClean="0">
                <a:ea typeface="ＭＳ Ｐゴシック" pitchFamily="34" charset="-128"/>
              </a:rPr>
              <a:t> Operational security: firewalls and IDS</a:t>
            </a:r>
          </a:p>
        </p:txBody>
      </p:sp>
      <p:pic>
        <p:nvPicPr>
          <p:cNvPr id="72708" name="Picture 22"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238" y="1066800"/>
            <a:ext cx="4570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74754" name="Rectangle 2"/>
          <p:cNvSpPr>
            <a:spLocks noGrp="1" noChangeArrowheads="1"/>
          </p:cNvSpPr>
          <p:nvPr>
            <p:ph type="title"/>
          </p:nvPr>
        </p:nvSpPr>
        <p:spPr>
          <a:xfrm>
            <a:off x="533400" y="228600"/>
            <a:ext cx="4583113" cy="1143000"/>
          </a:xfrm>
        </p:spPr>
        <p:txBody>
          <a:bodyPr/>
          <a:lstStyle/>
          <a:p>
            <a:r>
              <a:rPr lang="en-US" altLang="en-US" smtClean="0">
                <a:ea typeface="ＭＳ Ｐゴシック" pitchFamily="34" charset="-128"/>
              </a:rPr>
              <a:t>Digital signatures </a:t>
            </a:r>
          </a:p>
        </p:txBody>
      </p:sp>
      <p:sp>
        <p:nvSpPr>
          <p:cNvPr id="74755" name="Rectangle 3"/>
          <p:cNvSpPr>
            <a:spLocks noGrp="1" noChangeArrowheads="1"/>
          </p:cNvSpPr>
          <p:nvPr>
            <p:ph type="body" sz="half" idx="1"/>
          </p:nvPr>
        </p:nvSpPr>
        <p:spPr>
          <a:xfrm>
            <a:off x="711200" y="1677988"/>
            <a:ext cx="7708900" cy="4648200"/>
          </a:xfrm>
        </p:spPr>
        <p:txBody>
          <a:bodyPr/>
          <a:lstStyle/>
          <a:p>
            <a:pPr>
              <a:buFont typeface="Wingdings" pitchFamily="2" charset="2"/>
              <a:buNone/>
            </a:pPr>
            <a:r>
              <a:rPr lang="en-US" altLang="en-US" smtClean="0">
                <a:solidFill>
                  <a:srgbClr val="C00000"/>
                </a:solidFill>
                <a:ea typeface="ＭＳ Ｐゴシック" pitchFamily="34" charset="-128"/>
              </a:rPr>
              <a:t>cryptographic technique analogous to hand-written signatures:</a:t>
            </a:r>
          </a:p>
          <a:p>
            <a:r>
              <a:rPr lang="en-US" altLang="en-US" sz="2600" smtClean="0">
                <a:ea typeface="ＭＳ Ｐゴシック" pitchFamily="34" charset="-128"/>
              </a:rPr>
              <a:t>sender (Bob) digitally signs document,  establishing he is document owner/creator. </a:t>
            </a:r>
          </a:p>
          <a:p>
            <a:r>
              <a:rPr lang="en-US" altLang="en-US" sz="2600" i="1" smtClean="0">
                <a:solidFill>
                  <a:srgbClr val="000099"/>
                </a:solidFill>
                <a:ea typeface="ＭＳ Ｐゴシック" pitchFamily="34" charset="-128"/>
              </a:rPr>
              <a:t>verifiable, nonforgeable:</a:t>
            </a:r>
            <a:r>
              <a:rPr lang="en-US" altLang="en-US" sz="2600" i="1" smtClean="0">
                <a:ea typeface="ＭＳ Ｐゴシック" pitchFamily="34" charset="-128"/>
              </a:rPr>
              <a:t> </a:t>
            </a:r>
            <a:r>
              <a:rPr lang="en-US" altLang="en-US" sz="2600" smtClean="0">
                <a:ea typeface="ＭＳ Ｐゴシック" pitchFamily="34" charset="-128"/>
              </a:rPr>
              <a:t>recipient (Alice) can prove to someone that Bob, and no one else (including Alice), must have signed document </a:t>
            </a:r>
          </a:p>
        </p:txBody>
      </p:sp>
      <p:pic>
        <p:nvPicPr>
          <p:cNvPr id="74756" name="Picture 23"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488" y="1081088"/>
            <a:ext cx="41132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46083" name="Rectangle 2"/>
          <p:cNvSpPr>
            <a:spLocks noChangeArrowheads="1"/>
          </p:cNvSpPr>
          <p:nvPr/>
        </p:nvSpPr>
        <p:spPr bwMode="auto">
          <a:xfrm>
            <a:off x="6311900" y="3794125"/>
            <a:ext cx="2311400" cy="1549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46084" name="Rectangle 3"/>
          <p:cNvSpPr>
            <a:spLocks noChangeArrowheads="1"/>
          </p:cNvSpPr>
          <p:nvPr/>
        </p:nvSpPr>
        <p:spPr bwMode="auto">
          <a:xfrm>
            <a:off x="952500" y="3717925"/>
            <a:ext cx="2311400" cy="1549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75780" name="Rectangle 5"/>
          <p:cNvSpPr>
            <a:spLocks noGrp="1" noChangeArrowheads="1"/>
          </p:cNvSpPr>
          <p:nvPr>
            <p:ph type="body" sz="half" idx="2"/>
          </p:nvPr>
        </p:nvSpPr>
        <p:spPr>
          <a:xfrm>
            <a:off x="903288" y="1436688"/>
            <a:ext cx="7391400" cy="2032000"/>
          </a:xfrm>
        </p:spPr>
        <p:txBody>
          <a:bodyPr/>
          <a:lstStyle/>
          <a:p>
            <a:pPr>
              <a:buFont typeface="Wingdings" pitchFamily="2" charset="2"/>
              <a:buNone/>
            </a:pPr>
            <a:r>
              <a:rPr lang="en-US" altLang="en-US" smtClean="0">
                <a:solidFill>
                  <a:srgbClr val="C00000"/>
                </a:solidFill>
                <a:ea typeface="ＭＳ Ｐゴシック" pitchFamily="34" charset="-128"/>
              </a:rPr>
              <a:t>simple digital signature for message m:</a:t>
            </a:r>
          </a:p>
          <a:p>
            <a:r>
              <a:rPr lang="en-US" altLang="en-US" sz="2400" smtClean="0">
                <a:ea typeface="ＭＳ Ｐゴシック" pitchFamily="34" charset="-128"/>
              </a:rPr>
              <a:t>Bob signs m by encrypting with his private key K</a:t>
            </a:r>
            <a:r>
              <a:rPr lang="en-US" altLang="en-US" sz="2400" baseline="-25000" smtClean="0">
                <a:ea typeface="ＭＳ Ｐゴシック" pitchFamily="34" charset="-128"/>
              </a:rPr>
              <a:t>B</a:t>
            </a:r>
            <a:r>
              <a:rPr lang="en-US" altLang="en-US" sz="2400" smtClean="0">
                <a:ea typeface="ＭＳ Ｐゴシック" pitchFamily="34" charset="-128"/>
              </a:rPr>
              <a:t>, creating </a:t>
            </a:r>
            <a:r>
              <a:rPr lang="ja-JP" altLang="en-US" sz="2400" smtClean="0">
                <a:ea typeface="ＭＳ Ｐゴシック" pitchFamily="34" charset="-128"/>
              </a:rPr>
              <a:t>“</a:t>
            </a:r>
            <a:r>
              <a:rPr lang="en-US" altLang="ja-JP" sz="2400" smtClean="0">
                <a:ea typeface="ＭＳ Ｐゴシック" pitchFamily="34" charset="-128"/>
              </a:rPr>
              <a:t>signed</a:t>
            </a:r>
            <a:r>
              <a:rPr lang="ja-JP" altLang="en-US" sz="2400" smtClean="0">
                <a:ea typeface="ＭＳ Ｐゴシック" pitchFamily="34" charset="-128"/>
              </a:rPr>
              <a:t>”</a:t>
            </a:r>
            <a:r>
              <a:rPr lang="en-US" altLang="ja-JP" sz="2400" smtClean="0">
                <a:ea typeface="ＭＳ Ｐゴシック" pitchFamily="34" charset="-128"/>
              </a:rPr>
              <a:t> message, K</a:t>
            </a:r>
            <a:r>
              <a:rPr lang="en-US" altLang="ja-JP" sz="2400" baseline="-25000" smtClean="0">
                <a:ea typeface="ＭＳ Ｐゴシック" pitchFamily="34" charset="-128"/>
              </a:rPr>
              <a:t>B</a:t>
            </a:r>
            <a:r>
              <a:rPr lang="en-US" altLang="ja-JP" sz="2400" smtClean="0">
                <a:ea typeface="ＭＳ Ｐゴシック" pitchFamily="34" charset="-128"/>
              </a:rPr>
              <a:t>(m)</a:t>
            </a:r>
            <a:endParaRPr lang="en-US" altLang="en-US" smtClean="0">
              <a:ea typeface="ＭＳ Ｐゴシック" pitchFamily="34" charset="-128"/>
            </a:endParaRPr>
          </a:p>
        </p:txBody>
      </p:sp>
      <p:sp>
        <p:nvSpPr>
          <p:cNvPr id="46086" name="Text Box 6"/>
          <p:cNvSpPr txBox="1">
            <a:spLocks noChangeArrowheads="1"/>
          </p:cNvSpPr>
          <p:nvPr/>
        </p:nvSpPr>
        <p:spPr bwMode="auto">
          <a:xfrm>
            <a:off x="4638675" y="2152650"/>
            <a:ext cx="596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spcBef>
                <a:spcPct val="50000"/>
              </a:spcBef>
              <a:defRPr/>
            </a:pPr>
            <a:r>
              <a:rPr lang="en-US" smtClean="0"/>
              <a:t>-</a:t>
            </a:r>
          </a:p>
        </p:txBody>
      </p:sp>
      <p:sp>
        <p:nvSpPr>
          <p:cNvPr id="46087" name="Text Box 7"/>
          <p:cNvSpPr txBox="1">
            <a:spLocks noChangeArrowheads="1"/>
          </p:cNvSpPr>
          <p:nvPr/>
        </p:nvSpPr>
        <p:spPr bwMode="auto">
          <a:xfrm>
            <a:off x="7088188" y="1804988"/>
            <a:ext cx="596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spcBef>
                <a:spcPct val="50000"/>
              </a:spcBef>
              <a:defRPr/>
            </a:pPr>
            <a:r>
              <a:rPr lang="en-US" smtClean="0"/>
              <a:t>-</a:t>
            </a:r>
          </a:p>
        </p:txBody>
      </p:sp>
      <p:sp>
        <p:nvSpPr>
          <p:cNvPr id="46088" name="Text Box 8"/>
          <p:cNvSpPr txBox="1">
            <a:spLocks noChangeArrowheads="1"/>
          </p:cNvSpPr>
          <p:nvPr/>
        </p:nvSpPr>
        <p:spPr bwMode="auto">
          <a:xfrm>
            <a:off x="990600" y="3717925"/>
            <a:ext cx="21209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50000"/>
              </a:spcBef>
            </a:pPr>
            <a:r>
              <a:rPr lang="en-US" altLang="en-US" sz="1800">
                <a:latin typeface="Arial" pitchFamily="34" charset="0"/>
                <a:ea typeface="Arial Unicode MS" pitchFamily="34" charset="-128"/>
              </a:rPr>
              <a:t>Dear Alice</a:t>
            </a:r>
          </a:p>
          <a:p>
            <a:pPr>
              <a:spcBef>
                <a:spcPct val="50000"/>
              </a:spcBef>
            </a:pPr>
            <a:r>
              <a:rPr lang="en-US" altLang="en-US" sz="1400">
                <a:latin typeface="Arial" pitchFamily="34" charset="0"/>
                <a:ea typeface="Arial Unicode MS" pitchFamily="34" charset="-128"/>
              </a:rPr>
              <a:t>Oh, how I have missed you. I think of you all the time! …(blah blah blah)</a:t>
            </a:r>
          </a:p>
          <a:p>
            <a:pPr>
              <a:spcBef>
                <a:spcPct val="50000"/>
              </a:spcBef>
            </a:pPr>
            <a:r>
              <a:rPr lang="en-US" altLang="en-US" sz="1800">
                <a:latin typeface="Arial" pitchFamily="34" charset="0"/>
                <a:ea typeface="Arial Unicode MS" pitchFamily="34" charset="-128"/>
              </a:rPr>
              <a:t>Bob</a:t>
            </a:r>
          </a:p>
        </p:txBody>
      </p:sp>
      <p:sp>
        <p:nvSpPr>
          <p:cNvPr id="46089" name="Text Box 9"/>
          <p:cNvSpPr txBox="1">
            <a:spLocks noChangeArrowheads="1"/>
          </p:cNvSpPr>
          <p:nvPr/>
        </p:nvSpPr>
        <p:spPr bwMode="auto">
          <a:xfrm>
            <a:off x="652463" y="3298825"/>
            <a:ext cx="2735262"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Bob</a:t>
            </a:r>
            <a:r>
              <a:rPr lang="ja-JP" altLang="en-US">
                <a:solidFill>
                  <a:srgbClr val="C00000"/>
                </a:solidFill>
                <a:latin typeface="Arial" pitchFamily="34" charset="0"/>
                <a:cs typeface="Arial" pitchFamily="34" charset="0"/>
              </a:rPr>
              <a:t>’</a:t>
            </a:r>
            <a:r>
              <a:rPr lang="en-US" altLang="ja-JP">
                <a:solidFill>
                  <a:srgbClr val="C00000"/>
                </a:solidFill>
                <a:latin typeface="Arial" pitchFamily="34" charset="0"/>
                <a:cs typeface="Arial" pitchFamily="34" charset="0"/>
              </a:rPr>
              <a:t>s message, m</a:t>
            </a:r>
            <a:endParaRPr lang="en-US" altLang="en-US">
              <a:solidFill>
                <a:srgbClr val="C00000"/>
              </a:solidFill>
              <a:latin typeface="Arial" pitchFamily="34" charset="0"/>
              <a:cs typeface="Arial" pitchFamily="34" charset="0"/>
            </a:endParaRPr>
          </a:p>
        </p:txBody>
      </p:sp>
      <p:sp>
        <p:nvSpPr>
          <p:cNvPr id="75785" name="Rectangle 10"/>
          <p:cNvSpPr>
            <a:spLocks noChangeArrowheads="1"/>
          </p:cNvSpPr>
          <p:nvPr/>
        </p:nvSpPr>
        <p:spPr bwMode="auto">
          <a:xfrm>
            <a:off x="4141788" y="4060825"/>
            <a:ext cx="1417637" cy="1082675"/>
          </a:xfrm>
          <a:prstGeom prst="rect">
            <a:avLst/>
          </a:prstGeom>
          <a:solidFill>
            <a:srgbClr val="0080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46091" name="Text Box 11"/>
          <p:cNvSpPr txBox="1">
            <a:spLocks noChangeArrowheads="1"/>
          </p:cNvSpPr>
          <p:nvPr/>
        </p:nvSpPr>
        <p:spPr bwMode="auto">
          <a:xfrm>
            <a:off x="4181475" y="4095750"/>
            <a:ext cx="1368425" cy="1016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chemeClr val="bg1"/>
                </a:solidFill>
                <a:latin typeface="Arial" charset="0"/>
                <a:cs typeface="Arial" charset="0"/>
              </a:rPr>
              <a:t>Public key</a:t>
            </a:r>
          </a:p>
          <a:p>
            <a:pPr algn="ctr">
              <a:defRPr/>
            </a:pPr>
            <a:r>
              <a:rPr lang="en-US" smtClean="0">
                <a:solidFill>
                  <a:schemeClr val="bg1"/>
                </a:solidFill>
                <a:latin typeface="Arial" charset="0"/>
                <a:cs typeface="Arial" charset="0"/>
              </a:rPr>
              <a:t>encryption</a:t>
            </a:r>
          </a:p>
          <a:p>
            <a:pPr algn="ctr">
              <a:defRPr/>
            </a:pPr>
            <a:r>
              <a:rPr lang="en-US" smtClean="0">
                <a:solidFill>
                  <a:schemeClr val="bg1"/>
                </a:solidFill>
                <a:latin typeface="Arial" charset="0"/>
                <a:cs typeface="Arial" charset="0"/>
              </a:rPr>
              <a:t>algorithm</a:t>
            </a:r>
          </a:p>
        </p:txBody>
      </p:sp>
      <p:sp>
        <p:nvSpPr>
          <p:cNvPr id="46092" name="Line 12"/>
          <p:cNvSpPr>
            <a:spLocks noChangeShapeType="1"/>
          </p:cNvSpPr>
          <p:nvPr/>
        </p:nvSpPr>
        <p:spPr bwMode="auto">
          <a:xfrm>
            <a:off x="3409950" y="4524375"/>
            <a:ext cx="6746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6093" name="Text Box 13"/>
          <p:cNvSpPr txBox="1">
            <a:spLocks noChangeArrowheads="1"/>
          </p:cNvSpPr>
          <p:nvPr/>
        </p:nvSpPr>
        <p:spPr bwMode="auto">
          <a:xfrm>
            <a:off x="4908550" y="3251200"/>
            <a:ext cx="1762125"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Bob</a:t>
            </a:r>
            <a:r>
              <a:rPr lang="ja-JP" altLang="en-US" sz="1800">
                <a:latin typeface="Arial" pitchFamily="34" charset="0"/>
                <a:cs typeface="Arial" pitchFamily="34" charset="0"/>
              </a:rPr>
              <a:t>’</a:t>
            </a:r>
            <a:r>
              <a:rPr lang="en-US" altLang="ja-JP" sz="1800">
                <a:latin typeface="Arial" pitchFamily="34" charset="0"/>
                <a:cs typeface="Arial" pitchFamily="34" charset="0"/>
              </a:rPr>
              <a:t>s private</a:t>
            </a:r>
          </a:p>
          <a:p>
            <a:r>
              <a:rPr lang="en-US" altLang="en-US" sz="1800">
                <a:latin typeface="Arial" pitchFamily="34" charset="0"/>
                <a:cs typeface="Arial" pitchFamily="34" charset="0"/>
              </a:rPr>
              <a:t>key </a:t>
            </a:r>
          </a:p>
        </p:txBody>
      </p:sp>
      <p:pic>
        <p:nvPicPr>
          <p:cNvPr id="75789" name="Picture 14" descr="BS00768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4014788" y="3432175"/>
            <a:ext cx="458787"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5790" name="Group 15"/>
          <p:cNvGrpSpPr>
            <a:grpSpLocks/>
          </p:cNvGrpSpPr>
          <p:nvPr/>
        </p:nvGrpSpPr>
        <p:grpSpPr bwMode="auto">
          <a:xfrm>
            <a:off x="4486275" y="3200400"/>
            <a:ext cx="533400" cy="628650"/>
            <a:chOff x="2994" y="2058"/>
            <a:chExt cx="336" cy="396"/>
          </a:xfrm>
        </p:grpSpPr>
        <p:grpSp>
          <p:nvGrpSpPr>
            <p:cNvPr id="75800" name="Group 16"/>
            <p:cNvGrpSpPr>
              <a:grpSpLocks/>
            </p:cNvGrpSpPr>
            <p:nvPr/>
          </p:nvGrpSpPr>
          <p:grpSpPr bwMode="auto">
            <a:xfrm>
              <a:off x="2994" y="2144"/>
              <a:ext cx="336" cy="310"/>
              <a:chOff x="2994" y="2144"/>
              <a:chExt cx="336" cy="310"/>
            </a:xfrm>
          </p:grpSpPr>
          <p:sp>
            <p:nvSpPr>
              <p:cNvPr id="46107" name="Text Box 17"/>
              <p:cNvSpPr txBox="1">
                <a:spLocks noChangeArrowheads="1"/>
              </p:cNvSpPr>
              <p:nvPr/>
            </p:nvSpPr>
            <p:spPr bwMode="auto">
              <a:xfrm>
                <a:off x="2994" y="2144"/>
                <a:ext cx="269"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K </a:t>
                </a:r>
              </a:p>
            </p:txBody>
          </p:sp>
          <p:sp>
            <p:nvSpPr>
              <p:cNvPr id="46108" name="Text Box 18"/>
              <p:cNvSpPr txBox="1">
                <a:spLocks noChangeArrowheads="1"/>
              </p:cNvSpPr>
              <p:nvPr/>
            </p:nvSpPr>
            <p:spPr bwMode="auto">
              <a:xfrm>
                <a:off x="3128" y="2241"/>
                <a:ext cx="202" cy="2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dirty="0" smtClean="0">
                    <a:solidFill>
                      <a:srgbClr val="C00000"/>
                    </a:solidFill>
                    <a:latin typeface="Arial" charset="0"/>
                    <a:cs typeface="Arial" charset="0"/>
                  </a:rPr>
                  <a:t>B</a:t>
                </a:r>
              </a:p>
            </p:txBody>
          </p:sp>
        </p:grpSp>
        <p:sp>
          <p:nvSpPr>
            <p:cNvPr id="46106" name="Text Box 19"/>
            <p:cNvSpPr txBox="1">
              <a:spLocks noChangeArrowheads="1"/>
            </p:cNvSpPr>
            <p:nvPr/>
          </p:nvSpPr>
          <p:spPr bwMode="auto">
            <a:xfrm>
              <a:off x="3140" y="2058"/>
              <a:ext cx="160" cy="2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dirty="0" smtClean="0">
                  <a:solidFill>
                    <a:srgbClr val="C00000"/>
                  </a:solidFill>
                  <a:latin typeface="Arial" charset="0"/>
                  <a:cs typeface="Arial" charset="0"/>
                </a:rPr>
                <a:t>-</a:t>
              </a:r>
            </a:p>
          </p:txBody>
        </p:sp>
      </p:grpSp>
      <p:sp>
        <p:nvSpPr>
          <p:cNvPr id="46096" name="Line 20"/>
          <p:cNvSpPr>
            <a:spLocks noChangeShapeType="1"/>
          </p:cNvSpPr>
          <p:nvPr/>
        </p:nvSpPr>
        <p:spPr bwMode="auto">
          <a:xfrm>
            <a:off x="4489450" y="3584575"/>
            <a:ext cx="1588" cy="46990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6097" name="Line 21"/>
          <p:cNvSpPr>
            <a:spLocks noChangeShapeType="1"/>
          </p:cNvSpPr>
          <p:nvPr/>
        </p:nvSpPr>
        <p:spPr bwMode="auto">
          <a:xfrm>
            <a:off x="5594350" y="4524375"/>
            <a:ext cx="6746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6098" name="Text Box 22"/>
          <p:cNvSpPr txBox="1">
            <a:spLocks noChangeArrowheads="1"/>
          </p:cNvSpPr>
          <p:nvPr/>
        </p:nvSpPr>
        <p:spPr bwMode="auto">
          <a:xfrm>
            <a:off x="6438900" y="3895725"/>
            <a:ext cx="21209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spcBef>
                <a:spcPct val="50000"/>
              </a:spcBef>
            </a:pPr>
            <a:r>
              <a:rPr lang="en-US" altLang="en-US" sz="1800">
                <a:latin typeface="Arial" pitchFamily="34" charset="0"/>
                <a:ea typeface="Arial Unicode MS" pitchFamily="34" charset="-128"/>
              </a:rPr>
              <a:t>Bob</a:t>
            </a:r>
            <a:r>
              <a:rPr lang="ja-JP" altLang="en-US" sz="1800">
                <a:latin typeface="Arial" pitchFamily="34" charset="0"/>
                <a:ea typeface="Arial Unicode MS" pitchFamily="34" charset="-128"/>
              </a:rPr>
              <a:t>’</a:t>
            </a:r>
            <a:r>
              <a:rPr lang="en-US" altLang="ja-JP" sz="1800">
                <a:latin typeface="Arial" pitchFamily="34" charset="0"/>
                <a:ea typeface="Arial Unicode MS" pitchFamily="34" charset="-128"/>
                <a:cs typeface="Arial" pitchFamily="34" charset="0"/>
              </a:rPr>
              <a:t>s message, m, signed (encrypted) with his private key</a:t>
            </a:r>
            <a:endParaRPr lang="en-US" altLang="en-US" sz="1800">
              <a:latin typeface="Arial" pitchFamily="34" charset="0"/>
              <a:ea typeface="Arial Unicode MS" pitchFamily="34" charset="-128"/>
              <a:cs typeface="Arial" pitchFamily="34" charset="0"/>
            </a:endParaRPr>
          </a:p>
        </p:txBody>
      </p:sp>
      <p:sp>
        <p:nvSpPr>
          <p:cNvPr id="46099" name="Text Box 25"/>
          <p:cNvSpPr txBox="1">
            <a:spLocks noChangeArrowheads="1"/>
          </p:cNvSpPr>
          <p:nvPr/>
        </p:nvSpPr>
        <p:spPr bwMode="auto">
          <a:xfrm>
            <a:off x="6859588" y="3375025"/>
            <a:ext cx="711200" cy="400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m,K </a:t>
            </a:r>
          </a:p>
        </p:txBody>
      </p:sp>
      <p:sp>
        <p:nvSpPr>
          <p:cNvPr id="46100" name="Text Box 26"/>
          <p:cNvSpPr txBox="1">
            <a:spLocks noChangeArrowheads="1"/>
          </p:cNvSpPr>
          <p:nvPr/>
        </p:nvSpPr>
        <p:spPr bwMode="auto">
          <a:xfrm>
            <a:off x="7356475" y="3529013"/>
            <a:ext cx="320675" cy="3381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dirty="0" smtClean="0">
                <a:solidFill>
                  <a:srgbClr val="C00000"/>
                </a:solidFill>
                <a:latin typeface="Arial" charset="0"/>
                <a:cs typeface="Arial" charset="0"/>
              </a:rPr>
              <a:t>B</a:t>
            </a:r>
          </a:p>
        </p:txBody>
      </p:sp>
      <p:sp>
        <p:nvSpPr>
          <p:cNvPr id="46101" name="Text Box 27"/>
          <p:cNvSpPr txBox="1">
            <a:spLocks noChangeArrowheads="1"/>
          </p:cNvSpPr>
          <p:nvPr/>
        </p:nvSpPr>
        <p:spPr bwMode="auto">
          <a:xfrm>
            <a:off x="7362825" y="3228975"/>
            <a:ext cx="254000"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dirty="0" smtClean="0">
                <a:solidFill>
                  <a:srgbClr val="C00000"/>
                </a:solidFill>
                <a:latin typeface="Arial" charset="0"/>
                <a:cs typeface="Arial" charset="0"/>
              </a:rPr>
              <a:t>-</a:t>
            </a:r>
          </a:p>
        </p:txBody>
      </p:sp>
      <p:sp>
        <p:nvSpPr>
          <p:cNvPr id="46102" name="Text Box 28"/>
          <p:cNvSpPr txBox="1">
            <a:spLocks noChangeArrowheads="1"/>
          </p:cNvSpPr>
          <p:nvPr/>
        </p:nvSpPr>
        <p:spPr bwMode="auto">
          <a:xfrm>
            <a:off x="7381875" y="3344863"/>
            <a:ext cx="67786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dirty="0" smtClean="0">
                <a:solidFill>
                  <a:srgbClr val="C00000"/>
                </a:solidFill>
                <a:latin typeface="Arial" charset="0"/>
                <a:cs typeface="Arial" charset="0"/>
              </a:rPr>
              <a:t> (m)</a:t>
            </a:r>
          </a:p>
        </p:txBody>
      </p:sp>
      <p:sp>
        <p:nvSpPr>
          <p:cNvPr id="75798" name="Rectangle 2"/>
          <p:cNvSpPr>
            <a:spLocks noGrp="1" noChangeArrowheads="1"/>
          </p:cNvSpPr>
          <p:nvPr>
            <p:ph type="title"/>
          </p:nvPr>
        </p:nvSpPr>
        <p:spPr>
          <a:xfrm>
            <a:off x="533400" y="174625"/>
            <a:ext cx="4583113" cy="1143000"/>
          </a:xfrm>
        </p:spPr>
        <p:txBody>
          <a:bodyPr/>
          <a:lstStyle/>
          <a:p>
            <a:r>
              <a:rPr lang="en-US" altLang="en-US" smtClean="0">
                <a:ea typeface="ＭＳ Ｐゴシック" pitchFamily="34" charset="-128"/>
              </a:rPr>
              <a:t>Digital signatures </a:t>
            </a:r>
          </a:p>
        </p:txBody>
      </p:sp>
      <p:pic>
        <p:nvPicPr>
          <p:cNvPr id="75799" name="Picture 23"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488" y="1025525"/>
            <a:ext cx="4113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47110" name="Text Box 7"/>
          <p:cNvSpPr txBox="1">
            <a:spLocks noChangeArrowheads="1"/>
          </p:cNvSpPr>
          <p:nvPr/>
        </p:nvSpPr>
        <p:spPr bwMode="auto">
          <a:xfrm>
            <a:off x="7034213" y="1116013"/>
            <a:ext cx="7366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smtClean="0">
                <a:latin typeface="Arial Unicode MS" charset="0"/>
                <a:cs typeface="Arial Unicode MS" charset="0"/>
              </a:rPr>
              <a:t>-</a:t>
            </a:r>
          </a:p>
        </p:txBody>
      </p:sp>
      <p:sp>
        <p:nvSpPr>
          <p:cNvPr id="76803" name="Rectangle 11"/>
          <p:cNvSpPr>
            <a:spLocks noGrp="1" noChangeArrowheads="1"/>
          </p:cNvSpPr>
          <p:nvPr>
            <p:ph type="body" sz="half" idx="2"/>
          </p:nvPr>
        </p:nvSpPr>
        <p:spPr>
          <a:xfrm>
            <a:off x="990600" y="3648075"/>
            <a:ext cx="7391400" cy="23114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81000" indent="-381000">
              <a:lnSpc>
                <a:spcPct val="90000"/>
              </a:lnSpc>
              <a:buFont typeface="Wingdings" pitchFamily="2" charset="2"/>
              <a:buNone/>
            </a:pPr>
            <a:r>
              <a:rPr lang="en-US" altLang="en-US" sz="2400" smtClean="0">
                <a:solidFill>
                  <a:srgbClr val="C00000"/>
                </a:solidFill>
                <a:ea typeface="ＭＳ Ｐゴシック" pitchFamily="34" charset="-128"/>
              </a:rPr>
              <a:t>Alice thus verifies that:</a:t>
            </a:r>
          </a:p>
          <a:p>
            <a:pPr marL="800100" lvl="1" indent="-342900">
              <a:lnSpc>
                <a:spcPct val="90000"/>
              </a:lnSpc>
              <a:buFont typeface="ZapfDingbats" pitchFamily="82" charset="2"/>
              <a:buChar char="ü"/>
            </a:pPr>
            <a:r>
              <a:rPr lang="en-US" altLang="en-US" smtClean="0">
                <a:ea typeface="ＭＳ Ｐゴシック" pitchFamily="34" charset="-128"/>
              </a:rPr>
              <a:t>Bob signed m</a:t>
            </a:r>
          </a:p>
          <a:p>
            <a:pPr marL="800100" lvl="1" indent="-342900">
              <a:lnSpc>
                <a:spcPct val="90000"/>
              </a:lnSpc>
              <a:buFont typeface="ZapfDingbats" pitchFamily="82" charset="2"/>
              <a:buChar char="ü"/>
            </a:pPr>
            <a:r>
              <a:rPr lang="en-US" altLang="en-US" smtClean="0">
                <a:ea typeface="ＭＳ Ｐゴシック" pitchFamily="34" charset="-128"/>
              </a:rPr>
              <a:t>no one else signed m</a:t>
            </a:r>
          </a:p>
          <a:p>
            <a:pPr marL="800100" lvl="1" indent="-342900">
              <a:lnSpc>
                <a:spcPct val="90000"/>
              </a:lnSpc>
              <a:buFont typeface="ZapfDingbats" pitchFamily="82" charset="2"/>
              <a:buChar char="ü"/>
            </a:pPr>
            <a:r>
              <a:rPr lang="en-US" altLang="en-US" smtClean="0">
                <a:ea typeface="ＭＳ Ｐゴシック" pitchFamily="34" charset="-128"/>
              </a:rPr>
              <a:t>Bob signed m and not m</a:t>
            </a:r>
            <a:r>
              <a:rPr lang="ja-JP" altLang="en-US" smtClean="0">
                <a:ea typeface="ＭＳ Ｐゴシック" pitchFamily="34" charset="-128"/>
              </a:rPr>
              <a:t>‘</a:t>
            </a:r>
            <a:endParaRPr lang="en-US" altLang="ja-JP" smtClean="0">
              <a:ea typeface="ＭＳ Ｐゴシック" pitchFamily="34" charset="-128"/>
            </a:endParaRPr>
          </a:p>
          <a:p>
            <a:pPr marL="381000" indent="-381000">
              <a:lnSpc>
                <a:spcPct val="90000"/>
              </a:lnSpc>
              <a:buFont typeface="Wingdings" pitchFamily="2" charset="2"/>
              <a:buNone/>
            </a:pPr>
            <a:r>
              <a:rPr lang="en-US" altLang="en-US" sz="2400" smtClean="0">
                <a:solidFill>
                  <a:srgbClr val="C00000"/>
                </a:solidFill>
                <a:ea typeface="ＭＳ Ｐゴシック" pitchFamily="34" charset="-128"/>
              </a:rPr>
              <a:t>non-repudiation:</a:t>
            </a:r>
          </a:p>
          <a:p>
            <a:pPr marL="800100" lvl="1" indent="-342900">
              <a:lnSpc>
                <a:spcPct val="90000"/>
              </a:lnSpc>
              <a:buFont typeface="Wingdings" pitchFamily="2" charset="2"/>
              <a:buChar char="ü"/>
            </a:pPr>
            <a:r>
              <a:rPr lang="en-US" altLang="en-US" smtClean="0">
                <a:ea typeface="ＭＳ Ｐゴシック" pitchFamily="34" charset="-128"/>
              </a:rPr>
              <a:t>Alice can take m, and signature K</a:t>
            </a:r>
            <a:r>
              <a:rPr lang="en-US" altLang="en-US" baseline="-25000" smtClean="0">
                <a:ea typeface="ＭＳ Ｐゴシック" pitchFamily="34" charset="-128"/>
              </a:rPr>
              <a:t>B</a:t>
            </a:r>
            <a:r>
              <a:rPr lang="en-US" altLang="en-US" smtClean="0">
                <a:ea typeface="ＭＳ Ｐゴシック" pitchFamily="34" charset="-128"/>
              </a:rPr>
              <a:t>(m) to court and prove that Bob signed m</a:t>
            </a:r>
          </a:p>
          <a:p>
            <a:pPr marL="381000" indent="-381000">
              <a:lnSpc>
                <a:spcPct val="90000"/>
              </a:lnSpc>
              <a:buSzTx/>
              <a:buFont typeface="Wingdings" pitchFamily="2" charset="2"/>
              <a:buChar char="ü"/>
            </a:pPr>
            <a:endParaRPr lang="en-US" altLang="en-US" sz="2400" smtClean="0">
              <a:ea typeface="ＭＳ Ｐゴシック" pitchFamily="34" charset="-128"/>
            </a:endParaRPr>
          </a:p>
        </p:txBody>
      </p:sp>
      <p:sp>
        <p:nvSpPr>
          <p:cNvPr id="47115" name="Text Box 12"/>
          <p:cNvSpPr txBox="1">
            <a:spLocks noChangeArrowheads="1"/>
          </p:cNvSpPr>
          <p:nvPr/>
        </p:nvSpPr>
        <p:spPr bwMode="auto">
          <a:xfrm>
            <a:off x="5673725" y="5435600"/>
            <a:ext cx="73660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smtClean="0">
                <a:latin typeface="Arial Unicode MS" charset="0"/>
                <a:cs typeface="Arial Unicode MS" charset="0"/>
              </a:rPr>
              <a:t>-</a:t>
            </a:r>
          </a:p>
        </p:txBody>
      </p:sp>
      <p:sp>
        <p:nvSpPr>
          <p:cNvPr id="76805" name="Rectangle 2"/>
          <p:cNvSpPr>
            <a:spLocks noGrp="1" noChangeArrowheads="1"/>
          </p:cNvSpPr>
          <p:nvPr>
            <p:ph type="title"/>
          </p:nvPr>
        </p:nvSpPr>
        <p:spPr>
          <a:xfrm>
            <a:off x="533400" y="174625"/>
            <a:ext cx="4583113" cy="1143000"/>
          </a:xfrm>
        </p:spPr>
        <p:txBody>
          <a:bodyPr/>
          <a:lstStyle/>
          <a:p>
            <a:r>
              <a:rPr lang="en-US" altLang="en-US" smtClean="0">
                <a:ea typeface="ＭＳ Ｐゴシック" pitchFamily="34" charset="-128"/>
              </a:rPr>
              <a:t>Digital signatures </a:t>
            </a:r>
          </a:p>
        </p:txBody>
      </p:sp>
      <p:pic>
        <p:nvPicPr>
          <p:cNvPr id="76806" name="Picture 23"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488" y="1025525"/>
            <a:ext cx="4113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7" name="Rectangle 3"/>
          <p:cNvSpPr txBox="1">
            <a:spLocks noChangeArrowheads="1"/>
          </p:cNvSpPr>
          <p:nvPr/>
        </p:nvSpPr>
        <p:spPr bwMode="auto">
          <a:xfrm>
            <a:off x="757238" y="1239838"/>
            <a:ext cx="81470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nSpc>
                <a:spcPct val="110000"/>
              </a:lnSpc>
              <a:spcBef>
                <a:spcPct val="20000"/>
              </a:spcBef>
              <a:buClr>
                <a:srgbClr val="000099"/>
              </a:buClr>
              <a:buSzPct val="70000"/>
              <a:buFont typeface="Wingdings" pitchFamily="2" charset="2"/>
              <a:buChar char="v"/>
            </a:pPr>
            <a:r>
              <a:rPr lang="en-US" altLang="en-US" sz="2400">
                <a:latin typeface="Gill Sans MT" pitchFamily="34" charset="0"/>
              </a:rPr>
              <a:t>suppose Alice receives msg m, with signature: m, K</a:t>
            </a:r>
            <a:r>
              <a:rPr lang="en-US" altLang="en-US" sz="2400" baseline="-25000">
                <a:latin typeface="Gill Sans MT" pitchFamily="34" charset="0"/>
              </a:rPr>
              <a:t>B</a:t>
            </a:r>
            <a:r>
              <a:rPr lang="en-US" altLang="en-US" sz="2400">
                <a:latin typeface="Gill Sans MT" pitchFamily="34" charset="0"/>
              </a:rPr>
              <a:t>(m)</a:t>
            </a:r>
          </a:p>
          <a:p>
            <a:pPr>
              <a:lnSpc>
                <a:spcPct val="110000"/>
              </a:lnSpc>
              <a:spcBef>
                <a:spcPct val="20000"/>
              </a:spcBef>
              <a:buClr>
                <a:srgbClr val="000099"/>
              </a:buClr>
              <a:buSzPct val="70000"/>
              <a:buFont typeface="Wingdings" pitchFamily="2" charset="2"/>
              <a:buChar char="v"/>
            </a:pPr>
            <a:r>
              <a:rPr lang="en-US" altLang="en-US" sz="2400">
                <a:latin typeface="Gill Sans MT" pitchFamily="34" charset="0"/>
              </a:rPr>
              <a:t>Alice verifies m signed by Bob by applying Bob</a:t>
            </a:r>
            <a:r>
              <a:rPr lang="ja-JP" altLang="en-US" sz="2400">
                <a:latin typeface="Gill Sans MT" pitchFamily="34" charset="0"/>
              </a:rPr>
              <a:t>’</a:t>
            </a:r>
            <a:r>
              <a:rPr lang="en-US" altLang="ja-JP" sz="2400">
                <a:latin typeface="Gill Sans MT" pitchFamily="34" charset="0"/>
              </a:rPr>
              <a:t>s public key K</a:t>
            </a:r>
            <a:r>
              <a:rPr lang="en-US" altLang="ja-JP" sz="2400" baseline="-25000">
                <a:latin typeface="Gill Sans MT" pitchFamily="34" charset="0"/>
              </a:rPr>
              <a:t>B</a:t>
            </a:r>
            <a:r>
              <a:rPr lang="en-US" altLang="ja-JP" sz="2400">
                <a:latin typeface="Gill Sans MT" pitchFamily="34" charset="0"/>
              </a:rPr>
              <a:t> to K</a:t>
            </a:r>
            <a:r>
              <a:rPr lang="en-US" altLang="ja-JP" sz="2400" baseline="-25000">
                <a:latin typeface="Gill Sans MT" pitchFamily="34" charset="0"/>
              </a:rPr>
              <a:t>B</a:t>
            </a:r>
            <a:r>
              <a:rPr lang="en-US" altLang="ja-JP" sz="2400">
                <a:latin typeface="Gill Sans MT" pitchFamily="34" charset="0"/>
              </a:rPr>
              <a:t>(m) then checks K</a:t>
            </a:r>
            <a:r>
              <a:rPr lang="en-US" altLang="ja-JP" sz="2400" baseline="-25000">
                <a:latin typeface="Gill Sans MT" pitchFamily="34" charset="0"/>
              </a:rPr>
              <a:t>B</a:t>
            </a:r>
            <a:r>
              <a:rPr lang="en-US" altLang="ja-JP" sz="2400">
                <a:latin typeface="Gill Sans MT" pitchFamily="34" charset="0"/>
              </a:rPr>
              <a:t>(K</a:t>
            </a:r>
            <a:r>
              <a:rPr lang="en-US" altLang="ja-JP" sz="2400" baseline="-25000">
                <a:latin typeface="Gill Sans MT" pitchFamily="34" charset="0"/>
              </a:rPr>
              <a:t>B</a:t>
            </a:r>
            <a:r>
              <a:rPr lang="en-US" altLang="ja-JP" sz="2400">
                <a:latin typeface="Gill Sans MT" pitchFamily="34" charset="0"/>
              </a:rPr>
              <a:t>(m) ) = m.</a:t>
            </a:r>
          </a:p>
          <a:p>
            <a:pPr>
              <a:lnSpc>
                <a:spcPct val="110000"/>
              </a:lnSpc>
              <a:spcBef>
                <a:spcPct val="20000"/>
              </a:spcBef>
              <a:buClr>
                <a:srgbClr val="000099"/>
              </a:buClr>
              <a:buSzPct val="70000"/>
              <a:buFont typeface="Wingdings" pitchFamily="2" charset="2"/>
              <a:buChar char="v"/>
            </a:pPr>
            <a:r>
              <a:rPr lang="en-US" altLang="en-US" sz="2400">
                <a:latin typeface="Gill Sans MT" pitchFamily="34" charset="0"/>
              </a:rPr>
              <a:t>If K</a:t>
            </a:r>
            <a:r>
              <a:rPr lang="en-US" altLang="en-US" sz="2400" baseline="-25000">
                <a:latin typeface="Gill Sans MT" pitchFamily="34" charset="0"/>
              </a:rPr>
              <a:t>B</a:t>
            </a:r>
            <a:r>
              <a:rPr lang="en-US" altLang="en-US" sz="2400">
                <a:latin typeface="Gill Sans MT" pitchFamily="34" charset="0"/>
              </a:rPr>
              <a:t>(K</a:t>
            </a:r>
            <a:r>
              <a:rPr lang="en-US" altLang="en-US" sz="2400" baseline="-25000">
                <a:latin typeface="Gill Sans MT" pitchFamily="34" charset="0"/>
              </a:rPr>
              <a:t>B</a:t>
            </a:r>
            <a:r>
              <a:rPr lang="en-US" altLang="en-US" sz="2400">
                <a:latin typeface="Gill Sans MT" pitchFamily="34" charset="0"/>
              </a:rPr>
              <a:t>(m) ) = m, whoever signed m must have used Bob</a:t>
            </a:r>
            <a:r>
              <a:rPr lang="ja-JP" altLang="en-US" sz="2400">
                <a:latin typeface="Gill Sans MT" pitchFamily="34" charset="0"/>
              </a:rPr>
              <a:t>’</a:t>
            </a:r>
            <a:r>
              <a:rPr lang="en-US" altLang="ja-JP" sz="2400">
                <a:latin typeface="Gill Sans MT" pitchFamily="34" charset="0"/>
              </a:rPr>
              <a:t>s private key.</a:t>
            </a:r>
          </a:p>
          <a:p>
            <a:pPr>
              <a:lnSpc>
                <a:spcPct val="120000"/>
              </a:lnSpc>
              <a:spcBef>
                <a:spcPct val="20000"/>
              </a:spcBef>
              <a:buClr>
                <a:srgbClr val="000099"/>
              </a:buClr>
              <a:buSzPct val="70000"/>
              <a:buFont typeface="Wingdings" pitchFamily="2" charset="2"/>
              <a:buChar char="v"/>
            </a:pPr>
            <a:endParaRPr lang="en-US" altLang="en-US" sz="2400">
              <a:latin typeface="Gill Sans MT" pitchFamily="34" charset="0"/>
            </a:endParaRPr>
          </a:p>
        </p:txBody>
      </p:sp>
      <p:sp>
        <p:nvSpPr>
          <p:cNvPr id="18" name="Text Box 7"/>
          <p:cNvSpPr txBox="1">
            <a:spLocks noChangeArrowheads="1"/>
          </p:cNvSpPr>
          <p:nvPr/>
        </p:nvSpPr>
        <p:spPr bwMode="auto">
          <a:xfrm>
            <a:off x="1703388" y="2433638"/>
            <a:ext cx="7366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smtClean="0">
                <a:latin typeface="Arial Unicode MS" charset="0"/>
                <a:cs typeface="Arial Unicode MS" charset="0"/>
              </a:rPr>
              <a:t>-</a:t>
            </a:r>
          </a:p>
        </p:txBody>
      </p:sp>
      <p:sp>
        <p:nvSpPr>
          <p:cNvPr id="19" name="Text Box 7"/>
          <p:cNvSpPr txBox="1">
            <a:spLocks noChangeArrowheads="1"/>
          </p:cNvSpPr>
          <p:nvPr/>
        </p:nvSpPr>
        <p:spPr bwMode="auto">
          <a:xfrm>
            <a:off x="4619625" y="1989138"/>
            <a:ext cx="7366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smtClean="0">
                <a:latin typeface="Arial Unicode MS" charset="0"/>
                <a:cs typeface="Arial Unicode MS" charset="0"/>
              </a:rPr>
              <a:t>-</a:t>
            </a:r>
          </a:p>
        </p:txBody>
      </p:sp>
      <p:sp>
        <p:nvSpPr>
          <p:cNvPr id="20" name="Text Box 7"/>
          <p:cNvSpPr txBox="1">
            <a:spLocks noChangeArrowheads="1"/>
          </p:cNvSpPr>
          <p:nvPr/>
        </p:nvSpPr>
        <p:spPr bwMode="auto">
          <a:xfrm>
            <a:off x="1814513" y="1976438"/>
            <a:ext cx="7366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smtClean="0">
                <a:latin typeface="Arial Unicode MS" charset="0"/>
                <a:cs typeface="Arial Unicode MS" charset="0"/>
              </a:rPr>
              <a:t>-</a:t>
            </a:r>
          </a:p>
        </p:txBody>
      </p:sp>
      <p:sp>
        <p:nvSpPr>
          <p:cNvPr id="21" name="Text Box 7"/>
          <p:cNvSpPr txBox="1">
            <a:spLocks noChangeArrowheads="1"/>
          </p:cNvSpPr>
          <p:nvPr/>
        </p:nvSpPr>
        <p:spPr bwMode="auto">
          <a:xfrm>
            <a:off x="1295400" y="2466975"/>
            <a:ext cx="7366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smtClean="0">
                <a:latin typeface="Arial Unicode MS" charset="0"/>
                <a:cs typeface="Arial Unicode MS" charset="0"/>
              </a:rPr>
              <a:t>+</a:t>
            </a:r>
          </a:p>
        </p:txBody>
      </p:sp>
      <p:sp>
        <p:nvSpPr>
          <p:cNvPr id="22" name="Text Box 7"/>
          <p:cNvSpPr txBox="1">
            <a:spLocks noChangeArrowheads="1"/>
          </p:cNvSpPr>
          <p:nvPr/>
        </p:nvSpPr>
        <p:spPr bwMode="auto">
          <a:xfrm>
            <a:off x="1058863" y="1992313"/>
            <a:ext cx="7366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smtClean="0">
                <a:latin typeface="Arial Unicode MS" charset="0"/>
                <a:cs typeface="Arial Unicode MS" charset="0"/>
              </a:rPr>
              <a:t>+</a:t>
            </a:r>
          </a:p>
        </p:txBody>
      </p:sp>
      <p:sp>
        <p:nvSpPr>
          <p:cNvPr id="23" name="Text Box 7"/>
          <p:cNvSpPr txBox="1">
            <a:spLocks noChangeArrowheads="1"/>
          </p:cNvSpPr>
          <p:nvPr/>
        </p:nvSpPr>
        <p:spPr bwMode="auto">
          <a:xfrm>
            <a:off x="4197350" y="2006600"/>
            <a:ext cx="7366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smtClean="0">
                <a:latin typeface="Arial Unicode MS" charset="0"/>
                <a:cs typeface="Arial Unicode MS" charset="0"/>
              </a:rPr>
              <a:t>+</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77826" name="Rectangle 2"/>
          <p:cNvSpPr>
            <a:spLocks noGrp="1" noChangeArrowheads="1"/>
          </p:cNvSpPr>
          <p:nvPr>
            <p:ph type="title"/>
          </p:nvPr>
        </p:nvSpPr>
        <p:spPr/>
        <p:txBody>
          <a:bodyPr/>
          <a:lstStyle/>
          <a:p>
            <a:r>
              <a:rPr lang="en-US" altLang="en-US" smtClean="0">
                <a:ea typeface="ＭＳ Ｐゴシック" pitchFamily="34" charset="-128"/>
              </a:rPr>
              <a:t>Message digests</a:t>
            </a:r>
          </a:p>
        </p:txBody>
      </p:sp>
      <p:sp>
        <p:nvSpPr>
          <p:cNvPr id="77827" name="Rectangle 3"/>
          <p:cNvSpPr>
            <a:spLocks noGrp="1" noChangeArrowheads="1"/>
          </p:cNvSpPr>
          <p:nvPr>
            <p:ph type="body" sz="half" idx="1"/>
          </p:nvPr>
        </p:nvSpPr>
        <p:spPr>
          <a:xfrm>
            <a:off x="611188" y="1739900"/>
            <a:ext cx="3916362" cy="3282950"/>
          </a:xfrm>
        </p:spPr>
        <p:txBody>
          <a:bodyPr/>
          <a:lstStyle/>
          <a:p>
            <a:pPr>
              <a:buFont typeface="Wingdings" pitchFamily="2" charset="2"/>
              <a:buNone/>
            </a:pPr>
            <a:r>
              <a:rPr lang="en-US" altLang="en-US" sz="2400" smtClean="0">
                <a:ea typeface="ＭＳ Ｐゴシック" pitchFamily="34" charset="-128"/>
              </a:rPr>
              <a:t>computationally expensive to public-key-encrypt long messages </a:t>
            </a:r>
          </a:p>
          <a:p>
            <a:pPr>
              <a:buFont typeface="Wingdings" pitchFamily="2" charset="2"/>
              <a:buNone/>
            </a:pPr>
            <a:r>
              <a:rPr lang="en-US" altLang="en-US" i="1" smtClean="0">
                <a:solidFill>
                  <a:srgbClr val="C00000"/>
                </a:solidFill>
                <a:ea typeface="ＭＳ Ｐゴシック" pitchFamily="34" charset="-128"/>
              </a:rPr>
              <a:t>goal: </a:t>
            </a:r>
            <a:r>
              <a:rPr lang="en-US" altLang="en-US" sz="2400" smtClean="0">
                <a:ea typeface="ＭＳ Ｐゴシック" pitchFamily="34" charset="-128"/>
              </a:rPr>
              <a:t>fixed-length, easy- to-compute digital </a:t>
            </a:r>
            <a:r>
              <a:rPr lang="ja-JP" altLang="en-US" sz="2400" smtClean="0">
                <a:ea typeface="ＭＳ Ｐゴシック" pitchFamily="34" charset="-128"/>
              </a:rPr>
              <a:t>“</a:t>
            </a:r>
            <a:r>
              <a:rPr lang="en-US" altLang="ja-JP" sz="2400" smtClean="0">
                <a:ea typeface="ＭＳ Ｐゴシック" pitchFamily="34" charset="-128"/>
              </a:rPr>
              <a:t>fingerprint</a:t>
            </a:r>
            <a:r>
              <a:rPr lang="ja-JP" altLang="en-US" sz="2400" smtClean="0">
                <a:ea typeface="ＭＳ Ｐゴシック" pitchFamily="34" charset="-128"/>
              </a:rPr>
              <a:t>”</a:t>
            </a:r>
            <a:endParaRPr lang="en-US" altLang="ja-JP" sz="2400" smtClean="0">
              <a:ea typeface="ＭＳ Ｐゴシック" pitchFamily="34" charset="-128"/>
            </a:endParaRPr>
          </a:p>
          <a:p>
            <a:r>
              <a:rPr lang="en-US" altLang="en-US" sz="2400" smtClean="0">
                <a:ea typeface="ＭＳ Ｐゴシック" pitchFamily="34" charset="-128"/>
              </a:rPr>
              <a:t>apply hash function H to </a:t>
            </a:r>
            <a:r>
              <a:rPr lang="en-US" altLang="en-US" sz="2400" i="1" smtClean="0">
                <a:ea typeface="ＭＳ Ｐゴシック" pitchFamily="34" charset="-128"/>
              </a:rPr>
              <a:t>m</a:t>
            </a:r>
            <a:r>
              <a:rPr lang="en-US" altLang="en-US" sz="2400" smtClean="0">
                <a:ea typeface="ＭＳ Ｐゴシック" pitchFamily="34" charset="-128"/>
              </a:rPr>
              <a:t>, get fixed size message digest, </a:t>
            </a:r>
            <a:r>
              <a:rPr lang="en-US" altLang="en-US" sz="2400" i="1" smtClean="0">
                <a:ea typeface="ＭＳ Ｐゴシック" pitchFamily="34" charset="-128"/>
              </a:rPr>
              <a:t>H(m).</a:t>
            </a:r>
            <a:endParaRPr lang="en-US" altLang="en-US" sz="2000" smtClean="0">
              <a:ea typeface="ＭＳ Ｐゴシック" pitchFamily="34" charset="-128"/>
            </a:endParaRPr>
          </a:p>
          <a:p>
            <a:endParaRPr lang="en-US" altLang="en-US" sz="2000" smtClean="0">
              <a:ea typeface="ＭＳ Ｐゴシック" pitchFamily="34" charset="-128"/>
            </a:endParaRPr>
          </a:p>
          <a:p>
            <a:endParaRPr lang="en-US" altLang="en-US" sz="2400" smtClean="0">
              <a:ea typeface="ＭＳ Ｐゴシック" pitchFamily="34" charset="-128"/>
            </a:endParaRPr>
          </a:p>
        </p:txBody>
      </p:sp>
      <p:sp>
        <p:nvSpPr>
          <p:cNvPr id="77828" name="Rectangle 4"/>
          <p:cNvSpPr>
            <a:spLocks noGrp="1" noChangeArrowheads="1"/>
          </p:cNvSpPr>
          <p:nvPr>
            <p:ph type="body" sz="half" idx="2"/>
          </p:nvPr>
        </p:nvSpPr>
        <p:spPr>
          <a:xfrm>
            <a:off x="4756150" y="2965450"/>
            <a:ext cx="4044950" cy="3465513"/>
          </a:xfrm>
        </p:spPr>
        <p:txBody>
          <a:bodyPr/>
          <a:lstStyle/>
          <a:p>
            <a:pPr>
              <a:buFont typeface="Wingdings" pitchFamily="2" charset="2"/>
              <a:buNone/>
            </a:pPr>
            <a:r>
              <a:rPr lang="en-US" altLang="en-US" sz="2400" dirty="0" smtClean="0">
                <a:solidFill>
                  <a:srgbClr val="C00000"/>
                </a:solidFill>
                <a:ea typeface="ＭＳ Ｐゴシック" pitchFamily="34" charset="-128"/>
              </a:rPr>
              <a:t>Hash function properties:</a:t>
            </a:r>
          </a:p>
          <a:p>
            <a:r>
              <a:rPr lang="en-US" altLang="en-US" sz="2400" dirty="0" smtClean="0">
                <a:ea typeface="ＭＳ Ｐゴシック" pitchFamily="34" charset="-128"/>
              </a:rPr>
              <a:t>many-to-1</a:t>
            </a:r>
          </a:p>
          <a:p>
            <a:r>
              <a:rPr lang="en-US" altLang="en-US" sz="2400" dirty="0" smtClean="0">
                <a:ea typeface="ＭＳ Ｐゴシック" pitchFamily="34" charset="-128"/>
              </a:rPr>
              <a:t>produces fixed-size </a:t>
            </a:r>
            <a:r>
              <a:rPr lang="en-US" altLang="en-US" sz="2400" dirty="0" err="1" smtClean="0">
                <a:ea typeface="ＭＳ Ｐゴシック" pitchFamily="34" charset="-128"/>
              </a:rPr>
              <a:t>msg</a:t>
            </a:r>
            <a:r>
              <a:rPr lang="en-US" altLang="en-US" sz="2400" dirty="0" smtClean="0">
                <a:ea typeface="ＭＳ Ｐゴシック" pitchFamily="34" charset="-128"/>
              </a:rPr>
              <a:t> digest (fingerprint)</a:t>
            </a:r>
          </a:p>
          <a:p>
            <a:r>
              <a:rPr lang="en-US" altLang="en-US" sz="2400" dirty="0" smtClean="0">
                <a:ea typeface="ＭＳ Ｐゴシック" pitchFamily="34" charset="-128"/>
              </a:rPr>
              <a:t>given message digest x, computationally infeasible to find m such that x = H(m)</a:t>
            </a:r>
          </a:p>
          <a:p>
            <a:pPr>
              <a:buFont typeface="Wingdings" pitchFamily="2" charset="2"/>
              <a:buNone/>
            </a:pPr>
            <a:endParaRPr lang="en-US" altLang="en-US" sz="2400" dirty="0" smtClean="0">
              <a:ea typeface="ＭＳ Ｐゴシック" pitchFamily="34" charset="-128"/>
            </a:endParaRPr>
          </a:p>
          <a:p>
            <a:pPr>
              <a:buFont typeface="Wingdings" pitchFamily="2" charset="2"/>
              <a:buNone/>
            </a:pPr>
            <a:endParaRPr lang="en-US" altLang="en-US" sz="2000" dirty="0" smtClean="0">
              <a:ea typeface="ＭＳ Ｐゴシック" pitchFamily="34" charset="-128"/>
            </a:endParaRPr>
          </a:p>
        </p:txBody>
      </p:sp>
      <p:sp>
        <p:nvSpPr>
          <p:cNvPr id="48134" name="Rectangle 5"/>
          <p:cNvSpPr>
            <a:spLocks noChangeArrowheads="1"/>
          </p:cNvSpPr>
          <p:nvPr/>
        </p:nvSpPr>
        <p:spPr bwMode="auto">
          <a:xfrm>
            <a:off x="6846888" y="2305050"/>
            <a:ext cx="804862" cy="4222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C00000"/>
              </a:solidFill>
              <a:latin typeface="Arial" charset="0"/>
              <a:ea typeface="ＭＳ Ｐゴシック" charset="0"/>
              <a:cs typeface="Arial" charset="0"/>
            </a:endParaRPr>
          </a:p>
        </p:txBody>
      </p:sp>
      <p:sp>
        <p:nvSpPr>
          <p:cNvPr id="48135" name="Rectangle 6"/>
          <p:cNvSpPr>
            <a:spLocks noChangeArrowheads="1"/>
          </p:cNvSpPr>
          <p:nvPr/>
        </p:nvSpPr>
        <p:spPr bwMode="auto">
          <a:xfrm>
            <a:off x="4878388" y="850900"/>
            <a:ext cx="1355725" cy="9445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48136" name="Text Box 7"/>
          <p:cNvSpPr txBox="1">
            <a:spLocks noChangeArrowheads="1"/>
          </p:cNvSpPr>
          <p:nvPr/>
        </p:nvSpPr>
        <p:spPr bwMode="auto">
          <a:xfrm>
            <a:off x="4873625" y="839788"/>
            <a:ext cx="1343025" cy="1006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large </a:t>
            </a:r>
          </a:p>
          <a:p>
            <a:pPr algn="ctr">
              <a:defRPr/>
            </a:pPr>
            <a:r>
              <a:rPr lang="en-US" smtClean="0">
                <a:solidFill>
                  <a:srgbClr val="C00000"/>
                </a:solidFill>
                <a:latin typeface="Arial" charset="0"/>
                <a:cs typeface="Arial" charset="0"/>
              </a:rPr>
              <a:t>message</a:t>
            </a:r>
          </a:p>
          <a:p>
            <a:pPr algn="ctr">
              <a:defRPr/>
            </a:pPr>
            <a:r>
              <a:rPr lang="en-US" smtClean="0">
                <a:solidFill>
                  <a:srgbClr val="C00000"/>
                </a:solidFill>
                <a:latin typeface="Arial" charset="0"/>
                <a:cs typeface="Arial" charset="0"/>
              </a:rPr>
              <a:t>m</a:t>
            </a:r>
          </a:p>
        </p:txBody>
      </p:sp>
      <p:sp>
        <p:nvSpPr>
          <p:cNvPr id="77832" name="Rectangle 8"/>
          <p:cNvSpPr>
            <a:spLocks noChangeArrowheads="1"/>
          </p:cNvSpPr>
          <p:nvPr/>
        </p:nvSpPr>
        <p:spPr bwMode="auto">
          <a:xfrm>
            <a:off x="6732588" y="966788"/>
            <a:ext cx="1108075" cy="758825"/>
          </a:xfrm>
          <a:prstGeom prst="rect">
            <a:avLst/>
          </a:prstGeom>
          <a:solidFill>
            <a:srgbClr val="0080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48138" name="Text Box 9"/>
          <p:cNvSpPr txBox="1">
            <a:spLocks noChangeArrowheads="1"/>
          </p:cNvSpPr>
          <p:nvPr/>
        </p:nvSpPr>
        <p:spPr bwMode="auto">
          <a:xfrm>
            <a:off x="6692900" y="962025"/>
            <a:ext cx="1190625"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dirty="0" smtClean="0">
                <a:solidFill>
                  <a:schemeClr val="bg1"/>
                </a:solidFill>
                <a:latin typeface="Arial" charset="0"/>
                <a:cs typeface="Arial" charset="0"/>
              </a:rPr>
              <a:t>H: Hash</a:t>
            </a:r>
          </a:p>
          <a:p>
            <a:pPr algn="ctr">
              <a:defRPr/>
            </a:pPr>
            <a:r>
              <a:rPr lang="en-US" dirty="0" smtClean="0">
                <a:solidFill>
                  <a:schemeClr val="bg1"/>
                </a:solidFill>
                <a:latin typeface="Arial" charset="0"/>
                <a:cs typeface="Arial" charset="0"/>
              </a:rPr>
              <a:t>Function</a:t>
            </a:r>
          </a:p>
        </p:txBody>
      </p:sp>
      <p:sp>
        <p:nvSpPr>
          <p:cNvPr id="48139" name="Line 10"/>
          <p:cNvSpPr>
            <a:spLocks noChangeShapeType="1"/>
          </p:cNvSpPr>
          <p:nvPr/>
        </p:nvSpPr>
        <p:spPr bwMode="auto">
          <a:xfrm>
            <a:off x="6238875" y="1320800"/>
            <a:ext cx="5064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8140" name="Text Box 11"/>
          <p:cNvSpPr txBox="1">
            <a:spLocks noChangeArrowheads="1"/>
          </p:cNvSpPr>
          <p:nvPr/>
        </p:nvSpPr>
        <p:spPr bwMode="auto">
          <a:xfrm>
            <a:off x="6797675" y="2328863"/>
            <a:ext cx="89376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H(m)</a:t>
            </a:r>
          </a:p>
        </p:txBody>
      </p:sp>
      <p:sp>
        <p:nvSpPr>
          <p:cNvPr id="48141" name="Line 12"/>
          <p:cNvSpPr>
            <a:spLocks noChangeShapeType="1"/>
          </p:cNvSpPr>
          <p:nvPr/>
        </p:nvSpPr>
        <p:spPr bwMode="auto">
          <a:xfrm>
            <a:off x="7164388" y="1739900"/>
            <a:ext cx="0" cy="5492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pic>
        <p:nvPicPr>
          <p:cNvPr id="77837" name="Picture 24"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375" y="1076325"/>
            <a:ext cx="36560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78850" name="Rectangle 2"/>
          <p:cNvSpPr>
            <a:spLocks noGrp="1" noChangeArrowheads="1"/>
          </p:cNvSpPr>
          <p:nvPr>
            <p:ph type="title"/>
          </p:nvPr>
        </p:nvSpPr>
        <p:spPr>
          <a:xfrm>
            <a:off x="315913" y="276225"/>
            <a:ext cx="8120062" cy="844550"/>
          </a:xfrm>
        </p:spPr>
        <p:txBody>
          <a:bodyPr/>
          <a:lstStyle/>
          <a:p>
            <a:r>
              <a:rPr lang="en-US" altLang="en-US" sz="3200" smtClean="0">
                <a:ea typeface="ＭＳ Ｐゴシック" pitchFamily="34" charset="-128"/>
              </a:rPr>
              <a:t>Internet checksum: poor crypto hash function</a:t>
            </a:r>
          </a:p>
        </p:txBody>
      </p:sp>
      <p:sp>
        <p:nvSpPr>
          <p:cNvPr id="78851" name="Rectangle 3"/>
          <p:cNvSpPr>
            <a:spLocks noGrp="1" noChangeArrowheads="1"/>
          </p:cNvSpPr>
          <p:nvPr>
            <p:ph type="body" idx="1"/>
          </p:nvPr>
        </p:nvSpPr>
        <p:spPr>
          <a:xfrm>
            <a:off x="447675" y="1360488"/>
            <a:ext cx="8424863" cy="2122487"/>
          </a:xfrm>
        </p:spPr>
        <p:txBody>
          <a:bodyPr/>
          <a:lstStyle/>
          <a:p>
            <a:pPr>
              <a:buFont typeface="Wingdings" pitchFamily="2" charset="2"/>
              <a:buNone/>
            </a:pPr>
            <a:r>
              <a:rPr lang="en-US" altLang="en-US" sz="2400" smtClean="0">
                <a:ea typeface="ＭＳ Ｐゴシック" pitchFamily="34" charset="-128"/>
              </a:rPr>
              <a:t>Internet checksum has some properties of hash function:</a:t>
            </a:r>
          </a:p>
          <a:p>
            <a:pPr>
              <a:buFont typeface="ZapfDingbats" pitchFamily="82" charset="2"/>
              <a:buChar char="ü"/>
            </a:pPr>
            <a:r>
              <a:rPr lang="en-US" altLang="en-US" sz="2400" smtClean="0">
                <a:ea typeface="ＭＳ Ｐゴシック" pitchFamily="34" charset="-128"/>
              </a:rPr>
              <a:t>produces fixed length digest (16-bit sum) of message</a:t>
            </a:r>
          </a:p>
          <a:p>
            <a:pPr>
              <a:buFont typeface="ZapfDingbats" pitchFamily="82" charset="2"/>
              <a:buChar char="ü"/>
            </a:pPr>
            <a:r>
              <a:rPr lang="en-US" altLang="en-US" sz="2400" smtClean="0">
                <a:ea typeface="ＭＳ Ｐゴシック" pitchFamily="34" charset="-128"/>
              </a:rPr>
              <a:t>is many-to-one</a:t>
            </a:r>
          </a:p>
        </p:txBody>
      </p:sp>
      <p:sp>
        <p:nvSpPr>
          <p:cNvPr id="49157" name="Rectangle 4"/>
          <p:cNvSpPr>
            <a:spLocks noChangeArrowheads="1"/>
          </p:cNvSpPr>
          <p:nvPr/>
        </p:nvSpPr>
        <p:spPr bwMode="auto">
          <a:xfrm>
            <a:off x="417513" y="2809875"/>
            <a:ext cx="8424862" cy="97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0099"/>
              </a:buClr>
              <a:buSzPct val="75000"/>
              <a:buFont typeface="Wingdings" charset="0"/>
              <a:buNone/>
              <a:defRPr/>
            </a:pPr>
            <a:r>
              <a:rPr lang="en-US" sz="2400">
                <a:latin typeface="Gill Sans MT" charset="0"/>
                <a:ea typeface="ＭＳ Ｐゴシック" charset="0"/>
              </a:rPr>
              <a:t>But given message with given hash value, it is easy to find another message with same hash value: </a:t>
            </a:r>
          </a:p>
        </p:txBody>
      </p:sp>
      <p:sp>
        <p:nvSpPr>
          <p:cNvPr id="49158" name="Text Box 5"/>
          <p:cNvSpPr txBox="1">
            <a:spLocks noChangeArrowheads="1"/>
          </p:cNvSpPr>
          <p:nvPr/>
        </p:nvSpPr>
        <p:spPr bwMode="auto">
          <a:xfrm>
            <a:off x="514350" y="4238625"/>
            <a:ext cx="1109663"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b="1" smtClean="0">
                <a:latin typeface="Arial" charset="0"/>
                <a:cs typeface="Arial" charset="0"/>
              </a:rPr>
              <a:t>I O U 1</a:t>
            </a:r>
          </a:p>
          <a:p>
            <a:pPr algn="ctr">
              <a:defRPr/>
            </a:pPr>
            <a:r>
              <a:rPr lang="en-US" b="1" smtClean="0">
                <a:latin typeface="Arial" charset="0"/>
                <a:cs typeface="Arial" charset="0"/>
              </a:rPr>
              <a:t>0 0 . 9</a:t>
            </a:r>
          </a:p>
          <a:p>
            <a:pPr algn="ctr">
              <a:defRPr/>
            </a:pPr>
            <a:r>
              <a:rPr lang="en-US" b="1" smtClean="0">
                <a:latin typeface="Arial" charset="0"/>
                <a:cs typeface="Arial" charset="0"/>
              </a:rPr>
              <a:t>9 B O B</a:t>
            </a:r>
          </a:p>
        </p:txBody>
      </p:sp>
      <p:sp>
        <p:nvSpPr>
          <p:cNvPr id="49159" name="Text Box 6"/>
          <p:cNvSpPr txBox="1">
            <a:spLocks noChangeArrowheads="1"/>
          </p:cNvSpPr>
          <p:nvPr/>
        </p:nvSpPr>
        <p:spPr bwMode="auto">
          <a:xfrm>
            <a:off x="1920875" y="4238625"/>
            <a:ext cx="158115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b="1" smtClean="0">
                <a:latin typeface="Arial" charset="0"/>
                <a:cs typeface="Arial" charset="0"/>
              </a:rPr>
              <a:t>49 4F 55 31</a:t>
            </a:r>
          </a:p>
          <a:p>
            <a:pPr algn="ctr">
              <a:defRPr/>
            </a:pPr>
            <a:r>
              <a:rPr lang="en-US" b="1" smtClean="0">
                <a:latin typeface="Arial" charset="0"/>
                <a:cs typeface="Arial" charset="0"/>
              </a:rPr>
              <a:t>30 30 2E 39</a:t>
            </a:r>
          </a:p>
          <a:p>
            <a:pPr algn="ctr">
              <a:defRPr/>
            </a:pPr>
            <a:r>
              <a:rPr lang="en-US" b="1" smtClean="0">
                <a:latin typeface="Arial" charset="0"/>
                <a:cs typeface="Arial" charset="0"/>
              </a:rPr>
              <a:t>39 42 D2 42</a:t>
            </a:r>
          </a:p>
        </p:txBody>
      </p:sp>
      <p:sp>
        <p:nvSpPr>
          <p:cNvPr id="49160" name="Text Box 7"/>
          <p:cNvSpPr txBox="1">
            <a:spLocks noChangeArrowheads="1"/>
          </p:cNvSpPr>
          <p:nvPr/>
        </p:nvSpPr>
        <p:spPr bwMode="auto">
          <a:xfrm>
            <a:off x="431800" y="3879850"/>
            <a:ext cx="12239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u="sng" smtClean="0">
                <a:latin typeface="Arial" charset="0"/>
                <a:cs typeface="Arial" charset="0"/>
              </a:rPr>
              <a:t>message</a:t>
            </a:r>
          </a:p>
        </p:txBody>
      </p:sp>
      <p:sp>
        <p:nvSpPr>
          <p:cNvPr id="49161" name="Text Box 8"/>
          <p:cNvSpPr txBox="1">
            <a:spLocks noChangeArrowheads="1"/>
          </p:cNvSpPr>
          <p:nvPr/>
        </p:nvSpPr>
        <p:spPr bwMode="auto">
          <a:xfrm>
            <a:off x="1920875" y="3875088"/>
            <a:ext cx="16494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u="sng" smtClean="0">
                <a:latin typeface="Arial" charset="0"/>
                <a:cs typeface="Arial" charset="0"/>
              </a:rPr>
              <a:t>ASCII format</a:t>
            </a:r>
          </a:p>
        </p:txBody>
      </p:sp>
      <p:sp>
        <p:nvSpPr>
          <p:cNvPr id="49162" name="Line 9"/>
          <p:cNvSpPr>
            <a:spLocks noChangeShapeType="1"/>
          </p:cNvSpPr>
          <p:nvPr/>
        </p:nvSpPr>
        <p:spPr bwMode="auto">
          <a:xfrm>
            <a:off x="1901825" y="5257800"/>
            <a:ext cx="16033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9163" name="Text Box 10"/>
          <p:cNvSpPr txBox="1">
            <a:spLocks noChangeArrowheads="1"/>
          </p:cNvSpPr>
          <p:nvPr/>
        </p:nvSpPr>
        <p:spPr bwMode="auto">
          <a:xfrm>
            <a:off x="1852613" y="5291138"/>
            <a:ext cx="17446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b="1" smtClean="0">
                <a:latin typeface="Arial" charset="0"/>
                <a:cs typeface="Arial" charset="0"/>
              </a:rPr>
              <a:t>B2 C1 D2 AC</a:t>
            </a:r>
          </a:p>
        </p:txBody>
      </p:sp>
      <p:sp>
        <p:nvSpPr>
          <p:cNvPr id="49164" name="Text Box 11"/>
          <p:cNvSpPr txBox="1">
            <a:spLocks noChangeArrowheads="1"/>
          </p:cNvSpPr>
          <p:nvPr/>
        </p:nvSpPr>
        <p:spPr bwMode="auto">
          <a:xfrm>
            <a:off x="5535613" y="4222750"/>
            <a:ext cx="110966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b="1" smtClean="0">
                <a:latin typeface="Arial" charset="0"/>
                <a:cs typeface="Arial" charset="0"/>
              </a:rPr>
              <a:t>I O U </a:t>
            </a:r>
            <a:r>
              <a:rPr lang="en-US" b="1" u="sng" smtClean="0">
                <a:solidFill>
                  <a:srgbClr val="FF0000"/>
                </a:solidFill>
                <a:latin typeface="Arial" charset="0"/>
                <a:cs typeface="Arial" charset="0"/>
              </a:rPr>
              <a:t>9</a:t>
            </a:r>
          </a:p>
          <a:p>
            <a:pPr algn="ctr">
              <a:defRPr/>
            </a:pPr>
            <a:r>
              <a:rPr lang="en-US" b="1" smtClean="0">
                <a:latin typeface="Arial" charset="0"/>
                <a:cs typeface="Arial" charset="0"/>
              </a:rPr>
              <a:t>0 0 . </a:t>
            </a:r>
            <a:r>
              <a:rPr lang="en-US" b="1" u="sng" smtClean="0">
                <a:solidFill>
                  <a:srgbClr val="FF0000"/>
                </a:solidFill>
                <a:latin typeface="Arial" charset="0"/>
                <a:cs typeface="Arial" charset="0"/>
              </a:rPr>
              <a:t>1</a:t>
            </a:r>
          </a:p>
          <a:p>
            <a:pPr algn="ctr">
              <a:defRPr/>
            </a:pPr>
            <a:r>
              <a:rPr lang="en-US" b="1" smtClean="0">
                <a:latin typeface="Arial" charset="0"/>
                <a:cs typeface="Arial" charset="0"/>
              </a:rPr>
              <a:t>9 B O B</a:t>
            </a:r>
          </a:p>
        </p:txBody>
      </p:sp>
      <p:sp>
        <p:nvSpPr>
          <p:cNvPr id="49165" name="Text Box 12"/>
          <p:cNvSpPr txBox="1">
            <a:spLocks noChangeArrowheads="1"/>
          </p:cNvSpPr>
          <p:nvPr/>
        </p:nvSpPr>
        <p:spPr bwMode="auto">
          <a:xfrm>
            <a:off x="6942138" y="4222750"/>
            <a:ext cx="158115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b="1" smtClean="0">
                <a:latin typeface="Arial" charset="0"/>
                <a:cs typeface="Arial" charset="0"/>
              </a:rPr>
              <a:t>49 4F 55 </a:t>
            </a:r>
            <a:r>
              <a:rPr lang="en-US" b="1" u="sng" smtClean="0">
                <a:solidFill>
                  <a:srgbClr val="FF0000"/>
                </a:solidFill>
                <a:latin typeface="Arial" charset="0"/>
                <a:cs typeface="Arial" charset="0"/>
              </a:rPr>
              <a:t>39</a:t>
            </a:r>
          </a:p>
          <a:p>
            <a:pPr algn="ctr">
              <a:defRPr/>
            </a:pPr>
            <a:r>
              <a:rPr lang="en-US" b="1" smtClean="0">
                <a:latin typeface="Arial" charset="0"/>
                <a:cs typeface="Arial" charset="0"/>
              </a:rPr>
              <a:t>30 30 2E </a:t>
            </a:r>
            <a:r>
              <a:rPr lang="en-US" b="1" u="sng" smtClean="0">
                <a:solidFill>
                  <a:srgbClr val="FF0000"/>
                </a:solidFill>
                <a:latin typeface="Arial" charset="0"/>
                <a:cs typeface="Arial" charset="0"/>
              </a:rPr>
              <a:t>31</a:t>
            </a:r>
          </a:p>
          <a:p>
            <a:pPr algn="ctr">
              <a:defRPr/>
            </a:pPr>
            <a:r>
              <a:rPr lang="en-US" b="1" smtClean="0">
                <a:latin typeface="Arial" charset="0"/>
                <a:cs typeface="Arial" charset="0"/>
              </a:rPr>
              <a:t>39 42 D2 42</a:t>
            </a:r>
          </a:p>
        </p:txBody>
      </p:sp>
      <p:sp>
        <p:nvSpPr>
          <p:cNvPr id="49166" name="Text Box 13"/>
          <p:cNvSpPr txBox="1">
            <a:spLocks noChangeArrowheads="1"/>
          </p:cNvSpPr>
          <p:nvPr/>
        </p:nvSpPr>
        <p:spPr bwMode="auto">
          <a:xfrm>
            <a:off x="5453063" y="3863975"/>
            <a:ext cx="12239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u="sng" smtClean="0">
                <a:latin typeface="Arial" charset="0"/>
                <a:cs typeface="Arial" charset="0"/>
              </a:rPr>
              <a:t>message</a:t>
            </a:r>
          </a:p>
        </p:txBody>
      </p:sp>
      <p:sp>
        <p:nvSpPr>
          <p:cNvPr id="49167" name="Text Box 14"/>
          <p:cNvSpPr txBox="1">
            <a:spLocks noChangeArrowheads="1"/>
          </p:cNvSpPr>
          <p:nvPr/>
        </p:nvSpPr>
        <p:spPr bwMode="auto">
          <a:xfrm>
            <a:off x="6942138" y="3859213"/>
            <a:ext cx="164941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u="sng" smtClean="0">
                <a:latin typeface="Arial" charset="0"/>
                <a:cs typeface="Arial" charset="0"/>
              </a:rPr>
              <a:t>ASCII format</a:t>
            </a:r>
          </a:p>
        </p:txBody>
      </p:sp>
      <p:sp>
        <p:nvSpPr>
          <p:cNvPr id="49168" name="Line 15"/>
          <p:cNvSpPr>
            <a:spLocks noChangeShapeType="1"/>
          </p:cNvSpPr>
          <p:nvPr/>
        </p:nvSpPr>
        <p:spPr bwMode="auto">
          <a:xfrm>
            <a:off x="6923088" y="5241925"/>
            <a:ext cx="16033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9169" name="Text Box 16"/>
          <p:cNvSpPr txBox="1">
            <a:spLocks noChangeArrowheads="1"/>
          </p:cNvSpPr>
          <p:nvPr/>
        </p:nvSpPr>
        <p:spPr bwMode="auto">
          <a:xfrm>
            <a:off x="6873875" y="5275263"/>
            <a:ext cx="17446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b="1" smtClean="0">
                <a:latin typeface="Arial" charset="0"/>
                <a:cs typeface="Arial" charset="0"/>
              </a:rPr>
              <a:t>B2 C1 D2 AC</a:t>
            </a:r>
          </a:p>
        </p:txBody>
      </p:sp>
      <p:sp>
        <p:nvSpPr>
          <p:cNvPr id="49170" name="Text Box 17"/>
          <p:cNvSpPr txBox="1">
            <a:spLocks noChangeArrowheads="1"/>
          </p:cNvSpPr>
          <p:nvPr/>
        </p:nvSpPr>
        <p:spPr bwMode="auto">
          <a:xfrm>
            <a:off x="3740150" y="5349875"/>
            <a:ext cx="30718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000099"/>
                </a:solidFill>
                <a:latin typeface="Arial" charset="0"/>
                <a:cs typeface="Arial" charset="0"/>
              </a:rPr>
              <a:t>different messages</a:t>
            </a:r>
          </a:p>
          <a:p>
            <a:pPr algn="ctr">
              <a:defRPr/>
            </a:pPr>
            <a:r>
              <a:rPr lang="en-US" smtClean="0">
                <a:solidFill>
                  <a:srgbClr val="000099"/>
                </a:solidFill>
                <a:latin typeface="Arial" charset="0"/>
                <a:cs typeface="Arial" charset="0"/>
              </a:rPr>
              <a:t>but identical checksums</a:t>
            </a:r>
            <a:r>
              <a:rPr lang="en-US" smtClean="0">
                <a:solidFill>
                  <a:schemeClr val="accent2"/>
                </a:solidFill>
                <a:latin typeface="Arial" charset="0"/>
                <a:cs typeface="Arial" charset="0"/>
              </a:rPr>
              <a:t>!</a:t>
            </a:r>
          </a:p>
        </p:txBody>
      </p:sp>
      <p:sp>
        <p:nvSpPr>
          <p:cNvPr id="49171" name="Line 18"/>
          <p:cNvSpPr>
            <a:spLocks noChangeShapeType="1"/>
          </p:cNvSpPr>
          <p:nvPr/>
        </p:nvSpPr>
        <p:spPr bwMode="auto">
          <a:xfrm flipH="1" flipV="1">
            <a:off x="3589338" y="5483225"/>
            <a:ext cx="381000" cy="84138"/>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9172" name="Line 19"/>
          <p:cNvSpPr>
            <a:spLocks noChangeShapeType="1"/>
          </p:cNvSpPr>
          <p:nvPr/>
        </p:nvSpPr>
        <p:spPr bwMode="auto">
          <a:xfrm flipV="1">
            <a:off x="6499225" y="5467350"/>
            <a:ext cx="381000" cy="84138"/>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pic>
        <p:nvPicPr>
          <p:cNvPr id="78868" name="Picture 1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909638"/>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cs typeface="Arial" charset="0"/>
              </a:rPr>
              <a:t>Network Security</a:t>
            </a:r>
          </a:p>
        </p:txBody>
      </p:sp>
      <p:sp>
        <p:nvSpPr>
          <p:cNvPr id="50179" name="Rectangle 2"/>
          <p:cNvSpPr>
            <a:spLocks noChangeArrowheads="1"/>
          </p:cNvSpPr>
          <p:nvPr/>
        </p:nvSpPr>
        <p:spPr bwMode="auto">
          <a:xfrm>
            <a:off x="3652838" y="2405063"/>
            <a:ext cx="762000" cy="4079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C00000"/>
              </a:solidFill>
              <a:latin typeface="Arial" charset="0"/>
              <a:ea typeface="ＭＳ Ｐゴシック" charset="0"/>
              <a:cs typeface="Arial" charset="0"/>
            </a:endParaRPr>
          </a:p>
        </p:txBody>
      </p:sp>
      <p:grpSp>
        <p:nvGrpSpPr>
          <p:cNvPr id="79875" name="Group 3"/>
          <p:cNvGrpSpPr>
            <a:grpSpLocks/>
          </p:cNvGrpSpPr>
          <p:nvPr/>
        </p:nvGrpSpPr>
        <p:grpSpPr bwMode="auto">
          <a:xfrm>
            <a:off x="598488" y="2076450"/>
            <a:ext cx="1343025" cy="841375"/>
            <a:chOff x="403" y="1308"/>
            <a:chExt cx="846" cy="530"/>
          </a:xfrm>
        </p:grpSpPr>
        <p:sp>
          <p:nvSpPr>
            <p:cNvPr id="50256" name="Rectangle 4"/>
            <p:cNvSpPr>
              <a:spLocks noChangeArrowheads="1"/>
            </p:cNvSpPr>
            <p:nvPr/>
          </p:nvSpPr>
          <p:spPr bwMode="auto">
            <a:xfrm>
              <a:off x="477" y="1308"/>
              <a:ext cx="685" cy="49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C00000"/>
                </a:solidFill>
                <a:latin typeface="Arial" charset="0"/>
                <a:ea typeface="ＭＳ Ｐゴシック" charset="0"/>
                <a:cs typeface="Arial" charset="0"/>
              </a:endParaRPr>
            </a:p>
          </p:txBody>
        </p:sp>
        <p:sp>
          <p:nvSpPr>
            <p:cNvPr id="50257" name="Text Box 5"/>
            <p:cNvSpPr txBox="1">
              <a:spLocks noChangeArrowheads="1"/>
            </p:cNvSpPr>
            <p:nvPr/>
          </p:nvSpPr>
          <p:spPr bwMode="auto">
            <a:xfrm>
              <a:off x="403" y="1318"/>
              <a:ext cx="846" cy="5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80000"/>
                </a:lnSpc>
                <a:defRPr/>
              </a:pPr>
              <a:r>
                <a:rPr lang="en-US" smtClean="0">
                  <a:solidFill>
                    <a:srgbClr val="C00000"/>
                  </a:solidFill>
                  <a:latin typeface="Arial" charset="0"/>
                  <a:cs typeface="Arial" charset="0"/>
                </a:rPr>
                <a:t>large </a:t>
              </a:r>
            </a:p>
            <a:p>
              <a:pPr algn="ctr">
                <a:lnSpc>
                  <a:spcPct val="80000"/>
                </a:lnSpc>
                <a:defRPr/>
              </a:pPr>
              <a:r>
                <a:rPr lang="en-US" smtClean="0">
                  <a:solidFill>
                    <a:srgbClr val="C00000"/>
                  </a:solidFill>
                  <a:latin typeface="Arial" charset="0"/>
                  <a:cs typeface="Arial" charset="0"/>
                </a:rPr>
                <a:t>message</a:t>
              </a:r>
            </a:p>
            <a:p>
              <a:pPr algn="ctr">
                <a:lnSpc>
                  <a:spcPct val="80000"/>
                </a:lnSpc>
                <a:defRPr/>
              </a:pPr>
              <a:r>
                <a:rPr lang="en-US" smtClean="0">
                  <a:solidFill>
                    <a:srgbClr val="C00000"/>
                  </a:solidFill>
                  <a:latin typeface="Arial" charset="0"/>
                  <a:cs typeface="Arial" charset="0"/>
                </a:rPr>
                <a:t>m</a:t>
              </a:r>
            </a:p>
          </p:txBody>
        </p:sp>
      </p:grpSp>
      <p:grpSp>
        <p:nvGrpSpPr>
          <p:cNvPr id="50181" name="Group 6"/>
          <p:cNvGrpSpPr>
            <a:grpSpLocks/>
          </p:cNvGrpSpPr>
          <p:nvPr/>
        </p:nvGrpSpPr>
        <p:grpSpPr bwMode="auto">
          <a:xfrm>
            <a:off x="2235200" y="2189069"/>
            <a:ext cx="1017588" cy="650875"/>
            <a:chOff x="1391" y="982"/>
            <a:chExt cx="641" cy="410"/>
          </a:xfrm>
          <a:solidFill>
            <a:srgbClr val="008000"/>
          </a:solidFill>
        </p:grpSpPr>
        <p:sp>
          <p:nvSpPr>
            <p:cNvPr id="50254" name="Rectangle 7"/>
            <p:cNvSpPr>
              <a:spLocks noChangeArrowheads="1"/>
            </p:cNvSpPr>
            <p:nvPr/>
          </p:nvSpPr>
          <p:spPr bwMode="auto">
            <a:xfrm>
              <a:off x="1397" y="982"/>
              <a:ext cx="619" cy="39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50255" name="Text Box 8"/>
            <p:cNvSpPr txBox="1">
              <a:spLocks noChangeArrowheads="1"/>
            </p:cNvSpPr>
            <p:nvPr/>
          </p:nvSpPr>
          <p:spPr bwMode="auto">
            <a:xfrm>
              <a:off x="1391" y="985"/>
              <a:ext cx="641" cy="40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chemeClr val="bg1"/>
                  </a:solidFill>
                  <a:latin typeface="Arial" charset="0"/>
                  <a:cs typeface="Arial" charset="0"/>
                </a:rPr>
                <a:t>H: Hash</a:t>
              </a:r>
            </a:p>
            <a:p>
              <a:pPr algn="ctr">
                <a:defRPr/>
              </a:pPr>
              <a:r>
                <a:rPr lang="en-US" sz="1800" smtClean="0">
                  <a:solidFill>
                    <a:schemeClr val="bg1"/>
                  </a:solidFill>
                  <a:latin typeface="Arial" charset="0"/>
                  <a:cs typeface="Arial" charset="0"/>
                </a:rPr>
                <a:t>function</a:t>
              </a:r>
            </a:p>
          </p:txBody>
        </p:sp>
      </p:grpSp>
      <p:sp>
        <p:nvSpPr>
          <p:cNvPr id="50182" name="Line 9"/>
          <p:cNvSpPr>
            <a:spLocks noChangeShapeType="1"/>
          </p:cNvSpPr>
          <p:nvPr/>
        </p:nvSpPr>
        <p:spPr bwMode="auto">
          <a:xfrm>
            <a:off x="1765300" y="2546350"/>
            <a:ext cx="5064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50183" name="Text Box 10"/>
          <p:cNvSpPr txBox="1">
            <a:spLocks noChangeArrowheads="1"/>
          </p:cNvSpPr>
          <p:nvPr/>
        </p:nvSpPr>
        <p:spPr bwMode="auto">
          <a:xfrm>
            <a:off x="3603625" y="2428875"/>
            <a:ext cx="84613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H(m)</a:t>
            </a:r>
          </a:p>
        </p:txBody>
      </p:sp>
      <p:sp>
        <p:nvSpPr>
          <p:cNvPr id="50184" name="Line 11"/>
          <p:cNvSpPr>
            <a:spLocks noChangeShapeType="1"/>
          </p:cNvSpPr>
          <p:nvPr/>
        </p:nvSpPr>
        <p:spPr bwMode="auto">
          <a:xfrm>
            <a:off x="3789363" y="2840038"/>
            <a:ext cx="1587" cy="32861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50185" name="Line 12"/>
          <p:cNvSpPr>
            <a:spLocks noChangeShapeType="1"/>
          </p:cNvSpPr>
          <p:nvPr/>
        </p:nvSpPr>
        <p:spPr bwMode="auto">
          <a:xfrm>
            <a:off x="3154363" y="2560638"/>
            <a:ext cx="5064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50186" name="Group 13"/>
          <p:cNvGrpSpPr>
            <a:grpSpLocks/>
          </p:cNvGrpSpPr>
          <p:nvPr/>
        </p:nvGrpSpPr>
        <p:grpSpPr bwMode="auto">
          <a:xfrm>
            <a:off x="3222625" y="3171825"/>
            <a:ext cx="1192213" cy="955675"/>
            <a:chOff x="1126" y="2124"/>
            <a:chExt cx="751" cy="602"/>
          </a:xfrm>
          <a:solidFill>
            <a:srgbClr val="008000"/>
          </a:solidFill>
        </p:grpSpPr>
        <p:sp>
          <p:nvSpPr>
            <p:cNvPr id="50252" name="Rectangle 14"/>
            <p:cNvSpPr>
              <a:spLocks noChangeArrowheads="1"/>
            </p:cNvSpPr>
            <p:nvPr/>
          </p:nvSpPr>
          <p:spPr bwMode="auto">
            <a:xfrm>
              <a:off x="1126" y="2124"/>
              <a:ext cx="751" cy="60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50253" name="Text Box 15"/>
            <p:cNvSpPr txBox="1">
              <a:spLocks noChangeArrowheads="1"/>
            </p:cNvSpPr>
            <p:nvPr/>
          </p:nvSpPr>
          <p:spPr bwMode="auto">
            <a:xfrm>
              <a:off x="1134" y="2127"/>
              <a:ext cx="742" cy="57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chemeClr val="bg1"/>
                  </a:solidFill>
                  <a:latin typeface="Arial" charset="0"/>
                  <a:cs typeface="Arial" charset="0"/>
                </a:rPr>
                <a:t>digital</a:t>
              </a:r>
            </a:p>
            <a:p>
              <a:pPr algn="ctr">
                <a:defRPr/>
              </a:pPr>
              <a:r>
                <a:rPr lang="en-US" sz="1800" smtClean="0">
                  <a:solidFill>
                    <a:schemeClr val="bg1"/>
                  </a:solidFill>
                  <a:latin typeface="Arial" charset="0"/>
                  <a:cs typeface="Arial" charset="0"/>
                </a:rPr>
                <a:t>signature</a:t>
              </a:r>
            </a:p>
            <a:p>
              <a:pPr algn="ctr">
                <a:defRPr/>
              </a:pPr>
              <a:r>
                <a:rPr lang="en-US" sz="1800" smtClean="0">
                  <a:solidFill>
                    <a:schemeClr val="bg1"/>
                  </a:solidFill>
                  <a:latin typeface="Arial" charset="0"/>
                  <a:cs typeface="Arial" charset="0"/>
                </a:rPr>
                <a:t>(encrypt)</a:t>
              </a:r>
            </a:p>
          </p:txBody>
        </p:sp>
      </p:grpSp>
      <p:sp>
        <p:nvSpPr>
          <p:cNvPr id="50187" name="Text Box 16"/>
          <p:cNvSpPr txBox="1">
            <a:spLocks noChangeArrowheads="1"/>
          </p:cNvSpPr>
          <p:nvPr/>
        </p:nvSpPr>
        <p:spPr bwMode="auto">
          <a:xfrm>
            <a:off x="1490663" y="3252788"/>
            <a:ext cx="960437" cy="825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1600">
                <a:latin typeface="Arial" pitchFamily="34" charset="0"/>
                <a:cs typeface="Arial" pitchFamily="34" charset="0"/>
              </a:rPr>
              <a:t>Bob</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r"/>
            <a:r>
              <a:rPr lang="en-US" altLang="en-US" sz="1600">
                <a:latin typeface="Arial" pitchFamily="34" charset="0"/>
                <a:cs typeface="Arial" pitchFamily="34" charset="0"/>
              </a:rPr>
              <a:t>private</a:t>
            </a:r>
          </a:p>
          <a:p>
            <a:pPr algn="r"/>
            <a:r>
              <a:rPr lang="en-US" altLang="en-US" sz="1600">
                <a:latin typeface="Arial" pitchFamily="34" charset="0"/>
                <a:cs typeface="Arial" pitchFamily="34" charset="0"/>
              </a:rPr>
              <a:t>key </a:t>
            </a:r>
          </a:p>
        </p:txBody>
      </p:sp>
      <p:pic>
        <p:nvPicPr>
          <p:cNvPr id="79883" name="Picture 17" descr="BS00768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2468563" y="3333750"/>
            <a:ext cx="458787"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9884" name="Group 18"/>
          <p:cNvGrpSpPr>
            <a:grpSpLocks/>
          </p:cNvGrpSpPr>
          <p:nvPr/>
        </p:nvGrpSpPr>
        <p:grpSpPr bwMode="auto">
          <a:xfrm>
            <a:off x="2406650" y="3659188"/>
            <a:ext cx="490538" cy="604837"/>
            <a:chOff x="2994" y="2073"/>
            <a:chExt cx="309" cy="381"/>
          </a:xfrm>
        </p:grpSpPr>
        <p:grpSp>
          <p:nvGrpSpPr>
            <p:cNvPr id="79939" name="Group 19"/>
            <p:cNvGrpSpPr>
              <a:grpSpLocks/>
            </p:cNvGrpSpPr>
            <p:nvPr/>
          </p:nvGrpSpPr>
          <p:grpSpPr bwMode="auto">
            <a:xfrm>
              <a:off x="2994" y="2144"/>
              <a:ext cx="309" cy="310"/>
              <a:chOff x="2994" y="2144"/>
              <a:chExt cx="309" cy="310"/>
            </a:xfrm>
          </p:grpSpPr>
          <p:sp>
            <p:nvSpPr>
              <p:cNvPr id="50250" name="Text Box 20"/>
              <p:cNvSpPr txBox="1">
                <a:spLocks noChangeArrowheads="1"/>
              </p:cNvSpPr>
              <p:nvPr/>
            </p:nvSpPr>
            <p:spPr bwMode="auto">
              <a:xfrm>
                <a:off x="2994" y="2144"/>
                <a:ext cx="269"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K </a:t>
                </a:r>
              </a:p>
            </p:txBody>
          </p:sp>
          <p:sp>
            <p:nvSpPr>
              <p:cNvPr id="50251" name="Text Box 21"/>
              <p:cNvSpPr txBox="1">
                <a:spLocks noChangeArrowheads="1"/>
              </p:cNvSpPr>
              <p:nvPr/>
            </p:nvSpPr>
            <p:spPr bwMode="auto">
              <a:xfrm>
                <a:off x="3101" y="2241"/>
                <a:ext cx="202" cy="2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smtClean="0">
                    <a:solidFill>
                      <a:srgbClr val="C00000"/>
                    </a:solidFill>
                    <a:latin typeface="Arial" charset="0"/>
                    <a:cs typeface="Arial" charset="0"/>
                  </a:rPr>
                  <a:t>B</a:t>
                </a:r>
              </a:p>
            </p:txBody>
          </p:sp>
        </p:grpSp>
        <p:sp>
          <p:nvSpPr>
            <p:cNvPr id="50249" name="Text Box 22"/>
            <p:cNvSpPr txBox="1">
              <a:spLocks noChangeArrowheads="1"/>
            </p:cNvSpPr>
            <p:nvPr/>
          </p:nvSpPr>
          <p:spPr bwMode="auto">
            <a:xfrm>
              <a:off x="3122" y="2073"/>
              <a:ext cx="160" cy="2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smtClean="0">
                  <a:solidFill>
                    <a:srgbClr val="C00000"/>
                  </a:solidFill>
                  <a:latin typeface="Arial" charset="0"/>
                  <a:cs typeface="Arial" charset="0"/>
                </a:rPr>
                <a:t>-</a:t>
              </a:r>
            </a:p>
          </p:txBody>
        </p:sp>
      </p:grpSp>
      <p:sp>
        <p:nvSpPr>
          <p:cNvPr id="50190" name="Line 23"/>
          <p:cNvSpPr>
            <a:spLocks noChangeShapeType="1"/>
          </p:cNvSpPr>
          <p:nvPr/>
        </p:nvSpPr>
        <p:spPr bwMode="auto">
          <a:xfrm flipV="1">
            <a:off x="2535238" y="3702050"/>
            <a:ext cx="565150" cy="7938"/>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50191" name="Line 24"/>
          <p:cNvSpPr>
            <a:spLocks noChangeShapeType="1"/>
          </p:cNvSpPr>
          <p:nvPr/>
        </p:nvSpPr>
        <p:spPr bwMode="auto">
          <a:xfrm>
            <a:off x="3800475" y="4129088"/>
            <a:ext cx="15875" cy="3127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79887" name="Group 25"/>
          <p:cNvGrpSpPr>
            <a:grpSpLocks/>
          </p:cNvGrpSpPr>
          <p:nvPr/>
        </p:nvGrpSpPr>
        <p:grpSpPr bwMode="auto">
          <a:xfrm>
            <a:off x="828675" y="4799013"/>
            <a:ext cx="846138" cy="519112"/>
            <a:chOff x="984" y="2831"/>
            <a:chExt cx="533" cy="327"/>
          </a:xfrm>
        </p:grpSpPr>
        <p:sp>
          <p:nvSpPr>
            <p:cNvPr id="50246" name="Text Box 26"/>
            <p:cNvSpPr txBox="1">
              <a:spLocks noChangeArrowheads="1"/>
            </p:cNvSpPr>
            <p:nvPr/>
          </p:nvSpPr>
          <p:spPr bwMode="auto">
            <a:xfrm>
              <a:off x="984" y="2831"/>
              <a:ext cx="533" cy="32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800" smtClean="0">
                  <a:latin typeface="Arial" charset="0"/>
                  <a:cs typeface="Arial" charset="0"/>
                </a:rPr>
                <a:t>+</a:t>
              </a:r>
            </a:p>
          </p:txBody>
        </p:sp>
        <p:sp>
          <p:nvSpPr>
            <p:cNvPr id="50247" name="Oval 27"/>
            <p:cNvSpPr>
              <a:spLocks noChangeArrowheads="1"/>
            </p:cNvSpPr>
            <p:nvPr/>
          </p:nvSpPr>
          <p:spPr bwMode="auto">
            <a:xfrm>
              <a:off x="1152" y="2924"/>
              <a:ext cx="195" cy="16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grpSp>
      <p:sp>
        <p:nvSpPr>
          <p:cNvPr id="50193" name="Line 28"/>
          <p:cNvSpPr>
            <a:spLocks noChangeShapeType="1"/>
          </p:cNvSpPr>
          <p:nvPr/>
        </p:nvSpPr>
        <p:spPr bwMode="auto">
          <a:xfrm>
            <a:off x="1276350" y="2928938"/>
            <a:ext cx="0" cy="1981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50194" name="Line 29"/>
          <p:cNvSpPr>
            <a:spLocks noChangeShapeType="1"/>
          </p:cNvSpPr>
          <p:nvPr/>
        </p:nvSpPr>
        <p:spPr bwMode="auto">
          <a:xfrm>
            <a:off x="1249363" y="5222875"/>
            <a:ext cx="3175"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pic>
        <p:nvPicPr>
          <p:cNvPr id="79890" name="Picture 30" descr="BS00592_[1]"/>
          <p:cNvPicPr>
            <a:picLocks noGrp="1" noChangeAspect="1" noChangeArrowheads="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a:xfrm>
            <a:off x="993775" y="5551488"/>
            <a:ext cx="627063" cy="76835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196" name="Rectangle 31"/>
          <p:cNvSpPr>
            <a:spLocks noChangeArrowheads="1"/>
          </p:cNvSpPr>
          <p:nvPr/>
        </p:nvSpPr>
        <p:spPr bwMode="auto">
          <a:xfrm>
            <a:off x="520700" y="1096963"/>
            <a:ext cx="3810000" cy="112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0099"/>
              </a:buClr>
              <a:buSzPct val="75000"/>
              <a:buFont typeface="Wingdings" charset="0"/>
              <a:buNone/>
              <a:defRPr/>
            </a:pPr>
            <a:r>
              <a:rPr lang="en-US" sz="2400">
                <a:latin typeface="Gill Sans MT" charset="0"/>
                <a:ea typeface="ＭＳ Ｐゴシック" charset="0"/>
              </a:rPr>
              <a:t>Bob sends digitally signed message:</a:t>
            </a:r>
          </a:p>
        </p:txBody>
      </p:sp>
      <p:sp>
        <p:nvSpPr>
          <p:cNvPr id="217120" name="Rectangle 32"/>
          <p:cNvSpPr>
            <a:spLocks noGrp="1" noChangeArrowheads="1"/>
          </p:cNvSpPr>
          <p:nvPr>
            <p:ph type="body" sz="half" idx="2"/>
          </p:nvPr>
        </p:nvSpPr>
        <p:spPr>
          <a:xfrm>
            <a:off x="4883150" y="1211263"/>
            <a:ext cx="4238625" cy="10572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Wingdings" pitchFamily="2" charset="2"/>
              <a:buNone/>
            </a:pPr>
            <a:r>
              <a:rPr lang="en-US" altLang="en-US" sz="2400" smtClean="0">
                <a:ea typeface="ＭＳ Ｐゴシック" pitchFamily="34" charset="-128"/>
              </a:rPr>
              <a:t>Alice verifies signature, integrity of digitally signed message:</a:t>
            </a:r>
          </a:p>
        </p:txBody>
      </p:sp>
      <p:grpSp>
        <p:nvGrpSpPr>
          <p:cNvPr id="79893" name="Group 33"/>
          <p:cNvGrpSpPr>
            <a:grpSpLocks/>
          </p:cNvGrpSpPr>
          <p:nvPr/>
        </p:nvGrpSpPr>
        <p:grpSpPr bwMode="auto">
          <a:xfrm>
            <a:off x="2959100" y="4325938"/>
            <a:ext cx="1722438" cy="995362"/>
            <a:chOff x="3157" y="2362"/>
            <a:chExt cx="1085" cy="627"/>
          </a:xfrm>
        </p:grpSpPr>
        <p:grpSp>
          <p:nvGrpSpPr>
            <p:cNvPr id="79932" name="Group 34"/>
            <p:cNvGrpSpPr>
              <a:grpSpLocks/>
            </p:cNvGrpSpPr>
            <p:nvPr/>
          </p:nvGrpSpPr>
          <p:grpSpPr bwMode="auto">
            <a:xfrm>
              <a:off x="3220" y="2639"/>
              <a:ext cx="923" cy="339"/>
              <a:chOff x="2546" y="3029"/>
              <a:chExt cx="923" cy="339"/>
            </a:xfrm>
          </p:grpSpPr>
          <p:sp>
            <p:nvSpPr>
              <p:cNvPr id="50244" name="Text Box 35"/>
              <p:cNvSpPr txBox="1">
                <a:spLocks noChangeArrowheads="1"/>
              </p:cNvSpPr>
              <p:nvPr/>
            </p:nvSpPr>
            <p:spPr bwMode="auto">
              <a:xfrm>
                <a:off x="2546" y="3118"/>
                <a:ext cx="923"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K</a:t>
                </a:r>
                <a:r>
                  <a:rPr lang="en-US" sz="2400" baseline="-25000" smtClean="0">
                    <a:solidFill>
                      <a:srgbClr val="C00000"/>
                    </a:solidFill>
                    <a:latin typeface="Arial" charset="0"/>
                    <a:cs typeface="Arial" charset="0"/>
                  </a:rPr>
                  <a:t>B</a:t>
                </a:r>
                <a:r>
                  <a:rPr lang="en-US" smtClean="0">
                    <a:solidFill>
                      <a:srgbClr val="C00000"/>
                    </a:solidFill>
                    <a:latin typeface="Arial" charset="0"/>
                    <a:cs typeface="Arial" charset="0"/>
                  </a:rPr>
                  <a:t>(H(m))</a:t>
                </a:r>
              </a:p>
            </p:txBody>
          </p:sp>
          <p:sp>
            <p:nvSpPr>
              <p:cNvPr id="50245" name="Text Box 36"/>
              <p:cNvSpPr txBox="1">
                <a:spLocks noChangeArrowheads="1"/>
              </p:cNvSpPr>
              <p:nvPr/>
            </p:nvSpPr>
            <p:spPr bwMode="auto">
              <a:xfrm>
                <a:off x="2554" y="3029"/>
                <a:ext cx="533"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a:t>
                </a:r>
              </a:p>
            </p:txBody>
          </p:sp>
        </p:grpSp>
        <p:sp>
          <p:nvSpPr>
            <p:cNvPr id="50242" name="Rectangle 37"/>
            <p:cNvSpPr>
              <a:spLocks noChangeArrowheads="1"/>
            </p:cNvSpPr>
            <p:nvPr/>
          </p:nvSpPr>
          <p:spPr bwMode="auto">
            <a:xfrm>
              <a:off x="3291" y="2378"/>
              <a:ext cx="780" cy="6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C00000"/>
                </a:solidFill>
                <a:latin typeface="Arial" charset="0"/>
                <a:ea typeface="ＭＳ Ｐゴシック" charset="0"/>
                <a:cs typeface="Arial" charset="0"/>
              </a:endParaRPr>
            </a:p>
          </p:txBody>
        </p:sp>
        <p:sp>
          <p:nvSpPr>
            <p:cNvPr id="50243" name="Text Box 38"/>
            <p:cNvSpPr txBox="1">
              <a:spLocks noChangeArrowheads="1"/>
            </p:cNvSpPr>
            <p:nvPr/>
          </p:nvSpPr>
          <p:spPr bwMode="auto">
            <a:xfrm>
              <a:off x="3157" y="2362"/>
              <a:ext cx="1085"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C00000"/>
                  </a:solidFill>
                  <a:latin typeface="Arial" charset="0"/>
                  <a:cs typeface="Arial" charset="0"/>
                </a:rPr>
                <a:t>encrypted </a:t>
              </a:r>
            </a:p>
            <a:p>
              <a:pPr algn="ctr">
                <a:defRPr/>
              </a:pPr>
              <a:r>
                <a:rPr lang="en-US" sz="1800" smtClean="0">
                  <a:solidFill>
                    <a:srgbClr val="C00000"/>
                  </a:solidFill>
                  <a:latin typeface="Arial" charset="0"/>
                  <a:cs typeface="Arial" charset="0"/>
                </a:rPr>
                <a:t>msg digest</a:t>
              </a:r>
            </a:p>
          </p:txBody>
        </p:sp>
      </p:grpSp>
      <p:sp>
        <p:nvSpPr>
          <p:cNvPr id="50199" name="Line 39"/>
          <p:cNvSpPr>
            <a:spLocks noChangeShapeType="1"/>
          </p:cNvSpPr>
          <p:nvPr/>
        </p:nvSpPr>
        <p:spPr bwMode="auto">
          <a:xfrm flipH="1">
            <a:off x="1377950" y="5078413"/>
            <a:ext cx="18018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pic>
        <p:nvPicPr>
          <p:cNvPr id="217128" name="Picture 40" descr="BS00592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0038" y="2201863"/>
            <a:ext cx="627062"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129" name="Line 41"/>
          <p:cNvSpPr>
            <a:spLocks noChangeShapeType="1"/>
          </p:cNvSpPr>
          <p:nvPr/>
        </p:nvSpPr>
        <p:spPr bwMode="auto">
          <a:xfrm>
            <a:off x="8116888" y="3352800"/>
            <a:ext cx="15875" cy="3127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217130" name="Group 42"/>
          <p:cNvGrpSpPr>
            <a:grpSpLocks/>
          </p:cNvGrpSpPr>
          <p:nvPr/>
        </p:nvGrpSpPr>
        <p:grpSpPr bwMode="auto">
          <a:xfrm>
            <a:off x="7248525" y="2339975"/>
            <a:ext cx="1722438" cy="995363"/>
            <a:chOff x="3157" y="2362"/>
            <a:chExt cx="1085" cy="627"/>
          </a:xfrm>
        </p:grpSpPr>
        <p:grpSp>
          <p:nvGrpSpPr>
            <p:cNvPr id="79927" name="Group 43"/>
            <p:cNvGrpSpPr>
              <a:grpSpLocks/>
            </p:cNvGrpSpPr>
            <p:nvPr/>
          </p:nvGrpSpPr>
          <p:grpSpPr bwMode="auto">
            <a:xfrm>
              <a:off x="3220" y="2639"/>
              <a:ext cx="923" cy="339"/>
              <a:chOff x="2546" y="3029"/>
              <a:chExt cx="923" cy="339"/>
            </a:xfrm>
          </p:grpSpPr>
          <p:sp>
            <p:nvSpPr>
              <p:cNvPr id="50239" name="Text Box 44"/>
              <p:cNvSpPr txBox="1">
                <a:spLocks noChangeArrowheads="1"/>
              </p:cNvSpPr>
              <p:nvPr/>
            </p:nvSpPr>
            <p:spPr bwMode="auto">
              <a:xfrm>
                <a:off x="2546" y="3118"/>
                <a:ext cx="923"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K</a:t>
                </a:r>
                <a:r>
                  <a:rPr lang="en-US" sz="2400" baseline="-25000" smtClean="0">
                    <a:solidFill>
                      <a:srgbClr val="C00000"/>
                    </a:solidFill>
                    <a:latin typeface="Arial" charset="0"/>
                    <a:cs typeface="Arial" charset="0"/>
                  </a:rPr>
                  <a:t>B</a:t>
                </a:r>
                <a:r>
                  <a:rPr lang="en-US" smtClean="0">
                    <a:solidFill>
                      <a:srgbClr val="C00000"/>
                    </a:solidFill>
                    <a:latin typeface="Arial" charset="0"/>
                    <a:cs typeface="Arial" charset="0"/>
                  </a:rPr>
                  <a:t>(H(m))</a:t>
                </a:r>
              </a:p>
            </p:txBody>
          </p:sp>
          <p:sp>
            <p:nvSpPr>
              <p:cNvPr id="50240" name="Text Box 45"/>
              <p:cNvSpPr txBox="1">
                <a:spLocks noChangeArrowheads="1"/>
              </p:cNvSpPr>
              <p:nvPr/>
            </p:nvSpPr>
            <p:spPr bwMode="auto">
              <a:xfrm>
                <a:off x="2554" y="3029"/>
                <a:ext cx="533"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a:t>
                </a:r>
              </a:p>
            </p:txBody>
          </p:sp>
        </p:grpSp>
        <p:sp>
          <p:nvSpPr>
            <p:cNvPr id="50237" name="Rectangle 46"/>
            <p:cNvSpPr>
              <a:spLocks noChangeArrowheads="1"/>
            </p:cNvSpPr>
            <p:nvPr/>
          </p:nvSpPr>
          <p:spPr bwMode="auto">
            <a:xfrm>
              <a:off x="3291" y="2378"/>
              <a:ext cx="780" cy="6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C00000"/>
                </a:solidFill>
                <a:latin typeface="Arial" charset="0"/>
                <a:ea typeface="ＭＳ Ｐゴシック" charset="0"/>
                <a:cs typeface="Arial" charset="0"/>
              </a:endParaRPr>
            </a:p>
          </p:txBody>
        </p:sp>
        <p:sp>
          <p:nvSpPr>
            <p:cNvPr id="50238" name="Text Box 47"/>
            <p:cNvSpPr txBox="1">
              <a:spLocks noChangeArrowheads="1"/>
            </p:cNvSpPr>
            <p:nvPr/>
          </p:nvSpPr>
          <p:spPr bwMode="auto">
            <a:xfrm>
              <a:off x="3157" y="2362"/>
              <a:ext cx="1085"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C00000"/>
                  </a:solidFill>
                  <a:latin typeface="Arial" charset="0"/>
                  <a:cs typeface="Arial" charset="0"/>
                </a:rPr>
                <a:t>encrypted </a:t>
              </a:r>
            </a:p>
            <a:p>
              <a:pPr algn="ctr">
                <a:defRPr/>
              </a:pPr>
              <a:r>
                <a:rPr lang="en-US" sz="1800" smtClean="0">
                  <a:solidFill>
                    <a:srgbClr val="C00000"/>
                  </a:solidFill>
                  <a:latin typeface="Arial" charset="0"/>
                  <a:cs typeface="Arial" charset="0"/>
                </a:rPr>
                <a:t>msg digest</a:t>
              </a:r>
            </a:p>
          </p:txBody>
        </p:sp>
      </p:grpSp>
      <p:grpSp>
        <p:nvGrpSpPr>
          <p:cNvPr id="217136" name="Group 48"/>
          <p:cNvGrpSpPr>
            <a:grpSpLocks/>
          </p:cNvGrpSpPr>
          <p:nvPr/>
        </p:nvGrpSpPr>
        <p:grpSpPr bwMode="auto">
          <a:xfrm>
            <a:off x="5054600" y="3254375"/>
            <a:ext cx="1343025" cy="841375"/>
            <a:chOff x="403" y="1308"/>
            <a:chExt cx="846" cy="530"/>
          </a:xfrm>
        </p:grpSpPr>
        <p:sp>
          <p:nvSpPr>
            <p:cNvPr id="50234" name="Rectangle 49"/>
            <p:cNvSpPr>
              <a:spLocks noChangeArrowheads="1"/>
            </p:cNvSpPr>
            <p:nvPr/>
          </p:nvSpPr>
          <p:spPr bwMode="auto">
            <a:xfrm>
              <a:off x="477" y="1308"/>
              <a:ext cx="685" cy="49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C00000"/>
                </a:solidFill>
                <a:latin typeface="Arial" charset="0"/>
                <a:ea typeface="ＭＳ Ｐゴシック" charset="0"/>
                <a:cs typeface="Arial" charset="0"/>
              </a:endParaRPr>
            </a:p>
          </p:txBody>
        </p:sp>
        <p:sp>
          <p:nvSpPr>
            <p:cNvPr id="50235" name="Text Box 50"/>
            <p:cNvSpPr txBox="1">
              <a:spLocks noChangeArrowheads="1"/>
            </p:cNvSpPr>
            <p:nvPr/>
          </p:nvSpPr>
          <p:spPr bwMode="auto">
            <a:xfrm>
              <a:off x="403" y="1318"/>
              <a:ext cx="846" cy="5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80000"/>
                </a:lnSpc>
                <a:defRPr/>
              </a:pPr>
              <a:r>
                <a:rPr lang="en-US" smtClean="0">
                  <a:solidFill>
                    <a:srgbClr val="C00000"/>
                  </a:solidFill>
                  <a:latin typeface="Arial" charset="0"/>
                  <a:cs typeface="Arial" charset="0"/>
                </a:rPr>
                <a:t>large </a:t>
              </a:r>
            </a:p>
            <a:p>
              <a:pPr algn="ctr">
                <a:lnSpc>
                  <a:spcPct val="80000"/>
                </a:lnSpc>
                <a:defRPr/>
              </a:pPr>
              <a:r>
                <a:rPr lang="en-US" smtClean="0">
                  <a:solidFill>
                    <a:srgbClr val="C00000"/>
                  </a:solidFill>
                  <a:latin typeface="Arial" charset="0"/>
                  <a:cs typeface="Arial" charset="0"/>
                </a:rPr>
                <a:t>message</a:t>
              </a:r>
            </a:p>
            <a:p>
              <a:pPr algn="ctr">
                <a:lnSpc>
                  <a:spcPct val="80000"/>
                </a:lnSpc>
                <a:defRPr/>
              </a:pPr>
              <a:r>
                <a:rPr lang="en-US" smtClean="0">
                  <a:solidFill>
                    <a:srgbClr val="C00000"/>
                  </a:solidFill>
                  <a:latin typeface="Arial" charset="0"/>
                  <a:cs typeface="Arial" charset="0"/>
                </a:rPr>
                <a:t>m</a:t>
              </a:r>
            </a:p>
          </p:txBody>
        </p:sp>
      </p:grpSp>
      <p:grpSp>
        <p:nvGrpSpPr>
          <p:cNvPr id="217139" name="Group 51"/>
          <p:cNvGrpSpPr>
            <a:grpSpLocks/>
          </p:cNvGrpSpPr>
          <p:nvPr/>
        </p:nvGrpSpPr>
        <p:grpSpPr bwMode="auto">
          <a:xfrm>
            <a:off x="5187950" y="4287838"/>
            <a:ext cx="1017588" cy="650875"/>
            <a:chOff x="1391" y="982"/>
            <a:chExt cx="641" cy="410"/>
          </a:xfrm>
          <a:solidFill>
            <a:srgbClr val="008000"/>
          </a:solidFill>
        </p:grpSpPr>
        <p:sp>
          <p:nvSpPr>
            <p:cNvPr id="50232" name="Rectangle 52"/>
            <p:cNvSpPr>
              <a:spLocks noChangeArrowheads="1"/>
            </p:cNvSpPr>
            <p:nvPr/>
          </p:nvSpPr>
          <p:spPr bwMode="auto">
            <a:xfrm>
              <a:off x="1397" y="982"/>
              <a:ext cx="619" cy="39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50233" name="Text Box 53"/>
            <p:cNvSpPr txBox="1">
              <a:spLocks noChangeArrowheads="1"/>
            </p:cNvSpPr>
            <p:nvPr/>
          </p:nvSpPr>
          <p:spPr bwMode="auto">
            <a:xfrm>
              <a:off x="1391" y="985"/>
              <a:ext cx="641" cy="40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chemeClr val="bg1"/>
                  </a:solidFill>
                  <a:latin typeface="Arial" charset="0"/>
                  <a:cs typeface="Arial" charset="0"/>
                </a:rPr>
                <a:t>H: Hash</a:t>
              </a:r>
            </a:p>
            <a:p>
              <a:pPr algn="ctr">
                <a:defRPr/>
              </a:pPr>
              <a:r>
                <a:rPr lang="en-US" sz="1800" smtClean="0">
                  <a:solidFill>
                    <a:schemeClr val="bg1"/>
                  </a:solidFill>
                  <a:latin typeface="Arial" charset="0"/>
                  <a:cs typeface="Arial" charset="0"/>
                </a:rPr>
                <a:t>function</a:t>
              </a:r>
            </a:p>
          </p:txBody>
        </p:sp>
      </p:grpSp>
      <p:grpSp>
        <p:nvGrpSpPr>
          <p:cNvPr id="217142" name="Group 54"/>
          <p:cNvGrpSpPr>
            <a:grpSpLocks/>
          </p:cNvGrpSpPr>
          <p:nvPr/>
        </p:nvGrpSpPr>
        <p:grpSpPr bwMode="auto">
          <a:xfrm>
            <a:off x="5289550" y="5132388"/>
            <a:ext cx="873125" cy="420687"/>
            <a:chOff x="3305" y="3136"/>
            <a:chExt cx="550" cy="265"/>
          </a:xfrm>
        </p:grpSpPr>
        <p:sp>
          <p:nvSpPr>
            <p:cNvPr id="50230" name="Rectangle 55"/>
            <p:cNvSpPr>
              <a:spLocks noChangeArrowheads="1"/>
            </p:cNvSpPr>
            <p:nvPr/>
          </p:nvSpPr>
          <p:spPr bwMode="auto">
            <a:xfrm>
              <a:off x="3336" y="3136"/>
              <a:ext cx="480" cy="25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C00000"/>
                </a:solidFill>
                <a:latin typeface="Arial" charset="0"/>
                <a:ea typeface="ＭＳ Ｐゴシック" charset="0"/>
                <a:cs typeface="Arial" charset="0"/>
              </a:endParaRPr>
            </a:p>
          </p:txBody>
        </p:sp>
        <p:sp>
          <p:nvSpPr>
            <p:cNvPr id="50231" name="Text Box 56"/>
            <p:cNvSpPr txBox="1">
              <a:spLocks noChangeArrowheads="1"/>
            </p:cNvSpPr>
            <p:nvPr/>
          </p:nvSpPr>
          <p:spPr bwMode="auto">
            <a:xfrm>
              <a:off x="3305" y="3151"/>
              <a:ext cx="550"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H(m)</a:t>
              </a:r>
            </a:p>
          </p:txBody>
        </p:sp>
      </p:grpSp>
      <p:grpSp>
        <p:nvGrpSpPr>
          <p:cNvPr id="217145" name="Group 57"/>
          <p:cNvGrpSpPr>
            <a:grpSpLocks/>
          </p:cNvGrpSpPr>
          <p:nvPr/>
        </p:nvGrpSpPr>
        <p:grpSpPr bwMode="auto">
          <a:xfrm>
            <a:off x="7596188" y="3705225"/>
            <a:ext cx="1192212" cy="955675"/>
            <a:chOff x="1126" y="2124"/>
            <a:chExt cx="751" cy="602"/>
          </a:xfrm>
          <a:solidFill>
            <a:srgbClr val="008000"/>
          </a:solidFill>
        </p:grpSpPr>
        <p:sp>
          <p:nvSpPr>
            <p:cNvPr id="50228" name="Rectangle 58"/>
            <p:cNvSpPr>
              <a:spLocks noChangeArrowheads="1"/>
            </p:cNvSpPr>
            <p:nvPr/>
          </p:nvSpPr>
          <p:spPr bwMode="auto">
            <a:xfrm>
              <a:off x="1126" y="2124"/>
              <a:ext cx="751" cy="60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cs typeface="Arial" charset="0"/>
              </a:endParaRPr>
            </a:p>
          </p:txBody>
        </p:sp>
        <p:sp>
          <p:nvSpPr>
            <p:cNvPr id="50229" name="Text Box 59"/>
            <p:cNvSpPr txBox="1">
              <a:spLocks noChangeArrowheads="1"/>
            </p:cNvSpPr>
            <p:nvPr/>
          </p:nvSpPr>
          <p:spPr bwMode="auto">
            <a:xfrm>
              <a:off x="1148" y="2127"/>
              <a:ext cx="714" cy="58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chemeClr val="bg1"/>
                  </a:solidFill>
                  <a:latin typeface="Arial" charset="0"/>
                  <a:cs typeface="Arial" charset="0"/>
                </a:rPr>
                <a:t>digital</a:t>
              </a:r>
            </a:p>
            <a:p>
              <a:pPr algn="ctr">
                <a:defRPr/>
              </a:pPr>
              <a:r>
                <a:rPr lang="en-US" sz="1800" smtClean="0">
                  <a:solidFill>
                    <a:schemeClr val="bg1"/>
                  </a:solidFill>
                  <a:latin typeface="Arial" charset="0"/>
                  <a:cs typeface="Arial" charset="0"/>
                </a:rPr>
                <a:t>signature</a:t>
              </a:r>
            </a:p>
            <a:p>
              <a:pPr algn="ctr">
                <a:defRPr/>
              </a:pPr>
              <a:r>
                <a:rPr lang="en-US" sz="1800" smtClean="0">
                  <a:solidFill>
                    <a:schemeClr val="bg1"/>
                  </a:solidFill>
                  <a:latin typeface="Arial" charset="0"/>
                  <a:cs typeface="Arial" charset="0"/>
                </a:rPr>
                <a:t>(decrypt)</a:t>
              </a:r>
            </a:p>
          </p:txBody>
        </p:sp>
      </p:grpSp>
      <p:sp>
        <p:nvSpPr>
          <p:cNvPr id="217148" name="Line 60"/>
          <p:cNvSpPr>
            <a:spLocks noChangeShapeType="1"/>
          </p:cNvSpPr>
          <p:nvPr/>
        </p:nvSpPr>
        <p:spPr bwMode="auto">
          <a:xfrm>
            <a:off x="8132763" y="4748213"/>
            <a:ext cx="15875" cy="3127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217149" name="Group 61"/>
          <p:cNvGrpSpPr>
            <a:grpSpLocks/>
          </p:cNvGrpSpPr>
          <p:nvPr/>
        </p:nvGrpSpPr>
        <p:grpSpPr bwMode="auto">
          <a:xfrm>
            <a:off x="7762875" y="5129213"/>
            <a:ext cx="873125" cy="420687"/>
            <a:chOff x="3305" y="3136"/>
            <a:chExt cx="550" cy="265"/>
          </a:xfrm>
        </p:grpSpPr>
        <p:sp>
          <p:nvSpPr>
            <p:cNvPr id="50226" name="Rectangle 62"/>
            <p:cNvSpPr>
              <a:spLocks noChangeArrowheads="1"/>
            </p:cNvSpPr>
            <p:nvPr/>
          </p:nvSpPr>
          <p:spPr bwMode="auto">
            <a:xfrm>
              <a:off x="3336" y="3136"/>
              <a:ext cx="480" cy="25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C00000"/>
                </a:solidFill>
                <a:latin typeface="Arial" charset="0"/>
                <a:ea typeface="ＭＳ Ｐゴシック" charset="0"/>
                <a:cs typeface="Arial" charset="0"/>
              </a:endParaRPr>
            </a:p>
          </p:txBody>
        </p:sp>
        <p:sp>
          <p:nvSpPr>
            <p:cNvPr id="50227" name="Text Box 63"/>
            <p:cNvSpPr txBox="1">
              <a:spLocks noChangeArrowheads="1"/>
            </p:cNvSpPr>
            <p:nvPr/>
          </p:nvSpPr>
          <p:spPr bwMode="auto">
            <a:xfrm>
              <a:off x="3305" y="3151"/>
              <a:ext cx="550"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H(m)</a:t>
              </a:r>
            </a:p>
          </p:txBody>
        </p:sp>
      </p:grpSp>
      <p:sp>
        <p:nvSpPr>
          <p:cNvPr id="217152" name="Line 64"/>
          <p:cNvSpPr>
            <a:spLocks noChangeShapeType="1"/>
          </p:cNvSpPr>
          <p:nvPr/>
        </p:nvSpPr>
        <p:spPr bwMode="auto">
          <a:xfrm flipH="1">
            <a:off x="6003925" y="2571750"/>
            <a:ext cx="1449388"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17153" name="Line 65"/>
          <p:cNvSpPr>
            <a:spLocks noChangeShapeType="1"/>
          </p:cNvSpPr>
          <p:nvPr/>
        </p:nvSpPr>
        <p:spPr bwMode="auto">
          <a:xfrm>
            <a:off x="5638800" y="2914650"/>
            <a:ext cx="15875" cy="3127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17154" name="Line 66"/>
          <p:cNvSpPr>
            <a:spLocks noChangeShapeType="1"/>
          </p:cNvSpPr>
          <p:nvPr/>
        </p:nvSpPr>
        <p:spPr bwMode="auto">
          <a:xfrm>
            <a:off x="5678488" y="4037013"/>
            <a:ext cx="15875" cy="3127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17155" name="Line 67"/>
          <p:cNvSpPr>
            <a:spLocks noChangeShapeType="1"/>
          </p:cNvSpPr>
          <p:nvPr/>
        </p:nvSpPr>
        <p:spPr bwMode="auto">
          <a:xfrm>
            <a:off x="5689600" y="4892675"/>
            <a:ext cx="15875" cy="3127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17156" name="Text Box 68"/>
          <p:cNvSpPr txBox="1">
            <a:spLocks noChangeArrowheads="1"/>
          </p:cNvSpPr>
          <p:nvPr/>
        </p:nvSpPr>
        <p:spPr bwMode="auto">
          <a:xfrm>
            <a:off x="6061075" y="3643313"/>
            <a:ext cx="960438" cy="825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1600">
                <a:latin typeface="Arial" pitchFamily="34" charset="0"/>
                <a:cs typeface="Arial" pitchFamily="34" charset="0"/>
              </a:rPr>
              <a:t>Bob</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r"/>
            <a:r>
              <a:rPr lang="en-US" altLang="en-US" sz="1600">
                <a:latin typeface="Arial" pitchFamily="34" charset="0"/>
                <a:cs typeface="Arial" pitchFamily="34" charset="0"/>
              </a:rPr>
              <a:t>public</a:t>
            </a:r>
          </a:p>
          <a:p>
            <a:pPr algn="r"/>
            <a:r>
              <a:rPr lang="en-US" altLang="en-US" sz="1600">
                <a:latin typeface="Arial" pitchFamily="34" charset="0"/>
                <a:cs typeface="Arial" pitchFamily="34" charset="0"/>
              </a:rPr>
              <a:t>key </a:t>
            </a:r>
          </a:p>
        </p:txBody>
      </p:sp>
      <p:pic>
        <p:nvPicPr>
          <p:cNvPr id="217157" name="Picture 69" descr="BS00768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7038975" y="3724275"/>
            <a:ext cx="458788"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7158" name="Group 70"/>
          <p:cNvGrpSpPr>
            <a:grpSpLocks/>
          </p:cNvGrpSpPr>
          <p:nvPr/>
        </p:nvGrpSpPr>
        <p:grpSpPr bwMode="auto">
          <a:xfrm>
            <a:off x="6977063" y="4049713"/>
            <a:ext cx="490537" cy="604837"/>
            <a:chOff x="2994" y="2073"/>
            <a:chExt cx="309" cy="381"/>
          </a:xfrm>
        </p:grpSpPr>
        <p:grpSp>
          <p:nvGrpSpPr>
            <p:cNvPr id="79917" name="Group 71"/>
            <p:cNvGrpSpPr>
              <a:grpSpLocks/>
            </p:cNvGrpSpPr>
            <p:nvPr/>
          </p:nvGrpSpPr>
          <p:grpSpPr bwMode="auto">
            <a:xfrm>
              <a:off x="2994" y="2144"/>
              <a:ext cx="309" cy="310"/>
              <a:chOff x="2994" y="2144"/>
              <a:chExt cx="309" cy="310"/>
            </a:xfrm>
          </p:grpSpPr>
          <p:sp>
            <p:nvSpPr>
              <p:cNvPr id="50224" name="Text Box 72"/>
              <p:cNvSpPr txBox="1">
                <a:spLocks noChangeArrowheads="1"/>
              </p:cNvSpPr>
              <p:nvPr/>
            </p:nvSpPr>
            <p:spPr bwMode="auto">
              <a:xfrm>
                <a:off x="2994" y="2144"/>
                <a:ext cx="269"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mtClean="0">
                    <a:solidFill>
                      <a:srgbClr val="C00000"/>
                    </a:solidFill>
                    <a:latin typeface="Arial" charset="0"/>
                    <a:cs typeface="Arial" charset="0"/>
                  </a:rPr>
                  <a:t>K </a:t>
                </a:r>
              </a:p>
            </p:txBody>
          </p:sp>
          <p:sp>
            <p:nvSpPr>
              <p:cNvPr id="50225" name="Text Box 73"/>
              <p:cNvSpPr txBox="1">
                <a:spLocks noChangeArrowheads="1"/>
              </p:cNvSpPr>
              <p:nvPr/>
            </p:nvSpPr>
            <p:spPr bwMode="auto">
              <a:xfrm>
                <a:off x="3101" y="2241"/>
                <a:ext cx="202" cy="2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smtClean="0">
                    <a:solidFill>
                      <a:srgbClr val="C00000"/>
                    </a:solidFill>
                    <a:latin typeface="Arial" charset="0"/>
                    <a:cs typeface="Arial" charset="0"/>
                  </a:rPr>
                  <a:t>B</a:t>
                </a:r>
              </a:p>
            </p:txBody>
          </p:sp>
        </p:grpSp>
        <p:sp>
          <p:nvSpPr>
            <p:cNvPr id="50223" name="Text Box 74"/>
            <p:cNvSpPr txBox="1">
              <a:spLocks noChangeArrowheads="1"/>
            </p:cNvSpPr>
            <p:nvPr/>
          </p:nvSpPr>
          <p:spPr bwMode="auto">
            <a:xfrm>
              <a:off x="3106" y="2073"/>
              <a:ext cx="192" cy="2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smtClean="0">
                  <a:solidFill>
                    <a:srgbClr val="C00000"/>
                  </a:solidFill>
                  <a:latin typeface="Arial" charset="0"/>
                  <a:cs typeface="Arial" charset="0"/>
                </a:rPr>
                <a:t>+</a:t>
              </a:r>
            </a:p>
          </p:txBody>
        </p:sp>
      </p:grpSp>
      <p:sp>
        <p:nvSpPr>
          <p:cNvPr id="217163" name="Line 75"/>
          <p:cNvSpPr>
            <a:spLocks noChangeShapeType="1"/>
          </p:cNvSpPr>
          <p:nvPr/>
        </p:nvSpPr>
        <p:spPr bwMode="auto">
          <a:xfrm flipV="1">
            <a:off x="7105650" y="4092575"/>
            <a:ext cx="423863" cy="7938"/>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17164" name="Line 76"/>
          <p:cNvSpPr>
            <a:spLocks noChangeShapeType="1"/>
          </p:cNvSpPr>
          <p:nvPr/>
        </p:nvSpPr>
        <p:spPr bwMode="auto">
          <a:xfrm>
            <a:off x="5681663" y="5581650"/>
            <a:ext cx="873125" cy="2111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17165" name="Line 77"/>
          <p:cNvSpPr>
            <a:spLocks noChangeShapeType="1"/>
          </p:cNvSpPr>
          <p:nvPr/>
        </p:nvSpPr>
        <p:spPr bwMode="auto">
          <a:xfrm flipH="1">
            <a:off x="7299325" y="5575300"/>
            <a:ext cx="873125" cy="2111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17166" name="Text Box 78"/>
          <p:cNvSpPr txBox="1">
            <a:spLocks noChangeArrowheads="1"/>
          </p:cNvSpPr>
          <p:nvPr/>
        </p:nvSpPr>
        <p:spPr bwMode="auto">
          <a:xfrm>
            <a:off x="6170613" y="5640388"/>
            <a:ext cx="1439862" cy="8302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400" smtClean="0">
                <a:latin typeface="Arial" charset="0"/>
                <a:cs typeface="Arial" charset="0"/>
              </a:rPr>
              <a:t>equal</a:t>
            </a:r>
          </a:p>
          <a:p>
            <a:pPr algn="ctr">
              <a:defRPr/>
            </a:pPr>
            <a:r>
              <a:rPr lang="en-US" sz="2400" smtClean="0">
                <a:latin typeface="Arial" charset="0"/>
                <a:cs typeface="Arial" charset="0"/>
              </a:rPr>
              <a:t> ?</a:t>
            </a:r>
          </a:p>
        </p:txBody>
      </p:sp>
      <p:sp>
        <p:nvSpPr>
          <p:cNvPr id="50220" name="Rectangle 79"/>
          <p:cNvSpPr>
            <a:spLocks noChangeArrowheads="1"/>
          </p:cNvSpPr>
          <p:nvPr/>
        </p:nvSpPr>
        <p:spPr bwMode="auto">
          <a:xfrm>
            <a:off x="244475" y="0"/>
            <a:ext cx="8183563"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r>
              <a:rPr lang="en-US" sz="3600">
                <a:solidFill>
                  <a:srgbClr val="000099"/>
                </a:solidFill>
                <a:latin typeface="Gill Sans MT" charset="0"/>
                <a:ea typeface="ＭＳ Ｐゴシック" charset="0"/>
              </a:rPr>
              <a:t>Digital signature = signed message digest</a:t>
            </a:r>
          </a:p>
        </p:txBody>
      </p:sp>
      <p:pic>
        <p:nvPicPr>
          <p:cNvPr id="79916" name="Picture 6" descr="underline_bas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513" y="806450"/>
            <a:ext cx="8228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7120">
                                            <p:txEl>
                                              <p:pRg st="0" end="0"/>
                                            </p:txEl>
                                          </p:spTgt>
                                        </p:tgtEl>
                                        <p:attrNameLst>
                                          <p:attrName>style.visibility</p:attrName>
                                        </p:attrNameLst>
                                      </p:cBhvr>
                                      <p:to>
                                        <p:strVal val="visible"/>
                                      </p:to>
                                    </p:set>
                                    <p:animEffect transition="in" filter="fade">
                                      <p:cBhvr>
                                        <p:cTn id="7" dur="500"/>
                                        <p:tgtEl>
                                          <p:spTgt spid="21712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17128"/>
                                        </p:tgtEl>
                                        <p:attrNameLst>
                                          <p:attrName>style.visibility</p:attrName>
                                        </p:attrNameLst>
                                      </p:cBhvr>
                                      <p:to>
                                        <p:strVal val="visible"/>
                                      </p:to>
                                    </p:set>
                                    <p:animEffect transition="in" filter="fade">
                                      <p:cBhvr>
                                        <p:cTn id="10" dur="500"/>
                                        <p:tgtEl>
                                          <p:spTgt spid="217128"/>
                                        </p:tgtEl>
                                      </p:cBhvr>
                                    </p:animEffect>
                                  </p:childTnLst>
                                </p:cTn>
                              </p:par>
                              <p:par>
                                <p:cTn id="11" presetID="10" presetClass="entr" presetSubtype="0" fill="hold" nodeType="withEffect">
                                  <p:stCondLst>
                                    <p:cond delay="0"/>
                                  </p:stCondLst>
                                  <p:childTnLst>
                                    <p:set>
                                      <p:cBhvr>
                                        <p:cTn id="12" dur="1" fill="hold">
                                          <p:stCondLst>
                                            <p:cond delay="0"/>
                                          </p:stCondLst>
                                        </p:cTn>
                                        <p:tgtEl>
                                          <p:spTgt spid="217129"/>
                                        </p:tgtEl>
                                        <p:attrNameLst>
                                          <p:attrName>style.visibility</p:attrName>
                                        </p:attrNameLst>
                                      </p:cBhvr>
                                      <p:to>
                                        <p:strVal val="visible"/>
                                      </p:to>
                                    </p:set>
                                    <p:animEffect transition="in" filter="fade">
                                      <p:cBhvr>
                                        <p:cTn id="13" dur="500"/>
                                        <p:tgtEl>
                                          <p:spTgt spid="217129"/>
                                        </p:tgtEl>
                                      </p:cBhvr>
                                    </p:animEffect>
                                  </p:childTnLst>
                                </p:cTn>
                              </p:par>
                              <p:par>
                                <p:cTn id="14" presetID="10" presetClass="entr" presetSubtype="0" fill="hold" nodeType="withEffect">
                                  <p:stCondLst>
                                    <p:cond delay="0"/>
                                  </p:stCondLst>
                                  <p:childTnLst>
                                    <p:set>
                                      <p:cBhvr>
                                        <p:cTn id="15" dur="1" fill="hold">
                                          <p:stCondLst>
                                            <p:cond delay="0"/>
                                          </p:stCondLst>
                                        </p:cTn>
                                        <p:tgtEl>
                                          <p:spTgt spid="217130"/>
                                        </p:tgtEl>
                                        <p:attrNameLst>
                                          <p:attrName>style.visibility</p:attrName>
                                        </p:attrNameLst>
                                      </p:cBhvr>
                                      <p:to>
                                        <p:strVal val="visible"/>
                                      </p:to>
                                    </p:set>
                                    <p:animEffect transition="in" filter="fade">
                                      <p:cBhvr>
                                        <p:cTn id="16" dur="500"/>
                                        <p:tgtEl>
                                          <p:spTgt spid="217130"/>
                                        </p:tgtEl>
                                      </p:cBhvr>
                                    </p:animEffect>
                                  </p:childTnLst>
                                </p:cTn>
                              </p:par>
                              <p:par>
                                <p:cTn id="17" presetID="10" presetClass="entr" presetSubtype="0" fill="hold" nodeType="withEffect">
                                  <p:stCondLst>
                                    <p:cond delay="0"/>
                                  </p:stCondLst>
                                  <p:childTnLst>
                                    <p:set>
                                      <p:cBhvr>
                                        <p:cTn id="18" dur="1" fill="hold">
                                          <p:stCondLst>
                                            <p:cond delay="0"/>
                                          </p:stCondLst>
                                        </p:cTn>
                                        <p:tgtEl>
                                          <p:spTgt spid="217136"/>
                                        </p:tgtEl>
                                        <p:attrNameLst>
                                          <p:attrName>style.visibility</p:attrName>
                                        </p:attrNameLst>
                                      </p:cBhvr>
                                      <p:to>
                                        <p:strVal val="visible"/>
                                      </p:to>
                                    </p:set>
                                    <p:animEffect transition="in" filter="fade">
                                      <p:cBhvr>
                                        <p:cTn id="19" dur="500"/>
                                        <p:tgtEl>
                                          <p:spTgt spid="217136"/>
                                        </p:tgtEl>
                                      </p:cBhvr>
                                    </p:animEffect>
                                  </p:childTnLst>
                                </p:cTn>
                              </p:par>
                              <p:par>
                                <p:cTn id="20" presetID="10" presetClass="entr" presetSubtype="0" fill="hold" nodeType="withEffect">
                                  <p:stCondLst>
                                    <p:cond delay="0"/>
                                  </p:stCondLst>
                                  <p:childTnLst>
                                    <p:set>
                                      <p:cBhvr>
                                        <p:cTn id="21" dur="1" fill="hold">
                                          <p:stCondLst>
                                            <p:cond delay="0"/>
                                          </p:stCondLst>
                                        </p:cTn>
                                        <p:tgtEl>
                                          <p:spTgt spid="217139"/>
                                        </p:tgtEl>
                                        <p:attrNameLst>
                                          <p:attrName>style.visibility</p:attrName>
                                        </p:attrNameLst>
                                      </p:cBhvr>
                                      <p:to>
                                        <p:strVal val="visible"/>
                                      </p:to>
                                    </p:set>
                                    <p:animEffect transition="in" filter="fade">
                                      <p:cBhvr>
                                        <p:cTn id="22" dur="500"/>
                                        <p:tgtEl>
                                          <p:spTgt spid="217139"/>
                                        </p:tgtEl>
                                      </p:cBhvr>
                                    </p:animEffect>
                                  </p:childTnLst>
                                </p:cTn>
                              </p:par>
                              <p:par>
                                <p:cTn id="23" presetID="10" presetClass="entr" presetSubtype="0" fill="hold" nodeType="withEffect">
                                  <p:stCondLst>
                                    <p:cond delay="0"/>
                                  </p:stCondLst>
                                  <p:childTnLst>
                                    <p:set>
                                      <p:cBhvr>
                                        <p:cTn id="24" dur="1" fill="hold">
                                          <p:stCondLst>
                                            <p:cond delay="0"/>
                                          </p:stCondLst>
                                        </p:cTn>
                                        <p:tgtEl>
                                          <p:spTgt spid="217142"/>
                                        </p:tgtEl>
                                        <p:attrNameLst>
                                          <p:attrName>style.visibility</p:attrName>
                                        </p:attrNameLst>
                                      </p:cBhvr>
                                      <p:to>
                                        <p:strVal val="visible"/>
                                      </p:to>
                                    </p:set>
                                    <p:animEffect transition="in" filter="fade">
                                      <p:cBhvr>
                                        <p:cTn id="25" dur="500"/>
                                        <p:tgtEl>
                                          <p:spTgt spid="217142"/>
                                        </p:tgtEl>
                                      </p:cBhvr>
                                    </p:animEffect>
                                  </p:childTnLst>
                                </p:cTn>
                              </p:par>
                              <p:par>
                                <p:cTn id="26" presetID="10" presetClass="entr" presetSubtype="0" fill="hold" nodeType="withEffect">
                                  <p:stCondLst>
                                    <p:cond delay="0"/>
                                  </p:stCondLst>
                                  <p:childTnLst>
                                    <p:set>
                                      <p:cBhvr>
                                        <p:cTn id="27" dur="1" fill="hold">
                                          <p:stCondLst>
                                            <p:cond delay="0"/>
                                          </p:stCondLst>
                                        </p:cTn>
                                        <p:tgtEl>
                                          <p:spTgt spid="217145"/>
                                        </p:tgtEl>
                                        <p:attrNameLst>
                                          <p:attrName>style.visibility</p:attrName>
                                        </p:attrNameLst>
                                      </p:cBhvr>
                                      <p:to>
                                        <p:strVal val="visible"/>
                                      </p:to>
                                    </p:set>
                                    <p:animEffect transition="in" filter="fade">
                                      <p:cBhvr>
                                        <p:cTn id="28" dur="500"/>
                                        <p:tgtEl>
                                          <p:spTgt spid="217145"/>
                                        </p:tgtEl>
                                      </p:cBhvr>
                                    </p:animEffect>
                                  </p:childTnLst>
                                </p:cTn>
                              </p:par>
                              <p:par>
                                <p:cTn id="29" presetID="10" presetClass="entr" presetSubtype="0" fill="hold" nodeType="withEffect">
                                  <p:stCondLst>
                                    <p:cond delay="0"/>
                                  </p:stCondLst>
                                  <p:childTnLst>
                                    <p:set>
                                      <p:cBhvr>
                                        <p:cTn id="30" dur="1" fill="hold">
                                          <p:stCondLst>
                                            <p:cond delay="0"/>
                                          </p:stCondLst>
                                        </p:cTn>
                                        <p:tgtEl>
                                          <p:spTgt spid="217148"/>
                                        </p:tgtEl>
                                        <p:attrNameLst>
                                          <p:attrName>style.visibility</p:attrName>
                                        </p:attrNameLst>
                                      </p:cBhvr>
                                      <p:to>
                                        <p:strVal val="visible"/>
                                      </p:to>
                                    </p:set>
                                    <p:animEffect transition="in" filter="fade">
                                      <p:cBhvr>
                                        <p:cTn id="31" dur="500"/>
                                        <p:tgtEl>
                                          <p:spTgt spid="217148"/>
                                        </p:tgtEl>
                                      </p:cBhvr>
                                    </p:animEffect>
                                  </p:childTnLst>
                                </p:cTn>
                              </p:par>
                              <p:par>
                                <p:cTn id="32" presetID="10" presetClass="entr" presetSubtype="0" fill="hold" nodeType="withEffect">
                                  <p:stCondLst>
                                    <p:cond delay="0"/>
                                  </p:stCondLst>
                                  <p:childTnLst>
                                    <p:set>
                                      <p:cBhvr>
                                        <p:cTn id="33" dur="1" fill="hold">
                                          <p:stCondLst>
                                            <p:cond delay="0"/>
                                          </p:stCondLst>
                                        </p:cTn>
                                        <p:tgtEl>
                                          <p:spTgt spid="217149"/>
                                        </p:tgtEl>
                                        <p:attrNameLst>
                                          <p:attrName>style.visibility</p:attrName>
                                        </p:attrNameLst>
                                      </p:cBhvr>
                                      <p:to>
                                        <p:strVal val="visible"/>
                                      </p:to>
                                    </p:set>
                                    <p:animEffect transition="in" filter="fade">
                                      <p:cBhvr>
                                        <p:cTn id="34" dur="500"/>
                                        <p:tgtEl>
                                          <p:spTgt spid="217149"/>
                                        </p:tgtEl>
                                      </p:cBhvr>
                                    </p:animEffect>
                                  </p:childTnLst>
                                </p:cTn>
                              </p:par>
                              <p:par>
                                <p:cTn id="35" presetID="10" presetClass="entr" presetSubtype="0" fill="hold" nodeType="withEffect">
                                  <p:stCondLst>
                                    <p:cond delay="0"/>
                                  </p:stCondLst>
                                  <p:childTnLst>
                                    <p:set>
                                      <p:cBhvr>
                                        <p:cTn id="36" dur="1" fill="hold">
                                          <p:stCondLst>
                                            <p:cond delay="0"/>
                                          </p:stCondLst>
                                        </p:cTn>
                                        <p:tgtEl>
                                          <p:spTgt spid="217152"/>
                                        </p:tgtEl>
                                        <p:attrNameLst>
                                          <p:attrName>style.visibility</p:attrName>
                                        </p:attrNameLst>
                                      </p:cBhvr>
                                      <p:to>
                                        <p:strVal val="visible"/>
                                      </p:to>
                                    </p:set>
                                    <p:animEffect transition="in" filter="fade">
                                      <p:cBhvr>
                                        <p:cTn id="37" dur="500"/>
                                        <p:tgtEl>
                                          <p:spTgt spid="217152"/>
                                        </p:tgtEl>
                                      </p:cBhvr>
                                    </p:animEffect>
                                  </p:childTnLst>
                                </p:cTn>
                              </p:par>
                              <p:par>
                                <p:cTn id="38" presetID="10" presetClass="entr" presetSubtype="0" fill="hold" nodeType="withEffect">
                                  <p:stCondLst>
                                    <p:cond delay="0"/>
                                  </p:stCondLst>
                                  <p:childTnLst>
                                    <p:set>
                                      <p:cBhvr>
                                        <p:cTn id="39" dur="1" fill="hold">
                                          <p:stCondLst>
                                            <p:cond delay="0"/>
                                          </p:stCondLst>
                                        </p:cTn>
                                        <p:tgtEl>
                                          <p:spTgt spid="217153"/>
                                        </p:tgtEl>
                                        <p:attrNameLst>
                                          <p:attrName>style.visibility</p:attrName>
                                        </p:attrNameLst>
                                      </p:cBhvr>
                                      <p:to>
                                        <p:strVal val="visible"/>
                                      </p:to>
                                    </p:set>
                                    <p:animEffect transition="in" filter="fade">
                                      <p:cBhvr>
                                        <p:cTn id="40" dur="500"/>
                                        <p:tgtEl>
                                          <p:spTgt spid="217153"/>
                                        </p:tgtEl>
                                      </p:cBhvr>
                                    </p:animEffect>
                                  </p:childTnLst>
                                </p:cTn>
                              </p:par>
                              <p:par>
                                <p:cTn id="41" presetID="10" presetClass="entr" presetSubtype="0" fill="hold" nodeType="withEffect">
                                  <p:stCondLst>
                                    <p:cond delay="0"/>
                                  </p:stCondLst>
                                  <p:childTnLst>
                                    <p:set>
                                      <p:cBhvr>
                                        <p:cTn id="42" dur="1" fill="hold">
                                          <p:stCondLst>
                                            <p:cond delay="0"/>
                                          </p:stCondLst>
                                        </p:cTn>
                                        <p:tgtEl>
                                          <p:spTgt spid="217154"/>
                                        </p:tgtEl>
                                        <p:attrNameLst>
                                          <p:attrName>style.visibility</p:attrName>
                                        </p:attrNameLst>
                                      </p:cBhvr>
                                      <p:to>
                                        <p:strVal val="visible"/>
                                      </p:to>
                                    </p:set>
                                    <p:animEffect transition="in" filter="fade">
                                      <p:cBhvr>
                                        <p:cTn id="43" dur="500"/>
                                        <p:tgtEl>
                                          <p:spTgt spid="217154"/>
                                        </p:tgtEl>
                                      </p:cBhvr>
                                    </p:animEffect>
                                  </p:childTnLst>
                                </p:cTn>
                              </p:par>
                              <p:par>
                                <p:cTn id="44" presetID="10" presetClass="entr" presetSubtype="0" fill="hold" nodeType="withEffect">
                                  <p:stCondLst>
                                    <p:cond delay="0"/>
                                  </p:stCondLst>
                                  <p:childTnLst>
                                    <p:set>
                                      <p:cBhvr>
                                        <p:cTn id="45" dur="1" fill="hold">
                                          <p:stCondLst>
                                            <p:cond delay="0"/>
                                          </p:stCondLst>
                                        </p:cTn>
                                        <p:tgtEl>
                                          <p:spTgt spid="217155"/>
                                        </p:tgtEl>
                                        <p:attrNameLst>
                                          <p:attrName>style.visibility</p:attrName>
                                        </p:attrNameLst>
                                      </p:cBhvr>
                                      <p:to>
                                        <p:strVal val="visible"/>
                                      </p:to>
                                    </p:set>
                                    <p:animEffect transition="in" filter="fade">
                                      <p:cBhvr>
                                        <p:cTn id="46" dur="500"/>
                                        <p:tgtEl>
                                          <p:spTgt spid="21715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7156"/>
                                        </p:tgtEl>
                                        <p:attrNameLst>
                                          <p:attrName>style.visibility</p:attrName>
                                        </p:attrNameLst>
                                      </p:cBhvr>
                                      <p:to>
                                        <p:strVal val="visible"/>
                                      </p:to>
                                    </p:set>
                                    <p:animEffect transition="in" filter="fade">
                                      <p:cBhvr>
                                        <p:cTn id="49" dur="500"/>
                                        <p:tgtEl>
                                          <p:spTgt spid="217156"/>
                                        </p:tgtEl>
                                      </p:cBhvr>
                                    </p:animEffect>
                                  </p:childTnLst>
                                </p:cTn>
                              </p:par>
                              <p:par>
                                <p:cTn id="50" presetID="10" presetClass="entr" presetSubtype="0" fill="hold" nodeType="withEffect">
                                  <p:stCondLst>
                                    <p:cond delay="0"/>
                                  </p:stCondLst>
                                  <p:childTnLst>
                                    <p:set>
                                      <p:cBhvr>
                                        <p:cTn id="51" dur="1" fill="hold">
                                          <p:stCondLst>
                                            <p:cond delay="0"/>
                                          </p:stCondLst>
                                        </p:cTn>
                                        <p:tgtEl>
                                          <p:spTgt spid="217157"/>
                                        </p:tgtEl>
                                        <p:attrNameLst>
                                          <p:attrName>style.visibility</p:attrName>
                                        </p:attrNameLst>
                                      </p:cBhvr>
                                      <p:to>
                                        <p:strVal val="visible"/>
                                      </p:to>
                                    </p:set>
                                    <p:animEffect transition="in" filter="fade">
                                      <p:cBhvr>
                                        <p:cTn id="52" dur="500"/>
                                        <p:tgtEl>
                                          <p:spTgt spid="217157"/>
                                        </p:tgtEl>
                                      </p:cBhvr>
                                    </p:animEffect>
                                  </p:childTnLst>
                                </p:cTn>
                              </p:par>
                              <p:par>
                                <p:cTn id="53" presetID="10" presetClass="entr" presetSubtype="0" fill="hold" nodeType="withEffect">
                                  <p:stCondLst>
                                    <p:cond delay="0"/>
                                  </p:stCondLst>
                                  <p:childTnLst>
                                    <p:set>
                                      <p:cBhvr>
                                        <p:cTn id="54" dur="1" fill="hold">
                                          <p:stCondLst>
                                            <p:cond delay="0"/>
                                          </p:stCondLst>
                                        </p:cTn>
                                        <p:tgtEl>
                                          <p:spTgt spid="217158"/>
                                        </p:tgtEl>
                                        <p:attrNameLst>
                                          <p:attrName>style.visibility</p:attrName>
                                        </p:attrNameLst>
                                      </p:cBhvr>
                                      <p:to>
                                        <p:strVal val="visible"/>
                                      </p:to>
                                    </p:set>
                                    <p:animEffect transition="in" filter="fade">
                                      <p:cBhvr>
                                        <p:cTn id="55" dur="500"/>
                                        <p:tgtEl>
                                          <p:spTgt spid="217158"/>
                                        </p:tgtEl>
                                      </p:cBhvr>
                                    </p:animEffect>
                                  </p:childTnLst>
                                </p:cTn>
                              </p:par>
                              <p:par>
                                <p:cTn id="56" presetID="10" presetClass="entr" presetSubtype="0" fill="hold" nodeType="withEffect">
                                  <p:stCondLst>
                                    <p:cond delay="0"/>
                                  </p:stCondLst>
                                  <p:childTnLst>
                                    <p:set>
                                      <p:cBhvr>
                                        <p:cTn id="57" dur="1" fill="hold">
                                          <p:stCondLst>
                                            <p:cond delay="0"/>
                                          </p:stCondLst>
                                        </p:cTn>
                                        <p:tgtEl>
                                          <p:spTgt spid="217163"/>
                                        </p:tgtEl>
                                        <p:attrNameLst>
                                          <p:attrName>style.visibility</p:attrName>
                                        </p:attrNameLst>
                                      </p:cBhvr>
                                      <p:to>
                                        <p:strVal val="visible"/>
                                      </p:to>
                                    </p:set>
                                    <p:animEffect transition="in" filter="fade">
                                      <p:cBhvr>
                                        <p:cTn id="58" dur="500"/>
                                        <p:tgtEl>
                                          <p:spTgt spid="217163"/>
                                        </p:tgtEl>
                                      </p:cBhvr>
                                    </p:animEffect>
                                  </p:childTnLst>
                                </p:cTn>
                              </p:par>
                              <p:par>
                                <p:cTn id="59" presetID="10" presetClass="entr" presetSubtype="0" fill="hold" nodeType="withEffect">
                                  <p:stCondLst>
                                    <p:cond delay="0"/>
                                  </p:stCondLst>
                                  <p:childTnLst>
                                    <p:set>
                                      <p:cBhvr>
                                        <p:cTn id="60" dur="1" fill="hold">
                                          <p:stCondLst>
                                            <p:cond delay="0"/>
                                          </p:stCondLst>
                                        </p:cTn>
                                        <p:tgtEl>
                                          <p:spTgt spid="217164"/>
                                        </p:tgtEl>
                                        <p:attrNameLst>
                                          <p:attrName>style.visibility</p:attrName>
                                        </p:attrNameLst>
                                      </p:cBhvr>
                                      <p:to>
                                        <p:strVal val="visible"/>
                                      </p:to>
                                    </p:set>
                                    <p:animEffect transition="in" filter="fade">
                                      <p:cBhvr>
                                        <p:cTn id="61" dur="500"/>
                                        <p:tgtEl>
                                          <p:spTgt spid="217164"/>
                                        </p:tgtEl>
                                      </p:cBhvr>
                                    </p:animEffect>
                                  </p:childTnLst>
                                </p:cTn>
                              </p:par>
                              <p:par>
                                <p:cTn id="62" presetID="10" presetClass="entr" presetSubtype="0" fill="hold" nodeType="withEffect">
                                  <p:stCondLst>
                                    <p:cond delay="0"/>
                                  </p:stCondLst>
                                  <p:childTnLst>
                                    <p:set>
                                      <p:cBhvr>
                                        <p:cTn id="63" dur="1" fill="hold">
                                          <p:stCondLst>
                                            <p:cond delay="0"/>
                                          </p:stCondLst>
                                        </p:cTn>
                                        <p:tgtEl>
                                          <p:spTgt spid="217165"/>
                                        </p:tgtEl>
                                        <p:attrNameLst>
                                          <p:attrName>style.visibility</p:attrName>
                                        </p:attrNameLst>
                                      </p:cBhvr>
                                      <p:to>
                                        <p:strVal val="visible"/>
                                      </p:to>
                                    </p:set>
                                    <p:animEffect transition="in" filter="fade">
                                      <p:cBhvr>
                                        <p:cTn id="64" dur="500"/>
                                        <p:tgtEl>
                                          <p:spTgt spid="21716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7166"/>
                                        </p:tgtEl>
                                        <p:attrNameLst>
                                          <p:attrName>style.visibility</p:attrName>
                                        </p:attrNameLst>
                                      </p:cBhvr>
                                      <p:to>
                                        <p:strVal val="visible"/>
                                      </p:to>
                                    </p:set>
                                    <p:animEffect transition="in" filter="fade">
                                      <p:cBhvr>
                                        <p:cTn id="67" dur="500"/>
                                        <p:tgtEl>
                                          <p:spTgt spid="217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120" grpId="0" build="p"/>
      <p:bldP spid="217156" grpId="0"/>
      <p:bldP spid="21716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80898" name="Rectangle 2"/>
          <p:cNvSpPr>
            <a:spLocks noGrp="1" noChangeArrowheads="1"/>
          </p:cNvSpPr>
          <p:nvPr>
            <p:ph type="title"/>
          </p:nvPr>
        </p:nvSpPr>
        <p:spPr/>
        <p:txBody>
          <a:bodyPr/>
          <a:lstStyle/>
          <a:p>
            <a:r>
              <a:rPr lang="en-US" altLang="en-US" smtClean="0">
                <a:ea typeface="ＭＳ Ｐゴシック" pitchFamily="34" charset="-128"/>
              </a:rPr>
              <a:t>Hash function algorithms</a:t>
            </a:r>
          </a:p>
        </p:txBody>
      </p:sp>
      <p:sp>
        <p:nvSpPr>
          <p:cNvPr id="80899" name="Rectangle 3"/>
          <p:cNvSpPr>
            <a:spLocks noGrp="1" noChangeArrowheads="1"/>
          </p:cNvSpPr>
          <p:nvPr>
            <p:ph type="body" sz="half" idx="2"/>
          </p:nvPr>
        </p:nvSpPr>
        <p:spPr>
          <a:xfrm>
            <a:off x="646113" y="1489075"/>
            <a:ext cx="8131175" cy="4648200"/>
          </a:xfrm>
        </p:spPr>
        <p:txBody>
          <a:bodyPr/>
          <a:lstStyle/>
          <a:p>
            <a:r>
              <a:rPr lang="en-US" altLang="en-US" smtClean="0">
                <a:solidFill>
                  <a:srgbClr val="C00000"/>
                </a:solidFill>
                <a:ea typeface="ＭＳ Ｐゴシック" pitchFamily="34" charset="-128"/>
              </a:rPr>
              <a:t>MD5 hash function widely used (RFC 1321) </a:t>
            </a:r>
          </a:p>
          <a:p>
            <a:pPr lvl="1"/>
            <a:r>
              <a:rPr lang="en-US" altLang="en-US" smtClean="0">
                <a:ea typeface="ＭＳ Ｐゴシック" pitchFamily="34" charset="-128"/>
              </a:rPr>
              <a:t>computes 128-bit message digest in 4-step process. </a:t>
            </a:r>
          </a:p>
          <a:p>
            <a:pPr lvl="1"/>
            <a:r>
              <a:rPr lang="en-US" altLang="en-US" smtClean="0">
                <a:ea typeface="ＭＳ Ｐゴシック" pitchFamily="34" charset="-128"/>
              </a:rPr>
              <a:t>arbitrary 128-bit string x, appears difficult to construct msg m whose MD5 hash is equal to x</a:t>
            </a:r>
          </a:p>
          <a:p>
            <a:r>
              <a:rPr lang="en-US" altLang="en-US" smtClean="0">
                <a:solidFill>
                  <a:srgbClr val="C00000"/>
                </a:solidFill>
                <a:ea typeface="ＭＳ Ｐゴシック" pitchFamily="34" charset="-128"/>
              </a:rPr>
              <a:t>SHA-1 is also used</a:t>
            </a:r>
          </a:p>
          <a:p>
            <a:pPr lvl="1"/>
            <a:r>
              <a:rPr lang="en-US" altLang="en-US" smtClean="0">
                <a:ea typeface="ＭＳ Ｐゴシック" pitchFamily="34" charset="-128"/>
              </a:rPr>
              <a:t>US standard [</a:t>
            </a:r>
            <a:r>
              <a:rPr lang="en-US" altLang="en-US" sz="2000" smtClean="0">
                <a:ea typeface="ＭＳ Ｐゴシック" pitchFamily="34" charset="-128"/>
              </a:rPr>
              <a:t>NIST, FIPS PUB 180-1]</a:t>
            </a:r>
            <a:endParaRPr lang="en-US" altLang="en-US" smtClean="0">
              <a:ea typeface="ＭＳ Ｐゴシック" pitchFamily="34" charset="-128"/>
            </a:endParaRPr>
          </a:p>
          <a:p>
            <a:pPr lvl="1"/>
            <a:r>
              <a:rPr lang="en-US" altLang="en-US" smtClean="0">
                <a:ea typeface="ＭＳ Ｐゴシック" pitchFamily="34" charset="-128"/>
              </a:rPr>
              <a:t>160-bit message digest</a:t>
            </a:r>
          </a:p>
        </p:txBody>
      </p:sp>
      <p:pic>
        <p:nvPicPr>
          <p:cNvPr id="80900" name="Picture 19"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250" y="1044575"/>
            <a:ext cx="59420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1" name="Picture 22"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238" y="887413"/>
            <a:ext cx="6145212"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cs typeface="Arial" charset="0"/>
              </a:rPr>
              <a:t>Network Security</a:t>
            </a:r>
          </a:p>
        </p:txBody>
      </p:sp>
      <p:sp>
        <p:nvSpPr>
          <p:cNvPr id="81923" name="Rectangle 2"/>
          <p:cNvSpPr>
            <a:spLocks noGrp="1" noChangeArrowheads="1"/>
          </p:cNvSpPr>
          <p:nvPr>
            <p:ph type="title"/>
          </p:nvPr>
        </p:nvSpPr>
        <p:spPr>
          <a:xfrm>
            <a:off x="457200" y="123825"/>
            <a:ext cx="6445250" cy="952500"/>
          </a:xfrm>
        </p:spPr>
        <p:txBody>
          <a:bodyPr/>
          <a:lstStyle/>
          <a:p>
            <a:r>
              <a:rPr lang="en-US" altLang="en-US" smtClean="0">
                <a:ea typeface="ＭＳ Ｐゴシック" pitchFamily="34" charset="-128"/>
              </a:rPr>
              <a:t>Recall: ap5.0 security hole</a:t>
            </a:r>
          </a:p>
        </p:txBody>
      </p:sp>
      <p:sp>
        <p:nvSpPr>
          <p:cNvPr id="81924" name="Rectangle 3"/>
          <p:cNvSpPr>
            <a:spLocks noGrp="1" noChangeArrowheads="1"/>
          </p:cNvSpPr>
          <p:nvPr>
            <p:ph type="body" sz="half" idx="1"/>
          </p:nvPr>
        </p:nvSpPr>
        <p:spPr>
          <a:xfrm>
            <a:off x="455613" y="1084263"/>
            <a:ext cx="7593012" cy="919162"/>
          </a:xfrm>
        </p:spPr>
        <p:txBody>
          <a:bodyPr/>
          <a:lstStyle/>
          <a:p>
            <a:pPr>
              <a:buFont typeface="Wingdings" pitchFamily="2" charset="2"/>
              <a:buNone/>
            </a:pPr>
            <a:r>
              <a:rPr lang="en-US" altLang="en-US" sz="2400" i="1" smtClean="0">
                <a:solidFill>
                  <a:srgbClr val="C00000"/>
                </a:solidFill>
                <a:ea typeface="ＭＳ Ｐゴシック" pitchFamily="34" charset="-128"/>
              </a:rPr>
              <a:t>man (or woman) in the middle attack: </a:t>
            </a:r>
            <a:r>
              <a:rPr lang="en-US" altLang="en-US" sz="2400" smtClean="0">
                <a:ea typeface="ＭＳ Ｐゴシック" pitchFamily="34" charset="-128"/>
              </a:rPr>
              <a:t>Trudy poses as Alice (to Bob) and as Bob (to Alice)</a:t>
            </a:r>
          </a:p>
        </p:txBody>
      </p:sp>
      <p:pic>
        <p:nvPicPr>
          <p:cNvPr id="81925" name="Picture 4" descr="Bob"/>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7623175" y="2306638"/>
            <a:ext cx="800100" cy="817562"/>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1926" name="Picture 5" descr="Ev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9263" y="2203450"/>
            <a:ext cx="954087"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7" name="Picture 6" descr="Alice"/>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1163638" y="2195513"/>
            <a:ext cx="752475" cy="9271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992" name="Line 7"/>
          <p:cNvSpPr>
            <a:spLocks noChangeShapeType="1"/>
          </p:cNvSpPr>
          <p:nvPr/>
        </p:nvSpPr>
        <p:spPr bwMode="auto">
          <a:xfrm>
            <a:off x="1936750" y="2678113"/>
            <a:ext cx="22494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1993" name="Text Box 8"/>
          <p:cNvSpPr txBox="1">
            <a:spLocks noChangeArrowheads="1"/>
          </p:cNvSpPr>
          <p:nvPr/>
        </p:nvSpPr>
        <p:spPr bwMode="auto">
          <a:xfrm>
            <a:off x="2265363" y="2328863"/>
            <a:ext cx="118427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I am Alice</a:t>
            </a:r>
          </a:p>
        </p:txBody>
      </p:sp>
      <p:sp>
        <p:nvSpPr>
          <p:cNvPr id="41994" name="Line 9"/>
          <p:cNvSpPr>
            <a:spLocks noChangeShapeType="1"/>
          </p:cNvSpPr>
          <p:nvPr/>
        </p:nvSpPr>
        <p:spPr bwMode="auto">
          <a:xfrm>
            <a:off x="5183188" y="2717800"/>
            <a:ext cx="22494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1995" name="Text Box 10"/>
          <p:cNvSpPr txBox="1">
            <a:spLocks noChangeArrowheads="1"/>
          </p:cNvSpPr>
          <p:nvPr/>
        </p:nvSpPr>
        <p:spPr bwMode="auto">
          <a:xfrm>
            <a:off x="5511800" y="2368550"/>
            <a:ext cx="11842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I am Alice</a:t>
            </a:r>
          </a:p>
        </p:txBody>
      </p:sp>
      <p:sp>
        <p:nvSpPr>
          <p:cNvPr id="41996" name="Line 11"/>
          <p:cNvSpPr>
            <a:spLocks noChangeShapeType="1"/>
          </p:cNvSpPr>
          <p:nvPr/>
        </p:nvSpPr>
        <p:spPr bwMode="auto">
          <a:xfrm flipH="1">
            <a:off x="5222875" y="2786063"/>
            <a:ext cx="2165350" cy="2809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1997" name="Text Box 12"/>
          <p:cNvSpPr txBox="1">
            <a:spLocks noChangeArrowheads="1"/>
          </p:cNvSpPr>
          <p:nvPr/>
        </p:nvSpPr>
        <p:spPr bwMode="auto">
          <a:xfrm>
            <a:off x="5321300" y="2701925"/>
            <a:ext cx="3524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R</a:t>
            </a:r>
          </a:p>
        </p:txBody>
      </p:sp>
      <p:sp>
        <p:nvSpPr>
          <p:cNvPr id="41998" name="Line 13"/>
          <p:cNvSpPr>
            <a:spLocks noChangeShapeType="1"/>
          </p:cNvSpPr>
          <p:nvPr/>
        </p:nvSpPr>
        <p:spPr bwMode="auto">
          <a:xfrm>
            <a:off x="5251450" y="3235325"/>
            <a:ext cx="22494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81935" name="Group 14"/>
          <p:cNvGrpSpPr>
            <a:grpSpLocks/>
          </p:cNvGrpSpPr>
          <p:nvPr/>
        </p:nvGrpSpPr>
        <p:grpSpPr bwMode="auto">
          <a:xfrm>
            <a:off x="6481763" y="2781300"/>
            <a:ext cx="850900" cy="681038"/>
            <a:chOff x="3732" y="350"/>
            <a:chExt cx="536" cy="429"/>
          </a:xfrm>
        </p:grpSpPr>
        <p:sp>
          <p:nvSpPr>
            <p:cNvPr id="42049" name="Text Box 15"/>
            <p:cNvSpPr txBox="1">
              <a:spLocks noChangeArrowheads="1"/>
            </p:cNvSpPr>
            <p:nvPr/>
          </p:nvSpPr>
          <p:spPr bwMode="auto">
            <a:xfrm>
              <a:off x="3843" y="546"/>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T</a:t>
              </a:r>
            </a:p>
          </p:txBody>
        </p:sp>
        <p:grpSp>
          <p:nvGrpSpPr>
            <p:cNvPr id="81985" name="Group 16"/>
            <p:cNvGrpSpPr>
              <a:grpSpLocks/>
            </p:cNvGrpSpPr>
            <p:nvPr/>
          </p:nvGrpSpPr>
          <p:grpSpPr bwMode="auto">
            <a:xfrm>
              <a:off x="3732" y="350"/>
              <a:ext cx="536" cy="325"/>
              <a:chOff x="3732" y="350"/>
              <a:chExt cx="536" cy="325"/>
            </a:xfrm>
          </p:grpSpPr>
          <p:sp>
            <p:nvSpPr>
              <p:cNvPr id="42051" name="Text Box 17"/>
              <p:cNvSpPr txBox="1">
                <a:spLocks noChangeArrowheads="1"/>
              </p:cNvSpPr>
              <p:nvPr/>
            </p:nvSpPr>
            <p:spPr bwMode="auto">
              <a:xfrm>
                <a:off x="3732" y="442"/>
                <a:ext cx="5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(R)</a:t>
                </a:r>
              </a:p>
            </p:txBody>
          </p:sp>
          <p:sp>
            <p:nvSpPr>
              <p:cNvPr id="42052" name="Text Box 18"/>
              <p:cNvSpPr txBox="1">
                <a:spLocks noChangeArrowheads="1"/>
              </p:cNvSpPr>
              <p:nvPr/>
            </p:nvSpPr>
            <p:spPr bwMode="auto">
              <a:xfrm>
                <a:off x="3853" y="350"/>
                <a:ext cx="16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t>
                </a:r>
              </a:p>
            </p:txBody>
          </p:sp>
        </p:grpSp>
      </p:grpSp>
      <p:sp>
        <p:nvSpPr>
          <p:cNvPr id="42000" name="Line 19"/>
          <p:cNvSpPr>
            <a:spLocks noChangeShapeType="1"/>
          </p:cNvSpPr>
          <p:nvPr/>
        </p:nvSpPr>
        <p:spPr bwMode="auto">
          <a:xfrm flipH="1">
            <a:off x="5289550" y="3403600"/>
            <a:ext cx="2165350" cy="2809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2001" name="Text Box 20"/>
          <p:cNvSpPr txBox="1">
            <a:spLocks noChangeArrowheads="1"/>
          </p:cNvSpPr>
          <p:nvPr/>
        </p:nvSpPr>
        <p:spPr bwMode="auto">
          <a:xfrm>
            <a:off x="5135563" y="3360738"/>
            <a:ext cx="2468562"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smtClean="0">
                <a:latin typeface="Arial" charset="0"/>
                <a:cs typeface="Arial" charset="0"/>
              </a:rPr>
              <a:t>Send me your public key</a:t>
            </a:r>
          </a:p>
        </p:txBody>
      </p:sp>
      <p:sp>
        <p:nvSpPr>
          <p:cNvPr id="42002" name="Line 21"/>
          <p:cNvSpPr>
            <a:spLocks noChangeShapeType="1"/>
          </p:cNvSpPr>
          <p:nvPr/>
        </p:nvSpPr>
        <p:spPr bwMode="auto">
          <a:xfrm>
            <a:off x="5319713" y="3922713"/>
            <a:ext cx="22494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81939" name="Group 22"/>
          <p:cNvGrpSpPr>
            <a:grpSpLocks/>
          </p:cNvGrpSpPr>
          <p:nvPr/>
        </p:nvGrpSpPr>
        <p:grpSpPr bwMode="auto">
          <a:xfrm>
            <a:off x="6937375" y="3525838"/>
            <a:ext cx="584200" cy="695325"/>
            <a:chOff x="4737" y="2510"/>
            <a:chExt cx="368" cy="438"/>
          </a:xfrm>
        </p:grpSpPr>
        <p:grpSp>
          <p:nvGrpSpPr>
            <p:cNvPr id="81980" name="Group 23"/>
            <p:cNvGrpSpPr>
              <a:grpSpLocks/>
            </p:cNvGrpSpPr>
            <p:nvPr/>
          </p:nvGrpSpPr>
          <p:grpSpPr bwMode="auto">
            <a:xfrm>
              <a:off x="4737" y="2620"/>
              <a:ext cx="368" cy="328"/>
              <a:chOff x="4737" y="2620"/>
              <a:chExt cx="368" cy="328"/>
            </a:xfrm>
          </p:grpSpPr>
          <p:sp>
            <p:nvSpPr>
              <p:cNvPr id="42047" name="Text Box 24"/>
              <p:cNvSpPr txBox="1">
                <a:spLocks noChangeArrowheads="1"/>
              </p:cNvSpPr>
              <p:nvPr/>
            </p:nvSpPr>
            <p:spPr bwMode="auto">
              <a:xfrm>
                <a:off x="4900" y="2715"/>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T</a:t>
                </a:r>
              </a:p>
            </p:txBody>
          </p:sp>
          <p:sp>
            <p:nvSpPr>
              <p:cNvPr id="42048" name="Text Box 25"/>
              <p:cNvSpPr txBox="1">
                <a:spLocks noChangeArrowheads="1"/>
              </p:cNvSpPr>
              <p:nvPr/>
            </p:nvSpPr>
            <p:spPr bwMode="auto">
              <a:xfrm>
                <a:off x="4737" y="2620"/>
                <a:ext cx="3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a:t>
                </a:r>
              </a:p>
            </p:txBody>
          </p:sp>
        </p:grpSp>
        <p:sp>
          <p:nvSpPr>
            <p:cNvPr id="42046" name="Text Box 26"/>
            <p:cNvSpPr txBox="1">
              <a:spLocks noChangeArrowheads="1"/>
            </p:cNvSpPr>
            <p:nvPr/>
          </p:nvSpPr>
          <p:spPr bwMode="auto">
            <a:xfrm>
              <a:off x="4892" y="2510"/>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sp>
        <p:nvSpPr>
          <p:cNvPr id="42004" name="Line 27"/>
          <p:cNvSpPr>
            <a:spLocks noChangeShapeType="1"/>
          </p:cNvSpPr>
          <p:nvPr/>
        </p:nvSpPr>
        <p:spPr bwMode="auto">
          <a:xfrm flipH="1">
            <a:off x="1900238" y="3430588"/>
            <a:ext cx="2165350" cy="2809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2005" name="Line 28"/>
          <p:cNvSpPr>
            <a:spLocks noChangeShapeType="1"/>
          </p:cNvSpPr>
          <p:nvPr/>
        </p:nvSpPr>
        <p:spPr bwMode="auto">
          <a:xfrm>
            <a:off x="1928813" y="3879850"/>
            <a:ext cx="22494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81942" name="Group 29"/>
          <p:cNvGrpSpPr>
            <a:grpSpLocks/>
          </p:cNvGrpSpPr>
          <p:nvPr/>
        </p:nvGrpSpPr>
        <p:grpSpPr bwMode="auto">
          <a:xfrm>
            <a:off x="3144838" y="3411538"/>
            <a:ext cx="850900" cy="654050"/>
            <a:chOff x="3732" y="350"/>
            <a:chExt cx="536" cy="412"/>
          </a:xfrm>
        </p:grpSpPr>
        <p:sp>
          <p:nvSpPr>
            <p:cNvPr id="42041" name="Text Box 30"/>
            <p:cNvSpPr txBox="1">
              <a:spLocks noChangeArrowheads="1"/>
            </p:cNvSpPr>
            <p:nvPr/>
          </p:nvSpPr>
          <p:spPr bwMode="auto">
            <a:xfrm>
              <a:off x="3815" y="531"/>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a:t>
              </a:r>
            </a:p>
          </p:txBody>
        </p:sp>
        <p:grpSp>
          <p:nvGrpSpPr>
            <p:cNvPr id="81977" name="Group 31"/>
            <p:cNvGrpSpPr>
              <a:grpSpLocks/>
            </p:cNvGrpSpPr>
            <p:nvPr/>
          </p:nvGrpSpPr>
          <p:grpSpPr bwMode="auto">
            <a:xfrm>
              <a:off x="3732" y="350"/>
              <a:ext cx="536" cy="325"/>
              <a:chOff x="3732" y="350"/>
              <a:chExt cx="536" cy="325"/>
            </a:xfrm>
          </p:grpSpPr>
          <p:sp>
            <p:nvSpPr>
              <p:cNvPr id="42043" name="Text Box 32"/>
              <p:cNvSpPr txBox="1">
                <a:spLocks noChangeArrowheads="1"/>
              </p:cNvSpPr>
              <p:nvPr/>
            </p:nvSpPr>
            <p:spPr bwMode="auto">
              <a:xfrm>
                <a:off x="3732" y="442"/>
                <a:ext cx="5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(R)</a:t>
                </a:r>
              </a:p>
            </p:txBody>
          </p:sp>
          <p:sp>
            <p:nvSpPr>
              <p:cNvPr id="42044" name="Text Box 33"/>
              <p:cNvSpPr txBox="1">
                <a:spLocks noChangeArrowheads="1"/>
              </p:cNvSpPr>
              <p:nvPr/>
            </p:nvSpPr>
            <p:spPr bwMode="auto">
              <a:xfrm>
                <a:off x="3838" y="350"/>
                <a:ext cx="16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grpSp>
      <p:sp>
        <p:nvSpPr>
          <p:cNvPr id="42007" name="Line 34"/>
          <p:cNvSpPr>
            <a:spLocks noChangeShapeType="1"/>
          </p:cNvSpPr>
          <p:nvPr/>
        </p:nvSpPr>
        <p:spPr bwMode="auto">
          <a:xfrm flipH="1">
            <a:off x="1966913" y="4048125"/>
            <a:ext cx="2165350" cy="2809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2008" name="Text Box 35"/>
          <p:cNvSpPr txBox="1">
            <a:spLocks noChangeArrowheads="1"/>
          </p:cNvSpPr>
          <p:nvPr/>
        </p:nvSpPr>
        <p:spPr bwMode="auto">
          <a:xfrm>
            <a:off x="1812925" y="4005263"/>
            <a:ext cx="2468563"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600" smtClean="0">
                <a:latin typeface="Arial" charset="0"/>
                <a:cs typeface="Arial" charset="0"/>
              </a:rPr>
              <a:t>Send me your public key</a:t>
            </a:r>
          </a:p>
        </p:txBody>
      </p:sp>
      <p:sp>
        <p:nvSpPr>
          <p:cNvPr id="42009" name="Line 36"/>
          <p:cNvSpPr>
            <a:spLocks noChangeShapeType="1"/>
          </p:cNvSpPr>
          <p:nvPr/>
        </p:nvSpPr>
        <p:spPr bwMode="auto">
          <a:xfrm>
            <a:off x="1997075" y="4567238"/>
            <a:ext cx="22494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81946" name="Group 37"/>
          <p:cNvGrpSpPr>
            <a:grpSpLocks/>
          </p:cNvGrpSpPr>
          <p:nvPr/>
        </p:nvGrpSpPr>
        <p:grpSpPr bwMode="auto">
          <a:xfrm>
            <a:off x="3500438" y="4125913"/>
            <a:ext cx="569912" cy="654050"/>
            <a:chOff x="4737" y="2534"/>
            <a:chExt cx="359" cy="412"/>
          </a:xfrm>
        </p:grpSpPr>
        <p:grpSp>
          <p:nvGrpSpPr>
            <p:cNvPr id="81972" name="Group 38"/>
            <p:cNvGrpSpPr>
              <a:grpSpLocks/>
            </p:cNvGrpSpPr>
            <p:nvPr/>
          </p:nvGrpSpPr>
          <p:grpSpPr bwMode="auto">
            <a:xfrm>
              <a:off x="4737" y="2620"/>
              <a:ext cx="359" cy="326"/>
              <a:chOff x="4737" y="2620"/>
              <a:chExt cx="359" cy="326"/>
            </a:xfrm>
          </p:grpSpPr>
          <p:sp>
            <p:nvSpPr>
              <p:cNvPr id="42039" name="Text Box 39"/>
              <p:cNvSpPr txBox="1">
                <a:spLocks noChangeArrowheads="1"/>
              </p:cNvSpPr>
              <p:nvPr/>
            </p:nvSpPr>
            <p:spPr bwMode="auto">
              <a:xfrm>
                <a:off x="4875" y="2715"/>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a:t>
                </a:r>
              </a:p>
            </p:txBody>
          </p:sp>
          <p:sp>
            <p:nvSpPr>
              <p:cNvPr id="42040" name="Text Box 40"/>
              <p:cNvSpPr txBox="1">
                <a:spLocks noChangeArrowheads="1"/>
              </p:cNvSpPr>
              <p:nvPr/>
            </p:nvSpPr>
            <p:spPr bwMode="auto">
              <a:xfrm>
                <a:off x="4737" y="2620"/>
                <a:ext cx="3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a:t>
                </a:r>
              </a:p>
            </p:txBody>
          </p:sp>
        </p:grpSp>
        <p:sp>
          <p:nvSpPr>
            <p:cNvPr id="42038" name="Text Box 41"/>
            <p:cNvSpPr txBox="1">
              <a:spLocks noChangeArrowheads="1"/>
            </p:cNvSpPr>
            <p:nvPr/>
          </p:nvSpPr>
          <p:spPr bwMode="auto">
            <a:xfrm>
              <a:off x="4883" y="2534"/>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sp>
        <p:nvSpPr>
          <p:cNvPr id="42011" name="Line 42"/>
          <p:cNvSpPr>
            <a:spLocks noChangeShapeType="1"/>
          </p:cNvSpPr>
          <p:nvPr/>
        </p:nvSpPr>
        <p:spPr bwMode="auto">
          <a:xfrm flipH="1" flipV="1">
            <a:off x="5364163" y="5024438"/>
            <a:ext cx="2168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81948" name="Group 43"/>
          <p:cNvGrpSpPr>
            <a:grpSpLocks/>
          </p:cNvGrpSpPr>
          <p:nvPr/>
        </p:nvGrpSpPr>
        <p:grpSpPr bwMode="auto">
          <a:xfrm>
            <a:off x="5975350" y="4506913"/>
            <a:ext cx="874713" cy="681037"/>
            <a:chOff x="3670" y="3430"/>
            <a:chExt cx="551" cy="429"/>
          </a:xfrm>
        </p:grpSpPr>
        <p:sp>
          <p:nvSpPr>
            <p:cNvPr id="42034" name="Text Box 44"/>
            <p:cNvSpPr txBox="1">
              <a:spLocks noChangeArrowheads="1"/>
            </p:cNvSpPr>
            <p:nvPr/>
          </p:nvSpPr>
          <p:spPr bwMode="auto">
            <a:xfrm>
              <a:off x="3778" y="3626"/>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T</a:t>
              </a:r>
            </a:p>
          </p:txBody>
        </p:sp>
        <p:sp>
          <p:nvSpPr>
            <p:cNvPr id="42035" name="Text Box 45"/>
            <p:cNvSpPr txBox="1">
              <a:spLocks noChangeArrowheads="1"/>
            </p:cNvSpPr>
            <p:nvPr/>
          </p:nvSpPr>
          <p:spPr bwMode="auto">
            <a:xfrm>
              <a:off x="3670" y="3540"/>
              <a:ext cx="55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(m)</a:t>
              </a:r>
            </a:p>
          </p:txBody>
        </p:sp>
        <p:sp>
          <p:nvSpPr>
            <p:cNvPr id="42036" name="Text Box 46"/>
            <p:cNvSpPr txBox="1">
              <a:spLocks noChangeArrowheads="1"/>
            </p:cNvSpPr>
            <p:nvPr/>
          </p:nvSpPr>
          <p:spPr bwMode="auto">
            <a:xfrm>
              <a:off x="3726" y="3430"/>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t>
              </a:r>
            </a:p>
          </p:txBody>
        </p:sp>
      </p:grpSp>
      <p:grpSp>
        <p:nvGrpSpPr>
          <p:cNvPr id="81949" name="Group 47"/>
          <p:cNvGrpSpPr>
            <a:grpSpLocks/>
          </p:cNvGrpSpPr>
          <p:nvPr/>
        </p:nvGrpSpPr>
        <p:grpSpPr bwMode="auto">
          <a:xfrm>
            <a:off x="3814763" y="5006975"/>
            <a:ext cx="1768475" cy="719138"/>
            <a:chOff x="1299" y="3314"/>
            <a:chExt cx="1114" cy="453"/>
          </a:xfrm>
        </p:grpSpPr>
        <p:sp>
          <p:nvSpPr>
            <p:cNvPr id="42029" name="Text Box 48"/>
            <p:cNvSpPr txBox="1">
              <a:spLocks noChangeArrowheads="1"/>
            </p:cNvSpPr>
            <p:nvPr/>
          </p:nvSpPr>
          <p:spPr bwMode="auto">
            <a:xfrm>
              <a:off x="1661" y="3526"/>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T</a:t>
              </a:r>
            </a:p>
          </p:txBody>
        </p:sp>
        <p:sp>
          <p:nvSpPr>
            <p:cNvPr id="42030" name="Text Box 49"/>
            <p:cNvSpPr txBox="1">
              <a:spLocks noChangeArrowheads="1"/>
            </p:cNvSpPr>
            <p:nvPr/>
          </p:nvSpPr>
          <p:spPr bwMode="auto">
            <a:xfrm>
              <a:off x="1299" y="3414"/>
              <a:ext cx="111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latin typeface="Arial" charset="0"/>
                  <a:cs typeface="Arial" charset="0"/>
                </a:rPr>
                <a:t>m = K  (K   (m))</a:t>
              </a:r>
            </a:p>
          </p:txBody>
        </p:sp>
        <p:sp>
          <p:nvSpPr>
            <p:cNvPr id="42031" name="Text Box 50"/>
            <p:cNvSpPr txBox="1">
              <a:spLocks noChangeArrowheads="1"/>
            </p:cNvSpPr>
            <p:nvPr/>
          </p:nvSpPr>
          <p:spPr bwMode="auto">
            <a:xfrm>
              <a:off x="1901" y="3332"/>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t>
              </a:r>
            </a:p>
          </p:txBody>
        </p:sp>
        <p:sp>
          <p:nvSpPr>
            <p:cNvPr id="42032" name="Text Box 51"/>
            <p:cNvSpPr txBox="1">
              <a:spLocks noChangeArrowheads="1"/>
            </p:cNvSpPr>
            <p:nvPr/>
          </p:nvSpPr>
          <p:spPr bwMode="auto">
            <a:xfrm>
              <a:off x="1905" y="3534"/>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T</a:t>
              </a:r>
            </a:p>
          </p:txBody>
        </p:sp>
        <p:sp>
          <p:nvSpPr>
            <p:cNvPr id="42033" name="Text Box 52"/>
            <p:cNvSpPr txBox="1">
              <a:spLocks noChangeArrowheads="1"/>
            </p:cNvSpPr>
            <p:nvPr/>
          </p:nvSpPr>
          <p:spPr bwMode="auto">
            <a:xfrm>
              <a:off x="1688" y="3314"/>
              <a:ext cx="16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sp>
        <p:nvSpPr>
          <p:cNvPr id="42014" name="Text Box 53"/>
          <p:cNvSpPr txBox="1">
            <a:spLocks noChangeArrowheads="1"/>
          </p:cNvSpPr>
          <p:nvPr/>
        </p:nvSpPr>
        <p:spPr bwMode="auto">
          <a:xfrm>
            <a:off x="3946525" y="4819650"/>
            <a:ext cx="12668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latin typeface="Arial" charset="0"/>
                <a:cs typeface="Arial" charset="0"/>
              </a:rPr>
              <a:t>Trudy gets</a:t>
            </a:r>
          </a:p>
        </p:txBody>
      </p:sp>
      <p:sp>
        <p:nvSpPr>
          <p:cNvPr id="42015" name="Text Box 54"/>
          <p:cNvSpPr txBox="1">
            <a:spLocks noChangeArrowheads="1"/>
          </p:cNvSpPr>
          <p:nvPr/>
        </p:nvSpPr>
        <p:spPr bwMode="auto">
          <a:xfrm>
            <a:off x="3714750" y="5511800"/>
            <a:ext cx="2001838"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sends m to Alice encrypted with Alice</a:t>
            </a:r>
            <a:r>
              <a:rPr lang="ja-JP" altLang="en-US" sz="1800">
                <a:latin typeface="Arial" pitchFamily="34" charset="0"/>
                <a:cs typeface="Arial" pitchFamily="34" charset="0"/>
              </a:rPr>
              <a:t>’</a:t>
            </a:r>
            <a:r>
              <a:rPr lang="en-US" altLang="ja-JP" sz="1800">
                <a:latin typeface="Arial" pitchFamily="34" charset="0"/>
                <a:cs typeface="Arial" pitchFamily="34" charset="0"/>
              </a:rPr>
              <a:t>s public key</a:t>
            </a:r>
            <a:endParaRPr lang="en-US" altLang="en-US" sz="1800">
              <a:latin typeface="Arial" pitchFamily="34" charset="0"/>
              <a:cs typeface="Arial" pitchFamily="34" charset="0"/>
            </a:endParaRPr>
          </a:p>
        </p:txBody>
      </p:sp>
      <p:sp>
        <p:nvSpPr>
          <p:cNvPr id="42016" name="Line 55"/>
          <p:cNvSpPr>
            <a:spLocks noChangeShapeType="1"/>
          </p:cNvSpPr>
          <p:nvPr/>
        </p:nvSpPr>
        <p:spPr bwMode="auto">
          <a:xfrm flipH="1">
            <a:off x="1782763" y="5767388"/>
            <a:ext cx="1712912" cy="6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nvGrpSpPr>
          <p:cNvPr id="81953" name="Group 56"/>
          <p:cNvGrpSpPr>
            <a:grpSpLocks/>
          </p:cNvGrpSpPr>
          <p:nvPr/>
        </p:nvGrpSpPr>
        <p:grpSpPr bwMode="auto">
          <a:xfrm>
            <a:off x="2566988" y="5230813"/>
            <a:ext cx="806450" cy="677862"/>
            <a:chOff x="3691" y="3430"/>
            <a:chExt cx="508" cy="427"/>
          </a:xfrm>
        </p:grpSpPr>
        <p:sp>
          <p:nvSpPr>
            <p:cNvPr id="42026" name="Text Box 57"/>
            <p:cNvSpPr txBox="1">
              <a:spLocks noChangeArrowheads="1"/>
            </p:cNvSpPr>
            <p:nvPr/>
          </p:nvSpPr>
          <p:spPr bwMode="auto">
            <a:xfrm>
              <a:off x="3771" y="3626"/>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a:t>
              </a:r>
              <a:endParaRPr lang="en-US" sz="2400" smtClean="0">
                <a:latin typeface="Arial" charset="0"/>
                <a:cs typeface="Arial" charset="0"/>
              </a:endParaRPr>
            </a:p>
          </p:txBody>
        </p:sp>
        <p:sp>
          <p:nvSpPr>
            <p:cNvPr id="42027" name="Text Box 58"/>
            <p:cNvSpPr txBox="1">
              <a:spLocks noChangeArrowheads="1"/>
            </p:cNvSpPr>
            <p:nvPr/>
          </p:nvSpPr>
          <p:spPr bwMode="auto">
            <a:xfrm>
              <a:off x="3691" y="3540"/>
              <a:ext cx="5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K  (m)</a:t>
              </a:r>
            </a:p>
          </p:txBody>
        </p:sp>
        <p:sp>
          <p:nvSpPr>
            <p:cNvPr id="42028" name="Text Box 59"/>
            <p:cNvSpPr txBox="1">
              <a:spLocks noChangeArrowheads="1"/>
            </p:cNvSpPr>
            <p:nvPr/>
          </p:nvSpPr>
          <p:spPr bwMode="auto">
            <a:xfrm>
              <a:off x="3765" y="3430"/>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grpSp>
        <p:nvGrpSpPr>
          <p:cNvPr id="81954" name="Group 60"/>
          <p:cNvGrpSpPr>
            <a:grpSpLocks/>
          </p:cNvGrpSpPr>
          <p:nvPr/>
        </p:nvGrpSpPr>
        <p:grpSpPr bwMode="auto">
          <a:xfrm>
            <a:off x="296863" y="5646738"/>
            <a:ext cx="1768475" cy="711200"/>
            <a:chOff x="1299" y="3317"/>
            <a:chExt cx="1114" cy="448"/>
          </a:xfrm>
        </p:grpSpPr>
        <p:sp>
          <p:nvSpPr>
            <p:cNvPr id="42021" name="Text Box 61"/>
            <p:cNvSpPr txBox="1">
              <a:spLocks noChangeArrowheads="1"/>
            </p:cNvSpPr>
            <p:nvPr/>
          </p:nvSpPr>
          <p:spPr bwMode="auto">
            <a:xfrm>
              <a:off x="1654" y="3526"/>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a:t>
              </a:r>
            </a:p>
          </p:txBody>
        </p:sp>
        <p:sp>
          <p:nvSpPr>
            <p:cNvPr id="42022" name="Text Box 62"/>
            <p:cNvSpPr txBox="1">
              <a:spLocks noChangeArrowheads="1"/>
            </p:cNvSpPr>
            <p:nvPr/>
          </p:nvSpPr>
          <p:spPr bwMode="auto">
            <a:xfrm>
              <a:off x="1299" y="3414"/>
              <a:ext cx="111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latin typeface="Arial" charset="0"/>
                  <a:cs typeface="Arial" charset="0"/>
                </a:rPr>
                <a:t>m = K  (K   (m))</a:t>
              </a:r>
            </a:p>
          </p:txBody>
        </p:sp>
        <p:sp>
          <p:nvSpPr>
            <p:cNvPr id="42023" name="Text Box 63"/>
            <p:cNvSpPr txBox="1">
              <a:spLocks noChangeArrowheads="1"/>
            </p:cNvSpPr>
            <p:nvPr/>
          </p:nvSpPr>
          <p:spPr bwMode="auto">
            <a:xfrm>
              <a:off x="1901" y="3332"/>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t>
              </a:r>
            </a:p>
          </p:txBody>
        </p:sp>
        <p:sp>
          <p:nvSpPr>
            <p:cNvPr id="42024" name="Text Box 64"/>
            <p:cNvSpPr txBox="1">
              <a:spLocks noChangeArrowheads="1"/>
            </p:cNvSpPr>
            <p:nvPr/>
          </p:nvSpPr>
          <p:spPr bwMode="auto">
            <a:xfrm>
              <a:off x="1898" y="3534"/>
              <a:ext cx="2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rgbClr val="FF0000"/>
                  </a:solidFill>
                  <a:latin typeface="Arial" charset="0"/>
                  <a:cs typeface="Arial" charset="0"/>
                </a:rPr>
                <a:t>A</a:t>
              </a:r>
            </a:p>
          </p:txBody>
        </p:sp>
        <p:sp>
          <p:nvSpPr>
            <p:cNvPr id="42025" name="Text Box 65"/>
            <p:cNvSpPr txBox="1">
              <a:spLocks noChangeArrowheads="1"/>
            </p:cNvSpPr>
            <p:nvPr/>
          </p:nvSpPr>
          <p:spPr bwMode="auto">
            <a:xfrm>
              <a:off x="1685" y="3317"/>
              <a:ext cx="16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smtClean="0">
                  <a:solidFill>
                    <a:srgbClr val="FF0000"/>
                  </a:solidFill>
                  <a:latin typeface="Arial" charset="0"/>
                  <a:cs typeface="Arial" charset="0"/>
                </a:rPr>
                <a:t>-</a:t>
              </a:r>
            </a:p>
          </p:txBody>
        </p:sp>
      </p:grpSp>
      <p:sp>
        <p:nvSpPr>
          <p:cNvPr id="42019" name="Text Box 66"/>
          <p:cNvSpPr txBox="1">
            <a:spLocks noChangeArrowheads="1"/>
          </p:cNvSpPr>
          <p:nvPr/>
        </p:nvSpPr>
        <p:spPr bwMode="auto">
          <a:xfrm>
            <a:off x="2224088" y="3305175"/>
            <a:ext cx="3524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latin typeface="Arial" charset="0"/>
                <a:cs typeface="Arial" charset="0"/>
              </a:rPr>
              <a:t>R</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5" name="Picture 21"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425" y="1050925"/>
            <a:ext cx="5027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82947" name="Rectangle 2"/>
          <p:cNvSpPr>
            <a:spLocks noGrp="1" noChangeArrowheads="1"/>
          </p:cNvSpPr>
          <p:nvPr>
            <p:ph type="title"/>
          </p:nvPr>
        </p:nvSpPr>
        <p:spPr/>
        <p:txBody>
          <a:bodyPr/>
          <a:lstStyle/>
          <a:p>
            <a:r>
              <a:rPr lang="en-US" altLang="en-US" smtClean="0">
                <a:ea typeface="ＭＳ Ｐゴシック" pitchFamily="34" charset="-128"/>
              </a:rPr>
              <a:t>Public-key certification</a:t>
            </a:r>
          </a:p>
        </p:txBody>
      </p:sp>
      <p:sp>
        <p:nvSpPr>
          <p:cNvPr id="82948" name="Rectangle 3"/>
          <p:cNvSpPr>
            <a:spLocks noGrp="1" noChangeArrowheads="1"/>
          </p:cNvSpPr>
          <p:nvPr>
            <p:ph type="body" idx="1"/>
          </p:nvPr>
        </p:nvSpPr>
        <p:spPr>
          <a:xfrm>
            <a:off x="533400" y="1490663"/>
            <a:ext cx="7772400" cy="4648200"/>
          </a:xfrm>
        </p:spPr>
        <p:txBody>
          <a:bodyPr/>
          <a:lstStyle/>
          <a:p>
            <a:r>
              <a:rPr lang="en-US" altLang="en-US" smtClean="0">
                <a:ea typeface="ＭＳ Ｐゴシック" pitchFamily="34" charset="-128"/>
              </a:rPr>
              <a:t>motivation: Trudy plays pizza prank on Bob</a:t>
            </a:r>
          </a:p>
          <a:p>
            <a:pPr lvl="1"/>
            <a:r>
              <a:rPr lang="en-US" altLang="en-US" smtClean="0">
                <a:ea typeface="ＭＳ Ｐゴシック" pitchFamily="34" charset="-128"/>
              </a:rPr>
              <a:t>Trudy creates e-mail order: </a:t>
            </a:r>
            <a:br>
              <a:rPr lang="en-US" altLang="en-US" smtClean="0">
                <a:ea typeface="ＭＳ Ｐゴシック" pitchFamily="34" charset="-128"/>
              </a:rPr>
            </a:br>
            <a:r>
              <a:rPr lang="en-US" altLang="en-US" i="1" smtClean="0">
                <a:ea typeface="ＭＳ Ｐゴシック" pitchFamily="34" charset="-128"/>
              </a:rPr>
              <a:t>Dear Pizza Store, Please deliver to me four pepperoni pizzas. Thank you, Bob</a:t>
            </a:r>
          </a:p>
          <a:p>
            <a:pPr lvl="1"/>
            <a:r>
              <a:rPr lang="en-US" altLang="en-US" smtClean="0">
                <a:ea typeface="ＭＳ Ｐゴシック" pitchFamily="34" charset="-128"/>
              </a:rPr>
              <a:t>Trudy signs order with her private key</a:t>
            </a:r>
          </a:p>
          <a:p>
            <a:pPr lvl="1"/>
            <a:r>
              <a:rPr lang="en-US" altLang="en-US" smtClean="0">
                <a:ea typeface="ＭＳ Ｐゴシック" pitchFamily="34" charset="-128"/>
              </a:rPr>
              <a:t>Trudy sends order to Pizza Store</a:t>
            </a:r>
          </a:p>
          <a:p>
            <a:pPr lvl="1"/>
            <a:r>
              <a:rPr lang="en-US" altLang="en-US" smtClean="0">
                <a:ea typeface="ＭＳ Ｐゴシック" pitchFamily="34" charset="-128"/>
              </a:rPr>
              <a:t>Trudy sends to Pizza Store her public key, but says it</a:t>
            </a:r>
            <a:r>
              <a:rPr lang="ja-JP" altLang="en-US" smtClean="0">
                <a:ea typeface="ＭＳ Ｐゴシック" pitchFamily="34" charset="-128"/>
              </a:rPr>
              <a:t>’</a:t>
            </a:r>
            <a:r>
              <a:rPr lang="en-US" altLang="ja-JP" smtClean="0">
                <a:ea typeface="ＭＳ Ｐゴシック" pitchFamily="34" charset="-128"/>
              </a:rPr>
              <a:t>s Bob</a:t>
            </a:r>
            <a:r>
              <a:rPr lang="ja-JP" altLang="en-US" smtClean="0">
                <a:ea typeface="ＭＳ Ｐゴシック" pitchFamily="34" charset="-128"/>
              </a:rPr>
              <a:t>’</a:t>
            </a:r>
            <a:r>
              <a:rPr lang="en-US" altLang="ja-JP" smtClean="0">
                <a:ea typeface="ＭＳ Ｐゴシック" pitchFamily="34" charset="-128"/>
              </a:rPr>
              <a:t>s public key</a:t>
            </a:r>
          </a:p>
          <a:p>
            <a:pPr lvl="1"/>
            <a:r>
              <a:rPr lang="en-US" altLang="en-US" smtClean="0">
                <a:ea typeface="ＭＳ Ｐゴシック" pitchFamily="34" charset="-128"/>
              </a:rPr>
              <a:t>Pizza Store verifies signature; then delivers four pepperoni pizzas to Bob</a:t>
            </a:r>
          </a:p>
          <a:p>
            <a:pPr lvl="1"/>
            <a:r>
              <a:rPr lang="en-US" altLang="en-US" smtClean="0">
                <a:ea typeface="ＭＳ Ｐゴシック" pitchFamily="34" charset="-128"/>
              </a:rPr>
              <a:t>Bob doesn</a:t>
            </a:r>
            <a:r>
              <a:rPr lang="ja-JP" altLang="en-US" smtClean="0">
                <a:ea typeface="ＭＳ Ｐゴシック" pitchFamily="34" charset="-128"/>
              </a:rPr>
              <a:t>’</a:t>
            </a:r>
            <a:r>
              <a:rPr lang="en-US" altLang="ja-JP" smtClean="0">
                <a:ea typeface="ＭＳ Ｐゴシック" pitchFamily="34" charset="-128"/>
              </a:rPr>
              <a:t>t even like pepperoni</a:t>
            </a:r>
          </a:p>
          <a:p>
            <a:pPr lvl="1"/>
            <a:endParaRPr lang="en-US" altLang="en-US" smtClean="0">
              <a:ea typeface="ＭＳ Ｐゴシック" pitchFamily="34" charset="-128"/>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83970" name="Rectangle 2"/>
          <p:cNvSpPr>
            <a:spLocks noGrp="1" noChangeArrowheads="1"/>
          </p:cNvSpPr>
          <p:nvPr>
            <p:ph type="title"/>
          </p:nvPr>
        </p:nvSpPr>
        <p:spPr>
          <a:xfrm>
            <a:off x="522288" y="130175"/>
            <a:ext cx="6302375" cy="1143000"/>
          </a:xfrm>
        </p:spPr>
        <p:txBody>
          <a:bodyPr/>
          <a:lstStyle/>
          <a:p>
            <a:r>
              <a:rPr lang="en-US" altLang="en-US" smtClean="0">
                <a:ea typeface="ＭＳ Ｐゴシック" pitchFamily="34" charset="-128"/>
              </a:rPr>
              <a:t>Certification authorities</a:t>
            </a:r>
          </a:p>
        </p:txBody>
      </p:sp>
      <p:sp>
        <p:nvSpPr>
          <p:cNvPr id="83971" name="Rectangle 3"/>
          <p:cNvSpPr>
            <a:spLocks noGrp="1" noChangeArrowheads="1"/>
          </p:cNvSpPr>
          <p:nvPr>
            <p:ph type="body" sz="half" idx="1"/>
          </p:nvPr>
        </p:nvSpPr>
        <p:spPr>
          <a:xfrm>
            <a:off x="561975" y="1382713"/>
            <a:ext cx="7902575" cy="4648200"/>
          </a:xfrm>
        </p:spPr>
        <p:txBody>
          <a:bodyPr/>
          <a:lstStyle/>
          <a:p>
            <a:r>
              <a:rPr lang="en-US" altLang="en-US" i="1" dirty="0" smtClean="0">
                <a:solidFill>
                  <a:srgbClr val="C00000"/>
                </a:solidFill>
                <a:ea typeface="ＭＳ Ｐゴシック" pitchFamily="34" charset="-128"/>
              </a:rPr>
              <a:t>certification authority (CA): </a:t>
            </a:r>
            <a:r>
              <a:rPr lang="en-US" altLang="en-US" sz="2400" dirty="0" smtClean="0">
                <a:ea typeface="ＭＳ Ｐゴシック" pitchFamily="34" charset="-128"/>
              </a:rPr>
              <a:t>binds public key to particular entity, E.</a:t>
            </a:r>
          </a:p>
          <a:p>
            <a:r>
              <a:rPr lang="en-US" altLang="en-US" sz="2400" dirty="0" smtClean="0">
                <a:ea typeface="ＭＳ Ｐゴシック" pitchFamily="34" charset="-128"/>
              </a:rPr>
              <a:t>E (person, router) registers its public key with CA.</a:t>
            </a:r>
          </a:p>
          <a:p>
            <a:pPr lvl="1"/>
            <a:r>
              <a:rPr lang="en-US" altLang="en-US" sz="2000" dirty="0" smtClean="0">
                <a:ea typeface="ＭＳ Ｐゴシック" pitchFamily="34" charset="-128"/>
              </a:rPr>
              <a:t>E provides </a:t>
            </a:r>
            <a:r>
              <a:rPr lang="ja-JP" altLang="en-US" sz="2000" dirty="0" smtClean="0">
                <a:ea typeface="ＭＳ Ｐゴシック" pitchFamily="34" charset="-128"/>
              </a:rPr>
              <a:t>“</a:t>
            </a:r>
            <a:r>
              <a:rPr lang="en-US" altLang="ja-JP" sz="2000" dirty="0" smtClean="0">
                <a:ea typeface="ＭＳ Ｐゴシック" pitchFamily="34" charset="-128"/>
              </a:rPr>
              <a:t>proof of identity</a:t>
            </a:r>
            <a:r>
              <a:rPr lang="ja-JP" altLang="en-US" sz="2000" dirty="0" smtClean="0">
                <a:ea typeface="ＭＳ Ｐゴシック" pitchFamily="34" charset="-128"/>
              </a:rPr>
              <a:t>”</a:t>
            </a:r>
            <a:r>
              <a:rPr lang="en-US" altLang="ja-JP" sz="2000" dirty="0" smtClean="0">
                <a:ea typeface="ＭＳ Ｐゴシック" pitchFamily="34" charset="-128"/>
              </a:rPr>
              <a:t> to CA. </a:t>
            </a:r>
          </a:p>
          <a:p>
            <a:pPr lvl="1"/>
            <a:r>
              <a:rPr lang="en-US" altLang="en-US" sz="2000" dirty="0" smtClean="0">
                <a:ea typeface="ＭＳ Ｐゴシック" pitchFamily="34" charset="-128"/>
              </a:rPr>
              <a:t>CA creates certificate binding E to its public key.</a:t>
            </a:r>
          </a:p>
          <a:p>
            <a:pPr lvl="1"/>
            <a:r>
              <a:rPr lang="en-US" altLang="en-US" sz="2000" dirty="0" smtClean="0">
                <a:ea typeface="ＭＳ Ｐゴシック" pitchFamily="34" charset="-128"/>
              </a:rPr>
              <a:t>certificate containing E</a:t>
            </a:r>
            <a:r>
              <a:rPr lang="ja-JP" altLang="en-US" sz="2000" dirty="0" smtClean="0">
                <a:ea typeface="ＭＳ Ｐゴシック" pitchFamily="34" charset="-128"/>
              </a:rPr>
              <a:t>’</a:t>
            </a:r>
            <a:r>
              <a:rPr lang="en-US" altLang="ja-JP" sz="2000" dirty="0" smtClean="0">
                <a:ea typeface="ＭＳ Ｐゴシック" pitchFamily="34" charset="-128"/>
              </a:rPr>
              <a:t>s public key digitally signed by CA – CA says </a:t>
            </a:r>
            <a:r>
              <a:rPr lang="ja-JP" altLang="en-US" sz="2000" dirty="0" smtClean="0">
                <a:ea typeface="ＭＳ Ｐゴシック" pitchFamily="34" charset="-128"/>
              </a:rPr>
              <a:t>“</a:t>
            </a:r>
            <a:r>
              <a:rPr lang="en-US" altLang="ja-JP" sz="2000" dirty="0" smtClean="0">
                <a:ea typeface="ＭＳ Ｐゴシック" pitchFamily="34" charset="-128"/>
              </a:rPr>
              <a:t>this is E</a:t>
            </a:r>
            <a:r>
              <a:rPr lang="ja-JP" altLang="en-US" sz="2000" dirty="0" smtClean="0">
                <a:ea typeface="ＭＳ Ｐゴシック" pitchFamily="34" charset="-128"/>
              </a:rPr>
              <a:t>’</a:t>
            </a:r>
            <a:r>
              <a:rPr lang="en-US" altLang="ja-JP" sz="2000" dirty="0" smtClean="0">
                <a:ea typeface="ＭＳ Ｐゴシック" pitchFamily="34" charset="-128"/>
              </a:rPr>
              <a:t>s public key</a:t>
            </a:r>
            <a:r>
              <a:rPr lang="ja-JP" altLang="en-US" sz="2000" dirty="0" smtClean="0">
                <a:ea typeface="ＭＳ Ｐゴシック" pitchFamily="34" charset="-128"/>
              </a:rPr>
              <a:t>”</a:t>
            </a:r>
            <a:endParaRPr lang="en-US" altLang="en-US" sz="2000" dirty="0" smtClean="0">
              <a:ea typeface="ＭＳ Ｐゴシック" pitchFamily="34" charset="-128"/>
            </a:endParaRPr>
          </a:p>
        </p:txBody>
      </p:sp>
      <p:pic>
        <p:nvPicPr>
          <p:cNvPr id="83972" name="Picture 4" descr="j0175664[1]"/>
          <p:cNvPicPr>
            <a:picLocks noGrp="1" noChangeAspect="1" noChangeArrowheads="1"/>
          </p:cNvPicPr>
          <p:nvPr>
            <p:ph sz="quarter" idx="2"/>
          </p:nvPr>
        </p:nvPicPr>
        <p:blipFill>
          <a:blip r:embed="rId2" cstate="print">
            <a:extLst>
              <a:ext uri="{28A0092B-C50C-407E-A947-70E740481C1C}">
                <a14:useLocalDpi xmlns:a14="http://schemas.microsoft.com/office/drawing/2010/main" val="0"/>
              </a:ext>
            </a:extLst>
          </a:blip>
          <a:srcRect/>
          <a:stretch>
            <a:fillRect/>
          </a:stretch>
        </p:blipFill>
        <p:spPr>
          <a:xfrm>
            <a:off x="3324225" y="4979988"/>
            <a:ext cx="1155700" cy="917575"/>
          </a:xfrm>
          <a:noFill/>
        </p:spPr>
      </p:pic>
      <p:pic>
        <p:nvPicPr>
          <p:cNvPr id="83973" name="Picture 5" descr="Bo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0388" y="5702300"/>
            <a:ext cx="59055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4" name="Text Box 6"/>
          <p:cNvSpPr txBox="1">
            <a:spLocks noChangeArrowheads="1"/>
          </p:cNvSpPr>
          <p:nvPr/>
        </p:nvSpPr>
        <p:spPr bwMode="auto">
          <a:xfrm>
            <a:off x="1155700" y="4324350"/>
            <a:ext cx="96043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1600">
                <a:latin typeface="Arial" pitchFamily="34" charset="0"/>
                <a:cs typeface="Arial" pitchFamily="34" charset="0"/>
              </a:rPr>
              <a:t>Bob</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r"/>
            <a:r>
              <a:rPr lang="en-US" altLang="en-US" sz="1600">
                <a:latin typeface="Arial" pitchFamily="34" charset="0"/>
                <a:cs typeface="Arial" pitchFamily="34" charset="0"/>
              </a:rPr>
              <a:t>public</a:t>
            </a:r>
          </a:p>
          <a:p>
            <a:pPr algn="r"/>
            <a:r>
              <a:rPr lang="en-US" altLang="en-US" sz="1600">
                <a:latin typeface="Arial" pitchFamily="34" charset="0"/>
                <a:cs typeface="Arial" pitchFamily="34" charset="0"/>
              </a:rPr>
              <a:t>key </a:t>
            </a:r>
          </a:p>
        </p:txBody>
      </p:sp>
      <p:pic>
        <p:nvPicPr>
          <p:cNvPr id="83975" name="Picture 7" descr="BS00768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flipV="1">
            <a:off x="2133600" y="4405313"/>
            <a:ext cx="458788"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3976" name="Group 8"/>
          <p:cNvGrpSpPr>
            <a:grpSpLocks/>
          </p:cNvGrpSpPr>
          <p:nvPr/>
        </p:nvGrpSpPr>
        <p:grpSpPr bwMode="auto">
          <a:xfrm>
            <a:off x="2043113" y="4643438"/>
            <a:ext cx="538162" cy="604837"/>
            <a:chOff x="2994" y="2073"/>
            <a:chExt cx="339" cy="381"/>
          </a:xfrm>
        </p:grpSpPr>
        <p:grpSp>
          <p:nvGrpSpPr>
            <p:cNvPr id="84000" name="Group 9"/>
            <p:cNvGrpSpPr>
              <a:grpSpLocks/>
            </p:cNvGrpSpPr>
            <p:nvPr/>
          </p:nvGrpSpPr>
          <p:grpSpPr bwMode="auto">
            <a:xfrm>
              <a:off x="2994" y="2144"/>
              <a:ext cx="339" cy="310"/>
              <a:chOff x="2994" y="2144"/>
              <a:chExt cx="339" cy="310"/>
            </a:xfrm>
          </p:grpSpPr>
          <p:sp>
            <p:nvSpPr>
              <p:cNvPr id="84002" name="Text Box 10"/>
              <p:cNvSpPr txBox="1">
                <a:spLocks noChangeArrowheads="1"/>
              </p:cNvSpPr>
              <p:nvPr/>
            </p:nvSpPr>
            <p:spPr bwMode="auto">
              <a:xfrm>
                <a:off x="2994" y="2144"/>
                <a:ext cx="26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K </a:t>
                </a:r>
              </a:p>
            </p:txBody>
          </p:sp>
          <p:sp>
            <p:nvSpPr>
              <p:cNvPr id="84003" name="Text Box 11"/>
              <p:cNvSpPr txBox="1">
                <a:spLocks noChangeArrowheads="1"/>
              </p:cNvSpPr>
              <p:nvPr/>
            </p:nvSpPr>
            <p:spPr bwMode="auto">
              <a:xfrm>
                <a:off x="3131" y="2241"/>
                <a:ext cx="2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B</a:t>
                </a:r>
              </a:p>
            </p:txBody>
          </p:sp>
        </p:grpSp>
        <p:sp>
          <p:nvSpPr>
            <p:cNvPr id="84001" name="Text Box 12"/>
            <p:cNvSpPr txBox="1">
              <a:spLocks noChangeArrowheads="1"/>
            </p:cNvSpPr>
            <p:nvPr/>
          </p:nvSpPr>
          <p:spPr bwMode="auto">
            <a:xfrm>
              <a:off x="3133" y="2073"/>
              <a:ext cx="1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a:t>
              </a:r>
            </a:p>
          </p:txBody>
        </p:sp>
      </p:grpSp>
      <p:sp>
        <p:nvSpPr>
          <p:cNvPr id="83977" name="Line 13"/>
          <p:cNvSpPr>
            <a:spLocks noChangeShapeType="1"/>
          </p:cNvSpPr>
          <p:nvPr/>
        </p:nvSpPr>
        <p:spPr bwMode="auto">
          <a:xfrm>
            <a:off x="2562225" y="4651375"/>
            <a:ext cx="698500" cy="615950"/>
          </a:xfrm>
          <a:prstGeom prst="line">
            <a:avLst/>
          </a:prstGeom>
          <a:noFill/>
          <a:ln w="381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83978" name="Text Box 14"/>
          <p:cNvSpPr txBox="1">
            <a:spLocks noChangeArrowheads="1"/>
          </p:cNvSpPr>
          <p:nvPr/>
        </p:nvSpPr>
        <p:spPr bwMode="auto">
          <a:xfrm>
            <a:off x="565150" y="5507038"/>
            <a:ext cx="130968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1600">
                <a:latin typeface="Arial" pitchFamily="34" charset="0"/>
                <a:cs typeface="Arial" pitchFamily="34" charset="0"/>
              </a:rPr>
              <a:t>Bob</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r"/>
            <a:r>
              <a:rPr lang="en-US" altLang="en-US" sz="1600">
                <a:latin typeface="Arial" pitchFamily="34" charset="0"/>
                <a:cs typeface="Arial" pitchFamily="34" charset="0"/>
              </a:rPr>
              <a:t>identifying information </a:t>
            </a:r>
          </a:p>
        </p:txBody>
      </p:sp>
      <p:sp>
        <p:nvSpPr>
          <p:cNvPr id="83979" name="Line 15"/>
          <p:cNvSpPr>
            <a:spLocks noChangeShapeType="1"/>
          </p:cNvSpPr>
          <p:nvPr/>
        </p:nvSpPr>
        <p:spPr bwMode="auto">
          <a:xfrm flipV="1">
            <a:off x="2525713" y="5434013"/>
            <a:ext cx="741362" cy="341312"/>
          </a:xfrm>
          <a:prstGeom prst="line">
            <a:avLst/>
          </a:prstGeom>
          <a:noFill/>
          <a:ln w="381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54285" name="Group 16"/>
          <p:cNvGrpSpPr>
            <a:grpSpLocks/>
          </p:cNvGrpSpPr>
          <p:nvPr/>
        </p:nvGrpSpPr>
        <p:grpSpPr bwMode="auto">
          <a:xfrm>
            <a:off x="4856163" y="4224338"/>
            <a:ext cx="1192212" cy="955675"/>
            <a:chOff x="1126" y="2124"/>
            <a:chExt cx="751" cy="602"/>
          </a:xfrm>
          <a:solidFill>
            <a:srgbClr val="008000"/>
          </a:solidFill>
        </p:grpSpPr>
        <p:sp>
          <p:nvSpPr>
            <p:cNvPr id="54305" name="Rectangle 17"/>
            <p:cNvSpPr>
              <a:spLocks noChangeArrowheads="1"/>
            </p:cNvSpPr>
            <p:nvPr/>
          </p:nvSpPr>
          <p:spPr bwMode="auto">
            <a:xfrm>
              <a:off x="1126" y="2124"/>
              <a:ext cx="751" cy="602"/>
            </a:xfrm>
            <a:prstGeom prst="rect">
              <a:avLst/>
            </a:prstGeom>
            <a:grpFill/>
            <a:ln w="9525">
              <a:solidFill>
                <a:schemeClr val="tx1"/>
              </a:solidFill>
              <a:miter lim="800000"/>
              <a:headEnd/>
              <a:tailEnd/>
            </a:ln>
          </p:spPr>
          <p:txBody>
            <a:bodyPr wrap="none" anchor="ctr"/>
            <a:lstStyle/>
            <a:p>
              <a:pPr>
                <a:defRPr/>
              </a:pPr>
              <a:endParaRPr lang="en-US">
                <a:latin typeface="Arial" charset="0"/>
                <a:ea typeface="ＭＳ Ｐゴシック" charset="0"/>
                <a:cs typeface="Arial" charset="0"/>
              </a:endParaRPr>
            </a:p>
          </p:txBody>
        </p:sp>
        <p:sp>
          <p:nvSpPr>
            <p:cNvPr id="54306" name="Text Box 18"/>
            <p:cNvSpPr txBox="1">
              <a:spLocks noChangeArrowheads="1"/>
            </p:cNvSpPr>
            <p:nvPr/>
          </p:nvSpPr>
          <p:spPr bwMode="auto">
            <a:xfrm>
              <a:off x="1134" y="2127"/>
              <a:ext cx="742" cy="5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chemeClr val="bg1"/>
                  </a:solidFill>
                  <a:latin typeface="Arial" charset="0"/>
                  <a:cs typeface="Arial" charset="0"/>
                </a:rPr>
                <a:t>digital</a:t>
              </a:r>
            </a:p>
            <a:p>
              <a:pPr algn="ctr">
                <a:defRPr/>
              </a:pPr>
              <a:r>
                <a:rPr lang="en-US" sz="1800" smtClean="0">
                  <a:solidFill>
                    <a:schemeClr val="bg1"/>
                  </a:solidFill>
                  <a:latin typeface="Arial" charset="0"/>
                  <a:cs typeface="Arial" charset="0"/>
                </a:rPr>
                <a:t>signature</a:t>
              </a:r>
            </a:p>
            <a:p>
              <a:pPr algn="ctr">
                <a:defRPr/>
              </a:pPr>
              <a:r>
                <a:rPr lang="en-US" sz="1800" smtClean="0">
                  <a:solidFill>
                    <a:schemeClr val="bg1"/>
                  </a:solidFill>
                  <a:latin typeface="Arial" charset="0"/>
                  <a:cs typeface="Arial" charset="0"/>
                </a:rPr>
                <a:t>(encrypt)</a:t>
              </a:r>
            </a:p>
          </p:txBody>
        </p:sp>
      </p:grpSp>
      <p:sp>
        <p:nvSpPr>
          <p:cNvPr id="83981" name="Text Box 19"/>
          <p:cNvSpPr txBox="1">
            <a:spLocks noChangeArrowheads="1"/>
          </p:cNvSpPr>
          <p:nvPr/>
        </p:nvSpPr>
        <p:spPr bwMode="auto">
          <a:xfrm>
            <a:off x="4546600" y="5219700"/>
            <a:ext cx="96043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1600">
                <a:latin typeface="Arial" pitchFamily="34" charset="0"/>
                <a:cs typeface="Arial" pitchFamily="34" charset="0"/>
              </a:rPr>
              <a:t>CA </a:t>
            </a:r>
          </a:p>
          <a:p>
            <a:pPr algn="r"/>
            <a:r>
              <a:rPr lang="en-US" altLang="en-US" sz="1600">
                <a:latin typeface="Arial" pitchFamily="34" charset="0"/>
                <a:cs typeface="Arial" pitchFamily="34" charset="0"/>
              </a:rPr>
              <a:t>private</a:t>
            </a:r>
          </a:p>
          <a:p>
            <a:pPr algn="r"/>
            <a:r>
              <a:rPr lang="en-US" altLang="en-US" sz="1600">
                <a:latin typeface="Arial" pitchFamily="34" charset="0"/>
                <a:cs typeface="Arial" pitchFamily="34" charset="0"/>
              </a:rPr>
              <a:t>key </a:t>
            </a:r>
          </a:p>
        </p:txBody>
      </p:sp>
      <p:pic>
        <p:nvPicPr>
          <p:cNvPr id="83982" name="Picture 20" descr="BS00768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flipV="1">
            <a:off x="5715000" y="5313363"/>
            <a:ext cx="458788"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3983" name="Group 21"/>
          <p:cNvGrpSpPr>
            <a:grpSpLocks/>
          </p:cNvGrpSpPr>
          <p:nvPr/>
        </p:nvGrpSpPr>
        <p:grpSpPr bwMode="auto">
          <a:xfrm>
            <a:off x="5403850" y="5551488"/>
            <a:ext cx="690563" cy="479425"/>
            <a:chOff x="3770" y="3688"/>
            <a:chExt cx="435" cy="302"/>
          </a:xfrm>
        </p:grpSpPr>
        <p:sp>
          <p:nvSpPr>
            <p:cNvPr id="83998" name="Text Box 22"/>
            <p:cNvSpPr txBox="1">
              <a:spLocks noChangeArrowheads="1"/>
            </p:cNvSpPr>
            <p:nvPr/>
          </p:nvSpPr>
          <p:spPr bwMode="auto">
            <a:xfrm>
              <a:off x="3770" y="3688"/>
              <a:ext cx="26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K </a:t>
              </a:r>
            </a:p>
          </p:txBody>
        </p:sp>
        <p:sp>
          <p:nvSpPr>
            <p:cNvPr id="83999" name="Text Box 23"/>
            <p:cNvSpPr txBox="1">
              <a:spLocks noChangeArrowheads="1"/>
            </p:cNvSpPr>
            <p:nvPr/>
          </p:nvSpPr>
          <p:spPr bwMode="auto">
            <a:xfrm>
              <a:off x="3910" y="3777"/>
              <a:ext cx="29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CA</a:t>
              </a:r>
            </a:p>
          </p:txBody>
        </p:sp>
      </p:grpSp>
      <p:sp>
        <p:nvSpPr>
          <p:cNvPr id="83984" name="Text Box 24"/>
          <p:cNvSpPr txBox="1">
            <a:spLocks noChangeArrowheads="1"/>
          </p:cNvSpPr>
          <p:nvPr/>
        </p:nvSpPr>
        <p:spPr bwMode="auto">
          <a:xfrm>
            <a:off x="5643563" y="5368925"/>
            <a:ext cx="285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sp>
        <p:nvSpPr>
          <p:cNvPr id="83985" name="Line 25"/>
          <p:cNvSpPr>
            <a:spLocks noChangeShapeType="1"/>
          </p:cNvSpPr>
          <p:nvPr/>
        </p:nvSpPr>
        <p:spPr bwMode="auto">
          <a:xfrm flipV="1">
            <a:off x="5634038" y="5132388"/>
            <a:ext cx="0" cy="428625"/>
          </a:xfrm>
          <a:prstGeom prst="line">
            <a:avLst/>
          </a:prstGeom>
          <a:noFill/>
          <a:ln w="381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83986" name="Line 26"/>
          <p:cNvSpPr>
            <a:spLocks noChangeShapeType="1"/>
          </p:cNvSpPr>
          <p:nvPr/>
        </p:nvSpPr>
        <p:spPr bwMode="auto">
          <a:xfrm>
            <a:off x="2613025" y="4468813"/>
            <a:ext cx="2222500" cy="63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83987" name="Line 27"/>
          <p:cNvSpPr>
            <a:spLocks noChangeShapeType="1"/>
          </p:cNvSpPr>
          <p:nvPr/>
        </p:nvSpPr>
        <p:spPr bwMode="auto">
          <a:xfrm flipV="1">
            <a:off x="6089650" y="4495800"/>
            <a:ext cx="1133475" cy="95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83988" name="Group 28"/>
          <p:cNvGrpSpPr>
            <a:grpSpLocks/>
          </p:cNvGrpSpPr>
          <p:nvPr/>
        </p:nvGrpSpPr>
        <p:grpSpPr bwMode="auto">
          <a:xfrm>
            <a:off x="7058025" y="4203700"/>
            <a:ext cx="858838" cy="1158875"/>
            <a:chOff x="4446" y="2648"/>
            <a:chExt cx="541" cy="730"/>
          </a:xfrm>
        </p:grpSpPr>
        <p:pic>
          <p:nvPicPr>
            <p:cNvPr id="83991" name="Picture 29" descr="SO00109_[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46" y="2648"/>
              <a:ext cx="541"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3992" name="Group 30"/>
            <p:cNvGrpSpPr>
              <a:grpSpLocks/>
            </p:cNvGrpSpPr>
            <p:nvPr/>
          </p:nvGrpSpPr>
          <p:grpSpPr bwMode="auto">
            <a:xfrm>
              <a:off x="4610" y="2766"/>
              <a:ext cx="309" cy="381"/>
              <a:chOff x="2994" y="2073"/>
              <a:chExt cx="309" cy="381"/>
            </a:xfrm>
          </p:grpSpPr>
          <p:grpSp>
            <p:nvGrpSpPr>
              <p:cNvPr id="83994" name="Group 31"/>
              <p:cNvGrpSpPr>
                <a:grpSpLocks/>
              </p:cNvGrpSpPr>
              <p:nvPr/>
            </p:nvGrpSpPr>
            <p:grpSpPr bwMode="auto">
              <a:xfrm>
                <a:off x="2994" y="2144"/>
                <a:ext cx="309" cy="310"/>
                <a:chOff x="2994" y="2144"/>
                <a:chExt cx="309" cy="310"/>
              </a:xfrm>
            </p:grpSpPr>
            <p:sp>
              <p:nvSpPr>
                <p:cNvPr id="83996" name="Text Box 32"/>
                <p:cNvSpPr txBox="1">
                  <a:spLocks noChangeArrowheads="1"/>
                </p:cNvSpPr>
                <p:nvPr/>
              </p:nvSpPr>
              <p:spPr bwMode="auto">
                <a:xfrm>
                  <a:off x="2994" y="2144"/>
                  <a:ext cx="269"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FF0000"/>
                      </a:solidFill>
                      <a:latin typeface="Arial" pitchFamily="34" charset="0"/>
                      <a:cs typeface="Arial" pitchFamily="34" charset="0"/>
                    </a:rPr>
                    <a:t>K </a:t>
                  </a:r>
                </a:p>
              </p:txBody>
            </p:sp>
            <p:sp>
              <p:nvSpPr>
                <p:cNvPr id="83997" name="Text Box 33"/>
                <p:cNvSpPr txBox="1">
                  <a:spLocks noChangeArrowheads="1"/>
                </p:cNvSpPr>
                <p:nvPr/>
              </p:nvSpPr>
              <p:spPr bwMode="auto">
                <a:xfrm>
                  <a:off x="3101" y="2241"/>
                  <a:ext cx="2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FF0000"/>
                      </a:solidFill>
                      <a:latin typeface="Arial" pitchFamily="34" charset="0"/>
                      <a:cs typeface="Arial" pitchFamily="34" charset="0"/>
                    </a:rPr>
                    <a:t>B</a:t>
                  </a:r>
                </a:p>
              </p:txBody>
            </p:sp>
          </p:grpSp>
          <p:sp>
            <p:nvSpPr>
              <p:cNvPr id="83995" name="Text Box 34"/>
              <p:cNvSpPr txBox="1">
                <a:spLocks noChangeArrowheads="1"/>
              </p:cNvSpPr>
              <p:nvPr/>
            </p:nvSpPr>
            <p:spPr bwMode="auto">
              <a:xfrm>
                <a:off x="3106" y="2073"/>
                <a:ext cx="1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FF0000"/>
                    </a:solidFill>
                    <a:latin typeface="Arial" pitchFamily="34" charset="0"/>
                    <a:cs typeface="Arial" pitchFamily="34" charset="0"/>
                  </a:rPr>
                  <a:t>+</a:t>
                </a:r>
              </a:p>
            </p:txBody>
          </p:sp>
        </p:grpSp>
        <p:pic>
          <p:nvPicPr>
            <p:cNvPr id="83993" name="Picture 35" descr="BS00768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flipV="1">
              <a:off x="4640" y="3118"/>
              <a:ext cx="289"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3989" name="Text Box 36"/>
          <p:cNvSpPr txBox="1">
            <a:spLocks noChangeArrowheads="1"/>
          </p:cNvSpPr>
          <p:nvPr/>
        </p:nvSpPr>
        <p:spPr bwMode="auto">
          <a:xfrm>
            <a:off x="6319838" y="5297488"/>
            <a:ext cx="23129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a:latin typeface="Arial" pitchFamily="34" charset="0"/>
                <a:cs typeface="Arial" pitchFamily="34" charset="0"/>
              </a:rPr>
              <a:t>certificate for Bob</a:t>
            </a:r>
            <a:r>
              <a:rPr lang="ja-JP" altLang="en-US">
                <a:latin typeface="Arial" pitchFamily="34" charset="0"/>
                <a:cs typeface="Arial" pitchFamily="34" charset="0"/>
              </a:rPr>
              <a:t>’</a:t>
            </a:r>
            <a:r>
              <a:rPr lang="en-US" altLang="ja-JP">
                <a:latin typeface="Arial" pitchFamily="34" charset="0"/>
                <a:cs typeface="Arial" pitchFamily="34" charset="0"/>
              </a:rPr>
              <a:t>s public key, signed by CA</a:t>
            </a:r>
            <a:endParaRPr lang="en-US" altLang="en-US">
              <a:latin typeface="Arial" pitchFamily="34" charset="0"/>
              <a:cs typeface="Arial" pitchFamily="34" charset="0"/>
            </a:endParaRPr>
          </a:p>
        </p:txBody>
      </p:sp>
      <p:pic>
        <p:nvPicPr>
          <p:cNvPr id="83990" name="Picture 20" descr="underline_bas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700" y="985838"/>
            <a:ext cx="54848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84994" name="Rectangle 3"/>
          <p:cNvSpPr>
            <a:spLocks noGrp="1" noChangeArrowheads="1"/>
          </p:cNvSpPr>
          <p:nvPr>
            <p:ph type="body" sz="half" idx="3"/>
          </p:nvPr>
        </p:nvSpPr>
        <p:spPr>
          <a:xfrm>
            <a:off x="650875" y="1325563"/>
            <a:ext cx="7727950" cy="4648200"/>
          </a:xfrm>
        </p:spPr>
        <p:txBody>
          <a:bodyPr/>
          <a:lstStyle/>
          <a:p>
            <a:r>
              <a:rPr lang="en-US" altLang="en-US" sz="2400" smtClean="0">
                <a:solidFill>
                  <a:schemeClr val="tx2"/>
                </a:solidFill>
                <a:ea typeface="ＭＳ Ｐゴシック" pitchFamily="34" charset="-128"/>
              </a:rPr>
              <a:t>when Alice wants Bob</a:t>
            </a:r>
            <a:r>
              <a:rPr lang="ja-JP" altLang="en-US" sz="2400" smtClean="0">
                <a:solidFill>
                  <a:schemeClr val="tx2"/>
                </a:solidFill>
                <a:ea typeface="ＭＳ Ｐゴシック" pitchFamily="34" charset="-128"/>
              </a:rPr>
              <a:t>’</a:t>
            </a:r>
            <a:r>
              <a:rPr lang="en-US" altLang="ja-JP" sz="2400" smtClean="0">
                <a:solidFill>
                  <a:schemeClr val="tx2"/>
                </a:solidFill>
                <a:ea typeface="ＭＳ Ｐゴシック" pitchFamily="34" charset="-128"/>
              </a:rPr>
              <a:t>s public key:</a:t>
            </a:r>
          </a:p>
          <a:p>
            <a:pPr lvl="1"/>
            <a:r>
              <a:rPr lang="en-US" altLang="en-US" smtClean="0">
                <a:solidFill>
                  <a:schemeClr val="tx2"/>
                </a:solidFill>
                <a:ea typeface="ＭＳ Ｐゴシック" pitchFamily="34" charset="-128"/>
              </a:rPr>
              <a:t>gets Bob</a:t>
            </a:r>
            <a:r>
              <a:rPr lang="ja-JP" altLang="en-US" smtClean="0">
                <a:solidFill>
                  <a:schemeClr val="tx2"/>
                </a:solidFill>
                <a:ea typeface="ＭＳ Ｐゴシック" pitchFamily="34" charset="-128"/>
              </a:rPr>
              <a:t>’</a:t>
            </a:r>
            <a:r>
              <a:rPr lang="en-US" altLang="ja-JP" smtClean="0">
                <a:solidFill>
                  <a:schemeClr val="tx2"/>
                </a:solidFill>
                <a:ea typeface="ＭＳ Ｐゴシック" pitchFamily="34" charset="-128"/>
              </a:rPr>
              <a:t>s certificate (Bob or elsewhere).</a:t>
            </a:r>
          </a:p>
          <a:p>
            <a:pPr lvl="1"/>
            <a:r>
              <a:rPr lang="en-US" altLang="en-US" smtClean="0">
                <a:solidFill>
                  <a:schemeClr val="tx2"/>
                </a:solidFill>
                <a:ea typeface="ＭＳ Ｐゴシック" pitchFamily="34" charset="-128"/>
              </a:rPr>
              <a:t>apply CA</a:t>
            </a:r>
            <a:r>
              <a:rPr lang="ja-JP" altLang="en-US" smtClean="0">
                <a:solidFill>
                  <a:schemeClr val="tx2"/>
                </a:solidFill>
                <a:ea typeface="ＭＳ Ｐゴシック" pitchFamily="34" charset="-128"/>
              </a:rPr>
              <a:t>’</a:t>
            </a:r>
            <a:r>
              <a:rPr lang="en-US" altLang="ja-JP" smtClean="0">
                <a:solidFill>
                  <a:schemeClr val="tx2"/>
                </a:solidFill>
                <a:ea typeface="ＭＳ Ｐゴシック" pitchFamily="34" charset="-128"/>
              </a:rPr>
              <a:t>s public key to Bob</a:t>
            </a:r>
            <a:r>
              <a:rPr lang="ja-JP" altLang="en-US" smtClean="0">
                <a:solidFill>
                  <a:schemeClr val="tx2"/>
                </a:solidFill>
                <a:ea typeface="ＭＳ Ｐゴシック" pitchFamily="34" charset="-128"/>
              </a:rPr>
              <a:t>’</a:t>
            </a:r>
            <a:r>
              <a:rPr lang="en-US" altLang="ja-JP" smtClean="0">
                <a:solidFill>
                  <a:schemeClr val="tx2"/>
                </a:solidFill>
                <a:ea typeface="ＭＳ Ｐゴシック" pitchFamily="34" charset="-128"/>
              </a:rPr>
              <a:t>s certificate, get Bob</a:t>
            </a:r>
            <a:r>
              <a:rPr lang="ja-JP" altLang="en-US" smtClean="0">
                <a:solidFill>
                  <a:schemeClr val="tx2"/>
                </a:solidFill>
                <a:ea typeface="ＭＳ Ｐゴシック" pitchFamily="34" charset="-128"/>
              </a:rPr>
              <a:t>’</a:t>
            </a:r>
            <a:r>
              <a:rPr lang="en-US" altLang="ja-JP" smtClean="0">
                <a:solidFill>
                  <a:schemeClr val="tx2"/>
                </a:solidFill>
                <a:ea typeface="ＭＳ Ｐゴシック" pitchFamily="34" charset="-128"/>
              </a:rPr>
              <a:t>s public key</a:t>
            </a:r>
            <a:endParaRPr lang="en-US" altLang="en-US" smtClean="0">
              <a:solidFill>
                <a:schemeClr val="tx2"/>
              </a:solidFill>
              <a:ea typeface="ＭＳ Ｐゴシック" pitchFamily="34" charset="-128"/>
            </a:endParaRPr>
          </a:p>
        </p:txBody>
      </p:sp>
      <p:pic>
        <p:nvPicPr>
          <p:cNvPr id="84995" name="Picture 4" descr="j0175664[1]"/>
          <p:cNvPicPr>
            <a:picLocks noGrp="1" noChangeAspect="1" noChangeArrowheads="1"/>
          </p:cNvPicPr>
          <p:nvPr>
            <p:ph sz="quarter" idx="2"/>
          </p:nvPr>
        </p:nvPicPr>
        <p:blipFill>
          <a:blip r:embed="rId2" cstate="print">
            <a:extLst>
              <a:ext uri="{28A0092B-C50C-407E-A947-70E740481C1C}">
                <a14:useLocalDpi xmlns:a14="http://schemas.microsoft.com/office/drawing/2010/main" val="0"/>
              </a:ext>
            </a:extLst>
          </a:blip>
          <a:srcRect/>
          <a:stretch>
            <a:fillRect/>
          </a:stretch>
        </p:blipFill>
        <p:spPr>
          <a:xfrm>
            <a:off x="4179888" y="5241925"/>
            <a:ext cx="938212" cy="744538"/>
          </a:xfrm>
          <a:noFill/>
        </p:spPr>
      </p:pic>
      <p:sp>
        <p:nvSpPr>
          <p:cNvPr id="84996" name="Text Box 5"/>
          <p:cNvSpPr txBox="1">
            <a:spLocks noChangeArrowheads="1"/>
          </p:cNvSpPr>
          <p:nvPr/>
        </p:nvSpPr>
        <p:spPr bwMode="auto">
          <a:xfrm>
            <a:off x="6642100" y="3467100"/>
            <a:ext cx="96043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1600">
                <a:latin typeface="Arial" pitchFamily="34" charset="0"/>
                <a:cs typeface="Arial" pitchFamily="34" charset="0"/>
              </a:rPr>
              <a:t>Bob</a:t>
            </a:r>
            <a:r>
              <a:rPr lang="ja-JP" altLang="en-US" sz="1600">
                <a:latin typeface="Arial" pitchFamily="34" charset="0"/>
                <a:cs typeface="Arial" pitchFamily="34" charset="0"/>
              </a:rPr>
              <a:t>’</a:t>
            </a:r>
            <a:r>
              <a:rPr lang="en-US" altLang="ja-JP" sz="1600">
                <a:latin typeface="Arial" pitchFamily="34" charset="0"/>
                <a:cs typeface="Arial" pitchFamily="34" charset="0"/>
              </a:rPr>
              <a:t>s </a:t>
            </a:r>
          </a:p>
          <a:p>
            <a:pPr algn="r"/>
            <a:r>
              <a:rPr lang="en-US" altLang="en-US" sz="1600">
                <a:latin typeface="Arial" pitchFamily="34" charset="0"/>
                <a:cs typeface="Arial" pitchFamily="34" charset="0"/>
              </a:rPr>
              <a:t>public</a:t>
            </a:r>
          </a:p>
          <a:p>
            <a:pPr algn="r"/>
            <a:r>
              <a:rPr lang="en-US" altLang="en-US" sz="1600">
                <a:latin typeface="Arial" pitchFamily="34" charset="0"/>
                <a:cs typeface="Arial" pitchFamily="34" charset="0"/>
              </a:rPr>
              <a:t>key </a:t>
            </a:r>
          </a:p>
        </p:txBody>
      </p:sp>
      <p:pic>
        <p:nvPicPr>
          <p:cNvPr id="84997" name="Picture 6"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6473825" y="3592513"/>
            <a:ext cx="458788"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4998" name="Group 7"/>
          <p:cNvGrpSpPr>
            <a:grpSpLocks/>
          </p:cNvGrpSpPr>
          <p:nvPr/>
        </p:nvGrpSpPr>
        <p:grpSpPr bwMode="auto">
          <a:xfrm>
            <a:off x="6383338" y="3830638"/>
            <a:ext cx="528637" cy="604837"/>
            <a:chOff x="2994" y="2073"/>
            <a:chExt cx="333" cy="381"/>
          </a:xfrm>
        </p:grpSpPr>
        <p:grpSp>
          <p:nvGrpSpPr>
            <p:cNvPr id="85019" name="Group 8"/>
            <p:cNvGrpSpPr>
              <a:grpSpLocks/>
            </p:cNvGrpSpPr>
            <p:nvPr/>
          </p:nvGrpSpPr>
          <p:grpSpPr bwMode="auto">
            <a:xfrm>
              <a:off x="2994" y="2144"/>
              <a:ext cx="333" cy="310"/>
              <a:chOff x="2994" y="2144"/>
              <a:chExt cx="333" cy="310"/>
            </a:xfrm>
          </p:grpSpPr>
          <p:sp>
            <p:nvSpPr>
              <p:cNvPr id="85021" name="Text Box 9"/>
              <p:cNvSpPr txBox="1">
                <a:spLocks noChangeArrowheads="1"/>
              </p:cNvSpPr>
              <p:nvPr/>
            </p:nvSpPr>
            <p:spPr bwMode="auto">
              <a:xfrm>
                <a:off x="2994" y="2144"/>
                <a:ext cx="26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K </a:t>
                </a:r>
              </a:p>
            </p:txBody>
          </p:sp>
          <p:sp>
            <p:nvSpPr>
              <p:cNvPr id="85022" name="Text Box 10"/>
              <p:cNvSpPr txBox="1">
                <a:spLocks noChangeArrowheads="1"/>
              </p:cNvSpPr>
              <p:nvPr/>
            </p:nvSpPr>
            <p:spPr bwMode="auto">
              <a:xfrm>
                <a:off x="3125" y="2241"/>
                <a:ext cx="2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B</a:t>
                </a:r>
              </a:p>
            </p:txBody>
          </p:sp>
        </p:grpSp>
        <p:sp>
          <p:nvSpPr>
            <p:cNvPr id="85020" name="Text Box 11"/>
            <p:cNvSpPr txBox="1">
              <a:spLocks noChangeArrowheads="1"/>
            </p:cNvSpPr>
            <p:nvPr/>
          </p:nvSpPr>
          <p:spPr bwMode="auto">
            <a:xfrm>
              <a:off x="3124" y="2073"/>
              <a:ext cx="1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a:t>
              </a:r>
            </a:p>
          </p:txBody>
        </p:sp>
      </p:grpSp>
      <p:grpSp>
        <p:nvGrpSpPr>
          <p:cNvPr id="55304" name="Group 12"/>
          <p:cNvGrpSpPr>
            <a:grpSpLocks/>
          </p:cNvGrpSpPr>
          <p:nvPr/>
        </p:nvGrpSpPr>
        <p:grpSpPr bwMode="auto">
          <a:xfrm>
            <a:off x="4029075" y="3425825"/>
            <a:ext cx="1192213" cy="955675"/>
            <a:chOff x="1126" y="2124"/>
            <a:chExt cx="751" cy="602"/>
          </a:xfrm>
          <a:solidFill>
            <a:srgbClr val="008000"/>
          </a:solidFill>
        </p:grpSpPr>
        <p:sp>
          <p:nvSpPr>
            <p:cNvPr id="55324" name="Rectangle 13"/>
            <p:cNvSpPr>
              <a:spLocks noChangeArrowheads="1"/>
            </p:cNvSpPr>
            <p:nvPr/>
          </p:nvSpPr>
          <p:spPr bwMode="auto">
            <a:xfrm>
              <a:off x="1126" y="2124"/>
              <a:ext cx="751" cy="602"/>
            </a:xfrm>
            <a:prstGeom prst="rect">
              <a:avLst/>
            </a:prstGeom>
            <a:grpFill/>
            <a:ln w="9525">
              <a:solidFill>
                <a:schemeClr val="tx1"/>
              </a:solidFill>
              <a:miter lim="800000"/>
              <a:headEnd/>
              <a:tailEnd/>
            </a:ln>
          </p:spPr>
          <p:txBody>
            <a:bodyPr wrap="none" anchor="ctr"/>
            <a:lstStyle/>
            <a:p>
              <a:pPr>
                <a:defRPr/>
              </a:pPr>
              <a:endParaRPr lang="en-US">
                <a:latin typeface="Arial" charset="0"/>
                <a:ea typeface="ＭＳ Ｐゴシック" charset="0"/>
                <a:cs typeface="Arial" charset="0"/>
              </a:endParaRPr>
            </a:p>
          </p:txBody>
        </p:sp>
        <p:sp>
          <p:nvSpPr>
            <p:cNvPr id="55325" name="Text Box 14"/>
            <p:cNvSpPr txBox="1">
              <a:spLocks noChangeArrowheads="1"/>
            </p:cNvSpPr>
            <p:nvPr/>
          </p:nvSpPr>
          <p:spPr bwMode="auto">
            <a:xfrm>
              <a:off x="1148" y="2127"/>
              <a:ext cx="714" cy="58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smtClean="0">
                  <a:solidFill>
                    <a:schemeClr val="bg1"/>
                  </a:solidFill>
                  <a:latin typeface="Arial" charset="0"/>
                  <a:cs typeface="Arial" charset="0"/>
                </a:rPr>
                <a:t>digital</a:t>
              </a:r>
            </a:p>
            <a:p>
              <a:pPr algn="ctr">
                <a:defRPr/>
              </a:pPr>
              <a:r>
                <a:rPr lang="en-US" sz="1800" smtClean="0">
                  <a:solidFill>
                    <a:schemeClr val="bg1"/>
                  </a:solidFill>
                  <a:latin typeface="Arial" charset="0"/>
                  <a:cs typeface="Arial" charset="0"/>
                </a:rPr>
                <a:t>signature</a:t>
              </a:r>
            </a:p>
            <a:p>
              <a:pPr algn="ctr">
                <a:defRPr/>
              </a:pPr>
              <a:r>
                <a:rPr lang="en-US" sz="1800" smtClean="0">
                  <a:solidFill>
                    <a:schemeClr val="bg1"/>
                  </a:solidFill>
                  <a:latin typeface="Arial" charset="0"/>
                  <a:cs typeface="Arial" charset="0"/>
                </a:rPr>
                <a:t>(decrypt)</a:t>
              </a:r>
            </a:p>
          </p:txBody>
        </p:sp>
      </p:grpSp>
      <p:sp>
        <p:nvSpPr>
          <p:cNvPr id="85000" name="Text Box 15"/>
          <p:cNvSpPr txBox="1">
            <a:spLocks noChangeArrowheads="1"/>
          </p:cNvSpPr>
          <p:nvPr/>
        </p:nvSpPr>
        <p:spPr bwMode="auto">
          <a:xfrm>
            <a:off x="3560763" y="4522788"/>
            <a:ext cx="960437"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1600">
                <a:latin typeface="Arial" pitchFamily="34" charset="0"/>
                <a:cs typeface="Arial" pitchFamily="34" charset="0"/>
              </a:rPr>
              <a:t>CA </a:t>
            </a:r>
          </a:p>
          <a:p>
            <a:pPr algn="r"/>
            <a:r>
              <a:rPr lang="en-US" altLang="en-US" sz="1600">
                <a:latin typeface="Arial" pitchFamily="34" charset="0"/>
                <a:cs typeface="Arial" pitchFamily="34" charset="0"/>
              </a:rPr>
              <a:t>public</a:t>
            </a:r>
          </a:p>
          <a:p>
            <a:pPr algn="r"/>
            <a:r>
              <a:rPr lang="en-US" altLang="en-US" sz="1600">
                <a:latin typeface="Arial" pitchFamily="34" charset="0"/>
                <a:cs typeface="Arial" pitchFamily="34" charset="0"/>
              </a:rPr>
              <a:t>key </a:t>
            </a:r>
          </a:p>
        </p:txBody>
      </p:sp>
      <p:pic>
        <p:nvPicPr>
          <p:cNvPr id="85001" name="Picture 16"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4800600" y="4530725"/>
            <a:ext cx="458788"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5002" name="Group 17"/>
          <p:cNvGrpSpPr>
            <a:grpSpLocks/>
          </p:cNvGrpSpPr>
          <p:nvPr/>
        </p:nvGrpSpPr>
        <p:grpSpPr bwMode="auto">
          <a:xfrm>
            <a:off x="4779963" y="4810125"/>
            <a:ext cx="690562" cy="479425"/>
            <a:chOff x="3770" y="3688"/>
            <a:chExt cx="435" cy="302"/>
          </a:xfrm>
        </p:grpSpPr>
        <p:sp>
          <p:nvSpPr>
            <p:cNvPr id="85017" name="Text Box 18"/>
            <p:cNvSpPr txBox="1">
              <a:spLocks noChangeArrowheads="1"/>
            </p:cNvSpPr>
            <p:nvPr/>
          </p:nvSpPr>
          <p:spPr bwMode="auto">
            <a:xfrm>
              <a:off x="3770" y="3688"/>
              <a:ext cx="26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C00000"/>
                  </a:solidFill>
                  <a:latin typeface="Arial" pitchFamily="34" charset="0"/>
                  <a:cs typeface="Arial" pitchFamily="34" charset="0"/>
                </a:rPr>
                <a:t>K </a:t>
              </a:r>
            </a:p>
          </p:txBody>
        </p:sp>
        <p:sp>
          <p:nvSpPr>
            <p:cNvPr id="85018" name="Text Box 19"/>
            <p:cNvSpPr txBox="1">
              <a:spLocks noChangeArrowheads="1"/>
            </p:cNvSpPr>
            <p:nvPr/>
          </p:nvSpPr>
          <p:spPr bwMode="auto">
            <a:xfrm>
              <a:off x="3910" y="3777"/>
              <a:ext cx="29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C00000"/>
                  </a:solidFill>
                  <a:latin typeface="Arial" pitchFamily="34" charset="0"/>
                  <a:cs typeface="Arial" pitchFamily="34" charset="0"/>
                </a:rPr>
                <a:t>CA</a:t>
              </a:r>
            </a:p>
          </p:txBody>
        </p:sp>
      </p:grpSp>
      <p:sp>
        <p:nvSpPr>
          <p:cNvPr id="85003" name="Text Box 20"/>
          <p:cNvSpPr txBox="1">
            <a:spLocks noChangeArrowheads="1"/>
          </p:cNvSpPr>
          <p:nvPr/>
        </p:nvSpPr>
        <p:spPr bwMode="auto">
          <a:xfrm>
            <a:off x="4995863" y="4645025"/>
            <a:ext cx="365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00000"/>
                </a:solidFill>
                <a:latin typeface="Arial" pitchFamily="34" charset="0"/>
                <a:cs typeface="Arial" pitchFamily="34" charset="0"/>
              </a:rPr>
              <a:t>+</a:t>
            </a:r>
          </a:p>
        </p:txBody>
      </p:sp>
      <p:sp>
        <p:nvSpPr>
          <p:cNvPr id="85004" name="Line 21"/>
          <p:cNvSpPr>
            <a:spLocks noChangeShapeType="1"/>
          </p:cNvSpPr>
          <p:nvPr/>
        </p:nvSpPr>
        <p:spPr bwMode="auto">
          <a:xfrm flipV="1">
            <a:off x="4603750" y="4449763"/>
            <a:ext cx="0" cy="893762"/>
          </a:xfrm>
          <a:prstGeom prst="line">
            <a:avLst/>
          </a:prstGeom>
          <a:noFill/>
          <a:ln w="381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85005" name="Line 22"/>
          <p:cNvSpPr>
            <a:spLocks noChangeShapeType="1"/>
          </p:cNvSpPr>
          <p:nvPr/>
        </p:nvSpPr>
        <p:spPr bwMode="auto">
          <a:xfrm>
            <a:off x="2379663" y="3873500"/>
            <a:ext cx="1627187" cy="63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85006" name="Line 23"/>
          <p:cNvSpPr>
            <a:spLocks noChangeShapeType="1"/>
          </p:cNvSpPr>
          <p:nvPr/>
        </p:nvSpPr>
        <p:spPr bwMode="auto">
          <a:xfrm flipV="1">
            <a:off x="5248275" y="3886200"/>
            <a:ext cx="1133475" cy="95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85007" name="Group 24"/>
          <p:cNvGrpSpPr>
            <a:grpSpLocks/>
          </p:cNvGrpSpPr>
          <p:nvPr/>
        </p:nvGrpSpPr>
        <p:grpSpPr bwMode="auto">
          <a:xfrm>
            <a:off x="1558925" y="3305175"/>
            <a:ext cx="858838" cy="1158875"/>
            <a:chOff x="4446" y="2648"/>
            <a:chExt cx="541" cy="730"/>
          </a:xfrm>
        </p:grpSpPr>
        <p:pic>
          <p:nvPicPr>
            <p:cNvPr id="85010" name="Picture 25" descr="SO00109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46" y="2648"/>
              <a:ext cx="541"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5011" name="Group 26"/>
            <p:cNvGrpSpPr>
              <a:grpSpLocks/>
            </p:cNvGrpSpPr>
            <p:nvPr/>
          </p:nvGrpSpPr>
          <p:grpSpPr bwMode="auto">
            <a:xfrm>
              <a:off x="4610" y="2766"/>
              <a:ext cx="309" cy="381"/>
              <a:chOff x="2994" y="2073"/>
              <a:chExt cx="309" cy="381"/>
            </a:xfrm>
          </p:grpSpPr>
          <p:grpSp>
            <p:nvGrpSpPr>
              <p:cNvPr id="85013" name="Group 27"/>
              <p:cNvGrpSpPr>
                <a:grpSpLocks/>
              </p:cNvGrpSpPr>
              <p:nvPr/>
            </p:nvGrpSpPr>
            <p:grpSpPr bwMode="auto">
              <a:xfrm>
                <a:off x="2994" y="2144"/>
                <a:ext cx="309" cy="310"/>
                <a:chOff x="2994" y="2144"/>
                <a:chExt cx="309" cy="310"/>
              </a:xfrm>
            </p:grpSpPr>
            <p:sp>
              <p:nvSpPr>
                <p:cNvPr id="85015" name="Text Box 28"/>
                <p:cNvSpPr txBox="1">
                  <a:spLocks noChangeArrowheads="1"/>
                </p:cNvSpPr>
                <p:nvPr/>
              </p:nvSpPr>
              <p:spPr bwMode="auto">
                <a:xfrm>
                  <a:off x="2994" y="2144"/>
                  <a:ext cx="269"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solidFill>
                        <a:srgbClr val="FF0000"/>
                      </a:solidFill>
                      <a:latin typeface="Arial" pitchFamily="34" charset="0"/>
                      <a:cs typeface="Arial" pitchFamily="34" charset="0"/>
                    </a:rPr>
                    <a:t>K </a:t>
                  </a:r>
                </a:p>
              </p:txBody>
            </p:sp>
            <p:sp>
              <p:nvSpPr>
                <p:cNvPr id="85016" name="Text Box 29"/>
                <p:cNvSpPr txBox="1">
                  <a:spLocks noChangeArrowheads="1"/>
                </p:cNvSpPr>
                <p:nvPr/>
              </p:nvSpPr>
              <p:spPr bwMode="auto">
                <a:xfrm>
                  <a:off x="3101" y="2241"/>
                  <a:ext cx="2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FF0000"/>
                      </a:solidFill>
                      <a:latin typeface="Arial" pitchFamily="34" charset="0"/>
                      <a:cs typeface="Arial" pitchFamily="34" charset="0"/>
                    </a:rPr>
                    <a:t>B</a:t>
                  </a:r>
                </a:p>
              </p:txBody>
            </p:sp>
          </p:grpSp>
          <p:sp>
            <p:nvSpPr>
              <p:cNvPr id="85014" name="Text Box 30"/>
              <p:cNvSpPr txBox="1">
                <a:spLocks noChangeArrowheads="1"/>
              </p:cNvSpPr>
              <p:nvPr/>
            </p:nvSpPr>
            <p:spPr bwMode="auto">
              <a:xfrm>
                <a:off x="3106" y="2073"/>
                <a:ext cx="1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solidFill>
                      <a:srgbClr val="FF0000"/>
                    </a:solidFill>
                    <a:latin typeface="Arial" pitchFamily="34" charset="0"/>
                    <a:cs typeface="Arial" pitchFamily="34" charset="0"/>
                  </a:rPr>
                  <a:t>+</a:t>
                </a:r>
              </a:p>
            </p:txBody>
          </p:sp>
        </p:grpSp>
        <p:pic>
          <p:nvPicPr>
            <p:cNvPr id="85012" name="Picture 31"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4640" y="3118"/>
              <a:ext cx="289"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5008" name="Rectangle 2"/>
          <p:cNvSpPr>
            <a:spLocks noGrp="1" noChangeArrowheads="1"/>
          </p:cNvSpPr>
          <p:nvPr>
            <p:ph type="title"/>
          </p:nvPr>
        </p:nvSpPr>
        <p:spPr>
          <a:xfrm>
            <a:off x="522288" y="130175"/>
            <a:ext cx="6302375" cy="1143000"/>
          </a:xfrm>
        </p:spPr>
        <p:txBody>
          <a:bodyPr/>
          <a:lstStyle/>
          <a:p>
            <a:r>
              <a:rPr lang="en-US" altLang="en-US" smtClean="0">
                <a:ea typeface="ＭＳ Ｐゴシック" pitchFamily="34" charset="-128"/>
              </a:rPr>
              <a:t>Certification authorities</a:t>
            </a:r>
          </a:p>
        </p:txBody>
      </p:sp>
      <p:pic>
        <p:nvPicPr>
          <p:cNvPr id="85009" name="Picture 20"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 y="985838"/>
            <a:ext cx="54848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86018" name="Rectangle 2"/>
          <p:cNvSpPr>
            <a:spLocks noGrp="1" noChangeArrowheads="1"/>
          </p:cNvSpPr>
          <p:nvPr>
            <p:ph type="title"/>
          </p:nvPr>
        </p:nvSpPr>
        <p:spPr/>
        <p:txBody>
          <a:bodyPr/>
          <a:lstStyle/>
          <a:p>
            <a:r>
              <a:rPr lang="en-US" altLang="en-US" smtClean="0">
                <a:ea typeface="ＭＳ Ｐゴシック" pitchFamily="34" charset="-128"/>
              </a:rPr>
              <a:t>Chapter 8 roadmap</a:t>
            </a:r>
          </a:p>
        </p:txBody>
      </p:sp>
      <p:sp>
        <p:nvSpPr>
          <p:cNvPr id="86019" name="Rectangle 3"/>
          <p:cNvSpPr>
            <a:spLocks noGrp="1" noChangeArrowheads="1"/>
          </p:cNvSpPr>
          <p:nvPr>
            <p:ph type="body" idx="1"/>
          </p:nvPr>
        </p:nvSpPr>
        <p:spPr>
          <a:xfrm>
            <a:off x="650875" y="1668463"/>
            <a:ext cx="7772400" cy="4648200"/>
          </a:xfrm>
        </p:spPr>
        <p:txBody>
          <a:bodyPr/>
          <a:lstStyle/>
          <a:p>
            <a:pPr>
              <a:buFont typeface="Wingdings" pitchFamily="2" charset="2"/>
              <a:buNone/>
            </a:pPr>
            <a:r>
              <a:rPr lang="en-US" altLang="en-US" smtClean="0">
                <a:solidFill>
                  <a:srgbClr val="000099"/>
                </a:solidFill>
                <a:ea typeface="ＭＳ Ｐゴシック" pitchFamily="34" charset="-128"/>
              </a:rPr>
              <a:t>8.1</a:t>
            </a:r>
            <a:r>
              <a:rPr lang="en-US" altLang="en-US" smtClean="0">
                <a:ea typeface="ＭＳ Ｐゴシック" pitchFamily="34" charset="-128"/>
              </a:rPr>
              <a:t> What is network security?</a:t>
            </a:r>
          </a:p>
          <a:p>
            <a:pPr>
              <a:buFont typeface="Wingdings" pitchFamily="2" charset="2"/>
              <a:buNone/>
            </a:pPr>
            <a:r>
              <a:rPr lang="en-US" altLang="en-US" smtClean="0">
                <a:solidFill>
                  <a:srgbClr val="000099"/>
                </a:solidFill>
                <a:ea typeface="ＭＳ Ｐゴシック" pitchFamily="34" charset="-128"/>
              </a:rPr>
              <a:t>8.2</a:t>
            </a:r>
            <a:r>
              <a:rPr lang="en-US" altLang="en-US" smtClean="0">
                <a:ea typeface="ＭＳ Ｐゴシック" pitchFamily="34" charset="-128"/>
              </a:rPr>
              <a:t> Principles of cryptography</a:t>
            </a:r>
          </a:p>
          <a:p>
            <a:pPr>
              <a:buFont typeface="Wingdings" pitchFamily="2" charset="2"/>
              <a:buNone/>
            </a:pPr>
            <a:r>
              <a:rPr lang="en-US" altLang="en-US" smtClean="0">
                <a:solidFill>
                  <a:srgbClr val="000099"/>
                </a:solidFill>
                <a:ea typeface="ＭＳ Ｐゴシック" pitchFamily="34" charset="-128"/>
              </a:rPr>
              <a:t>8.3</a:t>
            </a:r>
            <a:r>
              <a:rPr lang="en-US" altLang="en-US" smtClean="0">
                <a:ea typeface="ＭＳ Ｐゴシック" pitchFamily="34" charset="-128"/>
              </a:rPr>
              <a:t> Message integrity, authentication</a:t>
            </a:r>
          </a:p>
          <a:p>
            <a:pPr>
              <a:buFont typeface="Wingdings" pitchFamily="2" charset="2"/>
              <a:buNone/>
            </a:pPr>
            <a:r>
              <a:rPr lang="en-US" altLang="en-US" i="1" smtClean="0">
                <a:solidFill>
                  <a:srgbClr val="C00000"/>
                </a:solidFill>
                <a:ea typeface="ＭＳ Ｐゴシック" pitchFamily="34" charset="-128"/>
              </a:rPr>
              <a:t>8.4 Securing e-mail</a:t>
            </a:r>
          </a:p>
          <a:p>
            <a:pPr>
              <a:buFont typeface="Wingdings" pitchFamily="2" charset="2"/>
              <a:buNone/>
            </a:pPr>
            <a:r>
              <a:rPr lang="en-US" altLang="en-US" smtClean="0">
                <a:solidFill>
                  <a:srgbClr val="000099"/>
                </a:solidFill>
                <a:ea typeface="ＭＳ Ｐゴシック" pitchFamily="34" charset="-128"/>
              </a:rPr>
              <a:t>8.5</a:t>
            </a:r>
            <a:r>
              <a:rPr lang="en-US" altLang="en-US" smtClean="0">
                <a:ea typeface="ＭＳ Ｐゴシック" pitchFamily="34" charset="-128"/>
              </a:rPr>
              <a:t> Securing TCP connections: SSL</a:t>
            </a:r>
          </a:p>
          <a:p>
            <a:pPr>
              <a:buFont typeface="Wingdings" pitchFamily="2" charset="2"/>
              <a:buNone/>
            </a:pPr>
            <a:r>
              <a:rPr lang="en-US" altLang="en-US" smtClean="0">
                <a:solidFill>
                  <a:srgbClr val="000099"/>
                </a:solidFill>
                <a:ea typeface="ＭＳ Ｐゴシック" pitchFamily="34" charset="-128"/>
              </a:rPr>
              <a:t>8.6</a:t>
            </a:r>
            <a:r>
              <a:rPr lang="en-US" altLang="en-US" smtClean="0">
                <a:ea typeface="ＭＳ Ｐゴシック" pitchFamily="34" charset="-128"/>
              </a:rPr>
              <a:t> Network layer security: IPsec</a:t>
            </a:r>
          </a:p>
          <a:p>
            <a:pPr>
              <a:buFont typeface="Wingdings" pitchFamily="2" charset="2"/>
              <a:buNone/>
            </a:pPr>
            <a:r>
              <a:rPr lang="en-US" altLang="en-US" smtClean="0">
                <a:solidFill>
                  <a:srgbClr val="000099"/>
                </a:solidFill>
                <a:ea typeface="ＭＳ Ｐゴシック" pitchFamily="34" charset="-128"/>
              </a:rPr>
              <a:t>8.7</a:t>
            </a:r>
            <a:r>
              <a:rPr lang="en-US" altLang="en-US" smtClean="0">
                <a:ea typeface="ＭＳ Ｐゴシック" pitchFamily="34" charset="-128"/>
              </a:rPr>
              <a:t> Securing wireless LANs</a:t>
            </a:r>
          </a:p>
          <a:p>
            <a:pPr>
              <a:buFont typeface="Wingdings" pitchFamily="2" charset="2"/>
              <a:buNone/>
            </a:pPr>
            <a:r>
              <a:rPr lang="en-US" altLang="en-US" smtClean="0">
                <a:solidFill>
                  <a:srgbClr val="000099"/>
                </a:solidFill>
                <a:ea typeface="ＭＳ Ｐゴシック" pitchFamily="34" charset="-128"/>
              </a:rPr>
              <a:t>8.8</a:t>
            </a:r>
            <a:r>
              <a:rPr lang="en-US" altLang="en-US" smtClean="0">
                <a:ea typeface="ＭＳ Ｐゴシック" pitchFamily="34" charset="-128"/>
              </a:rPr>
              <a:t> Operational security: firewalls and IDS</a:t>
            </a:r>
          </a:p>
        </p:txBody>
      </p:sp>
      <p:pic>
        <p:nvPicPr>
          <p:cNvPr id="86020" name="Picture 22"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238" y="1066800"/>
            <a:ext cx="4570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88066" name="Rectangle 2"/>
          <p:cNvSpPr>
            <a:spLocks noGrp="1" noChangeArrowheads="1"/>
          </p:cNvSpPr>
          <p:nvPr>
            <p:ph type="title"/>
          </p:nvPr>
        </p:nvSpPr>
        <p:spPr/>
        <p:txBody>
          <a:bodyPr/>
          <a:lstStyle/>
          <a:p>
            <a:r>
              <a:rPr lang="en-US" altLang="en-US" sz="4800" smtClean="0">
                <a:ea typeface="ＭＳ Ｐゴシック" pitchFamily="34" charset="-128"/>
              </a:rPr>
              <a:t>Secure e-mail </a:t>
            </a:r>
          </a:p>
        </p:txBody>
      </p:sp>
      <p:sp>
        <p:nvSpPr>
          <p:cNvPr id="88067" name="Text Box 3"/>
          <p:cNvSpPr txBox="1">
            <a:spLocks noChangeArrowheads="1"/>
          </p:cNvSpPr>
          <p:nvPr/>
        </p:nvSpPr>
        <p:spPr bwMode="auto">
          <a:xfrm>
            <a:off x="528638" y="4719638"/>
            <a:ext cx="578802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i="1">
                <a:solidFill>
                  <a:srgbClr val="C00000"/>
                </a:solidFill>
                <a:latin typeface="Gill Sans MT" pitchFamily="34" charset="0"/>
              </a:rPr>
              <a:t>Alice:</a:t>
            </a:r>
          </a:p>
          <a:p>
            <a:pPr>
              <a:buClr>
                <a:srgbClr val="000099"/>
              </a:buClr>
              <a:buSzPct val="75000"/>
              <a:buFont typeface="Wingdings" pitchFamily="2" charset="2"/>
              <a:buChar char="v"/>
            </a:pPr>
            <a:r>
              <a:rPr lang="en-US" altLang="en-US">
                <a:latin typeface="Gill Sans MT" pitchFamily="34" charset="0"/>
              </a:rPr>
              <a:t> </a:t>
            </a:r>
            <a:r>
              <a:rPr lang="en-US" altLang="en-US" sz="2400">
                <a:latin typeface="Gill Sans MT" pitchFamily="34" charset="0"/>
              </a:rPr>
              <a:t>generates random </a:t>
            </a:r>
            <a:r>
              <a:rPr lang="en-US" altLang="en-US" sz="2400" i="1">
                <a:latin typeface="Gill Sans MT" pitchFamily="34" charset="0"/>
              </a:rPr>
              <a:t>symmetric</a:t>
            </a:r>
            <a:r>
              <a:rPr lang="en-US" altLang="en-US" sz="2400">
                <a:latin typeface="Gill Sans MT" pitchFamily="34" charset="0"/>
              </a:rPr>
              <a:t> private key, K</a:t>
            </a:r>
            <a:r>
              <a:rPr lang="en-US" altLang="en-US" sz="2400" baseline="-25000">
                <a:latin typeface="Gill Sans MT" pitchFamily="34" charset="0"/>
              </a:rPr>
              <a:t>S</a:t>
            </a:r>
            <a:endParaRPr lang="en-US" altLang="en-US" sz="2400">
              <a:latin typeface="Gill Sans MT" pitchFamily="34" charset="0"/>
            </a:endParaRPr>
          </a:p>
          <a:p>
            <a:pPr>
              <a:buClr>
                <a:srgbClr val="000099"/>
              </a:buClr>
              <a:buSzPct val="75000"/>
              <a:buFont typeface="Wingdings" pitchFamily="2" charset="2"/>
              <a:buChar char="v"/>
            </a:pPr>
            <a:r>
              <a:rPr lang="en-US" altLang="en-US" sz="2400">
                <a:latin typeface="Gill Sans MT" pitchFamily="34" charset="0"/>
              </a:rPr>
              <a:t> encrypts message with K</a:t>
            </a:r>
            <a:r>
              <a:rPr lang="en-US" altLang="en-US" sz="2400" baseline="-25000">
                <a:latin typeface="Gill Sans MT" pitchFamily="34" charset="0"/>
              </a:rPr>
              <a:t>S  </a:t>
            </a:r>
            <a:r>
              <a:rPr lang="en-US" altLang="en-US" sz="2400">
                <a:latin typeface="Gill Sans MT" pitchFamily="34" charset="0"/>
              </a:rPr>
              <a:t>(for efficiency)</a:t>
            </a:r>
          </a:p>
          <a:p>
            <a:pPr>
              <a:buClr>
                <a:srgbClr val="000099"/>
              </a:buClr>
              <a:buSzPct val="75000"/>
              <a:buFont typeface="Wingdings" pitchFamily="2" charset="2"/>
              <a:buChar char="v"/>
            </a:pPr>
            <a:r>
              <a:rPr lang="en-US" altLang="en-US" sz="2400">
                <a:latin typeface="Gill Sans MT" pitchFamily="34" charset="0"/>
              </a:rPr>
              <a:t> also encrypts K</a:t>
            </a:r>
            <a:r>
              <a:rPr lang="en-US" altLang="en-US" sz="2400" baseline="-25000">
                <a:latin typeface="Gill Sans MT" pitchFamily="34" charset="0"/>
              </a:rPr>
              <a:t>S</a:t>
            </a:r>
            <a:r>
              <a:rPr lang="en-US" altLang="en-US" sz="2400">
                <a:latin typeface="Gill Sans MT" pitchFamily="34" charset="0"/>
              </a:rPr>
              <a:t> with Bob</a:t>
            </a:r>
            <a:r>
              <a:rPr lang="ja-JP" altLang="en-US" sz="2400">
                <a:latin typeface="Gill Sans MT" pitchFamily="34" charset="0"/>
              </a:rPr>
              <a:t>’</a:t>
            </a:r>
            <a:r>
              <a:rPr lang="en-US" altLang="ja-JP" sz="2400">
                <a:latin typeface="Gill Sans MT" pitchFamily="34" charset="0"/>
              </a:rPr>
              <a:t>s public key</a:t>
            </a:r>
          </a:p>
          <a:p>
            <a:pPr>
              <a:buClr>
                <a:srgbClr val="000099"/>
              </a:buClr>
              <a:buSzPct val="75000"/>
              <a:buFont typeface="Wingdings" pitchFamily="2" charset="2"/>
              <a:buChar char="v"/>
            </a:pPr>
            <a:r>
              <a:rPr lang="en-US" altLang="en-US" sz="2400">
                <a:latin typeface="Gill Sans MT" pitchFamily="34" charset="0"/>
              </a:rPr>
              <a:t> sends both K</a:t>
            </a:r>
            <a:r>
              <a:rPr lang="en-US" altLang="en-US" sz="2400" baseline="-25000">
                <a:latin typeface="Gill Sans MT" pitchFamily="34" charset="0"/>
              </a:rPr>
              <a:t>S</a:t>
            </a:r>
            <a:r>
              <a:rPr lang="en-US" altLang="en-US" sz="2400">
                <a:latin typeface="Gill Sans MT" pitchFamily="34" charset="0"/>
              </a:rPr>
              <a:t>(m) and K</a:t>
            </a:r>
            <a:r>
              <a:rPr lang="en-US" altLang="en-US" sz="2400" baseline="-25000">
                <a:latin typeface="Gill Sans MT" pitchFamily="34" charset="0"/>
              </a:rPr>
              <a:t>B</a:t>
            </a:r>
            <a:r>
              <a:rPr lang="en-US" altLang="en-US" sz="2400">
                <a:latin typeface="Gill Sans MT" pitchFamily="34" charset="0"/>
              </a:rPr>
              <a:t>(K</a:t>
            </a:r>
            <a:r>
              <a:rPr lang="en-US" altLang="en-US" sz="2400" baseline="-25000">
                <a:latin typeface="Gill Sans MT" pitchFamily="34" charset="0"/>
              </a:rPr>
              <a:t>S</a:t>
            </a:r>
            <a:r>
              <a:rPr lang="en-US" altLang="en-US" sz="2400">
                <a:latin typeface="Gill Sans MT" pitchFamily="34" charset="0"/>
              </a:rPr>
              <a:t>) to Bob</a:t>
            </a:r>
          </a:p>
        </p:txBody>
      </p:sp>
      <p:sp>
        <p:nvSpPr>
          <p:cNvPr id="88068" name="Text Box 4"/>
          <p:cNvSpPr txBox="1">
            <a:spLocks noChangeArrowheads="1"/>
          </p:cNvSpPr>
          <p:nvPr/>
        </p:nvSpPr>
        <p:spPr bwMode="auto">
          <a:xfrm>
            <a:off x="522288" y="1341438"/>
            <a:ext cx="66468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buClr>
                <a:srgbClr val="000099"/>
              </a:buClr>
              <a:buSzPct val="75000"/>
              <a:buFont typeface="Wingdings" pitchFamily="2" charset="2"/>
              <a:buChar char="v"/>
            </a:pPr>
            <a:r>
              <a:rPr lang="en-US" altLang="en-US" sz="2400">
                <a:latin typeface="Gill Sans MT" pitchFamily="34" charset="0"/>
              </a:rPr>
              <a:t> Alice wants to send confidential e-mail, m, to Bob.</a:t>
            </a:r>
          </a:p>
        </p:txBody>
      </p:sp>
      <p:grpSp>
        <p:nvGrpSpPr>
          <p:cNvPr id="88069" name="Group 5"/>
          <p:cNvGrpSpPr>
            <a:grpSpLocks/>
          </p:cNvGrpSpPr>
          <p:nvPr/>
        </p:nvGrpSpPr>
        <p:grpSpPr bwMode="auto">
          <a:xfrm>
            <a:off x="517525" y="1831975"/>
            <a:ext cx="8112125" cy="2827338"/>
            <a:chOff x="289" y="1749"/>
            <a:chExt cx="5110" cy="1781"/>
          </a:xfrm>
        </p:grpSpPr>
        <p:sp>
          <p:nvSpPr>
            <p:cNvPr id="88071" name="Freeform 6"/>
            <p:cNvSpPr>
              <a:spLocks/>
            </p:cNvSpPr>
            <p:nvPr/>
          </p:nvSpPr>
          <p:spPr bwMode="auto">
            <a:xfrm>
              <a:off x="2457" y="2479"/>
              <a:ext cx="841" cy="493"/>
            </a:xfrm>
            <a:custGeom>
              <a:avLst/>
              <a:gdLst>
                <a:gd name="T0" fmla="*/ 0 w 2135"/>
                <a:gd name="T1" fmla="*/ 0 h 1662"/>
                <a:gd name="T2" fmla="*/ 0 w 2135"/>
                <a:gd name="T3" fmla="*/ 0 h 1662"/>
                <a:gd name="T4" fmla="*/ 2 w 2135"/>
                <a:gd name="T5" fmla="*/ 0 h 1662"/>
                <a:gd name="T6" fmla="*/ 4 w 2135"/>
                <a:gd name="T7" fmla="*/ 0 h 1662"/>
                <a:gd name="T8" fmla="*/ 7 w 2135"/>
                <a:gd name="T9" fmla="*/ 0 h 1662"/>
                <a:gd name="T10" fmla="*/ 7 w 2135"/>
                <a:gd name="T11" fmla="*/ 1 h 1662"/>
                <a:gd name="T12" fmla="*/ 6 w 2135"/>
                <a:gd name="T13" fmla="*/ 1 h 1662"/>
                <a:gd name="T14" fmla="*/ 3 w 2135"/>
                <a:gd name="T15" fmla="*/ 1 h 1662"/>
                <a:gd name="T16" fmla="*/ 2 w 2135"/>
                <a:gd name="T17" fmla="*/ 1 h 1662"/>
                <a:gd name="T18" fmla="*/ 1 w 2135"/>
                <a:gd name="T19" fmla="*/ 1 h 1662"/>
                <a:gd name="T20" fmla="*/ 0 w 2135"/>
                <a:gd name="T21" fmla="*/ 0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88072" name="Line 7"/>
            <p:cNvSpPr>
              <a:spLocks noChangeShapeType="1"/>
            </p:cNvSpPr>
            <p:nvPr/>
          </p:nvSpPr>
          <p:spPr bwMode="auto">
            <a:xfrm>
              <a:off x="637" y="2280"/>
              <a:ext cx="31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88073" name="Picture 8"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1219" y="1818"/>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4" name="Picture 9" descr="BS00592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22" y="2428"/>
              <a:ext cx="343"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8075" name="Group 10"/>
            <p:cNvGrpSpPr>
              <a:grpSpLocks/>
            </p:cNvGrpSpPr>
            <p:nvPr/>
          </p:nvGrpSpPr>
          <p:grpSpPr bwMode="auto">
            <a:xfrm>
              <a:off x="950" y="1974"/>
              <a:ext cx="475" cy="466"/>
              <a:chOff x="1645" y="256"/>
              <a:chExt cx="475" cy="466"/>
            </a:xfrm>
          </p:grpSpPr>
          <p:sp>
            <p:nvSpPr>
              <p:cNvPr id="88134" name="Rectangle 11"/>
              <p:cNvSpPr>
                <a:spLocks noChangeArrowheads="1"/>
              </p:cNvSpPr>
              <p:nvPr/>
            </p:nvSpPr>
            <p:spPr bwMode="auto">
              <a:xfrm>
                <a:off x="1645" y="439"/>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88135" name="Text Box 12"/>
              <p:cNvSpPr txBox="1">
                <a:spLocks noChangeArrowheads="1"/>
              </p:cNvSpPr>
              <p:nvPr/>
            </p:nvSpPr>
            <p:spPr bwMode="auto">
              <a:xfrm>
                <a:off x="1654" y="456"/>
                <a:ext cx="4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88136" name="Text Box 13"/>
              <p:cNvSpPr txBox="1">
                <a:spLocks noChangeArrowheads="1"/>
              </p:cNvSpPr>
              <p:nvPr/>
            </p:nvSpPr>
            <p:spPr bwMode="auto">
              <a:xfrm>
                <a:off x="1876" y="256"/>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grpSp>
        <p:grpSp>
          <p:nvGrpSpPr>
            <p:cNvPr id="88076" name="Group 14"/>
            <p:cNvGrpSpPr>
              <a:grpSpLocks/>
            </p:cNvGrpSpPr>
            <p:nvPr/>
          </p:nvGrpSpPr>
          <p:grpSpPr bwMode="auto">
            <a:xfrm>
              <a:off x="965" y="2730"/>
              <a:ext cx="475" cy="466"/>
              <a:chOff x="2144" y="3214"/>
              <a:chExt cx="475" cy="466"/>
            </a:xfrm>
          </p:grpSpPr>
          <p:sp>
            <p:nvSpPr>
              <p:cNvPr id="88130" name="Rectangle 15"/>
              <p:cNvSpPr>
                <a:spLocks noChangeArrowheads="1"/>
              </p:cNvSpPr>
              <p:nvPr/>
            </p:nvSpPr>
            <p:spPr bwMode="auto">
              <a:xfrm>
                <a:off x="2144" y="3397"/>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88131" name="Text Box 16"/>
              <p:cNvSpPr txBox="1">
                <a:spLocks noChangeArrowheads="1"/>
              </p:cNvSpPr>
              <p:nvPr/>
            </p:nvSpPr>
            <p:spPr bwMode="auto">
              <a:xfrm>
                <a:off x="2148" y="3432"/>
                <a:ext cx="43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r>
                  <a:rPr lang="en-US" altLang="en-US" sz="1800">
                    <a:latin typeface="Arial" pitchFamily="34" charset="0"/>
                    <a:cs typeface="Arial" pitchFamily="34" charset="0"/>
                  </a:rPr>
                  <a:t>( )</a:t>
                </a:r>
              </a:p>
            </p:txBody>
          </p:sp>
          <p:sp>
            <p:nvSpPr>
              <p:cNvPr id="88132" name="Text Box 17"/>
              <p:cNvSpPr txBox="1">
                <a:spLocks noChangeArrowheads="1"/>
              </p:cNvSpPr>
              <p:nvPr/>
            </p:nvSpPr>
            <p:spPr bwMode="auto">
              <a:xfrm>
                <a:off x="2356" y="3214"/>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sp>
            <p:nvSpPr>
              <p:cNvPr id="88133" name="Text Box 18"/>
              <p:cNvSpPr txBox="1">
                <a:spLocks noChangeArrowheads="1"/>
              </p:cNvSpPr>
              <p:nvPr/>
            </p:nvSpPr>
            <p:spPr bwMode="auto">
              <a:xfrm>
                <a:off x="2234" y="3331"/>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grpSp>
          <p:nvGrpSpPr>
            <p:cNvPr id="88077" name="Group 19"/>
            <p:cNvGrpSpPr>
              <a:grpSpLocks/>
            </p:cNvGrpSpPr>
            <p:nvPr/>
          </p:nvGrpSpPr>
          <p:grpSpPr bwMode="auto">
            <a:xfrm>
              <a:off x="1792" y="2496"/>
              <a:ext cx="410" cy="327"/>
              <a:chOff x="2935" y="1573"/>
              <a:chExt cx="410" cy="327"/>
            </a:xfrm>
          </p:grpSpPr>
          <p:sp>
            <p:nvSpPr>
              <p:cNvPr id="88128" name="Oval 20"/>
              <p:cNvSpPr>
                <a:spLocks noChangeArrowheads="1"/>
              </p:cNvSpPr>
              <p:nvPr/>
            </p:nvSpPr>
            <p:spPr bwMode="auto">
              <a:xfrm>
                <a:off x="2935" y="1637"/>
                <a:ext cx="238" cy="211"/>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88129" name="Text Box 21"/>
              <p:cNvSpPr txBox="1">
                <a:spLocks noChangeArrowheads="1"/>
              </p:cNvSpPr>
              <p:nvPr/>
            </p:nvSpPr>
            <p:spPr bwMode="auto">
              <a:xfrm>
                <a:off x="2943" y="1573"/>
                <a:ext cx="4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50000"/>
                  </a:spcBef>
                </a:pPr>
                <a:r>
                  <a:rPr lang="en-US" altLang="en-US" sz="2800">
                    <a:latin typeface="Arial" pitchFamily="34" charset="0"/>
                    <a:cs typeface="Arial" pitchFamily="34" charset="0"/>
                  </a:rPr>
                  <a:t>+</a:t>
                </a:r>
              </a:p>
            </p:txBody>
          </p:sp>
        </p:grpSp>
        <p:grpSp>
          <p:nvGrpSpPr>
            <p:cNvPr id="88078" name="Group 22"/>
            <p:cNvGrpSpPr>
              <a:grpSpLocks/>
            </p:cNvGrpSpPr>
            <p:nvPr/>
          </p:nvGrpSpPr>
          <p:grpSpPr bwMode="auto">
            <a:xfrm>
              <a:off x="3688" y="2464"/>
              <a:ext cx="428" cy="327"/>
              <a:chOff x="2935" y="1555"/>
              <a:chExt cx="428" cy="327"/>
            </a:xfrm>
          </p:grpSpPr>
          <p:sp>
            <p:nvSpPr>
              <p:cNvPr id="88126" name="Oval 23"/>
              <p:cNvSpPr>
                <a:spLocks noChangeArrowheads="1"/>
              </p:cNvSpPr>
              <p:nvPr/>
            </p:nvSpPr>
            <p:spPr bwMode="auto">
              <a:xfrm>
                <a:off x="2935" y="1637"/>
                <a:ext cx="238" cy="211"/>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88127" name="Text Box 24"/>
              <p:cNvSpPr txBox="1">
                <a:spLocks noChangeArrowheads="1"/>
              </p:cNvSpPr>
              <p:nvPr/>
            </p:nvSpPr>
            <p:spPr bwMode="auto">
              <a:xfrm>
                <a:off x="2961" y="1555"/>
                <a:ext cx="4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50000"/>
                  </a:spcBef>
                </a:pPr>
                <a:r>
                  <a:rPr lang="en-US" altLang="en-US" sz="2800">
                    <a:latin typeface="Arial" pitchFamily="34" charset="0"/>
                    <a:cs typeface="Arial" pitchFamily="34" charset="0"/>
                  </a:rPr>
                  <a:t>-</a:t>
                </a:r>
              </a:p>
            </p:txBody>
          </p:sp>
        </p:grpSp>
        <p:sp>
          <p:nvSpPr>
            <p:cNvPr id="88079" name="Line 25"/>
            <p:cNvSpPr>
              <a:spLocks noChangeShapeType="1"/>
            </p:cNvSpPr>
            <p:nvPr/>
          </p:nvSpPr>
          <p:spPr bwMode="auto">
            <a:xfrm>
              <a:off x="669" y="3053"/>
              <a:ext cx="31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88080" name="Text Box 26"/>
            <p:cNvSpPr txBox="1">
              <a:spLocks noChangeArrowheads="1"/>
            </p:cNvSpPr>
            <p:nvPr/>
          </p:nvSpPr>
          <p:spPr bwMode="auto">
            <a:xfrm>
              <a:off x="1419" y="2041"/>
              <a:ext cx="5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(m )</a:t>
              </a:r>
            </a:p>
          </p:txBody>
        </p:sp>
        <p:grpSp>
          <p:nvGrpSpPr>
            <p:cNvPr id="88081" name="Group 27"/>
            <p:cNvGrpSpPr>
              <a:grpSpLocks/>
            </p:cNvGrpSpPr>
            <p:nvPr/>
          </p:nvGrpSpPr>
          <p:grpSpPr bwMode="auto">
            <a:xfrm>
              <a:off x="1435" y="2979"/>
              <a:ext cx="611" cy="332"/>
              <a:chOff x="3501" y="648"/>
              <a:chExt cx="611" cy="332"/>
            </a:xfrm>
          </p:grpSpPr>
          <p:sp>
            <p:nvSpPr>
              <p:cNvPr id="88124" name="Text Box 28"/>
              <p:cNvSpPr txBox="1">
                <a:spLocks noChangeArrowheads="1"/>
              </p:cNvSpPr>
              <p:nvPr/>
            </p:nvSpPr>
            <p:spPr bwMode="auto">
              <a:xfrm>
                <a:off x="3501" y="749"/>
                <a:ext cx="6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88125" name="Text Box 29"/>
              <p:cNvSpPr txBox="1">
                <a:spLocks noChangeArrowheads="1"/>
              </p:cNvSpPr>
              <p:nvPr/>
            </p:nvSpPr>
            <p:spPr bwMode="auto">
              <a:xfrm>
                <a:off x="3584" y="648"/>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88082" name="Freeform 30"/>
            <p:cNvSpPr>
              <a:spLocks/>
            </p:cNvSpPr>
            <p:nvPr/>
          </p:nvSpPr>
          <p:spPr bwMode="auto">
            <a:xfrm>
              <a:off x="1426" y="2285"/>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88083" name="Freeform 31"/>
            <p:cNvSpPr>
              <a:spLocks/>
            </p:cNvSpPr>
            <p:nvPr/>
          </p:nvSpPr>
          <p:spPr bwMode="auto">
            <a:xfrm flipV="1">
              <a:off x="1440" y="2802"/>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88084" name="Text Box 32"/>
            <p:cNvSpPr txBox="1">
              <a:spLocks noChangeArrowheads="1"/>
            </p:cNvSpPr>
            <p:nvPr/>
          </p:nvSpPr>
          <p:spPr bwMode="auto">
            <a:xfrm>
              <a:off x="400" y="2141"/>
              <a:ext cx="2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m</a:t>
              </a:r>
            </a:p>
          </p:txBody>
        </p:sp>
        <p:sp>
          <p:nvSpPr>
            <p:cNvPr id="88085" name="Text Box 33"/>
            <p:cNvSpPr txBox="1">
              <a:spLocks noChangeArrowheads="1"/>
            </p:cNvSpPr>
            <p:nvPr/>
          </p:nvSpPr>
          <p:spPr bwMode="auto">
            <a:xfrm>
              <a:off x="4325" y="2568"/>
              <a:ext cx="3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a:t>
              </a:r>
              <a:r>
                <a:rPr lang="en-US" altLang="en-US" baseline="-25000">
                  <a:latin typeface="Arial" pitchFamily="34" charset="0"/>
                  <a:cs typeface="Arial" pitchFamily="34" charset="0"/>
                </a:rPr>
                <a:t>S</a:t>
              </a:r>
            </a:p>
          </p:txBody>
        </p:sp>
        <p:sp>
          <p:nvSpPr>
            <p:cNvPr id="88086" name="Text Box 34"/>
            <p:cNvSpPr txBox="1">
              <a:spLocks noChangeArrowheads="1"/>
            </p:cNvSpPr>
            <p:nvPr/>
          </p:nvSpPr>
          <p:spPr bwMode="auto">
            <a:xfrm>
              <a:off x="947" y="1749"/>
              <a:ext cx="3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a:t>
              </a:r>
              <a:r>
                <a:rPr lang="en-US" altLang="en-US" baseline="-25000">
                  <a:latin typeface="Arial" pitchFamily="34" charset="0"/>
                  <a:cs typeface="Arial" pitchFamily="34" charset="0"/>
                </a:rPr>
                <a:t>S</a:t>
              </a:r>
            </a:p>
          </p:txBody>
        </p:sp>
        <p:sp>
          <p:nvSpPr>
            <p:cNvPr id="88087" name="Line 35"/>
            <p:cNvSpPr>
              <a:spLocks noChangeShapeType="1"/>
            </p:cNvSpPr>
            <p:nvPr/>
          </p:nvSpPr>
          <p:spPr bwMode="auto">
            <a:xfrm>
              <a:off x="1207" y="1929"/>
              <a:ext cx="9" cy="228"/>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88088" name="Group 36"/>
            <p:cNvGrpSpPr>
              <a:grpSpLocks/>
            </p:cNvGrpSpPr>
            <p:nvPr/>
          </p:nvGrpSpPr>
          <p:grpSpPr bwMode="auto">
            <a:xfrm>
              <a:off x="943" y="3231"/>
              <a:ext cx="297" cy="299"/>
              <a:chOff x="2643" y="716"/>
              <a:chExt cx="297" cy="299"/>
            </a:xfrm>
          </p:grpSpPr>
          <p:sp>
            <p:nvSpPr>
              <p:cNvPr id="88122" name="Text Box 37"/>
              <p:cNvSpPr txBox="1">
                <a:spLocks noChangeArrowheads="1"/>
              </p:cNvSpPr>
              <p:nvPr/>
            </p:nvSpPr>
            <p:spPr bwMode="auto">
              <a:xfrm>
                <a:off x="2643" y="763"/>
                <a:ext cx="2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endParaRPr lang="en-US" altLang="en-US" sz="1800">
                  <a:latin typeface="Arial" pitchFamily="34" charset="0"/>
                  <a:cs typeface="Arial" pitchFamily="34" charset="0"/>
                </a:endParaRPr>
              </a:p>
            </p:txBody>
          </p:sp>
          <p:sp>
            <p:nvSpPr>
              <p:cNvPr id="88123" name="Text Box 38"/>
              <p:cNvSpPr txBox="1">
                <a:spLocks noChangeArrowheads="1"/>
              </p:cNvSpPr>
              <p:nvPr/>
            </p:nvSpPr>
            <p:spPr bwMode="auto">
              <a:xfrm>
                <a:off x="2730" y="716"/>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88089" name="Line 39"/>
            <p:cNvSpPr>
              <a:spLocks noChangeShapeType="1"/>
            </p:cNvSpPr>
            <p:nvPr/>
          </p:nvSpPr>
          <p:spPr bwMode="auto">
            <a:xfrm>
              <a:off x="1194" y="3213"/>
              <a:ext cx="9" cy="228"/>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en-CA"/>
            </a:p>
          </p:txBody>
        </p:sp>
        <p:pic>
          <p:nvPicPr>
            <p:cNvPr id="88090" name="Picture 40"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1250" y="3386"/>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91" name="Picture 41" descr="Alic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 y="2471"/>
              <a:ext cx="332"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92" name="Line 42"/>
            <p:cNvSpPr>
              <a:spLocks noChangeShapeType="1"/>
            </p:cNvSpPr>
            <p:nvPr/>
          </p:nvSpPr>
          <p:spPr bwMode="auto">
            <a:xfrm flipV="1">
              <a:off x="2058" y="2660"/>
              <a:ext cx="484" cy="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88093" name="Line 43"/>
            <p:cNvSpPr>
              <a:spLocks noChangeShapeType="1"/>
            </p:cNvSpPr>
            <p:nvPr/>
          </p:nvSpPr>
          <p:spPr bwMode="auto">
            <a:xfrm flipV="1">
              <a:off x="3242" y="2655"/>
              <a:ext cx="4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88094" name="Picture 44" descr="BS00592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14" y="2414"/>
              <a:ext cx="343"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95" name="Text Box 45"/>
            <p:cNvSpPr txBox="1">
              <a:spLocks noChangeArrowheads="1"/>
            </p:cNvSpPr>
            <p:nvPr/>
          </p:nvSpPr>
          <p:spPr bwMode="auto">
            <a:xfrm>
              <a:off x="2528" y="2632"/>
              <a:ext cx="60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Internet</a:t>
              </a:r>
            </a:p>
          </p:txBody>
        </p:sp>
        <p:sp>
          <p:nvSpPr>
            <p:cNvPr id="88096" name="Freeform 46"/>
            <p:cNvSpPr>
              <a:spLocks/>
            </p:cNvSpPr>
            <p:nvPr/>
          </p:nvSpPr>
          <p:spPr bwMode="auto">
            <a:xfrm flipH="1">
              <a:off x="3799" y="2281"/>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CA"/>
            </a:p>
          </p:txBody>
        </p:sp>
        <p:grpSp>
          <p:nvGrpSpPr>
            <p:cNvPr id="88097" name="Group 47"/>
            <p:cNvGrpSpPr>
              <a:grpSpLocks/>
            </p:cNvGrpSpPr>
            <p:nvPr/>
          </p:nvGrpSpPr>
          <p:grpSpPr bwMode="auto">
            <a:xfrm>
              <a:off x="4255" y="1961"/>
              <a:ext cx="475" cy="466"/>
              <a:chOff x="1645" y="256"/>
              <a:chExt cx="475" cy="466"/>
            </a:xfrm>
          </p:grpSpPr>
          <p:sp>
            <p:nvSpPr>
              <p:cNvPr id="88119" name="Rectangle 48"/>
              <p:cNvSpPr>
                <a:spLocks noChangeArrowheads="1"/>
              </p:cNvSpPr>
              <p:nvPr/>
            </p:nvSpPr>
            <p:spPr bwMode="auto">
              <a:xfrm>
                <a:off x="1645" y="439"/>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88120" name="Text Box 49"/>
              <p:cNvSpPr txBox="1">
                <a:spLocks noChangeArrowheads="1"/>
              </p:cNvSpPr>
              <p:nvPr/>
            </p:nvSpPr>
            <p:spPr bwMode="auto">
              <a:xfrm>
                <a:off x="1654" y="456"/>
                <a:ext cx="4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88121" name="Text Box 50"/>
              <p:cNvSpPr txBox="1">
                <a:spLocks noChangeArrowheads="1"/>
              </p:cNvSpPr>
              <p:nvPr/>
            </p:nvSpPr>
            <p:spPr bwMode="auto">
              <a:xfrm>
                <a:off x="1876" y="256"/>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grpSp>
        <p:sp>
          <p:nvSpPr>
            <p:cNvPr id="88098" name="Freeform 51"/>
            <p:cNvSpPr>
              <a:spLocks/>
            </p:cNvSpPr>
            <p:nvPr/>
          </p:nvSpPr>
          <p:spPr bwMode="auto">
            <a:xfrm flipH="1" flipV="1">
              <a:off x="3813" y="2807"/>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CA"/>
            </a:p>
          </p:txBody>
        </p:sp>
        <p:grpSp>
          <p:nvGrpSpPr>
            <p:cNvPr id="88099" name="Group 52"/>
            <p:cNvGrpSpPr>
              <a:grpSpLocks/>
            </p:cNvGrpSpPr>
            <p:nvPr/>
          </p:nvGrpSpPr>
          <p:grpSpPr bwMode="auto">
            <a:xfrm>
              <a:off x="4270" y="2725"/>
              <a:ext cx="475" cy="466"/>
              <a:chOff x="2144" y="3214"/>
              <a:chExt cx="475" cy="466"/>
            </a:xfrm>
          </p:grpSpPr>
          <p:sp>
            <p:nvSpPr>
              <p:cNvPr id="88115" name="Rectangle 53"/>
              <p:cNvSpPr>
                <a:spLocks noChangeArrowheads="1"/>
              </p:cNvSpPr>
              <p:nvPr/>
            </p:nvSpPr>
            <p:spPr bwMode="auto">
              <a:xfrm>
                <a:off x="2144" y="3397"/>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88116" name="Text Box 54"/>
              <p:cNvSpPr txBox="1">
                <a:spLocks noChangeArrowheads="1"/>
              </p:cNvSpPr>
              <p:nvPr/>
            </p:nvSpPr>
            <p:spPr bwMode="auto">
              <a:xfrm>
                <a:off x="2148" y="3432"/>
                <a:ext cx="43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r>
                  <a:rPr lang="en-US" altLang="en-US" sz="1800">
                    <a:latin typeface="Arial" pitchFamily="34" charset="0"/>
                    <a:cs typeface="Arial" pitchFamily="34" charset="0"/>
                  </a:rPr>
                  <a:t>( )</a:t>
                </a:r>
              </a:p>
            </p:txBody>
          </p:sp>
          <p:sp>
            <p:nvSpPr>
              <p:cNvPr id="88117" name="Text Box 55"/>
              <p:cNvSpPr txBox="1">
                <a:spLocks noChangeArrowheads="1"/>
              </p:cNvSpPr>
              <p:nvPr/>
            </p:nvSpPr>
            <p:spPr bwMode="auto">
              <a:xfrm>
                <a:off x="2356" y="3214"/>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sp>
            <p:nvSpPr>
              <p:cNvPr id="88118" name="Text Box 56"/>
              <p:cNvSpPr txBox="1">
                <a:spLocks noChangeArrowheads="1"/>
              </p:cNvSpPr>
              <p:nvPr/>
            </p:nvSpPr>
            <p:spPr bwMode="auto">
              <a:xfrm>
                <a:off x="2239" y="3331"/>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88100" name="Line 57"/>
            <p:cNvSpPr>
              <a:spLocks noChangeShapeType="1"/>
            </p:cNvSpPr>
            <p:nvPr/>
          </p:nvSpPr>
          <p:spPr bwMode="auto">
            <a:xfrm>
              <a:off x="4353" y="2450"/>
              <a:ext cx="18" cy="484"/>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en-CA"/>
            </a:p>
          </p:txBody>
        </p:sp>
        <p:pic>
          <p:nvPicPr>
            <p:cNvPr id="88101" name="Picture 58"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4583" y="2633"/>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8102" name="Group 59"/>
            <p:cNvGrpSpPr>
              <a:grpSpLocks/>
            </p:cNvGrpSpPr>
            <p:nvPr/>
          </p:nvGrpSpPr>
          <p:grpSpPr bwMode="auto">
            <a:xfrm>
              <a:off x="4119" y="3226"/>
              <a:ext cx="285" cy="299"/>
              <a:chOff x="2643" y="716"/>
              <a:chExt cx="285" cy="299"/>
            </a:xfrm>
          </p:grpSpPr>
          <p:sp>
            <p:nvSpPr>
              <p:cNvPr id="88113" name="Text Box 60"/>
              <p:cNvSpPr txBox="1">
                <a:spLocks noChangeArrowheads="1"/>
              </p:cNvSpPr>
              <p:nvPr/>
            </p:nvSpPr>
            <p:spPr bwMode="auto">
              <a:xfrm>
                <a:off x="2643" y="763"/>
                <a:ext cx="2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endParaRPr lang="en-US" altLang="en-US" sz="1800">
                  <a:latin typeface="Arial" pitchFamily="34" charset="0"/>
                  <a:cs typeface="Arial" pitchFamily="34" charset="0"/>
                </a:endParaRPr>
              </a:p>
            </p:txBody>
          </p:sp>
          <p:sp>
            <p:nvSpPr>
              <p:cNvPr id="88114" name="Text Box 61"/>
              <p:cNvSpPr txBox="1">
                <a:spLocks noChangeArrowheads="1"/>
              </p:cNvSpPr>
              <p:nvPr/>
            </p:nvSpPr>
            <p:spPr bwMode="auto">
              <a:xfrm>
                <a:off x="2735" y="716"/>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88103" name="Line 62"/>
            <p:cNvSpPr>
              <a:spLocks noChangeShapeType="1"/>
            </p:cNvSpPr>
            <p:nvPr/>
          </p:nvSpPr>
          <p:spPr bwMode="auto">
            <a:xfrm>
              <a:off x="4370" y="3208"/>
              <a:ext cx="9" cy="228"/>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en-CA"/>
            </a:p>
          </p:txBody>
        </p:sp>
        <p:pic>
          <p:nvPicPr>
            <p:cNvPr id="88104" name="Picture 63"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4426" y="3381"/>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105" name="Text Box 64"/>
            <p:cNvSpPr txBox="1">
              <a:spLocks noChangeArrowheads="1"/>
            </p:cNvSpPr>
            <p:nvPr/>
          </p:nvSpPr>
          <p:spPr bwMode="auto">
            <a:xfrm>
              <a:off x="425" y="2938"/>
              <a:ext cx="3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a:t>
              </a:r>
              <a:r>
                <a:rPr lang="en-US" altLang="en-US" baseline="-25000">
                  <a:latin typeface="Arial" pitchFamily="34" charset="0"/>
                  <a:cs typeface="Arial" pitchFamily="34" charset="0"/>
                </a:rPr>
                <a:t>S</a:t>
              </a:r>
            </a:p>
          </p:txBody>
        </p:sp>
        <p:sp>
          <p:nvSpPr>
            <p:cNvPr id="88106" name="Line 65"/>
            <p:cNvSpPr>
              <a:spLocks noChangeShapeType="1"/>
            </p:cNvSpPr>
            <p:nvPr/>
          </p:nvSpPr>
          <p:spPr bwMode="auto">
            <a:xfrm>
              <a:off x="4737" y="2284"/>
              <a:ext cx="31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88107" name="Text Box 66"/>
            <p:cNvSpPr txBox="1">
              <a:spLocks noChangeArrowheads="1"/>
            </p:cNvSpPr>
            <p:nvPr/>
          </p:nvSpPr>
          <p:spPr bwMode="auto">
            <a:xfrm>
              <a:off x="5048" y="2154"/>
              <a:ext cx="2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m</a:t>
              </a:r>
            </a:p>
          </p:txBody>
        </p:sp>
        <p:pic>
          <p:nvPicPr>
            <p:cNvPr id="88108" name="Picture 67" descr="Bob"/>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4" y="2560"/>
              <a:ext cx="405"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109" name="Text Box 68"/>
            <p:cNvSpPr txBox="1">
              <a:spLocks noChangeArrowheads="1"/>
            </p:cNvSpPr>
            <p:nvPr/>
          </p:nvSpPr>
          <p:spPr bwMode="auto">
            <a:xfrm>
              <a:off x="3664" y="2036"/>
              <a:ext cx="5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(m )</a:t>
              </a:r>
            </a:p>
          </p:txBody>
        </p:sp>
        <p:grpSp>
          <p:nvGrpSpPr>
            <p:cNvPr id="88110" name="Group 69"/>
            <p:cNvGrpSpPr>
              <a:grpSpLocks/>
            </p:cNvGrpSpPr>
            <p:nvPr/>
          </p:nvGrpSpPr>
          <p:grpSpPr bwMode="auto">
            <a:xfrm>
              <a:off x="3533" y="2965"/>
              <a:ext cx="611" cy="332"/>
              <a:chOff x="3501" y="648"/>
              <a:chExt cx="611" cy="332"/>
            </a:xfrm>
          </p:grpSpPr>
          <p:sp>
            <p:nvSpPr>
              <p:cNvPr id="88111" name="Text Box 70"/>
              <p:cNvSpPr txBox="1">
                <a:spLocks noChangeArrowheads="1"/>
              </p:cNvSpPr>
              <p:nvPr/>
            </p:nvSpPr>
            <p:spPr bwMode="auto">
              <a:xfrm>
                <a:off x="3501" y="749"/>
                <a:ext cx="6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88112" name="Text Box 71"/>
              <p:cNvSpPr txBox="1">
                <a:spLocks noChangeArrowheads="1"/>
              </p:cNvSpPr>
              <p:nvPr/>
            </p:nvSpPr>
            <p:spPr bwMode="auto">
              <a:xfrm>
                <a:off x="3584" y="648"/>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grpSp>
      <p:pic>
        <p:nvPicPr>
          <p:cNvPr id="88070" name="Picture 24" descr="underline_bas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4038" y="1042988"/>
            <a:ext cx="36560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90114" name="Rectangle 2"/>
          <p:cNvSpPr>
            <a:spLocks noGrp="1" noChangeArrowheads="1"/>
          </p:cNvSpPr>
          <p:nvPr>
            <p:ph type="title"/>
          </p:nvPr>
        </p:nvSpPr>
        <p:spPr/>
        <p:txBody>
          <a:bodyPr/>
          <a:lstStyle/>
          <a:p>
            <a:r>
              <a:rPr lang="en-US" altLang="en-US" sz="4800" smtClean="0">
                <a:ea typeface="ＭＳ Ｐゴシック" pitchFamily="34" charset="-128"/>
              </a:rPr>
              <a:t>Secure e-mail </a:t>
            </a:r>
          </a:p>
        </p:txBody>
      </p:sp>
      <p:sp>
        <p:nvSpPr>
          <p:cNvPr id="90115" name="Text Box 3"/>
          <p:cNvSpPr txBox="1">
            <a:spLocks noChangeArrowheads="1"/>
          </p:cNvSpPr>
          <p:nvPr/>
        </p:nvSpPr>
        <p:spPr bwMode="auto">
          <a:xfrm>
            <a:off x="603250" y="4805363"/>
            <a:ext cx="65293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i="1">
                <a:solidFill>
                  <a:srgbClr val="C00000"/>
                </a:solidFill>
                <a:latin typeface="Gill Sans MT" pitchFamily="34" charset="0"/>
              </a:rPr>
              <a:t>Bob:</a:t>
            </a:r>
          </a:p>
          <a:p>
            <a:pPr>
              <a:buClr>
                <a:srgbClr val="000099"/>
              </a:buClr>
              <a:buSzPct val="75000"/>
              <a:buFont typeface="Wingdings" pitchFamily="2" charset="2"/>
              <a:buChar char="v"/>
            </a:pPr>
            <a:r>
              <a:rPr lang="en-US" altLang="en-US" sz="2400">
                <a:latin typeface="Gill Sans MT" pitchFamily="34" charset="0"/>
              </a:rPr>
              <a:t>  uses his private key to decrypt and recover K</a:t>
            </a:r>
            <a:r>
              <a:rPr lang="en-US" altLang="en-US" sz="2400" baseline="-25000">
                <a:latin typeface="Gill Sans MT" pitchFamily="34" charset="0"/>
              </a:rPr>
              <a:t>S</a:t>
            </a:r>
          </a:p>
          <a:p>
            <a:pPr>
              <a:buClr>
                <a:srgbClr val="000099"/>
              </a:buClr>
              <a:buSzPct val="75000"/>
              <a:buFont typeface="Wingdings" pitchFamily="2" charset="2"/>
              <a:buChar char="v"/>
            </a:pPr>
            <a:r>
              <a:rPr lang="en-US" altLang="en-US" sz="2400">
                <a:latin typeface="Gill Sans MT" pitchFamily="34" charset="0"/>
              </a:rPr>
              <a:t>  uses K</a:t>
            </a:r>
            <a:r>
              <a:rPr lang="en-US" altLang="en-US" sz="2400" baseline="-25000">
                <a:latin typeface="Gill Sans MT" pitchFamily="34" charset="0"/>
              </a:rPr>
              <a:t>S</a:t>
            </a:r>
            <a:r>
              <a:rPr lang="en-US" altLang="en-US" sz="2400">
                <a:latin typeface="Gill Sans MT" pitchFamily="34" charset="0"/>
              </a:rPr>
              <a:t> to decrypt K</a:t>
            </a:r>
            <a:r>
              <a:rPr lang="en-US" altLang="en-US" sz="2400" baseline="-25000">
                <a:latin typeface="Gill Sans MT" pitchFamily="34" charset="0"/>
              </a:rPr>
              <a:t>S</a:t>
            </a:r>
            <a:r>
              <a:rPr lang="en-US" altLang="en-US" sz="2400">
                <a:latin typeface="Gill Sans MT" pitchFamily="34" charset="0"/>
              </a:rPr>
              <a:t>(m) to recover m</a:t>
            </a:r>
          </a:p>
        </p:txBody>
      </p:sp>
      <p:sp>
        <p:nvSpPr>
          <p:cNvPr id="90116" name="Text Box 4"/>
          <p:cNvSpPr txBox="1">
            <a:spLocks noChangeArrowheads="1"/>
          </p:cNvSpPr>
          <p:nvPr/>
        </p:nvSpPr>
        <p:spPr bwMode="auto">
          <a:xfrm>
            <a:off x="522288" y="1341438"/>
            <a:ext cx="66468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buClr>
                <a:srgbClr val="000099"/>
              </a:buClr>
              <a:buSzPct val="75000"/>
              <a:buFont typeface="Wingdings" pitchFamily="2" charset="2"/>
              <a:buChar char="v"/>
            </a:pPr>
            <a:r>
              <a:rPr lang="en-US" altLang="en-US" sz="2400">
                <a:latin typeface="Gill Sans MT" pitchFamily="34" charset="0"/>
              </a:rPr>
              <a:t> Alice wants to send confidential e-mail, m, to Bob</a:t>
            </a:r>
            <a:r>
              <a:rPr lang="en-US" altLang="en-US"/>
              <a:t>.</a:t>
            </a:r>
          </a:p>
        </p:txBody>
      </p:sp>
      <p:grpSp>
        <p:nvGrpSpPr>
          <p:cNvPr id="90117" name="Group 5"/>
          <p:cNvGrpSpPr>
            <a:grpSpLocks/>
          </p:cNvGrpSpPr>
          <p:nvPr/>
        </p:nvGrpSpPr>
        <p:grpSpPr bwMode="auto">
          <a:xfrm>
            <a:off x="517525" y="1831975"/>
            <a:ext cx="8112125" cy="2805113"/>
            <a:chOff x="289" y="1749"/>
            <a:chExt cx="5110" cy="1767"/>
          </a:xfrm>
        </p:grpSpPr>
        <p:sp>
          <p:nvSpPr>
            <p:cNvPr id="90119" name="Freeform 6"/>
            <p:cNvSpPr>
              <a:spLocks/>
            </p:cNvSpPr>
            <p:nvPr/>
          </p:nvSpPr>
          <p:spPr bwMode="auto">
            <a:xfrm>
              <a:off x="2457" y="2479"/>
              <a:ext cx="841" cy="493"/>
            </a:xfrm>
            <a:custGeom>
              <a:avLst/>
              <a:gdLst>
                <a:gd name="T0" fmla="*/ 0 w 2135"/>
                <a:gd name="T1" fmla="*/ 0 h 1662"/>
                <a:gd name="T2" fmla="*/ 0 w 2135"/>
                <a:gd name="T3" fmla="*/ 0 h 1662"/>
                <a:gd name="T4" fmla="*/ 2 w 2135"/>
                <a:gd name="T5" fmla="*/ 0 h 1662"/>
                <a:gd name="T6" fmla="*/ 4 w 2135"/>
                <a:gd name="T7" fmla="*/ 0 h 1662"/>
                <a:gd name="T8" fmla="*/ 7 w 2135"/>
                <a:gd name="T9" fmla="*/ 0 h 1662"/>
                <a:gd name="T10" fmla="*/ 7 w 2135"/>
                <a:gd name="T11" fmla="*/ 1 h 1662"/>
                <a:gd name="T12" fmla="*/ 6 w 2135"/>
                <a:gd name="T13" fmla="*/ 1 h 1662"/>
                <a:gd name="T14" fmla="*/ 3 w 2135"/>
                <a:gd name="T15" fmla="*/ 1 h 1662"/>
                <a:gd name="T16" fmla="*/ 2 w 2135"/>
                <a:gd name="T17" fmla="*/ 1 h 1662"/>
                <a:gd name="T18" fmla="*/ 1 w 2135"/>
                <a:gd name="T19" fmla="*/ 1 h 1662"/>
                <a:gd name="T20" fmla="*/ 0 w 2135"/>
                <a:gd name="T21" fmla="*/ 0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90120" name="Line 7"/>
            <p:cNvSpPr>
              <a:spLocks noChangeShapeType="1"/>
            </p:cNvSpPr>
            <p:nvPr/>
          </p:nvSpPr>
          <p:spPr bwMode="auto">
            <a:xfrm>
              <a:off x="637" y="2280"/>
              <a:ext cx="31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90121" name="Picture 8"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1219" y="1818"/>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22" name="Picture 9" descr="BS00592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22" y="2428"/>
              <a:ext cx="343"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0123" name="Group 10"/>
            <p:cNvGrpSpPr>
              <a:grpSpLocks/>
            </p:cNvGrpSpPr>
            <p:nvPr/>
          </p:nvGrpSpPr>
          <p:grpSpPr bwMode="auto">
            <a:xfrm>
              <a:off x="950" y="1974"/>
              <a:ext cx="475" cy="466"/>
              <a:chOff x="1645" y="256"/>
              <a:chExt cx="475" cy="466"/>
            </a:xfrm>
          </p:grpSpPr>
          <p:sp>
            <p:nvSpPr>
              <p:cNvPr id="90182" name="Rectangle 11"/>
              <p:cNvSpPr>
                <a:spLocks noChangeArrowheads="1"/>
              </p:cNvSpPr>
              <p:nvPr/>
            </p:nvSpPr>
            <p:spPr bwMode="auto">
              <a:xfrm>
                <a:off x="1645" y="439"/>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0183" name="Text Box 12"/>
              <p:cNvSpPr txBox="1">
                <a:spLocks noChangeArrowheads="1"/>
              </p:cNvSpPr>
              <p:nvPr/>
            </p:nvSpPr>
            <p:spPr bwMode="auto">
              <a:xfrm>
                <a:off x="1654" y="456"/>
                <a:ext cx="4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90184" name="Text Box 13"/>
              <p:cNvSpPr txBox="1">
                <a:spLocks noChangeArrowheads="1"/>
              </p:cNvSpPr>
              <p:nvPr/>
            </p:nvSpPr>
            <p:spPr bwMode="auto">
              <a:xfrm>
                <a:off x="1876" y="256"/>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grpSp>
        <p:grpSp>
          <p:nvGrpSpPr>
            <p:cNvPr id="90124" name="Group 14"/>
            <p:cNvGrpSpPr>
              <a:grpSpLocks/>
            </p:cNvGrpSpPr>
            <p:nvPr/>
          </p:nvGrpSpPr>
          <p:grpSpPr bwMode="auto">
            <a:xfrm>
              <a:off x="965" y="2730"/>
              <a:ext cx="475" cy="466"/>
              <a:chOff x="2144" y="3214"/>
              <a:chExt cx="475" cy="466"/>
            </a:xfrm>
          </p:grpSpPr>
          <p:sp>
            <p:nvSpPr>
              <p:cNvPr id="90178" name="Rectangle 15"/>
              <p:cNvSpPr>
                <a:spLocks noChangeArrowheads="1"/>
              </p:cNvSpPr>
              <p:nvPr/>
            </p:nvSpPr>
            <p:spPr bwMode="auto">
              <a:xfrm>
                <a:off x="2144" y="3397"/>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0179" name="Text Box 16"/>
              <p:cNvSpPr txBox="1">
                <a:spLocks noChangeArrowheads="1"/>
              </p:cNvSpPr>
              <p:nvPr/>
            </p:nvSpPr>
            <p:spPr bwMode="auto">
              <a:xfrm>
                <a:off x="2148" y="3432"/>
                <a:ext cx="43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r>
                  <a:rPr lang="en-US" altLang="en-US" sz="1800">
                    <a:latin typeface="Arial" pitchFamily="34" charset="0"/>
                    <a:cs typeface="Arial" pitchFamily="34" charset="0"/>
                  </a:rPr>
                  <a:t>( )</a:t>
                </a:r>
              </a:p>
            </p:txBody>
          </p:sp>
          <p:sp>
            <p:nvSpPr>
              <p:cNvPr id="90180" name="Text Box 17"/>
              <p:cNvSpPr txBox="1">
                <a:spLocks noChangeArrowheads="1"/>
              </p:cNvSpPr>
              <p:nvPr/>
            </p:nvSpPr>
            <p:spPr bwMode="auto">
              <a:xfrm>
                <a:off x="2356" y="3214"/>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sp>
            <p:nvSpPr>
              <p:cNvPr id="90181" name="Text Box 18"/>
              <p:cNvSpPr txBox="1">
                <a:spLocks noChangeArrowheads="1"/>
              </p:cNvSpPr>
              <p:nvPr/>
            </p:nvSpPr>
            <p:spPr bwMode="auto">
              <a:xfrm>
                <a:off x="2234" y="3331"/>
                <a:ext cx="2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grpSp>
          <p:nvGrpSpPr>
            <p:cNvPr id="90125" name="Group 19"/>
            <p:cNvGrpSpPr>
              <a:grpSpLocks/>
            </p:cNvGrpSpPr>
            <p:nvPr/>
          </p:nvGrpSpPr>
          <p:grpSpPr bwMode="auto">
            <a:xfrm>
              <a:off x="1791" y="2496"/>
              <a:ext cx="402" cy="327"/>
              <a:chOff x="2934" y="1573"/>
              <a:chExt cx="402" cy="327"/>
            </a:xfrm>
          </p:grpSpPr>
          <p:sp>
            <p:nvSpPr>
              <p:cNvPr id="90176" name="Oval 20"/>
              <p:cNvSpPr>
                <a:spLocks noChangeArrowheads="1"/>
              </p:cNvSpPr>
              <p:nvPr/>
            </p:nvSpPr>
            <p:spPr bwMode="auto">
              <a:xfrm>
                <a:off x="2935" y="1637"/>
                <a:ext cx="238" cy="211"/>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0177" name="Text Box 21"/>
              <p:cNvSpPr txBox="1">
                <a:spLocks noChangeArrowheads="1"/>
              </p:cNvSpPr>
              <p:nvPr/>
            </p:nvSpPr>
            <p:spPr bwMode="auto">
              <a:xfrm>
                <a:off x="2934" y="1573"/>
                <a:ext cx="4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50000"/>
                  </a:spcBef>
                </a:pPr>
                <a:r>
                  <a:rPr lang="en-US" altLang="en-US" sz="2800">
                    <a:latin typeface="Arial" pitchFamily="34" charset="0"/>
                    <a:cs typeface="Arial" pitchFamily="34" charset="0"/>
                  </a:rPr>
                  <a:t>+</a:t>
                </a:r>
              </a:p>
            </p:txBody>
          </p:sp>
        </p:grpSp>
        <p:grpSp>
          <p:nvGrpSpPr>
            <p:cNvPr id="90126" name="Group 22"/>
            <p:cNvGrpSpPr>
              <a:grpSpLocks/>
            </p:cNvGrpSpPr>
            <p:nvPr/>
          </p:nvGrpSpPr>
          <p:grpSpPr bwMode="auto">
            <a:xfrm>
              <a:off x="3688" y="2455"/>
              <a:ext cx="428" cy="327"/>
              <a:chOff x="2935" y="1546"/>
              <a:chExt cx="428" cy="327"/>
            </a:xfrm>
          </p:grpSpPr>
          <p:sp>
            <p:nvSpPr>
              <p:cNvPr id="90174" name="Oval 23"/>
              <p:cNvSpPr>
                <a:spLocks noChangeArrowheads="1"/>
              </p:cNvSpPr>
              <p:nvPr/>
            </p:nvSpPr>
            <p:spPr bwMode="auto">
              <a:xfrm>
                <a:off x="2935" y="1637"/>
                <a:ext cx="238" cy="211"/>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0175" name="Text Box 24"/>
              <p:cNvSpPr txBox="1">
                <a:spLocks noChangeArrowheads="1"/>
              </p:cNvSpPr>
              <p:nvPr/>
            </p:nvSpPr>
            <p:spPr bwMode="auto">
              <a:xfrm>
                <a:off x="2961" y="1546"/>
                <a:ext cx="4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50000"/>
                  </a:spcBef>
                </a:pPr>
                <a:r>
                  <a:rPr lang="en-US" altLang="en-US" sz="2800">
                    <a:latin typeface="Arial" pitchFamily="34" charset="0"/>
                    <a:cs typeface="Arial" pitchFamily="34" charset="0"/>
                  </a:rPr>
                  <a:t>-</a:t>
                </a:r>
              </a:p>
            </p:txBody>
          </p:sp>
        </p:grpSp>
        <p:sp>
          <p:nvSpPr>
            <p:cNvPr id="90127" name="Line 25"/>
            <p:cNvSpPr>
              <a:spLocks noChangeShapeType="1"/>
            </p:cNvSpPr>
            <p:nvPr/>
          </p:nvSpPr>
          <p:spPr bwMode="auto">
            <a:xfrm>
              <a:off x="669" y="3053"/>
              <a:ext cx="31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90128" name="Text Box 26"/>
            <p:cNvSpPr txBox="1">
              <a:spLocks noChangeArrowheads="1"/>
            </p:cNvSpPr>
            <p:nvPr/>
          </p:nvSpPr>
          <p:spPr bwMode="auto">
            <a:xfrm>
              <a:off x="1419" y="2041"/>
              <a:ext cx="5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(m )</a:t>
              </a:r>
            </a:p>
          </p:txBody>
        </p:sp>
        <p:grpSp>
          <p:nvGrpSpPr>
            <p:cNvPr id="90129" name="Group 27"/>
            <p:cNvGrpSpPr>
              <a:grpSpLocks/>
            </p:cNvGrpSpPr>
            <p:nvPr/>
          </p:nvGrpSpPr>
          <p:grpSpPr bwMode="auto">
            <a:xfrm>
              <a:off x="1435" y="2979"/>
              <a:ext cx="611" cy="332"/>
              <a:chOff x="3501" y="648"/>
              <a:chExt cx="611" cy="332"/>
            </a:xfrm>
          </p:grpSpPr>
          <p:sp>
            <p:nvSpPr>
              <p:cNvPr id="90172" name="Text Box 28"/>
              <p:cNvSpPr txBox="1">
                <a:spLocks noChangeArrowheads="1"/>
              </p:cNvSpPr>
              <p:nvPr/>
            </p:nvSpPr>
            <p:spPr bwMode="auto">
              <a:xfrm>
                <a:off x="3501" y="749"/>
                <a:ext cx="6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90173" name="Text Box 29"/>
              <p:cNvSpPr txBox="1">
                <a:spLocks noChangeArrowheads="1"/>
              </p:cNvSpPr>
              <p:nvPr/>
            </p:nvSpPr>
            <p:spPr bwMode="auto">
              <a:xfrm>
                <a:off x="3584" y="648"/>
                <a:ext cx="2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0130" name="Freeform 30"/>
            <p:cNvSpPr>
              <a:spLocks/>
            </p:cNvSpPr>
            <p:nvPr/>
          </p:nvSpPr>
          <p:spPr bwMode="auto">
            <a:xfrm>
              <a:off x="1426" y="2285"/>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0131" name="Freeform 31"/>
            <p:cNvSpPr>
              <a:spLocks/>
            </p:cNvSpPr>
            <p:nvPr/>
          </p:nvSpPr>
          <p:spPr bwMode="auto">
            <a:xfrm flipV="1">
              <a:off x="1440" y="2802"/>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0132" name="Text Box 32"/>
            <p:cNvSpPr txBox="1">
              <a:spLocks noChangeArrowheads="1"/>
            </p:cNvSpPr>
            <p:nvPr/>
          </p:nvSpPr>
          <p:spPr bwMode="auto">
            <a:xfrm>
              <a:off x="400" y="2141"/>
              <a:ext cx="2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m</a:t>
              </a:r>
            </a:p>
          </p:txBody>
        </p:sp>
        <p:sp>
          <p:nvSpPr>
            <p:cNvPr id="90133" name="Text Box 33"/>
            <p:cNvSpPr txBox="1">
              <a:spLocks noChangeArrowheads="1"/>
            </p:cNvSpPr>
            <p:nvPr/>
          </p:nvSpPr>
          <p:spPr bwMode="auto">
            <a:xfrm>
              <a:off x="4325" y="2568"/>
              <a:ext cx="3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a:t>
              </a:r>
              <a:r>
                <a:rPr lang="en-US" altLang="en-US" baseline="-25000">
                  <a:latin typeface="Arial" pitchFamily="34" charset="0"/>
                  <a:cs typeface="Arial" pitchFamily="34" charset="0"/>
                </a:rPr>
                <a:t>S</a:t>
              </a:r>
            </a:p>
          </p:txBody>
        </p:sp>
        <p:sp>
          <p:nvSpPr>
            <p:cNvPr id="90134" name="Text Box 34"/>
            <p:cNvSpPr txBox="1">
              <a:spLocks noChangeArrowheads="1"/>
            </p:cNvSpPr>
            <p:nvPr/>
          </p:nvSpPr>
          <p:spPr bwMode="auto">
            <a:xfrm>
              <a:off x="947" y="1749"/>
              <a:ext cx="3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a:t>
              </a:r>
              <a:r>
                <a:rPr lang="en-US" altLang="en-US" baseline="-25000">
                  <a:latin typeface="Arial" pitchFamily="34" charset="0"/>
                  <a:cs typeface="Arial" pitchFamily="34" charset="0"/>
                </a:rPr>
                <a:t>S</a:t>
              </a:r>
            </a:p>
          </p:txBody>
        </p:sp>
        <p:sp>
          <p:nvSpPr>
            <p:cNvPr id="90135" name="Line 35"/>
            <p:cNvSpPr>
              <a:spLocks noChangeShapeType="1"/>
            </p:cNvSpPr>
            <p:nvPr/>
          </p:nvSpPr>
          <p:spPr bwMode="auto">
            <a:xfrm>
              <a:off x="1207" y="1929"/>
              <a:ext cx="9" cy="228"/>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90136" name="Group 36"/>
            <p:cNvGrpSpPr>
              <a:grpSpLocks/>
            </p:cNvGrpSpPr>
            <p:nvPr/>
          </p:nvGrpSpPr>
          <p:grpSpPr bwMode="auto">
            <a:xfrm>
              <a:off x="943" y="3231"/>
              <a:ext cx="298" cy="280"/>
              <a:chOff x="2643" y="716"/>
              <a:chExt cx="298" cy="280"/>
            </a:xfrm>
          </p:grpSpPr>
          <p:sp>
            <p:nvSpPr>
              <p:cNvPr id="90170" name="Text Box 37"/>
              <p:cNvSpPr txBox="1">
                <a:spLocks noChangeArrowheads="1"/>
              </p:cNvSpPr>
              <p:nvPr/>
            </p:nvSpPr>
            <p:spPr bwMode="auto">
              <a:xfrm>
                <a:off x="2643" y="763"/>
                <a:ext cx="2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endParaRPr lang="en-US" altLang="en-US" sz="1800">
                  <a:latin typeface="Arial" pitchFamily="34" charset="0"/>
                  <a:cs typeface="Arial" pitchFamily="34" charset="0"/>
                </a:endParaRPr>
              </a:p>
            </p:txBody>
          </p:sp>
          <p:sp>
            <p:nvSpPr>
              <p:cNvPr id="90171" name="Text Box 38"/>
              <p:cNvSpPr txBox="1">
                <a:spLocks noChangeArrowheads="1"/>
              </p:cNvSpPr>
              <p:nvPr/>
            </p:nvSpPr>
            <p:spPr bwMode="auto">
              <a:xfrm>
                <a:off x="2730" y="716"/>
                <a:ext cx="2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0137" name="Line 39"/>
            <p:cNvSpPr>
              <a:spLocks noChangeShapeType="1"/>
            </p:cNvSpPr>
            <p:nvPr/>
          </p:nvSpPr>
          <p:spPr bwMode="auto">
            <a:xfrm>
              <a:off x="1194" y="3213"/>
              <a:ext cx="9" cy="228"/>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en-CA"/>
            </a:p>
          </p:txBody>
        </p:sp>
        <p:pic>
          <p:nvPicPr>
            <p:cNvPr id="90138" name="Picture 40"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1250" y="3386"/>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39" name="Picture 41" descr="Alic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 y="2471"/>
              <a:ext cx="332"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40" name="Line 42"/>
            <p:cNvSpPr>
              <a:spLocks noChangeShapeType="1"/>
            </p:cNvSpPr>
            <p:nvPr/>
          </p:nvSpPr>
          <p:spPr bwMode="auto">
            <a:xfrm flipV="1">
              <a:off x="2058" y="2660"/>
              <a:ext cx="484" cy="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90141" name="Line 43"/>
            <p:cNvSpPr>
              <a:spLocks noChangeShapeType="1"/>
            </p:cNvSpPr>
            <p:nvPr/>
          </p:nvSpPr>
          <p:spPr bwMode="auto">
            <a:xfrm flipV="1">
              <a:off x="3242" y="2655"/>
              <a:ext cx="4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90142" name="Picture 44" descr="BS00592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14" y="2414"/>
              <a:ext cx="343"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43" name="Text Box 45"/>
            <p:cNvSpPr txBox="1">
              <a:spLocks noChangeArrowheads="1"/>
            </p:cNvSpPr>
            <p:nvPr/>
          </p:nvSpPr>
          <p:spPr bwMode="auto">
            <a:xfrm>
              <a:off x="2528" y="2632"/>
              <a:ext cx="60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Internet</a:t>
              </a:r>
            </a:p>
          </p:txBody>
        </p:sp>
        <p:sp>
          <p:nvSpPr>
            <p:cNvPr id="90144" name="Freeform 46"/>
            <p:cNvSpPr>
              <a:spLocks/>
            </p:cNvSpPr>
            <p:nvPr/>
          </p:nvSpPr>
          <p:spPr bwMode="auto">
            <a:xfrm flipH="1">
              <a:off x="3799" y="2281"/>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CA"/>
            </a:p>
          </p:txBody>
        </p:sp>
        <p:grpSp>
          <p:nvGrpSpPr>
            <p:cNvPr id="90145" name="Group 47"/>
            <p:cNvGrpSpPr>
              <a:grpSpLocks/>
            </p:cNvGrpSpPr>
            <p:nvPr/>
          </p:nvGrpSpPr>
          <p:grpSpPr bwMode="auto">
            <a:xfrm>
              <a:off x="4255" y="1961"/>
              <a:ext cx="475" cy="466"/>
              <a:chOff x="1645" y="256"/>
              <a:chExt cx="475" cy="466"/>
            </a:xfrm>
          </p:grpSpPr>
          <p:sp>
            <p:nvSpPr>
              <p:cNvPr id="90167" name="Rectangle 48"/>
              <p:cNvSpPr>
                <a:spLocks noChangeArrowheads="1"/>
              </p:cNvSpPr>
              <p:nvPr/>
            </p:nvSpPr>
            <p:spPr bwMode="auto">
              <a:xfrm>
                <a:off x="1645" y="439"/>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0168" name="Text Box 49"/>
              <p:cNvSpPr txBox="1">
                <a:spLocks noChangeArrowheads="1"/>
              </p:cNvSpPr>
              <p:nvPr/>
            </p:nvSpPr>
            <p:spPr bwMode="auto">
              <a:xfrm>
                <a:off x="1654" y="456"/>
                <a:ext cx="4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90169" name="Text Box 50"/>
              <p:cNvSpPr txBox="1">
                <a:spLocks noChangeArrowheads="1"/>
              </p:cNvSpPr>
              <p:nvPr/>
            </p:nvSpPr>
            <p:spPr bwMode="auto">
              <a:xfrm>
                <a:off x="1876" y="256"/>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grpSp>
        <p:sp>
          <p:nvSpPr>
            <p:cNvPr id="90146" name="Freeform 51"/>
            <p:cNvSpPr>
              <a:spLocks/>
            </p:cNvSpPr>
            <p:nvPr/>
          </p:nvSpPr>
          <p:spPr bwMode="auto">
            <a:xfrm flipH="1" flipV="1">
              <a:off x="3813" y="2807"/>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CA"/>
            </a:p>
          </p:txBody>
        </p:sp>
        <p:grpSp>
          <p:nvGrpSpPr>
            <p:cNvPr id="90147" name="Group 52"/>
            <p:cNvGrpSpPr>
              <a:grpSpLocks/>
            </p:cNvGrpSpPr>
            <p:nvPr/>
          </p:nvGrpSpPr>
          <p:grpSpPr bwMode="auto">
            <a:xfrm>
              <a:off x="4270" y="2725"/>
              <a:ext cx="475" cy="466"/>
              <a:chOff x="2144" y="3214"/>
              <a:chExt cx="475" cy="466"/>
            </a:xfrm>
          </p:grpSpPr>
          <p:sp>
            <p:nvSpPr>
              <p:cNvPr id="90163" name="Rectangle 53"/>
              <p:cNvSpPr>
                <a:spLocks noChangeArrowheads="1"/>
              </p:cNvSpPr>
              <p:nvPr/>
            </p:nvSpPr>
            <p:spPr bwMode="auto">
              <a:xfrm>
                <a:off x="2144" y="3397"/>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0164" name="Text Box 54"/>
              <p:cNvSpPr txBox="1">
                <a:spLocks noChangeArrowheads="1"/>
              </p:cNvSpPr>
              <p:nvPr/>
            </p:nvSpPr>
            <p:spPr bwMode="auto">
              <a:xfrm>
                <a:off x="2148" y="3432"/>
                <a:ext cx="43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r>
                  <a:rPr lang="en-US" altLang="en-US" sz="1800">
                    <a:latin typeface="Arial" pitchFamily="34" charset="0"/>
                    <a:cs typeface="Arial" pitchFamily="34" charset="0"/>
                  </a:rPr>
                  <a:t>( )</a:t>
                </a:r>
              </a:p>
            </p:txBody>
          </p:sp>
          <p:sp>
            <p:nvSpPr>
              <p:cNvPr id="90165" name="Text Box 55"/>
              <p:cNvSpPr txBox="1">
                <a:spLocks noChangeArrowheads="1"/>
              </p:cNvSpPr>
              <p:nvPr/>
            </p:nvSpPr>
            <p:spPr bwMode="auto">
              <a:xfrm>
                <a:off x="2356" y="3214"/>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sp>
            <p:nvSpPr>
              <p:cNvPr id="90166" name="Text Box 56"/>
              <p:cNvSpPr txBox="1">
                <a:spLocks noChangeArrowheads="1"/>
              </p:cNvSpPr>
              <p:nvPr/>
            </p:nvSpPr>
            <p:spPr bwMode="auto">
              <a:xfrm>
                <a:off x="2239" y="3331"/>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0148" name="Line 57"/>
            <p:cNvSpPr>
              <a:spLocks noChangeShapeType="1"/>
            </p:cNvSpPr>
            <p:nvPr/>
          </p:nvSpPr>
          <p:spPr bwMode="auto">
            <a:xfrm>
              <a:off x="4353" y="2450"/>
              <a:ext cx="18" cy="484"/>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en-CA"/>
            </a:p>
          </p:txBody>
        </p:sp>
        <p:pic>
          <p:nvPicPr>
            <p:cNvPr id="90149" name="Picture 58"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4583" y="2633"/>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0150" name="Group 59"/>
            <p:cNvGrpSpPr>
              <a:grpSpLocks/>
            </p:cNvGrpSpPr>
            <p:nvPr/>
          </p:nvGrpSpPr>
          <p:grpSpPr bwMode="auto">
            <a:xfrm>
              <a:off x="4119" y="3226"/>
              <a:ext cx="285" cy="280"/>
              <a:chOff x="2643" y="716"/>
              <a:chExt cx="285" cy="280"/>
            </a:xfrm>
          </p:grpSpPr>
          <p:sp>
            <p:nvSpPr>
              <p:cNvPr id="90161" name="Text Box 60"/>
              <p:cNvSpPr txBox="1">
                <a:spLocks noChangeArrowheads="1"/>
              </p:cNvSpPr>
              <p:nvPr/>
            </p:nvSpPr>
            <p:spPr bwMode="auto">
              <a:xfrm>
                <a:off x="2643" y="763"/>
                <a:ext cx="2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endParaRPr lang="en-US" altLang="en-US" sz="1800">
                  <a:latin typeface="Arial" pitchFamily="34" charset="0"/>
                  <a:cs typeface="Arial" pitchFamily="34" charset="0"/>
                </a:endParaRPr>
              </a:p>
            </p:txBody>
          </p:sp>
          <p:sp>
            <p:nvSpPr>
              <p:cNvPr id="90162" name="Text Box 61"/>
              <p:cNvSpPr txBox="1">
                <a:spLocks noChangeArrowheads="1"/>
              </p:cNvSpPr>
              <p:nvPr/>
            </p:nvSpPr>
            <p:spPr bwMode="auto">
              <a:xfrm>
                <a:off x="2735" y="716"/>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0151" name="Line 62"/>
            <p:cNvSpPr>
              <a:spLocks noChangeShapeType="1"/>
            </p:cNvSpPr>
            <p:nvPr/>
          </p:nvSpPr>
          <p:spPr bwMode="auto">
            <a:xfrm>
              <a:off x="4370" y="3208"/>
              <a:ext cx="9" cy="228"/>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en-CA"/>
            </a:p>
          </p:txBody>
        </p:sp>
        <p:pic>
          <p:nvPicPr>
            <p:cNvPr id="90152" name="Picture 63"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4426" y="3381"/>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53" name="Text Box 64"/>
            <p:cNvSpPr txBox="1">
              <a:spLocks noChangeArrowheads="1"/>
            </p:cNvSpPr>
            <p:nvPr/>
          </p:nvSpPr>
          <p:spPr bwMode="auto">
            <a:xfrm>
              <a:off x="425" y="2938"/>
              <a:ext cx="3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a:t>
              </a:r>
              <a:r>
                <a:rPr lang="en-US" altLang="en-US" baseline="-25000">
                  <a:latin typeface="Arial" pitchFamily="34" charset="0"/>
                  <a:cs typeface="Arial" pitchFamily="34" charset="0"/>
                </a:rPr>
                <a:t>S</a:t>
              </a:r>
            </a:p>
          </p:txBody>
        </p:sp>
        <p:sp>
          <p:nvSpPr>
            <p:cNvPr id="90154" name="Line 65"/>
            <p:cNvSpPr>
              <a:spLocks noChangeShapeType="1"/>
            </p:cNvSpPr>
            <p:nvPr/>
          </p:nvSpPr>
          <p:spPr bwMode="auto">
            <a:xfrm>
              <a:off x="4737" y="2284"/>
              <a:ext cx="31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90155" name="Text Box 66"/>
            <p:cNvSpPr txBox="1">
              <a:spLocks noChangeArrowheads="1"/>
            </p:cNvSpPr>
            <p:nvPr/>
          </p:nvSpPr>
          <p:spPr bwMode="auto">
            <a:xfrm>
              <a:off x="5048" y="2154"/>
              <a:ext cx="2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m</a:t>
              </a:r>
            </a:p>
          </p:txBody>
        </p:sp>
        <p:pic>
          <p:nvPicPr>
            <p:cNvPr id="90156" name="Picture 67" descr="Bob"/>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4" y="2560"/>
              <a:ext cx="405"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57" name="Text Box 68"/>
            <p:cNvSpPr txBox="1">
              <a:spLocks noChangeArrowheads="1"/>
            </p:cNvSpPr>
            <p:nvPr/>
          </p:nvSpPr>
          <p:spPr bwMode="auto">
            <a:xfrm>
              <a:off x="3664" y="2036"/>
              <a:ext cx="5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(m )</a:t>
              </a:r>
            </a:p>
          </p:txBody>
        </p:sp>
        <p:grpSp>
          <p:nvGrpSpPr>
            <p:cNvPr id="90158" name="Group 69"/>
            <p:cNvGrpSpPr>
              <a:grpSpLocks/>
            </p:cNvGrpSpPr>
            <p:nvPr/>
          </p:nvGrpSpPr>
          <p:grpSpPr bwMode="auto">
            <a:xfrm>
              <a:off x="3533" y="2965"/>
              <a:ext cx="611" cy="332"/>
              <a:chOff x="3501" y="648"/>
              <a:chExt cx="611" cy="332"/>
            </a:xfrm>
          </p:grpSpPr>
          <p:sp>
            <p:nvSpPr>
              <p:cNvPr id="90159" name="Text Box 70"/>
              <p:cNvSpPr txBox="1">
                <a:spLocks noChangeArrowheads="1"/>
              </p:cNvSpPr>
              <p:nvPr/>
            </p:nvSpPr>
            <p:spPr bwMode="auto">
              <a:xfrm>
                <a:off x="3501" y="749"/>
                <a:ext cx="6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90160" name="Text Box 71"/>
              <p:cNvSpPr txBox="1">
                <a:spLocks noChangeArrowheads="1"/>
              </p:cNvSpPr>
              <p:nvPr/>
            </p:nvSpPr>
            <p:spPr bwMode="auto">
              <a:xfrm>
                <a:off x="3584" y="648"/>
                <a:ext cx="2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grpSp>
      <p:pic>
        <p:nvPicPr>
          <p:cNvPr id="90118" name="Picture 24" descr="underline_bas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4038" y="1042988"/>
            <a:ext cx="36560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92162" name="Rectangle 2"/>
          <p:cNvSpPr>
            <a:spLocks noGrp="1" noChangeArrowheads="1"/>
          </p:cNvSpPr>
          <p:nvPr>
            <p:ph type="title"/>
          </p:nvPr>
        </p:nvSpPr>
        <p:spPr/>
        <p:txBody>
          <a:bodyPr/>
          <a:lstStyle/>
          <a:p>
            <a:r>
              <a:rPr lang="en-US" altLang="en-US" sz="4800" smtClean="0">
                <a:ea typeface="ＭＳ Ｐゴシック" pitchFamily="34" charset="-128"/>
              </a:rPr>
              <a:t>Secure e-mail </a:t>
            </a:r>
            <a:r>
              <a:rPr lang="en-US" altLang="en-US" sz="4000" smtClean="0">
                <a:ea typeface="ＭＳ Ｐゴシック" pitchFamily="34" charset="-128"/>
              </a:rPr>
              <a:t>(continued)</a:t>
            </a:r>
          </a:p>
        </p:txBody>
      </p:sp>
      <p:sp>
        <p:nvSpPr>
          <p:cNvPr id="92163" name="Text Box 3"/>
          <p:cNvSpPr txBox="1">
            <a:spLocks noChangeArrowheads="1"/>
          </p:cNvSpPr>
          <p:nvPr/>
        </p:nvSpPr>
        <p:spPr bwMode="auto">
          <a:xfrm>
            <a:off x="517525" y="1358900"/>
            <a:ext cx="84439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buClr>
                <a:srgbClr val="000099"/>
              </a:buClr>
              <a:buSzPct val="75000"/>
              <a:buFont typeface="Wingdings" pitchFamily="2" charset="2"/>
              <a:buChar char="v"/>
            </a:pPr>
            <a:r>
              <a:rPr lang="en-US" altLang="en-US" sz="2400">
                <a:latin typeface="Gill Sans MT" pitchFamily="34" charset="0"/>
              </a:rPr>
              <a:t> Alice wants to provide sender authentication message integrity</a:t>
            </a:r>
          </a:p>
        </p:txBody>
      </p:sp>
      <p:sp>
        <p:nvSpPr>
          <p:cNvPr id="92164" name="Text Box 4"/>
          <p:cNvSpPr txBox="1">
            <a:spLocks noChangeArrowheads="1"/>
          </p:cNvSpPr>
          <p:nvPr/>
        </p:nvSpPr>
        <p:spPr bwMode="auto">
          <a:xfrm>
            <a:off x="504825" y="4805363"/>
            <a:ext cx="72644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buClr>
                <a:srgbClr val="000099"/>
              </a:buClr>
              <a:buSzPct val="75000"/>
              <a:buFont typeface="Wingdings" pitchFamily="2" charset="2"/>
              <a:buChar char="v"/>
            </a:pPr>
            <a:r>
              <a:rPr lang="en-US" altLang="en-US" sz="2400">
                <a:latin typeface="Gill Sans MT" pitchFamily="34" charset="0"/>
              </a:rPr>
              <a:t>  Alice digitally signs message</a:t>
            </a:r>
          </a:p>
          <a:p>
            <a:pPr>
              <a:buClr>
                <a:srgbClr val="000099"/>
              </a:buClr>
              <a:buSzPct val="75000"/>
              <a:buFont typeface="Wingdings" pitchFamily="2" charset="2"/>
              <a:buChar char="v"/>
            </a:pPr>
            <a:r>
              <a:rPr lang="en-US" altLang="en-US" sz="2400">
                <a:latin typeface="Gill Sans MT" pitchFamily="34" charset="0"/>
              </a:rPr>
              <a:t>  sends both message (in the clear) and digital signature</a:t>
            </a:r>
          </a:p>
        </p:txBody>
      </p:sp>
      <p:grpSp>
        <p:nvGrpSpPr>
          <p:cNvPr id="92165" name="Group 5"/>
          <p:cNvGrpSpPr>
            <a:grpSpLocks/>
          </p:cNvGrpSpPr>
          <p:nvPr/>
        </p:nvGrpSpPr>
        <p:grpSpPr bwMode="auto">
          <a:xfrm>
            <a:off x="385763" y="2043113"/>
            <a:ext cx="8575675" cy="2509837"/>
            <a:chOff x="161" y="2202"/>
            <a:chExt cx="5402" cy="1581"/>
          </a:xfrm>
        </p:grpSpPr>
        <p:sp>
          <p:nvSpPr>
            <p:cNvPr id="92167" name="Freeform 6"/>
            <p:cNvSpPr>
              <a:spLocks/>
            </p:cNvSpPr>
            <p:nvPr/>
          </p:nvSpPr>
          <p:spPr bwMode="auto">
            <a:xfrm>
              <a:off x="1151" y="2769"/>
              <a:ext cx="623" cy="256"/>
            </a:xfrm>
            <a:custGeom>
              <a:avLst/>
              <a:gdLst>
                <a:gd name="T0" fmla="*/ 0 w 476"/>
                <a:gd name="T1" fmla="*/ 0 h 247"/>
                <a:gd name="T2" fmla="*/ 2393 w 476"/>
                <a:gd name="T3" fmla="*/ 0 h 247"/>
                <a:gd name="T4" fmla="*/ 2393 w 476"/>
                <a:gd name="T5" fmla="*/ 306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2168" name="Freeform 7"/>
            <p:cNvSpPr>
              <a:spLocks/>
            </p:cNvSpPr>
            <p:nvPr/>
          </p:nvSpPr>
          <p:spPr bwMode="auto">
            <a:xfrm>
              <a:off x="2329" y="2972"/>
              <a:ext cx="841" cy="493"/>
            </a:xfrm>
            <a:custGeom>
              <a:avLst/>
              <a:gdLst>
                <a:gd name="T0" fmla="*/ 0 w 2135"/>
                <a:gd name="T1" fmla="*/ 0 h 1662"/>
                <a:gd name="T2" fmla="*/ 0 w 2135"/>
                <a:gd name="T3" fmla="*/ 0 h 1662"/>
                <a:gd name="T4" fmla="*/ 2 w 2135"/>
                <a:gd name="T5" fmla="*/ 0 h 1662"/>
                <a:gd name="T6" fmla="*/ 4 w 2135"/>
                <a:gd name="T7" fmla="*/ 0 h 1662"/>
                <a:gd name="T8" fmla="*/ 7 w 2135"/>
                <a:gd name="T9" fmla="*/ 0 h 1662"/>
                <a:gd name="T10" fmla="*/ 7 w 2135"/>
                <a:gd name="T11" fmla="*/ 1 h 1662"/>
                <a:gd name="T12" fmla="*/ 6 w 2135"/>
                <a:gd name="T13" fmla="*/ 1 h 1662"/>
                <a:gd name="T14" fmla="*/ 3 w 2135"/>
                <a:gd name="T15" fmla="*/ 1 h 1662"/>
                <a:gd name="T16" fmla="*/ 2 w 2135"/>
                <a:gd name="T17" fmla="*/ 1 h 1662"/>
                <a:gd name="T18" fmla="*/ 1 w 2135"/>
                <a:gd name="T19" fmla="*/ 1 h 1662"/>
                <a:gd name="T20" fmla="*/ 0 w 2135"/>
                <a:gd name="T21" fmla="*/ 0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92169" name="Line 8"/>
            <p:cNvSpPr>
              <a:spLocks noChangeShapeType="1"/>
            </p:cNvSpPr>
            <p:nvPr/>
          </p:nvSpPr>
          <p:spPr bwMode="auto">
            <a:xfrm flipV="1">
              <a:off x="473" y="2772"/>
              <a:ext cx="227" cy="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92170" name="Picture 9" descr="BS00592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94" y="2921"/>
              <a:ext cx="343"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171" name="Group 10"/>
            <p:cNvGrpSpPr>
              <a:grpSpLocks/>
            </p:cNvGrpSpPr>
            <p:nvPr/>
          </p:nvGrpSpPr>
          <p:grpSpPr bwMode="auto">
            <a:xfrm>
              <a:off x="694" y="2457"/>
              <a:ext cx="475" cy="457"/>
              <a:chOff x="694" y="2457"/>
              <a:chExt cx="475" cy="457"/>
            </a:xfrm>
          </p:grpSpPr>
          <p:sp>
            <p:nvSpPr>
              <p:cNvPr id="92225" name="Rectangle 11"/>
              <p:cNvSpPr>
                <a:spLocks noChangeArrowheads="1"/>
              </p:cNvSpPr>
              <p:nvPr/>
            </p:nvSpPr>
            <p:spPr bwMode="auto">
              <a:xfrm>
                <a:off x="694" y="2631"/>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2226" name="Text Box 12"/>
              <p:cNvSpPr txBox="1">
                <a:spLocks noChangeArrowheads="1"/>
              </p:cNvSpPr>
              <p:nvPr/>
            </p:nvSpPr>
            <p:spPr bwMode="auto">
              <a:xfrm>
                <a:off x="754" y="2657"/>
                <a:ext cx="35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H( )</a:t>
                </a:r>
              </a:p>
            </p:txBody>
          </p:sp>
          <p:sp>
            <p:nvSpPr>
              <p:cNvPr id="92227" name="Text Box 13"/>
              <p:cNvSpPr txBox="1">
                <a:spLocks noChangeArrowheads="1"/>
              </p:cNvSpPr>
              <p:nvPr/>
            </p:nvSpPr>
            <p:spPr bwMode="auto">
              <a:xfrm>
                <a:off x="907" y="2457"/>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grpSp>
        <p:grpSp>
          <p:nvGrpSpPr>
            <p:cNvPr id="92172" name="Group 14"/>
            <p:cNvGrpSpPr>
              <a:grpSpLocks/>
            </p:cNvGrpSpPr>
            <p:nvPr/>
          </p:nvGrpSpPr>
          <p:grpSpPr bwMode="auto">
            <a:xfrm>
              <a:off x="1240" y="2437"/>
              <a:ext cx="477" cy="466"/>
              <a:chOff x="1541" y="1971"/>
              <a:chExt cx="477" cy="466"/>
            </a:xfrm>
          </p:grpSpPr>
          <p:sp>
            <p:nvSpPr>
              <p:cNvPr id="92221" name="Rectangle 15"/>
              <p:cNvSpPr>
                <a:spLocks noChangeArrowheads="1"/>
              </p:cNvSpPr>
              <p:nvPr/>
            </p:nvSpPr>
            <p:spPr bwMode="auto">
              <a:xfrm>
                <a:off x="1543" y="2154"/>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2222" name="Text Box 16"/>
              <p:cNvSpPr txBox="1">
                <a:spLocks noChangeArrowheads="1"/>
              </p:cNvSpPr>
              <p:nvPr/>
            </p:nvSpPr>
            <p:spPr bwMode="auto">
              <a:xfrm>
                <a:off x="1541" y="2189"/>
                <a:ext cx="4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A</a:t>
                </a:r>
                <a:r>
                  <a:rPr lang="en-US" altLang="en-US" sz="1800">
                    <a:latin typeface="Arial" pitchFamily="34" charset="0"/>
                    <a:cs typeface="Arial" pitchFamily="34" charset="0"/>
                  </a:rPr>
                  <a:t>( )</a:t>
                </a:r>
              </a:p>
            </p:txBody>
          </p:sp>
          <p:sp>
            <p:nvSpPr>
              <p:cNvPr id="92223" name="Text Box 17"/>
              <p:cNvSpPr txBox="1">
                <a:spLocks noChangeArrowheads="1"/>
              </p:cNvSpPr>
              <p:nvPr/>
            </p:nvSpPr>
            <p:spPr bwMode="auto">
              <a:xfrm>
                <a:off x="1755" y="1971"/>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sp>
            <p:nvSpPr>
              <p:cNvPr id="92224" name="Text Box 18"/>
              <p:cNvSpPr txBox="1">
                <a:spLocks noChangeArrowheads="1"/>
              </p:cNvSpPr>
              <p:nvPr/>
            </p:nvSpPr>
            <p:spPr bwMode="auto">
              <a:xfrm>
                <a:off x="1638" y="2088"/>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grpSp>
          <p:nvGrpSpPr>
            <p:cNvPr id="92173" name="Group 19"/>
            <p:cNvGrpSpPr>
              <a:grpSpLocks/>
            </p:cNvGrpSpPr>
            <p:nvPr/>
          </p:nvGrpSpPr>
          <p:grpSpPr bwMode="auto">
            <a:xfrm>
              <a:off x="1664" y="2989"/>
              <a:ext cx="410" cy="327"/>
              <a:chOff x="2935" y="1573"/>
              <a:chExt cx="410" cy="327"/>
            </a:xfrm>
          </p:grpSpPr>
          <p:sp>
            <p:nvSpPr>
              <p:cNvPr id="92219" name="Oval 20"/>
              <p:cNvSpPr>
                <a:spLocks noChangeArrowheads="1"/>
              </p:cNvSpPr>
              <p:nvPr/>
            </p:nvSpPr>
            <p:spPr bwMode="auto">
              <a:xfrm>
                <a:off x="2935" y="1637"/>
                <a:ext cx="238" cy="211"/>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2220" name="Text Box 21"/>
              <p:cNvSpPr txBox="1">
                <a:spLocks noChangeArrowheads="1"/>
              </p:cNvSpPr>
              <p:nvPr/>
            </p:nvSpPr>
            <p:spPr bwMode="auto">
              <a:xfrm>
                <a:off x="2943" y="1573"/>
                <a:ext cx="4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50000"/>
                  </a:spcBef>
                </a:pPr>
                <a:r>
                  <a:rPr lang="en-US" altLang="en-US" sz="2800">
                    <a:latin typeface="Arial" pitchFamily="34" charset="0"/>
                    <a:cs typeface="Arial" pitchFamily="34" charset="0"/>
                  </a:rPr>
                  <a:t>+</a:t>
                </a:r>
              </a:p>
            </p:txBody>
          </p:sp>
        </p:grpSp>
        <p:grpSp>
          <p:nvGrpSpPr>
            <p:cNvPr id="92174" name="Group 22"/>
            <p:cNvGrpSpPr>
              <a:grpSpLocks/>
            </p:cNvGrpSpPr>
            <p:nvPr/>
          </p:nvGrpSpPr>
          <p:grpSpPr bwMode="auto">
            <a:xfrm>
              <a:off x="3560" y="2948"/>
              <a:ext cx="437" cy="327"/>
              <a:chOff x="2935" y="1546"/>
              <a:chExt cx="437" cy="327"/>
            </a:xfrm>
          </p:grpSpPr>
          <p:sp>
            <p:nvSpPr>
              <p:cNvPr id="92217" name="Oval 23"/>
              <p:cNvSpPr>
                <a:spLocks noChangeArrowheads="1"/>
              </p:cNvSpPr>
              <p:nvPr/>
            </p:nvSpPr>
            <p:spPr bwMode="auto">
              <a:xfrm>
                <a:off x="2935" y="1637"/>
                <a:ext cx="238" cy="211"/>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2218" name="Text Box 24"/>
              <p:cNvSpPr txBox="1">
                <a:spLocks noChangeArrowheads="1"/>
              </p:cNvSpPr>
              <p:nvPr/>
            </p:nvSpPr>
            <p:spPr bwMode="auto">
              <a:xfrm>
                <a:off x="2970" y="1546"/>
                <a:ext cx="4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50000"/>
                  </a:spcBef>
                </a:pPr>
                <a:r>
                  <a:rPr lang="en-US" altLang="en-US" sz="2800">
                    <a:latin typeface="Arial" pitchFamily="34" charset="0"/>
                    <a:cs typeface="Arial" pitchFamily="34" charset="0"/>
                  </a:rPr>
                  <a:t>-</a:t>
                </a:r>
              </a:p>
            </p:txBody>
          </p:sp>
        </p:grpSp>
        <p:sp>
          <p:nvSpPr>
            <p:cNvPr id="92175" name="Text Box 25"/>
            <p:cNvSpPr txBox="1">
              <a:spLocks noChangeArrowheads="1"/>
            </p:cNvSpPr>
            <p:nvPr/>
          </p:nvSpPr>
          <p:spPr bwMode="auto">
            <a:xfrm>
              <a:off x="4776" y="2598"/>
              <a:ext cx="5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H(m )</a:t>
              </a:r>
            </a:p>
          </p:txBody>
        </p:sp>
        <p:grpSp>
          <p:nvGrpSpPr>
            <p:cNvPr id="92176" name="Group 26"/>
            <p:cNvGrpSpPr>
              <a:grpSpLocks/>
            </p:cNvGrpSpPr>
            <p:nvPr/>
          </p:nvGrpSpPr>
          <p:grpSpPr bwMode="auto">
            <a:xfrm>
              <a:off x="1705" y="2439"/>
              <a:ext cx="715" cy="333"/>
              <a:chOff x="1778" y="2485"/>
              <a:chExt cx="715" cy="333"/>
            </a:xfrm>
          </p:grpSpPr>
          <p:sp>
            <p:nvSpPr>
              <p:cNvPr id="92215" name="Text Box 27"/>
              <p:cNvSpPr txBox="1">
                <a:spLocks noChangeArrowheads="1"/>
              </p:cNvSpPr>
              <p:nvPr/>
            </p:nvSpPr>
            <p:spPr bwMode="auto">
              <a:xfrm>
                <a:off x="1778" y="2587"/>
                <a:ext cx="7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A</a:t>
                </a:r>
                <a:r>
                  <a:rPr lang="en-US" altLang="en-US" sz="1800">
                    <a:latin typeface="Arial" pitchFamily="34" charset="0"/>
                    <a:cs typeface="Arial" pitchFamily="34" charset="0"/>
                  </a:rPr>
                  <a:t>(H(m))</a:t>
                </a:r>
              </a:p>
            </p:txBody>
          </p:sp>
          <p:sp>
            <p:nvSpPr>
              <p:cNvPr id="92216" name="Text Box 28"/>
              <p:cNvSpPr txBox="1">
                <a:spLocks noChangeArrowheads="1"/>
              </p:cNvSpPr>
              <p:nvPr/>
            </p:nvSpPr>
            <p:spPr bwMode="auto">
              <a:xfrm>
                <a:off x="1870" y="2485"/>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2177" name="Freeform 29"/>
            <p:cNvSpPr>
              <a:spLocks/>
            </p:cNvSpPr>
            <p:nvPr/>
          </p:nvSpPr>
          <p:spPr bwMode="auto">
            <a:xfrm flipV="1">
              <a:off x="554" y="3295"/>
              <a:ext cx="1234" cy="247"/>
            </a:xfrm>
            <a:custGeom>
              <a:avLst/>
              <a:gdLst>
                <a:gd name="T0" fmla="*/ 0 w 476"/>
                <a:gd name="T1" fmla="*/ 0 h 247"/>
                <a:gd name="T2" fmla="*/ 144489 w 476"/>
                <a:gd name="T3" fmla="*/ 0 h 247"/>
                <a:gd name="T4" fmla="*/ 144489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rot="10800000"/>
            <a:lstStyle/>
            <a:p>
              <a:endParaRPr lang="en-CA"/>
            </a:p>
          </p:txBody>
        </p:sp>
        <p:sp>
          <p:nvSpPr>
            <p:cNvPr id="92178" name="Text Box 30"/>
            <p:cNvSpPr txBox="1">
              <a:spLocks noChangeArrowheads="1"/>
            </p:cNvSpPr>
            <p:nvPr/>
          </p:nvSpPr>
          <p:spPr bwMode="auto">
            <a:xfrm>
              <a:off x="272" y="2634"/>
              <a:ext cx="2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m</a:t>
              </a:r>
            </a:p>
          </p:txBody>
        </p:sp>
        <p:grpSp>
          <p:nvGrpSpPr>
            <p:cNvPr id="92179" name="Group 31"/>
            <p:cNvGrpSpPr>
              <a:grpSpLocks/>
            </p:cNvGrpSpPr>
            <p:nvPr/>
          </p:nvGrpSpPr>
          <p:grpSpPr bwMode="auto">
            <a:xfrm>
              <a:off x="1193" y="2216"/>
              <a:ext cx="285" cy="299"/>
              <a:chOff x="2637" y="716"/>
              <a:chExt cx="285" cy="299"/>
            </a:xfrm>
          </p:grpSpPr>
          <p:sp>
            <p:nvSpPr>
              <p:cNvPr id="92213" name="Text Box 32"/>
              <p:cNvSpPr txBox="1">
                <a:spLocks noChangeArrowheads="1"/>
              </p:cNvSpPr>
              <p:nvPr/>
            </p:nvSpPr>
            <p:spPr bwMode="auto">
              <a:xfrm>
                <a:off x="2637" y="763"/>
                <a:ext cx="2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A</a:t>
                </a:r>
                <a:endParaRPr lang="en-US" altLang="en-US" sz="1800">
                  <a:latin typeface="Arial" pitchFamily="34" charset="0"/>
                  <a:cs typeface="Arial" pitchFamily="34" charset="0"/>
                </a:endParaRPr>
              </a:p>
            </p:txBody>
          </p:sp>
          <p:sp>
            <p:nvSpPr>
              <p:cNvPr id="92214" name="Text Box 33"/>
              <p:cNvSpPr txBox="1">
                <a:spLocks noChangeArrowheads="1"/>
              </p:cNvSpPr>
              <p:nvPr/>
            </p:nvSpPr>
            <p:spPr bwMode="auto">
              <a:xfrm>
                <a:off x="2735" y="716"/>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2180" name="Line 34"/>
            <p:cNvSpPr>
              <a:spLocks noChangeShapeType="1"/>
            </p:cNvSpPr>
            <p:nvPr/>
          </p:nvSpPr>
          <p:spPr bwMode="auto">
            <a:xfrm>
              <a:off x="1477" y="2389"/>
              <a:ext cx="9" cy="228"/>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92181" name="Picture 35" descr="BS00768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flipV="1">
              <a:off x="1493" y="2264"/>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82" name="Picture 36" descr="Alic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 y="2964"/>
              <a:ext cx="332"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3" name="Line 37"/>
            <p:cNvSpPr>
              <a:spLocks noChangeShapeType="1"/>
            </p:cNvSpPr>
            <p:nvPr/>
          </p:nvSpPr>
          <p:spPr bwMode="auto">
            <a:xfrm flipV="1">
              <a:off x="1930" y="3153"/>
              <a:ext cx="484" cy="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92184" name="Line 38"/>
            <p:cNvSpPr>
              <a:spLocks noChangeShapeType="1"/>
            </p:cNvSpPr>
            <p:nvPr/>
          </p:nvSpPr>
          <p:spPr bwMode="auto">
            <a:xfrm flipV="1">
              <a:off x="3114" y="3148"/>
              <a:ext cx="4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92185" name="Picture 39" descr="BS00592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86" y="2907"/>
              <a:ext cx="343"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6" name="Text Box 40"/>
            <p:cNvSpPr txBox="1">
              <a:spLocks noChangeArrowheads="1"/>
            </p:cNvSpPr>
            <p:nvPr/>
          </p:nvSpPr>
          <p:spPr bwMode="auto">
            <a:xfrm>
              <a:off x="2400" y="3125"/>
              <a:ext cx="60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Internet</a:t>
              </a:r>
            </a:p>
          </p:txBody>
        </p:sp>
        <p:sp>
          <p:nvSpPr>
            <p:cNvPr id="92187" name="Freeform 41"/>
            <p:cNvSpPr>
              <a:spLocks/>
            </p:cNvSpPr>
            <p:nvPr/>
          </p:nvSpPr>
          <p:spPr bwMode="auto">
            <a:xfrm flipH="1">
              <a:off x="3671" y="2774"/>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2188" name="Freeform 42"/>
            <p:cNvSpPr>
              <a:spLocks/>
            </p:cNvSpPr>
            <p:nvPr/>
          </p:nvSpPr>
          <p:spPr bwMode="auto">
            <a:xfrm flipH="1" flipV="1">
              <a:off x="3685" y="3300"/>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rot="10800000"/>
            <a:lstStyle/>
            <a:p>
              <a:endParaRPr lang="en-CA"/>
            </a:p>
          </p:txBody>
        </p:sp>
        <p:pic>
          <p:nvPicPr>
            <p:cNvPr id="92189" name="Picture 43" descr="Bob"/>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8" y="2916"/>
              <a:ext cx="405"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0" name="Text Box 44"/>
            <p:cNvSpPr txBox="1">
              <a:spLocks noChangeArrowheads="1"/>
            </p:cNvSpPr>
            <p:nvPr/>
          </p:nvSpPr>
          <p:spPr bwMode="auto">
            <a:xfrm>
              <a:off x="323" y="3435"/>
              <a:ext cx="2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m</a:t>
              </a:r>
            </a:p>
          </p:txBody>
        </p:sp>
        <p:grpSp>
          <p:nvGrpSpPr>
            <p:cNvPr id="92191" name="Group 45"/>
            <p:cNvGrpSpPr>
              <a:grpSpLocks/>
            </p:cNvGrpSpPr>
            <p:nvPr/>
          </p:nvGrpSpPr>
          <p:grpSpPr bwMode="auto">
            <a:xfrm>
              <a:off x="4152" y="2424"/>
              <a:ext cx="477" cy="466"/>
              <a:chOff x="1541" y="1971"/>
              <a:chExt cx="477" cy="466"/>
            </a:xfrm>
          </p:grpSpPr>
          <p:sp>
            <p:nvSpPr>
              <p:cNvPr id="92209" name="Rectangle 46"/>
              <p:cNvSpPr>
                <a:spLocks noChangeArrowheads="1"/>
              </p:cNvSpPr>
              <p:nvPr/>
            </p:nvSpPr>
            <p:spPr bwMode="auto">
              <a:xfrm>
                <a:off x="1543" y="2154"/>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2210" name="Text Box 47"/>
              <p:cNvSpPr txBox="1">
                <a:spLocks noChangeArrowheads="1"/>
              </p:cNvSpPr>
              <p:nvPr/>
            </p:nvSpPr>
            <p:spPr bwMode="auto">
              <a:xfrm>
                <a:off x="1541" y="2189"/>
                <a:ext cx="4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A</a:t>
                </a:r>
                <a:r>
                  <a:rPr lang="en-US" altLang="en-US" sz="1800">
                    <a:latin typeface="Arial" pitchFamily="34" charset="0"/>
                    <a:cs typeface="Arial" pitchFamily="34" charset="0"/>
                  </a:rPr>
                  <a:t>( )</a:t>
                </a:r>
              </a:p>
            </p:txBody>
          </p:sp>
          <p:sp>
            <p:nvSpPr>
              <p:cNvPr id="92211" name="Text Box 48"/>
              <p:cNvSpPr txBox="1">
                <a:spLocks noChangeArrowheads="1"/>
              </p:cNvSpPr>
              <p:nvPr/>
            </p:nvSpPr>
            <p:spPr bwMode="auto">
              <a:xfrm>
                <a:off x="1755" y="1971"/>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sp>
            <p:nvSpPr>
              <p:cNvPr id="92212" name="Text Box 49"/>
              <p:cNvSpPr txBox="1">
                <a:spLocks noChangeArrowheads="1"/>
              </p:cNvSpPr>
              <p:nvPr/>
            </p:nvSpPr>
            <p:spPr bwMode="auto">
              <a:xfrm>
                <a:off x="1633" y="2088"/>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2192" name="Line 50"/>
            <p:cNvSpPr>
              <a:spLocks noChangeShapeType="1"/>
            </p:cNvSpPr>
            <p:nvPr/>
          </p:nvSpPr>
          <p:spPr bwMode="auto">
            <a:xfrm>
              <a:off x="4562" y="2375"/>
              <a:ext cx="9" cy="228"/>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92193" name="Picture 51" descr="BS00768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flipV="1">
              <a:off x="4610" y="2321"/>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194" name="Group 52"/>
            <p:cNvGrpSpPr>
              <a:grpSpLocks/>
            </p:cNvGrpSpPr>
            <p:nvPr/>
          </p:nvGrpSpPr>
          <p:grpSpPr bwMode="auto">
            <a:xfrm>
              <a:off x="4279" y="2202"/>
              <a:ext cx="303" cy="299"/>
              <a:chOff x="2637" y="716"/>
              <a:chExt cx="303" cy="299"/>
            </a:xfrm>
          </p:grpSpPr>
          <p:sp>
            <p:nvSpPr>
              <p:cNvPr id="92207" name="Text Box 53"/>
              <p:cNvSpPr txBox="1">
                <a:spLocks noChangeArrowheads="1"/>
              </p:cNvSpPr>
              <p:nvPr/>
            </p:nvSpPr>
            <p:spPr bwMode="auto">
              <a:xfrm>
                <a:off x="2637" y="763"/>
                <a:ext cx="2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A</a:t>
                </a:r>
                <a:endParaRPr lang="en-US" altLang="en-US" sz="1800">
                  <a:latin typeface="Arial" pitchFamily="34" charset="0"/>
                  <a:cs typeface="Arial" pitchFamily="34" charset="0"/>
                </a:endParaRPr>
              </a:p>
            </p:txBody>
          </p:sp>
          <p:sp>
            <p:nvSpPr>
              <p:cNvPr id="92208" name="Text Box 54"/>
              <p:cNvSpPr txBox="1">
                <a:spLocks noChangeArrowheads="1"/>
              </p:cNvSpPr>
              <p:nvPr/>
            </p:nvSpPr>
            <p:spPr bwMode="auto">
              <a:xfrm>
                <a:off x="2730" y="716"/>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grpSp>
          <p:nvGrpSpPr>
            <p:cNvPr id="92195" name="Group 55"/>
            <p:cNvGrpSpPr>
              <a:grpSpLocks/>
            </p:cNvGrpSpPr>
            <p:nvPr/>
          </p:nvGrpSpPr>
          <p:grpSpPr bwMode="auto">
            <a:xfrm>
              <a:off x="3419" y="2434"/>
              <a:ext cx="715" cy="333"/>
              <a:chOff x="1778" y="2485"/>
              <a:chExt cx="715" cy="333"/>
            </a:xfrm>
          </p:grpSpPr>
          <p:sp>
            <p:nvSpPr>
              <p:cNvPr id="92205" name="Text Box 56"/>
              <p:cNvSpPr txBox="1">
                <a:spLocks noChangeArrowheads="1"/>
              </p:cNvSpPr>
              <p:nvPr/>
            </p:nvSpPr>
            <p:spPr bwMode="auto">
              <a:xfrm>
                <a:off x="1778" y="2587"/>
                <a:ext cx="7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A</a:t>
                </a:r>
                <a:r>
                  <a:rPr lang="en-US" altLang="en-US" sz="1800">
                    <a:latin typeface="Arial" pitchFamily="34" charset="0"/>
                    <a:cs typeface="Arial" pitchFamily="34" charset="0"/>
                  </a:rPr>
                  <a:t>(H(m))</a:t>
                </a:r>
              </a:p>
            </p:txBody>
          </p:sp>
          <p:sp>
            <p:nvSpPr>
              <p:cNvPr id="92206" name="Text Box 57"/>
              <p:cNvSpPr txBox="1">
                <a:spLocks noChangeArrowheads="1"/>
              </p:cNvSpPr>
              <p:nvPr/>
            </p:nvSpPr>
            <p:spPr bwMode="auto">
              <a:xfrm>
                <a:off x="1870" y="2485"/>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2196" name="Text Box 58"/>
            <p:cNvSpPr txBox="1">
              <a:spLocks noChangeArrowheads="1"/>
            </p:cNvSpPr>
            <p:nvPr/>
          </p:nvSpPr>
          <p:spPr bwMode="auto">
            <a:xfrm>
              <a:off x="3664" y="3531"/>
              <a:ext cx="2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m</a:t>
              </a:r>
            </a:p>
          </p:txBody>
        </p:sp>
        <p:grpSp>
          <p:nvGrpSpPr>
            <p:cNvPr id="92197" name="Group 59"/>
            <p:cNvGrpSpPr>
              <a:grpSpLocks/>
            </p:cNvGrpSpPr>
            <p:nvPr/>
          </p:nvGrpSpPr>
          <p:grpSpPr bwMode="auto">
            <a:xfrm>
              <a:off x="4165" y="3202"/>
              <a:ext cx="475" cy="457"/>
              <a:chOff x="694" y="2457"/>
              <a:chExt cx="475" cy="457"/>
            </a:xfrm>
          </p:grpSpPr>
          <p:sp>
            <p:nvSpPr>
              <p:cNvPr id="92202" name="Rectangle 60"/>
              <p:cNvSpPr>
                <a:spLocks noChangeArrowheads="1"/>
              </p:cNvSpPr>
              <p:nvPr/>
            </p:nvSpPr>
            <p:spPr bwMode="auto">
              <a:xfrm>
                <a:off x="694" y="2631"/>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2203" name="Text Box 61"/>
              <p:cNvSpPr txBox="1">
                <a:spLocks noChangeArrowheads="1"/>
              </p:cNvSpPr>
              <p:nvPr/>
            </p:nvSpPr>
            <p:spPr bwMode="auto">
              <a:xfrm>
                <a:off x="754" y="2657"/>
                <a:ext cx="35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H( )</a:t>
                </a:r>
              </a:p>
            </p:txBody>
          </p:sp>
          <p:sp>
            <p:nvSpPr>
              <p:cNvPr id="92204" name="Text Box 62"/>
              <p:cNvSpPr txBox="1">
                <a:spLocks noChangeArrowheads="1"/>
              </p:cNvSpPr>
              <p:nvPr/>
            </p:nvSpPr>
            <p:spPr bwMode="auto">
              <a:xfrm>
                <a:off x="907" y="2457"/>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grpSp>
        <p:sp>
          <p:nvSpPr>
            <p:cNvPr id="92198" name="Freeform 63"/>
            <p:cNvSpPr>
              <a:spLocks/>
            </p:cNvSpPr>
            <p:nvPr/>
          </p:nvSpPr>
          <p:spPr bwMode="auto">
            <a:xfrm flipV="1">
              <a:off x="4657" y="3295"/>
              <a:ext cx="192" cy="247"/>
            </a:xfrm>
            <a:custGeom>
              <a:avLst/>
              <a:gdLst>
                <a:gd name="T0" fmla="*/ 0 w 476"/>
                <a:gd name="T1" fmla="*/ 0 h 247"/>
                <a:gd name="T2" fmla="*/ 2 w 476"/>
                <a:gd name="T3" fmla="*/ 0 h 247"/>
                <a:gd name="T4" fmla="*/ 2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rot="10800000"/>
            <a:lstStyle/>
            <a:p>
              <a:endParaRPr lang="en-CA"/>
            </a:p>
          </p:txBody>
        </p:sp>
        <p:sp>
          <p:nvSpPr>
            <p:cNvPr id="92199" name="Freeform 64"/>
            <p:cNvSpPr>
              <a:spLocks/>
            </p:cNvSpPr>
            <p:nvPr/>
          </p:nvSpPr>
          <p:spPr bwMode="auto">
            <a:xfrm>
              <a:off x="4644" y="2743"/>
              <a:ext cx="192" cy="247"/>
            </a:xfrm>
            <a:custGeom>
              <a:avLst/>
              <a:gdLst>
                <a:gd name="T0" fmla="*/ 0 w 476"/>
                <a:gd name="T1" fmla="*/ 0 h 247"/>
                <a:gd name="T2" fmla="*/ 2 w 476"/>
                <a:gd name="T3" fmla="*/ 0 h 247"/>
                <a:gd name="T4" fmla="*/ 2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2200" name="Text Box 65"/>
            <p:cNvSpPr txBox="1">
              <a:spLocks noChangeArrowheads="1"/>
            </p:cNvSpPr>
            <p:nvPr/>
          </p:nvSpPr>
          <p:spPr bwMode="auto">
            <a:xfrm>
              <a:off x="4809" y="3471"/>
              <a:ext cx="5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H(m )</a:t>
              </a:r>
            </a:p>
          </p:txBody>
        </p:sp>
        <p:sp>
          <p:nvSpPr>
            <p:cNvPr id="92201" name="Text Box 66"/>
            <p:cNvSpPr txBox="1">
              <a:spLocks noChangeArrowheads="1"/>
            </p:cNvSpPr>
            <p:nvPr/>
          </p:nvSpPr>
          <p:spPr bwMode="auto">
            <a:xfrm>
              <a:off x="4383" y="3019"/>
              <a:ext cx="8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solidFill>
                    <a:srgbClr val="FF0000"/>
                  </a:solidFill>
                  <a:latin typeface="Arial" pitchFamily="34" charset="0"/>
                  <a:cs typeface="Arial" pitchFamily="34" charset="0"/>
                </a:rPr>
                <a:t>compare</a:t>
              </a:r>
            </a:p>
          </p:txBody>
        </p:sp>
      </p:grpSp>
      <p:pic>
        <p:nvPicPr>
          <p:cNvPr id="92166" name="Picture 19" descr="underline_bas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0238" y="1035050"/>
            <a:ext cx="5942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94210" name="Rectangle 2"/>
          <p:cNvSpPr>
            <a:spLocks noGrp="1" noChangeArrowheads="1"/>
          </p:cNvSpPr>
          <p:nvPr>
            <p:ph type="title"/>
          </p:nvPr>
        </p:nvSpPr>
        <p:spPr/>
        <p:txBody>
          <a:bodyPr/>
          <a:lstStyle/>
          <a:p>
            <a:r>
              <a:rPr lang="en-US" altLang="en-US" sz="4800" smtClean="0">
                <a:ea typeface="ＭＳ Ｐゴシック" pitchFamily="34" charset="-128"/>
              </a:rPr>
              <a:t>Secure e-mail </a:t>
            </a:r>
            <a:r>
              <a:rPr lang="en-US" altLang="en-US" sz="4000" smtClean="0">
                <a:ea typeface="ＭＳ Ｐゴシック" pitchFamily="34" charset="-128"/>
              </a:rPr>
              <a:t>(continued)</a:t>
            </a:r>
          </a:p>
        </p:txBody>
      </p:sp>
      <p:sp>
        <p:nvSpPr>
          <p:cNvPr id="94211" name="Text Box 3"/>
          <p:cNvSpPr txBox="1">
            <a:spLocks noChangeArrowheads="1"/>
          </p:cNvSpPr>
          <p:nvPr/>
        </p:nvSpPr>
        <p:spPr bwMode="auto">
          <a:xfrm>
            <a:off x="527050" y="1314450"/>
            <a:ext cx="72040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buClr>
                <a:srgbClr val="000099"/>
              </a:buClr>
              <a:buSzPct val="75000"/>
              <a:buFont typeface="Wingdings" pitchFamily="2" charset="2"/>
              <a:buChar char="v"/>
            </a:pPr>
            <a:r>
              <a:rPr lang="en-US" altLang="en-US" sz="2400">
                <a:latin typeface="Gill Sans MT" pitchFamily="34" charset="0"/>
              </a:rPr>
              <a:t> Alice wants to provide secrecy, sender authentication, </a:t>
            </a:r>
            <a:br>
              <a:rPr lang="en-US" altLang="en-US" sz="2400">
                <a:latin typeface="Gill Sans MT" pitchFamily="34" charset="0"/>
              </a:rPr>
            </a:br>
            <a:r>
              <a:rPr lang="en-US" altLang="en-US" sz="2400">
                <a:latin typeface="Gill Sans MT" pitchFamily="34" charset="0"/>
              </a:rPr>
              <a:t>   message integrity.</a:t>
            </a:r>
          </a:p>
        </p:txBody>
      </p:sp>
      <p:sp>
        <p:nvSpPr>
          <p:cNvPr id="94212" name="Text Box 4"/>
          <p:cNvSpPr txBox="1">
            <a:spLocks noChangeArrowheads="1"/>
          </p:cNvSpPr>
          <p:nvPr/>
        </p:nvSpPr>
        <p:spPr bwMode="auto">
          <a:xfrm>
            <a:off x="885825" y="5605463"/>
            <a:ext cx="75914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i="1">
                <a:solidFill>
                  <a:srgbClr val="C00000"/>
                </a:solidFill>
                <a:latin typeface="Gill Sans MT" pitchFamily="34" charset="0"/>
              </a:rPr>
              <a:t>Alice uses three keys: </a:t>
            </a:r>
            <a:r>
              <a:rPr lang="en-US" altLang="en-US" sz="2400">
                <a:latin typeface="Gill Sans MT" pitchFamily="34" charset="0"/>
              </a:rPr>
              <a:t>her private key, Bob</a:t>
            </a:r>
            <a:r>
              <a:rPr lang="ja-JP" altLang="en-US" sz="2400">
                <a:latin typeface="Gill Sans MT" pitchFamily="34" charset="0"/>
              </a:rPr>
              <a:t>’</a:t>
            </a:r>
            <a:r>
              <a:rPr lang="en-US" altLang="ja-JP" sz="2400">
                <a:latin typeface="Gill Sans MT" pitchFamily="34" charset="0"/>
              </a:rPr>
              <a:t>s public key, newly created symmetric key</a:t>
            </a:r>
            <a:endParaRPr lang="en-US" altLang="en-US" sz="2400">
              <a:latin typeface="Gill Sans MT" pitchFamily="34" charset="0"/>
            </a:endParaRPr>
          </a:p>
        </p:txBody>
      </p:sp>
      <p:grpSp>
        <p:nvGrpSpPr>
          <p:cNvPr id="94213" name="Group 5"/>
          <p:cNvGrpSpPr>
            <a:grpSpLocks/>
          </p:cNvGrpSpPr>
          <p:nvPr/>
        </p:nvGrpSpPr>
        <p:grpSpPr bwMode="auto">
          <a:xfrm>
            <a:off x="1023938" y="1936750"/>
            <a:ext cx="6983412" cy="3552825"/>
            <a:chOff x="819" y="1470"/>
            <a:chExt cx="4399" cy="2238"/>
          </a:xfrm>
        </p:grpSpPr>
        <p:sp>
          <p:nvSpPr>
            <p:cNvPr id="94215" name="Freeform 6"/>
            <p:cNvSpPr>
              <a:spLocks/>
            </p:cNvSpPr>
            <p:nvPr/>
          </p:nvSpPr>
          <p:spPr bwMode="auto">
            <a:xfrm>
              <a:off x="1809" y="2083"/>
              <a:ext cx="623" cy="256"/>
            </a:xfrm>
            <a:custGeom>
              <a:avLst/>
              <a:gdLst>
                <a:gd name="T0" fmla="*/ 0 w 476"/>
                <a:gd name="T1" fmla="*/ 0 h 247"/>
                <a:gd name="T2" fmla="*/ 2393 w 476"/>
                <a:gd name="T3" fmla="*/ 0 h 247"/>
                <a:gd name="T4" fmla="*/ 2393 w 476"/>
                <a:gd name="T5" fmla="*/ 306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4216" name="Line 7"/>
            <p:cNvSpPr>
              <a:spLocks noChangeShapeType="1"/>
            </p:cNvSpPr>
            <p:nvPr/>
          </p:nvSpPr>
          <p:spPr bwMode="auto">
            <a:xfrm flipV="1">
              <a:off x="1131" y="2086"/>
              <a:ext cx="227" cy="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94217" name="Group 8"/>
            <p:cNvGrpSpPr>
              <a:grpSpLocks/>
            </p:cNvGrpSpPr>
            <p:nvPr/>
          </p:nvGrpSpPr>
          <p:grpSpPr bwMode="auto">
            <a:xfrm>
              <a:off x="1352" y="1771"/>
              <a:ext cx="475" cy="457"/>
              <a:chOff x="694" y="2457"/>
              <a:chExt cx="475" cy="457"/>
            </a:xfrm>
          </p:grpSpPr>
          <p:sp>
            <p:nvSpPr>
              <p:cNvPr id="94270" name="Rectangle 9"/>
              <p:cNvSpPr>
                <a:spLocks noChangeArrowheads="1"/>
              </p:cNvSpPr>
              <p:nvPr/>
            </p:nvSpPr>
            <p:spPr bwMode="auto">
              <a:xfrm>
                <a:off x="694" y="2631"/>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4271" name="Text Box 10"/>
              <p:cNvSpPr txBox="1">
                <a:spLocks noChangeArrowheads="1"/>
              </p:cNvSpPr>
              <p:nvPr/>
            </p:nvSpPr>
            <p:spPr bwMode="auto">
              <a:xfrm>
                <a:off x="754" y="2657"/>
                <a:ext cx="35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H( )</a:t>
                </a:r>
              </a:p>
            </p:txBody>
          </p:sp>
          <p:sp>
            <p:nvSpPr>
              <p:cNvPr id="94272" name="Text Box 11"/>
              <p:cNvSpPr txBox="1">
                <a:spLocks noChangeArrowheads="1"/>
              </p:cNvSpPr>
              <p:nvPr/>
            </p:nvSpPr>
            <p:spPr bwMode="auto">
              <a:xfrm>
                <a:off x="907" y="2457"/>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grpSp>
        <p:grpSp>
          <p:nvGrpSpPr>
            <p:cNvPr id="94218" name="Group 12"/>
            <p:cNvGrpSpPr>
              <a:grpSpLocks/>
            </p:cNvGrpSpPr>
            <p:nvPr/>
          </p:nvGrpSpPr>
          <p:grpSpPr bwMode="auto">
            <a:xfrm>
              <a:off x="1898" y="1751"/>
              <a:ext cx="477" cy="466"/>
              <a:chOff x="1541" y="1971"/>
              <a:chExt cx="477" cy="466"/>
            </a:xfrm>
          </p:grpSpPr>
          <p:sp>
            <p:nvSpPr>
              <p:cNvPr id="94266" name="Rectangle 13"/>
              <p:cNvSpPr>
                <a:spLocks noChangeArrowheads="1"/>
              </p:cNvSpPr>
              <p:nvPr/>
            </p:nvSpPr>
            <p:spPr bwMode="auto">
              <a:xfrm>
                <a:off x="1543" y="2154"/>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4267" name="Text Box 14"/>
              <p:cNvSpPr txBox="1">
                <a:spLocks noChangeArrowheads="1"/>
              </p:cNvSpPr>
              <p:nvPr/>
            </p:nvSpPr>
            <p:spPr bwMode="auto">
              <a:xfrm>
                <a:off x="1541" y="2189"/>
                <a:ext cx="4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A</a:t>
                </a:r>
                <a:r>
                  <a:rPr lang="en-US" altLang="en-US" sz="1800">
                    <a:latin typeface="Arial" pitchFamily="34" charset="0"/>
                    <a:cs typeface="Arial" pitchFamily="34" charset="0"/>
                  </a:rPr>
                  <a:t>( )</a:t>
                </a:r>
              </a:p>
            </p:txBody>
          </p:sp>
          <p:sp>
            <p:nvSpPr>
              <p:cNvPr id="94268" name="Text Box 15"/>
              <p:cNvSpPr txBox="1">
                <a:spLocks noChangeArrowheads="1"/>
              </p:cNvSpPr>
              <p:nvPr/>
            </p:nvSpPr>
            <p:spPr bwMode="auto">
              <a:xfrm>
                <a:off x="1755" y="1971"/>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sp>
            <p:nvSpPr>
              <p:cNvPr id="94269" name="Text Box 16"/>
              <p:cNvSpPr txBox="1">
                <a:spLocks noChangeArrowheads="1"/>
              </p:cNvSpPr>
              <p:nvPr/>
            </p:nvSpPr>
            <p:spPr bwMode="auto">
              <a:xfrm>
                <a:off x="1638" y="2088"/>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grpSp>
          <p:nvGrpSpPr>
            <p:cNvPr id="94219" name="Group 17"/>
            <p:cNvGrpSpPr>
              <a:grpSpLocks/>
            </p:cNvGrpSpPr>
            <p:nvPr/>
          </p:nvGrpSpPr>
          <p:grpSpPr bwMode="auto">
            <a:xfrm>
              <a:off x="2321" y="2303"/>
              <a:ext cx="402" cy="327"/>
              <a:chOff x="2934" y="1573"/>
              <a:chExt cx="402" cy="327"/>
            </a:xfrm>
          </p:grpSpPr>
          <p:sp>
            <p:nvSpPr>
              <p:cNvPr id="94264" name="Oval 18"/>
              <p:cNvSpPr>
                <a:spLocks noChangeArrowheads="1"/>
              </p:cNvSpPr>
              <p:nvPr/>
            </p:nvSpPr>
            <p:spPr bwMode="auto">
              <a:xfrm>
                <a:off x="2935" y="1637"/>
                <a:ext cx="238" cy="211"/>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4265" name="Text Box 19"/>
              <p:cNvSpPr txBox="1">
                <a:spLocks noChangeArrowheads="1"/>
              </p:cNvSpPr>
              <p:nvPr/>
            </p:nvSpPr>
            <p:spPr bwMode="auto">
              <a:xfrm>
                <a:off x="2934" y="1573"/>
                <a:ext cx="4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50000"/>
                  </a:spcBef>
                </a:pPr>
                <a:r>
                  <a:rPr lang="en-US" altLang="en-US" sz="2800">
                    <a:latin typeface="Arial" pitchFamily="34" charset="0"/>
                    <a:cs typeface="Arial" pitchFamily="34" charset="0"/>
                  </a:rPr>
                  <a:t>+</a:t>
                </a:r>
              </a:p>
            </p:txBody>
          </p:sp>
        </p:grpSp>
        <p:grpSp>
          <p:nvGrpSpPr>
            <p:cNvPr id="94220" name="Group 20"/>
            <p:cNvGrpSpPr>
              <a:grpSpLocks/>
            </p:cNvGrpSpPr>
            <p:nvPr/>
          </p:nvGrpSpPr>
          <p:grpSpPr bwMode="auto">
            <a:xfrm>
              <a:off x="2363" y="1753"/>
              <a:ext cx="715" cy="333"/>
              <a:chOff x="1778" y="2485"/>
              <a:chExt cx="715" cy="333"/>
            </a:xfrm>
          </p:grpSpPr>
          <p:sp>
            <p:nvSpPr>
              <p:cNvPr id="94262" name="Text Box 21"/>
              <p:cNvSpPr txBox="1">
                <a:spLocks noChangeArrowheads="1"/>
              </p:cNvSpPr>
              <p:nvPr/>
            </p:nvSpPr>
            <p:spPr bwMode="auto">
              <a:xfrm>
                <a:off x="1778" y="2587"/>
                <a:ext cx="7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A</a:t>
                </a:r>
                <a:r>
                  <a:rPr lang="en-US" altLang="en-US" sz="1800">
                    <a:latin typeface="Arial" pitchFamily="34" charset="0"/>
                    <a:cs typeface="Arial" pitchFamily="34" charset="0"/>
                  </a:rPr>
                  <a:t>(H(m))</a:t>
                </a:r>
              </a:p>
            </p:txBody>
          </p:sp>
          <p:sp>
            <p:nvSpPr>
              <p:cNvPr id="94263" name="Text Box 22"/>
              <p:cNvSpPr txBox="1">
                <a:spLocks noChangeArrowheads="1"/>
              </p:cNvSpPr>
              <p:nvPr/>
            </p:nvSpPr>
            <p:spPr bwMode="auto">
              <a:xfrm>
                <a:off x="1870" y="2485"/>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4221" name="Freeform 23"/>
            <p:cNvSpPr>
              <a:spLocks/>
            </p:cNvSpPr>
            <p:nvPr/>
          </p:nvSpPr>
          <p:spPr bwMode="auto">
            <a:xfrm flipV="1">
              <a:off x="1212" y="2609"/>
              <a:ext cx="1234" cy="247"/>
            </a:xfrm>
            <a:custGeom>
              <a:avLst/>
              <a:gdLst>
                <a:gd name="T0" fmla="*/ 0 w 476"/>
                <a:gd name="T1" fmla="*/ 0 h 247"/>
                <a:gd name="T2" fmla="*/ 144489 w 476"/>
                <a:gd name="T3" fmla="*/ 0 h 247"/>
                <a:gd name="T4" fmla="*/ 144489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4222" name="Text Box 24"/>
            <p:cNvSpPr txBox="1">
              <a:spLocks noChangeArrowheads="1"/>
            </p:cNvSpPr>
            <p:nvPr/>
          </p:nvSpPr>
          <p:spPr bwMode="auto">
            <a:xfrm>
              <a:off x="930" y="1948"/>
              <a:ext cx="2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m</a:t>
              </a:r>
            </a:p>
          </p:txBody>
        </p:sp>
        <p:grpSp>
          <p:nvGrpSpPr>
            <p:cNvPr id="94223" name="Group 25"/>
            <p:cNvGrpSpPr>
              <a:grpSpLocks/>
            </p:cNvGrpSpPr>
            <p:nvPr/>
          </p:nvGrpSpPr>
          <p:grpSpPr bwMode="auto">
            <a:xfrm>
              <a:off x="1866" y="1470"/>
              <a:ext cx="285" cy="359"/>
              <a:chOff x="2652" y="656"/>
              <a:chExt cx="285" cy="359"/>
            </a:xfrm>
          </p:grpSpPr>
          <p:sp>
            <p:nvSpPr>
              <p:cNvPr id="94260" name="Text Box 26"/>
              <p:cNvSpPr txBox="1">
                <a:spLocks noChangeArrowheads="1"/>
              </p:cNvSpPr>
              <p:nvPr/>
            </p:nvSpPr>
            <p:spPr bwMode="auto">
              <a:xfrm>
                <a:off x="2652" y="763"/>
                <a:ext cx="2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A</a:t>
                </a:r>
                <a:endParaRPr lang="en-US" altLang="en-US" sz="1800">
                  <a:latin typeface="Arial" pitchFamily="34" charset="0"/>
                  <a:cs typeface="Arial" pitchFamily="34" charset="0"/>
                </a:endParaRPr>
              </a:p>
            </p:txBody>
          </p:sp>
          <p:sp>
            <p:nvSpPr>
              <p:cNvPr id="94261" name="Text Box 27"/>
              <p:cNvSpPr txBox="1">
                <a:spLocks noChangeArrowheads="1"/>
              </p:cNvSpPr>
              <p:nvPr/>
            </p:nvSpPr>
            <p:spPr bwMode="auto">
              <a:xfrm>
                <a:off x="2756" y="656"/>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4224" name="Line 28"/>
            <p:cNvSpPr>
              <a:spLocks noChangeShapeType="1"/>
            </p:cNvSpPr>
            <p:nvPr/>
          </p:nvSpPr>
          <p:spPr bwMode="auto">
            <a:xfrm>
              <a:off x="2135" y="1703"/>
              <a:ext cx="9" cy="228"/>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94225" name="Picture 29"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2177" y="1559"/>
              <a:ext cx="26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26" name="Picture 30" descr="Ali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 y="2278"/>
              <a:ext cx="332"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27" name="Text Box 31"/>
            <p:cNvSpPr txBox="1">
              <a:spLocks noChangeArrowheads="1"/>
            </p:cNvSpPr>
            <p:nvPr/>
          </p:nvSpPr>
          <p:spPr bwMode="auto">
            <a:xfrm>
              <a:off x="981" y="2749"/>
              <a:ext cx="2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m</a:t>
              </a:r>
            </a:p>
          </p:txBody>
        </p:sp>
        <p:sp>
          <p:nvSpPr>
            <p:cNvPr id="94228" name="Freeform 32"/>
            <p:cNvSpPr>
              <a:spLocks/>
            </p:cNvSpPr>
            <p:nvPr/>
          </p:nvSpPr>
          <p:spPr bwMode="auto">
            <a:xfrm>
              <a:off x="4377" y="2657"/>
              <a:ext cx="841" cy="493"/>
            </a:xfrm>
            <a:custGeom>
              <a:avLst/>
              <a:gdLst>
                <a:gd name="T0" fmla="*/ 0 w 2135"/>
                <a:gd name="T1" fmla="*/ 0 h 1662"/>
                <a:gd name="T2" fmla="*/ 0 w 2135"/>
                <a:gd name="T3" fmla="*/ 0 h 1662"/>
                <a:gd name="T4" fmla="*/ 2 w 2135"/>
                <a:gd name="T5" fmla="*/ 0 h 1662"/>
                <a:gd name="T6" fmla="*/ 4 w 2135"/>
                <a:gd name="T7" fmla="*/ 0 h 1662"/>
                <a:gd name="T8" fmla="*/ 7 w 2135"/>
                <a:gd name="T9" fmla="*/ 0 h 1662"/>
                <a:gd name="T10" fmla="*/ 7 w 2135"/>
                <a:gd name="T11" fmla="*/ 1 h 1662"/>
                <a:gd name="T12" fmla="*/ 6 w 2135"/>
                <a:gd name="T13" fmla="*/ 1 h 1662"/>
                <a:gd name="T14" fmla="*/ 3 w 2135"/>
                <a:gd name="T15" fmla="*/ 1 h 1662"/>
                <a:gd name="T16" fmla="*/ 2 w 2135"/>
                <a:gd name="T17" fmla="*/ 1 h 1662"/>
                <a:gd name="T18" fmla="*/ 1 w 2135"/>
                <a:gd name="T19" fmla="*/ 1 h 1662"/>
                <a:gd name="T20" fmla="*/ 0 w 2135"/>
                <a:gd name="T21" fmla="*/ 0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94229" name="Line 33"/>
            <p:cNvSpPr>
              <a:spLocks noChangeShapeType="1"/>
            </p:cNvSpPr>
            <p:nvPr/>
          </p:nvSpPr>
          <p:spPr bwMode="auto">
            <a:xfrm>
              <a:off x="2557" y="2458"/>
              <a:ext cx="31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94230" name="Picture 34"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3505" y="1977"/>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31" name="Picture 35" descr="BS00592_[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42" y="2606"/>
              <a:ext cx="343"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4232" name="Group 36"/>
            <p:cNvGrpSpPr>
              <a:grpSpLocks/>
            </p:cNvGrpSpPr>
            <p:nvPr/>
          </p:nvGrpSpPr>
          <p:grpSpPr bwMode="auto">
            <a:xfrm>
              <a:off x="2870" y="2152"/>
              <a:ext cx="475" cy="466"/>
              <a:chOff x="1645" y="256"/>
              <a:chExt cx="475" cy="466"/>
            </a:xfrm>
          </p:grpSpPr>
          <p:sp>
            <p:nvSpPr>
              <p:cNvPr id="94257" name="Rectangle 37"/>
              <p:cNvSpPr>
                <a:spLocks noChangeArrowheads="1"/>
              </p:cNvSpPr>
              <p:nvPr/>
            </p:nvSpPr>
            <p:spPr bwMode="auto">
              <a:xfrm>
                <a:off x="1645" y="439"/>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4258" name="Text Box 38"/>
              <p:cNvSpPr txBox="1">
                <a:spLocks noChangeArrowheads="1"/>
              </p:cNvSpPr>
              <p:nvPr/>
            </p:nvSpPr>
            <p:spPr bwMode="auto">
              <a:xfrm>
                <a:off x="1654" y="456"/>
                <a:ext cx="4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94259" name="Text Box 39"/>
              <p:cNvSpPr txBox="1">
                <a:spLocks noChangeArrowheads="1"/>
              </p:cNvSpPr>
              <p:nvPr/>
            </p:nvSpPr>
            <p:spPr bwMode="auto">
              <a:xfrm>
                <a:off x="1876" y="256"/>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grpSp>
        <p:grpSp>
          <p:nvGrpSpPr>
            <p:cNvPr id="94233" name="Group 40"/>
            <p:cNvGrpSpPr>
              <a:grpSpLocks/>
            </p:cNvGrpSpPr>
            <p:nvPr/>
          </p:nvGrpSpPr>
          <p:grpSpPr bwMode="auto">
            <a:xfrm>
              <a:off x="2885" y="2908"/>
              <a:ext cx="475" cy="466"/>
              <a:chOff x="2144" y="3214"/>
              <a:chExt cx="475" cy="466"/>
            </a:xfrm>
          </p:grpSpPr>
          <p:sp>
            <p:nvSpPr>
              <p:cNvPr id="94253" name="Rectangle 41"/>
              <p:cNvSpPr>
                <a:spLocks noChangeArrowheads="1"/>
              </p:cNvSpPr>
              <p:nvPr/>
            </p:nvSpPr>
            <p:spPr bwMode="auto">
              <a:xfrm>
                <a:off x="2144" y="3397"/>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4254" name="Text Box 42"/>
              <p:cNvSpPr txBox="1">
                <a:spLocks noChangeArrowheads="1"/>
              </p:cNvSpPr>
              <p:nvPr/>
            </p:nvSpPr>
            <p:spPr bwMode="auto">
              <a:xfrm>
                <a:off x="2148" y="3432"/>
                <a:ext cx="43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r>
                  <a:rPr lang="en-US" altLang="en-US" sz="1800">
                    <a:latin typeface="Arial" pitchFamily="34" charset="0"/>
                    <a:cs typeface="Arial" pitchFamily="34" charset="0"/>
                  </a:rPr>
                  <a:t>( )</a:t>
                </a:r>
              </a:p>
            </p:txBody>
          </p:sp>
          <p:sp>
            <p:nvSpPr>
              <p:cNvPr id="94255" name="Text Box 43"/>
              <p:cNvSpPr txBox="1">
                <a:spLocks noChangeArrowheads="1"/>
              </p:cNvSpPr>
              <p:nvPr/>
            </p:nvSpPr>
            <p:spPr bwMode="auto">
              <a:xfrm>
                <a:off x="2356" y="3214"/>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latin typeface="Arial" pitchFamily="34" charset="0"/>
                    <a:cs typeface="Arial" pitchFamily="34" charset="0"/>
                  </a:rPr>
                  <a:t>.</a:t>
                </a:r>
              </a:p>
            </p:txBody>
          </p:sp>
          <p:sp>
            <p:nvSpPr>
              <p:cNvPr id="94256" name="Text Box 44"/>
              <p:cNvSpPr txBox="1">
                <a:spLocks noChangeArrowheads="1"/>
              </p:cNvSpPr>
              <p:nvPr/>
            </p:nvSpPr>
            <p:spPr bwMode="auto">
              <a:xfrm>
                <a:off x="2234" y="3331"/>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grpSp>
          <p:nvGrpSpPr>
            <p:cNvPr id="94234" name="Group 45"/>
            <p:cNvGrpSpPr>
              <a:grpSpLocks/>
            </p:cNvGrpSpPr>
            <p:nvPr/>
          </p:nvGrpSpPr>
          <p:grpSpPr bwMode="auto">
            <a:xfrm>
              <a:off x="3712" y="2674"/>
              <a:ext cx="410" cy="327"/>
              <a:chOff x="2935" y="1573"/>
              <a:chExt cx="410" cy="327"/>
            </a:xfrm>
          </p:grpSpPr>
          <p:sp>
            <p:nvSpPr>
              <p:cNvPr id="94251" name="Oval 46"/>
              <p:cNvSpPr>
                <a:spLocks noChangeArrowheads="1"/>
              </p:cNvSpPr>
              <p:nvPr/>
            </p:nvSpPr>
            <p:spPr bwMode="auto">
              <a:xfrm>
                <a:off x="2935" y="1637"/>
                <a:ext cx="238" cy="211"/>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4252" name="Text Box 47"/>
              <p:cNvSpPr txBox="1">
                <a:spLocks noChangeArrowheads="1"/>
              </p:cNvSpPr>
              <p:nvPr/>
            </p:nvSpPr>
            <p:spPr bwMode="auto">
              <a:xfrm>
                <a:off x="2943" y="1573"/>
                <a:ext cx="4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50000"/>
                  </a:spcBef>
                </a:pPr>
                <a:r>
                  <a:rPr lang="en-US" altLang="en-US" sz="2800">
                    <a:latin typeface="Arial" pitchFamily="34" charset="0"/>
                    <a:cs typeface="Arial" pitchFamily="34" charset="0"/>
                  </a:rPr>
                  <a:t>+</a:t>
                </a:r>
              </a:p>
            </p:txBody>
          </p:sp>
        </p:grpSp>
        <p:sp>
          <p:nvSpPr>
            <p:cNvPr id="94235" name="Line 48"/>
            <p:cNvSpPr>
              <a:spLocks noChangeShapeType="1"/>
            </p:cNvSpPr>
            <p:nvPr/>
          </p:nvSpPr>
          <p:spPr bwMode="auto">
            <a:xfrm>
              <a:off x="2589" y="3231"/>
              <a:ext cx="31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94236" name="Group 49"/>
            <p:cNvGrpSpPr>
              <a:grpSpLocks/>
            </p:cNvGrpSpPr>
            <p:nvPr/>
          </p:nvGrpSpPr>
          <p:grpSpPr bwMode="auto">
            <a:xfrm>
              <a:off x="3355" y="3157"/>
              <a:ext cx="611" cy="332"/>
              <a:chOff x="3501" y="648"/>
              <a:chExt cx="611" cy="332"/>
            </a:xfrm>
          </p:grpSpPr>
          <p:sp>
            <p:nvSpPr>
              <p:cNvPr id="94249" name="Text Box 50"/>
              <p:cNvSpPr txBox="1">
                <a:spLocks noChangeArrowheads="1"/>
              </p:cNvSpPr>
              <p:nvPr/>
            </p:nvSpPr>
            <p:spPr bwMode="auto">
              <a:xfrm>
                <a:off x="3501" y="749"/>
                <a:ext cx="6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r>
                  <a:rPr lang="en-US" altLang="en-US" sz="1800">
                    <a:latin typeface="Arial" pitchFamily="34" charset="0"/>
                    <a:cs typeface="Arial" pitchFamily="34" charset="0"/>
                  </a:rPr>
                  <a:t>(K</a:t>
                </a:r>
                <a:r>
                  <a:rPr lang="en-US" altLang="en-US"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94250" name="Text Box 51"/>
              <p:cNvSpPr txBox="1">
                <a:spLocks noChangeArrowheads="1"/>
              </p:cNvSpPr>
              <p:nvPr/>
            </p:nvSpPr>
            <p:spPr bwMode="auto">
              <a:xfrm>
                <a:off x="3584" y="648"/>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4237" name="Freeform 52"/>
            <p:cNvSpPr>
              <a:spLocks/>
            </p:cNvSpPr>
            <p:nvPr/>
          </p:nvSpPr>
          <p:spPr bwMode="auto">
            <a:xfrm>
              <a:off x="3346" y="2463"/>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4238" name="Freeform 53"/>
            <p:cNvSpPr>
              <a:spLocks/>
            </p:cNvSpPr>
            <p:nvPr/>
          </p:nvSpPr>
          <p:spPr bwMode="auto">
            <a:xfrm flipV="1">
              <a:off x="3360" y="2980"/>
              <a:ext cx="476" cy="247"/>
            </a:xfrm>
            <a:custGeom>
              <a:avLst/>
              <a:gdLst>
                <a:gd name="T0" fmla="*/ 0 w 476"/>
                <a:gd name="T1" fmla="*/ 0 h 247"/>
                <a:gd name="T2" fmla="*/ 476 w 476"/>
                <a:gd name="T3" fmla="*/ 0 h 247"/>
                <a:gd name="T4" fmla="*/ 476 w 476"/>
                <a:gd name="T5" fmla="*/ 2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4239" name="Text Box 54"/>
            <p:cNvSpPr txBox="1">
              <a:spLocks noChangeArrowheads="1"/>
            </p:cNvSpPr>
            <p:nvPr/>
          </p:nvSpPr>
          <p:spPr bwMode="auto">
            <a:xfrm>
              <a:off x="3233" y="1936"/>
              <a:ext cx="3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a:t>
              </a:r>
              <a:r>
                <a:rPr lang="en-US" altLang="en-US" baseline="-25000">
                  <a:latin typeface="Arial" pitchFamily="34" charset="0"/>
                  <a:cs typeface="Arial" pitchFamily="34" charset="0"/>
                </a:rPr>
                <a:t>S</a:t>
              </a:r>
            </a:p>
          </p:txBody>
        </p:sp>
        <p:sp>
          <p:nvSpPr>
            <p:cNvPr id="94240" name="Line 55"/>
            <p:cNvSpPr>
              <a:spLocks noChangeShapeType="1"/>
            </p:cNvSpPr>
            <p:nvPr/>
          </p:nvSpPr>
          <p:spPr bwMode="auto">
            <a:xfrm>
              <a:off x="3264" y="2107"/>
              <a:ext cx="9" cy="228"/>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94241" name="Group 56"/>
            <p:cNvGrpSpPr>
              <a:grpSpLocks/>
            </p:cNvGrpSpPr>
            <p:nvPr/>
          </p:nvGrpSpPr>
          <p:grpSpPr bwMode="auto">
            <a:xfrm>
              <a:off x="2863" y="3409"/>
              <a:ext cx="297" cy="299"/>
              <a:chOff x="2643" y="716"/>
              <a:chExt cx="297" cy="299"/>
            </a:xfrm>
          </p:grpSpPr>
          <p:sp>
            <p:nvSpPr>
              <p:cNvPr id="94247" name="Text Box 57"/>
              <p:cNvSpPr txBox="1">
                <a:spLocks noChangeArrowheads="1"/>
              </p:cNvSpPr>
              <p:nvPr/>
            </p:nvSpPr>
            <p:spPr bwMode="auto">
              <a:xfrm>
                <a:off x="2643" y="763"/>
                <a:ext cx="2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K</a:t>
                </a:r>
                <a:r>
                  <a:rPr lang="en-US" altLang="en-US" baseline="-25000">
                    <a:latin typeface="Arial" pitchFamily="34" charset="0"/>
                    <a:cs typeface="Arial" pitchFamily="34" charset="0"/>
                  </a:rPr>
                  <a:t>B</a:t>
                </a:r>
                <a:endParaRPr lang="en-US" altLang="en-US" sz="1800">
                  <a:latin typeface="Arial" pitchFamily="34" charset="0"/>
                  <a:cs typeface="Arial" pitchFamily="34" charset="0"/>
                </a:endParaRPr>
              </a:p>
            </p:txBody>
          </p:sp>
          <p:sp>
            <p:nvSpPr>
              <p:cNvPr id="94248" name="Text Box 58"/>
              <p:cNvSpPr txBox="1">
                <a:spLocks noChangeArrowheads="1"/>
              </p:cNvSpPr>
              <p:nvPr/>
            </p:nvSpPr>
            <p:spPr bwMode="auto">
              <a:xfrm>
                <a:off x="2730" y="716"/>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t>
                </a:r>
              </a:p>
            </p:txBody>
          </p:sp>
        </p:grpSp>
        <p:sp>
          <p:nvSpPr>
            <p:cNvPr id="94242" name="Line 59"/>
            <p:cNvSpPr>
              <a:spLocks noChangeShapeType="1"/>
            </p:cNvSpPr>
            <p:nvPr/>
          </p:nvSpPr>
          <p:spPr bwMode="auto">
            <a:xfrm>
              <a:off x="3114" y="3391"/>
              <a:ext cx="9" cy="228"/>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en-CA"/>
            </a:p>
          </p:txBody>
        </p:sp>
        <p:pic>
          <p:nvPicPr>
            <p:cNvPr id="94243" name="Picture 60" descr="BS00768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3170" y="3564"/>
              <a:ext cx="2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44" name="Line 61"/>
            <p:cNvSpPr>
              <a:spLocks noChangeShapeType="1"/>
            </p:cNvSpPr>
            <p:nvPr/>
          </p:nvSpPr>
          <p:spPr bwMode="auto">
            <a:xfrm flipV="1">
              <a:off x="3978" y="2838"/>
              <a:ext cx="484" cy="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94245" name="Text Box 62"/>
            <p:cNvSpPr txBox="1">
              <a:spLocks noChangeArrowheads="1"/>
            </p:cNvSpPr>
            <p:nvPr/>
          </p:nvSpPr>
          <p:spPr bwMode="auto">
            <a:xfrm>
              <a:off x="4448" y="2810"/>
              <a:ext cx="60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Arial" pitchFamily="34" charset="0"/>
                  <a:cs typeface="Arial" pitchFamily="34" charset="0"/>
                </a:rPr>
                <a:t>Internet</a:t>
              </a:r>
            </a:p>
          </p:txBody>
        </p:sp>
        <p:sp>
          <p:nvSpPr>
            <p:cNvPr id="94246" name="Text Box 63"/>
            <p:cNvSpPr txBox="1">
              <a:spLocks noChangeArrowheads="1"/>
            </p:cNvSpPr>
            <p:nvPr/>
          </p:nvSpPr>
          <p:spPr bwMode="auto">
            <a:xfrm>
              <a:off x="2345" y="3116"/>
              <a:ext cx="3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a:t>
              </a:r>
              <a:r>
                <a:rPr lang="en-US" altLang="en-US" baseline="-25000">
                  <a:latin typeface="Arial" pitchFamily="34" charset="0"/>
                  <a:cs typeface="Arial" pitchFamily="34" charset="0"/>
                </a:rPr>
                <a:t>S</a:t>
              </a:r>
            </a:p>
          </p:txBody>
        </p:sp>
      </p:grpSp>
      <p:pic>
        <p:nvPicPr>
          <p:cNvPr id="94214" name="Picture 19" descr="underline_bas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238" y="1035050"/>
            <a:ext cx="5942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96258" name="Rectangle 2"/>
          <p:cNvSpPr>
            <a:spLocks noGrp="1" noChangeArrowheads="1"/>
          </p:cNvSpPr>
          <p:nvPr>
            <p:ph type="title"/>
          </p:nvPr>
        </p:nvSpPr>
        <p:spPr/>
        <p:txBody>
          <a:bodyPr/>
          <a:lstStyle/>
          <a:p>
            <a:r>
              <a:rPr lang="en-US" altLang="en-US" smtClean="0">
                <a:ea typeface="ＭＳ Ｐゴシック" pitchFamily="34" charset="-128"/>
              </a:rPr>
              <a:t>Chapter 8 roadmap</a:t>
            </a:r>
          </a:p>
        </p:txBody>
      </p:sp>
      <p:sp>
        <p:nvSpPr>
          <p:cNvPr id="96259" name="Rectangle 3"/>
          <p:cNvSpPr>
            <a:spLocks noGrp="1" noChangeArrowheads="1"/>
          </p:cNvSpPr>
          <p:nvPr>
            <p:ph type="body" idx="1"/>
          </p:nvPr>
        </p:nvSpPr>
        <p:spPr>
          <a:xfrm>
            <a:off x="650875" y="1668463"/>
            <a:ext cx="7772400" cy="4648200"/>
          </a:xfrm>
        </p:spPr>
        <p:txBody>
          <a:bodyPr/>
          <a:lstStyle/>
          <a:p>
            <a:pPr>
              <a:buFont typeface="Wingdings" pitchFamily="2" charset="2"/>
              <a:buNone/>
            </a:pPr>
            <a:r>
              <a:rPr lang="en-US" altLang="en-US" smtClean="0">
                <a:solidFill>
                  <a:srgbClr val="000099"/>
                </a:solidFill>
                <a:ea typeface="ＭＳ Ｐゴシック" pitchFamily="34" charset="-128"/>
              </a:rPr>
              <a:t>8.1</a:t>
            </a:r>
            <a:r>
              <a:rPr lang="en-US" altLang="en-US" smtClean="0">
                <a:solidFill>
                  <a:srgbClr val="2D2DB9"/>
                </a:solidFill>
                <a:ea typeface="ＭＳ Ｐゴシック" pitchFamily="34" charset="-128"/>
              </a:rPr>
              <a:t> </a:t>
            </a:r>
            <a:r>
              <a:rPr lang="en-US" altLang="en-US" smtClean="0">
                <a:ea typeface="ＭＳ Ｐゴシック" pitchFamily="34" charset="-128"/>
              </a:rPr>
              <a:t>What is network security?</a:t>
            </a:r>
          </a:p>
          <a:p>
            <a:pPr>
              <a:buFont typeface="Wingdings" pitchFamily="2" charset="2"/>
              <a:buNone/>
            </a:pPr>
            <a:r>
              <a:rPr lang="en-US" altLang="en-US" smtClean="0">
                <a:solidFill>
                  <a:srgbClr val="000099"/>
                </a:solidFill>
                <a:ea typeface="ＭＳ Ｐゴシック" pitchFamily="34" charset="-128"/>
              </a:rPr>
              <a:t>8.2</a:t>
            </a:r>
            <a:r>
              <a:rPr lang="en-US" altLang="en-US" smtClean="0">
                <a:ea typeface="ＭＳ Ｐゴシック" pitchFamily="34" charset="-128"/>
              </a:rPr>
              <a:t> Principles of cryptography</a:t>
            </a:r>
          </a:p>
          <a:p>
            <a:pPr>
              <a:buFont typeface="Wingdings" pitchFamily="2" charset="2"/>
              <a:buNone/>
            </a:pPr>
            <a:r>
              <a:rPr lang="en-US" altLang="en-US" smtClean="0">
                <a:solidFill>
                  <a:srgbClr val="000099"/>
                </a:solidFill>
                <a:ea typeface="ＭＳ Ｐゴシック" pitchFamily="34" charset="-128"/>
              </a:rPr>
              <a:t>8.3</a:t>
            </a:r>
            <a:r>
              <a:rPr lang="en-US" altLang="en-US" smtClean="0">
                <a:ea typeface="ＭＳ Ｐゴシック" pitchFamily="34" charset="-128"/>
              </a:rPr>
              <a:t> Message integrity</a:t>
            </a:r>
          </a:p>
          <a:p>
            <a:pPr>
              <a:buFont typeface="Wingdings" pitchFamily="2" charset="2"/>
              <a:buNone/>
            </a:pPr>
            <a:r>
              <a:rPr lang="en-US" altLang="en-US" smtClean="0">
                <a:solidFill>
                  <a:srgbClr val="000099"/>
                </a:solidFill>
                <a:ea typeface="ＭＳ Ｐゴシック" pitchFamily="34" charset="-128"/>
              </a:rPr>
              <a:t>8.4 </a:t>
            </a:r>
            <a:r>
              <a:rPr lang="en-US" altLang="en-US" smtClean="0">
                <a:ea typeface="ＭＳ Ｐゴシック" pitchFamily="34" charset="-128"/>
              </a:rPr>
              <a:t>Securing e-mail</a:t>
            </a:r>
          </a:p>
          <a:p>
            <a:pPr>
              <a:buFont typeface="Wingdings" pitchFamily="2" charset="2"/>
              <a:buNone/>
            </a:pPr>
            <a:r>
              <a:rPr lang="en-US" altLang="en-US" i="1" smtClean="0">
                <a:solidFill>
                  <a:srgbClr val="C00000"/>
                </a:solidFill>
                <a:ea typeface="ＭＳ Ｐゴシック" pitchFamily="34" charset="-128"/>
              </a:rPr>
              <a:t>8.5 Securing TCP connections: SSL</a:t>
            </a:r>
          </a:p>
          <a:p>
            <a:pPr>
              <a:buFont typeface="Wingdings" pitchFamily="2" charset="2"/>
              <a:buNone/>
            </a:pPr>
            <a:r>
              <a:rPr lang="en-US" altLang="en-US" smtClean="0">
                <a:solidFill>
                  <a:srgbClr val="000099"/>
                </a:solidFill>
                <a:ea typeface="ＭＳ Ｐゴシック" pitchFamily="34" charset="-128"/>
              </a:rPr>
              <a:t>8.6</a:t>
            </a:r>
            <a:r>
              <a:rPr lang="en-US" altLang="en-US" smtClean="0">
                <a:ea typeface="ＭＳ Ｐゴシック" pitchFamily="34" charset="-128"/>
              </a:rPr>
              <a:t> Network layer security: IPsec</a:t>
            </a:r>
          </a:p>
          <a:p>
            <a:pPr>
              <a:buFont typeface="Wingdings" pitchFamily="2" charset="2"/>
              <a:buNone/>
            </a:pPr>
            <a:r>
              <a:rPr lang="en-US" altLang="en-US" smtClean="0">
                <a:solidFill>
                  <a:srgbClr val="000099"/>
                </a:solidFill>
                <a:ea typeface="ＭＳ Ｐゴシック" pitchFamily="34" charset="-128"/>
              </a:rPr>
              <a:t>8.7</a:t>
            </a:r>
            <a:r>
              <a:rPr lang="en-US" altLang="en-US" smtClean="0">
                <a:ea typeface="ＭＳ Ｐゴシック" pitchFamily="34" charset="-128"/>
              </a:rPr>
              <a:t> Securing wireless LANs</a:t>
            </a:r>
          </a:p>
          <a:p>
            <a:pPr>
              <a:buFont typeface="Wingdings" pitchFamily="2" charset="2"/>
              <a:buNone/>
            </a:pPr>
            <a:r>
              <a:rPr lang="en-US" altLang="en-US" smtClean="0">
                <a:solidFill>
                  <a:srgbClr val="000099"/>
                </a:solidFill>
                <a:ea typeface="ＭＳ Ｐゴシック" pitchFamily="34" charset="-128"/>
              </a:rPr>
              <a:t>8.8</a:t>
            </a:r>
            <a:r>
              <a:rPr lang="en-US" altLang="en-US" smtClean="0">
                <a:ea typeface="ＭＳ Ｐゴシック" pitchFamily="34" charset="-128"/>
              </a:rPr>
              <a:t> Operational security: firewalls and IDS</a:t>
            </a:r>
          </a:p>
        </p:txBody>
      </p:sp>
      <p:pic>
        <p:nvPicPr>
          <p:cNvPr id="96260" name="Picture 22"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475" y="1038225"/>
            <a:ext cx="4570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5" name="Picture 19"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575" y="941388"/>
            <a:ext cx="59420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98307" name="Rectangle 2"/>
          <p:cNvSpPr>
            <a:spLocks noGrp="1" noChangeArrowheads="1"/>
          </p:cNvSpPr>
          <p:nvPr>
            <p:ph type="title"/>
          </p:nvPr>
        </p:nvSpPr>
        <p:spPr>
          <a:xfrm>
            <a:off x="455613" y="128588"/>
            <a:ext cx="7772400" cy="1143000"/>
          </a:xfrm>
        </p:spPr>
        <p:txBody>
          <a:bodyPr/>
          <a:lstStyle/>
          <a:p>
            <a:r>
              <a:rPr lang="en-US" altLang="en-US" smtClean="0">
                <a:ea typeface="ＭＳ Ｐゴシック" pitchFamily="34" charset="-128"/>
              </a:rPr>
              <a:t>SSL: Secure Sockets Layer</a:t>
            </a:r>
          </a:p>
        </p:txBody>
      </p:sp>
      <p:sp>
        <p:nvSpPr>
          <p:cNvPr id="98308" name="Rectangle 3"/>
          <p:cNvSpPr>
            <a:spLocks noGrp="1" noChangeArrowheads="1"/>
          </p:cNvSpPr>
          <p:nvPr>
            <p:ph type="body" sz="half" idx="1"/>
          </p:nvPr>
        </p:nvSpPr>
        <p:spPr>
          <a:xfrm>
            <a:off x="533400" y="1222375"/>
            <a:ext cx="4132263" cy="4648200"/>
          </a:xfrm>
        </p:spPr>
        <p:txBody>
          <a:bodyPr/>
          <a:lstStyle/>
          <a:p>
            <a:pPr marL="225425" indent="-225425"/>
            <a:r>
              <a:rPr lang="en-US" altLang="en-US" sz="2400" dirty="0" smtClean="0">
                <a:ea typeface="ＭＳ Ｐゴシック" pitchFamily="34" charset="-128"/>
              </a:rPr>
              <a:t>widely deployed security protocol</a:t>
            </a:r>
          </a:p>
          <a:p>
            <a:pPr marL="569913" lvl="1" indent="-225425"/>
            <a:r>
              <a:rPr lang="en-US" altLang="en-US" sz="2000" dirty="0" smtClean="0">
                <a:ea typeface="ＭＳ Ｐゴシック" pitchFamily="34" charset="-128"/>
              </a:rPr>
              <a:t>supported by almost all browsers, web servers</a:t>
            </a:r>
          </a:p>
          <a:p>
            <a:pPr marL="569913" lvl="1" indent="-225425"/>
            <a:r>
              <a:rPr lang="en-US" altLang="en-US" sz="2000" dirty="0" smtClean="0">
                <a:ea typeface="ＭＳ Ｐゴシック" pitchFamily="34" charset="-128"/>
              </a:rPr>
              <a:t>https</a:t>
            </a:r>
          </a:p>
          <a:p>
            <a:pPr marL="569913" lvl="1" indent="-225425"/>
            <a:r>
              <a:rPr lang="en-US" altLang="en-US" sz="2000" dirty="0" smtClean="0">
                <a:ea typeface="ＭＳ Ｐゴシック" pitchFamily="34" charset="-128"/>
              </a:rPr>
              <a:t>billions $/year over SSL</a:t>
            </a:r>
          </a:p>
          <a:p>
            <a:pPr marL="225425" indent="-225425"/>
            <a:r>
              <a:rPr lang="en-US" altLang="en-US" sz="2400" dirty="0" smtClean="0">
                <a:ea typeface="ＭＳ Ｐゴシック" pitchFamily="34" charset="-128"/>
              </a:rPr>
              <a:t>mechanisms: [Woo 1994], implementation: Netscape</a:t>
            </a:r>
          </a:p>
          <a:p>
            <a:pPr marL="225425" indent="-225425"/>
            <a:r>
              <a:rPr lang="en-US" altLang="en-US" sz="2400" dirty="0" smtClean="0">
                <a:ea typeface="ＭＳ Ｐゴシック" pitchFamily="34" charset="-128"/>
              </a:rPr>
              <a:t>variation -TLS: transport layer security, RFC 2246</a:t>
            </a:r>
          </a:p>
          <a:p>
            <a:pPr marL="225425" indent="-225425"/>
            <a:r>
              <a:rPr lang="en-US" altLang="en-US" sz="2400" dirty="0" smtClean="0">
                <a:ea typeface="ＭＳ Ｐゴシック" pitchFamily="34" charset="-128"/>
              </a:rPr>
              <a:t>provides</a:t>
            </a:r>
          </a:p>
          <a:p>
            <a:pPr marL="569913" lvl="1" indent="-225425">
              <a:lnSpc>
                <a:spcPts val="2300"/>
              </a:lnSpc>
            </a:pPr>
            <a:r>
              <a:rPr lang="en-US" altLang="en-US" i="1" dirty="0" smtClean="0">
                <a:solidFill>
                  <a:srgbClr val="C00000"/>
                </a:solidFill>
                <a:ea typeface="ＭＳ Ｐゴシック" pitchFamily="34" charset="-128"/>
              </a:rPr>
              <a:t>confidentiality</a:t>
            </a:r>
          </a:p>
          <a:p>
            <a:pPr marL="569913" lvl="1" indent="-225425">
              <a:lnSpc>
                <a:spcPts val="2300"/>
              </a:lnSpc>
            </a:pPr>
            <a:r>
              <a:rPr lang="en-US" altLang="en-US" i="1" dirty="0" smtClean="0">
                <a:solidFill>
                  <a:srgbClr val="C00000"/>
                </a:solidFill>
                <a:ea typeface="ＭＳ Ｐゴシック" pitchFamily="34" charset="-128"/>
              </a:rPr>
              <a:t>integrity</a:t>
            </a:r>
          </a:p>
          <a:p>
            <a:pPr marL="569913" lvl="1" indent="-225425">
              <a:lnSpc>
                <a:spcPts val="2300"/>
              </a:lnSpc>
            </a:pPr>
            <a:r>
              <a:rPr lang="en-US" altLang="en-US" i="1" dirty="0" smtClean="0">
                <a:solidFill>
                  <a:srgbClr val="C00000"/>
                </a:solidFill>
                <a:ea typeface="ＭＳ Ｐゴシック" pitchFamily="34" charset="-128"/>
              </a:rPr>
              <a:t>authentication</a:t>
            </a:r>
          </a:p>
        </p:txBody>
      </p:sp>
      <p:sp>
        <p:nvSpPr>
          <p:cNvPr id="98309" name="Rectangle 4"/>
          <p:cNvSpPr>
            <a:spLocks noGrp="1" noChangeArrowheads="1"/>
          </p:cNvSpPr>
          <p:nvPr>
            <p:ph type="body" sz="half" idx="2"/>
          </p:nvPr>
        </p:nvSpPr>
        <p:spPr>
          <a:xfrm>
            <a:off x="4603750" y="1384300"/>
            <a:ext cx="4143375" cy="5054600"/>
          </a:xfrm>
        </p:spPr>
        <p:txBody>
          <a:bodyPr/>
          <a:lstStyle/>
          <a:p>
            <a:pPr marL="225425" indent="-225425">
              <a:lnSpc>
                <a:spcPts val="2475"/>
              </a:lnSpc>
              <a:tabLst>
                <a:tab pos="225425" algn="l"/>
              </a:tabLst>
            </a:pPr>
            <a:r>
              <a:rPr lang="en-US" altLang="en-US" sz="2400" smtClean="0">
                <a:ea typeface="ＭＳ Ｐゴシック" pitchFamily="34" charset="-128"/>
              </a:rPr>
              <a:t>original goals:</a:t>
            </a:r>
          </a:p>
          <a:p>
            <a:pPr marL="569913" lvl="1" indent="-230188">
              <a:lnSpc>
                <a:spcPts val="2475"/>
              </a:lnSpc>
              <a:tabLst>
                <a:tab pos="225425" algn="l"/>
              </a:tabLst>
            </a:pPr>
            <a:r>
              <a:rPr lang="en-US" altLang="en-US" smtClean="0">
                <a:ea typeface="ＭＳ Ｐゴシック" pitchFamily="34" charset="-128"/>
              </a:rPr>
              <a:t>Web e-commerce transactions </a:t>
            </a:r>
          </a:p>
          <a:p>
            <a:pPr marL="569913" lvl="1" indent="-230188">
              <a:lnSpc>
                <a:spcPts val="2475"/>
              </a:lnSpc>
              <a:tabLst>
                <a:tab pos="225425" algn="l"/>
              </a:tabLst>
            </a:pPr>
            <a:r>
              <a:rPr lang="en-US" altLang="en-US" smtClean="0">
                <a:ea typeface="ＭＳ Ｐゴシック" pitchFamily="34" charset="-128"/>
              </a:rPr>
              <a:t>encryption (especially credit-card numbers)</a:t>
            </a:r>
          </a:p>
          <a:p>
            <a:pPr marL="569913" lvl="1" indent="-230188">
              <a:lnSpc>
                <a:spcPts val="2475"/>
              </a:lnSpc>
              <a:tabLst>
                <a:tab pos="225425" algn="l"/>
              </a:tabLst>
            </a:pPr>
            <a:r>
              <a:rPr lang="en-US" altLang="en-US" smtClean="0">
                <a:ea typeface="ＭＳ Ｐゴシック" pitchFamily="34" charset="-128"/>
              </a:rPr>
              <a:t>Web-server authentication</a:t>
            </a:r>
          </a:p>
          <a:p>
            <a:pPr marL="569913" lvl="1" indent="-230188">
              <a:lnSpc>
                <a:spcPts val="2475"/>
              </a:lnSpc>
              <a:tabLst>
                <a:tab pos="225425" algn="l"/>
              </a:tabLst>
            </a:pPr>
            <a:r>
              <a:rPr lang="en-US" altLang="en-US" smtClean="0">
                <a:ea typeface="ＭＳ Ｐゴシック" pitchFamily="34" charset="-128"/>
              </a:rPr>
              <a:t>optional client authentication</a:t>
            </a:r>
          </a:p>
          <a:p>
            <a:pPr marL="569913" lvl="1" indent="-230188">
              <a:lnSpc>
                <a:spcPts val="2475"/>
              </a:lnSpc>
              <a:tabLst>
                <a:tab pos="225425" algn="l"/>
              </a:tabLst>
            </a:pPr>
            <a:r>
              <a:rPr lang="en-US" altLang="en-US" smtClean="0">
                <a:ea typeface="ＭＳ Ｐゴシック" pitchFamily="34" charset="-128"/>
              </a:rPr>
              <a:t>minimum hassle in doing business with new merchant</a:t>
            </a:r>
          </a:p>
          <a:p>
            <a:pPr marL="225425" indent="-225425">
              <a:lnSpc>
                <a:spcPts val="2475"/>
              </a:lnSpc>
              <a:tabLst>
                <a:tab pos="225425" algn="l"/>
              </a:tabLst>
            </a:pPr>
            <a:r>
              <a:rPr lang="en-US" altLang="en-US" sz="2400" smtClean="0">
                <a:ea typeface="ＭＳ Ｐゴシック" pitchFamily="34" charset="-128"/>
              </a:rPr>
              <a:t>available to all TCP applications</a:t>
            </a:r>
          </a:p>
          <a:p>
            <a:pPr marL="569913" lvl="1" indent="-230188">
              <a:lnSpc>
                <a:spcPts val="2475"/>
              </a:lnSpc>
              <a:tabLst>
                <a:tab pos="225425" algn="l"/>
              </a:tabLst>
            </a:pPr>
            <a:r>
              <a:rPr lang="en-US" altLang="en-US" smtClean="0">
                <a:ea typeface="ＭＳ Ｐゴシック" pitchFamily="34" charset="-128"/>
              </a:rPr>
              <a:t>secure socket interface</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99330" name="Rectangle 2"/>
          <p:cNvSpPr>
            <a:spLocks noGrp="1" noChangeArrowheads="1"/>
          </p:cNvSpPr>
          <p:nvPr>
            <p:ph type="title"/>
          </p:nvPr>
        </p:nvSpPr>
        <p:spPr/>
        <p:txBody>
          <a:bodyPr/>
          <a:lstStyle/>
          <a:p>
            <a:r>
              <a:rPr lang="en-US" altLang="en-US" smtClean="0">
                <a:ea typeface="ＭＳ Ｐゴシック" pitchFamily="34" charset="-128"/>
              </a:rPr>
              <a:t>SSL and TCP/IP</a:t>
            </a:r>
          </a:p>
        </p:txBody>
      </p:sp>
      <p:grpSp>
        <p:nvGrpSpPr>
          <p:cNvPr id="99331" name="Group 3"/>
          <p:cNvGrpSpPr>
            <a:grpSpLocks/>
          </p:cNvGrpSpPr>
          <p:nvPr/>
        </p:nvGrpSpPr>
        <p:grpSpPr bwMode="auto">
          <a:xfrm>
            <a:off x="1443038" y="1603375"/>
            <a:ext cx="2325687" cy="2709863"/>
            <a:chOff x="727" y="1773"/>
            <a:chExt cx="1465" cy="1707"/>
          </a:xfrm>
        </p:grpSpPr>
        <p:sp>
          <p:nvSpPr>
            <p:cNvPr id="99344" name="Rectangle 4"/>
            <p:cNvSpPr>
              <a:spLocks noChangeArrowheads="1"/>
            </p:cNvSpPr>
            <p:nvPr/>
          </p:nvSpPr>
          <p:spPr bwMode="auto">
            <a:xfrm>
              <a:off x="909" y="1773"/>
              <a:ext cx="1198" cy="5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9345" name="Text Box 5"/>
            <p:cNvSpPr txBox="1">
              <a:spLocks noChangeArrowheads="1"/>
            </p:cNvSpPr>
            <p:nvPr/>
          </p:nvSpPr>
          <p:spPr bwMode="auto">
            <a:xfrm>
              <a:off x="1008" y="1931"/>
              <a:ext cx="9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Application</a:t>
              </a:r>
            </a:p>
          </p:txBody>
        </p:sp>
        <p:sp>
          <p:nvSpPr>
            <p:cNvPr id="99346" name="Rectangle 6"/>
            <p:cNvSpPr>
              <a:spLocks noChangeArrowheads="1"/>
            </p:cNvSpPr>
            <p:nvPr/>
          </p:nvSpPr>
          <p:spPr bwMode="auto">
            <a:xfrm>
              <a:off x="909" y="2349"/>
              <a:ext cx="1198" cy="3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9347" name="Text Box 7"/>
            <p:cNvSpPr txBox="1">
              <a:spLocks noChangeArrowheads="1"/>
            </p:cNvSpPr>
            <p:nvPr/>
          </p:nvSpPr>
          <p:spPr bwMode="auto">
            <a:xfrm>
              <a:off x="1296" y="2427"/>
              <a:ext cx="4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TCP</a:t>
              </a:r>
            </a:p>
          </p:txBody>
        </p:sp>
        <p:sp>
          <p:nvSpPr>
            <p:cNvPr id="99348" name="Rectangle 8"/>
            <p:cNvSpPr>
              <a:spLocks noChangeArrowheads="1"/>
            </p:cNvSpPr>
            <p:nvPr/>
          </p:nvSpPr>
          <p:spPr bwMode="auto">
            <a:xfrm>
              <a:off x="909" y="2736"/>
              <a:ext cx="1198" cy="38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9349" name="Text Box 9"/>
            <p:cNvSpPr txBox="1">
              <a:spLocks noChangeArrowheads="1"/>
            </p:cNvSpPr>
            <p:nvPr/>
          </p:nvSpPr>
          <p:spPr bwMode="auto">
            <a:xfrm>
              <a:off x="1382" y="2832"/>
              <a:ext cx="26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IP</a:t>
              </a:r>
            </a:p>
          </p:txBody>
        </p:sp>
        <p:sp>
          <p:nvSpPr>
            <p:cNvPr id="99350" name="Text Box 10"/>
            <p:cNvSpPr txBox="1">
              <a:spLocks noChangeArrowheads="1"/>
            </p:cNvSpPr>
            <p:nvPr/>
          </p:nvSpPr>
          <p:spPr bwMode="auto">
            <a:xfrm>
              <a:off x="727" y="3228"/>
              <a:ext cx="14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i="1">
                  <a:solidFill>
                    <a:srgbClr val="C00000"/>
                  </a:solidFill>
                  <a:latin typeface="Arial" pitchFamily="34" charset="0"/>
                  <a:cs typeface="Arial" pitchFamily="34" charset="0"/>
                </a:rPr>
                <a:t>normal application</a:t>
              </a:r>
            </a:p>
          </p:txBody>
        </p:sp>
      </p:grpSp>
      <p:grpSp>
        <p:nvGrpSpPr>
          <p:cNvPr id="99332" name="Group 11"/>
          <p:cNvGrpSpPr>
            <a:grpSpLocks/>
          </p:cNvGrpSpPr>
          <p:nvPr/>
        </p:nvGrpSpPr>
        <p:grpSpPr bwMode="auto">
          <a:xfrm>
            <a:off x="4822825" y="1603375"/>
            <a:ext cx="2628900" cy="2709863"/>
            <a:chOff x="2524" y="1773"/>
            <a:chExt cx="1653" cy="1707"/>
          </a:xfrm>
        </p:grpSpPr>
        <p:sp>
          <p:nvSpPr>
            <p:cNvPr id="99335" name="Rectangle 12"/>
            <p:cNvSpPr>
              <a:spLocks noChangeArrowheads="1"/>
            </p:cNvSpPr>
            <p:nvPr/>
          </p:nvSpPr>
          <p:spPr bwMode="auto">
            <a:xfrm>
              <a:off x="2688" y="1773"/>
              <a:ext cx="1200" cy="40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9336" name="Text Box 13"/>
            <p:cNvSpPr txBox="1">
              <a:spLocks noChangeArrowheads="1"/>
            </p:cNvSpPr>
            <p:nvPr/>
          </p:nvSpPr>
          <p:spPr bwMode="auto">
            <a:xfrm>
              <a:off x="2817" y="1875"/>
              <a:ext cx="9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Application</a:t>
              </a:r>
            </a:p>
          </p:txBody>
        </p:sp>
        <p:sp>
          <p:nvSpPr>
            <p:cNvPr id="99337" name="Rectangle 14"/>
            <p:cNvSpPr>
              <a:spLocks noChangeArrowheads="1"/>
            </p:cNvSpPr>
            <p:nvPr/>
          </p:nvSpPr>
          <p:spPr bwMode="auto">
            <a:xfrm>
              <a:off x="2688" y="2181"/>
              <a:ext cx="1200" cy="315"/>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9338" name="Rectangle 15"/>
            <p:cNvSpPr>
              <a:spLocks noChangeArrowheads="1"/>
            </p:cNvSpPr>
            <p:nvPr/>
          </p:nvSpPr>
          <p:spPr bwMode="auto">
            <a:xfrm>
              <a:off x="2688" y="2496"/>
              <a:ext cx="1200"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9339" name="Rectangle 16"/>
            <p:cNvSpPr>
              <a:spLocks noChangeArrowheads="1"/>
            </p:cNvSpPr>
            <p:nvPr/>
          </p:nvSpPr>
          <p:spPr bwMode="auto">
            <a:xfrm>
              <a:off x="2688" y="2832"/>
              <a:ext cx="1200"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99340" name="Text Box 17"/>
            <p:cNvSpPr txBox="1">
              <a:spLocks noChangeArrowheads="1"/>
            </p:cNvSpPr>
            <p:nvPr/>
          </p:nvSpPr>
          <p:spPr bwMode="auto">
            <a:xfrm>
              <a:off x="3049" y="2218"/>
              <a:ext cx="4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SSL</a:t>
              </a:r>
            </a:p>
          </p:txBody>
        </p:sp>
        <p:sp>
          <p:nvSpPr>
            <p:cNvPr id="99341" name="Text Box 18"/>
            <p:cNvSpPr txBox="1">
              <a:spLocks noChangeArrowheads="1"/>
            </p:cNvSpPr>
            <p:nvPr/>
          </p:nvSpPr>
          <p:spPr bwMode="auto">
            <a:xfrm>
              <a:off x="3050" y="2545"/>
              <a:ext cx="4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TCP</a:t>
              </a:r>
            </a:p>
          </p:txBody>
        </p:sp>
        <p:sp>
          <p:nvSpPr>
            <p:cNvPr id="99342" name="Text Box 19"/>
            <p:cNvSpPr txBox="1">
              <a:spLocks noChangeArrowheads="1"/>
            </p:cNvSpPr>
            <p:nvPr/>
          </p:nvSpPr>
          <p:spPr bwMode="auto">
            <a:xfrm>
              <a:off x="3158" y="2870"/>
              <a:ext cx="26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IP</a:t>
              </a:r>
            </a:p>
          </p:txBody>
        </p:sp>
        <p:sp>
          <p:nvSpPr>
            <p:cNvPr id="99343" name="Text Box 20"/>
            <p:cNvSpPr txBox="1">
              <a:spLocks noChangeArrowheads="1"/>
            </p:cNvSpPr>
            <p:nvPr/>
          </p:nvSpPr>
          <p:spPr bwMode="auto">
            <a:xfrm>
              <a:off x="2524" y="3228"/>
              <a:ext cx="16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i="1">
                  <a:solidFill>
                    <a:srgbClr val="C00000"/>
                  </a:solidFill>
                  <a:latin typeface="Arial" pitchFamily="34" charset="0"/>
                  <a:cs typeface="Arial" pitchFamily="34" charset="0"/>
                </a:rPr>
                <a:t>application  with SSL</a:t>
              </a:r>
            </a:p>
          </p:txBody>
        </p:sp>
      </p:grpSp>
      <p:sp>
        <p:nvSpPr>
          <p:cNvPr id="99333" name="Text Box 21"/>
          <p:cNvSpPr txBox="1">
            <a:spLocks noChangeArrowheads="1"/>
          </p:cNvSpPr>
          <p:nvPr/>
        </p:nvSpPr>
        <p:spPr bwMode="auto">
          <a:xfrm>
            <a:off x="679450" y="4724400"/>
            <a:ext cx="7700963"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buClr>
                <a:srgbClr val="000099"/>
              </a:buClr>
              <a:buSzPct val="74000"/>
              <a:buFont typeface="Wingdings" pitchFamily="2" charset="2"/>
              <a:buChar char="v"/>
            </a:pPr>
            <a:r>
              <a:rPr lang="en-US" altLang="en-US" sz="2800">
                <a:latin typeface="Gill Sans MT" pitchFamily="34" charset="0"/>
              </a:rPr>
              <a:t> SSL provides application programming interface (API) to applications</a:t>
            </a:r>
          </a:p>
          <a:p>
            <a:pPr>
              <a:buClr>
                <a:srgbClr val="000099"/>
              </a:buClr>
              <a:buSzPct val="74000"/>
              <a:buFont typeface="Wingdings" pitchFamily="2" charset="2"/>
              <a:buChar char="v"/>
            </a:pPr>
            <a:r>
              <a:rPr lang="en-US" altLang="en-US" sz="2800">
                <a:latin typeface="Gill Sans MT" pitchFamily="34" charset="0"/>
              </a:rPr>
              <a:t> C and Java SSL libraries/classes readily available</a:t>
            </a:r>
          </a:p>
        </p:txBody>
      </p:sp>
      <p:pic>
        <p:nvPicPr>
          <p:cNvPr id="99334" name="Picture 24"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063" y="1031875"/>
            <a:ext cx="3656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00354" name="Rectangle 2"/>
          <p:cNvSpPr>
            <a:spLocks noGrp="1" noChangeArrowheads="1"/>
          </p:cNvSpPr>
          <p:nvPr>
            <p:ph type="title"/>
          </p:nvPr>
        </p:nvSpPr>
        <p:spPr>
          <a:xfrm>
            <a:off x="533400" y="0"/>
            <a:ext cx="7772400" cy="1143000"/>
          </a:xfrm>
        </p:spPr>
        <p:txBody>
          <a:bodyPr/>
          <a:lstStyle/>
          <a:p>
            <a:r>
              <a:rPr lang="en-US" altLang="en-US" smtClean="0">
                <a:ea typeface="ＭＳ Ｐゴシック" pitchFamily="34" charset="-128"/>
              </a:rPr>
              <a:t>Could do something like PGP:</a:t>
            </a:r>
          </a:p>
        </p:txBody>
      </p:sp>
      <p:sp>
        <p:nvSpPr>
          <p:cNvPr id="100355" name="Text Box 3"/>
          <p:cNvSpPr txBox="1">
            <a:spLocks noChangeArrowheads="1"/>
          </p:cNvSpPr>
          <p:nvPr/>
        </p:nvSpPr>
        <p:spPr bwMode="auto">
          <a:xfrm>
            <a:off x="565150" y="4859338"/>
            <a:ext cx="8686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buClr>
                <a:srgbClr val="000099"/>
              </a:buClr>
              <a:buSzPct val="75000"/>
              <a:buFont typeface="Wingdings" pitchFamily="2" charset="2"/>
              <a:buChar char="v"/>
            </a:pPr>
            <a:r>
              <a:rPr lang="en-US" altLang="en-US" sz="2400">
                <a:latin typeface="Gill Sans MT" pitchFamily="34" charset="0"/>
              </a:rPr>
              <a:t> but want to send byte streams &amp; interactive data</a:t>
            </a:r>
          </a:p>
          <a:p>
            <a:pPr>
              <a:buClr>
                <a:srgbClr val="000099"/>
              </a:buClr>
              <a:buSzPct val="75000"/>
              <a:buFont typeface="Wingdings" pitchFamily="2" charset="2"/>
              <a:buChar char="v"/>
            </a:pPr>
            <a:r>
              <a:rPr lang="en-US" altLang="en-US" sz="2400">
                <a:latin typeface="Gill Sans MT" pitchFamily="34" charset="0"/>
              </a:rPr>
              <a:t> want set of secret keys for entire connection</a:t>
            </a:r>
          </a:p>
          <a:p>
            <a:pPr>
              <a:buClr>
                <a:srgbClr val="000099"/>
              </a:buClr>
              <a:buSzPct val="75000"/>
              <a:buFont typeface="Wingdings" pitchFamily="2" charset="2"/>
              <a:buChar char="v"/>
            </a:pPr>
            <a:r>
              <a:rPr lang="en-US" altLang="en-US" sz="2400">
                <a:latin typeface="Gill Sans MT" pitchFamily="34" charset="0"/>
              </a:rPr>
              <a:t> want certificate exchange as part of protocol: handshake phase</a:t>
            </a:r>
            <a:endParaRPr lang="en-US" altLang="en-US">
              <a:latin typeface="Gill Sans MT" pitchFamily="34" charset="0"/>
            </a:endParaRPr>
          </a:p>
        </p:txBody>
      </p:sp>
      <p:sp>
        <p:nvSpPr>
          <p:cNvPr id="100356" name="Freeform 4"/>
          <p:cNvSpPr>
            <a:spLocks/>
          </p:cNvSpPr>
          <p:nvPr/>
        </p:nvSpPr>
        <p:spPr bwMode="auto">
          <a:xfrm>
            <a:off x="2595563" y="1830388"/>
            <a:ext cx="989012" cy="406400"/>
          </a:xfrm>
          <a:custGeom>
            <a:avLst/>
            <a:gdLst>
              <a:gd name="T0" fmla="*/ 0 w 476"/>
              <a:gd name="T1" fmla="*/ 0 h 247"/>
              <a:gd name="T2" fmla="*/ 2147483647 w 476"/>
              <a:gd name="T3" fmla="*/ 0 h 247"/>
              <a:gd name="T4" fmla="*/ 2147483647 w 476"/>
              <a:gd name="T5" fmla="*/ 21474836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100357" name="Line 5"/>
          <p:cNvSpPr>
            <a:spLocks noChangeShapeType="1"/>
          </p:cNvSpPr>
          <p:nvPr/>
        </p:nvSpPr>
        <p:spPr bwMode="auto">
          <a:xfrm flipV="1">
            <a:off x="1519238" y="1835150"/>
            <a:ext cx="360362" cy="15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100358" name="Group 6"/>
          <p:cNvGrpSpPr>
            <a:grpSpLocks/>
          </p:cNvGrpSpPr>
          <p:nvPr/>
        </p:nvGrpSpPr>
        <p:grpSpPr bwMode="auto">
          <a:xfrm>
            <a:off x="1870075" y="1335088"/>
            <a:ext cx="754063" cy="725487"/>
            <a:chOff x="694" y="2457"/>
            <a:chExt cx="475" cy="457"/>
          </a:xfrm>
        </p:grpSpPr>
        <p:sp>
          <p:nvSpPr>
            <p:cNvPr id="100413" name="Rectangle 7"/>
            <p:cNvSpPr>
              <a:spLocks noChangeArrowheads="1"/>
            </p:cNvSpPr>
            <p:nvPr/>
          </p:nvSpPr>
          <p:spPr bwMode="auto">
            <a:xfrm>
              <a:off x="694" y="2631"/>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00414" name="Text Box 8"/>
            <p:cNvSpPr txBox="1">
              <a:spLocks noChangeArrowheads="1"/>
            </p:cNvSpPr>
            <p:nvPr/>
          </p:nvSpPr>
          <p:spPr bwMode="auto">
            <a:xfrm>
              <a:off x="763" y="2657"/>
              <a:ext cx="35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H( )</a:t>
              </a:r>
            </a:p>
          </p:txBody>
        </p:sp>
        <p:sp>
          <p:nvSpPr>
            <p:cNvPr id="100415" name="Text Box 9"/>
            <p:cNvSpPr txBox="1">
              <a:spLocks noChangeArrowheads="1"/>
            </p:cNvSpPr>
            <p:nvPr/>
          </p:nvSpPr>
          <p:spPr bwMode="auto">
            <a:xfrm>
              <a:off x="902" y="2457"/>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4000">
                  <a:latin typeface="Arial" pitchFamily="34" charset="0"/>
                  <a:cs typeface="Arial" pitchFamily="34" charset="0"/>
                </a:rPr>
                <a:t>.</a:t>
              </a:r>
            </a:p>
          </p:txBody>
        </p:sp>
      </p:grpSp>
      <p:grpSp>
        <p:nvGrpSpPr>
          <p:cNvPr id="100359" name="Group 10"/>
          <p:cNvGrpSpPr>
            <a:grpSpLocks/>
          </p:cNvGrpSpPr>
          <p:nvPr/>
        </p:nvGrpSpPr>
        <p:grpSpPr bwMode="auto">
          <a:xfrm>
            <a:off x="2736850" y="1303338"/>
            <a:ext cx="757238" cy="739775"/>
            <a:chOff x="1541" y="1971"/>
            <a:chExt cx="477" cy="466"/>
          </a:xfrm>
        </p:grpSpPr>
        <p:sp>
          <p:nvSpPr>
            <p:cNvPr id="100409" name="Rectangle 11"/>
            <p:cNvSpPr>
              <a:spLocks noChangeArrowheads="1"/>
            </p:cNvSpPr>
            <p:nvPr/>
          </p:nvSpPr>
          <p:spPr bwMode="auto">
            <a:xfrm>
              <a:off x="1543" y="2154"/>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00410" name="Text Box 12"/>
            <p:cNvSpPr txBox="1">
              <a:spLocks noChangeArrowheads="1"/>
            </p:cNvSpPr>
            <p:nvPr/>
          </p:nvSpPr>
          <p:spPr bwMode="auto">
            <a:xfrm>
              <a:off x="1541" y="2189"/>
              <a:ext cx="4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K</a:t>
              </a:r>
              <a:r>
                <a:rPr lang="en-US" altLang="en-US" sz="2400" baseline="-25000">
                  <a:latin typeface="Arial" pitchFamily="34" charset="0"/>
                  <a:cs typeface="Arial" pitchFamily="34" charset="0"/>
                </a:rPr>
                <a:t>A</a:t>
              </a:r>
              <a:r>
                <a:rPr lang="en-US" altLang="en-US" sz="1800">
                  <a:latin typeface="Arial" pitchFamily="34" charset="0"/>
                  <a:cs typeface="Arial" pitchFamily="34" charset="0"/>
                </a:rPr>
                <a:t>( )</a:t>
              </a:r>
            </a:p>
          </p:txBody>
        </p:sp>
        <p:sp>
          <p:nvSpPr>
            <p:cNvPr id="100411" name="Text Box 13"/>
            <p:cNvSpPr txBox="1">
              <a:spLocks noChangeArrowheads="1"/>
            </p:cNvSpPr>
            <p:nvPr/>
          </p:nvSpPr>
          <p:spPr bwMode="auto">
            <a:xfrm>
              <a:off x="1750" y="1971"/>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4000">
                  <a:latin typeface="Arial" pitchFamily="34" charset="0"/>
                  <a:cs typeface="Arial" pitchFamily="34" charset="0"/>
                </a:rPr>
                <a:t>.</a:t>
              </a:r>
            </a:p>
          </p:txBody>
        </p:sp>
        <p:sp>
          <p:nvSpPr>
            <p:cNvPr id="100412" name="Text Box 14"/>
            <p:cNvSpPr txBox="1">
              <a:spLocks noChangeArrowheads="1"/>
            </p:cNvSpPr>
            <p:nvPr/>
          </p:nvSpPr>
          <p:spPr bwMode="auto">
            <a:xfrm>
              <a:off x="1645" y="2088"/>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a:t>
              </a:r>
            </a:p>
          </p:txBody>
        </p:sp>
      </p:grpSp>
      <p:grpSp>
        <p:nvGrpSpPr>
          <p:cNvPr id="100360" name="Group 15"/>
          <p:cNvGrpSpPr>
            <a:grpSpLocks/>
          </p:cNvGrpSpPr>
          <p:nvPr/>
        </p:nvGrpSpPr>
        <p:grpSpPr bwMode="auto">
          <a:xfrm>
            <a:off x="3294063" y="2179638"/>
            <a:ext cx="638175" cy="519112"/>
            <a:chOff x="2862" y="1573"/>
            <a:chExt cx="402" cy="327"/>
          </a:xfrm>
        </p:grpSpPr>
        <p:sp>
          <p:nvSpPr>
            <p:cNvPr id="100407" name="Oval 16"/>
            <p:cNvSpPr>
              <a:spLocks noChangeArrowheads="1"/>
            </p:cNvSpPr>
            <p:nvPr/>
          </p:nvSpPr>
          <p:spPr bwMode="auto">
            <a:xfrm>
              <a:off x="2935" y="1637"/>
              <a:ext cx="238" cy="211"/>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00408" name="Text Box 17"/>
            <p:cNvSpPr txBox="1">
              <a:spLocks noChangeArrowheads="1"/>
            </p:cNvSpPr>
            <p:nvPr/>
          </p:nvSpPr>
          <p:spPr bwMode="auto">
            <a:xfrm>
              <a:off x="2862" y="1573"/>
              <a:ext cx="4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spcBef>
                  <a:spcPct val="50000"/>
                </a:spcBef>
              </a:pPr>
              <a:r>
                <a:rPr lang="en-US" altLang="en-US" sz="2800">
                  <a:latin typeface="Arial" pitchFamily="34" charset="0"/>
                  <a:cs typeface="Arial" pitchFamily="34" charset="0"/>
                </a:rPr>
                <a:t>+</a:t>
              </a:r>
            </a:p>
          </p:txBody>
        </p:sp>
      </p:grpSp>
      <p:grpSp>
        <p:nvGrpSpPr>
          <p:cNvPr id="100361" name="Group 18"/>
          <p:cNvGrpSpPr>
            <a:grpSpLocks/>
          </p:cNvGrpSpPr>
          <p:nvPr/>
        </p:nvGrpSpPr>
        <p:grpSpPr bwMode="auto">
          <a:xfrm>
            <a:off x="3475038" y="1306513"/>
            <a:ext cx="1163637" cy="528637"/>
            <a:chOff x="1778" y="2485"/>
            <a:chExt cx="733" cy="333"/>
          </a:xfrm>
        </p:grpSpPr>
        <p:sp>
          <p:nvSpPr>
            <p:cNvPr id="100405" name="Text Box 19"/>
            <p:cNvSpPr txBox="1">
              <a:spLocks noChangeArrowheads="1"/>
            </p:cNvSpPr>
            <p:nvPr/>
          </p:nvSpPr>
          <p:spPr bwMode="auto">
            <a:xfrm>
              <a:off x="1778" y="2587"/>
              <a:ext cx="73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K</a:t>
              </a:r>
              <a:r>
                <a:rPr lang="en-US" altLang="en-US" sz="2400" baseline="-25000">
                  <a:latin typeface="Arial" pitchFamily="34" charset="0"/>
                  <a:cs typeface="Arial" pitchFamily="34" charset="0"/>
                </a:rPr>
                <a:t>A</a:t>
              </a:r>
              <a:r>
                <a:rPr lang="en-US" altLang="en-US" sz="1800">
                  <a:latin typeface="Arial" pitchFamily="34" charset="0"/>
                  <a:cs typeface="Arial" pitchFamily="34" charset="0"/>
                </a:rPr>
                <a:t>(H(m))</a:t>
              </a:r>
            </a:p>
          </p:txBody>
        </p:sp>
        <p:sp>
          <p:nvSpPr>
            <p:cNvPr id="100406" name="Text Box 20"/>
            <p:cNvSpPr txBox="1">
              <a:spLocks noChangeArrowheads="1"/>
            </p:cNvSpPr>
            <p:nvPr/>
          </p:nvSpPr>
          <p:spPr bwMode="auto">
            <a:xfrm>
              <a:off x="1877" y="2485"/>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a:t>
              </a:r>
            </a:p>
          </p:txBody>
        </p:sp>
      </p:grpSp>
      <p:sp>
        <p:nvSpPr>
          <p:cNvPr id="100362" name="Freeform 21"/>
          <p:cNvSpPr>
            <a:spLocks/>
          </p:cNvSpPr>
          <p:nvPr/>
        </p:nvSpPr>
        <p:spPr bwMode="auto">
          <a:xfrm flipV="1">
            <a:off x="1647825" y="2665413"/>
            <a:ext cx="1958975" cy="392112"/>
          </a:xfrm>
          <a:custGeom>
            <a:avLst/>
            <a:gdLst>
              <a:gd name="T0" fmla="*/ 0 w 476"/>
              <a:gd name="T1" fmla="*/ 0 h 247"/>
              <a:gd name="T2" fmla="*/ 2147483647 w 476"/>
              <a:gd name="T3" fmla="*/ 0 h 247"/>
              <a:gd name="T4" fmla="*/ 2147483647 w 476"/>
              <a:gd name="T5" fmla="*/ 21474836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100363" name="Text Box 22"/>
          <p:cNvSpPr txBox="1">
            <a:spLocks noChangeArrowheads="1"/>
          </p:cNvSpPr>
          <p:nvPr/>
        </p:nvSpPr>
        <p:spPr bwMode="auto">
          <a:xfrm>
            <a:off x="1192213" y="1616075"/>
            <a:ext cx="39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m</a:t>
            </a:r>
          </a:p>
        </p:txBody>
      </p:sp>
      <p:grpSp>
        <p:nvGrpSpPr>
          <p:cNvPr id="100364" name="Group 23"/>
          <p:cNvGrpSpPr>
            <a:grpSpLocks/>
          </p:cNvGrpSpPr>
          <p:nvPr/>
        </p:nvGrpSpPr>
        <p:grpSpPr bwMode="auto">
          <a:xfrm>
            <a:off x="2662238" y="952500"/>
            <a:ext cx="473075" cy="531813"/>
            <a:chOff x="2637" y="716"/>
            <a:chExt cx="298" cy="335"/>
          </a:xfrm>
        </p:grpSpPr>
        <p:sp>
          <p:nvSpPr>
            <p:cNvPr id="100403" name="Text Box 24"/>
            <p:cNvSpPr txBox="1">
              <a:spLocks noChangeArrowheads="1"/>
            </p:cNvSpPr>
            <p:nvPr/>
          </p:nvSpPr>
          <p:spPr bwMode="auto">
            <a:xfrm>
              <a:off x="2637" y="763"/>
              <a:ext cx="2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K</a:t>
              </a:r>
              <a:r>
                <a:rPr lang="en-US" altLang="en-US" sz="2400" baseline="-25000">
                  <a:latin typeface="Arial" pitchFamily="34" charset="0"/>
                  <a:cs typeface="Arial" pitchFamily="34" charset="0"/>
                </a:rPr>
                <a:t>A</a:t>
              </a:r>
              <a:endParaRPr lang="en-US" altLang="en-US" sz="1800">
                <a:latin typeface="Arial" pitchFamily="34" charset="0"/>
                <a:cs typeface="Arial" pitchFamily="34" charset="0"/>
              </a:endParaRPr>
            </a:p>
          </p:txBody>
        </p:sp>
        <p:sp>
          <p:nvSpPr>
            <p:cNvPr id="100404" name="Text Box 25"/>
            <p:cNvSpPr txBox="1">
              <a:spLocks noChangeArrowheads="1"/>
            </p:cNvSpPr>
            <p:nvPr/>
          </p:nvSpPr>
          <p:spPr bwMode="auto">
            <a:xfrm>
              <a:off x="2742" y="716"/>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a:t>
              </a:r>
            </a:p>
          </p:txBody>
        </p:sp>
      </p:grpSp>
      <p:sp>
        <p:nvSpPr>
          <p:cNvPr id="100365" name="Line 26"/>
          <p:cNvSpPr>
            <a:spLocks noChangeShapeType="1"/>
          </p:cNvSpPr>
          <p:nvPr/>
        </p:nvSpPr>
        <p:spPr bwMode="auto">
          <a:xfrm>
            <a:off x="3113088" y="1227138"/>
            <a:ext cx="14287" cy="36195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100366" name="Picture 27" descr="BS00768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2362200" y="1169988"/>
            <a:ext cx="400050"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67" name="Picture 28" descr="Al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938" y="2139950"/>
            <a:ext cx="5270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68" name="Text Box 29"/>
          <p:cNvSpPr txBox="1">
            <a:spLocks noChangeArrowheads="1"/>
          </p:cNvSpPr>
          <p:nvPr/>
        </p:nvSpPr>
        <p:spPr bwMode="auto">
          <a:xfrm>
            <a:off x="1273175" y="2887663"/>
            <a:ext cx="39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m</a:t>
            </a:r>
          </a:p>
        </p:txBody>
      </p:sp>
      <p:sp>
        <p:nvSpPr>
          <p:cNvPr id="100369" name="Freeform 30"/>
          <p:cNvSpPr>
            <a:spLocks/>
          </p:cNvSpPr>
          <p:nvPr/>
        </p:nvSpPr>
        <p:spPr bwMode="auto">
          <a:xfrm>
            <a:off x="6672263" y="2741613"/>
            <a:ext cx="1335087" cy="782637"/>
          </a:xfrm>
          <a:custGeom>
            <a:avLst/>
            <a:gdLst>
              <a:gd name="T0" fmla="*/ 2147483647 w 2135"/>
              <a:gd name="T1" fmla="*/ 2147483647 h 1662"/>
              <a:gd name="T2" fmla="*/ 2147483647 w 2135"/>
              <a:gd name="T3" fmla="*/ 2147483647 h 1662"/>
              <a:gd name="T4" fmla="*/ 2147483647 w 2135"/>
              <a:gd name="T5" fmla="*/ 2147483647 h 1662"/>
              <a:gd name="T6" fmla="*/ 2147483647 w 2135"/>
              <a:gd name="T7" fmla="*/ 2147483647 h 1662"/>
              <a:gd name="T8" fmla="*/ 2147483647 w 2135"/>
              <a:gd name="T9" fmla="*/ 2147483647 h 1662"/>
              <a:gd name="T10" fmla="*/ 2147483647 w 2135"/>
              <a:gd name="T11" fmla="*/ 2147483647 h 1662"/>
              <a:gd name="T12" fmla="*/ 2147483647 w 2135"/>
              <a:gd name="T13" fmla="*/ 2147483647 h 1662"/>
              <a:gd name="T14" fmla="*/ 2147483647 w 2135"/>
              <a:gd name="T15" fmla="*/ 2147483647 h 1662"/>
              <a:gd name="T16" fmla="*/ 2147483647 w 2135"/>
              <a:gd name="T17" fmla="*/ 2147483647 h 1662"/>
              <a:gd name="T18" fmla="*/ 2147483647 w 2135"/>
              <a:gd name="T19" fmla="*/ 2147483647 h 1662"/>
              <a:gd name="T20" fmla="*/ 2147483647 w 2135"/>
              <a:gd name="T21" fmla="*/ 2147483647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100370" name="Line 31"/>
          <p:cNvSpPr>
            <a:spLocks noChangeShapeType="1"/>
          </p:cNvSpPr>
          <p:nvPr/>
        </p:nvSpPr>
        <p:spPr bwMode="auto">
          <a:xfrm>
            <a:off x="3783013" y="2425700"/>
            <a:ext cx="5064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100371" name="Picture 32" descr="BS00768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5287963" y="1662113"/>
            <a:ext cx="400050"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72" name="Picture 33" descr="BS00592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40450" y="2660650"/>
            <a:ext cx="544513"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0373" name="Group 34"/>
          <p:cNvGrpSpPr>
            <a:grpSpLocks/>
          </p:cNvGrpSpPr>
          <p:nvPr/>
        </p:nvGrpSpPr>
        <p:grpSpPr bwMode="auto">
          <a:xfrm>
            <a:off x="4279900" y="1939925"/>
            <a:ext cx="754063" cy="739775"/>
            <a:chOff x="1645" y="256"/>
            <a:chExt cx="475" cy="466"/>
          </a:xfrm>
        </p:grpSpPr>
        <p:sp>
          <p:nvSpPr>
            <p:cNvPr id="100400" name="Rectangle 35"/>
            <p:cNvSpPr>
              <a:spLocks noChangeArrowheads="1"/>
            </p:cNvSpPr>
            <p:nvPr/>
          </p:nvSpPr>
          <p:spPr bwMode="auto">
            <a:xfrm>
              <a:off x="1645" y="439"/>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00401" name="Text Box 36"/>
            <p:cNvSpPr txBox="1">
              <a:spLocks noChangeArrowheads="1"/>
            </p:cNvSpPr>
            <p:nvPr/>
          </p:nvSpPr>
          <p:spPr bwMode="auto">
            <a:xfrm>
              <a:off x="1654" y="456"/>
              <a:ext cx="44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K</a:t>
              </a:r>
              <a:r>
                <a:rPr lang="en-US" altLang="en-US" sz="2400"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100402" name="Text Box 37"/>
            <p:cNvSpPr txBox="1">
              <a:spLocks noChangeArrowheads="1"/>
            </p:cNvSpPr>
            <p:nvPr/>
          </p:nvSpPr>
          <p:spPr bwMode="auto">
            <a:xfrm>
              <a:off x="1871" y="256"/>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4000">
                  <a:latin typeface="Arial" pitchFamily="34" charset="0"/>
                  <a:cs typeface="Arial" pitchFamily="34" charset="0"/>
                </a:rPr>
                <a:t>.</a:t>
              </a:r>
            </a:p>
          </p:txBody>
        </p:sp>
      </p:grpSp>
      <p:grpSp>
        <p:nvGrpSpPr>
          <p:cNvPr id="100374" name="Group 38"/>
          <p:cNvGrpSpPr>
            <a:grpSpLocks/>
          </p:cNvGrpSpPr>
          <p:nvPr/>
        </p:nvGrpSpPr>
        <p:grpSpPr bwMode="auto">
          <a:xfrm>
            <a:off x="4303713" y="3140075"/>
            <a:ext cx="754062" cy="739775"/>
            <a:chOff x="2144" y="3214"/>
            <a:chExt cx="475" cy="466"/>
          </a:xfrm>
        </p:grpSpPr>
        <p:sp>
          <p:nvSpPr>
            <p:cNvPr id="100396" name="Rectangle 39"/>
            <p:cNvSpPr>
              <a:spLocks noChangeArrowheads="1"/>
            </p:cNvSpPr>
            <p:nvPr/>
          </p:nvSpPr>
          <p:spPr bwMode="auto">
            <a:xfrm>
              <a:off x="2144" y="3397"/>
              <a:ext cx="475" cy="283"/>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00397" name="Text Box 40"/>
            <p:cNvSpPr txBox="1">
              <a:spLocks noChangeArrowheads="1"/>
            </p:cNvSpPr>
            <p:nvPr/>
          </p:nvSpPr>
          <p:spPr bwMode="auto">
            <a:xfrm>
              <a:off x="2148" y="3432"/>
              <a:ext cx="43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K</a:t>
              </a:r>
              <a:r>
                <a:rPr lang="en-US" altLang="en-US" sz="2400" baseline="-25000">
                  <a:latin typeface="Arial" pitchFamily="34" charset="0"/>
                  <a:cs typeface="Arial" pitchFamily="34" charset="0"/>
                </a:rPr>
                <a:t>B</a:t>
              </a:r>
              <a:r>
                <a:rPr lang="en-US" altLang="en-US" sz="1800">
                  <a:latin typeface="Arial" pitchFamily="34" charset="0"/>
                  <a:cs typeface="Arial" pitchFamily="34" charset="0"/>
                </a:rPr>
                <a:t>( )</a:t>
              </a:r>
            </a:p>
          </p:txBody>
        </p:sp>
        <p:sp>
          <p:nvSpPr>
            <p:cNvPr id="100398" name="Text Box 41"/>
            <p:cNvSpPr txBox="1">
              <a:spLocks noChangeArrowheads="1"/>
            </p:cNvSpPr>
            <p:nvPr/>
          </p:nvSpPr>
          <p:spPr bwMode="auto">
            <a:xfrm>
              <a:off x="2351" y="3214"/>
              <a:ext cx="2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4000">
                  <a:latin typeface="Arial" pitchFamily="34" charset="0"/>
                  <a:cs typeface="Arial" pitchFamily="34" charset="0"/>
                </a:rPr>
                <a:t>.</a:t>
              </a:r>
            </a:p>
          </p:txBody>
        </p:sp>
        <p:sp>
          <p:nvSpPr>
            <p:cNvPr id="100399" name="Text Box 42"/>
            <p:cNvSpPr txBox="1">
              <a:spLocks noChangeArrowheads="1"/>
            </p:cNvSpPr>
            <p:nvPr/>
          </p:nvSpPr>
          <p:spPr bwMode="auto">
            <a:xfrm>
              <a:off x="2225" y="3331"/>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a:t>
              </a:r>
            </a:p>
          </p:txBody>
        </p:sp>
      </p:grpSp>
      <p:grpSp>
        <p:nvGrpSpPr>
          <p:cNvPr id="100375" name="Group 43"/>
          <p:cNvGrpSpPr>
            <a:grpSpLocks/>
          </p:cNvGrpSpPr>
          <p:nvPr/>
        </p:nvGrpSpPr>
        <p:grpSpPr bwMode="auto">
          <a:xfrm>
            <a:off x="5500688" y="2768600"/>
            <a:ext cx="638175" cy="519113"/>
            <a:chOff x="2862" y="1573"/>
            <a:chExt cx="402" cy="327"/>
          </a:xfrm>
        </p:grpSpPr>
        <p:sp>
          <p:nvSpPr>
            <p:cNvPr id="100394" name="Oval 44"/>
            <p:cNvSpPr>
              <a:spLocks noChangeArrowheads="1"/>
            </p:cNvSpPr>
            <p:nvPr/>
          </p:nvSpPr>
          <p:spPr bwMode="auto">
            <a:xfrm>
              <a:off x="2935" y="1637"/>
              <a:ext cx="238" cy="211"/>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00395" name="Text Box 45"/>
            <p:cNvSpPr txBox="1">
              <a:spLocks noChangeArrowheads="1"/>
            </p:cNvSpPr>
            <p:nvPr/>
          </p:nvSpPr>
          <p:spPr bwMode="auto">
            <a:xfrm>
              <a:off x="2862" y="1573"/>
              <a:ext cx="4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spcBef>
                  <a:spcPct val="50000"/>
                </a:spcBef>
              </a:pPr>
              <a:r>
                <a:rPr lang="en-US" altLang="en-US" sz="2800">
                  <a:latin typeface="Arial" pitchFamily="34" charset="0"/>
                  <a:cs typeface="Arial" pitchFamily="34" charset="0"/>
                </a:rPr>
                <a:t>+</a:t>
              </a:r>
            </a:p>
          </p:txBody>
        </p:sp>
      </p:grpSp>
      <p:sp>
        <p:nvSpPr>
          <p:cNvPr id="100376" name="Line 46"/>
          <p:cNvSpPr>
            <a:spLocks noChangeShapeType="1"/>
          </p:cNvSpPr>
          <p:nvPr/>
        </p:nvSpPr>
        <p:spPr bwMode="auto">
          <a:xfrm>
            <a:off x="3833813" y="3652838"/>
            <a:ext cx="5064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100377" name="Group 47"/>
          <p:cNvGrpSpPr>
            <a:grpSpLocks/>
          </p:cNvGrpSpPr>
          <p:nvPr/>
        </p:nvGrpSpPr>
        <p:grpSpPr bwMode="auto">
          <a:xfrm>
            <a:off x="5043488" y="3535363"/>
            <a:ext cx="982662" cy="530225"/>
            <a:chOff x="3497" y="648"/>
            <a:chExt cx="619" cy="334"/>
          </a:xfrm>
        </p:grpSpPr>
        <p:sp>
          <p:nvSpPr>
            <p:cNvPr id="100392" name="Text Box 48"/>
            <p:cNvSpPr txBox="1">
              <a:spLocks noChangeArrowheads="1"/>
            </p:cNvSpPr>
            <p:nvPr/>
          </p:nvSpPr>
          <p:spPr bwMode="auto">
            <a:xfrm>
              <a:off x="3497" y="749"/>
              <a:ext cx="61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K</a:t>
              </a:r>
              <a:r>
                <a:rPr lang="en-US" altLang="en-US" sz="2400" baseline="-25000">
                  <a:latin typeface="Arial" pitchFamily="34" charset="0"/>
                  <a:cs typeface="Arial" pitchFamily="34" charset="0"/>
                </a:rPr>
                <a:t>B</a:t>
              </a:r>
              <a:r>
                <a:rPr lang="en-US" altLang="en-US" sz="1800">
                  <a:latin typeface="Arial" pitchFamily="34" charset="0"/>
                  <a:cs typeface="Arial" pitchFamily="34" charset="0"/>
                </a:rPr>
                <a:t>(K</a:t>
              </a:r>
              <a:r>
                <a:rPr lang="en-US" altLang="en-US" sz="2400" baseline="-25000">
                  <a:latin typeface="Arial" pitchFamily="34" charset="0"/>
                  <a:cs typeface="Arial" pitchFamily="34" charset="0"/>
                </a:rPr>
                <a:t>S</a:t>
              </a:r>
              <a:r>
                <a:rPr lang="en-US" altLang="en-US" sz="1800">
                  <a:latin typeface="Arial" pitchFamily="34" charset="0"/>
                  <a:cs typeface="Arial" pitchFamily="34" charset="0"/>
                </a:rPr>
                <a:t> )</a:t>
              </a:r>
            </a:p>
          </p:txBody>
        </p:sp>
        <p:sp>
          <p:nvSpPr>
            <p:cNvPr id="100393" name="Text Box 49"/>
            <p:cNvSpPr txBox="1">
              <a:spLocks noChangeArrowheads="1"/>
            </p:cNvSpPr>
            <p:nvPr/>
          </p:nvSpPr>
          <p:spPr bwMode="auto">
            <a:xfrm>
              <a:off x="3575" y="648"/>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a:t>
              </a:r>
            </a:p>
          </p:txBody>
        </p:sp>
      </p:grpSp>
      <p:sp>
        <p:nvSpPr>
          <p:cNvPr id="100378" name="Freeform 50"/>
          <p:cNvSpPr>
            <a:spLocks/>
          </p:cNvSpPr>
          <p:nvPr/>
        </p:nvSpPr>
        <p:spPr bwMode="auto">
          <a:xfrm>
            <a:off x="5035550" y="2433638"/>
            <a:ext cx="755650" cy="392112"/>
          </a:xfrm>
          <a:custGeom>
            <a:avLst/>
            <a:gdLst>
              <a:gd name="T0" fmla="*/ 0 w 476"/>
              <a:gd name="T1" fmla="*/ 0 h 247"/>
              <a:gd name="T2" fmla="*/ 2147483647 w 476"/>
              <a:gd name="T3" fmla="*/ 0 h 247"/>
              <a:gd name="T4" fmla="*/ 2147483647 w 476"/>
              <a:gd name="T5" fmla="*/ 21474836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100379" name="Freeform 51"/>
          <p:cNvSpPr>
            <a:spLocks/>
          </p:cNvSpPr>
          <p:nvPr/>
        </p:nvSpPr>
        <p:spPr bwMode="auto">
          <a:xfrm flipV="1">
            <a:off x="5057775" y="3254375"/>
            <a:ext cx="755650" cy="392113"/>
          </a:xfrm>
          <a:custGeom>
            <a:avLst/>
            <a:gdLst>
              <a:gd name="T0" fmla="*/ 0 w 476"/>
              <a:gd name="T1" fmla="*/ 0 h 247"/>
              <a:gd name="T2" fmla="*/ 2147483647 w 476"/>
              <a:gd name="T3" fmla="*/ 0 h 247"/>
              <a:gd name="T4" fmla="*/ 2147483647 w 476"/>
              <a:gd name="T5" fmla="*/ 2147483647 h 247"/>
              <a:gd name="T6" fmla="*/ 0 60000 65536"/>
              <a:gd name="T7" fmla="*/ 0 60000 65536"/>
              <a:gd name="T8" fmla="*/ 0 60000 65536"/>
              <a:gd name="T9" fmla="*/ 0 w 476"/>
              <a:gd name="T10" fmla="*/ 0 h 247"/>
              <a:gd name="T11" fmla="*/ 476 w 476"/>
              <a:gd name="T12" fmla="*/ 247 h 247"/>
            </a:gdLst>
            <a:ahLst/>
            <a:cxnLst>
              <a:cxn ang="T6">
                <a:pos x="T0" y="T1"/>
              </a:cxn>
              <a:cxn ang="T7">
                <a:pos x="T2" y="T3"/>
              </a:cxn>
              <a:cxn ang="T8">
                <a:pos x="T4" y="T5"/>
              </a:cxn>
            </a:cxnLst>
            <a:rect l="T9" t="T10" r="T11" b="T12"/>
            <a:pathLst>
              <a:path w="476" h="247">
                <a:moveTo>
                  <a:pt x="0" y="0"/>
                </a:moveTo>
                <a:lnTo>
                  <a:pt x="476" y="0"/>
                </a:lnTo>
                <a:lnTo>
                  <a:pt x="476" y="247"/>
                </a:ln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100380" name="Text Box 52"/>
          <p:cNvSpPr txBox="1">
            <a:spLocks noChangeArrowheads="1"/>
          </p:cNvSpPr>
          <p:nvPr/>
        </p:nvSpPr>
        <p:spPr bwMode="auto">
          <a:xfrm>
            <a:off x="4849813" y="1597025"/>
            <a:ext cx="493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K</a:t>
            </a:r>
            <a:r>
              <a:rPr lang="en-US" altLang="en-US" sz="2400" baseline="-25000">
                <a:latin typeface="Arial" pitchFamily="34" charset="0"/>
                <a:cs typeface="Arial" pitchFamily="34" charset="0"/>
              </a:rPr>
              <a:t>S</a:t>
            </a:r>
          </a:p>
        </p:txBody>
      </p:sp>
      <p:sp>
        <p:nvSpPr>
          <p:cNvPr id="100381" name="Line 53"/>
          <p:cNvSpPr>
            <a:spLocks noChangeShapeType="1"/>
          </p:cNvSpPr>
          <p:nvPr/>
        </p:nvSpPr>
        <p:spPr bwMode="auto">
          <a:xfrm>
            <a:off x="4905375" y="1868488"/>
            <a:ext cx="14288" cy="36195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100382" name="Group 54"/>
          <p:cNvGrpSpPr>
            <a:grpSpLocks/>
          </p:cNvGrpSpPr>
          <p:nvPr/>
        </p:nvGrpSpPr>
        <p:grpSpPr bwMode="auto">
          <a:xfrm>
            <a:off x="4257675" y="3868738"/>
            <a:ext cx="474663" cy="603250"/>
            <a:chOff x="2636" y="674"/>
            <a:chExt cx="299" cy="380"/>
          </a:xfrm>
        </p:grpSpPr>
        <p:sp>
          <p:nvSpPr>
            <p:cNvPr id="100390" name="Text Box 55"/>
            <p:cNvSpPr txBox="1">
              <a:spLocks noChangeArrowheads="1"/>
            </p:cNvSpPr>
            <p:nvPr/>
          </p:nvSpPr>
          <p:spPr bwMode="auto">
            <a:xfrm>
              <a:off x="2636" y="763"/>
              <a:ext cx="2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K</a:t>
              </a:r>
              <a:r>
                <a:rPr lang="en-US" altLang="en-US" sz="2400" baseline="-25000">
                  <a:latin typeface="Arial" pitchFamily="34" charset="0"/>
                  <a:cs typeface="Arial" pitchFamily="34" charset="0"/>
                </a:rPr>
                <a:t>B</a:t>
              </a:r>
              <a:endParaRPr lang="en-US" altLang="en-US" sz="1800">
                <a:latin typeface="Arial" pitchFamily="34" charset="0"/>
                <a:cs typeface="Arial" pitchFamily="34" charset="0"/>
              </a:endParaRPr>
            </a:p>
          </p:txBody>
        </p:sp>
        <p:sp>
          <p:nvSpPr>
            <p:cNvPr id="100391" name="Text Box 56"/>
            <p:cNvSpPr txBox="1">
              <a:spLocks noChangeArrowheads="1"/>
            </p:cNvSpPr>
            <p:nvPr/>
          </p:nvSpPr>
          <p:spPr bwMode="auto">
            <a:xfrm>
              <a:off x="2721" y="674"/>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a:t>
              </a:r>
            </a:p>
          </p:txBody>
        </p:sp>
      </p:grpSp>
      <p:sp>
        <p:nvSpPr>
          <p:cNvPr id="100383" name="Line 57"/>
          <p:cNvSpPr>
            <a:spLocks noChangeShapeType="1"/>
          </p:cNvSpPr>
          <p:nvPr/>
        </p:nvSpPr>
        <p:spPr bwMode="auto">
          <a:xfrm>
            <a:off x="4667250" y="3906838"/>
            <a:ext cx="14288" cy="361950"/>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en-CA"/>
          </a:p>
        </p:txBody>
      </p:sp>
      <p:pic>
        <p:nvPicPr>
          <p:cNvPr id="100384" name="Picture 58" descr="BS00768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4756150" y="4181475"/>
            <a:ext cx="400050"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85" name="Line 59"/>
          <p:cNvSpPr>
            <a:spLocks noChangeShapeType="1"/>
          </p:cNvSpPr>
          <p:nvPr/>
        </p:nvSpPr>
        <p:spPr bwMode="auto">
          <a:xfrm flipV="1">
            <a:off x="6038850" y="3028950"/>
            <a:ext cx="768350" cy="142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0386" name="Text Box 60"/>
          <p:cNvSpPr txBox="1">
            <a:spLocks noChangeArrowheads="1"/>
          </p:cNvSpPr>
          <p:nvPr/>
        </p:nvSpPr>
        <p:spPr bwMode="auto">
          <a:xfrm>
            <a:off x="6862763" y="2984500"/>
            <a:ext cx="968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Internet</a:t>
            </a:r>
          </a:p>
        </p:txBody>
      </p:sp>
      <p:sp>
        <p:nvSpPr>
          <p:cNvPr id="100387" name="Text Box 61"/>
          <p:cNvSpPr txBox="1">
            <a:spLocks noChangeArrowheads="1"/>
          </p:cNvSpPr>
          <p:nvPr/>
        </p:nvSpPr>
        <p:spPr bwMode="auto">
          <a:xfrm>
            <a:off x="3440113" y="3470275"/>
            <a:ext cx="493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K</a:t>
            </a:r>
            <a:r>
              <a:rPr lang="en-US" altLang="en-US" sz="2400" baseline="-25000">
                <a:latin typeface="Arial" pitchFamily="34" charset="0"/>
                <a:cs typeface="Arial" pitchFamily="34" charset="0"/>
              </a:rPr>
              <a:t>S</a:t>
            </a:r>
          </a:p>
        </p:txBody>
      </p:sp>
      <p:pic>
        <p:nvPicPr>
          <p:cNvPr id="100388" name="Picture 62" descr="BS00768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3409950" y="3835400"/>
            <a:ext cx="400050"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89" name="Picture 17"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5475" y="801688"/>
            <a:ext cx="68564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7" name="Picture 1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888" y="1031875"/>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01379" name="Rectangle 2"/>
          <p:cNvSpPr>
            <a:spLocks noGrp="1" noChangeArrowheads="1"/>
          </p:cNvSpPr>
          <p:nvPr>
            <p:ph type="title"/>
          </p:nvPr>
        </p:nvSpPr>
        <p:spPr/>
        <p:txBody>
          <a:bodyPr/>
          <a:lstStyle/>
          <a:p>
            <a:r>
              <a:rPr lang="en-US" altLang="en-US" smtClean="0">
                <a:ea typeface="ＭＳ Ｐゴシック" pitchFamily="34" charset="-128"/>
              </a:rPr>
              <a:t>Toy SSL: a simple secure channel</a:t>
            </a:r>
          </a:p>
        </p:txBody>
      </p:sp>
      <p:sp>
        <p:nvSpPr>
          <p:cNvPr id="101380" name="Rectangle 3"/>
          <p:cNvSpPr>
            <a:spLocks noGrp="1" noChangeArrowheads="1"/>
          </p:cNvSpPr>
          <p:nvPr>
            <p:ph type="body" idx="1"/>
          </p:nvPr>
        </p:nvSpPr>
        <p:spPr/>
        <p:txBody>
          <a:bodyPr/>
          <a:lstStyle/>
          <a:p>
            <a:r>
              <a:rPr lang="en-US" altLang="en-US" i="1" smtClean="0">
                <a:solidFill>
                  <a:srgbClr val="C00000"/>
                </a:solidFill>
                <a:ea typeface="ＭＳ Ｐゴシック" pitchFamily="34" charset="-128"/>
              </a:rPr>
              <a:t>handshake:</a:t>
            </a:r>
            <a:r>
              <a:rPr lang="en-US" altLang="en-US" smtClean="0">
                <a:solidFill>
                  <a:srgbClr val="C00000"/>
                </a:solidFill>
                <a:ea typeface="ＭＳ Ｐゴシック" pitchFamily="34" charset="-128"/>
              </a:rPr>
              <a:t> </a:t>
            </a:r>
            <a:r>
              <a:rPr lang="en-US" altLang="en-US" smtClean="0">
                <a:ea typeface="ＭＳ Ｐゴシック" pitchFamily="34" charset="-128"/>
              </a:rPr>
              <a:t>Alice and Bob use their certificates, private keys to authenticate each other and exchange shared secret</a:t>
            </a:r>
          </a:p>
          <a:p>
            <a:r>
              <a:rPr lang="en-US" altLang="en-US" i="1" smtClean="0">
                <a:solidFill>
                  <a:srgbClr val="C00000"/>
                </a:solidFill>
                <a:ea typeface="ＭＳ Ｐゴシック" pitchFamily="34" charset="-128"/>
              </a:rPr>
              <a:t>key derivation</a:t>
            </a:r>
            <a:r>
              <a:rPr lang="en-US" altLang="en-US" i="1" smtClean="0">
                <a:solidFill>
                  <a:srgbClr val="FF0000"/>
                </a:solidFill>
                <a:ea typeface="ＭＳ Ｐゴシック" pitchFamily="34" charset="-128"/>
              </a:rPr>
              <a:t>:</a:t>
            </a:r>
            <a:r>
              <a:rPr lang="en-US" altLang="en-US" smtClean="0">
                <a:ea typeface="ＭＳ Ｐゴシック" pitchFamily="34" charset="-128"/>
              </a:rPr>
              <a:t> Alice and Bob use shared secret to derive set of keys</a:t>
            </a:r>
          </a:p>
          <a:p>
            <a:r>
              <a:rPr lang="en-US" altLang="en-US" i="1" smtClean="0">
                <a:solidFill>
                  <a:srgbClr val="C00000"/>
                </a:solidFill>
                <a:ea typeface="ＭＳ Ｐゴシック" pitchFamily="34" charset="-128"/>
              </a:rPr>
              <a:t>data transfer:</a:t>
            </a:r>
            <a:r>
              <a:rPr lang="en-US" altLang="en-US" smtClean="0">
                <a:solidFill>
                  <a:srgbClr val="C00000"/>
                </a:solidFill>
                <a:ea typeface="ＭＳ Ｐゴシック" pitchFamily="34" charset="-128"/>
              </a:rPr>
              <a:t> </a:t>
            </a:r>
            <a:r>
              <a:rPr lang="en-US" altLang="en-US" smtClean="0">
                <a:ea typeface="ＭＳ Ｐゴシック" pitchFamily="34" charset="-128"/>
              </a:rPr>
              <a:t>data to be transferred is broken up into series of records</a:t>
            </a:r>
          </a:p>
          <a:p>
            <a:r>
              <a:rPr lang="en-US" altLang="en-US" i="1" smtClean="0">
                <a:solidFill>
                  <a:srgbClr val="C00000"/>
                </a:solidFill>
                <a:ea typeface="ＭＳ Ｐゴシック" pitchFamily="34" charset="-128"/>
              </a:rPr>
              <a:t>connection closure</a:t>
            </a:r>
            <a:r>
              <a:rPr lang="en-US" altLang="en-US" i="1" smtClean="0">
                <a:solidFill>
                  <a:srgbClr val="FF0000"/>
                </a:solidFill>
                <a:ea typeface="ＭＳ Ｐゴシック" pitchFamily="34" charset="-128"/>
              </a:rPr>
              <a:t>:</a:t>
            </a:r>
            <a:r>
              <a:rPr lang="en-US" altLang="en-US" smtClean="0">
                <a:ea typeface="ＭＳ Ｐゴシック" pitchFamily="34" charset="-128"/>
              </a:rPr>
              <a:t> special messages to securely close connection</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1"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963" y="1042988"/>
            <a:ext cx="54848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02403" name="Rectangle 2"/>
          <p:cNvSpPr>
            <a:spLocks noGrp="1" noChangeArrowheads="1"/>
          </p:cNvSpPr>
          <p:nvPr>
            <p:ph type="title"/>
          </p:nvPr>
        </p:nvSpPr>
        <p:spPr/>
        <p:txBody>
          <a:bodyPr/>
          <a:lstStyle/>
          <a:p>
            <a:r>
              <a:rPr lang="en-US" altLang="en-US" smtClean="0">
                <a:ea typeface="ＭＳ Ｐゴシック" pitchFamily="34" charset="-128"/>
              </a:rPr>
              <a:t>Toy: a simple handshake</a:t>
            </a:r>
          </a:p>
        </p:txBody>
      </p:sp>
      <p:sp>
        <p:nvSpPr>
          <p:cNvPr id="102404" name="Rectangle 3"/>
          <p:cNvSpPr>
            <a:spLocks noGrp="1" noChangeArrowheads="1"/>
          </p:cNvSpPr>
          <p:nvPr>
            <p:ph type="body" idx="1"/>
          </p:nvPr>
        </p:nvSpPr>
        <p:spPr>
          <a:xfrm>
            <a:off x="1060450" y="4141788"/>
            <a:ext cx="7772400" cy="2268537"/>
          </a:xfrm>
        </p:spPr>
        <p:txBody>
          <a:bodyPr/>
          <a:lstStyle/>
          <a:p>
            <a:pPr marL="0" indent="0">
              <a:buFont typeface="Wingdings" pitchFamily="2" charset="2"/>
              <a:buNone/>
            </a:pPr>
            <a:r>
              <a:rPr lang="en-US" altLang="en-US" i="1" smtClean="0">
                <a:solidFill>
                  <a:srgbClr val="C00000"/>
                </a:solidFill>
                <a:ea typeface="ＭＳ Ｐゴシック" pitchFamily="34" charset="-128"/>
              </a:rPr>
              <a:t>MS: </a:t>
            </a:r>
            <a:r>
              <a:rPr lang="en-US" altLang="en-US" smtClean="0">
                <a:ea typeface="ＭＳ Ｐゴシック" pitchFamily="34" charset="-128"/>
              </a:rPr>
              <a:t>master secret</a:t>
            </a:r>
          </a:p>
          <a:p>
            <a:pPr marL="0" indent="0">
              <a:buFont typeface="Wingdings" pitchFamily="2" charset="2"/>
              <a:buNone/>
            </a:pPr>
            <a:r>
              <a:rPr lang="en-US" altLang="en-US" i="1" smtClean="0">
                <a:solidFill>
                  <a:srgbClr val="C00000"/>
                </a:solidFill>
                <a:ea typeface="ＭＳ Ｐゴシック" pitchFamily="34" charset="-128"/>
              </a:rPr>
              <a:t>EMS: </a:t>
            </a:r>
            <a:r>
              <a:rPr lang="en-US" altLang="en-US" smtClean="0">
                <a:ea typeface="ＭＳ Ｐゴシック" pitchFamily="34" charset="-128"/>
              </a:rPr>
              <a:t>encrypted master secret</a:t>
            </a:r>
          </a:p>
        </p:txBody>
      </p:sp>
      <p:sp>
        <p:nvSpPr>
          <p:cNvPr id="102405" name="Line 4"/>
          <p:cNvSpPr>
            <a:spLocks noChangeShapeType="1"/>
          </p:cNvSpPr>
          <p:nvPr/>
        </p:nvSpPr>
        <p:spPr bwMode="auto">
          <a:xfrm>
            <a:off x="1808163" y="1898650"/>
            <a:ext cx="4841875" cy="3206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2406" name="Text Box 5"/>
          <p:cNvSpPr txBox="1">
            <a:spLocks noChangeArrowheads="1"/>
          </p:cNvSpPr>
          <p:nvPr/>
        </p:nvSpPr>
        <p:spPr bwMode="auto">
          <a:xfrm rot="191117">
            <a:off x="3711575" y="1611313"/>
            <a:ext cx="742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hello</a:t>
            </a:r>
          </a:p>
        </p:txBody>
      </p:sp>
      <p:pic>
        <p:nvPicPr>
          <p:cNvPr id="102407" name="Picture 6" descr="Al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200" y="2389188"/>
            <a:ext cx="5270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8"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0100" y="2457450"/>
            <a:ext cx="642938"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9" name="Line 8"/>
          <p:cNvSpPr>
            <a:spLocks noChangeShapeType="1"/>
          </p:cNvSpPr>
          <p:nvPr/>
        </p:nvSpPr>
        <p:spPr bwMode="auto">
          <a:xfrm flipH="1">
            <a:off x="1808163" y="2587625"/>
            <a:ext cx="4841875" cy="5207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2410" name="Text Box 9"/>
          <p:cNvSpPr txBox="1">
            <a:spLocks noChangeArrowheads="1"/>
          </p:cNvSpPr>
          <p:nvPr/>
        </p:nvSpPr>
        <p:spPr bwMode="auto">
          <a:xfrm rot="-301744">
            <a:off x="2859088" y="2387600"/>
            <a:ext cx="2522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public key certificate</a:t>
            </a:r>
          </a:p>
        </p:txBody>
      </p:sp>
      <p:sp>
        <p:nvSpPr>
          <p:cNvPr id="102411" name="Line 10"/>
          <p:cNvSpPr>
            <a:spLocks noChangeShapeType="1"/>
          </p:cNvSpPr>
          <p:nvPr/>
        </p:nvSpPr>
        <p:spPr bwMode="auto">
          <a:xfrm>
            <a:off x="1808163" y="3508375"/>
            <a:ext cx="4841875"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2412" name="Text Box 11"/>
          <p:cNvSpPr txBox="1">
            <a:spLocks noChangeArrowheads="1"/>
          </p:cNvSpPr>
          <p:nvPr/>
        </p:nvSpPr>
        <p:spPr bwMode="auto">
          <a:xfrm rot="219716">
            <a:off x="3813175" y="3290888"/>
            <a:ext cx="1952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a:t>
            </a:r>
            <a:r>
              <a:rPr lang="en-US" altLang="en-US" baseline="-25000">
                <a:latin typeface="Arial" pitchFamily="34" charset="0"/>
                <a:cs typeface="Arial" pitchFamily="34" charset="0"/>
              </a:rPr>
              <a:t>B</a:t>
            </a:r>
            <a:r>
              <a:rPr lang="en-US" altLang="en-US" baseline="30000">
                <a:latin typeface="Arial" pitchFamily="34" charset="0"/>
                <a:cs typeface="Arial" pitchFamily="34" charset="0"/>
              </a:rPr>
              <a:t>+</a:t>
            </a:r>
            <a:r>
              <a:rPr lang="en-US" altLang="en-US">
                <a:latin typeface="Arial" pitchFamily="34" charset="0"/>
                <a:cs typeface="Arial" pitchFamily="34" charset="0"/>
              </a:rPr>
              <a:t>(MS) = EMS</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5" name="Picture 22"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88" y="1027113"/>
            <a:ext cx="45704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7"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03427" name="Rectangle 2"/>
          <p:cNvSpPr>
            <a:spLocks noGrp="1" noChangeArrowheads="1"/>
          </p:cNvSpPr>
          <p:nvPr>
            <p:ph type="title"/>
          </p:nvPr>
        </p:nvSpPr>
        <p:spPr/>
        <p:txBody>
          <a:bodyPr/>
          <a:lstStyle/>
          <a:p>
            <a:r>
              <a:rPr lang="en-US" altLang="en-US" smtClean="0">
                <a:ea typeface="ＭＳ Ｐゴシック" pitchFamily="34" charset="-128"/>
              </a:rPr>
              <a:t>Toy: key derivation</a:t>
            </a:r>
          </a:p>
        </p:txBody>
      </p:sp>
      <p:sp>
        <p:nvSpPr>
          <p:cNvPr id="103428" name="Rectangle 3"/>
          <p:cNvSpPr>
            <a:spLocks noGrp="1" noChangeArrowheads="1"/>
          </p:cNvSpPr>
          <p:nvPr>
            <p:ph type="body" idx="1"/>
          </p:nvPr>
        </p:nvSpPr>
        <p:spPr>
          <a:xfrm>
            <a:off x="555625" y="1535113"/>
            <a:ext cx="7772400" cy="4967287"/>
          </a:xfrm>
        </p:spPr>
        <p:txBody>
          <a:bodyPr/>
          <a:lstStyle/>
          <a:p>
            <a:r>
              <a:rPr lang="en-US" altLang="en-US" sz="2400" smtClean="0">
                <a:ea typeface="ＭＳ Ｐゴシック" pitchFamily="34" charset="-128"/>
              </a:rPr>
              <a:t>considered bad to use same key for more than one cryptographic operation</a:t>
            </a:r>
          </a:p>
          <a:p>
            <a:pPr lvl="1"/>
            <a:r>
              <a:rPr lang="en-US" altLang="en-US" sz="2000" smtClean="0">
                <a:ea typeface="ＭＳ Ｐゴシック" pitchFamily="34" charset="-128"/>
              </a:rPr>
              <a:t>use different keys for message authentication code (MAC) and encryption</a:t>
            </a:r>
          </a:p>
          <a:p>
            <a:r>
              <a:rPr lang="en-US" altLang="en-US" sz="2400" smtClean="0">
                <a:ea typeface="ＭＳ Ｐゴシック" pitchFamily="34" charset="-128"/>
              </a:rPr>
              <a:t>four keys:</a:t>
            </a:r>
          </a:p>
          <a:p>
            <a:pPr lvl="1"/>
            <a:r>
              <a:rPr lang="en-US" altLang="en-US" smtClean="0">
                <a:ea typeface="ＭＳ Ｐゴシック" pitchFamily="34" charset="-128"/>
              </a:rPr>
              <a:t>K</a:t>
            </a:r>
            <a:r>
              <a:rPr lang="en-US" altLang="en-US" baseline="-25000" smtClean="0">
                <a:ea typeface="ＭＳ Ｐゴシック" pitchFamily="34" charset="-128"/>
              </a:rPr>
              <a:t>c</a:t>
            </a:r>
            <a:r>
              <a:rPr lang="en-US" altLang="en-US" smtClean="0">
                <a:ea typeface="ＭＳ Ｐゴシック" pitchFamily="34" charset="-128"/>
              </a:rPr>
              <a:t> = encryption key for data sent from client to server</a:t>
            </a:r>
          </a:p>
          <a:p>
            <a:pPr lvl="1"/>
            <a:r>
              <a:rPr lang="en-US" altLang="en-US" smtClean="0">
                <a:ea typeface="ＭＳ Ｐゴシック" pitchFamily="34" charset="-128"/>
              </a:rPr>
              <a:t>M</a:t>
            </a:r>
            <a:r>
              <a:rPr lang="en-US" altLang="en-US" baseline="-25000" smtClean="0">
                <a:ea typeface="ＭＳ Ｐゴシック" pitchFamily="34" charset="-128"/>
              </a:rPr>
              <a:t>c</a:t>
            </a:r>
            <a:r>
              <a:rPr lang="en-US" altLang="en-US" smtClean="0">
                <a:ea typeface="ＭＳ Ｐゴシック" pitchFamily="34" charset="-128"/>
              </a:rPr>
              <a:t> = MAC key for data sent from client to server</a:t>
            </a:r>
          </a:p>
          <a:p>
            <a:pPr lvl="1"/>
            <a:r>
              <a:rPr lang="en-US" altLang="en-US" smtClean="0">
                <a:ea typeface="ＭＳ Ｐゴシック" pitchFamily="34" charset="-128"/>
              </a:rPr>
              <a:t>K</a:t>
            </a:r>
            <a:r>
              <a:rPr lang="en-US" altLang="en-US" baseline="-25000" smtClean="0">
                <a:ea typeface="ＭＳ Ｐゴシック" pitchFamily="34" charset="-128"/>
              </a:rPr>
              <a:t>s</a:t>
            </a:r>
            <a:r>
              <a:rPr lang="en-US" altLang="en-US" smtClean="0">
                <a:ea typeface="ＭＳ Ｐゴシック" pitchFamily="34" charset="-128"/>
              </a:rPr>
              <a:t> = encryption key for data sent from server to client</a:t>
            </a:r>
          </a:p>
          <a:p>
            <a:pPr lvl="1"/>
            <a:r>
              <a:rPr lang="en-US" altLang="en-US" smtClean="0">
                <a:ea typeface="ＭＳ Ｐゴシック" pitchFamily="34" charset="-128"/>
              </a:rPr>
              <a:t>M</a:t>
            </a:r>
            <a:r>
              <a:rPr lang="en-US" altLang="en-US" baseline="-25000" smtClean="0">
                <a:ea typeface="ＭＳ Ｐゴシック" pitchFamily="34" charset="-128"/>
              </a:rPr>
              <a:t>s</a:t>
            </a:r>
            <a:r>
              <a:rPr lang="en-US" altLang="en-US" smtClean="0">
                <a:ea typeface="ＭＳ Ｐゴシック" pitchFamily="34" charset="-128"/>
              </a:rPr>
              <a:t> = MAC key for data sent from server to client</a:t>
            </a:r>
          </a:p>
          <a:p>
            <a:r>
              <a:rPr lang="en-US" altLang="en-US" sz="2400" smtClean="0">
                <a:ea typeface="ＭＳ Ｐゴシック" pitchFamily="34" charset="-128"/>
              </a:rPr>
              <a:t>keys derived from key derivation function (KDF)</a:t>
            </a:r>
          </a:p>
          <a:p>
            <a:pPr lvl="1"/>
            <a:r>
              <a:rPr lang="en-US" altLang="en-US" sz="2000" smtClean="0">
                <a:ea typeface="ＭＳ Ｐゴシック" pitchFamily="34" charset="-128"/>
              </a:rPr>
              <a:t>takes master secret and (possibly) some additional random data and creates the keys</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49" name="Picture 23"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88" y="804863"/>
            <a:ext cx="41132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1"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04451" name="Rectangle 2"/>
          <p:cNvSpPr>
            <a:spLocks noGrp="1" noChangeArrowheads="1"/>
          </p:cNvSpPr>
          <p:nvPr>
            <p:ph type="title"/>
          </p:nvPr>
        </p:nvSpPr>
        <p:spPr>
          <a:xfrm>
            <a:off x="533400" y="0"/>
            <a:ext cx="7772400" cy="1143000"/>
          </a:xfrm>
        </p:spPr>
        <p:txBody>
          <a:bodyPr/>
          <a:lstStyle/>
          <a:p>
            <a:r>
              <a:rPr lang="en-US" altLang="en-US" smtClean="0">
                <a:ea typeface="ＭＳ Ｐゴシック" pitchFamily="34" charset="-128"/>
              </a:rPr>
              <a:t>Toy: data records</a:t>
            </a:r>
          </a:p>
        </p:txBody>
      </p:sp>
      <p:sp>
        <p:nvSpPr>
          <p:cNvPr id="104452" name="Rectangle 3"/>
          <p:cNvSpPr>
            <a:spLocks noGrp="1" noChangeArrowheads="1"/>
          </p:cNvSpPr>
          <p:nvPr>
            <p:ph type="body" idx="1"/>
          </p:nvPr>
        </p:nvSpPr>
        <p:spPr>
          <a:xfrm>
            <a:off x="533400" y="1143000"/>
            <a:ext cx="7772400" cy="3995738"/>
          </a:xfrm>
        </p:spPr>
        <p:txBody>
          <a:bodyPr/>
          <a:lstStyle/>
          <a:p>
            <a:pPr>
              <a:lnSpc>
                <a:spcPct val="80000"/>
              </a:lnSpc>
            </a:pPr>
            <a:r>
              <a:rPr lang="en-US" altLang="en-US" sz="2400" smtClean="0">
                <a:ea typeface="ＭＳ Ｐゴシック" pitchFamily="34" charset="-128"/>
              </a:rPr>
              <a:t>why not encrypt data in constant stream as we write it to TCP?</a:t>
            </a:r>
          </a:p>
          <a:p>
            <a:pPr lvl="1"/>
            <a:r>
              <a:rPr lang="en-US" altLang="en-US" sz="2000" smtClean="0">
                <a:ea typeface="ＭＳ Ｐゴシック" pitchFamily="34" charset="-128"/>
              </a:rPr>
              <a:t>where would we put the MAC? If at end, no message integrity until all data processed.</a:t>
            </a:r>
          </a:p>
          <a:p>
            <a:pPr lvl="1"/>
            <a:r>
              <a:rPr lang="en-US" altLang="en-US" sz="2000" smtClean="0">
                <a:ea typeface="ＭＳ Ｐゴシック" pitchFamily="34" charset="-128"/>
              </a:rPr>
              <a:t>e.g., with instant messaging, how can we do integrity check over all bytes sent before displaying?</a:t>
            </a:r>
          </a:p>
          <a:p>
            <a:pPr>
              <a:lnSpc>
                <a:spcPct val="80000"/>
              </a:lnSpc>
            </a:pPr>
            <a:r>
              <a:rPr lang="en-US" altLang="en-US" sz="2400" smtClean="0">
                <a:ea typeface="ＭＳ Ｐゴシック" pitchFamily="34" charset="-128"/>
              </a:rPr>
              <a:t>instead, break stream in series of records</a:t>
            </a:r>
          </a:p>
          <a:p>
            <a:pPr lvl="1">
              <a:lnSpc>
                <a:spcPct val="80000"/>
              </a:lnSpc>
            </a:pPr>
            <a:r>
              <a:rPr lang="en-US" altLang="en-US" sz="2000" smtClean="0">
                <a:ea typeface="ＭＳ Ｐゴシック" pitchFamily="34" charset="-128"/>
              </a:rPr>
              <a:t>each record carries a MAC</a:t>
            </a:r>
          </a:p>
          <a:p>
            <a:pPr lvl="1">
              <a:lnSpc>
                <a:spcPct val="80000"/>
              </a:lnSpc>
            </a:pPr>
            <a:r>
              <a:rPr lang="en-US" altLang="en-US" sz="2000" smtClean="0">
                <a:ea typeface="ＭＳ Ｐゴシック" pitchFamily="34" charset="-128"/>
              </a:rPr>
              <a:t>receiver can act on each record as it arrives</a:t>
            </a:r>
          </a:p>
          <a:p>
            <a:pPr>
              <a:lnSpc>
                <a:spcPct val="80000"/>
              </a:lnSpc>
            </a:pPr>
            <a:r>
              <a:rPr lang="en-US" altLang="en-US" sz="2400" smtClean="0">
                <a:ea typeface="ＭＳ Ｐゴシック" pitchFamily="34" charset="-128"/>
              </a:rPr>
              <a:t>issue: in record, receiver needs to distinguish MAC from data</a:t>
            </a:r>
          </a:p>
          <a:p>
            <a:pPr lvl="1">
              <a:lnSpc>
                <a:spcPct val="80000"/>
              </a:lnSpc>
            </a:pPr>
            <a:r>
              <a:rPr lang="en-US" altLang="en-US" sz="2000" smtClean="0">
                <a:ea typeface="ＭＳ Ｐゴシック" pitchFamily="34" charset="-128"/>
              </a:rPr>
              <a:t>want to use variable-length records</a:t>
            </a:r>
          </a:p>
        </p:txBody>
      </p:sp>
      <p:sp>
        <p:nvSpPr>
          <p:cNvPr id="104453" name="Rectangle 4"/>
          <p:cNvSpPr>
            <a:spLocks noChangeArrowheads="1"/>
          </p:cNvSpPr>
          <p:nvPr/>
        </p:nvSpPr>
        <p:spPr bwMode="auto">
          <a:xfrm>
            <a:off x="1884363" y="5332413"/>
            <a:ext cx="927100" cy="566737"/>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length</a:t>
            </a:r>
          </a:p>
        </p:txBody>
      </p:sp>
      <p:sp>
        <p:nvSpPr>
          <p:cNvPr id="104454" name="Rectangle 5"/>
          <p:cNvSpPr>
            <a:spLocks noChangeArrowheads="1"/>
          </p:cNvSpPr>
          <p:nvPr/>
        </p:nvSpPr>
        <p:spPr bwMode="auto">
          <a:xfrm>
            <a:off x="2811463" y="5332413"/>
            <a:ext cx="3967162" cy="566737"/>
          </a:xfrm>
          <a:prstGeom prst="rect">
            <a:avLst/>
          </a:prstGeom>
          <a:solidFill>
            <a:srgbClr val="FF99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data</a:t>
            </a:r>
          </a:p>
        </p:txBody>
      </p:sp>
      <p:sp>
        <p:nvSpPr>
          <p:cNvPr id="104455" name="Rectangle 6"/>
          <p:cNvSpPr>
            <a:spLocks noChangeArrowheads="1"/>
          </p:cNvSpPr>
          <p:nvPr/>
        </p:nvSpPr>
        <p:spPr bwMode="auto">
          <a:xfrm>
            <a:off x="6778625" y="5332413"/>
            <a:ext cx="1030288" cy="566737"/>
          </a:xfrm>
          <a:prstGeom prst="rect">
            <a:avLst/>
          </a:prstGeom>
          <a:solidFill>
            <a:srgbClr val="CCFFFF"/>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MAC</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3"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050" y="1020763"/>
            <a:ext cx="54848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05475" name="Rectangle 2"/>
          <p:cNvSpPr>
            <a:spLocks noGrp="1" noChangeArrowheads="1"/>
          </p:cNvSpPr>
          <p:nvPr>
            <p:ph type="title"/>
          </p:nvPr>
        </p:nvSpPr>
        <p:spPr/>
        <p:txBody>
          <a:bodyPr/>
          <a:lstStyle/>
          <a:p>
            <a:r>
              <a:rPr lang="en-US" altLang="en-US" smtClean="0">
                <a:ea typeface="ＭＳ Ｐゴシック" pitchFamily="34" charset="-128"/>
              </a:rPr>
              <a:t>Toy: sequence numbers</a:t>
            </a:r>
          </a:p>
        </p:txBody>
      </p:sp>
      <p:sp>
        <p:nvSpPr>
          <p:cNvPr id="69637" name="Rectangle 3"/>
          <p:cNvSpPr>
            <a:spLocks noGrp="1" noChangeArrowheads="1"/>
          </p:cNvSpPr>
          <p:nvPr>
            <p:ph type="body" idx="1"/>
          </p:nvPr>
        </p:nvSpPr>
        <p:spPr/>
        <p:txBody>
          <a:bodyPr/>
          <a:lstStyle/>
          <a:p>
            <a:pPr>
              <a:defRPr/>
            </a:pPr>
            <a:r>
              <a:rPr lang="en-US" i="1" dirty="0" smtClean="0">
                <a:solidFill>
                  <a:srgbClr val="C00000"/>
                </a:solidFill>
                <a:ea typeface="+mn-ea"/>
              </a:rPr>
              <a:t>problem: </a:t>
            </a:r>
            <a:r>
              <a:rPr lang="en-US" dirty="0" smtClean="0">
                <a:ea typeface="+mn-ea"/>
              </a:rPr>
              <a:t>attacker can capture and replay record or re-order records</a:t>
            </a:r>
          </a:p>
          <a:p>
            <a:pPr>
              <a:defRPr/>
            </a:pPr>
            <a:r>
              <a:rPr lang="en-US" i="1" dirty="0" smtClean="0">
                <a:solidFill>
                  <a:srgbClr val="C00000"/>
                </a:solidFill>
                <a:ea typeface="+mn-ea"/>
              </a:rPr>
              <a:t>solution: </a:t>
            </a:r>
            <a:r>
              <a:rPr lang="en-US" dirty="0" smtClean="0">
                <a:ea typeface="+mn-ea"/>
              </a:rPr>
              <a:t>put sequence number into MAC:</a:t>
            </a:r>
          </a:p>
          <a:p>
            <a:pPr lvl="1">
              <a:defRPr/>
            </a:pPr>
            <a:r>
              <a:rPr lang="en-US" dirty="0" smtClean="0"/>
              <a:t>MAC = MAC(</a:t>
            </a:r>
            <a:r>
              <a:rPr lang="en-US" dirty="0" err="1" smtClean="0"/>
              <a:t>M</a:t>
            </a:r>
            <a:r>
              <a:rPr lang="en-US" baseline="-25000" dirty="0" err="1" smtClean="0"/>
              <a:t>x</a:t>
            </a:r>
            <a:r>
              <a:rPr lang="en-US" dirty="0" smtClean="0"/>
              <a:t>, sequence||data)</a:t>
            </a:r>
          </a:p>
          <a:p>
            <a:pPr lvl="1">
              <a:defRPr/>
            </a:pPr>
            <a:r>
              <a:rPr lang="en-US" dirty="0" smtClean="0"/>
              <a:t>note: no sequence number field</a:t>
            </a:r>
          </a:p>
          <a:p>
            <a:pPr>
              <a:defRPr/>
            </a:pPr>
            <a:endParaRPr lang="en-US" i="1" dirty="0">
              <a:solidFill>
                <a:srgbClr val="C00000"/>
              </a:solidFill>
              <a:ea typeface="+mn-ea"/>
            </a:endParaRPr>
          </a:p>
          <a:p>
            <a:pPr>
              <a:defRPr/>
            </a:pPr>
            <a:r>
              <a:rPr lang="en-US" i="1" dirty="0" smtClean="0">
                <a:solidFill>
                  <a:srgbClr val="C00000"/>
                </a:solidFill>
                <a:ea typeface="+mn-ea"/>
              </a:rPr>
              <a:t>problem: </a:t>
            </a:r>
            <a:r>
              <a:rPr lang="en-US" dirty="0" smtClean="0">
                <a:ea typeface="+mn-ea"/>
              </a:rPr>
              <a:t>attacker could replay all records</a:t>
            </a:r>
          </a:p>
          <a:p>
            <a:pPr>
              <a:defRPr/>
            </a:pPr>
            <a:r>
              <a:rPr lang="en-US" i="1" dirty="0" smtClean="0">
                <a:solidFill>
                  <a:srgbClr val="C00000"/>
                </a:solidFill>
                <a:ea typeface="+mn-ea"/>
              </a:rPr>
              <a:t>solution: </a:t>
            </a:r>
            <a:r>
              <a:rPr lang="en-US" dirty="0" smtClean="0">
                <a:ea typeface="+mn-ea"/>
              </a:rPr>
              <a:t>use nonce</a:t>
            </a:r>
          </a:p>
          <a:p>
            <a:pPr marL="0" indent="0">
              <a:buFont typeface="Wingdings" pitchFamily="2" charset="2"/>
              <a:buNone/>
              <a:defRPr/>
            </a:pPr>
            <a:endParaRPr lang="en-US" dirty="0" smtClean="0">
              <a:ea typeface="+mn-ea"/>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06498" name="Rectangle 2"/>
          <p:cNvSpPr>
            <a:spLocks noGrp="1" noChangeArrowheads="1"/>
          </p:cNvSpPr>
          <p:nvPr>
            <p:ph type="title"/>
          </p:nvPr>
        </p:nvSpPr>
        <p:spPr/>
        <p:txBody>
          <a:bodyPr/>
          <a:lstStyle/>
          <a:p>
            <a:r>
              <a:rPr lang="en-US" altLang="en-US" smtClean="0">
                <a:ea typeface="ＭＳ Ｐゴシック" pitchFamily="34" charset="-128"/>
              </a:rPr>
              <a:t>Toy: control information</a:t>
            </a:r>
          </a:p>
        </p:txBody>
      </p:sp>
      <p:sp>
        <p:nvSpPr>
          <p:cNvPr id="106499" name="Rectangle 3"/>
          <p:cNvSpPr>
            <a:spLocks noGrp="1" noChangeArrowheads="1"/>
          </p:cNvSpPr>
          <p:nvPr>
            <p:ph type="body" idx="1"/>
          </p:nvPr>
        </p:nvSpPr>
        <p:spPr>
          <a:xfrm>
            <a:off x="533400" y="1600200"/>
            <a:ext cx="7772400" cy="3821113"/>
          </a:xfrm>
        </p:spPr>
        <p:txBody>
          <a:bodyPr/>
          <a:lstStyle/>
          <a:p>
            <a:r>
              <a:rPr lang="en-US" altLang="en-US" i="1" smtClean="0">
                <a:solidFill>
                  <a:srgbClr val="C00000"/>
                </a:solidFill>
                <a:ea typeface="ＭＳ Ｐゴシック" pitchFamily="34" charset="-128"/>
              </a:rPr>
              <a:t>problem: </a:t>
            </a:r>
            <a:r>
              <a:rPr lang="en-US" altLang="en-US" smtClean="0">
                <a:ea typeface="ＭＳ Ｐゴシック" pitchFamily="34" charset="-128"/>
              </a:rPr>
              <a:t>truncation attack: </a:t>
            </a:r>
          </a:p>
          <a:p>
            <a:pPr lvl="1"/>
            <a:r>
              <a:rPr lang="en-US" altLang="en-US" smtClean="0">
                <a:ea typeface="ＭＳ Ｐゴシック" pitchFamily="34" charset="-128"/>
              </a:rPr>
              <a:t>attacker forges TCP connection close segment</a:t>
            </a:r>
          </a:p>
          <a:p>
            <a:pPr lvl="1"/>
            <a:r>
              <a:rPr lang="en-US" altLang="en-US" smtClean="0">
                <a:ea typeface="ＭＳ Ｐゴシック" pitchFamily="34" charset="-128"/>
              </a:rPr>
              <a:t>one or both sides thinks there is less data than there actually is. </a:t>
            </a:r>
          </a:p>
          <a:p>
            <a:r>
              <a:rPr lang="en-US" altLang="en-US" i="1" smtClean="0">
                <a:solidFill>
                  <a:srgbClr val="C00000"/>
                </a:solidFill>
                <a:ea typeface="ＭＳ Ｐゴシック" pitchFamily="34" charset="-128"/>
              </a:rPr>
              <a:t>solution: </a:t>
            </a:r>
            <a:r>
              <a:rPr lang="en-US" altLang="en-US" smtClean="0">
                <a:ea typeface="ＭＳ Ｐゴシック" pitchFamily="34" charset="-128"/>
              </a:rPr>
              <a:t>record types, with one type for closure</a:t>
            </a:r>
          </a:p>
          <a:p>
            <a:pPr lvl="1"/>
            <a:r>
              <a:rPr lang="en-US" altLang="en-US" smtClean="0">
                <a:ea typeface="ＭＳ Ｐゴシック" pitchFamily="34" charset="-128"/>
              </a:rPr>
              <a:t>type 0 for data; type 1 for closure</a:t>
            </a:r>
          </a:p>
          <a:p>
            <a:r>
              <a:rPr lang="en-US" altLang="en-US" smtClean="0">
                <a:ea typeface="ＭＳ Ｐゴシック" pitchFamily="34" charset="-128"/>
              </a:rPr>
              <a:t>MAC = MAC(M</a:t>
            </a:r>
            <a:r>
              <a:rPr lang="en-US" altLang="en-US" baseline="-25000" smtClean="0">
                <a:ea typeface="ＭＳ Ｐゴシック" pitchFamily="34" charset="-128"/>
              </a:rPr>
              <a:t>x</a:t>
            </a:r>
            <a:r>
              <a:rPr lang="en-US" altLang="en-US" smtClean="0">
                <a:ea typeface="ＭＳ Ｐゴシック" pitchFamily="34" charset="-128"/>
              </a:rPr>
              <a:t>, sequence||type||data)</a:t>
            </a:r>
          </a:p>
        </p:txBody>
      </p:sp>
      <p:sp>
        <p:nvSpPr>
          <p:cNvPr id="106500" name="Rectangle 5"/>
          <p:cNvSpPr>
            <a:spLocks noChangeArrowheads="1"/>
          </p:cNvSpPr>
          <p:nvPr/>
        </p:nvSpPr>
        <p:spPr bwMode="auto">
          <a:xfrm>
            <a:off x="2197100" y="5592763"/>
            <a:ext cx="869950" cy="554037"/>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06501" name="Rectangle 7"/>
          <p:cNvSpPr>
            <a:spLocks noChangeArrowheads="1"/>
          </p:cNvSpPr>
          <p:nvPr/>
        </p:nvSpPr>
        <p:spPr bwMode="auto">
          <a:xfrm>
            <a:off x="3067050" y="5592763"/>
            <a:ext cx="869950" cy="554037"/>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06502" name="Rectangle 8"/>
          <p:cNvSpPr>
            <a:spLocks noChangeArrowheads="1"/>
          </p:cNvSpPr>
          <p:nvPr/>
        </p:nvSpPr>
        <p:spPr bwMode="auto">
          <a:xfrm>
            <a:off x="3937000" y="5592763"/>
            <a:ext cx="2584450" cy="554037"/>
          </a:xfrm>
          <a:prstGeom prst="rect">
            <a:avLst/>
          </a:prstGeom>
          <a:solidFill>
            <a:srgbClr val="FF99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06503" name="Rectangle 9"/>
          <p:cNvSpPr>
            <a:spLocks noChangeArrowheads="1"/>
          </p:cNvSpPr>
          <p:nvPr/>
        </p:nvSpPr>
        <p:spPr bwMode="auto">
          <a:xfrm>
            <a:off x="6521450" y="5592763"/>
            <a:ext cx="869950" cy="554037"/>
          </a:xfrm>
          <a:prstGeom prst="rect">
            <a:avLst/>
          </a:prstGeom>
          <a:solidFill>
            <a:srgbClr val="99CCFF"/>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06504" name="Text Box 10"/>
          <p:cNvSpPr txBox="1">
            <a:spLocks noChangeArrowheads="1"/>
          </p:cNvSpPr>
          <p:nvPr/>
        </p:nvSpPr>
        <p:spPr bwMode="auto">
          <a:xfrm>
            <a:off x="2182813" y="5681663"/>
            <a:ext cx="884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length</a:t>
            </a:r>
          </a:p>
        </p:txBody>
      </p:sp>
      <p:sp>
        <p:nvSpPr>
          <p:cNvPr id="106505" name="Text Box 12"/>
          <p:cNvSpPr txBox="1">
            <a:spLocks noChangeArrowheads="1"/>
          </p:cNvSpPr>
          <p:nvPr/>
        </p:nvSpPr>
        <p:spPr bwMode="auto">
          <a:xfrm>
            <a:off x="3186113" y="5681663"/>
            <a:ext cx="668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type</a:t>
            </a:r>
          </a:p>
        </p:txBody>
      </p:sp>
      <p:sp>
        <p:nvSpPr>
          <p:cNvPr id="106506" name="Text Box 13"/>
          <p:cNvSpPr txBox="1">
            <a:spLocks noChangeArrowheads="1"/>
          </p:cNvSpPr>
          <p:nvPr/>
        </p:nvSpPr>
        <p:spPr bwMode="auto">
          <a:xfrm>
            <a:off x="4757738" y="5670550"/>
            <a:ext cx="682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data</a:t>
            </a:r>
          </a:p>
        </p:txBody>
      </p:sp>
      <p:sp>
        <p:nvSpPr>
          <p:cNvPr id="106507" name="Text Box 14"/>
          <p:cNvSpPr txBox="1">
            <a:spLocks noChangeArrowheads="1"/>
          </p:cNvSpPr>
          <p:nvPr/>
        </p:nvSpPr>
        <p:spPr bwMode="auto">
          <a:xfrm>
            <a:off x="6600825" y="5681663"/>
            <a:ext cx="75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MAC</a:t>
            </a:r>
          </a:p>
        </p:txBody>
      </p:sp>
      <p:pic>
        <p:nvPicPr>
          <p:cNvPr id="106508"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050" y="1020763"/>
            <a:ext cx="5611813" cy="16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1" name="Picture 22"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777875"/>
            <a:ext cx="4570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3"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cs typeface="Arial" charset="0"/>
              </a:rPr>
              <a:t>Network Security</a:t>
            </a:r>
          </a:p>
        </p:txBody>
      </p:sp>
      <p:sp>
        <p:nvSpPr>
          <p:cNvPr id="107523" name="Rectangle 2"/>
          <p:cNvSpPr>
            <a:spLocks noGrp="1" noChangeArrowheads="1"/>
          </p:cNvSpPr>
          <p:nvPr>
            <p:ph type="title"/>
          </p:nvPr>
        </p:nvSpPr>
        <p:spPr>
          <a:xfrm>
            <a:off x="533400" y="0"/>
            <a:ext cx="7772400" cy="1143000"/>
          </a:xfrm>
        </p:spPr>
        <p:txBody>
          <a:bodyPr/>
          <a:lstStyle/>
          <a:p>
            <a:r>
              <a:rPr lang="en-US" altLang="en-US" smtClean="0">
                <a:ea typeface="ＭＳ Ｐゴシック" pitchFamily="34" charset="-128"/>
              </a:rPr>
              <a:t>Toy SSL: summary</a:t>
            </a:r>
          </a:p>
        </p:txBody>
      </p:sp>
      <p:grpSp>
        <p:nvGrpSpPr>
          <p:cNvPr id="107524" name="Group 3"/>
          <p:cNvGrpSpPr>
            <a:grpSpLocks/>
          </p:cNvGrpSpPr>
          <p:nvPr/>
        </p:nvGrpSpPr>
        <p:grpSpPr bwMode="auto">
          <a:xfrm>
            <a:off x="1828800" y="1474788"/>
            <a:ext cx="4343400" cy="4935537"/>
            <a:chOff x="912" y="971"/>
            <a:chExt cx="2736" cy="3109"/>
          </a:xfrm>
        </p:grpSpPr>
        <p:grpSp>
          <p:nvGrpSpPr>
            <p:cNvPr id="107530" name="Group 4"/>
            <p:cNvGrpSpPr>
              <a:grpSpLocks/>
            </p:cNvGrpSpPr>
            <p:nvPr/>
          </p:nvGrpSpPr>
          <p:grpSpPr bwMode="auto">
            <a:xfrm>
              <a:off x="912" y="1152"/>
              <a:ext cx="2736" cy="2928"/>
              <a:chOff x="912" y="864"/>
              <a:chExt cx="2736" cy="2928"/>
            </a:xfrm>
          </p:grpSpPr>
          <p:sp>
            <p:nvSpPr>
              <p:cNvPr id="107540" name="Line 5"/>
              <p:cNvSpPr>
                <a:spLocks noChangeShapeType="1"/>
              </p:cNvSpPr>
              <p:nvPr/>
            </p:nvSpPr>
            <p:spPr bwMode="auto">
              <a:xfrm>
                <a:off x="912" y="864"/>
                <a:ext cx="2736"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7541" name="Line 6"/>
              <p:cNvSpPr>
                <a:spLocks noChangeShapeType="1"/>
              </p:cNvSpPr>
              <p:nvPr/>
            </p:nvSpPr>
            <p:spPr bwMode="auto">
              <a:xfrm flipH="1">
                <a:off x="912" y="1152"/>
                <a:ext cx="27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7542" name="Line 7"/>
              <p:cNvSpPr>
                <a:spLocks noChangeShapeType="1"/>
              </p:cNvSpPr>
              <p:nvPr/>
            </p:nvSpPr>
            <p:spPr bwMode="auto">
              <a:xfrm>
                <a:off x="912" y="1536"/>
                <a:ext cx="2736"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7543" name="Line 8"/>
              <p:cNvSpPr>
                <a:spLocks noChangeShapeType="1"/>
              </p:cNvSpPr>
              <p:nvPr/>
            </p:nvSpPr>
            <p:spPr bwMode="auto">
              <a:xfrm>
                <a:off x="912" y="1776"/>
                <a:ext cx="2736"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7544" name="Line 9"/>
              <p:cNvSpPr>
                <a:spLocks noChangeShapeType="1"/>
              </p:cNvSpPr>
              <p:nvPr/>
            </p:nvSpPr>
            <p:spPr bwMode="auto">
              <a:xfrm>
                <a:off x="912" y="2064"/>
                <a:ext cx="2736"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7545" name="Line 10"/>
              <p:cNvSpPr>
                <a:spLocks noChangeShapeType="1"/>
              </p:cNvSpPr>
              <p:nvPr/>
            </p:nvSpPr>
            <p:spPr bwMode="auto">
              <a:xfrm flipH="1">
                <a:off x="912" y="2352"/>
                <a:ext cx="27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7546" name="Line 11"/>
              <p:cNvSpPr>
                <a:spLocks noChangeShapeType="1"/>
              </p:cNvSpPr>
              <p:nvPr/>
            </p:nvSpPr>
            <p:spPr bwMode="auto">
              <a:xfrm>
                <a:off x="912" y="2880"/>
                <a:ext cx="2736"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7547" name="Line 12"/>
              <p:cNvSpPr>
                <a:spLocks noChangeShapeType="1"/>
              </p:cNvSpPr>
              <p:nvPr/>
            </p:nvSpPr>
            <p:spPr bwMode="auto">
              <a:xfrm>
                <a:off x="912" y="3216"/>
                <a:ext cx="2736"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07548" name="Line 13"/>
              <p:cNvSpPr>
                <a:spLocks noChangeShapeType="1"/>
              </p:cNvSpPr>
              <p:nvPr/>
            </p:nvSpPr>
            <p:spPr bwMode="auto">
              <a:xfrm flipH="1">
                <a:off x="912" y="3600"/>
                <a:ext cx="27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sp>
          <p:nvSpPr>
            <p:cNvPr id="107531" name="Text Box 14"/>
            <p:cNvSpPr txBox="1">
              <a:spLocks noChangeArrowheads="1"/>
            </p:cNvSpPr>
            <p:nvPr/>
          </p:nvSpPr>
          <p:spPr bwMode="auto">
            <a:xfrm rot="219254">
              <a:off x="2006" y="971"/>
              <a:ext cx="4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hello</a:t>
              </a:r>
            </a:p>
          </p:txBody>
        </p:sp>
        <p:sp>
          <p:nvSpPr>
            <p:cNvPr id="107532" name="Text Box 15"/>
            <p:cNvSpPr txBox="1">
              <a:spLocks noChangeArrowheads="1"/>
            </p:cNvSpPr>
            <p:nvPr/>
          </p:nvSpPr>
          <p:spPr bwMode="auto">
            <a:xfrm rot="-219716">
              <a:off x="1583" y="1292"/>
              <a:ext cx="1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certificate, nonce</a:t>
              </a:r>
            </a:p>
          </p:txBody>
        </p:sp>
        <p:sp>
          <p:nvSpPr>
            <p:cNvPr id="107533" name="Text Box 16"/>
            <p:cNvSpPr txBox="1">
              <a:spLocks noChangeArrowheads="1"/>
            </p:cNvSpPr>
            <p:nvPr/>
          </p:nvSpPr>
          <p:spPr bwMode="auto">
            <a:xfrm rot="191774">
              <a:off x="1859" y="1632"/>
              <a:ext cx="12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a:t>
              </a:r>
              <a:r>
                <a:rPr lang="en-US" altLang="en-US" baseline="-25000">
                  <a:latin typeface="Arial" pitchFamily="34" charset="0"/>
                  <a:cs typeface="Arial" pitchFamily="34" charset="0"/>
                </a:rPr>
                <a:t>B</a:t>
              </a:r>
              <a:r>
                <a:rPr lang="en-US" altLang="en-US" baseline="30000">
                  <a:latin typeface="Arial" pitchFamily="34" charset="0"/>
                  <a:cs typeface="Arial" pitchFamily="34" charset="0"/>
                </a:rPr>
                <a:t>+</a:t>
              </a:r>
              <a:r>
                <a:rPr lang="en-US" altLang="en-US">
                  <a:latin typeface="Arial" pitchFamily="34" charset="0"/>
                  <a:cs typeface="Arial" pitchFamily="34" charset="0"/>
                </a:rPr>
                <a:t>(MS) = EMS</a:t>
              </a:r>
            </a:p>
          </p:txBody>
        </p:sp>
        <p:sp>
          <p:nvSpPr>
            <p:cNvPr id="107534" name="Text Box 17"/>
            <p:cNvSpPr txBox="1">
              <a:spLocks noChangeArrowheads="1"/>
            </p:cNvSpPr>
            <p:nvPr/>
          </p:nvSpPr>
          <p:spPr bwMode="auto">
            <a:xfrm rot="192313">
              <a:off x="1575" y="1910"/>
              <a:ext cx="1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type 0, seq 1, data</a:t>
              </a:r>
            </a:p>
          </p:txBody>
        </p:sp>
        <p:sp>
          <p:nvSpPr>
            <p:cNvPr id="107535" name="Text Box 18"/>
            <p:cNvSpPr txBox="1">
              <a:spLocks noChangeArrowheads="1"/>
            </p:cNvSpPr>
            <p:nvPr/>
          </p:nvSpPr>
          <p:spPr bwMode="auto">
            <a:xfrm rot="192313">
              <a:off x="1703" y="2159"/>
              <a:ext cx="144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type 0, seq 2, data</a:t>
              </a:r>
            </a:p>
          </p:txBody>
        </p:sp>
        <p:sp>
          <p:nvSpPr>
            <p:cNvPr id="107536" name="Text Box 19"/>
            <p:cNvSpPr txBox="1">
              <a:spLocks noChangeArrowheads="1"/>
            </p:cNvSpPr>
            <p:nvPr/>
          </p:nvSpPr>
          <p:spPr bwMode="auto">
            <a:xfrm rot="-385404">
              <a:off x="1609" y="2515"/>
              <a:ext cx="1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type 0, seq 1, data</a:t>
              </a:r>
            </a:p>
          </p:txBody>
        </p:sp>
        <p:sp>
          <p:nvSpPr>
            <p:cNvPr id="107537" name="Text Box 20"/>
            <p:cNvSpPr txBox="1">
              <a:spLocks noChangeArrowheads="1"/>
            </p:cNvSpPr>
            <p:nvPr/>
          </p:nvSpPr>
          <p:spPr bwMode="auto">
            <a:xfrm rot="192313">
              <a:off x="1891" y="3042"/>
              <a:ext cx="144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type 0, seq 3, data</a:t>
              </a:r>
            </a:p>
          </p:txBody>
        </p:sp>
        <p:sp>
          <p:nvSpPr>
            <p:cNvPr id="107538" name="Text Box 21"/>
            <p:cNvSpPr txBox="1">
              <a:spLocks noChangeArrowheads="1"/>
            </p:cNvSpPr>
            <p:nvPr/>
          </p:nvSpPr>
          <p:spPr bwMode="auto">
            <a:xfrm rot="192313">
              <a:off x="1859" y="3379"/>
              <a:ext cx="15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type 1, seq 4, close</a:t>
              </a:r>
            </a:p>
          </p:txBody>
        </p:sp>
        <p:sp>
          <p:nvSpPr>
            <p:cNvPr id="107539" name="Text Box 22"/>
            <p:cNvSpPr txBox="1">
              <a:spLocks noChangeArrowheads="1"/>
            </p:cNvSpPr>
            <p:nvPr/>
          </p:nvSpPr>
          <p:spPr bwMode="auto">
            <a:xfrm rot="-274243">
              <a:off x="1712" y="3725"/>
              <a:ext cx="15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type 1, seq 2, close</a:t>
              </a:r>
            </a:p>
          </p:txBody>
        </p:sp>
      </p:grpSp>
      <p:sp>
        <p:nvSpPr>
          <p:cNvPr id="107525" name="AutoShape 23"/>
          <p:cNvSpPr>
            <a:spLocks/>
          </p:cNvSpPr>
          <p:nvPr/>
        </p:nvSpPr>
        <p:spPr bwMode="auto">
          <a:xfrm>
            <a:off x="1524000" y="2698750"/>
            <a:ext cx="152400" cy="3765550"/>
          </a:xfrm>
          <a:prstGeom prst="leftBrace">
            <a:avLst>
              <a:gd name="adj1" fmla="val 205903"/>
              <a:gd name="adj2" fmla="val 50000"/>
            </a:avLst>
          </a:prstGeom>
          <a:noFill/>
          <a:ln w="952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07526" name="Text Box 24"/>
          <p:cNvSpPr txBox="1">
            <a:spLocks noChangeArrowheads="1"/>
          </p:cNvSpPr>
          <p:nvPr/>
        </p:nvSpPr>
        <p:spPr bwMode="auto">
          <a:xfrm rot="-5400000">
            <a:off x="588169" y="4412457"/>
            <a:ext cx="1309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i="1">
                <a:solidFill>
                  <a:srgbClr val="C00000"/>
                </a:solidFill>
                <a:latin typeface="Arial" pitchFamily="34" charset="0"/>
                <a:cs typeface="Arial" pitchFamily="34" charset="0"/>
              </a:rPr>
              <a:t>encrypted</a:t>
            </a:r>
          </a:p>
        </p:txBody>
      </p:sp>
      <p:pic>
        <p:nvPicPr>
          <p:cNvPr id="107527" name="Picture 25" descr="Al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75" y="2314575"/>
            <a:ext cx="5270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528" name="Picture 26"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4238" y="2417763"/>
            <a:ext cx="642937"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9" name="Text Box 27"/>
          <p:cNvSpPr txBox="1">
            <a:spLocks noChangeArrowheads="1"/>
          </p:cNvSpPr>
          <p:nvPr/>
        </p:nvSpPr>
        <p:spPr bwMode="auto">
          <a:xfrm>
            <a:off x="7142163" y="3074988"/>
            <a:ext cx="1166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bob.com</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5"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688" y="1031875"/>
            <a:ext cx="54848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08547" name="Rectangle 2"/>
          <p:cNvSpPr>
            <a:spLocks noGrp="1" noChangeArrowheads="1"/>
          </p:cNvSpPr>
          <p:nvPr>
            <p:ph type="title"/>
          </p:nvPr>
        </p:nvSpPr>
        <p:spPr/>
        <p:txBody>
          <a:bodyPr/>
          <a:lstStyle/>
          <a:p>
            <a:r>
              <a:rPr lang="en-US" altLang="en-US" smtClean="0">
                <a:ea typeface="ＭＳ Ｐゴシック" pitchFamily="34" charset="-128"/>
              </a:rPr>
              <a:t>Toy SSL isn</a:t>
            </a:r>
            <a:r>
              <a:rPr lang="ja-JP" altLang="en-US" smtClean="0">
                <a:ea typeface="ＭＳ Ｐゴシック" pitchFamily="34" charset="-128"/>
              </a:rPr>
              <a:t>’</a:t>
            </a:r>
            <a:r>
              <a:rPr lang="en-US" altLang="ja-JP" smtClean="0">
                <a:ea typeface="ＭＳ Ｐゴシック" pitchFamily="34" charset="-128"/>
              </a:rPr>
              <a:t>t complete</a:t>
            </a:r>
            <a:endParaRPr lang="en-US" altLang="en-US" smtClean="0">
              <a:ea typeface="ＭＳ Ｐゴシック" pitchFamily="34" charset="-128"/>
            </a:endParaRPr>
          </a:p>
        </p:txBody>
      </p:sp>
      <p:sp>
        <p:nvSpPr>
          <p:cNvPr id="108548" name="Rectangle 3"/>
          <p:cNvSpPr>
            <a:spLocks noGrp="1" noChangeArrowheads="1"/>
          </p:cNvSpPr>
          <p:nvPr>
            <p:ph type="body" idx="1"/>
          </p:nvPr>
        </p:nvSpPr>
        <p:spPr>
          <a:xfrm>
            <a:off x="533400" y="1600200"/>
            <a:ext cx="7589838" cy="4648200"/>
          </a:xfrm>
        </p:spPr>
        <p:txBody>
          <a:bodyPr/>
          <a:lstStyle/>
          <a:p>
            <a:r>
              <a:rPr lang="en-US" altLang="en-US" smtClean="0">
                <a:ea typeface="ＭＳ Ｐゴシック" pitchFamily="34" charset="-128"/>
              </a:rPr>
              <a:t>how long are fields?</a:t>
            </a:r>
          </a:p>
          <a:p>
            <a:r>
              <a:rPr lang="en-US" altLang="en-US" smtClean="0">
                <a:ea typeface="ＭＳ Ｐゴシック" pitchFamily="34" charset="-128"/>
              </a:rPr>
              <a:t>which encryption protocols?</a:t>
            </a:r>
          </a:p>
          <a:p>
            <a:r>
              <a:rPr lang="en-US" altLang="en-US" smtClean="0">
                <a:ea typeface="ＭＳ Ｐゴシック" pitchFamily="34" charset="-128"/>
              </a:rPr>
              <a:t>want negotiation?</a:t>
            </a:r>
          </a:p>
          <a:p>
            <a:pPr lvl="1"/>
            <a:r>
              <a:rPr lang="en-US" altLang="en-US" smtClean="0">
                <a:ea typeface="ＭＳ Ｐゴシック" pitchFamily="34" charset="-128"/>
              </a:rPr>
              <a:t>allow client and server to support different encryption algorithms</a:t>
            </a:r>
          </a:p>
          <a:p>
            <a:pPr lvl="1"/>
            <a:r>
              <a:rPr lang="en-US" altLang="en-US" smtClean="0">
                <a:ea typeface="ＭＳ Ｐゴシック" pitchFamily="34" charset="-128"/>
              </a:rPr>
              <a:t>allow client and server to choose together specific algorithm before data transfer</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69" name="Picture 23"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 y="950913"/>
            <a:ext cx="367665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1"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09571" name="Rectangle 2"/>
          <p:cNvSpPr>
            <a:spLocks noGrp="1" noChangeArrowheads="1"/>
          </p:cNvSpPr>
          <p:nvPr>
            <p:ph type="title"/>
          </p:nvPr>
        </p:nvSpPr>
        <p:spPr>
          <a:xfrm>
            <a:off x="306388" y="131763"/>
            <a:ext cx="7772400" cy="1143000"/>
          </a:xfrm>
        </p:spPr>
        <p:txBody>
          <a:bodyPr/>
          <a:lstStyle/>
          <a:p>
            <a:r>
              <a:rPr lang="en-US" altLang="en-US" smtClean="0">
                <a:ea typeface="ＭＳ Ｐゴシック" pitchFamily="34" charset="-128"/>
              </a:rPr>
              <a:t>SSL cipher suite</a:t>
            </a:r>
          </a:p>
        </p:txBody>
      </p:sp>
      <p:sp>
        <p:nvSpPr>
          <p:cNvPr id="109572" name="Rectangle 3"/>
          <p:cNvSpPr>
            <a:spLocks noGrp="1" noChangeArrowheads="1"/>
          </p:cNvSpPr>
          <p:nvPr>
            <p:ph type="body" idx="1"/>
          </p:nvPr>
        </p:nvSpPr>
        <p:spPr>
          <a:xfrm>
            <a:off x="350838" y="1308100"/>
            <a:ext cx="4556125" cy="4648200"/>
          </a:xfrm>
        </p:spPr>
        <p:txBody>
          <a:bodyPr/>
          <a:lstStyle/>
          <a:p>
            <a:r>
              <a:rPr lang="en-US" altLang="en-US" smtClean="0">
                <a:ea typeface="ＭＳ Ｐゴシック" pitchFamily="34" charset="-128"/>
              </a:rPr>
              <a:t>cipher suite</a:t>
            </a:r>
          </a:p>
          <a:p>
            <a:pPr lvl="1"/>
            <a:r>
              <a:rPr lang="en-US" altLang="en-US" sz="2000" smtClean="0">
                <a:ea typeface="ＭＳ Ｐゴシック" pitchFamily="34" charset="-128"/>
              </a:rPr>
              <a:t>public-key algorithm</a:t>
            </a:r>
          </a:p>
          <a:p>
            <a:pPr lvl="1"/>
            <a:r>
              <a:rPr lang="en-US" altLang="en-US" sz="2000" smtClean="0">
                <a:ea typeface="ＭＳ Ｐゴシック" pitchFamily="34" charset="-128"/>
              </a:rPr>
              <a:t>symmetric encryption algorithm</a:t>
            </a:r>
          </a:p>
          <a:p>
            <a:pPr lvl="1"/>
            <a:r>
              <a:rPr lang="en-US" altLang="en-US" sz="2000" smtClean="0">
                <a:ea typeface="ＭＳ Ｐゴシック" pitchFamily="34" charset="-128"/>
              </a:rPr>
              <a:t>MAC  algorithm</a:t>
            </a:r>
          </a:p>
          <a:p>
            <a:r>
              <a:rPr lang="en-US" altLang="en-US" smtClean="0">
                <a:ea typeface="ＭＳ Ｐゴシック" pitchFamily="34" charset="-128"/>
              </a:rPr>
              <a:t>SSL supports several cipher suites</a:t>
            </a:r>
          </a:p>
          <a:p>
            <a:r>
              <a:rPr lang="en-US" altLang="en-US" smtClean="0">
                <a:ea typeface="ＭＳ Ｐゴシック" pitchFamily="34" charset="-128"/>
              </a:rPr>
              <a:t>negotiation: client, server agree on cipher suite</a:t>
            </a:r>
          </a:p>
          <a:p>
            <a:pPr lvl="1"/>
            <a:r>
              <a:rPr lang="en-US" altLang="en-US" smtClean="0">
                <a:ea typeface="ＭＳ Ｐゴシック" pitchFamily="34" charset="-128"/>
              </a:rPr>
              <a:t>client offers choice</a:t>
            </a:r>
          </a:p>
          <a:p>
            <a:pPr lvl="1"/>
            <a:r>
              <a:rPr lang="en-US" altLang="en-US" smtClean="0">
                <a:ea typeface="ＭＳ Ｐゴシック" pitchFamily="34" charset="-128"/>
              </a:rPr>
              <a:t>server picks one</a:t>
            </a:r>
          </a:p>
        </p:txBody>
      </p:sp>
      <p:sp>
        <p:nvSpPr>
          <p:cNvPr id="109573" name="Rectangle 3"/>
          <p:cNvSpPr>
            <a:spLocks noChangeArrowheads="1"/>
          </p:cNvSpPr>
          <p:nvPr/>
        </p:nvSpPr>
        <p:spPr bwMode="auto">
          <a:xfrm>
            <a:off x="4879975" y="1462088"/>
            <a:ext cx="3952875" cy="39385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119063" indent="-119063">
              <a:defRPr sz="2000">
                <a:solidFill>
                  <a:schemeClr val="tx1"/>
                </a:solidFill>
                <a:latin typeface="Comic Sans MS" pitchFamily="66" charset="0"/>
                <a:ea typeface="ＭＳ Ｐゴシック" pitchFamily="34" charset="-128"/>
              </a:defRPr>
            </a:lvl1pPr>
            <a:lvl2pPr marL="461963" indent="-22860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rgbClr val="000099"/>
              </a:buClr>
              <a:buSzPct val="75000"/>
              <a:buFont typeface="Wingdings" pitchFamily="2" charset="2"/>
              <a:buNone/>
            </a:pPr>
            <a:r>
              <a:rPr lang="en-US" altLang="en-US" sz="2400">
                <a:latin typeface="Arial" pitchFamily="34" charset="0"/>
                <a:cs typeface="Arial" pitchFamily="34" charset="0"/>
              </a:rPr>
              <a:t>common SSL symmetric ciphers</a:t>
            </a:r>
          </a:p>
          <a:p>
            <a:pPr lvl="1">
              <a:spcBef>
                <a:spcPct val="20000"/>
              </a:spcBef>
              <a:buClr>
                <a:srgbClr val="000099"/>
              </a:buClr>
              <a:buFont typeface="Wingdings" pitchFamily="2" charset="2"/>
              <a:buChar char="§"/>
            </a:pPr>
            <a:r>
              <a:rPr lang="en-US" altLang="en-US">
                <a:latin typeface="Arial" pitchFamily="34" charset="0"/>
                <a:cs typeface="Arial" pitchFamily="34" charset="0"/>
              </a:rPr>
              <a:t>DES – Data Encryption Standard: block</a:t>
            </a:r>
          </a:p>
          <a:p>
            <a:pPr lvl="1">
              <a:spcBef>
                <a:spcPct val="20000"/>
              </a:spcBef>
              <a:buClr>
                <a:srgbClr val="000099"/>
              </a:buClr>
              <a:buFont typeface="Wingdings" pitchFamily="2" charset="2"/>
              <a:buChar char="§"/>
            </a:pPr>
            <a:r>
              <a:rPr lang="en-US" altLang="en-US">
                <a:latin typeface="Arial" pitchFamily="34" charset="0"/>
                <a:cs typeface="Arial" pitchFamily="34" charset="0"/>
              </a:rPr>
              <a:t>3DES – Triple strength: block</a:t>
            </a:r>
          </a:p>
          <a:p>
            <a:pPr lvl="1">
              <a:spcBef>
                <a:spcPct val="20000"/>
              </a:spcBef>
              <a:buClr>
                <a:srgbClr val="000099"/>
              </a:buClr>
              <a:buFont typeface="Wingdings" pitchFamily="2" charset="2"/>
              <a:buChar char="§"/>
            </a:pPr>
            <a:r>
              <a:rPr lang="en-US" altLang="en-US">
                <a:latin typeface="Arial" pitchFamily="34" charset="0"/>
                <a:cs typeface="Arial" pitchFamily="34" charset="0"/>
              </a:rPr>
              <a:t>RC2 – Rivest Cipher 2: block</a:t>
            </a:r>
          </a:p>
          <a:p>
            <a:pPr lvl="1">
              <a:spcBef>
                <a:spcPct val="20000"/>
              </a:spcBef>
              <a:buClr>
                <a:srgbClr val="000099"/>
              </a:buClr>
              <a:buFont typeface="Wingdings" pitchFamily="2" charset="2"/>
              <a:buChar char="§"/>
            </a:pPr>
            <a:r>
              <a:rPr lang="en-US" altLang="en-US">
                <a:latin typeface="Arial" pitchFamily="34" charset="0"/>
                <a:cs typeface="Arial" pitchFamily="34" charset="0"/>
              </a:rPr>
              <a:t>RC4 – Rivest Cipher 4: stream</a:t>
            </a:r>
          </a:p>
          <a:p>
            <a:pPr>
              <a:spcBef>
                <a:spcPct val="20000"/>
              </a:spcBef>
              <a:buClr>
                <a:srgbClr val="000099"/>
              </a:buClr>
              <a:buSzPct val="75000"/>
              <a:buFont typeface="Wingdings" pitchFamily="2" charset="2"/>
              <a:buNone/>
            </a:pPr>
            <a:r>
              <a:rPr lang="en-US" altLang="en-US" sz="2400">
                <a:latin typeface="Arial" pitchFamily="34" charset="0"/>
                <a:cs typeface="Arial" pitchFamily="34" charset="0"/>
              </a:rPr>
              <a:t>SSL Public key encryption</a:t>
            </a:r>
          </a:p>
          <a:p>
            <a:pPr lvl="1">
              <a:spcBef>
                <a:spcPct val="20000"/>
              </a:spcBef>
              <a:buClr>
                <a:srgbClr val="000099"/>
              </a:buClr>
              <a:buFont typeface="Wingdings" pitchFamily="2" charset="2"/>
              <a:buChar char="§"/>
            </a:pPr>
            <a:r>
              <a:rPr lang="en-US" altLang="en-US" sz="2400">
                <a:latin typeface="Arial" pitchFamily="34" charset="0"/>
                <a:cs typeface="Arial" pitchFamily="34" charset="0"/>
              </a:rPr>
              <a:t>RSA</a:t>
            </a:r>
          </a:p>
          <a:p>
            <a:pPr>
              <a:spcBef>
                <a:spcPct val="20000"/>
              </a:spcBef>
              <a:buClr>
                <a:srgbClr val="000099"/>
              </a:buClr>
              <a:buSzPct val="75000"/>
              <a:buFont typeface="Wingdings" pitchFamily="2" charset="2"/>
              <a:buChar char="v"/>
            </a:pPr>
            <a:endParaRPr lang="en-US" altLang="en-U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3"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 y="1063625"/>
            <a:ext cx="54848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5"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10595" name="Rectangle 2"/>
          <p:cNvSpPr>
            <a:spLocks noGrp="1" noChangeArrowheads="1"/>
          </p:cNvSpPr>
          <p:nvPr>
            <p:ph type="title"/>
          </p:nvPr>
        </p:nvSpPr>
        <p:spPr/>
        <p:txBody>
          <a:bodyPr/>
          <a:lstStyle/>
          <a:p>
            <a:r>
              <a:rPr lang="en-US" altLang="en-US" smtClean="0">
                <a:ea typeface="ＭＳ Ｐゴシック" pitchFamily="34" charset="-128"/>
              </a:rPr>
              <a:t>Real SSL: handshake (1)</a:t>
            </a:r>
          </a:p>
        </p:txBody>
      </p:sp>
      <p:sp>
        <p:nvSpPr>
          <p:cNvPr id="110596" name="Rectangle 3"/>
          <p:cNvSpPr>
            <a:spLocks noGrp="1" noChangeArrowheads="1"/>
          </p:cNvSpPr>
          <p:nvPr>
            <p:ph type="body" idx="1"/>
          </p:nvPr>
        </p:nvSpPr>
        <p:spPr/>
        <p:txBody>
          <a:bodyPr/>
          <a:lstStyle/>
          <a:p>
            <a:pPr marL="533400" indent="-533400">
              <a:buFont typeface="Wingdings" pitchFamily="2" charset="2"/>
              <a:buNone/>
            </a:pPr>
            <a:r>
              <a:rPr lang="en-US" altLang="en-US" i="1" smtClean="0">
                <a:solidFill>
                  <a:srgbClr val="C00000"/>
                </a:solidFill>
                <a:ea typeface="ＭＳ Ｐゴシック" pitchFamily="34" charset="-128"/>
              </a:rPr>
              <a:t>Purpose</a:t>
            </a:r>
          </a:p>
          <a:p>
            <a:pPr marL="533400" indent="-533400">
              <a:buFont typeface="ZapfDingbats" pitchFamily="82" charset="2"/>
              <a:buAutoNum type="arabicPeriod"/>
            </a:pPr>
            <a:r>
              <a:rPr lang="en-US" altLang="en-US" smtClean="0">
                <a:ea typeface="ＭＳ Ｐゴシック" pitchFamily="34" charset="-128"/>
              </a:rPr>
              <a:t>server authentication</a:t>
            </a:r>
          </a:p>
          <a:p>
            <a:pPr marL="533400" indent="-533400">
              <a:buFont typeface="ZapfDingbats" pitchFamily="82" charset="2"/>
              <a:buAutoNum type="arabicPeriod"/>
            </a:pPr>
            <a:r>
              <a:rPr lang="en-US" altLang="en-US" smtClean="0">
                <a:ea typeface="ＭＳ Ｐゴシック" pitchFamily="34" charset="-128"/>
              </a:rPr>
              <a:t>negotiation: agree on crypto algorithms</a:t>
            </a:r>
          </a:p>
          <a:p>
            <a:pPr marL="533400" indent="-533400">
              <a:buFont typeface="ZapfDingbats" pitchFamily="82" charset="2"/>
              <a:buAutoNum type="arabicPeriod"/>
            </a:pPr>
            <a:r>
              <a:rPr lang="en-US" altLang="en-US" smtClean="0">
                <a:ea typeface="ＭＳ Ｐゴシック" pitchFamily="34" charset="-128"/>
              </a:rPr>
              <a:t>establish keys</a:t>
            </a:r>
          </a:p>
          <a:p>
            <a:pPr marL="533400" indent="-533400">
              <a:buFont typeface="ZapfDingbats" pitchFamily="82" charset="2"/>
              <a:buAutoNum type="arabicPeriod"/>
            </a:pPr>
            <a:r>
              <a:rPr lang="en-US" altLang="en-US" smtClean="0">
                <a:ea typeface="ＭＳ Ｐゴシック" pitchFamily="34" charset="-128"/>
              </a:rPr>
              <a:t>client authentication (optional)</a:t>
            </a:r>
          </a:p>
          <a:p>
            <a:pPr marL="533400" indent="-533400">
              <a:buFont typeface="Wingdings" pitchFamily="2" charset="2"/>
              <a:buNone/>
            </a:pPr>
            <a:endParaRPr lang="en-US" altLang="en-US" smtClean="0">
              <a:ea typeface="ＭＳ Ｐゴシック" pitchFamily="34" charset="-128"/>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7"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 y="1063625"/>
            <a:ext cx="54848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79"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11619" name="Rectangle 2"/>
          <p:cNvSpPr>
            <a:spLocks noGrp="1" noChangeArrowheads="1"/>
          </p:cNvSpPr>
          <p:nvPr>
            <p:ph type="title"/>
          </p:nvPr>
        </p:nvSpPr>
        <p:spPr/>
        <p:txBody>
          <a:bodyPr/>
          <a:lstStyle/>
          <a:p>
            <a:r>
              <a:rPr lang="en-US" altLang="en-US" smtClean="0">
                <a:ea typeface="ＭＳ Ｐゴシック" pitchFamily="34" charset="-128"/>
              </a:rPr>
              <a:t>Real SSL: handshake (2)</a:t>
            </a:r>
          </a:p>
        </p:txBody>
      </p:sp>
      <p:sp>
        <p:nvSpPr>
          <p:cNvPr id="111620" name="Rectangle 3"/>
          <p:cNvSpPr>
            <a:spLocks noGrp="1" noChangeArrowheads="1"/>
          </p:cNvSpPr>
          <p:nvPr>
            <p:ph type="body" idx="1"/>
          </p:nvPr>
        </p:nvSpPr>
        <p:spPr>
          <a:xfrm>
            <a:off x="533400" y="1450975"/>
            <a:ext cx="7772400" cy="4648200"/>
          </a:xfrm>
        </p:spPr>
        <p:txBody>
          <a:bodyPr/>
          <a:lstStyle/>
          <a:p>
            <a:pPr marL="457200" indent="-457200">
              <a:buClr>
                <a:srgbClr val="C00000"/>
              </a:buClr>
              <a:buFont typeface="ZapfDingbats" pitchFamily="82" charset="2"/>
              <a:buAutoNum type="arabicPeriod"/>
            </a:pPr>
            <a:r>
              <a:rPr lang="en-US" altLang="en-US" sz="2600" smtClean="0">
                <a:ea typeface="ＭＳ Ｐゴシック" pitchFamily="34" charset="-128"/>
              </a:rPr>
              <a:t>client sends list of algorithms it supports, along with client nonce</a:t>
            </a:r>
          </a:p>
          <a:p>
            <a:pPr marL="457200" indent="-457200">
              <a:buClr>
                <a:srgbClr val="C00000"/>
              </a:buClr>
              <a:buFont typeface="ZapfDingbats" pitchFamily="82" charset="2"/>
              <a:buAutoNum type="arabicPeriod"/>
            </a:pPr>
            <a:r>
              <a:rPr lang="en-US" altLang="en-US" sz="2600" smtClean="0">
                <a:ea typeface="ＭＳ Ｐゴシック" pitchFamily="34" charset="-128"/>
              </a:rPr>
              <a:t>server chooses algorithms from list; sends back: choice + certificate + server nonce</a:t>
            </a:r>
          </a:p>
          <a:p>
            <a:pPr marL="457200" indent="-457200">
              <a:buClr>
                <a:srgbClr val="C00000"/>
              </a:buClr>
              <a:buFont typeface="ZapfDingbats" pitchFamily="82" charset="2"/>
              <a:buAutoNum type="arabicPeriod"/>
            </a:pPr>
            <a:r>
              <a:rPr lang="en-US" altLang="en-US" sz="2600" smtClean="0">
                <a:ea typeface="ＭＳ Ｐゴシック" pitchFamily="34" charset="-128"/>
              </a:rPr>
              <a:t>client verifies certificate, extracts server</a:t>
            </a:r>
            <a:r>
              <a:rPr lang="ja-JP" altLang="en-US" sz="2600" smtClean="0">
                <a:ea typeface="ＭＳ Ｐゴシック" pitchFamily="34" charset="-128"/>
              </a:rPr>
              <a:t>’</a:t>
            </a:r>
            <a:r>
              <a:rPr lang="en-US" altLang="ja-JP" sz="2600" smtClean="0">
                <a:ea typeface="ＭＳ Ｐゴシック" pitchFamily="34" charset="-128"/>
              </a:rPr>
              <a:t>s public key, generates pre_master_secret, encrypts with server</a:t>
            </a:r>
            <a:r>
              <a:rPr lang="ja-JP" altLang="en-US" sz="2600" smtClean="0">
                <a:ea typeface="ＭＳ Ｐゴシック" pitchFamily="34" charset="-128"/>
              </a:rPr>
              <a:t>’</a:t>
            </a:r>
            <a:r>
              <a:rPr lang="en-US" altLang="ja-JP" sz="2600" smtClean="0">
                <a:ea typeface="ＭＳ Ｐゴシック" pitchFamily="34" charset="-128"/>
              </a:rPr>
              <a:t>s public key, sends to server</a:t>
            </a:r>
          </a:p>
          <a:p>
            <a:pPr marL="457200" indent="-457200">
              <a:buClr>
                <a:srgbClr val="C00000"/>
              </a:buClr>
              <a:buFont typeface="ZapfDingbats" pitchFamily="82" charset="2"/>
              <a:buAutoNum type="arabicPeriod"/>
            </a:pPr>
            <a:r>
              <a:rPr lang="en-US" altLang="en-US" sz="2600" smtClean="0">
                <a:ea typeface="ＭＳ Ｐゴシック" pitchFamily="34" charset="-128"/>
              </a:rPr>
              <a:t>client and server independently compute encryption and MAC keys from pre_master_secret and nonces</a:t>
            </a:r>
          </a:p>
          <a:p>
            <a:pPr marL="457200" indent="-457200">
              <a:buClr>
                <a:srgbClr val="C00000"/>
              </a:buClr>
              <a:buFont typeface="ZapfDingbats" pitchFamily="82" charset="2"/>
              <a:buAutoNum type="arabicPeriod"/>
            </a:pPr>
            <a:r>
              <a:rPr lang="en-US" altLang="en-US" sz="2600" smtClean="0">
                <a:ea typeface="ＭＳ Ｐゴシック" pitchFamily="34" charset="-128"/>
              </a:rPr>
              <a:t>client sends a MAC of all the handshake messages</a:t>
            </a:r>
          </a:p>
          <a:p>
            <a:pPr marL="457200" indent="-457200">
              <a:buClr>
                <a:srgbClr val="C00000"/>
              </a:buClr>
              <a:buFont typeface="ZapfDingbats" pitchFamily="82" charset="2"/>
              <a:buAutoNum type="arabicPeriod"/>
            </a:pPr>
            <a:r>
              <a:rPr lang="en-US" altLang="en-US" sz="2600" smtClean="0">
                <a:ea typeface="ＭＳ Ｐゴシック" pitchFamily="34" charset="-128"/>
              </a:rPr>
              <a:t>server sends a MAC of all the handshake messages</a:t>
            </a:r>
          </a:p>
          <a:p>
            <a:pPr marL="457200" indent="-457200">
              <a:lnSpc>
                <a:spcPct val="80000"/>
              </a:lnSpc>
              <a:buClr>
                <a:srgbClr val="C00000"/>
              </a:buClr>
              <a:buFont typeface="ZapfDingbats" pitchFamily="82" charset="2"/>
              <a:buAutoNum type="arabicPeriod"/>
            </a:pPr>
            <a:endParaRPr lang="en-US" altLang="en-US" sz="2400" smtClean="0">
              <a:ea typeface="ＭＳ Ｐゴシック" pitchFamily="34" charset="-128"/>
            </a:endParaRPr>
          </a:p>
          <a:p>
            <a:pPr marL="457200" indent="-457200">
              <a:lnSpc>
                <a:spcPct val="80000"/>
              </a:lnSpc>
            </a:pPr>
            <a:endParaRPr lang="en-US" altLang="en-US" sz="2400" smtClean="0">
              <a:ea typeface="ＭＳ Ｐゴシック" pitchFamily="34" charset="-128"/>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1"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 y="1063625"/>
            <a:ext cx="56943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12643" name="Rectangle 2"/>
          <p:cNvSpPr>
            <a:spLocks noGrp="1" noChangeArrowheads="1"/>
          </p:cNvSpPr>
          <p:nvPr>
            <p:ph type="title"/>
          </p:nvPr>
        </p:nvSpPr>
        <p:spPr/>
        <p:txBody>
          <a:bodyPr/>
          <a:lstStyle/>
          <a:p>
            <a:r>
              <a:rPr lang="en-US" altLang="en-US" smtClean="0">
                <a:ea typeface="ＭＳ Ｐゴシック" pitchFamily="34" charset="-128"/>
              </a:rPr>
              <a:t>Real SSL: handshaking (3)</a:t>
            </a:r>
          </a:p>
        </p:txBody>
      </p:sp>
      <p:sp>
        <p:nvSpPr>
          <p:cNvPr id="112644" name="Rectangle 3"/>
          <p:cNvSpPr>
            <a:spLocks noGrp="1" noChangeArrowheads="1"/>
          </p:cNvSpPr>
          <p:nvPr>
            <p:ph type="body" idx="1"/>
          </p:nvPr>
        </p:nvSpPr>
        <p:spPr>
          <a:xfrm>
            <a:off x="533400" y="1600200"/>
            <a:ext cx="8305800" cy="4648200"/>
          </a:xfrm>
        </p:spPr>
        <p:txBody>
          <a:bodyPr/>
          <a:lstStyle/>
          <a:p>
            <a:pPr>
              <a:buFont typeface="Wingdings" pitchFamily="2" charset="2"/>
              <a:buNone/>
            </a:pPr>
            <a:r>
              <a:rPr lang="en-US" altLang="en-US" smtClean="0">
                <a:solidFill>
                  <a:srgbClr val="C00000"/>
                </a:solidFill>
                <a:ea typeface="ＭＳ Ｐゴシック" pitchFamily="34" charset="-128"/>
              </a:rPr>
              <a:t>last 2 steps protect handshake from tampering</a:t>
            </a:r>
          </a:p>
          <a:p>
            <a:r>
              <a:rPr lang="en-US" altLang="en-US" smtClean="0">
                <a:ea typeface="ＭＳ Ｐゴシック" pitchFamily="34" charset="-128"/>
              </a:rPr>
              <a:t>client typically offers range of algorithms, some strong, some weak</a:t>
            </a:r>
          </a:p>
          <a:p>
            <a:r>
              <a:rPr lang="en-US" altLang="en-US" smtClean="0">
                <a:ea typeface="ＭＳ Ｐゴシック" pitchFamily="34" charset="-128"/>
              </a:rPr>
              <a:t>man-in-the middle could delete stronger algorithms from list</a:t>
            </a:r>
          </a:p>
          <a:p>
            <a:r>
              <a:rPr lang="en-US" altLang="en-US" smtClean="0">
                <a:ea typeface="ＭＳ Ｐゴシック" pitchFamily="34" charset="-128"/>
              </a:rPr>
              <a:t>last 2 steps prevent this</a:t>
            </a:r>
          </a:p>
          <a:p>
            <a:pPr lvl="1"/>
            <a:r>
              <a:rPr lang="en-US" altLang="en-US" smtClean="0">
                <a:ea typeface="ＭＳ Ｐゴシック" pitchFamily="34" charset="-128"/>
              </a:rPr>
              <a:t>last two messages are encrypted</a:t>
            </a:r>
          </a:p>
          <a:p>
            <a:pPr lvl="1"/>
            <a:endParaRPr lang="en-US" altLang="en-US" smtClean="0">
              <a:ea typeface="ＭＳ Ｐゴシック" pitchFamily="34" charset="-128"/>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5"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 y="1063625"/>
            <a:ext cx="5684838"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7"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13667" name="Rectangle 2"/>
          <p:cNvSpPr>
            <a:spLocks noGrp="1" noChangeArrowheads="1"/>
          </p:cNvSpPr>
          <p:nvPr>
            <p:ph type="title"/>
          </p:nvPr>
        </p:nvSpPr>
        <p:spPr/>
        <p:txBody>
          <a:bodyPr/>
          <a:lstStyle/>
          <a:p>
            <a:r>
              <a:rPr lang="en-US" altLang="en-US" smtClean="0">
                <a:ea typeface="ＭＳ Ｐゴシック" pitchFamily="34" charset="-128"/>
              </a:rPr>
              <a:t>Real SSL: handshaking (4)</a:t>
            </a:r>
          </a:p>
        </p:txBody>
      </p:sp>
      <p:sp>
        <p:nvSpPr>
          <p:cNvPr id="113668" name="Rectangle 3"/>
          <p:cNvSpPr>
            <a:spLocks noGrp="1" noChangeArrowheads="1"/>
          </p:cNvSpPr>
          <p:nvPr>
            <p:ph type="body" idx="1"/>
          </p:nvPr>
        </p:nvSpPr>
        <p:spPr>
          <a:xfrm>
            <a:off x="533400" y="1600200"/>
            <a:ext cx="7772400" cy="4924425"/>
          </a:xfrm>
        </p:spPr>
        <p:txBody>
          <a:bodyPr/>
          <a:lstStyle/>
          <a:p>
            <a:pPr>
              <a:lnSpc>
                <a:spcPct val="90000"/>
              </a:lnSpc>
            </a:pPr>
            <a:r>
              <a:rPr lang="en-US" altLang="en-US" smtClean="0">
                <a:ea typeface="ＭＳ Ｐゴシック" pitchFamily="34" charset="-128"/>
              </a:rPr>
              <a:t>why two random nonces? </a:t>
            </a:r>
          </a:p>
          <a:p>
            <a:pPr>
              <a:lnSpc>
                <a:spcPct val="90000"/>
              </a:lnSpc>
            </a:pPr>
            <a:r>
              <a:rPr lang="en-US" altLang="en-US" smtClean="0">
                <a:ea typeface="ＭＳ Ｐゴシック" pitchFamily="34" charset="-128"/>
              </a:rPr>
              <a:t>suppose Trudy sniffs all messages between Alice &amp; Bob</a:t>
            </a:r>
          </a:p>
          <a:p>
            <a:pPr>
              <a:lnSpc>
                <a:spcPct val="90000"/>
              </a:lnSpc>
            </a:pPr>
            <a:r>
              <a:rPr lang="en-US" altLang="en-US" smtClean="0">
                <a:ea typeface="ＭＳ Ｐゴシック" pitchFamily="34" charset="-128"/>
              </a:rPr>
              <a:t>next day, Trudy sets up TCP connection with Bob, sends exact same sequence of records</a:t>
            </a:r>
          </a:p>
          <a:p>
            <a:pPr lvl="1">
              <a:lnSpc>
                <a:spcPct val="90000"/>
              </a:lnSpc>
            </a:pPr>
            <a:r>
              <a:rPr lang="en-US" altLang="en-US" smtClean="0">
                <a:ea typeface="ＭＳ Ｐゴシック" pitchFamily="34" charset="-128"/>
              </a:rPr>
              <a:t>Bob (Amazon) thinks Alice made two separate orders for the same thing</a:t>
            </a:r>
          </a:p>
          <a:p>
            <a:pPr lvl="1">
              <a:lnSpc>
                <a:spcPct val="90000"/>
              </a:lnSpc>
            </a:pPr>
            <a:r>
              <a:rPr lang="en-US" altLang="en-US" smtClean="0">
                <a:ea typeface="ＭＳ Ｐゴシック" pitchFamily="34" charset="-128"/>
              </a:rPr>
              <a:t>solution: Bob sends different random nonce for each connection. This causes encryption keys to be different on the two days</a:t>
            </a:r>
          </a:p>
          <a:p>
            <a:pPr lvl="1">
              <a:lnSpc>
                <a:spcPct val="90000"/>
              </a:lnSpc>
            </a:pPr>
            <a:r>
              <a:rPr lang="en-US" altLang="en-US" smtClean="0">
                <a:ea typeface="ＭＳ Ｐゴシック" pitchFamily="34" charset="-128"/>
              </a:rPr>
              <a:t>Trudy</a:t>
            </a:r>
            <a:r>
              <a:rPr lang="ja-JP" altLang="en-US" smtClean="0">
                <a:ea typeface="ＭＳ Ｐゴシック" pitchFamily="34" charset="-128"/>
              </a:rPr>
              <a:t>’</a:t>
            </a:r>
            <a:r>
              <a:rPr lang="en-US" altLang="ja-JP" smtClean="0">
                <a:ea typeface="ＭＳ Ｐゴシック" pitchFamily="34" charset="-128"/>
              </a:rPr>
              <a:t>s messages will fail Bob</a:t>
            </a:r>
            <a:r>
              <a:rPr lang="ja-JP" altLang="en-US" smtClean="0">
                <a:ea typeface="ＭＳ Ｐゴシック" pitchFamily="34" charset="-128"/>
              </a:rPr>
              <a:t>’</a:t>
            </a:r>
            <a:r>
              <a:rPr lang="en-US" altLang="ja-JP" smtClean="0">
                <a:ea typeface="ＭＳ Ｐゴシック" pitchFamily="34" charset="-128"/>
              </a:rPr>
              <a:t>s integrity check</a:t>
            </a:r>
          </a:p>
          <a:p>
            <a:pPr lvl="1">
              <a:lnSpc>
                <a:spcPct val="90000"/>
              </a:lnSpc>
            </a:pPr>
            <a:endParaRPr lang="en-US" altLang="en-US" smtClean="0">
              <a:ea typeface="ＭＳ Ｐゴシック" pitchFamily="34" charset="-128"/>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89" name="Picture 21"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438" y="800100"/>
            <a:ext cx="4824412"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1"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14691" name="Rectangle 2"/>
          <p:cNvSpPr>
            <a:spLocks noGrp="1" noChangeArrowheads="1"/>
          </p:cNvSpPr>
          <p:nvPr>
            <p:ph type="title"/>
          </p:nvPr>
        </p:nvSpPr>
        <p:spPr>
          <a:xfrm>
            <a:off x="533400" y="0"/>
            <a:ext cx="7772400" cy="1143000"/>
          </a:xfrm>
        </p:spPr>
        <p:txBody>
          <a:bodyPr/>
          <a:lstStyle/>
          <a:p>
            <a:r>
              <a:rPr lang="en-US" altLang="en-US" smtClean="0">
                <a:ea typeface="ＭＳ Ｐゴシック" pitchFamily="34" charset="-128"/>
              </a:rPr>
              <a:t>SSL record protocol</a:t>
            </a:r>
          </a:p>
        </p:txBody>
      </p:sp>
      <p:grpSp>
        <p:nvGrpSpPr>
          <p:cNvPr id="114692" name="Group 3"/>
          <p:cNvGrpSpPr>
            <a:grpSpLocks/>
          </p:cNvGrpSpPr>
          <p:nvPr/>
        </p:nvGrpSpPr>
        <p:grpSpPr bwMode="auto">
          <a:xfrm>
            <a:off x="685800" y="1219200"/>
            <a:ext cx="7315200" cy="3505200"/>
            <a:chOff x="432" y="1056"/>
            <a:chExt cx="4608" cy="2208"/>
          </a:xfrm>
        </p:grpSpPr>
        <p:sp>
          <p:nvSpPr>
            <p:cNvPr id="114696" name="Rectangle 4"/>
            <p:cNvSpPr>
              <a:spLocks noChangeArrowheads="1"/>
            </p:cNvSpPr>
            <p:nvPr/>
          </p:nvSpPr>
          <p:spPr bwMode="auto">
            <a:xfrm>
              <a:off x="1776" y="1056"/>
              <a:ext cx="2400" cy="432"/>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data</a:t>
              </a:r>
            </a:p>
          </p:txBody>
        </p:sp>
        <p:sp>
          <p:nvSpPr>
            <p:cNvPr id="114697" name="Rectangle 5"/>
            <p:cNvSpPr>
              <a:spLocks noChangeArrowheads="1"/>
            </p:cNvSpPr>
            <p:nvPr/>
          </p:nvSpPr>
          <p:spPr bwMode="auto">
            <a:xfrm>
              <a:off x="912" y="2112"/>
              <a:ext cx="1248" cy="432"/>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data </a:t>
              </a:r>
            </a:p>
            <a:p>
              <a:pPr algn="ctr"/>
              <a:r>
                <a:rPr lang="en-US" altLang="en-US">
                  <a:latin typeface="Arial" pitchFamily="34" charset="0"/>
                  <a:cs typeface="Arial" pitchFamily="34" charset="0"/>
                </a:rPr>
                <a:t>fragment</a:t>
              </a:r>
            </a:p>
          </p:txBody>
        </p:sp>
        <p:sp>
          <p:nvSpPr>
            <p:cNvPr id="114698" name="Rectangle 6"/>
            <p:cNvSpPr>
              <a:spLocks noChangeArrowheads="1"/>
            </p:cNvSpPr>
            <p:nvPr/>
          </p:nvSpPr>
          <p:spPr bwMode="auto">
            <a:xfrm>
              <a:off x="3312" y="2112"/>
              <a:ext cx="1248" cy="432"/>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data </a:t>
              </a:r>
            </a:p>
            <a:p>
              <a:pPr algn="ctr"/>
              <a:r>
                <a:rPr lang="en-US" altLang="en-US">
                  <a:latin typeface="Arial" pitchFamily="34" charset="0"/>
                  <a:cs typeface="Arial" pitchFamily="34" charset="0"/>
                </a:rPr>
                <a:t>fragment</a:t>
              </a:r>
            </a:p>
          </p:txBody>
        </p:sp>
        <p:sp>
          <p:nvSpPr>
            <p:cNvPr id="114699" name="Rectangle 7"/>
            <p:cNvSpPr>
              <a:spLocks noChangeArrowheads="1"/>
            </p:cNvSpPr>
            <p:nvPr/>
          </p:nvSpPr>
          <p:spPr bwMode="auto">
            <a:xfrm>
              <a:off x="2160" y="2112"/>
              <a:ext cx="480" cy="432"/>
            </a:xfrm>
            <a:prstGeom prst="rect">
              <a:avLst/>
            </a:prstGeom>
            <a:solidFill>
              <a:srgbClr val="FFCCFF"/>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MAC</a:t>
              </a:r>
            </a:p>
          </p:txBody>
        </p:sp>
        <p:sp>
          <p:nvSpPr>
            <p:cNvPr id="114700" name="Rectangle 8"/>
            <p:cNvSpPr>
              <a:spLocks noChangeArrowheads="1"/>
            </p:cNvSpPr>
            <p:nvPr/>
          </p:nvSpPr>
          <p:spPr bwMode="auto">
            <a:xfrm>
              <a:off x="4560" y="2112"/>
              <a:ext cx="480" cy="432"/>
            </a:xfrm>
            <a:prstGeom prst="rect">
              <a:avLst/>
            </a:prstGeom>
            <a:solidFill>
              <a:srgbClr val="FFCCFF"/>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MAC</a:t>
              </a:r>
            </a:p>
          </p:txBody>
        </p:sp>
        <p:sp>
          <p:nvSpPr>
            <p:cNvPr id="114701" name="Rectangle 9"/>
            <p:cNvSpPr>
              <a:spLocks noChangeArrowheads="1"/>
            </p:cNvSpPr>
            <p:nvPr/>
          </p:nvSpPr>
          <p:spPr bwMode="auto">
            <a:xfrm>
              <a:off x="912" y="2832"/>
              <a:ext cx="1728" cy="432"/>
            </a:xfrm>
            <a:prstGeom prst="rect">
              <a:avLst/>
            </a:prstGeom>
            <a:solidFill>
              <a:srgbClr val="CCFF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encrypted</a:t>
              </a:r>
            </a:p>
            <a:p>
              <a:pPr algn="ctr"/>
              <a:r>
                <a:rPr lang="en-US" altLang="en-US">
                  <a:latin typeface="Arial" pitchFamily="34" charset="0"/>
                  <a:cs typeface="Arial" pitchFamily="34" charset="0"/>
                </a:rPr>
                <a:t>data and MAC</a:t>
              </a:r>
            </a:p>
          </p:txBody>
        </p:sp>
        <p:sp>
          <p:nvSpPr>
            <p:cNvPr id="114702" name="Rectangle 10"/>
            <p:cNvSpPr>
              <a:spLocks noChangeArrowheads="1"/>
            </p:cNvSpPr>
            <p:nvPr/>
          </p:nvSpPr>
          <p:spPr bwMode="auto">
            <a:xfrm>
              <a:off x="3312" y="2832"/>
              <a:ext cx="1728" cy="432"/>
            </a:xfrm>
            <a:prstGeom prst="rect">
              <a:avLst/>
            </a:prstGeom>
            <a:solidFill>
              <a:srgbClr val="CCFF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encrypted</a:t>
              </a:r>
            </a:p>
            <a:p>
              <a:pPr algn="ctr"/>
              <a:r>
                <a:rPr lang="en-US" altLang="en-US">
                  <a:latin typeface="Arial" pitchFamily="34" charset="0"/>
                  <a:cs typeface="Arial" pitchFamily="34" charset="0"/>
                </a:rPr>
                <a:t>data and MAC</a:t>
              </a:r>
            </a:p>
          </p:txBody>
        </p:sp>
        <p:sp>
          <p:nvSpPr>
            <p:cNvPr id="114703" name="Rectangle 11"/>
            <p:cNvSpPr>
              <a:spLocks noChangeArrowheads="1"/>
            </p:cNvSpPr>
            <p:nvPr/>
          </p:nvSpPr>
          <p:spPr bwMode="auto">
            <a:xfrm>
              <a:off x="2832" y="2832"/>
              <a:ext cx="480" cy="432"/>
            </a:xfrm>
            <a:prstGeom prst="rect">
              <a:avLst/>
            </a:prstGeom>
            <a:solidFill>
              <a:schemeClr val="hlink"/>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record</a:t>
              </a:r>
            </a:p>
            <a:p>
              <a:pPr algn="ctr"/>
              <a:r>
                <a:rPr lang="en-US" altLang="en-US" sz="1600">
                  <a:latin typeface="Arial" pitchFamily="34" charset="0"/>
                  <a:cs typeface="Arial" pitchFamily="34" charset="0"/>
                </a:rPr>
                <a:t>header</a:t>
              </a:r>
            </a:p>
          </p:txBody>
        </p:sp>
        <p:sp>
          <p:nvSpPr>
            <p:cNvPr id="114704" name="Rectangle 12"/>
            <p:cNvSpPr>
              <a:spLocks noChangeArrowheads="1"/>
            </p:cNvSpPr>
            <p:nvPr/>
          </p:nvSpPr>
          <p:spPr bwMode="auto">
            <a:xfrm>
              <a:off x="432" y="2832"/>
              <a:ext cx="480" cy="432"/>
            </a:xfrm>
            <a:prstGeom prst="rect">
              <a:avLst/>
            </a:prstGeom>
            <a:solidFill>
              <a:schemeClr val="hlink"/>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600">
                  <a:latin typeface="Arial" pitchFamily="34" charset="0"/>
                  <a:cs typeface="Arial" pitchFamily="34" charset="0"/>
                </a:rPr>
                <a:t>record</a:t>
              </a:r>
            </a:p>
            <a:p>
              <a:pPr algn="ctr"/>
              <a:r>
                <a:rPr lang="en-US" altLang="en-US" sz="1600">
                  <a:latin typeface="Arial" pitchFamily="34" charset="0"/>
                  <a:cs typeface="Arial" pitchFamily="34" charset="0"/>
                </a:rPr>
                <a:t>header</a:t>
              </a:r>
            </a:p>
          </p:txBody>
        </p:sp>
        <p:sp>
          <p:nvSpPr>
            <p:cNvPr id="114705" name="Line 13"/>
            <p:cNvSpPr>
              <a:spLocks noChangeShapeType="1"/>
            </p:cNvSpPr>
            <p:nvPr/>
          </p:nvSpPr>
          <p:spPr bwMode="auto">
            <a:xfrm>
              <a:off x="912" y="2544"/>
              <a:ext cx="0" cy="2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CA"/>
            </a:p>
          </p:txBody>
        </p:sp>
        <p:sp>
          <p:nvSpPr>
            <p:cNvPr id="114706" name="Line 14"/>
            <p:cNvSpPr>
              <a:spLocks noChangeShapeType="1"/>
            </p:cNvSpPr>
            <p:nvPr/>
          </p:nvSpPr>
          <p:spPr bwMode="auto">
            <a:xfrm>
              <a:off x="2640" y="2544"/>
              <a:ext cx="0" cy="2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CA"/>
            </a:p>
          </p:txBody>
        </p:sp>
        <p:sp>
          <p:nvSpPr>
            <p:cNvPr id="114707" name="Line 15"/>
            <p:cNvSpPr>
              <a:spLocks noChangeShapeType="1"/>
            </p:cNvSpPr>
            <p:nvPr/>
          </p:nvSpPr>
          <p:spPr bwMode="auto">
            <a:xfrm>
              <a:off x="3312" y="2544"/>
              <a:ext cx="0" cy="2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CA"/>
            </a:p>
          </p:txBody>
        </p:sp>
        <p:sp>
          <p:nvSpPr>
            <p:cNvPr id="114708" name="Line 16"/>
            <p:cNvSpPr>
              <a:spLocks noChangeShapeType="1"/>
            </p:cNvSpPr>
            <p:nvPr/>
          </p:nvSpPr>
          <p:spPr bwMode="auto">
            <a:xfrm>
              <a:off x="5040" y="2544"/>
              <a:ext cx="0" cy="2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CA"/>
            </a:p>
          </p:txBody>
        </p:sp>
        <p:sp>
          <p:nvSpPr>
            <p:cNvPr id="114709" name="Line 17"/>
            <p:cNvSpPr>
              <a:spLocks noChangeShapeType="1"/>
            </p:cNvSpPr>
            <p:nvPr/>
          </p:nvSpPr>
          <p:spPr bwMode="auto">
            <a:xfrm flipH="1">
              <a:off x="912" y="1488"/>
              <a:ext cx="864" cy="62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CA"/>
            </a:p>
          </p:txBody>
        </p:sp>
        <p:sp>
          <p:nvSpPr>
            <p:cNvPr id="114710" name="Line 18"/>
            <p:cNvSpPr>
              <a:spLocks noChangeShapeType="1"/>
            </p:cNvSpPr>
            <p:nvPr/>
          </p:nvSpPr>
          <p:spPr bwMode="auto">
            <a:xfrm flipH="1">
              <a:off x="2160" y="1488"/>
              <a:ext cx="960" cy="62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CA"/>
            </a:p>
          </p:txBody>
        </p:sp>
        <p:sp>
          <p:nvSpPr>
            <p:cNvPr id="114711" name="Line 19"/>
            <p:cNvSpPr>
              <a:spLocks noChangeShapeType="1"/>
            </p:cNvSpPr>
            <p:nvPr/>
          </p:nvSpPr>
          <p:spPr bwMode="auto">
            <a:xfrm>
              <a:off x="3120" y="1488"/>
              <a:ext cx="192" cy="62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CA"/>
            </a:p>
          </p:txBody>
        </p:sp>
        <p:sp>
          <p:nvSpPr>
            <p:cNvPr id="114712" name="Line 20"/>
            <p:cNvSpPr>
              <a:spLocks noChangeShapeType="1"/>
            </p:cNvSpPr>
            <p:nvPr/>
          </p:nvSpPr>
          <p:spPr bwMode="auto">
            <a:xfrm>
              <a:off x="4176" y="1488"/>
              <a:ext cx="384" cy="62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CA"/>
            </a:p>
          </p:txBody>
        </p:sp>
      </p:grpSp>
      <p:sp>
        <p:nvSpPr>
          <p:cNvPr id="114693" name="Text Box 21"/>
          <p:cNvSpPr txBox="1">
            <a:spLocks noChangeArrowheads="1"/>
          </p:cNvSpPr>
          <p:nvPr/>
        </p:nvSpPr>
        <p:spPr bwMode="auto">
          <a:xfrm>
            <a:off x="825500" y="5029200"/>
            <a:ext cx="5691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i="1">
                <a:solidFill>
                  <a:srgbClr val="C00000"/>
                </a:solidFill>
                <a:latin typeface="Gill Sans MT" pitchFamily="34" charset="0"/>
              </a:rPr>
              <a:t>record header:  </a:t>
            </a:r>
            <a:r>
              <a:rPr lang="en-US" altLang="en-US" sz="2400">
                <a:latin typeface="Gill Sans MT" pitchFamily="34" charset="0"/>
              </a:rPr>
              <a:t>content type; version; length </a:t>
            </a:r>
          </a:p>
        </p:txBody>
      </p:sp>
      <p:sp>
        <p:nvSpPr>
          <p:cNvPr id="114694" name="Text Box 22"/>
          <p:cNvSpPr txBox="1">
            <a:spLocks noChangeArrowheads="1"/>
          </p:cNvSpPr>
          <p:nvPr/>
        </p:nvSpPr>
        <p:spPr bwMode="auto">
          <a:xfrm>
            <a:off x="1836738" y="5524500"/>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i="1">
                <a:solidFill>
                  <a:srgbClr val="C00000"/>
                </a:solidFill>
                <a:latin typeface="Gill Sans MT" pitchFamily="34" charset="0"/>
              </a:rPr>
              <a:t>MAC:  </a:t>
            </a:r>
            <a:r>
              <a:rPr lang="en-US" altLang="en-US" sz="2400">
                <a:latin typeface="Gill Sans MT" pitchFamily="34" charset="0"/>
              </a:rPr>
              <a:t>includes sequence number, MAC key M</a:t>
            </a:r>
            <a:r>
              <a:rPr lang="en-US" altLang="en-US" sz="2400" baseline="-25000">
                <a:latin typeface="Gill Sans MT" pitchFamily="34" charset="0"/>
              </a:rPr>
              <a:t>x</a:t>
            </a:r>
          </a:p>
        </p:txBody>
      </p:sp>
      <p:sp>
        <p:nvSpPr>
          <p:cNvPr id="114695" name="Text Box 23"/>
          <p:cNvSpPr txBox="1">
            <a:spLocks noChangeArrowheads="1"/>
          </p:cNvSpPr>
          <p:nvPr/>
        </p:nvSpPr>
        <p:spPr bwMode="auto">
          <a:xfrm>
            <a:off x="1374775" y="5951538"/>
            <a:ext cx="65770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i="1">
                <a:solidFill>
                  <a:srgbClr val="C00000"/>
                </a:solidFill>
                <a:latin typeface="Gill Sans MT" pitchFamily="34" charset="0"/>
              </a:rPr>
              <a:t>fragment:  </a:t>
            </a:r>
            <a:r>
              <a:rPr lang="en-US" altLang="en-US" sz="2400">
                <a:latin typeface="Gill Sans MT" pitchFamily="34" charset="0"/>
              </a:rPr>
              <a:t>each SSL fragment 2</a:t>
            </a:r>
            <a:r>
              <a:rPr lang="en-US" altLang="en-US" sz="2400" baseline="30000">
                <a:latin typeface="Gill Sans MT" pitchFamily="34" charset="0"/>
              </a:rPr>
              <a:t>14</a:t>
            </a:r>
            <a:r>
              <a:rPr lang="en-US" altLang="en-US" sz="2400">
                <a:latin typeface="Gill Sans MT" pitchFamily="34" charset="0"/>
              </a:rPr>
              <a:t> bytes (~16 Kbytes)</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15714" name="Rectangle 2"/>
          <p:cNvSpPr>
            <a:spLocks noGrp="1" noChangeArrowheads="1"/>
          </p:cNvSpPr>
          <p:nvPr>
            <p:ph type="title"/>
          </p:nvPr>
        </p:nvSpPr>
        <p:spPr>
          <a:xfrm>
            <a:off x="533400" y="0"/>
            <a:ext cx="7772400" cy="1143000"/>
          </a:xfrm>
        </p:spPr>
        <p:txBody>
          <a:bodyPr/>
          <a:lstStyle/>
          <a:p>
            <a:r>
              <a:rPr lang="en-US" altLang="en-US" smtClean="0">
                <a:ea typeface="ＭＳ Ｐゴシック" pitchFamily="34" charset="-128"/>
              </a:rPr>
              <a:t>SSL record format</a:t>
            </a:r>
          </a:p>
        </p:txBody>
      </p:sp>
      <p:grpSp>
        <p:nvGrpSpPr>
          <p:cNvPr id="115715" name="Group 3"/>
          <p:cNvGrpSpPr>
            <a:grpSpLocks/>
          </p:cNvGrpSpPr>
          <p:nvPr/>
        </p:nvGrpSpPr>
        <p:grpSpPr bwMode="auto">
          <a:xfrm>
            <a:off x="1357313" y="1397000"/>
            <a:ext cx="6708775" cy="3744913"/>
            <a:chOff x="862" y="996"/>
            <a:chExt cx="4226" cy="2574"/>
          </a:xfrm>
        </p:grpSpPr>
        <p:grpSp>
          <p:nvGrpSpPr>
            <p:cNvPr id="115718" name="Group 4"/>
            <p:cNvGrpSpPr>
              <a:grpSpLocks/>
            </p:cNvGrpSpPr>
            <p:nvPr/>
          </p:nvGrpSpPr>
          <p:grpSpPr bwMode="auto">
            <a:xfrm>
              <a:off x="862" y="1246"/>
              <a:ext cx="4226" cy="2324"/>
              <a:chOff x="862" y="1139"/>
              <a:chExt cx="4226" cy="2324"/>
            </a:xfrm>
          </p:grpSpPr>
          <p:sp>
            <p:nvSpPr>
              <p:cNvPr id="115722" name="Rectangle 5"/>
              <p:cNvSpPr>
                <a:spLocks noChangeArrowheads="1"/>
              </p:cNvSpPr>
              <p:nvPr/>
            </p:nvSpPr>
            <p:spPr bwMode="auto">
              <a:xfrm>
                <a:off x="864" y="1139"/>
                <a:ext cx="4224" cy="1968"/>
              </a:xfrm>
              <a:prstGeom prst="rect">
                <a:avLst/>
              </a:prstGeom>
              <a:solidFill>
                <a:schemeClr val="hlink"/>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15723" name="Rectangle 6"/>
              <p:cNvSpPr>
                <a:spLocks noChangeArrowheads="1"/>
              </p:cNvSpPr>
              <p:nvPr/>
            </p:nvSpPr>
            <p:spPr bwMode="auto">
              <a:xfrm>
                <a:off x="864" y="1139"/>
                <a:ext cx="768" cy="432"/>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15724" name="Rectangle 7"/>
              <p:cNvSpPr>
                <a:spLocks noChangeArrowheads="1"/>
              </p:cNvSpPr>
              <p:nvPr/>
            </p:nvSpPr>
            <p:spPr bwMode="auto">
              <a:xfrm>
                <a:off x="1632" y="1139"/>
                <a:ext cx="1392" cy="432"/>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15725" name="Rectangle 8"/>
              <p:cNvSpPr>
                <a:spLocks noChangeArrowheads="1"/>
              </p:cNvSpPr>
              <p:nvPr/>
            </p:nvSpPr>
            <p:spPr bwMode="auto">
              <a:xfrm>
                <a:off x="3024" y="1139"/>
                <a:ext cx="1392" cy="432"/>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15726" name="Rectangle 9"/>
              <p:cNvSpPr>
                <a:spLocks noChangeArrowheads="1"/>
              </p:cNvSpPr>
              <p:nvPr/>
            </p:nvSpPr>
            <p:spPr bwMode="auto">
              <a:xfrm>
                <a:off x="862" y="3004"/>
                <a:ext cx="4224" cy="459"/>
              </a:xfrm>
              <a:prstGeom prst="rect">
                <a:avLst/>
              </a:prstGeom>
              <a:solidFill>
                <a:srgbClr val="CCFFFF"/>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15727" name="Text Box 10"/>
              <p:cNvSpPr txBox="1">
                <a:spLocks noChangeArrowheads="1"/>
              </p:cNvSpPr>
              <p:nvPr/>
            </p:nvSpPr>
            <p:spPr bwMode="auto">
              <a:xfrm>
                <a:off x="958" y="1150"/>
                <a:ext cx="645"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lnSpc>
                    <a:spcPts val="2000"/>
                  </a:lnSpc>
                </a:pPr>
                <a:r>
                  <a:rPr lang="en-US" altLang="en-US">
                    <a:latin typeface="Arial" pitchFamily="34" charset="0"/>
                    <a:cs typeface="Arial" pitchFamily="34" charset="0"/>
                  </a:rPr>
                  <a:t>content</a:t>
                </a:r>
              </a:p>
              <a:p>
                <a:pPr algn="ctr">
                  <a:lnSpc>
                    <a:spcPts val="2000"/>
                  </a:lnSpc>
                </a:pPr>
                <a:r>
                  <a:rPr lang="en-US" altLang="en-US">
                    <a:latin typeface="Arial" pitchFamily="34" charset="0"/>
                    <a:cs typeface="Arial" pitchFamily="34" charset="0"/>
                  </a:rPr>
                  <a:t>type</a:t>
                </a:r>
              </a:p>
            </p:txBody>
          </p:sp>
          <p:sp>
            <p:nvSpPr>
              <p:cNvPr id="115728" name="Text Box 11"/>
              <p:cNvSpPr txBox="1">
                <a:spLocks noChangeArrowheads="1"/>
              </p:cNvSpPr>
              <p:nvPr/>
            </p:nvSpPr>
            <p:spPr bwMode="auto">
              <a:xfrm>
                <a:off x="1814" y="1246"/>
                <a:ext cx="98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SSL version</a:t>
                </a:r>
              </a:p>
            </p:txBody>
          </p:sp>
          <p:sp>
            <p:nvSpPr>
              <p:cNvPr id="115729" name="Text Box 12"/>
              <p:cNvSpPr txBox="1">
                <a:spLocks noChangeArrowheads="1"/>
              </p:cNvSpPr>
              <p:nvPr/>
            </p:nvSpPr>
            <p:spPr bwMode="auto">
              <a:xfrm>
                <a:off x="3441" y="1226"/>
                <a:ext cx="557"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length</a:t>
                </a:r>
              </a:p>
            </p:txBody>
          </p:sp>
          <p:sp>
            <p:nvSpPr>
              <p:cNvPr id="115730" name="Text Box 13"/>
              <p:cNvSpPr txBox="1">
                <a:spLocks noChangeArrowheads="1"/>
              </p:cNvSpPr>
              <p:nvPr/>
            </p:nvSpPr>
            <p:spPr bwMode="auto">
              <a:xfrm>
                <a:off x="2553" y="3084"/>
                <a:ext cx="476"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MAC</a:t>
                </a:r>
              </a:p>
            </p:txBody>
          </p:sp>
          <p:sp>
            <p:nvSpPr>
              <p:cNvPr id="115731" name="Text Box 14"/>
              <p:cNvSpPr txBox="1">
                <a:spLocks noChangeArrowheads="1"/>
              </p:cNvSpPr>
              <p:nvPr/>
            </p:nvSpPr>
            <p:spPr bwMode="auto">
              <a:xfrm>
                <a:off x="2576" y="1983"/>
                <a:ext cx="430"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data</a:t>
                </a:r>
              </a:p>
            </p:txBody>
          </p:sp>
        </p:grpSp>
        <p:sp>
          <p:nvSpPr>
            <p:cNvPr id="115719" name="Text Box 15"/>
            <p:cNvSpPr txBox="1">
              <a:spLocks noChangeArrowheads="1"/>
            </p:cNvSpPr>
            <p:nvPr/>
          </p:nvSpPr>
          <p:spPr bwMode="auto">
            <a:xfrm>
              <a:off x="930" y="996"/>
              <a:ext cx="556"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1 byte</a:t>
              </a:r>
            </a:p>
          </p:txBody>
        </p:sp>
        <p:sp>
          <p:nvSpPr>
            <p:cNvPr id="115720" name="Text Box 16"/>
            <p:cNvSpPr txBox="1">
              <a:spLocks noChangeArrowheads="1"/>
            </p:cNvSpPr>
            <p:nvPr/>
          </p:nvSpPr>
          <p:spPr bwMode="auto">
            <a:xfrm>
              <a:off x="2010" y="1007"/>
              <a:ext cx="636"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2 bytes</a:t>
              </a:r>
            </a:p>
          </p:txBody>
        </p:sp>
        <p:sp>
          <p:nvSpPr>
            <p:cNvPr id="115721" name="Text Box 17"/>
            <p:cNvSpPr txBox="1">
              <a:spLocks noChangeArrowheads="1"/>
            </p:cNvSpPr>
            <p:nvPr/>
          </p:nvSpPr>
          <p:spPr bwMode="auto">
            <a:xfrm>
              <a:off x="3350" y="1007"/>
              <a:ext cx="636"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3 bytes</a:t>
              </a:r>
            </a:p>
          </p:txBody>
        </p:sp>
      </p:grpSp>
      <p:sp>
        <p:nvSpPr>
          <p:cNvPr id="115716" name="Text Box 18"/>
          <p:cNvSpPr txBox="1">
            <a:spLocks noChangeArrowheads="1"/>
          </p:cNvSpPr>
          <p:nvPr/>
        </p:nvSpPr>
        <p:spPr bwMode="auto">
          <a:xfrm>
            <a:off x="1384300" y="5468938"/>
            <a:ext cx="6169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a:latin typeface="Gill Sans MT" pitchFamily="34" charset="0"/>
              </a:rPr>
              <a:t>data and MAC encrypted (symmetric algorithm)</a:t>
            </a:r>
          </a:p>
        </p:txBody>
      </p:sp>
      <p:pic>
        <p:nvPicPr>
          <p:cNvPr id="115717" name="Picture 22"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725" y="798513"/>
            <a:ext cx="45704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grpSp>
        <p:nvGrpSpPr>
          <p:cNvPr id="116738" name="Group 2"/>
          <p:cNvGrpSpPr>
            <a:grpSpLocks/>
          </p:cNvGrpSpPr>
          <p:nvPr/>
        </p:nvGrpSpPr>
        <p:grpSpPr bwMode="auto">
          <a:xfrm>
            <a:off x="3502025" y="293688"/>
            <a:ext cx="3962400" cy="5954712"/>
            <a:chOff x="1152" y="233"/>
            <a:chExt cx="2496" cy="3751"/>
          </a:xfrm>
        </p:grpSpPr>
        <p:sp>
          <p:nvSpPr>
            <p:cNvPr id="116747" name="Line 3"/>
            <p:cNvSpPr>
              <a:spLocks noChangeShapeType="1"/>
            </p:cNvSpPr>
            <p:nvPr/>
          </p:nvSpPr>
          <p:spPr bwMode="auto">
            <a:xfrm>
              <a:off x="1152" y="384"/>
              <a:ext cx="2496"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48" name="Line 4"/>
            <p:cNvSpPr>
              <a:spLocks noChangeShapeType="1"/>
            </p:cNvSpPr>
            <p:nvPr/>
          </p:nvSpPr>
          <p:spPr bwMode="auto">
            <a:xfrm flipH="1">
              <a:off x="1152" y="672"/>
              <a:ext cx="2496"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49" name="Line 5"/>
            <p:cNvSpPr>
              <a:spLocks noChangeShapeType="1"/>
            </p:cNvSpPr>
            <p:nvPr/>
          </p:nvSpPr>
          <p:spPr bwMode="auto">
            <a:xfrm flipH="1">
              <a:off x="1152" y="912"/>
              <a:ext cx="2496"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50" name="Line 6"/>
            <p:cNvSpPr>
              <a:spLocks noChangeShapeType="1"/>
            </p:cNvSpPr>
            <p:nvPr/>
          </p:nvSpPr>
          <p:spPr bwMode="auto">
            <a:xfrm flipH="1">
              <a:off x="1152" y="1152"/>
              <a:ext cx="2496"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51" name="Line 7"/>
            <p:cNvSpPr>
              <a:spLocks noChangeShapeType="1"/>
            </p:cNvSpPr>
            <p:nvPr/>
          </p:nvSpPr>
          <p:spPr bwMode="auto">
            <a:xfrm>
              <a:off x="1152" y="1584"/>
              <a:ext cx="24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52" name="Line 8"/>
            <p:cNvSpPr>
              <a:spLocks noChangeShapeType="1"/>
            </p:cNvSpPr>
            <p:nvPr/>
          </p:nvSpPr>
          <p:spPr bwMode="auto">
            <a:xfrm>
              <a:off x="1152" y="1776"/>
              <a:ext cx="24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53" name="Line 9"/>
            <p:cNvSpPr>
              <a:spLocks noChangeShapeType="1"/>
            </p:cNvSpPr>
            <p:nvPr/>
          </p:nvSpPr>
          <p:spPr bwMode="auto">
            <a:xfrm>
              <a:off x="1152" y="2064"/>
              <a:ext cx="24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54" name="Line 10"/>
            <p:cNvSpPr>
              <a:spLocks noChangeShapeType="1"/>
            </p:cNvSpPr>
            <p:nvPr/>
          </p:nvSpPr>
          <p:spPr bwMode="auto">
            <a:xfrm flipH="1">
              <a:off x="1152" y="2448"/>
              <a:ext cx="24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55" name="Line 11"/>
            <p:cNvSpPr>
              <a:spLocks noChangeShapeType="1"/>
            </p:cNvSpPr>
            <p:nvPr/>
          </p:nvSpPr>
          <p:spPr bwMode="auto">
            <a:xfrm flipH="1">
              <a:off x="1152" y="2736"/>
              <a:ext cx="24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56" name="Line 12"/>
            <p:cNvSpPr>
              <a:spLocks noChangeShapeType="1"/>
            </p:cNvSpPr>
            <p:nvPr/>
          </p:nvSpPr>
          <p:spPr bwMode="auto">
            <a:xfrm>
              <a:off x="1152" y="3120"/>
              <a:ext cx="2496"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57" name="Line 13"/>
            <p:cNvSpPr>
              <a:spLocks noChangeShapeType="1"/>
            </p:cNvSpPr>
            <p:nvPr/>
          </p:nvSpPr>
          <p:spPr bwMode="auto">
            <a:xfrm flipH="1">
              <a:off x="1152" y="3408"/>
              <a:ext cx="2496"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58" name="Line 14"/>
            <p:cNvSpPr>
              <a:spLocks noChangeShapeType="1"/>
            </p:cNvSpPr>
            <p:nvPr/>
          </p:nvSpPr>
          <p:spPr bwMode="auto">
            <a:xfrm>
              <a:off x="1152" y="3840"/>
              <a:ext cx="2496"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59" name="Text Box 15"/>
            <p:cNvSpPr txBox="1">
              <a:spLocks noChangeArrowheads="1"/>
            </p:cNvSpPr>
            <p:nvPr/>
          </p:nvSpPr>
          <p:spPr bwMode="auto">
            <a:xfrm rot="194382">
              <a:off x="1574" y="233"/>
              <a:ext cx="14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handshake: ClientHello</a:t>
              </a:r>
            </a:p>
          </p:txBody>
        </p:sp>
        <p:sp>
          <p:nvSpPr>
            <p:cNvPr id="116760" name="Text Box 16"/>
            <p:cNvSpPr txBox="1">
              <a:spLocks noChangeArrowheads="1"/>
            </p:cNvSpPr>
            <p:nvPr/>
          </p:nvSpPr>
          <p:spPr bwMode="auto">
            <a:xfrm rot="-324987">
              <a:off x="1574" y="563"/>
              <a:ext cx="15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handshake: ServerHello</a:t>
              </a:r>
            </a:p>
          </p:txBody>
        </p:sp>
        <p:sp>
          <p:nvSpPr>
            <p:cNvPr id="116761" name="Text Box 17"/>
            <p:cNvSpPr txBox="1">
              <a:spLocks noChangeArrowheads="1"/>
            </p:cNvSpPr>
            <p:nvPr/>
          </p:nvSpPr>
          <p:spPr bwMode="auto">
            <a:xfrm rot="-324987">
              <a:off x="1647" y="805"/>
              <a:ext cx="14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handshake: Certificate</a:t>
              </a:r>
            </a:p>
          </p:txBody>
        </p:sp>
        <p:sp>
          <p:nvSpPr>
            <p:cNvPr id="116762" name="Text Box 18"/>
            <p:cNvSpPr txBox="1">
              <a:spLocks noChangeArrowheads="1"/>
            </p:cNvSpPr>
            <p:nvPr/>
          </p:nvSpPr>
          <p:spPr bwMode="auto">
            <a:xfrm rot="-324987">
              <a:off x="1574" y="1046"/>
              <a:ext cx="18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handshake: ServerHelloDone</a:t>
              </a:r>
            </a:p>
          </p:txBody>
        </p:sp>
        <p:sp>
          <p:nvSpPr>
            <p:cNvPr id="116763" name="Text Box 19"/>
            <p:cNvSpPr txBox="1">
              <a:spLocks noChangeArrowheads="1"/>
            </p:cNvSpPr>
            <p:nvPr/>
          </p:nvSpPr>
          <p:spPr bwMode="auto">
            <a:xfrm rot="226813">
              <a:off x="1606" y="1478"/>
              <a:ext cx="194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handshake: ClientKeyExchange</a:t>
              </a:r>
            </a:p>
          </p:txBody>
        </p:sp>
        <p:sp>
          <p:nvSpPr>
            <p:cNvPr id="116764" name="Text Box 20"/>
            <p:cNvSpPr txBox="1">
              <a:spLocks noChangeArrowheads="1"/>
            </p:cNvSpPr>
            <p:nvPr/>
          </p:nvSpPr>
          <p:spPr bwMode="auto">
            <a:xfrm rot="258961">
              <a:off x="1594" y="1655"/>
              <a:ext cx="124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ChangeCipherSpec</a:t>
              </a:r>
            </a:p>
          </p:txBody>
        </p:sp>
        <p:sp>
          <p:nvSpPr>
            <p:cNvPr id="116765" name="Text Box 21"/>
            <p:cNvSpPr txBox="1">
              <a:spLocks noChangeArrowheads="1"/>
            </p:cNvSpPr>
            <p:nvPr/>
          </p:nvSpPr>
          <p:spPr bwMode="auto">
            <a:xfrm rot="226813">
              <a:off x="1606" y="1968"/>
              <a:ext cx="13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handshake: Finished</a:t>
              </a:r>
            </a:p>
          </p:txBody>
        </p:sp>
        <p:sp>
          <p:nvSpPr>
            <p:cNvPr id="116766" name="Text Box 22"/>
            <p:cNvSpPr txBox="1">
              <a:spLocks noChangeArrowheads="1"/>
            </p:cNvSpPr>
            <p:nvPr/>
          </p:nvSpPr>
          <p:spPr bwMode="auto">
            <a:xfrm rot="-260887">
              <a:off x="1658" y="2341"/>
              <a:ext cx="124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ChangeCipherSpec</a:t>
              </a:r>
            </a:p>
          </p:txBody>
        </p:sp>
        <p:sp>
          <p:nvSpPr>
            <p:cNvPr id="116767" name="Text Box 23"/>
            <p:cNvSpPr txBox="1">
              <a:spLocks noChangeArrowheads="1"/>
            </p:cNvSpPr>
            <p:nvPr/>
          </p:nvSpPr>
          <p:spPr bwMode="auto">
            <a:xfrm rot="-387815">
              <a:off x="1670" y="2630"/>
              <a:ext cx="13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handshake: Finished</a:t>
              </a:r>
            </a:p>
          </p:txBody>
        </p:sp>
        <p:sp>
          <p:nvSpPr>
            <p:cNvPr id="116768" name="Text Box 24"/>
            <p:cNvSpPr txBox="1">
              <a:spLocks noChangeArrowheads="1"/>
            </p:cNvSpPr>
            <p:nvPr/>
          </p:nvSpPr>
          <p:spPr bwMode="auto">
            <a:xfrm rot="258755">
              <a:off x="1747" y="3013"/>
              <a:ext cx="105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application_data</a:t>
              </a:r>
            </a:p>
          </p:txBody>
        </p:sp>
        <p:sp>
          <p:nvSpPr>
            <p:cNvPr id="116769" name="Text Box 25"/>
            <p:cNvSpPr txBox="1">
              <a:spLocks noChangeArrowheads="1"/>
            </p:cNvSpPr>
            <p:nvPr/>
          </p:nvSpPr>
          <p:spPr bwMode="auto">
            <a:xfrm rot="-295858">
              <a:off x="1811" y="3301"/>
              <a:ext cx="105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application_data</a:t>
              </a:r>
            </a:p>
          </p:txBody>
        </p:sp>
        <p:sp>
          <p:nvSpPr>
            <p:cNvPr id="116770" name="Text Box 26"/>
            <p:cNvSpPr txBox="1">
              <a:spLocks noChangeArrowheads="1"/>
            </p:cNvSpPr>
            <p:nvPr/>
          </p:nvSpPr>
          <p:spPr bwMode="auto">
            <a:xfrm rot="194382">
              <a:off x="1827" y="3733"/>
              <a:ext cx="166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Alert: warning, close_notify</a:t>
              </a:r>
            </a:p>
          </p:txBody>
        </p:sp>
      </p:grpSp>
      <p:sp>
        <p:nvSpPr>
          <p:cNvPr id="116739" name="Rectangle 27"/>
          <p:cNvSpPr>
            <a:spLocks noGrp="1" noChangeArrowheads="1"/>
          </p:cNvSpPr>
          <p:nvPr>
            <p:ph type="title"/>
          </p:nvPr>
        </p:nvSpPr>
        <p:spPr>
          <a:xfrm>
            <a:off x="252413" y="366713"/>
            <a:ext cx="3170237" cy="1143000"/>
          </a:xfrm>
        </p:spPr>
        <p:txBody>
          <a:bodyPr/>
          <a:lstStyle/>
          <a:p>
            <a:pPr>
              <a:lnSpc>
                <a:spcPts val="4600"/>
              </a:lnSpc>
            </a:pPr>
            <a:r>
              <a:rPr lang="en-US" altLang="en-US" smtClean="0">
                <a:ea typeface="ＭＳ Ｐゴシック" pitchFamily="34" charset="-128"/>
              </a:rPr>
              <a:t>Real SSL</a:t>
            </a:r>
            <a:br>
              <a:rPr lang="en-US" altLang="en-US" smtClean="0">
                <a:ea typeface="ＭＳ Ｐゴシック" pitchFamily="34" charset="-128"/>
              </a:rPr>
            </a:br>
            <a:r>
              <a:rPr lang="en-US" altLang="en-US" smtClean="0">
                <a:ea typeface="ＭＳ Ｐゴシック" pitchFamily="34" charset="-128"/>
              </a:rPr>
              <a:t>connection</a:t>
            </a:r>
          </a:p>
        </p:txBody>
      </p:sp>
      <p:sp>
        <p:nvSpPr>
          <p:cNvPr id="116740" name="Text Box 28"/>
          <p:cNvSpPr txBox="1">
            <a:spLocks noChangeArrowheads="1"/>
          </p:cNvSpPr>
          <p:nvPr/>
        </p:nvSpPr>
        <p:spPr bwMode="auto">
          <a:xfrm>
            <a:off x="1219200" y="6049963"/>
            <a:ext cx="1917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C00000"/>
                </a:solidFill>
                <a:latin typeface="Gill Sans MT" pitchFamily="34" charset="0"/>
              </a:rPr>
              <a:t>TCP FIN follows</a:t>
            </a:r>
          </a:p>
        </p:txBody>
      </p:sp>
      <p:pic>
        <p:nvPicPr>
          <p:cNvPr id="116741" name="Picture 29"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2700" y="1989138"/>
            <a:ext cx="5270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42" name="Picture 30" descr="Bo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1941513"/>
            <a:ext cx="642938"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3" name="Line 32"/>
          <p:cNvSpPr>
            <a:spLocks noChangeShapeType="1"/>
          </p:cNvSpPr>
          <p:nvPr/>
        </p:nvSpPr>
        <p:spPr bwMode="auto">
          <a:xfrm flipV="1">
            <a:off x="2635250" y="2743200"/>
            <a:ext cx="1122363" cy="592138"/>
          </a:xfrm>
          <a:prstGeom prst="line">
            <a:avLst/>
          </a:prstGeom>
          <a:noFill/>
          <a:ln w="1905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16744" name="Text Box 33"/>
          <p:cNvSpPr txBox="1">
            <a:spLocks noChangeArrowheads="1"/>
          </p:cNvSpPr>
          <p:nvPr/>
        </p:nvSpPr>
        <p:spPr bwMode="auto">
          <a:xfrm>
            <a:off x="1038225" y="2947988"/>
            <a:ext cx="15668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i="1">
                <a:solidFill>
                  <a:srgbClr val="C00000"/>
                </a:solidFill>
                <a:latin typeface="Arial" pitchFamily="34" charset="0"/>
                <a:cs typeface="Arial" pitchFamily="34" charset="0"/>
              </a:rPr>
              <a:t>everything</a:t>
            </a:r>
          </a:p>
          <a:p>
            <a:pPr algn="r"/>
            <a:r>
              <a:rPr lang="en-US" altLang="en-US" i="1">
                <a:solidFill>
                  <a:srgbClr val="C00000"/>
                </a:solidFill>
                <a:latin typeface="Arial" pitchFamily="34" charset="0"/>
                <a:cs typeface="Arial" pitchFamily="34" charset="0"/>
              </a:rPr>
              <a:t>henceforth</a:t>
            </a:r>
          </a:p>
          <a:p>
            <a:pPr algn="r"/>
            <a:r>
              <a:rPr lang="en-US" altLang="en-US" i="1">
                <a:solidFill>
                  <a:srgbClr val="C00000"/>
                </a:solidFill>
                <a:latin typeface="Arial" pitchFamily="34" charset="0"/>
                <a:cs typeface="Arial" pitchFamily="34" charset="0"/>
              </a:rPr>
              <a:t>is encrypted</a:t>
            </a:r>
          </a:p>
        </p:txBody>
      </p:sp>
      <p:sp>
        <p:nvSpPr>
          <p:cNvPr id="116745" name="Line 34"/>
          <p:cNvSpPr>
            <a:spLocks noChangeShapeType="1"/>
          </p:cNvSpPr>
          <p:nvPr/>
        </p:nvSpPr>
        <p:spPr bwMode="auto">
          <a:xfrm>
            <a:off x="2603500" y="3592513"/>
            <a:ext cx="1392238" cy="385762"/>
          </a:xfrm>
          <a:prstGeom prst="line">
            <a:avLst/>
          </a:prstGeom>
          <a:noFill/>
          <a:ln w="1905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116746" name="Picture 24" descr="underline_base"/>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3688" y="1500188"/>
            <a:ext cx="26257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1" name="Picture 24"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950" y="1052513"/>
            <a:ext cx="351948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3"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17763" name="Rectangle 2"/>
          <p:cNvSpPr>
            <a:spLocks noGrp="1" noChangeArrowheads="1"/>
          </p:cNvSpPr>
          <p:nvPr>
            <p:ph type="title"/>
          </p:nvPr>
        </p:nvSpPr>
        <p:spPr/>
        <p:txBody>
          <a:bodyPr/>
          <a:lstStyle/>
          <a:p>
            <a:r>
              <a:rPr lang="en-US" altLang="en-US" smtClean="0">
                <a:ea typeface="ＭＳ Ｐゴシック" pitchFamily="34" charset="-128"/>
              </a:rPr>
              <a:t>Key derivation</a:t>
            </a:r>
          </a:p>
        </p:txBody>
      </p:sp>
      <p:sp>
        <p:nvSpPr>
          <p:cNvPr id="117764" name="Rectangle 3"/>
          <p:cNvSpPr>
            <a:spLocks noGrp="1" noChangeArrowheads="1"/>
          </p:cNvSpPr>
          <p:nvPr>
            <p:ph type="body" idx="1"/>
          </p:nvPr>
        </p:nvSpPr>
        <p:spPr>
          <a:xfrm>
            <a:off x="533400" y="1511300"/>
            <a:ext cx="7772400" cy="4648200"/>
          </a:xfrm>
        </p:spPr>
        <p:txBody>
          <a:bodyPr/>
          <a:lstStyle/>
          <a:p>
            <a:pPr>
              <a:lnSpc>
                <a:spcPct val="90000"/>
              </a:lnSpc>
            </a:pPr>
            <a:r>
              <a:rPr lang="en-US" altLang="en-US" sz="2400" smtClean="0">
                <a:ea typeface="ＭＳ Ｐゴシック" pitchFamily="34" charset="-128"/>
              </a:rPr>
              <a:t>client nonce, server nonce, and pre-master secret input into pseudo random-number generator.</a:t>
            </a:r>
          </a:p>
          <a:p>
            <a:pPr lvl="1">
              <a:lnSpc>
                <a:spcPct val="90000"/>
              </a:lnSpc>
            </a:pPr>
            <a:r>
              <a:rPr lang="en-US" altLang="en-US" sz="2000" smtClean="0">
                <a:ea typeface="ＭＳ Ｐゴシック" pitchFamily="34" charset="-128"/>
              </a:rPr>
              <a:t>produces master secret</a:t>
            </a:r>
          </a:p>
          <a:p>
            <a:pPr>
              <a:lnSpc>
                <a:spcPct val="90000"/>
              </a:lnSpc>
            </a:pPr>
            <a:r>
              <a:rPr lang="en-US" altLang="en-US" sz="2400" smtClean="0">
                <a:ea typeface="ＭＳ Ｐゴシック" pitchFamily="34" charset="-128"/>
              </a:rPr>
              <a:t>master secret and new nonces input into another random-number generator: </a:t>
            </a:r>
            <a:r>
              <a:rPr lang="ja-JP" altLang="en-US" sz="2400" smtClean="0">
                <a:ea typeface="ＭＳ Ｐゴシック" pitchFamily="34" charset="-128"/>
              </a:rPr>
              <a:t>“</a:t>
            </a:r>
            <a:r>
              <a:rPr lang="en-US" altLang="ja-JP" sz="2400" smtClean="0">
                <a:ea typeface="ＭＳ Ｐゴシック" pitchFamily="34" charset="-128"/>
              </a:rPr>
              <a:t>key block</a:t>
            </a:r>
            <a:r>
              <a:rPr lang="ja-JP" altLang="en-US" sz="2400" smtClean="0">
                <a:ea typeface="ＭＳ Ｐゴシック" pitchFamily="34" charset="-128"/>
              </a:rPr>
              <a:t>”</a:t>
            </a:r>
            <a:endParaRPr lang="en-US" altLang="ja-JP" sz="2400" smtClean="0">
              <a:ea typeface="ＭＳ Ｐゴシック" pitchFamily="34" charset="-128"/>
            </a:endParaRPr>
          </a:p>
          <a:p>
            <a:pPr lvl="1">
              <a:lnSpc>
                <a:spcPct val="90000"/>
              </a:lnSpc>
            </a:pPr>
            <a:r>
              <a:rPr lang="en-US" altLang="en-US" sz="2000" smtClean="0">
                <a:ea typeface="ＭＳ Ｐゴシック" pitchFamily="34" charset="-128"/>
              </a:rPr>
              <a:t>because of resumption: TBD</a:t>
            </a:r>
          </a:p>
          <a:p>
            <a:pPr>
              <a:lnSpc>
                <a:spcPct val="90000"/>
              </a:lnSpc>
            </a:pPr>
            <a:r>
              <a:rPr lang="en-US" altLang="en-US" sz="2400" smtClean="0">
                <a:ea typeface="ＭＳ Ｐゴシック" pitchFamily="34" charset="-128"/>
              </a:rPr>
              <a:t>key block sliced and diced:</a:t>
            </a:r>
          </a:p>
          <a:p>
            <a:pPr lvl="1">
              <a:lnSpc>
                <a:spcPct val="90000"/>
              </a:lnSpc>
            </a:pPr>
            <a:r>
              <a:rPr lang="en-US" altLang="en-US" sz="2000" smtClean="0">
                <a:ea typeface="ＭＳ Ｐゴシック" pitchFamily="34" charset="-128"/>
              </a:rPr>
              <a:t>client MAC key</a:t>
            </a:r>
          </a:p>
          <a:p>
            <a:pPr lvl="1">
              <a:lnSpc>
                <a:spcPct val="90000"/>
              </a:lnSpc>
            </a:pPr>
            <a:r>
              <a:rPr lang="en-US" altLang="en-US" sz="2000" smtClean="0">
                <a:ea typeface="ＭＳ Ｐゴシック" pitchFamily="34" charset="-128"/>
              </a:rPr>
              <a:t>server MAC key</a:t>
            </a:r>
          </a:p>
          <a:p>
            <a:pPr lvl="1">
              <a:lnSpc>
                <a:spcPct val="90000"/>
              </a:lnSpc>
            </a:pPr>
            <a:r>
              <a:rPr lang="en-US" altLang="en-US" sz="2000" smtClean="0">
                <a:ea typeface="ＭＳ Ｐゴシック" pitchFamily="34" charset="-128"/>
              </a:rPr>
              <a:t>client encryption key</a:t>
            </a:r>
          </a:p>
          <a:p>
            <a:pPr lvl="1">
              <a:lnSpc>
                <a:spcPct val="90000"/>
              </a:lnSpc>
            </a:pPr>
            <a:r>
              <a:rPr lang="en-US" altLang="en-US" sz="2000" smtClean="0">
                <a:ea typeface="ＭＳ Ｐゴシック" pitchFamily="34" charset="-128"/>
              </a:rPr>
              <a:t>server encryption key</a:t>
            </a:r>
          </a:p>
          <a:p>
            <a:pPr lvl="1">
              <a:lnSpc>
                <a:spcPct val="90000"/>
              </a:lnSpc>
            </a:pPr>
            <a:r>
              <a:rPr lang="en-US" altLang="en-US" sz="2000" smtClean="0">
                <a:ea typeface="ＭＳ Ｐゴシック" pitchFamily="34" charset="-128"/>
              </a:rPr>
              <a:t>client initialization vector (IV)</a:t>
            </a:r>
          </a:p>
          <a:p>
            <a:pPr lvl="1">
              <a:lnSpc>
                <a:spcPct val="90000"/>
              </a:lnSpc>
            </a:pPr>
            <a:r>
              <a:rPr lang="en-US" altLang="en-US" sz="2000" smtClean="0">
                <a:ea typeface="ＭＳ Ｐゴシック" pitchFamily="34" charset="-128"/>
              </a:rPr>
              <a:t>server initialization vector (IV)</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18786" name="Rectangle 2"/>
          <p:cNvSpPr>
            <a:spLocks noGrp="1" noChangeArrowheads="1"/>
          </p:cNvSpPr>
          <p:nvPr>
            <p:ph type="title"/>
          </p:nvPr>
        </p:nvSpPr>
        <p:spPr/>
        <p:txBody>
          <a:bodyPr/>
          <a:lstStyle/>
          <a:p>
            <a:r>
              <a:rPr lang="en-US" altLang="en-US" smtClean="0">
                <a:ea typeface="ＭＳ Ｐゴシック" pitchFamily="34" charset="-128"/>
              </a:rPr>
              <a:t>Chapter 8 roadmap</a:t>
            </a:r>
          </a:p>
        </p:txBody>
      </p:sp>
      <p:sp>
        <p:nvSpPr>
          <p:cNvPr id="118787" name="Rectangle 3"/>
          <p:cNvSpPr>
            <a:spLocks noGrp="1" noChangeArrowheads="1"/>
          </p:cNvSpPr>
          <p:nvPr>
            <p:ph type="body" idx="1"/>
          </p:nvPr>
        </p:nvSpPr>
        <p:spPr>
          <a:xfrm>
            <a:off x="650875" y="1668463"/>
            <a:ext cx="7772400" cy="4648200"/>
          </a:xfrm>
        </p:spPr>
        <p:txBody>
          <a:bodyPr/>
          <a:lstStyle/>
          <a:p>
            <a:pPr>
              <a:buFont typeface="Wingdings" pitchFamily="2" charset="2"/>
              <a:buNone/>
            </a:pPr>
            <a:r>
              <a:rPr lang="en-US" altLang="en-US" smtClean="0">
                <a:solidFill>
                  <a:srgbClr val="000099"/>
                </a:solidFill>
                <a:ea typeface="ＭＳ Ｐゴシック" pitchFamily="34" charset="-128"/>
              </a:rPr>
              <a:t>8.1</a:t>
            </a:r>
            <a:r>
              <a:rPr lang="en-US" altLang="en-US" smtClean="0">
                <a:solidFill>
                  <a:srgbClr val="2D2DB9"/>
                </a:solidFill>
                <a:ea typeface="ＭＳ Ｐゴシック" pitchFamily="34" charset="-128"/>
              </a:rPr>
              <a:t> </a:t>
            </a:r>
            <a:r>
              <a:rPr lang="en-US" altLang="en-US" smtClean="0">
                <a:ea typeface="ＭＳ Ｐゴシック" pitchFamily="34" charset="-128"/>
              </a:rPr>
              <a:t>What is network security?</a:t>
            </a:r>
          </a:p>
          <a:p>
            <a:pPr>
              <a:buFont typeface="Wingdings" pitchFamily="2" charset="2"/>
              <a:buNone/>
            </a:pPr>
            <a:r>
              <a:rPr lang="en-US" altLang="en-US" smtClean="0">
                <a:solidFill>
                  <a:srgbClr val="000099"/>
                </a:solidFill>
                <a:ea typeface="ＭＳ Ｐゴシック" pitchFamily="34" charset="-128"/>
              </a:rPr>
              <a:t>8.2</a:t>
            </a:r>
            <a:r>
              <a:rPr lang="en-US" altLang="en-US" smtClean="0">
                <a:ea typeface="ＭＳ Ｐゴシック" pitchFamily="34" charset="-128"/>
              </a:rPr>
              <a:t> Principles of cryptography</a:t>
            </a:r>
          </a:p>
          <a:p>
            <a:pPr>
              <a:buFont typeface="Wingdings" pitchFamily="2" charset="2"/>
              <a:buNone/>
            </a:pPr>
            <a:r>
              <a:rPr lang="en-US" altLang="en-US" smtClean="0">
                <a:solidFill>
                  <a:srgbClr val="000099"/>
                </a:solidFill>
                <a:ea typeface="ＭＳ Ｐゴシック" pitchFamily="34" charset="-128"/>
              </a:rPr>
              <a:t>8.3</a:t>
            </a:r>
            <a:r>
              <a:rPr lang="en-US" altLang="en-US" smtClean="0">
                <a:ea typeface="ＭＳ Ｐゴシック" pitchFamily="34" charset="-128"/>
              </a:rPr>
              <a:t> Message integrity</a:t>
            </a:r>
          </a:p>
          <a:p>
            <a:pPr>
              <a:buFont typeface="Wingdings" pitchFamily="2" charset="2"/>
              <a:buNone/>
            </a:pPr>
            <a:r>
              <a:rPr lang="en-US" altLang="en-US" smtClean="0">
                <a:solidFill>
                  <a:srgbClr val="000099"/>
                </a:solidFill>
                <a:ea typeface="ＭＳ Ｐゴシック" pitchFamily="34" charset="-128"/>
              </a:rPr>
              <a:t>8.4 </a:t>
            </a:r>
            <a:r>
              <a:rPr lang="en-US" altLang="en-US" smtClean="0">
                <a:ea typeface="ＭＳ Ｐゴシック" pitchFamily="34" charset="-128"/>
              </a:rPr>
              <a:t>Securing e-mail</a:t>
            </a:r>
          </a:p>
          <a:p>
            <a:pPr>
              <a:buFont typeface="Wingdings" pitchFamily="2" charset="2"/>
              <a:buNone/>
            </a:pPr>
            <a:r>
              <a:rPr lang="en-US" altLang="en-US" smtClean="0">
                <a:solidFill>
                  <a:srgbClr val="000099"/>
                </a:solidFill>
                <a:ea typeface="ＭＳ Ｐゴシック" pitchFamily="34" charset="-128"/>
              </a:rPr>
              <a:t>8.5</a:t>
            </a:r>
            <a:r>
              <a:rPr lang="en-US" altLang="en-US" smtClean="0">
                <a:ea typeface="ＭＳ Ｐゴシック" pitchFamily="34" charset="-128"/>
              </a:rPr>
              <a:t> Securing TCP connections: SSL</a:t>
            </a:r>
          </a:p>
          <a:p>
            <a:pPr>
              <a:buFont typeface="Wingdings" pitchFamily="2" charset="2"/>
              <a:buNone/>
            </a:pPr>
            <a:r>
              <a:rPr lang="en-US" altLang="en-US" i="1" smtClean="0">
                <a:solidFill>
                  <a:srgbClr val="C00000"/>
                </a:solidFill>
                <a:ea typeface="ＭＳ Ｐゴシック" pitchFamily="34" charset="-128"/>
              </a:rPr>
              <a:t>8.6 Network layer security: IPsec</a:t>
            </a:r>
          </a:p>
          <a:p>
            <a:pPr>
              <a:buFont typeface="Wingdings" pitchFamily="2" charset="2"/>
              <a:buNone/>
            </a:pPr>
            <a:r>
              <a:rPr lang="en-US" altLang="en-US" smtClean="0">
                <a:solidFill>
                  <a:srgbClr val="000099"/>
                </a:solidFill>
                <a:ea typeface="ＭＳ Ｐゴシック" pitchFamily="34" charset="-128"/>
              </a:rPr>
              <a:t>8.7</a:t>
            </a:r>
            <a:r>
              <a:rPr lang="en-US" altLang="en-US" smtClean="0">
                <a:ea typeface="ＭＳ Ｐゴシック" pitchFamily="34" charset="-128"/>
              </a:rPr>
              <a:t> Securing wireless LANs</a:t>
            </a:r>
          </a:p>
          <a:p>
            <a:pPr>
              <a:buFont typeface="Wingdings" pitchFamily="2" charset="2"/>
              <a:buNone/>
            </a:pPr>
            <a:r>
              <a:rPr lang="en-US" altLang="en-US" smtClean="0">
                <a:solidFill>
                  <a:srgbClr val="000099"/>
                </a:solidFill>
                <a:ea typeface="ＭＳ Ｐゴシック" pitchFamily="34" charset="-128"/>
              </a:rPr>
              <a:t>8.8</a:t>
            </a:r>
            <a:r>
              <a:rPr lang="en-US" altLang="en-US" smtClean="0">
                <a:ea typeface="ＭＳ Ｐゴシック" pitchFamily="34" charset="-128"/>
              </a:rPr>
              <a:t> Operational security: firewalls and IDS</a:t>
            </a:r>
          </a:p>
        </p:txBody>
      </p:sp>
      <p:pic>
        <p:nvPicPr>
          <p:cNvPr id="118788" name="Picture 22"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475" y="1038225"/>
            <a:ext cx="4570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20834" name="Rectangle 2"/>
          <p:cNvSpPr>
            <a:spLocks noGrp="1" noChangeArrowheads="1"/>
          </p:cNvSpPr>
          <p:nvPr>
            <p:ph type="title"/>
          </p:nvPr>
        </p:nvSpPr>
        <p:spPr>
          <a:xfrm>
            <a:off x="361950" y="228600"/>
            <a:ext cx="8470900" cy="1143000"/>
          </a:xfrm>
        </p:spPr>
        <p:txBody>
          <a:bodyPr/>
          <a:lstStyle/>
          <a:p>
            <a:r>
              <a:rPr lang="en-US" altLang="en-US" sz="4000" smtClean="0">
                <a:ea typeface="ＭＳ Ｐゴシック" pitchFamily="34" charset="-128"/>
              </a:rPr>
              <a:t>What is network-layer confidentiality ?</a:t>
            </a:r>
          </a:p>
        </p:txBody>
      </p:sp>
      <p:sp>
        <p:nvSpPr>
          <p:cNvPr id="120835" name="Rectangle 3"/>
          <p:cNvSpPr>
            <a:spLocks noGrp="1" noChangeArrowheads="1"/>
          </p:cNvSpPr>
          <p:nvPr>
            <p:ph type="body" idx="1"/>
          </p:nvPr>
        </p:nvSpPr>
        <p:spPr>
          <a:xfrm>
            <a:off x="544513" y="1406525"/>
            <a:ext cx="8040687" cy="4648200"/>
          </a:xfrm>
        </p:spPr>
        <p:txBody>
          <a:bodyPr/>
          <a:lstStyle/>
          <a:p>
            <a:pPr>
              <a:buFont typeface="Wingdings" pitchFamily="2" charset="2"/>
              <a:buNone/>
            </a:pPr>
            <a:r>
              <a:rPr lang="en-US" altLang="en-US" i="1" smtClean="0">
                <a:solidFill>
                  <a:srgbClr val="C00000"/>
                </a:solidFill>
                <a:ea typeface="ＭＳ Ｐゴシック" pitchFamily="34" charset="-128"/>
              </a:rPr>
              <a:t>between two network entities:</a:t>
            </a:r>
          </a:p>
          <a:p>
            <a:r>
              <a:rPr lang="en-US" altLang="en-US" smtClean="0">
                <a:ea typeface="ＭＳ Ｐゴシック" pitchFamily="34" charset="-128"/>
              </a:rPr>
              <a:t>sending entity encrypts datagram payload, payload could be:</a:t>
            </a:r>
          </a:p>
          <a:p>
            <a:pPr lvl="1"/>
            <a:r>
              <a:rPr lang="en-US" altLang="en-US" smtClean="0">
                <a:ea typeface="ＭＳ Ｐゴシック" pitchFamily="34" charset="-128"/>
              </a:rPr>
              <a:t>TCP or UDP segment, ICMP message, OSPF message ….</a:t>
            </a:r>
          </a:p>
          <a:p>
            <a:r>
              <a:rPr lang="en-US" altLang="en-US" smtClean="0">
                <a:ea typeface="ＭＳ Ｐゴシック" pitchFamily="34" charset="-128"/>
              </a:rPr>
              <a:t>all data sent from one entity to other would be hidden:</a:t>
            </a:r>
          </a:p>
          <a:p>
            <a:pPr lvl="1"/>
            <a:r>
              <a:rPr lang="en-US" altLang="en-US" smtClean="0">
                <a:ea typeface="ＭＳ Ｐゴシック" pitchFamily="34" charset="-128"/>
              </a:rPr>
              <a:t>web pages, e-mail, P2P file transfers, TCP SYN packets …</a:t>
            </a:r>
          </a:p>
          <a:p>
            <a:r>
              <a:rPr lang="ja-JP" altLang="en-US" smtClean="0">
                <a:solidFill>
                  <a:srgbClr val="C00000"/>
                </a:solidFill>
                <a:ea typeface="ＭＳ Ｐゴシック" pitchFamily="34" charset="-128"/>
              </a:rPr>
              <a:t>“</a:t>
            </a:r>
            <a:r>
              <a:rPr lang="en-US" altLang="ja-JP" smtClean="0">
                <a:solidFill>
                  <a:srgbClr val="C00000"/>
                </a:solidFill>
                <a:ea typeface="ＭＳ Ｐゴシック" pitchFamily="34" charset="-128"/>
              </a:rPr>
              <a:t>blanket coverage</a:t>
            </a:r>
            <a:r>
              <a:rPr lang="ja-JP" altLang="en-US" smtClean="0">
                <a:solidFill>
                  <a:srgbClr val="C00000"/>
                </a:solidFill>
                <a:ea typeface="ＭＳ Ｐゴシック" pitchFamily="34" charset="-128"/>
              </a:rPr>
              <a:t>”</a:t>
            </a:r>
            <a:endParaRPr lang="en-US" altLang="en-US" smtClean="0">
              <a:solidFill>
                <a:srgbClr val="C00000"/>
              </a:solidFill>
              <a:ea typeface="ＭＳ Ｐゴシック" pitchFamily="34" charset="-128"/>
            </a:endParaRPr>
          </a:p>
        </p:txBody>
      </p:sp>
      <p:pic>
        <p:nvPicPr>
          <p:cNvPr id="120836" name="Picture 6" descr="underline_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863" y="1023938"/>
            <a:ext cx="82280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7" name="Picture 1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888" y="803275"/>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21859" name="Rectangle 2"/>
          <p:cNvSpPr>
            <a:spLocks noGrp="1" noChangeArrowheads="1"/>
          </p:cNvSpPr>
          <p:nvPr>
            <p:ph type="title"/>
          </p:nvPr>
        </p:nvSpPr>
        <p:spPr>
          <a:xfrm>
            <a:off x="533400" y="0"/>
            <a:ext cx="7772400" cy="1143000"/>
          </a:xfrm>
        </p:spPr>
        <p:txBody>
          <a:bodyPr/>
          <a:lstStyle/>
          <a:p>
            <a:r>
              <a:rPr lang="en-US" altLang="en-US" smtClean="0">
                <a:ea typeface="ＭＳ Ｐゴシック" pitchFamily="34" charset="-128"/>
              </a:rPr>
              <a:t>Virtual Private Networks (VPNs)</a:t>
            </a:r>
          </a:p>
        </p:txBody>
      </p:sp>
      <p:sp>
        <p:nvSpPr>
          <p:cNvPr id="121860" name="Rectangle 3"/>
          <p:cNvSpPr>
            <a:spLocks noGrp="1" noChangeArrowheads="1"/>
          </p:cNvSpPr>
          <p:nvPr>
            <p:ph type="body" idx="1"/>
          </p:nvPr>
        </p:nvSpPr>
        <p:spPr>
          <a:xfrm>
            <a:off x="533400" y="1295400"/>
            <a:ext cx="8105775" cy="5257800"/>
          </a:xfrm>
        </p:spPr>
        <p:txBody>
          <a:bodyPr/>
          <a:lstStyle/>
          <a:p>
            <a:pPr marL="0" indent="0">
              <a:lnSpc>
                <a:spcPct val="90000"/>
              </a:lnSpc>
              <a:buFont typeface="Wingdings" pitchFamily="2" charset="2"/>
              <a:buNone/>
            </a:pPr>
            <a:r>
              <a:rPr lang="en-US" altLang="en-US" i="1" smtClean="0">
                <a:solidFill>
                  <a:srgbClr val="C00000"/>
                </a:solidFill>
                <a:ea typeface="ＭＳ Ｐゴシック" pitchFamily="34" charset="-128"/>
              </a:rPr>
              <a:t>motivation:</a:t>
            </a:r>
          </a:p>
          <a:p>
            <a:pPr marL="0" indent="0">
              <a:lnSpc>
                <a:spcPct val="90000"/>
              </a:lnSpc>
            </a:pPr>
            <a:r>
              <a:rPr lang="en-US" altLang="en-US" smtClean="0">
                <a:ea typeface="ＭＳ Ｐゴシック" pitchFamily="34" charset="-128"/>
              </a:rPr>
              <a:t>institutions often want private networks for security. </a:t>
            </a:r>
          </a:p>
          <a:p>
            <a:pPr lvl="1">
              <a:lnSpc>
                <a:spcPct val="90000"/>
              </a:lnSpc>
            </a:pPr>
            <a:r>
              <a:rPr lang="en-US" altLang="en-US" smtClean="0">
                <a:ea typeface="ＭＳ Ｐゴシック" pitchFamily="34" charset="-128"/>
              </a:rPr>
              <a:t>costly: separate routers, links, DNS infrastructure.</a:t>
            </a:r>
          </a:p>
          <a:p>
            <a:pPr marL="0" indent="0">
              <a:lnSpc>
                <a:spcPct val="90000"/>
              </a:lnSpc>
            </a:pPr>
            <a:r>
              <a:rPr lang="en-US" altLang="zh-CN" smtClean="0">
                <a:ea typeface="SimSun" pitchFamily="2" charset="-122"/>
              </a:rPr>
              <a:t>VPN: institution’s inter-office traffic is sent over public Internet instead </a:t>
            </a:r>
          </a:p>
          <a:p>
            <a:pPr lvl="1">
              <a:lnSpc>
                <a:spcPct val="90000"/>
              </a:lnSpc>
            </a:pPr>
            <a:r>
              <a:rPr lang="en-US" altLang="en-US" smtClean="0">
                <a:ea typeface="ＭＳ Ｐゴシック" pitchFamily="34" charset="-128"/>
              </a:rPr>
              <a:t>encrypted before entering public Internet</a:t>
            </a:r>
          </a:p>
          <a:p>
            <a:pPr lvl="1">
              <a:lnSpc>
                <a:spcPct val="90000"/>
              </a:lnSpc>
            </a:pPr>
            <a:r>
              <a:rPr lang="en-US" altLang="en-US" smtClean="0">
                <a:ea typeface="ＭＳ Ｐゴシック" pitchFamily="34" charset="-128"/>
              </a:rPr>
              <a:t>logically separate from other traffic</a:t>
            </a:r>
          </a:p>
          <a:p>
            <a:pPr lvl="1">
              <a:lnSpc>
                <a:spcPct val="90000"/>
              </a:lnSpc>
            </a:pPr>
            <a:endParaRPr lang="en-US" altLang="en-US" smtClean="0">
              <a:ea typeface="ＭＳ Ｐゴシック" pitchFamily="34" charset="-128"/>
            </a:endParaRPr>
          </a:p>
          <a:p>
            <a:pPr marL="0" indent="0">
              <a:lnSpc>
                <a:spcPct val="90000"/>
              </a:lnSpc>
              <a:buFont typeface="Wingdings" pitchFamily="2" charset="2"/>
              <a:buNone/>
            </a:pPr>
            <a:endParaRPr lang="en-US" altLang="en-US" smtClean="0">
              <a:ea typeface="ＭＳ Ｐゴシック" pitchFamily="34" charset="-128"/>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22882" name="Line 3"/>
          <p:cNvSpPr>
            <a:spLocks noChangeShapeType="1"/>
          </p:cNvSpPr>
          <p:nvPr/>
        </p:nvSpPr>
        <p:spPr bwMode="auto">
          <a:xfrm>
            <a:off x="4203700" y="1725613"/>
            <a:ext cx="3230563" cy="5984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22883" name="Line 36"/>
          <p:cNvSpPr>
            <a:spLocks noChangeShapeType="1"/>
          </p:cNvSpPr>
          <p:nvPr/>
        </p:nvSpPr>
        <p:spPr bwMode="auto">
          <a:xfrm flipH="1">
            <a:off x="1689100" y="1649413"/>
            <a:ext cx="457200" cy="2460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22884" name="Line 37"/>
          <p:cNvSpPr>
            <a:spLocks noChangeShapeType="1"/>
          </p:cNvSpPr>
          <p:nvPr/>
        </p:nvSpPr>
        <p:spPr bwMode="auto">
          <a:xfrm>
            <a:off x="3898900" y="1954213"/>
            <a:ext cx="1066800" cy="2057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22885" name="Line 48"/>
          <p:cNvSpPr>
            <a:spLocks noChangeShapeType="1"/>
          </p:cNvSpPr>
          <p:nvPr/>
        </p:nvSpPr>
        <p:spPr bwMode="auto">
          <a:xfrm flipV="1">
            <a:off x="850900" y="4443413"/>
            <a:ext cx="665163" cy="1092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22886" name="Line 49"/>
          <p:cNvSpPr>
            <a:spLocks noChangeShapeType="1"/>
          </p:cNvSpPr>
          <p:nvPr/>
        </p:nvSpPr>
        <p:spPr bwMode="auto">
          <a:xfrm flipH="1" flipV="1">
            <a:off x="1689100" y="4529138"/>
            <a:ext cx="76200" cy="1158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22887" name="Line 51"/>
          <p:cNvSpPr>
            <a:spLocks noChangeShapeType="1"/>
          </p:cNvSpPr>
          <p:nvPr/>
        </p:nvSpPr>
        <p:spPr bwMode="auto">
          <a:xfrm>
            <a:off x="1914525" y="4389438"/>
            <a:ext cx="765175" cy="1298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22888" name="Line 62"/>
          <p:cNvSpPr>
            <a:spLocks noChangeShapeType="1"/>
          </p:cNvSpPr>
          <p:nvPr/>
        </p:nvSpPr>
        <p:spPr bwMode="auto">
          <a:xfrm>
            <a:off x="4965700" y="4164013"/>
            <a:ext cx="304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22889" name="Line 63"/>
          <p:cNvSpPr>
            <a:spLocks noChangeShapeType="1"/>
          </p:cNvSpPr>
          <p:nvPr/>
        </p:nvSpPr>
        <p:spPr bwMode="auto">
          <a:xfrm>
            <a:off x="5270500" y="4087813"/>
            <a:ext cx="1219200" cy="144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nvGrpSpPr>
          <p:cNvPr id="122890" name="Group 64"/>
          <p:cNvGrpSpPr>
            <a:grpSpLocks/>
          </p:cNvGrpSpPr>
          <p:nvPr/>
        </p:nvGrpSpPr>
        <p:grpSpPr bwMode="auto">
          <a:xfrm rot="614183">
            <a:off x="5129213" y="1579563"/>
            <a:ext cx="1828800" cy="425450"/>
            <a:chOff x="3792" y="1056"/>
            <a:chExt cx="1152" cy="192"/>
          </a:xfrm>
        </p:grpSpPr>
        <p:sp>
          <p:nvSpPr>
            <p:cNvPr id="123011" name="Rectangle 65"/>
            <p:cNvSpPr>
              <a:spLocks noChangeArrowheads="1"/>
            </p:cNvSpPr>
            <p:nvPr/>
          </p:nvSpPr>
          <p:spPr bwMode="auto">
            <a:xfrm>
              <a:off x="3792" y="1056"/>
              <a:ext cx="336"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IP</a:t>
              </a:r>
            </a:p>
            <a:p>
              <a:pPr algn="ctr" eaLnBrk="1" hangingPunct="1"/>
              <a:r>
                <a:rPr lang="en-US" altLang="en-US" sz="1000">
                  <a:latin typeface="Arial" pitchFamily="34" charset="0"/>
                </a:rPr>
                <a:t>header</a:t>
              </a:r>
            </a:p>
          </p:txBody>
        </p:sp>
        <p:sp>
          <p:nvSpPr>
            <p:cNvPr id="123012" name="Rectangle 66"/>
            <p:cNvSpPr>
              <a:spLocks noChangeArrowheads="1"/>
            </p:cNvSpPr>
            <p:nvPr/>
          </p:nvSpPr>
          <p:spPr bwMode="auto">
            <a:xfrm>
              <a:off x="4128" y="1056"/>
              <a:ext cx="336"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IPsec</a:t>
              </a:r>
            </a:p>
            <a:p>
              <a:pPr algn="ctr" eaLnBrk="1" hangingPunct="1"/>
              <a:r>
                <a:rPr lang="en-US" altLang="en-US" sz="1000">
                  <a:latin typeface="Arial" pitchFamily="34" charset="0"/>
                </a:rPr>
                <a:t>header</a:t>
              </a:r>
            </a:p>
          </p:txBody>
        </p:sp>
        <p:sp>
          <p:nvSpPr>
            <p:cNvPr id="123013" name="Rectangle 67"/>
            <p:cNvSpPr>
              <a:spLocks noChangeArrowheads="1"/>
            </p:cNvSpPr>
            <p:nvPr/>
          </p:nvSpPr>
          <p:spPr bwMode="auto">
            <a:xfrm>
              <a:off x="4464" y="1056"/>
              <a:ext cx="480"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Secure</a:t>
              </a:r>
            </a:p>
            <a:p>
              <a:pPr algn="ctr" eaLnBrk="1" hangingPunct="1"/>
              <a:r>
                <a:rPr lang="en-US" altLang="en-US" sz="1000">
                  <a:latin typeface="Arial" pitchFamily="34" charset="0"/>
                </a:rPr>
                <a:t>payload</a:t>
              </a:r>
            </a:p>
          </p:txBody>
        </p:sp>
      </p:grpSp>
      <p:grpSp>
        <p:nvGrpSpPr>
          <p:cNvPr id="122891" name="Group 68"/>
          <p:cNvGrpSpPr>
            <a:grpSpLocks/>
          </p:cNvGrpSpPr>
          <p:nvPr/>
        </p:nvGrpSpPr>
        <p:grpSpPr bwMode="auto">
          <a:xfrm rot="-4660239">
            <a:off x="691357" y="2837656"/>
            <a:ext cx="1828800" cy="385763"/>
            <a:chOff x="3792" y="1056"/>
            <a:chExt cx="1152" cy="192"/>
          </a:xfrm>
        </p:grpSpPr>
        <p:sp>
          <p:nvSpPr>
            <p:cNvPr id="123008" name="Rectangle 69"/>
            <p:cNvSpPr>
              <a:spLocks noChangeArrowheads="1"/>
            </p:cNvSpPr>
            <p:nvPr/>
          </p:nvSpPr>
          <p:spPr bwMode="auto">
            <a:xfrm>
              <a:off x="3792" y="1056"/>
              <a:ext cx="336"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IP</a:t>
              </a:r>
            </a:p>
            <a:p>
              <a:pPr algn="ctr" eaLnBrk="1" hangingPunct="1"/>
              <a:r>
                <a:rPr lang="en-US" altLang="en-US" sz="1000">
                  <a:latin typeface="Arial" pitchFamily="34" charset="0"/>
                </a:rPr>
                <a:t>header</a:t>
              </a:r>
            </a:p>
          </p:txBody>
        </p:sp>
        <p:sp>
          <p:nvSpPr>
            <p:cNvPr id="123009" name="Rectangle 70"/>
            <p:cNvSpPr>
              <a:spLocks noChangeArrowheads="1"/>
            </p:cNvSpPr>
            <p:nvPr/>
          </p:nvSpPr>
          <p:spPr bwMode="auto">
            <a:xfrm>
              <a:off x="4128" y="1056"/>
              <a:ext cx="336"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IPsec</a:t>
              </a:r>
            </a:p>
            <a:p>
              <a:pPr algn="ctr" eaLnBrk="1" hangingPunct="1"/>
              <a:r>
                <a:rPr lang="en-US" altLang="en-US" sz="1000">
                  <a:latin typeface="Arial" pitchFamily="34" charset="0"/>
                </a:rPr>
                <a:t>header</a:t>
              </a:r>
            </a:p>
          </p:txBody>
        </p:sp>
        <p:sp>
          <p:nvSpPr>
            <p:cNvPr id="123010" name="Rectangle 71"/>
            <p:cNvSpPr>
              <a:spLocks noChangeArrowheads="1"/>
            </p:cNvSpPr>
            <p:nvPr/>
          </p:nvSpPr>
          <p:spPr bwMode="auto">
            <a:xfrm>
              <a:off x="4464" y="1056"/>
              <a:ext cx="480"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Secure</a:t>
              </a:r>
            </a:p>
            <a:p>
              <a:pPr algn="ctr" eaLnBrk="1" hangingPunct="1"/>
              <a:r>
                <a:rPr lang="en-US" altLang="en-US" sz="1000">
                  <a:latin typeface="Arial" pitchFamily="34" charset="0"/>
                </a:rPr>
                <a:t>payload</a:t>
              </a:r>
            </a:p>
          </p:txBody>
        </p:sp>
      </p:grpSp>
      <p:grpSp>
        <p:nvGrpSpPr>
          <p:cNvPr id="122892" name="Group 72"/>
          <p:cNvGrpSpPr>
            <a:grpSpLocks/>
          </p:cNvGrpSpPr>
          <p:nvPr/>
        </p:nvGrpSpPr>
        <p:grpSpPr bwMode="auto">
          <a:xfrm rot="3745751">
            <a:off x="3876675" y="2844800"/>
            <a:ext cx="1828800" cy="406400"/>
            <a:chOff x="3792" y="1056"/>
            <a:chExt cx="1152" cy="192"/>
          </a:xfrm>
        </p:grpSpPr>
        <p:sp>
          <p:nvSpPr>
            <p:cNvPr id="123005" name="Rectangle 73"/>
            <p:cNvSpPr>
              <a:spLocks noChangeArrowheads="1"/>
            </p:cNvSpPr>
            <p:nvPr/>
          </p:nvSpPr>
          <p:spPr bwMode="auto">
            <a:xfrm>
              <a:off x="3792" y="1056"/>
              <a:ext cx="336"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IP</a:t>
              </a:r>
            </a:p>
            <a:p>
              <a:pPr algn="ctr" eaLnBrk="1" hangingPunct="1"/>
              <a:r>
                <a:rPr lang="en-US" altLang="en-US" sz="1000">
                  <a:latin typeface="Arial" pitchFamily="34" charset="0"/>
                </a:rPr>
                <a:t>header</a:t>
              </a:r>
            </a:p>
          </p:txBody>
        </p:sp>
        <p:sp>
          <p:nvSpPr>
            <p:cNvPr id="123006" name="Rectangle 74"/>
            <p:cNvSpPr>
              <a:spLocks noChangeArrowheads="1"/>
            </p:cNvSpPr>
            <p:nvPr/>
          </p:nvSpPr>
          <p:spPr bwMode="auto">
            <a:xfrm>
              <a:off x="4128" y="1056"/>
              <a:ext cx="336"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IPsec</a:t>
              </a:r>
            </a:p>
            <a:p>
              <a:pPr algn="ctr" eaLnBrk="1" hangingPunct="1"/>
              <a:r>
                <a:rPr lang="en-US" altLang="en-US" sz="1000">
                  <a:latin typeface="Arial" pitchFamily="34" charset="0"/>
                </a:rPr>
                <a:t>header</a:t>
              </a:r>
            </a:p>
          </p:txBody>
        </p:sp>
        <p:sp>
          <p:nvSpPr>
            <p:cNvPr id="123007" name="Rectangle 75"/>
            <p:cNvSpPr>
              <a:spLocks noChangeArrowheads="1"/>
            </p:cNvSpPr>
            <p:nvPr/>
          </p:nvSpPr>
          <p:spPr bwMode="auto">
            <a:xfrm>
              <a:off x="4464" y="1056"/>
              <a:ext cx="480"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Secure</a:t>
              </a:r>
            </a:p>
            <a:p>
              <a:pPr algn="ctr" eaLnBrk="1" hangingPunct="1"/>
              <a:r>
                <a:rPr lang="en-US" altLang="en-US" sz="1000">
                  <a:latin typeface="Arial" pitchFamily="34" charset="0"/>
                </a:rPr>
                <a:t>payload</a:t>
              </a:r>
            </a:p>
          </p:txBody>
        </p:sp>
      </p:grpSp>
      <p:grpSp>
        <p:nvGrpSpPr>
          <p:cNvPr id="122893" name="Group 76"/>
          <p:cNvGrpSpPr>
            <a:grpSpLocks/>
          </p:cNvGrpSpPr>
          <p:nvPr/>
        </p:nvGrpSpPr>
        <p:grpSpPr bwMode="auto">
          <a:xfrm rot="-3587012">
            <a:off x="252413" y="4467225"/>
            <a:ext cx="1295400" cy="361950"/>
            <a:chOff x="4320" y="1728"/>
            <a:chExt cx="816" cy="192"/>
          </a:xfrm>
        </p:grpSpPr>
        <p:sp>
          <p:nvSpPr>
            <p:cNvPr id="123003" name="Rectangle 77"/>
            <p:cNvSpPr>
              <a:spLocks noChangeArrowheads="1"/>
            </p:cNvSpPr>
            <p:nvPr/>
          </p:nvSpPr>
          <p:spPr bwMode="auto">
            <a:xfrm>
              <a:off x="4320" y="1728"/>
              <a:ext cx="336"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IP</a:t>
              </a:r>
            </a:p>
            <a:p>
              <a:pPr algn="ctr" eaLnBrk="1" hangingPunct="1"/>
              <a:r>
                <a:rPr lang="en-US" altLang="en-US" sz="1000">
                  <a:latin typeface="Arial" pitchFamily="34" charset="0"/>
                </a:rPr>
                <a:t>header</a:t>
              </a:r>
            </a:p>
          </p:txBody>
        </p:sp>
        <p:sp>
          <p:nvSpPr>
            <p:cNvPr id="123004" name="Rectangle 78"/>
            <p:cNvSpPr>
              <a:spLocks noChangeArrowheads="1"/>
            </p:cNvSpPr>
            <p:nvPr/>
          </p:nvSpPr>
          <p:spPr bwMode="auto">
            <a:xfrm>
              <a:off x="4656" y="1728"/>
              <a:ext cx="480"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payload</a:t>
              </a:r>
            </a:p>
          </p:txBody>
        </p:sp>
      </p:grpSp>
      <p:grpSp>
        <p:nvGrpSpPr>
          <p:cNvPr id="122894" name="Group 79"/>
          <p:cNvGrpSpPr>
            <a:grpSpLocks/>
          </p:cNvGrpSpPr>
          <p:nvPr/>
        </p:nvGrpSpPr>
        <p:grpSpPr bwMode="auto">
          <a:xfrm rot="3125522">
            <a:off x="5576888" y="4502150"/>
            <a:ext cx="1295400" cy="406400"/>
            <a:chOff x="4320" y="1728"/>
            <a:chExt cx="816" cy="192"/>
          </a:xfrm>
        </p:grpSpPr>
        <p:sp>
          <p:nvSpPr>
            <p:cNvPr id="123001" name="Rectangle 80"/>
            <p:cNvSpPr>
              <a:spLocks noChangeArrowheads="1"/>
            </p:cNvSpPr>
            <p:nvPr/>
          </p:nvSpPr>
          <p:spPr bwMode="auto">
            <a:xfrm>
              <a:off x="4320" y="1728"/>
              <a:ext cx="336"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IP</a:t>
              </a:r>
            </a:p>
            <a:p>
              <a:pPr algn="ctr" eaLnBrk="1" hangingPunct="1"/>
              <a:r>
                <a:rPr lang="en-US" altLang="en-US" sz="1000">
                  <a:latin typeface="Arial" pitchFamily="34" charset="0"/>
                </a:rPr>
                <a:t>header</a:t>
              </a:r>
            </a:p>
          </p:txBody>
        </p:sp>
        <p:sp>
          <p:nvSpPr>
            <p:cNvPr id="123002" name="Rectangle 81"/>
            <p:cNvSpPr>
              <a:spLocks noChangeArrowheads="1"/>
            </p:cNvSpPr>
            <p:nvPr/>
          </p:nvSpPr>
          <p:spPr bwMode="auto">
            <a:xfrm>
              <a:off x="4656" y="1728"/>
              <a:ext cx="480" cy="192"/>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000">
                  <a:latin typeface="Arial" pitchFamily="34" charset="0"/>
                </a:rPr>
                <a:t>payload</a:t>
              </a:r>
            </a:p>
          </p:txBody>
        </p:sp>
      </p:grpSp>
      <p:sp>
        <p:nvSpPr>
          <p:cNvPr id="122895" name="Text Box 82"/>
          <p:cNvSpPr txBox="1">
            <a:spLocks noChangeArrowheads="1"/>
          </p:cNvSpPr>
          <p:nvPr/>
        </p:nvSpPr>
        <p:spPr bwMode="auto">
          <a:xfrm>
            <a:off x="1003300" y="6297613"/>
            <a:ext cx="15446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cs typeface="Arial" pitchFamily="34" charset="0"/>
              </a:rPr>
              <a:t>headquarters</a:t>
            </a:r>
          </a:p>
        </p:txBody>
      </p:sp>
      <p:sp>
        <p:nvSpPr>
          <p:cNvPr id="122896" name="Text Box 83"/>
          <p:cNvSpPr txBox="1">
            <a:spLocks noChangeArrowheads="1"/>
          </p:cNvSpPr>
          <p:nvPr/>
        </p:nvSpPr>
        <p:spPr bwMode="auto">
          <a:xfrm>
            <a:off x="5102225" y="6034088"/>
            <a:ext cx="16414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t>branch office</a:t>
            </a:r>
          </a:p>
        </p:txBody>
      </p:sp>
      <p:sp>
        <p:nvSpPr>
          <p:cNvPr id="122897" name="Text Box 84"/>
          <p:cNvSpPr txBox="1">
            <a:spLocks noChangeArrowheads="1"/>
          </p:cNvSpPr>
          <p:nvPr/>
        </p:nvSpPr>
        <p:spPr bwMode="auto">
          <a:xfrm>
            <a:off x="7177088" y="2601913"/>
            <a:ext cx="1419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cs typeface="Arial" pitchFamily="34" charset="0"/>
              </a:rPr>
              <a:t>salesperson</a:t>
            </a:r>
            <a:br>
              <a:rPr lang="en-US" altLang="en-US" sz="1800">
                <a:latin typeface="Arial" pitchFamily="34" charset="0"/>
                <a:cs typeface="Arial" pitchFamily="34" charset="0"/>
              </a:rPr>
            </a:br>
            <a:r>
              <a:rPr lang="en-US" altLang="en-US" sz="1800">
                <a:latin typeface="Arial" pitchFamily="34" charset="0"/>
                <a:cs typeface="Arial" pitchFamily="34" charset="0"/>
              </a:rPr>
              <a:t>in hotel</a:t>
            </a:r>
          </a:p>
        </p:txBody>
      </p:sp>
      <p:sp>
        <p:nvSpPr>
          <p:cNvPr id="122898" name="Text Box 104"/>
          <p:cNvSpPr txBox="1">
            <a:spLocks noChangeArrowheads="1"/>
          </p:cNvSpPr>
          <p:nvPr/>
        </p:nvSpPr>
        <p:spPr bwMode="auto">
          <a:xfrm>
            <a:off x="7329488" y="1373188"/>
            <a:ext cx="10572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cs typeface="Arial" pitchFamily="34" charset="0"/>
              </a:rPr>
              <a:t>laptop </a:t>
            </a:r>
          </a:p>
          <a:p>
            <a:pPr eaLnBrk="1" hangingPunct="1"/>
            <a:r>
              <a:rPr lang="en-US" altLang="en-US" sz="1800">
                <a:latin typeface="Arial" pitchFamily="34" charset="0"/>
                <a:cs typeface="Arial" pitchFamily="34" charset="0"/>
              </a:rPr>
              <a:t>w/ IPsec</a:t>
            </a:r>
          </a:p>
        </p:txBody>
      </p:sp>
      <p:sp>
        <p:nvSpPr>
          <p:cNvPr id="122899" name="Text Box 105"/>
          <p:cNvSpPr txBox="1">
            <a:spLocks noChangeArrowheads="1"/>
          </p:cNvSpPr>
          <p:nvPr/>
        </p:nvSpPr>
        <p:spPr bwMode="auto">
          <a:xfrm>
            <a:off x="1816100" y="3497263"/>
            <a:ext cx="17367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cs typeface="Arial" pitchFamily="34" charset="0"/>
              </a:rPr>
              <a:t>router w/</a:t>
            </a:r>
          </a:p>
          <a:p>
            <a:pPr eaLnBrk="1" hangingPunct="1"/>
            <a:r>
              <a:rPr lang="en-US" altLang="en-US" sz="1800">
                <a:latin typeface="Arial" pitchFamily="34" charset="0"/>
                <a:cs typeface="Arial" pitchFamily="34" charset="0"/>
              </a:rPr>
              <a:t>IPv4 and IPsec</a:t>
            </a:r>
          </a:p>
        </p:txBody>
      </p:sp>
      <p:grpSp>
        <p:nvGrpSpPr>
          <p:cNvPr id="122900" name="Group 542"/>
          <p:cNvGrpSpPr>
            <a:grpSpLocks/>
          </p:cNvGrpSpPr>
          <p:nvPr/>
        </p:nvGrpSpPr>
        <p:grpSpPr bwMode="auto">
          <a:xfrm>
            <a:off x="1236663" y="5454650"/>
            <a:ext cx="762000" cy="779463"/>
            <a:chOff x="-44" y="1473"/>
            <a:chExt cx="981" cy="1105"/>
          </a:xfrm>
        </p:grpSpPr>
        <p:pic>
          <p:nvPicPr>
            <p:cNvPr id="122999" name="Picture 529"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00"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22901" name="Group 542"/>
          <p:cNvGrpSpPr>
            <a:grpSpLocks/>
          </p:cNvGrpSpPr>
          <p:nvPr/>
        </p:nvGrpSpPr>
        <p:grpSpPr bwMode="auto">
          <a:xfrm>
            <a:off x="2089150" y="5467350"/>
            <a:ext cx="760413" cy="777875"/>
            <a:chOff x="-44" y="1473"/>
            <a:chExt cx="981" cy="1105"/>
          </a:xfrm>
        </p:grpSpPr>
        <p:pic>
          <p:nvPicPr>
            <p:cNvPr id="122997" name="Picture 529"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98"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22902" name="Group 542"/>
          <p:cNvGrpSpPr>
            <a:grpSpLocks/>
          </p:cNvGrpSpPr>
          <p:nvPr/>
        </p:nvGrpSpPr>
        <p:grpSpPr bwMode="auto">
          <a:xfrm>
            <a:off x="5962650" y="5372100"/>
            <a:ext cx="762000" cy="779463"/>
            <a:chOff x="-44" y="1473"/>
            <a:chExt cx="981" cy="1105"/>
          </a:xfrm>
        </p:grpSpPr>
        <p:pic>
          <p:nvPicPr>
            <p:cNvPr id="122995" name="Picture 529"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96"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22903" name="Group 249"/>
          <p:cNvGrpSpPr>
            <a:grpSpLocks/>
          </p:cNvGrpSpPr>
          <p:nvPr/>
        </p:nvGrpSpPr>
        <p:grpSpPr bwMode="auto">
          <a:xfrm>
            <a:off x="5087938" y="5110163"/>
            <a:ext cx="400050" cy="819150"/>
            <a:chOff x="4140" y="429"/>
            <a:chExt cx="1425" cy="2396"/>
          </a:xfrm>
        </p:grpSpPr>
        <p:sp>
          <p:nvSpPr>
            <p:cNvPr id="122963" name="Freeform 250"/>
            <p:cNvSpPr>
              <a:spLocks/>
            </p:cNvSpPr>
            <p:nvPr/>
          </p:nvSpPr>
          <p:spPr bwMode="auto">
            <a:xfrm>
              <a:off x="5268" y="433"/>
              <a:ext cx="283" cy="2286"/>
            </a:xfrm>
            <a:custGeom>
              <a:avLst/>
              <a:gdLst>
                <a:gd name="T0" fmla="*/ 32 w 354"/>
                <a:gd name="T1" fmla="*/ 0 h 2742"/>
                <a:gd name="T2" fmla="*/ 181 w 354"/>
                <a:gd name="T3" fmla="*/ 197 h 2742"/>
                <a:gd name="T4" fmla="*/ 177 w 354"/>
                <a:gd name="T5" fmla="*/ 1521 h 2742"/>
                <a:gd name="T6" fmla="*/ 0 w 354"/>
                <a:gd name="T7" fmla="*/ 1589 h 2742"/>
                <a:gd name="T8" fmla="*/ 32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6101" name="Rectangle 251"/>
            <p:cNvSpPr>
              <a:spLocks noChangeArrowheads="1"/>
            </p:cNvSpPr>
            <p:nvPr/>
          </p:nvSpPr>
          <p:spPr bwMode="auto">
            <a:xfrm>
              <a:off x="4208" y="429"/>
              <a:ext cx="1046"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22965" name="Freeform 252"/>
            <p:cNvSpPr>
              <a:spLocks/>
            </p:cNvSpPr>
            <p:nvPr/>
          </p:nvSpPr>
          <p:spPr bwMode="auto">
            <a:xfrm>
              <a:off x="5321" y="570"/>
              <a:ext cx="169" cy="2115"/>
            </a:xfrm>
            <a:custGeom>
              <a:avLst/>
              <a:gdLst>
                <a:gd name="T0" fmla="*/ 4 w 211"/>
                <a:gd name="T1" fmla="*/ 0 h 2537"/>
                <a:gd name="T2" fmla="*/ 108 w 211"/>
                <a:gd name="T3" fmla="*/ 127 h 2537"/>
                <a:gd name="T4" fmla="*/ 4 w 211"/>
                <a:gd name="T5" fmla="*/ 1449 h 2537"/>
                <a:gd name="T6" fmla="*/ 4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2966" name="Freeform 253"/>
            <p:cNvSpPr>
              <a:spLocks/>
            </p:cNvSpPr>
            <p:nvPr/>
          </p:nvSpPr>
          <p:spPr bwMode="auto">
            <a:xfrm>
              <a:off x="5284" y="1640"/>
              <a:ext cx="263" cy="189"/>
            </a:xfrm>
            <a:custGeom>
              <a:avLst/>
              <a:gdLst>
                <a:gd name="T0" fmla="*/ 2 w 328"/>
                <a:gd name="T1" fmla="*/ 0 h 226"/>
                <a:gd name="T2" fmla="*/ 169 w 328"/>
                <a:gd name="T3" fmla="*/ 74 h 226"/>
                <a:gd name="T4" fmla="*/ 168 w 328"/>
                <a:gd name="T5" fmla="*/ 132 h 226"/>
                <a:gd name="T6" fmla="*/ 0 w 328"/>
                <a:gd name="T7" fmla="*/ 5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6104" name="Rectangle 254"/>
            <p:cNvSpPr>
              <a:spLocks noChangeArrowheads="1"/>
            </p:cNvSpPr>
            <p:nvPr/>
          </p:nvSpPr>
          <p:spPr bwMode="auto">
            <a:xfrm>
              <a:off x="4214" y="694"/>
              <a:ext cx="594" cy="4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nvGrpSpPr>
            <p:cNvPr id="122968" name="Group 255"/>
            <p:cNvGrpSpPr>
              <a:grpSpLocks/>
            </p:cNvGrpSpPr>
            <p:nvPr/>
          </p:nvGrpSpPr>
          <p:grpSpPr bwMode="auto">
            <a:xfrm>
              <a:off x="4749" y="668"/>
              <a:ext cx="581" cy="145"/>
              <a:chOff x="614" y="2568"/>
              <a:chExt cx="725" cy="139"/>
            </a:xfrm>
          </p:grpSpPr>
          <p:sp>
            <p:nvSpPr>
              <p:cNvPr id="86130" name="AutoShape 256"/>
              <p:cNvSpPr>
                <a:spLocks noChangeArrowheads="1"/>
              </p:cNvSpPr>
              <p:nvPr/>
            </p:nvSpPr>
            <p:spPr bwMode="auto">
              <a:xfrm>
                <a:off x="616" y="2566"/>
                <a:ext cx="720" cy="142"/>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131" name="AutoShape 257"/>
              <p:cNvSpPr>
                <a:spLocks noChangeArrowheads="1"/>
              </p:cNvSpPr>
              <p:nvPr/>
            </p:nvSpPr>
            <p:spPr bwMode="auto">
              <a:xfrm>
                <a:off x="630" y="2584"/>
                <a:ext cx="68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86106" name="Rectangle 258"/>
            <p:cNvSpPr>
              <a:spLocks noChangeArrowheads="1"/>
            </p:cNvSpPr>
            <p:nvPr/>
          </p:nvSpPr>
          <p:spPr bwMode="auto">
            <a:xfrm>
              <a:off x="4225" y="1019"/>
              <a:ext cx="594" cy="4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nvGrpSpPr>
            <p:cNvPr id="122970" name="Group 259"/>
            <p:cNvGrpSpPr>
              <a:grpSpLocks/>
            </p:cNvGrpSpPr>
            <p:nvPr/>
          </p:nvGrpSpPr>
          <p:grpSpPr bwMode="auto">
            <a:xfrm>
              <a:off x="4747" y="994"/>
              <a:ext cx="581" cy="134"/>
              <a:chOff x="614" y="2568"/>
              <a:chExt cx="725" cy="139"/>
            </a:xfrm>
          </p:grpSpPr>
          <p:sp>
            <p:nvSpPr>
              <p:cNvPr id="86128" name="AutoShape 260"/>
              <p:cNvSpPr>
                <a:spLocks noChangeArrowheads="1"/>
              </p:cNvSpPr>
              <p:nvPr/>
            </p:nvSpPr>
            <p:spPr bwMode="auto">
              <a:xfrm>
                <a:off x="612" y="2570"/>
                <a:ext cx="727" cy="140"/>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129" name="AutoShape 261"/>
              <p:cNvSpPr>
                <a:spLocks noChangeArrowheads="1"/>
              </p:cNvSpPr>
              <p:nvPr/>
            </p:nvSpPr>
            <p:spPr bwMode="auto">
              <a:xfrm>
                <a:off x="626" y="2584"/>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86108" name="Rectangle 262"/>
            <p:cNvSpPr>
              <a:spLocks noChangeArrowheads="1"/>
            </p:cNvSpPr>
            <p:nvPr/>
          </p:nvSpPr>
          <p:spPr bwMode="auto">
            <a:xfrm>
              <a:off x="4219" y="1358"/>
              <a:ext cx="594" cy="4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109" name="Rectangle 263"/>
            <p:cNvSpPr>
              <a:spLocks noChangeArrowheads="1"/>
            </p:cNvSpPr>
            <p:nvPr/>
          </p:nvSpPr>
          <p:spPr bwMode="auto">
            <a:xfrm>
              <a:off x="4230" y="1655"/>
              <a:ext cx="594" cy="4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nvGrpSpPr>
            <p:cNvPr id="122973" name="Group 264"/>
            <p:cNvGrpSpPr>
              <a:grpSpLocks/>
            </p:cNvGrpSpPr>
            <p:nvPr/>
          </p:nvGrpSpPr>
          <p:grpSpPr bwMode="auto">
            <a:xfrm>
              <a:off x="4735" y="1627"/>
              <a:ext cx="582" cy="151"/>
              <a:chOff x="614" y="2568"/>
              <a:chExt cx="725" cy="139"/>
            </a:xfrm>
          </p:grpSpPr>
          <p:sp>
            <p:nvSpPr>
              <p:cNvPr id="86126" name="AutoShape 265"/>
              <p:cNvSpPr>
                <a:spLocks noChangeArrowheads="1"/>
              </p:cNvSpPr>
              <p:nvPr/>
            </p:nvSpPr>
            <p:spPr bwMode="auto">
              <a:xfrm>
                <a:off x="612" y="2568"/>
                <a:ext cx="726" cy="141"/>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127" name="AutoShape 266"/>
              <p:cNvSpPr>
                <a:spLocks noChangeArrowheads="1"/>
              </p:cNvSpPr>
              <p:nvPr/>
            </p:nvSpPr>
            <p:spPr bwMode="auto">
              <a:xfrm>
                <a:off x="627" y="2585"/>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122974" name="Freeform 267"/>
            <p:cNvSpPr>
              <a:spLocks/>
            </p:cNvSpPr>
            <p:nvPr/>
          </p:nvSpPr>
          <p:spPr bwMode="auto">
            <a:xfrm>
              <a:off x="5288" y="1354"/>
              <a:ext cx="263" cy="188"/>
            </a:xfrm>
            <a:custGeom>
              <a:avLst/>
              <a:gdLst>
                <a:gd name="T0" fmla="*/ 2 w 328"/>
                <a:gd name="T1" fmla="*/ 0 h 226"/>
                <a:gd name="T2" fmla="*/ 169 w 328"/>
                <a:gd name="T3" fmla="*/ 73 h 226"/>
                <a:gd name="T4" fmla="*/ 168 w 328"/>
                <a:gd name="T5" fmla="*/ 130 h 226"/>
                <a:gd name="T6" fmla="*/ 0 w 328"/>
                <a:gd name="T7" fmla="*/ 5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22975" name="Group 268"/>
            <p:cNvGrpSpPr>
              <a:grpSpLocks/>
            </p:cNvGrpSpPr>
            <p:nvPr/>
          </p:nvGrpSpPr>
          <p:grpSpPr bwMode="auto">
            <a:xfrm>
              <a:off x="4739" y="1327"/>
              <a:ext cx="582" cy="139"/>
              <a:chOff x="614" y="2568"/>
              <a:chExt cx="725" cy="139"/>
            </a:xfrm>
          </p:grpSpPr>
          <p:sp>
            <p:nvSpPr>
              <p:cNvPr id="86124" name="AutoShape 269"/>
              <p:cNvSpPr>
                <a:spLocks noChangeArrowheads="1"/>
              </p:cNvSpPr>
              <p:nvPr/>
            </p:nvSpPr>
            <p:spPr bwMode="auto">
              <a:xfrm>
                <a:off x="615" y="2566"/>
                <a:ext cx="726"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125" name="AutoShape 270"/>
              <p:cNvSpPr>
                <a:spLocks noChangeArrowheads="1"/>
              </p:cNvSpPr>
              <p:nvPr/>
            </p:nvSpPr>
            <p:spPr bwMode="auto">
              <a:xfrm>
                <a:off x="629" y="2580"/>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86113" name="Rectangle 271"/>
            <p:cNvSpPr>
              <a:spLocks noChangeArrowheads="1"/>
            </p:cNvSpPr>
            <p:nvPr/>
          </p:nvSpPr>
          <p:spPr bwMode="auto">
            <a:xfrm>
              <a:off x="5248" y="429"/>
              <a:ext cx="68"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22977" name="Freeform 272"/>
            <p:cNvSpPr>
              <a:spLocks/>
            </p:cNvSpPr>
            <p:nvPr/>
          </p:nvSpPr>
          <p:spPr bwMode="auto">
            <a:xfrm>
              <a:off x="5312" y="1007"/>
              <a:ext cx="237" cy="213"/>
            </a:xfrm>
            <a:custGeom>
              <a:avLst/>
              <a:gdLst>
                <a:gd name="T0" fmla="*/ 2 w 296"/>
                <a:gd name="T1" fmla="*/ 0 h 256"/>
                <a:gd name="T2" fmla="*/ 150 w 296"/>
                <a:gd name="T3" fmla="*/ 83 h 256"/>
                <a:gd name="T4" fmla="*/ 152 w 296"/>
                <a:gd name="T5" fmla="*/ 147 h 256"/>
                <a:gd name="T6" fmla="*/ 0 w 296"/>
                <a:gd name="T7" fmla="*/ 5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2978" name="Freeform 273"/>
            <p:cNvSpPr>
              <a:spLocks/>
            </p:cNvSpPr>
            <p:nvPr/>
          </p:nvSpPr>
          <p:spPr bwMode="auto">
            <a:xfrm>
              <a:off x="5315" y="680"/>
              <a:ext cx="244" cy="240"/>
            </a:xfrm>
            <a:custGeom>
              <a:avLst/>
              <a:gdLst>
                <a:gd name="T0" fmla="*/ 0 w 304"/>
                <a:gd name="T1" fmla="*/ 0 h 288"/>
                <a:gd name="T2" fmla="*/ 157 w 304"/>
                <a:gd name="T3" fmla="*/ 95 h 288"/>
                <a:gd name="T4" fmla="*/ 147 w 304"/>
                <a:gd name="T5" fmla="*/ 167 h 288"/>
                <a:gd name="T6" fmla="*/ 4 w 304"/>
                <a:gd name="T7" fmla="*/ 7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6116" name="Oval 274"/>
            <p:cNvSpPr>
              <a:spLocks noChangeArrowheads="1"/>
            </p:cNvSpPr>
            <p:nvPr/>
          </p:nvSpPr>
          <p:spPr bwMode="auto">
            <a:xfrm>
              <a:off x="5520" y="2611"/>
              <a:ext cx="45" cy="98"/>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22980" name="Freeform 275"/>
            <p:cNvSpPr>
              <a:spLocks/>
            </p:cNvSpPr>
            <p:nvPr/>
          </p:nvSpPr>
          <p:spPr bwMode="auto">
            <a:xfrm>
              <a:off x="5302" y="2614"/>
              <a:ext cx="245" cy="200"/>
            </a:xfrm>
            <a:custGeom>
              <a:avLst/>
              <a:gdLst>
                <a:gd name="T0" fmla="*/ 0 w 306"/>
                <a:gd name="T1" fmla="*/ 61 h 240"/>
                <a:gd name="T2" fmla="*/ 2 w 306"/>
                <a:gd name="T3" fmla="*/ 139 h 240"/>
                <a:gd name="T4" fmla="*/ 157 w 306"/>
                <a:gd name="T5" fmla="*/ 64 h 240"/>
                <a:gd name="T6" fmla="*/ 154 w 306"/>
                <a:gd name="T7" fmla="*/ 0 h 240"/>
                <a:gd name="T8" fmla="*/ 0 w 306"/>
                <a:gd name="T9" fmla="*/ 6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6118" name="AutoShape 276"/>
            <p:cNvSpPr>
              <a:spLocks noChangeArrowheads="1"/>
            </p:cNvSpPr>
            <p:nvPr/>
          </p:nvSpPr>
          <p:spPr bwMode="auto">
            <a:xfrm>
              <a:off x="4140" y="2676"/>
              <a:ext cx="1199" cy="149"/>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119" name="AutoShape 277"/>
            <p:cNvSpPr>
              <a:spLocks noChangeArrowheads="1"/>
            </p:cNvSpPr>
            <p:nvPr/>
          </p:nvSpPr>
          <p:spPr bwMode="auto">
            <a:xfrm>
              <a:off x="4208" y="2709"/>
              <a:ext cx="1069" cy="84"/>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120" name="Oval 278"/>
            <p:cNvSpPr>
              <a:spLocks noChangeArrowheads="1"/>
            </p:cNvSpPr>
            <p:nvPr/>
          </p:nvSpPr>
          <p:spPr bwMode="auto">
            <a:xfrm>
              <a:off x="4310" y="2384"/>
              <a:ext cx="158" cy="14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121" name="Oval 279"/>
            <p:cNvSpPr>
              <a:spLocks noChangeArrowheads="1"/>
            </p:cNvSpPr>
            <p:nvPr/>
          </p:nvSpPr>
          <p:spPr bwMode="auto">
            <a:xfrm>
              <a:off x="4485" y="2384"/>
              <a:ext cx="158" cy="144"/>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a:solidFill>
                  <a:srgbClr val="FF0000"/>
                </a:solidFill>
                <a:latin typeface="Comic Sans MS" charset="0"/>
                <a:ea typeface="ＭＳ Ｐゴシック" charset="0"/>
              </a:endParaRPr>
            </a:p>
          </p:txBody>
        </p:sp>
        <p:sp>
          <p:nvSpPr>
            <p:cNvPr id="86122" name="Oval 280"/>
            <p:cNvSpPr>
              <a:spLocks noChangeArrowheads="1"/>
            </p:cNvSpPr>
            <p:nvPr/>
          </p:nvSpPr>
          <p:spPr bwMode="auto">
            <a:xfrm>
              <a:off x="4660" y="2379"/>
              <a:ext cx="158" cy="14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123" name="Rectangle 281"/>
            <p:cNvSpPr>
              <a:spLocks noChangeArrowheads="1"/>
            </p:cNvSpPr>
            <p:nvPr/>
          </p:nvSpPr>
          <p:spPr bwMode="auto">
            <a:xfrm>
              <a:off x="5062" y="1836"/>
              <a:ext cx="85" cy="762"/>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122904" name="Group 249"/>
          <p:cNvGrpSpPr>
            <a:grpSpLocks/>
          </p:cNvGrpSpPr>
          <p:nvPr/>
        </p:nvGrpSpPr>
        <p:grpSpPr bwMode="auto">
          <a:xfrm>
            <a:off x="733425" y="5391150"/>
            <a:ext cx="398463" cy="820738"/>
            <a:chOff x="4140" y="429"/>
            <a:chExt cx="1425" cy="2396"/>
          </a:xfrm>
        </p:grpSpPr>
        <p:sp>
          <p:nvSpPr>
            <p:cNvPr id="122931" name="Freeform 250"/>
            <p:cNvSpPr>
              <a:spLocks/>
            </p:cNvSpPr>
            <p:nvPr/>
          </p:nvSpPr>
          <p:spPr bwMode="auto">
            <a:xfrm>
              <a:off x="5268" y="433"/>
              <a:ext cx="283" cy="2286"/>
            </a:xfrm>
            <a:custGeom>
              <a:avLst/>
              <a:gdLst>
                <a:gd name="T0" fmla="*/ 32 w 354"/>
                <a:gd name="T1" fmla="*/ 0 h 2742"/>
                <a:gd name="T2" fmla="*/ 181 w 354"/>
                <a:gd name="T3" fmla="*/ 197 h 2742"/>
                <a:gd name="T4" fmla="*/ 177 w 354"/>
                <a:gd name="T5" fmla="*/ 1521 h 2742"/>
                <a:gd name="T6" fmla="*/ 0 w 354"/>
                <a:gd name="T7" fmla="*/ 1589 h 2742"/>
                <a:gd name="T8" fmla="*/ 32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6069" name="Rectangle 251"/>
            <p:cNvSpPr>
              <a:spLocks noChangeArrowheads="1"/>
            </p:cNvSpPr>
            <p:nvPr/>
          </p:nvSpPr>
          <p:spPr bwMode="auto">
            <a:xfrm>
              <a:off x="4208" y="429"/>
              <a:ext cx="1045"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22933" name="Freeform 252"/>
            <p:cNvSpPr>
              <a:spLocks/>
            </p:cNvSpPr>
            <p:nvPr/>
          </p:nvSpPr>
          <p:spPr bwMode="auto">
            <a:xfrm>
              <a:off x="5321" y="570"/>
              <a:ext cx="169" cy="2115"/>
            </a:xfrm>
            <a:custGeom>
              <a:avLst/>
              <a:gdLst>
                <a:gd name="T0" fmla="*/ 4 w 211"/>
                <a:gd name="T1" fmla="*/ 0 h 2537"/>
                <a:gd name="T2" fmla="*/ 108 w 211"/>
                <a:gd name="T3" fmla="*/ 127 h 2537"/>
                <a:gd name="T4" fmla="*/ 4 w 211"/>
                <a:gd name="T5" fmla="*/ 1449 h 2537"/>
                <a:gd name="T6" fmla="*/ 4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2934" name="Freeform 253"/>
            <p:cNvSpPr>
              <a:spLocks/>
            </p:cNvSpPr>
            <p:nvPr/>
          </p:nvSpPr>
          <p:spPr bwMode="auto">
            <a:xfrm>
              <a:off x="5284" y="1640"/>
              <a:ext cx="263" cy="189"/>
            </a:xfrm>
            <a:custGeom>
              <a:avLst/>
              <a:gdLst>
                <a:gd name="T0" fmla="*/ 2 w 328"/>
                <a:gd name="T1" fmla="*/ 0 h 226"/>
                <a:gd name="T2" fmla="*/ 169 w 328"/>
                <a:gd name="T3" fmla="*/ 74 h 226"/>
                <a:gd name="T4" fmla="*/ 168 w 328"/>
                <a:gd name="T5" fmla="*/ 132 h 226"/>
                <a:gd name="T6" fmla="*/ 0 w 328"/>
                <a:gd name="T7" fmla="*/ 5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6072" name="Rectangle 254"/>
            <p:cNvSpPr>
              <a:spLocks noChangeArrowheads="1"/>
            </p:cNvSpPr>
            <p:nvPr/>
          </p:nvSpPr>
          <p:spPr bwMode="auto">
            <a:xfrm>
              <a:off x="4214" y="693"/>
              <a:ext cx="596" cy="4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nvGrpSpPr>
            <p:cNvPr id="122936" name="Group 255"/>
            <p:cNvGrpSpPr>
              <a:grpSpLocks/>
            </p:cNvGrpSpPr>
            <p:nvPr/>
          </p:nvGrpSpPr>
          <p:grpSpPr bwMode="auto">
            <a:xfrm>
              <a:off x="4749" y="668"/>
              <a:ext cx="581" cy="145"/>
              <a:chOff x="614" y="2568"/>
              <a:chExt cx="725" cy="139"/>
            </a:xfrm>
          </p:grpSpPr>
          <p:sp>
            <p:nvSpPr>
              <p:cNvPr id="86098" name="AutoShape 256"/>
              <p:cNvSpPr>
                <a:spLocks noChangeArrowheads="1"/>
              </p:cNvSpPr>
              <p:nvPr/>
            </p:nvSpPr>
            <p:spPr bwMode="auto">
              <a:xfrm>
                <a:off x="612" y="2570"/>
                <a:ext cx="730" cy="13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099" name="AutoShape 257"/>
              <p:cNvSpPr>
                <a:spLocks noChangeArrowheads="1"/>
              </p:cNvSpPr>
              <p:nvPr/>
            </p:nvSpPr>
            <p:spPr bwMode="auto">
              <a:xfrm>
                <a:off x="626" y="2588"/>
                <a:ext cx="694"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86074" name="Rectangle 258"/>
            <p:cNvSpPr>
              <a:spLocks noChangeArrowheads="1"/>
            </p:cNvSpPr>
            <p:nvPr/>
          </p:nvSpPr>
          <p:spPr bwMode="auto">
            <a:xfrm>
              <a:off x="4225" y="1018"/>
              <a:ext cx="596" cy="4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nvGrpSpPr>
            <p:cNvPr id="122938" name="Group 259"/>
            <p:cNvGrpSpPr>
              <a:grpSpLocks/>
            </p:cNvGrpSpPr>
            <p:nvPr/>
          </p:nvGrpSpPr>
          <p:grpSpPr bwMode="auto">
            <a:xfrm>
              <a:off x="4747" y="994"/>
              <a:ext cx="581" cy="134"/>
              <a:chOff x="614" y="2568"/>
              <a:chExt cx="725" cy="139"/>
            </a:xfrm>
          </p:grpSpPr>
          <p:sp>
            <p:nvSpPr>
              <p:cNvPr id="86096" name="AutoShape 260"/>
              <p:cNvSpPr>
                <a:spLocks noChangeArrowheads="1"/>
              </p:cNvSpPr>
              <p:nvPr/>
            </p:nvSpPr>
            <p:spPr bwMode="auto">
              <a:xfrm>
                <a:off x="615" y="2568"/>
                <a:ext cx="723"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097" name="AutoShape 261"/>
              <p:cNvSpPr>
                <a:spLocks noChangeArrowheads="1"/>
              </p:cNvSpPr>
              <p:nvPr/>
            </p:nvSpPr>
            <p:spPr bwMode="auto">
              <a:xfrm>
                <a:off x="629" y="2583"/>
                <a:ext cx="687"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86076" name="Rectangle 262"/>
            <p:cNvSpPr>
              <a:spLocks noChangeArrowheads="1"/>
            </p:cNvSpPr>
            <p:nvPr/>
          </p:nvSpPr>
          <p:spPr bwMode="auto">
            <a:xfrm>
              <a:off x="4219" y="1356"/>
              <a:ext cx="596" cy="4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077" name="Rectangle 263"/>
            <p:cNvSpPr>
              <a:spLocks noChangeArrowheads="1"/>
            </p:cNvSpPr>
            <p:nvPr/>
          </p:nvSpPr>
          <p:spPr bwMode="auto">
            <a:xfrm>
              <a:off x="4231" y="1657"/>
              <a:ext cx="590" cy="4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nvGrpSpPr>
            <p:cNvPr id="122941" name="Group 264"/>
            <p:cNvGrpSpPr>
              <a:grpSpLocks/>
            </p:cNvGrpSpPr>
            <p:nvPr/>
          </p:nvGrpSpPr>
          <p:grpSpPr bwMode="auto">
            <a:xfrm>
              <a:off x="4735" y="1627"/>
              <a:ext cx="582" cy="151"/>
              <a:chOff x="614" y="2568"/>
              <a:chExt cx="725" cy="139"/>
            </a:xfrm>
          </p:grpSpPr>
          <p:sp>
            <p:nvSpPr>
              <p:cNvPr id="86094" name="AutoShape 265"/>
              <p:cNvSpPr>
                <a:spLocks noChangeArrowheads="1"/>
              </p:cNvSpPr>
              <p:nvPr/>
            </p:nvSpPr>
            <p:spPr bwMode="auto">
              <a:xfrm>
                <a:off x="615" y="2570"/>
                <a:ext cx="721" cy="137"/>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095" name="AutoShape 266"/>
              <p:cNvSpPr>
                <a:spLocks noChangeArrowheads="1"/>
              </p:cNvSpPr>
              <p:nvPr/>
            </p:nvSpPr>
            <p:spPr bwMode="auto">
              <a:xfrm>
                <a:off x="630" y="2587"/>
                <a:ext cx="686"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122942" name="Freeform 267"/>
            <p:cNvSpPr>
              <a:spLocks/>
            </p:cNvSpPr>
            <p:nvPr/>
          </p:nvSpPr>
          <p:spPr bwMode="auto">
            <a:xfrm>
              <a:off x="5288" y="1354"/>
              <a:ext cx="263" cy="188"/>
            </a:xfrm>
            <a:custGeom>
              <a:avLst/>
              <a:gdLst>
                <a:gd name="T0" fmla="*/ 2 w 328"/>
                <a:gd name="T1" fmla="*/ 0 h 226"/>
                <a:gd name="T2" fmla="*/ 169 w 328"/>
                <a:gd name="T3" fmla="*/ 73 h 226"/>
                <a:gd name="T4" fmla="*/ 168 w 328"/>
                <a:gd name="T5" fmla="*/ 130 h 226"/>
                <a:gd name="T6" fmla="*/ 0 w 328"/>
                <a:gd name="T7" fmla="*/ 5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22943" name="Group 268"/>
            <p:cNvGrpSpPr>
              <a:grpSpLocks/>
            </p:cNvGrpSpPr>
            <p:nvPr/>
          </p:nvGrpSpPr>
          <p:grpSpPr bwMode="auto">
            <a:xfrm>
              <a:off x="4739" y="1327"/>
              <a:ext cx="582" cy="139"/>
              <a:chOff x="614" y="2568"/>
              <a:chExt cx="725" cy="139"/>
            </a:xfrm>
          </p:grpSpPr>
          <p:sp>
            <p:nvSpPr>
              <p:cNvPr id="86092" name="AutoShape 269"/>
              <p:cNvSpPr>
                <a:spLocks noChangeArrowheads="1"/>
              </p:cNvSpPr>
              <p:nvPr/>
            </p:nvSpPr>
            <p:spPr bwMode="auto">
              <a:xfrm>
                <a:off x="617" y="2569"/>
                <a:ext cx="721"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093" name="AutoShape 270"/>
              <p:cNvSpPr>
                <a:spLocks noChangeArrowheads="1"/>
              </p:cNvSpPr>
              <p:nvPr/>
            </p:nvSpPr>
            <p:spPr bwMode="auto">
              <a:xfrm>
                <a:off x="632" y="2583"/>
                <a:ext cx="68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86081" name="Rectangle 271"/>
            <p:cNvSpPr>
              <a:spLocks noChangeArrowheads="1"/>
            </p:cNvSpPr>
            <p:nvPr/>
          </p:nvSpPr>
          <p:spPr bwMode="auto">
            <a:xfrm>
              <a:off x="5253" y="429"/>
              <a:ext cx="62"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22945" name="Freeform 272"/>
            <p:cNvSpPr>
              <a:spLocks/>
            </p:cNvSpPr>
            <p:nvPr/>
          </p:nvSpPr>
          <p:spPr bwMode="auto">
            <a:xfrm>
              <a:off x="5312" y="1007"/>
              <a:ext cx="237" cy="213"/>
            </a:xfrm>
            <a:custGeom>
              <a:avLst/>
              <a:gdLst>
                <a:gd name="T0" fmla="*/ 2 w 296"/>
                <a:gd name="T1" fmla="*/ 0 h 256"/>
                <a:gd name="T2" fmla="*/ 150 w 296"/>
                <a:gd name="T3" fmla="*/ 83 h 256"/>
                <a:gd name="T4" fmla="*/ 152 w 296"/>
                <a:gd name="T5" fmla="*/ 147 h 256"/>
                <a:gd name="T6" fmla="*/ 0 w 296"/>
                <a:gd name="T7" fmla="*/ 5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2946" name="Freeform 273"/>
            <p:cNvSpPr>
              <a:spLocks/>
            </p:cNvSpPr>
            <p:nvPr/>
          </p:nvSpPr>
          <p:spPr bwMode="auto">
            <a:xfrm>
              <a:off x="5315" y="680"/>
              <a:ext cx="244" cy="240"/>
            </a:xfrm>
            <a:custGeom>
              <a:avLst/>
              <a:gdLst>
                <a:gd name="T0" fmla="*/ 0 w 304"/>
                <a:gd name="T1" fmla="*/ 0 h 288"/>
                <a:gd name="T2" fmla="*/ 157 w 304"/>
                <a:gd name="T3" fmla="*/ 95 h 288"/>
                <a:gd name="T4" fmla="*/ 147 w 304"/>
                <a:gd name="T5" fmla="*/ 167 h 288"/>
                <a:gd name="T6" fmla="*/ 4 w 304"/>
                <a:gd name="T7" fmla="*/ 7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6084" name="Oval 274"/>
            <p:cNvSpPr>
              <a:spLocks noChangeArrowheads="1"/>
            </p:cNvSpPr>
            <p:nvPr/>
          </p:nvSpPr>
          <p:spPr bwMode="auto">
            <a:xfrm>
              <a:off x="5520" y="2612"/>
              <a:ext cx="45"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22948" name="Freeform 275"/>
            <p:cNvSpPr>
              <a:spLocks/>
            </p:cNvSpPr>
            <p:nvPr/>
          </p:nvSpPr>
          <p:spPr bwMode="auto">
            <a:xfrm>
              <a:off x="5302" y="2614"/>
              <a:ext cx="245" cy="200"/>
            </a:xfrm>
            <a:custGeom>
              <a:avLst/>
              <a:gdLst>
                <a:gd name="T0" fmla="*/ 0 w 306"/>
                <a:gd name="T1" fmla="*/ 61 h 240"/>
                <a:gd name="T2" fmla="*/ 2 w 306"/>
                <a:gd name="T3" fmla="*/ 139 h 240"/>
                <a:gd name="T4" fmla="*/ 157 w 306"/>
                <a:gd name="T5" fmla="*/ 64 h 240"/>
                <a:gd name="T6" fmla="*/ 154 w 306"/>
                <a:gd name="T7" fmla="*/ 0 h 240"/>
                <a:gd name="T8" fmla="*/ 0 w 306"/>
                <a:gd name="T9" fmla="*/ 6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6086" name="AutoShape 276"/>
            <p:cNvSpPr>
              <a:spLocks noChangeArrowheads="1"/>
            </p:cNvSpPr>
            <p:nvPr/>
          </p:nvSpPr>
          <p:spPr bwMode="auto">
            <a:xfrm>
              <a:off x="4140" y="2677"/>
              <a:ext cx="1198" cy="148"/>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087" name="AutoShape 277"/>
            <p:cNvSpPr>
              <a:spLocks noChangeArrowheads="1"/>
            </p:cNvSpPr>
            <p:nvPr/>
          </p:nvSpPr>
          <p:spPr bwMode="auto">
            <a:xfrm>
              <a:off x="4208" y="2709"/>
              <a:ext cx="1067"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088" name="Oval 278"/>
            <p:cNvSpPr>
              <a:spLocks noChangeArrowheads="1"/>
            </p:cNvSpPr>
            <p:nvPr/>
          </p:nvSpPr>
          <p:spPr bwMode="auto">
            <a:xfrm>
              <a:off x="4310" y="2385"/>
              <a:ext cx="153" cy="139"/>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089" name="Oval 279"/>
            <p:cNvSpPr>
              <a:spLocks noChangeArrowheads="1"/>
            </p:cNvSpPr>
            <p:nvPr/>
          </p:nvSpPr>
          <p:spPr bwMode="auto">
            <a:xfrm>
              <a:off x="4486" y="2385"/>
              <a:ext cx="159" cy="144"/>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a:solidFill>
                  <a:srgbClr val="FF0000"/>
                </a:solidFill>
                <a:latin typeface="Comic Sans MS" charset="0"/>
                <a:ea typeface="ＭＳ Ｐゴシック" charset="0"/>
              </a:endParaRPr>
            </a:p>
          </p:txBody>
        </p:sp>
        <p:sp>
          <p:nvSpPr>
            <p:cNvPr id="86090" name="Oval 280"/>
            <p:cNvSpPr>
              <a:spLocks noChangeArrowheads="1"/>
            </p:cNvSpPr>
            <p:nvPr/>
          </p:nvSpPr>
          <p:spPr bwMode="auto">
            <a:xfrm>
              <a:off x="4662" y="2380"/>
              <a:ext cx="159" cy="14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6091" name="Rectangle 281"/>
            <p:cNvSpPr>
              <a:spLocks noChangeArrowheads="1"/>
            </p:cNvSpPr>
            <p:nvPr/>
          </p:nvSpPr>
          <p:spPr bwMode="auto">
            <a:xfrm>
              <a:off x="5060" y="1833"/>
              <a:ext cx="85" cy="765"/>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122905" name="Group 332"/>
          <p:cNvGrpSpPr>
            <a:grpSpLocks/>
          </p:cNvGrpSpPr>
          <p:nvPr/>
        </p:nvGrpSpPr>
        <p:grpSpPr bwMode="auto">
          <a:xfrm>
            <a:off x="1366838" y="4092575"/>
            <a:ext cx="1146175" cy="473075"/>
            <a:chOff x="2356" y="1300"/>
            <a:chExt cx="555" cy="194"/>
          </a:xfrm>
        </p:grpSpPr>
        <p:sp>
          <p:nvSpPr>
            <p:cNvPr id="122923"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22924"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22925"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22926" name="Group 329"/>
            <p:cNvGrpSpPr>
              <a:grpSpLocks/>
            </p:cNvGrpSpPr>
            <p:nvPr/>
          </p:nvGrpSpPr>
          <p:grpSpPr bwMode="auto">
            <a:xfrm>
              <a:off x="2468" y="1332"/>
              <a:ext cx="310" cy="60"/>
              <a:chOff x="2468" y="1332"/>
              <a:chExt cx="310" cy="60"/>
            </a:xfrm>
          </p:grpSpPr>
          <p:sp>
            <p:nvSpPr>
              <p:cNvPr id="122929"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2930"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86064"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86065"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grpSp>
        <p:nvGrpSpPr>
          <p:cNvPr id="122906" name="Group 332"/>
          <p:cNvGrpSpPr>
            <a:grpSpLocks/>
          </p:cNvGrpSpPr>
          <p:nvPr/>
        </p:nvGrpSpPr>
        <p:grpSpPr bwMode="auto">
          <a:xfrm>
            <a:off x="4251325" y="3954463"/>
            <a:ext cx="1146175" cy="473075"/>
            <a:chOff x="2356" y="1300"/>
            <a:chExt cx="555" cy="194"/>
          </a:xfrm>
        </p:grpSpPr>
        <p:sp>
          <p:nvSpPr>
            <p:cNvPr id="122915"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22916"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22917"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22918" name="Group 329"/>
            <p:cNvGrpSpPr>
              <a:grpSpLocks/>
            </p:cNvGrpSpPr>
            <p:nvPr/>
          </p:nvGrpSpPr>
          <p:grpSpPr bwMode="auto">
            <a:xfrm>
              <a:off x="2468" y="1332"/>
              <a:ext cx="310" cy="60"/>
              <a:chOff x="2468" y="1332"/>
              <a:chExt cx="310" cy="60"/>
            </a:xfrm>
          </p:grpSpPr>
          <p:sp>
            <p:nvSpPr>
              <p:cNvPr id="122921"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2922"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86056"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86057"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sp>
        <p:nvSpPr>
          <p:cNvPr id="122907" name="Text Box 105"/>
          <p:cNvSpPr txBox="1">
            <a:spLocks noChangeArrowheads="1"/>
          </p:cNvSpPr>
          <p:nvPr/>
        </p:nvSpPr>
        <p:spPr bwMode="auto">
          <a:xfrm>
            <a:off x="5486400" y="3465513"/>
            <a:ext cx="17367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cs typeface="Arial" pitchFamily="34" charset="0"/>
              </a:rPr>
              <a:t>router w/</a:t>
            </a:r>
          </a:p>
          <a:p>
            <a:pPr eaLnBrk="1" hangingPunct="1"/>
            <a:r>
              <a:rPr lang="en-US" altLang="en-US" sz="1800">
                <a:latin typeface="Arial" pitchFamily="34" charset="0"/>
                <a:cs typeface="Arial" pitchFamily="34" charset="0"/>
              </a:rPr>
              <a:t>IPv4 and IPsec</a:t>
            </a:r>
          </a:p>
        </p:txBody>
      </p:sp>
      <p:grpSp>
        <p:nvGrpSpPr>
          <p:cNvPr id="122908" name="Group 356"/>
          <p:cNvGrpSpPr>
            <a:grpSpLocks/>
          </p:cNvGrpSpPr>
          <p:nvPr/>
        </p:nvGrpSpPr>
        <p:grpSpPr bwMode="auto">
          <a:xfrm>
            <a:off x="7337425" y="1806575"/>
            <a:ext cx="723900" cy="760413"/>
            <a:chOff x="313" y="1497"/>
            <a:chExt cx="1152" cy="1014"/>
          </a:xfrm>
        </p:grpSpPr>
        <p:pic>
          <p:nvPicPr>
            <p:cNvPr id="122913"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4"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2909" name="Freeform 2"/>
          <p:cNvSpPr>
            <a:spLocks/>
          </p:cNvSpPr>
          <p:nvPr/>
        </p:nvSpPr>
        <p:spPr bwMode="auto">
          <a:xfrm>
            <a:off x="1676400" y="1258888"/>
            <a:ext cx="2819400" cy="1162050"/>
          </a:xfrm>
          <a:custGeom>
            <a:avLst/>
            <a:gdLst>
              <a:gd name="T0" fmla="*/ 2147483647 w 1292"/>
              <a:gd name="T1" fmla="*/ 1715760 h 1255"/>
              <a:gd name="T2" fmla="*/ 819061886 w 1292"/>
              <a:gd name="T3" fmla="*/ 34315198 h 1255"/>
              <a:gd name="T4" fmla="*/ 680963659 w 1292"/>
              <a:gd name="T5" fmla="*/ 114955912 h 1255"/>
              <a:gd name="T6" fmla="*/ 1228592830 w 1292"/>
              <a:gd name="T7" fmla="*/ 181870547 h 1255"/>
              <a:gd name="T8" fmla="*/ 2147483647 w 1292"/>
              <a:gd name="T9" fmla="*/ 190449347 h 1255"/>
              <a:gd name="T10" fmla="*/ 2147483647 w 1292"/>
              <a:gd name="T11" fmla="*/ 247070349 h 1255"/>
              <a:gd name="T12" fmla="*/ 2147483647 w 1292"/>
              <a:gd name="T13" fmla="*/ 271090987 h 1255"/>
              <a:gd name="T14" fmla="*/ 2147483647 w 1292"/>
              <a:gd name="T15" fmla="*/ 223049710 h 1255"/>
              <a:gd name="T16" fmla="*/ 2147483647 w 1292"/>
              <a:gd name="T17" fmla="*/ 96940896 h 1255"/>
              <a:gd name="T18" fmla="*/ 2147483647 w 1292"/>
              <a:gd name="T19" fmla="*/ 47183860 h 1255"/>
              <a:gd name="T20" fmla="*/ 2147483647 w 1292"/>
              <a:gd name="T21" fmla="*/ 25736398 h 1255"/>
              <a:gd name="T22" fmla="*/ 2147483647 w 1292"/>
              <a:gd name="T23" fmla="*/ 1715760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122910" name="Text Box 103"/>
          <p:cNvSpPr txBox="1">
            <a:spLocks noChangeArrowheads="1"/>
          </p:cNvSpPr>
          <p:nvPr/>
        </p:nvSpPr>
        <p:spPr bwMode="auto">
          <a:xfrm>
            <a:off x="2700338" y="1476375"/>
            <a:ext cx="9667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solidFill>
                  <a:schemeClr val="bg1"/>
                </a:solidFill>
                <a:latin typeface="Arial" pitchFamily="34" charset="0"/>
                <a:cs typeface="Arial" pitchFamily="34" charset="0"/>
              </a:rPr>
              <a:t>public</a:t>
            </a:r>
            <a:br>
              <a:rPr lang="en-US" altLang="en-US" sz="1800">
                <a:solidFill>
                  <a:schemeClr val="bg1"/>
                </a:solidFill>
                <a:latin typeface="Arial" pitchFamily="34" charset="0"/>
                <a:cs typeface="Arial" pitchFamily="34" charset="0"/>
              </a:rPr>
            </a:br>
            <a:r>
              <a:rPr lang="en-US" altLang="en-US" sz="1800">
                <a:solidFill>
                  <a:schemeClr val="bg1"/>
                </a:solidFill>
                <a:latin typeface="Arial" pitchFamily="34" charset="0"/>
                <a:cs typeface="Arial" pitchFamily="34" charset="0"/>
              </a:rPr>
              <a:t>Internet</a:t>
            </a:r>
          </a:p>
        </p:txBody>
      </p:sp>
      <p:sp>
        <p:nvSpPr>
          <p:cNvPr id="122911" name="Rectangle 2"/>
          <p:cNvSpPr txBox="1">
            <a:spLocks noChangeArrowheads="1"/>
          </p:cNvSpPr>
          <p:nvPr/>
        </p:nvSpPr>
        <p:spPr bwMode="auto">
          <a:xfrm>
            <a:off x="458788" y="236538"/>
            <a:ext cx="7772400"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solidFill>
                  <a:srgbClr val="000099"/>
                </a:solidFill>
                <a:latin typeface="Gill Sans MT" pitchFamily="34" charset="0"/>
              </a:rPr>
              <a:t>Virtual Private Networks (VPNs)</a:t>
            </a:r>
          </a:p>
        </p:txBody>
      </p:sp>
      <p:pic>
        <p:nvPicPr>
          <p:cNvPr id="122912" name="Picture 17"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513" y="823913"/>
            <a:ext cx="68564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23906" name="Rectangle 2"/>
          <p:cNvSpPr>
            <a:spLocks noGrp="1" noChangeArrowheads="1"/>
          </p:cNvSpPr>
          <p:nvPr>
            <p:ph type="title"/>
          </p:nvPr>
        </p:nvSpPr>
        <p:spPr/>
        <p:txBody>
          <a:bodyPr/>
          <a:lstStyle/>
          <a:p>
            <a:r>
              <a:rPr lang="en-US" altLang="en-US" smtClean="0">
                <a:ea typeface="ＭＳ Ｐゴシック" pitchFamily="34" charset="-128"/>
              </a:rPr>
              <a:t>IPsec services</a:t>
            </a:r>
          </a:p>
        </p:txBody>
      </p:sp>
      <p:sp>
        <p:nvSpPr>
          <p:cNvPr id="123907" name="Rectangle 3"/>
          <p:cNvSpPr>
            <a:spLocks noGrp="1" noChangeArrowheads="1"/>
          </p:cNvSpPr>
          <p:nvPr>
            <p:ph type="body" idx="1"/>
          </p:nvPr>
        </p:nvSpPr>
        <p:spPr/>
        <p:txBody>
          <a:bodyPr/>
          <a:lstStyle/>
          <a:p>
            <a:r>
              <a:rPr lang="en-US" altLang="en-US" dirty="0" smtClean="0">
                <a:ea typeface="ＭＳ Ｐゴシック" pitchFamily="34" charset="-128"/>
              </a:rPr>
              <a:t>data integrity</a:t>
            </a:r>
          </a:p>
          <a:p>
            <a:r>
              <a:rPr lang="en-US" altLang="en-US" dirty="0" smtClean="0">
                <a:ea typeface="ＭＳ Ｐゴシック" pitchFamily="34" charset="-128"/>
              </a:rPr>
              <a:t>origin authentication</a:t>
            </a:r>
          </a:p>
          <a:p>
            <a:r>
              <a:rPr lang="en-US" altLang="en-US" dirty="0" smtClean="0">
                <a:ea typeface="ＭＳ Ｐゴシック" pitchFamily="34" charset="-128"/>
              </a:rPr>
              <a:t>replay attack prevention</a:t>
            </a:r>
          </a:p>
          <a:p>
            <a:r>
              <a:rPr lang="en-US" altLang="en-US" dirty="0" smtClean="0">
                <a:ea typeface="ＭＳ Ｐゴシック" pitchFamily="34" charset="-128"/>
              </a:rPr>
              <a:t>confidentiality </a:t>
            </a:r>
          </a:p>
          <a:p>
            <a:endParaRPr lang="en-US" altLang="en-US" dirty="0" smtClean="0">
              <a:ea typeface="ＭＳ Ｐゴシック" pitchFamily="34" charset="-128"/>
            </a:endParaRPr>
          </a:p>
          <a:p>
            <a:r>
              <a:rPr lang="en-US" altLang="en-US" dirty="0" smtClean="0">
                <a:ea typeface="ＭＳ Ｐゴシック" pitchFamily="34" charset="-128"/>
              </a:rPr>
              <a:t>two protocols providing different service models:</a:t>
            </a:r>
          </a:p>
          <a:p>
            <a:pPr lvl="1"/>
            <a:r>
              <a:rPr lang="en-US" altLang="en-US" dirty="0">
                <a:ea typeface="ＭＳ Ｐゴシック" pitchFamily="34" charset="-128"/>
              </a:rPr>
              <a:t>AH - Authentication Header</a:t>
            </a:r>
            <a:endParaRPr lang="en-US" altLang="en-US" dirty="0" smtClean="0">
              <a:ea typeface="ＭＳ Ｐゴシック" pitchFamily="34" charset="-128"/>
            </a:endParaRPr>
          </a:p>
          <a:p>
            <a:pPr lvl="1"/>
            <a:r>
              <a:rPr lang="en-US" altLang="en-US" dirty="0">
                <a:ea typeface="ＭＳ Ｐゴシック" pitchFamily="34" charset="-128"/>
              </a:rPr>
              <a:t>ESP - Encapsulation Security Protocol</a:t>
            </a:r>
            <a:endParaRPr lang="en-US" altLang="en-US" dirty="0" smtClean="0">
              <a:ea typeface="ＭＳ Ｐゴシック" pitchFamily="34" charset="-128"/>
            </a:endParaRPr>
          </a:p>
          <a:p>
            <a:pPr>
              <a:buFont typeface="Wingdings" pitchFamily="2" charset="2"/>
              <a:buNone/>
            </a:pPr>
            <a:endParaRPr lang="en-US" altLang="en-US" dirty="0" smtClean="0">
              <a:ea typeface="ＭＳ Ｐゴシック" pitchFamily="34" charset="-128"/>
            </a:endParaRPr>
          </a:p>
        </p:txBody>
      </p:sp>
      <p:pic>
        <p:nvPicPr>
          <p:cNvPr id="123908" name="Picture 24"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313" y="1052513"/>
            <a:ext cx="3187700"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29"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275" y="1031875"/>
            <a:ext cx="5154613"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24931" name="Rectangle 2"/>
          <p:cNvSpPr>
            <a:spLocks noGrp="1" noChangeArrowheads="1"/>
          </p:cNvSpPr>
          <p:nvPr>
            <p:ph type="title"/>
          </p:nvPr>
        </p:nvSpPr>
        <p:spPr/>
        <p:txBody>
          <a:bodyPr/>
          <a:lstStyle/>
          <a:p>
            <a:r>
              <a:rPr lang="en-US" altLang="en-US" smtClean="0">
                <a:ea typeface="ＭＳ Ｐゴシック" pitchFamily="34" charset="-128"/>
              </a:rPr>
              <a:t>IPsec transport mode</a:t>
            </a:r>
          </a:p>
        </p:txBody>
      </p:sp>
      <p:sp>
        <p:nvSpPr>
          <p:cNvPr id="124932" name="Rectangle 3"/>
          <p:cNvSpPr>
            <a:spLocks noGrp="1" noChangeArrowheads="1"/>
          </p:cNvSpPr>
          <p:nvPr>
            <p:ph type="body" idx="1"/>
          </p:nvPr>
        </p:nvSpPr>
        <p:spPr>
          <a:xfrm>
            <a:off x="533400" y="4233863"/>
            <a:ext cx="8169275" cy="1209675"/>
          </a:xfrm>
        </p:spPr>
        <p:txBody>
          <a:bodyPr/>
          <a:lstStyle/>
          <a:p>
            <a:r>
              <a:rPr lang="en-US" altLang="en-US" smtClean="0">
                <a:ea typeface="ＭＳ Ｐゴシック" pitchFamily="34" charset="-128"/>
              </a:rPr>
              <a:t>IPsec datagram emitted and received by end-system</a:t>
            </a:r>
          </a:p>
          <a:p>
            <a:r>
              <a:rPr lang="en-US" altLang="en-US" smtClean="0">
                <a:ea typeface="ＭＳ Ｐゴシック" pitchFamily="34" charset="-128"/>
              </a:rPr>
              <a:t>protects upper level protocols</a:t>
            </a:r>
          </a:p>
        </p:txBody>
      </p:sp>
      <p:sp>
        <p:nvSpPr>
          <p:cNvPr id="124933" name="Freeform 7"/>
          <p:cNvSpPr>
            <a:spLocks/>
          </p:cNvSpPr>
          <p:nvPr/>
        </p:nvSpPr>
        <p:spPr bwMode="auto">
          <a:xfrm>
            <a:off x="2617788" y="1652588"/>
            <a:ext cx="3348037" cy="2049462"/>
          </a:xfrm>
          <a:custGeom>
            <a:avLst/>
            <a:gdLst>
              <a:gd name="T0" fmla="*/ 2147483647 w 1292"/>
              <a:gd name="T1" fmla="*/ 18667251 h 1255"/>
              <a:gd name="T2" fmla="*/ 2147483647 w 1292"/>
              <a:gd name="T3" fmla="*/ 485359960 h 1255"/>
              <a:gd name="T4" fmla="*/ 2147483647 w 1292"/>
              <a:gd name="T5" fmla="*/ 1605421154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1368075491 h 1255"/>
              <a:gd name="T18" fmla="*/ 2147483647 w 1292"/>
              <a:gd name="T19" fmla="*/ 648034985 h 1255"/>
              <a:gd name="T20" fmla="*/ 2147483647 w 1292"/>
              <a:gd name="T21" fmla="*/ 352019186 h 1255"/>
              <a:gd name="T22" fmla="*/ 2147483647 w 1292"/>
              <a:gd name="T23" fmla="*/ 18667251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124934" name="Line 45"/>
          <p:cNvSpPr>
            <a:spLocks noChangeShapeType="1"/>
          </p:cNvSpPr>
          <p:nvPr/>
        </p:nvSpPr>
        <p:spPr bwMode="auto">
          <a:xfrm flipH="1">
            <a:off x="6245225" y="2665413"/>
            <a:ext cx="8001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24935" name="Line 46"/>
          <p:cNvSpPr>
            <a:spLocks noChangeShapeType="1"/>
          </p:cNvSpPr>
          <p:nvPr/>
        </p:nvSpPr>
        <p:spPr bwMode="auto">
          <a:xfrm flipV="1">
            <a:off x="1419225" y="3013075"/>
            <a:ext cx="0" cy="500063"/>
          </a:xfrm>
          <a:prstGeom prst="line">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24936" name="Line 47"/>
          <p:cNvSpPr>
            <a:spLocks noChangeShapeType="1"/>
          </p:cNvSpPr>
          <p:nvPr/>
        </p:nvSpPr>
        <p:spPr bwMode="auto">
          <a:xfrm flipV="1">
            <a:off x="7353300" y="3046413"/>
            <a:ext cx="0" cy="500062"/>
          </a:xfrm>
          <a:prstGeom prst="line">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24937" name="Text Box 48"/>
          <p:cNvSpPr txBox="1">
            <a:spLocks noChangeArrowheads="1"/>
          </p:cNvSpPr>
          <p:nvPr/>
        </p:nvSpPr>
        <p:spPr bwMode="auto">
          <a:xfrm>
            <a:off x="1022350" y="3446463"/>
            <a:ext cx="847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C00000"/>
                </a:solidFill>
                <a:latin typeface="Arial" pitchFamily="34" charset="0"/>
                <a:cs typeface="Arial" pitchFamily="34" charset="0"/>
              </a:rPr>
              <a:t>IPsec</a:t>
            </a:r>
          </a:p>
        </p:txBody>
      </p:sp>
      <p:sp>
        <p:nvSpPr>
          <p:cNvPr id="124938" name="Text Box 49"/>
          <p:cNvSpPr txBox="1">
            <a:spLocks noChangeArrowheads="1"/>
          </p:cNvSpPr>
          <p:nvPr/>
        </p:nvSpPr>
        <p:spPr bwMode="auto">
          <a:xfrm>
            <a:off x="6929438" y="3522663"/>
            <a:ext cx="847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C00000"/>
                </a:solidFill>
                <a:latin typeface="Arial" pitchFamily="34" charset="0"/>
                <a:cs typeface="Arial" pitchFamily="34" charset="0"/>
              </a:rPr>
              <a:t>IPsec</a:t>
            </a:r>
          </a:p>
        </p:txBody>
      </p:sp>
      <p:grpSp>
        <p:nvGrpSpPr>
          <p:cNvPr id="124939" name="Group 542"/>
          <p:cNvGrpSpPr>
            <a:grpSpLocks/>
          </p:cNvGrpSpPr>
          <p:nvPr/>
        </p:nvGrpSpPr>
        <p:grpSpPr bwMode="auto">
          <a:xfrm flipH="1">
            <a:off x="6918325" y="2206625"/>
            <a:ext cx="933450" cy="919163"/>
            <a:chOff x="-44" y="1473"/>
            <a:chExt cx="981" cy="1105"/>
          </a:xfrm>
        </p:grpSpPr>
        <p:pic>
          <p:nvPicPr>
            <p:cNvPr id="124964" name="Picture 5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65"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24940" name="Group 2"/>
          <p:cNvGrpSpPr>
            <a:grpSpLocks/>
          </p:cNvGrpSpPr>
          <p:nvPr/>
        </p:nvGrpSpPr>
        <p:grpSpPr bwMode="auto">
          <a:xfrm>
            <a:off x="871538" y="2216150"/>
            <a:ext cx="2259012" cy="919163"/>
            <a:chOff x="871369" y="2216074"/>
            <a:chExt cx="2259107" cy="919069"/>
          </a:xfrm>
        </p:grpSpPr>
        <p:grpSp>
          <p:nvGrpSpPr>
            <p:cNvPr id="124950" name="Group 542"/>
            <p:cNvGrpSpPr>
              <a:grpSpLocks/>
            </p:cNvGrpSpPr>
            <p:nvPr/>
          </p:nvGrpSpPr>
          <p:grpSpPr bwMode="auto">
            <a:xfrm>
              <a:off x="871369" y="2216074"/>
              <a:ext cx="933394" cy="919069"/>
              <a:chOff x="-44" y="1473"/>
              <a:chExt cx="981" cy="1105"/>
            </a:xfrm>
          </p:grpSpPr>
          <p:pic>
            <p:nvPicPr>
              <p:cNvPr id="124962" name="Picture 5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63"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24951" name="Group 1"/>
            <p:cNvGrpSpPr>
              <a:grpSpLocks/>
            </p:cNvGrpSpPr>
            <p:nvPr/>
          </p:nvGrpSpPr>
          <p:grpSpPr bwMode="auto">
            <a:xfrm>
              <a:off x="1725613" y="2431228"/>
              <a:ext cx="1404863" cy="380720"/>
              <a:chOff x="1725613" y="2431228"/>
              <a:chExt cx="1404863" cy="380720"/>
            </a:xfrm>
          </p:grpSpPr>
          <p:sp>
            <p:nvSpPr>
              <p:cNvPr id="124952" name="Line 40"/>
              <p:cNvSpPr>
                <a:spLocks noChangeShapeType="1"/>
              </p:cNvSpPr>
              <p:nvPr/>
            </p:nvSpPr>
            <p:spPr bwMode="auto">
              <a:xfrm>
                <a:off x="1725613" y="2619376"/>
                <a:ext cx="606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nvGrpSpPr>
              <p:cNvPr id="124953" name="Group 332"/>
              <p:cNvGrpSpPr>
                <a:grpSpLocks/>
              </p:cNvGrpSpPr>
              <p:nvPr/>
            </p:nvGrpSpPr>
            <p:grpSpPr bwMode="auto">
              <a:xfrm>
                <a:off x="2281639" y="2431228"/>
                <a:ext cx="848837" cy="380720"/>
                <a:chOff x="2356" y="1300"/>
                <a:chExt cx="555" cy="194"/>
              </a:xfrm>
            </p:grpSpPr>
            <p:sp>
              <p:nvSpPr>
                <p:cNvPr id="124954"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24955"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24956"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24957" name="Group 329"/>
                <p:cNvGrpSpPr>
                  <a:grpSpLocks/>
                </p:cNvGrpSpPr>
                <p:nvPr/>
              </p:nvGrpSpPr>
              <p:grpSpPr bwMode="auto">
                <a:xfrm>
                  <a:off x="2468" y="1332"/>
                  <a:ext cx="310" cy="60"/>
                  <a:chOff x="2468" y="1332"/>
                  <a:chExt cx="310" cy="60"/>
                </a:xfrm>
              </p:grpSpPr>
              <p:sp>
                <p:nvSpPr>
                  <p:cNvPr id="124960"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4961"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88095"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88096" name="Line 331"/>
                <p:cNvSpPr>
                  <a:spLocks noChangeShapeType="1"/>
                </p:cNvSpPr>
                <p:nvPr/>
              </p:nvSpPr>
              <p:spPr bwMode="auto">
                <a:xfrm>
                  <a:off x="2907" y="1363"/>
                  <a:ext cx="0" cy="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grpSp>
      </p:grpSp>
      <p:grpSp>
        <p:nvGrpSpPr>
          <p:cNvPr id="124941" name="Group 332"/>
          <p:cNvGrpSpPr>
            <a:grpSpLocks/>
          </p:cNvGrpSpPr>
          <p:nvPr/>
        </p:nvGrpSpPr>
        <p:grpSpPr bwMode="auto">
          <a:xfrm>
            <a:off x="5424488" y="2486025"/>
            <a:ext cx="849312" cy="381000"/>
            <a:chOff x="2356" y="1300"/>
            <a:chExt cx="555" cy="194"/>
          </a:xfrm>
        </p:grpSpPr>
        <p:sp>
          <p:nvSpPr>
            <p:cNvPr id="124942"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24943"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24944"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24945" name="Group 329"/>
            <p:cNvGrpSpPr>
              <a:grpSpLocks/>
            </p:cNvGrpSpPr>
            <p:nvPr/>
          </p:nvGrpSpPr>
          <p:grpSpPr bwMode="auto">
            <a:xfrm>
              <a:off x="2468" y="1332"/>
              <a:ext cx="310" cy="60"/>
              <a:chOff x="2468" y="1332"/>
              <a:chExt cx="310" cy="60"/>
            </a:xfrm>
          </p:grpSpPr>
          <p:sp>
            <p:nvSpPr>
              <p:cNvPr id="124948"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4949"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88083"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88084"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3"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031875"/>
            <a:ext cx="54848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1"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25955" name="Rectangle 2"/>
          <p:cNvSpPr>
            <a:spLocks noGrp="1" noChangeArrowheads="1"/>
          </p:cNvSpPr>
          <p:nvPr>
            <p:ph type="title"/>
          </p:nvPr>
        </p:nvSpPr>
        <p:spPr/>
        <p:txBody>
          <a:bodyPr/>
          <a:lstStyle/>
          <a:p>
            <a:r>
              <a:rPr lang="en-US" altLang="en-US" smtClean="0">
                <a:ea typeface="ＭＳ Ｐゴシック" pitchFamily="34" charset="-128"/>
              </a:rPr>
              <a:t>IPsec – tunneling mode </a:t>
            </a:r>
          </a:p>
        </p:txBody>
      </p:sp>
      <p:sp>
        <p:nvSpPr>
          <p:cNvPr id="125956" name="Rectangle 3"/>
          <p:cNvSpPr>
            <a:spLocks noGrp="1" noChangeArrowheads="1"/>
          </p:cNvSpPr>
          <p:nvPr>
            <p:ph type="body" idx="1"/>
          </p:nvPr>
        </p:nvSpPr>
        <p:spPr>
          <a:xfrm>
            <a:off x="533400" y="3976688"/>
            <a:ext cx="4092575" cy="1295400"/>
          </a:xfrm>
        </p:spPr>
        <p:txBody>
          <a:bodyPr/>
          <a:lstStyle/>
          <a:p>
            <a:r>
              <a:rPr lang="en-US" altLang="en-US" smtClean="0">
                <a:ea typeface="ＭＳ Ｐゴシック" pitchFamily="34" charset="-128"/>
              </a:rPr>
              <a:t>edge routers IPsec-aware </a:t>
            </a:r>
          </a:p>
        </p:txBody>
      </p:sp>
      <p:sp>
        <p:nvSpPr>
          <p:cNvPr id="125957" name="Freeform 8"/>
          <p:cNvSpPr>
            <a:spLocks/>
          </p:cNvSpPr>
          <p:nvPr/>
        </p:nvSpPr>
        <p:spPr bwMode="auto">
          <a:xfrm>
            <a:off x="1509713" y="1641475"/>
            <a:ext cx="1325562" cy="2049463"/>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125958" name="Line 43"/>
          <p:cNvSpPr>
            <a:spLocks noChangeShapeType="1"/>
          </p:cNvSpPr>
          <p:nvPr/>
        </p:nvSpPr>
        <p:spPr bwMode="auto">
          <a:xfrm flipV="1">
            <a:off x="1463675" y="2693988"/>
            <a:ext cx="0" cy="500062"/>
          </a:xfrm>
          <a:prstGeom prst="line">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25959" name="Line 44"/>
          <p:cNvSpPr>
            <a:spLocks noChangeShapeType="1"/>
          </p:cNvSpPr>
          <p:nvPr/>
        </p:nvSpPr>
        <p:spPr bwMode="auto">
          <a:xfrm flipV="1">
            <a:off x="2944813" y="2703513"/>
            <a:ext cx="0" cy="500062"/>
          </a:xfrm>
          <a:prstGeom prst="line">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25960" name="Text Box 45"/>
          <p:cNvSpPr txBox="1">
            <a:spLocks noChangeArrowheads="1"/>
          </p:cNvSpPr>
          <p:nvPr/>
        </p:nvSpPr>
        <p:spPr bwMode="auto">
          <a:xfrm>
            <a:off x="1085850" y="3194050"/>
            <a:ext cx="847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C00000"/>
                </a:solidFill>
                <a:latin typeface="Arial" pitchFamily="34" charset="0"/>
                <a:cs typeface="Arial" pitchFamily="34" charset="0"/>
              </a:rPr>
              <a:t>IPsec</a:t>
            </a:r>
          </a:p>
        </p:txBody>
      </p:sp>
      <p:sp>
        <p:nvSpPr>
          <p:cNvPr id="125961" name="Text Box 46"/>
          <p:cNvSpPr txBox="1">
            <a:spLocks noChangeArrowheads="1"/>
          </p:cNvSpPr>
          <p:nvPr/>
        </p:nvSpPr>
        <p:spPr bwMode="auto">
          <a:xfrm>
            <a:off x="2655888" y="3203575"/>
            <a:ext cx="847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C00000"/>
                </a:solidFill>
                <a:latin typeface="Arial" pitchFamily="34" charset="0"/>
                <a:cs typeface="Arial" pitchFamily="34" charset="0"/>
              </a:rPr>
              <a:t>IPsec</a:t>
            </a:r>
          </a:p>
        </p:txBody>
      </p:sp>
      <p:sp>
        <p:nvSpPr>
          <p:cNvPr id="125962" name="Freeform 8"/>
          <p:cNvSpPr>
            <a:spLocks/>
          </p:cNvSpPr>
          <p:nvPr/>
        </p:nvSpPr>
        <p:spPr bwMode="auto">
          <a:xfrm>
            <a:off x="6107113" y="1620838"/>
            <a:ext cx="1325562"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125963" name="Line 43"/>
          <p:cNvSpPr>
            <a:spLocks noChangeShapeType="1"/>
          </p:cNvSpPr>
          <p:nvPr/>
        </p:nvSpPr>
        <p:spPr bwMode="auto">
          <a:xfrm flipV="1">
            <a:off x="5419725" y="2916238"/>
            <a:ext cx="0" cy="500062"/>
          </a:xfrm>
          <a:prstGeom prst="line">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25964" name="Line 44"/>
          <p:cNvSpPr>
            <a:spLocks noChangeShapeType="1"/>
          </p:cNvSpPr>
          <p:nvPr/>
        </p:nvSpPr>
        <p:spPr bwMode="auto">
          <a:xfrm flipV="1">
            <a:off x="8224838" y="2870200"/>
            <a:ext cx="0" cy="500063"/>
          </a:xfrm>
          <a:prstGeom prst="line">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25965" name="Text Box 45"/>
          <p:cNvSpPr txBox="1">
            <a:spLocks noChangeArrowheads="1"/>
          </p:cNvSpPr>
          <p:nvPr/>
        </p:nvSpPr>
        <p:spPr bwMode="auto">
          <a:xfrm>
            <a:off x="5149850" y="3362325"/>
            <a:ext cx="847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C00000"/>
                </a:solidFill>
                <a:latin typeface="Arial" pitchFamily="34" charset="0"/>
                <a:cs typeface="Arial" pitchFamily="34" charset="0"/>
              </a:rPr>
              <a:t>IPsec</a:t>
            </a:r>
          </a:p>
        </p:txBody>
      </p:sp>
      <p:sp>
        <p:nvSpPr>
          <p:cNvPr id="125966" name="Text Box 46"/>
          <p:cNvSpPr txBox="1">
            <a:spLocks noChangeArrowheads="1"/>
          </p:cNvSpPr>
          <p:nvPr/>
        </p:nvSpPr>
        <p:spPr bwMode="auto">
          <a:xfrm>
            <a:off x="7720013" y="3338513"/>
            <a:ext cx="847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C00000"/>
                </a:solidFill>
                <a:latin typeface="Arial" pitchFamily="34" charset="0"/>
                <a:cs typeface="Arial" pitchFamily="34" charset="0"/>
              </a:rPr>
              <a:t>IPsec</a:t>
            </a:r>
          </a:p>
        </p:txBody>
      </p:sp>
      <p:sp>
        <p:nvSpPr>
          <p:cNvPr id="125967" name="Rectangle 3"/>
          <p:cNvSpPr>
            <a:spLocks noChangeArrowheads="1"/>
          </p:cNvSpPr>
          <p:nvPr/>
        </p:nvSpPr>
        <p:spPr bwMode="auto">
          <a:xfrm>
            <a:off x="4913313" y="3997325"/>
            <a:ext cx="40925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rgbClr val="000099"/>
              </a:buClr>
              <a:buSzPct val="75000"/>
              <a:buFont typeface="Wingdings" pitchFamily="2" charset="2"/>
              <a:buChar char="v"/>
            </a:pPr>
            <a:r>
              <a:rPr lang="en-US" altLang="en-US" sz="2800">
                <a:latin typeface="Gill Sans MT" pitchFamily="34" charset="0"/>
              </a:rPr>
              <a:t>hosts IPsec-aware </a:t>
            </a:r>
          </a:p>
        </p:txBody>
      </p:sp>
      <p:grpSp>
        <p:nvGrpSpPr>
          <p:cNvPr id="125968" name="Group 1"/>
          <p:cNvGrpSpPr>
            <a:grpSpLocks/>
          </p:cNvGrpSpPr>
          <p:nvPr/>
        </p:nvGrpSpPr>
        <p:grpSpPr bwMode="auto">
          <a:xfrm>
            <a:off x="4948238" y="2227263"/>
            <a:ext cx="1647825" cy="747712"/>
            <a:chOff x="4690335" y="5723068"/>
            <a:chExt cx="1647710" cy="748738"/>
          </a:xfrm>
        </p:grpSpPr>
        <p:grpSp>
          <p:nvGrpSpPr>
            <p:cNvPr id="126014" name="Group 99"/>
            <p:cNvGrpSpPr>
              <a:grpSpLocks/>
            </p:cNvGrpSpPr>
            <p:nvPr/>
          </p:nvGrpSpPr>
          <p:grpSpPr bwMode="auto">
            <a:xfrm>
              <a:off x="5253179" y="5930622"/>
              <a:ext cx="1084866" cy="310161"/>
              <a:chOff x="1725613" y="2431228"/>
              <a:chExt cx="1404863" cy="380720"/>
            </a:xfrm>
          </p:grpSpPr>
          <p:sp>
            <p:nvSpPr>
              <p:cNvPr id="126018" name="Line 40"/>
              <p:cNvSpPr>
                <a:spLocks noChangeShapeType="1"/>
              </p:cNvSpPr>
              <p:nvPr/>
            </p:nvSpPr>
            <p:spPr bwMode="auto">
              <a:xfrm>
                <a:off x="1725613" y="2619374"/>
                <a:ext cx="552762" cy="19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nvGrpSpPr>
              <p:cNvPr id="126019" name="Group 332"/>
              <p:cNvGrpSpPr>
                <a:grpSpLocks/>
              </p:cNvGrpSpPr>
              <p:nvPr/>
            </p:nvGrpSpPr>
            <p:grpSpPr bwMode="auto">
              <a:xfrm>
                <a:off x="2281639" y="2431228"/>
                <a:ext cx="848837" cy="380720"/>
                <a:chOff x="2356" y="1300"/>
                <a:chExt cx="555" cy="194"/>
              </a:xfrm>
            </p:grpSpPr>
            <p:sp>
              <p:nvSpPr>
                <p:cNvPr id="126020"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26021"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26022"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26023" name="Group 329"/>
                <p:cNvGrpSpPr>
                  <a:grpSpLocks/>
                </p:cNvGrpSpPr>
                <p:nvPr/>
              </p:nvGrpSpPr>
              <p:grpSpPr bwMode="auto">
                <a:xfrm>
                  <a:off x="2468" y="1332"/>
                  <a:ext cx="310" cy="60"/>
                  <a:chOff x="2468" y="1332"/>
                  <a:chExt cx="310" cy="60"/>
                </a:xfrm>
              </p:grpSpPr>
              <p:sp>
                <p:nvSpPr>
                  <p:cNvPr id="126026"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6027"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89161" name="Line 330"/>
                <p:cNvSpPr>
                  <a:spLocks noChangeShapeType="1"/>
                </p:cNvSpPr>
                <p:nvPr/>
              </p:nvSpPr>
              <p:spPr bwMode="auto">
                <a:xfrm>
                  <a:off x="2357" y="1361"/>
                  <a:ext cx="0" cy="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89162" name="Line 331"/>
                <p:cNvSpPr>
                  <a:spLocks noChangeShapeType="1"/>
                </p:cNvSpPr>
                <p:nvPr/>
              </p:nvSpPr>
              <p:spPr bwMode="auto">
                <a:xfrm>
                  <a:off x="2907" y="1363"/>
                  <a:ext cx="0" cy="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grpSp>
        <p:grpSp>
          <p:nvGrpSpPr>
            <p:cNvPr id="126015" name="Group 542"/>
            <p:cNvGrpSpPr>
              <a:grpSpLocks/>
            </p:cNvGrpSpPr>
            <p:nvPr/>
          </p:nvGrpSpPr>
          <p:grpSpPr bwMode="auto">
            <a:xfrm>
              <a:off x="4690335" y="5723068"/>
              <a:ext cx="720787" cy="748738"/>
              <a:chOff x="-44" y="1473"/>
              <a:chExt cx="981" cy="1105"/>
            </a:xfrm>
          </p:grpSpPr>
          <p:pic>
            <p:nvPicPr>
              <p:cNvPr id="126016" name="Picture 5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017"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grpSp>
        <p:nvGrpSpPr>
          <p:cNvPr id="125969" name="Group 114"/>
          <p:cNvGrpSpPr>
            <a:grpSpLocks/>
          </p:cNvGrpSpPr>
          <p:nvPr/>
        </p:nvGrpSpPr>
        <p:grpSpPr bwMode="auto">
          <a:xfrm>
            <a:off x="152400" y="2109788"/>
            <a:ext cx="1647825" cy="749300"/>
            <a:chOff x="4690335" y="5723068"/>
            <a:chExt cx="1647710" cy="748738"/>
          </a:xfrm>
        </p:grpSpPr>
        <p:grpSp>
          <p:nvGrpSpPr>
            <p:cNvPr id="126000" name="Group 115"/>
            <p:cNvGrpSpPr>
              <a:grpSpLocks/>
            </p:cNvGrpSpPr>
            <p:nvPr/>
          </p:nvGrpSpPr>
          <p:grpSpPr bwMode="auto">
            <a:xfrm>
              <a:off x="5253179" y="5930622"/>
              <a:ext cx="1084866" cy="310161"/>
              <a:chOff x="1725613" y="2431228"/>
              <a:chExt cx="1404863" cy="380720"/>
            </a:xfrm>
          </p:grpSpPr>
          <p:sp>
            <p:nvSpPr>
              <p:cNvPr id="126004" name="Line 40"/>
              <p:cNvSpPr>
                <a:spLocks noChangeShapeType="1"/>
              </p:cNvSpPr>
              <p:nvPr/>
            </p:nvSpPr>
            <p:spPr bwMode="auto">
              <a:xfrm>
                <a:off x="1725613" y="2619374"/>
                <a:ext cx="552762" cy="19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nvGrpSpPr>
              <p:cNvPr id="126005" name="Group 332"/>
              <p:cNvGrpSpPr>
                <a:grpSpLocks/>
              </p:cNvGrpSpPr>
              <p:nvPr/>
            </p:nvGrpSpPr>
            <p:grpSpPr bwMode="auto">
              <a:xfrm>
                <a:off x="2281639" y="2431228"/>
                <a:ext cx="848837" cy="380720"/>
                <a:chOff x="2356" y="1300"/>
                <a:chExt cx="555" cy="194"/>
              </a:xfrm>
            </p:grpSpPr>
            <p:sp>
              <p:nvSpPr>
                <p:cNvPr id="126006"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26007"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26008"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26009" name="Group 329"/>
                <p:cNvGrpSpPr>
                  <a:grpSpLocks/>
                </p:cNvGrpSpPr>
                <p:nvPr/>
              </p:nvGrpSpPr>
              <p:grpSpPr bwMode="auto">
                <a:xfrm>
                  <a:off x="2468" y="1332"/>
                  <a:ext cx="310" cy="60"/>
                  <a:chOff x="2468" y="1332"/>
                  <a:chExt cx="310" cy="60"/>
                </a:xfrm>
              </p:grpSpPr>
              <p:sp>
                <p:nvSpPr>
                  <p:cNvPr id="126012"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6013"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89147"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89148"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grpSp>
        <p:grpSp>
          <p:nvGrpSpPr>
            <p:cNvPr id="126001" name="Group 542"/>
            <p:cNvGrpSpPr>
              <a:grpSpLocks/>
            </p:cNvGrpSpPr>
            <p:nvPr/>
          </p:nvGrpSpPr>
          <p:grpSpPr bwMode="auto">
            <a:xfrm>
              <a:off x="4690335" y="5723068"/>
              <a:ext cx="720787" cy="748738"/>
              <a:chOff x="-44" y="1473"/>
              <a:chExt cx="981" cy="1105"/>
            </a:xfrm>
          </p:grpSpPr>
          <p:pic>
            <p:nvPicPr>
              <p:cNvPr id="126002" name="Picture 5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003"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grpSp>
        <p:nvGrpSpPr>
          <p:cNvPr id="125970" name="Group 129"/>
          <p:cNvGrpSpPr>
            <a:grpSpLocks/>
          </p:cNvGrpSpPr>
          <p:nvPr/>
        </p:nvGrpSpPr>
        <p:grpSpPr bwMode="auto">
          <a:xfrm flipH="1">
            <a:off x="2593975" y="2128838"/>
            <a:ext cx="1646238" cy="749300"/>
            <a:chOff x="4690335" y="5723068"/>
            <a:chExt cx="1647710" cy="748738"/>
          </a:xfrm>
        </p:grpSpPr>
        <p:grpSp>
          <p:nvGrpSpPr>
            <p:cNvPr id="125986" name="Group 130"/>
            <p:cNvGrpSpPr>
              <a:grpSpLocks/>
            </p:cNvGrpSpPr>
            <p:nvPr/>
          </p:nvGrpSpPr>
          <p:grpSpPr bwMode="auto">
            <a:xfrm>
              <a:off x="5253179" y="5930622"/>
              <a:ext cx="1084866" cy="310161"/>
              <a:chOff x="1725613" y="2431228"/>
              <a:chExt cx="1404863" cy="380720"/>
            </a:xfrm>
          </p:grpSpPr>
          <p:sp>
            <p:nvSpPr>
              <p:cNvPr id="125990" name="Line 40"/>
              <p:cNvSpPr>
                <a:spLocks noChangeShapeType="1"/>
              </p:cNvSpPr>
              <p:nvPr/>
            </p:nvSpPr>
            <p:spPr bwMode="auto">
              <a:xfrm>
                <a:off x="1725613" y="2619374"/>
                <a:ext cx="552762" cy="19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nvGrpSpPr>
              <p:cNvPr id="125991" name="Group 332"/>
              <p:cNvGrpSpPr>
                <a:grpSpLocks/>
              </p:cNvGrpSpPr>
              <p:nvPr/>
            </p:nvGrpSpPr>
            <p:grpSpPr bwMode="auto">
              <a:xfrm>
                <a:off x="2281639" y="2431228"/>
                <a:ext cx="848837" cy="380720"/>
                <a:chOff x="2356" y="1300"/>
                <a:chExt cx="555" cy="194"/>
              </a:xfrm>
            </p:grpSpPr>
            <p:sp>
              <p:nvSpPr>
                <p:cNvPr id="125992"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25993"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25994"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25995" name="Group 329"/>
                <p:cNvGrpSpPr>
                  <a:grpSpLocks/>
                </p:cNvGrpSpPr>
                <p:nvPr/>
              </p:nvGrpSpPr>
              <p:grpSpPr bwMode="auto">
                <a:xfrm>
                  <a:off x="2468" y="1332"/>
                  <a:ext cx="310" cy="60"/>
                  <a:chOff x="2468" y="1332"/>
                  <a:chExt cx="310" cy="60"/>
                </a:xfrm>
              </p:grpSpPr>
              <p:sp>
                <p:nvSpPr>
                  <p:cNvPr id="125998"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5999"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89133"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89134"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grpSp>
        <p:grpSp>
          <p:nvGrpSpPr>
            <p:cNvPr id="125987" name="Group 542"/>
            <p:cNvGrpSpPr>
              <a:grpSpLocks/>
            </p:cNvGrpSpPr>
            <p:nvPr/>
          </p:nvGrpSpPr>
          <p:grpSpPr bwMode="auto">
            <a:xfrm>
              <a:off x="4690335" y="5723068"/>
              <a:ext cx="720787" cy="748738"/>
              <a:chOff x="-44" y="1473"/>
              <a:chExt cx="981" cy="1105"/>
            </a:xfrm>
          </p:grpSpPr>
          <p:pic>
            <p:nvPicPr>
              <p:cNvPr id="125988" name="Picture 5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89"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grpSp>
        <p:nvGrpSpPr>
          <p:cNvPr id="125971" name="Group 144"/>
          <p:cNvGrpSpPr>
            <a:grpSpLocks/>
          </p:cNvGrpSpPr>
          <p:nvPr/>
        </p:nvGrpSpPr>
        <p:grpSpPr bwMode="auto">
          <a:xfrm flipH="1">
            <a:off x="7005638" y="2173288"/>
            <a:ext cx="1647825" cy="749300"/>
            <a:chOff x="4690335" y="5723068"/>
            <a:chExt cx="1647710" cy="748738"/>
          </a:xfrm>
        </p:grpSpPr>
        <p:grpSp>
          <p:nvGrpSpPr>
            <p:cNvPr id="125972" name="Group 145"/>
            <p:cNvGrpSpPr>
              <a:grpSpLocks/>
            </p:cNvGrpSpPr>
            <p:nvPr/>
          </p:nvGrpSpPr>
          <p:grpSpPr bwMode="auto">
            <a:xfrm>
              <a:off x="5253179" y="5930622"/>
              <a:ext cx="1084866" cy="310161"/>
              <a:chOff x="1725613" y="2431228"/>
              <a:chExt cx="1404863" cy="380720"/>
            </a:xfrm>
          </p:grpSpPr>
          <p:sp>
            <p:nvSpPr>
              <p:cNvPr id="125976" name="Line 40"/>
              <p:cNvSpPr>
                <a:spLocks noChangeShapeType="1"/>
              </p:cNvSpPr>
              <p:nvPr/>
            </p:nvSpPr>
            <p:spPr bwMode="auto">
              <a:xfrm>
                <a:off x="1725613" y="2619374"/>
                <a:ext cx="552762" cy="19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nvGrpSpPr>
              <p:cNvPr id="125977" name="Group 332"/>
              <p:cNvGrpSpPr>
                <a:grpSpLocks/>
              </p:cNvGrpSpPr>
              <p:nvPr/>
            </p:nvGrpSpPr>
            <p:grpSpPr bwMode="auto">
              <a:xfrm>
                <a:off x="2281639" y="2431228"/>
                <a:ext cx="848837" cy="380720"/>
                <a:chOff x="2356" y="1300"/>
                <a:chExt cx="555" cy="194"/>
              </a:xfrm>
            </p:grpSpPr>
            <p:sp>
              <p:nvSpPr>
                <p:cNvPr id="125978"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25979"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25980"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25981" name="Group 329"/>
                <p:cNvGrpSpPr>
                  <a:grpSpLocks/>
                </p:cNvGrpSpPr>
                <p:nvPr/>
              </p:nvGrpSpPr>
              <p:grpSpPr bwMode="auto">
                <a:xfrm>
                  <a:off x="2468" y="1332"/>
                  <a:ext cx="310" cy="60"/>
                  <a:chOff x="2468" y="1332"/>
                  <a:chExt cx="310" cy="60"/>
                </a:xfrm>
              </p:grpSpPr>
              <p:sp>
                <p:nvSpPr>
                  <p:cNvPr id="125984"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5985"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89119"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89120"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grpSp>
        </p:grpSp>
        <p:grpSp>
          <p:nvGrpSpPr>
            <p:cNvPr id="125973" name="Group 542"/>
            <p:cNvGrpSpPr>
              <a:grpSpLocks/>
            </p:cNvGrpSpPr>
            <p:nvPr/>
          </p:nvGrpSpPr>
          <p:grpSpPr bwMode="auto">
            <a:xfrm>
              <a:off x="4690335" y="5723068"/>
              <a:ext cx="720787" cy="748738"/>
              <a:chOff x="-44" y="1473"/>
              <a:chExt cx="981" cy="1105"/>
            </a:xfrm>
          </p:grpSpPr>
          <p:pic>
            <p:nvPicPr>
              <p:cNvPr id="125974" name="Picture 5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75"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7" name="Picture 21"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00" y="1050925"/>
            <a:ext cx="4710113"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5"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26979" name="Title 1"/>
          <p:cNvSpPr>
            <a:spLocks noGrp="1"/>
          </p:cNvSpPr>
          <p:nvPr>
            <p:ph type="title"/>
          </p:nvPr>
        </p:nvSpPr>
        <p:spPr/>
        <p:txBody>
          <a:bodyPr/>
          <a:lstStyle/>
          <a:p>
            <a:r>
              <a:rPr lang="en-US" altLang="en-US" smtClean="0">
                <a:ea typeface="ＭＳ Ｐゴシック" pitchFamily="34" charset="-128"/>
              </a:rPr>
              <a:t>Two IPsec protocols</a:t>
            </a:r>
          </a:p>
        </p:txBody>
      </p:sp>
      <p:sp>
        <p:nvSpPr>
          <p:cNvPr id="126980" name="Content Placeholder 2"/>
          <p:cNvSpPr>
            <a:spLocks noGrp="1"/>
          </p:cNvSpPr>
          <p:nvPr>
            <p:ph idx="1"/>
          </p:nvPr>
        </p:nvSpPr>
        <p:spPr/>
        <p:txBody>
          <a:bodyPr/>
          <a:lstStyle/>
          <a:p>
            <a:r>
              <a:rPr lang="en-US" altLang="en-US" dirty="0" smtClean="0">
                <a:ea typeface="ＭＳ Ｐゴシック" pitchFamily="34" charset="-128"/>
              </a:rPr>
              <a:t>Authentication Header (AH) protocol</a:t>
            </a:r>
          </a:p>
          <a:p>
            <a:pPr lvl="1"/>
            <a:r>
              <a:rPr lang="en-US" altLang="en-US" dirty="0" smtClean="0">
                <a:ea typeface="ＭＳ Ｐゴシック" pitchFamily="34" charset="-128"/>
              </a:rPr>
              <a:t>provides source authentication &amp; data integrity but </a:t>
            </a:r>
            <a:r>
              <a:rPr lang="en-US" altLang="en-US" i="1" dirty="0" smtClean="0">
                <a:ea typeface="ＭＳ Ｐゴシック" pitchFamily="34" charset="-128"/>
              </a:rPr>
              <a:t>not </a:t>
            </a:r>
            <a:r>
              <a:rPr lang="en-US" altLang="en-US" dirty="0" smtClean="0">
                <a:ea typeface="ＭＳ Ｐゴシック" pitchFamily="34" charset="-128"/>
              </a:rPr>
              <a:t>confidentiality</a:t>
            </a:r>
            <a:endParaRPr lang="en-US" altLang="en-US" i="1" dirty="0" smtClean="0">
              <a:ea typeface="ＭＳ Ｐゴシック" pitchFamily="34" charset="-128"/>
            </a:endParaRPr>
          </a:p>
          <a:p>
            <a:r>
              <a:rPr lang="en-US" altLang="en-US" dirty="0" smtClean="0">
                <a:ea typeface="ＭＳ Ｐゴシック" pitchFamily="34" charset="-128"/>
              </a:rPr>
              <a:t>Encapsulation Security Protocol (ESP)</a:t>
            </a:r>
          </a:p>
          <a:p>
            <a:pPr lvl="1"/>
            <a:r>
              <a:rPr lang="en-US" altLang="en-US" dirty="0" smtClean="0">
                <a:ea typeface="ＭＳ Ｐゴシック" pitchFamily="34" charset="-128"/>
              </a:rPr>
              <a:t>provides source authentication, data integrity, </a:t>
            </a:r>
            <a:r>
              <a:rPr lang="en-US" altLang="en-US" i="1" dirty="0" smtClean="0">
                <a:ea typeface="ＭＳ Ｐゴシック" pitchFamily="34" charset="-128"/>
              </a:rPr>
              <a:t>and confidentiality</a:t>
            </a:r>
          </a:p>
          <a:p>
            <a:pPr lvl="1"/>
            <a:r>
              <a:rPr lang="en-US" altLang="en-US" dirty="0" smtClean="0">
                <a:ea typeface="ＭＳ Ｐゴシック" pitchFamily="34" charset="-128"/>
              </a:rPr>
              <a:t>more widely used than AH</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1" name="Picture 16"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088" y="1039813"/>
            <a:ext cx="73136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28003" name="Rectangle 4"/>
          <p:cNvSpPr>
            <a:spLocks noGrp="1" noChangeArrowheads="1"/>
          </p:cNvSpPr>
          <p:nvPr>
            <p:ph type="title"/>
          </p:nvPr>
        </p:nvSpPr>
        <p:spPr/>
        <p:txBody>
          <a:bodyPr/>
          <a:lstStyle/>
          <a:p>
            <a:r>
              <a:rPr lang="en-US" altLang="en-US" smtClean="0">
                <a:ea typeface="ＭＳ Ｐゴシック" pitchFamily="34" charset="-128"/>
              </a:rPr>
              <a:t>Four combinations are possible!</a:t>
            </a:r>
          </a:p>
        </p:txBody>
      </p:sp>
      <p:graphicFrame>
        <p:nvGraphicFramePr>
          <p:cNvPr id="667664" name="Group 16"/>
          <p:cNvGraphicFramePr>
            <a:graphicFrameLocks noGrp="1"/>
          </p:cNvGraphicFramePr>
          <p:nvPr/>
        </p:nvGraphicFramePr>
        <p:xfrm>
          <a:off x="1558925" y="1627188"/>
          <a:ext cx="5473700" cy="3165476"/>
        </p:xfrm>
        <a:graphic>
          <a:graphicData uri="http://schemas.openxmlformats.org/drawingml/2006/table">
            <a:tbl>
              <a:tblPr/>
              <a:tblGrid>
                <a:gridCol w="2736850"/>
                <a:gridCol w="2736850"/>
              </a:tblGrid>
              <a:tr h="1582738">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2400" b="0"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2400" b="0" i="0" u="none" strike="noStrike" cap="none" normalizeH="0" baseline="0" smtClean="0">
                          <a:ln>
                            <a:noFill/>
                          </a:ln>
                          <a:solidFill>
                            <a:schemeClr val="tx1"/>
                          </a:solidFill>
                          <a:effectLst/>
                          <a:latin typeface="Arial" pitchFamily="34" charset="0"/>
                          <a:cs typeface="Arial" pitchFamily="34" charset="0"/>
                        </a:rPr>
                        <a:t>Host mode </a:t>
                      </a:r>
                      <a:br>
                        <a:rPr kumimoji="0" lang="en-US" sz="2400" b="0" i="0" u="none" strike="noStrike" cap="none" normalizeH="0" baseline="0" smtClean="0">
                          <a:ln>
                            <a:noFill/>
                          </a:ln>
                          <a:solidFill>
                            <a:schemeClr val="tx1"/>
                          </a:solidFill>
                          <a:effectLst/>
                          <a:latin typeface="Arial" pitchFamily="34" charset="0"/>
                          <a:cs typeface="Arial" pitchFamily="34" charset="0"/>
                        </a:rPr>
                      </a:br>
                      <a:r>
                        <a:rPr kumimoji="0" lang="en-US" sz="2400" b="0" i="0" u="none" strike="noStrike" cap="none" normalizeH="0" baseline="0" smtClean="0">
                          <a:ln>
                            <a:noFill/>
                          </a:ln>
                          <a:solidFill>
                            <a:schemeClr val="tx1"/>
                          </a:solidFill>
                          <a:effectLst/>
                          <a:latin typeface="Arial" pitchFamily="34" charset="0"/>
                          <a:cs typeface="Arial" pitchFamily="34" charset="0"/>
                        </a:rPr>
                        <a:t>with AH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2400" b="0"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2400" b="0" i="0" u="none" strike="noStrike" cap="none" normalizeH="0" baseline="0" smtClean="0">
                          <a:ln>
                            <a:noFill/>
                          </a:ln>
                          <a:solidFill>
                            <a:schemeClr val="tx1"/>
                          </a:solidFill>
                          <a:effectLst/>
                          <a:latin typeface="Arial" pitchFamily="34" charset="0"/>
                          <a:cs typeface="Arial" pitchFamily="34" charset="0"/>
                        </a:rPr>
                        <a:t>Host mode </a:t>
                      </a:r>
                      <a:br>
                        <a:rPr kumimoji="0" lang="en-US" sz="2400" b="0" i="0" u="none" strike="noStrike" cap="none" normalizeH="0" baseline="0" smtClean="0">
                          <a:ln>
                            <a:noFill/>
                          </a:ln>
                          <a:solidFill>
                            <a:schemeClr val="tx1"/>
                          </a:solidFill>
                          <a:effectLst/>
                          <a:latin typeface="Arial" pitchFamily="34" charset="0"/>
                          <a:cs typeface="Arial" pitchFamily="34" charset="0"/>
                        </a:rPr>
                      </a:br>
                      <a:r>
                        <a:rPr kumimoji="0" lang="en-US" sz="2400" b="0" i="0" u="none" strike="noStrike" cap="none" normalizeH="0" baseline="0" smtClean="0">
                          <a:ln>
                            <a:noFill/>
                          </a:ln>
                          <a:solidFill>
                            <a:schemeClr val="tx1"/>
                          </a:solidFill>
                          <a:effectLst/>
                          <a:latin typeface="Arial" pitchFamily="34" charset="0"/>
                          <a:cs typeface="Arial" pitchFamily="34" charset="0"/>
                        </a:rPr>
                        <a:t>with ESP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82738">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2400" b="0"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2400" b="0" i="0" u="none" strike="noStrike" cap="none" normalizeH="0" baseline="0" smtClean="0">
                          <a:ln>
                            <a:noFill/>
                          </a:ln>
                          <a:solidFill>
                            <a:schemeClr val="tx1"/>
                          </a:solidFill>
                          <a:effectLst/>
                          <a:latin typeface="Arial" pitchFamily="34" charset="0"/>
                          <a:cs typeface="Arial" pitchFamily="34" charset="0"/>
                        </a:rPr>
                        <a:t>Tunnel mode</a:t>
                      </a:r>
                      <a:br>
                        <a:rPr kumimoji="0" lang="en-US" sz="2400" b="0" i="0" u="none" strike="noStrike" cap="none" normalizeH="0" baseline="0" smtClean="0">
                          <a:ln>
                            <a:noFill/>
                          </a:ln>
                          <a:solidFill>
                            <a:schemeClr val="tx1"/>
                          </a:solidFill>
                          <a:effectLst/>
                          <a:latin typeface="Arial" pitchFamily="34" charset="0"/>
                          <a:cs typeface="Arial" pitchFamily="34" charset="0"/>
                        </a:rPr>
                      </a:br>
                      <a:r>
                        <a:rPr kumimoji="0" lang="en-US" sz="2400" b="0" i="0" u="none" strike="noStrike" cap="none" normalizeH="0" baseline="0" smtClean="0">
                          <a:ln>
                            <a:noFill/>
                          </a:ln>
                          <a:solidFill>
                            <a:schemeClr val="tx1"/>
                          </a:solidFill>
                          <a:effectLst/>
                          <a:latin typeface="Arial" pitchFamily="34" charset="0"/>
                          <a:cs typeface="Arial" pitchFamily="34" charset="0"/>
                        </a:rPr>
                        <a:t>with AH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2400" b="0" i="0" u="none" strike="noStrike" cap="none" normalizeH="0" baseline="0" dirty="0" smtClean="0">
                          <a:ln>
                            <a:noFill/>
                          </a:ln>
                          <a:solidFill>
                            <a:schemeClr val="tx1"/>
                          </a:solidFill>
                          <a:effectLst/>
                          <a:latin typeface="Arial" pitchFamily="34" charset="0"/>
                          <a:cs typeface="Arial" pitchFamily="34" charset="0"/>
                        </a:rPr>
                        <a:t>Tunnel mode</a:t>
                      </a:r>
                      <a:br>
                        <a:rPr kumimoji="0" lang="en-US" sz="2400" b="0" i="0" u="none" strike="noStrike" cap="none" normalizeH="0" baseline="0" dirty="0" smtClean="0">
                          <a:ln>
                            <a:noFill/>
                          </a:ln>
                          <a:solidFill>
                            <a:schemeClr val="tx1"/>
                          </a:solidFill>
                          <a:effectLst/>
                          <a:latin typeface="Arial" pitchFamily="34" charset="0"/>
                          <a:cs typeface="Arial" pitchFamily="34" charset="0"/>
                        </a:rPr>
                      </a:br>
                      <a:r>
                        <a:rPr kumimoji="0" lang="en-US" sz="2400" b="0" i="0" u="none" strike="noStrike" cap="none" normalizeH="0" baseline="0" dirty="0" smtClean="0">
                          <a:ln>
                            <a:noFill/>
                          </a:ln>
                          <a:solidFill>
                            <a:schemeClr val="tx1"/>
                          </a:solidFill>
                          <a:effectLst/>
                          <a:latin typeface="Arial" pitchFamily="34" charset="0"/>
                          <a:cs typeface="Arial" pitchFamily="34" charset="0"/>
                        </a:rPr>
                        <a:t>with ESP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8015" name="Line 18"/>
          <p:cNvSpPr>
            <a:spLocks noChangeShapeType="1"/>
          </p:cNvSpPr>
          <p:nvPr/>
        </p:nvSpPr>
        <p:spPr bwMode="auto">
          <a:xfrm flipH="1" flipV="1">
            <a:off x="5624513" y="4418013"/>
            <a:ext cx="817562" cy="957262"/>
          </a:xfrm>
          <a:prstGeom prst="line">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28016" name="Text Box 19"/>
          <p:cNvSpPr txBox="1">
            <a:spLocks noChangeArrowheads="1"/>
          </p:cNvSpPr>
          <p:nvPr/>
        </p:nvSpPr>
        <p:spPr bwMode="auto">
          <a:xfrm>
            <a:off x="5448300" y="5365750"/>
            <a:ext cx="22907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solidFill>
                  <a:srgbClr val="C00000"/>
                </a:solidFill>
                <a:latin typeface="Arial" pitchFamily="34" charset="0"/>
                <a:cs typeface="Arial" pitchFamily="34" charset="0"/>
              </a:rPr>
              <a:t>most common and</a:t>
            </a:r>
            <a:br>
              <a:rPr lang="en-US" altLang="en-US">
                <a:solidFill>
                  <a:srgbClr val="C00000"/>
                </a:solidFill>
                <a:latin typeface="Arial" pitchFamily="34" charset="0"/>
                <a:cs typeface="Arial" pitchFamily="34" charset="0"/>
              </a:rPr>
            </a:br>
            <a:r>
              <a:rPr lang="en-US" altLang="en-US">
                <a:solidFill>
                  <a:srgbClr val="C00000"/>
                </a:solidFill>
                <a:latin typeface="Arial" pitchFamily="34" charset="0"/>
                <a:cs typeface="Arial" pitchFamily="34" charset="0"/>
              </a:rPr>
              <a:t>most important</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5" name="Picture 18"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300" y="976313"/>
            <a:ext cx="63992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3"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29027" name="Rectangle 2"/>
          <p:cNvSpPr>
            <a:spLocks noGrp="1" noChangeArrowheads="1"/>
          </p:cNvSpPr>
          <p:nvPr>
            <p:ph type="title"/>
          </p:nvPr>
        </p:nvSpPr>
        <p:spPr>
          <a:xfrm>
            <a:off x="339725" y="171450"/>
            <a:ext cx="7772400" cy="1143000"/>
          </a:xfrm>
        </p:spPr>
        <p:txBody>
          <a:bodyPr/>
          <a:lstStyle/>
          <a:p>
            <a:r>
              <a:rPr lang="en-US" altLang="en-US" smtClean="0">
                <a:ea typeface="ＭＳ Ｐゴシック" pitchFamily="34" charset="-128"/>
              </a:rPr>
              <a:t>Security associations (SAs) </a:t>
            </a:r>
          </a:p>
        </p:txBody>
      </p:sp>
      <p:sp>
        <p:nvSpPr>
          <p:cNvPr id="129028" name="Rectangle 3"/>
          <p:cNvSpPr>
            <a:spLocks noGrp="1" noChangeArrowheads="1"/>
          </p:cNvSpPr>
          <p:nvPr>
            <p:ph type="body" idx="1"/>
          </p:nvPr>
        </p:nvSpPr>
        <p:spPr>
          <a:xfrm>
            <a:off x="608013" y="1530350"/>
            <a:ext cx="8035925" cy="4510088"/>
          </a:xfrm>
        </p:spPr>
        <p:txBody>
          <a:bodyPr/>
          <a:lstStyle/>
          <a:p>
            <a:r>
              <a:rPr lang="en-US" altLang="en-US" dirty="0" smtClean="0">
                <a:ea typeface="ＭＳ Ｐゴシック" pitchFamily="34" charset="-128"/>
              </a:rPr>
              <a:t>before sending data, </a:t>
            </a:r>
            <a:r>
              <a:rPr lang="ja-JP" altLang="en-US" dirty="0" smtClean="0">
                <a:solidFill>
                  <a:srgbClr val="C00000"/>
                </a:solidFill>
                <a:ea typeface="ＭＳ Ｐゴシック" pitchFamily="34" charset="-128"/>
              </a:rPr>
              <a:t>“</a:t>
            </a:r>
            <a:r>
              <a:rPr lang="en-US" altLang="ja-JP" dirty="0" smtClean="0">
                <a:solidFill>
                  <a:srgbClr val="C00000"/>
                </a:solidFill>
                <a:ea typeface="ＭＳ Ｐゴシック" pitchFamily="34" charset="-128"/>
              </a:rPr>
              <a:t>security association (SA)</a:t>
            </a:r>
            <a:r>
              <a:rPr lang="ja-JP" altLang="en-US" dirty="0" smtClean="0">
                <a:solidFill>
                  <a:srgbClr val="C00000"/>
                </a:solidFill>
                <a:ea typeface="ＭＳ Ｐゴシック" pitchFamily="34" charset="-128"/>
              </a:rPr>
              <a:t>”</a:t>
            </a:r>
            <a:r>
              <a:rPr lang="en-US" altLang="ja-JP" dirty="0" smtClean="0">
                <a:solidFill>
                  <a:srgbClr val="C00000"/>
                </a:solidFill>
                <a:ea typeface="ＭＳ Ｐゴシック" pitchFamily="34" charset="-128"/>
              </a:rPr>
              <a:t>  </a:t>
            </a:r>
            <a:r>
              <a:rPr lang="en-US" altLang="ja-JP" dirty="0" smtClean="0">
                <a:ea typeface="ＭＳ Ｐゴシック" pitchFamily="34" charset="-128"/>
              </a:rPr>
              <a:t>established from sending to receiving entity </a:t>
            </a:r>
          </a:p>
          <a:p>
            <a:pPr lvl="1"/>
            <a:r>
              <a:rPr lang="en-US" altLang="en-US" dirty="0" smtClean="0">
                <a:ea typeface="ＭＳ Ｐゴシック" pitchFamily="34" charset="-128"/>
              </a:rPr>
              <a:t>SAs are simplex: for only one direction</a:t>
            </a:r>
          </a:p>
          <a:p>
            <a:r>
              <a:rPr lang="en-US" altLang="en-US" dirty="0" smtClean="0">
                <a:ea typeface="ＭＳ Ｐゴシック" pitchFamily="34" charset="-128"/>
              </a:rPr>
              <a:t>sending, receiving entitles maintain </a:t>
            </a:r>
            <a:r>
              <a:rPr lang="en-US" altLang="en-US" i="1" dirty="0" smtClean="0">
                <a:ea typeface="ＭＳ Ｐゴシック" pitchFamily="34" charset="-128"/>
              </a:rPr>
              <a:t>state information</a:t>
            </a:r>
            <a:r>
              <a:rPr lang="en-US" altLang="en-US" dirty="0" smtClean="0">
                <a:ea typeface="ＭＳ Ｐゴシック" pitchFamily="34" charset="-128"/>
              </a:rPr>
              <a:t> about SA</a:t>
            </a:r>
          </a:p>
          <a:p>
            <a:pPr lvl="1"/>
            <a:r>
              <a:rPr lang="en-US" altLang="en-US" dirty="0" smtClean="0">
                <a:ea typeface="ＭＳ Ｐゴシック" pitchFamily="34" charset="-128"/>
              </a:rPr>
              <a:t>recall: TCP endpoints also maintain state info</a:t>
            </a:r>
          </a:p>
          <a:p>
            <a:pPr lvl="1"/>
            <a:r>
              <a:rPr lang="en-US" altLang="en-US" dirty="0" smtClean="0">
                <a:ea typeface="ＭＳ Ｐゴシック" pitchFamily="34" charset="-128"/>
              </a:rPr>
              <a:t>IP is connectionless; IPsec is connection-oriented!</a:t>
            </a:r>
          </a:p>
          <a:p>
            <a:r>
              <a:rPr lang="en-US" altLang="en-US" dirty="0" smtClean="0">
                <a:ea typeface="ＭＳ Ｐゴシック" pitchFamily="34" charset="-128"/>
              </a:rPr>
              <a:t>how many SAs in VPN w/ headquarters, branch office, and n traveling salespeople?</a:t>
            </a:r>
          </a:p>
          <a:p>
            <a:pPr lvl="2">
              <a:buFontTx/>
              <a:buNone/>
            </a:pPr>
            <a:endParaRPr lang="en-US" altLang="en-US" dirty="0" smtClean="0">
              <a:ea typeface="ＭＳ Ｐゴシック" pitchFamily="34" charset="-128"/>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30050" name="Rectangle 58"/>
          <p:cNvSpPr>
            <a:spLocks noGrp="1" noChangeArrowheads="1"/>
          </p:cNvSpPr>
          <p:nvPr>
            <p:ph type="title"/>
          </p:nvPr>
        </p:nvSpPr>
        <p:spPr>
          <a:xfrm>
            <a:off x="512763" y="-61913"/>
            <a:ext cx="7772400" cy="1143001"/>
          </a:xfrm>
        </p:spPr>
        <p:txBody>
          <a:bodyPr/>
          <a:lstStyle/>
          <a:p>
            <a:r>
              <a:rPr lang="en-US" altLang="en-US" smtClean="0">
                <a:ea typeface="ＭＳ Ｐゴシック" pitchFamily="34" charset="-128"/>
              </a:rPr>
              <a:t>Example SA from R1 to R2</a:t>
            </a:r>
          </a:p>
        </p:txBody>
      </p:sp>
      <p:sp>
        <p:nvSpPr>
          <p:cNvPr id="130051" name="Rectangle 59"/>
          <p:cNvSpPr>
            <a:spLocks noGrp="1" noChangeArrowheads="1"/>
          </p:cNvSpPr>
          <p:nvPr>
            <p:ph type="body" idx="1"/>
          </p:nvPr>
        </p:nvSpPr>
        <p:spPr>
          <a:xfrm>
            <a:off x="738188" y="3519488"/>
            <a:ext cx="8161337" cy="3167062"/>
          </a:xfrm>
        </p:spPr>
        <p:txBody>
          <a:bodyPr/>
          <a:lstStyle/>
          <a:p>
            <a:pPr>
              <a:lnSpc>
                <a:spcPct val="90000"/>
              </a:lnSpc>
              <a:buFont typeface="Wingdings" pitchFamily="2" charset="2"/>
              <a:buNone/>
            </a:pPr>
            <a:r>
              <a:rPr lang="en-US" altLang="en-US" i="1" smtClean="0">
                <a:solidFill>
                  <a:srgbClr val="C00000"/>
                </a:solidFill>
                <a:ea typeface="ＭＳ Ｐゴシック" pitchFamily="34" charset="-128"/>
              </a:rPr>
              <a:t>R1 </a:t>
            </a:r>
            <a:r>
              <a:rPr lang="en-US" altLang="en-US" i="1" smtClean="0">
                <a:solidFill>
                  <a:srgbClr val="CC0000"/>
                </a:solidFill>
                <a:ea typeface="ＭＳ Ｐゴシック" pitchFamily="34" charset="-128"/>
              </a:rPr>
              <a:t>stores </a:t>
            </a:r>
            <a:r>
              <a:rPr lang="en-US" altLang="en-US" i="1" smtClean="0">
                <a:solidFill>
                  <a:srgbClr val="C00000"/>
                </a:solidFill>
                <a:ea typeface="ＭＳ Ｐゴシック" pitchFamily="34" charset="-128"/>
              </a:rPr>
              <a:t>for SA:</a:t>
            </a:r>
          </a:p>
          <a:p>
            <a:pPr>
              <a:lnSpc>
                <a:spcPct val="90000"/>
              </a:lnSpc>
            </a:pPr>
            <a:r>
              <a:rPr lang="en-US" altLang="en-US" sz="2000" smtClean="0">
                <a:ea typeface="ＭＳ Ｐゴシック" pitchFamily="34" charset="-128"/>
              </a:rPr>
              <a:t>32-bit SA identifier: </a:t>
            </a:r>
            <a:r>
              <a:rPr lang="en-US" altLang="en-US" sz="2000" i="1" smtClean="0">
                <a:ea typeface="ＭＳ Ｐゴシック" pitchFamily="34" charset="-128"/>
              </a:rPr>
              <a:t>Security Parameter Index (SPI)</a:t>
            </a:r>
          </a:p>
          <a:p>
            <a:pPr>
              <a:lnSpc>
                <a:spcPct val="90000"/>
              </a:lnSpc>
            </a:pPr>
            <a:r>
              <a:rPr lang="en-US" altLang="en-US" sz="2000" smtClean="0">
                <a:ea typeface="ＭＳ Ｐゴシック" pitchFamily="34" charset="-128"/>
              </a:rPr>
              <a:t>origin SA interface (200.168.1.100)</a:t>
            </a:r>
          </a:p>
          <a:p>
            <a:pPr>
              <a:lnSpc>
                <a:spcPct val="90000"/>
              </a:lnSpc>
            </a:pPr>
            <a:r>
              <a:rPr lang="en-US" altLang="en-US" sz="2000" smtClean="0">
                <a:ea typeface="ＭＳ Ｐゴシック" pitchFamily="34" charset="-128"/>
              </a:rPr>
              <a:t>destination SA interface (193.68.2.23)</a:t>
            </a:r>
          </a:p>
          <a:p>
            <a:pPr>
              <a:lnSpc>
                <a:spcPct val="90000"/>
              </a:lnSpc>
            </a:pPr>
            <a:r>
              <a:rPr lang="en-US" altLang="en-US" sz="2000" smtClean="0">
                <a:ea typeface="ＭＳ Ｐゴシック" pitchFamily="34" charset="-128"/>
              </a:rPr>
              <a:t>type of encryption used (e.g., 3DES with CBC)</a:t>
            </a:r>
          </a:p>
          <a:p>
            <a:pPr>
              <a:lnSpc>
                <a:spcPct val="90000"/>
              </a:lnSpc>
            </a:pPr>
            <a:r>
              <a:rPr lang="en-US" altLang="en-US" sz="2000" smtClean="0">
                <a:ea typeface="ＭＳ Ｐゴシック" pitchFamily="34" charset="-128"/>
              </a:rPr>
              <a:t>encryption key</a:t>
            </a:r>
          </a:p>
          <a:p>
            <a:pPr>
              <a:lnSpc>
                <a:spcPct val="90000"/>
              </a:lnSpc>
            </a:pPr>
            <a:r>
              <a:rPr lang="en-US" altLang="en-US" sz="2000" smtClean="0">
                <a:ea typeface="ＭＳ Ｐゴシック" pitchFamily="34" charset="-128"/>
              </a:rPr>
              <a:t>type of integrity check used (e.g., HMAC with MD5)</a:t>
            </a:r>
          </a:p>
          <a:p>
            <a:pPr>
              <a:lnSpc>
                <a:spcPct val="90000"/>
              </a:lnSpc>
            </a:pPr>
            <a:r>
              <a:rPr lang="en-US" altLang="en-US" sz="2000" smtClean="0">
                <a:ea typeface="ＭＳ Ｐゴシック" pitchFamily="34" charset="-128"/>
              </a:rPr>
              <a:t>authentication key</a:t>
            </a:r>
          </a:p>
        </p:txBody>
      </p:sp>
      <p:pic>
        <p:nvPicPr>
          <p:cNvPr id="130052" name="Picture 17"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088" y="760413"/>
            <a:ext cx="641985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0053" name="Group 3"/>
          <p:cNvGrpSpPr>
            <a:grpSpLocks/>
          </p:cNvGrpSpPr>
          <p:nvPr/>
        </p:nvGrpSpPr>
        <p:grpSpPr bwMode="auto">
          <a:xfrm>
            <a:off x="803275" y="938213"/>
            <a:ext cx="7435850" cy="2630487"/>
            <a:chOff x="803275" y="938213"/>
            <a:chExt cx="7435850" cy="2630487"/>
          </a:xfrm>
        </p:grpSpPr>
        <p:sp>
          <p:nvSpPr>
            <p:cNvPr id="130054" name="Freeform 2"/>
            <p:cNvSpPr>
              <a:spLocks/>
            </p:cNvSpPr>
            <p:nvPr/>
          </p:nvSpPr>
          <p:spPr bwMode="auto">
            <a:xfrm>
              <a:off x="6213475" y="1670050"/>
              <a:ext cx="2025650" cy="1633537"/>
            </a:xfrm>
            <a:custGeom>
              <a:avLst/>
              <a:gdLst>
                <a:gd name="T0" fmla="*/ 346493 w 1292"/>
                <a:gd name="T1" fmla="*/ 2603 h 1255"/>
                <a:gd name="T2" fmla="*/ 54874 w 1292"/>
                <a:gd name="T3" fmla="*/ 62478 h 1255"/>
                <a:gd name="T4" fmla="*/ 45467 w 1292"/>
                <a:gd name="T5" fmla="*/ 206958 h 1255"/>
                <a:gd name="T6" fmla="*/ 73689 w 1292"/>
                <a:gd name="T7" fmla="*/ 329311 h 1255"/>
                <a:gd name="T8" fmla="*/ 355900 w 1292"/>
                <a:gd name="T9" fmla="*/ 344930 h 1255"/>
                <a:gd name="T10" fmla="*/ 939136 w 1292"/>
                <a:gd name="T11" fmla="*/ 446457 h 1255"/>
                <a:gd name="T12" fmla="*/ 1447117 w 1292"/>
                <a:gd name="T13" fmla="*/ 489410 h 1255"/>
                <a:gd name="T14" fmla="*/ 1745007 w 1292"/>
                <a:gd name="T15" fmla="*/ 403503 h 1255"/>
                <a:gd name="T16" fmla="*/ 1848484 w 1292"/>
                <a:gd name="T17" fmla="*/ 175719 h 1255"/>
                <a:gd name="T18" fmla="*/ 1752846 w 1292"/>
                <a:gd name="T19" fmla="*/ 83304 h 1255"/>
                <a:gd name="T20" fmla="*/ 1089649 w 1292"/>
                <a:gd name="T21" fmla="*/ 45557 h 1255"/>
                <a:gd name="T22" fmla="*/ 346493 w 1292"/>
                <a:gd name="T23" fmla="*/ 2603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130055" name="Freeform 3"/>
            <p:cNvSpPr>
              <a:spLocks/>
            </p:cNvSpPr>
            <p:nvPr/>
          </p:nvSpPr>
          <p:spPr bwMode="auto">
            <a:xfrm>
              <a:off x="803275" y="1546225"/>
              <a:ext cx="2133600" cy="1633537"/>
            </a:xfrm>
            <a:custGeom>
              <a:avLst/>
              <a:gdLst>
                <a:gd name="T0" fmla="*/ 500372 w 1292"/>
                <a:gd name="T1" fmla="*/ 2603 h 1255"/>
                <a:gd name="T2" fmla="*/ 72661 w 1292"/>
                <a:gd name="T3" fmla="*/ 62478 h 1255"/>
                <a:gd name="T4" fmla="*/ 57799 w 1292"/>
                <a:gd name="T5" fmla="*/ 206958 h 1255"/>
                <a:gd name="T6" fmla="*/ 108992 w 1292"/>
                <a:gd name="T7" fmla="*/ 329311 h 1255"/>
                <a:gd name="T8" fmla="*/ 513583 w 1292"/>
                <a:gd name="T9" fmla="*/ 344930 h 1255"/>
                <a:gd name="T10" fmla="*/ 1352491 w 1292"/>
                <a:gd name="T11" fmla="*/ 446457 h 1255"/>
                <a:gd name="T12" fmla="*/ 2082407 w 1292"/>
                <a:gd name="T13" fmla="*/ 489410 h 1255"/>
                <a:gd name="T14" fmla="*/ 2506815 w 1292"/>
                <a:gd name="T15" fmla="*/ 403503 h 1255"/>
                <a:gd name="T16" fmla="*/ 2658743 w 1292"/>
                <a:gd name="T17" fmla="*/ 175719 h 1255"/>
                <a:gd name="T18" fmla="*/ 2520026 w 1292"/>
                <a:gd name="T19" fmla="*/ 83304 h 1255"/>
                <a:gd name="T20" fmla="*/ 1567172 w 1292"/>
                <a:gd name="T21" fmla="*/ 45557 h 1255"/>
                <a:gd name="T22" fmla="*/ 500372 w 1292"/>
                <a:gd name="T23" fmla="*/ 2603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130056" name="Freeform 4"/>
            <p:cNvSpPr>
              <a:spLocks/>
            </p:cNvSpPr>
            <p:nvPr/>
          </p:nvSpPr>
          <p:spPr bwMode="auto">
            <a:xfrm>
              <a:off x="3394075" y="1435100"/>
              <a:ext cx="2362200" cy="2133600"/>
            </a:xfrm>
            <a:custGeom>
              <a:avLst/>
              <a:gdLst>
                <a:gd name="T0" fmla="*/ 1018379 w 1292"/>
                <a:gd name="T1" fmla="*/ 11901 h 1255"/>
                <a:gd name="T2" fmla="*/ 148095 w 1292"/>
                <a:gd name="T3" fmla="*/ 404619 h 1255"/>
                <a:gd name="T4" fmla="*/ 124326 w 1292"/>
                <a:gd name="T5" fmla="*/ 1343063 h 1255"/>
                <a:gd name="T6" fmla="*/ 224884 w 1292"/>
                <a:gd name="T7" fmla="*/ 2125100 h 1255"/>
                <a:gd name="T8" fmla="*/ 1043975 w 1292"/>
                <a:gd name="T9" fmla="*/ 2233905 h 1255"/>
                <a:gd name="T10" fmla="*/ 2760776 w 1292"/>
                <a:gd name="T11" fmla="*/ 2895236 h 1255"/>
                <a:gd name="T12" fmla="*/ 4247206 w 1292"/>
                <a:gd name="T13" fmla="*/ 3174049 h 1255"/>
                <a:gd name="T14" fmla="*/ 5117491 w 1292"/>
                <a:gd name="T15" fmla="*/ 2618123 h 1255"/>
                <a:gd name="T16" fmla="*/ 5424650 w 1292"/>
                <a:gd name="T17" fmla="*/ 1144154 h 1255"/>
                <a:gd name="T18" fmla="*/ 5144915 w 1292"/>
                <a:gd name="T19" fmla="*/ 540625 h 1255"/>
                <a:gd name="T20" fmla="*/ 3197746 w 1292"/>
                <a:gd name="T21" fmla="*/ 294114 h 1255"/>
                <a:gd name="T22" fmla="*/ 1018379 w 1292"/>
                <a:gd name="T23" fmla="*/ 11901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130057" name="Line 39"/>
            <p:cNvSpPr>
              <a:spLocks noChangeShapeType="1"/>
            </p:cNvSpPr>
            <p:nvPr/>
          </p:nvSpPr>
          <p:spPr bwMode="auto">
            <a:xfrm>
              <a:off x="1898650" y="2238375"/>
              <a:ext cx="8032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0058" name="Line 40"/>
            <p:cNvSpPr>
              <a:spLocks noChangeShapeType="1"/>
            </p:cNvSpPr>
            <p:nvPr/>
          </p:nvSpPr>
          <p:spPr bwMode="auto">
            <a:xfrm>
              <a:off x="6373813" y="2376488"/>
              <a:ext cx="6921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0059" name="Line 41"/>
            <p:cNvSpPr>
              <a:spLocks noChangeShapeType="1"/>
            </p:cNvSpPr>
            <p:nvPr/>
          </p:nvSpPr>
          <p:spPr bwMode="auto">
            <a:xfrm>
              <a:off x="3284538" y="2279650"/>
              <a:ext cx="3873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0060" name="Line 42"/>
            <p:cNvSpPr>
              <a:spLocks noChangeShapeType="1"/>
            </p:cNvSpPr>
            <p:nvPr/>
          </p:nvSpPr>
          <p:spPr bwMode="auto">
            <a:xfrm flipH="1">
              <a:off x="5453433" y="2303754"/>
              <a:ext cx="2905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0061" name="Text Box 43"/>
            <p:cNvSpPr txBox="1">
              <a:spLocks noChangeArrowheads="1"/>
            </p:cNvSpPr>
            <p:nvPr/>
          </p:nvSpPr>
          <p:spPr bwMode="auto">
            <a:xfrm>
              <a:off x="4840118" y="1954213"/>
              <a:ext cx="1152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193.68.2.23</a:t>
              </a:r>
            </a:p>
          </p:txBody>
        </p:sp>
        <p:sp>
          <p:nvSpPr>
            <p:cNvPr id="130062" name="Text Box 44"/>
            <p:cNvSpPr txBox="1">
              <a:spLocks noChangeArrowheads="1"/>
            </p:cNvSpPr>
            <p:nvPr/>
          </p:nvSpPr>
          <p:spPr bwMode="auto">
            <a:xfrm>
              <a:off x="3337682" y="1942287"/>
              <a:ext cx="13328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200.168.1.100</a:t>
              </a:r>
            </a:p>
          </p:txBody>
        </p:sp>
        <p:sp>
          <p:nvSpPr>
            <p:cNvPr id="130063" name="Text Box 45"/>
            <p:cNvSpPr txBox="1">
              <a:spLocks noChangeArrowheads="1"/>
            </p:cNvSpPr>
            <p:nvPr/>
          </p:nvSpPr>
          <p:spPr bwMode="auto">
            <a:xfrm>
              <a:off x="1184275" y="2730500"/>
              <a:ext cx="1141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172.16.1/24</a:t>
              </a:r>
            </a:p>
          </p:txBody>
        </p:sp>
        <p:sp>
          <p:nvSpPr>
            <p:cNvPr id="130064" name="Text Box 46"/>
            <p:cNvSpPr txBox="1">
              <a:spLocks noChangeArrowheads="1"/>
            </p:cNvSpPr>
            <p:nvPr/>
          </p:nvSpPr>
          <p:spPr bwMode="auto">
            <a:xfrm>
              <a:off x="6823075" y="2882900"/>
              <a:ext cx="11699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172.16.2/24</a:t>
              </a:r>
            </a:p>
          </p:txBody>
        </p:sp>
        <p:sp>
          <p:nvSpPr>
            <p:cNvPr id="130065" name="Text Box 48"/>
            <p:cNvSpPr txBox="1">
              <a:spLocks noChangeArrowheads="1"/>
            </p:cNvSpPr>
            <p:nvPr/>
          </p:nvSpPr>
          <p:spPr bwMode="auto">
            <a:xfrm>
              <a:off x="3625901" y="2391586"/>
              <a:ext cx="22766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i="1">
                  <a:solidFill>
                    <a:srgbClr val="CC0000"/>
                  </a:solidFill>
                  <a:latin typeface="Arial" pitchFamily="34" charset="0"/>
                  <a:cs typeface="Arial" pitchFamily="34" charset="0"/>
                </a:rPr>
                <a:t>security association </a:t>
              </a:r>
            </a:p>
          </p:txBody>
        </p:sp>
        <p:sp>
          <p:nvSpPr>
            <p:cNvPr id="130066" name="Text Box 49"/>
            <p:cNvSpPr txBox="1">
              <a:spLocks noChangeArrowheads="1"/>
            </p:cNvSpPr>
            <p:nvPr/>
          </p:nvSpPr>
          <p:spPr bwMode="auto">
            <a:xfrm>
              <a:off x="4325673" y="1210025"/>
              <a:ext cx="958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Internet</a:t>
              </a:r>
            </a:p>
          </p:txBody>
        </p:sp>
        <p:sp>
          <p:nvSpPr>
            <p:cNvPr id="130067" name="Text Box 50"/>
            <p:cNvSpPr txBox="1">
              <a:spLocks noChangeArrowheads="1"/>
            </p:cNvSpPr>
            <p:nvPr/>
          </p:nvSpPr>
          <p:spPr bwMode="auto">
            <a:xfrm>
              <a:off x="939800" y="9382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endParaRPr lang="en-US" altLang="en-US" sz="1800">
                <a:latin typeface="Arial" pitchFamily="34" charset="0"/>
              </a:endParaRPr>
            </a:p>
          </p:txBody>
        </p:sp>
        <p:sp>
          <p:nvSpPr>
            <p:cNvPr id="130068" name="Text Box 51"/>
            <p:cNvSpPr txBox="1">
              <a:spLocks noChangeArrowheads="1"/>
            </p:cNvSpPr>
            <p:nvPr/>
          </p:nvSpPr>
          <p:spPr bwMode="auto">
            <a:xfrm>
              <a:off x="1361796" y="1245263"/>
              <a:ext cx="156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headquarters</a:t>
              </a:r>
            </a:p>
          </p:txBody>
        </p:sp>
        <p:sp>
          <p:nvSpPr>
            <p:cNvPr id="130069" name="Text Box 52"/>
            <p:cNvSpPr txBox="1">
              <a:spLocks noChangeArrowheads="1"/>
            </p:cNvSpPr>
            <p:nvPr/>
          </p:nvSpPr>
          <p:spPr bwMode="auto">
            <a:xfrm>
              <a:off x="6531930" y="1384010"/>
              <a:ext cx="15277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branch office</a:t>
              </a:r>
            </a:p>
          </p:txBody>
        </p:sp>
        <p:sp>
          <p:nvSpPr>
            <p:cNvPr id="130070" name="Text Box 53"/>
            <p:cNvSpPr txBox="1">
              <a:spLocks noChangeArrowheads="1"/>
            </p:cNvSpPr>
            <p:nvPr/>
          </p:nvSpPr>
          <p:spPr bwMode="auto">
            <a:xfrm>
              <a:off x="2784475" y="2425700"/>
              <a:ext cx="476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R1</a:t>
              </a:r>
            </a:p>
          </p:txBody>
        </p:sp>
        <p:sp>
          <p:nvSpPr>
            <p:cNvPr id="130071" name="Text Box 54"/>
            <p:cNvSpPr txBox="1">
              <a:spLocks noChangeArrowheads="1"/>
            </p:cNvSpPr>
            <p:nvPr/>
          </p:nvSpPr>
          <p:spPr bwMode="auto">
            <a:xfrm>
              <a:off x="5832475" y="2578100"/>
              <a:ext cx="476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R2</a:t>
              </a:r>
            </a:p>
          </p:txBody>
        </p:sp>
        <p:grpSp>
          <p:nvGrpSpPr>
            <p:cNvPr id="130072" name="Group 542"/>
            <p:cNvGrpSpPr>
              <a:grpSpLocks/>
            </p:cNvGrpSpPr>
            <p:nvPr/>
          </p:nvGrpSpPr>
          <p:grpSpPr bwMode="auto">
            <a:xfrm>
              <a:off x="1119743" y="1870674"/>
              <a:ext cx="874568" cy="829136"/>
              <a:chOff x="-44" y="1473"/>
              <a:chExt cx="981" cy="1105"/>
            </a:xfrm>
          </p:grpSpPr>
          <p:pic>
            <p:nvPicPr>
              <p:cNvPr id="130095" name="Picture 5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96"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30073" name="Group 542"/>
            <p:cNvGrpSpPr>
              <a:grpSpLocks/>
            </p:cNvGrpSpPr>
            <p:nvPr/>
          </p:nvGrpSpPr>
          <p:grpSpPr bwMode="auto">
            <a:xfrm flipH="1">
              <a:off x="6816238" y="2036728"/>
              <a:ext cx="874568" cy="829136"/>
              <a:chOff x="-44" y="1473"/>
              <a:chExt cx="981" cy="1105"/>
            </a:xfrm>
          </p:grpSpPr>
          <p:pic>
            <p:nvPicPr>
              <p:cNvPr id="130093" name="Picture 5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94"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30074" name="Group 332"/>
            <p:cNvGrpSpPr>
              <a:grpSpLocks/>
            </p:cNvGrpSpPr>
            <p:nvPr/>
          </p:nvGrpSpPr>
          <p:grpSpPr bwMode="auto">
            <a:xfrm>
              <a:off x="5734462" y="2176433"/>
              <a:ext cx="693963" cy="287263"/>
              <a:chOff x="2356" y="1300"/>
              <a:chExt cx="555" cy="194"/>
            </a:xfrm>
          </p:grpSpPr>
          <p:sp>
            <p:nvSpPr>
              <p:cNvPr id="130085"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30086"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30087"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30088" name="Group 329"/>
              <p:cNvGrpSpPr>
                <a:grpSpLocks/>
              </p:cNvGrpSpPr>
              <p:nvPr/>
            </p:nvGrpSpPr>
            <p:grpSpPr bwMode="auto">
              <a:xfrm>
                <a:off x="2468" y="1332"/>
                <a:ext cx="310" cy="60"/>
                <a:chOff x="2468" y="1332"/>
                <a:chExt cx="310" cy="60"/>
              </a:xfrm>
            </p:grpSpPr>
            <p:sp>
              <p:nvSpPr>
                <p:cNvPr id="130091"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30092"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73"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sp>
            <p:nvSpPr>
              <p:cNvPr id="74"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grpSp>
        <p:grpSp>
          <p:nvGrpSpPr>
            <p:cNvPr id="130075" name="Group 332"/>
            <p:cNvGrpSpPr>
              <a:grpSpLocks/>
            </p:cNvGrpSpPr>
            <p:nvPr/>
          </p:nvGrpSpPr>
          <p:grpSpPr bwMode="auto">
            <a:xfrm>
              <a:off x="2675447" y="2110629"/>
              <a:ext cx="693963" cy="287263"/>
              <a:chOff x="2356" y="1300"/>
              <a:chExt cx="555" cy="194"/>
            </a:xfrm>
          </p:grpSpPr>
          <p:sp>
            <p:nvSpPr>
              <p:cNvPr id="130077"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30078"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30079"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30080" name="Group 329"/>
              <p:cNvGrpSpPr>
                <a:grpSpLocks/>
              </p:cNvGrpSpPr>
              <p:nvPr/>
            </p:nvGrpSpPr>
            <p:grpSpPr bwMode="auto">
              <a:xfrm>
                <a:off x="2468" y="1332"/>
                <a:ext cx="310" cy="60"/>
                <a:chOff x="2468" y="1332"/>
                <a:chExt cx="310" cy="60"/>
              </a:xfrm>
            </p:grpSpPr>
            <p:sp>
              <p:nvSpPr>
                <p:cNvPr id="130083"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30084"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82" name="Line 330"/>
              <p:cNvSpPr>
                <a:spLocks noChangeShapeType="1"/>
              </p:cNvSpPr>
              <p:nvPr/>
            </p:nvSpPr>
            <p:spPr bwMode="auto">
              <a:xfrm>
                <a:off x="2357" y="1362"/>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sp>
            <p:nvSpPr>
              <p:cNvPr id="83"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grpSp>
        <p:sp>
          <p:nvSpPr>
            <p:cNvPr id="130076" name="Right Arrow 2"/>
            <p:cNvSpPr>
              <a:spLocks noChangeArrowheads="1"/>
            </p:cNvSpPr>
            <p:nvPr/>
          </p:nvSpPr>
          <p:spPr bwMode="auto">
            <a:xfrm>
              <a:off x="3390448" y="2327496"/>
              <a:ext cx="2361006" cy="151063"/>
            </a:xfrm>
            <a:prstGeom prst="rightArrow">
              <a:avLst>
                <a:gd name="adj1" fmla="val 50000"/>
                <a:gd name="adj2" fmla="val 49999"/>
              </a:avLst>
            </a:prstGeom>
            <a:gradFill rotWithShape="1">
              <a:gsLst>
                <a:gs pos="0">
                  <a:srgbClr val="CC0000"/>
                </a:gs>
                <a:gs pos="100000">
                  <a:srgbClr val="FFFFFF"/>
                </a:gs>
              </a:gsLst>
              <a:lin ang="360000"/>
            </a:gradFill>
            <a:ln w="9525">
              <a:solidFill>
                <a:srgbClr val="800000"/>
              </a:solidFill>
              <a:round/>
              <a:headEnd/>
              <a:tailEnd/>
            </a:ln>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gr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3" name="Picture 1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063" y="876300"/>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1"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31075" name="Rectangle 4"/>
          <p:cNvSpPr>
            <a:spLocks noChangeArrowheads="1"/>
          </p:cNvSpPr>
          <p:nvPr/>
        </p:nvSpPr>
        <p:spPr bwMode="auto">
          <a:xfrm>
            <a:off x="333375" y="155575"/>
            <a:ext cx="8353425"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4000">
                <a:solidFill>
                  <a:schemeClr val="accent2"/>
                </a:solidFill>
                <a:latin typeface="Gill Sans MT" pitchFamily="34" charset="0"/>
              </a:rPr>
              <a:t>Security Association Database (SAD)</a:t>
            </a:r>
          </a:p>
        </p:txBody>
      </p:sp>
      <p:sp>
        <p:nvSpPr>
          <p:cNvPr id="131076" name="Rectangle 5"/>
          <p:cNvSpPr>
            <a:spLocks noChangeArrowheads="1"/>
          </p:cNvSpPr>
          <p:nvPr/>
        </p:nvSpPr>
        <p:spPr bwMode="auto">
          <a:xfrm>
            <a:off x="449263" y="1584325"/>
            <a:ext cx="77724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rgbClr val="000099"/>
              </a:buClr>
              <a:buSzPct val="75000"/>
              <a:buFont typeface="Wingdings" pitchFamily="2" charset="2"/>
              <a:buChar char="v"/>
            </a:pPr>
            <a:r>
              <a:rPr lang="en-US" altLang="en-US" sz="2800">
                <a:latin typeface="Gill Sans MT" pitchFamily="34" charset="0"/>
              </a:rPr>
              <a:t>endpoint holds SA state in </a:t>
            </a:r>
            <a:r>
              <a:rPr lang="en-US" altLang="en-US" sz="2800" i="1">
                <a:solidFill>
                  <a:srgbClr val="CC0000"/>
                </a:solidFill>
                <a:latin typeface="Gill Sans MT" pitchFamily="34" charset="0"/>
              </a:rPr>
              <a:t>security association database (SAD)</a:t>
            </a:r>
            <a:r>
              <a:rPr lang="en-US" altLang="en-US" sz="2800">
                <a:latin typeface="Gill Sans MT" pitchFamily="34" charset="0"/>
              </a:rPr>
              <a:t>, where it can locate them during processing.</a:t>
            </a:r>
          </a:p>
          <a:p>
            <a:pPr>
              <a:spcBef>
                <a:spcPct val="20000"/>
              </a:spcBef>
              <a:buClr>
                <a:srgbClr val="000099"/>
              </a:buClr>
              <a:buSzPct val="75000"/>
              <a:buFont typeface="Wingdings" pitchFamily="2" charset="2"/>
              <a:buChar char="v"/>
            </a:pPr>
            <a:r>
              <a:rPr lang="en-US" altLang="en-US" sz="2800">
                <a:latin typeface="Gill Sans MT" pitchFamily="34" charset="0"/>
              </a:rPr>
              <a:t>with n salespersons, 2 + 2n SAs in R1</a:t>
            </a:r>
            <a:r>
              <a:rPr lang="ja-JP" altLang="en-US" sz="2800">
                <a:latin typeface="Gill Sans MT" pitchFamily="34" charset="0"/>
              </a:rPr>
              <a:t>’</a:t>
            </a:r>
            <a:r>
              <a:rPr lang="en-US" altLang="ja-JP" sz="2800">
                <a:latin typeface="Gill Sans MT" pitchFamily="34" charset="0"/>
              </a:rPr>
              <a:t>s SAD</a:t>
            </a:r>
          </a:p>
          <a:p>
            <a:pPr>
              <a:spcBef>
                <a:spcPct val="20000"/>
              </a:spcBef>
              <a:buClr>
                <a:srgbClr val="000099"/>
              </a:buClr>
              <a:buSzPct val="75000"/>
              <a:buFont typeface="Wingdings" pitchFamily="2" charset="2"/>
              <a:buChar char="v"/>
            </a:pPr>
            <a:r>
              <a:rPr lang="en-US" altLang="en-US" sz="2800">
                <a:latin typeface="Gill Sans MT" pitchFamily="34" charset="0"/>
              </a:rPr>
              <a:t>when sending IPsec datagram, R1 accesses SAD to determine how to process datagram.</a:t>
            </a:r>
          </a:p>
          <a:p>
            <a:pPr>
              <a:spcBef>
                <a:spcPct val="20000"/>
              </a:spcBef>
              <a:buClr>
                <a:srgbClr val="000099"/>
              </a:buClr>
              <a:buSzPct val="75000"/>
              <a:buFont typeface="Wingdings" pitchFamily="2" charset="2"/>
              <a:buChar char="v"/>
            </a:pPr>
            <a:r>
              <a:rPr lang="en-US" altLang="en-US" sz="2800">
                <a:latin typeface="Gill Sans MT" pitchFamily="34" charset="0"/>
              </a:rPr>
              <a:t>when IPsec datagram arrives to R2, R2 examines SPI in IPsec datagram, indexes SAD with SPI, and processes datagram accordingly.</a:t>
            </a:r>
          </a:p>
          <a:p>
            <a:pPr>
              <a:spcBef>
                <a:spcPct val="20000"/>
              </a:spcBef>
              <a:buClr>
                <a:srgbClr val="000099"/>
              </a:buClr>
              <a:buSzPct val="75000"/>
              <a:buFont typeface="Wingdings" pitchFamily="2" charset="2"/>
              <a:buChar char="v"/>
            </a:pPr>
            <a:endParaRPr lang="en-US" altLang="en-US" sz="2400"/>
          </a:p>
          <a:p>
            <a:pPr>
              <a:spcBef>
                <a:spcPct val="20000"/>
              </a:spcBef>
              <a:buClr>
                <a:schemeClr val="accent2"/>
              </a:buClr>
              <a:buSzPct val="85000"/>
              <a:buFont typeface="ZapfDingbats" pitchFamily="82" charset="2"/>
              <a:buChar char="r"/>
            </a:pPr>
            <a:endParaRPr lang="en-US" altLang="en-US" sz="2800"/>
          </a:p>
          <a:p>
            <a:pPr>
              <a:spcBef>
                <a:spcPct val="20000"/>
              </a:spcBef>
              <a:buClr>
                <a:schemeClr val="accent2"/>
              </a:buClr>
              <a:buSzPct val="85000"/>
              <a:buFont typeface="ZapfDingbats" pitchFamily="82" charset="2"/>
              <a:buChar char="r"/>
            </a:pPr>
            <a:endParaRPr lang="en-US" altLang="en-US" sz="280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32098" name="Rectangle 2"/>
          <p:cNvSpPr>
            <a:spLocks noGrp="1" noChangeArrowheads="1"/>
          </p:cNvSpPr>
          <p:nvPr>
            <p:ph type="title"/>
          </p:nvPr>
        </p:nvSpPr>
        <p:spPr/>
        <p:txBody>
          <a:bodyPr/>
          <a:lstStyle/>
          <a:p>
            <a:r>
              <a:rPr lang="en-US" altLang="en-US" smtClean="0">
                <a:ea typeface="ＭＳ Ｐゴシック" pitchFamily="34" charset="-128"/>
              </a:rPr>
              <a:t>IPsec datagram</a:t>
            </a:r>
          </a:p>
        </p:txBody>
      </p:sp>
      <p:sp>
        <p:nvSpPr>
          <p:cNvPr id="132099" name="Rectangle 3"/>
          <p:cNvSpPr>
            <a:spLocks noGrp="1" noChangeArrowheads="1"/>
          </p:cNvSpPr>
          <p:nvPr>
            <p:ph type="body" idx="1"/>
          </p:nvPr>
        </p:nvSpPr>
        <p:spPr>
          <a:xfrm>
            <a:off x="519113" y="1531938"/>
            <a:ext cx="7772400" cy="4648200"/>
          </a:xfrm>
        </p:spPr>
        <p:txBody>
          <a:bodyPr/>
          <a:lstStyle/>
          <a:p>
            <a:pPr>
              <a:buFont typeface="Wingdings" pitchFamily="2" charset="2"/>
              <a:buNone/>
            </a:pPr>
            <a:r>
              <a:rPr lang="en-US" altLang="en-US" smtClean="0">
                <a:ea typeface="ＭＳ Ｐゴシック" pitchFamily="34" charset="-128"/>
              </a:rPr>
              <a:t>focus for now on tunnel mode with ESP</a:t>
            </a:r>
          </a:p>
        </p:txBody>
      </p:sp>
      <p:grpSp>
        <p:nvGrpSpPr>
          <p:cNvPr id="132100" name="Group 4"/>
          <p:cNvGrpSpPr>
            <a:grpSpLocks/>
          </p:cNvGrpSpPr>
          <p:nvPr/>
        </p:nvGrpSpPr>
        <p:grpSpPr bwMode="auto">
          <a:xfrm>
            <a:off x="928688" y="2655888"/>
            <a:ext cx="6484937" cy="2603500"/>
            <a:chOff x="672" y="1044"/>
            <a:chExt cx="4085" cy="1640"/>
          </a:xfrm>
        </p:grpSpPr>
        <p:sp>
          <p:nvSpPr>
            <p:cNvPr id="132102" name="Rectangle 5"/>
            <p:cNvSpPr>
              <a:spLocks noChangeArrowheads="1"/>
            </p:cNvSpPr>
            <p:nvPr/>
          </p:nvSpPr>
          <p:spPr bwMode="auto">
            <a:xfrm>
              <a:off x="672" y="1590"/>
              <a:ext cx="711" cy="38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new IP</a:t>
              </a:r>
              <a:br>
                <a:rPr lang="en-US" altLang="en-US" sz="1600">
                  <a:latin typeface="Arial" pitchFamily="34" charset="0"/>
                </a:rPr>
              </a:br>
              <a:r>
                <a:rPr lang="en-US" altLang="en-US" sz="1600">
                  <a:latin typeface="Arial" pitchFamily="34" charset="0"/>
                </a:rPr>
                <a:t>header</a:t>
              </a:r>
            </a:p>
          </p:txBody>
        </p:sp>
        <p:sp>
          <p:nvSpPr>
            <p:cNvPr id="132103" name="Rectangle 6"/>
            <p:cNvSpPr>
              <a:spLocks noChangeArrowheads="1"/>
            </p:cNvSpPr>
            <p:nvPr/>
          </p:nvSpPr>
          <p:spPr bwMode="auto">
            <a:xfrm>
              <a:off x="1383" y="1590"/>
              <a:ext cx="441" cy="384"/>
            </a:xfrm>
            <a:prstGeom prst="rect">
              <a:avLst/>
            </a:prstGeom>
            <a:solidFill>
              <a:srgbClr val="FF99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ESP</a:t>
              </a:r>
            </a:p>
            <a:p>
              <a:pPr algn="ctr" eaLnBrk="1" hangingPunct="1"/>
              <a:r>
                <a:rPr lang="en-US" altLang="en-US" sz="1600">
                  <a:latin typeface="Arial" pitchFamily="34" charset="0"/>
                </a:rPr>
                <a:t>hdr</a:t>
              </a:r>
            </a:p>
          </p:txBody>
        </p:sp>
        <p:sp>
          <p:nvSpPr>
            <p:cNvPr id="132104" name="Rectangle 7"/>
            <p:cNvSpPr>
              <a:spLocks noChangeArrowheads="1"/>
            </p:cNvSpPr>
            <p:nvPr/>
          </p:nvSpPr>
          <p:spPr bwMode="auto">
            <a:xfrm>
              <a:off x="1824" y="1590"/>
              <a:ext cx="615"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original</a:t>
              </a:r>
              <a:br>
                <a:rPr lang="en-US" altLang="en-US" sz="1600">
                  <a:latin typeface="Arial" pitchFamily="34" charset="0"/>
                </a:rPr>
              </a:br>
              <a:r>
                <a:rPr lang="en-US" altLang="en-US" sz="1600">
                  <a:latin typeface="Arial" pitchFamily="34" charset="0"/>
                </a:rPr>
                <a:t>IP hdr</a:t>
              </a:r>
            </a:p>
          </p:txBody>
        </p:sp>
        <p:sp>
          <p:nvSpPr>
            <p:cNvPr id="132105" name="Rectangle 8"/>
            <p:cNvSpPr>
              <a:spLocks noChangeArrowheads="1"/>
            </p:cNvSpPr>
            <p:nvPr/>
          </p:nvSpPr>
          <p:spPr bwMode="auto">
            <a:xfrm>
              <a:off x="2439" y="1590"/>
              <a:ext cx="1401"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Original IP</a:t>
              </a:r>
            </a:p>
            <a:p>
              <a:pPr algn="ctr" eaLnBrk="1" hangingPunct="1"/>
              <a:r>
                <a:rPr lang="en-US" altLang="en-US" sz="1600">
                  <a:latin typeface="Arial" pitchFamily="34" charset="0"/>
                </a:rPr>
                <a:t>datagram payload</a:t>
              </a:r>
            </a:p>
          </p:txBody>
        </p:sp>
        <p:sp>
          <p:nvSpPr>
            <p:cNvPr id="132106" name="Rectangle 9"/>
            <p:cNvSpPr>
              <a:spLocks noChangeArrowheads="1"/>
            </p:cNvSpPr>
            <p:nvPr/>
          </p:nvSpPr>
          <p:spPr bwMode="auto">
            <a:xfrm>
              <a:off x="3840" y="1593"/>
              <a:ext cx="441"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ESP</a:t>
              </a:r>
            </a:p>
            <a:p>
              <a:pPr algn="ctr" eaLnBrk="1" hangingPunct="1"/>
              <a:r>
                <a:rPr lang="en-US" altLang="en-US" sz="1600">
                  <a:latin typeface="Arial" pitchFamily="34" charset="0"/>
                </a:rPr>
                <a:t>trl</a:t>
              </a:r>
            </a:p>
          </p:txBody>
        </p:sp>
        <p:sp>
          <p:nvSpPr>
            <p:cNvPr id="132107" name="Rectangle 10"/>
            <p:cNvSpPr>
              <a:spLocks noChangeArrowheads="1"/>
            </p:cNvSpPr>
            <p:nvPr/>
          </p:nvSpPr>
          <p:spPr bwMode="auto">
            <a:xfrm>
              <a:off x="4285" y="1593"/>
              <a:ext cx="441" cy="384"/>
            </a:xfrm>
            <a:prstGeom prst="rect">
              <a:avLst/>
            </a:prstGeom>
            <a:solidFill>
              <a:srgbClr val="FFFF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ESP</a:t>
              </a:r>
            </a:p>
            <a:p>
              <a:pPr algn="ctr" eaLnBrk="1" hangingPunct="1"/>
              <a:r>
                <a:rPr lang="en-US" altLang="en-US" sz="1600">
                  <a:latin typeface="Arial" pitchFamily="34" charset="0"/>
                </a:rPr>
                <a:t>auth</a:t>
              </a:r>
            </a:p>
          </p:txBody>
        </p:sp>
        <p:grpSp>
          <p:nvGrpSpPr>
            <p:cNvPr id="132108" name="Group 11"/>
            <p:cNvGrpSpPr>
              <a:grpSpLocks/>
            </p:cNvGrpSpPr>
            <p:nvPr/>
          </p:nvGrpSpPr>
          <p:grpSpPr bwMode="auto">
            <a:xfrm>
              <a:off x="1370" y="1044"/>
              <a:ext cx="2871" cy="501"/>
              <a:chOff x="1388" y="992"/>
              <a:chExt cx="2871" cy="501"/>
            </a:xfrm>
          </p:grpSpPr>
          <p:sp>
            <p:nvSpPr>
              <p:cNvPr id="132121" name="Text Box 12"/>
              <p:cNvSpPr txBox="1">
                <a:spLocks noChangeArrowheads="1"/>
              </p:cNvSpPr>
              <p:nvPr/>
            </p:nvSpPr>
            <p:spPr bwMode="auto">
              <a:xfrm>
                <a:off x="2664" y="1262"/>
                <a:ext cx="7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encrypted</a:t>
                </a:r>
              </a:p>
            </p:txBody>
          </p:sp>
          <p:sp>
            <p:nvSpPr>
              <p:cNvPr id="132122" name="Line 13"/>
              <p:cNvSpPr>
                <a:spLocks noChangeShapeType="1"/>
              </p:cNvSpPr>
              <p:nvPr/>
            </p:nvSpPr>
            <p:spPr bwMode="auto">
              <a:xfrm>
                <a:off x="3422" y="1379"/>
                <a:ext cx="8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32123" name="Line 14"/>
              <p:cNvSpPr>
                <a:spLocks noChangeShapeType="1"/>
              </p:cNvSpPr>
              <p:nvPr/>
            </p:nvSpPr>
            <p:spPr bwMode="auto">
              <a:xfrm flipH="1" flipV="1">
                <a:off x="1876" y="1379"/>
                <a:ext cx="776"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32124" name="Text Box 15"/>
              <p:cNvSpPr txBox="1">
                <a:spLocks noChangeArrowheads="1"/>
              </p:cNvSpPr>
              <p:nvPr/>
            </p:nvSpPr>
            <p:spPr bwMode="auto">
              <a:xfrm>
                <a:off x="2018" y="992"/>
                <a:ext cx="17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ja-JP" altLang="en-US" sz="1800">
                    <a:latin typeface="Arial" pitchFamily="34" charset="0"/>
                  </a:rPr>
                  <a:t>“</a:t>
                </a:r>
                <a:r>
                  <a:rPr lang="en-US" altLang="ja-JP" sz="1800">
                    <a:latin typeface="Arial" pitchFamily="34" charset="0"/>
                  </a:rPr>
                  <a:t>enchilada</a:t>
                </a:r>
                <a:r>
                  <a:rPr lang="ja-JP" altLang="en-US" sz="1800">
                    <a:latin typeface="Arial" pitchFamily="34" charset="0"/>
                  </a:rPr>
                  <a:t>”</a:t>
                </a:r>
                <a:r>
                  <a:rPr lang="en-US" altLang="ja-JP" sz="1800">
                    <a:latin typeface="Arial" pitchFamily="34" charset="0"/>
                  </a:rPr>
                  <a:t> authenticated</a:t>
                </a:r>
                <a:endParaRPr lang="en-US" altLang="en-US" sz="1800">
                  <a:latin typeface="Arial" pitchFamily="34" charset="0"/>
                </a:endParaRPr>
              </a:p>
            </p:txBody>
          </p:sp>
          <p:sp>
            <p:nvSpPr>
              <p:cNvPr id="132125" name="Line 16"/>
              <p:cNvSpPr>
                <a:spLocks noChangeShapeType="1"/>
              </p:cNvSpPr>
              <p:nvPr/>
            </p:nvSpPr>
            <p:spPr bwMode="auto">
              <a:xfrm>
                <a:off x="3761" y="1108"/>
                <a:ext cx="498"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32126" name="Line 17"/>
              <p:cNvSpPr>
                <a:spLocks noChangeShapeType="1"/>
              </p:cNvSpPr>
              <p:nvPr/>
            </p:nvSpPr>
            <p:spPr bwMode="auto">
              <a:xfrm flipH="1" flipV="1">
                <a:off x="1388" y="1091"/>
                <a:ext cx="672" cy="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grpSp>
          <p:nvGrpSpPr>
            <p:cNvPr id="132109" name="Group 18"/>
            <p:cNvGrpSpPr>
              <a:grpSpLocks/>
            </p:cNvGrpSpPr>
            <p:nvPr/>
          </p:nvGrpSpPr>
          <p:grpSpPr bwMode="auto">
            <a:xfrm>
              <a:off x="3320" y="2288"/>
              <a:ext cx="1437" cy="384"/>
              <a:chOff x="3346" y="2367"/>
              <a:chExt cx="1437" cy="384"/>
            </a:xfrm>
          </p:grpSpPr>
          <p:sp>
            <p:nvSpPr>
              <p:cNvPr id="132118" name="Rectangle 19"/>
              <p:cNvSpPr>
                <a:spLocks noChangeArrowheads="1"/>
              </p:cNvSpPr>
              <p:nvPr/>
            </p:nvSpPr>
            <p:spPr bwMode="auto">
              <a:xfrm>
                <a:off x="3346" y="2367"/>
                <a:ext cx="529"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padding</a:t>
                </a:r>
              </a:p>
            </p:txBody>
          </p:sp>
          <p:sp>
            <p:nvSpPr>
              <p:cNvPr id="132119" name="Rectangle 20"/>
              <p:cNvSpPr>
                <a:spLocks noChangeArrowheads="1"/>
              </p:cNvSpPr>
              <p:nvPr/>
            </p:nvSpPr>
            <p:spPr bwMode="auto">
              <a:xfrm>
                <a:off x="3878" y="2367"/>
                <a:ext cx="468"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pad</a:t>
                </a:r>
                <a:br>
                  <a:rPr lang="en-US" altLang="en-US" sz="1600">
                    <a:latin typeface="Arial" pitchFamily="34" charset="0"/>
                  </a:rPr>
                </a:br>
                <a:r>
                  <a:rPr lang="en-US" altLang="en-US" sz="1600">
                    <a:latin typeface="Arial" pitchFamily="34" charset="0"/>
                  </a:rPr>
                  <a:t>length</a:t>
                </a:r>
              </a:p>
            </p:txBody>
          </p:sp>
          <p:sp>
            <p:nvSpPr>
              <p:cNvPr id="132120" name="Rectangle 21"/>
              <p:cNvSpPr>
                <a:spLocks noChangeArrowheads="1"/>
              </p:cNvSpPr>
              <p:nvPr/>
            </p:nvSpPr>
            <p:spPr bwMode="auto">
              <a:xfrm>
                <a:off x="4341" y="2367"/>
                <a:ext cx="442"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next</a:t>
                </a:r>
                <a:br>
                  <a:rPr lang="en-US" altLang="en-US" sz="1600">
                    <a:latin typeface="Arial" pitchFamily="34" charset="0"/>
                  </a:rPr>
                </a:br>
                <a:r>
                  <a:rPr lang="en-US" altLang="en-US" sz="1600">
                    <a:latin typeface="Arial" pitchFamily="34" charset="0"/>
                  </a:rPr>
                  <a:t>header</a:t>
                </a:r>
              </a:p>
            </p:txBody>
          </p:sp>
        </p:grpSp>
        <p:sp>
          <p:nvSpPr>
            <p:cNvPr id="132110" name="Line 22"/>
            <p:cNvSpPr>
              <a:spLocks noChangeShapeType="1"/>
            </p:cNvSpPr>
            <p:nvPr/>
          </p:nvSpPr>
          <p:spPr bwMode="auto">
            <a:xfrm flipV="1">
              <a:off x="3334" y="2007"/>
              <a:ext cx="506" cy="2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2111" name="Line 23"/>
            <p:cNvSpPr>
              <a:spLocks noChangeShapeType="1"/>
            </p:cNvSpPr>
            <p:nvPr/>
          </p:nvSpPr>
          <p:spPr bwMode="auto">
            <a:xfrm flipH="1" flipV="1">
              <a:off x="4277" y="1998"/>
              <a:ext cx="471"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nvGrpSpPr>
            <p:cNvPr id="132112" name="Group 24"/>
            <p:cNvGrpSpPr>
              <a:grpSpLocks/>
            </p:cNvGrpSpPr>
            <p:nvPr/>
          </p:nvGrpSpPr>
          <p:grpSpPr bwMode="auto">
            <a:xfrm>
              <a:off x="1182" y="2290"/>
              <a:ext cx="877" cy="394"/>
              <a:chOff x="1409" y="2193"/>
              <a:chExt cx="877" cy="386"/>
            </a:xfrm>
          </p:grpSpPr>
          <p:sp>
            <p:nvSpPr>
              <p:cNvPr id="132116" name="Rectangle 25"/>
              <p:cNvSpPr>
                <a:spLocks noChangeArrowheads="1"/>
              </p:cNvSpPr>
              <p:nvPr/>
            </p:nvSpPr>
            <p:spPr bwMode="auto">
              <a:xfrm>
                <a:off x="1409" y="2193"/>
                <a:ext cx="441" cy="384"/>
              </a:xfrm>
              <a:prstGeom prst="rect">
                <a:avLst/>
              </a:prstGeom>
              <a:solidFill>
                <a:srgbClr val="FF99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SPI</a:t>
                </a:r>
              </a:p>
            </p:txBody>
          </p:sp>
          <p:sp>
            <p:nvSpPr>
              <p:cNvPr id="132117" name="Rectangle 26"/>
              <p:cNvSpPr>
                <a:spLocks noChangeArrowheads="1"/>
              </p:cNvSpPr>
              <p:nvPr/>
            </p:nvSpPr>
            <p:spPr bwMode="auto">
              <a:xfrm>
                <a:off x="1845" y="2195"/>
                <a:ext cx="441" cy="384"/>
              </a:xfrm>
              <a:prstGeom prst="rect">
                <a:avLst/>
              </a:prstGeom>
              <a:solidFill>
                <a:srgbClr val="FF99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Seq</a:t>
                </a:r>
              </a:p>
              <a:p>
                <a:pPr algn="ctr" eaLnBrk="1" hangingPunct="1"/>
                <a:r>
                  <a:rPr lang="en-US" altLang="en-US" sz="1600">
                    <a:latin typeface="Arial" pitchFamily="34" charset="0"/>
                  </a:rPr>
                  <a:t>#</a:t>
                </a:r>
              </a:p>
            </p:txBody>
          </p:sp>
        </p:grpSp>
        <p:sp>
          <p:nvSpPr>
            <p:cNvPr id="132113" name="Line 27"/>
            <p:cNvSpPr>
              <a:spLocks noChangeShapeType="1"/>
            </p:cNvSpPr>
            <p:nvPr/>
          </p:nvSpPr>
          <p:spPr bwMode="auto">
            <a:xfrm flipV="1">
              <a:off x="1178" y="1999"/>
              <a:ext cx="201" cy="2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2114" name="Line 28"/>
            <p:cNvSpPr>
              <a:spLocks noChangeShapeType="1"/>
            </p:cNvSpPr>
            <p:nvPr/>
          </p:nvSpPr>
          <p:spPr bwMode="auto">
            <a:xfrm>
              <a:off x="1824" y="2025"/>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2115" name="Line 29"/>
            <p:cNvSpPr>
              <a:spLocks noChangeShapeType="1"/>
            </p:cNvSpPr>
            <p:nvPr/>
          </p:nvSpPr>
          <p:spPr bwMode="auto">
            <a:xfrm>
              <a:off x="1815" y="1999"/>
              <a:ext cx="227" cy="2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pic>
        <p:nvPicPr>
          <p:cNvPr id="132101" name="Picture 24"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313" y="1052513"/>
            <a:ext cx="348773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33122" name="Rectangle 4"/>
          <p:cNvSpPr>
            <a:spLocks noGrp="1" noChangeArrowheads="1"/>
          </p:cNvSpPr>
          <p:nvPr>
            <p:ph type="title"/>
          </p:nvPr>
        </p:nvSpPr>
        <p:spPr>
          <a:xfrm>
            <a:off x="533400" y="0"/>
            <a:ext cx="7772400" cy="1143000"/>
          </a:xfrm>
        </p:spPr>
        <p:txBody>
          <a:bodyPr/>
          <a:lstStyle/>
          <a:p>
            <a:r>
              <a:rPr lang="en-US" altLang="en-US" smtClean="0">
                <a:ea typeface="ＭＳ Ｐゴシック" pitchFamily="34" charset="-128"/>
              </a:rPr>
              <a:t>What happens?</a:t>
            </a:r>
          </a:p>
        </p:txBody>
      </p:sp>
      <p:grpSp>
        <p:nvGrpSpPr>
          <p:cNvPr id="133123" name="Group 59"/>
          <p:cNvGrpSpPr>
            <a:grpSpLocks/>
          </p:cNvGrpSpPr>
          <p:nvPr/>
        </p:nvGrpSpPr>
        <p:grpSpPr bwMode="auto">
          <a:xfrm>
            <a:off x="928688" y="3875088"/>
            <a:ext cx="6484937" cy="2603500"/>
            <a:chOff x="672" y="1044"/>
            <a:chExt cx="4085" cy="1640"/>
          </a:xfrm>
        </p:grpSpPr>
        <p:sp>
          <p:nvSpPr>
            <p:cNvPr id="133169" name="Rectangle 60"/>
            <p:cNvSpPr>
              <a:spLocks noChangeArrowheads="1"/>
            </p:cNvSpPr>
            <p:nvPr/>
          </p:nvSpPr>
          <p:spPr bwMode="auto">
            <a:xfrm>
              <a:off x="672" y="1590"/>
              <a:ext cx="711" cy="38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new IP</a:t>
              </a:r>
              <a:br>
                <a:rPr lang="en-US" altLang="en-US" sz="1600">
                  <a:latin typeface="Arial" pitchFamily="34" charset="0"/>
                </a:rPr>
              </a:br>
              <a:r>
                <a:rPr lang="en-US" altLang="en-US" sz="1600">
                  <a:latin typeface="Arial" pitchFamily="34" charset="0"/>
                </a:rPr>
                <a:t>header</a:t>
              </a:r>
            </a:p>
          </p:txBody>
        </p:sp>
        <p:sp>
          <p:nvSpPr>
            <p:cNvPr id="133170" name="Rectangle 61"/>
            <p:cNvSpPr>
              <a:spLocks noChangeArrowheads="1"/>
            </p:cNvSpPr>
            <p:nvPr/>
          </p:nvSpPr>
          <p:spPr bwMode="auto">
            <a:xfrm>
              <a:off x="1383" y="1590"/>
              <a:ext cx="441" cy="384"/>
            </a:xfrm>
            <a:prstGeom prst="rect">
              <a:avLst/>
            </a:prstGeom>
            <a:solidFill>
              <a:srgbClr val="FF99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ESP</a:t>
              </a:r>
            </a:p>
            <a:p>
              <a:pPr algn="ctr" eaLnBrk="1" hangingPunct="1"/>
              <a:r>
                <a:rPr lang="en-US" altLang="en-US" sz="1600">
                  <a:latin typeface="Arial" pitchFamily="34" charset="0"/>
                </a:rPr>
                <a:t>hdr</a:t>
              </a:r>
            </a:p>
          </p:txBody>
        </p:sp>
        <p:sp>
          <p:nvSpPr>
            <p:cNvPr id="133171" name="Rectangle 62"/>
            <p:cNvSpPr>
              <a:spLocks noChangeArrowheads="1"/>
            </p:cNvSpPr>
            <p:nvPr/>
          </p:nvSpPr>
          <p:spPr bwMode="auto">
            <a:xfrm>
              <a:off x="1824" y="1590"/>
              <a:ext cx="615"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original</a:t>
              </a:r>
              <a:br>
                <a:rPr lang="en-US" altLang="en-US" sz="1600">
                  <a:latin typeface="Arial" pitchFamily="34" charset="0"/>
                </a:rPr>
              </a:br>
              <a:r>
                <a:rPr lang="en-US" altLang="en-US" sz="1600">
                  <a:latin typeface="Arial" pitchFamily="34" charset="0"/>
                </a:rPr>
                <a:t>IP hdr</a:t>
              </a:r>
            </a:p>
          </p:txBody>
        </p:sp>
        <p:sp>
          <p:nvSpPr>
            <p:cNvPr id="133172" name="Rectangle 63"/>
            <p:cNvSpPr>
              <a:spLocks noChangeArrowheads="1"/>
            </p:cNvSpPr>
            <p:nvPr/>
          </p:nvSpPr>
          <p:spPr bwMode="auto">
            <a:xfrm>
              <a:off x="2439" y="1590"/>
              <a:ext cx="1401"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Original IP</a:t>
              </a:r>
            </a:p>
            <a:p>
              <a:pPr algn="ctr" eaLnBrk="1" hangingPunct="1"/>
              <a:r>
                <a:rPr lang="en-US" altLang="en-US" sz="1600">
                  <a:latin typeface="Arial" pitchFamily="34" charset="0"/>
                </a:rPr>
                <a:t>datagram payload</a:t>
              </a:r>
            </a:p>
          </p:txBody>
        </p:sp>
        <p:sp>
          <p:nvSpPr>
            <p:cNvPr id="133173" name="Rectangle 64"/>
            <p:cNvSpPr>
              <a:spLocks noChangeArrowheads="1"/>
            </p:cNvSpPr>
            <p:nvPr/>
          </p:nvSpPr>
          <p:spPr bwMode="auto">
            <a:xfrm>
              <a:off x="3840" y="1593"/>
              <a:ext cx="441"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ESP</a:t>
              </a:r>
            </a:p>
            <a:p>
              <a:pPr algn="ctr" eaLnBrk="1" hangingPunct="1"/>
              <a:r>
                <a:rPr lang="en-US" altLang="en-US" sz="1600">
                  <a:latin typeface="Arial" pitchFamily="34" charset="0"/>
                </a:rPr>
                <a:t>trl</a:t>
              </a:r>
            </a:p>
          </p:txBody>
        </p:sp>
        <p:sp>
          <p:nvSpPr>
            <p:cNvPr id="133174" name="Rectangle 65"/>
            <p:cNvSpPr>
              <a:spLocks noChangeArrowheads="1"/>
            </p:cNvSpPr>
            <p:nvPr/>
          </p:nvSpPr>
          <p:spPr bwMode="auto">
            <a:xfrm>
              <a:off x="4285" y="1593"/>
              <a:ext cx="441" cy="384"/>
            </a:xfrm>
            <a:prstGeom prst="rect">
              <a:avLst/>
            </a:prstGeom>
            <a:solidFill>
              <a:srgbClr val="FFFF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ESP</a:t>
              </a:r>
            </a:p>
            <a:p>
              <a:pPr algn="ctr" eaLnBrk="1" hangingPunct="1"/>
              <a:r>
                <a:rPr lang="en-US" altLang="en-US" sz="1600">
                  <a:latin typeface="Arial" pitchFamily="34" charset="0"/>
                </a:rPr>
                <a:t>auth</a:t>
              </a:r>
            </a:p>
          </p:txBody>
        </p:sp>
        <p:grpSp>
          <p:nvGrpSpPr>
            <p:cNvPr id="133175" name="Group 66"/>
            <p:cNvGrpSpPr>
              <a:grpSpLocks/>
            </p:cNvGrpSpPr>
            <p:nvPr/>
          </p:nvGrpSpPr>
          <p:grpSpPr bwMode="auto">
            <a:xfrm>
              <a:off x="1370" y="1044"/>
              <a:ext cx="2871" cy="501"/>
              <a:chOff x="1388" y="992"/>
              <a:chExt cx="2871" cy="501"/>
            </a:xfrm>
          </p:grpSpPr>
          <p:sp>
            <p:nvSpPr>
              <p:cNvPr id="133188" name="Text Box 67"/>
              <p:cNvSpPr txBox="1">
                <a:spLocks noChangeArrowheads="1"/>
              </p:cNvSpPr>
              <p:nvPr/>
            </p:nvSpPr>
            <p:spPr bwMode="auto">
              <a:xfrm>
                <a:off x="2664" y="1262"/>
                <a:ext cx="7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encrypted</a:t>
                </a:r>
              </a:p>
            </p:txBody>
          </p:sp>
          <p:sp>
            <p:nvSpPr>
              <p:cNvPr id="133189" name="Line 68"/>
              <p:cNvSpPr>
                <a:spLocks noChangeShapeType="1"/>
              </p:cNvSpPr>
              <p:nvPr/>
            </p:nvSpPr>
            <p:spPr bwMode="auto">
              <a:xfrm>
                <a:off x="3422" y="1379"/>
                <a:ext cx="8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33190" name="Line 69"/>
              <p:cNvSpPr>
                <a:spLocks noChangeShapeType="1"/>
              </p:cNvSpPr>
              <p:nvPr/>
            </p:nvSpPr>
            <p:spPr bwMode="auto">
              <a:xfrm flipH="1" flipV="1">
                <a:off x="1876" y="1379"/>
                <a:ext cx="776"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33191" name="Text Box 70"/>
              <p:cNvSpPr txBox="1">
                <a:spLocks noChangeArrowheads="1"/>
              </p:cNvSpPr>
              <p:nvPr/>
            </p:nvSpPr>
            <p:spPr bwMode="auto">
              <a:xfrm>
                <a:off x="2018" y="992"/>
                <a:ext cx="17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ja-JP" altLang="en-US" sz="1800">
                    <a:latin typeface="Arial" pitchFamily="34" charset="0"/>
                  </a:rPr>
                  <a:t>“</a:t>
                </a:r>
                <a:r>
                  <a:rPr lang="en-US" altLang="ja-JP" sz="1800">
                    <a:latin typeface="Arial" pitchFamily="34" charset="0"/>
                  </a:rPr>
                  <a:t>enchilada</a:t>
                </a:r>
                <a:r>
                  <a:rPr lang="ja-JP" altLang="en-US" sz="1800">
                    <a:latin typeface="Arial" pitchFamily="34" charset="0"/>
                  </a:rPr>
                  <a:t>”</a:t>
                </a:r>
                <a:r>
                  <a:rPr lang="en-US" altLang="ja-JP" sz="1800">
                    <a:latin typeface="Arial" pitchFamily="34" charset="0"/>
                  </a:rPr>
                  <a:t> authenticated</a:t>
                </a:r>
                <a:endParaRPr lang="en-US" altLang="en-US" sz="1800">
                  <a:latin typeface="Arial" pitchFamily="34" charset="0"/>
                </a:endParaRPr>
              </a:p>
            </p:txBody>
          </p:sp>
          <p:sp>
            <p:nvSpPr>
              <p:cNvPr id="133192" name="Line 71"/>
              <p:cNvSpPr>
                <a:spLocks noChangeShapeType="1"/>
              </p:cNvSpPr>
              <p:nvPr/>
            </p:nvSpPr>
            <p:spPr bwMode="auto">
              <a:xfrm>
                <a:off x="3761" y="1108"/>
                <a:ext cx="498"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33193" name="Line 72"/>
              <p:cNvSpPr>
                <a:spLocks noChangeShapeType="1"/>
              </p:cNvSpPr>
              <p:nvPr/>
            </p:nvSpPr>
            <p:spPr bwMode="auto">
              <a:xfrm flipH="1" flipV="1">
                <a:off x="1388" y="1091"/>
                <a:ext cx="672" cy="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grpSp>
          <p:nvGrpSpPr>
            <p:cNvPr id="133176" name="Group 73"/>
            <p:cNvGrpSpPr>
              <a:grpSpLocks/>
            </p:cNvGrpSpPr>
            <p:nvPr/>
          </p:nvGrpSpPr>
          <p:grpSpPr bwMode="auto">
            <a:xfrm>
              <a:off x="3320" y="2288"/>
              <a:ext cx="1437" cy="384"/>
              <a:chOff x="3346" y="2367"/>
              <a:chExt cx="1437" cy="384"/>
            </a:xfrm>
          </p:grpSpPr>
          <p:sp>
            <p:nvSpPr>
              <p:cNvPr id="133185" name="Rectangle 74"/>
              <p:cNvSpPr>
                <a:spLocks noChangeArrowheads="1"/>
              </p:cNvSpPr>
              <p:nvPr/>
            </p:nvSpPr>
            <p:spPr bwMode="auto">
              <a:xfrm>
                <a:off x="3346" y="2367"/>
                <a:ext cx="529"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padding</a:t>
                </a:r>
              </a:p>
            </p:txBody>
          </p:sp>
          <p:sp>
            <p:nvSpPr>
              <p:cNvPr id="133186" name="Rectangle 75"/>
              <p:cNvSpPr>
                <a:spLocks noChangeArrowheads="1"/>
              </p:cNvSpPr>
              <p:nvPr/>
            </p:nvSpPr>
            <p:spPr bwMode="auto">
              <a:xfrm>
                <a:off x="3878" y="2367"/>
                <a:ext cx="468"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pad</a:t>
                </a:r>
                <a:br>
                  <a:rPr lang="en-US" altLang="en-US" sz="1600">
                    <a:latin typeface="Arial" pitchFamily="34" charset="0"/>
                  </a:rPr>
                </a:br>
                <a:r>
                  <a:rPr lang="en-US" altLang="en-US" sz="1600">
                    <a:latin typeface="Arial" pitchFamily="34" charset="0"/>
                  </a:rPr>
                  <a:t>length</a:t>
                </a:r>
              </a:p>
            </p:txBody>
          </p:sp>
          <p:sp>
            <p:nvSpPr>
              <p:cNvPr id="133187" name="Rectangle 76"/>
              <p:cNvSpPr>
                <a:spLocks noChangeArrowheads="1"/>
              </p:cNvSpPr>
              <p:nvPr/>
            </p:nvSpPr>
            <p:spPr bwMode="auto">
              <a:xfrm>
                <a:off x="4341" y="2367"/>
                <a:ext cx="442"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next</a:t>
                </a:r>
                <a:br>
                  <a:rPr lang="en-US" altLang="en-US" sz="1600">
                    <a:latin typeface="Arial" pitchFamily="34" charset="0"/>
                  </a:rPr>
                </a:br>
                <a:r>
                  <a:rPr lang="en-US" altLang="en-US" sz="1600">
                    <a:latin typeface="Arial" pitchFamily="34" charset="0"/>
                  </a:rPr>
                  <a:t>header</a:t>
                </a:r>
              </a:p>
            </p:txBody>
          </p:sp>
        </p:grpSp>
        <p:sp>
          <p:nvSpPr>
            <p:cNvPr id="133177" name="Line 77"/>
            <p:cNvSpPr>
              <a:spLocks noChangeShapeType="1"/>
            </p:cNvSpPr>
            <p:nvPr/>
          </p:nvSpPr>
          <p:spPr bwMode="auto">
            <a:xfrm flipV="1">
              <a:off x="3334" y="2007"/>
              <a:ext cx="506" cy="2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3178" name="Line 78"/>
            <p:cNvSpPr>
              <a:spLocks noChangeShapeType="1"/>
            </p:cNvSpPr>
            <p:nvPr/>
          </p:nvSpPr>
          <p:spPr bwMode="auto">
            <a:xfrm flipH="1" flipV="1">
              <a:off x="4277" y="1998"/>
              <a:ext cx="471"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nvGrpSpPr>
            <p:cNvPr id="133179" name="Group 79"/>
            <p:cNvGrpSpPr>
              <a:grpSpLocks/>
            </p:cNvGrpSpPr>
            <p:nvPr/>
          </p:nvGrpSpPr>
          <p:grpSpPr bwMode="auto">
            <a:xfrm>
              <a:off x="1182" y="2290"/>
              <a:ext cx="877" cy="394"/>
              <a:chOff x="1409" y="2193"/>
              <a:chExt cx="877" cy="386"/>
            </a:xfrm>
          </p:grpSpPr>
          <p:sp>
            <p:nvSpPr>
              <p:cNvPr id="133183" name="Rectangle 80"/>
              <p:cNvSpPr>
                <a:spLocks noChangeArrowheads="1"/>
              </p:cNvSpPr>
              <p:nvPr/>
            </p:nvSpPr>
            <p:spPr bwMode="auto">
              <a:xfrm>
                <a:off x="1409" y="2193"/>
                <a:ext cx="441" cy="384"/>
              </a:xfrm>
              <a:prstGeom prst="rect">
                <a:avLst/>
              </a:prstGeom>
              <a:solidFill>
                <a:srgbClr val="FF99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SPI</a:t>
                </a:r>
              </a:p>
            </p:txBody>
          </p:sp>
          <p:sp>
            <p:nvSpPr>
              <p:cNvPr id="133184" name="Rectangle 81"/>
              <p:cNvSpPr>
                <a:spLocks noChangeArrowheads="1"/>
              </p:cNvSpPr>
              <p:nvPr/>
            </p:nvSpPr>
            <p:spPr bwMode="auto">
              <a:xfrm>
                <a:off x="1845" y="2195"/>
                <a:ext cx="441" cy="384"/>
              </a:xfrm>
              <a:prstGeom prst="rect">
                <a:avLst/>
              </a:prstGeom>
              <a:solidFill>
                <a:srgbClr val="FF99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Seq</a:t>
                </a:r>
              </a:p>
              <a:p>
                <a:pPr algn="ctr" eaLnBrk="1" hangingPunct="1"/>
                <a:r>
                  <a:rPr lang="en-US" altLang="en-US" sz="1600">
                    <a:latin typeface="Arial" pitchFamily="34" charset="0"/>
                  </a:rPr>
                  <a:t>#</a:t>
                </a:r>
              </a:p>
            </p:txBody>
          </p:sp>
        </p:grpSp>
        <p:sp>
          <p:nvSpPr>
            <p:cNvPr id="133180" name="Line 82"/>
            <p:cNvSpPr>
              <a:spLocks noChangeShapeType="1"/>
            </p:cNvSpPr>
            <p:nvPr/>
          </p:nvSpPr>
          <p:spPr bwMode="auto">
            <a:xfrm flipV="1">
              <a:off x="1178" y="1999"/>
              <a:ext cx="201" cy="2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3181" name="Line 83"/>
            <p:cNvSpPr>
              <a:spLocks noChangeShapeType="1"/>
            </p:cNvSpPr>
            <p:nvPr/>
          </p:nvSpPr>
          <p:spPr bwMode="auto">
            <a:xfrm>
              <a:off x="1824" y="2025"/>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3182" name="Line 84"/>
            <p:cNvSpPr>
              <a:spLocks noChangeShapeType="1"/>
            </p:cNvSpPr>
            <p:nvPr/>
          </p:nvSpPr>
          <p:spPr bwMode="auto">
            <a:xfrm>
              <a:off x="1815" y="1999"/>
              <a:ext cx="227" cy="2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pic>
        <p:nvPicPr>
          <p:cNvPr id="133124" name="Picture 24"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338" y="823913"/>
            <a:ext cx="3467100"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125" name="Group 84"/>
          <p:cNvGrpSpPr>
            <a:grpSpLocks/>
          </p:cNvGrpSpPr>
          <p:nvPr/>
        </p:nvGrpSpPr>
        <p:grpSpPr bwMode="auto">
          <a:xfrm>
            <a:off x="803275" y="938213"/>
            <a:ext cx="7435850" cy="2630487"/>
            <a:chOff x="803275" y="938213"/>
            <a:chExt cx="7435850" cy="2630487"/>
          </a:xfrm>
        </p:grpSpPr>
        <p:sp>
          <p:nvSpPr>
            <p:cNvPr id="133126" name="Freeform 2"/>
            <p:cNvSpPr>
              <a:spLocks/>
            </p:cNvSpPr>
            <p:nvPr/>
          </p:nvSpPr>
          <p:spPr bwMode="auto">
            <a:xfrm>
              <a:off x="6213475" y="1670050"/>
              <a:ext cx="2025650" cy="1633537"/>
            </a:xfrm>
            <a:custGeom>
              <a:avLst/>
              <a:gdLst>
                <a:gd name="T0" fmla="*/ 346493 w 1292"/>
                <a:gd name="T1" fmla="*/ 2603 h 1255"/>
                <a:gd name="T2" fmla="*/ 54874 w 1292"/>
                <a:gd name="T3" fmla="*/ 62478 h 1255"/>
                <a:gd name="T4" fmla="*/ 45467 w 1292"/>
                <a:gd name="T5" fmla="*/ 206958 h 1255"/>
                <a:gd name="T6" fmla="*/ 73689 w 1292"/>
                <a:gd name="T7" fmla="*/ 329311 h 1255"/>
                <a:gd name="T8" fmla="*/ 355900 w 1292"/>
                <a:gd name="T9" fmla="*/ 344930 h 1255"/>
                <a:gd name="T10" fmla="*/ 939136 w 1292"/>
                <a:gd name="T11" fmla="*/ 446457 h 1255"/>
                <a:gd name="T12" fmla="*/ 1447117 w 1292"/>
                <a:gd name="T13" fmla="*/ 489410 h 1255"/>
                <a:gd name="T14" fmla="*/ 1745007 w 1292"/>
                <a:gd name="T15" fmla="*/ 403503 h 1255"/>
                <a:gd name="T16" fmla="*/ 1848484 w 1292"/>
                <a:gd name="T17" fmla="*/ 175719 h 1255"/>
                <a:gd name="T18" fmla="*/ 1752846 w 1292"/>
                <a:gd name="T19" fmla="*/ 83304 h 1255"/>
                <a:gd name="T20" fmla="*/ 1089649 w 1292"/>
                <a:gd name="T21" fmla="*/ 45557 h 1255"/>
                <a:gd name="T22" fmla="*/ 346493 w 1292"/>
                <a:gd name="T23" fmla="*/ 2603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133127" name="Freeform 3"/>
            <p:cNvSpPr>
              <a:spLocks/>
            </p:cNvSpPr>
            <p:nvPr/>
          </p:nvSpPr>
          <p:spPr bwMode="auto">
            <a:xfrm>
              <a:off x="803275" y="1546225"/>
              <a:ext cx="2133600" cy="1633537"/>
            </a:xfrm>
            <a:custGeom>
              <a:avLst/>
              <a:gdLst>
                <a:gd name="T0" fmla="*/ 500372 w 1292"/>
                <a:gd name="T1" fmla="*/ 2603 h 1255"/>
                <a:gd name="T2" fmla="*/ 72661 w 1292"/>
                <a:gd name="T3" fmla="*/ 62478 h 1255"/>
                <a:gd name="T4" fmla="*/ 57799 w 1292"/>
                <a:gd name="T5" fmla="*/ 206958 h 1255"/>
                <a:gd name="T6" fmla="*/ 108992 w 1292"/>
                <a:gd name="T7" fmla="*/ 329311 h 1255"/>
                <a:gd name="T8" fmla="*/ 513583 w 1292"/>
                <a:gd name="T9" fmla="*/ 344930 h 1255"/>
                <a:gd name="T10" fmla="*/ 1352491 w 1292"/>
                <a:gd name="T11" fmla="*/ 446457 h 1255"/>
                <a:gd name="T12" fmla="*/ 2082407 w 1292"/>
                <a:gd name="T13" fmla="*/ 489410 h 1255"/>
                <a:gd name="T14" fmla="*/ 2506815 w 1292"/>
                <a:gd name="T15" fmla="*/ 403503 h 1255"/>
                <a:gd name="T16" fmla="*/ 2658743 w 1292"/>
                <a:gd name="T17" fmla="*/ 175719 h 1255"/>
                <a:gd name="T18" fmla="*/ 2520026 w 1292"/>
                <a:gd name="T19" fmla="*/ 83304 h 1255"/>
                <a:gd name="T20" fmla="*/ 1567172 w 1292"/>
                <a:gd name="T21" fmla="*/ 45557 h 1255"/>
                <a:gd name="T22" fmla="*/ 500372 w 1292"/>
                <a:gd name="T23" fmla="*/ 2603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133128" name="Freeform 4"/>
            <p:cNvSpPr>
              <a:spLocks/>
            </p:cNvSpPr>
            <p:nvPr/>
          </p:nvSpPr>
          <p:spPr bwMode="auto">
            <a:xfrm>
              <a:off x="3394075" y="1435100"/>
              <a:ext cx="2362200" cy="2133600"/>
            </a:xfrm>
            <a:custGeom>
              <a:avLst/>
              <a:gdLst>
                <a:gd name="T0" fmla="*/ 1018379 w 1292"/>
                <a:gd name="T1" fmla="*/ 11901 h 1255"/>
                <a:gd name="T2" fmla="*/ 148095 w 1292"/>
                <a:gd name="T3" fmla="*/ 404619 h 1255"/>
                <a:gd name="T4" fmla="*/ 124326 w 1292"/>
                <a:gd name="T5" fmla="*/ 1343063 h 1255"/>
                <a:gd name="T6" fmla="*/ 224884 w 1292"/>
                <a:gd name="T7" fmla="*/ 2125100 h 1255"/>
                <a:gd name="T8" fmla="*/ 1043975 w 1292"/>
                <a:gd name="T9" fmla="*/ 2233905 h 1255"/>
                <a:gd name="T10" fmla="*/ 2760776 w 1292"/>
                <a:gd name="T11" fmla="*/ 2895236 h 1255"/>
                <a:gd name="T12" fmla="*/ 4247206 w 1292"/>
                <a:gd name="T13" fmla="*/ 3174049 h 1255"/>
                <a:gd name="T14" fmla="*/ 5117491 w 1292"/>
                <a:gd name="T15" fmla="*/ 2618123 h 1255"/>
                <a:gd name="T16" fmla="*/ 5424650 w 1292"/>
                <a:gd name="T17" fmla="*/ 1144154 h 1255"/>
                <a:gd name="T18" fmla="*/ 5144915 w 1292"/>
                <a:gd name="T19" fmla="*/ 540625 h 1255"/>
                <a:gd name="T20" fmla="*/ 3197746 w 1292"/>
                <a:gd name="T21" fmla="*/ 294114 h 1255"/>
                <a:gd name="T22" fmla="*/ 1018379 w 1292"/>
                <a:gd name="T23" fmla="*/ 11901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sp>
          <p:nvSpPr>
            <p:cNvPr id="133129" name="Line 39"/>
            <p:cNvSpPr>
              <a:spLocks noChangeShapeType="1"/>
            </p:cNvSpPr>
            <p:nvPr/>
          </p:nvSpPr>
          <p:spPr bwMode="auto">
            <a:xfrm>
              <a:off x="1898650" y="2238375"/>
              <a:ext cx="8032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3130" name="Line 40"/>
            <p:cNvSpPr>
              <a:spLocks noChangeShapeType="1"/>
            </p:cNvSpPr>
            <p:nvPr/>
          </p:nvSpPr>
          <p:spPr bwMode="auto">
            <a:xfrm>
              <a:off x="6373813" y="2376488"/>
              <a:ext cx="6921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3131" name="Line 41"/>
            <p:cNvSpPr>
              <a:spLocks noChangeShapeType="1"/>
            </p:cNvSpPr>
            <p:nvPr/>
          </p:nvSpPr>
          <p:spPr bwMode="auto">
            <a:xfrm>
              <a:off x="3284538" y="2279650"/>
              <a:ext cx="3873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3132" name="Line 42"/>
            <p:cNvSpPr>
              <a:spLocks noChangeShapeType="1"/>
            </p:cNvSpPr>
            <p:nvPr/>
          </p:nvSpPr>
          <p:spPr bwMode="auto">
            <a:xfrm flipH="1">
              <a:off x="5453433" y="2303754"/>
              <a:ext cx="2905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3133" name="Text Box 43"/>
            <p:cNvSpPr txBox="1">
              <a:spLocks noChangeArrowheads="1"/>
            </p:cNvSpPr>
            <p:nvPr/>
          </p:nvSpPr>
          <p:spPr bwMode="auto">
            <a:xfrm>
              <a:off x="4840118" y="1954213"/>
              <a:ext cx="1152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193.68.2.23</a:t>
              </a:r>
            </a:p>
          </p:txBody>
        </p:sp>
        <p:sp>
          <p:nvSpPr>
            <p:cNvPr id="133134" name="Text Box 44"/>
            <p:cNvSpPr txBox="1">
              <a:spLocks noChangeArrowheads="1"/>
            </p:cNvSpPr>
            <p:nvPr/>
          </p:nvSpPr>
          <p:spPr bwMode="auto">
            <a:xfrm>
              <a:off x="3337682" y="1942287"/>
              <a:ext cx="13328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200.168.1.100</a:t>
              </a:r>
            </a:p>
          </p:txBody>
        </p:sp>
        <p:sp>
          <p:nvSpPr>
            <p:cNvPr id="133135" name="Text Box 45"/>
            <p:cNvSpPr txBox="1">
              <a:spLocks noChangeArrowheads="1"/>
            </p:cNvSpPr>
            <p:nvPr/>
          </p:nvSpPr>
          <p:spPr bwMode="auto">
            <a:xfrm>
              <a:off x="1184275" y="2730500"/>
              <a:ext cx="1141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172.16.1/24</a:t>
              </a:r>
            </a:p>
          </p:txBody>
        </p:sp>
        <p:sp>
          <p:nvSpPr>
            <p:cNvPr id="133136" name="Text Box 46"/>
            <p:cNvSpPr txBox="1">
              <a:spLocks noChangeArrowheads="1"/>
            </p:cNvSpPr>
            <p:nvPr/>
          </p:nvSpPr>
          <p:spPr bwMode="auto">
            <a:xfrm>
              <a:off x="6823075" y="2882900"/>
              <a:ext cx="11699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172.16.2/24</a:t>
              </a:r>
            </a:p>
          </p:txBody>
        </p:sp>
        <p:sp>
          <p:nvSpPr>
            <p:cNvPr id="133137" name="Text Box 48"/>
            <p:cNvSpPr txBox="1">
              <a:spLocks noChangeArrowheads="1"/>
            </p:cNvSpPr>
            <p:nvPr/>
          </p:nvSpPr>
          <p:spPr bwMode="auto">
            <a:xfrm>
              <a:off x="3625901" y="2391586"/>
              <a:ext cx="22766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i="1">
                  <a:solidFill>
                    <a:srgbClr val="CC0000"/>
                  </a:solidFill>
                  <a:latin typeface="Arial" pitchFamily="34" charset="0"/>
                  <a:cs typeface="Arial" pitchFamily="34" charset="0"/>
                </a:rPr>
                <a:t>security association </a:t>
              </a:r>
            </a:p>
          </p:txBody>
        </p:sp>
        <p:sp>
          <p:nvSpPr>
            <p:cNvPr id="133138" name="Text Box 49"/>
            <p:cNvSpPr txBox="1">
              <a:spLocks noChangeArrowheads="1"/>
            </p:cNvSpPr>
            <p:nvPr/>
          </p:nvSpPr>
          <p:spPr bwMode="auto">
            <a:xfrm>
              <a:off x="4325673" y="1210025"/>
              <a:ext cx="958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Internet</a:t>
              </a:r>
            </a:p>
          </p:txBody>
        </p:sp>
        <p:sp>
          <p:nvSpPr>
            <p:cNvPr id="133139" name="Text Box 50"/>
            <p:cNvSpPr txBox="1">
              <a:spLocks noChangeArrowheads="1"/>
            </p:cNvSpPr>
            <p:nvPr/>
          </p:nvSpPr>
          <p:spPr bwMode="auto">
            <a:xfrm>
              <a:off x="939800" y="9382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endParaRPr lang="en-US" altLang="en-US" sz="1800">
                <a:latin typeface="Arial" pitchFamily="34" charset="0"/>
              </a:endParaRPr>
            </a:p>
          </p:txBody>
        </p:sp>
        <p:sp>
          <p:nvSpPr>
            <p:cNvPr id="133140" name="Text Box 51"/>
            <p:cNvSpPr txBox="1">
              <a:spLocks noChangeArrowheads="1"/>
            </p:cNvSpPr>
            <p:nvPr/>
          </p:nvSpPr>
          <p:spPr bwMode="auto">
            <a:xfrm>
              <a:off x="1361796" y="1245263"/>
              <a:ext cx="156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headquarters</a:t>
              </a:r>
            </a:p>
          </p:txBody>
        </p:sp>
        <p:sp>
          <p:nvSpPr>
            <p:cNvPr id="133141" name="Text Box 52"/>
            <p:cNvSpPr txBox="1">
              <a:spLocks noChangeArrowheads="1"/>
            </p:cNvSpPr>
            <p:nvPr/>
          </p:nvSpPr>
          <p:spPr bwMode="auto">
            <a:xfrm>
              <a:off x="6531930" y="1384010"/>
              <a:ext cx="15277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branch office</a:t>
              </a:r>
            </a:p>
          </p:txBody>
        </p:sp>
        <p:sp>
          <p:nvSpPr>
            <p:cNvPr id="133142" name="Text Box 53"/>
            <p:cNvSpPr txBox="1">
              <a:spLocks noChangeArrowheads="1"/>
            </p:cNvSpPr>
            <p:nvPr/>
          </p:nvSpPr>
          <p:spPr bwMode="auto">
            <a:xfrm>
              <a:off x="2784475" y="2425700"/>
              <a:ext cx="476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R1</a:t>
              </a:r>
            </a:p>
          </p:txBody>
        </p:sp>
        <p:sp>
          <p:nvSpPr>
            <p:cNvPr id="133143" name="Text Box 54"/>
            <p:cNvSpPr txBox="1">
              <a:spLocks noChangeArrowheads="1"/>
            </p:cNvSpPr>
            <p:nvPr/>
          </p:nvSpPr>
          <p:spPr bwMode="auto">
            <a:xfrm>
              <a:off x="5832475" y="2578100"/>
              <a:ext cx="476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R2</a:t>
              </a:r>
            </a:p>
          </p:txBody>
        </p:sp>
        <p:grpSp>
          <p:nvGrpSpPr>
            <p:cNvPr id="133144" name="Group 542"/>
            <p:cNvGrpSpPr>
              <a:grpSpLocks/>
            </p:cNvGrpSpPr>
            <p:nvPr/>
          </p:nvGrpSpPr>
          <p:grpSpPr bwMode="auto">
            <a:xfrm>
              <a:off x="1119743" y="1870674"/>
              <a:ext cx="874568" cy="829136"/>
              <a:chOff x="-44" y="1473"/>
              <a:chExt cx="981" cy="1105"/>
            </a:xfrm>
          </p:grpSpPr>
          <p:pic>
            <p:nvPicPr>
              <p:cNvPr id="133167" name="Picture 5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8"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33145" name="Group 542"/>
            <p:cNvGrpSpPr>
              <a:grpSpLocks/>
            </p:cNvGrpSpPr>
            <p:nvPr/>
          </p:nvGrpSpPr>
          <p:grpSpPr bwMode="auto">
            <a:xfrm flipH="1">
              <a:off x="6816238" y="2036728"/>
              <a:ext cx="874568" cy="829136"/>
              <a:chOff x="-44" y="1473"/>
              <a:chExt cx="981" cy="1105"/>
            </a:xfrm>
          </p:grpSpPr>
          <p:pic>
            <p:nvPicPr>
              <p:cNvPr id="133165" name="Picture 5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6" name="Freeform 530"/>
              <p:cNvSpPr>
                <a:spLocks/>
              </p:cNvSpPr>
              <p:nvPr/>
            </p:nvSpPr>
            <p:spPr bwMode="auto">
              <a:xfrm flipH="1">
                <a:off x="374" y="1579"/>
                <a:ext cx="477" cy="506"/>
              </a:xfrm>
              <a:custGeom>
                <a:avLst/>
                <a:gdLst>
                  <a:gd name="T0" fmla="*/ 0 w 356"/>
                  <a:gd name="T1" fmla="*/ 0 h 368"/>
                  <a:gd name="T2" fmla="*/ 722 w 356"/>
                  <a:gd name="T3" fmla="*/ 36 h 368"/>
                  <a:gd name="T4" fmla="*/ 856 w 356"/>
                  <a:gd name="T5" fmla="*/ 765 h 368"/>
                  <a:gd name="T6" fmla="*/ 189 w 356"/>
                  <a:gd name="T7" fmla="*/ 95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33146" name="Group 332"/>
            <p:cNvGrpSpPr>
              <a:grpSpLocks/>
            </p:cNvGrpSpPr>
            <p:nvPr/>
          </p:nvGrpSpPr>
          <p:grpSpPr bwMode="auto">
            <a:xfrm>
              <a:off x="5734462" y="2176433"/>
              <a:ext cx="693963" cy="287263"/>
              <a:chOff x="2356" y="1300"/>
              <a:chExt cx="555" cy="194"/>
            </a:xfrm>
          </p:grpSpPr>
          <p:sp>
            <p:nvSpPr>
              <p:cNvPr id="133157"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33158"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33159"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33160" name="Group 329"/>
              <p:cNvGrpSpPr>
                <a:grpSpLocks/>
              </p:cNvGrpSpPr>
              <p:nvPr/>
            </p:nvGrpSpPr>
            <p:grpSpPr bwMode="auto">
              <a:xfrm>
                <a:off x="2468" y="1332"/>
                <a:ext cx="310" cy="60"/>
                <a:chOff x="2468" y="1332"/>
                <a:chExt cx="310" cy="60"/>
              </a:xfrm>
            </p:grpSpPr>
            <p:sp>
              <p:nvSpPr>
                <p:cNvPr id="133163"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33164"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121"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sp>
            <p:nvSpPr>
              <p:cNvPr id="122"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grpSp>
        <p:grpSp>
          <p:nvGrpSpPr>
            <p:cNvPr id="133147" name="Group 332"/>
            <p:cNvGrpSpPr>
              <a:grpSpLocks/>
            </p:cNvGrpSpPr>
            <p:nvPr/>
          </p:nvGrpSpPr>
          <p:grpSpPr bwMode="auto">
            <a:xfrm>
              <a:off x="2675447" y="2110629"/>
              <a:ext cx="693963" cy="287263"/>
              <a:chOff x="2356" y="1300"/>
              <a:chExt cx="555" cy="194"/>
            </a:xfrm>
          </p:grpSpPr>
          <p:sp>
            <p:nvSpPr>
              <p:cNvPr id="133149"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33150"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33151"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33152" name="Group 329"/>
              <p:cNvGrpSpPr>
                <a:grpSpLocks/>
              </p:cNvGrpSpPr>
              <p:nvPr/>
            </p:nvGrpSpPr>
            <p:grpSpPr bwMode="auto">
              <a:xfrm>
                <a:off x="2468" y="1332"/>
                <a:ext cx="310" cy="60"/>
                <a:chOff x="2468" y="1332"/>
                <a:chExt cx="310" cy="60"/>
              </a:xfrm>
            </p:grpSpPr>
            <p:sp>
              <p:nvSpPr>
                <p:cNvPr id="133155"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33156"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113" name="Line 330"/>
              <p:cNvSpPr>
                <a:spLocks noChangeShapeType="1"/>
              </p:cNvSpPr>
              <p:nvPr/>
            </p:nvSpPr>
            <p:spPr bwMode="auto">
              <a:xfrm>
                <a:off x="2357" y="1362"/>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sp>
            <p:nvSpPr>
              <p:cNvPr id="114"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grpSp>
        <p:sp>
          <p:nvSpPr>
            <p:cNvPr id="133148" name="Right Arrow 107"/>
            <p:cNvSpPr>
              <a:spLocks noChangeArrowheads="1"/>
            </p:cNvSpPr>
            <p:nvPr/>
          </p:nvSpPr>
          <p:spPr bwMode="auto">
            <a:xfrm>
              <a:off x="3390448" y="2327496"/>
              <a:ext cx="2361006" cy="151063"/>
            </a:xfrm>
            <a:prstGeom prst="rightArrow">
              <a:avLst>
                <a:gd name="adj1" fmla="val 50000"/>
                <a:gd name="adj2" fmla="val 49999"/>
              </a:avLst>
            </a:prstGeom>
            <a:gradFill rotWithShape="1">
              <a:gsLst>
                <a:gs pos="0">
                  <a:srgbClr val="CC0000"/>
                </a:gs>
                <a:gs pos="100000">
                  <a:srgbClr val="FFFFFF"/>
                </a:gs>
              </a:gsLst>
              <a:lin ang="360000"/>
            </a:gradFill>
            <a:ln w="9525">
              <a:solidFill>
                <a:srgbClr val="800000"/>
              </a:solidFill>
              <a:round/>
              <a:headEnd/>
              <a:tailEnd/>
            </a:ln>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gr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34146" name="Rectangle 2"/>
          <p:cNvSpPr>
            <a:spLocks noGrp="1" noChangeArrowheads="1"/>
          </p:cNvSpPr>
          <p:nvPr>
            <p:ph type="title"/>
          </p:nvPr>
        </p:nvSpPr>
        <p:spPr>
          <a:xfrm>
            <a:off x="231775" y="0"/>
            <a:ext cx="9197975" cy="1143000"/>
          </a:xfrm>
        </p:spPr>
        <p:txBody>
          <a:bodyPr/>
          <a:lstStyle/>
          <a:p>
            <a:r>
              <a:rPr lang="en-US" altLang="en-US" sz="3600" smtClean="0">
                <a:ea typeface="ＭＳ Ｐゴシック" pitchFamily="34" charset="-128"/>
              </a:rPr>
              <a:t>R1: </a:t>
            </a:r>
            <a:r>
              <a:rPr lang="en-US" altLang="en-US" sz="3200" smtClean="0">
                <a:ea typeface="ＭＳ Ｐゴシック" pitchFamily="34" charset="-128"/>
              </a:rPr>
              <a:t>convert original datagram to IPsec datagram</a:t>
            </a:r>
          </a:p>
        </p:txBody>
      </p:sp>
      <p:sp>
        <p:nvSpPr>
          <p:cNvPr id="134147" name="Rectangle 3"/>
          <p:cNvSpPr>
            <a:spLocks noGrp="1" noChangeArrowheads="1"/>
          </p:cNvSpPr>
          <p:nvPr>
            <p:ph type="body" idx="1"/>
          </p:nvPr>
        </p:nvSpPr>
        <p:spPr>
          <a:xfrm>
            <a:off x="533400" y="1600200"/>
            <a:ext cx="8328025" cy="4648200"/>
          </a:xfrm>
        </p:spPr>
        <p:txBody>
          <a:bodyPr/>
          <a:lstStyle/>
          <a:p>
            <a:r>
              <a:rPr lang="en-US" altLang="en-US" sz="2400" smtClean="0">
                <a:ea typeface="ＭＳ Ｐゴシック" pitchFamily="34" charset="-128"/>
              </a:rPr>
              <a:t>appends to back of original datagram (which includes original header fields!) an </a:t>
            </a:r>
            <a:r>
              <a:rPr lang="ja-JP" altLang="en-US" sz="2400" smtClean="0">
                <a:ea typeface="ＭＳ Ｐゴシック" pitchFamily="34" charset="-128"/>
              </a:rPr>
              <a:t>“</a:t>
            </a:r>
            <a:r>
              <a:rPr lang="en-US" altLang="ja-JP" sz="2400" smtClean="0">
                <a:ea typeface="ＭＳ Ｐゴシック" pitchFamily="34" charset="-128"/>
              </a:rPr>
              <a:t>ESP trailer</a:t>
            </a:r>
            <a:r>
              <a:rPr lang="ja-JP" altLang="en-US" sz="2400" smtClean="0">
                <a:ea typeface="ＭＳ Ｐゴシック" pitchFamily="34" charset="-128"/>
              </a:rPr>
              <a:t>”</a:t>
            </a:r>
            <a:r>
              <a:rPr lang="en-US" altLang="ja-JP" sz="2400" smtClean="0">
                <a:ea typeface="ＭＳ Ｐゴシック" pitchFamily="34" charset="-128"/>
              </a:rPr>
              <a:t> field. </a:t>
            </a:r>
          </a:p>
          <a:p>
            <a:r>
              <a:rPr lang="en-US" altLang="en-US" sz="2400" smtClean="0">
                <a:ea typeface="ＭＳ Ｐゴシック" pitchFamily="34" charset="-128"/>
              </a:rPr>
              <a:t>encrypts result using algorithm &amp; key specified by SA.</a:t>
            </a:r>
          </a:p>
          <a:p>
            <a:r>
              <a:rPr lang="en-US" altLang="en-US" sz="2400" smtClean="0">
                <a:ea typeface="ＭＳ Ｐゴシック" pitchFamily="34" charset="-128"/>
              </a:rPr>
              <a:t>appends to front of this encrypted quantity the </a:t>
            </a:r>
            <a:r>
              <a:rPr lang="ja-JP" altLang="en-US" sz="2400" smtClean="0">
                <a:ea typeface="ＭＳ Ｐゴシック" pitchFamily="34" charset="-128"/>
              </a:rPr>
              <a:t>“</a:t>
            </a:r>
            <a:r>
              <a:rPr lang="en-US" altLang="ja-JP" sz="2400" smtClean="0">
                <a:ea typeface="ＭＳ Ｐゴシック" pitchFamily="34" charset="-128"/>
              </a:rPr>
              <a:t>ESP header, creating </a:t>
            </a:r>
            <a:r>
              <a:rPr lang="ja-JP" altLang="en-US" sz="2400" smtClean="0">
                <a:ea typeface="ＭＳ Ｐゴシック" pitchFamily="34" charset="-128"/>
              </a:rPr>
              <a:t>“</a:t>
            </a:r>
            <a:r>
              <a:rPr lang="en-US" altLang="ja-JP" sz="2400" smtClean="0">
                <a:ea typeface="ＭＳ Ｐゴシック" pitchFamily="34" charset="-128"/>
              </a:rPr>
              <a:t>enchilada</a:t>
            </a:r>
            <a:r>
              <a:rPr lang="ja-JP" altLang="en-US" sz="2400" smtClean="0">
                <a:ea typeface="ＭＳ Ｐゴシック" pitchFamily="34" charset="-128"/>
              </a:rPr>
              <a:t>”</a:t>
            </a:r>
            <a:r>
              <a:rPr lang="en-US" altLang="ja-JP" sz="2400" smtClean="0">
                <a:ea typeface="ＭＳ Ｐゴシック" pitchFamily="34" charset="-128"/>
              </a:rPr>
              <a:t>. </a:t>
            </a:r>
          </a:p>
          <a:p>
            <a:r>
              <a:rPr lang="en-US" altLang="en-US" sz="2400" smtClean="0">
                <a:ea typeface="ＭＳ Ｐゴシック" pitchFamily="34" charset="-128"/>
              </a:rPr>
              <a:t>creates authentication MAC over the </a:t>
            </a:r>
            <a:r>
              <a:rPr lang="en-US" altLang="en-US" sz="2400" i="1" smtClean="0">
                <a:ea typeface="ＭＳ Ｐゴシック" pitchFamily="34" charset="-128"/>
              </a:rPr>
              <a:t>whole enchilada</a:t>
            </a:r>
            <a:r>
              <a:rPr lang="en-US" altLang="en-US" sz="2400" smtClean="0">
                <a:ea typeface="ＭＳ Ｐゴシック" pitchFamily="34" charset="-128"/>
              </a:rPr>
              <a:t>, using algorithm and key specified in SA; </a:t>
            </a:r>
          </a:p>
          <a:p>
            <a:r>
              <a:rPr lang="en-US" altLang="en-US" sz="2400" smtClean="0">
                <a:ea typeface="ＭＳ Ｐゴシック" pitchFamily="34" charset="-128"/>
              </a:rPr>
              <a:t>appends MAC to back of enchilada, forming </a:t>
            </a:r>
            <a:r>
              <a:rPr lang="en-US" altLang="en-US" sz="2400" i="1" smtClean="0">
                <a:ea typeface="ＭＳ Ｐゴシック" pitchFamily="34" charset="-128"/>
              </a:rPr>
              <a:t>payload</a:t>
            </a:r>
            <a:r>
              <a:rPr lang="en-US" altLang="en-US" sz="2400" smtClean="0">
                <a:ea typeface="ＭＳ Ｐゴシック" pitchFamily="34" charset="-128"/>
              </a:rPr>
              <a:t>;</a:t>
            </a:r>
          </a:p>
          <a:p>
            <a:r>
              <a:rPr lang="en-US" altLang="en-US" sz="2400" smtClean="0">
                <a:ea typeface="ＭＳ Ｐゴシック" pitchFamily="34" charset="-128"/>
              </a:rPr>
              <a:t>creates brand new IP header, with all the classic IPv4 header fields, which it appends before payload. </a:t>
            </a:r>
          </a:p>
          <a:p>
            <a:endParaRPr lang="en-US" altLang="en-US" sz="2400" smtClean="0">
              <a:ea typeface="ＭＳ Ｐゴシック" pitchFamily="34" charset="-128"/>
            </a:endParaRPr>
          </a:p>
        </p:txBody>
      </p:sp>
      <p:pic>
        <p:nvPicPr>
          <p:cNvPr id="134148" name="Picture 6" descr="underline_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538" y="795338"/>
            <a:ext cx="82280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35170" name="Rectangle 2"/>
          <p:cNvSpPr>
            <a:spLocks noGrp="1" noChangeArrowheads="1"/>
          </p:cNvSpPr>
          <p:nvPr>
            <p:ph type="title"/>
          </p:nvPr>
        </p:nvSpPr>
        <p:spPr>
          <a:xfrm>
            <a:off x="533400" y="0"/>
            <a:ext cx="7772400" cy="1143000"/>
          </a:xfrm>
        </p:spPr>
        <p:txBody>
          <a:bodyPr/>
          <a:lstStyle/>
          <a:p>
            <a:r>
              <a:rPr lang="en-US" altLang="en-US" smtClean="0">
                <a:ea typeface="ＭＳ Ｐゴシック" pitchFamily="34" charset="-128"/>
              </a:rPr>
              <a:t>Inside the enchilada:</a:t>
            </a:r>
          </a:p>
        </p:txBody>
      </p:sp>
      <p:sp>
        <p:nvSpPr>
          <p:cNvPr id="135171" name="Rectangle 3"/>
          <p:cNvSpPr>
            <a:spLocks noGrp="1" noChangeArrowheads="1"/>
          </p:cNvSpPr>
          <p:nvPr>
            <p:ph type="body" idx="1"/>
          </p:nvPr>
        </p:nvSpPr>
        <p:spPr>
          <a:xfrm>
            <a:off x="366713" y="4064000"/>
            <a:ext cx="7772400" cy="2363788"/>
          </a:xfrm>
        </p:spPr>
        <p:txBody>
          <a:bodyPr/>
          <a:lstStyle/>
          <a:p>
            <a:pPr>
              <a:lnSpc>
                <a:spcPct val="90000"/>
              </a:lnSpc>
            </a:pPr>
            <a:r>
              <a:rPr lang="en-US" altLang="en-US" sz="2400" smtClean="0">
                <a:ea typeface="ＭＳ Ｐゴシック" pitchFamily="34" charset="-128"/>
              </a:rPr>
              <a:t>ESP trailer: Padding for block ciphers</a:t>
            </a:r>
          </a:p>
          <a:p>
            <a:pPr>
              <a:lnSpc>
                <a:spcPct val="90000"/>
              </a:lnSpc>
            </a:pPr>
            <a:r>
              <a:rPr lang="en-US" altLang="en-US" sz="2400" smtClean="0">
                <a:ea typeface="ＭＳ Ｐゴシック" pitchFamily="34" charset="-128"/>
              </a:rPr>
              <a:t>ESP header: </a:t>
            </a:r>
          </a:p>
          <a:p>
            <a:pPr lvl="1">
              <a:lnSpc>
                <a:spcPct val="90000"/>
              </a:lnSpc>
            </a:pPr>
            <a:r>
              <a:rPr lang="en-US" altLang="en-US" sz="2000" smtClean="0">
                <a:ea typeface="ＭＳ Ｐゴシック" pitchFamily="34" charset="-128"/>
              </a:rPr>
              <a:t>SPI, so receiving entity knows what to do</a:t>
            </a:r>
          </a:p>
          <a:p>
            <a:pPr lvl="1">
              <a:lnSpc>
                <a:spcPct val="90000"/>
              </a:lnSpc>
            </a:pPr>
            <a:r>
              <a:rPr lang="en-US" altLang="en-US" sz="2000" smtClean="0">
                <a:ea typeface="ＭＳ Ｐゴシック" pitchFamily="34" charset="-128"/>
              </a:rPr>
              <a:t>Sequence number, to thwart replay attacks</a:t>
            </a:r>
          </a:p>
          <a:p>
            <a:pPr>
              <a:lnSpc>
                <a:spcPct val="90000"/>
              </a:lnSpc>
            </a:pPr>
            <a:r>
              <a:rPr lang="en-US" altLang="en-US" sz="2400" smtClean="0">
                <a:ea typeface="ＭＳ Ｐゴシック" pitchFamily="34" charset="-128"/>
              </a:rPr>
              <a:t>MAC in ESP auth field is created with shared secret key</a:t>
            </a:r>
          </a:p>
        </p:txBody>
      </p:sp>
      <p:grpSp>
        <p:nvGrpSpPr>
          <p:cNvPr id="135172" name="Group 4"/>
          <p:cNvGrpSpPr>
            <a:grpSpLocks/>
          </p:cNvGrpSpPr>
          <p:nvPr/>
        </p:nvGrpSpPr>
        <p:grpSpPr bwMode="auto">
          <a:xfrm>
            <a:off x="955675" y="1241425"/>
            <a:ext cx="6484938" cy="2603500"/>
            <a:chOff x="672" y="1044"/>
            <a:chExt cx="4085" cy="1640"/>
          </a:xfrm>
        </p:grpSpPr>
        <p:sp>
          <p:nvSpPr>
            <p:cNvPr id="135174" name="Rectangle 5"/>
            <p:cNvSpPr>
              <a:spLocks noChangeArrowheads="1"/>
            </p:cNvSpPr>
            <p:nvPr/>
          </p:nvSpPr>
          <p:spPr bwMode="auto">
            <a:xfrm>
              <a:off x="672" y="1590"/>
              <a:ext cx="711" cy="38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new IP</a:t>
              </a:r>
              <a:br>
                <a:rPr lang="en-US" altLang="en-US" sz="1600">
                  <a:latin typeface="Arial" pitchFamily="34" charset="0"/>
                </a:rPr>
              </a:br>
              <a:r>
                <a:rPr lang="en-US" altLang="en-US" sz="1600">
                  <a:latin typeface="Arial" pitchFamily="34" charset="0"/>
                </a:rPr>
                <a:t>header</a:t>
              </a:r>
            </a:p>
          </p:txBody>
        </p:sp>
        <p:sp>
          <p:nvSpPr>
            <p:cNvPr id="135175" name="Rectangle 6"/>
            <p:cNvSpPr>
              <a:spLocks noChangeArrowheads="1"/>
            </p:cNvSpPr>
            <p:nvPr/>
          </p:nvSpPr>
          <p:spPr bwMode="auto">
            <a:xfrm>
              <a:off x="1383" y="1590"/>
              <a:ext cx="441" cy="384"/>
            </a:xfrm>
            <a:prstGeom prst="rect">
              <a:avLst/>
            </a:prstGeom>
            <a:solidFill>
              <a:srgbClr val="FF99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ESP</a:t>
              </a:r>
            </a:p>
            <a:p>
              <a:pPr algn="ctr" eaLnBrk="1" hangingPunct="1"/>
              <a:r>
                <a:rPr lang="en-US" altLang="en-US" sz="1600">
                  <a:latin typeface="Arial" pitchFamily="34" charset="0"/>
                </a:rPr>
                <a:t>hdr</a:t>
              </a:r>
            </a:p>
          </p:txBody>
        </p:sp>
        <p:sp>
          <p:nvSpPr>
            <p:cNvPr id="135176" name="Rectangle 7"/>
            <p:cNvSpPr>
              <a:spLocks noChangeArrowheads="1"/>
            </p:cNvSpPr>
            <p:nvPr/>
          </p:nvSpPr>
          <p:spPr bwMode="auto">
            <a:xfrm>
              <a:off x="1824" y="1590"/>
              <a:ext cx="615"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original</a:t>
              </a:r>
              <a:br>
                <a:rPr lang="en-US" altLang="en-US" sz="1600">
                  <a:latin typeface="Arial" pitchFamily="34" charset="0"/>
                </a:rPr>
              </a:br>
              <a:r>
                <a:rPr lang="en-US" altLang="en-US" sz="1600">
                  <a:latin typeface="Arial" pitchFamily="34" charset="0"/>
                </a:rPr>
                <a:t>IP hdr</a:t>
              </a:r>
            </a:p>
          </p:txBody>
        </p:sp>
        <p:sp>
          <p:nvSpPr>
            <p:cNvPr id="135177" name="Rectangle 8"/>
            <p:cNvSpPr>
              <a:spLocks noChangeArrowheads="1"/>
            </p:cNvSpPr>
            <p:nvPr/>
          </p:nvSpPr>
          <p:spPr bwMode="auto">
            <a:xfrm>
              <a:off x="2439" y="1590"/>
              <a:ext cx="1401"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Original IP</a:t>
              </a:r>
            </a:p>
            <a:p>
              <a:pPr algn="ctr" eaLnBrk="1" hangingPunct="1"/>
              <a:r>
                <a:rPr lang="en-US" altLang="en-US" sz="1600">
                  <a:latin typeface="Arial" pitchFamily="34" charset="0"/>
                </a:rPr>
                <a:t>datagram payload</a:t>
              </a:r>
            </a:p>
          </p:txBody>
        </p:sp>
        <p:sp>
          <p:nvSpPr>
            <p:cNvPr id="135178" name="Rectangle 9"/>
            <p:cNvSpPr>
              <a:spLocks noChangeArrowheads="1"/>
            </p:cNvSpPr>
            <p:nvPr/>
          </p:nvSpPr>
          <p:spPr bwMode="auto">
            <a:xfrm>
              <a:off x="3840" y="1593"/>
              <a:ext cx="441"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ESP</a:t>
              </a:r>
            </a:p>
            <a:p>
              <a:pPr algn="ctr" eaLnBrk="1" hangingPunct="1"/>
              <a:r>
                <a:rPr lang="en-US" altLang="en-US" sz="1600">
                  <a:latin typeface="Arial" pitchFamily="34" charset="0"/>
                </a:rPr>
                <a:t>trl</a:t>
              </a:r>
            </a:p>
          </p:txBody>
        </p:sp>
        <p:sp>
          <p:nvSpPr>
            <p:cNvPr id="135179" name="Rectangle 10"/>
            <p:cNvSpPr>
              <a:spLocks noChangeArrowheads="1"/>
            </p:cNvSpPr>
            <p:nvPr/>
          </p:nvSpPr>
          <p:spPr bwMode="auto">
            <a:xfrm>
              <a:off x="4285" y="1593"/>
              <a:ext cx="441" cy="384"/>
            </a:xfrm>
            <a:prstGeom prst="rect">
              <a:avLst/>
            </a:prstGeom>
            <a:solidFill>
              <a:srgbClr val="FFFF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ESP</a:t>
              </a:r>
            </a:p>
            <a:p>
              <a:pPr algn="ctr" eaLnBrk="1" hangingPunct="1"/>
              <a:r>
                <a:rPr lang="en-US" altLang="en-US" sz="1600">
                  <a:latin typeface="Arial" pitchFamily="34" charset="0"/>
                </a:rPr>
                <a:t>auth</a:t>
              </a:r>
            </a:p>
          </p:txBody>
        </p:sp>
        <p:grpSp>
          <p:nvGrpSpPr>
            <p:cNvPr id="135180" name="Group 11"/>
            <p:cNvGrpSpPr>
              <a:grpSpLocks/>
            </p:cNvGrpSpPr>
            <p:nvPr/>
          </p:nvGrpSpPr>
          <p:grpSpPr bwMode="auto">
            <a:xfrm>
              <a:off x="1370" y="1044"/>
              <a:ext cx="2871" cy="501"/>
              <a:chOff x="1388" y="992"/>
              <a:chExt cx="2871" cy="501"/>
            </a:xfrm>
          </p:grpSpPr>
          <p:sp>
            <p:nvSpPr>
              <p:cNvPr id="135193" name="Text Box 12"/>
              <p:cNvSpPr txBox="1">
                <a:spLocks noChangeArrowheads="1"/>
              </p:cNvSpPr>
              <p:nvPr/>
            </p:nvSpPr>
            <p:spPr bwMode="auto">
              <a:xfrm>
                <a:off x="2664" y="1262"/>
                <a:ext cx="7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rPr>
                  <a:t>encrypted</a:t>
                </a:r>
              </a:p>
            </p:txBody>
          </p:sp>
          <p:sp>
            <p:nvSpPr>
              <p:cNvPr id="135194" name="Line 13"/>
              <p:cNvSpPr>
                <a:spLocks noChangeShapeType="1"/>
              </p:cNvSpPr>
              <p:nvPr/>
            </p:nvSpPr>
            <p:spPr bwMode="auto">
              <a:xfrm>
                <a:off x="3422" y="1379"/>
                <a:ext cx="8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35195" name="Line 14"/>
              <p:cNvSpPr>
                <a:spLocks noChangeShapeType="1"/>
              </p:cNvSpPr>
              <p:nvPr/>
            </p:nvSpPr>
            <p:spPr bwMode="auto">
              <a:xfrm flipH="1" flipV="1">
                <a:off x="1876" y="1379"/>
                <a:ext cx="776"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35196" name="Text Box 15"/>
              <p:cNvSpPr txBox="1">
                <a:spLocks noChangeArrowheads="1"/>
              </p:cNvSpPr>
              <p:nvPr/>
            </p:nvSpPr>
            <p:spPr bwMode="auto">
              <a:xfrm>
                <a:off x="2018" y="992"/>
                <a:ext cx="17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ja-JP" altLang="en-US" sz="1800">
                    <a:latin typeface="Arial" pitchFamily="34" charset="0"/>
                  </a:rPr>
                  <a:t>“</a:t>
                </a:r>
                <a:r>
                  <a:rPr lang="en-US" altLang="ja-JP" sz="1800">
                    <a:latin typeface="Arial" pitchFamily="34" charset="0"/>
                  </a:rPr>
                  <a:t>enchilada</a:t>
                </a:r>
                <a:r>
                  <a:rPr lang="ja-JP" altLang="en-US" sz="1800">
                    <a:latin typeface="Arial" pitchFamily="34" charset="0"/>
                  </a:rPr>
                  <a:t>”</a:t>
                </a:r>
                <a:r>
                  <a:rPr lang="en-US" altLang="ja-JP" sz="1800">
                    <a:latin typeface="Arial" pitchFamily="34" charset="0"/>
                  </a:rPr>
                  <a:t> authenticated</a:t>
                </a:r>
                <a:endParaRPr lang="en-US" altLang="en-US" sz="1800">
                  <a:latin typeface="Arial" pitchFamily="34" charset="0"/>
                </a:endParaRPr>
              </a:p>
            </p:txBody>
          </p:sp>
          <p:sp>
            <p:nvSpPr>
              <p:cNvPr id="135197" name="Line 16"/>
              <p:cNvSpPr>
                <a:spLocks noChangeShapeType="1"/>
              </p:cNvSpPr>
              <p:nvPr/>
            </p:nvSpPr>
            <p:spPr bwMode="auto">
              <a:xfrm>
                <a:off x="3761" y="1108"/>
                <a:ext cx="498"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35198" name="Line 17"/>
              <p:cNvSpPr>
                <a:spLocks noChangeShapeType="1"/>
              </p:cNvSpPr>
              <p:nvPr/>
            </p:nvSpPr>
            <p:spPr bwMode="auto">
              <a:xfrm flipH="1" flipV="1">
                <a:off x="1388" y="1091"/>
                <a:ext cx="672" cy="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grpSp>
        <p:grpSp>
          <p:nvGrpSpPr>
            <p:cNvPr id="135181" name="Group 18"/>
            <p:cNvGrpSpPr>
              <a:grpSpLocks/>
            </p:cNvGrpSpPr>
            <p:nvPr/>
          </p:nvGrpSpPr>
          <p:grpSpPr bwMode="auto">
            <a:xfrm>
              <a:off x="3320" y="2288"/>
              <a:ext cx="1437" cy="384"/>
              <a:chOff x="3346" y="2367"/>
              <a:chExt cx="1437" cy="384"/>
            </a:xfrm>
          </p:grpSpPr>
          <p:sp>
            <p:nvSpPr>
              <p:cNvPr id="135190" name="Rectangle 19"/>
              <p:cNvSpPr>
                <a:spLocks noChangeArrowheads="1"/>
              </p:cNvSpPr>
              <p:nvPr/>
            </p:nvSpPr>
            <p:spPr bwMode="auto">
              <a:xfrm>
                <a:off x="3346" y="2367"/>
                <a:ext cx="529"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padding</a:t>
                </a:r>
              </a:p>
            </p:txBody>
          </p:sp>
          <p:sp>
            <p:nvSpPr>
              <p:cNvPr id="135191" name="Rectangle 20"/>
              <p:cNvSpPr>
                <a:spLocks noChangeArrowheads="1"/>
              </p:cNvSpPr>
              <p:nvPr/>
            </p:nvSpPr>
            <p:spPr bwMode="auto">
              <a:xfrm>
                <a:off x="3878" y="2367"/>
                <a:ext cx="468"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pad</a:t>
                </a:r>
                <a:br>
                  <a:rPr lang="en-US" altLang="en-US" sz="1600">
                    <a:latin typeface="Arial" pitchFamily="34" charset="0"/>
                  </a:rPr>
                </a:br>
                <a:r>
                  <a:rPr lang="en-US" altLang="en-US" sz="1600">
                    <a:latin typeface="Arial" pitchFamily="34" charset="0"/>
                  </a:rPr>
                  <a:t>length</a:t>
                </a:r>
              </a:p>
            </p:txBody>
          </p:sp>
          <p:sp>
            <p:nvSpPr>
              <p:cNvPr id="135192" name="Rectangle 21"/>
              <p:cNvSpPr>
                <a:spLocks noChangeArrowheads="1"/>
              </p:cNvSpPr>
              <p:nvPr/>
            </p:nvSpPr>
            <p:spPr bwMode="auto">
              <a:xfrm>
                <a:off x="4341" y="2367"/>
                <a:ext cx="442" cy="384"/>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next</a:t>
                </a:r>
                <a:br>
                  <a:rPr lang="en-US" altLang="en-US" sz="1600">
                    <a:latin typeface="Arial" pitchFamily="34" charset="0"/>
                  </a:rPr>
                </a:br>
                <a:r>
                  <a:rPr lang="en-US" altLang="en-US" sz="1600">
                    <a:latin typeface="Arial" pitchFamily="34" charset="0"/>
                  </a:rPr>
                  <a:t>header</a:t>
                </a:r>
              </a:p>
            </p:txBody>
          </p:sp>
        </p:grpSp>
        <p:sp>
          <p:nvSpPr>
            <p:cNvPr id="135182" name="Line 22"/>
            <p:cNvSpPr>
              <a:spLocks noChangeShapeType="1"/>
            </p:cNvSpPr>
            <p:nvPr/>
          </p:nvSpPr>
          <p:spPr bwMode="auto">
            <a:xfrm flipV="1">
              <a:off x="3334" y="2007"/>
              <a:ext cx="506" cy="2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5183" name="Line 23"/>
            <p:cNvSpPr>
              <a:spLocks noChangeShapeType="1"/>
            </p:cNvSpPr>
            <p:nvPr/>
          </p:nvSpPr>
          <p:spPr bwMode="auto">
            <a:xfrm flipH="1" flipV="1">
              <a:off x="4277" y="1998"/>
              <a:ext cx="471"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nvGrpSpPr>
            <p:cNvPr id="135184" name="Group 24"/>
            <p:cNvGrpSpPr>
              <a:grpSpLocks/>
            </p:cNvGrpSpPr>
            <p:nvPr/>
          </p:nvGrpSpPr>
          <p:grpSpPr bwMode="auto">
            <a:xfrm>
              <a:off x="1182" y="2290"/>
              <a:ext cx="877" cy="394"/>
              <a:chOff x="1409" y="2193"/>
              <a:chExt cx="877" cy="386"/>
            </a:xfrm>
          </p:grpSpPr>
          <p:sp>
            <p:nvSpPr>
              <p:cNvPr id="135188" name="Rectangle 25"/>
              <p:cNvSpPr>
                <a:spLocks noChangeArrowheads="1"/>
              </p:cNvSpPr>
              <p:nvPr/>
            </p:nvSpPr>
            <p:spPr bwMode="auto">
              <a:xfrm>
                <a:off x="1409" y="2193"/>
                <a:ext cx="441" cy="384"/>
              </a:xfrm>
              <a:prstGeom prst="rect">
                <a:avLst/>
              </a:prstGeom>
              <a:solidFill>
                <a:srgbClr val="FF99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SPI</a:t>
                </a:r>
              </a:p>
            </p:txBody>
          </p:sp>
          <p:sp>
            <p:nvSpPr>
              <p:cNvPr id="135189" name="Rectangle 26"/>
              <p:cNvSpPr>
                <a:spLocks noChangeArrowheads="1"/>
              </p:cNvSpPr>
              <p:nvPr/>
            </p:nvSpPr>
            <p:spPr bwMode="auto">
              <a:xfrm>
                <a:off x="1845" y="2195"/>
                <a:ext cx="441" cy="384"/>
              </a:xfrm>
              <a:prstGeom prst="rect">
                <a:avLst/>
              </a:prstGeom>
              <a:solidFill>
                <a:srgbClr val="FF99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eaLnBrk="1" hangingPunct="1"/>
                <a:r>
                  <a:rPr lang="en-US" altLang="en-US" sz="1600">
                    <a:latin typeface="Arial" pitchFamily="34" charset="0"/>
                  </a:rPr>
                  <a:t>Seq</a:t>
                </a:r>
              </a:p>
              <a:p>
                <a:pPr algn="ctr" eaLnBrk="1" hangingPunct="1"/>
                <a:r>
                  <a:rPr lang="en-US" altLang="en-US" sz="1600">
                    <a:latin typeface="Arial" pitchFamily="34" charset="0"/>
                  </a:rPr>
                  <a:t>#</a:t>
                </a:r>
              </a:p>
            </p:txBody>
          </p:sp>
        </p:grpSp>
        <p:sp>
          <p:nvSpPr>
            <p:cNvPr id="135185" name="Line 27"/>
            <p:cNvSpPr>
              <a:spLocks noChangeShapeType="1"/>
            </p:cNvSpPr>
            <p:nvPr/>
          </p:nvSpPr>
          <p:spPr bwMode="auto">
            <a:xfrm flipV="1">
              <a:off x="1178" y="1999"/>
              <a:ext cx="201" cy="2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5186" name="Line 28"/>
            <p:cNvSpPr>
              <a:spLocks noChangeShapeType="1"/>
            </p:cNvSpPr>
            <p:nvPr/>
          </p:nvSpPr>
          <p:spPr bwMode="auto">
            <a:xfrm>
              <a:off x="1824" y="2025"/>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35187" name="Line 29"/>
            <p:cNvSpPr>
              <a:spLocks noChangeShapeType="1"/>
            </p:cNvSpPr>
            <p:nvPr/>
          </p:nvSpPr>
          <p:spPr bwMode="auto">
            <a:xfrm>
              <a:off x="1815" y="1999"/>
              <a:ext cx="227" cy="2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pic>
        <p:nvPicPr>
          <p:cNvPr id="135173" name="Picture 22"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00" y="788988"/>
            <a:ext cx="45704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3" name="Picture 19"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100" y="1046163"/>
            <a:ext cx="59420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1"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36195" name="Rectangle 2"/>
          <p:cNvSpPr>
            <a:spLocks noGrp="1" noChangeArrowheads="1"/>
          </p:cNvSpPr>
          <p:nvPr>
            <p:ph type="title"/>
          </p:nvPr>
        </p:nvSpPr>
        <p:spPr/>
        <p:txBody>
          <a:bodyPr/>
          <a:lstStyle/>
          <a:p>
            <a:r>
              <a:rPr lang="en-US" altLang="en-US" smtClean="0">
                <a:ea typeface="ＭＳ Ｐゴシック" pitchFamily="34" charset="-128"/>
              </a:rPr>
              <a:t>IPsec sequence numbers</a:t>
            </a:r>
          </a:p>
        </p:txBody>
      </p:sp>
      <p:sp>
        <p:nvSpPr>
          <p:cNvPr id="136196" name="Rectangle 3"/>
          <p:cNvSpPr>
            <a:spLocks noGrp="1" noChangeArrowheads="1"/>
          </p:cNvSpPr>
          <p:nvPr>
            <p:ph type="body" idx="1"/>
          </p:nvPr>
        </p:nvSpPr>
        <p:spPr>
          <a:xfrm>
            <a:off x="492125" y="1368425"/>
            <a:ext cx="7772400" cy="4648200"/>
          </a:xfrm>
        </p:spPr>
        <p:txBody>
          <a:bodyPr/>
          <a:lstStyle/>
          <a:p>
            <a:r>
              <a:rPr lang="en-US" altLang="en-US" smtClean="0">
                <a:ea typeface="ＭＳ Ｐゴシック" pitchFamily="34" charset="-128"/>
              </a:rPr>
              <a:t>for new SA, sender initializes seq. # to 0</a:t>
            </a:r>
          </a:p>
          <a:p>
            <a:r>
              <a:rPr lang="en-US" altLang="en-US" smtClean="0">
                <a:ea typeface="ＭＳ Ｐゴシック" pitchFamily="34" charset="-128"/>
              </a:rPr>
              <a:t>each time datagram is sent on SA:</a:t>
            </a:r>
          </a:p>
          <a:p>
            <a:pPr lvl="1"/>
            <a:r>
              <a:rPr lang="en-US" altLang="en-US" smtClean="0">
                <a:ea typeface="ＭＳ Ｐゴシック" pitchFamily="34" charset="-128"/>
              </a:rPr>
              <a:t>sender increments seq # counter</a:t>
            </a:r>
          </a:p>
          <a:p>
            <a:pPr lvl="1"/>
            <a:r>
              <a:rPr lang="en-US" altLang="en-US" smtClean="0">
                <a:ea typeface="ＭＳ Ｐゴシック" pitchFamily="34" charset="-128"/>
              </a:rPr>
              <a:t>places value in seq # field</a:t>
            </a:r>
          </a:p>
          <a:p>
            <a:r>
              <a:rPr lang="en-US" altLang="en-US" smtClean="0">
                <a:ea typeface="ＭＳ Ｐゴシック" pitchFamily="34" charset="-128"/>
              </a:rPr>
              <a:t>goal:</a:t>
            </a:r>
          </a:p>
          <a:p>
            <a:pPr lvl="1"/>
            <a:r>
              <a:rPr lang="en-US" altLang="en-US" smtClean="0">
                <a:ea typeface="ＭＳ Ｐゴシック" pitchFamily="34" charset="-128"/>
              </a:rPr>
              <a:t>prevent attacker from sniffing and replaying a packet</a:t>
            </a:r>
          </a:p>
          <a:p>
            <a:pPr lvl="1"/>
            <a:r>
              <a:rPr lang="en-US" altLang="en-US" smtClean="0">
                <a:ea typeface="ＭＳ Ｐゴシック" pitchFamily="34" charset="-128"/>
              </a:rPr>
              <a:t>receipt of duplicate, authenticated IP packets may disrupt service</a:t>
            </a:r>
          </a:p>
          <a:p>
            <a:r>
              <a:rPr lang="en-US" altLang="en-US" smtClean="0">
                <a:ea typeface="ＭＳ Ｐゴシック" pitchFamily="34" charset="-128"/>
              </a:rPr>
              <a:t>method: </a:t>
            </a:r>
          </a:p>
          <a:p>
            <a:pPr lvl="1"/>
            <a:r>
              <a:rPr lang="en-US" altLang="en-US" smtClean="0">
                <a:ea typeface="ＭＳ Ｐゴシック" pitchFamily="34" charset="-128"/>
              </a:rPr>
              <a:t>destination checks for duplicates</a:t>
            </a:r>
          </a:p>
          <a:p>
            <a:pPr lvl="1"/>
            <a:r>
              <a:rPr lang="en-US" altLang="en-US" smtClean="0">
                <a:ea typeface="ＭＳ Ｐゴシック" pitchFamily="34" charset="-128"/>
              </a:rPr>
              <a:t>doesn’t keep track of </a:t>
            </a:r>
            <a:r>
              <a:rPr lang="en-US" altLang="en-US" i="1" smtClean="0">
                <a:ea typeface="ＭＳ Ｐゴシック" pitchFamily="34" charset="-128"/>
              </a:rPr>
              <a:t>all </a:t>
            </a:r>
            <a:r>
              <a:rPr lang="en-US" altLang="en-US" smtClean="0">
                <a:ea typeface="ＭＳ Ｐゴシック" pitchFamily="34" charset="-128"/>
              </a:rPr>
              <a:t>received packets; instead uses a window</a:t>
            </a:r>
          </a:p>
          <a:p>
            <a:pPr lvl="1"/>
            <a:endParaRPr lang="en-US" altLang="en-US" sz="2000" smtClean="0">
              <a:ea typeface="ＭＳ Ｐゴシック" pitchFamily="34" charset="-128"/>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7" name="Picture 16"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1039813"/>
            <a:ext cx="73136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5"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37219" name="Rectangle 2"/>
          <p:cNvSpPr>
            <a:spLocks noGrp="1" noChangeArrowheads="1"/>
          </p:cNvSpPr>
          <p:nvPr>
            <p:ph type="title"/>
          </p:nvPr>
        </p:nvSpPr>
        <p:spPr/>
        <p:txBody>
          <a:bodyPr/>
          <a:lstStyle/>
          <a:p>
            <a:r>
              <a:rPr lang="en-US" altLang="en-US" smtClean="0">
                <a:ea typeface="ＭＳ Ｐゴシック" pitchFamily="34" charset="-128"/>
              </a:rPr>
              <a:t>Security Policy Database (SPD)</a:t>
            </a:r>
          </a:p>
        </p:txBody>
      </p:sp>
      <p:sp>
        <p:nvSpPr>
          <p:cNvPr id="137220" name="Rectangle 3"/>
          <p:cNvSpPr>
            <a:spLocks noGrp="1" noChangeArrowheads="1"/>
          </p:cNvSpPr>
          <p:nvPr>
            <p:ph type="body" idx="1"/>
          </p:nvPr>
        </p:nvSpPr>
        <p:spPr/>
        <p:txBody>
          <a:bodyPr/>
          <a:lstStyle/>
          <a:p>
            <a:r>
              <a:rPr lang="en-US" altLang="en-US" smtClean="0">
                <a:ea typeface="ＭＳ Ｐゴシック" pitchFamily="34" charset="-128"/>
              </a:rPr>
              <a:t>policy: For a given datagram, sending entity needs to know if it should use IPsec</a:t>
            </a:r>
          </a:p>
          <a:p>
            <a:r>
              <a:rPr lang="en-US" altLang="en-US" smtClean="0">
                <a:ea typeface="ＭＳ Ｐゴシック" pitchFamily="34" charset="-128"/>
              </a:rPr>
              <a:t>needs also to know which SA to use</a:t>
            </a:r>
          </a:p>
          <a:p>
            <a:pPr lvl="1"/>
            <a:r>
              <a:rPr lang="en-US" altLang="en-US" smtClean="0">
                <a:ea typeface="ＭＳ Ｐゴシック" pitchFamily="34" charset="-128"/>
              </a:rPr>
              <a:t>may use: source and destination IP address; protocol number</a:t>
            </a:r>
          </a:p>
          <a:p>
            <a:r>
              <a:rPr lang="en-US" altLang="en-US" smtClean="0">
                <a:ea typeface="ＭＳ Ｐゴシック" pitchFamily="34" charset="-128"/>
              </a:rPr>
              <a:t>info in SPD indicates </a:t>
            </a:r>
            <a:r>
              <a:rPr lang="ja-JP" altLang="en-US" smtClean="0">
                <a:ea typeface="ＭＳ Ｐゴシック" pitchFamily="34" charset="-128"/>
              </a:rPr>
              <a:t>“</a:t>
            </a:r>
            <a:r>
              <a:rPr lang="en-US" altLang="ja-JP" smtClean="0">
                <a:ea typeface="ＭＳ Ｐゴシック" pitchFamily="34" charset="-128"/>
              </a:rPr>
              <a:t>what</a:t>
            </a:r>
            <a:r>
              <a:rPr lang="ja-JP" altLang="en-US" smtClean="0">
                <a:ea typeface="ＭＳ Ｐゴシック" pitchFamily="34" charset="-128"/>
              </a:rPr>
              <a:t>”</a:t>
            </a:r>
            <a:r>
              <a:rPr lang="en-US" altLang="ja-JP" smtClean="0">
                <a:ea typeface="ＭＳ Ｐゴシック" pitchFamily="34" charset="-128"/>
              </a:rPr>
              <a:t> to do with arriving datagram </a:t>
            </a:r>
          </a:p>
          <a:p>
            <a:r>
              <a:rPr lang="en-US" altLang="en-US" smtClean="0">
                <a:ea typeface="ＭＳ Ｐゴシック" pitchFamily="34" charset="-128"/>
              </a:rPr>
              <a:t>info in SAD indicates </a:t>
            </a:r>
            <a:r>
              <a:rPr lang="ja-JP" altLang="en-US" smtClean="0">
                <a:ea typeface="ＭＳ Ｐゴシック" pitchFamily="34" charset="-128"/>
              </a:rPr>
              <a:t>“</a:t>
            </a:r>
            <a:r>
              <a:rPr lang="en-US" altLang="ja-JP" smtClean="0">
                <a:ea typeface="ＭＳ Ｐゴシック" pitchFamily="34" charset="-128"/>
              </a:rPr>
              <a:t>how</a:t>
            </a:r>
            <a:r>
              <a:rPr lang="ja-JP" altLang="en-US" smtClean="0">
                <a:ea typeface="ＭＳ Ｐゴシック" pitchFamily="34" charset="-128"/>
              </a:rPr>
              <a:t>”</a:t>
            </a:r>
            <a:r>
              <a:rPr lang="en-US" altLang="ja-JP" smtClean="0">
                <a:ea typeface="ＭＳ Ｐゴシック" pitchFamily="34" charset="-128"/>
              </a:rPr>
              <a:t> to do it </a:t>
            </a:r>
            <a:endParaRPr lang="en-US" altLang="en-US" smtClean="0">
              <a:ea typeface="ＭＳ Ｐゴシック" pitchFamily="34" charset="-128"/>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1" name="Picture 19"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738" y="1025525"/>
            <a:ext cx="5942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79"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38243" name="Title 1"/>
          <p:cNvSpPr>
            <a:spLocks noGrp="1"/>
          </p:cNvSpPr>
          <p:nvPr>
            <p:ph type="title"/>
          </p:nvPr>
        </p:nvSpPr>
        <p:spPr/>
        <p:txBody>
          <a:bodyPr/>
          <a:lstStyle/>
          <a:p>
            <a:r>
              <a:rPr lang="en-US" altLang="en-US" smtClean="0">
                <a:ea typeface="ＭＳ Ｐゴシック" pitchFamily="34" charset="-128"/>
              </a:rPr>
              <a:t>Summary: IPsec services</a:t>
            </a:r>
          </a:p>
        </p:txBody>
      </p:sp>
      <p:sp>
        <p:nvSpPr>
          <p:cNvPr id="138244" name="Content Placeholder 2"/>
          <p:cNvSpPr>
            <a:spLocks noGrp="1"/>
          </p:cNvSpPr>
          <p:nvPr>
            <p:ph idx="1"/>
          </p:nvPr>
        </p:nvSpPr>
        <p:spPr>
          <a:xfrm>
            <a:off x="560388" y="2351088"/>
            <a:ext cx="7772400" cy="4648200"/>
          </a:xfrm>
        </p:spPr>
        <p:txBody>
          <a:bodyPr/>
          <a:lstStyle/>
          <a:p>
            <a:r>
              <a:rPr lang="en-US" altLang="en-US" smtClean="0">
                <a:ea typeface="ＭＳ Ｐゴシック" pitchFamily="34" charset="-128"/>
              </a:rPr>
              <a:t>suppose Trudy sits somewhere between R1 and R2. she doesn</a:t>
            </a:r>
            <a:r>
              <a:rPr lang="ja-JP" altLang="en-US" smtClean="0">
                <a:ea typeface="ＭＳ Ｐゴシック" pitchFamily="34" charset="-128"/>
              </a:rPr>
              <a:t>’</a:t>
            </a:r>
            <a:r>
              <a:rPr lang="en-US" altLang="ja-JP" smtClean="0">
                <a:ea typeface="ＭＳ Ｐゴシック" pitchFamily="34" charset="-128"/>
              </a:rPr>
              <a:t>t know the keys. </a:t>
            </a:r>
          </a:p>
          <a:p>
            <a:pPr lvl="1"/>
            <a:r>
              <a:rPr lang="en-US" altLang="en-US" smtClean="0">
                <a:ea typeface="ＭＳ Ｐゴシック" pitchFamily="34" charset="-128"/>
              </a:rPr>
              <a:t>will Trudy be able to see original contents of datagram? How about source, dest IP address, transport protocol, application port?</a:t>
            </a:r>
          </a:p>
          <a:p>
            <a:pPr lvl="1"/>
            <a:r>
              <a:rPr lang="en-US" altLang="en-US" smtClean="0">
                <a:ea typeface="ＭＳ Ｐゴシック" pitchFamily="34" charset="-128"/>
              </a:rPr>
              <a:t>flip bits without detection?</a:t>
            </a:r>
          </a:p>
          <a:p>
            <a:pPr lvl="1"/>
            <a:r>
              <a:rPr lang="en-US" altLang="en-US" smtClean="0">
                <a:ea typeface="ＭＳ Ｐゴシック" pitchFamily="34" charset="-128"/>
              </a:rPr>
              <a:t>masquerade as R1 using R1</a:t>
            </a:r>
            <a:r>
              <a:rPr lang="ja-JP" altLang="en-US" smtClean="0">
                <a:ea typeface="ＭＳ Ｐゴシック" pitchFamily="34" charset="-128"/>
              </a:rPr>
              <a:t>’</a:t>
            </a:r>
            <a:r>
              <a:rPr lang="en-US" altLang="ja-JP" smtClean="0">
                <a:ea typeface="ＭＳ Ｐゴシック" pitchFamily="34" charset="-128"/>
              </a:rPr>
              <a:t>s IP address?</a:t>
            </a:r>
          </a:p>
          <a:p>
            <a:pPr lvl="1"/>
            <a:r>
              <a:rPr lang="en-US" altLang="en-US" smtClean="0">
                <a:ea typeface="ＭＳ Ｐゴシック" pitchFamily="34" charset="-128"/>
              </a:rPr>
              <a:t>replay a datagram?</a:t>
            </a:r>
          </a:p>
          <a:p>
            <a:pPr lvl="1"/>
            <a:endParaRPr lang="en-US" altLang="en-US" smtClean="0">
              <a:ea typeface="ＭＳ Ｐゴシック" pitchFamily="34" charset="-128"/>
            </a:endParaRPr>
          </a:p>
          <a:p>
            <a:pPr lvl="1"/>
            <a:endParaRPr lang="en-US" altLang="en-US" smtClean="0">
              <a:ea typeface="ＭＳ Ｐゴシック" pitchFamily="34" charset="-128"/>
            </a:endParaRPr>
          </a:p>
        </p:txBody>
      </p:sp>
      <p:pic>
        <p:nvPicPr>
          <p:cNvPr id="138245" name="Picture 9"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3625" y="1336675"/>
            <a:ext cx="9366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39266" name="Rectangle 2"/>
          <p:cNvSpPr>
            <a:spLocks noGrp="1" noChangeArrowheads="1"/>
          </p:cNvSpPr>
          <p:nvPr>
            <p:ph type="title"/>
          </p:nvPr>
        </p:nvSpPr>
        <p:spPr/>
        <p:txBody>
          <a:bodyPr/>
          <a:lstStyle/>
          <a:p>
            <a:r>
              <a:rPr lang="en-US" altLang="en-US" smtClean="0">
                <a:ea typeface="ＭＳ Ｐゴシック" pitchFamily="34" charset="-128"/>
              </a:rPr>
              <a:t>IKE: Internet Key Exchange </a:t>
            </a:r>
          </a:p>
        </p:txBody>
      </p:sp>
      <p:sp>
        <p:nvSpPr>
          <p:cNvPr id="139267" name="Rectangle 3"/>
          <p:cNvSpPr>
            <a:spLocks noGrp="1" noChangeArrowheads="1"/>
          </p:cNvSpPr>
          <p:nvPr>
            <p:ph type="body" idx="1"/>
          </p:nvPr>
        </p:nvSpPr>
        <p:spPr/>
        <p:txBody>
          <a:bodyPr/>
          <a:lstStyle/>
          <a:p>
            <a:pPr>
              <a:lnSpc>
                <a:spcPct val="80000"/>
              </a:lnSpc>
            </a:pPr>
            <a:r>
              <a:rPr lang="en-US" altLang="en-US" sz="2400" i="1" smtClean="0">
                <a:solidFill>
                  <a:srgbClr val="CC0000"/>
                </a:solidFill>
                <a:ea typeface="ＭＳ Ｐゴシック" pitchFamily="34" charset="-128"/>
              </a:rPr>
              <a:t>previous examples: </a:t>
            </a:r>
            <a:r>
              <a:rPr lang="en-US" altLang="en-US" sz="2400" smtClean="0">
                <a:ea typeface="ＭＳ Ｐゴシック" pitchFamily="34" charset="-128"/>
              </a:rPr>
              <a:t>manual establishment of IPsec SAs in IPsec endpoints:</a:t>
            </a:r>
          </a:p>
          <a:p>
            <a:pPr lvl="2">
              <a:lnSpc>
                <a:spcPct val="80000"/>
              </a:lnSpc>
              <a:buFontTx/>
              <a:buNone/>
            </a:pPr>
            <a:r>
              <a:rPr lang="en-US" altLang="en-US" i="1" smtClean="0">
                <a:solidFill>
                  <a:srgbClr val="CC0000"/>
                </a:solidFill>
                <a:latin typeface="Arial" pitchFamily="34" charset="0"/>
                <a:ea typeface="ＭＳ Ｐゴシック" pitchFamily="34" charset="-128"/>
                <a:cs typeface="Arial" pitchFamily="34" charset="0"/>
              </a:rPr>
              <a:t>Example SA</a:t>
            </a:r>
          </a:p>
          <a:p>
            <a:pPr lvl="3">
              <a:lnSpc>
                <a:spcPct val="80000"/>
              </a:lnSpc>
              <a:buFontTx/>
              <a:buNone/>
            </a:pPr>
            <a:r>
              <a:rPr lang="en-US" altLang="en-US" smtClean="0">
                <a:latin typeface="Arial" pitchFamily="34" charset="0"/>
                <a:ea typeface="ＭＳ Ｐゴシック" pitchFamily="34" charset="-128"/>
                <a:cs typeface="Arial" pitchFamily="34" charset="0"/>
              </a:rPr>
              <a:t>SPI: 12345</a:t>
            </a:r>
          </a:p>
          <a:p>
            <a:pPr lvl="3">
              <a:lnSpc>
                <a:spcPct val="80000"/>
              </a:lnSpc>
              <a:buFontTx/>
              <a:buNone/>
            </a:pPr>
            <a:r>
              <a:rPr lang="en-US" altLang="en-US" smtClean="0">
                <a:latin typeface="Arial" pitchFamily="34" charset="0"/>
                <a:ea typeface="ＭＳ Ｐゴシック" pitchFamily="34" charset="-128"/>
                <a:cs typeface="Arial" pitchFamily="34" charset="0"/>
              </a:rPr>
              <a:t>Source IP: 200.168.1.100</a:t>
            </a:r>
          </a:p>
          <a:p>
            <a:pPr lvl="3">
              <a:lnSpc>
                <a:spcPct val="80000"/>
              </a:lnSpc>
              <a:buFontTx/>
              <a:buNone/>
            </a:pPr>
            <a:r>
              <a:rPr lang="en-US" altLang="en-US" smtClean="0">
                <a:latin typeface="Arial" pitchFamily="34" charset="0"/>
                <a:ea typeface="ＭＳ Ｐゴシック" pitchFamily="34" charset="-128"/>
                <a:cs typeface="Arial" pitchFamily="34" charset="0"/>
              </a:rPr>
              <a:t>Dest IP: 193.68.2.23 </a:t>
            </a:r>
          </a:p>
          <a:p>
            <a:pPr lvl="3">
              <a:lnSpc>
                <a:spcPct val="80000"/>
              </a:lnSpc>
              <a:buFontTx/>
              <a:buNone/>
            </a:pPr>
            <a:r>
              <a:rPr lang="en-US" altLang="en-US" smtClean="0">
                <a:latin typeface="Arial" pitchFamily="34" charset="0"/>
                <a:ea typeface="ＭＳ Ｐゴシック" pitchFamily="34" charset="-128"/>
                <a:cs typeface="Arial" pitchFamily="34" charset="0"/>
              </a:rPr>
              <a:t>Protocol: ESP</a:t>
            </a:r>
          </a:p>
          <a:p>
            <a:pPr lvl="3">
              <a:lnSpc>
                <a:spcPct val="80000"/>
              </a:lnSpc>
              <a:buFontTx/>
              <a:buNone/>
            </a:pPr>
            <a:r>
              <a:rPr lang="en-US" altLang="en-US" smtClean="0">
                <a:latin typeface="Arial" pitchFamily="34" charset="0"/>
                <a:ea typeface="ＭＳ Ｐゴシック" pitchFamily="34" charset="-128"/>
                <a:cs typeface="Arial" pitchFamily="34" charset="0"/>
              </a:rPr>
              <a:t>Encryption algorithm: 3DES-cbc</a:t>
            </a:r>
          </a:p>
          <a:p>
            <a:pPr lvl="3">
              <a:lnSpc>
                <a:spcPct val="80000"/>
              </a:lnSpc>
              <a:buFontTx/>
              <a:buNone/>
            </a:pPr>
            <a:r>
              <a:rPr lang="en-US" altLang="en-US" smtClean="0">
                <a:latin typeface="Arial" pitchFamily="34" charset="0"/>
                <a:ea typeface="ＭＳ Ｐゴシック" pitchFamily="34" charset="-128"/>
                <a:cs typeface="Arial" pitchFamily="34" charset="0"/>
              </a:rPr>
              <a:t>HMAC algorithm: MD5</a:t>
            </a:r>
          </a:p>
          <a:p>
            <a:pPr lvl="3">
              <a:lnSpc>
                <a:spcPct val="80000"/>
              </a:lnSpc>
              <a:buFontTx/>
              <a:buNone/>
            </a:pPr>
            <a:r>
              <a:rPr lang="en-US" altLang="en-US" smtClean="0">
                <a:latin typeface="Arial" pitchFamily="34" charset="0"/>
                <a:ea typeface="ＭＳ Ｐゴシック" pitchFamily="34" charset="-128"/>
                <a:cs typeface="Arial" pitchFamily="34" charset="0"/>
              </a:rPr>
              <a:t>Encryption key: 0x7aeaca…</a:t>
            </a:r>
          </a:p>
          <a:p>
            <a:pPr lvl="3">
              <a:lnSpc>
                <a:spcPct val="80000"/>
              </a:lnSpc>
              <a:buFontTx/>
              <a:buNone/>
            </a:pPr>
            <a:r>
              <a:rPr lang="en-US" altLang="en-US" smtClean="0">
                <a:latin typeface="Arial" pitchFamily="34" charset="0"/>
                <a:ea typeface="ＭＳ Ｐゴシック" pitchFamily="34" charset="-128"/>
                <a:cs typeface="Arial" pitchFamily="34" charset="0"/>
              </a:rPr>
              <a:t>HMAC key:0xc0291f…</a:t>
            </a:r>
          </a:p>
          <a:p>
            <a:pPr>
              <a:lnSpc>
                <a:spcPct val="80000"/>
              </a:lnSpc>
            </a:pPr>
            <a:r>
              <a:rPr lang="en-US" altLang="en-US" sz="2400" smtClean="0">
                <a:ea typeface="ＭＳ Ｐゴシック" pitchFamily="34" charset="-128"/>
              </a:rPr>
              <a:t>manual keying is impractical for VPN with 100s of endpoints </a:t>
            </a:r>
          </a:p>
          <a:p>
            <a:pPr>
              <a:lnSpc>
                <a:spcPct val="80000"/>
              </a:lnSpc>
            </a:pPr>
            <a:r>
              <a:rPr lang="en-US" altLang="en-US" sz="2400" smtClean="0">
                <a:ea typeface="ＭＳ Ｐゴシック" pitchFamily="34" charset="-128"/>
              </a:rPr>
              <a:t>instead use </a:t>
            </a:r>
            <a:r>
              <a:rPr lang="en-US" altLang="en-US" sz="2400" i="1" smtClean="0">
                <a:solidFill>
                  <a:srgbClr val="CC0000"/>
                </a:solidFill>
                <a:ea typeface="ＭＳ Ｐゴシック" pitchFamily="34" charset="-128"/>
              </a:rPr>
              <a:t>IPsec IKE (Internet Key Exchange</a:t>
            </a:r>
            <a:r>
              <a:rPr lang="en-US" altLang="en-US" sz="2400" i="1" smtClean="0">
                <a:ea typeface="ＭＳ Ｐゴシック" pitchFamily="34" charset="-128"/>
              </a:rPr>
              <a:t>)</a:t>
            </a:r>
          </a:p>
          <a:p>
            <a:pPr lvl="1">
              <a:lnSpc>
                <a:spcPct val="80000"/>
              </a:lnSpc>
              <a:buFont typeface="Wingdings" pitchFamily="2" charset="2"/>
              <a:buNone/>
            </a:pPr>
            <a:endParaRPr lang="en-US" altLang="en-US" sz="2000" smtClean="0">
              <a:ea typeface="ＭＳ Ｐゴシック" pitchFamily="34" charset="-128"/>
            </a:endParaRPr>
          </a:p>
        </p:txBody>
      </p:sp>
      <p:pic>
        <p:nvPicPr>
          <p:cNvPr id="139268" name="Picture 17"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700" y="1050925"/>
            <a:ext cx="6856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40290" name="Rectangle 2"/>
          <p:cNvSpPr>
            <a:spLocks noGrp="1" noChangeArrowheads="1"/>
          </p:cNvSpPr>
          <p:nvPr>
            <p:ph type="title"/>
          </p:nvPr>
        </p:nvSpPr>
        <p:spPr>
          <a:xfrm>
            <a:off x="506413" y="0"/>
            <a:ext cx="7772400" cy="1143000"/>
          </a:xfrm>
        </p:spPr>
        <p:txBody>
          <a:bodyPr/>
          <a:lstStyle/>
          <a:p>
            <a:r>
              <a:rPr lang="en-US" altLang="en-US" smtClean="0">
                <a:ea typeface="ＭＳ Ｐゴシック" pitchFamily="34" charset="-128"/>
              </a:rPr>
              <a:t>IKE: PSK and PKI</a:t>
            </a:r>
          </a:p>
        </p:txBody>
      </p:sp>
      <p:sp>
        <p:nvSpPr>
          <p:cNvPr id="140291" name="Rectangle 3"/>
          <p:cNvSpPr>
            <a:spLocks noGrp="1" noChangeArrowheads="1"/>
          </p:cNvSpPr>
          <p:nvPr>
            <p:ph type="body" idx="1"/>
          </p:nvPr>
        </p:nvSpPr>
        <p:spPr>
          <a:xfrm>
            <a:off x="492125" y="1254125"/>
            <a:ext cx="8245475" cy="4926013"/>
          </a:xfrm>
        </p:spPr>
        <p:txBody>
          <a:bodyPr/>
          <a:lstStyle/>
          <a:p>
            <a:pPr>
              <a:lnSpc>
                <a:spcPct val="90000"/>
              </a:lnSpc>
            </a:pPr>
            <a:r>
              <a:rPr lang="en-US" altLang="en-US" smtClean="0">
                <a:ea typeface="ＭＳ Ｐゴシック" pitchFamily="34" charset="-128"/>
              </a:rPr>
              <a:t>authentication (prove who you are) with either</a:t>
            </a:r>
          </a:p>
          <a:p>
            <a:pPr lvl="1">
              <a:lnSpc>
                <a:spcPct val="90000"/>
              </a:lnSpc>
            </a:pPr>
            <a:r>
              <a:rPr lang="en-US" altLang="en-US" smtClean="0">
                <a:ea typeface="ＭＳ Ｐゴシック" pitchFamily="34" charset="-128"/>
              </a:rPr>
              <a:t>pre-shared secret (PSK) or </a:t>
            </a:r>
          </a:p>
          <a:p>
            <a:pPr lvl="1">
              <a:lnSpc>
                <a:spcPct val="90000"/>
              </a:lnSpc>
            </a:pPr>
            <a:r>
              <a:rPr lang="en-US" altLang="en-US" smtClean="0">
                <a:ea typeface="ＭＳ Ｐゴシック" pitchFamily="34" charset="-128"/>
              </a:rPr>
              <a:t>with PKI (pubic/private keys and certificates).</a:t>
            </a:r>
          </a:p>
          <a:p>
            <a:pPr>
              <a:lnSpc>
                <a:spcPct val="90000"/>
              </a:lnSpc>
            </a:pPr>
            <a:r>
              <a:rPr lang="en-US" altLang="en-US" smtClean="0">
                <a:ea typeface="ＭＳ Ｐゴシック" pitchFamily="34" charset="-128"/>
              </a:rPr>
              <a:t>PSK: both sides start with secret</a:t>
            </a:r>
          </a:p>
          <a:p>
            <a:pPr lvl="1">
              <a:lnSpc>
                <a:spcPct val="90000"/>
              </a:lnSpc>
            </a:pPr>
            <a:r>
              <a:rPr lang="en-US" altLang="en-US" smtClean="0">
                <a:ea typeface="ＭＳ Ｐゴシック" pitchFamily="34" charset="-128"/>
              </a:rPr>
              <a:t>run IKE to authenticate each other and to generate IPsec SAs (one in each direction), including encryption, authentication keys</a:t>
            </a:r>
          </a:p>
          <a:p>
            <a:pPr>
              <a:lnSpc>
                <a:spcPct val="90000"/>
              </a:lnSpc>
            </a:pPr>
            <a:r>
              <a:rPr lang="en-US" altLang="en-US" smtClean="0">
                <a:ea typeface="ＭＳ Ｐゴシック" pitchFamily="34" charset="-128"/>
              </a:rPr>
              <a:t>PKI: both sides start with public/private key pair, certificate</a:t>
            </a:r>
          </a:p>
          <a:p>
            <a:pPr lvl="1">
              <a:lnSpc>
                <a:spcPct val="90000"/>
              </a:lnSpc>
            </a:pPr>
            <a:r>
              <a:rPr lang="en-US" altLang="en-US" smtClean="0">
                <a:ea typeface="ＭＳ Ｐゴシック" pitchFamily="34" charset="-128"/>
              </a:rPr>
              <a:t>run IKE to authenticate each other, obtain IPsec SAs (one in each direction).</a:t>
            </a:r>
          </a:p>
          <a:p>
            <a:pPr lvl="1">
              <a:lnSpc>
                <a:spcPct val="90000"/>
              </a:lnSpc>
            </a:pPr>
            <a:r>
              <a:rPr lang="en-US" altLang="en-US" smtClean="0">
                <a:ea typeface="ＭＳ Ｐゴシック" pitchFamily="34" charset="-128"/>
              </a:rPr>
              <a:t>similar with handshake in SSL.</a:t>
            </a:r>
          </a:p>
          <a:p>
            <a:pPr lvl="1">
              <a:lnSpc>
                <a:spcPct val="90000"/>
              </a:lnSpc>
              <a:buFont typeface="Wingdings" pitchFamily="2" charset="2"/>
              <a:buNone/>
            </a:pPr>
            <a:endParaRPr lang="en-US" altLang="en-US" smtClean="0">
              <a:ea typeface="ＭＳ Ｐゴシック" pitchFamily="34" charset="-128"/>
            </a:endParaRPr>
          </a:p>
          <a:p>
            <a:pPr lvl="1">
              <a:lnSpc>
                <a:spcPct val="90000"/>
              </a:lnSpc>
              <a:buFont typeface="Wingdings" pitchFamily="2" charset="2"/>
              <a:buNone/>
            </a:pPr>
            <a:endParaRPr lang="en-US" altLang="en-US" smtClean="0">
              <a:ea typeface="ＭＳ Ｐゴシック" pitchFamily="34" charset="-128"/>
            </a:endParaRPr>
          </a:p>
        </p:txBody>
      </p:sp>
      <p:pic>
        <p:nvPicPr>
          <p:cNvPr id="140292" name="Picture 23"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563" y="815975"/>
            <a:ext cx="4113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3" name="Picture 24" descr="underline_base"/>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6425" y="1063625"/>
            <a:ext cx="2562225"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1"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41315" name="Rectangle 2"/>
          <p:cNvSpPr>
            <a:spLocks noGrp="1" noChangeArrowheads="1"/>
          </p:cNvSpPr>
          <p:nvPr>
            <p:ph type="title"/>
          </p:nvPr>
        </p:nvSpPr>
        <p:spPr/>
        <p:txBody>
          <a:bodyPr/>
          <a:lstStyle/>
          <a:p>
            <a:r>
              <a:rPr lang="en-US" altLang="en-US" smtClean="0">
                <a:ea typeface="ＭＳ Ｐゴシック" pitchFamily="34" charset="-128"/>
              </a:rPr>
              <a:t>IKE phases</a:t>
            </a:r>
          </a:p>
        </p:txBody>
      </p:sp>
      <p:sp>
        <p:nvSpPr>
          <p:cNvPr id="141316" name="Rectangle 3"/>
          <p:cNvSpPr>
            <a:spLocks noGrp="1" noChangeArrowheads="1"/>
          </p:cNvSpPr>
          <p:nvPr>
            <p:ph type="body" idx="1"/>
          </p:nvPr>
        </p:nvSpPr>
        <p:spPr/>
        <p:txBody>
          <a:bodyPr/>
          <a:lstStyle/>
          <a:p>
            <a:pPr>
              <a:lnSpc>
                <a:spcPct val="90000"/>
              </a:lnSpc>
            </a:pPr>
            <a:r>
              <a:rPr lang="en-US" altLang="en-US" smtClean="0">
                <a:ea typeface="ＭＳ Ｐゴシック" pitchFamily="34" charset="-128"/>
              </a:rPr>
              <a:t>IKE has two phases</a:t>
            </a:r>
          </a:p>
          <a:p>
            <a:pPr lvl="1">
              <a:lnSpc>
                <a:spcPct val="90000"/>
              </a:lnSpc>
            </a:pPr>
            <a:r>
              <a:rPr lang="en-US" altLang="en-US" i="1" smtClean="0">
                <a:solidFill>
                  <a:srgbClr val="000099"/>
                </a:solidFill>
                <a:ea typeface="ＭＳ Ｐゴシック" pitchFamily="34" charset="-128"/>
              </a:rPr>
              <a:t>phase 1: </a:t>
            </a:r>
            <a:r>
              <a:rPr lang="en-US" altLang="en-US" smtClean="0">
                <a:ea typeface="ＭＳ Ｐゴシック" pitchFamily="34" charset="-128"/>
              </a:rPr>
              <a:t>establish bi-directional IKE SA</a:t>
            </a:r>
          </a:p>
          <a:p>
            <a:pPr lvl="2">
              <a:lnSpc>
                <a:spcPct val="90000"/>
              </a:lnSpc>
            </a:pPr>
            <a:r>
              <a:rPr lang="en-US" altLang="en-US" sz="2400" smtClean="0">
                <a:latin typeface="Gill Sans MT" pitchFamily="34" charset="0"/>
                <a:ea typeface="ＭＳ Ｐゴシック" pitchFamily="34" charset="-128"/>
              </a:rPr>
              <a:t>note: IKE SA different from IPsec SA</a:t>
            </a:r>
          </a:p>
          <a:p>
            <a:pPr lvl="2">
              <a:lnSpc>
                <a:spcPct val="90000"/>
              </a:lnSpc>
            </a:pPr>
            <a:r>
              <a:rPr lang="en-US" altLang="en-US" sz="2400" smtClean="0">
                <a:latin typeface="Gill Sans MT" pitchFamily="34" charset="0"/>
                <a:ea typeface="ＭＳ Ｐゴシック" pitchFamily="34" charset="-128"/>
              </a:rPr>
              <a:t>aka ISAKMP security association</a:t>
            </a:r>
          </a:p>
          <a:p>
            <a:pPr lvl="1">
              <a:lnSpc>
                <a:spcPct val="90000"/>
              </a:lnSpc>
            </a:pPr>
            <a:r>
              <a:rPr lang="en-US" altLang="en-US" i="1" smtClean="0">
                <a:solidFill>
                  <a:srgbClr val="000099"/>
                </a:solidFill>
                <a:ea typeface="ＭＳ Ｐゴシック" pitchFamily="34" charset="-128"/>
              </a:rPr>
              <a:t>phase 2: </a:t>
            </a:r>
            <a:r>
              <a:rPr lang="en-US" altLang="en-US" smtClean="0">
                <a:ea typeface="ＭＳ Ｐゴシック" pitchFamily="34" charset="-128"/>
              </a:rPr>
              <a:t>ISAKMP is used to securely negotiate IPsec pair of SAs</a:t>
            </a:r>
          </a:p>
          <a:p>
            <a:pPr>
              <a:lnSpc>
                <a:spcPct val="90000"/>
              </a:lnSpc>
            </a:pPr>
            <a:r>
              <a:rPr lang="en-US" altLang="en-US" smtClean="0">
                <a:ea typeface="ＭＳ Ｐゴシック" pitchFamily="34" charset="-128"/>
              </a:rPr>
              <a:t>phase 1 has two modes: aggressive mode and main mode</a:t>
            </a:r>
          </a:p>
          <a:p>
            <a:pPr lvl="1">
              <a:lnSpc>
                <a:spcPct val="90000"/>
              </a:lnSpc>
            </a:pPr>
            <a:r>
              <a:rPr lang="en-US" altLang="en-US" smtClean="0">
                <a:ea typeface="ＭＳ Ｐゴシック" pitchFamily="34" charset="-128"/>
              </a:rPr>
              <a:t>aggressive mode uses fewer messages</a:t>
            </a:r>
          </a:p>
          <a:p>
            <a:pPr lvl="1">
              <a:lnSpc>
                <a:spcPct val="90000"/>
              </a:lnSpc>
            </a:pPr>
            <a:r>
              <a:rPr lang="en-US" altLang="en-US" smtClean="0">
                <a:ea typeface="ＭＳ Ｐゴシック" pitchFamily="34" charset="-128"/>
              </a:rPr>
              <a:t>main mode provides identity protection and is more flexible</a:t>
            </a:r>
          </a:p>
          <a:p>
            <a:pPr lvl="1">
              <a:lnSpc>
                <a:spcPct val="90000"/>
              </a:lnSpc>
              <a:buFont typeface="Wingdings" pitchFamily="2" charset="2"/>
              <a:buNone/>
            </a:pPr>
            <a:endParaRPr lang="en-US" altLang="en-US" smtClean="0">
              <a:ea typeface="ＭＳ Ｐゴシック" pitchFamily="34" charset="-128"/>
            </a:endParaRPr>
          </a:p>
          <a:p>
            <a:pPr lvl="1">
              <a:lnSpc>
                <a:spcPct val="90000"/>
              </a:lnSpc>
            </a:pPr>
            <a:endParaRPr lang="en-US" altLang="en-US" smtClean="0">
              <a:ea typeface="ＭＳ Ｐゴシック" pitchFamily="34" charset="-128"/>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7" name="Picture 24"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1031875"/>
            <a:ext cx="36560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5"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42339" name="Rectangle 2"/>
          <p:cNvSpPr>
            <a:spLocks noGrp="1" noChangeArrowheads="1"/>
          </p:cNvSpPr>
          <p:nvPr>
            <p:ph type="title"/>
          </p:nvPr>
        </p:nvSpPr>
        <p:spPr/>
        <p:txBody>
          <a:bodyPr/>
          <a:lstStyle/>
          <a:p>
            <a:r>
              <a:rPr lang="en-US" altLang="en-US" smtClean="0">
                <a:ea typeface="ＭＳ Ｐゴシック" pitchFamily="34" charset="-128"/>
              </a:rPr>
              <a:t>IPsec summary</a:t>
            </a:r>
          </a:p>
        </p:txBody>
      </p:sp>
      <p:sp>
        <p:nvSpPr>
          <p:cNvPr id="142340" name="Rectangle 3"/>
          <p:cNvSpPr>
            <a:spLocks noGrp="1" noChangeArrowheads="1"/>
          </p:cNvSpPr>
          <p:nvPr>
            <p:ph type="body" idx="1"/>
          </p:nvPr>
        </p:nvSpPr>
        <p:spPr/>
        <p:txBody>
          <a:bodyPr/>
          <a:lstStyle/>
          <a:p>
            <a:r>
              <a:rPr lang="en-US" altLang="en-US" smtClean="0">
                <a:ea typeface="ＭＳ Ｐゴシック" pitchFamily="34" charset="-128"/>
              </a:rPr>
              <a:t>IKE message exchange for algorithms, secret keys, SPI numbers</a:t>
            </a:r>
          </a:p>
          <a:p>
            <a:r>
              <a:rPr lang="en-US" altLang="en-US" smtClean="0">
                <a:ea typeface="ＭＳ Ｐゴシック" pitchFamily="34" charset="-128"/>
              </a:rPr>
              <a:t>either AH or ESP protocol  (or both)</a:t>
            </a:r>
          </a:p>
          <a:p>
            <a:pPr lvl="1"/>
            <a:r>
              <a:rPr lang="en-US" altLang="en-US" sz="2800" smtClean="0">
                <a:ea typeface="ＭＳ Ｐゴシック" pitchFamily="34" charset="-128"/>
              </a:rPr>
              <a:t>AH provides integrity, source authentication</a:t>
            </a:r>
          </a:p>
          <a:p>
            <a:pPr lvl="1"/>
            <a:r>
              <a:rPr lang="en-US" altLang="en-US" sz="2800" smtClean="0">
                <a:ea typeface="ＭＳ Ｐゴシック" pitchFamily="34" charset="-128"/>
              </a:rPr>
              <a:t>ESP protocol (with AH) additionally provides encryption</a:t>
            </a:r>
          </a:p>
          <a:p>
            <a:r>
              <a:rPr lang="en-US" altLang="en-US" smtClean="0">
                <a:ea typeface="ＭＳ Ｐゴシック" pitchFamily="34" charset="-128"/>
              </a:rPr>
              <a:t>IPsec peers can be two end systems, two routers/firewalls, or a router/firewall and an end system</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43362" name="Rectangle 2"/>
          <p:cNvSpPr>
            <a:spLocks noGrp="1" noChangeArrowheads="1"/>
          </p:cNvSpPr>
          <p:nvPr>
            <p:ph type="title"/>
          </p:nvPr>
        </p:nvSpPr>
        <p:spPr/>
        <p:txBody>
          <a:bodyPr/>
          <a:lstStyle/>
          <a:p>
            <a:r>
              <a:rPr lang="en-US" altLang="en-US" smtClean="0">
                <a:ea typeface="ＭＳ Ｐゴシック" pitchFamily="34" charset="-128"/>
              </a:rPr>
              <a:t>Chapter 8 roadmap</a:t>
            </a:r>
          </a:p>
        </p:txBody>
      </p:sp>
      <p:sp>
        <p:nvSpPr>
          <p:cNvPr id="143363" name="Rectangle 3"/>
          <p:cNvSpPr>
            <a:spLocks noGrp="1" noChangeArrowheads="1"/>
          </p:cNvSpPr>
          <p:nvPr>
            <p:ph type="body" idx="1"/>
          </p:nvPr>
        </p:nvSpPr>
        <p:spPr>
          <a:xfrm>
            <a:off x="650875" y="1668463"/>
            <a:ext cx="7772400" cy="4648200"/>
          </a:xfrm>
        </p:spPr>
        <p:txBody>
          <a:bodyPr/>
          <a:lstStyle/>
          <a:p>
            <a:pPr>
              <a:buFont typeface="Wingdings" pitchFamily="2" charset="2"/>
              <a:buNone/>
            </a:pPr>
            <a:r>
              <a:rPr lang="en-US" altLang="en-US" smtClean="0">
                <a:solidFill>
                  <a:srgbClr val="2D2DB9"/>
                </a:solidFill>
                <a:ea typeface="ＭＳ Ｐゴシック" pitchFamily="34" charset="-128"/>
              </a:rPr>
              <a:t>8.1 </a:t>
            </a:r>
            <a:r>
              <a:rPr lang="en-US" altLang="en-US" smtClean="0">
                <a:ea typeface="ＭＳ Ｐゴシック" pitchFamily="34" charset="-128"/>
              </a:rPr>
              <a:t>What is network security?</a:t>
            </a:r>
          </a:p>
          <a:p>
            <a:pPr>
              <a:buFont typeface="Wingdings" pitchFamily="2" charset="2"/>
              <a:buNone/>
            </a:pPr>
            <a:r>
              <a:rPr lang="en-US" altLang="en-US" smtClean="0">
                <a:solidFill>
                  <a:srgbClr val="000099"/>
                </a:solidFill>
                <a:ea typeface="ＭＳ Ｐゴシック" pitchFamily="34" charset="-128"/>
              </a:rPr>
              <a:t>8.2</a:t>
            </a:r>
            <a:r>
              <a:rPr lang="en-US" altLang="en-US" smtClean="0">
                <a:ea typeface="ＭＳ Ｐゴシック" pitchFamily="34" charset="-128"/>
              </a:rPr>
              <a:t> Principles of cryptography</a:t>
            </a:r>
          </a:p>
          <a:p>
            <a:pPr>
              <a:buFont typeface="Wingdings" pitchFamily="2" charset="2"/>
              <a:buNone/>
            </a:pPr>
            <a:r>
              <a:rPr lang="en-US" altLang="en-US" smtClean="0">
                <a:solidFill>
                  <a:srgbClr val="000099"/>
                </a:solidFill>
                <a:ea typeface="ＭＳ Ｐゴシック" pitchFamily="34" charset="-128"/>
              </a:rPr>
              <a:t>8.3</a:t>
            </a:r>
            <a:r>
              <a:rPr lang="en-US" altLang="en-US" smtClean="0">
                <a:ea typeface="ＭＳ Ｐゴシック" pitchFamily="34" charset="-128"/>
              </a:rPr>
              <a:t> Message integrity</a:t>
            </a:r>
          </a:p>
          <a:p>
            <a:pPr>
              <a:buFont typeface="Wingdings" pitchFamily="2" charset="2"/>
              <a:buNone/>
            </a:pPr>
            <a:r>
              <a:rPr lang="en-US" altLang="en-US" smtClean="0">
                <a:solidFill>
                  <a:srgbClr val="000099"/>
                </a:solidFill>
                <a:ea typeface="ＭＳ Ｐゴシック" pitchFamily="34" charset="-128"/>
              </a:rPr>
              <a:t>8.4</a:t>
            </a:r>
            <a:r>
              <a:rPr lang="en-US" altLang="en-US" smtClean="0">
                <a:ea typeface="ＭＳ Ｐゴシック" pitchFamily="34" charset="-128"/>
              </a:rPr>
              <a:t> Securing e-mail</a:t>
            </a:r>
          </a:p>
          <a:p>
            <a:pPr>
              <a:buFont typeface="Wingdings" pitchFamily="2" charset="2"/>
              <a:buNone/>
            </a:pPr>
            <a:r>
              <a:rPr lang="en-US" altLang="en-US" smtClean="0">
                <a:solidFill>
                  <a:srgbClr val="000099"/>
                </a:solidFill>
                <a:ea typeface="ＭＳ Ｐゴシック" pitchFamily="34" charset="-128"/>
              </a:rPr>
              <a:t>8.5</a:t>
            </a:r>
            <a:r>
              <a:rPr lang="en-US" altLang="en-US" smtClean="0">
                <a:ea typeface="ＭＳ Ｐゴシック" pitchFamily="34" charset="-128"/>
              </a:rPr>
              <a:t> Securing TCP connections: SSL</a:t>
            </a:r>
          </a:p>
          <a:p>
            <a:pPr>
              <a:buFont typeface="Wingdings" pitchFamily="2" charset="2"/>
              <a:buNone/>
            </a:pPr>
            <a:r>
              <a:rPr lang="en-US" altLang="en-US" smtClean="0">
                <a:solidFill>
                  <a:srgbClr val="000099"/>
                </a:solidFill>
                <a:ea typeface="ＭＳ Ｐゴシック" pitchFamily="34" charset="-128"/>
              </a:rPr>
              <a:t>8.6</a:t>
            </a:r>
            <a:r>
              <a:rPr lang="en-US" altLang="en-US" smtClean="0">
                <a:ea typeface="ＭＳ Ｐゴシック" pitchFamily="34" charset="-128"/>
              </a:rPr>
              <a:t> Network layer security: IPsec</a:t>
            </a:r>
          </a:p>
          <a:p>
            <a:pPr>
              <a:buFont typeface="Wingdings" pitchFamily="2" charset="2"/>
              <a:buNone/>
            </a:pPr>
            <a:r>
              <a:rPr lang="en-US" altLang="en-US" i="1" smtClean="0">
                <a:solidFill>
                  <a:srgbClr val="CC0000"/>
                </a:solidFill>
                <a:ea typeface="ＭＳ Ｐゴシック" pitchFamily="34" charset="-128"/>
              </a:rPr>
              <a:t>8.7 Securing wireless LANs</a:t>
            </a:r>
          </a:p>
          <a:p>
            <a:pPr>
              <a:buFont typeface="Wingdings" pitchFamily="2" charset="2"/>
              <a:buNone/>
            </a:pPr>
            <a:r>
              <a:rPr lang="en-US" altLang="en-US" smtClean="0">
                <a:solidFill>
                  <a:srgbClr val="000099"/>
                </a:solidFill>
                <a:ea typeface="ＭＳ Ｐゴシック" pitchFamily="34" charset="-128"/>
              </a:rPr>
              <a:t>8.8</a:t>
            </a:r>
            <a:r>
              <a:rPr lang="en-US" altLang="en-US" smtClean="0">
                <a:ea typeface="ＭＳ Ｐゴシック" pitchFamily="34" charset="-128"/>
              </a:rPr>
              <a:t> Operational security: firewalls and IDS</a:t>
            </a:r>
          </a:p>
        </p:txBody>
      </p:sp>
      <p:pic>
        <p:nvPicPr>
          <p:cNvPr id="143364" name="Picture 22"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475" y="1038225"/>
            <a:ext cx="4570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09" name="Picture 23"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1044575"/>
            <a:ext cx="41132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3"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45411" name="Rectangle 2"/>
          <p:cNvSpPr>
            <a:spLocks noGrp="1" noChangeArrowheads="1"/>
          </p:cNvSpPr>
          <p:nvPr>
            <p:ph type="title"/>
          </p:nvPr>
        </p:nvSpPr>
        <p:spPr/>
        <p:txBody>
          <a:bodyPr/>
          <a:lstStyle/>
          <a:p>
            <a:r>
              <a:rPr lang="en-US" altLang="en-US" smtClean="0">
                <a:ea typeface="ＭＳ Ｐゴシック" pitchFamily="34" charset="-128"/>
              </a:rPr>
              <a:t>WEP design goals</a:t>
            </a:r>
          </a:p>
        </p:txBody>
      </p:sp>
      <p:sp>
        <p:nvSpPr>
          <p:cNvPr id="145412" name="Rectangle 3"/>
          <p:cNvSpPr>
            <a:spLocks noGrp="1" noChangeArrowheads="1"/>
          </p:cNvSpPr>
          <p:nvPr>
            <p:ph type="body" idx="1"/>
          </p:nvPr>
        </p:nvSpPr>
        <p:spPr>
          <a:xfrm>
            <a:off x="533400" y="1600200"/>
            <a:ext cx="8053388" cy="4648200"/>
          </a:xfrm>
        </p:spPr>
        <p:txBody>
          <a:bodyPr/>
          <a:lstStyle/>
          <a:p>
            <a:r>
              <a:rPr lang="en-US" altLang="en-US" smtClean="0">
                <a:ea typeface="ＭＳ Ｐゴシック" pitchFamily="34" charset="-128"/>
              </a:rPr>
              <a:t>symmetric key crypto</a:t>
            </a:r>
          </a:p>
          <a:p>
            <a:pPr lvl="1"/>
            <a:r>
              <a:rPr lang="en-US" altLang="en-US" smtClean="0">
                <a:ea typeface="ＭＳ Ｐゴシック" pitchFamily="34" charset="-128"/>
              </a:rPr>
              <a:t>confidentiality</a:t>
            </a:r>
          </a:p>
          <a:p>
            <a:pPr lvl="1"/>
            <a:r>
              <a:rPr lang="en-US" altLang="en-US" smtClean="0">
                <a:ea typeface="ＭＳ Ｐゴシック" pitchFamily="34" charset="-128"/>
              </a:rPr>
              <a:t>end host authorization</a:t>
            </a:r>
          </a:p>
          <a:p>
            <a:pPr lvl="1"/>
            <a:r>
              <a:rPr lang="en-US" altLang="en-US" smtClean="0">
                <a:ea typeface="ＭＳ Ｐゴシック" pitchFamily="34" charset="-128"/>
              </a:rPr>
              <a:t>data integrity</a:t>
            </a:r>
          </a:p>
          <a:p>
            <a:r>
              <a:rPr lang="en-US" altLang="en-US" smtClean="0">
                <a:ea typeface="ＭＳ Ｐゴシック" pitchFamily="34" charset="-128"/>
              </a:rPr>
              <a:t>self-synchronizing: each packet separately encrypted</a:t>
            </a:r>
          </a:p>
          <a:p>
            <a:pPr lvl="1"/>
            <a:r>
              <a:rPr lang="en-US" altLang="en-US" smtClean="0">
                <a:ea typeface="ＭＳ Ｐゴシック" pitchFamily="34" charset="-128"/>
              </a:rPr>
              <a:t>given encrypted packet and key, can decrypt; can continue to decrypt packets when preceding packet was lost (unlike Cipher Block Chaining (CBC) in block ciphers)</a:t>
            </a:r>
          </a:p>
          <a:p>
            <a:r>
              <a:rPr lang="en-US" altLang="en-US" sz="2400" smtClean="0">
                <a:ea typeface="ＭＳ Ｐゴシック" pitchFamily="34" charset="-128"/>
              </a:rPr>
              <a:t>Efficient</a:t>
            </a:r>
          </a:p>
          <a:p>
            <a:pPr lvl="1"/>
            <a:r>
              <a:rPr lang="en-US" altLang="en-US" smtClean="0">
                <a:ea typeface="ＭＳ Ｐゴシック" pitchFamily="34" charset="-128"/>
              </a:rPr>
              <a:t>implementable in hardware or software</a:t>
            </a:r>
          </a:p>
          <a:p>
            <a:pPr>
              <a:buFont typeface="Wingdings" pitchFamily="2" charset="2"/>
              <a:buNone/>
            </a:pPr>
            <a:endParaRPr lang="en-US" altLang="en-US" sz="2400" smtClean="0">
              <a:ea typeface="ＭＳ Ｐゴシック" pitchFamily="34" charset="-128"/>
            </a:endParaRPr>
          </a:p>
        </p:txBody>
      </p:sp>
      <p:grpSp>
        <p:nvGrpSpPr>
          <p:cNvPr id="145413" name="Group 356"/>
          <p:cNvGrpSpPr>
            <a:grpSpLocks/>
          </p:cNvGrpSpPr>
          <p:nvPr/>
        </p:nvGrpSpPr>
        <p:grpSpPr bwMode="auto">
          <a:xfrm>
            <a:off x="6745288" y="1870075"/>
            <a:ext cx="1187450" cy="1058863"/>
            <a:chOff x="313" y="1497"/>
            <a:chExt cx="1152" cy="1014"/>
          </a:xfrm>
        </p:grpSpPr>
        <p:pic>
          <p:nvPicPr>
            <p:cNvPr id="145417"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5418" name="Picture 355" descr="antenna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5414" name="Group 361"/>
          <p:cNvGrpSpPr>
            <a:grpSpLocks/>
          </p:cNvGrpSpPr>
          <p:nvPr/>
        </p:nvGrpSpPr>
        <p:grpSpPr bwMode="auto">
          <a:xfrm>
            <a:off x="5362575" y="542925"/>
            <a:ext cx="1250950" cy="992188"/>
            <a:chOff x="2967" y="478"/>
            <a:chExt cx="788" cy="625"/>
          </a:xfrm>
        </p:grpSpPr>
        <p:pic>
          <p:nvPicPr>
            <p:cNvPr id="145415" name="Picture 358"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5416" name="Picture 360" descr="antenna_radiation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extBox 1">
            <a:hlinkClick r:id="rId7"/>
          </p:cNvPr>
          <p:cNvSpPr txBox="1"/>
          <p:nvPr/>
        </p:nvSpPr>
        <p:spPr>
          <a:xfrm>
            <a:off x="6613525" y="1381224"/>
            <a:ext cx="2262158" cy="307777"/>
          </a:xfrm>
          <a:prstGeom prst="rect">
            <a:avLst/>
          </a:prstGeom>
          <a:noFill/>
        </p:spPr>
        <p:txBody>
          <a:bodyPr wrap="none" rtlCol="0">
            <a:spAutoFit/>
          </a:bodyPr>
          <a:lstStyle/>
          <a:p>
            <a:r>
              <a:rPr lang="en-CA" sz="1400" dirty="0" smtClean="0">
                <a:solidFill>
                  <a:srgbClr val="CC0000"/>
                </a:solidFill>
              </a:rPr>
              <a:t>Wired Equivalent Privacy</a:t>
            </a:r>
            <a:endParaRPr lang="en-CA" sz="1400" dirty="0">
              <a:solidFill>
                <a:srgbClr val="CC0000"/>
              </a:solidFill>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3" name="Picture 1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25" y="1042988"/>
            <a:ext cx="7896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7"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46435" name="Rectangle 2"/>
          <p:cNvSpPr>
            <a:spLocks noGrp="1" noChangeArrowheads="1"/>
          </p:cNvSpPr>
          <p:nvPr>
            <p:ph type="title"/>
          </p:nvPr>
        </p:nvSpPr>
        <p:spPr>
          <a:xfrm>
            <a:off x="282575" y="228600"/>
            <a:ext cx="8023225" cy="1143000"/>
          </a:xfrm>
        </p:spPr>
        <p:txBody>
          <a:bodyPr/>
          <a:lstStyle/>
          <a:p>
            <a:r>
              <a:rPr lang="en-US" altLang="en-US" smtClean="0">
                <a:ea typeface="ＭＳ Ｐゴシック" pitchFamily="34" charset="-128"/>
              </a:rPr>
              <a:t>Review: symmetric stream ciphers</a:t>
            </a:r>
          </a:p>
        </p:txBody>
      </p:sp>
      <p:sp>
        <p:nvSpPr>
          <p:cNvPr id="146436" name="Rectangle 3"/>
          <p:cNvSpPr>
            <a:spLocks noGrp="1" noChangeArrowheads="1"/>
          </p:cNvSpPr>
          <p:nvPr>
            <p:ph type="body" idx="1"/>
          </p:nvPr>
        </p:nvSpPr>
        <p:spPr>
          <a:xfrm>
            <a:off x="533400" y="2930525"/>
            <a:ext cx="7772400" cy="3241675"/>
          </a:xfrm>
        </p:spPr>
        <p:txBody>
          <a:bodyPr/>
          <a:lstStyle/>
          <a:p>
            <a:pPr>
              <a:lnSpc>
                <a:spcPct val="90000"/>
              </a:lnSpc>
            </a:pPr>
            <a:r>
              <a:rPr lang="en-US" altLang="en-US" sz="2400" i="1" smtClean="0">
                <a:solidFill>
                  <a:srgbClr val="CC0000"/>
                </a:solidFill>
                <a:ea typeface="ＭＳ Ｐゴシック" pitchFamily="34" charset="-128"/>
              </a:rPr>
              <a:t>combine each byte of keystream with byte of plaintext to get ciphertext:</a:t>
            </a:r>
          </a:p>
          <a:p>
            <a:pPr lvl="1">
              <a:lnSpc>
                <a:spcPct val="90000"/>
              </a:lnSpc>
            </a:pPr>
            <a:r>
              <a:rPr lang="en-US" altLang="en-US" smtClean="0">
                <a:ea typeface="ＭＳ Ｐゴシック" pitchFamily="34" charset="-128"/>
              </a:rPr>
              <a:t>m(i) = ith unit of message</a:t>
            </a:r>
            <a:endParaRPr lang="en-US" altLang="en-US" smtClean="0">
              <a:ea typeface="ＭＳ Ｐゴシック" pitchFamily="34" charset="-128"/>
              <a:sym typeface="Symbol" pitchFamily="18" charset="2"/>
            </a:endParaRPr>
          </a:p>
          <a:p>
            <a:pPr lvl="1">
              <a:lnSpc>
                <a:spcPct val="90000"/>
              </a:lnSpc>
            </a:pPr>
            <a:r>
              <a:rPr lang="en-US" altLang="en-US" smtClean="0">
                <a:ea typeface="ＭＳ Ｐゴシック" pitchFamily="34" charset="-128"/>
              </a:rPr>
              <a:t>ks(i) = ith unit of keystream</a:t>
            </a:r>
          </a:p>
          <a:p>
            <a:pPr lvl="1">
              <a:lnSpc>
                <a:spcPct val="90000"/>
              </a:lnSpc>
            </a:pPr>
            <a:r>
              <a:rPr lang="en-US" altLang="en-US" smtClean="0">
                <a:ea typeface="ＭＳ Ｐゴシック" pitchFamily="34" charset="-128"/>
              </a:rPr>
              <a:t>c(i) = ith unit of ciphertext</a:t>
            </a:r>
          </a:p>
          <a:p>
            <a:pPr lvl="1">
              <a:lnSpc>
                <a:spcPct val="90000"/>
              </a:lnSpc>
            </a:pPr>
            <a:r>
              <a:rPr lang="en-US" altLang="en-US" smtClean="0">
                <a:ea typeface="ＭＳ Ｐゴシック" pitchFamily="34" charset="-128"/>
              </a:rPr>
              <a:t>c(i) = ks(i) </a:t>
            </a:r>
            <a:r>
              <a:rPr lang="en-US" altLang="en-US" smtClean="0">
                <a:ea typeface="ＭＳ Ｐゴシック" pitchFamily="34" charset="-128"/>
                <a:sym typeface="Symbol" pitchFamily="18" charset="2"/>
              </a:rPr>
              <a:t></a:t>
            </a:r>
            <a:r>
              <a:rPr lang="en-US" altLang="en-US" smtClean="0">
                <a:ea typeface="ＭＳ Ｐゴシック" pitchFamily="34" charset="-128"/>
              </a:rPr>
              <a:t> m(i)   (</a:t>
            </a:r>
            <a:r>
              <a:rPr lang="en-US" altLang="en-US" smtClean="0">
                <a:ea typeface="ＭＳ Ｐゴシック" pitchFamily="34" charset="-128"/>
                <a:sym typeface="Symbol" pitchFamily="18" charset="2"/>
              </a:rPr>
              <a:t></a:t>
            </a:r>
            <a:r>
              <a:rPr lang="en-US" altLang="en-US" smtClean="0">
                <a:ea typeface="ＭＳ Ｐゴシック" pitchFamily="34" charset="-128"/>
              </a:rPr>
              <a:t> = exclusive or)</a:t>
            </a:r>
          </a:p>
          <a:p>
            <a:pPr lvl="1">
              <a:lnSpc>
                <a:spcPct val="90000"/>
              </a:lnSpc>
            </a:pPr>
            <a:r>
              <a:rPr lang="en-US" altLang="en-US" smtClean="0">
                <a:ea typeface="ＭＳ Ｐゴシック" pitchFamily="34" charset="-128"/>
              </a:rPr>
              <a:t>m(i) = ks(i) </a:t>
            </a:r>
            <a:r>
              <a:rPr lang="en-US" altLang="en-US" smtClean="0">
                <a:ea typeface="ＭＳ Ｐゴシック" pitchFamily="34" charset="-128"/>
                <a:sym typeface="Symbol" pitchFamily="18" charset="2"/>
              </a:rPr>
              <a:t></a:t>
            </a:r>
            <a:r>
              <a:rPr lang="en-US" altLang="en-US" smtClean="0">
                <a:ea typeface="ＭＳ Ｐゴシック" pitchFamily="34" charset="-128"/>
              </a:rPr>
              <a:t> c(i) </a:t>
            </a:r>
          </a:p>
          <a:p>
            <a:pPr>
              <a:lnSpc>
                <a:spcPct val="90000"/>
              </a:lnSpc>
            </a:pPr>
            <a:r>
              <a:rPr lang="en-US" altLang="en-US" sz="2400" smtClean="0">
                <a:ea typeface="ＭＳ Ｐゴシック" pitchFamily="34" charset="-128"/>
              </a:rPr>
              <a:t>WEP uses RC4</a:t>
            </a:r>
          </a:p>
        </p:txBody>
      </p:sp>
      <p:grpSp>
        <p:nvGrpSpPr>
          <p:cNvPr id="146437" name="Group 10"/>
          <p:cNvGrpSpPr>
            <a:grpSpLocks/>
          </p:cNvGrpSpPr>
          <p:nvPr/>
        </p:nvGrpSpPr>
        <p:grpSpPr bwMode="auto">
          <a:xfrm>
            <a:off x="1858963" y="1727200"/>
            <a:ext cx="5162550" cy="914400"/>
            <a:chOff x="1171" y="1088"/>
            <a:chExt cx="3252" cy="576"/>
          </a:xfrm>
        </p:grpSpPr>
        <p:sp>
          <p:nvSpPr>
            <p:cNvPr id="146438" name="Rectangle 4"/>
            <p:cNvSpPr>
              <a:spLocks noChangeArrowheads="1"/>
            </p:cNvSpPr>
            <p:nvPr/>
          </p:nvSpPr>
          <p:spPr bwMode="auto">
            <a:xfrm>
              <a:off x="2103" y="1088"/>
              <a:ext cx="914" cy="576"/>
            </a:xfrm>
            <a:prstGeom prst="rect">
              <a:avLst/>
            </a:prstGeom>
            <a:solidFill>
              <a:schemeClr val="hlink"/>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46439" name="Text Box 5"/>
            <p:cNvSpPr txBox="1">
              <a:spLocks noChangeArrowheads="1"/>
            </p:cNvSpPr>
            <p:nvPr/>
          </p:nvSpPr>
          <p:spPr bwMode="auto">
            <a:xfrm>
              <a:off x="2158" y="1149"/>
              <a:ext cx="862"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keystream</a:t>
              </a:r>
            </a:p>
            <a:p>
              <a:r>
                <a:rPr lang="en-US" altLang="en-US">
                  <a:latin typeface="Arial" pitchFamily="34" charset="0"/>
                  <a:cs typeface="Arial" pitchFamily="34" charset="0"/>
                </a:rPr>
                <a:t>generator</a:t>
              </a:r>
            </a:p>
          </p:txBody>
        </p:sp>
        <p:sp>
          <p:nvSpPr>
            <p:cNvPr id="146440" name="Line 6"/>
            <p:cNvSpPr>
              <a:spLocks noChangeShapeType="1"/>
            </p:cNvSpPr>
            <p:nvPr/>
          </p:nvSpPr>
          <p:spPr bwMode="auto">
            <a:xfrm>
              <a:off x="1549" y="1362"/>
              <a:ext cx="55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46441" name="Line 7"/>
            <p:cNvSpPr>
              <a:spLocks noChangeShapeType="1"/>
            </p:cNvSpPr>
            <p:nvPr/>
          </p:nvSpPr>
          <p:spPr bwMode="auto">
            <a:xfrm>
              <a:off x="3012" y="1362"/>
              <a:ext cx="5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46442" name="Text Box 8"/>
            <p:cNvSpPr txBox="1">
              <a:spLocks noChangeArrowheads="1"/>
            </p:cNvSpPr>
            <p:nvPr/>
          </p:nvSpPr>
          <p:spPr bwMode="auto">
            <a:xfrm>
              <a:off x="1171" y="1242"/>
              <a:ext cx="36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key</a:t>
              </a:r>
            </a:p>
          </p:txBody>
        </p:sp>
        <p:sp>
          <p:nvSpPr>
            <p:cNvPr id="146443" name="Text Box 9"/>
            <p:cNvSpPr txBox="1">
              <a:spLocks noChangeArrowheads="1"/>
            </p:cNvSpPr>
            <p:nvPr/>
          </p:nvSpPr>
          <p:spPr bwMode="auto">
            <a:xfrm>
              <a:off x="3561" y="1258"/>
              <a:ext cx="8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keystream</a:t>
              </a:r>
            </a:p>
          </p:txBody>
        </p:sp>
      </p:gr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7" name="Picture 6" descr="underline_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8" y="992188"/>
            <a:ext cx="82280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1"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47459" name="Rectangle 2"/>
          <p:cNvSpPr>
            <a:spLocks noGrp="1" noChangeArrowheads="1"/>
          </p:cNvSpPr>
          <p:nvPr>
            <p:ph type="title"/>
          </p:nvPr>
        </p:nvSpPr>
        <p:spPr>
          <a:xfrm>
            <a:off x="315913" y="184150"/>
            <a:ext cx="8443912" cy="1143000"/>
          </a:xfrm>
        </p:spPr>
        <p:txBody>
          <a:bodyPr/>
          <a:lstStyle/>
          <a:p>
            <a:r>
              <a:rPr lang="en-US" altLang="en-US" sz="4000" smtClean="0">
                <a:ea typeface="ＭＳ Ｐゴシック" pitchFamily="34" charset="-128"/>
              </a:rPr>
              <a:t>Stream cipher and packet independence</a:t>
            </a:r>
          </a:p>
        </p:txBody>
      </p:sp>
      <p:sp>
        <p:nvSpPr>
          <p:cNvPr id="147460" name="Rectangle 3"/>
          <p:cNvSpPr>
            <a:spLocks noGrp="1" noChangeArrowheads="1"/>
          </p:cNvSpPr>
          <p:nvPr>
            <p:ph type="body" idx="1"/>
          </p:nvPr>
        </p:nvSpPr>
        <p:spPr>
          <a:xfrm>
            <a:off x="533400" y="1600200"/>
            <a:ext cx="8105775" cy="3171825"/>
          </a:xfrm>
        </p:spPr>
        <p:txBody>
          <a:bodyPr/>
          <a:lstStyle/>
          <a:p>
            <a:r>
              <a:rPr lang="en-US" altLang="en-US" sz="2400" smtClean="0">
                <a:ea typeface="ＭＳ Ｐゴシック" pitchFamily="34" charset="-128"/>
              </a:rPr>
              <a:t>recall design goal: each packet separately encrypted</a:t>
            </a:r>
          </a:p>
          <a:p>
            <a:r>
              <a:rPr lang="en-US" altLang="en-US" sz="2400" smtClean="0">
                <a:ea typeface="ＭＳ Ｐゴシック" pitchFamily="34" charset="-128"/>
              </a:rPr>
              <a:t>if for frame n+1, use keystream from where we left off for frame n, then each frame is not separately encrypted</a:t>
            </a:r>
          </a:p>
          <a:p>
            <a:pPr lvl="1"/>
            <a:r>
              <a:rPr lang="en-US" altLang="en-US" smtClean="0">
                <a:ea typeface="ＭＳ Ｐゴシック" pitchFamily="34" charset="-128"/>
              </a:rPr>
              <a:t>need to know where we left off for packet n</a:t>
            </a:r>
          </a:p>
          <a:p>
            <a:r>
              <a:rPr lang="en-US" altLang="en-US" sz="2400" smtClean="0">
                <a:ea typeface="ＭＳ Ｐゴシック" pitchFamily="34" charset="-128"/>
              </a:rPr>
              <a:t>WEP approach: initialize keystream with key + new IV for each packet:</a:t>
            </a:r>
          </a:p>
        </p:txBody>
      </p:sp>
      <p:sp>
        <p:nvSpPr>
          <p:cNvPr id="147461" name="Rectangle 5"/>
          <p:cNvSpPr>
            <a:spLocks noChangeArrowheads="1"/>
          </p:cNvSpPr>
          <p:nvPr/>
        </p:nvSpPr>
        <p:spPr bwMode="auto">
          <a:xfrm>
            <a:off x="3881438" y="4722813"/>
            <a:ext cx="1450975" cy="914400"/>
          </a:xfrm>
          <a:prstGeom prst="rect">
            <a:avLst/>
          </a:prstGeom>
          <a:solidFill>
            <a:schemeClr val="hlink"/>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47462" name="Text Box 6"/>
          <p:cNvSpPr txBox="1">
            <a:spLocks noChangeArrowheads="1"/>
          </p:cNvSpPr>
          <p:nvPr/>
        </p:nvSpPr>
        <p:spPr bwMode="auto">
          <a:xfrm>
            <a:off x="3971925" y="4819650"/>
            <a:ext cx="13684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keystream</a:t>
            </a:r>
          </a:p>
          <a:p>
            <a:r>
              <a:rPr lang="en-US" altLang="en-US">
                <a:latin typeface="Arial" pitchFamily="34" charset="0"/>
                <a:cs typeface="Arial" pitchFamily="34" charset="0"/>
              </a:rPr>
              <a:t>generator</a:t>
            </a:r>
          </a:p>
        </p:txBody>
      </p:sp>
      <p:sp>
        <p:nvSpPr>
          <p:cNvPr id="147463" name="Line 7"/>
          <p:cNvSpPr>
            <a:spLocks noChangeShapeType="1"/>
          </p:cNvSpPr>
          <p:nvPr/>
        </p:nvSpPr>
        <p:spPr bwMode="auto">
          <a:xfrm>
            <a:off x="3001963" y="5157788"/>
            <a:ext cx="8778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47464" name="Line 8"/>
          <p:cNvSpPr>
            <a:spLocks noChangeShapeType="1"/>
          </p:cNvSpPr>
          <p:nvPr/>
        </p:nvSpPr>
        <p:spPr bwMode="auto">
          <a:xfrm>
            <a:off x="5324475" y="5157788"/>
            <a:ext cx="8524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47465" name="Text Box 9"/>
          <p:cNvSpPr txBox="1">
            <a:spLocks noChangeArrowheads="1"/>
          </p:cNvSpPr>
          <p:nvPr/>
        </p:nvSpPr>
        <p:spPr bwMode="auto">
          <a:xfrm>
            <a:off x="1700213" y="4967288"/>
            <a:ext cx="15224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Key+IV</a:t>
            </a:r>
            <a:r>
              <a:rPr lang="en-US" altLang="en-US" baseline="-25000">
                <a:latin typeface="Arial" pitchFamily="34" charset="0"/>
                <a:cs typeface="Arial" pitchFamily="34" charset="0"/>
              </a:rPr>
              <a:t>packet</a:t>
            </a:r>
          </a:p>
        </p:txBody>
      </p:sp>
      <p:sp>
        <p:nvSpPr>
          <p:cNvPr id="147466" name="Text Box 10"/>
          <p:cNvSpPr txBox="1">
            <a:spLocks noChangeArrowheads="1"/>
          </p:cNvSpPr>
          <p:nvPr/>
        </p:nvSpPr>
        <p:spPr bwMode="auto">
          <a:xfrm>
            <a:off x="6196013" y="4992688"/>
            <a:ext cx="1871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keystream</a:t>
            </a:r>
            <a:r>
              <a:rPr lang="en-US" altLang="en-US" baseline="-25000">
                <a:latin typeface="Arial" pitchFamily="34" charset="0"/>
                <a:cs typeface="Arial" pitchFamily="34" charset="0"/>
              </a:rPr>
              <a:t>packet</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481" name="Picture 22"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13" y="819150"/>
            <a:ext cx="4570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5"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48483" name="Rectangle 2"/>
          <p:cNvSpPr>
            <a:spLocks noGrp="1" noChangeArrowheads="1"/>
          </p:cNvSpPr>
          <p:nvPr>
            <p:ph type="title"/>
          </p:nvPr>
        </p:nvSpPr>
        <p:spPr>
          <a:xfrm>
            <a:off x="533400" y="0"/>
            <a:ext cx="7772400" cy="1143000"/>
          </a:xfrm>
        </p:spPr>
        <p:txBody>
          <a:bodyPr/>
          <a:lstStyle/>
          <a:p>
            <a:r>
              <a:rPr lang="en-US" altLang="en-US" smtClean="0">
                <a:ea typeface="ＭＳ Ｐゴシック" pitchFamily="34" charset="-128"/>
              </a:rPr>
              <a:t>WEP encryption (1)</a:t>
            </a:r>
          </a:p>
        </p:txBody>
      </p:sp>
      <p:sp>
        <p:nvSpPr>
          <p:cNvPr id="148484" name="Rectangle 3"/>
          <p:cNvSpPr>
            <a:spLocks noGrp="1" noChangeArrowheads="1"/>
          </p:cNvSpPr>
          <p:nvPr>
            <p:ph type="body" idx="1"/>
          </p:nvPr>
        </p:nvSpPr>
        <p:spPr>
          <a:xfrm>
            <a:off x="520700" y="1036638"/>
            <a:ext cx="7772400" cy="4078287"/>
          </a:xfrm>
        </p:spPr>
        <p:txBody>
          <a:bodyPr/>
          <a:lstStyle/>
          <a:p>
            <a:pPr>
              <a:lnSpc>
                <a:spcPct val="90000"/>
              </a:lnSpc>
            </a:pPr>
            <a:r>
              <a:rPr lang="en-US" altLang="en-US" sz="2000" smtClean="0">
                <a:ea typeface="ＭＳ Ｐゴシック" pitchFamily="34" charset="-128"/>
              </a:rPr>
              <a:t>sender calculates Integrity Check Value (ICV) over data</a:t>
            </a:r>
          </a:p>
          <a:p>
            <a:pPr lvl="1">
              <a:lnSpc>
                <a:spcPct val="90000"/>
              </a:lnSpc>
            </a:pPr>
            <a:r>
              <a:rPr lang="en-US" altLang="en-US" sz="1800" smtClean="0">
                <a:ea typeface="ＭＳ Ｐゴシック" pitchFamily="34" charset="-128"/>
              </a:rPr>
              <a:t>four-byte hash/CRC for data integrity</a:t>
            </a:r>
          </a:p>
          <a:p>
            <a:pPr>
              <a:lnSpc>
                <a:spcPct val="90000"/>
              </a:lnSpc>
            </a:pPr>
            <a:r>
              <a:rPr lang="en-US" altLang="en-US" sz="2000" smtClean="0">
                <a:ea typeface="ＭＳ Ｐゴシック" pitchFamily="34" charset="-128"/>
              </a:rPr>
              <a:t>each side has 104-bit shared key</a:t>
            </a:r>
          </a:p>
          <a:p>
            <a:pPr>
              <a:lnSpc>
                <a:spcPct val="90000"/>
              </a:lnSpc>
            </a:pPr>
            <a:r>
              <a:rPr lang="en-US" altLang="en-US" sz="2000" smtClean="0">
                <a:ea typeface="ＭＳ Ｐゴシック" pitchFamily="34" charset="-128"/>
              </a:rPr>
              <a:t>sender creates 24-bit initialization vector (IV), appends to key: gives 128-bit key</a:t>
            </a:r>
          </a:p>
          <a:p>
            <a:pPr>
              <a:lnSpc>
                <a:spcPct val="90000"/>
              </a:lnSpc>
            </a:pPr>
            <a:r>
              <a:rPr lang="en-US" altLang="en-US" sz="2000" smtClean="0">
                <a:ea typeface="ＭＳ Ｐゴシック" pitchFamily="34" charset="-128"/>
              </a:rPr>
              <a:t>sender also appends keyID (in 8-bit field)</a:t>
            </a:r>
          </a:p>
          <a:p>
            <a:pPr>
              <a:lnSpc>
                <a:spcPct val="90000"/>
              </a:lnSpc>
            </a:pPr>
            <a:r>
              <a:rPr lang="en-US" altLang="en-US" sz="2000" smtClean="0">
                <a:ea typeface="ＭＳ Ｐゴシック" pitchFamily="34" charset="-128"/>
              </a:rPr>
              <a:t>128-bit key inputted into pseudo random number generator to get keystream</a:t>
            </a:r>
          </a:p>
          <a:p>
            <a:pPr>
              <a:lnSpc>
                <a:spcPct val="90000"/>
              </a:lnSpc>
            </a:pPr>
            <a:r>
              <a:rPr lang="en-US" altLang="en-US" sz="2000" smtClean="0">
                <a:ea typeface="ＭＳ Ｐゴシック" pitchFamily="34" charset="-128"/>
              </a:rPr>
              <a:t>data in frame + ICV is encrypted with RC4:</a:t>
            </a:r>
          </a:p>
          <a:p>
            <a:pPr lvl="1">
              <a:lnSpc>
                <a:spcPct val="90000"/>
              </a:lnSpc>
            </a:pPr>
            <a:r>
              <a:rPr lang="en-US" altLang="en-US" sz="1800" smtClean="0">
                <a:ea typeface="ＭＳ Ｐゴシック" pitchFamily="34" charset="-128"/>
              </a:rPr>
              <a:t>B\bytes of keystream are XORed with bytes of data &amp; ICV</a:t>
            </a:r>
          </a:p>
          <a:p>
            <a:pPr lvl="1">
              <a:lnSpc>
                <a:spcPct val="90000"/>
              </a:lnSpc>
            </a:pPr>
            <a:r>
              <a:rPr lang="en-US" altLang="en-US" sz="1800" smtClean="0">
                <a:ea typeface="ＭＳ Ｐゴシック" pitchFamily="34" charset="-128"/>
              </a:rPr>
              <a:t>IV &amp; keyID are appended to encrypted data to create payload</a:t>
            </a:r>
          </a:p>
          <a:p>
            <a:pPr lvl="1">
              <a:lnSpc>
                <a:spcPct val="90000"/>
              </a:lnSpc>
            </a:pPr>
            <a:r>
              <a:rPr lang="en-US" altLang="en-US" sz="1800" smtClean="0">
                <a:ea typeface="ＭＳ Ｐゴシック" pitchFamily="34" charset="-128"/>
              </a:rPr>
              <a:t>payload inserted into 802.11 frame</a:t>
            </a:r>
          </a:p>
        </p:txBody>
      </p:sp>
      <p:grpSp>
        <p:nvGrpSpPr>
          <p:cNvPr id="148485" name="Group 17"/>
          <p:cNvGrpSpPr>
            <a:grpSpLocks/>
          </p:cNvGrpSpPr>
          <p:nvPr/>
        </p:nvGrpSpPr>
        <p:grpSpPr bwMode="auto">
          <a:xfrm>
            <a:off x="1812925" y="4867275"/>
            <a:ext cx="4572000" cy="1616075"/>
            <a:chOff x="675" y="3222"/>
            <a:chExt cx="2880" cy="1018"/>
          </a:xfrm>
        </p:grpSpPr>
        <p:sp>
          <p:nvSpPr>
            <p:cNvPr id="148486" name="Text Box 11"/>
            <p:cNvSpPr txBox="1">
              <a:spLocks noChangeArrowheads="1"/>
            </p:cNvSpPr>
            <p:nvPr/>
          </p:nvSpPr>
          <p:spPr bwMode="auto">
            <a:xfrm>
              <a:off x="2059" y="3222"/>
              <a:ext cx="68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encrypted</a:t>
              </a:r>
            </a:p>
          </p:txBody>
        </p:sp>
        <p:sp>
          <p:nvSpPr>
            <p:cNvPr id="148487" name="Rectangle 4"/>
            <p:cNvSpPr>
              <a:spLocks noChangeArrowheads="1"/>
            </p:cNvSpPr>
            <p:nvPr/>
          </p:nvSpPr>
          <p:spPr bwMode="auto">
            <a:xfrm>
              <a:off x="1440" y="3534"/>
              <a:ext cx="1588" cy="335"/>
            </a:xfrm>
            <a:prstGeom prst="rect">
              <a:avLst/>
            </a:prstGeom>
            <a:solidFill>
              <a:srgbClr val="00FF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data</a:t>
              </a:r>
            </a:p>
          </p:txBody>
        </p:sp>
        <p:sp>
          <p:nvSpPr>
            <p:cNvPr id="148488" name="Rectangle 6"/>
            <p:cNvSpPr>
              <a:spLocks noChangeArrowheads="1"/>
            </p:cNvSpPr>
            <p:nvPr/>
          </p:nvSpPr>
          <p:spPr bwMode="auto">
            <a:xfrm>
              <a:off x="3028" y="3534"/>
              <a:ext cx="506" cy="335"/>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ICV</a:t>
              </a:r>
            </a:p>
          </p:txBody>
        </p:sp>
        <p:sp>
          <p:nvSpPr>
            <p:cNvPr id="148489" name="Rectangle 8"/>
            <p:cNvSpPr>
              <a:spLocks noChangeArrowheads="1"/>
            </p:cNvSpPr>
            <p:nvPr/>
          </p:nvSpPr>
          <p:spPr bwMode="auto">
            <a:xfrm>
              <a:off x="675" y="3534"/>
              <a:ext cx="436" cy="335"/>
            </a:xfrm>
            <a:prstGeom prst="rect">
              <a:avLst/>
            </a:prstGeom>
            <a:solidFill>
              <a:srgbClr val="FFCCFF"/>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IV</a:t>
              </a:r>
            </a:p>
          </p:txBody>
        </p:sp>
        <p:sp>
          <p:nvSpPr>
            <p:cNvPr id="148490" name="AutoShape 10"/>
            <p:cNvSpPr>
              <a:spLocks/>
            </p:cNvSpPr>
            <p:nvPr/>
          </p:nvSpPr>
          <p:spPr bwMode="auto">
            <a:xfrm rot="5400000">
              <a:off x="2450" y="2414"/>
              <a:ext cx="96" cy="2115"/>
            </a:xfrm>
            <a:prstGeom prst="leftBrace">
              <a:avLst>
                <a:gd name="adj1" fmla="val 183594"/>
                <a:gd name="adj2" fmla="val 541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48491" name="AutoShape 12"/>
            <p:cNvSpPr>
              <a:spLocks/>
            </p:cNvSpPr>
            <p:nvPr/>
          </p:nvSpPr>
          <p:spPr bwMode="auto">
            <a:xfrm rot="16200000" flipV="1">
              <a:off x="2057" y="2549"/>
              <a:ext cx="96" cy="2859"/>
            </a:xfrm>
            <a:prstGeom prst="leftBrace">
              <a:avLst>
                <a:gd name="adj1" fmla="val 248177"/>
                <a:gd name="adj2" fmla="val 541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48492" name="Text Box 13"/>
            <p:cNvSpPr txBox="1">
              <a:spLocks noChangeArrowheads="1"/>
            </p:cNvSpPr>
            <p:nvPr/>
          </p:nvSpPr>
          <p:spPr bwMode="auto">
            <a:xfrm>
              <a:off x="1608" y="4027"/>
              <a:ext cx="8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MAC payload</a:t>
              </a:r>
            </a:p>
          </p:txBody>
        </p:sp>
        <p:sp>
          <p:nvSpPr>
            <p:cNvPr id="148493" name="Rectangle 16"/>
            <p:cNvSpPr>
              <a:spLocks noChangeArrowheads="1"/>
            </p:cNvSpPr>
            <p:nvPr/>
          </p:nvSpPr>
          <p:spPr bwMode="auto">
            <a:xfrm>
              <a:off x="1111" y="3534"/>
              <a:ext cx="329" cy="335"/>
            </a:xfrm>
            <a:prstGeom prst="rect">
              <a:avLst/>
            </a:prstGeom>
            <a:solidFill>
              <a:srgbClr val="FFCCFF"/>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Key</a:t>
              </a:r>
              <a:br>
                <a:rPr lang="en-US" altLang="en-US" sz="1800">
                  <a:latin typeface="Arial" pitchFamily="34" charset="0"/>
                  <a:cs typeface="Arial" pitchFamily="34" charset="0"/>
                </a:rPr>
              </a:br>
              <a:r>
                <a:rPr lang="en-US" altLang="en-US" sz="1800">
                  <a:latin typeface="Arial" pitchFamily="34" charset="0"/>
                  <a:cs typeface="Arial" pitchFamily="34" charset="0"/>
                </a:rPr>
                <a:t>ID</a:t>
              </a:r>
            </a:p>
          </p:txBody>
        </p:sp>
      </p:gr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49506" name="Rectangle 2"/>
          <p:cNvSpPr>
            <a:spLocks noGrp="1" noChangeArrowheads="1"/>
          </p:cNvSpPr>
          <p:nvPr>
            <p:ph type="title"/>
          </p:nvPr>
        </p:nvSpPr>
        <p:spPr>
          <a:xfrm>
            <a:off x="533400" y="11113"/>
            <a:ext cx="7772400" cy="1143000"/>
          </a:xfrm>
        </p:spPr>
        <p:txBody>
          <a:bodyPr/>
          <a:lstStyle/>
          <a:p>
            <a:r>
              <a:rPr lang="en-US" altLang="en-US" smtClean="0">
                <a:ea typeface="ＭＳ Ｐゴシック" pitchFamily="34" charset="-128"/>
              </a:rPr>
              <a:t>WEP encryption (2)</a:t>
            </a:r>
          </a:p>
        </p:txBody>
      </p:sp>
      <p:graphicFrame>
        <p:nvGraphicFramePr>
          <p:cNvPr id="149507" name="Object 3"/>
          <p:cNvGraphicFramePr>
            <a:graphicFrameLocks noGrp="1" noChangeAspect="1"/>
          </p:cNvGraphicFramePr>
          <p:nvPr>
            <p:ph type="body" idx="1"/>
          </p:nvPr>
        </p:nvGraphicFramePr>
        <p:xfrm>
          <a:off x="0" y="1346200"/>
          <a:ext cx="9144000" cy="3868738"/>
        </p:xfrm>
        <a:graphic>
          <a:graphicData uri="http://schemas.openxmlformats.org/presentationml/2006/ole">
            <mc:AlternateContent xmlns:mc="http://schemas.openxmlformats.org/markup-compatibility/2006">
              <mc:Choice xmlns:v="urn:schemas-microsoft-com:vml" Requires="v">
                <p:oleObj spid="_x0000_s149522" name="Picture" r:id="rId3" imgW="6687835" imgH="2826189" progId="Word.Picture.8">
                  <p:embed/>
                </p:oleObj>
              </mc:Choice>
              <mc:Fallback>
                <p:oleObj name="Picture" r:id="rId3" imgW="6687835" imgH="2826189" progId="Word.Picture.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346200"/>
                        <a:ext cx="9144000" cy="3868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08" name="Text Box 4"/>
          <p:cNvSpPr txBox="1">
            <a:spLocks noChangeArrowheads="1"/>
          </p:cNvSpPr>
          <p:nvPr/>
        </p:nvSpPr>
        <p:spPr bwMode="auto">
          <a:xfrm>
            <a:off x="2251075" y="4652963"/>
            <a:ext cx="3590925"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i="1">
                <a:solidFill>
                  <a:srgbClr val="FF0000"/>
                </a:solidFill>
                <a:latin typeface="Gill Sans MT" pitchFamily="34" charset="0"/>
              </a:rPr>
              <a:t>new IV for each frame </a:t>
            </a:r>
          </a:p>
        </p:txBody>
      </p:sp>
      <p:pic>
        <p:nvPicPr>
          <p:cNvPr id="149509" name="Picture 22"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113" y="819150"/>
            <a:ext cx="4570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29" name="Picture 18"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288" y="820738"/>
            <a:ext cx="63992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3"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50531" name="Rectangle 2"/>
          <p:cNvSpPr>
            <a:spLocks noGrp="1" noChangeArrowheads="1"/>
          </p:cNvSpPr>
          <p:nvPr>
            <p:ph type="title"/>
          </p:nvPr>
        </p:nvSpPr>
        <p:spPr>
          <a:xfrm>
            <a:off x="533400" y="11113"/>
            <a:ext cx="7772400" cy="1143000"/>
          </a:xfrm>
        </p:spPr>
        <p:txBody>
          <a:bodyPr/>
          <a:lstStyle/>
          <a:p>
            <a:r>
              <a:rPr lang="en-US" altLang="en-US" smtClean="0">
                <a:ea typeface="ＭＳ Ｐゴシック" pitchFamily="34" charset="-128"/>
              </a:rPr>
              <a:t>WEP decryption overview </a:t>
            </a:r>
          </a:p>
        </p:txBody>
      </p:sp>
      <p:sp>
        <p:nvSpPr>
          <p:cNvPr id="150532" name="Rectangle 3"/>
          <p:cNvSpPr>
            <a:spLocks noGrp="1" noChangeArrowheads="1"/>
          </p:cNvSpPr>
          <p:nvPr>
            <p:ph type="body" idx="1"/>
          </p:nvPr>
        </p:nvSpPr>
        <p:spPr>
          <a:xfrm>
            <a:off x="533400" y="2768600"/>
            <a:ext cx="7772400" cy="3479800"/>
          </a:xfrm>
        </p:spPr>
        <p:txBody>
          <a:bodyPr/>
          <a:lstStyle/>
          <a:p>
            <a:r>
              <a:rPr lang="en-US" altLang="en-US" sz="2400" smtClean="0">
                <a:ea typeface="ＭＳ Ｐゴシック" pitchFamily="34" charset="-128"/>
              </a:rPr>
              <a:t>receiver extracts IV</a:t>
            </a:r>
          </a:p>
          <a:p>
            <a:r>
              <a:rPr lang="en-US" altLang="en-US" sz="2400" smtClean="0">
                <a:ea typeface="ＭＳ Ｐゴシック" pitchFamily="34" charset="-128"/>
              </a:rPr>
              <a:t>inputs IV, shared secret key into pseudo random generator, gets keystream</a:t>
            </a:r>
          </a:p>
          <a:p>
            <a:r>
              <a:rPr lang="en-US" altLang="en-US" sz="2400" smtClean="0">
                <a:ea typeface="ＭＳ Ｐゴシック" pitchFamily="34" charset="-128"/>
              </a:rPr>
              <a:t>XORs keystream with encrypted data to decrypt data + ICV</a:t>
            </a:r>
          </a:p>
          <a:p>
            <a:r>
              <a:rPr lang="en-US" altLang="en-US" sz="2400" smtClean="0">
                <a:ea typeface="ＭＳ Ｐゴシック" pitchFamily="34" charset="-128"/>
              </a:rPr>
              <a:t>verifies integrity of data with ICV</a:t>
            </a:r>
          </a:p>
          <a:p>
            <a:pPr lvl="1"/>
            <a:r>
              <a:rPr lang="en-US" altLang="en-US" smtClean="0">
                <a:ea typeface="ＭＳ Ｐゴシック" pitchFamily="34" charset="-128"/>
              </a:rPr>
              <a:t>note: message integrity approach used here is different from MAC (message authentication code) and signatures (using PKI).</a:t>
            </a:r>
          </a:p>
        </p:txBody>
      </p:sp>
      <p:grpSp>
        <p:nvGrpSpPr>
          <p:cNvPr id="150533" name="Group 11"/>
          <p:cNvGrpSpPr>
            <a:grpSpLocks/>
          </p:cNvGrpSpPr>
          <p:nvPr/>
        </p:nvGrpSpPr>
        <p:grpSpPr bwMode="auto">
          <a:xfrm>
            <a:off x="1633538" y="1154113"/>
            <a:ext cx="4572000" cy="1616075"/>
            <a:chOff x="675" y="3222"/>
            <a:chExt cx="2880" cy="1018"/>
          </a:xfrm>
        </p:grpSpPr>
        <p:sp>
          <p:nvSpPr>
            <p:cNvPr id="150534" name="Text Box 12"/>
            <p:cNvSpPr txBox="1">
              <a:spLocks noChangeArrowheads="1"/>
            </p:cNvSpPr>
            <p:nvPr/>
          </p:nvSpPr>
          <p:spPr bwMode="auto">
            <a:xfrm>
              <a:off x="2059" y="3222"/>
              <a:ext cx="68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encrypted</a:t>
              </a:r>
            </a:p>
          </p:txBody>
        </p:sp>
        <p:sp>
          <p:nvSpPr>
            <p:cNvPr id="150535" name="Rectangle 13"/>
            <p:cNvSpPr>
              <a:spLocks noChangeArrowheads="1"/>
            </p:cNvSpPr>
            <p:nvPr/>
          </p:nvSpPr>
          <p:spPr bwMode="auto">
            <a:xfrm>
              <a:off x="1440" y="3534"/>
              <a:ext cx="1588" cy="335"/>
            </a:xfrm>
            <a:prstGeom prst="rect">
              <a:avLst/>
            </a:prstGeom>
            <a:solidFill>
              <a:srgbClr val="00FF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data</a:t>
              </a:r>
            </a:p>
          </p:txBody>
        </p:sp>
        <p:sp>
          <p:nvSpPr>
            <p:cNvPr id="150536" name="Rectangle 14"/>
            <p:cNvSpPr>
              <a:spLocks noChangeArrowheads="1"/>
            </p:cNvSpPr>
            <p:nvPr/>
          </p:nvSpPr>
          <p:spPr bwMode="auto">
            <a:xfrm>
              <a:off x="3028" y="3534"/>
              <a:ext cx="506" cy="335"/>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ICV</a:t>
              </a:r>
            </a:p>
          </p:txBody>
        </p:sp>
        <p:sp>
          <p:nvSpPr>
            <p:cNvPr id="150537" name="Rectangle 15"/>
            <p:cNvSpPr>
              <a:spLocks noChangeArrowheads="1"/>
            </p:cNvSpPr>
            <p:nvPr/>
          </p:nvSpPr>
          <p:spPr bwMode="auto">
            <a:xfrm>
              <a:off x="675" y="3534"/>
              <a:ext cx="436" cy="335"/>
            </a:xfrm>
            <a:prstGeom prst="rect">
              <a:avLst/>
            </a:prstGeom>
            <a:solidFill>
              <a:srgbClr val="FFCCFF"/>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IV</a:t>
              </a:r>
            </a:p>
          </p:txBody>
        </p:sp>
        <p:sp>
          <p:nvSpPr>
            <p:cNvPr id="150538" name="AutoShape 16"/>
            <p:cNvSpPr>
              <a:spLocks/>
            </p:cNvSpPr>
            <p:nvPr/>
          </p:nvSpPr>
          <p:spPr bwMode="auto">
            <a:xfrm rot="5400000">
              <a:off x="2450" y="2414"/>
              <a:ext cx="96" cy="2115"/>
            </a:xfrm>
            <a:prstGeom prst="leftBrace">
              <a:avLst>
                <a:gd name="adj1" fmla="val 183594"/>
                <a:gd name="adj2" fmla="val 541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50539" name="AutoShape 17"/>
            <p:cNvSpPr>
              <a:spLocks/>
            </p:cNvSpPr>
            <p:nvPr/>
          </p:nvSpPr>
          <p:spPr bwMode="auto">
            <a:xfrm rot="16200000" flipV="1">
              <a:off x="2057" y="2549"/>
              <a:ext cx="96" cy="2859"/>
            </a:xfrm>
            <a:prstGeom prst="leftBrace">
              <a:avLst>
                <a:gd name="adj1" fmla="val 248177"/>
                <a:gd name="adj2" fmla="val 541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50540" name="Text Box 18"/>
            <p:cNvSpPr txBox="1">
              <a:spLocks noChangeArrowheads="1"/>
            </p:cNvSpPr>
            <p:nvPr/>
          </p:nvSpPr>
          <p:spPr bwMode="auto">
            <a:xfrm>
              <a:off x="1608" y="4027"/>
              <a:ext cx="8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MAC payload</a:t>
              </a:r>
            </a:p>
          </p:txBody>
        </p:sp>
        <p:sp>
          <p:nvSpPr>
            <p:cNvPr id="150541" name="Rectangle 19"/>
            <p:cNvSpPr>
              <a:spLocks noChangeArrowheads="1"/>
            </p:cNvSpPr>
            <p:nvPr/>
          </p:nvSpPr>
          <p:spPr bwMode="auto">
            <a:xfrm>
              <a:off x="1111" y="3534"/>
              <a:ext cx="329" cy="335"/>
            </a:xfrm>
            <a:prstGeom prst="rect">
              <a:avLst/>
            </a:prstGeom>
            <a:solidFill>
              <a:srgbClr val="FFCCFF"/>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Key</a:t>
              </a:r>
              <a:br>
                <a:rPr lang="en-US" altLang="en-US" sz="1800">
                  <a:latin typeface="Arial" pitchFamily="34" charset="0"/>
                  <a:cs typeface="Arial" pitchFamily="34" charset="0"/>
                </a:rPr>
              </a:br>
              <a:r>
                <a:rPr lang="en-US" altLang="en-US" sz="1800">
                  <a:latin typeface="Arial" pitchFamily="34" charset="0"/>
                  <a:cs typeface="Arial" pitchFamily="34" charset="0"/>
                </a:rPr>
                <a:t>ID</a:t>
              </a:r>
            </a:p>
          </p:txBody>
        </p:sp>
      </p:gr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3" name="Picture 6" descr="underline_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675" y="1044575"/>
            <a:ext cx="82280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7"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51555" name="Rectangle 2"/>
          <p:cNvSpPr>
            <a:spLocks noGrp="1" noChangeArrowheads="1"/>
          </p:cNvSpPr>
          <p:nvPr>
            <p:ph type="title"/>
          </p:nvPr>
        </p:nvSpPr>
        <p:spPr>
          <a:xfrm>
            <a:off x="315913" y="228600"/>
            <a:ext cx="8020050" cy="1143000"/>
          </a:xfrm>
        </p:spPr>
        <p:txBody>
          <a:bodyPr/>
          <a:lstStyle/>
          <a:p>
            <a:r>
              <a:rPr lang="en-US" altLang="en-US" smtClean="0">
                <a:ea typeface="ＭＳ Ｐゴシック" pitchFamily="34" charset="-128"/>
              </a:rPr>
              <a:t>End-point authentication w/ nonce</a:t>
            </a:r>
          </a:p>
        </p:txBody>
      </p:sp>
      <p:sp>
        <p:nvSpPr>
          <p:cNvPr id="151556" name="Text Box 5"/>
          <p:cNvSpPr txBox="1">
            <a:spLocks noChangeArrowheads="1"/>
          </p:cNvSpPr>
          <p:nvPr/>
        </p:nvSpPr>
        <p:spPr bwMode="auto">
          <a:xfrm>
            <a:off x="985838" y="1530350"/>
            <a:ext cx="7081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2800" i="1">
                <a:solidFill>
                  <a:srgbClr val="CC0000"/>
                </a:solidFill>
                <a:latin typeface="Gill Sans MT" pitchFamily="34" charset="0"/>
              </a:rPr>
              <a:t>Nonce</a:t>
            </a:r>
            <a:r>
              <a:rPr lang="en-US" altLang="en-US" sz="2800">
                <a:solidFill>
                  <a:srgbClr val="CC0000"/>
                </a:solidFill>
                <a:latin typeface="Gill Sans MT" pitchFamily="34" charset="0"/>
              </a:rPr>
              <a:t>: </a:t>
            </a:r>
            <a:r>
              <a:rPr lang="en-US" altLang="en-US" sz="2800">
                <a:latin typeface="Gill Sans MT" pitchFamily="34" charset="0"/>
              </a:rPr>
              <a:t>number (R) used only </a:t>
            </a:r>
            <a:r>
              <a:rPr lang="en-US" altLang="en-US" sz="2800" i="1">
                <a:latin typeface="Gill Sans MT" pitchFamily="34" charset="0"/>
              </a:rPr>
              <a:t>once –in-a-lifetime</a:t>
            </a:r>
          </a:p>
        </p:txBody>
      </p:sp>
      <p:sp>
        <p:nvSpPr>
          <p:cNvPr id="151557" name="Text Box 6"/>
          <p:cNvSpPr txBox="1">
            <a:spLocks noChangeArrowheads="1"/>
          </p:cNvSpPr>
          <p:nvPr/>
        </p:nvSpPr>
        <p:spPr bwMode="auto">
          <a:xfrm>
            <a:off x="258763" y="2090738"/>
            <a:ext cx="83566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r"/>
            <a:r>
              <a:rPr lang="en-US" altLang="en-US" sz="2800" i="1">
                <a:solidFill>
                  <a:srgbClr val="CC0000"/>
                </a:solidFill>
                <a:latin typeface="Gill Sans MT" pitchFamily="34" charset="0"/>
              </a:rPr>
              <a:t>How to prove Alice </a:t>
            </a:r>
            <a:r>
              <a:rPr lang="ja-JP" altLang="en-US" sz="2800" i="1">
                <a:solidFill>
                  <a:srgbClr val="CC0000"/>
                </a:solidFill>
                <a:latin typeface="Gill Sans MT" pitchFamily="34" charset="0"/>
              </a:rPr>
              <a:t>“</a:t>
            </a:r>
            <a:r>
              <a:rPr lang="en-US" altLang="ja-JP" sz="2800" i="1">
                <a:solidFill>
                  <a:srgbClr val="CC0000"/>
                </a:solidFill>
                <a:latin typeface="Gill Sans MT" pitchFamily="34" charset="0"/>
              </a:rPr>
              <a:t>live</a:t>
            </a:r>
            <a:r>
              <a:rPr lang="ja-JP" altLang="en-US" sz="2800" i="1">
                <a:solidFill>
                  <a:srgbClr val="CC0000"/>
                </a:solidFill>
                <a:latin typeface="Gill Sans MT" pitchFamily="34" charset="0"/>
              </a:rPr>
              <a:t>”</a:t>
            </a:r>
            <a:r>
              <a:rPr lang="en-US" altLang="ja-JP" sz="2800" i="1">
                <a:solidFill>
                  <a:srgbClr val="CC0000"/>
                </a:solidFill>
                <a:latin typeface="Gill Sans MT" pitchFamily="34" charset="0"/>
              </a:rPr>
              <a:t>:  </a:t>
            </a:r>
            <a:r>
              <a:rPr lang="en-US" altLang="ja-JP" sz="2400">
                <a:latin typeface="Gill Sans MT" pitchFamily="34" charset="0"/>
              </a:rPr>
              <a:t>Bob sends Alice </a:t>
            </a:r>
            <a:r>
              <a:rPr lang="en-US" altLang="ja-JP" sz="2400" i="1">
                <a:solidFill>
                  <a:srgbClr val="CC0000"/>
                </a:solidFill>
                <a:latin typeface="Gill Sans MT" pitchFamily="34" charset="0"/>
              </a:rPr>
              <a:t>nonce</a:t>
            </a:r>
            <a:r>
              <a:rPr lang="en-US" altLang="ja-JP" sz="2400">
                <a:latin typeface="Gill Sans MT" pitchFamily="34" charset="0"/>
              </a:rPr>
              <a:t>, R.  Alice</a:t>
            </a:r>
          </a:p>
          <a:p>
            <a:pPr algn="r"/>
            <a:r>
              <a:rPr lang="en-US" altLang="en-US" sz="2400">
                <a:latin typeface="Gill Sans MT" pitchFamily="34" charset="0"/>
              </a:rPr>
              <a:t>must return R, encrypted with shared secret key</a:t>
            </a:r>
          </a:p>
        </p:txBody>
      </p:sp>
      <p:pic>
        <p:nvPicPr>
          <p:cNvPr id="151558" name="Picture 7" descr="Al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2938" y="3736975"/>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559" name="Picture 8"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4300" y="3686175"/>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60" name="Line 9"/>
          <p:cNvSpPr>
            <a:spLocks noChangeShapeType="1"/>
          </p:cNvSpPr>
          <p:nvPr/>
        </p:nvSpPr>
        <p:spPr bwMode="auto">
          <a:xfrm>
            <a:off x="2733675" y="3819525"/>
            <a:ext cx="3697288" cy="26193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51561" name="Text Box 10"/>
          <p:cNvSpPr txBox="1">
            <a:spLocks noChangeArrowheads="1"/>
          </p:cNvSpPr>
          <p:nvPr/>
        </p:nvSpPr>
        <p:spPr bwMode="auto">
          <a:xfrm>
            <a:off x="3662363" y="3467100"/>
            <a:ext cx="1700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ja-JP" altLang="en-US" sz="2400">
                <a:latin typeface="Gill Sans MT" pitchFamily="34" charset="0"/>
              </a:rPr>
              <a:t>“</a:t>
            </a:r>
            <a:r>
              <a:rPr lang="en-US" altLang="ja-JP" sz="2400">
                <a:latin typeface="Gill Sans MT" pitchFamily="34" charset="0"/>
              </a:rPr>
              <a:t>I am Alice</a:t>
            </a:r>
            <a:r>
              <a:rPr lang="ja-JP" altLang="en-US" sz="2400">
                <a:latin typeface="Gill Sans MT" pitchFamily="34" charset="0"/>
              </a:rPr>
              <a:t>”</a:t>
            </a:r>
            <a:endParaRPr lang="en-US" altLang="en-US" sz="2400">
              <a:latin typeface="Gill Sans MT" pitchFamily="34" charset="0"/>
            </a:endParaRPr>
          </a:p>
        </p:txBody>
      </p:sp>
      <p:sp>
        <p:nvSpPr>
          <p:cNvPr id="151562" name="Line 11"/>
          <p:cNvSpPr>
            <a:spLocks noChangeShapeType="1"/>
          </p:cNvSpPr>
          <p:nvPr/>
        </p:nvSpPr>
        <p:spPr bwMode="auto">
          <a:xfrm flipH="1">
            <a:off x="2727325" y="4437063"/>
            <a:ext cx="3697288" cy="261937"/>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51563" name="Line 12"/>
          <p:cNvSpPr>
            <a:spLocks noChangeShapeType="1"/>
          </p:cNvSpPr>
          <p:nvPr/>
        </p:nvSpPr>
        <p:spPr bwMode="auto">
          <a:xfrm>
            <a:off x="2735263" y="5097463"/>
            <a:ext cx="3697287" cy="261937"/>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51564" name="Text Box 13"/>
          <p:cNvSpPr txBox="1">
            <a:spLocks noChangeArrowheads="1"/>
          </p:cNvSpPr>
          <p:nvPr/>
        </p:nvSpPr>
        <p:spPr bwMode="auto">
          <a:xfrm>
            <a:off x="4292600" y="4141788"/>
            <a:ext cx="376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a:latin typeface="Gill Sans MT" pitchFamily="34" charset="0"/>
              </a:rPr>
              <a:t>R</a:t>
            </a:r>
          </a:p>
        </p:txBody>
      </p:sp>
      <p:grpSp>
        <p:nvGrpSpPr>
          <p:cNvPr id="151565" name="Group 14"/>
          <p:cNvGrpSpPr>
            <a:grpSpLocks/>
          </p:cNvGrpSpPr>
          <p:nvPr/>
        </p:nvGrpSpPr>
        <p:grpSpPr bwMode="auto">
          <a:xfrm>
            <a:off x="4527550" y="4743450"/>
            <a:ext cx="1112838" cy="581025"/>
            <a:chOff x="2697" y="3555"/>
            <a:chExt cx="701" cy="366"/>
          </a:xfrm>
        </p:grpSpPr>
        <p:sp>
          <p:nvSpPr>
            <p:cNvPr id="151567" name="Text Box 15"/>
            <p:cNvSpPr txBox="1">
              <a:spLocks noChangeArrowheads="1"/>
            </p:cNvSpPr>
            <p:nvPr/>
          </p:nvSpPr>
          <p:spPr bwMode="auto">
            <a:xfrm>
              <a:off x="2697" y="3555"/>
              <a:ext cx="7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a:latin typeface="Gill Sans MT" pitchFamily="34" charset="0"/>
                </a:rPr>
                <a:t>K    (R)</a:t>
              </a:r>
            </a:p>
          </p:txBody>
        </p:sp>
        <p:sp>
          <p:nvSpPr>
            <p:cNvPr id="151568" name="Text Box 16"/>
            <p:cNvSpPr txBox="1">
              <a:spLocks noChangeArrowheads="1"/>
            </p:cNvSpPr>
            <p:nvPr/>
          </p:nvSpPr>
          <p:spPr bwMode="auto">
            <a:xfrm>
              <a:off x="2786" y="3688"/>
              <a:ext cx="3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800">
                  <a:latin typeface="Gill Sans MT" pitchFamily="34" charset="0"/>
                </a:rPr>
                <a:t>A-B</a:t>
              </a:r>
            </a:p>
          </p:txBody>
        </p:sp>
      </p:grpSp>
      <p:sp>
        <p:nvSpPr>
          <p:cNvPr id="151566" name="Text Box 17"/>
          <p:cNvSpPr txBox="1">
            <a:spLocks noChangeArrowheads="1"/>
          </p:cNvSpPr>
          <p:nvPr/>
        </p:nvSpPr>
        <p:spPr bwMode="auto">
          <a:xfrm>
            <a:off x="6369050" y="4700588"/>
            <a:ext cx="233203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Gill Sans MT" pitchFamily="34" charset="0"/>
              </a:rPr>
              <a:t>Alice is live, and only Alice knows key to encrypt nonce, so it must be Alice!</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52578" name="Rectangle 2"/>
          <p:cNvSpPr>
            <a:spLocks noGrp="1" noChangeArrowheads="1"/>
          </p:cNvSpPr>
          <p:nvPr>
            <p:ph type="title"/>
          </p:nvPr>
        </p:nvSpPr>
        <p:spPr/>
        <p:txBody>
          <a:bodyPr/>
          <a:lstStyle/>
          <a:p>
            <a:r>
              <a:rPr lang="en-US" altLang="en-US" sz="4000" smtClean="0">
                <a:ea typeface="ＭＳ Ｐゴシック" pitchFamily="34" charset="-128"/>
              </a:rPr>
              <a:t>WEP authentication</a:t>
            </a:r>
          </a:p>
        </p:txBody>
      </p:sp>
      <p:sp>
        <p:nvSpPr>
          <p:cNvPr id="152579" name="Line 28"/>
          <p:cNvSpPr>
            <a:spLocks noChangeShapeType="1"/>
          </p:cNvSpPr>
          <p:nvPr/>
        </p:nvSpPr>
        <p:spPr bwMode="auto">
          <a:xfrm>
            <a:off x="1676400" y="1955800"/>
            <a:ext cx="54244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52580" name="Text Box 29"/>
          <p:cNvSpPr txBox="1">
            <a:spLocks noChangeArrowheads="1"/>
          </p:cNvSpPr>
          <p:nvPr/>
        </p:nvSpPr>
        <p:spPr bwMode="auto">
          <a:xfrm>
            <a:off x="2992438" y="1603375"/>
            <a:ext cx="2708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authentication request</a:t>
            </a:r>
          </a:p>
        </p:txBody>
      </p:sp>
      <p:sp>
        <p:nvSpPr>
          <p:cNvPr id="152581" name="Line 31"/>
          <p:cNvSpPr>
            <a:spLocks noChangeShapeType="1"/>
          </p:cNvSpPr>
          <p:nvPr/>
        </p:nvSpPr>
        <p:spPr bwMode="auto">
          <a:xfrm>
            <a:off x="1655763" y="3470275"/>
            <a:ext cx="542448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52582" name="Line 32"/>
          <p:cNvSpPr>
            <a:spLocks noChangeShapeType="1"/>
          </p:cNvSpPr>
          <p:nvPr/>
        </p:nvSpPr>
        <p:spPr bwMode="auto">
          <a:xfrm>
            <a:off x="1666875" y="2676525"/>
            <a:ext cx="5424488"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CA"/>
          </a:p>
        </p:txBody>
      </p:sp>
      <p:sp>
        <p:nvSpPr>
          <p:cNvPr id="152583" name="Line 33"/>
          <p:cNvSpPr>
            <a:spLocks noChangeShapeType="1"/>
          </p:cNvSpPr>
          <p:nvPr/>
        </p:nvSpPr>
        <p:spPr bwMode="auto">
          <a:xfrm>
            <a:off x="1671638" y="4341813"/>
            <a:ext cx="5424487"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CA"/>
          </a:p>
        </p:txBody>
      </p:sp>
      <p:sp>
        <p:nvSpPr>
          <p:cNvPr id="152584" name="Text Box 34"/>
          <p:cNvSpPr txBox="1">
            <a:spLocks noChangeArrowheads="1"/>
          </p:cNvSpPr>
          <p:nvPr/>
        </p:nvSpPr>
        <p:spPr bwMode="auto">
          <a:xfrm>
            <a:off x="3203575" y="2308225"/>
            <a:ext cx="2238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nonce (128 bytes)</a:t>
            </a:r>
          </a:p>
        </p:txBody>
      </p:sp>
      <p:sp>
        <p:nvSpPr>
          <p:cNvPr id="152585" name="Text Box 36"/>
          <p:cNvSpPr txBox="1">
            <a:spLocks noChangeArrowheads="1"/>
          </p:cNvSpPr>
          <p:nvPr/>
        </p:nvSpPr>
        <p:spPr bwMode="auto">
          <a:xfrm>
            <a:off x="2947988" y="3089275"/>
            <a:ext cx="3406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nonce encrypted shared key</a:t>
            </a:r>
          </a:p>
        </p:txBody>
      </p:sp>
      <p:sp>
        <p:nvSpPr>
          <p:cNvPr id="152586" name="Text Box 37"/>
          <p:cNvSpPr txBox="1">
            <a:spLocks noChangeArrowheads="1"/>
          </p:cNvSpPr>
          <p:nvPr/>
        </p:nvSpPr>
        <p:spPr bwMode="auto">
          <a:xfrm>
            <a:off x="2332038" y="3983038"/>
            <a:ext cx="4791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success if decrypted value equals nonce</a:t>
            </a:r>
          </a:p>
        </p:txBody>
      </p:sp>
      <p:sp>
        <p:nvSpPr>
          <p:cNvPr id="152587" name="Text Box 38"/>
          <p:cNvSpPr txBox="1">
            <a:spLocks noChangeArrowheads="1"/>
          </p:cNvSpPr>
          <p:nvPr/>
        </p:nvSpPr>
        <p:spPr bwMode="auto">
          <a:xfrm>
            <a:off x="5716588" y="228600"/>
            <a:ext cx="18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14694" name="Text Box 39"/>
          <p:cNvSpPr txBox="1">
            <a:spLocks noChangeArrowheads="1"/>
          </p:cNvSpPr>
          <p:nvPr/>
        </p:nvSpPr>
        <p:spPr bwMode="auto">
          <a:xfrm>
            <a:off x="682625" y="4706938"/>
            <a:ext cx="7961313"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buClr>
                <a:srgbClr val="000099"/>
              </a:buClr>
              <a:buSzPct val="74000"/>
              <a:defRPr/>
            </a:pPr>
            <a:r>
              <a:rPr lang="en-US" sz="2800" i="1" dirty="0" smtClean="0">
                <a:solidFill>
                  <a:srgbClr val="CC0000"/>
                </a:solidFill>
                <a:latin typeface="Gill Sans MT"/>
                <a:cs typeface="Gill Sans MT"/>
              </a:rPr>
              <a:t>Notes:</a:t>
            </a:r>
          </a:p>
          <a:p>
            <a:pPr marL="342900" indent="-342900">
              <a:buClr>
                <a:srgbClr val="000099"/>
              </a:buClr>
              <a:buSzPct val="74000"/>
              <a:buFont typeface="Wingdings" charset="2"/>
              <a:buChar char="v"/>
              <a:defRPr/>
            </a:pPr>
            <a:r>
              <a:rPr lang="en-US" sz="2400" dirty="0" smtClean="0">
                <a:latin typeface="Gill Sans MT"/>
                <a:cs typeface="Gill Sans MT"/>
              </a:rPr>
              <a:t>not all APs do it, even if WEP is being used</a:t>
            </a:r>
          </a:p>
          <a:p>
            <a:pPr marL="342900" indent="-342900">
              <a:buClr>
                <a:srgbClr val="000099"/>
              </a:buClr>
              <a:buSzPct val="74000"/>
              <a:buFont typeface="Wingdings" charset="2"/>
              <a:buChar char="v"/>
              <a:defRPr/>
            </a:pPr>
            <a:r>
              <a:rPr lang="en-US" sz="2400" dirty="0" smtClean="0">
                <a:latin typeface="Gill Sans MT"/>
                <a:cs typeface="Gill Sans MT"/>
              </a:rPr>
              <a:t>AP indicates if authentication is necessary in beacon frame</a:t>
            </a:r>
          </a:p>
          <a:p>
            <a:pPr marL="342900" indent="-342900">
              <a:buClr>
                <a:srgbClr val="000099"/>
              </a:buClr>
              <a:buSzPct val="74000"/>
              <a:buFont typeface="Wingdings" charset="2"/>
              <a:buChar char="v"/>
              <a:defRPr/>
            </a:pPr>
            <a:r>
              <a:rPr lang="en-US" sz="2400" dirty="0" smtClean="0">
                <a:latin typeface="Gill Sans MT"/>
                <a:cs typeface="Gill Sans MT"/>
              </a:rPr>
              <a:t>done before association</a:t>
            </a:r>
          </a:p>
        </p:txBody>
      </p:sp>
      <p:pic>
        <p:nvPicPr>
          <p:cNvPr id="152589" name="Picture 22"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475" y="1017588"/>
            <a:ext cx="4154488"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2590" name="Group 356"/>
          <p:cNvGrpSpPr>
            <a:grpSpLocks/>
          </p:cNvGrpSpPr>
          <p:nvPr/>
        </p:nvGrpSpPr>
        <p:grpSpPr bwMode="auto">
          <a:xfrm>
            <a:off x="709613" y="1296988"/>
            <a:ext cx="928687" cy="812800"/>
            <a:chOff x="313" y="1497"/>
            <a:chExt cx="1152" cy="1014"/>
          </a:xfrm>
        </p:grpSpPr>
        <p:pic>
          <p:nvPicPr>
            <p:cNvPr id="152594" name="Picture 354" descr="laptop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595" name="Picture 355" descr="antenna_styliz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2591" name="Group 361"/>
          <p:cNvGrpSpPr>
            <a:grpSpLocks/>
          </p:cNvGrpSpPr>
          <p:nvPr/>
        </p:nvGrpSpPr>
        <p:grpSpPr bwMode="auto">
          <a:xfrm>
            <a:off x="7251700" y="1350963"/>
            <a:ext cx="1065213" cy="825500"/>
            <a:chOff x="2967" y="478"/>
            <a:chExt cx="788" cy="625"/>
          </a:xfrm>
        </p:grpSpPr>
        <p:pic>
          <p:nvPicPr>
            <p:cNvPr id="152592" name="Picture 358" descr="access_point_stylized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593" name="Picture 360" descr="antenna_radiation_styliz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1" name="Picture 15"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813" y="1022350"/>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5"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53603" name="Rectangle 2"/>
          <p:cNvSpPr>
            <a:spLocks noGrp="1" noChangeArrowheads="1"/>
          </p:cNvSpPr>
          <p:nvPr>
            <p:ph type="title"/>
          </p:nvPr>
        </p:nvSpPr>
        <p:spPr>
          <a:xfrm>
            <a:off x="352425" y="201613"/>
            <a:ext cx="7772400" cy="1143000"/>
          </a:xfrm>
        </p:spPr>
        <p:txBody>
          <a:bodyPr/>
          <a:lstStyle/>
          <a:p>
            <a:r>
              <a:rPr lang="en-US" altLang="en-US" smtClean="0">
                <a:ea typeface="ＭＳ Ｐゴシック" pitchFamily="34" charset="-128"/>
              </a:rPr>
              <a:t>Breaking 802.11 WEP encryption</a:t>
            </a:r>
          </a:p>
        </p:txBody>
      </p:sp>
      <p:sp>
        <p:nvSpPr>
          <p:cNvPr id="115717" name="Rectangle 3"/>
          <p:cNvSpPr>
            <a:spLocks noGrp="1" noChangeArrowheads="1"/>
          </p:cNvSpPr>
          <p:nvPr>
            <p:ph type="body" idx="1"/>
          </p:nvPr>
        </p:nvSpPr>
        <p:spPr>
          <a:xfrm>
            <a:off x="366713" y="1363663"/>
            <a:ext cx="8513762" cy="4648200"/>
          </a:xfrm>
        </p:spPr>
        <p:txBody>
          <a:bodyPr/>
          <a:lstStyle/>
          <a:p>
            <a:pPr>
              <a:buFont typeface="Wingdings" pitchFamily="2" charset="2"/>
              <a:buNone/>
            </a:pPr>
            <a:r>
              <a:rPr lang="en-US" altLang="en-US" i="1" smtClean="0">
                <a:solidFill>
                  <a:srgbClr val="CC0000"/>
                </a:solidFill>
                <a:ea typeface="ＭＳ Ｐゴシック" pitchFamily="34" charset="-128"/>
              </a:rPr>
              <a:t>security hole: </a:t>
            </a:r>
          </a:p>
          <a:p>
            <a:r>
              <a:rPr lang="en-US" altLang="en-US" sz="2400" smtClean="0">
                <a:ea typeface="ＭＳ Ｐゴシック" pitchFamily="34" charset="-128"/>
              </a:rPr>
              <a:t>24-bit IV, one IV per frame, -&gt; IV</a:t>
            </a:r>
            <a:r>
              <a:rPr lang="ja-JP" altLang="en-US" sz="2400" smtClean="0">
                <a:ea typeface="ＭＳ Ｐゴシック" pitchFamily="34" charset="-128"/>
              </a:rPr>
              <a:t>’</a:t>
            </a:r>
            <a:r>
              <a:rPr lang="en-US" altLang="ja-JP" sz="2400" smtClean="0">
                <a:ea typeface="ＭＳ Ｐゴシック" pitchFamily="34" charset="-128"/>
              </a:rPr>
              <a:t>s eventually reused</a:t>
            </a:r>
          </a:p>
          <a:p>
            <a:r>
              <a:rPr lang="en-US" altLang="en-US" sz="2400" smtClean="0">
                <a:ea typeface="ＭＳ Ｐゴシック" pitchFamily="34" charset="-128"/>
              </a:rPr>
              <a:t>IV transmitted in plaintext -&gt; IV reuse detected</a:t>
            </a:r>
          </a:p>
          <a:p>
            <a:pPr>
              <a:buFont typeface="Wingdings" pitchFamily="2" charset="2"/>
              <a:buNone/>
            </a:pPr>
            <a:r>
              <a:rPr lang="en-US" altLang="en-US" i="1" smtClean="0">
                <a:solidFill>
                  <a:srgbClr val="CC0000"/>
                </a:solidFill>
                <a:ea typeface="ＭＳ Ｐゴシック" pitchFamily="34" charset="-128"/>
              </a:rPr>
              <a:t>attack:</a:t>
            </a:r>
          </a:p>
          <a:p>
            <a:pPr lvl="1"/>
            <a:r>
              <a:rPr lang="en-US" altLang="en-US" smtClean="0">
                <a:ea typeface="ＭＳ Ｐゴシック" pitchFamily="34" charset="-128"/>
              </a:rPr>
              <a:t>Trudy causes Alice to encrypt known plaintext d</a:t>
            </a:r>
            <a:r>
              <a:rPr lang="en-US" altLang="en-US" sz="2800" baseline="-25000" smtClean="0">
                <a:ea typeface="ＭＳ Ｐゴシック" pitchFamily="34" charset="-128"/>
              </a:rPr>
              <a:t>1</a:t>
            </a:r>
            <a:r>
              <a:rPr lang="en-US" altLang="en-US" smtClean="0">
                <a:ea typeface="ＭＳ Ｐゴシック" pitchFamily="34" charset="-128"/>
              </a:rPr>
              <a:t> d</a:t>
            </a:r>
            <a:r>
              <a:rPr lang="en-US" altLang="en-US" sz="2800" baseline="-25000" smtClean="0">
                <a:ea typeface="ＭＳ Ｐゴシック" pitchFamily="34" charset="-128"/>
              </a:rPr>
              <a:t>2</a:t>
            </a:r>
            <a:r>
              <a:rPr lang="en-US" altLang="en-US" smtClean="0">
                <a:ea typeface="ＭＳ Ｐゴシック" pitchFamily="34" charset="-128"/>
              </a:rPr>
              <a:t> d</a:t>
            </a:r>
            <a:r>
              <a:rPr lang="en-US" altLang="en-US" sz="2800" baseline="-25000" smtClean="0">
                <a:ea typeface="ＭＳ Ｐゴシック" pitchFamily="34" charset="-128"/>
              </a:rPr>
              <a:t>3</a:t>
            </a:r>
            <a:r>
              <a:rPr lang="en-US" altLang="en-US" smtClean="0">
                <a:ea typeface="ＭＳ Ｐゴシック" pitchFamily="34" charset="-128"/>
              </a:rPr>
              <a:t> d</a:t>
            </a:r>
            <a:r>
              <a:rPr lang="en-US" altLang="en-US" sz="2800" baseline="-25000" smtClean="0">
                <a:ea typeface="ＭＳ Ｐゴシック" pitchFamily="34" charset="-128"/>
              </a:rPr>
              <a:t>4</a:t>
            </a:r>
            <a:r>
              <a:rPr lang="en-US" altLang="en-US" smtClean="0">
                <a:ea typeface="ＭＳ Ｐゴシック" pitchFamily="34" charset="-128"/>
              </a:rPr>
              <a:t> … </a:t>
            </a:r>
          </a:p>
          <a:p>
            <a:pPr lvl="1"/>
            <a:r>
              <a:rPr lang="en-US" altLang="en-US" smtClean="0">
                <a:ea typeface="ＭＳ Ｐゴシック" pitchFamily="34" charset="-128"/>
              </a:rPr>
              <a:t>Trudy sees: c</a:t>
            </a:r>
            <a:r>
              <a:rPr lang="en-US" altLang="en-US" sz="2800" baseline="-25000" smtClean="0">
                <a:ea typeface="ＭＳ Ｐゴシック" pitchFamily="34" charset="-128"/>
              </a:rPr>
              <a:t>i</a:t>
            </a:r>
            <a:r>
              <a:rPr lang="en-US" altLang="en-US" i="1" smtClean="0">
                <a:ea typeface="ＭＳ Ｐゴシック" pitchFamily="34" charset="-128"/>
              </a:rPr>
              <a:t> = </a:t>
            </a:r>
            <a:r>
              <a:rPr lang="en-US" altLang="en-US" smtClean="0">
                <a:ea typeface="ＭＳ Ｐゴシック" pitchFamily="34" charset="-128"/>
              </a:rPr>
              <a:t>d</a:t>
            </a:r>
            <a:r>
              <a:rPr lang="en-US" altLang="en-US" sz="2800" baseline="-25000" smtClean="0">
                <a:ea typeface="ＭＳ Ｐゴシック" pitchFamily="34" charset="-128"/>
              </a:rPr>
              <a:t>i</a:t>
            </a:r>
            <a:r>
              <a:rPr lang="en-US" altLang="en-US" i="1" smtClean="0">
                <a:ea typeface="ＭＳ Ｐゴシック" pitchFamily="34" charset="-128"/>
              </a:rPr>
              <a:t> </a:t>
            </a:r>
            <a:r>
              <a:rPr lang="en-US" altLang="en-US" smtClean="0">
                <a:ea typeface="ＭＳ Ｐゴシック" pitchFamily="34" charset="-128"/>
              </a:rPr>
              <a:t>XOR</a:t>
            </a:r>
            <a:r>
              <a:rPr lang="en-US" altLang="en-US" i="1" smtClean="0">
                <a:ea typeface="ＭＳ Ｐゴシック" pitchFamily="34" charset="-128"/>
              </a:rPr>
              <a:t>  </a:t>
            </a:r>
            <a:r>
              <a:rPr lang="en-US" altLang="en-US" smtClean="0">
                <a:ea typeface="ＭＳ Ｐゴシック" pitchFamily="34" charset="-128"/>
              </a:rPr>
              <a:t>k</a:t>
            </a:r>
            <a:r>
              <a:rPr lang="en-US" altLang="en-US" sz="2800" baseline="-25000" smtClean="0">
                <a:ea typeface="ＭＳ Ｐゴシック" pitchFamily="34" charset="-128"/>
              </a:rPr>
              <a:t>i</a:t>
            </a:r>
            <a:r>
              <a:rPr lang="en-US" altLang="en-US" b="1" baseline="44000" smtClean="0">
                <a:ea typeface="ＭＳ Ｐゴシック" pitchFamily="34" charset="-128"/>
              </a:rPr>
              <a:t>IV</a:t>
            </a:r>
          </a:p>
          <a:p>
            <a:pPr lvl="1"/>
            <a:r>
              <a:rPr lang="en-US" altLang="en-US" smtClean="0">
                <a:ea typeface="ＭＳ Ｐゴシック" pitchFamily="34" charset="-128"/>
              </a:rPr>
              <a:t>Trudy knows c</a:t>
            </a:r>
            <a:r>
              <a:rPr lang="en-US" altLang="en-US" sz="2800" baseline="-25000" smtClean="0">
                <a:ea typeface="ＭＳ Ｐゴシック" pitchFamily="34" charset="-128"/>
              </a:rPr>
              <a:t>i</a:t>
            </a:r>
            <a:r>
              <a:rPr lang="en-US" altLang="en-US" sz="2800" smtClean="0">
                <a:ea typeface="ＭＳ Ｐゴシック" pitchFamily="34" charset="-128"/>
              </a:rPr>
              <a:t> </a:t>
            </a:r>
            <a:r>
              <a:rPr lang="en-US" altLang="en-US" smtClean="0">
                <a:ea typeface="ＭＳ Ｐゴシック" pitchFamily="34" charset="-128"/>
              </a:rPr>
              <a:t>d</a:t>
            </a:r>
            <a:r>
              <a:rPr lang="en-US" altLang="en-US" sz="2800" baseline="-25000" smtClean="0">
                <a:ea typeface="ＭＳ Ｐゴシック" pitchFamily="34" charset="-128"/>
              </a:rPr>
              <a:t>i</a:t>
            </a:r>
            <a:r>
              <a:rPr lang="en-US" altLang="en-US" smtClean="0">
                <a:ea typeface="ＭＳ Ｐゴシック" pitchFamily="34" charset="-128"/>
              </a:rPr>
              <a:t>, so can compute </a:t>
            </a:r>
            <a:r>
              <a:rPr lang="en-US" altLang="en-US" i="1" smtClean="0">
                <a:ea typeface="ＭＳ Ｐゴシック" pitchFamily="34" charset="-128"/>
              </a:rPr>
              <a:t> </a:t>
            </a:r>
            <a:r>
              <a:rPr lang="en-US" altLang="en-US" smtClean="0">
                <a:ea typeface="ＭＳ Ｐゴシック" pitchFamily="34" charset="-128"/>
              </a:rPr>
              <a:t>k</a:t>
            </a:r>
            <a:r>
              <a:rPr lang="en-US" altLang="en-US" sz="2800" baseline="-25000" smtClean="0">
                <a:ea typeface="ＭＳ Ｐゴシック" pitchFamily="34" charset="-128"/>
              </a:rPr>
              <a:t>i</a:t>
            </a:r>
            <a:r>
              <a:rPr lang="en-US" altLang="en-US" b="1" baseline="44000" smtClean="0">
                <a:ea typeface="ＭＳ Ｐゴシック" pitchFamily="34" charset="-128"/>
              </a:rPr>
              <a:t>IV</a:t>
            </a:r>
          </a:p>
          <a:p>
            <a:pPr lvl="1"/>
            <a:r>
              <a:rPr lang="en-US" altLang="en-US" smtClean="0">
                <a:ea typeface="ＭＳ Ｐゴシック" pitchFamily="34" charset="-128"/>
              </a:rPr>
              <a:t>Trudy knows encrypting key sequence k</a:t>
            </a:r>
            <a:r>
              <a:rPr lang="en-US" altLang="en-US" sz="2800" baseline="-25000" smtClean="0">
                <a:ea typeface="ＭＳ Ｐゴシック" pitchFamily="34" charset="-128"/>
              </a:rPr>
              <a:t>1</a:t>
            </a:r>
            <a:r>
              <a:rPr lang="en-US" altLang="en-US" b="1" baseline="44000" smtClean="0">
                <a:ea typeface="ＭＳ Ｐゴシック" pitchFamily="34" charset="-128"/>
              </a:rPr>
              <a:t>IV </a:t>
            </a:r>
            <a:r>
              <a:rPr lang="en-US" altLang="en-US" smtClean="0">
                <a:ea typeface="ＭＳ Ｐゴシック" pitchFamily="34" charset="-128"/>
              </a:rPr>
              <a:t>k</a:t>
            </a:r>
            <a:r>
              <a:rPr lang="en-US" altLang="en-US" sz="2800" baseline="-25000" smtClean="0">
                <a:ea typeface="ＭＳ Ｐゴシック" pitchFamily="34" charset="-128"/>
              </a:rPr>
              <a:t>2</a:t>
            </a:r>
            <a:r>
              <a:rPr lang="en-US" altLang="en-US" b="1" baseline="44000" smtClean="0">
                <a:ea typeface="ＭＳ Ｐゴシック" pitchFamily="34" charset="-128"/>
              </a:rPr>
              <a:t>IV </a:t>
            </a:r>
            <a:r>
              <a:rPr lang="en-US" altLang="en-US" smtClean="0">
                <a:ea typeface="ＭＳ Ｐゴシック" pitchFamily="34" charset="-128"/>
              </a:rPr>
              <a:t>k</a:t>
            </a:r>
            <a:r>
              <a:rPr lang="en-US" altLang="en-US" sz="2800" baseline="-25000" smtClean="0">
                <a:ea typeface="ＭＳ Ｐゴシック" pitchFamily="34" charset="-128"/>
              </a:rPr>
              <a:t>3</a:t>
            </a:r>
            <a:r>
              <a:rPr lang="en-US" altLang="en-US" b="1" baseline="44000" smtClean="0">
                <a:ea typeface="ＭＳ Ｐゴシック" pitchFamily="34" charset="-128"/>
              </a:rPr>
              <a:t>IV </a:t>
            </a:r>
            <a:r>
              <a:rPr lang="en-US" altLang="en-US" smtClean="0">
                <a:ea typeface="ＭＳ Ｐゴシック" pitchFamily="34" charset="-128"/>
              </a:rPr>
              <a:t>…</a:t>
            </a:r>
          </a:p>
          <a:p>
            <a:pPr lvl="1"/>
            <a:r>
              <a:rPr lang="en-US" altLang="en-US" smtClean="0">
                <a:ea typeface="ＭＳ Ｐゴシック" pitchFamily="34" charset="-128"/>
              </a:rPr>
              <a:t>Next time IV is used, Trudy can decrypt!</a:t>
            </a: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49" name="Picture 18"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988" y="1019175"/>
            <a:ext cx="6399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39"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55651" name="Rectangle 2"/>
          <p:cNvSpPr>
            <a:spLocks noGrp="1" noChangeArrowheads="1"/>
          </p:cNvSpPr>
          <p:nvPr>
            <p:ph type="title"/>
          </p:nvPr>
        </p:nvSpPr>
        <p:spPr>
          <a:xfrm>
            <a:off x="352425" y="201613"/>
            <a:ext cx="7772400" cy="1143000"/>
          </a:xfrm>
        </p:spPr>
        <p:txBody>
          <a:bodyPr/>
          <a:lstStyle/>
          <a:p>
            <a:r>
              <a:rPr lang="en-US" altLang="en-US" smtClean="0">
                <a:ea typeface="ＭＳ Ｐゴシック" pitchFamily="34" charset="-128"/>
              </a:rPr>
              <a:t> 802.11i: improved security</a:t>
            </a:r>
          </a:p>
        </p:txBody>
      </p:sp>
      <p:sp>
        <p:nvSpPr>
          <p:cNvPr id="155652" name="Rectangle 3"/>
          <p:cNvSpPr>
            <a:spLocks noGrp="1" noChangeArrowheads="1"/>
          </p:cNvSpPr>
          <p:nvPr>
            <p:ph type="body" idx="1"/>
          </p:nvPr>
        </p:nvSpPr>
        <p:spPr/>
        <p:txBody>
          <a:bodyPr/>
          <a:lstStyle/>
          <a:p>
            <a:r>
              <a:rPr lang="en-US" altLang="en-US" smtClean="0">
                <a:ea typeface="ＭＳ Ｐゴシック" pitchFamily="34" charset="-128"/>
              </a:rPr>
              <a:t>numerous (stronger) forms of encryption possible</a:t>
            </a:r>
          </a:p>
          <a:p>
            <a:r>
              <a:rPr lang="en-US" altLang="en-US" smtClean="0">
                <a:ea typeface="ＭＳ Ｐゴシック" pitchFamily="34" charset="-128"/>
              </a:rPr>
              <a:t>provides key distribution</a:t>
            </a:r>
          </a:p>
          <a:p>
            <a:r>
              <a:rPr lang="en-US" altLang="en-US" smtClean="0">
                <a:ea typeface="ＭＳ Ｐゴシック" pitchFamily="34" charset="-128"/>
              </a:rPr>
              <a:t>uses authentication server separate from access point</a:t>
            </a: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7" name="Picture 15"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022350"/>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3"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57699" name="AutoShape 25"/>
          <p:cNvSpPr>
            <a:spLocks noChangeAspect="1" noChangeArrowheads="1" noTextEdit="1"/>
          </p:cNvSpPr>
          <p:nvPr/>
        </p:nvSpPr>
        <p:spPr bwMode="auto">
          <a:xfrm>
            <a:off x="4164013" y="1419225"/>
            <a:ext cx="987425"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p>
        </p:txBody>
      </p:sp>
      <p:sp>
        <p:nvSpPr>
          <p:cNvPr id="157700" name="Line 55"/>
          <p:cNvSpPr>
            <a:spLocks noChangeShapeType="1"/>
          </p:cNvSpPr>
          <p:nvPr/>
        </p:nvSpPr>
        <p:spPr bwMode="auto">
          <a:xfrm>
            <a:off x="4468813" y="2198688"/>
            <a:ext cx="21050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57701" name="Cloud"/>
          <p:cNvSpPr>
            <a:spLocks noChangeAspect="1" noEditPoints="1" noChangeArrowheads="1"/>
          </p:cNvSpPr>
          <p:nvPr/>
        </p:nvSpPr>
        <p:spPr bwMode="auto">
          <a:xfrm>
            <a:off x="4910138" y="1809750"/>
            <a:ext cx="1263650" cy="846138"/>
          </a:xfrm>
          <a:custGeom>
            <a:avLst/>
            <a:gdLst>
              <a:gd name="T0" fmla="*/ 13416277 w 21600"/>
              <a:gd name="T1" fmla="*/ 649211328 h 21600"/>
              <a:gd name="T2" fmla="*/ 2147483647 w 21600"/>
              <a:gd name="T3" fmla="*/ 1297040083 h 21600"/>
              <a:gd name="T4" fmla="*/ 2147483647 w 21600"/>
              <a:gd name="T5" fmla="*/ 649211328 h 21600"/>
              <a:gd name="T6" fmla="*/ 2147483647 w 21600"/>
              <a:gd name="T7" fmla="*/ 74238934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en-CA"/>
          </a:p>
        </p:txBody>
      </p:sp>
      <p:sp>
        <p:nvSpPr>
          <p:cNvPr id="157702" name="Text Box 57"/>
          <p:cNvSpPr txBox="1">
            <a:spLocks noChangeArrowheads="1"/>
          </p:cNvSpPr>
          <p:nvPr/>
        </p:nvSpPr>
        <p:spPr bwMode="auto">
          <a:xfrm>
            <a:off x="3281363" y="1412875"/>
            <a:ext cx="1822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i="1">
                <a:solidFill>
                  <a:srgbClr val="CC0000"/>
                </a:solidFill>
                <a:latin typeface="Arial" pitchFamily="34" charset="0"/>
                <a:cs typeface="Arial" pitchFamily="34" charset="0"/>
              </a:rPr>
              <a:t>AP: </a:t>
            </a:r>
            <a:r>
              <a:rPr lang="en-US" altLang="en-US" sz="1600">
                <a:latin typeface="Arial" pitchFamily="34" charset="0"/>
                <a:cs typeface="Arial" pitchFamily="34" charset="0"/>
              </a:rPr>
              <a:t>access point</a:t>
            </a:r>
          </a:p>
        </p:txBody>
      </p:sp>
      <p:sp>
        <p:nvSpPr>
          <p:cNvPr id="157703" name="Text Box 58"/>
          <p:cNvSpPr txBox="1">
            <a:spLocks noChangeArrowheads="1"/>
          </p:cNvSpPr>
          <p:nvPr/>
        </p:nvSpPr>
        <p:spPr bwMode="auto">
          <a:xfrm>
            <a:off x="7285038" y="1735138"/>
            <a:ext cx="14986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i="1">
                <a:solidFill>
                  <a:srgbClr val="CC0000"/>
                </a:solidFill>
                <a:latin typeface="Arial" pitchFamily="34" charset="0"/>
                <a:cs typeface="Arial" pitchFamily="34" charset="0"/>
              </a:rPr>
              <a:t>AS:</a:t>
            </a:r>
          </a:p>
          <a:p>
            <a:pPr eaLnBrk="1" hangingPunct="1"/>
            <a:r>
              <a:rPr lang="en-US" altLang="en-US" sz="1600">
                <a:latin typeface="Arial" pitchFamily="34" charset="0"/>
                <a:cs typeface="Arial" pitchFamily="34" charset="0"/>
              </a:rPr>
              <a:t>Authentication</a:t>
            </a:r>
          </a:p>
          <a:p>
            <a:pPr eaLnBrk="1" hangingPunct="1"/>
            <a:r>
              <a:rPr lang="en-US" altLang="en-US" sz="1600">
                <a:latin typeface="Arial" pitchFamily="34" charset="0"/>
                <a:cs typeface="Arial" pitchFamily="34" charset="0"/>
              </a:rPr>
              <a:t> server</a:t>
            </a:r>
          </a:p>
        </p:txBody>
      </p:sp>
      <p:sp>
        <p:nvSpPr>
          <p:cNvPr id="157704" name="Text Box 59"/>
          <p:cNvSpPr txBox="1">
            <a:spLocks noChangeArrowheads="1"/>
          </p:cNvSpPr>
          <p:nvPr/>
        </p:nvSpPr>
        <p:spPr bwMode="auto">
          <a:xfrm>
            <a:off x="5060950" y="1901825"/>
            <a:ext cx="8953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a:latin typeface="Arial" pitchFamily="34" charset="0"/>
                <a:cs typeface="Arial" pitchFamily="34" charset="0"/>
              </a:rPr>
              <a:t>wired</a:t>
            </a:r>
          </a:p>
          <a:p>
            <a:pPr eaLnBrk="1" hangingPunct="1"/>
            <a:r>
              <a:rPr lang="en-US" altLang="en-US" sz="1600">
                <a:latin typeface="Arial" pitchFamily="34" charset="0"/>
                <a:cs typeface="Arial" pitchFamily="34" charset="0"/>
              </a:rPr>
              <a:t>network</a:t>
            </a:r>
          </a:p>
        </p:txBody>
      </p:sp>
      <p:sp>
        <p:nvSpPr>
          <p:cNvPr id="157705" name="Text Box 60"/>
          <p:cNvSpPr txBox="1">
            <a:spLocks noChangeArrowheads="1"/>
          </p:cNvSpPr>
          <p:nvPr/>
        </p:nvSpPr>
        <p:spPr bwMode="auto">
          <a:xfrm>
            <a:off x="1074738" y="1703388"/>
            <a:ext cx="16208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i="1">
                <a:solidFill>
                  <a:srgbClr val="CC0000"/>
                </a:solidFill>
                <a:latin typeface="Arial" pitchFamily="34" charset="0"/>
                <a:cs typeface="Arial" pitchFamily="34" charset="0"/>
              </a:rPr>
              <a:t>STA:</a:t>
            </a:r>
          </a:p>
          <a:p>
            <a:pPr eaLnBrk="1" hangingPunct="1"/>
            <a:r>
              <a:rPr lang="en-US" altLang="en-US" sz="1600">
                <a:latin typeface="Arial" pitchFamily="34" charset="0"/>
                <a:cs typeface="Arial" pitchFamily="34" charset="0"/>
              </a:rPr>
              <a:t>client station</a:t>
            </a:r>
          </a:p>
        </p:txBody>
      </p:sp>
      <p:grpSp>
        <p:nvGrpSpPr>
          <p:cNvPr id="4" name="Group 3"/>
          <p:cNvGrpSpPr>
            <a:grpSpLocks/>
          </p:cNvGrpSpPr>
          <p:nvPr/>
        </p:nvGrpSpPr>
        <p:grpSpPr bwMode="auto">
          <a:xfrm>
            <a:off x="1333500" y="2871788"/>
            <a:ext cx="2641600" cy="612775"/>
            <a:chOff x="1333500" y="2871813"/>
            <a:chExt cx="2641600" cy="612775"/>
          </a:xfrm>
        </p:grpSpPr>
        <p:sp>
          <p:nvSpPr>
            <p:cNvPr id="157771" name="Oval 62"/>
            <p:cNvSpPr>
              <a:spLocks noChangeArrowheads="1"/>
            </p:cNvSpPr>
            <p:nvPr/>
          </p:nvSpPr>
          <p:spPr bwMode="auto">
            <a:xfrm>
              <a:off x="1796484" y="2952776"/>
              <a:ext cx="266700" cy="247650"/>
            </a:xfrm>
            <a:prstGeom prst="ellipse">
              <a:avLst/>
            </a:prstGeom>
            <a:solidFill>
              <a:schemeClr val="accent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57772" name="Text Box 63"/>
            <p:cNvSpPr txBox="1">
              <a:spLocks noChangeArrowheads="1"/>
            </p:cNvSpPr>
            <p:nvPr/>
          </p:nvSpPr>
          <p:spPr bwMode="auto">
            <a:xfrm>
              <a:off x="1765300" y="2903563"/>
              <a:ext cx="19431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a:latin typeface="Arial" pitchFamily="34" charset="0"/>
                  <a:cs typeface="Arial" pitchFamily="34" charset="0"/>
                </a:rPr>
                <a:t>1   Discovery of</a:t>
              </a:r>
            </a:p>
            <a:p>
              <a:pPr eaLnBrk="1" hangingPunct="1"/>
              <a:r>
                <a:rPr lang="en-US" altLang="en-US" sz="1600">
                  <a:latin typeface="Arial" pitchFamily="34" charset="0"/>
                  <a:cs typeface="Arial" pitchFamily="34" charset="0"/>
                </a:rPr>
                <a:t>security capabilities</a:t>
              </a:r>
            </a:p>
          </p:txBody>
        </p:sp>
        <p:sp>
          <p:nvSpPr>
            <p:cNvPr id="157773" name="Line 64"/>
            <p:cNvSpPr>
              <a:spLocks noChangeShapeType="1"/>
            </p:cNvSpPr>
            <p:nvPr/>
          </p:nvSpPr>
          <p:spPr bwMode="auto">
            <a:xfrm>
              <a:off x="1333500" y="2871813"/>
              <a:ext cx="2641600" cy="0"/>
            </a:xfrm>
            <a:prstGeom prst="line">
              <a:avLst/>
            </a:prstGeom>
            <a:noFill/>
            <a:ln w="222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CA"/>
            </a:p>
          </p:txBody>
        </p:sp>
      </p:grpSp>
      <p:grpSp>
        <p:nvGrpSpPr>
          <p:cNvPr id="5" name="Group 4"/>
          <p:cNvGrpSpPr>
            <a:grpSpLocks/>
          </p:cNvGrpSpPr>
          <p:nvPr/>
        </p:nvGrpSpPr>
        <p:grpSpPr bwMode="auto">
          <a:xfrm>
            <a:off x="1392238" y="3548063"/>
            <a:ext cx="5732462" cy="847725"/>
            <a:chOff x="1392238" y="3548063"/>
            <a:chExt cx="5732582" cy="848301"/>
          </a:xfrm>
        </p:grpSpPr>
        <p:sp>
          <p:nvSpPr>
            <p:cNvPr id="157764" name="Line 65"/>
            <p:cNvSpPr>
              <a:spLocks noChangeShapeType="1"/>
            </p:cNvSpPr>
            <p:nvPr/>
          </p:nvSpPr>
          <p:spPr bwMode="auto">
            <a:xfrm flipH="1">
              <a:off x="1392238" y="3794125"/>
              <a:ext cx="255428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57765" name="Line 66"/>
            <p:cNvSpPr>
              <a:spLocks noChangeShapeType="1"/>
            </p:cNvSpPr>
            <p:nvPr/>
          </p:nvSpPr>
          <p:spPr bwMode="auto">
            <a:xfrm flipH="1">
              <a:off x="4433888" y="3800475"/>
              <a:ext cx="2554287"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CA"/>
            </a:p>
          </p:txBody>
        </p:sp>
        <p:sp>
          <p:nvSpPr>
            <p:cNvPr id="157766" name="Freeform 67"/>
            <p:cNvSpPr>
              <a:spLocks/>
            </p:cNvSpPr>
            <p:nvPr/>
          </p:nvSpPr>
          <p:spPr bwMode="auto">
            <a:xfrm>
              <a:off x="3889375" y="3548063"/>
              <a:ext cx="609600" cy="260350"/>
            </a:xfrm>
            <a:custGeom>
              <a:avLst/>
              <a:gdLst>
                <a:gd name="T0" fmla="*/ 2147483647 w 384"/>
                <a:gd name="T1" fmla="*/ 2147483647 h 164"/>
                <a:gd name="T2" fmla="*/ 2147483647 w 384"/>
                <a:gd name="T3" fmla="*/ 2147483647 h 164"/>
                <a:gd name="T4" fmla="*/ 2147483647 w 384"/>
                <a:gd name="T5" fmla="*/ 2147483647 h 164"/>
                <a:gd name="T6" fmla="*/ 0 60000 65536"/>
                <a:gd name="T7" fmla="*/ 0 60000 65536"/>
                <a:gd name="T8" fmla="*/ 0 60000 65536"/>
                <a:gd name="T9" fmla="*/ 0 w 384"/>
                <a:gd name="T10" fmla="*/ 0 h 164"/>
                <a:gd name="T11" fmla="*/ 384 w 384"/>
                <a:gd name="T12" fmla="*/ 164 h 164"/>
              </a:gdLst>
              <a:ahLst/>
              <a:cxnLst>
                <a:cxn ang="T6">
                  <a:pos x="T0" y="T1"/>
                </a:cxn>
                <a:cxn ang="T7">
                  <a:pos x="T2" y="T3"/>
                </a:cxn>
                <a:cxn ang="T8">
                  <a:pos x="T4" y="T5"/>
                </a:cxn>
              </a:cxnLst>
              <a:rect l="T9" t="T10" r="T11" b="T12"/>
              <a:pathLst>
                <a:path w="384" h="164">
                  <a:moveTo>
                    <a:pt x="18" y="164"/>
                  </a:moveTo>
                  <a:cubicBezTo>
                    <a:pt x="47" y="138"/>
                    <a:pt x="0" y="0"/>
                    <a:pt x="192" y="9"/>
                  </a:cubicBezTo>
                  <a:cubicBezTo>
                    <a:pt x="384" y="18"/>
                    <a:pt x="308" y="132"/>
                    <a:pt x="338" y="164"/>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157767" name="Text Box 71"/>
            <p:cNvSpPr txBox="1">
              <a:spLocks noChangeArrowheads="1"/>
            </p:cNvSpPr>
            <p:nvPr/>
          </p:nvSpPr>
          <p:spPr bwMode="auto">
            <a:xfrm>
              <a:off x="1739900" y="3811588"/>
              <a:ext cx="5384920"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a:latin typeface="Arial" pitchFamily="34" charset="0"/>
                  <a:cs typeface="Arial" pitchFamily="34" charset="0"/>
                </a:rPr>
                <a:t>STA and AS mutually authenticate, together</a:t>
              </a:r>
            </a:p>
            <a:p>
              <a:pPr eaLnBrk="1" hangingPunct="1"/>
              <a:r>
                <a:rPr lang="en-US" altLang="en-US" sz="1600">
                  <a:latin typeface="Arial" pitchFamily="34" charset="0"/>
                  <a:cs typeface="Arial" pitchFamily="34" charset="0"/>
                </a:rPr>
                <a:t>generate Master Key (MK)</a:t>
              </a:r>
              <a:r>
                <a:rPr lang="en-US" altLang="en-US" sz="1600" i="1">
                  <a:solidFill>
                    <a:srgbClr val="000099"/>
                  </a:solidFill>
                  <a:latin typeface="Arial" pitchFamily="34" charset="0"/>
                  <a:cs typeface="Arial" pitchFamily="34" charset="0"/>
                </a:rPr>
                <a:t>. AP serves as </a:t>
              </a:r>
              <a:r>
                <a:rPr lang="ja-JP" altLang="en-US" sz="1600" i="1">
                  <a:solidFill>
                    <a:srgbClr val="000099"/>
                  </a:solidFill>
                  <a:latin typeface="Arial" pitchFamily="34" charset="0"/>
                  <a:cs typeface="Arial" pitchFamily="34" charset="0"/>
                </a:rPr>
                <a:t>“</a:t>
              </a:r>
              <a:r>
                <a:rPr lang="en-US" altLang="ja-JP" sz="1600" i="1">
                  <a:solidFill>
                    <a:srgbClr val="000099"/>
                  </a:solidFill>
                  <a:latin typeface="Arial" pitchFamily="34" charset="0"/>
                  <a:cs typeface="Arial" pitchFamily="34" charset="0"/>
                </a:rPr>
                <a:t>pass through</a:t>
              </a:r>
              <a:r>
                <a:rPr lang="ja-JP" altLang="en-US" sz="1600" i="1">
                  <a:solidFill>
                    <a:srgbClr val="000099"/>
                  </a:solidFill>
                  <a:latin typeface="Arial" pitchFamily="34" charset="0"/>
                  <a:cs typeface="Arial" pitchFamily="34" charset="0"/>
                </a:rPr>
                <a:t>”</a:t>
              </a:r>
              <a:endParaRPr lang="en-US" altLang="en-US" sz="1600" i="1">
                <a:solidFill>
                  <a:srgbClr val="000099"/>
                </a:solidFill>
                <a:latin typeface="Arial" pitchFamily="34" charset="0"/>
                <a:cs typeface="Arial" pitchFamily="34" charset="0"/>
              </a:endParaRPr>
            </a:p>
          </p:txBody>
        </p:sp>
        <p:grpSp>
          <p:nvGrpSpPr>
            <p:cNvPr id="157768" name="Group 72"/>
            <p:cNvGrpSpPr>
              <a:grpSpLocks/>
            </p:cNvGrpSpPr>
            <p:nvPr/>
          </p:nvGrpSpPr>
          <p:grpSpPr bwMode="auto">
            <a:xfrm>
              <a:off x="1486759" y="3815528"/>
              <a:ext cx="296862" cy="336550"/>
              <a:chOff x="1864" y="3225"/>
              <a:chExt cx="187" cy="212"/>
            </a:xfrm>
          </p:grpSpPr>
          <p:sp>
            <p:nvSpPr>
              <p:cNvPr id="157769" name="Oval 73"/>
              <p:cNvSpPr>
                <a:spLocks noChangeArrowheads="1"/>
              </p:cNvSpPr>
              <p:nvPr/>
            </p:nvSpPr>
            <p:spPr bwMode="auto">
              <a:xfrm>
                <a:off x="1871" y="3256"/>
                <a:ext cx="168" cy="156"/>
              </a:xfrm>
              <a:prstGeom prst="ellipse">
                <a:avLst/>
              </a:prstGeom>
              <a:solidFill>
                <a:schemeClr val="accent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57770" name="Text Box 74"/>
              <p:cNvSpPr txBox="1">
                <a:spLocks noChangeArrowheads="1"/>
              </p:cNvSpPr>
              <p:nvPr/>
            </p:nvSpPr>
            <p:spPr bwMode="auto">
              <a:xfrm>
                <a:off x="1864" y="3225"/>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a:latin typeface="Arial" pitchFamily="34" charset="0"/>
                    <a:cs typeface="Arial" pitchFamily="34" charset="0"/>
                  </a:rPr>
                  <a:t>2</a:t>
                </a:r>
              </a:p>
            </p:txBody>
          </p:sp>
        </p:grpSp>
      </p:grpSp>
      <p:grpSp>
        <p:nvGrpSpPr>
          <p:cNvPr id="6" name="Group 5"/>
          <p:cNvGrpSpPr>
            <a:grpSpLocks/>
          </p:cNvGrpSpPr>
          <p:nvPr/>
        </p:nvGrpSpPr>
        <p:grpSpPr bwMode="auto">
          <a:xfrm>
            <a:off x="1143000" y="4660900"/>
            <a:ext cx="6573838" cy="950913"/>
            <a:chOff x="1143576" y="4660900"/>
            <a:chExt cx="6573262" cy="950913"/>
          </a:xfrm>
        </p:grpSpPr>
        <p:grpSp>
          <p:nvGrpSpPr>
            <p:cNvPr id="157755" name="Group 68"/>
            <p:cNvGrpSpPr>
              <a:grpSpLocks/>
            </p:cNvGrpSpPr>
            <p:nvPr/>
          </p:nvGrpSpPr>
          <p:grpSpPr bwMode="auto">
            <a:xfrm>
              <a:off x="6125518" y="4830775"/>
              <a:ext cx="296862" cy="336550"/>
              <a:chOff x="1864" y="3225"/>
              <a:chExt cx="187" cy="212"/>
            </a:xfrm>
          </p:grpSpPr>
          <p:sp>
            <p:nvSpPr>
              <p:cNvPr id="157762" name="Oval 69"/>
              <p:cNvSpPr>
                <a:spLocks noChangeArrowheads="1"/>
              </p:cNvSpPr>
              <p:nvPr/>
            </p:nvSpPr>
            <p:spPr bwMode="auto">
              <a:xfrm>
                <a:off x="1871" y="3256"/>
                <a:ext cx="168" cy="156"/>
              </a:xfrm>
              <a:prstGeom prst="ellipse">
                <a:avLst/>
              </a:prstGeom>
              <a:solidFill>
                <a:schemeClr val="accent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57763" name="Text Box 70"/>
              <p:cNvSpPr txBox="1">
                <a:spLocks noChangeArrowheads="1"/>
              </p:cNvSpPr>
              <p:nvPr/>
            </p:nvSpPr>
            <p:spPr bwMode="auto">
              <a:xfrm>
                <a:off x="1864" y="3225"/>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a:latin typeface="Arial" pitchFamily="34" charset="0"/>
                    <a:cs typeface="Arial" pitchFamily="34" charset="0"/>
                  </a:rPr>
                  <a:t>3</a:t>
                </a:r>
              </a:p>
            </p:txBody>
          </p:sp>
        </p:grpSp>
        <p:grpSp>
          <p:nvGrpSpPr>
            <p:cNvPr id="157756" name="Group 75"/>
            <p:cNvGrpSpPr>
              <a:grpSpLocks/>
            </p:cNvGrpSpPr>
            <p:nvPr/>
          </p:nvGrpSpPr>
          <p:grpSpPr bwMode="auto">
            <a:xfrm>
              <a:off x="1143576" y="4668838"/>
              <a:ext cx="296863" cy="336550"/>
              <a:chOff x="1864" y="3225"/>
              <a:chExt cx="187" cy="212"/>
            </a:xfrm>
          </p:grpSpPr>
          <p:sp>
            <p:nvSpPr>
              <p:cNvPr id="157760" name="Oval 76"/>
              <p:cNvSpPr>
                <a:spLocks noChangeArrowheads="1"/>
              </p:cNvSpPr>
              <p:nvPr/>
            </p:nvSpPr>
            <p:spPr bwMode="auto">
              <a:xfrm>
                <a:off x="1871" y="3256"/>
                <a:ext cx="168" cy="156"/>
              </a:xfrm>
              <a:prstGeom prst="ellipse">
                <a:avLst/>
              </a:prstGeom>
              <a:solidFill>
                <a:schemeClr val="accent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57761" name="Text Box 77"/>
              <p:cNvSpPr txBox="1">
                <a:spLocks noChangeArrowheads="1"/>
              </p:cNvSpPr>
              <p:nvPr/>
            </p:nvSpPr>
            <p:spPr bwMode="auto">
              <a:xfrm>
                <a:off x="1864" y="3225"/>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a:latin typeface="Arial" pitchFamily="34" charset="0"/>
                    <a:cs typeface="Arial" pitchFamily="34" charset="0"/>
                  </a:rPr>
                  <a:t>3</a:t>
                </a:r>
              </a:p>
            </p:txBody>
          </p:sp>
        </p:grpSp>
        <p:sp>
          <p:nvSpPr>
            <p:cNvPr id="157757" name="Text Box 78"/>
            <p:cNvSpPr txBox="1">
              <a:spLocks noChangeArrowheads="1"/>
            </p:cNvSpPr>
            <p:nvPr/>
          </p:nvSpPr>
          <p:spPr bwMode="auto">
            <a:xfrm>
              <a:off x="1428750" y="4660900"/>
              <a:ext cx="16859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a:latin typeface="Arial" pitchFamily="34" charset="0"/>
                  <a:cs typeface="Arial" pitchFamily="34" charset="0"/>
                </a:rPr>
                <a:t>STA derives</a:t>
              </a:r>
            </a:p>
            <a:p>
              <a:pPr eaLnBrk="1" hangingPunct="1"/>
              <a:r>
                <a:rPr lang="en-US" altLang="en-US" sz="1600">
                  <a:latin typeface="Arial" pitchFamily="34" charset="0"/>
                  <a:cs typeface="Arial" pitchFamily="34" charset="0"/>
                </a:rPr>
                <a:t>Pairwise Master </a:t>
              </a:r>
            </a:p>
            <a:p>
              <a:pPr eaLnBrk="1" hangingPunct="1"/>
              <a:r>
                <a:rPr lang="en-US" altLang="en-US" sz="1600">
                  <a:latin typeface="Arial" pitchFamily="34" charset="0"/>
                  <a:cs typeface="Arial" pitchFamily="34" charset="0"/>
                </a:rPr>
                <a:t>Key (PMK)</a:t>
              </a:r>
            </a:p>
          </p:txBody>
        </p:sp>
        <p:sp>
          <p:nvSpPr>
            <p:cNvPr id="157758" name="Line 79"/>
            <p:cNvSpPr>
              <a:spLocks noChangeShapeType="1"/>
            </p:cNvSpPr>
            <p:nvPr/>
          </p:nvSpPr>
          <p:spPr bwMode="auto">
            <a:xfrm>
              <a:off x="4330700" y="4775200"/>
              <a:ext cx="2641600"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CA"/>
            </a:p>
          </p:txBody>
        </p:sp>
        <p:sp>
          <p:nvSpPr>
            <p:cNvPr id="157759" name="Text Box 80"/>
            <p:cNvSpPr txBox="1">
              <a:spLocks noChangeArrowheads="1"/>
            </p:cNvSpPr>
            <p:nvPr/>
          </p:nvSpPr>
          <p:spPr bwMode="auto">
            <a:xfrm>
              <a:off x="6424613" y="4786313"/>
              <a:ext cx="12922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a:latin typeface="Arial" pitchFamily="34" charset="0"/>
                  <a:cs typeface="Arial" pitchFamily="34" charset="0"/>
                </a:rPr>
                <a:t>AS derives</a:t>
              </a:r>
            </a:p>
            <a:p>
              <a:pPr eaLnBrk="1" hangingPunct="1"/>
              <a:r>
                <a:rPr lang="en-US" altLang="en-US" sz="1600">
                  <a:latin typeface="Arial" pitchFamily="34" charset="0"/>
                  <a:cs typeface="Arial" pitchFamily="34" charset="0"/>
                </a:rPr>
                <a:t>same PMK, </a:t>
              </a:r>
            </a:p>
            <a:p>
              <a:pPr eaLnBrk="1" hangingPunct="1"/>
              <a:r>
                <a:rPr lang="en-US" altLang="en-US" sz="1600">
                  <a:latin typeface="Arial" pitchFamily="34" charset="0"/>
                  <a:cs typeface="Arial" pitchFamily="34" charset="0"/>
                </a:rPr>
                <a:t>sends to AP</a:t>
              </a:r>
            </a:p>
          </p:txBody>
        </p:sp>
      </p:grpSp>
      <p:grpSp>
        <p:nvGrpSpPr>
          <p:cNvPr id="7" name="Group 6"/>
          <p:cNvGrpSpPr>
            <a:grpSpLocks/>
          </p:cNvGrpSpPr>
          <p:nvPr/>
        </p:nvGrpSpPr>
        <p:grpSpPr bwMode="auto">
          <a:xfrm>
            <a:off x="1139825" y="5761038"/>
            <a:ext cx="3932238" cy="871537"/>
            <a:chOff x="1139415" y="5761038"/>
            <a:chExt cx="3932648" cy="871537"/>
          </a:xfrm>
        </p:grpSpPr>
        <p:sp>
          <p:nvSpPr>
            <p:cNvPr id="157750" name="Line 81"/>
            <p:cNvSpPr>
              <a:spLocks noChangeShapeType="1"/>
            </p:cNvSpPr>
            <p:nvPr/>
          </p:nvSpPr>
          <p:spPr bwMode="auto">
            <a:xfrm>
              <a:off x="1457325" y="5761038"/>
              <a:ext cx="2641600"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CA"/>
            </a:p>
          </p:txBody>
        </p:sp>
        <p:grpSp>
          <p:nvGrpSpPr>
            <p:cNvPr id="157751" name="Group 83"/>
            <p:cNvGrpSpPr>
              <a:grpSpLocks/>
            </p:cNvGrpSpPr>
            <p:nvPr/>
          </p:nvGrpSpPr>
          <p:grpSpPr bwMode="auto">
            <a:xfrm>
              <a:off x="1139415" y="5815013"/>
              <a:ext cx="296863" cy="336550"/>
              <a:chOff x="1864" y="3225"/>
              <a:chExt cx="187" cy="212"/>
            </a:xfrm>
          </p:grpSpPr>
          <p:sp>
            <p:nvSpPr>
              <p:cNvPr id="157753" name="Oval 84"/>
              <p:cNvSpPr>
                <a:spLocks noChangeArrowheads="1"/>
              </p:cNvSpPr>
              <p:nvPr/>
            </p:nvSpPr>
            <p:spPr bwMode="auto">
              <a:xfrm>
                <a:off x="1871" y="3256"/>
                <a:ext cx="168" cy="156"/>
              </a:xfrm>
              <a:prstGeom prst="ellipse">
                <a:avLst/>
              </a:prstGeom>
              <a:solidFill>
                <a:schemeClr val="accent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57754" name="Text Box 85"/>
              <p:cNvSpPr txBox="1">
                <a:spLocks noChangeArrowheads="1"/>
              </p:cNvSpPr>
              <p:nvPr/>
            </p:nvSpPr>
            <p:spPr bwMode="auto">
              <a:xfrm>
                <a:off x="1864" y="3225"/>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a:latin typeface="Arial" pitchFamily="34" charset="0"/>
                    <a:cs typeface="Arial" pitchFamily="34" charset="0"/>
                  </a:rPr>
                  <a:t>4</a:t>
                </a:r>
              </a:p>
            </p:txBody>
          </p:sp>
        </p:grpSp>
        <p:sp>
          <p:nvSpPr>
            <p:cNvPr id="157752" name="Text Box 86"/>
            <p:cNvSpPr txBox="1">
              <a:spLocks noChangeArrowheads="1"/>
            </p:cNvSpPr>
            <p:nvPr/>
          </p:nvSpPr>
          <p:spPr bwMode="auto">
            <a:xfrm>
              <a:off x="1441450" y="5807075"/>
              <a:ext cx="36306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a:latin typeface="Arial" pitchFamily="34" charset="0"/>
                  <a:cs typeface="Arial" pitchFamily="34" charset="0"/>
                </a:rPr>
                <a:t>STA, AP use PMK to derive </a:t>
              </a:r>
            </a:p>
            <a:p>
              <a:pPr eaLnBrk="1" hangingPunct="1"/>
              <a:r>
                <a:rPr lang="en-US" altLang="en-US" sz="1600">
                  <a:latin typeface="Arial" pitchFamily="34" charset="0"/>
                  <a:cs typeface="Arial" pitchFamily="34" charset="0"/>
                </a:rPr>
                <a:t>Temporal Key (TK) used for message </a:t>
              </a:r>
            </a:p>
            <a:p>
              <a:pPr eaLnBrk="1" hangingPunct="1"/>
              <a:r>
                <a:rPr lang="en-US" altLang="en-US" sz="1600">
                  <a:latin typeface="Arial" pitchFamily="34" charset="0"/>
                  <a:cs typeface="Arial" pitchFamily="34" charset="0"/>
                </a:rPr>
                <a:t>encryption, integrity </a:t>
              </a:r>
            </a:p>
          </p:txBody>
        </p:sp>
      </p:grpSp>
      <p:sp>
        <p:nvSpPr>
          <p:cNvPr id="157710" name="Rectangle 87"/>
          <p:cNvSpPr>
            <a:spLocks noGrp="1" noChangeArrowheads="1"/>
          </p:cNvSpPr>
          <p:nvPr>
            <p:ph type="title"/>
          </p:nvPr>
        </p:nvSpPr>
        <p:spPr>
          <a:xfrm>
            <a:off x="352425" y="201613"/>
            <a:ext cx="8258175" cy="1143000"/>
          </a:xfrm>
          <a:noFill/>
        </p:spPr>
        <p:txBody>
          <a:bodyPr/>
          <a:lstStyle/>
          <a:p>
            <a:r>
              <a:rPr lang="en-US" altLang="en-US" smtClean="0">
                <a:ea typeface="ＭＳ Ｐゴシック" pitchFamily="34" charset="-128"/>
              </a:rPr>
              <a:t> 802.11i: four phases of operation</a:t>
            </a:r>
          </a:p>
        </p:txBody>
      </p:sp>
      <p:grpSp>
        <p:nvGrpSpPr>
          <p:cNvPr id="157711" name="Group 356"/>
          <p:cNvGrpSpPr>
            <a:grpSpLocks/>
          </p:cNvGrpSpPr>
          <p:nvPr/>
        </p:nvGrpSpPr>
        <p:grpSpPr bwMode="auto">
          <a:xfrm>
            <a:off x="327025" y="1466850"/>
            <a:ext cx="804863" cy="852488"/>
            <a:chOff x="313" y="1407"/>
            <a:chExt cx="1152" cy="1104"/>
          </a:xfrm>
        </p:grpSpPr>
        <p:pic>
          <p:nvPicPr>
            <p:cNvPr id="157748" name="Picture 354" descr="laptop_stylized_sma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749" name="Picture 355" descr="antenna_stylize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4" y="1407"/>
              <a:ext cx="1113"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7712" name="Group 361"/>
          <p:cNvGrpSpPr>
            <a:grpSpLocks/>
          </p:cNvGrpSpPr>
          <p:nvPr/>
        </p:nvGrpSpPr>
        <p:grpSpPr bwMode="auto">
          <a:xfrm>
            <a:off x="3797300" y="1744663"/>
            <a:ext cx="965200" cy="693737"/>
            <a:chOff x="2967" y="478"/>
            <a:chExt cx="788" cy="625"/>
          </a:xfrm>
        </p:grpSpPr>
        <p:pic>
          <p:nvPicPr>
            <p:cNvPr id="157746" name="Picture 358" descr="access_point_stylized_smal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747" name="Picture 360" descr="antenna_radiation_stylize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7713" name="Group 249"/>
          <p:cNvGrpSpPr>
            <a:grpSpLocks/>
          </p:cNvGrpSpPr>
          <p:nvPr/>
        </p:nvGrpSpPr>
        <p:grpSpPr bwMode="auto">
          <a:xfrm>
            <a:off x="6556375" y="1808163"/>
            <a:ext cx="466725" cy="793750"/>
            <a:chOff x="4140" y="429"/>
            <a:chExt cx="1425" cy="2396"/>
          </a:xfrm>
        </p:grpSpPr>
        <p:sp>
          <p:nvSpPr>
            <p:cNvPr id="157714" name="Freeform 250"/>
            <p:cNvSpPr>
              <a:spLocks/>
            </p:cNvSpPr>
            <p:nvPr/>
          </p:nvSpPr>
          <p:spPr bwMode="auto">
            <a:xfrm>
              <a:off x="5268" y="433"/>
              <a:ext cx="283" cy="2286"/>
            </a:xfrm>
            <a:custGeom>
              <a:avLst/>
              <a:gdLst>
                <a:gd name="T0" fmla="*/ 32 w 354"/>
                <a:gd name="T1" fmla="*/ 0 h 2742"/>
                <a:gd name="T2" fmla="*/ 181 w 354"/>
                <a:gd name="T3" fmla="*/ 197 h 2742"/>
                <a:gd name="T4" fmla="*/ 177 w 354"/>
                <a:gd name="T5" fmla="*/ 1521 h 2742"/>
                <a:gd name="T6" fmla="*/ 0 w 354"/>
                <a:gd name="T7" fmla="*/ 1589 h 2742"/>
                <a:gd name="T8" fmla="*/ 32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 name="Rectangle 251"/>
            <p:cNvSpPr>
              <a:spLocks noChangeArrowheads="1"/>
            </p:cNvSpPr>
            <p:nvPr/>
          </p:nvSpPr>
          <p:spPr bwMode="auto">
            <a:xfrm>
              <a:off x="4203" y="429"/>
              <a:ext cx="1052"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57716" name="Freeform 252"/>
            <p:cNvSpPr>
              <a:spLocks/>
            </p:cNvSpPr>
            <p:nvPr/>
          </p:nvSpPr>
          <p:spPr bwMode="auto">
            <a:xfrm>
              <a:off x="5321" y="570"/>
              <a:ext cx="169" cy="2115"/>
            </a:xfrm>
            <a:custGeom>
              <a:avLst/>
              <a:gdLst>
                <a:gd name="T0" fmla="*/ 4 w 211"/>
                <a:gd name="T1" fmla="*/ 0 h 2537"/>
                <a:gd name="T2" fmla="*/ 108 w 211"/>
                <a:gd name="T3" fmla="*/ 127 h 2537"/>
                <a:gd name="T4" fmla="*/ 4 w 211"/>
                <a:gd name="T5" fmla="*/ 1449 h 2537"/>
                <a:gd name="T6" fmla="*/ 4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57717" name="Freeform 253"/>
            <p:cNvSpPr>
              <a:spLocks/>
            </p:cNvSpPr>
            <p:nvPr/>
          </p:nvSpPr>
          <p:spPr bwMode="auto">
            <a:xfrm>
              <a:off x="5284" y="1640"/>
              <a:ext cx="263" cy="189"/>
            </a:xfrm>
            <a:custGeom>
              <a:avLst/>
              <a:gdLst>
                <a:gd name="T0" fmla="*/ 2 w 328"/>
                <a:gd name="T1" fmla="*/ 0 h 226"/>
                <a:gd name="T2" fmla="*/ 169 w 328"/>
                <a:gd name="T3" fmla="*/ 74 h 226"/>
                <a:gd name="T4" fmla="*/ 168 w 328"/>
                <a:gd name="T5" fmla="*/ 132 h 226"/>
                <a:gd name="T6" fmla="*/ 0 w 328"/>
                <a:gd name="T7" fmla="*/ 5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3" name="Rectangle 254"/>
            <p:cNvSpPr>
              <a:spLocks noChangeArrowheads="1"/>
            </p:cNvSpPr>
            <p:nvPr/>
          </p:nvSpPr>
          <p:spPr bwMode="auto">
            <a:xfrm>
              <a:off x="4213" y="693"/>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nvGrpSpPr>
            <p:cNvPr id="157719" name="Group 255"/>
            <p:cNvGrpSpPr>
              <a:grpSpLocks/>
            </p:cNvGrpSpPr>
            <p:nvPr/>
          </p:nvGrpSpPr>
          <p:grpSpPr bwMode="auto">
            <a:xfrm>
              <a:off x="4749" y="668"/>
              <a:ext cx="581" cy="145"/>
              <a:chOff x="614" y="2568"/>
              <a:chExt cx="725" cy="139"/>
            </a:xfrm>
          </p:grpSpPr>
          <p:sp>
            <p:nvSpPr>
              <p:cNvPr id="129" name="AutoShape 256"/>
              <p:cNvSpPr>
                <a:spLocks noChangeArrowheads="1"/>
              </p:cNvSpPr>
              <p:nvPr/>
            </p:nvSpPr>
            <p:spPr bwMode="auto">
              <a:xfrm>
                <a:off x="616" y="2569"/>
                <a:ext cx="726" cy="13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30" name="AutoShape 257"/>
              <p:cNvSpPr>
                <a:spLocks noChangeArrowheads="1"/>
              </p:cNvSpPr>
              <p:nvPr/>
            </p:nvSpPr>
            <p:spPr bwMode="auto">
              <a:xfrm>
                <a:off x="634" y="2582"/>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sp>
          <p:nvSpPr>
            <p:cNvPr id="105" name="Rectangle 258"/>
            <p:cNvSpPr>
              <a:spLocks noChangeArrowheads="1"/>
            </p:cNvSpPr>
            <p:nvPr/>
          </p:nvSpPr>
          <p:spPr bwMode="auto">
            <a:xfrm>
              <a:off x="4227" y="1018"/>
              <a:ext cx="591"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nvGrpSpPr>
            <p:cNvPr id="157721" name="Group 259"/>
            <p:cNvGrpSpPr>
              <a:grpSpLocks/>
            </p:cNvGrpSpPr>
            <p:nvPr/>
          </p:nvGrpSpPr>
          <p:grpSpPr bwMode="auto">
            <a:xfrm>
              <a:off x="4747" y="994"/>
              <a:ext cx="581" cy="134"/>
              <a:chOff x="614" y="2568"/>
              <a:chExt cx="725" cy="139"/>
            </a:xfrm>
          </p:grpSpPr>
          <p:sp>
            <p:nvSpPr>
              <p:cNvPr id="127" name="AutoShape 260"/>
              <p:cNvSpPr>
                <a:spLocks noChangeArrowheads="1"/>
              </p:cNvSpPr>
              <p:nvPr/>
            </p:nvSpPr>
            <p:spPr bwMode="auto">
              <a:xfrm>
                <a:off x="613" y="2568"/>
                <a:ext cx="726"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28" name="AutoShape 261"/>
              <p:cNvSpPr>
                <a:spLocks noChangeArrowheads="1"/>
              </p:cNvSpPr>
              <p:nvPr/>
            </p:nvSpPr>
            <p:spPr bwMode="auto">
              <a:xfrm>
                <a:off x="625" y="2583"/>
                <a:ext cx="696"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sp>
          <p:nvSpPr>
            <p:cNvPr id="107" name="Rectangle 262"/>
            <p:cNvSpPr>
              <a:spLocks noChangeArrowheads="1"/>
            </p:cNvSpPr>
            <p:nvPr/>
          </p:nvSpPr>
          <p:spPr bwMode="auto">
            <a:xfrm>
              <a:off x="4218" y="1359"/>
              <a:ext cx="596" cy="4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08" name="Rectangle 263"/>
            <p:cNvSpPr>
              <a:spLocks noChangeArrowheads="1"/>
            </p:cNvSpPr>
            <p:nvPr/>
          </p:nvSpPr>
          <p:spPr bwMode="auto">
            <a:xfrm>
              <a:off x="4227" y="1656"/>
              <a:ext cx="596" cy="4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nvGrpSpPr>
            <p:cNvPr id="157724" name="Group 264"/>
            <p:cNvGrpSpPr>
              <a:grpSpLocks/>
            </p:cNvGrpSpPr>
            <p:nvPr/>
          </p:nvGrpSpPr>
          <p:grpSpPr bwMode="auto">
            <a:xfrm>
              <a:off x="4735" y="1627"/>
              <a:ext cx="582" cy="151"/>
              <a:chOff x="614" y="2568"/>
              <a:chExt cx="725" cy="139"/>
            </a:xfrm>
          </p:grpSpPr>
          <p:sp>
            <p:nvSpPr>
              <p:cNvPr id="125" name="AutoShape 265"/>
              <p:cNvSpPr>
                <a:spLocks noChangeArrowheads="1"/>
              </p:cNvSpPr>
              <p:nvPr/>
            </p:nvSpPr>
            <p:spPr bwMode="auto">
              <a:xfrm>
                <a:off x="615" y="2568"/>
                <a:ext cx="725" cy="141"/>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26" name="AutoShape 266"/>
              <p:cNvSpPr>
                <a:spLocks noChangeArrowheads="1"/>
              </p:cNvSpPr>
              <p:nvPr/>
            </p:nvSpPr>
            <p:spPr bwMode="auto">
              <a:xfrm>
                <a:off x="628" y="2581"/>
                <a:ext cx="694"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sp>
          <p:nvSpPr>
            <p:cNvPr id="157725" name="Freeform 267"/>
            <p:cNvSpPr>
              <a:spLocks/>
            </p:cNvSpPr>
            <p:nvPr/>
          </p:nvSpPr>
          <p:spPr bwMode="auto">
            <a:xfrm>
              <a:off x="5288" y="1354"/>
              <a:ext cx="263" cy="188"/>
            </a:xfrm>
            <a:custGeom>
              <a:avLst/>
              <a:gdLst>
                <a:gd name="T0" fmla="*/ 2 w 328"/>
                <a:gd name="T1" fmla="*/ 0 h 226"/>
                <a:gd name="T2" fmla="*/ 169 w 328"/>
                <a:gd name="T3" fmla="*/ 73 h 226"/>
                <a:gd name="T4" fmla="*/ 168 w 328"/>
                <a:gd name="T5" fmla="*/ 130 h 226"/>
                <a:gd name="T6" fmla="*/ 0 w 328"/>
                <a:gd name="T7" fmla="*/ 5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57726" name="Group 268"/>
            <p:cNvGrpSpPr>
              <a:grpSpLocks/>
            </p:cNvGrpSpPr>
            <p:nvPr/>
          </p:nvGrpSpPr>
          <p:grpSpPr bwMode="auto">
            <a:xfrm>
              <a:off x="4739" y="1327"/>
              <a:ext cx="582" cy="139"/>
              <a:chOff x="614" y="2568"/>
              <a:chExt cx="725" cy="139"/>
            </a:xfrm>
          </p:grpSpPr>
          <p:sp>
            <p:nvSpPr>
              <p:cNvPr id="123" name="AutoShape 269"/>
              <p:cNvSpPr>
                <a:spLocks noChangeArrowheads="1"/>
              </p:cNvSpPr>
              <p:nvPr/>
            </p:nvSpPr>
            <p:spPr bwMode="auto">
              <a:xfrm>
                <a:off x="617" y="2566"/>
                <a:ext cx="725"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24" name="AutoShape 270"/>
              <p:cNvSpPr>
                <a:spLocks noChangeArrowheads="1"/>
              </p:cNvSpPr>
              <p:nvPr/>
            </p:nvSpPr>
            <p:spPr bwMode="auto">
              <a:xfrm>
                <a:off x="635" y="2585"/>
                <a:ext cx="688"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sp>
          <p:nvSpPr>
            <p:cNvPr id="112" name="Rectangle 271"/>
            <p:cNvSpPr>
              <a:spLocks noChangeArrowheads="1"/>
            </p:cNvSpPr>
            <p:nvPr/>
          </p:nvSpPr>
          <p:spPr bwMode="auto">
            <a:xfrm>
              <a:off x="5250" y="429"/>
              <a:ext cx="68"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57728" name="Freeform 272"/>
            <p:cNvSpPr>
              <a:spLocks/>
            </p:cNvSpPr>
            <p:nvPr/>
          </p:nvSpPr>
          <p:spPr bwMode="auto">
            <a:xfrm>
              <a:off x="5312" y="1007"/>
              <a:ext cx="237" cy="213"/>
            </a:xfrm>
            <a:custGeom>
              <a:avLst/>
              <a:gdLst>
                <a:gd name="T0" fmla="*/ 2 w 296"/>
                <a:gd name="T1" fmla="*/ 0 h 256"/>
                <a:gd name="T2" fmla="*/ 150 w 296"/>
                <a:gd name="T3" fmla="*/ 83 h 256"/>
                <a:gd name="T4" fmla="*/ 152 w 296"/>
                <a:gd name="T5" fmla="*/ 147 h 256"/>
                <a:gd name="T6" fmla="*/ 0 w 296"/>
                <a:gd name="T7" fmla="*/ 5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57729" name="Freeform 273"/>
            <p:cNvSpPr>
              <a:spLocks/>
            </p:cNvSpPr>
            <p:nvPr/>
          </p:nvSpPr>
          <p:spPr bwMode="auto">
            <a:xfrm>
              <a:off x="5315" y="680"/>
              <a:ext cx="244" cy="240"/>
            </a:xfrm>
            <a:custGeom>
              <a:avLst/>
              <a:gdLst>
                <a:gd name="T0" fmla="*/ 0 w 304"/>
                <a:gd name="T1" fmla="*/ 0 h 288"/>
                <a:gd name="T2" fmla="*/ 157 w 304"/>
                <a:gd name="T3" fmla="*/ 95 h 288"/>
                <a:gd name="T4" fmla="*/ 147 w 304"/>
                <a:gd name="T5" fmla="*/ 167 h 288"/>
                <a:gd name="T6" fmla="*/ 4 w 304"/>
                <a:gd name="T7" fmla="*/ 7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15" name="Oval 274"/>
            <p:cNvSpPr>
              <a:spLocks noChangeArrowheads="1"/>
            </p:cNvSpPr>
            <p:nvPr/>
          </p:nvSpPr>
          <p:spPr bwMode="auto">
            <a:xfrm>
              <a:off x="5517" y="2614"/>
              <a:ext cx="48" cy="91"/>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57731" name="Freeform 275"/>
            <p:cNvSpPr>
              <a:spLocks/>
            </p:cNvSpPr>
            <p:nvPr/>
          </p:nvSpPr>
          <p:spPr bwMode="auto">
            <a:xfrm>
              <a:off x="5302" y="2614"/>
              <a:ext cx="245" cy="200"/>
            </a:xfrm>
            <a:custGeom>
              <a:avLst/>
              <a:gdLst>
                <a:gd name="T0" fmla="*/ 0 w 306"/>
                <a:gd name="T1" fmla="*/ 61 h 240"/>
                <a:gd name="T2" fmla="*/ 2 w 306"/>
                <a:gd name="T3" fmla="*/ 139 h 240"/>
                <a:gd name="T4" fmla="*/ 157 w 306"/>
                <a:gd name="T5" fmla="*/ 64 h 240"/>
                <a:gd name="T6" fmla="*/ 154 w 306"/>
                <a:gd name="T7" fmla="*/ 0 h 240"/>
                <a:gd name="T8" fmla="*/ 0 w 306"/>
                <a:gd name="T9" fmla="*/ 6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17" name="AutoShape 276"/>
            <p:cNvSpPr>
              <a:spLocks noChangeArrowheads="1"/>
            </p:cNvSpPr>
            <p:nvPr/>
          </p:nvSpPr>
          <p:spPr bwMode="auto">
            <a:xfrm>
              <a:off x="4140" y="2681"/>
              <a:ext cx="1202"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18" name="AutoShape 277"/>
            <p:cNvSpPr>
              <a:spLocks noChangeArrowheads="1"/>
            </p:cNvSpPr>
            <p:nvPr/>
          </p:nvSpPr>
          <p:spPr bwMode="auto">
            <a:xfrm>
              <a:off x="4203" y="2710"/>
              <a:ext cx="1076"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19" name="Oval 278"/>
            <p:cNvSpPr>
              <a:spLocks noChangeArrowheads="1"/>
            </p:cNvSpPr>
            <p:nvPr/>
          </p:nvSpPr>
          <p:spPr bwMode="auto">
            <a:xfrm>
              <a:off x="4305" y="2384"/>
              <a:ext cx="160" cy="14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20" name="Oval 279"/>
            <p:cNvSpPr>
              <a:spLocks noChangeArrowheads="1"/>
            </p:cNvSpPr>
            <p:nvPr/>
          </p:nvSpPr>
          <p:spPr bwMode="auto">
            <a:xfrm>
              <a:off x="4484" y="2384"/>
              <a:ext cx="160" cy="144"/>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a:solidFill>
                  <a:srgbClr val="FF0000"/>
                </a:solidFill>
                <a:latin typeface="Comic Sans MS" charset="0"/>
                <a:ea typeface="ＭＳ Ｐゴシック" charset="0"/>
                <a:cs typeface="Arial" charset="0"/>
              </a:endParaRPr>
            </a:p>
          </p:txBody>
        </p:sp>
        <p:sp>
          <p:nvSpPr>
            <p:cNvPr id="121" name="Oval 280"/>
            <p:cNvSpPr>
              <a:spLocks noChangeArrowheads="1"/>
            </p:cNvSpPr>
            <p:nvPr/>
          </p:nvSpPr>
          <p:spPr bwMode="auto">
            <a:xfrm>
              <a:off x="4663" y="2379"/>
              <a:ext cx="155" cy="14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22" name="Rectangle 281"/>
            <p:cNvSpPr>
              <a:spLocks noChangeArrowheads="1"/>
            </p:cNvSpPr>
            <p:nvPr/>
          </p:nvSpPr>
          <p:spPr bwMode="auto">
            <a:xfrm>
              <a:off x="5061" y="1838"/>
              <a:ext cx="87" cy="757"/>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grpSp>
        <p:nvGrpSpPr>
          <p:cNvPr id="159746" name="Group 2"/>
          <p:cNvGrpSpPr>
            <a:grpSpLocks/>
          </p:cNvGrpSpPr>
          <p:nvPr/>
        </p:nvGrpSpPr>
        <p:grpSpPr bwMode="auto">
          <a:xfrm>
            <a:off x="4638675" y="5727700"/>
            <a:ext cx="2828925" cy="668338"/>
            <a:chOff x="567" y="1481"/>
            <a:chExt cx="1810" cy="421"/>
          </a:xfrm>
        </p:grpSpPr>
        <p:sp>
          <p:nvSpPr>
            <p:cNvPr id="159803" name="Rectangle 3"/>
            <p:cNvSpPr>
              <a:spLocks noChangeArrowheads="1"/>
            </p:cNvSpPr>
            <p:nvPr/>
          </p:nvSpPr>
          <p:spPr bwMode="auto">
            <a:xfrm>
              <a:off x="567" y="1481"/>
              <a:ext cx="1810" cy="421"/>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59804" name="Line 4"/>
            <p:cNvSpPr>
              <a:spLocks noChangeShapeType="1"/>
            </p:cNvSpPr>
            <p:nvPr/>
          </p:nvSpPr>
          <p:spPr bwMode="auto">
            <a:xfrm>
              <a:off x="590" y="1687"/>
              <a:ext cx="17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grpSp>
        <p:nvGrpSpPr>
          <p:cNvPr id="159747" name="Group 5"/>
          <p:cNvGrpSpPr>
            <a:grpSpLocks/>
          </p:cNvGrpSpPr>
          <p:nvPr/>
        </p:nvGrpSpPr>
        <p:grpSpPr bwMode="auto">
          <a:xfrm>
            <a:off x="1509713" y="5734050"/>
            <a:ext cx="2873375" cy="668338"/>
            <a:chOff x="567" y="1481"/>
            <a:chExt cx="1810" cy="421"/>
          </a:xfrm>
        </p:grpSpPr>
        <p:sp>
          <p:nvSpPr>
            <p:cNvPr id="159801" name="Rectangle 6"/>
            <p:cNvSpPr>
              <a:spLocks noChangeArrowheads="1"/>
            </p:cNvSpPr>
            <p:nvPr/>
          </p:nvSpPr>
          <p:spPr bwMode="auto">
            <a:xfrm>
              <a:off x="567" y="1481"/>
              <a:ext cx="1810" cy="421"/>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59802" name="Line 7"/>
            <p:cNvSpPr>
              <a:spLocks noChangeShapeType="1"/>
            </p:cNvSpPr>
            <p:nvPr/>
          </p:nvSpPr>
          <p:spPr bwMode="auto">
            <a:xfrm>
              <a:off x="590" y="1687"/>
              <a:ext cx="17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grpSp>
      <p:sp>
        <p:nvSpPr>
          <p:cNvPr id="159748" name="Rectangle 64"/>
          <p:cNvSpPr>
            <a:spLocks noChangeArrowheads="1"/>
          </p:cNvSpPr>
          <p:nvPr/>
        </p:nvSpPr>
        <p:spPr bwMode="auto">
          <a:xfrm>
            <a:off x="1524000" y="5067300"/>
            <a:ext cx="5937250" cy="666750"/>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59749" name="Text Box 65"/>
          <p:cNvSpPr txBox="1">
            <a:spLocks noChangeArrowheads="1"/>
          </p:cNvSpPr>
          <p:nvPr/>
        </p:nvSpPr>
        <p:spPr bwMode="auto">
          <a:xfrm>
            <a:off x="3957638" y="5073650"/>
            <a:ext cx="1123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cs typeface="Arial" pitchFamily="34" charset="0"/>
              </a:rPr>
              <a:t>EAP TLS</a:t>
            </a:r>
          </a:p>
        </p:txBody>
      </p:sp>
      <p:sp>
        <p:nvSpPr>
          <p:cNvPr id="159750" name="Line 66"/>
          <p:cNvSpPr>
            <a:spLocks noChangeShapeType="1"/>
          </p:cNvSpPr>
          <p:nvPr/>
        </p:nvSpPr>
        <p:spPr bwMode="auto">
          <a:xfrm>
            <a:off x="1538288" y="5400675"/>
            <a:ext cx="5922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59751" name="Text Box 67"/>
          <p:cNvSpPr txBox="1">
            <a:spLocks noChangeArrowheads="1"/>
          </p:cNvSpPr>
          <p:nvPr/>
        </p:nvSpPr>
        <p:spPr bwMode="auto">
          <a:xfrm>
            <a:off x="4168775" y="5383213"/>
            <a:ext cx="704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cs typeface="Arial" pitchFamily="34" charset="0"/>
              </a:rPr>
              <a:t>EAP </a:t>
            </a:r>
          </a:p>
        </p:txBody>
      </p:sp>
      <p:sp>
        <p:nvSpPr>
          <p:cNvPr id="159752" name="Text Box 68"/>
          <p:cNvSpPr txBox="1">
            <a:spLocks noChangeArrowheads="1"/>
          </p:cNvSpPr>
          <p:nvPr/>
        </p:nvSpPr>
        <p:spPr bwMode="auto">
          <a:xfrm>
            <a:off x="1665288" y="5737225"/>
            <a:ext cx="2647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cs typeface="Arial" pitchFamily="34" charset="0"/>
              </a:rPr>
              <a:t>EAP over LAN (EAPoL) </a:t>
            </a:r>
          </a:p>
        </p:txBody>
      </p:sp>
      <p:sp>
        <p:nvSpPr>
          <p:cNvPr id="159753" name="Text Box 69"/>
          <p:cNvSpPr txBox="1">
            <a:spLocks noChangeArrowheads="1"/>
          </p:cNvSpPr>
          <p:nvPr/>
        </p:nvSpPr>
        <p:spPr bwMode="auto">
          <a:xfrm>
            <a:off x="2179638" y="6067425"/>
            <a:ext cx="1530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cs typeface="Arial" pitchFamily="34" charset="0"/>
              </a:rPr>
              <a:t>IEEE 802.11 </a:t>
            </a:r>
          </a:p>
        </p:txBody>
      </p:sp>
      <p:sp>
        <p:nvSpPr>
          <p:cNvPr id="159754" name="Text Box 70"/>
          <p:cNvSpPr txBox="1">
            <a:spLocks noChangeArrowheads="1"/>
          </p:cNvSpPr>
          <p:nvPr/>
        </p:nvSpPr>
        <p:spPr bwMode="auto">
          <a:xfrm>
            <a:off x="5351463" y="5724525"/>
            <a:ext cx="1047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cs typeface="Arial" pitchFamily="34" charset="0"/>
              </a:rPr>
              <a:t>RADIUS</a:t>
            </a:r>
          </a:p>
        </p:txBody>
      </p:sp>
      <p:sp>
        <p:nvSpPr>
          <p:cNvPr id="159755" name="Text Box 71"/>
          <p:cNvSpPr txBox="1">
            <a:spLocks noChangeArrowheads="1"/>
          </p:cNvSpPr>
          <p:nvPr/>
        </p:nvSpPr>
        <p:spPr bwMode="auto">
          <a:xfrm>
            <a:off x="5430838" y="6078538"/>
            <a:ext cx="946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800">
                <a:latin typeface="Arial" pitchFamily="34" charset="0"/>
                <a:cs typeface="Arial" pitchFamily="34" charset="0"/>
              </a:rPr>
              <a:t>UDP/IP</a:t>
            </a:r>
          </a:p>
        </p:txBody>
      </p:sp>
      <p:sp>
        <p:nvSpPr>
          <p:cNvPr id="159756" name="Rectangle 72"/>
          <p:cNvSpPr>
            <a:spLocks noGrp="1" noChangeArrowheads="1"/>
          </p:cNvSpPr>
          <p:nvPr>
            <p:ph type="title"/>
          </p:nvPr>
        </p:nvSpPr>
        <p:spPr>
          <a:xfrm>
            <a:off x="352425" y="201613"/>
            <a:ext cx="8337550" cy="1143000"/>
          </a:xfrm>
          <a:noFill/>
        </p:spPr>
        <p:txBody>
          <a:bodyPr/>
          <a:lstStyle/>
          <a:p>
            <a:r>
              <a:rPr lang="en-US" altLang="en-US" sz="3600" smtClean="0">
                <a:ea typeface="ＭＳ Ｐゴシック" pitchFamily="34" charset="-128"/>
              </a:rPr>
              <a:t>EAP: extensible authentication protocol</a:t>
            </a:r>
          </a:p>
        </p:txBody>
      </p:sp>
      <p:sp>
        <p:nvSpPr>
          <p:cNvPr id="159757" name="Rectangle 73"/>
          <p:cNvSpPr>
            <a:spLocks noGrp="1" noChangeArrowheads="1"/>
          </p:cNvSpPr>
          <p:nvPr>
            <p:ph type="body" idx="1"/>
          </p:nvPr>
        </p:nvSpPr>
        <p:spPr>
          <a:xfrm>
            <a:off x="563563" y="1349375"/>
            <a:ext cx="8259762" cy="4648200"/>
          </a:xfrm>
        </p:spPr>
        <p:txBody>
          <a:bodyPr/>
          <a:lstStyle/>
          <a:p>
            <a:r>
              <a:rPr lang="en-US" altLang="en-US" smtClean="0">
                <a:ea typeface="ＭＳ Ｐゴシック" pitchFamily="34" charset="-128"/>
              </a:rPr>
              <a:t>EAP: end-end client (mobile) to authentication server protocol</a:t>
            </a:r>
          </a:p>
          <a:p>
            <a:r>
              <a:rPr lang="en-US" altLang="en-US" smtClean="0">
                <a:ea typeface="ＭＳ Ｐゴシック" pitchFamily="34" charset="-128"/>
              </a:rPr>
              <a:t>EAP sent over separate </a:t>
            </a:r>
            <a:r>
              <a:rPr lang="ja-JP" altLang="en-US" smtClean="0">
                <a:ea typeface="ＭＳ Ｐゴシック" pitchFamily="34" charset="-128"/>
              </a:rPr>
              <a:t>“</a:t>
            </a:r>
            <a:r>
              <a:rPr lang="en-US" altLang="ja-JP" smtClean="0">
                <a:ea typeface="ＭＳ Ｐゴシック" pitchFamily="34" charset="-128"/>
              </a:rPr>
              <a:t>links</a:t>
            </a:r>
            <a:r>
              <a:rPr lang="ja-JP" altLang="en-US" smtClean="0">
                <a:ea typeface="ＭＳ Ｐゴシック" pitchFamily="34" charset="-128"/>
              </a:rPr>
              <a:t>”</a:t>
            </a:r>
            <a:endParaRPr lang="en-US" altLang="ja-JP" smtClean="0">
              <a:ea typeface="ＭＳ Ｐゴシック" pitchFamily="34" charset="-128"/>
            </a:endParaRPr>
          </a:p>
          <a:p>
            <a:pPr lvl="1"/>
            <a:r>
              <a:rPr lang="en-US" altLang="en-US" smtClean="0">
                <a:ea typeface="ＭＳ Ｐゴシック" pitchFamily="34" charset="-128"/>
              </a:rPr>
              <a:t>mobile-to-AP (EAP over LAN)</a:t>
            </a:r>
          </a:p>
          <a:p>
            <a:pPr lvl="1"/>
            <a:r>
              <a:rPr lang="en-US" altLang="en-US" smtClean="0">
                <a:ea typeface="ＭＳ Ｐゴシック" pitchFamily="34" charset="-128"/>
              </a:rPr>
              <a:t>AP to authentication server (RADIUS over UDP)</a:t>
            </a:r>
          </a:p>
        </p:txBody>
      </p:sp>
      <p:pic>
        <p:nvPicPr>
          <p:cNvPr id="159758" name="Picture 15"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949325"/>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59" name="Line 55"/>
          <p:cNvSpPr>
            <a:spLocks noChangeShapeType="1"/>
          </p:cNvSpPr>
          <p:nvPr/>
        </p:nvSpPr>
        <p:spPr bwMode="auto">
          <a:xfrm>
            <a:off x="4905375" y="4643438"/>
            <a:ext cx="21050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59760" name="Cloud"/>
          <p:cNvSpPr>
            <a:spLocks noChangeAspect="1" noEditPoints="1" noChangeArrowheads="1"/>
          </p:cNvSpPr>
          <p:nvPr/>
        </p:nvSpPr>
        <p:spPr bwMode="auto">
          <a:xfrm>
            <a:off x="5346700" y="4076700"/>
            <a:ext cx="1263650" cy="846138"/>
          </a:xfrm>
          <a:custGeom>
            <a:avLst/>
            <a:gdLst>
              <a:gd name="T0" fmla="*/ 13416277 w 21600"/>
              <a:gd name="T1" fmla="*/ 649211328 h 21600"/>
              <a:gd name="T2" fmla="*/ 2147483647 w 21600"/>
              <a:gd name="T3" fmla="*/ 1297040083 h 21600"/>
              <a:gd name="T4" fmla="*/ 2147483647 w 21600"/>
              <a:gd name="T5" fmla="*/ 649211328 h 21600"/>
              <a:gd name="T6" fmla="*/ 2147483647 w 21600"/>
              <a:gd name="T7" fmla="*/ 74238934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en-CA"/>
          </a:p>
        </p:txBody>
      </p:sp>
      <p:sp>
        <p:nvSpPr>
          <p:cNvPr id="159761" name="Text Box 59"/>
          <p:cNvSpPr txBox="1">
            <a:spLocks noChangeArrowheads="1"/>
          </p:cNvSpPr>
          <p:nvPr/>
        </p:nvSpPr>
        <p:spPr bwMode="auto">
          <a:xfrm>
            <a:off x="5497513" y="4195763"/>
            <a:ext cx="8953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eaLnBrk="1" hangingPunct="1"/>
            <a:r>
              <a:rPr lang="en-US" altLang="en-US" sz="1600">
                <a:latin typeface="Arial" pitchFamily="34" charset="0"/>
                <a:cs typeface="Arial" pitchFamily="34" charset="0"/>
              </a:rPr>
              <a:t>wired</a:t>
            </a:r>
          </a:p>
          <a:p>
            <a:pPr eaLnBrk="1" hangingPunct="1"/>
            <a:r>
              <a:rPr lang="en-US" altLang="en-US" sz="1600">
                <a:latin typeface="Arial" pitchFamily="34" charset="0"/>
                <a:cs typeface="Arial" pitchFamily="34" charset="0"/>
              </a:rPr>
              <a:t>network</a:t>
            </a:r>
          </a:p>
        </p:txBody>
      </p:sp>
      <p:grpSp>
        <p:nvGrpSpPr>
          <p:cNvPr id="159762" name="Group 356"/>
          <p:cNvGrpSpPr>
            <a:grpSpLocks/>
          </p:cNvGrpSpPr>
          <p:nvPr/>
        </p:nvGrpSpPr>
        <p:grpSpPr bwMode="auto">
          <a:xfrm>
            <a:off x="1187450" y="4033838"/>
            <a:ext cx="804863" cy="852487"/>
            <a:chOff x="313" y="1407"/>
            <a:chExt cx="1152" cy="1104"/>
          </a:xfrm>
        </p:grpSpPr>
        <p:pic>
          <p:nvPicPr>
            <p:cNvPr id="159799" name="Picture 354" descr="laptop_stylized_sma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9800" name="Picture 355" descr="antenna_stylize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4" y="1407"/>
              <a:ext cx="1113"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9763" name="Group 361"/>
          <p:cNvGrpSpPr>
            <a:grpSpLocks/>
          </p:cNvGrpSpPr>
          <p:nvPr/>
        </p:nvGrpSpPr>
        <p:grpSpPr bwMode="auto">
          <a:xfrm>
            <a:off x="4235450" y="4214813"/>
            <a:ext cx="965200" cy="695325"/>
            <a:chOff x="2967" y="478"/>
            <a:chExt cx="788" cy="625"/>
          </a:xfrm>
        </p:grpSpPr>
        <p:pic>
          <p:nvPicPr>
            <p:cNvPr id="159797" name="Picture 358" descr="access_point_stylized_smal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9798" name="Picture 360" descr="antenna_radiation_stylize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9764" name="Group 249"/>
          <p:cNvGrpSpPr>
            <a:grpSpLocks/>
          </p:cNvGrpSpPr>
          <p:nvPr/>
        </p:nvGrpSpPr>
        <p:grpSpPr bwMode="auto">
          <a:xfrm>
            <a:off x="6964363" y="4260850"/>
            <a:ext cx="427037" cy="688975"/>
            <a:chOff x="4140" y="429"/>
            <a:chExt cx="1425" cy="2396"/>
          </a:xfrm>
        </p:grpSpPr>
        <p:sp>
          <p:nvSpPr>
            <p:cNvPr id="159765" name="Freeform 250"/>
            <p:cNvSpPr>
              <a:spLocks/>
            </p:cNvSpPr>
            <p:nvPr/>
          </p:nvSpPr>
          <p:spPr bwMode="auto">
            <a:xfrm>
              <a:off x="5268" y="433"/>
              <a:ext cx="283" cy="2286"/>
            </a:xfrm>
            <a:custGeom>
              <a:avLst/>
              <a:gdLst>
                <a:gd name="T0" fmla="*/ 32 w 354"/>
                <a:gd name="T1" fmla="*/ 0 h 2742"/>
                <a:gd name="T2" fmla="*/ 181 w 354"/>
                <a:gd name="T3" fmla="*/ 197 h 2742"/>
                <a:gd name="T4" fmla="*/ 177 w 354"/>
                <a:gd name="T5" fmla="*/ 1521 h 2742"/>
                <a:gd name="T6" fmla="*/ 0 w 354"/>
                <a:gd name="T7" fmla="*/ 1589 h 2742"/>
                <a:gd name="T8" fmla="*/ 32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9" name="Rectangle 251"/>
            <p:cNvSpPr>
              <a:spLocks noChangeArrowheads="1"/>
            </p:cNvSpPr>
            <p:nvPr/>
          </p:nvSpPr>
          <p:spPr bwMode="auto">
            <a:xfrm>
              <a:off x="4204" y="429"/>
              <a:ext cx="1049"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59767" name="Freeform 252"/>
            <p:cNvSpPr>
              <a:spLocks/>
            </p:cNvSpPr>
            <p:nvPr/>
          </p:nvSpPr>
          <p:spPr bwMode="auto">
            <a:xfrm>
              <a:off x="5321" y="570"/>
              <a:ext cx="169" cy="2115"/>
            </a:xfrm>
            <a:custGeom>
              <a:avLst/>
              <a:gdLst>
                <a:gd name="T0" fmla="*/ 4 w 211"/>
                <a:gd name="T1" fmla="*/ 0 h 2537"/>
                <a:gd name="T2" fmla="*/ 108 w 211"/>
                <a:gd name="T3" fmla="*/ 127 h 2537"/>
                <a:gd name="T4" fmla="*/ 4 w 211"/>
                <a:gd name="T5" fmla="*/ 1449 h 2537"/>
                <a:gd name="T6" fmla="*/ 4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59768" name="Freeform 253"/>
            <p:cNvSpPr>
              <a:spLocks/>
            </p:cNvSpPr>
            <p:nvPr/>
          </p:nvSpPr>
          <p:spPr bwMode="auto">
            <a:xfrm>
              <a:off x="5284" y="1640"/>
              <a:ext cx="263" cy="189"/>
            </a:xfrm>
            <a:custGeom>
              <a:avLst/>
              <a:gdLst>
                <a:gd name="T0" fmla="*/ 2 w 328"/>
                <a:gd name="T1" fmla="*/ 0 h 226"/>
                <a:gd name="T2" fmla="*/ 169 w 328"/>
                <a:gd name="T3" fmla="*/ 74 h 226"/>
                <a:gd name="T4" fmla="*/ 168 w 328"/>
                <a:gd name="T5" fmla="*/ 132 h 226"/>
                <a:gd name="T6" fmla="*/ 0 w 328"/>
                <a:gd name="T7" fmla="*/ 5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92" name="Rectangle 254"/>
            <p:cNvSpPr>
              <a:spLocks noChangeArrowheads="1"/>
            </p:cNvSpPr>
            <p:nvPr/>
          </p:nvSpPr>
          <p:spPr bwMode="auto">
            <a:xfrm>
              <a:off x="4214" y="694"/>
              <a:ext cx="593"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nvGrpSpPr>
            <p:cNvPr id="159770" name="Group 255"/>
            <p:cNvGrpSpPr>
              <a:grpSpLocks/>
            </p:cNvGrpSpPr>
            <p:nvPr/>
          </p:nvGrpSpPr>
          <p:grpSpPr bwMode="auto">
            <a:xfrm>
              <a:off x="4749" y="668"/>
              <a:ext cx="581" cy="145"/>
              <a:chOff x="614" y="2568"/>
              <a:chExt cx="725" cy="139"/>
            </a:xfrm>
          </p:grpSpPr>
          <p:sp>
            <p:nvSpPr>
              <p:cNvPr id="118" name="AutoShape 256"/>
              <p:cNvSpPr>
                <a:spLocks noChangeArrowheads="1"/>
              </p:cNvSpPr>
              <p:nvPr/>
            </p:nvSpPr>
            <p:spPr bwMode="auto">
              <a:xfrm>
                <a:off x="614" y="2566"/>
                <a:ext cx="727" cy="143"/>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19" name="AutoShape 257"/>
              <p:cNvSpPr>
                <a:spLocks noChangeArrowheads="1"/>
              </p:cNvSpPr>
              <p:nvPr/>
            </p:nvSpPr>
            <p:spPr bwMode="auto">
              <a:xfrm>
                <a:off x="627" y="2582"/>
                <a:ext cx="694"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sp>
          <p:nvSpPr>
            <p:cNvPr id="94" name="Rectangle 258"/>
            <p:cNvSpPr>
              <a:spLocks noChangeArrowheads="1"/>
            </p:cNvSpPr>
            <p:nvPr/>
          </p:nvSpPr>
          <p:spPr bwMode="auto">
            <a:xfrm>
              <a:off x="4225" y="1020"/>
              <a:ext cx="593"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nvGrpSpPr>
            <p:cNvPr id="159772" name="Group 259"/>
            <p:cNvGrpSpPr>
              <a:grpSpLocks/>
            </p:cNvGrpSpPr>
            <p:nvPr/>
          </p:nvGrpSpPr>
          <p:grpSpPr bwMode="auto">
            <a:xfrm>
              <a:off x="4747" y="994"/>
              <a:ext cx="581" cy="134"/>
              <a:chOff x="614" y="2568"/>
              <a:chExt cx="725" cy="139"/>
            </a:xfrm>
          </p:grpSpPr>
          <p:sp>
            <p:nvSpPr>
              <p:cNvPr id="116" name="AutoShape 260"/>
              <p:cNvSpPr>
                <a:spLocks noChangeArrowheads="1"/>
              </p:cNvSpPr>
              <p:nvPr/>
            </p:nvSpPr>
            <p:spPr bwMode="auto">
              <a:xfrm>
                <a:off x="617" y="2566"/>
                <a:ext cx="721" cy="143"/>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17" name="AutoShape 261"/>
              <p:cNvSpPr>
                <a:spLocks noChangeArrowheads="1"/>
              </p:cNvSpPr>
              <p:nvPr/>
            </p:nvSpPr>
            <p:spPr bwMode="auto">
              <a:xfrm>
                <a:off x="630" y="2583"/>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sp>
          <p:nvSpPr>
            <p:cNvPr id="96" name="Rectangle 262"/>
            <p:cNvSpPr>
              <a:spLocks noChangeArrowheads="1"/>
            </p:cNvSpPr>
            <p:nvPr/>
          </p:nvSpPr>
          <p:spPr bwMode="auto">
            <a:xfrm>
              <a:off x="4219" y="1356"/>
              <a:ext cx="593" cy="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97" name="Rectangle 263"/>
            <p:cNvSpPr>
              <a:spLocks noChangeArrowheads="1"/>
            </p:cNvSpPr>
            <p:nvPr/>
          </p:nvSpPr>
          <p:spPr bwMode="auto">
            <a:xfrm>
              <a:off x="4225" y="1655"/>
              <a:ext cx="599"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nvGrpSpPr>
            <p:cNvPr id="159775" name="Group 264"/>
            <p:cNvGrpSpPr>
              <a:grpSpLocks/>
            </p:cNvGrpSpPr>
            <p:nvPr/>
          </p:nvGrpSpPr>
          <p:grpSpPr bwMode="auto">
            <a:xfrm>
              <a:off x="4735" y="1627"/>
              <a:ext cx="582" cy="151"/>
              <a:chOff x="614" y="2568"/>
              <a:chExt cx="725" cy="139"/>
            </a:xfrm>
          </p:grpSpPr>
          <p:sp>
            <p:nvSpPr>
              <p:cNvPr id="114" name="AutoShape 265"/>
              <p:cNvSpPr>
                <a:spLocks noChangeArrowheads="1"/>
              </p:cNvSpPr>
              <p:nvPr/>
            </p:nvSpPr>
            <p:spPr bwMode="auto">
              <a:xfrm>
                <a:off x="612" y="2568"/>
                <a:ext cx="726" cy="137"/>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15" name="AutoShape 266"/>
              <p:cNvSpPr>
                <a:spLocks noChangeArrowheads="1"/>
              </p:cNvSpPr>
              <p:nvPr/>
            </p:nvSpPr>
            <p:spPr bwMode="auto">
              <a:xfrm>
                <a:off x="625"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sp>
          <p:nvSpPr>
            <p:cNvPr id="159776" name="Freeform 267"/>
            <p:cNvSpPr>
              <a:spLocks/>
            </p:cNvSpPr>
            <p:nvPr/>
          </p:nvSpPr>
          <p:spPr bwMode="auto">
            <a:xfrm>
              <a:off x="5288" y="1354"/>
              <a:ext cx="263" cy="188"/>
            </a:xfrm>
            <a:custGeom>
              <a:avLst/>
              <a:gdLst>
                <a:gd name="T0" fmla="*/ 2 w 328"/>
                <a:gd name="T1" fmla="*/ 0 h 226"/>
                <a:gd name="T2" fmla="*/ 169 w 328"/>
                <a:gd name="T3" fmla="*/ 73 h 226"/>
                <a:gd name="T4" fmla="*/ 168 w 328"/>
                <a:gd name="T5" fmla="*/ 130 h 226"/>
                <a:gd name="T6" fmla="*/ 0 w 328"/>
                <a:gd name="T7" fmla="*/ 5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59777" name="Group 268"/>
            <p:cNvGrpSpPr>
              <a:grpSpLocks/>
            </p:cNvGrpSpPr>
            <p:nvPr/>
          </p:nvGrpSpPr>
          <p:grpSpPr bwMode="auto">
            <a:xfrm>
              <a:off x="4739" y="1327"/>
              <a:ext cx="582" cy="139"/>
              <a:chOff x="614" y="2568"/>
              <a:chExt cx="725" cy="139"/>
            </a:xfrm>
          </p:grpSpPr>
          <p:sp>
            <p:nvSpPr>
              <p:cNvPr id="112" name="AutoShape 269"/>
              <p:cNvSpPr>
                <a:spLocks noChangeArrowheads="1"/>
              </p:cNvSpPr>
              <p:nvPr/>
            </p:nvSpPr>
            <p:spPr bwMode="auto">
              <a:xfrm>
                <a:off x="614" y="2570"/>
                <a:ext cx="726" cy="13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13" name="AutoShape 270"/>
              <p:cNvSpPr>
                <a:spLocks noChangeArrowheads="1"/>
              </p:cNvSpPr>
              <p:nvPr/>
            </p:nvSpPr>
            <p:spPr bwMode="auto">
              <a:xfrm>
                <a:off x="627" y="2586"/>
                <a:ext cx="693"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sp>
          <p:nvSpPr>
            <p:cNvPr id="101" name="Rectangle 271"/>
            <p:cNvSpPr>
              <a:spLocks noChangeArrowheads="1"/>
            </p:cNvSpPr>
            <p:nvPr/>
          </p:nvSpPr>
          <p:spPr bwMode="auto">
            <a:xfrm>
              <a:off x="5252" y="429"/>
              <a:ext cx="64"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59779" name="Freeform 272"/>
            <p:cNvSpPr>
              <a:spLocks/>
            </p:cNvSpPr>
            <p:nvPr/>
          </p:nvSpPr>
          <p:spPr bwMode="auto">
            <a:xfrm>
              <a:off x="5312" y="1007"/>
              <a:ext cx="237" cy="213"/>
            </a:xfrm>
            <a:custGeom>
              <a:avLst/>
              <a:gdLst>
                <a:gd name="T0" fmla="*/ 2 w 296"/>
                <a:gd name="T1" fmla="*/ 0 h 256"/>
                <a:gd name="T2" fmla="*/ 150 w 296"/>
                <a:gd name="T3" fmla="*/ 83 h 256"/>
                <a:gd name="T4" fmla="*/ 152 w 296"/>
                <a:gd name="T5" fmla="*/ 147 h 256"/>
                <a:gd name="T6" fmla="*/ 0 w 296"/>
                <a:gd name="T7" fmla="*/ 5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59780" name="Freeform 273"/>
            <p:cNvSpPr>
              <a:spLocks/>
            </p:cNvSpPr>
            <p:nvPr/>
          </p:nvSpPr>
          <p:spPr bwMode="auto">
            <a:xfrm>
              <a:off x="5315" y="680"/>
              <a:ext cx="244" cy="240"/>
            </a:xfrm>
            <a:custGeom>
              <a:avLst/>
              <a:gdLst>
                <a:gd name="T0" fmla="*/ 0 w 304"/>
                <a:gd name="T1" fmla="*/ 0 h 288"/>
                <a:gd name="T2" fmla="*/ 157 w 304"/>
                <a:gd name="T3" fmla="*/ 95 h 288"/>
                <a:gd name="T4" fmla="*/ 147 w 304"/>
                <a:gd name="T5" fmla="*/ 167 h 288"/>
                <a:gd name="T6" fmla="*/ 4 w 304"/>
                <a:gd name="T7" fmla="*/ 7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4" name="Oval 274"/>
            <p:cNvSpPr>
              <a:spLocks noChangeArrowheads="1"/>
            </p:cNvSpPr>
            <p:nvPr/>
          </p:nvSpPr>
          <p:spPr bwMode="auto">
            <a:xfrm>
              <a:off x="5517" y="2610"/>
              <a:ext cx="48" cy="99"/>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59782" name="Freeform 275"/>
            <p:cNvSpPr>
              <a:spLocks/>
            </p:cNvSpPr>
            <p:nvPr/>
          </p:nvSpPr>
          <p:spPr bwMode="auto">
            <a:xfrm>
              <a:off x="5302" y="2614"/>
              <a:ext cx="245" cy="200"/>
            </a:xfrm>
            <a:custGeom>
              <a:avLst/>
              <a:gdLst>
                <a:gd name="T0" fmla="*/ 0 w 306"/>
                <a:gd name="T1" fmla="*/ 61 h 240"/>
                <a:gd name="T2" fmla="*/ 2 w 306"/>
                <a:gd name="T3" fmla="*/ 139 h 240"/>
                <a:gd name="T4" fmla="*/ 157 w 306"/>
                <a:gd name="T5" fmla="*/ 64 h 240"/>
                <a:gd name="T6" fmla="*/ 154 w 306"/>
                <a:gd name="T7" fmla="*/ 0 h 240"/>
                <a:gd name="T8" fmla="*/ 0 w 306"/>
                <a:gd name="T9" fmla="*/ 6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6" name="AutoShape 276"/>
            <p:cNvSpPr>
              <a:spLocks noChangeArrowheads="1"/>
            </p:cNvSpPr>
            <p:nvPr/>
          </p:nvSpPr>
          <p:spPr bwMode="auto">
            <a:xfrm>
              <a:off x="4140" y="2681"/>
              <a:ext cx="1203"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07" name="AutoShape 277"/>
            <p:cNvSpPr>
              <a:spLocks noChangeArrowheads="1"/>
            </p:cNvSpPr>
            <p:nvPr/>
          </p:nvSpPr>
          <p:spPr bwMode="auto">
            <a:xfrm>
              <a:off x="4204" y="2709"/>
              <a:ext cx="1075"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08" name="Oval 278"/>
            <p:cNvSpPr>
              <a:spLocks noChangeArrowheads="1"/>
            </p:cNvSpPr>
            <p:nvPr/>
          </p:nvSpPr>
          <p:spPr bwMode="auto">
            <a:xfrm>
              <a:off x="4310" y="2383"/>
              <a:ext cx="159" cy="14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09" name="Oval 279"/>
            <p:cNvSpPr>
              <a:spLocks noChangeArrowheads="1"/>
            </p:cNvSpPr>
            <p:nvPr/>
          </p:nvSpPr>
          <p:spPr bwMode="auto">
            <a:xfrm>
              <a:off x="4484" y="2383"/>
              <a:ext cx="164" cy="144"/>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a:solidFill>
                  <a:srgbClr val="FF0000"/>
                </a:solidFill>
                <a:latin typeface="Comic Sans MS" charset="0"/>
                <a:ea typeface="ＭＳ Ｐゴシック" charset="0"/>
                <a:cs typeface="Arial" charset="0"/>
              </a:endParaRPr>
            </a:p>
          </p:txBody>
        </p:sp>
        <p:sp>
          <p:nvSpPr>
            <p:cNvPr id="110" name="Oval 280"/>
            <p:cNvSpPr>
              <a:spLocks noChangeArrowheads="1"/>
            </p:cNvSpPr>
            <p:nvPr/>
          </p:nvSpPr>
          <p:spPr bwMode="auto">
            <a:xfrm>
              <a:off x="4664" y="2378"/>
              <a:ext cx="154" cy="14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sp>
          <p:nvSpPr>
            <p:cNvPr id="111" name="Rectangle 281"/>
            <p:cNvSpPr>
              <a:spLocks noChangeArrowheads="1"/>
            </p:cNvSpPr>
            <p:nvPr/>
          </p:nvSpPr>
          <p:spPr bwMode="auto">
            <a:xfrm>
              <a:off x="5062" y="1837"/>
              <a:ext cx="85" cy="762"/>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cs typeface="Arial" charset="0"/>
              </a:endParaRPr>
            </a:p>
          </p:txBody>
        </p:sp>
      </p:gr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728663"/>
          </a:xfrm>
        </p:spPr>
        <p:txBody>
          <a:bodyPr/>
          <a:lstStyle/>
          <a:p>
            <a:r>
              <a:rPr lang="en-CA" dirty="0"/>
              <a:t>WEP's Major Weakness</a:t>
            </a:r>
          </a:p>
        </p:txBody>
      </p:sp>
      <p:sp>
        <p:nvSpPr>
          <p:cNvPr id="3" name="Content Placeholder 2"/>
          <p:cNvSpPr>
            <a:spLocks noGrp="1"/>
          </p:cNvSpPr>
          <p:nvPr>
            <p:ph idx="1"/>
          </p:nvPr>
        </p:nvSpPr>
        <p:spPr>
          <a:xfrm>
            <a:off x="533400" y="1128713"/>
            <a:ext cx="7772400" cy="5119687"/>
          </a:xfrm>
        </p:spPr>
        <p:txBody>
          <a:bodyPr/>
          <a:lstStyle/>
          <a:p>
            <a:r>
              <a:rPr lang="en-CA" sz="2400" dirty="0" smtClean="0"/>
              <a:t>Static </a:t>
            </a:r>
            <a:r>
              <a:rPr lang="en-CA" sz="2400" dirty="0"/>
              <a:t>encryption keys. </a:t>
            </a:r>
            <a:endParaRPr lang="en-CA" sz="2400" dirty="0" smtClean="0"/>
          </a:p>
          <a:p>
            <a:pPr lvl="1"/>
            <a:r>
              <a:rPr lang="en-CA" sz="2000" dirty="0" smtClean="0"/>
              <a:t>When </a:t>
            </a:r>
            <a:r>
              <a:rPr lang="en-CA" sz="2000" dirty="0"/>
              <a:t>you set up a router with a WEP encryption key, that one key is used by every device on your network to encrypt every packet that's transmitted. </a:t>
            </a:r>
            <a:endParaRPr lang="en-CA" sz="2000" dirty="0" smtClean="0"/>
          </a:p>
          <a:p>
            <a:pPr lvl="1"/>
            <a:r>
              <a:rPr lang="en-CA" sz="2000" dirty="0" smtClean="0"/>
              <a:t>But </a:t>
            </a:r>
            <a:r>
              <a:rPr lang="en-CA" sz="2000" dirty="0"/>
              <a:t>the fact that packets are encrypted doesn't prevent them from being intercepted, and due to </a:t>
            </a:r>
            <a:r>
              <a:rPr lang="en-CA" sz="2000" dirty="0" smtClean="0"/>
              <a:t>technical </a:t>
            </a:r>
            <a:r>
              <a:rPr lang="en-CA" sz="2000" dirty="0"/>
              <a:t>flaws it's entirely possible for an eavesdropper to intercept enough WEP-encrypted packets to eventually deduce what the key is</a:t>
            </a:r>
            <a:r>
              <a:rPr lang="en-CA" sz="2000" dirty="0" smtClean="0"/>
              <a:t>.</a:t>
            </a:r>
          </a:p>
          <a:p>
            <a:r>
              <a:rPr lang="en-CA" sz="2400" dirty="0" smtClean="0"/>
              <a:t>Can mitigate </a:t>
            </a:r>
            <a:r>
              <a:rPr lang="en-CA" sz="2400" dirty="0"/>
              <a:t>by periodically changing the WEP key </a:t>
            </a:r>
            <a:endParaRPr lang="en-CA" sz="2400" dirty="0" smtClean="0"/>
          </a:p>
          <a:p>
            <a:pPr lvl="1"/>
            <a:r>
              <a:rPr lang="en-CA" sz="2000" dirty="0" smtClean="0"/>
              <a:t>Routers </a:t>
            </a:r>
            <a:r>
              <a:rPr lang="en-CA" sz="2000" dirty="0"/>
              <a:t>generally allow you to store up to four </a:t>
            </a:r>
            <a:r>
              <a:rPr lang="en-CA" sz="2000" dirty="0" smtClean="0"/>
              <a:t>keys. </a:t>
            </a:r>
          </a:p>
          <a:p>
            <a:pPr lvl="1"/>
            <a:r>
              <a:rPr lang="en-CA" sz="2000" dirty="0" smtClean="0"/>
              <a:t>But </a:t>
            </a:r>
            <a:r>
              <a:rPr lang="en-CA" sz="2000" dirty="0"/>
              <a:t>few bother to do this because changing WEP keys is inconvenient and time-consuming because it has to be done not just on the router, but on every device that connects to it. </a:t>
            </a:r>
            <a:endParaRPr lang="en-CA" sz="2000" dirty="0" smtClean="0"/>
          </a:p>
          <a:p>
            <a:pPr lvl="1"/>
            <a:r>
              <a:rPr lang="en-CA" sz="2000" dirty="0" smtClean="0"/>
              <a:t>As </a:t>
            </a:r>
            <a:r>
              <a:rPr lang="en-CA" sz="2000" dirty="0"/>
              <a:t>a result, most people just set up a single key and then continue using it ad infinitum.</a:t>
            </a:r>
          </a:p>
        </p:txBody>
      </p:sp>
      <p:sp>
        <p:nvSpPr>
          <p:cNvPr id="4" name="Footer Placeholder 3"/>
          <p:cNvSpPr>
            <a:spLocks noGrp="1"/>
          </p:cNvSpPr>
          <p:nvPr>
            <p:ph type="ftr" sz="quarter" idx="10"/>
          </p:nvPr>
        </p:nvSpPr>
        <p:spPr/>
        <p:txBody>
          <a:bodyPr/>
          <a:lstStyle/>
          <a:p>
            <a:pPr>
              <a:defRPr/>
            </a:pPr>
            <a:r>
              <a:rPr lang="en-US" smtClean="0"/>
              <a:t>Network Security</a:t>
            </a:r>
            <a:endParaRPr lang="en-US"/>
          </a:p>
        </p:txBody>
      </p:sp>
      <p:pic>
        <p:nvPicPr>
          <p:cNvPr id="5" name="Picture 1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7" y="815976"/>
            <a:ext cx="593407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140092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728663"/>
          </a:xfrm>
        </p:spPr>
        <p:txBody>
          <a:bodyPr/>
          <a:lstStyle/>
          <a:p>
            <a:r>
              <a:rPr lang="en-CA" dirty="0"/>
              <a:t>Wi-Fi Protected Access (WPA)</a:t>
            </a:r>
          </a:p>
        </p:txBody>
      </p:sp>
      <p:sp>
        <p:nvSpPr>
          <p:cNvPr id="3" name="Content Placeholder 2"/>
          <p:cNvSpPr>
            <a:spLocks noGrp="1"/>
          </p:cNvSpPr>
          <p:nvPr>
            <p:ph idx="1"/>
          </p:nvPr>
        </p:nvSpPr>
        <p:spPr>
          <a:xfrm>
            <a:off x="533400" y="1128713"/>
            <a:ext cx="7772400" cy="5119687"/>
          </a:xfrm>
        </p:spPr>
        <p:txBody>
          <a:bodyPr/>
          <a:lstStyle/>
          <a:p>
            <a:r>
              <a:rPr lang="en-CA" sz="2400" dirty="0"/>
              <a:t>WPA aims to provide stronger wireless data encryption than </a:t>
            </a:r>
            <a:r>
              <a:rPr lang="en-CA" sz="2400" dirty="0" smtClean="0"/>
              <a:t>WEP. </a:t>
            </a:r>
          </a:p>
          <a:p>
            <a:pPr lvl="1"/>
            <a:r>
              <a:rPr lang="en-CA" sz="2000" dirty="0" smtClean="0"/>
              <a:t>In </a:t>
            </a:r>
            <a:r>
              <a:rPr lang="en-CA" sz="2000" dirty="0"/>
              <a:t>order to use WPA all devices on the network must be configured for WPA</a:t>
            </a:r>
            <a:r>
              <a:rPr lang="en-CA" sz="2000" dirty="0" smtClean="0"/>
              <a:t>. Can mitigate </a:t>
            </a:r>
            <a:r>
              <a:rPr lang="en-CA" sz="2000" dirty="0"/>
              <a:t>by periodically changing the WEP key </a:t>
            </a:r>
            <a:endParaRPr lang="en-CA" sz="2000" dirty="0" smtClean="0"/>
          </a:p>
          <a:p>
            <a:pPr lvl="1"/>
            <a:r>
              <a:rPr lang="en-CA" sz="2000" dirty="0"/>
              <a:t>Improved data encryption through the temporal key integrity protocol (TKIP). TKIP scrambles the keys using a hashing algorithm and, by adding an integrity-checking feature, ensures that the keys haven't been tampered with.</a:t>
            </a:r>
          </a:p>
          <a:p>
            <a:pPr lvl="1"/>
            <a:r>
              <a:rPr lang="en-CA" sz="2000" dirty="0"/>
              <a:t>User authentication, which is generally missing in WEP, through the extensible authentication protocol (EAP). WEP regulates access to a wireless network based on a computer's hardware-specific MAC address, which is relatively simple to be sniffed out and stolen. </a:t>
            </a:r>
          </a:p>
        </p:txBody>
      </p:sp>
      <p:sp>
        <p:nvSpPr>
          <p:cNvPr id="4" name="Footer Placeholder 3"/>
          <p:cNvSpPr>
            <a:spLocks noGrp="1"/>
          </p:cNvSpPr>
          <p:nvPr>
            <p:ph type="ftr" sz="quarter" idx="10"/>
          </p:nvPr>
        </p:nvSpPr>
        <p:spPr/>
        <p:txBody>
          <a:bodyPr/>
          <a:lstStyle/>
          <a:p>
            <a:pPr>
              <a:defRPr/>
            </a:pPr>
            <a:r>
              <a:rPr lang="en-US" smtClean="0"/>
              <a:t>Network Security</a:t>
            </a:r>
            <a:endParaRPr lang="en-US"/>
          </a:p>
        </p:txBody>
      </p:sp>
      <p:pic>
        <p:nvPicPr>
          <p:cNvPr id="5" name="Picture 1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7" y="815976"/>
            <a:ext cx="7591426"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117694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61794" name="Rectangle 2"/>
          <p:cNvSpPr>
            <a:spLocks noGrp="1" noChangeArrowheads="1"/>
          </p:cNvSpPr>
          <p:nvPr>
            <p:ph type="title"/>
          </p:nvPr>
        </p:nvSpPr>
        <p:spPr/>
        <p:txBody>
          <a:bodyPr/>
          <a:lstStyle/>
          <a:p>
            <a:r>
              <a:rPr lang="en-US" altLang="en-US" smtClean="0">
                <a:ea typeface="ＭＳ Ｐゴシック" pitchFamily="34" charset="-128"/>
              </a:rPr>
              <a:t>Chapter 8 roadmap</a:t>
            </a:r>
          </a:p>
        </p:txBody>
      </p:sp>
      <p:sp>
        <p:nvSpPr>
          <p:cNvPr id="161795" name="Rectangle 3"/>
          <p:cNvSpPr>
            <a:spLocks noGrp="1" noChangeArrowheads="1"/>
          </p:cNvSpPr>
          <p:nvPr>
            <p:ph type="body" idx="1"/>
          </p:nvPr>
        </p:nvSpPr>
        <p:spPr>
          <a:xfrm>
            <a:off x="650875" y="1668463"/>
            <a:ext cx="7772400" cy="4648200"/>
          </a:xfrm>
        </p:spPr>
        <p:txBody>
          <a:bodyPr/>
          <a:lstStyle/>
          <a:p>
            <a:pPr>
              <a:buFont typeface="Wingdings" pitchFamily="2" charset="2"/>
              <a:buNone/>
            </a:pPr>
            <a:r>
              <a:rPr lang="en-US" altLang="en-US" smtClean="0">
                <a:solidFill>
                  <a:srgbClr val="000099"/>
                </a:solidFill>
                <a:ea typeface="ＭＳ Ｐゴシック" pitchFamily="34" charset="-128"/>
              </a:rPr>
              <a:t>8.1 </a:t>
            </a:r>
            <a:r>
              <a:rPr lang="en-US" altLang="en-US" smtClean="0">
                <a:ea typeface="ＭＳ Ｐゴシック" pitchFamily="34" charset="-128"/>
              </a:rPr>
              <a:t>What is network security?</a:t>
            </a:r>
          </a:p>
          <a:p>
            <a:pPr>
              <a:buFont typeface="Wingdings" pitchFamily="2" charset="2"/>
              <a:buNone/>
            </a:pPr>
            <a:r>
              <a:rPr lang="en-US" altLang="en-US" smtClean="0">
                <a:solidFill>
                  <a:srgbClr val="000099"/>
                </a:solidFill>
                <a:ea typeface="ＭＳ Ｐゴシック" pitchFamily="34" charset="-128"/>
              </a:rPr>
              <a:t>8.2</a:t>
            </a:r>
            <a:r>
              <a:rPr lang="en-US" altLang="en-US" smtClean="0">
                <a:ea typeface="ＭＳ Ｐゴシック" pitchFamily="34" charset="-128"/>
              </a:rPr>
              <a:t> Principles of cryptography</a:t>
            </a:r>
          </a:p>
          <a:p>
            <a:pPr>
              <a:buFont typeface="Wingdings" pitchFamily="2" charset="2"/>
              <a:buNone/>
            </a:pPr>
            <a:r>
              <a:rPr lang="en-US" altLang="en-US" smtClean="0">
                <a:solidFill>
                  <a:srgbClr val="000099"/>
                </a:solidFill>
                <a:ea typeface="ＭＳ Ｐゴシック" pitchFamily="34" charset="-128"/>
              </a:rPr>
              <a:t>8.3</a:t>
            </a:r>
            <a:r>
              <a:rPr lang="en-US" altLang="en-US" smtClean="0">
                <a:ea typeface="ＭＳ Ｐゴシック" pitchFamily="34" charset="-128"/>
              </a:rPr>
              <a:t> Message integrity</a:t>
            </a:r>
          </a:p>
          <a:p>
            <a:pPr>
              <a:buFont typeface="Wingdings" pitchFamily="2" charset="2"/>
              <a:buNone/>
            </a:pPr>
            <a:r>
              <a:rPr lang="en-US" altLang="en-US" smtClean="0">
                <a:solidFill>
                  <a:srgbClr val="000099"/>
                </a:solidFill>
                <a:ea typeface="ＭＳ Ｐゴシック" pitchFamily="34" charset="-128"/>
              </a:rPr>
              <a:t>8.4 </a:t>
            </a:r>
            <a:r>
              <a:rPr lang="en-US" altLang="en-US" smtClean="0">
                <a:ea typeface="ＭＳ Ｐゴシック" pitchFamily="34" charset="-128"/>
              </a:rPr>
              <a:t>Securing e-mail</a:t>
            </a:r>
          </a:p>
          <a:p>
            <a:pPr>
              <a:buFont typeface="Wingdings" pitchFamily="2" charset="2"/>
              <a:buNone/>
            </a:pPr>
            <a:r>
              <a:rPr lang="en-US" altLang="en-US" smtClean="0">
                <a:solidFill>
                  <a:srgbClr val="000099"/>
                </a:solidFill>
                <a:ea typeface="ＭＳ Ｐゴシック" pitchFamily="34" charset="-128"/>
              </a:rPr>
              <a:t>8.5</a:t>
            </a:r>
            <a:r>
              <a:rPr lang="en-US" altLang="en-US" smtClean="0">
                <a:ea typeface="ＭＳ Ｐゴシック" pitchFamily="34" charset="-128"/>
              </a:rPr>
              <a:t> Securing TCP connections: SSL</a:t>
            </a:r>
          </a:p>
          <a:p>
            <a:pPr>
              <a:buFont typeface="Wingdings" pitchFamily="2" charset="2"/>
              <a:buNone/>
            </a:pPr>
            <a:r>
              <a:rPr lang="en-US" altLang="en-US" smtClean="0">
                <a:solidFill>
                  <a:srgbClr val="000099"/>
                </a:solidFill>
                <a:ea typeface="ＭＳ Ｐゴシック" pitchFamily="34" charset="-128"/>
              </a:rPr>
              <a:t>8.6</a:t>
            </a:r>
            <a:r>
              <a:rPr lang="en-US" altLang="en-US" smtClean="0">
                <a:ea typeface="ＭＳ Ｐゴシック" pitchFamily="34" charset="-128"/>
              </a:rPr>
              <a:t> Network layer security: IPsec</a:t>
            </a:r>
          </a:p>
          <a:p>
            <a:pPr>
              <a:buFont typeface="Wingdings" pitchFamily="2" charset="2"/>
              <a:buNone/>
            </a:pPr>
            <a:r>
              <a:rPr lang="en-US" altLang="en-US" smtClean="0">
                <a:solidFill>
                  <a:srgbClr val="000099"/>
                </a:solidFill>
                <a:ea typeface="ＭＳ Ｐゴシック" pitchFamily="34" charset="-128"/>
              </a:rPr>
              <a:t>8.7</a:t>
            </a:r>
            <a:r>
              <a:rPr lang="en-US" altLang="en-US" smtClean="0">
                <a:ea typeface="ＭＳ Ｐゴシック" pitchFamily="34" charset="-128"/>
              </a:rPr>
              <a:t> Securing wireless LANs</a:t>
            </a:r>
          </a:p>
          <a:p>
            <a:pPr>
              <a:buFont typeface="Wingdings" pitchFamily="2" charset="2"/>
              <a:buNone/>
            </a:pPr>
            <a:r>
              <a:rPr lang="en-US" altLang="en-US" i="1" smtClean="0">
                <a:solidFill>
                  <a:srgbClr val="CC0000"/>
                </a:solidFill>
                <a:ea typeface="ＭＳ Ｐゴシック" pitchFamily="34" charset="-128"/>
              </a:rPr>
              <a:t>8.8 Operational security: firewalls and IDS</a:t>
            </a:r>
          </a:p>
        </p:txBody>
      </p:sp>
      <p:pic>
        <p:nvPicPr>
          <p:cNvPr id="161796" name="Picture 22"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475" y="1038225"/>
            <a:ext cx="4570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63842" name="Rectangle 2"/>
          <p:cNvSpPr>
            <a:spLocks noChangeArrowheads="1"/>
          </p:cNvSpPr>
          <p:nvPr/>
        </p:nvSpPr>
        <p:spPr bwMode="auto">
          <a:xfrm>
            <a:off x="496888" y="1522413"/>
            <a:ext cx="8366125" cy="1235075"/>
          </a:xfrm>
          <a:prstGeom prst="rect">
            <a:avLst/>
          </a:prstGeom>
          <a:solidFill>
            <a:srgbClr val="FFFFFF"/>
          </a:solidFill>
          <a:ln w="19050">
            <a:solidFill>
              <a:srgbClr val="FF0000"/>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843" name="Rectangle 3"/>
          <p:cNvSpPr>
            <a:spLocks noGrp="1" noChangeArrowheads="1"/>
          </p:cNvSpPr>
          <p:nvPr>
            <p:ph type="title"/>
          </p:nvPr>
        </p:nvSpPr>
        <p:spPr>
          <a:xfrm>
            <a:off x="474663" y="180975"/>
            <a:ext cx="7772400" cy="1143000"/>
          </a:xfrm>
        </p:spPr>
        <p:txBody>
          <a:bodyPr/>
          <a:lstStyle/>
          <a:p>
            <a:r>
              <a:rPr lang="en-US" altLang="en-US" smtClean="0">
                <a:ea typeface="ＭＳ Ｐゴシック" pitchFamily="34" charset="-128"/>
              </a:rPr>
              <a:t>Firewalls</a:t>
            </a:r>
          </a:p>
        </p:txBody>
      </p:sp>
      <p:sp>
        <p:nvSpPr>
          <p:cNvPr id="163844" name="Rectangle 5"/>
          <p:cNvSpPr>
            <a:spLocks noChangeArrowheads="1"/>
          </p:cNvSpPr>
          <p:nvPr/>
        </p:nvSpPr>
        <p:spPr bwMode="auto">
          <a:xfrm>
            <a:off x="501650" y="4419600"/>
            <a:ext cx="3810000"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chemeClr val="accent2"/>
              </a:buClr>
              <a:buSzPct val="85000"/>
              <a:buFont typeface="ZapfDingbats" pitchFamily="82" charset="2"/>
              <a:buNone/>
            </a:pPr>
            <a:endParaRPr lang="en-US" altLang="en-US"/>
          </a:p>
        </p:txBody>
      </p:sp>
      <p:sp>
        <p:nvSpPr>
          <p:cNvPr id="163845" name="Text Box 7"/>
          <p:cNvSpPr txBox="1">
            <a:spLocks noChangeArrowheads="1"/>
          </p:cNvSpPr>
          <p:nvPr/>
        </p:nvSpPr>
        <p:spPr bwMode="auto">
          <a:xfrm>
            <a:off x="555625" y="1708150"/>
            <a:ext cx="836136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dirty="0">
                <a:latin typeface="Gill Sans MT" pitchFamily="34" charset="0"/>
              </a:rPr>
              <a:t>isolates organization</a:t>
            </a:r>
            <a:r>
              <a:rPr lang="ja-JP" altLang="en-US" sz="2800" dirty="0">
                <a:latin typeface="Gill Sans MT" pitchFamily="34" charset="0"/>
              </a:rPr>
              <a:t>’</a:t>
            </a:r>
            <a:r>
              <a:rPr lang="en-US" altLang="ja-JP" sz="2800" dirty="0">
                <a:latin typeface="Gill Sans MT" pitchFamily="34" charset="0"/>
              </a:rPr>
              <a:t>s internal net from larger Internet, allowing some packets to pass, blocking others</a:t>
            </a:r>
            <a:endParaRPr lang="en-US" altLang="en-US" sz="2800" dirty="0">
              <a:latin typeface="Gill Sans MT" pitchFamily="34" charset="0"/>
            </a:endParaRPr>
          </a:p>
        </p:txBody>
      </p:sp>
      <p:grpSp>
        <p:nvGrpSpPr>
          <p:cNvPr id="163846" name="Group 8"/>
          <p:cNvGrpSpPr>
            <a:grpSpLocks/>
          </p:cNvGrpSpPr>
          <p:nvPr/>
        </p:nvGrpSpPr>
        <p:grpSpPr bwMode="auto">
          <a:xfrm>
            <a:off x="727075" y="1201738"/>
            <a:ext cx="1223963" cy="523875"/>
            <a:chOff x="1282" y="3611"/>
            <a:chExt cx="771" cy="330"/>
          </a:xfrm>
        </p:grpSpPr>
        <p:sp>
          <p:nvSpPr>
            <p:cNvPr id="164084" name="Rectangle 9"/>
            <p:cNvSpPr>
              <a:spLocks noChangeArrowheads="1"/>
            </p:cNvSpPr>
            <p:nvPr/>
          </p:nvSpPr>
          <p:spPr bwMode="auto">
            <a:xfrm>
              <a:off x="1356" y="3648"/>
              <a:ext cx="636" cy="2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85" name="Text Box 10"/>
            <p:cNvSpPr txBox="1">
              <a:spLocks noChangeArrowheads="1"/>
            </p:cNvSpPr>
            <p:nvPr/>
          </p:nvSpPr>
          <p:spPr bwMode="auto">
            <a:xfrm>
              <a:off x="1282" y="3611"/>
              <a:ext cx="771" cy="3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800" i="1">
                  <a:solidFill>
                    <a:srgbClr val="FF0000"/>
                  </a:solidFill>
                  <a:latin typeface="Gill Sans MT" pitchFamily="34" charset="0"/>
                </a:rPr>
                <a:t>firewall</a:t>
              </a:r>
            </a:p>
          </p:txBody>
        </p:sp>
      </p:grpSp>
      <p:sp>
        <p:nvSpPr>
          <p:cNvPr id="163847" name="Rectangle 12"/>
          <p:cNvSpPr>
            <a:spLocks noChangeArrowheads="1"/>
          </p:cNvSpPr>
          <p:nvPr/>
        </p:nvSpPr>
        <p:spPr bwMode="auto">
          <a:xfrm>
            <a:off x="0" y="1890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848" name="AutoShape 14"/>
          <p:cNvSpPr>
            <a:spLocks noChangeAspect="1" noChangeArrowheads="1" noTextEdit="1"/>
          </p:cNvSpPr>
          <p:nvPr/>
        </p:nvSpPr>
        <p:spPr bwMode="auto">
          <a:xfrm>
            <a:off x="1697038" y="3113088"/>
            <a:ext cx="5200650" cy="290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p>
        </p:txBody>
      </p:sp>
      <p:sp>
        <p:nvSpPr>
          <p:cNvPr id="163849" name="Rectangle 16"/>
          <p:cNvSpPr>
            <a:spLocks noChangeArrowheads="1"/>
          </p:cNvSpPr>
          <p:nvPr/>
        </p:nvSpPr>
        <p:spPr bwMode="auto">
          <a:xfrm>
            <a:off x="6910388" y="6164263"/>
            <a:ext cx="476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500">
                <a:solidFill>
                  <a:srgbClr val="000000"/>
                </a:solidFill>
              </a:rPr>
              <a:t> </a:t>
            </a:r>
            <a:endParaRPr lang="en-US" altLang="en-US"/>
          </a:p>
        </p:txBody>
      </p:sp>
      <p:sp>
        <p:nvSpPr>
          <p:cNvPr id="163850" name="Rectangle 362"/>
          <p:cNvSpPr>
            <a:spLocks noChangeArrowheads="1"/>
          </p:cNvSpPr>
          <p:nvPr/>
        </p:nvSpPr>
        <p:spPr bwMode="auto">
          <a:xfrm>
            <a:off x="3616325" y="6015038"/>
            <a:ext cx="1449388" cy="3317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851" name="Rectangle 364"/>
          <p:cNvSpPr>
            <a:spLocks noChangeArrowheads="1"/>
          </p:cNvSpPr>
          <p:nvPr/>
        </p:nvSpPr>
        <p:spPr bwMode="auto">
          <a:xfrm>
            <a:off x="4665663" y="6076950"/>
            <a:ext cx="476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500">
                <a:solidFill>
                  <a:srgbClr val="000000"/>
                </a:solidFill>
              </a:rPr>
              <a:t> </a:t>
            </a:r>
            <a:endParaRPr lang="en-US" altLang="en-US"/>
          </a:p>
        </p:txBody>
      </p:sp>
      <p:sp>
        <p:nvSpPr>
          <p:cNvPr id="163852" name="Freeform 17"/>
          <p:cNvSpPr>
            <a:spLocks/>
          </p:cNvSpPr>
          <p:nvPr/>
        </p:nvSpPr>
        <p:spPr bwMode="auto">
          <a:xfrm>
            <a:off x="1195388" y="3017838"/>
            <a:ext cx="3189287" cy="1808162"/>
          </a:xfrm>
          <a:custGeom>
            <a:avLst/>
            <a:gdLst>
              <a:gd name="T0" fmla="*/ 2147483647 w 1672"/>
              <a:gd name="T1" fmla="*/ 2147483647 h 977"/>
              <a:gd name="T2" fmla="*/ 2147483647 w 1672"/>
              <a:gd name="T3" fmla="*/ 2147483647 h 977"/>
              <a:gd name="T4" fmla="*/ 2147483647 w 1672"/>
              <a:gd name="T5" fmla="*/ 2147483647 h 977"/>
              <a:gd name="T6" fmla="*/ 2147483647 w 1672"/>
              <a:gd name="T7" fmla="*/ 2147483647 h 977"/>
              <a:gd name="T8" fmla="*/ 2147483647 w 1672"/>
              <a:gd name="T9" fmla="*/ 2147483647 h 977"/>
              <a:gd name="T10" fmla="*/ 2147483647 w 1672"/>
              <a:gd name="T11" fmla="*/ 2147483647 h 977"/>
              <a:gd name="T12" fmla="*/ 2147483647 w 1672"/>
              <a:gd name="T13" fmla="*/ 2147483647 h 977"/>
              <a:gd name="T14" fmla="*/ 2147483647 w 1672"/>
              <a:gd name="T15" fmla="*/ 2147483647 h 977"/>
              <a:gd name="T16" fmla="*/ 2147483647 w 1672"/>
              <a:gd name="T17" fmla="*/ 2147483647 h 977"/>
              <a:gd name="T18" fmla="*/ 2147483647 w 1672"/>
              <a:gd name="T19" fmla="*/ 2147483647 h 977"/>
              <a:gd name="T20" fmla="*/ 2147483647 w 1672"/>
              <a:gd name="T21" fmla="*/ 2147483647 h 977"/>
              <a:gd name="T22" fmla="*/ 2147483647 w 1672"/>
              <a:gd name="T23" fmla="*/ 2147483647 h 977"/>
              <a:gd name="T24" fmla="*/ 2147483647 w 1672"/>
              <a:gd name="T25" fmla="*/ 2147483647 h 977"/>
              <a:gd name="T26" fmla="*/ 2147483647 w 1672"/>
              <a:gd name="T27" fmla="*/ 2147483647 h 977"/>
              <a:gd name="T28" fmla="*/ 2147483647 w 1672"/>
              <a:gd name="T29" fmla="*/ 2147483647 h 977"/>
              <a:gd name="T30" fmla="*/ 2147483647 w 1672"/>
              <a:gd name="T31" fmla="*/ 2147483647 h 977"/>
              <a:gd name="T32" fmla="*/ 2147483647 w 1672"/>
              <a:gd name="T33" fmla="*/ 2147483647 h 977"/>
              <a:gd name="T34" fmla="*/ 2147483647 w 1672"/>
              <a:gd name="T35" fmla="*/ 2147483647 h 977"/>
              <a:gd name="T36" fmla="*/ 2147483647 w 1672"/>
              <a:gd name="T37" fmla="*/ 2147483647 h 977"/>
              <a:gd name="T38" fmla="*/ 2147483647 w 1672"/>
              <a:gd name="T39" fmla="*/ 2147483647 h 977"/>
              <a:gd name="T40" fmla="*/ 2147483647 w 1672"/>
              <a:gd name="T41" fmla="*/ 2147483647 h 977"/>
              <a:gd name="T42" fmla="*/ 2147483647 w 1672"/>
              <a:gd name="T43" fmla="*/ 2147483647 h 977"/>
              <a:gd name="T44" fmla="*/ 2147483647 w 1672"/>
              <a:gd name="T45" fmla="*/ 2147483647 h 977"/>
              <a:gd name="T46" fmla="*/ 2147483647 w 1672"/>
              <a:gd name="T47" fmla="*/ 2147483647 h 977"/>
              <a:gd name="T48" fmla="*/ 2147483647 w 1672"/>
              <a:gd name="T49" fmla="*/ 2147483647 h 977"/>
              <a:gd name="T50" fmla="*/ 2147483647 w 1672"/>
              <a:gd name="T51" fmla="*/ 2147483647 h 977"/>
              <a:gd name="T52" fmla="*/ 2147483647 w 1672"/>
              <a:gd name="T53" fmla="*/ 2147483647 h 977"/>
              <a:gd name="T54" fmla="*/ 2147483647 w 1672"/>
              <a:gd name="T55" fmla="*/ 2147483647 h 977"/>
              <a:gd name="T56" fmla="*/ 2147483647 w 1672"/>
              <a:gd name="T57" fmla="*/ 2147483647 h 977"/>
              <a:gd name="T58" fmla="*/ 2147483647 w 1672"/>
              <a:gd name="T59" fmla="*/ 2147483647 h 977"/>
              <a:gd name="T60" fmla="*/ 2147483647 w 1672"/>
              <a:gd name="T61" fmla="*/ 2147483647 h 977"/>
              <a:gd name="T62" fmla="*/ 2147483647 w 1672"/>
              <a:gd name="T63" fmla="*/ 2147483647 h 977"/>
              <a:gd name="T64" fmla="*/ 2147483647 w 1672"/>
              <a:gd name="T65" fmla="*/ 2147483647 h 977"/>
              <a:gd name="T66" fmla="*/ 2147483647 w 1672"/>
              <a:gd name="T67" fmla="*/ 2147483647 h 977"/>
              <a:gd name="T68" fmla="*/ 2147483647 w 1672"/>
              <a:gd name="T69" fmla="*/ 2147483647 h 977"/>
              <a:gd name="T70" fmla="*/ 2147483647 w 1672"/>
              <a:gd name="T71" fmla="*/ 2147483647 h 977"/>
              <a:gd name="T72" fmla="*/ 2147483647 w 1672"/>
              <a:gd name="T73" fmla="*/ 2147483647 h 977"/>
              <a:gd name="T74" fmla="*/ 2147483647 w 1672"/>
              <a:gd name="T75" fmla="*/ 2147483647 h 977"/>
              <a:gd name="T76" fmla="*/ 2147483647 w 1672"/>
              <a:gd name="T77" fmla="*/ 2147483647 h 977"/>
              <a:gd name="T78" fmla="*/ 2147483647 w 1672"/>
              <a:gd name="T79" fmla="*/ 2147483647 h 977"/>
              <a:gd name="T80" fmla="*/ 2147483647 w 1672"/>
              <a:gd name="T81" fmla="*/ 2147483647 h 977"/>
              <a:gd name="T82" fmla="*/ 2147483647 w 1672"/>
              <a:gd name="T83" fmla="*/ 2147483647 h 977"/>
              <a:gd name="T84" fmla="*/ 2147483647 w 1672"/>
              <a:gd name="T85" fmla="*/ 2147483647 h 977"/>
              <a:gd name="T86" fmla="*/ 2147483647 w 1672"/>
              <a:gd name="T87" fmla="*/ 2147483647 h 977"/>
              <a:gd name="T88" fmla="*/ 0 w 1672"/>
              <a:gd name="T89" fmla="*/ 2147483647 h 977"/>
              <a:gd name="T90" fmla="*/ 2147483647 w 1672"/>
              <a:gd name="T91" fmla="*/ 2147483647 h 977"/>
              <a:gd name="T92" fmla="*/ 2147483647 w 1672"/>
              <a:gd name="T93" fmla="*/ 2147483647 h 977"/>
              <a:gd name="T94" fmla="*/ 0 w 1672"/>
              <a:gd name="T95" fmla="*/ 2147483647 h 977"/>
              <a:gd name="T96" fmla="*/ 2147483647 w 1672"/>
              <a:gd name="T97" fmla="*/ 2147483647 h 977"/>
              <a:gd name="T98" fmla="*/ 2147483647 w 1672"/>
              <a:gd name="T99" fmla="*/ 2147483647 h 977"/>
              <a:gd name="T100" fmla="*/ 2147483647 w 1672"/>
              <a:gd name="T101" fmla="*/ 2147483647 h 977"/>
              <a:gd name="T102" fmla="*/ 2147483647 w 1672"/>
              <a:gd name="T103" fmla="*/ 2147483647 h 9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72"/>
              <a:gd name="T157" fmla="*/ 0 h 977"/>
              <a:gd name="T158" fmla="*/ 1672 w 1672"/>
              <a:gd name="T159" fmla="*/ 977 h 9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72" h="977">
                <a:moveTo>
                  <a:pt x="54" y="16"/>
                </a:moveTo>
                <a:lnTo>
                  <a:pt x="57" y="14"/>
                </a:lnTo>
                <a:lnTo>
                  <a:pt x="61" y="10"/>
                </a:lnTo>
                <a:lnTo>
                  <a:pt x="69" y="7"/>
                </a:lnTo>
                <a:lnTo>
                  <a:pt x="77" y="3"/>
                </a:lnTo>
                <a:lnTo>
                  <a:pt x="86" y="1"/>
                </a:lnTo>
                <a:lnTo>
                  <a:pt x="96" y="0"/>
                </a:lnTo>
                <a:lnTo>
                  <a:pt x="105" y="0"/>
                </a:lnTo>
                <a:lnTo>
                  <a:pt x="116" y="0"/>
                </a:lnTo>
                <a:lnTo>
                  <a:pt x="127" y="1"/>
                </a:lnTo>
                <a:lnTo>
                  <a:pt x="138" y="3"/>
                </a:lnTo>
                <a:lnTo>
                  <a:pt x="149" y="6"/>
                </a:lnTo>
                <a:lnTo>
                  <a:pt x="161" y="9"/>
                </a:lnTo>
                <a:lnTo>
                  <a:pt x="174" y="13"/>
                </a:lnTo>
                <a:lnTo>
                  <a:pt x="187" y="17"/>
                </a:lnTo>
                <a:lnTo>
                  <a:pt x="200" y="22"/>
                </a:lnTo>
                <a:lnTo>
                  <a:pt x="212" y="27"/>
                </a:lnTo>
                <a:lnTo>
                  <a:pt x="225" y="31"/>
                </a:lnTo>
                <a:lnTo>
                  <a:pt x="253" y="43"/>
                </a:lnTo>
                <a:lnTo>
                  <a:pt x="281" y="54"/>
                </a:lnTo>
                <a:lnTo>
                  <a:pt x="309" y="65"/>
                </a:lnTo>
                <a:lnTo>
                  <a:pt x="338" y="76"/>
                </a:lnTo>
                <a:lnTo>
                  <a:pt x="352" y="82"/>
                </a:lnTo>
                <a:lnTo>
                  <a:pt x="366" y="86"/>
                </a:lnTo>
                <a:lnTo>
                  <a:pt x="380" y="90"/>
                </a:lnTo>
                <a:lnTo>
                  <a:pt x="394" y="95"/>
                </a:lnTo>
                <a:lnTo>
                  <a:pt x="408" y="97"/>
                </a:lnTo>
                <a:lnTo>
                  <a:pt x="422" y="100"/>
                </a:lnTo>
                <a:lnTo>
                  <a:pt x="436" y="103"/>
                </a:lnTo>
                <a:lnTo>
                  <a:pt x="451" y="104"/>
                </a:lnTo>
                <a:lnTo>
                  <a:pt x="465" y="105"/>
                </a:lnTo>
                <a:lnTo>
                  <a:pt x="477" y="105"/>
                </a:lnTo>
                <a:lnTo>
                  <a:pt x="491" y="105"/>
                </a:lnTo>
                <a:lnTo>
                  <a:pt x="504" y="105"/>
                </a:lnTo>
                <a:lnTo>
                  <a:pt x="518" y="104"/>
                </a:lnTo>
                <a:lnTo>
                  <a:pt x="532" y="104"/>
                </a:lnTo>
                <a:lnTo>
                  <a:pt x="559" y="100"/>
                </a:lnTo>
                <a:lnTo>
                  <a:pt x="586" y="98"/>
                </a:lnTo>
                <a:lnTo>
                  <a:pt x="614" y="95"/>
                </a:lnTo>
                <a:lnTo>
                  <a:pt x="641" y="90"/>
                </a:lnTo>
                <a:lnTo>
                  <a:pt x="670" y="86"/>
                </a:lnTo>
                <a:lnTo>
                  <a:pt x="698" y="83"/>
                </a:lnTo>
                <a:lnTo>
                  <a:pt x="727" y="79"/>
                </a:lnTo>
                <a:lnTo>
                  <a:pt x="757" y="77"/>
                </a:lnTo>
                <a:lnTo>
                  <a:pt x="774" y="76"/>
                </a:lnTo>
                <a:lnTo>
                  <a:pt x="789" y="75"/>
                </a:lnTo>
                <a:lnTo>
                  <a:pt x="804" y="75"/>
                </a:lnTo>
                <a:lnTo>
                  <a:pt x="820" y="75"/>
                </a:lnTo>
                <a:lnTo>
                  <a:pt x="837" y="76"/>
                </a:lnTo>
                <a:lnTo>
                  <a:pt x="853" y="76"/>
                </a:lnTo>
                <a:lnTo>
                  <a:pt x="871" y="77"/>
                </a:lnTo>
                <a:lnTo>
                  <a:pt x="888" y="79"/>
                </a:lnTo>
                <a:lnTo>
                  <a:pt x="906" y="82"/>
                </a:lnTo>
                <a:lnTo>
                  <a:pt x="923" y="84"/>
                </a:lnTo>
                <a:lnTo>
                  <a:pt x="942" y="88"/>
                </a:lnTo>
                <a:lnTo>
                  <a:pt x="961" y="91"/>
                </a:lnTo>
                <a:lnTo>
                  <a:pt x="980" y="95"/>
                </a:lnTo>
                <a:lnTo>
                  <a:pt x="1003" y="98"/>
                </a:lnTo>
                <a:lnTo>
                  <a:pt x="1024" y="102"/>
                </a:lnTo>
                <a:lnTo>
                  <a:pt x="1046" y="106"/>
                </a:lnTo>
                <a:lnTo>
                  <a:pt x="1069" y="110"/>
                </a:lnTo>
                <a:lnTo>
                  <a:pt x="1092" y="114"/>
                </a:lnTo>
                <a:lnTo>
                  <a:pt x="1117" y="119"/>
                </a:lnTo>
                <a:lnTo>
                  <a:pt x="1141" y="124"/>
                </a:lnTo>
                <a:lnTo>
                  <a:pt x="1190" y="134"/>
                </a:lnTo>
                <a:lnTo>
                  <a:pt x="1239" y="146"/>
                </a:lnTo>
                <a:lnTo>
                  <a:pt x="1288" y="159"/>
                </a:lnTo>
                <a:lnTo>
                  <a:pt x="1313" y="166"/>
                </a:lnTo>
                <a:lnTo>
                  <a:pt x="1337" y="173"/>
                </a:lnTo>
                <a:lnTo>
                  <a:pt x="1361" y="180"/>
                </a:lnTo>
                <a:lnTo>
                  <a:pt x="1384" y="187"/>
                </a:lnTo>
                <a:lnTo>
                  <a:pt x="1406" y="195"/>
                </a:lnTo>
                <a:lnTo>
                  <a:pt x="1429" y="203"/>
                </a:lnTo>
                <a:lnTo>
                  <a:pt x="1450" y="211"/>
                </a:lnTo>
                <a:lnTo>
                  <a:pt x="1471" y="220"/>
                </a:lnTo>
                <a:lnTo>
                  <a:pt x="1490" y="229"/>
                </a:lnTo>
                <a:lnTo>
                  <a:pt x="1509" y="238"/>
                </a:lnTo>
                <a:lnTo>
                  <a:pt x="1527" y="248"/>
                </a:lnTo>
                <a:lnTo>
                  <a:pt x="1535" y="252"/>
                </a:lnTo>
                <a:lnTo>
                  <a:pt x="1543" y="258"/>
                </a:lnTo>
                <a:lnTo>
                  <a:pt x="1551" y="263"/>
                </a:lnTo>
                <a:lnTo>
                  <a:pt x="1558" y="267"/>
                </a:lnTo>
                <a:lnTo>
                  <a:pt x="1565" y="273"/>
                </a:lnTo>
                <a:lnTo>
                  <a:pt x="1572" y="279"/>
                </a:lnTo>
                <a:lnTo>
                  <a:pt x="1579" y="284"/>
                </a:lnTo>
                <a:lnTo>
                  <a:pt x="1585" y="290"/>
                </a:lnTo>
                <a:lnTo>
                  <a:pt x="1591" y="296"/>
                </a:lnTo>
                <a:lnTo>
                  <a:pt x="1597" y="301"/>
                </a:lnTo>
                <a:lnTo>
                  <a:pt x="1607" y="313"/>
                </a:lnTo>
                <a:lnTo>
                  <a:pt x="1616" y="326"/>
                </a:lnTo>
                <a:lnTo>
                  <a:pt x="1625" y="340"/>
                </a:lnTo>
                <a:lnTo>
                  <a:pt x="1633" y="355"/>
                </a:lnTo>
                <a:lnTo>
                  <a:pt x="1640" y="370"/>
                </a:lnTo>
                <a:lnTo>
                  <a:pt x="1647" y="385"/>
                </a:lnTo>
                <a:lnTo>
                  <a:pt x="1651" y="403"/>
                </a:lnTo>
                <a:lnTo>
                  <a:pt x="1656" y="419"/>
                </a:lnTo>
                <a:lnTo>
                  <a:pt x="1661" y="438"/>
                </a:lnTo>
                <a:lnTo>
                  <a:pt x="1664" y="456"/>
                </a:lnTo>
                <a:lnTo>
                  <a:pt x="1667" y="474"/>
                </a:lnTo>
                <a:lnTo>
                  <a:pt x="1669" y="493"/>
                </a:lnTo>
                <a:lnTo>
                  <a:pt x="1671" y="512"/>
                </a:lnTo>
                <a:lnTo>
                  <a:pt x="1671" y="530"/>
                </a:lnTo>
                <a:lnTo>
                  <a:pt x="1672" y="550"/>
                </a:lnTo>
                <a:lnTo>
                  <a:pt x="1671" y="569"/>
                </a:lnTo>
                <a:lnTo>
                  <a:pt x="1671" y="588"/>
                </a:lnTo>
                <a:lnTo>
                  <a:pt x="1670" y="607"/>
                </a:lnTo>
                <a:lnTo>
                  <a:pt x="1668" y="626"/>
                </a:lnTo>
                <a:lnTo>
                  <a:pt x="1665" y="645"/>
                </a:lnTo>
                <a:lnTo>
                  <a:pt x="1663" y="662"/>
                </a:lnTo>
                <a:lnTo>
                  <a:pt x="1660" y="680"/>
                </a:lnTo>
                <a:lnTo>
                  <a:pt x="1656" y="697"/>
                </a:lnTo>
                <a:lnTo>
                  <a:pt x="1651" y="715"/>
                </a:lnTo>
                <a:lnTo>
                  <a:pt x="1648" y="731"/>
                </a:lnTo>
                <a:lnTo>
                  <a:pt x="1643" y="747"/>
                </a:lnTo>
                <a:lnTo>
                  <a:pt x="1637" y="762"/>
                </a:lnTo>
                <a:lnTo>
                  <a:pt x="1632" y="776"/>
                </a:lnTo>
                <a:lnTo>
                  <a:pt x="1626" y="790"/>
                </a:lnTo>
                <a:lnTo>
                  <a:pt x="1620" y="803"/>
                </a:lnTo>
                <a:lnTo>
                  <a:pt x="1614" y="814"/>
                </a:lnTo>
                <a:lnTo>
                  <a:pt x="1607" y="825"/>
                </a:lnTo>
                <a:lnTo>
                  <a:pt x="1600" y="834"/>
                </a:lnTo>
                <a:lnTo>
                  <a:pt x="1592" y="843"/>
                </a:lnTo>
                <a:lnTo>
                  <a:pt x="1584" y="852"/>
                </a:lnTo>
                <a:lnTo>
                  <a:pt x="1574" y="859"/>
                </a:lnTo>
                <a:lnTo>
                  <a:pt x="1564" y="867"/>
                </a:lnTo>
                <a:lnTo>
                  <a:pt x="1553" y="873"/>
                </a:lnTo>
                <a:lnTo>
                  <a:pt x="1543" y="879"/>
                </a:lnTo>
                <a:lnTo>
                  <a:pt x="1531" y="884"/>
                </a:lnTo>
                <a:lnTo>
                  <a:pt x="1518" y="890"/>
                </a:lnTo>
                <a:lnTo>
                  <a:pt x="1506" y="895"/>
                </a:lnTo>
                <a:lnTo>
                  <a:pt x="1493" y="898"/>
                </a:lnTo>
                <a:lnTo>
                  <a:pt x="1479" y="902"/>
                </a:lnTo>
                <a:lnTo>
                  <a:pt x="1465" y="905"/>
                </a:lnTo>
                <a:lnTo>
                  <a:pt x="1451" y="909"/>
                </a:lnTo>
                <a:lnTo>
                  <a:pt x="1436" y="912"/>
                </a:lnTo>
                <a:lnTo>
                  <a:pt x="1420" y="915"/>
                </a:lnTo>
                <a:lnTo>
                  <a:pt x="1390" y="919"/>
                </a:lnTo>
                <a:lnTo>
                  <a:pt x="1358" y="923"/>
                </a:lnTo>
                <a:lnTo>
                  <a:pt x="1326" y="926"/>
                </a:lnTo>
                <a:lnTo>
                  <a:pt x="1293" y="930"/>
                </a:lnTo>
                <a:lnTo>
                  <a:pt x="1259" y="932"/>
                </a:lnTo>
                <a:lnTo>
                  <a:pt x="1227" y="936"/>
                </a:lnTo>
                <a:lnTo>
                  <a:pt x="1194" y="939"/>
                </a:lnTo>
                <a:lnTo>
                  <a:pt x="1162" y="944"/>
                </a:lnTo>
                <a:lnTo>
                  <a:pt x="1146" y="946"/>
                </a:lnTo>
                <a:lnTo>
                  <a:pt x="1130" y="949"/>
                </a:lnTo>
                <a:lnTo>
                  <a:pt x="1112" y="950"/>
                </a:lnTo>
                <a:lnTo>
                  <a:pt x="1095" y="952"/>
                </a:lnTo>
                <a:lnTo>
                  <a:pt x="1077" y="954"/>
                </a:lnTo>
                <a:lnTo>
                  <a:pt x="1059" y="956"/>
                </a:lnTo>
                <a:lnTo>
                  <a:pt x="1041" y="958"/>
                </a:lnTo>
                <a:lnTo>
                  <a:pt x="1022" y="959"/>
                </a:lnTo>
                <a:lnTo>
                  <a:pt x="984" y="963"/>
                </a:lnTo>
                <a:lnTo>
                  <a:pt x="945" y="966"/>
                </a:lnTo>
                <a:lnTo>
                  <a:pt x="907" y="969"/>
                </a:lnTo>
                <a:lnTo>
                  <a:pt x="867" y="970"/>
                </a:lnTo>
                <a:lnTo>
                  <a:pt x="829" y="972"/>
                </a:lnTo>
                <a:lnTo>
                  <a:pt x="791" y="973"/>
                </a:lnTo>
                <a:lnTo>
                  <a:pt x="773" y="974"/>
                </a:lnTo>
                <a:lnTo>
                  <a:pt x="754" y="974"/>
                </a:lnTo>
                <a:lnTo>
                  <a:pt x="736" y="976"/>
                </a:lnTo>
                <a:lnTo>
                  <a:pt x="718" y="976"/>
                </a:lnTo>
                <a:lnTo>
                  <a:pt x="701" y="976"/>
                </a:lnTo>
                <a:lnTo>
                  <a:pt x="684" y="977"/>
                </a:lnTo>
                <a:lnTo>
                  <a:pt x="668" y="977"/>
                </a:lnTo>
                <a:lnTo>
                  <a:pt x="651" y="977"/>
                </a:lnTo>
                <a:lnTo>
                  <a:pt x="636" y="977"/>
                </a:lnTo>
                <a:lnTo>
                  <a:pt x="621" y="977"/>
                </a:lnTo>
                <a:lnTo>
                  <a:pt x="607" y="977"/>
                </a:lnTo>
                <a:lnTo>
                  <a:pt x="593" y="977"/>
                </a:lnTo>
                <a:lnTo>
                  <a:pt x="580" y="976"/>
                </a:lnTo>
                <a:lnTo>
                  <a:pt x="567" y="976"/>
                </a:lnTo>
                <a:lnTo>
                  <a:pt x="556" y="976"/>
                </a:lnTo>
                <a:lnTo>
                  <a:pt x="544" y="974"/>
                </a:lnTo>
                <a:lnTo>
                  <a:pt x="532" y="974"/>
                </a:lnTo>
                <a:lnTo>
                  <a:pt x="522" y="974"/>
                </a:lnTo>
                <a:lnTo>
                  <a:pt x="511" y="973"/>
                </a:lnTo>
                <a:lnTo>
                  <a:pt x="502" y="972"/>
                </a:lnTo>
                <a:lnTo>
                  <a:pt x="493" y="972"/>
                </a:lnTo>
                <a:lnTo>
                  <a:pt x="483" y="971"/>
                </a:lnTo>
                <a:lnTo>
                  <a:pt x="474" y="970"/>
                </a:lnTo>
                <a:lnTo>
                  <a:pt x="465" y="969"/>
                </a:lnTo>
                <a:lnTo>
                  <a:pt x="448" y="966"/>
                </a:lnTo>
                <a:lnTo>
                  <a:pt x="432" y="964"/>
                </a:lnTo>
                <a:lnTo>
                  <a:pt x="417" y="960"/>
                </a:lnTo>
                <a:lnTo>
                  <a:pt x="401" y="958"/>
                </a:lnTo>
                <a:lnTo>
                  <a:pt x="372" y="950"/>
                </a:lnTo>
                <a:lnTo>
                  <a:pt x="357" y="946"/>
                </a:lnTo>
                <a:lnTo>
                  <a:pt x="342" y="942"/>
                </a:lnTo>
                <a:lnTo>
                  <a:pt x="326" y="937"/>
                </a:lnTo>
                <a:lnTo>
                  <a:pt x="308" y="932"/>
                </a:lnTo>
                <a:lnTo>
                  <a:pt x="291" y="928"/>
                </a:lnTo>
                <a:lnTo>
                  <a:pt x="273" y="923"/>
                </a:lnTo>
                <a:lnTo>
                  <a:pt x="254" y="918"/>
                </a:lnTo>
                <a:lnTo>
                  <a:pt x="236" y="914"/>
                </a:lnTo>
                <a:lnTo>
                  <a:pt x="216" y="908"/>
                </a:lnTo>
                <a:lnTo>
                  <a:pt x="197" y="903"/>
                </a:lnTo>
                <a:lnTo>
                  <a:pt x="179" y="897"/>
                </a:lnTo>
                <a:lnTo>
                  <a:pt x="160" y="891"/>
                </a:lnTo>
                <a:lnTo>
                  <a:pt x="142" y="886"/>
                </a:lnTo>
                <a:lnTo>
                  <a:pt x="125" y="877"/>
                </a:lnTo>
                <a:lnTo>
                  <a:pt x="109" y="870"/>
                </a:lnTo>
                <a:lnTo>
                  <a:pt x="92" y="861"/>
                </a:lnTo>
                <a:lnTo>
                  <a:pt x="85" y="856"/>
                </a:lnTo>
                <a:lnTo>
                  <a:pt x="78" y="852"/>
                </a:lnTo>
                <a:lnTo>
                  <a:pt x="71" y="846"/>
                </a:lnTo>
                <a:lnTo>
                  <a:pt x="64" y="841"/>
                </a:lnTo>
                <a:lnTo>
                  <a:pt x="58" y="835"/>
                </a:lnTo>
                <a:lnTo>
                  <a:pt x="53" y="828"/>
                </a:lnTo>
                <a:lnTo>
                  <a:pt x="47" y="822"/>
                </a:lnTo>
                <a:lnTo>
                  <a:pt x="42" y="815"/>
                </a:lnTo>
                <a:lnTo>
                  <a:pt x="37" y="808"/>
                </a:lnTo>
                <a:lnTo>
                  <a:pt x="34" y="801"/>
                </a:lnTo>
                <a:lnTo>
                  <a:pt x="29" y="793"/>
                </a:lnTo>
                <a:lnTo>
                  <a:pt x="26" y="786"/>
                </a:lnTo>
                <a:lnTo>
                  <a:pt x="22" y="778"/>
                </a:lnTo>
                <a:lnTo>
                  <a:pt x="20" y="770"/>
                </a:lnTo>
                <a:lnTo>
                  <a:pt x="14" y="752"/>
                </a:lnTo>
                <a:lnTo>
                  <a:pt x="9" y="735"/>
                </a:lnTo>
                <a:lnTo>
                  <a:pt x="7" y="716"/>
                </a:lnTo>
                <a:lnTo>
                  <a:pt x="5" y="696"/>
                </a:lnTo>
                <a:lnTo>
                  <a:pt x="2" y="675"/>
                </a:lnTo>
                <a:lnTo>
                  <a:pt x="1" y="654"/>
                </a:lnTo>
                <a:lnTo>
                  <a:pt x="1" y="633"/>
                </a:lnTo>
                <a:lnTo>
                  <a:pt x="0" y="611"/>
                </a:lnTo>
                <a:lnTo>
                  <a:pt x="0" y="588"/>
                </a:lnTo>
                <a:lnTo>
                  <a:pt x="1" y="564"/>
                </a:lnTo>
                <a:lnTo>
                  <a:pt x="1" y="540"/>
                </a:lnTo>
                <a:lnTo>
                  <a:pt x="2" y="515"/>
                </a:lnTo>
                <a:lnTo>
                  <a:pt x="2" y="491"/>
                </a:lnTo>
                <a:lnTo>
                  <a:pt x="2" y="478"/>
                </a:lnTo>
                <a:lnTo>
                  <a:pt x="2" y="464"/>
                </a:lnTo>
                <a:lnTo>
                  <a:pt x="2" y="450"/>
                </a:lnTo>
                <a:lnTo>
                  <a:pt x="2" y="435"/>
                </a:lnTo>
                <a:lnTo>
                  <a:pt x="1" y="418"/>
                </a:lnTo>
                <a:lnTo>
                  <a:pt x="1" y="402"/>
                </a:lnTo>
                <a:lnTo>
                  <a:pt x="1" y="385"/>
                </a:lnTo>
                <a:lnTo>
                  <a:pt x="0" y="368"/>
                </a:lnTo>
                <a:lnTo>
                  <a:pt x="0" y="350"/>
                </a:lnTo>
                <a:lnTo>
                  <a:pt x="0" y="333"/>
                </a:lnTo>
                <a:lnTo>
                  <a:pt x="0" y="297"/>
                </a:lnTo>
                <a:lnTo>
                  <a:pt x="0" y="260"/>
                </a:lnTo>
                <a:lnTo>
                  <a:pt x="0" y="224"/>
                </a:lnTo>
                <a:lnTo>
                  <a:pt x="1" y="207"/>
                </a:lnTo>
                <a:lnTo>
                  <a:pt x="2" y="189"/>
                </a:lnTo>
                <a:lnTo>
                  <a:pt x="4" y="173"/>
                </a:lnTo>
                <a:lnTo>
                  <a:pt x="5" y="156"/>
                </a:lnTo>
                <a:lnTo>
                  <a:pt x="7" y="140"/>
                </a:lnTo>
                <a:lnTo>
                  <a:pt x="8" y="125"/>
                </a:lnTo>
                <a:lnTo>
                  <a:pt x="12" y="110"/>
                </a:lnTo>
                <a:lnTo>
                  <a:pt x="14" y="96"/>
                </a:lnTo>
                <a:lnTo>
                  <a:pt x="18" y="82"/>
                </a:lnTo>
                <a:lnTo>
                  <a:pt x="21" y="70"/>
                </a:lnTo>
                <a:lnTo>
                  <a:pt x="26" y="58"/>
                </a:lnTo>
                <a:lnTo>
                  <a:pt x="29" y="48"/>
                </a:lnTo>
                <a:lnTo>
                  <a:pt x="35" y="37"/>
                </a:lnTo>
                <a:lnTo>
                  <a:pt x="37" y="34"/>
                </a:lnTo>
                <a:lnTo>
                  <a:pt x="41" y="29"/>
                </a:lnTo>
                <a:lnTo>
                  <a:pt x="43" y="26"/>
                </a:lnTo>
                <a:lnTo>
                  <a:pt x="47" y="22"/>
                </a:lnTo>
                <a:lnTo>
                  <a:pt x="50" y="19"/>
                </a:lnTo>
                <a:lnTo>
                  <a:pt x="54" y="16"/>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grpSp>
        <p:nvGrpSpPr>
          <p:cNvPr id="163853" name="Group 3"/>
          <p:cNvGrpSpPr>
            <a:grpSpLocks/>
          </p:cNvGrpSpPr>
          <p:nvPr/>
        </p:nvGrpSpPr>
        <p:grpSpPr bwMode="auto">
          <a:xfrm>
            <a:off x="4048125" y="4906963"/>
            <a:ext cx="441325" cy="1095375"/>
            <a:chOff x="4048125" y="4787151"/>
            <a:chExt cx="441325" cy="1095375"/>
          </a:xfrm>
        </p:grpSpPr>
        <p:sp>
          <p:nvSpPr>
            <p:cNvPr id="163973" name="Freeform 83"/>
            <p:cNvSpPr>
              <a:spLocks/>
            </p:cNvSpPr>
            <p:nvPr/>
          </p:nvSpPr>
          <p:spPr bwMode="auto">
            <a:xfrm>
              <a:off x="4092575" y="4868114"/>
              <a:ext cx="219075" cy="1012825"/>
            </a:xfrm>
            <a:custGeom>
              <a:avLst/>
              <a:gdLst>
                <a:gd name="T0" fmla="*/ 0 w 138"/>
                <a:gd name="T1" fmla="*/ 2147483647 h 638"/>
                <a:gd name="T2" fmla="*/ 2147483647 w 138"/>
                <a:gd name="T3" fmla="*/ 2147483647 h 638"/>
                <a:gd name="T4" fmla="*/ 2147483647 w 138"/>
                <a:gd name="T5" fmla="*/ 2147483647 h 638"/>
                <a:gd name="T6" fmla="*/ 2147483647 w 138"/>
                <a:gd name="T7" fmla="*/ 2147483647 h 638"/>
                <a:gd name="T8" fmla="*/ 0 w 138"/>
                <a:gd name="T9" fmla="*/ 0 h 638"/>
                <a:gd name="T10" fmla="*/ 0 w 138"/>
                <a:gd name="T11" fmla="*/ 2147483647 h 638"/>
                <a:gd name="T12" fmla="*/ 0 60000 65536"/>
                <a:gd name="T13" fmla="*/ 0 60000 65536"/>
                <a:gd name="T14" fmla="*/ 0 60000 65536"/>
                <a:gd name="T15" fmla="*/ 0 60000 65536"/>
                <a:gd name="T16" fmla="*/ 0 60000 65536"/>
                <a:gd name="T17" fmla="*/ 0 60000 65536"/>
                <a:gd name="T18" fmla="*/ 0 w 138"/>
                <a:gd name="T19" fmla="*/ 0 h 638"/>
                <a:gd name="T20" fmla="*/ 138 w 138"/>
                <a:gd name="T21" fmla="*/ 638 h 638"/>
              </a:gdLst>
              <a:ahLst/>
              <a:cxnLst>
                <a:cxn ang="T12">
                  <a:pos x="T0" y="T1"/>
                </a:cxn>
                <a:cxn ang="T13">
                  <a:pos x="T2" y="T3"/>
                </a:cxn>
                <a:cxn ang="T14">
                  <a:pos x="T4" y="T5"/>
                </a:cxn>
                <a:cxn ang="T15">
                  <a:pos x="T6" y="T7"/>
                </a:cxn>
                <a:cxn ang="T16">
                  <a:pos x="T8" y="T9"/>
                </a:cxn>
                <a:cxn ang="T17">
                  <a:pos x="T10" y="T11"/>
                </a:cxn>
              </a:cxnLst>
              <a:rect l="T18" t="T19" r="T20" b="T21"/>
              <a:pathLst>
                <a:path w="138" h="638">
                  <a:moveTo>
                    <a:pt x="0" y="485"/>
                  </a:moveTo>
                  <a:lnTo>
                    <a:pt x="138" y="638"/>
                  </a:lnTo>
                  <a:lnTo>
                    <a:pt x="138" y="77"/>
                  </a:lnTo>
                  <a:lnTo>
                    <a:pt x="116" y="49"/>
                  </a:lnTo>
                  <a:lnTo>
                    <a:pt x="0" y="0"/>
                  </a:lnTo>
                  <a:lnTo>
                    <a:pt x="0" y="48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3974" name="Rectangle 82"/>
            <p:cNvSpPr>
              <a:spLocks noChangeArrowheads="1"/>
            </p:cNvSpPr>
            <p:nvPr/>
          </p:nvSpPr>
          <p:spPr bwMode="auto">
            <a:xfrm>
              <a:off x="4311650" y="4982414"/>
              <a:ext cx="133350" cy="900112"/>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75" name="Freeform 84"/>
            <p:cNvSpPr>
              <a:spLocks/>
            </p:cNvSpPr>
            <p:nvPr/>
          </p:nvSpPr>
          <p:spPr bwMode="auto">
            <a:xfrm>
              <a:off x="4306888" y="4982414"/>
              <a:ext cx="136525" cy="101600"/>
            </a:xfrm>
            <a:custGeom>
              <a:avLst/>
              <a:gdLst>
                <a:gd name="T0" fmla="*/ 0 w 86"/>
                <a:gd name="T1" fmla="*/ 0 h 64"/>
                <a:gd name="T2" fmla="*/ 2147483647 w 86"/>
                <a:gd name="T3" fmla="*/ 0 h 64"/>
                <a:gd name="T4" fmla="*/ 2147483647 w 86"/>
                <a:gd name="T5" fmla="*/ 2147483647 h 64"/>
                <a:gd name="T6" fmla="*/ 0 w 86"/>
                <a:gd name="T7" fmla="*/ 2147483647 h 64"/>
                <a:gd name="T8" fmla="*/ 0 w 86"/>
                <a:gd name="T9" fmla="*/ 0 h 64"/>
                <a:gd name="T10" fmla="*/ 0 60000 65536"/>
                <a:gd name="T11" fmla="*/ 0 60000 65536"/>
                <a:gd name="T12" fmla="*/ 0 60000 65536"/>
                <a:gd name="T13" fmla="*/ 0 60000 65536"/>
                <a:gd name="T14" fmla="*/ 0 60000 65536"/>
                <a:gd name="T15" fmla="*/ 0 w 86"/>
                <a:gd name="T16" fmla="*/ 0 h 64"/>
                <a:gd name="T17" fmla="*/ 86 w 86"/>
                <a:gd name="T18" fmla="*/ 64 h 64"/>
              </a:gdLst>
              <a:ahLst/>
              <a:cxnLst>
                <a:cxn ang="T10">
                  <a:pos x="T0" y="T1"/>
                </a:cxn>
                <a:cxn ang="T11">
                  <a:pos x="T2" y="T3"/>
                </a:cxn>
                <a:cxn ang="T12">
                  <a:pos x="T4" y="T5"/>
                </a:cxn>
                <a:cxn ang="T13">
                  <a:pos x="T6" y="T7"/>
                </a:cxn>
                <a:cxn ang="T14">
                  <a:pos x="T8" y="T9"/>
                </a:cxn>
              </a:cxnLst>
              <a:rect l="T15" t="T16" r="T17" b="T18"/>
              <a:pathLst>
                <a:path w="86" h="64">
                  <a:moveTo>
                    <a:pt x="0" y="0"/>
                  </a:moveTo>
                  <a:lnTo>
                    <a:pt x="86" y="0"/>
                  </a:lnTo>
                  <a:lnTo>
                    <a:pt x="86" y="64"/>
                  </a:lnTo>
                  <a:lnTo>
                    <a:pt x="0" y="3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3976" name="Rectangle 85"/>
            <p:cNvSpPr>
              <a:spLocks noChangeArrowheads="1"/>
            </p:cNvSpPr>
            <p:nvPr/>
          </p:nvSpPr>
          <p:spPr bwMode="auto">
            <a:xfrm>
              <a:off x="4311650" y="5114176"/>
              <a:ext cx="65088" cy="52388"/>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77" name="Rectangle 86"/>
            <p:cNvSpPr>
              <a:spLocks noChangeArrowheads="1"/>
            </p:cNvSpPr>
            <p:nvPr/>
          </p:nvSpPr>
          <p:spPr bwMode="auto">
            <a:xfrm>
              <a:off x="4379913" y="5112589"/>
              <a:ext cx="68262" cy="53975"/>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78" name="Rectangle 87"/>
            <p:cNvSpPr>
              <a:spLocks noChangeArrowheads="1"/>
            </p:cNvSpPr>
            <p:nvPr/>
          </p:nvSpPr>
          <p:spPr bwMode="auto">
            <a:xfrm>
              <a:off x="4344988" y="5053851"/>
              <a:ext cx="68262" cy="50800"/>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79" name="Rectangle 88"/>
            <p:cNvSpPr>
              <a:spLocks noChangeArrowheads="1"/>
            </p:cNvSpPr>
            <p:nvPr/>
          </p:nvSpPr>
          <p:spPr bwMode="auto">
            <a:xfrm>
              <a:off x="4414838" y="5053851"/>
              <a:ext cx="33337"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80" name="Rectangle 89"/>
            <p:cNvSpPr>
              <a:spLocks noChangeArrowheads="1"/>
            </p:cNvSpPr>
            <p:nvPr/>
          </p:nvSpPr>
          <p:spPr bwMode="auto">
            <a:xfrm>
              <a:off x="4305300" y="5053851"/>
              <a:ext cx="34925"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81" name="Rectangle 90"/>
            <p:cNvSpPr>
              <a:spLocks noChangeArrowheads="1"/>
            </p:cNvSpPr>
            <p:nvPr/>
          </p:nvSpPr>
          <p:spPr bwMode="auto">
            <a:xfrm>
              <a:off x="4310063" y="4991939"/>
              <a:ext cx="68262" cy="53975"/>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82" name="Rectangle 91"/>
            <p:cNvSpPr>
              <a:spLocks noChangeArrowheads="1"/>
            </p:cNvSpPr>
            <p:nvPr/>
          </p:nvSpPr>
          <p:spPr bwMode="auto">
            <a:xfrm>
              <a:off x="4381500" y="4993526"/>
              <a:ext cx="68263" cy="52388"/>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83" name="Rectangle 92"/>
            <p:cNvSpPr>
              <a:spLocks noChangeArrowheads="1"/>
            </p:cNvSpPr>
            <p:nvPr/>
          </p:nvSpPr>
          <p:spPr bwMode="auto">
            <a:xfrm>
              <a:off x="4310063" y="5233239"/>
              <a:ext cx="63500" cy="52387"/>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84" name="Rectangle 93"/>
            <p:cNvSpPr>
              <a:spLocks noChangeArrowheads="1"/>
            </p:cNvSpPr>
            <p:nvPr/>
          </p:nvSpPr>
          <p:spPr bwMode="auto">
            <a:xfrm>
              <a:off x="4379913" y="5233239"/>
              <a:ext cx="66675" cy="52387"/>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85" name="Rectangle 94"/>
            <p:cNvSpPr>
              <a:spLocks noChangeArrowheads="1"/>
            </p:cNvSpPr>
            <p:nvPr/>
          </p:nvSpPr>
          <p:spPr bwMode="auto">
            <a:xfrm>
              <a:off x="4344988" y="5172914"/>
              <a:ext cx="66675" cy="50800"/>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86" name="Rectangle 95"/>
            <p:cNvSpPr>
              <a:spLocks noChangeArrowheads="1"/>
            </p:cNvSpPr>
            <p:nvPr/>
          </p:nvSpPr>
          <p:spPr bwMode="auto">
            <a:xfrm>
              <a:off x="4413250" y="5172914"/>
              <a:ext cx="34925"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87" name="Rectangle 96"/>
            <p:cNvSpPr>
              <a:spLocks noChangeArrowheads="1"/>
            </p:cNvSpPr>
            <p:nvPr/>
          </p:nvSpPr>
          <p:spPr bwMode="auto">
            <a:xfrm>
              <a:off x="4311650" y="5172914"/>
              <a:ext cx="26988"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88" name="Rectangle 97"/>
            <p:cNvSpPr>
              <a:spLocks noChangeArrowheads="1"/>
            </p:cNvSpPr>
            <p:nvPr/>
          </p:nvSpPr>
          <p:spPr bwMode="auto">
            <a:xfrm>
              <a:off x="4310063" y="5349126"/>
              <a:ext cx="63500" cy="52388"/>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89" name="Rectangle 98"/>
            <p:cNvSpPr>
              <a:spLocks noChangeArrowheads="1"/>
            </p:cNvSpPr>
            <p:nvPr/>
          </p:nvSpPr>
          <p:spPr bwMode="auto">
            <a:xfrm>
              <a:off x="4379913" y="5349126"/>
              <a:ext cx="66675" cy="52388"/>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90" name="Rectangle 99"/>
            <p:cNvSpPr>
              <a:spLocks noChangeArrowheads="1"/>
            </p:cNvSpPr>
            <p:nvPr/>
          </p:nvSpPr>
          <p:spPr bwMode="auto">
            <a:xfrm>
              <a:off x="4344988" y="5290389"/>
              <a:ext cx="66675"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91" name="Rectangle 100"/>
            <p:cNvSpPr>
              <a:spLocks noChangeArrowheads="1"/>
            </p:cNvSpPr>
            <p:nvPr/>
          </p:nvSpPr>
          <p:spPr bwMode="auto">
            <a:xfrm>
              <a:off x="4413250" y="5290389"/>
              <a:ext cx="34925" cy="50800"/>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92" name="Rectangle 101"/>
            <p:cNvSpPr>
              <a:spLocks noChangeArrowheads="1"/>
            </p:cNvSpPr>
            <p:nvPr/>
          </p:nvSpPr>
          <p:spPr bwMode="auto">
            <a:xfrm>
              <a:off x="4310063" y="5290389"/>
              <a:ext cx="28575"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93" name="Rectangle 102"/>
            <p:cNvSpPr>
              <a:spLocks noChangeArrowheads="1"/>
            </p:cNvSpPr>
            <p:nvPr/>
          </p:nvSpPr>
          <p:spPr bwMode="auto">
            <a:xfrm>
              <a:off x="4310063" y="5469776"/>
              <a:ext cx="63500" cy="52388"/>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94" name="Rectangle 103"/>
            <p:cNvSpPr>
              <a:spLocks noChangeArrowheads="1"/>
            </p:cNvSpPr>
            <p:nvPr/>
          </p:nvSpPr>
          <p:spPr bwMode="auto">
            <a:xfrm>
              <a:off x="4379913" y="5469776"/>
              <a:ext cx="66675" cy="52388"/>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95" name="Rectangle 104"/>
            <p:cNvSpPr>
              <a:spLocks noChangeArrowheads="1"/>
            </p:cNvSpPr>
            <p:nvPr/>
          </p:nvSpPr>
          <p:spPr bwMode="auto">
            <a:xfrm>
              <a:off x="4343400" y="5409451"/>
              <a:ext cx="68263" cy="52388"/>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96" name="Rectangle 105"/>
            <p:cNvSpPr>
              <a:spLocks noChangeArrowheads="1"/>
            </p:cNvSpPr>
            <p:nvPr/>
          </p:nvSpPr>
          <p:spPr bwMode="auto">
            <a:xfrm>
              <a:off x="4413250" y="5409451"/>
              <a:ext cx="33338" cy="52388"/>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97" name="Rectangle 106"/>
            <p:cNvSpPr>
              <a:spLocks noChangeArrowheads="1"/>
            </p:cNvSpPr>
            <p:nvPr/>
          </p:nvSpPr>
          <p:spPr bwMode="auto">
            <a:xfrm>
              <a:off x="4311650" y="5409451"/>
              <a:ext cx="26988" cy="52388"/>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98" name="Rectangle 107"/>
            <p:cNvSpPr>
              <a:spLocks noChangeArrowheads="1"/>
            </p:cNvSpPr>
            <p:nvPr/>
          </p:nvSpPr>
          <p:spPr bwMode="auto">
            <a:xfrm>
              <a:off x="4310063" y="5588839"/>
              <a:ext cx="66675"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999" name="Rectangle 108"/>
            <p:cNvSpPr>
              <a:spLocks noChangeArrowheads="1"/>
            </p:cNvSpPr>
            <p:nvPr/>
          </p:nvSpPr>
          <p:spPr bwMode="auto">
            <a:xfrm>
              <a:off x="4379913" y="5587251"/>
              <a:ext cx="68262" cy="53975"/>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00" name="Rectangle 109"/>
            <p:cNvSpPr>
              <a:spLocks noChangeArrowheads="1"/>
            </p:cNvSpPr>
            <p:nvPr/>
          </p:nvSpPr>
          <p:spPr bwMode="auto">
            <a:xfrm>
              <a:off x="4344988" y="5528514"/>
              <a:ext cx="68262"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01" name="Rectangle 110"/>
            <p:cNvSpPr>
              <a:spLocks noChangeArrowheads="1"/>
            </p:cNvSpPr>
            <p:nvPr/>
          </p:nvSpPr>
          <p:spPr bwMode="auto">
            <a:xfrm>
              <a:off x="4414838" y="5528514"/>
              <a:ext cx="33337"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02" name="Rectangle 111"/>
            <p:cNvSpPr>
              <a:spLocks noChangeArrowheads="1"/>
            </p:cNvSpPr>
            <p:nvPr/>
          </p:nvSpPr>
          <p:spPr bwMode="auto">
            <a:xfrm>
              <a:off x="4310063" y="5707901"/>
              <a:ext cx="63500" cy="52388"/>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03" name="Rectangle 112"/>
            <p:cNvSpPr>
              <a:spLocks noChangeArrowheads="1"/>
            </p:cNvSpPr>
            <p:nvPr/>
          </p:nvSpPr>
          <p:spPr bwMode="auto">
            <a:xfrm>
              <a:off x="4379913" y="5707901"/>
              <a:ext cx="66675" cy="52388"/>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04" name="Rectangle 113"/>
            <p:cNvSpPr>
              <a:spLocks noChangeArrowheads="1"/>
            </p:cNvSpPr>
            <p:nvPr/>
          </p:nvSpPr>
          <p:spPr bwMode="auto">
            <a:xfrm>
              <a:off x="4344988" y="5649164"/>
              <a:ext cx="66675" cy="49212"/>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05" name="Rectangle 114"/>
            <p:cNvSpPr>
              <a:spLocks noChangeArrowheads="1"/>
            </p:cNvSpPr>
            <p:nvPr/>
          </p:nvSpPr>
          <p:spPr bwMode="auto">
            <a:xfrm>
              <a:off x="4413250" y="5645989"/>
              <a:ext cx="34925" cy="52387"/>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06" name="Rectangle 115"/>
            <p:cNvSpPr>
              <a:spLocks noChangeArrowheads="1"/>
            </p:cNvSpPr>
            <p:nvPr/>
          </p:nvSpPr>
          <p:spPr bwMode="auto">
            <a:xfrm>
              <a:off x="4311650" y="5645989"/>
              <a:ext cx="26988" cy="52387"/>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07" name="Rectangle 116"/>
            <p:cNvSpPr>
              <a:spLocks noChangeArrowheads="1"/>
            </p:cNvSpPr>
            <p:nvPr/>
          </p:nvSpPr>
          <p:spPr bwMode="auto">
            <a:xfrm>
              <a:off x="4310063" y="5825376"/>
              <a:ext cx="63500"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08" name="Rectangle 117"/>
            <p:cNvSpPr>
              <a:spLocks noChangeArrowheads="1"/>
            </p:cNvSpPr>
            <p:nvPr/>
          </p:nvSpPr>
          <p:spPr bwMode="auto">
            <a:xfrm>
              <a:off x="4379913" y="5825376"/>
              <a:ext cx="66675" cy="50800"/>
            </a:xfrm>
            <a:prstGeom prst="rect">
              <a:avLst/>
            </a:prstGeom>
            <a:solidFill>
              <a:srgbClr val="4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09" name="Rectangle 118"/>
            <p:cNvSpPr>
              <a:spLocks noChangeArrowheads="1"/>
            </p:cNvSpPr>
            <p:nvPr/>
          </p:nvSpPr>
          <p:spPr bwMode="auto">
            <a:xfrm>
              <a:off x="4344988" y="5765051"/>
              <a:ext cx="66675" cy="50800"/>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10" name="Rectangle 119"/>
            <p:cNvSpPr>
              <a:spLocks noChangeArrowheads="1"/>
            </p:cNvSpPr>
            <p:nvPr/>
          </p:nvSpPr>
          <p:spPr bwMode="auto">
            <a:xfrm>
              <a:off x="4413250" y="5765051"/>
              <a:ext cx="34925"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11" name="Rectangle 120"/>
            <p:cNvSpPr>
              <a:spLocks noChangeArrowheads="1"/>
            </p:cNvSpPr>
            <p:nvPr/>
          </p:nvSpPr>
          <p:spPr bwMode="auto">
            <a:xfrm>
              <a:off x="4310063" y="5765051"/>
              <a:ext cx="28575" cy="50800"/>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12" name="Freeform 121"/>
            <p:cNvSpPr>
              <a:spLocks/>
            </p:cNvSpPr>
            <p:nvPr/>
          </p:nvSpPr>
          <p:spPr bwMode="auto">
            <a:xfrm>
              <a:off x="4292600" y="5807914"/>
              <a:ext cx="19050" cy="65087"/>
            </a:xfrm>
            <a:custGeom>
              <a:avLst/>
              <a:gdLst>
                <a:gd name="T0" fmla="*/ 2147483647 w 12"/>
                <a:gd name="T1" fmla="*/ 2147483647 h 41"/>
                <a:gd name="T2" fmla="*/ 2147483647 w 12"/>
                <a:gd name="T3" fmla="*/ 2147483647 h 41"/>
                <a:gd name="T4" fmla="*/ 0 w 12"/>
                <a:gd name="T5" fmla="*/ 2147483647 h 41"/>
                <a:gd name="T6" fmla="*/ 0 w 12"/>
                <a:gd name="T7" fmla="*/ 0 h 41"/>
                <a:gd name="T8" fmla="*/ 2147483647 w 12"/>
                <a:gd name="T9" fmla="*/ 2147483647 h 41"/>
                <a:gd name="T10" fmla="*/ 0 60000 65536"/>
                <a:gd name="T11" fmla="*/ 0 60000 65536"/>
                <a:gd name="T12" fmla="*/ 0 60000 65536"/>
                <a:gd name="T13" fmla="*/ 0 60000 65536"/>
                <a:gd name="T14" fmla="*/ 0 60000 65536"/>
                <a:gd name="T15" fmla="*/ 0 w 12"/>
                <a:gd name="T16" fmla="*/ 0 h 41"/>
                <a:gd name="T17" fmla="*/ 12 w 12"/>
                <a:gd name="T18" fmla="*/ 41 h 41"/>
              </a:gdLst>
              <a:ahLst/>
              <a:cxnLst>
                <a:cxn ang="T10">
                  <a:pos x="T0" y="T1"/>
                </a:cxn>
                <a:cxn ang="T11">
                  <a:pos x="T2" y="T3"/>
                </a:cxn>
                <a:cxn ang="T12">
                  <a:pos x="T4" y="T5"/>
                </a:cxn>
                <a:cxn ang="T13">
                  <a:pos x="T6" y="T7"/>
                </a:cxn>
                <a:cxn ang="T14">
                  <a:pos x="T8" y="T9"/>
                </a:cxn>
              </a:cxnLst>
              <a:rect l="T15" t="T16" r="T17" b="T18"/>
              <a:pathLst>
                <a:path w="12" h="41">
                  <a:moveTo>
                    <a:pt x="12" y="11"/>
                  </a:moveTo>
                  <a:lnTo>
                    <a:pt x="12" y="41"/>
                  </a:lnTo>
                  <a:lnTo>
                    <a:pt x="0" y="29"/>
                  </a:lnTo>
                  <a:lnTo>
                    <a:pt x="0" y="0"/>
                  </a:lnTo>
                  <a:lnTo>
                    <a:pt x="12" y="1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13" name="Freeform 122"/>
            <p:cNvSpPr>
              <a:spLocks/>
            </p:cNvSpPr>
            <p:nvPr/>
          </p:nvSpPr>
          <p:spPr bwMode="auto">
            <a:xfrm>
              <a:off x="4233863" y="5741239"/>
              <a:ext cx="55562" cy="111125"/>
            </a:xfrm>
            <a:custGeom>
              <a:avLst/>
              <a:gdLst>
                <a:gd name="T0" fmla="*/ 2147483647 w 35"/>
                <a:gd name="T1" fmla="*/ 2147483647 h 70"/>
                <a:gd name="T2" fmla="*/ 2147483647 w 35"/>
                <a:gd name="T3" fmla="*/ 2147483647 h 70"/>
                <a:gd name="T4" fmla="*/ 0 w 35"/>
                <a:gd name="T5" fmla="*/ 2147483647 h 70"/>
                <a:gd name="T6" fmla="*/ 0 w 35"/>
                <a:gd name="T7" fmla="*/ 0 h 70"/>
                <a:gd name="T8" fmla="*/ 2147483647 w 35"/>
                <a:gd name="T9" fmla="*/ 2147483647 h 70"/>
                <a:gd name="T10" fmla="*/ 0 60000 65536"/>
                <a:gd name="T11" fmla="*/ 0 60000 65536"/>
                <a:gd name="T12" fmla="*/ 0 60000 65536"/>
                <a:gd name="T13" fmla="*/ 0 60000 65536"/>
                <a:gd name="T14" fmla="*/ 0 60000 65536"/>
                <a:gd name="T15" fmla="*/ 0 w 35"/>
                <a:gd name="T16" fmla="*/ 0 h 70"/>
                <a:gd name="T17" fmla="*/ 35 w 35"/>
                <a:gd name="T18" fmla="*/ 70 h 70"/>
              </a:gdLst>
              <a:ahLst/>
              <a:cxnLst>
                <a:cxn ang="T10">
                  <a:pos x="T0" y="T1"/>
                </a:cxn>
                <a:cxn ang="T11">
                  <a:pos x="T2" y="T3"/>
                </a:cxn>
                <a:cxn ang="T12">
                  <a:pos x="T4" y="T5"/>
                </a:cxn>
                <a:cxn ang="T13">
                  <a:pos x="T6" y="T7"/>
                </a:cxn>
                <a:cxn ang="T14">
                  <a:pos x="T8" y="T9"/>
                </a:cxn>
              </a:cxnLst>
              <a:rect l="T15" t="T16" r="T17" b="T18"/>
              <a:pathLst>
                <a:path w="35" h="70">
                  <a:moveTo>
                    <a:pt x="35" y="40"/>
                  </a:moveTo>
                  <a:lnTo>
                    <a:pt x="35" y="70"/>
                  </a:lnTo>
                  <a:lnTo>
                    <a:pt x="0" y="30"/>
                  </a:lnTo>
                  <a:lnTo>
                    <a:pt x="0" y="0"/>
                  </a:lnTo>
                  <a:lnTo>
                    <a:pt x="35" y="40"/>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14" name="Freeform 123"/>
            <p:cNvSpPr>
              <a:spLocks/>
            </p:cNvSpPr>
            <p:nvPr/>
          </p:nvSpPr>
          <p:spPr bwMode="auto">
            <a:xfrm>
              <a:off x="4176713" y="5679326"/>
              <a:ext cx="55562" cy="106363"/>
            </a:xfrm>
            <a:custGeom>
              <a:avLst/>
              <a:gdLst>
                <a:gd name="T0" fmla="*/ 2147483647 w 35"/>
                <a:gd name="T1" fmla="*/ 2147483647 h 67"/>
                <a:gd name="T2" fmla="*/ 2147483647 w 35"/>
                <a:gd name="T3" fmla="*/ 2147483647 h 67"/>
                <a:gd name="T4" fmla="*/ 0 w 35"/>
                <a:gd name="T5" fmla="*/ 2147483647 h 67"/>
                <a:gd name="T6" fmla="*/ 0 w 35"/>
                <a:gd name="T7" fmla="*/ 0 h 67"/>
                <a:gd name="T8" fmla="*/ 2147483647 w 35"/>
                <a:gd name="T9" fmla="*/ 2147483647 h 67"/>
                <a:gd name="T10" fmla="*/ 0 60000 65536"/>
                <a:gd name="T11" fmla="*/ 0 60000 65536"/>
                <a:gd name="T12" fmla="*/ 0 60000 65536"/>
                <a:gd name="T13" fmla="*/ 0 60000 65536"/>
                <a:gd name="T14" fmla="*/ 0 60000 65536"/>
                <a:gd name="T15" fmla="*/ 0 w 35"/>
                <a:gd name="T16" fmla="*/ 0 h 67"/>
                <a:gd name="T17" fmla="*/ 35 w 35"/>
                <a:gd name="T18" fmla="*/ 67 h 67"/>
              </a:gdLst>
              <a:ahLst/>
              <a:cxnLst>
                <a:cxn ang="T10">
                  <a:pos x="T0" y="T1"/>
                </a:cxn>
                <a:cxn ang="T11">
                  <a:pos x="T2" y="T3"/>
                </a:cxn>
                <a:cxn ang="T12">
                  <a:pos x="T4" y="T5"/>
                </a:cxn>
                <a:cxn ang="T13">
                  <a:pos x="T6" y="T7"/>
                </a:cxn>
                <a:cxn ang="T14">
                  <a:pos x="T8" y="T9"/>
                </a:cxn>
              </a:cxnLst>
              <a:rect l="T15" t="T16" r="T17" b="T18"/>
              <a:pathLst>
                <a:path w="35" h="67">
                  <a:moveTo>
                    <a:pt x="35" y="39"/>
                  </a:moveTo>
                  <a:lnTo>
                    <a:pt x="35" y="67"/>
                  </a:lnTo>
                  <a:lnTo>
                    <a:pt x="0" y="28"/>
                  </a:lnTo>
                  <a:lnTo>
                    <a:pt x="0" y="0"/>
                  </a:lnTo>
                  <a:lnTo>
                    <a:pt x="35" y="3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15" name="Freeform 124"/>
            <p:cNvSpPr>
              <a:spLocks/>
            </p:cNvSpPr>
            <p:nvPr/>
          </p:nvSpPr>
          <p:spPr bwMode="auto">
            <a:xfrm>
              <a:off x="4117975" y="5617414"/>
              <a:ext cx="53975" cy="103187"/>
            </a:xfrm>
            <a:custGeom>
              <a:avLst/>
              <a:gdLst>
                <a:gd name="T0" fmla="*/ 2147483647 w 34"/>
                <a:gd name="T1" fmla="*/ 2147483647 h 65"/>
                <a:gd name="T2" fmla="*/ 2147483647 w 34"/>
                <a:gd name="T3" fmla="*/ 2147483647 h 65"/>
                <a:gd name="T4" fmla="*/ 0 w 34"/>
                <a:gd name="T5" fmla="*/ 2147483647 h 65"/>
                <a:gd name="T6" fmla="*/ 0 w 34"/>
                <a:gd name="T7" fmla="*/ 0 h 65"/>
                <a:gd name="T8" fmla="*/ 2147483647 w 34"/>
                <a:gd name="T9" fmla="*/ 2147483647 h 65"/>
                <a:gd name="T10" fmla="*/ 0 60000 65536"/>
                <a:gd name="T11" fmla="*/ 0 60000 65536"/>
                <a:gd name="T12" fmla="*/ 0 60000 65536"/>
                <a:gd name="T13" fmla="*/ 0 60000 65536"/>
                <a:gd name="T14" fmla="*/ 0 60000 65536"/>
                <a:gd name="T15" fmla="*/ 0 w 34"/>
                <a:gd name="T16" fmla="*/ 0 h 65"/>
                <a:gd name="T17" fmla="*/ 34 w 34"/>
                <a:gd name="T18" fmla="*/ 65 h 65"/>
              </a:gdLst>
              <a:ahLst/>
              <a:cxnLst>
                <a:cxn ang="T10">
                  <a:pos x="T0" y="T1"/>
                </a:cxn>
                <a:cxn ang="T11">
                  <a:pos x="T2" y="T3"/>
                </a:cxn>
                <a:cxn ang="T12">
                  <a:pos x="T4" y="T5"/>
                </a:cxn>
                <a:cxn ang="T13">
                  <a:pos x="T6" y="T7"/>
                </a:cxn>
                <a:cxn ang="T14">
                  <a:pos x="T8" y="T9"/>
                </a:cxn>
              </a:cxnLst>
              <a:rect l="T15" t="T16" r="T17" b="T18"/>
              <a:pathLst>
                <a:path w="34" h="65">
                  <a:moveTo>
                    <a:pt x="34" y="37"/>
                  </a:moveTo>
                  <a:lnTo>
                    <a:pt x="34" y="65"/>
                  </a:lnTo>
                  <a:lnTo>
                    <a:pt x="0" y="28"/>
                  </a:lnTo>
                  <a:lnTo>
                    <a:pt x="0" y="0"/>
                  </a:lnTo>
                  <a:lnTo>
                    <a:pt x="34" y="37"/>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16" name="Freeform 125"/>
            <p:cNvSpPr>
              <a:spLocks/>
            </p:cNvSpPr>
            <p:nvPr/>
          </p:nvSpPr>
          <p:spPr bwMode="auto">
            <a:xfrm>
              <a:off x="4087813" y="5584076"/>
              <a:ext cx="26987" cy="73025"/>
            </a:xfrm>
            <a:custGeom>
              <a:avLst/>
              <a:gdLst>
                <a:gd name="T0" fmla="*/ 2147483647 w 17"/>
                <a:gd name="T1" fmla="*/ 2147483647 h 46"/>
                <a:gd name="T2" fmla="*/ 2147483647 w 17"/>
                <a:gd name="T3" fmla="*/ 2147483647 h 46"/>
                <a:gd name="T4" fmla="*/ 0 w 17"/>
                <a:gd name="T5" fmla="*/ 2147483647 h 46"/>
                <a:gd name="T6" fmla="*/ 0 w 17"/>
                <a:gd name="T7" fmla="*/ 0 h 46"/>
                <a:gd name="T8" fmla="*/ 2147483647 w 17"/>
                <a:gd name="T9" fmla="*/ 2147483647 h 46"/>
                <a:gd name="T10" fmla="*/ 0 60000 65536"/>
                <a:gd name="T11" fmla="*/ 0 60000 65536"/>
                <a:gd name="T12" fmla="*/ 0 60000 65536"/>
                <a:gd name="T13" fmla="*/ 0 60000 65536"/>
                <a:gd name="T14" fmla="*/ 0 60000 65536"/>
                <a:gd name="T15" fmla="*/ 0 w 17"/>
                <a:gd name="T16" fmla="*/ 0 h 46"/>
                <a:gd name="T17" fmla="*/ 17 w 17"/>
                <a:gd name="T18" fmla="*/ 46 h 46"/>
              </a:gdLst>
              <a:ahLst/>
              <a:cxnLst>
                <a:cxn ang="T10">
                  <a:pos x="T0" y="T1"/>
                </a:cxn>
                <a:cxn ang="T11">
                  <a:pos x="T2" y="T3"/>
                </a:cxn>
                <a:cxn ang="T12">
                  <a:pos x="T4" y="T5"/>
                </a:cxn>
                <a:cxn ang="T13">
                  <a:pos x="T6" y="T7"/>
                </a:cxn>
                <a:cxn ang="T14">
                  <a:pos x="T8" y="T9"/>
                </a:cxn>
              </a:cxnLst>
              <a:rect l="T15" t="T16" r="T17" b="T18"/>
              <a:pathLst>
                <a:path w="17" h="46">
                  <a:moveTo>
                    <a:pt x="17" y="18"/>
                  </a:moveTo>
                  <a:lnTo>
                    <a:pt x="17" y="46"/>
                  </a:lnTo>
                  <a:lnTo>
                    <a:pt x="0" y="27"/>
                  </a:lnTo>
                  <a:lnTo>
                    <a:pt x="0" y="0"/>
                  </a:lnTo>
                  <a:lnTo>
                    <a:pt x="17" y="1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17" name="Freeform 126"/>
            <p:cNvSpPr>
              <a:spLocks/>
            </p:cNvSpPr>
            <p:nvPr/>
          </p:nvSpPr>
          <p:spPr bwMode="auto">
            <a:xfrm>
              <a:off x="4292600" y="4984001"/>
              <a:ext cx="19050" cy="57150"/>
            </a:xfrm>
            <a:custGeom>
              <a:avLst/>
              <a:gdLst>
                <a:gd name="T0" fmla="*/ 2147483647 w 12"/>
                <a:gd name="T1" fmla="*/ 2147483647 h 36"/>
                <a:gd name="T2" fmla="*/ 2147483647 w 12"/>
                <a:gd name="T3" fmla="*/ 2147483647 h 36"/>
                <a:gd name="T4" fmla="*/ 0 w 12"/>
                <a:gd name="T5" fmla="*/ 2147483647 h 36"/>
                <a:gd name="T6" fmla="*/ 0 w 12"/>
                <a:gd name="T7" fmla="*/ 0 h 36"/>
                <a:gd name="T8" fmla="*/ 2147483647 w 12"/>
                <a:gd name="T9" fmla="*/ 2147483647 h 36"/>
                <a:gd name="T10" fmla="*/ 0 60000 65536"/>
                <a:gd name="T11" fmla="*/ 0 60000 65536"/>
                <a:gd name="T12" fmla="*/ 0 60000 65536"/>
                <a:gd name="T13" fmla="*/ 0 60000 65536"/>
                <a:gd name="T14" fmla="*/ 0 60000 65536"/>
                <a:gd name="T15" fmla="*/ 0 w 12"/>
                <a:gd name="T16" fmla="*/ 0 h 36"/>
                <a:gd name="T17" fmla="*/ 12 w 12"/>
                <a:gd name="T18" fmla="*/ 36 h 36"/>
              </a:gdLst>
              <a:ahLst/>
              <a:cxnLst>
                <a:cxn ang="T10">
                  <a:pos x="T0" y="T1"/>
                </a:cxn>
                <a:cxn ang="T11">
                  <a:pos x="T2" y="T3"/>
                </a:cxn>
                <a:cxn ang="T12">
                  <a:pos x="T4" y="T5"/>
                </a:cxn>
                <a:cxn ang="T13">
                  <a:pos x="T6" y="T7"/>
                </a:cxn>
                <a:cxn ang="T14">
                  <a:pos x="T8" y="T9"/>
                </a:cxn>
              </a:cxnLst>
              <a:rect l="T15" t="T16" r="T17" b="T18"/>
              <a:pathLst>
                <a:path w="12" h="36">
                  <a:moveTo>
                    <a:pt x="12" y="5"/>
                  </a:moveTo>
                  <a:lnTo>
                    <a:pt x="12" y="36"/>
                  </a:lnTo>
                  <a:lnTo>
                    <a:pt x="0" y="31"/>
                  </a:lnTo>
                  <a:lnTo>
                    <a:pt x="0" y="0"/>
                  </a:lnTo>
                  <a:lnTo>
                    <a:pt x="12" y="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18" name="Freeform 127"/>
            <p:cNvSpPr>
              <a:spLocks/>
            </p:cNvSpPr>
            <p:nvPr/>
          </p:nvSpPr>
          <p:spPr bwMode="auto">
            <a:xfrm>
              <a:off x="4233863" y="4952251"/>
              <a:ext cx="55562" cy="77788"/>
            </a:xfrm>
            <a:custGeom>
              <a:avLst/>
              <a:gdLst>
                <a:gd name="T0" fmla="*/ 2147483647 w 35"/>
                <a:gd name="T1" fmla="*/ 2147483647 h 49"/>
                <a:gd name="T2" fmla="*/ 2147483647 w 35"/>
                <a:gd name="T3" fmla="*/ 2147483647 h 49"/>
                <a:gd name="T4" fmla="*/ 0 w 35"/>
                <a:gd name="T5" fmla="*/ 2147483647 h 49"/>
                <a:gd name="T6" fmla="*/ 0 w 35"/>
                <a:gd name="T7" fmla="*/ 0 h 49"/>
                <a:gd name="T8" fmla="*/ 2147483647 w 35"/>
                <a:gd name="T9" fmla="*/ 2147483647 h 49"/>
                <a:gd name="T10" fmla="*/ 0 60000 65536"/>
                <a:gd name="T11" fmla="*/ 0 60000 65536"/>
                <a:gd name="T12" fmla="*/ 0 60000 65536"/>
                <a:gd name="T13" fmla="*/ 0 60000 65536"/>
                <a:gd name="T14" fmla="*/ 0 60000 65536"/>
                <a:gd name="T15" fmla="*/ 0 w 35"/>
                <a:gd name="T16" fmla="*/ 0 h 49"/>
                <a:gd name="T17" fmla="*/ 35 w 35"/>
                <a:gd name="T18" fmla="*/ 49 h 49"/>
              </a:gdLst>
              <a:ahLst/>
              <a:cxnLst>
                <a:cxn ang="T10">
                  <a:pos x="T0" y="T1"/>
                </a:cxn>
                <a:cxn ang="T11">
                  <a:pos x="T2" y="T3"/>
                </a:cxn>
                <a:cxn ang="T12">
                  <a:pos x="T4" y="T5"/>
                </a:cxn>
                <a:cxn ang="T13">
                  <a:pos x="T6" y="T7"/>
                </a:cxn>
                <a:cxn ang="T14">
                  <a:pos x="T8" y="T9"/>
                </a:cxn>
              </a:cxnLst>
              <a:rect l="T15" t="T16" r="T17" b="T18"/>
              <a:pathLst>
                <a:path w="35" h="49">
                  <a:moveTo>
                    <a:pt x="35" y="19"/>
                  </a:moveTo>
                  <a:lnTo>
                    <a:pt x="35" y="49"/>
                  </a:lnTo>
                  <a:lnTo>
                    <a:pt x="0" y="30"/>
                  </a:lnTo>
                  <a:lnTo>
                    <a:pt x="0" y="0"/>
                  </a:lnTo>
                  <a:lnTo>
                    <a:pt x="35" y="19"/>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19" name="Freeform 128"/>
            <p:cNvSpPr>
              <a:spLocks/>
            </p:cNvSpPr>
            <p:nvPr/>
          </p:nvSpPr>
          <p:spPr bwMode="auto">
            <a:xfrm>
              <a:off x="4176713" y="4922089"/>
              <a:ext cx="55562" cy="73025"/>
            </a:xfrm>
            <a:custGeom>
              <a:avLst/>
              <a:gdLst>
                <a:gd name="T0" fmla="*/ 2147483647 w 35"/>
                <a:gd name="T1" fmla="*/ 2147483647 h 46"/>
                <a:gd name="T2" fmla="*/ 2147483647 w 35"/>
                <a:gd name="T3" fmla="*/ 2147483647 h 46"/>
                <a:gd name="T4" fmla="*/ 0 w 35"/>
                <a:gd name="T5" fmla="*/ 2147483647 h 46"/>
                <a:gd name="T6" fmla="*/ 0 w 35"/>
                <a:gd name="T7" fmla="*/ 0 h 46"/>
                <a:gd name="T8" fmla="*/ 2147483647 w 35"/>
                <a:gd name="T9" fmla="*/ 2147483647 h 46"/>
                <a:gd name="T10" fmla="*/ 0 60000 65536"/>
                <a:gd name="T11" fmla="*/ 0 60000 65536"/>
                <a:gd name="T12" fmla="*/ 0 60000 65536"/>
                <a:gd name="T13" fmla="*/ 0 60000 65536"/>
                <a:gd name="T14" fmla="*/ 0 60000 65536"/>
                <a:gd name="T15" fmla="*/ 0 w 35"/>
                <a:gd name="T16" fmla="*/ 0 h 46"/>
                <a:gd name="T17" fmla="*/ 35 w 35"/>
                <a:gd name="T18" fmla="*/ 46 h 46"/>
              </a:gdLst>
              <a:ahLst/>
              <a:cxnLst>
                <a:cxn ang="T10">
                  <a:pos x="T0" y="T1"/>
                </a:cxn>
                <a:cxn ang="T11">
                  <a:pos x="T2" y="T3"/>
                </a:cxn>
                <a:cxn ang="T12">
                  <a:pos x="T4" y="T5"/>
                </a:cxn>
                <a:cxn ang="T13">
                  <a:pos x="T6" y="T7"/>
                </a:cxn>
                <a:cxn ang="T14">
                  <a:pos x="T8" y="T9"/>
                </a:cxn>
              </a:cxnLst>
              <a:rect l="T15" t="T16" r="T17" b="T18"/>
              <a:pathLst>
                <a:path w="35" h="46">
                  <a:moveTo>
                    <a:pt x="35" y="18"/>
                  </a:moveTo>
                  <a:lnTo>
                    <a:pt x="35" y="46"/>
                  </a:lnTo>
                  <a:lnTo>
                    <a:pt x="0" y="28"/>
                  </a:lnTo>
                  <a:lnTo>
                    <a:pt x="0" y="0"/>
                  </a:lnTo>
                  <a:lnTo>
                    <a:pt x="35" y="1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20" name="Freeform 129"/>
            <p:cNvSpPr>
              <a:spLocks/>
            </p:cNvSpPr>
            <p:nvPr/>
          </p:nvSpPr>
          <p:spPr bwMode="auto">
            <a:xfrm>
              <a:off x="4117975" y="4890339"/>
              <a:ext cx="53975" cy="73025"/>
            </a:xfrm>
            <a:custGeom>
              <a:avLst/>
              <a:gdLst>
                <a:gd name="T0" fmla="*/ 2147483647 w 34"/>
                <a:gd name="T1" fmla="*/ 2147483647 h 46"/>
                <a:gd name="T2" fmla="*/ 2147483647 w 34"/>
                <a:gd name="T3" fmla="*/ 2147483647 h 46"/>
                <a:gd name="T4" fmla="*/ 0 w 34"/>
                <a:gd name="T5" fmla="*/ 2147483647 h 46"/>
                <a:gd name="T6" fmla="*/ 0 w 34"/>
                <a:gd name="T7" fmla="*/ 0 h 46"/>
                <a:gd name="T8" fmla="*/ 2147483647 w 34"/>
                <a:gd name="T9" fmla="*/ 2147483647 h 46"/>
                <a:gd name="T10" fmla="*/ 0 60000 65536"/>
                <a:gd name="T11" fmla="*/ 0 60000 65536"/>
                <a:gd name="T12" fmla="*/ 0 60000 65536"/>
                <a:gd name="T13" fmla="*/ 0 60000 65536"/>
                <a:gd name="T14" fmla="*/ 0 60000 65536"/>
                <a:gd name="T15" fmla="*/ 0 w 34"/>
                <a:gd name="T16" fmla="*/ 0 h 46"/>
                <a:gd name="T17" fmla="*/ 34 w 34"/>
                <a:gd name="T18" fmla="*/ 46 h 46"/>
              </a:gdLst>
              <a:ahLst/>
              <a:cxnLst>
                <a:cxn ang="T10">
                  <a:pos x="T0" y="T1"/>
                </a:cxn>
                <a:cxn ang="T11">
                  <a:pos x="T2" y="T3"/>
                </a:cxn>
                <a:cxn ang="T12">
                  <a:pos x="T4" y="T5"/>
                </a:cxn>
                <a:cxn ang="T13">
                  <a:pos x="T6" y="T7"/>
                </a:cxn>
                <a:cxn ang="T14">
                  <a:pos x="T8" y="T9"/>
                </a:cxn>
              </a:cxnLst>
              <a:rect l="T15" t="T16" r="T17" b="T18"/>
              <a:pathLst>
                <a:path w="34" h="46">
                  <a:moveTo>
                    <a:pt x="34" y="18"/>
                  </a:moveTo>
                  <a:lnTo>
                    <a:pt x="34" y="46"/>
                  </a:lnTo>
                  <a:lnTo>
                    <a:pt x="0" y="28"/>
                  </a:lnTo>
                  <a:lnTo>
                    <a:pt x="0" y="0"/>
                  </a:lnTo>
                  <a:lnTo>
                    <a:pt x="34" y="1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21" name="Freeform 130"/>
            <p:cNvSpPr>
              <a:spLocks/>
            </p:cNvSpPr>
            <p:nvPr/>
          </p:nvSpPr>
          <p:spPr bwMode="auto">
            <a:xfrm>
              <a:off x="4087813" y="4872876"/>
              <a:ext cx="26987" cy="57150"/>
            </a:xfrm>
            <a:custGeom>
              <a:avLst/>
              <a:gdLst>
                <a:gd name="T0" fmla="*/ 2147483647 w 17"/>
                <a:gd name="T1" fmla="*/ 2147483647 h 36"/>
                <a:gd name="T2" fmla="*/ 2147483647 w 17"/>
                <a:gd name="T3" fmla="*/ 2147483647 h 36"/>
                <a:gd name="T4" fmla="*/ 0 w 17"/>
                <a:gd name="T5" fmla="*/ 2147483647 h 36"/>
                <a:gd name="T6" fmla="*/ 0 w 17"/>
                <a:gd name="T7" fmla="*/ 0 h 36"/>
                <a:gd name="T8" fmla="*/ 2147483647 w 17"/>
                <a:gd name="T9" fmla="*/ 2147483647 h 36"/>
                <a:gd name="T10" fmla="*/ 0 60000 65536"/>
                <a:gd name="T11" fmla="*/ 0 60000 65536"/>
                <a:gd name="T12" fmla="*/ 0 60000 65536"/>
                <a:gd name="T13" fmla="*/ 0 60000 65536"/>
                <a:gd name="T14" fmla="*/ 0 60000 65536"/>
                <a:gd name="T15" fmla="*/ 0 w 17"/>
                <a:gd name="T16" fmla="*/ 0 h 36"/>
                <a:gd name="T17" fmla="*/ 17 w 17"/>
                <a:gd name="T18" fmla="*/ 36 h 36"/>
              </a:gdLst>
              <a:ahLst/>
              <a:cxnLst>
                <a:cxn ang="T10">
                  <a:pos x="T0" y="T1"/>
                </a:cxn>
                <a:cxn ang="T11">
                  <a:pos x="T2" y="T3"/>
                </a:cxn>
                <a:cxn ang="T12">
                  <a:pos x="T4" y="T5"/>
                </a:cxn>
                <a:cxn ang="T13">
                  <a:pos x="T6" y="T7"/>
                </a:cxn>
                <a:cxn ang="T14">
                  <a:pos x="T8" y="T9"/>
                </a:cxn>
              </a:cxnLst>
              <a:rect l="T15" t="T16" r="T17" b="T18"/>
              <a:pathLst>
                <a:path w="17" h="36">
                  <a:moveTo>
                    <a:pt x="17" y="10"/>
                  </a:moveTo>
                  <a:lnTo>
                    <a:pt x="17" y="36"/>
                  </a:lnTo>
                  <a:lnTo>
                    <a:pt x="0" y="28"/>
                  </a:lnTo>
                  <a:lnTo>
                    <a:pt x="0" y="0"/>
                  </a:lnTo>
                  <a:lnTo>
                    <a:pt x="17" y="10"/>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22" name="Freeform 131"/>
            <p:cNvSpPr>
              <a:spLocks/>
            </p:cNvSpPr>
            <p:nvPr/>
          </p:nvSpPr>
          <p:spPr bwMode="auto">
            <a:xfrm>
              <a:off x="4233863" y="5064964"/>
              <a:ext cx="55562" cy="82550"/>
            </a:xfrm>
            <a:custGeom>
              <a:avLst/>
              <a:gdLst>
                <a:gd name="T0" fmla="*/ 2147483647 w 35"/>
                <a:gd name="T1" fmla="*/ 2147483647 h 52"/>
                <a:gd name="T2" fmla="*/ 2147483647 w 35"/>
                <a:gd name="T3" fmla="*/ 2147483647 h 52"/>
                <a:gd name="T4" fmla="*/ 0 w 35"/>
                <a:gd name="T5" fmla="*/ 2147483647 h 52"/>
                <a:gd name="T6" fmla="*/ 0 w 35"/>
                <a:gd name="T7" fmla="*/ 0 h 52"/>
                <a:gd name="T8" fmla="*/ 2147483647 w 35"/>
                <a:gd name="T9" fmla="*/ 2147483647 h 52"/>
                <a:gd name="T10" fmla="*/ 0 60000 65536"/>
                <a:gd name="T11" fmla="*/ 0 60000 65536"/>
                <a:gd name="T12" fmla="*/ 0 60000 65536"/>
                <a:gd name="T13" fmla="*/ 0 60000 65536"/>
                <a:gd name="T14" fmla="*/ 0 60000 65536"/>
                <a:gd name="T15" fmla="*/ 0 w 35"/>
                <a:gd name="T16" fmla="*/ 0 h 52"/>
                <a:gd name="T17" fmla="*/ 35 w 35"/>
                <a:gd name="T18" fmla="*/ 52 h 52"/>
              </a:gdLst>
              <a:ahLst/>
              <a:cxnLst>
                <a:cxn ang="T10">
                  <a:pos x="T0" y="T1"/>
                </a:cxn>
                <a:cxn ang="T11">
                  <a:pos x="T2" y="T3"/>
                </a:cxn>
                <a:cxn ang="T12">
                  <a:pos x="T4" y="T5"/>
                </a:cxn>
                <a:cxn ang="T13">
                  <a:pos x="T6" y="T7"/>
                </a:cxn>
                <a:cxn ang="T14">
                  <a:pos x="T8" y="T9"/>
                </a:cxn>
              </a:cxnLst>
              <a:rect l="T15" t="T16" r="T17" b="T18"/>
              <a:pathLst>
                <a:path w="35" h="52">
                  <a:moveTo>
                    <a:pt x="35" y="22"/>
                  </a:moveTo>
                  <a:lnTo>
                    <a:pt x="35" y="52"/>
                  </a:lnTo>
                  <a:lnTo>
                    <a:pt x="0" y="29"/>
                  </a:lnTo>
                  <a:lnTo>
                    <a:pt x="0" y="0"/>
                  </a:lnTo>
                  <a:lnTo>
                    <a:pt x="35" y="2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23" name="Freeform 132"/>
            <p:cNvSpPr>
              <a:spLocks/>
            </p:cNvSpPr>
            <p:nvPr/>
          </p:nvSpPr>
          <p:spPr bwMode="auto">
            <a:xfrm>
              <a:off x="4176713" y="5028451"/>
              <a:ext cx="55562" cy="82550"/>
            </a:xfrm>
            <a:custGeom>
              <a:avLst/>
              <a:gdLst>
                <a:gd name="T0" fmla="*/ 2147483647 w 35"/>
                <a:gd name="T1" fmla="*/ 2147483647 h 52"/>
                <a:gd name="T2" fmla="*/ 2147483647 w 35"/>
                <a:gd name="T3" fmla="*/ 2147483647 h 52"/>
                <a:gd name="T4" fmla="*/ 0 w 35"/>
                <a:gd name="T5" fmla="*/ 2147483647 h 52"/>
                <a:gd name="T6" fmla="*/ 0 w 35"/>
                <a:gd name="T7" fmla="*/ 0 h 52"/>
                <a:gd name="T8" fmla="*/ 2147483647 w 35"/>
                <a:gd name="T9" fmla="*/ 2147483647 h 52"/>
                <a:gd name="T10" fmla="*/ 0 60000 65536"/>
                <a:gd name="T11" fmla="*/ 0 60000 65536"/>
                <a:gd name="T12" fmla="*/ 0 60000 65536"/>
                <a:gd name="T13" fmla="*/ 0 60000 65536"/>
                <a:gd name="T14" fmla="*/ 0 60000 65536"/>
                <a:gd name="T15" fmla="*/ 0 w 35"/>
                <a:gd name="T16" fmla="*/ 0 h 52"/>
                <a:gd name="T17" fmla="*/ 35 w 35"/>
                <a:gd name="T18" fmla="*/ 52 h 52"/>
              </a:gdLst>
              <a:ahLst/>
              <a:cxnLst>
                <a:cxn ang="T10">
                  <a:pos x="T0" y="T1"/>
                </a:cxn>
                <a:cxn ang="T11">
                  <a:pos x="T2" y="T3"/>
                </a:cxn>
                <a:cxn ang="T12">
                  <a:pos x="T4" y="T5"/>
                </a:cxn>
                <a:cxn ang="T13">
                  <a:pos x="T6" y="T7"/>
                </a:cxn>
                <a:cxn ang="T14">
                  <a:pos x="T8" y="T9"/>
                </a:cxn>
              </a:cxnLst>
              <a:rect l="T15" t="T16" r="T17" b="T18"/>
              <a:pathLst>
                <a:path w="35" h="52">
                  <a:moveTo>
                    <a:pt x="35" y="23"/>
                  </a:moveTo>
                  <a:lnTo>
                    <a:pt x="35" y="52"/>
                  </a:lnTo>
                  <a:lnTo>
                    <a:pt x="0" y="30"/>
                  </a:lnTo>
                  <a:lnTo>
                    <a:pt x="0" y="0"/>
                  </a:lnTo>
                  <a:lnTo>
                    <a:pt x="35" y="23"/>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24" name="Freeform 133"/>
            <p:cNvSpPr>
              <a:spLocks/>
            </p:cNvSpPr>
            <p:nvPr/>
          </p:nvSpPr>
          <p:spPr bwMode="auto">
            <a:xfrm>
              <a:off x="4117975" y="4993526"/>
              <a:ext cx="53975" cy="77788"/>
            </a:xfrm>
            <a:custGeom>
              <a:avLst/>
              <a:gdLst>
                <a:gd name="T0" fmla="*/ 2147483647 w 34"/>
                <a:gd name="T1" fmla="*/ 2147483647 h 49"/>
                <a:gd name="T2" fmla="*/ 2147483647 w 34"/>
                <a:gd name="T3" fmla="*/ 2147483647 h 49"/>
                <a:gd name="T4" fmla="*/ 0 w 34"/>
                <a:gd name="T5" fmla="*/ 2147483647 h 49"/>
                <a:gd name="T6" fmla="*/ 0 w 34"/>
                <a:gd name="T7" fmla="*/ 0 h 49"/>
                <a:gd name="T8" fmla="*/ 2147483647 w 34"/>
                <a:gd name="T9" fmla="*/ 2147483647 h 49"/>
                <a:gd name="T10" fmla="*/ 0 60000 65536"/>
                <a:gd name="T11" fmla="*/ 0 60000 65536"/>
                <a:gd name="T12" fmla="*/ 0 60000 65536"/>
                <a:gd name="T13" fmla="*/ 0 60000 65536"/>
                <a:gd name="T14" fmla="*/ 0 60000 65536"/>
                <a:gd name="T15" fmla="*/ 0 w 34"/>
                <a:gd name="T16" fmla="*/ 0 h 49"/>
                <a:gd name="T17" fmla="*/ 34 w 34"/>
                <a:gd name="T18" fmla="*/ 49 h 49"/>
              </a:gdLst>
              <a:ahLst/>
              <a:cxnLst>
                <a:cxn ang="T10">
                  <a:pos x="T0" y="T1"/>
                </a:cxn>
                <a:cxn ang="T11">
                  <a:pos x="T2" y="T3"/>
                </a:cxn>
                <a:cxn ang="T12">
                  <a:pos x="T4" y="T5"/>
                </a:cxn>
                <a:cxn ang="T13">
                  <a:pos x="T6" y="T7"/>
                </a:cxn>
                <a:cxn ang="T14">
                  <a:pos x="T8" y="T9"/>
                </a:cxn>
              </a:cxnLst>
              <a:rect l="T15" t="T16" r="T17" b="T18"/>
              <a:pathLst>
                <a:path w="34" h="49">
                  <a:moveTo>
                    <a:pt x="34" y="21"/>
                  </a:moveTo>
                  <a:lnTo>
                    <a:pt x="34" y="49"/>
                  </a:lnTo>
                  <a:lnTo>
                    <a:pt x="0" y="27"/>
                  </a:lnTo>
                  <a:lnTo>
                    <a:pt x="0" y="0"/>
                  </a:lnTo>
                  <a:lnTo>
                    <a:pt x="34" y="21"/>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25" name="Freeform 134"/>
            <p:cNvSpPr>
              <a:spLocks/>
            </p:cNvSpPr>
            <p:nvPr/>
          </p:nvSpPr>
          <p:spPr bwMode="auto">
            <a:xfrm>
              <a:off x="4087813" y="4974476"/>
              <a:ext cx="26987" cy="61913"/>
            </a:xfrm>
            <a:custGeom>
              <a:avLst/>
              <a:gdLst>
                <a:gd name="T0" fmla="*/ 2147483647 w 17"/>
                <a:gd name="T1" fmla="*/ 2147483647 h 39"/>
                <a:gd name="T2" fmla="*/ 2147483647 w 17"/>
                <a:gd name="T3" fmla="*/ 2147483647 h 39"/>
                <a:gd name="T4" fmla="*/ 0 w 17"/>
                <a:gd name="T5" fmla="*/ 2147483647 h 39"/>
                <a:gd name="T6" fmla="*/ 0 w 17"/>
                <a:gd name="T7" fmla="*/ 0 h 39"/>
                <a:gd name="T8" fmla="*/ 2147483647 w 17"/>
                <a:gd name="T9" fmla="*/ 2147483647 h 39"/>
                <a:gd name="T10" fmla="*/ 0 60000 65536"/>
                <a:gd name="T11" fmla="*/ 0 60000 65536"/>
                <a:gd name="T12" fmla="*/ 0 60000 65536"/>
                <a:gd name="T13" fmla="*/ 0 60000 65536"/>
                <a:gd name="T14" fmla="*/ 0 60000 65536"/>
                <a:gd name="T15" fmla="*/ 0 w 17"/>
                <a:gd name="T16" fmla="*/ 0 h 39"/>
                <a:gd name="T17" fmla="*/ 17 w 17"/>
                <a:gd name="T18" fmla="*/ 39 h 39"/>
              </a:gdLst>
              <a:ahLst/>
              <a:cxnLst>
                <a:cxn ang="T10">
                  <a:pos x="T0" y="T1"/>
                </a:cxn>
                <a:cxn ang="T11">
                  <a:pos x="T2" y="T3"/>
                </a:cxn>
                <a:cxn ang="T12">
                  <a:pos x="T4" y="T5"/>
                </a:cxn>
                <a:cxn ang="T13">
                  <a:pos x="T6" y="T7"/>
                </a:cxn>
                <a:cxn ang="T14">
                  <a:pos x="T8" y="T9"/>
                </a:cxn>
              </a:cxnLst>
              <a:rect l="T15" t="T16" r="T17" b="T18"/>
              <a:pathLst>
                <a:path w="17" h="39">
                  <a:moveTo>
                    <a:pt x="17" y="11"/>
                  </a:moveTo>
                  <a:lnTo>
                    <a:pt x="17" y="39"/>
                  </a:lnTo>
                  <a:lnTo>
                    <a:pt x="0" y="27"/>
                  </a:lnTo>
                  <a:lnTo>
                    <a:pt x="0" y="0"/>
                  </a:lnTo>
                  <a:lnTo>
                    <a:pt x="17" y="1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26" name="Freeform 135"/>
            <p:cNvSpPr>
              <a:spLocks/>
            </p:cNvSpPr>
            <p:nvPr/>
          </p:nvSpPr>
          <p:spPr bwMode="auto">
            <a:xfrm>
              <a:off x="4292600" y="5220539"/>
              <a:ext cx="19050" cy="60325"/>
            </a:xfrm>
            <a:custGeom>
              <a:avLst/>
              <a:gdLst>
                <a:gd name="T0" fmla="*/ 2147483647 w 12"/>
                <a:gd name="T1" fmla="*/ 2147483647 h 38"/>
                <a:gd name="T2" fmla="*/ 2147483647 w 12"/>
                <a:gd name="T3" fmla="*/ 2147483647 h 38"/>
                <a:gd name="T4" fmla="*/ 0 w 12"/>
                <a:gd name="T5" fmla="*/ 2147483647 h 38"/>
                <a:gd name="T6" fmla="*/ 0 w 12"/>
                <a:gd name="T7" fmla="*/ 0 h 38"/>
                <a:gd name="T8" fmla="*/ 2147483647 w 12"/>
                <a:gd name="T9" fmla="*/ 2147483647 h 38"/>
                <a:gd name="T10" fmla="*/ 0 60000 65536"/>
                <a:gd name="T11" fmla="*/ 0 60000 65536"/>
                <a:gd name="T12" fmla="*/ 0 60000 65536"/>
                <a:gd name="T13" fmla="*/ 0 60000 65536"/>
                <a:gd name="T14" fmla="*/ 0 60000 65536"/>
                <a:gd name="T15" fmla="*/ 0 w 12"/>
                <a:gd name="T16" fmla="*/ 0 h 38"/>
                <a:gd name="T17" fmla="*/ 12 w 12"/>
                <a:gd name="T18" fmla="*/ 38 h 38"/>
              </a:gdLst>
              <a:ahLst/>
              <a:cxnLst>
                <a:cxn ang="T10">
                  <a:pos x="T0" y="T1"/>
                </a:cxn>
                <a:cxn ang="T11">
                  <a:pos x="T2" y="T3"/>
                </a:cxn>
                <a:cxn ang="T12">
                  <a:pos x="T4" y="T5"/>
                </a:cxn>
                <a:cxn ang="T13">
                  <a:pos x="T6" y="T7"/>
                </a:cxn>
                <a:cxn ang="T14">
                  <a:pos x="T8" y="T9"/>
                </a:cxn>
              </a:cxnLst>
              <a:rect l="T15" t="T16" r="T17" b="T18"/>
              <a:pathLst>
                <a:path w="12" h="38">
                  <a:moveTo>
                    <a:pt x="12" y="8"/>
                  </a:moveTo>
                  <a:lnTo>
                    <a:pt x="12" y="38"/>
                  </a:lnTo>
                  <a:lnTo>
                    <a:pt x="0" y="30"/>
                  </a:lnTo>
                  <a:lnTo>
                    <a:pt x="0" y="0"/>
                  </a:lnTo>
                  <a:lnTo>
                    <a:pt x="12" y="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27" name="Freeform 136"/>
            <p:cNvSpPr>
              <a:spLocks/>
            </p:cNvSpPr>
            <p:nvPr/>
          </p:nvSpPr>
          <p:spPr bwMode="auto">
            <a:xfrm>
              <a:off x="4233863" y="5177676"/>
              <a:ext cx="55562" cy="87313"/>
            </a:xfrm>
            <a:custGeom>
              <a:avLst/>
              <a:gdLst>
                <a:gd name="T0" fmla="*/ 2147483647 w 35"/>
                <a:gd name="T1" fmla="*/ 2147483647 h 55"/>
                <a:gd name="T2" fmla="*/ 2147483647 w 35"/>
                <a:gd name="T3" fmla="*/ 2147483647 h 55"/>
                <a:gd name="T4" fmla="*/ 0 w 35"/>
                <a:gd name="T5" fmla="*/ 2147483647 h 55"/>
                <a:gd name="T6" fmla="*/ 0 w 35"/>
                <a:gd name="T7" fmla="*/ 0 h 55"/>
                <a:gd name="T8" fmla="*/ 2147483647 w 35"/>
                <a:gd name="T9" fmla="*/ 2147483647 h 55"/>
                <a:gd name="T10" fmla="*/ 0 60000 65536"/>
                <a:gd name="T11" fmla="*/ 0 60000 65536"/>
                <a:gd name="T12" fmla="*/ 0 60000 65536"/>
                <a:gd name="T13" fmla="*/ 0 60000 65536"/>
                <a:gd name="T14" fmla="*/ 0 60000 65536"/>
                <a:gd name="T15" fmla="*/ 0 w 35"/>
                <a:gd name="T16" fmla="*/ 0 h 55"/>
                <a:gd name="T17" fmla="*/ 35 w 35"/>
                <a:gd name="T18" fmla="*/ 55 h 55"/>
              </a:gdLst>
              <a:ahLst/>
              <a:cxnLst>
                <a:cxn ang="T10">
                  <a:pos x="T0" y="T1"/>
                </a:cxn>
                <a:cxn ang="T11">
                  <a:pos x="T2" y="T3"/>
                </a:cxn>
                <a:cxn ang="T12">
                  <a:pos x="T4" y="T5"/>
                </a:cxn>
                <a:cxn ang="T13">
                  <a:pos x="T6" y="T7"/>
                </a:cxn>
                <a:cxn ang="T14">
                  <a:pos x="T8" y="T9"/>
                </a:cxn>
              </a:cxnLst>
              <a:rect l="T15" t="T16" r="T17" b="T18"/>
              <a:pathLst>
                <a:path w="35" h="55">
                  <a:moveTo>
                    <a:pt x="35" y="24"/>
                  </a:moveTo>
                  <a:lnTo>
                    <a:pt x="35" y="55"/>
                  </a:lnTo>
                  <a:lnTo>
                    <a:pt x="0" y="30"/>
                  </a:lnTo>
                  <a:lnTo>
                    <a:pt x="0" y="0"/>
                  </a:lnTo>
                  <a:lnTo>
                    <a:pt x="35" y="24"/>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28" name="Freeform 137"/>
            <p:cNvSpPr>
              <a:spLocks/>
            </p:cNvSpPr>
            <p:nvPr/>
          </p:nvSpPr>
          <p:spPr bwMode="auto">
            <a:xfrm>
              <a:off x="4176713" y="5136401"/>
              <a:ext cx="55562" cy="85725"/>
            </a:xfrm>
            <a:custGeom>
              <a:avLst/>
              <a:gdLst>
                <a:gd name="T0" fmla="*/ 2147483647 w 35"/>
                <a:gd name="T1" fmla="*/ 2147483647 h 54"/>
                <a:gd name="T2" fmla="*/ 2147483647 w 35"/>
                <a:gd name="T3" fmla="*/ 2147483647 h 54"/>
                <a:gd name="T4" fmla="*/ 0 w 35"/>
                <a:gd name="T5" fmla="*/ 2147483647 h 54"/>
                <a:gd name="T6" fmla="*/ 0 w 35"/>
                <a:gd name="T7" fmla="*/ 0 h 54"/>
                <a:gd name="T8" fmla="*/ 2147483647 w 35"/>
                <a:gd name="T9" fmla="*/ 2147483647 h 54"/>
                <a:gd name="T10" fmla="*/ 0 60000 65536"/>
                <a:gd name="T11" fmla="*/ 0 60000 65536"/>
                <a:gd name="T12" fmla="*/ 0 60000 65536"/>
                <a:gd name="T13" fmla="*/ 0 60000 65536"/>
                <a:gd name="T14" fmla="*/ 0 60000 65536"/>
                <a:gd name="T15" fmla="*/ 0 w 35"/>
                <a:gd name="T16" fmla="*/ 0 h 54"/>
                <a:gd name="T17" fmla="*/ 35 w 35"/>
                <a:gd name="T18" fmla="*/ 54 h 54"/>
              </a:gdLst>
              <a:ahLst/>
              <a:cxnLst>
                <a:cxn ang="T10">
                  <a:pos x="T0" y="T1"/>
                </a:cxn>
                <a:cxn ang="T11">
                  <a:pos x="T2" y="T3"/>
                </a:cxn>
                <a:cxn ang="T12">
                  <a:pos x="T4" y="T5"/>
                </a:cxn>
                <a:cxn ang="T13">
                  <a:pos x="T6" y="T7"/>
                </a:cxn>
                <a:cxn ang="T14">
                  <a:pos x="T8" y="T9"/>
                </a:cxn>
              </a:cxnLst>
              <a:rect l="T15" t="T16" r="T17" b="T18"/>
              <a:pathLst>
                <a:path w="35" h="54">
                  <a:moveTo>
                    <a:pt x="35" y="26"/>
                  </a:moveTo>
                  <a:lnTo>
                    <a:pt x="35" y="54"/>
                  </a:lnTo>
                  <a:lnTo>
                    <a:pt x="0" y="28"/>
                  </a:lnTo>
                  <a:lnTo>
                    <a:pt x="0" y="0"/>
                  </a:lnTo>
                  <a:lnTo>
                    <a:pt x="35" y="26"/>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29" name="Freeform 138"/>
            <p:cNvSpPr>
              <a:spLocks/>
            </p:cNvSpPr>
            <p:nvPr/>
          </p:nvSpPr>
          <p:spPr bwMode="auto">
            <a:xfrm>
              <a:off x="4117975" y="5098301"/>
              <a:ext cx="53975" cy="82550"/>
            </a:xfrm>
            <a:custGeom>
              <a:avLst/>
              <a:gdLst>
                <a:gd name="T0" fmla="*/ 2147483647 w 34"/>
                <a:gd name="T1" fmla="*/ 2147483647 h 52"/>
                <a:gd name="T2" fmla="*/ 2147483647 w 34"/>
                <a:gd name="T3" fmla="*/ 2147483647 h 52"/>
                <a:gd name="T4" fmla="*/ 0 w 34"/>
                <a:gd name="T5" fmla="*/ 2147483647 h 52"/>
                <a:gd name="T6" fmla="*/ 0 w 34"/>
                <a:gd name="T7" fmla="*/ 0 h 52"/>
                <a:gd name="T8" fmla="*/ 2147483647 w 34"/>
                <a:gd name="T9" fmla="*/ 2147483647 h 52"/>
                <a:gd name="T10" fmla="*/ 0 60000 65536"/>
                <a:gd name="T11" fmla="*/ 0 60000 65536"/>
                <a:gd name="T12" fmla="*/ 0 60000 65536"/>
                <a:gd name="T13" fmla="*/ 0 60000 65536"/>
                <a:gd name="T14" fmla="*/ 0 60000 65536"/>
                <a:gd name="T15" fmla="*/ 0 w 34"/>
                <a:gd name="T16" fmla="*/ 0 h 52"/>
                <a:gd name="T17" fmla="*/ 34 w 34"/>
                <a:gd name="T18" fmla="*/ 52 h 52"/>
              </a:gdLst>
              <a:ahLst/>
              <a:cxnLst>
                <a:cxn ang="T10">
                  <a:pos x="T0" y="T1"/>
                </a:cxn>
                <a:cxn ang="T11">
                  <a:pos x="T2" y="T3"/>
                </a:cxn>
                <a:cxn ang="T12">
                  <a:pos x="T4" y="T5"/>
                </a:cxn>
                <a:cxn ang="T13">
                  <a:pos x="T6" y="T7"/>
                </a:cxn>
                <a:cxn ang="T14">
                  <a:pos x="T8" y="T9"/>
                </a:cxn>
              </a:cxnLst>
              <a:rect l="T15" t="T16" r="T17" b="T18"/>
              <a:pathLst>
                <a:path w="34" h="52">
                  <a:moveTo>
                    <a:pt x="34" y="24"/>
                  </a:moveTo>
                  <a:lnTo>
                    <a:pt x="34" y="52"/>
                  </a:lnTo>
                  <a:lnTo>
                    <a:pt x="0" y="28"/>
                  </a:lnTo>
                  <a:lnTo>
                    <a:pt x="0" y="0"/>
                  </a:lnTo>
                  <a:lnTo>
                    <a:pt x="34" y="24"/>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30" name="Freeform 139"/>
            <p:cNvSpPr>
              <a:spLocks/>
            </p:cNvSpPr>
            <p:nvPr/>
          </p:nvSpPr>
          <p:spPr bwMode="auto">
            <a:xfrm>
              <a:off x="4087813" y="5077664"/>
              <a:ext cx="26987" cy="60325"/>
            </a:xfrm>
            <a:custGeom>
              <a:avLst/>
              <a:gdLst>
                <a:gd name="T0" fmla="*/ 2147483647 w 17"/>
                <a:gd name="T1" fmla="*/ 2147483647 h 38"/>
                <a:gd name="T2" fmla="*/ 2147483647 w 17"/>
                <a:gd name="T3" fmla="*/ 2147483647 h 38"/>
                <a:gd name="T4" fmla="*/ 0 w 17"/>
                <a:gd name="T5" fmla="*/ 2147483647 h 38"/>
                <a:gd name="T6" fmla="*/ 0 w 17"/>
                <a:gd name="T7" fmla="*/ 0 h 38"/>
                <a:gd name="T8" fmla="*/ 2147483647 w 17"/>
                <a:gd name="T9" fmla="*/ 2147483647 h 38"/>
                <a:gd name="T10" fmla="*/ 0 60000 65536"/>
                <a:gd name="T11" fmla="*/ 0 60000 65536"/>
                <a:gd name="T12" fmla="*/ 0 60000 65536"/>
                <a:gd name="T13" fmla="*/ 0 60000 65536"/>
                <a:gd name="T14" fmla="*/ 0 60000 65536"/>
                <a:gd name="T15" fmla="*/ 0 w 17"/>
                <a:gd name="T16" fmla="*/ 0 h 38"/>
                <a:gd name="T17" fmla="*/ 17 w 17"/>
                <a:gd name="T18" fmla="*/ 38 h 38"/>
              </a:gdLst>
              <a:ahLst/>
              <a:cxnLst>
                <a:cxn ang="T10">
                  <a:pos x="T0" y="T1"/>
                </a:cxn>
                <a:cxn ang="T11">
                  <a:pos x="T2" y="T3"/>
                </a:cxn>
                <a:cxn ang="T12">
                  <a:pos x="T4" y="T5"/>
                </a:cxn>
                <a:cxn ang="T13">
                  <a:pos x="T6" y="T7"/>
                </a:cxn>
                <a:cxn ang="T14">
                  <a:pos x="T8" y="T9"/>
                </a:cxn>
              </a:cxnLst>
              <a:rect l="T15" t="T16" r="T17" b="T18"/>
              <a:pathLst>
                <a:path w="17" h="38">
                  <a:moveTo>
                    <a:pt x="17" y="10"/>
                  </a:moveTo>
                  <a:lnTo>
                    <a:pt x="17" y="38"/>
                  </a:lnTo>
                  <a:lnTo>
                    <a:pt x="0" y="27"/>
                  </a:lnTo>
                  <a:lnTo>
                    <a:pt x="0" y="0"/>
                  </a:lnTo>
                  <a:lnTo>
                    <a:pt x="17" y="1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31" name="Freeform 140"/>
            <p:cNvSpPr>
              <a:spLocks/>
            </p:cNvSpPr>
            <p:nvPr/>
          </p:nvSpPr>
          <p:spPr bwMode="auto">
            <a:xfrm>
              <a:off x="4292600" y="5334839"/>
              <a:ext cx="17463" cy="63500"/>
            </a:xfrm>
            <a:custGeom>
              <a:avLst/>
              <a:gdLst>
                <a:gd name="T0" fmla="*/ 2147483647 w 11"/>
                <a:gd name="T1" fmla="*/ 2147483647 h 40"/>
                <a:gd name="T2" fmla="*/ 2147483647 w 11"/>
                <a:gd name="T3" fmla="*/ 2147483647 h 40"/>
                <a:gd name="T4" fmla="*/ 0 w 11"/>
                <a:gd name="T5" fmla="*/ 2147483647 h 40"/>
                <a:gd name="T6" fmla="*/ 0 w 11"/>
                <a:gd name="T7" fmla="*/ 0 h 40"/>
                <a:gd name="T8" fmla="*/ 2147483647 w 11"/>
                <a:gd name="T9" fmla="*/ 2147483647 h 40"/>
                <a:gd name="T10" fmla="*/ 0 60000 65536"/>
                <a:gd name="T11" fmla="*/ 0 60000 65536"/>
                <a:gd name="T12" fmla="*/ 0 60000 65536"/>
                <a:gd name="T13" fmla="*/ 0 60000 65536"/>
                <a:gd name="T14" fmla="*/ 0 60000 65536"/>
                <a:gd name="T15" fmla="*/ 0 w 11"/>
                <a:gd name="T16" fmla="*/ 0 h 40"/>
                <a:gd name="T17" fmla="*/ 11 w 11"/>
                <a:gd name="T18" fmla="*/ 40 h 40"/>
              </a:gdLst>
              <a:ahLst/>
              <a:cxnLst>
                <a:cxn ang="T10">
                  <a:pos x="T0" y="T1"/>
                </a:cxn>
                <a:cxn ang="T11">
                  <a:pos x="T2" y="T3"/>
                </a:cxn>
                <a:cxn ang="T12">
                  <a:pos x="T4" y="T5"/>
                </a:cxn>
                <a:cxn ang="T13">
                  <a:pos x="T6" y="T7"/>
                </a:cxn>
                <a:cxn ang="T14">
                  <a:pos x="T8" y="T9"/>
                </a:cxn>
              </a:cxnLst>
              <a:rect l="T15" t="T16" r="T17" b="T18"/>
              <a:pathLst>
                <a:path w="11" h="40">
                  <a:moveTo>
                    <a:pt x="11" y="9"/>
                  </a:moveTo>
                  <a:lnTo>
                    <a:pt x="11" y="40"/>
                  </a:lnTo>
                  <a:lnTo>
                    <a:pt x="0" y="32"/>
                  </a:lnTo>
                  <a:lnTo>
                    <a:pt x="0" y="0"/>
                  </a:lnTo>
                  <a:lnTo>
                    <a:pt x="11" y="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32" name="Freeform 141"/>
            <p:cNvSpPr>
              <a:spLocks/>
            </p:cNvSpPr>
            <p:nvPr/>
          </p:nvSpPr>
          <p:spPr bwMode="auto">
            <a:xfrm>
              <a:off x="4233863" y="5290389"/>
              <a:ext cx="55562" cy="90487"/>
            </a:xfrm>
            <a:custGeom>
              <a:avLst/>
              <a:gdLst>
                <a:gd name="T0" fmla="*/ 2147483647 w 35"/>
                <a:gd name="T1" fmla="*/ 2147483647 h 57"/>
                <a:gd name="T2" fmla="*/ 2147483647 w 35"/>
                <a:gd name="T3" fmla="*/ 2147483647 h 57"/>
                <a:gd name="T4" fmla="*/ 0 w 35"/>
                <a:gd name="T5" fmla="*/ 2147483647 h 57"/>
                <a:gd name="T6" fmla="*/ 0 w 35"/>
                <a:gd name="T7" fmla="*/ 0 h 57"/>
                <a:gd name="T8" fmla="*/ 2147483647 w 35"/>
                <a:gd name="T9" fmla="*/ 2147483647 h 57"/>
                <a:gd name="T10" fmla="*/ 0 60000 65536"/>
                <a:gd name="T11" fmla="*/ 0 60000 65536"/>
                <a:gd name="T12" fmla="*/ 0 60000 65536"/>
                <a:gd name="T13" fmla="*/ 0 60000 65536"/>
                <a:gd name="T14" fmla="*/ 0 60000 65536"/>
                <a:gd name="T15" fmla="*/ 0 w 35"/>
                <a:gd name="T16" fmla="*/ 0 h 57"/>
                <a:gd name="T17" fmla="*/ 35 w 35"/>
                <a:gd name="T18" fmla="*/ 57 h 57"/>
              </a:gdLst>
              <a:ahLst/>
              <a:cxnLst>
                <a:cxn ang="T10">
                  <a:pos x="T0" y="T1"/>
                </a:cxn>
                <a:cxn ang="T11">
                  <a:pos x="T2" y="T3"/>
                </a:cxn>
                <a:cxn ang="T12">
                  <a:pos x="T4" y="T5"/>
                </a:cxn>
                <a:cxn ang="T13">
                  <a:pos x="T6" y="T7"/>
                </a:cxn>
                <a:cxn ang="T14">
                  <a:pos x="T8" y="T9"/>
                </a:cxn>
              </a:cxnLst>
              <a:rect l="T15" t="T16" r="T17" b="T18"/>
              <a:pathLst>
                <a:path w="35" h="57">
                  <a:moveTo>
                    <a:pt x="35" y="27"/>
                  </a:moveTo>
                  <a:lnTo>
                    <a:pt x="35" y="57"/>
                  </a:lnTo>
                  <a:lnTo>
                    <a:pt x="0" y="29"/>
                  </a:lnTo>
                  <a:lnTo>
                    <a:pt x="0" y="0"/>
                  </a:lnTo>
                  <a:lnTo>
                    <a:pt x="35" y="2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33" name="Freeform 142"/>
            <p:cNvSpPr>
              <a:spLocks/>
            </p:cNvSpPr>
            <p:nvPr/>
          </p:nvSpPr>
          <p:spPr bwMode="auto">
            <a:xfrm>
              <a:off x="4176713" y="5245939"/>
              <a:ext cx="55562" cy="88900"/>
            </a:xfrm>
            <a:custGeom>
              <a:avLst/>
              <a:gdLst>
                <a:gd name="T0" fmla="*/ 2147483647 w 35"/>
                <a:gd name="T1" fmla="*/ 2147483647 h 56"/>
                <a:gd name="T2" fmla="*/ 2147483647 w 35"/>
                <a:gd name="T3" fmla="*/ 2147483647 h 56"/>
                <a:gd name="T4" fmla="*/ 0 w 35"/>
                <a:gd name="T5" fmla="*/ 2147483647 h 56"/>
                <a:gd name="T6" fmla="*/ 0 w 35"/>
                <a:gd name="T7" fmla="*/ 0 h 56"/>
                <a:gd name="T8" fmla="*/ 2147483647 w 35"/>
                <a:gd name="T9" fmla="*/ 2147483647 h 56"/>
                <a:gd name="T10" fmla="*/ 0 60000 65536"/>
                <a:gd name="T11" fmla="*/ 0 60000 65536"/>
                <a:gd name="T12" fmla="*/ 0 60000 65536"/>
                <a:gd name="T13" fmla="*/ 0 60000 65536"/>
                <a:gd name="T14" fmla="*/ 0 60000 65536"/>
                <a:gd name="T15" fmla="*/ 0 w 35"/>
                <a:gd name="T16" fmla="*/ 0 h 56"/>
                <a:gd name="T17" fmla="*/ 35 w 35"/>
                <a:gd name="T18" fmla="*/ 56 h 56"/>
              </a:gdLst>
              <a:ahLst/>
              <a:cxnLst>
                <a:cxn ang="T10">
                  <a:pos x="T0" y="T1"/>
                </a:cxn>
                <a:cxn ang="T11">
                  <a:pos x="T2" y="T3"/>
                </a:cxn>
                <a:cxn ang="T12">
                  <a:pos x="T4" y="T5"/>
                </a:cxn>
                <a:cxn ang="T13">
                  <a:pos x="T6" y="T7"/>
                </a:cxn>
                <a:cxn ang="T14">
                  <a:pos x="T8" y="T9"/>
                </a:cxn>
              </a:cxnLst>
              <a:rect l="T15" t="T16" r="T17" b="T18"/>
              <a:pathLst>
                <a:path w="35" h="56">
                  <a:moveTo>
                    <a:pt x="35" y="28"/>
                  </a:moveTo>
                  <a:lnTo>
                    <a:pt x="35" y="56"/>
                  </a:lnTo>
                  <a:lnTo>
                    <a:pt x="0" y="28"/>
                  </a:lnTo>
                  <a:lnTo>
                    <a:pt x="0" y="0"/>
                  </a:lnTo>
                  <a:lnTo>
                    <a:pt x="35" y="2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34" name="Freeform 143"/>
            <p:cNvSpPr>
              <a:spLocks/>
            </p:cNvSpPr>
            <p:nvPr/>
          </p:nvSpPr>
          <p:spPr bwMode="auto">
            <a:xfrm>
              <a:off x="4117975" y="5199901"/>
              <a:ext cx="53975" cy="88900"/>
            </a:xfrm>
            <a:custGeom>
              <a:avLst/>
              <a:gdLst>
                <a:gd name="T0" fmla="*/ 2147483647 w 34"/>
                <a:gd name="T1" fmla="*/ 2147483647 h 56"/>
                <a:gd name="T2" fmla="*/ 2147483647 w 34"/>
                <a:gd name="T3" fmla="*/ 2147483647 h 56"/>
                <a:gd name="T4" fmla="*/ 0 w 34"/>
                <a:gd name="T5" fmla="*/ 2147483647 h 56"/>
                <a:gd name="T6" fmla="*/ 0 w 34"/>
                <a:gd name="T7" fmla="*/ 0 h 56"/>
                <a:gd name="T8" fmla="*/ 2147483647 w 34"/>
                <a:gd name="T9" fmla="*/ 2147483647 h 56"/>
                <a:gd name="T10" fmla="*/ 0 60000 65536"/>
                <a:gd name="T11" fmla="*/ 0 60000 65536"/>
                <a:gd name="T12" fmla="*/ 0 60000 65536"/>
                <a:gd name="T13" fmla="*/ 0 60000 65536"/>
                <a:gd name="T14" fmla="*/ 0 60000 65536"/>
                <a:gd name="T15" fmla="*/ 0 w 34"/>
                <a:gd name="T16" fmla="*/ 0 h 56"/>
                <a:gd name="T17" fmla="*/ 34 w 34"/>
                <a:gd name="T18" fmla="*/ 56 h 56"/>
              </a:gdLst>
              <a:ahLst/>
              <a:cxnLst>
                <a:cxn ang="T10">
                  <a:pos x="T0" y="T1"/>
                </a:cxn>
                <a:cxn ang="T11">
                  <a:pos x="T2" y="T3"/>
                </a:cxn>
                <a:cxn ang="T12">
                  <a:pos x="T4" y="T5"/>
                </a:cxn>
                <a:cxn ang="T13">
                  <a:pos x="T6" y="T7"/>
                </a:cxn>
                <a:cxn ang="T14">
                  <a:pos x="T8" y="T9"/>
                </a:cxn>
              </a:cxnLst>
              <a:rect l="T15" t="T16" r="T17" b="T18"/>
              <a:pathLst>
                <a:path w="34" h="56">
                  <a:moveTo>
                    <a:pt x="34" y="28"/>
                  </a:moveTo>
                  <a:lnTo>
                    <a:pt x="34" y="56"/>
                  </a:lnTo>
                  <a:lnTo>
                    <a:pt x="0" y="28"/>
                  </a:lnTo>
                  <a:lnTo>
                    <a:pt x="0" y="0"/>
                  </a:lnTo>
                  <a:lnTo>
                    <a:pt x="34" y="2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35" name="Freeform 144"/>
            <p:cNvSpPr>
              <a:spLocks/>
            </p:cNvSpPr>
            <p:nvPr/>
          </p:nvSpPr>
          <p:spPr bwMode="auto">
            <a:xfrm>
              <a:off x="4087813" y="5177676"/>
              <a:ext cx="26987" cy="65088"/>
            </a:xfrm>
            <a:custGeom>
              <a:avLst/>
              <a:gdLst>
                <a:gd name="T0" fmla="*/ 2147483647 w 17"/>
                <a:gd name="T1" fmla="*/ 2147483647 h 41"/>
                <a:gd name="T2" fmla="*/ 2147483647 w 17"/>
                <a:gd name="T3" fmla="*/ 2147483647 h 41"/>
                <a:gd name="T4" fmla="*/ 0 w 17"/>
                <a:gd name="T5" fmla="*/ 2147483647 h 41"/>
                <a:gd name="T6" fmla="*/ 0 w 17"/>
                <a:gd name="T7" fmla="*/ 0 h 41"/>
                <a:gd name="T8" fmla="*/ 2147483647 w 17"/>
                <a:gd name="T9" fmla="*/ 2147483647 h 41"/>
                <a:gd name="T10" fmla="*/ 0 60000 65536"/>
                <a:gd name="T11" fmla="*/ 0 60000 65536"/>
                <a:gd name="T12" fmla="*/ 0 60000 65536"/>
                <a:gd name="T13" fmla="*/ 0 60000 65536"/>
                <a:gd name="T14" fmla="*/ 0 60000 65536"/>
                <a:gd name="T15" fmla="*/ 0 w 17"/>
                <a:gd name="T16" fmla="*/ 0 h 41"/>
                <a:gd name="T17" fmla="*/ 17 w 17"/>
                <a:gd name="T18" fmla="*/ 41 h 41"/>
              </a:gdLst>
              <a:ahLst/>
              <a:cxnLst>
                <a:cxn ang="T10">
                  <a:pos x="T0" y="T1"/>
                </a:cxn>
                <a:cxn ang="T11">
                  <a:pos x="T2" y="T3"/>
                </a:cxn>
                <a:cxn ang="T12">
                  <a:pos x="T4" y="T5"/>
                </a:cxn>
                <a:cxn ang="T13">
                  <a:pos x="T6" y="T7"/>
                </a:cxn>
                <a:cxn ang="T14">
                  <a:pos x="T8" y="T9"/>
                </a:cxn>
              </a:cxnLst>
              <a:rect l="T15" t="T16" r="T17" b="T18"/>
              <a:pathLst>
                <a:path w="17" h="41">
                  <a:moveTo>
                    <a:pt x="17" y="13"/>
                  </a:moveTo>
                  <a:lnTo>
                    <a:pt x="17" y="41"/>
                  </a:lnTo>
                  <a:lnTo>
                    <a:pt x="0" y="25"/>
                  </a:lnTo>
                  <a:lnTo>
                    <a:pt x="0" y="0"/>
                  </a:lnTo>
                  <a:lnTo>
                    <a:pt x="17" y="13"/>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36" name="Freeform 145"/>
            <p:cNvSpPr>
              <a:spLocks/>
            </p:cNvSpPr>
            <p:nvPr/>
          </p:nvSpPr>
          <p:spPr bwMode="auto">
            <a:xfrm>
              <a:off x="4292600" y="5453901"/>
              <a:ext cx="19050" cy="65088"/>
            </a:xfrm>
            <a:custGeom>
              <a:avLst/>
              <a:gdLst>
                <a:gd name="T0" fmla="*/ 2147483647 w 12"/>
                <a:gd name="T1" fmla="*/ 2147483647 h 41"/>
                <a:gd name="T2" fmla="*/ 2147483647 w 12"/>
                <a:gd name="T3" fmla="*/ 2147483647 h 41"/>
                <a:gd name="T4" fmla="*/ 0 w 12"/>
                <a:gd name="T5" fmla="*/ 2147483647 h 41"/>
                <a:gd name="T6" fmla="*/ 0 w 12"/>
                <a:gd name="T7" fmla="*/ 0 h 41"/>
                <a:gd name="T8" fmla="*/ 2147483647 w 12"/>
                <a:gd name="T9" fmla="*/ 2147483647 h 41"/>
                <a:gd name="T10" fmla="*/ 0 60000 65536"/>
                <a:gd name="T11" fmla="*/ 0 60000 65536"/>
                <a:gd name="T12" fmla="*/ 0 60000 65536"/>
                <a:gd name="T13" fmla="*/ 0 60000 65536"/>
                <a:gd name="T14" fmla="*/ 0 60000 65536"/>
                <a:gd name="T15" fmla="*/ 0 w 12"/>
                <a:gd name="T16" fmla="*/ 0 h 41"/>
                <a:gd name="T17" fmla="*/ 12 w 12"/>
                <a:gd name="T18" fmla="*/ 41 h 41"/>
              </a:gdLst>
              <a:ahLst/>
              <a:cxnLst>
                <a:cxn ang="T10">
                  <a:pos x="T0" y="T1"/>
                </a:cxn>
                <a:cxn ang="T11">
                  <a:pos x="T2" y="T3"/>
                </a:cxn>
                <a:cxn ang="T12">
                  <a:pos x="T4" y="T5"/>
                </a:cxn>
                <a:cxn ang="T13">
                  <a:pos x="T6" y="T7"/>
                </a:cxn>
                <a:cxn ang="T14">
                  <a:pos x="T8" y="T9"/>
                </a:cxn>
              </a:cxnLst>
              <a:rect l="T15" t="T16" r="T17" b="T18"/>
              <a:pathLst>
                <a:path w="12" h="41">
                  <a:moveTo>
                    <a:pt x="12" y="10"/>
                  </a:moveTo>
                  <a:lnTo>
                    <a:pt x="12" y="41"/>
                  </a:lnTo>
                  <a:lnTo>
                    <a:pt x="0" y="30"/>
                  </a:lnTo>
                  <a:lnTo>
                    <a:pt x="0" y="0"/>
                  </a:lnTo>
                  <a:lnTo>
                    <a:pt x="12" y="1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37" name="Freeform 146"/>
            <p:cNvSpPr>
              <a:spLocks/>
            </p:cNvSpPr>
            <p:nvPr/>
          </p:nvSpPr>
          <p:spPr bwMode="auto">
            <a:xfrm>
              <a:off x="4233863" y="5403101"/>
              <a:ext cx="55562" cy="93663"/>
            </a:xfrm>
            <a:custGeom>
              <a:avLst/>
              <a:gdLst>
                <a:gd name="T0" fmla="*/ 2147483647 w 35"/>
                <a:gd name="T1" fmla="*/ 2147483647 h 59"/>
                <a:gd name="T2" fmla="*/ 2147483647 w 35"/>
                <a:gd name="T3" fmla="*/ 2147483647 h 59"/>
                <a:gd name="T4" fmla="*/ 0 w 35"/>
                <a:gd name="T5" fmla="*/ 2147483647 h 59"/>
                <a:gd name="T6" fmla="*/ 0 w 35"/>
                <a:gd name="T7" fmla="*/ 0 h 59"/>
                <a:gd name="T8" fmla="*/ 2147483647 w 35"/>
                <a:gd name="T9" fmla="*/ 2147483647 h 59"/>
                <a:gd name="T10" fmla="*/ 0 60000 65536"/>
                <a:gd name="T11" fmla="*/ 0 60000 65536"/>
                <a:gd name="T12" fmla="*/ 0 60000 65536"/>
                <a:gd name="T13" fmla="*/ 0 60000 65536"/>
                <a:gd name="T14" fmla="*/ 0 60000 65536"/>
                <a:gd name="T15" fmla="*/ 0 w 35"/>
                <a:gd name="T16" fmla="*/ 0 h 59"/>
                <a:gd name="T17" fmla="*/ 35 w 35"/>
                <a:gd name="T18" fmla="*/ 59 h 59"/>
              </a:gdLst>
              <a:ahLst/>
              <a:cxnLst>
                <a:cxn ang="T10">
                  <a:pos x="T0" y="T1"/>
                </a:cxn>
                <a:cxn ang="T11">
                  <a:pos x="T2" y="T3"/>
                </a:cxn>
                <a:cxn ang="T12">
                  <a:pos x="T4" y="T5"/>
                </a:cxn>
                <a:cxn ang="T13">
                  <a:pos x="T6" y="T7"/>
                </a:cxn>
                <a:cxn ang="T14">
                  <a:pos x="T8" y="T9"/>
                </a:cxn>
              </a:cxnLst>
              <a:rect l="T15" t="T16" r="T17" b="T18"/>
              <a:pathLst>
                <a:path w="35" h="59">
                  <a:moveTo>
                    <a:pt x="35" y="30"/>
                  </a:moveTo>
                  <a:lnTo>
                    <a:pt x="35" y="59"/>
                  </a:lnTo>
                  <a:lnTo>
                    <a:pt x="0" y="30"/>
                  </a:lnTo>
                  <a:lnTo>
                    <a:pt x="0" y="0"/>
                  </a:lnTo>
                  <a:lnTo>
                    <a:pt x="35" y="3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38" name="Freeform 147"/>
            <p:cNvSpPr>
              <a:spLocks/>
            </p:cNvSpPr>
            <p:nvPr/>
          </p:nvSpPr>
          <p:spPr bwMode="auto">
            <a:xfrm>
              <a:off x="4176713" y="5353889"/>
              <a:ext cx="55562" cy="93662"/>
            </a:xfrm>
            <a:custGeom>
              <a:avLst/>
              <a:gdLst>
                <a:gd name="T0" fmla="*/ 2147483647 w 35"/>
                <a:gd name="T1" fmla="*/ 2147483647 h 59"/>
                <a:gd name="T2" fmla="*/ 2147483647 w 35"/>
                <a:gd name="T3" fmla="*/ 2147483647 h 59"/>
                <a:gd name="T4" fmla="*/ 0 w 35"/>
                <a:gd name="T5" fmla="*/ 2147483647 h 59"/>
                <a:gd name="T6" fmla="*/ 0 w 35"/>
                <a:gd name="T7" fmla="*/ 0 h 59"/>
                <a:gd name="T8" fmla="*/ 2147483647 w 35"/>
                <a:gd name="T9" fmla="*/ 2147483647 h 59"/>
                <a:gd name="T10" fmla="*/ 0 60000 65536"/>
                <a:gd name="T11" fmla="*/ 0 60000 65536"/>
                <a:gd name="T12" fmla="*/ 0 60000 65536"/>
                <a:gd name="T13" fmla="*/ 0 60000 65536"/>
                <a:gd name="T14" fmla="*/ 0 60000 65536"/>
                <a:gd name="T15" fmla="*/ 0 w 35"/>
                <a:gd name="T16" fmla="*/ 0 h 59"/>
                <a:gd name="T17" fmla="*/ 35 w 35"/>
                <a:gd name="T18" fmla="*/ 59 h 59"/>
              </a:gdLst>
              <a:ahLst/>
              <a:cxnLst>
                <a:cxn ang="T10">
                  <a:pos x="T0" y="T1"/>
                </a:cxn>
                <a:cxn ang="T11">
                  <a:pos x="T2" y="T3"/>
                </a:cxn>
                <a:cxn ang="T12">
                  <a:pos x="T4" y="T5"/>
                </a:cxn>
                <a:cxn ang="T13">
                  <a:pos x="T6" y="T7"/>
                </a:cxn>
                <a:cxn ang="T14">
                  <a:pos x="T8" y="T9"/>
                </a:cxn>
              </a:cxnLst>
              <a:rect l="T15" t="T16" r="T17" b="T18"/>
              <a:pathLst>
                <a:path w="35" h="59">
                  <a:moveTo>
                    <a:pt x="35" y="30"/>
                  </a:moveTo>
                  <a:lnTo>
                    <a:pt x="35" y="59"/>
                  </a:lnTo>
                  <a:lnTo>
                    <a:pt x="0" y="28"/>
                  </a:lnTo>
                  <a:lnTo>
                    <a:pt x="0" y="0"/>
                  </a:lnTo>
                  <a:lnTo>
                    <a:pt x="35" y="3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39" name="Freeform 148"/>
            <p:cNvSpPr>
              <a:spLocks/>
            </p:cNvSpPr>
            <p:nvPr/>
          </p:nvSpPr>
          <p:spPr bwMode="auto">
            <a:xfrm>
              <a:off x="4117975" y="5303089"/>
              <a:ext cx="53975" cy="93662"/>
            </a:xfrm>
            <a:custGeom>
              <a:avLst/>
              <a:gdLst>
                <a:gd name="T0" fmla="*/ 2147483647 w 34"/>
                <a:gd name="T1" fmla="*/ 2147483647 h 59"/>
                <a:gd name="T2" fmla="*/ 2147483647 w 34"/>
                <a:gd name="T3" fmla="*/ 2147483647 h 59"/>
                <a:gd name="T4" fmla="*/ 0 w 34"/>
                <a:gd name="T5" fmla="*/ 2147483647 h 59"/>
                <a:gd name="T6" fmla="*/ 0 w 34"/>
                <a:gd name="T7" fmla="*/ 0 h 59"/>
                <a:gd name="T8" fmla="*/ 2147483647 w 34"/>
                <a:gd name="T9" fmla="*/ 2147483647 h 59"/>
                <a:gd name="T10" fmla="*/ 0 60000 65536"/>
                <a:gd name="T11" fmla="*/ 0 60000 65536"/>
                <a:gd name="T12" fmla="*/ 0 60000 65536"/>
                <a:gd name="T13" fmla="*/ 0 60000 65536"/>
                <a:gd name="T14" fmla="*/ 0 60000 65536"/>
                <a:gd name="T15" fmla="*/ 0 w 34"/>
                <a:gd name="T16" fmla="*/ 0 h 59"/>
                <a:gd name="T17" fmla="*/ 34 w 34"/>
                <a:gd name="T18" fmla="*/ 59 h 59"/>
              </a:gdLst>
              <a:ahLst/>
              <a:cxnLst>
                <a:cxn ang="T10">
                  <a:pos x="T0" y="T1"/>
                </a:cxn>
                <a:cxn ang="T11">
                  <a:pos x="T2" y="T3"/>
                </a:cxn>
                <a:cxn ang="T12">
                  <a:pos x="T4" y="T5"/>
                </a:cxn>
                <a:cxn ang="T13">
                  <a:pos x="T6" y="T7"/>
                </a:cxn>
                <a:cxn ang="T14">
                  <a:pos x="T8" y="T9"/>
                </a:cxn>
              </a:cxnLst>
              <a:rect l="T15" t="T16" r="T17" b="T18"/>
              <a:pathLst>
                <a:path w="34" h="59">
                  <a:moveTo>
                    <a:pt x="34" y="31"/>
                  </a:moveTo>
                  <a:lnTo>
                    <a:pt x="34" y="59"/>
                  </a:lnTo>
                  <a:lnTo>
                    <a:pt x="0" y="28"/>
                  </a:lnTo>
                  <a:lnTo>
                    <a:pt x="0" y="0"/>
                  </a:lnTo>
                  <a:lnTo>
                    <a:pt x="34" y="3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40" name="Freeform 149"/>
            <p:cNvSpPr>
              <a:spLocks/>
            </p:cNvSpPr>
            <p:nvPr/>
          </p:nvSpPr>
          <p:spPr bwMode="auto">
            <a:xfrm>
              <a:off x="4087813" y="5279276"/>
              <a:ext cx="26987" cy="66675"/>
            </a:xfrm>
            <a:custGeom>
              <a:avLst/>
              <a:gdLst>
                <a:gd name="T0" fmla="*/ 2147483647 w 17"/>
                <a:gd name="T1" fmla="*/ 2147483647 h 42"/>
                <a:gd name="T2" fmla="*/ 2147483647 w 17"/>
                <a:gd name="T3" fmla="*/ 2147483647 h 42"/>
                <a:gd name="T4" fmla="*/ 0 w 17"/>
                <a:gd name="T5" fmla="*/ 2147483647 h 42"/>
                <a:gd name="T6" fmla="*/ 0 w 17"/>
                <a:gd name="T7" fmla="*/ 0 h 42"/>
                <a:gd name="T8" fmla="*/ 2147483647 w 17"/>
                <a:gd name="T9" fmla="*/ 2147483647 h 42"/>
                <a:gd name="T10" fmla="*/ 0 60000 65536"/>
                <a:gd name="T11" fmla="*/ 0 60000 65536"/>
                <a:gd name="T12" fmla="*/ 0 60000 65536"/>
                <a:gd name="T13" fmla="*/ 0 60000 65536"/>
                <a:gd name="T14" fmla="*/ 0 60000 65536"/>
                <a:gd name="T15" fmla="*/ 0 w 17"/>
                <a:gd name="T16" fmla="*/ 0 h 42"/>
                <a:gd name="T17" fmla="*/ 17 w 17"/>
                <a:gd name="T18" fmla="*/ 42 h 42"/>
              </a:gdLst>
              <a:ahLst/>
              <a:cxnLst>
                <a:cxn ang="T10">
                  <a:pos x="T0" y="T1"/>
                </a:cxn>
                <a:cxn ang="T11">
                  <a:pos x="T2" y="T3"/>
                </a:cxn>
                <a:cxn ang="T12">
                  <a:pos x="T4" y="T5"/>
                </a:cxn>
                <a:cxn ang="T13">
                  <a:pos x="T6" y="T7"/>
                </a:cxn>
                <a:cxn ang="T14">
                  <a:pos x="T8" y="T9"/>
                </a:cxn>
              </a:cxnLst>
              <a:rect l="T15" t="T16" r="T17" b="T18"/>
              <a:pathLst>
                <a:path w="17" h="42">
                  <a:moveTo>
                    <a:pt x="17" y="14"/>
                  </a:moveTo>
                  <a:lnTo>
                    <a:pt x="17" y="42"/>
                  </a:lnTo>
                  <a:lnTo>
                    <a:pt x="0" y="27"/>
                  </a:lnTo>
                  <a:lnTo>
                    <a:pt x="0" y="0"/>
                  </a:lnTo>
                  <a:lnTo>
                    <a:pt x="17" y="14"/>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41" name="Freeform 150"/>
            <p:cNvSpPr>
              <a:spLocks/>
            </p:cNvSpPr>
            <p:nvPr/>
          </p:nvSpPr>
          <p:spPr bwMode="auto">
            <a:xfrm>
              <a:off x="4292600" y="5574551"/>
              <a:ext cx="17463" cy="60325"/>
            </a:xfrm>
            <a:custGeom>
              <a:avLst/>
              <a:gdLst>
                <a:gd name="T0" fmla="*/ 2147483647 w 11"/>
                <a:gd name="T1" fmla="*/ 2147483647 h 38"/>
                <a:gd name="T2" fmla="*/ 2147483647 w 11"/>
                <a:gd name="T3" fmla="*/ 2147483647 h 38"/>
                <a:gd name="T4" fmla="*/ 0 w 11"/>
                <a:gd name="T5" fmla="*/ 2147483647 h 38"/>
                <a:gd name="T6" fmla="*/ 0 w 11"/>
                <a:gd name="T7" fmla="*/ 0 h 38"/>
                <a:gd name="T8" fmla="*/ 2147483647 w 11"/>
                <a:gd name="T9" fmla="*/ 2147483647 h 38"/>
                <a:gd name="T10" fmla="*/ 0 60000 65536"/>
                <a:gd name="T11" fmla="*/ 0 60000 65536"/>
                <a:gd name="T12" fmla="*/ 0 60000 65536"/>
                <a:gd name="T13" fmla="*/ 0 60000 65536"/>
                <a:gd name="T14" fmla="*/ 0 60000 65536"/>
                <a:gd name="T15" fmla="*/ 0 w 11"/>
                <a:gd name="T16" fmla="*/ 0 h 38"/>
                <a:gd name="T17" fmla="*/ 11 w 11"/>
                <a:gd name="T18" fmla="*/ 38 h 38"/>
              </a:gdLst>
              <a:ahLst/>
              <a:cxnLst>
                <a:cxn ang="T10">
                  <a:pos x="T0" y="T1"/>
                </a:cxn>
                <a:cxn ang="T11">
                  <a:pos x="T2" y="T3"/>
                </a:cxn>
                <a:cxn ang="T12">
                  <a:pos x="T4" y="T5"/>
                </a:cxn>
                <a:cxn ang="T13">
                  <a:pos x="T6" y="T7"/>
                </a:cxn>
                <a:cxn ang="T14">
                  <a:pos x="T8" y="T9"/>
                </a:cxn>
              </a:cxnLst>
              <a:rect l="T15" t="T16" r="T17" b="T18"/>
              <a:pathLst>
                <a:path w="11" h="38">
                  <a:moveTo>
                    <a:pt x="11" y="8"/>
                  </a:moveTo>
                  <a:lnTo>
                    <a:pt x="11" y="38"/>
                  </a:lnTo>
                  <a:lnTo>
                    <a:pt x="0" y="27"/>
                  </a:lnTo>
                  <a:lnTo>
                    <a:pt x="0" y="0"/>
                  </a:lnTo>
                  <a:lnTo>
                    <a:pt x="11" y="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42" name="Freeform 151"/>
            <p:cNvSpPr>
              <a:spLocks/>
            </p:cNvSpPr>
            <p:nvPr/>
          </p:nvSpPr>
          <p:spPr bwMode="auto">
            <a:xfrm>
              <a:off x="4233863" y="5517401"/>
              <a:ext cx="55562" cy="100013"/>
            </a:xfrm>
            <a:custGeom>
              <a:avLst/>
              <a:gdLst>
                <a:gd name="T0" fmla="*/ 2147483647 w 35"/>
                <a:gd name="T1" fmla="*/ 2147483647 h 63"/>
                <a:gd name="T2" fmla="*/ 2147483647 w 35"/>
                <a:gd name="T3" fmla="*/ 2147483647 h 63"/>
                <a:gd name="T4" fmla="*/ 0 w 35"/>
                <a:gd name="T5" fmla="*/ 2147483647 h 63"/>
                <a:gd name="T6" fmla="*/ 0 w 35"/>
                <a:gd name="T7" fmla="*/ 0 h 63"/>
                <a:gd name="T8" fmla="*/ 2147483647 w 35"/>
                <a:gd name="T9" fmla="*/ 2147483647 h 63"/>
                <a:gd name="T10" fmla="*/ 0 60000 65536"/>
                <a:gd name="T11" fmla="*/ 0 60000 65536"/>
                <a:gd name="T12" fmla="*/ 0 60000 65536"/>
                <a:gd name="T13" fmla="*/ 0 60000 65536"/>
                <a:gd name="T14" fmla="*/ 0 60000 65536"/>
                <a:gd name="T15" fmla="*/ 0 w 35"/>
                <a:gd name="T16" fmla="*/ 0 h 63"/>
                <a:gd name="T17" fmla="*/ 35 w 35"/>
                <a:gd name="T18" fmla="*/ 63 h 63"/>
              </a:gdLst>
              <a:ahLst/>
              <a:cxnLst>
                <a:cxn ang="T10">
                  <a:pos x="T0" y="T1"/>
                </a:cxn>
                <a:cxn ang="T11">
                  <a:pos x="T2" y="T3"/>
                </a:cxn>
                <a:cxn ang="T12">
                  <a:pos x="T4" y="T5"/>
                </a:cxn>
                <a:cxn ang="T13">
                  <a:pos x="T6" y="T7"/>
                </a:cxn>
                <a:cxn ang="T14">
                  <a:pos x="T8" y="T9"/>
                </a:cxn>
              </a:cxnLst>
              <a:rect l="T15" t="T16" r="T17" b="T18"/>
              <a:pathLst>
                <a:path w="35" h="63">
                  <a:moveTo>
                    <a:pt x="35" y="32"/>
                  </a:moveTo>
                  <a:lnTo>
                    <a:pt x="35" y="63"/>
                  </a:lnTo>
                  <a:lnTo>
                    <a:pt x="0" y="29"/>
                  </a:lnTo>
                  <a:lnTo>
                    <a:pt x="0" y="0"/>
                  </a:lnTo>
                  <a:lnTo>
                    <a:pt x="35" y="3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43" name="Freeform 152"/>
            <p:cNvSpPr>
              <a:spLocks/>
            </p:cNvSpPr>
            <p:nvPr/>
          </p:nvSpPr>
          <p:spPr bwMode="auto">
            <a:xfrm>
              <a:off x="4176713" y="5463426"/>
              <a:ext cx="55562" cy="95250"/>
            </a:xfrm>
            <a:custGeom>
              <a:avLst/>
              <a:gdLst>
                <a:gd name="T0" fmla="*/ 2147483647 w 35"/>
                <a:gd name="T1" fmla="*/ 2147483647 h 60"/>
                <a:gd name="T2" fmla="*/ 2147483647 w 35"/>
                <a:gd name="T3" fmla="*/ 2147483647 h 60"/>
                <a:gd name="T4" fmla="*/ 0 w 35"/>
                <a:gd name="T5" fmla="*/ 2147483647 h 60"/>
                <a:gd name="T6" fmla="*/ 0 w 35"/>
                <a:gd name="T7" fmla="*/ 0 h 60"/>
                <a:gd name="T8" fmla="*/ 2147483647 w 35"/>
                <a:gd name="T9" fmla="*/ 2147483647 h 60"/>
                <a:gd name="T10" fmla="*/ 0 60000 65536"/>
                <a:gd name="T11" fmla="*/ 0 60000 65536"/>
                <a:gd name="T12" fmla="*/ 0 60000 65536"/>
                <a:gd name="T13" fmla="*/ 0 60000 65536"/>
                <a:gd name="T14" fmla="*/ 0 60000 65536"/>
                <a:gd name="T15" fmla="*/ 0 w 35"/>
                <a:gd name="T16" fmla="*/ 0 h 60"/>
                <a:gd name="T17" fmla="*/ 35 w 35"/>
                <a:gd name="T18" fmla="*/ 60 h 60"/>
              </a:gdLst>
              <a:ahLst/>
              <a:cxnLst>
                <a:cxn ang="T10">
                  <a:pos x="T0" y="T1"/>
                </a:cxn>
                <a:cxn ang="T11">
                  <a:pos x="T2" y="T3"/>
                </a:cxn>
                <a:cxn ang="T12">
                  <a:pos x="T4" y="T5"/>
                </a:cxn>
                <a:cxn ang="T13">
                  <a:pos x="T6" y="T7"/>
                </a:cxn>
                <a:cxn ang="T14">
                  <a:pos x="T8" y="T9"/>
                </a:cxn>
              </a:cxnLst>
              <a:rect l="T15" t="T16" r="T17" b="T18"/>
              <a:pathLst>
                <a:path w="35" h="60">
                  <a:moveTo>
                    <a:pt x="35" y="32"/>
                  </a:moveTo>
                  <a:lnTo>
                    <a:pt x="35" y="60"/>
                  </a:lnTo>
                  <a:lnTo>
                    <a:pt x="0" y="28"/>
                  </a:lnTo>
                  <a:lnTo>
                    <a:pt x="0" y="0"/>
                  </a:lnTo>
                  <a:lnTo>
                    <a:pt x="35" y="3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44" name="Freeform 153"/>
            <p:cNvSpPr>
              <a:spLocks/>
            </p:cNvSpPr>
            <p:nvPr/>
          </p:nvSpPr>
          <p:spPr bwMode="auto">
            <a:xfrm>
              <a:off x="4116388" y="5406276"/>
              <a:ext cx="55562" cy="96838"/>
            </a:xfrm>
            <a:custGeom>
              <a:avLst/>
              <a:gdLst>
                <a:gd name="T0" fmla="*/ 2147483647 w 35"/>
                <a:gd name="T1" fmla="*/ 2147483647 h 61"/>
                <a:gd name="T2" fmla="*/ 2147483647 w 35"/>
                <a:gd name="T3" fmla="*/ 2147483647 h 61"/>
                <a:gd name="T4" fmla="*/ 0 w 35"/>
                <a:gd name="T5" fmla="*/ 2147483647 h 61"/>
                <a:gd name="T6" fmla="*/ 0 w 35"/>
                <a:gd name="T7" fmla="*/ 0 h 61"/>
                <a:gd name="T8" fmla="*/ 2147483647 w 35"/>
                <a:gd name="T9" fmla="*/ 2147483647 h 61"/>
                <a:gd name="T10" fmla="*/ 0 60000 65536"/>
                <a:gd name="T11" fmla="*/ 0 60000 65536"/>
                <a:gd name="T12" fmla="*/ 0 60000 65536"/>
                <a:gd name="T13" fmla="*/ 0 60000 65536"/>
                <a:gd name="T14" fmla="*/ 0 60000 65536"/>
                <a:gd name="T15" fmla="*/ 0 w 35"/>
                <a:gd name="T16" fmla="*/ 0 h 61"/>
                <a:gd name="T17" fmla="*/ 35 w 35"/>
                <a:gd name="T18" fmla="*/ 61 h 61"/>
              </a:gdLst>
              <a:ahLst/>
              <a:cxnLst>
                <a:cxn ang="T10">
                  <a:pos x="T0" y="T1"/>
                </a:cxn>
                <a:cxn ang="T11">
                  <a:pos x="T2" y="T3"/>
                </a:cxn>
                <a:cxn ang="T12">
                  <a:pos x="T4" y="T5"/>
                </a:cxn>
                <a:cxn ang="T13">
                  <a:pos x="T6" y="T7"/>
                </a:cxn>
                <a:cxn ang="T14">
                  <a:pos x="T8" y="T9"/>
                </a:cxn>
              </a:cxnLst>
              <a:rect l="T15" t="T16" r="T17" b="T18"/>
              <a:pathLst>
                <a:path w="35" h="61">
                  <a:moveTo>
                    <a:pt x="35" y="35"/>
                  </a:moveTo>
                  <a:lnTo>
                    <a:pt x="35" y="61"/>
                  </a:lnTo>
                  <a:lnTo>
                    <a:pt x="0" y="29"/>
                  </a:lnTo>
                  <a:lnTo>
                    <a:pt x="0" y="0"/>
                  </a:lnTo>
                  <a:lnTo>
                    <a:pt x="35" y="3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45" name="Freeform 154"/>
            <p:cNvSpPr>
              <a:spLocks/>
            </p:cNvSpPr>
            <p:nvPr/>
          </p:nvSpPr>
          <p:spPr bwMode="auto">
            <a:xfrm>
              <a:off x="4087813" y="5380876"/>
              <a:ext cx="26987" cy="66675"/>
            </a:xfrm>
            <a:custGeom>
              <a:avLst/>
              <a:gdLst>
                <a:gd name="T0" fmla="*/ 2147483647 w 17"/>
                <a:gd name="T1" fmla="*/ 2147483647 h 42"/>
                <a:gd name="T2" fmla="*/ 2147483647 w 17"/>
                <a:gd name="T3" fmla="*/ 2147483647 h 42"/>
                <a:gd name="T4" fmla="*/ 0 w 17"/>
                <a:gd name="T5" fmla="*/ 2147483647 h 42"/>
                <a:gd name="T6" fmla="*/ 0 w 17"/>
                <a:gd name="T7" fmla="*/ 0 h 42"/>
                <a:gd name="T8" fmla="*/ 2147483647 w 17"/>
                <a:gd name="T9" fmla="*/ 2147483647 h 42"/>
                <a:gd name="T10" fmla="*/ 0 60000 65536"/>
                <a:gd name="T11" fmla="*/ 0 60000 65536"/>
                <a:gd name="T12" fmla="*/ 0 60000 65536"/>
                <a:gd name="T13" fmla="*/ 0 60000 65536"/>
                <a:gd name="T14" fmla="*/ 0 60000 65536"/>
                <a:gd name="T15" fmla="*/ 0 w 17"/>
                <a:gd name="T16" fmla="*/ 0 h 42"/>
                <a:gd name="T17" fmla="*/ 17 w 17"/>
                <a:gd name="T18" fmla="*/ 42 h 42"/>
              </a:gdLst>
              <a:ahLst/>
              <a:cxnLst>
                <a:cxn ang="T10">
                  <a:pos x="T0" y="T1"/>
                </a:cxn>
                <a:cxn ang="T11">
                  <a:pos x="T2" y="T3"/>
                </a:cxn>
                <a:cxn ang="T12">
                  <a:pos x="T4" y="T5"/>
                </a:cxn>
                <a:cxn ang="T13">
                  <a:pos x="T6" y="T7"/>
                </a:cxn>
                <a:cxn ang="T14">
                  <a:pos x="T8" y="T9"/>
                </a:cxn>
              </a:cxnLst>
              <a:rect l="T15" t="T16" r="T17" b="T18"/>
              <a:pathLst>
                <a:path w="17" h="42">
                  <a:moveTo>
                    <a:pt x="17" y="14"/>
                  </a:moveTo>
                  <a:lnTo>
                    <a:pt x="17" y="42"/>
                  </a:lnTo>
                  <a:lnTo>
                    <a:pt x="0" y="26"/>
                  </a:lnTo>
                  <a:lnTo>
                    <a:pt x="0" y="0"/>
                  </a:lnTo>
                  <a:lnTo>
                    <a:pt x="17" y="1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46" name="Freeform 155"/>
            <p:cNvSpPr>
              <a:spLocks/>
            </p:cNvSpPr>
            <p:nvPr/>
          </p:nvSpPr>
          <p:spPr bwMode="auto">
            <a:xfrm>
              <a:off x="4292600" y="5687264"/>
              <a:ext cx="17463" cy="69850"/>
            </a:xfrm>
            <a:custGeom>
              <a:avLst/>
              <a:gdLst>
                <a:gd name="T0" fmla="*/ 2147483647 w 11"/>
                <a:gd name="T1" fmla="*/ 2147483647 h 44"/>
                <a:gd name="T2" fmla="*/ 2147483647 w 11"/>
                <a:gd name="T3" fmla="*/ 2147483647 h 44"/>
                <a:gd name="T4" fmla="*/ 0 w 11"/>
                <a:gd name="T5" fmla="*/ 2147483647 h 44"/>
                <a:gd name="T6" fmla="*/ 0 w 11"/>
                <a:gd name="T7" fmla="*/ 0 h 44"/>
                <a:gd name="T8" fmla="*/ 2147483647 w 11"/>
                <a:gd name="T9" fmla="*/ 2147483647 h 44"/>
                <a:gd name="T10" fmla="*/ 0 60000 65536"/>
                <a:gd name="T11" fmla="*/ 0 60000 65536"/>
                <a:gd name="T12" fmla="*/ 0 60000 65536"/>
                <a:gd name="T13" fmla="*/ 0 60000 65536"/>
                <a:gd name="T14" fmla="*/ 0 60000 65536"/>
                <a:gd name="T15" fmla="*/ 0 w 11"/>
                <a:gd name="T16" fmla="*/ 0 h 44"/>
                <a:gd name="T17" fmla="*/ 11 w 11"/>
                <a:gd name="T18" fmla="*/ 44 h 44"/>
              </a:gdLst>
              <a:ahLst/>
              <a:cxnLst>
                <a:cxn ang="T10">
                  <a:pos x="T0" y="T1"/>
                </a:cxn>
                <a:cxn ang="T11">
                  <a:pos x="T2" y="T3"/>
                </a:cxn>
                <a:cxn ang="T12">
                  <a:pos x="T4" y="T5"/>
                </a:cxn>
                <a:cxn ang="T13">
                  <a:pos x="T6" y="T7"/>
                </a:cxn>
                <a:cxn ang="T14">
                  <a:pos x="T8" y="T9"/>
                </a:cxn>
              </a:cxnLst>
              <a:rect l="T15" t="T16" r="T17" b="T18"/>
              <a:pathLst>
                <a:path w="11" h="44">
                  <a:moveTo>
                    <a:pt x="11" y="13"/>
                  </a:moveTo>
                  <a:lnTo>
                    <a:pt x="11" y="44"/>
                  </a:lnTo>
                  <a:lnTo>
                    <a:pt x="0" y="32"/>
                  </a:lnTo>
                  <a:lnTo>
                    <a:pt x="0" y="0"/>
                  </a:lnTo>
                  <a:lnTo>
                    <a:pt x="11" y="1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47" name="Freeform 156"/>
            <p:cNvSpPr>
              <a:spLocks/>
            </p:cNvSpPr>
            <p:nvPr/>
          </p:nvSpPr>
          <p:spPr bwMode="auto">
            <a:xfrm>
              <a:off x="4233863" y="5630114"/>
              <a:ext cx="55562" cy="103187"/>
            </a:xfrm>
            <a:custGeom>
              <a:avLst/>
              <a:gdLst>
                <a:gd name="T0" fmla="*/ 2147483647 w 35"/>
                <a:gd name="T1" fmla="*/ 2147483647 h 65"/>
                <a:gd name="T2" fmla="*/ 2147483647 w 35"/>
                <a:gd name="T3" fmla="*/ 2147483647 h 65"/>
                <a:gd name="T4" fmla="*/ 0 w 35"/>
                <a:gd name="T5" fmla="*/ 2147483647 h 65"/>
                <a:gd name="T6" fmla="*/ 0 w 35"/>
                <a:gd name="T7" fmla="*/ 0 h 65"/>
                <a:gd name="T8" fmla="*/ 2147483647 w 35"/>
                <a:gd name="T9" fmla="*/ 2147483647 h 65"/>
                <a:gd name="T10" fmla="*/ 0 60000 65536"/>
                <a:gd name="T11" fmla="*/ 0 60000 65536"/>
                <a:gd name="T12" fmla="*/ 0 60000 65536"/>
                <a:gd name="T13" fmla="*/ 0 60000 65536"/>
                <a:gd name="T14" fmla="*/ 0 60000 65536"/>
                <a:gd name="T15" fmla="*/ 0 w 35"/>
                <a:gd name="T16" fmla="*/ 0 h 65"/>
                <a:gd name="T17" fmla="*/ 35 w 35"/>
                <a:gd name="T18" fmla="*/ 65 h 65"/>
              </a:gdLst>
              <a:ahLst/>
              <a:cxnLst>
                <a:cxn ang="T10">
                  <a:pos x="T0" y="T1"/>
                </a:cxn>
                <a:cxn ang="T11">
                  <a:pos x="T2" y="T3"/>
                </a:cxn>
                <a:cxn ang="T12">
                  <a:pos x="T4" y="T5"/>
                </a:cxn>
                <a:cxn ang="T13">
                  <a:pos x="T6" y="T7"/>
                </a:cxn>
                <a:cxn ang="T14">
                  <a:pos x="T8" y="T9"/>
                </a:cxn>
              </a:cxnLst>
              <a:rect l="T15" t="T16" r="T17" b="T18"/>
              <a:pathLst>
                <a:path w="35" h="65">
                  <a:moveTo>
                    <a:pt x="35" y="35"/>
                  </a:moveTo>
                  <a:lnTo>
                    <a:pt x="35" y="65"/>
                  </a:lnTo>
                  <a:lnTo>
                    <a:pt x="0" y="29"/>
                  </a:lnTo>
                  <a:lnTo>
                    <a:pt x="0" y="0"/>
                  </a:lnTo>
                  <a:lnTo>
                    <a:pt x="35" y="3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48" name="Freeform 157"/>
            <p:cNvSpPr>
              <a:spLocks/>
            </p:cNvSpPr>
            <p:nvPr/>
          </p:nvSpPr>
          <p:spPr bwMode="auto">
            <a:xfrm>
              <a:off x="4176713" y="5569789"/>
              <a:ext cx="55562" cy="103187"/>
            </a:xfrm>
            <a:custGeom>
              <a:avLst/>
              <a:gdLst>
                <a:gd name="T0" fmla="*/ 2147483647 w 35"/>
                <a:gd name="T1" fmla="*/ 2147483647 h 65"/>
                <a:gd name="T2" fmla="*/ 2147483647 w 35"/>
                <a:gd name="T3" fmla="*/ 2147483647 h 65"/>
                <a:gd name="T4" fmla="*/ 0 w 35"/>
                <a:gd name="T5" fmla="*/ 2147483647 h 65"/>
                <a:gd name="T6" fmla="*/ 0 w 35"/>
                <a:gd name="T7" fmla="*/ 0 h 65"/>
                <a:gd name="T8" fmla="*/ 2147483647 w 35"/>
                <a:gd name="T9" fmla="*/ 2147483647 h 65"/>
                <a:gd name="T10" fmla="*/ 0 60000 65536"/>
                <a:gd name="T11" fmla="*/ 0 60000 65536"/>
                <a:gd name="T12" fmla="*/ 0 60000 65536"/>
                <a:gd name="T13" fmla="*/ 0 60000 65536"/>
                <a:gd name="T14" fmla="*/ 0 60000 65536"/>
                <a:gd name="T15" fmla="*/ 0 w 35"/>
                <a:gd name="T16" fmla="*/ 0 h 65"/>
                <a:gd name="T17" fmla="*/ 35 w 35"/>
                <a:gd name="T18" fmla="*/ 65 h 65"/>
              </a:gdLst>
              <a:ahLst/>
              <a:cxnLst>
                <a:cxn ang="T10">
                  <a:pos x="T0" y="T1"/>
                </a:cxn>
                <a:cxn ang="T11">
                  <a:pos x="T2" y="T3"/>
                </a:cxn>
                <a:cxn ang="T12">
                  <a:pos x="T4" y="T5"/>
                </a:cxn>
                <a:cxn ang="T13">
                  <a:pos x="T6" y="T7"/>
                </a:cxn>
                <a:cxn ang="T14">
                  <a:pos x="T8" y="T9"/>
                </a:cxn>
              </a:cxnLst>
              <a:rect l="T15" t="T16" r="T17" b="T18"/>
              <a:pathLst>
                <a:path w="35" h="65">
                  <a:moveTo>
                    <a:pt x="35" y="37"/>
                  </a:moveTo>
                  <a:lnTo>
                    <a:pt x="35" y="65"/>
                  </a:lnTo>
                  <a:lnTo>
                    <a:pt x="0" y="30"/>
                  </a:lnTo>
                  <a:lnTo>
                    <a:pt x="0" y="0"/>
                  </a:lnTo>
                  <a:lnTo>
                    <a:pt x="35" y="3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49" name="Freeform 158"/>
            <p:cNvSpPr>
              <a:spLocks/>
            </p:cNvSpPr>
            <p:nvPr/>
          </p:nvSpPr>
          <p:spPr bwMode="auto">
            <a:xfrm>
              <a:off x="4117975" y="5512639"/>
              <a:ext cx="53975" cy="100012"/>
            </a:xfrm>
            <a:custGeom>
              <a:avLst/>
              <a:gdLst>
                <a:gd name="T0" fmla="*/ 2147483647 w 34"/>
                <a:gd name="T1" fmla="*/ 2147483647 h 63"/>
                <a:gd name="T2" fmla="*/ 2147483647 w 34"/>
                <a:gd name="T3" fmla="*/ 2147483647 h 63"/>
                <a:gd name="T4" fmla="*/ 0 w 34"/>
                <a:gd name="T5" fmla="*/ 2147483647 h 63"/>
                <a:gd name="T6" fmla="*/ 0 w 34"/>
                <a:gd name="T7" fmla="*/ 0 h 63"/>
                <a:gd name="T8" fmla="*/ 2147483647 w 34"/>
                <a:gd name="T9" fmla="*/ 2147483647 h 63"/>
                <a:gd name="T10" fmla="*/ 0 60000 65536"/>
                <a:gd name="T11" fmla="*/ 0 60000 65536"/>
                <a:gd name="T12" fmla="*/ 0 60000 65536"/>
                <a:gd name="T13" fmla="*/ 0 60000 65536"/>
                <a:gd name="T14" fmla="*/ 0 60000 65536"/>
                <a:gd name="T15" fmla="*/ 0 w 34"/>
                <a:gd name="T16" fmla="*/ 0 h 63"/>
                <a:gd name="T17" fmla="*/ 34 w 34"/>
                <a:gd name="T18" fmla="*/ 63 h 63"/>
              </a:gdLst>
              <a:ahLst/>
              <a:cxnLst>
                <a:cxn ang="T10">
                  <a:pos x="T0" y="T1"/>
                </a:cxn>
                <a:cxn ang="T11">
                  <a:pos x="T2" y="T3"/>
                </a:cxn>
                <a:cxn ang="T12">
                  <a:pos x="T4" y="T5"/>
                </a:cxn>
                <a:cxn ang="T13">
                  <a:pos x="T6" y="T7"/>
                </a:cxn>
                <a:cxn ang="T14">
                  <a:pos x="T8" y="T9"/>
                </a:cxn>
              </a:cxnLst>
              <a:rect l="T15" t="T16" r="T17" b="T18"/>
              <a:pathLst>
                <a:path w="34" h="63">
                  <a:moveTo>
                    <a:pt x="34" y="35"/>
                  </a:moveTo>
                  <a:lnTo>
                    <a:pt x="34" y="63"/>
                  </a:lnTo>
                  <a:lnTo>
                    <a:pt x="0" y="28"/>
                  </a:lnTo>
                  <a:lnTo>
                    <a:pt x="0" y="0"/>
                  </a:lnTo>
                  <a:lnTo>
                    <a:pt x="34" y="35"/>
                  </a:lnTo>
                  <a:close/>
                </a:path>
              </a:pathLst>
            </a:custGeom>
            <a:solidFill>
              <a:srgbClr val="2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50" name="Freeform 159"/>
            <p:cNvSpPr>
              <a:spLocks/>
            </p:cNvSpPr>
            <p:nvPr/>
          </p:nvSpPr>
          <p:spPr bwMode="auto">
            <a:xfrm>
              <a:off x="4087813" y="5485651"/>
              <a:ext cx="26987" cy="69850"/>
            </a:xfrm>
            <a:custGeom>
              <a:avLst/>
              <a:gdLst>
                <a:gd name="T0" fmla="*/ 2147483647 w 17"/>
                <a:gd name="T1" fmla="*/ 2147483647 h 44"/>
                <a:gd name="T2" fmla="*/ 2147483647 w 17"/>
                <a:gd name="T3" fmla="*/ 2147483647 h 44"/>
                <a:gd name="T4" fmla="*/ 0 w 17"/>
                <a:gd name="T5" fmla="*/ 2147483647 h 44"/>
                <a:gd name="T6" fmla="*/ 0 w 17"/>
                <a:gd name="T7" fmla="*/ 0 h 44"/>
                <a:gd name="T8" fmla="*/ 2147483647 w 17"/>
                <a:gd name="T9" fmla="*/ 2147483647 h 44"/>
                <a:gd name="T10" fmla="*/ 0 60000 65536"/>
                <a:gd name="T11" fmla="*/ 0 60000 65536"/>
                <a:gd name="T12" fmla="*/ 0 60000 65536"/>
                <a:gd name="T13" fmla="*/ 0 60000 65536"/>
                <a:gd name="T14" fmla="*/ 0 60000 65536"/>
                <a:gd name="T15" fmla="*/ 0 w 17"/>
                <a:gd name="T16" fmla="*/ 0 h 44"/>
                <a:gd name="T17" fmla="*/ 17 w 17"/>
                <a:gd name="T18" fmla="*/ 44 h 44"/>
              </a:gdLst>
              <a:ahLst/>
              <a:cxnLst>
                <a:cxn ang="T10">
                  <a:pos x="T0" y="T1"/>
                </a:cxn>
                <a:cxn ang="T11">
                  <a:pos x="T2" y="T3"/>
                </a:cxn>
                <a:cxn ang="T12">
                  <a:pos x="T4" y="T5"/>
                </a:cxn>
                <a:cxn ang="T13">
                  <a:pos x="T6" y="T7"/>
                </a:cxn>
                <a:cxn ang="T14">
                  <a:pos x="T8" y="T9"/>
                </a:cxn>
              </a:cxnLst>
              <a:rect l="T15" t="T16" r="T17" b="T18"/>
              <a:pathLst>
                <a:path w="17" h="44">
                  <a:moveTo>
                    <a:pt x="17" y="16"/>
                  </a:moveTo>
                  <a:lnTo>
                    <a:pt x="17" y="44"/>
                  </a:lnTo>
                  <a:lnTo>
                    <a:pt x="0" y="24"/>
                  </a:lnTo>
                  <a:lnTo>
                    <a:pt x="0" y="0"/>
                  </a:lnTo>
                  <a:lnTo>
                    <a:pt x="17" y="16"/>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51" name="Freeform 160"/>
            <p:cNvSpPr>
              <a:spLocks/>
            </p:cNvSpPr>
            <p:nvPr/>
          </p:nvSpPr>
          <p:spPr bwMode="auto">
            <a:xfrm>
              <a:off x="4087813" y="5534864"/>
              <a:ext cx="46037" cy="87312"/>
            </a:xfrm>
            <a:custGeom>
              <a:avLst/>
              <a:gdLst>
                <a:gd name="T0" fmla="*/ 2147483647 w 29"/>
                <a:gd name="T1" fmla="*/ 2147483647 h 55"/>
                <a:gd name="T2" fmla="*/ 2147483647 w 29"/>
                <a:gd name="T3" fmla="*/ 2147483647 h 55"/>
                <a:gd name="T4" fmla="*/ 0 w 29"/>
                <a:gd name="T5" fmla="*/ 2147483647 h 55"/>
                <a:gd name="T6" fmla="*/ 0 w 29"/>
                <a:gd name="T7" fmla="*/ 0 h 55"/>
                <a:gd name="T8" fmla="*/ 2147483647 w 29"/>
                <a:gd name="T9" fmla="*/ 2147483647 h 55"/>
                <a:gd name="T10" fmla="*/ 0 60000 65536"/>
                <a:gd name="T11" fmla="*/ 0 60000 65536"/>
                <a:gd name="T12" fmla="*/ 0 60000 65536"/>
                <a:gd name="T13" fmla="*/ 0 60000 65536"/>
                <a:gd name="T14" fmla="*/ 0 60000 65536"/>
                <a:gd name="T15" fmla="*/ 0 w 29"/>
                <a:gd name="T16" fmla="*/ 0 h 55"/>
                <a:gd name="T17" fmla="*/ 29 w 29"/>
                <a:gd name="T18" fmla="*/ 55 h 55"/>
              </a:gdLst>
              <a:ahLst/>
              <a:cxnLst>
                <a:cxn ang="T10">
                  <a:pos x="T0" y="T1"/>
                </a:cxn>
                <a:cxn ang="T11">
                  <a:pos x="T2" y="T3"/>
                </a:cxn>
                <a:cxn ang="T12">
                  <a:pos x="T4" y="T5"/>
                </a:cxn>
                <a:cxn ang="T13">
                  <a:pos x="T6" y="T7"/>
                </a:cxn>
                <a:cxn ang="T14">
                  <a:pos x="T8" y="T9"/>
                </a:cxn>
              </a:cxnLst>
              <a:rect l="T15" t="T16" r="T17" b="T18"/>
              <a:pathLst>
                <a:path w="29" h="55">
                  <a:moveTo>
                    <a:pt x="29" y="30"/>
                  </a:moveTo>
                  <a:lnTo>
                    <a:pt x="29" y="55"/>
                  </a:lnTo>
                  <a:lnTo>
                    <a:pt x="0" y="27"/>
                  </a:lnTo>
                  <a:lnTo>
                    <a:pt x="0" y="0"/>
                  </a:lnTo>
                  <a:lnTo>
                    <a:pt x="29" y="3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52" name="Freeform 161"/>
            <p:cNvSpPr>
              <a:spLocks/>
            </p:cNvSpPr>
            <p:nvPr/>
          </p:nvSpPr>
          <p:spPr bwMode="auto">
            <a:xfrm>
              <a:off x="4248150" y="5698376"/>
              <a:ext cx="61913" cy="112713"/>
            </a:xfrm>
            <a:custGeom>
              <a:avLst/>
              <a:gdLst>
                <a:gd name="T0" fmla="*/ 2147483647 w 39"/>
                <a:gd name="T1" fmla="*/ 2147483647 h 71"/>
                <a:gd name="T2" fmla="*/ 2147483647 w 39"/>
                <a:gd name="T3" fmla="*/ 2147483647 h 71"/>
                <a:gd name="T4" fmla="*/ 0 w 39"/>
                <a:gd name="T5" fmla="*/ 2147483647 h 71"/>
                <a:gd name="T6" fmla="*/ 0 w 39"/>
                <a:gd name="T7" fmla="*/ 0 h 71"/>
                <a:gd name="T8" fmla="*/ 2147483647 w 39"/>
                <a:gd name="T9" fmla="*/ 2147483647 h 71"/>
                <a:gd name="T10" fmla="*/ 0 60000 65536"/>
                <a:gd name="T11" fmla="*/ 0 60000 65536"/>
                <a:gd name="T12" fmla="*/ 0 60000 65536"/>
                <a:gd name="T13" fmla="*/ 0 60000 65536"/>
                <a:gd name="T14" fmla="*/ 0 60000 65536"/>
                <a:gd name="T15" fmla="*/ 0 w 39"/>
                <a:gd name="T16" fmla="*/ 0 h 71"/>
                <a:gd name="T17" fmla="*/ 39 w 39"/>
                <a:gd name="T18" fmla="*/ 71 h 71"/>
              </a:gdLst>
              <a:ahLst/>
              <a:cxnLst>
                <a:cxn ang="T10">
                  <a:pos x="T0" y="T1"/>
                </a:cxn>
                <a:cxn ang="T11">
                  <a:pos x="T2" y="T3"/>
                </a:cxn>
                <a:cxn ang="T12">
                  <a:pos x="T4" y="T5"/>
                </a:cxn>
                <a:cxn ang="T13">
                  <a:pos x="T6" y="T7"/>
                </a:cxn>
                <a:cxn ang="T14">
                  <a:pos x="T8" y="T9"/>
                </a:cxn>
              </a:cxnLst>
              <a:rect l="T15" t="T16" r="T17" b="T18"/>
              <a:pathLst>
                <a:path w="39" h="71">
                  <a:moveTo>
                    <a:pt x="39" y="43"/>
                  </a:moveTo>
                  <a:lnTo>
                    <a:pt x="39" y="71"/>
                  </a:lnTo>
                  <a:lnTo>
                    <a:pt x="0" y="30"/>
                  </a:lnTo>
                  <a:lnTo>
                    <a:pt x="0" y="0"/>
                  </a:lnTo>
                  <a:lnTo>
                    <a:pt x="39" y="4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53" name="Freeform 162"/>
            <p:cNvSpPr>
              <a:spLocks/>
            </p:cNvSpPr>
            <p:nvPr/>
          </p:nvSpPr>
          <p:spPr bwMode="auto">
            <a:xfrm>
              <a:off x="4194175" y="5642814"/>
              <a:ext cx="50800" cy="101600"/>
            </a:xfrm>
            <a:custGeom>
              <a:avLst/>
              <a:gdLst>
                <a:gd name="T0" fmla="*/ 2147483647 w 32"/>
                <a:gd name="T1" fmla="*/ 2147483647 h 64"/>
                <a:gd name="T2" fmla="*/ 2147483647 w 32"/>
                <a:gd name="T3" fmla="*/ 2147483647 h 64"/>
                <a:gd name="T4" fmla="*/ 0 w 32"/>
                <a:gd name="T5" fmla="*/ 2147483647 h 64"/>
                <a:gd name="T6" fmla="*/ 0 w 32"/>
                <a:gd name="T7" fmla="*/ 0 h 64"/>
                <a:gd name="T8" fmla="*/ 2147483647 w 32"/>
                <a:gd name="T9" fmla="*/ 2147483647 h 64"/>
                <a:gd name="T10" fmla="*/ 0 60000 65536"/>
                <a:gd name="T11" fmla="*/ 0 60000 65536"/>
                <a:gd name="T12" fmla="*/ 0 60000 65536"/>
                <a:gd name="T13" fmla="*/ 0 60000 65536"/>
                <a:gd name="T14" fmla="*/ 0 60000 65536"/>
                <a:gd name="T15" fmla="*/ 0 w 32"/>
                <a:gd name="T16" fmla="*/ 0 h 64"/>
                <a:gd name="T17" fmla="*/ 32 w 32"/>
                <a:gd name="T18" fmla="*/ 64 h 64"/>
              </a:gdLst>
              <a:ahLst/>
              <a:cxnLst>
                <a:cxn ang="T10">
                  <a:pos x="T0" y="T1"/>
                </a:cxn>
                <a:cxn ang="T11">
                  <a:pos x="T2" y="T3"/>
                </a:cxn>
                <a:cxn ang="T12">
                  <a:pos x="T4" y="T5"/>
                </a:cxn>
                <a:cxn ang="T13">
                  <a:pos x="T6" y="T7"/>
                </a:cxn>
                <a:cxn ang="T14">
                  <a:pos x="T8" y="T9"/>
                </a:cxn>
              </a:cxnLst>
              <a:rect l="T15" t="T16" r="T17" b="T18"/>
              <a:pathLst>
                <a:path w="32" h="64">
                  <a:moveTo>
                    <a:pt x="32" y="34"/>
                  </a:moveTo>
                  <a:lnTo>
                    <a:pt x="32" y="64"/>
                  </a:lnTo>
                  <a:lnTo>
                    <a:pt x="0" y="29"/>
                  </a:lnTo>
                  <a:lnTo>
                    <a:pt x="0" y="0"/>
                  </a:lnTo>
                  <a:lnTo>
                    <a:pt x="32" y="3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54" name="Freeform 163"/>
            <p:cNvSpPr>
              <a:spLocks/>
            </p:cNvSpPr>
            <p:nvPr/>
          </p:nvSpPr>
          <p:spPr bwMode="auto">
            <a:xfrm>
              <a:off x="4137025" y="5585664"/>
              <a:ext cx="53975" cy="98425"/>
            </a:xfrm>
            <a:custGeom>
              <a:avLst/>
              <a:gdLst>
                <a:gd name="T0" fmla="*/ 2147483647 w 34"/>
                <a:gd name="T1" fmla="*/ 2147483647 h 62"/>
                <a:gd name="T2" fmla="*/ 2147483647 w 34"/>
                <a:gd name="T3" fmla="*/ 2147483647 h 62"/>
                <a:gd name="T4" fmla="*/ 0 w 34"/>
                <a:gd name="T5" fmla="*/ 2147483647 h 62"/>
                <a:gd name="T6" fmla="*/ 0 w 34"/>
                <a:gd name="T7" fmla="*/ 0 h 62"/>
                <a:gd name="T8" fmla="*/ 2147483647 w 34"/>
                <a:gd name="T9" fmla="*/ 2147483647 h 62"/>
                <a:gd name="T10" fmla="*/ 0 60000 65536"/>
                <a:gd name="T11" fmla="*/ 0 60000 65536"/>
                <a:gd name="T12" fmla="*/ 0 60000 65536"/>
                <a:gd name="T13" fmla="*/ 0 60000 65536"/>
                <a:gd name="T14" fmla="*/ 0 60000 65536"/>
                <a:gd name="T15" fmla="*/ 0 w 34"/>
                <a:gd name="T16" fmla="*/ 0 h 62"/>
                <a:gd name="T17" fmla="*/ 34 w 34"/>
                <a:gd name="T18" fmla="*/ 62 h 62"/>
              </a:gdLst>
              <a:ahLst/>
              <a:cxnLst>
                <a:cxn ang="T10">
                  <a:pos x="T0" y="T1"/>
                </a:cxn>
                <a:cxn ang="T11">
                  <a:pos x="T2" y="T3"/>
                </a:cxn>
                <a:cxn ang="T12">
                  <a:pos x="T4" y="T5"/>
                </a:cxn>
                <a:cxn ang="T13">
                  <a:pos x="T6" y="T7"/>
                </a:cxn>
                <a:cxn ang="T14">
                  <a:pos x="T8" y="T9"/>
                </a:cxn>
              </a:cxnLst>
              <a:rect l="T15" t="T16" r="T17" b="T18"/>
              <a:pathLst>
                <a:path w="34" h="62">
                  <a:moveTo>
                    <a:pt x="34" y="34"/>
                  </a:moveTo>
                  <a:lnTo>
                    <a:pt x="34" y="62"/>
                  </a:lnTo>
                  <a:lnTo>
                    <a:pt x="0" y="26"/>
                  </a:lnTo>
                  <a:lnTo>
                    <a:pt x="0" y="0"/>
                  </a:lnTo>
                  <a:lnTo>
                    <a:pt x="34" y="3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55" name="Freeform 164"/>
            <p:cNvSpPr>
              <a:spLocks/>
            </p:cNvSpPr>
            <p:nvPr/>
          </p:nvSpPr>
          <p:spPr bwMode="auto">
            <a:xfrm>
              <a:off x="4087813" y="4925264"/>
              <a:ext cx="47625" cy="69850"/>
            </a:xfrm>
            <a:custGeom>
              <a:avLst/>
              <a:gdLst>
                <a:gd name="T0" fmla="*/ 2147483647 w 30"/>
                <a:gd name="T1" fmla="*/ 2147483647 h 44"/>
                <a:gd name="T2" fmla="*/ 2147483647 w 30"/>
                <a:gd name="T3" fmla="*/ 2147483647 h 44"/>
                <a:gd name="T4" fmla="*/ 0 w 30"/>
                <a:gd name="T5" fmla="*/ 2147483647 h 44"/>
                <a:gd name="T6" fmla="*/ 0 w 30"/>
                <a:gd name="T7" fmla="*/ 0 h 44"/>
                <a:gd name="T8" fmla="*/ 2147483647 w 30"/>
                <a:gd name="T9" fmla="*/ 2147483647 h 44"/>
                <a:gd name="T10" fmla="*/ 0 60000 65536"/>
                <a:gd name="T11" fmla="*/ 0 60000 65536"/>
                <a:gd name="T12" fmla="*/ 0 60000 65536"/>
                <a:gd name="T13" fmla="*/ 0 60000 65536"/>
                <a:gd name="T14" fmla="*/ 0 60000 65536"/>
                <a:gd name="T15" fmla="*/ 0 w 30"/>
                <a:gd name="T16" fmla="*/ 0 h 44"/>
                <a:gd name="T17" fmla="*/ 30 w 30"/>
                <a:gd name="T18" fmla="*/ 44 h 44"/>
              </a:gdLst>
              <a:ahLst/>
              <a:cxnLst>
                <a:cxn ang="T10">
                  <a:pos x="T0" y="T1"/>
                </a:cxn>
                <a:cxn ang="T11">
                  <a:pos x="T2" y="T3"/>
                </a:cxn>
                <a:cxn ang="T12">
                  <a:pos x="T4" y="T5"/>
                </a:cxn>
                <a:cxn ang="T13">
                  <a:pos x="T6" y="T7"/>
                </a:cxn>
                <a:cxn ang="T14">
                  <a:pos x="T8" y="T9"/>
                </a:cxn>
              </a:cxnLst>
              <a:rect l="T15" t="T16" r="T17" b="T18"/>
              <a:pathLst>
                <a:path w="30" h="44">
                  <a:moveTo>
                    <a:pt x="30" y="17"/>
                  </a:moveTo>
                  <a:lnTo>
                    <a:pt x="30" y="44"/>
                  </a:lnTo>
                  <a:lnTo>
                    <a:pt x="0" y="27"/>
                  </a:lnTo>
                  <a:lnTo>
                    <a:pt x="0" y="0"/>
                  </a:lnTo>
                  <a:lnTo>
                    <a:pt x="30" y="1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56" name="Freeform 165"/>
            <p:cNvSpPr>
              <a:spLocks/>
            </p:cNvSpPr>
            <p:nvPr/>
          </p:nvSpPr>
          <p:spPr bwMode="auto">
            <a:xfrm>
              <a:off x="4195763" y="4985589"/>
              <a:ext cx="52387" cy="79375"/>
            </a:xfrm>
            <a:custGeom>
              <a:avLst/>
              <a:gdLst>
                <a:gd name="T0" fmla="*/ 2147483647 w 33"/>
                <a:gd name="T1" fmla="*/ 2147483647 h 50"/>
                <a:gd name="T2" fmla="*/ 2147483647 w 33"/>
                <a:gd name="T3" fmla="*/ 2147483647 h 50"/>
                <a:gd name="T4" fmla="*/ 0 w 33"/>
                <a:gd name="T5" fmla="*/ 2147483647 h 50"/>
                <a:gd name="T6" fmla="*/ 0 w 33"/>
                <a:gd name="T7" fmla="*/ 0 h 50"/>
                <a:gd name="T8" fmla="*/ 2147483647 w 33"/>
                <a:gd name="T9" fmla="*/ 2147483647 h 50"/>
                <a:gd name="T10" fmla="*/ 0 60000 65536"/>
                <a:gd name="T11" fmla="*/ 0 60000 65536"/>
                <a:gd name="T12" fmla="*/ 0 60000 65536"/>
                <a:gd name="T13" fmla="*/ 0 60000 65536"/>
                <a:gd name="T14" fmla="*/ 0 60000 65536"/>
                <a:gd name="T15" fmla="*/ 0 w 33"/>
                <a:gd name="T16" fmla="*/ 0 h 50"/>
                <a:gd name="T17" fmla="*/ 33 w 33"/>
                <a:gd name="T18" fmla="*/ 50 h 50"/>
              </a:gdLst>
              <a:ahLst/>
              <a:cxnLst>
                <a:cxn ang="T10">
                  <a:pos x="T0" y="T1"/>
                </a:cxn>
                <a:cxn ang="T11">
                  <a:pos x="T2" y="T3"/>
                </a:cxn>
                <a:cxn ang="T12">
                  <a:pos x="T4" y="T5"/>
                </a:cxn>
                <a:cxn ang="T13">
                  <a:pos x="T6" y="T7"/>
                </a:cxn>
                <a:cxn ang="T14">
                  <a:pos x="T8" y="T9"/>
                </a:cxn>
              </a:cxnLst>
              <a:rect l="T15" t="T16" r="T17" b="T18"/>
              <a:pathLst>
                <a:path w="33" h="50">
                  <a:moveTo>
                    <a:pt x="33" y="19"/>
                  </a:moveTo>
                  <a:lnTo>
                    <a:pt x="33" y="50"/>
                  </a:lnTo>
                  <a:lnTo>
                    <a:pt x="0" y="30"/>
                  </a:lnTo>
                  <a:lnTo>
                    <a:pt x="0" y="0"/>
                  </a:lnTo>
                  <a:lnTo>
                    <a:pt x="33" y="1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57" name="Freeform 166"/>
            <p:cNvSpPr>
              <a:spLocks/>
            </p:cNvSpPr>
            <p:nvPr/>
          </p:nvSpPr>
          <p:spPr bwMode="auto">
            <a:xfrm>
              <a:off x="4138613" y="4952251"/>
              <a:ext cx="53975" cy="77788"/>
            </a:xfrm>
            <a:custGeom>
              <a:avLst/>
              <a:gdLst>
                <a:gd name="T0" fmla="*/ 2147483647 w 34"/>
                <a:gd name="T1" fmla="*/ 2147483647 h 49"/>
                <a:gd name="T2" fmla="*/ 2147483647 w 34"/>
                <a:gd name="T3" fmla="*/ 2147483647 h 49"/>
                <a:gd name="T4" fmla="*/ 0 w 34"/>
                <a:gd name="T5" fmla="*/ 2147483647 h 49"/>
                <a:gd name="T6" fmla="*/ 0 w 34"/>
                <a:gd name="T7" fmla="*/ 0 h 49"/>
                <a:gd name="T8" fmla="*/ 2147483647 w 34"/>
                <a:gd name="T9" fmla="*/ 2147483647 h 49"/>
                <a:gd name="T10" fmla="*/ 0 60000 65536"/>
                <a:gd name="T11" fmla="*/ 0 60000 65536"/>
                <a:gd name="T12" fmla="*/ 0 60000 65536"/>
                <a:gd name="T13" fmla="*/ 0 60000 65536"/>
                <a:gd name="T14" fmla="*/ 0 60000 65536"/>
                <a:gd name="T15" fmla="*/ 0 w 34"/>
                <a:gd name="T16" fmla="*/ 0 h 49"/>
                <a:gd name="T17" fmla="*/ 34 w 34"/>
                <a:gd name="T18" fmla="*/ 49 h 49"/>
              </a:gdLst>
              <a:ahLst/>
              <a:cxnLst>
                <a:cxn ang="T10">
                  <a:pos x="T0" y="T1"/>
                </a:cxn>
                <a:cxn ang="T11">
                  <a:pos x="T2" y="T3"/>
                </a:cxn>
                <a:cxn ang="T12">
                  <a:pos x="T4" y="T5"/>
                </a:cxn>
                <a:cxn ang="T13">
                  <a:pos x="T6" y="T7"/>
                </a:cxn>
                <a:cxn ang="T14">
                  <a:pos x="T8" y="T9"/>
                </a:cxn>
              </a:cxnLst>
              <a:rect l="T15" t="T16" r="T17" b="T18"/>
              <a:pathLst>
                <a:path w="34" h="49">
                  <a:moveTo>
                    <a:pt x="34" y="21"/>
                  </a:moveTo>
                  <a:lnTo>
                    <a:pt x="34" y="49"/>
                  </a:lnTo>
                  <a:lnTo>
                    <a:pt x="0" y="28"/>
                  </a:lnTo>
                  <a:lnTo>
                    <a:pt x="0" y="0"/>
                  </a:lnTo>
                  <a:lnTo>
                    <a:pt x="34" y="2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58" name="Freeform 167"/>
            <p:cNvSpPr>
              <a:spLocks/>
            </p:cNvSpPr>
            <p:nvPr/>
          </p:nvSpPr>
          <p:spPr bwMode="auto">
            <a:xfrm>
              <a:off x="4087813" y="5025276"/>
              <a:ext cx="47625" cy="76200"/>
            </a:xfrm>
            <a:custGeom>
              <a:avLst/>
              <a:gdLst>
                <a:gd name="T0" fmla="*/ 2147483647 w 30"/>
                <a:gd name="T1" fmla="*/ 2147483647 h 48"/>
                <a:gd name="T2" fmla="*/ 2147483647 w 30"/>
                <a:gd name="T3" fmla="*/ 2147483647 h 48"/>
                <a:gd name="T4" fmla="*/ 0 w 30"/>
                <a:gd name="T5" fmla="*/ 2147483647 h 48"/>
                <a:gd name="T6" fmla="*/ 0 w 30"/>
                <a:gd name="T7" fmla="*/ 0 h 48"/>
                <a:gd name="T8" fmla="*/ 2147483647 w 30"/>
                <a:gd name="T9" fmla="*/ 2147483647 h 48"/>
                <a:gd name="T10" fmla="*/ 0 60000 65536"/>
                <a:gd name="T11" fmla="*/ 0 60000 65536"/>
                <a:gd name="T12" fmla="*/ 0 60000 65536"/>
                <a:gd name="T13" fmla="*/ 0 60000 65536"/>
                <a:gd name="T14" fmla="*/ 0 60000 65536"/>
                <a:gd name="T15" fmla="*/ 0 w 30"/>
                <a:gd name="T16" fmla="*/ 0 h 48"/>
                <a:gd name="T17" fmla="*/ 30 w 30"/>
                <a:gd name="T18" fmla="*/ 48 h 48"/>
              </a:gdLst>
              <a:ahLst/>
              <a:cxnLst>
                <a:cxn ang="T10">
                  <a:pos x="T0" y="T1"/>
                </a:cxn>
                <a:cxn ang="T11">
                  <a:pos x="T2" y="T3"/>
                </a:cxn>
                <a:cxn ang="T12">
                  <a:pos x="T4" y="T5"/>
                </a:cxn>
                <a:cxn ang="T13">
                  <a:pos x="T6" y="T7"/>
                </a:cxn>
                <a:cxn ang="T14">
                  <a:pos x="T8" y="T9"/>
                </a:cxn>
              </a:cxnLst>
              <a:rect l="T15" t="T16" r="T17" b="T18"/>
              <a:pathLst>
                <a:path w="30" h="48">
                  <a:moveTo>
                    <a:pt x="30" y="21"/>
                  </a:moveTo>
                  <a:lnTo>
                    <a:pt x="30" y="48"/>
                  </a:lnTo>
                  <a:lnTo>
                    <a:pt x="0" y="27"/>
                  </a:lnTo>
                  <a:lnTo>
                    <a:pt x="0" y="0"/>
                  </a:lnTo>
                  <a:lnTo>
                    <a:pt x="30" y="2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59" name="Freeform 168"/>
            <p:cNvSpPr>
              <a:spLocks/>
            </p:cNvSpPr>
            <p:nvPr/>
          </p:nvSpPr>
          <p:spPr bwMode="auto">
            <a:xfrm>
              <a:off x="4249738" y="5133226"/>
              <a:ext cx="61912" cy="88900"/>
            </a:xfrm>
            <a:custGeom>
              <a:avLst/>
              <a:gdLst>
                <a:gd name="T0" fmla="*/ 2147483647 w 39"/>
                <a:gd name="T1" fmla="*/ 2147483647 h 56"/>
                <a:gd name="T2" fmla="*/ 2147483647 w 39"/>
                <a:gd name="T3" fmla="*/ 2147483647 h 56"/>
                <a:gd name="T4" fmla="*/ 0 w 39"/>
                <a:gd name="T5" fmla="*/ 2147483647 h 56"/>
                <a:gd name="T6" fmla="*/ 0 w 39"/>
                <a:gd name="T7" fmla="*/ 0 h 56"/>
                <a:gd name="T8" fmla="*/ 2147483647 w 39"/>
                <a:gd name="T9" fmla="*/ 2147483647 h 56"/>
                <a:gd name="T10" fmla="*/ 0 60000 65536"/>
                <a:gd name="T11" fmla="*/ 0 60000 65536"/>
                <a:gd name="T12" fmla="*/ 0 60000 65536"/>
                <a:gd name="T13" fmla="*/ 0 60000 65536"/>
                <a:gd name="T14" fmla="*/ 0 60000 65536"/>
                <a:gd name="T15" fmla="*/ 0 w 39"/>
                <a:gd name="T16" fmla="*/ 0 h 56"/>
                <a:gd name="T17" fmla="*/ 39 w 39"/>
                <a:gd name="T18" fmla="*/ 56 h 56"/>
              </a:gdLst>
              <a:ahLst/>
              <a:cxnLst>
                <a:cxn ang="T10">
                  <a:pos x="T0" y="T1"/>
                </a:cxn>
                <a:cxn ang="T11">
                  <a:pos x="T2" y="T3"/>
                </a:cxn>
                <a:cxn ang="T12">
                  <a:pos x="T4" y="T5"/>
                </a:cxn>
                <a:cxn ang="T13">
                  <a:pos x="T6" y="T7"/>
                </a:cxn>
                <a:cxn ang="T14">
                  <a:pos x="T8" y="T9"/>
                </a:cxn>
              </a:cxnLst>
              <a:rect l="T15" t="T16" r="T17" b="T18"/>
              <a:pathLst>
                <a:path w="39" h="56">
                  <a:moveTo>
                    <a:pt x="39" y="25"/>
                  </a:moveTo>
                  <a:lnTo>
                    <a:pt x="39" y="56"/>
                  </a:lnTo>
                  <a:lnTo>
                    <a:pt x="0" y="30"/>
                  </a:lnTo>
                  <a:lnTo>
                    <a:pt x="0" y="0"/>
                  </a:lnTo>
                  <a:lnTo>
                    <a:pt x="39" y="2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60" name="Freeform 169"/>
            <p:cNvSpPr>
              <a:spLocks/>
            </p:cNvSpPr>
            <p:nvPr/>
          </p:nvSpPr>
          <p:spPr bwMode="auto">
            <a:xfrm>
              <a:off x="4195763" y="5098301"/>
              <a:ext cx="52387" cy="80963"/>
            </a:xfrm>
            <a:custGeom>
              <a:avLst/>
              <a:gdLst>
                <a:gd name="T0" fmla="*/ 2147483647 w 33"/>
                <a:gd name="T1" fmla="*/ 2147483647 h 51"/>
                <a:gd name="T2" fmla="*/ 2147483647 w 33"/>
                <a:gd name="T3" fmla="*/ 2147483647 h 51"/>
                <a:gd name="T4" fmla="*/ 0 w 33"/>
                <a:gd name="T5" fmla="*/ 2147483647 h 51"/>
                <a:gd name="T6" fmla="*/ 0 w 33"/>
                <a:gd name="T7" fmla="*/ 0 h 51"/>
                <a:gd name="T8" fmla="*/ 2147483647 w 33"/>
                <a:gd name="T9" fmla="*/ 2147483647 h 51"/>
                <a:gd name="T10" fmla="*/ 0 60000 65536"/>
                <a:gd name="T11" fmla="*/ 0 60000 65536"/>
                <a:gd name="T12" fmla="*/ 0 60000 65536"/>
                <a:gd name="T13" fmla="*/ 0 60000 65536"/>
                <a:gd name="T14" fmla="*/ 0 60000 65536"/>
                <a:gd name="T15" fmla="*/ 0 w 33"/>
                <a:gd name="T16" fmla="*/ 0 h 51"/>
                <a:gd name="T17" fmla="*/ 33 w 33"/>
                <a:gd name="T18" fmla="*/ 51 h 51"/>
              </a:gdLst>
              <a:ahLst/>
              <a:cxnLst>
                <a:cxn ang="T10">
                  <a:pos x="T0" y="T1"/>
                </a:cxn>
                <a:cxn ang="T11">
                  <a:pos x="T2" y="T3"/>
                </a:cxn>
                <a:cxn ang="T12">
                  <a:pos x="T4" y="T5"/>
                </a:cxn>
                <a:cxn ang="T13">
                  <a:pos x="T6" y="T7"/>
                </a:cxn>
                <a:cxn ang="T14">
                  <a:pos x="T8" y="T9"/>
                </a:cxn>
              </a:cxnLst>
              <a:rect l="T15" t="T16" r="T17" b="T18"/>
              <a:pathLst>
                <a:path w="33" h="51">
                  <a:moveTo>
                    <a:pt x="33" y="21"/>
                  </a:moveTo>
                  <a:lnTo>
                    <a:pt x="33" y="51"/>
                  </a:lnTo>
                  <a:lnTo>
                    <a:pt x="0" y="29"/>
                  </a:lnTo>
                  <a:lnTo>
                    <a:pt x="0" y="0"/>
                  </a:lnTo>
                  <a:lnTo>
                    <a:pt x="33" y="2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61" name="Freeform 170"/>
            <p:cNvSpPr>
              <a:spLocks/>
            </p:cNvSpPr>
            <p:nvPr/>
          </p:nvSpPr>
          <p:spPr bwMode="auto">
            <a:xfrm>
              <a:off x="4138613" y="5060201"/>
              <a:ext cx="53975" cy="79375"/>
            </a:xfrm>
            <a:custGeom>
              <a:avLst/>
              <a:gdLst>
                <a:gd name="T0" fmla="*/ 2147483647 w 34"/>
                <a:gd name="T1" fmla="*/ 2147483647 h 50"/>
                <a:gd name="T2" fmla="*/ 2147483647 w 34"/>
                <a:gd name="T3" fmla="*/ 2147483647 h 50"/>
                <a:gd name="T4" fmla="*/ 0 w 34"/>
                <a:gd name="T5" fmla="*/ 2147483647 h 50"/>
                <a:gd name="T6" fmla="*/ 0 w 34"/>
                <a:gd name="T7" fmla="*/ 0 h 50"/>
                <a:gd name="T8" fmla="*/ 2147483647 w 34"/>
                <a:gd name="T9" fmla="*/ 2147483647 h 50"/>
                <a:gd name="T10" fmla="*/ 0 60000 65536"/>
                <a:gd name="T11" fmla="*/ 0 60000 65536"/>
                <a:gd name="T12" fmla="*/ 0 60000 65536"/>
                <a:gd name="T13" fmla="*/ 0 60000 65536"/>
                <a:gd name="T14" fmla="*/ 0 60000 65536"/>
                <a:gd name="T15" fmla="*/ 0 w 34"/>
                <a:gd name="T16" fmla="*/ 0 h 50"/>
                <a:gd name="T17" fmla="*/ 34 w 34"/>
                <a:gd name="T18" fmla="*/ 50 h 50"/>
              </a:gdLst>
              <a:ahLst/>
              <a:cxnLst>
                <a:cxn ang="T10">
                  <a:pos x="T0" y="T1"/>
                </a:cxn>
                <a:cxn ang="T11">
                  <a:pos x="T2" y="T3"/>
                </a:cxn>
                <a:cxn ang="T12">
                  <a:pos x="T4" y="T5"/>
                </a:cxn>
                <a:cxn ang="T13">
                  <a:pos x="T6" y="T7"/>
                </a:cxn>
                <a:cxn ang="T14">
                  <a:pos x="T8" y="T9"/>
                </a:cxn>
              </a:cxnLst>
              <a:rect l="T15" t="T16" r="T17" b="T18"/>
              <a:pathLst>
                <a:path w="34" h="50">
                  <a:moveTo>
                    <a:pt x="34" y="22"/>
                  </a:moveTo>
                  <a:lnTo>
                    <a:pt x="34" y="50"/>
                  </a:lnTo>
                  <a:lnTo>
                    <a:pt x="0" y="27"/>
                  </a:lnTo>
                  <a:lnTo>
                    <a:pt x="0" y="0"/>
                  </a:lnTo>
                  <a:lnTo>
                    <a:pt x="34" y="2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62" name="Freeform 171"/>
            <p:cNvSpPr>
              <a:spLocks/>
            </p:cNvSpPr>
            <p:nvPr/>
          </p:nvSpPr>
          <p:spPr bwMode="auto">
            <a:xfrm>
              <a:off x="4087813" y="5126876"/>
              <a:ext cx="47625" cy="77788"/>
            </a:xfrm>
            <a:custGeom>
              <a:avLst/>
              <a:gdLst>
                <a:gd name="T0" fmla="*/ 2147483647 w 30"/>
                <a:gd name="T1" fmla="*/ 2147483647 h 49"/>
                <a:gd name="T2" fmla="*/ 2147483647 w 30"/>
                <a:gd name="T3" fmla="*/ 2147483647 h 49"/>
                <a:gd name="T4" fmla="*/ 0 w 30"/>
                <a:gd name="T5" fmla="*/ 2147483647 h 49"/>
                <a:gd name="T6" fmla="*/ 0 w 30"/>
                <a:gd name="T7" fmla="*/ 0 h 49"/>
                <a:gd name="T8" fmla="*/ 2147483647 w 30"/>
                <a:gd name="T9" fmla="*/ 2147483647 h 49"/>
                <a:gd name="T10" fmla="*/ 0 60000 65536"/>
                <a:gd name="T11" fmla="*/ 0 60000 65536"/>
                <a:gd name="T12" fmla="*/ 0 60000 65536"/>
                <a:gd name="T13" fmla="*/ 0 60000 65536"/>
                <a:gd name="T14" fmla="*/ 0 60000 65536"/>
                <a:gd name="T15" fmla="*/ 0 w 30"/>
                <a:gd name="T16" fmla="*/ 0 h 49"/>
                <a:gd name="T17" fmla="*/ 30 w 30"/>
                <a:gd name="T18" fmla="*/ 49 h 49"/>
              </a:gdLst>
              <a:ahLst/>
              <a:cxnLst>
                <a:cxn ang="T10">
                  <a:pos x="T0" y="T1"/>
                </a:cxn>
                <a:cxn ang="T11">
                  <a:pos x="T2" y="T3"/>
                </a:cxn>
                <a:cxn ang="T12">
                  <a:pos x="T4" y="T5"/>
                </a:cxn>
                <a:cxn ang="T13">
                  <a:pos x="T6" y="T7"/>
                </a:cxn>
                <a:cxn ang="T14">
                  <a:pos x="T8" y="T9"/>
                </a:cxn>
              </a:cxnLst>
              <a:rect l="T15" t="T16" r="T17" b="T18"/>
              <a:pathLst>
                <a:path w="30" h="49">
                  <a:moveTo>
                    <a:pt x="30" y="24"/>
                  </a:moveTo>
                  <a:lnTo>
                    <a:pt x="30" y="49"/>
                  </a:lnTo>
                  <a:lnTo>
                    <a:pt x="0" y="27"/>
                  </a:lnTo>
                  <a:lnTo>
                    <a:pt x="0" y="0"/>
                  </a:lnTo>
                  <a:lnTo>
                    <a:pt x="30" y="2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63" name="Freeform 172"/>
            <p:cNvSpPr>
              <a:spLocks/>
            </p:cNvSpPr>
            <p:nvPr/>
          </p:nvSpPr>
          <p:spPr bwMode="auto">
            <a:xfrm>
              <a:off x="4195763" y="5206251"/>
              <a:ext cx="52387" cy="85725"/>
            </a:xfrm>
            <a:custGeom>
              <a:avLst/>
              <a:gdLst>
                <a:gd name="T0" fmla="*/ 2147483647 w 33"/>
                <a:gd name="T1" fmla="*/ 2147483647 h 54"/>
                <a:gd name="T2" fmla="*/ 2147483647 w 33"/>
                <a:gd name="T3" fmla="*/ 2147483647 h 54"/>
                <a:gd name="T4" fmla="*/ 0 w 33"/>
                <a:gd name="T5" fmla="*/ 2147483647 h 54"/>
                <a:gd name="T6" fmla="*/ 0 w 33"/>
                <a:gd name="T7" fmla="*/ 0 h 54"/>
                <a:gd name="T8" fmla="*/ 2147483647 w 33"/>
                <a:gd name="T9" fmla="*/ 2147483647 h 54"/>
                <a:gd name="T10" fmla="*/ 0 60000 65536"/>
                <a:gd name="T11" fmla="*/ 0 60000 65536"/>
                <a:gd name="T12" fmla="*/ 0 60000 65536"/>
                <a:gd name="T13" fmla="*/ 0 60000 65536"/>
                <a:gd name="T14" fmla="*/ 0 60000 65536"/>
                <a:gd name="T15" fmla="*/ 0 w 33"/>
                <a:gd name="T16" fmla="*/ 0 h 54"/>
                <a:gd name="T17" fmla="*/ 33 w 33"/>
                <a:gd name="T18" fmla="*/ 54 h 54"/>
              </a:gdLst>
              <a:ahLst/>
              <a:cxnLst>
                <a:cxn ang="T10">
                  <a:pos x="T0" y="T1"/>
                </a:cxn>
                <a:cxn ang="T11">
                  <a:pos x="T2" y="T3"/>
                </a:cxn>
                <a:cxn ang="T12">
                  <a:pos x="T4" y="T5"/>
                </a:cxn>
                <a:cxn ang="T13">
                  <a:pos x="T6" y="T7"/>
                </a:cxn>
                <a:cxn ang="T14">
                  <a:pos x="T8" y="T9"/>
                </a:cxn>
              </a:cxnLst>
              <a:rect l="T15" t="T16" r="T17" b="T18"/>
              <a:pathLst>
                <a:path w="33" h="54">
                  <a:moveTo>
                    <a:pt x="33" y="24"/>
                  </a:moveTo>
                  <a:lnTo>
                    <a:pt x="33" y="54"/>
                  </a:lnTo>
                  <a:lnTo>
                    <a:pt x="0" y="30"/>
                  </a:lnTo>
                  <a:lnTo>
                    <a:pt x="0" y="0"/>
                  </a:lnTo>
                  <a:lnTo>
                    <a:pt x="33" y="2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64" name="Freeform 173"/>
            <p:cNvSpPr>
              <a:spLocks/>
            </p:cNvSpPr>
            <p:nvPr/>
          </p:nvSpPr>
          <p:spPr bwMode="auto">
            <a:xfrm>
              <a:off x="4138613" y="5164976"/>
              <a:ext cx="53975" cy="84138"/>
            </a:xfrm>
            <a:custGeom>
              <a:avLst/>
              <a:gdLst>
                <a:gd name="T0" fmla="*/ 2147483647 w 34"/>
                <a:gd name="T1" fmla="*/ 2147483647 h 53"/>
                <a:gd name="T2" fmla="*/ 2147483647 w 34"/>
                <a:gd name="T3" fmla="*/ 2147483647 h 53"/>
                <a:gd name="T4" fmla="*/ 0 w 34"/>
                <a:gd name="T5" fmla="*/ 2147483647 h 53"/>
                <a:gd name="T6" fmla="*/ 0 w 34"/>
                <a:gd name="T7" fmla="*/ 0 h 53"/>
                <a:gd name="T8" fmla="*/ 2147483647 w 34"/>
                <a:gd name="T9" fmla="*/ 2147483647 h 53"/>
                <a:gd name="T10" fmla="*/ 0 60000 65536"/>
                <a:gd name="T11" fmla="*/ 0 60000 65536"/>
                <a:gd name="T12" fmla="*/ 0 60000 65536"/>
                <a:gd name="T13" fmla="*/ 0 60000 65536"/>
                <a:gd name="T14" fmla="*/ 0 60000 65536"/>
                <a:gd name="T15" fmla="*/ 0 w 34"/>
                <a:gd name="T16" fmla="*/ 0 h 53"/>
                <a:gd name="T17" fmla="*/ 34 w 34"/>
                <a:gd name="T18" fmla="*/ 53 h 53"/>
              </a:gdLst>
              <a:ahLst/>
              <a:cxnLst>
                <a:cxn ang="T10">
                  <a:pos x="T0" y="T1"/>
                </a:cxn>
                <a:cxn ang="T11">
                  <a:pos x="T2" y="T3"/>
                </a:cxn>
                <a:cxn ang="T12">
                  <a:pos x="T4" y="T5"/>
                </a:cxn>
                <a:cxn ang="T13">
                  <a:pos x="T6" y="T7"/>
                </a:cxn>
                <a:cxn ang="T14">
                  <a:pos x="T8" y="T9"/>
                </a:cxn>
              </a:cxnLst>
              <a:rect l="T15" t="T16" r="T17" b="T18"/>
              <a:pathLst>
                <a:path w="34" h="53">
                  <a:moveTo>
                    <a:pt x="34" y="25"/>
                  </a:moveTo>
                  <a:lnTo>
                    <a:pt x="34" y="53"/>
                  </a:lnTo>
                  <a:lnTo>
                    <a:pt x="0" y="28"/>
                  </a:lnTo>
                  <a:lnTo>
                    <a:pt x="0" y="0"/>
                  </a:lnTo>
                  <a:lnTo>
                    <a:pt x="34" y="2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65" name="Freeform 174"/>
            <p:cNvSpPr>
              <a:spLocks/>
            </p:cNvSpPr>
            <p:nvPr/>
          </p:nvSpPr>
          <p:spPr bwMode="auto">
            <a:xfrm>
              <a:off x="4087813" y="5230064"/>
              <a:ext cx="46037" cy="79375"/>
            </a:xfrm>
            <a:custGeom>
              <a:avLst/>
              <a:gdLst>
                <a:gd name="T0" fmla="*/ 2147483647 w 29"/>
                <a:gd name="T1" fmla="*/ 2147483647 h 50"/>
                <a:gd name="T2" fmla="*/ 2147483647 w 29"/>
                <a:gd name="T3" fmla="*/ 2147483647 h 50"/>
                <a:gd name="T4" fmla="*/ 0 w 29"/>
                <a:gd name="T5" fmla="*/ 2147483647 h 50"/>
                <a:gd name="T6" fmla="*/ 0 w 29"/>
                <a:gd name="T7" fmla="*/ 0 h 50"/>
                <a:gd name="T8" fmla="*/ 2147483647 w 29"/>
                <a:gd name="T9" fmla="*/ 2147483647 h 50"/>
                <a:gd name="T10" fmla="*/ 0 60000 65536"/>
                <a:gd name="T11" fmla="*/ 0 60000 65536"/>
                <a:gd name="T12" fmla="*/ 0 60000 65536"/>
                <a:gd name="T13" fmla="*/ 0 60000 65536"/>
                <a:gd name="T14" fmla="*/ 0 60000 65536"/>
                <a:gd name="T15" fmla="*/ 0 w 29"/>
                <a:gd name="T16" fmla="*/ 0 h 50"/>
                <a:gd name="T17" fmla="*/ 29 w 29"/>
                <a:gd name="T18" fmla="*/ 50 h 50"/>
              </a:gdLst>
              <a:ahLst/>
              <a:cxnLst>
                <a:cxn ang="T10">
                  <a:pos x="T0" y="T1"/>
                </a:cxn>
                <a:cxn ang="T11">
                  <a:pos x="T2" y="T3"/>
                </a:cxn>
                <a:cxn ang="T12">
                  <a:pos x="T4" y="T5"/>
                </a:cxn>
                <a:cxn ang="T13">
                  <a:pos x="T6" y="T7"/>
                </a:cxn>
                <a:cxn ang="T14">
                  <a:pos x="T8" y="T9"/>
                </a:cxn>
              </a:cxnLst>
              <a:rect l="T15" t="T16" r="T17" b="T18"/>
              <a:pathLst>
                <a:path w="29" h="50">
                  <a:moveTo>
                    <a:pt x="29" y="23"/>
                  </a:moveTo>
                  <a:lnTo>
                    <a:pt x="29" y="50"/>
                  </a:lnTo>
                  <a:lnTo>
                    <a:pt x="0" y="26"/>
                  </a:lnTo>
                  <a:lnTo>
                    <a:pt x="0" y="0"/>
                  </a:lnTo>
                  <a:lnTo>
                    <a:pt x="29" y="2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66" name="Freeform 175"/>
            <p:cNvSpPr>
              <a:spLocks/>
            </p:cNvSpPr>
            <p:nvPr/>
          </p:nvSpPr>
          <p:spPr bwMode="auto">
            <a:xfrm>
              <a:off x="4248150" y="5357064"/>
              <a:ext cx="63500" cy="100012"/>
            </a:xfrm>
            <a:custGeom>
              <a:avLst/>
              <a:gdLst>
                <a:gd name="T0" fmla="*/ 2147483647 w 40"/>
                <a:gd name="T1" fmla="*/ 2147483647 h 63"/>
                <a:gd name="T2" fmla="*/ 2147483647 w 40"/>
                <a:gd name="T3" fmla="*/ 2147483647 h 63"/>
                <a:gd name="T4" fmla="*/ 0 w 40"/>
                <a:gd name="T5" fmla="*/ 2147483647 h 63"/>
                <a:gd name="T6" fmla="*/ 0 w 40"/>
                <a:gd name="T7" fmla="*/ 0 h 63"/>
                <a:gd name="T8" fmla="*/ 2147483647 w 40"/>
                <a:gd name="T9" fmla="*/ 2147483647 h 63"/>
                <a:gd name="T10" fmla="*/ 0 60000 65536"/>
                <a:gd name="T11" fmla="*/ 0 60000 65536"/>
                <a:gd name="T12" fmla="*/ 0 60000 65536"/>
                <a:gd name="T13" fmla="*/ 0 60000 65536"/>
                <a:gd name="T14" fmla="*/ 0 60000 65536"/>
                <a:gd name="T15" fmla="*/ 0 w 40"/>
                <a:gd name="T16" fmla="*/ 0 h 63"/>
                <a:gd name="T17" fmla="*/ 40 w 40"/>
                <a:gd name="T18" fmla="*/ 63 h 63"/>
              </a:gdLst>
              <a:ahLst/>
              <a:cxnLst>
                <a:cxn ang="T10">
                  <a:pos x="T0" y="T1"/>
                </a:cxn>
                <a:cxn ang="T11">
                  <a:pos x="T2" y="T3"/>
                </a:cxn>
                <a:cxn ang="T12">
                  <a:pos x="T4" y="T5"/>
                </a:cxn>
                <a:cxn ang="T13">
                  <a:pos x="T6" y="T7"/>
                </a:cxn>
                <a:cxn ang="T14">
                  <a:pos x="T8" y="T9"/>
                </a:cxn>
              </a:cxnLst>
              <a:rect l="T15" t="T16" r="T17" b="T18"/>
              <a:pathLst>
                <a:path w="40" h="63">
                  <a:moveTo>
                    <a:pt x="40" y="33"/>
                  </a:moveTo>
                  <a:lnTo>
                    <a:pt x="40" y="63"/>
                  </a:lnTo>
                  <a:lnTo>
                    <a:pt x="0" y="32"/>
                  </a:lnTo>
                  <a:lnTo>
                    <a:pt x="0" y="0"/>
                  </a:lnTo>
                  <a:lnTo>
                    <a:pt x="40" y="33"/>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67" name="Freeform 176"/>
            <p:cNvSpPr>
              <a:spLocks/>
            </p:cNvSpPr>
            <p:nvPr/>
          </p:nvSpPr>
          <p:spPr bwMode="auto">
            <a:xfrm>
              <a:off x="4194175" y="5314201"/>
              <a:ext cx="50800" cy="92075"/>
            </a:xfrm>
            <a:custGeom>
              <a:avLst/>
              <a:gdLst>
                <a:gd name="T0" fmla="*/ 2147483647 w 32"/>
                <a:gd name="T1" fmla="*/ 2147483647 h 58"/>
                <a:gd name="T2" fmla="*/ 2147483647 w 32"/>
                <a:gd name="T3" fmla="*/ 2147483647 h 58"/>
                <a:gd name="T4" fmla="*/ 0 w 32"/>
                <a:gd name="T5" fmla="*/ 2147483647 h 58"/>
                <a:gd name="T6" fmla="*/ 0 w 32"/>
                <a:gd name="T7" fmla="*/ 0 h 58"/>
                <a:gd name="T8" fmla="*/ 2147483647 w 32"/>
                <a:gd name="T9" fmla="*/ 2147483647 h 58"/>
                <a:gd name="T10" fmla="*/ 0 60000 65536"/>
                <a:gd name="T11" fmla="*/ 0 60000 65536"/>
                <a:gd name="T12" fmla="*/ 0 60000 65536"/>
                <a:gd name="T13" fmla="*/ 0 60000 65536"/>
                <a:gd name="T14" fmla="*/ 0 60000 65536"/>
                <a:gd name="T15" fmla="*/ 0 w 32"/>
                <a:gd name="T16" fmla="*/ 0 h 58"/>
                <a:gd name="T17" fmla="*/ 32 w 32"/>
                <a:gd name="T18" fmla="*/ 58 h 58"/>
              </a:gdLst>
              <a:ahLst/>
              <a:cxnLst>
                <a:cxn ang="T10">
                  <a:pos x="T0" y="T1"/>
                </a:cxn>
                <a:cxn ang="T11">
                  <a:pos x="T2" y="T3"/>
                </a:cxn>
                <a:cxn ang="T12">
                  <a:pos x="T4" y="T5"/>
                </a:cxn>
                <a:cxn ang="T13">
                  <a:pos x="T6" y="T7"/>
                </a:cxn>
                <a:cxn ang="T14">
                  <a:pos x="T8" y="T9"/>
                </a:cxn>
              </a:cxnLst>
              <a:rect l="T15" t="T16" r="T17" b="T18"/>
              <a:pathLst>
                <a:path w="32" h="58">
                  <a:moveTo>
                    <a:pt x="32" y="26"/>
                  </a:moveTo>
                  <a:lnTo>
                    <a:pt x="32" y="58"/>
                  </a:lnTo>
                  <a:lnTo>
                    <a:pt x="0" y="29"/>
                  </a:lnTo>
                  <a:lnTo>
                    <a:pt x="0" y="0"/>
                  </a:lnTo>
                  <a:lnTo>
                    <a:pt x="32" y="26"/>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68" name="Freeform 177"/>
            <p:cNvSpPr>
              <a:spLocks/>
            </p:cNvSpPr>
            <p:nvPr/>
          </p:nvSpPr>
          <p:spPr bwMode="auto">
            <a:xfrm>
              <a:off x="4137025" y="5268164"/>
              <a:ext cx="53975" cy="88900"/>
            </a:xfrm>
            <a:custGeom>
              <a:avLst/>
              <a:gdLst>
                <a:gd name="T0" fmla="*/ 2147483647 w 34"/>
                <a:gd name="T1" fmla="*/ 2147483647 h 56"/>
                <a:gd name="T2" fmla="*/ 2147483647 w 34"/>
                <a:gd name="T3" fmla="*/ 2147483647 h 56"/>
                <a:gd name="T4" fmla="*/ 0 w 34"/>
                <a:gd name="T5" fmla="*/ 2147483647 h 56"/>
                <a:gd name="T6" fmla="*/ 0 w 34"/>
                <a:gd name="T7" fmla="*/ 0 h 56"/>
                <a:gd name="T8" fmla="*/ 2147483647 w 34"/>
                <a:gd name="T9" fmla="*/ 2147483647 h 56"/>
                <a:gd name="T10" fmla="*/ 0 60000 65536"/>
                <a:gd name="T11" fmla="*/ 0 60000 65536"/>
                <a:gd name="T12" fmla="*/ 0 60000 65536"/>
                <a:gd name="T13" fmla="*/ 0 60000 65536"/>
                <a:gd name="T14" fmla="*/ 0 60000 65536"/>
                <a:gd name="T15" fmla="*/ 0 w 34"/>
                <a:gd name="T16" fmla="*/ 0 h 56"/>
                <a:gd name="T17" fmla="*/ 34 w 34"/>
                <a:gd name="T18" fmla="*/ 56 h 56"/>
              </a:gdLst>
              <a:ahLst/>
              <a:cxnLst>
                <a:cxn ang="T10">
                  <a:pos x="T0" y="T1"/>
                </a:cxn>
                <a:cxn ang="T11">
                  <a:pos x="T2" y="T3"/>
                </a:cxn>
                <a:cxn ang="T12">
                  <a:pos x="T4" y="T5"/>
                </a:cxn>
                <a:cxn ang="T13">
                  <a:pos x="T6" y="T7"/>
                </a:cxn>
                <a:cxn ang="T14">
                  <a:pos x="T8" y="T9"/>
                </a:cxn>
              </a:cxnLst>
              <a:rect l="T15" t="T16" r="T17" b="T18"/>
              <a:pathLst>
                <a:path w="34" h="56">
                  <a:moveTo>
                    <a:pt x="34" y="28"/>
                  </a:moveTo>
                  <a:lnTo>
                    <a:pt x="34" y="56"/>
                  </a:lnTo>
                  <a:lnTo>
                    <a:pt x="0" y="29"/>
                  </a:lnTo>
                  <a:lnTo>
                    <a:pt x="0" y="0"/>
                  </a:lnTo>
                  <a:lnTo>
                    <a:pt x="34" y="28"/>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69" name="Freeform 178"/>
            <p:cNvSpPr>
              <a:spLocks/>
            </p:cNvSpPr>
            <p:nvPr/>
          </p:nvSpPr>
          <p:spPr bwMode="auto">
            <a:xfrm>
              <a:off x="4087813" y="5331664"/>
              <a:ext cx="46037" cy="80962"/>
            </a:xfrm>
            <a:custGeom>
              <a:avLst/>
              <a:gdLst>
                <a:gd name="T0" fmla="*/ 2147483647 w 29"/>
                <a:gd name="T1" fmla="*/ 2147483647 h 51"/>
                <a:gd name="T2" fmla="*/ 2147483647 w 29"/>
                <a:gd name="T3" fmla="*/ 2147483647 h 51"/>
                <a:gd name="T4" fmla="*/ 0 w 29"/>
                <a:gd name="T5" fmla="*/ 2147483647 h 51"/>
                <a:gd name="T6" fmla="*/ 0 w 29"/>
                <a:gd name="T7" fmla="*/ 0 h 51"/>
                <a:gd name="T8" fmla="*/ 2147483647 w 29"/>
                <a:gd name="T9" fmla="*/ 2147483647 h 51"/>
                <a:gd name="T10" fmla="*/ 0 60000 65536"/>
                <a:gd name="T11" fmla="*/ 0 60000 65536"/>
                <a:gd name="T12" fmla="*/ 0 60000 65536"/>
                <a:gd name="T13" fmla="*/ 0 60000 65536"/>
                <a:gd name="T14" fmla="*/ 0 60000 65536"/>
                <a:gd name="T15" fmla="*/ 0 w 29"/>
                <a:gd name="T16" fmla="*/ 0 h 51"/>
                <a:gd name="T17" fmla="*/ 29 w 29"/>
                <a:gd name="T18" fmla="*/ 51 h 51"/>
              </a:gdLst>
              <a:ahLst/>
              <a:cxnLst>
                <a:cxn ang="T10">
                  <a:pos x="T0" y="T1"/>
                </a:cxn>
                <a:cxn ang="T11">
                  <a:pos x="T2" y="T3"/>
                </a:cxn>
                <a:cxn ang="T12">
                  <a:pos x="T4" y="T5"/>
                </a:cxn>
                <a:cxn ang="T13">
                  <a:pos x="T6" y="T7"/>
                </a:cxn>
                <a:cxn ang="T14">
                  <a:pos x="T8" y="T9"/>
                </a:cxn>
              </a:cxnLst>
              <a:rect l="T15" t="T16" r="T17" b="T18"/>
              <a:pathLst>
                <a:path w="29" h="51">
                  <a:moveTo>
                    <a:pt x="29" y="24"/>
                  </a:moveTo>
                  <a:lnTo>
                    <a:pt x="29" y="51"/>
                  </a:lnTo>
                  <a:lnTo>
                    <a:pt x="0" y="25"/>
                  </a:lnTo>
                  <a:lnTo>
                    <a:pt x="0" y="0"/>
                  </a:lnTo>
                  <a:lnTo>
                    <a:pt x="29" y="2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70" name="Freeform 179"/>
            <p:cNvSpPr>
              <a:spLocks/>
            </p:cNvSpPr>
            <p:nvPr/>
          </p:nvSpPr>
          <p:spPr bwMode="auto">
            <a:xfrm>
              <a:off x="4248150" y="5472951"/>
              <a:ext cx="63500" cy="101600"/>
            </a:xfrm>
            <a:custGeom>
              <a:avLst/>
              <a:gdLst>
                <a:gd name="T0" fmla="*/ 2147483647 w 40"/>
                <a:gd name="T1" fmla="*/ 2147483647 h 64"/>
                <a:gd name="T2" fmla="*/ 2147483647 w 40"/>
                <a:gd name="T3" fmla="*/ 2147483647 h 64"/>
                <a:gd name="T4" fmla="*/ 0 w 40"/>
                <a:gd name="T5" fmla="*/ 2147483647 h 64"/>
                <a:gd name="T6" fmla="*/ 0 w 40"/>
                <a:gd name="T7" fmla="*/ 0 h 64"/>
                <a:gd name="T8" fmla="*/ 2147483647 w 40"/>
                <a:gd name="T9" fmla="*/ 2147483647 h 64"/>
                <a:gd name="T10" fmla="*/ 0 60000 65536"/>
                <a:gd name="T11" fmla="*/ 0 60000 65536"/>
                <a:gd name="T12" fmla="*/ 0 60000 65536"/>
                <a:gd name="T13" fmla="*/ 0 60000 65536"/>
                <a:gd name="T14" fmla="*/ 0 60000 65536"/>
                <a:gd name="T15" fmla="*/ 0 w 40"/>
                <a:gd name="T16" fmla="*/ 0 h 64"/>
                <a:gd name="T17" fmla="*/ 40 w 40"/>
                <a:gd name="T18" fmla="*/ 64 h 64"/>
              </a:gdLst>
              <a:ahLst/>
              <a:cxnLst>
                <a:cxn ang="T10">
                  <a:pos x="T0" y="T1"/>
                </a:cxn>
                <a:cxn ang="T11">
                  <a:pos x="T2" y="T3"/>
                </a:cxn>
                <a:cxn ang="T12">
                  <a:pos x="T4" y="T5"/>
                </a:cxn>
                <a:cxn ang="T13">
                  <a:pos x="T6" y="T7"/>
                </a:cxn>
                <a:cxn ang="T14">
                  <a:pos x="T8" y="T9"/>
                </a:cxn>
              </a:cxnLst>
              <a:rect l="T15" t="T16" r="T17" b="T18"/>
              <a:pathLst>
                <a:path w="40" h="64">
                  <a:moveTo>
                    <a:pt x="40" y="35"/>
                  </a:moveTo>
                  <a:lnTo>
                    <a:pt x="40" y="64"/>
                  </a:lnTo>
                  <a:lnTo>
                    <a:pt x="0" y="30"/>
                  </a:lnTo>
                  <a:lnTo>
                    <a:pt x="0" y="0"/>
                  </a:lnTo>
                  <a:lnTo>
                    <a:pt x="40" y="3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71" name="Freeform 180"/>
            <p:cNvSpPr>
              <a:spLocks/>
            </p:cNvSpPr>
            <p:nvPr/>
          </p:nvSpPr>
          <p:spPr bwMode="auto">
            <a:xfrm>
              <a:off x="4194175" y="5423739"/>
              <a:ext cx="50800" cy="95250"/>
            </a:xfrm>
            <a:custGeom>
              <a:avLst/>
              <a:gdLst>
                <a:gd name="T0" fmla="*/ 2147483647 w 32"/>
                <a:gd name="T1" fmla="*/ 2147483647 h 60"/>
                <a:gd name="T2" fmla="*/ 2147483647 w 32"/>
                <a:gd name="T3" fmla="*/ 2147483647 h 60"/>
                <a:gd name="T4" fmla="*/ 0 w 32"/>
                <a:gd name="T5" fmla="*/ 2147483647 h 60"/>
                <a:gd name="T6" fmla="*/ 0 w 32"/>
                <a:gd name="T7" fmla="*/ 0 h 60"/>
                <a:gd name="T8" fmla="*/ 2147483647 w 32"/>
                <a:gd name="T9" fmla="*/ 2147483647 h 60"/>
                <a:gd name="T10" fmla="*/ 0 60000 65536"/>
                <a:gd name="T11" fmla="*/ 0 60000 65536"/>
                <a:gd name="T12" fmla="*/ 0 60000 65536"/>
                <a:gd name="T13" fmla="*/ 0 60000 65536"/>
                <a:gd name="T14" fmla="*/ 0 60000 65536"/>
                <a:gd name="T15" fmla="*/ 0 w 32"/>
                <a:gd name="T16" fmla="*/ 0 h 60"/>
                <a:gd name="T17" fmla="*/ 32 w 32"/>
                <a:gd name="T18" fmla="*/ 60 h 60"/>
              </a:gdLst>
              <a:ahLst/>
              <a:cxnLst>
                <a:cxn ang="T10">
                  <a:pos x="T0" y="T1"/>
                </a:cxn>
                <a:cxn ang="T11">
                  <a:pos x="T2" y="T3"/>
                </a:cxn>
                <a:cxn ang="T12">
                  <a:pos x="T4" y="T5"/>
                </a:cxn>
                <a:cxn ang="T13">
                  <a:pos x="T6" y="T7"/>
                </a:cxn>
                <a:cxn ang="T14">
                  <a:pos x="T8" y="T9"/>
                </a:cxn>
              </a:cxnLst>
              <a:rect l="T15" t="T16" r="T17" b="T18"/>
              <a:pathLst>
                <a:path w="32" h="60">
                  <a:moveTo>
                    <a:pt x="32" y="29"/>
                  </a:moveTo>
                  <a:lnTo>
                    <a:pt x="32" y="60"/>
                  </a:lnTo>
                  <a:lnTo>
                    <a:pt x="0" y="29"/>
                  </a:lnTo>
                  <a:lnTo>
                    <a:pt x="0" y="0"/>
                  </a:lnTo>
                  <a:lnTo>
                    <a:pt x="32" y="29"/>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72" name="Freeform 181"/>
            <p:cNvSpPr>
              <a:spLocks/>
            </p:cNvSpPr>
            <p:nvPr/>
          </p:nvSpPr>
          <p:spPr bwMode="auto">
            <a:xfrm>
              <a:off x="4137025" y="5371351"/>
              <a:ext cx="53975" cy="95250"/>
            </a:xfrm>
            <a:custGeom>
              <a:avLst/>
              <a:gdLst>
                <a:gd name="T0" fmla="*/ 2147483647 w 34"/>
                <a:gd name="T1" fmla="*/ 2147483647 h 60"/>
                <a:gd name="T2" fmla="*/ 2147483647 w 34"/>
                <a:gd name="T3" fmla="*/ 2147483647 h 60"/>
                <a:gd name="T4" fmla="*/ 0 w 34"/>
                <a:gd name="T5" fmla="*/ 2147483647 h 60"/>
                <a:gd name="T6" fmla="*/ 0 w 34"/>
                <a:gd name="T7" fmla="*/ 0 h 60"/>
                <a:gd name="T8" fmla="*/ 2147483647 w 34"/>
                <a:gd name="T9" fmla="*/ 2147483647 h 60"/>
                <a:gd name="T10" fmla="*/ 0 60000 65536"/>
                <a:gd name="T11" fmla="*/ 0 60000 65536"/>
                <a:gd name="T12" fmla="*/ 0 60000 65536"/>
                <a:gd name="T13" fmla="*/ 0 60000 65536"/>
                <a:gd name="T14" fmla="*/ 0 60000 65536"/>
                <a:gd name="T15" fmla="*/ 0 w 34"/>
                <a:gd name="T16" fmla="*/ 0 h 60"/>
                <a:gd name="T17" fmla="*/ 34 w 34"/>
                <a:gd name="T18" fmla="*/ 60 h 60"/>
              </a:gdLst>
              <a:ahLst/>
              <a:cxnLst>
                <a:cxn ang="T10">
                  <a:pos x="T0" y="T1"/>
                </a:cxn>
                <a:cxn ang="T11">
                  <a:pos x="T2" y="T3"/>
                </a:cxn>
                <a:cxn ang="T12">
                  <a:pos x="T4" y="T5"/>
                </a:cxn>
                <a:cxn ang="T13">
                  <a:pos x="T6" y="T7"/>
                </a:cxn>
                <a:cxn ang="T14">
                  <a:pos x="T8" y="T9"/>
                </a:cxn>
              </a:cxnLst>
              <a:rect l="T15" t="T16" r="T17" b="T18"/>
              <a:pathLst>
                <a:path w="34" h="60">
                  <a:moveTo>
                    <a:pt x="34" y="32"/>
                  </a:moveTo>
                  <a:lnTo>
                    <a:pt x="34" y="60"/>
                  </a:lnTo>
                  <a:lnTo>
                    <a:pt x="0" y="30"/>
                  </a:lnTo>
                  <a:lnTo>
                    <a:pt x="0" y="0"/>
                  </a:lnTo>
                  <a:lnTo>
                    <a:pt x="34" y="3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73" name="Freeform 182"/>
            <p:cNvSpPr>
              <a:spLocks/>
            </p:cNvSpPr>
            <p:nvPr/>
          </p:nvSpPr>
          <p:spPr bwMode="auto">
            <a:xfrm>
              <a:off x="4087813" y="5431676"/>
              <a:ext cx="46037" cy="88900"/>
            </a:xfrm>
            <a:custGeom>
              <a:avLst/>
              <a:gdLst>
                <a:gd name="T0" fmla="*/ 2147483647 w 29"/>
                <a:gd name="T1" fmla="*/ 2147483647 h 56"/>
                <a:gd name="T2" fmla="*/ 2147483647 w 29"/>
                <a:gd name="T3" fmla="*/ 2147483647 h 56"/>
                <a:gd name="T4" fmla="*/ 0 w 29"/>
                <a:gd name="T5" fmla="*/ 2147483647 h 56"/>
                <a:gd name="T6" fmla="*/ 0 w 29"/>
                <a:gd name="T7" fmla="*/ 0 h 56"/>
                <a:gd name="T8" fmla="*/ 2147483647 w 29"/>
                <a:gd name="T9" fmla="*/ 2147483647 h 56"/>
                <a:gd name="T10" fmla="*/ 0 60000 65536"/>
                <a:gd name="T11" fmla="*/ 0 60000 65536"/>
                <a:gd name="T12" fmla="*/ 0 60000 65536"/>
                <a:gd name="T13" fmla="*/ 0 60000 65536"/>
                <a:gd name="T14" fmla="*/ 0 60000 65536"/>
                <a:gd name="T15" fmla="*/ 0 w 29"/>
                <a:gd name="T16" fmla="*/ 0 h 56"/>
                <a:gd name="T17" fmla="*/ 29 w 29"/>
                <a:gd name="T18" fmla="*/ 56 h 56"/>
              </a:gdLst>
              <a:ahLst/>
              <a:cxnLst>
                <a:cxn ang="T10">
                  <a:pos x="T0" y="T1"/>
                </a:cxn>
                <a:cxn ang="T11">
                  <a:pos x="T2" y="T3"/>
                </a:cxn>
                <a:cxn ang="T12">
                  <a:pos x="T4" y="T5"/>
                </a:cxn>
                <a:cxn ang="T13">
                  <a:pos x="T6" y="T7"/>
                </a:cxn>
                <a:cxn ang="T14">
                  <a:pos x="T8" y="T9"/>
                </a:cxn>
              </a:cxnLst>
              <a:rect l="T15" t="T16" r="T17" b="T18"/>
              <a:pathLst>
                <a:path w="29" h="56">
                  <a:moveTo>
                    <a:pt x="29" y="29"/>
                  </a:moveTo>
                  <a:lnTo>
                    <a:pt x="29" y="56"/>
                  </a:lnTo>
                  <a:lnTo>
                    <a:pt x="0" y="28"/>
                  </a:lnTo>
                  <a:lnTo>
                    <a:pt x="0" y="0"/>
                  </a:lnTo>
                  <a:lnTo>
                    <a:pt x="29" y="2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74" name="Freeform 183"/>
            <p:cNvSpPr>
              <a:spLocks/>
            </p:cNvSpPr>
            <p:nvPr/>
          </p:nvSpPr>
          <p:spPr bwMode="auto">
            <a:xfrm>
              <a:off x="4248150" y="5585664"/>
              <a:ext cx="63500" cy="111125"/>
            </a:xfrm>
            <a:custGeom>
              <a:avLst/>
              <a:gdLst>
                <a:gd name="T0" fmla="*/ 2147483647 w 40"/>
                <a:gd name="T1" fmla="*/ 2147483647 h 70"/>
                <a:gd name="T2" fmla="*/ 2147483647 w 40"/>
                <a:gd name="T3" fmla="*/ 2147483647 h 70"/>
                <a:gd name="T4" fmla="*/ 0 w 40"/>
                <a:gd name="T5" fmla="*/ 2147483647 h 70"/>
                <a:gd name="T6" fmla="*/ 0 w 40"/>
                <a:gd name="T7" fmla="*/ 0 h 70"/>
                <a:gd name="T8" fmla="*/ 2147483647 w 40"/>
                <a:gd name="T9" fmla="*/ 2147483647 h 70"/>
                <a:gd name="T10" fmla="*/ 0 60000 65536"/>
                <a:gd name="T11" fmla="*/ 0 60000 65536"/>
                <a:gd name="T12" fmla="*/ 0 60000 65536"/>
                <a:gd name="T13" fmla="*/ 0 60000 65536"/>
                <a:gd name="T14" fmla="*/ 0 60000 65536"/>
                <a:gd name="T15" fmla="*/ 0 w 40"/>
                <a:gd name="T16" fmla="*/ 0 h 70"/>
                <a:gd name="T17" fmla="*/ 40 w 40"/>
                <a:gd name="T18" fmla="*/ 70 h 70"/>
              </a:gdLst>
              <a:ahLst/>
              <a:cxnLst>
                <a:cxn ang="T10">
                  <a:pos x="T0" y="T1"/>
                </a:cxn>
                <a:cxn ang="T11">
                  <a:pos x="T2" y="T3"/>
                </a:cxn>
                <a:cxn ang="T12">
                  <a:pos x="T4" y="T5"/>
                </a:cxn>
                <a:cxn ang="T13">
                  <a:pos x="T6" y="T7"/>
                </a:cxn>
                <a:cxn ang="T14">
                  <a:pos x="T8" y="T9"/>
                </a:cxn>
              </a:cxnLst>
              <a:rect l="T15" t="T16" r="T17" b="T18"/>
              <a:pathLst>
                <a:path w="40" h="70">
                  <a:moveTo>
                    <a:pt x="40" y="38"/>
                  </a:moveTo>
                  <a:lnTo>
                    <a:pt x="40" y="70"/>
                  </a:lnTo>
                  <a:lnTo>
                    <a:pt x="0" y="31"/>
                  </a:lnTo>
                  <a:lnTo>
                    <a:pt x="0" y="0"/>
                  </a:lnTo>
                  <a:lnTo>
                    <a:pt x="40" y="3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75" name="Freeform 184"/>
            <p:cNvSpPr>
              <a:spLocks/>
            </p:cNvSpPr>
            <p:nvPr/>
          </p:nvSpPr>
          <p:spPr bwMode="auto">
            <a:xfrm>
              <a:off x="4194175" y="5534864"/>
              <a:ext cx="50800" cy="98425"/>
            </a:xfrm>
            <a:custGeom>
              <a:avLst/>
              <a:gdLst>
                <a:gd name="T0" fmla="*/ 2147483647 w 32"/>
                <a:gd name="T1" fmla="*/ 2147483647 h 62"/>
                <a:gd name="T2" fmla="*/ 2147483647 w 32"/>
                <a:gd name="T3" fmla="*/ 2147483647 h 62"/>
                <a:gd name="T4" fmla="*/ 0 w 32"/>
                <a:gd name="T5" fmla="*/ 2147483647 h 62"/>
                <a:gd name="T6" fmla="*/ 0 w 32"/>
                <a:gd name="T7" fmla="*/ 0 h 62"/>
                <a:gd name="T8" fmla="*/ 2147483647 w 32"/>
                <a:gd name="T9" fmla="*/ 2147483647 h 62"/>
                <a:gd name="T10" fmla="*/ 0 60000 65536"/>
                <a:gd name="T11" fmla="*/ 0 60000 65536"/>
                <a:gd name="T12" fmla="*/ 0 60000 65536"/>
                <a:gd name="T13" fmla="*/ 0 60000 65536"/>
                <a:gd name="T14" fmla="*/ 0 60000 65536"/>
                <a:gd name="T15" fmla="*/ 0 w 32"/>
                <a:gd name="T16" fmla="*/ 0 h 62"/>
                <a:gd name="T17" fmla="*/ 32 w 32"/>
                <a:gd name="T18" fmla="*/ 62 h 62"/>
              </a:gdLst>
              <a:ahLst/>
              <a:cxnLst>
                <a:cxn ang="T10">
                  <a:pos x="T0" y="T1"/>
                </a:cxn>
                <a:cxn ang="T11">
                  <a:pos x="T2" y="T3"/>
                </a:cxn>
                <a:cxn ang="T12">
                  <a:pos x="T4" y="T5"/>
                </a:cxn>
                <a:cxn ang="T13">
                  <a:pos x="T6" y="T7"/>
                </a:cxn>
                <a:cxn ang="T14">
                  <a:pos x="T8" y="T9"/>
                </a:cxn>
              </a:cxnLst>
              <a:rect l="T15" t="T16" r="T17" b="T18"/>
              <a:pathLst>
                <a:path w="32" h="62">
                  <a:moveTo>
                    <a:pt x="32" y="31"/>
                  </a:moveTo>
                  <a:lnTo>
                    <a:pt x="32" y="62"/>
                  </a:lnTo>
                  <a:lnTo>
                    <a:pt x="0" y="30"/>
                  </a:lnTo>
                  <a:lnTo>
                    <a:pt x="0" y="0"/>
                  </a:lnTo>
                  <a:lnTo>
                    <a:pt x="32" y="31"/>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76" name="Freeform 185"/>
            <p:cNvSpPr>
              <a:spLocks/>
            </p:cNvSpPr>
            <p:nvPr/>
          </p:nvSpPr>
          <p:spPr bwMode="auto">
            <a:xfrm>
              <a:off x="4137025" y="5479301"/>
              <a:ext cx="53975" cy="98425"/>
            </a:xfrm>
            <a:custGeom>
              <a:avLst/>
              <a:gdLst>
                <a:gd name="T0" fmla="*/ 2147483647 w 34"/>
                <a:gd name="T1" fmla="*/ 2147483647 h 62"/>
                <a:gd name="T2" fmla="*/ 2147483647 w 34"/>
                <a:gd name="T3" fmla="*/ 2147483647 h 62"/>
                <a:gd name="T4" fmla="*/ 0 w 34"/>
                <a:gd name="T5" fmla="*/ 2147483647 h 62"/>
                <a:gd name="T6" fmla="*/ 0 w 34"/>
                <a:gd name="T7" fmla="*/ 0 h 62"/>
                <a:gd name="T8" fmla="*/ 2147483647 w 34"/>
                <a:gd name="T9" fmla="*/ 2147483647 h 62"/>
                <a:gd name="T10" fmla="*/ 0 60000 65536"/>
                <a:gd name="T11" fmla="*/ 0 60000 65536"/>
                <a:gd name="T12" fmla="*/ 0 60000 65536"/>
                <a:gd name="T13" fmla="*/ 0 60000 65536"/>
                <a:gd name="T14" fmla="*/ 0 60000 65536"/>
                <a:gd name="T15" fmla="*/ 0 w 34"/>
                <a:gd name="T16" fmla="*/ 0 h 62"/>
                <a:gd name="T17" fmla="*/ 34 w 34"/>
                <a:gd name="T18" fmla="*/ 62 h 62"/>
              </a:gdLst>
              <a:ahLst/>
              <a:cxnLst>
                <a:cxn ang="T10">
                  <a:pos x="T0" y="T1"/>
                </a:cxn>
                <a:cxn ang="T11">
                  <a:pos x="T2" y="T3"/>
                </a:cxn>
                <a:cxn ang="T12">
                  <a:pos x="T4" y="T5"/>
                </a:cxn>
                <a:cxn ang="T13">
                  <a:pos x="T6" y="T7"/>
                </a:cxn>
                <a:cxn ang="T14">
                  <a:pos x="T8" y="T9"/>
                </a:cxn>
              </a:cxnLst>
              <a:rect l="T15" t="T16" r="T17" b="T18"/>
              <a:pathLst>
                <a:path w="34" h="62">
                  <a:moveTo>
                    <a:pt x="34" y="34"/>
                  </a:moveTo>
                  <a:lnTo>
                    <a:pt x="34" y="62"/>
                  </a:lnTo>
                  <a:lnTo>
                    <a:pt x="0" y="28"/>
                  </a:lnTo>
                  <a:lnTo>
                    <a:pt x="0" y="0"/>
                  </a:lnTo>
                  <a:lnTo>
                    <a:pt x="34" y="3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77" name="Freeform 186"/>
            <p:cNvSpPr>
              <a:spLocks/>
            </p:cNvSpPr>
            <p:nvPr/>
          </p:nvSpPr>
          <p:spPr bwMode="auto">
            <a:xfrm>
              <a:off x="4249738" y="5017339"/>
              <a:ext cx="60325" cy="85725"/>
            </a:xfrm>
            <a:custGeom>
              <a:avLst/>
              <a:gdLst>
                <a:gd name="T0" fmla="*/ 2147483647 w 38"/>
                <a:gd name="T1" fmla="*/ 2147483647 h 54"/>
                <a:gd name="T2" fmla="*/ 2147483647 w 38"/>
                <a:gd name="T3" fmla="*/ 2147483647 h 54"/>
                <a:gd name="T4" fmla="*/ 0 w 38"/>
                <a:gd name="T5" fmla="*/ 2147483647 h 54"/>
                <a:gd name="T6" fmla="*/ 0 w 38"/>
                <a:gd name="T7" fmla="*/ 0 h 54"/>
                <a:gd name="T8" fmla="*/ 2147483647 w 38"/>
                <a:gd name="T9" fmla="*/ 2147483647 h 54"/>
                <a:gd name="T10" fmla="*/ 0 60000 65536"/>
                <a:gd name="T11" fmla="*/ 0 60000 65536"/>
                <a:gd name="T12" fmla="*/ 0 60000 65536"/>
                <a:gd name="T13" fmla="*/ 0 60000 65536"/>
                <a:gd name="T14" fmla="*/ 0 60000 65536"/>
                <a:gd name="T15" fmla="*/ 0 w 38"/>
                <a:gd name="T16" fmla="*/ 0 h 54"/>
                <a:gd name="T17" fmla="*/ 38 w 38"/>
                <a:gd name="T18" fmla="*/ 54 h 54"/>
              </a:gdLst>
              <a:ahLst/>
              <a:cxnLst>
                <a:cxn ang="T10">
                  <a:pos x="T0" y="T1"/>
                </a:cxn>
                <a:cxn ang="T11">
                  <a:pos x="T2" y="T3"/>
                </a:cxn>
                <a:cxn ang="T12">
                  <a:pos x="T4" y="T5"/>
                </a:cxn>
                <a:cxn ang="T13">
                  <a:pos x="T6" y="T7"/>
                </a:cxn>
                <a:cxn ang="T14">
                  <a:pos x="T8" y="T9"/>
                </a:cxn>
              </a:cxnLst>
              <a:rect l="T15" t="T16" r="T17" b="T18"/>
              <a:pathLst>
                <a:path w="38" h="54">
                  <a:moveTo>
                    <a:pt x="38" y="23"/>
                  </a:moveTo>
                  <a:lnTo>
                    <a:pt x="38" y="54"/>
                  </a:lnTo>
                  <a:lnTo>
                    <a:pt x="0" y="31"/>
                  </a:lnTo>
                  <a:lnTo>
                    <a:pt x="0" y="0"/>
                  </a:lnTo>
                  <a:lnTo>
                    <a:pt x="38" y="2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78" name="Freeform 187"/>
            <p:cNvSpPr>
              <a:spLocks/>
            </p:cNvSpPr>
            <p:nvPr/>
          </p:nvSpPr>
          <p:spPr bwMode="auto">
            <a:xfrm>
              <a:off x="4292600" y="5101476"/>
              <a:ext cx="19050" cy="60325"/>
            </a:xfrm>
            <a:custGeom>
              <a:avLst/>
              <a:gdLst>
                <a:gd name="T0" fmla="*/ 2147483647 w 12"/>
                <a:gd name="T1" fmla="*/ 2147483647 h 38"/>
                <a:gd name="T2" fmla="*/ 2147483647 w 12"/>
                <a:gd name="T3" fmla="*/ 2147483647 h 38"/>
                <a:gd name="T4" fmla="*/ 0 w 12"/>
                <a:gd name="T5" fmla="*/ 2147483647 h 38"/>
                <a:gd name="T6" fmla="*/ 0 w 12"/>
                <a:gd name="T7" fmla="*/ 0 h 38"/>
                <a:gd name="T8" fmla="*/ 2147483647 w 12"/>
                <a:gd name="T9" fmla="*/ 2147483647 h 38"/>
                <a:gd name="T10" fmla="*/ 0 60000 65536"/>
                <a:gd name="T11" fmla="*/ 0 60000 65536"/>
                <a:gd name="T12" fmla="*/ 0 60000 65536"/>
                <a:gd name="T13" fmla="*/ 0 60000 65536"/>
                <a:gd name="T14" fmla="*/ 0 60000 65536"/>
                <a:gd name="T15" fmla="*/ 0 w 12"/>
                <a:gd name="T16" fmla="*/ 0 h 38"/>
                <a:gd name="T17" fmla="*/ 12 w 12"/>
                <a:gd name="T18" fmla="*/ 38 h 38"/>
              </a:gdLst>
              <a:ahLst/>
              <a:cxnLst>
                <a:cxn ang="T10">
                  <a:pos x="T0" y="T1"/>
                </a:cxn>
                <a:cxn ang="T11">
                  <a:pos x="T2" y="T3"/>
                </a:cxn>
                <a:cxn ang="T12">
                  <a:pos x="T4" y="T5"/>
                </a:cxn>
                <a:cxn ang="T13">
                  <a:pos x="T6" y="T7"/>
                </a:cxn>
                <a:cxn ang="T14">
                  <a:pos x="T8" y="T9"/>
                </a:cxn>
              </a:cxnLst>
              <a:rect l="T15" t="T16" r="T17" b="T18"/>
              <a:pathLst>
                <a:path w="12" h="38">
                  <a:moveTo>
                    <a:pt x="12" y="8"/>
                  </a:moveTo>
                  <a:lnTo>
                    <a:pt x="12" y="38"/>
                  </a:lnTo>
                  <a:lnTo>
                    <a:pt x="0" y="30"/>
                  </a:lnTo>
                  <a:lnTo>
                    <a:pt x="0" y="0"/>
                  </a:lnTo>
                  <a:lnTo>
                    <a:pt x="12" y="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79" name="Freeform 188"/>
            <p:cNvSpPr>
              <a:spLocks/>
            </p:cNvSpPr>
            <p:nvPr/>
          </p:nvSpPr>
          <p:spPr bwMode="auto">
            <a:xfrm>
              <a:off x="4249738" y="5245939"/>
              <a:ext cx="60325" cy="92075"/>
            </a:xfrm>
            <a:custGeom>
              <a:avLst/>
              <a:gdLst>
                <a:gd name="T0" fmla="*/ 2147483647 w 38"/>
                <a:gd name="T1" fmla="*/ 2147483647 h 58"/>
                <a:gd name="T2" fmla="*/ 2147483647 w 38"/>
                <a:gd name="T3" fmla="*/ 2147483647 h 58"/>
                <a:gd name="T4" fmla="*/ 0 w 38"/>
                <a:gd name="T5" fmla="*/ 2147483647 h 58"/>
                <a:gd name="T6" fmla="*/ 0 w 38"/>
                <a:gd name="T7" fmla="*/ 0 h 58"/>
                <a:gd name="T8" fmla="*/ 2147483647 w 38"/>
                <a:gd name="T9" fmla="*/ 2147483647 h 58"/>
                <a:gd name="T10" fmla="*/ 0 60000 65536"/>
                <a:gd name="T11" fmla="*/ 0 60000 65536"/>
                <a:gd name="T12" fmla="*/ 0 60000 65536"/>
                <a:gd name="T13" fmla="*/ 0 60000 65536"/>
                <a:gd name="T14" fmla="*/ 0 60000 65536"/>
                <a:gd name="T15" fmla="*/ 0 w 38"/>
                <a:gd name="T16" fmla="*/ 0 h 58"/>
                <a:gd name="T17" fmla="*/ 38 w 38"/>
                <a:gd name="T18" fmla="*/ 58 h 58"/>
              </a:gdLst>
              <a:ahLst/>
              <a:cxnLst>
                <a:cxn ang="T10">
                  <a:pos x="T0" y="T1"/>
                </a:cxn>
                <a:cxn ang="T11">
                  <a:pos x="T2" y="T3"/>
                </a:cxn>
                <a:cxn ang="T12">
                  <a:pos x="T4" y="T5"/>
                </a:cxn>
                <a:cxn ang="T13">
                  <a:pos x="T6" y="T7"/>
                </a:cxn>
                <a:cxn ang="T14">
                  <a:pos x="T8" y="T9"/>
                </a:cxn>
              </a:cxnLst>
              <a:rect l="T15" t="T16" r="T17" b="T18"/>
              <a:pathLst>
                <a:path w="38" h="58">
                  <a:moveTo>
                    <a:pt x="38" y="27"/>
                  </a:moveTo>
                  <a:lnTo>
                    <a:pt x="38" y="58"/>
                  </a:lnTo>
                  <a:lnTo>
                    <a:pt x="0" y="30"/>
                  </a:lnTo>
                  <a:lnTo>
                    <a:pt x="0" y="0"/>
                  </a:lnTo>
                  <a:lnTo>
                    <a:pt x="38" y="2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80" name="Rectangle 189"/>
            <p:cNvSpPr>
              <a:spLocks noChangeArrowheads="1"/>
            </p:cNvSpPr>
            <p:nvPr/>
          </p:nvSpPr>
          <p:spPr bwMode="auto">
            <a:xfrm>
              <a:off x="4310063" y="5528514"/>
              <a:ext cx="28575" cy="50800"/>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4081" name="Freeform 190"/>
            <p:cNvSpPr>
              <a:spLocks/>
            </p:cNvSpPr>
            <p:nvPr/>
          </p:nvSpPr>
          <p:spPr bwMode="auto">
            <a:xfrm>
              <a:off x="4048125" y="4787151"/>
              <a:ext cx="441325" cy="125413"/>
            </a:xfrm>
            <a:custGeom>
              <a:avLst/>
              <a:gdLst>
                <a:gd name="T0" fmla="*/ 0 w 278"/>
                <a:gd name="T1" fmla="*/ 0 h 79"/>
                <a:gd name="T2" fmla="*/ 2147483647 w 278"/>
                <a:gd name="T3" fmla="*/ 2147483647 h 79"/>
                <a:gd name="T4" fmla="*/ 2147483647 w 278"/>
                <a:gd name="T5" fmla="*/ 2147483647 h 79"/>
                <a:gd name="T6" fmla="*/ 2147483647 w 278"/>
                <a:gd name="T7" fmla="*/ 2147483647 h 79"/>
                <a:gd name="T8" fmla="*/ 0 w 278"/>
                <a:gd name="T9" fmla="*/ 0 h 79"/>
                <a:gd name="T10" fmla="*/ 0 60000 65536"/>
                <a:gd name="T11" fmla="*/ 0 60000 65536"/>
                <a:gd name="T12" fmla="*/ 0 60000 65536"/>
                <a:gd name="T13" fmla="*/ 0 60000 65536"/>
                <a:gd name="T14" fmla="*/ 0 60000 65536"/>
                <a:gd name="T15" fmla="*/ 0 w 278"/>
                <a:gd name="T16" fmla="*/ 0 h 79"/>
                <a:gd name="T17" fmla="*/ 278 w 278"/>
                <a:gd name="T18" fmla="*/ 79 h 79"/>
              </a:gdLst>
              <a:ahLst/>
              <a:cxnLst>
                <a:cxn ang="T10">
                  <a:pos x="T0" y="T1"/>
                </a:cxn>
                <a:cxn ang="T11">
                  <a:pos x="T2" y="T3"/>
                </a:cxn>
                <a:cxn ang="T12">
                  <a:pos x="T4" y="T5"/>
                </a:cxn>
                <a:cxn ang="T13">
                  <a:pos x="T6" y="T7"/>
                </a:cxn>
                <a:cxn ang="T14">
                  <a:pos x="T8" y="T9"/>
                </a:cxn>
              </a:cxnLst>
              <a:rect l="T15" t="T16" r="T17" b="T18"/>
              <a:pathLst>
                <a:path w="278" h="79">
                  <a:moveTo>
                    <a:pt x="0" y="0"/>
                  </a:moveTo>
                  <a:lnTo>
                    <a:pt x="119" y="6"/>
                  </a:lnTo>
                  <a:lnTo>
                    <a:pt x="278" y="75"/>
                  </a:lnTo>
                  <a:lnTo>
                    <a:pt x="168" y="79"/>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82" name="Freeform 191"/>
            <p:cNvSpPr>
              <a:spLocks/>
            </p:cNvSpPr>
            <p:nvPr/>
          </p:nvSpPr>
          <p:spPr bwMode="auto">
            <a:xfrm>
              <a:off x="4316413" y="4903039"/>
              <a:ext cx="171450" cy="93662"/>
            </a:xfrm>
            <a:custGeom>
              <a:avLst/>
              <a:gdLst>
                <a:gd name="T0" fmla="*/ 2147483647 w 108"/>
                <a:gd name="T1" fmla="*/ 2147483647 h 59"/>
                <a:gd name="T2" fmla="*/ 2147483647 w 108"/>
                <a:gd name="T3" fmla="*/ 0 h 59"/>
                <a:gd name="T4" fmla="*/ 2147483647 w 108"/>
                <a:gd name="T5" fmla="*/ 2147483647 h 59"/>
                <a:gd name="T6" fmla="*/ 0 w 108"/>
                <a:gd name="T7" fmla="*/ 2147483647 h 59"/>
                <a:gd name="T8" fmla="*/ 2147483647 w 108"/>
                <a:gd name="T9" fmla="*/ 2147483647 h 59"/>
                <a:gd name="T10" fmla="*/ 0 60000 65536"/>
                <a:gd name="T11" fmla="*/ 0 60000 65536"/>
                <a:gd name="T12" fmla="*/ 0 60000 65536"/>
                <a:gd name="T13" fmla="*/ 0 60000 65536"/>
                <a:gd name="T14" fmla="*/ 0 60000 65536"/>
                <a:gd name="T15" fmla="*/ 0 w 108"/>
                <a:gd name="T16" fmla="*/ 0 h 59"/>
                <a:gd name="T17" fmla="*/ 108 w 108"/>
                <a:gd name="T18" fmla="*/ 59 h 59"/>
              </a:gdLst>
              <a:ahLst/>
              <a:cxnLst>
                <a:cxn ang="T10">
                  <a:pos x="T0" y="T1"/>
                </a:cxn>
                <a:cxn ang="T11">
                  <a:pos x="T2" y="T3"/>
                </a:cxn>
                <a:cxn ang="T12">
                  <a:pos x="T4" y="T5"/>
                </a:cxn>
                <a:cxn ang="T13">
                  <a:pos x="T6" y="T7"/>
                </a:cxn>
                <a:cxn ang="T14">
                  <a:pos x="T8" y="T9"/>
                </a:cxn>
              </a:cxnLst>
              <a:rect l="T15" t="T16" r="T17" b="T18"/>
              <a:pathLst>
                <a:path w="108" h="59">
                  <a:moveTo>
                    <a:pt x="1" y="1"/>
                  </a:moveTo>
                  <a:lnTo>
                    <a:pt x="108" y="0"/>
                  </a:lnTo>
                  <a:lnTo>
                    <a:pt x="108" y="59"/>
                  </a:lnTo>
                  <a:lnTo>
                    <a:pt x="0" y="59"/>
                  </a:lnTo>
                  <a:lnTo>
                    <a:pt x="1" y="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4083" name="Freeform 192"/>
            <p:cNvSpPr>
              <a:spLocks/>
            </p:cNvSpPr>
            <p:nvPr/>
          </p:nvSpPr>
          <p:spPr bwMode="auto">
            <a:xfrm>
              <a:off x="4049713" y="4787151"/>
              <a:ext cx="273050" cy="207963"/>
            </a:xfrm>
            <a:custGeom>
              <a:avLst/>
              <a:gdLst>
                <a:gd name="T0" fmla="*/ 0 w 172"/>
                <a:gd name="T1" fmla="*/ 0 h 131"/>
                <a:gd name="T2" fmla="*/ 0 w 172"/>
                <a:gd name="T3" fmla="*/ 2147483647 h 131"/>
                <a:gd name="T4" fmla="*/ 2147483647 w 172"/>
                <a:gd name="T5" fmla="*/ 2147483647 h 131"/>
                <a:gd name="T6" fmla="*/ 2147483647 w 172"/>
                <a:gd name="T7" fmla="*/ 2147483647 h 131"/>
                <a:gd name="T8" fmla="*/ 0 w 172"/>
                <a:gd name="T9" fmla="*/ 0 h 131"/>
                <a:gd name="T10" fmla="*/ 0 60000 65536"/>
                <a:gd name="T11" fmla="*/ 0 60000 65536"/>
                <a:gd name="T12" fmla="*/ 0 60000 65536"/>
                <a:gd name="T13" fmla="*/ 0 60000 65536"/>
                <a:gd name="T14" fmla="*/ 0 60000 65536"/>
                <a:gd name="T15" fmla="*/ 0 w 172"/>
                <a:gd name="T16" fmla="*/ 0 h 131"/>
                <a:gd name="T17" fmla="*/ 172 w 172"/>
                <a:gd name="T18" fmla="*/ 131 h 131"/>
              </a:gdLst>
              <a:ahLst/>
              <a:cxnLst>
                <a:cxn ang="T10">
                  <a:pos x="T0" y="T1"/>
                </a:cxn>
                <a:cxn ang="T11">
                  <a:pos x="T2" y="T3"/>
                </a:cxn>
                <a:cxn ang="T12">
                  <a:pos x="T4" y="T5"/>
                </a:cxn>
                <a:cxn ang="T13">
                  <a:pos x="T6" y="T7"/>
                </a:cxn>
                <a:cxn ang="T14">
                  <a:pos x="T8" y="T9"/>
                </a:cxn>
              </a:cxnLst>
              <a:rect l="T15" t="T16" r="T17" b="T18"/>
              <a:pathLst>
                <a:path w="172" h="131">
                  <a:moveTo>
                    <a:pt x="0" y="0"/>
                  </a:moveTo>
                  <a:lnTo>
                    <a:pt x="0" y="45"/>
                  </a:lnTo>
                  <a:lnTo>
                    <a:pt x="172" y="131"/>
                  </a:lnTo>
                  <a:lnTo>
                    <a:pt x="172" y="73"/>
                  </a:lnTo>
                  <a:lnTo>
                    <a:pt x="0" y="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grpSp>
      <p:sp>
        <p:nvSpPr>
          <p:cNvPr id="163854" name="Rectangle 198"/>
          <p:cNvSpPr>
            <a:spLocks noChangeArrowheads="1"/>
          </p:cNvSpPr>
          <p:nvPr/>
        </p:nvSpPr>
        <p:spPr bwMode="auto">
          <a:xfrm>
            <a:off x="4164013" y="4121150"/>
            <a:ext cx="412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300">
                <a:solidFill>
                  <a:srgbClr val="000000"/>
                </a:solidFill>
              </a:rPr>
              <a:t> </a:t>
            </a:r>
            <a:endParaRPr lang="en-US" altLang="en-US"/>
          </a:p>
        </p:txBody>
      </p:sp>
      <p:sp>
        <p:nvSpPr>
          <p:cNvPr id="163855" name="Line 334"/>
          <p:cNvSpPr>
            <a:spLocks noChangeShapeType="1"/>
          </p:cNvSpPr>
          <p:nvPr/>
        </p:nvSpPr>
        <p:spPr bwMode="auto">
          <a:xfrm>
            <a:off x="3389313" y="4148138"/>
            <a:ext cx="434975"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63856" name="Freeform 346"/>
          <p:cNvSpPr>
            <a:spLocks/>
          </p:cNvSpPr>
          <p:nvPr/>
        </p:nvSpPr>
        <p:spPr bwMode="auto">
          <a:xfrm>
            <a:off x="4945063" y="3524250"/>
            <a:ext cx="1901825" cy="1141413"/>
          </a:xfrm>
          <a:custGeom>
            <a:avLst/>
            <a:gdLst>
              <a:gd name="T0" fmla="*/ 2147483647 w 1198"/>
              <a:gd name="T1" fmla="*/ 2147483647 h 719"/>
              <a:gd name="T2" fmla="*/ 2147483647 w 1198"/>
              <a:gd name="T3" fmla="*/ 0 h 719"/>
              <a:gd name="T4" fmla="*/ 2147483647 w 1198"/>
              <a:gd name="T5" fmla="*/ 2147483647 h 719"/>
              <a:gd name="T6" fmla="*/ 2147483647 w 1198"/>
              <a:gd name="T7" fmla="*/ 2147483647 h 719"/>
              <a:gd name="T8" fmla="*/ 2147483647 w 1198"/>
              <a:gd name="T9" fmla="*/ 2147483647 h 719"/>
              <a:gd name="T10" fmla="*/ 2147483647 w 1198"/>
              <a:gd name="T11" fmla="*/ 2147483647 h 719"/>
              <a:gd name="T12" fmla="*/ 2147483647 w 1198"/>
              <a:gd name="T13" fmla="*/ 2147483647 h 719"/>
              <a:gd name="T14" fmla="*/ 2147483647 w 1198"/>
              <a:gd name="T15" fmla="*/ 2147483647 h 719"/>
              <a:gd name="T16" fmla="*/ 2147483647 w 1198"/>
              <a:gd name="T17" fmla="*/ 2147483647 h 719"/>
              <a:gd name="T18" fmla="*/ 2147483647 w 1198"/>
              <a:gd name="T19" fmla="*/ 2147483647 h 719"/>
              <a:gd name="T20" fmla="*/ 2147483647 w 1198"/>
              <a:gd name="T21" fmla="*/ 2147483647 h 719"/>
              <a:gd name="T22" fmla="*/ 2147483647 w 1198"/>
              <a:gd name="T23" fmla="*/ 2147483647 h 719"/>
              <a:gd name="T24" fmla="*/ 2147483647 w 1198"/>
              <a:gd name="T25" fmla="*/ 2147483647 h 719"/>
              <a:gd name="T26" fmla="*/ 2147483647 w 1198"/>
              <a:gd name="T27" fmla="*/ 2147483647 h 719"/>
              <a:gd name="T28" fmla="*/ 2147483647 w 1198"/>
              <a:gd name="T29" fmla="*/ 2147483647 h 719"/>
              <a:gd name="T30" fmla="*/ 2147483647 w 1198"/>
              <a:gd name="T31" fmla="*/ 2147483647 h 719"/>
              <a:gd name="T32" fmla="*/ 2147483647 w 1198"/>
              <a:gd name="T33" fmla="*/ 2147483647 h 719"/>
              <a:gd name="T34" fmla="*/ 2147483647 w 1198"/>
              <a:gd name="T35" fmla="*/ 2147483647 h 719"/>
              <a:gd name="T36" fmla="*/ 2147483647 w 1198"/>
              <a:gd name="T37" fmla="*/ 2147483647 h 719"/>
              <a:gd name="T38" fmla="*/ 2147483647 w 1198"/>
              <a:gd name="T39" fmla="*/ 2147483647 h 719"/>
              <a:gd name="T40" fmla="*/ 2147483647 w 1198"/>
              <a:gd name="T41" fmla="*/ 2147483647 h 719"/>
              <a:gd name="T42" fmla="*/ 2147483647 w 1198"/>
              <a:gd name="T43" fmla="*/ 2147483647 h 719"/>
              <a:gd name="T44" fmla="*/ 0 w 1198"/>
              <a:gd name="T45" fmla="*/ 2147483647 h 719"/>
              <a:gd name="T46" fmla="*/ 2147483647 w 1198"/>
              <a:gd name="T47" fmla="*/ 2147483647 h 719"/>
              <a:gd name="T48" fmla="*/ 2147483647 w 1198"/>
              <a:gd name="T49" fmla="*/ 2147483647 h 719"/>
              <a:gd name="T50" fmla="*/ 2147483647 w 1198"/>
              <a:gd name="T51" fmla="*/ 2147483647 h 719"/>
              <a:gd name="T52" fmla="*/ 2147483647 w 1198"/>
              <a:gd name="T53" fmla="*/ 2147483647 h 719"/>
              <a:gd name="T54" fmla="*/ 2147483647 w 1198"/>
              <a:gd name="T55" fmla="*/ 2147483647 h 719"/>
              <a:gd name="T56" fmla="*/ 2147483647 w 1198"/>
              <a:gd name="T57" fmla="*/ 2147483647 h 719"/>
              <a:gd name="T58" fmla="*/ 2147483647 w 1198"/>
              <a:gd name="T59" fmla="*/ 2147483647 h 719"/>
              <a:gd name="T60" fmla="*/ 2147483647 w 1198"/>
              <a:gd name="T61" fmla="*/ 2147483647 h 719"/>
              <a:gd name="T62" fmla="*/ 2147483647 w 1198"/>
              <a:gd name="T63" fmla="*/ 2147483647 h 719"/>
              <a:gd name="T64" fmla="*/ 2147483647 w 1198"/>
              <a:gd name="T65" fmla="*/ 2147483647 h 719"/>
              <a:gd name="T66" fmla="*/ 2147483647 w 1198"/>
              <a:gd name="T67" fmla="*/ 2147483647 h 719"/>
              <a:gd name="T68" fmla="*/ 2147483647 w 1198"/>
              <a:gd name="T69" fmla="*/ 2147483647 h 719"/>
              <a:gd name="T70" fmla="*/ 2147483647 w 1198"/>
              <a:gd name="T71" fmla="*/ 2147483647 h 719"/>
              <a:gd name="T72" fmla="*/ 2147483647 w 1198"/>
              <a:gd name="T73" fmla="*/ 2147483647 h 719"/>
              <a:gd name="T74" fmla="*/ 2147483647 w 1198"/>
              <a:gd name="T75" fmla="*/ 2147483647 h 719"/>
              <a:gd name="T76" fmla="*/ 2147483647 w 1198"/>
              <a:gd name="T77" fmla="*/ 2147483647 h 719"/>
              <a:gd name="T78" fmla="*/ 2147483647 w 1198"/>
              <a:gd name="T79" fmla="*/ 2147483647 h 719"/>
              <a:gd name="T80" fmla="*/ 2147483647 w 1198"/>
              <a:gd name="T81" fmla="*/ 2147483647 h 719"/>
              <a:gd name="T82" fmla="*/ 2147483647 w 1198"/>
              <a:gd name="T83" fmla="*/ 2147483647 h 719"/>
              <a:gd name="T84" fmla="*/ 2147483647 w 1198"/>
              <a:gd name="T85" fmla="*/ 2147483647 h 719"/>
              <a:gd name="T86" fmla="*/ 2147483647 w 1198"/>
              <a:gd name="T87" fmla="*/ 2147483647 h 719"/>
              <a:gd name="T88" fmla="*/ 2147483647 w 1198"/>
              <a:gd name="T89" fmla="*/ 2147483647 h 719"/>
              <a:gd name="T90" fmla="*/ 2147483647 w 1198"/>
              <a:gd name="T91" fmla="*/ 2147483647 h 719"/>
              <a:gd name="T92" fmla="*/ 2147483647 w 1198"/>
              <a:gd name="T93" fmla="*/ 2147483647 h 719"/>
              <a:gd name="T94" fmla="*/ 2147483647 w 1198"/>
              <a:gd name="T95" fmla="*/ 2147483647 h 719"/>
              <a:gd name="T96" fmla="*/ 2147483647 w 1198"/>
              <a:gd name="T97" fmla="*/ 2147483647 h 719"/>
              <a:gd name="T98" fmla="*/ 2147483647 w 1198"/>
              <a:gd name="T99" fmla="*/ 2147483647 h 719"/>
              <a:gd name="T100" fmla="*/ 2147483647 w 1198"/>
              <a:gd name="T101" fmla="*/ 2147483647 h 719"/>
              <a:gd name="T102" fmla="*/ 2147483647 w 1198"/>
              <a:gd name="T103" fmla="*/ 2147483647 h 719"/>
              <a:gd name="T104" fmla="*/ 2147483647 w 1198"/>
              <a:gd name="T105" fmla="*/ 2147483647 h 719"/>
              <a:gd name="T106" fmla="*/ 2147483647 w 1198"/>
              <a:gd name="T107" fmla="*/ 2147483647 h 719"/>
              <a:gd name="T108" fmla="*/ 2147483647 w 1198"/>
              <a:gd name="T109" fmla="*/ 2147483647 h 719"/>
              <a:gd name="T110" fmla="*/ 2147483647 w 1198"/>
              <a:gd name="T111" fmla="*/ 2147483647 h 7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98"/>
              <a:gd name="T169" fmla="*/ 0 h 719"/>
              <a:gd name="T170" fmla="*/ 1198 w 1198"/>
              <a:gd name="T171" fmla="*/ 719 h 7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98" h="719">
                <a:moveTo>
                  <a:pt x="1160" y="13"/>
                </a:moveTo>
                <a:lnTo>
                  <a:pt x="1154" y="9"/>
                </a:lnTo>
                <a:lnTo>
                  <a:pt x="1149" y="5"/>
                </a:lnTo>
                <a:lnTo>
                  <a:pt x="1142" y="3"/>
                </a:lnTo>
                <a:lnTo>
                  <a:pt x="1137" y="2"/>
                </a:lnTo>
                <a:lnTo>
                  <a:pt x="1130" y="0"/>
                </a:lnTo>
                <a:lnTo>
                  <a:pt x="1123" y="0"/>
                </a:lnTo>
                <a:lnTo>
                  <a:pt x="1116" y="0"/>
                </a:lnTo>
                <a:lnTo>
                  <a:pt x="1107" y="2"/>
                </a:lnTo>
                <a:lnTo>
                  <a:pt x="1099" y="3"/>
                </a:lnTo>
                <a:lnTo>
                  <a:pt x="1091" y="5"/>
                </a:lnTo>
                <a:lnTo>
                  <a:pt x="1082" y="7"/>
                </a:lnTo>
                <a:lnTo>
                  <a:pt x="1074" y="10"/>
                </a:lnTo>
                <a:lnTo>
                  <a:pt x="1064" y="13"/>
                </a:lnTo>
                <a:lnTo>
                  <a:pt x="1055" y="17"/>
                </a:lnTo>
                <a:lnTo>
                  <a:pt x="1036" y="24"/>
                </a:lnTo>
                <a:lnTo>
                  <a:pt x="1016" y="32"/>
                </a:lnTo>
                <a:lnTo>
                  <a:pt x="997" y="40"/>
                </a:lnTo>
                <a:lnTo>
                  <a:pt x="977" y="49"/>
                </a:lnTo>
                <a:lnTo>
                  <a:pt x="956" y="56"/>
                </a:lnTo>
                <a:lnTo>
                  <a:pt x="936" y="65"/>
                </a:lnTo>
                <a:lnTo>
                  <a:pt x="925" y="67"/>
                </a:lnTo>
                <a:lnTo>
                  <a:pt x="915" y="70"/>
                </a:lnTo>
                <a:lnTo>
                  <a:pt x="904" y="73"/>
                </a:lnTo>
                <a:lnTo>
                  <a:pt x="895" y="75"/>
                </a:lnTo>
                <a:lnTo>
                  <a:pt x="885" y="76"/>
                </a:lnTo>
                <a:lnTo>
                  <a:pt x="875" y="77"/>
                </a:lnTo>
                <a:lnTo>
                  <a:pt x="866" y="77"/>
                </a:lnTo>
                <a:lnTo>
                  <a:pt x="855" y="79"/>
                </a:lnTo>
                <a:lnTo>
                  <a:pt x="837" y="77"/>
                </a:lnTo>
                <a:lnTo>
                  <a:pt x="817" y="76"/>
                </a:lnTo>
                <a:lnTo>
                  <a:pt x="798" y="75"/>
                </a:lnTo>
                <a:lnTo>
                  <a:pt x="778" y="73"/>
                </a:lnTo>
                <a:lnTo>
                  <a:pt x="758" y="70"/>
                </a:lnTo>
                <a:lnTo>
                  <a:pt x="739" y="67"/>
                </a:lnTo>
                <a:lnTo>
                  <a:pt x="719" y="65"/>
                </a:lnTo>
                <a:lnTo>
                  <a:pt x="698" y="61"/>
                </a:lnTo>
                <a:lnTo>
                  <a:pt x="677" y="59"/>
                </a:lnTo>
                <a:lnTo>
                  <a:pt x="655" y="58"/>
                </a:lnTo>
                <a:lnTo>
                  <a:pt x="632" y="56"/>
                </a:lnTo>
                <a:lnTo>
                  <a:pt x="610" y="56"/>
                </a:lnTo>
                <a:lnTo>
                  <a:pt x="599" y="56"/>
                </a:lnTo>
                <a:lnTo>
                  <a:pt x="586" y="56"/>
                </a:lnTo>
                <a:lnTo>
                  <a:pt x="574" y="58"/>
                </a:lnTo>
                <a:lnTo>
                  <a:pt x="562" y="59"/>
                </a:lnTo>
                <a:lnTo>
                  <a:pt x="550" y="61"/>
                </a:lnTo>
                <a:lnTo>
                  <a:pt x="537" y="63"/>
                </a:lnTo>
                <a:lnTo>
                  <a:pt x="524" y="65"/>
                </a:lnTo>
                <a:lnTo>
                  <a:pt x="510" y="68"/>
                </a:lnTo>
                <a:lnTo>
                  <a:pt x="495" y="70"/>
                </a:lnTo>
                <a:lnTo>
                  <a:pt x="480" y="73"/>
                </a:lnTo>
                <a:lnTo>
                  <a:pt x="464" y="76"/>
                </a:lnTo>
                <a:lnTo>
                  <a:pt x="448" y="79"/>
                </a:lnTo>
                <a:lnTo>
                  <a:pt x="432" y="82"/>
                </a:lnTo>
                <a:lnTo>
                  <a:pt x="415" y="86"/>
                </a:lnTo>
                <a:lnTo>
                  <a:pt x="398" y="89"/>
                </a:lnTo>
                <a:lnTo>
                  <a:pt x="380" y="93"/>
                </a:lnTo>
                <a:lnTo>
                  <a:pt x="345" y="100"/>
                </a:lnTo>
                <a:lnTo>
                  <a:pt x="310" y="108"/>
                </a:lnTo>
                <a:lnTo>
                  <a:pt x="274" y="117"/>
                </a:lnTo>
                <a:lnTo>
                  <a:pt x="240" y="128"/>
                </a:lnTo>
                <a:lnTo>
                  <a:pt x="223" y="132"/>
                </a:lnTo>
                <a:lnTo>
                  <a:pt x="206" y="138"/>
                </a:lnTo>
                <a:lnTo>
                  <a:pt x="190" y="144"/>
                </a:lnTo>
                <a:lnTo>
                  <a:pt x="175" y="150"/>
                </a:lnTo>
                <a:lnTo>
                  <a:pt x="159" y="156"/>
                </a:lnTo>
                <a:lnTo>
                  <a:pt x="145" y="163"/>
                </a:lnTo>
                <a:lnTo>
                  <a:pt x="131" y="169"/>
                </a:lnTo>
                <a:lnTo>
                  <a:pt x="117" y="176"/>
                </a:lnTo>
                <a:lnTo>
                  <a:pt x="104" y="183"/>
                </a:lnTo>
                <a:lnTo>
                  <a:pt x="92" y="191"/>
                </a:lnTo>
                <a:lnTo>
                  <a:pt x="82" y="198"/>
                </a:lnTo>
                <a:lnTo>
                  <a:pt x="71" y="206"/>
                </a:lnTo>
                <a:lnTo>
                  <a:pt x="62" y="214"/>
                </a:lnTo>
                <a:lnTo>
                  <a:pt x="54" y="222"/>
                </a:lnTo>
                <a:lnTo>
                  <a:pt x="47" y="232"/>
                </a:lnTo>
                <a:lnTo>
                  <a:pt x="40" y="241"/>
                </a:lnTo>
                <a:lnTo>
                  <a:pt x="34" y="250"/>
                </a:lnTo>
                <a:lnTo>
                  <a:pt x="28" y="262"/>
                </a:lnTo>
                <a:lnTo>
                  <a:pt x="23" y="273"/>
                </a:lnTo>
                <a:lnTo>
                  <a:pt x="19" y="284"/>
                </a:lnTo>
                <a:lnTo>
                  <a:pt x="14" y="297"/>
                </a:lnTo>
                <a:lnTo>
                  <a:pt x="10" y="310"/>
                </a:lnTo>
                <a:lnTo>
                  <a:pt x="8" y="323"/>
                </a:lnTo>
                <a:lnTo>
                  <a:pt x="6" y="336"/>
                </a:lnTo>
                <a:lnTo>
                  <a:pt x="3" y="350"/>
                </a:lnTo>
                <a:lnTo>
                  <a:pt x="2" y="364"/>
                </a:lnTo>
                <a:lnTo>
                  <a:pt x="1" y="378"/>
                </a:lnTo>
                <a:lnTo>
                  <a:pt x="0" y="391"/>
                </a:lnTo>
                <a:lnTo>
                  <a:pt x="0" y="406"/>
                </a:lnTo>
                <a:lnTo>
                  <a:pt x="0" y="420"/>
                </a:lnTo>
                <a:lnTo>
                  <a:pt x="0" y="434"/>
                </a:lnTo>
                <a:lnTo>
                  <a:pt x="1" y="448"/>
                </a:lnTo>
                <a:lnTo>
                  <a:pt x="2" y="461"/>
                </a:lnTo>
                <a:lnTo>
                  <a:pt x="5" y="475"/>
                </a:lnTo>
                <a:lnTo>
                  <a:pt x="6" y="489"/>
                </a:lnTo>
                <a:lnTo>
                  <a:pt x="8" y="502"/>
                </a:lnTo>
                <a:lnTo>
                  <a:pt x="12" y="514"/>
                </a:lnTo>
                <a:lnTo>
                  <a:pt x="14" y="526"/>
                </a:lnTo>
                <a:lnTo>
                  <a:pt x="17" y="539"/>
                </a:lnTo>
                <a:lnTo>
                  <a:pt x="21" y="551"/>
                </a:lnTo>
                <a:lnTo>
                  <a:pt x="24" y="561"/>
                </a:lnTo>
                <a:lnTo>
                  <a:pt x="28" y="572"/>
                </a:lnTo>
                <a:lnTo>
                  <a:pt x="33" y="582"/>
                </a:lnTo>
                <a:lnTo>
                  <a:pt x="37" y="590"/>
                </a:lnTo>
                <a:lnTo>
                  <a:pt x="42" y="600"/>
                </a:lnTo>
                <a:lnTo>
                  <a:pt x="47" y="607"/>
                </a:lnTo>
                <a:lnTo>
                  <a:pt x="51" y="615"/>
                </a:lnTo>
                <a:lnTo>
                  <a:pt x="57" y="621"/>
                </a:lnTo>
                <a:lnTo>
                  <a:pt x="63" y="627"/>
                </a:lnTo>
                <a:lnTo>
                  <a:pt x="70" y="632"/>
                </a:lnTo>
                <a:lnTo>
                  <a:pt x="77" y="638"/>
                </a:lnTo>
                <a:lnTo>
                  <a:pt x="85" y="643"/>
                </a:lnTo>
                <a:lnTo>
                  <a:pt x="92" y="648"/>
                </a:lnTo>
                <a:lnTo>
                  <a:pt x="101" y="651"/>
                </a:lnTo>
                <a:lnTo>
                  <a:pt x="110" y="656"/>
                </a:lnTo>
                <a:lnTo>
                  <a:pt x="119" y="659"/>
                </a:lnTo>
                <a:lnTo>
                  <a:pt x="128" y="662"/>
                </a:lnTo>
                <a:lnTo>
                  <a:pt x="138" y="665"/>
                </a:lnTo>
                <a:lnTo>
                  <a:pt x="159" y="670"/>
                </a:lnTo>
                <a:lnTo>
                  <a:pt x="180" y="673"/>
                </a:lnTo>
                <a:lnTo>
                  <a:pt x="202" y="677"/>
                </a:lnTo>
                <a:lnTo>
                  <a:pt x="225" y="680"/>
                </a:lnTo>
                <a:lnTo>
                  <a:pt x="248" y="683"/>
                </a:lnTo>
                <a:lnTo>
                  <a:pt x="272" y="685"/>
                </a:lnTo>
                <a:lnTo>
                  <a:pt x="295" y="686"/>
                </a:lnTo>
                <a:lnTo>
                  <a:pt x="319" y="689"/>
                </a:lnTo>
                <a:lnTo>
                  <a:pt x="342" y="692"/>
                </a:lnTo>
                <a:lnTo>
                  <a:pt x="365" y="696"/>
                </a:lnTo>
                <a:lnTo>
                  <a:pt x="377" y="697"/>
                </a:lnTo>
                <a:lnTo>
                  <a:pt x="389" y="698"/>
                </a:lnTo>
                <a:lnTo>
                  <a:pt x="401" y="700"/>
                </a:lnTo>
                <a:lnTo>
                  <a:pt x="413" y="701"/>
                </a:lnTo>
                <a:lnTo>
                  <a:pt x="439" y="704"/>
                </a:lnTo>
                <a:lnTo>
                  <a:pt x="466" y="707"/>
                </a:lnTo>
                <a:lnTo>
                  <a:pt x="492" y="710"/>
                </a:lnTo>
                <a:lnTo>
                  <a:pt x="520" y="711"/>
                </a:lnTo>
                <a:lnTo>
                  <a:pt x="576" y="714"/>
                </a:lnTo>
                <a:lnTo>
                  <a:pt x="604" y="715"/>
                </a:lnTo>
                <a:lnTo>
                  <a:pt x="631" y="717"/>
                </a:lnTo>
                <a:lnTo>
                  <a:pt x="658" y="718"/>
                </a:lnTo>
                <a:lnTo>
                  <a:pt x="684" y="719"/>
                </a:lnTo>
                <a:lnTo>
                  <a:pt x="695" y="719"/>
                </a:lnTo>
                <a:lnTo>
                  <a:pt x="708" y="719"/>
                </a:lnTo>
                <a:lnTo>
                  <a:pt x="720" y="719"/>
                </a:lnTo>
                <a:lnTo>
                  <a:pt x="732" y="719"/>
                </a:lnTo>
                <a:lnTo>
                  <a:pt x="742" y="719"/>
                </a:lnTo>
                <a:lnTo>
                  <a:pt x="753" y="719"/>
                </a:lnTo>
                <a:lnTo>
                  <a:pt x="763" y="719"/>
                </a:lnTo>
                <a:lnTo>
                  <a:pt x="773" y="719"/>
                </a:lnTo>
                <a:lnTo>
                  <a:pt x="782" y="719"/>
                </a:lnTo>
                <a:lnTo>
                  <a:pt x="791" y="719"/>
                </a:lnTo>
                <a:lnTo>
                  <a:pt x="801" y="719"/>
                </a:lnTo>
                <a:lnTo>
                  <a:pt x="809" y="718"/>
                </a:lnTo>
                <a:lnTo>
                  <a:pt x="816" y="718"/>
                </a:lnTo>
                <a:lnTo>
                  <a:pt x="824" y="718"/>
                </a:lnTo>
                <a:lnTo>
                  <a:pt x="839" y="717"/>
                </a:lnTo>
                <a:lnTo>
                  <a:pt x="852" y="715"/>
                </a:lnTo>
                <a:lnTo>
                  <a:pt x="865" y="713"/>
                </a:lnTo>
                <a:lnTo>
                  <a:pt x="876" y="712"/>
                </a:lnTo>
                <a:lnTo>
                  <a:pt x="888" y="710"/>
                </a:lnTo>
                <a:lnTo>
                  <a:pt x="900" y="707"/>
                </a:lnTo>
                <a:lnTo>
                  <a:pt x="910" y="705"/>
                </a:lnTo>
                <a:lnTo>
                  <a:pt x="931" y="700"/>
                </a:lnTo>
                <a:lnTo>
                  <a:pt x="943" y="697"/>
                </a:lnTo>
                <a:lnTo>
                  <a:pt x="953" y="693"/>
                </a:lnTo>
                <a:lnTo>
                  <a:pt x="965" y="691"/>
                </a:lnTo>
                <a:lnTo>
                  <a:pt x="977" y="687"/>
                </a:lnTo>
                <a:lnTo>
                  <a:pt x="990" y="683"/>
                </a:lnTo>
                <a:lnTo>
                  <a:pt x="1002" y="679"/>
                </a:lnTo>
                <a:lnTo>
                  <a:pt x="1015" y="676"/>
                </a:lnTo>
                <a:lnTo>
                  <a:pt x="1029" y="672"/>
                </a:lnTo>
                <a:lnTo>
                  <a:pt x="1056" y="665"/>
                </a:lnTo>
                <a:lnTo>
                  <a:pt x="1070" y="662"/>
                </a:lnTo>
                <a:lnTo>
                  <a:pt x="1083" y="657"/>
                </a:lnTo>
                <a:lnTo>
                  <a:pt x="1096" y="652"/>
                </a:lnTo>
                <a:lnTo>
                  <a:pt x="1109" y="647"/>
                </a:lnTo>
                <a:lnTo>
                  <a:pt x="1120" y="641"/>
                </a:lnTo>
                <a:lnTo>
                  <a:pt x="1132" y="635"/>
                </a:lnTo>
                <a:lnTo>
                  <a:pt x="1142" y="627"/>
                </a:lnTo>
                <a:lnTo>
                  <a:pt x="1152" y="620"/>
                </a:lnTo>
                <a:lnTo>
                  <a:pt x="1160" y="610"/>
                </a:lnTo>
                <a:lnTo>
                  <a:pt x="1165" y="606"/>
                </a:lnTo>
                <a:lnTo>
                  <a:pt x="1168" y="601"/>
                </a:lnTo>
                <a:lnTo>
                  <a:pt x="1174" y="590"/>
                </a:lnTo>
                <a:lnTo>
                  <a:pt x="1180" y="579"/>
                </a:lnTo>
                <a:lnTo>
                  <a:pt x="1184" y="567"/>
                </a:lnTo>
                <a:lnTo>
                  <a:pt x="1188" y="554"/>
                </a:lnTo>
                <a:lnTo>
                  <a:pt x="1191" y="541"/>
                </a:lnTo>
                <a:lnTo>
                  <a:pt x="1194" y="527"/>
                </a:lnTo>
                <a:lnTo>
                  <a:pt x="1195" y="513"/>
                </a:lnTo>
                <a:lnTo>
                  <a:pt x="1196" y="498"/>
                </a:lnTo>
                <a:lnTo>
                  <a:pt x="1197" y="483"/>
                </a:lnTo>
                <a:lnTo>
                  <a:pt x="1197" y="467"/>
                </a:lnTo>
                <a:lnTo>
                  <a:pt x="1197" y="450"/>
                </a:lnTo>
                <a:lnTo>
                  <a:pt x="1197" y="433"/>
                </a:lnTo>
                <a:lnTo>
                  <a:pt x="1197" y="415"/>
                </a:lnTo>
                <a:lnTo>
                  <a:pt x="1197" y="398"/>
                </a:lnTo>
                <a:lnTo>
                  <a:pt x="1197" y="380"/>
                </a:lnTo>
                <a:lnTo>
                  <a:pt x="1196" y="361"/>
                </a:lnTo>
                <a:lnTo>
                  <a:pt x="1196" y="352"/>
                </a:lnTo>
                <a:lnTo>
                  <a:pt x="1196" y="343"/>
                </a:lnTo>
                <a:lnTo>
                  <a:pt x="1196" y="331"/>
                </a:lnTo>
                <a:lnTo>
                  <a:pt x="1196" y="321"/>
                </a:lnTo>
                <a:lnTo>
                  <a:pt x="1197" y="309"/>
                </a:lnTo>
                <a:lnTo>
                  <a:pt x="1197" y="297"/>
                </a:lnTo>
                <a:lnTo>
                  <a:pt x="1197" y="284"/>
                </a:lnTo>
                <a:lnTo>
                  <a:pt x="1197" y="271"/>
                </a:lnTo>
                <a:lnTo>
                  <a:pt x="1198" y="246"/>
                </a:lnTo>
                <a:lnTo>
                  <a:pt x="1198" y="219"/>
                </a:lnTo>
                <a:lnTo>
                  <a:pt x="1198" y="192"/>
                </a:lnTo>
                <a:lnTo>
                  <a:pt x="1197" y="166"/>
                </a:lnTo>
                <a:lnTo>
                  <a:pt x="1196" y="141"/>
                </a:lnTo>
                <a:lnTo>
                  <a:pt x="1196" y="128"/>
                </a:lnTo>
                <a:lnTo>
                  <a:pt x="1195" y="116"/>
                </a:lnTo>
                <a:lnTo>
                  <a:pt x="1194" y="103"/>
                </a:lnTo>
                <a:lnTo>
                  <a:pt x="1191" y="93"/>
                </a:lnTo>
                <a:lnTo>
                  <a:pt x="1190" y="81"/>
                </a:lnTo>
                <a:lnTo>
                  <a:pt x="1188" y="70"/>
                </a:lnTo>
                <a:lnTo>
                  <a:pt x="1186" y="61"/>
                </a:lnTo>
                <a:lnTo>
                  <a:pt x="1183" y="52"/>
                </a:lnTo>
                <a:lnTo>
                  <a:pt x="1180" y="44"/>
                </a:lnTo>
                <a:lnTo>
                  <a:pt x="1176" y="35"/>
                </a:lnTo>
                <a:lnTo>
                  <a:pt x="1173" y="28"/>
                </a:lnTo>
                <a:lnTo>
                  <a:pt x="1169" y="23"/>
                </a:lnTo>
                <a:lnTo>
                  <a:pt x="1165" y="17"/>
                </a:lnTo>
                <a:lnTo>
                  <a:pt x="1160" y="13"/>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3857" name="Line 347"/>
          <p:cNvSpPr>
            <a:spLocks noChangeShapeType="1"/>
          </p:cNvSpPr>
          <p:nvPr/>
        </p:nvSpPr>
        <p:spPr bwMode="auto">
          <a:xfrm flipV="1">
            <a:off x="4451350" y="4130675"/>
            <a:ext cx="490538" cy="3175"/>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63858" name="Rectangle 350"/>
          <p:cNvSpPr>
            <a:spLocks noChangeArrowheads="1"/>
          </p:cNvSpPr>
          <p:nvPr/>
        </p:nvSpPr>
        <p:spPr bwMode="auto">
          <a:xfrm>
            <a:off x="3508375" y="5219700"/>
            <a:ext cx="476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500">
                <a:solidFill>
                  <a:srgbClr val="000000"/>
                </a:solidFill>
              </a:rPr>
              <a:t> </a:t>
            </a:r>
            <a:endParaRPr lang="en-US" altLang="en-US"/>
          </a:p>
        </p:txBody>
      </p:sp>
      <p:sp>
        <p:nvSpPr>
          <p:cNvPr id="163859" name="Rectangle 352"/>
          <p:cNvSpPr>
            <a:spLocks noChangeArrowheads="1"/>
          </p:cNvSpPr>
          <p:nvPr/>
        </p:nvSpPr>
        <p:spPr bwMode="auto">
          <a:xfrm>
            <a:off x="3332163" y="5432425"/>
            <a:ext cx="476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500">
                <a:solidFill>
                  <a:srgbClr val="000000"/>
                </a:solidFill>
              </a:rPr>
              <a:t> </a:t>
            </a:r>
            <a:endParaRPr lang="en-US" altLang="en-US"/>
          </a:p>
        </p:txBody>
      </p:sp>
      <p:sp>
        <p:nvSpPr>
          <p:cNvPr id="163860" name="Rectangle 353"/>
          <p:cNvSpPr>
            <a:spLocks noChangeArrowheads="1"/>
          </p:cNvSpPr>
          <p:nvPr/>
        </p:nvSpPr>
        <p:spPr bwMode="auto">
          <a:xfrm>
            <a:off x="5167313" y="5162550"/>
            <a:ext cx="1449387" cy="5397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3861" name="Rectangle 355"/>
          <p:cNvSpPr>
            <a:spLocks noChangeArrowheads="1"/>
          </p:cNvSpPr>
          <p:nvPr/>
        </p:nvSpPr>
        <p:spPr bwMode="auto">
          <a:xfrm>
            <a:off x="6210300" y="5219700"/>
            <a:ext cx="476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500">
                <a:solidFill>
                  <a:srgbClr val="000000"/>
                </a:solidFill>
              </a:rPr>
              <a:t> </a:t>
            </a:r>
            <a:endParaRPr lang="en-US" altLang="en-US"/>
          </a:p>
        </p:txBody>
      </p:sp>
      <p:sp>
        <p:nvSpPr>
          <p:cNvPr id="163862" name="Rectangle 357"/>
          <p:cNvSpPr>
            <a:spLocks noChangeArrowheads="1"/>
          </p:cNvSpPr>
          <p:nvPr/>
        </p:nvSpPr>
        <p:spPr bwMode="auto">
          <a:xfrm>
            <a:off x="6218238" y="5432425"/>
            <a:ext cx="476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500">
                <a:solidFill>
                  <a:srgbClr val="000000"/>
                </a:solidFill>
              </a:rPr>
              <a:t> </a:t>
            </a:r>
            <a:endParaRPr lang="en-US" altLang="en-US"/>
          </a:p>
        </p:txBody>
      </p:sp>
      <p:sp>
        <p:nvSpPr>
          <p:cNvPr id="163863" name="Freeform 358"/>
          <p:cNvSpPr>
            <a:spLocks noEditPoints="1"/>
          </p:cNvSpPr>
          <p:nvPr/>
        </p:nvSpPr>
        <p:spPr bwMode="auto">
          <a:xfrm>
            <a:off x="3463925" y="5394325"/>
            <a:ext cx="609600" cy="93663"/>
          </a:xfrm>
          <a:custGeom>
            <a:avLst/>
            <a:gdLst>
              <a:gd name="T0" fmla="*/ 2147483647 w 384"/>
              <a:gd name="T1" fmla="*/ 2147483647 h 59"/>
              <a:gd name="T2" fmla="*/ 2147483647 w 384"/>
              <a:gd name="T3" fmla="*/ 2147483647 h 59"/>
              <a:gd name="T4" fmla="*/ 2147483647 w 384"/>
              <a:gd name="T5" fmla="*/ 2147483647 h 59"/>
              <a:gd name="T6" fmla="*/ 2147483647 w 384"/>
              <a:gd name="T7" fmla="*/ 2147483647 h 59"/>
              <a:gd name="T8" fmla="*/ 2147483647 w 384"/>
              <a:gd name="T9" fmla="*/ 2147483647 h 59"/>
              <a:gd name="T10" fmla="*/ 2147483647 w 384"/>
              <a:gd name="T11" fmla="*/ 2147483647 h 59"/>
              <a:gd name="T12" fmla="*/ 2147483647 w 384"/>
              <a:gd name="T13" fmla="*/ 2147483647 h 59"/>
              <a:gd name="T14" fmla="*/ 2147483647 w 384"/>
              <a:gd name="T15" fmla="*/ 2147483647 h 59"/>
              <a:gd name="T16" fmla="*/ 2147483647 w 384"/>
              <a:gd name="T17" fmla="*/ 2147483647 h 59"/>
              <a:gd name="T18" fmla="*/ 2147483647 w 384"/>
              <a:gd name="T19" fmla="*/ 2147483647 h 59"/>
              <a:gd name="T20" fmla="*/ 2147483647 w 384"/>
              <a:gd name="T21" fmla="*/ 2147483647 h 59"/>
              <a:gd name="T22" fmla="*/ 2147483647 w 384"/>
              <a:gd name="T23" fmla="*/ 2147483647 h 59"/>
              <a:gd name="T24" fmla="*/ 2147483647 w 384"/>
              <a:gd name="T25" fmla="*/ 2147483647 h 59"/>
              <a:gd name="T26" fmla="*/ 2147483647 w 384"/>
              <a:gd name="T27" fmla="*/ 2147483647 h 59"/>
              <a:gd name="T28" fmla="*/ 0 w 384"/>
              <a:gd name="T29" fmla="*/ 2147483647 h 59"/>
              <a:gd name="T30" fmla="*/ 2147483647 w 384"/>
              <a:gd name="T31" fmla="*/ 2147483647 h 59"/>
              <a:gd name="T32" fmla="*/ 2147483647 w 384"/>
              <a:gd name="T33" fmla="*/ 2147483647 h 59"/>
              <a:gd name="T34" fmla="*/ 2147483647 w 384"/>
              <a:gd name="T35" fmla="*/ 2147483647 h 59"/>
              <a:gd name="T36" fmla="*/ 2147483647 w 384"/>
              <a:gd name="T37" fmla="*/ 2147483647 h 59"/>
              <a:gd name="T38" fmla="*/ 2147483647 w 384"/>
              <a:gd name="T39" fmla="*/ 2147483647 h 59"/>
              <a:gd name="T40" fmla="*/ 2147483647 w 384"/>
              <a:gd name="T41" fmla="*/ 0 h 59"/>
              <a:gd name="T42" fmla="*/ 2147483647 w 384"/>
              <a:gd name="T43" fmla="*/ 2147483647 h 59"/>
              <a:gd name="T44" fmla="*/ 2147483647 w 384"/>
              <a:gd name="T45" fmla="*/ 2147483647 h 59"/>
              <a:gd name="T46" fmla="*/ 2147483647 w 384"/>
              <a:gd name="T47" fmla="*/ 0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4"/>
              <a:gd name="T73" fmla="*/ 0 h 59"/>
              <a:gd name="T74" fmla="*/ 384 w 384"/>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4" h="59">
                <a:moveTo>
                  <a:pt x="4" y="26"/>
                </a:moveTo>
                <a:lnTo>
                  <a:pt x="335" y="26"/>
                </a:lnTo>
                <a:lnTo>
                  <a:pt x="337" y="26"/>
                </a:lnTo>
                <a:lnTo>
                  <a:pt x="338" y="26"/>
                </a:lnTo>
                <a:lnTo>
                  <a:pt x="339" y="27"/>
                </a:lnTo>
                <a:lnTo>
                  <a:pt x="339" y="30"/>
                </a:lnTo>
                <a:lnTo>
                  <a:pt x="339" y="31"/>
                </a:lnTo>
                <a:lnTo>
                  <a:pt x="338" y="32"/>
                </a:lnTo>
                <a:lnTo>
                  <a:pt x="337" y="33"/>
                </a:lnTo>
                <a:lnTo>
                  <a:pt x="335" y="33"/>
                </a:lnTo>
                <a:lnTo>
                  <a:pt x="4" y="33"/>
                </a:lnTo>
                <a:lnTo>
                  <a:pt x="3" y="33"/>
                </a:lnTo>
                <a:lnTo>
                  <a:pt x="2" y="32"/>
                </a:lnTo>
                <a:lnTo>
                  <a:pt x="2" y="31"/>
                </a:lnTo>
                <a:lnTo>
                  <a:pt x="0" y="30"/>
                </a:lnTo>
                <a:lnTo>
                  <a:pt x="2" y="27"/>
                </a:lnTo>
                <a:lnTo>
                  <a:pt x="2" y="26"/>
                </a:lnTo>
                <a:lnTo>
                  <a:pt x="3" y="26"/>
                </a:lnTo>
                <a:lnTo>
                  <a:pt x="4" y="26"/>
                </a:lnTo>
                <a:close/>
                <a:moveTo>
                  <a:pt x="326" y="0"/>
                </a:moveTo>
                <a:lnTo>
                  <a:pt x="384" y="30"/>
                </a:lnTo>
                <a:lnTo>
                  <a:pt x="326" y="59"/>
                </a:lnTo>
                <a:lnTo>
                  <a:pt x="326" y="0"/>
                </a:lnTo>
                <a:close/>
              </a:path>
            </a:pathLst>
          </a:custGeom>
          <a:solidFill>
            <a:srgbClr val="000000"/>
          </a:solidFill>
          <a:ln w="1588">
            <a:solidFill>
              <a:srgbClr val="000000"/>
            </a:solidFill>
            <a:round/>
            <a:headEnd/>
            <a:tailEnd/>
          </a:ln>
        </p:spPr>
        <p:txBody>
          <a:bodyPr/>
          <a:lstStyle/>
          <a:p>
            <a:endParaRPr lang="en-CA"/>
          </a:p>
        </p:txBody>
      </p:sp>
      <p:sp>
        <p:nvSpPr>
          <p:cNvPr id="163864" name="Freeform 359"/>
          <p:cNvSpPr>
            <a:spLocks noEditPoints="1"/>
          </p:cNvSpPr>
          <p:nvPr/>
        </p:nvSpPr>
        <p:spPr bwMode="auto">
          <a:xfrm>
            <a:off x="1208088" y="5394325"/>
            <a:ext cx="868362" cy="74613"/>
          </a:xfrm>
          <a:custGeom>
            <a:avLst/>
            <a:gdLst>
              <a:gd name="T0" fmla="*/ 2147483647 w 384"/>
              <a:gd name="T1" fmla="*/ 2147483647 h 59"/>
              <a:gd name="T2" fmla="*/ 2147483647 w 384"/>
              <a:gd name="T3" fmla="*/ 2147483647 h 59"/>
              <a:gd name="T4" fmla="*/ 2147483647 w 384"/>
              <a:gd name="T5" fmla="*/ 2147483647 h 59"/>
              <a:gd name="T6" fmla="*/ 2147483647 w 384"/>
              <a:gd name="T7" fmla="*/ 2147483647 h 59"/>
              <a:gd name="T8" fmla="*/ 2147483647 w 384"/>
              <a:gd name="T9" fmla="*/ 2147483647 h 59"/>
              <a:gd name="T10" fmla="*/ 2147483647 w 384"/>
              <a:gd name="T11" fmla="*/ 2147483647 h 59"/>
              <a:gd name="T12" fmla="*/ 2147483647 w 384"/>
              <a:gd name="T13" fmla="*/ 2147483647 h 59"/>
              <a:gd name="T14" fmla="*/ 2147483647 w 384"/>
              <a:gd name="T15" fmla="*/ 2147483647 h 59"/>
              <a:gd name="T16" fmla="*/ 2147483647 w 384"/>
              <a:gd name="T17" fmla="*/ 2147483647 h 59"/>
              <a:gd name="T18" fmla="*/ 2147483647 w 384"/>
              <a:gd name="T19" fmla="*/ 2147483647 h 59"/>
              <a:gd name="T20" fmla="*/ 2147483647 w 384"/>
              <a:gd name="T21" fmla="*/ 2147483647 h 59"/>
              <a:gd name="T22" fmla="*/ 2147483647 w 384"/>
              <a:gd name="T23" fmla="*/ 2147483647 h 59"/>
              <a:gd name="T24" fmla="*/ 2147483647 w 384"/>
              <a:gd name="T25" fmla="*/ 2147483647 h 59"/>
              <a:gd name="T26" fmla="*/ 2147483647 w 384"/>
              <a:gd name="T27" fmla="*/ 2147483647 h 59"/>
              <a:gd name="T28" fmla="*/ 2147483647 w 384"/>
              <a:gd name="T29" fmla="*/ 2147483647 h 59"/>
              <a:gd name="T30" fmla="*/ 2147483647 w 384"/>
              <a:gd name="T31" fmla="*/ 2147483647 h 59"/>
              <a:gd name="T32" fmla="*/ 2147483647 w 384"/>
              <a:gd name="T33" fmla="*/ 2147483647 h 59"/>
              <a:gd name="T34" fmla="*/ 2147483647 w 384"/>
              <a:gd name="T35" fmla="*/ 2147483647 h 59"/>
              <a:gd name="T36" fmla="*/ 2147483647 w 384"/>
              <a:gd name="T37" fmla="*/ 2147483647 h 59"/>
              <a:gd name="T38" fmla="*/ 2147483647 w 384"/>
              <a:gd name="T39" fmla="*/ 2147483647 h 59"/>
              <a:gd name="T40" fmla="*/ 2147483647 w 384"/>
              <a:gd name="T41" fmla="*/ 2147483647 h 59"/>
              <a:gd name="T42" fmla="*/ 0 w 384"/>
              <a:gd name="T43" fmla="*/ 2147483647 h 59"/>
              <a:gd name="T44" fmla="*/ 2147483647 w 384"/>
              <a:gd name="T45" fmla="*/ 0 h 59"/>
              <a:gd name="T46" fmla="*/ 2147483647 w 384"/>
              <a:gd name="T47" fmla="*/ 2147483647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4"/>
              <a:gd name="T73" fmla="*/ 0 h 59"/>
              <a:gd name="T74" fmla="*/ 384 w 384"/>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4" h="59">
                <a:moveTo>
                  <a:pt x="381" y="33"/>
                </a:moveTo>
                <a:lnTo>
                  <a:pt x="49" y="33"/>
                </a:lnTo>
                <a:lnTo>
                  <a:pt x="48" y="33"/>
                </a:lnTo>
                <a:lnTo>
                  <a:pt x="47" y="32"/>
                </a:lnTo>
                <a:lnTo>
                  <a:pt x="46" y="31"/>
                </a:lnTo>
                <a:lnTo>
                  <a:pt x="46" y="30"/>
                </a:lnTo>
                <a:lnTo>
                  <a:pt x="46" y="28"/>
                </a:lnTo>
                <a:lnTo>
                  <a:pt x="47" y="27"/>
                </a:lnTo>
                <a:lnTo>
                  <a:pt x="48" y="26"/>
                </a:lnTo>
                <a:lnTo>
                  <a:pt x="49" y="26"/>
                </a:lnTo>
                <a:lnTo>
                  <a:pt x="381" y="26"/>
                </a:lnTo>
                <a:lnTo>
                  <a:pt x="382" y="26"/>
                </a:lnTo>
                <a:lnTo>
                  <a:pt x="383" y="26"/>
                </a:lnTo>
                <a:lnTo>
                  <a:pt x="384" y="27"/>
                </a:lnTo>
                <a:lnTo>
                  <a:pt x="384" y="30"/>
                </a:lnTo>
                <a:lnTo>
                  <a:pt x="384" y="31"/>
                </a:lnTo>
                <a:lnTo>
                  <a:pt x="383" y="32"/>
                </a:lnTo>
                <a:lnTo>
                  <a:pt x="382" y="33"/>
                </a:lnTo>
                <a:lnTo>
                  <a:pt x="381" y="33"/>
                </a:lnTo>
                <a:close/>
                <a:moveTo>
                  <a:pt x="59" y="59"/>
                </a:moveTo>
                <a:lnTo>
                  <a:pt x="0" y="30"/>
                </a:lnTo>
                <a:lnTo>
                  <a:pt x="59" y="0"/>
                </a:lnTo>
                <a:lnTo>
                  <a:pt x="59" y="59"/>
                </a:lnTo>
                <a:close/>
              </a:path>
            </a:pathLst>
          </a:custGeom>
          <a:solidFill>
            <a:srgbClr val="000000"/>
          </a:solidFill>
          <a:ln w="1588">
            <a:solidFill>
              <a:srgbClr val="000000"/>
            </a:solidFill>
            <a:round/>
            <a:headEnd/>
            <a:tailEnd/>
          </a:ln>
        </p:spPr>
        <p:txBody>
          <a:bodyPr/>
          <a:lstStyle/>
          <a:p>
            <a:endParaRPr lang="en-CA"/>
          </a:p>
        </p:txBody>
      </p:sp>
      <p:sp>
        <p:nvSpPr>
          <p:cNvPr id="163865" name="Freeform 360"/>
          <p:cNvSpPr>
            <a:spLocks noEditPoints="1"/>
          </p:cNvSpPr>
          <p:nvPr/>
        </p:nvSpPr>
        <p:spPr bwMode="auto">
          <a:xfrm>
            <a:off x="6176963" y="5394325"/>
            <a:ext cx="1069975" cy="74613"/>
          </a:xfrm>
          <a:custGeom>
            <a:avLst/>
            <a:gdLst>
              <a:gd name="T0" fmla="*/ 2147483647 w 384"/>
              <a:gd name="T1" fmla="*/ 2147483647 h 59"/>
              <a:gd name="T2" fmla="*/ 2147483647 w 384"/>
              <a:gd name="T3" fmla="*/ 2147483647 h 59"/>
              <a:gd name="T4" fmla="*/ 2147483647 w 384"/>
              <a:gd name="T5" fmla="*/ 2147483647 h 59"/>
              <a:gd name="T6" fmla="*/ 2147483647 w 384"/>
              <a:gd name="T7" fmla="*/ 2147483647 h 59"/>
              <a:gd name="T8" fmla="*/ 2147483647 w 384"/>
              <a:gd name="T9" fmla="*/ 2147483647 h 59"/>
              <a:gd name="T10" fmla="*/ 2147483647 w 384"/>
              <a:gd name="T11" fmla="*/ 2147483647 h 59"/>
              <a:gd name="T12" fmla="*/ 2147483647 w 384"/>
              <a:gd name="T13" fmla="*/ 2147483647 h 59"/>
              <a:gd name="T14" fmla="*/ 2147483647 w 384"/>
              <a:gd name="T15" fmla="*/ 2147483647 h 59"/>
              <a:gd name="T16" fmla="*/ 2147483647 w 384"/>
              <a:gd name="T17" fmla="*/ 2147483647 h 59"/>
              <a:gd name="T18" fmla="*/ 2147483647 w 384"/>
              <a:gd name="T19" fmla="*/ 2147483647 h 59"/>
              <a:gd name="T20" fmla="*/ 2147483647 w 384"/>
              <a:gd name="T21" fmla="*/ 2147483647 h 59"/>
              <a:gd name="T22" fmla="*/ 2147483647 w 384"/>
              <a:gd name="T23" fmla="*/ 2147483647 h 59"/>
              <a:gd name="T24" fmla="*/ 2147483647 w 384"/>
              <a:gd name="T25" fmla="*/ 2147483647 h 59"/>
              <a:gd name="T26" fmla="*/ 0 w 384"/>
              <a:gd name="T27" fmla="*/ 2147483647 h 59"/>
              <a:gd name="T28" fmla="*/ 0 w 384"/>
              <a:gd name="T29" fmla="*/ 2147483647 h 59"/>
              <a:gd name="T30" fmla="*/ 0 w 384"/>
              <a:gd name="T31" fmla="*/ 2147483647 h 59"/>
              <a:gd name="T32" fmla="*/ 2147483647 w 384"/>
              <a:gd name="T33" fmla="*/ 2147483647 h 59"/>
              <a:gd name="T34" fmla="*/ 2147483647 w 384"/>
              <a:gd name="T35" fmla="*/ 2147483647 h 59"/>
              <a:gd name="T36" fmla="*/ 2147483647 w 384"/>
              <a:gd name="T37" fmla="*/ 2147483647 h 59"/>
              <a:gd name="T38" fmla="*/ 2147483647 w 384"/>
              <a:gd name="T39" fmla="*/ 2147483647 h 59"/>
              <a:gd name="T40" fmla="*/ 2147483647 w 384"/>
              <a:gd name="T41" fmla="*/ 0 h 59"/>
              <a:gd name="T42" fmla="*/ 2147483647 w 384"/>
              <a:gd name="T43" fmla="*/ 2147483647 h 59"/>
              <a:gd name="T44" fmla="*/ 2147483647 w 384"/>
              <a:gd name="T45" fmla="*/ 2147483647 h 59"/>
              <a:gd name="T46" fmla="*/ 2147483647 w 384"/>
              <a:gd name="T47" fmla="*/ 0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4"/>
              <a:gd name="T73" fmla="*/ 0 h 59"/>
              <a:gd name="T74" fmla="*/ 384 w 384"/>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4" h="59">
                <a:moveTo>
                  <a:pt x="4" y="26"/>
                </a:moveTo>
                <a:lnTo>
                  <a:pt x="335" y="26"/>
                </a:lnTo>
                <a:lnTo>
                  <a:pt x="336" y="26"/>
                </a:lnTo>
                <a:lnTo>
                  <a:pt x="337" y="27"/>
                </a:lnTo>
                <a:lnTo>
                  <a:pt x="338" y="28"/>
                </a:lnTo>
                <a:lnTo>
                  <a:pt x="338" y="30"/>
                </a:lnTo>
                <a:lnTo>
                  <a:pt x="338" y="31"/>
                </a:lnTo>
                <a:lnTo>
                  <a:pt x="337" y="32"/>
                </a:lnTo>
                <a:lnTo>
                  <a:pt x="336" y="33"/>
                </a:lnTo>
                <a:lnTo>
                  <a:pt x="335" y="33"/>
                </a:lnTo>
                <a:lnTo>
                  <a:pt x="4" y="33"/>
                </a:lnTo>
                <a:lnTo>
                  <a:pt x="2" y="33"/>
                </a:lnTo>
                <a:lnTo>
                  <a:pt x="1" y="32"/>
                </a:lnTo>
                <a:lnTo>
                  <a:pt x="0" y="31"/>
                </a:lnTo>
                <a:lnTo>
                  <a:pt x="0" y="30"/>
                </a:lnTo>
                <a:lnTo>
                  <a:pt x="0" y="27"/>
                </a:lnTo>
                <a:lnTo>
                  <a:pt x="1" y="26"/>
                </a:lnTo>
                <a:lnTo>
                  <a:pt x="2" y="26"/>
                </a:lnTo>
                <a:lnTo>
                  <a:pt x="4" y="26"/>
                </a:lnTo>
                <a:close/>
                <a:moveTo>
                  <a:pt x="326" y="0"/>
                </a:moveTo>
                <a:lnTo>
                  <a:pt x="384" y="30"/>
                </a:lnTo>
                <a:lnTo>
                  <a:pt x="326" y="59"/>
                </a:lnTo>
                <a:lnTo>
                  <a:pt x="326" y="0"/>
                </a:lnTo>
                <a:close/>
              </a:path>
            </a:pathLst>
          </a:custGeom>
          <a:solidFill>
            <a:srgbClr val="000000"/>
          </a:solidFill>
          <a:ln w="1588">
            <a:solidFill>
              <a:srgbClr val="000000"/>
            </a:solidFill>
            <a:round/>
            <a:headEnd/>
            <a:tailEnd/>
          </a:ln>
        </p:spPr>
        <p:txBody>
          <a:bodyPr/>
          <a:lstStyle/>
          <a:p>
            <a:endParaRPr lang="en-CA"/>
          </a:p>
        </p:txBody>
      </p:sp>
      <p:sp>
        <p:nvSpPr>
          <p:cNvPr id="163866" name="Freeform 361"/>
          <p:cNvSpPr>
            <a:spLocks noEditPoints="1"/>
          </p:cNvSpPr>
          <p:nvPr/>
        </p:nvSpPr>
        <p:spPr bwMode="auto">
          <a:xfrm>
            <a:off x="4513263" y="5394325"/>
            <a:ext cx="831850" cy="93663"/>
          </a:xfrm>
          <a:custGeom>
            <a:avLst/>
            <a:gdLst>
              <a:gd name="T0" fmla="*/ 2147483647 w 671"/>
              <a:gd name="T1" fmla="*/ 2147483647 h 59"/>
              <a:gd name="T2" fmla="*/ 2147483647 w 671"/>
              <a:gd name="T3" fmla="*/ 2147483647 h 59"/>
              <a:gd name="T4" fmla="*/ 2147483647 w 671"/>
              <a:gd name="T5" fmla="*/ 2147483647 h 59"/>
              <a:gd name="T6" fmla="*/ 2147483647 w 671"/>
              <a:gd name="T7" fmla="*/ 2147483647 h 59"/>
              <a:gd name="T8" fmla="*/ 2147483647 w 671"/>
              <a:gd name="T9" fmla="*/ 2147483647 h 59"/>
              <a:gd name="T10" fmla="*/ 2147483647 w 671"/>
              <a:gd name="T11" fmla="*/ 2147483647 h 59"/>
              <a:gd name="T12" fmla="*/ 2147483647 w 671"/>
              <a:gd name="T13" fmla="*/ 2147483647 h 59"/>
              <a:gd name="T14" fmla="*/ 2147483647 w 671"/>
              <a:gd name="T15" fmla="*/ 2147483647 h 59"/>
              <a:gd name="T16" fmla="*/ 2147483647 w 671"/>
              <a:gd name="T17" fmla="*/ 2147483647 h 59"/>
              <a:gd name="T18" fmla="*/ 2147483647 w 671"/>
              <a:gd name="T19" fmla="*/ 2147483647 h 59"/>
              <a:gd name="T20" fmla="*/ 2147483647 w 671"/>
              <a:gd name="T21" fmla="*/ 2147483647 h 59"/>
              <a:gd name="T22" fmla="*/ 2147483647 w 671"/>
              <a:gd name="T23" fmla="*/ 2147483647 h 59"/>
              <a:gd name="T24" fmla="*/ 2147483647 w 671"/>
              <a:gd name="T25" fmla="*/ 2147483647 h 59"/>
              <a:gd name="T26" fmla="*/ 2147483647 w 671"/>
              <a:gd name="T27" fmla="*/ 2147483647 h 59"/>
              <a:gd name="T28" fmla="*/ 2147483647 w 671"/>
              <a:gd name="T29" fmla="*/ 2147483647 h 59"/>
              <a:gd name="T30" fmla="*/ 2147483647 w 671"/>
              <a:gd name="T31" fmla="*/ 2147483647 h 59"/>
              <a:gd name="T32" fmla="*/ 2147483647 w 671"/>
              <a:gd name="T33" fmla="*/ 2147483647 h 59"/>
              <a:gd name="T34" fmla="*/ 2147483647 w 671"/>
              <a:gd name="T35" fmla="*/ 2147483647 h 59"/>
              <a:gd name="T36" fmla="*/ 2147483647 w 671"/>
              <a:gd name="T37" fmla="*/ 2147483647 h 59"/>
              <a:gd name="T38" fmla="*/ 2147483647 w 671"/>
              <a:gd name="T39" fmla="*/ 2147483647 h 59"/>
              <a:gd name="T40" fmla="*/ 2147483647 w 671"/>
              <a:gd name="T41" fmla="*/ 2147483647 h 59"/>
              <a:gd name="T42" fmla="*/ 0 w 671"/>
              <a:gd name="T43" fmla="*/ 2147483647 h 59"/>
              <a:gd name="T44" fmla="*/ 2147483647 w 671"/>
              <a:gd name="T45" fmla="*/ 0 h 59"/>
              <a:gd name="T46" fmla="*/ 2147483647 w 671"/>
              <a:gd name="T47" fmla="*/ 2147483647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71"/>
              <a:gd name="T73" fmla="*/ 0 h 59"/>
              <a:gd name="T74" fmla="*/ 671 w 671"/>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71" h="59">
                <a:moveTo>
                  <a:pt x="668" y="33"/>
                </a:moveTo>
                <a:lnTo>
                  <a:pt x="49" y="33"/>
                </a:lnTo>
                <a:lnTo>
                  <a:pt x="48" y="33"/>
                </a:lnTo>
                <a:lnTo>
                  <a:pt x="47" y="32"/>
                </a:lnTo>
                <a:lnTo>
                  <a:pt x="45" y="31"/>
                </a:lnTo>
                <a:lnTo>
                  <a:pt x="45" y="30"/>
                </a:lnTo>
                <a:lnTo>
                  <a:pt x="45" y="28"/>
                </a:lnTo>
                <a:lnTo>
                  <a:pt x="47" y="27"/>
                </a:lnTo>
                <a:lnTo>
                  <a:pt x="48" y="26"/>
                </a:lnTo>
                <a:lnTo>
                  <a:pt x="49" y="26"/>
                </a:lnTo>
                <a:lnTo>
                  <a:pt x="668" y="26"/>
                </a:lnTo>
                <a:lnTo>
                  <a:pt x="669" y="26"/>
                </a:lnTo>
                <a:lnTo>
                  <a:pt x="670" y="26"/>
                </a:lnTo>
                <a:lnTo>
                  <a:pt x="671" y="27"/>
                </a:lnTo>
                <a:lnTo>
                  <a:pt x="671" y="30"/>
                </a:lnTo>
                <a:lnTo>
                  <a:pt x="671" y="31"/>
                </a:lnTo>
                <a:lnTo>
                  <a:pt x="670" y="32"/>
                </a:lnTo>
                <a:lnTo>
                  <a:pt x="669" y="33"/>
                </a:lnTo>
                <a:lnTo>
                  <a:pt x="668" y="33"/>
                </a:lnTo>
                <a:close/>
                <a:moveTo>
                  <a:pt x="58" y="59"/>
                </a:moveTo>
                <a:lnTo>
                  <a:pt x="0" y="30"/>
                </a:lnTo>
                <a:lnTo>
                  <a:pt x="58" y="0"/>
                </a:lnTo>
                <a:lnTo>
                  <a:pt x="58" y="59"/>
                </a:lnTo>
                <a:close/>
              </a:path>
            </a:pathLst>
          </a:custGeom>
          <a:solidFill>
            <a:srgbClr val="000000"/>
          </a:solidFill>
          <a:ln w="1588">
            <a:solidFill>
              <a:srgbClr val="000000"/>
            </a:solidFill>
            <a:round/>
            <a:headEnd/>
            <a:tailEnd/>
          </a:ln>
        </p:spPr>
        <p:txBody>
          <a:bodyPr/>
          <a:lstStyle/>
          <a:p>
            <a:endParaRPr lang="en-CA"/>
          </a:p>
        </p:txBody>
      </p:sp>
      <p:sp>
        <p:nvSpPr>
          <p:cNvPr id="163867" name="Text Box 365"/>
          <p:cNvSpPr txBox="1">
            <a:spLocks noChangeArrowheads="1"/>
          </p:cNvSpPr>
          <p:nvPr/>
        </p:nvSpPr>
        <p:spPr bwMode="auto">
          <a:xfrm>
            <a:off x="1971675" y="5113338"/>
            <a:ext cx="15065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administered</a:t>
            </a:r>
          </a:p>
          <a:p>
            <a:pPr algn="ctr"/>
            <a:r>
              <a:rPr lang="en-US" altLang="en-US" sz="1800">
                <a:latin typeface="Arial" pitchFamily="34" charset="0"/>
                <a:cs typeface="Arial" pitchFamily="34" charset="0"/>
              </a:rPr>
              <a:t>network</a:t>
            </a:r>
          </a:p>
        </p:txBody>
      </p:sp>
      <p:sp>
        <p:nvSpPr>
          <p:cNvPr id="163868" name="Text Box 366"/>
          <p:cNvSpPr txBox="1">
            <a:spLocks noChangeArrowheads="1"/>
          </p:cNvSpPr>
          <p:nvPr/>
        </p:nvSpPr>
        <p:spPr bwMode="auto">
          <a:xfrm>
            <a:off x="5216525" y="5108575"/>
            <a:ext cx="1003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800">
                <a:latin typeface="Arial" pitchFamily="34" charset="0"/>
                <a:cs typeface="Arial" pitchFamily="34" charset="0"/>
              </a:rPr>
              <a:t>public</a:t>
            </a:r>
          </a:p>
          <a:p>
            <a:pPr algn="ctr"/>
            <a:r>
              <a:rPr lang="en-US" altLang="en-US" sz="1800">
                <a:latin typeface="Arial" pitchFamily="34" charset="0"/>
                <a:cs typeface="Arial" pitchFamily="34" charset="0"/>
              </a:rPr>
              <a:t>Inter</a:t>
            </a:r>
            <a:r>
              <a:rPr lang="en-US" altLang="en-US" sz="1800"/>
              <a:t>net</a:t>
            </a:r>
          </a:p>
        </p:txBody>
      </p:sp>
      <p:sp>
        <p:nvSpPr>
          <p:cNvPr id="163869" name="Text Box 367"/>
          <p:cNvSpPr txBox="1">
            <a:spLocks noChangeArrowheads="1"/>
          </p:cNvSpPr>
          <p:nvPr/>
        </p:nvSpPr>
        <p:spPr bwMode="auto">
          <a:xfrm>
            <a:off x="3844925" y="5948363"/>
            <a:ext cx="1219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i="1">
                <a:solidFill>
                  <a:srgbClr val="000099"/>
                </a:solidFill>
                <a:latin typeface="Arial" pitchFamily="34" charset="0"/>
                <a:cs typeface="Arial" pitchFamily="34" charset="0"/>
              </a:rPr>
              <a:t>firewall</a:t>
            </a:r>
          </a:p>
        </p:txBody>
      </p:sp>
      <p:pic>
        <p:nvPicPr>
          <p:cNvPr id="163870" name="Picture 24"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1030288"/>
            <a:ext cx="2170113"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871" name="Group 332"/>
          <p:cNvGrpSpPr>
            <a:grpSpLocks/>
          </p:cNvGrpSpPr>
          <p:nvPr/>
        </p:nvGrpSpPr>
        <p:grpSpPr bwMode="auto">
          <a:xfrm>
            <a:off x="3749675" y="3932238"/>
            <a:ext cx="765175" cy="376237"/>
            <a:chOff x="2356" y="1300"/>
            <a:chExt cx="555" cy="194"/>
          </a:xfrm>
        </p:grpSpPr>
        <p:sp>
          <p:nvSpPr>
            <p:cNvPr id="163965"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63966"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63967"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63968" name="Group 329"/>
            <p:cNvGrpSpPr>
              <a:grpSpLocks/>
            </p:cNvGrpSpPr>
            <p:nvPr/>
          </p:nvGrpSpPr>
          <p:grpSpPr bwMode="auto">
            <a:xfrm>
              <a:off x="2468" y="1332"/>
              <a:ext cx="310" cy="60"/>
              <a:chOff x="2468" y="1332"/>
              <a:chExt cx="310" cy="60"/>
            </a:xfrm>
          </p:grpSpPr>
          <p:sp>
            <p:nvSpPr>
              <p:cNvPr id="163971"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63972"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424" name="Line 330"/>
            <p:cNvSpPr>
              <a:spLocks noChangeShapeType="1"/>
            </p:cNvSpPr>
            <p:nvPr/>
          </p:nvSpPr>
          <p:spPr bwMode="auto">
            <a:xfrm>
              <a:off x="2357" y="1361"/>
              <a:ext cx="0" cy="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sp>
          <p:nvSpPr>
            <p:cNvPr id="425" name="Line 331"/>
            <p:cNvSpPr>
              <a:spLocks noChangeShapeType="1"/>
            </p:cNvSpPr>
            <p:nvPr/>
          </p:nvSpPr>
          <p:spPr bwMode="auto">
            <a:xfrm>
              <a:off x="2908"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grpSp>
      <p:grpSp>
        <p:nvGrpSpPr>
          <p:cNvPr id="163872" name="Group 906"/>
          <p:cNvGrpSpPr>
            <a:grpSpLocks/>
          </p:cNvGrpSpPr>
          <p:nvPr/>
        </p:nvGrpSpPr>
        <p:grpSpPr bwMode="auto">
          <a:xfrm>
            <a:off x="3968750" y="3448050"/>
            <a:ext cx="296863" cy="541338"/>
            <a:chOff x="4140" y="429"/>
            <a:chExt cx="1425" cy="2396"/>
          </a:xfrm>
        </p:grpSpPr>
        <p:sp>
          <p:nvSpPr>
            <p:cNvPr id="163933" name="Freeform 907"/>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87" name="Rectangle 908"/>
            <p:cNvSpPr>
              <a:spLocks noChangeArrowheads="1"/>
            </p:cNvSpPr>
            <p:nvPr/>
          </p:nvSpPr>
          <p:spPr bwMode="auto">
            <a:xfrm>
              <a:off x="4209"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3935" name="Freeform 909"/>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63936" name="Freeform 910"/>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90" name="Rectangle 911"/>
            <p:cNvSpPr>
              <a:spLocks noChangeArrowheads="1"/>
            </p:cNvSpPr>
            <p:nvPr/>
          </p:nvSpPr>
          <p:spPr bwMode="auto">
            <a:xfrm>
              <a:off x="4216" y="689"/>
              <a:ext cx="587"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3938" name="Group 912"/>
            <p:cNvGrpSpPr>
              <a:grpSpLocks/>
            </p:cNvGrpSpPr>
            <p:nvPr/>
          </p:nvGrpSpPr>
          <p:grpSpPr bwMode="auto">
            <a:xfrm>
              <a:off x="4749" y="668"/>
              <a:ext cx="581" cy="145"/>
              <a:chOff x="614" y="2568"/>
              <a:chExt cx="725" cy="139"/>
            </a:xfrm>
          </p:grpSpPr>
          <p:sp>
            <p:nvSpPr>
              <p:cNvPr id="416" name="AutoShape 913"/>
              <p:cNvSpPr>
                <a:spLocks noChangeArrowheads="1"/>
              </p:cNvSpPr>
              <p:nvPr/>
            </p:nvSpPr>
            <p:spPr bwMode="auto">
              <a:xfrm>
                <a:off x="615" y="2568"/>
                <a:ext cx="723" cy="12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17" name="AutoShape 914"/>
              <p:cNvSpPr>
                <a:spLocks noChangeArrowheads="1"/>
              </p:cNvSpPr>
              <p:nvPr/>
            </p:nvSpPr>
            <p:spPr bwMode="auto">
              <a:xfrm>
                <a:off x="634" y="2581"/>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392" name="Rectangle 915"/>
            <p:cNvSpPr>
              <a:spLocks noChangeArrowheads="1"/>
            </p:cNvSpPr>
            <p:nvPr/>
          </p:nvSpPr>
          <p:spPr bwMode="auto">
            <a:xfrm>
              <a:off x="4224" y="1019"/>
              <a:ext cx="594"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3940" name="Group 916"/>
            <p:cNvGrpSpPr>
              <a:grpSpLocks/>
            </p:cNvGrpSpPr>
            <p:nvPr/>
          </p:nvGrpSpPr>
          <p:grpSpPr bwMode="auto">
            <a:xfrm>
              <a:off x="4747" y="994"/>
              <a:ext cx="581" cy="134"/>
              <a:chOff x="614" y="2568"/>
              <a:chExt cx="725" cy="139"/>
            </a:xfrm>
          </p:grpSpPr>
          <p:sp>
            <p:nvSpPr>
              <p:cNvPr id="414" name="AutoShape 917"/>
              <p:cNvSpPr>
                <a:spLocks noChangeArrowheads="1"/>
              </p:cNvSpPr>
              <p:nvPr/>
            </p:nvSpPr>
            <p:spPr bwMode="auto">
              <a:xfrm>
                <a:off x="617" y="2565"/>
                <a:ext cx="723" cy="13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15" name="AutoShape 918"/>
              <p:cNvSpPr>
                <a:spLocks noChangeArrowheads="1"/>
              </p:cNvSpPr>
              <p:nvPr/>
            </p:nvSpPr>
            <p:spPr bwMode="auto">
              <a:xfrm>
                <a:off x="627" y="2580"/>
                <a:ext cx="704"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394" name="Rectangle 919"/>
            <p:cNvSpPr>
              <a:spLocks noChangeArrowheads="1"/>
            </p:cNvSpPr>
            <p:nvPr/>
          </p:nvSpPr>
          <p:spPr bwMode="auto">
            <a:xfrm>
              <a:off x="4216" y="1364"/>
              <a:ext cx="594"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395" name="Rectangle 920"/>
            <p:cNvSpPr>
              <a:spLocks noChangeArrowheads="1"/>
            </p:cNvSpPr>
            <p:nvPr/>
          </p:nvSpPr>
          <p:spPr bwMode="auto">
            <a:xfrm>
              <a:off x="4224" y="1659"/>
              <a:ext cx="602"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3943" name="Group 921"/>
            <p:cNvGrpSpPr>
              <a:grpSpLocks/>
            </p:cNvGrpSpPr>
            <p:nvPr/>
          </p:nvGrpSpPr>
          <p:grpSpPr bwMode="auto">
            <a:xfrm>
              <a:off x="4733" y="1630"/>
              <a:ext cx="586" cy="151"/>
              <a:chOff x="611" y="2571"/>
              <a:chExt cx="730" cy="139"/>
            </a:xfrm>
          </p:grpSpPr>
          <p:sp>
            <p:nvSpPr>
              <p:cNvPr id="412" name="AutoShape 922"/>
              <p:cNvSpPr>
                <a:spLocks noChangeArrowheads="1"/>
              </p:cNvSpPr>
              <p:nvPr/>
            </p:nvSpPr>
            <p:spPr bwMode="auto">
              <a:xfrm>
                <a:off x="613" y="2571"/>
                <a:ext cx="731" cy="136"/>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13" name="AutoShape 923"/>
              <p:cNvSpPr>
                <a:spLocks noChangeArrowheads="1"/>
              </p:cNvSpPr>
              <p:nvPr/>
            </p:nvSpPr>
            <p:spPr bwMode="auto">
              <a:xfrm>
                <a:off x="632" y="2591"/>
                <a:ext cx="693"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63944" name="Freeform 924"/>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63945" name="Group 925"/>
            <p:cNvGrpSpPr>
              <a:grpSpLocks/>
            </p:cNvGrpSpPr>
            <p:nvPr/>
          </p:nvGrpSpPr>
          <p:grpSpPr bwMode="auto">
            <a:xfrm>
              <a:off x="4739" y="1327"/>
              <a:ext cx="582" cy="139"/>
              <a:chOff x="614" y="2568"/>
              <a:chExt cx="725" cy="139"/>
            </a:xfrm>
          </p:grpSpPr>
          <p:sp>
            <p:nvSpPr>
              <p:cNvPr id="410" name="AutoShape 926"/>
              <p:cNvSpPr>
                <a:spLocks noChangeArrowheads="1"/>
              </p:cNvSpPr>
              <p:nvPr/>
            </p:nvSpPr>
            <p:spPr bwMode="auto">
              <a:xfrm>
                <a:off x="618" y="2569"/>
                <a:ext cx="712" cy="141"/>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11" name="AutoShape 927"/>
              <p:cNvSpPr>
                <a:spLocks noChangeArrowheads="1"/>
              </p:cNvSpPr>
              <p:nvPr/>
            </p:nvSpPr>
            <p:spPr bwMode="auto">
              <a:xfrm>
                <a:off x="637" y="2583"/>
                <a:ext cx="683"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399" name="Rectangle 928"/>
            <p:cNvSpPr>
              <a:spLocks noChangeArrowheads="1"/>
            </p:cNvSpPr>
            <p:nvPr/>
          </p:nvSpPr>
          <p:spPr bwMode="auto">
            <a:xfrm>
              <a:off x="5253" y="429"/>
              <a:ext cx="69"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3947" name="Freeform 929"/>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63948" name="Freeform 930"/>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02" name="Oval 931"/>
            <p:cNvSpPr>
              <a:spLocks noChangeArrowheads="1"/>
            </p:cNvSpPr>
            <p:nvPr/>
          </p:nvSpPr>
          <p:spPr bwMode="auto">
            <a:xfrm>
              <a:off x="5519" y="2607"/>
              <a:ext cx="46" cy="98"/>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3950" name="Freeform 932"/>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04" name="AutoShape 933"/>
            <p:cNvSpPr>
              <a:spLocks noChangeArrowheads="1"/>
            </p:cNvSpPr>
            <p:nvPr/>
          </p:nvSpPr>
          <p:spPr bwMode="auto">
            <a:xfrm>
              <a:off x="4140" y="2684"/>
              <a:ext cx="1196" cy="141"/>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05" name="AutoShape 934"/>
            <p:cNvSpPr>
              <a:spLocks noChangeArrowheads="1"/>
            </p:cNvSpPr>
            <p:nvPr/>
          </p:nvSpPr>
          <p:spPr bwMode="auto">
            <a:xfrm>
              <a:off x="4209" y="2713"/>
              <a:ext cx="1067" cy="77"/>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06" name="Oval 935"/>
            <p:cNvSpPr>
              <a:spLocks noChangeArrowheads="1"/>
            </p:cNvSpPr>
            <p:nvPr/>
          </p:nvSpPr>
          <p:spPr bwMode="auto">
            <a:xfrm>
              <a:off x="4308" y="2382"/>
              <a:ext cx="160" cy="141"/>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07" name="Oval 936"/>
            <p:cNvSpPr>
              <a:spLocks noChangeArrowheads="1"/>
            </p:cNvSpPr>
            <p:nvPr/>
          </p:nvSpPr>
          <p:spPr bwMode="auto">
            <a:xfrm>
              <a:off x="4483" y="2382"/>
              <a:ext cx="160" cy="148"/>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a:solidFill>
                  <a:srgbClr val="FF0000"/>
                </a:solidFill>
                <a:latin typeface="Arial" charset="0"/>
                <a:ea typeface="ＭＳ Ｐゴシック" charset="0"/>
                <a:cs typeface="Arial" charset="0"/>
              </a:endParaRPr>
            </a:p>
          </p:txBody>
        </p:sp>
        <p:sp>
          <p:nvSpPr>
            <p:cNvPr id="408" name="Oval 937"/>
            <p:cNvSpPr>
              <a:spLocks noChangeArrowheads="1"/>
            </p:cNvSpPr>
            <p:nvPr/>
          </p:nvSpPr>
          <p:spPr bwMode="auto">
            <a:xfrm>
              <a:off x="4666" y="2382"/>
              <a:ext cx="152" cy="141"/>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09" name="Rectangle 938"/>
            <p:cNvSpPr>
              <a:spLocks noChangeArrowheads="1"/>
            </p:cNvSpPr>
            <p:nvPr/>
          </p:nvSpPr>
          <p:spPr bwMode="auto">
            <a:xfrm>
              <a:off x="5062" y="1834"/>
              <a:ext cx="84" cy="759"/>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grpSp>
        <p:nvGrpSpPr>
          <p:cNvPr id="163873" name="Group 2"/>
          <p:cNvGrpSpPr>
            <a:grpSpLocks/>
          </p:cNvGrpSpPr>
          <p:nvPr/>
        </p:nvGrpSpPr>
        <p:grpSpPr bwMode="auto">
          <a:xfrm>
            <a:off x="1128713" y="3273425"/>
            <a:ext cx="2365375" cy="1590675"/>
            <a:chOff x="-2187762" y="3855945"/>
            <a:chExt cx="2365375" cy="1590114"/>
          </a:xfrm>
        </p:grpSpPr>
        <p:sp>
          <p:nvSpPr>
            <p:cNvPr id="358" name="Line 20"/>
            <p:cNvSpPr>
              <a:spLocks noChangeShapeType="1"/>
            </p:cNvSpPr>
            <p:nvPr/>
          </p:nvSpPr>
          <p:spPr bwMode="auto">
            <a:xfrm flipH="1">
              <a:off x="-1732150" y="4232050"/>
              <a:ext cx="555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359" name="Line 21"/>
            <p:cNvSpPr>
              <a:spLocks noChangeShapeType="1"/>
            </p:cNvSpPr>
            <p:nvPr/>
          </p:nvSpPr>
          <p:spPr bwMode="auto">
            <a:xfrm flipH="1">
              <a:off x="-1344800" y="4279659"/>
              <a:ext cx="271463" cy="3142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360" name="Line 22"/>
            <p:cNvSpPr>
              <a:spLocks noChangeShapeType="1"/>
            </p:cNvSpPr>
            <p:nvPr/>
          </p:nvSpPr>
          <p:spPr bwMode="auto">
            <a:xfrm>
              <a:off x="-925700" y="4308223"/>
              <a:ext cx="73025" cy="295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grpSp>
          <p:nvGrpSpPr>
            <p:cNvPr id="163879" name="Group 44"/>
            <p:cNvGrpSpPr>
              <a:grpSpLocks/>
            </p:cNvGrpSpPr>
            <p:nvPr/>
          </p:nvGrpSpPr>
          <p:grpSpPr bwMode="auto">
            <a:xfrm>
              <a:off x="-2187762" y="4034772"/>
              <a:ext cx="568325" cy="481012"/>
              <a:chOff x="-44" y="1473"/>
              <a:chExt cx="981" cy="1105"/>
            </a:xfrm>
          </p:grpSpPr>
          <p:pic>
            <p:nvPicPr>
              <p:cNvPr id="163931" name="Picture 4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32"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63880" name="Group 44"/>
            <p:cNvGrpSpPr>
              <a:grpSpLocks/>
            </p:cNvGrpSpPr>
            <p:nvPr/>
          </p:nvGrpSpPr>
          <p:grpSpPr bwMode="auto">
            <a:xfrm>
              <a:off x="-1252724" y="4523722"/>
              <a:ext cx="568325" cy="481012"/>
              <a:chOff x="-44" y="1473"/>
              <a:chExt cx="981" cy="1105"/>
            </a:xfrm>
          </p:grpSpPr>
          <p:pic>
            <p:nvPicPr>
              <p:cNvPr id="163929" name="Picture 4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30"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sp>
          <p:nvSpPr>
            <p:cNvPr id="370" name="Line 21"/>
            <p:cNvSpPr>
              <a:spLocks noChangeShapeType="1"/>
            </p:cNvSpPr>
            <p:nvPr/>
          </p:nvSpPr>
          <p:spPr bwMode="auto">
            <a:xfrm>
              <a:off x="-706625" y="4238398"/>
              <a:ext cx="377825" cy="3046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371" name="Line 22"/>
            <p:cNvSpPr>
              <a:spLocks noChangeShapeType="1"/>
            </p:cNvSpPr>
            <p:nvPr/>
          </p:nvSpPr>
          <p:spPr bwMode="auto">
            <a:xfrm flipH="1">
              <a:off x="-474850" y="4733523"/>
              <a:ext cx="120650" cy="2935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372" name="Line 22"/>
            <p:cNvSpPr>
              <a:spLocks noChangeShapeType="1"/>
            </p:cNvSpPr>
            <p:nvPr/>
          </p:nvSpPr>
          <p:spPr bwMode="auto">
            <a:xfrm>
              <a:off x="-70037" y="4744631"/>
              <a:ext cx="73025" cy="295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373" name="Line 20"/>
            <p:cNvSpPr>
              <a:spLocks noChangeShapeType="1"/>
            </p:cNvSpPr>
            <p:nvPr/>
          </p:nvSpPr>
          <p:spPr bwMode="auto">
            <a:xfrm flipH="1">
              <a:off x="-873312" y="4192376"/>
              <a:ext cx="555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grpSp>
          <p:nvGrpSpPr>
            <p:cNvPr id="163885" name="Group 44"/>
            <p:cNvGrpSpPr>
              <a:grpSpLocks/>
            </p:cNvGrpSpPr>
            <p:nvPr/>
          </p:nvGrpSpPr>
          <p:grpSpPr bwMode="auto">
            <a:xfrm>
              <a:off x="-847912" y="4896784"/>
              <a:ext cx="568325" cy="481013"/>
              <a:chOff x="-44" y="1473"/>
              <a:chExt cx="981" cy="1105"/>
            </a:xfrm>
          </p:grpSpPr>
          <p:pic>
            <p:nvPicPr>
              <p:cNvPr id="163927" name="Picture 4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8"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63886" name="Group 44"/>
            <p:cNvGrpSpPr>
              <a:grpSpLocks/>
            </p:cNvGrpSpPr>
            <p:nvPr/>
          </p:nvGrpSpPr>
          <p:grpSpPr bwMode="auto">
            <a:xfrm>
              <a:off x="-390712" y="4965047"/>
              <a:ext cx="568325" cy="481012"/>
              <a:chOff x="-44" y="1473"/>
              <a:chExt cx="981" cy="1105"/>
            </a:xfrm>
          </p:grpSpPr>
          <p:pic>
            <p:nvPicPr>
              <p:cNvPr id="163925" name="Picture 4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6"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pic>
          <p:nvPicPr>
            <p:cNvPr id="38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0350" y="4079704"/>
              <a:ext cx="677863" cy="30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38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462" y="4495482"/>
              <a:ext cx="677862" cy="30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163889" name="Group 44"/>
            <p:cNvGrpSpPr>
              <a:grpSpLocks/>
            </p:cNvGrpSpPr>
            <p:nvPr/>
          </p:nvGrpSpPr>
          <p:grpSpPr bwMode="auto">
            <a:xfrm>
              <a:off x="-568325" y="3855945"/>
              <a:ext cx="568325" cy="481013"/>
              <a:chOff x="-44" y="1473"/>
              <a:chExt cx="981" cy="1105"/>
            </a:xfrm>
          </p:grpSpPr>
          <p:pic>
            <p:nvPicPr>
              <p:cNvPr id="163923" name="Picture 4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4"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63890" name="Group 906"/>
            <p:cNvGrpSpPr>
              <a:grpSpLocks/>
            </p:cNvGrpSpPr>
            <p:nvPr/>
          </p:nvGrpSpPr>
          <p:grpSpPr bwMode="auto">
            <a:xfrm>
              <a:off x="-1598706" y="4467413"/>
              <a:ext cx="285924" cy="537882"/>
              <a:chOff x="4140" y="429"/>
              <a:chExt cx="1425" cy="2396"/>
            </a:xfrm>
          </p:grpSpPr>
          <p:sp>
            <p:nvSpPr>
              <p:cNvPr id="163891" name="Freeform 907"/>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31" name="Rectangle 908"/>
              <p:cNvSpPr>
                <a:spLocks noChangeArrowheads="1"/>
              </p:cNvSpPr>
              <p:nvPr/>
            </p:nvSpPr>
            <p:spPr bwMode="auto">
              <a:xfrm>
                <a:off x="4211" y="427"/>
                <a:ext cx="1036"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3893" name="Freeform 909"/>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63894" name="Freeform 910"/>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34" name="Rectangle 911"/>
              <p:cNvSpPr>
                <a:spLocks noChangeArrowheads="1"/>
              </p:cNvSpPr>
              <p:nvPr/>
            </p:nvSpPr>
            <p:spPr bwMode="auto">
              <a:xfrm>
                <a:off x="4211" y="688"/>
                <a:ext cx="593"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3896" name="Group 912"/>
              <p:cNvGrpSpPr>
                <a:grpSpLocks/>
              </p:cNvGrpSpPr>
              <p:nvPr/>
            </p:nvGrpSpPr>
            <p:grpSpPr bwMode="auto">
              <a:xfrm>
                <a:off x="4749" y="668"/>
                <a:ext cx="581" cy="145"/>
                <a:chOff x="614" y="2568"/>
                <a:chExt cx="725" cy="139"/>
              </a:xfrm>
            </p:grpSpPr>
            <p:sp>
              <p:nvSpPr>
                <p:cNvPr id="460" name="AutoShape 913"/>
                <p:cNvSpPr>
                  <a:spLocks noChangeArrowheads="1"/>
                </p:cNvSpPr>
                <p:nvPr/>
              </p:nvSpPr>
              <p:spPr bwMode="auto">
                <a:xfrm>
                  <a:off x="614" y="2567"/>
                  <a:ext cx="721" cy="12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61" name="AutoShape 914"/>
                <p:cNvSpPr>
                  <a:spLocks noChangeArrowheads="1"/>
                </p:cNvSpPr>
                <p:nvPr/>
              </p:nvSpPr>
              <p:spPr bwMode="auto">
                <a:xfrm>
                  <a:off x="633" y="2581"/>
                  <a:ext cx="691"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436" name="Rectangle 915"/>
              <p:cNvSpPr>
                <a:spLocks noChangeArrowheads="1"/>
              </p:cNvSpPr>
              <p:nvPr/>
            </p:nvSpPr>
            <p:spPr bwMode="auto">
              <a:xfrm>
                <a:off x="4227" y="1021"/>
                <a:ext cx="593"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3898" name="Group 916"/>
              <p:cNvGrpSpPr>
                <a:grpSpLocks/>
              </p:cNvGrpSpPr>
              <p:nvPr/>
            </p:nvGrpSpPr>
            <p:grpSpPr bwMode="auto">
              <a:xfrm>
                <a:off x="4747" y="994"/>
                <a:ext cx="581" cy="134"/>
                <a:chOff x="614" y="2568"/>
                <a:chExt cx="725" cy="139"/>
              </a:xfrm>
            </p:grpSpPr>
            <p:sp>
              <p:nvSpPr>
                <p:cNvPr id="458" name="AutoShape 917"/>
                <p:cNvSpPr>
                  <a:spLocks noChangeArrowheads="1"/>
                </p:cNvSpPr>
                <p:nvPr/>
              </p:nvSpPr>
              <p:spPr bwMode="auto">
                <a:xfrm>
                  <a:off x="616" y="2566"/>
                  <a:ext cx="721"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59" name="AutoShape 918"/>
                <p:cNvSpPr>
                  <a:spLocks noChangeArrowheads="1"/>
                </p:cNvSpPr>
                <p:nvPr/>
              </p:nvSpPr>
              <p:spPr bwMode="auto">
                <a:xfrm>
                  <a:off x="626" y="2581"/>
                  <a:ext cx="701"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438" name="Rectangle 919"/>
              <p:cNvSpPr>
                <a:spLocks noChangeArrowheads="1"/>
              </p:cNvSpPr>
              <p:nvPr/>
            </p:nvSpPr>
            <p:spPr bwMode="auto">
              <a:xfrm>
                <a:off x="4211" y="1360"/>
                <a:ext cx="601"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39" name="Rectangle 920"/>
              <p:cNvSpPr>
                <a:spLocks noChangeArrowheads="1"/>
              </p:cNvSpPr>
              <p:nvPr/>
            </p:nvSpPr>
            <p:spPr bwMode="auto">
              <a:xfrm>
                <a:off x="4227" y="1657"/>
                <a:ext cx="593"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3901" name="Group 921"/>
              <p:cNvGrpSpPr>
                <a:grpSpLocks/>
              </p:cNvGrpSpPr>
              <p:nvPr/>
            </p:nvGrpSpPr>
            <p:grpSpPr bwMode="auto">
              <a:xfrm>
                <a:off x="4733" y="1630"/>
                <a:ext cx="586" cy="151"/>
                <a:chOff x="611" y="2571"/>
                <a:chExt cx="730" cy="139"/>
              </a:xfrm>
            </p:grpSpPr>
            <p:sp>
              <p:nvSpPr>
                <p:cNvPr id="456" name="AutoShape 922"/>
                <p:cNvSpPr>
                  <a:spLocks noChangeArrowheads="1"/>
                </p:cNvSpPr>
                <p:nvPr/>
              </p:nvSpPr>
              <p:spPr bwMode="auto">
                <a:xfrm>
                  <a:off x="611" y="2570"/>
                  <a:ext cx="729" cy="137"/>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57" name="AutoShape 923"/>
                <p:cNvSpPr>
                  <a:spLocks noChangeArrowheads="1"/>
                </p:cNvSpPr>
                <p:nvPr/>
              </p:nvSpPr>
              <p:spPr bwMode="auto">
                <a:xfrm>
                  <a:off x="631" y="2589"/>
                  <a:ext cx="690"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63902" name="Freeform 924"/>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63903" name="Group 925"/>
              <p:cNvGrpSpPr>
                <a:grpSpLocks/>
              </p:cNvGrpSpPr>
              <p:nvPr/>
            </p:nvGrpSpPr>
            <p:grpSpPr bwMode="auto">
              <a:xfrm>
                <a:off x="4739" y="1327"/>
                <a:ext cx="582" cy="139"/>
                <a:chOff x="614" y="2568"/>
                <a:chExt cx="725" cy="139"/>
              </a:xfrm>
            </p:grpSpPr>
            <p:sp>
              <p:nvSpPr>
                <p:cNvPr id="454" name="AutoShape 926"/>
                <p:cNvSpPr>
                  <a:spLocks noChangeArrowheads="1"/>
                </p:cNvSpPr>
                <p:nvPr/>
              </p:nvSpPr>
              <p:spPr bwMode="auto">
                <a:xfrm>
                  <a:off x="616" y="2566"/>
                  <a:ext cx="710" cy="141"/>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55" name="AutoShape 927"/>
                <p:cNvSpPr>
                  <a:spLocks noChangeArrowheads="1"/>
                </p:cNvSpPr>
                <p:nvPr/>
              </p:nvSpPr>
              <p:spPr bwMode="auto">
                <a:xfrm>
                  <a:off x="636" y="2580"/>
                  <a:ext cx="680"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443" name="Rectangle 928"/>
              <p:cNvSpPr>
                <a:spLocks noChangeArrowheads="1"/>
              </p:cNvSpPr>
              <p:nvPr/>
            </p:nvSpPr>
            <p:spPr bwMode="auto">
              <a:xfrm>
                <a:off x="5247" y="427"/>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3905" name="Freeform 929"/>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63906" name="Freeform 930"/>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46" name="Oval 931"/>
              <p:cNvSpPr>
                <a:spLocks noChangeArrowheads="1"/>
              </p:cNvSpPr>
              <p:nvPr/>
            </p:nvSpPr>
            <p:spPr bwMode="auto">
              <a:xfrm>
                <a:off x="5516" y="2604"/>
                <a:ext cx="47" cy="99"/>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3908" name="Freeform 932"/>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48" name="AutoShape 933"/>
              <p:cNvSpPr>
                <a:spLocks noChangeArrowheads="1"/>
              </p:cNvSpPr>
              <p:nvPr/>
            </p:nvSpPr>
            <p:spPr bwMode="auto">
              <a:xfrm>
                <a:off x="4140" y="2682"/>
                <a:ext cx="1195" cy="141"/>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49" name="AutoShape 934"/>
              <p:cNvSpPr>
                <a:spLocks noChangeArrowheads="1"/>
              </p:cNvSpPr>
              <p:nvPr/>
            </p:nvSpPr>
            <p:spPr bwMode="auto">
              <a:xfrm>
                <a:off x="4211" y="2710"/>
                <a:ext cx="1060"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50" name="Oval 935"/>
              <p:cNvSpPr>
                <a:spLocks noChangeArrowheads="1"/>
              </p:cNvSpPr>
              <p:nvPr/>
            </p:nvSpPr>
            <p:spPr bwMode="auto">
              <a:xfrm>
                <a:off x="4306" y="2385"/>
                <a:ext cx="158" cy="13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51" name="Oval 936"/>
              <p:cNvSpPr>
                <a:spLocks noChangeArrowheads="1"/>
              </p:cNvSpPr>
              <p:nvPr/>
            </p:nvSpPr>
            <p:spPr bwMode="auto">
              <a:xfrm>
                <a:off x="4488" y="2385"/>
                <a:ext cx="158" cy="141"/>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a:solidFill>
                    <a:srgbClr val="FF0000"/>
                  </a:solidFill>
                  <a:latin typeface="Arial" charset="0"/>
                  <a:ea typeface="ＭＳ Ｐゴシック" charset="0"/>
                  <a:cs typeface="Arial" charset="0"/>
                </a:endParaRPr>
              </a:p>
            </p:txBody>
          </p:sp>
          <p:sp>
            <p:nvSpPr>
              <p:cNvPr id="452" name="Oval 937"/>
              <p:cNvSpPr>
                <a:spLocks noChangeArrowheads="1"/>
              </p:cNvSpPr>
              <p:nvPr/>
            </p:nvSpPr>
            <p:spPr bwMode="auto">
              <a:xfrm>
                <a:off x="4662" y="2378"/>
                <a:ext cx="158" cy="141"/>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53" name="Rectangle 938"/>
              <p:cNvSpPr>
                <a:spLocks noChangeArrowheads="1"/>
              </p:cNvSpPr>
              <p:nvPr/>
            </p:nvSpPr>
            <p:spPr bwMode="auto">
              <a:xfrm>
                <a:off x="5057" y="1834"/>
                <a:ext cx="87" cy="756"/>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grpSp>
      <p:sp>
        <p:nvSpPr>
          <p:cNvPr id="163874" name="TextBox 4"/>
          <p:cNvSpPr txBox="1">
            <a:spLocks noChangeArrowheads="1"/>
          </p:cNvSpPr>
          <p:nvPr/>
        </p:nvSpPr>
        <p:spPr bwMode="auto">
          <a:xfrm>
            <a:off x="1463675" y="5648325"/>
            <a:ext cx="2444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i="1">
                <a:solidFill>
                  <a:srgbClr val="CC0000"/>
                </a:solidFill>
                <a:latin typeface="Gill Sans MT" pitchFamily="34" charset="0"/>
              </a:rPr>
              <a:t>trusted “good guys” </a:t>
            </a:r>
          </a:p>
        </p:txBody>
      </p:sp>
      <p:sp>
        <p:nvSpPr>
          <p:cNvPr id="163875" name="TextBox 464"/>
          <p:cNvSpPr txBox="1">
            <a:spLocks noChangeArrowheads="1"/>
          </p:cNvSpPr>
          <p:nvPr/>
        </p:nvSpPr>
        <p:spPr bwMode="auto">
          <a:xfrm>
            <a:off x="5038725" y="5680075"/>
            <a:ext cx="26177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2400" i="1">
                <a:solidFill>
                  <a:srgbClr val="CC0000"/>
                </a:solidFill>
                <a:latin typeface="Gill Sans MT" pitchFamily="34" charset="0"/>
              </a:rPr>
              <a:t>untrusted “bad guys” </a:t>
            </a: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65890" name="Rectangle 3"/>
          <p:cNvSpPr>
            <a:spLocks noGrp="1" noChangeArrowheads="1"/>
          </p:cNvSpPr>
          <p:nvPr>
            <p:ph type="title"/>
          </p:nvPr>
        </p:nvSpPr>
        <p:spPr>
          <a:xfrm>
            <a:off x="474663" y="180975"/>
            <a:ext cx="7772400" cy="1143000"/>
          </a:xfrm>
        </p:spPr>
        <p:txBody>
          <a:bodyPr/>
          <a:lstStyle/>
          <a:p>
            <a:r>
              <a:rPr lang="en-US" altLang="en-US" smtClean="0">
                <a:ea typeface="ＭＳ Ｐゴシック" pitchFamily="34" charset="-128"/>
              </a:rPr>
              <a:t>Firewalls: why</a:t>
            </a:r>
          </a:p>
        </p:txBody>
      </p:sp>
      <p:sp>
        <p:nvSpPr>
          <p:cNvPr id="121860" name="Rectangle 6"/>
          <p:cNvSpPr>
            <a:spLocks noChangeArrowheads="1"/>
          </p:cNvSpPr>
          <p:nvPr/>
        </p:nvSpPr>
        <p:spPr bwMode="auto">
          <a:xfrm>
            <a:off x="363538" y="1357313"/>
            <a:ext cx="8421687" cy="459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chemeClr val="accent2"/>
              </a:buClr>
              <a:buSzPct val="85000"/>
              <a:buFont typeface="ZapfDingbats" pitchFamily="82" charset="2"/>
              <a:buNone/>
            </a:pPr>
            <a:r>
              <a:rPr lang="en-US" altLang="en-US" sz="2400">
                <a:solidFill>
                  <a:srgbClr val="CC0000"/>
                </a:solidFill>
                <a:latin typeface="Gill Sans MT" pitchFamily="34" charset="0"/>
              </a:rPr>
              <a:t>prevent denial of service attacks:</a:t>
            </a:r>
          </a:p>
          <a:p>
            <a:pPr lvl="1">
              <a:spcBef>
                <a:spcPct val="20000"/>
              </a:spcBef>
              <a:buClr>
                <a:srgbClr val="000099"/>
              </a:buClr>
              <a:buSzPct val="75000"/>
              <a:buFont typeface="Wingdings" pitchFamily="2" charset="2"/>
              <a:buChar char="v"/>
            </a:pPr>
            <a:r>
              <a:rPr lang="en-US" altLang="en-US" sz="2400">
                <a:latin typeface="Gill Sans MT" pitchFamily="34" charset="0"/>
              </a:rPr>
              <a:t>SYN flooding: attacker establishes many bogus TCP connections, no resources left for </a:t>
            </a:r>
            <a:r>
              <a:rPr lang="ja-JP" altLang="en-US" sz="2400">
                <a:latin typeface="Gill Sans MT" pitchFamily="34" charset="0"/>
              </a:rPr>
              <a:t>“</a:t>
            </a:r>
            <a:r>
              <a:rPr lang="en-US" altLang="ja-JP" sz="2400">
                <a:latin typeface="Gill Sans MT" pitchFamily="34" charset="0"/>
              </a:rPr>
              <a:t>real</a:t>
            </a:r>
            <a:r>
              <a:rPr lang="ja-JP" altLang="en-US" sz="2400">
                <a:latin typeface="Gill Sans MT" pitchFamily="34" charset="0"/>
              </a:rPr>
              <a:t>”</a:t>
            </a:r>
            <a:r>
              <a:rPr lang="en-US" altLang="ja-JP" sz="2400">
                <a:latin typeface="Gill Sans MT" pitchFamily="34" charset="0"/>
              </a:rPr>
              <a:t> connections</a:t>
            </a:r>
          </a:p>
          <a:p>
            <a:pPr>
              <a:spcBef>
                <a:spcPct val="20000"/>
              </a:spcBef>
              <a:buClr>
                <a:schemeClr val="accent2"/>
              </a:buClr>
              <a:buSzPct val="85000"/>
              <a:buFont typeface="ZapfDingbats" pitchFamily="82" charset="2"/>
              <a:buNone/>
            </a:pPr>
            <a:r>
              <a:rPr lang="en-US" altLang="en-US" sz="2400">
                <a:solidFill>
                  <a:srgbClr val="CC0000"/>
                </a:solidFill>
                <a:latin typeface="Gill Sans MT" pitchFamily="34" charset="0"/>
              </a:rPr>
              <a:t>prevent illegal modification/access of internal data</a:t>
            </a:r>
          </a:p>
          <a:p>
            <a:pPr lvl="1">
              <a:spcBef>
                <a:spcPct val="20000"/>
              </a:spcBef>
              <a:buClr>
                <a:srgbClr val="000099"/>
              </a:buClr>
              <a:buSzPct val="75000"/>
              <a:buFont typeface="Wingdings" pitchFamily="2" charset="2"/>
              <a:buChar char="v"/>
            </a:pPr>
            <a:r>
              <a:rPr lang="en-US" altLang="en-US" sz="2400">
                <a:latin typeface="Gill Sans MT" pitchFamily="34" charset="0"/>
              </a:rPr>
              <a:t>e.g., attacker replaces CIA</a:t>
            </a:r>
            <a:r>
              <a:rPr lang="ja-JP" altLang="en-US" sz="2400">
                <a:latin typeface="Gill Sans MT" pitchFamily="34" charset="0"/>
              </a:rPr>
              <a:t>’</a:t>
            </a:r>
            <a:r>
              <a:rPr lang="en-US" altLang="ja-JP" sz="2400">
                <a:latin typeface="Gill Sans MT" pitchFamily="34" charset="0"/>
              </a:rPr>
              <a:t>s homepage with something else</a:t>
            </a:r>
          </a:p>
          <a:p>
            <a:pPr>
              <a:spcBef>
                <a:spcPct val="20000"/>
              </a:spcBef>
              <a:buClr>
                <a:schemeClr val="accent2"/>
              </a:buClr>
              <a:buSzPct val="85000"/>
              <a:buFont typeface="ZapfDingbats" pitchFamily="82" charset="2"/>
              <a:buNone/>
            </a:pPr>
            <a:r>
              <a:rPr lang="en-US" altLang="en-US" sz="2400">
                <a:solidFill>
                  <a:srgbClr val="CC0000"/>
                </a:solidFill>
                <a:latin typeface="Gill Sans MT" pitchFamily="34" charset="0"/>
              </a:rPr>
              <a:t>allow only authorized access to inside network</a:t>
            </a:r>
          </a:p>
          <a:p>
            <a:pPr lvl="1">
              <a:spcBef>
                <a:spcPct val="20000"/>
              </a:spcBef>
              <a:buClr>
                <a:schemeClr val="accent2"/>
              </a:buClr>
              <a:buSzPct val="85000"/>
              <a:buFont typeface="Wingdings" pitchFamily="2" charset="2"/>
              <a:buChar char="v"/>
            </a:pPr>
            <a:r>
              <a:rPr lang="en-US" altLang="en-US" sz="2400">
                <a:latin typeface="Gill Sans MT" pitchFamily="34" charset="0"/>
              </a:rPr>
              <a:t> set of authenticated users/hosts</a:t>
            </a:r>
          </a:p>
          <a:p>
            <a:pPr>
              <a:spcBef>
                <a:spcPct val="20000"/>
              </a:spcBef>
              <a:buClr>
                <a:schemeClr val="accent2"/>
              </a:buClr>
              <a:buSzPct val="85000"/>
              <a:buFont typeface="ZapfDingbats" pitchFamily="82" charset="2"/>
              <a:buNone/>
            </a:pPr>
            <a:r>
              <a:rPr lang="en-US" altLang="en-US" sz="2400">
                <a:solidFill>
                  <a:srgbClr val="CC0000"/>
                </a:solidFill>
                <a:latin typeface="Gill Sans MT" pitchFamily="34" charset="0"/>
              </a:rPr>
              <a:t>three types of firewalls:</a:t>
            </a:r>
          </a:p>
          <a:p>
            <a:pPr lvl="1">
              <a:spcBef>
                <a:spcPct val="20000"/>
              </a:spcBef>
              <a:buClr>
                <a:srgbClr val="000099"/>
              </a:buClr>
              <a:buSzPct val="75000"/>
              <a:buFont typeface="Wingdings" pitchFamily="2" charset="2"/>
              <a:buChar char="v"/>
            </a:pPr>
            <a:r>
              <a:rPr lang="en-US" altLang="en-US" sz="2400">
                <a:latin typeface="Gill Sans MT" pitchFamily="34" charset="0"/>
              </a:rPr>
              <a:t>stateless packet filters</a:t>
            </a:r>
          </a:p>
          <a:p>
            <a:pPr lvl="1">
              <a:spcBef>
                <a:spcPct val="20000"/>
              </a:spcBef>
              <a:buClr>
                <a:srgbClr val="000099"/>
              </a:buClr>
              <a:buSzPct val="75000"/>
              <a:buFont typeface="Wingdings" pitchFamily="2" charset="2"/>
              <a:buChar char="v"/>
            </a:pPr>
            <a:r>
              <a:rPr lang="en-US" altLang="en-US" sz="2400">
                <a:latin typeface="Gill Sans MT" pitchFamily="34" charset="0"/>
              </a:rPr>
              <a:t>stateful packet filters</a:t>
            </a:r>
          </a:p>
          <a:p>
            <a:pPr lvl="1">
              <a:spcBef>
                <a:spcPct val="20000"/>
              </a:spcBef>
              <a:buClr>
                <a:srgbClr val="000099"/>
              </a:buClr>
              <a:buSzPct val="75000"/>
              <a:buFont typeface="Wingdings" pitchFamily="2" charset="2"/>
              <a:buChar char="v"/>
            </a:pPr>
            <a:r>
              <a:rPr lang="en-US" altLang="en-US" sz="2400">
                <a:latin typeface="Gill Sans MT" pitchFamily="34" charset="0"/>
              </a:rPr>
              <a:t>application gateways</a:t>
            </a:r>
          </a:p>
        </p:txBody>
      </p:sp>
      <p:pic>
        <p:nvPicPr>
          <p:cNvPr id="165892" name="Picture 24"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788" y="1000125"/>
            <a:ext cx="3144837"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Freeform 17"/>
          <p:cNvSpPr>
            <a:spLocks/>
          </p:cNvSpPr>
          <p:nvPr/>
        </p:nvSpPr>
        <p:spPr bwMode="auto">
          <a:xfrm>
            <a:off x="1095375" y="1584325"/>
            <a:ext cx="3648075" cy="1806575"/>
          </a:xfrm>
          <a:custGeom>
            <a:avLst/>
            <a:gdLst>
              <a:gd name="T0" fmla="*/ 2147483647 w 1672"/>
              <a:gd name="T1" fmla="*/ 2147483647 h 977"/>
              <a:gd name="T2" fmla="*/ 2147483647 w 1672"/>
              <a:gd name="T3" fmla="*/ 2147483647 h 977"/>
              <a:gd name="T4" fmla="*/ 2147483647 w 1672"/>
              <a:gd name="T5" fmla="*/ 2147483647 h 977"/>
              <a:gd name="T6" fmla="*/ 2147483647 w 1672"/>
              <a:gd name="T7" fmla="*/ 2147483647 h 977"/>
              <a:gd name="T8" fmla="*/ 2147483647 w 1672"/>
              <a:gd name="T9" fmla="*/ 2147483647 h 977"/>
              <a:gd name="T10" fmla="*/ 2147483647 w 1672"/>
              <a:gd name="T11" fmla="*/ 2147483647 h 977"/>
              <a:gd name="T12" fmla="*/ 2147483647 w 1672"/>
              <a:gd name="T13" fmla="*/ 2147483647 h 977"/>
              <a:gd name="T14" fmla="*/ 2147483647 w 1672"/>
              <a:gd name="T15" fmla="*/ 2147483647 h 977"/>
              <a:gd name="T16" fmla="*/ 2147483647 w 1672"/>
              <a:gd name="T17" fmla="*/ 2147483647 h 977"/>
              <a:gd name="T18" fmla="*/ 2147483647 w 1672"/>
              <a:gd name="T19" fmla="*/ 2147483647 h 977"/>
              <a:gd name="T20" fmla="*/ 2147483647 w 1672"/>
              <a:gd name="T21" fmla="*/ 2147483647 h 977"/>
              <a:gd name="T22" fmla="*/ 2147483647 w 1672"/>
              <a:gd name="T23" fmla="*/ 2147483647 h 977"/>
              <a:gd name="T24" fmla="*/ 2147483647 w 1672"/>
              <a:gd name="T25" fmla="*/ 2147483647 h 977"/>
              <a:gd name="T26" fmla="*/ 2147483647 w 1672"/>
              <a:gd name="T27" fmla="*/ 2147483647 h 977"/>
              <a:gd name="T28" fmla="*/ 2147483647 w 1672"/>
              <a:gd name="T29" fmla="*/ 2147483647 h 977"/>
              <a:gd name="T30" fmla="*/ 2147483647 w 1672"/>
              <a:gd name="T31" fmla="*/ 2147483647 h 977"/>
              <a:gd name="T32" fmla="*/ 2147483647 w 1672"/>
              <a:gd name="T33" fmla="*/ 2147483647 h 977"/>
              <a:gd name="T34" fmla="*/ 2147483647 w 1672"/>
              <a:gd name="T35" fmla="*/ 2147483647 h 977"/>
              <a:gd name="T36" fmla="*/ 2147483647 w 1672"/>
              <a:gd name="T37" fmla="*/ 2147483647 h 977"/>
              <a:gd name="T38" fmla="*/ 2147483647 w 1672"/>
              <a:gd name="T39" fmla="*/ 2147483647 h 977"/>
              <a:gd name="T40" fmla="*/ 2147483647 w 1672"/>
              <a:gd name="T41" fmla="*/ 2147483647 h 977"/>
              <a:gd name="T42" fmla="*/ 2147483647 w 1672"/>
              <a:gd name="T43" fmla="*/ 2147483647 h 977"/>
              <a:gd name="T44" fmla="*/ 2147483647 w 1672"/>
              <a:gd name="T45" fmla="*/ 2147483647 h 977"/>
              <a:gd name="T46" fmla="*/ 2147483647 w 1672"/>
              <a:gd name="T47" fmla="*/ 2147483647 h 977"/>
              <a:gd name="T48" fmla="*/ 2147483647 w 1672"/>
              <a:gd name="T49" fmla="*/ 2147483647 h 977"/>
              <a:gd name="T50" fmla="*/ 2147483647 w 1672"/>
              <a:gd name="T51" fmla="*/ 2147483647 h 977"/>
              <a:gd name="T52" fmla="*/ 2147483647 w 1672"/>
              <a:gd name="T53" fmla="*/ 2147483647 h 977"/>
              <a:gd name="T54" fmla="*/ 2147483647 w 1672"/>
              <a:gd name="T55" fmla="*/ 2147483647 h 977"/>
              <a:gd name="T56" fmla="*/ 2147483647 w 1672"/>
              <a:gd name="T57" fmla="*/ 2147483647 h 977"/>
              <a:gd name="T58" fmla="*/ 2147483647 w 1672"/>
              <a:gd name="T59" fmla="*/ 2147483647 h 977"/>
              <a:gd name="T60" fmla="*/ 2147483647 w 1672"/>
              <a:gd name="T61" fmla="*/ 2147483647 h 977"/>
              <a:gd name="T62" fmla="*/ 2147483647 w 1672"/>
              <a:gd name="T63" fmla="*/ 2147483647 h 977"/>
              <a:gd name="T64" fmla="*/ 2147483647 w 1672"/>
              <a:gd name="T65" fmla="*/ 2147483647 h 977"/>
              <a:gd name="T66" fmla="*/ 2147483647 w 1672"/>
              <a:gd name="T67" fmla="*/ 2147483647 h 977"/>
              <a:gd name="T68" fmla="*/ 2147483647 w 1672"/>
              <a:gd name="T69" fmla="*/ 2147483647 h 977"/>
              <a:gd name="T70" fmla="*/ 2147483647 w 1672"/>
              <a:gd name="T71" fmla="*/ 2147483647 h 977"/>
              <a:gd name="T72" fmla="*/ 2147483647 w 1672"/>
              <a:gd name="T73" fmla="*/ 2147483647 h 977"/>
              <a:gd name="T74" fmla="*/ 2147483647 w 1672"/>
              <a:gd name="T75" fmla="*/ 2147483647 h 977"/>
              <a:gd name="T76" fmla="*/ 2147483647 w 1672"/>
              <a:gd name="T77" fmla="*/ 2147483647 h 977"/>
              <a:gd name="T78" fmla="*/ 2147483647 w 1672"/>
              <a:gd name="T79" fmla="*/ 2147483647 h 977"/>
              <a:gd name="T80" fmla="*/ 2147483647 w 1672"/>
              <a:gd name="T81" fmla="*/ 2147483647 h 977"/>
              <a:gd name="T82" fmla="*/ 2147483647 w 1672"/>
              <a:gd name="T83" fmla="*/ 2147483647 h 977"/>
              <a:gd name="T84" fmla="*/ 2147483647 w 1672"/>
              <a:gd name="T85" fmla="*/ 2147483647 h 977"/>
              <a:gd name="T86" fmla="*/ 2147483647 w 1672"/>
              <a:gd name="T87" fmla="*/ 2147483647 h 977"/>
              <a:gd name="T88" fmla="*/ 0 w 1672"/>
              <a:gd name="T89" fmla="*/ 2147483647 h 977"/>
              <a:gd name="T90" fmla="*/ 2147483647 w 1672"/>
              <a:gd name="T91" fmla="*/ 2147483647 h 977"/>
              <a:gd name="T92" fmla="*/ 2147483647 w 1672"/>
              <a:gd name="T93" fmla="*/ 2147483647 h 977"/>
              <a:gd name="T94" fmla="*/ 0 w 1672"/>
              <a:gd name="T95" fmla="*/ 2147483647 h 977"/>
              <a:gd name="T96" fmla="*/ 2147483647 w 1672"/>
              <a:gd name="T97" fmla="*/ 2147483647 h 977"/>
              <a:gd name="T98" fmla="*/ 2147483647 w 1672"/>
              <a:gd name="T99" fmla="*/ 2147483647 h 977"/>
              <a:gd name="T100" fmla="*/ 2147483647 w 1672"/>
              <a:gd name="T101" fmla="*/ 2147483647 h 977"/>
              <a:gd name="T102" fmla="*/ 2147483647 w 1672"/>
              <a:gd name="T103" fmla="*/ 2147483647 h 9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72"/>
              <a:gd name="T157" fmla="*/ 0 h 977"/>
              <a:gd name="T158" fmla="*/ 1672 w 1672"/>
              <a:gd name="T159" fmla="*/ 977 h 9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72" h="977">
                <a:moveTo>
                  <a:pt x="54" y="16"/>
                </a:moveTo>
                <a:lnTo>
                  <a:pt x="57" y="14"/>
                </a:lnTo>
                <a:lnTo>
                  <a:pt x="61" y="10"/>
                </a:lnTo>
                <a:lnTo>
                  <a:pt x="69" y="7"/>
                </a:lnTo>
                <a:lnTo>
                  <a:pt x="77" y="3"/>
                </a:lnTo>
                <a:lnTo>
                  <a:pt x="86" y="1"/>
                </a:lnTo>
                <a:lnTo>
                  <a:pt x="96" y="0"/>
                </a:lnTo>
                <a:lnTo>
                  <a:pt x="105" y="0"/>
                </a:lnTo>
                <a:lnTo>
                  <a:pt x="116" y="0"/>
                </a:lnTo>
                <a:lnTo>
                  <a:pt x="127" y="1"/>
                </a:lnTo>
                <a:lnTo>
                  <a:pt x="138" y="3"/>
                </a:lnTo>
                <a:lnTo>
                  <a:pt x="149" y="6"/>
                </a:lnTo>
                <a:lnTo>
                  <a:pt x="161" y="9"/>
                </a:lnTo>
                <a:lnTo>
                  <a:pt x="174" y="13"/>
                </a:lnTo>
                <a:lnTo>
                  <a:pt x="187" y="17"/>
                </a:lnTo>
                <a:lnTo>
                  <a:pt x="200" y="22"/>
                </a:lnTo>
                <a:lnTo>
                  <a:pt x="212" y="27"/>
                </a:lnTo>
                <a:lnTo>
                  <a:pt x="225" y="31"/>
                </a:lnTo>
                <a:lnTo>
                  <a:pt x="253" y="43"/>
                </a:lnTo>
                <a:lnTo>
                  <a:pt x="281" y="54"/>
                </a:lnTo>
                <a:lnTo>
                  <a:pt x="309" y="65"/>
                </a:lnTo>
                <a:lnTo>
                  <a:pt x="338" y="76"/>
                </a:lnTo>
                <a:lnTo>
                  <a:pt x="352" y="82"/>
                </a:lnTo>
                <a:lnTo>
                  <a:pt x="366" y="86"/>
                </a:lnTo>
                <a:lnTo>
                  <a:pt x="380" y="90"/>
                </a:lnTo>
                <a:lnTo>
                  <a:pt x="394" y="95"/>
                </a:lnTo>
                <a:lnTo>
                  <a:pt x="408" y="97"/>
                </a:lnTo>
                <a:lnTo>
                  <a:pt x="422" y="100"/>
                </a:lnTo>
                <a:lnTo>
                  <a:pt x="436" y="103"/>
                </a:lnTo>
                <a:lnTo>
                  <a:pt x="451" y="104"/>
                </a:lnTo>
                <a:lnTo>
                  <a:pt x="465" y="105"/>
                </a:lnTo>
                <a:lnTo>
                  <a:pt x="477" y="105"/>
                </a:lnTo>
                <a:lnTo>
                  <a:pt x="491" y="105"/>
                </a:lnTo>
                <a:lnTo>
                  <a:pt x="504" y="105"/>
                </a:lnTo>
                <a:lnTo>
                  <a:pt x="518" y="104"/>
                </a:lnTo>
                <a:lnTo>
                  <a:pt x="532" y="104"/>
                </a:lnTo>
                <a:lnTo>
                  <a:pt x="559" y="100"/>
                </a:lnTo>
                <a:lnTo>
                  <a:pt x="586" y="98"/>
                </a:lnTo>
                <a:lnTo>
                  <a:pt x="614" y="95"/>
                </a:lnTo>
                <a:lnTo>
                  <a:pt x="641" y="90"/>
                </a:lnTo>
                <a:lnTo>
                  <a:pt x="670" y="86"/>
                </a:lnTo>
                <a:lnTo>
                  <a:pt x="698" y="83"/>
                </a:lnTo>
                <a:lnTo>
                  <a:pt x="727" y="79"/>
                </a:lnTo>
                <a:lnTo>
                  <a:pt x="757" y="77"/>
                </a:lnTo>
                <a:lnTo>
                  <a:pt x="774" y="76"/>
                </a:lnTo>
                <a:lnTo>
                  <a:pt x="789" y="75"/>
                </a:lnTo>
                <a:lnTo>
                  <a:pt x="804" y="75"/>
                </a:lnTo>
                <a:lnTo>
                  <a:pt x="820" y="75"/>
                </a:lnTo>
                <a:lnTo>
                  <a:pt x="837" y="76"/>
                </a:lnTo>
                <a:lnTo>
                  <a:pt x="853" y="76"/>
                </a:lnTo>
                <a:lnTo>
                  <a:pt x="871" y="77"/>
                </a:lnTo>
                <a:lnTo>
                  <a:pt x="888" y="79"/>
                </a:lnTo>
                <a:lnTo>
                  <a:pt x="906" y="82"/>
                </a:lnTo>
                <a:lnTo>
                  <a:pt x="923" y="84"/>
                </a:lnTo>
                <a:lnTo>
                  <a:pt x="942" y="88"/>
                </a:lnTo>
                <a:lnTo>
                  <a:pt x="961" y="91"/>
                </a:lnTo>
                <a:lnTo>
                  <a:pt x="980" y="95"/>
                </a:lnTo>
                <a:lnTo>
                  <a:pt x="1003" y="98"/>
                </a:lnTo>
                <a:lnTo>
                  <a:pt x="1024" y="102"/>
                </a:lnTo>
                <a:lnTo>
                  <a:pt x="1046" y="106"/>
                </a:lnTo>
                <a:lnTo>
                  <a:pt x="1069" y="110"/>
                </a:lnTo>
                <a:lnTo>
                  <a:pt x="1092" y="114"/>
                </a:lnTo>
                <a:lnTo>
                  <a:pt x="1117" y="119"/>
                </a:lnTo>
                <a:lnTo>
                  <a:pt x="1141" y="124"/>
                </a:lnTo>
                <a:lnTo>
                  <a:pt x="1190" y="134"/>
                </a:lnTo>
                <a:lnTo>
                  <a:pt x="1239" y="146"/>
                </a:lnTo>
                <a:lnTo>
                  <a:pt x="1288" y="159"/>
                </a:lnTo>
                <a:lnTo>
                  <a:pt x="1313" y="166"/>
                </a:lnTo>
                <a:lnTo>
                  <a:pt x="1337" y="173"/>
                </a:lnTo>
                <a:lnTo>
                  <a:pt x="1361" y="180"/>
                </a:lnTo>
                <a:lnTo>
                  <a:pt x="1384" y="187"/>
                </a:lnTo>
                <a:lnTo>
                  <a:pt x="1406" y="195"/>
                </a:lnTo>
                <a:lnTo>
                  <a:pt x="1429" y="203"/>
                </a:lnTo>
                <a:lnTo>
                  <a:pt x="1450" y="211"/>
                </a:lnTo>
                <a:lnTo>
                  <a:pt x="1471" y="220"/>
                </a:lnTo>
                <a:lnTo>
                  <a:pt x="1490" y="229"/>
                </a:lnTo>
                <a:lnTo>
                  <a:pt x="1509" y="238"/>
                </a:lnTo>
                <a:lnTo>
                  <a:pt x="1527" y="248"/>
                </a:lnTo>
                <a:lnTo>
                  <a:pt x="1535" y="252"/>
                </a:lnTo>
                <a:lnTo>
                  <a:pt x="1543" y="258"/>
                </a:lnTo>
                <a:lnTo>
                  <a:pt x="1551" y="263"/>
                </a:lnTo>
                <a:lnTo>
                  <a:pt x="1558" y="267"/>
                </a:lnTo>
                <a:lnTo>
                  <a:pt x="1565" y="273"/>
                </a:lnTo>
                <a:lnTo>
                  <a:pt x="1572" y="279"/>
                </a:lnTo>
                <a:lnTo>
                  <a:pt x="1579" y="284"/>
                </a:lnTo>
                <a:lnTo>
                  <a:pt x="1585" y="290"/>
                </a:lnTo>
                <a:lnTo>
                  <a:pt x="1591" y="296"/>
                </a:lnTo>
                <a:lnTo>
                  <a:pt x="1597" y="301"/>
                </a:lnTo>
                <a:lnTo>
                  <a:pt x="1607" y="313"/>
                </a:lnTo>
                <a:lnTo>
                  <a:pt x="1616" y="326"/>
                </a:lnTo>
                <a:lnTo>
                  <a:pt x="1625" y="340"/>
                </a:lnTo>
                <a:lnTo>
                  <a:pt x="1633" y="355"/>
                </a:lnTo>
                <a:lnTo>
                  <a:pt x="1640" y="370"/>
                </a:lnTo>
                <a:lnTo>
                  <a:pt x="1647" y="385"/>
                </a:lnTo>
                <a:lnTo>
                  <a:pt x="1651" y="403"/>
                </a:lnTo>
                <a:lnTo>
                  <a:pt x="1656" y="419"/>
                </a:lnTo>
                <a:lnTo>
                  <a:pt x="1661" y="438"/>
                </a:lnTo>
                <a:lnTo>
                  <a:pt x="1664" y="456"/>
                </a:lnTo>
                <a:lnTo>
                  <a:pt x="1667" y="474"/>
                </a:lnTo>
                <a:lnTo>
                  <a:pt x="1669" y="493"/>
                </a:lnTo>
                <a:lnTo>
                  <a:pt x="1671" y="512"/>
                </a:lnTo>
                <a:lnTo>
                  <a:pt x="1671" y="530"/>
                </a:lnTo>
                <a:lnTo>
                  <a:pt x="1672" y="550"/>
                </a:lnTo>
                <a:lnTo>
                  <a:pt x="1671" y="569"/>
                </a:lnTo>
                <a:lnTo>
                  <a:pt x="1671" y="588"/>
                </a:lnTo>
                <a:lnTo>
                  <a:pt x="1670" y="607"/>
                </a:lnTo>
                <a:lnTo>
                  <a:pt x="1668" y="626"/>
                </a:lnTo>
                <a:lnTo>
                  <a:pt x="1665" y="645"/>
                </a:lnTo>
                <a:lnTo>
                  <a:pt x="1663" y="662"/>
                </a:lnTo>
                <a:lnTo>
                  <a:pt x="1660" y="680"/>
                </a:lnTo>
                <a:lnTo>
                  <a:pt x="1656" y="697"/>
                </a:lnTo>
                <a:lnTo>
                  <a:pt x="1651" y="715"/>
                </a:lnTo>
                <a:lnTo>
                  <a:pt x="1648" y="731"/>
                </a:lnTo>
                <a:lnTo>
                  <a:pt x="1643" y="747"/>
                </a:lnTo>
                <a:lnTo>
                  <a:pt x="1637" y="762"/>
                </a:lnTo>
                <a:lnTo>
                  <a:pt x="1632" y="776"/>
                </a:lnTo>
                <a:lnTo>
                  <a:pt x="1626" y="790"/>
                </a:lnTo>
                <a:lnTo>
                  <a:pt x="1620" y="803"/>
                </a:lnTo>
                <a:lnTo>
                  <a:pt x="1614" y="814"/>
                </a:lnTo>
                <a:lnTo>
                  <a:pt x="1607" y="825"/>
                </a:lnTo>
                <a:lnTo>
                  <a:pt x="1600" y="834"/>
                </a:lnTo>
                <a:lnTo>
                  <a:pt x="1592" y="843"/>
                </a:lnTo>
                <a:lnTo>
                  <a:pt x="1584" y="852"/>
                </a:lnTo>
                <a:lnTo>
                  <a:pt x="1574" y="859"/>
                </a:lnTo>
                <a:lnTo>
                  <a:pt x="1564" y="867"/>
                </a:lnTo>
                <a:lnTo>
                  <a:pt x="1553" y="873"/>
                </a:lnTo>
                <a:lnTo>
                  <a:pt x="1543" y="879"/>
                </a:lnTo>
                <a:lnTo>
                  <a:pt x="1531" y="884"/>
                </a:lnTo>
                <a:lnTo>
                  <a:pt x="1518" y="890"/>
                </a:lnTo>
                <a:lnTo>
                  <a:pt x="1506" y="895"/>
                </a:lnTo>
                <a:lnTo>
                  <a:pt x="1493" y="898"/>
                </a:lnTo>
                <a:lnTo>
                  <a:pt x="1479" y="902"/>
                </a:lnTo>
                <a:lnTo>
                  <a:pt x="1465" y="905"/>
                </a:lnTo>
                <a:lnTo>
                  <a:pt x="1451" y="909"/>
                </a:lnTo>
                <a:lnTo>
                  <a:pt x="1436" y="912"/>
                </a:lnTo>
                <a:lnTo>
                  <a:pt x="1420" y="915"/>
                </a:lnTo>
                <a:lnTo>
                  <a:pt x="1390" y="919"/>
                </a:lnTo>
                <a:lnTo>
                  <a:pt x="1358" y="923"/>
                </a:lnTo>
                <a:lnTo>
                  <a:pt x="1326" y="926"/>
                </a:lnTo>
                <a:lnTo>
                  <a:pt x="1293" y="930"/>
                </a:lnTo>
                <a:lnTo>
                  <a:pt x="1259" y="932"/>
                </a:lnTo>
                <a:lnTo>
                  <a:pt x="1227" y="936"/>
                </a:lnTo>
                <a:lnTo>
                  <a:pt x="1194" y="939"/>
                </a:lnTo>
                <a:lnTo>
                  <a:pt x="1162" y="944"/>
                </a:lnTo>
                <a:lnTo>
                  <a:pt x="1146" y="946"/>
                </a:lnTo>
                <a:lnTo>
                  <a:pt x="1130" y="949"/>
                </a:lnTo>
                <a:lnTo>
                  <a:pt x="1112" y="950"/>
                </a:lnTo>
                <a:lnTo>
                  <a:pt x="1095" y="952"/>
                </a:lnTo>
                <a:lnTo>
                  <a:pt x="1077" y="954"/>
                </a:lnTo>
                <a:lnTo>
                  <a:pt x="1059" y="956"/>
                </a:lnTo>
                <a:lnTo>
                  <a:pt x="1041" y="958"/>
                </a:lnTo>
                <a:lnTo>
                  <a:pt x="1022" y="959"/>
                </a:lnTo>
                <a:lnTo>
                  <a:pt x="984" y="963"/>
                </a:lnTo>
                <a:lnTo>
                  <a:pt x="945" y="966"/>
                </a:lnTo>
                <a:lnTo>
                  <a:pt x="907" y="969"/>
                </a:lnTo>
                <a:lnTo>
                  <a:pt x="867" y="970"/>
                </a:lnTo>
                <a:lnTo>
                  <a:pt x="829" y="972"/>
                </a:lnTo>
                <a:lnTo>
                  <a:pt x="791" y="973"/>
                </a:lnTo>
                <a:lnTo>
                  <a:pt x="773" y="974"/>
                </a:lnTo>
                <a:lnTo>
                  <a:pt x="754" y="974"/>
                </a:lnTo>
                <a:lnTo>
                  <a:pt x="736" y="976"/>
                </a:lnTo>
                <a:lnTo>
                  <a:pt x="718" y="976"/>
                </a:lnTo>
                <a:lnTo>
                  <a:pt x="701" y="976"/>
                </a:lnTo>
                <a:lnTo>
                  <a:pt x="684" y="977"/>
                </a:lnTo>
                <a:lnTo>
                  <a:pt x="668" y="977"/>
                </a:lnTo>
                <a:lnTo>
                  <a:pt x="651" y="977"/>
                </a:lnTo>
                <a:lnTo>
                  <a:pt x="636" y="977"/>
                </a:lnTo>
                <a:lnTo>
                  <a:pt x="621" y="977"/>
                </a:lnTo>
                <a:lnTo>
                  <a:pt x="607" y="977"/>
                </a:lnTo>
                <a:lnTo>
                  <a:pt x="593" y="977"/>
                </a:lnTo>
                <a:lnTo>
                  <a:pt x="580" y="976"/>
                </a:lnTo>
                <a:lnTo>
                  <a:pt x="567" y="976"/>
                </a:lnTo>
                <a:lnTo>
                  <a:pt x="556" y="976"/>
                </a:lnTo>
                <a:lnTo>
                  <a:pt x="544" y="974"/>
                </a:lnTo>
                <a:lnTo>
                  <a:pt x="532" y="974"/>
                </a:lnTo>
                <a:lnTo>
                  <a:pt x="522" y="974"/>
                </a:lnTo>
                <a:lnTo>
                  <a:pt x="511" y="973"/>
                </a:lnTo>
                <a:lnTo>
                  <a:pt x="502" y="972"/>
                </a:lnTo>
                <a:lnTo>
                  <a:pt x="493" y="972"/>
                </a:lnTo>
                <a:lnTo>
                  <a:pt x="483" y="971"/>
                </a:lnTo>
                <a:lnTo>
                  <a:pt x="474" y="970"/>
                </a:lnTo>
                <a:lnTo>
                  <a:pt x="465" y="969"/>
                </a:lnTo>
                <a:lnTo>
                  <a:pt x="448" y="966"/>
                </a:lnTo>
                <a:lnTo>
                  <a:pt x="432" y="964"/>
                </a:lnTo>
                <a:lnTo>
                  <a:pt x="417" y="960"/>
                </a:lnTo>
                <a:lnTo>
                  <a:pt x="401" y="958"/>
                </a:lnTo>
                <a:lnTo>
                  <a:pt x="372" y="950"/>
                </a:lnTo>
                <a:lnTo>
                  <a:pt x="357" y="946"/>
                </a:lnTo>
                <a:lnTo>
                  <a:pt x="342" y="942"/>
                </a:lnTo>
                <a:lnTo>
                  <a:pt x="326" y="937"/>
                </a:lnTo>
                <a:lnTo>
                  <a:pt x="308" y="932"/>
                </a:lnTo>
                <a:lnTo>
                  <a:pt x="291" y="928"/>
                </a:lnTo>
                <a:lnTo>
                  <a:pt x="273" y="923"/>
                </a:lnTo>
                <a:lnTo>
                  <a:pt x="254" y="918"/>
                </a:lnTo>
                <a:lnTo>
                  <a:pt x="236" y="914"/>
                </a:lnTo>
                <a:lnTo>
                  <a:pt x="216" y="908"/>
                </a:lnTo>
                <a:lnTo>
                  <a:pt x="197" y="903"/>
                </a:lnTo>
                <a:lnTo>
                  <a:pt x="179" y="897"/>
                </a:lnTo>
                <a:lnTo>
                  <a:pt x="160" y="891"/>
                </a:lnTo>
                <a:lnTo>
                  <a:pt x="142" y="886"/>
                </a:lnTo>
                <a:lnTo>
                  <a:pt x="125" y="877"/>
                </a:lnTo>
                <a:lnTo>
                  <a:pt x="109" y="870"/>
                </a:lnTo>
                <a:lnTo>
                  <a:pt x="92" y="861"/>
                </a:lnTo>
                <a:lnTo>
                  <a:pt x="85" y="856"/>
                </a:lnTo>
                <a:lnTo>
                  <a:pt x="78" y="852"/>
                </a:lnTo>
                <a:lnTo>
                  <a:pt x="71" y="846"/>
                </a:lnTo>
                <a:lnTo>
                  <a:pt x="64" y="841"/>
                </a:lnTo>
                <a:lnTo>
                  <a:pt x="58" y="835"/>
                </a:lnTo>
                <a:lnTo>
                  <a:pt x="53" y="828"/>
                </a:lnTo>
                <a:lnTo>
                  <a:pt x="47" y="822"/>
                </a:lnTo>
                <a:lnTo>
                  <a:pt x="42" y="815"/>
                </a:lnTo>
                <a:lnTo>
                  <a:pt x="37" y="808"/>
                </a:lnTo>
                <a:lnTo>
                  <a:pt x="34" y="801"/>
                </a:lnTo>
                <a:lnTo>
                  <a:pt x="29" y="793"/>
                </a:lnTo>
                <a:lnTo>
                  <a:pt x="26" y="786"/>
                </a:lnTo>
                <a:lnTo>
                  <a:pt x="22" y="778"/>
                </a:lnTo>
                <a:lnTo>
                  <a:pt x="20" y="770"/>
                </a:lnTo>
                <a:lnTo>
                  <a:pt x="14" y="752"/>
                </a:lnTo>
                <a:lnTo>
                  <a:pt x="9" y="735"/>
                </a:lnTo>
                <a:lnTo>
                  <a:pt x="7" y="716"/>
                </a:lnTo>
                <a:lnTo>
                  <a:pt x="5" y="696"/>
                </a:lnTo>
                <a:lnTo>
                  <a:pt x="2" y="675"/>
                </a:lnTo>
                <a:lnTo>
                  <a:pt x="1" y="654"/>
                </a:lnTo>
                <a:lnTo>
                  <a:pt x="1" y="633"/>
                </a:lnTo>
                <a:lnTo>
                  <a:pt x="0" y="611"/>
                </a:lnTo>
                <a:lnTo>
                  <a:pt x="0" y="588"/>
                </a:lnTo>
                <a:lnTo>
                  <a:pt x="1" y="564"/>
                </a:lnTo>
                <a:lnTo>
                  <a:pt x="1" y="540"/>
                </a:lnTo>
                <a:lnTo>
                  <a:pt x="2" y="515"/>
                </a:lnTo>
                <a:lnTo>
                  <a:pt x="2" y="491"/>
                </a:lnTo>
                <a:lnTo>
                  <a:pt x="2" y="478"/>
                </a:lnTo>
                <a:lnTo>
                  <a:pt x="2" y="464"/>
                </a:lnTo>
                <a:lnTo>
                  <a:pt x="2" y="450"/>
                </a:lnTo>
                <a:lnTo>
                  <a:pt x="2" y="435"/>
                </a:lnTo>
                <a:lnTo>
                  <a:pt x="1" y="418"/>
                </a:lnTo>
                <a:lnTo>
                  <a:pt x="1" y="402"/>
                </a:lnTo>
                <a:lnTo>
                  <a:pt x="1" y="385"/>
                </a:lnTo>
                <a:lnTo>
                  <a:pt x="0" y="368"/>
                </a:lnTo>
                <a:lnTo>
                  <a:pt x="0" y="350"/>
                </a:lnTo>
                <a:lnTo>
                  <a:pt x="0" y="333"/>
                </a:lnTo>
                <a:lnTo>
                  <a:pt x="0" y="297"/>
                </a:lnTo>
                <a:lnTo>
                  <a:pt x="0" y="260"/>
                </a:lnTo>
                <a:lnTo>
                  <a:pt x="0" y="224"/>
                </a:lnTo>
                <a:lnTo>
                  <a:pt x="1" y="207"/>
                </a:lnTo>
                <a:lnTo>
                  <a:pt x="2" y="189"/>
                </a:lnTo>
                <a:lnTo>
                  <a:pt x="4" y="173"/>
                </a:lnTo>
                <a:lnTo>
                  <a:pt x="5" y="156"/>
                </a:lnTo>
                <a:lnTo>
                  <a:pt x="7" y="140"/>
                </a:lnTo>
                <a:lnTo>
                  <a:pt x="8" y="125"/>
                </a:lnTo>
                <a:lnTo>
                  <a:pt x="12" y="110"/>
                </a:lnTo>
                <a:lnTo>
                  <a:pt x="14" y="96"/>
                </a:lnTo>
                <a:lnTo>
                  <a:pt x="18" y="82"/>
                </a:lnTo>
                <a:lnTo>
                  <a:pt x="21" y="70"/>
                </a:lnTo>
                <a:lnTo>
                  <a:pt x="26" y="58"/>
                </a:lnTo>
                <a:lnTo>
                  <a:pt x="29" y="48"/>
                </a:lnTo>
                <a:lnTo>
                  <a:pt x="35" y="37"/>
                </a:lnTo>
                <a:lnTo>
                  <a:pt x="37" y="34"/>
                </a:lnTo>
                <a:lnTo>
                  <a:pt x="41" y="29"/>
                </a:lnTo>
                <a:lnTo>
                  <a:pt x="43" y="26"/>
                </a:lnTo>
                <a:lnTo>
                  <a:pt x="47" y="22"/>
                </a:lnTo>
                <a:lnTo>
                  <a:pt x="50" y="19"/>
                </a:lnTo>
                <a:lnTo>
                  <a:pt x="54" y="16"/>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7938" name="Rectangle 198"/>
          <p:cNvSpPr>
            <a:spLocks noChangeArrowheads="1"/>
          </p:cNvSpPr>
          <p:nvPr/>
        </p:nvSpPr>
        <p:spPr bwMode="auto">
          <a:xfrm>
            <a:off x="4522788" y="2686050"/>
            <a:ext cx="412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300">
                <a:solidFill>
                  <a:srgbClr val="000000"/>
                </a:solidFill>
              </a:rPr>
              <a:t> </a:t>
            </a:r>
            <a:endParaRPr lang="en-US" altLang="en-US"/>
          </a:p>
        </p:txBody>
      </p:sp>
      <p:sp>
        <p:nvSpPr>
          <p:cNvPr id="167939" name="Line 334"/>
          <p:cNvSpPr>
            <a:spLocks noChangeShapeType="1"/>
          </p:cNvSpPr>
          <p:nvPr/>
        </p:nvSpPr>
        <p:spPr bwMode="auto">
          <a:xfrm>
            <a:off x="3346450" y="2533650"/>
            <a:ext cx="836613" cy="180975"/>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67940" name="Freeform 346"/>
          <p:cNvSpPr>
            <a:spLocks/>
          </p:cNvSpPr>
          <p:nvPr/>
        </p:nvSpPr>
        <p:spPr bwMode="auto">
          <a:xfrm>
            <a:off x="5821363" y="2239963"/>
            <a:ext cx="1901825" cy="1141412"/>
          </a:xfrm>
          <a:custGeom>
            <a:avLst/>
            <a:gdLst>
              <a:gd name="T0" fmla="*/ 2147483647 w 1198"/>
              <a:gd name="T1" fmla="*/ 2147483647 h 719"/>
              <a:gd name="T2" fmla="*/ 2147483647 w 1198"/>
              <a:gd name="T3" fmla="*/ 0 h 719"/>
              <a:gd name="T4" fmla="*/ 2147483647 w 1198"/>
              <a:gd name="T5" fmla="*/ 2147483647 h 719"/>
              <a:gd name="T6" fmla="*/ 2147483647 w 1198"/>
              <a:gd name="T7" fmla="*/ 2147483647 h 719"/>
              <a:gd name="T8" fmla="*/ 2147483647 w 1198"/>
              <a:gd name="T9" fmla="*/ 2147483647 h 719"/>
              <a:gd name="T10" fmla="*/ 2147483647 w 1198"/>
              <a:gd name="T11" fmla="*/ 2147483647 h 719"/>
              <a:gd name="T12" fmla="*/ 2147483647 w 1198"/>
              <a:gd name="T13" fmla="*/ 2147483647 h 719"/>
              <a:gd name="T14" fmla="*/ 2147483647 w 1198"/>
              <a:gd name="T15" fmla="*/ 2147483647 h 719"/>
              <a:gd name="T16" fmla="*/ 2147483647 w 1198"/>
              <a:gd name="T17" fmla="*/ 2147483647 h 719"/>
              <a:gd name="T18" fmla="*/ 2147483647 w 1198"/>
              <a:gd name="T19" fmla="*/ 2147483647 h 719"/>
              <a:gd name="T20" fmla="*/ 2147483647 w 1198"/>
              <a:gd name="T21" fmla="*/ 2147483647 h 719"/>
              <a:gd name="T22" fmla="*/ 2147483647 w 1198"/>
              <a:gd name="T23" fmla="*/ 2147483647 h 719"/>
              <a:gd name="T24" fmla="*/ 2147483647 w 1198"/>
              <a:gd name="T25" fmla="*/ 2147483647 h 719"/>
              <a:gd name="T26" fmla="*/ 2147483647 w 1198"/>
              <a:gd name="T27" fmla="*/ 2147483647 h 719"/>
              <a:gd name="T28" fmla="*/ 2147483647 w 1198"/>
              <a:gd name="T29" fmla="*/ 2147483647 h 719"/>
              <a:gd name="T30" fmla="*/ 2147483647 w 1198"/>
              <a:gd name="T31" fmla="*/ 2147483647 h 719"/>
              <a:gd name="T32" fmla="*/ 2147483647 w 1198"/>
              <a:gd name="T33" fmla="*/ 2147483647 h 719"/>
              <a:gd name="T34" fmla="*/ 2147483647 w 1198"/>
              <a:gd name="T35" fmla="*/ 2147483647 h 719"/>
              <a:gd name="T36" fmla="*/ 2147483647 w 1198"/>
              <a:gd name="T37" fmla="*/ 2147483647 h 719"/>
              <a:gd name="T38" fmla="*/ 2147483647 w 1198"/>
              <a:gd name="T39" fmla="*/ 2147483647 h 719"/>
              <a:gd name="T40" fmla="*/ 2147483647 w 1198"/>
              <a:gd name="T41" fmla="*/ 2147483647 h 719"/>
              <a:gd name="T42" fmla="*/ 2147483647 w 1198"/>
              <a:gd name="T43" fmla="*/ 2147483647 h 719"/>
              <a:gd name="T44" fmla="*/ 0 w 1198"/>
              <a:gd name="T45" fmla="*/ 2147483647 h 719"/>
              <a:gd name="T46" fmla="*/ 2147483647 w 1198"/>
              <a:gd name="T47" fmla="*/ 2147483647 h 719"/>
              <a:gd name="T48" fmla="*/ 2147483647 w 1198"/>
              <a:gd name="T49" fmla="*/ 2147483647 h 719"/>
              <a:gd name="T50" fmla="*/ 2147483647 w 1198"/>
              <a:gd name="T51" fmla="*/ 2147483647 h 719"/>
              <a:gd name="T52" fmla="*/ 2147483647 w 1198"/>
              <a:gd name="T53" fmla="*/ 2147483647 h 719"/>
              <a:gd name="T54" fmla="*/ 2147483647 w 1198"/>
              <a:gd name="T55" fmla="*/ 2147483647 h 719"/>
              <a:gd name="T56" fmla="*/ 2147483647 w 1198"/>
              <a:gd name="T57" fmla="*/ 2147483647 h 719"/>
              <a:gd name="T58" fmla="*/ 2147483647 w 1198"/>
              <a:gd name="T59" fmla="*/ 2147483647 h 719"/>
              <a:gd name="T60" fmla="*/ 2147483647 w 1198"/>
              <a:gd name="T61" fmla="*/ 2147483647 h 719"/>
              <a:gd name="T62" fmla="*/ 2147483647 w 1198"/>
              <a:gd name="T63" fmla="*/ 2147483647 h 719"/>
              <a:gd name="T64" fmla="*/ 2147483647 w 1198"/>
              <a:gd name="T65" fmla="*/ 2147483647 h 719"/>
              <a:gd name="T66" fmla="*/ 2147483647 w 1198"/>
              <a:gd name="T67" fmla="*/ 2147483647 h 719"/>
              <a:gd name="T68" fmla="*/ 2147483647 w 1198"/>
              <a:gd name="T69" fmla="*/ 2147483647 h 719"/>
              <a:gd name="T70" fmla="*/ 2147483647 w 1198"/>
              <a:gd name="T71" fmla="*/ 2147483647 h 719"/>
              <a:gd name="T72" fmla="*/ 2147483647 w 1198"/>
              <a:gd name="T73" fmla="*/ 2147483647 h 719"/>
              <a:gd name="T74" fmla="*/ 2147483647 w 1198"/>
              <a:gd name="T75" fmla="*/ 2147483647 h 719"/>
              <a:gd name="T76" fmla="*/ 2147483647 w 1198"/>
              <a:gd name="T77" fmla="*/ 2147483647 h 719"/>
              <a:gd name="T78" fmla="*/ 2147483647 w 1198"/>
              <a:gd name="T79" fmla="*/ 2147483647 h 719"/>
              <a:gd name="T80" fmla="*/ 2147483647 w 1198"/>
              <a:gd name="T81" fmla="*/ 2147483647 h 719"/>
              <a:gd name="T82" fmla="*/ 2147483647 w 1198"/>
              <a:gd name="T83" fmla="*/ 2147483647 h 719"/>
              <a:gd name="T84" fmla="*/ 2147483647 w 1198"/>
              <a:gd name="T85" fmla="*/ 2147483647 h 719"/>
              <a:gd name="T86" fmla="*/ 2147483647 w 1198"/>
              <a:gd name="T87" fmla="*/ 2147483647 h 719"/>
              <a:gd name="T88" fmla="*/ 2147483647 w 1198"/>
              <a:gd name="T89" fmla="*/ 2147483647 h 719"/>
              <a:gd name="T90" fmla="*/ 2147483647 w 1198"/>
              <a:gd name="T91" fmla="*/ 2147483647 h 719"/>
              <a:gd name="T92" fmla="*/ 2147483647 w 1198"/>
              <a:gd name="T93" fmla="*/ 2147483647 h 719"/>
              <a:gd name="T94" fmla="*/ 2147483647 w 1198"/>
              <a:gd name="T95" fmla="*/ 2147483647 h 719"/>
              <a:gd name="T96" fmla="*/ 2147483647 w 1198"/>
              <a:gd name="T97" fmla="*/ 2147483647 h 719"/>
              <a:gd name="T98" fmla="*/ 2147483647 w 1198"/>
              <a:gd name="T99" fmla="*/ 2147483647 h 719"/>
              <a:gd name="T100" fmla="*/ 2147483647 w 1198"/>
              <a:gd name="T101" fmla="*/ 2147483647 h 719"/>
              <a:gd name="T102" fmla="*/ 2147483647 w 1198"/>
              <a:gd name="T103" fmla="*/ 2147483647 h 719"/>
              <a:gd name="T104" fmla="*/ 2147483647 w 1198"/>
              <a:gd name="T105" fmla="*/ 2147483647 h 719"/>
              <a:gd name="T106" fmla="*/ 2147483647 w 1198"/>
              <a:gd name="T107" fmla="*/ 2147483647 h 719"/>
              <a:gd name="T108" fmla="*/ 2147483647 w 1198"/>
              <a:gd name="T109" fmla="*/ 2147483647 h 719"/>
              <a:gd name="T110" fmla="*/ 2147483647 w 1198"/>
              <a:gd name="T111" fmla="*/ 2147483647 h 7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98"/>
              <a:gd name="T169" fmla="*/ 0 h 719"/>
              <a:gd name="T170" fmla="*/ 1198 w 1198"/>
              <a:gd name="T171" fmla="*/ 719 h 7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98" h="719">
                <a:moveTo>
                  <a:pt x="1160" y="13"/>
                </a:moveTo>
                <a:lnTo>
                  <a:pt x="1154" y="9"/>
                </a:lnTo>
                <a:lnTo>
                  <a:pt x="1149" y="5"/>
                </a:lnTo>
                <a:lnTo>
                  <a:pt x="1142" y="3"/>
                </a:lnTo>
                <a:lnTo>
                  <a:pt x="1137" y="2"/>
                </a:lnTo>
                <a:lnTo>
                  <a:pt x="1130" y="0"/>
                </a:lnTo>
                <a:lnTo>
                  <a:pt x="1123" y="0"/>
                </a:lnTo>
                <a:lnTo>
                  <a:pt x="1116" y="0"/>
                </a:lnTo>
                <a:lnTo>
                  <a:pt x="1107" y="2"/>
                </a:lnTo>
                <a:lnTo>
                  <a:pt x="1099" y="3"/>
                </a:lnTo>
                <a:lnTo>
                  <a:pt x="1091" y="5"/>
                </a:lnTo>
                <a:lnTo>
                  <a:pt x="1082" y="7"/>
                </a:lnTo>
                <a:lnTo>
                  <a:pt x="1074" y="10"/>
                </a:lnTo>
                <a:lnTo>
                  <a:pt x="1064" y="13"/>
                </a:lnTo>
                <a:lnTo>
                  <a:pt x="1055" y="17"/>
                </a:lnTo>
                <a:lnTo>
                  <a:pt x="1036" y="24"/>
                </a:lnTo>
                <a:lnTo>
                  <a:pt x="1016" y="32"/>
                </a:lnTo>
                <a:lnTo>
                  <a:pt x="997" y="40"/>
                </a:lnTo>
                <a:lnTo>
                  <a:pt x="977" y="49"/>
                </a:lnTo>
                <a:lnTo>
                  <a:pt x="956" y="56"/>
                </a:lnTo>
                <a:lnTo>
                  <a:pt x="936" y="65"/>
                </a:lnTo>
                <a:lnTo>
                  <a:pt x="925" y="67"/>
                </a:lnTo>
                <a:lnTo>
                  <a:pt x="915" y="70"/>
                </a:lnTo>
                <a:lnTo>
                  <a:pt x="904" y="73"/>
                </a:lnTo>
                <a:lnTo>
                  <a:pt x="895" y="75"/>
                </a:lnTo>
                <a:lnTo>
                  <a:pt x="885" y="76"/>
                </a:lnTo>
                <a:lnTo>
                  <a:pt x="875" y="77"/>
                </a:lnTo>
                <a:lnTo>
                  <a:pt x="866" y="77"/>
                </a:lnTo>
                <a:lnTo>
                  <a:pt x="855" y="79"/>
                </a:lnTo>
                <a:lnTo>
                  <a:pt x="837" y="77"/>
                </a:lnTo>
                <a:lnTo>
                  <a:pt x="817" y="76"/>
                </a:lnTo>
                <a:lnTo>
                  <a:pt x="798" y="75"/>
                </a:lnTo>
                <a:lnTo>
                  <a:pt x="778" y="73"/>
                </a:lnTo>
                <a:lnTo>
                  <a:pt x="758" y="70"/>
                </a:lnTo>
                <a:lnTo>
                  <a:pt x="739" y="67"/>
                </a:lnTo>
                <a:lnTo>
                  <a:pt x="719" y="65"/>
                </a:lnTo>
                <a:lnTo>
                  <a:pt x="698" y="61"/>
                </a:lnTo>
                <a:lnTo>
                  <a:pt x="677" y="59"/>
                </a:lnTo>
                <a:lnTo>
                  <a:pt x="655" y="58"/>
                </a:lnTo>
                <a:lnTo>
                  <a:pt x="632" y="56"/>
                </a:lnTo>
                <a:lnTo>
                  <a:pt x="610" y="56"/>
                </a:lnTo>
                <a:lnTo>
                  <a:pt x="599" y="56"/>
                </a:lnTo>
                <a:lnTo>
                  <a:pt x="586" y="56"/>
                </a:lnTo>
                <a:lnTo>
                  <a:pt x="574" y="58"/>
                </a:lnTo>
                <a:lnTo>
                  <a:pt x="562" y="59"/>
                </a:lnTo>
                <a:lnTo>
                  <a:pt x="550" y="61"/>
                </a:lnTo>
                <a:lnTo>
                  <a:pt x="537" y="63"/>
                </a:lnTo>
                <a:lnTo>
                  <a:pt x="524" y="65"/>
                </a:lnTo>
                <a:lnTo>
                  <a:pt x="510" y="68"/>
                </a:lnTo>
                <a:lnTo>
                  <a:pt x="495" y="70"/>
                </a:lnTo>
                <a:lnTo>
                  <a:pt x="480" y="73"/>
                </a:lnTo>
                <a:lnTo>
                  <a:pt x="464" y="76"/>
                </a:lnTo>
                <a:lnTo>
                  <a:pt x="448" y="79"/>
                </a:lnTo>
                <a:lnTo>
                  <a:pt x="432" y="82"/>
                </a:lnTo>
                <a:lnTo>
                  <a:pt x="415" y="86"/>
                </a:lnTo>
                <a:lnTo>
                  <a:pt x="398" y="89"/>
                </a:lnTo>
                <a:lnTo>
                  <a:pt x="380" y="93"/>
                </a:lnTo>
                <a:lnTo>
                  <a:pt x="345" y="100"/>
                </a:lnTo>
                <a:lnTo>
                  <a:pt x="310" y="108"/>
                </a:lnTo>
                <a:lnTo>
                  <a:pt x="274" y="117"/>
                </a:lnTo>
                <a:lnTo>
                  <a:pt x="240" y="128"/>
                </a:lnTo>
                <a:lnTo>
                  <a:pt x="223" y="132"/>
                </a:lnTo>
                <a:lnTo>
                  <a:pt x="206" y="138"/>
                </a:lnTo>
                <a:lnTo>
                  <a:pt x="190" y="144"/>
                </a:lnTo>
                <a:lnTo>
                  <a:pt x="175" y="150"/>
                </a:lnTo>
                <a:lnTo>
                  <a:pt x="159" y="156"/>
                </a:lnTo>
                <a:lnTo>
                  <a:pt x="145" y="163"/>
                </a:lnTo>
                <a:lnTo>
                  <a:pt x="131" y="169"/>
                </a:lnTo>
                <a:lnTo>
                  <a:pt x="117" y="176"/>
                </a:lnTo>
                <a:lnTo>
                  <a:pt x="104" y="183"/>
                </a:lnTo>
                <a:lnTo>
                  <a:pt x="92" y="191"/>
                </a:lnTo>
                <a:lnTo>
                  <a:pt x="82" y="198"/>
                </a:lnTo>
                <a:lnTo>
                  <a:pt x="71" y="206"/>
                </a:lnTo>
                <a:lnTo>
                  <a:pt x="62" y="214"/>
                </a:lnTo>
                <a:lnTo>
                  <a:pt x="54" y="222"/>
                </a:lnTo>
                <a:lnTo>
                  <a:pt x="47" y="232"/>
                </a:lnTo>
                <a:lnTo>
                  <a:pt x="40" y="241"/>
                </a:lnTo>
                <a:lnTo>
                  <a:pt x="34" y="250"/>
                </a:lnTo>
                <a:lnTo>
                  <a:pt x="28" y="262"/>
                </a:lnTo>
                <a:lnTo>
                  <a:pt x="23" y="273"/>
                </a:lnTo>
                <a:lnTo>
                  <a:pt x="19" y="284"/>
                </a:lnTo>
                <a:lnTo>
                  <a:pt x="14" y="297"/>
                </a:lnTo>
                <a:lnTo>
                  <a:pt x="10" y="310"/>
                </a:lnTo>
                <a:lnTo>
                  <a:pt x="8" y="323"/>
                </a:lnTo>
                <a:lnTo>
                  <a:pt x="6" y="336"/>
                </a:lnTo>
                <a:lnTo>
                  <a:pt x="3" y="350"/>
                </a:lnTo>
                <a:lnTo>
                  <a:pt x="2" y="364"/>
                </a:lnTo>
                <a:lnTo>
                  <a:pt x="1" y="378"/>
                </a:lnTo>
                <a:lnTo>
                  <a:pt x="0" y="391"/>
                </a:lnTo>
                <a:lnTo>
                  <a:pt x="0" y="406"/>
                </a:lnTo>
                <a:lnTo>
                  <a:pt x="0" y="420"/>
                </a:lnTo>
                <a:lnTo>
                  <a:pt x="0" y="434"/>
                </a:lnTo>
                <a:lnTo>
                  <a:pt x="1" y="448"/>
                </a:lnTo>
                <a:lnTo>
                  <a:pt x="2" y="461"/>
                </a:lnTo>
                <a:lnTo>
                  <a:pt x="5" y="475"/>
                </a:lnTo>
                <a:lnTo>
                  <a:pt x="6" y="489"/>
                </a:lnTo>
                <a:lnTo>
                  <a:pt x="8" y="502"/>
                </a:lnTo>
                <a:lnTo>
                  <a:pt x="12" y="514"/>
                </a:lnTo>
                <a:lnTo>
                  <a:pt x="14" y="526"/>
                </a:lnTo>
                <a:lnTo>
                  <a:pt x="17" y="539"/>
                </a:lnTo>
                <a:lnTo>
                  <a:pt x="21" y="551"/>
                </a:lnTo>
                <a:lnTo>
                  <a:pt x="24" y="561"/>
                </a:lnTo>
                <a:lnTo>
                  <a:pt x="28" y="572"/>
                </a:lnTo>
                <a:lnTo>
                  <a:pt x="33" y="582"/>
                </a:lnTo>
                <a:lnTo>
                  <a:pt x="37" y="590"/>
                </a:lnTo>
                <a:lnTo>
                  <a:pt x="42" y="600"/>
                </a:lnTo>
                <a:lnTo>
                  <a:pt x="47" y="607"/>
                </a:lnTo>
                <a:lnTo>
                  <a:pt x="51" y="615"/>
                </a:lnTo>
                <a:lnTo>
                  <a:pt x="57" y="621"/>
                </a:lnTo>
                <a:lnTo>
                  <a:pt x="63" y="627"/>
                </a:lnTo>
                <a:lnTo>
                  <a:pt x="70" y="632"/>
                </a:lnTo>
                <a:lnTo>
                  <a:pt x="77" y="638"/>
                </a:lnTo>
                <a:lnTo>
                  <a:pt x="85" y="643"/>
                </a:lnTo>
                <a:lnTo>
                  <a:pt x="92" y="648"/>
                </a:lnTo>
                <a:lnTo>
                  <a:pt x="101" y="651"/>
                </a:lnTo>
                <a:lnTo>
                  <a:pt x="110" y="656"/>
                </a:lnTo>
                <a:lnTo>
                  <a:pt x="119" y="659"/>
                </a:lnTo>
                <a:lnTo>
                  <a:pt x="128" y="662"/>
                </a:lnTo>
                <a:lnTo>
                  <a:pt x="138" y="665"/>
                </a:lnTo>
                <a:lnTo>
                  <a:pt x="159" y="670"/>
                </a:lnTo>
                <a:lnTo>
                  <a:pt x="180" y="673"/>
                </a:lnTo>
                <a:lnTo>
                  <a:pt x="202" y="677"/>
                </a:lnTo>
                <a:lnTo>
                  <a:pt x="225" y="680"/>
                </a:lnTo>
                <a:lnTo>
                  <a:pt x="248" y="683"/>
                </a:lnTo>
                <a:lnTo>
                  <a:pt x="272" y="685"/>
                </a:lnTo>
                <a:lnTo>
                  <a:pt x="295" y="686"/>
                </a:lnTo>
                <a:lnTo>
                  <a:pt x="319" y="689"/>
                </a:lnTo>
                <a:lnTo>
                  <a:pt x="342" y="692"/>
                </a:lnTo>
                <a:lnTo>
                  <a:pt x="365" y="696"/>
                </a:lnTo>
                <a:lnTo>
                  <a:pt x="377" y="697"/>
                </a:lnTo>
                <a:lnTo>
                  <a:pt x="389" y="698"/>
                </a:lnTo>
                <a:lnTo>
                  <a:pt x="401" y="700"/>
                </a:lnTo>
                <a:lnTo>
                  <a:pt x="413" y="701"/>
                </a:lnTo>
                <a:lnTo>
                  <a:pt x="439" y="704"/>
                </a:lnTo>
                <a:lnTo>
                  <a:pt x="466" y="707"/>
                </a:lnTo>
                <a:lnTo>
                  <a:pt x="492" y="710"/>
                </a:lnTo>
                <a:lnTo>
                  <a:pt x="520" y="711"/>
                </a:lnTo>
                <a:lnTo>
                  <a:pt x="576" y="714"/>
                </a:lnTo>
                <a:lnTo>
                  <a:pt x="604" y="715"/>
                </a:lnTo>
                <a:lnTo>
                  <a:pt x="631" y="717"/>
                </a:lnTo>
                <a:lnTo>
                  <a:pt x="658" y="718"/>
                </a:lnTo>
                <a:lnTo>
                  <a:pt x="684" y="719"/>
                </a:lnTo>
                <a:lnTo>
                  <a:pt x="695" y="719"/>
                </a:lnTo>
                <a:lnTo>
                  <a:pt x="708" y="719"/>
                </a:lnTo>
                <a:lnTo>
                  <a:pt x="720" y="719"/>
                </a:lnTo>
                <a:lnTo>
                  <a:pt x="732" y="719"/>
                </a:lnTo>
                <a:lnTo>
                  <a:pt x="742" y="719"/>
                </a:lnTo>
                <a:lnTo>
                  <a:pt x="753" y="719"/>
                </a:lnTo>
                <a:lnTo>
                  <a:pt x="763" y="719"/>
                </a:lnTo>
                <a:lnTo>
                  <a:pt x="773" y="719"/>
                </a:lnTo>
                <a:lnTo>
                  <a:pt x="782" y="719"/>
                </a:lnTo>
                <a:lnTo>
                  <a:pt x="791" y="719"/>
                </a:lnTo>
                <a:lnTo>
                  <a:pt x="801" y="719"/>
                </a:lnTo>
                <a:lnTo>
                  <a:pt x="809" y="718"/>
                </a:lnTo>
                <a:lnTo>
                  <a:pt x="816" y="718"/>
                </a:lnTo>
                <a:lnTo>
                  <a:pt x="824" y="718"/>
                </a:lnTo>
                <a:lnTo>
                  <a:pt x="839" y="717"/>
                </a:lnTo>
                <a:lnTo>
                  <a:pt x="852" y="715"/>
                </a:lnTo>
                <a:lnTo>
                  <a:pt x="865" y="713"/>
                </a:lnTo>
                <a:lnTo>
                  <a:pt x="876" y="712"/>
                </a:lnTo>
                <a:lnTo>
                  <a:pt x="888" y="710"/>
                </a:lnTo>
                <a:lnTo>
                  <a:pt x="900" y="707"/>
                </a:lnTo>
                <a:lnTo>
                  <a:pt x="910" y="705"/>
                </a:lnTo>
                <a:lnTo>
                  <a:pt x="931" y="700"/>
                </a:lnTo>
                <a:lnTo>
                  <a:pt x="943" y="697"/>
                </a:lnTo>
                <a:lnTo>
                  <a:pt x="953" y="693"/>
                </a:lnTo>
                <a:lnTo>
                  <a:pt x="965" y="691"/>
                </a:lnTo>
                <a:lnTo>
                  <a:pt x="977" y="687"/>
                </a:lnTo>
                <a:lnTo>
                  <a:pt x="990" y="683"/>
                </a:lnTo>
                <a:lnTo>
                  <a:pt x="1002" y="679"/>
                </a:lnTo>
                <a:lnTo>
                  <a:pt x="1015" y="676"/>
                </a:lnTo>
                <a:lnTo>
                  <a:pt x="1029" y="672"/>
                </a:lnTo>
                <a:lnTo>
                  <a:pt x="1056" y="665"/>
                </a:lnTo>
                <a:lnTo>
                  <a:pt x="1070" y="662"/>
                </a:lnTo>
                <a:lnTo>
                  <a:pt x="1083" y="657"/>
                </a:lnTo>
                <a:lnTo>
                  <a:pt x="1096" y="652"/>
                </a:lnTo>
                <a:lnTo>
                  <a:pt x="1109" y="647"/>
                </a:lnTo>
                <a:lnTo>
                  <a:pt x="1120" y="641"/>
                </a:lnTo>
                <a:lnTo>
                  <a:pt x="1132" y="635"/>
                </a:lnTo>
                <a:lnTo>
                  <a:pt x="1142" y="627"/>
                </a:lnTo>
                <a:lnTo>
                  <a:pt x="1152" y="620"/>
                </a:lnTo>
                <a:lnTo>
                  <a:pt x="1160" y="610"/>
                </a:lnTo>
                <a:lnTo>
                  <a:pt x="1165" y="606"/>
                </a:lnTo>
                <a:lnTo>
                  <a:pt x="1168" y="601"/>
                </a:lnTo>
                <a:lnTo>
                  <a:pt x="1174" y="590"/>
                </a:lnTo>
                <a:lnTo>
                  <a:pt x="1180" y="579"/>
                </a:lnTo>
                <a:lnTo>
                  <a:pt x="1184" y="567"/>
                </a:lnTo>
                <a:lnTo>
                  <a:pt x="1188" y="554"/>
                </a:lnTo>
                <a:lnTo>
                  <a:pt x="1191" y="541"/>
                </a:lnTo>
                <a:lnTo>
                  <a:pt x="1194" y="527"/>
                </a:lnTo>
                <a:lnTo>
                  <a:pt x="1195" y="513"/>
                </a:lnTo>
                <a:lnTo>
                  <a:pt x="1196" y="498"/>
                </a:lnTo>
                <a:lnTo>
                  <a:pt x="1197" y="483"/>
                </a:lnTo>
                <a:lnTo>
                  <a:pt x="1197" y="467"/>
                </a:lnTo>
                <a:lnTo>
                  <a:pt x="1197" y="450"/>
                </a:lnTo>
                <a:lnTo>
                  <a:pt x="1197" y="433"/>
                </a:lnTo>
                <a:lnTo>
                  <a:pt x="1197" y="415"/>
                </a:lnTo>
                <a:lnTo>
                  <a:pt x="1197" y="398"/>
                </a:lnTo>
                <a:lnTo>
                  <a:pt x="1197" y="380"/>
                </a:lnTo>
                <a:lnTo>
                  <a:pt x="1196" y="361"/>
                </a:lnTo>
                <a:lnTo>
                  <a:pt x="1196" y="352"/>
                </a:lnTo>
                <a:lnTo>
                  <a:pt x="1196" y="343"/>
                </a:lnTo>
                <a:lnTo>
                  <a:pt x="1196" y="331"/>
                </a:lnTo>
                <a:lnTo>
                  <a:pt x="1196" y="321"/>
                </a:lnTo>
                <a:lnTo>
                  <a:pt x="1197" y="309"/>
                </a:lnTo>
                <a:lnTo>
                  <a:pt x="1197" y="297"/>
                </a:lnTo>
                <a:lnTo>
                  <a:pt x="1197" y="284"/>
                </a:lnTo>
                <a:lnTo>
                  <a:pt x="1197" y="271"/>
                </a:lnTo>
                <a:lnTo>
                  <a:pt x="1198" y="246"/>
                </a:lnTo>
                <a:lnTo>
                  <a:pt x="1198" y="219"/>
                </a:lnTo>
                <a:lnTo>
                  <a:pt x="1198" y="192"/>
                </a:lnTo>
                <a:lnTo>
                  <a:pt x="1197" y="166"/>
                </a:lnTo>
                <a:lnTo>
                  <a:pt x="1196" y="141"/>
                </a:lnTo>
                <a:lnTo>
                  <a:pt x="1196" y="128"/>
                </a:lnTo>
                <a:lnTo>
                  <a:pt x="1195" y="116"/>
                </a:lnTo>
                <a:lnTo>
                  <a:pt x="1194" y="103"/>
                </a:lnTo>
                <a:lnTo>
                  <a:pt x="1191" y="93"/>
                </a:lnTo>
                <a:lnTo>
                  <a:pt x="1190" y="81"/>
                </a:lnTo>
                <a:lnTo>
                  <a:pt x="1188" y="70"/>
                </a:lnTo>
                <a:lnTo>
                  <a:pt x="1186" y="61"/>
                </a:lnTo>
                <a:lnTo>
                  <a:pt x="1183" y="52"/>
                </a:lnTo>
                <a:lnTo>
                  <a:pt x="1180" y="44"/>
                </a:lnTo>
                <a:lnTo>
                  <a:pt x="1176" y="35"/>
                </a:lnTo>
                <a:lnTo>
                  <a:pt x="1173" y="28"/>
                </a:lnTo>
                <a:lnTo>
                  <a:pt x="1169" y="23"/>
                </a:lnTo>
                <a:lnTo>
                  <a:pt x="1165" y="17"/>
                </a:lnTo>
                <a:lnTo>
                  <a:pt x="1160" y="13"/>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67941" name="Line 347"/>
          <p:cNvSpPr>
            <a:spLocks noChangeShapeType="1"/>
          </p:cNvSpPr>
          <p:nvPr/>
        </p:nvSpPr>
        <p:spPr bwMode="auto">
          <a:xfrm>
            <a:off x="4810125" y="2698750"/>
            <a:ext cx="1042988" cy="9525"/>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CA"/>
          </a:p>
        </p:txBody>
      </p:sp>
      <p:grpSp>
        <p:nvGrpSpPr>
          <p:cNvPr id="167942" name="Group 332"/>
          <p:cNvGrpSpPr>
            <a:grpSpLocks/>
          </p:cNvGrpSpPr>
          <p:nvPr/>
        </p:nvGrpSpPr>
        <p:grpSpPr bwMode="auto">
          <a:xfrm>
            <a:off x="4108450" y="2497138"/>
            <a:ext cx="765175" cy="376237"/>
            <a:chOff x="2356" y="1300"/>
            <a:chExt cx="555" cy="194"/>
          </a:xfrm>
        </p:grpSpPr>
        <p:sp>
          <p:nvSpPr>
            <p:cNvPr id="168048"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68049"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68050"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68051" name="Group 329"/>
            <p:cNvGrpSpPr>
              <a:grpSpLocks/>
            </p:cNvGrpSpPr>
            <p:nvPr/>
          </p:nvGrpSpPr>
          <p:grpSpPr bwMode="auto">
            <a:xfrm>
              <a:off x="2468" y="1332"/>
              <a:ext cx="310" cy="60"/>
              <a:chOff x="2468" y="1332"/>
              <a:chExt cx="310" cy="60"/>
            </a:xfrm>
          </p:grpSpPr>
          <p:sp>
            <p:nvSpPr>
              <p:cNvPr id="168054"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68055"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231" name="Line 330"/>
            <p:cNvSpPr>
              <a:spLocks noChangeShapeType="1"/>
            </p:cNvSpPr>
            <p:nvPr/>
          </p:nvSpPr>
          <p:spPr bwMode="auto">
            <a:xfrm>
              <a:off x="2357" y="1361"/>
              <a:ext cx="0" cy="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sp>
          <p:nvSpPr>
            <p:cNvPr id="232" name="Line 331"/>
            <p:cNvSpPr>
              <a:spLocks noChangeShapeType="1"/>
            </p:cNvSpPr>
            <p:nvPr/>
          </p:nvSpPr>
          <p:spPr bwMode="auto">
            <a:xfrm>
              <a:off x="2908"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grpSp>
      <p:grpSp>
        <p:nvGrpSpPr>
          <p:cNvPr id="167943" name="Group 906"/>
          <p:cNvGrpSpPr>
            <a:grpSpLocks/>
          </p:cNvGrpSpPr>
          <p:nvPr/>
        </p:nvGrpSpPr>
        <p:grpSpPr bwMode="auto">
          <a:xfrm>
            <a:off x="4327525" y="2014538"/>
            <a:ext cx="296863" cy="539750"/>
            <a:chOff x="4140" y="429"/>
            <a:chExt cx="1425" cy="2396"/>
          </a:xfrm>
        </p:grpSpPr>
        <p:sp>
          <p:nvSpPr>
            <p:cNvPr id="168016" name="Freeform 907"/>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237" name="Rectangle 908"/>
            <p:cNvSpPr>
              <a:spLocks noChangeArrowheads="1"/>
            </p:cNvSpPr>
            <p:nvPr/>
          </p:nvSpPr>
          <p:spPr bwMode="auto">
            <a:xfrm>
              <a:off x="4209" y="429"/>
              <a:ext cx="1044"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8018" name="Freeform 909"/>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68019" name="Freeform 910"/>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240" name="Rectangle 911"/>
            <p:cNvSpPr>
              <a:spLocks noChangeArrowheads="1"/>
            </p:cNvSpPr>
            <p:nvPr/>
          </p:nvSpPr>
          <p:spPr bwMode="auto">
            <a:xfrm>
              <a:off x="4216" y="690"/>
              <a:ext cx="587"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8021" name="Group 912"/>
            <p:cNvGrpSpPr>
              <a:grpSpLocks/>
            </p:cNvGrpSpPr>
            <p:nvPr/>
          </p:nvGrpSpPr>
          <p:grpSpPr bwMode="auto">
            <a:xfrm>
              <a:off x="4749" y="668"/>
              <a:ext cx="581" cy="145"/>
              <a:chOff x="614" y="2568"/>
              <a:chExt cx="725" cy="139"/>
            </a:xfrm>
          </p:grpSpPr>
          <p:sp>
            <p:nvSpPr>
              <p:cNvPr id="266" name="AutoShape 913"/>
              <p:cNvSpPr>
                <a:spLocks noChangeArrowheads="1"/>
              </p:cNvSpPr>
              <p:nvPr/>
            </p:nvSpPr>
            <p:spPr bwMode="auto">
              <a:xfrm>
                <a:off x="615" y="2569"/>
                <a:ext cx="723" cy="12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67" name="AutoShape 914"/>
              <p:cNvSpPr>
                <a:spLocks noChangeArrowheads="1"/>
              </p:cNvSpPr>
              <p:nvPr/>
            </p:nvSpPr>
            <p:spPr bwMode="auto">
              <a:xfrm>
                <a:off x="634" y="2582"/>
                <a:ext cx="694"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242" name="Rectangle 915"/>
            <p:cNvSpPr>
              <a:spLocks noChangeArrowheads="1"/>
            </p:cNvSpPr>
            <p:nvPr/>
          </p:nvSpPr>
          <p:spPr bwMode="auto">
            <a:xfrm>
              <a:off x="4224" y="1021"/>
              <a:ext cx="594"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8023" name="Group 916"/>
            <p:cNvGrpSpPr>
              <a:grpSpLocks/>
            </p:cNvGrpSpPr>
            <p:nvPr/>
          </p:nvGrpSpPr>
          <p:grpSpPr bwMode="auto">
            <a:xfrm>
              <a:off x="4747" y="994"/>
              <a:ext cx="581" cy="134"/>
              <a:chOff x="614" y="2568"/>
              <a:chExt cx="725" cy="139"/>
            </a:xfrm>
          </p:grpSpPr>
          <p:sp>
            <p:nvSpPr>
              <p:cNvPr id="264" name="AutoShape 917"/>
              <p:cNvSpPr>
                <a:spLocks noChangeArrowheads="1"/>
              </p:cNvSpPr>
              <p:nvPr/>
            </p:nvSpPr>
            <p:spPr bwMode="auto">
              <a:xfrm>
                <a:off x="617" y="2567"/>
                <a:ext cx="723"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65" name="AutoShape 918"/>
              <p:cNvSpPr>
                <a:spLocks noChangeArrowheads="1"/>
              </p:cNvSpPr>
              <p:nvPr/>
            </p:nvSpPr>
            <p:spPr bwMode="auto">
              <a:xfrm>
                <a:off x="627" y="2581"/>
                <a:ext cx="704"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244" name="Rectangle 919"/>
            <p:cNvSpPr>
              <a:spLocks noChangeArrowheads="1"/>
            </p:cNvSpPr>
            <p:nvPr/>
          </p:nvSpPr>
          <p:spPr bwMode="auto">
            <a:xfrm>
              <a:off x="4216" y="1359"/>
              <a:ext cx="594"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45" name="Rectangle 920"/>
            <p:cNvSpPr>
              <a:spLocks noChangeArrowheads="1"/>
            </p:cNvSpPr>
            <p:nvPr/>
          </p:nvSpPr>
          <p:spPr bwMode="auto">
            <a:xfrm>
              <a:off x="4224" y="1655"/>
              <a:ext cx="602"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8026" name="Group 921"/>
            <p:cNvGrpSpPr>
              <a:grpSpLocks/>
            </p:cNvGrpSpPr>
            <p:nvPr/>
          </p:nvGrpSpPr>
          <p:grpSpPr bwMode="auto">
            <a:xfrm>
              <a:off x="4733" y="1630"/>
              <a:ext cx="586" cy="151"/>
              <a:chOff x="611" y="2571"/>
              <a:chExt cx="730" cy="139"/>
            </a:xfrm>
          </p:grpSpPr>
          <p:sp>
            <p:nvSpPr>
              <p:cNvPr id="262" name="AutoShape 922"/>
              <p:cNvSpPr>
                <a:spLocks noChangeArrowheads="1"/>
              </p:cNvSpPr>
              <p:nvPr/>
            </p:nvSpPr>
            <p:spPr bwMode="auto">
              <a:xfrm>
                <a:off x="613" y="2568"/>
                <a:ext cx="731" cy="143"/>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63" name="AutoShape 923"/>
              <p:cNvSpPr>
                <a:spLocks noChangeArrowheads="1"/>
              </p:cNvSpPr>
              <p:nvPr/>
            </p:nvSpPr>
            <p:spPr bwMode="auto">
              <a:xfrm>
                <a:off x="632" y="2588"/>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68027" name="Freeform 924"/>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68028" name="Group 925"/>
            <p:cNvGrpSpPr>
              <a:grpSpLocks/>
            </p:cNvGrpSpPr>
            <p:nvPr/>
          </p:nvGrpSpPr>
          <p:grpSpPr bwMode="auto">
            <a:xfrm>
              <a:off x="4739" y="1327"/>
              <a:ext cx="582" cy="139"/>
              <a:chOff x="614" y="2568"/>
              <a:chExt cx="725" cy="139"/>
            </a:xfrm>
          </p:grpSpPr>
          <p:sp>
            <p:nvSpPr>
              <p:cNvPr id="260" name="AutoShape 926"/>
              <p:cNvSpPr>
                <a:spLocks noChangeArrowheads="1"/>
              </p:cNvSpPr>
              <p:nvPr/>
            </p:nvSpPr>
            <p:spPr bwMode="auto">
              <a:xfrm>
                <a:off x="618" y="2565"/>
                <a:ext cx="712" cy="141"/>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61" name="AutoShape 927"/>
              <p:cNvSpPr>
                <a:spLocks noChangeArrowheads="1"/>
              </p:cNvSpPr>
              <p:nvPr/>
            </p:nvSpPr>
            <p:spPr bwMode="auto">
              <a:xfrm>
                <a:off x="637" y="2579"/>
                <a:ext cx="683"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249" name="Rectangle 928"/>
            <p:cNvSpPr>
              <a:spLocks noChangeArrowheads="1"/>
            </p:cNvSpPr>
            <p:nvPr/>
          </p:nvSpPr>
          <p:spPr bwMode="auto">
            <a:xfrm>
              <a:off x="5253" y="429"/>
              <a:ext cx="69"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8030" name="Freeform 929"/>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68031" name="Freeform 930"/>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252" name="Oval 931"/>
            <p:cNvSpPr>
              <a:spLocks noChangeArrowheads="1"/>
            </p:cNvSpPr>
            <p:nvPr/>
          </p:nvSpPr>
          <p:spPr bwMode="auto">
            <a:xfrm>
              <a:off x="5519" y="2607"/>
              <a:ext cx="46" cy="99"/>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8033" name="Freeform 932"/>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254" name="AutoShape 933"/>
            <p:cNvSpPr>
              <a:spLocks noChangeArrowheads="1"/>
            </p:cNvSpPr>
            <p:nvPr/>
          </p:nvSpPr>
          <p:spPr bwMode="auto">
            <a:xfrm>
              <a:off x="4140" y="2684"/>
              <a:ext cx="1196" cy="141"/>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55" name="AutoShape 934"/>
            <p:cNvSpPr>
              <a:spLocks noChangeArrowheads="1"/>
            </p:cNvSpPr>
            <p:nvPr/>
          </p:nvSpPr>
          <p:spPr bwMode="auto">
            <a:xfrm>
              <a:off x="4209" y="2712"/>
              <a:ext cx="1067"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56" name="Oval 935"/>
            <p:cNvSpPr>
              <a:spLocks noChangeArrowheads="1"/>
            </p:cNvSpPr>
            <p:nvPr/>
          </p:nvSpPr>
          <p:spPr bwMode="auto">
            <a:xfrm>
              <a:off x="4308" y="2388"/>
              <a:ext cx="160" cy="13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57" name="Oval 936"/>
            <p:cNvSpPr>
              <a:spLocks noChangeArrowheads="1"/>
            </p:cNvSpPr>
            <p:nvPr/>
          </p:nvSpPr>
          <p:spPr bwMode="auto">
            <a:xfrm>
              <a:off x="4483" y="2388"/>
              <a:ext cx="160" cy="141"/>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a:solidFill>
                  <a:srgbClr val="FF0000"/>
                </a:solidFill>
                <a:latin typeface="Arial" charset="0"/>
                <a:ea typeface="ＭＳ Ｐゴシック" charset="0"/>
                <a:cs typeface="Arial" charset="0"/>
              </a:endParaRPr>
            </a:p>
          </p:txBody>
        </p:sp>
        <p:sp>
          <p:nvSpPr>
            <p:cNvPr id="258" name="Oval 937"/>
            <p:cNvSpPr>
              <a:spLocks noChangeArrowheads="1"/>
            </p:cNvSpPr>
            <p:nvPr/>
          </p:nvSpPr>
          <p:spPr bwMode="auto">
            <a:xfrm>
              <a:off x="4666" y="2381"/>
              <a:ext cx="152" cy="141"/>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59" name="Rectangle 938"/>
            <p:cNvSpPr>
              <a:spLocks noChangeArrowheads="1"/>
            </p:cNvSpPr>
            <p:nvPr/>
          </p:nvSpPr>
          <p:spPr bwMode="auto">
            <a:xfrm>
              <a:off x="5062" y="1831"/>
              <a:ext cx="84" cy="761"/>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grpSp>
        <p:nvGrpSpPr>
          <p:cNvPr id="167944" name="Group 267"/>
          <p:cNvGrpSpPr>
            <a:grpSpLocks/>
          </p:cNvGrpSpPr>
          <p:nvPr/>
        </p:nvGrpSpPr>
        <p:grpSpPr bwMode="auto">
          <a:xfrm>
            <a:off x="1069975" y="1752600"/>
            <a:ext cx="2365375" cy="1589088"/>
            <a:chOff x="-2187762" y="3855945"/>
            <a:chExt cx="2365375" cy="1590114"/>
          </a:xfrm>
        </p:grpSpPr>
        <p:sp>
          <p:nvSpPr>
            <p:cNvPr id="269" name="Line 20"/>
            <p:cNvSpPr>
              <a:spLocks noChangeShapeType="1"/>
            </p:cNvSpPr>
            <p:nvPr/>
          </p:nvSpPr>
          <p:spPr bwMode="auto">
            <a:xfrm flipH="1">
              <a:off x="-1732149" y="4230837"/>
              <a:ext cx="555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70" name="Line 21"/>
            <p:cNvSpPr>
              <a:spLocks noChangeShapeType="1"/>
            </p:cNvSpPr>
            <p:nvPr/>
          </p:nvSpPr>
          <p:spPr bwMode="auto">
            <a:xfrm flipH="1">
              <a:off x="-1344799" y="4278493"/>
              <a:ext cx="271462" cy="314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71" name="Line 22"/>
            <p:cNvSpPr>
              <a:spLocks noChangeShapeType="1"/>
            </p:cNvSpPr>
            <p:nvPr/>
          </p:nvSpPr>
          <p:spPr bwMode="auto">
            <a:xfrm>
              <a:off x="-925699" y="4307086"/>
              <a:ext cx="73025" cy="29546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grpSp>
          <p:nvGrpSpPr>
            <p:cNvPr id="167962" name="Group 44"/>
            <p:cNvGrpSpPr>
              <a:grpSpLocks/>
            </p:cNvGrpSpPr>
            <p:nvPr/>
          </p:nvGrpSpPr>
          <p:grpSpPr bwMode="auto">
            <a:xfrm>
              <a:off x="-2187762" y="4034772"/>
              <a:ext cx="568325" cy="481012"/>
              <a:chOff x="-44" y="1473"/>
              <a:chExt cx="981" cy="1105"/>
            </a:xfrm>
          </p:grpSpPr>
          <p:pic>
            <p:nvPicPr>
              <p:cNvPr id="168014" name="Picture 45"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015"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67963" name="Group 44"/>
            <p:cNvGrpSpPr>
              <a:grpSpLocks/>
            </p:cNvGrpSpPr>
            <p:nvPr/>
          </p:nvGrpSpPr>
          <p:grpSpPr bwMode="auto">
            <a:xfrm>
              <a:off x="-1252724" y="4523722"/>
              <a:ext cx="568325" cy="481012"/>
              <a:chOff x="-44" y="1473"/>
              <a:chExt cx="981" cy="1105"/>
            </a:xfrm>
          </p:grpSpPr>
          <p:pic>
            <p:nvPicPr>
              <p:cNvPr id="168012" name="Picture 45"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013"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sp>
          <p:nvSpPr>
            <p:cNvPr id="274" name="Line 21"/>
            <p:cNvSpPr>
              <a:spLocks noChangeShapeType="1"/>
            </p:cNvSpPr>
            <p:nvPr/>
          </p:nvSpPr>
          <p:spPr bwMode="auto">
            <a:xfrm>
              <a:off x="-706624" y="4237191"/>
              <a:ext cx="377825" cy="30499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75" name="Line 22"/>
            <p:cNvSpPr>
              <a:spLocks noChangeShapeType="1"/>
            </p:cNvSpPr>
            <p:nvPr/>
          </p:nvSpPr>
          <p:spPr bwMode="auto">
            <a:xfrm flipH="1">
              <a:off x="-474849" y="4732811"/>
              <a:ext cx="120650" cy="2938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76" name="Line 22"/>
            <p:cNvSpPr>
              <a:spLocks noChangeShapeType="1"/>
            </p:cNvSpPr>
            <p:nvPr/>
          </p:nvSpPr>
          <p:spPr bwMode="auto">
            <a:xfrm>
              <a:off x="-70037" y="4743931"/>
              <a:ext cx="73025" cy="29546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77" name="Line 20"/>
            <p:cNvSpPr>
              <a:spLocks noChangeShapeType="1"/>
            </p:cNvSpPr>
            <p:nvPr/>
          </p:nvSpPr>
          <p:spPr bwMode="auto">
            <a:xfrm flipH="1">
              <a:off x="-873312" y="4192712"/>
              <a:ext cx="555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grpSp>
          <p:nvGrpSpPr>
            <p:cNvPr id="167968" name="Group 44"/>
            <p:cNvGrpSpPr>
              <a:grpSpLocks/>
            </p:cNvGrpSpPr>
            <p:nvPr/>
          </p:nvGrpSpPr>
          <p:grpSpPr bwMode="auto">
            <a:xfrm>
              <a:off x="-847912" y="4896784"/>
              <a:ext cx="568325" cy="481013"/>
              <a:chOff x="-44" y="1473"/>
              <a:chExt cx="981" cy="1105"/>
            </a:xfrm>
          </p:grpSpPr>
          <p:pic>
            <p:nvPicPr>
              <p:cNvPr id="168010" name="Picture 45"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011"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67969" name="Group 44"/>
            <p:cNvGrpSpPr>
              <a:grpSpLocks/>
            </p:cNvGrpSpPr>
            <p:nvPr/>
          </p:nvGrpSpPr>
          <p:grpSpPr bwMode="auto">
            <a:xfrm>
              <a:off x="-390712" y="4965047"/>
              <a:ext cx="568325" cy="481012"/>
              <a:chOff x="-44" y="1473"/>
              <a:chExt cx="981" cy="1105"/>
            </a:xfrm>
          </p:grpSpPr>
          <p:pic>
            <p:nvPicPr>
              <p:cNvPr id="168008" name="Picture 45"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009"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pic>
          <p:nvPicPr>
            <p:cNvPr id="28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0349" y="4079928"/>
              <a:ext cx="677862" cy="300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28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462" y="4494532"/>
              <a:ext cx="677863" cy="301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167972" name="Group 44"/>
            <p:cNvGrpSpPr>
              <a:grpSpLocks/>
            </p:cNvGrpSpPr>
            <p:nvPr/>
          </p:nvGrpSpPr>
          <p:grpSpPr bwMode="auto">
            <a:xfrm>
              <a:off x="-568325" y="3855945"/>
              <a:ext cx="568325" cy="481013"/>
              <a:chOff x="-44" y="1473"/>
              <a:chExt cx="981" cy="1105"/>
            </a:xfrm>
          </p:grpSpPr>
          <p:pic>
            <p:nvPicPr>
              <p:cNvPr id="168006" name="Picture 45"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007"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67973" name="Group 906"/>
            <p:cNvGrpSpPr>
              <a:grpSpLocks/>
            </p:cNvGrpSpPr>
            <p:nvPr/>
          </p:nvGrpSpPr>
          <p:grpSpPr bwMode="auto">
            <a:xfrm>
              <a:off x="-1598706" y="4467413"/>
              <a:ext cx="285924" cy="537882"/>
              <a:chOff x="4140" y="429"/>
              <a:chExt cx="1425" cy="2396"/>
            </a:xfrm>
          </p:grpSpPr>
          <p:sp>
            <p:nvSpPr>
              <p:cNvPr id="167974" name="Freeform 907"/>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285" name="Rectangle 908"/>
              <p:cNvSpPr>
                <a:spLocks noChangeArrowheads="1"/>
              </p:cNvSpPr>
              <p:nvPr/>
            </p:nvSpPr>
            <p:spPr bwMode="auto">
              <a:xfrm>
                <a:off x="4211" y="430"/>
                <a:ext cx="1036"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7976" name="Freeform 909"/>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67977" name="Freeform 910"/>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288" name="Rectangle 911"/>
              <p:cNvSpPr>
                <a:spLocks noChangeArrowheads="1"/>
              </p:cNvSpPr>
              <p:nvPr/>
            </p:nvSpPr>
            <p:spPr bwMode="auto">
              <a:xfrm>
                <a:off x="4211" y="691"/>
                <a:ext cx="593" cy="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7979" name="Group 912"/>
              <p:cNvGrpSpPr>
                <a:grpSpLocks/>
              </p:cNvGrpSpPr>
              <p:nvPr/>
            </p:nvGrpSpPr>
            <p:grpSpPr bwMode="auto">
              <a:xfrm>
                <a:off x="4749" y="668"/>
                <a:ext cx="581" cy="145"/>
                <a:chOff x="614" y="2568"/>
                <a:chExt cx="725" cy="139"/>
              </a:xfrm>
            </p:grpSpPr>
            <p:sp>
              <p:nvSpPr>
                <p:cNvPr id="314" name="AutoShape 913"/>
                <p:cNvSpPr>
                  <a:spLocks noChangeArrowheads="1"/>
                </p:cNvSpPr>
                <p:nvPr/>
              </p:nvSpPr>
              <p:spPr bwMode="auto">
                <a:xfrm>
                  <a:off x="614" y="2570"/>
                  <a:ext cx="721" cy="12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315" name="AutoShape 914"/>
                <p:cNvSpPr>
                  <a:spLocks noChangeArrowheads="1"/>
                </p:cNvSpPr>
                <p:nvPr/>
              </p:nvSpPr>
              <p:spPr bwMode="auto">
                <a:xfrm>
                  <a:off x="633" y="2584"/>
                  <a:ext cx="691"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290" name="Rectangle 915"/>
              <p:cNvSpPr>
                <a:spLocks noChangeArrowheads="1"/>
              </p:cNvSpPr>
              <p:nvPr/>
            </p:nvSpPr>
            <p:spPr bwMode="auto">
              <a:xfrm>
                <a:off x="4227" y="1024"/>
                <a:ext cx="593"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7981" name="Group 916"/>
              <p:cNvGrpSpPr>
                <a:grpSpLocks/>
              </p:cNvGrpSpPr>
              <p:nvPr/>
            </p:nvGrpSpPr>
            <p:grpSpPr bwMode="auto">
              <a:xfrm>
                <a:off x="4747" y="994"/>
                <a:ext cx="581" cy="134"/>
                <a:chOff x="614" y="2568"/>
                <a:chExt cx="725" cy="139"/>
              </a:xfrm>
            </p:grpSpPr>
            <p:sp>
              <p:nvSpPr>
                <p:cNvPr id="312" name="AutoShape 917"/>
                <p:cNvSpPr>
                  <a:spLocks noChangeArrowheads="1"/>
                </p:cNvSpPr>
                <p:nvPr/>
              </p:nvSpPr>
              <p:spPr bwMode="auto">
                <a:xfrm>
                  <a:off x="616" y="2570"/>
                  <a:ext cx="721"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313" name="AutoShape 918"/>
                <p:cNvSpPr>
                  <a:spLocks noChangeArrowheads="1"/>
                </p:cNvSpPr>
                <p:nvPr/>
              </p:nvSpPr>
              <p:spPr bwMode="auto">
                <a:xfrm>
                  <a:off x="626" y="2584"/>
                  <a:ext cx="701"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292" name="Rectangle 919"/>
              <p:cNvSpPr>
                <a:spLocks noChangeArrowheads="1"/>
              </p:cNvSpPr>
              <p:nvPr/>
            </p:nvSpPr>
            <p:spPr bwMode="auto">
              <a:xfrm>
                <a:off x="4211" y="1364"/>
                <a:ext cx="601"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93" name="Rectangle 920"/>
              <p:cNvSpPr>
                <a:spLocks noChangeArrowheads="1"/>
              </p:cNvSpPr>
              <p:nvPr/>
            </p:nvSpPr>
            <p:spPr bwMode="auto">
              <a:xfrm>
                <a:off x="4227" y="1661"/>
                <a:ext cx="593"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67984" name="Group 921"/>
              <p:cNvGrpSpPr>
                <a:grpSpLocks/>
              </p:cNvGrpSpPr>
              <p:nvPr/>
            </p:nvGrpSpPr>
            <p:grpSpPr bwMode="auto">
              <a:xfrm>
                <a:off x="4733" y="1630"/>
                <a:ext cx="586" cy="151"/>
                <a:chOff x="611" y="2571"/>
                <a:chExt cx="730" cy="139"/>
              </a:xfrm>
            </p:grpSpPr>
            <p:sp>
              <p:nvSpPr>
                <p:cNvPr id="310" name="AutoShape 922"/>
                <p:cNvSpPr>
                  <a:spLocks noChangeArrowheads="1"/>
                </p:cNvSpPr>
                <p:nvPr/>
              </p:nvSpPr>
              <p:spPr bwMode="auto">
                <a:xfrm>
                  <a:off x="611" y="2573"/>
                  <a:ext cx="729" cy="137"/>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311" name="AutoShape 923"/>
                <p:cNvSpPr>
                  <a:spLocks noChangeArrowheads="1"/>
                </p:cNvSpPr>
                <p:nvPr/>
              </p:nvSpPr>
              <p:spPr bwMode="auto">
                <a:xfrm>
                  <a:off x="631" y="2593"/>
                  <a:ext cx="690"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67985" name="Freeform 924"/>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67986" name="Group 925"/>
              <p:cNvGrpSpPr>
                <a:grpSpLocks/>
              </p:cNvGrpSpPr>
              <p:nvPr/>
            </p:nvGrpSpPr>
            <p:grpSpPr bwMode="auto">
              <a:xfrm>
                <a:off x="4739" y="1327"/>
                <a:ext cx="582" cy="139"/>
                <a:chOff x="614" y="2568"/>
                <a:chExt cx="725" cy="139"/>
              </a:xfrm>
            </p:grpSpPr>
            <p:sp>
              <p:nvSpPr>
                <p:cNvPr id="308" name="AutoShape 926"/>
                <p:cNvSpPr>
                  <a:spLocks noChangeArrowheads="1"/>
                </p:cNvSpPr>
                <p:nvPr/>
              </p:nvSpPr>
              <p:spPr bwMode="auto">
                <a:xfrm>
                  <a:off x="616" y="2569"/>
                  <a:ext cx="710" cy="142"/>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309" name="AutoShape 927"/>
                <p:cNvSpPr>
                  <a:spLocks noChangeArrowheads="1"/>
                </p:cNvSpPr>
                <p:nvPr/>
              </p:nvSpPr>
              <p:spPr bwMode="auto">
                <a:xfrm>
                  <a:off x="636" y="2583"/>
                  <a:ext cx="680"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297" name="Rectangle 928"/>
              <p:cNvSpPr>
                <a:spLocks noChangeArrowheads="1"/>
              </p:cNvSpPr>
              <p:nvPr/>
            </p:nvSpPr>
            <p:spPr bwMode="auto">
              <a:xfrm>
                <a:off x="5247" y="430"/>
                <a:ext cx="71"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7988" name="Freeform 929"/>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67989" name="Freeform 930"/>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00" name="Oval 931"/>
              <p:cNvSpPr>
                <a:spLocks noChangeArrowheads="1"/>
              </p:cNvSpPr>
              <p:nvPr/>
            </p:nvSpPr>
            <p:spPr bwMode="auto">
              <a:xfrm>
                <a:off x="5516" y="2609"/>
                <a:ext cx="47" cy="99"/>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67991" name="Freeform 932"/>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02" name="AutoShape 933"/>
              <p:cNvSpPr>
                <a:spLocks noChangeArrowheads="1"/>
              </p:cNvSpPr>
              <p:nvPr/>
            </p:nvSpPr>
            <p:spPr bwMode="auto">
              <a:xfrm>
                <a:off x="4140" y="2687"/>
                <a:ext cx="1195" cy="142"/>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303" name="AutoShape 934"/>
              <p:cNvSpPr>
                <a:spLocks noChangeArrowheads="1"/>
              </p:cNvSpPr>
              <p:nvPr/>
            </p:nvSpPr>
            <p:spPr bwMode="auto">
              <a:xfrm>
                <a:off x="4211" y="2715"/>
                <a:ext cx="1060"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304" name="Oval 935"/>
              <p:cNvSpPr>
                <a:spLocks noChangeArrowheads="1"/>
              </p:cNvSpPr>
              <p:nvPr/>
            </p:nvSpPr>
            <p:spPr bwMode="auto">
              <a:xfrm>
                <a:off x="4306" y="2390"/>
                <a:ext cx="158" cy="13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305" name="Oval 936"/>
              <p:cNvSpPr>
                <a:spLocks noChangeArrowheads="1"/>
              </p:cNvSpPr>
              <p:nvPr/>
            </p:nvSpPr>
            <p:spPr bwMode="auto">
              <a:xfrm>
                <a:off x="4488" y="2390"/>
                <a:ext cx="158" cy="142"/>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a:solidFill>
                    <a:srgbClr val="FF0000"/>
                  </a:solidFill>
                  <a:latin typeface="Arial" charset="0"/>
                  <a:ea typeface="ＭＳ Ｐゴシック" charset="0"/>
                  <a:cs typeface="Arial" charset="0"/>
                </a:endParaRPr>
              </a:p>
            </p:txBody>
          </p:sp>
          <p:sp>
            <p:nvSpPr>
              <p:cNvPr id="306" name="Oval 937"/>
              <p:cNvSpPr>
                <a:spLocks noChangeArrowheads="1"/>
              </p:cNvSpPr>
              <p:nvPr/>
            </p:nvSpPr>
            <p:spPr bwMode="auto">
              <a:xfrm>
                <a:off x="4662" y="2383"/>
                <a:ext cx="158" cy="142"/>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307" name="Rectangle 938"/>
              <p:cNvSpPr>
                <a:spLocks noChangeArrowheads="1"/>
              </p:cNvSpPr>
              <p:nvPr/>
            </p:nvSpPr>
            <p:spPr bwMode="auto">
              <a:xfrm>
                <a:off x="5057" y="1838"/>
                <a:ext cx="87" cy="757"/>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grpSp>
      <p:pic>
        <p:nvPicPr>
          <p:cNvPr id="167945" name="Picture 19"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550" y="1004888"/>
            <a:ext cx="560546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3"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67947" name="Oval 355"/>
          <p:cNvSpPr>
            <a:spLocks noChangeArrowheads="1"/>
          </p:cNvSpPr>
          <p:nvPr/>
        </p:nvSpPr>
        <p:spPr bwMode="auto">
          <a:xfrm>
            <a:off x="4954588" y="1614488"/>
            <a:ext cx="1435100" cy="407987"/>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7948" name="Rectangle 2"/>
          <p:cNvSpPr>
            <a:spLocks noGrp="1" noChangeArrowheads="1"/>
          </p:cNvSpPr>
          <p:nvPr>
            <p:ph type="title"/>
          </p:nvPr>
        </p:nvSpPr>
        <p:spPr>
          <a:xfrm>
            <a:off x="409575" y="200025"/>
            <a:ext cx="7772400" cy="1143000"/>
          </a:xfrm>
        </p:spPr>
        <p:txBody>
          <a:bodyPr/>
          <a:lstStyle/>
          <a:p>
            <a:r>
              <a:rPr lang="en-US" altLang="en-US" smtClean="0">
                <a:ea typeface="ＭＳ Ｐゴシック" pitchFamily="34" charset="-128"/>
              </a:rPr>
              <a:t>Stateless packet filtering</a:t>
            </a:r>
          </a:p>
        </p:txBody>
      </p:sp>
      <p:sp>
        <p:nvSpPr>
          <p:cNvPr id="167949" name="Rectangle 3"/>
          <p:cNvSpPr>
            <a:spLocks noGrp="1" noChangeArrowheads="1"/>
          </p:cNvSpPr>
          <p:nvPr>
            <p:ph type="body" sz="half" idx="1"/>
          </p:nvPr>
        </p:nvSpPr>
        <p:spPr>
          <a:xfrm>
            <a:off x="477838" y="3711575"/>
            <a:ext cx="7512050" cy="2879725"/>
          </a:xfrm>
        </p:spPr>
        <p:txBody>
          <a:bodyPr/>
          <a:lstStyle/>
          <a:p>
            <a:pPr>
              <a:lnSpc>
                <a:spcPct val="90000"/>
              </a:lnSpc>
            </a:pPr>
            <a:r>
              <a:rPr lang="en-US" altLang="en-US" sz="2400" smtClean="0">
                <a:ea typeface="ＭＳ Ｐゴシック" pitchFamily="34" charset="-128"/>
              </a:rPr>
              <a:t>internal network connected to Internet via</a:t>
            </a:r>
            <a:r>
              <a:rPr lang="en-US" altLang="en-US" sz="2400" smtClean="0">
                <a:solidFill>
                  <a:srgbClr val="FF0000"/>
                </a:solidFill>
                <a:ea typeface="ＭＳ Ｐゴシック" pitchFamily="34" charset="-128"/>
              </a:rPr>
              <a:t> </a:t>
            </a:r>
            <a:r>
              <a:rPr lang="en-US" altLang="en-US" sz="2400" i="1" smtClean="0">
                <a:solidFill>
                  <a:srgbClr val="CC0000"/>
                </a:solidFill>
                <a:ea typeface="ＭＳ Ｐゴシック" pitchFamily="34" charset="-128"/>
              </a:rPr>
              <a:t>router firewall</a:t>
            </a:r>
          </a:p>
          <a:p>
            <a:pPr>
              <a:lnSpc>
                <a:spcPct val="90000"/>
              </a:lnSpc>
            </a:pPr>
            <a:r>
              <a:rPr lang="en-US" altLang="en-US" sz="2400" smtClean="0">
                <a:ea typeface="ＭＳ Ｐゴシック" pitchFamily="34" charset="-128"/>
              </a:rPr>
              <a:t>router</a:t>
            </a:r>
            <a:r>
              <a:rPr lang="en-US" altLang="en-US" sz="2400" i="1" smtClean="0">
                <a:solidFill>
                  <a:srgbClr val="CC0000"/>
                </a:solidFill>
                <a:ea typeface="ＭＳ Ｐゴシック" pitchFamily="34" charset="-128"/>
              </a:rPr>
              <a:t> filters packet-by-packet, </a:t>
            </a:r>
            <a:r>
              <a:rPr lang="en-US" altLang="en-US" sz="2400" smtClean="0">
                <a:ea typeface="ＭＳ Ｐゴシック" pitchFamily="34" charset="-128"/>
              </a:rPr>
              <a:t>decision to forward/drop packet based on:</a:t>
            </a:r>
          </a:p>
          <a:p>
            <a:pPr lvl="1">
              <a:lnSpc>
                <a:spcPct val="90000"/>
              </a:lnSpc>
            </a:pPr>
            <a:r>
              <a:rPr lang="en-US" altLang="en-US" smtClean="0">
                <a:ea typeface="ＭＳ Ｐゴシック" pitchFamily="34" charset="-128"/>
              </a:rPr>
              <a:t>source IP address, destination IP address</a:t>
            </a:r>
          </a:p>
          <a:p>
            <a:pPr lvl="1">
              <a:lnSpc>
                <a:spcPct val="90000"/>
              </a:lnSpc>
            </a:pPr>
            <a:r>
              <a:rPr lang="en-US" altLang="en-US" smtClean="0">
                <a:ea typeface="ＭＳ Ｐゴシック" pitchFamily="34" charset="-128"/>
              </a:rPr>
              <a:t>TCP/UDP source and destination port numbers</a:t>
            </a:r>
          </a:p>
          <a:p>
            <a:pPr lvl="1">
              <a:lnSpc>
                <a:spcPct val="90000"/>
              </a:lnSpc>
            </a:pPr>
            <a:r>
              <a:rPr lang="en-US" altLang="en-US" smtClean="0">
                <a:ea typeface="ＭＳ Ｐゴシック" pitchFamily="34" charset="-128"/>
              </a:rPr>
              <a:t>ICMP message type</a:t>
            </a:r>
          </a:p>
          <a:p>
            <a:pPr lvl="1">
              <a:lnSpc>
                <a:spcPct val="90000"/>
              </a:lnSpc>
            </a:pPr>
            <a:r>
              <a:rPr lang="en-US" altLang="en-US" smtClean="0">
                <a:ea typeface="ＭＳ Ｐゴシック" pitchFamily="34" charset="-128"/>
              </a:rPr>
              <a:t>TCP SYN and ACK bits</a:t>
            </a:r>
          </a:p>
        </p:txBody>
      </p:sp>
      <p:sp>
        <p:nvSpPr>
          <p:cNvPr id="167950" name="Rectangle 349"/>
          <p:cNvSpPr>
            <a:spLocks noChangeArrowheads="1"/>
          </p:cNvSpPr>
          <p:nvPr/>
        </p:nvSpPr>
        <p:spPr bwMode="auto">
          <a:xfrm>
            <a:off x="4908550" y="2462213"/>
            <a:ext cx="493713" cy="88900"/>
          </a:xfrm>
          <a:prstGeom prst="rect">
            <a:avLst/>
          </a:prstGeom>
          <a:solidFill>
            <a:srgbClr val="FF00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7951" name="Line 350"/>
          <p:cNvSpPr>
            <a:spLocks noChangeShapeType="1"/>
          </p:cNvSpPr>
          <p:nvPr/>
        </p:nvSpPr>
        <p:spPr bwMode="auto">
          <a:xfrm flipH="1">
            <a:off x="4711700" y="2378075"/>
            <a:ext cx="50641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67952" name="Rectangle 351"/>
          <p:cNvSpPr>
            <a:spLocks noChangeArrowheads="1"/>
          </p:cNvSpPr>
          <p:nvPr/>
        </p:nvSpPr>
        <p:spPr bwMode="auto">
          <a:xfrm>
            <a:off x="3554413" y="2754313"/>
            <a:ext cx="493712" cy="88900"/>
          </a:xfrm>
          <a:prstGeom prst="rect">
            <a:avLst/>
          </a:prstGeom>
          <a:solidFill>
            <a:srgbClr val="FF0000"/>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7953" name="Line 352"/>
          <p:cNvSpPr>
            <a:spLocks noChangeShapeType="1"/>
          </p:cNvSpPr>
          <p:nvPr/>
        </p:nvSpPr>
        <p:spPr bwMode="auto">
          <a:xfrm flipH="1">
            <a:off x="3709988" y="2911475"/>
            <a:ext cx="506412"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CA"/>
          </a:p>
        </p:txBody>
      </p:sp>
      <p:sp>
        <p:nvSpPr>
          <p:cNvPr id="167954" name="Oval 356"/>
          <p:cNvSpPr>
            <a:spLocks noChangeArrowheads="1"/>
          </p:cNvSpPr>
          <p:nvPr/>
        </p:nvSpPr>
        <p:spPr bwMode="auto">
          <a:xfrm>
            <a:off x="4541838" y="1751013"/>
            <a:ext cx="815975" cy="196850"/>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7955" name="Oval 357"/>
          <p:cNvSpPr>
            <a:spLocks noChangeArrowheads="1"/>
          </p:cNvSpPr>
          <p:nvPr/>
        </p:nvSpPr>
        <p:spPr bwMode="auto">
          <a:xfrm>
            <a:off x="4457700" y="1906588"/>
            <a:ext cx="350838" cy="153987"/>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grpSp>
        <p:nvGrpSpPr>
          <p:cNvPr id="167956" name="Group 2"/>
          <p:cNvGrpSpPr>
            <a:grpSpLocks/>
          </p:cNvGrpSpPr>
          <p:nvPr/>
        </p:nvGrpSpPr>
        <p:grpSpPr bwMode="auto">
          <a:xfrm>
            <a:off x="5894388" y="958850"/>
            <a:ext cx="2897187" cy="1425575"/>
            <a:chOff x="5670550" y="1182688"/>
            <a:chExt cx="2897188" cy="1425575"/>
          </a:xfrm>
        </p:grpSpPr>
        <p:sp>
          <p:nvSpPr>
            <p:cNvPr id="167957" name="Oval 354"/>
            <p:cNvSpPr>
              <a:spLocks noChangeArrowheads="1"/>
            </p:cNvSpPr>
            <p:nvPr/>
          </p:nvSpPr>
          <p:spPr bwMode="auto">
            <a:xfrm>
              <a:off x="5670550" y="1182688"/>
              <a:ext cx="2897188" cy="1404937"/>
            </a:xfrm>
            <a:prstGeom prst="ellipse">
              <a:avLst/>
            </a:prstGeom>
            <a:solidFill>
              <a:schemeClr val="bg1"/>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67958" name="Text Box 353"/>
            <p:cNvSpPr txBox="1">
              <a:spLocks noChangeArrowheads="1"/>
            </p:cNvSpPr>
            <p:nvPr/>
          </p:nvSpPr>
          <p:spPr bwMode="auto">
            <a:xfrm>
              <a:off x="5882437" y="1296988"/>
              <a:ext cx="267176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a:latin typeface="Arial" pitchFamily="34" charset="0"/>
                  <a:cs typeface="Arial" pitchFamily="34" charset="0"/>
                </a:rPr>
                <a:t>Should arriving packet be allowed in? Departing packet let out?</a:t>
              </a:r>
            </a:p>
          </p:txBody>
        </p:sp>
      </p:gr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2"/>
          <p:cNvSpPr>
            <a:spLocks noGrp="1" noChangeArrowheads="1"/>
          </p:cNvSpPr>
          <p:nvPr>
            <p:ph type="title"/>
          </p:nvPr>
        </p:nvSpPr>
        <p:spPr>
          <a:xfrm>
            <a:off x="533400" y="228600"/>
            <a:ext cx="8262938" cy="1143000"/>
          </a:xfrm>
        </p:spPr>
        <p:txBody>
          <a:bodyPr/>
          <a:lstStyle/>
          <a:p>
            <a:r>
              <a:rPr lang="en-US" altLang="en-US" smtClean="0">
                <a:ea typeface="ＭＳ Ｐゴシック" pitchFamily="34" charset="-128"/>
              </a:rPr>
              <a:t>Stateless packet filtering: example</a:t>
            </a:r>
          </a:p>
        </p:txBody>
      </p:sp>
      <p:pic>
        <p:nvPicPr>
          <p:cNvPr id="169986" name="Picture 15"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025" y="1042988"/>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8"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69988" name="Rectangle 4"/>
          <p:cNvSpPr>
            <a:spLocks noGrp="1" noChangeArrowheads="1"/>
          </p:cNvSpPr>
          <p:nvPr>
            <p:ph type="body" sz="half" idx="2"/>
          </p:nvPr>
        </p:nvSpPr>
        <p:spPr>
          <a:xfrm>
            <a:off x="673100" y="1522413"/>
            <a:ext cx="7566025" cy="4183062"/>
          </a:xfrm>
        </p:spPr>
        <p:txBody>
          <a:bodyPr/>
          <a:lstStyle/>
          <a:p>
            <a:r>
              <a:rPr lang="en-US" altLang="en-US" sz="2400" i="1" smtClean="0">
                <a:solidFill>
                  <a:srgbClr val="CC0000"/>
                </a:solidFill>
                <a:ea typeface="ＭＳ Ｐゴシック" pitchFamily="34" charset="-128"/>
              </a:rPr>
              <a:t>example 1: </a:t>
            </a:r>
            <a:r>
              <a:rPr lang="en-US" altLang="en-US" sz="2400" smtClean="0">
                <a:ea typeface="ＭＳ Ｐゴシック" pitchFamily="34" charset="-128"/>
              </a:rPr>
              <a:t>block incoming and outgoing datagrams with IP protocol field = 17 and with either source or dest port = 23</a:t>
            </a:r>
          </a:p>
          <a:p>
            <a:pPr lvl="1"/>
            <a:r>
              <a:rPr lang="en-US" altLang="en-US" i="1" smtClean="0">
                <a:solidFill>
                  <a:srgbClr val="000099"/>
                </a:solidFill>
                <a:ea typeface="ＭＳ Ｐゴシック" pitchFamily="34" charset="-128"/>
              </a:rPr>
              <a:t>result: </a:t>
            </a:r>
            <a:r>
              <a:rPr lang="en-US" altLang="en-US" smtClean="0">
                <a:ea typeface="ＭＳ Ｐゴシック" pitchFamily="34" charset="-128"/>
              </a:rPr>
              <a:t>all incoming, outgoing UDP flows and telnet connections are blocked</a:t>
            </a:r>
          </a:p>
          <a:p>
            <a:r>
              <a:rPr lang="en-US" altLang="en-US" sz="2400" i="1" smtClean="0">
                <a:solidFill>
                  <a:srgbClr val="CC0000"/>
                </a:solidFill>
                <a:ea typeface="ＭＳ Ｐゴシック" pitchFamily="34" charset="-128"/>
              </a:rPr>
              <a:t>example 2: </a:t>
            </a:r>
            <a:r>
              <a:rPr lang="en-US" altLang="en-US" sz="2400" smtClean="0">
                <a:ea typeface="ＭＳ Ｐゴシック" pitchFamily="34" charset="-128"/>
              </a:rPr>
              <a:t>block inbound TCP segments with ACK=0.</a:t>
            </a:r>
          </a:p>
          <a:p>
            <a:pPr lvl="1"/>
            <a:r>
              <a:rPr lang="en-US" altLang="en-US" i="1" smtClean="0">
                <a:solidFill>
                  <a:srgbClr val="000099"/>
                </a:solidFill>
                <a:ea typeface="ＭＳ Ｐゴシック" pitchFamily="34" charset="-128"/>
              </a:rPr>
              <a:t>result: </a:t>
            </a:r>
            <a:r>
              <a:rPr lang="en-US" altLang="en-US" smtClean="0">
                <a:ea typeface="ＭＳ Ｐゴシック" pitchFamily="34" charset="-128"/>
              </a:rPr>
              <a:t>prevents external clients from making TCP connections with internal clients, but allows internal clients to connect to outside.</a:t>
            </a: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3" name="Picture 6" descr="underline_ba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213" y="1023938"/>
            <a:ext cx="82280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1"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graphicFrame>
        <p:nvGraphicFramePr>
          <p:cNvPr id="135196" name="Group 28"/>
          <p:cNvGraphicFramePr>
            <a:graphicFrameLocks noGrp="1"/>
          </p:cNvGraphicFramePr>
          <p:nvPr/>
        </p:nvGraphicFramePr>
        <p:xfrm>
          <a:off x="711200" y="1490663"/>
          <a:ext cx="7854950" cy="4731679"/>
        </p:xfrm>
        <a:graphic>
          <a:graphicData uri="http://schemas.openxmlformats.org/drawingml/2006/table">
            <a:tbl>
              <a:tblPr/>
              <a:tblGrid>
                <a:gridCol w="3929063"/>
                <a:gridCol w="3925887"/>
              </a:tblGrid>
              <a:tr h="500063">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altLang="en-US" sz="2400" b="0" i="1" u="none" strike="noStrike" cap="none" normalizeH="0" baseline="0" smtClean="0">
                          <a:ln>
                            <a:noFill/>
                          </a:ln>
                          <a:solidFill>
                            <a:srgbClr val="000099"/>
                          </a:solidFill>
                          <a:effectLst/>
                          <a:latin typeface="Arial" pitchFamily="34" charset="0"/>
                          <a:ea typeface="ＭＳ Ｐゴシック" pitchFamily="34" charset="-128"/>
                          <a:cs typeface="Arial" pitchFamily="34" charset="0"/>
                        </a:rPr>
                        <a:t>Policy</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ctr" defTabSz="914400" rtl="0" eaLnBrk="0" fontAlgn="base" latinLnBrk="0" hangingPunct="0">
                        <a:lnSpc>
                          <a:spcPct val="100000"/>
                        </a:lnSpc>
                        <a:spcBef>
                          <a:spcPct val="0"/>
                        </a:spcBef>
                        <a:spcAft>
                          <a:spcPct val="50000"/>
                        </a:spcAft>
                        <a:buClrTx/>
                        <a:buSzTx/>
                        <a:buFontTx/>
                        <a:buNone/>
                        <a:tabLst/>
                      </a:pPr>
                      <a:r>
                        <a:rPr kumimoji="0" lang="en-US" altLang="en-US" sz="2400" b="0" i="1" u="none" strike="noStrike" cap="none" normalizeH="0" baseline="0" smtClean="0">
                          <a:ln>
                            <a:noFill/>
                          </a:ln>
                          <a:solidFill>
                            <a:srgbClr val="CC0000"/>
                          </a:solidFill>
                          <a:effectLst/>
                          <a:latin typeface="Arial" pitchFamily="34" charset="0"/>
                          <a:ea typeface="ＭＳ Ｐゴシック" pitchFamily="34" charset="-128"/>
                          <a:cs typeface="Arial" pitchFamily="34" charset="0"/>
                        </a:rPr>
                        <a:t>Firewall Setting</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85800">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50000"/>
                        </a:spcAft>
                        <a:buClrTx/>
                        <a:buSzTx/>
                        <a:buFontTx/>
                        <a:buNone/>
                        <a:tabLst/>
                      </a:pPr>
                      <a:r>
                        <a:rPr kumimoji="0" lang="en-US" altLang="en-US" sz="2000" b="0" i="0" u="none" strike="noStrike" cap="none" normalizeH="0" baseline="0" smtClean="0">
                          <a:ln>
                            <a:noFill/>
                          </a:ln>
                          <a:solidFill>
                            <a:srgbClr val="000099"/>
                          </a:solidFill>
                          <a:effectLst/>
                          <a:latin typeface="Arial" pitchFamily="34" charset="0"/>
                          <a:ea typeface="ＭＳ Ｐゴシック" pitchFamily="34" charset="-128"/>
                          <a:cs typeface="Arial" pitchFamily="34" charset="0"/>
                        </a:rPr>
                        <a:t>No outside Web access.</a:t>
                      </a:r>
                      <a:endParaRPr kumimoji="0" lang="en-US" altLang="en-US" sz="2800" b="0" i="0" u="none" strike="noStrike" cap="none" normalizeH="0" baseline="0" smtClean="0">
                        <a:ln>
                          <a:noFill/>
                        </a:ln>
                        <a:solidFill>
                          <a:srgbClr val="000099"/>
                        </a:solidFill>
                        <a:effectLst/>
                        <a:latin typeface="Arial" pitchFamily="34" charset="0"/>
                        <a:ea typeface="ＭＳ Ｐゴシック" pitchFamily="34" charset="-128"/>
                        <a:cs typeface="Arial" pitchFamily="34" charset="0"/>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50000"/>
                        </a:spcAft>
                        <a:buClrTx/>
                        <a:buSzTx/>
                        <a:buFontTx/>
                        <a:buNone/>
                        <a:tabLst/>
                      </a:pPr>
                      <a:r>
                        <a:rPr kumimoji="0" lang="en-US" altLang="en-US" sz="1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rPr>
                        <a:t>Drop all outgoing packets to any IP address, port 80</a:t>
                      </a:r>
                      <a:endParaRPr kumimoji="0" lang="en-US" altLang="en-US" sz="2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914400">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50000"/>
                        </a:spcAft>
                        <a:buClrTx/>
                        <a:buSzTx/>
                        <a:buFontTx/>
                        <a:buNone/>
                        <a:tabLst/>
                      </a:pPr>
                      <a:r>
                        <a:rPr kumimoji="0" lang="en-US" altLang="en-US" sz="2000" b="0" i="0" u="none" strike="noStrike" cap="none" normalizeH="0" baseline="0" smtClean="0">
                          <a:ln>
                            <a:noFill/>
                          </a:ln>
                          <a:solidFill>
                            <a:srgbClr val="000099"/>
                          </a:solidFill>
                          <a:effectLst/>
                          <a:latin typeface="Arial" pitchFamily="34" charset="0"/>
                          <a:ea typeface="ＭＳ Ｐゴシック" pitchFamily="34" charset="-128"/>
                          <a:cs typeface="Arial" pitchFamily="34" charset="0"/>
                        </a:rPr>
                        <a:t>No incoming TCP connections, except those for institution</a:t>
                      </a:r>
                      <a:r>
                        <a:rPr kumimoji="0" lang="ja-JP" altLang="en-US" sz="2000" b="0" i="0" u="none" strike="noStrike" cap="none" normalizeH="0" baseline="0" smtClean="0">
                          <a:ln>
                            <a:noFill/>
                          </a:ln>
                          <a:solidFill>
                            <a:srgbClr val="000099"/>
                          </a:solidFill>
                          <a:effectLst/>
                          <a:latin typeface="Arial" pitchFamily="34" charset="0"/>
                          <a:ea typeface="ＭＳ Ｐゴシック" pitchFamily="34" charset="-128"/>
                          <a:cs typeface="Arial" pitchFamily="34" charset="0"/>
                        </a:rPr>
                        <a:t>’</a:t>
                      </a:r>
                      <a:r>
                        <a:rPr kumimoji="0" lang="en-US" altLang="ja-JP" sz="2000" b="0" i="0" u="none" strike="noStrike" cap="none" normalizeH="0" baseline="0" smtClean="0">
                          <a:ln>
                            <a:noFill/>
                          </a:ln>
                          <a:solidFill>
                            <a:srgbClr val="000099"/>
                          </a:solidFill>
                          <a:effectLst/>
                          <a:latin typeface="Arial" pitchFamily="34" charset="0"/>
                          <a:ea typeface="ＭＳ Ｐゴシック" pitchFamily="34" charset="-128"/>
                          <a:cs typeface="Arial" pitchFamily="34" charset="0"/>
                        </a:rPr>
                        <a:t>s public Web server only.</a:t>
                      </a:r>
                      <a:endParaRPr kumimoji="0" lang="en-US" altLang="en-US" sz="2800" b="0" i="0" u="none" strike="noStrike" cap="none" normalizeH="0" baseline="0" smtClean="0">
                        <a:ln>
                          <a:noFill/>
                        </a:ln>
                        <a:solidFill>
                          <a:srgbClr val="000099"/>
                        </a:solidFill>
                        <a:effectLst/>
                        <a:latin typeface="Arial" pitchFamily="34" charset="0"/>
                        <a:ea typeface="ＭＳ Ｐゴシック" pitchFamily="34" charset="-128"/>
                        <a:cs typeface="Arial" pitchFamily="34" charset="0"/>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altLang="en-US" sz="1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rPr>
                        <a:t>Drop all incoming TCP SYN packets to any IP except 130.207.244.203, port 80</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812800">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50000"/>
                        </a:spcAft>
                        <a:buClrTx/>
                        <a:buSzTx/>
                        <a:buFontTx/>
                        <a:buNone/>
                        <a:tabLst/>
                      </a:pPr>
                      <a:r>
                        <a:rPr kumimoji="0" lang="en-US" altLang="en-US" sz="2000" b="0" i="0" u="none" strike="noStrike" cap="none" normalizeH="0" baseline="0" smtClean="0">
                          <a:ln>
                            <a:noFill/>
                          </a:ln>
                          <a:solidFill>
                            <a:srgbClr val="000099"/>
                          </a:solidFill>
                          <a:effectLst/>
                          <a:latin typeface="Arial" pitchFamily="34" charset="0"/>
                          <a:ea typeface="ＭＳ Ｐゴシック" pitchFamily="34" charset="-128"/>
                          <a:cs typeface="Arial" pitchFamily="34" charset="0"/>
                        </a:rPr>
                        <a:t>Prevent Web-radios from eating up the available bandwidth.</a:t>
                      </a:r>
                      <a:endParaRPr kumimoji="0" lang="en-US" altLang="en-US" sz="2800" b="0" i="0" u="none" strike="noStrike" cap="none" normalizeH="0" baseline="0" smtClean="0">
                        <a:ln>
                          <a:noFill/>
                        </a:ln>
                        <a:solidFill>
                          <a:srgbClr val="000099"/>
                        </a:solidFill>
                        <a:effectLst/>
                        <a:latin typeface="Arial" pitchFamily="34" charset="0"/>
                        <a:ea typeface="ＭＳ Ｐゴシック" pitchFamily="34" charset="-128"/>
                        <a:cs typeface="Arial" pitchFamily="34" charset="0"/>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50000"/>
                        </a:spcAft>
                        <a:buClrTx/>
                        <a:buSzTx/>
                        <a:buFontTx/>
                        <a:buNone/>
                        <a:tabLst/>
                      </a:pPr>
                      <a:r>
                        <a:rPr kumimoji="0" lang="en-US" altLang="en-US" sz="1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rPr>
                        <a:t>Drop all incoming UDP packets - except DNS and router broadcasts.</a:t>
                      </a:r>
                      <a:endParaRPr kumimoji="0" lang="en-US" altLang="en-US" sz="2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822325">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50000"/>
                        </a:spcAft>
                        <a:buClrTx/>
                        <a:buSzTx/>
                        <a:buFontTx/>
                        <a:buNone/>
                        <a:tabLst/>
                      </a:pPr>
                      <a:r>
                        <a:rPr kumimoji="0" lang="en-US" altLang="en-US" sz="2000" b="0" i="0" u="none" strike="noStrike" cap="none" normalizeH="0" baseline="0" smtClean="0">
                          <a:ln>
                            <a:noFill/>
                          </a:ln>
                          <a:solidFill>
                            <a:srgbClr val="000099"/>
                          </a:solidFill>
                          <a:effectLst/>
                          <a:latin typeface="Arial" pitchFamily="34" charset="0"/>
                          <a:ea typeface="ＭＳ Ｐゴシック" pitchFamily="34" charset="-128"/>
                          <a:cs typeface="Arial" pitchFamily="34" charset="0"/>
                        </a:rPr>
                        <a:t>Prevent your network from being used for a smurf DoS attack.</a:t>
                      </a:r>
                      <a:endParaRPr kumimoji="0" lang="en-US" altLang="en-US" sz="2800" b="0" i="0" u="none" strike="noStrike" cap="none" normalizeH="0" baseline="0" smtClean="0">
                        <a:ln>
                          <a:noFill/>
                        </a:ln>
                        <a:solidFill>
                          <a:srgbClr val="000099"/>
                        </a:solidFill>
                        <a:effectLst/>
                        <a:latin typeface="Arial" pitchFamily="34" charset="0"/>
                        <a:ea typeface="ＭＳ Ｐゴシック" pitchFamily="34" charset="-128"/>
                        <a:cs typeface="Arial" pitchFamily="34" charset="0"/>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50000"/>
                        </a:spcAft>
                        <a:buClrTx/>
                        <a:buSzTx/>
                        <a:buFontTx/>
                        <a:buNone/>
                        <a:tabLst/>
                      </a:pPr>
                      <a:r>
                        <a:rPr kumimoji="0" lang="en-US" altLang="en-US" sz="1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rPr>
                        <a:t>Drop all ICMP packets going to a </a:t>
                      </a:r>
                      <a:r>
                        <a:rPr kumimoji="0" lang="ja-JP" altLang="en-US" sz="1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rPr>
                        <a:t>“</a:t>
                      </a:r>
                      <a:r>
                        <a:rPr kumimoji="0" lang="en-US" altLang="ja-JP" sz="1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rPr>
                        <a:t>broadcast</a:t>
                      </a:r>
                      <a:r>
                        <a:rPr kumimoji="0" lang="ja-JP" altLang="en-US" sz="1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rPr>
                        <a:t>”</a:t>
                      </a:r>
                      <a:r>
                        <a:rPr kumimoji="0" lang="en-US" altLang="ja-JP" sz="1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rPr>
                        <a:t> address (e.g. 130.207.255.255).</a:t>
                      </a:r>
                      <a:endParaRPr kumimoji="0" lang="en-US" altLang="en-US" sz="2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812800">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50000"/>
                        </a:spcAft>
                        <a:buClrTx/>
                        <a:buSzTx/>
                        <a:buFontTx/>
                        <a:buNone/>
                        <a:tabLst/>
                      </a:pPr>
                      <a:r>
                        <a:rPr kumimoji="0" lang="en-US" altLang="en-US" sz="2000" b="0" i="0" u="none" strike="noStrike" cap="none" normalizeH="0" baseline="0" smtClean="0">
                          <a:ln>
                            <a:noFill/>
                          </a:ln>
                          <a:solidFill>
                            <a:srgbClr val="000099"/>
                          </a:solidFill>
                          <a:effectLst/>
                          <a:latin typeface="Arial" pitchFamily="34" charset="0"/>
                          <a:ea typeface="ＭＳ Ｐゴシック" pitchFamily="34" charset="-128"/>
                          <a:cs typeface="Arial" pitchFamily="34" charset="0"/>
                        </a:rPr>
                        <a:t>Prevent your network from being tracerouted</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00099"/>
                        </a:buClr>
                        <a:buSzPct val="70000"/>
                        <a:buFont typeface="Wingdings" pitchFamily="2" charset="2"/>
                        <a:defRPr sz="2400">
                          <a:solidFill>
                            <a:schemeClr val="tx1"/>
                          </a:solidFill>
                          <a:latin typeface="Gill Sans MT" pitchFamily="34" charset="0"/>
                          <a:ea typeface="ＭＳ Ｐゴシック" pitchFamily="34" charset="-128"/>
                        </a:defRPr>
                      </a:lvl1pPr>
                      <a:lvl2pPr marL="742950" indent="-285750">
                        <a:spcBef>
                          <a:spcPct val="20000"/>
                        </a:spcBef>
                        <a:buClr>
                          <a:srgbClr val="000099"/>
                        </a:buClr>
                        <a:buFont typeface="Wingdings" pitchFamily="2" charset="2"/>
                        <a:defRPr sz="2000">
                          <a:solidFill>
                            <a:schemeClr val="tx1"/>
                          </a:solidFill>
                          <a:latin typeface="Gill Sans MT" pitchFamily="34" charset="0"/>
                          <a:ea typeface="ＭＳ Ｐゴシック" pitchFamily="34" charset="-128"/>
                        </a:defRPr>
                      </a:lvl2pPr>
                      <a:lvl3pPr marL="1143000" indent="-228600">
                        <a:spcBef>
                          <a:spcPct val="20000"/>
                        </a:spcBef>
                        <a:defRPr>
                          <a:solidFill>
                            <a:schemeClr val="tx1"/>
                          </a:solidFill>
                          <a:latin typeface="Comic Sans MS" pitchFamily="66"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50000"/>
                        </a:spcAft>
                        <a:buClrTx/>
                        <a:buSzTx/>
                        <a:buFontTx/>
                        <a:buNone/>
                        <a:tabLst/>
                      </a:pPr>
                      <a:r>
                        <a:rPr kumimoji="0" lang="en-US" altLang="en-US" sz="1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rPr>
                        <a:t>Drop all outgoing ICMP TTL expired traffic</a:t>
                      </a:r>
                      <a:endParaRPr kumimoji="0" lang="en-US" altLang="en-US" sz="2800" b="0" i="0" u="none" strike="noStrike" cap="none" normalizeH="0" baseline="0" smtClean="0">
                        <a:ln>
                          <a:noFill/>
                        </a:ln>
                        <a:solidFill>
                          <a:srgbClr val="CC0000"/>
                        </a:solidFill>
                        <a:effectLst/>
                        <a:latin typeface="Arial" pitchFamily="34" charset="0"/>
                        <a:ea typeface="ＭＳ Ｐゴシック" pitchFamily="34" charset="-128"/>
                        <a:cs typeface="Arial" pitchFamily="34" charset="0"/>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172058" name="Rectangle 26"/>
          <p:cNvSpPr>
            <a:spLocks noGrp="1" noChangeArrowheads="1"/>
          </p:cNvSpPr>
          <p:nvPr>
            <p:ph type="title"/>
          </p:nvPr>
        </p:nvSpPr>
        <p:spPr>
          <a:xfrm>
            <a:off x="247650" y="228600"/>
            <a:ext cx="8786813" cy="1143000"/>
          </a:xfrm>
          <a:noFill/>
        </p:spPr>
        <p:txBody>
          <a:bodyPr/>
          <a:lstStyle/>
          <a:p>
            <a:r>
              <a:rPr lang="en-US" altLang="en-US" sz="4000" smtClean="0">
                <a:ea typeface="ＭＳ Ｐゴシック" pitchFamily="34" charset="-128"/>
              </a:rPr>
              <a:t>Stateless packet filtering</a:t>
            </a:r>
            <a:r>
              <a:rPr lang="en-US" altLang="en-US" sz="3600" smtClean="0">
                <a:ea typeface="ＭＳ Ｐゴシック" pitchFamily="34" charset="-128"/>
              </a:rPr>
              <a:t>: more examples</a:t>
            </a: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graphicFrame>
        <p:nvGraphicFramePr>
          <p:cNvPr id="136255" name="Group 63"/>
          <p:cNvGraphicFramePr>
            <a:graphicFrameLocks noGrp="1"/>
          </p:cNvGraphicFramePr>
          <p:nvPr/>
        </p:nvGraphicFramePr>
        <p:xfrm>
          <a:off x="433388" y="2420938"/>
          <a:ext cx="8418512" cy="3903790"/>
        </p:xfrm>
        <a:graphic>
          <a:graphicData uri="http://schemas.openxmlformats.org/drawingml/2006/table">
            <a:tbl>
              <a:tblPr/>
              <a:tblGrid>
                <a:gridCol w="1228045"/>
                <a:gridCol w="1229708"/>
                <a:gridCol w="1329413"/>
                <a:gridCol w="1243002"/>
                <a:gridCol w="1115046"/>
                <a:gridCol w="1229708"/>
                <a:gridCol w="1043590"/>
              </a:tblGrid>
              <a:tr h="693102">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dirty="0" smtClean="0">
                          <a:ln>
                            <a:noFill/>
                          </a:ln>
                          <a:solidFill>
                            <a:schemeClr val="tx1"/>
                          </a:solidFill>
                          <a:effectLst/>
                          <a:latin typeface="Arial"/>
                          <a:cs typeface="Arial"/>
                        </a:rPr>
                        <a:t>action</a:t>
                      </a:r>
                    </a:p>
                  </a:txBody>
                  <a:tcPr marL="91427" marR="91427" marT="44815" marB="448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source</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address</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dest</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address</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protocol</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source</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port</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dest</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port</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flag</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bit</a:t>
                      </a:r>
                    </a:p>
                  </a:txBody>
                  <a:tcPr marL="91427" marR="91427" marT="44815" marB="448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93102">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allow</a:t>
                      </a:r>
                    </a:p>
                  </a:txBody>
                  <a:tcPr marL="91427" marR="91427" marT="44815" marB="448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222.22/16</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outside of</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222.22/16</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TCP</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&gt; 1023</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80</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any</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800" b="0" i="0" u="none" strike="noStrike" cap="none" normalizeH="0" baseline="0" smtClean="0">
                        <a:ln>
                          <a:noFill/>
                        </a:ln>
                        <a:solidFill>
                          <a:schemeClr val="tx1"/>
                        </a:solidFill>
                        <a:effectLst/>
                        <a:latin typeface="Arial"/>
                        <a:cs typeface="Arial"/>
                      </a:endParaRPr>
                    </a:p>
                  </a:txBody>
                  <a:tcPr marL="91427" marR="91427" marT="44815" marB="448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9127">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allow</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800" b="0" i="0" u="none" strike="noStrike" cap="none" normalizeH="0" baseline="0" smtClean="0">
                        <a:ln>
                          <a:noFill/>
                        </a:ln>
                        <a:solidFill>
                          <a:schemeClr val="tx1"/>
                        </a:solidFill>
                        <a:effectLst/>
                        <a:latin typeface="Arial"/>
                        <a:cs typeface="Arial"/>
                      </a:endParaRPr>
                    </a:p>
                  </a:txBody>
                  <a:tcPr marL="91427" marR="91427" marT="44815" marB="448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outside of</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222.22/16</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222.22/16</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800" b="0" i="0" u="none" strike="noStrike" cap="none" normalizeH="0" baseline="0" smtClean="0">
                        <a:ln>
                          <a:noFill/>
                        </a:ln>
                        <a:solidFill>
                          <a:schemeClr val="tx1"/>
                        </a:solidFill>
                        <a:effectLst/>
                        <a:latin typeface="Arial"/>
                        <a:cs typeface="Arial"/>
                      </a:endParaRP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TCP</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80</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&gt; 1023</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ACK</a:t>
                      </a:r>
                    </a:p>
                  </a:txBody>
                  <a:tcPr marL="91427" marR="91427" marT="44815" marB="448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3102">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allow</a:t>
                      </a:r>
                    </a:p>
                  </a:txBody>
                  <a:tcPr marL="91427" marR="91427" marT="44815" marB="448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222.22/16</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outside of</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222.22/16</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UDP</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&gt; 1023</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53</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t>
                      </a:r>
                    </a:p>
                  </a:txBody>
                  <a:tcPr marL="91427" marR="91427" marT="44815" marB="448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3102">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allow</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800" b="0" i="0" u="none" strike="noStrike" cap="none" normalizeH="0" baseline="0" smtClean="0">
                        <a:ln>
                          <a:noFill/>
                        </a:ln>
                        <a:solidFill>
                          <a:schemeClr val="tx1"/>
                        </a:solidFill>
                        <a:effectLst/>
                        <a:latin typeface="Arial"/>
                        <a:cs typeface="Arial"/>
                      </a:endParaRPr>
                    </a:p>
                  </a:txBody>
                  <a:tcPr marL="91427" marR="91427" marT="44815" marB="448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outside of</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222.22/16</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222.22/16</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800" b="0" i="0" u="none" strike="noStrike" cap="none" normalizeH="0" baseline="0" smtClean="0">
                        <a:ln>
                          <a:noFill/>
                        </a:ln>
                        <a:solidFill>
                          <a:schemeClr val="tx1"/>
                        </a:solidFill>
                        <a:effectLst/>
                        <a:latin typeface="Arial"/>
                        <a:cs typeface="Arial"/>
                      </a:endParaRP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UDP</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53</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&gt; 1023</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t>
                      </a:r>
                    </a:p>
                  </a:txBody>
                  <a:tcPr marL="91427" marR="91427" marT="44815" marB="448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2127">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deny</a:t>
                      </a:r>
                    </a:p>
                  </a:txBody>
                  <a:tcPr marL="91427" marR="91427" marT="44815" marB="448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all</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all</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all</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all</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smtClean="0">
                          <a:ln>
                            <a:noFill/>
                          </a:ln>
                          <a:solidFill>
                            <a:schemeClr val="tx1"/>
                          </a:solidFill>
                          <a:effectLst/>
                          <a:latin typeface="Arial"/>
                          <a:cs typeface="Arial"/>
                        </a:rPr>
                        <a:t>all</a:t>
                      </a:r>
                    </a:p>
                  </a:txBody>
                  <a:tcPr marL="91427" marR="91427" marT="44815" marB="448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800" b="0" i="0" u="none" strike="noStrike" cap="none" normalizeH="0" baseline="0" dirty="0" smtClean="0">
                          <a:ln>
                            <a:noFill/>
                          </a:ln>
                          <a:solidFill>
                            <a:schemeClr val="tx1"/>
                          </a:solidFill>
                          <a:effectLst/>
                          <a:latin typeface="Arial"/>
                          <a:cs typeface="Arial"/>
                        </a:rPr>
                        <a:t>all</a:t>
                      </a:r>
                    </a:p>
                  </a:txBody>
                  <a:tcPr marL="91427" marR="91427" marT="44815" marB="448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4140" name="Rectangle 60"/>
          <p:cNvSpPr>
            <a:spLocks noGrp="1" noChangeArrowheads="1"/>
          </p:cNvSpPr>
          <p:nvPr>
            <p:ph type="title"/>
          </p:nvPr>
        </p:nvSpPr>
        <p:spPr>
          <a:noFill/>
        </p:spPr>
        <p:txBody>
          <a:bodyPr/>
          <a:lstStyle/>
          <a:p>
            <a:r>
              <a:rPr lang="en-US" altLang="en-US" smtClean="0">
                <a:ea typeface="ＭＳ Ｐゴシック" pitchFamily="34" charset="-128"/>
              </a:rPr>
              <a:t>Access Control Lists</a:t>
            </a:r>
          </a:p>
        </p:txBody>
      </p:sp>
      <p:sp>
        <p:nvSpPr>
          <p:cNvPr id="174141" name="Rectangle 61"/>
          <p:cNvSpPr>
            <a:spLocks noChangeArrowheads="1"/>
          </p:cNvSpPr>
          <p:nvPr/>
        </p:nvSpPr>
        <p:spPr bwMode="auto">
          <a:xfrm>
            <a:off x="522288" y="1284288"/>
            <a:ext cx="7772400"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rgbClr val="000099"/>
              </a:buClr>
              <a:buSzPct val="75000"/>
              <a:buFont typeface="Wingdings" pitchFamily="2" charset="2"/>
              <a:buChar char="v"/>
            </a:pPr>
            <a:r>
              <a:rPr lang="en-US" altLang="en-US" sz="3200" i="1">
                <a:solidFill>
                  <a:srgbClr val="CC0000"/>
                </a:solidFill>
                <a:latin typeface="Gill Sans MT" pitchFamily="34" charset="0"/>
              </a:rPr>
              <a:t>ACL:</a:t>
            </a:r>
            <a:r>
              <a:rPr lang="en-US" altLang="en-US" sz="2400">
                <a:solidFill>
                  <a:srgbClr val="CC0000"/>
                </a:solidFill>
                <a:latin typeface="Gill Sans MT" pitchFamily="34" charset="0"/>
              </a:rPr>
              <a:t> </a:t>
            </a:r>
            <a:r>
              <a:rPr lang="en-US" altLang="en-US" sz="2400">
                <a:latin typeface="Gill Sans MT" pitchFamily="34" charset="0"/>
              </a:rPr>
              <a:t>table of rules, applied top to bottom to incoming packets: (action, condition) pairs</a:t>
            </a:r>
          </a:p>
        </p:txBody>
      </p:sp>
      <p:pic>
        <p:nvPicPr>
          <p:cNvPr id="174142" name="Picture 21"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 y="1060450"/>
            <a:ext cx="5027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129" name="Picture 20"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1020763"/>
            <a:ext cx="54848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79"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76131" name="Rectangle 3"/>
          <p:cNvSpPr>
            <a:spLocks noGrp="1" noChangeArrowheads="1"/>
          </p:cNvSpPr>
          <p:nvPr>
            <p:ph type="title"/>
          </p:nvPr>
        </p:nvSpPr>
        <p:spPr>
          <a:xfrm>
            <a:off x="409575" y="200025"/>
            <a:ext cx="7772400" cy="1143000"/>
          </a:xfrm>
        </p:spPr>
        <p:txBody>
          <a:bodyPr/>
          <a:lstStyle/>
          <a:p>
            <a:r>
              <a:rPr lang="en-US" altLang="en-US" smtClean="0">
                <a:ea typeface="ＭＳ Ｐゴシック" pitchFamily="34" charset="-128"/>
              </a:rPr>
              <a:t>Stateful packet filtering</a:t>
            </a:r>
          </a:p>
        </p:txBody>
      </p:sp>
      <p:sp>
        <p:nvSpPr>
          <p:cNvPr id="176132" name="Rectangle 4"/>
          <p:cNvSpPr>
            <a:spLocks noGrp="1" noChangeArrowheads="1"/>
          </p:cNvSpPr>
          <p:nvPr>
            <p:ph type="body" sz="half" idx="1"/>
          </p:nvPr>
        </p:nvSpPr>
        <p:spPr>
          <a:xfrm>
            <a:off x="488950" y="1312863"/>
            <a:ext cx="7512050" cy="4592637"/>
          </a:xfrm>
        </p:spPr>
        <p:txBody>
          <a:bodyPr/>
          <a:lstStyle/>
          <a:p>
            <a:r>
              <a:rPr lang="en-US" altLang="en-US" sz="2400" i="1" smtClean="0">
                <a:solidFill>
                  <a:srgbClr val="CC0000"/>
                </a:solidFill>
                <a:ea typeface="ＭＳ Ｐゴシック" pitchFamily="34" charset="-128"/>
              </a:rPr>
              <a:t>stateless packet filter: </a:t>
            </a:r>
            <a:r>
              <a:rPr lang="en-US" altLang="en-US" sz="2400" smtClean="0">
                <a:ea typeface="ＭＳ Ｐゴシック" pitchFamily="34" charset="-128"/>
              </a:rPr>
              <a:t>heavy handed tool</a:t>
            </a:r>
          </a:p>
          <a:p>
            <a:pPr lvl="1"/>
            <a:r>
              <a:rPr lang="en-US" altLang="en-US" sz="2200" smtClean="0">
                <a:ea typeface="ＭＳ Ｐゴシック" pitchFamily="34" charset="-128"/>
              </a:rPr>
              <a:t>admits packets that </a:t>
            </a:r>
            <a:r>
              <a:rPr lang="ja-JP" altLang="en-US" sz="2200" smtClean="0">
                <a:ea typeface="ＭＳ Ｐゴシック" pitchFamily="34" charset="-128"/>
              </a:rPr>
              <a:t>“</a:t>
            </a:r>
            <a:r>
              <a:rPr lang="en-US" altLang="ja-JP" sz="2200" smtClean="0">
                <a:ea typeface="ＭＳ Ｐゴシック" pitchFamily="34" charset="-128"/>
              </a:rPr>
              <a:t>make no sense,</a:t>
            </a:r>
            <a:r>
              <a:rPr lang="ja-JP" altLang="en-US" sz="2200" smtClean="0">
                <a:ea typeface="ＭＳ Ｐゴシック" pitchFamily="34" charset="-128"/>
              </a:rPr>
              <a:t>”</a:t>
            </a:r>
            <a:r>
              <a:rPr lang="en-US" altLang="ja-JP" sz="2200" smtClean="0">
                <a:ea typeface="ＭＳ Ｐゴシック" pitchFamily="34" charset="-128"/>
              </a:rPr>
              <a:t> e.g., dest port = 80, ACK bit set, even though no TCP connection established:</a:t>
            </a:r>
            <a:endParaRPr lang="en-US" altLang="en-US" sz="2200" smtClean="0">
              <a:ea typeface="ＭＳ Ｐゴシック" pitchFamily="34" charset="-128"/>
            </a:endParaRPr>
          </a:p>
        </p:txBody>
      </p:sp>
      <p:graphicFrame>
        <p:nvGraphicFramePr>
          <p:cNvPr id="137248" name="Group 32"/>
          <p:cNvGraphicFramePr>
            <a:graphicFrameLocks noGrp="1"/>
          </p:cNvGraphicFramePr>
          <p:nvPr/>
        </p:nvGraphicFramePr>
        <p:xfrm>
          <a:off x="895350" y="2743200"/>
          <a:ext cx="7643813" cy="1325751"/>
        </p:xfrm>
        <a:graphic>
          <a:graphicData uri="http://schemas.openxmlformats.org/drawingml/2006/table">
            <a:tbl>
              <a:tblPr/>
              <a:tblGrid>
                <a:gridCol w="1114425"/>
                <a:gridCol w="1117600"/>
                <a:gridCol w="1206500"/>
                <a:gridCol w="1128713"/>
                <a:gridCol w="1012825"/>
                <a:gridCol w="1116012"/>
                <a:gridCol w="947738"/>
              </a:tblGrid>
              <a:tr h="626718">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action</a:t>
                      </a:r>
                    </a:p>
                  </a:txBody>
                  <a:tcPr marT="45229" marB="452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source</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address</a:t>
                      </a:r>
                    </a:p>
                  </a:txBody>
                  <a:tcPr marT="45229" marB="452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dest</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address</a:t>
                      </a:r>
                    </a:p>
                  </a:txBody>
                  <a:tcPr marT="45229" marB="452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protocol</a:t>
                      </a:r>
                    </a:p>
                  </a:txBody>
                  <a:tcPr marT="45229" marB="452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source</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port</a:t>
                      </a:r>
                    </a:p>
                  </a:txBody>
                  <a:tcPr marT="45229" marB="452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dest</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port</a:t>
                      </a:r>
                    </a:p>
                  </a:txBody>
                  <a:tcPr marT="45229" marB="452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flag</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1" i="0" u="none" strike="noStrike" cap="none" normalizeH="0" baseline="0" smtClean="0">
                          <a:ln>
                            <a:noFill/>
                          </a:ln>
                          <a:solidFill>
                            <a:schemeClr val="tx1"/>
                          </a:solidFill>
                          <a:effectLst/>
                          <a:latin typeface="Arial"/>
                          <a:cs typeface="Arial"/>
                        </a:rPr>
                        <a:t>bit</a:t>
                      </a:r>
                    </a:p>
                  </a:txBody>
                  <a:tcPr marT="45229" marB="452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98845">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0" i="0" u="none" strike="noStrike" cap="none" normalizeH="0" baseline="0" smtClean="0">
                          <a:ln>
                            <a:noFill/>
                          </a:ln>
                          <a:solidFill>
                            <a:schemeClr val="tx1"/>
                          </a:solidFill>
                          <a:effectLst/>
                          <a:latin typeface="Arial"/>
                          <a:cs typeface="Arial"/>
                        </a:rPr>
                        <a:t>allow</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600" b="0" i="0" u="none" strike="noStrike" cap="none" normalizeH="0" baseline="0" smtClean="0">
                        <a:ln>
                          <a:noFill/>
                        </a:ln>
                        <a:solidFill>
                          <a:schemeClr val="tx1"/>
                        </a:solidFill>
                        <a:effectLst/>
                        <a:latin typeface="Arial"/>
                        <a:cs typeface="Arial"/>
                      </a:endParaRPr>
                    </a:p>
                  </a:txBody>
                  <a:tcPr marT="45229" marB="452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0" i="0" u="none" strike="noStrike" cap="none" normalizeH="0" baseline="0" smtClean="0">
                          <a:ln>
                            <a:noFill/>
                          </a:ln>
                          <a:solidFill>
                            <a:schemeClr val="tx1"/>
                          </a:solidFill>
                          <a:effectLst/>
                          <a:latin typeface="Arial"/>
                          <a:cs typeface="Arial"/>
                        </a:rPr>
                        <a:t>outside of</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0" i="0" u="none" strike="noStrike" cap="none" normalizeH="0" baseline="0" smtClean="0">
                          <a:ln>
                            <a:noFill/>
                          </a:ln>
                          <a:solidFill>
                            <a:schemeClr val="tx1"/>
                          </a:solidFill>
                          <a:effectLst/>
                          <a:latin typeface="Arial"/>
                          <a:cs typeface="Arial"/>
                        </a:rPr>
                        <a:t>222.22/16</a:t>
                      </a:r>
                    </a:p>
                  </a:txBody>
                  <a:tcPr marT="45229" marB="452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0" i="0" u="none" strike="noStrike" cap="none" normalizeH="0" baseline="0" smtClean="0">
                          <a:ln>
                            <a:noFill/>
                          </a:ln>
                          <a:solidFill>
                            <a:schemeClr val="tx1"/>
                          </a:solidFill>
                          <a:effectLst/>
                          <a:latin typeface="Arial"/>
                          <a:cs typeface="Arial"/>
                        </a:rPr>
                        <a:t>222.22/16</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600" b="0" i="0" u="none" strike="noStrike" cap="none" normalizeH="0" baseline="0" smtClean="0">
                        <a:ln>
                          <a:noFill/>
                        </a:ln>
                        <a:solidFill>
                          <a:schemeClr val="tx1"/>
                        </a:solidFill>
                        <a:effectLst/>
                        <a:latin typeface="Arial"/>
                        <a:cs typeface="Arial"/>
                      </a:endParaRPr>
                    </a:p>
                  </a:txBody>
                  <a:tcPr marT="45229" marB="452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0" i="0" u="none" strike="noStrike" cap="none" normalizeH="0" baseline="0" smtClean="0">
                          <a:ln>
                            <a:noFill/>
                          </a:ln>
                          <a:solidFill>
                            <a:schemeClr val="tx1"/>
                          </a:solidFill>
                          <a:effectLst/>
                          <a:latin typeface="Arial"/>
                          <a:cs typeface="Arial"/>
                        </a:rPr>
                        <a:t>TCP</a:t>
                      </a:r>
                    </a:p>
                  </a:txBody>
                  <a:tcPr marT="45229" marB="452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0" i="0" u="none" strike="noStrike" cap="none" normalizeH="0" baseline="0" smtClean="0">
                          <a:ln>
                            <a:noFill/>
                          </a:ln>
                          <a:solidFill>
                            <a:schemeClr val="tx1"/>
                          </a:solidFill>
                          <a:effectLst/>
                          <a:latin typeface="Arial"/>
                          <a:cs typeface="Arial"/>
                        </a:rPr>
                        <a:t>80</a:t>
                      </a:r>
                    </a:p>
                  </a:txBody>
                  <a:tcPr marT="45229" marB="452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0" i="0" u="none" strike="noStrike" cap="none" normalizeH="0" baseline="0" smtClean="0">
                          <a:ln>
                            <a:noFill/>
                          </a:ln>
                          <a:solidFill>
                            <a:schemeClr val="tx1"/>
                          </a:solidFill>
                          <a:effectLst/>
                          <a:latin typeface="Arial"/>
                          <a:cs typeface="Arial"/>
                        </a:rPr>
                        <a:t>&gt; 1023</a:t>
                      </a:r>
                    </a:p>
                  </a:txBody>
                  <a:tcPr marT="45229" marB="452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600" b="0" i="0" u="none" strike="noStrike" cap="none" normalizeH="0" baseline="0" dirty="0" smtClean="0">
                          <a:ln>
                            <a:noFill/>
                          </a:ln>
                          <a:solidFill>
                            <a:schemeClr val="tx1"/>
                          </a:solidFill>
                          <a:effectLst/>
                          <a:latin typeface="Arial"/>
                          <a:cs typeface="Arial"/>
                        </a:rPr>
                        <a:t>ACK</a:t>
                      </a:r>
                    </a:p>
                  </a:txBody>
                  <a:tcPr marT="45229" marB="452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6159" name="Rectangle 283"/>
          <p:cNvSpPr>
            <a:spLocks noChangeArrowheads="1"/>
          </p:cNvSpPr>
          <p:nvPr/>
        </p:nvSpPr>
        <p:spPr bwMode="auto">
          <a:xfrm>
            <a:off x="641350" y="4329113"/>
            <a:ext cx="8262938"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rgbClr val="000099"/>
              </a:buClr>
              <a:buSzPct val="75000"/>
              <a:buFont typeface="Wingdings" pitchFamily="2" charset="2"/>
              <a:buChar char="v"/>
            </a:pPr>
            <a:r>
              <a:rPr lang="en-US" altLang="en-US" sz="2400" i="1">
                <a:solidFill>
                  <a:srgbClr val="CC0000"/>
                </a:solidFill>
                <a:latin typeface="Gill Sans MT" pitchFamily="34" charset="0"/>
              </a:rPr>
              <a:t>stateful packet filter:</a:t>
            </a:r>
            <a:r>
              <a:rPr lang="en-US" altLang="en-US" sz="2400">
                <a:solidFill>
                  <a:srgbClr val="CC0000"/>
                </a:solidFill>
                <a:latin typeface="Gill Sans MT" pitchFamily="34" charset="0"/>
              </a:rPr>
              <a:t> </a:t>
            </a:r>
            <a:r>
              <a:rPr lang="en-US" altLang="en-US" sz="2400">
                <a:latin typeface="Gill Sans MT" pitchFamily="34" charset="0"/>
              </a:rPr>
              <a:t>track status of every TCP connection</a:t>
            </a:r>
          </a:p>
          <a:p>
            <a:pPr lvl="1">
              <a:spcBef>
                <a:spcPct val="20000"/>
              </a:spcBef>
              <a:buClr>
                <a:srgbClr val="000099"/>
              </a:buClr>
              <a:buFont typeface="Wingdings" pitchFamily="2" charset="2"/>
              <a:buChar char="§"/>
            </a:pPr>
            <a:r>
              <a:rPr lang="en-US" altLang="en-US" sz="2400">
                <a:latin typeface="Gill Sans MT" pitchFamily="34" charset="0"/>
              </a:rPr>
              <a:t>track connection setup (SYN), teardown (FIN): determine whether incoming, outgoing packets </a:t>
            </a:r>
            <a:r>
              <a:rPr lang="ja-JP" altLang="en-US" sz="2400">
                <a:latin typeface="Gill Sans MT" pitchFamily="34" charset="0"/>
              </a:rPr>
              <a:t>“</a:t>
            </a:r>
            <a:r>
              <a:rPr lang="en-US" altLang="ja-JP" sz="2400">
                <a:latin typeface="Gill Sans MT" pitchFamily="34" charset="0"/>
              </a:rPr>
              <a:t>makes sense</a:t>
            </a:r>
            <a:r>
              <a:rPr lang="ja-JP" altLang="en-US" sz="2400">
                <a:latin typeface="Gill Sans MT" pitchFamily="34" charset="0"/>
              </a:rPr>
              <a:t>”</a:t>
            </a:r>
            <a:endParaRPr lang="en-US" altLang="ja-JP" sz="2400">
              <a:latin typeface="Gill Sans MT" pitchFamily="34" charset="0"/>
            </a:endParaRPr>
          </a:p>
          <a:p>
            <a:pPr lvl="1">
              <a:spcBef>
                <a:spcPct val="20000"/>
              </a:spcBef>
              <a:buClr>
                <a:srgbClr val="000099"/>
              </a:buClr>
              <a:buFont typeface="Wingdings" pitchFamily="2" charset="2"/>
              <a:buChar char="§"/>
            </a:pPr>
            <a:r>
              <a:rPr lang="en-US" altLang="en-US" sz="2400">
                <a:latin typeface="Gill Sans MT" pitchFamily="34" charset="0"/>
              </a:rPr>
              <a:t>timeout inactive connections at firewall: no longer admit packets</a:t>
            </a:r>
          </a:p>
          <a:p>
            <a:pPr lvl="1">
              <a:spcBef>
                <a:spcPct val="20000"/>
              </a:spcBef>
              <a:buClr>
                <a:schemeClr val="accent2"/>
              </a:buClr>
              <a:buSzPct val="75000"/>
              <a:buFont typeface="ZapfDingbats" pitchFamily="82" charset="2"/>
              <a:buChar char="m"/>
            </a:pPr>
            <a:endParaRPr lang="en-US" altLang="en-US"/>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77" name="Picture 20"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1020763"/>
            <a:ext cx="54848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3"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graphicFrame>
        <p:nvGraphicFramePr>
          <p:cNvPr id="138312" name="Group 72"/>
          <p:cNvGraphicFramePr>
            <a:graphicFrameLocks noGrp="1"/>
          </p:cNvGraphicFramePr>
          <p:nvPr/>
        </p:nvGraphicFramePr>
        <p:xfrm>
          <a:off x="531813" y="2543175"/>
          <a:ext cx="8380412" cy="3735390"/>
        </p:xfrm>
        <a:graphic>
          <a:graphicData uri="http://schemas.openxmlformats.org/drawingml/2006/table">
            <a:tbl>
              <a:tblPr/>
              <a:tblGrid>
                <a:gridCol w="1173162"/>
                <a:gridCol w="1174750"/>
                <a:gridCol w="1270000"/>
                <a:gridCol w="835025"/>
                <a:gridCol w="1042988"/>
                <a:gridCol w="1055687"/>
                <a:gridCol w="914400"/>
                <a:gridCol w="914400"/>
              </a:tblGrid>
              <a:tr h="560286">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action</a:t>
                      </a:r>
                    </a:p>
                  </a:txBody>
                  <a:tcPr marT="44671" marB="4467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source</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address</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dest</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address</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proto</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source</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port</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dest</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port</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flag</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bit</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check conxion</a:t>
                      </a:r>
                    </a:p>
                  </a:txBody>
                  <a:tcPr marT="44671" marB="4467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560286">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allow</a:t>
                      </a:r>
                    </a:p>
                  </a:txBody>
                  <a:tcPr marT="44671" marB="4467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222.22/16</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outside of</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222.22/16</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TCP</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&gt; 1023</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80</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any</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400" b="0" i="0" u="none" strike="noStrike" cap="none" normalizeH="0" baseline="0" smtClean="0">
                        <a:ln>
                          <a:noFill/>
                        </a:ln>
                        <a:solidFill>
                          <a:schemeClr val="tx1"/>
                        </a:solidFill>
                        <a:effectLst/>
                        <a:latin typeface="Arial"/>
                        <a:cs typeface="Arial"/>
                      </a:endParaRP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2000" b="0" i="0" u="none" strike="noStrike" cap="none" normalizeH="0" baseline="0" smtClean="0">
                        <a:ln>
                          <a:noFill/>
                        </a:ln>
                        <a:solidFill>
                          <a:schemeClr val="tx1"/>
                        </a:solidFill>
                        <a:effectLst/>
                        <a:latin typeface="Arial"/>
                        <a:cs typeface="Arial"/>
                      </a:endParaRPr>
                    </a:p>
                  </a:txBody>
                  <a:tcPr marT="44671" marB="4467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21568">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dirty="0" smtClean="0">
                          <a:ln>
                            <a:noFill/>
                          </a:ln>
                          <a:solidFill>
                            <a:schemeClr val="tx1"/>
                          </a:solidFill>
                          <a:effectLst/>
                          <a:latin typeface="Arial"/>
                          <a:cs typeface="Arial"/>
                        </a:rPr>
                        <a:t>allow</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400" b="0" i="0" u="none" strike="noStrike" cap="none" normalizeH="0" baseline="0" dirty="0" smtClean="0">
                        <a:ln>
                          <a:noFill/>
                        </a:ln>
                        <a:solidFill>
                          <a:schemeClr val="tx1"/>
                        </a:solidFill>
                        <a:effectLst/>
                        <a:latin typeface="Arial"/>
                        <a:cs typeface="Arial"/>
                      </a:endParaRPr>
                    </a:p>
                  </a:txBody>
                  <a:tcPr marT="44671" marB="4467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outside of</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222.22/16</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222.22/16</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400" b="0" i="0" u="none" strike="noStrike" cap="none" normalizeH="0" baseline="0" smtClean="0">
                        <a:ln>
                          <a:noFill/>
                        </a:ln>
                        <a:solidFill>
                          <a:schemeClr val="tx1"/>
                        </a:solidFill>
                        <a:effectLst/>
                        <a:latin typeface="Arial"/>
                        <a:cs typeface="Arial"/>
                      </a:endParaRP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TCP</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80</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&gt; 1023</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ACK</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2300" b="0" i="0" u="none" strike="noStrike" cap="none" normalizeH="0" baseline="0" smtClean="0">
                          <a:ln>
                            <a:noFill/>
                          </a:ln>
                          <a:solidFill>
                            <a:srgbClr val="FF3300"/>
                          </a:solidFill>
                          <a:effectLst/>
                          <a:latin typeface="Arial"/>
                          <a:cs typeface="Arial"/>
                        </a:rPr>
                        <a:t>x</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400" b="0" i="0" u="none" strike="noStrike" cap="none" normalizeH="0" baseline="0" smtClean="0">
                        <a:ln>
                          <a:noFill/>
                        </a:ln>
                        <a:solidFill>
                          <a:schemeClr val="tx1"/>
                        </a:solidFill>
                        <a:effectLst/>
                        <a:latin typeface="Arial"/>
                        <a:cs typeface="Arial"/>
                      </a:endParaRPr>
                    </a:p>
                  </a:txBody>
                  <a:tcPr marT="44671" marB="4467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0286">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allow</a:t>
                      </a:r>
                    </a:p>
                  </a:txBody>
                  <a:tcPr marT="44671" marB="4467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222.22/16</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outside of</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222.22/16</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UDP</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&gt; 1023</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53</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2000" b="0" i="0" u="none" strike="noStrike" cap="none" normalizeH="0" baseline="0" smtClean="0">
                        <a:ln>
                          <a:noFill/>
                        </a:ln>
                        <a:solidFill>
                          <a:schemeClr val="tx1"/>
                        </a:solidFill>
                        <a:effectLst/>
                        <a:latin typeface="Arial"/>
                        <a:cs typeface="Arial"/>
                      </a:endParaRPr>
                    </a:p>
                  </a:txBody>
                  <a:tcPr marT="44671" marB="4467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0219">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allow</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400" b="0" i="0" u="none" strike="noStrike" cap="none" normalizeH="0" baseline="0" smtClean="0">
                        <a:ln>
                          <a:noFill/>
                        </a:ln>
                        <a:solidFill>
                          <a:schemeClr val="tx1"/>
                        </a:solidFill>
                        <a:effectLst/>
                        <a:latin typeface="Arial"/>
                        <a:cs typeface="Arial"/>
                      </a:endParaRPr>
                    </a:p>
                  </a:txBody>
                  <a:tcPr marT="44671" marB="4467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outside of</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222.22/16</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222.22/16</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400" b="0" i="0" u="none" strike="noStrike" cap="none" normalizeH="0" baseline="0" smtClean="0">
                        <a:ln>
                          <a:noFill/>
                        </a:ln>
                        <a:solidFill>
                          <a:schemeClr val="tx1"/>
                        </a:solidFill>
                        <a:effectLst/>
                        <a:latin typeface="Arial"/>
                        <a:cs typeface="Arial"/>
                      </a:endParaRP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UDP</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53</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&gt; 1023</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2300" b="0" i="0" u="none" strike="noStrike" cap="none" normalizeH="0" baseline="0" smtClean="0">
                          <a:ln>
                            <a:noFill/>
                          </a:ln>
                          <a:solidFill>
                            <a:srgbClr val="FF3300"/>
                          </a:solidFill>
                          <a:effectLst/>
                          <a:latin typeface="Arial"/>
                          <a:cs typeface="Arial"/>
                        </a:rPr>
                        <a:t>x</a:t>
                      </a:r>
                    </a:p>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2300" b="0" i="0" u="none" strike="noStrike" cap="none" normalizeH="0" baseline="0" smtClean="0">
                        <a:ln>
                          <a:noFill/>
                        </a:ln>
                        <a:solidFill>
                          <a:srgbClr val="FF3300"/>
                        </a:solidFill>
                        <a:effectLst/>
                        <a:latin typeface="Arial"/>
                        <a:cs typeface="Arial"/>
                      </a:endParaRPr>
                    </a:p>
                  </a:txBody>
                  <a:tcPr marT="44671" marB="4467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2745">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deny</a:t>
                      </a:r>
                    </a:p>
                  </a:txBody>
                  <a:tcPr marT="44671" marB="4467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all</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all</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all</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all</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all</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r>
                        <a:rPr kumimoji="0" lang="en-US" sz="1400" b="0" i="0" u="none" strike="noStrike" cap="none" normalizeH="0" baseline="0" smtClean="0">
                          <a:ln>
                            <a:noFill/>
                          </a:ln>
                          <a:solidFill>
                            <a:schemeClr val="tx1"/>
                          </a:solidFill>
                          <a:effectLst/>
                          <a:latin typeface="Arial"/>
                          <a:cs typeface="Arial"/>
                        </a:rPr>
                        <a:t>all</a:t>
                      </a:r>
                    </a:p>
                  </a:txBody>
                  <a:tcPr marT="44671" marB="4467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99"/>
                        </a:buClr>
                        <a:buSzPct val="75000"/>
                        <a:buFont typeface="ZapfDingbats" pitchFamily="82" charset="2"/>
                        <a:buNone/>
                        <a:tabLst/>
                      </a:pPr>
                      <a:endParaRPr kumimoji="0" lang="en-US" sz="1400" b="0" i="0" u="none" strike="noStrike" cap="none" normalizeH="0" baseline="0" dirty="0" smtClean="0">
                        <a:ln>
                          <a:noFill/>
                        </a:ln>
                        <a:solidFill>
                          <a:schemeClr val="tx1"/>
                        </a:solidFill>
                        <a:effectLst/>
                        <a:latin typeface="Arial"/>
                        <a:cs typeface="Arial"/>
                      </a:endParaRPr>
                    </a:p>
                  </a:txBody>
                  <a:tcPr marT="44671" marB="4467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8244" name="Text Box 67"/>
          <p:cNvSpPr txBox="1">
            <a:spLocks noChangeArrowheads="1"/>
          </p:cNvSpPr>
          <p:nvPr/>
        </p:nvSpPr>
        <p:spPr bwMode="auto">
          <a:xfrm>
            <a:off x="1082675" y="134461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78245" name="Text Box 68"/>
          <p:cNvSpPr txBox="1">
            <a:spLocks noChangeArrowheads="1"/>
          </p:cNvSpPr>
          <p:nvPr/>
        </p:nvSpPr>
        <p:spPr bwMode="auto">
          <a:xfrm>
            <a:off x="1573213" y="5988050"/>
            <a:ext cx="18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78246" name="Rectangle 70"/>
          <p:cNvSpPr>
            <a:spLocks noGrp="1" noChangeArrowheads="1"/>
          </p:cNvSpPr>
          <p:nvPr>
            <p:ph type="title"/>
          </p:nvPr>
        </p:nvSpPr>
        <p:spPr>
          <a:xfrm>
            <a:off x="409575" y="200025"/>
            <a:ext cx="7772400" cy="1143000"/>
          </a:xfrm>
          <a:noFill/>
        </p:spPr>
        <p:txBody>
          <a:bodyPr/>
          <a:lstStyle/>
          <a:p>
            <a:r>
              <a:rPr lang="en-US" altLang="en-US" smtClean="0">
                <a:ea typeface="ＭＳ Ｐゴシック" pitchFamily="34" charset="-128"/>
              </a:rPr>
              <a:t>Stateful packet filtering</a:t>
            </a:r>
          </a:p>
        </p:txBody>
      </p:sp>
      <p:sp>
        <p:nvSpPr>
          <p:cNvPr id="178247" name="Rectangle 71"/>
          <p:cNvSpPr>
            <a:spLocks noChangeArrowheads="1"/>
          </p:cNvSpPr>
          <p:nvPr/>
        </p:nvSpPr>
        <p:spPr bwMode="auto">
          <a:xfrm>
            <a:off x="488950" y="1476375"/>
            <a:ext cx="7512050" cy="459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rgbClr val="000099"/>
              </a:buClr>
              <a:buSzPct val="75000"/>
              <a:buFont typeface="Wingdings" pitchFamily="2" charset="2"/>
              <a:buChar char="v"/>
            </a:pPr>
            <a:r>
              <a:rPr lang="en-US" altLang="en-US" sz="2400">
                <a:latin typeface="Gill Sans MT" pitchFamily="34" charset="0"/>
              </a:rPr>
              <a:t>ACL augmented to indicate need to check connection state table before admitting packet</a:t>
            </a: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225" name="Picture 21" descr="underline_bas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438" y="1050925"/>
            <a:ext cx="50276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7"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80227" name="Rectangle 2"/>
          <p:cNvSpPr>
            <a:spLocks noGrp="1" noChangeArrowheads="1"/>
          </p:cNvSpPr>
          <p:nvPr>
            <p:ph type="title"/>
          </p:nvPr>
        </p:nvSpPr>
        <p:spPr/>
        <p:txBody>
          <a:bodyPr/>
          <a:lstStyle/>
          <a:p>
            <a:r>
              <a:rPr lang="en-US" altLang="en-US" smtClean="0">
                <a:ea typeface="ＭＳ Ｐゴシック" pitchFamily="34" charset="-128"/>
              </a:rPr>
              <a:t>Application gateways</a:t>
            </a:r>
          </a:p>
        </p:txBody>
      </p:sp>
      <p:sp>
        <p:nvSpPr>
          <p:cNvPr id="180228" name="Rectangle 3"/>
          <p:cNvSpPr>
            <a:spLocks noGrp="1" noChangeArrowheads="1"/>
          </p:cNvSpPr>
          <p:nvPr>
            <p:ph type="body" sz="half" idx="1"/>
          </p:nvPr>
        </p:nvSpPr>
        <p:spPr>
          <a:xfrm>
            <a:off x="296863" y="1700213"/>
            <a:ext cx="4138612" cy="2236787"/>
          </a:xfrm>
        </p:spPr>
        <p:txBody>
          <a:bodyPr/>
          <a:lstStyle/>
          <a:p>
            <a:r>
              <a:rPr lang="en-US" altLang="en-US" sz="2400" smtClean="0">
                <a:ea typeface="ＭＳ Ｐゴシック" pitchFamily="34" charset="-128"/>
              </a:rPr>
              <a:t>filters packets on application data as well as on IP/TCP/UDP fields.</a:t>
            </a:r>
          </a:p>
          <a:p>
            <a:r>
              <a:rPr lang="en-US" altLang="en-US" sz="2400" i="1" smtClean="0">
                <a:solidFill>
                  <a:srgbClr val="CC0000"/>
                </a:solidFill>
                <a:ea typeface="ＭＳ Ｐゴシック" pitchFamily="34" charset="-128"/>
              </a:rPr>
              <a:t>example: </a:t>
            </a:r>
            <a:r>
              <a:rPr lang="en-US" altLang="en-US" sz="2400" smtClean="0">
                <a:ea typeface="ＭＳ Ｐゴシック" pitchFamily="34" charset="-128"/>
              </a:rPr>
              <a:t>allow select internal users to telnet outside.</a:t>
            </a:r>
            <a:endParaRPr lang="en-US" altLang="en-US" sz="2000" smtClean="0">
              <a:ea typeface="ＭＳ Ｐゴシック" pitchFamily="34" charset="-128"/>
            </a:endParaRPr>
          </a:p>
        </p:txBody>
      </p:sp>
      <p:sp>
        <p:nvSpPr>
          <p:cNvPr id="180229" name="Freeform 5"/>
          <p:cNvSpPr>
            <a:spLocks/>
          </p:cNvSpPr>
          <p:nvPr/>
        </p:nvSpPr>
        <p:spPr bwMode="auto">
          <a:xfrm>
            <a:off x="4829175" y="1511300"/>
            <a:ext cx="2974975" cy="2219325"/>
          </a:xfrm>
          <a:custGeom>
            <a:avLst/>
            <a:gdLst>
              <a:gd name="T0" fmla="*/ 2147483647 w 2135"/>
              <a:gd name="T1" fmla="*/ 2147483647 h 1662"/>
              <a:gd name="T2" fmla="*/ 2147483647 w 2135"/>
              <a:gd name="T3" fmla="*/ 2147483647 h 1662"/>
              <a:gd name="T4" fmla="*/ 2147483647 w 2135"/>
              <a:gd name="T5" fmla="*/ 2147483647 h 1662"/>
              <a:gd name="T6" fmla="*/ 2147483647 w 2135"/>
              <a:gd name="T7" fmla="*/ 2147483647 h 1662"/>
              <a:gd name="T8" fmla="*/ 2147483647 w 2135"/>
              <a:gd name="T9" fmla="*/ 2147483647 h 1662"/>
              <a:gd name="T10" fmla="*/ 2147483647 w 2135"/>
              <a:gd name="T11" fmla="*/ 2147483647 h 1662"/>
              <a:gd name="T12" fmla="*/ 2147483647 w 2135"/>
              <a:gd name="T13" fmla="*/ 2147483647 h 1662"/>
              <a:gd name="T14" fmla="*/ 2147483647 w 2135"/>
              <a:gd name="T15" fmla="*/ 2147483647 h 1662"/>
              <a:gd name="T16" fmla="*/ 2147483647 w 2135"/>
              <a:gd name="T17" fmla="*/ 2147483647 h 1662"/>
              <a:gd name="T18" fmla="*/ 2147483647 w 2135"/>
              <a:gd name="T19" fmla="*/ 2147483647 h 1662"/>
              <a:gd name="T20" fmla="*/ 2147483647 w 2135"/>
              <a:gd name="T21" fmla="*/ 2147483647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CA"/>
          </a:p>
        </p:txBody>
      </p:sp>
      <p:graphicFrame>
        <p:nvGraphicFramePr>
          <p:cNvPr id="180230" name="Object 2"/>
          <p:cNvGraphicFramePr>
            <a:graphicFrameLocks noChangeAspect="1"/>
          </p:cNvGraphicFramePr>
          <p:nvPr/>
        </p:nvGraphicFramePr>
        <p:xfrm>
          <a:off x="4943475" y="1658938"/>
          <a:ext cx="415925" cy="330200"/>
        </p:xfrm>
        <a:graphic>
          <a:graphicData uri="http://schemas.openxmlformats.org/presentationml/2006/ole">
            <mc:AlternateContent xmlns:mc="http://schemas.openxmlformats.org/markup-compatibility/2006">
              <mc:Choice xmlns:v="urn:schemas-microsoft-com:vml" Requires="v">
                <p:oleObj spid="_x0000_s180407" name="Clip" r:id="rId5" imgW="1307263" imgH="1084139" progId="MS_ClipArt_Gallery.2">
                  <p:embed/>
                </p:oleObj>
              </mc:Choice>
              <mc:Fallback>
                <p:oleObj name="Clip" r:id="rId5" imgW="1307263" imgH="1084139" progId="MS_ClipArt_Gallery.2">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3475" y="1658938"/>
                        <a:ext cx="4159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0231" name="Line 7"/>
          <p:cNvSpPr>
            <a:spLocks noChangeShapeType="1"/>
          </p:cNvSpPr>
          <p:nvPr/>
        </p:nvSpPr>
        <p:spPr bwMode="auto">
          <a:xfrm flipV="1">
            <a:off x="5349875" y="1905000"/>
            <a:ext cx="73025" cy="79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aphicFrame>
        <p:nvGraphicFramePr>
          <p:cNvPr id="180232" name="Object 3"/>
          <p:cNvGraphicFramePr>
            <a:graphicFrameLocks noChangeAspect="1"/>
          </p:cNvGraphicFramePr>
          <p:nvPr/>
        </p:nvGraphicFramePr>
        <p:xfrm>
          <a:off x="4943475" y="2254250"/>
          <a:ext cx="415925" cy="330200"/>
        </p:xfrm>
        <a:graphic>
          <a:graphicData uri="http://schemas.openxmlformats.org/presentationml/2006/ole">
            <mc:AlternateContent xmlns:mc="http://schemas.openxmlformats.org/markup-compatibility/2006">
              <mc:Choice xmlns:v="urn:schemas-microsoft-com:vml" Requires="v">
                <p:oleObj spid="_x0000_s180408" name="Clip" r:id="rId7" imgW="1307263" imgH="1084139" progId="MS_ClipArt_Gallery.2">
                  <p:embed/>
                </p:oleObj>
              </mc:Choice>
              <mc:Fallback>
                <p:oleObj name="Clip" r:id="rId7" imgW="1307263" imgH="1084139" progId="MS_ClipArt_Gallery.2">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3475" y="2254250"/>
                        <a:ext cx="4159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0233" name="Line 9"/>
          <p:cNvSpPr>
            <a:spLocks noChangeShapeType="1"/>
          </p:cNvSpPr>
          <p:nvPr/>
        </p:nvSpPr>
        <p:spPr bwMode="auto">
          <a:xfrm flipV="1">
            <a:off x="5349875" y="2505075"/>
            <a:ext cx="7302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34" name="Line 10"/>
          <p:cNvSpPr>
            <a:spLocks noChangeShapeType="1"/>
          </p:cNvSpPr>
          <p:nvPr/>
        </p:nvSpPr>
        <p:spPr bwMode="auto">
          <a:xfrm>
            <a:off x="5416550" y="1903413"/>
            <a:ext cx="0" cy="6000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aphicFrame>
        <p:nvGraphicFramePr>
          <p:cNvPr id="180235" name="Object 4"/>
          <p:cNvGraphicFramePr>
            <a:graphicFrameLocks noChangeAspect="1"/>
          </p:cNvGraphicFramePr>
          <p:nvPr/>
        </p:nvGraphicFramePr>
        <p:xfrm>
          <a:off x="5811838" y="2668588"/>
          <a:ext cx="417512" cy="331787"/>
        </p:xfrm>
        <a:graphic>
          <a:graphicData uri="http://schemas.openxmlformats.org/presentationml/2006/ole">
            <mc:AlternateContent xmlns:mc="http://schemas.openxmlformats.org/markup-compatibility/2006">
              <mc:Choice xmlns:v="urn:schemas-microsoft-com:vml" Requires="v">
                <p:oleObj spid="_x0000_s180409" name="Clip" r:id="rId8" imgW="1307263" imgH="1084139" progId="MS_ClipArt_Gallery.2">
                  <p:embed/>
                </p:oleObj>
              </mc:Choice>
              <mc:Fallback>
                <p:oleObj name="Clip" r:id="rId8" imgW="1307263" imgH="1084139" progId="MS_ClipArt_Gallery.2">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1838" y="2668588"/>
                        <a:ext cx="417512"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80236" name="Object 5"/>
          <p:cNvGraphicFramePr>
            <a:graphicFrameLocks noChangeAspect="1"/>
          </p:cNvGraphicFramePr>
          <p:nvPr/>
        </p:nvGraphicFramePr>
        <p:xfrm>
          <a:off x="5197475" y="2657475"/>
          <a:ext cx="415925" cy="330200"/>
        </p:xfrm>
        <a:graphic>
          <a:graphicData uri="http://schemas.openxmlformats.org/presentationml/2006/ole">
            <mc:AlternateContent xmlns:mc="http://schemas.openxmlformats.org/markup-compatibility/2006">
              <mc:Choice xmlns:v="urn:schemas-microsoft-com:vml" Requires="v">
                <p:oleObj spid="_x0000_s180410" name="Clip" r:id="rId9" imgW="1307263" imgH="1084139" progId="MS_ClipArt_Gallery.2">
                  <p:embed/>
                </p:oleObj>
              </mc:Choice>
              <mc:Fallback>
                <p:oleObj name="Clip" r:id="rId9" imgW="1307263" imgH="1084139" progId="MS_ClipArt_Gallery.2">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7475" y="2657475"/>
                        <a:ext cx="4159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0237" name="Line 13"/>
          <p:cNvSpPr>
            <a:spLocks noChangeShapeType="1"/>
          </p:cNvSpPr>
          <p:nvPr/>
        </p:nvSpPr>
        <p:spPr bwMode="auto">
          <a:xfrm rot="-5400000">
            <a:off x="6036469" y="2643982"/>
            <a:ext cx="603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38" name="Line 14"/>
          <p:cNvSpPr>
            <a:spLocks noChangeShapeType="1"/>
          </p:cNvSpPr>
          <p:nvPr/>
        </p:nvSpPr>
        <p:spPr bwMode="auto">
          <a:xfrm rot="5400000" flipH="1">
            <a:off x="5410200" y="2635250"/>
            <a:ext cx="63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39" name="Line 15"/>
          <p:cNvSpPr>
            <a:spLocks noChangeShapeType="1"/>
          </p:cNvSpPr>
          <p:nvPr/>
        </p:nvSpPr>
        <p:spPr bwMode="auto">
          <a:xfrm rot="16200000" flipV="1">
            <a:off x="5757069" y="2296319"/>
            <a:ext cx="0" cy="627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40" name="Line 16"/>
          <p:cNvSpPr>
            <a:spLocks noChangeShapeType="1"/>
          </p:cNvSpPr>
          <p:nvPr/>
        </p:nvSpPr>
        <p:spPr bwMode="auto">
          <a:xfrm flipV="1">
            <a:off x="5422900" y="2235200"/>
            <a:ext cx="93663"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41" name="Line 17"/>
          <p:cNvSpPr>
            <a:spLocks noChangeShapeType="1"/>
          </p:cNvSpPr>
          <p:nvPr/>
        </p:nvSpPr>
        <p:spPr bwMode="auto">
          <a:xfrm>
            <a:off x="5897563" y="2363788"/>
            <a:ext cx="430212" cy="3032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42" name="Line 18"/>
          <p:cNvSpPr>
            <a:spLocks noChangeShapeType="1"/>
          </p:cNvSpPr>
          <p:nvPr/>
        </p:nvSpPr>
        <p:spPr bwMode="auto">
          <a:xfrm flipH="1">
            <a:off x="6819900" y="2278063"/>
            <a:ext cx="279400" cy="392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43" name="Line 19"/>
          <p:cNvSpPr>
            <a:spLocks noChangeShapeType="1"/>
          </p:cNvSpPr>
          <p:nvPr/>
        </p:nvSpPr>
        <p:spPr bwMode="auto">
          <a:xfrm>
            <a:off x="6602413" y="2768600"/>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nvGrpSpPr>
          <p:cNvPr id="180244" name="Group 20"/>
          <p:cNvGrpSpPr>
            <a:grpSpLocks/>
          </p:cNvGrpSpPr>
          <p:nvPr/>
        </p:nvGrpSpPr>
        <p:grpSpPr bwMode="auto">
          <a:xfrm>
            <a:off x="6456363" y="1492250"/>
            <a:ext cx="303212" cy="571500"/>
            <a:chOff x="4180" y="783"/>
            <a:chExt cx="150" cy="307"/>
          </a:xfrm>
        </p:grpSpPr>
        <p:sp>
          <p:nvSpPr>
            <p:cNvPr id="180327" name="AutoShape 21"/>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28" name="Rectangle 22"/>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29" name="Rectangle 2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30" name="AutoShape 2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31" name="Line 25"/>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32" name="Line 26"/>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33" name="Rectangle 2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34" name="Rectangle 28"/>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grpSp>
      <p:grpSp>
        <p:nvGrpSpPr>
          <p:cNvPr id="180245" name="Group 29"/>
          <p:cNvGrpSpPr>
            <a:grpSpLocks/>
          </p:cNvGrpSpPr>
          <p:nvPr/>
        </p:nvGrpSpPr>
        <p:grpSpPr bwMode="auto">
          <a:xfrm>
            <a:off x="7386638" y="2627313"/>
            <a:ext cx="207962" cy="409575"/>
            <a:chOff x="4180" y="783"/>
            <a:chExt cx="150" cy="307"/>
          </a:xfrm>
        </p:grpSpPr>
        <p:sp>
          <p:nvSpPr>
            <p:cNvPr id="180319" name="AutoShape 30"/>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20" name="Rectangle 31"/>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21" name="Rectangle 32"/>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22" name="AutoShape 3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23" name="Line 34"/>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24" name="Line 35"/>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25" name="Rectangle 36"/>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26" name="Rectangle 37"/>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grpSp>
      <p:sp>
        <p:nvSpPr>
          <p:cNvPr id="180246" name="Line 38"/>
          <p:cNvSpPr>
            <a:spLocks noChangeShapeType="1"/>
          </p:cNvSpPr>
          <p:nvPr/>
        </p:nvSpPr>
        <p:spPr bwMode="auto">
          <a:xfrm rot="5400000" flipH="1">
            <a:off x="6719887" y="2097088"/>
            <a:ext cx="2254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47" name="Line 39"/>
          <p:cNvSpPr>
            <a:spLocks noChangeShapeType="1"/>
          </p:cNvSpPr>
          <p:nvPr/>
        </p:nvSpPr>
        <p:spPr bwMode="auto">
          <a:xfrm rot="-5400000">
            <a:off x="6754019" y="1945481"/>
            <a:ext cx="6350" cy="1603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48" name="Line 40"/>
          <p:cNvSpPr>
            <a:spLocks noChangeShapeType="1"/>
          </p:cNvSpPr>
          <p:nvPr/>
        </p:nvSpPr>
        <p:spPr bwMode="auto">
          <a:xfrm rot="-5400000">
            <a:off x="6889750" y="2111375"/>
            <a:ext cx="0" cy="88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49" name="Line 41"/>
          <p:cNvSpPr>
            <a:spLocks noChangeShapeType="1"/>
          </p:cNvSpPr>
          <p:nvPr/>
        </p:nvSpPr>
        <p:spPr bwMode="auto">
          <a:xfrm flipH="1">
            <a:off x="7205663" y="1690688"/>
            <a:ext cx="26670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nvGrpSpPr>
          <p:cNvPr id="180250" name="Group 42"/>
          <p:cNvGrpSpPr>
            <a:grpSpLocks/>
          </p:cNvGrpSpPr>
          <p:nvPr/>
        </p:nvGrpSpPr>
        <p:grpSpPr bwMode="auto">
          <a:xfrm>
            <a:off x="7262813" y="1454150"/>
            <a:ext cx="501650" cy="233363"/>
            <a:chOff x="3600" y="219"/>
            <a:chExt cx="360" cy="175"/>
          </a:xfrm>
        </p:grpSpPr>
        <p:sp>
          <p:nvSpPr>
            <p:cNvPr id="180306" name="Oval 4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07" name="Line 44"/>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08" name="Line 45"/>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09" name="Rectangle 46"/>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310" name="Oval 4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grpSp>
          <p:nvGrpSpPr>
            <p:cNvPr id="180311" name="Group 48"/>
            <p:cNvGrpSpPr>
              <a:grpSpLocks/>
            </p:cNvGrpSpPr>
            <p:nvPr/>
          </p:nvGrpSpPr>
          <p:grpSpPr bwMode="auto">
            <a:xfrm>
              <a:off x="3686" y="244"/>
              <a:ext cx="177" cy="66"/>
              <a:chOff x="2848" y="848"/>
              <a:chExt cx="140" cy="98"/>
            </a:xfrm>
          </p:grpSpPr>
          <p:sp>
            <p:nvSpPr>
              <p:cNvPr id="180316" name="Line 4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17" name="Line 5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18" name="Line 5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grpSp>
          <p:nvGrpSpPr>
            <p:cNvPr id="180312" name="Group 52"/>
            <p:cNvGrpSpPr>
              <a:grpSpLocks/>
            </p:cNvGrpSpPr>
            <p:nvPr/>
          </p:nvGrpSpPr>
          <p:grpSpPr bwMode="auto">
            <a:xfrm flipV="1">
              <a:off x="3686" y="243"/>
              <a:ext cx="177" cy="66"/>
              <a:chOff x="2848" y="848"/>
              <a:chExt cx="140" cy="98"/>
            </a:xfrm>
          </p:grpSpPr>
          <p:sp>
            <p:nvSpPr>
              <p:cNvPr id="180313" name="Line 5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14" name="Line 5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15" name="Line 5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grpSp>
      <p:grpSp>
        <p:nvGrpSpPr>
          <p:cNvPr id="180251" name="Group 56"/>
          <p:cNvGrpSpPr>
            <a:grpSpLocks/>
          </p:cNvGrpSpPr>
          <p:nvPr/>
        </p:nvGrpSpPr>
        <p:grpSpPr bwMode="auto">
          <a:xfrm>
            <a:off x="6929438" y="2038350"/>
            <a:ext cx="501650" cy="234950"/>
            <a:chOff x="3600" y="219"/>
            <a:chExt cx="360" cy="175"/>
          </a:xfrm>
        </p:grpSpPr>
        <p:sp>
          <p:nvSpPr>
            <p:cNvPr id="180293" name="Oval 5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294" name="Line 58"/>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95" name="Line 59"/>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96" name="Rectangle 60"/>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297" name="Oval 6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grpSp>
          <p:nvGrpSpPr>
            <p:cNvPr id="180298" name="Group 62"/>
            <p:cNvGrpSpPr>
              <a:grpSpLocks/>
            </p:cNvGrpSpPr>
            <p:nvPr/>
          </p:nvGrpSpPr>
          <p:grpSpPr bwMode="auto">
            <a:xfrm>
              <a:off x="3686" y="244"/>
              <a:ext cx="177" cy="66"/>
              <a:chOff x="2848" y="848"/>
              <a:chExt cx="140" cy="98"/>
            </a:xfrm>
          </p:grpSpPr>
          <p:sp>
            <p:nvSpPr>
              <p:cNvPr id="180303" name="Line 6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04" name="Line 6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05" name="Line 6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grpSp>
          <p:nvGrpSpPr>
            <p:cNvPr id="180299" name="Group 66"/>
            <p:cNvGrpSpPr>
              <a:grpSpLocks/>
            </p:cNvGrpSpPr>
            <p:nvPr/>
          </p:nvGrpSpPr>
          <p:grpSpPr bwMode="auto">
            <a:xfrm flipV="1">
              <a:off x="3686" y="243"/>
              <a:ext cx="177" cy="66"/>
              <a:chOff x="2848" y="848"/>
              <a:chExt cx="140" cy="98"/>
            </a:xfrm>
          </p:grpSpPr>
          <p:sp>
            <p:nvSpPr>
              <p:cNvPr id="180300" name="Line 6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01" name="Line 6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302" name="Line 6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grpSp>
      <p:grpSp>
        <p:nvGrpSpPr>
          <p:cNvPr id="180252" name="Group 70"/>
          <p:cNvGrpSpPr>
            <a:grpSpLocks/>
          </p:cNvGrpSpPr>
          <p:nvPr/>
        </p:nvGrpSpPr>
        <p:grpSpPr bwMode="auto">
          <a:xfrm>
            <a:off x="6319838" y="2527300"/>
            <a:ext cx="500062" cy="233363"/>
            <a:chOff x="3600" y="219"/>
            <a:chExt cx="360" cy="175"/>
          </a:xfrm>
        </p:grpSpPr>
        <p:sp>
          <p:nvSpPr>
            <p:cNvPr id="180280" name="Oval 7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281" name="Line 72"/>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82" name="Line 73"/>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83" name="Rectangle 74"/>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284" name="Oval 7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grpSp>
          <p:nvGrpSpPr>
            <p:cNvPr id="180285" name="Group 76"/>
            <p:cNvGrpSpPr>
              <a:grpSpLocks/>
            </p:cNvGrpSpPr>
            <p:nvPr/>
          </p:nvGrpSpPr>
          <p:grpSpPr bwMode="auto">
            <a:xfrm>
              <a:off x="3686" y="244"/>
              <a:ext cx="177" cy="66"/>
              <a:chOff x="2848" y="848"/>
              <a:chExt cx="140" cy="98"/>
            </a:xfrm>
          </p:grpSpPr>
          <p:sp>
            <p:nvSpPr>
              <p:cNvPr id="180290" name="Line 7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91" name="Line 7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92" name="Line 7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grpSp>
          <p:nvGrpSpPr>
            <p:cNvPr id="180286" name="Group 80"/>
            <p:cNvGrpSpPr>
              <a:grpSpLocks/>
            </p:cNvGrpSpPr>
            <p:nvPr/>
          </p:nvGrpSpPr>
          <p:grpSpPr bwMode="auto">
            <a:xfrm flipV="1">
              <a:off x="3686" y="243"/>
              <a:ext cx="177" cy="66"/>
              <a:chOff x="2848" y="848"/>
              <a:chExt cx="140" cy="98"/>
            </a:xfrm>
          </p:grpSpPr>
          <p:sp>
            <p:nvSpPr>
              <p:cNvPr id="180287" name="Line 8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88" name="Line 8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89" name="Line 8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grpSp>
      <p:grpSp>
        <p:nvGrpSpPr>
          <p:cNvPr id="180253" name="Group 84"/>
          <p:cNvGrpSpPr>
            <a:grpSpLocks/>
          </p:cNvGrpSpPr>
          <p:nvPr/>
        </p:nvGrpSpPr>
        <p:grpSpPr bwMode="auto">
          <a:xfrm>
            <a:off x="5516563" y="2151063"/>
            <a:ext cx="501650" cy="233362"/>
            <a:chOff x="3600" y="219"/>
            <a:chExt cx="360" cy="175"/>
          </a:xfrm>
        </p:grpSpPr>
        <p:sp>
          <p:nvSpPr>
            <p:cNvPr id="180267" name="Oval 8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268" name="Line 86"/>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69" name="Line 87"/>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70" name="Rectangle 88"/>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sp>
          <p:nvSpPr>
            <p:cNvPr id="180271" name="Oval 8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latin typeface="Arial" pitchFamily="34" charset="0"/>
                <a:cs typeface="Arial" pitchFamily="34" charset="0"/>
              </a:endParaRPr>
            </a:p>
          </p:txBody>
        </p:sp>
        <p:grpSp>
          <p:nvGrpSpPr>
            <p:cNvPr id="180272" name="Group 90"/>
            <p:cNvGrpSpPr>
              <a:grpSpLocks/>
            </p:cNvGrpSpPr>
            <p:nvPr/>
          </p:nvGrpSpPr>
          <p:grpSpPr bwMode="auto">
            <a:xfrm>
              <a:off x="3686" y="244"/>
              <a:ext cx="177" cy="66"/>
              <a:chOff x="2848" y="848"/>
              <a:chExt cx="140" cy="98"/>
            </a:xfrm>
          </p:grpSpPr>
          <p:sp>
            <p:nvSpPr>
              <p:cNvPr id="180277" name="Line 9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78" name="Line 9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79" name="Line 9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grpSp>
          <p:nvGrpSpPr>
            <p:cNvPr id="180273" name="Group 94"/>
            <p:cNvGrpSpPr>
              <a:grpSpLocks/>
            </p:cNvGrpSpPr>
            <p:nvPr/>
          </p:nvGrpSpPr>
          <p:grpSpPr bwMode="auto">
            <a:xfrm flipV="1">
              <a:off x="3686" y="243"/>
              <a:ext cx="177" cy="66"/>
              <a:chOff x="2848" y="848"/>
              <a:chExt cx="140" cy="98"/>
            </a:xfrm>
          </p:grpSpPr>
          <p:sp>
            <p:nvSpPr>
              <p:cNvPr id="180274" name="Line 9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75" name="Line 9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76" name="Line 9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grpSp>
      <p:sp>
        <p:nvSpPr>
          <p:cNvPr id="180254" name="Line 98"/>
          <p:cNvSpPr>
            <a:spLocks noChangeShapeType="1"/>
          </p:cNvSpPr>
          <p:nvPr/>
        </p:nvSpPr>
        <p:spPr bwMode="auto">
          <a:xfrm>
            <a:off x="5745163" y="2406650"/>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aphicFrame>
        <p:nvGraphicFramePr>
          <p:cNvPr id="180255" name="Object 6"/>
          <p:cNvGraphicFramePr>
            <a:graphicFrameLocks noChangeAspect="1"/>
          </p:cNvGraphicFramePr>
          <p:nvPr/>
        </p:nvGraphicFramePr>
        <p:xfrm>
          <a:off x="6945313" y="3030538"/>
          <a:ext cx="417512" cy="331787"/>
        </p:xfrm>
        <a:graphic>
          <a:graphicData uri="http://schemas.openxmlformats.org/presentationml/2006/ole">
            <mc:AlternateContent xmlns:mc="http://schemas.openxmlformats.org/markup-compatibility/2006">
              <mc:Choice xmlns:v="urn:schemas-microsoft-com:vml" Requires="v">
                <p:oleObj spid="_x0000_s180411" name="Clip" r:id="rId10" imgW="1307263" imgH="1084139" progId="MS_ClipArt_Gallery.2">
                  <p:embed/>
                </p:oleObj>
              </mc:Choice>
              <mc:Fallback>
                <p:oleObj name="Clip" r:id="rId10" imgW="1307263" imgH="1084139" progId="MS_ClipArt_Gallery.2">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45313" y="3030538"/>
                        <a:ext cx="417512"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80256" name="Object 7"/>
          <p:cNvGraphicFramePr>
            <a:graphicFrameLocks noChangeAspect="1"/>
          </p:cNvGraphicFramePr>
          <p:nvPr/>
        </p:nvGraphicFramePr>
        <p:xfrm>
          <a:off x="6330950" y="3019425"/>
          <a:ext cx="415925" cy="330200"/>
        </p:xfrm>
        <a:graphic>
          <a:graphicData uri="http://schemas.openxmlformats.org/presentationml/2006/ole">
            <mc:AlternateContent xmlns:mc="http://schemas.openxmlformats.org/markup-compatibility/2006">
              <mc:Choice xmlns:v="urn:schemas-microsoft-com:vml" Requires="v">
                <p:oleObj spid="_x0000_s180412" name="Clip" r:id="rId11" imgW="1307263" imgH="1084139" progId="MS_ClipArt_Gallery.2">
                  <p:embed/>
                </p:oleObj>
              </mc:Choice>
              <mc:Fallback>
                <p:oleObj name="Clip" r:id="rId11" imgW="1307263" imgH="1084139" progId="MS_ClipArt_Gallery.2">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0950" y="3019425"/>
                        <a:ext cx="4159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0257" name="Line 101"/>
          <p:cNvSpPr>
            <a:spLocks noChangeShapeType="1"/>
          </p:cNvSpPr>
          <p:nvPr/>
        </p:nvSpPr>
        <p:spPr bwMode="auto">
          <a:xfrm rot="-5400000">
            <a:off x="7169944" y="3005932"/>
            <a:ext cx="603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58" name="Line 102"/>
          <p:cNvSpPr>
            <a:spLocks noChangeShapeType="1"/>
          </p:cNvSpPr>
          <p:nvPr/>
        </p:nvSpPr>
        <p:spPr bwMode="auto">
          <a:xfrm rot="5400000" flipH="1">
            <a:off x="6543675" y="2997200"/>
            <a:ext cx="63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59" name="Line 103"/>
          <p:cNvSpPr>
            <a:spLocks noChangeShapeType="1"/>
          </p:cNvSpPr>
          <p:nvPr/>
        </p:nvSpPr>
        <p:spPr bwMode="auto">
          <a:xfrm rot="16200000" flipV="1">
            <a:off x="6890544" y="2658269"/>
            <a:ext cx="0" cy="627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0260" name="Freeform 104"/>
          <p:cNvSpPr>
            <a:spLocks/>
          </p:cNvSpPr>
          <p:nvPr/>
        </p:nvSpPr>
        <p:spPr bwMode="auto">
          <a:xfrm>
            <a:off x="5429250" y="1536700"/>
            <a:ext cx="1009650" cy="228600"/>
          </a:xfrm>
          <a:custGeom>
            <a:avLst/>
            <a:gdLst>
              <a:gd name="T0" fmla="*/ 0 w 636"/>
              <a:gd name="T1" fmla="*/ 2147483647 h 144"/>
              <a:gd name="T2" fmla="*/ 2147483647 w 636"/>
              <a:gd name="T3" fmla="*/ 2147483647 h 144"/>
              <a:gd name="T4" fmla="*/ 0 60000 65536"/>
              <a:gd name="T5" fmla="*/ 0 60000 65536"/>
              <a:gd name="T6" fmla="*/ 0 w 636"/>
              <a:gd name="T7" fmla="*/ 0 h 144"/>
              <a:gd name="T8" fmla="*/ 636 w 636"/>
              <a:gd name="T9" fmla="*/ 144 h 144"/>
            </a:gdLst>
            <a:ahLst/>
            <a:cxnLst>
              <a:cxn ang="T4">
                <a:pos x="T0" y="T1"/>
              </a:cxn>
              <a:cxn ang="T5">
                <a:pos x="T2" y="T3"/>
              </a:cxn>
            </a:cxnLst>
            <a:rect l="T6" t="T7" r="T8" b="T9"/>
            <a:pathLst>
              <a:path w="636" h="144">
                <a:moveTo>
                  <a:pt x="0" y="144"/>
                </a:moveTo>
                <a:cubicBezTo>
                  <a:pt x="180" y="6"/>
                  <a:pt x="450" y="0"/>
                  <a:pt x="636" y="114"/>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CA"/>
          </a:p>
        </p:txBody>
      </p:sp>
      <p:sp>
        <p:nvSpPr>
          <p:cNvPr id="180261" name="Freeform 105"/>
          <p:cNvSpPr>
            <a:spLocks/>
          </p:cNvSpPr>
          <p:nvPr/>
        </p:nvSpPr>
        <p:spPr bwMode="auto">
          <a:xfrm>
            <a:off x="6781800" y="1146175"/>
            <a:ext cx="771525" cy="939800"/>
          </a:xfrm>
          <a:custGeom>
            <a:avLst/>
            <a:gdLst>
              <a:gd name="T0" fmla="*/ 0 w 486"/>
              <a:gd name="T1" fmla="*/ 2147483647 h 592"/>
              <a:gd name="T2" fmla="*/ 2147483647 w 486"/>
              <a:gd name="T3" fmla="*/ 2147483647 h 592"/>
              <a:gd name="T4" fmla="*/ 2147483647 w 486"/>
              <a:gd name="T5" fmla="*/ 0 h 592"/>
              <a:gd name="T6" fmla="*/ 0 60000 65536"/>
              <a:gd name="T7" fmla="*/ 0 60000 65536"/>
              <a:gd name="T8" fmla="*/ 0 60000 65536"/>
              <a:gd name="T9" fmla="*/ 0 w 486"/>
              <a:gd name="T10" fmla="*/ 0 h 592"/>
              <a:gd name="T11" fmla="*/ 486 w 486"/>
              <a:gd name="T12" fmla="*/ 592 h 592"/>
            </a:gdLst>
            <a:ahLst/>
            <a:cxnLst>
              <a:cxn ang="T6">
                <a:pos x="T0" y="T1"/>
              </a:cxn>
              <a:cxn ang="T7">
                <a:pos x="T2" y="T3"/>
              </a:cxn>
              <a:cxn ang="T8">
                <a:pos x="T4" y="T5"/>
              </a:cxn>
            </a:cxnLst>
            <a:rect l="T9" t="T10" r="T11" b="T12"/>
            <a:pathLst>
              <a:path w="486" h="592">
                <a:moveTo>
                  <a:pt x="0" y="492"/>
                </a:moveTo>
                <a:cubicBezTo>
                  <a:pt x="25" y="472"/>
                  <a:pt x="81" y="592"/>
                  <a:pt x="162" y="510"/>
                </a:cubicBezTo>
                <a:cubicBezTo>
                  <a:pt x="243" y="428"/>
                  <a:pt x="419" y="106"/>
                  <a:pt x="486" y="0"/>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CA"/>
          </a:p>
        </p:txBody>
      </p:sp>
      <p:sp>
        <p:nvSpPr>
          <p:cNvPr id="180262" name="Text Box 106"/>
          <p:cNvSpPr txBox="1">
            <a:spLocks noChangeArrowheads="1"/>
          </p:cNvSpPr>
          <p:nvPr/>
        </p:nvSpPr>
        <p:spPr bwMode="auto">
          <a:xfrm>
            <a:off x="4946650" y="1112838"/>
            <a:ext cx="1479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host-to-gateway</a:t>
            </a:r>
          </a:p>
          <a:p>
            <a:r>
              <a:rPr lang="en-US" altLang="en-US" sz="1400">
                <a:latin typeface="Arial" pitchFamily="34" charset="0"/>
                <a:cs typeface="Arial" pitchFamily="34" charset="0"/>
              </a:rPr>
              <a:t>telnet session</a:t>
            </a:r>
            <a:endParaRPr lang="en-US" altLang="en-US" sz="1800">
              <a:latin typeface="Arial" pitchFamily="34" charset="0"/>
              <a:cs typeface="Arial" pitchFamily="34" charset="0"/>
            </a:endParaRPr>
          </a:p>
        </p:txBody>
      </p:sp>
      <p:sp>
        <p:nvSpPr>
          <p:cNvPr id="180263" name="Text Box 107"/>
          <p:cNvSpPr txBox="1">
            <a:spLocks noChangeArrowheads="1"/>
          </p:cNvSpPr>
          <p:nvPr/>
        </p:nvSpPr>
        <p:spPr bwMode="auto">
          <a:xfrm>
            <a:off x="6813550" y="722313"/>
            <a:ext cx="16811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gateway-to-remote </a:t>
            </a:r>
          </a:p>
          <a:p>
            <a:r>
              <a:rPr lang="en-US" altLang="en-US" sz="1400">
                <a:latin typeface="Arial" pitchFamily="34" charset="0"/>
                <a:cs typeface="Arial" pitchFamily="34" charset="0"/>
              </a:rPr>
              <a:t>host telnet session</a:t>
            </a:r>
            <a:endParaRPr lang="en-US" altLang="en-US" sz="1800">
              <a:latin typeface="Arial" pitchFamily="34" charset="0"/>
              <a:cs typeface="Arial" pitchFamily="34" charset="0"/>
            </a:endParaRPr>
          </a:p>
        </p:txBody>
      </p:sp>
      <p:sp>
        <p:nvSpPr>
          <p:cNvPr id="180264" name="Text Box 108"/>
          <p:cNvSpPr txBox="1">
            <a:spLocks noChangeArrowheads="1"/>
          </p:cNvSpPr>
          <p:nvPr/>
        </p:nvSpPr>
        <p:spPr bwMode="auto">
          <a:xfrm>
            <a:off x="5926138" y="1987550"/>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200">
                <a:latin typeface="Arial" pitchFamily="34" charset="0"/>
                <a:cs typeface="Arial" pitchFamily="34" charset="0"/>
              </a:rPr>
              <a:t>application</a:t>
            </a:r>
          </a:p>
          <a:p>
            <a:r>
              <a:rPr lang="en-US" altLang="en-US" sz="1200">
                <a:latin typeface="Arial" pitchFamily="34" charset="0"/>
                <a:cs typeface="Arial" pitchFamily="34" charset="0"/>
              </a:rPr>
              <a:t>gateway</a:t>
            </a:r>
            <a:endParaRPr lang="en-US" altLang="en-US" sz="1800">
              <a:latin typeface="Arial" pitchFamily="34" charset="0"/>
              <a:cs typeface="Arial" pitchFamily="34" charset="0"/>
            </a:endParaRPr>
          </a:p>
        </p:txBody>
      </p:sp>
      <p:sp>
        <p:nvSpPr>
          <p:cNvPr id="180265" name="Text Box 109"/>
          <p:cNvSpPr txBox="1">
            <a:spLocks noChangeArrowheads="1"/>
          </p:cNvSpPr>
          <p:nvPr/>
        </p:nvSpPr>
        <p:spPr bwMode="auto">
          <a:xfrm>
            <a:off x="7366000" y="2012950"/>
            <a:ext cx="12239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200">
                <a:latin typeface="Arial" pitchFamily="34" charset="0"/>
                <a:cs typeface="Arial" pitchFamily="34" charset="0"/>
              </a:rPr>
              <a:t>router and filter</a:t>
            </a:r>
            <a:endParaRPr lang="en-US" altLang="en-US" sz="1800">
              <a:latin typeface="Arial" pitchFamily="34" charset="0"/>
              <a:cs typeface="Arial" pitchFamily="34" charset="0"/>
            </a:endParaRPr>
          </a:p>
        </p:txBody>
      </p:sp>
      <p:sp>
        <p:nvSpPr>
          <p:cNvPr id="180266" name="Rectangle 110"/>
          <p:cNvSpPr>
            <a:spLocks noChangeArrowheads="1"/>
          </p:cNvSpPr>
          <p:nvPr/>
        </p:nvSpPr>
        <p:spPr bwMode="auto">
          <a:xfrm>
            <a:off x="798513" y="4084638"/>
            <a:ext cx="764222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chemeClr val="accent2"/>
              </a:buClr>
              <a:buSzPct val="85000"/>
              <a:buFont typeface="ZapfDingbats" pitchFamily="82" charset="2"/>
              <a:buNone/>
            </a:pPr>
            <a:r>
              <a:rPr lang="en-US" altLang="en-US" sz="2400">
                <a:solidFill>
                  <a:srgbClr val="FF0000"/>
                </a:solidFill>
                <a:latin typeface="Gill Sans MT" pitchFamily="34" charset="0"/>
              </a:rPr>
              <a:t>1.</a:t>
            </a:r>
            <a:r>
              <a:rPr lang="en-US" altLang="en-US" sz="2400">
                <a:latin typeface="Gill Sans MT" pitchFamily="34" charset="0"/>
              </a:rPr>
              <a:t> require all telnet users to telnet through gateway.</a:t>
            </a:r>
          </a:p>
          <a:p>
            <a:pPr>
              <a:spcBef>
                <a:spcPct val="20000"/>
              </a:spcBef>
              <a:buClr>
                <a:schemeClr val="accent2"/>
              </a:buClr>
              <a:buSzPct val="85000"/>
              <a:buFont typeface="ZapfDingbats" pitchFamily="82" charset="2"/>
              <a:buNone/>
            </a:pPr>
            <a:r>
              <a:rPr lang="en-US" altLang="en-US" sz="2400">
                <a:solidFill>
                  <a:srgbClr val="FF0000"/>
                </a:solidFill>
                <a:latin typeface="Gill Sans MT" pitchFamily="34" charset="0"/>
              </a:rPr>
              <a:t>2.</a:t>
            </a:r>
            <a:r>
              <a:rPr lang="en-US" altLang="en-US" sz="2400">
                <a:latin typeface="Gill Sans MT" pitchFamily="34" charset="0"/>
              </a:rPr>
              <a:t> for authorized users, gateway sets up telnet connection to dest host. Gateway relays data between 2 connections</a:t>
            </a:r>
          </a:p>
          <a:p>
            <a:pPr>
              <a:spcBef>
                <a:spcPct val="20000"/>
              </a:spcBef>
              <a:buClr>
                <a:schemeClr val="accent2"/>
              </a:buClr>
              <a:buSzPct val="85000"/>
              <a:buFont typeface="ZapfDingbats" pitchFamily="82" charset="2"/>
              <a:buNone/>
            </a:pPr>
            <a:r>
              <a:rPr lang="en-US" altLang="en-US" sz="2400">
                <a:solidFill>
                  <a:srgbClr val="FF0000"/>
                </a:solidFill>
                <a:latin typeface="Gill Sans MT" pitchFamily="34" charset="0"/>
              </a:rPr>
              <a:t>3.</a:t>
            </a:r>
            <a:r>
              <a:rPr lang="en-US" altLang="en-US" sz="2400">
                <a:latin typeface="Gill Sans MT" pitchFamily="34" charset="0"/>
              </a:rPr>
              <a:t> router filter blocks all telnet connections not originating from gateway.</a:t>
            </a: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273" name="Picture 21"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438" y="1050925"/>
            <a:ext cx="50276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7"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82275" name="Rectangle 2"/>
          <p:cNvSpPr>
            <a:spLocks noGrp="1" noChangeArrowheads="1"/>
          </p:cNvSpPr>
          <p:nvPr>
            <p:ph type="title"/>
          </p:nvPr>
        </p:nvSpPr>
        <p:spPr/>
        <p:txBody>
          <a:bodyPr/>
          <a:lstStyle/>
          <a:p>
            <a:r>
              <a:rPr lang="en-US" altLang="en-US" smtClean="0">
                <a:ea typeface="ＭＳ Ｐゴシック" pitchFamily="34" charset="-128"/>
              </a:rPr>
              <a:t>Application gateways</a:t>
            </a:r>
          </a:p>
        </p:txBody>
      </p:sp>
      <p:sp>
        <p:nvSpPr>
          <p:cNvPr id="182276" name="Rectangle 3"/>
          <p:cNvSpPr>
            <a:spLocks noGrp="1" noChangeArrowheads="1"/>
          </p:cNvSpPr>
          <p:nvPr>
            <p:ph type="body" sz="half" idx="1"/>
          </p:nvPr>
        </p:nvSpPr>
        <p:spPr>
          <a:xfrm>
            <a:off x="296863" y="1490663"/>
            <a:ext cx="3886200" cy="2236787"/>
          </a:xfrm>
        </p:spPr>
        <p:txBody>
          <a:bodyPr/>
          <a:lstStyle/>
          <a:p>
            <a:r>
              <a:rPr lang="en-US" altLang="en-US" sz="2400" smtClean="0">
                <a:ea typeface="ＭＳ Ｐゴシック" pitchFamily="34" charset="-128"/>
              </a:rPr>
              <a:t>filter packets on application data as well as on IP/TCP/UDP fields.</a:t>
            </a:r>
          </a:p>
          <a:p>
            <a:r>
              <a:rPr lang="en-US" altLang="en-US" sz="2400" i="1" smtClean="0">
                <a:solidFill>
                  <a:srgbClr val="CC0000"/>
                </a:solidFill>
                <a:ea typeface="ＭＳ Ｐゴシック" pitchFamily="34" charset="-128"/>
              </a:rPr>
              <a:t>example: </a:t>
            </a:r>
            <a:r>
              <a:rPr lang="en-US" altLang="en-US" sz="2400" smtClean="0">
                <a:ea typeface="ＭＳ Ｐゴシック" pitchFamily="34" charset="-128"/>
              </a:rPr>
              <a:t>allow select internal users to telnet outside</a:t>
            </a:r>
            <a:endParaRPr lang="en-US" altLang="en-US" sz="2000" smtClean="0">
              <a:ea typeface="ＭＳ Ｐゴシック" pitchFamily="34" charset="-128"/>
            </a:endParaRPr>
          </a:p>
        </p:txBody>
      </p:sp>
      <p:sp>
        <p:nvSpPr>
          <p:cNvPr id="182277" name="Rectangle 110"/>
          <p:cNvSpPr>
            <a:spLocks noChangeArrowheads="1"/>
          </p:cNvSpPr>
          <p:nvPr/>
        </p:nvSpPr>
        <p:spPr bwMode="auto">
          <a:xfrm>
            <a:off x="649288" y="4278313"/>
            <a:ext cx="764222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spcBef>
                <a:spcPct val="20000"/>
              </a:spcBef>
              <a:buClr>
                <a:schemeClr val="accent2"/>
              </a:buClr>
              <a:buSzPct val="85000"/>
              <a:buFont typeface="ZapfDingbats" pitchFamily="82" charset="2"/>
              <a:buNone/>
            </a:pPr>
            <a:r>
              <a:rPr lang="en-US" altLang="en-US" sz="2400">
                <a:solidFill>
                  <a:srgbClr val="FF0000"/>
                </a:solidFill>
                <a:latin typeface="Gill Sans MT" pitchFamily="34" charset="0"/>
              </a:rPr>
              <a:t>1.</a:t>
            </a:r>
            <a:r>
              <a:rPr lang="en-US" altLang="en-US" sz="2400">
                <a:latin typeface="Gill Sans MT" pitchFamily="34" charset="0"/>
              </a:rPr>
              <a:t> require all telnet users to telnet through gateway.</a:t>
            </a:r>
          </a:p>
          <a:p>
            <a:pPr>
              <a:spcBef>
                <a:spcPct val="20000"/>
              </a:spcBef>
              <a:buClr>
                <a:schemeClr val="accent2"/>
              </a:buClr>
              <a:buSzPct val="85000"/>
              <a:buFont typeface="ZapfDingbats" pitchFamily="82" charset="2"/>
              <a:buNone/>
            </a:pPr>
            <a:r>
              <a:rPr lang="en-US" altLang="en-US" sz="2400">
                <a:solidFill>
                  <a:srgbClr val="FF0000"/>
                </a:solidFill>
                <a:latin typeface="Gill Sans MT" pitchFamily="34" charset="0"/>
              </a:rPr>
              <a:t>2.</a:t>
            </a:r>
            <a:r>
              <a:rPr lang="en-US" altLang="en-US" sz="2400">
                <a:latin typeface="Gill Sans MT" pitchFamily="34" charset="0"/>
              </a:rPr>
              <a:t> for authorized users, gateway sets up telnet connection to dest host. Gateway relays data between 2 connections</a:t>
            </a:r>
          </a:p>
          <a:p>
            <a:pPr>
              <a:spcBef>
                <a:spcPct val="20000"/>
              </a:spcBef>
              <a:buClr>
                <a:schemeClr val="accent2"/>
              </a:buClr>
              <a:buSzPct val="85000"/>
              <a:buFont typeface="ZapfDingbats" pitchFamily="82" charset="2"/>
              <a:buNone/>
            </a:pPr>
            <a:r>
              <a:rPr lang="en-US" altLang="en-US" sz="2400">
                <a:solidFill>
                  <a:srgbClr val="FF0000"/>
                </a:solidFill>
                <a:latin typeface="Gill Sans MT" pitchFamily="34" charset="0"/>
              </a:rPr>
              <a:t>3.</a:t>
            </a:r>
            <a:r>
              <a:rPr lang="en-US" altLang="en-US" sz="2400">
                <a:latin typeface="Gill Sans MT" pitchFamily="34" charset="0"/>
              </a:rPr>
              <a:t> router filter blocks all telnet connections not originating from gateway.</a:t>
            </a:r>
          </a:p>
        </p:txBody>
      </p:sp>
      <p:grpSp>
        <p:nvGrpSpPr>
          <p:cNvPr id="182278" name="Group 4"/>
          <p:cNvGrpSpPr>
            <a:grpSpLocks/>
          </p:cNvGrpSpPr>
          <p:nvPr/>
        </p:nvGrpSpPr>
        <p:grpSpPr bwMode="auto">
          <a:xfrm>
            <a:off x="3938588" y="1585913"/>
            <a:ext cx="4997450" cy="2270125"/>
            <a:chOff x="3983577" y="1287140"/>
            <a:chExt cx="4997021" cy="2269618"/>
          </a:xfrm>
        </p:grpSpPr>
        <p:sp>
          <p:nvSpPr>
            <p:cNvPr id="182279" name="Text Box 108"/>
            <p:cNvSpPr txBox="1">
              <a:spLocks noChangeArrowheads="1"/>
            </p:cNvSpPr>
            <p:nvPr/>
          </p:nvSpPr>
          <p:spPr bwMode="auto">
            <a:xfrm>
              <a:off x="5827059" y="1479548"/>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1200">
                  <a:latin typeface="Arial" pitchFamily="34" charset="0"/>
                  <a:cs typeface="Arial" pitchFamily="34" charset="0"/>
                </a:rPr>
                <a:t>application</a:t>
              </a:r>
            </a:p>
            <a:p>
              <a:pPr algn="ctr"/>
              <a:r>
                <a:rPr lang="en-US" altLang="en-US" sz="1200">
                  <a:latin typeface="Arial" pitchFamily="34" charset="0"/>
                  <a:cs typeface="Arial" pitchFamily="34" charset="0"/>
                </a:rPr>
                <a:t>gateway</a:t>
              </a:r>
              <a:endParaRPr lang="en-US" altLang="en-US" sz="1800">
                <a:latin typeface="Arial" pitchFamily="34" charset="0"/>
                <a:cs typeface="Arial" pitchFamily="34" charset="0"/>
              </a:endParaRPr>
            </a:p>
          </p:txBody>
        </p:sp>
        <p:sp>
          <p:nvSpPr>
            <p:cNvPr id="182280" name="Freeform 17"/>
            <p:cNvSpPr>
              <a:spLocks/>
            </p:cNvSpPr>
            <p:nvPr/>
          </p:nvSpPr>
          <p:spPr bwMode="auto">
            <a:xfrm>
              <a:off x="4194135" y="1748877"/>
              <a:ext cx="3648681" cy="1807881"/>
            </a:xfrm>
            <a:custGeom>
              <a:avLst/>
              <a:gdLst/>
              <a:ahLst/>
              <a:cxnLst/>
              <a:rect l="0" t="0" r="r" b="b"/>
              <a:pathLst>
                <a:path w="10000" h="10000">
                  <a:moveTo>
                    <a:pt x="323" y="164"/>
                  </a:moveTo>
                  <a:lnTo>
                    <a:pt x="341" y="143"/>
                  </a:lnTo>
                  <a:cubicBezTo>
                    <a:pt x="349" y="129"/>
                    <a:pt x="357" y="116"/>
                    <a:pt x="365" y="102"/>
                  </a:cubicBezTo>
                  <a:lnTo>
                    <a:pt x="413" y="72"/>
                  </a:lnTo>
                  <a:cubicBezTo>
                    <a:pt x="429" y="58"/>
                    <a:pt x="445" y="45"/>
                    <a:pt x="461" y="31"/>
                  </a:cubicBezTo>
                  <a:lnTo>
                    <a:pt x="514" y="10"/>
                  </a:lnTo>
                  <a:cubicBezTo>
                    <a:pt x="534" y="7"/>
                    <a:pt x="554" y="3"/>
                    <a:pt x="574" y="0"/>
                  </a:cubicBezTo>
                  <a:lnTo>
                    <a:pt x="628" y="0"/>
                  </a:lnTo>
                  <a:lnTo>
                    <a:pt x="694" y="0"/>
                  </a:lnTo>
                  <a:cubicBezTo>
                    <a:pt x="716" y="3"/>
                    <a:pt x="738" y="7"/>
                    <a:pt x="760" y="10"/>
                  </a:cubicBezTo>
                  <a:lnTo>
                    <a:pt x="825" y="31"/>
                  </a:lnTo>
                  <a:lnTo>
                    <a:pt x="891" y="61"/>
                  </a:lnTo>
                  <a:cubicBezTo>
                    <a:pt x="915" y="71"/>
                    <a:pt x="939" y="82"/>
                    <a:pt x="963" y="92"/>
                  </a:cubicBezTo>
                  <a:cubicBezTo>
                    <a:pt x="989" y="106"/>
                    <a:pt x="1015" y="119"/>
                    <a:pt x="1041" y="133"/>
                  </a:cubicBezTo>
                  <a:lnTo>
                    <a:pt x="1118" y="174"/>
                  </a:lnTo>
                  <a:lnTo>
                    <a:pt x="1196" y="225"/>
                  </a:lnTo>
                  <a:lnTo>
                    <a:pt x="1268" y="276"/>
                  </a:lnTo>
                  <a:cubicBezTo>
                    <a:pt x="1294" y="290"/>
                    <a:pt x="1320" y="303"/>
                    <a:pt x="1346" y="317"/>
                  </a:cubicBezTo>
                  <a:lnTo>
                    <a:pt x="1513" y="440"/>
                  </a:lnTo>
                  <a:lnTo>
                    <a:pt x="1681" y="553"/>
                  </a:lnTo>
                  <a:lnTo>
                    <a:pt x="1848" y="665"/>
                  </a:lnTo>
                  <a:lnTo>
                    <a:pt x="2022" y="778"/>
                  </a:lnTo>
                  <a:cubicBezTo>
                    <a:pt x="2050" y="798"/>
                    <a:pt x="2077" y="819"/>
                    <a:pt x="2105" y="839"/>
                  </a:cubicBezTo>
                  <a:cubicBezTo>
                    <a:pt x="2133" y="853"/>
                    <a:pt x="2161" y="866"/>
                    <a:pt x="2189" y="880"/>
                  </a:cubicBezTo>
                  <a:cubicBezTo>
                    <a:pt x="2217" y="894"/>
                    <a:pt x="2245" y="907"/>
                    <a:pt x="2273" y="921"/>
                  </a:cubicBezTo>
                  <a:lnTo>
                    <a:pt x="2356" y="972"/>
                  </a:lnTo>
                  <a:lnTo>
                    <a:pt x="2440" y="993"/>
                  </a:lnTo>
                  <a:cubicBezTo>
                    <a:pt x="2468" y="1003"/>
                    <a:pt x="2496" y="1014"/>
                    <a:pt x="2524" y="1024"/>
                  </a:cubicBezTo>
                  <a:lnTo>
                    <a:pt x="2608" y="1054"/>
                  </a:lnTo>
                  <a:cubicBezTo>
                    <a:pt x="2638" y="1057"/>
                    <a:pt x="2667" y="1061"/>
                    <a:pt x="2697" y="1064"/>
                  </a:cubicBezTo>
                  <a:cubicBezTo>
                    <a:pt x="2725" y="1068"/>
                    <a:pt x="2753" y="1071"/>
                    <a:pt x="2781" y="1075"/>
                  </a:cubicBezTo>
                  <a:lnTo>
                    <a:pt x="2853" y="1075"/>
                  </a:lnTo>
                  <a:cubicBezTo>
                    <a:pt x="2881" y="1262"/>
                    <a:pt x="2909" y="1143"/>
                    <a:pt x="2937" y="1330"/>
                  </a:cubicBezTo>
                  <a:cubicBezTo>
                    <a:pt x="2963" y="1118"/>
                    <a:pt x="2988" y="1287"/>
                    <a:pt x="3014" y="1075"/>
                  </a:cubicBezTo>
                  <a:cubicBezTo>
                    <a:pt x="3042" y="1071"/>
                    <a:pt x="3070" y="1068"/>
                    <a:pt x="3098" y="1064"/>
                  </a:cubicBezTo>
                  <a:lnTo>
                    <a:pt x="3182" y="1064"/>
                  </a:lnTo>
                  <a:lnTo>
                    <a:pt x="3343" y="1024"/>
                  </a:lnTo>
                  <a:lnTo>
                    <a:pt x="3505" y="1003"/>
                  </a:lnTo>
                  <a:lnTo>
                    <a:pt x="3672" y="972"/>
                  </a:lnTo>
                  <a:lnTo>
                    <a:pt x="3834" y="921"/>
                  </a:lnTo>
                  <a:lnTo>
                    <a:pt x="4007" y="880"/>
                  </a:lnTo>
                  <a:lnTo>
                    <a:pt x="4175" y="850"/>
                  </a:lnTo>
                  <a:lnTo>
                    <a:pt x="4348" y="809"/>
                  </a:lnTo>
                  <a:lnTo>
                    <a:pt x="4528" y="788"/>
                  </a:lnTo>
                  <a:cubicBezTo>
                    <a:pt x="4562" y="785"/>
                    <a:pt x="4595" y="781"/>
                    <a:pt x="4629" y="778"/>
                  </a:cubicBezTo>
                  <a:cubicBezTo>
                    <a:pt x="4659" y="775"/>
                    <a:pt x="4689" y="771"/>
                    <a:pt x="4719" y="768"/>
                  </a:cubicBezTo>
                  <a:lnTo>
                    <a:pt x="4809" y="768"/>
                  </a:lnTo>
                  <a:lnTo>
                    <a:pt x="4904" y="768"/>
                  </a:lnTo>
                  <a:lnTo>
                    <a:pt x="5006" y="778"/>
                  </a:lnTo>
                  <a:lnTo>
                    <a:pt x="5102" y="778"/>
                  </a:lnTo>
                  <a:cubicBezTo>
                    <a:pt x="5138" y="781"/>
                    <a:pt x="5173" y="785"/>
                    <a:pt x="5209" y="788"/>
                  </a:cubicBezTo>
                  <a:lnTo>
                    <a:pt x="5311" y="809"/>
                  </a:lnTo>
                  <a:lnTo>
                    <a:pt x="5419" y="839"/>
                  </a:lnTo>
                  <a:lnTo>
                    <a:pt x="5520" y="860"/>
                  </a:lnTo>
                  <a:lnTo>
                    <a:pt x="5634" y="901"/>
                  </a:lnTo>
                  <a:lnTo>
                    <a:pt x="5748" y="931"/>
                  </a:lnTo>
                  <a:lnTo>
                    <a:pt x="5861" y="972"/>
                  </a:lnTo>
                  <a:lnTo>
                    <a:pt x="5999" y="1003"/>
                  </a:lnTo>
                  <a:lnTo>
                    <a:pt x="6124" y="1044"/>
                  </a:lnTo>
                  <a:lnTo>
                    <a:pt x="6256" y="1085"/>
                  </a:lnTo>
                  <a:lnTo>
                    <a:pt x="6394" y="1126"/>
                  </a:lnTo>
                  <a:lnTo>
                    <a:pt x="6531" y="1167"/>
                  </a:lnTo>
                  <a:lnTo>
                    <a:pt x="6681" y="1218"/>
                  </a:lnTo>
                  <a:lnTo>
                    <a:pt x="6824" y="1269"/>
                  </a:lnTo>
                  <a:lnTo>
                    <a:pt x="7117" y="1372"/>
                  </a:lnTo>
                  <a:lnTo>
                    <a:pt x="7410" y="1494"/>
                  </a:lnTo>
                  <a:lnTo>
                    <a:pt x="7703" y="1627"/>
                  </a:lnTo>
                  <a:lnTo>
                    <a:pt x="7853" y="1699"/>
                  </a:lnTo>
                  <a:lnTo>
                    <a:pt x="7996" y="1771"/>
                  </a:lnTo>
                  <a:lnTo>
                    <a:pt x="8140" y="1842"/>
                  </a:lnTo>
                  <a:lnTo>
                    <a:pt x="8278" y="1914"/>
                  </a:lnTo>
                  <a:cubicBezTo>
                    <a:pt x="8322" y="1941"/>
                    <a:pt x="8365" y="1969"/>
                    <a:pt x="8409" y="1996"/>
                  </a:cubicBezTo>
                  <a:lnTo>
                    <a:pt x="8547" y="2078"/>
                  </a:lnTo>
                  <a:cubicBezTo>
                    <a:pt x="8589" y="2105"/>
                    <a:pt x="8630" y="2133"/>
                    <a:pt x="8672" y="2160"/>
                  </a:cubicBezTo>
                  <a:lnTo>
                    <a:pt x="8798" y="2252"/>
                  </a:lnTo>
                  <a:lnTo>
                    <a:pt x="8911" y="2344"/>
                  </a:lnTo>
                  <a:lnTo>
                    <a:pt x="9025" y="2436"/>
                  </a:lnTo>
                  <a:lnTo>
                    <a:pt x="9133" y="2538"/>
                  </a:lnTo>
                  <a:cubicBezTo>
                    <a:pt x="9149" y="2552"/>
                    <a:pt x="9165" y="2565"/>
                    <a:pt x="9181" y="2579"/>
                  </a:cubicBezTo>
                  <a:lnTo>
                    <a:pt x="9228" y="2641"/>
                  </a:lnTo>
                  <a:lnTo>
                    <a:pt x="9276" y="2692"/>
                  </a:lnTo>
                  <a:cubicBezTo>
                    <a:pt x="9290" y="2706"/>
                    <a:pt x="9304" y="2719"/>
                    <a:pt x="9318" y="2733"/>
                  </a:cubicBezTo>
                  <a:cubicBezTo>
                    <a:pt x="9332" y="2753"/>
                    <a:pt x="9346" y="2774"/>
                    <a:pt x="9360" y="2794"/>
                  </a:cubicBezTo>
                  <a:cubicBezTo>
                    <a:pt x="9374" y="2815"/>
                    <a:pt x="9388" y="2835"/>
                    <a:pt x="9402" y="2856"/>
                  </a:cubicBezTo>
                  <a:lnTo>
                    <a:pt x="9444" y="2907"/>
                  </a:lnTo>
                  <a:cubicBezTo>
                    <a:pt x="9456" y="2927"/>
                    <a:pt x="9468" y="2948"/>
                    <a:pt x="9480" y="2968"/>
                  </a:cubicBezTo>
                  <a:cubicBezTo>
                    <a:pt x="9492" y="2989"/>
                    <a:pt x="9504" y="3009"/>
                    <a:pt x="9516" y="3030"/>
                  </a:cubicBezTo>
                  <a:cubicBezTo>
                    <a:pt x="9528" y="3047"/>
                    <a:pt x="9539" y="3064"/>
                    <a:pt x="9551" y="3081"/>
                  </a:cubicBezTo>
                  <a:lnTo>
                    <a:pt x="9611" y="3204"/>
                  </a:lnTo>
                  <a:cubicBezTo>
                    <a:pt x="9629" y="3248"/>
                    <a:pt x="9647" y="3293"/>
                    <a:pt x="9665" y="3337"/>
                  </a:cubicBezTo>
                  <a:cubicBezTo>
                    <a:pt x="9683" y="3385"/>
                    <a:pt x="9701" y="3432"/>
                    <a:pt x="9719" y="3480"/>
                  </a:cubicBezTo>
                  <a:cubicBezTo>
                    <a:pt x="9735" y="3531"/>
                    <a:pt x="9751" y="3583"/>
                    <a:pt x="9767" y="3634"/>
                  </a:cubicBezTo>
                  <a:lnTo>
                    <a:pt x="9809" y="3787"/>
                  </a:lnTo>
                  <a:cubicBezTo>
                    <a:pt x="9823" y="3838"/>
                    <a:pt x="9836" y="3890"/>
                    <a:pt x="9850" y="3941"/>
                  </a:cubicBezTo>
                  <a:cubicBezTo>
                    <a:pt x="9858" y="4002"/>
                    <a:pt x="9866" y="4064"/>
                    <a:pt x="9874" y="4125"/>
                  </a:cubicBezTo>
                  <a:cubicBezTo>
                    <a:pt x="9884" y="4180"/>
                    <a:pt x="9894" y="4234"/>
                    <a:pt x="9904" y="4289"/>
                  </a:cubicBezTo>
                  <a:cubicBezTo>
                    <a:pt x="9914" y="4354"/>
                    <a:pt x="9924" y="4418"/>
                    <a:pt x="9934" y="4483"/>
                  </a:cubicBezTo>
                  <a:cubicBezTo>
                    <a:pt x="9940" y="4544"/>
                    <a:pt x="9946" y="4606"/>
                    <a:pt x="9952" y="4667"/>
                  </a:cubicBezTo>
                  <a:cubicBezTo>
                    <a:pt x="9958" y="4729"/>
                    <a:pt x="9964" y="4790"/>
                    <a:pt x="9970" y="4852"/>
                  </a:cubicBezTo>
                  <a:cubicBezTo>
                    <a:pt x="9974" y="4917"/>
                    <a:pt x="9978" y="4981"/>
                    <a:pt x="9982" y="5046"/>
                  </a:cubicBezTo>
                  <a:lnTo>
                    <a:pt x="9994" y="5241"/>
                  </a:lnTo>
                  <a:lnTo>
                    <a:pt x="9994" y="5425"/>
                  </a:lnTo>
                  <a:lnTo>
                    <a:pt x="10000" y="5629"/>
                  </a:lnTo>
                  <a:lnTo>
                    <a:pt x="9994" y="5824"/>
                  </a:lnTo>
                  <a:lnTo>
                    <a:pt x="9994" y="6018"/>
                  </a:lnTo>
                  <a:lnTo>
                    <a:pt x="9988" y="6213"/>
                  </a:lnTo>
                  <a:cubicBezTo>
                    <a:pt x="9984" y="6278"/>
                    <a:pt x="9980" y="6342"/>
                    <a:pt x="9976" y="6407"/>
                  </a:cubicBezTo>
                  <a:lnTo>
                    <a:pt x="9958" y="6602"/>
                  </a:lnTo>
                  <a:lnTo>
                    <a:pt x="9946" y="6776"/>
                  </a:lnTo>
                  <a:cubicBezTo>
                    <a:pt x="9940" y="6837"/>
                    <a:pt x="9934" y="6899"/>
                    <a:pt x="9928" y="6960"/>
                  </a:cubicBezTo>
                  <a:lnTo>
                    <a:pt x="9904" y="7134"/>
                  </a:lnTo>
                  <a:cubicBezTo>
                    <a:pt x="9894" y="7195"/>
                    <a:pt x="9884" y="7257"/>
                    <a:pt x="9874" y="7318"/>
                  </a:cubicBezTo>
                  <a:cubicBezTo>
                    <a:pt x="9868" y="7373"/>
                    <a:pt x="9862" y="7427"/>
                    <a:pt x="9856" y="7482"/>
                  </a:cubicBezTo>
                  <a:cubicBezTo>
                    <a:pt x="9846" y="7537"/>
                    <a:pt x="9837" y="7591"/>
                    <a:pt x="9827" y="7646"/>
                  </a:cubicBezTo>
                  <a:lnTo>
                    <a:pt x="9791" y="7799"/>
                  </a:lnTo>
                  <a:lnTo>
                    <a:pt x="9761" y="7943"/>
                  </a:lnTo>
                  <a:cubicBezTo>
                    <a:pt x="9749" y="7991"/>
                    <a:pt x="9737" y="8038"/>
                    <a:pt x="9725" y="8086"/>
                  </a:cubicBezTo>
                  <a:cubicBezTo>
                    <a:pt x="9713" y="8130"/>
                    <a:pt x="9701" y="8175"/>
                    <a:pt x="9689" y="8219"/>
                  </a:cubicBezTo>
                  <a:cubicBezTo>
                    <a:pt x="9677" y="8257"/>
                    <a:pt x="9665" y="8294"/>
                    <a:pt x="9653" y="8332"/>
                  </a:cubicBezTo>
                  <a:cubicBezTo>
                    <a:pt x="9639" y="8369"/>
                    <a:pt x="9625" y="8407"/>
                    <a:pt x="9611" y="8444"/>
                  </a:cubicBezTo>
                  <a:cubicBezTo>
                    <a:pt x="9597" y="8475"/>
                    <a:pt x="9583" y="8505"/>
                    <a:pt x="9569" y="8536"/>
                  </a:cubicBezTo>
                  <a:cubicBezTo>
                    <a:pt x="9553" y="8567"/>
                    <a:pt x="9538" y="8597"/>
                    <a:pt x="9522" y="8628"/>
                  </a:cubicBezTo>
                  <a:lnTo>
                    <a:pt x="9474" y="8721"/>
                  </a:lnTo>
                  <a:cubicBezTo>
                    <a:pt x="9454" y="8745"/>
                    <a:pt x="9434" y="8768"/>
                    <a:pt x="9414" y="8792"/>
                  </a:cubicBezTo>
                  <a:cubicBezTo>
                    <a:pt x="9394" y="8819"/>
                    <a:pt x="9374" y="8847"/>
                    <a:pt x="9354" y="8874"/>
                  </a:cubicBezTo>
                  <a:cubicBezTo>
                    <a:pt x="9332" y="8895"/>
                    <a:pt x="9310" y="8915"/>
                    <a:pt x="9288" y="8936"/>
                  </a:cubicBezTo>
                  <a:cubicBezTo>
                    <a:pt x="9268" y="8956"/>
                    <a:pt x="9248" y="8977"/>
                    <a:pt x="9228" y="8997"/>
                  </a:cubicBezTo>
                  <a:lnTo>
                    <a:pt x="9157" y="9048"/>
                  </a:lnTo>
                  <a:cubicBezTo>
                    <a:pt x="9131" y="9069"/>
                    <a:pt x="9105" y="9089"/>
                    <a:pt x="9079" y="9110"/>
                  </a:cubicBezTo>
                  <a:lnTo>
                    <a:pt x="9007" y="9161"/>
                  </a:lnTo>
                  <a:lnTo>
                    <a:pt x="8929" y="9191"/>
                  </a:lnTo>
                  <a:lnTo>
                    <a:pt x="8846" y="9232"/>
                  </a:lnTo>
                  <a:cubicBezTo>
                    <a:pt x="8818" y="9242"/>
                    <a:pt x="8790" y="9253"/>
                    <a:pt x="8762" y="9263"/>
                  </a:cubicBezTo>
                  <a:cubicBezTo>
                    <a:pt x="8734" y="9277"/>
                    <a:pt x="8706" y="9290"/>
                    <a:pt x="8678" y="9304"/>
                  </a:cubicBezTo>
                  <a:cubicBezTo>
                    <a:pt x="8648" y="9314"/>
                    <a:pt x="8619" y="9325"/>
                    <a:pt x="8589" y="9335"/>
                  </a:cubicBezTo>
                  <a:lnTo>
                    <a:pt x="8493" y="9365"/>
                  </a:lnTo>
                  <a:lnTo>
                    <a:pt x="8313" y="9406"/>
                  </a:lnTo>
                  <a:lnTo>
                    <a:pt x="8122" y="9447"/>
                  </a:lnTo>
                  <a:lnTo>
                    <a:pt x="7931" y="9478"/>
                  </a:lnTo>
                  <a:lnTo>
                    <a:pt x="7733" y="9519"/>
                  </a:lnTo>
                  <a:lnTo>
                    <a:pt x="7530" y="9539"/>
                  </a:lnTo>
                  <a:lnTo>
                    <a:pt x="7339" y="9580"/>
                  </a:lnTo>
                  <a:lnTo>
                    <a:pt x="7141" y="9611"/>
                  </a:lnTo>
                  <a:lnTo>
                    <a:pt x="6950" y="9662"/>
                  </a:lnTo>
                  <a:lnTo>
                    <a:pt x="6854" y="9683"/>
                  </a:lnTo>
                  <a:lnTo>
                    <a:pt x="6758" y="9713"/>
                  </a:lnTo>
                  <a:lnTo>
                    <a:pt x="6651" y="9724"/>
                  </a:lnTo>
                  <a:lnTo>
                    <a:pt x="6549" y="9744"/>
                  </a:lnTo>
                  <a:lnTo>
                    <a:pt x="6441" y="9765"/>
                  </a:lnTo>
                  <a:lnTo>
                    <a:pt x="6334" y="9785"/>
                  </a:lnTo>
                  <a:lnTo>
                    <a:pt x="6226" y="9806"/>
                  </a:lnTo>
                  <a:lnTo>
                    <a:pt x="6112" y="9816"/>
                  </a:lnTo>
                  <a:lnTo>
                    <a:pt x="5885" y="9857"/>
                  </a:lnTo>
                  <a:lnTo>
                    <a:pt x="5652" y="9887"/>
                  </a:lnTo>
                  <a:lnTo>
                    <a:pt x="5425" y="9918"/>
                  </a:lnTo>
                  <a:lnTo>
                    <a:pt x="5185" y="9928"/>
                  </a:lnTo>
                  <a:lnTo>
                    <a:pt x="4958" y="9949"/>
                  </a:lnTo>
                  <a:lnTo>
                    <a:pt x="4731" y="9959"/>
                  </a:lnTo>
                  <a:lnTo>
                    <a:pt x="4623" y="9969"/>
                  </a:lnTo>
                  <a:lnTo>
                    <a:pt x="4510" y="9969"/>
                  </a:lnTo>
                  <a:lnTo>
                    <a:pt x="4402" y="9990"/>
                  </a:lnTo>
                  <a:lnTo>
                    <a:pt x="4294" y="9990"/>
                  </a:lnTo>
                  <a:lnTo>
                    <a:pt x="4193" y="9990"/>
                  </a:lnTo>
                  <a:lnTo>
                    <a:pt x="4091" y="10000"/>
                  </a:lnTo>
                  <a:lnTo>
                    <a:pt x="3995" y="10000"/>
                  </a:lnTo>
                  <a:lnTo>
                    <a:pt x="3894" y="10000"/>
                  </a:lnTo>
                  <a:lnTo>
                    <a:pt x="3804" y="10000"/>
                  </a:lnTo>
                  <a:lnTo>
                    <a:pt x="3714" y="10000"/>
                  </a:lnTo>
                  <a:lnTo>
                    <a:pt x="3630" y="10000"/>
                  </a:lnTo>
                  <a:lnTo>
                    <a:pt x="3547" y="10000"/>
                  </a:lnTo>
                  <a:cubicBezTo>
                    <a:pt x="3521" y="9997"/>
                    <a:pt x="3495" y="9993"/>
                    <a:pt x="3469" y="9990"/>
                  </a:cubicBezTo>
                  <a:lnTo>
                    <a:pt x="3391" y="9990"/>
                  </a:lnTo>
                  <a:lnTo>
                    <a:pt x="3325" y="9990"/>
                  </a:lnTo>
                  <a:lnTo>
                    <a:pt x="3254" y="9969"/>
                  </a:lnTo>
                  <a:lnTo>
                    <a:pt x="3182" y="9969"/>
                  </a:lnTo>
                  <a:lnTo>
                    <a:pt x="3122" y="9969"/>
                  </a:lnTo>
                  <a:cubicBezTo>
                    <a:pt x="3100" y="9966"/>
                    <a:pt x="3078" y="9962"/>
                    <a:pt x="3056" y="9959"/>
                  </a:cubicBezTo>
                  <a:cubicBezTo>
                    <a:pt x="3038" y="9956"/>
                    <a:pt x="3020" y="9952"/>
                    <a:pt x="3002" y="9949"/>
                  </a:cubicBezTo>
                  <a:lnTo>
                    <a:pt x="2949" y="9949"/>
                  </a:lnTo>
                  <a:cubicBezTo>
                    <a:pt x="2929" y="9946"/>
                    <a:pt x="2909" y="9942"/>
                    <a:pt x="2889" y="9939"/>
                  </a:cubicBezTo>
                  <a:cubicBezTo>
                    <a:pt x="2871" y="9935"/>
                    <a:pt x="2853" y="9932"/>
                    <a:pt x="2835" y="9928"/>
                  </a:cubicBezTo>
                  <a:cubicBezTo>
                    <a:pt x="2817" y="9925"/>
                    <a:pt x="2799" y="9921"/>
                    <a:pt x="2781" y="9918"/>
                  </a:cubicBezTo>
                  <a:lnTo>
                    <a:pt x="2679" y="9887"/>
                  </a:lnTo>
                  <a:lnTo>
                    <a:pt x="2584" y="9867"/>
                  </a:lnTo>
                  <a:cubicBezTo>
                    <a:pt x="2554" y="9853"/>
                    <a:pt x="2524" y="9840"/>
                    <a:pt x="2494" y="9826"/>
                  </a:cubicBezTo>
                  <a:cubicBezTo>
                    <a:pt x="2462" y="9819"/>
                    <a:pt x="2430" y="9813"/>
                    <a:pt x="2398" y="9806"/>
                  </a:cubicBezTo>
                  <a:lnTo>
                    <a:pt x="2225" y="9724"/>
                  </a:lnTo>
                  <a:cubicBezTo>
                    <a:pt x="2195" y="9710"/>
                    <a:pt x="2165" y="9697"/>
                    <a:pt x="2135" y="9683"/>
                  </a:cubicBezTo>
                  <a:cubicBezTo>
                    <a:pt x="2105" y="9669"/>
                    <a:pt x="2075" y="9656"/>
                    <a:pt x="2045" y="9642"/>
                  </a:cubicBezTo>
                  <a:lnTo>
                    <a:pt x="1950" y="9591"/>
                  </a:lnTo>
                  <a:lnTo>
                    <a:pt x="1842" y="9539"/>
                  </a:lnTo>
                  <a:lnTo>
                    <a:pt x="1740" y="9498"/>
                  </a:lnTo>
                  <a:lnTo>
                    <a:pt x="1633" y="9447"/>
                  </a:lnTo>
                  <a:lnTo>
                    <a:pt x="1519" y="9396"/>
                  </a:lnTo>
                  <a:lnTo>
                    <a:pt x="1411" y="9355"/>
                  </a:lnTo>
                  <a:cubicBezTo>
                    <a:pt x="1371" y="9335"/>
                    <a:pt x="1332" y="9314"/>
                    <a:pt x="1292" y="9294"/>
                  </a:cubicBezTo>
                  <a:lnTo>
                    <a:pt x="1178" y="9243"/>
                  </a:lnTo>
                  <a:lnTo>
                    <a:pt x="1071" y="9181"/>
                  </a:lnTo>
                  <a:lnTo>
                    <a:pt x="957" y="9120"/>
                  </a:lnTo>
                  <a:lnTo>
                    <a:pt x="849" y="9069"/>
                  </a:lnTo>
                  <a:lnTo>
                    <a:pt x="748" y="8976"/>
                  </a:lnTo>
                  <a:cubicBezTo>
                    <a:pt x="716" y="8952"/>
                    <a:pt x="684" y="8929"/>
                    <a:pt x="652" y="8905"/>
                  </a:cubicBezTo>
                  <a:lnTo>
                    <a:pt x="550" y="8813"/>
                  </a:lnTo>
                  <a:lnTo>
                    <a:pt x="508" y="8762"/>
                  </a:lnTo>
                  <a:lnTo>
                    <a:pt x="467" y="8721"/>
                  </a:lnTo>
                  <a:cubicBezTo>
                    <a:pt x="453" y="8700"/>
                    <a:pt x="439" y="8680"/>
                    <a:pt x="425" y="8659"/>
                  </a:cubicBezTo>
                  <a:lnTo>
                    <a:pt x="383" y="8608"/>
                  </a:lnTo>
                  <a:cubicBezTo>
                    <a:pt x="371" y="8588"/>
                    <a:pt x="359" y="8567"/>
                    <a:pt x="347" y="8547"/>
                  </a:cubicBezTo>
                  <a:lnTo>
                    <a:pt x="317" y="8475"/>
                  </a:lnTo>
                  <a:cubicBezTo>
                    <a:pt x="305" y="8455"/>
                    <a:pt x="293" y="8434"/>
                    <a:pt x="281" y="8414"/>
                  </a:cubicBezTo>
                  <a:lnTo>
                    <a:pt x="251" y="8342"/>
                  </a:lnTo>
                  <a:lnTo>
                    <a:pt x="221" y="8270"/>
                  </a:lnTo>
                  <a:cubicBezTo>
                    <a:pt x="215" y="8246"/>
                    <a:pt x="209" y="8223"/>
                    <a:pt x="203" y="8199"/>
                  </a:cubicBezTo>
                  <a:cubicBezTo>
                    <a:pt x="193" y="8172"/>
                    <a:pt x="183" y="8144"/>
                    <a:pt x="173" y="8117"/>
                  </a:cubicBezTo>
                  <a:cubicBezTo>
                    <a:pt x="167" y="8093"/>
                    <a:pt x="162" y="8069"/>
                    <a:pt x="156" y="8045"/>
                  </a:cubicBezTo>
                  <a:cubicBezTo>
                    <a:pt x="148" y="8018"/>
                    <a:pt x="140" y="7990"/>
                    <a:pt x="132" y="7963"/>
                  </a:cubicBezTo>
                  <a:cubicBezTo>
                    <a:pt x="128" y="7936"/>
                    <a:pt x="124" y="7908"/>
                    <a:pt x="120" y="7881"/>
                  </a:cubicBezTo>
                  <a:cubicBezTo>
                    <a:pt x="108" y="7820"/>
                    <a:pt x="96" y="7758"/>
                    <a:pt x="84" y="7697"/>
                  </a:cubicBezTo>
                  <a:lnTo>
                    <a:pt x="54" y="7523"/>
                  </a:lnTo>
                  <a:cubicBezTo>
                    <a:pt x="50" y="7458"/>
                    <a:pt x="46" y="7394"/>
                    <a:pt x="42" y="7329"/>
                  </a:cubicBezTo>
                  <a:cubicBezTo>
                    <a:pt x="38" y="7261"/>
                    <a:pt x="34" y="7192"/>
                    <a:pt x="30" y="7124"/>
                  </a:cubicBezTo>
                  <a:cubicBezTo>
                    <a:pt x="24" y="7052"/>
                    <a:pt x="18" y="6981"/>
                    <a:pt x="12" y="6909"/>
                  </a:cubicBezTo>
                  <a:cubicBezTo>
                    <a:pt x="10" y="6837"/>
                    <a:pt x="8" y="6766"/>
                    <a:pt x="6" y="6694"/>
                  </a:cubicBezTo>
                  <a:lnTo>
                    <a:pt x="6" y="6479"/>
                  </a:lnTo>
                  <a:lnTo>
                    <a:pt x="0" y="6254"/>
                  </a:lnTo>
                  <a:lnTo>
                    <a:pt x="0" y="6018"/>
                  </a:lnTo>
                  <a:cubicBezTo>
                    <a:pt x="2" y="5936"/>
                    <a:pt x="4" y="5855"/>
                    <a:pt x="6" y="5773"/>
                  </a:cubicBezTo>
                  <a:lnTo>
                    <a:pt x="6" y="5527"/>
                  </a:lnTo>
                  <a:cubicBezTo>
                    <a:pt x="8" y="5442"/>
                    <a:pt x="10" y="5356"/>
                    <a:pt x="12" y="5271"/>
                  </a:cubicBezTo>
                  <a:lnTo>
                    <a:pt x="12" y="5026"/>
                  </a:lnTo>
                  <a:lnTo>
                    <a:pt x="12" y="4893"/>
                  </a:lnTo>
                  <a:lnTo>
                    <a:pt x="12" y="4749"/>
                  </a:lnTo>
                  <a:lnTo>
                    <a:pt x="12" y="4606"/>
                  </a:lnTo>
                  <a:lnTo>
                    <a:pt x="12" y="4452"/>
                  </a:lnTo>
                  <a:lnTo>
                    <a:pt x="6" y="4278"/>
                  </a:lnTo>
                  <a:lnTo>
                    <a:pt x="6" y="4115"/>
                  </a:lnTo>
                  <a:lnTo>
                    <a:pt x="6" y="3941"/>
                  </a:lnTo>
                  <a:lnTo>
                    <a:pt x="0" y="3767"/>
                  </a:lnTo>
                  <a:lnTo>
                    <a:pt x="0" y="3582"/>
                  </a:lnTo>
                  <a:lnTo>
                    <a:pt x="0" y="3408"/>
                  </a:lnTo>
                  <a:lnTo>
                    <a:pt x="0" y="3040"/>
                  </a:lnTo>
                  <a:lnTo>
                    <a:pt x="0" y="2661"/>
                  </a:lnTo>
                  <a:lnTo>
                    <a:pt x="0" y="2293"/>
                  </a:lnTo>
                  <a:lnTo>
                    <a:pt x="6" y="2119"/>
                  </a:lnTo>
                  <a:cubicBezTo>
                    <a:pt x="8" y="2057"/>
                    <a:pt x="10" y="1996"/>
                    <a:pt x="12" y="1934"/>
                  </a:cubicBezTo>
                  <a:cubicBezTo>
                    <a:pt x="16" y="1880"/>
                    <a:pt x="20" y="1825"/>
                    <a:pt x="24" y="1771"/>
                  </a:cubicBezTo>
                  <a:lnTo>
                    <a:pt x="30" y="1597"/>
                  </a:lnTo>
                  <a:cubicBezTo>
                    <a:pt x="34" y="1542"/>
                    <a:pt x="38" y="1488"/>
                    <a:pt x="42" y="1433"/>
                  </a:cubicBezTo>
                  <a:cubicBezTo>
                    <a:pt x="44" y="1382"/>
                    <a:pt x="46" y="1330"/>
                    <a:pt x="48" y="1279"/>
                  </a:cubicBezTo>
                  <a:lnTo>
                    <a:pt x="72" y="1126"/>
                  </a:lnTo>
                  <a:cubicBezTo>
                    <a:pt x="76" y="1078"/>
                    <a:pt x="80" y="1031"/>
                    <a:pt x="84" y="983"/>
                  </a:cubicBezTo>
                  <a:lnTo>
                    <a:pt x="108" y="839"/>
                  </a:lnTo>
                  <a:lnTo>
                    <a:pt x="126" y="716"/>
                  </a:lnTo>
                  <a:cubicBezTo>
                    <a:pt x="136" y="675"/>
                    <a:pt x="146" y="635"/>
                    <a:pt x="156" y="594"/>
                  </a:cubicBezTo>
                  <a:cubicBezTo>
                    <a:pt x="162" y="560"/>
                    <a:pt x="167" y="525"/>
                    <a:pt x="173" y="491"/>
                  </a:cubicBezTo>
                  <a:cubicBezTo>
                    <a:pt x="185" y="454"/>
                    <a:pt x="197" y="416"/>
                    <a:pt x="209" y="379"/>
                  </a:cubicBezTo>
                  <a:cubicBezTo>
                    <a:pt x="213" y="369"/>
                    <a:pt x="217" y="358"/>
                    <a:pt x="221" y="348"/>
                  </a:cubicBezTo>
                  <a:lnTo>
                    <a:pt x="245" y="297"/>
                  </a:lnTo>
                  <a:cubicBezTo>
                    <a:pt x="249" y="287"/>
                    <a:pt x="253" y="276"/>
                    <a:pt x="257" y="266"/>
                  </a:cubicBezTo>
                  <a:cubicBezTo>
                    <a:pt x="265" y="252"/>
                    <a:pt x="273" y="239"/>
                    <a:pt x="281" y="225"/>
                  </a:cubicBezTo>
                  <a:cubicBezTo>
                    <a:pt x="287" y="215"/>
                    <a:pt x="293" y="204"/>
                    <a:pt x="299" y="194"/>
                  </a:cubicBezTo>
                  <a:lnTo>
                    <a:pt x="323" y="164"/>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2281" name="Rectangle 198"/>
            <p:cNvSpPr>
              <a:spLocks noChangeArrowheads="1"/>
            </p:cNvSpPr>
            <p:nvPr/>
          </p:nvSpPr>
          <p:spPr bwMode="auto">
            <a:xfrm>
              <a:off x="7622154" y="2851909"/>
              <a:ext cx="412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300">
                  <a:solidFill>
                    <a:srgbClr val="000000"/>
                  </a:solidFill>
                </a:rPr>
                <a:t> </a:t>
              </a:r>
              <a:endParaRPr lang="en-US" altLang="en-US"/>
            </a:p>
          </p:txBody>
        </p:sp>
        <p:sp>
          <p:nvSpPr>
            <p:cNvPr id="182282" name="Line 334"/>
            <p:cNvSpPr>
              <a:spLocks noChangeShapeType="1"/>
            </p:cNvSpPr>
            <p:nvPr/>
          </p:nvSpPr>
          <p:spPr bwMode="auto">
            <a:xfrm>
              <a:off x="6445410" y="2699091"/>
              <a:ext cx="837020" cy="18139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CA"/>
            </a:p>
          </p:txBody>
        </p:sp>
        <p:grpSp>
          <p:nvGrpSpPr>
            <p:cNvPr id="182283" name="Group 332"/>
            <p:cNvGrpSpPr>
              <a:grpSpLocks/>
            </p:cNvGrpSpPr>
            <p:nvPr/>
          </p:nvGrpSpPr>
          <p:grpSpPr bwMode="auto">
            <a:xfrm>
              <a:off x="6770832" y="2635170"/>
              <a:ext cx="764491" cy="376020"/>
              <a:chOff x="2356" y="1300"/>
              <a:chExt cx="555" cy="194"/>
            </a:xfrm>
          </p:grpSpPr>
          <p:sp>
            <p:nvSpPr>
              <p:cNvPr id="182380"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sp>
            <p:nvSpPr>
              <p:cNvPr id="182381"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endParaRPr lang="en-US" altLang="en-US" sz="2400">
                  <a:latin typeface="Times New Roman" pitchFamily="18" charset="0"/>
                </a:endParaRPr>
              </a:p>
            </p:txBody>
          </p:sp>
          <p:sp>
            <p:nvSpPr>
              <p:cNvPr id="182382"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sz="2400">
                  <a:latin typeface="Times New Roman" pitchFamily="18" charset="0"/>
                </a:endParaRPr>
              </a:p>
            </p:txBody>
          </p:sp>
          <p:grpSp>
            <p:nvGrpSpPr>
              <p:cNvPr id="182383" name="Group 329"/>
              <p:cNvGrpSpPr>
                <a:grpSpLocks/>
              </p:cNvGrpSpPr>
              <p:nvPr/>
            </p:nvGrpSpPr>
            <p:grpSpPr bwMode="auto">
              <a:xfrm>
                <a:off x="2468" y="1332"/>
                <a:ext cx="310" cy="60"/>
                <a:chOff x="2468" y="1332"/>
                <a:chExt cx="310" cy="60"/>
              </a:xfrm>
            </p:grpSpPr>
            <p:sp>
              <p:nvSpPr>
                <p:cNvPr id="182386"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2387"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120"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sp>
            <p:nvSpPr>
              <p:cNvPr id="121" name="Line 331"/>
              <p:cNvSpPr>
                <a:spLocks noChangeShapeType="1"/>
              </p:cNvSpPr>
              <p:nvPr/>
            </p:nvSpPr>
            <p:spPr bwMode="auto">
              <a:xfrm>
                <a:off x="2908" y="1363"/>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cs typeface="Arial" charset="0"/>
                </a:endParaRPr>
              </a:p>
            </p:txBody>
          </p:sp>
        </p:grpSp>
        <p:grpSp>
          <p:nvGrpSpPr>
            <p:cNvPr id="182284" name="Group 906"/>
            <p:cNvGrpSpPr>
              <a:grpSpLocks/>
            </p:cNvGrpSpPr>
            <p:nvPr/>
          </p:nvGrpSpPr>
          <p:grpSpPr bwMode="auto">
            <a:xfrm>
              <a:off x="7113844" y="2225617"/>
              <a:ext cx="297216" cy="540453"/>
              <a:chOff x="4140" y="429"/>
              <a:chExt cx="1425" cy="2396"/>
            </a:xfrm>
          </p:grpSpPr>
          <p:sp>
            <p:nvSpPr>
              <p:cNvPr id="182348" name="Freeform 907"/>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6" name="Rectangle 908"/>
              <p:cNvSpPr>
                <a:spLocks noChangeArrowheads="1"/>
              </p:cNvSpPr>
              <p:nvPr/>
            </p:nvSpPr>
            <p:spPr bwMode="auto">
              <a:xfrm>
                <a:off x="4209" y="427"/>
                <a:ext cx="1043" cy="2287"/>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2350" name="Freeform 909"/>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2351" name="Freeform 910"/>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29" name="Rectangle 911"/>
              <p:cNvSpPr>
                <a:spLocks noChangeArrowheads="1"/>
              </p:cNvSpPr>
              <p:nvPr/>
            </p:nvSpPr>
            <p:spPr bwMode="auto">
              <a:xfrm>
                <a:off x="4216" y="687"/>
                <a:ext cx="586"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2353" name="Group 912"/>
              <p:cNvGrpSpPr>
                <a:grpSpLocks/>
              </p:cNvGrpSpPr>
              <p:nvPr/>
            </p:nvGrpSpPr>
            <p:grpSpPr bwMode="auto">
              <a:xfrm>
                <a:off x="4749" y="668"/>
                <a:ext cx="581" cy="145"/>
                <a:chOff x="614" y="2568"/>
                <a:chExt cx="725" cy="139"/>
              </a:xfrm>
            </p:grpSpPr>
            <p:sp>
              <p:nvSpPr>
                <p:cNvPr id="155" name="AutoShape 913"/>
                <p:cNvSpPr>
                  <a:spLocks noChangeArrowheads="1"/>
                </p:cNvSpPr>
                <p:nvPr/>
              </p:nvSpPr>
              <p:spPr bwMode="auto">
                <a:xfrm>
                  <a:off x="614" y="2566"/>
                  <a:ext cx="722" cy="12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56" name="AutoShape 914"/>
                <p:cNvSpPr>
                  <a:spLocks noChangeArrowheads="1"/>
                </p:cNvSpPr>
                <p:nvPr/>
              </p:nvSpPr>
              <p:spPr bwMode="auto">
                <a:xfrm>
                  <a:off x="633" y="2580"/>
                  <a:ext cx="693"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31" name="Rectangle 915"/>
              <p:cNvSpPr>
                <a:spLocks noChangeArrowheads="1"/>
              </p:cNvSpPr>
              <p:nvPr/>
            </p:nvSpPr>
            <p:spPr bwMode="auto">
              <a:xfrm>
                <a:off x="4224" y="1018"/>
                <a:ext cx="594"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2355" name="Group 916"/>
              <p:cNvGrpSpPr>
                <a:grpSpLocks/>
              </p:cNvGrpSpPr>
              <p:nvPr/>
            </p:nvGrpSpPr>
            <p:grpSpPr bwMode="auto">
              <a:xfrm>
                <a:off x="4747" y="994"/>
                <a:ext cx="581" cy="134"/>
                <a:chOff x="614" y="2568"/>
                <a:chExt cx="725" cy="139"/>
              </a:xfrm>
            </p:grpSpPr>
            <p:sp>
              <p:nvSpPr>
                <p:cNvPr id="153" name="AutoShape 917"/>
                <p:cNvSpPr>
                  <a:spLocks noChangeArrowheads="1"/>
                </p:cNvSpPr>
                <p:nvPr/>
              </p:nvSpPr>
              <p:spPr bwMode="auto">
                <a:xfrm>
                  <a:off x="616" y="2564"/>
                  <a:ext cx="722"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54" name="AutoShape 918"/>
                <p:cNvSpPr>
                  <a:spLocks noChangeArrowheads="1"/>
                </p:cNvSpPr>
                <p:nvPr/>
              </p:nvSpPr>
              <p:spPr bwMode="auto">
                <a:xfrm>
                  <a:off x="626" y="2578"/>
                  <a:ext cx="703"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33" name="Rectangle 919"/>
              <p:cNvSpPr>
                <a:spLocks noChangeArrowheads="1"/>
              </p:cNvSpPr>
              <p:nvPr/>
            </p:nvSpPr>
            <p:spPr bwMode="auto">
              <a:xfrm>
                <a:off x="4216" y="1363"/>
                <a:ext cx="594"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34" name="Rectangle 920"/>
              <p:cNvSpPr>
                <a:spLocks noChangeArrowheads="1"/>
              </p:cNvSpPr>
              <p:nvPr/>
            </p:nvSpPr>
            <p:spPr bwMode="auto">
              <a:xfrm>
                <a:off x="4224" y="1658"/>
                <a:ext cx="601"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2358" name="Group 921"/>
              <p:cNvGrpSpPr>
                <a:grpSpLocks/>
              </p:cNvGrpSpPr>
              <p:nvPr/>
            </p:nvGrpSpPr>
            <p:grpSpPr bwMode="auto">
              <a:xfrm>
                <a:off x="4733" y="1630"/>
                <a:ext cx="586" cy="151"/>
                <a:chOff x="611" y="2571"/>
                <a:chExt cx="730" cy="139"/>
              </a:xfrm>
            </p:grpSpPr>
            <p:sp>
              <p:nvSpPr>
                <p:cNvPr id="151" name="AutoShape 922"/>
                <p:cNvSpPr>
                  <a:spLocks noChangeArrowheads="1"/>
                </p:cNvSpPr>
                <p:nvPr/>
              </p:nvSpPr>
              <p:spPr bwMode="auto">
                <a:xfrm>
                  <a:off x="612" y="2571"/>
                  <a:ext cx="730" cy="136"/>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52" name="AutoShape 923"/>
                <p:cNvSpPr>
                  <a:spLocks noChangeArrowheads="1"/>
                </p:cNvSpPr>
                <p:nvPr/>
              </p:nvSpPr>
              <p:spPr bwMode="auto">
                <a:xfrm>
                  <a:off x="631" y="2591"/>
                  <a:ext cx="692"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82359" name="Freeform 924"/>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82360" name="Group 925"/>
              <p:cNvGrpSpPr>
                <a:grpSpLocks/>
              </p:cNvGrpSpPr>
              <p:nvPr/>
            </p:nvGrpSpPr>
            <p:grpSpPr bwMode="auto">
              <a:xfrm>
                <a:off x="4739" y="1327"/>
                <a:ext cx="582" cy="139"/>
                <a:chOff x="614" y="2568"/>
                <a:chExt cx="725" cy="139"/>
              </a:xfrm>
            </p:grpSpPr>
            <p:sp>
              <p:nvSpPr>
                <p:cNvPr id="149" name="AutoShape 926"/>
                <p:cNvSpPr>
                  <a:spLocks noChangeArrowheads="1"/>
                </p:cNvSpPr>
                <p:nvPr/>
              </p:nvSpPr>
              <p:spPr bwMode="auto">
                <a:xfrm>
                  <a:off x="617" y="2569"/>
                  <a:ext cx="711" cy="141"/>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50" name="AutoShape 927"/>
                <p:cNvSpPr>
                  <a:spLocks noChangeArrowheads="1"/>
                </p:cNvSpPr>
                <p:nvPr/>
              </p:nvSpPr>
              <p:spPr bwMode="auto">
                <a:xfrm>
                  <a:off x="636" y="2583"/>
                  <a:ext cx="683"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38" name="Rectangle 928"/>
              <p:cNvSpPr>
                <a:spLocks noChangeArrowheads="1"/>
              </p:cNvSpPr>
              <p:nvPr/>
            </p:nvSpPr>
            <p:spPr bwMode="auto">
              <a:xfrm>
                <a:off x="5251" y="427"/>
                <a:ext cx="68" cy="2294"/>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2362" name="Freeform 929"/>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2363" name="Freeform 930"/>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1" name="Oval 931"/>
              <p:cNvSpPr>
                <a:spLocks noChangeArrowheads="1"/>
              </p:cNvSpPr>
              <p:nvPr/>
            </p:nvSpPr>
            <p:spPr bwMode="auto">
              <a:xfrm>
                <a:off x="5518" y="2608"/>
                <a:ext cx="46" cy="99"/>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2365" name="Freeform 932"/>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 name="AutoShape 933"/>
              <p:cNvSpPr>
                <a:spLocks noChangeArrowheads="1"/>
              </p:cNvSpPr>
              <p:nvPr/>
            </p:nvSpPr>
            <p:spPr bwMode="auto">
              <a:xfrm>
                <a:off x="4140" y="2686"/>
                <a:ext cx="1195" cy="141"/>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44" name="AutoShape 934"/>
              <p:cNvSpPr>
                <a:spLocks noChangeArrowheads="1"/>
              </p:cNvSpPr>
              <p:nvPr/>
            </p:nvSpPr>
            <p:spPr bwMode="auto">
              <a:xfrm>
                <a:off x="4209" y="2714"/>
                <a:ext cx="1065" cy="77"/>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45" name="Oval 935"/>
              <p:cNvSpPr>
                <a:spLocks noChangeArrowheads="1"/>
              </p:cNvSpPr>
              <p:nvPr/>
            </p:nvSpPr>
            <p:spPr bwMode="auto">
              <a:xfrm>
                <a:off x="4308" y="2383"/>
                <a:ext cx="160" cy="141"/>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46" name="Oval 936"/>
              <p:cNvSpPr>
                <a:spLocks noChangeArrowheads="1"/>
              </p:cNvSpPr>
              <p:nvPr/>
            </p:nvSpPr>
            <p:spPr bwMode="auto">
              <a:xfrm>
                <a:off x="4483" y="2383"/>
                <a:ext cx="160" cy="148"/>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a:solidFill>
                    <a:srgbClr val="FF0000"/>
                  </a:solidFill>
                  <a:latin typeface="Arial" charset="0"/>
                  <a:ea typeface="ＭＳ Ｐゴシック" charset="0"/>
                  <a:cs typeface="Arial" charset="0"/>
                </a:endParaRPr>
              </a:p>
            </p:txBody>
          </p:sp>
          <p:sp>
            <p:nvSpPr>
              <p:cNvPr id="147" name="Oval 937"/>
              <p:cNvSpPr>
                <a:spLocks noChangeArrowheads="1"/>
              </p:cNvSpPr>
              <p:nvPr/>
            </p:nvSpPr>
            <p:spPr bwMode="auto">
              <a:xfrm>
                <a:off x="4665" y="2383"/>
                <a:ext cx="152" cy="141"/>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48" name="Rectangle 938"/>
              <p:cNvSpPr>
                <a:spLocks noChangeArrowheads="1"/>
              </p:cNvSpPr>
              <p:nvPr/>
            </p:nvSpPr>
            <p:spPr bwMode="auto">
              <a:xfrm>
                <a:off x="5061" y="1834"/>
                <a:ext cx="84" cy="760"/>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58" name="Line 20"/>
            <p:cNvSpPr>
              <a:spLocks noChangeShapeType="1"/>
            </p:cNvSpPr>
            <p:nvPr/>
          </p:nvSpPr>
          <p:spPr bwMode="auto">
            <a:xfrm flipH="1">
              <a:off x="4624872" y="2293390"/>
              <a:ext cx="55557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159" name="Line 21"/>
            <p:cNvSpPr>
              <a:spLocks noChangeShapeType="1"/>
            </p:cNvSpPr>
            <p:nvPr/>
          </p:nvSpPr>
          <p:spPr bwMode="auto">
            <a:xfrm flipH="1">
              <a:off x="5012189" y="2341005"/>
              <a:ext cx="271439" cy="3142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160" name="Line 22"/>
            <p:cNvSpPr>
              <a:spLocks noChangeShapeType="1"/>
            </p:cNvSpPr>
            <p:nvPr/>
          </p:nvSpPr>
          <p:spPr bwMode="auto">
            <a:xfrm>
              <a:off x="5431253" y="2369573"/>
              <a:ext cx="73019" cy="2952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grpSp>
          <p:nvGrpSpPr>
            <p:cNvPr id="182288" name="Group 44"/>
            <p:cNvGrpSpPr>
              <a:grpSpLocks/>
            </p:cNvGrpSpPr>
            <p:nvPr/>
          </p:nvGrpSpPr>
          <p:grpSpPr bwMode="auto">
            <a:xfrm>
              <a:off x="4168820" y="2096244"/>
              <a:ext cx="568325" cy="481012"/>
              <a:chOff x="-44" y="1473"/>
              <a:chExt cx="981" cy="1105"/>
            </a:xfrm>
          </p:grpSpPr>
          <p:pic>
            <p:nvPicPr>
              <p:cNvPr id="182346" name="Picture 4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347"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82289" name="Group 44"/>
            <p:cNvGrpSpPr>
              <a:grpSpLocks/>
            </p:cNvGrpSpPr>
            <p:nvPr/>
          </p:nvGrpSpPr>
          <p:grpSpPr bwMode="auto">
            <a:xfrm>
              <a:off x="5103858" y="2585194"/>
              <a:ext cx="568325" cy="481012"/>
              <a:chOff x="-44" y="1473"/>
              <a:chExt cx="981" cy="1105"/>
            </a:xfrm>
          </p:grpSpPr>
          <p:pic>
            <p:nvPicPr>
              <p:cNvPr id="182344" name="Picture 4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345"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sp>
          <p:nvSpPr>
            <p:cNvPr id="163" name="Line 21"/>
            <p:cNvSpPr>
              <a:spLocks noChangeShapeType="1"/>
            </p:cNvSpPr>
            <p:nvPr/>
          </p:nvSpPr>
          <p:spPr bwMode="auto">
            <a:xfrm>
              <a:off x="5650309" y="2299739"/>
              <a:ext cx="377793" cy="3047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164" name="Line 22"/>
            <p:cNvSpPr>
              <a:spLocks noChangeShapeType="1"/>
            </p:cNvSpPr>
            <p:nvPr/>
          </p:nvSpPr>
          <p:spPr bwMode="auto">
            <a:xfrm flipH="1">
              <a:off x="5882064" y="2794928"/>
              <a:ext cx="120640" cy="2936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165" name="Line 22"/>
            <p:cNvSpPr>
              <a:spLocks noChangeShapeType="1"/>
            </p:cNvSpPr>
            <p:nvPr/>
          </p:nvSpPr>
          <p:spPr bwMode="auto">
            <a:xfrm>
              <a:off x="6286841" y="2806038"/>
              <a:ext cx="73019" cy="2952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166" name="Line 20"/>
            <p:cNvSpPr>
              <a:spLocks noChangeShapeType="1"/>
            </p:cNvSpPr>
            <p:nvPr/>
          </p:nvSpPr>
          <p:spPr bwMode="auto">
            <a:xfrm flipH="1">
              <a:off x="5482048" y="2253711"/>
              <a:ext cx="55557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grpSp>
          <p:nvGrpSpPr>
            <p:cNvPr id="182294" name="Group 44"/>
            <p:cNvGrpSpPr>
              <a:grpSpLocks/>
            </p:cNvGrpSpPr>
            <p:nvPr/>
          </p:nvGrpSpPr>
          <p:grpSpPr bwMode="auto">
            <a:xfrm>
              <a:off x="5508670" y="2958256"/>
              <a:ext cx="568325" cy="481013"/>
              <a:chOff x="-44" y="1473"/>
              <a:chExt cx="981" cy="1105"/>
            </a:xfrm>
          </p:grpSpPr>
          <p:pic>
            <p:nvPicPr>
              <p:cNvPr id="182342" name="Picture 4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343"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82295" name="Group 44"/>
            <p:cNvGrpSpPr>
              <a:grpSpLocks/>
            </p:cNvGrpSpPr>
            <p:nvPr/>
          </p:nvGrpSpPr>
          <p:grpSpPr bwMode="auto">
            <a:xfrm>
              <a:off x="5965870" y="3026519"/>
              <a:ext cx="568325" cy="481012"/>
              <a:chOff x="-44" y="1473"/>
              <a:chExt cx="981" cy="1105"/>
            </a:xfrm>
          </p:grpSpPr>
          <p:pic>
            <p:nvPicPr>
              <p:cNvPr id="182340" name="Picture 4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341"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pic>
          <p:nvPicPr>
            <p:cNvPr id="16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6635" y="2141024"/>
              <a:ext cx="677804" cy="30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7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7457" y="2556856"/>
              <a:ext cx="677805" cy="30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182298" name="Group 44"/>
            <p:cNvGrpSpPr>
              <a:grpSpLocks/>
            </p:cNvGrpSpPr>
            <p:nvPr/>
          </p:nvGrpSpPr>
          <p:grpSpPr bwMode="auto">
            <a:xfrm>
              <a:off x="4563080" y="2530005"/>
              <a:ext cx="568325" cy="481013"/>
              <a:chOff x="-44" y="1473"/>
              <a:chExt cx="981" cy="1105"/>
            </a:xfrm>
          </p:grpSpPr>
          <p:pic>
            <p:nvPicPr>
              <p:cNvPr id="182338" name="Picture 4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339"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82299" name="Group 906"/>
            <p:cNvGrpSpPr>
              <a:grpSpLocks/>
            </p:cNvGrpSpPr>
            <p:nvPr/>
          </p:nvGrpSpPr>
          <p:grpSpPr bwMode="auto">
            <a:xfrm>
              <a:off x="5953171" y="1976062"/>
              <a:ext cx="285924" cy="537882"/>
              <a:chOff x="4140" y="429"/>
              <a:chExt cx="1425" cy="2396"/>
            </a:xfrm>
          </p:grpSpPr>
          <p:sp>
            <p:nvSpPr>
              <p:cNvPr id="182306" name="Freeform 907"/>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74" name="Rectangle 908"/>
              <p:cNvSpPr>
                <a:spLocks noChangeArrowheads="1"/>
              </p:cNvSpPr>
              <p:nvPr/>
            </p:nvSpPr>
            <p:spPr bwMode="auto">
              <a:xfrm>
                <a:off x="4213" y="429"/>
                <a:ext cx="1036"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2308" name="Freeform 909"/>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2309" name="Freeform 910"/>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77" name="Rectangle 911"/>
              <p:cNvSpPr>
                <a:spLocks noChangeArrowheads="1"/>
              </p:cNvSpPr>
              <p:nvPr/>
            </p:nvSpPr>
            <p:spPr bwMode="auto">
              <a:xfrm>
                <a:off x="4213" y="690"/>
                <a:ext cx="593"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2311" name="Group 912"/>
              <p:cNvGrpSpPr>
                <a:grpSpLocks/>
              </p:cNvGrpSpPr>
              <p:nvPr/>
            </p:nvGrpSpPr>
            <p:grpSpPr bwMode="auto">
              <a:xfrm>
                <a:off x="4749" y="668"/>
                <a:ext cx="581" cy="145"/>
                <a:chOff x="614" y="2568"/>
                <a:chExt cx="725" cy="139"/>
              </a:xfrm>
            </p:grpSpPr>
            <p:sp>
              <p:nvSpPr>
                <p:cNvPr id="203" name="AutoShape 913"/>
                <p:cNvSpPr>
                  <a:spLocks noChangeArrowheads="1"/>
                </p:cNvSpPr>
                <p:nvPr/>
              </p:nvSpPr>
              <p:spPr bwMode="auto">
                <a:xfrm>
                  <a:off x="616" y="2569"/>
                  <a:ext cx="721" cy="12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04" name="AutoShape 914"/>
                <p:cNvSpPr>
                  <a:spLocks noChangeArrowheads="1"/>
                </p:cNvSpPr>
                <p:nvPr/>
              </p:nvSpPr>
              <p:spPr bwMode="auto">
                <a:xfrm>
                  <a:off x="636" y="2582"/>
                  <a:ext cx="691"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79" name="Rectangle 915"/>
              <p:cNvSpPr>
                <a:spLocks noChangeArrowheads="1"/>
              </p:cNvSpPr>
              <p:nvPr/>
            </p:nvSpPr>
            <p:spPr bwMode="auto">
              <a:xfrm>
                <a:off x="4229" y="1022"/>
                <a:ext cx="593"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2313" name="Group 916"/>
              <p:cNvGrpSpPr>
                <a:grpSpLocks/>
              </p:cNvGrpSpPr>
              <p:nvPr/>
            </p:nvGrpSpPr>
            <p:grpSpPr bwMode="auto">
              <a:xfrm>
                <a:off x="4747" y="994"/>
                <a:ext cx="581" cy="134"/>
                <a:chOff x="614" y="2568"/>
                <a:chExt cx="725" cy="139"/>
              </a:xfrm>
            </p:grpSpPr>
            <p:sp>
              <p:nvSpPr>
                <p:cNvPr id="201" name="AutoShape 917"/>
                <p:cNvSpPr>
                  <a:spLocks noChangeArrowheads="1"/>
                </p:cNvSpPr>
                <p:nvPr/>
              </p:nvSpPr>
              <p:spPr bwMode="auto">
                <a:xfrm>
                  <a:off x="619" y="2568"/>
                  <a:ext cx="721"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02" name="AutoShape 918"/>
                <p:cNvSpPr>
                  <a:spLocks noChangeArrowheads="1"/>
                </p:cNvSpPr>
                <p:nvPr/>
              </p:nvSpPr>
              <p:spPr bwMode="auto">
                <a:xfrm>
                  <a:off x="629" y="2583"/>
                  <a:ext cx="701"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81" name="Rectangle 919"/>
              <p:cNvSpPr>
                <a:spLocks noChangeArrowheads="1"/>
              </p:cNvSpPr>
              <p:nvPr/>
            </p:nvSpPr>
            <p:spPr bwMode="auto">
              <a:xfrm>
                <a:off x="4213" y="1362"/>
                <a:ext cx="601"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2" name="Rectangle 920"/>
              <p:cNvSpPr>
                <a:spLocks noChangeArrowheads="1"/>
              </p:cNvSpPr>
              <p:nvPr/>
            </p:nvSpPr>
            <p:spPr bwMode="auto">
              <a:xfrm>
                <a:off x="4229" y="1659"/>
                <a:ext cx="593"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2316" name="Group 921"/>
              <p:cNvGrpSpPr>
                <a:grpSpLocks/>
              </p:cNvGrpSpPr>
              <p:nvPr/>
            </p:nvGrpSpPr>
            <p:grpSpPr bwMode="auto">
              <a:xfrm>
                <a:off x="4733" y="1630"/>
                <a:ext cx="586" cy="151"/>
                <a:chOff x="611" y="2571"/>
                <a:chExt cx="730" cy="139"/>
              </a:xfrm>
            </p:grpSpPr>
            <p:sp>
              <p:nvSpPr>
                <p:cNvPr id="199" name="AutoShape 922"/>
                <p:cNvSpPr>
                  <a:spLocks noChangeArrowheads="1"/>
                </p:cNvSpPr>
                <p:nvPr/>
              </p:nvSpPr>
              <p:spPr bwMode="auto">
                <a:xfrm>
                  <a:off x="613" y="2571"/>
                  <a:ext cx="729" cy="137"/>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200" name="AutoShape 923"/>
                <p:cNvSpPr>
                  <a:spLocks noChangeArrowheads="1"/>
                </p:cNvSpPr>
                <p:nvPr/>
              </p:nvSpPr>
              <p:spPr bwMode="auto">
                <a:xfrm>
                  <a:off x="633" y="2591"/>
                  <a:ext cx="690"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82317" name="Freeform 924"/>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82318" name="Group 925"/>
              <p:cNvGrpSpPr>
                <a:grpSpLocks/>
              </p:cNvGrpSpPr>
              <p:nvPr/>
            </p:nvGrpSpPr>
            <p:grpSpPr bwMode="auto">
              <a:xfrm>
                <a:off x="4739" y="1327"/>
                <a:ext cx="582" cy="139"/>
                <a:chOff x="614" y="2568"/>
                <a:chExt cx="725" cy="139"/>
              </a:xfrm>
            </p:grpSpPr>
            <p:sp>
              <p:nvSpPr>
                <p:cNvPr id="197" name="AutoShape 926"/>
                <p:cNvSpPr>
                  <a:spLocks noChangeArrowheads="1"/>
                </p:cNvSpPr>
                <p:nvPr/>
              </p:nvSpPr>
              <p:spPr bwMode="auto">
                <a:xfrm>
                  <a:off x="619" y="2567"/>
                  <a:ext cx="710" cy="141"/>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98" name="AutoShape 927"/>
                <p:cNvSpPr>
                  <a:spLocks noChangeArrowheads="1"/>
                </p:cNvSpPr>
                <p:nvPr/>
              </p:nvSpPr>
              <p:spPr bwMode="auto">
                <a:xfrm>
                  <a:off x="639" y="2582"/>
                  <a:ext cx="680"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86" name="Rectangle 928"/>
              <p:cNvSpPr>
                <a:spLocks noChangeArrowheads="1"/>
              </p:cNvSpPr>
              <p:nvPr/>
            </p:nvSpPr>
            <p:spPr bwMode="auto">
              <a:xfrm>
                <a:off x="5249" y="429"/>
                <a:ext cx="71"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2320" name="Freeform 929"/>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2321" name="Freeform 930"/>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9" name="Oval 931"/>
              <p:cNvSpPr>
                <a:spLocks noChangeArrowheads="1"/>
              </p:cNvSpPr>
              <p:nvPr/>
            </p:nvSpPr>
            <p:spPr bwMode="auto">
              <a:xfrm>
                <a:off x="5518" y="2606"/>
                <a:ext cx="47" cy="99"/>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2323" name="Freeform 932"/>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91" name="AutoShape 933"/>
              <p:cNvSpPr>
                <a:spLocks noChangeArrowheads="1"/>
              </p:cNvSpPr>
              <p:nvPr/>
            </p:nvSpPr>
            <p:spPr bwMode="auto">
              <a:xfrm>
                <a:off x="4142" y="2684"/>
                <a:ext cx="1195" cy="141"/>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92" name="AutoShape 934"/>
              <p:cNvSpPr>
                <a:spLocks noChangeArrowheads="1"/>
              </p:cNvSpPr>
              <p:nvPr/>
            </p:nvSpPr>
            <p:spPr bwMode="auto">
              <a:xfrm>
                <a:off x="4213" y="2712"/>
                <a:ext cx="1060"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93" name="Oval 935"/>
              <p:cNvSpPr>
                <a:spLocks noChangeArrowheads="1"/>
              </p:cNvSpPr>
              <p:nvPr/>
            </p:nvSpPr>
            <p:spPr bwMode="auto">
              <a:xfrm>
                <a:off x="4308" y="2387"/>
                <a:ext cx="158" cy="13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94" name="Oval 936"/>
              <p:cNvSpPr>
                <a:spLocks noChangeArrowheads="1"/>
              </p:cNvSpPr>
              <p:nvPr/>
            </p:nvSpPr>
            <p:spPr bwMode="auto">
              <a:xfrm>
                <a:off x="4490" y="2387"/>
                <a:ext cx="158" cy="141"/>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a:solidFill>
                    <a:srgbClr val="FF0000"/>
                  </a:solidFill>
                  <a:latin typeface="Arial" charset="0"/>
                  <a:ea typeface="ＭＳ Ｐゴシック" charset="0"/>
                  <a:cs typeface="Arial" charset="0"/>
                </a:endParaRPr>
              </a:p>
            </p:txBody>
          </p:sp>
          <p:sp>
            <p:nvSpPr>
              <p:cNvPr id="195" name="Oval 937"/>
              <p:cNvSpPr>
                <a:spLocks noChangeArrowheads="1"/>
              </p:cNvSpPr>
              <p:nvPr/>
            </p:nvSpPr>
            <p:spPr bwMode="auto">
              <a:xfrm>
                <a:off x="4664" y="2380"/>
                <a:ext cx="158" cy="141"/>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96" name="Rectangle 938"/>
              <p:cNvSpPr>
                <a:spLocks noChangeArrowheads="1"/>
              </p:cNvSpPr>
              <p:nvPr/>
            </p:nvSpPr>
            <p:spPr bwMode="auto">
              <a:xfrm>
                <a:off x="5059" y="1835"/>
                <a:ext cx="87" cy="756"/>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82300" name="Text Box 106"/>
            <p:cNvSpPr txBox="1">
              <a:spLocks noChangeArrowheads="1"/>
            </p:cNvSpPr>
            <p:nvPr/>
          </p:nvSpPr>
          <p:spPr bwMode="auto">
            <a:xfrm>
              <a:off x="3983577" y="1287140"/>
              <a:ext cx="1479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host-to-gateway</a:t>
              </a:r>
            </a:p>
            <a:p>
              <a:r>
                <a:rPr lang="en-US" altLang="en-US" sz="1400">
                  <a:latin typeface="Arial" pitchFamily="34" charset="0"/>
                  <a:cs typeface="Arial" pitchFamily="34" charset="0"/>
                </a:rPr>
                <a:t>telnet session</a:t>
              </a:r>
              <a:endParaRPr lang="en-US" altLang="en-US" sz="1800">
                <a:latin typeface="Arial" pitchFamily="34" charset="0"/>
                <a:cs typeface="Arial" pitchFamily="34" charset="0"/>
              </a:endParaRPr>
            </a:p>
          </p:txBody>
        </p:sp>
        <p:sp>
          <p:nvSpPr>
            <p:cNvPr id="182301" name="Freeform 104"/>
            <p:cNvSpPr>
              <a:spLocks/>
            </p:cNvSpPr>
            <p:nvPr/>
          </p:nvSpPr>
          <p:spPr bwMode="auto">
            <a:xfrm>
              <a:off x="4712073" y="1670959"/>
              <a:ext cx="1239221" cy="414979"/>
            </a:xfrm>
            <a:custGeom>
              <a:avLst/>
              <a:gdLst>
                <a:gd name="T0" fmla="*/ 0 w 636"/>
                <a:gd name="T1" fmla="*/ 2147483647 h 144"/>
                <a:gd name="T2" fmla="*/ 2147483647 w 636"/>
                <a:gd name="T3" fmla="*/ 2147483647 h 144"/>
                <a:gd name="T4" fmla="*/ 0 60000 65536"/>
                <a:gd name="T5" fmla="*/ 0 60000 65536"/>
                <a:gd name="T6" fmla="*/ 0 w 636"/>
                <a:gd name="T7" fmla="*/ 0 h 144"/>
                <a:gd name="T8" fmla="*/ 636 w 636"/>
                <a:gd name="T9" fmla="*/ 144 h 144"/>
              </a:gdLst>
              <a:ahLst/>
              <a:cxnLst>
                <a:cxn ang="T4">
                  <a:pos x="T0" y="T1"/>
                </a:cxn>
                <a:cxn ang="T5">
                  <a:pos x="T2" y="T3"/>
                </a:cxn>
              </a:cxnLst>
              <a:rect l="T6" t="T7" r="T8" b="T9"/>
              <a:pathLst>
                <a:path w="636" h="144">
                  <a:moveTo>
                    <a:pt x="0" y="144"/>
                  </a:moveTo>
                  <a:cubicBezTo>
                    <a:pt x="180" y="6"/>
                    <a:pt x="450" y="0"/>
                    <a:pt x="636" y="114"/>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CA"/>
            </a:p>
          </p:txBody>
        </p:sp>
        <p:sp>
          <p:nvSpPr>
            <p:cNvPr id="182302" name="Freeform 105"/>
            <p:cNvSpPr>
              <a:spLocks/>
            </p:cNvSpPr>
            <p:nvPr/>
          </p:nvSpPr>
          <p:spPr bwMode="auto">
            <a:xfrm>
              <a:off x="6303749" y="2328195"/>
              <a:ext cx="2115113" cy="560360"/>
            </a:xfrm>
            <a:custGeom>
              <a:avLst/>
              <a:gdLst>
                <a:gd name="T0" fmla="*/ 0 w 9169"/>
                <a:gd name="T1" fmla="*/ 2512 h 9369"/>
                <a:gd name="T2" fmla="*/ 703115 w 9169"/>
                <a:gd name="T3" fmla="*/ 267650 h 9369"/>
                <a:gd name="T4" fmla="*/ 1297580 w 9169"/>
                <a:gd name="T5" fmla="*/ 331288 h 9369"/>
                <a:gd name="T6" fmla="*/ 2115113 w 9169"/>
                <a:gd name="T7" fmla="*/ 560360 h 93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69" h="9369">
                  <a:moveTo>
                    <a:pt x="0" y="42"/>
                  </a:moveTo>
                  <a:cubicBezTo>
                    <a:pt x="172" y="-490"/>
                    <a:pt x="1259" y="4154"/>
                    <a:pt x="3048" y="4475"/>
                  </a:cubicBezTo>
                  <a:cubicBezTo>
                    <a:pt x="4280" y="2061"/>
                    <a:pt x="4508" y="-199"/>
                    <a:pt x="5625" y="5539"/>
                  </a:cubicBezTo>
                  <a:cubicBezTo>
                    <a:pt x="6872" y="6531"/>
                    <a:pt x="7556" y="7648"/>
                    <a:pt x="9169" y="9369"/>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CA"/>
            </a:p>
          </p:txBody>
        </p:sp>
        <p:sp>
          <p:nvSpPr>
            <p:cNvPr id="182303" name="Text Box 109"/>
            <p:cNvSpPr txBox="1">
              <a:spLocks noChangeArrowheads="1"/>
            </p:cNvSpPr>
            <p:nvPr/>
          </p:nvSpPr>
          <p:spPr bwMode="auto">
            <a:xfrm>
              <a:off x="6718673" y="1953386"/>
              <a:ext cx="12234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200">
                  <a:latin typeface="Arial" pitchFamily="34" charset="0"/>
                  <a:cs typeface="Arial" pitchFamily="34" charset="0"/>
                </a:rPr>
                <a:t>router and filter</a:t>
              </a:r>
              <a:endParaRPr lang="en-US" altLang="en-US" sz="1800">
                <a:latin typeface="Arial" pitchFamily="34" charset="0"/>
                <a:cs typeface="Arial" pitchFamily="34" charset="0"/>
              </a:endParaRPr>
            </a:p>
          </p:txBody>
        </p:sp>
        <p:sp>
          <p:nvSpPr>
            <p:cNvPr id="182304" name="Text Box 107"/>
            <p:cNvSpPr txBox="1">
              <a:spLocks noChangeArrowheads="1"/>
            </p:cNvSpPr>
            <p:nvPr/>
          </p:nvSpPr>
          <p:spPr bwMode="auto">
            <a:xfrm>
              <a:off x="7299153" y="2987956"/>
              <a:ext cx="16814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400">
                  <a:latin typeface="Arial" pitchFamily="34" charset="0"/>
                  <a:cs typeface="Arial" pitchFamily="34" charset="0"/>
                </a:rPr>
                <a:t>gateway-to-remote </a:t>
              </a:r>
            </a:p>
            <a:p>
              <a:r>
                <a:rPr lang="en-US" altLang="en-US" sz="1400">
                  <a:latin typeface="Arial" pitchFamily="34" charset="0"/>
                  <a:cs typeface="Arial" pitchFamily="34" charset="0"/>
                </a:rPr>
                <a:t>host telnet session</a:t>
              </a:r>
              <a:endParaRPr lang="en-US" altLang="en-US" sz="1800">
                <a:latin typeface="Arial" pitchFamily="34" charset="0"/>
                <a:cs typeface="Arial" pitchFamily="34" charset="0"/>
              </a:endParaRPr>
            </a:p>
          </p:txBody>
        </p:sp>
        <p:sp>
          <p:nvSpPr>
            <p:cNvPr id="182305" name="Line 334"/>
            <p:cNvSpPr>
              <a:spLocks noChangeShapeType="1"/>
            </p:cNvSpPr>
            <p:nvPr/>
          </p:nvSpPr>
          <p:spPr bwMode="auto">
            <a:xfrm>
              <a:off x="7499671" y="2819280"/>
              <a:ext cx="837020" cy="18139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CA"/>
            </a:p>
          </p:txBody>
        </p:sp>
      </p:gr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21" name="Picture 15"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138" y="1063625"/>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1"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84323" name="Rectangle 2"/>
          <p:cNvSpPr>
            <a:spLocks noGrp="1" noChangeArrowheads="1"/>
          </p:cNvSpPr>
          <p:nvPr>
            <p:ph type="title"/>
          </p:nvPr>
        </p:nvSpPr>
        <p:spPr>
          <a:xfrm>
            <a:off x="533400" y="228600"/>
            <a:ext cx="8034338" cy="1143000"/>
          </a:xfrm>
        </p:spPr>
        <p:txBody>
          <a:bodyPr/>
          <a:lstStyle/>
          <a:p>
            <a:r>
              <a:rPr lang="en-US" altLang="en-US" smtClean="0">
                <a:ea typeface="ＭＳ Ｐゴシック" pitchFamily="34" charset="-128"/>
              </a:rPr>
              <a:t>Limitations of firewalls, gateways</a:t>
            </a:r>
          </a:p>
        </p:txBody>
      </p:sp>
      <p:sp>
        <p:nvSpPr>
          <p:cNvPr id="184324" name="Rectangle 3"/>
          <p:cNvSpPr>
            <a:spLocks noGrp="1" noChangeArrowheads="1"/>
          </p:cNvSpPr>
          <p:nvPr>
            <p:ph type="body" sz="half" idx="1"/>
          </p:nvPr>
        </p:nvSpPr>
        <p:spPr>
          <a:xfrm>
            <a:off x="660400" y="1504950"/>
            <a:ext cx="3879850" cy="4648200"/>
          </a:xfrm>
        </p:spPr>
        <p:txBody>
          <a:bodyPr/>
          <a:lstStyle/>
          <a:p>
            <a:r>
              <a:rPr lang="en-US" altLang="en-US" sz="2400" i="1" smtClean="0">
                <a:solidFill>
                  <a:srgbClr val="CC0000"/>
                </a:solidFill>
                <a:ea typeface="ＭＳ Ｐゴシック" pitchFamily="34" charset="-128"/>
              </a:rPr>
              <a:t>IP spoofing: </a:t>
            </a:r>
            <a:r>
              <a:rPr lang="en-US" altLang="en-US" sz="2400" smtClean="0">
                <a:ea typeface="ＭＳ Ｐゴシック" pitchFamily="34" charset="-128"/>
              </a:rPr>
              <a:t>router can</a:t>
            </a:r>
            <a:r>
              <a:rPr lang="ja-JP" altLang="en-US" sz="2400" smtClean="0">
                <a:ea typeface="ＭＳ Ｐゴシック" pitchFamily="34" charset="-128"/>
              </a:rPr>
              <a:t>’</a:t>
            </a:r>
            <a:r>
              <a:rPr lang="en-US" altLang="ja-JP" sz="2400" smtClean="0">
                <a:ea typeface="ＭＳ Ｐゴシック" pitchFamily="34" charset="-128"/>
              </a:rPr>
              <a:t>t know if data </a:t>
            </a:r>
            <a:r>
              <a:rPr lang="ja-JP" altLang="en-US" sz="2400" smtClean="0">
                <a:ea typeface="ＭＳ Ｐゴシック" pitchFamily="34" charset="-128"/>
              </a:rPr>
              <a:t>“</a:t>
            </a:r>
            <a:r>
              <a:rPr lang="en-US" altLang="ja-JP" sz="2400" smtClean="0">
                <a:ea typeface="ＭＳ Ｐゴシック" pitchFamily="34" charset="-128"/>
              </a:rPr>
              <a:t>really</a:t>
            </a:r>
            <a:r>
              <a:rPr lang="ja-JP" altLang="en-US" sz="2400" smtClean="0">
                <a:ea typeface="ＭＳ Ｐゴシック" pitchFamily="34" charset="-128"/>
              </a:rPr>
              <a:t>”</a:t>
            </a:r>
            <a:r>
              <a:rPr lang="en-US" altLang="ja-JP" sz="2400" smtClean="0">
                <a:ea typeface="ＭＳ Ｐゴシック" pitchFamily="34" charset="-128"/>
              </a:rPr>
              <a:t> comes from claimed source</a:t>
            </a:r>
          </a:p>
          <a:p>
            <a:r>
              <a:rPr lang="en-US" altLang="en-US" sz="2400" smtClean="0">
                <a:ea typeface="ＭＳ Ｐゴシック" pitchFamily="34" charset="-128"/>
              </a:rPr>
              <a:t>if multiple app</a:t>
            </a:r>
            <a:r>
              <a:rPr lang="ja-JP" altLang="en-US" sz="2400" smtClean="0">
                <a:ea typeface="ＭＳ Ｐゴシック" pitchFamily="34" charset="-128"/>
              </a:rPr>
              <a:t>’</a:t>
            </a:r>
            <a:r>
              <a:rPr lang="en-US" altLang="ja-JP" sz="2400" smtClean="0">
                <a:ea typeface="ＭＳ Ｐゴシック" pitchFamily="34" charset="-128"/>
              </a:rPr>
              <a:t>s. need special treatment, each has own app. gateway</a:t>
            </a:r>
          </a:p>
          <a:p>
            <a:r>
              <a:rPr lang="en-US" altLang="en-US" sz="2400" smtClean="0">
                <a:ea typeface="ＭＳ Ｐゴシック" pitchFamily="34" charset="-128"/>
              </a:rPr>
              <a:t>client software must know how to contact gateway.</a:t>
            </a:r>
          </a:p>
          <a:p>
            <a:pPr lvl="1"/>
            <a:r>
              <a:rPr lang="en-US" altLang="en-US" smtClean="0">
                <a:ea typeface="ＭＳ Ｐゴシック" pitchFamily="34" charset="-128"/>
              </a:rPr>
              <a:t>e.g., must set IP address of proxy in Web browser</a:t>
            </a:r>
          </a:p>
        </p:txBody>
      </p:sp>
      <p:sp>
        <p:nvSpPr>
          <p:cNvPr id="184325" name="Rectangle 4"/>
          <p:cNvSpPr>
            <a:spLocks noGrp="1" noChangeArrowheads="1"/>
          </p:cNvSpPr>
          <p:nvPr>
            <p:ph type="body" sz="half" idx="2"/>
          </p:nvPr>
        </p:nvSpPr>
        <p:spPr>
          <a:xfrm>
            <a:off x="4681538" y="1554163"/>
            <a:ext cx="3810000" cy="4648200"/>
          </a:xfrm>
        </p:spPr>
        <p:txBody>
          <a:bodyPr/>
          <a:lstStyle/>
          <a:p>
            <a:r>
              <a:rPr lang="en-US" altLang="en-US" sz="2400" smtClean="0">
                <a:ea typeface="ＭＳ Ｐゴシック" pitchFamily="34" charset="-128"/>
              </a:rPr>
              <a:t>filters often use all or nothing policy for UDP</a:t>
            </a:r>
          </a:p>
          <a:p>
            <a:r>
              <a:rPr lang="en-US" altLang="en-US" sz="2400" i="1" smtClean="0">
                <a:solidFill>
                  <a:srgbClr val="CC0000"/>
                </a:solidFill>
                <a:ea typeface="ＭＳ Ｐゴシック" pitchFamily="34" charset="-128"/>
              </a:rPr>
              <a:t>tradeoff:  </a:t>
            </a:r>
            <a:r>
              <a:rPr lang="en-US" altLang="en-US" sz="2400" smtClean="0">
                <a:solidFill>
                  <a:srgbClr val="CC0000"/>
                </a:solidFill>
                <a:ea typeface="ＭＳ Ｐゴシック" pitchFamily="34" charset="-128"/>
              </a:rPr>
              <a:t>degree of communication with outside world, level of security</a:t>
            </a:r>
          </a:p>
          <a:p>
            <a:r>
              <a:rPr lang="en-US" altLang="en-US" sz="2400" smtClean="0">
                <a:ea typeface="ＭＳ Ｐゴシック" pitchFamily="34" charset="-128"/>
              </a:rPr>
              <a:t>many highly protected sites still suffer from attacks</a:t>
            </a:r>
            <a:endParaRPr lang="en-US" altLang="en-US" sz="2000" smtClean="0">
              <a:solidFill>
                <a:srgbClr val="FF0000"/>
              </a:solidFill>
              <a:ea typeface="ＭＳ Ｐゴシック" pitchFamily="34" charset="-128"/>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369" name="Picture 18"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25" y="1049338"/>
            <a:ext cx="63992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5"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86371" name="Rectangle 2"/>
          <p:cNvSpPr>
            <a:spLocks noGrp="1" noChangeArrowheads="1"/>
          </p:cNvSpPr>
          <p:nvPr>
            <p:ph type="title"/>
          </p:nvPr>
        </p:nvSpPr>
        <p:spPr/>
        <p:txBody>
          <a:bodyPr/>
          <a:lstStyle/>
          <a:p>
            <a:r>
              <a:rPr lang="en-US" altLang="en-US" smtClean="0">
                <a:ea typeface="ＭＳ Ｐゴシック" pitchFamily="34" charset="-128"/>
              </a:rPr>
              <a:t>Intrusion detection systems</a:t>
            </a:r>
          </a:p>
        </p:txBody>
      </p:sp>
      <p:sp>
        <p:nvSpPr>
          <p:cNvPr id="186372" name="Rectangle 3"/>
          <p:cNvSpPr>
            <a:spLocks noGrp="1" noChangeArrowheads="1"/>
          </p:cNvSpPr>
          <p:nvPr>
            <p:ph type="body" idx="1"/>
          </p:nvPr>
        </p:nvSpPr>
        <p:spPr>
          <a:xfrm>
            <a:off x="498475" y="1482725"/>
            <a:ext cx="7772400" cy="4870450"/>
          </a:xfrm>
        </p:spPr>
        <p:txBody>
          <a:bodyPr/>
          <a:lstStyle/>
          <a:p>
            <a:r>
              <a:rPr lang="en-US" altLang="en-US" smtClean="0">
                <a:ea typeface="ＭＳ Ｐゴシック" pitchFamily="34" charset="-128"/>
              </a:rPr>
              <a:t>packet filtering:</a:t>
            </a:r>
          </a:p>
          <a:p>
            <a:pPr lvl="1"/>
            <a:r>
              <a:rPr lang="en-US" altLang="en-US" smtClean="0">
                <a:ea typeface="ＭＳ Ｐゴシック" pitchFamily="34" charset="-128"/>
              </a:rPr>
              <a:t>operates on TCP/IP headers only</a:t>
            </a:r>
          </a:p>
          <a:p>
            <a:pPr lvl="1"/>
            <a:r>
              <a:rPr lang="en-US" altLang="en-US" smtClean="0">
                <a:ea typeface="ＭＳ Ｐゴシック" pitchFamily="34" charset="-128"/>
              </a:rPr>
              <a:t>no correlation check among sessions </a:t>
            </a:r>
          </a:p>
          <a:p>
            <a:r>
              <a:rPr lang="en-US" altLang="en-US" i="1" smtClean="0">
                <a:solidFill>
                  <a:srgbClr val="CC0000"/>
                </a:solidFill>
                <a:ea typeface="ＭＳ Ｐゴシック" pitchFamily="34" charset="-128"/>
              </a:rPr>
              <a:t>IDS: intrusion detection system</a:t>
            </a:r>
          </a:p>
          <a:p>
            <a:pPr lvl="1"/>
            <a:r>
              <a:rPr lang="en-US" altLang="en-US" i="1" smtClean="0">
                <a:solidFill>
                  <a:srgbClr val="000099"/>
                </a:solidFill>
                <a:ea typeface="ＭＳ Ｐゴシック" pitchFamily="34" charset="-128"/>
              </a:rPr>
              <a:t>deep packet inspection:</a:t>
            </a:r>
            <a:r>
              <a:rPr lang="en-US" altLang="en-US" smtClean="0">
                <a:ea typeface="ＭＳ Ｐゴシック" pitchFamily="34" charset="-128"/>
              </a:rPr>
              <a:t> look at packet contents (e.g., check character strings in packet against database of known virus, attack strings)</a:t>
            </a:r>
          </a:p>
          <a:p>
            <a:pPr lvl="1"/>
            <a:r>
              <a:rPr lang="en-US" altLang="en-US" smtClean="0">
                <a:solidFill>
                  <a:srgbClr val="000099"/>
                </a:solidFill>
                <a:ea typeface="ＭＳ Ｐゴシック" pitchFamily="34" charset="-128"/>
              </a:rPr>
              <a:t>examine correlation</a:t>
            </a:r>
            <a:r>
              <a:rPr lang="en-US" altLang="en-US" smtClean="0">
                <a:ea typeface="ＭＳ Ｐゴシック" pitchFamily="34" charset="-128"/>
              </a:rPr>
              <a:t> among multiple packets</a:t>
            </a:r>
          </a:p>
          <a:p>
            <a:pPr lvl="2"/>
            <a:r>
              <a:rPr lang="en-US" altLang="en-US" sz="2400" smtClean="0">
                <a:latin typeface="Gill Sans MT" pitchFamily="34" charset="0"/>
                <a:ea typeface="ＭＳ Ｐゴシック" pitchFamily="34" charset="-128"/>
              </a:rPr>
              <a:t>port scanning</a:t>
            </a:r>
          </a:p>
          <a:p>
            <a:pPr lvl="2"/>
            <a:r>
              <a:rPr lang="en-US" altLang="en-US" sz="2400" smtClean="0">
                <a:latin typeface="Gill Sans MT" pitchFamily="34" charset="0"/>
                <a:ea typeface="ＭＳ Ｐゴシック" pitchFamily="34" charset="-128"/>
              </a:rPr>
              <a:t>network mapping</a:t>
            </a:r>
          </a:p>
          <a:p>
            <a:pPr lvl="2"/>
            <a:r>
              <a:rPr lang="en-US" altLang="en-US" sz="2400" smtClean="0">
                <a:latin typeface="Gill Sans MT" pitchFamily="34" charset="0"/>
                <a:ea typeface="ＭＳ Ｐゴシック" pitchFamily="34" charset="-128"/>
              </a:rPr>
              <a:t>DoS attack</a:t>
            </a: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417" name="Picture 18"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25" y="1049338"/>
            <a:ext cx="63992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099"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88419" name="Freeform 2"/>
          <p:cNvSpPr>
            <a:spLocks/>
          </p:cNvSpPr>
          <p:nvPr/>
        </p:nvSpPr>
        <p:spPr bwMode="auto">
          <a:xfrm>
            <a:off x="5554663" y="3381375"/>
            <a:ext cx="3324225" cy="1131888"/>
          </a:xfrm>
          <a:custGeom>
            <a:avLst/>
            <a:gdLst>
              <a:gd name="T0" fmla="*/ 2147483647 w 1198"/>
              <a:gd name="T1" fmla="*/ 2147483647 h 719"/>
              <a:gd name="T2" fmla="*/ 2147483647 w 1198"/>
              <a:gd name="T3" fmla="*/ 0 h 719"/>
              <a:gd name="T4" fmla="*/ 2147483647 w 1198"/>
              <a:gd name="T5" fmla="*/ 2147483647 h 719"/>
              <a:gd name="T6" fmla="*/ 2147483647 w 1198"/>
              <a:gd name="T7" fmla="*/ 2147483647 h 719"/>
              <a:gd name="T8" fmla="*/ 2147483647 w 1198"/>
              <a:gd name="T9" fmla="*/ 2147483647 h 719"/>
              <a:gd name="T10" fmla="*/ 2147483647 w 1198"/>
              <a:gd name="T11" fmla="*/ 2147483647 h 719"/>
              <a:gd name="T12" fmla="*/ 2147483647 w 1198"/>
              <a:gd name="T13" fmla="*/ 2147483647 h 719"/>
              <a:gd name="T14" fmla="*/ 2147483647 w 1198"/>
              <a:gd name="T15" fmla="*/ 2147483647 h 719"/>
              <a:gd name="T16" fmla="*/ 2147483647 w 1198"/>
              <a:gd name="T17" fmla="*/ 2147483647 h 719"/>
              <a:gd name="T18" fmla="*/ 2147483647 w 1198"/>
              <a:gd name="T19" fmla="*/ 2147483647 h 719"/>
              <a:gd name="T20" fmla="*/ 2147483647 w 1198"/>
              <a:gd name="T21" fmla="*/ 2147483647 h 719"/>
              <a:gd name="T22" fmla="*/ 2147483647 w 1198"/>
              <a:gd name="T23" fmla="*/ 2147483647 h 719"/>
              <a:gd name="T24" fmla="*/ 2147483647 w 1198"/>
              <a:gd name="T25" fmla="*/ 2147483647 h 719"/>
              <a:gd name="T26" fmla="*/ 2147483647 w 1198"/>
              <a:gd name="T27" fmla="*/ 2147483647 h 719"/>
              <a:gd name="T28" fmla="*/ 2147483647 w 1198"/>
              <a:gd name="T29" fmla="*/ 2147483647 h 719"/>
              <a:gd name="T30" fmla="*/ 2147483647 w 1198"/>
              <a:gd name="T31" fmla="*/ 2147483647 h 719"/>
              <a:gd name="T32" fmla="*/ 2147483647 w 1198"/>
              <a:gd name="T33" fmla="*/ 2147483647 h 719"/>
              <a:gd name="T34" fmla="*/ 2147483647 w 1198"/>
              <a:gd name="T35" fmla="*/ 2147483647 h 719"/>
              <a:gd name="T36" fmla="*/ 2147483647 w 1198"/>
              <a:gd name="T37" fmla="*/ 2147483647 h 719"/>
              <a:gd name="T38" fmla="*/ 2147483647 w 1198"/>
              <a:gd name="T39" fmla="*/ 2147483647 h 719"/>
              <a:gd name="T40" fmla="*/ 2147483647 w 1198"/>
              <a:gd name="T41" fmla="*/ 2147483647 h 719"/>
              <a:gd name="T42" fmla="*/ 2147483647 w 1198"/>
              <a:gd name="T43" fmla="*/ 2147483647 h 719"/>
              <a:gd name="T44" fmla="*/ 0 w 1198"/>
              <a:gd name="T45" fmla="*/ 2147483647 h 719"/>
              <a:gd name="T46" fmla="*/ 2147483647 w 1198"/>
              <a:gd name="T47" fmla="*/ 2147483647 h 719"/>
              <a:gd name="T48" fmla="*/ 2147483647 w 1198"/>
              <a:gd name="T49" fmla="*/ 2147483647 h 719"/>
              <a:gd name="T50" fmla="*/ 2147483647 w 1198"/>
              <a:gd name="T51" fmla="*/ 2147483647 h 719"/>
              <a:gd name="T52" fmla="*/ 2147483647 w 1198"/>
              <a:gd name="T53" fmla="*/ 2147483647 h 719"/>
              <a:gd name="T54" fmla="*/ 2147483647 w 1198"/>
              <a:gd name="T55" fmla="*/ 2147483647 h 719"/>
              <a:gd name="T56" fmla="*/ 2147483647 w 1198"/>
              <a:gd name="T57" fmla="*/ 2147483647 h 719"/>
              <a:gd name="T58" fmla="*/ 2147483647 w 1198"/>
              <a:gd name="T59" fmla="*/ 2147483647 h 719"/>
              <a:gd name="T60" fmla="*/ 2147483647 w 1198"/>
              <a:gd name="T61" fmla="*/ 2147483647 h 719"/>
              <a:gd name="T62" fmla="*/ 2147483647 w 1198"/>
              <a:gd name="T63" fmla="*/ 2147483647 h 719"/>
              <a:gd name="T64" fmla="*/ 2147483647 w 1198"/>
              <a:gd name="T65" fmla="*/ 2147483647 h 719"/>
              <a:gd name="T66" fmla="*/ 2147483647 w 1198"/>
              <a:gd name="T67" fmla="*/ 2147483647 h 719"/>
              <a:gd name="T68" fmla="*/ 2147483647 w 1198"/>
              <a:gd name="T69" fmla="*/ 2147483647 h 719"/>
              <a:gd name="T70" fmla="*/ 2147483647 w 1198"/>
              <a:gd name="T71" fmla="*/ 2147483647 h 719"/>
              <a:gd name="T72" fmla="*/ 2147483647 w 1198"/>
              <a:gd name="T73" fmla="*/ 2147483647 h 719"/>
              <a:gd name="T74" fmla="*/ 2147483647 w 1198"/>
              <a:gd name="T75" fmla="*/ 2147483647 h 719"/>
              <a:gd name="T76" fmla="*/ 2147483647 w 1198"/>
              <a:gd name="T77" fmla="*/ 2147483647 h 719"/>
              <a:gd name="T78" fmla="*/ 2147483647 w 1198"/>
              <a:gd name="T79" fmla="*/ 2147483647 h 719"/>
              <a:gd name="T80" fmla="*/ 2147483647 w 1198"/>
              <a:gd name="T81" fmla="*/ 2147483647 h 719"/>
              <a:gd name="T82" fmla="*/ 2147483647 w 1198"/>
              <a:gd name="T83" fmla="*/ 2147483647 h 719"/>
              <a:gd name="T84" fmla="*/ 2147483647 w 1198"/>
              <a:gd name="T85" fmla="*/ 2147483647 h 719"/>
              <a:gd name="T86" fmla="*/ 2147483647 w 1198"/>
              <a:gd name="T87" fmla="*/ 2147483647 h 719"/>
              <a:gd name="T88" fmla="*/ 2147483647 w 1198"/>
              <a:gd name="T89" fmla="*/ 2147483647 h 719"/>
              <a:gd name="T90" fmla="*/ 2147483647 w 1198"/>
              <a:gd name="T91" fmla="*/ 2147483647 h 719"/>
              <a:gd name="T92" fmla="*/ 2147483647 w 1198"/>
              <a:gd name="T93" fmla="*/ 2147483647 h 719"/>
              <a:gd name="T94" fmla="*/ 2147483647 w 1198"/>
              <a:gd name="T95" fmla="*/ 2147483647 h 719"/>
              <a:gd name="T96" fmla="*/ 2147483647 w 1198"/>
              <a:gd name="T97" fmla="*/ 2147483647 h 719"/>
              <a:gd name="T98" fmla="*/ 2147483647 w 1198"/>
              <a:gd name="T99" fmla="*/ 2147483647 h 719"/>
              <a:gd name="T100" fmla="*/ 2147483647 w 1198"/>
              <a:gd name="T101" fmla="*/ 2147483647 h 719"/>
              <a:gd name="T102" fmla="*/ 2147483647 w 1198"/>
              <a:gd name="T103" fmla="*/ 2147483647 h 719"/>
              <a:gd name="T104" fmla="*/ 2147483647 w 1198"/>
              <a:gd name="T105" fmla="*/ 2147483647 h 719"/>
              <a:gd name="T106" fmla="*/ 2147483647 w 1198"/>
              <a:gd name="T107" fmla="*/ 2147483647 h 719"/>
              <a:gd name="T108" fmla="*/ 2147483647 w 1198"/>
              <a:gd name="T109" fmla="*/ 2147483647 h 719"/>
              <a:gd name="T110" fmla="*/ 2147483647 w 1198"/>
              <a:gd name="T111" fmla="*/ 2147483647 h 7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98"/>
              <a:gd name="T169" fmla="*/ 0 h 719"/>
              <a:gd name="T170" fmla="*/ 1198 w 1198"/>
              <a:gd name="T171" fmla="*/ 719 h 7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98" h="719">
                <a:moveTo>
                  <a:pt x="1160" y="13"/>
                </a:moveTo>
                <a:lnTo>
                  <a:pt x="1154" y="9"/>
                </a:lnTo>
                <a:lnTo>
                  <a:pt x="1149" y="5"/>
                </a:lnTo>
                <a:lnTo>
                  <a:pt x="1142" y="3"/>
                </a:lnTo>
                <a:lnTo>
                  <a:pt x="1137" y="2"/>
                </a:lnTo>
                <a:lnTo>
                  <a:pt x="1130" y="0"/>
                </a:lnTo>
                <a:lnTo>
                  <a:pt x="1123" y="0"/>
                </a:lnTo>
                <a:lnTo>
                  <a:pt x="1116" y="0"/>
                </a:lnTo>
                <a:lnTo>
                  <a:pt x="1107" y="2"/>
                </a:lnTo>
                <a:lnTo>
                  <a:pt x="1099" y="3"/>
                </a:lnTo>
                <a:lnTo>
                  <a:pt x="1091" y="5"/>
                </a:lnTo>
                <a:lnTo>
                  <a:pt x="1082" y="7"/>
                </a:lnTo>
                <a:lnTo>
                  <a:pt x="1074" y="10"/>
                </a:lnTo>
                <a:lnTo>
                  <a:pt x="1064" y="13"/>
                </a:lnTo>
                <a:lnTo>
                  <a:pt x="1055" y="17"/>
                </a:lnTo>
                <a:lnTo>
                  <a:pt x="1036" y="24"/>
                </a:lnTo>
                <a:lnTo>
                  <a:pt x="1016" y="32"/>
                </a:lnTo>
                <a:lnTo>
                  <a:pt x="997" y="40"/>
                </a:lnTo>
                <a:lnTo>
                  <a:pt x="977" y="49"/>
                </a:lnTo>
                <a:lnTo>
                  <a:pt x="956" y="56"/>
                </a:lnTo>
                <a:lnTo>
                  <a:pt x="936" y="65"/>
                </a:lnTo>
                <a:lnTo>
                  <a:pt x="925" y="67"/>
                </a:lnTo>
                <a:lnTo>
                  <a:pt x="915" y="70"/>
                </a:lnTo>
                <a:lnTo>
                  <a:pt x="904" y="73"/>
                </a:lnTo>
                <a:lnTo>
                  <a:pt x="895" y="75"/>
                </a:lnTo>
                <a:lnTo>
                  <a:pt x="885" y="76"/>
                </a:lnTo>
                <a:lnTo>
                  <a:pt x="875" y="77"/>
                </a:lnTo>
                <a:lnTo>
                  <a:pt x="866" y="77"/>
                </a:lnTo>
                <a:lnTo>
                  <a:pt x="855" y="79"/>
                </a:lnTo>
                <a:lnTo>
                  <a:pt x="837" y="77"/>
                </a:lnTo>
                <a:lnTo>
                  <a:pt x="817" y="76"/>
                </a:lnTo>
                <a:lnTo>
                  <a:pt x="798" y="75"/>
                </a:lnTo>
                <a:lnTo>
                  <a:pt x="778" y="73"/>
                </a:lnTo>
                <a:lnTo>
                  <a:pt x="758" y="70"/>
                </a:lnTo>
                <a:lnTo>
                  <a:pt x="739" y="67"/>
                </a:lnTo>
                <a:lnTo>
                  <a:pt x="719" y="65"/>
                </a:lnTo>
                <a:lnTo>
                  <a:pt x="698" y="61"/>
                </a:lnTo>
                <a:lnTo>
                  <a:pt x="677" y="59"/>
                </a:lnTo>
                <a:lnTo>
                  <a:pt x="655" y="58"/>
                </a:lnTo>
                <a:lnTo>
                  <a:pt x="632" y="56"/>
                </a:lnTo>
                <a:lnTo>
                  <a:pt x="610" y="56"/>
                </a:lnTo>
                <a:lnTo>
                  <a:pt x="599" y="56"/>
                </a:lnTo>
                <a:lnTo>
                  <a:pt x="586" y="56"/>
                </a:lnTo>
                <a:lnTo>
                  <a:pt x="574" y="58"/>
                </a:lnTo>
                <a:lnTo>
                  <a:pt x="562" y="59"/>
                </a:lnTo>
                <a:lnTo>
                  <a:pt x="550" y="61"/>
                </a:lnTo>
                <a:lnTo>
                  <a:pt x="537" y="63"/>
                </a:lnTo>
                <a:lnTo>
                  <a:pt x="524" y="65"/>
                </a:lnTo>
                <a:lnTo>
                  <a:pt x="510" y="68"/>
                </a:lnTo>
                <a:lnTo>
                  <a:pt x="495" y="70"/>
                </a:lnTo>
                <a:lnTo>
                  <a:pt x="480" y="73"/>
                </a:lnTo>
                <a:lnTo>
                  <a:pt x="464" y="76"/>
                </a:lnTo>
                <a:lnTo>
                  <a:pt x="448" y="79"/>
                </a:lnTo>
                <a:lnTo>
                  <a:pt x="432" y="82"/>
                </a:lnTo>
                <a:lnTo>
                  <a:pt x="415" y="86"/>
                </a:lnTo>
                <a:lnTo>
                  <a:pt x="398" y="89"/>
                </a:lnTo>
                <a:lnTo>
                  <a:pt x="380" y="93"/>
                </a:lnTo>
                <a:lnTo>
                  <a:pt x="345" y="100"/>
                </a:lnTo>
                <a:lnTo>
                  <a:pt x="310" y="108"/>
                </a:lnTo>
                <a:lnTo>
                  <a:pt x="274" y="117"/>
                </a:lnTo>
                <a:lnTo>
                  <a:pt x="240" y="128"/>
                </a:lnTo>
                <a:lnTo>
                  <a:pt x="223" y="132"/>
                </a:lnTo>
                <a:lnTo>
                  <a:pt x="206" y="138"/>
                </a:lnTo>
                <a:lnTo>
                  <a:pt x="190" y="144"/>
                </a:lnTo>
                <a:lnTo>
                  <a:pt x="175" y="150"/>
                </a:lnTo>
                <a:lnTo>
                  <a:pt x="159" y="156"/>
                </a:lnTo>
                <a:lnTo>
                  <a:pt x="145" y="163"/>
                </a:lnTo>
                <a:lnTo>
                  <a:pt x="131" y="169"/>
                </a:lnTo>
                <a:lnTo>
                  <a:pt x="117" y="176"/>
                </a:lnTo>
                <a:lnTo>
                  <a:pt x="104" y="183"/>
                </a:lnTo>
                <a:lnTo>
                  <a:pt x="92" y="191"/>
                </a:lnTo>
                <a:lnTo>
                  <a:pt x="82" y="198"/>
                </a:lnTo>
                <a:lnTo>
                  <a:pt x="71" y="206"/>
                </a:lnTo>
                <a:lnTo>
                  <a:pt x="62" y="214"/>
                </a:lnTo>
                <a:lnTo>
                  <a:pt x="54" y="222"/>
                </a:lnTo>
                <a:lnTo>
                  <a:pt x="47" y="232"/>
                </a:lnTo>
                <a:lnTo>
                  <a:pt x="40" y="241"/>
                </a:lnTo>
                <a:lnTo>
                  <a:pt x="34" y="250"/>
                </a:lnTo>
                <a:lnTo>
                  <a:pt x="28" y="262"/>
                </a:lnTo>
                <a:lnTo>
                  <a:pt x="23" y="273"/>
                </a:lnTo>
                <a:lnTo>
                  <a:pt x="19" y="284"/>
                </a:lnTo>
                <a:lnTo>
                  <a:pt x="14" y="297"/>
                </a:lnTo>
                <a:lnTo>
                  <a:pt x="10" y="310"/>
                </a:lnTo>
                <a:lnTo>
                  <a:pt x="8" y="323"/>
                </a:lnTo>
                <a:lnTo>
                  <a:pt x="6" y="336"/>
                </a:lnTo>
                <a:lnTo>
                  <a:pt x="3" y="350"/>
                </a:lnTo>
                <a:lnTo>
                  <a:pt x="2" y="364"/>
                </a:lnTo>
                <a:lnTo>
                  <a:pt x="1" y="378"/>
                </a:lnTo>
                <a:lnTo>
                  <a:pt x="0" y="391"/>
                </a:lnTo>
                <a:lnTo>
                  <a:pt x="0" y="406"/>
                </a:lnTo>
                <a:lnTo>
                  <a:pt x="0" y="420"/>
                </a:lnTo>
                <a:lnTo>
                  <a:pt x="0" y="434"/>
                </a:lnTo>
                <a:lnTo>
                  <a:pt x="1" y="448"/>
                </a:lnTo>
                <a:lnTo>
                  <a:pt x="2" y="461"/>
                </a:lnTo>
                <a:lnTo>
                  <a:pt x="5" y="475"/>
                </a:lnTo>
                <a:lnTo>
                  <a:pt x="6" y="489"/>
                </a:lnTo>
                <a:lnTo>
                  <a:pt x="8" y="502"/>
                </a:lnTo>
                <a:lnTo>
                  <a:pt x="12" y="514"/>
                </a:lnTo>
                <a:lnTo>
                  <a:pt x="14" y="526"/>
                </a:lnTo>
                <a:lnTo>
                  <a:pt x="17" y="539"/>
                </a:lnTo>
                <a:lnTo>
                  <a:pt x="21" y="551"/>
                </a:lnTo>
                <a:lnTo>
                  <a:pt x="24" y="561"/>
                </a:lnTo>
                <a:lnTo>
                  <a:pt x="28" y="572"/>
                </a:lnTo>
                <a:lnTo>
                  <a:pt x="33" y="582"/>
                </a:lnTo>
                <a:lnTo>
                  <a:pt x="37" y="590"/>
                </a:lnTo>
                <a:lnTo>
                  <a:pt x="42" y="600"/>
                </a:lnTo>
                <a:lnTo>
                  <a:pt x="47" y="607"/>
                </a:lnTo>
                <a:lnTo>
                  <a:pt x="51" y="615"/>
                </a:lnTo>
                <a:lnTo>
                  <a:pt x="57" y="621"/>
                </a:lnTo>
                <a:lnTo>
                  <a:pt x="63" y="627"/>
                </a:lnTo>
                <a:lnTo>
                  <a:pt x="70" y="632"/>
                </a:lnTo>
                <a:lnTo>
                  <a:pt x="77" y="638"/>
                </a:lnTo>
                <a:lnTo>
                  <a:pt x="85" y="643"/>
                </a:lnTo>
                <a:lnTo>
                  <a:pt x="92" y="648"/>
                </a:lnTo>
                <a:lnTo>
                  <a:pt x="101" y="651"/>
                </a:lnTo>
                <a:lnTo>
                  <a:pt x="110" y="656"/>
                </a:lnTo>
                <a:lnTo>
                  <a:pt x="119" y="659"/>
                </a:lnTo>
                <a:lnTo>
                  <a:pt x="128" y="662"/>
                </a:lnTo>
                <a:lnTo>
                  <a:pt x="138" y="665"/>
                </a:lnTo>
                <a:lnTo>
                  <a:pt x="159" y="670"/>
                </a:lnTo>
                <a:lnTo>
                  <a:pt x="180" y="673"/>
                </a:lnTo>
                <a:lnTo>
                  <a:pt x="202" y="677"/>
                </a:lnTo>
                <a:lnTo>
                  <a:pt x="225" y="680"/>
                </a:lnTo>
                <a:lnTo>
                  <a:pt x="248" y="683"/>
                </a:lnTo>
                <a:lnTo>
                  <a:pt x="272" y="685"/>
                </a:lnTo>
                <a:lnTo>
                  <a:pt x="295" y="686"/>
                </a:lnTo>
                <a:lnTo>
                  <a:pt x="319" y="689"/>
                </a:lnTo>
                <a:lnTo>
                  <a:pt x="342" y="692"/>
                </a:lnTo>
                <a:lnTo>
                  <a:pt x="365" y="696"/>
                </a:lnTo>
                <a:lnTo>
                  <a:pt x="377" y="697"/>
                </a:lnTo>
                <a:lnTo>
                  <a:pt x="389" y="698"/>
                </a:lnTo>
                <a:lnTo>
                  <a:pt x="401" y="700"/>
                </a:lnTo>
                <a:lnTo>
                  <a:pt x="413" y="701"/>
                </a:lnTo>
                <a:lnTo>
                  <a:pt x="439" y="704"/>
                </a:lnTo>
                <a:lnTo>
                  <a:pt x="466" y="707"/>
                </a:lnTo>
                <a:lnTo>
                  <a:pt x="492" y="710"/>
                </a:lnTo>
                <a:lnTo>
                  <a:pt x="520" y="711"/>
                </a:lnTo>
                <a:lnTo>
                  <a:pt x="576" y="714"/>
                </a:lnTo>
                <a:lnTo>
                  <a:pt x="604" y="715"/>
                </a:lnTo>
                <a:lnTo>
                  <a:pt x="631" y="717"/>
                </a:lnTo>
                <a:lnTo>
                  <a:pt x="658" y="718"/>
                </a:lnTo>
                <a:lnTo>
                  <a:pt x="684" y="719"/>
                </a:lnTo>
                <a:lnTo>
                  <a:pt x="695" y="719"/>
                </a:lnTo>
                <a:lnTo>
                  <a:pt x="708" y="719"/>
                </a:lnTo>
                <a:lnTo>
                  <a:pt x="720" y="719"/>
                </a:lnTo>
                <a:lnTo>
                  <a:pt x="732" y="719"/>
                </a:lnTo>
                <a:lnTo>
                  <a:pt x="742" y="719"/>
                </a:lnTo>
                <a:lnTo>
                  <a:pt x="753" y="719"/>
                </a:lnTo>
                <a:lnTo>
                  <a:pt x="763" y="719"/>
                </a:lnTo>
                <a:lnTo>
                  <a:pt x="773" y="719"/>
                </a:lnTo>
                <a:lnTo>
                  <a:pt x="782" y="719"/>
                </a:lnTo>
                <a:lnTo>
                  <a:pt x="791" y="719"/>
                </a:lnTo>
                <a:lnTo>
                  <a:pt x="801" y="719"/>
                </a:lnTo>
                <a:lnTo>
                  <a:pt x="809" y="718"/>
                </a:lnTo>
                <a:lnTo>
                  <a:pt x="816" y="718"/>
                </a:lnTo>
                <a:lnTo>
                  <a:pt x="824" y="718"/>
                </a:lnTo>
                <a:lnTo>
                  <a:pt x="839" y="717"/>
                </a:lnTo>
                <a:lnTo>
                  <a:pt x="852" y="715"/>
                </a:lnTo>
                <a:lnTo>
                  <a:pt x="865" y="713"/>
                </a:lnTo>
                <a:lnTo>
                  <a:pt x="876" y="712"/>
                </a:lnTo>
                <a:lnTo>
                  <a:pt x="888" y="710"/>
                </a:lnTo>
                <a:lnTo>
                  <a:pt x="900" y="707"/>
                </a:lnTo>
                <a:lnTo>
                  <a:pt x="910" y="705"/>
                </a:lnTo>
                <a:lnTo>
                  <a:pt x="931" y="700"/>
                </a:lnTo>
                <a:lnTo>
                  <a:pt x="943" y="697"/>
                </a:lnTo>
                <a:lnTo>
                  <a:pt x="953" y="693"/>
                </a:lnTo>
                <a:lnTo>
                  <a:pt x="965" y="691"/>
                </a:lnTo>
                <a:lnTo>
                  <a:pt x="977" y="687"/>
                </a:lnTo>
                <a:lnTo>
                  <a:pt x="990" y="683"/>
                </a:lnTo>
                <a:lnTo>
                  <a:pt x="1002" y="679"/>
                </a:lnTo>
                <a:lnTo>
                  <a:pt x="1015" y="676"/>
                </a:lnTo>
                <a:lnTo>
                  <a:pt x="1029" y="672"/>
                </a:lnTo>
                <a:lnTo>
                  <a:pt x="1056" y="665"/>
                </a:lnTo>
                <a:lnTo>
                  <a:pt x="1070" y="662"/>
                </a:lnTo>
                <a:lnTo>
                  <a:pt x="1083" y="657"/>
                </a:lnTo>
                <a:lnTo>
                  <a:pt x="1096" y="652"/>
                </a:lnTo>
                <a:lnTo>
                  <a:pt x="1109" y="647"/>
                </a:lnTo>
                <a:lnTo>
                  <a:pt x="1120" y="641"/>
                </a:lnTo>
                <a:lnTo>
                  <a:pt x="1132" y="635"/>
                </a:lnTo>
                <a:lnTo>
                  <a:pt x="1142" y="627"/>
                </a:lnTo>
                <a:lnTo>
                  <a:pt x="1152" y="620"/>
                </a:lnTo>
                <a:lnTo>
                  <a:pt x="1160" y="610"/>
                </a:lnTo>
                <a:lnTo>
                  <a:pt x="1165" y="606"/>
                </a:lnTo>
                <a:lnTo>
                  <a:pt x="1168" y="601"/>
                </a:lnTo>
                <a:lnTo>
                  <a:pt x="1174" y="590"/>
                </a:lnTo>
                <a:lnTo>
                  <a:pt x="1180" y="579"/>
                </a:lnTo>
                <a:lnTo>
                  <a:pt x="1184" y="567"/>
                </a:lnTo>
                <a:lnTo>
                  <a:pt x="1188" y="554"/>
                </a:lnTo>
                <a:lnTo>
                  <a:pt x="1191" y="541"/>
                </a:lnTo>
                <a:lnTo>
                  <a:pt x="1194" y="527"/>
                </a:lnTo>
                <a:lnTo>
                  <a:pt x="1195" y="513"/>
                </a:lnTo>
                <a:lnTo>
                  <a:pt x="1196" y="498"/>
                </a:lnTo>
                <a:lnTo>
                  <a:pt x="1197" y="483"/>
                </a:lnTo>
                <a:lnTo>
                  <a:pt x="1197" y="467"/>
                </a:lnTo>
                <a:lnTo>
                  <a:pt x="1197" y="450"/>
                </a:lnTo>
                <a:lnTo>
                  <a:pt x="1197" y="433"/>
                </a:lnTo>
                <a:lnTo>
                  <a:pt x="1197" y="415"/>
                </a:lnTo>
                <a:lnTo>
                  <a:pt x="1197" y="398"/>
                </a:lnTo>
                <a:lnTo>
                  <a:pt x="1197" y="380"/>
                </a:lnTo>
                <a:lnTo>
                  <a:pt x="1196" y="361"/>
                </a:lnTo>
                <a:lnTo>
                  <a:pt x="1196" y="352"/>
                </a:lnTo>
                <a:lnTo>
                  <a:pt x="1196" y="343"/>
                </a:lnTo>
                <a:lnTo>
                  <a:pt x="1196" y="331"/>
                </a:lnTo>
                <a:lnTo>
                  <a:pt x="1196" y="321"/>
                </a:lnTo>
                <a:lnTo>
                  <a:pt x="1197" y="309"/>
                </a:lnTo>
                <a:lnTo>
                  <a:pt x="1197" y="297"/>
                </a:lnTo>
                <a:lnTo>
                  <a:pt x="1197" y="284"/>
                </a:lnTo>
                <a:lnTo>
                  <a:pt x="1197" y="271"/>
                </a:lnTo>
                <a:lnTo>
                  <a:pt x="1198" y="246"/>
                </a:lnTo>
                <a:lnTo>
                  <a:pt x="1198" y="219"/>
                </a:lnTo>
                <a:lnTo>
                  <a:pt x="1198" y="192"/>
                </a:lnTo>
                <a:lnTo>
                  <a:pt x="1197" y="166"/>
                </a:lnTo>
                <a:lnTo>
                  <a:pt x="1196" y="141"/>
                </a:lnTo>
                <a:lnTo>
                  <a:pt x="1196" y="128"/>
                </a:lnTo>
                <a:lnTo>
                  <a:pt x="1195" y="116"/>
                </a:lnTo>
                <a:lnTo>
                  <a:pt x="1194" y="103"/>
                </a:lnTo>
                <a:lnTo>
                  <a:pt x="1191" y="93"/>
                </a:lnTo>
                <a:lnTo>
                  <a:pt x="1190" y="81"/>
                </a:lnTo>
                <a:lnTo>
                  <a:pt x="1188" y="70"/>
                </a:lnTo>
                <a:lnTo>
                  <a:pt x="1186" y="61"/>
                </a:lnTo>
                <a:lnTo>
                  <a:pt x="1183" y="52"/>
                </a:lnTo>
                <a:lnTo>
                  <a:pt x="1180" y="44"/>
                </a:lnTo>
                <a:lnTo>
                  <a:pt x="1176" y="35"/>
                </a:lnTo>
                <a:lnTo>
                  <a:pt x="1173" y="28"/>
                </a:lnTo>
                <a:lnTo>
                  <a:pt x="1169" y="23"/>
                </a:lnTo>
                <a:lnTo>
                  <a:pt x="1165" y="17"/>
                </a:lnTo>
                <a:lnTo>
                  <a:pt x="1160" y="13"/>
                </a:lnTo>
                <a:close/>
              </a:path>
            </a:pathLst>
          </a:custGeom>
          <a:gradFill rotWithShape="1">
            <a:gsLst>
              <a:gs pos="0">
                <a:srgbClr val="CC99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420" name="Freeform 4"/>
          <p:cNvSpPr>
            <a:spLocks/>
          </p:cNvSpPr>
          <p:nvPr/>
        </p:nvSpPr>
        <p:spPr bwMode="auto">
          <a:xfrm>
            <a:off x="3336925" y="4246563"/>
            <a:ext cx="2092325" cy="1847850"/>
          </a:xfrm>
          <a:custGeom>
            <a:avLst/>
            <a:gdLst>
              <a:gd name="T0" fmla="*/ 1141628 w 10000"/>
              <a:gd name="T1" fmla="*/ 0 h 9947"/>
              <a:gd name="T2" fmla="*/ 1229300 w 10000"/>
              <a:gd name="T3" fmla="*/ 25820 h 9947"/>
              <a:gd name="T4" fmla="*/ 1301698 w 10000"/>
              <a:gd name="T5" fmla="*/ 74303 h 9947"/>
              <a:gd name="T6" fmla="*/ 1376398 w 10000"/>
              <a:gd name="T7" fmla="*/ 98637 h 9947"/>
              <a:gd name="T8" fmla="*/ 1487715 w 10000"/>
              <a:gd name="T9" fmla="*/ 160680 h 9947"/>
              <a:gd name="T10" fmla="*/ 1562624 w 10000"/>
              <a:gd name="T11" fmla="*/ 234983 h 9947"/>
              <a:gd name="T12" fmla="*/ 1635859 w 10000"/>
              <a:gd name="T13" fmla="*/ 260617 h 9947"/>
              <a:gd name="T14" fmla="*/ 1746548 w 10000"/>
              <a:gd name="T15" fmla="*/ 346251 h 9947"/>
              <a:gd name="T16" fmla="*/ 1771866 w 10000"/>
              <a:gd name="T17" fmla="*/ 382659 h 9947"/>
              <a:gd name="T18" fmla="*/ 1846566 w 10000"/>
              <a:gd name="T19" fmla="*/ 433371 h 9947"/>
              <a:gd name="T20" fmla="*/ 1908502 w 10000"/>
              <a:gd name="T21" fmla="*/ 581234 h 9947"/>
              <a:gd name="T22" fmla="*/ 1957883 w 10000"/>
              <a:gd name="T23" fmla="*/ 655722 h 9947"/>
              <a:gd name="T24" fmla="*/ 2019610 w 10000"/>
              <a:gd name="T25" fmla="*/ 766991 h 9947"/>
              <a:gd name="T26" fmla="*/ 2030281 w 10000"/>
              <a:gd name="T27" fmla="*/ 803399 h 9947"/>
              <a:gd name="T28" fmla="*/ 2056227 w 10000"/>
              <a:gd name="T29" fmla="*/ 839807 h 9947"/>
              <a:gd name="T30" fmla="*/ 2092426 w 10000"/>
              <a:gd name="T31" fmla="*/ 989156 h 9947"/>
              <a:gd name="T32" fmla="*/ 2081336 w 10000"/>
              <a:gd name="T33" fmla="*/ 1446304 h 9947"/>
              <a:gd name="T34" fmla="*/ 1554045 w 10000"/>
              <a:gd name="T35" fmla="*/ 1835651 h 9947"/>
              <a:gd name="T36" fmla="*/ 595923 w 10000"/>
              <a:gd name="T37" fmla="*/ 1757447 h 9947"/>
              <a:gd name="T38" fmla="*/ 151910 w 10000"/>
              <a:gd name="T39" fmla="*/ 1492558 h 9947"/>
              <a:gd name="T40" fmla="*/ 66958 w 10000"/>
              <a:gd name="T41" fmla="*/ 819374 h 9947"/>
              <a:gd name="T42" fmla="*/ 170114 w 10000"/>
              <a:gd name="T43" fmla="*/ 462721 h 9947"/>
              <a:gd name="T44" fmla="*/ 462217 w 10000"/>
              <a:gd name="T45" fmla="*/ 234983 h 9947"/>
              <a:gd name="T46" fmla="*/ 684642 w 10000"/>
              <a:gd name="T47" fmla="*/ 147863 h 9947"/>
              <a:gd name="T48" fmla="*/ 759132 w 10000"/>
              <a:gd name="T49" fmla="*/ 111268 h 9947"/>
              <a:gd name="T50" fmla="*/ 981557 w 10000"/>
              <a:gd name="T51" fmla="*/ 49226 h 9947"/>
              <a:gd name="T52" fmla="*/ 1141628 w 10000"/>
              <a:gd name="T53" fmla="*/ 0 h 994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0000" h="9947">
                <a:moveTo>
                  <a:pt x="5456" y="0"/>
                </a:moveTo>
                <a:cubicBezTo>
                  <a:pt x="5509" y="17"/>
                  <a:pt x="5804" y="93"/>
                  <a:pt x="5875" y="139"/>
                </a:cubicBezTo>
                <a:cubicBezTo>
                  <a:pt x="5994" y="213"/>
                  <a:pt x="6085" y="350"/>
                  <a:pt x="6221" y="400"/>
                </a:cubicBezTo>
                <a:lnTo>
                  <a:pt x="6578" y="531"/>
                </a:lnTo>
                <a:cubicBezTo>
                  <a:pt x="6749" y="666"/>
                  <a:pt x="6957" y="710"/>
                  <a:pt x="7110" y="865"/>
                </a:cubicBezTo>
                <a:cubicBezTo>
                  <a:pt x="7237" y="991"/>
                  <a:pt x="7344" y="1129"/>
                  <a:pt x="7468" y="1265"/>
                </a:cubicBezTo>
                <a:cubicBezTo>
                  <a:pt x="7551" y="1359"/>
                  <a:pt x="7701" y="1359"/>
                  <a:pt x="7818" y="1403"/>
                </a:cubicBezTo>
                <a:cubicBezTo>
                  <a:pt x="8021" y="1478"/>
                  <a:pt x="8174" y="1726"/>
                  <a:pt x="8347" y="1864"/>
                </a:cubicBezTo>
                <a:cubicBezTo>
                  <a:pt x="8384" y="1931"/>
                  <a:pt x="8413" y="2008"/>
                  <a:pt x="8468" y="2060"/>
                </a:cubicBezTo>
                <a:cubicBezTo>
                  <a:pt x="8574" y="2163"/>
                  <a:pt x="8825" y="2333"/>
                  <a:pt x="8825" y="2333"/>
                </a:cubicBezTo>
                <a:cubicBezTo>
                  <a:pt x="8906" y="2606"/>
                  <a:pt x="8997" y="2879"/>
                  <a:pt x="9121" y="3129"/>
                </a:cubicBezTo>
                <a:cubicBezTo>
                  <a:pt x="9188" y="3264"/>
                  <a:pt x="9309" y="3375"/>
                  <a:pt x="9357" y="3530"/>
                </a:cubicBezTo>
                <a:cubicBezTo>
                  <a:pt x="9425" y="3743"/>
                  <a:pt x="9652" y="4129"/>
                  <a:pt x="9652" y="4129"/>
                </a:cubicBezTo>
                <a:cubicBezTo>
                  <a:pt x="9667" y="4196"/>
                  <a:pt x="9675" y="4265"/>
                  <a:pt x="9703" y="4325"/>
                </a:cubicBezTo>
                <a:cubicBezTo>
                  <a:pt x="9737" y="4392"/>
                  <a:pt x="9802" y="4443"/>
                  <a:pt x="9827" y="4521"/>
                </a:cubicBezTo>
                <a:cubicBezTo>
                  <a:pt x="9910" y="4761"/>
                  <a:pt x="9934" y="5068"/>
                  <a:pt x="10000" y="5325"/>
                </a:cubicBezTo>
                <a:cubicBezTo>
                  <a:pt x="9988" y="6145"/>
                  <a:pt x="9981" y="6963"/>
                  <a:pt x="9947" y="7786"/>
                </a:cubicBezTo>
                <a:cubicBezTo>
                  <a:pt x="9700" y="9068"/>
                  <a:pt x="8610" y="9603"/>
                  <a:pt x="7427" y="9882"/>
                </a:cubicBezTo>
                <a:cubicBezTo>
                  <a:pt x="6244" y="10161"/>
                  <a:pt x="3605" y="9461"/>
                  <a:pt x="2848" y="9461"/>
                </a:cubicBezTo>
                <a:cubicBezTo>
                  <a:pt x="2091" y="9461"/>
                  <a:pt x="1754" y="9354"/>
                  <a:pt x="726" y="8035"/>
                </a:cubicBezTo>
                <a:cubicBezTo>
                  <a:pt x="-302" y="6716"/>
                  <a:pt x="-43" y="5310"/>
                  <a:pt x="320" y="4411"/>
                </a:cubicBezTo>
                <a:cubicBezTo>
                  <a:pt x="685" y="3512"/>
                  <a:pt x="302" y="2835"/>
                  <a:pt x="813" y="2491"/>
                </a:cubicBezTo>
                <a:cubicBezTo>
                  <a:pt x="1325" y="2147"/>
                  <a:pt x="1798" y="1547"/>
                  <a:pt x="2209" y="1265"/>
                </a:cubicBezTo>
                <a:cubicBezTo>
                  <a:pt x="2618" y="983"/>
                  <a:pt x="2908" y="939"/>
                  <a:pt x="3272" y="796"/>
                </a:cubicBezTo>
                <a:cubicBezTo>
                  <a:pt x="3506" y="685"/>
                  <a:pt x="3390" y="687"/>
                  <a:pt x="3628" y="599"/>
                </a:cubicBezTo>
                <a:cubicBezTo>
                  <a:pt x="3971" y="487"/>
                  <a:pt x="4347" y="334"/>
                  <a:pt x="4691" y="265"/>
                </a:cubicBezTo>
                <a:cubicBezTo>
                  <a:pt x="4993" y="205"/>
                  <a:pt x="5206" y="197"/>
                  <a:pt x="5456" y="0"/>
                </a:cubicBezTo>
                <a:close/>
              </a:path>
            </a:pathLst>
          </a:custGeom>
          <a:solidFill>
            <a:srgbClr val="FFFF99"/>
          </a:solidFill>
          <a:ln w="9525">
            <a:solidFill>
              <a:schemeClr val="tx1"/>
            </a:solidFill>
            <a:round/>
            <a:headEnd/>
            <a:tailEnd/>
          </a:ln>
        </p:spPr>
        <p:txBody>
          <a:bodyPr/>
          <a:lstStyle/>
          <a:p>
            <a:endParaRPr lang="en-CA"/>
          </a:p>
        </p:txBody>
      </p:sp>
      <p:grpSp>
        <p:nvGrpSpPr>
          <p:cNvPr id="188421" name="Group 199"/>
          <p:cNvGrpSpPr>
            <a:grpSpLocks/>
          </p:cNvGrpSpPr>
          <p:nvPr/>
        </p:nvGrpSpPr>
        <p:grpSpPr bwMode="auto">
          <a:xfrm>
            <a:off x="4273550" y="3108325"/>
            <a:ext cx="261938" cy="866775"/>
            <a:chOff x="2550" y="2912"/>
            <a:chExt cx="278" cy="690"/>
          </a:xfrm>
        </p:grpSpPr>
        <p:sp>
          <p:nvSpPr>
            <p:cNvPr id="188620" name="Freeform 200"/>
            <p:cNvSpPr>
              <a:spLocks/>
            </p:cNvSpPr>
            <p:nvPr/>
          </p:nvSpPr>
          <p:spPr bwMode="auto">
            <a:xfrm>
              <a:off x="2578" y="2963"/>
              <a:ext cx="138" cy="638"/>
            </a:xfrm>
            <a:custGeom>
              <a:avLst/>
              <a:gdLst>
                <a:gd name="T0" fmla="*/ 0 w 138"/>
                <a:gd name="T1" fmla="*/ 485 h 638"/>
                <a:gd name="T2" fmla="*/ 138 w 138"/>
                <a:gd name="T3" fmla="*/ 638 h 638"/>
                <a:gd name="T4" fmla="*/ 138 w 138"/>
                <a:gd name="T5" fmla="*/ 77 h 638"/>
                <a:gd name="T6" fmla="*/ 116 w 138"/>
                <a:gd name="T7" fmla="*/ 49 h 638"/>
                <a:gd name="T8" fmla="*/ 0 w 138"/>
                <a:gd name="T9" fmla="*/ 0 h 638"/>
                <a:gd name="T10" fmla="*/ 0 w 138"/>
                <a:gd name="T11" fmla="*/ 485 h 638"/>
                <a:gd name="T12" fmla="*/ 0 60000 65536"/>
                <a:gd name="T13" fmla="*/ 0 60000 65536"/>
                <a:gd name="T14" fmla="*/ 0 60000 65536"/>
                <a:gd name="T15" fmla="*/ 0 60000 65536"/>
                <a:gd name="T16" fmla="*/ 0 60000 65536"/>
                <a:gd name="T17" fmla="*/ 0 60000 65536"/>
                <a:gd name="T18" fmla="*/ 0 w 138"/>
                <a:gd name="T19" fmla="*/ 0 h 638"/>
                <a:gd name="T20" fmla="*/ 138 w 138"/>
                <a:gd name="T21" fmla="*/ 638 h 638"/>
              </a:gdLst>
              <a:ahLst/>
              <a:cxnLst>
                <a:cxn ang="T12">
                  <a:pos x="T0" y="T1"/>
                </a:cxn>
                <a:cxn ang="T13">
                  <a:pos x="T2" y="T3"/>
                </a:cxn>
                <a:cxn ang="T14">
                  <a:pos x="T4" y="T5"/>
                </a:cxn>
                <a:cxn ang="T15">
                  <a:pos x="T6" y="T7"/>
                </a:cxn>
                <a:cxn ang="T16">
                  <a:pos x="T8" y="T9"/>
                </a:cxn>
                <a:cxn ang="T17">
                  <a:pos x="T10" y="T11"/>
                </a:cxn>
              </a:cxnLst>
              <a:rect l="T18" t="T19" r="T20" b="T21"/>
              <a:pathLst>
                <a:path w="138" h="638">
                  <a:moveTo>
                    <a:pt x="0" y="485"/>
                  </a:moveTo>
                  <a:lnTo>
                    <a:pt x="138" y="638"/>
                  </a:lnTo>
                  <a:lnTo>
                    <a:pt x="138" y="77"/>
                  </a:lnTo>
                  <a:lnTo>
                    <a:pt x="116" y="49"/>
                  </a:lnTo>
                  <a:lnTo>
                    <a:pt x="0" y="0"/>
                  </a:lnTo>
                  <a:lnTo>
                    <a:pt x="0" y="48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21" name="Rectangle 201"/>
            <p:cNvSpPr>
              <a:spLocks noChangeArrowheads="1"/>
            </p:cNvSpPr>
            <p:nvPr/>
          </p:nvSpPr>
          <p:spPr bwMode="auto">
            <a:xfrm>
              <a:off x="2716" y="3035"/>
              <a:ext cx="84" cy="567"/>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22" name="Freeform 202"/>
            <p:cNvSpPr>
              <a:spLocks/>
            </p:cNvSpPr>
            <p:nvPr/>
          </p:nvSpPr>
          <p:spPr bwMode="auto">
            <a:xfrm>
              <a:off x="2713" y="3035"/>
              <a:ext cx="86" cy="64"/>
            </a:xfrm>
            <a:custGeom>
              <a:avLst/>
              <a:gdLst>
                <a:gd name="T0" fmla="*/ 0 w 86"/>
                <a:gd name="T1" fmla="*/ 0 h 64"/>
                <a:gd name="T2" fmla="*/ 86 w 86"/>
                <a:gd name="T3" fmla="*/ 0 h 64"/>
                <a:gd name="T4" fmla="*/ 86 w 86"/>
                <a:gd name="T5" fmla="*/ 64 h 64"/>
                <a:gd name="T6" fmla="*/ 0 w 86"/>
                <a:gd name="T7" fmla="*/ 30 h 64"/>
                <a:gd name="T8" fmla="*/ 0 w 86"/>
                <a:gd name="T9" fmla="*/ 0 h 64"/>
                <a:gd name="T10" fmla="*/ 0 60000 65536"/>
                <a:gd name="T11" fmla="*/ 0 60000 65536"/>
                <a:gd name="T12" fmla="*/ 0 60000 65536"/>
                <a:gd name="T13" fmla="*/ 0 60000 65536"/>
                <a:gd name="T14" fmla="*/ 0 60000 65536"/>
                <a:gd name="T15" fmla="*/ 0 w 86"/>
                <a:gd name="T16" fmla="*/ 0 h 64"/>
                <a:gd name="T17" fmla="*/ 86 w 86"/>
                <a:gd name="T18" fmla="*/ 64 h 64"/>
              </a:gdLst>
              <a:ahLst/>
              <a:cxnLst>
                <a:cxn ang="T10">
                  <a:pos x="T0" y="T1"/>
                </a:cxn>
                <a:cxn ang="T11">
                  <a:pos x="T2" y="T3"/>
                </a:cxn>
                <a:cxn ang="T12">
                  <a:pos x="T4" y="T5"/>
                </a:cxn>
                <a:cxn ang="T13">
                  <a:pos x="T6" y="T7"/>
                </a:cxn>
                <a:cxn ang="T14">
                  <a:pos x="T8" y="T9"/>
                </a:cxn>
              </a:cxnLst>
              <a:rect l="T15" t="T16" r="T17" b="T18"/>
              <a:pathLst>
                <a:path w="86" h="64">
                  <a:moveTo>
                    <a:pt x="0" y="0"/>
                  </a:moveTo>
                  <a:lnTo>
                    <a:pt x="86" y="0"/>
                  </a:lnTo>
                  <a:lnTo>
                    <a:pt x="86" y="64"/>
                  </a:lnTo>
                  <a:lnTo>
                    <a:pt x="0" y="3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23" name="Rectangle 203"/>
            <p:cNvSpPr>
              <a:spLocks noChangeArrowheads="1"/>
            </p:cNvSpPr>
            <p:nvPr/>
          </p:nvSpPr>
          <p:spPr bwMode="auto">
            <a:xfrm>
              <a:off x="2716" y="3118"/>
              <a:ext cx="41"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24" name="Rectangle 204"/>
            <p:cNvSpPr>
              <a:spLocks noChangeArrowheads="1"/>
            </p:cNvSpPr>
            <p:nvPr/>
          </p:nvSpPr>
          <p:spPr bwMode="auto">
            <a:xfrm>
              <a:off x="2759" y="3117"/>
              <a:ext cx="43" cy="34"/>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25" name="Rectangle 205"/>
            <p:cNvSpPr>
              <a:spLocks noChangeArrowheads="1"/>
            </p:cNvSpPr>
            <p:nvPr/>
          </p:nvSpPr>
          <p:spPr bwMode="auto">
            <a:xfrm>
              <a:off x="2737" y="3080"/>
              <a:ext cx="43" cy="32"/>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26" name="Rectangle 206"/>
            <p:cNvSpPr>
              <a:spLocks noChangeArrowheads="1"/>
            </p:cNvSpPr>
            <p:nvPr/>
          </p:nvSpPr>
          <p:spPr bwMode="auto">
            <a:xfrm>
              <a:off x="2781" y="3080"/>
              <a:ext cx="21"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27" name="Rectangle 207"/>
            <p:cNvSpPr>
              <a:spLocks noChangeArrowheads="1"/>
            </p:cNvSpPr>
            <p:nvPr/>
          </p:nvSpPr>
          <p:spPr bwMode="auto">
            <a:xfrm>
              <a:off x="2712" y="3080"/>
              <a:ext cx="22"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28" name="Rectangle 208"/>
            <p:cNvSpPr>
              <a:spLocks noChangeArrowheads="1"/>
            </p:cNvSpPr>
            <p:nvPr/>
          </p:nvSpPr>
          <p:spPr bwMode="auto">
            <a:xfrm>
              <a:off x="2715" y="3041"/>
              <a:ext cx="43" cy="34"/>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29" name="Rectangle 209"/>
            <p:cNvSpPr>
              <a:spLocks noChangeArrowheads="1"/>
            </p:cNvSpPr>
            <p:nvPr/>
          </p:nvSpPr>
          <p:spPr bwMode="auto">
            <a:xfrm>
              <a:off x="2760" y="3042"/>
              <a:ext cx="43"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30" name="Rectangle 210"/>
            <p:cNvSpPr>
              <a:spLocks noChangeArrowheads="1"/>
            </p:cNvSpPr>
            <p:nvPr/>
          </p:nvSpPr>
          <p:spPr bwMode="auto">
            <a:xfrm>
              <a:off x="2715" y="3193"/>
              <a:ext cx="40"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31" name="Rectangle 211"/>
            <p:cNvSpPr>
              <a:spLocks noChangeArrowheads="1"/>
            </p:cNvSpPr>
            <p:nvPr/>
          </p:nvSpPr>
          <p:spPr bwMode="auto">
            <a:xfrm>
              <a:off x="2759" y="3193"/>
              <a:ext cx="42"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32" name="Rectangle 212"/>
            <p:cNvSpPr>
              <a:spLocks noChangeArrowheads="1"/>
            </p:cNvSpPr>
            <p:nvPr/>
          </p:nvSpPr>
          <p:spPr bwMode="auto">
            <a:xfrm>
              <a:off x="2780" y="3155"/>
              <a:ext cx="22"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33" name="Rectangle 213"/>
            <p:cNvSpPr>
              <a:spLocks noChangeArrowheads="1"/>
            </p:cNvSpPr>
            <p:nvPr/>
          </p:nvSpPr>
          <p:spPr bwMode="auto">
            <a:xfrm>
              <a:off x="2716" y="3155"/>
              <a:ext cx="17"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34" name="Rectangle 214"/>
            <p:cNvSpPr>
              <a:spLocks noChangeArrowheads="1"/>
            </p:cNvSpPr>
            <p:nvPr/>
          </p:nvSpPr>
          <p:spPr bwMode="auto">
            <a:xfrm>
              <a:off x="2715" y="3266"/>
              <a:ext cx="40"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35" name="Rectangle 215"/>
            <p:cNvSpPr>
              <a:spLocks noChangeArrowheads="1"/>
            </p:cNvSpPr>
            <p:nvPr/>
          </p:nvSpPr>
          <p:spPr bwMode="auto">
            <a:xfrm>
              <a:off x="2759" y="3266"/>
              <a:ext cx="42"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36" name="Rectangle 216"/>
            <p:cNvSpPr>
              <a:spLocks noChangeArrowheads="1"/>
            </p:cNvSpPr>
            <p:nvPr/>
          </p:nvSpPr>
          <p:spPr bwMode="auto">
            <a:xfrm>
              <a:off x="2737" y="3229"/>
              <a:ext cx="42"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37" name="Rectangle 217"/>
            <p:cNvSpPr>
              <a:spLocks noChangeArrowheads="1"/>
            </p:cNvSpPr>
            <p:nvPr/>
          </p:nvSpPr>
          <p:spPr bwMode="auto">
            <a:xfrm>
              <a:off x="2780" y="3229"/>
              <a:ext cx="22" cy="32"/>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38" name="Rectangle 218"/>
            <p:cNvSpPr>
              <a:spLocks noChangeArrowheads="1"/>
            </p:cNvSpPr>
            <p:nvPr/>
          </p:nvSpPr>
          <p:spPr bwMode="auto">
            <a:xfrm>
              <a:off x="2715" y="3229"/>
              <a:ext cx="18"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39" name="Rectangle 219"/>
            <p:cNvSpPr>
              <a:spLocks noChangeArrowheads="1"/>
            </p:cNvSpPr>
            <p:nvPr/>
          </p:nvSpPr>
          <p:spPr bwMode="auto">
            <a:xfrm>
              <a:off x="2715" y="3342"/>
              <a:ext cx="40"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40" name="Rectangle 220"/>
            <p:cNvSpPr>
              <a:spLocks noChangeArrowheads="1"/>
            </p:cNvSpPr>
            <p:nvPr/>
          </p:nvSpPr>
          <p:spPr bwMode="auto">
            <a:xfrm>
              <a:off x="2759" y="3342"/>
              <a:ext cx="42"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41" name="Rectangle 221"/>
            <p:cNvSpPr>
              <a:spLocks noChangeArrowheads="1"/>
            </p:cNvSpPr>
            <p:nvPr/>
          </p:nvSpPr>
          <p:spPr bwMode="auto">
            <a:xfrm>
              <a:off x="2736" y="3304"/>
              <a:ext cx="43" cy="33"/>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42" name="Rectangle 222"/>
            <p:cNvSpPr>
              <a:spLocks noChangeArrowheads="1"/>
            </p:cNvSpPr>
            <p:nvPr/>
          </p:nvSpPr>
          <p:spPr bwMode="auto">
            <a:xfrm>
              <a:off x="2780" y="3304"/>
              <a:ext cx="21"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43" name="Rectangle 223"/>
            <p:cNvSpPr>
              <a:spLocks noChangeArrowheads="1"/>
            </p:cNvSpPr>
            <p:nvPr/>
          </p:nvSpPr>
          <p:spPr bwMode="auto">
            <a:xfrm>
              <a:off x="2716" y="3304"/>
              <a:ext cx="17"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44" name="Rectangle 224"/>
            <p:cNvSpPr>
              <a:spLocks noChangeArrowheads="1"/>
            </p:cNvSpPr>
            <p:nvPr/>
          </p:nvSpPr>
          <p:spPr bwMode="auto">
            <a:xfrm>
              <a:off x="2715" y="3417"/>
              <a:ext cx="42"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45" name="Rectangle 225"/>
            <p:cNvSpPr>
              <a:spLocks noChangeArrowheads="1"/>
            </p:cNvSpPr>
            <p:nvPr/>
          </p:nvSpPr>
          <p:spPr bwMode="auto">
            <a:xfrm>
              <a:off x="2759" y="3416"/>
              <a:ext cx="43" cy="34"/>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46" name="Rectangle 226"/>
            <p:cNvSpPr>
              <a:spLocks noChangeArrowheads="1"/>
            </p:cNvSpPr>
            <p:nvPr/>
          </p:nvSpPr>
          <p:spPr bwMode="auto">
            <a:xfrm>
              <a:off x="2737" y="3379"/>
              <a:ext cx="43"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47" name="Rectangle 227"/>
            <p:cNvSpPr>
              <a:spLocks noChangeArrowheads="1"/>
            </p:cNvSpPr>
            <p:nvPr/>
          </p:nvSpPr>
          <p:spPr bwMode="auto">
            <a:xfrm>
              <a:off x="2781" y="3379"/>
              <a:ext cx="21"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48" name="Rectangle 228"/>
            <p:cNvSpPr>
              <a:spLocks noChangeArrowheads="1"/>
            </p:cNvSpPr>
            <p:nvPr/>
          </p:nvSpPr>
          <p:spPr bwMode="auto">
            <a:xfrm>
              <a:off x="2715" y="3492"/>
              <a:ext cx="40" cy="33"/>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49" name="Rectangle 229"/>
            <p:cNvSpPr>
              <a:spLocks noChangeArrowheads="1"/>
            </p:cNvSpPr>
            <p:nvPr/>
          </p:nvSpPr>
          <p:spPr bwMode="auto">
            <a:xfrm>
              <a:off x="2759" y="3492"/>
              <a:ext cx="42"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50" name="Rectangle 230"/>
            <p:cNvSpPr>
              <a:spLocks noChangeArrowheads="1"/>
            </p:cNvSpPr>
            <p:nvPr/>
          </p:nvSpPr>
          <p:spPr bwMode="auto">
            <a:xfrm>
              <a:off x="2737" y="3455"/>
              <a:ext cx="42" cy="31"/>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51" name="Rectangle 231"/>
            <p:cNvSpPr>
              <a:spLocks noChangeArrowheads="1"/>
            </p:cNvSpPr>
            <p:nvPr/>
          </p:nvSpPr>
          <p:spPr bwMode="auto">
            <a:xfrm>
              <a:off x="2780" y="3453"/>
              <a:ext cx="22"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52" name="Rectangle 232"/>
            <p:cNvSpPr>
              <a:spLocks noChangeArrowheads="1"/>
            </p:cNvSpPr>
            <p:nvPr/>
          </p:nvSpPr>
          <p:spPr bwMode="auto">
            <a:xfrm>
              <a:off x="2716" y="3453"/>
              <a:ext cx="17"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53" name="Rectangle 233"/>
            <p:cNvSpPr>
              <a:spLocks noChangeArrowheads="1"/>
            </p:cNvSpPr>
            <p:nvPr/>
          </p:nvSpPr>
          <p:spPr bwMode="auto">
            <a:xfrm>
              <a:off x="2715" y="3566"/>
              <a:ext cx="40"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54" name="Rectangle 234"/>
            <p:cNvSpPr>
              <a:spLocks noChangeArrowheads="1"/>
            </p:cNvSpPr>
            <p:nvPr/>
          </p:nvSpPr>
          <p:spPr bwMode="auto">
            <a:xfrm>
              <a:off x="2759" y="3566"/>
              <a:ext cx="42" cy="32"/>
            </a:xfrm>
            <a:prstGeom prst="rect">
              <a:avLst/>
            </a:prstGeom>
            <a:solidFill>
              <a:srgbClr val="4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55" name="Rectangle 235"/>
            <p:cNvSpPr>
              <a:spLocks noChangeArrowheads="1"/>
            </p:cNvSpPr>
            <p:nvPr/>
          </p:nvSpPr>
          <p:spPr bwMode="auto">
            <a:xfrm>
              <a:off x="2737" y="3528"/>
              <a:ext cx="42" cy="32"/>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56" name="Rectangle 236"/>
            <p:cNvSpPr>
              <a:spLocks noChangeArrowheads="1"/>
            </p:cNvSpPr>
            <p:nvPr/>
          </p:nvSpPr>
          <p:spPr bwMode="auto">
            <a:xfrm>
              <a:off x="2780" y="3528"/>
              <a:ext cx="22"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57" name="Rectangle 237"/>
            <p:cNvSpPr>
              <a:spLocks noChangeArrowheads="1"/>
            </p:cNvSpPr>
            <p:nvPr/>
          </p:nvSpPr>
          <p:spPr bwMode="auto">
            <a:xfrm>
              <a:off x="2715" y="3528"/>
              <a:ext cx="18"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58" name="Freeform 238"/>
            <p:cNvSpPr>
              <a:spLocks/>
            </p:cNvSpPr>
            <p:nvPr/>
          </p:nvSpPr>
          <p:spPr bwMode="auto">
            <a:xfrm>
              <a:off x="2704" y="3555"/>
              <a:ext cx="12" cy="41"/>
            </a:xfrm>
            <a:custGeom>
              <a:avLst/>
              <a:gdLst>
                <a:gd name="T0" fmla="*/ 12 w 12"/>
                <a:gd name="T1" fmla="*/ 11 h 41"/>
                <a:gd name="T2" fmla="*/ 12 w 12"/>
                <a:gd name="T3" fmla="*/ 41 h 41"/>
                <a:gd name="T4" fmla="*/ 0 w 12"/>
                <a:gd name="T5" fmla="*/ 29 h 41"/>
                <a:gd name="T6" fmla="*/ 0 w 12"/>
                <a:gd name="T7" fmla="*/ 0 h 41"/>
                <a:gd name="T8" fmla="*/ 12 w 12"/>
                <a:gd name="T9" fmla="*/ 11 h 41"/>
                <a:gd name="T10" fmla="*/ 0 60000 65536"/>
                <a:gd name="T11" fmla="*/ 0 60000 65536"/>
                <a:gd name="T12" fmla="*/ 0 60000 65536"/>
                <a:gd name="T13" fmla="*/ 0 60000 65536"/>
                <a:gd name="T14" fmla="*/ 0 60000 65536"/>
                <a:gd name="T15" fmla="*/ 0 w 12"/>
                <a:gd name="T16" fmla="*/ 0 h 41"/>
                <a:gd name="T17" fmla="*/ 12 w 12"/>
                <a:gd name="T18" fmla="*/ 41 h 41"/>
              </a:gdLst>
              <a:ahLst/>
              <a:cxnLst>
                <a:cxn ang="T10">
                  <a:pos x="T0" y="T1"/>
                </a:cxn>
                <a:cxn ang="T11">
                  <a:pos x="T2" y="T3"/>
                </a:cxn>
                <a:cxn ang="T12">
                  <a:pos x="T4" y="T5"/>
                </a:cxn>
                <a:cxn ang="T13">
                  <a:pos x="T6" y="T7"/>
                </a:cxn>
                <a:cxn ang="T14">
                  <a:pos x="T8" y="T9"/>
                </a:cxn>
              </a:cxnLst>
              <a:rect l="T15" t="T16" r="T17" b="T18"/>
              <a:pathLst>
                <a:path w="12" h="41">
                  <a:moveTo>
                    <a:pt x="12" y="11"/>
                  </a:moveTo>
                  <a:lnTo>
                    <a:pt x="12" y="41"/>
                  </a:lnTo>
                  <a:lnTo>
                    <a:pt x="0" y="29"/>
                  </a:lnTo>
                  <a:lnTo>
                    <a:pt x="0" y="0"/>
                  </a:lnTo>
                  <a:lnTo>
                    <a:pt x="12" y="1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59" name="Freeform 239"/>
            <p:cNvSpPr>
              <a:spLocks/>
            </p:cNvSpPr>
            <p:nvPr/>
          </p:nvSpPr>
          <p:spPr bwMode="auto">
            <a:xfrm>
              <a:off x="2667" y="3513"/>
              <a:ext cx="35" cy="70"/>
            </a:xfrm>
            <a:custGeom>
              <a:avLst/>
              <a:gdLst>
                <a:gd name="T0" fmla="*/ 35 w 35"/>
                <a:gd name="T1" fmla="*/ 40 h 70"/>
                <a:gd name="T2" fmla="*/ 35 w 35"/>
                <a:gd name="T3" fmla="*/ 70 h 70"/>
                <a:gd name="T4" fmla="*/ 0 w 35"/>
                <a:gd name="T5" fmla="*/ 30 h 70"/>
                <a:gd name="T6" fmla="*/ 0 w 35"/>
                <a:gd name="T7" fmla="*/ 0 h 70"/>
                <a:gd name="T8" fmla="*/ 35 w 35"/>
                <a:gd name="T9" fmla="*/ 40 h 70"/>
                <a:gd name="T10" fmla="*/ 0 60000 65536"/>
                <a:gd name="T11" fmla="*/ 0 60000 65536"/>
                <a:gd name="T12" fmla="*/ 0 60000 65536"/>
                <a:gd name="T13" fmla="*/ 0 60000 65536"/>
                <a:gd name="T14" fmla="*/ 0 60000 65536"/>
                <a:gd name="T15" fmla="*/ 0 w 35"/>
                <a:gd name="T16" fmla="*/ 0 h 70"/>
                <a:gd name="T17" fmla="*/ 35 w 35"/>
                <a:gd name="T18" fmla="*/ 70 h 70"/>
              </a:gdLst>
              <a:ahLst/>
              <a:cxnLst>
                <a:cxn ang="T10">
                  <a:pos x="T0" y="T1"/>
                </a:cxn>
                <a:cxn ang="T11">
                  <a:pos x="T2" y="T3"/>
                </a:cxn>
                <a:cxn ang="T12">
                  <a:pos x="T4" y="T5"/>
                </a:cxn>
                <a:cxn ang="T13">
                  <a:pos x="T6" y="T7"/>
                </a:cxn>
                <a:cxn ang="T14">
                  <a:pos x="T8" y="T9"/>
                </a:cxn>
              </a:cxnLst>
              <a:rect l="T15" t="T16" r="T17" b="T18"/>
              <a:pathLst>
                <a:path w="35" h="70">
                  <a:moveTo>
                    <a:pt x="35" y="40"/>
                  </a:moveTo>
                  <a:lnTo>
                    <a:pt x="35" y="70"/>
                  </a:lnTo>
                  <a:lnTo>
                    <a:pt x="0" y="30"/>
                  </a:lnTo>
                  <a:lnTo>
                    <a:pt x="0" y="0"/>
                  </a:lnTo>
                  <a:lnTo>
                    <a:pt x="35" y="40"/>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60" name="Freeform 240"/>
            <p:cNvSpPr>
              <a:spLocks/>
            </p:cNvSpPr>
            <p:nvPr/>
          </p:nvSpPr>
          <p:spPr bwMode="auto">
            <a:xfrm>
              <a:off x="2631" y="3474"/>
              <a:ext cx="35" cy="67"/>
            </a:xfrm>
            <a:custGeom>
              <a:avLst/>
              <a:gdLst>
                <a:gd name="T0" fmla="*/ 35 w 35"/>
                <a:gd name="T1" fmla="*/ 39 h 67"/>
                <a:gd name="T2" fmla="*/ 35 w 35"/>
                <a:gd name="T3" fmla="*/ 67 h 67"/>
                <a:gd name="T4" fmla="*/ 0 w 35"/>
                <a:gd name="T5" fmla="*/ 28 h 67"/>
                <a:gd name="T6" fmla="*/ 0 w 35"/>
                <a:gd name="T7" fmla="*/ 0 h 67"/>
                <a:gd name="T8" fmla="*/ 35 w 35"/>
                <a:gd name="T9" fmla="*/ 39 h 67"/>
                <a:gd name="T10" fmla="*/ 0 60000 65536"/>
                <a:gd name="T11" fmla="*/ 0 60000 65536"/>
                <a:gd name="T12" fmla="*/ 0 60000 65536"/>
                <a:gd name="T13" fmla="*/ 0 60000 65536"/>
                <a:gd name="T14" fmla="*/ 0 60000 65536"/>
                <a:gd name="T15" fmla="*/ 0 w 35"/>
                <a:gd name="T16" fmla="*/ 0 h 67"/>
                <a:gd name="T17" fmla="*/ 35 w 35"/>
                <a:gd name="T18" fmla="*/ 67 h 67"/>
              </a:gdLst>
              <a:ahLst/>
              <a:cxnLst>
                <a:cxn ang="T10">
                  <a:pos x="T0" y="T1"/>
                </a:cxn>
                <a:cxn ang="T11">
                  <a:pos x="T2" y="T3"/>
                </a:cxn>
                <a:cxn ang="T12">
                  <a:pos x="T4" y="T5"/>
                </a:cxn>
                <a:cxn ang="T13">
                  <a:pos x="T6" y="T7"/>
                </a:cxn>
                <a:cxn ang="T14">
                  <a:pos x="T8" y="T9"/>
                </a:cxn>
              </a:cxnLst>
              <a:rect l="T15" t="T16" r="T17" b="T18"/>
              <a:pathLst>
                <a:path w="35" h="67">
                  <a:moveTo>
                    <a:pt x="35" y="39"/>
                  </a:moveTo>
                  <a:lnTo>
                    <a:pt x="35" y="67"/>
                  </a:lnTo>
                  <a:lnTo>
                    <a:pt x="0" y="28"/>
                  </a:lnTo>
                  <a:lnTo>
                    <a:pt x="0" y="0"/>
                  </a:lnTo>
                  <a:lnTo>
                    <a:pt x="35" y="3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61" name="Freeform 241"/>
            <p:cNvSpPr>
              <a:spLocks/>
            </p:cNvSpPr>
            <p:nvPr/>
          </p:nvSpPr>
          <p:spPr bwMode="auto">
            <a:xfrm>
              <a:off x="2594" y="3435"/>
              <a:ext cx="34" cy="65"/>
            </a:xfrm>
            <a:custGeom>
              <a:avLst/>
              <a:gdLst>
                <a:gd name="T0" fmla="*/ 34 w 34"/>
                <a:gd name="T1" fmla="*/ 37 h 65"/>
                <a:gd name="T2" fmla="*/ 34 w 34"/>
                <a:gd name="T3" fmla="*/ 65 h 65"/>
                <a:gd name="T4" fmla="*/ 0 w 34"/>
                <a:gd name="T5" fmla="*/ 28 h 65"/>
                <a:gd name="T6" fmla="*/ 0 w 34"/>
                <a:gd name="T7" fmla="*/ 0 h 65"/>
                <a:gd name="T8" fmla="*/ 34 w 34"/>
                <a:gd name="T9" fmla="*/ 37 h 65"/>
                <a:gd name="T10" fmla="*/ 0 60000 65536"/>
                <a:gd name="T11" fmla="*/ 0 60000 65536"/>
                <a:gd name="T12" fmla="*/ 0 60000 65536"/>
                <a:gd name="T13" fmla="*/ 0 60000 65536"/>
                <a:gd name="T14" fmla="*/ 0 60000 65536"/>
                <a:gd name="T15" fmla="*/ 0 w 34"/>
                <a:gd name="T16" fmla="*/ 0 h 65"/>
                <a:gd name="T17" fmla="*/ 34 w 34"/>
                <a:gd name="T18" fmla="*/ 65 h 65"/>
              </a:gdLst>
              <a:ahLst/>
              <a:cxnLst>
                <a:cxn ang="T10">
                  <a:pos x="T0" y="T1"/>
                </a:cxn>
                <a:cxn ang="T11">
                  <a:pos x="T2" y="T3"/>
                </a:cxn>
                <a:cxn ang="T12">
                  <a:pos x="T4" y="T5"/>
                </a:cxn>
                <a:cxn ang="T13">
                  <a:pos x="T6" y="T7"/>
                </a:cxn>
                <a:cxn ang="T14">
                  <a:pos x="T8" y="T9"/>
                </a:cxn>
              </a:cxnLst>
              <a:rect l="T15" t="T16" r="T17" b="T18"/>
              <a:pathLst>
                <a:path w="34" h="65">
                  <a:moveTo>
                    <a:pt x="34" y="37"/>
                  </a:moveTo>
                  <a:lnTo>
                    <a:pt x="34" y="65"/>
                  </a:lnTo>
                  <a:lnTo>
                    <a:pt x="0" y="28"/>
                  </a:lnTo>
                  <a:lnTo>
                    <a:pt x="0" y="0"/>
                  </a:lnTo>
                  <a:lnTo>
                    <a:pt x="34" y="37"/>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62" name="Freeform 242"/>
            <p:cNvSpPr>
              <a:spLocks/>
            </p:cNvSpPr>
            <p:nvPr/>
          </p:nvSpPr>
          <p:spPr bwMode="auto">
            <a:xfrm>
              <a:off x="2575" y="3414"/>
              <a:ext cx="17" cy="46"/>
            </a:xfrm>
            <a:custGeom>
              <a:avLst/>
              <a:gdLst>
                <a:gd name="T0" fmla="*/ 17 w 17"/>
                <a:gd name="T1" fmla="*/ 18 h 46"/>
                <a:gd name="T2" fmla="*/ 17 w 17"/>
                <a:gd name="T3" fmla="*/ 46 h 46"/>
                <a:gd name="T4" fmla="*/ 0 w 17"/>
                <a:gd name="T5" fmla="*/ 27 h 46"/>
                <a:gd name="T6" fmla="*/ 0 w 17"/>
                <a:gd name="T7" fmla="*/ 0 h 46"/>
                <a:gd name="T8" fmla="*/ 17 w 17"/>
                <a:gd name="T9" fmla="*/ 18 h 46"/>
                <a:gd name="T10" fmla="*/ 0 60000 65536"/>
                <a:gd name="T11" fmla="*/ 0 60000 65536"/>
                <a:gd name="T12" fmla="*/ 0 60000 65536"/>
                <a:gd name="T13" fmla="*/ 0 60000 65536"/>
                <a:gd name="T14" fmla="*/ 0 60000 65536"/>
                <a:gd name="T15" fmla="*/ 0 w 17"/>
                <a:gd name="T16" fmla="*/ 0 h 46"/>
                <a:gd name="T17" fmla="*/ 17 w 17"/>
                <a:gd name="T18" fmla="*/ 46 h 46"/>
              </a:gdLst>
              <a:ahLst/>
              <a:cxnLst>
                <a:cxn ang="T10">
                  <a:pos x="T0" y="T1"/>
                </a:cxn>
                <a:cxn ang="T11">
                  <a:pos x="T2" y="T3"/>
                </a:cxn>
                <a:cxn ang="T12">
                  <a:pos x="T4" y="T5"/>
                </a:cxn>
                <a:cxn ang="T13">
                  <a:pos x="T6" y="T7"/>
                </a:cxn>
                <a:cxn ang="T14">
                  <a:pos x="T8" y="T9"/>
                </a:cxn>
              </a:cxnLst>
              <a:rect l="T15" t="T16" r="T17" b="T18"/>
              <a:pathLst>
                <a:path w="17" h="46">
                  <a:moveTo>
                    <a:pt x="17" y="18"/>
                  </a:moveTo>
                  <a:lnTo>
                    <a:pt x="17" y="46"/>
                  </a:lnTo>
                  <a:lnTo>
                    <a:pt x="0" y="27"/>
                  </a:lnTo>
                  <a:lnTo>
                    <a:pt x="0" y="0"/>
                  </a:lnTo>
                  <a:lnTo>
                    <a:pt x="17" y="1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63" name="Freeform 243"/>
            <p:cNvSpPr>
              <a:spLocks/>
            </p:cNvSpPr>
            <p:nvPr/>
          </p:nvSpPr>
          <p:spPr bwMode="auto">
            <a:xfrm>
              <a:off x="2704" y="3036"/>
              <a:ext cx="12" cy="36"/>
            </a:xfrm>
            <a:custGeom>
              <a:avLst/>
              <a:gdLst>
                <a:gd name="T0" fmla="*/ 12 w 12"/>
                <a:gd name="T1" fmla="*/ 5 h 36"/>
                <a:gd name="T2" fmla="*/ 12 w 12"/>
                <a:gd name="T3" fmla="*/ 36 h 36"/>
                <a:gd name="T4" fmla="*/ 0 w 12"/>
                <a:gd name="T5" fmla="*/ 31 h 36"/>
                <a:gd name="T6" fmla="*/ 0 w 12"/>
                <a:gd name="T7" fmla="*/ 0 h 36"/>
                <a:gd name="T8" fmla="*/ 12 w 12"/>
                <a:gd name="T9" fmla="*/ 5 h 36"/>
                <a:gd name="T10" fmla="*/ 0 60000 65536"/>
                <a:gd name="T11" fmla="*/ 0 60000 65536"/>
                <a:gd name="T12" fmla="*/ 0 60000 65536"/>
                <a:gd name="T13" fmla="*/ 0 60000 65536"/>
                <a:gd name="T14" fmla="*/ 0 60000 65536"/>
                <a:gd name="T15" fmla="*/ 0 w 12"/>
                <a:gd name="T16" fmla="*/ 0 h 36"/>
                <a:gd name="T17" fmla="*/ 12 w 12"/>
                <a:gd name="T18" fmla="*/ 36 h 36"/>
              </a:gdLst>
              <a:ahLst/>
              <a:cxnLst>
                <a:cxn ang="T10">
                  <a:pos x="T0" y="T1"/>
                </a:cxn>
                <a:cxn ang="T11">
                  <a:pos x="T2" y="T3"/>
                </a:cxn>
                <a:cxn ang="T12">
                  <a:pos x="T4" y="T5"/>
                </a:cxn>
                <a:cxn ang="T13">
                  <a:pos x="T6" y="T7"/>
                </a:cxn>
                <a:cxn ang="T14">
                  <a:pos x="T8" y="T9"/>
                </a:cxn>
              </a:cxnLst>
              <a:rect l="T15" t="T16" r="T17" b="T18"/>
              <a:pathLst>
                <a:path w="12" h="36">
                  <a:moveTo>
                    <a:pt x="12" y="5"/>
                  </a:moveTo>
                  <a:lnTo>
                    <a:pt x="12" y="36"/>
                  </a:lnTo>
                  <a:lnTo>
                    <a:pt x="0" y="31"/>
                  </a:lnTo>
                  <a:lnTo>
                    <a:pt x="0" y="0"/>
                  </a:lnTo>
                  <a:lnTo>
                    <a:pt x="12" y="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64" name="Freeform 244"/>
            <p:cNvSpPr>
              <a:spLocks/>
            </p:cNvSpPr>
            <p:nvPr/>
          </p:nvSpPr>
          <p:spPr bwMode="auto">
            <a:xfrm>
              <a:off x="2667" y="3016"/>
              <a:ext cx="35" cy="49"/>
            </a:xfrm>
            <a:custGeom>
              <a:avLst/>
              <a:gdLst>
                <a:gd name="T0" fmla="*/ 35 w 35"/>
                <a:gd name="T1" fmla="*/ 19 h 49"/>
                <a:gd name="T2" fmla="*/ 35 w 35"/>
                <a:gd name="T3" fmla="*/ 49 h 49"/>
                <a:gd name="T4" fmla="*/ 0 w 35"/>
                <a:gd name="T5" fmla="*/ 30 h 49"/>
                <a:gd name="T6" fmla="*/ 0 w 35"/>
                <a:gd name="T7" fmla="*/ 0 h 49"/>
                <a:gd name="T8" fmla="*/ 35 w 35"/>
                <a:gd name="T9" fmla="*/ 19 h 49"/>
                <a:gd name="T10" fmla="*/ 0 60000 65536"/>
                <a:gd name="T11" fmla="*/ 0 60000 65536"/>
                <a:gd name="T12" fmla="*/ 0 60000 65536"/>
                <a:gd name="T13" fmla="*/ 0 60000 65536"/>
                <a:gd name="T14" fmla="*/ 0 60000 65536"/>
                <a:gd name="T15" fmla="*/ 0 w 35"/>
                <a:gd name="T16" fmla="*/ 0 h 49"/>
                <a:gd name="T17" fmla="*/ 35 w 35"/>
                <a:gd name="T18" fmla="*/ 49 h 49"/>
              </a:gdLst>
              <a:ahLst/>
              <a:cxnLst>
                <a:cxn ang="T10">
                  <a:pos x="T0" y="T1"/>
                </a:cxn>
                <a:cxn ang="T11">
                  <a:pos x="T2" y="T3"/>
                </a:cxn>
                <a:cxn ang="T12">
                  <a:pos x="T4" y="T5"/>
                </a:cxn>
                <a:cxn ang="T13">
                  <a:pos x="T6" y="T7"/>
                </a:cxn>
                <a:cxn ang="T14">
                  <a:pos x="T8" y="T9"/>
                </a:cxn>
              </a:cxnLst>
              <a:rect l="T15" t="T16" r="T17" b="T18"/>
              <a:pathLst>
                <a:path w="35" h="49">
                  <a:moveTo>
                    <a:pt x="35" y="19"/>
                  </a:moveTo>
                  <a:lnTo>
                    <a:pt x="35" y="49"/>
                  </a:lnTo>
                  <a:lnTo>
                    <a:pt x="0" y="30"/>
                  </a:lnTo>
                  <a:lnTo>
                    <a:pt x="0" y="0"/>
                  </a:lnTo>
                  <a:lnTo>
                    <a:pt x="35" y="19"/>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65" name="Freeform 245"/>
            <p:cNvSpPr>
              <a:spLocks/>
            </p:cNvSpPr>
            <p:nvPr/>
          </p:nvSpPr>
          <p:spPr bwMode="auto">
            <a:xfrm>
              <a:off x="2631" y="2997"/>
              <a:ext cx="35" cy="46"/>
            </a:xfrm>
            <a:custGeom>
              <a:avLst/>
              <a:gdLst>
                <a:gd name="T0" fmla="*/ 35 w 35"/>
                <a:gd name="T1" fmla="*/ 18 h 46"/>
                <a:gd name="T2" fmla="*/ 35 w 35"/>
                <a:gd name="T3" fmla="*/ 46 h 46"/>
                <a:gd name="T4" fmla="*/ 0 w 35"/>
                <a:gd name="T5" fmla="*/ 28 h 46"/>
                <a:gd name="T6" fmla="*/ 0 w 35"/>
                <a:gd name="T7" fmla="*/ 0 h 46"/>
                <a:gd name="T8" fmla="*/ 35 w 35"/>
                <a:gd name="T9" fmla="*/ 18 h 46"/>
                <a:gd name="T10" fmla="*/ 0 60000 65536"/>
                <a:gd name="T11" fmla="*/ 0 60000 65536"/>
                <a:gd name="T12" fmla="*/ 0 60000 65536"/>
                <a:gd name="T13" fmla="*/ 0 60000 65536"/>
                <a:gd name="T14" fmla="*/ 0 60000 65536"/>
                <a:gd name="T15" fmla="*/ 0 w 35"/>
                <a:gd name="T16" fmla="*/ 0 h 46"/>
                <a:gd name="T17" fmla="*/ 35 w 35"/>
                <a:gd name="T18" fmla="*/ 46 h 46"/>
              </a:gdLst>
              <a:ahLst/>
              <a:cxnLst>
                <a:cxn ang="T10">
                  <a:pos x="T0" y="T1"/>
                </a:cxn>
                <a:cxn ang="T11">
                  <a:pos x="T2" y="T3"/>
                </a:cxn>
                <a:cxn ang="T12">
                  <a:pos x="T4" y="T5"/>
                </a:cxn>
                <a:cxn ang="T13">
                  <a:pos x="T6" y="T7"/>
                </a:cxn>
                <a:cxn ang="T14">
                  <a:pos x="T8" y="T9"/>
                </a:cxn>
              </a:cxnLst>
              <a:rect l="T15" t="T16" r="T17" b="T18"/>
              <a:pathLst>
                <a:path w="35" h="46">
                  <a:moveTo>
                    <a:pt x="35" y="18"/>
                  </a:moveTo>
                  <a:lnTo>
                    <a:pt x="35" y="46"/>
                  </a:lnTo>
                  <a:lnTo>
                    <a:pt x="0" y="28"/>
                  </a:lnTo>
                  <a:lnTo>
                    <a:pt x="0" y="0"/>
                  </a:lnTo>
                  <a:lnTo>
                    <a:pt x="35" y="1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66" name="Freeform 246"/>
            <p:cNvSpPr>
              <a:spLocks/>
            </p:cNvSpPr>
            <p:nvPr/>
          </p:nvSpPr>
          <p:spPr bwMode="auto">
            <a:xfrm>
              <a:off x="2594" y="2977"/>
              <a:ext cx="34" cy="46"/>
            </a:xfrm>
            <a:custGeom>
              <a:avLst/>
              <a:gdLst>
                <a:gd name="T0" fmla="*/ 34 w 34"/>
                <a:gd name="T1" fmla="*/ 18 h 46"/>
                <a:gd name="T2" fmla="*/ 34 w 34"/>
                <a:gd name="T3" fmla="*/ 46 h 46"/>
                <a:gd name="T4" fmla="*/ 0 w 34"/>
                <a:gd name="T5" fmla="*/ 28 h 46"/>
                <a:gd name="T6" fmla="*/ 0 w 34"/>
                <a:gd name="T7" fmla="*/ 0 h 46"/>
                <a:gd name="T8" fmla="*/ 34 w 34"/>
                <a:gd name="T9" fmla="*/ 18 h 46"/>
                <a:gd name="T10" fmla="*/ 0 60000 65536"/>
                <a:gd name="T11" fmla="*/ 0 60000 65536"/>
                <a:gd name="T12" fmla="*/ 0 60000 65536"/>
                <a:gd name="T13" fmla="*/ 0 60000 65536"/>
                <a:gd name="T14" fmla="*/ 0 60000 65536"/>
                <a:gd name="T15" fmla="*/ 0 w 34"/>
                <a:gd name="T16" fmla="*/ 0 h 46"/>
                <a:gd name="T17" fmla="*/ 34 w 34"/>
                <a:gd name="T18" fmla="*/ 46 h 46"/>
              </a:gdLst>
              <a:ahLst/>
              <a:cxnLst>
                <a:cxn ang="T10">
                  <a:pos x="T0" y="T1"/>
                </a:cxn>
                <a:cxn ang="T11">
                  <a:pos x="T2" y="T3"/>
                </a:cxn>
                <a:cxn ang="T12">
                  <a:pos x="T4" y="T5"/>
                </a:cxn>
                <a:cxn ang="T13">
                  <a:pos x="T6" y="T7"/>
                </a:cxn>
                <a:cxn ang="T14">
                  <a:pos x="T8" y="T9"/>
                </a:cxn>
              </a:cxnLst>
              <a:rect l="T15" t="T16" r="T17" b="T18"/>
              <a:pathLst>
                <a:path w="34" h="46">
                  <a:moveTo>
                    <a:pt x="34" y="18"/>
                  </a:moveTo>
                  <a:lnTo>
                    <a:pt x="34" y="46"/>
                  </a:lnTo>
                  <a:lnTo>
                    <a:pt x="0" y="28"/>
                  </a:lnTo>
                  <a:lnTo>
                    <a:pt x="0" y="0"/>
                  </a:lnTo>
                  <a:lnTo>
                    <a:pt x="34" y="1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67" name="Freeform 247"/>
            <p:cNvSpPr>
              <a:spLocks/>
            </p:cNvSpPr>
            <p:nvPr/>
          </p:nvSpPr>
          <p:spPr bwMode="auto">
            <a:xfrm>
              <a:off x="2575" y="2966"/>
              <a:ext cx="17" cy="36"/>
            </a:xfrm>
            <a:custGeom>
              <a:avLst/>
              <a:gdLst>
                <a:gd name="T0" fmla="*/ 17 w 17"/>
                <a:gd name="T1" fmla="*/ 10 h 36"/>
                <a:gd name="T2" fmla="*/ 17 w 17"/>
                <a:gd name="T3" fmla="*/ 36 h 36"/>
                <a:gd name="T4" fmla="*/ 0 w 17"/>
                <a:gd name="T5" fmla="*/ 28 h 36"/>
                <a:gd name="T6" fmla="*/ 0 w 17"/>
                <a:gd name="T7" fmla="*/ 0 h 36"/>
                <a:gd name="T8" fmla="*/ 17 w 17"/>
                <a:gd name="T9" fmla="*/ 10 h 36"/>
                <a:gd name="T10" fmla="*/ 0 60000 65536"/>
                <a:gd name="T11" fmla="*/ 0 60000 65536"/>
                <a:gd name="T12" fmla="*/ 0 60000 65536"/>
                <a:gd name="T13" fmla="*/ 0 60000 65536"/>
                <a:gd name="T14" fmla="*/ 0 60000 65536"/>
                <a:gd name="T15" fmla="*/ 0 w 17"/>
                <a:gd name="T16" fmla="*/ 0 h 36"/>
                <a:gd name="T17" fmla="*/ 17 w 17"/>
                <a:gd name="T18" fmla="*/ 36 h 36"/>
              </a:gdLst>
              <a:ahLst/>
              <a:cxnLst>
                <a:cxn ang="T10">
                  <a:pos x="T0" y="T1"/>
                </a:cxn>
                <a:cxn ang="T11">
                  <a:pos x="T2" y="T3"/>
                </a:cxn>
                <a:cxn ang="T12">
                  <a:pos x="T4" y="T5"/>
                </a:cxn>
                <a:cxn ang="T13">
                  <a:pos x="T6" y="T7"/>
                </a:cxn>
                <a:cxn ang="T14">
                  <a:pos x="T8" y="T9"/>
                </a:cxn>
              </a:cxnLst>
              <a:rect l="T15" t="T16" r="T17" b="T18"/>
              <a:pathLst>
                <a:path w="17" h="36">
                  <a:moveTo>
                    <a:pt x="17" y="10"/>
                  </a:moveTo>
                  <a:lnTo>
                    <a:pt x="17" y="36"/>
                  </a:lnTo>
                  <a:lnTo>
                    <a:pt x="0" y="28"/>
                  </a:lnTo>
                  <a:lnTo>
                    <a:pt x="0" y="0"/>
                  </a:lnTo>
                  <a:lnTo>
                    <a:pt x="17" y="10"/>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68" name="Freeform 248"/>
            <p:cNvSpPr>
              <a:spLocks/>
            </p:cNvSpPr>
            <p:nvPr/>
          </p:nvSpPr>
          <p:spPr bwMode="auto">
            <a:xfrm>
              <a:off x="2667" y="3087"/>
              <a:ext cx="35" cy="52"/>
            </a:xfrm>
            <a:custGeom>
              <a:avLst/>
              <a:gdLst>
                <a:gd name="T0" fmla="*/ 35 w 35"/>
                <a:gd name="T1" fmla="*/ 22 h 52"/>
                <a:gd name="T2" fmla="*/ 35 w 35"/>
                <a:gd name="T3" fmla="*/ 52 h 52"/>
                <a:gd name="T4" fmla="*/ 0 w 35"/>
                <a:gd name="T5" fmla="*/ 29 h 52"/>
                <a:gd name="T6" fmla="*/ 0 w 35"/>
                <a:gd name="T7" fmla="*/ 0 h 52"/>
                <a:gd name="T8" fmla="*/ 35 w 35"/>
                <a:gd name="T9" fmla="*/ 22 h 52"/>
                <a:gd name="T10" fmla="*/ 0 60000 65536"/>
                <a:gd name="T11" fmla="*/ 0 60000 65536"/>
                <a:gd name="T12" fmla="*/ 0 60000 65536"/>
                <a:gd name="T13" fmla="*/ 0 60000 65536"/>
                <a:gd name="T14" fmla="*/ 0 60000 65536"/>
                <a:gd name="T15" fmla="*/ 0 w 35"/>
                <a:gd name="T16" fmla="*/ 0 h 52"/>
                <a:gd name="T17" fmla="*/ 35 w 35"/>
                <a:gd name="T18" fmla="*/ 52 h 52"/>
              </a:gdLst>
              <a:ahLst/>
              <a:cxnLst>
                <a:cxn ang="T10">
                  <a:pos x="T0" y="T1"/>
                </a:cxn>
                <a:cxn ang="T11">
                  <a:pos x="T2" y="T3"/>
                </a:cxn>
                <a:cxn ang="T12">
                  <a:pos x="T4" y="T5"/>
                </a:cxn>
                <a:cxn ang="T13">
                  <a:pos x="T6" y="T7"/>
                </a:cxn>
                <a:cxn ang="T14">
                  <a:pos x="T8" y="T9"/>
                </a:cxn>
              </a:cxnLst>
              <a:rect l="T15" t="T16" r="T17" b="T18"/>
              <a:pathLst>
                <a:path w="35" h="52">
                  <a:moveTo>
                    <a:pt x="35" y="22"/>
                  </a:moveTo>
                  <a:lnTo>
                    <a:pt x="35" y="52"/>
                  </a:lnTo>
                  <a:lnTo>
                    <a:pt x="0" y="29"/>
                  </a:lnTo>
                  <a:lnTo>
                    <a:pt x="0" y="0"/>
                  </a:lnTo>
                  <a:lnTo>
                    <a:pt x="35" y="2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69" name="Freeform 249"/>
            <p:cNvSpPr>
              <a:spLocks/>
            </p:cNvSpPr>
            <p:nvPr/>
          </p:nvSpPr>
          <p:spPr bwMode="auto">
            <a:xfrm>
              <a:off x="2631" y="3064"/>
              <a:ext cx="35" cy="52"/>
            </a:xfrm>
            <a:custGeom>
              <a:avLst/>
              <a:gdLst>
                <a:gd name="T0" fmla="*/ 35 w 35"/>
                <a:gd name="T1" fmla="*/ 23 h 52"/>
                <a:gd name="T2" fmla="*/ 35 w 35"/>
                <a:gd name="T3" fmla="*/ 52 h 52"/>
                <a:gd name="T4" fmla="*/ 0 w 35"/>
                <a:gd name="T5" fmla="*/ 30 h 52"/>
                <a:gd name="T6" fmla="*/ 0 w 35"/>
                <a:gd name="T7" fmla="*/ 0 h 52"/>
                <a:gd name="T8" fmla="*/ 35 w 35"/>
                <a:gd name="T9" fmla="*/ 23 h 52"/>
                <a:gd name="T10" fmla="*/ 0 60000 65536"/>
                <a:gd name="T11" fmla="*/ 0 60000 65536"/>
                <a:gd name="T12" fmla="*/ 0 60000 65536"/>
                <a:gd name="T13" fmla="*/ 0 60000 65536"/>
                <a:gd name="T14" fmla="*/ 0 60000 65536"/>
                <a:gd name="T15" fmla="*/ 0 w 35"/>
                <a:gd name="T16" fmla="*/ 0 h 52"/>
                <a:gd name="T17" fmla="*/ 35 w 35"/>
                <a:gd name="T18" fmla="*/ 52 h 52"/>
              </a:gdLst>
              <a:ahLst/>
              <a:cxnLst>
                <a:cxn ang="T10">
                  <a:pos x="T0" y="T1"/>
                </a:cxn>
                <a:cxn ang="T11">
                  <a:pos x="T2" y="T3"/>
                </a:cxn>
                <a:cxn ang="T12">
                  <a:pos x="T4" y="T5"/>
                </a:cxn>
                <a:cxn ang="T13">
                  <a:pos x="T6" y="T7"/>
                </a:cxn>
                <a:cxn ang="T14">
                  <a:pos x="T8" y="T9"/>
                </a:cxn>
              </a:cxnLst>
              <a:rect l="T15" t="T16" r="T17" b="T18"/>
              <a:pathLst>
                <a:path w="35" h="52">
                  <a:moveTo>
                    <a:pt x="35" y="23"/>
                  </a:moveTo>
                  <a:lnTo>
                    <a:pt x="35" y="52"/>
                  </a:lnTo>
                  <a:lnTo>
                    <a:pt x="0" y="30"/>
                  </a:lnTo>
                  <a:lnTo>
                    <a:pt x="0" y="0"/>
                  </a:lnTo>
                  <a:lnTo>
                    <a:pt x="35" y="23"/>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70" name="Freeform 250"/>
            <p:cNvSpPr>
              <a:spLocks/>
            </p:cNvSpPr>
            <p:nvPr/>
          </p:nvSpPr>
          <p:spPr bwMode="auto">
            <a:xfrm>
              <a:off x="2594" y="3042"/>
              <a:ext cx="34" cy="49"/>
            </a:xfrm>
            <a:custGeom>
              <a:avLst/>
              <a:gdLst>
                <a:gd name="T0" fmla="*/ 34 w 34"/>
                <a:gd name="T1" fmla="*/ 21 h 49"/>
                <a:gd name="T2" fmla="*/ 34 w 34"/>
                <a:gd name="T3" fmla="*/ 49 h 49"/>
                <a:gd name="T4" fmla="*/ 0 w 34"/>
                <a:gd name="T5" fmla="*/ 27 h 49"/>
                <a:gd name="T6" fmla="*/ 0 w 34"/>
                <a:gd name="T7" fmla="*/ 0 h 49"/>
                <a:gd name="T8" fmla="*/ 34 w 34"/>
                <a:gd name="T9" fmla="*/ 21 h 49"/>
                <a:gd name="T10" fmla="*/ 0 60000 65536"/>
                <a:gd name="T11" fmla="*/ 0 60000 65536"/>
                <a:gd name="T12" fmla="*/ 0 60000 65536"/>
                <a:gd name="T13" fmla="*/ 0 60000 65536"/>
                <a:gd name="T14" fmla="*/ 0 60000 65536"/>
                <a:gd name="T15" fmla="*/ 0 w 34"/>
                <a:gd name="T16" fmla="*/ 0 h 49"/>
                <a:gd name="T17" fmla="*/ 34 w 34"/>
                <a:gd name="T18" fmla="*/ 49 h 49"/>
              </a:gdLst>
              <a:ahLst/>
              <a:cxnLst>
                <a:cxn ang="T10">
                  <a:pos x="T0" y="T1"/>
                </a:cxn>
                <a:cxn ang="T11">
                  <a:pos x="T2" y="T3"/>
                </a:cxn>
                <a:cxn ang="T12">
                  <a:pos x="T4" y="T5"/>
                </a:cxn>
                <a:cxn ang="T13">
                  <a:pos x="T6" y="T7"/>
                </a:cxn>
                <a:cxn ang="T14">
                  <a:pos x="T8" y="T9"/>
                </a:cxn>
              </a:cxnLst>
              <a:rect l="T15" t="T16" r="T17" b="T18"/>
              <a:pathLst>
                <a:path w="34" h="49">
                  <a:moveTo>
                    <a:pt x="34" y="21"/>
                  </a:moveTo>
                  <a:lnTo>
                    <a:pt x="34" y="49"/>
                  </a:lnTo>
                  <a:lnTo>
                    <a:pt x="0" y="27"/>
                  </a:lnTo>
                  <a:lnTo>
                    <a:pt x="0" y="0"/>
                  </a:lnTo>
                  <a:lnTo>
                    <a:pt x="34" y="21"/>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71" name="Freeform 251"/>
            <p:cNvSpPr>
              <a:spLocks/>
            </p:cNvSpPr>
            <p:nvPr/>
          </p:nvSpPr>
          <p:spPr bwMode="auto">
            <a:xfrm>
              <a:off x="2575" y="3030"/>
              <a:ext cx="17" cy="39"/>
            </a:xfrm>
            <a:custGeom>
              <a:avLst/>
              <a:gdLst>
                <a:gd name="T0" fmla="*/ 17 w 17"/>
                <a:gd name="T1" fmla="*/ 11 h 39"/>
                <a:gd name="T2" fmla="*/ 17 w 17"/>
                <a:gd name="T3" fmla="*/ 39 h 39"/>
                <a:gd name="T4" fmla="*/ 0 w 17"/>
                <a:gd name="T5" fmla="*/ 27 h 39"/>
                <a:gd name="T6" fmla="*/ 0 w 17"/>
                <a:gd name="T7" fmla="*/ 0 h 39"/>
                <a:gd name="T8" fmla="*/ 17 w 17"/>
                <a:gd name="T9" fmla="*/ 11 h 39"/>
                <a:gd name="T10" fmla="*/ 0 60000 65536"/>
                <a:gd name="T11" fmla="*/ 0 60000 65536"/>
                <a:gd name="T12" fmla="*/ 0 60000 65536"/>
                <a:gd name="T13" fmla="*/ 0 60000 65536"/>
                <a:gd name="T14" fmla="*/ 0 60000 65536"/>
                <a:gd name="T15" fmla="*/ 0 w 17"/>
                <a:gd name="T16" fmla="*/ 0 h 39"/>
                <a:gd name="T17" fmla="*/ 17 w 17"/>
                <a:gd name="T18" fmla="*/ 39 h 39"/>
              </a:gdLst>
              <a:ahLst/>
              <a:cxnLst>
                <a:cxn ang="T10">
                  <a:pos x="T0" y="T1"/>
                </a:cxn>
                <a:cxn ang="T11">
                  <a:pos x="T2" y="T3"/>
                </a:cxn>
                <a:cxn ang="T12">
                  <a:pos x="T4" y="T5"/>
                </a:cxn>
                <a:cxn ang="T13">
                  <a:pos x="T6" y="T7"/>
                </a:cxn>
                <a:cxn ang="T14">
                  <a:pos x="T8" y="T9"/>
                </a:cxn>
              </a:cxnLst>
              <a:rect l="T15" t="T16" r="T17" b="T18"/>
              <a:pathLst>
                <a:path w="17" h="39">
                  <a:moveTo>
                    <a:pt x="17" y="11"/>
                  </a:moveTo>
                  <a:lnTo>
                    <a:pt x="17" y="39"/>
                  </a:lnTo>
                  <a:lnTo>
                    <a:pt x="0" y="27"/>
                  </a:lnTo>
                  <a:lnTo>
                    <a:pt x="0" y="0"/>
                  </a:lnTo>
                  <a:lnTo>
                    <a:pt x="17" y="1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72" name="Freeform 252"/>
            <p:cNvSpPr>
              <a:spLocks/>
            </p:cNvSpPr>
            <p:nvPr/>
          </p:nvSpPr>
          <p:spPr bwMode="auto">
            <a:xfrm>
              <a:off x="2704" y="3185"/>
              <a:ext cx="12" cy="38"/>
            </a:xfrm>
            <a:custGeom>
              <a:avLst/>
              <a:gdLst>
                <a:gd name="T0" fmla="*/ 12 w 12"/>
                <a:gd name="T1" fmla="*/ 8 h 38"/>
                <a:gd name="T2" fmla="*/ 12 w 12"/>
                <a:gd name="T3" fmla="*/ 38 h 38"/>
                <a:gd name="T4" fmla="*/ 0 w 12"/>
                <a:gd name="T5" fmla="*/ 30 h 38"/>
                <a:gd name="T6" fmla="*/ 0 w 12"/>
                <a:gd name="T7" fmla="*/ 0 h 38"/>
                <a:gd name="T8" fmla="*/ 12 w 12"/>
                <a:gd name="T9" fmla="*/ 8 h 38"/>
                <a:gd name="T10" fmla="*/ 0 60000 65536"/>
                <a:gd name="T11" fmla="*/ 0 60000 65536"/>
                <a:gd name="T12" fmla="*/ 0 60000 65536"/>
                <a:gd name="T13" fmla="*/ 0 60000 65536"/>
                <a:gd name="T14" fmla="*/ 0 60000 65536"/>
                <a:gd name="T15" fmla="*/ 0 w 12"/>
                <a:gd name="T16" fmla="*/ 0 h 38"/>
                <a:gd name="T17" fmla="*/ 12 w 12"/>
                <a:gd name="T18" fmla="*/ 38 h 38"/>
              </a:gdLst>
              <a:ahLst/>
              <a:cxnLst>
                <a:cxn ang="T10">
                  <a:pos x="T0" y="T1"/>
                </a:cxn>
                <a:cxn ang="T11">
                  <a:pos x="T2" y="T3"/>
                </a:cxn>
                <a:cxn ang="T12">
                  <a:pos x="T4" y="T5"/>
                </a:cxn>
                <a:cxn ang="T13">
                  <a:pos x="T6" y="T7"/>
                </a:cxn>
                <a:cxn ang="T14">
                  <a:pos x="T8" y="T9"/>
                </a:cxn>
              </a:cxnLst>
              <a:rect l="T15" t="T16" r="T17" b="T18"/>
              <a:pathLst>
                <a:path w="12" h="38">
                  <a:moveTo>
                    <a:pt x="12" y="8"/>
                  </a:moveTo>
                  <a:lnTo>
                    <a:pt x="12" y="38"/>
                  </a:lnTo>
                  <a:lnTo>
                    <a:pt x="0" y="30"/>
                  </a:lnTo>
                  <a:lnTo>
                    <a:pt x="0" y="0"/>
                  </a:lnTo>
                  <a:lnTo>
                    <a:pt x="12" y="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73" name="Freeform 253"/>
            <p:cNvSpPr>
              <a:spLocks/>
            </p:cNvSpPr>
            <p:nvPr/>
          </p:nvSpPr>
          <p:spPr bwMode="auto">
            <a:xfrm>
              <a:off x="2667" y="3158"/>
              <a:ext cx="35" cy="55"/>
            </a:xfrm>
            <a:custGeom>
              <a:avLst/>
              <a:gdLst>
                <a:gd name="T0" fmla="*/ 35 w 35"/>
                <a:gd name="T1" fmla="*/ 24 h 55"/>
                <a:gd name="T2" fmla="*/ 35 w 35"/>
                <a:gd name="T3" fmla="*/ 55 h 55"/>
                <a:gd name="T4" fmla="*/ 0 w 35"/>
                <a:gd name="T5" fmla="*/ 30 h 55"/>
                <a:gd name="T6" fmla="*/ 0 w 35"/>
                <a:gd name="T7" fmla="*/ 0 h 55"/>
                <a:gd name="T8" fmla="*/ 35 w 35"/>
                <a:gd name="T9" fmla="*/ 24 h 55"/>
                <a:gd name="T10" fmla="*/ 0 60000 65536"/>
                <a:gd name="T11" fmla="*/ 0 60000 65536"/>
                <a:gd name="T12" fmla="*/ 0 60000 65536"/>
                <a:gd name="T13" fmla="*/ 0 60000 65536"/>
                <a:gd name="T14" fmla="*/ 0 60000 65536"/>
                <a:gd name="T15" fmla="*/ 0 w 35"/>
                <a:gd name="T16" fmla="*/ 0 h 55"/>
                <a:gd name="T17" fmla="*/ 35 w 35"/>
                <a:gd name="T18" fmla="*/ 55 h 55"/>
              </a:gdLst>
              <a:ahLst/>
              <a:cxnLst>
                <a:cxn ang="T10">
                  <a:pos x="T0" y="T1"/>
                </a:cxn>
                <a:cxn ang="T11">
                  <a:pos x="T2" y="T3"/>
                </a:cxn>
                <a:cxn ang="T12">
                  <a:pos x="T4" y="T5"/>
                </a:cxn>
                <a:cxn ang="T13">
                  <a:pos x="T6" y="T7"/>
                </a:cxn>
                <a:cxn ang="T14">
                  <a:pos x="T8" y="T9"/>
                </a:cxn>
              </a:cxnLst>
              <a:rect l="T15" t="T16" r="T17" b="T18"/>
              <a:pathLst>
                <a:path w="35" h="55">
                  <a:moveTo>
                    <a:pt x="35" y="24"/>
                  </a:moveTo>
                  <a:lnTo>
                    <a:pt x="35" y="55"/>
                  </a:lnTo>
                  <a:lnTo>
                    <a:pt x="0" y="30"/>
                  </a:lnTo>
                  <a:lnTo>
                    <a:pt x="0" y="0"/>
                  </a:lnTo>
                  <a:lnTo>
                    <a:pt x="35" y="24"/>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74" name="Freeform 254"/>
            <p:cNvSpPr>
              <a:spLocks/>
            </p:cNvSpPr>
            <p:nvPr/>
          </p:nvSpPr>
          <p:spPr bwMode="auto">
            <a:xfrm>
              <a:off x="2631" y="3132"/>
              <a:ext cx="35" cy="54"/>
            </a:xfrm>
            <a:custGeom>
              <a:avLst/>
              <a:gdLst>
                <a:gd name="T0" fmla="*/ 35 w 35"/>
                <a:gd name="T1" fmla="*/ 26 h 54"/>
                <a:gd name="T2" fmla="*/ 35 w 35"/>
                <a:gd name="T3" fmla="*/ 54 h 54"/>
                <a:gd name="T4" fmla="*/ 0 w 35"/>
                <a:gd name="T5" fmla="*/ 28 h 54"/>
                <a:gd name="T6" fmla="*/ 0 w 35"/>
                <a:gd name="T7" fmla="*/ 0 h 54"/>
                <a:gd name="T8" fmla="*/ 35 w 35"/>
                <a:gd name="T9" fmla="*/ 26 h 54"/>
                <a:gd name="T10" fmla="*/ 0 60000 65536"/>
                <a:gd name="T11" fmla="*/ 0 60000 65536"/>
                <a:gd name="T12" fmla="*/ 0 60000 65536"/>
                <a:gd name="T13" fmla="*/ 0 60000 65536"/>
                <a:gd name="T14" fmla="*/ 0 60000 65536"/>
                <a:gd name="T15" fmla="*/ 0 w 35"/>
                <a:gd name="T16" fmla="*/ 0 h 54"/>
                <a:gd name="T17" fmla="*/ 35 w 35"/>
                <a:gd name="T18" fmla="*/ 54 h 54"/>
              </a:gdLst>
              <a:ahLst/>
              <a:cxnLst>
                <a:cxn ang="T10">
                  <a:pos x="T0" y="T1"/>
                </a:cxn>
                <a:cxn ang="T11">
                  <a:pos x="T2" y="T3"/>
                </a:cxn>
                <a:cxn ang="T12">
                  <a:pos x="T4" y="T5"/>
                </a:cxn>
                <a:cxn ang="T13">
                  <a:pos x="T6" y="T7"/>
                </a:cxn>
                <a:cxn ang="T14">
                  <a:pos x="T8" y="T9"/>
                </a:cxn>
              </a:cxnLst>
              <a:rect l="T15" t="T16" r="T17" b="T18"/>
              <a:pathLst>
                <a:path w="35" h="54">
                  <a:moveTo>
                    <a:pt x="35" y="26"/>
                  </a:moveTo>
                  <a:lnTo>
                    <a:pt x="35" y="54"/>
                  </a:lnTo>
                  <a:lnTo>
                    <a:pt x="0" y="28"/>
                  </a:lnTo>
                  <a:lnTo>
                    <a:pt x="0" y="0"/>
                  </a:lnTo>
                  <a:lnTo>
                    <a:pt x="35" y="26"/>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75" name="Freeform 255"/>
            <p:cNvSpPr>
              <a:spLocks/>
            </p:cNvSpPr>
            <p:nvPr/>
          </p:nvSpPr>
          <p:spPr bwMode="auto">
            <a:xfrm>
              <a:off x="2594" y="3108"/>
              <a:ext cx="34" cy="52"/>
            </a:xfrm>
            <a:custGeom>
              <a:avLst/>
              <a:gdLst>
                <a:gd name="T0" fmla="*/ 34 w 34"/>
                <a:gd name="T1" fmla="*/ 24 h 52"/>
                <a:gd name="T2" fmla="*/ 34 w 34"/>
                <a:gd name="T3" fmla="*/ 52 h 52"/>
                <a:gd name="T4" fmla="*/ 0 w 34"/>
                <a:gd name="T5" fmla="*/ 28 h 52"/>
                <a:gd name="T6" fmla="*/ 0 w 34"/>
                <a:gd name="T7" fmla="*/ 0 h 52"/>
                <a:gd name="T8" fmla="*/ 34 w 34"/>
                <a:gd name="T9" fmla="*/ 24 h 52"/>
                <a:gd name="T10" fmla="*/ 0 60000 65536"/>
                <a:gd name="T11" fmla="*/ 0 60000 65536"/>
                <a:gd name="T12" fmla="*/ 0 60000 65536"/>
                <a:gd name="T13" fmla="*/ 0 60000 65536"/>
                <a:gd name="T14" fmla="*/ 0 60000 65536"/>
                <a:gd name="T15" fmla="*/ 0 w 34"/>
                <a:gd name="T16" fmla="*/ 0 h 52"/>
                <a:gd name="T17" fmla="*/ 34 w 34"/>
                <a:gd name="T18" fmla="*/ 52 h 52"/>
              </a:gdLst>
              <a:ahLst/>
              <a:cxnLst>
                <a:cxn ang="T10">
                  <a:pos x="T0" y="T1"/>
                </a:cxn>
                <a:cxn ang="T11">
                  <a:pos x="T2" y="T3"/>
                </a:cxn>
                <a:cxn ang="T12">
                  <a:pos x="T4" y="T5"/>
                </a:cxn>
                <a:cxn ang="T13">
                  <a:pos x="T6" y="T7"/>
                </a:cxn>
                <a:cxn ang="T14">
                  <a:pos x="T8" y="T9"/>
                </a:cxn>
              </a:cxnLst>
              <a:rect l="T15" t="T16" r="T17" b="T18"/>
              <a:pathLst>
                <a:path w="34" h="52">
                  <a:moveTo>
                    <a:pt x="34" y="24"/>
                  </a:moveTo>
                  <a:lnTo>
                    <a:pt x="34" y="52"/>
                  </a:lnTo>
                  <a:lnTo>
                    <a:pt x="0" y="28"/>
                  </a:lnTo>
                  <a:lnTo>
                    <a:pt x="0" y="0"/>
                  </a:lnTo>
                  <a:lnTo>
                    <a:pt x="34" y="24"/>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76" name="Freeform 256"/>
            <p:cNvSpPr>
              <a:spLocks/>
            </p:cNvSpPr>
            <p:nvPr/>
          </p:nvSpPr>
          <p:spPr bwMode="auto">
            <a:xfrm>
              <a:off x="2575" y="3095"/>
              <a:ext cx="17" cy="38"/>
            </a:xfrm>
            <a:custGeom>
              <a:avLst/>
              <a:gdLst>
                <a:gd name="T0" fmla="*/ 17 w 17"/>
                <a:gd name="T1" fmla="*/ 10 h 38"/>
                <a:gd name="T2" fmla="*/ 17 w 17"/>
                <a:gd name="T3" fmla="*/ 38 h 38"/>
                <a:gd name="T4" fmla="*/ 0 w 17"/>
                <a:gd name="T5" fmla="*/ 27 h 38"/>
                <a:gd name="T6" fmla="*/ 0 w 17"/>
                <a:gd name="T7" fmla="*/ 0 h 38"/>
                <a:gd name="T8" fmla="*/ 17 w 17"/>
                <a:gd name="T9" fmla="*/ 10 h 38"/>
                <a:gd name="T10" fmla="*/ 0 60000 65536"/>
                <a:gd name="T11" fmla="*/ 0 60000 65536"/>
                <a:gd name="T12" fmla="*/ 0 60000 65536"/>
                <a:gd name="T13" fmla="*/ 0 60000 65536"/>
                <a:gd name="T14" fmla="*/ 0 60000 65536"/>
                <a:gd name="T15" fmla="*/ 0 w 17"/>
                <a:gd name="T16" fmla="*/ 0 h 38"/>
                <a:gd name="T17" fmla="*/ 17 w 17"/>
                <a:gd name="T18" fmla="*/ 38 h 38"/>
              </a:gdLst>
              <a:ahLst/>
              <a:cxnLst>
                <a:cxn ang="T10">
                  <a:pos x="T0" y="T1"/>
                </a:cxn>
                <a:cxn ang="T11">
                  <a:pos x="T2" y="T3"/>
                </a:cxn>
                <a:cxn ang="T12">
                  <a:pos x="T4" y="T5"/>
                </a:cxn>
                <a:cxn ang="T13">
                  <a:pos x="T6" y="T7"/>
                </a:cxn>
                <a:cxn ang="T14">
                  <a:pos x="T8" y="T9"/>
                </a:cxn>
              </a:cxnLst>
              <a:rect l="T15" t="T16" r="T17" b="T18"/>
              <a:pathLst>
                <a:path w="17" h="38">
                  <a:moveTo>
                    <a:pt x="17" y="10"/>
                  </a:moveTo>
                  <a:lnTo>
                    <a:pt x="17" y="38"/>
                  </a:lnTo>
                  <a:lnTo>
                    <a:pt x="0" y="27"/>
                  </a:lnTo>
                  <a:lnTo>
                    <a:pt x="0" y="0"/>
                  </a:lnTo>
                  <a:lnTo>
                    <a:pt x="17" y="1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77" name="Freeform 257"/>
            <p:cNvSpPr>
              <a:spLocks/>
            </p:cNvSpPr>
            <p:nvPr/>
          </p:nvSpPr>
          <p:spPr bwMode="auto">
            <a:xfrm>
              <a:off x="2704" y="3257"/>
              <a:ext cx="11" cy="40"/>
            </a:xfrm>
            <a:custGeom>
              <a:avLst/>
              <a:gdLst>
                <a:gd name="T0" fmla="*/ 11 w 11"/>
                <a:gd name="T1" fmla="*/ 9 h 40"/>
                <a:gd name="T2" fmla="*/ 11 w 11"/>
                <a:gd name="T3" fmla="*/ 40 h 40"/>
                <a:gd name="T4" fmla="*/ 0 w 11"/>
                <a:gd name="T5" fmla="*/ 32 h 40"/>
                <a:gd name="T6" fmla="*/ 0 w 11"/>
                <a:gd name="T7" fmla="*/ 0 h 40"/>
                <a:gd name="T8" fmla="*/ 11 w 11"/>
                <a:gd name="T9" fmla="*/ 9 h 40"/>
                <a:gd name="T10" fmla="*/ 0 60000 65536"/>
                <a:gd name="T11" fmla="*/ 0 60000 65536"/>
                <a:gd name="T12" fmla="*/ 0 60000 65536"/>
                <a:gd name="T13" fmla="*/ 0 60000 65536"/>
                <a:gd name="T14" fmla="*/ 0 60000 65536"/>
                <a:gd name="T15" fmla="*/ 0 w 11"/>
                <a:gd name="T16" fmla="*/ 0 h 40"/>
                <a:gd name="T17" fmla="*/ 11 w 11"/>
                <a:gd name="T18" fmla="*/ 40 h 40"/>
              </a:gdLst>
              <a:ahLst/>
              <a:cxnLst>
                <a:cxn ang="T10">
                  <a:pos x="T0" y="T1"/>
                </a:cxn>
                <a:cxn ang="T11">
                  <a:pos x="T2" y="T3"/>
                </a:cxn>
                <a:cxn ang="T12">
                  <a:pos x="T4" y="T5"/>
                </a:cxn>
                <a:cxn ang="T13">
                  <a:pos x="T6" y="T7"/>
                </a:cxn>
                <a:cxn ang="T14">
                  <a:pos x="T8" y="T9"/>
                </a:cxn>
              </a:cxnLst>
              <a:rect l="T15" t="T16" r="T17" b="T18"/>
              <a:pathLst>
                <a:path w="11" h="40">
                  <a:moveTo>
                    <a:pt x="11" y="9"/>
                  </a:moveTo>
                  <a:lnTo>
                    <a:pt x="11" y="40"/>
                  </a:lnTo>
                  <a:lnTo>
                    <a:pt x="0" y="32"/>
                  </a:lnTo>
                  <a:lnTo>
                    <a:pt x="0" y="0"/>
                  </a:lnTo>
                  <a:lnTo>
                    <a:pt x="11" y="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78" name="Freeform 258"/>
            <p:cNvSpPr>
              <a:spLocks/>
            </p:cNvSpPr>
            <p:nvPr/>
          </p:nvSpPr>
          <p:spPr bwMode="auto">
            <a:xfrm>
              <a:off x="2667" y="3229"/>
              <a:ext cx="35" cy="57"/>
            </a:xfrm>
            <a:custGeom>
              <a:avLst/>
              <a:gdLst>
                <a:gd name="T0" fmla="*/ 35 w 35"/>
                <a:gd name="T1" fmla="*/ 27 h 57"/>
                <a:gd name="T2" fmla="*/ 35 w 35"/>
                <a:gd name="T3" fmla="*/ 57 h 57"/>
                <a:gd name="T4" fmla="*/ 0 w 35"/>
                <a:gd name="T5" fmla="*/ 29 h 57"/>
                <a:gd name="T6" fmla="*/ 0 w 35"/>
                <a:gd name="T7" fmla="*/ 0 h 57"/>
                <a:gd name="T8" fmla="*/ 35 w 35"/>
                <a:gd name="T9" fmla="*/ 27 h 57"/>
                <a:gd name="T10" fmla="*/ 0 60000 65536"/>
                <a:gd name="T11" fmla="*/ 0 60000 65536"/>
                <a:gd name="T12" fmla="*/ 0 60000 65536"/>
                <a:gd name="T13" fmla="*/ 0 60000 65536"/>
                <a:gd name="T14" fmla="*/ 0 60000 65536"/>
                <a:gd name="T15" fmla="*/ 0 w 35"/>
                <a:gd name="T16" fmla="*/ 0 h 57"/>
                <a:gd name="T17" fmla="*/ 35 w 35"/>
                <a:gd name="T18" fmla="*/ 57 h 57"/>
              </a:gdLst>
              <a:ahLst/>
              <a:cxnLst>
                <a:cxn ang="T10">
                  <a:pos x="T0" y="T1"/>
                </a:cxn>
                <a:cxn ang="T11">
                  <a:pos x="T2" y="T3"/>
                </a:cxn>
                <a:cxn ang="T12">
                  <a:pos x="T4" y="T5"/>
                </a:cxn>
                <a:cxn ang="T13">
                  <a:pos x="T6" y="T7"/>
                </a:cxn>
                <a:cxn ang="T14">
                  <a:pos x="T8" y="T9"/>
                </a:cxn>
              </a:cxnLst>
              <a:rect l="T15" t="T16" r="T17" b="T18"/>
              <a:pathLst>
                <a:path w="35" h="57">
                  <a:moveTo>
                    <a:pt x="35" y="27"/>
                  </a:moveTo>
                  <a:lnTo>
                    <a:pt x="35" y="57"/>
                  </a:lnTo>
                  <a:lnTo>
                    <a:pt x="0" y="29"/>
                  </a:lnTo>
                  <a:lnTo>
                    <a:pt x="0" y="0"/>
                  </a:lnTo>
                  <a:lnTo>
                    <a:pt x="35" y="2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79" name="Freeform 259"/>
            <p:cNvSpPr>
              <a:spLocks/>
            </p:cNvSpPr>
            <p:nvPr/>
          </p:nvSpPr>
          <p:spPr bwMode="auto">
            <a:xfrm>
              <a:off x="2631" y="3201"/>
              <a:ext cx="35" cy="56"/>
            </a:xfrm>
            <a:custGeom>
              <a:avLst/>
              <a:gdLst>
                <a:gd name="T0" fmla="*/ 35 w 35"/>
                <a:gd name="T1" fmla="*/ 28 h 56"/>
                <a:gd name="T2" fmla="*/ 35 w 35"/>
                <a:gd name="T3" fmla="*/ 56 h 56"/>
                <a:gd name="T4" fmla="*/ 0 w 35"/>
                <a:gd name="T5" fmla="*/ 28 h 56"/>
                <a:gd name="T6" fmla="*/ 0 w 35"/>
                <a:gd name="T7" fmla="*/ 0 h 56"/>
                <a:gd name="T8" fmla="*/ 35 w 35"/>
                <a:gd name="T9" fmla="*/ 28 h 56"/>
                <a:gd name="T10" fmla="*/ 0 60000 65536"/>
                <a:gd name="T11" fmla="*/ 0 60000 65536"/>
                <a:gd name="T12" fmla="*/ 0 60000 65536"/>
                <a:gd name="T13" fmla="*/ 0 60000 65536"/>
                <a:gd name="T14" fmla="*/ 0 60000 65536"/>
                <a:gd name="T15" fmla="*/ 0 w 35"/>
                <a:gd name="T16" fmla="*/ 0 h 56"/>
                <a:gd name="T17" fmla="*/ 35 w 35"/>
                <a:gd name="T18" fmla="*/ 56 h 56"/>
              </a:gdLst>
              <a:ahLst/>
              <a:cxnLst>
                <a:cxn ang="T10">
                  <a:pos x="T0" y="T1"/>
                </a:cxn>
                <a:cxn ang="T11">
                  <a:pos x="T2" y="T3"/>
                </a:cxn>
                <a:cxn ang="T12">
                  <a:pos x="T4" y="T5"/>
                </a:cxn>
                <a:cxn ang="T13">
                  <a:pos x="T6" y="T7"/>
                </a:cxn>
                <a:cxn ang="T14">
                  <a:pos x="T8" y="T9"/>
                </a:cxn>
              </a:cxnLst>
              <a:rect l="T15" t="T16" r="T17" b="T18"/>
              <a:pathLst>
                <a:path w="35" h="56">
                  <a:moveTo>
                    <a:pt x="35" y="28"/>
                  </a:moveTo>
                  <a:lnTo>
                    <a:pt x="35" y="56"/>
                  </a:lnTo>
                  <a:lnTo>
                    <a:pt x="0" y="28"/>
                  </a:lnTo>
                  <a:lnTo>
                    <a:pt x="0" y="0"/>
                  </a:lnTo>
                  <a:lnTo>
                    <a:pt x="35" y="2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80" name="Freeform 260"/>
            <p:cNvSpPr>
              <a:spLocks/>
            </p:cNvSpPr>
            <p:nvPr/>
          </p:nvSpPr>
          <p:spPr bwMode="auto">
            <a:xfrm>
              <a:off x="2594" y="3172"/>
              <a:ext cx="34" cy="56"/>
            </a:xfrm>
            <a:custGeom>
              <a:avLst/>
              <a:gdLst>
                <a:gd name="T0" fmla="*/ 34 w 34"/>
                <a:gd name="T1" fmla="*/ 28 h 56"/>
                <a:gd name="T2" fmla="*/ 34 w 34"/>
                <a:gd name="T3" fmla="*/ 56 h 56"/>
                <a:gd name="T4" fmla="*/ 0 w 34"/>
                <a:gd name="T5" fmla="*/ 28 h 56"/>
                <a:gd name="T6" fmla="*/ 0 w 34"/>
                <a:gd name="T7" fmla="*/ 0 h 56"/>
                <a:gd name="T8" fmla="*/ 34 w 34"/>
                <a:gd name="T9" fmla="*/ 28 h 56"/>
                <a:gd name="T10" fmla="*/ 0 60000 65536"/>
                <a:gd name="T11" fmla="*/ 0 60000 65536"/>
                <a:gd name="T12" fmla="*/ 0 60000 65536"/>
                <a:gd name="T13" fmla="*/ 0 60000 65536"/>
                <a:gd name="T14" fmla="*/ 0 60000 65536"/>
                <a:gd name="T15" fmla="*/ 0 w 34"/>
                <a:gd name="T16" fmla="*/ 0 h 56"/>
                <a:gd name="T17" fmla="*/ 34 w 34"/>
                <a:gd name="T18" fmla="*/ 56 h 56"/>
              </a:gdLst>
              <a:ahLst/>
              <a:cxnLst>
                <a:cxn ang="T10">
                  <a:pos x="T0" y="T1"/>
                </a:cxn>
                <a:cxn ang="T11">
                  <a:pos x="T2" y="T3"/>
                </a:cxn>
                <a:cxn ang="T12">
                  <a:pos x="T4" y="T5"/>
                </a:cxn>
                <a:cxn ang="T13">
                  <a:pos x="T6" y="T7"/>
                </a:cxn>
                <a:cxn ang="T14">
                  <a:pos x="T8" y="T9"/>
                </a:cxn>
              </a:cxnLst>
              <a:rect l="T15" t="T16" r="T17" b="T18"/>
              <a:pathLst>
                <a:path w="34" h="56">
                  <a:moveTo>
                    <a:pt x="34" y="28"/>
                  </a:moveTo>
                  <a:lnTo>
                    <a:pt x="34" y="56"/>
                  </a:lnTo>
                  <a:lnTo>
                    <a:pt x="0" y="28"/>
                  </a:lnTo>
                  <a:lnTo>
                    <a:pt x="0" y="0"/>
                  </a:lnTo>
                  <a:lnTo>
                    <a:pt x="34" y="2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81" name="Freeform 261"/>
            <p:cNvSpPr>
              <a:spLocks/>
            </p:cNvSpPr>
            <p:nvPr/>
          </p:nvSpPr>
          <p:spPr bwMode="auto">
            <a:xfrm>
              <a:off x="2575" y="3158"/>
              <a:ext cx="17" cy="41"/>
            </a:xfrm>
            <a:custGeom>
              <a:avLst/>
              <a:gdLst>
                <a:gd name="T0" fmla="*/ 17 w 17"/>
                <a:gd name="T1" fmla="*/ 13 h 41"/>
                <a:gd name="T2" fmla="*/ 17 w 17"/>
                <a:gd name="T3" fmla="*/ 41 h 41"/>
                <a:gd name="T4" fmla="*/ 0 w 17"/>
                <a:gd name="T5" fmla="*/ 25 h 41"/>
                <a:gd name="T6" fmla="*/ 0 w 17"/>
                <a:gd name="T7" fmla="*/ 0 h 41"/>
                <a:gd name="T8" fmla="*/ 17 w 17"/>
                <a:gd name="T9" fmla="*/ 13 h 41"/>
                <a:gd name="T10" fmla="*/ 0 60000 65536"/>
                <a:gd name="T11" fmla="*/ 0 60000 65536"/>
                <a:gd name="T12" fmla="*/ 0 60000 65536"/>
                <a:gd name="T13" fmla="*/ 0 60000 65536"/>
                <a:gd name="T14" fmla="*/ 0 60000 65536"/>
                <a:gd name="T15" fmla="*/ 0 w 17"/>
                <a:gd name="T16" fmla="*/ 0 h 41"/>
                <a:gd name="T17" fmla="*/ 17 w 17"/>
                <a:gd name="T18" fmla="*/ 41 h 41"/>
              </a:gdLst>
              <a:ahLst/>
              <a:cxnLst>
                <a:cxn ang="T10">
                  <a:pos x="T0" y="T1"/>
                </a:cxn>
                <a:cxn ang="T11">
                  <a:pos x="T2" y="T3"/>
                </a:cxn>
                <a:cxn ang="T12">
                  <a:pos x="T4" y="T5"/>
                </a:cxn>
                <a:cxn ang="T13">
                  <a:pos x="T6" y="T7"/>
                </a:cxn>
                <a:cxn ang="T14">
                  <a:pos x="T8" y="T9"/>
                </a:cxn>
              </a:cxnLst>
              <a:rect l="T15" t="T16" r="T17" b="T18"/>
              <a:pathLst>
                <a:path w="17" h="41">
                  <a:moveTo>
                    <a:pt x="17" y="13"/>
                  </a:moveTo>
                  <a:lnTo>
                    <a:pt x="17" y="41"/>
                  </a:lnTo>
                  <a:lnTo>
                    <a:pt x="0" y="25"/>
                  </a:lnTo>
                  <a:lnTo>
                    <a:pt x="0" y="0"/>
                  </a:lnTo>
                  <a:lnTo>
                    <a:pt x="17" y="13"/>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82" name="Freeform 262"/>
            <p:cNvSpPr>
              <a:spLocks/>
            </p:cNvSpPr>
            <p:nvPr/>
          </p:nvSpPr>
          <p:spPr bwMode="auto">
            <a:xfrm>
              <a:off x="2704" y="3332"/>
              <a:ext cx="12" cy="41"/>
            </a:xfrm>
            <a:custGeom>
              <a:avLst/>
              <a:gdLst>
                <a:gd name="T0" fmla="*/ 12 w 12"/>
                <a:gd name="T1" fmla="*/ 10 h 41"/>
                <a:gd name="T2" fmla="*/ 12 w 12"/>
                <a:gd name="T3" fmla="*/ 41 h 41"/>
                <a:gd name="T4" fmla="*/ 0 w 12"/>
                <a:gd name="T5" fmla="*/ 30 h 41"/>
                <a:gd name="T6" fmla="*/ 0 w 12"/>
                <a:gd name="T7" fmla="*/ 0 h 41"/>
                <a:gd name="T8" fmla="*/ 12 w 12"/>
                <a:gd name="T9" fmla="*/ 10 h 41"/>
                <a:gd name="T10" fmla="*/ 0 60000 65536"/>
                <a:gd name="T11" fmla="*/ 0 60000 65536"/>
                <a:gd name="T12" fmla="*/ 0 60000 65536"/>
                <a:gd name="T13" fmla="*/ 0 60000 65536"/>
                <a:gd name="T14" fmla="*/ 0 60000 65536"/>
                <a:gd name="T15" fmla="*/ 0 w 12"/>
                <a:gd name="T16" fmla="*/ 0 h 41"/>
                <a:gd name="T17" fmla="*/ 12 w 12"/>
                <a:gd name="T18" fmla="*/ 41 h 41"/>
              </a:gdLst>
              <a:ahLst/>
              <a:cxnLst>
                <a:cxn ang="T10">
                  <a:pos x="T0" y="T1"/>
                </a:cxn>
                <a:cxn ang="T11">
                  <a:pos x="T2" y="T3"/>
                </a:cxn>
                <a:cxn ang="T12">
                  <a:pos x="T4" y="T5"/>
                </a:cxn>
                <a:cxn ang="T13">
                  <a:pos x="T6" y="T7"/>
                </a:cxn>
                <a:cxn ang="T14">
                  <a:pos x="T8" y="T9"/>
                </a:cxn>
              </a:cxnLst>
              <a:rect l="T15" t="T16" r="T17" b="T18"/>
              <a:pathLst>
                <a:path w="12" h="41">
                  <a:moveTo>
                    <a:pt x="12" y="10"/>
                  </a:moveTo>
                  <a:lnTo>
                    <a:pt x="12" y="41"/>
                  </a:lnTo>
                  <a:lnTo>
                    <a:pt x="0" y="30"/>
                  </a:lnTo>
                  <a:lnTo>
                    <a:pt x="0" y="0"/>
                  </a:lnTo>
                  <a:lnTo>
                    <a:pt x="12" y="1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83" name="Freeform 263"/>
            <p:cNvSpPr>
              <a:spLocks/>
            </p:cNvSpPr>
            <p:nvPr/>
          </p:nvSpPr>
          <p:spPr bwMode="auto">
            <a:xfrm>
              <a:off x="2667" y="3300"/>
              <a:ext cx="35" cy="59"/>
            </a:xfrm>
            <a:custGeom>
              <a:avLst/>
              <a:gdLst>
                <a:gd name="T0" fmla="*/ 35 w 35"/>
                <a:gd name="T1" fmla="*/ 30 h 59"/>
                <a:gd name="T2" fmla="*/ 35 w 35"/>
                <a:gd name="T3" fmla="*/ 59 h 59"/>
                <a:gd name="T4" fmla="*/ 0 w 35"/>
                <a:gd name="T5" fmla="*/ 30 h 59"/>
                <a:gd name="T6" fmla="*/ 0 w 35"/>
                <a:gd name="T7" fmla="*/ 0 h 59"/>
                <a:gd name="T8" fmla="*/ 35 w 35"/>
                <a:gd name="T9" fmla="*/ 30 h 59"/>
                <a:gd name="T10" fmla="*/ 0 60000 65536"/>
                <a:gd name="T11" fmla="*/ 0 60000 65536"/>
                <a:gd name="T12" fmla="*/ 0 60000 65536"/>
                <a:gd name="T13" fmla="*/ 0 60000 65536"/>
                <a:gd name="T14" fmla="*/ 0 60000 65536"/>
                <a:gd name="T15" fmla="*/ 0 w 35"/>
                <a:gd name="T16" fmla="*/ 0 h 59"/>
                <a:gd name="T17" fmla="*/ 35 w 35"/>
                <a:gd name="T18" fmla="*/ 59 h 59"/>
              </a:gdLst>
              <a:ahLst/>
              <a:cxnLst>
                <a:cxn ang="T10">
                  <a:pos x="T0" y="T1"/>
                </a:cxn>
                <a:cxn ang="T11">
                  <a:pos x="T2" y="T3"/>
                </a:cxn>
                <a:cxn ang="T12">
                  <a:pos x="T4" y="T5"/>
                </a:cxn>
                <a:cxn ang="T13">
                  <a:pos x="T6" y="T7"/>
                </a:cxn>
                <a:cxn ang="T14">
                  <a:pos x="T8" y="T9"/>
                </a:cxn>
              </a:cxnLst>
              <a:rect l="T15" t="T16" r="T17" b="T18"/>
              <a:pathLst>
                <a:path w="35" h="59">
                  <a:moveTo>
                    <a:pt x="35" y="30"/>
                  </a:moveTo>
                  <a:lnTo>
                    <a:pt x="35" y="59"/>
                  </a:lnTo>
                  <a:lnTo>
                    <a:pt x="0" y="30"/>
                  </a:lnTo>
                  <a:lnTo>
                    <a:pt x="0" y="0"/>
                  </a:lnTo>
                  <a:lnTo>
                    <a:pt x="35" y="3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84" name="Freeform 264"/>
            <p:cNvSpPr>
              <a:spLocks/>
            </p:cNvSpPr>
            <p:nvPr/>
          </p:nvSpPr>
          <p:spPr bwMode="auto">
            <a:xfrm>
              <a:off x="2631" y="3269"/>
              <a:ext cx="35" cy="59"/>
            </a:xfrm>
            <a:custGeom>
              <a:avLst/>
              <a:gdLst>
                <a:gd name="T0" fmla="*/ 35 w 35"/>
                <a:gd name="T1" fmla="*/ 30 h 59"/>
                <a:gd name="T2" fmla="*/ 35 w 35"/>
                <a:gd name="T3" fmla="*/ 59 h 59"/>
                <a:gd name="T4" fmla="*/ 0 w 35"/>
                <a:gd name="T5" fmla="*/ 28 h 59"/>
                <a:gd name="T6" fmla="*/ 0 w 35"/>
                <a:gd name="T7" fmla="*/ 0 h 59"/>
                <a:gd name="T8" fmla="*/ 35 w 35"/>
                <a:gd name="T9" fmla="*/ 30 h 59"/>
                <a:gd name="T10" fmla="*/ 0 60000 65536"/>
                <a:gd name="T11" fmla="*/ 0 60000 65536"/>
                <a:gd name="T12" fmla="*/ 0 60000 65536"/>
                <a:gd name="T13" fmla="*/ 0 60000 65536"/>
                <a:gd name="T14" fmla="*/ 0 60000 65536"/>
                <a:gd name="T15" fmla="*/ 0 w 35"/>
                <a:gd name="T16" fmla="*/ 0 h 59"/>
                <a:gd name="T17" fmla="*/ 35 w 35"/>
                <a:gd name="T18" fmla="*/ 59 h 59"/>
              </a:gdLst>
              <a:ahLst/>
              <a:cxnLst>
                <a:cxn ang="T10">
                  <a:pos x="T0" y="T1"/>
                </a:cxn>
                <a:cxn ang="T11">
                  <a:pos x="T2" y="T3"/>
                </a:cxn>
                <a:cxn ang="T12">
                  <a:pos x="T4" y="T5"/>
                </a:cxn>
                <a:cxn ang="T13">
                  <a:pos x="T6" y="T7"/>
                </a:cxn>
                <a:cxn ang="T14">
                  <a:pos x="T8" y="T9"/>
                </a:cxn>
              </a:cxnLst>
              <a:rect l="T15" t="T16" r="T17" b="T18"/>
              <a:pathLst>
                <a:path w="35" h="59">
                  <a:moveTo>
                    <a:pt x="35" y="30"/>
                  </a:moveTo>
                  <a:lnTo>
                    <a:pt x="35" y="59"/>
                  </a:lnTo>
                  <a:lnTo>
                    <a:pt x="0" y="28"/>
                  </a:lnTo>
                  <a:lnTo>
                    <a:pt x="0" y="0"/>
                  </a:lnTo>
                  <a:lnTo>
                    <a:pt x="35" y="3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85" name="Freeform 265"/>
            <p:cNvSpPr>
              <a:spLocks/>
            </p:cNvSpPr>
            <p:nvPr/>
          </p:nvSpPr>
          <p:spPr bwMode="auto">
            <a:xfrm>
              <a:off x="2594" y="3237"/>
              <a:ext cx="34" cy="59"/>
            </a:xfrm>
            <a:custGeom>
              <a:avLst/>
              <a:gdLst>
                <a:gd name="T0" fmla="*/ 34 w 34"/>
                <a:gd name="T1" fmla="*/ 31 h 59"/>
                <a:gd name="T2" fmla="*/ 34 w 34"/>
                <a:gd name="T3" fmla="*/ 59 h 59"/>
                <a:gd name="T4" fmla="*/ 0 w 34"/>
                <a:gd name="T5" fmla="*/ 28 h 59"/>
                <a:gd name="T6" fmla="*/ 0 w 34"/>
                <a:gd name="T7" fmla="*/ 0 h 59"/>
                <a:gd name="T8" fmla="*/ 34 w 34"/>
                <a:gd name="T9" fmla="*/ 31 h 59"/>
                <a:gd name="T10" fmla="*/ 0 60000 65536"/>
                <a:gd name="T11" fmla="*/ 0 60000 65536"/>
                <a:gd name="T12" fmla="*/ 0 60000 65536"/>
                <a:gd name="T13" fmla="*/ 0 60000 65536"/>
                <a:gd name="T14" fmla="*/ 0 60000 65536"/>
                <a:gd name="T15" fmla="*/ 0 w 34"/>
                <a:gd name="T16" fmla="*/ 0 h 59"/>
                <a:gd name="T17" fmla="*/ 34 w 34"/>
                <a:gd name="T18" fmla="*/ 59 h 59"/>
              </a:gdLst>
              <a:ahLst/>
              <a:cxnLst>
                <a:cxn ang="T10">
                  <a:pos x="T0" y="T1"/>
                </a:cxn>
                <a:cxn ang="T11">
                  <a:pos x="T2" y="T3"/>
                </a:cxn>
                <a:cxn ang="T12">
                  <a:pos x="T4" y="T5"/>
                </a:cxn>
                <a:cxn ang="T13">
                  <a:pos x="T6" y="T7"/>
                </a:cxn>
                <a:cxn ang="T14">
                  <a:pos x="T8" y="T9"/>
                </a:cxn>
              </a:cxnLst>
              <a:rect l="T15" t="T16" r="T17" b="T18"/>
              <a:pathLst>
                <a:path w="34" h="59">
                  <a:moveTo>
                    <a:pt x="34" y="31"/>
                  </a:moveTo>
                  <a:lnTo>
                    <a:pt x="34" y="59"/>
                  </a:lnTo>
                  <a:lnTo>
                    <a:pt x="0" y="28"/>
                  </a:lnTo>
                  <a:lnTo>
                    <a:pt x="0" y="0"/>
                  </a:lnTo>
                  <a:lnTo>
                    <a:pt x="34" y="3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86" name="Freeform 266"/>
            <p:cNvSpPr>
              <a:spLocks/>
            </p:cNvSpPr>
            <p:nvPr/>
          </p:nvSpPr>
          <p:spPr bwMode="auto">
            <a:xfrm>
              <a:off x="2575" y="3222"/>
              <a:ext cx="17" cy="42"/>
            </a:xfrm>
            <a:custGeom>
              <a:avLst/>
              <a:gdLst>
                <a:gd name="T0" fmla="*/ 17 w 17"/>
                <a:gd name="T1" fmla="*/ 14 h 42"/>
                <a:gd name="T2" fmla="*/ 17 w 17"/>
                <a:gd name="T3" fmla="*/ 42 h 42"/>
                <a:gd name="T4" fmla="*/ 0 w 17"/>
                <a:gd name="T5" fmla="*/ 27 h 42"/>
                <a:gd name="T6" fmla="*/ 0 w 17"/>
                <a:gd name="T7" fmla="*/ 0 h 42"/>
                <a:gd name="T8" fmla="*/ 17 w 17"/>
                <a:gd name="T9" fmla="*/ 14 h 42"/>
                <a:gd name="T10" fmla="*/ 0 60000 65536"/>
                <a:gd name="T11" fmla="*/ 0 60000 65536"/>
                <a:gd name="T12" fmla="*/ 0 60000 65536"/>
                <a:gd name="T13" fmla="*/ 0 60000 65536"/>
                <a:gd name="T14" fmla="*/ 0 60000 65536"/>
                <a:gd name="T15" fmla="*/ 0 w 17"/>
                <a:gd name="T16" fmla="*/ 0 h 42"/>
                <a:gd name="T17" fmla="*/ 17 w 17"/>
                <a:gd name="T18" fmla="*/ 42 h 42"/>
              </a:gdLst>
              <a:ahLst/>
              <a:cxnLst>
                <a:cxn ang="T10">
                  <a:pos x="T0" y="T1"/>
                </a:cxn>
                <a:cxn ang="T11">
                  <a:pos x="T2" y="T3"/>
                </a:cxn>
                <a:cxn ang="T12">
                  <a:pos x="T4" y="T5"/>
                </a:cxn>
                <a:cxn ang="T13">
                  <a:pos x="T6" y="T7"/>
                </a:cxn>
                <a:cxn ang="T14">
                  <a:pos x="T8" y="T9"/>
                </a:cxn>
              </a:cxnLst>
              <a:rect l="T15" t="T16" r="T17" b="T18"/>
              <a:pathLst>
                <a:path w="17" h="42">
                  <a:moveTo>
                    <a:pt x="17" y="14"/>
                  </a:moveTo>
                  <a:lnTo>
                    <a:pt x="17" y="42"/>
                  </a:lnTo>
                  <a:lnTo>
                    <a:pt x="0" y="27"/>
                  </a:lnTo>
                  <a:lnTo>
                    <a:pt x="0" y="0"/>
                  </a:lnTo>
                  <a:lnTo>
                    <a:pt x="17" y="14"/>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87" name="Freeform 267"/>
            <p:cNvSpPr>
              <a:spLocks/>
            </p:cNvSpPr>
            <p:nvPr/>
          </p:nvSpPr>
          <p:spPr bwMode="auto">
            <a:xfrm>
              <a:off x="2704" y="3408"/>
              <a:ext cx="11" cy="38"/>
            </a:xfrm>
            <a:custGeom>
              <a:avLst/>
              <a:gdLst>
                <a:gd name="T0" fmla="*/ 11 w 11"/>
                <a:gd name="T1" fmla="*/ 8 h 38"/>
                <a:gd name="T2" fmla="*/ 11 w 11"/>
                <a:gd name="T3" fmla="*/ 38 h 38"/>
                <a:gd name="T4" fmla="*/ 0 w 11"/>
                <a:gd name="T5" fmla="*/ 27 h 38"/>
                <a:gd name="T6" fmla="*/ 0 w 11"/>
                <a:gd name="T7" fmla="*/ 0 h 38"/>
                <a:gd name="T8" fmla="*/ 11 w 11"/>
                <a:gd name="T9" fmla="*/ 8 h 38"/>
                <a:gd name="T10" fmla="*/ 0 60000 65536"/>
                <a:gd name="T11" fmla="*/ 0 60000 65536"/>
                <a:gd name="T12" fmla="*/ 0 60000 65536"/>
                <a:gd name="T13" fmla="*/ 0 60000 65536"/>
                <a:gd name="T14" fmla="*/ 0 60000 65536"/>
                <a:gd name="T15" fmla="*/ 0 w 11"/>
                <a:gd name="T16" fmla="*/ 0 h 38"/>
                <a:gd name="T17" fmla="*/ 11 w 11"/>
                <a:gd name="T18" fmla="*/ 38 h 38"/>
              </a:gdLst>
              <a:ahLst/>
              <a:cxnLst>
                <a:cxn ang="T10">
                  <a:pos x="T0" y="T1"/>
                </a:cxn>
                <a:cxn ang="T11">
                  <a:pos x="T2" y="T3"/>
                </a:cxn>
                <a:cxn ang="T12">
                  <a:pos x="T4" y="T5"/>
                </a:cxn>
                <a:cxn ang="T13">
                  <a:pos x="T6" y="T7"/>
                </a:cxn>
                <a:cxn ang="T14">
                  <a:pos x="T8" y="T9"/>
                </a:cxn>
              </a:cxnLst>
              <a:rect l="T15" t="T16" r="T17" b="T18"/>
              <a:pathLst>
                <a:path w="11" h="38">
                  <a:moveTo>
                    <a:pt x="11" y="8"/>
                  </a:moveTo>
                  <a:lnTo>
                    <a:pt x="11" y="38"/>
                  </a:lnTo>
                  <a:lnTo>
                    <a:pt x="0" y="27"/>
                  </a:lnTo>
                  <a:lnTo>
                    <a:pt x="0" y="0"/>
                  </a:lnTo>
                  <a:lnTo>
                    <a:pt x="11" y="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88" name="Freeform 268"/>
            <p:cNvSpPr>
              <a:spLocks/>
            </p:cNvSpPr>
            <p:nvPr/>
          </p:nvSpPr>
          <p:spPr bwMode="auto">
            <a:xfrm>
              <a:off x="2667" y="3372"/>
              <a:ext cx="35" cy="63"/>
            </a:xfrm>
            <a:custGeom>
              <a:avLst/>
              <a:gdLst>
                <a:gd name="T0" fmla="*/ 35 w 35"/>
                <a:gd name="T1" fmla="*/ 32 h 63"/>
                <a:gd name="T2" fmla="*/ 35 w 35"/>
                <a:gd name="T3" fmla="*/ 63 h 63"/>
                <a:gd name="T4" fmla="*/ 0 w 35"/>
                <a:gd name="T5" fmla="*/ 29 h 63"/>
                <a:gd name="T6" fmla="*/ 0 w 35"/>
                <a:gd name="T7" fmla="*/ 0 h 63"/>
                <a:gd name="T8" fmla="*/ 35 w 35"/>
                <a:gd name="T9" fmla="*/ 32 h 63"/>
                <a:gd name="T10" fmla="*/ 0 60000 65536"/>
                <a:gd name="T11" fmla="*/ 0 60000 65536"/>
                <a:gd name="T12" fmla="*/ 0 60000 65536"/>
                <a:gd name="T13" fmla="*/ 0 60000 65536"/>
                <a:gd name="T14" fmla="*/ 0 60000 65536"/>
                <a:gd name="T15" fmla="*/ 0 w 35"/>
                <a:gd name="T16" fmla="*/ 0 h 63"/>
                <a:gd name="T17" fmla="*/ 35 w 35"/>
                <a:gd name="T18" fmla="*/ 63 h 63"/>
              </a:gdLst>
              <a:ahLst/>
              <a:cxnLst>
                <a:cxn ang="T10">
                  <a:pos x="T0" y="T1"/>
                </a:cxn>
                <a:cxn ang="T11">
                  <a:pos x="T2" y="T3"/>
                </a:cxn>
                <a:cxn ang="T12">
                  <a:pos x="T4" y="T5"/>
                </a:cxn>
                <a:cxn ang="T13">
                  <a:pos x="T6" y="T7"/>
                </a:cxn>
                <a:cxn ang="T14">
                  <a:pos x="T8" y="T9"/>
                </a:cxn>
              </a:cxnLst>
              <a:rect l="T15" t="T16" r="T17" b="T18"/>
              <a:pathLst>
                <a:path w="35" h="63">
                  <a:moveTo>
                    <a:pt x="35" y="32"/>
                  </a:moveTo>
                  <a:lnTo>
                    <a:pt x="35" y="63"/>
                  </a:lnTo>
                  <a:lnTo>
                    <a:pt x="0" y="29"/>
                  </a:lnTo>
                  <a:lnTo>
                    <a:pt x="0" y="0"/>
                  </a:lnTo>
                  <a:lnTo>
                    <a:pt x="35" y="3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89" name="Freeform 269"/>
            <p:cNvSpPr>
              <a:spLocks/>
            </p:cNvSpPr>
            <p:nvPr/>
          </p:nvSpPr>
          <p:spPr bwMode="auto">
            <a:xfrm>
              <a:off x="2631" y="3338"/>
              <a:ext cx="35" cy="60"/>
            </a:xfrm>
            <a:custGeom>
              <a:avLst/>
              <a:gdLst>
                <a:gd name="T0" fmla="*/ 35 w 35"/>
                <a:gd name="T1" fmla="*/ 32 h 60"/>
                <a:gd name="T2" fmla="*/ 35 w 35"/>
                <a:gd name="T3" fmla="*/ 60 h 60"/>
                <a:gd name="T4" fmla="*/ 0 w 35"/>
                <a:gd name="T5" fmla="*/ 28 h 60"/>
                <a:gd name="T6" fmla="*/ 0 w 35"/>
                <a:gd name="T7" fmla="*/ 0 h 60"/>
                <a:gd name="T8" fmla="*/ 35 w 35"/>
                <a:gd name="T9" fmla="*/ 32 h 60"/>
                <a:gd name="T10" fmla="*/ 0 60000 65536"/>
                <a:gd name="T11" fmla="*/ 0 60000 65536"/>
                <a:gd name="T12" fmla="*/ 0 60000 65536"/>
                <a:gd name="T13" fmla="*/ 0 60000 65536"/>
                <a:gd name="T14" fmla="*/ 0 60000 65536"/>
                <a:gd name="T15" fmla="*/ 0 w 35"/>
                <a:gd name="T16" fmla="*/ 0 h 60"/>
                <a:gd name="T17" fmla="*/ 35 w 35"/>
                <a:gd name="T18" fmla="*/ 60 h 60"/>
              </a:gdLst>
              <a:ahLst/>
              <a:cxnLst>
                <a:cxn ang="T10">
                  <a:pos x="T0" y="T1"/>
                </a:cxn>
                <a:cxn ang="T11">
                  <a:pos x="T2" y="T3"/>
                </a:cxn>
                <a:cxn ang="T12">
                  <a:pos x="T4" y="T5"/>
                </a:cxn>
                <a:cxn ang="T13">
                  <a:pos x="T6" y="T7"/>
                </a:cxn>
                <a:cxn ang="T14">
                  <a:pos x="T8" y="T9"/>
                </a:cxn>
              </a:cxnLst>
              <a:rect l="T15" t="T16" r="T17" b="T18"/>
              <a:pathLst>
                <a:path w="35" h="60">
                  <a:moveTo>
                    <a:pt x="35" y="32"/>
                  </a:moveTo>
                  <a:lnTo>
                    <a:pt x="35" y="60"/>
                  </a:lnTo>
                  <a:lnTo>
                    <a:pt x="0" y="28"/>
                  </a:lnTo>
                  <a:lnTo>
                    <a:pt x="0" y="0"/>
                  </a:lnTo>
                  <a:lnTo>
                    <a:pt x="35" y="3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90" name="Freeform 270"/>
            <p:cNvSpPr>
              <a:spLocks/>
            </p:cNvSpPr>
            <p:nvPr/>
          </p:nvSpPr>
          <p:spPr bwMode="auto">
            <a:xfrm>
              <a:off x="2593" y="3302"/>
              <a:ext cx="35" cy="61"/>
            </a:xfrm>
            <a:custGeom>
              <a:avLst/>
              <a:gdLst>
                <a:gd name="T0" fmla="*/ 35 w 35"/>
                <a:gd name="T1" fmla="*/ 35 h 61"/>
                <a:gd name="T2" fmla="*/ 35 w 35"/>
                <a:gd name="T3" fmla="*/ 61 h 61"/>
                <a:gd name="T4" fmla="*/ 0 w 35"/>
                <a:gd name="T5" fmla="*/ 29 h 61"/>
                <a:gd name="T6" fmla="*/ 0 w 35"/>
                <a:gd name="T7" fmla="*/ 0 h 61"/>
                <a:gd name="T8" fmla="*/ 35 w 35"/>
                <a:gd name="T9" fmla="*/ 35 h 61"/>
                <a:gd name="T10" fmla="*/ 0 60000 65536"/>
                <a:gd name="T11" fmla="*/ 0 60000 65536"/>
                <a:gd name="T12" fmla="*/ 0 60000 65536"/>
                <a:gd name="T13" fmla="*/ 0 60000 65536"/>
                <a:gd name="T14" fmla="*/ 0 60000 65536"/>
                <a:gd name="T15" fmla="*/ 0 w 35"/>
                <a:gd name="T16" fmla="*/ 0 h 61"/>
                <a:gd name="T17" fmla="*/ 35 w 35"/>
                <a:gd name="T18" fmla="*/ 61 h 61"/>
              </a:gdLst>
              <a:ahLst/>
              <a:cxnLst>
                <a:cxn ang="T10">
                  <a:pos x="T0" y="T1"/>
                </a:cxn>
                <a:cxn ang="T11">
                  <a:pos x="T2" y="T3"/>
                </a:cxn>
                <a:cxn ang="T12">
                  <a:pos x="T4" y="T5"/>
                </a:cxn>
                <a:cxn ang="T13">
                  <a:pos x="T6" y="T7"/>
                </a:cxn>
                <a:cxn ang="T14">
                  <a:pos x="T8" y="T9"/>
                </a:cxn>
              </a:cxnLst>
              <a:rect l="T15" t="T16" r="T17" b="T18"/>
              <a:pathLst>
                <a:path w="35" h="61">
                  <a:moveTo>
                    <a:pt x="35" y="35"/>
                  </a:moveTo>
                  <a:lnTo>
                    <a:pt x="35" y="61"/>
                  </a:lnTo>
                  <a:lnTo>
                    <a:pt x="0" y="29"/>
                  </a:lnTo>
                  <a:lnTo>
                    <a:pt x="0" y="0"/>
                  </a:lnTo>
                  <a:lnTo>
                    <a:pt x="35" y="3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91" name="Freeform 271"/>
            <p:cNvSpPr>
              <a:spLocks/>
            </p:cNvSpPr>
            <p:nvPr/>
          </p:nvSpPr>
          <p:spPr bwMode="auto">
            <a:xfrm>
              <a:off x="2575" y="3286"/>
              <a:ext cx="17" cy="42"/>
            </a:xfrm>
            <a:custGeom>
              <a:avLst/>
              <a:gdLst>
                <a:gd name="T0" fmla="*/ 17 w 17"/>
                <a:gd name="T1" fmla="*/ 14 h 42"/>
                <a:gd name="T2" fmla="*/ 17 w 17"/>
                <a:gd name="T3" fmla="*/ 42 h 42"/>
                <a:gd name="T4" fmla="*/ 0 w 17"/>
                <a:gd name="T5" fmla="*/ 26 h 42"/>
                <a:gd name="T6" fmla="*/ 0 w 17"/>
                <a:gd name="T7" fmla="*/ 0 h 42"/>
                <a:gd name="T8" fmla="*/ 17 w 17"/>
                <a:gd name="T9" fmla="*/ 14 h 42"/>
                <a:gd name="T10" fmla="*/ 0 60000 65536"/>
                <a:gd name="T11" fmla="*/ 0 60000 65536"/>
                <a:gd name="T12" fmla="*/ 0 60000 65536"/>
                <a:gd name="T13" fmla="*/ 0 60000 65536"/>
                <a:gd name="T14" fmla="*/ 0 60000 65536"/>
                <a:gd name="T15" fmla="*/ 0 w 17"/>
                <a:gd name="T16" fmla="*/ 0 h 42"/>
                <a:gd name="T17" fmla="*/ 17 w 17"/>
                <a:gd name="T18" fmla="*/ 42 h 42"/>
              </a:gdLst>
              <a:ahLst/>
              <a:cxnLst>
                <a:cxn ang="T10">
                  <a:pos x="T0" y="T1"/>
                </a:cxn>
                <a:cxn ang="T11">
                  <a:pos x="T2" y="T3"/>
                </a:cxn>
                <a:cxn ang="T12">
                  <a:pos x="T4" y="T5"/>
                </a:cxn>
                <a:cxn ang="T13">
                  <a:pos x="T6" y="T7"/>
                </a:cxn>
                <a:cxn ang="T14">
                  <a:pos x="T8" y="T9"/>
                </a:cxn>
              </a:cxnLst>
              <a:rect l="T15" t="T16" r="T17" b="T18"/>
              <a:pathLst>
                <a:path w="17" h="42">
                  <a:moveTo>
                    <a:pt x="17" y="14"/>
                  </a:moveTo>
                  <a:lnTo>
                    <a:pt x="17" y="42"/>
                  </a:lnTo>
                  <a:lnTo>
                    <a:pt x="0" y="26"/>
                  </a:lnTo>
                  <a:lnTo>
                    <a:pt x="0" y="0"/>
                  </a:lnTo>
                  <a:lnTo>
                    <a:pt x="17" y="1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92" name="Freeform 272"/>
            <p:cNvSpPr>
              <a:spLocks/>
            </p:cNvSpPr>
            <p:nvPr/>
          </p:nvSpPr>
          <p:spPr bwMode="auto">
            <a:xfrm>
              <a:off x="2704" y="3479"/>
              <a:ext cx="11" cy="44"/>
            </a:xfrm>
            <a:custGeom>
              <a:avLst/>
              <a:gdLst>
                <a:gd name="T0" fmla="*/ 11 w 11"/>
                <a:gd name="T1" fmla="*/ 13 h 44"/>
                <a:gd name="T2" fmla="*/ 11 w 11"/>
                <a:gd name="T3" fmla="*/ 44 h 44"/>
                <a:gd name="T4" fmla="*/ 0 w 11"/>
                <a:gd name="T5" fmla="*/ 32 h 44"/>
                <a:gd name="T6" fmla="*/ 0 w 11"/>
                <a:gd name="T7" fmla="*/ 0 h 44"/>
                <a:gd name="T8" fmla="*/ 11 w 11"/>
                <a:gd name="T9" fmla="*/ 13 h 44"/>
                <a:gd name="T10" fmla="*/ 0 60000 65536"/>
                <a:gd name="T11" fmla="*/ 0 60000 65536"/>
                <a:gd name="T12" fmla="*/ 0 60000 65536"/>
                <a:gd name="T13" fmla="*/ 0 60000 65536"/>
                <a:gd name="T14" fmla="*/ 0 60000 65536"/>
                <a:gd name="T15" fmla="*/ 0 w 11"/>
                <a:gd name="T16" fmla="*/ 0 h 44"/>
                <a:gd name="T17" fmla="*/ 11 w 11"/>
                <a:gd name="T18" fmla="*/ 44 h 44"/>
              </a:gdLst>
              <a:ahLst/>
              <a:cxnLst>
                <a:cxn ang="T10">
                  <a:pos x="T0" y="T1"/>
                </a:cxn>
                <a:cxn ang="T11">
                  <a:pos x="T2" y="T3"/>
                </a:cxn>
                <a:cxn ang="T12">
                  <a:pos x="T4" y="T5"/>
                </a:cxn>
                <a:cxn ang="T13">
                  <a:pos x="T6" y="T7"/>
                </a:cxn>
                <a:cxn ang="T14">
                  <a:pos x="T8" y="T9"/>
                </a:cxn>
              </a:cxnLst>
              <a:rect l="T15" t="T16" r="T17" b="T18"/>
              <a:pathLst>
                <a:path w="11" h="44">
                  <a:moveTo>
                    <a:pt x="11" y="13"/>
                  </a:moveTo>
                  <a:lnTo>
                    <a:pt x="11" y="44"/>
                  </a:lnTo>
                  <a:lnTo>
                    <a:pt x="0" y="32"/>
                  </a:lnTo>
                  <a:lnTo>
                    <a:pt x="0" y="0"/>
                  </a:lnTo>
                  <a:lnTo>
                    <a:pt x="11" y="1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93" name="Freeform 273"/>
            <p:cNvSpPr>
              <a:spLocks/>
            </p:cNvSpPr>
            <p:nvPr/>
          </p:nvSpPr>
          <p:spPr bwMode="auto">
            <a:xfrm>
              <a:off x="2667" y="3443"/>
              <a:ext cx="35" cy="65"/>
            </a:xfrm>
            <a:custGeom>
              <a:avLst/>
              <a:gdLst>
                <a:gd name="T0" fmla="*/ 35 w 35"/>
                <a:gd name="T1" fmla="*/ 35 h 65"/>
                <a:gd name="T2" fmla="*/ 35 w 35"/>
                <a:gd name="T3" fmla="*/ 65 h 65"/>
                <a:gd name="T4" fmla="*/ 0 w 35"/>
                <a:gd name="T5" fmla="*/ 29 h 65"/>
                <a:gd name="T6" fmla="*/ 0 w 35"/>
                <a:gd name="T7" fmla="*/ 0 h 65"/>
                <a:gd name="T8" fmla="*/ 35 w 35"/>
                <a:gd name="T9" fmla="*/ 35 h 65"/>
                <a:gd name="T10" fmla="*/ 0 60000 65536"/>
                <a:gd name="T11" fmla="*/ 0 60000 65536"/>
                <a:gd name="T12" fmla="*/ 0 60000 65536"/>
                <a:gd name="T13" fmla="*/ 0 60000 65536"/>
                <a:gd name="T14" fmla="*/ 0 60000 65536"/>
                <a:gd name="T15" fmla="*/ 0 w 35"/>
                <a:gd name="T16" fmla="*/ 0 h 65"/>
                <a:gd name="T17" fmla="*/ 35 w 35"/>
                <a:gd name="T18" fmla="*/ 65 h 65"/>
              </a:gdLst>
              <a:ahLst/>
              <a:cxnLst>
                <a:cxn ang="T10">
                  <a:pos x="T0" y="T1"/>
                </a:cxn>
                <a:cxn ang="T11">
                  <a:pos x="T2" y="T3"/>
                </a:cxn>
                <a:cxn ang="T12">
                  <a:pos x="T4" y="T5"/>
                </a:cxn>
                <a:cxn ang="T13">
                  <a:pos x="T6" y="T7"/>
                </a:cxn>
                <a:cxn ang="T14">
                  <a:pos x="T8" y="T9"/>
                </a:cxn>
              </a:cxnLst>
              <a:rect l="T15" t="T16" r="T17" b="T18"/>
              <a:pathLst>
                <a:path w="35" h="65">
                  <a:moveTo>
                    <a:pt x="35" y="35"/>
                  </a:moveTo>
                  <a:lnTo>
                    <a:pt x="35" y="65"/>
                  </a:lnTo>
                  <a:lnTo>
                    <a:pt x="0" y="29"/>
                  </a:lnTo>
                  <a:lnTo>
                    <a:pt x="0" y="0"/>
                  </a:lnTo>
                  <a:lnTo>
                    <a:pt x="35" y="3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94" name="Freeform 274"/>
            <p:cNvSpPr>
              <a:spLocks/>
            </p:cNvSpPr>
            <p:nvPr/>
          </p:nvSpPr>
          <p:spPr bwMode="auto">
            <a:xfrm>
              <a:off x="2631" y="3405"/>
              <a:ext cx="35" cy="65"/>
            </a:xfrm>
            <a:custGeom>
              <a:avLst/>
              <a:gdLst>
                <a:gd name="T0" fmla="*/ 35 w 35"/>
                <a:gd name="T1" fmla="*/ 37 h 65"/>
                <a:gd name="T2" fmla="*/ 35 w 35"/>
                <a:gd name="T3" fmla="*/ 65 h 65"/>
                <a:gd name="T4" fmla="*/ 0 w 35"/>
                <a:gd name="T5" fmla="*/ 30 h 65"/>
                <a:gd name="T6" fmla="*/ 0 w 35"/>
                <a:gd name="T7" fmla="*/ 0 h 65"/>
                <a:gd name="T8" fmla="*/ 35 w 35"/>
                <a:gd name="T9" fmla="*/ 37 h 65"/>
                <a:gd name="T10" fmla="*/ 0 60000 65536"/>
                <a:gd name="T11" fmla="*/ 0 60000 65536"/>
                <a:gd name="T12" fmla="*/ 0 60000 65536"/>
                <a:gd name="T13" fmla="*/ 0 60000 65536"/>
                <a:gd name="T14" fmla="*/ 0 60000 65536"/>
                <a:gd name="T15" fmla="*/ 0 w 35"/>
                <a:gd name="T16" fmla="*/ 0 h 65"/>
                <a:gd name="T17" fmla="*/ 35 w 35"/>
                <a:gd name="T18" fmla="*/ 65 h 65"/>
              </a:gdLst>
              <a:ahLst/>
              <a:cxnLst>
                <a:cxn ang="T10">
                  <a:pos x="T0" y="T1"/>
                </a:cxn>
                <a:cxn ang="T11">
                  <a:pos x="T2" y="T3"/>
                </a:cxn>
                <a:cxn ang="T12">
                  <a:pos x="T4" y="T5"/>
                </a:cxn>
                <a:cxn ang="T13">
                  <a:pos x="T6" y="T7"/>
                </a:cxn>
                <a:cxn ang="T14">
                  <a:pos x="T8" y="T9"/>
                </a:cxn>
              </a:cxnLst>
              <a:rect l="T15" t="T16" r="T17" b="T18"/>
              <a:pathLst>
                <a:path w="35" h="65">
                  <a:moveTo>
                    <a:pt x="35" y="37"/>
                  </a:moveTo>
                  <a:lnTo>
                    <a:pt x="35" y="65"/>
                  </a:lnTo>
                  <a:lnTo>
                    <a:pt x="0" y="30"/>
                  </a:lnTo>
                  <a:lnTo>
                    <a:pt x="0" y="0"/>
                  </a:lnTo>
                  <a:lnTo>
                    <a:pt x="35" y="3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95" name="Freeform 275"/>
            <p:cNvSpPr>
              <a:spLocks/>
            </p:cNvSpPr>
            <p:nvPr/>
          </p:nvSpPr>
          <p:spPr bwMode="auto">
            <a:xfrm>
              <a:off x="2594" y="3369"/>
              <a:ext cx="34" cy="63"/>
            </a:xfrm>
            <a:custGeom>
              <a:avLst/>
              <a:gdLst>
                <a:gd name="T0" fmla="*/ 34 w 34"/>
                <a:gd name="T1" fmla="*/ 35 h 63"/>
                <a:gd name="T2" fmla="*/ 34 w 34"/>
                <a:gd name="T3" fmla="*/ 63 h 63"/>
                <a:gd name="T4" fmla="*/ 0 w 34"/>
                <a:gd name="T5" fmla="*/ 28 h 63"/>
                <a:gd name="T6" fmla="*/ 0 w 34"/>
                <a:gd name="T7" fmla="*/ 0 h 63"/>
                <a:gd name="T8" fmla="*/ 34 w 34"/>
                <a:gd name="T9" fmla="*/ 35 h 63"/>
                <a:gd name="T10" fmla="*/ 0 60000 65536"/>
                <a:gd name="T11" fmla="*/ 0 60000 65536"/>
                <a:gd name="T12" fmla="*/ 0 60000 65536"/>
                <a:gd name="T13" fmla="*/ 0 60000 65536"/>
                <a:gd name="T14" fmla="*/ 0 60000 65536"/>
                <a:gd name="T15" fmla="*/ 0 w 34"/>
                <a:gd name="T16" fmla="*/ 0 h 63"/>
                <a:gd name="T17" fmla="*/ 34 w 34"/>
                <a:gd name="T18" fmla="*/ 63 h 63"/>
              </a:gdLst>
              <a:ahLst/>
              <a:cxnLst>
                <a:cxn ang="T10">
                  <a:pos x="T0" y="T1"/>
                </a:cxn>
                <a:cxn ang="T11">
                  <a:pos x="T2" y="T3"/>
                </a:cxn>
                <a:cxn ang="T12">
                  <a:pos x="T4" y="T5"/>
                </a:cxn>
                <a:cxn ang="T13">
                  <a:pos x="T6" y="T7"/>
                </a:cxn>
                <a:cxn ang="T14">
                  <a:pos x="T8" y="T9"/>
                </a:cxn>
              </a:cxnLst>
              <a:rect l="T15" t="T16" r="T17" b="T18"/>
              <a:pathLst>
                <a:path w="34" h="63">
                  <a:moveTo>
                    <a:pt x="34" y="35"/>
                  </a:moveTo>
                  <a:lnTo>
                    <a:pt x="34" y="63"/>
                  </a:lnTo>
                  <a:lnTo>
                    <a:pt x="0" y="28"/>
                  </a:lnTo>
                  <a:lnTo>
                    <a:pt x="0" y="0"/>
                  </a:lnTo>
                  <a:lnTo>
                    <a:pt x="34" y="35"/>
                  </a:lnTo>
                  <a:close/>
                </a:path>
              </a:pathLst>
            </a:custGeom>
            <a:solidFill>
              <a:srgbClr val="2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96" name="Freeform 276"/>
            <p:cNvSpPr>
              <a:spLocks/>
            </p:cNvSpPr>
            <p:nvPr/>
          </p:nvSpPr>
          <p:spPr bwMode="auto">
            <a:xfrm>
              <a:off x="2575" y="3352"/>
              <a:ext cx="17" cy="44"/>
            </a:xfrm>
            <a:custGeom>
              <a:avLst/>
              <a:gdLst>
                <a:gd name="T0" fmla="*/ 17 w 17"/>
                <a:gd name="T1" fmla="*/ 16 h 44"/>
                <a:gd name="T2" fmla="*/ 17 w 17"/>
                <a:gd name="T3" fmla="*/ 44 h 44"/>
                <a:gd name="T4" fmla="*/ 0 w 17"/>
                <a:gd name="T5" fmla="*/ 24 h 44"/>
                <a:gd name="T6" fmla="*/ 0 w 17"/>
                <a:gd name="T7" fmla="*/ 0 h 44"/>
                <a:gd name="T8" fmla="*/ 17 w 17"/>
                <a:gd name="T9" fmla="*/ 16 h 44"/>
                <a:gd name="T10" fmla="*/ 0 60000 65536"/>
                <a:gd name="T11" fmla="*/ 0 60000 65536"/>
                <a:gd name="T12" fmla="*/ 0 60000 65536"/>
                <a:gd name="T13" fmla="*/ 0 60000 65536"/>
                <a:gd name="T14" fmla="*/ 0 60000 65536"/>
                <a:gd name="T15" fmla="*/ 0 w 17"/>
                <a:gd name="T16" fmla="*/ 0 h 44"/>
                <a:gd name="T17" fmla="*/ 17 w 17"/>
                <a:gd name="T18" fmla="*/ 44 h 44"/>
              </a:gdLst>
              <a:ahLst/>
              <a:cxnLst>
                <a:cxn ang="T10">
                  <a:pos x="T0" y="T1"/>
                </a:cxn>
                <a:cxn ang="T11">
                  <a:pos x="T2" y="T3"/>
                </a:cxn>
                <a:cxn ang="T12">
                  <a:pos x="T4" y="T5"/>
                </a:cxn>
                <a:cxn ang="T13">
                  <a:pos x="T6" y="T7"/>
                </a:cxn>
                <a:cxn ang="T14">
                  <a:pos x="T8" y="T9"/>
                </a:cxn>
              </a:cxnLst>
              <a:rect l="T15" t="T16" r="T17" b="T18"/>
              <a:pathLst>
                <a:path w="17" h="44">
                  <a:moveTo>
                    <a:pt x="17" y="16"/>
                  </a:moveTo>
                  <a:lnTo>
                    <a:pt x="17" y="44"/>
                  </a:lnTo>
                  <a:lnTo>
                    <a:pt x="0" y="24"/>
                  </a:lnTo>
                  <a:lnTo>
                    <a:pt x="0" y="0"/>
                  </a:lnTo>
                  <a:lnTo>
                    <a:pt x="17" y="16"/>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97" name="Freeform 277"/>
            <p:cNvSpPr>
              <a:spLocks/>
            </p:cNvSpPr>
            <p:nvPr/>
          </p:nvSpPr>
          <p:spPr bwMode="auto">
            <a:xfrm>
              <a:off x="2575" y="3383"/>
              <a:ext cx="29" cy="55"/>
            </a:xfrm>
            <a:custGeom>
              <a:avLst/>
              <a:gdLst>
                <a:gd name="T0" fmla="*/ 29 w 29"/>
                <a:gd name="T1" fmla="*/ 30 h 55"/>
                <a:gd name="T2" fmla="*/ 29 w 29"/>
                <a:gd name="T3" fmla="*/ 55 h 55"/>
                <a:gd name="T4" fmla="*/ 0 w 29"/>
                <a:gd name="T5" fmla="*/ 27 h 55"/>
                <a:gd name="T6" fmla="*/ 0 w 29"/>
                <a:gd name="T7" fmla="*/ 0 h 55"/>
                <a:gd name="T8" fmla="*/ 29 w 29"/>
                <a:gd name="T9" fmla="*/ 30 h 55"/>
                <a:gd name="T10" fmla="*/ 0 60000 65536"/>
                <a:gd name="T11" fmla="*/ 0 60000 65536"/>
                <a:gd name="T12" fmla="*/ 0 60000 65536"/>
                <a:gd name="T13" fmla="*/ 0 60000 65536"/>
                <a:gd name="T14" fmla="*/ 0 60000 65536"/>
                <a:gd name="T15" fmla="*/ 0 w 29"/>
                <a:gd name="T16" fmla="*/ 0 h 55"/>
                <a:gd name="T17" fmla="*/ 29 w 29"/>
                <a:gd name="T18" fmla="*/ 55 h 55"/>
              </a:gdLst>
              <a:ahLst/>
              <a:cxnLst>
                <a:cxn ang="T10">
                  <a:pos x="T0" y="T1"/>
                </a:cxn>
                <a:cxn ang="T11">
                  <a:pos x="T2" y="T3"/>
                </a:cxn>
                <a:cxn ang="T12">
                  <a:pos x="T4" y="T5"/>
                </a:cxn>
                <a:cxn ang="T13">
                  <a:pos x="T6" y="T7"/>
                </a:cxn>
                <a:cxn ang="T14">
                  <a:pos x="T8" y="T9"/>
                </a:cxn>
              </a:cxnLst>
              <a:rect l="T15" t="T16" r="T17" b="T18"/>
              <a:pathLst>
                <a:path w="29" h="55">
                  <a:moveTo>
                    <a:pt x="29" y="30"/>
                  </a:moveTo>
                  <a:lnTo>
                    <a:pt x="29" y="55"/>
                  </a:lnTo>
                  <a:lnTo>
                    <a:pt x="0" y="27"/>
                  </a:lnTo>
                  <a:lnTo>
                    <a:pt x="0" y="0"/>
                  </a:lnTo>
                  <a:lnTo>
                    <a:pt x="29" y="3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98" name="Freeform 278"/>
            <p:cNvSpPr>
              <a:spLocks/>
            </p:cNvSpPr>
            <p:nvPr/>
          </p:nvSpPr>
          <p:spPr bwMode="auto">
            <a:xfrm>
              <a:off x="2676" y="3486"/>
              <a:ext cx="39" cy="71"/>
            </a:xfrm>
            <a:custGeom>
              <a:avLst/>
              <a:gdLst>
                <a:gd name="T0" fmla="*/ 39 w 39"/>
                <a:gd name="T1" fmla="*/ 43 h 71"/>
                <a:gd name="T2" fmla="*/ 39 w 39"/>
                <a:gd name="T3" fmla="*/ 71 h 71"/>
                <a:gd name="T4" fmla="*/ 0 w 39"/>
                <a:gd name="T5" fmla="*/ 30 h 71"/>
                <a:gd name="T6" fmla="*/ 0 w 39"/>
                <a:gd name="T7" fmla="*/ 0 h 71"/>
                <a:gd name="T8" fmla="*/ 39 w 39"/>
                <a:gd name="T9" fmla="*/ 43 h 71"/>
                <a:gd name="T10" fmla="*/ 0 60000 65536"/>
                <a:gd name="T11" fmla="*/ 0 60000 65536"/>
                <a:gd name="T12" fmla="*/ 0 60000 65536"/>
                <a:gd name="T13" fmla="*/ 0 60000 65536"/>
                <a:gd name="T14" fmla="*/ 0 60000 65536"/>
                <a:gd name="T15" fmla="*/ 0 w 39"/>
                <a:gd name="T16" fmla="*/ 0 h 71"/>
                <a:gd name="T17" fmla="*/ 39 w 39"/>
                <a:gd name="T18" fmla="*/ 71 h 71"/>
              </a:gdLst>
              <a:ahLst/>
              <a:cxnLst>
                <a:cxn ang="T10">
                  <a:pos x="T0" y="T1"/>
                </a:cxn>
                <a:cxn ang="T11">
                  <a:pos x="T2" y="T3"/>
                </a:cxn>
                <a:cxn ang="T12">
                  <a:pos x="T4" y="T5"/>
                </a:cxn>
                <a:cxn ang="T13">
                  <a:pos x="T6" y="T7"/>
                </a:cxn>
                <a:cxn ang="T14">
                  <a:pos x="T8" y="T9"/>
                </a:cxn>
              </a:cxnLst>
              <a:rect l="T15" t="T16" r="T17" b="T18"/>
              <a:pathLst>
                <a:path w="39" h="71">
                  <a:moveTo>
                    <a:pt x="39" y="43"/>
                  </a:moveTo>
                  <a:lnTo>
                    <a:pt x="39" y="71"/>
                  </a:lnTo>
                  <a:lnTo>
                    <a:pt x="0" y="30"/>
                  </a:lnTo>
                  <a:lnTo>
                    <a:pt x="0" y="0"/>
                  </a:lnTo>
                  <a:lnTo>
                    <a:pt x="39" y="4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699" name="Freeform 279"/>
            <p:cNvSpPr>
              <a:spLocks/>
            </p:cNvSpPr>
            <p:nvPr/>
          </p:nvSpPr>
          <p:spPr bwMode="auto">
            <a:xfrm>
              <a:off x="2642" y="3451"/>
              <a:ext cx="32" cy="64"/>
            </a:xfrm>
            <a:custGeom>
              <a:avLst/>
              <a:gdLst>
                <a:gd name="T0" fmla="*/ 32 w 32"/>
                <a:gd name="T1" fmla="*/ 34 h 64"/>
                <a:gd name="T2" fmla="*/ 32 w 32"/>
                <a:gd name="T3" fmla="*/ 64 h 64"/>
                <a:gd name="T4" fmla="*/ 0 w 32"/>
                <a:gd name="T5" fmla="*/ 29 h 64"/>
                <a:gd name="T6" fmla="*/ 0 w 32"/>
                <a:gd name="T7" fmla="*/ 0 h 64"/>
                <a:gd name="T8" fmla="*/ 32 w 32"/>
                <a:gd name="T9" fmla="*/ 34 h 64"/>
                <a:gd name="T10" fmla="*/ 0 60000 65536"/>
                <a:gd name="T11" fmla="*/ 0 60000 65536"/>
                <a:gd name="T12" fmla="*/ 0 60000 65536"/>
                <a:gd name="T13" fmla="*/ 0 60000 65536"/>
                <a:gd name="T14" fmla="*/ 0 60000 65536"/>
                <a:gd name="T15" fmla="*/ 0 w 32"/>
                <a:gd name="T16" fmla="*/ 0 h 64"/>
                <a:gd name="T17" fmla="*/ 32 w 32"/>
                <a:gd name="T18" fmla="*/ 64 h 64"/>
              </a:gdLst>
              <a:ahLst/>
              <a:cxnLst>
                <a:cxn ang="T10">
                  <a:pos x="T0" y="T1"/>
                </a:cxn>
                <a:cxn ang="T11">
                  <a:pos x="T2" y="T3"/>
                </a:cxn>
                <a:cxn ang="T12">
                  <a:pos x="T4" y="T5"/>
                </a:cxn>
                <a:cxn ang="T13">
                  <a:pos x="T6" y="T7"/>
                </a:cxn>
                <a:cxn ang="T14">
                  <a:pos x="T8" y="T9"/>
                </a:cxn>
              </a:cxnLst>
              <a:rect l="T15" t="T16" r="T17" b="T18"/>
              <a:pathLst>
                <a:path w="32" h="64">
                  <a:moveTo>
                    <a:pt x="32" y="34"/>
                  </a:moveTo>
                  <a:lnTo>
                    <a:pt x="32" y="64"/>
                  </a:lnTo>
                  <a:lnTo>
                    <a:pt x="0" y="29"/>
                  </a:lnTo>
                  <a:lnTo>
                    <a:pt x="0" y="0"/>
                  </a:lnTo>
                  <a:lnTo>
                    <a:pt x="32" y="3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00" name="Freeform 280"/>
            <p:cNvSpPr>
              <a:spLocks/>
            </p:cNvSpPr>
            <p:nvPr/>
          </p:nvSpPr>
          <p:spPr bwMode="auto">
            <a:xfrm>
              <a:off x="2606" y="3415"/>
              <a:ext cx="34" cy="62"/>
            </a:xfrm>
            <a:custGeom>
              <a:avLst/>
              <a:gdLst>
                <a:gd name="T0" fmla="*/ 34 w 34"/>
                <a:gd name="T1" fmla="*/ 34 h 62"/>
                <a:gd name="T2" fmla="*/ 34 w 34"/>
                <a:gd name="T3" fmla="*/ 62 h 62"/>
                <a:gd name="T4" fmla="*/ 0 w 34"/>
                <a:gd name="T5" fmla="*/ 26 h 62"/>
                <a:gd name="T6" fmla="*/ 0 w 34"/>
                <a:gd name="T7" fmla="*/ 0 h 62"/>
                <a:gd name="T8" fmla="*/ 34 w 34"/>
                <a:gd name="T9" fmla="*/ 34 h 62"/>
                <a:gd name="T10" fmla="*/ 0 60000 65536"/>
                <a:gd name="T11" fmla="*/ 0 60000 65536"/>
                <a:gd name="T12" fmla="*/ 0 60000 65536"/>
                <a:gd name="T13" fmla="*/ 0 60000 65536"/>
                <a:gd name="T14" fmla="*/ 0 60000 65536"/>
                <a:gd name="T15" fmla="*/ 0 w 34"/>
                <a:gd name="T16" fmla="*/ 0 h 62"/>
                <a:gd name="T17" fmla="*/ 34 w 34"/>
                <a:gd name="T18" fmla="*/ 62 h 62"/>
              </a:gdLst>
              <a:ahLst/>
              <a:cxnLst>
                <a:cxn ang="T10">
                  <a:pos x="T0" y="T1"/>
                </a:cxn>
                <a:cxn ang="T11">
                  <a:pos x="T2" y="T3"/>
                </a:cxn>
                <a:cxn ang="T12">
                  <a:pos x="T4" y="T5"/>
                </a:cxn>
                <a:cxn ang="T13">
                  <a:pos x="T6" y="T7"/>
                </a:cxn>
                <a:cxn ang="T14">
                  <a:pos x="T8" y="T9"/>
                </a:cxn>
              </a:cxnLst>
              <a:rect l="T15" t="T16" r="T17" b="T18"/>
              <a:pathLst>
                <a:path w="34" h="62">
                  <a:moveTo>
                    <a:pt x="34" y="34"/>
                  </a:moveTo>
                  <a:lnTo>
                    <a:pt x="34" y="62"/>
                  </a:lnTo>
                  <a:lnTo>
                    <a:pt x="0" y="26"/>
                  </a:lnTo>
                  <a:lnTo>
                    <a:pt x="0" y="0"/>
                  </a:lnTo>
                  <a:lnTo>
                    <a:pt x="34" y="3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01" name="Freeform 281"/>
            <p:cNvSpPr>
              <a:spLocks/>
            </p:cNvSpPr>
            <p:nvPr/>
          </p:nvSpPr>
          <p:spPr bwMode="auto">
            <a:xfrm>
              <a:off x="2575" y="2999"/>
              <a:ext cx="30" cy="44"/>
            </a:xfrm>
            <a:custGeom>
              <a:avLst/>
              <a:gdLst>
                <a:gd name="T0" fmla="*/ 30 w 30"/>
                <a:gd name="T1" fmla="*/ 17 h 44"/>
                <a:gd name="T2" fmla="*/ 30 w 30"/>
                <a:gd name="T3" fmla="*/ 44 h 44"/>
                <a:gd name="T4" fmla="*/ 0 w 30"/>
                <a:gd name="T5" fmla="*/ 27 h 44"/>
                <a:gd name="T6" fmla="*/ 0 w 30"/>
                <a:gd name="T7" fmla="*/ 0 h 44"/>
                <a:gd name="T8" fmla="*/ 30 w 30"/>
                <a:gd name="T9" fmla="*/ 17 h 44"/>
                <a:gd name="T10" fmla="*/ 0 60000 65536"/>
                <a:gd name="T11" fmla="*/ 0 60000 65536"/>
                <a:gd name="T12" fmla="*/ 0 60000 65536"/>
                <a:gd name="T13" fmla="*/ 0 60000 65536"/>
                <a:gd name="T14" fmla="*/ 0 60000 65536"/>
                <a:gd name="T15" fmla="*/ 0 w 30"/>
                <a:gd name="T16" fmla="*/ 0 h 44"/>
                <a:gd name="T17" fmla="*/ 30 w 30"/>
                <a:gd name="T18" fmla="*/ 44 h 44"/>
              </a:gdLst>
              <a:ahLst/>
              <a:cxnLst>
                <a:cxn ang="T10">
                  <a:pos x="T0" y="T1"/>
                </a:cxn>
                <a:cxn ang="T11">
                  <a:pos x="T2" y="T3"/>
                </a:cxn>
                <a:cxn ang="T12">
                  <a:pos x="T4" y="T5"/>
                </a:cxn>
                <a:cxn ang="T13">
                  <a:pos x="T6" y="T7"/>
                </a:cxn>
                <a:cxn ang="T14">
                  <a:pos x="T8" y="T9"/>
                </a:cxn>
              </a:cxnLst>
              <a:rect l="T15" t="T16" r="T17" b="T18"/>
              <a:pathLst>
                <a:path w="30" h="44">
                  <a:moveTo>
                    <a:pt x="30" y="17"/>
                  </a:moveTo>
                  <a:lnTo>
                    <a:pt x="30" y="44"/>
                  </a:lnTo>
                  <a:lnTo>
                    <a:pt x="0" y="27"/>
                  </a:lnTo>
                  <a:lnTo>
                    <a:pt x="0" y="0"/>
                  </a:lnTo>
                  <a:lnTo>
                    <a:pt x="30" y="1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02" name="Freeform 282"/>
            <p:cNvSpPr>
              <a:spLocks/>
            </p:cNvSpPr>
            <p:nvPr/>
          </p:nvSpPr>
          <p:spPr bwMode="auto">
            <a:xfrm>
              <a:off x="2643" y="3037"/>
              <a:ext cx="33" cy="50"/>
            </a:xfrm>
            <a:custGeom>
              <a:avLst/>
              <a:gdLst>
                <a:gd name="T0" fmla="*/ 33 w 33"/>
                <a:gd name="T1" fmla="*/ 19 h 50"/>
                <a:gd name="T2" fmla="*/ 33 w 33"/>
                <a:gd name="T3" fmla="*/ 50 h 50"/>
                <a:gd name="T4" fmla="*/ 0 w 33"/>
                <a:gd name="T5" fmla="*/ 30 h 50"/>
                <a:gd name="T6" fmla="*/ 0 w 33"/>
                <a:gd name="T7" fmla="*/ 0 h 50"/>
                <a:gd name="T8" fmla="*/ 33 w 33"/>
                <a:gd name="T9" fmla="*/ 19 h 50"/>
                <a:gd name="T10" fmla="*/ 0 60000 65536"/>
                <a:gd name="T11" fmla="*/ 0 60000 65536"/>
                <a:gd name="T12" fmla="*/ 0 60000 65536"/>
                <a:gd name="T13" fmla="*/ 0 60000 65536"/>
                <a:gd name="T14" fmla="*/ 0 60000 65536"/>
                <a:gd name="T15" fmla="*/ 0 w 33"/>
                <a:gd name="T16" fmla="*/ 0 h 50"/>
                <a:gd name="T17" fmla="*/ 33 w 33"/>
                <a:gd name="T18" fmla="*/ 50 h 50"/>
              </a:gdLst>
              <a:ahLst/>
              <a:cxnLst>
                <a:cxn ang="T10">
                  <a:pos x="T0" y="T1"/>
                </a:cxn>
                <a:cxn ang="T11">
                  <a:pos x="T2" y="T3"/>
                </a:cxn>
                <a:cxn ang="T12">
                  <a:pos x="T4" y="T5"/>
                </a:cxn>
                <a:cxn ang="T13">
                  <a:pos x="T6" y="T7"/>
                </a:cxn>
                <a:cxn ang="T14">
                  <a:pos x="T8" y="T9"/>
                </a:cxn>
              </a:cxnLst>
              <a:rect l="T15" t="T16" r="T17" b="T18"/>
              <a:pathLst>
                <a:path w="33" h="50">
                  <a:moveTo>
                    <a:pt x="33" y="19"/>
                  </a:moveTo>
                  <a:lnTo>
                    <a:pt x="33" y="50"/>
                  </a:lnTo>
                  <a:lnTo>
                    <a:pt x="0" y="30"/>
                  </a:lnTo>
                  <a:lnTo>
                    <a:pt x="0" y="0"/>
                  </a:lnTo>
                  <a:lnTo>
                    <a:pt x="33" y="1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03" name="Freeform 283"/>
            <p:cNvSpPr>
              <a:spLocks/>
            </p:cNvSpPr>
            <p:nvPr/>
          </p:nvSpPr>
          <p:spPr bwMode="auto">
            <a:xfrm>
              <a:off x="2607" y="3016"/>
              <a:ext cx="34" cy="49"/>
            </a:xfrm>
            <a:custGeom>
              <a:avLst/>
              <a:gdLst>
                <a:gd name="T0" fmla="*/ 34 w 34"/>
                <a:gd name="T1" fmla="*/ 21 h 49"/>
                <a:gd name="T2" fmla="*/ 34 w 34"/>
                <a:gd name="T3" fmla="*/ 49 h 49"/>
                <a:gd name="T4" fmla="*/ 0 w 34"/>
                <a:gd name="T5" fmla="*/ 28 h 49"/>
                <a:gd name="T6" fmla="*/ 0 w 34"/>
                <a:gd name="T7" fmla="*/ 0 h 49"/>
                <a:gd name="T8" fmla="*/ 34 w 34"/>
                <a:gd name="T9" fmla="*/ 21 h 49"/>
                <a:gd name="T10" fmla="*/ 0 60000 65536"/>
                <a:gd name="T11" fmla="*/ 0 60000 65536"/>
                <a:gd name="T12" fmla="*/ 0 60000 65536"/>
                <a:gd name="T13" fmla="*/ 0 60000 65536"/>
                <a:gd name="T14" fmla="*/ 0 60000 65536"/>
                <a:gd name="T15" fmla="*/ 0 w 34"/>
                <a:gd name="T16" fmla="*/ 0 h 49"/>
                <a:gd name="T17" fmla="*/ 34 w 34"/>
                <a:gd name="T18" fmla="*/ 49 h 49"/>
              </a:gdLst>
              <a:ahLst/>
              <a:cxnLst>
                <a:cxn ang="T10">
                  <a:pos x="T0" y="T1"/>
                </a:cxn>
                <a:cxn ang="T11">
                  <a:pos x="T2" y="T3"/>
                </a:cxn>
                <a:cxn ang="T12">
                  <a:pos x="T4" y="T5"/>
                </a:cxn>
                <a:cxn ang="T13">
                  <a:pos x="T6" y="T7"/>
                </a:cxn>
                <a:cxn ang="T14">
                  <a:pos x="T8" y="T9"/>
                </a:cxn>
              </a:cxnLst>
              <a:rect l="T15" t="T16" r="T17" b="T18"/>
              <a:pathLst>
                <a:path w="34" h="49">
                  <a:moveTo>
                    <a:pt x="34" y="21"/>
                  </a:moveTo>
                  <a:lnTo>
                    <a:pt x="34" y="49"/>
                  </a:lnTo>
                  <a:lnTo>
                    <a:pt x="0" y="28"/>
                  </a:lnTo>
                  <a:lnTo>
                    <a:pt x="0" y="0"/>
                  </a:lnTo>
                  <a:lnTo>
                    <a:pt x="34" y="2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04" name="Freeform 284"/>
            <p:cNvSpPr>
              <a:spLocks/>
            </p:cNvSpPr>
            <p:nvPr/>
          </p:nvSpPr>
          <p:spPr bwMode="auto">
            <a:xfrm>
              <a:off x="2575" y="3062"/>
              <a:ext cx="30" cy="48"/>
            </a:xfrm>
            <a:custGeom>
              <a:avLst/>
              <a:gdLst>
                <a:gd name="T0" fmla="*/ 30 w 30"/>
                <a:gd name="T1" fmla="*/ 21 h 48"/>
                <a:gd name="T2" fmla="*/ 30 w 30"/>
                <a:gd name="T3" fmla="*/ 48 h 48"/>
                <a:gd name="T4" fmla="*/ 0 w 30"/>
                <a:gd name="T5" fmla="*/ 27 h 48"/>
                <a:gd name="T6" fmla="*/ 0 w 30"/>
                <a:gd name="T7" fmla="*/ 0 h 48"/>
                <a:gd name="T8" fmla="*/ 30 w 30"/>
                <a:gd name="T9" fmla="*/ 21 h 48"/>
                <a:gd name="T10" fmla="*/ 0 60000 65536"/>
                <a:gd name="T11" fmla="*/ 0 60000 65536"/>
                <a:gd name="T12" fmla="*/ 0 60000 65536"/>
                <a:gd name="T13" fmla="*/ 0 60000 65536"/>
                <a:gd name="T14" fmla="*/ 0 60000 65536"/>
                <a:gd name="T15" fmla="*/ 0 w 30"/>
                <a:gd name="T16" fmla="*/ 0 h 48"/>
                <a:gd name="T17" fmla="*/ 30 w 30"/>
                <a:gd name="T18" fmla="*/ 48 h 48"/>
              </a:gdLst>
              <a:ahLst/>
              <a:cxnLst>
                <a:cxn ang="T10">
                  <a:pos x="T0" y="T1"/>
                </a:cxn>
                <a:cxn ang="T11">
                  <a:pos x="T2" y="T3"/>
                </a:cxn>
                <a:cxn ang="T12">
                  <a:pos x="T4" y="T5"/>
                </a:cxn>
                <a:cxn ang="T13">
                  <a:pos x="T6" y="T7"/>
                </a:cxn>
                <a:cxn ang="T14">
                  <a:pos x="T8" y="T9"/>
                </a:cxn>
              </a:cxnLst>
              <a:rect l="T15" t="T16" r="T17" b="T18"/>
              <a:pathLst>
                <a:path w="30" h="48">
                  <a:moveTo>
                    <a:pt x="30" y="21"/>
                  </a:moveTo>
                  <a:lnTo>
                    <a:pt x="30" y="48"/>
                  </a:lnTo>
                  <a:lnTo>
                    <a:pt x="0" y="27"/>
                  </a:lnTo>
                  <a:lnTo>
                    <a:pt x="0" y="0"/>
                  </a:lnTo>
                  <a:lnTo>
                    <a:pt x="30" y="2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05" name="Freeform 285"/>
            <p:cNvSpPr>
              <a:spLocks/>
            </p:cNvSpPr>
            <p:nvPr/>
          </p:nvSpPr>
          <p:spPr bwMode="auto">
            <a:xfrm>
              <a:off x="2677" y="3130"/>
              <a:ext cx="39" cy="56"/>
            </a:xfrm>
            <a:custGeom>
              <a:avLst/>
              <a:gdLst>
                <a:gd name="T0" fmla="*/ 39 w 39"/>
                <a:gd name="T1" fmla="*/ 25 h 56"/>
                <a:gd name="T2" fmla="*/ 39 w 39"/>
                <a:gd name="T3" fmla="*/ 56 h 56"/>
                <a:gd name="T4" fmla="*/ 0 w 39"/>
                <a:gd name="T5" fmla="*/ 30 h 56"/>
                <a:gd name="T6" fmla="*/ 0 w 39"/>
                <a:gd name="T7" fmla="*/ 0 h 56"/>
                <a:gd name="T8" fmla="*/ 39 w 39"/>
                <a:gd name="T9" fmla="*/ 25 h 56"/>
                <a:gd name="T10" fmla="*/ 0 60000 65536"/>
                <a:gd name="T11" fmla="*/ 0 60000 65536"/>
                <a:gd name="T12" fmla="*/ 0 60000 65536"/>
                <a:gd name="T13" fmla="*/ 0 60000 65536"/>
                <a:gd name="T14" fmla="*/ 0 60000 65536"/>
                <a:gd name="T15" fmla="*/ 0 w 39"/>
                <a:gd name="T16" fmla="*/ 0 h 56"/>
                <a:gd name="T17" fmla="*/ 39 w 39"/>
                <a:gd name="T18" fmla="*/ 56 h 56"/>
              </a:gdLst>
              <a:ahLst/>
              <a:cxnLst>
                <a:cxn ang="T10">
                  <a:pos x="T0" y="T1"/>
                </a:cxn>
                <a:cxn ang="T11">
                  <a:pos x="T2" y="T3"/>
                </a:cxn>
                <a:cxn ang="T12">
                  <a:pos x="T4" y="T5"/>
                </a:cxn>
                <a:cxn ang="T13">
                  <a:pos x="T6" y="T7"/>
                </a:cxn>
                <a:cxn ang="T14">
                  <a:pos x="T8" y="T9"/>
                </a:cxn>
              </a:cxnLst>
              <a:rect l="T15" t="T16" r="T17" b="T18"/>
              <a:pathLst>
                <a:path w="39" h="56">
                  <a:moveTo>
                    <a:pt x="39" y="25"/>
                  </a:moveTo>
                  <a:lnTo>
                    <a:pt x="39" y="56"/>
                  </a:lnTo>
                  <a:lnTo>
                    <a:pt x="0" y="30"/>
                  </a:lnTo>
                  <a:lnTo>
                    <a:pt x="0" y="0"/>
                  </a:lnTo>
                  <a:lnTo>
                    <a:pt x="39" y="2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06" name="Freeform 286"/>
            <p:cNvSpPr>
              <a:spLocks/>
            </p:cNvSpPr>
            <p:nvPr/>
          </p:nvSpPr>
          <p:spPr bwMode="auto">
            <a:xfrm>
              <a:off x="2643" y="3108"/>
              <a:ext cx="33" cy="51"/>
            </a:xfrm>
            <a:custGeom>
              <a:avLst/>
              <a:gdLst>
                <a:gd name="T0" fmla="*/ 33 w 33"/>
                <a:gd name="T1" fmla="*/ 21 h 51"/>
                <a:gd name="T2" fmla="*/ 33 w 33"/>
                <a:gd name="T3" fmla="*/ 51 h 51"/>
                <a:gd name="T4" fmla="*/ 0 w 33"/>
                <a:gd name="T5" fmla="*/ 29 h 51"/>
                <a:gd name="T6" fmla="*/ 0 w 33"/>
                <a:gd name="T7" fmla="*/ 0 h 51"/>
                <a:gd name="T8" fmla="*/ 33 w 33"/>
                <a:gd name="T9" fmla="*/ 21 h 51"/>
                <a:gd name="T10" fmla="*/ 0 60000 65536"/>
                <a:gd name="T11" fmla="*/ 0 60000 65536"/>
                <a:gd name="T12" fmla="*/ 0 60000 65536"/>
                <a:gd name="T13" fmla="*/ 0 60000 65536"/>
                <a:gd name="T14" fmla="*/ 0 60000 65536"/>
                <a:gd name="T15" fmla="*/ 0 w 33"/>
                <a:gd name="T16" fmla="*/ 0 h 51"/>
                <a:gd name="T17" fmla="*/ 33 w 33"/>
                <a:gd name="T18" fmla="*/ 51 h 51"/>
              </a:gdLst>
              <a:ahLst/>
              <a:cxnLst>
                <a:cxn ang="T10">
                  <a:pos x="T0" y="T1"/>
                </a:cxn>
                <a:cxn ang="T11">
                  <a:pos x="T2" y="T3"/>
                </a:cxn>
                <a:cxn ang="T12">
                  <a:pos x="T4" y="T5"/>
                </a:cxn>
                <a:cxn ang="T13">
                  <a:pos x="T6" y="T7"/>
                </a:cxn>
                <a:cxn ang="T14">
                  <a:pos x="T8" y="T9"/>
                </a:cxn>
              </a:cxnLst>
              <a:rect l="T15" t="T16" r="T17" b="T18"/>
              <a:pathLst>
                <a:path w="33" h="51">
                  <a:moveTo>
                    <a:pt x="33" y="21"/>
                  </a:moveTo>
                  <a:lnTo>
                    <a:pt x="33" y="51"/>
                  </a:lnTo>
                  <a:lnTo>
                    <a:pt x="0" y="29"/>
                  </a:lnTo>
                  <a:lnTo>
                    <a:pt x="0" y="0"/>
                  </a:lnTo>
                  <a:lnTo>
                    <a:pt x="33" y="2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07" name="Freeform 287"/>
            <p:cNvSpPr>
              <a:spLocks/>
            </p:cNvSpPr>
            <p:nvPr/>
          </p:nvSpPr>
          <p:spPr bwMode="auto">
            <a:xfrm>
              <a:off x="2607" y="3084"/>
              <a:ext cx="34" cy="50"/>
            </a:xfrm>
            <a:custGeom>
              <a:avLst/>
              <a:gdLst>
                <a:gd name="T0" fmla="*/ 34 w 34"/>
                <a:gd name="T1" fmla="*/ 22 h 50"/>
                <a:gd name="T2" fmla="*/ 34 w 34"/>
                <a:gd name="T3" fmla="*/ 50 h 50"/>
                <a:gd name="T4" fmla="*/ 0 w 34"/>
                <a:gd name="T5" fmla="*/ 27 h 50"/>
                <a:gd name="T6" fmla="*/ 0 w 34"/>
                <a:gd name="T7" fmla="*/ 0 h 50"/>
                <a:gd name="T8" fmla="*/ 34 w 34"/>
                <a:gd name="T9" fmla="*/ 22 h 50"/>
                <a:gd name="T10" fmla="*/ 0 60000 65536"/>
                <a:gd name="T11" fmla="*/ 0 60000 65536"/>
                <a:gd name="T12" fmla="*/ 0 60000 65536"/>
                <a:gd name="T13" fmla="*/ 0 60000 65536"/>
                <a:gd name="T14" fmla="*/ 0 60000 65536"/>
                <a:gd name="T15" fmla="*/ 0 w 34"/>
                <a:gd name="T16" fmla="*/ 0 h 50"/>
                <a:gd name="T17" fmla="*/ 34 w 34"/>
                <a:gd name="T18" fmla="*/ 50 h 50"/>
              </a:gdLst>
              <a:ahLst/>
              <a:cxnLst>
                <a:cxn ang="T10">
                  <a:pos x="T0" y="T1"/>
                </a:cxn>
                <a:cxn ang="T11">
                  <a:pos x="T2" y="T3"/>
                </a:cxn>
                <a:cxn ang="T12">
                  <a:pos x="T4" y="T5"/>
                </a:cxn>
                <a:cxn ang="T13">
                  <a:pos x="T6" y="T7"/>
                </a:cxn>
                <a:cxn ang="T14">
                  <a:pos x="T8" y="T9"/>
                </a:cxn>
              </a:cxnLst>
              <a:rect l="T15" t="T16" r="T17" b="T18"/>
              <a:pathLst>
                <a:path w="34" h="50">
                  <a:moveTo>
                    <a:pt x="34" y="22"/>
                  </a:moveTo>
                  <a:lnTo>
                    <a:pt x="34" y="50"/>
                  </a:lnTo>
                  <a:lnTo>
                    <a:pt x="0" y="27"/>
                  </a:lnTo>
                  <a:lnTo>
                    <a:pt x="0" y="0"/>
                  </a:lnTo>
                  <a:lnTo>
                    <a:pt x="34" y="2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08" name="Freeform 288"/>
            <p:cNvSpPr>
              <a:spLocks/>
            </p:cNvSpPr>
            <p:nvPr/>
          </p:nvSpPr>
          <p:spPr bwMode="auto">
            <a:xfrm>
              <a:off x="2575" y="3126"/>
              <a:ext cx="30" cy="49"/>
            </a:xfrm>
            <a:custGeom>
              <a:avLst/>
              <a:gdLst>
                <a:gd name="T0" fmla="*/ 30 w 30"/>
                <a:gd name="T1" fmla="*/ 24 h 49"/>
                <a:gd name="T2" fmla="*/ 30 w 30"/>
                <a:gd name="T3" fmla="*/ 49 h 49"/>
                <a:gd name="T4" fmla="*/ 0 w 30"/>
                <a:gd name="T5" fmla="*/ 27 h 49"/>
                <a:gd name="T6" fmla="*/ 0 w 30"/>
                <a:gd name="T7" fmla="*/ 0 h 49"/>
                <a:gd name="T8" fmla="*/ 30 w 30"/>
                <a:gd name="T9" fmla="*/ 24 h 49"/>
                <a:gd name="T10" fmla="*/ 0 60000 65536"/>
                <a:gd name="T11" fmla="*/ 0 60000 65536"/>
                <a:gd name="T12" fmla="*/ 0 60000 65536"/>
                <a:gd name="T13" fmla="*/ 0 60000 65536"/>
                <a:gd name="T14" fmla="*/ 0 60000 65536"/>
                <a:gd name="T15" fmla="*/ 0 w 30"/>
                <a:gd name="T16" fmla="*/ 0 h 49"/>
                <a:gd name="T17" fmla="*/ 30 w 30"/>
                <a:gd name="T18" fmla="*/ 49 h 49"/>
              </a:gdLst>
              <a:ahLst/>
              <a:cxnLst>
                <a:cxn ang="T10">
                  <a:pos x="T0" y="T1"/>
                </a:cxn>
                <a:cxn ang="T11">
                  <a:pos x="T2" y="T3"/>
                </a:cxn>
                <a:cxn ang="T12">
                  <a:pos x="T4" y="T5"/>
                </a:cxn>
                <a:cxn ang="T13">
                  <a:pos x="T6" y="T7"/>
                </a:cxn>
                <a:cxn ang="T14">
                  <a:pos x="T8" y="T9"/>
                </a:cxn>
              </a:cxnLst>
              <a:rect l="T15" t="T16" r="T17" b="T18"/>
              <a:pathLst>
                <a:path w="30" h="49">
                  <a:moveTo>
                    <a:pt x="30" y="24"/>
                  </a:moveTo>
                  <a:lnTo>
                    <a:pt x="30" y="49"/>
                  </a:lnTo>
                  <a:lnTo>
                    <a:pt x="0" y="27"/>
                  </a:lnTo>
                  <a:lnTo>
                    <a:pt x="0" y="0"/>
                  </a:lnTo>
                  <a:lnTo>
                    <a:pt x="30" y="2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09" name="Freeform 289"/>
            <p:cNvSpPr>
              <a:spLocks/>
            </p:cNvSpPr>
            <p:nvPr/>
          </p:nvSpPr>
          <p:spPr bwMode="auto">
            <a:xfrm>
              <a:off x="2643" y="3176"/>
              <a:ext cx="33" cy="54"/>
            </a:xfrm>
            <a:custGeom>
              <a:avLst/>
              <a:gdLst>
                <a:gd name="T0" fmla="*/ 33 w 33"/>
                <a:gd name="T1" fmla="*/ 24 h 54"/>
                <a:gd name="T2" fmla="*/ 33 w 33"/>
                <a:gd name="T3" fmla="*/ 54 h 54"/>
                <a:gd name="T4" fmla="*/ 0 w 33"/>
                <a:gd name="T5" fmla="*/ 30 h 54"/>
                <a:gd name="T6" fmla="*/ 0 w 33"/>
                <a:gd name="T7" fmla="*/ 0 h 54"/>
                <a:gd name="T8" fmla="*/ 33 w 33"/>
                <a:gd name="T9" fmla="*/ 24 h 54"/>
                <a:gd name="T10" fmla="*/ 0 60000 65536"/>
                <a:gd name="T11" fmla="*/ 0 60000 65536"/>
                <a:gd name="T12" fmla="*/ 0 60000 65536"/>
                <a:gd name="T13" fmla="*/ 0 60000 65536"/>
                <a:gd name="T14" fmla="*/ 0 60000 65536"/>
                <a:gd name="T15" fmla="*/ 0 w 33"/>
                <a:gd name="T16" fmla="*/ 0 h 54"/>
                <a:gd name="T17" fmla="*/ 33 w 33"/>
                <a:gd name="T18" fmla="*/ 54 h 54"/>
              </a:gdLst>
              <a:ahLst/>
              <a:cxnLst>
                <a:cxn ang="T10">
                  <a:pos x="T0" y="T1"/>
                </a:cxn>
                <a:cxn ang="T11">
                  <a:pos x="T2" y="T3"/>
                </a:cxn>
                <a:cxn ang="T12">
                  <a:pos x="T4" y="T5"/>
                </a:cxn>
                <a:cxn ang="T13">
                  <a:pos x="T6" y="T7"/>
                </a:cxn>
                <a:cxn ang="T14">
                  <a:pos x="T8" y="T9"/>
                </a:cxn>
              </a:cxnLst>
              <a:rect l="T15" t="T16" r="T17" b="T18"/>
              <a:pathLst>
                <a:path w="33" h="54">
                  <a:moveTo>
                    <a:pt x="33" y="24"/>
                  </a:moveTo>
                  <a:lnTo>
                    <a:pt x="33" y="54"/>
                  </a:lnTo>
                  <a:lnTo>
                    <a:pt x="0" y="30"/>
                  </a:lnTo>
                  <a:lnTo>
                    <a:pt x="0" y="0"/>
                  </a:lnTo>
                  <a:lnTo>
                    <a:pt x="33" y="2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10" name="Freeform 290"/>
            <p:cNvSpPr>
              <a:spLocks/>
            </p:cNvSpPr>
            <p:nvPr/>
          </p:nvSpPr>
          <p:spPr bwMode="auto">
            <a:xfrm>
              <a:off x="2607" y="3150"/>
              <a:ext cx="34" cy="53"/>
            </a:xfrm>
            <a:custGeom>
              <a:avLst/>
              <a:gdLst>
                <a:gd name="T0" fmla="*/ 34 w 34"/>
                <a:gd name="T1" fmla="*/ 25 h 53"/>
                <a:gd name="T2" fmla="*/ 34 w 34"/>
                <a:gd name="T3" fmla="*/ 53 h 53"/>
                <a:gd name="T4" fmla="*/ 0 w 34"/>
                <a:gd name="T5" fmla="*/ 28 h 53"/>
                <a:gd name="T6" fmla="*/ 0 w 34"/>
                <a:gd name="T7" fmla="*/ 0 h 53"/>
                <a:gd name="T8" fmla="*/ 34 w 34"/>
                <a:gd name="T9" fmla="*/ 25 h 53"/>
                <a:gd name="T10" fmla="*/ 0 60000 65536"/>
                <a:gd name="T11" fmla="*/ 0 60000 65536"/>
                <a:gd name="T12" fmla="*/ 0 60000 65536"/>
                <a:gd name="T13" fmla="*/ 0 60000 65536"/>
                <a:gd name="T14" fmla="*/ 0 60000 65536"/>
                <a:gd name="T15" fmla="*/ 0 w 34"/>
                <a:gd name="T16" fmla="*/ 0 h 53"/>
                <a:gd name="T17" fmla="*/ 34 w 34"/>
                <a:gd name="T18" fmla="*/ 53 h 53"/>
              </a:gdLst>
              <a:ahLst/>
              <a:cxnLst>
                <a:cxn ang="T10">
                  <a:pos x="T0" y="T1"/>
                </a:cxn>
                <a:cxn ang="T11">
                  <a:pos x="T2" y="T3"/>
                </a:cxn>
                <a:cxn ang="T12">
                  <a:pos x="T4" y="T5"/>
                </a:cxn>
                <a:cxn ang="T13">
                  <a:pos x="T6" y="T7"/>
                </a:cxn>
                <a:cxn ang="T14">
                  <a:pos x="T8" y="T9"/>
                </a:cxn>
              </a:cxnLst>
              <a:rect l="T15" t="T16" r="T17" b="T18"/>
              <a:pathLst>
                <a:path w="34" h="53">
                  <a:moveTo>
                    <a:pt x="34" y="25"/>
                  </a:moveTo>
                  <a:lnTo>
                    <a:pt x="34" y="53"/>
                  </a:lnTo>
                  <a:lnTo>
                    <a:pt x="0" y="28"/>
                  </a:lnTo>
                  <a:lnTo>
                    <a:pt x="0" y="0"/>
                  </a:lnTo>
                  <a:lnTo>
                    <a:pt x="34" y="2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11" name="Freeform 291"/>
            <p:cNvSpPr>
              <a:spLocks/>
            </p:cNvSpPr>
            <p:nvPr/>
          </p:nvSpPr>
          <p:spPr bwMode="auto">
            <a:xfrm>
              <a:off x="2575" y="3191"/>
              <a:ext cx="29" cy="50"/>
            </a:xfrm>
            <a:custGeom>
              <a:avLst/>
              <a:gdLst>
                <a:gd name="T0" fmla="*/ 29 w 29"/>
                <a:gd name="T1" fmla="*/ 23 h 50"/>
                <a:gd name="T2" fmla="*/ 29 w 29"/>
                <a:gd name="T3" fmla="*/ 50 h 50"/>
                <a:gd name="T4" fmla="*/ 0 w 29"/>
                <a:gd name="T5" fmla="*/ 26 h 50"/>
                <a:gd name="T6" fmla="*/ 0 w 29"/>
                <a:gd name="T7" fmla="*/ 0 h 50"/>
                <a:gd name="T8" fmla="*/ 29 w 29"/>
                <a:gd name="T9" fmla="*/ 23 h 50"/>
                <a:gd name="T10" fmla="*/ 0 60000 65536"/>
                <a:gd name="T11" fmla="*/ 0 60000 65536"/>
                <a:gd name="T12" fmla="*/ 0 60000 65536"/>
                <a:gd name="T13" fmla="*/ 0 60000 65536"/>
                <a:gd name="T14" fmla="*/ 0 60000 65536"/>
                <a:gd name="T15" fmla="*/ 0 w 29"/>
                <a:gd name="T16" fmla="*/ 0 h 50"/>
                <a:gd name="T17" fmla="*/ 29 w 29"/>
                <a:gd name="T18" fmla="*/ 50 h 50"/>
              </a:gdLst>
              <a:ahLst/>
              <a:cxnLst>
                <a:cxn ang="T10">
                  <a:pos x="T0" y="T1"/>
                </a:cxn>
                <a:cxn ang="T11">
                  <a:pos x="T2" y="T3"/>
                </a:cxn>
                <a:cxn ang="T12">
                  <a:pos x="T4" y="T5"/>
                </a:cxn>
                <a:cxn ang="T13">
                  <a:pos x="T6" y="T7"/>
                </a:cxn>
                <a:cxn ang="T14">
                  <a:pos x="T8" y="T9"/>
                </a:cxn>
              </a:cxnLst>
              <a:rect l="T15" t="T16" r="T17" b="T18"/>
              <a:pathLst>
                <a:path w="29" h="50">
                  <a:moveTo>
                    <a:pt x="29" y="23"/>
                  </a:moveTo>
                  <a:lnTo>
                    <a:pt x="29" y="50"/>
                  </a:lnTo>
                  <a:lnTo>
                    <a:pt x="0" y="26"/>
                  </a:lnTo>
                  <a:lnTo>
                    <a:pt x="0" y="0"/>
                  </a:lnTo>
                  <a:lnTo>
                    <a:pt x="29" y="2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12" name="Freeform 292"/>
            <p:cNvSpPr>
              <a:spLocks/>
            </p:cNvSpPr>
            <p:nvPr/>
          </p:nvSpPr>
          <p:spPr bwMode="auto">
            <a:xfrm>
              <a:off x="2676" y="3271"/>
              <a:ext cx="40" cy="63"/>
            </a:xfrm>
            <a:custGeom>
              <a:avLst/>
              <a:gdLst>
                <a:gd name="T0" fmla="*/ 40 w 40"/>
                <a:gd name="T1" fmla="*/ 33 h 63"/>
                <a:gd name="T2" fmla="*/ 40 w 40"/>
                <a:gd name="T3" fmla="*/ 63 h 63"/>
                <a:gd name="T4" fmla="*/ 0 w 40"/>
                <a:gd name="T5" fmla="*/ 32 h 63"/>
                <a:gd name="T6" fmla="*/ 0 w 40"/>
                <a:gd name="T7" fmla="*/ 0 h 63"/>
                <a:gd name="T8" fmla="*/ 40 w 40"/>
                <a:gd name="T9" fmla="*/ 33 h 63"/>
                <a:gd name="T10" fmla="*/ 0 60000 65536"/>
                <a:gd name="T11" fmla="*/ 0 60000 65536"/>
                <a:gd name="T12" fmla="*/ 0 60000 65536"/>
                <a:gd name="T13" fmla="*/ 0 60000 65536"/>
                <a:gd name="T14" fmla="*/ 0 60000 65536"/>
                <a:gd name="T15" fmla="*/ 0 w 40"/>
                <a:gd name="T16" fmla="*/ 0 h 63"/>
                <a:gd name="T17" fmla="*/ 40 w 40"/>
                <a:gd name="T18" fmla="*/ 63 h 63"/>
              </a:gdLst>
              <a:ahLst/>
              <a:cxnLst>
                <a:cxn ang="T10">
                  <a:pos x="T0" y="T1"/>
                </a:cxn>
                <a:cxn ang="T11">
                  <a:pos x="T2" y="T3"/>
                </a:cxn>
                <a:cxn ang="T12">
                  <a:pos x="T4" y="T5"/>
                </a:cxn>
                <a:cxn ang="T13">
                  <a:pos x="T6" y="T7"/>
                </a:cxn>
                <a:cxn ang="T14">
                  <a:pos x="T8" y="T9"/>
                </a:cxn>
              </a:cxnLst>
              <a:rect l="T15" t="T16" r="T17" b="T18"/>
              <a:pathLst>
                <a:path w="40" h="63">
                  <a:moveTo>
                    <a:pt x="40" y="33"/>
                  </a:moveTo>
                  <a:lnTo>
                    <a:pt x="40" y="63"/>
                  </a:lnTo>
                  <a:lnTo>
                    <a:pt x="0" y="32"/>
                  </a:lnTo>
                  <a:lnTo>
                    <a:pt x="0" y="0"/>
                  </a:lnTo>
                  <a:lnTo>
                    <a:pt x="40" y="33"/>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13" name="Freeform 293"/>
            <p:cNvSpPr>
              <a:spLocks/>
            </p:cNvSpPr>
            <p:nvPr/>
          </p:nvSpPr>
          <p:spPr bwMode="auto">
            <a:xfrm>
              <a:off x="2642" y="3244"/>
              <a:ext cx="32" cy="58"/>
            </a:xfrm>
            <a:custGeom>
              <a:avLst/>
              <a:gdLst>
                <a:gd name="T0" fmla="*/ 32 w 32"/>
                <a:gd name="T1" fmla="*/ 26 h 58"/>
                <a:gd name="T2" fmla="*/ 32 w 32"/>
                <a:gd name="T3" fmla="*/ 58 h 58"/>
                <a:gd name="T4" fmla="*/ 0 w 32"/>
                <a:gd name="T5" fmla="*/ 29 h 58"/>
                <a:gd name="T6" fmla="*/ 0 w 32"/>
                <a:gd name="T7" fmla="*/ 0 h 58"/>
                <a:gd name="T8" fmla="*/ 32 w 32"/>
                <a:gd name="T9" fmla="*/ 26 h 58"/>
                <a:gd name="T10" fmla="*/ 0 60000 65536"/>
                <a:gd name="T11" fmla="*/ 0 60000 65536"/>
                <a:gd name="T12" fmla="*/ 0 60000 65536"/>
                <a:gd name="T13" fmla="*/ 0 60000 65536"/>
                <a:gd name="T14" fmla="*/ 0 60000 65536"/>
                <a:gd name="T15" fmla="*/ 0 w 32"/>
                <a:gd name="T16" fmla="*/ 0 h 58"/>
                <a:gd name="T17" fmla="*/ 32 w 32"/>
                <a:gd name="T18" fmla="*/ 58 h 58"/>
              </a:gdLst>
              <a:ahLst/>
              <a:cxnLst>
                <a:cxn ang="T10">
                  <a:pos x="T0" y="T1"/>
                </a:cxn>
                <a:cxn ang="T11">
                  <a:pos x="T2" y="T3"/>
                </a:cxn>
                <a:cxn ang="T12">
                  <a:pos x="T4" y="T5"/>
                </a:cxn>
                <a:cxn ang="T13">
                  <a:pos x="T6" y="T7"/>
                </a:cxn>
                <a:cxn ang="T14">
                  <a:pos x="T8" y="T9"/>
                </a:cxn>
              </a:cxnLst>
              <a:rect l="T15" t="T16" r="T17" b="T18"/>
              <a:pathLst>
                <a:path w="32" h="58">
                  <a:moveTo>
                    <a:pt x="32" y="26"/>
                  </a:moveTo>
                  <a:lnTo>
                    <a:pt x="32" y="58"/>
                  </a:lnTo>
                  <a:lnTo>
                    <a:pt x="0" y="29"/>
                  </a:lnTo>
                  <a:lnTo>
                    <a:pt x="0" y="0"/>
                  </a:lnTo>
                  <a:lnTo>
                    <a:pt x="32" y="26"/>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14" name="Freeform 294"/>
            <p:cNvSpPr>
              <a:spLocks/>
            </p:cNvSpPr>
            <p:nvPr/>
          </p:nvSpPr>
          <p:spPr bwMode="auto">
            <a:xfrm>
              <a:off x="2606" y="3215"/>
              <a:ext cx="34" cy="56"/>
            </a:xfrm>
            <a:custGeom>
              <a:avLst/>
              <a:gdLst>
                <a:gd name="T0" fmla="*/ 34 w 34"/>
                <a:gd name="T1" fmla="*/ 28 h 56"/>
                <a:gd name="T2" fmla="*/ 34 w 34"/>
                <a:gd name="T3" fmla="*/ 56 h 56"/>
                <a:gd name="T4" fmla="*/ 0 w 34"/>
                <a:gd name="T5" fmla="*/ 29 h 56"/>
                <a:gd name="T6" fmla="*/ 0 w 34"/>
                <a:gd name="T7" fmla="*/ 0 h 56"/>
                <a:gd name="T8" fmla="*/ 34 w 34"/>
                <a:gd name="T9" fmla="*/ 28 h 56"/>
                <a:gd name="T10" fmla="*/ 0 60000 65536"/>
                <a:gd name="T11" fmla="*/ 0 60000 65536"/>
                <a:gd name="T12" fmla="*/ 0 60000 65536"/>
                <a:gd name="T13" fmla="*/ 0 60000 65536"/>
                <a:gd name="T14" fmla="*/ 0 60000 65536"/>
                <a:gd name="T15" fmla="*/ 0 w 34"/>
                <a:gd name="T16" fmla="*/ 0 h 56"/>
                <a:gd name="T17" fmla="*/ 34 w 34"/>
                <a:gd name="T18" fmla="*/ 56 h 56"/>
              </a:gdLst>
              <a:ahLst/>
              <a:cxnLst>
                <a:cxn ang="T10">
                  <a:pos x="T0" y="T1"/>
                </a:cxn>
                <a:cxn ang="T11">
                  <a:pos x="T2" y="T3"/>
                </a:cxn>
                <a:cxn ang="T12">
                  <a:pos x="T4" y="T5"/>
                </a:cxn>
                <a:cxn ang="T13">
                  <a:pos x="T6" y="T7"/>
                </a:cxn>
                <a:cxn ang="T14">
                  <a:pos x="T8" y="T9"/>
                </a:cxn>
              </a:cxnLst>
              <a:rect l="T15" t="T16" r="T17" b="T18"/>
              <a:pathLst>
                <a:path w="34" h="56">
                  <a:moveTo>
                    <a:pt x="34" y="28"/>
                  </a:moveTo>
                  <a:lnTo>
                    <a:pt x="34" y="56"/>
                  </a:lnTo>
                  <a:lnTo>
                    <a:pt x="0" y="29"/>
                  </a:lnTo>
                  <a:lnTo>
                    <a:pt x="0" y="0"/>
                  </a:lnTo>
                  <a:lnTo>
                    <a:pt x="34" y="28"/>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15" name="Freeform 295"/>
            <p:cNvSpPr>
              <a:spLocks/>
            </p:cNvSpPr>
            <p:nvPr/>
          </p:nvSpPr>
          <p:spPr bwMode="auto">
            <a:xfrm>
              <a:off x="2575" y="3255"/>
              <a:ext cx="29" cy="51"/>
            </a:xfrm>
            <a:custGeom>
              <a:avLst/>
              <a:gdLst>
                <a:gd name="T0" fmla="*/ 29 w 29"/>
                <a:gd name="T1" fmla="*/ 24 h 51"/>
                <a:gd name="T2" fmla="*/ 29 w 29"/>
                <a:gd name="T3" fmla="*/ 51 h 51"/>
                <a:gd name="T4" fmla="*/ 0 w 29"/>
                <a:gd name="T5" fmla="*/ 25 h 51"/>
                <a:gd name="T6" fmla="*/ 0 w 29"/>
                <a:gd name="T7" fmla="*/ 0 h 51"/>
                <a:gd name="T8" fmla="*/ 29 w 29"/>
                <a:gd name="T9" fmla="*/ 24 h 51"/>
                <a:gd name="T10" fmla="*/ 0 60000 65536"/>
                <a:gd name="T11" fmla="*/ 0 60000 65536"/>
                <a:gd name="T12" fmla="*/ 0 60000 65536"/>
                <a:gd name="T13" fmla="*/ 0 60000 65536"/>
                <a:gd name="T14" fmla="*/ 0 60000 65536"/>
                <a:gd name="T15" fmla="*/ 0 w 29"/>
                <a:gd name="T16" fmla="*/ 0 h 51"/>
                <a:gd name="T17" fmla="*/ 29 w 29"/>
                <a:gd name="T18" fmla="*/ 51 h 51"/>
              </a:gdLst>
              <a:ahLst/>
              <a:cxnLst>
                <a:cxn ang="T10">
                  <a:pos x="T0" y="T1"/>
                </a:cxn>
                <a:cxn ang="T11">
                  <a:pos x="T2" y="T3"/>
                </a:cxn>
                <a:cxn ang="T12">
                  <a:pos x="T4" y="T5"/>
                </a:cxn>
                <a:cxn ang="T13">
                  <a:pos x="T6" y="T7"/>
                </a:cxn>
                <a:cxn ang="T14">
                  <a:pos x="T8" y="T9"/>
                </a:cxn>
              </a:cxnLst>
              <a:rect l="T15" t="T16" r="T17" b="T18"/>
              <a:pathLst>
                <a:path w="29" h="51">
                  <a:moveTo>
                    <a:pt x="29" y="24"/>
                  </a:moveTo>
                  <a:lnTo>
                    <a:pt x="29" y="51"/>
                  </a:lnTo>
                  <a:lnTo>
                    <a:pt x="0" y="25"/>
                  </a:lnTo>
                  <a:lnTo>
                    <a:pt x="0" y="0"/>
                  </a:lnTo>
                  <a:lnTo>
                    <a:pt x="29" y="2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16" name="Freeform 296"/>
            <p:cNvSpPr>
              <a:spLocks/>
            </p:cNvSpPr>
            <p:nvPr/>
          </p:nvSpPr>
          <p:spPr bwMode="auto">
            <a:xfrm>
              <a:off x="2676" y="3344"/>
              <a:ext cx="40" cy="64"/>
            </a:xfrm>
            <a:custGeom>
              <a:avLst/>
              <a:gdLst>
                <a:gd name="T0" fmla="*/ 40 w 40"/>
                <a:gd name="T1" fmla="*/ 35 h 64"/>
                <a:gd name="T2" fmla="*/ 40 w 40"/>
                <a:gd name="T3" fmla="*/ 64 h 64"/>
                <a:gd name="T4" fmla="*/ 0 w 40"/>
                <a:gd name="T5" fmla="*/ 30 h 64"/>
                <a:gd name="T6" fmla="*/ 0 w 40"/>
                <a:gd name="T7" fmla="*/ 0 h 64"/>
                <a:gd name="T8" fmla="*/ 40 w 40"/>
                <a:gd name="T9" fmla="*/ 35 h 64"/>
                <a:gd name="T10" fmla="*/ 0 60000 65536"/>
                <a:gd name="T11" fmla="*/ 0 60000 65536"/>
                <a:gd name="T12" fmla="*/ 0 60000 65536"/>
                <a:gd name="T13" fmla="*/ 0 60000 65536"/>
                <a:gd name="T14" fmla="*/ 0 60000 65536"/>
                <a:gd name="T15" fmla="*/ 0 w 40"/>
                <a:gd name="T16" fmla="*/ 0 h 64"/>
                <a:gd name="T17" fmla="*/ 40 w 40"/>
                <a:gd name="T18" fmla="*/ 64 h 64"/>
              </a:gdLst>
              <a:ahLst/>
              <a:cxnLst>
                <a:cxn ang="T10">
                  <a:pos x="T0" y="T1"/>
                </a:cxn>
                <a:cxn ang="T11">
                  <a:pos x="T2" y="T3"/>
                </a:cxn>
                <a:cxn ang="T12">
                  <a:pos x="T4" y="T5"/>
                </a:cxn>
                <a:cxn ang="T13">
                  <a:pos x="T6" y="T7"/>
                </a:cxn>
                <a:cxn ang="T14">
                  <a:pos x="T8" y="T9"/>
                </a:cxn>
              </a:cxnLst>
              <a:rect l="T15" t="T16" r="T17" b="T18"/>
              <a:pathLst>
                <a:path w="40" h="64">
                  <a:moveTo>
                    <a:pt x="40" y="35"/>
                  </a:moveTo>
                  <a:lnTo>
                    <a:pt x="40" y="64"/>
                  </a:lnTo>
                  <a:lnTo>
                    <a:pt x="0" y="30"/>
                  </a:lnTo>
                  <a:lnTo>
                    <a:pt x="0" y="0"/>
                  </a:lnTo>
                  <a:lnTo>
                    <a:pt x="40" y="3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17" name="Freeform 297"/>
            <p:cNvSpPr>
              <a:spLocks/>
            </p:cNvSpPr>
            <p:nvPr/>
          </p:nvSpPr>
          <p:spPr bwMode="auto">
            <a:xfrm>
              <a:off x="2642" y="3313"/>
              <a:ext cx="32" cy="60"/>
            </a:xfrm>
            <a:custGeom>
              <a:avLst/>
              <a:gdLst>
                <a:gd name="T0" fmla="*/ 32 w 32"/>
                <a:gd name="T1" fmla="*/ 29 h 60"/>
                <a:gd name="T2" fmla="*/ 32 w 32"/>
                <a:gd name="T3" fmla="*/ 60 h 60"/>
                <a:gd name="T4" fmla="*/ 0 w 32"/>
                <a:gd name="T5" fmla="*/ 29 h 60"/>
                <a:gd name="T6" fmla="*/ 0 w 32"/>
                <a:gd name="T7" fmla="*/ 0 h 60"/>
                <a:gd name="T8" fmla="*/ 32 w 32"/>
                <a:gd name="T9" fmla="*/ 29 h 60"/>
                <a:gd name="T10" fmla="*/ 0 60000 65536"/>
                <a:gd name="T11" fmla="*/ 0 60000 65536"/>
                <a:gd name="T12" fmla="*/ 0 60000 65536"/>
                <a:gd name="T13" fmla="*/ 0 60000 65536"/>
                <a:gd name="T14" fmla="*/ 0 60000 65536"/>
                <a:gd name="T15" fmla="*/ 0 w 32"/>
                <a:gd name="T16" fmla="*/ 0 h 60"/>
                <a:gd name="T17" fmla="*/ 32 w 32"/>
                <a:gd name="T18" fmla="*/ 60 h 60"/>
              </a:gdLst>
              <a:ahLst/>
              <a:cxnLst>
                <a:cxn ang="T10">
                  <a:pos x="T0" y="T1"/>
                </a:cxn>
                <a:cxn ang="T11">
                  <a:pos x="T2" y="T3"/>
                </a:cxn>
                <a:cxn ang="T12">
                  <a:pos x="T4" y="T5"/>
                </a:cxn>
                <a:cxn ang="T13">
                  <a:pos x="T6" y="T7"/>
                </a:cxn>
                <a:cxn ang="T14">
                  <a:pos x="T8" y="T9"/>
                </a:cxn>
              </a:cxnLst>
              <a:rect l="T15" t="T16" r="T17" b="T18"/>
              <a:pathLst>
                <a:path w="32" h="60">
                  <a:moveTo>
                    <a:pt x="32" y="29"/>
                  </a:moveTo>
                  <a:lnTo>
                    <a:pt x="32" y="60"/>
                  </a:lnTo>
                  <a:lnTo>
                    <a:pt x="0" y="29"/>
                  </a:lnTo>
                  <a:lnTo>
                    <a:pt x="0" y="0"/>
                  </a:lnTo>
                  <a:lnTo>
                    <a:pt x="32" y="29"/>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18" name="Freeform 298"/>
            <p:cNvSpPr>
              <a:spLocks/>
            </p:cNvSpPr>
            <p:nvPr/>
          </p:nvSpPr>
          <p:spPr bwMode="auto">
            <a:xfrm>
              <a:off x="2606" y="3280"/>
              <a:ext cx="34" cy="60"/>
            </a:xfrm>
            <a:custGeom>
              <a:avLst/>
              <a:gdLst>
                <a:gd name="T0" fmla="*/ 34 w 34"/>
                <a:gd name="T1" fmla="*/ 32 h 60"/>
                <a:gd name="T2" fmla="*/ 34 w 34"/>
                <a:gd name="T3" fmla="*/ 60 h 60"/>
                <a:gd name="T4" fmla="*/ 0 w 34"/>
                <a:gd name="T5" fmla="*/ 30 h 60"/>
                <a:gd name="T6" fmla="*/ 0 w 34"/>
                <a:gd name="T7" fmla="*/ 0 h 60"/>
                <a:gd name="T8" fmla="*/ 34 w 34"/>
                <a:gd name="T9" fmla="*/ 32 h 60"/>
                <a:gd name="T10" fmla="*/ 0 60000 65536"/>
                <a:gd name="T11" fmla="*/ 0 60000 65536"/>
                <a:gd name="T12" fmla="*/ 0 60000 65536"/>
                <a:gd name="T13" fmla="*/ 0 60000 65536"/>
                <a:gd name="T14" fmla="*/ 0 60000 65536"/>
                <a:gd name="T15" fmla="*/ 0 w 34"/>
                <a:gd name="T16" fmla="*/ 0 h 60"/>
                <a:gd name="T17" fmla="*/ 34 w 34"/>
                <a:gd name="T18" fmla="*/ 60 h 60"/>
              </a:gdLst>
              <a:ahLst/>
              <a:cxnLst>
                <a:cxn ang="T10">
                  <a:pos x="T0" y="T1"/>
                </a:cxn>
                <a:cxn ang="T11">
                  <a:pos x="T2" y="T3"/>
                </a:cxn>
                <a:cxn ang="T12">
                  <a:pos x="T4" y="T5"/>
                </a:cxn>
                <a:cxn ang="T13">
                  <a:pos x="T6" y="T7"/>
                </a:cxn>
                <a:cxn ang="T14">
                  <a:pos x="T8" y="T9"/>
                </a:cxn>
              </a:cxnLst>
              <a:rect l="T15" t="T16" r="T17" b="T18"/>
              <a:pathLst>
                <a:path w="34" h="60">
                  <a:moveTo>
                    <a:pt x="34" y="32"/>
                  </a:moveTo>
                  <a:lnTo>
                    <a:pt x="34" y="60"/>
                  </a:lnTo>
                  <a:lnTo>
                    <a:pt x="0" y="30"/>
                  </a:lnTo>
                  <a:lnTo>
                    <a:pt x="0" y="0"/>
                  </a:lnTo>
                  <a:lnTo>
                    <a:pt x="34" y="3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19" name="Freeform 299"/>
            <p:cNvSpPr>
              <a:spLocks/>
            </p:cNvSpPr>
            <p:nvPr/>
          </p:nvSpPr>
          <p:spPr bwMode="auto">
            <a:xfrm>
              <a:off x="2575" y="3318"/>
              <a:ext cx="29" cy="56"/>
            </a:xfrm>
            <a:custGeom>
              <a:avLst/>
              <a:gdLst>
                <a:gd name="T0" fmla="*/ 29 w 29"/>
                <a:gd name="T1" fmla="*/ 29 h 56"/>
                <a:gd name="T2" fmla="*/ 29 w 29"/>
                <a:gd name="T3" fmla="*/ 56 h 56"/>
                <a:gd name="T4" fmla="*/ 0 w 29"/>
                <a:gd name="T5" fmla="*/ 28 h 56"/>
                <a:gd name="T6" fmla="*/ 0 w 29"/>
                <a:gd name="T7" fmla="*/ 0 h 56"/>
                <a:gd name="T8" fmla="*/ 29 w 29"/>
                <a:gd name="T9" fmla="*/ 29 h 56"/>
                <a:gd name="T10" fmla="*/ 0 60000 65536"/>
                <a:gd name="T11" fmla="*/ 0 60000 65536"/>
                <a:gd name="T12" fmla="*/ 0 60000 65536"/>
                <a:gd name="T13" fmla="*/ 0 60000 65536"/>
                <a:gd name="T14" fmla="*/ 0 60000 65536"/>
                <a:gd name="T15" fmla="*/ 0 w 29"/>
                <a:gd name="T16" fmla="*/ 0 h 56"/>
                <a:gd name="T17" fmla="*/ 29 w 29"/>
                <a:gd name="T18" fmla="*/ 56 h 56"/>
              </a:gdLst>
              <a:ahLst/>
              <a:cxnLst>
                <a:cxn ang="T10">
                  <a:pos x="T0" y="T1"/>
                </a:cxn>
                <a:cxn ang="T11">
                  <a:pos x="T2" y="T3"/>
                </a:cxn>
                <a:cxn ang="T12">
                  <a:pos x="T4" y="T5"/>
                </a:cxn>
                <a:cxn ang="T13">
                  <a:pos x="T6" y="T7"/>
                </a:cxn>
                <a:cxn ang="T14">
                  <a:pos x="T8" y="T9"/>
                </a:cxn>
              </a:cxnLst>
              <a:rect l="T15" t="T16" r="T17" b="T18"/>
              <a:pathLst>
                <a:path w="29" h="56">
                  <a:moveTo>
                    <a:pt x="29" y="29"/>
                  </a:moveTo>
                  <a:lnTo>
                    <a:pt x="29" y="56"/>
                  </a:lnTo>
                  <a:lnTo>
                    <a:pt x="0" y="28"/>
                  </a:lnTo>
                  <a:lnTo>
                    <a:pt x="0" y="0"/>
                  </a:lnTo>
                  <a:lnTo>
                    <a:pt x="29" y="2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20" name="Freeform 300"/>
            <p:cNvSpPr>
              <a:spLocks/>
            </p:cNvSpPr>
            <p:nvPr/>
          </p:nvSpPr>
          <p:spPr bwMode="auto">
            <a:xfrm>
              <a:off x="2676" y="3415"/>
              <a:ext cx="40" cy="70"/>
            </a:xfrm>
            <a:custGeom>
              <a:avLst/>
              <a:gdLst>
                <a:gd name="T0" fmla="*/ 40 w 40"/>
                <a:gd name="T1" fmla="*/ 38 h 70"/>
                <a:gd name="T2" fmla="*/ 40 w 40"/>
                <a:gd name="T3" fmla="*/ 70 h 70"/>
                <a:gd name="T4" fmla="*/ 0 w 40"/>
                <a:gd name="T5" fmla="*/ 31 h 70"/>
                <a:gd name="T6" fmla="*/ 0 w 40"/>
                <a:gd name="T7" fmla="*/ 0 h 70"/>
                <a:gd name="T8" fmla="*/ 40 w 40"/>
                <a:gd name="T9" fmla="*/ 38 h 70"/>
                <a:gd name="T10" fmla="*/ 0 60000 65536"/>
                <a:gd name="T11" fmla="*/ 0 60000 65536"/>
                <a:gd name="T12" fmla="*/ 0 60000 65536"/>
                <a:gd name="T13" fmla="*/ 0 60000 65536"/>
                <a:gd name="T14" fmla="*/ 0 60000 65536"/>
                <a:gd name="T15" fmla="*/ 0 w 40"/>
                <a:gd name="T16" fmla="*/ 0 h 70"/>
                <a:gd name="T17" fmla="*/ 40 w 40"/>
                <a:gd name="T18" fmla="*/ 70 h 70"/>
              </a:gdLst>
              <a:ahLst/>
              <a:cxnLst>
                <a:cxn ang="T10">
                  <a:pos x="T0" y="T1"/>
                </a:cxn>
                <a:cxn ang="T11">
                  <a:pos x="T2" y="T3"/>
                </a:cxn>
                <a:cxn ang="T12">
                  <a:pos x="T4" y="T5"/>
                </a:cxn>
                <a:cxn ang="T13">
                  <a:pos x="T6" y="T7"/>
                </a:cxn>
                <a:cxn ang="T14">
                  <a:pos x="T8" y="T9"/>
                </a:cxn>
              </a:cxnLst>
              <a:rect l="T15" t="T16" r="T17" b="T18"/>
              <a:pathLst>
                <a:path w="40" h="70">
                  <a:moveTo>
                    <a:pt x="40" y="38"/>
                  </a:moveTo>
                  <a:lnTo>
                    <a:pt x="40" y="70"/>
                  </a:lnTo>
                  <a:lnTo>
                    <a:pt x="0" y="31"/>
                  </a:lnTo>
                  <a:lnTo>
                    <a:pt x="0" y="0"/>
                  </a:lnTo>
                  <a:lnTo>
                    <a:pt x="40" y="3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21" name="Freeform 301"/>
            <p:cNvSpPr>
              <a:spLocks/>
            </p:cNvSpPr>
            <p:nvPr/>
          </p:nvSpPr>
          <p:spPr bwMode="auto">
            <a:xfrm>
              <a:off x="2642" y="3383"/>
              <a:ext cx="32" cy="62"/>
            </a:xfrm>
            <a:custGeom>
              <a:avLst/>
              <a:gdLst>
                <a:gd name="T0" fmla="*/ 32 w 32"/>
                <a:gd name="T1" fmla="*/ 31 h 62"/>
                <a:gd name="T2" fmla="*/ 32 w 32"/>
                <a:gd name="T3" fmla="*/ 62 h 62"/>
                <a:gd name="T4" fmla="*/ 0 w 32"/>
                <a:gd name="T5" fmla="*/ 30 h 62"/>
                <a:gd name="T6" fmla="*/ 0 w 32"/>
                <a:gd name="T7" fmla="*/ 0 h 62"/>
                <a:gd name="T8" fmla="*/ 32 w 32"/>
                <a:gd name="T9" fmla="*/ 31 h 62"/>
                <a:gd name="T10" fmla="*/ 0 60000 65536"/>
                <a:gd name="T11" fmla="*/ 0 60000 65536"/>
                <a:gd name="T12" fmla="*/ 0 60000 65536"/>
                <a:gd name="T13" fmla="*/ 0 60000 65536"/>
                <a:gd name="T14" fmla="*/ 0 60000 65536"/>
                <a:gd name="T15" fmla="*/ 0 w 32"/>
                <a:gd name="T16" fmla="*/ 0 h 62"/>
                <a:gd name="T17" fmla="*/ 32 w 32"/>
                <a:gd name="T18" fmla="*/ 62 h 62"/>
              </a:gdLst>
              <a:ahLst/>
              <a:cxnLst>
                <a:cxn ang="T10">
                  <a:pos x="T0" y="T1"/>
                </a:cxn>
                <a:cxn ang="T11">
                  <a:pos x="T2" y="T3"/>
                </a:cxn>
                <a:cxn ang="T12">
                  <a:pos x="T4" y="T5"/>
                </a:cxn>
                <a:cxn ang="T13">
                  <a:pos x="T6" y="T7"/>
                </a:cxn>
                <a:cxn ang="T14">
                  <a:pos x="T8" y="T9"/>
                </a:cxn>
              </a:cxnLst>
              <a:rect l="T15" t="T16" r="T17" b="T18"/>
              <a:pathLst>
                <a:path w="32" h="62">
                  <a:moveTo>
                    <a:pt x="32" y="31"/>
                  </a:moveTo>
                  <a:lnTo>
                    <a:pt x="32" y="62"/>
                  </a:lnTo>
                  <a:lnTo>
                    <a:pt x="0" y="30"/>
                  </a:lnTo>
                  <a:lnTo>
                    <a:pt x="0" y="0"/>
                  </a:lnTo>
                  <a:lnTo>
                    <a:pt x="32" y="31"/>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22" name="Freeform 302"/>
            <p:cNvSpPr>
              <a:spLocks/>
            </p:cNvSpPr>
            <p:nvPr/>
          </p:nvSpPr>
          <p:spPr bwMode="auto">
            <a:xfrm>
              <a:off x="2606" y="3348"/>
              <a:ext cx="34" cy="62"/>
            </a:xfrm>
            <a:custGeom>
              <a:avLst/>
              <a:gdLst>
                <a:gd name="T0" fmla="*/ 34 w 34"/>
                <a:gd name="T1" fmla="*/ 34 h 62"/>
                <a:gd name="T2" fmla="*/ 34 w 34"/>
                <a:gd name="T3" fmla="*/ 62 h 62"/>
                <a:gd name="T4" fmla="*/ 0 w 34"/>
                <a:gd name="T5" fmla="*/ 28 h 62"/>
                <a:gd name="T6" fmla="*/ 0 w 34"/>
                <a:gd name="T7" fmla="*/ 0 h 62"/>
                <a:gd name="T8" fmla="*/ 34 w 34"/>
                <a:gd name="T9" fmla="*/ 34 h 62"/>
                <a:gd name="T10" fmla="*/ 0 60000 65536"/>
                <a:gd name="T11" fmla="*/ 0 60000 65536"/>
                <a:gd name="T12" fmla="*/ 0 60000 65536"/>
                <a:gd name="T13" fmla="*/ 0 60000 65536"/>
                <a:gd name="T14" fmla="*/ 0 60000 65536"/>
                <a:gd name="T15" fmla="*/ 0 w 34"/>
                <a:gd name="T16" fmla="*/ 0 h 62"/>
                <a:gd name="T17" fmla="*/ 34 w 34"/>
                <a:gd name="T18" fmla="*/ 62 h 62"/>
              </a:gdLst>
              <a:ahLst/>
              <a:cxnLst>
                <a:cxn ang="T10">
                  <a:pos x="T0" y="T1"/>
                </a:cxn>
                <a:cxn ang="T11">
                  <a:pos x="T2" y="T3"/>
                </a:cxn>
                <a:cxn ang="T12">
                  <a:pos x="T4" y="T5"/>
                </a:cxn>
                <a:cxn ang="T13">
                  <a:pos x="T6" y="T7"/>
                </a:cxn>
                <a:cxn ang="T14">
                  <a:pos x="T8" y="T9"/>
                </a:cxn>
              </a:cxnLst>
              <a:rect l="T15" t="T16" r="T17" b="T18"/>
              <a:pathLst>
                <a:path w="34" h="62">
                  <a:moveTo>
                    <a:pt x="34" y="34"/>
                  </a:moveTo>
                  <a:lnTo>
                    <a:pt x="34" y="62"/>
                  </a:lnTo>
                  <a:lnTo>
                    <a:pt x="0" y="28"/>
                  </a:lnTo>
                  <a:lnTo>
                    <a:pt x="0" y="0"/>
                  </a:lnTo>
                  <a:lnTo>
                    <a:pt x="34" y="3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23" name="Freeform 303"/>
            <p:cNvSpPr>
              <a:spLocks/>
            </p:cNvSpPr>
            <p:nvPr/>
          </p:nvSpPr>
          <p:spPr bwMode="auto">
            <a:xfrm>
              <a:off x="2677" y="3057"/>
              <a:ext cx="38" cy="54"/>
            </a:xfrm>
            <a:custGeom>
              <a:avLst/>
              <a:gdLst>
                <a:gd name="T0" fmla="*/ 38 w 38"/>
                <a:gd name="T1" fmla="*/ 23 h 54"/>
                <a:gd name="T2" fmla="*/ 38 w 38"/>
                <a:gd name="T3" fmla="*/ 54 h 54"/>
                <a:gd name="T4" fmla="*/ 0 w 38"/>
                <a:gd name="T5" fmla="*/ 31 h 54"/>
                <a:gd name="T6" fmla="*/ 0 w 38"/>
                <a:gd name="T7" fmla="*/ 0 h 54"/>
                <a:gd name="T8" fmla="*/ 38 w 38"/>
                <a:gd name="T9" fmla="*/ 23 h 54"/>
                <a:gd name="T10" fmla="*/ 0 60000 65536"/>
                <a:gd name="T11" fmla="*/ 0 60000 65536"/>
                <a:gd name="T12" fmla="*/ 0 60000 65536"/>
                <a:gd name="T13" fmla="*/ 0 60000 65536"/>
                <a:gd name="T14" fmla="*/ 0 60000 65536"/>
                <a:gd name="T15" fmla="*/ 0 w 38"/>
                <a:gd name="T16" fmla="*/ 0 h 54"/>
                <a:gd name="T17" fmla="*/ 38 w 38"/>
                <a:gd name="T18" fmla="*/ 54 h 54"/>
              </a:gdLst>
              <a:ahLst/>
              <a:cxnLst>
                <a:cxn ang="T10">
                  <a:pos x="T0" y="T1"/>
                </a:cxn>
                <a:cxn ang="T11">
                  <a:pos x="T2" y="T3"/>
                </a:cxn>
                <a:cxn ang="T12">
                  <a:pos x="T4" y="T5"/>
                </a:cxn>
                <a:cxn ang="T13">
                  <a:pos x="T6" y="T7"/>
                </a:cxn>
                <a:cxn ang="T14">
                  <a:pos x="T8" y="T9"/>
                </a:cxn>
              </a:cxnLst>
              <a:rect l="T15" t="T16" r="T17" b="T18"/>
              <a:pathLst>
                <a:path w="38" h="54">
                  <a:moveTo>
                    <a:pt x="38" y="23"/>
                  </a:moveTo>
                  <a:lnTo>
                    <a:pt x="38" y="54"/>
                  </a:lnTo>
                  <a:lnTo>
                    <a:pt x="0" y="31"/>
                  </a:lnTo>
                  <a:lnTo>
                    <a:pt x="0" y="0"/>
                  </a:lnTo>
                  <a:lnTo>
                    <a:pt x="38" y="2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24" name="Freeform 304"/>
            <p:cNvSpPr>
              <a:spLocks/>
            </p:cNvSpPr>
            <p:nvPr/>
          </p:nvSpPr>
          <p:spPr bwMode="auto">
            <a:xfrm>
              <a:off x="2704" y="3110"/>
              <a:ext cx="12" cy="38"/>
            </a:xfrm>
            <a:custGeom>
              <a:avLst/>
              <a:gdLst>
                <a:gd name="T0" fmla="*/ 12 w 12"/>
                <a:gd name="T1" fmla="*/ 8 h 38"/>
                <a:gd name="T2" fmla="*/ 12 w 12"/>
                <a:gd name="T3" fmla="*/ 38 h 38"/>
                <a:gd name="T4" fmla="*/ 0 w 12"/>
                <a:gd name="T5" fmla="*/ 30 h 38"/>
                <a:gd name="T6" fmla="*/ 0 w 12"/>
                <a:gd name="T7" fmla="*/ 0 h 38"/>
                <a:gd name="T8" fmla="*/ 12 w 12"/>
                <a:gd name="T9" fmla="*/ 8 h 38"/>
                <a:gd name="T10" fmla="*/ 0 60000 65536"/>
                <a:gd name="T11" fmla="*/ 0 60000 65536"/>
                <a:gd name="T12" fmla="*/ 0 60000 65536"/>
                <a:gd name="T13" fmla="*/ 0 60000 65536"/>
                <a:gd name="T14" fmla="*/ 0 60000 65536"/>
                <a:gd name="T15" fmla="*/ 0 w 12"/>
                <a:gd name="T16" fmla="*/ 0 h 38"/>
                <a:gd name="T17" fmla="*/ 12 w 12"/>
                <a:gd name="T18" fmla="*/ 38 h 38"/>
              </a:gdLst>
              <a:ahLst/>
              <a:cxnLst>
                <a:cxn ang="T10">
                  <a:pos x="T0" y="T1"/>
                </a:cxn>
                <a:cxn ang="T11">
                  <a:pos x="T2" y="T3"/>
                </a:cxn>
                <a:cxn ang="T12">
                  <a:pos x="T4" y="T5"/>
                </a:cxn>
                <a:cxn ang="T13">
                  <a:pos x="T6" y="T7"/>
                </a:cxn>
                <a:cxn ang="T14">
                  <a:pos x="T8" y="T9"/>
                </a:cxn>
              </a:cxnLst>
              <a:rect l="T15" t="T16" r="T17" b="T18"/>
              <a:pathLst>
                <a:path w="12" h="38">
                  <a:moveTo>
                    <a:pt x="12" y="8"/>
                  </a:moveTo>
                  <a:lnTo>
                    <a:pt x="12" y="38"/>
                  </a:lnTo>
                  <a:lnTo>
                    <a:pt x="0" y="30"/>
                  </a:lnTo>
                  <a:lnTo>
                    <a:pt x="0" y="0"/>
                  </a:lnTo>
                  <a:lnTo>
                    <a:pt x="12" y="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25" name="Freeform 305"/>
            <p:cNvSpPr>
              <a:spLocks/>
            </p:cNvSpPr>
            <p:nvPr/>
          </p:nvSpPr>
          <p:spPr bwMode="auto">
            <a:xfrm>
              <a:off x="2677" y="3201"/>
              <a:ext cx="38" cy="58"/>
            </a:xfrm>
            <a:custGeom>
              <a:avLst/>
              <a:gdLst>
                <a:gd name="T0" fmla="*/ 38 w 38"/>
                <a:gd name="T1" fmla="*/ 27 h 58"/>
                <a:gd name="T2" fmla="*/ 38 w 38"/>
                <a:gd name="T3" fmla="*/ 58 h 58"/>
                <a:gd name="T4" fmla="*/ 0 w 38"/>
                <a:gd name="T5" fmla="*/ 30 h 58"/>
                <a:gd name="T6" fmla="*/ 0 w 38"/>
                <a:gd name="T7" fmla="*/ 0 h 58"/>
                <a:gd name="T8" fmla="*/ 38 w 38"/>
                <a:gd name="T9" fmla="*/ 27 h 58"/>
                <a:gd name="T10" fmla="*/ 0 60000 65536"/>
                <a:gd name="T11" fmla="*/ 0 60000 65536"/>
                <a:gd name="T12" fmla="*/ 0 60000 65536"/>
                <a:gd name="T13" fmla="*/ 0 60000 65536"/>
                <a:gd name="T14" fmla="*/ 0 60000 65536"/>
                <a:gd name="T15" fmla="*/ 0 w 38"/>
                <a:gd name="T16" fmla="*/ 0 h 58"/>
                <a:gd name="T17" fmla="*/ 38 w 38"/>
                <a:gd name="T18" fmla="*/ 58 h 58"/>
              </a:gdLst>
              <a:ahLst/>
              <a:cxnLst>
                <a:cxn ang="T10">
                  <a:pos x="T0" y="T1"/>
                </a:cxn>
                <a:cxn ang="T11">
                  <a:pos x="T2" y="T3"/>
                </a:cxn>
                <a:cxn ang="T12">
                  <a:pos x="T4" y="T5"/>
                </a:cxn>
                <a:cxn ang="T13">
                  <a:pos x="T6" y="T7"/>
                </a:cxn>
                <a:cxn ang="T14">
                  <a:pos x="T8" y="T9"/>
                </a:cxn>
              </a:cxnLst>
              <a:rect l="T15" t="T16" r="T17" b="T18"/>
              <a:pathLst>
                <a:path w="38" h="58">
                  <a:moveTo>
                    <a:pt x="38" y="27"/>
                  </a:moveTo>
                  <a:lnTo>
                    <a:pt x="38" y="58"/>
                  </a:lnTo>
                  <a:lnTo>
                    <a:pt x="0" y="30"/>
                  </a:lnTo>
                  <a:lnTo>
                    <a:pt x="0" y="0"/>
                  </a:lnTo>
                  <a:lnTo>
                    <a:pt x="38" y="2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26" name="Rectangle 306"/>
            <p:cNvSpPr>
              <a:spLocks noChangeArrowheads="1"/>
            </p:cNvSpPr>
            <p:nvPr/>
          </p:nvSpPr>
          <p:spPr bwMode="auto">
            <a:xfrm>
              <a:off x="2715" y="3379"/>
              <a:ext cx="18" cy="32"/>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727" name="Freeform 307"/>
            <p:cNvSpPr>
              <a:spLocks/>
            </p:cNvSpPr>
            <p:nvPr/>
          </p:nvSpPr>
          <p:spPr bwMode="auto">
            <a:xfrm>
              <a:off x="2550" y="2912"/>
              <a:ext cx="278" cy="79"/>
            </a:xfrm>
            <a:custGeom>
              <a:avLst/>
              <a:gdLst>
                <a:gd name="T0" fmla="*/ 0 w 278"/>
                <a:gd name="T1" fmla="*/ 0 h 79"/>
                <a:gd name="T2" fmla="*/ 119 w 278"/>
                <a:gd name="T3" fmla="*/ 6 h 79"/>
                <a:gd name="T4" fmla="*/ 278 w 278"/>
                <a:gd name="T5" fmla="*/ 75 h 79"/>
                <a:gd name="T6" fmla="*/ 168 w 278"/>
                <a:gd name="T7" fmla="*/ 79 h 79"/>
                <a:gd name="T8" fmla="*/ 0 w 278"/>
                <a:gd name="T9" fmla="*/ 0 h 79"/>
                <a:gd name="T10" fmla="*/ 0 60000 65536"/>
                <a:gd name="T11" fmla="*/ 0 60000 65536"/>
                <a:gd name="T12" fmla="*/ 0 60000 65536"/>
                <a:gd name="T13" fmla="*/ 0 60000 65536"/>
                <a:gd name="T14" fmla="*/ 0 60000 65536"/>
                <a:gd name="T15" fmla="*/ 0 w 278"/>
                <a:gd name="T16" fmla="*/ 0 h 79"/>
                <a:gd name="T17" fmla="*/ 278 w 278"/>
                <a:gd name="T18" fmla="*/ 79 h 79"/>
              </a:gdLst>
              <a:ahLst/>
              <a:cxnLst>
                <a:cxn ang="T10">
                  <a:pos x="T0" y="T1"/>
                </a:cxn>
                <a:cxn ang="T11">
                  <a:pos x="T2" y="T3"/>
                </a:cxn>
                <a:cxn ang="T12">
                  <a:pos x="T4" y="T5"/>
                </a:cxn>
                <a:cxn ang="T13">
                  <a:pos x="T6" y="T7"/>
                </a:cxn>
                <a:cxn ang="T14">
                  <a:pos x="T8" y="T9"/>
                </a:cxn>
              </a:cxnLst>
              <a:rect l="T15" t="T16" r="T17" b="T18"/>
              <a:pathLst>
                <a:path w="278" h="79">
                  <a:moveTo>
                    <a:pt x="0" y="0"/>
                  </a:moveTo>
                  <a:lnTo>
                    <a:pt x="119" y="6"/>
                  </a:lnTo>
                  <a:lnTo>
                    <a:pt x="278" y="75"/>
                  </a:lnTo>
                  <a:lnTo>
                    <a:pt x="168" y="79"/>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28" name="Freeform 308"/>
            <p:cNvSpPr>
              <a:spLocks/>
            </p:cNvSpPr>
            <p:nvPr/>
          </p:nvSpPr>
          <p:spPr bwMode="auto">
            <a:xfrm>
              <a:off x="2719" y="2985"/>
              <a:ext cx="108" cy="59"/>
            </a:xfrm>
            <a:custGeom>
              <a:avLst/>
              <a:gdLst>
                <a:gd name="T0" fmla="*/ 1 w 108"/>
                <a:gd name="T1" fmla="*/ 1 h 59"/>
                <a:gd name="T2" fmla="*/ 108 w 108"/>
                <a:gd name="T3" fmla="*/ 0 h 59"/>
                <a:gd name="T4" fmla="*/ 108 w 108"/>
                <a:gd name="T5" fmla="*/ 59 h 59"/>
                <a:gd name="T6" fmla="*/ 0 w 108"/>
                <a:gd name="T7" fmla="*/ 59 h 59"/>
                <a:gd name="T8" fmla="*/ 1 w 108"/>
                <a:gd name="T9" fmla="*/ 1 h 59"/>
                <a:gd name="T10" fmla="*/ 0 60000 65536"/>
                <a:gd name="T11" fmla="*/ 0 60000 65536"/>
                <a:gd name="T12" fmla="*/ 0 60000 65536"/>
                <a:gd name="T13" fmla="*/ 0 60000 65536"/>
                <a:gd name="T14" fmla="*/ 0 60000 65536"/>
                <a:gd name="T15" fmla="*/ 0 w 108"/>
                <a:gd name="T16" fmla="*/ 0 h 59"/>
                <a:gd name="T17" fmla="*/ 108 w 108"/>
                <a:gd name="T18" fmla="*/ 59 h 59"/>
              </a:gdLst>
              <a:ahLst/>
              <a:cxnLst>
                <a:cxn ang="T10">
                  <a:pos x="T0" y="T1"/>
                </a:cxn>
                <a:cxn ang="T11">
                  <a:pos x="T2" y="T3"/>
                </a:cxn>
                <a:cxn ang="T12">
                  <a:pos x="T4" y="T5"/>
                </a:cxn>
                <a:cxn ang="T13">
                  <a:pos x="T6" y="T7"/>
                </a:cxn>
                <a:cxn ang="T14">
                  <a:pos x="T8" y="T9"/>
                </a:cxn>
              </a:cxnLst>
              <a:rect l="T15" t="T16" r="T17" b="T18"/>
              <a:pathLst>
                <a:path w="108" h="59">
                  <a:moveTo>
                    <a:pt x="1" y="1"/>
                  </a:moveTo>
                  <a:lnTo>
                    <a:pt x="108" y="0"/>
                  </a:lnTo>
                  <a:lnTo>
                    <a:pt x="108" y="59"/>
                  </a:lnTo>
                  <a:lnTo>
                    <a:pt x="0" y="59"/>
                  </a:lnTo>
                  <a:lnTo>
                    <a:pt x="1" y="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729" name="Freeform 309"/>
            <p:cNvSpPr>
              <a:spLocks/>
            </p:cNvSpPr>
            <p:nvPr/>
          </p:nvSpPr>
          <p:spPr bwMode="auto">
            <a:xfrm>
              <a:off x="2551" y="2912"/>
              <a:ext cx="172" cy="131"/>
            </a:xfrm>
            <a:custGeom>
              <a:avLst/>
              <a:gdLst>
                <a:gd name="T0" fmla="*/ 0 w 172"/>
                <a:gd name="T1" fmla="*/ 0 h 131"/>
                <a:gd name="T2" fmla="*/ 0 w 172"/>
                <a:gd name="T3" fmla="*/ 45 h 131"/>
                <a:gd name="T4" fmla="*/ 172 w 172"/>
                <a:gd name="T5" fmla="*/ 131 h 131"/>
                <a:gd name="T6" fmla="*/ 172 w 172"/>
                <a:gd name="T7" fmla="*/ 73 h 131"/>
                <a:gd name="T8" fmla="*/ 0 w 172"/>
                <a:gd name="T9" fmla="*/ 0 h 131"/>
                <a:gd name="T10" fmla="*/ 0 60000 65536"/>
                <a:gd name="T11" fmla="*/ 0 60000 65536"/>
                <a:gd name="T12" fmla="*/ 0 60000 65536"/>
                <a:gd name="T13" fmla="*/ 0 60000 65536"/>
                <a:gd name="T14" fmla="*/ 0 60000 65536"/>
                <a:gd name="T15" fmla="*/ 0 w 172"/>
                <a:gd name="T16" fmla="*/ 0 h 131"/>
                <a:gd name="T17" fmla="*/ 172 w 172"/>
                <a:gd name="T18" fmla="*/ 131 h 131"/>
              </a:gdLst>
              <a:ahLst/>
              <a:cxnLst>
                <a:cxn ang="T10">
                  <a:pos x="T0" y="T1"/>
                </a:cxn>
                <a:cxn ang="T11">
                  <a:pos x="T2" y="T3"/>
                </a:cxn>
                <a:cxn ang="T12">
                  <a:pos x="T4" y="T5"/>
                </a:cxn>
                <a:cxn ang="T13">
                  <a:pos x="T6" y="T7"/>
                </a:cxn>
                <a:cxn ang="T14">
                  <a:pos x="T8" y="T9"/>
                </a:cxn>
              </a:cxnLst>
              <a:rect l="T15" t="T16" r="T17" b="T18"/>
              <a:pathLst>
                <a:path w="172" h="131">
                  <a:moveTo>
                    <a:pt x="0" y="0"/>
                  </a:moveTo>
                  <a:lnTo>
                    <a:pt x="0" y="45"/>
                  </a:lnTo>
                  <a:lnTo>
                    <a:pt x="172" y="131"/>
                  </a:lnTo>
                  <a:lnTo>
                    <a:pt x="172" y="73"/>
                  </a:lnTo>
                  <a:lnTo>
                    <a:pt x="0" y="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grpSp>
      <p:sp>
        <p:nvSpPr>
          <p:cNvPr id="188422" name="Line 310"/>
          <p:cNvSpPr>
            <a:spLocks noChangeShapeType="1"/>
          </p:cNvSpPr>
          <p:nvPr/>
        </p:nvSpPr>
        <p:spPr bwMode="auto">
          <a:xfrm>
            <a:off x="4703763" y="3914775"/>
            <a:ext cx="6477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88423" name="Line 320"/>
          <p:cNvSpPr>
            <a:spLocks noChangeShapeType="1"/>
          </p:cNvSpPr>
          <p:nvPr/>
        </p:nvSpPr>
        <p:spPr bwMode="auto">
          <a:xfrm>
            <a:off x="4403725" y="3937000"/>
            <a:ext cx="11113" cy="557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88424" name="Line 354"/>
          <p:cNvSpPr>
            <a:spLocks noChangeShapeType="1"/>
          </p:cNvSpPr>
          <p:nvPr/>
        </p:nvSpPr>
        <p:spPr bwMode="auto">
          <a:xfrm flipH="1">
            <a:off x="3917950" y="4740275"/>
            <a:ext cx="325438"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88425" name="Line 355"/>
          <p:cNvSpPr>
            <a:spLocks noChangeShapeType="1"/>
          </p:cNvSpPr>
          <p:nvPr/>
        </p:nvSpPr>
        <p:spPr bwMode="auto">
          <a:xfrm flipH="1">
            <a:off x="4330700" y="4740275"/>
            <a:ext cx="61913" cy="4460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88426" name="Line 356"/>
          <p:cNvSpPr>
            <a:spLocks noChangeShapeType="1"/>
          </p:cNvSpPr>
          <p:nvPr/>
        </p:nvSpPr>
        <p:spPr bwMode="auto">
          <a:xfrm>
            <a:off x="4700588" y="4679950"/>
            <a:ext cx="136525" cy="171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88427" name="Text Box 357"/>
          <p:cNvSpPr txBox="1">
            <a:spLocks noChangeArrowheads="1"/>
          </p:cNvSpPr>
          <p:nvPr/>
        </p:nvSpPr>
        <p:spPr bwMode="auto">
          <a:xfrm>
            <a:off x="3351213" y="5130800"/>
            <a:ext cx="754062"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nSpc>
                <a:spcPts val="1625"/>
              </a:lnSpc>
            </a:pPr>
            <a:r>
              <a:rPr lang="en-US" altLang="en-US" sz="1600">
                <a:latin typeface="Arial" pitchFamily="34" charset="0"/>
                <a:cs typeface="Arial" pitchFamily="34" charset="0"/>
              </a:rPr>
              <a:t>Web</a:t>
            </a:r>
          </a:p>
          <a:p>
            <a:pPr>
              <a:lnSpc>
                <a:spcPts val="1625"/>
              </a:lnSpc>
            </a:pPr>
            <a:r>
              <a:rPr lang="en-US" altLang="en-US" sz="1600">
                <a:latin typeface="Arial" pitchFamily="34" charset="0"/>
                <a:cs typeface="Arial" pitchFamily="34" charset="0"/>
              </a:rPr>
              <a:t>server</a:t>
            </a:r>
          </a:p>
        </p:txBody>
      </p:sp>
      <p:sp>
        <p:nvSpPr>
          <p:cNvPr id="188428" name="Text Box 358"/>
          <p:cNvSpPr txBox="1">
            <a:spLocks noChangeArrowheads="1"/>
          </p:cNvSpPr>
          <p:nvPr/>
        </p:nvSpPr>
        <p:spPr bwMode="auto">
          <a:xfrm>
            <a:off x="3967163" y="5427663"/>
            <a:ext cx="75565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nSpc>
                <a:spcPts val="1625"/>
              </a:lnSpc>
            </a:pPr>
            <a:r>
              <a:rPr lang="en-US" altLang="en-US" sz="1600">
                <a:latin typeface="Arial" pitchFamily="34" charset="0"/>
                <a:cs typeface="Arial" pitchFamily="34" charset="0"/>
              </a:rPr>
              <a:t>FTP</a:t>
            </a:r>
          </a:p>
          <a:p>
            <a:pPr>
              <a:lnSpc>
                <a:spcPts val="1625"/>
              </a:lnSpc>
            </a:pPr>
            <a:r>
              <a:rPr lang="en-US" altLang="en-US" sz="1600">
                <a:latin typeface="Arial" pitchFamily="34" charset="0"/>
                <a:cs typeface="Arial" pitchFamily="34" charset="0"/>
              </a:rPr>
              <a:t>server</a:t>
            </a:r>
          </a:p>
        </p:txBody>
      </p:sp>
      <p:sp>
        <p:nvSpPr>
          <p:cNvPr id="188429" name="Text Box 359"/>
          <p:cNvSpPr txBox="1">
            <a:spLocks noChangeArrowheads="1"/>
          </p:cNvSpPr>
          <p:nvPr/>
        </p:nvSpPr>
        <p:spPr bwMode="auto">
          <a:xfrm>
            <a:off x="4605338" y="5213350"/>
            <a:ext cx="75565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nSpc>
                <a:spcPts val="1625"/>
              </a:lnSpc>
            </a:pPr>
            <a:r>
              <a:rPr lang="en-US" altLang="en-US" sz="1600">
                <a:latin typeface="Arial" pitchFamily="34" charset="0"/>
                <a:cs typeface="Arial" pitchFamily="34" charset="0"/>
              </a:rPr>
              <a:t>DNS</a:t>
            </a:r>
          </a:p>
          <a:p>
            <a:pPr>
              <a:lnSpc>
                <a:spcPts val="1625"/>
              </a:lnSpc>
            </a:pPr>
            <a:r>
              <a:rPr lang="en-US" altLang="en-US" sz="1600">
                <a:latin typeface="Arial" pitchFamily="34" charset="0"/>
                <a:cs typeface="Arial" pitchFamily="34" charset="0"/>
              </a:rPr>
              <a:t>server</a:t>
            </a:r>
          </a:p>
        </p:txBody>
      </p:sp>
      <p:grpSp>
        <p:nvGrpSpPr>
          <p:cNvPr id="188430" name="Group 361"/>
          <p:cNvGrpSpPr>
            <a:grpSpLocks/>
          </p:cNvGrpSpPr>
          <p:nvPr/>
        </p:nvGrpSpPr>
        <p:grpSpPr bwMode="auto">
          <a:xfrm>
            <a:off x="4102100" y="3779838"/>
            <a:ext cx="569913" cy="285750"/>
            <a:chOff x="533" y="321"/>
            <a:chExt cx="359" cy="180"/>
          </a:xfrm>
        </p:grpSpPr>
        <p:grpSp>
          <p:nvGrpSpPr>
            <p:cNvPr id="188605" name="Group 362"/>
            <p:cNvGrpSpPr>
              <a:grpSpLocks/>
            </p:cNvGrpSpPr>
            <p:nvPr/>
          </p:nvGrpSpPr>
          <p:grpSpPr bwMode="auto">
            <a:xfrm>
              <a:off x="533" y="321"/>
              <a:ext cx="359" cy="180"/>
              <a:chOff x="1009" y="655"/>
              <a:chExt cx="359" cy="180"/>
            </a:xfrm>
          </p:grpSpPr>
          <p:sp>
            <p:nvSpPr>
              <p:cNvPr id="188607" name="Oval 363"/>
              <p:cNvSpPr>
                <a:spLocks noChangeArrowheads="1"/>
              </p:cNvSpPr>
              <p:nvPr/>
            </p:nvSpPr>
            <p:spPr bwMode="auto">
              <a:xfrm>
                <a:off x="1012" y="735"/>
                <a:ext cx="356" cy="100"/>
              </a:xfrm>
              <a:prstGeom prst="ellipse">
                <a:avLst/>
              </a:prstGeom>
              <a:solidFill>
                <a:schemeClr val="hlink"/>
              </a:solidFill>
              <a:ln w="12700">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08" name="Line 364"/>
              <p:cNvSpPr>
                <a:spLocks noChangeShapeType="1"/>
              </p:cNvSpPr>
              <p:nvPr/>
            </p:nvSpPr>
            <p:spPr bwMode="auto">
              <a:xfrm>
                <a:off x="1012" y="727"/>
                <a:ext cx="0" cy="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8609" name="Line 365"/>
              <p:cNvSpPr>
                <a:spLocks noChangeShapeType="1"/>
              </p:cNvSpPr>
              <p:nvPr/>
            </p:nvSpPr>
            <p:spPr bwMode="auto">
              <a:xfrm>
                <a:off x="1368" y="727"/>
                <a:ext cx="0" cy="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8610" name="Rectangle 366"/>
              <p:cNvSpPr>
                <a:spLocks noChangeArrowheads="1"/>
              </p:cNvSpPr>
              <p:nvPr/>
            </p:nvSpPr>
            <p:spPr bwMode="auto">
              <a:xfrm>
                <a:off x="1012" y="727"/>
                <a:ext cx="353" cy="61"/>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611" name="Oval 367"/>
              <p:cNvSpPr>
                <a:spLocks noChangeArrowheads="1"/>
              </p:cNvSpPr>
              <p:nvPr/>
            </p:nvSpPr>
            <p:spPr bwMode="auto">
              <a:xfrm>
                <a:off x="1009" y="655"/>
                <a:ext cx="356" cy="116"/>
              </a:xfrm>
              <a:prstGeom prst="ellipse">
                <a:avLst/>
              </a:prstGeom>
              <a:solidFill>
                <a:schemeClr val="hlink"/>
              </a:solidFill>
              <a:ln w="12700">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grpSp>
            <p:nvGrpSpPr>
              <p:cNvPr id="188612" name="Group 368"/>
              <p:cNvGrpSpPr>
                <a:grpSpLocks/>
              </p:cNvGrpSpPr>
              <p:nvPr/>
            </p:nvGrpSpPr>
            <p:grpSpPr bwMode="auto">
              <a:xfrm>
                <a:off x="1095" y="681"/>
                <a:ext cx="176" cy="68"/>
                <a:chOff x="2848" y="848"/>
                <a:chExt cx="140" cy="98"/>
              </a:xfrm>
            </p:grpSpPr>
            <p:sp>
              <p:nvSpPr>
                <p:cNvPr id="188617" name="Line 36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8618" name="Line 37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8619" name="Line 37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grpSp>
            <p:nvGrpSpPr>
              <p:cNvPr id="188613" name="Group 372"/>
              <p:cNvGrpSpPr>
                <a:grpSpLocks/>
              </p:cNvGrpSpPr>
              <p:nvPr/>
            </p:nvGrpSpPr>
            <p:grpSpPr bwMode="auto">
              <a:xfrm flipV="1">
                <a:off x="1095" y="680"/>
                <a:ext cx="176" cy="68"/>
                <a:chOff x="2848" y="848"/>
                <a:chExt cx="140" cy="98"/>
              </a:xfrm>
            </p:grpSpPr>
            <p:sp>
              <p:nvSpPr>
                <p:cNvPr id="188614" name="Line 37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8615" name="Line 37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88616" name="Line 37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grpSp>
        <p:sp>
          <p:nvSpPr>
            <p:cNvPr id="188606" name="Line 376"/>
            <p:cNvSpPr>
              <a:spLocks noChangeShapeType="1"/>
            </p:cNvSpPr>
            <p:nvPr/>
          </p:nvSpPr>
          <p:spPr bwMode="auto">
            <a:xfrm>
              <a:off x="535" y="368"/>
              <a:ext cx="0" cy="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sp>
        <p:nvSpPr>
          <p:cNvPr id="188431" name="Line 377"/>
          <p:cNvSpPr>
            <a:spLocks noChangeShapeType="1"/>
          </p:cNvSpPr>
          <p:nvPr/>
        </p:nvSpPr>
        <p:spPr bwMode="auto">
          <a:xfrm>
            <a:off x="5380038" y="3925888"/>
            <a:ext cx="2476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188432" name="Text Box 378"/>
          <p:cNvSpPr txBox="1">
            <a:spLocks noChangeArrowheads="1"/>
          </p:cNvSpPr>
          <p:nvPr/>
        </p:nvSpPr>
        <p:spPr bwMode="auto">
          <a:xfrm>
            <a:off x="6316663" y="3716338"/>
            <a:ext cx="10541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Internet</a:t>
            </a:r>
          </a:p>
        </p:txBody>
      </p:sp>
      <p:sp>
        <p:nvSpPr>
          <p:cNvPr id="188433" name="Text Box 379"/>
          <p:cNvSpPr txBox="1">
            <a:spLocks noChangeArrowheads="1"/>
          </p:cNvSpPr>
          <p:nvPr/>
        </p:nvSpPr>
        <p:spPr bwMode="auto">
          <a:xfrm>
            <a:off x="4960938" y="5661025"/>
            <a:ext cx="1625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demilitarized </a:t>
            </a:r>
          </a:p>
          <a:p>
            <a:r>
              <a:rPr lang="en-US" altLang="en-US">
                <a:latin typeface="Arial" pitchFamily="34" charset="0"/>
                <a:cs typeface="Arial" pitchFamily="34" charset="0"/>
              </a:rPr>
              <a:t>zone</a:t>
            </a:r>
          </a:p>
        </p:txBody>
      </p:sp>
      <p:sp>
        <p:nvSpPr>
          <p:cNvPr id="188434" name="Text Box 381"/>
          <p:cNvSpPr txBox="1">
            <a:spLocks noChangeArrowheads="1"/>
          </p:cNvSpPr>
          <p:nvPr/>
        </p:nvSpPr>
        <p:spPr bwMode="auto">
          <a:xfrm>
            <a:off x="4017963" y="2767013"/>
            <a:ext cx="8239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600">
                <a:latin typeface="Arial" pitchFamily="34" charset="0"/>
                <a:cs typeface="Arial" pitchFamily="34" charset="0"/>
              </a:rPr>
              <a:t>firewall</a:t>
            </a:r>
          </a:p>
        </p:txBody>
      </p:sp>
      <p:sp>
        <p:nvSpPr>
          <p:cNvPr id="188435" name="Oval 384"/>
          <p:cNvSpPr>
            <a:spLocks noChangeArrowheads="1"/>
          </p:cNvSpPr>
          <p:nvPr/>
        </p:nvSpPr>
        <p:spPr bwMode="auto">
          <a:xfrm>
            <a:off x="4337050" y="4229100"/>
            <a:ext cx="134938" cy="134938"/>
          </a:xfrm>
          <a:prstGeom prst="ellipse">
            <a:avLst/>
          </a:prstGeom>
          <a:solidFill>
            <a:srgbClr val="FF0000"/>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436" name="Text Box 385"/>
          <p:cNvSpPr txBox="1">
            <a:spLocks noChangeArrowheads="1"/>
          </p:cNvSpPr>
          <p:nvPr/>
        </p:nvSpPr>
        <p:spPr bwMode="auto">
          <a:xfrm>
            <a:off x="1498600" y="4997450"/>
            <a:ext cx="12620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pPr algn="ctr"/>
            <a:r>
              <a:rPr lang="en-US" altLang="en-US" sz="2400">
                <a:solidFill>
                  <a:srgbClr val="CC0000"/>
                </a:solidFill>
                <a:latin typeface="Arial" pitchFamily="34" charset="0"/>
                <a:cs typeface="Arial" pitchFamily="34" charset="0"/>
              </a:rPr>
              <a:t>IDS </a:t>
            </a:r>
          </a:p>
          <a:p>
            <a:pPr algn="ctr"/>
            <a:r>
              <a:rPr lang="en-US" altLang="en-US" sz="2400">
                <a:solidFill>
                  <a:srgbClr val="CC0000"/>
                </a:solidFill>
                <a:latin typeface="Arial" pitchFamily="34" charset="0"/>
                <a:cs typeface="Arial" pitchFamily="34" charset="0"/>
              </a:rPr>
              <a:t>sensors</a:t>
            </a:r>
          </a:p>
        </p:txBody>
      </p:sp>
      <p:sp>
        <p:nvSpPr>
          <p:cNvPr id="188437" name="Line 389"/>
          <p:cNvSpPr>
            <a:spLocks noChangeShapeType="1"/>
          </p:cNvSpPr>
          <p:nvPr/>
        </p:nvSpPr>
        <p:spPr bwMode="auto">
          <a:xfrm flipV="1">
            <a:off x="2166938" y="4354513"/>
            <a:ext cx="2152650" cy="695325"/>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88438" name="Rectangle 391"/>
          <p:cNvSpPr>
            <a:spLocks noGrp="1" noChangeArrowheads="1"/>
          </p:cNvSpPr>
          <p:nvPr>
            <p:ph type="title"/>
          </p:nvPr>
        </p:nvSpPr>
        <p:spPr>
          <a:noFill/>
        </p:spPr>
        <p:txBody>
          <a:bodyPr/>
          <a:lstStyle/>
          <a:p>
            <a:r>
              <a:rPr lang="en-US" altLang="en-US" smtClean="0">
                <a:ea typeface="ＭＳ Ｐゴシック" pitchFamily="34" charset="-128"/>
              </a:rPr>
              <a:t>Intrusion detection systems</a:t>
            </a:r>
          </a:p>
        </p:txBody>
      </p:sp>
      <p:sp>
        <p:nvSpPr>
          <p:cNvPr id="188439" name="Rectangle 392"/>
          <p:cNvSpPr>
            <a:spLocks noGrp="1" noChangeArrowheads="1"/>
          </p:cNvSpPr>
          <p:nvPr>
            <p:ph type="body" idx="1"/>
          </p:nvPr>
        </p:nvSpPr>
        <p:spPr>
          <a:xfrm>
            <a:off x="477838" y="1335088"/>
            <a:ext cx="7772400" cy="1130300"/>
          </a:xfrm>
        </p:spPr>
        <p:txBody>
          <a:bodyPr/>
          <a:lstStyle/>
          <a:p>
            <a:r>
              <a:rPr lang="en-US" altLang="en-US" smtClean="0">
                <a:ea typeface="ＭＳ Ｐゴシック" pitchFamily="34" charset="-128"/>
              </a:rPr>
              <a:t>multiple IDSs: different types of checking at different locations</a:t>
            </a:r>
          </a:p>
        </p:txBody>
      </p:sp>
      <p:sp>
        <p:nvSpPr>
          <p:cNvPr id="188440" name="Freeform 17"/>
          <p:cNvSpPr>
            <a:spLocks/>
          </p:cNvSpPr>
          <p:nvPr/>
        </p:nvSpPr>
        <p:spPr bwMode="auto">
          <a:xfrm>
            <a:off x="219075" y="2854325"/>
            <a:ext cx="3649663" cy="1808163"/>
          </a:xfrm>
          <a:custGeom>
            <a:avLst/>
            <a:gdLst/>
            <a:ahLst/>
            <a:cxnLst/>
            <a:rect l="0" t="0" r="r" b="b"/>
            <a:pathLst>
              <a:path w="10000" h="10000">
                <a:moveTo>
                  <a:pt x="323" y="164"/>
                </a:moveTo>
                <a:lnTo>
                  <a:pt x="341" y="143"/>
                </a:lnTo>
                <a:cubicBezTo>
                  <a:pt x="349" y="129"/>
                  <a:pt x="357" y="116"/>
                  <a:pt x="365" y="102"/>
                </a:cubicBezTo>
                <a:lnTo>
                  <a:pt x="413" y="72"/>
                </a:lnTo>
                <a:cubicBezTo>
                  <a:pt x="429" y="58"/>
                  <a:pt x="445" y="45"/>
                  <a:pt x="461" y="31"/>
                </a:cubicBezTo>
                <a:lnTo>
                  <a:pt x="514" y="10"/>
                </a:lnTo>
                <a:cubicBezTo>
                  <a:pt x="534" y="7"/>
                  <a:pt x="554" y="3"/>
                  <a:pt x="574" y="0"/>
                </a:cubicBezTo>
                <a:lnTo>
                  <a:pt x="628" y="0"/>
                </a:lnTo>
                <a:lnTo>
                  <a:pt x="694" y="0"/>
                </a:lnTo>
                <a:cubicBezTo>
                  <a:pt x="716" y="3"/>
                  <a:pt x="738" y="7"/>
                  <a:pt x="760" y="10"/>
                </a:cubicBezTo>
                <a:lnTo>
                  <a:pt x="825" y="31"/>
                </a:lnTo>
                <a:lnTo>
                  <a:pt x="891" y="61"/>
                </a:lnTo>
                <a:cubicBezTo>
                  <a:pt x="915" y="71"/>
                  <a:pt x="939" y="82"/>
                  <a:pt x="963" y="92"/>
                </a:cubicBezTo>
                <a:cubicBezTo>
                  <a:pt x="989" y="106"/>
                  <a:pt x="1015" y="119"/>
                  <a:pt x="1041" y="133"/>
                </a:cubicBezTo>
                <a:lnTo>
                  <a:pt x="1118" y="174"/>
                </a:lnTo>
                <a:lnTo>
                  <a:pt x="1196" y="225"/>
                </a:lnTo>
                <a:lnTo>
                  <a:pt x="1268" y="276"/>
                </a:lnTo>
                <a:cubicBezTo>
                  <a:pt x="1294" y="290"/>
                  <a:pt x="1320" y="303"/>
                  <a:pt x="1346" y="317"/>
                </a:cubicBezTo>
                <a:lnTo>
                  <a:pt x="1513" y="440"/>
                </a:lnTo>
                <a:lnTo>
                  <a:pt x="1681" y="553"/>
                </a:lnTo>
                <a:lnTo>
                  <a:pt x="1848" y="665"/>
                </a:lnTo>
                <a:lnTo>
                  <a:pt x="2022" y="778"/>
                </a:lnTo>
                <a:cubicBezTo>
                  <a:pt x="2050" y="798"/>
                  <a:pt x="2077" y="819"/>
                  <a:pt x="2105" y="839"/>
                </a:cubicBezTo>
                <a:cubicBezTo>
                  <a:pt x="2133" y="853"/>
                  <a:pt x="2161" y="866"/>
                  <a:pt x="2189" y="880"/>
                </a:cubicBezTo>
                <a:cubicBezTo>
                  <a:pt x="2217" y="894"/>
                  <a:pt x="2245" y="907"/>
                  <a:pt x="2273" y="921"/>
                </a:cubicBezTo>
                <a:lnTo>
                  <a:pt x="2356" y="972"/>
                </a:lnTo>
                <a:lnTo>
                  <a:pt x="2440" y="993"/>
                </a:lnTo>
                <a:cubicBezTo>
                  <a:pt x="2468" y="1003"/>
                  <a:pt x="2496" y="1014"/>
                  <a:pt x="2524" y="1024"/>
                </a:cubicBezTo>
                <a:lnTo>
                  <a:pt x="2608" y="1054"/>
                </a:lnTo>
                <a:cubicBezTo>
                  <a:pt x="2638" y="1057"/>
                  <a:pt x="2667" y="1061"/>
                  <a:pt x="2697" y="1064"/>
                </a:cubicBezTo>
                <a:cubicBezTo>
                  <a:pt x="2725" y="1068"/>
                  <a:pt x="2753" y="1071"/>
                  <a:pt x="2781" y="1075"/>
                </a:cubicBezTo>
                <a:lnTo>
                  <a:pt x="2853" y="1075"/>
                </a:lnTo>
                <a:cubicBezTo>
                  <a:pt x="2881" y="1262"/>
                  <a:pt x="2909" y="1143"/>
                  <a:pt x="2937" y="1330"/>
                </a:cubicBezTo>
                <a:cubicBezTo>
                  <a:pt x="2963" y="1118"/>
                  <a:pt x="2988" y="1287"/>
                  <a:pt x="3014" y="1075"/>
                </a:cubicBezTo>
                <a:cubicBezTo>
                  <a:pt x="3042" y="1071"/>
                  <a:pt x="3070" y="1068"/>
                  <a:pt x="3098" y="1064"/>
                </a:cubicBezTo>
                <a:lnTo>
                  <a:pt x="3182" y="1064"/>
                </a:lnTo>
                <a:lnTo>
                  <a:pt x="3343" y="1024"/>
                </a:lnTo>
                <a:lnTo>
                  <a:pt x="3505" y="1003"/>
                </a:lnTo>
                <a:lnTo>
                  <a:pt x="3672" y="972"/>
                </a:lnTo>
                <a:lnTo>
                  <a:pt x="3834" y="921"/>
                </a:lnTo>
                <a:lnTo>
                  <a:pt x="4007" y="880"/>
                </a:lnTo>
                <a:lnTo>
                  <a:pt x="4175" y="850"/>
                </a:lnTo>
                <a:lnTo>
                  <a:pt x="4348" y="809"/>
                </a:lnTo>
                <a:lnTo>
                  <a:pt x="4528" y="788"/>
                </a:lnTo>
                <a:cubicBezTo>
                  <a:pt x="4562" y="785"/>
                  <a:pt x="4595" y="781"/>
                  <a:pt x="4629" y="778"/>
                </a:cubicBezTo>
                <a:cubicBezTo>
                  <a:pt x="4659" y="775"/>
                  <a:pt x="4689" y="771"/>
                  <a:pt x="4719" y="768"/>
                </a:cubicBezTo>
                <a:lnTo>
                  <a:pt x="4809" y="768"/>
                </a:lnTo>
                <a:lnTo>
                  <a:pt x="4904" y="768"/>
                </a:lnTo>
                <a:lnTo>
                  <a:pt x="5006" y="778"/>
                </a:lnTo>
                <a:lnTo>
                  <a:pt x="5102" y="778"/>
                </a:lnTo>
                <a:cubicBezTo>
                  <a:pt x="5138" y="781"/>
                  <a:pt x="5173" y="785"/>
                  <a:pt x="5209" y="788"/>
                </a:cubicBezTo>
                <a:lnTo>
                  <a:pt x="5311" y="809"/>
                </a:lnTo>
                <a:lnTo>
                  <a:pt x="5419" y="839"/>
                </a:lnTo>
                <a:lnTo>
                  <a:pt x="5520" y="860"/>
                </a:lnTo>
                <a:lnTo>
                  <a:pt x="5634" y="901"/>
                </a:lnTo>
                <a:lnTo>
                  <a:pt x="5748" y="931"/>
                </a:lnTo>
                <a:lnTo>
                  <a:pt x="5861" y="972"/>
                </a:lnTo>
                <a:lnTo>
                  <a:pt x="5999" y="1003"/>
                </a:lnTo>
                <a:lnTo>
                  <a:pt x="6124" y="1044"/>
                </a:lnTo>
                <a:lnTo>
                  <a:pt x="6256" y="1085"/>
                </a:lnTo>
                <a:lnTo>
                  <a:pt x="6394" y="1126"/>
                </a:lnTo>
                <a:lnTo>
                  <a:pt x="6531" y="1167"/>
                </a:lnTo>
                <a:lnTo>
                  <a:pt x="6681" y="1218"/>
                </a:lnTo>
                <a:lnTo>
                  <a:pt x="6824" y="1269"/>
                </a:lnTo>
                <a:lnTo>
                  <a:pt x="7117" y="1372"/>
                </a:lnTo>
                <a:lnTo>
                  <a:pt x="7410" y="1494"/>
                </a:lnTo>
                <a:lnTo>
                  <a:pt x="7703" y="1627"/>
                </a:lnTo>
                <a:lnTo>
                  <a:pt x="7853" y="1699"/>
                </a:lnTo>
                <a:lnTo>
                  <a:pt x="7996" y="1771"/>
                </a:lnTo>
                <a:lnTo>
                  <a:pt x="8140" y="1842"/>
                </a:lnTo>
                <a:lnTo>
                  <a:pt x="8278" y="1914"/>
                </a:lnTo>
                <a:cubicBezTo>
                  <a:pt x="8322" y="1941"/>
                  <a:pt x="8365" y="1969"/>
                  <a:pt x="8409" y="1996"/>
                </a:cubicBezTo>
                <a:lnTo>
                  <a:pt x="8547" y="2078"/>
                </a:lnTo>
                <a:cubicBezTo>
                  <a:pt x="8589" y="2105"/>
                  <a:pt x="8630" y="2133"/>
                  <a:pt x="8672" y="2160"/>
                </a:cubicBezTo>
                <a:lnTo>
                  <a:pt x="8798" y="2252"/>
                </a:lnTo>
                <a:lnTo>
                  <a:pt x="8911" y="2344"/>
                </a:lnTo>
                <a:lnTo>
                  <a:pt x="9025" y="2436"/>
                </a:lnTo>
                <a:lnTo>
                  <a:pt x="9133" y="2538"/>
                </a:lnTo>
                <a:cubicBezTo>
                  <a:pt x="9149" y="2552"/>
                  <a:pt x="9165" y="2565"/>
                  <a:pt x="9181" y="2579"/>
                </a:cubicBezTo>
                <a:lnTo>
                  <a:pt x="9228" y="2641"/>
                </a:lnTo>
                <a:lnTo>
                  <a:pt x="9276" y="2692"/>
                </a:lnTo>
                <a:cubicBezTo>
                  <a:pt x="9290" y="2706"/>
                  <a:pt x="9304" y="2719"/>
                  <a:pt x="9318" y="2733"/>
                </a:cubicBezTo>
                <a:cubicBezTo>
                  <a:pt x="9332" y="2753"/>
                  <a:pt x="9346" y="2774"/>
                  <a:pt x="9360" y="2794"/>
                </a:cubicBezTo>
                <a:cubicBezTo>
                  <a:pt x="9374" y="2815"/>
                  <a:pt x="9388" y="2835"/>
                  <a:pt x="9402" y="2856"/>
                </a:cubicBezTo>
                <a:lnTo>
                  <a:pt x="9444" y="2907"/>
                </a:lnTo>
                <a:cubicBezTo>
                  <a:pt x="9456" y="2927"/>
                  <a:pt x="9468" y="2948"/>
                  <a:pt x="9480" y="2968"/>
                </a:cubicBezTo>
                <a:cubicBezTo>
                  <a:pt x="9492" y="2989"/>
                  <a:pt x="9504" y="3009"/>
                  <a:pt x="9516" y="3030"/>
                </a:cubicBezTo>
                <a:cubicBezTo>
                  <a:pt x="9528" y="3047"/>
                  <a:pt x="9539" y="3064"/>
                  <a:pt x="9551" y="3081"/>
                </a:cubicBezTo>
                <a:lnTo>
                  <a:pt x="9611" y="3204"/>
                </a:lnTo>
                <a:cubicBezTo>
                  <a:pt x="9629" y="3248"/>
                  <a:pt x="9647" y="3293"/>
                  <a:pt x="9665" y="3337"/>
                </a:cubicBezTo>
                <a:cubicBezTo>
                  <a:pt x="9683" y="3385"/>
                  <a:pt x="9701" y="3432"/>
                  <a:pt x="9719" y="3480"/>
                </a:cubicBezTo>
                <a:cubicBezTo>
                  <a:pt x="9735" y="3531"/>
                  <a:pt x="9751" y="3583"/>
                  <a:pt x="9767" y="3634"/>
                </a:cubicBezTo>
                <a:lnTo>
                  <a:pt x="9809" y="3787"/>
                </a:lnTo>
                <a:cubicBezTo>
                  <a:pt x="9823" y="3838"/>
                  <a:pt x="9836" y="3890"/>
                  <a:pt x="9850" y="3941"/>
                </a:cubicBezTo>
                <a:cubicBezTo>
                  <a:pt x="9858" y="4002"/>
                  <a:pt x="9866" y="4064"/>
                  <a:pt x="9874" y="4125"/>
                </a:cubicBezTo>
                <a:cubicBezTo>
                  <a:pt x="9884" y="4180"/>
                  <a:pt x="9894" y="4234"/>
                  <a:pt x="9904" y="4289"/>
                </a:cubicBezTo>
                <a:cubicBezTo>
                  <a:pt x="9914" y="4354"/>
                  <a:pt x="9924" y="4418"/>
                  <a:pt x="9934" y="4483"/>
                </a:cubicBezTo>
                <a:cubicBezTo>
                  <a:pt x="9940" y="4544"/>
                  <a:pt x="9946" y="4606"/>
                  <a:pt x="9952" y="4667"/>
                </a:cubicBezTo>
                <a:cubicBezTo>
                  <a:pt x="9958" y="4729"/>
                  <a:pt x="9964" y="4790"/>
                  <a:pt x="9970" y="4852"/>
                </a:cubicBezTo>
                <a:cubicBezTo>
                  <a:pt x="9974" y="4917"/>
                  <a:pt x="9978" y="4981"/>
                  <a:pt x="9982" y="5046"/>
                </a:cubicBezTo>
                <a:lnTo>
                  <a:pt x="9994" y="5241"/>
                </a:lnTo>
                <a:lnTo>
                  <a:pt x="9994" y="5425"/>
                </a:lnTo>
                <a:lnTo>
                  <a:pt x="10000" y="5629"/>
                </a:lnTo>
                <a:lnTo>
                  <a:pt x="9994" y="5824"/>
                </a:lnTo>
                <a:lnTo>
                  <a:pt x="9994" y="6018"/>
                </a:lnTo>
                <a:lnTo>
                  <a:pt x="9988" y="6213"/>
                </a:lnTo>
                <a:cubicBezTo>
                  <a:pt x="9984" y="6278"/>
                  <a:pt x="9980" y="6342"/>
                  <a:pt x="9976" y="6407"/>
                </a:cubicBezTo>
                <a:lnTo>
                  <a:pt x="9958" y="6602"/>
                </a:lnTo>
                <a:lnTo>
                  <a:pt x="9946" y="6776"/>
                </a:lnTo>
                <a:cubicBezTo>
                  <a:pt x="9940" y="6837"/>
                  <a:pt x="9934" y="6899"/>
                  <a:pt x="9928" y="6960"/>
                </a:cubicBezTo>
                <a:lnTo>
                  <a:pt x="9904" y="7134"/>
                </a:lnTo>
                <a:cubicBezTo>
                  <a:pt x="9894" y="7195"/>
                  <a:pt x="9884" y="7257"/>
                  <a:pt x="9874" y="7318"/>
                </a:cubicBezTo>
                <a:cubicBezTo>
                  <a:pt x="9868" y="7373"/>
                  <a:pt x="9862" y="7427"/>
                  <a:pt x="9856" y="7482"/>
                </a:cubicBezTo>
                <a:cubicBezTo>
                  <a:pt x="9846" y="7537"/>
                  <a:pt x="9837" y="7591"/>
                  <a:pt x="9827" y="7646"/>
                </a:cubicBezTo>
                <a:lnTo>
                  <a:pt x="9791" y="7799"/>
                </a:lnTo>
                <a:lnTo>
                  <a:pt x="9761" y="7943"/>
                </a:lnTo>
                <a:cubicBezTo>
                  <a:pt x="9749" y="7991"/>
                  <a:pt x="9737" y="8038"/>
                  <a:pt x="9725" y="8086"/>
                </a:cubicBezTo>
                <a:cubicBezTo>
                  <a:pt x="9713" y="8130"/>
                  <a:pt x="9701" y="8175"/>
                  <a:pt x="9689" y="8219"/>
                </a:cubicBezTo>
                <a:cubicBezTo>
                  <a:pt x="9677" y="8257"/>
                  <a:pt x="9665" y="8294"/>
                  <a:pt x="9653" y="8332"/>
                </a:cubicBezTo>
                <a:cubicBezTo>
                  <a:pt x="9639" y="8369"/>
                  <a:pt x="9625" y="8407"/>
                  <a:pt x="9611" y="8444"/>
                </a:cubicBezTo>
                <a:cubicBezTo>
                  <a:pt x="9597" y="8475"/>
                  <a:pt x="9583" y="8505"/>
                  <a:pt x="9569" y="8536"/>
                </a:cubicBezTo>
                <a:cubicBezTo>
                  <a:pt x="9553" y="8567"/>
                  <a:pt x="9538" y="8597"/>
                  <a:pt x="9522" y="8628"/>
                </a:cubicBezTo>
                <a:lnTo>
                  <a:pt x="9474" y="8721"/>
                </a:lnTo>
                <a:cubicBezTo>
                  <a:pt x="9454" y="8745"/>
                  <a:pt x="9434" y="8768"/>
                  <a:pt x="9414" y="8792"/>
                </a:cubicBezTo>
                <a:cubicBezTo>
                  <a:pt x="9394" y="8819"/>
                  <a:pt x="9374" y="8847"/>
                  <a:pt x="9354" y="8874"/>
                </a:cubicBezTo>
                <a:cubicBezTo>
                  <a:pt x="9332" y="8895"/>
                  <a:pt x="9310" y="8915"/>
                  <a:pt x="9288" y="8936"/>
                </a:cubicBezTo>
                <a:cubicBezTo>
                  <a:pt x="9268" y="8956"/>
                  <a:pt x="9248" y="8977"/>
                  <a:pt x="9228" y="8997"/>
                </a:cubicBezTo>
                <a:lnTo>
                  <a:pt x="9157" y="9048"/>
                </a:lnTo>
                <a:cubicBezTo>
                  <a:pt x="9131" y="9069"/>
                  <a:pt x="9105" y="9089"/>
                  <a:pt x="9079" y="9110"/>
                </a:cubicBezTo>
                <a:lnTo>
                  <a:pt x="9007" y="9161"/>
                </a:lnTo>
                <a:lnTo>
                  <a:pt x="8929" y="9191"/>
                </a:lnTo>
                <a:lnTo>
                  <a:pt x="8846" y="9232"/>
                </a:lnTo>
                <a:cubicBezTo>
                  <a:pt x="8818" y="9242"/>
                  <a:pt x="8790" y="9253"/>
                  <a:pt x="8762" y="9263"/>
                </a:cubicBezTo>
                <a:cubicBezTo>
                  <a:pt x="8734" y="9277"/>
                  <a:pt x="8706" y="9290"/>
                  <a:pt x="8678" y="9304"/>
                </a:cubicBezTo>
                <a:cubicBezTo>
                  <a:pt x="8648" y="9314"/>
                  <a:pt x="8619" y="9325"/>
                  <a:pt x="8589" y="9335"/>
                </a:cubicBezTo>
                <a:lnTo>
                  <a:pt x="8493" y="9365"/>
                </a:lnTo>
                <a:lnTo>
                  <a:pt x="8313" y="9406"/>
                </a:lnTo>
                <a:lnTo>
                  <a:pt x="8122" y="9447"/>
                </a:lnTo>
                <a:lnTo>
                  <a:pt x="7931" y="9478"/>
                </a:lnTo>
                <a:lnTo>
                  <a:pt x="7733" y="9519"/>
                </a:lnTo>
                <a:lnTo>
                  <a:pt x="7530" y="9539"/>
                </a:lnTo>
                <a:lnTo>
                  <a:pt x="7339" y="9580"/>
                </a:lnTo>
                <a:lnTo>
                  <a:pt x="7141" y="9611"/>
                </a:lnTo>
                <a:lnTo>
                  <a:pt x="6950" y="9662"/>
                </a:lnTo>
                <a:lnTo>
                  <a:pt x="6854" y="9683"/>
                </a:lnTo>
                <a:lnTo>
                  <a:pt x="6758" y="9713"/>
                </a:lnTo>
                <a:lnTo>
                  <a:pt x="6651" y="9724"/>
                </a:lnTo>
                <a:lnTo>
                  <a:pt x="6549" y="9744"/>
                </a:lnTo>
                <a:lnTo>
                  <a:pt x="6441" y="9765"/>
                </a:lnTo>
                <a:lnTo>
                  <a:pt x="6334" y="9785"/>
                </a:lnTo>
                <a:lnTo>
                  <a:pt x="6226" y="9806"/>
                </a:lnTo>
                <a:lnTo>
                  <a:pt x="6112" y="9816"/>
                </a:lnTo>
                <a:lnTo>
                  <a:pt x="5885" y="9857"/>
                </a:lnTo>
                <a:lnTo>
                  <a:pt x="5652" y="9887"/>
                </a:lnTo>
                <a:lnTo>
                  <a:pt x="5425" y="9918"/>
                </a:lnTo>
                <a:lnTo>
                  <a:pt x="5185" y="9928"/>
                </a:lnTo>
                <a:lnTo>
                  <a:pt x="4958" y="9949"/>
                </a:lnTo>
                <a:lnTo>
                  <a:pt x="4731" y="9959"/>
                </a:lnTo>
                <a:lnTo>
                  <a:pt x="4623" y="9969"/>
                </a:lnTo>
                <a:lnTo>
                  <a:pt x="4510" y="9969"/>
                </a:lnTo>
                <a:lnTo>
                  <a:pt x="4402" y="9990"/>
                </a:lnTo>
                <a:lnTo>
                  <a:pt x="4294" y="9990"/>
                </a:lnTo>
                <a:lnTo>
                  <a:pt x="4193" y="9990"/>
                </a:lnTo>
                <a:lnTo>
                  <a:pt x="4091" y="10000"/>
                </a:lnTo>
                <a:lnTo>
                  <a:pt x="3995" y="10000"/>
                </a:lnTo>
                <a:lnTo>
                  <a:pt x="3894" y="10000"/>
                </a:lnTo>
                <a:lnTo>
                  <a:pt x="3804" y="10000"/>
                </a:lnTo>
                <a:lnTo>
                  <a:pt x="3714" y="10000"/>
                </a:lnTo>
                <a:lnTo>
                  <a:pt x="3630" y="10000"/>
                </a:lnTo>
                <a:lnTo>
                  <a:pt x="3547" y="10000"/>
                </a:lnTo>
                <a:cubicBezTo>
                  <a:pt x="3521" y="9997"/>
                  <a:pt x="3495" y="9993"/>
                  <a:pt x="3469" y="9990"/>
                </a:cubicBezTo>
                <a:lnTo>
                  <a:pt x="3391" y="9990"/>
                </a:lnTo>
                <a:lnTo>
                  <a:pt x="3325" y="9990"/>
                </a:lnTo>
                <a:lnTo>
                  <a:pt x="3254" y="9969"/>
                </a:lnTo>
                <a:lnTo>
                  <a:pt x="3182" y="9969"/>
                </a:lnTo>
                <a:lnTo>
                  <a:pt x="3122" y="9969"/>
                </a:lnTo>
                <a:cubicBezTo>
                  <a:pt x="3100" y="9966"/>
                  <a:pt x="3078" y="9962"/>
                  <a:pt x="3056" y="9959"/>
                </a:cubicBezTo>
                <a:cubicBezTo>
                  <a:pt x="3038" y="9956"/>
                  <a:pt x="3020" y="9952"/>
                  <a:pt x="3002" y="9949"/>
                </a:cubicBezTo>
                <a:lnTo>
                  <a:pt x="2949" y="9949"/>
                </a:lnTo>
                <a:cubicBezTo>
                  <a:pt x="2929" y="9946"/>
                  <a:pt x="2909" y="9942"/>
                  <a:pt x="2889" y="9939"/>
                </a:cubicBezTo>
                <a:cubicBezTo>
                  <a:pt x="2871" y="9935"/>
                  <a:pt x="2853" y="9932"/>
                  <a:pt x="2835" y="9928"/>
                </a:cubicBezTo>
                <a:cubicBezTo>
                  <a:pt x="2817" y="9925"/>
                  <a:pt x="2799" y="9921"/>
                  <a:pt x="2781" y="9918"/>
                </a:cubicBezTo>
                <a:lnTo>
                  <a:pt x="2679" y="9887"/>
                </a:lnTo>
                <a:lnTo>
                  <a:pt x="2584" y="9867"/>
                </a:lnTo>
                <a:cubicBezTo>
                  <a:pt x="2554" y="9853"/>
                  <a:pt x="2524" y="9840"/>
                  <a:pt x="2494" y="9826"/>
                </a:cubicBezTo>
                <a:cubicBezTo>
                  <a:pt x="2462" y="9819"/>
                  <a:pt x="2430" y="9813"/>
                  <a:pt x="2398" y="9806"/>
                </a:cubicBezTo>
                <a:lnTo>
                  <a:pt x="2225" y="9724"/>
                </a:lnTo>
                <a:cubicBezTo>
                  <a:pt x="2195" y="9710"/>
                  <a:pt x="2165" y="9697"/>
                  <a:pt x="2135" y="9683"/>
                </a:cubicBezTo>
                <a:cubicBezTo>
                  <a:pt x="2105" y="9669"/>
                  <a:pt x="2075" y="9656"/>
                  <a:pt x="2045" y="9642"/>
                </a:cubicBezTo>
                <a:lnTo>
                  <a:pt x="1950" y="9591"/>
                </a:lnTo>
                <a:lnTo>
                  <a:pt x="1842" y="9539"/>
                </a:lnTo>
                <a:lnTo>
                  <a:pt x="1740" y="9498"/>
                </a:lnTo>
                <a:lnTo>
                  <a:pt x="1633" y="9447"/>
                </a:lnTo>
                <a:lnTo>
                  <a:pt x="1519" y="9396"/>
                </a:lnTo>
                <a:lnTo>
                  <a:pt x="1411" y="9355"/>
                </a:lnTo>
                <a:cubicBezTo>
                  <a:pt x="1371" y="9335"/>
                  <a:pt x="1332" y="9314"/>
                  <a:pt x="1292" y="9294"/>
                </a:cubicBezTo>
                <a:lnTo>
                  <a:pt x="1178" y="9243"/>
                </a:lnTo>
                <a:lnTo>
                  <a:pt x="1071" y="9181"/>
                </a:lnTo>
                <a:lnTo>
                  <a:pt x="957" y="9120"/>
                </a:lnTo>
                <a:lnTo>
                  <a:pt x="849" y="9069"/>
                </a:lnTo>
                <a:lnTo>
                  <a:pt x="748" y="8976"/>
                </a:lnTo>
                <a:cubicBezTo>
                  <a:pt x="716" y="8952"/>
                  <a:pt x="684" y="8929"/>
                  <a:pt x="652" y="8905"/>
                </a:cubicBezTo>
                <a:lnTo>
                  <a:pt x="550" y="8813"/>
                </a:lnTo>
                <a:lnTo>
                  <a:pt x="508" y="8762"/>
                </a:lnTo>
                <a:lnTo>
                  <a:pt x="467" y="8721"/>
                </a:lnTo>
                <a:cubicBezTo>
                  <a:pt x="453" y="8700"/>
                  <a:pt x="439" y="8680"/>
                  <a:pt x="425" y="8659"/>
                </a:cubicBezTo>
                <a:lnTo>
                  <a:pt x="383" y="8608"/>
                </a:lnTo>
                <a:cubicBezTo>
                  <a:pt x="371" y="8588"/>
                  <a:pt x="359" y="8567"/>
                  <a:pt x="347" y="8547"/>
                </a:cubicBezTo>
                <a:lnTo>
                  <a:pt x="317" y="8475"/>
                </a:lnTo>
                <a:cubicBezTo>
                  <a:pt x="305" y="8455"/>
                  <a:pt x="293" y="8434"/>
                  <a:pt x="281" y="8414"/>
                </a:cubicBezTo>
                <a:lnTo>
                  <a:pt x="251" y="8342"/>
                </a:lnTo>
                <a:lnTo>
                  <a:pt x="221" y="8270"/>
                </a:lnTo>
                <a:cubicBezTo>
                  <a:pt x="215" y="8246"/>
                  <a:pt x="209" y="8223"/>
                  <a:pt x="203" y="8199"/>
                </a:cubicBezTo>
                <a:cubicBezTo>
                  <a:pt x="193" y="8172"/>
                  <a:pt x="183" y="8144"/>
                  <a:pt x="173" y="8117"/>
                </a:cubicBezTo>
                <a:cubicBezTo>
                  <a:pt x="167" y="8093"/>
                  <a:pt x="162" y="8069"/>
                  <a:pt x="156" y="8045"/>
                </a:cubicBezTo>
                <a:cubicBezTo>
                  <a:pt x="148" y="8018"/>
                  <a:pt x="140" y="7990"/>
                  <a:pt x="132" y="7963"/>
                </a:cubicBezTo>
                <a:cubicBezTo>
                  <a:pt x="128" y="7936"/>
                  <a:pt x="124" y="7908"/>
                  <a:pt x="120" y="7881"/>
                </a:cubicBezTo>
                <a:cubicBezTo>
                  <a:pt x="108" y="7820"/>
                  <a:pt x="96" y="7758"/>
                  <a:pt x="84" y="7697"/>
                </a:cubicBezTo>
                <a:lnTo>
                  <a:pt x="54" y="7523"/>
                </a:lnTo>
                <a:cubicBezTo>
                  <a:pt x="50" y="7458"/>
                  <a:pt x="46" y="7394"/>
                  <a:pt x="42" y="7329"/>
                </a:cubicBezTo>
                <a:cubicBezTo>
                  <a:pt x="38" y="7261"/>
                  <a:pt x="34" y="7192"/>
                  <a:pt x="30" y="7124"/>
                </a:cubicBezTo>
                <a:cubicBezTo>
                  <a:pt x="24" y="7052"/>
                  <a:pt x="18" y="6981"/>
                  <a:pt x="12" y="6909"/>
                </a:cubicBezTo>
                <a:cubicBezTo>
                  <a:pt x="10" y="6837"/>
                  <a:pt x="8" y="6766"/>
                  <a:pt x="6" y="6694"/>
                </a:cubicBezTo>
                <a:lnTo>
                  <a:pt x="6" y="6479"/>
                </a:lnTo>
                <a:lnTo>
                  <a:pt x="0" y="6254"/>
                </a:lnTo>
                <a:lnTo>
                  <a:pt x="0" y="6018"/>
                </a:lnTo>
                <a:cubicBezTo>
                  <a:pt x="2" y="5936"/>
                  <a:pt x="4" y="5855"/>
                  <a:pt x="6" y="5773"/>
                </a:cubicBezTo>
                <a:lnTo>
                  <a:pt x="6" y="5527"/>
                </a:lnTo>
                <a:cubicBezTo>
                  <a:pt x="8" y="5442"/>
                  <a:pt x="10" y="5356"/>
                  <a:pt x="12" y="5271"/>
                </a:cubicBezTo>
                <a:lnTo>
                  <a:pt x="12" y="5026"/>
                </a:lnTo>
                <a:lnTo>
                  <a:pt x="12" y="4893"/>
                </a:lnTo>
                <a:lnTo>
                  <a:pt x="12" y="4749"/>
                </a:lnTo>
                <a:lnTo>
                  <a:pt x="12" y="4606"/>
                </a:lnTo>
                <a:lnTo>
                  <a:pt x="12" y="4452"/>
                </a:lnTo>
                <a:lnTo>
                  <a:pt x="6" y="4278"/>
                </a:lnTo>
                <a:lnTo>
                  <a:pt x="6" y="4115"/>
                </a:lnTo>
                <a:lnTo>
                  <a:pt x="6" y="3941"/>
                </a:lnTo>
                <a:lnTo>
                  <a:pt x="0" y="3767"/>
                </a:lnTo>
                <a:lnTo>
                  <a:pt x="0" y="3582"/>
                </a:lnTo>
                <a:lnTo>
                  <a:pt x="0" y="3408"/>
                </a:lnTo>
                <a:lnTo>
                  <a:pt x="0" y="3040"/>
                </a:lnTo>
                <a:lnTo>
                  <a:pt x="0" y="2661"/>
                </a:lnTo>
                <a:lnTo>
                  <a:pt x="0" y="2293"/>
                </a:lnTo>
                <a:lnTo>
                  <a:pt x="6" y="2119"/>
                </a:lnTo>
                <a:cubicBezTo>
                  <a:pt x="8" y="2057"/>
                  <a:pt x="10" y="1996"/>
                  <a:pt x="12" y="1934"/>
                </a:cubicBezTo>
                <a:cubicBezTo>
                  <a:pt x="16" y="1880"/>
                  <a:pt x="20" y="1825"/>
                  <a:pt x="24" y="1771"/>
                </a:cubicBezTo>
                <a:lnTo>
                  <a:pt x="30" y="1597"/>
                </a:lnTo>
                <a:cubicBezTo>
                  <a:pt x="34" y="1542"/>
                  <a:pt x="38" y="1488"/>
                  <a:pt x="42" y="1433"/>
                </a:cubicBezTo>
                <a:cubicBezTo>
                  <a:pt x="44" y="1382"/>
                  <a:pt x="46" y="1330"/>
                  <a:pt x="48" y="1279"/>
                </a:cubicBezTo>
                <a:lnTo>
                  <a:pt x="72" y="1126"/>
                </a:lnTo>
                <a:cubicBezTo>
                  <a:pt x="76" y="1078"/>
                  <a:pt x="80" y="1031"/>
                  <a:pt x="84" y="983"/>
                </a:cubicBezTo>
                <a:lnTo>
                  <a:pt x="108" y="839"/>
                </a:lnTo>
                <a:lnTo>
                  <a:pt x="126" y="716"/>
                </a:lnTo>
                <a:cubicBezTo>
                  <a:pt x="136" y="675"/>
                  <a:pt x="146" y="635"/>
                  <a:pt x="156" y="594"/>
                </a:cubicBezTo>
                <a:cubicBezTo>
                  <a:pt x="162" y="560"/>
                  <a:pt x="167" y="525"/>
                  <a:pt x="173" y="491"/>
                </a:cubicBezTo>
                <a:cubicBezTo>
                  <a:pt x="185" y="454"/>
                  <a:pt x="197" y="416"/>
                  <a:pt x="209" y="379"/>
                </a:cubicBezTo>
                <a:cubicBezTo>
                  <a:pt x="213" y="369"/>
                  <a:pt x="217" y="358"/>
                  <a:pt x="221" y="348"/>
                </a:cubicBezTo>
                <a:lnTo>
                  <a:pt x="245" y="297"/>
                </a:lnTo>
                <a:cubicBezTo>
                  <a:pt x="249" y="287"/>
                  <a:pt x="253" y="276"/>
                  <a:pt x="257" y="266"/>
                </a:cubicBezTo>
                <a:cubicBezTo>
                  <a:pt x="265" y="252"/>
                  <a:pt x="273" y="239"/>
                  <a:pt x="281" y="225"/>
                </a:cubicBezTo>
                <a:cubicBezTo>
                  <a:pt x="287" y="215"/>
                  <a:pt x="293" y="204"/>
                  <a:pt x="299" y="194"/>
                </a:cubicBezTo>
                <a:lnTo>
                  <a:pt x="323" y="164"/>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88441" name="Rectangle 198"/>
          <p:cNvSpPr>
            <a:spLocks noChangeArrowheads="1"/>
          </p:cNvSpPr>
          <p:nvPr/>
        </p:nvSpPr>
        <p:spPr bwMode="auto">
          <a:xfrm>
            <a:off x="3648075" y="3957638"/>
            <a:ext cx="412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sz="1300">
                <a:solidFill>
                  <a:srgbClr val="000000"/>
                </a:solidFill>
              </a:rPr>
              <a:t> </a:t>
            </a:r>
            <a:endParaRPr lang="en-US" altLang="en-US"/>
          </a:p>
        </p:txBody>
      </p:sp>
      <p:sp>
        <p:nvSpPr>
          <p:cNvPr id="188442" name="Line 334"/>
          <p:cNvSpPr>
            <a:spLocks noChangeShapeType="1"/>
          </p:cNvSpPr>
          <p:nvPr/>
        </p:nvSpPr>
        <p:spPr bwMode="auto">
          <a:xfrm>
            <a:off x="2486025" y="3879850"/>
            <a:ext cx="1592263" cy="476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400" name="Line 20"/>
          <p:cNvSpPr>
            <a:spLocks noChangeShapeType="1"/>
          </p:cNvSpPr>
          <p:nvPr/>
        </p:nvSpPr>
        <p:spPr bwMode="auto">
          <a:xfrm flipH="1">
            <a:off x="649288" y="3398838"/>
            <a:ext cx="555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401" name="Line 21"/>
          <p:cNvSpPr>
            <a:spLocks noChangeShapeType="1"/>
          </p:cNvSpPr>
          <p:nvPr/>
        </p:nvSpPr>
        <p:spPr bwMode="auto">
          <a:xfrm flipH="1">
            <a:off x="911225" y="3446463"/>
            <a:ext cx="396875" cy="482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402" name="Line 22"/>
          <p:cNvSpPr>
            <a:spLocks noChangeShapeType="1"/>
          </p:cNvSpPr>
          <p:nvPr/>
        </p:nvSpPr>
        <p:spPr bwMode="auto">
          <a:xfrm>
            <a:off x="1455738" y="3475038"/>
            <a:ext cx="73025" cy="295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grpSp>
        <p:nvGrpSpPr>
          <p:cNvPr id="188446" name="Group 44"/>
          <p:cNvGrpSpPr>
            <a:grpSpLocks/>
          </p:cNvGrpSpPr>
          <p:nvPr/>
        </p:nvGrpSpPr>
        <p:grpSpPr bwMode="auto">
          <a:xfrm>
            <a:off x="193675" y="3201988"/>
            <a:ext cx="568325" cy="481012"/>
            <a:chOff x="-44" y="1473"/>
            <a:chExt cx="981" cy="1105"/>
          </a:xfrm>
        </p:grpSpPr>
        <p:pic>
          <p:nvPicPr>
            <p:cNvPr id="188603" name="Picture 45"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604"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88447" name="Group 44"/>
          <p:cNvGrpSpPr>
            <a:grpSpLocks/>
          </p:cNvGrpSpPr>
          <p:nvPr/>
        </p:nvGrpSpPr>
        <p:grpSpPr bwMode="auto">
          <a:xfrm>
            <a:off x="1128713" y="3690938"/>
            <a:ext cx="568325" cy="481012"/>
            <a:chOff x="-44" y="1473"/>
            <a:chExt cx="981" cy="1105"/>
          </a:xfrm>
        </p:grpSpPr>
        <p:pic>
          <p:nvPicPr>
            <p:cNvPr id="188601" name="Picture 45"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602"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sp>
        <p:nvSpPr>
          <p:cNvPr id="405" name="Line 21"/>
          <p:cNvSpPr>
            <a:spLocks noChangeShapeType="1"/>
          </p:cNvSpPr>
          <p:nvPr/>
        </p:nvSpPr>
        <p:spPr bwMode="auto">
          <a:xfrm>
            <a:off x="1674813" y="3405188"/>
            <a:ext cx="377825"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406" name="Line 22"/>
          <p:cNvSpPr>
            <a:spLocks noChangeShapeType="1"/>
          </p:cNvSpPr>
          <p:nvPr/>
        </p:nvSpPr>
        <p:spPr bwMode="auto">
          <a:xfrm flipH="1">
            <a:off x="1906588" y="3900488"/>
            <a:ext cx="120650" cy="2936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407" name="Line 22"/>
          <p:cNvSpPr>
            <a:spLocks noChangeShapeType="1"/>
          </p:cNvSpPr>
          <p:nvPr/>
        </p:nvSpPr>
        <p:spPr bwMode="auto">
          <a:xfrm>
            <a:off x="2311400" y="3911600"/>
            <a:ext cx="73025" cy="295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408" name="Line 20"/>
          <p:cNvSpPr>
            <a:spLocks noChangeShapeType="1"/>
          </p:cNvSpPr>
          <p:nvPr/>
        </p:nvSpPr>
        <p:spPr bwMode="auto">
          <a:xfrm flipH="1">
            <a:off x="1508125" y="3359150"/>
            <a:ext cx="555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grpSp>
        <p:nvGrpSpPr>
          <p:cNvPr id="188452" name="Group 44"/>
          <p:cNvGrpSpPr>
            <a:grpSpLocks/>
          </p:cNvGrpSpPr>
          <p:nvPr/>
        </p:nvGrpSpPr>
        <p:grpSpPr bwMode="auto">
          <a:xfrm>
            <a:off x="1533525" y="4064000"/>
            <a:ext cx="568325" cy="481013"/>
            <a:chOff x="-44" y="1473"/>
            <a:chExt cx="981" cy="1105"/>
          </a:xfrm>
        </p:grpSpPr>
        <p:pic>
          <p:nvPicPr>
            <p:cNvPr id="188599" name="Picture 45"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600"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88453" name="Group 44"/>
          <p:cNvGrpSpPr>
            <a:grpSpLocks/>
          </p:cNvGrpSpPr>
          <p:nvPr/>
        </p:nvGrpSpPr>
        <p:grpSpPr bwMode="auto">
          <a:xfrm>
            <a:off x="1990725" y="4132263"/>
            <a:ext cx="568325" cy="481012"/>
            <a:chOff x="-44" y="1473"/>
            <a:chExt cx="981" cy="1105"/>
          </a:xfrm>
        </p:grpSpPr>
        <p:pic>
          <p:nvPicPr>
            <p:cNvPr id="188597" name="Picture 45"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598"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pic>
        <p:nvPicPr>
          <p:cNvPr id="41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1088" y="3246438"/>
            <a:ext cx="677862"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41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1975" y="3662363"/>
            <a:ext cx="677863"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188456" name="Group 44"/>
          <p:cNvGrpSpPr>
            <a:grpSpLocks/>
          </p:cNvGrpSpPr>
          <p:nvPr/>
        </p:nvGrpSpPr>
        <p:grpSpPr bwMode="auto">
          <a:xfrm>
            <a:off x="1784350" y="3068638"/>
            <a:ext cx="568325" cy="481012"/>
            <a:chOff x="-44" y="1473"/>
            <a:chExt cx="981" cy="1105"/>
          </a:xfrm>
        </p:grpSpPr>
        <p:pic>
          <p:nvPicPr>
            <p:cNvPr id="188595" name="Picture 45"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596" name="Freeform 46"/>
            <p:cNvSpPr>
              <a:spLocks/>
            </p:cNvSpPr>
            <p:nvPr/>
          </p:nvSpPr>
          <p:spPr bwMode="auto">
            <a:xfrm flipH="1">
              <a:off x="374" y="1579"/>
              <a:ext cx="477" cy="506"/>
            </a:xfrm>
            <a:custGeom>
              <a:avLst/>
              <a:gdLst>
                <a:gd name="T0" fmla="*/ 0 w 356"/>
                <a:gd name="T1" fmla="*/ 0 h 368"/>
                <a:gd name="T2" fmla="*/ 1296 w 356"/>
                <a:gd name="T3" fmla="*/ 69 h 368"/>
                <a:gd name="T4" fmla="*/ 1537 w 356"/>
                <a:gd name="T5" fmla="*/ 1447 h 368"/>
                <a:gd name="T6" fmla="*/ 339 w 356"/>
                <a:gd name="T7" fmla="*/ 1810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grpSp>
        <p:nvGrpSpPr>
          <p:cNvPr id="188457" name="Group 906"/>
          <p:cNvGrpSpPr>
            <a:grpSpLocks/>
          </p:cNvGrpSpPr>
          <p:nvPr/>
        </p:nvGrpSpPr>
        <p:grpSpPr bwMode="auto">
          <a:xfrm>
            <a:off x="663575" y="3859213"/>
            <a:ext cx="285750" cy="536575"/>
            <a:chOff x="4140" y="429"/>
            <a:chExt cx="1425" cy="2396"/>
          </a:xfrm>
        </p:grpSpPr>
        <p:sp>
          <p:nvSpPr>
            <p:cNvPr id="188563" name="Freeform 907"/>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22" name="Rectangle 908"/>
            <p:cNvSpPr>
              <a:spLocks noChangeArrowheads="1"/>
            </p:cNvSpPr>
            <p:nvPr/>
          </p:nvSpPr>
          <p:spPr bwMode="auto">
            <a:xfrm>
              <a:off x="4211" y="429"/>
              <a:ext cx="1037"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565" name="Freeform 909"/>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8566" name="Freeform 910"/>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25" name="Rectangle 911"/>
            <p:cNvSpPr>
              <a:spLocks noChangeArrowheads="1"/>
            </p:cNvSpPr>
            <p:nvPr/>
          </p:nvSpPr>
          <p:spPr bwMode="auto">
            <a:xfrm>
              <a:off x="4211" y="691"/>
              <a:ext cx="594" cy="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568" name="Group 912"/>
            <p:cNvGrpSpPr>
              <a:grpSpLocks/>
            </p:cNvGrpSpPr>
            <p:nvPr/>
          </p:nvGrpSpPr>
          <p:grpSpPr bwMode="auto">
            <a:xfrm>
              <a:off x="4749" y="668"/>
              <a:ext cx="581" cy="145"/>
              <a:chOff x="614" y="2568"/>
              <a:chExt cx="725" cy="139"/>
            </a:xfrm>
          </p:grpSpPr>
          <p:sp>
            <p:nvSpPr>
              <p:cNvPr id="451" name="AutoShape 913"/>
              <p:cNvSpPr>
                <a:spLocks noChangeArrowheads="1"/>
              </p:cNvSpPr>
              <p:nvPr/>
            </p:nvSpPr>
            <p:spPr bwMode="auto">
              <a:xfrm>
                <a:off x="615" y="2570"/>
                <a:ext cx="721" cy="12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52" name="AutoShape 914"/>
              <p:cNvSpPr>
                <a:spLocks noChangeArrowheads="1"/>
              </p:cNvSpPr>
              <p:nvPr/>
            </p:nvSpPr>
            <p:spPr bwMode="auto">
              <a:xfrm>
                <a:off x="634"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427" name="Rectangle 915"/>
            <p:cNvSpPr>
              <a:spLocks noChangeArrowheads="1"/>
            </p:cNvSpPr>
            <p:nvPr/>
          </p:nvSpPr>
          <p:spPr bwMode="auto">
            <a:xfrm>
              <a:off x="4227" y="1017"/>
              <a:ext cx="594" cy="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570" name="Group 916"/>
            <p:cNvGrpSpPr>
              <a:grpSpLocks/>
            </p:cNvGrpSpPr>
            <p:nvPr/>
          </p:nvGrpSpPr>
          <p:grpSpPr bwMode="auto">
            <a:xfrm>
              <a:off x="4747" y="994"/>
              <a:ext cx="581" cy="134"/>
              <a:chOff x="614" y="2568"/>
              <a:chExt cx="725" cy="139"/>
            </a:xfrm>
          </p:grpSpPr>
          <p:sp>
            <p:nvSpPr>
              <p:cNvPr id="449" name="AutoShape 917"/>
              <p:cNvSpPr>
                <a:spLocks noChangeArrowheads="1"/>
              </p:cNvSpPr>
              <p:nvPr/>
            </p:nvSpPr>
            <p:spPr bwMode="auto">
              <a:xfrm>
                <a:off x="617" y="2570"/>
                <a:ext cx="721" cy="140"/>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50" name="AutoShape 918"/>
              <p:cNvSpPr>
                <a:spLocks noChangeArrowheads="1"/>
              </p:cNvSpPr>
              <p:nvPr/>
            </p:nvSpPr>
            <p:spPr bwMode="auto">
              <a:xfrm>
                <a:off x="627" y="2585"/>
                <a:ext cx="701"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429" name="Rectangle 919"/>
            <p:cNvSpPr>
              <a:spLocks noChangeArrowheads="1"/>
            </p:cNvSpPr>
            <p:nvPr/>
          </p:nvSpPr>
          <p:spPr bwMode="auto">
            <a:xfrm>
              <a:off x="4211" y="1358"/>
              <a:ext cx="602" cy="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30" name="Rectangle 920"/>
            <p:cNvSpPr>
              <a:spLocks noChangeArrowheads="1"/>
            </p:cNvSpPr>
            <p:nvPr/>
          </p:nvSpPr>
          <p:spPr bwMode="auto">
            <a:xfrm>
              <a:off x="4227" y="1655"/>
              <a:ext cx="594" cy="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573" name="Group 921"/>
            <p:cNvGrpSpPr>
              <a:grpSpLocks/>
            </p:cNvGrpSpPr>
            <p:nvPr/>
          </p:nvGrpSpPr>
          <p:grpSpPr bwMode="auto">
            <a:xfrm>
              <a:off x="4733" y="1630"/>
              <a:ext cx="586" cy="151"/>
              <a:chOff x="611" y="2571"/>
              <a:chExt cx="730" cy="139"/>
            </a:xfrm>
          </p:grpSpPr>
          <p:sp>
            <p:nvSpPr>
              <p:cNvPr id="447" name="AutoShape 922"/>
              <p:cNvSpPr>
                <a:spLocks noChangeArrowheads="1"/>
              </p:cNvSpPr>
              <p:nvPr/>
            </p:nvSpPr>
            <p:spPr bwMode="auto">
              <a:xfrm>
                <a:off x="612" y="2568"/>
                <a:ext cx="730" cy="144"/>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48" name="AutoShape 923"/>
              <p:cNvSpPr>
                <a:spLocks noChangeArrowheads="1"/>
              </p:cNvSpPr>
              <p:nvPr/>
            </p:nvSpPr>
            <p:spPr bwMode="auto">
              <a:xfrm>
                <a:off x="632" y="2588"/>
                <a:ext cx="69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88574" name="Freeform 924"/>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88575" name="Group 925"/>
            <p:cNvGrpSpPr>
              <a:grpSpLocks/>
            </p:cNvGrpSpPr>
            <p:nvPr/>
          </p:nvGrpSpPr>
          <p:grpSpPr bwMode="auto">
            <a:xfrm>
              <a:off x="4739" y="1327"/>
              <a:ext cx="582" cy="139"/>
              <a:chOff x="614" y="2568"/>
              <a:chExt cx="725" cy="139"/>
            </a:xfrm>
          </p:grpSpPr>
          <p:sp>
            <p:nvSpPr>
              <p:cNvPr id="445" name="AutoShape 926"/>
              <p:cNvSpPr>
                <a:spLocks noChangeArrowheads="1"/>
              </p:cNvSpPr>
              <p:nvPr/>
            </p:nvSpPr>
            <p:spPr bwMode="auto">
              <a:xfrm>
                <a:off x="617" y="2570"/>
                <a:ext cx="710" cy="135"/>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46" name="AutoShape 927"/>
              <p:cNvSpPr>
                <a:spLocks noChangeArrowheads="1"/>
              </p:cNvSpPr>
              <p:nvPr/>
            </p:nvSpPr>
            <p:spPr bwMode="auto">
              <a:xfrm>
                <a:off x="637" y="2584"/>
                <a:ext cx="680" cy="9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434" name="Rectangle 928"/>
            <p:cNvSpPr>
              <a:spLocks noChangeArrowheads="1"/>
            </p:cNvSpPr>
            <p:nvPr/>
          </p:nvSpPr>
          <p:spPr bwMode="auto">
            <a:xfrm>
              <a:off x="5248"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577" name="Freeform 929"/>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8578" name="Freeform 930"/>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37" name="Oval 931"/>
            <p:cNvSpPr>
              <a:spLocks noChangeArrowheads="1"/>
            </p:cNvSpPr>
            <p:nvPr/>
          </p:nvSpPr>
          <p:spPr bwMode="auto">
            <a:xfrm>
              <a:off x="5518" y="2605"/>
              <a:ext cx="48" cy="99"/>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580" name="Freeform 932"/>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39" name="AutoShape 933"/>
            <p:cNvSpPr>
              <a:spLocks noChangeArrowheads="1"/>
            </p:cNvSpPr>
            <p:nvPr/>
          </p:nvSpPr>
          <p:spPr bwMode="auto">
            <a:xfrm>
              <a:off x="4140" y="2683"/>
              <a:ext cx="1195" cy="142"/>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40" name="AutoShape 934"/>
            <p:cNvSpPr>
              <a:spLocks noChangeArrowheads="1"/>
            </p:cNvSpPr>
            <p:nvPr/>
          </p:nvSpPr>
          <p:spPr bwMode="auto">
            <a:xfrm>
              <a:off x="4211" y="2712"/>
              <a:ext cx="1061"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41" name="Oval 935"/>
            <p:cNvSpPr>
              <a:spLocks noChangeArrowheads="1"/>
            </p:cNvSpPr>
            <p:nvPr/>
          </p:nvSpPr>
          <p:spPr bwMode="auto">
            <a:xfrm>
              <a:off x="4306" y="2385"/>
              <a:ext cx="158" cy="135"/>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42" name="Oval 936"/>
            <p:cNvSpPr>
              <a:spLocks noChangeArrowheads="1"/>
            </p:cNvSpPr>
            <p:nvPr/>
          </p:nvSpPr>
          <p:spPr bwMode="auto">
            <a:xfrm>
              <a:off x="4488" y="2385"/>
              <a:ext cx="158" cy="142"/>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a:solidFill>
                  <a:srgbClr val="FF0000"/>
                </a:solidFill>
                <a:latin typeface="Arial" charset="0"/>
                <a:ea typeface="ＭＳ Ｐゴシック" charset="0"/>
                <a:cs typeface="Arial" charset="0"/>
              </a:endParaRPr>
            </a:p>
          </p:txBody>
        </p:sp>
        <p:sp>
          <p:nvSpPr>
            <p:cNvPr id="443" name="Oval 937"/>
            <p:cNvSpPr>
              <a:spLocks noChangeArrowheads="1"/>
            </p:cNvSpPr>
            <p:nvPr/>
          </p:nvSpPr>
          <p:spPr bwMode="auto">
            <a:xfrm>
              <a:off x="4663" y="2378"/>
              <a:ext cx="158" cy="142"/>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444" name="Rectangle 938"/>
            <p:cNvSpPr>
              <a:spLocks noChangeArrowheads="1"/>
            </p:cNvSpPr>
            <p:nvPr/>
          </p:nvSpPr>
          <p:spPr bwMode="auto">
            <a:xfrm>
              <a:off x="5058" y="1833"/>
              <a:ext cx="87" cy="766"/>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88458" name="Text Box 380"/>
          <p:cNvSpPr txBox="1">
            <a:spLocks noChangeArrowheads="1"/>
          </p:cNvSpPr>
          <p:nvPr/>
        </p:nvSpPr>
        <p:spPr bwMode="auto">
          <a:xfrm>
            <a:off x="2511425" y="3189288"/>
            <a:ext cx="10826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r>
              <a:rPr lang="en-US" altLang="en-US">
                <a:latin typeface="Arial" pitchFamily="34" charset="0"/>
                <a:cs typeface="Arial" pitchFamily="34" charset="0"/>
              </a:rPr>
              <a:t>internal</a:t>
            </a:r>
          </a:p>
          <a:p>
            <a:r>
              <a:rPr lang="en-US" altLang="en-US">
                <a:latin typeface="Arial" pitchFamily="34" charset="0"/>
                <a:cs typeface="Arial" pitchFamily="34" charset="0"/>
              </a:rPr>
              <a:t>network</a:t>
            </a:r>
          </a:p>
        </p:txBody>
      </p:sp>
      <p:grpSp>
        <p:nvGrpSpPr>
          <p:cNvPr id="188459" name="Group 906"/>
          <p:cNvGrpSpPr>
            <a:grpSpLocks/>
          </p:cNvGrpSpPr>
          <p:nvPr/>
        </p:nvGrpSpPr>
        <p:grpSpPr bwMode="auto">
          <a:xfrm>
            <a:off x="3698875" y="4697413"/>
            <a:ext cx="220663" cy="468312"/>
            <a:chOff x="4140" y="429"/>
            <a:chExt cx="1425" cy="2396"/>
          </a:xfrm>
        </p:grpSpPr>
        <p:sp>
          <p:nvSpPr>
            <p:cNvPr id="188531" name="Freeform 907"/>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06" name="Rectangle 908"/>
            <p:cNvSpPr>
              <a:spLocks noChangeArrowheads="1"/>
            </p:cNvSpPr>
            <p:nvPr/>
          </p:nvSpPr>
          <p:spPr bwMode="auto">
            <a:xfrm>
              <a:off x="4212" y="429"/>
              <a:ext cx="1035"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533" name="Freeform 909"/>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8534" name="Freeform 910"/>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09" name="Rectangle 911"/>
            <p:cNvSpPr>
              <a:spLocks noChangeArrowheads="1"/>
            </p:cNvSpPr>
            <p:nvPr/>
          </p:nvSpPr>
          <p:spPr bwMode="auto">
            <a:xfrm>
              <a:off x="4212" y="689"/>
              <a:ext cx="595"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536" name="Group 912"/>
            <p:cNvGrpSpPr>
              <a:grpSpLocks/>
            </p:cNvGrpSpPr>
            <p:nvPr/>
          </p:nvGrpSpPr>
          <p:grpSpPr bwMode="auto">
            <a:xfrm>
              <a:off x="4749" y="668"/>
              <a:ext cx="581" cy="145"/>
              <a:chOff x="614" y="2568"/>
              <a:chExt cx="725" cy="139"/>
            </a:xfrm>
          </p:grpSpPr>
          <p:sp>
            <p:nvSpPr>
              <p:cNvPr id="535" name="AutoShape 913"/>
              <p:cNvSpPr>
                <a:spLocks noChangeArrowheads="1"/>
              </p:cNvSpPr>
              <p:nvPr/>
            </p:nvSpPr>
            <p:spPr bwMode="auto">
              <a:xfrm>
                <a:off x="609" y="2565"/>
                <a:ext cx="729" cy="132"/>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36" name="AutoShape 914"/>
              <p:cNvSpPr>
                <a:spLocks noChangeArrowheads="1"/>
              </p:cNvSpPr>
              <p:nvPr/>
            </p:nvSpPr>
            <p:spPr bwMode="auto">
              <a:xfrm>
                <a:off x="622" y="2580"/>
                <a:ext cx="704"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511" name="Rectangle 915"/>
            <p:cNvSpPr>
              <a:spLocks noChangeArrowheads="1"/>
            </p:cNvSpPr>
            <p:nvPr/>
          </p:nvSpPr>
          <p:spPr bwMode="auto">
            <a:xfrm>
              <a:off x="4222" y="1022"/>
              <a:ext cx="595" cy="41"/>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538" name="Group 916"/>
            <p:cNvGrpSpPr>
              <a:grpSpLocks/>
            </p:cNvGrpSpPr>
            <p:nvPr/>
          </p:nvGrpSpPr>
          <p:grpSpPr bwMode="auto">
            <a:xfrm>
              <a:off x="4747" y="994"/>
              <a:ext cx="581" cy="134"/>
              <a:chOff x="614" y="2568"/>
              <a:chExt cx="725" cy="139"/>
            </a:xfrm>
          </p:grpSpPr>
          <p:sp>
            <p:nvSpPr>
              <p:cNvPr id="533" name="AutoShape 917"/>
              <p:cNvSpPr>
                <a:spLocks noChangeArrowheads="1"/>
              </p:cNvSpPr>
              <p:nvPr/>
            </p:nvSpPr>
            <p:spPr bwMode="auto">
              <a:xfrm>
                <a:off x="611" y="2572"/>
                <a:ext cx="729" cy="135"/>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34" name="AutoShape 918"/>
              <p:cNvSpPr>
                <a:spLocks noChangeArrowheads="1"/>
              </p:cNvSpPr>
              <p:nvPr/>
            </p:nvSpPr>
            <p:spPr bwMode="auto">
              <a:xfrm>
                <a:off x="624" y="2580"/>
                <a:ext cx="704"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513" name="Rectangle 919"/>
            <p:cNvSpPr>
              <a:spLocks noChangeArrowheads="1"/>
            </p:cNvSpPr>
            <p:nvPr/>
          </p:nvSpPr>
          <p:spPr bwMode="auto">
            <a:xfrm>
              <a:off x="4212" y="1363"/>
              <a:ext cx="605" cy="41"/>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14" name="Rectangle 920"/>
            <p:cNvSpPr>
              <a:spLocks noChangeArrowheads="1"/>
            </p:cNvSpPr>
            <p:nvPr/>
          </p:nvSpPr>
          <p:spPr bwMode="auto">
            <a:xfrm>
              <a:off x="4222" y="1655"/>
              <a:ext cx="605"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541" name="Group 921"/>
            <p:cNvGrpSpPr>
              <a:grpSpLocks/>
            </p:cNvGrpSpPr>
            <p:nvPr/>
          </p:nvGrpSpPr>
          <p:grpSpPr bwMode="auto">
            <a:xfrm>
              <a:off x="4733" y="1630"/>
              <a:ext cx="586" cy="151"/>
              <a:chOff x="611" y="2571"/>
              <a:chExt cx="730" cy="139"/>
            </a:xfrm>
          </p:grpSpPr>
          <p:sp>
            <p:nvSpPr>
              <p:cNvPr id="531" name="AutoShape 922"/>
              <p:cNvSpPr>
                <a:spLocks noChangeArrowheads="1"/>
              </p:cNvSpPr>
              <p:nvPr/>
            </p:nvSpPr>
            <p:spPr bwMode="auto">
              <a:xfrm>
                <a:off x="613" y="2572"/>
                <a:ext cx="728" cy="135"/>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32" name="AutoShape 923"/>
              <p:cNvSpPr>
                <a:spLocks noChangeArrowheads="1"/>
              </p:cNvSpPr>
              <p:nvPr/>
            </p:nvSpPr>
            <p:spPr bwMode="auto">
              <a:xfrm>
                <a:off x="626" y="2587"/>
                <a:ext cx="70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88542" name="Freeform 924"/>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88543" name="Group 925"/>
            <p:cNvGrpSpPr>
              <a:grpSpLocks/>
            </p:cNvGrpSpPr>
            <p:nvPr/>
          </p:nvGrpSpPr>
          <p:grpSpPr bwMode="auto">
            <a:xfrm>
              <a:off x="4739" y="1327"/>
              <a:ext cx="582" cy="139"/>
              <a:chOff x="614" y="2568"/>
              <a:chExt cx="725" cy="139"/>
            </a:xfrm>
          </p:grpSpPr>
          <p:sp>
            <p:nvSpPr>
              <p:cNvPr id="529" name="AutoShape 926"/>
              <p:cNvSpPr>
                <a:spLocks noChangeArrowheads="1"/>
              </p:cNvSpPr>
              <p:nvPr/>
            </p:nvSpPr>
            <p:spPr bwMode="auto">
              <a:xfrm>
                <a:off x="609" y="2572"/>
                <a:ext cx="715" cy="13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30" name="AutoShape 927"/>
              <p:cNvSpPr>
                <a:spLocks noChangeArrowheads="1"/>
              </p:cNvSpPr>
              <p:nvPr/>
            </p:nvSpPr>
            <p:spPr bwMode="auto">
              <a:xfrm>
                <a:off x="621" y="2588"/>
                <a:ext cx="70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518" name="Rectangle 928"/>
            <p:cNvSpPr>
              <a:spLocks noChangeArrowheads="1"/>
            </p:cNvSpPr>
            <p:nvPr/>
          </p:nvSpPr>
          <p:spPr bwMode="auto">
            <a:xfrm>
              <a:off x="5247"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545" name="Freeform 929"/>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8546" name="Freeform 930"/>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21" name="Oval 931"/>
            <p:cNvSpPr>
              <a:spLocks noChangeArrowheads="1"/>
            </p:cNvSpPr>
            <p:nvPr/>
          </p:nvSpPr>
          <p:spPr bwMode="auto">
            <a:xfrm>
              <a:off x="5514" y="2606"/>
              <a:ext cx="51"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548" name="Freeform 932"/>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23" name="AutoShape 933"/>
            <p:cNvSpPr>
              <a:spLocks noChangeArrowheads="1"/>
            </p:cNvSpPr>
            <p:nvPr/>
          </p:nvSpPr>
          <p:spPr bwMode="auto">
            <a:xfrm>
              <a:off x="4140" y="2679"/>
              <a:ext cx="1199" cy="146"/>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24" name="AutoShape 934"/>
            <p:cNvSpPr>
              <a:spLocks noChangeArrowheads="1"/>
            </p:cNvSpPr>
            <p:nvPr/>
          </p:nvSpPr>
          <p:spPr bwMode="auto">
            <a:xfrm>
              <a:off x="4212" y="2711"/>
              <a:ext cx="1066"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25" name="Oval 935"/>
            <p:cNvSpPr>
              <a:spLocks noChangeArrowheads="1"/>
            </p:cNvSpPr>
            <p:nvPr/>
          </p:nvSpPr>
          <p:spPr bwMode="auto">
            <a:xfrm>
              <a:off x="4304" y="2386"/>
              <a:ext cx="164" cy="138"/>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26" name="Oval 936"/>
            <p:cNvSpPr>
              <a:spLocks noChangeArrowheads="1"/>
            </p:cNvSpPr>
            <p:nvPr/>
          </p:nvSpPr>
          <p:spPr bwMode="auto">
            <a:xfrm>
              <a:off x="4489" y="2386"/>
              <a:ext cx="154"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a:solidFill>
                  <a:srgbClr val="FF0000"/>
                </a:solidFill>
                <a:latin typeface="Arial" charset="0"/>
                <a:ea typeface="ＭＳ Ｐゴシック" charset="0"/>
                <a:cs typeface="Arial" charset="0"/>
              </a:endParaRPr>
            </a:p>
          </p:txBody>
        </p:sp>
        <p:sp>
          <p:nvSpPr>
            <p:cNvPr id="527" name="Oval 937"/>
            <p:cNvSpPr>
              <a:spLocks noChangeArrowheads="1"/>
            </p:cNvSpPr>
            <p:nvPr/>
          </p:nvSpPr>
          <p:spPr bwMode="auto">
            <a:xfrm>
              <a:off x="4663" y="2378"/>
              <a:ext cx="154"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28" name="Rectangle 938"/>
            <p:cNvSpPr>
              <a:spLocks noChangeArrowheads="1"/>
            </p:cNvSpPr>
            <p:nvPr/>
          </p:nvSpPr>
          <p:spPr bwMode="auto">
            <a:xfrm>
              <a:off x="5063" y="1834"/>
              <a:ext cx="82" cy="763"/>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pic>
        <p:nvPicPr>
          <p:cNvPr id="53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8138" y="4491038"/>
            <a:ext cx="541337"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188461" name="Group 906"/>
          <p:cNvGrpSpPr>
            <a:grpSpLocks/>
          </p:cNvGrpSpPr>
          <p:nvPr/>
        </p:nvGrpSpPr>
        <p:grpSpPr bwMode="auto">
          <a:xfrm>
            <a:off x="4216400" y="4960938"/>
            <a:ext cx="220663" cy="468312"/>
            <a:chOff x="4140" y="429"/>
            <a:chExt cx="1425" cy="2396"/>
          </a:xfrm>
        </p:grpSpPr>
        <p:sp>
          <p:nvSpPr>
            <p:cNvPr id="188499" name="Freeform 907"/>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40" name="Rectangle 908"/>
            <p:cNvSpPr>
              <a:spLocks noChangeArrowheads="1"/>
            </p:cNvSpPr>
            <p:nvPr/>
          </p:nvSpPr>
          <p:spPr bwMode="auto">
            <a:xfrm>
              <a:off x="4212" y="429"/>
              <a:ext cx="1035"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501" name="Freeform 909"/>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8502" name="Freeform 910"/>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43" name="Rectangle 911"/>
            <p:cNvSpPr>
              <a:spLocks noChangeArrowheads="1"/>
            </p:cNvSpPr>
            <p:nvPr/>
          </p:nvSpPr>
          <p:spPr bwMode="auto">
            <a:xfrm>
              <a:off x="4212" y="689"/>
              <a:ext cx="595"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504" name="Group 912"/>
            <p:cNvGrpSpPr>
              <a:grpSpLocks/>
            </p:cNvGrpSpPr>
            <p:nvPr/>
          </p:nvGrpSpPr>
          <p:grpSpPr bwMode="auto">
            <a:xfrm>
              <a:off x="4749" y="668"/>
              <a:ext cx="581" cy="145"/>
              <a:chOff x="614" y="2568"/>
              <a:chExt cx="725" cy="139"/>
            </a:xfrm>
          </p:grpSpPr>
          <p:sp>
            <p:nvSpPr>
              <p:cNvPr id="569" name="AutoShape 913"/>
              <p:cNvSpPr>
                <a:spLocks noChangeArrowheads="1"/>
              </p:cNvSpPr>
              <p:nvPr/>
            </p:nvSpPr>
            <p:spPr bwMode="auto">
              <a:xfrm>
                <a:off x="609" y="2565"/>
                <a:ext cx="729" cy="132"/>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70" name="AutoShape 914"/>
              <p:cNvSpPr>
                <a:spLocks noChangeArrowheads="1"/>
              </p:cNvSpPr>
              <p:nvPr/>
            </p:nvSpPr>
            <p:spPr bwMode="auto">
              <a:xfrm>
                <a:off x="622" y="2580"/>
                <a:ext cx="704"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545" name="Rectangle 915"/>
            <p:cNvSpPr>
              <a:spLocks noChangeArrowheads="1"/>
            </p:cNvSpPr>
            <p:nvPr/>
          </p:nvSpPr>
          <p:spPr bwMode="auto">
            <a:xfrm>
              <a:off x="4222" y="1022"/>
              <a:ext cx="595" cy="41"/>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506" name="Group 916"/>
            <p:cNvGrpSpPr>
              <a:grpSpLocks/>
            </p:cNvGrpSpPr>
            <p:nvPr/>
          </p:nvGrpSpPr>
          <p:grpSpPr bwMode="auto">
            <a:xfrm>
              <a:off x="4747" y="994"/>
              <a:ext cx="581" cy="134"/>
              <a:chOff x="614" y="2568"/>
              <a:chExt cx="725" cy="139"/>
            </a:xfrm>
          </p:grpSpPr>
          <p:sp>
            <p:nvSpPr>
              <p:cNvPr id="567" name="AutoShape 917"/>
              <p:cNvSpPr>
                <a:spLocks noChangeArrowheads="1"/>
              </p:cNvSpPr>
              <p:nvPr/>
            </p:nvSpPr>
            <p:spPr bwMode="auto">
              <a:xfrm>
                <a:off x="611" y="2572"/>
                <a:ext cx="729" cy="135"/>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68" name="AutoShape 918"/>
              <p:cNvSpPr>
                <a:spLocks noChangeArrowheads="1"/>
              </p:cNvSpPr>
              <p:nvPr/>
            </p:nvSpPr>
            <p:spPr bwMode="auto">
              <a:xfrm>
                <a:off x="624" y="2580"/>
                <a:ext cx="704"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547" name="Rectangle 919"/>
            <p:cNvSpPr>
              <a:spLocks noChangeArrowheads="1"/>
            </p:cNvSpPr>
            <p:nvPr/>
          </p:nvSpPr>
          <p:spPr bwMode="auto">
            <a:xfrm>
              <a:off x="4212" y="1363"/>
              <a:ext cx="605" cy="41"/>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48" name="Rectangle 920"/>
            <p:cNvSpPr>
              <a:spLocks noChangeArrowheads="1"/>
            </p:cNvSpPr>
            <p:nvPr/>
          </p:nvSpPr>
          <p:spPr bwMode="auto">
            <a:xfrm>
              <a:off x="4222" y="1655"/>
              <a:ext cx="605"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509" name="Group 921"/>
            <p:cNvGrpSpPr>
              <a:grpSpLocks/>
            </p:cNvGrpSpPr>
            <p:nvPr/>
          </p:nvGrpSpPr>
          <p:grpSpPr bwMode="auto">
            <a:xfrm>
              <a:off x="4733" y="1630"/>
              <a:ext cx="586" cy="151"/>
              <a:chOff x="611" y="2571"/>
              <a:chExt cx="730" cy="139"/>
            </a:xfrm>
          </p:grpSpPr>
          <p:sp>
            <p:nvSpPr>
              <p:cNvPr id="565" name="AutoShape 922"/>
              <p:cNvSpPr>
                <a:spLocks noChangeArrowheads="1"/>
              </p:cNvSpPr>
              <p:nvPr/>
            </p:nvSpPr>
            <p:spPr bwMode="auto">
              <a:xfrm>
                <a:off x="613" y="2572"/>
                <a:ext cx="728" cy="135"/>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66" name="AutoShape 923"/>
              <p:cNvSpPr>
                <a:spLocks noChangeArrowheads="1"/>
              </p:cNvSpPr>
              <p:nvPr/>
            </p:nvSpPr>
            <p:spPr bwMode="auto">
              <a:xfrm>
                <a:off x="626" y="2587"/>
                <a:ext cx="70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88510" name="Freeform 924"/>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88511" name="Group 925"/>
            <p:cNvGrpSpPr>
              <a:grpSpLocks/>
            </p:cNvGrpSpPr>
            <p:nvPr/>
          </p:nvGrpSpPr>
          <p:grpSpPr bwMode="auto">
            <a:xfrm>
              <a:off x="4739" y="1327"/>
              <a:ext cx="582" cy="139"/>
              <a:chOff x="614" y="2568"/>
              <a:chExt cx="725" cy="139"/>
            </a:xfrm>
          </p:grpSpPr>
          <p:sp>
            <p:nvSpPr>
              <p:cNvPr id="563" name="AutoShape 926"/>
              <p:cNvSpPr>
                <a:spLocks noChangeArrowheads="1"/>
              </p:cNvSpPr>
              <p:nvPr/>
            </p:nvSpPr>
            <p:spPr bwMode="auto">
              <a:xfrm>
                <a:off x="609" y="2572"/>
                <a:ext cx="715" cy="13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64" name="AutoShape 927"/>
              <p:cNvSpPr>
                <a:spLocks noChangeArrowheads="1"/>
              </p:cNvSpPr>
              <p:nvPr/>
            </p:nvSpPr>
            <p:spPr bwMode="auto">
              <a:xfrm>
                <a:off x="621" y="2588"/>
                <a:ext cx="70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552" name="Rectangle 928"/>
            <p:cNvSpPr>
              <a:spLocks noChangeArrowheads="1"/>
            </p:cNvSpPr>
            <p:nvPr/>
          </p:nvSpPr>
          <p:spPr bwMode="auto">
            <a:xfrm>
              <a:off x="5247"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513" name="Freeform 929"/>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8514" name="Freeform 930"/>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55" name="Oval 931"/>
            <p:cNvSpPr>
              <a:spLocks noChangeArrowheads="1"/>
            </p:cNvSpPr>
            <p:nvPr/>
          </p:nvSpPr>
          <p:spPr bwMode="auto">
            <a:xfrm>
              <a:off x="5514" y="2606"/>
              <a:ext cx="51"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516" name="Freeform 932"/>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57" name="AutoShape 933"/>
            <p:cNvSpPr>
              <a:spLocks noChangeArrowheads="1"/>
            </p:cNvSpPr>
            <p:nvPr/>
          </p:nvSpPr>
          <p:spPr bwMode="auto">
            <a:xfrm>
              <a:off x="4140" y="2679"/>
              <a:ext cx="1199" cy="146"/>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58" name="AutoShape 934"/>
            <p:cNvSpPr>
              <a:spLocks noChangeArrowheads="1"/>
            </p:cNvSpPr>
            <p:nvPr/>
          </p:nvSpPr>
          <p:spPr bwMode="auto">
            <a:xfrm>
              <a:off x="4212" y="2711"/>
              <a:ext cx="1066"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59" name="Oval 935"/>
            <p:cNvSpPr>
              <a:spLocks noChangeArrowheads="1"/>
            </p:cNvSpPr>
            <p:nvPr/>
          </p:nvSpPr>
          <p:spPr bwMode="auto">
            <a:xfrm>
              <a:off x="4304" y="2386"/>
              <a:ext cx="164" cy="138"/>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60" name="Oval 936"/>
            <p:cNvSpPr>
              <a:spLocks noChangeArrowheads="1"/>
            </p:cNvSpPr>
            <p:nvPr/>
          </p:nvSpPr>
          <p:spPr bwMode="auto">
            <a:xfrm>
              <a:off x="4489" y="2386"/>
              <a:ext cx="154"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a:solidFill>
                  <a:srgbClr val="FF0000"/>
                </a:solidFill>
                <a:latin typeface="Arial" charset="0"/>
                <a:ea typeface="ＭＳ Ｐゴシック" charset="0"/>
                <a:cs typeface="Arial" charset="0"/>
              </a:endParaRPr>
            </a:p>
          </p:txBody>
        </p:sp>
        <p:sp>
          <p:nvSpPr>
            <p:cNvPr id="561" name="Oval 937"/>
            <p:cNvSpPr>
              <a:spLocks noChangeArrowheads="1"/>
            </p:cNvSpPr>
            <p:nvPr/>
          </p:nvSpPr>
          <p:spPr bwMode="auto">
            <a:xfrm>
              <a:off x="4663" y="2378"/>
              <a:ext cx="154"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62" name="Rectangle 938"/>
            <p:cNvSpPr>
              <a:spLocks noChangeArrowheads="1"/>
            </p:cNvSpPr>
            <p:nvPr/>
          </p:nvSpPr>
          <p:spPr bwMode="auto">
            <a:xfrm>
              <a:off x="5063" y="1834"/>
              <a:ext cx="82" cy="763"/>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grpSp>
        <p:nvGrpSpPr>
          <p:cNvPr id="188462" name="Group 906"/>
          <p:cNvGrpSpPr>
            <a:grpSpLocks/>
          </p:cNvGrpSpPr>
          <p:nvPr/>
        </p:nvGrpSpPr>
        <p:grpSpPr bwMode="auto">
          <a:xfrm>
            <a:off x="4757738" y="4745038"/>
            <a:ext cx="222250" cy="466725"/>
            <a:chOff x="4140" y="429"/>
            <a:chExt cx="1425" cy="2396"/>
          </a:xfrm>
        </p:grpSpPr>
        <p:sp>
          <p:nvSpPr>
            <p:cNvPr id="188467" name="Freeform 907"/>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 name="Rectangle 908"/>
            <p:cNvSpPr>
              <a:spLocks noChangeArrowheads="1"/>
            </p:cNvSpPr>
            <p:nvPr/>
          </p:nvSpPr>
          <p:spPr bwMode="auto">
            <a:xfrm>
              <a:off x="4211" y="429"/>
              <a:ext cx="1038"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469" name="Freeform 909"/>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8470" name="Freeform 910"/>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6" name="Rectangle 911"/>
            <p:cNvSpPr>
              <a:spLocks noChangeArrowheads="1"/>
            </p:cNvSpPr>
            <p:nvPr/>
          </p:nvSpPr>
          <p:spPr bwMode="auto">
            <a:xfrm>
              <a:off x="4211" y="690"/>
              <a:ext cx="590"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472" name="Group 912"/>
            <p:cNvGrpSpPr>
              <a:grpSpLocks/>
            </p:cNvGrpSpPr>
            <p:nvPr/>
          </p:nvGrpSpPr>
          <p:grpSpPr bwMode="auto">
            <a:xfrm>
              <a:off x="4749" y="668"/>
              <a:ext cx="581" cy="145"/>
              <a:chOff x="614" y="2568"/>
              <a:chExt cx="725" cy="139"/>
            </a:xfrm>
          </p:grpSpPr>
          <p:sp>
            <p:nvSpPr>
              <p:cNvPr id="602" name="AutoShape 913"/>
              <p:cNvSpPr>
                <a:spLocks noChangeArrowheads="1"/>
              </p:cNvSpPr>
              <p:nvPr/>
            </p:nvSpPr>
            <p:spPr bwMode="auto">
              <a:xfrm>
                <a:off x="616" y="2565"/>
                <a:ext cx="724" cy="133"/>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603" name="AutoShape 914"/>
              <p:cNvSpPr>
                <a:spLocks noChangeArrowheads="1"/>
              </p:cNvSpPr>
              <p:nvPr/>
            </p:nvSpPr>
            <p:spPr bwMode="auto">
              <a:xfrm>
                <a:off x="629" y="2581"/>
                <a:ext cx="699"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578" name="Rectangle 915"/>
            <p:cNvSpPr>
              <a:spLocks noChangeArrowheads="1"/>
            </p:cNvSpPr>
            <p:nvPr/>
          </p:nvSpPr>
          <p:spPr bwMode="auto">
            <a:xfrm>
              <a:off x="4221" y="1024"/>
              <a:ext cx="601" cy="41"/>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474" name="Group 916"/>
            <p:cNvGrpSpPr>
              <a:grpSpLocks/>
            </p:cNvGrpSpPr>
            <p:nvPr/>
          </p:nvGrpSpPr>
          <p:grpSpPr bwMode="auto">
            <a:xfrm>
              <a:off x="4747" y="994"/>
              <a:ext cx="581" cy="134"/>
              <a:chOff x="614" y="2568"/>
              <a:chExt cx="725" cy="139"/>
            </a:xfrm>
          </p:grpSpPr>
          <p:sp>
            <p:nvSpPr>
              <p:cNvPr id="600" name="AutoShape 917"/>
              <p:cNvSpPr>
                <a:spLocks noChangeArrowheads="1"/>
              </p:cNvSpPr>
              <p:nvPr/>
            </p:nvSpPr>
            <p:spPr bwMode="auto">
              <a:xfrm>
                <a:off x="619" y="2565"/>
                <a:ext cx="724" cy="144"/>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601" name="AutoShape 918"/>
              <p:cNvSpPr>
                <a:spLocks noChangeArrowheads="1"/>
              </p:cNvSpPr>
              <p:nvPr/>
            </p:nvSpPr>
            <p:spPr bwMode="auto">
              <a:xfrm>
                <a:off x="631" y="2582"/>
                <a:ext cx="699"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580" name="Rectangle 919"/>
            <p:cNvSpPr>
              <a:spLocks noChangeArrowheads="1"/>
            </p:cNvSpPr>
            <p:nvPr/>
          </p:nvSpPr>
          <p:spPr bwMode="auto">
            <a:xfrm>
              <a:off x="4211" y="1358"/>
              <a:ext cx="601"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81" name="Rectangle 920"/>
            <p:cNvSpPr>
              <a:spLocks noChangeArrowheads="1"/>
            </p:cNvSpPr>
            <p:nvPr/>
          </p:nvSpPr>
          <p:spPr bwMode="auto">
            <a:xfrm>
              <a:off x="4221" y="1660"/>
              <a:ext cx="601" cy="41"/>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nvGrpSpPr>
            <p:cNvPr id="188477" name="Group 921"/>
            <p:cNvGrpSpPr>
              <a:grpSpLocks/>
            </p:cNvGrpSpPr>
            <p:nvPr/>
          </p:nvGrpSpPr>
          <p:grpSpPr bwMode="auto">
            <a:xfrm>
              <a:off x="4733" y="1630"/>
              <a:ext cx="586" cy="151"/>
              <a:chOff x="611" y="2571"/>
              <a:chExt cx="730" cy="139"/>
            </a:xfrm>
          </p:grpSpPr>
          <p:sp>
            <p:nvSpPr>
              <p:cNvPr id="598" name="AutoShape 922"/>
              <p:cNvSpPr>
                <a:spLocks noChangeArrowheads="1"/>
              </p:cNvSpPr>
              <p:nvPr/>
            </p:nvSpPr>
            <p:spPr bwMode="auto">
              <a:xfrm>
                <a:off x="608" y="2568"/>
                <a:ext cx="735" cy="143"/>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99" name="AutoShape 923"/>
              <p:cNvSpPr>
                <a:spLocks noChangeArrowheads="1"/>
              </p:cNvSpPr>
              <p:nvPr/>
            </p:nvSpPr>
            <p:spPr bwMode="auto">
              <a:xfrm>
                <a:off x="620" y="2583"/>
                <a:ext cx="710" cy="11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88478" name="Freeform 924"/>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88479" name="Group 925"/>
            <p:cNvGrpSpPr>
              <a:grpSpLocks/>
            </p:cNvGrpSpPr>
            <p:nvPr/>
          </p:nvGrpSpPr>
          <p:grpSpPr bwMode="auto">
            <a:xfrm>
              <a:off x="4739" y="1327"/>
              <a:ext cx="582" cy="139"/>
              <a:chOff x="614" y="2568"/>
              <a:chExt cx="725" cy="139"/>
            </a:xfrm>
          </p:grpSpPr>
          <p:sp>
            <p:nvSpPr>
              <p:cNvPr id="596" name="AutoShape 926"/>
              <p:cNvSpPr>
                <a:spLocks noChangeArrowheads="1"/>
              </p:cNvSpPr>
              <p:nvPr/>
            </p:nvSpPr>
            <p:spPr bwMode="auto">
              <a:xfrm>
                <a:off x="616" y="2566"/>
                <a:ext cx="710"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97" name="AutoShape 927"/>
              <p:cNvSpPr>
                <a:spLocks noChangeArrowheads="1"/>
              </p:cNvSpPr>
              <p:nvPr/>
            </p:nvSpPr>
            <p:spPr bwMode="auto">
              <a:xfrm>
                <a:off x="629" y="2583"/>
                <a:ext cx="697"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585" name="Rectangle 928"/>
            <p:cNvSpPr>
              <a:spLocks noChangeArrowheads="1"/>
            </p:cNvSpPr>
            <p:nvPr/>
          </p:nvSpPr>
          <p:spPr bwMode="auto">
            <a:xfrm>
              <a:off x="5249"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481" name="Freeform 929"/>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88482" name="Freeform 930"/>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88" name="Oval 931"/>
            <p:cNvSpPr>
              <a:spLocks noChangeArrowheads="1"/>
            </p:cNvSpPr>
            <p:nvPr/>
          </p:nvSpPr>
          <p:spPr bwMode="auto">
            <a:xfrm>
              <a:off x="5514" y="2605"/>
              <a:ext cx="51" cy="98"/>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188484" name="Freeform 932"/>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90" name="AutoShape 933"/>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91" name="AutoShape 934"/>
            <p:cNvSpPr>
              <a:spLocks noChangeArrowheads="1"/>
            </p:cNvSpPr>
            <p:nvPr/>
          </p:nvSpPr>
          <p:spPr bwMode="auto">
            <a:xfrm>
              <a:off x="4211" y="2711"/>
              <a:ext cx="1069"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92" name="Oval 935"/>
            <p:cNvSpPr>
              <a:spLocks noChangeArrowheads="1"/>
            </p:cNvSpPr>
            <p:nvPr/>
          </p:nvSpPr>
          <p:spPr bwMode="auto">
            <a:xfrm>
              <a:off x="4303" y="2385"/>
              <a:ext cx="163" cy="139"/>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93" name="Oval 936"/>
            <p:cNvSpPr>
              <a:spLocks noChangeArrowheads="1"/>
            </p:cNvSpPr>
            <p:nvPr/>
          </p:nvSpPr>
          <p:spPr bwMode="auto">
            <a:xfrm>
              <a:off x="4486" y="2385"/>
              <a:ext cx="163" cy="147"/>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a:solidFill>
                  <a:srgbClr val="FF0000"/>
                </a:solidFill>
                <a:latin typeface="Arial" charset="0"/>
                <a:ea typeface="ＭＳ Ｐゴシック" charset="0"/>
                <a:cs typeface="Arial" charset="0"/>
              </a:endParaRPr>
            </a:p>
          </p:txBody>
        </p:sp>
        <p:sp>
          <p:nvSpPr>
            <p:cNvPr id="594" name="Oval 937"/>
            <p:cNvSpPr>
              <a:spLocks noChangeArrowheads="1"/>
            </p:cNvSpPr>
            <p:nvPr/>
          </p:nvSpPr>
          <p:spPr bwMode="auto">
            <a:xfrm>
              <a:off x="4659" y="2377"/>
              <a:ext cx="163" cy="147"/>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sp>
          <p:nvSpPr>
            <p:cNvPr id="595" name="Rectangle 938"/>
            <p:cNvSpPr>
              <a:spLocks noChangeArrowheads="1"/>
            </p:cNvSpPr>
            <p:nvPr/>
          </p:nvSpPr>
          <p:spPr bwMode="auto">
            <a:xfrm>
              <a:off x="5056" y="1831"/>
              <a:ext cx="92" cy="766"/>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latin typeface="Arial" charset="0"/>
                <a:ea typeface="ＭＳ Ｐゴシック" charset="0"/>
                <a:cs typeface="Arial" charset="0"/>
              </a:endParaRPr>
            </a:p>
          </p:txBody>
        </p:sp>
      </p:grpSp>
      <p:sp>
        <p:nvSpPr>
          <p:cNvPr id="188463" name="Oval 382"/>
          <p:cNvSpPr>
            <a:spLocks noChangeArrowheads="1"/>
          </p:cNvSpPr>
          <p:nvPr/>
        </p:nvSpPr>
        <p:spPr bwMode="auto">
          <a:xfrm>
            <a:off x="3411538" y="3819525"/>
            <a:ext cx="134937" cy="134938"/>
          </a:xfrm>
          <a:prstGeom prst="ellipse">
            <a:avLst/>
          </a:prstGeom>
          <a:solidFill>
            <a:srgbClr val="FF0000"/>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464" name="Oval 383"/>
          <p:cNvSpPr>
            <a:spLocks noChangeArrowheads="1"/>
          </p:cNvSpPr>
          <p:nvPr/>
        </p:nvSpPr>
        <p:spPr bwMode="auto">
          <a:xfrm>
            <a:off x="974725" y="3703638"/>
            <a:ext cx="134938" cy="134937"/>
          </a:xfrm>
          <a:prstGeom prst="ellipse">
            <a:avLst/>
          </a:prstGeom>
          <a:solidFill>
            <a:srgbClr val="FF0000"/>
          </a:solidFill>
          <a:ln w="9525">
            <a:solidFill>
              <a:schemeClr val="tx1"/>
            </a:solidFill>
            <a:round/>
            <a:headEnd/>
            <a:tailEnd/>
          </a:ln>
        </p:spPr>
        <p:txBody>
          <a:bodyPr wrap="none" anchor="ctr"/>
          <a:lstStyle>
            <a:lvl1pPr>
              <a:defRPr sz="2000">
                <a:solidFill>
                  <a:schemeClr val="tx1"/>
                </a:solidFill>
                <a:latin typeface="Comic Sans MS" pitchFamily="66" charset="0"/>
                <a:ea typeface="ＭＳ Ｐゴシック" pitchFamily="34" charset="-128"/>
              </a:defRPr>
            </a:lvl1pPr>
            <a:lvl2pPr marL="742950" indent="-285750">
              <a:defRPr sz="2000">
                <a:solidFill>
                  <a:schemeClr val="tx1"/>
                </a:solidFill>
                <a:latin typeface="Comic Sans MS" pitchFamily="66" charset="0"/>
                <a:ea typeface="ＭＳ Ｐゴシック" pitchFamily="34" charset="-128"/>
              </a:defRPr>
            </a:lvl2pPr>
            <a:lvl3pPr marL="1143000" indent="-228600">
              <a:defRPr sz="2000">
                <a:solidFill>
                  <a:schemeClr val="tx1"/>
                </a:solidFill>
                <a:latin typeface="Comic Sans MS" pitchFamily="66" charset="0"/>
                <a:ea typeface="ＭＳ Ｐゴシック" pitchFamily="34" charset="-128"/>
              </a:defRPr>
            </a:lvl3pPr>
            <a:lvl4pPr marL="1600200" indent="-228600">
              <a:defRPr sz="2000">
                <a:solidFill>
                  <a:schemeClr val="tx1"/>
                </a:solidFill>
                <a:latin typeface="Comic Sans MS" pitchFamily="66" charset="0"/>
                <a:ea typeface="ＭＳ Ｐゴシック" pitchFamily="34" charset="-128"/>
              </a:defRPr>
            </a:lvl4pPr>
            <a:lvl5pPr marL="2057400" indent="-228600">
              <a:defRPr sz="2000">
                <a:solidFill>
                  <a:schemeClr val="tx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Comic Sans MS" pitchFamily="66" charset="0"/>
                <a:ea typeface="ＭＳ Ｐゴシック" pitchFamily="34" charset="-128"/>
              </a:defRPr>
            </a:lvl9pPr>
          </a:lstStyle>
          <a:p>
            <a:endParaRPr lang="en-US" altLang="en-US"/>
          </a:p>
        </p:txBody>
      </p:sp>
      <p:sp>
        <p:nvSpPr>
          <p:cNvPr id="188465" name="Line 387"/>
          <p:cNvSpPr>
            <a:spLocks noChangeShapeType="1"/>
          </p:cNvSpPr>
          <p:nvPr/>
        </p:nvSpPr>
        <p:spPr bwMode="auto">
          <a:xfrm flipH="1" flipV="1">
            <a:off x="1081088" y="3914775"/>
            <a:ext cx="1074737" cy="1139825"/>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
        <p:nvSpPr>
          <p:cNvPr id="188466" name="Line 388"/>
          <p:cNvSpPr>
            <a:spLocks noChangeShapeType="1"/>
          </p:cNvSpPr>
          <p:nvPr/>
        </p:nvSpPr>
        <p:spPr bwMode="auto">
          <a:xfrm flipV="1">
            <a:off x="2151063" y="4019550"/>
            <a:ext cx="1293812" cy="1046163"/>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465" name="Picture 17"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088" y="1071563"/>
            <a:ext cx="68564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3" name="Rectangle 5"/>
          <p:cNvSpPr>
            <a:spLocks noGrp="1" noChangeArrowheads="1"/>
          </p:cNvSpPr>
          <p:nvPr>
            <p:ph type="ftr" sz="quarter" idx="10"/>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defRPr/>
            </a:pPr>
            <a:r>
              <a:rPr lang="en-US" sz="1200">
                <a:latin typeface="Arial" charset="0"/>
              </a:rPr>
              <a:t>Network Security</a:t>
            </a:r>
          </a:p>
        </p:txBody>
      </p:sp>
      <p:sp>
        <p:nvSpPr>
          <p:cNvPr id="190467" name="Rectangle 2"/>
          <p:cNvSpPr>
            <a:spLocks noGrp="1" noChangeArrowheads="1"/>
          </p:cNvSpPr>
          <p:nvPr>
            <p:ph type="title"/>
          </p:nvPr>
        </p:nvSpPr>
        <p:spPr/>
        <p:txBody>
          <a:bodyPr/>
          <a:lstStyle/>
          <a:p>
            <a:r>
              <a:rPr lang="en-US" altLang="en-US" smtClean="0">
                <a:ea typeface="ＭＳ Ｐゴシック" pitchFamily="34" charset="-128"/>
              </a:rPr>
              <a:t>Network Security (summary)</a:t>
            </a:r>
          </a:p>
        </p:txBody>
      </p:sp>
      <p:sp>
        <p:nvSpPr>
          <p:cNvPr id="190468" name="Rectangle 3"/>
          <p:cNvSpPr>
            <a:spLocks noGrp="1" noChangeArrowheads="1"/>
          </p:cNvSpPr>
          <p:nvPr>
            <p:ph type="body" idx="1"/>
          </p:nvPr>
        </p:nvSpPr>
        <p:spPr>
          <a:xfrm>
            <a:off x="533400" y="1400175"/>
            <a:ext cx="8148638" cy="4648200"/>
          </a:xfrm>
        </p:spPr>
        <p:txBody>
          <a:bodyPr/>
          <a:lstStyle/>
          <a:p>
            <a:pPr>
              <a:buFont typeface="Wingdings" pitchFamily="2" charset="2"/>
              <a:buNone/>
            </a:pPr>
            <a:r>
              <a:rPr lang="en-US" altLang="en-US" smtClean="0">
                <a:solidFill>
                  <a:srgbClr val="CC0000"/>
                </a:solidFill>
                <a:ea typeface="ＭＳ Ｐゴシック" pitchFamily="34" charset="-128"/>
              </a:rPr>
              <a:t>basic techniques…...</a:t>
            </a:r>
          </a:p>
          <a:p>
            <a:pPr lvl="1"/>
            <a:r>
              <a:rPr lang="en-US" altLang="en-US" smtClean="0">
                <a:ea typeface="ＭＳ Ｐゴシック" pitchFamily="34" charset="-128"/>
              </a:rPr>
              <a:t>cryptography (symmetric and public)</a:t>
            </a:r>
          </a:p>
          <a:p>
            <a:pPr lvl="1"/>
            <a:r>
              <a:rPr lang="en-US" altLang="en-US" smtClean="0">
                <a:ea typeface="ＭＳ Ｐゴシック" pitchFamily="34" charset="-128"/>
              </a:rPr>
              <a:t>message integrity</a:t>
            </a:r>
          </a:p>
          <a:p>
            <a:pPr lvl="1"/>
            <a:r>
              <a:rPr lang="en-US" altLang="en-US" smtClean="0">
                <a:ea typeface="ＭＳ Ｐゴシック" pitchFamily="34" charset="-128"/>
              </a:rPr>
              <a:t>end-point authentication</a:t>
            </a:r>
          </a:p>
          <a:p>
            <a:pPr>
              <a:buFont typeface="Wingdings" pitchFamily="2" charset="2"/>
              <a:buNone/>
            </a:pPr>
            <a:r>
              <a:rPr lang="en-US" altLang="en-US" smtClean="0">
                <a:solidFill>
                  <a:srgbClr val="CC0000"/>
                </a:solidFill>
                <a:ea typeface="ＭＳ Ｐゴシック" pitchFamily="34" charset="-128"/>
              </a:rPr>
              <a:t>…. used in many different security scenarios</a:t>
            </a:r>
          </a:p>
          <a:p>
            <a:pPr lvl="1"/>
            <a:r>
              <a:rPr lang="en-US" altLang="en-US" smtClean="0">
                <a:ea typeface="ＭＳ Ｐゴシック" pitchFamily="34" charset="-128"/>
              </a:rPr>
              <a:t>secure email</a:t>
            </a:r>
          </a:p>
          <a:p>
            <a:pPr lvl="1"/>
            <a:r>
              <a:rPr lang="en-US" altLang="en-US" smtClean="0">
                <a:ea typeface="ＭＳ Ｐゴシック" pitchFamily="34" charset="-128"/>
              </a:rPr>
              <a:t>secure transport (SSL)</a:t>
            </a:r>
          </a:p>
          <a:p>
            <a:pPr lvl="1"/>
            <a:r>
              <a:rPr lang="en-US" altLang="en-US" smtClean="0">
                <a:ea typeface="ＭＳ Ｐゴシック" pitchFamily="34" charset="-128"/>
              </a:rPr>
              <a:t>IP sec</a:t>
            </a:r>
          </a:p>
          <a:p>
            <a:pPr lvl="1"/>
            <a:r>
              <a:rPr lang="en-US" altLang="en-US" smtClean="0">
                <a:ea typeface="ＭＳ Ｐゴシック" pitchFamily="34" charset="-128"/>
              </a:rPr>
              <a:t>802.11</a:t>
            </a:r>
          </a:p>
          <a:p>
            <a:pPr>
              <a:buFont typeface="Wingdings" pitchFamily="2" charset="2"/>
              <a:buNone/>
            </a:pPr>
            <a:r>
              <a:rPr lang="en-US" altLang="en-US" smtClean="0">
                <a:solidFill>
                  <a:srgbClr val="CC0000"/>
                </a:solidFill>
                <a:ea typeface="ＭＳ Ｐゴシック" pitchFamily="34" charset="-128"/>
              </a:rPr>
              <a:t>operational security: firewalls and IDS</a:t>
            </a:r>
          </a:p>
          <a:p>
            <a:pPr lvl="1"/>
            <a:endParaRPr lang="en-US" altLang="en-US" smtClean="0">
              <a:ea typeface="ＭＳ Ｐゴシック" pitchFamily="34" charset="-128"/>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Comic Sans MS" pitchFamily="66"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13982</TotalTime>
  <Words>8955</Words>
  <Application>Microsoft Office PowerPoint</Application>
  <PresentationFormat>On-screen Show (4:3)</PresentationFormat>
  <Paragraphs>2051</Paragraphs>
  <Slides>136</Slides>
  <Notes>38</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136</vt:i4>
      </vt:variant>
    </vt:vector>
  </HeadingPairs>
  <TitlesOfParts>
    <vt:vector size="139" baseType="lpstr">
      <vt:lpstr>Default Design</vt:lpstr>
      <vt:lpstr>Picture</vt:lpstr>
      <vt:lpstr>Clip</vt:lpstr>
      <vt:lpstr>PowerPoint Presentation</vt:lpstr>
      <vt:lpstr>Course Description</vt:lpstr>
      <vt:lpstr>Basis for Evaluation - Requirements</vt:lpstr>
      <vt:lpstr>Resources</vt:lpstr>
      <vt:lpstr>Chapter 8: Network Security</vt:lpstr>
      <vt:lpstr>Chapter 8 roadmap</vt:lpstr>
      <vt:lpstr>What is network security?</vt:lpstr>
      <vt:lpstr>Friends and enemies: Alice, Bob, Trudy</vt:lpstr>
      <vt:lpstr>Who might Bob, Alice be?</vt:lpstr>
      <vt:lpstr>There are bad guys (and girls) out there!</vt:lpstr>
      <vt:lpstr>Chapter 8 roadmap</vt:lpstr>
      <vt:lpstr>The language of cryptography</vt:lpstr>
      <vt:lpstr>Breaking an encryption scheme</vt:lpstr>
      <vt:lpstr>Symmetric key cryptography</vt:lpstr>
      <vt:lpstr>Simple encryption scheme</vt:lpstr>
      <vt:lpstr>A more sophisticated encryption approach</vt:lpstr>
      <vt:lpstr>Symmetric key crypto: DES</vt:lpstr>
      <vt:lpstr>Symmetric key  crypto: DES</vt:lpstr>
      <vt:lpstr>AES: Advanced Encryption Standard</vt:lpstr>
      <vt:lpstr>Public Key Cryptography</vt:lpstr>
      <vt:lpstr>Public key cryptography</vt:lpstr>
      <vt:lpstr>Public key encryption algorithms</vt:lpstr>
      <vt:lpstr>Prerequisite: modular arithmetic</vt:lpstr>
      <vt:lpstr>RSA: getting ready</vt:lpstr>
      <vt:lpstr>RSA: Creating public/private key pair</vt:lpstr>
      <vt:lpstr>RSA: encryption, decryption</vt:lpstr>
      <vt:lpstr>RSA example:</vt:lpstr>
      <vt:lpstr>Why does RSA work?</vt:lpstr>
      <vt:lpstr>RSA: another important property</vt:lpstr>
      <vt:lpstr>PowerPoint Presentation</vt:lpstr>
      <vt:lpstr>Why is RSA secure?</vt:lpstr>
      <vt:lpstr>RSA in practice: session keys</vt:lpstr>
      <vt:lpstr>Chapter 8 roadmap</vt:lpstr>
      <vt:lpstr>Authentication</vt:lpstr>
      <vt:lpstr>Authentication</vt:lpstr>
      <vt:lpstr>Authentication: another try</vt:lpstr>
      <vt:lpstr>Authentication: another try</vt:lpstr>
      <vt:lpstr>Authentication: another try</vt:lpstr>
      <vt:lpstr>Authentication: another try</vt:lpstr>
      <vt:lpstr>Authentication: yet another try</vt:lpstr>
      <vt:lpstr>Authentication: yet another try</vt:lpstr>
      <vt:lpstr>Authentication: yet another try</vt:lpstr>
      <vt:lpstr>Authentication: ap5.0</vt:lpstr>
      <vt:lpstr>ap5.0: security hole</vt:lpstr>
      <vt:lpstr>ap5.0: security hole</vt:lpstr>
      <vt:lpstr>Chapter 8 roadmap</vt:lpstr>
      <vt:lpstr>Digital signatures </vt:lpstr>
      <vt:lpstr>Digital signatures </vt:lpstr>
      <vt:lpstr>Digital signatures </vt:lpstr>
      <vt:lpstr>Message digests</vt:lpstr>
      <vt:lpstr>Internet checksum: poor crypto hash function</vt:lpstr>
      <vt:lpstr>PowerPoint Presentation</vt:lpstr>
      <vt:lpstr>Hash function algorithms</vt:lpstr>
      <vt:lpstr>Recall: ap5.0 security hole</vt:lpstr>
      <vt:lpstr>Public-key certification</vt:lpstr>
      <vt:lpstr>Certification authorities</vt:lpstr>
      <vt:lpstr>Certification authorities</vt:lpstr>
      <vt:lpstr>Chapter 8 roadmap</vt:lpstr>
      <vt:lpstr>Secure e-mail </vt:lpstr>
      <vt:lpstr>Secure e-mail </vt:lpstr>
      <vt:lpstr>Secure e-mail (continued)</vt:lpstr>
      <vt:lpstr>Secure e-mail (continued)</vt:lpstr>
      <vt:lpstr>Chapter 8 roadmap</vt:lpstr>
      <vt:lpstr>SSL: Secure Sockets Layer</vt:lpstr>
      <vt:lpstr>SSL and TCP/IP</vt:lpstr>
      <vt:lpstr>Could do something like PGP:</vt:lpstr>
      <vt:lpstr>Toy SSL: a simple secure channel</vt:lpstr>
      <vt:lpstr>Toy: a simple handshake</vt:lpstr>
      <vt:lpstr>Toy: key derivation</vt:lpstr>
      <vt:lpstr>Toy: data records</vt:lpstr>
      <vt:lpstr>Toy: sequence numbers</vt:lpstr>
      <vt:lpstr>Toy: control information</vt:lpstr>
      <vt:lpstr>Toy SSL: summary</vt:lpstr>
      <vt:lpstr>Toy SSL isn’t complete</vt:lpstr>
      <vt:lpstr>SSL cipher suite</vt:lpstr>
      <vt:lpstr>Real SSL: handshake (1)</vt:lpstr>
      <vt:lpstr>Real SSL: handshake (2)</vt:lpstr>
      <vt:lpstr>Real SSL: handshaking (3)</vt:lpstr>
      <vt:lpstr>Real SSL: handshaking (4)</vt:lpstr>
      <vt:lpstr>SSL record protocol</vt:lpstr>
      <vt:lpstr>SSL record format</vt:lpstr>
      <vt:lpstr>Real SSL connection</vt:lpstr>
      <vt:lpstr>Key derivation</vt:lpstr>
      <vt:lpstr>Chapter 8 roadmap</vt:lpstr>
      <vt:lpstr>What is network-layer confidentiality ?</vt:lpstr>
      <vt:lpstr>Virtual Private Networks (VPNs)</vt:lpstr>
      <vt:lpstr>PowerPoint Presentation</vt:lpstr>
      <vt:lpstr>IPsec services</vt:lpstr>
      <vt:lpstr>IPsec transport mode</vt:lpstr>
      <vt:lpstr>IPsec – tunneling mode </vt:lpstr>
      <vt:lpstr>Two IPsec protocols</vt:lpstr>
      <vt:lpstr>Four combinations are possible!</vt:lpstr>
      <vt:lpstr>Security associations (SAs) </vt:lpstr>
      <vt:lpstr>Example SA from R1 to R2</vt:lpstr>
      <vt:lpstr>PowerPoint Presentation</vt:lpstr>
      <vt:lpstr>IPsec datagram</vt:lpstr>
      <vt:lpstr>What happens?</vt:lpstr>
      <vt:lpstr>R1: convert original datagram to IPsec datagram</vt:lpstr>
      <vt:lpstr>Inside the enchilada:</vt:lpstr>
      <vt:lpstr>IPsec sequence numbers</vt:lpstr>
      <vt:lpstr>Security Policy Database (SPD)</vt:lpstr>
      <vt:lpstr>Summary: IPsec services</vt:lpstr>
      <vt:lpstr>IKE: Internet Key Exchange </vt:lpstr>
      <vt:lpstr>IKE: PSK and PKI</vt:lpstr>
      <vt:lpstr>IKE phases</vt:lpstr>
      <vt:lpstr>IPsec summary</vt:lpstr>
      <vt:lpstr>Chapter 8 roadmap</vt:lpstr>
      <vt:lpstr>WEP design goals</vt:lpstr>
      <vt:lpstr>Review: symmetric stream ciphers</vt:lpstr>
      <vt:lpstr>Stream cipher and packet independence</vt:lpstr>
      <vt:lpstr>WEP encryption (1)</vt:lpstr>
      <vt:lpstr>WEP encryption (2)</vt:lpstr>
      <vt:lpstr>WEP decryption overview </vt:lpstr>
      <vt:lpstr>End-point authentication w/ nonce</vt:lpstr>
      <vt:lpstr>WEP authentication</vt:lpstr>
      <vt:lpstr>Breaking 802.11 WEP encryption</vt:lpstr>
      <vt:lpstr> 802.11i: improved security</vt:lpstr>
      <vt:lpstr> 802.11i: four phases of operation</vt:lpstr>
      <vt:lpstr>EAP: extensible authentication protocol</vt:lpstr>
      <vt:lpstr>WEP's Major Weakness</vt:lpstr>
      <vt:lpstr>Wi-Fi Protected Access (WPA)</vt:lpstr>
      <vt:lpstr>Chapter 8 roadmap</vt:lpstr>
      <vt:lpstr>Firewalls</vt:lpstr>
      <vt:lpstr>Firewalls: why</vt:lpstr>
      <vt:lpstr>Stateless packet filtering</vt:lpstr>
      <vt:lpstr>Stateless packet filtering: example</vt:lpstr>
      <vt:lpstr>Stateless packet filtering: more examples</vt:lpstr>
      <vt:lpstr>Access Control Lists</vt:lpstr>
      <vt:lpstr>Stateful packet filtering</vt:lpstr>
      <vt:lpstr>Stateful packet filtering</vt:lpstr>
      <vt:lpstr>Application gateways</vt:lpstr>
      <vt:lpstr>Application gateways</vt:lpstr>
      <vt:lpstr>Limitations of firewalls, gateways</vt:lpstr>
      <vt:lpstr>Intrusion detection systems</vt:lpstr>
      <vt:lpstr>Intrusion detection systems</vt:lpstr>
      <vt:lpstr>Network Security (summary)</vt:lpstr>
    </vt:vector>
  </TitlesOfParts>
  <Company>Polytechnic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I: Introduction</dc:title>
  <dc:creator>Keith W. Ross</dc:creator>
  <cp:lastModifiedBy>Robert Douglas Kent</cp:lastModifiedBy>
  <cp:revision>335</cp:revision>
  <cp:lastPrinted>2011-11-30T14:38:01Z</cp:lastPrinted>
  <dcterms:created xsi:type="dcterms:W3CDTF">1999-10-08T19:08:27Z</dcterms:created>
  <dcterms:modified xsi:type="dcterms:W3CDTF">2015-09-08T16:56:46Z</dcterms:modified>
</cp:coreProperties>
</file>