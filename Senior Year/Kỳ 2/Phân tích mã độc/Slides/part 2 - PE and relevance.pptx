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4"/>
  </p:notesMasterIdLst>
  <p:sldIdLst>
    <p:sldId id="273" r:id="rId3"/>
    <p:sldId id="257" r:id="rId4"/>
    <p:sldId id="258" r:id="rId5"/>
    <p:sldId id="259" r:id="rId6"/>
    <p:sldId id="274" r:id="rId7"/>
    <p:sldId id="275" r:id="rId8"/>
    <p:sldId id="276" r:id="rId9"/>
    <p:sldId id="277" r:id="rId10"/>
    <p:sldId id="278" r:id="rId11"/>
    <p:sldId id="279" r:id="rId12"/>
    <p:sldId id="260" r:id="rId13"/>
    <p:sldId id="261" r:id="rId14"/>
    <p:sldId id="262" r:id="rId15"/>
    <p:sldId id="263" r:id="rId16"/>
    <p:sldId id="264" r:id="rId17"/>
    <p:sldId id="265" r:id="rId18"/>
    <p:sldId id="266" r:id="rId19"/>
    <p:sldId id="267" r:id="rId20"/>
    <p:sldId id="268" r:id="rId21"/>
    <p:sldId id="269" r:id="rId22"/>
    <p:sldId id="270"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3" d="100"/>
          <a:sy n="93" d="100"/>
        </p:scale>
        <p:origin x="-1508" y="-9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D20CCD-3501-4482-9D82-C625C9E9A6F2}" type="doc">
      <dgm:prSet loTypeId="urn:microsoft.com/office/officeart/2005/8/layout/process1" loCatId="process" qsTypeId="urn:microsoft.com/office/officeart/2005/8/quickstyle/simple1" qsCatId="simple" csTypeId="urn:microsoft.com/office/officeart/2005/8/colors/accent1_2" csCatId="accent1" phldr="1"/>
      <dgm:spPr/>
    </dgm:pt>
    <dgm:pt modelId="{1781408A-B84F-48AF-86E9-EC788F7FB60A}">
      <dgm:prSet phldrT="[Text]" custT="1"/>
      <dgm:spPr/>
      <dgm:t>
        <a:bodyPr/>
        <a:lstStyle/>
        <a:p>
          <a:r>
            <a:rPr lang="en-GB" sz="2400" dirty="0" smtClean="0"/>
            <a:t>Find OEP</a:t>
          </a:r>
          <a:endParaRPr lang="en-GB" sz="2400" dirty="0"/>
        </a:p>
      </dgm:t>
    </dgm:pt>
    <dgm:pt modelId="{BF59DE3B-CF81-4F5A-8AEB-540EECE6A66F}" type="parTrans" cxnId="{62A6E07C-6064-4A34-8F6A-C4DB3F4EBEA0}">
      <dgm:prSet/>
      <dgm:spPr/>
      <dgm:t>
        <a:bodyPr/>
        <a:lstStyle/>
        <a:p>
          <a:endParaRPr lang="en-GB"/>
        </a:p>
      </dgm:t>
    </dgm:pt>
    <dgm:pt modelId="{8577C3FE-55F9-443D-B1D3-C2555115DC96}" type="sibTrans" cxnId="{62A6E07C-6064-4A34-8F6A-C4DB3F4EBEA0}">
      <dgm:prSet/>
      <dgm:spPr/>
      <dgm:t>
        <a:bodyPr/>
        <a:lstStyle/>
        <a:p>
          <a:endParaRPr lang="en-GB"/>
        </a:p>
      </dgm:t>
    </dgm:pt>
    <dgm:pt modelId="{8A131677-C47A-4397-ADBE-BA96C1B3FF2E}">
      <dgm:prSet phldrT="[Text]" custT="1"/>
      <dgm:spPr/>
      <dgm:t>
        <a:bodyPr/>
        <a:lstStyle/>
        <a:p>
          <a:r>
            <a:rPr lang="en-GB" sz="2400" dirty="0" smtClean="0"/>
            <a:t>Dump</a:t>
          </a:r>
          <a:endParaRPr lang="en-GB" sz="2400" dirty="0"/>
        </a:p>
      </dgm:t>
    </dgm:pt>
    <dgm:pt modelId="{EB98EAE3-6FAC-4679-95E2-684CA7CBE00E}" type="parTrans" cxnId="{8E7CED2B-E429-498E-BD45-37EDDC9BDA86}">
      <dgm:prSet/>
      <dgm:spPr/>
      <dgm:t>
        <a:bodyPr/>
        <a:lstStyle/>
        <a:p>
          <a:endParaRPr lang="en-GB"/>
        </a:p>
      </dgm:t>
    </dgm:pt>
    <dgm:pt modelId="{D9C5BF62-7ADA-48A0-B120-3414DB143468}" type="sibTrans" cxnId="{8E7CED2B-E429-498E-BD45-37EDDC9BDA86}">
      <dgm:prSet/>
      <dgm:spPr/>
      <dgm:t>
        <a:bodyPr/>
        <a:lstStyle/>
        <a:p>
          <a:endParaRPr lang="en-GB"/>
        </a:p>
      </dgm:t>
    </dgm:pt>
    <dgm:pt modelId="{7AA2DC89-DD54-4943-87CE-C2586C84F2B5}">
      <dgm:prSet phldrT="[Text]" custT="1"/>
      <dgm:spPr/>
      <dgm:t>
        <a:bodyPr/>
        <a:lstStyle/>
        <a:p>
          <a:r>
            <a:rPr lang="en-GB" sz="2400" dirty="0" smtClean="0"/>
            <a:t>Fix IAT</a:t>
          </a:r>
          <a:endParaRPr lang="en-GB" sz="2400" dirty="0"/>
        </a:p>
      </dgm:t>
    </dgm:pt>
    <dgm:pt modelId="{1DDA6AA7-3C84-4077-8650-BC8EDEC88506}" type="parTrans" cxnId="{4DBC6806-582B-49A8-B538-E3541497D068}">
      <dgm:prSet/>
      <dgm:spPr/>
      <dgm:t>
        <a:bodyPr/>
        <a:lstStyle/>
        <a:p>
          <a:endParaRPr lang="en-GB"/>
        </a:p>
      </dgm:t>
    </dgm:pt>
    <dgm:pt modelId="{239D1B70-27EF-4891-9E3C-D75180055982}" type="sibTrans" cxnId="{4DBC6806-582B-49A8-B538-E3541497D068}">
      <dgm:prSet/>
      <dgm:spPr/>
      <dgm:t>
        <a:bodyPr/>
        <a:lstStyle/>
        <a:p>
          <a:endParaRPr lang="en-GB"/>
        </a:p>
      </dgm:t>
    </dgm:pt>
    <dgm:pt modelId="{448C8E6E-DAA6-46B1-8BC2-AF1E687A34D6}" type="pres">
      <dgm:prSet presAssocID="{17D20CCD-3501-4482-9D82-C625C9E9A6F2}" presName="Name0" presStyleCnt="0">
        <dgm:presLayoutVars>
          <dgm:dir/>
          <dgm:resizeHandles val="exact"/>
        </dgm:presLayoutVars>
      </dgm:prSet>
      <dgm:spPr/>
    </dgm:pt>
    <dgm:pt modelId="{AEDF2472-DB43-42EF-9125-24866B5F0C11}" type="pres">
      <dgm:prSet presAssocID="{1781408A-B84F-48AF-86E9-EC788F7FB60A}" presName="node" presStyleLbl="node1" presStyleIdx="0" presStyleCnt="3">
        <dgm:presLayoutVars>
          <dgm:bulletEnabled val="1"/>
        </dgm:presLayoutVars>
      </dgm:prSet>
      <dgm:spPr/>
      <dgm:t>
        <a:bodyPr/>
        <a:lstStyle/>
        <a:p>
          <a:endParaRPr lang="en-GB"/>
        </a:p>
      </dgm:t>
    </dgm:pt>
    <dgm:pt modelId="{B9118775-B54C-409E-91B3-C93DD951C76E}" type="pres">
      <dgm:prSet presAssocID="{8577C3FE-55F9-443D-B1D3-C2555115DC96}" presName="sibTrans" presStyleLbl="sibTrans2D1" presStyleIdx="0" presStyleCnt="2"/>
      <dgm:spPr/>
      <dgm:t>
        <a:bodyPr/>
        <a:lstStyle/>
        <a:p>
          <a:endParaRPr lang="en-GB"/>
        </a:p>
      </dgm:t>
    </dgm:pt>
    <dgm:pt modelId="{B198D491-B9A1-4C92-AE25-7DB8DBCF7BEA}" type="pres">
      <dgm:prSet presAssocID="{8577C3FE-55F9-443D-B1D3-C2555115DC96}" presName="connectorText" presStyleLbl="sibTrans2D1" presStyleIdx="0" presStyleCnt="2"/>
      <dgm:spPr/>
      <dgm:t>
        <a:bodyPr/>
        <a:lstStyle/>
        <a:p>
          <a:endParaRPr lang="en-GB"/>
        </a:p>
      </dgm:t>
    </dgm:pt>
    <dgm:pt modelId="{0DC62A1D-76EF-47FC-99E2-C7953D8AB6D0}" type="pres">
      <dgm:prSet presAssocID="{8A131677-C47A-4397-ADBE-BA96C1B3FF2E}" presName="node" presStyleLbl="node1" presStyleIdx="1" presStyleCnt="3">
        <dgm:presLayoutVars>
          <dgm:bulletEnabled val="1"/>
        </dgm:presLayoutVars>
      </dgm:prSet>
      <dgm:spPr/>
      <dgm:t>
        <a:bodyPr/>
        <a:lstStyle/>
        <a:p>
          <a:endParaRPr lang="en-GB"/>
        </a:p>
      </dgm:t>
    </dgm:pt>
    <dgm:pt modelId="{D8F92245-7AEB-4205-9665-ECFB6F50F6C1}" type="pres">
      <dgm:prSet presAssocID="{D9C5BF62-7ADA-48A0-B120-3414DB143468}" presName="sibTrans" presStyleLbl="sibTrans2D1" presStyleIdx="1" presStyleCnt="2"/>
      <dgm:spPr/>
      <dgm:t>
        <a:bodyPr/>
        <a:lstStyle/>
        <a:p>
          <a:endParaRPr lang="en-GB"/>
        </a:p>
      </dgm:t>
    </dgm:pt>
    <dgm:pt modelId="{8089FB4A-5417-46A9-A52B-1C1B9EF5C970}" type="pres">
      <dgm:prSet presAssocID="{D9C5BF62-7ADA-48A0-B120-3414DB143468}" presName="connectorText" presStyleLbl="sibTrans2D1" presStyleIdx="1" presStyleCnt="2"/>
      <dgm:spPr/>
      <dgm:t>
        <a:bodyPr/>
        <a:lstStyle/>
        <a:p>
          <a:endParaRPr lang="en-GB"/>
        </a:p>
      </dgm:t>
    </dgm:pt>
    <dgm:pt modelId="{20E28982-8A55-4904-99E4-18AC54723891}" type="pres">
      <dgm:prSet presAssocID="{7AA2DC89-DD54-4943-87CE-C2586C84F2B5}" presName="node" presStyleLbl="node1" presStyleIdx="2" presStyleCnt="3">
        <dgm:presLayoutVars>
          <dgm:bulletEnabled val="1"/>
        </dgm:presLayoutVars>
      </dgm:prSet>
      <dgm:spPr/>
      <dgm:t>
        <a:bodyPr/>
        <a:lstStyle/>
        <a:p>
          <a:endParaRPr lang="en-GB"/>
        </a:p>
      </dgm:t>
    </dgm:pt>
  </dgm:ptLst>
  <dgm:cxnLst>
    <dgm:cxn modelId="{8E7CED2B-E429-498E-BD45-37EDDC9BDA86}" srcId="{17D20CCD-3501-4482-9D82-C625C9E9A6F2}" destId="{8A131677-C47A-4397-ADBE-BA96C1B3FF2E}" srcOrd="1" destOrd="0" parTransId="{EB98EAE3-6FAC-4679-95E2-684CA7CBE00E}" sibTransId="{D9C5BF62-7ADA-48A0-B120-3414DB143468}"/>
    <dgm:cxn modelId="{99791D72-C383-4A99-91B0-B94A4CE603EF}" type="presOf" srcId="{8A131677-C47A-4397-ADBE-BA96C1B3FF2E}" destId="{0DC62A1D-76EF-47FC-99E2-C7953D8AB6D0}" srcOrd="0" destOrd="0" presId="urn:microsoft.com/office/officeart/2005/8/layout/process1"/>
    <dgm:cxn modelId="{330A8FE6-89AB-4EC9-9A60-D25649A094B4}" type="presOf" srcId="{D9C5BF62-7ADA-48A0-B120-3414DB143468}" destId="{8089FB4A-5417-46A9-A52B-1C1B9EF5C970}" srcOrd="1" destOrd="0" presId="urn:microsoft.com/office/officeart/2005/8/layout/process1"/>
    <dgm:cxn modelId="{69D159C0-2571-48EA-907E-7E5399E51DB8}" type="presOf" srcId="{D9C5BF62-7ADA-48A0-B120-3414DB143468}" destId="{D8F92245-7AEB-4205-9665-ECFB6F50F6C1}" srcOrd="0" destOrd="0" presId="urn:microsoft.com/office/officeart/2005/8/layout/process1"/>
    <dgm:cxn modelId="{6EBC018D-83C0-4A5E-AB02-A4E8022EBAA2}" type="presOf" srcId="{8577C3FE-55F9-443D-B1D3-C2555115DC96}" destId="{B9118775-B54C-409E-91B3-C93DD951C76E}" srcOrd="0" destOrd="0" presId="urn:microsoft.com/office/officeart/2005/8/layout/process1"/>
    <dgm:cxn modelId="{4DBC6806-582B-49A8-B538-E3541497D068}" srcId="{17D20CCD-3501-4482-9D82-C625C9E9A6F2}" destId="{7AA2DC89-DD54-4943-87CE-C2586C84F2B5}" srcOrd="2" destOrd="0" parTransId="{1DDA6AA7-3C84-4077-8650-BC8EDEC88506}" sibTransId="{239D1B70-27EF-4891-9E3C-D75180055982}"/>
    <dgm:cxn modelId="{62A6E07C-6064-4A34-8F6A-C4DB3F4EBEA0}" srcId="{17D20CCD-3501-4482-9D82-C625C9E9A6F2}" destId="{1781408A-B84F-48AF-86E9-EC788F7FB60A}" srcOrd="0" destOrd="0" parTransId="{BF59DE3B-CF81-4F5A-8AEB-540EECE6A66F}" sibTransId="{8577C3FE-55F9-443D-B1D3-C2555115DC96}"/>
    <dgm:cxn modelId="{C9EA40EA-14EE-41E6-BC80-F87A6F7BE9F9}" type="presOf" srcId="{17D20CCD-3501-4482-9D82-C625C9E9A6F2}" destId="{448C8E6E-DAA6-46B1-8BC2-AF1E687A34D6}" srcOrd="0" destOrd="0" presId="urn:microsoft.com/office/officeart/2005/8/layout/process1"/>
    <dgm:cxn modelId="{3E4B859E-99A9-440B-97A6-3B98A976723D}" type="presOf" srcId="{8577C3FE-55F9-443D-B1D3-C2555115DC96}" destId="{B198D491-B9A1-4C92-AE25-7DB8DBCF7BEA}" srcOrd="1" destOrd="0" presId="urn:microsoft.com/office/officeart/2005/8/layout/process1"/>
    <dgm:cxn modelId="{B5CE14E8-D6AA-4678-BFB7-C299C96EDD58}" type="presOf" srcId="{1781408A-B84F-48AF-86E9-EC788F7FB60A}" destId="{AEDF2472-DB43-42EF-9125-24866B5F0C11}" srcOrd="0" destOrd="0" presId="urn:microsoft.com/office/officeart/2005/8/layout/process1"/>
    <dgm:cxn modelId="{86977792-5FD7-4051-8CD9-446EA6E06486}" type="presOf" srcId="{7AA2DC89-DD54-4943-87CE-C2586C84F2B5}" destId="{20E28982-8A55-4904-99E4-18AC54723891}" srcOrd="0" destOrd="0" presId="urn:microsoft.com/office/officeart/2005/8/layout/process1"/>
    <dgm:cxn modelId="{32CB5FF0-9182-4F36-B9D0-F0505E01FF2F}" type="presParOf" srcId="{448C8E6E-DAA6-46B1-8BC2-AF1E687A34D6}" destId="{AEDF2472-DB43-42EF-9125-24866B5F0C11}" srcOrd="0" destOrd="0" presId="urn:microsoft.com/office/officeart/2005/8/layout/process1"/>
    <dgm:cxn modelId="{E22D6DAF-2149-46BD-B8BD-8717F1F00931}" type="presParOf" srcId="{448C8E6E-DAA6-46B1-8BC2-AF1E687A34D6}" destId="{B9118775-B54C-409E-91B3-C93DD951C76E}" srcOrd="1" destOrd="0" presId="urn:microsoft.com/office/officeart/2005/8/layout/process1"/>
    <dgm:cxn modelId="{1A688098-1CAA-4096-82F8-D46C34B144C4}" type="presParOf" srcId="{B9118775-B54C-409E-91B3-C93DD951C76E}" destId="{B198D491-B9A1-4C92-AE25-7DB8DBCF7BEA}" srcOrd="0" destOrd="0" presId="urn:microsoft.com/office/officeart/2005/8/layout/process1"/>
    <dgm:cxn modelId="{F5AB1231-0A80-40F7-8AAC-FD0C0D70C7F7}" type="presParOf" srcId="{448C8E6E-DAA6-46B1-8BC2-AF1E687A34D6}" destId="{0DC62A1D-76EF-47FC-99E2-C7953D8AB6D0}" srcOrd="2" destOrd="0" presId="urn:microsoft.com/office/officeart/2005/8/layout/process1"/>
    <dgm:cxn modelId="{16431FD5-3B4C-4A6B-ABCA-933543B3CE1A}" type="presParOf" srcId="{448C8E6E-DAA6-46B1-8BC2-AF1E687A34D6}" destId="{D8F92245-7AEB-4205-9665-ECFB6F50F6C1}" srcOrd="3" destOrd="0" presId="urn:microsoft.com/office/officeart/2005/8/layout/process1"/>
    <dgm:cxn modelId="{4949C6A6-7CDC-4B35-8ACA-9D7F3D1418D3}" type="presParOf" srcId="{D8F92245-7AEB-4205-9665-ECFB6F50F6C1}" destId="{8089FB4A-5417-46A9-A52B-1C1B9EF5C970}" srcOrd="0" destOrd="0" presId="urn:microsoft.com/office/officeart/2005/8/layout/process1"/>
    <dgm:cxn modelId="{5956E8EB-E7D7-4EB6-95DF-1BDECB302F17}" type="presParOf" srcId="{448C8E6E-DAA6-46B1-8BC2-AF1E687A34D6}" destId="{20E28982-8A55-4904-99E4-18AC54723891}"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F2472-DB43-42EF-9125-24866B5F0C11}">
      <dsp:nvSpPr>
        <dsp:cNvPr id="0" name=""/>
        <dsp:cNvSpPr/>
      </dsp:nvSpPr>
      <dsp:spPr>
        <a:xfrm>
          <a:off x="7233" y="1907311"/>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smtClean="0"/>
            <a:t>Find OEP</a:t>
          </a:r>
          <a:endParaRPr lang="en-GB" sz="2400" kern="1200" dirty="0"/>
        </a:p>
      </dsp:txBody>
      <dsp:txXfrm>
        <a:off x="45225" y="1945303"/>
        <a:ext cx="2085893" cy="1221142"/>
      </dsp:txXfrm>
    </dsp:sp>
    <dsp:sp modelId="{B9118775-B54C-409E-91B3-C93DD951C76E}">
      <dsp:nvSpPr>
        <dsp:cNvPr id="0" name=""/>
        <dsp:cNvSpPr/>
      </dsp:nvSpPr>
      <dsp:spPr>
        <a:xfrm>
          <a:off x="2385298" y="2287802"/>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GB" sz="2300" kern="1200"/>
        </a:p>
      </dsp:txBody>
      <dsp:txXfrm>
        <a:off x="2385298" y="2395031"/>
        <a:ext cx="320822" cy="321687"/>
      </dsp:txXfrm>
    </dsp:sp>
    <dsp:sp modelId="{0DC62A1D-76EF-47FC-99E2-C7953D8AB6D0}">
      <dsp:nvSpPr>
        <dsp:cNvPr id="0" name=""/>
        <dsp:cNvSpPr/>
      </dsp:nvSpPr>
      <dsp:spPr>
        <a:xfrm>
          <a:off x="3033861" y="1907311"/>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smtClean="0"/>
            <a:t>Dump</a:t>
          </a:r>
          <a:endParaRPr lang="en-GB" sz="2400" kern="1200" dirty="0"/>
        </a:p>
      </dsp:txBody>
      <dsp:txXfrm>
        <a:off x="3071853" y="1945303"/>
        <a:ext cx="2085893" cy="1221142"/>
      </dsp:txXfrm>
    </dsp:sp>
    <dsp:sp modelId="{D8F92245-7AEB-4205-9665-ECFB6F50F6C1}">
      <dsp:nvSpPr>
        <dsp:cNvPr id="0" name=""/>
        <dsp:cNvSpPr/>
      </dsp:nvSpPr>
      <dsp:spPr>
        <a:xfrm>
          <a:off x="5411926" y="2287802"/>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GB" sz="2300" kern="1200"/>
        </a:p>
      </dsp:txBody>
      <dsp:txXfrm>
        <a:off x="5411926" y="2395031"/>
        <a:ext cx="320822" cy="321687"/>
      </dsp:txXfrm>
    </dsp:sp>
    <dsp:sp modelId="{20E28982-8A55-4904-99E4-18AC54723891}">
      <dsp:nvSpPr>
        <dsp:cNvPr id="0" name=""/>
        <dsp:cNvSpPr/>
      </dsp:nvSpPr>
      <dsp:spPr>
        <a:xfrm>
          <a:off x="6060489" y="1907311"/>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smtClean="0"/>
            <a:t>Fix IAT</a:t>
          </a:r>
          <a:endParaRPr lang="en-GB" sz="2400" kern="1200" dirty="0"/>
        </a:p>
      </dsp:txBody>
      <dsp:txXfrm>
        <a:off x="6098481" y="1945303"/>
        <a:ext cx="2085893" cy="12211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D28B3C-0A39-4A5E-93AF-DF349220BCAF}" type="datetimeFigureOut">
              <a:rPr lang="en-US" smtClean="0"/>
              <a:t>1/26/2024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3E4DD-1773-4732-ACF5-4DFBE2EF7695}" type="slidenum">
              <a:rPr lang="en-US" smtClean="0"/>
              <a:t>‹#›</a:t>
            </a:fld>
            <a:endParaRPr lang="en-US"/>
          </a:p>
        </p:txBody>
      </p:sp>
    </p:spTree>
    <p:extLst>
      <p:ext uri="{BB962C8B-B14F-4D97-AF65-F5344CB8AC3E}">
        <p14:creationId xmlns:p14="http://schemas.microsoft.com/office/powerpoint/2010/main" val="380691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2862845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t>2</a:t>
            </a:fld>
            <a:endParaRPr lang="en-GB"/>
          </a:p>
        </p:txBody>
      </p:sp>
    </p:spTree>
    <p:extLst>
      <p:ext uri="{BB962C8B-B14F-4D97-AF65-F5344CB8AC3E}">
        <p14:creationId xmlns:p14="http://schemas.microsoft.com/office/powerpoint/2010/main" val="2173483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smtClean="0">
                <a:solidFill>
                  <a:schemeClr val="tx1"/>
                </a:solidFill>
                <a:effectLst/>
                <a:latin typeface="+mn-lt"/>
                <a:ea typeface="+mn-ea"/>
                <a:cs typeface="+mn-cs"/>
              </a:rPr>
              <a:t>Signature </a:t>
            </a:r>
            <a:r>
              <a:rPr lang="en-GB" sz="1200" b="0" i="0" kern="1200" dirty="0" smtClean="0">
                <a:solidFill>
                  <a:schemeClr val="tx1"/>
                </a:solidFill>
                <a:effectLst/>
                <a:latin typeface="+mn-lt"/>
                <a:ea typeface="+mn-ea"/>
                <a:cs typeface="+mn-cs"/>
              </a:rPr>
              <a:t>is a DWORD(4 bytes) containing the value 50h, 45h, 00h, 00h (“PE” followed by two terminating zeroes).</a:t>
            </a:r>
            <a:r>
              <a:rPr lang="en-GB" dirty="0" smtClean="0"/>
              <a:t/>
            </a:r>
            <a:br>
              <a:rPr lang="en-GB" dirty="0" smtClean="0"/>
            </a:br>
            <a:r>
              <a:rPr lang="en-GB" sz="1200" b="0" i="1" kern="1200" dirty="0" err="1" smtClean="0">
                <a:solidFill>
                  <a:schemeClr val="tx1"/>
                </a:solidFill>
                <a:effectLst/>
                <a:latin typeface="+mn-lt"/>
                <a:ea typeface="+mn-ea"/>
                <a:cs typeface="+mn-cs"/>
              </a:rPr>
              <a:t>FileHeader</a:t>
            </a:r>
            <a:r>
              <a:rPr lang="en-GB" sz="1200" b="0" i="1" kern="1200" dirty="0" smtClean="0">
                <a:solidFill>
                  <a:schemeClr val="tx1"/>
                </a:solidFill>
                <a:effectLst/>
                <a:latin typeface="+mn-lt"/>
                <a:ea typeface="+mn-ea"/>
                <a:cs typeface="+mn-cs"/>
              </a:rPr>
              <a:t> </a:t>
            </a:r>
            <a:r>
              <a:rPr lang="en-GB" sz="1200" b="0" i="0" kern="1200" dirty="0" smtClean="0">
                <a:solidFill>
                  <a:schemeClr val="tx1"/>
                </a:solidFill>
                <a:effectLst/>
                <a:latin typeface="+mn-lt"/>
                <a:ea typeface="+mn-ea"/>
                <a:cs typeface="+mn-cs"/>
              </a:rPr>
              <a:t>(IMAGE_FILE_HEADER) is the next 20 bytes of the PE file and contains info about the physical layout &amp; properties of the file e.g. number of sections.</a:t>
            </a:r>
            <a:r>
              <a:rPr lang="en-GB" dirty="0" smtClean="0"/>
              <a:t/>
            </a:r>
            <a:br>
              <a:rPr lang="en-GB" dirty="0" smtClean="0"/>
            </a:br>
            <a:r>
              <a:rPr lang="en-GB" sz="1200" b="0" i="1" kern="1200" dirty="0" err="1" smtClean="0">
                <a:solidFill>
                  <a:schemeClr val="tx1"/>
                </a:solidFill>
                <a:effectLst/>
                <a:latin typeface="+mn-lt"/>
                <a:ea typeface="+mn-ea"/>
                <a:cs typeface="+mn-cs"/>
              </a:rPr>
              <a:t>OptionalHeader</a:t>
            </a:r>
            <a:r>
              <a:rPr lang="en-GB" sz="1200" b="0" i="1" kern="1200" dirty="0" smtClean="0">
                <a:solidFill>
                  <a:schemeClr val="tx1"/>
                </a:solidFill>
                <a:effectLst/>
                <a:latin typeface="+mn-lt"/>
                <a:ea typeface="+mn-ea"/>
                <a:cs typeface="+mn-cs"/>
              </a:rPr>
              <a:t> </a:t>
            </a:r>
            <a:r>
              <a:rPr lang="en-GB" sz="1200" b="0" i="0" kern="1200" dirty="0" smtClean="0">
                <a:solidFill>
                  <a:schemeClr val="tx1"/>
                </a:solidFill>
                <a:effectLst/>
                <a:latin typeface="+mn-lt"/>
                <a:ea typeface="+mn-ea"/>
                <a:cs typeface="+mn-cs"/>
              </a:rPr>
              <a:t>(IMAGE_OPTIONAL_HEADERS) is always present and forms the next 224 bytes. It contains info about the logical layout inside the PE file with fields like </a:t>
            </a:r>
            <a:r>
              <a:rPr lang="en-GB" sz="1200" b="0" i="0" kern="1200" dirty="0" err="1" smtClean="0">
                <a:solidFill>
                  <a:schemeClr val="tx1"/>
                </a:solidFill>
                <a:effectLst/>
                <a:latin typeface="+mn-lt"/>
                <a:ea typeface="+mn-ea"/>
                <a:cs typeface="+mn-cs"/>
              </a:rPr>
              <a:t>AddressOfEntryPoint</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ImageBase</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FileAlignment</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SectionAlignment</a:t>
            </a:r>
            <a:r>
              <a:rPr lang="en-GB" sz="1200" b="0" i="0" kern="1200" dirty="0" smtClean="0">
                <a:solidFill>
                  <a:schemeClr val="tx1"/>
                </a:solidFill>
                <a:effectLst/>
                <a:latin typeface="+mn-lt"/>
                <a:ea typeface="+mn-ea"/>
                <a:cs typeface="+mn-cs"/>
              </a:rPr>
              <a:t> etc. The last 128 bytes contains the Data Directory which is an array of 16 IMAGE_DATA_DIRECTORY structures.</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3</a:t>
            </a:fld>
            <a:endParaRPr lang="en-GB"/>
          </a:p>
        </p:txBody>
      </p:sp>
    </p:spTree>
    <p:extLst>
      <p:ext uri="{BB962C8B-B14F-4D97-AF65-F5344CB8AC3E}">
        <p14:creationId xmlns:p14="http://schemas.microsoft.com/office/powerpoint/2010/main" val="1738383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Header:</a:t>
            </a:r>
          </a:p>
          <a:p>
            <a:r>
              <a:rPr lang="en-GB" dirty="0" smtClean="0"/>
              <a:t>Machine:</a:t>
            </a:r>
            <a:r>
              <a:rPr lang="en-GB" baseline="0" dirty="0" smtClean="0"/>
              <a:t> i386,486,586 (0x14c)</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12</a:t>
            </a:fld>
            <a:endParaRPr lang="en-GB"/>
          </a:p>
        </p:txBody>
      </p:sp>
    </p:spTree>
    <p:extLst>
      <p:ext uri="{BB962C8B-B14F-4D97-AF65-F5344CB8AC3E}">
        <p14:creationId xmlns:p14="http://schemas.microsoft.com/office/powerpoint/2010/main" val="118797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14</a:t>
            </a:fld>
            <a:endParaRPr lang="en-GB"/>
          </a:p>
        </p:txBody>
      </p:sp>
    </p:spTree>
    <p:extLst>
      <p:ext uri="{BB962C8B-B14F-4D97-AF65-F5344CB8AC3E}">
        <p14:creationId xmlns:p14="http://schemas.microsoft.com/office/powerpoint/2010/main" val="595306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t>15</a:t>
            </a:fld>
            <a:endParaRPr lang="en-GB"/>
          </a:p>
        </p:txBody>
      </p:sp>
    </p:spTree>
    <p:extLst>
      <p:ext uri="{BB962C8B-B14F-4D97-AF65-F5344CB8AC3E}">
        <p14:creationId xmlns:p14="http://schemas.microsoft.com/office/powerpoint/2010/main" val="1593326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17</a:t>
            </a:fld>
            <a:endParaRPr lang="en-GB"/>
          </a:p>
        </p:txBody>
      </p:sp>
    </p:spTree>
    <p:extLst>
      <p:ext uri="{BB962C8B-B14F-4D97-AF65-F5344CB8AC3E}">
        <p14:creationId xmlns:p14="http://schemas.microsoft.com/office/powerpoint/2010/main" val="504425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18</a:t>
            </a:fld>
            <a:endParaRPr lang="en-GB"/>
          </a:p>
        </p:txBody>
      </p:sp>
    </p:spTree>
    <p:extLst>
      <p:ext uri="{BB962C8B-B14F-4D97-AF65-F5344CB8AC3E}">
        <p14:creationId xmlns:p14="http://schemas.microsoft.com/office/powerpoint/2010/main" val="1132811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19</a:t>
            </a:fld>
            <a:endParaRPr lang="en-GB"/>
          </a:p>
        </p:txBody>
      </p:sp>
    </p:spTree>
    <p:extLst>
      <p:ext uri="{BB962C8B-B14F-4D97-AF65-F5344CB8AC3E}">
        <p14:creationId xmlns:p14="http://schemas.microsoft.com/office/powerpoint/2010/main" val="1425471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83c21d49acae2dea242d1b687cf3061b</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20</a:t>
            </a:fld>
            <a:endParaRPr lang="en-GB"/>
          </a:p>
        </p:txBody>
      </p:sp>
    </p:spTree>
    <p:extLst>
      <p:ext uri="{BB962C8B-B14F-4D97-AF65-F5344CB8AC3E}">
        <p14:creationId xmlns:p14="http://schemas.microsoft.com/office/powerpoint/2010/main" val="1947386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t>21</a:t>
            </a:fld>
            <a:endParaRPr lang="en-GB"/>
          </a:p>
        </p:txBody>
      </p:sp>
    </p:spTree>
    <p:extLst>
      <p:ext uri="{BB962C8B-B14F-4D97-AF65-F5344CB8AC3E}">
        <p14:creationId xmlns:p14="http://schemas.microsoft.com/office/powerpoint/2010/main" val="1920510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10DDDAF-547B-4A5A-96CD-6FECC8F20722}"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26001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p:cNvSpPr>
            <a:spLocks noGrp="1"/>
          </p:cNvSpPr>
          <p:nvPr>
            <p:ph type="dt" sz="half" idx="10"/>
          </p:nvPr>
        </p:nvSpPr>
        <p:spPr/>
        <p:txBody>
          <a:bodyPr/>
          <a:lstStyle/>
          <a:p>
            <a:fld id="{810DDDAF-547B-4A5A-96CD-6FECC8F20722}"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414962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0DDDAF-547B-4A5A-96CD-6FECC8F20722}"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50623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10DDDAF-547B-4A5A-96CD-6FECC8F20722}"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3294769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10DDDAF-547B-4A5A-96CD-6FECC8F20722}" type="datetimeFigureOut">
              <a:rPr lang="en-US" smtClean="0"/>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3583090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10DDDAF-547B-4A5A-96CD-6FECC8F20722}"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401228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DDDAF-547B-4A5A-96CD-6FECC8F20722}" type="datetimeFigureOut">
              <a:rPr lang="en-US" smtClean="0"/>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3967862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0DDDAF-547B-4A5A-96CD-6FECC8F20722}"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1801021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0DDDAF-547B-4A5A-96CD-6FECC8F20722}"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103790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10DDDAF-547B-4A5A-96CD-6FECC8F20722}"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337880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10DDDAF-547B-4A5A-96CD-6FECC8F20722}"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D2A50-D2C3-492D-87FD-52A0AF243E22}" type="slidenum">
              <a:rPr lang="en-US" smtClean="0"/>
              <a:t>‹#›</a:t>
            </a:fld>
            <a:endParaRPr lang="en-US"/>
          </a:p>
        </p:txBody>
      </p:sp>
    </p:spTree>
    <p:extLst>
      <p:ext uri="{BB962C8B-B14F-4D97-AF65-F5344CB8AC3E}">
        <p14:creationId xmlns:p14="http://schemas.microsoft.com/office/powerpoint/2010/main" val="2397214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24286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3962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83941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76614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719003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078529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70836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67345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36815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5649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7969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0DDDAF-547B-4A5A-96CD-6FECC8F20722}" type="datetimeFigureOut">
              <a:rPr lang="en-US" smtClean="0"/>
              <a:t>1/26/2024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3D2A50-D2C3-492D-87FD-52A0AF243E22}" type="slidenum">
              <a:rPr lang="en-US" smtClean="0"/>
              <a:t>‹#›</a:t>
            </a:fld>
            <a:endParaRPr lang="en-US"/>
          </a:p>
        </p:txBody>
      </p:sp>
    </p:spTree>
    <p:extLst>
      <p:ext uri="{BB962C8B-B14F-4D97-AF65-F5344CB8AC3E}">
        <p14:creationId xmlns:p14="http://schemas.microsoft.com/office/powerpoint/2010/main" val="3027438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solidFill>
                  <a:prstClr val="black">
                    <a:tint val="75000"/>
                  </a:prstClr>
                </a:solidFill>
              </a:rPr>
              <a:pPr/>
              <a:t>26/01/2024</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8086369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Malware Analysis</a:t>
            </a:r>
            <a:endParaRPr lang="en-GB" dirty="0"/>
          </a:p>
        </p:txBody>
      </p:sp>
      <p:sp>
        <p:nvSpPr>
          <p:cNvPr id="3" name="Subtitle 2"/>
          <p:cNvSpPr>
            <a:spLocks noGrp="1"/>
          </p:cNvSpPr>
          <p:nvPr>
            <p:ph type="subTitle" idx="1"/>
          </p:nvPr>
        </p:nvSpPr>
        <p:spPr/>
        <p:txBody>
          <a:bodyPr/>
          <a:lstStyle/>
          <a:p>
            <a:r>
              <a:rPr lang="en-GB" dirty="0" err="1" smtClean="0">
                <a:latin typeface="Arial Narrow" panose="020B0606020202030204" pitchFamily="34" charset="0"/>
              </a:rPr>
              <a:t>Dr.</a:t>
            </a:r>
            <a:r>
              <a:rPr lang="en-GB" dirty="0" smtClean="0">
                <a:latin typeface="Arial Narrow" panose="020B0606020202030204" pitchFamily="34" charset="0"/>
              </a:rPr>
              <a:t> Tran The Son</a:t>
            </a:r>
          </a:p>
          <a:p>
            <a:r>
              <a:rPr lang="en-GB" sz="2000" dirty="0" smtClean="0">
                <a:latin typeface="Arial Narrow" panose="020B0606020202030204" pitchFamily="34" charset="0"/>
              </a:rPr>
              <a:t>Vietnam – Korea University</a:t>
            </a:r>
            <a:endParaRPr lang="en-GB" sz="2000" dirty="0">
              <a:latin typeface="Arial Narrow" panose="020B0606020202030204" pitchFamily="34" charset="0"/>
            </a:endParaRPr>
          </a:p>
        </p:txBody>
      </p:sp>
    </p:spTree>
    <p:extLst>
      <p:ext uri="{BB962C8B-B14F-4D97-AF65-F5344CB8AC3E}">
        <p14:creationId xmlns:p14="http://schemas.microsoft.com/office/powerpoint/2010/main" val="4275098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 Headers and Sections</a:t>
            </a:r>
          </a:p>
        </p:txBody>
      </p:sp>
      <p:sp>
        <p:nvSpPr>
          <p:cNvPr id="3" name="Content Placeholder 2"/>
          <p:cNvSpPr>
            <a:spLocks noGrp="1"/>
          </p:cNvSpPr>
          <p:nvPr>
            <p:ph idx="1"/>
          </p:nvPr>
        </p:nvSpPr>
        <p:spPr/>
        <p:txBody>
          <a:bodyPr/>
          <a:lstStyle/>
          <a:p>
            <a:r>
              <a:rPr lang="en-GB" dirty="0" smtClean="0"/>
              <a:t>The PE (Portable Executes) header contains useful information for the malware analyst including</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409153534"/>
              </p:ext>
            </p:extLst>
          </p:nvPr>
        </p:nvGraphicFramePr>
        <p:xfrm>
          <a:off x="658888" y="2420888"/>
          <a:ext cx="7729536" cy="3134360"/>
        </p:xfrm>
        <a:graphic>
          <a:graphicData uri="http://schemas.openxmlformats.org/drawingml/2006/table">
            <a:tbl>
              <a:tblPr firstRow="1" bandRow="1">
                <a:tableStyleId>{5C22544A-7EE6-4342-B048-85BDC9FD1C3A}</a:tableStyleId>
              </a:tblPr>
              <a:tblGrid>
                <a:gridCol w="2647812"/>
                <a:gridCol w="5081724"/>
              </a:tblGrid>
              <a:tr h="370840">
                <a:tc>
                  <a:txBody>
                    <a:bodyPr/>
                    <a:lstStyle/>
                    <a:p>
                      <a:r>
                        <a:rPr lang="en-GB" dirty="0" smtClean="0"/>
                        <a:t>Field</a:t>
                      </a:r>
                      <a:endParaRPr lang="en-GB" dirty="0"/>
                    </a:p>
                  </a:txBody>
                  <a:tcPr/>
                </a:tc>
                <a:tc>
                  <a:txBody>
                    <a:bodyPr/>
                    <a:lstStyle/>
                    <a:p>
                      <a:r>
                        <a:rPr lang="en-GB" dirty="0" smtClean="0"/>
                        <a:t>Information revealed</a:t>
                      </a:r>
                      <a:endParaRPr lang="en-GB" dirty="0"/>
                    </a:p>
                  </a:txBody>
                  <a:tcPr/>
                </a:tc>
              </a:tr>
              <a:tr h="370840">
                <a:tc>
                  <a:txBody>
                    <a:bodyPr/>
                    <a:lstStyle/>
                    <a:p>
                      <a:r>
                        <a:rPr lang="en-GB" dirty="0" smtClean="0"/>
                        <a:t>Imports</a:t>
                      </a:r>
                      <a:endParaRPr lang="en-GB" dirty="0"/>
                    </a:p>
                  </a:txBody>
                  <a:tcPr/>
                </a:tc>
                <a:tc>
                  <a:txBody>
                    <a:bodyPr/>
                    <a:lstStyle/>
                    <a:p>
                      <a:r>
                        <a:rPr lang="en-GB" dirty="0" smtClean="0"/>
                        <a:t>Functions from other lib. used by the malware</a:t>
                      </a:r>
                      <a:endParaRPr lang="en-GB" dirty="0"/>
                    </a:p>
                  </a:txBody>
                  <a:tcPr/>
                </a:tc>
              </a:tr>
              <a:tr h="370840">
                <a:tc>
                  <a:txBody>
                    <a:bodyPr/>
                    <a:lstStyle/>
                    <a:p>
                      <a:r>
                        <a:rPr lang="en-GB" dirty="0" smtClean="0"/>
                        <a:t>Exports</a:t>
                      </a:r>
                      <a:endParaRPr lang="en-GB" dirty="0"/>
                    </a:p>
                  </a:txBody>
                  <a:tcPr/>
                </a:tc>
                <a:tc>
                  <a:txBody>
                    <a:bodyPr/>
                    <a:lstStyle/>
                    <a:p>
                      <a:r>
                        <a:rPr lang="en-GB" dirty="0" smtClean="0"/>
                        <a:t>Functions in the malware called by others</a:t>
                      </a:r>
                      <a:endParaRPr lang="en-GB" dirty="0"/>
                    </a:p>
                  </a:txBody>
                  <a:tcPr/>
                </a:tc>
              </a:tr>
              <a:tr h="370840">
                <a:tc>
                  <a:txBody>
                    <a:bodyPr/>
                    <a:lstStyle/>
                    <a:p>
                      <a:r>
                        <a:rPr lang="en-GB" dirty="0" smtClean="0"/>
                        <a:t>Time Date</a:t>
                      </a:r>
                      <a:r>
                        <a:rPr lang="en-GB" baseline="0" dirty="0" smtClean="0"/>
                        <a:t> Stamp</a:t>
                      </a:r>
                      <a:endParaRPr lang="en-GB" dirty="0"/>
                    </a:p>
                  </a:txBody>
                  <a:tcPr/>
                </a:tc>
                <a:tc>
                  <a:txBody>
                    <a:bodyPr/>
                    <a:lstStyle/>
                    <a:p>
                      <a:r>
                        <a:rPr lang="en-GB" dirty="0" smtClean="0"/>
                        <a:t>Time complied</a:t>
                      </a:r>
                      <a:endParaRPr lang="en-GB" dirty="0"/>
                    </a:p>
                  </a:txBody>
                  <a:tcPr/>
                </a:tc>
              </a:tr>
              <a:tr h="370840">
                <a:tc>
                  <a:txBody>
                    <a:bodyPr/>
                    <a:lstStyle/>
                    <a:p>
                      <a:r>
                        <a:rPr lang="en-GB" dirty="0" smtClean="0"/>
                        <a:t>Sections</a:t>
                      </a:r>
                      <a:endParaRPr lang="en-GB" dirty="0"/>
                    </a:p>
                  </a:txBody>
                  <a:tcPr/>
                </a:tc>
                <a:tc>
                  <a:txBody>
                    <a:bodyPr/>
                    <a:lstStyle/>
                    <a:p>
                      <a:r>
                        <a:rPr lang="en-GB" dirty="0" smtClean="0"/>
                        <a:t>Names</a:t>
                      </a:r>
                      <a:r>
                        <a:rPr lang="en-GB" baseline="0" dirty="0" smtClean="0"/>
                        <a:t> of sections in the file and their sizes on the disk and memory</a:t>
                      </a:r>
                      <a:endParaRPr lang="en-GB" dirty="0"/>
                    </a:p>
                  </a:txBody>
                  <a:tcPr/>
                </a:tc>
              </a:tr>
              <a:tr h="370840">
                <a:tc>
                  <a:txBody>
                    <a:bodyPr/>
                    <a:lstStyle/>
                    <a:p>
                      <a:r>
                        <a:rPr lang="en-GB" dirty="0" smtClean="0"/>
                        <a:t>Subsystem</a:t>
                      </a:r>
                      <a:endParaRPr lang="en-GB" dirty="0"/>
                    </a:p>
                  </a:txBody>
                  <a:tcPr/>
                </a:tc>
                <a:tc>
                  <a:txBody>
                    <a:bodyPr/>
                    <a:lstStyle/>
                    <a:p>
                      <a:r>
                        <a:rPr lang="en-GB" dirty="0" smtClean="0"/>
                        <a:t>Indicates whether the program is</a:t>
                      </a:r>
                      <a:r>
                        <a:rPr lang="en-GB" baseline="0" dirty="0" smtClean="0"/>
                        <a:t> a command-line or GUI app.</a:t>
                      </a:r>
                      <a:endParaRPr lang="en-GB" dirty="0"/>
                    </a:p>
                  </a:txBody>
                  <a:tcPr/>
                </a:tc>
              </a:tr>
              <a:tr h="370840">
                <a:tc>
                  <a:txBody>
                    <a:bodyPr/>
                    <a:lstStyle/>
                    <a:p>
                      <a:r>
                        <a:rPr lang="en-GB" dirty="0" smtClean="0"/>
                        <a:t>Resource</a:t>
                      </a:r>
                      <a:endParaRPr lang="en-GB" dirty="0"/>
                    </a:p>
                  </a:txBody>
                  <a:tcPr/>
                </a:tc>
                <a:tc>
                  <a:txBody>
                    <a:bodyPr/>
                    <a:lstStyle/>
                    <a:p>
                      <a:r>
                        <a:rPr lang="en-GB" dirty="0" smtClean="0"/>
                        <a:t>Strings,</a:t>
                      </a:r>
                      <a:r>
                        <a:rPr lang="en-GB" baseline="0" dirty="0" smtClean="0"/>
                        <a:t> icons, menus and others included.</a:t>
                      </a:r>
                      <a:endParaRPr lang="en-GB" dirty="0"/>
                    </a:p>
                  </a:txBody>
                  <a:tcPr/>
                </a:tc>
              </a:tr>
            </a:tbl>
          </a:graphicData>
        </a:graphic>
      </p:graphicFrame>
    </p:spTree>
    <p:extLst>
      <p:ext uri="{BB962C8B-B14F-4D97-AF65-F5344CB8AC3E}">
        <p14:creationId xmlns:p14="http://schemas.microsoft.com/office/powerpoint/2010/main" val="28299156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5669"/>
          <a:stretch/>
        </p:blipFill>
        <p:spPr bwMode="auto">
          <a:xfrm>
            <a:off x="3131840" y="1259378"/>
            <a:ext cx="4316226" cy="5466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79512" y="1844824"/>
            <a:ext cx="2952328" cy="2862322"/>
          </a:xfrm>
          <a:prstGeom prst="rect">
            <a:avLst/>
          </a:prstGeom>
          <a:noFill/>
        </p:spPr>
        <p:txBody>
          <a:bodyPr wrap="square" rtlCol="0">
            <a:spAutoFit/>
          </a:bodyPr>
          <a:lstStyle/>
          <a:p>
            <a:r>
              <a:rPr lang="en-US" dirty="0"/>
              <a:t>The PE format is based on the Common Object File Format (</a:t>
            </a:r>
            <a:r>
              <a:rPr lang="en-US" dirty="0">
                <a:solidFill>
                  <a:srgbClr val="FF0000"/>
                </a:solidFill>
              </a:rPr>
              <a:t>COFF</a:t>
            </a:r>
            <a:r>
              <a:rPr lang="en-US" dirty="0"/>
              <a:t>) used by Unix. The </a:t>
            </a:r>
          </a:p>
          <a:p>
            <a:r>
              <a:rPr lang="en-US" dirty="0"/>
              <a:t>PE signature is followed by the object file header borrowed from COFF. This header is present also for the object files produced by Microsoft’s </a:t>
            </a:r>
          </a:p>
          <a:p>
            <a:r>
              <a:rPr lang="en-US" dirty="0"/>
              <a:t>32-bit compilers.</a:t>
            </a:r>
          </a:p>
        </p:txBody>
      </p:sp>
    </p:spTree>
    <p:extLst>
      <p:ext uri="{BB962C8B-B14F-4D97-AF65-F5344CB8AC3E}">
        <p14:creationId xmlns:p14="http://schemas.microsoft.com/office/powerpoint/2010/main" val="28691458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 Headers and Sections</a:t>
            </a:r>
          </a:p>
        </p:txBody>
      </p:sp>
      <p:sp>
        <p:nvSpPr>
          <p:cNvPr id="3" name="Content Placeholder 2"/>
          <p:cNvSpPr>
            <a:spLocks noGrp="1"/>
          </p:cNvSpPr>
          <p:nvPr>
            <p:ph idx="1"/>
          </p:nvPr>
        </p:nvSpPr>
        <p:spPr/>
        <p:txBody>
          <a:bodyPr/>
          <a:lstStyle/>
          <a:p>
            <a:endParaRPr lang="en-GB"/>
          </a:p>
        </p:txBody>
      </p:sp>
      <p:graphicFrame>
        <p:nvGraphicFramePr>
          <p:cNvPr id="4" name="Table 3"/>
          <p:cNvGraphicFramePr>
            <a:graphicFrameLocks noGrp="1"/>
          </p:cNvGraphicFramePr>
          <p:nvPr>
            <p:extLst>
              <p:ext uri="{D42A27DB-BD31-4B8C-83A1-F6EECF244321}">
                <p14:modId xmlns:p14="http://schemas.microsoft.com/office/powerpoint/2010/main" val="14091956"/>
              </p:ext>
            </p:extLst>
          </p:nvPr>
        </p:nvGraphicFramePr>
        <p:xfrm>
          <a:off x="557924" y="1200014"/>
          <a:ext cx="8118532" cy="5469346"/>
        </p:xfrm>
        <a:graphic>
          <a:graphicData uri="http://schemas.openxmlformats.org/drawingml/2006/table">
            <a:tbl>
              <a:tblPr/>
              <a:tblGrid>
                <a:gridCol w="1983939"/>
                <a:gridCol w="6134593"/>
              </a:tblGrid>
              <a:tr h="444261">
                <a:tc>
                  <a:txBody>
                    <a:bodyPr/>
                    <a:lstStyle/>
                    <a:p>
                      <a:r>
                        <a:rPr lang="en-GB" dirty="0" smtClean="0"/>
                        <a:t>.text</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Contains program code</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0180">
                <a:tc>
                  <a:txBody>
                    <a:bodyPr/>
                    <a:lstStyle/>
                    <a:p>
                      <a:r>
                        <a:rPr lang="en-GB" dirty="0" smtClean="0"/>
                        <a:t>.</a:t>
                      </a:r>
                      <a:r>
                        <a:rPr lang="en-GB" dirty="0" err="1" smtClean="0"/>
                        <a:t>rdata</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Holds</a:t>
                      </a:r>
                      <a:r>
                        <a:rPr lang="en-GB" baseline="0" dirty="0" smtClean="0"/>
                        <a:t> </a:t>
                      </a:r>
                      <a:r>
                        <a:rPr lang="en-GB" baseline="0" dirty="0" smtClean="0">
                          <a:effectLst>
                            <a:outerShdw blurRad="38100" dist="38100" dir="2700000" algn="tl">
                              <a:srgbClr val="000000">
                                <a:alpha val="43137"/>
                              </a:srgbClr>
                            </a:outerShdw>
                          </a:effectLst>
                        </a:rPr>
                        <a:t>read-only</a:t>
                      </a:r>
                      <a:r>
                        <a:rPr lang="vi-VN" dirty="0" smtClean="0">
                          <a:effectLst>
                            <a:outerShdw blurRad="38100" dist="38100" dir="2700000" algn="tl">
                              <a:srgbClr val="000000">
                                <a:alpha val="43137"/>
                              </a:srgbClr>
                            </a:outerShdw>
                          </a:effectLst>
                        </a:rPr>
                        <a:t> </a:t>
                      </a:r>
                      <a:r>
                        <a:rPr lang="en-GB" dirty="0" smtClean="0"/>
                        <a:t>data</a:t>
                      </a:r>
                      <a:r>
                        <a:rPr lang="en-GB" baseline="0" dirty="0" smtClean="0"/>
                        <a:t> that is globally accessible within the program</a:t>
                      </a:r>
                      <a:r>
                        <a:rPr lang="vi-VN" dirty="0" smtClean="0"/>
                        <a:t>.</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4261">
                <a:tc>
                  <a:txBody>
                    <a:bodyPr/>
                    <a:lstStyle/>
                    <a:p>
                      <a:r>
                        <a:rPr lang="en-GB" dirty="0" smtClean="0"/>
                        <a:t>.data</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Stores</a:t>
                      </a:r>
                      <a:r>
                        <a:rPr lang="en-GB" baseline="0" dirty="0" smtClean="0"/>
                        <a:t> </a:t>
                      </a:r>
                      <a:r>
                        <a:rPr lang="en-GB" baseline="0" dirty="0" smtClean="0">
                          <a:effectLst>
                            <a:outerShdw blurRad="38100" dist="38100" dir="2700000" algn="tl">
                              <a:srgbClr val="000000">
                                <a:alpha val="43137"/>
                              </a:srgbClr>
                            </a:outerShdw>
                          </a:effectLst>
                        </a:rPr>
                        <a:t>global</a:t>
                      </a:r>
                      <a:r>
                        <a:rPr lang="en-GB" baseline="0" dirty="0" smtClean="0"/>
                        <a:t> data accessed throughout the program</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5971">
                <a:tc>
                  <a:txBody>
                    <a:bodyPr/>
                    <a:lstStyle/>
                    <a:p>
                      <a:r>
                        <a:rPr lang="en-GB" dirty="0" smtClean="0"/>
                        <a:t>.</a:t>
                      </a:r>
                      <a:r>
                        <a:rPr lang="en-GB" dirty="0" err="1" smtClean="0"/>
                        <a:t>idata</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Sometimes</a:t>
                      </a:r>
                      <a:r>
                        <a:rPr lang="en-GB" baseline="0" dirty="0" smtClean="0"/>
                        <a:t> presents and stores the </a:t>
                      </a:r>
                      <a:r>
                        <a:rPr lang="en-GB" baseline="0" dirty="0" smtClean="0">
                          <a:effectLst>
                            <a:outerShdw blurRad="38100" dist="38100" dir="2700000" algn="tl">
                              <a:srgbClr val="000000">
                                <a:alpha val="43137"/>
                              </a:srgbClr>
                            </a:outerShdw>
                          </a:effectLst>
                        </a:rPr>
                        <a:t>import</a:t>
                      </a:r>
                      <a:r>
                        <a:rPr lang="en-GB" baseline="0" dirty="0" smtClean="0"/>
                        <a:t> function information; if this section is not present, the import function information is stored in the .</a:t>
                      </a:r>
                      <a:r>
                        <a:rPr lang="en-GB" baseline="0" dirty="0" err="1" smtClean="0"/>
                        <a:t>rdata</a:t>
                      </a:r>
                      <a:r>
                        <a:rPr lang="en-GB" baseline="0" dirty="0" smtClean="0"/>
                        <a:t> section.</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5971">
                <a:tc>
                  <a:txBody>
                    <a:bodyPr/>
                    <a:lstStyle/>
                    <a:p>
                      <a:r>
                        <a:rPr lang="en-GB" dirty="0" smtClean="0"/>
                        <a:t>.</a:t>
                      </a:r>
                      <a:r>
                        <a:rPr lang="en-GB" dirty="0" err="1" smtClean="0"/>
                        <a:t>edata</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Sometimes</a:t>
                      </a:r>
                      <a:r>
                        <a:rPr lang="en-GB" baseline="0" dirty="0" smtClean="0"/>
                        <a:t> presents and stores the </a:t>
                      </a:r>
                      <a:r>
                        <a:rPr lang="en-GB" baseline="0" dirty="0" smtClean="0">
                          <a:effectLst>
                            <a:outerShdw blurRad="38100" dist="38100" dir="2700000" algn="tl">
                              <a:srgbClr val="000000">
                                <a:alpha val="43137"/>
                              </a:srgbClr>
                            </a:outerShdw>
                          </a:effectLst>
                        </a:rPr>
                        <a:t>export</a:t>
                      </a:r>
                      <a:r>
                        <a:rPr lang="en-GB" baseline="0" dirty="0" smtClean="0"/>
                        <a:t> function information; if this section is not present, the export function information is stored in the .</a:t>
                      </a:r>
                      <a:r>
                        <a:rPr lang="en-GB" baseline="0" dirty="0" err="1" smtClean="0"/>
                        <a:t>rdata</a:t>
                      </a:r>
                      <a:r>
                        <a:rPr lang="en-GB" baseline="0" dirty="0" smtClean="0"/>
                        <a:t> section.</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0180">
                <a:tc>
                  <a:txBody>
                    <a:bodyPr/>
                    <a:lstStyle/>
                    <a:p>
                      <a:r>
                        <a:rPr lang="en-GB" dirty="0" smtClean="0"/>
                        <a:t>.</a:t>
                      </a:r>
                      <a:r>
                        <a:rPr lang="en-GB" dirty="0" err="1" smtClean="0"/>
                        <a:t>pdata</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Present only in 64-bit executables and stores </a:t>
                      </a:r>
                      <a:r>
                        <a:rPr lang="en-GB" dirty="0" smtClean="0">
                          <a:effectLst>
                            <a:outerShdw blurRad="38100" dist="38100" dir="2700000" algn="tl">
                              <a:srgbClr val="000000">
                                <a:alpha val="43137"/>
                              </a:srgbClr>
                            </a:outerShdw>
                          </a:effectLst>
                        </a:rPr>
                        <a:t>exception-handling</a:t>
                      </a:r>
                      <a:r>
                        <a:rPr lang="en-GB" baseline="0" dirty="0" smtClean="0">
                          <a:effectLst>
                            <a:outerShdw blurRad="38100" dist="38100" dir="2700000" algn="tl">
                              <a:srgbClr val="000000">
                                <a:alpha val="43137"/>
                              </a:srgbClr>
                            </a:outerShdw>
                          </a:effectLst>
                        </a:rPr>
                        <a:t> </a:t>
                      </a:r>
                      <a:r>
                        <a:rPr lang="en-GB" baseline="0" dirty="0" smtClean="0"/>
                        <a:t>information.</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4261">
                <a:tc>
                  <a:txBody>
                    <a:bodyPr/>
                    <a:lstStyle/>
                    <a:p>
                      <a:r>
                        <a:rPr lang="en-GB" dirty="0" smtClean="0"/>
                        <a:t>.</a:t>
                      </a:r>
                      <a:r>
                        <a:rPr lang="en-GB" dirty="0" err="1" smtClean="0"/>
                        <a:t>rsrc</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dirty="0" smtClean="0"/>
                        <a:t>Stores</a:t>
                      </a:r>
                      <a:r>
                        <a:rPr lang="en-GB" baseline="0" dirty="0" smtClean="0"/>
                        <a:t> </a:t>
                      </a:r>
                      <a:r>
                        <a:rPr lang="en-GB" baseline="0" dirty="0" smtClean="0">
                          <a:effectLst>
                            <a:outerShdw blurRad="38100" dist="38100" dir="2700000" algn="tl">
                              <a:srgbClr val="000000">
                                <a:alpha val="43137"/>
                              </a:srgbClr>
                            </a:outerShdw>
                          </a:effectLst>
                        </a:rPr>
                        <a:t>resources</a:t>
                      </a:r>
                      <a:r>
                        <a:rPr lang="en-GB" baseline="0" dirty="0" smtClean="0"/>
                        <a:t> needed by the executable</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44261">
                <a:tc>
                  <a:txBody>
                    <a:bodyPr/>
                    <a:lstStyle/>
                    <a:p>
                      <a:r>
                        <a:rPr lang="en-GB" dirty="0" smtClean="0"/>
                        <a:t>.</a:t>
                      </a:r>
                      <a:r>
                        <a:rPr lang="en-GB" dirty="0" err="1" smtClean="0"/>
                        <a:t>reloc</a:t>
                      </a:r>
                      <a:endParaRPr lang="en-GB"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r>
                        <a:rPr lang="en-GB" dirty="0" smtClean="0"/>
                        <a:t>Contains information for </a:t>
                      </a:r>
                      <a:r>
                        <a:rPr lang="en-GB" dirty="0" smtClean="0">
                          <a:effectLst>
                            <a:outerShdw blurRad="38100" dist="38100" dir="2700000" algn="tl">
                              <a:srgbClr val="000000">
                                <a:alpha val="43137"/>
                              </a:srgbClr>
                            </a:outerShdw>
                          </a:effectLst>
                        </a:rPr>
                        <a:t>relocation</a:t>
                      </a:r>
                      <a:r>
                        <a:rPr lang="en-GB" dirty="0" smtClean="0"/>
                        <a:t> of library files</a:t>
                      </a:r>
                      <a:endParaRPr lang="en-GB"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2293312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 vs RVA</a:t>
            </a:r>
            <a:endParaRPr lang="en-US" dirty="0"/>
          </a:p>
        </p:txBody>
      </p:sp>
      <p:sp>
        <p:nvSpPr>
          <p:cNvPr id="3" name="Content Placeholder 2"/>
          <p:cNvSpPr>
            <a:spLocks noGrp="1"/>
          </p:cNvSpPr>
          <p:nvPr>
            <p:ph idx="1"/>
          </p:nvPr>
        </p:nvSpPr>
        <p:spPr>
          <a:xfrm>
            <a:off x="179512" y="1196752"/>
            <a:ext cx="4230869" cy="5112568"/>
          </a:xfrm>
        </p:spPr>
        <p:txBody>
          <a:bodyPr>
            <a:normAutofit/>
          </a:bodyPr>
          <a:lstStyle/>
          <a:p>
            <a:r>
              <a:rPr lang="en-US" sz="2000" dirty="0"/>
              <a:t>A</a:t>
            </a:r>
            <a:r>
              <a:rPr lang="en-US" sz="2000" dirty="0" smtClean="0"/>
              <a:t>n </a:t>
            </a:r>
            <a:r>
              <a:rPr lang="en-US" sz="2000" dirty="0"/>
              <a:t>application doesn’t have to occupy a contiguous piece of physical memory; it can be broken down into parts, without the application even needing to know about it</a:t>
            </a:r>
            <a:r>
              <a:rPr lang="en-US" sz="2000" dirty="0" smtClean="0"/>
              <a:t>.</a:t>
            </a:r>
          </a:p>
          <a:p>
            <a:r>
              <a:rPr lang="en-US" sz="2000" dirty="0"/>
              <a:t>the </a:t>
            </a:r>
            <a:r>
              <a:rPr lang="en-US" sz="2000" dirty="0">
                <a:solidFill>
                  <a:srgbClr val="FF0000"/>
                </a:solidFill>
              </a:rPr>
              <a:t>Virtual Addresses </a:t>
            </a:r>
            <a:r>
              <a:rPr lang="en-US" sz="2000" dirty="0"/>
              <a:t>(VAs) are the memory addresses that are referenced by an application</a:t>
            </a:r>
            <a:r>
              <a:rPr lang="en-US" sz="2000" dirty="0" smtClean="0"/>
              <a:t>.</a:t>
            </a:r>
          </a:p>
          <a:p>
            <a:r>
              <a:rPr lang="en-US" sz="2000" dirty="0"/>
              <a:t>An </a:t>
            </a:r>
            <a:r>
              <a:rPr lang="en-US" sz="2000" dirty="0">
                <a:solidFill>
                  <a:srgbClr val="FF0000"/>
                </a:solidFill>
              </a:rPr>
              <a:t>Relative Virtual Address </a:t>
            </a:r>
            <a:r>
              <a:rPr lang="en-US" sz="2000" dirty="0"/>
              <a:t>(RVA) is an offset from the base address </a:t>
            </a:r>
            <a:r>
              <a:rPr lang="en-US" sz="2000" dirty="0" smtClean="0"/>
              <a:t>(</a:t>
            </a:r>
            <a:r>
              <a:rPr lang="en-US" sz="2000" dirty="0" err="1" smtClean="0">
                <a:solidFill>
                  <a:srgbClr val="FF0000"/>
                </a:solidFill>
              </a:rPr>
              <a:t>ImageBase</a:t>
            </a:r>
            <a:r>
              <a:rPr lang="en-US" sz="2000" dirty="0" smtClean="0"/>
              <a:t>) at </a:t>
            </a:r>
            <a:r>
              <a:rPr lang="en-US" sz="2000" dirty="0"/>
              <a:t>which an executable is loaded in memory</a:t>
            </a:r>
          </a:p>
          <a:p>
            <a:endParaRPr lang="en-US" sz="2000" dirty="0"/>
          </a:p>
          <a:p>
            <a:endParaRPr lang="en-US" sz="2000" dirty="0"/>
          </a:p>
        </p:txBody>
      </p:sp>
      <p:pic>
        <p:nvPicPr>
          <p:cNvPr id="1026" name="Picture 2" descr="https://www.cs.uic.edu/~jbell/CourseNotes/OperatingSystems/images/Chapter9/9_01_VirtualMemoryLarg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2350" y="1196752"/>
            <a:ext cx="4060143" cy="324036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11560" y="5949280"/>
            <a:ext cx="2315570" cy="369332"/>
          </a:xfrm>
          <a:prstGeom prst="rect">
            <a:avLst/>
          </a:prstGeom>
          <a:noFill/>
          <a:ln>
            <a:solidFill>
              <a:schemeClr val="accent1"/>
            </a:solidFill>
          </a:ln>
        </p:spPr>
        <p:txBody>
          <a:bodyPr wrap="none" rtlCol="0">
            <a:spAutoFit/>
          </a:bodyPr>
          <a:lstStyle/>
          <a:p>
            <a:r>
              <a:rPr lang="en-US" b="1" dirty="0" smtClean="0"/>
              <a:t>RVA </a:t>
            </a:r>
            <a:r>
              <a:rPr lang="en-US" b="1" dirty="0"/>
              <a:t>= VA – </a:t>
            </a:r>
            <a:r>
              <a:rPr lang="en-US" b="1" dirty="0" err="1"/>
              <a:t>ImageBase</a:t>
            </a:r>
            <a:endParaRPr lang="en-US" dirty="0"/>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4488742"/>
            <a:ext cx="2415899" cy="2349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99482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 header</a:t>
            </a:r>
            <a:endParaRPr lang="en-US" dirty="0"/>
          </a:p>
        </p:txBody>
      </p:sp>
      <p:sp>
        <p:nvSpPr>
          <p:cNvPr id="3" name="Content Placeholder 2"/>
          <p:cNvSpPr>
            <a:spLocks noGrp="1"/>
          </p:cNvSpPr>
          <p:nvPr>
            <p:ph idx="1"/>
          </p:nvPr>
        </p:nvSpPr>
        <p:spPr/>
        <p:txBody>
          <a:bodyPr/>
          <a:lstStyle/>
          <a:p>
            <a:r>
              <a:rPr lang="en-US" dirty="0"/>
              <a:t>All later versions of Windows, including Windows 95/98/ME, support the file structure. The format has retained limited legacy support to bridge the gap between DOS-based and NT systems</a:t>
            </a:r>
          </a:p>
        </p:txBody>
      </p:sp>
      <p:pic>
        <p:nvPicPr>
          <p:cNvPr id="2050" name="Picture 2" descr="https://i0.wp.com/marcoramilli.com/wp-content/uploads/2010/12/277df-pe1.png?w=1100&amp;ssl=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284984"/>
            <a:ext cx="8382000" cy="320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38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3074" name="Picture 2" descr="https://i0.wp.com/marcoramilli.com/wp-content/uploads/2010/12/28f21-pe5.png?w=1100&amp;ssl=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77497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p:cNvSpPr/>
          <p:nvPr/>
        </p:nvSpPr>
        <p:spPr>
          <a:xfrm>
            <a:off x="1043608" y="188640"/>
            <a:ext cx="648072"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427984" y="764704"/>
            <a:ext cx="1224136"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29853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 header</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3860566" y="1340768"/>
            <a:ext cx="5247938" cy="3970318"/>
          </a:xfrm>
          <a:prstGeom prst="rect">
            <a:avLst/>
          </a:prstGeom>
          <a:noFill/>
          <a:ln>
            <a:solidFill>
              <a:schemeClr val="accent1"/>
            </a:solidFill>
          </a:ln>
        </p:spPr>
        <p:txBody>
          <a:bodyPr wrap="square" rtlCol="0">
            <a:spAutoFit/>
          </a:bodyPr>
          <a:lstStyle/>
          <a:p>
            <a:r>
              <a:rPr lang="en-US" i="1" dirty="0" err="1" smtClean="0">
                <a:solidFill>
                  <a:srgbClr val="FF0000"/>
                </a:solidFill>
              </a:rPr>
              <a:t>OptionalHeader</a:t>
            </a:r>
            <a:endParaRPr lang="en-US" i="1" dirty="0">
              <a:solidFill>
                <a:srgbClr val="FF0000"/>
              </a:solidFill>
            </a:endParaRPr>
          </a:p>
          <a:p>
            <a:pPr marL="285750" indent="-285750">
              <a:buFont typeface="Arial" panose="020B0604020202020204" pitchFamily="34" charset="0"/>
              <a:buChar char="•"/>
            </a:pPr>
            <a:r>
              <a:rPr lang="en-US" i="1" dirty="0">
                <a:solidFill>
                  <a:srgbClr val="FF0000"/>
                </a:solidFill>
              </a:rPr>
              <a:t>Magic</a:t>
            </a:r>
            <a:r>
              <a:rPr lang="en-US" dirty="0" smtClean="0"/>
              <a:t>: </a:t>
            </a:r>
            <a:r>
              <a:rPr lang="en-US" dirty="0"/>
              <a:t>0x010B </a:t>
            </a:r>
            <a:r>
              <a:rPr lang="en-US" dirty="0" smtClean="0"/>
              <a:t>(32-bit), </a:t>
            </a:r>
            <a:r>
              <a:rPr lang="en-US" dirty="0"/>
              <a:t>0x020B </a:t>
            </a:r>
            <a:r>
              <a:rPr lang="en-US" dirty="0" smtClean="0"/>
              <a:t>(64-bit).</a:t>
            </a:r>
            <a:endParaRPr lang="en-US" dirty="0"/>
          </a:p>
          <a:p>
            <a:pPr marL="285750" indent="-285750">
              <a:buFont typeface="Arial" panose="020B0604020202020204" pitchFamily="34" charset="0"/>
              <a:buChar char="•"/>
            </a:pPr>
            <a:r>
              <a:rPr lang="en-US" i="1" dirty="0" err="1" smtClean="0">
                <a:solidFill>
                  <a:srgbClr val="FF0000"/>
                </a:solidFill>
              </a:rPr>
              <a:t>SizeOfCode</a:t>
            </a:r>
            <a:r>
              <a:rPr lang="en-US" dirty="0"/>
              <a:t>: Specifies the total size of executable code.</a:t>
            </a:r>
          </a:p>
          <a:p>
            <a:pPr marL="285750" indent="-285750">
              <a:buFont typeface="Arial" panose="020B0604020202020204" pitchFamily="34" charset="0"/>
              <a:buChar char="•"/>
            </a:pPr>
            <a:r>
              <a:rPr lang="en-US" i="1" dirty="0" err="1" smtClean="0">
                <a:solidFill>
                  <a:srgbClr val="FF0000"/>
                </a:solidFill>
              </a:rPr>
              <a:t>SizeOfInitializedData</a:t>
            </a:r>
            <a:r>
              <a:rPr lang="en-US" dirty="0"/>
              <a:t>: This field holds the size of the initialized data (.data) section, or the sum of all initialized data sections if there are multiple sections.</a:t>
            </a:r>
          </a:p>
          <a:p>
            <a:pPr marL="285750" indent="-285750">
              <a:buFont typeface="Arial" panose="020B0604020202020204" pitchFamily="34" charset="0"/>
              <a:buChar char="•"/>
            </a:pPr>
            <a:r>
              <a:rPr lang="en-US" i="1" dirty="0" err="1" smtClean="0">
                <a:solidFill>
                  <a:srgbClr val="FF0000"/>
                </a:solidFill>
              </a:rPr>
              <a:t>SizeOfUninitializedData</a:t>
            </a:r>
            <a:r>
              <a:rPr lang="en-US" dirty="0"/>
              <a:t>: This field holds the size of the uninitialized data (.</a:t>
            </a:r>
            <a:r>
              <a:rPr lang="en-US" dirty="0" err="1"/>
              <a:t>bss</a:t>
            </a:r>
            <a:r>
              <a:rPr lang="en-US" dirty="0"/>
              <a:t>) section, or the sum of all uninitialized data sections if there are multiple sections.</a:t>
            </a:r>
          </a:p>
          <a:p>
            <a:pPr marL="285750" indent="-285750">
              <a:buFont typeface="Arial" panose="020B0604020202020204" pitchFamily="34" charset="0"/>
              <a:buChar char="•"/>
            </a:pPr>
            <a:r>
              <a:rPr lang="en-US" i="1" dirty="0" err="1" smtClean="0">
                <a:solidFill>
                  <a:srgbClr val="FF0000"/>
                </a:solidFill>
              </a:rPr>
              <a:t>AddressOfEntryPoint</a:t>
            </a:r>
            <a:r>
              <a:rPr lang="en-US" dirty="0"/>
              <a:t>: An RVA of the entry point when the file is loaded into memory.</a:t>
            </a:r>
          </a:p>
        </p:txBody>
      </p:sp>
      <p:sp>
        <p:nvSpPr>
          <p:cNvPr id="5" name="TextBox 4"/>
          <p:cNvSpPr txBox="1"/>
          <p:nvPr/>
        </p:nvSpPr>
        <p:spPr>
          <a:xfrm>
            <a:off x="3158" y="1124744"/>
            <a:ext cx="4913525" cy="5586145"/>
          </a:xfrm>
          <a:prstGeom prst="rect">
            <a:avLst/>
          </a:prstGeom>
          <a:noFill/>
        </p:spPr>
        <p:txBody>
          <a:bodyPr wrap="none" rtlCol="0">
            <a:spAutoFit/>
          </a:bodyPr>
          <a:lstStyle/>
          <a:p>
            <a:r>
              <a:rPr lang="en-US" sz="1050" dirty="0" err="1" smtClean="0"/>
              <a:t>typedef</a:t>
            </a:r>
            <a:r>
              <a:rPr lang="en-US" sz="1050" dirty="0" smtClean="0"/>
              <a:t> </a:t>
            </a:r>
            <a:r>
              <a:rPr lang="en-US" sz="1050" dirty="0" err="1"/>
              <a:t>struct</a:t>
            </a:r>
            <a:r>
              <a:rPr lang="en-US" sz="1050" dirty="0"/>
              <a:t> _IMAGE_OPTIONAL_HEADER {</a:t>
            </a:r>
          </a:p>
          <a:p>
            <a:r>
              <a:rPr lang="en-US" sz="1050" dirty="0"/>
              <a:t>  WORD                 Magic;</a:t>
            </a:r>
          </a:p>
          <a:p>
            <a:r>
              <a:rPr lang="en-US" sz="1050" dirty="0"/>
              <a:t>  BYTE                 </a:t>
            </a:r>
            <a:r>
              <a:rPr lang="en-US" sz="1050" dirty="0" err="1"/>
              <a:t>MajorLinkerVersion</a:t>
            </a:r>
            <a:r>
              <a:rPr lang="en-US" sz="1050" dirty="0"/>
              <a:t>;</a:t>
            </a:r>
          </a:p>
          <a:p>
            <a:r>
              <a:rPr lang="en-US" sz="1050" dirty="0"/>
              <a:t>  BYTE                 </a:t>
            </a:r>
            <a:r>
              <a:rPr lang="en-US" sz="1050" dirty="0" err="1"/>
              <a:t>MinorLinkerVersion</a:t>
            </a:r>
            <a:r>
              <a:rPr lang="en-US" sz="1050" dirty="0"/>
              <a:t>;</a:t>
            </a:r>
          </a:p>
          <a:p>
            <a:r>
              <a:rPr lang="en-US" sz="1050" dirty="0"/>
              <a:t>  DWORD                </a:t>
            </a:r>
            <a:r>
              <a:rPr lang="en-US" sz="1050" dirty="0" err="1"/>
              <a:t>SizeOfCode</a:t>
            </a:r>
            <a:r>
              <a:rPr lang="en-US" sz="1050" dirty="0"/>
              <a:t>;</a:t>
            </a:r>
          </a:p>
          <a:p>
            <a:r>
              <a:rPr lang="en-US" sz="1050" dirty="0"/>
              <a:t>  DWORD                </a:t>
            </a:r>
            <a:r>
              <a:rPr lang="en-US" sz="1050" dirty="0" err="1"/>
              <a:t>SizeOfInitializedData</a:t>
            </a:r>
            <a:r>
              <a:rPr lang="en-US" sz="1050" dirty="0"/>
              <a:t>;</a:t>
            </a:r>
          </a:p>
          <a:p>
            <a:r>
              <a:rPr lang="en-US" sz="1050" dirty="0"/>
              <a:t>  DWORD                </a:t>
            </a:r>
            <a:r>
              <a:rPr lang="en-US" sz="1050" dirty="0" err="1"/>
              <a:t>SizeOfUninitializedData</a:t>
            </a:r>
            <a:r>
              <a:rPr lang="en-US" sz="1050" dirty="0"/>
              <a:t>;</a:t>
            </a:r>
          </a:p>
          <a:p>
            <a:r>
              <a:rPr lang="en-US" sz="1050" dirty="0"/>
              <a:t>  DWORD                </a:t>
            </a:r>
            <a:r>
              <a:rPr lang="en-US" sz="1050" dirty="0" err="1"/>
              <a:t>AddressOfEntryPoint</a:t>
            </a:r>
            <a:r>
              <a:rPr lang="en-US" sz="1050" dirty="0"/>
              <a:t>;</a:t>
            </a:r>
          </a:p>
          <a:p>
            <a:r>
              <a:rPr lang="en-US" sz="1050" dirty="0"/>
              <a:t>  DWORD                </a:t>
            </a:r>
            <a:r>
              <a:rPr lang="en-US" sz="1050" dirty="0" err="1"/>
              <a:t>BaseOfCode</a:t>
            </a:r>
            <a:r>
              <a:rPr lang="en-US" sz="1050" dirty="0"/>
              <a:t>;</a:t>
            </a:r>
          </a:p>
          <a:p>
            <a:r>
              <a:rPr lang="en-US" sz="1050" dirty="0"/>
              <a:t>  DWORD                </a:t>
            </a:r>
            <a:r>
              <a:rPr lang="en-US" sz="1050" dirty="0" err="1"/>
              <a:t>BaseOfData</a:t>
            </a:r>
            <a:r>
              <a:rPr lang="en-US" sz="1050" dirty="0"/>
              <a:t>;</a:t>
            </a:r>
          </a:p>
          <a:p>
            <a:r>
              <a:rPr lang="en-US" sz="1050" dirty="0"/>
              <a:t>  DWORD                </a:t>
            </a:r>
            <a:r>
              <a:rPr lang="en-US" sz="1050" dirty="0" err="1"/>
              <a:t>ImageBase</a:t>
            </a:r>
            <a:r>
              <a:rPr lang="en-US" sz="1050" dirty="0"/>
              <a:t>;</a:t>
            </a:r>
          </a:p>
          <a:p>
            <a:r>
              <a:rPr lang="en-US" sz="1050" dirty="0"/>
              <a:t>  DWORD                </a:t>
            </a:r>
            <a:r>
              <a:rPr lang="en-US" sz="1050" dirty="0" err="1"/>
              <a:t>SectionAlignment</a:t>
            </a:r>
            <a:r>
              <a:rPr lang="en-US" sz="1050" dirty="0"/>
              <a:t>;</a:t>
            </a:r>
          </a:p>
          <a:p>
            <a:r>
              <a:rPr lang="en-US" sz="1050" dirty="0"/>
              <a:t>  DWORD                </a:t>
            </a:r>
            <a:r>
              <a:rPr lang="en-US" sz="1050" dirty="0" err="1"/>
              <a:t>FileAlignment</a:t>
            </a:r>
            <a:r>
              <a:rPr lang="en-US" sz="1050" dirty="0"/>
              <a:t>;</a:t>
            </a:r>
          </a:p>
          <a:p>
            <a:r>
              <a:rPr lang="en-US" sz="1050" dirty="0"/>
              <a:t>  WORD                 </a:t>
            </a:r>
            <a:r>
              <a:rPr lang="en-US" sz="1050" dirty="0" err="1"/>
              <a:t>MajorOperatingSystemVersion</a:t>
            </a:r>
            <a:r>
              <a:rPr lang="en-US" sz="1050" dirty="0"/>
              <a:t>;</a:t>
            </a:r>
          </a:p>
          <a:p>
            <a:r>
              <a:rPr lang="en-US" sz="1050" dirty="0"/>
              <a:t>  WORD                 </a:t>
            </a:r>
            <a:r>
              <a:rPr lang="en-US" sz="1050" dirty="0" err="1"/>
              <a:t>MinorOperatingSystemVersion</a:t>
            </a:r>
            <a:r>
              <a:rPr lang="en-US" sz="1050" dirty="0"/>
              <a:t>;</a:t>
            </a:r>
          </a:p>
          <a:p>
            <a:r>
              <a:rPr lang="en-US" sz="1050" dirty="0"/>
              <a:t>  WORD                 </a:t>
            </a:r>
            <a:r>
              <a:rPr lang="en-US" sz="1050" dirty="0" err="1"/>
              <a:t>MajorImageVersion</a:t>
            </a:r>
            <a:r>
              <a:rPr lang="en-US" sz="1050" dirty="0"/>
              <a:t>;</a:t>
            </a:r>
          </a:p>
          <a:p>
            <a:r>
              <a:rPr lang="en-US" sz="1050" dirty="0"/>
              <a:t>  WORD                 </a:t>
            </a:r>
            <a:r>
              <a:rPr lang="en-US" sz="1050" dirty="0" err="1"/>
              <a:t>MinorImageVersion</a:t>
            </a:r>
            <a:r>
              <a:rPr lang="en-US" sz="1050" dirty="0"/>
              <a:t>;</a:t>
            </a:r>
          </a:p>
          <a:p>
            <a:r>
              <a:rPr lang="en-US" sz="1050" dirty="0"/>
              <a:t>  WORD                 </a:t>
            </a:r>
            <a:r>
              <a:rPr lang="en-US" sz="1050" dirty="0" err="1"/>
              <a:t>MajorSubsystemVersion</a:t>
            </a:r>
            <a:r>
              <a:rPr lang="en-US" sz="1050" dirty="0"/>
              <a:t>;</a:t>
            </a:r>
          </a:p>
          <a:p>
            <a:r>
              <a:rPr lang="en-US" sz="1050" dirty="0"/>
              <a:t>  WORD                 </a:t>
            </a:r>
            <a:r>
              <a:rPr lang="en-US" sz="1050" dirty="0" err="1"/>
              <a:t>MinorSubsystemVersion</a:t>
            </a:r>
            <a:r>
              <a:rPr lang="en-US" sz="1050" dirty="0"/>
              <a:t>;</a:t>
            </a:r>
          </a:p>
          <a:p>
            <a:r>
              <a:rPr lang="en-US" sz="1050" dirty="0"/>
              <a:t>  DWORD                Win32VersionValue;</a:t>
            </a:r>
          </a:p>
          <a:p>
            <a:r>
              <a:rPr lang="en-US" sz="1050" dirty="0"/>
              <a:t>  DWORD                </a:t>
            </a:r>
            <a:r>
              <a:rPr lang="en-US" sz="1050" dirty="0" err="1"/>
              <a:t>SizeOfImage</a:t>
            </a:r>
            <a:r>
              <a:rPr lang="en-US" sz="1050" dirty="0"/>
              <a:t>;</a:t>
            </a:r>
          </a:p>
          <a:p>
            <a:r>
              <a:rPr lang="en-US" sz="1050" dirty="0"/>
              <a:t>  DWORD                </a:t>
            </a:r>
            <a:r>
              <a:rPr lang="en-US" sz="1050" dirty="0" err="1"/>
              <a:t>SizeOfHeaders</a:t>
            </a:r>
            <a:r>
              <a:rPr lang="en-US" sz="1050" dirty="0"/>
              <a:t>;</a:t>
            </a:r>
          </a:p>
          <a:p>
            <a:r>
              <a:rPr lang="en-US" sz="1050" dirty="0"/>
              <a:t>  DWORD                </a:t>
            </a:r>
            <a:r>
              <a:rPr lang="en-US" sz="1050" dirty="0" err="1"/>
              <a:t>CheckSum</a:t>
            </a:r>
            <a:r>
              <a:rPr lang="en-US" sz="1050" dirty="0"/>
              <a:t>;</a:t>
            </a:r>
          </a:p>
          <a:p>
            <a:r>
              <a:rPr lang="en-US" sz="1050" dirty="0"/>
              <a:t>  WORD                 Subsystem;</a:t>
            </a:r>
          </a:p>
          <a:p>
            <a:r>
              <a:rPr lang="en-US" sz="1050" dirty="0"/>
              <a:t>  WORD                 </a:t>
            </a:r>
            <a:r>
              <a:rPr lang="en-US" sz="1050" dirty="0" err="1"/>
              <a:t>DllCharacteristics</a:t>
            </a:r>
            <a:r>
              <a:rPr lang="en-US" sz="1050" dirty="0"/>
              <a:t>;</a:t>
            </a:r>
          </a:p>
          <a:p>
            <a:r>
              <a:rPr lang="en-US" sz="1050" dirty="0"/>
              <a:t>  DWORD                </a:t>
            </a:r>
            <a:r>
              <a:rPr lang="en-US" sz="1050" dirty="0" err="1"/>
              <a:t>SizeOfStackReserve</a:t>
            </a:r>
            <a:r>
              <a:rPr lang="en-US" sz="1050" dirty="0"/>
              <a:t>;</a:t>
            </a:r>
          </a:p>
          <a:p>
            <a:r>
              <a:rPr lang="en-US" sz="1050" dirty="0"/>
              <a:t>  DWORD                </a:t>
            </a:r>
            <a:r>
              <a:rPr lang="en-US" sz="1050" dirty="0" err="1"/>
              <a:t>SizeOfStackCommit</a:t>
            </a:r>
            <a:r>
              <a:rPr lang="en-US" sz="1050" dirty="0"/>
              <a:t>;</a:t>
            </a:r>
          </a:p>
          <a:p>
            <a:r>
              <a:rPr lang="en-US" sz="1050" dirty="0"/>
              <a:t>  DWORD                </a:t>
            </a:r>
            <a:r>
              <a:rPr lang="en-US" sz="1050" dirty="0" err="1"/>
              <a:t>SizeOfHeapReserve</a:t>
            </a:r>
            <a:r>
              <a:rPr lang="en-US" sz="1050" dirty="0"/>
              <a:t>;</a:t>
            </a:r>
          </a:p>
          <a:p>
            <a:r>
              <a:rPr lang="en-US" sz="1050" dirty="0"/>
              <a:t>  DWORD                </a:t>
            </a:r>
            <a:r>
              <a:rPr lang="en-US" sz="1050" dirty="0" err="1"/>
              <a:t>SizeOfHeapCommit</a:t>
            </a:r>
            <a:r>
              <a:rPr lang="en-US" sz="1050" dirty="0"/>
              <a:t>;</a:t>
            </a:r>
          </a:p>
          <a:p>
            <a:r>
              <a:rPr lang="en-US" sz="1050" dirty="0"/>
              <a:t>  DWORD                </a:t>
            </a:r>
            <a:r>
              <a:rPr lang="en-US" sz="1050" dirty="0" err="1"/>
              <a:t>LoaderFlags</a:t>
            </a:r>
            <a:r>
              <a:rPr lang="en-US" sz="1050" dirty="0"/>
              <a:t>;</a:t>
            </a:r>
          </a:p>
          <a:p>
            <a:r>
              <a:rPr lang="en-US" sz="1050" dirty="0"/>
              <a:t>  DWORD                </a:t>
            </a:r>
            <a:r>
              <a:rPr lang="en-US" sz="1050" dirty="0" err="1"/>
              <a:t>NumberOfRvaAndSizes</a:t>
            </a:r>
            <a:r>
              <a:rPr lang="en-US" sz="1050" dirty="0"/>
              <a:t>;</a:t>
            </a:r>
          </a:p>
          <a:p>
            <a:r>
              <a:rPr lang="en-US" sz="1050" dirty="0"/>
              <a:t>  IMAGE_DATA_DIRECTORY </a:t>
            </a:r>
            <a:r>
              <a:rPr lang="en-US" sz="1050" dirty="0" err="1"/>
              <a:t>DataDirectory</a:t>
            </a:r>
            <a:r>
              <a:rPr lang="en-US" sz="1050" dirty="0"/>
              <a:t>[IMAGE_NUMBEROF_DIRECTORY_ENTRIES];</a:t>
            </a:r>
          </a:p>
          <a:p>
            <a:r>
              <a:rPr lang="en-US" sz="1050" dirty="0"/>
              <a:t>} IMAGE_OPTIONAL_HEADER32, *PIMAGE_OPTIONAL_HEADER32; </a:t>
            </a:r>
          </a:p>
        </p:txBody>
      </p:sp>
    </p:spTree>
    <p:extLst>
      <p:ext uri="{BB962C8B-B14F-4D97-AF65-F5344CB8AC3E}">
        <p14:creationId xmlns:p14="http://schemas.microsoft.com/office/powerpoint/2010/main" val="16028165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Check PE header using </a:t>
            </a:r>
            <a:r>
              <a:rPr lang="en-US" dirty="0" err="1" smtClean="0">
                <a:solidFill>
                  <a:srgbClr val="FF0000"/>
                </a:solidFill>
              </a:rPr>
              <a:t>HxD</a:t>
            </a:r>
            <a:r>
              <a:rPr lang="en-US" dirty="0" smtClean="0">
                <a:solidFill>
                  <a:srgbClr val="FF0000"/>
                </a:solidFill>
              </a:rPr>
              <a:t>/</a:t>
            </a:r>
            <a:r>
              <a:rPr lang="en-US" dirty="0" err="1" smtClean="0">
                <a:solidFill>
                  <a:srgbClr val="FF0000"/>
                </a:solidFill>
              </a:rPr>
              <a:t>PEView</a:t>
            </a:r>
            <a:r>
              <a:rPr lang="en-US" dirty="0">
                <a:solidFill>
                  <a:srgbClr val="FF0000"/>
                </a:solidFill>
              </a:rPr>
              <a:t> </a:t>
            </a:r>
            <a:r>
              <a:rPr lang="en-US" dirty="0"/>
              <a:t>(</a:t>
            </a:r>
            <a:r>
              <a:rPr lang="en-US" dirty="0" err="1" smtClean="0"/>
              <a:t>PEiD</a:t>
            </a:r>
            <a:r>
              <a:rPr lang="en-US" dirty="0" smtClean="0"/>
              <a:t>): </a:t>
            </a:r>
            <a:r>
              <a:rPr lang="en-US" dirty="0" smtClean="0"/>
              <a:t>file </a:t>
            </a:r>
            <a:r>
              <a:rPr lang="en-US" dirty="0" smtClean="0">
                <a:solidFill>
                  <a:srgbClr val="FF0000"/>
                </a:solidFill>
              </a:rPr>
              <a:t>Lab01-01.exe</a:t>
            </a:r>
          </a:p>
          <a:p>
            <a:endParaRPr lang="en-US" dirty="0"/>
          </a:p>
          <a:p>
            <a:endParaRPr lang="en-US" dirty="0" smtClean="0"/>
          </a:p>
          <a:p>
            <a:endParaRPr lang="en-US" dirty="0"/>
          </a:p>
          <a:p>
            <a:endParaRPr lang="en-US" dirty="0" smtClean="0"/>
          </a:p>
          <a:p>
            <a:endParaRPr lang="en-US" dirty="0"/>
          </a:p>
          <a:p>
            <a:r>
              <a:rPr lang="en-US" dirty="0" err="1" smtClean="0"/>
              <a:t>Xác</a:t>
            </a:r>
            <a:r>
              <a:rPr lang="en-US" dirty="0" smtClean="0"/>
              <a:t> </a:t>
            </a:r>
            <a:r>
              <a:rPr lang="en-US" dirty="0" err="1" smtClean="0"/>
              <a:t>định</a:t>
            </a:r>
            <a:r>
              <a:rPr lang="en-US" dirty="0" smtClean="0"/>
              <a:t>: </a:t>
            </a:r>
          </a:p>
          <a:p>
            <a:pPr lvl="1"/>
            <a:r>
              <a:rPr lang="en-US" dirty="0" smtClean="0"/>
              <a:t>PE header address (Nam)</a:t>
            </a:r>
          </a:p>
          <a:p>
            <a:pPr lvl="1"/>
            <a:r>
              <a:rPr lang="en-US" dirty="0" err="1" smtClean="0"/>
              <a:t>EntryPoint</a:t>
            </a:r>
            <a:r>
              <a:rPr lang="en-US" dirty="0" smtClean="0"/>
              <a:t> Address (Dũng)</a:t>
            </a:r>
          </a:p>
          <a:p>
            <a:pPr lvl="1"/>
            <a:r>
              <a:rPr lang="en-US" dirty="0" smtClean="0"/>
              <a:t>Image Base Address (Huy)</a:t>
            </a:r>
            <a:endParaRPr lang="en-US" dirty="0" smtClean="0"/>
          </a:p>
          <a:p>
            <a:pPr lvl="1"/>
            <a:r>
              <a:rPr lang="en-US" dirty="0" err="1" smtClean="0"/>
              <a:t>TimeStamp</a:t>
            </a:r>
            <a:r>
              <a:rPr lang="en-US" dirty="0" smtClean="0"/>
              <a:t> (</a:t>
            </a:r>
            <a:r>
              <a:rPr lang="en-US" dirty="0" err="1" smtClean="0"/>
              <a:t>Hiếu</a:t>
            </a:r>
            <a:r>
              <a:rPr lang="en-US" dirty="0" smtClean="0"/>
              <a:t>) </a:t>
            </a:r>
            <a:r>
              <a:rPr lang="en-US" b="1" dirty="0" err="1" smtClean="0">
                <a:solidFill>
                  <a:srgbClr val="FF0000"/>
                </a:solidFill>
              </a:rPr>
              <a:t>DCode</a:t>
            </a:r>
            <a:endParaRPr lang="en-US" b="1" dirty="0" smtClean="0">
              <a:solidFill>
                <a:srgbClr val="FF0000"/>
              </a:solidFill>
            </a:endParaRPr>
          </a:p>
          <a:p>
            <a:pPr lvl="1"/>
            <a:r>
              <a:rPr lang="en-US" dirty="0" smtClean="0"/>
              <a:t>No. of Sections (</a:t>
            </a:r>
            <a:r>
              <a:rPr lang="en-US" dirty="0" err="1" smtClean="0"/>
              <a:t>Thưởng</a:t>
            </a:r>
            <a:r>
              <a:rPr lang="en-US" dirty="0" smtClean="0"/>
              <a:t>)</a:t>
            </a:r>
          </a:p>
          <a:p>
            <a:pPr lvl="1"/>
            <a:r>
              <a:rPr lang="en-US" dirty="0" smtClean="0"/>
              <a:t>Magic Value (Khanh)</a:t>
            </a:r>
          </a:p>
          <a:p>
            <a:pPr lvl="1"/>
            <a:endParaRPr lang="en-US" dirty="0" smtClean="0"/>
          </a:p>
        </p:txBody>
      </p:sp>
      <p:pic>
        <p:nvPicPr>
          <p:cNvPr id="4" name="Picture 4" descr="https://i0.wp.com/marcoramilli.com/wp-content/uploads/2010/12/ef03e-pe3.png?w=1100&amp;ssl=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600" y="1556792"/>
            <a:ext cx="4815498" cy="225140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0585" y="3933056"/>
            <a:ext cx="4257675" cy="2600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57225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endParaRPr lang="en-US" dirty="0"/>
          </a:p>
        </p:txBody>
      </p:sp>
      <p:sp>
        <p:nvSpPr>
          <p:cNvPr id="3" name="Content Placeholder 2"/>
          <p:cNvSpPr>
            <a:spLocks noGrp="1"/>
          </p:cNvSpPr>
          <p:nvPr>
            <p:ph idx="1"/>
          </p:nvPr>
        </p:nvSpPr>
        <p:spPr/>
        <p:txBody>
          <a:bodyPr/>
          <a:lstStyle/>
          <a:p>
            <a:r>
              <a:rPr lang="en-US" dirty="0" smtClean="0"/>
              <a:t>Khảo </a:t>
            </a:r>
            <a:r>
              <a:rPr lang="en-US" dirty="0" err="1" smtClean="0"/>
              <a:t>sát</a:t>
            </a:r>
            <a:r>
              <a:rPr lang="en-US" dirty="0" smtClean="0"/>
              <a:t> file PE: </a:t>
            </a:r>
            <a:r>
              <a:rPr lang="en-US" b="1" dirty="0" smtClean="0">
                <a:solidFill>
                  <a:srgbClr val="FF0000"/>
                </a:solidFill>
              </a:rPr>
              <a:t>Lab03-01.exe</a:t>
            </a:r>
          </a:p>
          <a:p>
            <a:pPr lvl="1"/>
            <a:r>
              <a:rPr lang="en-US" dirty="0" err="1" smtClean="0">
                <a:solidFill>
                  <a:srgbClr val="FF0000"/>
                </a:solidFill>
              </a:rPr>
              <a:t>Địa</a:t>
            </a:r>
            <a:r>
              <a:rPr lang="en-US" dirty="0" smtClean="0">
                <a:solidFill>
                  <a:srgbClr val="FF0000"/>
                </a:solidFill>
              </a:rPr>
              <a:t> </a:t>
            </a:r>
            <a:r>
              <a:rPr lang="en-US" dirty="0" err="1" smtClean="0">
                <a:solidFill>
                  <a:srgbClr val="FF0000"/>
                </a:solidFill>
              </a:rPr>
              <a:t>chỉ</a:t>
            </a:r>
            <a:r>
              <a:rPr lang="en-US" dirty="0" smtClean="0">
                <a:solidFill>
                  <a:srgbClr val="FF0000"/>
                </a:solidFill>
              </a:rPr>
              <a:t> </a:t>
            </a:r>
            <a:r>
              <a:rPr lang="en-US" dirty="0" err="1" smtClean="0">
                <a:solidFill>
                  <a:srgbClr val="FF0000"/>
                </a:solidFill>
              </a:rPr>
              <a:t>bắt</a:t>
            </a:r>
            <a:r>
              <a:rPr lang="en-US" dirty="0" smtClean="0">
                <a:solidFill>
                  <a:srgbClr val="FF0000"/>
                </a:solidFill>
              </a:rPr>
              <a:t> </a:t>
            </a:r>
            <a:r>
              <a:rPr lang="en-US" dirty="0" err="1" smtClean="0">
                <a:solidFill>
                  <a:srgbClr val="FF0000"/>
                </a:solidFill>
              </a:rPr>
              <a:t>đầu</a:t>
            </a:r>
            <a:r>
              <a:rPr lang="en-US" dirty="0" smtClean="0">
                <a:solidFill>
                  <a:srgbClr val="FF0000"/>
                </a:solidFill>
              </a:rPr>
              <a:t> </a:t>
            </a:r>
            <a:r>
              <a:rPr lang="en-US" dirty="0" err="1" smtClean="0">
                <a:solidFill>
                  <a:srgbClr val="FF0000"/>
                </a:solidFill>
              </a:rPr>
              <a:t>của</a:t>
            </a:r>
            <a:r>
              <a:rPr lang="en-US" dirty="0" smtClean="0">
                <a:solidFill>
                  <a:srgbClr val="FF0000"/>
                </a:solidFill>
              </a:rPr>
              <a:t> </a:t>
            </a:r>
            <a:r>
              <a:rPr lang="vi-VN" dirty="0" smtClean="0">
                <a:solidFill>
                  <a:srgbClr val="FF0000"/>
                </a:solidFill>
              </a:rPr>
              <a:t>PE header</a:t>
            </a:r>
            <a:endParaRPr lang="vi-VN" dirty="0">
              <a:solidFill>
                <a:srgbClr val="FF0000"/>
              </a:solidFill>
            </a:endParaRPr>
          </a:p>
          <a:p>
            <a:pPr lvl="1"/>
            <a:r>
              <a:rPr lang="en-US" dirty="0" err="1" smtClean="0">
                <a:solidFill>
                  <a:srgbClr val="FF0000"/>
                </a:solidFill>
              </a:rPr>
              <a:t>Địa</a:t>
            </a:r>
            <a:r>
              <a:rPr lang="en-US" dirty="0" smtClean="0">
                <a:solidFill>
                  <a:srgbClr val="FF0000"/>
                </a:solidFill>
              </a:rPr>
              <a:t> </a:t>
            </a:r>
            <a:r>
              <a:rPr lang="en-US" dirty="0" err="1" smtClean="0">
                <a:solidFill>
                  <a:srgbClr val="FF0000"/>
                </a:solidFill>
              </a:rPr>
              <a:t>chỉ</a:t>
            </a:r>
            <a:r>
              <a:rPr lang="en-US" dirty="0" smtClean="0">
                <a:solidFill>
                  <a:srgbClr val="FF0000"/>
                </a:solidFill>
              </a:rPr>
              <a:t> </a:t>
            </a:r>
            <a:r>
              <a:rPr lang="vi-VN" dirty="0" smtClean="0">
                <a:solidFill>
                  <a:srgbClr val="FF0000"/>
                </a:solidFill>
              </a:rPr>
              <a:t>EntryPoint</a:t>
            </a:r>
            <a:endParaRPr lang="vi-VN" dirty="0">
              <a:solidFill>
                <a:srgbClr val="FF0000"/>
              </a:solidFill>
            </a:endParaRPr>
          </a:p>
          <a:p>
            <a:pPr lvl="1"/>
            <a:r>
              <a:rPr lang="en-US" dirty="0" err="1" smtClean="0">
                <a:solidFill>
                  <a:srgbClr val="FF0000"/>
                </a:solidFill>
              </a:rPr>
              <a:t>Địa</a:t>
            </a:r>
            <a:r>
              <a:rPr lang="en-US" dirty="0" smtClean="0">
                <a:solidFill>
                  <a:srgbClr val="FF0000"/>
                </a:solidFill>
              </a:rPr>
              <a:t> </a:t>
            </a:r>
            <a:r>
              <a:rPr lang="en-US" dirty="0" err="1" smtClean="0">
                <a:solidFill>
                  <a:srgbClr val="FF0000"/>
                </a:solidFill>
              </a:rPr>
              <a:t>chỉ</a:t>
            </a:r>
            <a:r>
              <a:rPr lang="en-US" dirty="0" smtClean="0">
                <a:solidFill>
                  <a:srgbClr val="FF0000"/>
                </a:solidFill>
              </a:rPr>
              <a:t> </a:t>
            </a:r>
            <a:r>
              <a:rPr lang="vi-VN" dirty="0" smtClean="0">
                <a:solidFill>
                  <a:srgbClr val="FF0000"/>
                </a:solidFill>
              </a:rPr>
              <a:t>Image Base</a:t>
            </a:r>
            <a:endParaRPr lang="vi-VN" dirty="0">
              <a:solidFill>
                <a:srgbClr val="FF0000"/>
              </a:solidFill>
            </a:endParaRPr>
          </a:p>
          <a:p>
            <a:pPr lvl="1"/>
            <a:r>
              <a:rPr lang="vi-VN" dirty="0">
                <a:solidFill>
                  <a:srgbClr val="FF0000"/>
                </a:solidFill>
              </a:rPr>
              <a:t>TimeStamp </a:t>
            </a:r>
          </a:p>
          <a:p>
            <a:pPr lvl="1"/>
            <a:r>
              <a:rPr lang="vi-VN" dirty="0">
                <a:solidFill>
                  <a:srgbClr val="FF0000"/>
                </a:solidFill>
              </a:rPr>
              <a:t>No. of </a:t>
            </a:r>
            <a:r>
              <a:rPr lang="vi-VN" dirty="0" smtClean="0">
                <a:solidFill>
                  <a:srgbClr val="FF0000"/>
                </a:solidFill>
              </a:rPr>
              <a:t>Sections</a:t>
            </a:r>
            <a:endParaRPr lang="vi-VN" dirty="0">
              <a:solidFill>
                <a:srgbClr val="FF0000"/>
              </a:solidFill>
            </a:endParaRPr>
          </a:p>
          <a:p>
            <a:pPr lvl="1"/>
            <a:r>
              <a:rPr lang="vi-VN" dirty="0">
                <a:solidFill>
                  <a:srgbClr val="FF0000"/>
                </a:solidFill>
              </a:rPr>
              <a:t>Magic </a:t>
            </a:r>
            <a:r>
              <a:rPr lang="vi-VN" dirty="0" smtClean="0">
                <a:solidFill>
                  <a:srgbClr val="FF0000"/>
                </a:solidFill>
              </a:rPr>
              <a:t>Valu</a:t>
            </a:r>
            <a:r>
              <a:rPr lang="en-US" dirty="0" smtClean="0">
                <a:solidFill>
                  <a:srgbClr val="FF0000"/>
                </a:solidFill>
              </a:rPr>
              <a:t>e</a:t>
            </a:r>
          </a:p>
          <a:p>
            <a:pPr lvl="1"/>
            <a:r>
              <a:rPr lang="en-US" dirty="0" err="1" smtClean="0">
                <a:solidFill>
                  <a:srgbClr val="FF0000"/>
                </a:solidFill>
              </a:rPr>
              <a:t>Kiến</a:t>
            </a:r>
            <a:r>
              <a:rPr lang="en-US" dirty="0" smtClean="0">
                <a:solidFill>
                  <a:srgbClr val="FF0000"/>
                </a:solidFill>
              </a:rPr>
              <a:t> </a:t>
            </a:r>
            <a:r>
              <a:rPr lang="en-US" dirty="0" err="1" smtClean="0">
                <a:solidFill>
                  <a:srgbClr val="FF0000"/>
                </a:solidFill>
              </a:rPr>
              <a:t>trúc</a:t>
            </a:r>
            <a:r>
              <a:rPr lang="en-US" dirty="0" smtClean="0">
                <a:solidFill>
                  <a:srgbClr val="FF0000"/>
                </a:solidFill>
              </a:rPr>
              <a:t> </a:t>
            </a:r>
            <a:r>
              <a:rPr lang="en-US" dirty="0" err="1" smtClean="0">
                <a:solidFill>
                  <a:srgbClr val="FF0000"/>
                </a:solidFill>
              </a:rPr>
              <a:t>chạy</a:t>
            </a:r>
            <a:r>
              <a:rPr lang="en-US" dirty="0" smtClean="0">
                <a:solidFill>
                  <a:srgbClr val="FF0000"/>
                </a:solidFill>
              </a:rPr>
              <a:t> file PE (Machine)</a:t>
            </a:r>
          </a:p>
          <a:p>
            <a:endParaRPr lang="en-US" dirty="0" smtClean="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21582842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Packing and Obfuscation Techniques</a:t>
            </a:r>
            <a:endParaRPr lang="en-GB" dirty="0"/>
          </a:p>
        </p:txBody>
      </p:sp>
      <p:sp>
        <p:nvSpPr>
          <p:cNvPr id="3" name="Content Placeholder 2"/>
          <p:cNvSpPr>
            <a:spLocks noGrp="1"/>
          </p:cNvSpPr>
          <p:nvPr>
            <p:ph idx="1"/>
          </p:nvPr>
        </p:nvSpPr>
        <p:spPr/>
        <p:txBody>
          <a:bodyPr/>
          <a:lstStyle/>
          <a:p>
            <a:r>
              <a:rPr lang="en-GB" dirty="0" smtClean="0"/>
              <a:t>Malware writer often use packing and obfuscation to make their files more difficult to detect or analyse.</a:t>
            </a:r>
          </a:p>
          <a:p>
            <a:pPr lvl="1"/>
            <a:r>
              <a:rPr lang="en-GB" i="1" dirty="0" smtClean="0"/>
              <a:t>Obfuscated programs</a:t>
            </a:r>
            <a:r>
              <a:rPr lang="en-GB" dirty="0" smtClean="0"/>
              <a:t>: malware writer has attempted to hide.</a:t>
            </a:r>
          </a:p>
          <a:p>
            <a:pPr lvl="1"/>
            <a:r>
              <a:rPr lang="en-GB" i="1" dirty="0" smtClean="0"/>
              <a:t>Packed programs</a:t>
            </a:r>
            <a:r>
              <a:rPr lang="en-GB" dirty="0" smtClean="0"/>
              <a:t>: a subset of obfuscated programs in which the malicious program is compressed and unable to be analysed.</a:t>
            </a:r>
            <a:endParaRPr lang="en-GB" dirty="0"/>
          </a:p>
        </p:txBody>
      </p:sp>
      <p:sp>
        <p:nvSpPr>
          <p:cNvPr id="4" name="TextBox 3"/>
          <p:cNvSpPr txBox="1"/>
          <p:nvPr/>
        </p:nvSpPr>
        <p:spPr>
          <a:xfrm>
            <a:off x="611561" y="5266074"/>
            <a:ext cx="8136904" cy="1015663"/>
          </a:xfrm>
          <a:prstGeom prst="rect">
            <a:avLst/>
          </a:prstGeom>
          <a:solidFill>
            <a:schemeClr val="accent4">
              <a:lumMod val="20000"/>
              <a:lumOff val="80000"/>
              <a:alpha val="49000"/>
            </a:schemeClr>
          </a:solidFill>
          <a:ln>
            <a:solidFill>
              <a:schemeClr val="accent1"/>
            </a:solidFill>
          </a:ln>
        </p:spPr>
        <p:txBody>
          <a:bodyPr wrap="square" rtlCol="0">
            <a:spAutoFit/>
          </a:bodyPr>
          <a:lstStyle/>
          <a:p>
            <a:r>
              <a:rPr lang="en-GB" sz="2000" i="1" dirty="0"/>
              <a:t>Packed and obfuscated code will often include at least the functions </a:t>
            </a:r>
            <a:r>
              <a:rPr lang="en-GB" sz="2000" i="1" dirty="0" err="1">
                <a:effectLst>
                  <a:outerShdw blurRad="38100" dist="38100" dir="2700000" algn="tl">
                    <a:srgbClr val="000000">
                      <a:alpha val="43137"/>
                    </a:srgbClr>
                  </a:outerShdw>
                </a:effectLst>
              </a:rPr>
              <a:t>LoadLibrary</a:t>
            </a:r>
            <a:r>
              <a:rPr lang="en-GB" sz="2000" i="1" dirty="0">
                <a:effectLst>
                  <a:outerShdw blurRad="38100" dist="38100" dir="2700000" algn="tl">
                    <a:srgbClr val="000000">
                      <a:alpha val="43137"/>
                    </a:srgbClr>
                  </a:outerShdw>
                </a:effectLst>
              </a:rPr>
              <a:t> </a:t>
            </a:r>
            <a:r>
              <a:rPr lang="en-GB" sz="2000" i="1" dirty="0" smtClean="0"/>
              <a:t>and </a:t>
            </a:r>
            <a:r>
              <a:rPr lang="en-GB" sz="2000" i="1" dirty="0" err="1" smtClean="0">
                <a:effectLst>
                  <a:outerShdw blurRad="38100" dist="38100" dir="2700000" algn="tl">
                    <a:srgbClr val="000000">
                      <a:alpha val="43137"/>
                    </a:srgbClr>
                  </a:outerShdw>
                </a:effectLst>
              </a:rPr>
              <a:t>GetProcAddress</a:t>
            </a:r>
            <a:r>
              <a:rPr lang="en-GB" sz="2000" i="1" dirty="0"/>
              <a:t>, which are used to load and gain access to additional functions.</a:t>
            </a:r>
            <a:endParaRPr lang="en-GB" sz="2000" dirty="0"/>
          </a:p>
        </p:txBody>
      </p:sp>
    </p:spTree>
    <p:extLst>
      <p:ext uri="{BB962C8B-B14F-4D97-AF65-F5344CB8AC3E}">
        <p14:creationId xmlns:p14="http://schemas.microsoft.com/office/powerpoint/2010/main" val="196908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Packing and Obfuscation Techniques</a:t>
            </a:r>
          </a:p>
        </p:txBody>
      </p:sp>
      <p:sp>
        <p:nvSpPr>
          <p:cNvPr id="3" name="Content Placeholder 2"/>
          <p:cNvSpPr>
            <a:spLocks noGrp="1"/>
          </p:cNvSpPr>
          <p:nvPr>
            <p:ph idx="1"/>
          </p:nvPr>
        </p:nvSpPr>
        <p:spPr/>
        <p:txBody>
          <a:bodyPr/>
          <a:lstStyle/>
          <a:p>
            <a:r>
              <a:rPr lang="en-GB" dirty="0" smtClean="0"/>
              <a:t>Packing Files</a:t>
            </a:r>
            <a:endParaRPr lang="en-GB"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820551"/>
            <a:ext cx="7481478" cy="4200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a:off x="3779912" y="2060848"/>
            <a:ext cx="1296144" cy="1859767"/>
          </a:xfrm>
          <a:prstGeom prst="straightConnector1">
            <a:avLst/>
          </a:prstGeom>
          <a:ln w="381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3752010" y="5157192"/>
            <a:ext cx="1468062" cy="144016"/>
          </a:xfrm>
          <a:prstGeom prst="straightConnector1">
            <a:avLst/>
          </a:prstGeom>
          <a:ln w="38100">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1375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358" y="1916832"/>
            <a:ext cx="5485642" cy="4143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normAutofit/>
          </a:bodyPr>
          <a:lstStyle/>
          <a:p>
            <a:r>
              <a:rPr lang="en-GB" dirty="0"/>
              <a:t>Packing and Obfuscation Techniques</a:t>
            </a:r>
          </a:p>
        </p:txBody>
      </p:sp>
      <p:sp>
        <p:nvSpPr>
          <p:cNvPr id="3" name="Content Placeholder 2"/>
          <p:cNvSpPr>
            <a:spLocks noGrp="1"/>
          </p:cNvSpPr>
          <p:nvPr>
            <p:ph idx="1"/>
          </p:nvPr>
        </p:nvSpPr>
        <p:spPr>
          <a:xfrm>
            <a:off x="179512" y="1196752"/>
            <a:ext cx="4392488" cy="5112568"/>
          </a:xfrm>
        </p:spPr>
        <p:txBody>
          <a:bodyPr/>
          <a:lstStyle/>
          <a:p>
            <a:r>
              <a:rPr lang="en-GB" dirty="0" smtClean="0"/>
              <a:t>Once a program is packed, it must be unpacked  before performing an analysis.</a:t>
            </a:r>
          </a:p>
          <a:p>
            <a:pPr lvl="1"/>
            <a:r>
              <a:rPr lang="en-GB" sz="2400" dirty="0" smtClean="0"/>
              <a:t>Detecting packer: </a:t>
            </a:r>
            <a:r>
              <a:rPr lang="en-GB" sz="2400" dirty="0" err="1" smtClean="0"/>
              <a:t>PEiD</a:t>
            </a:r>
            <a:endParaRPr lang="en-GB" sz="2400" dirty="0" smtClean="0"/>
          </a:p>
          <a:p>
            <a:pPr lvl="1"/>
            <a:r>
              <a:rPr lang="en-GB" sz="2400" dirty="0" smtClean="0"/>
              <a:t>Packing/Unpacking: UPX</a:t>
            </a:r>
          </a:p>
          <a:p>
            <a:pPr lvl="1"/>
            <a:r>
              <a:rPr lang="en-GB" sz="2400" dirty="0" smtClean="0"/>
              <a:t>Examining header: </a:t>
            </a:r>
            <a:r>
              <a:rPr lang="en-GB" sz="2400" dirty="0" err="1" smtClean="0"/>
              <a:t>PEview</a:t>
            </a:r>
            <a:r>
              <a:rPr lang="en-GB" sz="2400" dirty="0" smtClean="0"/>
              <a:t>, Resource Hacker</a:t>
            </a:r>
          </a:p>
          <a:p>
            <a:pPr lvl="2"/>
            <a:endParaRPr lang="en-GB" dirty="0"/>
          </a:p>
          <a:p>
            <a:pPr lvl="2"/>
            <a:endParaRPr lang="en-GB" dirty="0" smtClean="0"/>
          </a:p>
          <a:p>
            <a:pPr lvl="2"/>
            <a:endParaRPr lang="en-GB" dirty="0"/>
          </a:p>
        </p:txBody>
      </p:sp>
    </p:spTree>
    <p:extLst>
      <p:ext uri="{BB962C8B-B14F-4D97-AF65-F5344CB8AC3E}">
        <p14:creationId xmlns:p14="http://schemas.microsoft.com/office/powerpoint/2010/main" val="52547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Unpacking</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3458686"/>
              </p:ext>
            </p:extLst>
          </p:nvPr>
        </p:nvGraphicFramePr>
        <p:xfrm>
          <a:off x="457200" y="1196975"/>
          <a:ext cx="8229600" cy="5111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p:cNvSpPr/>
          <p:nvPr/>
        </p:nvSpPr>
        <p:spPr>
          <a:xfrm>
            <a:off x="1331640" y="4437112"/>
            <a:ext cx="504056" cy="8640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724554" y="5548590"/>
            <a:ext cx="1718227" cy="369332"/>
          </a:xfrm>
          <a:prstGeom prst="rect">
            <a:avLst/>
          </a:prstGeom>
          <a:noFill/>
        </p:spPr>
        <p:txBody>
          <a:bodyPr wrap="none" rtlCol="0">
            <a:spAutoFit/>
          </a:bodyPr>
          <a:lstStyle/>
          <a:p>
            <a:r>
              <a:rPr lang="en-GB" dirty="0" err="1" smtClean="0"/>
              <a:t>OllyDbg</a:t>
            </a:r>
            <a:r>
              <a:rPr lang="en-GB" dirty="0" smtClean="0"/>
              <a:t>/IDA Pro</a:t>
            </a:r>
            <a:endParaRPr lang="en-GB" dirty="0"/>
          </a:p>
        </p:txBody>
      </p:sp>
      <p:sp>
        <p:nvSpPr>
          <p:cNvPr id="7" name="TextBox 6"/>
          <p:cNvSpPr txBox="1"/>
          <p:nvPr/>
        </p:nvSpPr>
        <p:spPr>
          <a:xfrm>
            <a:off x="3563888" y="5548590"/>
            <a:ext cx="2012089" cy="369332"/>
          </a:xfrm>
          <a:prstGeom prst="rect">
            <a:avLst/>
          </a:prstGeom>
          <a:noFill/>
        </p:spPr>
        <p:txBody>
          <a:bodyPr wrap="none" rtlCol="0">
            <a:spAutoFit/>
          </a:bodyPr>
          <a:lstStyle/>
          <a:p>
            <a:r>
              <a:rPr lang="en-GB" dirty="0"/>
              <a:t>Plugin </a:t>
            </a:r>
            <a:r>
              <a:rPr lang="en-GB" dirty="0" err="1"/>
              <a:t>OllyDumpEx</a:t>
            </a:r>
            <a:r>
              <a:rPr lang="en-GB" dirty="0"/>
              <a:t> </a:t>
            </a:r>
          </a:p>
        </p:txBody>
      </p:sp>
      <p:sp>
        <p:nvSpPr>
          <p:cNvPr id="8" name="Up Arrow 7"/>
          <p:cNvSpPr/>
          <p:nvPr/>
        </p:nvSpPr>
        <p:spPr>
          <a:xfrm>
            <a:off x="4317904" y="4492534"/>
            <a:ext cx="504056" cy="8640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Up Arrow 8"/>
          <p:cNvSpPr/>
          <p:nvPr/>
        </p:nvSpPr>
        <p:spPr>
          <a:xfrm>
            <a:off x="7380312" y="4461003"/>
            <a:ext cx="504056" cy="8640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7039613" y="5574729"/>
            <a:ext cx="1185453" cy="369332"/>
          </a:xfrm>
          <a:prstGeom prst="rect">
            <a:avLst/>
          </a:prstGeom>
          <a:noFill/>
        </p:spPr>
        <p:txBody>
          <a:bodyPr wrap="none" rtlCol="0">
            <a:spAutoFit/>
          </a:bodyPr>
          <a:lstStyle/>
          <a:p>
            <a:r>
              <a:rPr lang="en-GB" dirty="0" err="1"/>
              <a:t>ImportREC</a:t>
            </a:r>
            <a:endParaRPr lang="en-GB" dirty="0"/>
          </a:p>
        </p:txBody>
      </p:sp>
    </p:spTree>
    <p:extLst>
      <p:ext uri="{BB962C8B-B14F-4D97-AF65-F5344CB8AC3E}">
        <p14:creationId xmlns:p14="http://schemas.microsoft.com/office/powerpoint/2010/main" val="35013726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Linked Libraries and Functions</a:t>
            </a:r>
            <a:endParaRPr lang="en-GB" dirty="0"/>
          </a:p>
        </p:txBody>
      </p:sp>
      <p:sp>
        <p:nvSpPr>
          <p:cNvPr id="3" name="Content Placeholder 2"/>
          <p:cNvSpPr>
            <a:spLocks noGrp="1"/>
          </p:cNvSpPr>
          <p:nvPr>
            <p:ph idx="1"/>
          </p:nvPr>
        </p:nvSpPr>
        <p:spPr/>
        <p:txBody>
          <a:bodyPr>
            <a:normAutofit lnSpcReduction="10000"/>
          </a:bodyPr>
          <a:lstStyle/>
          <a:p>
            <a:r>
              <a:rPr lang="en-GB" dirty="0" smtClean="0"/>
              <a:t>Code libraries can be linked statically, runtime, or dynamically.</a:t>
            </a:r>
          </a:p>
          <a:p>
            <a:r>
              <a:rPr lang="en-GB" dirty="0" smtClean="0"/>
              <a:t>Knowing how the library code is linked is critical to our understanding of malware because information that we can find in PE file header depends on how the library code has been linked.</a:t>
            </a:r>
          </a:p>
          <a:p>
            <a:pPr lvl="2"/>
            <a:r>
              <a:rPr lang="en-GB" dirty="0" smtClean="0">
                <a:effectLst>
                  <a:outerShdw blurRad="38100" dist="38100" dir="2700000" algn="tl">
                    <a:srgbClr val="000000">
                      <a:alpha val="43137"/>
                    </a:srgbClr>
                  </a:outerShdw>
                </a:effectLst>
              </a:rPr>
              <a:t>Static linking</a:t>
            </a:r>
            <a:r>
              <a:rPr lang="en-GB" dirty="0" smtClean="0"/>
              <a:t>: all code of linked library is copied to the executable.</a:t>
            </a:r>
          </a:p>
          <a:p>
            <a:pPr lvl="2"/>
            <a:r>
              <a:rPr lang="en-GB" dirty="0" smtClean="0">
                <a:effectLst>
                  <a:outerShdw blurRad="38100" dist="38100" dir="2700000" algn="tl">
                    <a:srgbClr val="000000">
                      <a:alpha val="43137"/>
                    </a:srgbClr>
                  </a:outerShdw>
                </a:effectLst>
              </a:rPr>
              <a:t>Dynamic linking</a:t>
            </a:r>
            <a:r>
              <a:rPr lang="en-GB" dirty="0" smtClean="0"/>
              <a:t>:  the host OS searches for the necessary libraries when the program is loaded.</a:t>
            </a:r>
          </a:p>
          <a:p>
            <a:pPr lvl="2"/>
            <a:r>
              <a:rPr lang="en-GB" dirty="0">
                <a:effectLst>
                  <a:outerShdw blurRad="38100" dist="38100" dir="2700000" algn="tl">
                    <a:srgbClr val="000000">
                      <a:alpha val="43137"/>
                    </a:srgbClr>
                  </a:outerShdw>
                </a:effectLst>
              </a:rPr>
              <a:t>Runtime linking</a:t>
            </a:r>
            <a:r>
              <a:rPr lang="en-GB" dirty="0"/>
              <a:t>:  link to the corresponding library when the function needed.</a:t>
            </a:r>
          </a:p>
          <a:p>
            <a:pPr lvl="2"/>
            <a:endParaRPr lang="en-GB" dirty="0" smtClean="0"/>
          </a:p>
          <a:p>
            <a:endParaRPr lang="en-GB" dirty="0"/>
          </a:p>
        </p:txBody>
      </p:sp>
    </p:spTree>
    <p:extLst>
      <p:ext uri="{BB962C8B-B14F-4D97-AF65-F5344CB8AC3E}">
        <p14:creationId xmlns:p14="http://schemas.microsoft.com/office/powerpoint/2010/main" val="28882777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Linked Libraries and Functions</a:t>
            </a:r>
          </a:p>
        </p:txBody>
      </p:sp>
      <p:sp>
        <p:nvSpPr>
          <p:cNvPr id="3" name="Content Placeholder 2"/>
          <p:cNvSpPr>
            <a:spLocks noGrp="1"/>
          </p:cNvSpPr>
          <p:nvPr>
            <p:ph idx="1"/>
          </p:nvPr>
        </p:nvSpPr>
        <p:spPr/>
        <p:txBody>
          <a:bodyPr>
            <a:normAutofit/>
          </a:bodyPr>
          <a:lstStyle/>
          <a:p>
            <a:r>
              <a:rPr lang="en-GB" sz="2400" dirty="0" smtClean="0"/>
              <a:t>Exploring Dynamically Linked Function with Dependency Walker</a:t>
            </a:r>
            <a:endParaRPr lang="en-GB"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124744"/>
            <a:ext cx="9085707" cy="5690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2864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Common DLLs</a:t>
            </a:r>
            <a:endParaRPr lang="en-GB" dirty="0"/>
          </a:p>
        </p:txBody>
      </p:sp>
      <p:sp>
        <p:nvSpPr>
          <p:cNvPr id="3" name="Content Placeholder 2"/>
          <p:cNvSpPr>
            <a:spLocks noGrp="1"/>
          </p:cNvSpPr>
          <p:nvPr>
            <p:ph idx="1"/>
          </p:nvPr>
        </p:nvSpPr>
        <p:spPr/>
        <p:txBody>
          <a:bodyPr/>
          <a:lstStyle/>
          <a:p>
            <a:endParaRPr lang="en-GB"/>
          </a:p>
        </p:txBody>
      </p:sp>
      <p:graphicFrame>
        <p:nvGraphicFramePr>
          <p:cNvPr id="4" name="Table 3"/>
          <p:cNvGraphicFramePr>
            <a:graphicFrameLocks noGrp="1"/>
          </p:cNvGraphicFramePr>
          <p:nvPr>
            <p:extLst>
              <p:ext uri="{D42A27DB-BD31-4B8C-83A1-F6EECF244321}">
                <p14:modId xmlns:p14="http://schemas.microsoft.com/office/powerpoint/2010/main" val="3662150416"/>
              </p:ext>
            </p:extLst>
          </p:nvPr>
        </p:nvGraphicFramePr>
        <p:xfrm>
          <a:off x="251520" y="1124745"/>
          <a:ext cx="8712968" cy="5529651"/>
        </p:xfrm>
        <a:graphic>
          <a:graphicData uri="http://schemas.openxmlformats.org/drawingml/2006/table">
            <a:tbl>
              <a:tblPr/>
              <a:tblGrid>
                <a:gridCol w="2360618"/>
                <a:gridCol w="6352350"/>
              </a:tblGrid>
              <a:tr h="370450">
                <a:tc>
                  <a:txBody>
                    <a:bodyPr/>
                    <a:lstStyle/>
                    <a:p>
                      <a:pPr algn="ctr"/>
                      <a:r>
                        <a:rPr lang="en-GB" sz="1600" b="1" dirty="0" smtClean="0">
                          <a:effectLst>
                            <a:outerShdw blurRad="38100" dist="38100" dir="2700000" algn="tl">
                              <a:srgbClr val="000000">
                                <a:alpha val="43137"/>
                              </a:srgbClr>
                            </a:outerShdw>
                          </a:effectLst>
                        </a:rPr>
                        <a:t>DLL</a:t>
                      </a:r>
                      <a:endParaRPr lang="en-GB" sz="1600" b="1" dirty="0">
                        <a:effectLst>
                          <a:outerShdw blurRad="38100" dist="38100" dir="2700000" algn="tl">
                            <a:srgbClr val="000000">
                              <a:alpha val="43137"/>
                            </a:srgbClr>
                          </a:outerShdw>
                        </a:effectLst>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r>
                        <a:rPr lang="en-GB" sz="1600" b="1" dirty="0" smtClean="0">
                          <a:effectLst>
                            <a:outerShdw blurRad="38100" dist="38100" dir="2700000" algn="tl">
                              <a:srgbClr val="000000">
                                <a:alpha val="43137"/>
                              </a:srgbClr>
                            </a:outerShdw>
                          </a:effectLst>
                        </a:rPr>
                        <a:t>Description</a:t>
                      </a:r>
                      <a:endParaRPr lang="en-GB" sz="1600" b="1" dirty="0">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18828">
                <a:tc>
                  <a:txBody>
                    <a:bodyPr/>
                    <a:lstStyle/>
                    <a:p>
                      <a:r>
                        <a:rPr lang="en-GB" sz="1600" i="1" dirty="0" smtClean="0"/>
                        <a:t>Kernel32.dll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err="1" smtClean="0"/>
                        <a:t>Chứa</a:t>
                      </a:r>
                      <a:r>
                        <a:rPr lang="en-GB" sz="1600" baseline="0" dirty="0" smtClean="0"/>
                        <a:t> </a:t>
                      </a:r>
                      <a:r>
                        <a:rPr lang="en-GB" sz="1600" baseline="0" dirty="0" err="1" smtClean="0"/>
                        <a:t>các</a:t>
                      </a:r>
                      <a:r>
                        <a:rPr lang="en-GB" sz="1600" baseline="0" dirty="0" smtClean="0"/>
                        <a:t> </a:t>
                      </a:r>
                      <a:r>
                        <a:rPr lang="en-GB" sz="1600" baseline="0" dirty="0" err="1" smtClean="0"/>
                        <a:t>hàm</a:t>
                      </a:r>
                      <a:r>
                        <a:rPr lang="en-GB" sz="1600" baseline="0" dirty="0" smtClean="0"/>
                        <a:t>/</a:t>
                      </a:r>
                      <a:r>
                        <a:rPr lang="en-GB" sz="1600" baseline="0" dirty="0" err="1" smtClean="0"/>
                        <a:t>chức</a:t>
                      </a:r>
                      <a:r>
                        <a:rPr lang="en-GB" sz="1600" baseline="0" dirty="0" smtClean="0"/>
                        <a:t> </a:t>
                      </a:r>
                      <a:r>
                        <a:rPr lang="en-GB" sz="1600" baseline="0" dirty="0" err="1" smtClean="0"/>
                        <a:t>năng</a:t>
                      </a:r>
                      <a:r>
                        <a:rPr lang="en-GB" sz="1600" baseline="0" dirty="0" smtClean="0"/>
                        <a:t> </a:t>
                      </a:r>
                      <a:r>
                        <a:rPr lang="en-GB" sz="1600" baseline="0" dirty="0" err="1" smtClean="0"/>
                        <a:t>là</a:t>
                      </a:r>
                      <a:r>
                        <a:rPr lang="en-GB" sz="1600" baseline="0" dirty="0" smtClean="0"/>
                        <a:t> </a:t>
                      </a:r>
                      <a:r>
                        <a:rPr lang="en-GB" sz="1600" baseline="0" dirty="0" err="1" smtClean="0"/>
                        <a:t>nhân</a:t>
                      </a:r>
                      <a:r>
                        <a:rPr lang="en-GB" sz="1600" baseline="0" dirty="0" smtClean="0"/>
                        <a:t> </a:t>
                      </a:r>
                      <a:r>
                        <a:rPr lang="en-GB" sz="1600" baseline="0" dirty="0" err="1" smtClean="0"/>
                        <a:t>của</a:t>
                      </a:r>
                      <a:r>
                        <a:rPr lang="en-GB" sz="1600" baseline="0" dirty="0" smtClean="0"/>
                        <a:t> HĐH </a:t>
                      </a:r>
                      <a:r>
                        <a:rPr lang="en-GB" sz="1600" baseline="0" dirty="0" err="1" smtClean="0"/>
                        <a:t>như</a:t>
                      </a:r>
                      <a:r>
                        <a:rPr lang="en-GB" sz="1600" baseline="0" dirty="0" smtClean="0"/>
                        <a:t> </a:t>
                      </a:r>
                      <a:r>
                        <a:rPr lang="en-GB" sz="1600" baseline="0" dirty="0" err="1" smtClean="0"/>
                        <a:t>truy</a:t>
                      </a:r>
                      <a:r>
                        <a:rPr lang="en-GB" sz="1600" baseline="0" dirty="0" smtClean="0"/>
                        <a:t> </a:t>
                      </a:r>
                      <a:r>
                        <a:rPr lang="en-GB" sz="1600" baseline="0" dirty="0" err="1" smtClean="0"/>
                        <a:t>cập</a:t>
                      </a:r>
                      <a:r>
                        <a:rPr lang="en-GB" sz="1600" baseline="0" dirty="0" smtClean="0"/>
                        <a:t> </a:t>
                      </a:r>
                      <a:r>
                        <a:rPr lang="en-GB" sz="1600" baseline="0" dirty="0" err="1" smtClean="0"/>
                        <a:t>và</a:t>
                      </a:r>
                      <a:r>
                        <a:rPr lang="en-GB" sz="1600" baseline="0" dirty="0" smtClean="0"/>
                        <a:t> </a:t>
                      </a:r>
                      <a:r>
                        <a:rPr lang="en-GB" sz="1600" baseline="0" dirty="0" err="1" smtClean="0"/>
                        <a:t>thao</a:t>
                      </a:r>
                      <a:r>
                        <a:rPr lang="en-GB" sz="1600" baseline="0" dirty="0" smtClean="0"/>
                        <a:t> </a:t>
                      </a:r>
                      <a:r>
                        <a:rPr lang="en-GB" sz="1600" baseline="0" dirty="0" err="1" smtClean="0"/>
                        <a:t>tác</a:t>
                      </a:r>
                      <a:r>
                        <a:rPr lang="en-GB" sz="1600" baseline="0" dirty="0" smtClean="0"/>
                        <a:t> </a:t>
                      </a:r>
                      <a:r>
                        <a:rPr lang="en-GB" sz="1600" baseline="0" dirty="0" err="1" smtClean="0"/>
                        <a:t>với</a:t>
                      </a:r>
                      <a:r>
                        <a:rPr lang="en-GB" sz="1600" baseline="0" dirty="0" smtClean="0"/>
                        <a:t> </a:t>
                      </a:r>
                      <a:r>
                        <a:rPr lang="en-GB" sz="1600" baseline="0" dirty="0" err="1" smtClean="0"/>
                        <a:t>bộ</a:t>
                      </a:r>
                      <a:r>
                        <a:rPr lang="en-GB" sz="1600" baseline="0" dirty="0" smtClean="0"/>
                        <a:t> </a:t>
                      </a:r>
                      <a:r>
                        <a:rPr lang="en-GB" sz="1600" baseline="0" dirty="0" err="1" smtClean="0"/>
                        <a:t>nhớ</a:t>
                      </a:r>
                      <a:r>
                        <a:rPr lang="en-GB" sz="1600" baseline="0" dirty="0" smtClean="0"/>
                        <a:t>, file </a:t>
                      </a:r>
                      <a:r>
                        <a:rPr lang="en-GB" sz="1600" baseline="0" dirty="0" err="1" smtClean="0"/>
                        <a:t>và</a:t>
                      </a:r>
                      <a:r>
                        <a:rPr lang="en-GB" sz="1600" baseline="0" dirty="0" smtClean="0"/>
                        <a:t> </a:t>
                      </a:r>
                      <a:r>
                        <a:rPr lang="en-GB" sz="1600" baseline="0" dirty="0" err="1" smtClean="0"/>
                        <a:t>phần</a:t>
                      </a:r>
                      <a:r>
                        <a:rPr lang="en-GB" sz="1600" baseline="0" dirty="0" smtClean="0"/>
                        <a:t> </a:t>
                      </a:r>
                      <a:r>
                        <a:rPr lang="en-GB" sz="1600" baseline="0" dirty="0" err="1" smtClean="0"/>
                        <a:t>cứng</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18828">
                <a:tc>
                  <a:txBody>
                    <a:bodyPr/>
                    <a:lstStyle/>
                    <a:p>
                      <a:r>
                        <a:rPr lang="en-GB" sz="1600" i="1" dirty="0" smtClean="0"/>
                        <a:t>Advapi32.dll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err="1" smtClean="0"/>
                        <a:t>Cung</a:t>
                      </a:r>
                      <a:r>
                        <a:rPr lang="en-GB" sz="1600" dirty="0" smtClean="0"/>
                        <a:t> </a:t>
                      </a:r>
                      <a:r>
                        <a:rPr lang="en-GB" sz="1600" dirty="0" err="1" smtClean="0"/>
                        <a:t>cấp</a:t>
                      </a:r>
                      <a:r>
                        <a:rPr lang="en-GB" sz="1600" baseline="0" dirty="0" smtClean="0"/>
                        <a:t> </a:t>
                      </a:r>
                      <a:r>
                        <a:rPr lang="en-GB" sz="1600" baseline="0" dirty="0" err="1" smtClean="0"/>
                        <a:t>chức</a:t>
                      </a:r>
                      <a:r>
                        <a:rPr lang="en-GB" sz="1600" baseline="0" dirty="0" smtClean="0"/>
                        <a:t> </a:t>
                      </a:r>
                      <a:r>
                        <a:rPr lang="en-GB" sz="1600" baseline="0" dirty="0" err="1" smtClean="0"/>
                        <a:t>năng</a:t>
                      </a:r>
                      <a:r>
                        <a:rPr lang="en-GB" sz="1600" baseline="0" dirty="0" smtClean="0"/>
                        <a:t> </a:t>
                      </a:r>
                      <a:r>
                        <a:rPr lang="en-GB" sz="1600" baseline="0" dirty="0" err="1" smtClean="0"/>
                        <a:t>truy</a:t>
                      </a:r>
                      <a:r>
                        <a:rPr lang="en-GB" sz="1600" baseline="0" dirty="0" smtClean="0"/>
                        <a:t> </a:t>
                      </a:r>
                      <a:r>
                        <a:rPr lang="en-GB" sz="1600" baseline="0" dirty="0" err="1" smtClean="0"/>
                        <a:t>cập</a:t>
                      </a:r>
                      <a:r>
                        <a:rPr lang="en-GB" sz="1600" baseline="0" dirty="0" smtClean="0"/>
                        <a:t> </a:t>
                      </a:r>
                      <a:r>
                        <a:rPr lang="en-GB" sz="1600" baseline="0" dirty="0" err="1" smtClean="0"/>
                        <a:t>đến</a:t>
                      </a:r>
                      <a:r>
                        <a:rPr lang="en-GB" sz="1600" baseline="0" dirty="0" smtClean="0"/>
                        <a:t> </a:t>
                      </a:r>
                      <a:r>
                        <a:rPr lang="en-GB" sz="1600" baseline="0" dirty="0" err="1" smtClean="0"/>
                        <a:t>nhân</a:t>
                      </a:r>
                      <a:r>
                        <a:rPr lang="en-GB" sz="1600" baseline="0" dirty="0" smtClean="0"/>
                        <a:t> </a:t>
                      </a:r>
                      <a:r>
                        <a:rPr lang="en-GB" sz="1600" baseline="0" dirty="0" err="1" smtClean="0"/>
                        <a:t>của</a:t>
                      </a:r>
                      <a:r>
                        <a:rPr lang="en-GB" sz="1600" baseline="0" dirty="0" smtClean="0"/>
                        <a:t> HĐH (</a:t>
                      </a:r>
                      <a:r>
                        <a:rPr lang="en-GB" sz="1600" baseline="0" dirty="0" err="1" smtClean="0"/>
                        <a:t>nâng</a:t>
                      </a:r>
                      <a:r>
                        <a:rPr lang="en-GB" sz="1600" baseline="0" dirty="0" smtClean="0"/>
                        <a:t> </a:t>
                      </a:r>
                      <a:r>
                        <a:rPr lang="en-GB" sz="1600" baseline="0" dirty="0" err="1" smtClean="0"/>
                        <a:t>cao</a:t>
                      </a:r>
                      <a:r>
                        <a:rPr lang="en-GB" sz="1600" baseline="0" dirty="0" smtClean="0"/>
                        <a:t>) </a:t>
                      </a:r>
                      <a:r>
                        <a:rPr lang="en-GB" sz="1600" baseline="0" dirty="0" err="1" smtClean="0"/>
                        <a:t>như</a:t>
                      </a:r>
                      <a:r>
                        <a:rPr lang="en-GB" sz="1600" baseline="0" dirty="0" smtClean="0"/>
                        <a:t> </a:t>
                      </a:r>
                      <a:r>
                        <a:rPr lang="en-GB" sz="1600" baseline="0" dirty="0" err="1" smtClean="0"/>
                        <a:t>quản</a:t>
                      </a:r>
                      <a:r>
                        <a:rPr lang="en-GB" sz="1600" baseline="0" dirty="0" smtClean="0"/>
                        <a:t> </a:t>
                      </a:r>
                      <a:r>
                        <a:rPr lang="en-GB" sz="1600" baseline="0" dirty="0" err="1" smtClean="0"/>
                        <a:t>lý</a:t>
                      </a:r>
                      <a:r>
                        <a:rPr lang="en-GB" sz="1600" baseline="0" dirty="0" smtClean="0"/>
                        <a:t> </a:t>
                      </a:r>
                      <a:r>
                        <a:rPr lang="en-GB" sz="1600" baseline="0" dirty="0" err="1" smtClean="0"/>
                        <a:t>dịch</a:t>
                      </a:r>
                      <a:r>
                        <a:rPr lang="en-GB" sz="1600" baseline="0" dirty="0" smtClean="0"/>
                        <a:t> </a:t>
                      </a:r>
                      <a:r>
                        <a:rPr lang="en-GB" sz="1600" baseline="0" dirty="0" err="1" smtClean="0"/>
                        <a:t>vụ</a:t>
                      </a:r>
                      <a:r>
                        <a:rPr lang="en-GB" sz="1600" baseline="0" dirty="0" smtClean="0"/>
                        <a:t> </a:t>
                      </a:r>
                      <a:r>
                        <a:rPr lang="en-GB" sz="1600" baseline="0" dirty="0" err="1" smtClean="0"/>
                        <a:t>và</a:t>
                      </a:r>
                      <a:r>
                        <a:rPr lang="en-GB" sz="1600" baseline="0" dirty="0" smtClean="0"/>
                        <a:t> </a:t>
                      </a:r>
                      <a:r>
                        <a:rPr lang="en-GB" sz="1600" baseline="0" dirty="0" err="1" smtClean="0"/>
                        <a:t>thanh</a:t>
                      </a:r>
                      <a:r>
                        <a:rPr lang="en-GB" sz="1600" baseline="0" dirty="0" smtClean="0"/>
                        <a:t> </a:t>
                      </a:r>
                      <a:r>
                        <a:rPr lang="en-GB" sz="1600" baseline="0" dirty="0" err="1" smtClean="0"/>
                        <a:t>ghi</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18828">
                <a:tc>
                  <a:txBody>
                    <a:bodyPr/>
                    <a:lstStyle/>
                    <a:p>
                      <a:r>
                        <a:rPr lang="en-GB" sz="1600" i="1" dirty="0" smtClean="0"/>
                        <a:t>User32.dll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err="1" smtClean="0"/>
                        <a:t>Chứa</a:t>
                      </a:r>
                      <a:r>
                        <a:rPr lang="en-GB" sz="1600" baseline="0" dirty="0" smtClean="0"/>
                        <a:t> </a:t>
                      </a:r>
                      <a:r>
                        <a:rPr lang="en-GB" sz="1600" baseline="0" dirty="0" err="1" smtClean="0"/>
                        <a:t>các</a:t>
                      </a:r>
                      <a:r>
                        <a:rPr lang="en-GB" sz="1600" baseline="0" dirty="0" smtClean="0"/>
                        <a:t> </a:t>
                      </a:r>
                      <a:r>
                        <a:rPr lang="en-GB" sz="1600" baseline="0" dirty="0" err="1" smtClean="0"/>
                        <a:t>giao</a:t>
                      </a:r>
                      <a:r>
                        <a:rPr lang="en-GB" sz="1600" baseline="0" dirty="0" smtClean="0"/>
                        <a:t> </a:t>
                      </a:r>
                      <a:r>
                        <a:rPr lang="en-GB" sz="1600" baseline="0" dirty="0" err="1" smtClean="0"/>
                        <a:t>diện</a:t>
                      </a:r>
                      <a:r>
                        <a:rPr lang="en-GB" sz="1600" baseline="0" dirty="0" smtClean="0"/>
                        <a:t> </a:t>
                      </a:r>
                      <a:r>
                        <a:rPr lang="en-GB" sz="1600" baseline="0" dirty="0" err="1" smtClean="0"/>
                        <a:t>người</a:t>
                      </a:r>
                      <a:r>
                        <a:rPr lang="en-GB" sz="1600" baseline="0" dirty="0" smtClean="0"/>
                        <a:t> </a:t>
                      </a:r>
                      <a:r>
                        <a:rPr lang="en-GB" sz="1600" baseline="0" dirty="0" err="1" smtClean="0"/>
                        <a:t>dùng</a:t>
                      </a:r>
                      <a:r>
                        <a:rPr lang="en-GB" sz="1600" baseline="0" dirty="0" smtClean="0"/>
                        <a:t> </a:t>
                      </a:r>
                      <a:r>
                        <a:rPr lang="en-GB" sz="1600" baseline="0" dirty="0" err="1" smtClean="0"/>
                        <a:t>như</a:t>
                      </a:r>
                      <a:r>
                        <a:rPr lang="en-GB" sz="1600" baseline="0" dirty="0" smtClean="0"/>
                        <a:t> button, </a:t>
                      </a:r>
                      <a:r>
                        <a:rPr lang="en-GB" sz="1600" baseline="0" dirty="0" err="1" smtClean="0"/>
                        <a:t>thanh</a:t>
                      </a:r>
                      <a:r>
                        <a:rPr lang="en-GB" sz="1600" baseline="0" dirty="0" smtClean="0"/>
                        <a:t> </a:t>
                      </a:r>
                      <a:r>
                        <a:rPr lang="en-GB" sz="1600" baseline="0" dirty="0" err="1" smtClean="0"/>
                        <a:t>cuộn</a:t>
                      </a:r>
                      <a:r>
                        <a:rPr lang="en-GB" sz="1600" baseline="0" dirty="0" smtClean="0"/>
                        <a:t>, </a:t>
                      </a:r>
                      <a:r>
                        <a:rPr lang="en-GB" sz="1600" baseline="0" dirty="0" err="1" smtClean="0"/>
                        <a:t>các</a:t>
                      </a:r>
                      <a:r>
                        <a:rPr lang="en-GB" sz="1600" baseline="0" dirty="0" smtClean="0"/>
                        <a:t> </a:t>
                      </a:r>
                      <a:r>
                        <a:rPr lang="en-GB" sz="1600" baseline="0" dirty="0" err="1" smtClean="0"/>
                        <a:t>tương</a:t>
                      </a:r>
                      <a:r>
                        <a:rPr lang="en-GB" sz="1600" baseline="0" dirty="0" smtClean="0"/>
                        <a:t> </a:t>
                      </a:r>
                      <a:r>
                        <a:rPr lang="en-GB" sz="1600" baseline="0" dirty="0" err="1" smtClean="0"/>
                        <a:t>tác</a:t>
                      </a:r>
                      <a:r>
                        <a:rPr lang="en-GB" sz="1600" baseline="0" dirty="0" smtClean="0"/>
                        <a:t> </a:t>
                      </a:r>
                      <a:r>
                        <a:rPr lang="en-GB" sz="1600" baseline="0" dirty="0" err="1" smtClean="0"/>
                        <a:t>với</a:t>
                      </a:r>
                      <a:r>
                        <a:rPr lang="en-GB" sz="1600" baseline="0" dirty="0" smtClean="0"/>
                        <a:t> </a:t>
                      </a:r>
                      <a:r>
                        <a:rPr lang="en-GB" sz="1600" baseline="0" dirty="0" err="1" smtClean="0"/>
                        <a:t>người</a:t>
                      </a:r>
                      <a:r>
                        <a:rPr lang="en-GB" sz="1600" baseline="0" dirty="0" smtClean="0"/>
                        <a:t> </a:t>
                      </a:r>
                      <a:r>
                        <a:rPr lang="en-GB" sz="1600" baseline="0" dirty="0" err="1" smtClean="0"/>
                        <a:t>dùng</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4195">
                <a:tc>
                  <a:txBody>
                    <a:bodyPr/>
                    <a:lstStyle/>
                    <a:p>
                      <a:r>
                        <a:rPr lang="en-GB" sz="1600" i="1" dirty="0" smtClean="0"/>
                        <a:t>Gdi32.dll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err="1" smtClean="0"/>
                        <a:t>Chứa</a:t>
                      </a:r>
                      <a:r>
                        <a:rPr lang="en-GB" sz="1600" baseline="0" dirty="0" smtClean="0"/>
                        <a:t> </a:t>
                      </a:r>
                      <a:r>
                        <a:rPr lang="en-GB" sz="1600" baseline="0" dirty="0" err="1" smtClean="0"/>
                        <a:t>các</a:t>
                      </a:r>
                      <a:r>
                        <a:rPr lang="en-GB" sz="1600" baseline="0" dirty="0" smtClean="0"/>
                        <a:t> </a:t>
                      </a:r>
                      <a:r>
                        <a:rPr lang="en-GB" sz="1600" baseline="0" dirty="0" err="1" smtClean="0"/>
                        <a:t>hàm</a:t>
                      </a:r>
                      <a:r>
                        <a:rPr lang="en-GB" sz="1600" baseline="0" dirty="0" smtClean="0"/>
                        <a:t> </a:t>
                      </a:r>
                      <a:r>
                        <a:rPr lang="en-GB" sz="1600" baseline="0" dirty="0" err="1" smtClean="0"/>
                        <a:t>hiển</a:t>
                      </a:r>
                      <a:r>
                        <a:rPr lang="en-GB" sz="1600" baseline="0" dirty="0" smtClean="0"/>
                        <a:t> </a:t>
                      </a:r>
                      <a:r>
                        <a:rPr lang="en-GB" sz="1600" baseline="0" dirty="0" err="1" smtClean="0"/>
                        <a:t>thị</a:t>
                      </a:r>
                      <a:r>
                        <a:rPr lang="en-GB" sz="1600" baseline="0" dirty="0" smtClean="0"/>
                        <a:t> </a:t>
                      </a:r>
                      <a:r>
                        <a:rPr lang="en-GB" sz="1600" baseline="0" dirty="0" err="1" smtClean="0"/>
                        <a:t>và</a:t>
                      </a:r>
                      <a:r>
                        <a:rPr lang="en-GB" sz="1600" baseline="0" dirty="0" smtClean="0"/>
                        <a:t> </a:t>
                      </a:r>
                      <a:r>
                        <a:rPr lang="en-GB" sz="1600" baseline="0" dirty="0" err="1" smtClean="0"/>
                        <a:t>xử</a:t>
                      </a:r>
                      <a:r>
                        <a:rPr lang="en-GB" sz="1600" baseline="0" dirty="0" smtClean="0"/>
                        <a:t> </a:t>
                      </a:r>
                      <a:r>
                        <a:rPr lang="en-GB" sz="1600" baseline="0" dirty="0" err="1" smtClean="0"/>
                        <a:t>lý</a:t>
                      </a:r>
                      <a:r>
                        <a:rPr lang="en-GB" sz="1600" baseline="0" dirty="0" smtClean="0"/>
                        <a:t> </a:t>
                      </a:r>
                      <a:r>
                        <a:rPr lang="en-GB" sz="1600" baseline="0" dirty="0" err="1" smtClean="0"/>
                        <a:t>đồ</a:t>
                      </a:r>
                      <a:r>
                        <a:rPr lang="en-GB" sz="1600" baseline="0" dirty="0" smtClean="0"/>
                        <a:t> </a:t>
                      </a:r>
                      <a:r>
                        <a:rPr lang="en-GB" sz="1600" baseline="0" dirty="0" err="1" smtClean="0"/>
                        <a:t>họa</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46734">
                <a:tc>
                  <a:txBody>
                    <a:bodyPr/>
                    <a:lstStyle/>
                    <a:p>
                      <a:r>
                        <a:rPr lang="en-GB" sz="1600" i="1" dirty="0" smtClean="0"/>
                        <a:t>Ntdll.dll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smtClean="0"/>
                        <a:t>DLL</a:t>
                      </a:r>
                      <a:r>
                        <a:rPr lang="en-GB" sz="1600" baseline="0" dirty="0" smtClean="0"/>
                        <a:t> </a:t>
                      </a:r>
                      <a:r>
                        <a:rPr lang="en-GB" sz="1600" baseline="0" dirty="0" err="1" smtClean="0"/>
                        <a:t>này</a:t>
                      </a:r>
                      <a:r>
                        <a:rPr lang="en-GB" sz="1600" baseline="0" dirty="0" smtClean="0"/>
                        <a:t> </a:t>
                      </a:r>
                      <a:r>
                        <a:rPr lang="en-GB" sz="1600" baseline="0" dirty="0" err="1" smtClean="0"/>
                        <a:t>cho</a:t>
                      </a:r>
                      <a:r>
                        <a:rPr lang="en-GB" sz="1600" baseline="0" dirty="0" smtClean="0"/>
                        <a:t> </a:t>
                      </a:r>
                      <a:r>
                        <a:rPr lang="en-GB" sz="1600" baseline="0" dirty="0" err="1" smtClean="0"/>
                        <a:t>phép</a:t>
                      </a:r>
                      <a:r>
                        <a:rPr lang="en-GB" sz="1600" baseline="0" dirty="0" smtClean="0"/>
                        <a:t> </a:t>
                      </a:r>
                      <a:r>
                        <a:rPr lang="en-GB" sz="1600" baseline="0" dirty="0" err="1" smtClean="0"/>
                        <a:t>giao</a:t>
                      </a:r>
                      <a:r>
                        <a:rPr lang="en-GB" sz="1600" baseline="0" dirty="0" smtClean="0"/>
                        <a:t> </a:t>
                      </a:r>
                      <a:r>
                        <a:rPr lang="en-GB" sz="1600" baseline="0" dirty="0" err="1" smtClean="0"/>
                        <a:t>tiếp</a:t>
                      </a:r>
                      <a:r>
                        <a:rPr lang="en-GB" sz="1600" baseline="0" dirty="0" smtClean="0"/>
                        <a:t> </a:t>
                      </a:r>
                      <a:r>
                        <a:rPr lang="en-GB" sz="1600" baseline="0" dirty="0" err="1" smtClean="0"/>
                        <a:t>với</a:t>
                      </a:r>
                      <a:r>
                        <a:rPr lang="en-GB" sz="1600" baseline="0" dirty="0" smtClean="0"/>
                        <a:t> </a:t>
                      </a:r>
                      <a:r>
                        <a:rPr lang="en-GB" sz="1600" baseline="0" dirty="0" err="1" smtClean="0"/>
                        <a:t>nhân</a:t>
                      </a:r>
                      <a:r>
                        <a:rPr lang="en-GB" sz="1600" baseline="0" dirty="0" smtClean="0"/>
                        <a:t> </a:t>
                      </a:r>
                      <a:r>
                        <a:rPr lang="en-GB" sz="1600" baseline="0" dirty="0" err="1" smtClean="0"/>
                        <a:t>của</a:t>
                      </a:r>
                      <a:r>
                        <a:rPr lang="en-GB" sz="1600" baseline="0" dirty="0" smtClean="0"/>
                        <a:t> HĐH.  </a:t>
                      </a:r>
                      <a:r>
                        <a:rPr lang="en-GB" sz="1600" baseline="0" dirty="0" err="1" smtClean="0"/>
                        <a:t>Thường</a:t>
                      </a:r>
                      <a:r>
                        <a:rPr lang="en-GB" sz="1600" baseline="0" dirty="0" smtClean="0"/>
                        <a:t> </a:t>
                      </a:r>
                      <a:r>
                        <a:rPr lang="en-GB" sz="1600" baseline="0" dirty="0" err="1" smtClean="0"/>
                        <a:t>các</a:t>
                      </a:r>
                      <a:r>
                        <a:rPr lang="en-GB" sz="1600" baseline="0" dirty="0" smtClean="0"/>
                        <a:t> file </a:t>
                      </a:r>
                      <a:r>
                        <a:rPr lang="en-GB" sz="1600" baseline="0" dirty="0" err="1" smtClean="0"/>
                        <a:t>thực</a:t>
                      </a:r>
                      <a:r>
                        <a:rPr lang="en-GB" sz="1600" baseline="0" dirty="0" smtClean="0"/>
                        <a:t> </a:t>
                      </a:r>
                      <a:r>
                        <a:rPr lang="en-GB" sz="1600" baseline="0" dirty="0" err="1" smtClean="0"/>
                        <a:t>thi</a:t>
                      </a:r>
                      <a:r>
                        <a:rPr lang="en-GB" sz="1600" baseline="0" dirty="0" smtClean="0"/>
                        <a:t> </a:t>
                      </a:r>
                      <a:r>
                        <a:rPr lang="en-GB" sz="1600" baseline="0" dirty="0" err="1" smtClean="0"/>
                        <a:t>không</a:t>
                      </a:r>
                      <a:r>
                        <a:rPr lang="en-GB" sz="1600" baseline="0" dirty="0" smtClean="0"/>
                        <a:t> import </a:t>
                      </a:r>
                      <a:r>
                        <a:rPr lang="en-GB" sz="1600" baseline="0" dirty="0" err="1" smtClean="0"/>
                        <a:t>trực</a:t>
                      </a:r>
                      <a:r>
                        <a:rPr lang="en-GB" sz="1600" baseline="0" dirty="0" smtClean="0"/>
                        <a:t> </a:t>
                      </a:r>
                      <a:r>
                        <a:rPr lang="en-GB" sz="1600" baseline="0" dirty="0" err="1" smtClean="0"/>
                        <a:t>tiếp</a:t>
                      </a:r>
                      <a:r>
                        <a:rPr lang="en-GB" sz="1600" baseline="0" dirty="0" smtClean="0"/>
                        <a:t> </a:t>
                      </a:r>
                      <a:r>
                        <a:rPr lang="en-GB" sz="1600" baseline="0" dirty="0" err="1" smtClean="0"/>
                        <a:t>thư</a:t>
                      </a:r>
                      <a:r>
                        <a:rPr lang="en-GB" sz="1600" baseline="0" dirty="0" smtClean="0"/>
                        <a:t> </a:t>
                      </a:r>
                      <a:r>
                        <a:rPr lang="en-GB" sz="1600" baseline="0" dirty="0" err="1" smtClean="0"/>
                        <a:t>viện</a:t>
                      </a:r>
                      <a:r>
                        <a:rPr lang="en-GB" sz="1600" baseline="0" dirty="0" smtClean="0"/>
                        <a:t> </a:t>
                      </a:r>
                      <a:r>
                        <a:rPr lang="en-GB" sz="1600" baseline="0" dirty="0" err="1" smtClean="0"/>
                        <a:t>này</a:t>
                      </a:r>
                      <a:r>
                        <a:rPr lang="en-GB" sz="1600" baseline="0" dirty="0" smtClean="0"/>
                        <a:t> </a:t>
                      </a:r>
                      <a:r>
                        <a:rPr lang="en-GB" sz="1600" baseline="0" dirty="0" err="1" smtClean="0"/>
                        <a:t>mà</a:t>
                      </a:r>
                      <a:r>
                        <a:rPr lang="en-GB" sz="1600" baseline="0" dirty="0" smtClean="0"/>
                        <a:t> </a:t>
                      </a:r>
                      <a:r>
                        <a:rPr lang="en-GB" sz="1600" baseline="0" dirty="0" err="1" smtClean="0"/>
                        <a:t>thực</a:t>
                      </a:r>
                      <a:r>
                        <a:rPr lang="en-GB" sz="1600" baseline="0" dirty="0" smtClean="0"/>
                        <a:t> </a:t>
                      </a:r>
                      <a:r>
                        <a:rPr lang="en-GB" sz="1600" baseline="0" dirty="0" err="1" smtClean="0"/>
                        <a:t>hiện</a:t>
                      </a:r>
                      <a:r>
                        <a:rPr lang="en-GB" sz="1600" baseline="0" dirty="0" smtClean="0"/>
                        <a:t> </a:t>
                      </a:r>
                      <a:r>
                        <a:rPr lang="en-GB" sz="1600" baseline="0" dirty="0" err="1" smtClean="0"/>
                        <a:t>gián</a:t>
                      </a:r>
                      <a:r>
                        <a:rPr lang="en-GB" sz="1600" baseline="0" dirty="0" smtClean="0"/>
                        <a:t> </a:t>
                      </a:r>
                      <a:r>
                        <a:rPr lang="en-GB" sz="1600" baseline="0" dirty="0" err="1" smtClean="0"/>
                        <a:t>tiếp</a:t>
                      </a:r>
                      <a:r>
                        <a:rPr lang="en-GB" sz="1600" baseline="0" dirty="0" smtClean="0"/>
                        <a:t> </a:t>
                      </a:r>
                      <a:r>
                        <a:rPr lang="en-GB" sz="1600" baseline="0" dirty="0" err="1" smtClean="0"/>
                        <a:t>thông</a:t>
                      </a:r>
                      <a:r>
                        <a:rPr lang="en-GB" sz="1600" baseline="0" dirty="0" smtClean="0"/>
                        <a:t> qua </a:t>
                      </a:r>
                      <a:r>
                        <a:rPr lang="en-GB" sz="1600" i="1" baseline="0" dirty="0" smtClean="0"/>
                        <a:t>Kernell32.dll</a:t>
                      </a:r>
                      <a:r>
                        <a:rPr lang="en-GB" sz="1600" baseline="0" dirty="0" smtClean="0"/>
                        <a:t>.</a:t>
                      </a:r>
                    </a:p>
                    <a:p>
                      <a:r>
                        <a:rPr lang="en-GB" sz="1600" baseline="0" dirty="0" err="1" smtClean="0"/>
                        <a:t>Nếu</a:t>
                      </a:r>
                      <a:r>
                        <a:rPr lang="en-GB" sz="1600" baseline="0" dirty="0" smtClean="0"/>
                        <a:t> </a:t>
                      </a:r>
                      <a:r>
                        <a:rPr lang="en-GB" sz="1600" baseline="0" dirty="0" err="1" smtClean="0"/>
                        <a:t>một</a:t>
                      </a:r>
                      <a:r>
                        <a:rPr lang="en-GB" sz="1600" baseline="0" dirty="0" smtClean="0"/>
                        <a:t> </a:t>
                      </a:r>
                      <a:r>
                        <a:rPr lang="en-GB" sz="1600" baseline="0" dirty="0" err="1" smtClean="0"/>
                        <a:t>c.trình</a:t>
                      </a:r>
                      <a:r>
                        <a:rPr lang="en-GB" sz="1600" baseline="0" dirty="0" smtClean="0"/>
                        <a:t> import DLL </a:t>
                      </a:r>
                      <a:r>
                        <a:rPr lang="en-GB" sz="1600" baseline="0" dirty="0" err="1" smtClean="0"/>
                        <a:t>này</a:t>
                      </a:r>
                      <a:r>
                        <a:rPr lang="en-GB" sz="1600" baseline="0" dirty="0" smtClean="0"/>
                        <a:t> </a:t>
                      </a:r>
                      <a:r>
                        <a:rPr lang="en-GB" sz="1600" baseline="0" dirty="0" err="1" smtClean="0"/>
                        <a:t>thì</a:t>
                      </a:r>
                      <a:r>
                        <a:rPr lang="en-GB" sz="1600" baseline="0" dirty="0" smtClean="0"/>
                        <a:t> </a:t>
                      </a:r>
                      <a:r>
                        <a:rPr lang="en-GB" sz="1600" baseline="0" dirty="0" err="1" smtClean="0"/>
                        <a:t>c.trình</a:t>
                      </a:r>
                      <a:r>
                        <a:rPr lang="en-GB" sz="1600" baseline="0" dirty="0" smtClean="0"/>
                        <a:t> </a:t>
                      </a:r>
                      <a:r>
                        <a:rPr lang="en-GB" sz="1600" baseline="0" dirty="0" err="1" smtClean="0"/>
                        <a:t>đó</a:t>
                      </a:r>
                      <a:r>
                        <a:rPr lang="en-GB" sz="1600" baseline="0" dirty="0" smtClean="0"/>
                        <a:t> </a:t>
                      </a:r>
                      <a:r>
                        <a:rPr lang="en-GB" sz="1600" baseline="0" dirty="0" err="1" smtClean="0"/>
                        <a:t>muốn</a:t>
                      </a:r>
                      <a:r>
                        <a:rPr lang="en-GB" sz="1600" baseline="0" dirty="0" smtClean="0"/>
                        <a:t> </a:t>
                      </a:r>
                      <a:r>
                        <a:rPr lang="en-GB" sz="1600" baseline="0" dirty="0" err="1" smtClean="0"/>
                        <a:t>sử</a:t>
                      </a:r>
                      <a:r>
                        <a:rPr lang="en-GB" sz="1600" baseline="0" dirty="0" smtClean="0"/>
                        <a:t> </a:t>
                      </a:r>
                      <a:r>
                        <a:rPr lang="en-GB" sz="1600" baseline="0" dirty="0" err="1" smtClean="0"/>
                        <a:t>dụng</a:t>
                      </a:r>
                      <a:r>
                        <a:rPr lang="en-GB" sz="1600" baseline="0" dirty="0" smtClean="0"/>
                        <a:t> các chức </a:t>
                      </a:r>
                      <a:r>
                        <a:rPr lang="en-GB" sz="1600" baseline="0" dirty="0" err="1" smtClean="0"/>
                        <a:t>năng</a:t>
                      </a:r>
                      <a:r>
                        <a:rPr lang="en-GB" sz="1600" baseline="0" dirty="0" smtClean="0"/>
                        <a:t> </a:t>
                      </a:r>
                      <a:r>
                        <a:rPr lang="en-GB" sz="1600" baseline="0" dirty="0" err="1" smtClean="0"/>
                        <a:t>không</a:t>
                      </a:r>
                      <a:r>
                        <a:rPr lang="en-GB" sz="1600" baseline="0" dirty="0" smtClean="0"/>
                        <a:t>  </a:t>
                      </a:r>
                      <a:r>
                        <a:rPr lang="en-GB" sz="1600" baseline="0" dirty="0" err="1" smtClean="0"/>
                        <a:t>cho</a:t>
                      </a:r>
                      <a:r>
                        <a:rPr lang="en-GB" sz="1600" baseline="0" dirty="0" smtClean="0"/>
                        <a:t> </a:t>
                      </a:r>
                      <a:r>
                        <a:rPr lang="en-GB" sz="1600" baseline="0" dirty="0" err="1" smtClean="0"/>
                        <a:t>phép</a:t>
                      </a:r>
                      <a:r>
                        <a:rPr lang="en-GB" sz="1600" baseline="0" dirty="0" smtClean="0"/>
                        <a:t>  </a:t>
                      </a:r>
                      <a:r>
                        <a:rPr lang="en-GB" sz="1600" baseline="0" dirty="0" err="1" smtClean="0"/>
                        <a:t>dùng</a:t>
                      </a:r>
                      <a:r>
                        <a:rPr lang="en-GB" sz="1600" baseline="0" dirty="0" smtClean="0"/>
                        <a:t> </a:t>
                      </a:r>
                      <a:r>
                        <a:rPr lang="en-GB" sz="1600" baseline="0" dirty="0" err="1" smtClean="0"/>
                        <a:t>của</a:t>
                      </a:r>
                      <a:r>
                        <a:rPr lang="en-GB" sz="1600" baseline="0" dirty="0" smtClean="0"/>
                        <a:t> Windows </a:t>
                      </a:r>
                      <a:r>
                        <a:rPr lang="en-GB" sz="1600" baseline="0" dirty="0" err="1" smtClean="0"/>
                        <a:t>như</a:t>
                      </a:r>
                      <a:r>
                        <a:rPr lang="en-GB" sz="1600" baseline="0" dirty="0" smtClean="0"/>
                        <a:t> </a:t>
                      </a:r>
                      <a:r>
                        <a:rPr lang="en-GB" sz="1600" baseline="0" dirty="0" err="1" smtClean="0"/>
                        <a:t>giấu</a:t>
                      </a:r>
                      <a:r>
                        <a:rPr lang="en-GB" sz="1600" baseline="0" dirty="0" smtClean="0"/>
                        <a:t> file, </a:t>
                      </a:r>
                      <a:r>
                        <a:rPr lang="en-GB" sz="1600" baseline="0" dirty="0" err="1" smtClean="0"/>
                        <a:t>hoặc</a:t>
                      </a:r>
                      <a:r>
                        <a:rPr lang="en-GB" sz="1600" baseline="0" dirty="0" smtClean="0"/>
                        <a:t> </a:t>
                      </a:r>
                      <a:r>
                        <a:rPr lang="en-GB" sz="1600" baseline="0" dirty="0" err="1" smtClean="0"/>
                        <a:t>xử</a:t>
                      </a:r>
                      <a:r>
                        <a:rPr lang="en-GB" sz="1600" baseline="0" dirty="0" smtClean="0"/>
                        <a:t> </a:t>
                      </a:r>
                      <a:r>
                        <a:rPr lang="en-GB" sz="1600" baseline="0" dirty="0" err="1" smtClean="0"/>
                        <a:t>lý</a:t>
                      </a:r>
                      <a:r>
                        <a:rPr lang="en-GB" sz="1600" baseline="0" dirty="0" smtClean="0"/>
                        <a:t> các tác </a:t>
                      </a:r>
                      <a:r>
                        <a:rPr lang="en-GB" sz="1600" baseline="0" dirty="0" err="1" smtClean="0"/>
                        <a:t>vụ</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5918">
                <a:tc>
                  <a:txBody>
                    <a:bodyPr/>
                    <a:lstStyle/>
                    <a:p>
                      <a:r>
                        <a:rPr lang="en-GB" sz="1600" i="1" dirty="0" smtClean="0"/>
                        <a:t>WSock32.dll /Ws2_32.dll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err="1" smtClean="0"/>
                        <a:t>Đây</a:t>
                      </a:r>
                      <a:r>
                        <a:rPr lang="en-GB" sz="1600" baseline="0" dirty="0" smtClean="0"/>
                        <a:t> </a:t>
                      </a:r>
                      <a:r>
                        <a:rPr lang="en-GB" sz="1600" baseline="0" dirty="0" err="1" smtClean="0"/>
                        <a:t>là</a:t>
                      </a:r>
                      <a:r>
                        <a:rPr lang="en-GB" sz="1600" baseline="0" dirty="0" smtClean="0"/>
                        <a:t> </a:t>
                      </a:r>
                      <a:r>
                        <a:rPr lang="en-GB" sz="1600" baseline="0" dirty="0" err="1" smtClean="0"/>
                        <a:t>các</a:t>
                      </a:r>
                      <a:r>
                        <a:rPr lang="en-GB" sz="1600" baseline="0" dirty="0" smtClean="0"/>
                        <a:t> </a:t>
                      </a:r>
                      <a:r>
                        <a:rPr lang="en-GB" sz="1600" baseline="0" dirty="0" err="1" smtClean="0"/>
                        <a:t>thư</a:t>
                      </a:r>
                      <a:r>
                        <a:rPr lang="en-GB" sz="1600" baseline="0" dirty="0" smtClean="0"/>
                        <a:t> </a:t>
                      </a:r>
                      <a:r>
                        <a:rPr lang="en-GB" sz="1600" baseline="0" dirty="0" err="1" smtClean="0"/>
                        <a:t>viện</a:t>
                      </a:r>
                      <a:r>
                        <a:rPr lang="en-GB" sz="1600" baseline="0" dirty="0" smtClean="0"/>
                        <a:t> </a:t>
                      </a:r>
                      <a:r>
                        <a:rPr lang="en-GB" sz="1600" baseline="0" dirty="0" err="1" smtClean="0"/>
                        <a:t>liên</a:t>
                      </a:r>
                      <a:r>
                        <a:rPr lang="en-GB" sz="1600" baseline="0" dirty="0" smtClean="0"/>
                        <a:t> </a:t>
                      </a:r>
                      <a:r>
                        <a:rPr lang="en-GB" sz="1600" baseline="0" dirty="0" err="1" smtClean="0"/>
                        <a:t>quan</a:t>
                      </a:r>
                      <a:r>
                        <a:rPr lang="en-GB" sz="1600" baseline="0" dirty="0" smtClean="0"/>
                        <a:t> </a:t>
                      </a:r>
                      <a:r>
                        <a:rPr lang="en-GB" sz="1600" baseline="0" dirty="0" err="1" smtClean="0"/>
                        <a:t>đến</a:t>
                      </a:r>
                      <a:r>
                        <a:rPr lang="en-GB" sz="1600" baseline="0" dirty="0" smtClean="0"/>
                        <a:t> </a:t>
                      </a:r>
                      <a:r>
                        <a:rPr lang="en-GB" sz="1600" baseline="0" dirty="0" err="1" smtClean="0"/>
                        <a:t>chức</a:t>
                      </a:r>
                      <a:r>
                        <a:rPr lang="en-GB" sz="1600" baseline="0" dirty="0" smtClean="0"/>
                        <a:t> </a:t>
                      </a:r>
                      <a:r>
                        <a:rPr lang="en-GB" sz="1600" baseline="0" dirty="0" err="1" smtClean="0"/>
                        <a:t>năng</a:t>
                      </a:r>
                      <a:r>
                        <a:rPr lang="en-GB" sz="1600" baseline="0" dirty="0" smtClean="0"/>
                        <a:t> </a:t>
                      </a:r>
                      <a:r>
                        <a:rPr lang="en-GB" sz="1600" baseline="0" dirty="0" err="1" smtClean="0"/>
                        <a:t>mạng</a:t>
                      </a:r>
                      <a:r>
                        <a:rPr lang="en-GB" sz="1600" baseline="0" dirty="0" smtClean="0"/>
                        <a:t>. </a:t>
                      </a:r>
                      <a:r>
                        <a:rPr lang="en-GB" sz="1600" baseline="0" dirty="0" err="1" smtClean="0"/>
                        <a:t>Một</a:t>
                      </a:r>
                      <a:r>
                        <a:rPr lang="en-GB" sz="1600" baseline="0" dirty="0" smtClean="0"/>
                        <a:t> </a:t>
                      </a:r>
                      <a:r>
                        <a:rPr lang="en-GB" sz="1600" baseline="0" dirty="0" err="1" smtClean="0"/>
                        <a:t>chương</a:t>
                      </a:r>
                      <a:r>
                        <a:rPr lang="en-GB" sz="1600" baseline="0" dirty="0" smtClean="0"/>
                        <a:t> </a:t>
                      </a:r>
                      <a:r>
                        <a:rPr lang="en-GB" sz="1600" baseline="0" dirty="0" err="1" smtClean="0"/>
                        <a:t>trình</a:t>
                      </a:r>
                      <a:r>
                        <a:rPr lang="en-GB" sz="1600" baseline="0" dirty="0" smtClean="0"/>
                        <a:t> </a:t>
                      </a:r>
                      <a:r>
                        <a:rPr lang="en-GB" sz="1600" baseline="0" dirty="0" err="1" smtClean="0"/>
                        <a:t>sử</a:t>
                      </a:r>
                      <a:r>
                        <a:rPr lang="en-GB" sz="1600" baseline="0" dirty="0" smtClean="0"/>
                        <a:t> </a:t>
                      </a:r>
                      <a:r>
                        <a:rPr lang="en-GB" sz="1600" baseline="0" dirty="0" err="1" smtClean="0"/>
                        <a:t>dụng</a:t>
                      </a:r>
                      <a:r>
                        <a:rPr lang="en-GB" sz="1600" baseline="0" dirty="0" smtClean="0"/>
                        <a:t> </a:t>
                      </a:r>
                      <a:r>
                        <a:rPr lang="en-GB" sz="1600" baseline="0" dirty="0" err="1" smtClean="0"/>
                        <a:t>nó</a:t>
                      </a:r>
                      <a:r>
                        <a:rPr lang="en-GB" sz="1600" baseline="0" dirty="0" smtClean="0"/>
                        <a:t> </a:t>
                      </a:r>
                      <a:r>
                        <a:rPr lang="en-GB" sz="1600" baseline="0" dirty="0" err="1" smtClean="0"/>
                        <a:t>có</a:t>
                      </a:r>
                      <a:r>
                        <a:rPr lang="en-GB" sz="1600" baseline="0" dirty="0" smtClean="0"/>
                        <a:t> </a:t>
                      </a:r>
                      <a:r>
                        <a:rPr lang="en-GB" sz="1600" baseline="0" dirty="0" err="1" smtClean="0"/>
                        <a:t>khả</a:t>
                      </a:r>
                      <a:r>
                        <a:rPr lang="en-GB" sz="1600" baseline="0" dirty="0" smtClean="0"/>
                        <a:t> </a:t>
                      </a:r>
                      <a:r>
                        <a:rPr lang="en-GB" sz="1600" baseline="0" dirty="0" err="1" smtClean="0"/>
                        <a:t>năng</a:t>
                      </a:r>
                      <a:r>
                        <a:rPr lang="en-GB" sz="1600" baseline="0" dirty="0" smtClean="0"/>
                        <a:t> </a:t>
                      </a:r>
                      <a:r>
                        <a:rPr lang="en-GB" sz="1600" baseline="0" dirty="0" err="1" smtClean="0"/>
                        <a:t>sẽ</a:t>
                      </a:r>
                      <a:r>
                        <a:rPr lang="en-GB" sz="1600" baseline="0" dirty="0" smtClean="0"/>
                        <a:t> </a:t>
                      </a:r>
                      <a:r>
                        <a:rPr lang="en-GB" sz="1600" baseline="0" dirty="0" err="1" smtClean="0"/>
                        <a:t>tạo</a:t>
                      </a:r>
                      <a:r>
                        <a:rPr lang="en-GB" sz="1600" baseline="0" dirty="0" smtClean="0"/>
                        <a:t> </a:t>
                      </a:r>
                      <a:r>
                        <a:rPr lang="en-GB" sz="1600" baseline="0" dirty="0" err="1" smtClean="0"/>
                        <a:t>kết</a:t>
                      </a:r>
                      <a:r>
                        <a:rPr lang="en-GB" sz="1600" baseline="0" dirty="0" smtClean="0"/>
                        <a:t> </a:t>
                      </a:r>
                      <a:r>
                        <a:rPr lang="en-GB" sz="1600" baseline="0" dirty="0" err="1" smtClean="0"/>
                        <a:t>nối</a:t>
                      </a:r>
                      <a:r>
                        <a:rPr lang="en-GB" sz="1600" baseline="0" dirty="0" smtClean="0"/>
                        <a:t> </a:t>
                      </a:r>
                      <a:r>
                        <a:rPr lang="en-GB" sz="1600" baseline="0" dirty="0" err="1" smtClean="0"/>
                        <a:t>mạng</a:t>
                      </a:r>
                      <a:r>
                        <a:rPr lang="en-GB" sz="1600" baseline="0" dirty="0" smtClean="0"/>
                        <a:t> </a:t>
                      </a:r>
                      <a:r>
                        <a:rPr lang="en-GB" sz="1600" baseline="0" dirty="0" err="1" smtClean="0"/>
                        <a:t>hoặc</a:t>
                      </a:r>
                      <a:r>
                        <a:rPr lang="en-GB" sz="1600" baseline="0" dirty="0" smtClean="0"/>
                        <a:t> </a:t>
                      </a:r>
                      <a:r>
                        <a:rPr lang="en-GB" sz="1600" baseline="0" dirty="0" err="1" smtClean="0"/>
                        <a:t>thực</a:t>
                      </a:r>
                      <a:r>
                        <a:rPr lang="en-GB" sz="1600" baseline="0" dirty="0" smtClean="0"/>
                        <a:t> </a:t>
                      </a:r>
                      <a:r>
                        <a:rPr lang="en-GB" sz="1600" baseline="0" dirty="0" err="1" smtClean="0"/>
                        <a:t>hiện</a:t>
                      </a:r>
                      <a:r>
                        <a:rPr lang="en-GB" sz="1600" baseline="0" dirty="0" smtClean="0"/>
                        <a:t> </a:t>
                      </a:r>
                      <a:r>
                        <a:rPr lang="en-GB" sz="1600" baseline="0" dirty="0" err="1" smtClean="0"/>
                        <a:t>các</a:t>
                      </a:r>
                      <a:r>
                        <a:rPr lang="en-GB" sz="1600" baseline="0" dirty="0" smtClean="0"/>
                        <a:t> </a:t>
                      </a:r>
                      <a:r>
                        <a:rPr lang="en-GB" sz="1600" baseline="0" dirty="0" err="1" smtClean="0"/>
                        <a:t>tác</a:t>
                      </a:r>
                      <a:r>
                        <a:rPr lang="en-GB" sz="1600" baseline="0" dirty="0" smtClean="0"/>
                        <a:t> </a:t>
                      </a:r>
                      <a:r>
                        <a:rPr lang="en-GB" sz="1600" baseline="0" dirty="0" err="1" smtClean="0"/>
                        <a:t>vụ</a:t>
                      </a:r>
                      <a:r>
                        <a:rPr lang="en-GB" sz="1600" baseline="0" dirty="0" smtClean="0"/>
                        <a:t> </a:t>
                      </a:r>
                      <a:r>
                        <a:rPr lang="en-GB" sz="1600" baseline="0" dirty="0" err="1" smtClean="0"/>
                        <a:t>liên</a:t>
                      </a:r>
                      <a:r>
                        <a:rPr lang="en-GB" sz="1600" baseline="0" dirty="0" smtClean="0"/>
                        <a:t> </a:t>
                      </a:r>
                      <a:r>
                        <a:rPr lang="en-GB" sz="1600" baseline="0" dirty="0" err="1" smtClean="0"/>
                        <a:t>quan</a:t>
                      </a:r>
                      <a:r>
                        <a:rPr lang="en-GB" sz="1600" baseline="0" dirty="0" smtClean="0"/>
                        <a:t>.</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18828">
                <a:tc>
                  <a:txBody>
                    <a:bodyPr/>
                    <a:lstStyle/>
                    <a:p>
                      <a:r>
                        <a:rPr lang="en-GB" sz="1600" i="1" dirty="0" smtClean="0"/>
                        <a:t>Wininet.dll</a:t>
                      </a:r>
                      <a:endParaRPr lang="en-GB" sz="1600" i="1"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r>
                        <a:rPr lang="en-GB" sz="1600" dirty="0" err="1" smtClean="0"/>
                        <a:t>Thư</a:t>
                      </a:r>
                      <a:r>
                        <a:rPr lang="en-GB" sz="1600" baseline="0" dirty="0" smtClean="0"/>
                        <a:t> </a:t>
                      </a:r>
                      <a:r>
                        <a:rPr lang="en-GB" sz="1600" baseline="0" dirty="0" err="1" smtClean="0"/>
                        <a:t>viện</a:t>
                      </a:r>
                      <a:r>
                        <a:rPr lang="en-GB" sz="1600" baseline="0" dirty="0" smtClean="0"/>
                        <a:t> </a:t>
                      </a:r>
                      <a:r>
                        <a:rPr lang="en-GB" sz="1600" baseline="0" dirty="0" err="1" smtClean="0"/>
                        <a:t>này</a:t>
                      </a:r>
                      <a:r>
                        <a:rPr lang="en-GB" sz="1600" baseline="0" dirty="0" smtClean="0"/>
                        <a:t> </a:t>
                      </a:r>
                      <a:r>
                        <a:rPr lang="en-GB" sz="1600" baseline="0" dirty="0" err="1" smtClean="0"/>
                        <a:t>chứa</a:t>
                      </a:r>
                      <a:r>
                        <a:rPr lang="en-GB" sz="1600" baseline="0" dirty="0" smtClean="0"/>
                        <a:t> </a:t>
                      </a:r>
                      <a:r>
                        <a:rPr lang="en-GB" sz="1600" baseline="0" dirty="0" err="1" smtClean="0"/>
                        <a:t>các</a:t>
                      </a:r>
                      <a:r>
                        <a:rPr lang="en-GB" sz="1600" baseline="0" dirty="0" smtClean="0"/>
                        <a:t> </a:t>
                      </a:r>
                      <a:r>
                        <a:rPr lang="en-GB" sz="1600" baseline="0" dirty="0" err="1" smtClean="0"/>
                        <a:t>chức</a:t>
                      </a:r>
                      <a:r>
                        <a:rPr lang="en-GB" sz="1600" baseline="0" dirty="0" smtClean="0"/>
                        <a:t> </a:t>
                      </a:r>
                      <a:r>
                        <a:rPr lang="en-GB" sz="1600" baseline="0" dirty="0" err="1" smtClean="0"/>
                        <a:t>năng</a:t>
                      </a:r>
                      <a:r>
                        <a:rPr lang="en-GB" sz="1600" baseline="0" dirty="0" smtClean="0"/>
                        <a:t> </a:t>
                      </a:r>
                      <a:r>
                        <a:rPr lang="en-GB" sz="1600" baseline="0" dirty="0" err="1" smtClean="0"/>
                        <a:t>mạng</a:t>
                      </a:r>
                      <a:r>
                        <a:rPr lang="en-GB" sz="1600" baseline="0" dirty="0" smtClean="0"/>
                        <a:t> </a:t>
                      </a:r>
                      <a:r>
                        <a:rPr lang="en-GB" sz="1600" baseline="0" dirty="0" err="1" smtClean="0"/>
                        <a:t>bậc</a:t>
                      </a:r>
                      <a:r>
                        <a:rPr lang="en-GB" sz="1600" baseline="0" dirty="0" smtClean="0"/>
                        <a:t> </a:t>
                      </a:r>
                      <a:r>
                        <a:rPr lang="en-GB" sz="1600" baseline="0" dirty="0" err="1" smtClean="0"/>
                        <a:t>cao</a:t>
                      </a:r>
                      <a:r>
                        <a:rPr lang="en-GB" sz="1600" baseline="0" dirty="0" smtClean="0"/>
                        <a:t> </a:t>
                      </a:r>
                      <a:r>
                        <a:rPr lang="en-GB" sz="1600" baseline="0" dirty="0" err="1" smtClean="0"/>
                        <a:t>để</a:t>
                      </a:r>
                      <a:r>
                        <a:rPr lang="en-GB" sz="1600" baseline="0" dirty="0" smtClean="0"/>
                        <a:t> </a:t>
                      </a:r>
                      <a:r>
                        <a:rPr lang="en-GB" sz="1600" baseline="0" dirty="0" err="1" smtClean="0"/>
                        <a:t>triển</a:t>
                      </a:r>
                      <a:r>
                        <a:rPr lang="en-GB" sz="1600" baseline="0" dirty="0" smtClean="0"/>
                        <a:t> </a:t>
                      </a:r>
                      <a:r>
                        <a:rPr lang="en-GB" sz="1600" baseline="0" dirty="0" err="1" smtClean="0"/>
                        <a:t>khai</a:t>
                      </a:r>
                      <a:r>
                        <a:rPr lang="en-GB" sz="1600" baseline="0" dirty="0" smtClean="0"/>
                        <a:t> </a:t>
                      </a:r>
                      <a:r>
                        <a:rPr lang="en-GB" sz="1600" baseline="0" dirty="0" err="1" smtClean="0"/>
                        <a:t>các</a:t>
                      </a:r>
                      <a:r>
                        <a:rPr lang="en-GB" sz="1600" baseline="0" dirty="0" smtClean="0"/>
                        <a:t> </a:t>
                      </a:r>
                      <a:r>
                        <a:rPr lang="en-GB" sz="1600" baseline="0" dirty="0" err="1" smtClean="0"/>
                        <a:t>giao</a:t>
                      </a:r>
                      <a:r>
                        <a:rPr lang="en-GB" sz="1600" baseline="0" dirty="0" smtClean="0"/>
                        <a:t> </a:t>
                      </a:r>
                      <a:r>
                        <a:rPr lang="en-GB" sz="1600" baseline="0" dirty="0" err="1" smtClean="0"/>
                        <a:t>thức</a:t>
                      </a:r>
                      <a:r>
                        <a:rPr lang="en-GB" sz="1600" baseline="0" dirty="0" smtClean="0"/>
                        <a:t> </a:t>
                      </a:r>
                      <a:r>
                        <a:rPr lang="en-GB" sz="1600" baseline="0" dirty="0" err="1" smtClean="0"/>
                        <a:t>như</a:t>
                      </a:r>
                      <a:r>
                        <a:rPr lang="en-GB" sz="1600" baseline="0" dirty="0" smtClean="0"/>
                        <a:t> FTP, HTTP, NTP.</a:t>
                      </a:r>
                      <a:endParaRPr lang="en-GB" sz="16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614066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Strings</a:t>
            </a:r>
            <a:endParaRPr lang="en-GB" dirty="0"/>
          </a:p>
        </p:txBody>
      </p:sp>
      <p:sp>
        <p:nvSpPr>
          <p:cNvPr id="3" name="Content Placeholder 2"/>
          <p:cNvSpPr>
            <a:spLocks noGrp="1"/>
          </p:cNvSpPr>
          <p:nvPr>
            <p:ph idx="1"/>
          </p:nvPr>
        </p:nvSpPr>
        <p:spPr/>
        <p:txBody>
          <a:bodyPr/>
          <a:lstStyle/>
          <a:p>
            <a:r>
              <a:rPr lang="en-GB" dirty="0" smtClean="0"/>
              <a:t>A program contains strings if it:</a:t>
            </a:r>
          </a:p>
          <a:p>
            <a:pPr lvl="1"/>
            <a:r>
              <a:rPr lang="en-GB" dirty="0" smtClean="0"/>
              <a:t>Print a message</a:t>
            </a:r>
          </a:p>
          <a:p>
            <a:pPr lvl="1"/>
            <a:r>
              <a:rPr lang="en-GB" dirty="0" smtClean="0"/>
              <a:t>Connects to a URL</a:t>
            </a:r>
          </a:p>
          <a:p>
            <a:pPr lvl="1"/>
            <a:r>
              <a:rPr lang="en-GB" dirty="0" smtClean="0"/>
              <a:t>Copies file to a specific location</a:t>
            </a:r>
          </a:p>
          <a:p>
            <a:r>
              <a:rPr lang="en-GB" dirty="0" smtClean="0"/>
              <a:t>Strings (often in ASCII or Unicode) reveals functionalities of a program.</a:t>
            </a:r>
          </a:p>
          <a:p>
            <a:pPr lvl="1"/>
            <a:endParaRPr lang="en-GB" dirty="0"/>
          </a:p>
        </p:txBody>
      </p:sp>
    </p:spTree>
    <p:extLst>
      <p:ext uri="{BB962C8B-B14F-4D97-AF65-F5344CB8AC3E}">
        <p14:creationId xmlns:p14="http://schemas.microsoft.com/office/powerpoint/2010/main" val="30868919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Strings</a:t>
            </a:r>
            <a:endParaRPr lang="en-GB" dirty="0"/>
          </a:p>
        </p:txBody>
      </p:sp>
      <p:sp>
        <p:nvSpPr>
          <p:cNvPr id="3" name="Content Placeholder 2"/>
          <p:cNvSpPr>
            <a:spLocks noGrp="1"/>
          </p:cNvSpPr>
          <p:nvPr>
            <p:ph idx="1"/>
          </p:nvPr>
        </p:nvSpPr>
        <p:spPr/>
        <p:txBody>
          <a:bodyPr>
            <a:normAutofit fontScale="92500" lnSpcReduction="10000"/>
          </a:bodyPr>
          <a:lstStyle/>
          <a:p>
            <a:pPr lvl="1"/>
            <a:r>
              <a:rPr lang="en-GB" dirty="0" smtClean="0"/>
              <a:t>ASCII</a:t>
            </a:r>
          </a:p>
          <a:p>
            <a:pPr lvl="1"/>
            <a:endParaRPr lang="en-GB" dirty="0" smtClean="0"/>
          </a:p>
          <a:p>
            <a:pPr lvl="1"/>
            <a:endParaRPr lang="en-GB" dirty="0"/>
          </a:p>
          <a:p>
            <a:pPr lvl="1"/>
            <a:endParaRPr lang="en-GB" dirty="0"/>
          </a:p>
          <a:p>
            <a:pPr lvl="1"/>
            <a:r>
              <a:rPr lang="en-GB" dirty="0" smtClean="0"/>
              <a:t>Unicode</a:t>
            </a:r>
          </a:p>
          <a:p>
            <a:pPr lvl="1"/>
            <a:endParaRPr lang="en-GB" dirty="0"/>
          </a:p>
          <a:p>
            <a:pPr lvl="1"/>
            <a:endParaRPr lang="en-GB" dirty="0" smtClean="0"/>
          </a:p>
          <a:p>
            <a:pPr lvl="1"/>
            <a:endParaRPr lang="en-GB" dirty="0"/>
          </a:p>
          <a:p>
            <a:pPr lvl="1"/>
            <a:endParaRPr lang="en-GB" dirty="0" smtClean="0"/>
          </a:p>
          <a:p>
            <a:pPr lvl="1"/>
            <a:r>
              <a:rPr lang="en-GB" dirty="0" smtClean="0"/>
              <a:t>Tool</a:t>
            </a:r>
          </a:p>
          <a:p>
            <a:pPr lvl="2"/>
            <a:r>
              <a:rPr lang="en-GB" dirty="0" smtClean="0"/>
              <a:t>Strings.exe</a:t>
            </a:r>
          </a:p>
          <a:p>
            <a:pPr lvl="2"/>
            <a:r>
              <a:rPr lang="en-GB" dirty="0" err="1" smtClean="0"/>
              <a:t>PEiD</a:t>
            </a:r>
            <a:endParaRPr lang="en-GB" dirty="0" smtClean="0"/>
          </a:p>
        </p:txBody>
      </p:sp>
      <p:grpSp>
        <p:nvGrpSpPr>
          <p:cNvPr id="15" name="Group 14"/>
          <p:cNvGrpSpPr/>
          <p:nvPr/>
        </p:nvGrpSpPr>
        <p:grpSpPr>
          <a:xfrm>
            <a:off x="1403648" y="1073230"/>
            <a:ext cx="6984776" cy="1563682"/>
            <a:chOff x="1403648" y="1649294"/>
            <a:chExt cx="6984776" cy="1563682"/>
          </a:xfrm>
        </p:grpSpPr>
        <p:sp>
          <p:nvSpPr>
            <p:cNvPr id="4" name="Rounded Rectangle 3"/>
            <p:cNvSpPr/>
            <p:nvPr/>
          </p:nvSpPr>
          <p:spPr>
            <a:xfrm>
              <a:off x="1403648" y="2492896"/>
              <a:ext cx="1296144"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4C</a:t>
              </a:r>
              <a:endParaRPr lang="en-GB" dirty="0"/>
            </a:p>
          </p:txBody>
        </p:sp>
        <p:sp>
          <p:nvSpPr>
            <p:cNvPr id="5" name="Rounded Rectangle 4"/>
            <p:cNvSpPr/>
            <p:nvPr/>
          </p:nvSpPr>
          <p:spPr>
            <a:xfrm>
              <a:off x="2728748" y="2492896"/>
              <a:ext cx="1296144"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4F</a:t>
              </a:r>
              <a:endParaRPr lang="en-GB" dirty="0"/>
            </a:p>
          </p:txBody>
        </p:sp>
        <p:sp>
          <p:nvSpPr>
            <p:cNvPr id="6" name="Rounded Rectangle 5"/>
            <p:cNvSpPr/>
            <p:nvPr/>
          </p:nvSpPr>
          <p:spPr>
            <a:xfrm>
              <a:off x="4024892" y="2492896"/>
              <a:ext cx="1296144"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56</a:t>
              </a:r>
              <a:endParaRPr lang="en-GB" dirty="0"/>
            </a:p>
          </p:txBody>
        </p:sp>
        <p:sp>
          <p:nvSpPr>
            <p:cNvPr id="7" name="Rounded Rectangle 6"/>
            <p:cNvSpPr/>
            <p:nvPr/>
          </p:nvSpPr>
          <p:spPr>
            <a:xfrm>
              <a:off x="5321036" y="2492896"/>
              <a:ext cx="1296144"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45</a:t>
              </a:r>
              <a:endParaRPr lang="en-GB" dirty="0"/>
            </a:p>
          </p:txBody>
        </p:sp>
        <p:sp>
          <p:nvSpPr>
            <p:cNvPr id="8" name="Rounded Rectangle 7"/>
            <p:cNvSpPr/>
            <p:nvPr/>
          </p:nvSpPr>
          <p:spPr>
            <a:xfrm>
              <a:off x="6642688" y="2492896"/>
              <a:ext cx="1296144"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9" name="TextBox 8"/>
            <p:cNvSpPr txBox="1"/>
            <p:nvPr/>
          </p:nvSpPr>
          <p:spPr>
            <a:xfrm>
              <a:off x="1910495" y="2101498"/>
              <a:ext cx="314510" cy="461665"/>
            </a:xfrm>
            <a:prstGeom prst="rect">
              <a:avLst/>
            </a:prstGeom>
            <a:noFill/>
          </p:spPr>
          <p:txBody>
            <a:bodyPr wrap="none" rtlCol="0">
              <a:spAutoFit/>
            </a:bodyPr>
            <a:lstStyle/>
            <a:p>
              <a:r>
                <a:rPr lang="en-GB" sz="2400" b="1" dirty="0" smtClean="0"/>
                <a:t>L</a:t>
              </a:r>
              <a:endParaRPr lang="en-GB" sz="2400" b="1" dirty="0"/>
            </a:p>
          </p:txBody>
        </p:sp>
        <p:sp>
          <p:nvSpPr>
            <p:cNvPr id="10" name="TextBox 9"/>
            <p:cNvSpPr txBox="1"/>
            <p:nvPr/>
          </p:nvSpPr>
          <p:spPr>
            <a:xfrm>
              <a:off x="3219565" y="2101497"/>
              <a:ext cx="393056" cy="461665"/>
            </a:xfrm>
            <a:prstGeom prst="rect">
              <a:avLst/>
            </a:prstGeom>
            <a:noFill/>
          </p:spPr>
          <p:txBody>
            <a:bodyPr wrap="none" rtlCol="0">
              <a:spAutoFit/>
            </a:bodyPr>
            <a:lstStyle/>
            <a:p>
              <a:r>
                <a:rPr lang="en-GB" sz="2400" b="1" dirty="0"/>
                <a:t>O</a:t>
              </a:r>
            </a:p>
          </p:txBody>
        </p:sp>
        <p:sp>
          <p:nvSpPr>
            <p:cNvPr id="11" name="TextBox 10"/>
            <p:cNvSpPr txBox="1"/>
            <p:nvPr/>
          </p:nvSpPr>
          <p:spPr>
            <a:xfrm>
              <a:off x="4515709" y="2110959"/>
              <a:ext cx="367408" cy="461665"/>
            </a:xfrm>
            <a:prstGeom prst="rect">
              <a:avLst/>
            </a:prstGeom>
            <a:noFill/>
          </p:spPr>
          <p:txBody>
            <a:bodyPr wrap="none" rtlCol="0">
              <a:spAutoFit/>
            </a:bodyPr>
            <a:lstStyle/>
            <a:p>
              <a:r>
                <a:rPr lang="en-GB" sz="2400" b="1" dirty="0" smtClean="0"/>
                <a:t>V</a:t>
              </a:r>
              <a:endParaRPr lang="en-GB" sz="2400" b="1" dirty="0"/>
            </a:p>
          </p:txBody>
        </p:sp>
        <p:sp>
          <p:nvSpPr>
            <p:cNvPr id="12" name="TextBox 11"/>
            <p:cNvSpPr txBox="1"/>
            <p:nvPr/>
          </p:nvSpPr>
          <p:spPr>
            <a:xfrm>
              <a:off x="5811853" y="2110959"/>
              <a:ext cx="335348" cy="461665"/>
            </a:xfrm>
            <a:prstGeom prst="rect">
              <a:avLst/>
            </a:prstGeom>
            <a:noFill/>
          </p:spPr>
          <p:txBody>
            <a:bodyPr wrap="none" rtlCol="0">
              <a:spAutoFit/>
            </a:bodyPr>
            <a:lstStyle/>
            <a:p>
              <a:r>
                <a:rPr lang="en-GB" sz="2400" b="1" dirty="0" smtClean="0"/>
                <a:t>E</a:t>
              </a:r>
              <a:endParaRPr lang="en-GB" sz="2400" b="1" dirty="0"/>
            </a:p>
          </p:txBody>
        </p:sp>
        <p:sp>
          <p:nvSpPr>
            <p:cNvPr id="13" name="TextBox 12"/>
            <p:cNvSpPr txBox="1"/>
            <p:nvPr/>
          </p:nvSpPr>
          <p:spPr>
            <a:xfrm>
              <a:off x="6632879" y="1649294"/>
              <a:ext cx="1755545" cy="830997"/>
            </a:xfrm>
            <a:prstGeom prst="rect">
              <a:avLst/>
            </a:prstGeom>
            <a:noFill/>
          </p:spPr>
          <p:txBody>
            <a:bodyPr wrap="square" rtlCol="0">
              <a:spAutoFit/>
            </a:bodyPr>
            <a:lstStyle/>
            <a:p>
              <a:r>
                <a:rPr lang="en-GB" sz="2400" b="1" dirty="0" smtClean="0"/>
                <a:t>Null </a:t>
              </a:r>
            </a:p>
            <a:p>
              <a:r>
                <a:rPr lang="en-GB" sz="2400" b="1" dirty="0" smtClean="0"/>
                <a:t>Terminator</a:t>
              </a:r>
              <a:endParaRPr lang="en-GB" sz="2400" b="1" dirty="0"/>
            </a:p>
          </p:txBody>
        </p:sp>
      </p:grpSp>
      <p:grpSp>
        <p:nvGrpSpPr>
          <p:cNvPr id="37" name="Group 36"/>
          <p:cNvGrpSpPr/>
          <p:nvPr/>
        </p:nvGrpSpPr>
        <p:grpSpPr>
          <a:xfrm>
            <a:off x="1403648" y="3144281"/>
            <a:ext cx="6984776" cy="1584176"/>
            <a:chOff x="1406561" y="4365104"/>
            <a:chExt cx="6984776" cy="1584176"/>
          </a:xfrm>
        </p:grpSpPr>
        <p:sp>
          <p:nvSpPr>
            <p:cNvPr id="17" name="Rounded Rectangle 16"/>
            <p:cNvSpPr/>
            <p:nvPr/>
          </p:nvSpPr>
          <p:spPr>
            <a:xfrm>
              <a:off x="1406561" y="5229200"/>
              <a:ext cx="66410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4C</a:t>
              </a:r>
              <a:endParaRPr lang="en-GB" dirty="0"/>
            </a:p>
          </p:txBody>
        </p:sp>
        <p:sp>
          <p:nvSpPr>
            <p:cNvPr id="18" name="Rounded Rectangle 17"/>
            <p:cNvSpPr/>
            <p:nvPr/>
          </p:nvSpPr>
          <p:spPr>
            <a:xfrm>
              <a:off x="2731661" y="5208706"/>
              <a:ext cx="64807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4F</a:t>
              </a:r>
              <a:endParaRPr lang="en-GB" dirty="0"/>
            </a:p>
          </p:txBody>
        </p:sp>
        <p:sp>
          <p:nvSpPr>
            <p:cNvPr id="19" name="Rounded Rectangle 18"/>
            <p:cNvSpPr/>
            <p:nvPr/>
          </p:nvSpPr>
          <p:spPr>
            <a:xfrm>
              <a:off x="4027805" y="5208706"/>
              <a:ext cx="674521"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56</a:t>
              </a:r>
              <a:endParaRPr lang="en-GB" dirty="0"/>
            </a:p>
          </p:txBody>
        </p:sp>
        <p:sp>
          <p:nvSpPr>
            <p:cNvPr id="20" name="Rounded Rectangle 19"/>
            <p:cNvSpPr/>
            <p:nvPr/>
          </p:nvSpPr>
          <p:spPr>
            <a:xfrm>
              <a:off x="5376847" y="5208706"/>
              <a:ext cx="605593"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45</a:t>
              </a:r>
              <a:endParaRPr lang="en-GB" dirty="0"/>
            </a:p>
          </p:txBody>
        </p:sp>
        <p:sp>
          <p:nvSpPr>
            <p:cNvPr id="21" name="Rounded Rectangle 20"/>
            <p:cNvSpPr/>
            <p:nvPr/>
          </p:nvSpPr>
          <p:spPr>
            <a:xfrm>
              <a:off x="6645601" y="5208706"/>
              <a:ext cx="64807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22" name="TextBox 21"/>
            <p:cNvSpPr txBox="1"/>
            <p:nvPr/>
          </p:nvSpPr>
          <p:spPr>
            <a:xfrm>
              <a:off x="1913408" y="4542050"/>
              <a:ext cx="314510" cy="461665"/>
            </a:xfrm>
            <a:prstGeom prst="rect">
              <a:avLst/>
            </a:prstGeom>
            <a:noFill/>
          </p:spPr>
          <p:txBody>
            <a:bodyPr wrap="none" rtlCol="0">
              <a:spAutoFit/>
            </a:bodyPr>
            <a:lstStyle/>
            <a:p>
              <a:r>
                <a:rPr lang="en-GB" sz="2400" b="1" dirty="0" smtClean="0"/>
                <a:t>L</a:t>
              </a:r>
              <a:endParaRPr lang="en-GB" sz="2400" b="1" dirty="0"/>
            </a:p>
          </p:txBody>
        </p:sp>
        <p:sp>
          <p:nvSpPr>
            <p:cNvPr id="23" name="TextBox 22"/>
            <p:cNvSpPr txBox="1"/>
            <p:nvPr/>
          </p:nvSpPr>
          <p:spPr>
            <a:xfrm>
              <a:off x="3222478" y="4542049"/>
              <a:ext cx="393056" cy="461665"/>
            </a:xfrm>
            <a:prstGeom prst="rect">
              <a:avLst/>
            </a:prstGeom>
            <a:noFill/>
          </p:spPr>
          <p:txBody>
            <a:bodyPr wrap="none" rtlCol="0">
              <a:spAutoFit/>
            </a:bodyPr>
            <a:lstStyle/>
            <a:p>
              <a:r>
                <a:rPr lang="en-GB" sz="2400" b="1" dirty="0"/>
                <a:t>O</a:t>
              </a:r>
            </a:p>
          </p:txBody>
        </p:sp>
        <p:sp>
          <p:nvSpPr>
            <p:cNvPr id="24" name="TextBox 23"/>
            <p:cNvSpPr txBox="1"/>
            <p:nvPr/>
          </p:nvSpPr>
          <p:spPr>
            <a:xfrm>
              <a:off x="4518622" y="4551511"/>
              <a:ext cx="367408" cy="461665"/>
            </a:xfrm>
            <a:prstGeom prst="rect">
              <a:avLst/>
            </a:prstGeom>
            <a:noFill/>
          </p:spPr>
          <p:txBody>
            <a:bodyPr wrap="none" rtlCol="0">
              <a:spAutoFit/>
            </a:bodyPr>
            <a:lstStyle/>
            <a:p>
              <a:r>
                <a:rPr lang="en-GB" sz="2400" b="1" dirty="0" smtClean="0"/>
                <a:t>V</a:t>
              </a:r>
              <a:endParaRPr lang="en-GB" sz="2400" b="1" dirty="0"/>
            </a:p>
          </p:txBody>
        </p:sp>
        <p:sp>
          <p:nvSpPr>
            <p:cNvPr id="25" name="TextBox 24"/>
            <p:cNvSpPr txBox="1"/>
            <p:nvPr/>
          </p:nvSpPr>
          <p:spPr>
            <a:xfrm>
              <a:off x="5814766" y="4551511"/>
              <a:ext cx="335348" cy="461665"/>
            </a:xfrm>
            <a:prstGeom prst="rect">
              <a:avLst/>
            </a:prstGeom>
            <a:noFill/>
          </p:spPr>
          <p:txBody>
            <a:bodyPr wrap="none" rtlCol="0">
              <a:spAutoFit/>
            </a:bodyPr>
            <a:lstStyle/>
            <a:p>
              <a:r>
                <a:rPr lang="en-GB" sz="2400" b="1" dirty="0" smtClean="0"/>
                <a:t>E</a:t>
              </a:r>
              <a:endParaRPr lang="en-GB" sz="2400" b="1" dirty="0"/>
            </a:p>
          </p:txBody>
        </p:sp>
        <p:sp>
          <p:nvSpPr>
            <p:cNvPr id="26" name="TextBox 25"/>
            <p:cNvSpPr txBox="1"/>
            <p:nvPr/>
          </p:nvSpPr>
          <p:spPr>
            <a:xfrm>
              <a:off x="6635792" y="4365104"/>
              <a:ext cx="1755545" cy="830997"/>
            </a:xfrm>
            <a:prstGeom prst="rect">
              <a:avLst/>
            </a:prstGeom>
            <a:noFill/>
          </p:spPr>
          <p:txBody>
            <a:bodyPr wrap="square" rtlCol="0">
              <a:spAutoFit/>
            </a:bodyPr>
            <a:lstStyle/>
            <a:p>
              <a:r>
                <a:rPr lang="en-GB" sz="2400" b="1" dirty="0" smtClean="0"/>
                <a:t>Null </a:t>
              </a:r>
            </a:p>
            <a:p>
              <a:r>
                <a:rPr lang="en-GB" sz="2400" b="1" dirty="0" smtClean="0"/>
                <a:t>Terminator</a:t>
              </a:r>
              <a:endParaRPr lang="en-GB" sz="2400" b="1" dirty="0"/>
            </a:p>
          </p:txBody>
        </p:sp>
        <p:sp>
          <p:nvSpPr>
            <p:cNvPr id="27" name="Rounded Rectangle 26"/>
            <p:cNvSpPr/>
            <p:nvPr/>
          </p:nvSpPr>
          <p:spPr>
            <a:xfrm>
              <a:off x="2070663" y="5229200"/>
              <a:ext cx="66410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28" name="Rounded Rectangle 27"/>
            <p:cNvSpPr/>
            <p:nvPr/>
          </p:nvSpPr>
          <p:spPr>
            <a:xfrm>
              <a:off x="3379733" y="5208706"/>
              <a:ext cx="64807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29" name="Rounded Rectangle 28"/>
            <p:cNvSpPr/>
            <p:nvPr/>
          </p:nvSpPr>
          <p:spPr>
            <a:xfrm>
              <a:off x="4702326" y="5208706"/>
              <a:ext cx="674521"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30" name="Rounded Rectangle 29"/>
            <p:cNvSpPr/>
            <p:nvPr/>
          </p:nvSpPr>
          <p:spPr>
            <a:xfrm>
              <a:off x="5982440" y="5229200"/>
              <a:ext cx="605593"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sp>
          <p:nvSpPr>
            <p:cNvPr id="31" name="Rounded Rectangle 30"/>
            <p:cNvSpPr/>
            <p:nvPr/>
          </p:nvSpPr>
          <p:spPr>
            <a:xfrm>
              <a:off x="7290760" y="5196101"/>
              <a:ext cx="648072" cy="720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00</a:t>
              </a:r>
              <a:endParaRPr lang="en-GB" dirty="0"/>
            </a:p>
          </p:txBody>
        </p:sp>
        <p:cxnSp>
          <p:nvCxnSpPr>
            <p:cNvPr id="33" name="Straight Connector 32"/>
            <p:cNvCxnSpPr/>
            <p:nvPr/>
          </p:nvCxnSpPr>
          <p:spPr>
            <a:xfrm flipV="1">
              <a:off x="2728748" y="4509120"/>
              <a:ext cx="6017" cy="54848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4018278" y="4499658"/>
              <a:ext cx="6017" cy="54848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321496" y="4536703"/>
              <a:ext cx="6017" cy="548481"/>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6582016" y="4506361"/>
              <a:ext cx="6017" cy="548481"/>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54171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Hash Function</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Check the integrity of a file</a:t>
            </a:r>
          </a:p>
          <a:p>
            <a:pPr lvl="1"/>
            <a:r>
              <a:rPr lang="en-GB" dirty="0" smtClean="0"/>
              <a:t>Unique hash value, fixed length</a:t>
            </a:r>
          </a:p>
          <a:p>
            <a:pPr lvl="1"/>
            <a:r>
              <a:rPr lang="en-GB" dirty="0" smtClean="0"/>
              <a:t>Common hash functions: MD-5, SHA-256</a:t>
            </a:r>
          </a:p>
          <a:p>
            <a:r>
              <a:rPr lang="en-GB" dirty="0" smtClean="0"/>
              <a:t>Application</a:t>
            </a:r>
          </a:p>
          <a:p>
            <a:pPr marL="457200" lvl="1" indent="0">
              <a:buNone/>
            </a:pPr>
            <a:r>
              <a:rPr lang="en-GB" dirty="0" smtClean="0"/>
              <a:t> - A Fingerprint (or Signature) for malware</a:t>
            </a:r>
          </a:p>
          <a:p>
            <a:pPr lvl="1"/>
            <a:r>
              <a:rPr lang="en-GB" dirty="0" smtClean="0"/>
              <a:t>Share generated hash with other analysts</a:t>
            </a:r>
          </a:p>
          <a:p>
            <a:pPr lvl="1"/>
            <a:r>
              <a:rPr lang="en-GB" dirty="0" smtClean="0"/>
              <a:t>Search for generated hash on-line to see if the file has already identified</a:t>
            </a:r>
          </a:p>
          <a:p>
            <a:r>
              <a:rPr lang="en-GB" dirty="0" smtClean="0"/>
              <a:t>Tools</a:t>
            </a:r>
          </a:p>
          <a:p>
            <a:pPr lvl="2"/>
            <a:r>
              <a:rPr lang="en-GB" dirty="0" err="1"/>
              <a:t>HashCal</a:t>
            </a:r>
            <a:endParaRPr lang="en-GB" dirty="0"/>
          </a:p>
          <a:p>
            <a:pPr lvl="2"/>
            <a:r>
              <a:rPr lang="en-GB" dirty="0"/>
              <a:t>md5deep</a:t>
            </a:r>
          </a:p>
          <a:p>
            <a:pPr lvl="1"/>
            <a:endParaRPr lang="en-GB" dirty="0"/>
          </a:p>
        </p:txBody>
      </p:sp>
    </p:spTree>
    <p:extLst>
      <p:ext uri="{BB962C8B-B14F-4D97-AF65-F5344CB8AC3E}">
        <p14:creationId xmlns:p14="http://schemas.microsoft.com/office/powerpoint/2010/main" val="14238845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Practice</a:t>
            </a:r>
            <a:endParaRPr lang="en-GB" dirty="0"/>
          </a:p>
        </p:txBody>
      </p:sp>
      <p:sp>
        <p:nvSpPr>
          <p:cNvPr id="3" name="Content Placeholder 2"/>
          <p:cNvSpPr>
            <a:spLocks noGrp="1"/>
          </p:cNvSpPr>
          <p:nvPr>
            <p:ph idx="1"/>
          </p:nvPr>
        </p:nvSpPr>
        <p:spPr/>
        <p:txBody>
          <a:bodyPr>
            <a:normAutofit/>
          </a:bodyPr>
          <a:lstStyle/>
          <a:p>
            <a:r>
              <a:rPr lang="en-GB" dirty="0" smtClean="0"/>
              <a:t>Files: Lab01-01.exe (or any malware file)</a:t>
            </a:r>
          </a:p>
          <a:p>
            <a:r>
              <a:rPr lang="en-GB" dirty="0" smtClean="0"/>
              <a:t>Identify</a:t>
            </a:r>
          </a:p>
          <a:p>
            <a:pPr lvl="1"/>
            <a:r>
              <a:rPr lang="en-GB" b="1" dirty="0" smtClean="0"/>
              <a:t>Strings: guess the purpose of the malware</a:t>
            </a:r>
          </a:p>
          <a:p>
            <a:pPr lvl="1"/>
            <a:r>
              <a:rPr lang="en-GB" dirty="0" smtClean="0"/>
              <a:t>Hash:  (download </a:t>
            </a:r>
            <a:r>
              <a:rPr lang="en-GB" dirty="0" err="1" smtClean="0">
                <a:solidFill>
                  <a:srgbClr val="FF0000"/>
                </a:solidFill>
              </a:rPr>
              <a:t>HashCalc</a:t>
            </a:r>
            <a:r>
              <a:rPr lang="en-GB" dirty="0" smtClean="0"/>
              <a:t>)</a:t>
            </a:r>
          </a:p>
          <a:p>
            <a:pPr lvl="2"/>
            <a:r>
              <a:rPr lang="en-GB" dirty="0" smtClean="0"/>
              <a:t>MD5</a:t>
            </a:r>
          </a:p>
          <a:p>
            <a:pPr lvl="2"/>
            <a:r>
              <a:rPr lang="en-GB" dirty="0" smtClean="0"/>
              <a:t>SHA-1</a:t>
            </a:r>
          </a:p>
          <a:p>
            <a:pPr lvl="2"/>
            <a:r>
              <a:rPr lang="en-GB" dirty="0" smtClean="0"/>
              <a:t>SHA-256</a:t>
            </a:r>
          </a:p>
          <a:p>
            <a:r>
              <a:rPr lang="en-GB" dirty="0" smtClean="0"/>
              <a:t>Write a piece of code to </a:t>
            </a:r>
          </a:p>
          <a:p>
            <a:pPr lvl="1"/>
            <a:r>
              <a:rPr lang="en-GB" dirty="0" smtClean="0"/>
              <a:t>Detect strings contained in a PE file</a:t>
            </a:r>
          </a:p>
          <a:p>
            <a:pPr lvl="1"/>
            <a:r>
              <a:rPr lang="en-GB" dirty="0" smtClean="0"/>
              <a:t>Generate MD-5, SHA-256 code</a:t>
            </a:r>
          </a:p>
          <a:p>
            <a:pPr lvl="1"/>
            <a:endParaRPr lang="en-GB" dirty="0"/>
          </a:p>
        </p:txBody>
      </p:sp>
    </p:spTree>
    <p:extLst>
      <p:ext uri="{BB962C8B-B14F-4D97-AF65-F5344CB8AC3E}">
        <p14:creationId xmlns:p14="http://schemas.microsoft.com/office/powerpoint/2010/main" val="95255665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_malware_analysi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Theme_malware_analysis</Template>
  <TotalTime>426</TotalTime>
  <Words>1324</Words>
  <Application>Microsoft Office PowerPoint</Application>
  <PresentationFormat>On-screen Show (4:3)</PresentationFormat>
  <Paragraphs>238</Paragraphs>
  <Slides>21</Slides>
  <Notes>11</Notes>
  <HiddenSlides>0</HiddenSlides>
  <MMClips>0</MMClip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Theme_malware_analysis</vt:lpstr>
      <vt:lpstr>Office Theme</vt:lpstr>
      <vt:lpstr>Malware Analysis</vt:lpstr>
      <vt:lpstr>PE Headers and Sections</vt:lpstr>
      <vt:lpstr>PowerPoint Presentation</vt:lpstr>
      <vt:lpstr>PE Headers and Sections</vt:lpstr>
      <vt:lpstr>VA vs RVA</vt:lpstr>
      <vt:lpstr>PE header</vt:lpstr>
      <vt:lpstr>PowerPoint Presentation</vt:lpstr>
      <vt:lpstr>PE header</vt:lpstr>
      <vt:lpstr>Exercise</vt:lpstr>
      <vt:lpstr>Bài tập</vt:lpstr>
      <vt:lpstr>Packing and Obfuscation Techniques</vt:lpstr>
      <vt:lpstr>Packing and Obfuscation Techniques</vt:lpstr>
      <vt:lpstr>Packing and Obfuscation Techniques</vt:lpstr>
      <vt:lpstr>Unpacking</vt:lpstr>
      <vt:lpstr>Linked Libraries and Functions</vt:lpstr>
      <vt:lpstr>Linked Libraries and Functions</vt:lpstr>
      <vt:lpstr>Common DLLs</vt:lpstr>
      <vt:lpstr>Strings</vt:lpstr>
      <vt:lpstr>Strings</vt:lpstr>
      <vt:lpstr>Hash Function</vt:lpstr>
      <vt:lpstr>Practice</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Malware Analysis</dc:title>
  <dc:creator>tran the son</dc:creator>
  <cp:lastModifiedBy>tran the son</cp:lastModifiedBy>
  <cp:revision>34</cp:revision>
  <dcterms:created xsi:type="dcterms:W3CDTF">2022-10-14T03:01:16Z</dcterms:created>
  <dcterms:modified xsi:type="dcterms:W3CDTF">2024-01-26T08:51:32Z</dcterms:modified>
</cp:coreProperties>
</file>