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396" r:id="rId3"/>
    <p:sldId id="481" r:id="rId4"/>
    <p:sldId id="338" r:id="rId5"/>
    <p:sldId id="395" r:id="rId6"/>
    <p:sldId id="257" r:id="rId7"/>
    <p:sldId id="341" r:id="rId8"/>
    <p:sldId id="340" r:id="rId9"/>
    <p:sldId id="389" r:id="rId10"/>
    <p:sldId id="339" r:id="rId11"/>
    <p:sldId id="342" r:id="rId12"/>
    <p:sldId id="391" r:id="rId13"/>
    <p:sldId id="390" r:id="rId14"/>
    <p:sldId id="479" r:id="rId15"/>
    <p:sldId id="489" r:id="rId16"/>
    <p:sldId id="392" r:id="rId17"/>
    <p:sldId id="393" r:id="rId18"/>
    <p:sldId id="492" r:id="rId19"/>
    <p:sldId id="490" r:id="rId20"/>
    <p:sldId id="491" r:id="rId21"/>
    <p:sldId id="343" r:id="rId22"/>
    <p:sldId id="344" r:id="rId23"/>
    <p:sldId id="258" r:id="rId24"/>
    <p:sldId id="345" r:id="rId25"/>
    <p:sldId id="346" r:id="rId26"/>
    <p:sldId id="347" r:id="rId27"/>
    <p:sldId id="261" r:id="rId28"/>
    <p:sldId id="263" r:id="rId29"/>
    <p:sldId id="265" r:id="rId30"/>
    <p:sldId id="266" r:id="rId31"/>
    <p:sldId id="460" r:id="rId32"/>
    <p:sldId id="428" r:id="rId33"/>
    <p:sldId id="454" r:id="rId34"/>
    <p:sldId id="42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08" autoAdjust="0"/>
  </p:normalViewPr>
  <p:slideViewPr>
    <p:cSldViewPr>
      <p:cViewPr varScale="1">
        <p:scale>
          <a:sx n="88" d="100"/>
          <a:sy n="88" d="100"/>
        </p:scale>
        <p:origin x="-1670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956"/>
    </p:cViewPr>
  </p:sorterViewPr>
  <p:notesViewPr>
    <p:cSldViewPr>
      <p:cViewPr>
        <p:scale>
          <a:sx n="150" d="100"/>
          <a:sy n="150" d="100"/>
        </p:scale>
        <p:origin x="-810" y="29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B0644-BD0B-40B8-AF7A-8CD10AC08897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A334-FE4D-4C3E-A61B-575B8EC3A5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1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oftware" TargetMode="External"/><Relationship Id="rId13" Type="http://schemas.openxmlformats.org/officeDocument/2006/relationships/hyperlink" Target="https://en.wikipedia.org/wiki/Algorithm" TargetMode="External"/><Relationship Id="rId18" Type="http://schemas.openxmlformats.org/officeDocument/2006/relationships/hyperlink" Target="https://en.wikipedia.org/wiki/Spyware#cite_note-FTC-REPORT-2005-1" TargetMode="External"/><Relationship Id="rId3" Type="http://schemas.openxmlformats.org/officeDocument/2006/relationships/hyperlink" Target="https://en.wikipedia.org/wiki/Malicious_software" TargetMode="External"/><Relationship Id="rId7" Type="http://schemas.openxmlformats.org/officeDocument/2006/relationships/hyperlink" Target="https://en.wikipedia.org/wiki/Malware" TargetMode="External"/><Relationship Id="rId12" Type="http://schemas.openxmlformats.org/officeDocument/2006/relationships/hyperlink" Target="https://en.wikipedia.org/wiki/Cryptosystem" TargetMode="External"/><Relationship Id="rId17" Type="http://schemas.openxmlformats.org/officeDocument/2006/relationships/hyperlink" Target="https://en.wikipedia.org/wiki/Backdoor_(computing)#cite_note-2" TargetMode="External"/><Relationship Id="rId2" Type="http://schemas.openxmlformats.org/officeDocument/2006/relationships/slide" Target="../slides/slide10.xml"/><Relationship Id="rId16" Type="http://schemas.openxmlformats.org/officeDocument/2006/relationships/hyperlink" Target="https://en.wikipedia.org/wiki/Backdoor_(computing)#cite_note-1" TargetMode="External"/><Relationship Id="rId20" Type="http://schemas.openxmlformats.org/officeDocument/2006/relationships/hyperlink" Target="https://en.wikipedia.org/wiki/Cryptographic_system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Computer_virus#cite_note-Stallings_2012_p.182-1" TargetMode="External"/><Relationship Id="rId11" Type="http://schemas.openxmlformats.org/officeDocument/2006/relationships/hyperlink" Target="https://en.wikipedia.org/wiki/Home_router" TargetMode="External"/><Relationship Id="rId5" Type="http://schemas.openxmlformats.org/officeDocument/2006/relationships/hyperlink" Target="https://en.wikipedia.org/wiki/Computer_program" TargetMode="External"/><Relationship Id="rId15" Type="http://schemas.openxmlformats.org/officeDocument/2006/relationships/hyperlink" Target="https://en.wikipedia.org/wiki/Intel_Active_Management_Technology" TargetMode="External"/><Relationship Id="rId10" Type="http://schemas.openxmlformats.org/officeDocument/2006/relationships/hyperlink" Target="https://en.wikipedia.org/wiki/Computer" TargetMode="External"/><Relationship Id="rId19" Type="http://schemas.openxmlformats.org/officeDocument/2006/relationships/hyperlink" Target="https://en.wikipedia.org/wiki/Plaintext" TargetMode="External"/><Relationship Id="rId4" Type="http://schemas.openxmlformats.org/officeDocument/2006/relationships/hyperlink" Target="https://en.wikipedia.org/wiki/Quine_(computing)" TargetMode="External"/><Relationship Id="rId9" Type="http://schemas.openxmlformats.org/officeDocument/2006/relationships/hyperlink" Target="https://en.wikipedia.org/wiki/Authentication" TargetMode="External"/><Relationship Id="rId14" Type="http://schemas.openxmlformats.org/officeDocument/2006/relationships/hyperlink" Target="https://en.wikipedia.org/wiki/Chipset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083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031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722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virus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type of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alicious software"/>
              </a:rPr>
              <a:t>malicious software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that, when executed,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Quine (computing)"/>
              </a:rPr>
              <a:t>replicates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itself by modifying other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mputer program"/>
              </a:rPr>
              <a:t>computer programs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inserting its own code.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[1]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this replication succeeds, the affected areas are then said to be "infected" with a computer virus.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worm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standalone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Malware"/>
              </a:rPr>
              <a:t>malware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mputer program"/>
              </a:rPr>
              <a:t>computer program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replicates itself in order to spread to other computers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rootkit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collection of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Software"/>
              </a:rPr>
              <a:t>computer software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typically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Malware"/>
              </a:rPr>
              <a:t>malicious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designed to enable access to a computer or an area of its software that is not otherwise allowed.</a:t>
            </a:r>
          </a:p>
          <a:p>
            <a:pPr marL="171450" indent="-171450">
              <a:buFontTx/>
              <a:buChar char="-"/>
            </a:pP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 mobile code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becoming a popular way to get malware installed on a computer. Malicious mobile code is malware that is obtained from </a:t>
            </a:r>
            <a:r>
              <a:rPr lang="en-GB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 servers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transferred across a network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then </a:t>
            </a:r>
            <a:r>
              <a:rPr lang="en-GB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downloaded on to your computer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type of code can be transmitted through interactive Web applications such as ActiveX controls, Flash animation, or JavaScript.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backdoor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method, often secret, of bypassing normal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Authentication"/>
              </a:rPr>
              <a:t>authentication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encryption in a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Computer"/>
              </a:rPr>
              <a:t>computer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system, a product, or an embedded device (e.g. a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Home router"/>
              </a:rPr>
              <a:t>home router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or its embodiment, e.g. as part of a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Cryptosystem"/>
              </a:rPr>
              <a:t>cryptosystem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Algorithm"/>
              </a:rPr>
              <a:t>algorithm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 tooltip="Chipset"/>
              </a:rPr>
              <a:t>chipset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a "homunculus computer" —a tiny computer-within-a-computer (such as that as found in Intel's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Intel Active Management Technology"/>
              </a:rPr>
              <a:t>AMT technology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/>
              </a:rPr>
              <a:t>[1]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/>
              </a:rPr>
              <a:t>[2]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Backdoors are often used for securing remote access to a computer, or obtaining access to </a:t>
            </a:r>
          </a:p>
          <a:p>
            <a:pPr marL="171450" indent="-171450">
              <a:buFontTx/>
              <a:buChar char="-"/>
            </a:pPr>
            <a:r>
              <a:rPr lang="en-GB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Spyware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software that aims to gather information about a person or organization, sometimes without their knowledge, that may send such information to another entity without the consumer's consent, that asserts control over a device without the consumer's knowledge, or it may send such information to another entity with the consumer's consent, through cookies .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8"/>
              </a:rPr>
              <a:t>[1]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9" tooltip="Plaintext"/>
              </a:rPr>
              <a:t>plaintext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 </a:t>
            </a:r>
            <a:r>
              <a:rPr lang="en-GB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0"/>
              </a:rPr>
              <a:t>cryptographic systems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9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185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61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09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6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8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1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/>
              <a:t>24/08/2023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holar.google.com.vn/citations?hl=en&amp;user=zC4vaRAAAAAJ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.vn/citations?hl=en&amp;user=zC4vaRAAAAAJ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virusshare.com/" TargetMode="External"/><Relationship Id="rId2" Type="http://schemas.openxmlformats.org/officeDocument/2006/relationships/hyperlink" Target="http://oc.gtisc.gatech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zoo.morirt.com/" TargetMode="External"/><Relationship Id="rId4" Type="http://schemas.openxmlformats.org/officeDocument/2006/relationships/hyperlink" Target="http://www.virusign.com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124744"/>
            <a:ext cx="4139952" cy="31049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544616"/>
          </a:xfrm>
        </p:spPr>
        <p:txBody>
          <a:bodyPr>
            <a:normAutofit/>
          </a:bodyPr>
          <a:lstStyle/>
          <a:p>
            <a:endParaRPr lang="en-GB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3915054"/>
            <a:ext cx="3923928" cy="29429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237" y="1152281"/>
            <a:ext cx="4967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Hometown</a:t>
            </a:r>
            <a:r>
              <a:rPr lang="en-GB" dirty="0"/>
              <a:t>: </a:t>
            </a:r>
            <a:r>
              <a:rPr lang="en-GB" dirty="0" smtClean="0"/>
              <a:t>Quang Tri, Hue, Binh </a:t>
            </a:r>
            <a:r>
              <a:rPr lang="en-GB" dirty="0" err="1" smtClean="0"/>
              <a:t>Dinh</a:t>
            </a:r>
            <a:r>
              <a:rPr lang="en-GB" dirty="0" smtClean="0"/>
              <a:t>, HCMC</a:t>
            </a:r>
            <a:endParaRPr lang="en-GB" dirty="0"/>
          </a:p>
          <a:p>
            <a:r>
              <a:rPr lang="pt-BR" b="1" dirty="0"/>
              <a:t>Degree</a:t>
            </a:r>
            <a:r>
              <a:rPr lang="pt-BR" dirty="0"/>
              <a:t>: </a:t>
            </a:r>
          </a:p>
          <a:p>
            <a:pPr lvl="1"/>
            <a:r>
              <a:rPr lang="pt-BR" dirty="0" smtClean="0"/>
              <a:t>Msc (2004)</a:t>
            </a:r>
          </a:p>
          <a:p>
            <a:pPr lvl="1"/>
            <a:r>
              <a:rPr lang="pt-BR" dirty="0" smtClean="0"/>
              <a:t>Ph.D </a:t>
            </a:r>
            <a:r>
              <a:rPr lang="pt-BR" dirty="0"/>
              <a:t>(2014)</a:t>
            </a:r>
            <a:endParaRPr lang="en-GB" dirty="0"/>
          </a:p>
          <a:p>
            <a:pPr lvl="1"/>
            <a:r>
              <a:rPr lang="pt-BR" dirty="0"/>
              <a:t>Northumbria Unniversity, Newcatle Upon Tyne, UK.</a:t>
            </a:r>
            <a:endParaRPr lang="en-GB" dirty="0"/>
          </a:p>
          <a:p>
            <a:pPr lvl="1"/>
            <a:r>
              <a:rPr lang="pt-BR" dirty="0"/>
              <a:t>Major: Computer Networks and Communications.</a:t>
            </a:r>
            <a:endParaRPr lang="en-GB" dirty="0"/>
          </a:p>
          <a:p>
            <a:pPr lvl="1"/>
            <a:r>
              <a:rPr lang="pt-BR" dirty="0"/>
              <a:t>Thesis title: “An Mobility State Adaptive Routing Protocol for Mobile Ad Hoc Netwoks”.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5976" y="4638035"/>
            <a:ext cx="4752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Research Interests</a:t>
            </a:r>
            <a:r>
              <a:rPr lang="en-GB" dirty="0"/>
              <a:t>: </a:t>
            </a:r>
          </a:p>
          <a:p>
            <a:pPr lvl="1"/>
            <a:r>
              <a:rPr lang="en-GB" dirty="0" smtClean="0"/>
              <a:t>Mobile </a:t>
            </a:r>
            <a:r>
              <a:rPr lang="en-GB" dirty="0"/>
              <a:t>Ad Hoc and Sensor Networks, </a:t>
            </a:r>
            <a:r>
              <a:rPr lang="en-GB" dirty="0" err="1"/>
              <a:t>QoS</a:t>
            </a:r>
            <a:r>
              <a:rPr lang="en-GB" dirty="0"/>
              <a:t> Routing, Network Security, Visible Light Communications (VLC), Chaos theory.</a:t>
            </a:r>
          </a:p>
          <a:p>
            <a:r>
              <a:rPr lang="en-GB" dirty="0"/>
              <a:t> </a:t>
            </a:r>
            <a:r>
              <a:rPr lang="en-GB" b="1" dirty="0"/>
              <a:t>Institute</a:t>
            </a:r>
            <a:r>
              <a:rPr lang="en-GB" dirty="0"/>
              <a:t>: </a:t>
            </a:r>
          </a:p>
          <a:p>
            <a:pPr lvl="1"/>
            <a:r>
              <a:rPr lang="en-GB" dirty="0" smtClean="0"/>
              <a:t>Vietnam – Korea University (VKU)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290282" y="755412"/>
            <a:ext cx="6584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4"/>
              </a:rPr>
              <a:t>https://scholar.google.com.vn/citations?hl=en&amp;user=zC4vaRAAAAAJ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41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Teaching</a:t>
            </a:r>
          </a:p>
          <a:p>
            <a:pPr lvl="1"/>
            <a:r>
              <a:rPr lang="en-US" sz="1800" dirty="0" smtClean="0"/>
              <a:t>Computer networks</a:t>
            </a:r>
          </a:p>
          <a:p>
            <a:pPr lvl="1"/>
            <a:r>
              <a:rPr lang="en-US" sz="1800" dirty="0" smtClean="0"/>
              <a:t>Broadband networks</a:t>
            </a:r>
          </a:p>
          <a:p>
            <a:pPr lvl="1"/>
            <a:r>
              <a:rPr lang="en-US" sz="1800" dirty="0" smtClean="0"/>
              <a:t>Wireless and Sensor networks</a:t>
            </a:r>
          </a:p>
          <a:p>
            <a:pPr lvl="1"/>
            <a:r>
              <a:rPr lang="en-US" sz="1800" dirty="0" smtClean="0"/>
              <a:t>Network security</a:t>
            </a:r>
          </a:p>
          <a:p>
            <a:pPr lvl="1"/>
            <a:r>
              <a:rPr lang="en-US" sz="1800" dirty="0" smtClean="0"/>
              <a:t>Malware analysis</a:t>
            </a:r>
          </a:p>
          <a:p>
            <a:pPr lvl="1"/>
            <a:r>
              <a:rPr lang="en-US" sz="1800" dirty="0" smtClean="0"/>
              <a:t>Web programming</a:t>
            </a:r>
          </a:p>
          <a:p>
            <a:pPr lvl="1"/>
            <a:r>
              <a:rPr lang="en-US" sz="1800" dirty="0" smtClean="0"/>
              <a:t>Cloud computing</a:t>
            </a:r>
          </a:p>
          <a:p>
            <a:pPr lvl="1"/>
            <a:r>
              <a:rPr lang="en-US" sz="1800" dirty="0"/>
              <a:t>Linux </a:t>
            </a:r>
            <a:r>
              <a:rPr lang="en-US" sz="1800" dirty="0" smtClean="0"/>
              <a:t>OS</a:t>
            </a:r>
          </a:p>
          <a:p>
            <a:pPr lvl="1"/>
            <a:r>
              <a:rPr lang="en-US" sz="1800" dirty="0"/>
              <a:t>IP </a:t>
            </a:r>
            <a:r>
              <a:rPr lang="en-US" sz="1800" dirty="0" smtClean="0"/>
              <a:t>routing</a:t>
            </a:r>
          </a:p>
          <a:p>
            <a:pPr lvl="1"/>
            <a:r>
              <a:rPr lang="en-US" sz="1800" dirty="0" smtClean="0"/>
              <a:t>Li-Fi</a:t>
            </a:r>
          </a:p>
          <a:p>
            <a:pPr lvl="1"/>
            <a:endParaRPr lang="en-US" sz="1800" dirty="0"/>
          </a:p>
          <a:p>
            <a:pPr lvl="1"/>
            <a:endParaRPr lang="en-US" sz="2000" dirty="0" smtClean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290282" y="755412"/>
            <a:ext cx="6584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https://scholar.google.com.vn/citations?hl=en&amp;user=zC4vaRAAAAAJ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905003"/>
            <a:ext cx="2407816" cy="18058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65" y="1421497"/>
            <a:ext cx="2868692" cy="2151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6096" y="4607605"/>
            <a:ext cx="1715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MATLAB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79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Course 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9036496" cy="5733256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 smtClean="0"/>
              <a:t>Introduction</a:t>
            </a:r>
          </a:p>
          <a:p>
            <a:r>
              <a:rPr lang="en-GB" b="1" dirty="0" smtClean="0"/>
              <a:t>PE file</a:t>
            </a:r>
          </a:p>
          <a:p>
            <a:r>
              <a:rPr lang="en-GB" b="1" dirty="0" smtClean="0"/>
              <a:t>String/Hash/DLL</a:t>
            </a:r>
          </a:p>
          <a:p>
            <a:r>
              <a:rPr lang="en-GB" b="1" dirty="0" smtClean="0"/>
              <a:t>Malware Analysis</a:t>
            </a:r>
          </a:p>
          <a:p>
            <a:pPr lvl="2"/>
            <a:r>
              <a:rPr lang="en-GB" dirty="0" smtClean="0"/>
              <a:t>Surface </a:t>
            </a:r>
          </a:p>
          <a:p>
            <a:pPr lvl="2"/>
            <a:r>
              <a:rPr lang="en-GB" dirty="0" smtClean="0"/>
              <a:t>Dynamic</a:t>
            </a:r>
          </a:p>
          <a:p>
            <a:pPr lvl="2"/>
            <a:r>
              <a:rPr lang="en-GB" dirty="0" smtClean="0"/>
              <a:t>Static</a:t>
            </a:r>
          </a:p>
          <a:p>
            <a:r>
              <a:rPr lang="en-GB" b="1" dirty="0" smtClean="0"/>
              <a:t>Malware Analysis Tools &amp; Techniques</a:t>
            </a:r>
          </a:p>
          <a:p>
            <a:pPr lvl="2"/>
            <a:r>
              <a:rPr lang="en-GB" dirty="0" smtClean="0"/>
              <a:t>Assembly</a:t>
            </a:r>
          </a:p>
          <a:p>
            <a:pPr lvl="2"/>
            <a:r>
              <a:rPr lang="en-GB" dirty="0" smtClean="0"/>
              <a:t>IDA Pro</a:t>
            </a:r>
          </a:p>
          <a:p>
            <a:pPr lvl="2"/>
            <a:r>
              <a:rPr lang="en-GB" dirty="0" err="1" smtClean="0"/>
              <a:t>OllyDbg</a:t>
            </a:r>
            <a:endParaRPr lang="en-GB" dirty="0" smtClean="0"/>
          </a:p>
          <a:p>
            <a:pPr lvl="2"/>
            <a:r>
              <a:rPr lang="en-GB" dirty="0" smtClean="0"/>
              <a:t>Virtual Machines (VMWare, …)</a:t>
            </a:r>
          </a:p>
          <a:p>
            <a:pPr lvl="2"/>
            <a:r>
              <a:rPr lang="en-GB" dirty="0" smtClean="0"/>
              <a:t>Disassemblers and Debuggers</a:t>
            </a:r>
          </a:p>
          <a:p>
            <a:pPr lvl="2"/>
            <a:r>
              <a:rPr lang="en-GB" dirty="0" smtClean="0"/>
              <a:t>Monitoring tools</a:t>
            </a:r>
          </a:p>
          <a:p>
            <a:pPr lvl="2"/>
            <a:r>
              <a:rPr lang="en-GB" dirty="0" smtClean="0"/>
              <a:t>Packer Detector &amp; Unpackers</a:t>
            </a:r>
          </a:p>
          <a:p>
            <a:r>
              <a:rPr lang="en-GB" b="1" dirty="0" smtClean="0"/>
              <a:t>Project </a:t>
            </a:r>
          </a:p>
          <a:p>
            <a:pPr lvl="2"/>
            <a:r>
              <a:rPr lang="en-GB" b="1" dirty="0" smtClean="0"/>
              <a:t>IDA Pro</a:t>
            </a:r>
          </a:p>
          <a:p>
            <a:pPr lvl="2"/>
            <a:r>
              <a:rPr lang="en-GB" b="1" dirty="0" err="1" smtClean="0"/>
              <a:t>OllyDbg</a:t>
            </a:r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35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Text-books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96752"/>
            <a:ext cx="6767445" cy="5112568"/>
          </a:xfrm>
        </p:spPr>
        <p:txBody>
          <a:bodyPr/>
          <a:lstStyle/>
          <a:p>
            <a:r>
              <a:rPr lang="en-GB" dirty="0" smtClean="0">
                <a:latin typeface="Agency FB" panose="020B0503020202020204" pitchFamily="34" charset="0"/>
              </a:rPr>
              <a:t>Michael Sikorski and Andrew </a:t>
            </a:r>
            <a:r>
              <a:rPr lang="en-GB" dirty="0" err="1" smtClean="0">
                <a:latin typeface="Agency FB" panose="020B0503020202020204" pitchFamily="34" charset="0"/>
              </a:rPr>
              <a:t>Honig</a:t>
            </a:r>
            <a:r>
              <a:rPr lang="en-GB" dirty="0" smtClean="0">
                <a:latin typeface="Agency FB" panose="020B0503020202020204" pitchFamily="34" charset="0"/>
              </a:rPr>
              <a:t>, “</a:t>
            </a:r>
            <a:r>
              <a:rPr lang="en-GB" b="1" dirty="0" smtClean="0">
                <a:latin typeface="Agency FB" panose="020B0503020202020204" pitchFamily="34" charset="0"/>
              </a:rPr>
              <a:t>Practical Malware Analysis: The Hands-on Guide to Dissecting Malicious Software</a:t>
            </a:r>
            <a:r>
              <a:rPr lang="en-GB" dirty="0" smtClean="0">
                <a:latin typeface="Agency FB" panose="020B0503020202020204" pitchFamily="34" charset="0"/>
              </a:rPr>
              <a:t>”, No Starch Press, ISBN-10: 1-59327-290-1</a:t>
            </a:r>
          </a:p>
          <a:p>
            <a:endParaRPr lang="en-GB" dirty="0" smtClean="0">
              <a:latin typeface="Agency FB" panose="020B0503020202020204" pitchFamily="34" charset="0"/>
            </a:endParaRPr>
          </a:p>
          <a:p>
            <a:r>
              <a:rPr lang="en-GB" dirty="0" smtClean="0">
                <a:latin typeface="Agency FB" panose="020B0503020202020204" pitchFamily="34" charset="0"/>
              </a:rPr>
              <a:t>Dennis </a:t>
            </a:r>
            <a:r>
              <a:rPr lang="en-GB" dirty="0" err="1" smtClean="0">
                <a:latin typeface="Agency FB" panose="020B0503020202020204" pitchFamily="34" charset="0"/>
              </a:rPr>
              <a:t>Yurichev</a:t>
            </a:r>
            <a:r>
              <a:rPr lang="en-GB" dirty="0" smtClean="0">
                <a:latin typeface="Agency FB" panose="020B0503020202020204" pitchFamily="34" charset="0"/>
              </a:rPr>
              <a:t>, “</a:t>
            </a:r>
            <a:r>
              <a:rPr lang="en-GB" b="1" dirty="0" smtClean="0">
                <a:latin typeface="Agency FB" panose="020B0503020202020204" pitchFamily="34" charset="0"/>
              </a:rPr>
              <a:t>Reverse Engineering for Beginners</a:t>
            </a:r>
            <a:r>
              <a:rPr lang="en-GB" dirty="0" smtClean="0">
                <a:latin typeface="Agency FB" panose="020B0503020202020204" pitchFamily="34" charset="0"/>
              </a:rPr>
              <a:t>”, 2013-2015.</a:t>
            </a:r>
          </a:p>
          <a:p>
            <a:endParaRPr lang="en-GB" dirty="0"/>
          </a:p>
        </p:txBody>
      </p:sp>
      <p:pic>
        <p:nvPicPr>
          <p:cNvPr id="2050" name="Picture 2" descr="Káº¿t quáº£ hÃ¬nh áº£nh cho Practical Malware Analysis: The Hands-on Guide to Dissecting Malicio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645" y="1124744"/>
            <a:ext cx="1835091" cy="242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788" y="3874721"/>
            <a:ext cx="1823792" cy="25786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9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Malicious code/Malware</a:t>
            </a:r>
          </a:p>
          <a:p>
            <a:pPr lvl="1"/>
            <a:r>
              <a:rPr lang="en-GB" sz="2400" dirty="0" smtClean="0"/>
              <a:t>A programming </a:t>
            </a:r>
            <a:r>
              <a:rPr lang="en-GB" sz="2400" dirty="0"/>
              <a:t>code that is capable of causing harm to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availability</a:t>
            </a:r>
            <a:r>
              <a:rPr lang="en-GB" sz="2400" dirty="0"/>
              <a:t>,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integrity</a:t>
            </a:r>
            <a:r>
              <a:rPr lang="en-GB" sz="2400" dirty="0"/>
              <a:t> of code or data, or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confidentiality</a:t>
            </a:r>
            <a:r>
              <a:rPr lang="en-GB" sz="2400" dirty="0"/>
              <a:t> in a </a:t>
            </a:r>
            <a:r>
              <a:rPr lang="en-GB" sz="2400" dirty="0" smtClean="0"/>
              <a:t>computing system encompasses including </a:t>
            </a:r>
            <a:r>
              <a:rPr lang="en-GB" sz="2400" dirty="0"/>
              <a:t>v</a:t>
            </a:r>
            <a:r>
              <a:rPr lang="en-GB" sz="2400" dirty="0" smtClean="0"/>
              <a:t>irus, Trojan horse, worm, rootkit, scareware, spyware.</a:t>
            </a:r>
          </a:p>
          <a:p>
            <a:pPr lvl="1"/>
            <a:r>
              <a:rPr lang="en-GB" sz="2400" dirty="0" smtClean="0"/>
              <a:t>A </a:t>
            </a:r>
            <a:r>
              <a:rPr lang="en-GB" sz="2400" dirty="0"/>
              <a:t>set of instructions that run on your computer </a:t>
            </a:r>
            <a:r>
              <a:rPr lang="en-GB" sz="2400" dirty="0" smtClean="0"/>
              <a:t>and make </a:t>
            </a:r>
            <a:r>
              <a:rPr lang="en-GB" sz="2400" dirty="0"/>
              <a:t>your system do something that an attacker wants it to do</a:t>
            </a:r>
            <a:r>
              <a:rPr lang="en-GB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65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Existence &amp; Motivation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Existence: perceived as the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</a:t>
            </a:r>
            <a:r>
              <a:rPr lang="en-GB" dirty="0"/>
              <a:t> or the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weapon</a:t>
            </a:r>
            <a:r>
              <a:rPr lang="en-GB" dirty="0"/>
              <a:t> of an </a:t>
            </a:r>
            <a:r>
              <a:rPr lang="en-GB" dirty="0" smtClean="0"/>
              <a:t>individual, organization </a:t>
            </a:r>
            <a:r>
              <a:rPr lang="en-GB" dirty="0"/>
              <a:t>intending an unethical or illegal act concerning computers and data</a:t>
            </a:r>
            <a:r>
              <a:rPr lang="en-GB" dirty="0" smtClean="0"/>
              <a:t>.</a:t>
            </a:r>
          </a:p>
          <a:p>
            <a:r>
              <a:rPr lang="en-GB" dirty="0" smtClean="0"/>
              <a:t>Motivations:</a:t>
            </a:r>
          </a:p>
          <a:p>
            <a:pPr lvl="2"/>
            <a:r>
              <a:rPr lang="en-GB" dirty="0" smtClean="0"/>
              <a:t>to wreck havoc: playing a prank, crash PCs, domain unavailable, etc.</a:t>
            </a:r>
          </a:p>
          <a:p>
            <a:pPr lvl="2"/>
            <a:r>
              <a:rPr lang="en-GB" dirty="0" smtClean="0"/>
              <a:t>to </a:t>
            </a:r>
            <a:r>
              <a:rPr lang="en-GB" dirty="0"/>
              <a:t>gain </a:t>
            </a:r>
            <a:r>
              <a:rPr lang="en-GB" dirty="0" smtClean="0"/>
              <a:t>profit: spam sending as a service, stealing financial or personal data, 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442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Malware </a:t>
            </a:r>
            <a:r>
              <a:rPr lang="en-GB" dirty="0" smtClean="0"/>
              <a:t>behaviour </a:t>
            </a:r>
            <a:r>
              <a:rPr lang="en-GB" dirty="0"/>
              <a:t>are </a:t>
            </a:r>
            <a:r>
              <a:rPr lang="en-GB" dirty="0" smtClean="0"/>
              <a:t>usually to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</a:t>
            </a:r>
            <a:r>
              <a:rPr lang="en-GB" dirty="0" smtClean="0"/>
              <a:t> </a:t>
            </a:r>
            <a:r>
              <a:rPr lang="en-GB" dirty="0"/>
              <a:t>crucial files on a computer to render it unusable without a </a:t>
            </a:r>
            <a:r>
              <a:rPr lang="en-GB" dirty="0" smtClean="0"/>
              <a:t>recovery process</a:t>
            </a:r>
            <a:r>
              <a:rPr lang="en-GB" dirty="0"/>
              <a:t>.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</a:t>
            </a:r>
            <a:r>
              <a:rPr lang="en-GB" dirty="0" smtClean="0"/>
              <a:t> </a:t>
            </a:r>
            <a:r>
              <a:rPr lang="en-GB" dirty="0"/>
              <a:t>every keyboard input to see what the users type.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Steal</a:t>
            </a:r>
            <a:r>
              <a:rPr lang="en-GB" dirty="0" smtClean="0"/>
              <a:t> </a:t>
            </a:r>
            <a:r>
              <a:rPr lang="en-GB" dirty="0"/>
              <a:t>personal or sensitive information or files from a computer.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</a:t>
            </a:r>
            <a:r>
              <a:rPr lang="en-GB" dirty="0" smtClean="0"/>
              <a:t> </a:t>
            </a:r>
            <a:r>
              <a:rPr lang="en-GB" dirty="0"/>
              <a:t>a computer’s resources for the purpose of the malware, e.g. send </a:t>
            </a:r>
            <a:r>
              <a:rPr lang="en-GB" dirty="0" smtClean="0"/>
              <a:t>spam emails</a:t>
            </a:r>
            <a:r>
              <a:rPr lang="en-GB" dirty="0"/>
              <a:t>, DDoS another system, or brute-force encryption keys</a:t>
            </a:r>
          </a:p>
        </p:txBody>
      </p:sp>
    </p:spTree>
    <p:extLst>
      <p:ext uri="{BB962C8B-B14F-4D97-AF65-F5344CB8AC3E}">
        <p14:creationId xmlns:p14="http://schemas.microsoft.com/office/powerpoint/2010/main" val="18910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History Computer Virus &amp; Malware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 smtClean="0"/>
              <a:t>1949, John </a:t>
            </a:r>
            <a:r>
              <a:rPr lang="en-GB" sz="2000" b="1" dirty="0"/>
              <a:t>von Neumann</a:t>
            </a:r>
            <a:r>
              <a:rPr lang="en-GB" sz="2000" dirty="0"/>
              <a:t> </a:t>
            </a:r>
            <a:r>
              <a:rPr lang="en-GB" sz="1600" dirty="0" smtClean="0"/>
              <a:t>“</a:t>
            </a:r>
            <a:r>
              <a:rPr lang="en-GB" sz="1600" dirty="0"/>
              <a:t>Theory </a:t>
            </a:r>
            <a:r>
              <a:rPr lang="en-GB" sz="1600" dirty="0" smtClean="0"/>
              <a:t>of Self-Reproducing Automata” </a:t>
            </a:r>
          </a:p>
          <a:p>
            <a:r>
              <a:rPr lang="en-GB" sz="2000" b="1" dirty="0" smtClean="0"/>
              <a:t>1971, </a:t>
            </a:r>
            <a:r>
              <a:rPr lang="en-GB" sz="2000" b="1" dirty="0"/>
              <a:t>Creeper</a:t>
            </a:r>
            <a:r>
              <a:rPr lang="en-GB" sz="2000" dirty="0"/>
              <a:t>: </a:t>
            </a:r>
            <a:r>
              <a:rPr lang="en-GB" sz="1600" dirty="0"/>
              <a:t>(Bob Thomas at BBN Technologies) is </a:t>
            </a:r>
            <a:r>
              <a:rPr lang="en-GB" sz="1600" dirty="0" smtClean="0"/>
              <a:t>able to move </a:t>
            </a:r>
            <a:r>
              <a:rPr lang="en-GB" sz="1600" dirty="0"/>
              <a:t>between computers. </a:t>
            </a:r>
            <a:r>
              <a:rPr lang="en-GB" sz="1600" dirty="0" smtClean="0"/>
              <a:t> </a:t>
            </a:r>
            <a:endParaRPr lang="en-GB" sz="1600" dirty="0"/>
          </a:p>
          <a:p>
            <a:r>
              <a:rPr lang="en-GB" sz="2000" b="1" dirty="0" smtClean="0"/>
              <a:t>1974, </a:t>
            </a:r>
            <a:r>
              <a:rPr lang="en-GB" sz="2000" b="1" dirty="0"/>
              <a:t>Wabbit</a:t>
            </a:r>
            <a:r>
              <a:rPr lang="en-GB" sz="2000" dirty="0"/>
              <a:t>: </a:t>
            </a:r>
            <a:r>
              <a:rPr lang="en-GB" sz="1600" dirty="0"/>
              <a:t>A self-replicating program </a:t>
            </a:r>
            <a:r>
              <a:rPr lang="en-GB" sz="1600" dirty="0" smtClean="0"/>
              <a:t>copied itself until </a:t>
            </a:r>
            <a:r>
              <a:rPr lang="en-GB" sz="1600" dirty="0"/>
              <a:t>it bogs down the system </a:t>
            </a:r>
            <a:endParaRPr lang="en-GB" sz="2000" dirty="0" smtClean="0"/>
          </a:p>
          <a:p>
            <a:r>
              <a:rPr lang="en-GB" sz="2000" b="1" dirty="0" smtClean="0"/>
              <a:t>1982, </a:t>
            </a:r>
            <a:r>
              <a:rPr lang="en-GB" sz="2000" b="1" dirty="0"/>
              <a:t>Elk Cloner</a:t>
            </a:r>
            <a:r>
              <a:rPr lang="en-GB" sz="1600" dirty="0"/>
              <a:t>: Written by a 15-year-old, Elk Cloner is one of the earliest widespread, self-replicating viruses to affect personal computers. </a:t>
            </a:r>
            <a:endParaRPr lang="en-GB" sz="1600" dirty="0" smtClean="0"/>
          </a:p>
          <a:p>
            <a:r>
              <a:rPr lang="en-GB" sz="2000" b="1" dirty="0"/>
              <a:t>1986, </a:t>
            </a:r>
            <a:r>
              <a:rPr lang="en-GB" sz="2000" b="1" dirty="0" smtClean="0"/>
              <a:t>Fred Cohen</a:t>
            </a:r>
            <a:r>
              <a:rPr lang="en-GB" sz="2000" dirty="0" smtClean="0"/>
              <a:t>: </a:t>
            </a:r>
            <a:r>
              <a:rPr lang="en-GB" sz="1600" dirty="0" smtClean="0"/>
              <a:t>Coined the term “</a:t>
            </a:r>
            <a:r>
              <a:rPr lang="en-GB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</a:t>
            </a:r>
            <a:r>
              <a:rPr lang="en-GB" sz="1600" dirty="0" smtClean="0"/>
              <a:t>” in his </a:t>
            </a:r>
            <a:r>
              <a:rPr lang="en-GB" sz="1600" dirty="0" err="1" smtClean="0"/>
              <a:t>Ph.D</a:t>
            </a:r>
            <a:r>
              <a:rPr lang="en-GB" sz="1600" dirty="0" smtClean="0"/>
              <a:t> thesis.</a:t>
            </a:r>
          </a:p>
          <a:p>
            <a:r>
              <a:rPr lang="en-GB" sz="2000" b="1" dirty="0" smtClean="0"/>
              <a:t>1986 </a:t>
            </a:r>
            <a:r>
              <a:rPr lang="en-GB" sz="2000" b="1" dirty="0"/>
              <a:t>–  Brain Boot Sector Virus</a:t>
            </a:r>
            <a:r>
              <a:rPr lang="en-GB" sz="2000" dirty="0"/>
              <a:t>: </a:t>
            </a:r>
            <a:r>
              <a:rPr lang="en-GB" sz="1600" dirty="0"/>
              <a:t>Generally regarded as the first virus to infect MS-DOS computers</a:t>
            </a:r>
            <a:r>
              <a:rPr lang="en-GB" sz="1600" dirty="0" smtClean="0"/>
              <a:t>.</a:t>
            </a:r>
            <a:endParaRPr lang="en-GB" sz="2000" dirty="0"/>
          </a:p>
          <a:p>
            <a:r>
              <a:rPr lang="en-GB" sz="2000" b="1" dirty="0"/>
              <a:t>1986 </a:t>
            </a:r>
            <a:r>
              <a:rPr lang="en-GB" sz="2000" b="1" dirty="0" smtClean="0"/>
              <a:t>, PC-Write </a:t>
            </a:r>
            <a:r>
              <a:rPr lang="en-GB" sz="2000" b="1" dirty="0"/>
              <a:t>Trojan</a:t>
            </a:r>
            <a:r>
              <a:rPr lang="en-GB" sz="2000" dirty="0"/>
              <a:t>: </a:t>
            </a:r>
            <a:r>
              <a:rPr lang="en-GB" sz="1600" dirty="0" smtClean="0"/>
              <a:t>the </a:t>
            </a:r>
            <a:r>
              <a:rPr lang="en-GB" sz="1600" dirty="0"/>
              <a:t>earliest </a:t>
            </a:r>
            <a:r>
              <a:rPr lang="en-GB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Trojans</a:t>
            </a:r>
            <a:r>
              <a:rPr lang="en-GB" sz="1600" dirty="0"/>
              <a:t> as a popular shareware program called “PC-Writer</a:t>
            </a:r>
            <a:r>
              <a:rPr lang="en-GB" sz="1600" dirty="0" smtClean="0"/>
              <a:t>.”. It </a:t>
            </a:r>
            <a:r>
              <a:rPr lang="en-GB" sz="1600" dirty="0"/>
              <a:t>would erase all of a user’s files.</a:t>
            </a:r>
          </a:p>
          <a:p>
            <a:r>
              <a:rPr lang="en-GB" sz="2000" b="1" dirty="0" smtClean="0"/>
              <a:t>1988, Morris </a:t>
            </a:r>
            <a:r>
              <a:rPr lang="en-GB" sz="2000" b="1" dirty="0"/>
              <a:t>Worm</a:t>
            </a:r>
            <a:r>
              <a:rPr lang="en-GB" sz="2000" dirty="0"/>
              <a:t>: </a:t>
            </a:r>
            <a:r>
              <a:rPr lang="en-GB" sz="1600" dirty="0" smtClean="0"/>
              <a:t>infected </a:t>
            </a:r>
            <a:r>
              <a:rPr lang="en-GB" sz="1600" dirty="0"/>
              <a:t>a substantial percentage of computers connected to ARPANET</a:t>
            </a:r>
            <a:r>
              <a:rPr lang="en-GB" sz="1600" dirty="0" smtClean="0"/>
              <a:t>, bringing </a:t>
            </a:r>
            <a:r>
              <a:rPr lang="en-GB" sz="1600" dirty="0"/>
              <a:t>the network </a:t>
            </a:r>
            <a:r>
              <a:rPr lang="en-GB" sz="1600" dirty="0" smtClean="0"/>
              <a:t>down within </a:t>
            </a:r>
            <a:r>
              <a:rPr lang="en-GB" sz="1600" dirty="0"/>
              <a:t>24 hours. </a:t>
            </a:r>
          </a:p>
          <a:p>
            <a:r>
              <a:rPr lang="en-GB" sz="2000" b="1" dirty="0" smtClean="0"/>
              <a:t>1991, Michelangelo </a:t>
            </a:r>
            <a:r>
              <a:rPr lang="en-GB" sz="2000" b="1" dirty="0"/>
              <a:t>Virus</a:t>
            </a:r>
            <a:r>
              <a:rPr lang="en-GB" sz="2000" dirty="0"/>
              <a:t>: </a:t>
            </a:r>
            <a:r>
              <a:rPr lang="en-GB" sz="1600" dirty="0" smtClean="0"/>
              <a:t>was </a:t>
            </a:r>
            <a:r>
              <a:rPr lang="en-GB" sz="1600" dirty="0"/>
              <a:t>designed to erase information from hard drives on </a:t>
            </a:r>
            <a:r>
              <a:rPr lang="en-GB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March 6th</a:t>
            </a:r>
            <a:r>
              <a:rPr lang="en-GB" sz="1600" dirty="0"/>
              <a:t>, the birthday of the famed </a:t>
            </a:r>
            <a:r>
              <a:rPr lang="en-GB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Renaissance artist</a:t>
            </a:r>
            <a:r>
              <a:rPr lang="en-GB" sz="1600" dirty="0"/>
              <a:t>. </a:t>
            </a:r>
            <a:r>
              <a:rPr lang="en-GB" sz="1600" dirty="0" smtClean="0"/>
              <a:t>Impacted </a:t>
            </a:r>
            <a:r>
              <a:rPr lang="en-GB" sz="1600" dirty="0"/>
              <a:t>about 10,000 systems, but the hype significantly raised public awareness of computer viruses.</a:t>
            </a:r>
          </a:p>
          <a:p>
            <a:r>
              <a:rPr lang="en-GB" sz="2000" b="1" dirty="0" smtClean="0"/>
              <a:t>1999, Melissa </a:t>
            </a:r>
            <a:r>
              <a:rPr lang="en-GB" sz="2000" b="1" dirty="0"/>
              <a:t>Virus</a:t>
            </a:r>
            <a:r>
              <a:rPr lang="en-GB" sz="2000" dirty="0"/>
              <a:t>: </a:t>
            </a:r>
            <a:r>
              <a:rPr lang="en-GB" sz="1600" dirty="0" smtClean="0"/>
              <a:t>the </a:t>
            </a:r>
            <a:r>
              <a:rPr lang="en-GB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mass-emailed virus</a:t>
            </a:r>
            <a:r>
              <a:rPr lang="en-GB" sz="1600" dirty="0"/>
              <a:t>, </a:t>
            </a:r>
            <a:r>
              <a:rPr lang="en-GB" sz="1600" dirty="0" smtClean="0"/>
              <a:t>utilized Outlook </a:t>
            </a:r>
            <a:r>
              <a:rPr lang="en-GB" sz="1600" dirty="0"/>
              <a:t>address books from infected machines, and mailed itself to 50 people at a time.</a:t>
            </a:r>
            <a:endParaRPr lang="en-GB" sz="1600" dirty="0" smtClean="0"/>
          </a:p>
        </p:txBody>
      </p:sp>
    </p:spTree>
    <p:extLst>
      <p:ext uri="{BB962C8B-B14F-4D97-AF65-F5344CB8AC3E}">
        <p14:creationId xmlns:p14="http://schemas.microsoft.com/office/powerpoint/2010/main" val="398734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Malware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Virus</a:t>
            </a:r>
          </a:p>
          <a:p>
            <a:r>
              <a:rPr lang="en-GB" dirty="0" smtClean="0"/>
              <a:t>Worm</a:t>
            </a:r>
          </a:p>
          <a:p>
            <a:r>
              <a:rPr lang="en-GB" dirty="0" smtClean="0"/>
              <a:t>Backdoor</a:t>
            </a:r>
          </a:p>
          <a:p>
            <a:r>
              <a:rPr lang="en-GB" dirty="0" smtClean="0"/>
              <a:t>Trojan</a:t>
            </a:r>
          </a:p>
          <a:p>
            <a:r>
              <a:rPr lang="en-GB" dirty="0" smtClean="0"/>
              <a:t>Rootkit</a:t>
            </a:r>
          </a:p>
          <a:p>
            <a:r>
              <a:rPr lang="en-GB" dirty="0" smtClean="0"/>
              <a:t>Ransomware (Crypto-ransomware)</a:t>
            </a:r>
          </a:p>
          <a:p>
            <a:r>
              <a:rPr lang="en-GB" dirty="0" smtClean="0"/>
              <a:t>Malicious Mobile Code</a:t>
            </a:r>
          </a:p>
          <a:p>
            <a:r>
              <a:rPr lang="en-GB" dirty="0" smtClean="0"/>
              <a:t>Spyware/Adware</a:t>
            </a:r>
          </a:p>
          <a:p>
            <a:r>
              <a:rPr lang="en-GB" dirty="0" smtClean="0"/>
              <a:t>Etc. DDoS</a:t>
            </a:r>
          </a:p>
        </p:txBody>
      </p:sp>
    </p:spTree>
    <p:extLst>
      <p:ext uri="{BB962C8B-B14F-4D97-AF65-F5344CB8AC3E}">
        <p14:creationId xmlns:p14="http://schemas.microsoft.com/office/powerpoint/2010/main" val="2233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Botnet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3" y="1196752"/>
            <a:ext cx="9063360" cy="5283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009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7"/>
          <p:cNvSpPr txBox="1">
            <a:spLocks noChangeArrowheads="1"/>
          </p:cNvSpPr>
          <p:nvPr/>
        </p:nvSpPr>
        <p:spPr bwMode="auto">
          <a:xfrm>
            <a:off x="0" y="2809350"/>
            <a:ext cx="4381500" cy="1631950"/>
          </a:xfrm>
          <a:prstGeom prst="rect">
            <a:avLst/>
          </a:prstGeom>
          <a:solidFill>
            <a:srgbClr val="FF7C8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 dirty="0">
                <a:solidFill>
                  <a:srgbClr val="FF0000"/>
                </a:solidFill>
              </a:rPr>
              <a:t>&gt;&gt; Bomb Virus</a:t>
            </a:r>
            <a:r>
              <a:rPr lang="en-GB" altLang="en-US" sz="1800" b="1" dirty="0"/>
              <a:t/>
            </a:r>
            <a:br>
              <a:rPr lang="en-GB" altLang="en-US" sz="1800" b="1" dirty="0"/>
            </a:br>
            <a:r>
              <a:rPr lang="en-GB" altLang="en-US" sz="1800" b="1" dirty="0"/>
              <a:t/>
            </a:r>
            <a:br>
              <a:rPr lang="en-GB" altLang="en-US" sz="1800" b="1" dirty="0"/>
            </a:b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If %date% NEQ </a:t>
            </a:r>
            <a:r>
              <a:rPr lang="en-GB" altLang="en-US" sz="1600" dirty="0" smtClean="0">
                <a:latin typeface="Courier New" pitchFamily="49" charset="0"/>
                <a:cs typeface="Courier New" pitchFamily="49" charset="0"/>
              </a:rPr>
              <a:t>2019/04/30 </a:t>
            </a:r>
            <a:r>
              <a:rPr lang="en-GB" altLang="en-US" sz="1600" dirty="0" err="1">
                <a:latin typeface="Courier New" pitchFamily="49" charset="0"/>
                <a:cs typeface="Courier New" pitchFamily="49" charset="0"/>
              </a:rPr>
              <a:t>goto</a:t>
            </a: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 exit</a:t>
            </a:r>
            <a:br>
              <a:rPr lang="en-GB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del C:\Program Files\.... /y &gt;</a:t>
            </a:r>
            <a:r>
              <a:rPr lang="en-GB" altLang="en-US" sz="1600" dirty="0" err="1">
                <a:latin typeface="Courier New" pitchFamily="49" charset="0"/>
                <a:cs typeface="Courier New" pitchFamily="49" charset="0"/>
              </a:rPr>
              <a:t>nul</a:t>
            </a: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GB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:exit</a:t>
            </a:r>
            <a:br>
              <a:rPr lang="en-GB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1600" dirty="0" err="1">
                <a:latin typeface="Courier New" pitchFamily="49" charset="0"/>
                <a:cs typeface="Courier New" pitchFamily="49" charset="0"/>
              </a:rPr>
              <a:t>exit</a:t>
            </a:r>
            <a:endParaRPr lang="en-GB" altLang="en-US" sz="1800" dirty="0"/>
          </a:p>
        </p:txBody>
      </p:sp>
      <p:sp>
        <p:nvSpPr>
          <p:cNvPr id="61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smtClean="0"/>
          </a:p>
        </p:txBody>
      </p:sp>
      <p:sp>
        <p:nvSpPr>
          <p:cNvPr id="614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2700" y="0"/>
            <a:ext cx="9110324" cy="27699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FF0000"/>
                </a:solidFill>
              </a:rPr>
              <a:t>&gt;&gt;Disable Internet Permanently (bat file)</a:t>
            </a:r>
          </a:p>
          <a:p>
            <a:pPr>
              <a:defRPr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@echo off&gt;c:windowswimn32.bat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break off&gt;&gt;c:windowswimn32.bat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ipconfig/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release_all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c:windowswimn32.bat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end&gt;&gt;c:windowswimn32.bat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add 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hkey_local_machine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/software/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microsoft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windowscurrentversion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/run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/v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WINDOWsAPI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/t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reg_sz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/d c:windowswimn32.bat /f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add 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hkey_current_user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/software/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microsoft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windowscurrentversion</a:t>
            </a:r>
            <a:r>
              <a:rPr lang="en-GB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/run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/v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CONTROLexit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/t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reg_sz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/d c:windowswimn32.bat /f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echo You Have Been HACKED!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6707" y="2827743"/>
            <a:ext cx="4306317" cy="83099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GB" sz="1600" b="1" dirty="0">
                <a:solidFill>
                  <a:srgbClr val="FF0000"/>
                </a:solidFill>
              </a:rPr>
              <a:t>&gt;&gt; log off the computer</a:t>
            </a:r>
            <a:r>
              <a:rPr lang="en-GB" sz="1600" b="1" dirty="0"/>
              <a:t/>
            </a:r>
            <a:br>
              <a:rPr lang="en-GB" sz="1600" b="1" dirty="0"/>
            </a:b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@echo off</a:t>
            </a:r>
          </a:p>
          <a:p>
            <a:pPr algn="r">
              <a:defRPr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shutdown </a:t>
            </a:r>
            <a:r>
              <a:rPr lang="en-GB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/f /r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469063"/>
            <a:ext cx="5292080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&gt;&gt; Simple Worm</a:t>
            </a:r>
          </a:p>
          <a:p>
            <a:r>
              <a:rPr lang="en-GB" sz="1600" dirty="0">
                <a:latin typeface="Courier New" pitchFamily="49" charset="0"/>
                <a:cs typeface="Courier New" pitchFamily="49" charset="0"/>
              </a:rPr>
              <a:t>@echo off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copy 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:\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Malwares\virus.bat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C:\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Malwares</a:t>
            </a:r>
          </a:p>
          <a:p>
            <a:r>
              <a:rPr lang="en-GB" sz="1600" dirty="0">
                <a:latin typeface="Courier New" pitchFamily="49" charset="0"/>
                <a:cs typeface="Courier New" pitchFamily="49" charset="0"/>
              </a:rPr>
              <a:t>start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C:\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Malwares\virus.bat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8426" y="3843406"/>
            <a:ext cx="4726743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r>
              <a:rPr lang="en-GB" dirty="0" err="1"/>
              <a:t>CreateObject</a:t>
            </a:r>
            <a:r>
              <a:rPr lang="en-GB" dirty="0"/>
              <a:t>(“</a:t>
            </a:r>
            <a:r>
              <a:rPr lang="en-GB" dirty="0" err="1"/>
              <a:t>SAPI.SpVoice</a:t>
            </a:r>
            <a:r>
              <a:rPr lang="en-GB" dirty="0"/>
              <a:t>”).</a:t>
            </a:r>
            <a:r>
              <a:rPr lang="en-GB" dirty="0" err="1"/>
              <a:t>Speak”I</a:t>
            </a:r>
            <a:r>
              <a:rPr lang="en-GB" dirty="0"/>
              <a:t> love YOU”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3044" y="5187692"/>
            <a:ext cx="4997450" cy="1631950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FF0000"/>
                </a:solidFill>
              </a:rPr>
              <a:t>&gt;&gt;Endless Notepads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@ECHO off</a:t>
            </a:r>
            <a:b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:top</a:t>
            </a:r>
            <a:b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 %</a:t>
            </a:r>
            <a:r>
              <a:rPr lang="en-GB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SystemRoot</a:t>
            </a:r>
            <a: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%\system32\notepad.exe</a:t>
            </a:r>
            <a:b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 top</a:t>
            </a:r>
          </a:p>
        </p:txBody>
      </p:sp>
    </p:spTree>
    <p:extLst>
      <p:ext uri="{BB962C8B-B14F-4D97-AF65-F5344CB8AC3E}">
        <p14:creationId xmlns:p14="http://schemas.microsoft.com/office/powerpoint/2010/main" val="29096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Real-world Impacts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2010 – </a:t>
            </a:r>
            <a:r>
              <a:rPr lang="en-GB" b="1" dirty="0" err="1"/>
              <a:t>Stuxnet</a:t>
            </a:r>
            <a:r>
              <a:rPr lang="en-GB" b="1" dirty="0"/>
              <a:t> Worm</a:t>
            </a:r>
            <a:r>
              <a:rPr lang="en-GB" dirty="0"/>
              <a:t>: </a:t>
            </a:r>
            <a:r>
              <a:rPr lang="en-GB" sz="2600" dirty="0" smtClean="0"/>
              <a:t>attacking </a:t>
            </a:r>
            <a:r>
              <a:rPr lang="en-GB" sz="2600" dirty="0"/>
              <a:t>Iran’s nuclear program and included the ability to impact hardware as well as software. </a:t>
            </a:r>
            <a:endParaRPr lang="en-GB" dirty="0"/>
          </a:p>
          <a:p>
            <a:r>
              <a:rPr lang="en-GB" b="1" dirty="0"/>
              <a:t>2011 — Zeus Trojan</a:t>
            </a:r>
            <a:r>
              <a:rPr lang="en-GB" dirty="0"/>
              <a:t>: </a:t>
            </a:r>
            <a:r>
              <a:rPr lang="en-GB" sz="2600" dirty="0" smtClean="0"/>
              <a:t>first </a:t>
            </a:r>
            <a:r>
              <a:rPr lang="en-GB" sz="2600" dirty="0"/>
              <a:t>detected in 2007, the author </a:t>
            </a:r>
            <a:r>
              <a:rPr lang="en-GB" sz="2600" dirty="0" smtClean="0"/>
              <a:t>released </a:t>
            </a:r>
            <a:r>
              <a:rPr lang="en-GB" sz="2600" dirty="0"/>
              <a:t>the source code </a:t>
            </a:r>
            <a:r>
              <a:rPr lang="en-GB" sz="2600" dirty="0" smtClean="0"/>
              <a:t>in 2011. </a:t>
            </a:r>
            <a:r>
              <a:rPr lang="en-GB" sz="2600" dirty="0"/>
              <a:t>Sometimes called </a:t>
            </a:r>
            <a:r>
              <a:rPr lang="en-GB" sz="2600" dirty="0" err="1"/>
              <a:t>Zbot</a:t>
            </a:r>
            <a:r>
              <a:rPr lang="en-GB" sz="2600" dirty="0"/>
              <a:t>, </a:t>
            </a:r>
            <a:r>
              <a:rPr lang="en-GB" sz="2600" dirty="0" smtClean="0"/>
              <a:t>the </a:t>
            </a:r>
            <a:r>
              <a:rPr lang="en-GB" sz="2600" dirty="0"/>
              <a:t>most successful pieces of botnet software in the world, impacting millions of machines. It is often used to steal banking information by man-in-the-browser keystroke logging and form grabbing.</a:t>
            </a:r>
            <a:endParaRPr lang="en-GB" dirty="0"/>
          </a:p>
          <a:p>
            <a:r>
              <a:rPr lang="en-GB" b="1" dirty="0"/>
              <a:t>2013 – </a:t>
            </a:r>
            <a:r>
              <a:rPr lang="en-GB" b="1" dirty="0" err="1"/>
              <a:t>Cryptolocker</a:t>
            </a:r>
            <a:r>
              <a:rPr lang="en-GB" dirty="0"/>
              <a:t>: </a:t>
            </a:r>
            <a:r>
              <a:rPr lang="en-GB" sz="2600" dirty="0" smtClean="0"/>
              <a:t>early </a:t>
            </a:r>
            <a:r>
              <a:rPr lang="en-GB" sz="2600" dirty="0"/>
              <a:t>ransomware </a:t>
            </a:r>
            <a:r>
              <a:rPr lang="en-GB" sz="2600" dirty="0" smtClean="0"/>
              <a:t>programs.</a:t>
            </a:r>
            <a:endParaRPr lang="en-GB" dirty="0"/>
          </a:p>
          <a:p>
            <a:r>
              <a:rPr lang="en-GB" b="1" dirty="0"/>
              <a:t>2014 – </a:t>
            </a:r>
            <a:r>
              <a:rPr lang="en-GB" b="1" dirty="0" err="1"/>
              <a:t>Backoff</a:t>
            </a:r>
            <a:r>
              <a:rPr lang="en-GB" dirty="0"/>
              <a:t>: </a:t>
            </a:r>
            <a:r>
              <a:rPr lang="en-GB" sz="2600" dirty="0" smtClean="0"/>
              <a:t>compromise </a:t>
            </a:r>
            <a:r>
              <a:rPr lang="en-GB" sz="2600" dirty="0"/>
              <a:t>Point-of-Sale (POS) systems to steal credit card data.</a:t>
            </a:r>
            <a:endParaRPr lang="en-GB" dirty="0"/>
          </a:p>
          <a:p>
            <a:r>
              <a:rPr lang="en-GB" b="1" dirty="0"/>
              <a:t>2016 – </a:t>
            </a:r>
            <a:r>
              <a:rPr lang="en-GB" b="1" dirty="0" err="1"/>
              <a:t>Cerber</a:t>
            </a:r>
            <a:r>
              <a:rPr lang="en-GB" dirty="0"/>
              <a:t>: </a:t>
            </a:r>
            <a:r>
              <a:rPr lang="en-GB" sz="2600" dirty="0"/>
              <a:t>One of the heavy-hitters in the ransomware sphere</a:t>
            </a:r>
            <a:r>
              <a:rPr lang="en-GB" sz="2600" dirty="0" smtClean="0"/>
              <a:t>.</a:t>
            </a:r>
            <a:endParaRPr lang="en-GB" sz="2600" dirty="0"/>
          </a:p>
          <a:p>
            <a:r>
              <a:rPr lang="en-GB" b="1" dirty="0"/>
              <a:t>2017 – </a:t>
            </a:r>
            <a:r>
              <a:rPr lang="en-GB" b="1" dirty="0" err="1"/>
              <a:t>WannaCry</a:t>
            </a:r>
            <a:r>
              <a:rPr lang="en-GB" b="1" dirty="0"/>
              <a:t> Ransomware</a:t>
            </a:r>
            <a:r>
              <a:rPr lang="en-GB" dirty="0"/>
              <a:t>: </a:t>
            </a:r>
            <a:r>
              <a:rPr lang="en-GB" sz="2600" dirty="0" smtClean="0"/>
              <a:t>brought </a:t>
            </a:r>
            <a:r>
              <a:rPr lang="en-GB" sz="2600" dirty="0"/>
              <a:t>major computer systems in Russia, China, ­­the UK, and the US </a:t>
            </a:r>
            <a:r>
              <a:rPr lang="en-GB" sz="2600" dirty="0" smtClean="0"/>
              <a:t>down, </a:t>
            </a:r>
            <a:r>
              <a:rPr lang="en-GB" sz="2600" dirty="0"/>
              <a:t>locking people out of their data and demanding they pay a ransom or lose everything. The virus affected at least 150 countries, including hospitals, banks, telecommunications companies, warehouses, and many other industries</a:t>
            </a:r>
            <a:r>
              <a:rPr lang="en-GB" sz="2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868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sz="2000" b="1" dirty="0"/>
              <a:t>2018 – User information cyber </a:t>
            </a:r>
            <a:r>
              <a:rPr lang="sv-SE" sz="2000" b="1" dirty="0" smtClean="0"/>
              <a:t>attack</a:t>
            </a:r>
          </a:p>
          <a:p>
            <a:pPr lvl="1"/>
            <a:r>
              <a:rPr lang="sv-SE" sz="1800" b="1" dirty="0"/>
              <a:t>Emotet </a:t>
            </a:r>
            <a:r>
              <a:rPr lang="sv-SE" sz="1800" b="1" dirty="0" smtClean="0"/>
              <a:t>: </a:t>
            </a:r>
            <a:r>
              <a:rPr lang="en-GB" sz="1800" dirty="0"/>
              <a:t>is a modular Trojan that downloads or drops banking Trojans</a:t>
            </a:r>
            <a:endParaRPr lang="sv-SE" sz="1800" dirty="0"/>
          </a:p>
          <a:p>
            <a:r>
              <a:rPr lang="sv-SE" sz="2000" b="1" dirty="0" smtClean="0"/>
              <a:t>2019 - supply </a:t>
            </a:r>
            <a:r>
              <a:rPr lang="sv-SE" sz="2000" b="1" dirty="0"/>
              <a:t>chain attack </a:t>
            </a:r>
            <a:endParaRPr lang="sv-SE" sz="2000" b="1" dirty="0" smtClean="0"/>
          </a:p>
          <a:p>
            <a:pPr lvl="1"/>
            <a:r>
              <a:rPr lang="sv-SE" sz="2000" dirty="0" smtClean="0"/>
              <a:t>Malware inserted into HAVC suppliers, IoT, smarthome</a:t>
            </a:r>
          </a:p>
          <a:p>
            <a:pPr lvl="1"/>
            <a:r>
              <a:rPr lang="sv-SE" sz="2000" dirty="0"/>
              <a:t>Operation ShadowHammer</a:t>
            </a:r>
          </a:p>
          <a:p>
            <a:r>
              <a:rPr lang="en-GB" sz="2000" b="1" dirty="0" smtClean="0"/>
              <a:t>2020 – Ransomware attacks</a:t>
            </a:r>
          </a:p>
          <a:p>
            <a:pPr lvl="1"/>
            <a:r>
              <a:rPr lang="en-US" sz="1800" dirty="0"/>
              <a:t>The Software AG Ransomware Attack</a:t>
            </a:r>
            <a:r>
              <a:rPr lang="en-US" sz="1800" b="1" dirty="0"/>
              <a:t>:  </a:t>
            </a:r>
            <a:r>
              <a:rPr lang="en-US" sz="1800" dirty="0"/>
              <a:t>the second-biggest software company in Germany and the seventh-largest in Europe. The criminals behind the attack </a:t>
            </a:r>
            <a:r>
              <a:rPr lang="en-US" sz="1800" dirty="0" smtClean="0"/>
              <a:t>released Clop </a:t>
            </a:r>
            <a:r>
              <a:rPr lang="en-US" sz="1800" dirty="0"/>
              <a:t>ransomware and demanded a twenty million dollar ransom in exchange</a:t>
            </a:r>
          </a:p>
          <a:p>
            <a:pPr lvl="1"/>
            <a:r>
              <a:rPr lang="it-IT" sz="1800" dirty="0"/>
              <a:t>The Sopra Steria Ransomware </a:t>
            </a:r>
            <a:r>
              <a:rPr lang="it-IT" sz="1800" dirty="0" smtClean="0"/>
              <a:t>Attack (</a:t>
            </a:r>
            <a:r>
              <a:rPr lang="en-US" sz="1800" dirty="0"/>
              <a:t>a French IT service firm): ransomware called </a:t>
            </a:r>
            <a:r>
              <a:rPr lang="en-US" sz="1800" dirty="0" err="1"/>
              <a:t>Ryuk</a:t>
            </a:r>
            <a:r>
              <a:rPr lang="en-US" sz="1800" dirty="0"/>
              <a:t> after being identified by </a:t>
            </a:r>
            <a:r>
              <a:rPr lang="en-US" sz="1800" dirty="0" err="1"/>
              <a:t>Sopra</a:t>
            </a:r>
            <a:r>
              <a:rPr lang="en-US" sz="1800" dirty="0"/>
              <a:t> Banking Software, their </a:t>
            </a:r>
            <a:r>
              <a:rPr lang="en-US" sz="1800" dirty="0" err="1"/>
              <a:t>fintech</a:t>
            </a:r>
            <a:r>
              <a:rPr lang="en-US" sz="1800" dirty="0"/>
              <a:t> company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/>
              <a:t>The </a:t>
            </a:r>
            <a:r>
              <a:rPr lang="en-US" sz="1800" dirty="0" err="1"/>
              <a:t>Seyfarth</a:t>
            </a:r>
            <a:r>
              <a:rPr lang="en-US" sz="1800" dirty="0"/>
              <a:t> Shaw Malware Attack: the cybercrime affected their entire email </a:t>
            </a:r>
            <a:r>
              <a:rPr lang="en-US" sz="1800" dirty="0" smtClean="0"/>
              <a:t>system</a:t>
            </a:r>
          </a:p>
          <a:p>
            <a:r>
              <a:rPr lang="en-GB" sz="2000" b="1" dirty="0" smtClean="0"/>
              <a:t>2021 </a:t>
            </a:r>
            <a:r>
              <a:rPr lang="en-GB" sz="2000" b="1" dirty="0"/>
              <a:t>– </a:t>
            </a:r>
            <a:r>
              <a:rPr lang="en-GB" sz="2000" b="1" dirty="0" smtClean="0"/>
              <a:t>Ransomware attacks</a:t>
            </a:r>
          </a:p>
          <a:p>
            <a:pPr lvl="1"/>
            <a:r>
              <a:rPr lang="en-US" sz="1800" dirty="0"/>
              <a:t>Ransomware attacks, payouts soared worldwide in 2021</a:t>
            </a:r>
            <a:endParaRPr lang="en-GB" sz="18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038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Việt Nam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000" dirty="0"/>
              <a:t>Hơn 9300 website tại Việt Nam bị tấn công trong năm </a:t>
            </a:r>
            <a:r>
              <a:rPr lang="vi-VN" sz="2000" dirty="0" smtClean="0"/>
              <a:t>2019</a:t>
            </a:r>
            <a:endParaRPr lang="en-US" sz="2000" dirty="0" smtClean="0"/>
          </a:p>
          <a:p>
            <a:r>
              <a:rPr lang="vi-VN" sz="2000" dirty="0"/>
              <a:t>Số vụ tấn công trực tuyến ở Việt Nam năm 2019 </a:t>
            </a:r>
            <a:r>
              <a:rPr lang="en-US" sz="2000" dirty="0" smtClean="0"/>
              <a:t>(</a:t>
            </a:r>
            <a:r>
              <a:rPr lang="en-US" sz="2000" dirty="0"/>
              <a:t> </a:t>
            </a:r>
            <a:r>
              <a:rPr lang="en-US" sz="2000" dirty="0" smtClean="0"/>
              <a:t>371.979.051) </a:t>
            </a:r>
            <a:r>
              <a:rPr lang="vi-VN" sz="2000" dirty="0" smtClean="0"/>
              <a:t>đã </a:t>
            </a:r>
            <a:r>
              <a:rPr lang="vi-VN" sz="2000" dirty="0"/>
              <a:t>giảm hơn 30% so với năm </a:t>
            </a:r>
            <a:r>
              <a:rPr lang="vi-VN" sz="2000" dirty="0" smtClean="0"/>
              <a:t>2018</a:t>
            </a:r>
            <a:r>
              <a:rPr lang="en-US" sz="2000" dirty="0" smtClean="0"/>
              <a:t> (415.592.714)</a:t>
            </a:r>
            <a:r>
              <a:rPr lang="vi-VN" sz="2000" dirty="0" smtClean="0"/>
              <a:t>, </a:t>
            </a:r>
            <a:r>
              <a:rPr lang="vi-VN" sz="2000" dirty="0"/>
              <a:t>xếp vị trí thứ 17 trên toàn cầu</a:t>
            </a:r>
            <a:r>
              <a:rPr lang="vi-VN" sz="2000" dirty="0" smtClean="0"/>
              <a:t>.</a:t>
            </a:r>
            <a:endParaRPr lang="en-US" sz="2000" dirty="0" smtClean="0"/>
          </a:p>
          <a:p>
            <a:r>
              <a:rPr lang="vi-VN" sz="2000" dirty="0"/>
              <a:t>Việt Nam đứng thứ 9 trên toàn cầu về mức độ bị ảnh hưởng của phần mềm gián </a:t>
            </a:r>
            <a:r>
              <a:rPr lang="vi-VN" sz="2000" dirty="0" smtClean="0"/>
              <a:t>điệp</a:t>
            </a:r>
            <a:r>
              <a:rPr lang="en-US" sz="2000" dirty="0" smtClean="0"/>
              <a:t> (</a:t>
            </a:r>
            <a:r>
              <a:rPr lang="vi-VN" sz="2000" dirty="0"/>
              <a:t>7.216 người dùng bị tấn </a:t>
            </a:r>
            <a:r>
              <a:rPr lang="vi-VN" sz="2000" dirty="0" smtClean="0"/>
              <a:t>công</a:t>
            </a:r>
            <a:r>
              <a:rPr lang="en-US" sz="2000" dirty="0" smtClean="0"/>
              <a:t>, 2019)</a:t>
            </a:r>
            <a:r>
              <a:rPr lang="vi-VN" sz="2000" dirty="0" smtClean="0"/>
              <a:t> </a:t>
            </a:r>
            <a:endParaRPr lang="en-US" sz="2000" dirty="0" smtClean="0"/>
          </a:p>
          <a:p>
            <a:r>
              <a:rPr lang="vi-VN" sz="2000" dirty="0"/>
              <a:t>Hacker liên tục lợi dụng dịch Covid-19: Đã có 23 phần mềm độc hại tại Việt </a:t>
            </a:r>
            <a:r>
              <a:rPr lang="vi-VN" sz="2000" dirty="0" smtClean="0"/>
              <a:t>Nam</a:t>
            </a:r>
            <a:r>
              <a:rPr lang="en-US" sz="2000" dirty="0" smtClean="0"/>
              <a:t> (2020)</a:t>
            </a:r>
          </a:p>
          <a:p>
            <a:r>
              <a:rPr lang="vi-VN" sz="2000" dirty="0"/>
              <a:t>Việt Nam vào nhóm 25 nước dẫn đầu về chỉ số an toàn, an ninh mạng toàn cầu</a:t>
            </a:r>
            <a:endParaRPr lang="en-US" sz="2000" dirty="0"/>
          </a:p>
        </p:txBody>
      </p:sp>
      <p:pic>
        <p:nvPicPr>
          <p:cNvPr id="1028" name="Picture 4" descr="https://files.ais.gov.vn/portal/attt/source_files/2021/07/01/19390634_viet-nam-vao-nhom-25-nuoc-dan-dau-ve-chi-so-an-toan-an-ninh-mang-toan-cau_21-07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005064"/>
            <a:ext cx="458152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40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Security reports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GB" dirty="0" smtClean="0"/>
              <a:t>anking malware</a:t>
            </a:r>
          </a:p>
          <a:p>
            <a:pPr lvl="2"/>
            <a:r>
              <a:rPr lang="en-GB" dirty="0" smtClean="0"/>
              <a:t>2020</a:t>
            </a:r>
            <a:r>
              <a:rPr lang="en-GB" dirty="0"/>
              <a:t>: </a:t>
            </a:r>
            <a:r>
              <a:rPr lang="en-GB" dirty="0" smtClean="0"/>
              <a:t>668,619 users attacked (steal money from bank accounts on the computers)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36912"/>
            <a:ext cx="7354887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331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Ransomware</a:t>
            </a:r>
          </a:p>
          <a:p>
            <a:pPr lvl="1"/>
            <a:r>
              <a:rPr lang="en-GB" dirty="0" smtClean="0"/>
              <a:t>2020: </a:t>
            </a:r>
            <a:r>
              <a:rPr lang="en-GB" sz="2400" dirty="0"/>
              <a:t> 549,301 unique </a:t>
            </a:r>
            <a:r>
              <a:rPr lang="en-GB" sz="2400" dirty="0" smtClean="0"/>
              <a:t>users attacked</a:t>
            </a:r>
            <a:endParaRPr lang="en-GB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852936"/>
            <a:ext cx="472440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854" y="2348880"/>
            <a:ext cx="3848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070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412776"/>
            <a:ext cx="4228689" cy="52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24744"/>
            <a:ext cx="606901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660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Miners</a:t>
            </a:r>
          </a:p>
          <a:p>
            <a:pPr lvl="1"/>
            <a:r>
              <a:rPr lang="en-US" dirty="0"/>
              <a:t>attempts to install a miner on the computers of 1,523,148 unique </a:t>
            </a:r>
            <a:r>
              <a:rPr lang="en-US" dirty="0" smtClean="0"/>
              <a:t>users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1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attacked</a:t>
            </a:r>
          </a:p>
          <a:p>
            <a:pPr marL="0" indent="0">
              <a:buNone/>
            </a:pPr>
            <a:r>
              <a:rPr lang="en-US" dirty="0" smtClean="0"/>
              <a:t>(2019-2020)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IOT attacks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412776"/>
            <a:ext cx="4826628" cy="503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674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/>
              <a:t>process of investigating the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 </a:t>
            </a:r>
            <a:r>
              <a:rPr lang="en-GB" dirty="0"/>
              <a:t>of a </a:t>
            </a:r>
            <a:r>
              <a:rPr lang="en-GB" dirty="0" smtClean="0"/>
              <a:t>specific sample </a:t>
            </a:r>
            <a:r>
              <a:rPr lang="en-GB" dirty="0"/>
              <a:t>of </a:t>
            </a:r>
            <a:r>
              <a:rPr lang="en-GB" dirty="0" smtClean="0"/>
              <a:t>malware</a:t>
            </a:r>
            <a:endParaRPr lang="en-GB" dirty="0"/>
          </a:p>
          <a:p>
            <a:pPr lvl="2"/>
            <a:r>
              <a:rPr lang="en-GB" dirty="0" smtClean="0"/>
              <a:t>To determine exactly what a particular suspect binary code can do</a:t>
            </a:r>
          </a:p>
          <a:p>
            <a:pPr lvl="2"/>
            <a:r>
              <a:rPr lang="en-GB" dirty="0" smtClean="0"/>
              <a:t>How to detect it on the network</a:t>
            </a:r>
          </a:p>
          <a:p>
            <a:pPr lvl="2"/>
            <a:r>
              <a:rPr lang="en-GB" dirty="0" smtClean="0"/>
              <a:t>How to measure and contain its damage 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Can be used to develop indicators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signatures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/>
            <a:r>
              <a:rPr lang="vi-VN" i="1" dirty="0">
                <a:latin typeface="Calibri" panose="020F0502020204030204" pitchFamily="34" charset="0"/>
                <a:cs typeface="Calibri" panose="020F0502020204030204" pitchFamily="34" charset="0"/>
              </a:rPr>
              <a:t>Host-based </a:t>
            </a:r>
            <a:r>
              <a:rPr lang="vi-V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indicator</a:t>
            </a:r>
            <a:r>
              <a:rPr lang="en-GB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are used to detect malicious code on victim computers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vi-V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en-GB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-based</a:t>
            </a:r>
            <a:r>
              <a:rPr lang="vi-V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indicator</a:t>
            </a:r>
            <a:r>
              <a:rPr lang="en-GB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are used to detect malicious code by monitoring network traffic.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0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" y="2997508"/>
            <a:ext cx="3774547" cy="3743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Analysis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60"/>
            <a:ext cx="6402932" cy="201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37022" y="3429000"/>
            <a:ext cx="4031168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u="sng" dirty="0" smtClean="0"/>
              <a:t>Success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No threats found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Sample found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New threats found</a:t>
            </a:r>
          </a:p>
          <a:p>
            <a:pPr marL="285750" indent="-285750">
              <a:buFontTx/>
              <a:buChar char="-"/>
            </a:pPr>
            <a:endParaRPr lang="en-GB" dirty="0" smtClean="0"/>
          </a:p>
          <a:p>
            <a:r>
              <a:rPr lang="en-GB" b="1" u="sng" dirty="0" smtClean="0"/>
              <a:t>Failure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Complex obfuscation techniques used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Lack of time, resources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File sample is not prioritised</a:t>
            </a:r>
            <a:endParaRPr lang="en-GB" dirty="0"/>
          </a:p>
        </p:txBody>
      </p:sp>
      <p:sp>
        <p:nvSpPr>
          <p:cNvPr id="6" name="Arc 5"/>
          <p:cNvSpPr/>
          <p:nvPr/>
        </p:nvSpPr>
        <p:spPr>
          <a:xfrm>
            <a:off x="6516216" y="2261445"/>
            <a:ext cx="1584176" cy="1400061"/>
          </a:xfrm>
          <a:prstGeom prst="arc">
            <a:avLst>
              <a:gd name="adj1" fmla="val 16200000"/>
              <a:gd name="adj2" fmla="val 10116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>
            <a:stCxn id="6" idx="2"/>
          </p:cNvCxnSpPr>
          <p:nvPr/>
        </p:nvCxnSpPr>
        <p:spPr>
          <a:xfrm>
            <a:off x="8099953" y="2984780"/>
            <a:ext cx="439" cy="3259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/>
          <p:cNvSpPr/>
          <p:nvPr/>
        </p:nvSpPr>
        <p:spPr>
          <a:xfrm>
            <a:off x="2771800" y="1484784"/>
            <a:ext cx="3600400" cy="360040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c 18"/>
          <p:cNvSpPr/>
          <p:nvPr/>
        </p:nvSpPr>
        <p:spPr>
          <a:xfrm flipH="1">
            <a:off x="2627784" y="1484784"/>
            <a:ext cx="3888432" cy="36004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10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Surface </a:t>
            </a:r>
            <a:r>
              <a:rPr lang="en-GB" b="1" dirty="0" smtClean="0"/>
              <a:t>Analysis (Scanning)</a:t>
            </a:r>
            <a:r>
              <a:rPr lang="en-GB" dirty="0" smtClean="0"/>
              <a:t>: recognizing </a:t>
            </a:r>
            <a:r>
              <a:rPr lang="en-GB" dirty="0"/>
              <a:t>or discovering a malware </a:t>
            </a:r>
            <a:r>
              <a:rPr lang="en-GB" dirty="0" smtClean="0"/>
              <a:t>signature (i.e. opening </a:t>
            </a:r>
            <a:r>
              <a:rPr lang="en-GB" dirty="0"/>
              <a:t>the </a:t>
            </a:r>
            <a:r>
              <a:rPr lang="en-GB" dirty="0" smtClean="0"/>
              <a:t>sample and </a:t>
            </a:r>
            <a:r>
              <a:rPr lang="en-GB" dirty="0"/>
              <a:t>quickly search for information in the sample file without executing </a:t>
            </a:r>
            <a:r>
              <a:rPr lang="en-GB" dirty="0" smtClean="0"/>
              <a:t>it).</a:t>
            </a:r>
          </a:p>
          <a:p>
            <a:pPr lvl="1"/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42" y="3284984"/>
            <a:ext cx="8020614" cy="2196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265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Dynamic Analysis</a:t>
            </a:r>
            <a:r>
              <a:rPr lang="en-GB" dirty="0" smtClean="0"/>
              <a:t>: mainly </a:t>
            </a:r>
            <a:r>
              <a:rPr lang="en-GB" dirty="0"/>
              <a:t>of running the target sample and </a:t>
            </a:r>
            <a:r>
              <a:rPr lang="en-GB" dirty="0" smtClean="0"/>
              <a:t>gathering diagnostics </a:t>
            </a:r>
            <a:r>
              <a:rPr lang="en-GB" dirty="0"/>
              <a:t>and behaviour results based on logs and monitoring </a:t>
            </a:r>
            <a:r>
              <a:rPr lang="en-GB" dirty="0" smtClean="0"/>
              <a:t>tools.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5832574" cy="4251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385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Behaviours</a:t>
            </a:r>
          </a:p>
          <a:p>
            <a:pPr lvl="2"/>
            <a:r>
              <a:rPr lang="en-GB" b="1" dirty="0" smtClean="0"/>
              <a:t>Memory</a:t>
            </a:r>
            <a:r>
              <a:rPr lang="en-GB" dirty="0" smtClean="0"/>
              <a:t> </a:t>
            </a:r>
            <a:r>
              <a:rPr lang="en-GB" dirty="0"/>
              <a:t>Mainly processes run, with threads. Shows what processes </a:t>
            </a:r>
            <a:r>
              <a:rPr lang="en-GB" dirty="0" smtClean="0"/>
              <a:t>are spawned </a:t>
            </a:r>
            <a:r>
              <a:rPr lang="en-GB" dirty="0"/>
              <a:t>and with which commands.</a:t>
            </a:r>
          </a:p>
          <a:p>
            <a:pPr lvl="2"/>
            <a:r>
              <a:rPr lang="en-GB" b="1" dirty="0" smtClean="0"/>
              <a:t>Disk</a:t>
            </a:r>
            <a:r>
              <a:rPr lang="en-GB" dirty="0" smtClean="0"/>
              <a:t> </a:t>
            </a:r>
            <a:r>
              <a:rPr lang="en-GB" dirty="0"/>
              <a:t>File and registry accesses and alterations. Shows file and </a:t>
            </a:r>
            <a:r>
              <a:rPr lang="en-GB" dirty="0" smtClean="0"/>
              <a:t>registry read</a:t>
            </a:r>
            <a:r>
              <a:rPr lang="en-GB" dirty="0"/>
              <a:t>, write, creations and deletes.</a:t>
            </a:r>
          </a:p>
          <a:p>
            <a:pPr lvl="2"/>
            <a:r>
              <a:rPr lang="en-GB" b="1" dirty="0" smtClean="0"/>
              <a:t>Network</a:t>
            </a:r>
            <a:r>
              <a:rPr lang="en-GB" dirty="0" smtClean="0"/>
              <a:t> </a:t>
            </a:r>
            <a:r>
              <a:rPr lang="en-GB" dirty="0"/>
              <a:t>All network traffic</a:t>
            </a:r>
            <a:r>
              <a:rPr lang="en-GB" dirty="0" smtClean="0"/>
              <a:t>.</a:t>
            </a:r>
          </a:p>
          <a:p>
            <a:r>
              <a:rPr lang="en-GB" dirty="0" smtClean="0"/>
              <a:t>Required: </a:t>
            </a:r>
          </a:p>
          <a:p>
            <a:pPr lvl="2"/>
            <a:r>
              <a:rPr lang="en-GB" dirty="0" smtClean="0"/>
              <a:t>Controlled environment.</a:t>
            </a:r>
          </a:p>
          <a:p>
            <a:pPr lvl="2"/>
            <a:r>
              <a:rPr lang="en-GB" dirty="0" smtClean="0"/>
              <a:t>Monitoring tools (Wireshark, Process Monitor, </a:t>
            </a:r>
            <a:r>
              <a:rPr lang="en-GB" dirty="0" err="1" smtClean="0"/>
              <a:t>FileDump</a:t>
            </a:r>
            <a:r>
              <a:rPr lang="en-GB" dirty="0" smtClean="0"/>
              <a:t>, </a:t>
            </a:r>
            <a:r>
              <a:rPr lang="en-GB" dirty="0" err="1" smtClean="0"/>
              <a:t>OllyDbg</a:t>
            </a:r>
            <a:r>
              <a:rPr lang="en-GB" dirty="0" smtClean="0"/>
              <a:t>, etc.)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829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Static Analysis</a:t>
            </a:r>
            <a:r>
              <a:rPr lang="en-GB" dirty="0"/>
              <a:t>: examination </a:t>
            </a:r>
            <a:r>
              <a:rPr lang="en-GB" dirty="0" smtClean="0"/>
              <a:t>of the </a:t>
            </a:r>
            <a:r>
              <a:rPr lang="en-GB" dirty="0"/>
              <a:t>machine code of the binary sample in order to further discover </a:t>
            </a:r>
            <a:r>
              <a:rPr lang="en-GB" dirty="0" smtClean="0"/>
              <a:t>functionality and </a:t>
            </a:r>
            <a:r>
              <a:rPr lang="en-GB" dirty="0"/>
              <a:t>techniques used by the </a:t>
            </a:r>
            <a:r>
              <a:rPr lang="en-GB" dirty="0" smtClean="0"/>
              <a:t>sample.</a:t>
            </a:r>
          </a:p>
          <a:p>
            <a:pPr lvl="2"/>
            <a:r>
              <a:rPr lang="en-GB" dirty="0"/>
              <a:t>The sample is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executed </a:t>
            </a:r>
            <a:r>
              <a:rPr lang="en-GB" dirty="0"/>
              <a:t>to </a:t>
            </a:r>
            <a:r>
              <a:rPr lang="en-GB" dirty="0" smtClean="0"/>
              <a:t>monitor behaviour</a:t>
            </a:r>
            <a:r>
              <a:rPr lang="en-GB" dirty="0"/>
              <a:t>, it is the machine code in the binary file that is examined</a:t>
            </a:r>
            <a:r>
              <a:rPr lang="en-GB" dirty="0" smtClean="0"/>
              <a:t>.</a:t>
            </a:r>
          </a:p>
          <a:p>
            <a:pPr lvl="2"/>
            <a:r>
              <a:rPr lang="en-GB" dirty="0"/>
              <a:t>it may be very time consuming and it may be very </a:t>
            </a:r>
            <a:r>
              <a:rPr lang="en-GB" dirty="0" smtClean="0"/>
              <a:t>complex to perform.</a:t>
            </a:r>
          </a:p>
          <a:p>
            <a:pPr lvl="2"/>
            <a:r>
              <a:rPr lang="en-GB" dirty="0" smtClean="0"/>
              <a:t>But static </a:t>
            </a:r>
            <a:r>
              <a:rPr lang="en-GB" dirty="0"/>
              <a:t>analysis is </a:t>
            </a:r>
            <a:r>
              <a:rPr lang="en-GB" dirty="0" smtClean="0"/>
              <a:t>…. safe.</a:t>
            </a:r>
          </a:p>
          <a:p>
            <a:r>
              <a:rPr lang="en-GB" dirty="0" smtClean="0"/>
              <a:t>Tools: </a:t>
            </a:r>
          </a:p>
          <a:p>
            <a:pPr lvl="2"/>
            <a:r>
              <a:rPr lang="en-GB" dirty="0" smtClean="0"/>
              <a:t>Disassemblers or Debuggers (IDA Pro / </a:t>
            </a:r>
            <a:r>
              <a:rPr lang="en-GB" dirty="0" err="1" smtClean="0"/>
              <a:t>OllyDbg</a:t>
            </a:r>
            <a:r>
              <a:rPr lang="en-GB" dirty="0" smtClean="0"/>
              <a:t>)</a:t>
            </a:r>
            <a:endParaRPr lang="en-GB" dirty="0"/>
          </a:p>
          <a:p>
            <a:pPr lvl="2"/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48" y="5661248"/>
            <a:ext cx="7802328" cy="862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012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Tips</a:t>
            </a:r>
          </a:p>
          <a:p>
            <a:pPr lvl="1"/>
            <a:r>
              <a:rPr lang="en-GB" dirty="0" smtClean="0"/>
              <a:t>Briefly study a malware before go deeply into it  since most of malwares are complex and huge.</a:t>
            </a:r>
          </a:p>
          <a:p>
            <a:pPr lvl="1"/>
            <a:r>
              <a:rPr lang="en-GB" dirty="0" smtClean="0"/>
              <a:t>There is no common approach for analysing of all malwares. </a:t>
            </a:r>
          </a:p>
          <a:p>
            <a:pPr lvl="2"/>
            <a:r>
              <a:rPr lang="en-GB" dirty="0" smtClean="0"/>
              <a:t>Different tools &amp; techniques provide different analysis.</a:t>
            </a:r>
          </a:p>
          <a:p>
            <a:pPr lvl="2"/>
            <a:r>
              <a:rPr lang="en-GB" dirty="0" smtClean="0"/>
              <a:t>Different scenarios provides generate different analysis results.</a:t>
            </a:r>
          </a:p>
          <a:p>
            <a:pPr lvl="2"/>
            <a:r>
              <a:rPr lang="en-GB" dirty="0" smtClean="0"/>
              <a:t>Should do analysis by different ways and tools/techniques.</a:t>
            </a:r>
          </a:p>
          <a:p>
            <a:pPr lvl="1"/>
            <a:r>
              <a:rPr lang="en-GB" dirty="0" smtClean="0"/>
              <a:t>Both tools/techniques vs. malwares evolution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9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Analysis Environment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Environment</a:t>
            </a:r>
          </a:p>
          <a:p>
            <a:pPr lvl="1"/>
            <a:r>
              <a:rPr lang="en-GB" dirty="0" smtClean="0"/>
              <a:t>Real: </a:t>
            </a:r>
            <a:r>
              <a:rPr lang="en-GB" dirty="0" err="1" smtClean="0"/>
              <a:t>BootROM</a:t>
            </a:r>
            <a:r>
              <a:rPr lang="en-GB" dirty="0" smtClean="0"/>
              <a:t>, Ghost, etc.</a:t>
            </a:r>
          </a:p>
          <a:p>
            <a:pPr lvl="1"/>
            <a:r>
              <a:rPr lang="en-GB" dirty="0" smtClean="0"/>
              <a:t>Virtual: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VMWare</a:t>
            </a:r>
            <a:r>
              <a:rPr lang="en-GB" dirty="0" smtClean="0"/>
              <a:t>, </a:t>
            </a:r>
            <a:r>
              <a:rPr lang="en-GB" dirty="0" err="1" smtClean="0"/>
              <a:t>VirtualBox</a:t>
            </a:r>
            <a:r>
              <a:rPr lang="en-GB" dirty="0" smtClean="0"/>
              <a:t>, etc.</a:t>
            </a:r>
          </a:p>
          <a:p>
            <a:r>
              <a:rPr lang="en-GB" b="1" dirty="0" smtClean="0"/>
              <a:t>OS</a:t>
            </a:r>
            <a:r>
              <a:rPr lang="en-GB" dirty="0" smtClean="0"/>
              <a:t>: Windows, Linux</a:t>
            </a:r>
          </a:p>
          <a:p>
            <a:r>
              <a:rPr lang="en-GB" b="1" dirty="0" smtClean="0"/>
              <a:t>Application Platform</a:t>
            </a:r>
          </a:p>
          <a:p>
            <a:pPr lvl="1"/>
            <a:r>
              <a:rPr lang="en-GB" dirty="0" err="1" smtClean="0"/>
              <a:t>.Net</a:t>
            </a:r>
            <a:r>
              <a:rPr lang="en-GB" dirty="0" smtClean="0"/>
              <a:t> Framework</a:t>
            </a:r>
          </a:p>
          <a:p>
            <a:pPr lvl="1"/>
            <a:r>
              <a:rPr lang="en-GB" dirty="0" smtClean="0"/>
              <a:t>Java Runtime Environment (JRE)</a:t>
            </a:r>
          </a:p>
          <a:p>
            <a:pPr lvl="1"/>
            <a:r>
              <a:rPr lang="en-GB" dirty="0" smtClean="0"/>
              <a:t>…..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30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Pro</a:t>
            </a:r>
            <a:r>
              <a:rPr lang="en-GB" dirty="0" smtClean="0"/>
              <a:t>: disassembler/debugger 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OllyDbg</a:t>
            </a:r>
            <a:r>
              <a:rPr lang="en-GB" dirty="0"/>
              <a:t>: disassembler/debugger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PEview</a:t>
            </a:r>
            <a:r>
              <a:rPr lang="en-GB" dirty="0" smtClean="0"/>
              <a:t>: file header analysis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PEiD</a:t>
            </a:r>
            <a:r>
              <a:rPr lang="en-GB" dirty="0"/>
              <a:t>: File packer </a:t>
            </a:r>
            <a:r>
              <a:rPr lang="en-GB" dirty="0" smtClean="0"/>
              <a:t>detector</a:t>
            </a:r>
          </a:p>
          <a:p>
            <a:pPr lvl="1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Dependency Walker</a:t>
            </a:r>
            <a:r>
              <a:rPr lang="en-GB" dirty="0"/>
              <a:t>: </a:t>
            </a:r>
            <a:r>
              <a:rPr lang="en-GB" dirty="0" smtClean="0"/>
              <a:t>API</a:t>
            </a:r>
            <a:r>
              <a:rPr lang="en-GB" dirty="0"/>
              <a:t>, </a:t>
            </a:r>
            <a:r>
              <a:rPr lang="en-GB" dirty="0" smtClean="0"/>
              <a:t>DLL explorer </a:t>
            </a:r>
            <a:endParaRPr lang="en-GB" dirty="0"/>
          </a:p>
          <a:p>
            <a:pPr lvl="1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Wireshark</a:t>
            </a:r>
            <a:r>
              <a:rPr lang="en-GB" dirty="0" smtClean="0"/>
              <a:t>: network protocol </a:t>
            </a:r>
            <a:r>
              <a:rPr lang="en-GB" dirty="0" err="1" smtClean="0"/>
              <a:t>analyzer</a:t>
            </a:r>
            <a:endParaRPr lang="en-GB" dirty="0" smtClean="0"/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Regshot</a:t>
            </a:r>
            <a:r>
              <a:rPr lang="en-GB" dirty="0" smtClean="0"/>
              <a:t>: Registry</a:t>
            </a:r>
          </a:p>
          <a:p>
            <a:pPr lvl="1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Burp</a:t>
            </a:r>
            <a:r>
              <a:rPr lang="en-GB" dirty="0" smtClean="0"/>
              <a:t>: proxy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ArpateDNS</a:t>
            </a:r>
            <a:r>
              <a:rPr lang="en-GB" dirty="0" smtClean="0"/>
              <a:t>: DNS</a:t>
            </a:r>
          </a:p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CheatEngine</a:t>
            </a:r>
            <a:r>
              <a:rPr lang="en-GB" dirty="0" smtClean="0"/>
              <a:t>: </a:t>
            </a:r>
            <a:r>
              <a:rPr lang="en-GB" dirty="0"/>
              <a:t>process memory </a:t>
            </a:r>
          </a:p>
        </p:txBody>
      </p:sp>
    </p:spTree>
    <p:extLst>
      <p:ext uri="{BB962C8B-B14F-4D97-AF65-F5344CB8AC3E}">
        <p14:creationId xmlns:p14="http://schemas.microsoft.com/office/powerpoint/2010/main" val="423032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Tools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.Net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Reflector</a:t>
            </a:r>
            <a:r>
              <a:rPr lang="en-GB" dirty="0" smtClean="0"/>
              <a:t>: reverse </a:t>
            </a:r>
            <a:r>
              <a:rPr lang="en-GB" dirty="0" err="1" smtClean="0"/>
              <a:t>.Net</a:t>
            </a:r>
            <a:r>
              <a:rPr lang="en-GB" dirty="0" smtClean="0"/>
              <a:t> code</a:t>
            </a:r>
          </a:p>
          <a:p>
            <a:r>
              <a:rPr lang="en-GB" b="1" dirty="0" smtClean="0"/>
              <a:t>On-line</a:t>
            </a:r>
          </a:p>
          <a:p>
            <a:pPr lvl="1"/>
            <a:r>
              <a:rPr lang="en-GB" dirty="0" smtClean="0"/>
              <a:t>VirusTotal.com: </a:t>
            </a:r>
          </a:p>
          <a:p>
            <a:pPr lvl="1"/>
            <a:r>
              <a:rPr lang="en-GB" dirty="0" smtClean="0">
                <a:sym typeface="Wingdings" panose="05000000000000000000" pitchFamily="2" charset="2"/>
              </a:rPr>
              <a:t>Cuckoo Sandbox: automated malware analysis</a:t>
            </a:r>
          </a:p>
          <a:p>
            <a:r>
              <a:rPr lang="en-GB" b="1" dirty="0">
                <a:sym typeface="Wingdings" panose="05000000000000000000" pitchFamily="2" charset="2"/>
              </a:rPr>
              <a:t>Microsoft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Sysinternals</a:t>
            </a:r>
            <a:r>
              <a:rPr lang="en-GB" dirty="0">
                <a:sym typeface="Wingdings" panose="05000000000000000000" pitchFamily="2" charset="2"/>
              </a:rPr>
              <a:t> Suite,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Process Explorer </a:t>
            </a:r>
            <a:r>
              <a:rPr lang="en-GB" dirty="0">
                <a:sym typeface="Wingdings" panose="05000000000000000000" pitchFamily="2" charset="2"/>
              </a:rPr>
              <a:t>(procexp.exe),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Process Monitor </a:t>
            </a:r>
            <a:r>
              <a:rPr lang="en-GB" dirty="0">
                <a:sym typeface="Wingdings" panose="05000000000000000000" pitchFamily="2" charset="2"/>
              </a:rPr>
              <a:t>(procmon.exe), Strings, </a:t>
            </a:r>
            <a:r>
              <a:rPr lang="en-GB" dirty="0" smtClean="0">
                <a:sym typeface="Wingdings" panose="05000000000000000000" pitchFamily="2" charset="2"/>
              </a:rPr>
              <a:t>…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endParaRPr lang="en-GB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079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Malware Repositories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Open Malware</a:t>
            </a:r>
          </a:p>
          <a:p>
            <a:pPr lvl="1"/>
            <a:r>
              <a:rPr lang="en-GB" dirty="0" smtClean="0">
                <a:hlinkClick r:id="rId2"/>
              </a:rPr>
              <a:t>http://</a:t>
            </a:r>
            <a:r>
              <a:rPr lang="en-GB" dirty="0">
                <a:hlinkClick r:id="rId2"/>
              </a:rPr>
              <a:t>oc.gtisc.gatech.edu</a:t>
            </a:r>
            <a:r>
              <a:rPr lang="en-GB" dirty="0" smtClean="0">
                <a:hlinkClick r:id="rId2"/>
              </a:rPr>
              <a:t>/</a:t>
            </a:r>
            <a:r>
              <a:rPr lang="en-GB" dirty="0" smtClean="0"/>
              <a:t> </a:t>
            </a:r>
            <a:endParaRPr lang="en-GB" dirty="0"/>
          </a:p>
          <a:p>
            <a:r>
              <a:rPr lang="en-GB" dirty="0" err="1" smtClean="0"/>
              <a:t>Virushare</a:t>
            </a:r>
            <a:endParaRPr lang="en-GB" dirty="0" smtClean="0"/>
          </a:p>
          <a:p>
            <a:pPr lvl="1"/>
            <a:r>
              <a:rPr lang="en-GB" dirty="0">
                <a:hlinkClick r:id="rId3"/>
              </a:rPr>
              <a:t>https://virusshare.com</a:t>
            </a:r>
            <a:r>
              <a:rPr lang="en-GB" dirty="0" smtClean="0">
                <a:hlinkClick r:id="rId3"/>
              </a:rPr>
              <a:t>/</a:t>
            </a:r>
            <a:endParaRPr lang="en-GB" dirty="0" smtClean="0"/>
          </a:p>
          <a:p>
            <a:r>
              <a:rPr lang="en-GB" dirty="0" err="1" smtClean="0"/>
              <a:t>Virusign</a:t>
            </a:r>
            <a:endParaRPr lang="en-GB" dirty="0" smtClean="0"/>
          </a:p>
          <a:p>
            <a:pPr lvl="1"/>
            <a:r>
              <a:rPr lang="en-GB" dirty="0">
                <a:hlinkClick r:id="rId4"/>
              </a:rPr>
              <a:t>http://www.virusign.com</a:t>
            </a:r>
            <a:r>
              <a:rPr lang="en-GB" dirty="0" smtClean="0">
                <a:hlinkClick r:id="rId4"/>
              </a:rPr>
              <a:t>/</a:t>
            </a:r>
            <a:endParaRPr lang="en-GB" dirty="0" smtClean="0"/>
          </a:p>
          <a:p>
            <a:r>
              <a:rPr lang="en-GB" dirty="0"/>
              <a:t>Malware DB</a:t>
            </a:r>
            <a:endParaRPr lang="en-GB" dirty="0" smtClean="0"/>
          </a:p>
          <a:p>
            <a:pPr lvl="1"/>
            <a:r>
              <a:rPr lang="en-GB" dirty="0">
                <a:hlinkClick r:id="rId5"/>
              </a:rPr>
              <a:t>https://thezoo.morirt.com</a:t>
            </a:r>
            <a:r>
              <a:rPr lang="en-GB" dirty="0" smtClean="0">
                <a:hlinkClick r:id="rId5"/>
              </a:rPr>
              <a:t>/</a:t>
            </a:r>
            <a:r>
              <a:rPr lang="en-GB" dirty="0" smtClean="0"/>
              <a:t> </a:t>
            </a:r>
          </a:p>
          <a:p>
            <a:r>
              <a:rPr lang="en-GB" dirty="0" smtClean="0"/>
              <a:t>……..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46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Disassembler vs. Debugger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Debugger: </a:t>
            </a:r>
            <a:r>
              <a:rPr lang="en-GB" dirty="0" smtClean="0"/>
              <a:t>designed to run code</a:t>
            </a:r>
          </a:p>
          <a:p>
            <a:pPr lvl="1"/>
            <a:r>
              <a:rPr lang="en-GB" dirty="0" smtClean="0"/>
              <a:t>Source-level debugger</a:t>
            </a:r>
          </a:p>
          <a:p>
            <a:pPr lvl="2"/>
            <a:r>
              <a:rPr lang="en-GB" dirty="0"/>
              <a:t>usually </a:t>
            </a:r>
            <a:r>
              <a:rPr lang="en-GB" dirty="0" smtClean="0"/>
              <a:t>built into </a:t>
            </a:r>
            <a:r>
              <a:rPr lang="en-GB" dirty="0"/>
              <a:t>integrated development environments (</a:t>
            </a:r>
            <a:r>
              <a:rPr lang="en-GB" dirty="0" smtClean="0"/>
              <a:t>IDEs)</a:t>
            </a:r>
          </a:p>
          <a:p>
            <a:pPr lvl="1"/>
            <a:r>
              <a:rPr lang="en-GB" dirty="0" smtClean="0"/>
              <a:t>Assembly-level debugger</a:t>
            </a:r>
          </a:p>
          <a:p>
            <a:pPr lvl="2"/>
            <a:r>
              <a:rPr lang="en-GB" dirty="0"/>
              <a:t>operate </a:t>
            </a:r>
            <a:r>
              <a:rPr lang="en-GB" dirty="0" smtClean="0"/>
              <a:t>on assembly </a:t>
            </a:r>
            <a:r>
              <a:rPr lang="en-GB" dirty="0"/>
              <a:t>code instead of source </a:t>
            </a:r>
            <a:r>
              <a:rPr lang="en-GB" dirty="0" smtClean="0"/>
              <a:t>code</a:t>
            </a:r>
          </a:p>
          <a:p>
            <a:pPr lvl="2"/>
            <a:r>
              <a:rPr lang="en-GB" dirty="0" smtClean="0"/>
              <a:t>Commonly used</a:t>
            </a:r>
          </a:p>
          <a:p>
            <a:pPr lvl="3"/>
            <a:r>
              <a:rPr lang="en-GB" dirty="0" err="1" smtClean="0"/>
              <a:t>WinDbg</a:t>
            </a:r>
            <a:r>
              <a:rPr lang="en-GB" dirty="0" smtClean="0"/>
              <a:t>: kernel and user debugging</a:t>
            </a:r>
          </a:p>
          <a:p>
            <a:pPr lvl="3"/>
            <a:r>
              <a:rPr lang="en-GB" dirty="0" err="1" smtClean="0">
                <a:solidFill>
                  <a:srgbClr val="FF0000"/>
                </a:solidFill>
              </a:rPr>
              <a:t>OllyDbg</a:t>
            </a:r>
            <a:r>
              <a:rPr lang="en-GB" dirty="0" smtClean="0"/>
              <a:t>: user debugging</a:t>
            </a:r>
          </a:p>
          <a:p>
            <a:pPr lvl="3"/>
            <a:r>
              <a:rPr lang="en-GB" dirty="0" smtClean="0"/>
              <a:t>IDA Pro: user debugging &amp; disassembly</a:t>
            </a:r>
          </a:p>
          <a:p>
            <a:r>
              <a:rPr lang="en-GB" b="1" dirty="0" smtClean="0"/>
              <a:t>Disassembler: </a:t>
            </a:r>
            <a:r>
              <a:rPr lang="en-GB" dirty="0" smtClean="0"/>
              <a:t>is not interested in running code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75472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Disassembler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main types</a:t>
            </a:r>
          </a:p>
          <a:p>
            <a:pPr lvl="2"/>
            <a:r>
              <a:rPr lang="en-GB" dirty="0" smtClean="0"/>
              <a:t>Linear sweep: </a:t>
            </a:r>
            <a:r>
              <a:rPr lang="en-GB" dirty="0" err="1" smtClean="0"/>
              <a:t>windbg</a:t>
            </a:r>
            <a:endParaRPr lang="en-GB" dirty="0"/>
          </a:p>
          <a:p>
            <a:pPr lvl="2"/>
            <a:r>
              <a:rPr lang="en-GB" dirty="0" smtClean="0"/>
              <a:t>Recursive descent: IDA Pro</a:t>
            </a:r>
            <a:endParaRPr lang="en-GB" dirty="0"/>
          </a:p>
          <a:p>
            <a:r>
              <a:rPr lang="en-GB" dirty="0" smtClean="0"/>
              <a:t>Output </a:t>
            </a:r>
            <a:r>
              <a:rPr lang="en-GB" dirty="0"/>
              <a:t>is generally a disassembly listing</a:t>
            </a:r>
          </a:p>
          <a:p>
            <a:pPr lvl="2"/>
            <a:r>
              <a:rPr lang="en-GB" dirty="0" smtClean="0"/>
              <a:t>Can </a:t>
            </a:r>
            <a:r>
              <a:rPr lang="en-GB" dirty="0"/>
              <a:t>yield extremely large text files</a:t>
            </a:r>
          </a:p>
          <a:p>
            <a:pPr lvl="2"/>
            <a:r>
              <a:rPr lang="en-GB" dirty="0" smtClean="0"/>
              <a:t>Difficult </a:t>
            </a:r>
            <a:r>
              <a:rPr lang="en-GB" dirty="0"/>
              <a:t>to navigate/change</a:t>
            </a:r>
          </a:p>
          <a:p>
            <a:r>
              <a:rPr lang="en-GB" dirty="0" smtClean="0"/>
              <a:t>Disassembly </a:t>
            </a:r>
            <a:r>
              <a:rPr lang="en-GB" dirty="0"/>
              <a:t>fails to reveal </a:t>
            </a:r>
            <a:r>
              <a:rPr lang="en-GB" dirty="0" smtClean="0"/>
              <a:t>obfuscated code</a:t>
            </a:r>
          </a:p>
        </p:txBody>
      </p:sp>
    </p:spTree>
    <p:extLst>
      <p:ext uri="{BB962C8B-B14F-4D97-AF65-F5344CB8AC3E}">
        <p14:creationId xmlns:p14="http://schemas.microsoft.com/office/powerpoint/2010/main" val="3093707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 smtClean="0"/>
              <a:t>Using a debugger</a:t>
            </a:r>
          </a:p>
          <a:p>
            <a:pPr lvl="1"/>
            <a:r>
              <a:rPr lang="en-GB" dirty="0" smtClean="0"/>
              <a:t>Single-Stepping</a:t>
            </a:r>
          </a:p>
          <a:p>
            <a:pPr lvl="2"/>
            <a:r>
              <a:rPr lang="en-GB" dirty="0"/>
              <a:t>run a single instruction and then return </a:t>
            </a:r>
            <a:r>
              <a:rPr lang="en-GB" dirty="0" smtClean="0"/>
              <a:t>control to </a:t>
            </a:r>
            <a:r>
              <a:rPr lang="en-GB" dirty="0"/>
              <a:t>the debugger. </a:t>
            </a:r>
            <a:r>
              <a:rPr lang="en-GB" dirty="0" smtClean="0"/>
              <a:t>The </a:t>
            </a:r>
            <a:r>
              <a:rPr lang="en-GB" dirty="0"/>
              <a:t>debugger stops after every </a:t>
            </a:r>
            <a:r>
              <a:rPr lang="en-GB" dirty="0" smtClean="0"/>
              <a:t>instruction.</a:t>
            </a:r>
            <a:endParaRPr lang="en-GB" dirty="0"/>
          </a:p>
          <a:p>
            <a:pPr lvl="1"/>
            <a:r>
              <a:rPr lang="en-GB" dirty="0" smtClean="0"/>
              <a:t>Stepping-over</a:t>
            </a:r>
          </a:p>
          <a:p>
            <a:pPr lvl="2"/>
            <a:r>
              <a:rPr lang="en-GB" dirty="0"/>
              <a:t>step-over </a:t>
            </a:r>
            <a:r>
              <a:rPr lang="en-GB" dirty="0" smtClean="0"/>
              <a:t>= bypass</a:t>
            </a:r>
          </a:p>
          <a:p>
            <a:pPr lvl="1"/>
            <a:r>
              <a:rPr lang="en-GB" dirty="0" smtClean="0"/>
              <a:t>Stepping-Into</a:t>
            </a:r>
          </a:p>
          <a:p>
            <a:pPr lvl="2"/>
            <a:r>
              <a:rPr lang="en-GB" dirty="0" smtClean="0"/>
              <a:t>Go into the first instruction</a:t>
            </a:r>
          </a:p>
          <a:p>
            <a:pPr lvl="1"/>
            <a:r>
              <a:rPr lang="en-GB" dirty="0" smtClean="0"/>
              <a:t>Breakpoint</a:t>
            </a:r>
          </a:p>
          <a:p>
            <a:pPr lvl="2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breakpoint</a:t>
            </a:r>
            <a:r>
              <a:rPr lang="en-GB" dirty="0"/>
              <a:t>: </a:t>
            </a:r>
            <a:r>
              <a:rPr lang="en-GB" dirty="0" smtClean="0"/>
              <a:t>stop at a </a:t>
            </a:r>
            <a:r>
              <a:rPr lang="en-GB" dirty="0"/>
              <a:t>particular </a:t>
            </a:r>
            <a:r>
              <a:rPr lang="en-GB" dirty="0" smtClean="0"/>
              <a:t>instruction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breakpoint</a:t>
            </a:r>
            <a:r>
              <a:rPr lang="en-GB" dirty="0" smtClean="0"/>
              <a:t>: stop at a location (address)</a:t>
            </a:r>
          </a:p>
          <a:p>
            <a:pPr lvl="2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breakpoint</a:t>
            </a:r>
            <a:r>
              <a:rPr lang="en-GB" dirty="0" smtClean="0"/>
              <a:t>: a software breakpoint </a:t>
            </a:r>
            <a:r>
              <a:rPr lang="en-GB" dirty="0"/>
              <a:t>that will only if a </a:t>
            </a:r>
            <a:r>
              <a:rPr lang="en-GB" dirty="0" smtClean="0"/>
              <a:t>certain condition </a:t>
            </a:r>
            <a:r>
              <a:rPr lang="en-GB" dirty="0"/>
              <a:t>is true</a:t>
            </a:r>
          </a:p>
        </p:txBody>
      </p:sp>
    </p:spTree>
    <p:extLst>
      <p:ext uri="{BB962C8B-B14F-4D97-AF65-F5344CB8AC3E}">
        <p14:creationId xmlns:p14="http://schemas.microsoft.com/office/powerpoint/2010/main" val="301838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28261</TotalTime>
  <Words>1756</Words>
  <Application>Microsoft Office PowerPoint</Application>
  <PresentationFormat>On-screen Show (4:3)</PresentationFormat>
  <Paragraphs>268</Paragraphs>
  <Slides>34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Malware Analysis</vt:lpstr>
      <vt:lpstr>Bio</vt:lpstr>
      <vt:lpstr>Bio</vt:lpstr>
      <vt:lpstr>Course Outline</vt:lpstr>
      <vt:lpstr>Text-books</vt:lpstr>
      <vt:lpstr>Introduction</vt:lpstr>
      <vt:lpstr>Existence &amp; Motivation </vt:lpstr>
      <vt:lpstr>Malware behaviour</vt:lpstr>
      <vt:lpstr>History Computer Virus &amp; Malware</vt:lpstr>
      <vt:lpstr>Types of Malware</vt:lpstr>
      <vt:lpstr>Botnet</vt:lpstr>
      <vt:lpstr>PowerPoint Presentation</vt:lpstr>
      <vt:lpstr>Real-world Impacts</vt:lpstr>
      <vt:lpstr>Real-world Impacts</vt:lpstr>
      <vt:lpstr>Việt Nam</vt:lpstr>
      <vt:lpstr>Security reports</vt:lpstr>
      <vt:lpstr>Security reports</vt:lpstr>
      <vt:lpstr>PowerPoint Presentation</vt:lpstr>
      <vt:lpstr>PowerPoint Presentation</vt:lpstr>
      <vt:lpstr>PowerPoint Presentation</vt:lpstr>
      <vt:lpstr>Malware Analysis</vt:lpstr>
      <vt:lpstr>Malware Analysis</vt:lpstr>
      <vt:lpstr>Malware Analysis</vt:lpstr>
      <vt:lpstr>Malware Analysis</vt:lpstr>
      <vt:lpstr>Malware Analysis</vt:lpstr>
      <vt:lpstr>Malware Analysis</vt:lpstr>
      <vt:lpstr>Malware Analysis</vt:lpstr>
      <vt:lpstr>Analysis Environment</vt:lpstr>
      <vt:lpstr>Tools</vt:lpstr>
      <vt:lpstr>Tools</vt:lpstr>
      <vt:lpstr>Malware Repositories</vt:lpstr>
      <vt:lpstr>Disassembler vs. Debugger</vt:lpstr>
      <vt:lpstr>Disassembler</vt:lpstr>
      <vt:lpstr>Debugger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mã độc</dc:title>
  <dc:creator>TTS</dc:creator>
  <cp:lastModifiedBy>tran the son</cp:lastModifiedBy>
  <cp:revision>1339</cp:revision>
  <dcterms:created xsi:type="dcterms:W3CDTF">2017-06-08T06:53:33Z</dcterms:created>
  <dcterms:modified xsi:type="dcterms:W3CDTF">2023-08-24T09:47:00Z</dcterms:modified>
</cp:coreProperties>
</file>