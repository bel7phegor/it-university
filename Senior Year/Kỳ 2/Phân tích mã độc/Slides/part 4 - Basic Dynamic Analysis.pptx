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8"/>
  </p:notesMasterIdLst>
  <p:sldIdLst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1508" y="-9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66CBD-A181-42A7-8EB7-989223D7ED51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FFA67-0F23-4EC1-A5E0-896853608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35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845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102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406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16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036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The malware appears to be packed. The only import is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ExitProcess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although the strings appear to be mostly clear and not obfuscated.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The malware creates a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named WinVMX32, copies itself into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C:\</a:t>
            </a:r>
          </a:p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Windows\ System32\vmx32to64.exe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and installs itself to run on system</a:t>
            </a:r>
          </a:p>
          <a:p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startup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by creating the registry key HKLM\SOFTWARE\Microsoft\Windows\</a:t>
            </a:r>
          </a:p>
          <a:p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CurrentVersion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\Run\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VideoDriver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set to the copy location.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The malware beacons a consistently sized 256-byte packet containing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seemingly random data after resolving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www.practicalmalwareanalysis.com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19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598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20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776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To install the malware as a service, run the malware’s exported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installA</a:t>
            </a:r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 via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rundll32.exe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rundll32.exe Lab03-02.dll,installA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To run the malware, start the service it installs using the net command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 start IPRIP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Use Process Explorer to determine which process is running the service.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Since the malware will be running within one of the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svchost.exe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 on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system, hover over each one until you see the service name, or search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Lab03-02.dll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the Find DLL feature of Process Explorer.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486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Appendix C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In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procmon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can filter on the PID you found using Process Explorer.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By default, the malware installs as the service IPRIP with a display name of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Intranet Network Awareness (INA+) and description of “Depends INA+, Collects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stores network configuration and location information,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notifies applications when this information changes.” It installs itself for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persistence in the registry at HKLM\SYSTEM\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CurrentControlSet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\Services\IPRIP\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Parameters\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ServiceDll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%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CurrentDirectory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%\Lab03-02.dll. If you rename</a:t>
            </a:r>
          </a:p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Lab03-02.dll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something else, such as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malware.dll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then it writes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malware.dll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 the registry key, instead of using the name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Lab03-02.dll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6. The malware resolves the domain name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practicalmalwareanalysis.com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connects to that host over port 80 using what appears to be HTTP. It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does a GET request for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serve.html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uses the User-Agent %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ComputerName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Windows XP 6.11.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21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124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24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049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25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460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842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77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3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846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25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95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58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069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18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72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639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57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816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07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338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756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335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733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14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062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8161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17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5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18/11/2022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59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fireeye.com/services/freeware/apatedn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etsim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acticalmalwareanalysis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virustotalapi3.readthedocs.io/en/latest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ftp://ftp.viethanit.edu.v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Malware Analysis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latin typeface="Arial Narrow" panose="020B0606020202030204" pitchFamily="34" charset="0"/>
              </a:rPr>
              <a:t>Dr.</a:t>
            </a:r>
            <a:r>
              <a:rPr lang="en-GB" dirty="0" smtClean="0">
                <a:latin typeface="Arial Narrow" panose="020B0606020202030204" pitchFamily="34" charset="0"/>
              </a:rPr>
              <a:t> Tran The Son</a:t>
            </a:r>
          </a:p>
          <a:p>
            <a:r>
              <a:rPr lang="en-GB" sz="2000" dirty="0" smtClean="0">
                <a:latin typeface="Arial Narrow" panose="020B0606020202030204" pitchFamily="34" charset="0"/>
              </a:rPr>
              <a:t>Vietnam – Korea University</a:t>
            </a:r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76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Dynamic Malware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Environment</a:t>
            </a:r>
          </a:p>
          <a:p>
            <a:pPr lvl="1"/>
            <a:r>
              <a:rPr lang="en-GB" dirty="0" smtClean="0"/>
              <a:t>VMWare</a:t>
            </a:r>
          </a:p>
          <a:p>
            <a:pPr lvl="1"/>
            <a:r>
              <a:rPr lang="en-GB" dirty="0" err="1" smtClean="0"/>
              <a:t>VirtualBox</a:t>
            </a:r>
            <a:endParaRPr lang="en-GB" dirty="0" smtClean="0"/>
          </a:p>
          <a:p>
            <a:pPr lvl="1"/>
            <a:r>
              <a:rPr lang="en-GB" dirty="0" smtClean="0"/>
              <a:t>Parallels</a:t>
            </a:r>
          </a:p>
          <a:p>
            <a:pPr lvl="1"/>
            <a:r>
              <a:rPr lang="en-GB" dirty="0" smtClean="0"/>
              <a:t>Virtual PC</a:t>
            </a:r>
            <a:endParaRPr lang="en-GB" dirty="0"/>
          </a:p>
          <a:p>
            <a:pPr lvl="1"/>
            <a:r>
              <a:rPr lang="en-GB" dirty="0" smtClean="0"/>
              <a:t>QEMU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059911" y="1966697"/>
            <a:ext cx="5256584" cy="3825368"/>
            <a:chOff x="3131840" y="2627968"/>
            <a:chExt cx="5256584" cy="3825368"/>
          </a:xfrm>
        </p:grpSpPr>
        <p:sp>
          <p:nvSpPr>
            <p:cNvPr id="4" name="Rectangle 3"/>
            <p:cNvSpPr/>
            <p:nvPr/>
          </p:nvSpPr>
          <p:spPr>
            <a:xfrm>
              <a:off x="3131840" y="2996952"/>
              <a:ext cx="5256584" cy="3456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491880" y="3284984"/>
              <a:ext cx="1368152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prstClr val="white"/>
                  </a:solidFill>
                </a:rPr>
                <a:t>App.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462288" y="4365104"/>
              <a:ext cx="1368152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prstClr val="white"/>
                  </a:solidFill>
                </a:rPr>
                <a:t>App.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462288" y="5373216"/>
              <a:ext cx="1368152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prstClr val="white"/>
                  </a:solidFill>
                </a:rPr>
                <a:t>App.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084168" y="3645024"/>
              <a:ext cx="2160240" cy="24482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80212" y="3861048"/>
              <a:ext cx="1368152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prstClr val="white"/>
                  </a:solidFill>
                </a:rPr>
                <a:t>App.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80212" y="4754286"/>
              <a:ext cx="1368152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prstClr val="white"/>
                  </a:solidFill>
                </a:rPr>
                <a:t>App.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701948" y="5607399"/>
              <a:ext cx="10958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prstClr val="black"/>
                  </a:solidFill>
                </a:rPr>
                <a:t>Guest OS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38757" y="6074374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prstClr val="black"/>
                  </a:solidFill>
                </a:rPr>
                <a:t>OS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32204" y="3251548"/>
              <a:ext cx="1701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prstClr val="black"/>
                  </a:solidFill>
                </a:rPr>
                <a:t>Virtual machine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56874" y="2627968"/>
              <a:ext cx="1815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prstClr val="black"/>
                  </a:solidFill>
                </a:rPr>
                <a:t>Physical machine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726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0" name="Group 19"/>
          <p:cNvGrpSpPr/>
          <p:nvPr/>
        </p:nvGrpSpPr>
        <p:grpSpPr>
          <a:xfrm>
            <a:off x="816315" y="1495768"/>
            <a:ext cx="5688632" cy="1008112"/>
            <a:chOff x="971600" y="1873131"/>
            <a:chExt cx="5688632" cy="1008112"/>
          </a:xfrm>
        </p:grpSpPr>
        <p:sp>
          <p:nvSpPr>
            <p:cNvPr id="6" name="Cloud 5"/>
            <p:cNvSpPr/>
            <p:nvPr/>
          </p:nvSpPr>
          <p:spPr>
            <a:xfrm>
              <a:off x="5004048" y="1873131"/>
              <a:ext cx="1656184" cy="1008112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prstClr val="white"/>
                  </a:solidFill>
                </a:rPr>
                <a:t>External Network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971600" y="1916832"/>
              <a:ext cx="1656184" cy="792088"/>
              <a:chOff x="971600" y="1916832"/>
              <a:chExt cx="1656184" cy="792088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1043608" y="1916832"/>
                <a:ext cx="1296144" cy="7920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71600" y="1948191"/>
                <a:ext cx="16561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solidFill>
                      <a:prstClr val="black"/>
                    </a:solidFill>
                  </a:rPr>
                  <a:t>Virtual Machine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907706" y="2420888"/>
                <a:ext cx="432048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prstClr val="white"/>
                    </a:solidFill>
                  </a:rPr>
                  <a:t>NIC</a:t>
                </a:r>
              </a:p>
            </p:txBody>
          </p:sp>
        </p:grpSp>
        <p:sp>
          <p:nvSpPr>
            <p:cNvPr id="11" name="Rectangle 10"/>
            <p:cNvSpPr/>
            <p:nvPr/>
          </p:nvSpPr>
          <p:spPr>
            <a:xfrm>
              <a:off x="3131840" y="1916832"/>
              <a:ext cx="1296144" cy="7920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59832" y="1948191"/>
              <a:ext cx="16561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solidFill>
                    <a:prstClr val="black"/>
                  </a:solidFill>
                </a:rPr>
                <a:t>Physical Machine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95938" y="2420888"/>
              <a:ext cx="432048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prstClr val="white"/>
                  </a:solidFill>
                </a:rPr>
                <a:t>NIC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131840" y="2420888"/>
              <a:ext cx="432048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prstClr val="white"/>
                  </a:solidFill>
                </a:rPr>
                <a:t>NIC</a:t>
              </a:r>
            </a:p>
          </p:txBody>
        </p:sp>
        <p:cxnSp>
          <p:nvCxnSpPr>
            <p:cNvPr id="17" name="Straight Connector 16"/>
            <p:cNvCxnSpPr>
              <a:stCxn id="8" idx="3"/>
              <a:endCxn id="15" idx="1"/>
            </p:cNvCxnSpPr>
            <p:nvPr/>
          </p:nvCxnSpPr>
          <p:spPr>
            <a:xfrm>
              <a:off x="2339754" y="2564904"/>
              <a:ext cx="7920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3" idx="3"/>
            </p:cNvCxnSpPr>
            <p:nvPr/>
          </p:nvCxnSpPr>
          <p:spPr>
            <a:xfrm>
              <a:off x="4427986" y="2564904"/>
              <a:ext cx="5760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827584" y="3399167"/>
            <a:ext cx="3600400" cy="3171404"/>
            <a:chOff x="971600" y="3281932"/>
            <a:chExt cx="3600400" cy="3171404"/>
          </a:xfrm>
        </p:grpSpPr>
        <p:grpSp>
          <p:nvGrpSpPr>
            <p:cNvPr id="23" name="Group 22"/>
            <p:cNvGrpSpPr/>
            <p:nvPr/>
          </p:nvGrpSpPr>
          <p:grpSpPr>
            <a:xfrm>
              <a:off x="971600" y="4480813"/>
              <a:ext cx="1656184" cy="792088"/>
              <a:chOff x="971600" y="1916832"/>
              <a:chExt cx="1656184" cy="792088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043608" y="1916832"/>
                <a:ext cx="1296144" cy="7920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71600" y="1948191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solidFill>
                      <a:prstClr val="black"/>
                    </a:solidFill>
                  </a:rPr>
                  <a:t>Virtual Machine</a:t>
                </a:r>
              </a:p>
              <a:p>
                <a:r>
                  <a:rPr lang="en-GB" sz="1400" dirty="0">
                    <a:solidFill>
                      <a:prstClr val="black"/>
                    </a:solidFill>
                  </a:rPr>
                  <a:t>Service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1907706" y="2420888"/>
                <a:ext cx="432048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prstClr val="white"/>
                    </a:solidFill>
                  </a:rPr>
                  <a:t>NIC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971600" y="3281932"/>
              <a:ext cx="3600400" cy="1008112"/>
              <a:chOff x="971600" y="3281932"/>
              <a:chExt cx="3600400" cy="1008112"/>
            </a:xfrm>
          </p:grpSpPr>
          <p:sp>
            <p:nvSpPr>
              <p:cNvPr id="22" name="Cloud 21"/>
              <p:cNvSpPr/>
              <p:nvPr/>
            </p:nvSpPr>
            <p:spPr>
              <a:xfrm>
                <a:off x="2915816" y="3281932"/>
                <a:ext cx="1656184" cy="1008112"/>
              </a:xfrm>
              <a:prstGeom prst="clou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prstClr val="white"/>
                    </a:solidFill>
                  </a:rPr>
                  <a:t>External Network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1043608" y="3325633"/>
                <a:ext cx="1296144" cy="7920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71600" y="3356992"/>
                <a:ext cx="16561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solidFill>
                      <a:prstClr val="black"/>
                    </a:solidFill>
                  </a:rPr>
                  <a:t>Physical Machine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907706" y="3829689"/>
                <a:ext cx="432048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prstClr val="white"/>
                    </a:solidFill>
                  </a:rPr>
                  <a:t>NIC</a:t>
                </a:r>
              </a:p>
            </p:txBody>
          </p:sp>
          <p:cxnSp>
            <p:nvCxnSpPr>
              <p:cNvPr id="29" name="Straight Connector 28"/>
              <p:cNvCxnSpPr>
                <a:stCxn id="26" idx="3"/>
              </p:cNvCxnSpPr>
              <p:nvPr/>
            </p:nvCxnSpPr>
            <p:spPr>
              <a:xfrm>
                <a:off x="2339754" y="3973705"/>
                <a:ext cx="57606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/>
          </p:nvGrpSpPr>
          <p:grpSpPr>
            <a:xfrm>
              <a:off x="971600" y="5661248"/>
              <a:ext cx="1656184" cy="792088"/>
              <a:chOff x="971600" y="1916832"/>
              <a:chExt cx="1656184" cy="792088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1043608" y="1916832"/>
                <a:ext cx="1296144" cy="7920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971600" y="1948191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solidFill>
                      <a:prstClr val="black"/>
                    </a:solidFill>
                  </a:rPr>
                  <a:t>Virtual Machine</a:t>
                </a:r>
              </a:p>
              <a:p>
                <a:r>
                  <a:rPr lang="en-GB" sz="1400" dirty="0">
                    <a:solidFill>
                      <a:prstClr val="black"/>
                    </a:solidFill>
                  </a:rPr>
                  <a:t>Analysis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907706" y="2420888"/>
                <a:ext cx="432048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prstClr val="white"/>
                    </a:solidFill>
                  </a:rPr>
                  <a:t>NIC</a:t>
                </a:r>
              </a:p>
            </p:txBody>
          </p:sp>
        </p:grpSp>
        <p:sp>
          <p:nvSpPr>
            <p:cNvPr id="40" name="Rectangle 39"/>
            <p:cNvSpPr/>
            <p:nvPr/>
          </p:nvSpPr>
          <p:spPr>
            <a:xfrm>
              <a:off x="3347864" y="5420851"/>
              <a:ext cx="864098" cy="5323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prstClr val="white"/>
                  </a:solidFill>
                </a:rPr>
                <a:t>VMNet</a:t>
              </a:r>
              <a:endParaRPr lang="en-GB" dirty="0">
                <a:solidFill>
                  <a:prstClr val="white"/>
                </a:solidFill>
              </a:endParaRPr>
            </a:p>
          </p:txBody>
        </p:sp>
        <p:cxnSp>
          <p:nvCxnSpPr>
            <p:cNvPr id="42" name="Straight Connector 41"/>
            <p:cNvCxnSpPr>
              <a:endCxn id="40" idx="1"/>
            </p:cNvCxnSpPr>
            <p:nvPr/>
          </p:nvCxnSpPr>
          <p:spPr>
            <a:xfrm>
              <a:off x="2339754" y="5155227"/>
              <a:ext cx="1008110" cy="5318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6" idx="3"/>
              <a:endCxn id="40" idx="1"/>
            </p:cNvCxnSpPr>
            <p:nvPr/>
          </p:nvCxnSpPr>
          <p:spPr>
            <a:xfrm flipV="1">
              <a:off x="2339754" y="5687033"/>
              <a:ext cx="1008110" cy="6222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/>
          <p:cNvSpPr/>
          <p:nvPr/>
        </p:nvSpPr>
        <p:spPr>
          <a:xfrm>
            <a:off x="431542" y="1194528"/>
            <a:ext cx="6322786" cy="158639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31542" y="3219146"/>
            <a:ext cx="4302477" cy="352222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60232" y="1770474"/>
            <a:ext cx="2278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</a:rPr>
              <a:t>Host-only Networking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54328" y="3412672"/>
            <a:ext cx="21471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prstClr val="black"/>
                </a:solidFill>
              </a:rPr>
              <a:t>NAT Networking</a:t>
            </a:r>
          </a:p>
          <a:p>
            <a:r>
              <a:rPr lang="en-GB" b="1" dirty="0" smtClean="0">
                <a:solidFill>
                  <a:prstClr val="black"/>
                </a:solidFill>
              </a:rPr>
              <a:t>Bridge Networking</a:t>
            </a:r>
          </a:p>
          <a:p>
            <a:r>
              <a:rPr lang="en-GB" dirty="0" smtClean="0">
                <a:solidFill>
                  <a:prstClr val="black"/>
                </a:solidFill>
              </a:rPr>
              <a:t>Custom </a:t>
            </a:r>
            <a:r>
              <a:rPr lang="en-GB" dirty="0">
                <a:solidFill>
                  <a:prstClr val="black"/>
                </a:solidFill>
              </a:rPr>
              <a:t>Networking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prstClr val="black"/>
                </a:solidFill>
              </a:rPr>
              <a:t>VMNet0: Bridging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prstClr val="black"/>
                </a:solidFill>
              </a:rPr>
              <a:t>VMNet8: NAT</a:t>
            </a:r>
          </a:p>
        </p:txBody>
      </p:sp>
    </p:spTree>
    <p:extLst>
      <p:ext uri="{BB962C8B-B14F-4D97-AF65-F5344CB8AC3E}">
        <p14:creationId xmlns:p14="http://schemas.microsoft.com/office/powerpoint/2010/main" val="207649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3034680" cy="5112568"/>
          </a:xfrm>
        </p:spPr>
        <p:txBody>
          <a:bodyPr/>
          <a:lstStyle/>
          <a:p>
            <a:r>
              <a:rPr lang="en-GB" dirty="0" smtClean="0"/>
              <a:t>Snapshot</a:t>
            </a:r>
          </a:p>
          <a:p>
            <a:pPr lvl="1"/>
            <a:r>
              <a:rPr lang="en-GB" sz="2400" dirty="0" smtClean="0"/>
              <a:t>Restore points</a:t>
            </a:r>
            <a:endParaRPr lang="en-GB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590" y="1700807"/>
            <a:ext cx="5507352" cy="4536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46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Techniques and tools</a:t>
            </a:r>
          </a:p>
          <a:p>
            <a:pPr lvl="1"/>
            <a:r>
              <a:rPr lang="en-GB" dirty="0" smtClean="0"/>
              <a:t>Sandbox: </a:t>
            </a:r>
            <a:r>
              <a:rPr lang="en-GB" dirty="0" err="1" smtClean="0"/>
              <a:t>Cucco</a:t>
            </a:r>
            <a:r>
              <a:rPr lang="en-GB" dirty="0" smtClean="0"/>
              <a:t>, Norman, GFI, Anubis, Joe, …</a:t>
            </a:r>
          </a:p>
          <a:p>
            <a:pPr lvl="1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Monitor/Explorer</a:t>
            </a:r>
          </a:p>
          <a:p>
            <a:pPr lvl="1"/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Regshot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1"/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ApateDNS</a:t>
            </a:r>
            <a:r>
              <a:rPr lang="en-GB" dirty="0"/>
              <a:t>, </a:t>
            </a:r>
            <a:r>
              <a:rPr lang="en-GB" dirty="0" err="1"/>
              <a:t>Netcat</a:t>
            </a:r>
            <a:r>
              <a:rPr lang="en-GB" dirty="0"/>
              <a:t>…</a:t>
            </a:r>
          </a:p>
          <a:p>
            <a:pPr lvl="1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Wireshark</a:t>
            </a:r>
          </a:p>
          <a:p>
            <a:pPr lvl="1"/>
            <a:r>
              <a:rPr lang="en-GB" dirty="0" err="1" smtClean="0"/>
              <a:t>InetSim</a:t>
            </a:r>
            <a:r>
              <a:rPr lang="en-GB" dirty="0" smtClean="0"/>
              <a:t>: Linux-based</a:t>
            </a:r>
          </a:p>
          <a:p>
            <a:pPr lvl="1"/>
            <a:endParaRPr lang="en-GB" dirty="0" smtClean="0"/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65287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Running Malware</a:t>
            </a:r>
          </a:p>
          <a:p>
            <a:pPr lvl="1"/>
            <a:r>
              <a:rPr lang="en-GB" dirty="0" smtClean="0"/>
              <a:t>Double-click: EXE, DLL</a:t>
            </a:r>
          </a:p>
          <a:p>
            <a:pPr lvl="1"/>
            <a:r>
              <a:rPr lang="en-GB" dirty="0" smtClean="0"/>
              <a:t>Apply </a:t>
            </a:r>
            <a:r>
              <a:rPr lang="en-GB" b="1" dirty="0" smtClean="0"/>
              <a:t>rundll32.exe</a:t>
            </a:r>
            <a:endParaRPr lang="en-GB" b="1" dirty="0"/>
          </a:p>
          <a:p>
            <a:endParaRPr lang="en-GB" dirty="0" smtClean="0"/>
          </a:p>
          <a:p>
            <a:pPr lvl="1"/>
            <a:r>
              <a:rPr lang="en-GB" dirty="0" smtClean="0"/>
              <a:t>Export arguments: by using </a:t>
            </a:r>
            <a:r>
              <a:rPr lang="en-GB" b="1" dirty="0" err="1" smtClean="0"/>
              <a:t>PEview</a:t>
            </a:r>
            <a:r>
              <a:rPr lang="en-GB" dirty="0" smtClean="0"/>
              <a:t> </a:t>
            </a:r>
            <a:r>
              <a:rPr lang="en-GB" dirty="0" err="1" smtClean="0"/>
              <a:t>hoặc</a:t>
            </a:r>
            <a:r>
              <a:rPr lang="en-GB" dirty="0" smtClean="0"/>
              <a:t> </a:t>
            </a:r>
            <a:r>
              <a:rPr lang="en-GB" b="1" dirty="0" smtClean="0"/>
              <a:t>PE Explorer</a:t>
            </a:r>
            <a:r>
              <a:rPr lang="en-GB" dirty="0" smtClean="0"/>
              <a:t>.</a:t>
            </a:r>
          </a:p>
          <a:p>
            <a:pPr lvl="1"/>
            <a:r>
              <a:rPr lang="en-GB" dirty="0" smtClean="0"/>
              <a:t>E.g</a:t>
            </a:r>
            <a:r>
              <a:rPr lang="en-GB" dirty="0"/>
              <a:t>.</a:t>
            </a:r>
            <a:r>
              <a:rPr lang="en-GB" dirty="0" smtClean="0"/>
              <a:t> </a:t>
            </a:r>
            <a:r>
              <a:rPr lang="en-GB" i="1" dirty="0" smtClean="0"/>
              <a:t>rip.dll </a:t>
            </a:r>
            <a:r>
              <a:rPr lang="en-GB" dirty="0" smtClean="0"/>
              <a:t>(export : </a:t>
            </a:r>
            <a:r>
              <a:rPr lang="en-GB" i="1" dirty="0" smtClean="0"/>
              <a:t>Install </a:t>
            </a:r>
            <a:r>
              <a:rPr lang="en-GB" dirty="0" smtClean="0"/>
              <a:t> và </a:t>
            </a:r>
            <a:r>
              <a:rPr lang="en-GB" i="1" dirty="0" smtClean="0"/>
              <a:t>Uninstall</a:t>
            </a:r>
            <a:r>
              <a:rPr lang="en-GB" dirty="0" smtClean="0"/>
              <a:t>)</a:t>
            </a:r>
            <a:r>
              <a:rPr lang="en-GB" i="1" dirty="0" smtClean="0"/>
              <a:t>; ipr32x.dll  </a:t>
            </a:r>
            <a:r>
              <a:rPr lang="en-GB" dirty="0" smtClean="0"/>
              <a:t>(export: </a:t>
            </a:r>
            <a:r>
              <a:rPr lang="en-GB" i="1" dirty="0" err="1" smtClean="0"/>
              <a:t>InstallService</a:t>
            </a:r>
            <a:r>
              <a:rPr lang="en-GB" dirty="0" smtClean="0"/>
              <a:t>)</a:t>
            </a:r>
            <a:endParaRPr lang="en-GB" dirty="0"/>
          </a:p>
          <a:p>
            <a:pPr lvl="1"/>
            <a:endParaRPr lang="en-GB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907704" y="2837885"/>
            <a:ext cx="525015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Agency FB" panose="020B0503020202020204" pitchFamily="34" charset="0"/>
              </a:rPr>
              <a:t>C:\rundll32.exe  </a:t>
            </a:r>
            <a:r>
              <a:rPr lang="en-GB" sz="2800" i="1" dirty="0" err="1">
                <a:solidFill>
                  <a:prstClr val="black"/>
                </a:solidFill>
                <a:latin typeface="Agency FB" panose="020B0503020202020204" pitchFamily="34" charset="0"/>
              </a:rPr>
              <a:t>DLLname</a:t>
            </a:r>
            <a:r>
              <a:rPr lang="en-GB" sz="2800" dirty="0">
                <a:solidFill>
                  <a:prstClr val="black"/>
                </a:solidFill>
                <a:latin typeface="Agency FB" panose="020B0503020202020204" pitchFamily="34" charset="0"/>
              </a:rPr>
              <a:t>, </a:t>
            </a:r>
            <a:r>
              <a:rPr lang="en-GB" sz="2800" i="1" dirty="0">
                <a:solidFill>
                  <a:prstClr val="black"/>
                </a:solidFill>
                <a:latin typeface="Agency FB" panose="020B0503020202020204" pitchFamily="34" charset="0"/>
              </a:rPr>
              <a:t>Export arguments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1720" y="5200847"/>
            <a:ext cx="460851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prstClr val="black"/>
                </a:solidFill>
                <a:latin typeface="Agency FB" panose="020B0503020202020204" pitchFamily="34" charset="0"/>
              </a:rPr>
              <a:t>C:\rundll32.exe  </a:t>
            </a:r>
            <a:r>
              <a:rPr lang="en-GB" sz="2400" i="1" dirty="0">
                <a:solidFill>
                  <a:prstClr val="black"/>
                </a:solidFill>
                <a:latin typeface="Agency FB" panose="020B0503020202020204" pitchFamily="34" charset="0"/>
              </a:rPr>
              <a:t>rip.dll</a:t>
            </a:r>
            <a:r>
              <a:rPr lang="en-GB" sz="2400" dirty="0">
                <a:solidFill>
                  <a:prstClr val="black"/>
                </a:solidFill>
                <a:latin typeface="Agency FB" panose="020B0503020202020204" pitchFamily="34" charset="0"/>
              </a:rPr>
              <a:t>, </a:t>
            </a:r>
            <a:r>
              <a:rPr lang="en-GB" sz="2400" i="1" dirty="0">
                <a:solidFill>
                  <a:prstClr val="black"/>
                </a:solidFill>
                <a:latin typeface="Agency FB" panose="020B0503020202020204" pitchFamily="34" charset="0"/>
              </a:rPr>
              <a:t>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4550" y="5877272"/>
            <a:ext cx="6025841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prstClr val="black"/>
                </a:solidFill>
                <a:latin typeface="Agency FB" panose="020B0503020202020204" pitchFamily="34" charset="0"/>
              </a:rPr>
              <a:t>C:\rundll32.exe  </a:t>
            </a:r>
            <a:r>
              <a:rPr lang="en-GB" sz="2400" i="1" dirty="0">
                <a:solidFill>
                  <a:prstClr val="black"/>
                </a:solidFill>
                <a:latin typeface="Agency FB" panose="020B0503020202020204" pitchFamily="34" charset="0"/>
              </a:rPr>
              <a:t>ipr32xdll</a:t>
            </a:r>
            <a:r>
              <a:rPr lang="en-GB" sz="2400" dirty="0">
                <a:solidFill>
                  <a:prstClr val="black"/>
                </a:solidFill>
                <a:latin typeface="Agency FB" panose="020B0503020202020204" pitchFamily="34" charset="0"/>
              </a:rPr>
              <a:t>, </a:t>
            </a:r>
            <a:r>
              <a:rPr lang="en-GB" sz="2400" i="1" dirty="0" err="1">
                <a:solidFill>
                  <a:prstClr val="black"/>
                </a:solidFill>
                <a:latin typeface="Agency FB" panose="020B0503020202020204" pitchFamily="34" charset="0"/>
              </a:rPr>
              <a:t>InstallService</a:t>
            </a:r>
            <a:r>
              <a:rPr lang="en-GB" sz="2400" i="1" dirty="0">
                <a:solidFill>
                  <a:prstClr val="black"/>
                </a:solidFill>
                <a:latin typeface="Agency FB" panose="020B0503020202020204" pitchFamily="34" charset="0"/>
              </a:rPr>
              <a:t> </a:t>
            </a:r>
            <a:r>
              <a:rPr lang="en-GB" sz="2400" i="1" dirty="0" err="1">
                <a:solidFill>
                  <a:prstClr val="black"/>
                </a:solidFill>
                <a:latin typeface="Agency FB" panose="020B0503020202020204" pitchFamily="34" charset="0"/>
              </a:rPr>
              <a:t>ServiceName</a:t>
            </a:r>
            <a:endParaRPr lang="en-GB" sz="2400" i="1" dirty="0">
              <a:solidFill>
                <a:prstClr val="black"/>
              </a:solidFill>
              <a:latin typeface="Agency FB" panose="020B0503020202020204" pitchFamily="34" charset="0"/>
            </a:endParaRPr>
          </a:p>
          <a:p>
            <a:r>
              <a:rPr lang="en-GB" sz="2400" dirty="0">
                <a:solidFill>
                  <a:prstClr val="black"/>
                </a:solidFill>
                <a:latin typeface="Agency FB" panose="020B0503020202020204" pitchFamily="34" charset="0"/>
              </a:rPr>
              <a:t>C:\net start </a:t>
            </a:r>
            <a:r>
              <a:rPr lang="en-GB" sz="2400" i="1" dirty="0" err="1">
                <a:solidFill>
                  <a:prstClr val="black"/>
                </a:solidFill>
                <a:latin typeface="Agency FB" panose="020B0503020202020204" pitchFamily="34" charset="0"/>
              </a:rPr>
              <a:t>ServiceName</a:t>
            </a:r>
            <a:endParaRPr lang="en-GB" sz="2400" i="1" dirty="0">
              <a:solidFill>
                <a:prstClr val="black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48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Process Monitoring (procmon.exe)</a:t>
            </a:r>
            <a:endParaRPr lang="en-GB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68" y="1700808"/>
            <a:ext cx="7994912" cy="4909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257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Process Monitoring –&gt; Filter</a:t>
            </a:r>
          </a:p>
          <a:p>
            <a:pPr lvl="1"/>
            <a:r>
              <a:rPr lang="en-GB" dirty="0"/>
              <a:t>Important fields: </a:t>
            </a:r>
            <a:r>
              <a:rPr lang="en-GB" dirty="0">
                <a:latin typeface="Agency FB" panose="020B0503020202020204" pitchFamily="34" charset="0"/>
              </a:rPr>
              <a:t>Process Name</a:t>
            </a:r>
            <a:r>
              <a:rPr lang="en-GB" dirty="0"/>
              <a:t>, </a:t>
            </a:r>
            <a:r>
              <a:rPr lang="en-GB" dirty="0">
                <a:latin typeface="Agency FB" panose="020B0503020202020204" pitchFamily="34" charset="0"/>
              </a:rPr>
              <a:t>Operation</a:t>
            </a:r>
            <a:r>
              <a:rPr lang="en-GB" dirty="0"/>
              <a:t>, </a:t>
            </a:r>
            <a:r>
              <a:rPr lang="en-GB" dirty="0">
                <a:latin typeface="Agency FB" panose="020B0503020202020204" pitchFamily="34" charset="0"/>
              </a:rPr>
              <a:t>Detail</a:t>
            </a:r>
          </a:p>
          <a:p>
            <a:pPr lvl="1"/>
            <a:r>
              <a:rPr lang="en-GB" dirty="0" smtClean="0"/>
              <a:t>Common functions: </a:t>
            </a:r>
            <a:r>
              <a:rPr lang="en-GB" dirty="0" err="1" smtClean="0">
                <a:latin typeface="Agency FB" panose="020B0503020202020204" pitchFamily="34" charset="0"/>
              </a:rPr>
              <a:t>RegSetValue</a:t>
            </a:r>
            <a:r>
              <a:rPr lang="en-GB" dirty="0" smtClean="0"/>
              <a:t>; </a:t>
            </a:r>
            <a:r>
              <a:rPr lang="en-GB" dirty="0" err="1" smtClean="0">
                <a:latin typeface="Agency FB" panose="020B0503020202020204" pitchFamily="34" charset="0"/>
              </a:rPr>
              <a:t>CreateFile</a:t>
            </a:r>
            <a:r>
              <a:rPr lang="en-GB" dirty="0" smtClean="0"/>
              <a:t>; </a:t>
            </a:r>
            <a:r>
              <a:rPr lang="en-GB" dirty="0" err="1" smtClean="0">
                <a:latin typeface="Agency FB" panose="020B0503020202020204" pitchFamily="34" charset="0"/>
              </a:rPr>
              <a:t>WriteFile</a:t>
            </a:r>
            <a:r>
              <a:rPr lang="en-GB" dirty="0" smtClean="0"/>
              <a:t>.</a:t>
            </a:r>
          </a:p>
          <a:p>
            <a:pPr lvl="2"/>
            <a:endParaRPr lang="en-GB" dirty="0" smtClean="0"/>
          </a:p>
          <a:p>
            <a:pPr lvl="2"/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717648"/>
            <a:ext cx="6268292" cy="4071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41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Process </a:t>
            </a:r>
            <a:r>
              <a:rPr lang="en-GB" b="1" dirty="0" smtClean="0"/>
              <a:t>Explorer (procexp.exe)</a:t>
            </a:r>
          </a:p>
          <a:p>
            <a:pPr lvl="1"/>
            <a:r>
              <a:rPr lang="en-GB" sz="2000" dirty="0" smtClean="0"/>
              <a:t>Name</a:t>
            </a:r>
          </a:p>
          <a:p>
            <a:pPr lvl="1"/>
            <a:r>
              <a:rPr lang="en-GB" sz="2000" dirty="0" smtClean="0"/>
              <a:t>PID</a:t>
            </a:r>
          </a:p>
          <a:p>
            <a:pPr lvl="1"/>
            <a:r>
              <a:rPr lang="en-GB" sz="2000" dirty="0" smtClean="0"/>
              <a:t>CPU</a:t>
            </a:r>
          </a:p>
          <a:p>
            <a:pPr lvl="1"/>
            <a:r>
              <a:rPr lang="en-GB" sz="2000" dirty="0" smtClean="0"/>
              <a:t>Description</a:t>
            </a:r>
          </a:p>
          <a:p>
            <a:pPr lvl="1"/>
            <a:r>
              <a:rPr lang="en-GB" sz="2000" dirty="0" smtClean="0"/>
              <a:t>Company</a:t>
            </a:r>
            <a:endParaRPr lang="en-GB" sz="2000" dirty="0"/>
          </a:p>
          <a:p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00191"/>
            <a:ext cx="6810524" cy="4600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620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4546848" cy="5112568"/>
          </a:xfrm>
        </p:spPr>
        <p:txBody>
          <a:bodyPr>
            <a:normAutofit/>
          </a:bodyPr>
          <a:lstStyle/>
          <a:p>
            <a:r>
              <a:rPr lang="en-GB" b="1" dirty="0"/>
              <a:t>Process </a:t>
            </a:r>
            <a:r>
              <a:rPr lang="en-GB" b="1" dirty="0" smtClean="0"/>
              <a:t>Explorer -&gt; Verify</a:t>
            </a:r>
          </a:p>
          <a:p>
            <a:pPr lvl="1"/>
            <a:r>
              <a:rPr lang="en-GB" sz="2400" dirty="0" smtClean="0"/>
              <a:t>MS uses digital signatures for most of its core executables.</a:t>
            </a:r>
          </a:p>
          <a:p>
            <a:pPr lvl="1"/>
            <a:r>
              <a:rPr lang="en-GB" sz="2400" dirty="0" smtClean="0"/>
              <a:t>Malware often replaces authentic Windows files with its own in an attempt to hide</a:t>
            </a:r>
            <a:endParaRPr lang="en-GB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193673"/>
            <a:ext cx="4044500" cy="511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050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Process Explorer -&gt; </a:t>
            </a:r>
            <a:r>
              <a:rPr lang="en-GB" b="1" dirty="0" smtClean="0"/>
              <a:t>Compare Strings </a:t>
            </a:r>
          </a:p>
          <a:p>
            <a:pPr lvl="1"/>
            <a:r>
              <a:rPr lang="en-GB" sz="2400" dirty="0" smtClean="0"/>
              <a:t>Compare strings contained in the disk executables (images)against strings in memory to recognize the replacements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958608"/>
            <a:ext cx="5832648" cy="3573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669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068960"/>
            <a:ext cx="8010525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Comparing Registry snapshots by </a:t>
            </a:r>
            <a:r>
              <a:rPr lang="en-GB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Regshot</a:t>
            </a:r>
            <a:endParaRPr lang="en-GB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49" y="1792501"/>
            <a:ext cx="4281292" cy="43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192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Faking a Network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>
                <a:sym typeface="Wingdings" panose="05000000000000000000" pitchFamily="2" charset="2"/>
              </a:rPr>
              <a:t>Malware often beacons out and eventually communicates with a command-and-control server. </a:t>
            </a:r>
          </a:p>
          <a:p>
            <a:r>
              <a:rPr lang="en-GB" dirty="0" smtClean="0">
                <a:sym typeface="Wingdings" panose="05000000000000000000" pitchFamily="2" charset="2"/>
              </a:rPr>
              <a:t>A fake network allows us to obtain network indicators (DNS names, IP, packet signatures) without connecting to the Internet.</a:t>
            </a:r>
          </a:p>
          <a:p>
            <a:r>
              <a:rPr lang="en-GB" dirty="0" smtClean="0">
                <a:sym typeface="Wingdings" panose="05000000000000000000" pitchFamily="2" charset="2"/>
              </a:rPr>
              <a:t>Some malware can realise that it is executing in a virtualized environment (e.g. VMware).</a:t>
            </a:r>
          </a:p>
          <a:p>
            <a:r>
              <a:rPr lang="en-GB" dirty="0" smtClean="0">
                <a:sym typeface="Wingdings" panose="05000000000000000000" pitchFamily="2" charset="2"/>
              </a:rPr>
              <a:t>Tools:</a:t>
            </a:r>
          </a:p>
          <a:p>
            <a:pPr lvl="1"/>
            <a:r>
              <a:rPr lang="en-GB" dirty="0" err="1" smtClean="0">
                <a:sym typeface="Wingdings" panose="05000000000000000000" pitchFamily="2" charset="2"/>
              </a:rPr>
              <a:t>ApateDNS</a:t>
            </a:r>
            <a:endParaRPr lang="en-GB" dirty="0" smtClean="0">
              <a:sym typeface="Wingdings" panose="05000000000000000000" pitchFamily="2" charset="2"/>
            </a:endParaRPr>
          </a:p>
          <a:p>
            <a:pPr lvl="1"/>
            <a:r>
              <a:rPr lang="en-GB" dirty="0" err="1" smtClean="0">
                <a:sym typeface="Wingdings" panose="05000000000000000000" pitchFamily="2" charset="2"/>
              </a:rPr>
              <a:t>Netcat</a:t>
            </a:r>
            <a:endParaRPr lang="en-GB" dirty="0" smtClean="0">
              <a:sym typeface="Wingdings" panose="05000000000000000000" pitchFamily="2" charset="2"/>
            </a:endParaRPr>
          </a:p>
          <a:p>
            <a:pPr lvl="1"/>
            <a:r>
              <a:rPr lang="en-GB" dirty="0" err="1" smtClean="0">
                <a:sym typeface="Wingdings" panose="05000000000000000000" pitchFamily="2" charset="2"/>
              </a:rPr>
              <a:t>FakeNet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33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Faking a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ApateDNS</a:t>
            </a:r>
            <a:r>
              <a:rPr lang="en-GB" dirty="0"/>
              <a:t> (</a:t>
            </a:r>
            <a:r>
              <a:rPr lang="en-GB" dirty="0" err="1" smtClean="0"/>
              <a:t>sdl-apateDNS</a:t>
            </a:r>
            <a:r>
              <a:rPr lang="en-GB" dirty="0" smtClean="0"/>
              <a:t>)</a:t>
            </a:r>
          </a:p>
          <a:p>
            <a:pPr marL="0" indent="0">
              <a:buNone/>
            </a:pPr>
            <a:r>
              <a:rPr lang="en-GB" sz="2000" dirty="0" smtClean="0"/>
              <a:t>(</a:t>
            </a:r>
            <a:r>
              <a:rPr lang="en-GB" sz="2000" dirty="0" smtClean="0">
                <a:hlinkClick r:id="rId2"/>
              </a:rPr>
              <a:t>https</a:t>
            </a:r>
            <a:r>
              <a:rPr lang="en-GB" sz="2000" dirty="0">
                <a:hlinkClick r:id="rId2"/>
              </a:rPr>
              <a:t>://</a:t>
            </a:r>
            <a:r>
              <a:rPr lang="en-GB" sz="2000" dirty="0" smtClean="0">
                <a:hlinkClick r:id="rId2"/>
              </a:rPr>
              <a:t>www.fireeye.com/services/freeware/apatedns.html</a:t>
            </a:r>
            <a:r>
              <a:rPr lang="en-GB" sz="2000" dirty="0" smtClean="0"/>
              <a:t>) </a:t>
            </a:r>
            <a:endParaRPr lang="en-GB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145049"/>
            <a:ext cx="6621016" cy="443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53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Network Monitoring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Netcat</a:t>
            </a:r>
            <a:endParaRPr lang="en-GB" dirty="0" smtClean="0"/>
          </a:p>
          <a:p>
            <a:pPr lvl="1"/>
            <a:r>
              <a:rPr lang="en-GB" dirty="0" smtClean="0"/>
              <a:t>Monitoring common ports used by malwares (80, 443, …)</a:t>
            </a:r>
            <a:endParaRPr lang="en-GB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34" y="3356992"/>
            <a:ext cx="8867921" cy="1723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4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INetSim</a:t>
            </a:r>
            <a:r>
              <a:rPr lang="en-GB" dirty="0"/>
              <a:t> </a:t>
            </a:r>
            <a:r>
              <a:rPr lang="en-GB" dirty="0" smtClean="0"/>
              <a:t>(</a:t>
            </a:r>
            <a:r>
              <a:rPr lang="en-GB" dirty="0" smtClean="0">
                <a:hlinkClick r:id="rId3"/>
              </a:rPr>
              <a:t>www.inetsim.org</a:t>
            </a:r>
            <a:r>
              <a:rPr lang="en-GB" dirty="0" smtClean="0"/>
              <a:t>): Linux-based app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88841"/>
            <a:ext cx="5786970" cy="409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848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Wireshark</a:t>
            </a:r>
            <a:endParaRPr lang="en-GB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72815"/>
            <a:ext cx="7173576" cy="5085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65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Surface analysis</a:t>
            </a:r>
          </a:p>
          <a:p>
            <a:pPr lvl="1"/>
            <a:r>
              <a:rPr lang="en-US" dirty="0" err="1" smtClean="0"/>
              <a:t>VirusTotal</a:t>
            </a:r>
            <a:endParaRPr lang="en-US" dirty="0" smtClean="0"/>
          </a:p>
          <a:p>
            <a:pPr lvl="1"/>
            <a:r>
              <a:rPr lang="en-US" dirty="0" smtClean="0"/>
              <a:t>Strings</a:t>
            </a:r>
          </a:p>
          <a:p>
            <a:pPr lvl="1"/>
            <a:r>
              <a:rPr lang="en-US" dirty="0" err="1" smtClean="0"/>
              <a:t>Peview</a:t>
            </a:r>
            <a:r>
              <a:rPr lang="en-US" dirty="0" smtClean="0"/>
              <a:t>/</a:t>
            </a:r>
            <a:r>
              <a:rPr lang="en-US" dirty="0" err="1" smtClean="0"/>
              <a:t>PEiD</a:t>
            </a:r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Run monitoring tools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Process monitor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Process explorer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Wireshark</a:t>
            </a:r>
          </a:p>
          <a:p>
            <a:pPr lvl="1"/>
            <a:r>
              <a:rPr lang="en-US" dirty="0" err="1" smtClean="0">
                <a:solidFill>
                  <a:srgbClr val="C00000"/>
                </a:solidFill>
              </a:rPr>
              <a:t>Regshot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Activate malware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Check &amp; analysis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71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Practice 3 [Surface &amp; Dynamic Analysis]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-457200">
              <a:buFont typeface="Wingdings" panose="05000000000000000000" pitchFamily="2" charset="2"/>
              <a:buChar char="q"/>
            </a:pPr>
            <a:r>
              <a:rPr lang="en-GB" b="1" dirty="0" smtClean="0"/>
              <a:t>PE File</a:t>
            </a:r>
            <a:r>
              <a:rPr lang="en-GB" dirty="0" smtClean="0"/>
              <a:t>:</a:t>
            </a:r>
            <a:r>
              <a:rPr lang="en-GB" i="1" dirty="0" smtClean="0"/>
              <a:t>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Lab03-01.exe</a:t>
            </a:r>
            <a:r>
              <a:rPr lang="en-GB" dirty="0"/>
              <a:t>, </a:t>
            </a:r>
            <a:endParaRPr lang="en-GB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 smtClean="0"/>
              <a:t>Questions</a:t>
            </a:r>
            <a:endParaRPr lang="en-GB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What are the malware’s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imports</a:t>
            </a:r>
            <a:r>
              <a:rPr lang="en-GB" sz="2400" dirty="0"/>
              <a:t> and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strings</a:t>
            </a:r>
            <a:r>
              <a:rPr lang="en-GB" sz="2400" dirty="0"/>
              <a:t>? </a:t>
            </a:r>
            <a:r>
              <a:rPr lang="en-GB" sz="2400" dirty="0" smtClean="0"/>
              <a:t> (Surface Analysis)</a:t>
            </a:r>
            <a:endParaRPr lang="en-GB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What are the malware’s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host-based indicators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Are there any useful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network-based </a:t>
            </a:r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indicators </a:t>
            </a:r>
            <a:r>
              <a:rPr lang="en-GB" sz="2400" dirty="0" smtClean="0"/>
              <a:t>for </a:t>
            </a:r>
            <a:r>
              <a:rPr lang="en-GB" sz="2400" dirty="0"/>
              <a:t>this malware? If so, what are they</a:t>
            </a:r>
            <a:r>
              <a:rPr lang="en-GB" sz="2400" dirty="0" smtClean="0"/>
              <a:t>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 smtClean="0"/>
              <a:t>How to detect and remove the malware?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Project idea</a:t>
            </a:r>
          </a:p>
          <a:p>
            <a:pPr lvl="1"/>
            <a:r>
              <a:rPr lang="en-GB" dirty="0" smtClean="0"/>
              <a:t>Write a simple program</a:t>
            </a:r>
          </a:p>
          <a:p>
            <a:pPr lvl="2"/>
            <a:r>
              <a:rPr lang="en-GB" dirty="0"/>
              <a:t>D</a:t>
            </a:r>
            <a:r>
              <a:rPr lang="en-GB" dirty="0" smtClean="0"/>
              <a:t>etect the malware</a:t>
            </a:r>
          </a:p>
          <a:p>
            <a:pPr lvl="2"/>
            <a:r>
              <a:rPr lang="en-GB" dirty="0" smtClean="0"/>
              <a:t>Remove the malware off the infected PC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766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Lab03-01.exe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Import </a:t>
            </a:r>
          </a:p>
          <a:p>
            <a:pPr lvl="1"/>
            <a:r>
              <a:rPr lang="en-US" dirty="0" smtClean="0"/>
              <a:t>Kernel32.dll (</a:t>
            </a:r>
            <a:r>
              <a:rPr lang="en-US" dirty="0" err="1" smtClean="0"/>
              <a:t>CreateFile</a:t>
            </a:r>
            <a:r>
              <a:rPr lang="en-US" dirty="0" smtClean="0"/>
              <a:t>, </a:t>
            </a:r>
            <a:r>
              <a:rPr lang="en-US" dirty="0" err="1" smtClean="0"/>
              <a:t>WriteFile</a:t>
            </a:r>
            <a:r>
              <a:rPr lang="en-US" dirty="0" smtClean="0"/>
              <a:t>, </a:t>
            </a:r>
            <a:r>
              <a:rPr lang="en-US" dirty="0" err="1" smtClean="0"/>
              <a:t>MapFile</a:t>
            </a:r>
            <a:r>
              <a:rPr lang="en-US" dirty="0" smtClean="0"/>
              <a:t>, …)</a:t>
            </a:r>
          </a:p>
          <a:p>
            <a:r>
              <a:rPr lang="en-US" dirty="0" smtClean="0"/>
              <a:t>Strings</a:t>
            </a:r>
          </a:p>
          <a:p>
            <a:pPr lvl="1"/>
            <a:r>
              <a:rPr lang="en-US" dirty="0" smtClean="0"/>
              <a:t>Kernel32.dll</a:t>
            </a:r>
          </a:p>
          <a:p>
            <a:pPr lvl="1"/>
            <a:r>
              <a:rPr lang="en-US" dirty="0" smtClean="0"/>
              <a:t>Ws2_32</a:t>
            </a:r>
          </a:p>
          <a:p>
            <a:pPr lvl="1"/>
            <a:r>
              <a:rPr lang="en-US" dirty="0"/>
              <a:t>SOFTWARE\Classes\http\shell\open\</a:t>
            </a:r>
            <a:r>
              <a:rPr lang="en-US" dirty="0" err="1"/>
              <a:t>commandV</a:t>
            </a:r>
            <a:endParaRPr lang="en-US" dirty="0"/>
          </a:p>
          <a:p>
            <a:pPr lvl="1"/>
            <a:r>
              <a:rPr lang="en-US" dirty="0"/>
              <a:t>Software\Microsoft\Active Setup\Installed Components\</a:t>
            </a:r>
          </a:p>
          <a:p>
            <a:pPr lvl="1"/>
            <a:r>
              <a:rPr lang="en-US" dirty="0"/>
              <a:t>test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  <a:hlinkClick r:id="rId3"/>
              </a:rPr>
              <a:t>www.practicalmalwareanalysis.com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/>
              <a:t>admin</a:t>
            </a:r>
          </a:p>
          <a:p>
            <a:pPr lvl="1"/>
            <a:r>
              <a:rPr lang="en-US" dirty="0" err="1" smtClean="0"/>
              <a:t>VideoDriver</a:t>
            </a:r>
            <a:r>
              <a:rPr lang="en-US" dirty="0" smtClean="0"/>
              <a:t>:</a:t>
            </a:r>
            <a:endParaRPr lang="en-US" sz="2300" dirty="0" smtClean="0"/>
          </a:p>
          <a:p>
            <a:pPr lvl="1"/>
            <a:r>
              <a:rPr lang="en-US" dirty="0" smtClean="0"/>
              <a:t>WinVMX32</a:t>
            </a:r>
          </a:p>
          <a:p>
            <a:pPr lvl="1"/>
            <a:r>
              <a:rPr lang="en-US" dirty="0" smtClean="0"/>
              <a:t>vmx32to64.exe</a:t>
            </a:r>
          </a:p>
          <a:p>
            <a:pPr lvl="1"/>
            <a:r>
              <a:rPr lang="en-US" dirty="0" smtClean="0"/>
              <a:t>SOFTWARE\Microsoft\Windows\</a:t>
            </a:r>
            <a:r>
              <a:rPr lang="en-US" dirty="0" err="1" smtClean="0"/>
              <a:t>CurrentVersion</a:t>
            </a:r>
            <a:r>
              <a:rPr lang="en-US" dirty="0" smtClean="0"/>
              <a:t>\Run</a:t>
            </a:r>
          </a:p>
          <a:p>
            <a:pPr lvl="1"/>
            <a:r>
              <a:rPr lang="en-US" dirty="0" smtClean="0"/>
              <a:t>SOFTWARE\Microsoft\Windows\</a:t>
            </a:r>
            <a:r>
              <a:rPr lang="en-US" dirty="0" err="1" smtClean="0"/>
              <a:t>CurrentVersion</a:t>
            </a:r>
            <a:r>
              <a:rPr lang="en-US" dirty="0" smtClean="0"/>
              <a:t>\Explorer\Shell </a:t>
            </a:r>
            <a:r>
              <a:rPr lang="en-US" dirty="0"/>
              <a:t>Folders</a:t>
            </a:r>
          </a:p>
        </p:txBody>
      </p:sp>
    </p:spTree>
    <p:extLst>
      <p:ext uri="{BB962C8B-B14F-4D97-AF65-F5344CB8AC3E}">
        <p14:creationId xmlns:p14="http://schemas.microsoft.com/office/powerpoint/2010/main" val="398537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4 [Surface &amp; Dynamic Analysis]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PE file</a:t>
            </a:r>
            <a:r>
              <a:rPr lang="en-GB" dirty="0"/>
              <a:t>: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Lab03-02.dll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Questions</a:t>
            </a:r>
          </a:p>
          <a:p>
            <a:pPr lvl="1"/>
            <a:r>
              <a:rPr lang="en-US" dirty="0" smtClean="0"/>
              <a:t>Import &amp; Export?</a:t>
            </a:r>
            <a:endParaRPr lang="en-GB" dirty="0" smtClean="0"/>
          </a:p>
          <a:p>
            <a:pPr lvl="1"/>
            <a:r>
              <a:rPr lang="en-GB" dirty="0" smtClean="0"/>
              <a:t>How </a:t>
            </a:r>
            <a:r>
              <a:rPr lang="en-GB" dirty="0"/>
              <a:t>can you get this malware to install itself?</a:t>
            </a:r>
          </a:p>
          <a:p>
            <a:pPr lvl="1"/>
            <a:r>
              <a:rPr lang="en-GB" dirty="0" smtClean="0"/>
              <a:t>How </a:t>
            </a:r>
            <a:r>
              <a:rPr lang="en-GB" dirty="0"/>
              <a:t>would you get this malware to run after installation?</a:t>
            </a:r>
          </a:p>
          <a:p>
            <a:pPr lvl="1"/>
            <a:r>
              <a:rPr lang="en-GB" dirty="0" smtClean="0"/>
              <a:t>How </a:t>
            </a:r>
            <a:r>
              <a:rPr lang="en-GB" dirty="0"/>
              <a:t>can you find the process under which this malware is running?</a:t>
            </a:r>
          </a:p>
          <a:p>
            <a:pPr lvl="1"/>
            <a:r>
              <a:rPr lang="en-GB" dirty="0" smtClean="0"/>
              <a:t>Which </a:t>
            </a:r>
            <a:r>
              <a:rPr lang="en-GB" dirty="0"/>
              <a:t>filters could you set in order to use </a:t>
            </a:r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procmon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dirty="0"/>
              <a:t>to </a:t>
            </a:r>
            <a:r>
              <a:rPr lang="en-GB" dirty="0" smtClean="0"/>
              <a:t>glean information</a:t>
            </a:r>
            <a:r>
              <a:rPr lang="en-GB" dirty="0"/>
              <a:t>?</a:t>
            </a:r>
          </a:p>
          <a:p>
            <a:pPr lvl="1"/>
            <a:r>
              <a:rPr lang="en-GB" dirty="0" smtClean="0"/>
              <a:t>What </a:t>
            </a:r>
            <a:r>
              <a:rPr lang="en-GB" dirty="0"/>
              <a:t>are the malware’s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host-based indicators</a:t>
            </a:r>
            <a:r>
              <a:rPr lang="en-GB" dirty="0"/>
              <a:t>?</a:t>
            </a:r>
          </a:p>
          <a:p>
            <a:pPr lvl="1"/>
            <a:r>
              <a:rPr lang="en-GB" dirty="0" smtClean="0"/>
              <a:t>Are </a:t>
            </a:r>
            <a:r>
              <a:rPr lang="en-GB" dirty="0"/>
              <a:t>there any useful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network-based signatures </a:t>
            </a:r>
            <a:r>
              <a:rPr lang="en-GB" dirty="0"/>
              <a:t>for this malware?</a:t>
            </a:r>
          </a:p>
        </p:txBody>
      </p:sp>
    </p:spTree>
    <p:extLst>
      <p:ext uri="{BB962C8B-B14F-4D97-AF65-F5344CB8AC3E}">
        <p14:creationId xmlns:p14="http://schemas.microsoft.com/office/powerpoint/2010/main" val="175835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Practice 4 </a:t>
            </a:r>
            <a:r>
              <a:rPr lang="en-GB" dirty="0"/>
              <a:t>[Surface &amp; Dynamic Analysis]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b="1" dirty="0" smtClean="0"/>
              <a:t>PE file</a:t>
            </a:r>
            <a:r>
              <a:rPr lang="en-GB" dirty="0" smtClean="0"/>
              <a:t>: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Lab03-03.exe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 smtClean="0"/>
              <a:t>Questions</a:t>
            </a:r>
          </a:p>
          <a:p>
            <a:pPr lvl="1"/>
            <a:r>
              <a:rPr lang="en-GB" dirty="0" smtClean="0"/>
              <a:t>What happening when this malware executes (monitoring by Process Explorer)?</a:t>
            </a:r>
          </a:p>
          <a:p>
            <a:pPr lvl="1"/>
            <a:r>
              <a:rPr lang="en-GB" dirty="0" smtClean="0"/>
              <a:t>Identify any live memory modification?</a:t>
            </a:r>
          </a:p>
          <a:p>
            <a:pPr lvl="1"/>
            <a:r>
              <a:rPr lang="en-GB" dirty="0" smtClean="0"/>
              <a:t>What are the malware’s host-based indicators?</a:t>
            </a:r>
          </a:p>
          <a:p>
            <a:pPr lvl="1"/>
            <a:r>
              <a:rPr lang="en-GB" dirty="0" smtClean="0"/>
              <a:t>What is the goal of this malware?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 smtClean="0"/>
              <a:t>Project idea</a:t>
            </a:r>
          </a:p>
          <a:p>
            <a:pPr lvl="1"/>
            <a:r>
              <a:rPr lang="en-GB" dirty="0"/>
              <a:t>Write a simple program to </a:t>
            </a:r>
          </a:p>
          <a:p>
            <a:pPr lvl="2"/>
            <a:r>
              <a:rPr lang="en-GB" dirty="0"/>
              <a:t>Detect the malware</a:t>
            </a:r>
          </a:p>
          <a:p>
            <a:pPr lvl="2"/>
            <a:r>
              <a:rPr lang="en-GB" dirty="0"/>
              <a:t>Remove the malware off the infected PC</a:t>
            </a:r>
          </a:p>
          <a:p>
            <a:pPr lvl="1"/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427019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Practice 4 </a:t>
            </a:r>
            <a:r>
              <a:rPr lang="en-GB" dirty="0"/>
              <a:t>[Surface &amp; Dynamic Analysis]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b="1" dirty="0" smtClean="0"/>
              <a:t>PE file</a:t>
            </a:r>
            <a:r>
              <a:rPr lang="en-GB" dirty="0" smtClean="0"/>
              <a:t>: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Lab03-04.exe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 smtClean="0"/>
              <a:t>Questions</a:t>
            </a:r>
          </a:p>
          <a:p>
            <a:pPr lvl="1"/>
            <a:r>
              <a:rPr lang="en-GB" dirty="0" smtClean="0"/>
              <a:t>What </a:t>
            </a:r>
            <a:r>
              <a:rPr lang="en-GB" dirty="0"/>
              <a:t>happens when you run this file?</a:t>
            </a:r>
          </a:p>
          <a:p>
            <a:pPr lvl="1"/>
            <a:r>
              <a:rPr lang="en-GB" dirty="0" smtClean="0"/>
              <a:t>What </a:t>
            </a:r>
            <a:r>
              <a:rPr lang="en-GB" dirty="0"/>
              <a:t>is causing the roadblock in dynamic analysis?</a:t>
            </a:r>
          </a:p>
          <a:p>
            <a:pPr lvl="1"/>
            <a:r>
              <a:rPr lang="en-GB" dirty="0" smtClean="0"/>
              <a:t>Are </a:t>
            </a:r>
            <a:r>
              <a:rPr lang="en-GB" dirty="0"/>
              <a:t>there other ways to run this program?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415819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Practice [A real virus]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</a:t>
            </a:r>
            <a:r>
              <a:rPr lang="en-GB" dirty="0"/>
              <a:t>real virus: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Trojan.Win32.Mooze</a:t>
            </a:r>
          </a:p>
          <a:p>
            <a:pPr lvl="1"/>
            <a:r>
              <a:rPr lang="en-GB" dirty="0" smtClean="0"/>
              <a:t>Download from </a:t>
            </a:r>
            <a:r>
              <a:rPr lang="en-GB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virusshare.com</a:t>
            </a:r>
            <a:r>
              <a:rPr lang="en-GB" dirty="0" smtClean="0"/>
              <a:t> </a:t>
            </a:r>
          </a:p>
          <a:p>
            <a:pPr lvl="1"/>
            <a:r>
              <a:rPr lang="en-GB" dirty="0" smtClean="0"/>
              <a:t>SHA256</a:t>
            </a:r>
          </a:p>
          <a:p>
            <a:pPr lvl="2"/>
            <a:r>
              <a:rPr lang="en-GB" dirty="0" smtClean="0"/>
              <a:t>855e3aa2a4b8432f5a2b77a6aa2635ae8382ca6df76b4c0d7405856faa7b5b5b</a:t>
            </a:r>
          </a:p>
          <a:p>
            <a:pPr lvl="1"/>
            <a:r>
              <a:rPr lang="en-GB" dirty="0" smtClean="0"/>
              <a:t>MD5</a:t>
            </a:r>
          </a:p>
          <a:p>
            <a:pPr lvl="2"/>
            <a:r>
              <a:rPr lang="en-GB" dirty="0"/>
              <a:t>efc05e673dc516a6a96bc346dc7c93a6 </a:t>
            </a:r>
          </a:p>
        </p:txBody>
      </p:sp>
    </p:spTree>
    <p:extLst>
      <p:ext uri="{BB962C8B-B14F-4D97-AF65-F5344CB8AC3E}">
        <p14:creationId xmlns:p14="http://schemas.microsoft.com/office/powerpoint/2010/main" val="124693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idea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Write a simple program for monitoring processes running in Windows</a:t>
            </a:r>
            <a:endParaRPr lang="en-GB" dirty="0" smtClean="0"/>
          </a:p>
          <a:p>
            <a:r>
              <a:rPr lang="en-GB" dirty="0" smtClean="0"/>
              <a:t>Write a simple signature and/or behaviour-based malware detection and removal program</a:t>
            </a:r>
          </a:p>
          <a:p>
            <a:pPr lvl="1"/>
            <a:r>
              <a:rPr lang="en-GB" dirty="0" smtClean="0"/>
              <a:t>Collect &amp; store the malware signatures &amp; behaviours</a:t>
            </a:r>
          </a:p>
          <a:p>
            <a:pPr lvl="1"/>
            <a:r>
              <a:rPr lang="en-GB" dirty="0" smtClean="0"/>
              <a:t>Options: </a:t>
            </a:r>
          </a:p>
          <a:p>
            <a:pPr lvl="2"/>
            <a:r>
              <a:rPr lang="en-GB" dirty="0" smtClean="0"/>
              <a:t>Quick scan: signature-based scan</a:t>
            </a:r>
          </a:p>
          <a:p>
            <a:pPr lvl="2"/>
            <a:r>
              <a:rPr lang="en-GB" dirty="0" smtClean="0"/>
              <a:t>Full scan: behaviour-based scan</a:t>
            </a:r>
          </a:p>
          <a:p>
            <a:pPr lvl="1"/>
            <a:endParaRPr lang="en-GB" dirty="0" smtClean="0"/>
          </a:p>
          <a:p>
            <a:pPr lvl="2"/>
            <a:r>
              <a:rPr lang="en-GB" dirty="0">
                <a:hlinkClick r:id="rId3"/>
              </a:rPr>
              <a:t>https://virustotalapi3.readthedocs.io/en/latest</a:t>
            </a:r>
            <a:r>
              <a:rPr lang="en-GB" dirty="0" smtClean="0">
                <a:hlinkClick r:id="rId3"/>
              </a:rPr>
              <a:t>/</a:t>
            </a:r>
            <a:r>
              <a:rPr lang="en-GB" dirty="0" smtClean="0"/>
              <a:t> </a:t>
            </a:r>
            <a:endParaRPr lang="en-GB" dirty="0" smtClean="0"/>
          </a:p>
          <a:p>
            <a:pPr lvl="2"/>
            <a:r>
              <a:rPr lang="en-GB" dirty="0" smtClean="0">
                <a:hlinkClick r:id="rId4"/>
              </a:rPr>
              <a:t>ftp://ftp.viethanit.edu.vn</a:t>
            </a:r>
            <a:r>
              <a:rPr lang="en-GB" dirty="0" smtClean="0"/>
              <a:t>  =&gt; </a:t>
            </a:r>
            <a:r>
              <a:rPr lang="en-GB" dirty="0" err="1" smtClean="0"/>
              <a:t>MalwareAnalysis</a:t>
            </a:r>
            <a:r>
              <a:rPr lang="en-GB" dirty="0" smtClean="0"/>
              <a:t> -&gt; Python Code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790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1113</Words>
  <Application>Microsoft Office PowerPoint</Application>
  <PresentationFormat>On-screen Show (4:3)</PresentationFormat>
  <Paragraphs>227</Paragraphs>
  <Slides>25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1_Office Theme</vt:lpstr>
      <vt:lpstr>2_Office Theme</vt:lpstr>
      <vt:lpstr>Malware Analysis</vt:lpstr>
      <vt:lpstr>Dynamic Malware Analysis</vt:lpstr>
      <vt:lpstr>Dynamic Malware Analysis</vt:lpstr>
      <vt:lpstr>Dynamic Malware Analysis</vt:lpstr>
      <vt:lpstr>Dynamic Malware Analysis</vt:lpstr>
      <vt:lpstr>Dynamic Malware Analysis</vt:lpstr>
      <vt:lpstr>Dynamic Malware Analysis</vt:lpstr>
      <vt:lpstr>Dynamic Malware Analysis</vt:lpstr>
      <vt:lpstr>Dynamic Malware Analysis</vt:lpstr>
      <vt:lpstr>Dynamic Malware Analysis</vt:lpstr>
      <vt:lpstr>Dynamic Malware Analysis</vt:lpstr>
      <vt:lpstr>Dynamic Malware Analysis</vt:lpstr>
      <vt:lpstr>Faking a Network</vt:lpstr>
      <vt:lpstr>Faking a Network</vt:lpstr>
      <vt:lpstr>Network Monitoring</vt:lpstr>
      <vt:lpstr>Network Monitoring</vt:lpstr>
      <vt:lpstr>Network Monitoring</vt:lpstr>
      <vt:lpstr>Practice</vt:lpstr>
      <vt:lpstr>Practice 3 [Surface &amp; Dynamic Analysis]</vt:lpstr>
      <vt:lpstr>Lab03-01.exe Analysis</vt:lpstr>
      <vt:lpstr>Practice 4 [Surface &amp; Dynamic Analysis]</vt:lpstr>
      <vt:lpstr>Practice 4 [Surface &amp; Dynamic Analysis]</vt:lpstr>
      <vt:lpstr>Practice 4 [Surface &amp; Dynamic Analysis]</vt:lpstr>
      <vt:lpstr>Practice [A real virus]</vt:lpstr>
      <vt:lpstr>Project idea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Malware Analysis</dc:title>
  <dc:creator>tran the son</dc:creator>
  <cp:lastModifiedBy>tran the son</cp:lastModifiedBy>
  <cp:revision>16</cp:revision>
  <dcterms:created xsi:type="dcterms:W3CDTF">2022-10-14T03:14:06Z</dcterms:created>
  <dcterms:modified xsi:type="dcterms:W3CDTF">2022-11-18T01:17:38Z</dcterms:modified>
</cp:coreProperties>
</file>