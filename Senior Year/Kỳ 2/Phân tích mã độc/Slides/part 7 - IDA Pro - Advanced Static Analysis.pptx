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6"/>
  </p:notesMasterIdLst>
  <p:sldIdLst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8" r:id="rId11"/>
    <p:sldId id="269" r:id="rId12"/>
    <p:sldId id="266" r:id="rId13"/>
    <p:sldId id="265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714" autoAdjust="0"/>
  </p:normalViewPr>
  <p:slideViewPr>
    <p:cSldViewPr>
      <p:cViewPr varScale="1">
        <p:scale>
          <a:sx n="84" d="100"/>
          <a:sy n="84" d="100"/>
        </p:scale>
        <p:origin x="-1770" y="-9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39BE56-50FA-419E-91D7-AD145AEB7262}" type="datetimeFigureOut">
              <a:rPr lang="en-US" smtClean="0"/>
              <a:t>12/8/2022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F22D71-F707-4CD7-97B9-2CB53BBE6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061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03A334-FE4D-4C3E-A61B-575B8EC3A56A}" type="slidenum">
              <a:rPr lang="en-GB" smtClean="0">
                <a:solidFill>
                  <a:prstClr val="black"/>
                </a:solidFill>
              </a:rPr>
              <a:pPr/>
              <a:t>1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2845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03A334-FE4D-4C3E-A61B-575B8EC3A56A}" type="slidenum">
              <a:rPr lang="en-GB" smtClean="0">
                <a:solidFill>
                  <a:prstClr val="black"/>
                </a:solidFill>
              </a:rPr>
              <a:pPr/>
              <a:t>2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55606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Option – General – Line Prefix – No. of Opcode bytes = 6</a:t>
            </a:r>
          </a:p>
          <a:p>
            <a:r>
              <a:rPr lang="en-US" dirty="0" smtClean="0"/>
              <a:t>Option – General – Auto comments</a:t>
            </a:r>
          </a:p>
          <a:p>
            <a:r>
              <a:rPr lang="en-GB" dirty="0" smtClean="0"/>
              <a:t>        R - function returns to the caller</a:t>
            </a:r>
          </a:p>
          <a:p>
            <a:r>
              <a:rPr lang="en-GB" dirty="0" smtClean="0"/>
              <a:t>        F - far function</a:t>
            </a:r>
          </a:p>
          <a:p>
            <a:r>
              <a:rPr lang="en-GB" dirty="0" smtClean="0"/>
              <a:t>        L - library function</a:t>
            </a:r>
          </a:p>
          <a:p>
            <a:r>
              <a:rPr lang="en-GB" dirty="0" smtClean="0"/>
              <a:t>        S - static function</a:t>
            </a:r>
          </a:p>
          <a:p>
            <a:r>
              <a:rPr lang="en-GB" dirty="0" smtClean="0"/>
              <a:t>        B - BP based frame. IDA will automatically convert</a:t>
            </a:r>
          </a:p>
          <a:p>
            <a:r>
              <a:rPr lang="en-GB" dirty="0" smtClean="0"/>
              <a:t>            all frame pointer [</a:t>
            </a:r>
            <a:r>
              <a:rPr lang="en-GB" dirty="0" err="1" smtClean="0"/>
              <a:t>BP+xxx</a:t>
            </a:r>
            <a:r>
              <a:rPr lang="en-GB" dirty="0" smtClean="0"/>
              <a:t>] operands to stack</a:t>
            </a:r>
          </a:p>
          <a:p>
            <a:r>
              <a:rPr lang="en-GB" dirty="0" smtClean="0"/>
              <a:t>            variables.</a:t>
            </a:r>
          </a:p>
          <a:p>
            <a:r>
              <a:rPr lang="en-GB" dirty="0" smtClean="0"/>
              <a:t>        T - function has type information</a:t>
            </a:r>
          </a:p>
          <a:p>
            <a:r>
              <a:rPr lang="en-GB" dirty="0" smtClean="0"/>
              <a:t>        = - Frame pointer is equal to the initial stack pointer</a:t>
            </a:r>
          </a:p>
          <a:p>
            <a:r>
              <a:rPr lang="en-GB" dirty="0" smtClean="0"/>
              <a:t>            In this case the frame pointer points to the bottom of the frame</a:t>
            </a:r>
          </a:p>
          <a:p>
            <a:r>
              <a:rPr lang="en-GB" dirty="0" smtClean="0"/>
              <a:t>        M - reserved</a:t>
            </a:r>
          </a:p>
          <a:p>
            <a:r>
              <a:rPr lang="en-GB" dirty="0" smtClean="0"/>
              <a:t>        S - reserved</a:t>
            </a:r>
          </a:p>
          <a:p>
            <a:r>
              <a:rPr lang="en-GB" dirty="0" smtClean="0"/>
              <a:t>        I - reserved</a:t>
            </a:r>
          </a:p>
          <a:p>
            <a:r>
              <a:rPr lang="en-GB" dirty="0" smtClean="0"/>
              <a:t>        C - reserved</a:t>
            </a:r>
          </a:p>
          <a:p>
            <a:r>
              <a:rPr lang="en-GB" dirty="0" smtClean="0"/>
              <a:t>        D - reserved</a:t>
            </a:r>
          </a:p>
          <a:p>
            <a:r>
              <a:rPr lang="en-GB" dirty="0" smtClean="0"/>
              <a:t>        V - reserved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03A334-FE4D-4C3E-A61B-575B8EC3A56A}" type="slidenum">
              <a:rPr lang="en-GB" smtClean="0">
                <a:solidFill>
                  <a:prstClr val="black"/>
                </a:solidFill>
              </a:rPr>
              <a:pPr/>
              <a:t>3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80383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03A334-FE4D-4C3E-A61B-575B8EC3A56A}" type="slidenum">
              <a:rPr lang="en-GB" smtClean="0">
                <a:solidFill>
                  <a:prstClr val="black"/>
                </a:solidFill>
              </a:rPr>
              <a:pPr/>
              <a:t>5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36784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03A334-FE4D-4C3E-A61B-575B8EC3A56A}" type="slidenum">
              <a:rPr lang="en-GB" smtClean="0">
                <a:solidFill>
                  <a:prstClr val="black"/>
                </a:solidFill>
              </a:rPr>
              <a:pPr/>
              <a:t>7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2332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08/12/2022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8924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24744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96752"/>
            <a:ext cx="8784976" cy="5112568"/>
          </a:xfrm>
        </p:spPr>
        <p:txBody>
          <a:bodyPr/>
          <a:lstStyle>
            <a:lvl1pPr>
              <a:defRPr sz="3000"/>
            </a:lvl1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08/12/2022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6729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08/12/2022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587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08/12/2022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8154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08/12/2022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4125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08/12/2022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2525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08/12/2022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4773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08/12/2022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2204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08/12/2022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9376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08/12/2022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7753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08/12/2022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61736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08/12/2022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66240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24744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96752"/>
            <a:ext cx="8784976" cy="5112568"/>
          </a:xfrm>
        </p:spPr>
        <p:txBody>
          <a:bodyPr/>
          <a:lstStyle>
            <a:lvl1pPr>
              <a:defRPr sz="3000"/>
            </a:lvl1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08/12/2022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8227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08/12/2022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58000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08/12/2022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20110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08/12/2022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99508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08/12/2022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91098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08/12/2022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27647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08/12/2022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21235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08/12/2022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70637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08/12/2022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03105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08/12/2022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4759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8497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504" y="1600200"/>
            <a:ext cx="892899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08/12/2022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4385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8497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504" y="1600200"/>
            <a:ext cx="892899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04B57-344B-4127-95E0-C4D70C1DB92C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08/12/2022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39032E-7B51-4E15-9222-EB0F43ABC83B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7790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Malware Analysis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err="1" smtClean="0">
                <a:latin typeface="Arial Narrow" panose="020B0606020202030204" pitchFamily="34" charset="0"/>
              </a:rPr>
              <a:t>Dr.</a:t>
            </a:r>
            <a:r>
              <a:rPr lang="en-GB" dirty="0" smtClean="0">
                <a:latin typeface="Arial Narrow" panose="020B0606020202030204" pitchFamily="34" charset="0"/>
              </a:rPr>
              <a:t> Tran The Son</a:t>
            </a:r>
          </a:p>
          <a:p>
            <a:r>
              <a:rPr lang="en-GB" sz="2000" dirty="0" smtClean="0">
                <a:latin typeface="Arial Narrow" panose="020B0606020202030204" pitchFamily="34" charset="0"/>
              </a:rPr>
              <a:t>Vietnam – Korea University</a:t>
            </a:r>
            <a:endParaRPr lang="en-GB" sz="20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472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IDA Pro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Developed by </a:t>
            </a:r>
            <a:r>
              <a:rPr lang="en-GB" dirty="0" err="1" smtClean="0"/>
              <a:t>Ilfak</a:t>
            </a:r>
            <a:r>
              <a:rPr lang="en-GB" dirty="0" smtClean="0"/>
              <a:t> </a:t>
            </a:r>
            <a:r>
              <a:rPr lang="en-GB" dirty="0" err="1" smtClean="0"/>
              <a:t>Guilfanov</a:t>
            </a:r>
            <a:endParaRPr lang="en-GB" dirty="0" smtClean="0"/>
          </a:p>
          <a:p>
            <a:pPr lvl="2"/>
            <a:r>
              <a:rPr lang="en-GB" dirty="0" smtClean="0"/>
              <a:t>Russian</a:t>
            </a:r>
            <a:r>
              <a:rPr lang="az-Cyrl-AZ" dirty="0" smtClean="0"/>
              <a:t>, </a:t>
            </a:r>
            <a:r>
              <a:rPr lang="en-GB" dirty="0"/>
              <a:t>born </a:t>
            </a:r>
            <a:r>
              <a:rPr lang="en-GB" dirty="0" smtClean="0"/>
              <a:t>1966, </a:t>
            </a:r>
            <a:r>
              <a:rPr lang="en-US" dirty="0"/>
              <a:t>the founder and CEO of Hex-Rays SA</a:t>
            </a:r>
            <a:endParaRPr lang="en-GB" dirty="0" smtClean="0"/>
          </a:p>
          <a:p>
            <a:r>
              <a:rPr lang="en-GB" dirty="0" smtClean="0"/>
              <a:t>Professional disassembler</a:t>
            </a:r>
          </a:p>
          <a:p>
            <a:r>
              <a:rPr lang="en-GB" dirty="0" smtClean="0"/>
              <a:t>Fast and interactive</a:t>
            </a:r>
          </a:p>
          <a:p>
            <a:r>
              <a:rPr lang="en-GB" dirty="0" smtClean="0"/>
              <a:t>IDA Pro Free and license</a:t>
            </a:r>
            <a:endParaRPr lang="en-GB" dirty="0"/>
          </a:p>
          <a:p>
            <a:pPr lvl="1"/>
            <a:r>
              <a:rPr lang="en-GB" sz="2400" dirty="0" smtClean="0"/>
              <a:t>Add comments, label data, name function …. </a:t>
            </a:r>
          </a:p>
          <a:p>
            <a:pPr lvl="1"/>
            <a:r>
              <a:rPr lang="en-GB" sz="2400" dirty="0" smtClean="0"/>
              <a:t>Save to *.</a:t>
            </a:r>
            <a:r>
              <a:rPr lang="en-GB" sz="2400" i="1" dirty="0" err="1" smtClean="0"/>
              <a:t>idb</a:t>
            </a:r>
            <a:endParaRPr lang="en-GB" sz="2400" i="1" dirty="0" smtClean="0"/>
          </a:p>
          <a:p>
            <a:pPr lvl="1"/>
            <a:r>
              <a:rPr lang="en-GB" sz="2400" dirty="0" smtClean="0"/>
              <a:t>Plug-in</a:t>
            </a:r>
          </a:p>
          <a:p>
            <a:pPr lvl="1"/>
            <a:endParaRPr lang="en-GB" dirty="0" smtClean="0"/>
          </a:p>
          <a:p>
            <a:endParaRPr lang="en-GB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494" y="4145795"/>
            <a:ext cx="5884235" cy="2701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0"/>
            <a:ext cx="2243473" cy="1104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3624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IDA Pro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 smtClean="0"/>
              <a:t>Disassembly Windows</a:t>
            </a:r>
          </a:p>
          <a:p>
            <a:pPr lvl="2"/>
            <a:r>
              <a:rPr lang="en-GB" dirty="0" smtClean="0"/>
              <a:t>Text – mode</a:t>
            </a:r>
          </a:p>
          <a:p>
            <a:pPr lvl="2"/>
            <a:r>
              <a:rPr lang="en-GB" dirty="0" smtClean="0"/>
              <a:t>GUI with arrow (solid, dashed, facing up/down, …)</a:t>
            </a:r>
          </a:p>
          <a:p>
            <a:r>
              <a:rPr lang="en-GB" dirty="0" smtClean="0"/>
              <a:t>Other Windows</a:t>
            </a:r>
            <a:endParaRPr lang="en-GB" dirty="0"/>
          </a:p>
          <a:p>
            <a:pPr lvl="2"/>
            <a:r>
              <a:rPr lang="en-GB" b="1" dirty="0" smtClean="0"/>
              <a:t>Hex View</a:t>
            </a:r>
          </a:p>
          <a:p>
            <a:pPr lvl="2"/>
            <a:r>
              <a:rPr lang="en-GB" b="1" dirty="0" smtClean="0"/>
              <a:t>Functions</a:t>
            </a:r>
            <a:r>
              <a:rPr lang="en-GB" dirty="0" smtClean="0"/>
              <a:t>: all functions with length and flags (R, F, L, S, etc.)</a:t>
            </a:r>
          </a:p>
          <a:p>
            <a:pPr lvl="2"/>
            <a:r>
              <a:rPr lang="en-GB" b="1" dirty="0" smtClean="0"/>
              <a:t>Names</a:t>
            </a:r>
            <a:r>
              <a:rPr lang="en-GB" dirty="0" smtClean="0"/>
              <a:t>: every addresses with a name (functions, name coded, named data, strings)</a:t>
            </a:r>
          </a:p>
          <a:p>
            <a:pPr lvl="2"/>
            <a:r>
              <a:rPr lang="en-GB" b="1" dirty="0" smtClean="0"/>
              <a:t>Strings</a:t>
            </a:r>
            <a:r>
              <a:rPr lang="en-GB" dirty="0" smtClean="0"/>
              <a:t>: all strings</a:t>
            </a:r>
          </a:p>
          <a:p>
            <a:pPr lvl="2"/>
            <a:r>
              <a:rPr lang="en-GB" b="1" dirty="0" smtClean="0"/>
              <a:t>Imports</a:t>
            </a:r>
            <a:r>
              <a:rPr lang="en-GB" dirty="0" smtClean="0"/>
              <a:t>: all imports</a:t>
            </a:r>
          </a:p>
          <a:p>
            <a:pPr lvl="2"/>
            <a:r>
              <a:rPr lang="en-GB" b="1" dirty="0" smtClean="0"/>
              <a:t>Exports</a:t>
            </a:r>
            <a:r>
              <a:rPr lang="en-GB" dirty="0" smtClean="0"/>
              <a:t>: all exports</a:t>
            </a:r>
          </a:p>
          <a:p>
            <a:pPr lvl="2"/>
            <a:r>
              <a:rPr lang="en-GB" b="1" dirty="0" smtClean="0"/>
              <a:t>Structures</a:t>
            </a:r>
            <a:r>
              <a:rPr lang="en-GB" dirty="0" smtClean="0"/>
              <a:t>: layout of all active data structures</a:t>
            </a:r>
          </a:p>
          <a:p>
            <a:pPr lvl="2"/>
            <a:r>
              <a:rPr lang="en-GB" b="1" dirty="0" err="1" smtClean="0"/>
              <a:t>Enums</a:t>
            </a:r>
            <a:r>
              <a:rPr lang="en-GB" b="1" dirty="0" smtClean="0"/>
              <a:t>: </a:t>
            </a:r>
            <a:r>
              <a:rPr lang="en-GB" dirty="0" smtClean="0"/>
              <a:t>all enumerated data type</a:t>
            </a:r>
            <a:endParaRPr lang="en-GB" b="1" dirty="0" smtClean="0"/>
          </a:p>
          <a:p>
            <a:pPr lvl="1"/>
            <a:endParaRPr lang="en-GB" dirty="0" smtClean="0"/>
          </a:p>
          <a:p>
            <a:pPr lvl="1"/>
            <a:endParaRPr lang="en-GB" dirty="0" smtClean="0"/>
          </a:p>
          <a:p>
            <a:pPr lvl="1"/>
            <a:endParaRPr lang="en-GB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0"/>
            <a:ext cx="2243473" cy="1104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49263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IDA Pro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 smtClean="0"/>
              <a:t>Navigating</a:t>
            </a:r>
          </a:p>
          <a:p>
            <a:pPr lvl="2"/>
            <a:r>
              <a:rPr lang="en-GB" dirty="0" smtClean="0"/>
              <a:t>Link: double-click</a:t>
            </a:r>
          </a:p>
          <a:p>
            <a:pPr lvl="2"/>
            <a:r>
              <a:rPr lang="en-GB" dirty="0" smtClean="0"/>
              <a:t>Cross-reference: XREF</a:t>
            </a:r>
          </a:p>
          <a:p>
            <a:pPr lvl="2"/>
            <a:r>
              <a:rPr lang="en-GB" dirty="0" smtClean="0"/>
              <a:t>Exploring history: </a:t>
            </a:r>
            <a:r>
              <a:rPr lang="en-GB" dirty="0" smtClean="0">
                <a:sym typeface="Wingdings" panose="05000000000000000000" pitchFamily="2" charset="2"/>
              </a:rPr>
              <a:t></a:t>
            </a:r>
            <a:r>
              <a:rPr lang="en-GB" dirty="0" smtClean="0"/>
              <a:t>Forward/ </a:t>
            </a:r>
            <a:r>
              <a:rPr lang="en-GB" dirty="0" smtClean="0">
                <a:sym typeface="Wingdings" panose="05000000000000000000" pitchFamily="2" charset="2"/>
              </a:rPr>
              <a:t> </a:t>
            </a:r>
            <a:r>
              <a:rPr lang="en-GB" dirty="0" smtClean="0"/>
              <a:t>Backward buttons</a:t>
            </a:r>
          </a:p>
          <a:p>
            <a:pPr lvl="2"/>
            <a:r>
              <a:rPr lang="en-GB" dirty="0" smtClean="0"/>
              <a:t>Navigation band: </a:t>
            </a:r>
            <a:r>
              <a:rPr lang="en-GB" dirty="0" smtClean="0">
                <a:solidFill>
                  <a:srgbClr val="0070C0"/>
                </a:solidFill>
              </a:rPr>
              <a:t>Light Blue</a:t>
            </a:r>
            <a:r>
              <a:rPr lang="en-GB" dirty="0" smtClean="0"/>
              <a:t>/</a:t>
            </a:r>
            <a:r>
              <a:rPr lang="en-GB" dirty="0" smtClean="0">
                <a:solidFill>
                  <a:srgbClr val="FF0000"/>
                </a:solidFill>
              </a:rPr>
              <a:t>Red</a:t>
            </a:r>
            <a:r>
              <a:rPr lang="en-GB" dirty="0" smtClean="0"/>
              <a:t>/</a:t>
            </a:r>
            <a:r>
              <a:rPr lang="en-GB" dirty="0" smtClean="0">
                <a:solidFill>
                  <a:srgbClr val="7030A0"/>
                </a:solidFill>
              </a:rPr>
              <a:t>Dark Blue</a:t>
            </a:r>
            <a:endParaRPr lang="en-GB" dirty="0" smtClean="0"/>
          </a:p>
          <a:p>
            <a:pPr lvl="2"/>
            <a:r>
              <a:rPr lang="en-GB" dirty="0" smtClean="0"/>
              <a:t>Jump: address, name, function, etc.</a:t>
            </a:r>
          </a:p>
          <a:p>
            <a:r>
              <a:rPr lang="en-GB" dirty="0" smtClean="0"/>
              <a:t>Search</a:t>
            </a:r>
          </a:p>
          <a:p>
            <a:pPr lvl="2"/>
            <a:r>
              <a:rPr lang="en-GB" dirty="0" smtClean="0"/>
              <a:t>Next Code</a:t>
            </a:r>
          </a:p>
          <a:p>
            <a:pPr lvl="2"/>
            <a:r>
              <a:rPr lang="en-GB" dirty="0" smtClean="0"/>
              <a:t>Text</a:t>
            </a:r>
          </a:p>
          <a:p>
            <a:pPr lvl="2"/>
            <a:r>
              <a:rPr lang="en-GB" dirty="0" smtClean="0"/>
              <a:t>Sequence of Bytes</a:t>
            </a:r>
          </a:p>
          <a:p>
            <a:pPr lvl="2"/>
            <a:r>
              <a:rPr lang="en-GB" dirty="0" smtClean="0"/>
              <a:t>…..</a:t>
            </a:r>
          </a:p>
          <a:p>
            <a:r>
              <a:rPr lang="en-GB" dirty="0" smtClean="0"/>
              <a:t>Jump</a:t>
            </a:r>
          </a:p>
          <a:p>
            <a:pPr lvl="2"/>
            <a:r>
              <a:rPr lang="en-GB" dirty="0" smtClean="0"/>
              <a:t>Name/Address/Function/Entry Point</a:t>
            </a:r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0"/>
            <a:ext cx="2243473" cy="1104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4512" y="1124744"/>
            <a:ext cx="6923992" cy="5865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7773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IDA Pro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Cross references - </a:t>
            </a:r>
            <a:r>
              <a:rPr lang="en-GB" dirty="0" err="1" smtClean="0"/>
              <a:t>Xrefs</a:t>
            </a:r>
            <a:endParaRPr lang="en-GB" dirty="0" smtClean="0"/>
          </a:p>
          <a:p>
            <a:pPr lvl="1"/>
            <a:r>
              <a:rPr lang="en-GB" dirty="0" smtClean="0"/>
              <a:t>Code </a:t>
            </a:r>
            <a:r>
              <a:rPr lang="en-GB" dirty="0" err="1" smtClean="0"/>
              <a:t>Xrefs</a:t>
            </a:r>
            <a:endParaRPr lang="en-GB" dirty="0" smtClean="0"/>
          </a:p>
          <a:p>
            <a:pPr lvl="1"/>
            <a:r>
              <a:rPr lang="en-GB" dirty="0" smtClean="0"/>
              <a:t>Data </a:t>
            </a:r>
            <a:r>
              <a:rPr lang="en-GB" dirty="0" err="1" smtClean="0"/>
              <a:t>Xrefs</a:t>
            </a:r>
            <a:endParaRPr lang="en-GB" dirty="0" smtClean="0"/>
          </a:p>
          <a:p>
            <a:r>
              <a:rPr lang="en-GB" dirty="0" smtClean="0"/>
              <a:t>Analysing Functions</a:t>
            </a:r>
            <a:endParaRPr lang="en-GB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3428999"/>
            <a:ext cx="7560840" cy="3104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0"/>
            <a:ext cx="2243473" cy="1104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2727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IDA Pro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smtClean="0"/>
              <a:t>Graph</a:t>
            </a:r>
            <a:endParaRPr lang="en-GB" b="1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1268760"/>
            <a:ext cx="2133466" cy="4266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348881"/>
            <a:ext cx="8475654" cy="3651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0"/>
            <a:ext cx="2243473" cy="1104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2875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IDA Pro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smtClean="0"/>
              <a:t>Patching</a:t>
            </a:r>
          </a:p>
          <a:p>
            <a:pPr lvl="1"/>
            <a:r>
              <a:rPr lang="en-GB" dirty="0" smtClean="0"/>
              <a:t>IDA Pro allows to put comments, rename variables, etc.</a:t>
            </a:r>
          </a:p>
          <a:p>
            <a:pPr lvl="2"/>
            <a:r>
              <a:rPr lang="en-GB" dirty="0" smtClean="0"/>
              <a:t>Rename functions</a:t>
            </a:r>
          </a:p>
          <a:p>
            <a:pPr lvl="2"/>
            <a:r>
              <a:rPr lang="en-GB" dirty="0" smtClean="0"/>
              <a:t>Rename variables</a:t>
            </a:r>
          </a:p>
          <a:p>
            <a:pPr lvl="2"/>
            <a:r>
              <a:rPr lang="en-GB" dirty="0" smtClean="0"/>
              <a:t>Comments</a:t>
            </a:r>
          </a:p>
          <a:p>
            <a:pPr lvl="2"/>
            <a:r>
              <a:rPr lang="en-GB" dirty="0" smtClean="0"/>
              <a:t>Format operands: hex, </a:t>
            </a:r>
            <a:r>
              <a:rPr lang="en-GB" dirty="0" err="1" smtClean="0"/>
              <a:t>dec</a:t>
            </a:r>
            <a:r>
              <a:rPr lang="en-GB" dirty="0" smtClean="0"/>
              <a:t>, etc.</a:t>
            </a:r>
          </a:p>
          <a:p>
            <a:pPr lvl="2"/>
            <a:r>
              <a:rPr lang="en-GB" dirty="0" smtClean="0"/>
              <a:t>Using Name constant: </a:t>
            </a:r>
          </a:p>
          <a:p>
            <a:pPr lvl="2"/>
            <a:r>
              <a:rPr lang="en-GB" dirty="0" smtClean="0"/>
              <a:t>Redefining code and data</a:t>
            </a:r>
            <a:endParaRPr lang="en-GB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0"/>
            <a:ext cx="2243473" cy="1104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959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IDA Pro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smtClean="0"/>
              <a:t>Plug-in</a:t>
            </a:r>
          </a:p>
          <a:p>
            <a:pPr lvl="1"/>
            <a:r>
              <a:rPr lang="en-GB" dirty="0" smtClean="0"/>
              <a:t>IDC script</a:t>
            </a:r>
          </a:p>
          <a:p>
            <a:pPr lvl="1"/>
            <a:r>
              <a:rPr lang="en-GB" dirty="0" smtClean="0"/>
              <a:t>Python script</a:t>
            </a:r>
          </a:p>
          <a:p>
            <a:pPr lvl="1"/>
            <a:endParaRPr lang="en-GB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0"/>
            <a:ext cx="2243473" cy="1104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02633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 </a:t>
            </a:r>
            <a:r>
              <a:rPr lang="en-US" dirty="0" smtClean="0"/>
              <a:t>01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Write “Hello World” in C </a:t>
            </a:r>
          </a:p>
          <a:p>
            <a:r>
              <a:rPr lang="en-US" dirty="0" smtClean="0"/>
              <a:t>Compile and Examine it in IDA Pro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384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 02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Write a piece of code for deleting a file with argument “-r”</a:t>
            </a:r>
          </a:p>
          <a:p>
            <a:r>
              <a:rPr lang="en-US" dirty="0"/>
              <a:t>Compile and Examine it in IDA Pro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30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 </a:t>
            </a:r>
            <a:r>
              <a:rPr lang="en-US" dirty="0" smtClean="0"/>
              <a:t>03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Download and examine by IDA Pro to find the </a:t>
            </a:r>
            <a:r>
              <a:rPr lang="en-US" i="1" dirty="0" smtClean="0">
                <a:solidFill>
                  <a:srgbClr val="FF0000"/>
                </a:solidFill>
              </a:rPr>
              <a:t>password </a:t>
            </a:r>
          </a:p>
          <a:p>
            <a:pPr lvl="1"/>
            <a:r>
              <a:rPr lang="en-US" dirty="0" smtClean="0"/>
              <a:t>Exer0_Password.exe</a:t>
            </a:r>
          </a:p>
          <a:p>
            <a:pPr lvl="1"/>
            <a:r>
              <a:rPr lang="en-US" dirty="0" smtClean="0"/>
              <a:t>Exer1_GoodLuck.exe</a:t>
            </a:r>
          </a:p>
          <a:p>
            <a:pPr lvl="1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123728" y="4509120"/>
            <a:ext cx="4277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https://www.begin.re/playground-exercises</a:t>
            </a:r>
          </a:p>
        </p:txBody>
      </p:sp>
    </p:spTree>
    <p:extLst>
      <p:ext uri="{BB962C8B-B14F-4D97-AF65-F5344CB8AC3E}">
        <p14:creationId xmlns:p14="http://schemas.microsoft.com/office/powerpoint/2010/main" val="1335175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 </a:t>
            </a:r>
            <a:r>
              <a:rPr lang="en-US" dirty="0" smtClean="0"/>
              <a:t>04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b="1" dirty="0" smtClean="0"/>
              <a:t>Download and examine </a:t>
            </a:r>
            <a:r>
              <a:rPr lang="en-US" sz="2000" b="1" dirty="0" smtClean="0">
                <a:solidFill>
                  <a:srgbClr val="C00000"/>
                </a:solidFill>
              </a:rPr>
              <a:t>Lab05-01.dll</a:t>
            </a:r>
          </a:p>
          <a:p>
            <a:pPr marL="457200" lvl="1" indent="0">
              <a:buNone/>
            </a:pPr>
            <a:r>
              <a:rPr lang="en-US" sz="2000" dirty="0"/>
              <a:t>1. What is the address of </a:t>
            </a:r>
            <a:r>
              <a:rPr lang="en-US" sz="2000" dirty="0" err="1">
                <a:solidFill>
                  <a:srgbClr val="C00000"/>
                </a:solidFill>
              </a:rPr>
              <a:t>DllMain</a:t>
            </a:r>
            <a:r>
              <a:rPr lang="en-US" sz="2000" dirty="0"/>
              <a:t>?</a:t>
            </a:r>
          </a:p>
          <a:p>
            <a:pPr marL="457200" lvl="1" indent="0">
              <a:buNone/>
            </a:pPr>
            <a:r>
              <a:rPr lang="en-US" sz="2000" dirty="0"/>
              <a:t>2. Use the Imports window to browse to </a:t>
            </a:r>
            <a:r>
              <a:rPr lang="en-US" sz="2000" dirty="0" err="1">
                <a:solidFill>
                  <a:srgbClr val="C00000"/>
                </a:solidFill>
              </a:rPr>
              <a:t>gethostbyname</a:t>
            </a:r>
            <a:r>
              <a:rPr lang="en-US" sz="2000" dirty="0"/>
              <a:t>. Where is the </a:t>
            </a:r>
            <a:r>
              <a:rPr lang="en-US" sz="2000" dirty="0" smtClean="0"/>
              <a:t>import located</a:t>
            </a:r>
            <a:r>
              <a:rPr lang="en-US" sz="2000" dirty="0"/>
              <a:t>?</a:t>
            </a:r>
          </a:p>
          <a:p>
            <a:pPr marL="457200" lvl="1" indent="0">
              <a:buNone/>
            </a:pPr>
            <a:r>
              <a:rPr lang="en-US" sz="2000" dirty="0"/>
              <a:t>3. How many functions call </a:t>
            </a:r>
            <a:r>
              <a:rPr lang="en-US" sz="2000" dirty="0" err="1">
                <a:solidFill>
                  <a:srgbClr val="C00000"/>
                </a:solidFill>
              </a:rPr>
              <a:t>gethostbyname</a:t>
            </a:r>
            <a:r>
              <a:rPr lang="en-US" sz="2000" dirty="0"/>
              <a:t>?</a:t>
            </a:r>
          </a:p>
          <a:p>
            <a:pPr marL="457200" lvl="1" indent="0">
              <a:buNone/>
            </a:pPr>
            <a:r>
              <a:rPr lang="en-US" sz="2000" dirty="0"/>
              <a:t>4. Focusing on the call to </a:t>
            </a:r>
            <a:r>
              <a:rPr lang="en-US" sz="2000" dirty="0" err="1">
                <a:solidFill>
                  <a:srgbClr val="C00000"/>
                </a:solidFill>
              </a:rPr>
              <a:t>gethostbyname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/>
              <a:t>located at 0x10001757, can you </a:t>
            </a:r>
            <a:r>
              <a:rPr lang="en-US" sz="2000" dirty="0" smtClean="0"/>
              <a:t>figure out </a:t>
            </a:r>
            <a:r>
              <a:rPr lang="en-US" sz="2000" dirty="0"/>
              <a:t>which DNS request will be made?</a:t>
            </a:r>
          </a:p>
          <a:p>
            <a:pPr marL="457200" lvl="1" indent="0">
              <a:buNone/>
            </a:pPr>
            <a:r>
              <a:rPr lang="en-US" sz="2000" dirty="0"/>
              <a:t>5. How many local variables has IDA Pro recognized for the subroutine at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rgbClr val="C00000"/>
                </a:solidFill>
              </a:rPr>
              <a:t>0x10001656</a:t>
            </a:r>
            <a:r>
              <a:rPr lang="en-US" sz="2000" dirty="0"/>
              <a:t>?</a:t>
            </a:r>
          </a:p>
          <a:p>
            <a:pPr marL="457200" lvl="1" indent="0">
              <a:buNone/>
            </a:pPr>
            <a:r>
              <a:rPr lang="en-US" sz="2000" dirty="0"/>
              <a:t>6. How many parameters has IDA Pro recognized for the subroutine at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rgbClr val="C00000"/>
                </a:solidFill>
              </a:rPr>
              <a:t>0x10001656</a:t>
            </a:r>
            <a:r>
              <a:rPr lang="en-US" sz="2000" dirty="0"/>
              <a:t>?</a:t>
            </a:r>
          </a:p>
          <a:p>
            <a:pPr marL="457200" lvl="1" indent="0">
              <a:buNone/>
            </a:pPr>
            <a:r>
              <a:rPr lang="en-US" sz="2000" dirty="0"/>
              <a:t>7. Use the Strings window to locate the string </a:t>
            </a:r>
            <a:r>
              <a:rPr lang="en-US" sz="2000" dirty="0">
                <a:solidFill>
                  <a:srgbClr val="C00000"/>
                </a:solidFill>
              </a:rPr>
              <a:t>\cmd.exe /c </a:t>
            </a:r>
            <a:r>
              <a:rPr lang="en-US" sz="2000" dirty="0"/>
              <a:t>in the disassembly.</a:t>
            </a:r>
          </a:p>
          <a:p>
            <a:pPr marL="457200" lvl="1" indent="0">
              <a:buNone/>
            </a:pPr>
            <a:r>
              <a:rPr lang="en-US" sz="2000" dirty="0"/>
              <a:t>Where is it located?</a:t>
            </a:r>
          </a:p>
          <a:p>
            <a:pPr marL="457200" lvl="1" indent="0">
              <a:buNone/>
            </a:pPr>
            <a:r>
              <a:rPr lang="en-US" sz="2000" dirty="0"/>
              <a:t>8. What is happening in the area of code that references </a:t>
            </a:r>
            <a:r>
              <a:rPr lang="en-US" sz="2000" dirty="0">
                <a:solidFill>
                  <a:srgbClr val="C00000"/>
                </a:solidFill>
              </a:rPr>
              <a:t>\cmd.exe /c?</a:t>
            </a:r>
          </a:p>
        </p:txBody>
      </p:sp>
    </p:spTree>
    <p:extLst>
      <p:ext uri="{BB962C8B-B14F-4D97-AF65-F5344CB8AC3E}">
        <p14:creationId xmlns:p14="http://schemas.microsoft.com/office/powerpoint/2010/main" val="3967813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 </a:t>
            </a:r>
            <a:r>
              <a:rPr lang="en-US" dirty="0" smtClean="0"/>
              <a:t>05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Download </a:t>
            </a:r>
          </a:p>
          <a:p>
            <a:pPr lvl="1"/>
            <a:r>
              <a:rPr lang="en-US" dirty="0" smtClean="0"/>
              <a:t>Exer2_Julia.zip (password: CLEAN)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123728" y="4509120"/>
            <a:ext cx="4277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https://www.begin.re/playground-exercises</a:t>
            </a:r>
          </a:p>
        </p:txBody>
      </p:sp>
    </p:spTree>
    <p:extLst>
      <p:ext uri="{BB962C8B-B14F-4D97-AF65-F5344CB8AC3E}">
        <p14:creationId xmlns:p14="http://schemas.microsoft.com/office/powerpoint/2010/main" val="329616798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574</Words>
  <Application>Microsoft Office PowerPoint</Application>
  <PresentationFormat>On-screen Show (4:3)</PresentationFormat>
  <Paragraphs>111</Paragraphs>
  <Slides>13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1_Office Theme</vt:lpstr>
      <vt:lpstr>2_Office Theme</vt:lpstr>
      <vt:lpstr>Malware Analysis</vt:lpstr>
      <vt:lpstr>IDA Pro</vt:lpstr>
      <vt:lpstr>IDA Pro</vt:lpstr>
      <vt:lpstr>IDA Pro</vt:lpstr>
      <vt:lpstr>IDA Pro</vt:lpstr>
      <vt:lpstr>IDA Pro</vt:lpstr>
      <vt:lpstr>IDA Pro</vt:lpstr>
      <vt:lpstr>IDA Pro</vt:lpstr>
      <vt:lpstr>Practice 01</vt:lpstr>
      <vt:lpstr>Practice 02</vt:lpstr>
      <vt:lpstr>Practice 03</vt:lpstr>
      <vt:lpstr>Practice 04</vt:lpstr>
      <vt:lpstr>Practice 05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tran the son</dc:creator>
  <cp:lastModifiedBy>tran the son</cp:lastModifiedBy>
  <cp:revision>28</cp:revision>
  <dcterms:created xsi:type="dcterms:W3CDTF">2022-10-14T03:36:09Z</dcterms:created>
  <dcterms:modified xsi:type="dcterms:W3CDTF">2022-12-08T09:49:01Z</dcterms:modified>
</cp:coreProperties>
</file>