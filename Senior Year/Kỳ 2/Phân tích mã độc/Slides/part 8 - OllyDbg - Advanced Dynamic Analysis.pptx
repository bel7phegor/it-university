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23"/>
  </p:notesMasterIdLst>
  <p:sldIdLst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6" r:id="rId20"/>
    <p:sldId id="274" r:id="rId21"/>
    <p:sldId id="275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-1508" y="-9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93504B-3022-487C-90C4-01415B7246E0}" type="datetimeFigureOut">
              <a:rPr lang="en-US" smtClean="0"/>
              <a:t>12/1/2022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F3FDC9-09F1-42AE-83B8-99BDC89A1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992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03A334-FE4D-4C3E-A61B-575B8EC3A56A}" type="slidenum">
              <a:rPr lang="en-GB" smtClean="0">
                <a:solidFill>
                  <a:prstClr val="black"/>
                </a:solidFill>
              </a:rPr>
              <a:pPr/>
              <a:t>1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28453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03A334-FE4D-4C3E-A61B-575B8EC3A56A}" type="slidenum">
              <a:rPr lang="en-GB" smtClean="0">
                <a:solidFill>
                  <a:prstClr val="black"/>
                </a:solidFill>
              </a:rPr>
              <a:pPr/>
              <a:t>2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78006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03A334-FE4D-4C3E-A61B-575B8EC3A56A}" type="slidenum">
              <a:rPr lang="en-GB" smtClean="0">
                <a:solidFill>
                  <a:prstClr val="black"/>
                </a:solidFill>
              </a:rPr>
              <a:pPr/>
              <a:t>3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3665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01/12/2022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6164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24744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196752"/>
            <a:ext cx="8784976" cy="5112568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01/12/2022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555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01/12/2022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9457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01/12/2022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8300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01/12/2022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8757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01/12/2022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4288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01/12/2022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2036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01/12/2022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4957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01/12/2022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2430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01/12/2022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9974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01/12/2022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87616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01/12/2022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66240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24744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196752"/>
            <a:ext cx="8784976" cy="5112568"/>
          </a:xfrm>
        </p:spPr>
        <p:txBody>
          <a:bodyPr/>
          <a:lstStyle>
            <a:lvl1pPr>
              <a:defRPr sz="3000"/>
            </a:lvl1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01/12/2022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8227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01/12/2022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58000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01/12/2022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20110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01/12/2022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99508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01/12/2022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91098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01/12/2022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27647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01/12/2022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21235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01/12/2022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70637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01/12/2022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03105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01/12/2022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4759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8497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504" y="1600200"/>
            <a:ext cx="8928992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01/12/2022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4391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8497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504" y="1600200"/>
            <a:ext cx="8928992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01/12/2022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7790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EFD1"/>
            </a:gs>
            <a:gs pos="64999">
              <a:srgbClr val="F0EBD5"/>
            </a:gs>
            <a:gs pos="100000">
              <a:srgbClr val="D1C39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Malware Analysis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err="1" smtClean="0">
                <a:latin typeface="Arial Narrow" panose="020B0606020202030204" pitchFamily="34" charset="0"/>
              </a:rPr>
              <a:t>Dr.</a:t>
            </a:r>
            <a:r>
              <a:rPr lang="en-GB" dirty="0" smtClean="0">
                <a:latin typeface="Arial Narrow" panose="020B0606020202030204" pitchFamily="34" charset="0"/>
              </a:rPr>
              <a:t> Tran The Son</a:t>
            </a:r>
          </a:p>
          <a:p>
            <a:r>
              <a:rPr lang="en-GB" sz="2000" dirty="0" smtClean="0">
                <a:latin typeface="Arial Narrow" panose="020B0606020202030204" pitchFamily="34" charset="0"/>
              </a:rPr>
              <a:t>Vietnam – Korea University</a:t>
            </a:r>
            <a:endParaRPr lang="en-GB" sz="20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472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OllyDbg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4" name="Picture 5" descr="OllyDb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54" y="77672"/>
            <a:ext cx="1050776" cy="1032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54" y="1109682"/>
            <a:ext cx="9032092" cy="5748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3182516" y="3356992"/>
            <a:ext cx="2238883" cy="338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600" dirty="0" smtClean="0"/>
              <a:t>1. Disassembler Window</a:t>
            </a:r>
            <a:endParaRPr 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7092280" y="3284984"/>
            <a:ext cx="1882631" cy="338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600" dirty="0"/>
              <a:t>2</a:t>
            </a:r>
            <a:r>
              <a:rPr lang="en-US" sz="1600" dirty="0" smtClean="0"/>
              <a:t>. Registers Window</a:t>
            </a:r>
            <a:endParaRPr lang="en-US" sz="1600" dirty="0"/>
          </a:p>
        </p:txBody>
      </p:sp>
      <p:sp>
        <p:nvSpPr>
          <p:cNvPr id="8" name="TextBox 7"/>
          <p:cNvSpPr txBox="1"/>
          <p:nvPr/>
        </p:nvSpPr>
        <p:spPr>
          <a:xfrm>
            <a:off x="7196626" y="5949280"/>
            <a:ext cx="1571136" cy="338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600" dirty="0" smtClean="0"/>
              <a:t>3. Stack Window</a:t>
            </a:r>
            <a:endParaRPr lang="en-US" sz="1600" dirty="0"/>
          </a:p>
        </p:txBody>
      </p:sp>
      <p:sp>
        <p:nvSpPr>
          <p:cNvPr id="9" name="TextBox 8"/>
          <p:cNvSpPr txBox="1"/>
          <p:nvPr/>
        </p:nvSpPr>
        <p:spPr>
          <a:xfrm>
            <a:off x="3347864" y="5970785"/>
            <a:ext cx="2400209" cy="338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600" dirty="0"/>
              <a:t>4</a:t>
            </a:r>
            <a:r>
              <a:rPr lang="en-US" sz="1600" dirty="0" smtClean="0"/>
              <a:t>. Memory Dump Window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06726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OllyDbg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 smtClean="0"/>
              <a:t>Loading Malware</a:t>
            </a:r>
          </a:p>
          <a:p>
            <a:r>
              <a:rPr lang="en-GB" dirty="0" smtClean="0"/>
              <a:t>Memory map</a:t>
            </a:r>
          </a:p>
          <a:p>
            <a:r>
              <a:rPr lang="en-GB" dirty="0" smtClean="0"/>
              <a:t>Viewing threads and stacks</a:t>
            </a:r>
          </a:p>
          <a:p>
            <a:r>
              <a:rPr lang="en-GB" dirty="0" smtClean="0"/>
              <a:t>Executing code</a:t>
            </a:r>
          </a:p>
          <a:p>
            <a:r>
              <a:rPr lang="en-GB" dirty="0" smtClean="0"/>
              <a:t>Breakpoints</a:t>
            </a:r>
          </a:p>
          <a:p>
            <a:r>
              <a:rPr lang="en-GB" dirty="0" smtClean="0"/>
              <a:t>Loading DLL</a:t>
            </a:r>
          </a:p>
          <a:p>
            <a:r>
              <a:rPr lang="en-GB" dirty="0" smtClean="0"/>
              <a:t>Tracing</a:t>
            </a:r>
          </a:p>
          <a:p>
            <a:r>
              <a:rPr lang="en-GB" dirty="0" smtClean="0"/>
              <a:t>Exception handling</a:t>
            </a:r>
          </a:p>
          <a:p>
            <a:r>
              <a:rPr lang="en-GB" dirty="0" smtClean="0"/>
              <a:t>Patching</a:t>
            </a:r>
          </a:p>
          <a:p>
            <a:r>
              <a:rPr lang="en-GB" dirty="0" err="1" smtClean="0"/>
              <a:t>Analyzing</a:t>
            </a:r>
            <a:r>
              <a:rPr lang="en-GB" dirty="0" smtClean="0"/>
              <a:t> shellcode</a:t>
            </a:r>
          </a:p>
          <a:p>
            <a:r>
              <a:rPr lang="en-GB" dirty="0" smtClean="0"/>
              <a:t>Assistance features</a:t>
            </a:r>
          </a:p>
          <a:p>
            <a:r>
              <a:rPr lang="en-GB" dirty="0" smtClean="0"/>
              <a:t>Plug-ins</a:t>
            </a:r>
          </a:p>
          <a:p>
            <a:endParaRPr lang="en-GB" dirty="0" smtClean="0"/>
          </a:p>
          <a:p>
            <a:endParaRPr lang="en-GB" dirty="0" smtClean="0"/>
          </a:p>
          <a:p>
            <a:pPr lvl="2"/>
            <a:endParaRPr lang="en-GB" dirty="0"/>
          </a:p>
        </p:txBody>
      </p:sp>
      <p:pic>
        <p:nvPicPr>
          <p:cNvPr id="12293" name="Picture 5" descr="OllyDb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89732"/>
            <a:ext cx="1050776" cy="1032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0707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Memory Map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View &gt; Memory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1391780"/>
            <a:ext cx="5616624" cy="4962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06071" y="1844824"/>
            <a:ext cx="28294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displays all memory blocks </a:t>
            </a:r>
            <a:r>
              <a:rPr lang="en-US" sz="2400" dirty="0" smtClean="0"/>
              <a:t>allocated by </a:t>
            </a:r>
            <a:r>
              <a:rPr lang="en-US" sz="2400" dirty="0"/>
              <a:t>the debugged program</a:t>
            </a:r>
          </a:p>
        </p:txBody>
      </p:sp>
    </p:spTree>
    <p:extLst>
      <p:ext uri="{BB962C8B-B14F-4D97-AF65-F5344CB8AC3E}">
        <p14:creationId xmlns:p14="http://schemas.microsoft.com/office/powerpoint/2010/main" val="69751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Rebasing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Rebasing is what happens when a module in Windows is not </a:t>
            </a:r>
            <a:r>
              <a:rPr lang="en-US" dirty="0" smtClean="0"/>
              <a:t>loaded at </a:t>
            </a:r>
            <a:r>
              <a:rPr lang="en-US" dirty="0"/>
              <a:t>its preferred </a:t>
            </a:r>
            <a:r>
              <a:rPr lang="en-US" dirty="0">
                <a:solidFill>
                  <a:srgbClr val="FF0000"/>
                </a:solidFill>
              </a:rPr>
              <a:t>base </a:t>
            </a:r>
            <a:r>
              <a:rPr lang="en-US" dirty="0" smtClean="0">
                <a:solidFill>
                  <a:srgbClr val="FF0000"/>
                </a:solidFill>
              </a:rPr>
              <a:t>address</a:t>
            </a:r>
          </a:p>
          <a:p>
            <a:r>
              <a:rPr lang="en-US" dirty="0"/>
              <a:t>All PE files in Windows have a preferred base address, known as the </a:t>
            </a:r>
            <a:r>
              <a:rPr lang="en-US" dirty="0" smtClean="0">
                <a:solidFill>
                  <a:srgbClr val="C00000"/>
                </a:solidFill>
              </a:rPr>
              <a:t>image base </a:t>
            </a:r>
            <a:r>
              <a:rPr lang="en-US" dirty="0"/>
              <a:t>defined in the PE </a:t>
            </a:r>
            <a:r>
              <a:rPr lang="en-US" dirty="0" smtClean="0"/>
              <a:t>header</a:t>
            </a:r>
          </a:p>
          <a:p>
            <a:pPr lvl="1"/>
            <a:r>
              <a:rPr lang="en-US" dirty="0"/>
              <a:t>Most executables are designed to be loaded </a:t>
            </a:r>
            <a:r>
              <a:rPr lang="en-US" dirty="0" smtClean="0"/>
              <a:t>at 0x00400000</a:t>
            </a:r>
          </a:p>
          <a:p>
            <a:pPr lvl="1"/>
            <a:r>
              <a:rPr lang="en-US" dirty="0"/>
              <a:t>If </a:t>
            </a:r>
            <a:r>
              <a:rPr lang="en-US" dirty="0" smtClean="0"/>
              <a:t>a DLL is </a:t>
            </a:r>
            <a:r>
              <a:rPr lang="en-US" dirty="0"/>
              <a:t>loaded, </a:t>
            </a:r>
            <a:r>
              <a:rPr lang="en-US" dirty="0" smtClean="0"/>
              <a:t>its preferred load address </a:t>
            </a:r>
            <a:r>
              <a:rPr lang="en-US" dirty="0"/>
              <a:t>of </a:t>
            </a:r>
            <a:r>
              <a:rPr lang="en-US" dirty="0" smtClean="0"/>
              <a:t>0x10000000</a:t>
            </a:r>
          </a:p>
          <a:p>
            <a:pPr lvl="1"/>
            <a:r>
              <a:rPr lang="en-US" dirty="0" smtClean="0"/>
              <a:t>If two DLL are loaded, one should be relocated.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9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Viewing Threads and Stacks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View &gt; Threads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288" y="2162175"/>
            <a:ext cx="5305425" cy="2533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17593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Executing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000" y="2100263"/>
            <a:ext cx="5840413" cy="2657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6606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013" y="2309813"/>
            <a:ext cx="7164387" cy="223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46418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Software breakpoints </a:t>
            </a:r>
            <a:endParaRPr lang="en-US" b="1" dirty="0" smtClean="0"/>
          </a:p>
          <a:p>
            <a:pPr lvl="1"/>
            <a:r>
              <a:rPr lang="en-US" dirty="0" smtClean="0"/>
              <a:t>set </a:t>
            </a:r>
            <a:r>
              <a:rPr lang="en-US" dirty="0"/>
              <a:t>by replacing the instruction to be </a:t>
            </a:r>
            <a:r>
              <a:rPr lang="en-US" dirty="0" err="1"/>
              <a:t>breakpointed</a:t>
            </a:r>
            <a:r>
              <a:rPr lang="en-US" dirty="0"/>
              <a:t> with a breakpoint instruction</a:t>
            </a:r>
            <a:r>
              <a:rPr lang="en-US" dirty="0" smtClean="0"/>
              <a:t>.</a:t>
            </a:r>
          </a:p>
          <a:p>
            <a:pPr lvl="1"/>
            <a:r>
              <a:rPr lang="en-US" dirty="0"/>
              <a:t>Software breakpoints are particularly useful when debugging a string </a:t>
            </a:r>
            <a:r>
              <a:rPr lang="en-US" dirty="0" smtClean="0"/>
              <a:t>decoder function (to obfuscate data).</a:t>
            </a:r>
          </a:p>
          <a:p>
            <a:pPr lvl="2"/>
            <a:r>
              <a:rPr lang="en-US" dirty="0"/>
              <a:t>In this way, each time you choose Play </a:t>
            </a:r>
            <a:r>
              <a:rPr lang="en-US" dirty="0" smtClean="0"/>
              <a:t>in </a:t>
            </a:r>
            <a:r>
              <a:rPr lang="en-US" dirty="0" err="1" smtClean="0"/>
              <a:t>OllyDbg</a:t>
            </a:r>
            <a:r>
              <a:rPr lang="en-US" dirty="0"/>
              <a:t>, the program will continue executing and will break when a string </a:t>
            </a:r>
            <a:r>
              <a:rPr lang="en-US" dirty="0" smtClean="0"/>
              <a:t>is decoded </a:t>
            </a:r>
            <a:r>
              <a:rPr lang="en-US" dirty="0"/>
              <a:t>for use</a:t>
            </a:r>
            <a:r>
              <a:rPr lang="en-US" dirty="0" smtClean="0"/>
              <a:t>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4329700"/>
            <a:ext cx="6406808" cy="1565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59490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Conditional Breakpoints</a:t>
            </a:r>
          </a:p>
          <a:p>
            <a:pPr lvl="1"/>
            <a:r>
              <a:rPr lang="en-US" dirty="0"/>
              <a:t>conditional breakpoints are software breakpoints that will break only if a certain condition is true (e.g. using expressions; each time the software breakpoint is hit, the expression is evaluated)</a:t>
            </a:r>
          </a:p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3573016"/>
            <a:ext cx="4116068" cy="20726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153058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Hardware </a:t>
            </a:r>
            <a:r>
              <a:rPr lang="en-US" b="1" dirty="0" smtClean="0"/>
              <a:t>Breakpoints</a:t>
            </a:r>
          </a:p>
          <a:p>
            <a:pPr lvl="1"/>
            <a:r>
              <a:rPr lang="en-US" dirty="0" err="1"/>
              <a:t>OllyDbg</a:t>
            </a:r>
            <a:r>
              <a:rPr lang="en-US" dirty="0"/>
              <a:t> provides functionality for setting hardware breakpoints through </a:t>
            </a:r>
            <a:r>
              <a:rPr lang="en-US" dirty="0" smtClean="0"/>
              <a:t>the use </a:t>
            </a:r>
            <a:r>
              <a:rPr lang="en-US" dirty="0"/>
              <a:t>of dedicated hardware </a:t>
            </a:r>
            <a:r>
              <a:rPr lang="en-US" dirty="0" smtClean="0"/>
              <a:t>registers.</a:t>
            </a:r>
          </a:p>
          <a:p>
            <a:pPr lvl="2"/>
            <a:r>
              <a:rPr lang="en-US" dirty="0"/>
              <a:t>Hardware breakpoints are powerful because they don’t alter your </a:t>
            </a:r>
            <a:r>
              <a:rPr lang="en-US" dirty="0" smtClean="0"/>
              <a:t>code, stack</a:t>
            </a:r>
            <a:r>
              <a:rPr lang="en-US" dirty="0"/>
              <a:t>, or any target resource. </a:t>
            </a:r>
            <a:endParaRPr lang="en-US" dirty="0" smtClean="0"/>
          </a:p>
          <a:p>
            <a:pPr lvl="2"/>
            <a:r>
              <a:rPr lang="en-US" dirty="0" smtClean="0"/>
              <a:t>They </a:t>
            </a:r>
            <a:r>
              <a:rPr lang="en-US" dirty="0"/>
              <a:t>also don’t slow down execution speed</a:t>
            </a:r>
            <a:r>
              <a:rPr lang="en-US" dirty="0" smtClean="0"/>
              <a:t>.</a:t>
            </a:r>
          </a:p>
          <a:p>
            <a:r>
              <a:rPr lang="en-US" b="1" dirty="0"/>
              <a:t>Memory </a:t>
            </a:r>
            <a:r>
              <a:rPr lang="en-US" b="1" dirty="0" smtClean="0"/>
              <a:t>Breakpoints</a:t>
            </a:r>
          </a:p>
          <a:p>
            <a:pPr lvl="1"/>
            <a:r>
              <a:rPr lang="en-US" dirty="0" smtClean="0"/>
              <a:t>allow </a:t>
            </a:r>
            <a:r>
              <a:rPr lang="en-US" dirty="0"/>
              <a:t>you to set a breakpoint on </a:t>
            </a:r>
            <a:r>
              <a:rPr lang="en-US" dirty="0" smtClean="0"/>
              <a:t>a chunk </a:t>
            </a:r>
            <a:r>
              <a:rPr lang="en-US" dirty="0"/>
              <a:t>of memory in order to have the code break on access to that memory</a:t>
            </a:r>
            <a:r>
              <a:rPr lang="en-US" dirty="0" smtClean="0"/>
              <a:t>.</a:t>
            </a:r>
          </a:p>
          <a:p>
            <a:pPr lvl="1"/>
            <a:r>
              <a:rPr lang="en-US" dirty="0"/>
              <a:t>Memory breakpoints are particularly useful during malware </a:t>
            </a:r>
            <a:r>
              <a:rPr lang="en-US" dirty="0" smtClean="0"/>
              <a:t>analysis when </a:t>
            </a:r>
            <a:r>
              <a:rPr lang="en-US" dirty="0"/>
              <a:t>you want to find out when a loaded DLL is used: you can use a </a:t>
            </a:r>
            <a:r>
              <a:rPr lang="en-US" dirty="0" smtClean="0"/>
              <a:t>memory breakpoint </a:t>
            </a:r>
            <a:r>
              <a:rPr lang="en-US" dirty="0"/>
              <a:t>to pause execution as soon as code in the DLL is </a:t>
            </a:r>
            <a:r>
              <a:rPr lang="en-US" dirty="0" smtClean="0"/>
              <a:t>executed (located in </a:t>
            </a:r>
            <a:r>
              <a:rPr lang="en-US" b="1" dirty="0" smtClean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.text </a:t>
            </a:r>
            <a:r>
              <a:rPr lang="en-US" dirty="0" smtClean="0"/>
              <a:t>section).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90810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Loading DLL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Selecting </a:t>
            </a:r>
            <a:r>
              <a:rPr lang="en-US" b="1" dirty="0" smtClean="0"/>
              <a:t>Debug</a:t>
            </a:r>
            <a:r>
              <a:rPr lang="en-US" dirty="0" smtClean="0"/>
              <a:t> </a:t>
            </a:r>
            <a:r>
              <a:rPr lang="en-US" b="1" dirty="0" smtClean="0"/>
              <a:t>-&gt; Call </a:t>
            </a:r>
            <a:r>
              <a:rPr lang="en-US" b="1" dirty="0"/>
              <a:t>DLL Export</a:t>
            </a:r>
            <a:r>
              <a:rPr lang="en-US" dirty="0"/>
              <a:t> from the main </a:t>
            </a:r>
            <a:r>
              <a:rPr lang="en-US" dirty="0" smtClean="0"/>
              <a:t>menu</a:t>
            </a:r>
          </a:p>
          <a:p>
            <a:r>
              <a:rPr lang="en-US" dirty="0"/>
              <a:t>By default, </a:t>
            </a:r>
            <a:r>
              <a:rPr lang="en-US" dirty="0" err="1"/>
              <a:t>OllyDbg</a:t>
            </a:r>
            <a:r>
              <a:rPr lang="en-US" dirty="0"/>
              <a:t> breaks at the </a:t>
            </a:r>
            <a:r>
              <a:rPr lang="en-US" dirty="0" smtClean="0"/>
              <a:t>DLL entry </a:t>
            </a:r>
            <a:r>
              <a:rPr lang="en-US" dirty="0"/>
              <a:t>point (</a:t>
            </a:r>
            <a:r>
              <a:rPr lang="en-US" dirty="0" err="1">
                <a:solidFill>
                  <a:srgbClr val="FF0000"/>
                </a:solidFill>
              </a:rPr>
              <a:t>DllMain</a:t>
            </a:r>
            <a:r>
              <a:rPr lang="en-US" dirty="0"/>
              <a:t>) once the DLL is loaded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663" y="2636912"/>
            <a:ext cx="5400675" cy="4019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87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Tracing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Standard Back </a:t>
            </a:r>
            <a:r>
              <a:rPr lang="en-US" b="1" dirty="0" smtClean="0"/>
              <a:t>Trace</a:t>
            </a:r>
          </a:p>
          <a:p>
            <a:pPr lvl="1"/>
            <a:r>
              <a:rPr lang="en-US" dirty="0"/>
              <a:t>Any time you are moving through the disassembler window with the </a:t>
            </a:r>
            <a:r>
              <a:rPr lang="en-US" dirty="0" smtClean="0">
                <a:solidFill>
                  <a:srgbClr val="FF0000"/>
                </a:solidFill>
              </a:rPr>
              <a:t>Step Into </a:t>
            </a:r>
            <a:r>
              <a:rPr lang="en-US" dirty="0"/>
              <a:t>and </a:t>
            </a:r>
            <a:r>
              <a:rPr lang="en-US" dirty="0">
                <a:solidFill>
                  <a:srgbClr val="FF0000"/>
                </a:solidFill>
              </a:rPr>
              <a:t>Step Over </a:t>
            </a:r>
            <a:r>
              <a:rPr lang="en-US" dirty="0"/>
              <a:t>options, </a:t>
            </a:r>
            <a:r>
              <a:rPr lang="en-US" dirty="0" err="1"/>
              <a:t>OllyDbg</a:t>
            </a:r>
            <a:r>
              <a:rPr lang="en-US" dirty="0"/>
              <a:t> is recording that movement</a:t>
            </a:r>
            <a:r>
              <a:rPr lang="en-US" dirty="0" smtClean="0"/>
              <a:t>.</a:t>
            </a:r>
          </a:p>
          <a:p>
            <a:pPr lvl="2"/>
            <a:r>
              <a:rPr lang="en-US" dirty="0" smtClean="0"/>
              <a:t>Use  ( - ) or ( + ) to go backward and forward</a:t>
            </a:r>
          </a:p>
          <a:p>
            <a:r>
              <a:rPr lang="en-US" b="1" dirty="0" smtClean="0"/>
              <a:t>Call Stack</a:t>
            </a:r>
          </a:p>
          <a:p>
            <a:pPr lvl="1"/>
            <a:r>
              <a:rPr lang="en-US" dirty="0"/>
              <a:t>To view a call stack, select </a:t>
            </a:r>
            <a:r>
              <a:rPr lang="en-US" b="1" dirty="0" smtClean="0"/>
              <a:t>View</a:t>
            </a:r>
            <a:r>
              <a:rPr lang="en-US" dirty="0" smtClean="0"/>
              <a:t> -&gt; </a:t>
            </a:r>
            <a:r>
              <a:rPr lang="en-US" b="1" dirty="0" smtClean="0"/>
              <a:t>Call </a:t>
            </a:r>
            <a:r>
              <a:rPr lang="en-US" b="1" dirty="0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25416078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Run Trace</a:t>
            </a:r>
          </a:p>
          <a:p>
            <a:pPr marL="0" indent="0">
              <a:buNone/>
            </a:pPr>
            <a:r>
              <a:rPr lang="en-US" dirty="0"/>
              <a:t>A run trace allows you to execute code and have </a:t>
            </a:r>
            <a:r>
              <a:rPr lang="en-US" dirty="0" err="1"/>
              <a:t>OllyDbg</a:t>
            </a:r>
            <a:r>
              <a:rPr lang="en-US" dirty="0"/>
              <a:t> save every </a:t>
            </a:r>
            <a:r>
              <a:rPr lang="en-US" dirty="0" smtClean="0"/>
              <a:t>executed instruction </a:t>
            </a:r>
            <a:r>
              <a:rPr lang="en-US" dirty="0"/>
              <a:t>and all changes made to the registers and flags</a:t>
            </a:r>
            <a:r>
              <a:rPr lang="en-US" dirty="0" smtClean="0"/>
              <a:t>.</a:t>
            </a:r>
            <a:endParaRPr lang="en-US" dirty="0"/>
          </a:p>
          <a:p>
            <a:pPr lvl="1"/>
            <a:r>
              <a:rPr lang="en-US" dirty="0" smtClean="0"/>
              <a:t>Select </a:t>
            </a:r>
            <a:r>
              <a:rPr lang="en-US" b="1" dirty="0"/>
              <a:t>Run </a:t>
            </a:r>
            <a:r>
              <a:rPr lang="en-US" b="1" dirty="0" smtClean="0"/>
              <a:t>Trace </a:t>
            </a:r>
            <a:r>
              <a:rPr lang="en-US" dirty="0" smtClean="0"/>
              <a:t>-&gt; </a:t>
            </a:r>
            <a:r>
              <a:rPr lang="en-US" b="1" dirty="0" smtClean="0"/>
              <a:t>Add Selection</a:t>
            </a:r>
          </a:p>
          <a:p>
            <a:pPr lvl="2"/>
            <a:r>
              <a:rPr lang="en-US" dirty="0"/>
              <a:t>After execution of </a:t>
            </a:r>
            <a:r>
              <a:rPr lang="en-US" dirty="0" smtClean="0"/>
              <a:t>that code</a:t>
            </a:r>
            <a:r>
              <a:rPr lang="en-US" dirty="0"/>
              <a:t>, select </a:t>
            </a:r>
            <a:r>
              <a:rPr lang="en-US" b="1" dirty="0" smtClean="0"/>
              <a:t>View -&gt; Run </a:t>
            </a:r>
            <a:r>
              <a:rPr lang="en-US" dirty="0"/>
              <a:t>Trace to see the instructions that were executed</a:t>
            </a:r>
            <a:r>
              <a:rPr lang="en-US" dirty="0" smtClean="0"/>
              <a:t>.</a:t>
            </a:r>
          </a:p>
          <a:p>
            <a:pPr lvl="1"/>
            <a:r>
              <a:rPr lang="en-US" dirty="0"/>
              <a:t>Use the </a:t>
            </a:r>
            <a:r>
              <a:rPr lang="en-US" b="1" dirty="0"/>
              <a:t>Trace Into </a:t>
            </a:r>
            <a:r>
              <a:rPr lang="en-US" dirty="0"/>
              <a:t>and </a:t>
            </a:r>
            <a:r>
              <a:rPr lang="en-US" b="1" dirty="0"/>
              <a:t>Trace Over </a:t>
            </a:r>
            <a:r>
              <a:rPr lang="en-US" dirty="0" smtClean="0"/>
              <a:t>options</a:t>
            </a:r>
          </a:p>
          <a:p>
            <a:pPr lvl="2"/>
            <a:r>
              <a:rPr lang="en-US" dirty="0" smtClean="0"/>
              <a:t>Easier to </a:t>
            </a:r>
            <a:r>
              <a:rPr lang="en-US" dirty="0"/>
              <a:t>use than Add </a:t>
            </a:r>
            <a:r>
              <a:rPr lang="en-US" dirty="0" smtClean="0"/>
              <a:t>Selection</a:t>
            </a:r>
            <a:endParaRPr lang="en-US" dirty="0"/>
          </a:p>
          <a:p>
            <a:pPr lvl="1"/>
            <a:r>
              <a:rPr lang="en-US" dirty="0"/>
              <a:t>Select </a:t>
            </a:r>
            <a:r>
              <a:rPr lang="en-US" b="1" dirty="0" smtClean="0"/>
              <a:t>Debug -&gt; Set </a:t>
            </a:r>
            <a:r>
              <a:rPr lang="en-US" b="1" dirty="0"/>
              <a:t>Condition</a:t>
            </a:r>
            <a:r>
              <a:rPr lang="en-US" dirty="0"/>
              <a:t>. You can trace until a condition hits, </a:t>
            </a:r>
            <a:r>
              <a:rPr lang="en-US" dirty="0" smtClean="0"/>
              <a:t>causing the </a:t>
            </a:r>
            <a:r>
              <a:rPr lang="en-US" dirty="0"/>
              <a:t>program to pause.</a:t>
            </a:r>
          </a:p>
        </p:txBody>
      </p:sp>
    </p:spTree>
    <p:extLst>
      <p:ext uri="{BB962C8B-B14F-4D97-AF65-F5344CB8AC3E}">
        <p14:creationId xmlns:p14="http://schemas.microsoft.com/office/powerpoint/2010/main" val="42509384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Exception Handling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By default, when an exception occurs while </a:t>
            </a:r>
            <a:r>
              <a:rPr lang="en-US" dirty="0" err="1"/>
              <a:t>OllyDbg</a:t>
            </a:r>
            <a:r>
              <a:rPr lang="en-US" dirty="0"/>
              <a:t> is attached, the </a:t>
            </a:r>
            <a:r>
              <a:rPr lang="en-US" dirty="0" smtClean="0"/>
              <a:t>program stops </a:t>
            </a:r>
            <a:r>
              <a:rPr lang="en-US" dirty="0"/>
              <a:t>executing and the debugger is given control first</a:t>
            </a:r>
            <a:r>
              <a:rPr lang="en-US" dirty="0" smtClean="0"/>
              <a:t>.</a:t>
            </a:r>
          </a:p>
          <a:p>
            <a:pPr lvl="1"/>
            <a:r>
              <a:rPr lang="en-US" sz="1800" dirty="0" smtClean="0"/>
              <a:t>SHIFT-F7 </a:t>
            </a:r>
            <a:r>
              <a:rPr lang="en-US" sz="1800" dirty="0"/>
              <a:t>will step into the exception.</a:t>
            </a:r>
          </a:p>
          <a:p>
            <a:pPr lvl="1"/>
            <a:r>
              <a:rPr lang="en-US" sz="1800" dirty="0" smtClean="0"/>
              <a:t>SHIFT-F8 </a:t>
            </a:r>
            <a:r>
              <a:rPr lang="en-US" sz="1800" dirty="0"/>
              <a:t>will step over it.</a:t>
            </a:r>
          </a:p>
          <a:p>
            <a:pPr lvl="1"/>
            <a:r>
              <a:rPr lang="en-US" sz="1800" dirty="0" smtClean="0"/>
              <a:t>SHIFT-F9 </a:t>
            </a:r>
            <a:r>
              <a:rPr lang="en-US" sz="1800" dirty="0"/>
              <a:t>will run the exception handler.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2409" y="2852936"/>
            <a:ext cx="4019550" cy="3324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00522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Patching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OllyDbg</a:t>
            </a:r>
            <a:r>
              <a:rPr lang="en-US" dirty="0"/>
              <a:t> makes it easy to modify just about any live data, such as registers </a:t>
            </a:r>
            <a:r>
              <a:rPr lang="en-US" dirty="0" smtClean="0"/>
              <a:t>and flags</a:t>
            </a:r>
            <a:r>
              <a:rPr lang="en-US" dirty="0"/>
              <a:t>. It also enables you to assemble and patch code directly into a program</a:t>
            </a:r>
            <a:r>
              <a:rPr lang="en-US" dirty="0" smtClean="0"/>
              <a:t>.</a:t>
            </a:r>
          </a:p>
          <a:p>
            <a:pPr lvl="2"/>
            <a:r>
              <a:rPr lang="en-US" dirty="0" smtClean="0"/>
              <a:t>Right clicking that </a:t>
            </a:r>
            <a:r>
              <a:rPr lang="en-US" dirty="0"/>
              <a:t>region, and selecting </a:t>
            </a:r>
            <a:r>
              <a:rPr lang="en-US" b="1" dirty="0" smtClean="0"/>
              <a:t>Binary -&gt; Edit.</a:t>
            </a:r>
          </a:p>
          <a:p>
            <a:pPr lvl="2"/>
            <a:endParaRPr lang="en-US" b="1" dirty="0"/>
          </a:p>
          <a:p>
            <a:pPr lvl="2"/>
            <a:endParaRPr lang="en-US" b="1" dirty="0" smtClean="0"/>
          </a:p>
          <a:p>
            <a:pPr lvl="2"/>
            <a:endParaRPr lang="en-US" dirty="0" smtClean="0"/>
          </a:p>
          <a:p>
            <a:pPr lvl="2"/>
            <a:r>
              <a:rPr lang="en-US" dirty="0" smtClean="0"/>
              <a:t>Note </a:t>
            </a:r>
            <a:r>
              <a:rPr lang="en-US" dirty="0"/>
              <a:t>that the patch is in live memory only for this instance of the process.</a:t>
            </a:r>
            <a:endParaRPr lang="en-US" dirty="0" smtClean="0"/>
          </a:p>
          <a:p>
            <a:pPr lvl="2"/>
            <a:endParaRPr lang="en-US" b="1" dirty="0"/>
          </a:p>
          <a:p>
            <a:pPr lvl="2"/>
            <a:endParaRPr lang="en-US" b="1" dirty="0" smtClean="0"/>
          </a:p>
          <a:p>
            <a:pPr lvl="2"/>
            <a:endParaRPr lang="en-US" b="1" dirty="0"/>
          </a:p>
          <a:p>
            <a:pPr lvl="2"/>
            <a:endParaRPr lang="en-US" b="1" dirty="0" smtClean="0"/>
          </a:p>
          <a:p>
            <a:pPr lvl="2"/>
            <a:endParaRPr lang="en-US" b="1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924944"/>
            <a:ext cx="5868987" cy="819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622" y="4586563"/>
            <a:ext cx="5888037" cy="2247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98177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Analyzing Shellcode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Copy </a:t>
            </a:r>
            <a:r>
              <a:rPr lang="en-US" dirty="0"/>
              <a:t>shellcode from a hex editor to the clipboard.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Within </a:t>
            </a:r>
            <a:r>
              <a:rPr lang="en-US" dirty="0"/>
              <a:t>the memory map, select a memory region whose type is </a:t>
            </a:r>
            <a:r>
              <a:rPr lang="en-US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Priv</a:t>
            </a:r>
            <a:r>
              <a:rPr lang="en-US" dirty="0"/>
              <a:t>.</a:t>
            </a:r>
          </a:p>
          <a:p>
            <a:pPr marL="400050" lvl="1" indent="0">
              <a:buNone/>
            </a:pPr>
            <a:r>
              <a:rPr lang="en-US" dirty="0"/>
              <a:t>(This is private memory assigned to the process, as opposed to the </a:t>
            </a:r>
            <a:r>
              <a:rPr lang="en-US" dirty="0" err="1"/>
              <a:t>readonly</a:t>
            </a:r>
            <a:endParaRPr lang="en-US" dirty="0"/>
          </a:p>
          <a:p>
            <a:pPr marL="400050" lvl="1" indent="0">
              <a:buNone/>
            </a:pPr>
            <a:r>
              <a:rPr lang="en-US" dirty="0"/>
              <a:t>executable images that are shared among multiple processes.)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Double-click </a:t>
            </a:r>
            <a:r>
              <a:rPr lang="en-US" dirty="0"/>
              <a:t>rows in the memory map to bring up a hex dump so </a:t>
            </a:r>
            <a:r>
              <a:rPr lang="en-US" dirty="0" smtClean="0"/>
              <a:t>you can </a:t>
            </a:r>
            <a:r>
              <a:rPr lang="en-US" dirty="0"/>
              <a:t>examine the contents. This region should contain a few </a:t>
            </a:r>
            <a:r>
              <a:rPr lang="en-US" dirty="0" smtClean="0"/>
              <a:t>hundred bytes </a:t>
            </a:r>
            <a:r>
              <a:rPr lang="en-US" dirty="0"/>
              <a:t>of contiguous zero bytes.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Right-click </a:t>
            </a:r>
            <a:r>
              <a:rPr lang="en-US" dirty="0"/>
              <a:t>the chosen region in the Memory Map window, and </a:t>
            </a:r>
            <a:r>
              <a:rPr lang="en-US" dirty="0" smtClean="0"/>
              <a:t>select </a:t>
            </a:r>
            <a:r>
              <a:rPr lang="en-US" b="1" dirty="0" smtClean="0"/>
              <a:t>Set Access -&gt; Full </a:t>
            </a:r>
            <a:r>
              <a:rPr lang="en-US" b="1" dirty="0"/>
              <a:t>Access</a:t>
            </a:r>
            <a:r>
              <a:rPr lang="en-US" dirty="0"/>
              <a:t> to give the region read, write, and </a:t>
            </a:r>
            <a:r>
              <a:rPr lang="en-US" dirty="0" smtClean="0"/>
              <a:t>execute permissions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Return </a:t>
            </a:r>
            <a:r>
              <a:rPr lang="en-US" dirty="0"/>
              <a:t>to the memory dump window. Highlight a region of </a:t>
            </a:r>
            <a:r>
              <a:rPr lang="en-US" dirty="0" smtClean="0"/>
              <a:t>zero-filled bytes </a:t>
            </a:r>
            <a:r>
              <a:rPr lang="en-US" dirty="0"/>
              <a:t>large enough for the entire shellcode to fit, right-click the </a:t>
            </a:r>
            <a:r>
              <a:rPr lang="en-US" dirty="0" smtClean="0"/>
              <a:t>selection, and </a:t>
            </a:r>
            <a:r>
              <a:rPr lang="en-US" dirty="0"/>
              <a:t>select </a:t>
            </a:r>
            <a:r>
              <a:rPr lang="en-US" b="1" dirty="0" smtClean="0"/>
              <a:t>Binary -&gt; Binary </a:t>
            </a:r>
            <a:r>
              <a:rPr lang="en-US" b="1" dirty="0"/>
              <a:t>Paste</a:t>
            </a:r>
            <a:r>
              <a:rPr lang="en-US" dirty="0"/>
              <a:t>. This will paste the shellcode to </a:t>
            </a:r>
            <a:r>
              <a:rPr lang="en-US" dirty="0" smtClean="0"/>
              <a:t>the selected </a:t>
            </a:r>
            <a:r>
              <a:rPr lang="en-US" dirty="0"/>
              <a:t>region.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Set </a:t>
            </a:r>
            <a:r>
              <a:rPr lang="en-US" dirty="0"/>
              <a:t>the EIP register to the location of the memory you modified. (</a:t>
            </a:r>
            <a:r>
              <a:rPr lang="en-US" dirty="0" smtClean="0"/>
              <a:t>You can </a:t>
            </a:r>
            <a:r>
              <a:rPr lang="en-US" dirty="0"/>
              <a:t>easily set the EIP register by right-clicking an instruction in the </a:t>
            </a:r>
            <a:r>
              <a:rPr lang="en-US" dirty="0" smtClean="0"/>
              <a:t>disassembler window </a:t>
            </a:r>
            <a:r>
              <a:rPr lang="en-US" dirty="0"/>
              <a:t>and selecting </a:t>
            </a:r>
            <a:r>
              <a:rPr lang="en-US" b="1" dirty="0"/>
              <a:t>New Origin Here</a:t>
            </a:r>
            <a:r>
              <a:rPr lang="en-US" dirty="0"/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40938457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01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Download and examine the </a:t>
            </a:r>
            <a:r>
              <a:rPr lang="en-US" dirty="0">
                <a:solidFill>
                  <a:srgbClr val="FF0000"/>
                </a:solidFill>
              </a:rPr>
              <a:t>Minesweeper</a:t>
            </a:r>
            <a:r>
              <a:rPr lang="en-US" dirty="0"/>
              <a:t> 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83528" y="1700808"/>
            <a:ext cx="878497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Open </a:t>
            </a:r>
            <a:r>
              <a:rPr lang="en-US" dirty="0" err="1"/>
              <a:t>OllyDbg</a:t>
            </a:r>
            <a:r>
              <a:rPr lang="en-US" dirty="0"/>
              <a:t>. Make sure there are no error </a:t>
            </a:r>
            <a:r>
              <a:rPr lang="en-US" dirty="0" smtClean="0"/>
              <a:t>messages.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In Olly, open Minesweeper.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Hit F9. This makes the program run until the next breakpoint (BP) or until user input is needed.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Find the address 01003E36 and click on it to highlight it. Hit F2 to put a BP on the instruction in that address.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Hit F9. The program should be stopped at address 01003E36.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Hit F7 to step into the function.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Now hit F8 to step over an instruction.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Ok now close everything, we’re done here :D</a:t>
            </a:r>
          </a:p>
        </p:txBody>
      </p:sp>
    </p:spTree>
    <p:extLst>
      <p:ext uri="{BB962C8B-B14F-4D97-AF65-F5344CB8AC3E}">
        <p14:creationId xmlns:p14="http://schemas.microsoft.com/office/powerpoint/2010/main" val="4287813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</a:t>
            </a:r>
            <a:r>
              <a:rPr lang="en-US" dirty="0" smtClean="0"/>
              <a:t>02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Lab09-01.exe</a:t>
            </a:r>
          </a:p>
          <a:p>
            <a:pPr lvl="1"/>
            <a:r>
              <a:rPr lang="en-US" dirty="0"/>
              <a:t>Analyze the malware found in the file </a:t>
            </a:r>
            <a:r>
              <a:rPr lang="en-US" dirty="0">
                <a:solidFill>
                  <a:srgbClr val="FF0000"/>
                </a:solidFill>
              </a:rPr>
              <a:t>Lab09-01.exe</a:t>
            </a:r>
            <a:r>
              <a:rPr lang="en-US" dirty="0"/>
              <a:t> using </a:t>
            </a:r>
            <a:r>
              <a:rPr lang="en-US" dirty="0" err="1"/>
              <a:t>OllyDbg</a:t>
            </a:r>
            <a:r>
              <a:rPr lang="en-US" dirty="0"/>
              <a:t> and </a:t>
            </a:r>
            <a:r>
              <a:rPr lang="en-US" dirty="0" smtClean="0"/>
              <a:t>IDA Pro </a:t>
            </a:r>
            <a:r>
              <a:rPr lang="en-US" dirty="0"/>
              <a:t>to answer the following questions</a:t>
            </a:r>
            <a:r>
              <a:rPr lang="en-US" dirty="0" smtClean="0"/>
              <a:t>.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 smtClean="0"/>
              <a:t>How </a:t>
            </a:r>
            <a:r>
              <a:rPr lang="en-US" dirty="0"/>
              <a:t>can you get this malware to install itself?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 smtClean="0"/>
              <a:t>What </a:t>
            </a:r>
            <a:r>
              <a:rPr lang="en-US" dirty="0"/>
              <a:t>are the command-line options for this program? What is the </a:t>
            </a:r>
            <a:r>
              <a:rPr lang="en-US" dirty="0" smtClean="0"/>
              <a:t>password requirement</a:t>
            </a:r>
            <a:r>
              <a:rPr lang="en-US" dirty="0"/>
              <a:t>?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 smtClean="0"/>
              <a:t>How </a:t>
            </a:r>
            <a:r>
              <a:rPr lang="en-US" dirty="0"/>
              <a:t>can you use </a:t>
            </a:r>
            <a:r>
              <a:rPr lang="en-US" dirty="0" err="1"/>
              <a:t>OllyDbg</a:t>
            </a:r>
            <a:r>
              <a:rPr lang="en-US" dirty="0"/>
              <a:t> to permanently patch this malware, so that </a:t>
            </a:r>
            <a:r>
              <a:rPr lang="en-US" dirty="0" smtClean="0"/>
              <a:t>it doesn’t </a:t>
            </a:r>
            <a:r>
              <a:rPr lang="en-US" dirty="0"/>
              <a:t>require the special command-line password?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 smtClean="0"/>
              <a:t>What </a:t>
            </a:r>
            <a:r>
              <a:rPr lang="en-US" dirty="0"/>
              <a:t>are the host-based indicators of this malware?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 smtClean="0"/>
              <a:t>What </a:t>
            </a:r>
            <a:r>
              <a:rPr lang="en-US" dirty="0"/>
              <a:t>are the different actions this malware can be instructed to take </a:t>
            </a:r>
            <a:r>
              <a:rPr lang="en-US" dirty="0" smtClean="0"/>
              <a:t>via the </a:t>
            </a:r>
            <a:r>
              <a:rPr lang="en-US" dirty="0"/>
              <a:t>network?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 smtClean="0"/>
              <a:t>Are </a:t>
            </a:r>
            <a:r>
              <a:rPr lang="en-US" dirty="0"/>
              <a:t>there any useful network-based signatures for this malware</a:t>
            </a:r>
            <a:r>
              <a:rPr lang="en-US" dirty="0" smtClean="0"/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97235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</a:t>
            </a:r>
            <a:r>
              <a:rPr lang="en-US" dirty="0" smtClean="0"/>
              <a:t>03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Lab09-02.exe</a:t>
            </a:r>
          </a:p>
          <a:p>
            <a:pPr lvl="1"/>
            <a:r>
              <a:rPr lang="en-US" dirty="0"/>
              <a:t>Analyze the malware found in the file </a:t>
            </a:r>
            <a:r>
              <a:rPr lang="en-US" dirty="0">
                <a:solidFill>
                  <a:srgbClr val="FF0000"/>
                </a:solidFill>
              </a:rPr>
              <a:t>Lab09-02.exe</a:t>
            </a:r>
            <a:r>
              <a:rPr lang="en-US" dirty="0"/>
              <a:t> using </a:t>
            </a:r>
            <a:r>
              <a:rPr lang="en-US" dirty="0" err="1"/>
              <a:t>OllyDbg</a:t>
            </a:r>
            <a:r>
              <a:rPr lang="en-US" dirty="0"/>
              <a:t> to </a:t>
            </a:r>
            <a:r>
              <a:rPr lang="en-US" dirty="0" smtClean="0"/>
              <a:t>answer the </a:t>
            </a:r>
            <a:r>
              <a:rPr lang="en-US" dirty="0"/>
              <a:t>following questions</a:t>
            </a:r>
            <a:r>
              <a:rPr lang="en-US" dirty="0" smtClean="0"/>
              <a:t>.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 smtClean="0"/>
              <a:t>What </a:t>
            </a:r>
            <a:r>
              <a:rPr lang="en-US" dirty="0"/>
              <a:t>strings do you see statically in the binary?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 smtClean="0"/>
              <a:t>What </a:t>
            </a:r>
            <a:r>
              <a:rPr lang="en-US" dirty="0"/>
              <a:t>happens when you run this binary?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 smtClean="0"/>
              <a:t>How </a:t>
            </a:r>
            <a:r>
              <a:rPr lang="en-US" dirty="0"/>
              <a:t>can you get this sample to run its malicious payload?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 smtClean="0"/>
              <a:t>What </a:t>
            </a:r>
            <a:r>
              <a:rPr lang="en-US" dirty="0"/>
              <a:t>is happening at 0x00401133?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 smtClean="0"/>
              <a:t>What </a:t>
            </a:r>
            <a:r>
              <a:rPr lang="en-US" dirty="0"/>
              <a:t>arguments are being passed to subroutine 0x00401089?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 smtClean="0"/>
              <a:t>What </a:t>
            </a:r>
            <a:r>
              <a:rPr lang="en-US" dirty="0"/>
              <a:t>domain name does this malware use?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 smtClean="0"/>
              <a:t>What </a:t>
            </a:r>
            <a:r>
              <a:rPr lang="en-US" dirty="0"/>
              <a:t>encoding routine is being used to obfuscate the domain name?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 smtClean="0"/>
              <a:t>What </a:t>
            </a:r>
            <a:r>
              <a:rPr lang="en-US" dirty="0"/>
              <a:t>is the significance of the </a:t>
            </a:r>
            <a:r>
              <a:rPr lang="en-US" dirty="0" err="1"/>
              <a:t>CreateProcessA</a:t>
            </a:r>
            <a:r>
              <a:rPr lang="en-US" dirty="0"/>
              <a:t> call at 0x0040106E?</a:t>
            </a:r>
          </a:p>
        </p:txBody>
      </p:sp>
    </p:spTree>
    <p:extLst>
      <p:ext uri="{BB962C8B-B14F-4D97-AF65-F5344CB8AC3E}">
        <p14:creationId xmlns:p14="http://schemas.microsoft.com/office/powerpoint/2010/main" val="399114049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623</TotalTime>
  <Words>1137</Words>
  <Application>Microsoft Office PowerPoint</Application>
  <PresentationFormat>On-screen Show (4:3)</PresentationFormat>
  <Paragraphs>132</Paragraphs>
  <Slides>20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1_Office Theme</vt:lpstr>
      <vt:lpstr>2_Office Theme</vt:lpstr>
      <vt:lpstr>Malware Analysis</vt:lpstr>
      <vt:lpstr>OllyDbg</vt:lpstr>
      <vt:lpstr>OllyDbg</vt:lpstr>
      <vt:lpstr>Memory Map</vt:lpstr>
      <vt:lpstr>Rebasing</vt:lpstr>
      <vt:lpstr>Viewing Threads and Stacks</vt:lpstr>
      <vt:lpstr>Executing Code</vt:lpstr>
      <vt:lpstr>Breakpoints</vt:lpstr>
      <vt:lpstr>Breakpoints</vt:lpstr>
      <vt:lpstr>Breakpoints</vt:lpstr>
      <vt:lpstr>Breakpoints</vt:lpstr>
      <vt:lpstr>Loading DLL</vt:lpstr>
      <vt:lpstr>Tracing </vt:lpstr>
      <vt:lpstr>Tracing</vt:lpstr>
      <vt:lpstr>Exception Handling</vt:lpstr>
      <vt:lpstr>Patching</vt:lpstr>
      <vt:lpstr>Analyzing Shellcode</vt:lpstr>
      <vt:lpstr>Lab 01</vt:lpstr>
      <vt:lpstr>Lab 02</vt:lpstr>
      <vt:lpstr>Lab 03</vt:lpstr>
    </vt:vector>
  </TitlesOfParts>
  <Company>Hewlett-Packard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tran the son</dc:creator>
  <cp:lastModifiedBy>tran the son</cp:lastModifiedBy>
  <cp:revision>37</cp:revision>
  <dcterms:created xsi:type="dcterms:W3CDTF">2022-10-14T03:39:03Z</dcterms:created>
  <dcterms:modified xsi:type="dcterms:W3CDTF">2022-12-01T17:04:24Z</dcterms:modified>
</cp:coreProperties>
</file>