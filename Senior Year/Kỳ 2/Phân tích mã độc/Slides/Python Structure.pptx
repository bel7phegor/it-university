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508" y="-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Recognizing Python structure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Local &amp; global variables</a:t>
            </a:r>
          </a:p>
          <a:p>
            <a:r>
              <a:rPr lang="en-GB" dirty="0" smtClean="0"/>
              <a:t>Operation +, -, ++, --, %</a:t>
            </a:r>
          </a:p>
          <a:p>
            <a:r>
              <a:rPr lang="en-GB" dirty="0"/>
              <a:t>C</a:t>
            </a:r>
            <a:r>
              <a:rPr lang="en-GB" dirty="0" smtClean="0"/>
              <a:t>ondition</a:t>
            </a:r>
            <a:r>
              <a:rPr lang="en-GB" i="1" dirty="0" smtClean="0"/>
              <a:t> </a:t>
            </a:r>
            <a:r>
              <a:rPr lang="en-GB" dirty="0" smtClean="0"/>
              <a:t> </a:t>
            </a:r>
            <a:r>
              <a:rPr lang="en-GB" i="1" dirty="0" smtClean="0"/>
              <a:t>if</a:t>
            </a:r>
          </a:p>
          <a:p>
            <a:r>
              <a:rPr lang="en-GB" dirty="0" smtClean="0"/>
              <a:t>Loop </a:t>
            </a:r>
            <a:r>
              <a:rPr lang="en-GB" i="1" dirty="0" smtClean="0"/>
              <a:t>for</a:t>
            </a:r>
            <a:r>
              <a:rPr lang="en-GB" dirty="0" smtClean="0"/>
              <a:t>, </a:t>
            </a:r>
            <a:r>
              <a:rPr lang="en-GB" i="1" dirty="0" smtClean="0"/>
              <a:t>while</a:t>
            </a:r>
          </a:p>
          <a:p>
            <a:r>
              <a:rPr lang="en-GB" dirty="0" smtClean="0"/>
              <a:t>Function calls</a:t>
            </a:r>
          </a:p>
          <a:p>
            <a:r>
              <a:rPr lang="en-GB" dirty="0" smtClean="0"/>
              <a:t>Other: </a:t>
            </a:r>
            <a:r>
              <a:rPr lang="en-GB" i="1" dirty="0" smtClean="0"/>
              <a:t>switch</a:t>
            </a:r>
            <a:r>
              <a:rPr lang="en-GB" dirty="0" smtClean="0"/>
              <a:t>, </a:t>
            </a:r>
            <a:r>
              <a:rPr lang="en-GB" i="1" dirty="0" smtClean="0"/>
              <a:t>array</a:t>
            </a:r>
            <a:r>
              <a:rPr lang="en-GB" dirty="0" smtClean="0"/>
              <a:t>, </a:t>
            </a:r>
            <a:r>
              <a:rPr lang="en-GB" i="1" dirty="0" err="1" smtClean="0"/>
              <a:t>structs</a:t>
            </a:r>
            <a:endParaRPr lang="en-GB" i="1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383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&amp; global 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51521" y="1844824"/>
            <a:ext cx="259228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x = 1</a:t>
            </a:r>
          </a:p>
          <a:p>
            <a:r>
              <a:rPr lang="fr-FR" dirty="0"/>
              <a:t>y = 2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main():</a:t>
            </a:r>
          </a:p>
          <a:p>
            <a:r>
              <a:rPr lang="fr-FR" dirty="0"/>
              <a:t>    global x</a:t>
            </a:r>
          </a:p>
          <a:p>
            <a:r>
              <a:rPr lang="fr-FR" dirty="0"/>
              <a:t>    x = x + y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 ("Total = ", x)</a:t>
            </a:r>
          </a:p>
          <a:p>
            <a:r>
              <a:rPr lang="fr-FR" dirty="0"/>
              <a:t>main()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4151366"/>
            <a:ext cx="2592289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d</a:t>
            </a:r>
            <a:r>
              <a:rPr lang="en-GB" dirty="0" err="1" smtClean="0"/>
              <a:t>ef</a:t>
            </a:r>
            <a:r>
              <a:rPr lang="en-GB" dirty="0" smtClean="0"/>
              <a:t> main():</a:t>
            </a:r>
            <a:endParaRPr lang="en-GB" dirty="0"/>
          </a:p>
          <a:p>
            <a:r>
              <a:rPr lang="en-GB" dirty="0"/>
              <a:t>{</a:t>
            </a:r>
          </a:p>
          <a:p>
            <a:pPr lvl="1"/>
            <a:r>
              <a:rPr lang="en-GB" b="1" dirty="0" err="1"/>
              <a:t>int</a:t>
            </a:r>
            <a:r>
              <a:rPr lang="en-GB" b="1" dirty="0"/>
              <a:t> x = 1;</a:t>
            </a:r>
          </a:p>
          <a:p>
            <a:pPr lvl="1"/>
            <a:r>
              <a:rPr lang="en-GB" b="1" dirty="0" err="1" smtClean="0"/>
              <a:t>int</a:t>
            </a:r>
            <a:r>
              <a:rPr lang="en-GB" b="1" dirty="0" smtClean="0"/>
              <a:t> </a:t>
            </a:r>
            <a:r>
              <a:rPr lang="en-GB" b="1" dirty="0"/>
              <a:t>y = 2;</a:t>
            </a:r>
          </a:p>
          <a:p>
            <a:pPr lvl="1"/>
            <a:r>
              <a:rPr lang="en-GB" dirty="0"/>
              <a:t>x = </a:t>
            </a:r>
            <a:r>
              <a:rPr lang="en-GB" dirty="0" err="1"/>
              <a:t>x+y</a:t>
            </a:r>
            <a:r>
              <a:rPr lang="en-GB" dirty="0"/>
              <a:t>;</a:t>
            </a:r>
          </a:p>
          <a:p>
            <a:pPr lvl="1"/>
            <a:r>
              <a:rPr lang="en-GB" dirty="0" err="1"/>
              <a:t>printf</a:t>
            </a:r>
            <a:r>
              <a:rPr lang="en-GB" dirty="0"/>
              <a:t>("Total = %d\n", x);</a:t>
            </a:r>
          </a:p>
          <a:p>
            <a:r>
              <a:rPr lang="en-GB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822" y="1159597"/>
            <a:ext cx="3024336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 1           0 LOAD_CONST               0 (1)</a:t>
            </a:r>
          </a:p>
          <a:p>
            <a:r>
              <a:rPr lang="en-GB" sz="1200" b="1" dirty="0"/>
              <a:t>              2 STORE_GLOBAL             0 (x)</a:t>
            </a:r>
          </a:p>
          <a:p>
            <a:endParaRPr lang="en-GB" sz="1200" b="1" dirty="0"/>
          </a:p>
          <a:p>
            <a:r>
              <a:rPr lang="en-GB" sz="1200" b="1" dirty="0"/>
              <a:t>  2           4 LOAD_CONST               1 (2)</a:t>
            </a:r>
          </a:p>
          <a:p>
            <a:r>
              <a:rPr lang="en-GB" sz="1200" b="1" dirty="0"/>
              <a:t>              6 STORE_NAME               1 (y)</a:t>
            </a:r>
          </a:p>
          <a:p>
            <a:endParaRPr lang="en-GB" sz="1200" b="1" dirty="0"/>
          </a:p>
          <a:p>
            <a:r>
              <a:rPr lang="en-GB" sz="1200" b="1" dirty="0"/>
              <a:t>  4           8 </a:t>
            </a:r>
            <a:r>
              <a:rPr lang="en-GB" sz="1200" b="1" dirty="0" smtClean="0"/>
              <a:t>LOAD_CONST               2</a:t>
            </a:r>
            <a:endParaRPr lang="en-GB" sz="1200" b="1" dirty="0"/>
          </a:p>
          <a:p>
            <a:r>
              <a:rPr lang="en-GB" sz="1200" b="1" dirty="0"/>
              <a:t>             10 LOAD_CONST               3 ('main')</a:t>
            </a:r>
          </a:p>
          <a:p>
            <a:r>
              <a:rPr lang="en-GB" sz="1200" b="1" dirty="0"/>
              <a:t>             12 MAKE_FUNCTION            0</a:t>
            </a:r>
          </a:p>
          <a:p>
            <a:r>
              <a:rPr lang="en-GB" sz="1200" b="1" dirty="0"/>
              <a:t>             14 STORE_NAME               2 (main)</a:t>
            </a:r>
          </a:p>
          <a:p>
            <a:endParaRPr lang="en-GB" sz="1200" b="1" dirty="0"/>
          </a:p>
          <a:p>
            <a:r>
              <a:rPr lang="en-GB" sz="1200" b="1" dirty="0"/>
              <a:t>  8          16 LOAD_NAME                2 (main)</a:t>
            </a:r>
          </a:p>
          <a:p>
            <a:r>
              <a:rPr lang="en-GB" sz="1200" b="1" dirty="0"/>
              <a:t>             18 CALL_FUNCTION            0</a:t>
            </a:r>
          </a:p>
          <a:p>
            <a:r>
              <a:rPr lang="en-GB" sz="1200" b="1" dirty="0"/>
              <a:t>             20 POP_TOP</a:t>
            </a:r>
          </a:p>
          <a:p>
            <a:r>
              <a:rPr lang="en-GB" sz="1200" b="1" dirty="0"/>
              <a:t>             22 LOAD_CONST               4 (None)</a:t>
            </a:r>
          </a:p>
          <a:p>
            <a:r>
              <a:rPr lang="en-GB" sz="1200" b="1" dirty="0"/>
              <a:t>             24 </a:t>
            </a:r>
            <a:r>
              <a:rPr lang="en-GB" sz="1200" b="1" dirty="0" smtClean="0"/>
              <a:t>RETURN_VALUE</a:t>
            </a:r>
          </a:p>
          <a:p>
            <a:endParaRPr lang="en-GB" sz="1200" b="1" dirty="0" smtClean="0"/>
          </a:p>
          <a:p>
            <a:r>
              <a:rPr lang="en-GB" sz="1200" b="1" dirty="0" smtClean="0"/>
              <a:t>  </a:t>
            </a:r>
            <a:r>
              <a:rPr lang="en-GB" sz="1200" b="1" dirty="0"/>
              <a:t>6           0 LOAD_GLOBAL              0 (x)</a:t>
            </a:r>
          </a:p>
          <a:p>
            <a:r>
              <a:rPr lang="en-GB" sz="1200" b="1" dirty="0"/>
              <a:t>              2 LOAD_GLOBAL              1 (y)</a:t>
            </a:r>
          </a:p>
          <a:p>
            <a:r>
              <a:rPr lang="en-GB" sz="1200" b="1" dirty="0"/>
              <a:t>              4 BINARY_ADD</a:t>
            </a:r>
          </a:p>
          <a:p>
            <a:r>
              <a:rPr lang="en-GB" sz="1200" b="1" dirty="0"/>
              <a:t>              6 STORE_GLOBAL             0 (x)</a:t>
            </a:r>
          </a:p>
          <a:p>
            <a:endParaRPr lang="en-GB" sz="1200" b="1" dirty="0"/>
          </a:p>
          <a:p>
            <a:r>
              <a:rPr lang="en-GB" sz="1200" b="1" dirty="0"/>
              <a:t>  7           8 LOAD_GLOBAL              2 (print)</a:t>
            </a:r>
          </a:p>
          <a:p>
            <a:r>
              <a:rPr lang="en-GB" sz="1200" b="1" dirty="0"/>
              <a:t>             10 LOAD_CONST               1 ('Total = ')</a:t>
            </a:r>
          </a:p>
          <a:p>
            <a:r>
              <a:rPr lang="en-GB" sz="1200" b="1" dirty="0"/>
              <a:t>             12 LOAD_GLOBAL              0 (x)</a:t>
            </a:r>
          </a:p>
          <a:p>
            <a:r>
              <a:rPr lang="en-GB" sz="1200" b="1" dirty="0"/>
              <a:t>             14 CALL_FUNCTION            2</a:t>
            </a:r>
          </a:p>
          <a:p>
            <a:r>
              <a:rPr lang="en-GB" sz="1200" b="1" dirty="0"/>
              <a:t>             16 POP_TOP</a:t>
            </a:r>
          </a:p>
          <a:p>
            <a:r>
              <a:rPr lang="en-GB" sz="1200" b="1" dirty="0"/>
              <a:t>             18 LOAD_CONST               0 (None)</a:t>
            </a:r>
          </a:p>
          <a:p>
            <a:r>
              <a:rPr lang="en-GB" sz="1200" b="1" dirty="0"/>
              <a:t>             20 RETURN_VALUE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7656" y="1200515"/>
            <a:ext cx="3096344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/>
              <a:t> 1           0 LOAD_CONST               0 </a:t>
            </a:r>
          </a:p>
          <a:p>
            <a:r>
              <a:rPr lang="en-GB" sz="1200" b="1" dirty="0"/>
              <a:t>              2 LOAD_CONST               1 ('main')</a:t>
            </a:r>
          </a:p>
          <a:p>
            <a:r>
              <a:rPr lang="en-GB" sz="1200" b="1" dirty="0"/>
              <a:t>              4 MAKE_FUNCTION            0</a:t>
            </a:r>
          </a:p>
          <a:p>
            <a:r>
              <a:rPr lang="en-GB" sz="1200" b="1" dirty="0"/>
              <a:t>              6 STORE_NAME               0 (main)</a:t>
            </a:r>
          </a:p>
          <a:p>
            <a:endParaRPr lang="en-GB" sz="1200" b="1" dirty="0"/>
          </a:p>
          <a:p>
            <a:r>
              <a:rPr lang="en-GB" sz="1200" b="1" dirty="0"/>
              <a:t>  6           8 LOAD_NAME                0 (main)</a:t>
            </a:r>
          </a:p>
          <a:p>
            <a:r>
              <a:rPr lang="en-GB" sz="1200" b="1" dirty="0"/>
              <a:t>             10 CALL_FUNCTION            0</a:t>
            </a:r>
          </a:p>
          <a:p>
            <a:r>
              <a:rPr lang="en-GB" sz="1200" b="1" dirty="0"/>
              <a:t>             12 POP_TOP</a:t>
            </a:r>
          </a:p>
          <a:p>
            <a:r>
              <a:rPr lang="en-GB" sz="1200" b="1" dirty="0"/>
              <a:t>             14 LOAD_CONST               2 (None)</a:t>
            </a:r>
          </a:p>
          <a:p>
            <a:r>
              <a:rPr lang="en-GB" sz="1200" b="1" dirty="0"/>
              <a:t>             16 RETURN_VALUE</a:t>
            </a:r>
          </a:p>
          <a:p>
            <a:endParaRPr lang="en-GB" sz="1200" b="1" dirty="0"/>
          </a:p>
          <a:p>
            <a:r>
              <a:rPr lang="en-GB" sz="1200" b="1" dirty="0"/>
              <a:t>  2           0 LOAD_CONST               1 (1)</a:t>
            </a:r>
          </a:p>
          <a:p>
            <a:r>
              <a:rPr lang="en-GB" sz="1200" b="1" dirty="0"/>
              <a:t>              2 STORE_FAST               0 (x)</a:t>
            </a:r>
          </a:p>
          <a:p>
            <a:endParaRPr lang="en-GB" sz="1200" b="1" dirty="0"/>
          </a:p>
          <a:p>
            <a:r>
              <a:rPr lang="en-GB" sz="1200" b="1" dirty="0"/>
              <a:t>  3           4 LOAD_CONST               1 (1)</a:t>
            </a:r>
          </a:p>
          <a:p>
            <a:r>
              <a:rPr lang="en-GB" sz="1200" b="1" dirty="0"/>
              <a:t>              6 STORE_FAST               1 (y)</a:t>
            </a:r>
          </a:p>
          <a:p>
            <a:endParaRPr lang="en-GB" sz="1200" b="1" dirty="0"/>
          </a:p>
          <a:p>
            <a:r>
              <a:rPr lang="en-GB" sz="1200" b="1" dirty="0"/>
              <a:t>  4           8 LOAD_FAST                0 (x)</a:t>
            </a:r>
          </a:p>
          <a:p>
            <a:r>
              <a:rPr lang="en-GB" sz="1200" b="1" dirty="0"/>
              <a:t>             10 LOAD_FAST                1 (y)</a:t>
            </a:r>
          </a:p>
          <a:p>
            <a:r>
              <a:rPr lang="en-GB" sz="1200" b="1" dirty="0"/>
              <a:t>             12 BINARY_ADD</a:t>
            </a:r>
          </a:p>
          <a:p>
            <a:r>
              <a:rPr lang="en-GB" sz="1200" b="1" dirty="0"/>
              <a:t>             14 STORE_FAST               0 (x)</a:t>
            </a:r>
          </a:p>
          <a:p>
            <a:endParaRPr lang="en-GB" sz="1200" b="1" dirty="0"/>
          </a:p>
          <a:p>
            <a:r>
              <a:rPr lang="en-GB" sz="1200" b="1" dirty="0"/>
              <a:t>  5          16 LOAD_GLOBAL              0 (print)</a:t>
            </a:r>
          </a:p>
          <a:p>
            <a:r>
              <a:rPr lang="en-GB" sz="1200" b="1" dirty="0"/>
              <a:t>             18 LOAD_CONST               2 ('Total = ')</a:t>
            </a:r>
          </a:p>
          <a:p>
            <a:r>
              <a:rPr lang="en-GB" sz="1200" b="1" dirty="0"/>
              <a:t>             20 LOAD_FAST                0 (x)</a:t>
            </a:r>
          </a:p>
          <a:p>
            <a:r>
              <a:rPr lang="en-GB" sz="1200" b="1" dirty="0"/>
              <a:t>             22 CALL_FUNCTION            2</a:t>
            </a:r>
          </a:p>
          <a:p>
            <a:r>
              <a:rPr lang="en-GB" sz="1200" b="1" dirty="0"/>
              <a:t>             24 POP_TOP</a:t>
            </a:r>
          </a:p>
          <a:p>
            <a:r>
              <a:rPr lang="en-GB" sz="1200" b="1" dirty="0"/>
              <a:t>             26 LOAD_CONST               0 (None)</a:t>
            </a:r>
          </a:p>
          <a:p>
            <a:r>
              <a:rPr lang="en-GB" sz="1200" b="1" dirty="0"/>
              <a:t>             28 RETURN_VALUE</a:t>
            </a:r>
          </a:p>
        </p:txBody>
      </p:sp>
    </p:spTree>
    <p:extLst>
      <p:ext uri="{BB962C8B-B14F-4D97-AF65-F5344CB8AC3E}">
        <p14:creationId xmlns:p14="http://schemas.microsoft.com/office/powerpoint/2010/main" val="69807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 +, -, ++, --, %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2204864"/>
            <a:ext cx="1944216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def</a:t>
            </a:r>
            <a:r>
              <a:rPr lang="en-GB" dirty="0"/>
              <a:t> main():</a:t>
            </a:r>
          </a:p>
          <a:p>
            <a:r>
              <a:rPr lang="en-GB" dirty="0"/>
              <a:t>    a = 0</a:t>
            </a:r>
          </a:p>
          <a:p>
            <a:r>
              <a:rPr lang="en-GB" dirty="0"/>
              <a:t>    b = 1</a:t>
            </a:r>
          </a:p>
          <a:p>
            <a:r>
              <a:rPr lang="en-GB" dirty="0"/>
              <a:t>    a = a + 11</a:t>
            </a:r>
          </a:p>
          <a:p>
            <a:r>
              <a:rPr lang="en-GB" dirty="0"/>
              <a:t>    a = a - b</a:t>
            </a:r>
          </a:p>
          <a:p>
            <a:r>
              <a:rPr lang="en-GB" dirty="0"/>
              <a:t>    a-=1</a:t>
            </a:r>
          </a:p>
          <a:p>
            <a:r>
              <a:rPr lang="en-GB" dirty="0"/>
              <a:t>    b+=1</a:t>
            </a:r>
          </a:p>
          <a:p>
            <a:r>
              <a:rPr lang="en-GB" dirty="0"/>
              <a:t>    c=a*b</a:t>
            </a:r>
          </a:p>
          <a:p>
            <a:r>
              <a:rPr lang="en-GB" dirty="0"/>
              <a:t>    c=a/b</a:t>
            </a:r>
          </a:p>
          <a:p>
            <a:r>
              <a:rPr lang="en-GB" dirty="0"/>
              <a:t>    b = a % 3</a:t>
            </a:r>
          </a:p>
          <a:p>
            <a:endParaRPr lang="en-GB" dirty="0"/>
          </a:p>
          <a:p>
            <a:r>
              <a:rPr lang="en-GB" dirty="0"/>
              <a:t>main()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6515" y="1730566"/>
            <a:ext cx="2781211" cy="489364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anose="020B0606020202030204" pitchFamily="34" charset="0"/>
              </a:rPr>
              <a:t> 1           0 LOAD_CONST               0 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 2 LOAD_CONST               1 ('main')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 4 MAKE_FUNCTION            0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 6 STORE_NAME               0 (main)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12           8 LOAD_NAME                0 (main)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10 CALL_FUNCTION            0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12 POP_TOP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14 LOAD_CONST               2 (None)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16 RETURN_VALUE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2           0 LOAD_CONST               1 (0)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 2 STORE_FAST               0 (a)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3           4 LOAD_CONST               2 (1)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 6 STORE_FAST               1 (b)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4           8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10 LOAD_CONST               3 (11)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12 BINARY_ADD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14 STORE_FAST               0 (a)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5          16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18 LOAD_FAST                1 (b)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20 BINARY_SUBTRACT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22 STORE_FAST               0 (a</a:t>
            </a:r>
            <a:r>
              <a:rPr lang="en-GB" sz="1200" b="1" dirty="0" smtClean="0">
                <a:latin typeface="Arial Narrow" panose="020B0606020202030204" pitchFamily="34" charset="0"/>
              </a:rPr>
              <a:t>)</a:t>
            </a:r>
            <a:endParaRPr lang="en-GB" sz="12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56176" y="1362114"/>
            <a:ext cx="2759602" cy="526297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6          24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26 LOAD_CONST               2 (1)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28 INPLACE_SUBTRACT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30 STORE_FAST               0 (a)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7          32 LOAD_FAST                1 (b)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34 LOAD_CONST               2 (1)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36 INPLACE_ADD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38 STORE_FAST               1 (b)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8          40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42 LOAD_FAST                1 (b)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44 BINARY_MULTIPLY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46 STORE_FAST               2 (c)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 9          48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50 LOAD_FAST                1 (b)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52 BINARY_TRUE_DIVIDE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54 STORE_FAST               2 (c)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  <a:p>
            <a:r>
              <a:rPr lang="en-GB" sz="1200" b="1" dirty="0">
                <a:latin typeface="Arial Narrow" panose="020B0606020202030204" pitchFamily="34" charset="0"/>
              </a:rPr>
              <a:t> 10          56 LOAD_FAST                0 (a)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58 LOAD_CONST               4 (3)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60 BINARY_MODULO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62 STORE_FAST               1 (b)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64 LOAD_CONST               0 (None)</a:t>
            </a:r>
          </a:p>
          <a:p>
            <a:r>
              <a:rPr lang="en-GB" sz="1200" b="1" dirty="0">
                <a:latin typeface="Arial Narrow" panose="020B0606020202030204" pitchFamily="34" charset="0"/>
              </a:rPr>
              <a:t>             66 RETURN_VALUE</a:t>
            </a:r>
          </a:p>
          <a:p>
            <a:endParaRPr lang="en-GB" sz="12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62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</a:t>
            </a:r>
            <a:r>
              <a:rPr lang="en-GB" i="1" dirty="0"/>
              <a:t> </a:t>
            </a:r>
            <a:r>
              <a:rPr lang="en-GB" dirty="0"/>
              <a:t> </a:t>
            </a:r>
            <a:r>
              <a:rPr lang="en-GB" i="1" dirty="0"/>
              <a:t>if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2348880"/>
            <a:ext cx="3141886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x </a:t>
            </a:r>
            <a:r>
              <a:rPr lang="en-GB" dirty="0"/>
              <a:t>= 1;</a:t>
            </a:r>
          </a:p>
          <a:p>
            <a:r>
              <a:rPr lang="en-GB" dirty="0" smtClean="0"/>
              <a:t>y </a:t>
            </a:r>
            <a:r>
              <a:rPr lang="en-GB" dirty="0"/>
              <a:t>= 2;</a:t>
            </a:r>
          </a:p>
          <a:p>
            <a:r>
              <a:rPr lang="en-GB" b="1" dirty="0" smtClean="0"/>
              <a:t>If x </a:t>
            </a:r>
            <a:r>
              <a:rPr lang="en-GB" b="1" dirty="0"/>
              <a:t>== </a:t>
            </a:r>
            <a:r>
              <a:rPr lang="en-GB" b="1" dirty="0" smtClean="0"/>
              <a:t>y :</a:t>
            </a:r>
          </a:p>
          <a:p>
            <a:r>
              <a:rPr lang="en-GB" b="1" dirty="0" smtClean="0"/>
              <a:t>    </a:t>
            </a:r>
            <a:r>
              <a:rPr lang="pt-BR" dirty="0" smtClean="0"/>
              <a:t>print("</a:t>
            </a:r>
            <a:r>
              <a:rPr lang="pt-BR" dirty="0"/>
              <a:t>x equals y.\n");</a:t>
            </a:r>
          </a:p>
          <a:p>
            <a:r>
              <a:rPr lang="en-GB" dirty="0"/>
              <a:t>e</a:t>
            </a:r>
            <a:r>
              <a:rPr lang="en-GB" dirty="0" smtClean="0"/>
              <a:t>lse</a:t>
            </a:r>
            <a:r>
              <a:rPr lang="en-GB" dirty="0"/>
              <a:t>:</a:t>
            </a:r>
          </a:p>
          <a:p>
            <a:r>
              <a:rPr lang="en-GB" dirty="0" smtClean="0"/>
              <a:t>    print("</a:t>
            </a:r>
            <a:r>
              <a:rPr lang="en-GB" dirty="0"/>
              <a:t>x is not equal to y.\n</a:t>
            </a:r>
            <a:r>
              <a:rPr lang="en-GB" dirty="0" smtClean="0"/>
              <a:t>")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427984" y="1412776"/>
            <a:ext cx="4271169" cy="50475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>
                <a:latin typeface="Arial Narrow" panose="020B0606020202030204" pitchFamily="34" charset="0"/>
              </a:rPr>
              <a:t> 1           0 LOAD_CONST               0 (1)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2 STORE_NAME               0 (x)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2           4 LOAD_CONST               1 (2)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6 STORE_NAME               1 (y)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3           8 LOAD_NAME                0 (x)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10 LOAD_NAME                1 (y)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12 COMPARE_OP               2 (==)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14 POP_JUMP_IF_FALSE       26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4          16 LOAD_NAME                2 (print)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18 LOAD_CONST               2 ('x equals y.\n')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20 CALL_FUNCTION            1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22 POP_TOP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24 JUMP_FORWARD             8 (to 34)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6     &gt;&gt;   26 LOAD_NAME                2 (print)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28 LOAD_CONST               3 ('x is not equal to y.\n')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30 CALL_FUNCTION            1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32 POP_TOP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&gt;&gt;   34 LOAD_CONST               4 (None)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36 RETURN_VALUE</a:t>
            </a:r>
          </a:p>
        </p:txBody>
      </p:sp>
    </p:spTree>
    <p:extLst>
      <p:ext uri="{BB962C8B-B14F-4D97-AF65-F5344CB8AC3E}">
        <p14:creationId xmlns:p14="http://schemas.microsoft.com/office/powerpoint/2010/main" val="297031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for</a:t>
            </a:r>
            <a:r>
              <a:rPr lang="en-GB" dirty="0"/>
              <a:t> loop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644008" y="1628800"/>
            <a:ext cx="3451586" cy="37548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>
                <a:latin typeface="Arial Narrow" panose="020B0606020202030204" pitchFamily="34" charset="0"/>
              </a:rPr>
              <a:t> 3           0 SETUP_LOOP              26 (to 28)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2 LOAD_GLOBAL              0 (range)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4 LOAD_CONST               1 (100)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6 CALL_FUNCTION            1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 8 GET_ITER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&gt;&gt;   10 FOR_ITER                14 (to 26)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12 STORE_FAST               0 (</a:t>
            </a:r>
            <a:r>
              <a:rPr lang="en-GB" sz="1400" b="1" dirty="0" err="1">
                <a:latin typeface="Arial Narrow" panose="020B0606020202030204" pitchFamily="34" charset="0"/>
              </a:rPr>
              <a:t>i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4          14 LOAD_GLOBAL              1 (print)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16 LOAD_CONST               2 ('</a:t>
            </a:r>
            <a:r>
              <a:rPr lang="en-GB" sz="1400" b="1" dirty="0" err="1">
                <a:latin typeface="Arial Narrow" panose="020B0606020202030204" pitchFamily="34" charset="0"/>
              </a:rPr>
              <a:t>i</a:t>
            </a:r>
            <a:r>
              <a:rPr lang="en-GB" sz="1400" b="1" dirty="0">
                <a:latin typeface="Arial Narrow" panose="020B0606020202030204" pitchFamily="34" charset="0"/>
              </a:rPr>
              <a:t> equals 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18 LOAD_FAST                0 (</a:t>
            </a:r>
            <a:r>
              <a:rPr lang="en-GB" sz="1400" b="1" dirty="0" err="1">
                <a:latin typeface="Arial Narrow" panose="020B0606020202030204" pitchFamily="34" charset="0"/>
              </a:rPr>
              <a:t>i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20 CALL_FUNCTION            2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22 POP_TOP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24 JUMP_ABSOLUTE           10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&gt;&gt;   26 POP_BLOCK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&gt;&gt;   28 LOAD_CONST               0 (None)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30 RETURN_VALUE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2382272"/>
            <a:ext cx="287129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def</a:t>
            </a:r>
            <a:r>
              <a:rPr lang="en-GB" dirty="0"/>
              <a:t> main():</a:t>
            </a:r>
          </a:p>
          <a:p>
            <a:endParaRPr lang="en-GB" dirty="0"/>
          </a:p>
          <a:p>
            <a:r>
              <a:rPr lang="en-GB" dirty="0"/>
              <a:t>    for </a:t>
            </a:r>
            <a:r>
              <a:rPr lang="en-GB" dirty="0" err="1"/>
              <a:t>i</a:t>
            </a:r>
            <a:r>
              <a:rPr lang="en-GB" dirty="0"/>
              <a:t> in range(100):</a:t>
            </a:r>
          </a:p>
          <a:p>
            <a:r>
              <a:rPr lang="en-GB" dirty="0"/>
              <a:t>        print("</a:t>
            </a:r>
            <a:r>
              <a:rPr lang="en-GB" dirty="0" err="1"/>
              <a:t>i</a:t>
            </a:r>
            <a:r>
              <a:rPr lang="en-GB" dirty="0"/>
              <a:t> equals ", 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endParaRPr lang="en-GB" dirty="0"/>
          </a:p>
          <a:p>
            <a:r>
              <a:rPr lang="en-GB" dirty="0"/>
              <a:t>if __name__ == "__main__":</a:t>
            </a:r>
          </a:p>
          <a:p>
            <a:r>
              <a:rPr lang="en-GB" dirty="0"/>
              <a:t>    main()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95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2366302"/>
            <a:ext cx="3275127" cy="313932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import dis</a:t>
            </a:r>
          </a:p>
          <a:p>
            <a:endParaRPr lang="en-GB" dirty="0"/>
          </a:p>
          <a:p>
            <a:r>
              <a:rPr lang="en-GB" dirty="0" err="1"/>
              <a:t>def</a:t>
            </a:r>
            <a:r>
              <a:rPr lang="en-GB" dirty="0"/>
              <a:t> </a:t>
            </a:r>
            <a:r>
              <a:rPr lang="en-GB" dirty="0" err="1"/>
              <a:t>myfunc</a:t>
            </a:r>
            <a:r>
              <a:rPr lang="en-GB" dirty="0"/>
              <a:t>():</a:t>
            </a:r>
          </a:p>
          <a:p>
            <a:r>
              <a:rPr lang="en-GB" dirty="0"/>
              <a:t> </a:t>
            </a:r>
            <a:r>
              <a:rPr lang="en-GB" dirty="0" smtClean="0"/>
              <a:t>   #</a:t>
            </a:r>
            <a:r>
              <a:rPr lang="en-GB" dirty="0"/>
              <a:t>string</a:t>
            </a:r>
          </a:p>
          <a:p>
            <a:r>
              <a:rPr lang="en-GB" dirty="0"/>
              <a:t>    </a:t>
            </a:r>
            <a:r>
              <a:rPr lang="en-GB" dirty="0" err="1"/>
              <a:t>tmp_str</a:t>
            </a:r>
            <a:r>
              <a:rPr lang="en-GB" dirty="0"/>
              <a:t>=input("Enter string: ")</a:t>
            </a:r>
          </a:p>
          <a:p>
            <a:r>
              <a:rPr lang="en-GB" dirty="0"/>
              <a:t>    </a:t>
            </a:r>
            <a:r>
              <a:rPr lang="en-GB" dirty="0" err="1"/>
              <a:t>tmp_str</a:t>
            </a:r>
            <a:r>
              <a:rPr lang="en-GB" dirty="0"/>
              <a:t> = </a:t>
            </a:r>
            <a:r>
              <a:rPr lang="en-GB" dirty="0" err="1"/>
              <a:t>tmp_str</a:t>
            </a:r>
            <a:r>
              <a:rPr lang="en-GB" dirty="0"/>
              <a:t>[:-3] </a:t>
            </a:r>
          </a:p>
          <a:p>
            <a:r>
              <a:rPr lang="en-GB" dirty="0"/>
              <a:t>    </a:t>
            </a:r>
            <a:r>
              <a:rPr lang="en-GB" dirty="0" err="1"/>
              <a:t>tmp_str</a:t>
            </a:r>
            <a:r>
              <a:rPr lang="en-GB" dirty="0"/>
              <a:t> = </a:t>
            </a:r>
            <a:r>
              <a:rPr lang="en-GB" dirty="0" err="1"/>
              <a:t>tmp_str</a:t>
            </a:r>
            <a:r>
              <a:rPr lang="en-GB" dirty="0"/>
              <a:t>[-4:]</a:t>
            </a:r>
          </a:p>
          <a:p>
            <a:r>
              <a:rPr lang="en-GB" dirty="0"/>
              <a:t>    print(</a:t>
            </a:r>
            <a:r>
              <a:rPr lang="en-GB" dirty="0" err="1"/>
              <a:t>tmp_str</a:t>
            </a:r>
            <a:r>
              <a:rPr lang="en-GB" dirty="0"/>
              <a:t>)</a:t>
            </a:r>
          </a:p>
          <a:p>
            <a:r>
              <a:rPr lang="en-GB" dirty="0" smtClean="0"/>
              <a:t>    </a:t>
            </a:r>
            <a:endParaRPr lang="en-GB" dirty="0"/>
          </a:p>
          <a:p>
            <a:r>
              <a:rPr lang="en-GB" dirty="0"/>
              <a:t>if __name__ == '__main__':</a:t>
            </a:r>
          </a:p>
          <a:p>
            <a:r>
              <a:rPr lang="en-GB" dirty="0"/>
              <a:t>    </a:t>
            </a:r>
            <a:r>
              <a:rPr lang="en-GB" dirty="0" err="1"/>
              <a:t>myfunc</a:t>
            </a:r>
            <a:r>
              <a:rPr lang="en-GB" dirty="0"/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5446" y="1196752"/>
            <a:ext cx="3780202" cy="547842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 smtClean="0">
                <a:latin typeface="Arial Narrow" panose="020B0606020202030204" pitchFamily="34" charset="0"/>
              </a:rPr>
              <a:t>             12 </a:t>
            </a:r>
            <a:r>
              <a:rPr lang="en-GB" sz="1400" b="1" dirty="0">
                <a:latin typeface="Arial Narrow" panose="020B0606020202030204" pitchFamily="34" charset="0"/>
              </a:rPr>
              <a:t>LOAD_GLOBAL              0 (input)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14 LOAD_CONST               2 ('Enter string: 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16 CALL_FUNCTION            1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18 STORE_FAST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8          20 LOAD_FAST 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22 LOAD_CONST               0 (None)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24 LOAD_CONST               3 (-3)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26 BUILD_SLICE              2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28 BINARY_SUBSCR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30 STORE_FAST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9          32 LOAD_FAST 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34 LOAD_CONST               4 (-4)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36 LOAD_CONST               0 (None)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38 BUILD_SLICE              2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40 BINARY_SUBSCR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42 STORE_FAST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10          44 LOAD_GLOBAL              1 (print)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46 LOAD_FAST                2 (</a:t>
            </a:r>
            <a:r>
              <a:rPr lang="en-GB" sz="1400" b="1" dirty="0" err="1">
                <a:latin typeface="Arial Narrow" panose="020B0606020202030204" pitchFamily="34" charset="0"/>
              </a:rPr>
              <a:t>tmp_str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48 CALL_FUNCTION            1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50 POP_TOP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306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2590800"/>
            <a:ext cx="3912353" cy="286232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import dis</a:t>
            </a:r>
          </a:p>
          <a:p>
            <a:endParaRPr lang="en-GB" dirty="0"/>
          </a:p>
          <a:p>
            <a:r>
              <a:rPr lang="en-GB" dirty="0" err="1"/>
              <a:t>def</a:t>
            </a:r>
            <a:r>
              <a:rPr lang="en-GB" dirty="0"/>
              <a:t> </a:t>
            </a:r>
            <a:r>
              <a:rPr lang="en-GB" dirty="0" err="1"/>
              <a:t>myfunc</a:t>
            </a:r>
            <a:r>
              <a:rPr lang="en-GB" dirty="0"/>
              <a:t>():</a:t>
            </a:r>
          </a:p>
          <a:p>
            <a:r>
              <a:rPr lang="en-GB" dirty="0" smtClean="0"/>
              <a:t>	</a:t>
            </a:r>
            <a:endParaRPr lang="en-GB" dirty="0"/>
          </a:p>
          <a:p>
            <a:r>
              <a:rPr lang="en-GB" dirty="0"/>
              <a:t>    </a:t>
            </a:r>
            <a:r>
              <a:rPr lang="en-GB" dirty="0" err="1"/>
              <a:t>mylist</a:t>
            </a:r>
            <a:r>
              <a:rPr lang="en-GB" dirty="0"/>
              <a:t> = ["apple", "banana", "cherry"]</a:t>
            </a:r>
          </a:p>
          <a:p>
            <a:r>
              <a:rPr lang="en-GB" dirty="0"/>
              <a:t>    </a:t>
            </a:r>
            <a:r>
              <a:rPr lang="en-GB" dirty="0" err="1"/>
              <a:t>mylist.append</a:t>
            </a:r>
            <a:r>
              <a:rPr lang="en-GB" dirty="0"/>
              <a:t>("orange")</a:t>
            </a:r>
          </a:p>
          <a:p>
            <a:r>
              <a:rPr lang="en-GB" dirty="0"/>
              <a:t>    list(</a:t>
            </a:r>
            <a:r>
              <a:rPr lang="en-GB" dirty="0" err="1"/>
              <a:t>mylist</a:t>
            </a:r>
            <a:r>
              <a:rPr lang="en-GB" dirty="0"/>
              <a:t>)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if __name__ == '__main__':</a:t>
            </a:r>
          </a:p>
          <a:p>
            <a:r>
              <a:rPr lang="en-GB" dirty="0"/>
              <a:t>    </a:t>
            </a:r>
            <a:r>
              <a:rPr lang="en-GB" dirty="0" err="1"/>
              <a:t>myfunc</a:t>
            </a:r>
            <a:r>
              <a:rPr lang="en-GB" dirty="0"/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8024" y="1761045"/>
            <a:ext cx="3374642" cy="418576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b="1" dirty="0">
                <a:latin typeface="Arial Narrow" panose="020B0606020202030204" pitchFamily="34" charset="0"/>
              </a:rPr>
              <a:t>12        </a:t>
            </a:r>
            <a:r>
              <a:rPr lang="en-GB" sz="1400" b="1" dirty="0" smtClean="0">
                <a:latin typeface="Arial Narrow" panose="020B0606020202030204" pitchFamily="34" charset="0"/>
              </a:rPr>
              <a:t>52 </a:t>
            </a:r>
            <a:r>
              <a:rPr lang="en-GB" sz="1400" b="1" dirty="0">
                <a:latin typeface="Arial Narrow" panose="020B0606020202030204" pitchFamily="34" charset="0"/>
              </a:rPr>
              <a:t>LOAD_CONST               5 ('apple')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54 LOAD_CONST               6 ('banana')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56 LOAD_CONST               7 ('cherry')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58 BUILD_LIST  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    3</a:t>
            </a:r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60 STORE_FAST 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   </a:t>
            </a:r>
            <a:r>
              <a:rPr lang="en-GB" sz="1400" b="1" dirty="0">
                <a:latin typeface="Arial Narrow" panose="020B0606020202030204" pitchFamily="34" charset="0"/>
              </a:rPr>
              <a:t>3 (</a:t>
            </a:r>
            <a:r>
              <a:rPr lang="en-GB" sz="1400" b="1" dirty="0" err="1">
                <a:latin typeface="Arial Narrow" panose="020B0606020202030204" pitchFamily="34" charset="0"/>
              </a:rPr>
              <a:t>mylist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13      </a:t>
            </a:r>
            <a:r>
              <a:rPr lang="en-GB" sz="1400" b="1" dirty="0" smtClean="0">
                <a:latin typeface="Arial Narrow" panose="020B0606020202030204" pitchFamily="34" charset="0"/>
              </a:rPr>
              <a:t> </a:t>
            </a:r>
            <a:r>
              <a:rPr lang="en-GB" sz="1400" b="1" dirty="0">
                <a:latin typeface="Arial Narrow" panose="020B0606020202030204" pitchFamily="34" charset="0"/>
              </a:rPr>
              <a:t>62 LOAD_FAST   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   3 </a:t>
            </a:r>
            <a:r>
              <a:rPr lang="en-GB" sz="1400" b="1" dirty="0">
                <a:latin typeface="Arial Narrow" panose="020B0606020202030204" pitchFamily="34" charset="0"/>
              </a:rPr>
              <a:t>(</a:t>
            </a:r>
            <a:r>
              <a:rPr lang="en-GB" sz="1400" b="1" dirty="0" err="1">
                <a:latin typeface="Arial Narrow" panose="020B0606020202030204" pitchFamily="34" charset="0"/>
              </a:rPr>
              <a:t>mylist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64 LOAD_METHOD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2 </a:t>
            </a:r>
            <a:r>
              <a:rPr lang="en-GB" sz="1400" b="1" dirty="0">
                <a:latin typeface="Arial Narrow" panose="020B0606020202030204" pitchFamily="34" charset="0"/>
              </a:rPr>
              <a:t>(append)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66 LOAD_CONST               8 ('orange')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68 CALL_METHOD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1</a:t>
            </a:r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70 POP_TOP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14      </a:t>
            </a:r>
            <a:r>
              <a:rPr lang="en-GB" sz="1400" b="1" dirty="0" smtClean="0">
                <a:latin typeface="Arial Narrow" panose="020B0606020202030204" pitchFamily="34" charset="0"/>
              </a:rPr>
              <a:t> </a:t>
            </a:r>
            <a:r>
              <a:rPr lang="en-GB" sz="1400" b="1" dirty="0">
                <a:latin typeface="Arial Narrow" panose="020B0606020202030204" pitchFamily="34" charset="0"/>
              </a:rPr>
              <a:t>72 LOAD_GLOBAL              3 (list)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74 LOAD_FAST   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    3 </a:t>
            </a:r>
            <a:r>
              <a:rPr lang="en-GB" sz="1400" b="1" dirty="0">
                <a:latin typeface="Arial Narrow" panose="020B0606020202030204" pitchFamily="34" charset="0"/>
              </a:rPr>
              <a:t>(</a:t>
            </a:r>
            <a:r>
              <a:rPr lang="en-GB" sz="1400" b="1" dirty="0" err="1">
                <a:latin typeface="Arial Narrow" panose="020B0606020202030204" pitchFamily="34" charset="0"/>
              </a:rPr>
              <a:t>mylist</a:t>
            </a:r>
            <a:r>
              <a:rPr lang="en-GB" sz="1400" b="1" dirty="0">
                <a:latin typeface="Arial Narrow" panose="020B0606020202030204" pitchFamily="34" charset="0"/>
              </a:rPr>
              <a:t>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76 CALL_FUNCTION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1</a:t>
            </a:r>
            <a:endParaRPr lang="en-GB" sz="1400" b="1" dirty="0">
              <a:latin typeface="Arial Narrow" panose="020B0606020202030204" pitchFamily="34" charset="0"/>
            </a:endParaRP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78 POP_TOP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80 LOAD_CONST              </a:t>
            </a:r>
            <a:r>
              <a:rPr lang="en-GB" sz="1400" b="1" dirty="0" smtClean="0">
                <a:latin typeface="Arial Narrow" panose="020B0606020202030204" pitchFamily="34" charset="0"/>
              </a:rPr>
              <a:t>  </a:t>
            </a:r>
            <a:r>
              <a:rPr lang="en-GB" sz="1400" b="1" dirty="0">
                <a:latin typeface="Arial Narrow" panose="020B0606020202030204" pitchFamily="34" charset="0"/>
              </a:rPr>
              <a:t>0 (None)</a:t>
            </a:r>
          </a:p>
          <a:p>
            <a:r>
              <a:rPr lang="en-GB" sz="1400" b="1" dirty="0">
                <a:latin typeface="Arial Narrow" panose="020B0606020202030204" pitchFamily="34" charset="0"/>
              </a:rPr>
              <a:t>             82 RETURN_VALUE</a:t>
            </a:r>
          </a:p>
          <a:p>
            <a:endParaRPr lang="en-GB" sz="14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93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1244</Words>
  <Application>Microsoft Office PowerPoint</Application>
  <PresentationFormat>On-screen Show (4:3)</PresentationFormat>
  <Paragraphs>268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Recognizing Python structure</vt:lpstr>
      <vt:lpstr>Local &amp; global variables</vt:lpstr>
      <vt:lpstr>Operation +, -, ++, --, %</vt:lpstr>
      <vt:lpstr>Condition  if</vt:lpstr>
      <vt:lpstr>for loop</vt:lpstr>
      <vt:lpstr>String</vt:lpstr>
      <vt:lpstr>List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Recognizing Python structure</dc:title>
  <dc:creator>trantheson</dc:creator>
  <cp:lastModifiedBy>tran the son</cp:lastModifiedBy>
  <cp:revision>2</cp:revision>
  <dcterms:created xsi:type="dcterms:W3CDTF">2006-08-16T00:00:00Z</dcterms:created>
  <dcterms:modified xsi:type="dcterms:W3CDTF">2024-05-18T03:23:30Z</dcterms:modified>
</cp:coreProperties>
</file>