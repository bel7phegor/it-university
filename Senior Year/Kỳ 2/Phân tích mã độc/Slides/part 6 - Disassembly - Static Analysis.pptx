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4"/>
  </p:notesMasterIdLst>
  <p:sldIdLst>
    <p:sldId id="287" r:id="rId3"/>
    <p:sldId id="258" r:id="rId4"/>
    <p:sldId id="259" r:id="rId5"/>
    <p:sldId id="257"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64" autoAdjust="0"/>
  </p:normalViewPr>
  <p:slideViewPr>
    <p:cSldViewPr>
      <p:cViewPr varScale="1">
        <p:scale>
          <a:sx n="80" d="100"/>
          <a:sy n="80" d="100"/>
        </p:scale>
        <p:origin x="-1875" y="-7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7AA737-6E0F-439E-A7A7-C1048740C76A}" type="datetimeFigureOut">
              <a:rPr lang="en-US" smtClean="0"/>
              <a:t>12/8/2022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7FD3E5-FD98-4E32-875A-AC75551AC3E2}" type="slidenum">
              <a:rPr lang="en-US" smtClean="0"/>
              <a:t>‹#›</a:t>
            </a:fld>
            <a:endParaRPr lang="en-US"/>
          </a:p>
        </p:txBody>
      </p:sp>
    </p:spTree>
    <p:extLst>
      <p:ext uri="{BB962C8B-B14F-4D97-AF65-F5344CB8AC3E}">
        <p14:creationId xmlns:p14="http://schemas.microsoft.com/office/powerpoint/2010/main" val="2213400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a:t>
            </a:fld>
            <a:endParaRPr lang="en-GB">
              <a:solidFill>
                <a:prstClr val="black"/>
              </a:solidFill>
            </a:endParaRPr>
          </a:p>
        </p:txBody>
      </p:sp>
    </p:spTree>
    <p:extLst>
      <p:ext uri="{BB962C8B-B14F-4D97-AF65-F5344CB8AC3E}">
        <p14:creationId xmlns:p14="http://schemas.microsoft.com/office/powerpoint/2010/main" val="2862845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4</a:t>
            </a:fld>
            <a:endParaRPr lang="en-GB">
              <a:solidFill>
                <a:prstClr val="black"/>
              </a:solidFill>
            </a:endParaRPr>
          </a:p>
        </p:txBody>
      </p:sp>
    </p:spTree>
    <p:extLst>
      <p:ext uri="{BB962C8B-B14F-4D97-AF65-F5344CB8AC3E}">
        <p14:creationId xmlns:p14="http://schemas.microsoft.com/office/powerpoint/2010/main" val="3878871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kern="1200" baseline="0" dirty="0" smtClean="0">
                <a:solidFill>
                  <a:schemeClr val="tx1"/>
                </a:solidFill>
                <a:latin typeface="+mn-lt"/>
                <a:ea typeface="+mn-ea"/>
                <a:cs typeface="+mn-cs"/>
              </a:rPr>
              <a:t>Data </a:t>
            </a:r>
            <a:r>
              <a:rPr lang="en-GB" sz="1200" b="0" i="0" u="none" strike="noStrike" kern="1200" baseline="0" dirty="0" smtClean="0">
                <a:solidFill>
                  <a:schemeClr val="tx1"/>
                </a:solidFill>
                <a:latin typeface="+mn-lt"/>
                <a:ea typeface="+mn-ea"/>
                <a:cs typeface="+mn-cs"/>
              </a:rPr>
              <a:t>This term can be used to refer to a specific section of memory called the </a:t>
            </a:r>
            <a:r>
              <a:rPr lang="en-GB" sz="1200" b="0" i="1" u="none" strike="noStrike" kern="1200" baseline="0" dirty="0" smtClean="0">
                <a:solidFill>
                  <a:schemeClr val="tx1"/>
                </a:solidFill>
                <a:latin typeface="+mn-lt"/>
                <a:ea typeface="+mn-ea"/>
                <a:cs typeface="+mn-cs"/>
              </a:rPr>
              <a:t>data section</a:t>
            </a:r>
            <a:r>
              <a:rPr lang="en-GB" sz="1200" b="0" i="0" u="none" strike="noStrike" kern="1200" baseline="0" dirty="0" smtClean="0">
                <a:solidFill>
                  <a:schemeClr val="tx1"/>
                </a:solidFill>
                <a:latin typeface="+mn-lt"/>
                <a:ea typeface="+mn-ea"/>
                <a:cs typeface="+mn-cs"/>
              </a:rPr>
              <a:t>, which contains values that are put in place when a program is initially loaded. These values are sometimes called </a:t>
            </a:r>
            <a:r>
              <a:rPr lang="en-GB" sz="1200" b="0" i="1" u="none" strike="noStrike" kern="1200" baseline="0" dirty="0" smtClean="0">
                <a:solidFill>
                  <a:schemeClr val="tx1"/>
                </a:solidFill>
                <a:latin typeface="+mn-lt"/>
                <a:ea typeface="+mn-ea"/>
                <a:cs typeface="+mn-cs"/>
              </a:rPr>
              <a:t>static </a:t>
            </a:r>
            <a:r>
              <a:rPr lang="en-GB" sz="1200" b="0" i="0" u="none" strike="noStrike" kern="1200" baseline="0" dirty="0" smtClean="0">
                <a:solidFill>
                  <a:schemeClr val="tx1"/>
                </a:solidFill>
                <a:latin typeface="+mn-lt"/>
                <a:ea typeface="+mn-ea"/>
                <a:cs typeface="+mn-cs"/>
              </a:rPr>
              <a:t>values because they may not change while the program is running, or they may be called </a:t>
            </a:r>
            <a:r>
              <a:rPr lang="en-GB" sz="1200" b="0" i="1" u="none" strike="noStrike" kern="1200" baseline="0" dirty="0" smtClean="0">
                <a:solidFill>
                  <a:schemeClr val="tx1"/>
                </a:solidFill>
                <a:latin typeface="+mn-lt"/>
                <a:ea typeface="+mn-ea"/>
                <a:cs typeface="+mn-cs"/>
              </a:rPr>
              <a:t>global </a:t>
            </a:r>
            <a:r>
              <a:rPr lang="en-GB" sz="1200" b="0" i="0" u="none" strike="noStrike" kern="1200" baseline="0" dirty="0" smtClean="0">
                <a:solidFill>
                  <a:schemeClr val="tx1"/>
                </a:solidFill>
                <a:latin typeface="+mn-lt"/>
                <a:ea typeface="+mn-ea"/>
                <a:cs typeface="+mn-cs"/>
              </a:rPr>
              <a:t>values because they are available to any part of the program.</a:t>
            </a:r>
          </a:p>
          <a:p>
            <a:r>
              <a:rPr lang="en-GB" sz="1200" b="1" i="0" u="none" strike="noStrike" kern="1200" baseline="0" dirty="0" smtClean="0">
                <a:solidFill>
                  <a:schemeClr val="tx1"/>
                </a:solidFill>
                <a:latin typeface="+mn-lt"/>
                <a:ea typeface="+mn-ea"/>
                <a:cs typeface="+mn-cs"/>
              </a:rPr>
              <a:t>Code </a:t>
            </a:r>
            <a:r>
              <a:rPr lang="en-GB" sz="1200" b="0" i="0" u="none" strike="noStrike" kern="1200" baseline="0" dirty="0" err="1" smtClean="0">
                <a:solidFill>
                  <a:schemeClr val="tx1"/>
                </a:solidFill>
                <a:latin typeface="+mn-lt"/>
                <a:ea typeface="+mn-ea"/>
                <a:cs typeface="+mn-cs"/>
              </a:rPr>
              <a:t>Code</a:t>
            </a:r>
            <a:r>
              <a:rPr lang="en-GB" sz="1200" b="0" i="0" u="none" strike="noStrike" kern="1200" baseline="0" dirty="0" smtClean="0">
                <a:solidFill>
                  <a:schemeClr val="tx1"/>
                </a:solidFill>
                <a:latin typeface="+mn-lt"/>
                <a:ea typeface="+mn-ea"/>
                <a:cs typeface="+mn-cs"/>
              </a:rPr>
              <a:t> includes the instructions fetched by the CPU to execute the program’s tasks. The code controls what the program does and how the program’s tasks will be orchestrated.</a:t>
            </a:r>
          </a:p>
          <a:p>
            <a:r>
              <a:rPr lang="en-GB" sz="1200" b="1" i="0" u="none" strike="noStrike" kern="1200" baseline="0" dirty="0" smtClean="0">
                <a:solidFill>
                  <a:schemeClr val="tx1"/>
                </a:solidFill>
                <a:latin typeface="+mn-lt"/>
                <a:ea typeface="+mn-ea"/>
                <a:cs typeface="+mn-cs"/>
              </a:rPr>
              <a:t>Heap </a:t>
            </a:r>
            <a:r>
              <a:rPr lang="en-GB" sz="1200" b="0" i="0" u="none" strike="noStrike" kern="1200" baseline="0" dirty="0" smtClean="0">
                <a:solidFill>
                  <a:schemeClr val="tx1"/>
                </a:solidFill>
                <a:latin typeface="+mn-lt"/>
                <a:ea typeface="+mn-ea"/>
                <a:cs typeface="+mn-cs"/>
              </a:rPr>
              <a:t>The heap is used for dynamic memory during program execution, to create (allocate) new values and eliminate (free) values that the program</a:t>
            </a:r>
          </a:p>
          <a:p>
            <a:r>
              <a:rPr lang="en-GB" sz="1200" b="0" i="0" u="none" strike="noStrike" kern="1200" baseline="0" dirty="0" smtClean="0">
                <a:solidFill>
                  <a:schemeClr val="tx1"/>
                </a:solidFill>
                <a:latin typeface="+mn-lt"/>
                <a:ea typeface="+mn-ea"/>
                <a:cs typeface="+mn-cs"/>
              </a:rPr>
              <a:t>no longer needs. The heap is referred to as </a:t>
            </a:r>
            <a:r>
              <a:rPr lang="en-GB" sz="1200" b="0" i="1" u="none" strike="noStrike" kern="1200" baseline="0" dirty="0" smtClean="0">
                <a:solidFill>
                  <a:schemeClr val="tx1"/>
                </a:solidFill>
                <a:latin typeface="+mn-lt"/>
                <a:ea typeface="+mn-ea"/>
                <a:cs typeface="+mn-cs"/>
              </a:rPr>
              <a:t>dynamic memory </a:t>
            </a:r>
            <a:r>
              <a:rPr lang="en-GB" sz="1200" b="0" i="0" u="none" strike="noStrike" kern="1200" baseline="0" dirty="0" smtClean="0">
                <a:solidFill>
                  <a:schemeClr val="tx1"/>
                </a:solidFill>
                <a:latin typeface="+mn-lt"/>
                <a:ea typeface="+mn-ea"/>
                <a:cs typeface="+mn-cs"/>
              </a:rPr>
              <a:t>because its contents can change frequently while the program is running.</a:t>
            </a:r>
          </a:p>
          <a:p>
            <a:r>
              <a:rPr lang="en-GB" sz="1200" b="1" i="0" u="none" strike="noStrike" kern="1200" baseline="0" dirty="0" smtClean="0">
                <a:solidFill>
                  <a:schemeClr val="tx1"/>
                </a:solidFill>
                <a:latin typeface="+mn-lt"/>
                <a:ea typeface="+mn-ea"/>
                <a:cs typeface="+mn-cs"/>
              </a:rPr>
              <a:t>Stack </a:t>
            </a:r>
            <a:r>
              <a:rPr lang="en-GB" sz="1200" b="0" i="0" u="none" strike="noStrike" kern="1200" baseline="0" dirty="0" smtClean="0">
                <a:solidFill>
                  <a:schemeClr val="tx1"/>
                </a:solidFill>
                <a:latin typeface="+mn-lt"/>
                <a:ea typeface="+mn-ea"/>
                <a:cs typeface="+mn-cs"/>
              </a:rPr>
              <a:t>The stack is used for local variables and parameters for functions, and to help control program flow. </a:t>
            </a:r>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6</a:t>
            </a:fld>
            <a:endParaRPr lang="en-GB">
              <a:solidFill>
                <a:prstClr val="black"/>
              </a:solidFill>
            </a:endParaRPr>
          </a:p>
        </p:txBody>
      </p:sp>
    </p:spTree>
    <p:extLst>
      <p:ext uri="{BB962C8B-B14F-4D97-AF65-F5344CB8AC3E}">
        <p14:creationId xmlns:p14="http://schemas.microsoft.com/office/powerpoint/2010/main" val="939410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0" i="1" u="none" strike="noStrike" kern="1200" baseline="0" dirty="0" smtClean="0">
                <a:solidFill>
                  <a:schemeClr val="tx1"/>
                </a:solidFill>
                <a:latin typeface="+mn-lt"/>
                <a:ea typeface="+mn-ea"/>
                <a:cs typeface="+mn-cs"/>
              </a:rPr>
              <a:t>. General registers </a:t>
            </a:r>
            <a:r>
              <a:rPr lang="en-GB" sz="1200" b="0" i="0" u="none" strike="noStrike" kern="1200" baseline="0" dirty="0" smtClean="0">
                <a:solidFill>
                  <a:schemeClr val="tx1"/>
                </a:solidFill>
                <a:latin typeface="+mn-lt"/>
                <a:ea typeface="+mn-ea"/>
                <a:cs typeface="+mn-cs"/>
              </a:rPr>
              <a:t>are used by the CPU during execution (AX: accumulator; DX: double word accumulator; CX: counter; BX: base register; SI-DI: source-destination index).</a:t>
            </a:r>
          </a:p>
          <a:p>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Segment registers </a:t>
            </a:r>
            <a:r>
              <a:rPr lang="en-GB" sz="1200" b="0" i="0" u="none" strike="noStrike" kern="1200" baseline="0" dirty="0" smtClean="0">
                <a:solidFill>
                  <a:schemeClr val="tx1"/>
                </a:solidFill>
                <a:latin typeface="+mn-lt"/>
                <a:ea typeface="+mn-ea"/>
                <a:cs typeface="+mn-cs"/>
              </a:rPr>
              <a:t>are used to track sections of memory.</a:t>
            </a:r>
          </a:p>
          <a:p>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Status flags </a:t>
            </a:r>
            <a:r>
              <a:rPr lang="en-GB" sz="1200" b="0" i="0" u="none" strike="noStrike" kern="1200" baseline="0" dirty="0" smtClean="0">
                <a:solidFill>
                  <a:schemeClr val="tx1"/>
                </a:solidFill>
                <a:latin typeface="+mn-lt"/>
                <a:ea typeface="+mn-ea"/>
                <a:cs typeface="+mn-cs"/>
              </a:rPr>
              <a:t>are used to make decisions.</a:t>
            </a:r>
          </a:p>
          <a:p>
            <a:r>
              <a:rPr lang="en-GB" sz="1200" b="0" i="0" u="none" strike="noStrike" kern="1200" baseline="0" dirty="0" smtClean="0">
                <a:solidFill>
                  <a:schemeClr val="tx1"/>
                </a:solidFill>
                <a:latin typeface="+mn-lt"/>
                <a:ea typeface="+mn-ea"/>
                <a:cs typeface="+mn-cs"/>
              </a:rPr>
              <a:t> </a:t>
            </a:r>
            <a:r>
              <a:rPr lang="en-GB" sz="1200" b="0" i="1" u="none" strike="noStrike" kern="1200" baseline="0" dirty="0" smtClean="0">
                <a:solidFill>
                  <a:schemeClr val="tx1"/>
                </a:solidFill>
                <a:latin typeface="+mn-lt"/>
                <a:ea typeface="+mn-ea"/>
                <a:cs typeface="+mn-cs"/>
              </a:rPr>
              <a:t>Instruction pointers </a:t>
            </a:r>
            <a:r>
              <a:rPr lang="en-GB" sz="1200" b="0" i="0" u="none" strike="noStrike" kern="1200" baseline="0" dirty="0" smtClean="0">
                <a:solidFill>
                  <a:schemeClr val="tx1"/>
                </a:solidFill>
                <a:latin typeface="+mn-lt"/>
                <a:ea typeface="+mn-ea"/>
                <a:cs typeface="+mn-cs"/>
              </a:rPr>
              <a:t>are used to keep track of the next instruction to execute.</a:t>
            </a:r>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435859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12</a:t>
            </a:fld>
            <a:endParaRPr lang="en-GB">
              <a:solidFill>
                <a:prstClr val="black"/>
              </a:solidFill>
            </a:endParaRPr>
          </a:p>
        </p:txBody>
      </p:sp>
    </p:spTree>
    <p:extLst>
      <p:ext uri="{BB962C8B-B14F-4D97-AF65-F5344CB8AC3E}">
        <p14:creationId xmlns:p14="http://schemas.microsoft.com/office/powerpoint/2010/main" val="2779435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16</a:t>
            </a:fld>
            <a:endParaRPr lang="en-GB">
              <a:solidFill>
                <a:prstClr val="black"/>
              </a:solidFill>
            </a:endParaRPr>
          </a:p>
        </p:txBody>
      </p:sp>
    </p:spTree>
    <p:extLst>
      <p:ext uri="{BB962C8B-B14F-4D97-AF65-F5344CB8AC3E}">
        <p14:creationId xmlns:p14="http://schemas.microsoft.com/office/powerpoint/2010/main" val="3461184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Enter: setup</a:t>
            </a:r>
            <a:r>
              <a:rPr lang="en-GB" baseline="0" dirty="0" smtClean="0"/>
              <a:t> a new stack frame for a procedure</a:t>
            </a:r>
          </a:p>
          <a:p>
            <a:r>
              <a:rPr lang="en-GB" baseline="0" dirty="0" smtClean="0"/>
              <a:t>Leave: used at the end of the procedure (just before the RET instruction) to release the stack frame (pop EBP off, set ESP = EBP).</a:t>
            </a:r>
          </a:p>
          <a:p>
            <a:r>
              <a:rPr lang="en-GB" baseline="0" dirty="0" smtClean="0"/>
              <a:t>Ret: return the calling function (pop Return </a:t>
            </a:r>
            <a:r>
              <a:rPr lang="en-GB" baseline="0" dirty="0" err="1" smtClean="0"/>
              <a:t>addr</a:t>
            </a:r>
            <a:r>
              <a:rPr lang="en-GB" baseline="0" dirty="0" smtClean="0"/>
              <a:t> </a:t>
            </a:r>
            <a:r>
              <a:rPr lang="en-GB" baseline="0" dirty="0" smtClean="0">
                <a:sym typeface="Wingdings" panose="05000000000000000000" pitchFamily="2" charset="2"/>
              </a:rPr>
              <a:t> EIP)</a:t>
            </a:r>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18</a:t>
            </a:fld>
            <a:endParaRPr lang="en-GB">
              <a:solidFill>
                <a:prstClr val="black"/>
              </a:solidFill>
            </a:endParaRPr>
          </a:p>
        </p:txBody>
      </p:sp>
    </p:spTree>
    <p:extLst>
      <p:ext uri="{BB962C8B-B14F-4D97-AF65-F5344CB8AC3E}">
        <p14:creationId xmlns:p14="http://schemas.microsoft.com/office/powerpoint/2010/main" val="2780278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19</a:t>
            </a:fld>
            <a:endParaRPr lang="en-GB">
              <a:solidFill>
                <a:prstClr val="black"/>
              </a:solidFill>
            </a:endParaRPr>
          </a:p>
        </p:txBody>
      </p:sp>
    </p:spTree>
    <p:extLst>
      <p:ext uri="{BB962C8B-B14F-4D97-AF65-F5344CB8AC3E}">
        <p14:creationId xmlns:p14="http://schemas.microsoft.com/office/powerpoint/2010/main" val="215955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20</a:t>
            </a:fld>
            <a:endParaRPr lang="en-GB">
              <a:solidFill>
                <a:prstClr val="black"/>
              </a:solidFill>
            </a:endParaRPr>
          </a:p>
        </p:txBody>
      </p:sp>
    </p:spTree>
    <p:extLst>
      <p:ext uri="{BB962C8B-B14F-4D97-AF65-F5344CB8AC3E}">
        <p14:creationId xmlns:p14="http://schemas.microsoft.com/office/powerpoint/2010/main" val="390399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21</a:t>
            </a:fld>
            <a:endParaRPr lang="en-GB">
              <a:solidFill>
                <a:prstClr val="black"/>
              </a:solidFill>
            </a:endParaRPr>
          </a:p>
        </p:txBody>
      </p:sp>
    </p:spTree>
    <p:extLst>
      <p:ext uri="{BB962C8B-B14F-4D97-AF65-F5344CB8AC3E}">
        <p14:creationId xmlns:p14="http://schemas.microsoft.com/office/powerpoint/2010/main" val="3612683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22</a:t>
            </a:fld>
            <a:endParaRPr lang="en-GB">
              <a:solidFill>
                <a:prstClr val="black"/>
              </a:solidFill>
            </a:endParaRPr>
          </a:p>
        </p:txBody>
      </p:sp>
    </p:spTree>
    <p:extLst>
      <p:ext uri="{BB962C8B-B14F-4D97-AF65-F5344CB8AC3E}">
        <p14:creationId xmlns:p14="http://schemas.microsoft.com/office/powerpoint/2010/main" val="3441846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0" i="0" kern="1200" dirty="0" err="1" smtClean="0">
                <a:solidFill>
                  <a:schemeClr val="tx1"/>
                </a:solidFill>
                <a:effectLst/>
                <a:latin typeface="+mn-lt"/>
                <a:ea typeface="+mn-ea"/>
                <a:cs typeface="+mn-cs"/>
              </a:rPr>
              <a:t>argv</a:t>
            </a:r>
            <a:r>
              <a:rPr lang="en-GB" sz="1200" b="0" i="0" kern="1200" dirty="0" smtClean="0">
                <a:solidFill>
                  <a:schemeClr val="tx1"/>
                </a:solidFill>
                <a:effectLst/>
                <a:latin typeface="+mn-lt"/>
                <a:ea typeface="+mn-ea"/>
                <a:cs typeface="+mn-cs"/>
              </a:rPr>
              <a:t> stands for </a:t>
            </a:r>
            <a:r>
              <a:rPr lang="en-GB" sz="1200" b="1" i="1" kern="1200" dirty="0" smtClean="0">
                <a:solidFill>
                  <a:schemeClr val="tx1"/>
                </a:solidFill>
                <a:effectLst/>
                <a:latin typeface="+mn-lt"/>
                <a:ea typeface="+mn-ea"/>
                <a:cs typeface="+mn-cs"/>
              </a:rPr>
              <a:t>arg</a:t>
            </a:r>
            <a:r>
              <a:rPr lang="en-GB" sz="1200" b="0" i="1" kern="1200" dirty="0" smtClean="0">
                <a:solidFill>
                  <a:schemeClr val="tx1"/>
                </a:solidFill>
                <a:effectLst/>
                <a:latin typeface="+mn-lt"/>
                <a:ea typeface="+mn-ea"/>
                <a:cs typeface="+mn-cs"/>
              </a:rPr>
              <a:t>ument </a:t>
            </a:r>
            <a:r>
              <a:rPr lang="en-GB" sz="1200" b="1" i="1" kern="1200" dirty="0" smtClean="0">
                <a:solidFill>
                  <a:schemeClr val="tx1"/>
                </a:solidFill>
                <a:effectLst/>
                <a:latin typeface="+mn-lt"/>
                <a:ea typeface="+mn-ea"/>
                <a:cs typeface="+mn-cs"/>
              </a:rPr>
              <a:t>v</a:t>
            </a:r>
            <a:r>
              <a:rPr lang="en-GB" sz="1200" b="0" i="1" kern="1200" dirty="0" smtClean="0">
                <a:solidFill>
                  <a:schemeClr val="tx1"/>
                </a:solidFill>
                <a:effectLst/>
                <a:latin typeface="+mn-lt"/>
                <a:ea typeface="+mn-ea"/>
                <a:cs typeface="+mn-cs"/>
              </a:rPr>
              <a:t>ector</a:t>
            </a:r>
            <a:endParaRPr lang="en-GB" sz="1200" b="0" i="0" kern="1200" dirty="0" smtClean="0">
              <a:solidFill>
                <a:schemeClr val="tx1"/>
              </a:solidFill>
              <a:effectLst/>
              <a:latin typeface="+mn-lt"/>
              <a:ea typeface="+mn-ea"/>
              <a:cs typeface="+mn-cs"/>
            </a:endParaRPr>
          </a:p>
          <a:p>
            <a:pPr fontAlgn="base"/>
            <a:r>
              <a:rPr lang="en-GB" sz="1200" b="0" i="0" kern="1200" dirty="0" err="1" smtClean="0">
                <a:solidFill>
                  <a:schemeClr val="tx1"/>
                </a:solidFill>
                <a:effectLst/>
                <a:latin typeface="+mn-lt"/>
                <a:ea typeface="+mn-ea"/>
                <a:cs typeface="+mn-cs"/>
              </a:rPr>
              <a:t>argc</a:t>
            </a:r>
            <a:r>
              <a:rPr lang="en-GB" sz="1200" b="0" i="0" kern="1200" dirty="0" smtClean="0">
                <a:solidFill>
                  <a:schemeClr val="tx1"/>
                </a:solidFill>
                <a:effectLst/>
                <a:latin typeface="+mn-lt"/>
                <a:ea typeface="+mn-ea"/>
                <a:cs typeface="+mn-cs"/>
              </a:rPr>
              <a:t> for </a:t>
            </a:r>
            <a:r>
              <a:rPr lang="en-GB" sz="1200" b="1" i="1" kern="1200" dirty="0" smtClean="0">
                <a:solidFill>
                  <a:schemeClr val="tx1"/>
                </a:solidFill>
                <a:effectLst/>
                <a:latin typeface="+mn-lt"/>
                <a:ea typeface="+mn-ea"/>
                <a:cs typeface="+mn-cs"/>
              </a:rPr>
              <a:t>arg</a:t>
            </a:r>
            <a:r>
              <a:rPr lang="en-GB" sz="1200" b="0" i="1" kern="1200" dirty="0" smtClean="0">
                <a:solidFill>
                  <a:schemeClr val="tx1"/>
                </a:solidFill>
                <a:effectLst/>
                <a:latin typeface="+mn-lt"/>
                <a:ea typeface="+mn-ea"/>
                <a:cs typeface="+mn-cs"/>
              </a:rPr>
              <a:t>ument </a:t>
            </a:r>
            <a:r>
              <a:rPr lang="en-GB" sz="1200" b="1" i="1" kern="1200" dirty="0" smtClean="0">
                <a:solidFill>
                  <a:schemeClr val="tx1"/>
                </a:solidFill>
                <a:effectLst/>
                <a:latin typeface="+mn-lt"/>
                <a:ea typeface="+mn-ea"/>
                <a:cs typeface="+mn-cs"/>
              </a:rPr>
              <a:t>c</a:t>
            </a:r>
            <a:r>
              <a:rPr lang="en-GB" sz="1200" b="0" i="1" kern="1200" dirty="0" smtClean="0">
                <a:solidFill>
                  <a:schemeClr val="tx1"/>
                </a:solidFill>
                <a:effectLst/>
                <a:latin typeface="+mn-lt"/>
                <a:ea typeface="+mn-ea"/>
                <a:cs typeface="+mn-cs"/>
              </a:rPr>
              <a:t>ount</a:t>
            </a:r>
            <a:r>
              <a:rPr lang="en-GB" sz="1200" b="0" i="0" kern="1200" dirty="0" smtClean="0">
                <a:solidFill>
                  <a:schemeClr val="tx1"/>
                </a:solidFill>
                <a:effectLst/>
                <a:latin typeface="+mn-lt"/>
                <a:ea typeface="+mn-ea"/>
                <a:cs typeface="+mn-cs"/>
              </a:rPr>
              <a:t>, and</a:t>
            </a:r>
          </a:p>
          <a:p>
            <a:pPr fontAlgn="base"/>
            <a:r>
              <a:rPr lang="en-GB" sz="1200" b="0" i="0" kern="1200" dirty="0" err="1" smtClean="0">
                <a:solidFill>
                  <a:schemeClr val="tx1"/>
                </a:solidFill>
                <a:effectLst/>
                <a:latin typeface="+mn-lt"/>
                <a:ea typeface="+mn-ea"/>
                <a:cs typeface="+mn-cs"/>
              </a:rPr>
              <a:t>envp</a:t>
            </a:r>
            <a:r>
              <a:rPr lang="en-GB" sz="1200" b="0" i="0" kern="1200" dirty="0" smtClean="0">
                <a:solidFill>
                  <a:schemeClr val="tx1"/>
                </a:solidFill>
                <a:effectLst/>
                <a:latin typeface="+mn-lt"/>
                <a:ea typeface="+mn-ea"/>
                <a:cs typeface="+mn-cs"/>
              </a:rPr>
              <a:t> for </a:t>
            </a:r>
            <a:r>
              <a:rPr lang="en-GB" sz="1200" b="1" i="1" kern="1200" dirty="0" smtClean="0">
                <a:solidFill>
                  <a:schemeClr val="tx1"/>
                </a:solidFill>
                <a:effectLst/>
                <a:latin typeface="+mn-lt"/>
                <a:ea typeface="+mn-ea"/>
                <a:cs typeface="+mn-cs"/>
              </a:rPr>
              <a:t>env</a:t>
            </a:r>
            <a:r>
              <a:rPr lang="en-GB" sz="1200" b="0" i="1" kern="1200" dirty="0" smtClean="0">
                <a:solidFill>
                  <a:schemeClr val="tx1"/>
                </a:solidFill>
                <a:effectLst/>
                <a:latin typeface="+mn-lt"/>
                <a:ea typeface="+mn-ea"/>
                <a:cs typeface="+mn-cs"/>
              </a:rPr>
              <a:t>ironment </a:t>
            </a:r>
            <a:r>
              <a:rPr lang="en-GB" sz="1200" b="1" i="1" kern="1200" dirty="0" smtClean="0">
                <a:solidFill>
                  <a:schemeClr val="tx1"/>
                </a:solidFill>
                <a:effectLst/>
                <a:latin typeface="+mn-lt"/>
                <a:ea typeface="+mn-ea"/>
                <a:cs typeface="+mn-cs"/>
              </a:rPr>
              <a:t>p</a:t>
            </a:r>
            <a:r>
              <a:rPr lang="en-GB" sz="1200" b="0" i="1" kern="1200" dirty="0" smtClean="0">
                <a:solidFill>
                  <a:schemeClr val="tx1"/>
                </a:solidFill>
                <a:effectLst/>
                <a:latin typeface="+mn-lt"/>
                <a:ea typeface="+mn-ea"/>
                <a:cs typeface="+mn-cs"/>
              </a:rPr>
              <a:t>ointer</a:t>
            </a:r>
            <a:r>
              <a:rPr lang="en-GB" sz="1200" b="0" i="0" kern="1200" dirty="0" smtClean="0">
                <a:solidFill>
                  <a:schemeClr val="tx1"/>
                </a:solidFill>
                <a:effectLst/>
                <a:latin typeface="+mn-lt"/>
                <a:ea typeface="+mn-ea"/>
                <a:cs typeface="+mn-cs"/>
              </a:rPr>
              <a:t>.</a:t>
            </a:r>
          </a:p>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23</a:t>
            </a:fld>
            <a:endParaRPr lang="en-GB">
              <a:solidFill>
                <a:prstClr val="black"/>
              </a:solidFill>
            </a:endParaRPr>
          </a:p>
        </p:txBody>
      </p:sp>
    </p:spTree>
    <p:extLst>
      <p:ext uri="{BB962C8B-B14F-4D97-AF65-F5344CB8AC3E}">
        <p14:creationId xmlns:p14="http://schemas.microsoft.com/office/powerpoint/2010/main" val="4169900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26</a:t>
            </a:fld>
            <a:endParaRPr lang="en-GB">
              <a:solidFill>
                <a:prstClr val="black"/>
              </a:solidFill>
            </a:endParaRPr>
          </a:p>
        </p:txBody>
      </p:sp>
    </p:spTree>
    <p:extLst>
      <p:ext uri="{BB962C8B-B14F-4D97-AF65-F5344CB8AC3E}">
        <p14:creationId xmlns:p14="http://schemas.microsoft.com/office/powerpoint/2010/main" val="426143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When performing the div or </a:t>
            </a:r>
            <a:r>
              <a:rPr lang="en-GB" dirty="0" err="1" smtClean="0"/>
              <a:t>idiv</a:t>
            </a:r>
            <a:r>
              <a:rPr lang="en-GB" dirty="0" smtClean="0"/>
              <a:t> instruction, you are dividing </a:t>
            </a:r>
            <a:r>
              <a:rPr lang="en-GB" dirty="0" err="1" smtClean="0"/>
              <a:t>edx:eax</a:t>
            </a:r>
            <a:r>
              <a:rPr lang="en-GB" dirty="0" smtClean="0"/>
              <a:t> by the operand</a:t>
            </a:r>
          </a:p>
          <a:p>
            <a:r>
              <a:rPr lang="en-GB" dirty="0" smtClean="0"/>
              <a:t>and storing the result in </a:t>
            </a:r>
            <a:r>
              <a:rPr lang="en-GB" dirty="0" err="1" smtClean="0"/>
              <a:t>eax</a:t>
            </a:r>
            <a:r>
              <a:rPr lang="en-GB" dirty="0" smtClean="0"/>
              <a:t> and the remainder in </a:t>
            </a:r>
            <a:r>
              <a:rPr lang="en-GB" dirty="0" err="1" smtClean="0"/>
              <a:t>edx</a:t>
            </a:r>
            <a:r>
              <a:rPr lang="en-GB" dirty="0" smtClean="0"/>
              <a:t>.</a:t>
            </a:r>
          </a:p>
          <a:p>
            <a:r>
              <a:rPr lang="en-GB" dirty="0" err="1" smtClean="0"/>
              <a:t>Cdq</a:t>
            </a:r>
            <a:r>
              <a:rPr lang="en-GB" baseline="0" dirty="0" smtClean="0"/>
              <a:t> =&gt;</a:t>
            </a:r>
            <a:r>
              <a:rPr lang="en-GB" dirty="0" smtClean="0"/>
              <a:t> </a:t>
            </a:r>
            <a:r>
              <a:rPr lang="en-GB" dirty="0" err="1" smtClean="0"/>
              <a:t>edx:eax</a:t>
            </a:r>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27</a:t>
            </a:fld>
            <a:endParaRPr lang="en-GB">
              <a:solidFill>
                <a:prstClr val="black"/>
              </a:solidFill>
            </a:endParaRPr>
          </a:p>
        </p:txBody>
      </p:sp>
    </p:spTree>
    <p:extLst>
      <p:ext uri="{BB962C8B-B14F-4D97-AF65-F5344CB8AC3E}">
        <p14:creationId xmlns:p14="http://schemas.microsoft.com/office/powerpoint/2010/main" val="522222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28</a:t>
            </a:fld>
            <a:endParaRPr lang="en-GB">
              <a:solidFill>
                <a:prstClr val="black"/>
              </a:solidFill>
            </a:endParaRPr>
          </a:p>
        </p:txBody>
      </p:sp>
    </p:spTree>
    <p:extLst>
      <p:ext uri="{BB962C8B-B14F-4D97-AF65-F5344CB8AC3E}">
        <p14:creationId xmlns:p14="http://schemas.microsoft.com/office/powerpoint/2010/main" val="3088153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29</a:t>
            </a:fld>
            <a:endParaRPr lang="en-GB">
              <a:solidFill>
                <a:prstClr val="black"/>
              </a:solidFill>
            </a:endParaRPr>
          </a:p>
        </p:txBody>
      </p:sp>
    </p:spTree>
    <p:extLst>
      <p:ext uri="{BB962C8B-B14F-4D97-AF65-F5344CB8AC3E}">
        <p14:creationId xmlns:p14="http://schemas.microsoft.com/office/powerpoint/2010/main" val="71469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Lab06-01.exe</a:t>
            </a:r>
          </a:p>
          <a:p>
            <a:pPr lvl="1"/>
            <a:r>
              <a:rPr lang="en-GB" dirty="0" smtClean="0"/>
              <a:t>What is the major code construct found in </a:t>
            </a:r>
            <a:r>
              <a:rPr lang="en-GB" i="1" dirty="0" smtClean="0"/>
              <a:t>main</a:t>
            </a:r>
            <a:r>
              <a:rPr lang="en-GB" dirty="0" smtClean="0"/>
              <a:t>()?</a:t>
            </a:r>
          </a:p>
          <a:p>
            <a:pPr lvl="1"/>
            <a:r>
              <a:rPr lang="en-GB" dirty="0" smtClean="0"/>
              <a:t>What is the subroutine located at 0x40105F?</a:t>
            </a:r>
          </a:p>
          <a:p>
            <a:pPr lvl="1"/>
            <a:r>
              <a:rPr lang="en-GB" dirty="0" smtClean="0"/>
              <a:t>What is the purpose of the program?</a:t>
            </a:r>
          </a:p>
          <a:p>
            <a:r>
              <a:rPr lang="en-GB" dirty="0" smtClean="0"/>
              <a:t>Lab06-02.exe</a:t>
            </a:r>
          </a:p>
          <a:p>
            <a:pPr lvl="1"/>
            <a:r>
              <a:rPr lang="en-GB" dirty="0" smtClean="0"/>
              <a:t>What does 1</a:t>
            </a:r>
            <a:r>
              <a:rPr lang="en-GB" baseline="30000" dirty="0" smtClean="0"/>
              <a:t>st</a:t>
            </a:r>
            <a:r>
              <a:rPr lang="en-GB" dirty="0" smtClean="0"/>
              <a:t> subroutine called by </a:t>
            </a:r>
            <a:r>
              <a:rPr lang="en-GB" i="1" dirty="0" smtClean="0"/>
              <a:t>main</a:t>
            </a:r>
            <a:r>
              <a:rPr lang="en-GB" dirty="0" smtClean="0"/>
              <a:t>() do?</a:t>
            </a:r>
          </a:p>
          <a:p>
            <a:pPr lvl="1"/>
            <a:r>
              <a:rPr lang="en-GB" dirty="0" smtClean="0"/>
              <a:t>What is the subroutine located at 0x40117F?</a:t>
            </a:r>
          </a:p>
          <a:p>
            <a:pPr lvl="1"/>
            <a:r>
              <a:rPr lang="en-GB" dirty="0" smtClean="0"/>
              <a:t>What does 2</a:t>
            </a:r>
            <a:r>
              <a:rPr lang="en-GB" baseline="30000" dirty="0" smtClean="0"/>
              <a:t>nd</a:t>
            </a:r>
            <a:r>
              <a:rPr lang="en-GB" dirty="0" smtClean="0"/>
              <a:t> subroutine called by </a:t>
            </a:r>
            <a:r>
              <a:rPr lang="en-GB" i="1" dirty="0" smtClean="0"/>
              <a:t>main</a:t>
            </a:r>
            <a:r>
              <a:rPr lang="en-GB" dirty="0" smtClean="0"/>
              <a:t>() do?</a:t>
            </a:r>
          </a:p>
          <a:p>
            <a:pPr lvl="1"/>
            <a:r>
              <a:rPr lang="en-GB" dirty="0" smtClean="0"/>
              <a:t>What is network-based indicators?</a:t>
            </a:r>
          </a:p>
          <a:p>
            <a:pPr lvl="1"/>
            <a:r>
              <a:rPr lang="en-GB" dirty="0" smtClean="0"/>
              <a:t>What the purpose of the program?</a:t>
            </a:r>
          </a:p>
          <a:p>
            <a:r>
              <a:rPr lang="en-GB" dirty="0" smtClean="0"/>
              <a:t>Lab06-03.exe</a:t>
            </a:r>
          </a:p>
          <a:p>
            <a:pPr lvl="1"/>
            <a:r>
              <a:rPr lang="en-GB" dirty="0" smtClean="0"/>
              <a:t>What is the function called by </a:t>
            </a:r>
            <a:r>
              <a:rPr lang="en-GB" i="1" dirty="0" smtClean="0"/>
              <a:t>main</a:t>
            </a:r>
            <a:r>
              <a:rPr lang="en-GB" dirty="0" smtClean="0"/>
              <a:t>()? parameters used? Code construct? purpose</a:t>
            </a:r>
          </a:p>
          <a:p>
            <a:pPr lvl="1"/>
            <a:r>
              <a:rPr lang="en-GB" dirty="0" smtClean="0"/>
              <a:t>What are host-based indicators?</a:t>
            </a:r>
          </a:p>
          <a:p>
            <a:pPr lvl="1"/>
            <a:r>
              <a:rPr lang="en-GB" dirty="0" smtClean="0"/>
              <a:t>What is the purpose of the program</a:t>
            </a:r>
          </a:p>
          <a:p>
            <a:r>
              <a:rPr lang="en-GB" dirty="0" smtClean="0"/>
              <a:t>Lab06-04.exe</a:t>
            </a:r>
          </a:p>
          <a:p>
            <a:pPr lvl="1"/>
            <a:r>
              <a:rPr lang="en-GB" dirty="0" smtClean="0"/>
              <a:t>What is different called by main() compared to Lab06-03? New code construct added to </a:t>
            </a:r>
            <a:r>
              <a:rPr lang="en-GB" i="1" dirty="0" smtClean="0"/>
              <a:t>main</a:t>
            </a:r>
            <a:r>
              <a:rPr lang="en-GB" dirty="0" smtClean="0"/>
              <a:t>()?</a:t>
            </a:r>
          </a:p>
          <a:p>
            <a:pPr lvl="1"/>
            <a:r>
              <a:rPr lang="en-GB" dirty="0" smtClean="0"/>
              <a:t>How long will this program run?</a:t>
            </a:r>
          </a:p>
          <a:p>
            <a:pPr lvl="1"/>
            <a:r>
              <a:rPr lang="en-GB" dirty="0" smtClean="0"/>
              <a:t>What are network-based indicators?</a:t>
            </a:r>
          </a:p>
          <a:p>
            <a:pPr lvl="1"/>
            <a:r>
              <a:rPr lang="en-GB" dirty="0" smtClean="0"/>
              <a:t>What is the purpose of the program?</a:t>
            </a:r>
          </a:p>
          <a:p>
            <a:endParaRPr lang="en-GB" dirty="0"/>
          </a:p>
        </p:txBody>
      </p:sp>
      <p:sp>
        <p:nvSpPr>
          <p:cNvPr id="4" name="Slide Number Placeholder 3"/>
          <p:cNvSpPr>
            <a:spLocks noGrp="1"/>
          </p:cNvSpPr>
          <p:nvPr>
            <p:ph type="sldNum" sz="quarter" idx="10"/>
          </p:nvPr>
        </p:nvSpPr>
        <p:spPr/>
        <p:txBody>
          <a:bodyPr/>
          <a:lstStyle/>
          <a:p>
            <a:fld id="{1E03A334-FE4D-4C3E-A61B-575B8EC3A56A}" type="slidenum">
              <a:rPr lang="en-GB" smtClean="0">
                <a:solidFill>
                  <a:prstClr val="black"/>
                </a:solidFill>
              </a:rPr>
              <a:pPr/>
              <a:t>31</a:t>
            </a:fld>
            <a:endParaRPr lang="en-GB">
              <a:solidFill>
                <a:prstClr val="black"/>
              </a:solidFill>
            </a:endParaRPr>
          </a:p>
        </p:txBody>
      </p:sp>
    </p:spTree>
    <p:extLst>
      <p:ext uri="{BB962C8B-B14F-4D97-AF65-F5344CB8AC3E}">
        <p14:creationId xmlns:p14="http://schemas.microsoft.com/office/powerpoint/2010/main" val="246918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391551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004723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3539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1690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14546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62295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62186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303089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8307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26992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996826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766240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24744"/>
          </a:xfrm>
          <a:solidFill>
            <a:schemeClr val="accent6">
              <a:lumMod val="40000"/>
              <a:lumOff val="60000"/>
            </a:schemeClr>
          </a:solidFill>
        </p:spPr>
        <p:txBody>
          <a:bodyPr/>
          <a:lstStyle/>
          <a:p>
            <a:r>
              <a:rPr lang="en-US" smtClean="0"/>
              <a:t>Click to edit Master title style</a:t>
            </a:r>
            <a:endParaRPr lang="en-GB"/>
          </a:p>
        </p:txBody>
      </p:sp>
      <p:sp>
        <p:nvSpPr>
          <p:cNvPr id="3" name="Content Placeholder 2"/>
          <p:cNvSpPr>
            <a:spLocks noGrp="1"/>
          </p:cNvSpPr>
          <p:nvPr>
            <p:ph idx="1"/>
          </p:nvPr>
        </p:nvSpPr>
        <p:spPr>
          <a:xfrm>
            <a:off x="179512" y="1196752"/>
            <a:ext cx="8784976" cy="5112568"/>
          </a:xfrm>
        </p:spPr>
        <p:txBody>
          <a:bodyPr/>
          <a:lstStyle>
            <a:lvl1pPr>
              <a:defRPr sz="3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28227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25800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420110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99950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39109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727647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492123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17063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003105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94759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071938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512" y="274638"/>
            <a:ext cx="8784976"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107504" y="1600200"/>
            <a:ext cx="89289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04B57-344B-4127-95E0-C4D70C1DB92C}" type="datetimeFigureOut">
              <a:rPr lang="en-GB" smtClean="0">
                <a:solidFill>
                  <a:prstClr val="black">
                    <a:tint val="75000"/>
                  </a:prstClr>
                </a:solidFill>
              </a:rPr>
              <a:pPr/>
              <a:t>08/12/2022</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39032E-7B51-4E15-9222-EB0F43ABC83B}"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977907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cs.uaf.edu/2016/fall/cs301/lecture/09_28_machinecode.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sourceforge.net/projects/tum-jasmin/files/"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EFD1"/>
            </a:gs>
            <a:gs pos="64999">
              <a:srgbClr val="F0EBD5"/>
            </a:gs>
            <a:gs pos="100000">
              <a:srgbClr val="D1C39F"/>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Malware Analysis</a:t>
            </a:r>
            <a:endParaRPr lang="en-GB" dirty="0"/>
          </a:p>
        </p:txBody>
      </p:sp>
      <p:sp>
        <p:nvSpPr>
          <p:cNvPr id="3" name="Subtitle 2"/>
          <p:cNvSpPr>
            <a:spLocks noGrp="1"/>
          </p:cNvSpPr>
          <p:nvPr>
            <p:ph type="subTitle" idx="1"/>
          </p:nvPr>
        </p:nvSpPr>
        <p:spPr/>
        <p:txBody>
          <a:bodyPr/>
          <a:lstStyle/>
          <a:p>
            <a:r>
              <a:rPr lang="en-GB" dirty="0" err="1" smtClean="0">
                <a:latin typeface="Arial Narrow" panose="020B0606020202030204" pitchFamily="34" charset="0"/>
              </a:rPr>
              <a:t>Dr.</a:t>
            </a:r>
            <a:r>
              <a:rPr lang="en-GB" dirty="0" smtClean="0">
                <a:latin typeface="Arial Narrow" panose="020B0606020202030204" pitchFamily="34" charset="0"/>
              </a:rPr>
              <a:t> Tran The Son</a:t>
            </a:r>
          </a:p>
          <a:p>
            <a:r>
              <a:rPr lang="en-GB" sz="2000" dirty="0" smtClean="0">
                <a:latin typeface="Arial Narrow" panose="020B0606020202030204" pitchFamily="34" charset="0"/>
              </a:rPr>
              <a:t>Vietnam – Korea University</a:t>
            </a:r>
            <a:endParaRPr lang="en-GB" sz="2000" dirty="0">
              <a:latin typeface="Arial Narrow" panose="020B0606020202030204" pitchFamily="34" charset="0"/>
            </a:endParaRPr>
          </a:p>
        </p:txBody>
      </p:sp>
    </p:spTree>
    <p:extLst>
      <p:ext uri="{BB962C8B-B14F-4D97-AF65-F5344CB8AC3E}">
        <p14:creationId xmlns:p14="http://schemas.microsoft.com/office/powerpoint/2010/main" val="251472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Disassembly</a:t>
            </a:r>
            <a:endParaRPr lang="en-GB" dirty="0"/>
          </a:p>
        </p:txBody>
      </p:sp>
      <p:sp>
        <p:nvSpPr>
          <p:cNvPr id="3" name="Content Placeholder 2"/>
          <p:cNvSpPr>
            <a:spLocks noGrp="1"/>
          </p:cNvSpPr>
          <p:nvPr>
            <p:ph idx="1"/>
          </p:nvPr>
        </p:nvSpPr>
        <p:spPr/>
        <p:txBody>
          <a:bodyPr>
            <a:normAutofit fontScale="92500" lnSpcReduction="20000"/>
          </a:bodyPr>
          <a:lstStyle/>
          <a:p>
            <a:r>
              <a:rPr lang="en-GB" b="1" dirty="0" smtClean="0"/>
              <a:t>Level of Abstraction</a:t>
            </a:r>
          </a:p>
          <a:p>
            <a:pPr lvl="1"/>
            <a:r>
              <a:rPr lang="en-GB" dirty="0" smtClean="0"/>
              <a:t>Hardware</a:t>
            </a:r>
          </a:p>
          <a:p>
            <a:pPr lvl="2"/>
            <a:r>
              <a:rPr lang="en-GB" dirty="0" smtClean="0"/>
              <a:t>Physical; electronical circuits; logic gates (AND, OR, ..)</a:t>
            </a:r>
          </a:p>
          <a:p>
            <a:pPr lvl="1"/>
            <a:r>
              <a:rPr lang="en-GB" dirty="0" smtClean="0"/>
              <a:t>Firmware (microcode)</a:t>
            </a:r>
          </a:p>
          <a:p>
            <a:pPr lvl="2"/>
            <a:r>
              <a:rPr lang="en-GB" dirty="0" smtClean="0"/>
              <a:t>Only operates on the designed circuit</a:t>
            </a:r>
          </a:p>
          <a:p>
            <a:pPr lvl="2"/>
            <a:r>
              <a:rPr lang="en-GB" dirty="0" smtClean="0"/>
              <a:t>Set of micro-instructions translated from high machine code level to interact with hardware</a:t>
            </a:r>
          </a:p>
          <a:p>
            <a:pPr lvl="1"/>
            <a:r>
              <a:rPr lang="en-GB" dirty="0" smtClean="0"/>
              <a:t>Machine code</a:t>
            </a:r>
          </a:p>
          <a:p>
            <a:pPr lvl="2"/>
            <a:r>
              <a:rPr lang="en-GB" dirty="0" smtClean="0"/>
              <a:t>Hexadecimal digits (Opcodes) generated when high-level language compiled.</a:t>
            </a:r>
          </a:p>
          <a:p>
            <a:pPr lvl="2"/>
            <a:r>
              <a:rPr lang="en-GB" dirty="0" smtClean="0"/>
              <a:t>Underlying hardware can execute (+ microcode)</a:t>
            </a:r>
          </a:p>
          <a:p>
            <a:pPr lvl="1"/>
            <a:r>
              <a:rPr lang="en-GB" dirty="0" smtClean="0"/>
              <a:t>Low-level languages</a:t>
            </a:r>
          </a:p>
          <a:p>
            <a:pPr lvl="2"/>
            <a:r>
              <a:rPr lang="en-GB" dirty="0" smtClean="0"/>
              <a:t>Human-readable version of a computer architecture's instruction set (e.g. assembly language: </a:t>
            </a:r>
            <a:r>
              <a:rPr lang="en-GB" dirty="0" err="1" smtClean="0"/>
              <a:t>mov</a:t>
            </a:r>
            <a:r>
              <a:rPr lang="en-GB" dirty="0" smtClean="0"/>
              <a:t>, </a:t>
            </a:r>
            <a:r>
              <a:rPr lang="en-GB" dirty="0" err="1" smtClean="0"/>
              <a:t>jmp</a:t>
            </a:r>
            <a:r>
              <a:rPr lang="en-GB" dirty="0" smtClean="0"/>
              <a:t>, etc.)</a:t>
            </a:r>
          </a:p>
        </p:txBody>
      </p:sp>
    </p:spTree>
    <p:extLst>
      <p:ext uri="{BB962C8B-B14F-4D97-AF65-F5344CB8AC3E}">
        <p14:creationId xmlns:p14="http://schemas.microsoft.com/office/powerpoint/2010/main" val="39092937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Disassembly</a:t>
            </a:r>
            <a:endParaRPr lang="en-GB" dirty="0"/>
          </a:p>
        </p:txBody>
      </p:sp>
      <p:sp>
        <p:nvSpPr>
          <p:cNvPr id="3" name="Content Placeholder 2"/>
          <p:cNvSpPr>
            <a:spLocks noGrp="1"/>
          </p:cNvSpPr>
          <p:nvPr>
            <p:ph idx="1"/>
          </p:nvPr>
        </p:nvSpPr>
        <p:spPr/>
        <p:txBody>
          <a:bodyPr/>
          <a:lstStyle/>
          <a:p>
            <a:pPr lvl="1"/>
            <a:r>
              <a:rPr lang="en-GB" dirty="0"/>
              <a:t>High-level </a:t>
            </a:r>
            <a:r>
              <a:rPr lang="en-GB" dirty="0" smtClean="0"/>
              <a:t>languages</a:t>
            </a:r>
          </a:p>
          <a:p>
            <a:pPr lvl="2"/>
            <a:r>
              <a:rPr lang="en-GB" dirty="0" smtClean="0"/>
              <a:t>C, C++</a:t>
            </a:r>
            <a:endParaRPr lang="en-GB" dirty="0"/>
          </a:p>
          <a:p>
            <a:pPr lvl="1"/>
            <a:r>
              <a:rPr lang="en-GB" dirty="0" smtClean="0"/>
              <a:t>Interpreted languages</a:t>
            </a:r>
          </a:p>
          <a:p>
            <a:pPr lvl="2"/>
            <a:r>
              <a:rPr lang="en-GB" dirty="0" smtClean="0"/>
              <a:t>C#, Perl,. NET, Java, Python</a:t>
            </a:r>
          </a:p>
          <a:p>
            <a:pPr lvl="2"/>
            <a:r>
              <a:rPr lang="en-GB" dirty="0" smtClean="0"/>
              <a:t>It is NOT complied into machine-code, translated into </a:t>
            </a:r>
            <a:r>
              <a:rPr lang="en-GB" dirty="0" smtClean="0">
                <a:effectLst>
                  <a:outerShdw blurRad="38100" dist="38100" dir="2700000" algn="tl">
                    <a:srgbClr val="000000">
                      <a:alpha val="43137"/>
                    </a:srgbClr>
                  </a:outerShdw>
                </a:effectLst>
              </a:rPr>
              <a:t>Bytecode</a:t>
            </a:r>
            <a:r>
              <a:rPr lang="en-GB" dirty="0" smtClean="0"/>
              <a:t> instead.</a:t>
            </a:r>
          </a:p>
          <a:p>
            <a:pPr lvl="2"/>
            <a:r>
              <a:rPr lang="en-GB" dirty="0" smtClean="0"/>
              <a:t>Bytecode executes within an interpreter which translates bytecode into executables machine code on the fly at runtime.</a:t>
            </a:r>
          </a:p>
          <a:p>
            <a:pPr lvl="2"/>
            <a:r>
              <a:rPr lang="en-GB" dirty="0" smtClean="0"/>
              <a:t>Reduce the dependence on hardware and OS. </a:t>
            </a:r>
          </a:p>
          <a:p>
            <a:pPr lvl="2"/>
            <a:r>
              <a:rPr lang="en-GB" dirty="0" smtClean="0"/>
              <a:t>Can run on VM, e.g. JVM</a:t>
            </a:r>
            <a:endParaRPr lang="en-GB" dirty="0"/>
          </a:p>
          <a:p>
            <a:endParaRPr lang="en-GB" dirty="0"/>
          </a:p>
        </p:txBody>
      </p:sp>
    </p:spTree>
    <p:extLst>
      <p:ext uri="{BB962C8B-B14F-4D97-AF65-F5344CB8AC3E}">
        <p14:creationId xmlns:p14="http://schemas.microsoft.com/office/powerpoint/2010/main" val="251976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Disassembly</a:t>
            </a:r>
            <a:endParaRPr lang="en-GB" dirty="0"/>
          </a:p>
        </p:txBody>
      </p:sp>
      <p:sp>
        <p:nvSpPr>
          <p:cNvPr id="3" name="Content Placeholder 2"/>
          <p:cNvSpPr>
            <a:spLocks noGrp="1"/>
          </p:cNvSpPr>
          <p:nvPr>
            <p:ph idx="1"/>
          </p:nvPr>
        </p:nvSpPr>
        <p:spPr/>
        <p:txBody>
          <a:bodyPr/>
          <a:lstStyle/>
          <a:p>
            <a:r>
              <a:rPr lang="en-GB" b="1" dirty="0" smtClean="0"/>
              <a:t>Level of Abstraction</a:t>
            </a:r>
            <a:endParaRPr lang="en-GB" b="1" dirty="0"/>
          </a:p>
        </p:txBody>
      </p:sp>
      <p:sp>
        <p:nvSpPr>
          <p:cNvPr id="4" name="Rectangle 3"/>
          <p:cNvSpPr/>
          <p:nvPr/>
        </p:nvSpPr>
        <p:spPr>
          <a:xfrm>
            <a:off x="5724128" y="2420888"/>
            <a:ext cx="2425992" cy="1296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5" name="TextBox 4"/>
          <p:cNvSpPr txBox="1"/>
          <p:nvPr/>
        </p:nvSpPr>
        <p:spPr>
          <a:xfrm>
            <a:off x="5723430" y="2679303"/>
            <a:ext cx="1590500" cy="923330"/>
          </a:xfrm>
          <a:prstGeom prst="rect">
            <a:avLst/>
          </a:prstGeom>
          <a:noFill/>
        </p:spPr>
        <p:txBody>
          <a:bodyPr wrap="none" rtlCol="0">
            <a:spAutoFit/>
          </a:bodyPr>
          <a:lstStyle/>
          <a:p>
            <a:r>
              <a:rPr lang="en-GB" dirty="0">
                <a:solidFill>
                  <a:prstClr val="white"/>
                </a:solidFill>
              </a:rPr>
              <a:t>push </a:t>
            </a:r>
            <a:r>
              <a:rPr lang="en-GB" dirty="0" err="1">
                <a:solidFill>
                  <a:prstClr val="white"/>
                </a:solidFill>
              </a:rPr>
              <a:t>ebp</a:t>
            </a:r>
            <a:endParaRPr lang="en-GB" dirty="0">
              <a:solidFill>
                <a:prstClr val="white"/>
              </a:solidFill>
            </a:endParaRPr>
          </a:p>
          <a:p>
            <a:r>
              <a:rPr lang="en-GB" dirty="0">
                <a:solidFill>
                  <a:prstClr val="white"/>
                </a:solidFill>
              </a:rPr>
              <a:t>move </a:t>
            </a:r>
            <a:r>
              <a:rPr lang="en-GB" dirty="0" err="1">
                <a:solidFill>
                  <a:prstClr val="white"/>
                </a:solidFill>
              </a:rPr>
              <a:t>ebp</a:t>
            </a:r>
            <a:r>
              <a:rPr lang="en-GB" dirty="0">
                <a:solidFill>
                  <a:prstClr val="white"/>
                </a:solidFill>
              </a:rPr>
              <a:t>, </a:t>
            </a:r>
            <a:r>
              <a:rPr lang="en-GB" dirty="0" err="1">
                <a:solidFill>
                  <a:prstClr val="white"/>
                </a:solidFill>
              </a:rPr>
              <a:t>esp</a:t>
            </a:r>
            <a:endParaRPr lang="en-GB" dirty="0">
              <a:solidFill>
                <a:prstClr val="white"/>
              </a:solidFill>
            </a:endParaRPr>
          </a:p>
          <a:p>
            <a:r>
              <a:rPr lang="en-GB" dirty="0">
                <a:solidFill>
                  <a:prstClr val="white"/>
                </a:solidFill>
              </a:rPr>
              <a:t>sub </a:t>
            </a:r>
            <a:r>
              <a:rPr lang="en-GB" dirty="0" err="1">
                <a:solidFill>
                  <a:prstClr val="white"/>
                </a:solidFill>
              </a:rPr>
              <a:t>esp</a:t>
            </a:r>
            <a:r>
              <a:rPr lang="en-GB" dirty="0">
                <a:solidFill>
                  <a:prstClr val="white"/>
                </a:solidFill>
              </a:rPr>
              <a:t>, 0x40</a:t>
            </a:r>
          </a:p>
        </p:txBody>
      </p:sp>
      <p:sp>
        <p:nvSpPr>
          <p:cNvPr id="6" name="Rectangle 5"/>
          <p:cNvSpPr/>
          <p:nvPr/>
        </p:nvSpPr>
        <p:spPr>
          <a:xfrm>
            <a:off x="1187624" y="2420888"/>
            <a:ext cx="2425992" cy="1296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7" name="TextBox 6"/>
          <p:cNvSpPr txBox="1"/>
          <p:nvPr/>
        </p:nvSpPr>
        <p:spPr>
          <a:xfrm>
            <a:off x="1186926" y="2679303"/>
            <a:ext cx="2426690" cy="923330"/>
          </a:xfrm>
          <a:prstGeom prst="rect">
            <a:avLst/>
          </a:prstGeom>
          <a:noFill/>
        </p:spPr>
        <p:txBody>
          <a:bodyPr wrap="none" rtlCol="0">
            <a:spAutoFit/>
          </a:bodyPr>
          <a:lstStyle/>
          <a:p>
            <a:r>
              <a:rPr lang="en-GB" dirty="0" err="1">
                <a:solidFill>
                  <a:prstClr val="white"/>
                </a:solidFill>
              </a:rPr>
              <a:t>int</a:t>
            </a:r>
            <a:r>
              <a:rPr lang="en-GB" dirty="0">
                <a:solidFill>
                  <a:prstClr val="white"/>
                </a:solidFill>
              </a:rPr>
              <a:t> c;</a:t>
            </a:r>
          </a:p>
          <a:p>
            <a:r>
              <a:rPr lang="en-GB" dirty="0" err="1">
                <a:solidFill>
                  <a:prstClr val="white"/>
                </a:solidFill>
              </a:rPr>
              <a:t>printf</a:t>
            </a:r>
            <a:r>
              <a:rPr lang="en-GB" dirty="0">
                <a:solidFill>
                  <a:prstClr val="white"/>
                </a:solidFill>
              </a:rPr>
              <a:t>(“Hello World\n”);</a:t>
            </a:r>
          </a:p>
          <a:p>
            <a:r>
              <a:rPr lang="en-GB" dirty="0">
                <a:solidFill>
                  <a:prstClr val="white"/>
                </a:solidFill>
              </a:rPr>
              <a:t>return 0;</a:t>
            </a:r>
          </a:p>
        </p:txBody>
      </p:sp>
      <p:sp>
        <p:nvSpPr>
          <p:cNvPr id="10" name="Rectangle 9"/>
          <p:cNvSpPr/>
          <p:nvPr/>
        </p:nvSpPr>
        <p:spPr>
          <a:xfrm>
            <a:off x="3543265" y="4829111"/>
            <a:ext cx="2425992" cy="12961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1" name="TextBox 10"/>
          <p:cNvSpPr txBox="1"/>
          <p:nvPr/>
        </p:nvSpPr>
        <p:spPr>
          <a:xfrm>
            <a:off x="4072045" y="5055567"/>
            <a:ext cx="999504" cy="923330"/>
          </a:xfrm>
          <a:prstGeom prst="rect">
            <a:avLst/>
          </a:prstGeom>
          <a:noFill/>
        </p:spPr>
        <p:txBody>
          <a:bodyPr wrap="none" rtlCol="0">
            <a:spAutoFit/>
          </a:bodyPr>
          <a:lstStyle/>
          <a:p>
            <a:r>
              <a:rPr lang="en-GB" dirty="0">
                <a:solidFill>
                  <a:prstClr val="white"/>
                </a:solidFill>
              </a:rPr>
              <a:t>55</a:t>
            </a:r>
          </a:p>
          <a:p>
            <a:r>
              <a:rPr lang="en-GB" dirty="0">
                <a:solidFill>
                  <a:prstClr val="white"/>
                </a:solidFill>
              </a:rPr>
              <a:t>8B EC</a:t>
            </a:r>
          </a:p>
          <a:p>
            <a:r>
              <a:rPr lang="en-GB" dirty="0">
                <a:solidFill>
                  <a:prstClr val="white"/>
                </a:solidFill>
              </a:rPr>
              <a:t>8B EC 40</a:t>
            </a:r>
          </a:p>
        </p:txBody>
      </p:sp>
      <p:sp>
        <p:nvSpPr>
          <p:cNvPr id="12" name="TextBox 11"/>
          <p:cNvSpPr txBox="1"/>
          <p:nvPr/>
        </p:nvSpPr>
        <p:spPr>
          <a:xfrm>
            <a:off x="1389221" y="1737682"/>
            <a:ext cx="2022798" cy="646331"/>
          </a:xfrm>
          <a:prstGeom prst="rect">
            <a:avLst/>
          </a:prstGeom>
          <a:noFill/>
        </p:spPr>
        <p:txBody>
          <a:bodyPr wrap="none" rtlCol="0">
            <a:spAutoFit/>
          </a:bodyPr>
          <a:lstStyle/>
          <a:p>
            <a:r>
              <a:rPr lang="en-GB" dirty="0">
                <a:solidFill>
                  <a:prstClr val="black"/>
                </a:solidFill>
              </a:rPr>
              <a:t>Malware writer</a:t>
            </a:r>
          </a:p>
          <a:p>
            <a:r>
              <a:rPr lang="en-GB" dirty="0">
                <a:solidFill>
                  <a:prstClr val="black"/>
                </a:solidFill>
              </a:rPr>
              <a:t>High-level language</a:t>
            </a:r>
          </a:p>
        </p:txBody>
      </p:sp>
      <p:sp>
        <p:nvSpPr>
          <p:cNvPr id="13" name="TextBox 12"/>
          <p:cNvSpPr txBox="1"/>
          <p:nvPr/>
        </p:nvSpPr>
        <p:spPr>
          <a:xfrm>
            <a:off x="5996167" y="1737681"/>
            <a:ext cx="1978619" cy="646331"/>
          </a:xfrm>
          <a:prstGeom prst="rect">
            <a:avLst/>
          </a:prstGeom>
          <a:noFill/>
        </p:spPr>
        <p:txBody>
          <a:bodyPr wrap="none" rtlCol="0">
            <a:spAutoFit/>
          </a:bodyPr>
          <a:lstStyle/>
          <a:p>
            <a:r>
              <a:rPr lang="en-GB" dirty="0">
                <a:solidFill>
                  <a:prstClr val="black"/>
                </a:solidFill>
              </a:rPr>
              <a:t>Malware analyst</a:t>
            </a:r>
          </a:p>
          <a:p>
            <a:r>
              <a:rPr lang="en-GB" dirty="0">
                <a:solidFill>
                  <a:prstClr val="black"/>
                </a:solidFill>
              </a:rPr>
              <a:t>Low-level language</a:t>
            </a:r>
          </a:p>
        </p:txBody>
      </p:sp>
      <p:sp>
        <p:nvSpPr>
          <p:cNvPr id="14" name="TextBox 13"/>
          <p:cNvSpPr txBox="1"/>
          <p:nvPr/>
        </p:nvSpPr>
        <p:spPr>
          <a:xfrm>
            <a:off x="3771586" y="4182780"/>
            <a:ext cx="1510029" cy="646331"/>
          </a:xfrm>
          <a:prstGeom prst="rect">
            <a:avLst/>
          </a:prstGeom>
          <a:noFill/>
        </p:spPr>
        <p:txBody>
          <a:bodyPr wrap="none" rtlCol="0">
            <a:spAutoFit/>
          </a:bodyPr>
          <a:lstStyle/>
          <a:p>
            <a:r>
              <a:rPr lang="en-GB" dirty="0">
                <a:solidFill>
                  <a:prstClr val="black"/>
                </a:solidFill>
              </a:rPr>
              <a:t>CPU </a:t>
            </a:r>
          </a:p>
          <a:p>
            <a:r>
              <a:rPr lang="en-GB" dirty="0">
                <a:solidFill>
                  <a:prstClr val="black"/>
                </a:solidFill>
              </a:rPr>
              <a:t>Machine code</a:t>
            </a:r>
          </a:p>
        </p:txBody>
      </p:sp>
      <p:sp>
        <p:nvSpPr>
          <p:cNvPr id="17" name="Down Arrow 16"/>
          <p:cNvSpPr/>
          <p:nvPr/>
        </p:nvSpPr>
        <p:spPr>
          <a:xfrm rot="19312411">
            <a:off x="2433970" y="3896309"/>
            <a:ext cx="325996" cy="15841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8" name="Down Arrow 17"/>
          <p:cNvSpPr/>
          <p:nvPr/>
        </p:nvSpPr>
        <p:spPr>
          <a:xfrm rot="12970652">
            <a:off x="6687157" y="3832399"/>
            <a:ext cx="265049" cy="15841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9" name="TextBox 18"/>
          <p:cNvSpPr txBox="1"/>
          <p:nvPr/>
        </p:nvSpPr>
        <p:spPr>
          <a:xfrm>
            <a:off x="1327637" y="4628544"/>
            <a:ext cx="1037463" cy="369332"/>
          </a:xfrm>
          <a:prstGeom prst="rect">
            <a:avLst/>
          </a:prstGeom>
          <a:noFill/>
        </p:spPr>
        <p:txBody>
          <a:bodyPr wrap="none" rtlCol="0">
            <a:spAutoFit/>
          </a:bodyPr>
          <a:lstStyle/>
          <a:p>
            <a:r>
              <a:rPr lang="en-GB" dirty="0">
                <a:solidFill>
                  <a:prstClr val="black"/>
                </a:solidFill>
              </a:rPr>
              <a:t>Complier</a:t>
            </a:r>
          </a:p>
        </p:txBody>
      </p:sp>
      <p:sp>
        <p:nvSpPr>
          <p:cNvPr id="20" name="TextBox 19"/>
          <p:cNvSpPr txBox="1"/>
          <p:nvPr/>
        </p:nvSpPr>
        <p:spPr>
          <a:xfrm>
            <a:off x="6875484" y="4686235"/>
            <a:ext cx="2242730" cy="646331"/>
          </a:xfrm>
          <a:prstGeom prst="rect">
            <a:avLst/>
          </a:prstGeom>
          <a:noFill/>
        </p:spPr>
        <p:txBody>
          <a:bodyPr wrap="none" rtlCol="0">
            <a:spAutoFit/>
          </a:bodyPr>
          <a:lstStyle/>
          <a:p>
            <a:r>
              <a:rPr lang="en-GB" dirty="0">
                <a:solidFill>
                  <a:prstClr val="black"/>
                </a:solidFill>
              </a:rPr>
              <a:t>Disassembler</a:t>
            </a:r>
          </a:p>
          <a:p>
            <a:r>
              <a:rPr lang="en-GB" dirty="0">
                <a:solidFill>
                  <a:prstClr val="black"/>
                </a:solidFill>
              </a:rPr>
              <a:t>(Reverse-Engineering)</a:t>
            </a:r>
          </a:p>
        </p:txBody>
      </p:sp>
    </p:spTree>
    <p:extLst>
      <p:ext uri="{BB962C8B-B14F-4D97-AF65-F5344CB8AC3E}">
        <p14:creationId xmlns:p14="http://schemas.microsoft.com/office/powerpoint/2010/main" val="21038495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Disassembly</a:t>
            </a:r>
            <a:endParaRPr lang="en-GB" dirty="0"/>
          </a:p>
        </p:txBody>
      </p:sp>
      <p:sp>
        <p:nvSpPr>
          <p:cNvPr id="3" name="Content Placeholder 2"/>
          <p:cNvSpPr>
            <a:spLocks noGrp="1"/>
          </p:cNvSpPr>
          <p:nvPr>
            <p:ph idx="1"/>
          </p:nvPr>
        </p:nvSpPr>
        <p:spPr/>
        <p:txBody>
          <a:bodyPr/>
          <a:lstStyle/>
          <a:p>
            <a:endParaRPr lang="en-GB"/>
          </a:p>
        </p:txBody>
      </p:sp>
      <p:pic>
        <p:nvPicPr>
          <p:cNvPr id="1028" name="Picture 4" descr="Káº¿t quáº£ hÃ¬nh áº£nh cho bytecode interpre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149468"/>
            <a:ext cx="6903566" cy="2567564"/>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1030" name="Picture 6" descr="Káº¿t quáº£ hÃ¬nh áº£nh cho bytecode interpre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8631" y="3964260"/>
            <a:ext cx="6886575"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8437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X86 </a:t>
            </a:r>
            <a:r>
              <a:rPr lang="en-GB" dirty="0"/>
              <a:t>Disassembly</a:t>
            </a:r>
          </a:p>
        </p:txBody>
      </p:sp>
      <p:sp>
        <p:nvSpPr>
          <p:cNvPr id="3" name="Content Placeholder 2"/>
          <p:cNvSpPr>
            <a:spLocks noGrp="1"/>
          </p:cNvSpPr>
          <p:nvPr>
            <p:ph idx="1"/>
          </p:nvPr>
        </p:nvSpPr>
        <p:spPr/>
        <p:txBody>
          <a:bodyPr/>
          <a:lstStyle/>
          <a:p>
            <a:r>
              <a:rPr lang="en-GB" b="1" dirty="0" smtClean="0"/>
              <a:t>X86 Architecture  ALU: Arithmetic Logic Unit</a:t>
            </a:r>
          </a:p>
          <a:p>
            <a:pPr lvl="1"/>
            <a:r>
              <a:rPr lang="en-GB" dirty="0" smtClean="0"/>
              <a:t>Von Neumann architecture</a:t>
            </a:r>
            <a:endParaRPr lang="en-GB" dirty="0"/>
          </a:p>
        </p:txBody>
      </p:sp>
      <p:grpSp>
        <p:nvGrpSpPr>
          <p:cNvPr id="21" name="Group 20"/>
          <p:cNvGrpSpPr/>
          <p:nvPr/>
        </p:nvGrpSpPr>
        <p:grpSpPr>
          <a:xfrm>
            <a:off x="972006" y="2294560"/>
            <a:ext cx="5101912" cy="3888432"/>
            <a:chOff x="1619672" y="2420888"/>
            <a:chExt cx="5101912" cy="3888432"/>
          </a:xfrm>
        </p:grpSpPr>
        <p:sp>
          <p:nvSpPr>
            <p:cNvPr id="4" name="Rectangle 3"/>
            <p:cNvSpPr/>
            <p:nvPr/>
          </p:nvSpPr>
          <p:spPr>
            <a:xfrm>
              <a:off x="1619672" y="2492896"/>
              <a:ext cx="3600400" cy="28803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5" name="Rounded Rectangle 4"/>
            <p:cNvSpPr/>
            <p:nvPr/>
          </p:nvSpPr>
          <p:spPr>
            <a:xfrm>
              <a:off x="2195736" y="2780928"/>
              <a:ext cx="2664296" cy="9001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7" name="Trapezoid 6"/>
            <p:cNvSpPr/>
            <p:nvPr/>
          </p:nvSpPr>
          <p:spPr>
            <a:xfrm rot="10800000">
              <a:off x="2339752" y="4149080"/>
              <a:ext cx="1188132" cy="792088"/>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8" name="Rectangle 7"/>
            <p:cNvSpPr/>
            <p:nvPr/>
          </p:nvSpPr>
          <p:spPr>
            <a:xfrm>
              <a:off x="3851920" y="4149080"/>
              <a:ext cx="1152128"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9" name="Rectangle 8"/>
            <p:cNvSpPr/>
            <p:nvPr/>
          </p:nvSpPr>
          <p:spPr>
            <a:xfrm>
              <a:off x="5796136" y="2492896"/>
              <a:ext cx="792088"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0" name="Rectangle 9"/>
            <p:cNvSpPr/>
            <p:nvPr/>
          </p:nvSpPr>
          <p:spPr>
            <a:xfrm>
              <a:off x="1619672" y="5661248"/>
              <a:ext cx="360040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1" name="TextBox 10"/>
            <p:cNvSpPr txBox="1"/>
            <p:nvPr/>
          </p:nvSpPr>
          <p:spPr>
            <a:xfrm>
              <a:off x="2946935" y="3046312"/>
              <a:ext cx="1025987" cy="369332"/>
            </a:xfrm>
            <a:prstGeom prst="rect">
              <a:avLst/>
            </a:prstGeom>
            <a:noFill/>
          </p:spPr>
          <p:txBody>
            <a:bodyPr wrap="none" rtlCol="0">
              <a:spAutoFit/>
            </a:bodyPr>
            <a:lstStyle/>
            <a:p>
              <a:r>
                <a:rPr lang="en-GB" dirty="0">
                  <a:solidFill>
                    <a:prstClr val="white"/>
                  </a:solidFill>
                </a:rPr>
                <a:t>Registers</a:t>
              </a:r>
            </a:p>
          </p:txBody>
        </p:sp>
        <p:sp>
          <p:nvSpPr>
            <p:cNvPr id="12" name="TextBox 11"/>
            <p:cNvSpPr txBox="1"/>
            <p:nvPr/>
          </p:nvSpPr>
          <p:spPr>
            <a:xfrm>
              <a:off x="2705770" y="4209607"/>
              <a:ext cx="558038" cy="369332"/>
            </a:xfrm>
            <a:prstGeom prst="rect">
              <a:avLst/>
            </a:prstGeom>
            <a:noFill/>
          </p:spPr>
          <p:txBody>
            <a:bodyPr wrap="none" rtlCol="0">
              <a:spAutoFit/>
            </a:bodyPr>
            <a:lstStyle/>
            <a:p>
              <a:r>
                <a:rPr lang="en-GB" dirty="0">
                  <a:solidFill>
                    <a:prstClr val="white"/>
                  </a:solidFill>
                </a:rPr>
                <a:t>ALU</a:t>
              </a:r>
            </a:p>
          </p:txBody>
        </p:sp>
        <p:sp>
          <p:nvSpPr>
            <p:cNvPr id="13" name="TextBox 12"/>
            <p:cNvSpPr txBox="1"/>
            <p:nvPr/>
          </p:nvSpPr>
          <p:spPr>
            <a:xfrm>
              <a:off x="3972922" y="4221958"/>
              <a:ext cx="972886" cy="646331"/>
            </a:xfrm>
            <a:prstGeom prst="rect">
              <a:avLst/>
            </a:prstGeom>
            <a:noFill/>
          </p:spPr>
          <p:txBody>
            <a:bodyPr wrap="square" rtlCol="0">
              <a:spAutoFit/>
            </a:bodyPr>
            <a:lstStyle/>
            <a:p>
              <a:r>
                <a:rPr lang="en-GB" dirty="0">
                  <a:solidFill>
                    <a:prstClr val="white"/>
                  </a:solidFill>
                </a:rPr>
                <a:t>Control Unit</a:t>
              </a:r>
            </a:p>
          </p:txBody>
        </p:sp>
        <p:sp>
          <p:nvSpPr>
            <p:cNvPr id="14" name="TextBox 13"/>
            <p:cNvSpPr txBox="1"/>
            <p:nvPr/>
          </p:nvSpPr>
          <p:spPr>
            <a:xfrm>
              <a:off x="2979344" y="5800618"/>
              <a:ext cx="1254318" cy="369332"/>
            </a:xfrm>
            <a:prstGeom prst="rect">
              <a:avLst/>
            </a:prstGeom>
            <a:noFill/>
          </p:spPr>
          <p:txBody>
            <a:bodyPr wrap="none" rtlCol="0">
              <a:spAutoFit/>
            </a:bodyPr>
            <a:lstStyle/>
            <a:p>
              <a:r>
                <a:rPr lang="en-GB" dirty="0">
                  <a:solidFill>
                    <a:prstClr val="white"/>
                  </a:solidFill>
                </a:rPr>
                <a:t>I/O Devices</a:t>
              </a:r>
            </a:p>
          </p:txBody>
        </p:sp>
        <p:sp>
          <p:nvSpPr>
            <p:cNvPr id="15" name="TextBox 14"/>
            <p:cNvSpPr txBox="1"/>
            <p:nvPr/>
          </p:nvSpPr>
          <p:spPr>
            <a:xfrm>
              <a:off x="5732659" y="3415644"/>
              <a:ext cx="988925" cy="923330"/>
            </a:xfrm>
            <a:prstGeom prst="rect">
              <a:avLst/>
            </a:prstGeom>
            <a:noFill/>
          </p:spPr>
          <p:txBody>
            <a:bodyPr wrap="none" rtlCol="0">
              <a:spAutoFit/>
            </a:bodyPr>
            <a:lstStyle/>
            <a:p>
              <a:r>
                <a:rPr lang="en-GB" dirty="0">
                  <a:solidFill>
                    <a:prstClr val="white"/>
                  </a:solidFill>
                </a:rPr>
                <a:t>Main</a:t>
              </a:r>
            </a:p>
            <a:p>
              <a:r>
                <a:rPr lang="en-GB" dirty="0">
                  <a:solidFill>
                    <a:prstClr val="white"/>
                  </a:solidFill>
                </a:rPr>
                <a:t>Memory</a:t>
              </a:r>
            </a:p>
            <a:p>
              <a:r>
                <a:rPr lang="en-GB" dirty="0">
                  <a:solidFill>
                    <a:prstClr val="white"/>
                  </a:solidFill>
                </a:rPr>
                <a:t>RAM</a:t>
              </a:r>
            </a:p>
          </p:txBody>
        </p:sp>
        <p:sp>
          <p:nvSpPr>
            <p:cNvPr id="16" name="Left-Right Arrow 15"/>
            <p:cNvSpPr/>
            <p:nvPr/>
          </p:nvSpPr>
          <p:spPr>
            <a:xfrm>
              <a:off x="5004048" y="4394273"/>
              <a:ext cx="728611" cy="33087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7" name="TextBox 16"/>
            <p:cNvSpPr txBox="1"/>
            <p:nvPr/>
          </p:nvSpPr>
          <p:spPr>
            <a:xfrm>
              <a:off x="3132774" y="2420888"/>
              <a:ext cx="574196" cy="369332"/>
            </a:xfrm>
            <a:prstGeom prst="rect">
              <a:avLst/>
            </a:prstGeom>
            <a:noFill/>
          </p:spPr>
          <p:txBody>
            <a:bodyPr wrap="none" rtlCol="0">
              <a:spAutoFit/>
            </a:bodyPr>
            <a:lstStyle/>
            <a:p>
              <a:r>
                <a:rPr lang="en-GB" dirty="0">
                  <a:solidFill>
                    <a:prstClr val="black"/>
                  </a:solidFill>
                </a:rPr>
                <a:t>CPU</a:t>
              </a:r>
            </a:p>
          </p:txBody>
        </p:sp>
        <p:sp>
          <p:nvSpPr>
            <p:cNvPr id="18" name="Left-Right Arrow 17"/>
            <p:cNvSpPr/>
            <p:nvPr/>
          </p:nvSpPr>
          <p:spPr>
            <a:xfrm rot="16200000">
              <a:off x="2750794" y="3749587"/>
              <a:ext cx="450541" cy="31342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9" name="Left-Right Arrow 18"/>
            <p:cNvSpPr/>
            <p:nvPr/>
          </p:nvSpPr>
          <p:spPr>
            <a:xfrm rot="16200000">
              <a:off x="2594901" y="5123372"/>
              <a:ext cx="720080" cy="35566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0" name="Left-Right Arrow 19"/>
            <p:cNvSpPr/>
            <p:nvPr/>
          </p:nvSpPr>
          <p:spPr>
            <a:xfrm>
              <a:off x="3401379" y="4464789"/>
              <a:ext cx="450541" cy="31342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grpSp>
      <p:sp>
        <p:nvSpPr>
          <p:cNvPr id="22" name="Rectangle 21"/>
          <p:cNvSpPr/>
          <p:nvPr/>
        </p:nvSpPr>
        <p:spPr>
          <a:xfrm>
            <a:off x="7020272" y="2919984"/>
            <a:ext cx="1944216" cy="36773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3" name="Rectangle 22"/>
          <p:cNvSpPr/>
          <p:nvPr/>
        </p:nvSpPr>
        <p:spPr>
          <a:xfrm>
            <a:off x="7164288" y="3429000"/>
            <a:ext cx="1656184" cy="3024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4" name="TextBox 23"/>
          <p:cNvSpPr txBox="1"/>
          <p:nvPr/>
        </p:nvSpPr>
        <p:spPr>
          <a:xfrm>
            <a:off x="7236628" y="2919984"/>
            <a:ext cx="1511504" cy="369332"/>
          </a:xfrm>
          <a:prstGeom prst="rect">
            <a:avLst/>
          </a:prstGeom>
          <a:noFill/>
        </p:spPr>
        <p:txBody>
          <a:bodyPr wrap="none" rtlCol="0">
            <a:spAutoFit/>
          </a:bodyPr>
          <a:lstStyle/>
          <a:p>
            <a:r>
              <a:rPr lang="en-GB" dirty="0">
                <a:solidFill>
                  <a:prstClr val="black"/>
                </a:solidFill>
              </a:rPr>
              <a:t>Main memory</a:t>
            </a:r>
          </a:p>
        </p:txBody>
      </p:sp>
      <p:sp>
        <p:nvSpPr>
          <p:cNvPr id="25" name="TextBox 24"/>
          <p:cNvSpPr txBox="1"/>
          <p:nvPr/>
        </p:nvSpPr>
        <p:spPr>
          <a:xfrm>
            <a:off x="7665815" y="3595304"/>
            <a:ext cx="677173" cy="369332"/>
          </a:xfrm>
          <a:prstGeom prst="rect">
            <a:avLst/>
          </a:prstGeom>
          <a:noFill/>
        </p:spPr>
        <p:txBody>
          <a:bodyPr wrap="none" rtlCol="0">
            <a:spAutoFit/>
          </a:bodyPr>
          <a:lstStyle/>
          <a:p>
            <a:r>
              <a:rPr lang="en-GB" dirty="0">
                <a:solidFill>
                  <a:prstClr val="white"/>
                </a:solidFill>
              </a:rPr>
              <a:t>Stack</a:t>
            </a:r>
          </a:p>
        </p:txBody>
      </p:sp>
      <p:sp>
        <p:nvSpPr>
          <p:cNvPr id="26" name="TextBox 25"/>
          <p:cNvSpPr txBox="1"/>
          <p:nvPr/>
        </p:nvSpPr>
        <p:spPr>
          <a:xfrm>
            <a:off x="7653793" y="4310506"/>
            <a:ext cx="676788" cy="369332"/>
          </a:xfrm>
          <a:prstGeom prst="rect">
            <a:avLst/>
          </a:prstGeom>
          <a:noFill/>
        </p:spPr>
        <p:txBody>
          <a:bodyPr wrap="none" rtlCol="0">
            <a:spAutoFit/>
          </a:bodyPr>
          <a:lstStyle/>
          <a:p>
            <a:r>
              <a:rPr lang="en-GB" dirty="0">
                <a:solidFill>
                  <a:prstClr val="white"/>
                </a:solidFill>
              </a:rPr>
              <a:t>Heap</a:t>
            </a:r>
          </a:p>
        </p:txBody>
      </p:sp>
      <p:sp>
        <p:nvSpPr>
          <p:cNvPr id="27" name="TextBox 26"/>
          <p:cNvSpPr txBox="1"/>
          <p:nvPr/>
        </p:nvSpPr>
        <p:spPr>
          <a:xfrm>
            <a:off x="7666672" y="5157192"/>
            <a:ext cx="667170" cy="369332"/>
          </a:xfrm>
          <a:prstGeom prst="rect">
            <a:avLst/>
          </a:prstGeom>
          <a:noFill/>
        </p:spPr>
        <p:txBody>
          <a:bodyPr wrap="none" rtlCol="0">
            <a:spAutoFit/>
          </a:bodyPr>
          <a:lstStyle/>
          <a:p>
            <a:r>
              <a:rPr lang="en-GB" dirty="0">
                <a:solidFill>
                  <a:prstClr val="white"/>
                </a:solidFill>
              </a:rPr>
              <a:t>Code</a:t>
            </a:r>
          </a:p>
        </p:txBody>
      </p:sp>
      <p:sp>
        <p:nvSpPr>
          <p:cNvPr id="30" name="TextBox 29"/>
          <p:cNvSpPr txBox="1"/>
          <p:nvPr/>
        </p:nvSpPr>
        <p:spPr>
          <a:xfrm>
            <a:off x="7693748" y="5998326"/>
            <a:ext cx="620554" cy="369332"/>
          </a:xfrm>
          <a:prstGeom prst="rect">
            <a:avLst/>
          </a:prstGeom>
          <a:noFill/>
        </p:spPr>
        <p:txBody>
          <a:bodyPr wrap="none" rtlCol="0">
            <a:spAutoFit/>
          </a:bodyPr>
          <a:lstStyle/>
          <a:p>
            <a:r>
              <a:rPr lang="en-GB" dirty="0">
                <a:solidFill>
                  <a:prstClr val="white"/>
                </a:solidFill>
              </a:rPr>
              <a:t>Data</a:t>
            </a:r>
          </a:p>
        </p:txBody>
      </p:sp>
      <p:cxnSp>
        <p:nvCxnSpPr>
          <p:cNvPr id="32" name="Straight Connector 31"/>
          <p:cNvCxnSpPr/>
          <p:nvPr/>
        </p:nvCxnSpPr>
        <p:spPr>
          <a:xfrm flipV="1">
            <a:off x="7164288" y="4083279"/>
            <a:ext cx="1656184" cy="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7206203" y="4814840"/>
            <a:ext cx="1656184" cy="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7204243" y="5858956"/>
            <a:ext cx="1656184" cy="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407604" y="3399752"/>
            <a:ext cx="612668" cy="369332"/>
          </a:xfrm>
          <a:prstGeom prst="rect">
            <a:avLst/>
          </a:prstGeom>
          <a:noFill/>
        </p:spPr>
        <p:txBody>
          <a:bodyPr wrap="none" rtlCol="0">
            <a:spAutoFit/>
          </a:bodyPr>
          <a:lstStyle/>
          <a:p>
            <a:r>
              <a:rPr lang="en-GB" dirty="0">
                <a:solidFill>
                  <a:prstClr val="black"/>
                </a:solidFill>
              </a:rPr>
              <a:t>LMA</a:t>
            </a:r>
          </a:p>
        </p:txBody>
      </p:sp>
      <p:sp>
        <p:nvSpPr>
          <p:cNvPr id="40" name="TextBox 39"/>
          <p:cNvSpPr txBox="1"/>
          <p:nvPr/>
        </p:nvSpPr>
        <p:spPr>
          <a:xfrm>
            <a:off x="6407604" y="6045497"/>
            <a:ext cx="659155" cy="369332"/>
          </a:xfrm>
          <a:prstGeom prst="rect">
            <a:avLst/>
          </a:prstGeom>
          <a:noFill/>
        </p:spPr>
        <p:txBody>
          <a:bodyPr wrap="none" rtlCol="0">
            <a:spAutoFit/>
          </a:bodyPr>
          <a:lstStyle/>
          <a:p>
            <a:r>
              <a:rPr lang="en-GB" dirty="0">
                <a:solidFill>
                  <a:prstClr val="black"/>
                </a:solidFill>
              </a:rPr>
              <a:t>HMA</a:t>
            </a:r>
          </a:p>
        </p:txBody>
      </p:sp>
    </p:spTree>
    <p:extLst>
      <p:ext uri="{BB962C8B-B14F-4D97-AF65-F5344CB8AC3E}">
        <p14:creationId xmlns:p14="http://schemas.microsoft.com/office/powerpoint/2010/main" val="26342412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normAutofit fontScale="70000" lnSpcReduction="20000"/>
          </a:bodyPr>
          <a:lstStyle/>
          <a:p>
            <a:r>
              <a:rPr lang="en-GB" sz="3200" b="1" dirty="0"/>
              <a:t>Data </a:t>
            </a:r>
            <a:r>
              <a:rPr lang="en-GB" sz="3200" dirty="0"/>
              <a:t>This term can be used to refer to a specific section of memory called the </a:t>
            </a:r>
            <a:r>
              <a:rPr lang="en-GB" sz="3200" i="1" dirty="0"/>
              <a:t>data section</a:t>
            </a:r>
            <a:r>
              <a:rPr lang="en-GB" sz="3200" dirty="0"/>
              <a:t>, which contains values that are put in place when a program is initially loaded. These values are sometimes called </a:t>
            </a:r>
            <a:r>
              <a:rPr lang="en-GB" sz="3200" i="1" dirty="0"/>
              <a:t>static </a:t>
            </a:r>
            <a:r>
              <a:rPr lang="en-GB" sz="3200" dirty="0"/>
              <a:t>values because they may not change while the program is running, or they may be called </a:t>
            </a:r>
            <a:r>
              <a:rPr lang="en-GB" sz="3200" i="1" dirty="0"/>
              <a:t>global </a:t>
            </a:r>
            <a:r>
              <a:rPr lang="en-GB" sz="3200" dirty="0"/>
              <a:t>values because they are available to any part of the program.</a:t>
            </a:r>
          </a:p>
          <a:p>
            <a:r>
              <a:rPr lang="en-GB" sz="3200" b="1" dirty="0"/>
              <a:t>Code </a:t>
            </a:r>
            <a:r>
              <a:rPr lang="en-GB" sz="3200" dirty="0" err="1"/>
              <a:t>Code</a:t>
            </a:r>
            <a:r>
              <a:rPr lang="en-GB" sz="3200" dirty="0"/>
              <a:t> includes the instructions fetched by the CPU to execute the program’s tasks. The code controls what the program does and how the program’s tasks will be orchestrated.</a:t>
            </a:r>
          </a:p>
          <a:p>
            <a:r>
              <a:rPr lang="en-GB" sz="3200" b="1" dirty="0"/>
              <a:t>Heap </a:t>
            </a:r>
            <a:r>
              <a:rPr lang="en-GB" sz="3200" dirty="0"/>
              <a:t>The heap is used for dynamic memory during program execution, to create (allocate) new values and eliminate (free) values that the </a:t>
            </a:r>
            <a:r>
              <a:rPr lang="en-GB" sz="3200" dirty="0" smtClean="0"/>
              <a:t>program no </a:t>
            </a:r>
            <a:r>
              <a:rPr lang="en-GB" sz="3200" dirty="0"/>
              <a:t>longer needs. The heap is referred to as </a:t>
            </a:r>
            <a:r>
              <a:rPr lang="en-GB" sz="3200" i="1" dirty="0"/>
              <a:t>dynamic memory </a:t>
            </a:r>
            <a:r>
              <a:rPr lang="en-GB" sz="3200" dirty="0"/>
              <a:t>because its contents can change frequently while the program is running.</a:t>
            </a:r>
          </a:p>
          <a:p>
            <a:r>
              <a:rPr lang="en-GB" sz="3200" b="1" dirty="0"/>
              <a:t>Stack </a:t>
            </a:r>
            <a:r>
              <a:rPr lang="en-GB" sz="3200" dirty="0"/>
              <a:t>The stack is used for local variables and parameters for functions, and to help control program flow. </a:t>
            </a:r>
            <a:endParaRPr lang="en-GB" dirty="0"/>
          </a:p>
          <a:p>
            <a:endParaRPr lang="en-GB" dirty="0"/>
          </a:p>
        </p:txBody>
      </p:sp>
    </p:spTree>
    <p:extLst>
      <p:ext uri="{BB962C8B-B14F-4D97-AF65-F5344CB8AC3E}">
        <p14:creationId xmlns:p14="http://schemas.microsoft.com/office/powerpoint/2010/main" val="36643977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normAutofit lnSpcReduction="10000"/>
          </a:bodyPr>
          <a:lstStyle/>
          <a:p>
            <a:r>
              <a:rPr lang="en-GB" b="1" dirty="0" smtClean="0"/>
              <a:t>Instruction</a:t>
            </a:r>
          </a:p>
          <a:p>
            <a:endParaRPr lang="en-GB" dirty="0"/>
          </a:p>
          <a:p>
            <a:endParaRPr lang="en-GB" dirty="0" smtClean="0"/>
          </a:p>
          <a:p>
            <a:r>
              <a:rPr lang="en-GB" b="1" dirty="0" smtClean="0"/>
              <a:t>Opcodes and Endianness</a:t>
            </a:r>
          </a:p>
          <a:p>
            <a:endParaRPr lang="en-GB" dirty="0"/>
          </a:p>
          <a:p>
            <a:endParaRPr lang="en-GB" dirty="0" smtClean="0"/>
          </a:p>
          <a:p>
            <a:r>
              <a:rPr lang="en-GB" b="1" dirty="0" smtClean="0"/>
              <a:t>Operands</a:t>
            </a:r>
          </a:p>
          <a:p>
            <a:pPr lvl="2"/>
            <a:r>
              <a:rPr lang="en-GB" dirty="0" smtClean="0"/>
              <a:t>Immediate: 0x42</a:t>
            </a:r>
          </a:p>
          <a:p>
            <a:pPr lvl="2"/>
            <a:r>
              <a:rPr lang="en-GB" dirty="0" smtClean="0"/>
              <a:t>Register: </a:t>
            </a:r>
            <a:r>
              <a:rPr lang="en-GB" dirty="0" err="1" smtClean="0"/>
              <a:t>ecx</a:t>
            </a:r>
            <a:endParaRPr lang="en-GB" dirty="0" smtClean="0"/>
          </a:p>
          <a:p>
            <a:pPr lvl="2"/>
            <a:r>
              <a:rPr lang="en-GB" dirty="0" smtClean="0"/>
              <a:t>Memory address: [</a:t>
            </a:r>
            <a:r>
              <a:rPr lang="en-GB" dirty="0" err="1" smtClean="0"/>
              <a:t>eax</a:t>
            </a:r>
            <a:r>
              <a:rPr lang="en-GB" dirty="0" smtClean="0"/>
              <a:t>]</a:t>
            </a:r>
          </a:p>
          <a:p>
            <a:endParaRPr lang="en-GB" dirty="0" smtClean="0"/>
          </a:p>
        </p:txBody>
      </p:sp>
      <p:graphicFrame>
        <p:nvGraphicFramePr>
          <p:cNvPr id="4" name="Table 3"/>
          <p:cNvGraphicFramePr>
            <a:graphicFrameLocks noGrp="1"/>
          </p:cNvGraphicFramePr>
          <p:nvPr>
            <p:extLst>
              <p:ext uri="{D42A27DB-BD31-4B8C-83A1-F6EECF244321}">
                <p14:modId xmlns:p14="http://schemas.microsoft.com/office/powerpoint/2010/main" val="1437961211"/>
              </p:ext>
            </p:extLst>
          </p:nvPr>
        </p:nvGraphicFramePr>
        <p:xfrm>
          <a:off x="1619672" y="1700808"/>
          <a:ext cx="6096000" cy="74168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GB" dirty="0" smtClean="0"/>
                        <a:t>Mnemonic</a:t>
                      </a:r>
                      <a:endParaRPr lang="en-GB" dirty="0"/>
                    </a:p>
                  </a:txBody>
                  <a:tcPr/>
                </a:tc>
                <a:tc>
                  <a:txBody>
                    <a:bodyPr/>
                    <a:lstStyle/>
                    <a:p>
                      <a:r>
                        <a:rPr lang="en-GB" dirty="0" err="1" smtClean="0"/>
                        <a:t>Dest</a:t>
                      </a:r>
                      <a:r>
                        <a:rPr lang="en-GB" dirty="0" smtClean="0"/>
                        <a:t>.. Operand</a:t>
                      </a:r>
                      <a:endParaRPr lang="en-GB" dirty="0"/>
                    </a:p>
                  </a:txBody>
                  <a:tcPr/>
                </a:tc>
                <a:tc>
                  <a:txBody>
                    <a:bodyPr/>
                    <a:lstStyle/>
                    <a:p>
                      <a:r>
                        <a:rPr lang="en-GB" dirty="0" smtClean="0"/>
                        <a:t>Source operand</a:t>
                      </a:r>
                      <a:endParaRPr lang="en-GB" dirty="0"/>
                    </a:p>
                  </a:txBody>
                  <a:tcPr/>
                </a:tc>
              </a:tr>
              <a:tr h="370840">
                <a:tc>
                  <a:txBody>
                    <a:bodyPr/>
                    <a:lstStyle/>
                    <a:p>
                      <a:r>
                        <a:rPr lang="en-GB" dirty="0" err="1" smtClean="0"/>
                        <a:t>mov</a:t>
                      </a:r>
                      <a:endParaRPr lang="en-GB" dirty="0"/>
                    </a:p>
                  </a:txBody>
                  <a:tcPr/>
                </a:tc>
                <a:tc>
                  <a:txBody>
                    <a:bodyPr/>
                    <a:lstStyle/>
                    <a:p>
                      <a:r>
                        <a:rPr lang="en-GB" dirty="0" err="1" smtClean="0"/>
                        <a:t>ecx</a:t>
                      </a:r>
                      <a:endParaRPr lang="en-GB" dirty="0"/>
                    </a:p>
                  </a:txBody>
                  <a:tcPr/>
                </a:tc>
                <a:tc>
                  <a:txBody>
                    <a:bodyPr/>
                    <a:lstStyle/>
                    <a:p>
                      <a:r>
                        <a:rPr lang="en-GB" dirty="0" smtClean="0"/>
                        <a:t>0x42</a:t>
                      </a:r>
                      <a:endParaRPr lang="en-GB"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836454951"/>
              </p:ext>
            </p:extLst>
          </p:nvPr>
        </p:nvGraphicFramePr>
        <p:xfrm>
          <a:off x="1619672" y="3212976"/>
          <a:ext cx="6096000" cy="74168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GB" dirty="0" smtClean="0"/>
                        <a:t>Instruction</a:t>
                      </a:r>
                      <a:endParaRPr lang="en-GB" dirty="0"/>
                    </a:p>
                  </a:txBody>
                  <a:tcPr/>
                </a:tc>
                <a:tc>
                  <a:txBody>
                    <a:bodyPr/>
                    <a:lstStyle/>
                    <a:p>
                      <a:r>
                        <a:rPr lang="en-GB" dirty="0" err="1" smtClean="0"/>
                        <a:t>Mov</a:t>
                      </a:r>
                      <a:r>
                        <a:rPr lang="en-GB" baseline="0" dirty="0" smtClean="0"/>
                        <a:t> </a:t>
                      </a:r>
                      <a:r>
                        <a:rPr lang="en-GB" baseline="0" dirty="0" err="1" smtClean="0"/>
                        <a:t>ecx</a:t>
                      </a:r>
                      <a:endParaRPr lang="en-GB" dirty="0"/>
                    </a:p>
                  </a:txBody>
                  <a:tcPr/>
                </a:tc>
                <a:tc>
                  <a:txBody>
                    <a:bodyPr/>
                    <a:lstStyle/>
                    <a:p>
                      <a:r>
                        <a:rPr lang="en-GB" dirty="0" smtClean="0"/>
                        <a:t>0x42</a:t>
                      </a:r>
                      <a:endParaRPr lang="en-GB" dirty="0"/>
                    </a:p>
                  </a:txBody>
                  <a:tcPr/>
                </a:tc>
              </a:tr>
              <a:tr h="370840">
                <a:tc>
                  <a:txBody>
                    <a:bodyPr/>
                    <a:lstStyle/>
                    <a:p>
                      <a:r>
                        <a:rPr lang="en-GB" dirty="0" smtClean="0"/>
                        <a:t>Opcodes</a:t>
                      </a:r>
                      <a:endParaRPr lang="en-GB" dirty="0"/>
                    </a:p>
                  </a:txBody>
                  <a:tcPr/>
                </a:tc>
                <a:tc>
                  <a:txBody>
                    <a:bodyPr/>
                    <a:lstStyle/>
                    <a:p>
                      <a:r>
                        <a:rPr lang="en-GB" dirty="0" smtClean="0"/>
                        <a:t>B9</a:t>
                      </a:r>
                      <a:endParaRPr lang="en-GB" dirty="0"/>
                    </a:p>
                  </a:txBody>
                  <a:tcPr/>
                </a:tc>
                <a:tc>
                  <a:txBody>
                    <a:bodyPr/>
                    <a:lstStyle/>
                    <a:p>
                      <a:r>
                        <a:rPr lang="en-GB" dirty="0" smtClean="0"/>
                        <a:t>42 00 00 00</a:t>
                      </a:r>
                      <a:endParaRPr lang="en-GB" dirty="0"/>
                    </a:p>
                  </a:txBody>
                  <a:tcPr/>
                </a:tc>
              </a:tr>
            </a:tbl>
          </a:graphicData>
        </a:graphic>
      </p:graphicFrame>
      <p:sp>
        <p:nvSpPr>
          <p:cNvPr id="6" name="TextBox 5"/>
          <p:cNvSpPr txBox="1"/>
          <p:nvPr/>
        </p:nvSpPr>
        <p:spPr>
          <a:xfrm>
            <a:off x="827584" y="6237312"/>
            <a:ext cx="7237302" cy="369332"/>
          </a:xfrm>
          <a:prstGeom prst="rect">
            <a:avLst/>
          </a:prstGeom>
          <a:solidFill>
            <a:schemeClr val="accent6">
              <a:lumMod val="20000"/>
              <a:lumOff val="80000"/>
            </a:schemeClr>
          </a:solidFill>
        </p:spPr>
        <p:txBody>
          <a:bodyPr wrap="none" rtlCol="0">
            <a:spAutoFit/>
          </a:bodyPr>
          <a:lstStyle/>
          <a:p>
            <a:r>
              <a:rPr lang="en-US" dirty="0">
                <a:hlinkClick r:id="rId2"/>
              </a:rPr>
              <a:t>https://</a:t>
            </a:r>
            <a:r>
              <a:rPr lang="en-US" dirty="0" smtClean="0">
                <a:hlinkClick r:id="rId2"/>
              </a:rPr>
              <a:t>www.cs.uaf.edu/2016/fall/cs301/lecture/09_28_machinecode.html</a:t>
            </a:r>
            <a:r>
              <a:rPr lang="en-US" dirty="0" smtClean="0"/>
              <a:t> </a:t>
            </a:r>
            <a:endParaRPr lang="en-US" dirty="0"/>
          </a:p>
        </p:txBody>
      </p:sp>
    </p:spTree>
    <p:extLst>
      <p:ext uri="{BB962C8B-B14F-4D97-AF65-F5344CB8AC3E}">
        <p14:creationId xmlns:p14="http://schemas.microsoft.com/office/powerpoint/2010/main" val="37570286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363" y="1844824"/>
            <a:ext cx="7757276" cy="39288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76635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b="1" dirty="0" smtClean="0"/>
              <a:t>Registers</a:t>
            </a:r>
            <a:r>
              <a:rPr lang="en-GB" dirty="0" smtClean="0"/>
              <a:t>: a small amount of data storage in CPU</a:t>
            </a:r>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3373954"/>
              </p:ext>
            </p:extLst>
          </p:nvPr>
        </p:nvGraphicFramePr>
        <p:xfrm>
          <a:off x="971600" y="1916832"/>
          <a:ext cx="7108878" cy="3545840"/>
        </p:xfrm>
        <a:graphic>
          <a:graphicData uri="http://schemas.openxmlformats.org/drawingml/2006/table">
            <a:tbl>
              <a:tblPr firstRow="1" bandRow="1">
                <a:tableStyleId>{5C22544A-7EE6-4342-B048-85BDC9FD1C3A}</a:tableStyleId>
              </a:tblPr>
              <a:tblGrid>
                <a:gridCol w="1584176"/>
                <a:gridCol w="834574"/>
                <a:gridCol w="1563376"/>
                <a:gridCol w="1563376"/>
                <a:gridCol w="1563376"/>
              </a:tblGrid>
              <a:tr h="370840">
                <a:tc gridSpan="2">
                  <a:txBody>
                    <a:bodyPr/>
                    <a:lstStyle/>
                    <a:p>
                      <a:r>
                        <a:rPr lang="en-GB" sz="1600" dirty="0" smtClean="0"/>
                        <a:t>General register</a:t>
                      </a:r>
                      <a:endParaRPr lang="en-GB" sz="1600" dirty="0"/>
                    </a:p>
                  </a:txBody>
                  <a:tcPr/>
                </a:tc>
                <a:tc hMerge="1">
                  <a:txBody>
                    <a:bodyPr/>
                    <a:lstStyle/>
                    <a:p>
                      <a:endParaRPr lang="en-US"/>
                    </a:p>
                  </a:txBody>
                  <a:tcPr/>
                </a:tc>
                <a:tc>
                  <a:txBody>
                    <a:bodyPr/>
                    <a:lstStyle/>
                    <a:p>
                      <a:r>
                        <a:rPr lang="en-GB" sz="1600" dirty="0" smtClean="0"/>
                        <a:t>Segment register</a:t>
                      </a:r>
                      <a:endParaRPr lang="en-GB" sz="1600" dirty="0"/>
                    </a:p>
                  </a:txBody>
                  <a:tcPr/>
                </a:tc>
                <a:tc>
                  <a:txBody>
                    <a:bodyPr/>
                    <a:lstStyle/>
                    <a:p>
                      <a:r>
                        <a:rPr lang="en-GB" sz="1600" dirty="0" smtClean="0"/>
                        <a:t>Status register</a:t>
                      </a:r>
                      <a:r>
                        <a:rPr lang="en-GB" sz="1600" baseline="0" dirty="0" smtClean="0"/>
                        <a:t> (flag)</a:t>
                      </a:r>
                      <a:endParaRPr lang="en-GB" sz="1600" dirty="0"/>
                    </a:p>
                  </a:txBody>
                  <a:tcPr/>
                </a:tc>
                <a:tc>
                  <a:txBody>
                    <a:bodyPr/>
                    <a:lstStyle/>
                    <a:p>
                      <a:r>
                        <a:rPr lang="en-GB" sz="1600" dirty="0" smtClean="0"/>
                        <a:t>Instruction pointer</a:t>
                      </a:r>
                      <a:endParaRPr lang="en-GB" sz="1600" dirty="0"/>
                    </a:p>
                  </a:txBody>
                  <a:tcPr/>
                </a:tc>
              </a:tr>
              <a:tr h="370840">
                <a:tc>
                  <a:txBody>
                    <a:bodyPr/>
                    <a:lstStyle/>
                    <a:p>
                      <a:r>
                        <a:rPr lang="en-GB" sz="1600" dirty="0" smtClean="0"/>
                        <a:t>EAX (AX,AH, AL)</a:t>
                      </a:r>
                      <a:endParaRPr lang="en-GB" sz="1600" dirty="0"/>
                    </a:p>
                  </a:txBody>
                  <a:tcPr/>
                </a:tc>
                <a:tc>
                  <a:txBody>
                    <a:bodyPr/>
                    <a:lstStyle/>
                    <a:p>
                      <a:r>
                        <a:rPr lang="en-GB" sz="1600" dirty="0" smtClean="0"/>
                        <a:t>000 (0)</a:t>
                      </a:r>
                      <a:endParaRPr lang="en-GB" sz="1600" dirty="0"/>
                    </a:p>
                  </a:txBody>
                  <a:tcPr/>
                </a:tc>
                <a:tc>
                  <a:txBody>
                    <a:bodyPr/>
                    <a:lstStyle/>
                    <a:p>
                      <a:r>
                        <a:rPr lang="en-GB" sz="1600" dirty="0" smtClean="0"/>
                        <a:t>CS</a:t>
                      </a:r>
                      <a:endParaRPr lang="en-GB" sz="1600" dirty="0"/>
                    </a:p>
                  </a:txBody>
                  <a:tcPr/>
                </a:tc>
                <a:tc>
                  <a:txBody>
                    <a:bodyPr/>
                    <a:lstStyle/>
                    <a:p>
                      <a:r>
                        <a:rPr lang="en-GB" sz="1600" dirty="0" smtClean="0"/>
                        <a:t>EFLAGS</a:t>
                      </a:r>
                      <a:endParaRPr lang="en-GB" sz="1600" dirty="0"/>
                    </a:p>
                  </a:txBody>
                  <a:tcPr/>
                </a:tc>
                <a:tc>
                  <a:txBody>
                    <a:bodyPr/>
                    <a:lstStyle/>
                    <a:p>
                      <a:r>
                        <a:rPr lang="en-GB" sz="1600" dirty="0" smtClean="0"/>
                        <a:t>EIP</a:t>
                      </a:r>
                      <a:endParaRPr lang="en-GB" sz="1600" dirty="0"/>
                    </a:p>
                  </a:txBody>
                  <a:tcPr/>
                </a:tc>
              </a:tr>
              <a:tr h="370840">
                <a:tc>
                  <a:txBody>
                    <a:bodyPr/>
                    <a:lstStyle/>
                    <a:p>
                      <a:r>
                        <a:rPr lang="en-GB" sz="1600" dirty="0" smtClean="0"/>
                        <a:t>EBX (BX, BH, BL)</a:t>
                      </a:r>
                      <a:endParaRPr lang="en-GB" sz="1600" dirty="0"/>
                    </a:p>
                  </a:txBody>
                  <a:tcPr/>
                </a:tc>
                <a:tc>
                  <a:txBody>
                    <a:bodyPr/>
                    <a:lstStyle/>
                    <a:p>
                      <a:r>
                        <a:rPr lang="en-GB" sz="1600" dirty="0" smtClean="0"/>
                        <a:t>011 (3)</a:t>
                      </a:r>
                      <a:endParaRPr lang="en-GB" sz="1600" dirty="0"/>
                    </a:p>
                  </a:txBody>
                  <a:tcPr/>
                </a:tc>
                <a:tc>
                  <a:txBody>
                    <a:bodyPr/>
                    <a:lstStyle/>
                    <a:p>
                      <a:r>
                        <a:rPr lang="en-GB" sz="1600" dirty="0" smtClean="0"/>
                        <a:t>SS</a:t>
                      </a:r>
                      <a:endParaRPr lang="en-GB" sz="1600" dirty="0"/>
                    </a:p>
                  </a:txBody>
                  <a:tcPr/>
                </a:tc>
                <a:tc>
                  <a:txBody>
                    <a:bodyPr/>
                    <a:lstStyle/>
                    <a:p>
                      <a:endParaRPr lang="en-GB" sz="1600" dirty="0"/>
                    </a:p>
                  </a:txBody>
                  <a:tcPr/>
                </a:tc>
                <a:tc>
                  <a:txBody>
                    <a:bodyPr/>
                    <a:lstStyle/>
                    <a:p>
                      <a:endParaRPr lang="en-GB" sz="1600" dirty="0"/>
                    </a:p>
                  </a:txBody>
                  <a:tcPr/>
                </a:tc>
              </a:tr>
              <a:tr h="370840">
                <a:tc>
                  <a:txBody>
                    <a:bodyPr/>
                    <a:lstStyle/>
                    <a:p>
                      <a:r>
                        <a:rPr lang="en-GB" sz="1600" dirty="0" smtClean="0"/>
                        <a:t>ECX (CX, CH, CL)</a:t>
                      </a:r>
                      <a:endParaRPr lang="en-GB" sz="1600" dirty="0"/>
                    </a:p>
                  </a:txBody>
                  <a:tcPr/>
                </a:tc>
                <a:tc>
                  <a:txBody>
                    <a:bodyPr/>
                    <a:lstStyle/>
                    <a:p>
                      <a:r>
                        <a:rPr lang="en-GB" sz="1600" dirty="0" smtClean="0"/>
                        <a:t>001 (1)</a:t>
                      </a:r>
                      <a:endParaRPr lang="en-GB" sz="1600" dirty="0"/>
                    </a:p>
                  </a:txBody>
                  <a:tcPr/>
                </a:tc>
                <a:tc>
                  <a:txBody>
                    <a:bodyPr/>
                    <a:lstStyle/>
                    <a:p>
                      <a:r>
                        <a:rPr lang="en-GB" sz="1600" dirty="0" smtClean="0"/>
                        <a:t>DS</a:t>
                      </a:r>
                      <a:endParaRPr lang="en-GB" sz="1600" dirty="0"/>
                    </a:p>
                  </a:txBody>
                  <a:tcPr/>
                </a:tc>
                <a:tc>
                  <a:txBody>
                    <a:bodyPr/>
                    <a:lstStyle/>
                    <a:p>
                      <a:endParaRPr lang="en-GB" sz="1600" dirty="0"/>
                    </a:p>
                  </a:txBody>
                  <a:tcPr/>
                </a:tc>
                <a:tc>
                  <a:txBody>
                    <a:bodyPr/>
                    <a:lstStyle/>
                    <a:p>
                      <a:endParaRPr lang="en-GB" sz="1600" dirty="0"/>
                    </a:p>
                  </a:txBody>
                  <a:tcPr/>
                </a:tc>
              </a:tr>
              <a:tr h="370840">
                <a:tc>
                  <a:txBody>
                    <a:bodyPr/>
                    <a:lstStyle/>
                    <a:p>
                      <a:r>
                        <a:rPr lang="en-GB" sz="1600" dirty="0" smtClean="0"/>
                        <a:t>EDX (DX, DH, DL)</a:t>
                      </a:r>
                      <a:endParaRPr lang="en-GB" sz="1600" dirty="0"/>
                    </a:p>
                  </a:txBody>
                  <a:tcPr/>
                </a:tc>
                <a:tc>
                  <a:txBody>
                    <a:bodyPr/>
                    <a:lstStyle/>
                    <a:p>
                      <a:r>
                        <a:rPr lang="en-GB" sz="1600" dirty="0" smtClean="0"/>
                        <a:t>010 (2)</a:t>
                      </a:r>
                      <a:endParaRPr lang="en-GB" sz="1600" dirty="0"/>
                    </a:p>
                  </a:txBody>
                  <a:tcPr/>
                </a:tc>
                <a:tc>
                  <a:txBody>
                    <a:bodyPr/>
                    <a:lstStyle/>
                    <a:p>
                      <a:r>
                        <a:rPr lang="en-GB" sz="1600" dirty="0" smtClean="0"/>
                        <a:t>ES</a:t>
                      </a:r>
                      <a:endParaRPr lang="en-GB" sz="1600" dirty="0"/>
                    </a:p>
                  </a:txBody>
                  <a:tcPr/>
                </a:tc>
                <a:tc>
                  <a:txBody>
                    <a:bodyPr/>
                    <a:lstStyle/>
                    <a:p>
                      <a:endParaRPr lang="en-GB" sz="1600" dirty="0"/>
                    </a:p>
                  </a:txBody>
                  <a:tcPr/>
                </a:tc>
                <a:tc>
                  <a:txBody>
                    <a:bodyPr/>
                    <a:lstStyle/>
                    <a:p>
                      <a:endParaRPr lang="en-GB" sz="1600" dirty="0"/>
                    </a:p>
                  </a:txBody>
                  <a:tcPr/>
                </a:tc>
              </a:tr>
              <a:tr h="370840">
                <a:tc>
                  <a:txBody>
                    <a:bodyPr/>
                    <a:lstStyle/>
                    <a:p>
                      <a:r>
                        <a:rPr lang="en-GB" sz="1600" dirty="0" smtClean="0"/>
                        <a:t>EBP (BP)</a:t>
                      </a:r>
                      <a:endParaRPr lang="en-GB" sz="1600" dirty="0"/>
                    </a:p>
                  </a:txBody>
                  <a:tcPr/>
                </a:tc>
                <a:tc>
                  <a:txBody>
                    <a:bodyPr/>
                    <a:lstStyle/>
                    <a:p>
                      <a:r>
                        <a:rPr lang="en-GB" sz="1600" dirty="0" smtClean="0"/>
                        <a:t>101 (5)</a:t>
                      </a:r>
                      <a:endParaRPr lang="en-GB" sz="1600" dirty="0"/>
                    </a:p>
                  </a:txBody>
                  <a:tcPr/>
                </a:tc>
                <a:tc>
                  <a:txBody>
                    <a:bodyPr/>
                    <a:lstStyle/>
                    <a:p>
                      <a:r>
                        <a:rPr lang="en-GB" sz="1600" dirty="0" smtClean="0"/>
                        <a:t>FS</a:t>
                      </a:r>
                      <a:endParaRPr lang="en-GB" sz="1600" dirty="0"/>
                    </a:p>
                  </a:txBody>
                  <a:tcPr/>
                </a:tc>
                <a:tc>
                  <a:txBody>
                    <a:bodyPr/>
                    <a:lstStyle/>
                    <a:p>
                      <a:endParaRPr lang="en-GB" sz="1600" dirty="0"/>
                    </a:p>
                  </a:txBody>
                  <a:tcPr/>
                </a:tc>
                <a:tc>
                  <a:txBody>
                    <a:bodyPr/>
                    <a:lstStyle/>
                    <a:p>
                      <a:endParaRPr lang="en-GB" sz="1600" dirty="0"/>
                    </a:p>
                  </a:txBody>
                  <a:tcPr/>
                </a:tc>
              </a:tr>
              <a:tr h="370840">
                <a:tc>
                  <a:txBody>
                    <a:bodyPr/>
                    <a:lstStyle/>
                    <a:p>
                      <a:r>
                        <a:rPr lang="en-GB" sz="1600" dirty="0" smtClean="0"/>
                        <a:t>ESP (SP)</a:t>
                      </a:r>
                      <a:endParaRPr lang="en-GB" sz="1600" dirty="0"/>
                    </a:p>
                  </a:txBody>
                  <a:tcPr/>
                </a:tc>
                <a:tc>
                  <a:txBody>
                    <a:bodyPr/>
                    <a:lstStyle/>
                    <a:p>
                      <a:r>
                        <a:rPr lang="en-GB" sz="1600" dirty="0" smtClean="0"/>
                        <a:t>100 (4)</a:t>
                      </a:r>
                      <a:endParaRPr lang="en-GB" sz="1600" dirty="0"/>
                    </a:p>
                  </a:txBody>
                  <a:tcPr/>
                </a:tc>
                <a:tc>
                  <a:txBody>
                    <a:bodyPr/>
                    <a:lstStyle/>
                    <a:p>
                      <a:r>
                        <a:rPr lang="en-GB" sz="1600" dirty="0" smtClean="0"/>
                        <a:t>GS</a:t>
                      </a:r>
                      <a:endParaRPr lang="en-GB" sz="1600" dirty="0"/>
                    </a:p>
                  </a:txBody>
                  <a:tcPr/>
                </a:tc>
                <a:tc>
                  <a:txBody>
                    <a:bodyPr/>
                    <a:lstStyle/>
                    <a:p>
                      <a:endParaRPr lang="en-GB" sz="1600" dirty="0"/>
                    </a:p>
                  </a:txBody>
                  <a:tcPr/>
                </a:tc>
                <a:tc>
                  <a:txBody>
                    <a:bodyPr/>
                    <a:lstStyle/>
                    <a:p>
                      <a:endParaRPr lang="en-GB" sz="1600" dirty="0"/>
                    </a:p>
                  </a:txBody>
                  <a:tcPr/>
                </a:tc>
              </a:tr>
              <a:tr h="370840">
                <a:tc>
                  <a:txBody>
                    <a:bodyPr/>
                    <a:lstStyle/>
                    <a:p>
                      <a:r>
                        <a:rPr lang="en-GB" sz="1600" dirty="0" smtClean="0"/>
                        <a:t>ESI (SI)</a:t>
                      </a:r>
                      <a:endParaRPr lang="en-GB" sz="1600" dirty="0"/>
                    </a:p>
                  </a:txBody>
                  <a:tcPr/>
                </a:tc>
                <a:tc>
                  <a:txBody>
                    <a:bodyPr/>
                    <a:lstStyle/>
                    <a:p>
                      <a:r>
                        <a:rPr lang="en-GB" sz="1600" dirty="0" smtClean="0"/>
                        <a:t>110 (6)</a:t>
                      </a:r>
                      <a:endParaRPr lang="en-GB" sz="1600" dirty="0"/>
                    </a:p>
                  </a:txBody>
                  <a:tcPr/>
                </a:tc>
                <a:tc>
                  <a:txBody>
                    <a:bodyPr/>
                    <a:lstStyle/>
                    <a:p>
                      <a:endParaRPr lang="en-GB" sz="1600" dirty="0"/>
                    </a:p>
                  </a:txBody>
                  <a:tcPr/>
                </a:tc>
                <a:tc>
                  <a:txBody>
                    <a:bodyPr/>
                    <a:lstStyle/>
                    <a:p>
                      <a:endParaRPr lang="en-GB" sz="1600" dirty="0"/>
                    </a:p>
                  </a:txBody>
                  <a:tcPr/>
                </a:tc>
                <a:tc>
                  <a:txBody>
                    <a:bodyPr/>
                    <a:lstStyle/>
                    <a:p>
                      <a:endParaRPr lang="en-GB" sz="1600" dirty="0"/>
                    </a:p>
                  </a:txBody>
                  <a:tcPr/>
                </a:tc>
              </a:tr>
              <a:tr h="370840">
                <a:tc>
                  <a:txBody>
                    <a:bodyPr/>
                    <a:lstStyle/>
                    <a:p>
                      <a:r>
                        <a:rPr lang="en-GB" sz="1600" dirty="0" smtClean="0"/>
                        <a:t>EDI (DI)</a:t>
                      </a:r>
                      <a:endParaRPr lang="en-GB" sz="1600" dirty="0"/>
                    </a:p>
                  </a:txBody>
                  <a:tcPr/>
                </a:tc>
                <a:tc>
                  <a:txBody>
                    <a:bodyPr/>
                    <a:lstStyle/>
                    <a:p>
                      <a:r>
                        <a:rPr lang="en-GB" sz="1600" dirty="0" smtClean="0"/>
                        <a:t>111 (7)</a:t>
                      </a:r>
                      <a:endParaRPr lang="en-GB" sz="1600" dirty="0"/>
                    </a:p>
                  </a:txBody>
                  <a:tcPr/>
                </a:tc>
                <a:tc>
                  <a:txBody>
                    <a:bodyPr/>
                    <a:lstStyle/>
                    <a:p>
                      <a:endParaRPr lang="en-GB" sz="1600" dirty="0"/>
                    </a:p>
                  </a:txBody>
                  <a:tcPr/>
                </a:tc>
                <a:tc>
                  <a:txBody>
                    <a:bodyPr/>
                    <a:lstStyle/>
                    <a:p>
                      <a:endParaRPr lang="en-GB" sz="1600" dirty="0"/>
                    </a:p>
                  </a:txBody>
                  <a:tcPr/>
                </a:tc>
                <a:tc>
                  <a:txBody>
                    <a:bodyPr/>
                    <a:lstStyle/>
                    <a:p>
                      <a:endParaRPr lang="en-GB" sz="1600" dirty="0"/>
                    </a:p>
                  </a:txBody>
                  <a:tcPr/>
                </a:tc>
              </a:tr>
            </a:tbl>
          </a:graphicData>
        </a:graphic>
      </p:graphicFrame>
    </p:spTree>
    <p:extLst>
      <p:ext uri="{BB962C8B-B14F-4D97-AF65-F5344CB8AC3E}">
        <p14:creationId xmlns:p14="http://schemas.microsoft.com/office/powerpoint/2010/main" val="2615347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b="1" dirty="0"/>
              <a:t>Registers</a:t>
            </a:r>
          </a:p>
        </p:txBody>
      </p:sp>
      <p:sp>
        <p:nvSpPr>
          <p:cNvPr id="18" name="Rectangle 17"/>
          <p:cNvSpPr/>
          <p:nvPr/>
        </p:nvSpPr>
        <p:spPr>
          <a:xfrm>
            <a:off x="4844605" y="3356992"/>
            <a:ext cx="3039763"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 name="Title 1"/>
          <p:cNvSpPr>
            <a:spLocks noGrp="1"/>
          </p:cNvSpPr>
          <p:nvPr>
            <p:ph type="title"/>
          </p:nvPr>
        </p:nvSpPr>
        <p:spPr/>
        <p:txBody>
          <a:bodyPr/>
          <a:lstStyle/>
          <a:p>
            <a:r>
              <a:rPr lang="en-GB" dirty="0"/>
              <a:t>X86 Disassembly</a:t>
            </a:r>
          </a:p>
        </p:txBody>
      </p:sp>
      <p:sp>
        <p:nvSpPr>
          <p:cNvPr id="4" name="Rectangle 3"/>
          <p:cNvSpPr/>
          <p:nvPr/>
        </p:nvSpPr>
        <p:spPr>
          <a:xfrm>
            <a:off x="1763688" y="1772816"/>
            <a:ext cx="6120680"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5" name="TextBox 4"/>
          <p:cNvSpPr txBox="1"/>
          <p:nvPr/>
        </p:nvSpPr>
        <p:spPr>
          <a:xfrm>
            <a:off x="1907704" y="1845694"/>
            <a:ext cx="725317" cy="646331"/>
          </a:xfrm>
          <a:prstGeom prst="rect">
            <a:avLst/>
          </a:prstGeom>
          <a:noFill/>
        </p:spPr>
        <p:txBody>
          <a:bodyPr wrap="square" rtlCol="0">
            <a:spAutoFit/>
          </a:bodyPr>
          <a:lstStyle/>
          <a:p>
            <a:pPr algn="ctr"/>
            <a:r>
              <a:rPr lang="en-GB" dirty="0">
                <a:solidFill>
                  <a:prstClr val="black"/>
                </a:solidFill>
              </a:rPr>
              <a:t>1010</a:t>
            </a:r>
          </a:p>
          <a:p>
            <a:pPr algn="ctr"/>
            <a:r>
              <a:rPr lang="en-GB" dirty="0">
                <a:solidFill>
                  <a:prstClr val="black"/>
                </a:solidFill>
              </a:rPr>
              <a:t>A</a:t>
            </a:r>
          </a:p>
        </p:txBody>
      </p:sp>
      <p:sp>
        <p:nvSpPr>
          <p:cNvPr id="6" name="TextBox 5"/>
          <p:cNvSpPr txBox="1"/>
          <p:nvPr/>
        </p:nvSpPr>
        <p:spPr>
          <a:xfrm>
            <a:off x="2634846" y="1841262"/>
            <a:ext cx="725317" cy="646331"/>
          </a:xfrm>
          <a:prstGeom prst="rect">
            <a:avLst/>
          </a:prstGeom>
          <a:noFill/>
        </p:spPr>
        <p:txBody>
          <a:bodyPr wrap="square" rtlCol="0">
            <a:spAutoFit/>
          </a:bodyPr>
          <a:lstStyle/>
          <a:p>
            <a:pPr algn="ctr"/>
            <a:r>
              <a:rPr lang="en-GB" dirty="0">
                <a:solidFill>
                  <a:prstClr val="black"/>
                </a:solidFill>
              </a:rPr>
              <a:t>1001</a:t>
            </a:r>
          </a:p>
          <a:p>
            <a:pPr algn="ctr"/>
            <a:r>
              <a:rPr lang="en-GB" dirty="0">
                <a:solidFill>
                  <a:prstClr val="black"/>
                </a:solidFill>
              </a:rPr>
              <a:t>9</a:t>
            </a:r>
          </a:p>
        </p:txBody>
      </p:sp>
      <p:sp>
        <p:nvSpPr>
          <p:cNvPr id="7" name="TextBox 6"/>
          <p:cNvSpPr txBox="1"/>
          <p:nvPr/>
        </p:nvSpPr>
        <p:spPr>
          <a:xfrm>
            <a:off x="3360163" y="1826748"/>
            <a:ext cx="725317" cy="646331"/>
          </a:xfrm>
          <a:prstGeom prst="rect">
            <a:avLst/>
          </a:prstGeom>
          <a:noFill/>
        </p:spPr>
        <p:txBody>
          <a:bodyPr wrap="square" rtlCol="0">
            <a:spAutoFit/>
          </a:bodyPr>
          <a:lstStyle/>
          <a:p>
            <a:pPr algn="ctr"/>
            <a:r>
              <a:rPr lang="en-GB" dirty="0">
                <a:solidFill>
                  <a:prstClr val="black"/>
                </a:solidFill>
              </a:rPr>
              <a:t>1101</a:t>
            </a:r>
          </a:p>
          <a:p>
            <a:pPr algn="ctr"/>
            <a:r>
              <a:rPr lang="en-GB" dirty="0">
                <a:solidFill>
                  <a:prstClr val="black"/>
                </a:solidFill>
              </a:rPr>
              <a:t>D</a:t>
            </a:r>
          </a:p>
        </p:txBody>
      </p:sp>
      <p:sp>
        <p:nvSpPr>
          <p:cNvPr id="8" name="TextBox 7"/>
          <p:cNvSpPr txBox="1"/>
          <p:nvPr/>
        </p:nvSpPr>
        <p:spPr>
          <a:xfrm>
            <a:off x="4103782" y="1846565"/>
            <a:ext cx="725317" cy="646331"/>
          </a:xfrm>
          <a:prstGeom prst="rect">
            <a:avLst/>
          </a:prstGeom>
          <a:noFill/>
        </p:spPr>
        <p:txBody>
          <a:bodyPr wrap="square" rtlCol="0">
            <a:spAutoFit/>
          </a:bodyPr>
          <a:lstStyle/>
          <a:p>
            <a:pPr algn="ctr"/>
            <a:r>
              <a:rPr lang="en-GB" dirty="0">
                <a:solidFill>
                  <a:prstClr val="black"/>
                </a:solidFill>
              </a:rPr>
              <a:t>1100</a:t>
            </a:r>
          </a:p>
          <a:p>
            <a:pPr algn="ctr"/>
            <a:r>
              <a:rPr lang="en-GB" dirty="0">
                <a:solidFill>
                  <a:prstClr val="black"/>
                </a:solidFill>
              </a:rPr>
              <a:t>C</a:t>
            </a:r>
          </a:p>
        </p:txBody>
      </p:sp>
      <p:sp>
        <p:nvSpPr>
          <p:cNvPr id="9" name="TextBox 8"/>
          <p:cNvSpPr txBox="1"/>
          <p:nvPr/>
        </p:nvSpPr>
        <p:spPr>
          <a:xfrm>
            <a:off x="4842486" y="1856994"/>
            <a:ext cx="725317" cy="646331"/>
          </a:xfrm>
          <a:prstGeom prst="rect">
            <a:avLst/>
          </a:prstGeom>
          <a:noFill/>
        </p:spPr>
        <p:txBody>
          <a:bodyPr wrap="square" rtlCol="0">
            <a:spAutoFit/>
          </a:bodyPr>
          <a:lstStyle/>
          <a:p>
            <a:pPr algn="ctr"/>
            <a:r>
              <a:rPr lang="en-GB" dirty="0">
                <a:solidFill>
                  <a:prstClr val="black"/>
                </a:solidFill>
              </a:rPr>
              <a:t>1000</a:t>
            </a:r>
          </a:p>
          <a:p>
            <a:pPr algn="ctr"/>
            <a:r>
              <a:rPr lang="en-GB" dirty="0">
                <a:solidFill>
                  <a:prstClr val="black"/>
                </a:solidFill>
              </a:rPr>
              <a:t>8</a:t>
            </a:r>
          </a:p>
        </p:txBody>
      </p:sp>
      <p:sp>
        <p:nvSpPr>
          <p:cNvPr id="10" name="TextBox 9"/>
          <p:cNvSpPr txBox="1"/>
          <p:nvPr/>
        </p:nvSpPr>
        <p:spPr>
          <a:xfrm>
            <a:off x="5567803" y="1856994"/>
            <a:ext cx="725317" cy="646331"/>
          </a:xfrm>
          <a:prstGeom prst="rect">
            <a:avLst/>
          </a:prstGeom>
          <a:noFill/>
        </p:spPr>
        <p:txBody>
          <a:bodyPr wrap="square" rtlCol="0">
            <a:spAutoFit/>
          </a:bodyPr>
          <a:lstStyle/>
          <a:p>
            <a:pPr algn="ctr"/>
            <a:r>
              <a:rPr lang="en-GB" dirty="0">
                <a:solidFill>
                  <a:prstClr val="black"/>
                </a:solidFill>
              </a:rPr>
              <a:t>0001</a:t>
            </a:r>
          </a:p>
          <a:p>
            <a:pPr algn="ctr"/>
            <a:r>
              <a:rPr lang="en-GB" dirty="0">
                <a:solidFill>
                  <a:prstClr val="black"/>
                </a:solidFill>
              </a:rPr>
              <a:t>1</a:t>
            </a:r>
          </a:p>
        </p:txBody>
      </p:sp>
      <p:sp>
        <p:nvSpPr>
          <p:cNvPr id="11" name="TextBox 10"/>
          <p:cNvSpPr txBox="1"/>
          <p:nvPr/>
        </p:nvSpPr>
        <p:spPr>
          <a:xfrm>
            <a:off x="6295239" y="1841262"/>
            <a:ext cx="725317" cy="646331"/>
          </a:xfrm>
          <a:prstGeom prst="rect">
            <a:avLst/>
          </a:prstGeom>
          <a:noFill/>
        </p:spPr>
        <p:txBody>
          <a:bodyPr wrap="square" rtlCol="0">
            <a:spAutoFit/>
          </a:bodyPr>
          <a:lstStyle/>
          <a:p>
            <a:pPr algn="ctr"/>
            <a:r>
              <a:rPr lang="en-GB" dirty="0">
                <a:solidFill>
                  <a:prstClr val="black"/>
                </a:solidFill>
              </a:rPr>
              <a:t>1111</a:t>
            </a:r>
          </a:p>
          <a:p>
            <a:pPr algn="ctr"/>
            <a:r>
              <a:rPr lang="en-GB" dirty="0">
                <a:solidFill>
                  <a:prstClr val="black"/>
                </a:solidFill>
              </a:rPr>
              <a:t>F</a:t>
            </a:r>
          </a:p>
        </p:txBody>
      </p:sp>
      <p:sp>
        <p:nvSpPr>
          <p:cNvPr id="12" name="TextBox 11"/>
          <p:cNvSpPr txBox="1"/>
          <p:nvPr/>
        </p:nvSpPr>
        <p:spPr>
          <a:xfrm>
            <a:off x="7020556" y="1846565"/>
            <a:ext cx="725317" cy="646331"/>
          </a:xfrm>
          <a:prstGeom prst="rect">
            <a:avLst/>
          </a:prstGeom>
          <a:noFill/>
        </p:spPr>
        <p:txBody>
          <a:bodyPr wrap="square" rtlCol="0">
            <a:spAutoFit/>
          </a:bodyPr>
          <a:lstStyle/>
          <a:p>
            <a:pPr algn="ctr"/>
            <a:r>
              <a:rPr lang="en-GB" dirty="0">
                <a:solidFill>
                  <a:prstClr val="black"/>
                </a:solidFill>
              </a:rPr>
              <a:t>0101</a:t>
            </a:r>
          </a:p>
          <a:p>
            <a:pPr algn="ctr"/>
            <a:r>
              <a:rPr lang="en-GB" dirty="0">
                <a:solidFill>
                  <a:prstClr val="black"/>
                </a:solidFill>
              </a:rPr>
              <a:t>5</a:t>
            </a:r>
          </a:p>
        </p:txBody>
      </p:sp>
      <p:sp>
        <p:nvSpPr>
          <p:cNvPr id="13" name="TextBox 12"/>
          <p:cNvSpPr txBox="1"/>
          <p:nvPr/>
        </p:nvSpPr>
        <p:spPr>
          <a:xfrm>
            <a:off x="683568" y="1988840"/>
            <a:ext cx="813043" cy="369332"/>
          </a:xfrm>
          <a:prstGeom prst="rect">
            <a:avLst/>
          </a:prstGeom>
          <a:noFill/>
        </p:spPr>
        <p:txBody>
          <a:bodyPr wrap="none" rtlCol="0">
            <a:spAutoFit/>
          </a:bodyPr>
          <a:lstStyle/>
          <a:p>
            <a:r>
              <a:rPr lang="en-GB" dirty="0">
                <a:solidFill>
                  <a:prstClr val="black"/>
                </a:solidFill>
              </a:rPr>
              <a:t>32 bits</a:t>
            </a:r>
          </a:p>
        </p:txBody>
      </p:sp>
      <p:sp>
        <p:nvSpPr>
          <p:cNvPr id="14" name="TextBox 13"/>
          <p:cNvSpPr txBox="1"/>
          <p:nvPr/>
        </p:nvSpPr>
        <p:spPr>
          <a:xfrm>
            <a:off x="4844605" y="3501008"/>
            <a:ext cx="725317" cy="646331"/>
          </a:xfrm>
          <a:prstGeom prst="rect">
            <a:avLst/>
          </a:prstGeom>
          <a:noFill/>
        </p:spPr>
        <p:txBody>
          <a:bodyPr wrap="square" rtlCol="0">
            <a:spAutoFit/>
          </a:bodyPr>
          <a:lstStyle/>
          <a:p>
            <a:pPr algn="ctr"/>
            <a:r>
              <a:rPr lang="en-GB" dirty="0">
                <a:solidFill>
                  <a:prstClr val="black"/>
                </a:solidFill>
              </a:rPr>
              <a:t>1000</a:t>
            </a:r>
          </a:p>
          <a:p>
            <a:pPr algn="ctr"/>
            <a:r>
              <a:rPr lang="en-GB" dirty="0">
                <a:solidFill>
                  <a:prstClr val="black"/>
                </a:solidFill>
              </a:rPr>
              <a:t>8</a:t>
            </a:r>
          </a:p>
        </p:txBody>
      </p:sp>
      <p:sp>
        <p:nvSpPr>
          <p:cNvPr id="15" name="TextBox 14"/>
          <p:cNvSpPr txBox="1"/>
          <p:nvPr/>
        </p:nvSpPr>
        <p:spPr>
          <a:xfrm>
            <a:off x="5569922" y="3501008"/>
            <a:ext cx="725317" cy="646331"/>
          </a:xfrm>
          <a:prstGeom prst="rect">
            <a:avLst/>
          </a:prstGeom>
          <a:noFill/>
        </p:spPr>
        <p:txBody>
          <a:bodyPr wrap="square" rtlCol="0">
            <a:spAutoFit/>
          </a:bodyPr>
          <a:lstStyle/>
          <a:p>
            <a:pPr algn="ctr"/>
            <a:r>
              <a:rPr lang="en-GB" dirty="0">
                <a:solidFill>
                  <a:prstClr val="black"/>
                </a:solidFill>
              </a:rPr>
              <a:t>0001</a:t>
            </a:r>
          </a:p>
          <a:p>
            <a:pPr algn="ctr"/>
            <a:r>
              <a:rPr lang="en-GB" dirty="0">
                <a:solidFill>
                  <a:prstClr val="black"/>
                </a:solidFill>
              </a:rPr>
              <a:t>1</a:t>
            </a:r>
          </a:p>
        </p:txBody>
      </p:sp>
      <p:sp>
        <p:nvSpPr>
          <p:cNvPr id="16" name="TextBox 15"/>
          <p:cNvSpPr txBox="1"/>
          <p:nvPr/>
        </p:nvSpPr>
        <p:spPr>
          <a:xfrm>
            <a:off x="6297358" y="3485276"/>
            <a:ext cx="725317" cy="646331"/>
          </a:xfrm>
          <a:prstGeom prst="rect">
            <a:avLst/>
          </a:prstGeom>
          <a:noFill/>
        </p:spPr>
        <p:txBody>
          <a:bodyPr wrap="square" rtlCol="0">
            <a:spAutoFit/>
          </a:bodyPr>
          <a:lstStyle/>
          <a:p>
            <a:pPr algn="ctr"/>
            <a:r>
              <a:rPr lang="en-GB" dirty="0">
                <a:solidFill>
                  <a:prstClr val="black"/>
                </a:solidFill>
              </a:rPr>
              <a:t>1111</a:t>
            </a:r>
          </a:p>
          <a:p>
            <a:pPr algn="ctr"/>
            <a:r>
              <a:rPr lang="en-GB" dirty="0">
                <a:solidFill>
                  <a:prstClr val="black"/>
                </a:solidFill>
              </a:rPr>
              <a:t>F</a:t>
            </a:r>
          </a:p>
        </p:txBody>
      </p:sp>
      <p:sp>
        <p:nvSpPr>
          <p:cNvPr id="17" name="TextBox 16"/>
          <p:cNvSpPr txBox="1"/>
          <p:nvPr/>
        </p:nvSpPr>
        <p:spPr>
          <a:xfrm>
            <a:off x="7022675" y="3502749"/>
            <a:ext cx="725317" cy="646331"/>
          </a:xfrm>
          <a:prstGeom prst="rect">
            <a:avLst/>
          </a:prstGeom>
          <a:noFill/>
        </p:spPr>
        <p:txBody>
          <a:bodyPr wrap="square" rtlCol="0">
            <a:spAutoFit/>
          </a:bodyPr>
          <a:lstStyle/>
          <a:p>
            <a:pPr algn="ctr"/>
            <a:r>
              <a:rPr lang="en-GB" dirty="0">
                <a:solidFill>
                  <a:prstClr val="black"/>
                </a:solidFill>
              </a:rPr>
              <a:t>0101</a:t>
            </a:r>
          </a:p>
          <a:p>
            <a:pPr algn="ctr"/>
            <a:r>
              <a:rPr lang="en-GB" dirty="0">
                <a:solidFill>
                  <a:prstClr val="black"/>
                </a:solidFill>
              </a:rPr>
              <a:t>5</a:t>
            </a:r>
          </a:p>
        </p:txBody>
      </p:sp>
      <p:sp>
        <p:nvSpPr>
          <p:cNvPr id="19" name="Rectangle 18"/>
          <p:cNvSpPr/>
          <p:nvPr/>
        </p:nvSpPr>
        <p:spPr>
          <a:xfrm>
            <a:off x="4844605" y="4740876"/>
            <a:ext cx="1519881"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0" name="TextBox 19"/>
          <p:cNvSpPr txBox="1"/>
          <p:nvPr/>
        </p:nvSpPr>
        <p:spPr>
          <a:xfrm>
            <a:off x="4844605" y="4884892"/>
            <a:ext cx="725317" cy="646331"/>
          </a:xfrm>
          <a:prstGeom prst="rect">
            <a:avLst/>
          </a:prstGeom>
          <a:noFill/>
        </p:spPr>
        <p:txBody>
          <a:bodyPr wrap="square" rtlCol="0">
            <a:spAutoFit/>
          </a:bodyPr>
          <a:lstStyle/>
          <a:p>
            <a:pPr algn="ctr"/>
            <a:r>
              <a:rPr lang="en-GB" dirty="0">
                <a:solidFill>
                  <a:prstClr val="black"/>
                </a:solidFill>
              </a:rPr>
              <a:t>1000</a:t>
            </a:r>
          </a:p>
          <a:p>
            <a:pPr algn="ctr"/>
            <a:r>
              <a:rPr lang="en-GB" dirty="0">
                <a:solidFill>
                  <a:prstClr val="black"/>
                </a:solidFill>
              </a:rPr>
              <a:t>8</a:t>
            </a:r>
          </a:p>
        </p:txBody>
      </p:sp>
      <p:sp>
        <p:nvSpPr>
          <p:cNvPr id="21" name="TextBox 20"/>
          <p:cNvSpPr txBox="1"/>
          <p:nvPr/>
        </p:nvSpPr>
        <p:spPr>
          <a:xfrm>
            <a:off x="5569922" y="4884892"/>
            <a:ext cx="725317" cy="646331"/>
          </a:xfrm>
          <a:prstGeom prst="rect">
            <a:avLst/>
          </a:prstGeom>
          <a:noFill/>
        </p:spPr>
        <p:txBody>
          <a:bodyPr wrap="square" rtlCol="0">
            <a:spAutoFit/>
          </a:bodyPr>
          <a:lstStyle/>
          <a:p>
            <a:pPr algn="ctr"/>
            <a:r>
              <a:rPr lang="en-GB" dirty="0">
                <a:solidFill>
                  <a:prstClr val="black"/>
                </a:solidFill>
              </a:rPr>
              <a:t>0001</a:t>
            </a:r>
          </a:p>
          <a:p>
            <a:pPr algn="ctr"/>
            <a:r>
              <a:rPr lang="en-GB" dirty="0">
                <a:solidFill>
                  <a:prstClr val="black"/>
                </a:solidFill>
              </a:rPr>
              <a:t>1</a:t>
            </a:r>
          </a:p>
        </p:txBody>
      </p:sp>
      <p:sp>
        <p:nvSpPr>
          <p:cNvPr id="22" name="TextBox 21"/>
          <p:cNvSpPr txBox="1"/>
          <p:nvPr/>
        </p:nvSpPr>
        <p:spPr>
          <a:xfrm>
            <a:off x="6297358" y="4869160"/>
            <a:ext cx="725317" cy="646331"/>
          </a:xfrm>
          <a:prstGeom prst="rect">
            <a:avLst/>
          </a:prstGeom>
          <a:noFill/>
        </p:spPr>
        <p:txBody>
          <a:bodyPr wrap="square" rtlCol="0">
            <a:spAutoFit/>
          </a:bodyPr>
          <a:lstStyle/>
          <a:p>
            <a:pPr algn="ctr"/>
            <a:r>
              <a:rPr lang="en-GB" dirty="0">
                <a:solidFill>
                  <a:prstClr val="black"/>
                </a:solidFill>
              </a:rPr>
              <a:t>1111</a:t>
            </a:r>
          </a:p>
          <a:p>
            <a:pPr algn="ctr"/>
            <a:r>
              <a:rPr lang="en-GB" dirty="0">
                <a:solidFill>
                  <a:prstClr val="black"/>
                </a:solidFill>
              </a:rPr>
              <a:t>F</a:t>
            </a:r>
          </a:p>
        </p:txBody>
      </p:sp>
      <p:sp>
        <p:nvSpPr>
          <p:cNvPr id="23" name="TextBox 22"/>
          <p:cNvSpPr txBox="1"/>
          <p:nvPr/>
        </p:nvSpPr>
        <p:spPr>
          <a:xfrm>
            <a:off x="7022675" y="4886633"/>
            <a:ext cx="725317" cy="646331"/>
          </a:xfrm>
          <a:prstGeom prst="rect">
            <a:avLst/>
          </a:prstGeom>
          <a:noFill/>
        </p:spPr>
        <p:txBody>
          <a:bodyPr wrap="square" rtlCol="0">
            <a:spAutoFit/>
          </a:bodyPr>
          <a:lstStyle/>
          <a:p>
            <a:pPr algn="ctr"/>
            <a:r>
              <a:rPr lang="en-GB" dirty="0">
                <a:solidFill>
                  <a:prstClr val="black"/>
                </a:solidFill>
              </a:rPr>
              <a:t>0101</a:t>
            </a:r>
          </a:p>
          <a:p>
            <a:pPr algn="ctr"/>
            <a:r>
              <a:rPr lang="en-GB" dirty="0">
                <a:solidFill>
                  <a:prstClr val="black"/>
                </a:solidFill>
              </a:rPr>
              <a:t>5</a:t>
            </a:r>
          </a:p>
        </p:txBody>
      </p:sp>
      <p:sp>
        <p:nvSpPr>
          <p:cNvPr id="24" name="Rectangle 23"/>
          <p:cNvSpPr/>
          <p:nvPr/>
        </p:nvSpPr>
        <p:spPr>
          <a:xfrm>
            <a:off x="6364486" y="4740876"/>
            <a:ext cx="1519881" cy="792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5" name="Down Arrow 24"/>
          <p:cNvSpPr/>
          <p:nvPr/>
        </p:nvSpPr>
        <p:spPr>
          <a:xfrm>
            <a:off x="6084168" y="2780928"/>
            <a:ext cx="432048"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6" name="Down Arrow 25"/>
          <p:cNvSpPr/>
          <p:nvPr/>
        </p:nvSpPr>
        <p:spPr>
          <a:xfrm>
            <a:off x="5364088" y="4293096"/>
            <a:ext cx="360040"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7" name="Down Arrow 26"/>
          <p:cNvSpPr/>
          <p:nvPr/>
        </p:nvSpPr>
        <p:spPr>
          <a:xfrm>
            <a:off x="6842655" y="4237755"/>
            <a:ext cx="360040" cy="360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28" name="TextBox 27"/>
          <p:cNvSpPr txBox="1"/>
          <p:nvPr/>
        </p:nvSpPr>
        <p:spPr>
          <a:xfrm>
            <a:off x="3653397" y="3623775"/>
            <a:ext cx="813043" cy="369332"/>
          </a:xfrm>
          <a:prstGeom prst="rect">
            <a:avLst/>
          </a:prstGeom>
          <a:noFill/>
        </p:spPr>
        <p:txBody>
          <a:bodyPr wrap="none" rtlCol="0">
            <a:spAutoFit/>
          </a:bodyPr>
          <a:lstStyle/>
          <a:p>
            <a:r>
              <a:rPr lang="en-GB" dirty="0">
                <a:solidFill>
                  <a:prstClr val="black"/>
                </a:solidFill>
              </a:rPr>
              <a:t>16 bits</a:t>
            </a:r>
          </a:p>
        </p:txBody>
      </p:sp>
      <p:sp>
        <p:nvSpPr>
          <p:cNvPr id="29" name="TextBox 28"/>
          <p:cNvSpPr txBox="1"/>
          <p:nvPr/>
        </p:nvSpPr>
        <p:spPr>
          <a:xfrm>
            <a:off x="3678958" y="5025132"/>
            <a:ext cx="696024" cy="369332"/>
          </a:xfrm>
          <a:prstGeom prst="rect">
            <a:avLst/>
          </a:prstGeom>
          <a:noFill/>
        </p:spPr>
        <p:txBody>
          <a:bodyPr wrap="none" rtlCol="0">
            <a:spAutoFit/>
          </a:bodyPr>
          <a:lstStyle/>
          <a:p>
            <a:r>
              <a:rPr lang="en-GB" dirty="0">
                <a:solidFill>
                  <a:prstClr val="black"/>
                </a:solidFill>
              </a:rPr>
              <a:t>8 bits</a:t>
            </a:r>
          </a:p>
        </p:txBody>
      </p:sp>
      <p:sp>
        <p:nvSpPr>
          <p:cNvPr id="30" name="TextBox 29"/>
          <p:cNvSpPr txBox="1"/>
          <p:nvPr/>
        </p:nvSpPr>
        <p:spPr>
          <a:xfrm>
            <a:off x="4374982" y="1385736"/>
            <a:ext cx="547650" cy="369332"/>
          </a:xfrm>
          <a:prstGeom prst="rect">
            <a:avLst/>
          </a:prstGeom>
          <a:noFill/>
        </p:spPr>
        <p:txBody>
          <a:bodyPr wrap="none" rtlCol="0">
            <a:spAutoFit/>
          </a:bodyPr>
          <a:lstStyle/>
          <a:p>
            <a:r>
              <a:rPr lang="en-GB" dirty="0">
                <a:solidFill>
                  <a:prstClr val="black"/>
                </a:solidFill>
              </a:rPr>
              <a:t>EAX</a:t>
            </a:r>
          </a:p>
        </p:txBody>
      </p:sp>
      <p:sp>
        <p:nvSpPr>
          <p:cNvPr id="31" name="TextBox 30"/>
          <p:cNvSpPr txBox="1"/>
          <p:nvPr/>
        </p:nvSpPr>
        <p:spPr>
          <a:xfrm>
            <a:off x="6565044" y="2987660"/>
            <a:ext cx="437940" cy="369332"/>
          </a:xfrm>
          <a:prstGeom prst="rect">
            <a:avLst/>
          </a:prstGeom>
          <a:noFill/>
        </p:spPr>
        <p:txBody>
          <a:bodyPr wrap="none" rtlCol="0">
            <a:spAutoFit/>
          </a:bodyPr>
          <a:lstStyle/>
          <a:p>
            <a:r>
              <a:rPr lang="en-GB" dirty="0">
                <a:solidFill>
                  <a:prstClr val="black"/>
                </a:solidFill>
              </a:rPr>
              <a:t>AX</a:t>
            </a:r>
          </a:p>
        </p:txBody>
      </p:sp>
      <p:sp>
        <p:nvSpPr>
          <p:cNvPr id="32" name="TextBox 31"/>
          <p:cNvSpPr txBox="1"/>
          <p:nvPr/>
        </p:nvSpPr>
        <p:spPr>
          <a:xfrm>
            <a:off x="5724128" y="4417775"/>
            <a:ext cx="461986" cy="369332"/>
          </a:xfrm>
          <a:prstGeom prst="rect">
            <a:avLst/>
          </a:prstGeom>
          <a:noFill/>
        </p:spPr>
        <p:txBody>
          <a:bodyPr wrap="none" rtlCol="0">
            <a:spAutoFit/>
          </a:bodyPr>
          <a:lstStyle/>
          <a:p>
            <a:r>
              <a:rPr lang="en-GB" dirty="0">
                <a:solidFill>
                  <a:prstClr val="black"/>
                </a:solidFill>
              </a:rPr>
              <a:t>AH</a:t>
            </a:r>
          </a:p>
        </p:txBody>
      </p:sp>
      <p:sp>
        <p:nvSpPr>
          <p:cNvPr id="33" name="TextBox 32"/>
          <p:cNvSpPr txBox="1"/>
          <p:nvPr/>
        </p:nvSpPr>
        <p:spPr>
          <a:xfrm>
            <a:off x="7202695" y="4417775"/>
            <a:ext cx="415498" cy="369332"/>
          </a:xfrm>
          <a:prstGeom prst="rect">
            <a:avLst/>
          </a:prstGeom>
          <a:noFill/>
        </p:spPr>
        <p:txBody>
          <a:bodyPr wrap="none" rtlCol="0">
            <a:spAutoFit/>
          </a:bodyPr>
          <a:lstStyle/>
          <a:p>
            <a:r>
              <a:rPr lang="en-GB" dirty="0">
                <a:solidFill>
                  <a:prstClr val="black"/>
                </a:solidFill>
              </a:rPr>
              <a:t>AL</a:t>
            </a:r>
          </a:p>
        </p:txBody>
      </p:sp>
    </p:spTree>
    <p:extLst>
      <p:ext uri="{BB962C8B-B14F-4D97-AF65-F5344CB8AC3E}">
        <p14:creationId xmlns:p14="http://schemas.microsoft.com/office/powerpoint/2010/main" val="11230617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normAutofit lnSpcReduction="10000"/>
          </a:bodyPr>
          <a:lstStyle/>
          <a:p>
            <a:r>
              <a:rPr lang="en-GB" b="1" dirty="0" smtClean="0"/>
              <a:t>Flags</a:t>
            </a:r>
          </a:p>
          <a:p>
            <a:pPr lvl="1"/>
            <a:r>
              <a:rPr lang="en-GB" dirty="0" smtClean="0">
                <a:effectLst>
                  <a:outerShdw blurRad="38100" dist="38100" dir="2700000" algn="tl">
                    <a:srgbClr val="000000">
                      <a:alpha val="43137"/>
                    </a:srgbClr>
                  </a:outerShdw>
                </a:effectLst>
              </a:rPr>
              <a:t>ZF</a:t>
            </a:r>
            <a:r>
              <a:rPr lang="en-GB" dirty="0" smtClean="0"/>
              <a:t>: zero flag</a:t>
            </a:r>
          </a:p>
          <a:p>
            <a:pPr lvl="1"/>
            <a:r>
              <a:rPr lang="en-GB" dirty="0" smtClean="0">
                <a:effectLst>
                  <a:outerShdw blurRad="38100" dist="38100" dir="2700000" algn="tl">
                    <a:srgbClr val="000000">
                      <a:alpha val="43137"/>
                    </a:srgbClr>
                  </a:outerShdw>
                </a:effectLst>
              </a:rPr>
              <a:t>SF</a:t>
            </a:r>
            <a:r>
              <a:rPr lang="en-GB" dirty="0" smtClean="0"/>
              <a:t>: sign flag</a:t>
            </a:r>
          </a:p>
          <a:p>
            <a:pPr lvl="1"/>
            <a:r>
              <a:rPr lang="en-GB" dirty="0">
                <a:effectLst>
                  <a:outerShdw blurRad="38100" dist="38100" dir="2700000" algn="tl">
                    <a:srgbClr val="000000">
                      <a:alpha val="43137"/>
                    </a:srgbClr>
                  </a:outerShdw>
                </a:effectLst>
              </a:rPr>
              <a:t>CF</a:t>
            </a:r>
            <a:r>
              <a:rPr lang="en-GB" dirty="0"/>
              <a:t>: carry flag</a:t>
            </a:r>
          </a:p>
          <a:p>
            <a:pPr lvl="1"/>
            <a:r>
              <a:rPr lang="en-GB" dirty="0" smtClean="0"/>
              <a:t>TF: trap flag</a:t>
            </a:r>
          </a:p>
          <a:p>
            <a:pPr lvl="1"/>
            <a:r>
              <a:rPr lang="en-GB" dirty="0" smtClean="0"/>
              <a:t>OF: overflow</a:t>
            </a:r>
          </a:p>
          <a:p>
            <a:pPr lvl="1"/>
            <a:r>
              <a:rPr lang="en-GB" dirty="0" smtClean="0"/>
              <a:t>…..</a:t>
            </a:r>
          </a:p>
          <a:p>
            <a:r>
              <a:rPr lang="en-GB" b="1" dirty="0" smtClean="0"/>
              <a:t>Instruction Pointer</a:t>
            </a:r>
          </a:p>
          <a:p>
            <a:pPr lvl="1"/>
            <a:r>
              <a:rPr lang="en-GB" dirty="0" smtClean="0"/>
              <a:t>EIP: contains the memory address of the next instruction to be executed -&gt; t</a:t>
            </a:r>
            <a:r>
              <a:rPr lang="en-GB" dirty="0" smtClean="0">
                <a:effectLst>
                  <a:outerShdw blurRad="38100" dist="38100" dir="2700000" algn="tl">
                    <a:srgbClr val="000000">
                      <a:alpha val="43137"/>
                    </a:srgbClr>
                  </a:outerShdw>
                </a:effectLst>
              </a:rPr>
              <a:t>ells CPU what to do next</a:t>
            </a:r>
            <a:endParaRPr lang="en-GB" dirty="0">
              <a:effectLst>
                <a:outerShdw blurRad="38100" dist="38100" dir="2700000" algn="tl">
                  <a:srgbClr val="000000">
                    <a:alpha val="43137"/>
                  </a:srgbClr>
                </a:outerShdw>
              </a:effectLst>
            </a:endParaRPr>
          </a:p>
        </p:txBody>
      </p:sp>
      <p:sp>
        <p:nvSpPr>
          <p:cNvPr id="4" name="TextBox 3"/>
          <p:cNvSpPr txBox="1"/>
          <p:nvPr/>
        </p:nvSpPr>
        <p:spPr>
          <a:xfrm>
            <a:off x="3995937" y="1772816"/>
            <a:ext cx="4896544" cy="1631216"/>
          </a:xfrm>
          <a:prstGeom prst="rect">
            <a:avLst/>
          </a:prstGeom>
          <a:solidFill>
            <a:schemeClr val="accent6">
              <a:lumMod val="20000"/>
              <a:lumOff val="80000"/>
            </a:schemeClr>
          </a:solidFill>
          <a:ln>
            <a:solidFill>
              <a:srgbClr val="FF0000"/>
            </a:solidFill>
          </a:ln>
        </p:spPr>
        <p:txBody>
          <a:bodyPr wrap="square" rtlCol="0">
            <a:spAutoFit/>
          </a:bodyPr>
          <a:lstStyle/>
          <a:p>
            <a:r>
              <a:rPr lang="en-GB" sz="2000" i="1" dirty="0">
                <a:solidFill>
                  <a:prstClr val="black"/>
                </a:solidFill>
                <a:effectLst>
                  <a:outerShdw blurRad="38100" dist="38100" dir="2700000" algn="tl">
                    <a:srgbClr val="000000">
                      <a:alpha val="43137"/>
                    </a:srgbClr>
                  </a:outerShdw>
                </a:effectLst>
              </a:rPr>
              <a:t>When EIP is corrupted, the CPU will not be able to fetch legitimate code  to execute,  therefore the program  running at the time will likely crash. When you control EIP, you can control what is executed by the CPU.</a:t>
            </a:r>
          </a:p>
        </p:txBody>
      </p:sp>
    </p:spTree>
    <p:extLst>
      <p:ext uri="{BB962C8B-B14F-4D97-AF65-F5344CB8AC3E}">
        <p14:creationId xmlns:p14="http://schemas.microsoft.com/office/powerpoint/2010/main" val="15862251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b="1" dirty="0" smtClean="0"/>
              <a:t>Simple instructions</a:t>
            </a:r>
          </a:p>
          <a:p>
            <a:pPr lvl="1"/>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418032862"/>
              </p:ext>
            </p:extLst>
          </p:nvPr>
        </p:nvGraphicFramePr>
        <p:xfrm>
          <a:off x="179512" y="1772816"/>
          <a:ext cx="4392488" cy="4314240"/>
        </p:xfrm>
        <a:graphic>
          <a:graphicData uri="http://schemas.openxmlformats.org/drawingml/2006/table">
            <a:tbl>
              <a:tblPr firstRow="1" bandRow="1">
                <a:tableStyleId>{5C22544A-7EE6-4342-B048-85BDC9FD1C3A}</a:tableStyleId>
              </a:tblPr>
              <a:tblGrid>
                <a:gridCol w="2232248"/>
                <a:gridCol w="2160240"/>
              </a:tblGrid>
              <a:tr h="825580">
                <a:tc>
                  <a:txBody>
                    <a:bodyPr/>
                    <a:lstStyle/>
                    <a:p>
                      <a:r>
                        <a:rPr lang="en-GB" sz="2000" dirty="0" smtClean="0"/>
                        <a:t>Instruction</a:t>
                      </a:r>
                      <a:endParaRPr lang="en-GB" sz="2000" dirty="0"/>
                    </a:p>
                  </a:txBody>
                  <a:tcPr/>
                </a:tc>
                <a:tc>
                  <a:txBody>
                    <a:bodyPr/>
                    <a:lstStyle/>
                    <a:p>
                      <a:r>
                        <a:rPr lang="en-GB" sz="2000" dirty="0" smtClean="0"/>
                        <a:t>Description</a:t>
                      </a:r>
                      <a:endParaRPr lang="en-GB" sz="2000" dirty="0"/>
                    </a:p>
                  </a:txBody>
                  <a:tcPr/>
                </a:tc>
              </a:tr>
              <a:tr h="425325">
                <a:tc>
                  <a:txBody>
                    <a:bodyPr/>
                    <a:lstStyle/>
                    <a:p>
                      <a:r>
                        <a:rPr lang="en-GB" sz="2200" dirty="0" err="1" smtClean="0">
                          <a:latin typeface="Agency FB" panose="020B0503020202020204" pitchFamily="34" charset="0"/>
                        </a:rPr>
                        <a:t>mov</a:t>
                      </a:r>
                      <a:r>
                        <a:rPr lang="en-GB" sz="2200" dirty="0" smtClean="0">
                          <a:latin typeface="Agency FB" panose="020B0503020202020204" pitchFamily="34" charset="0"/>
                        </a:rPr>
                        <a:t> </a:t>
                      </a:r>
                      <a:r>
                        <a:rPr lang="en-GB" sz="2200" dirty="0" err="1" smtClean="0">
                          <a:latin typeface="Agency FB" panose="020B0503020202020204" pitchFamily="34" charset="0"/>
                        </a:rPr>
                        <a:t>eax</a:t>
                      </a:r>
                      <a:r>
                        <a:rPr lang="en-GB" sz="2200" dirty="0" smtClean="0">
                          <a:latin typeface="Agency FB" panose="020B0503020202020204" pitchFamily="34" charset="0"/>
                        </a:rPr>
                        <a:t>, </a:t>
                      </a:r>
                      <a:r>
                        <a:rPr lang="en-GB" sz="2200" dirty="0" err="1" smtClean="0">
                          <a:latin typeface="Agency FB" panose="020B0503020202020204" pitchFamily="34" charset="0"/>
                        </a:rPr>
                        <a:t>ebx</a:t>
                      </a:r>
                      <a:endParaRPr lang="en-GB" sz="2200" dirty="0">
                        <a:latin typeface="Agency FB" panose="020B0503020202020204" pitchFamily="34" charset="0"/>
                      </a:endParaRPr>
                    </a:p>
                  </a:txBody>
                  <a:tcPr/>
                </a:tc>
                <a:tc>
                  <a:txBody>
                    <a:bodyPr/>
                    <a:lstStyle/>
                    <a:p>
                      <a:endParaRPr lang="en-GB" sz="1400" dirty="0"/>
                    </a:p>
                  </a:txBody>
                  <a:tcPr/>
                </a:tc>
              </a:tr>
              <a:tr h="425325">
                <a:tc>
                  <a:txBody>
                    <a:bodyPr/>
                    <a:lstStyle/>
                    <a:p>
                      <a:r>
                        <a:rPr lang="en-GB" sz="2200" dirty="0" err="1" smtClean="0">
                          <a:latin typeface="Agency FB" panose="020B0503020202020204" pitchFamily="34" charset="0"/>
                        </a:rPr>
                        <a:t>mov</a:t>
                      </a:r>
                      <a:r>
                        <a:rPr lang="en-GB" sz="2200" baseline="0" dirty="0" smtClean="0">
                          <a:latin typeface="Agency FB" panose="020B0503020202020204" pitchFamily="34" charset="0"/>
                        </a:rPr>
                        <a:t> </a:t>
                      </a:r>
                      <a:r>
                        <a:rPr lang="en-GB" sz="2200" baseline="0" dirty="0" err="1" smtClean="0">
                          <a:latin typeface="Agency FB" panose="020B0503020202020204" pitchFamily="34" charset="0"/>
                        </a:rPr>
                        <a:t>eax</a:t>
                      </a:r>
                      <a:r>
                        <a:rPr lang="en-GB" sz="2200" baseline="0" dirty="0" smtClean="0">
                          <a:latin typeface="Agency FB" panose="020B0503020202020204" pitchFamily="34" charset="0"/>
                        </a:rPr>
                        <a:t>, 0x40</a:t>
                      </a:r>
                      <a:endParaRPr lang="en-GB" sz="2200" dirty="0">
                        <a:latin typeface="Agency FB" panose="020B0503020202020204" pitchFamily="34" charset="0"/>
                      </a:endParaRPr>
                    </a:p>
                  </a:txBody>
                  <a:tcPr/>
                </a:tc>
                <a:tc>
                  <a:txBody>
                    <a:bodyPr/>
                    <a:lstStyle/>
                    <a:p>
                      <a:endParaRPr lang="en-GB" sz="1400" dirty="0"/>
                    </a:p>
                  </a:txBody>
                  <a:tcPr/>
                </a:tc>
              </a:tr>
              <a:tr h="481220">
                <a:tc>
                  <a:txBody>
                    <a:bodyPr/>
                    <a:lstStyle/>
                    <a:p>
                      <a:r>
                        <a:rPr lang="en-GB" sz="2200" dirty="0" err="1" smtClean="0">
                          <a:latin typeface="Agency FB" panose="020B0503020202020204" pitchFamily="34" charset="0"/>
                        </a:rPr>
                        <a:t>mov</a:t>
                      </a:r>
                      <a:r>
                        <a:rPr lang="en-GB" sz="2200" dirty="0" smtClean="0">
                          <a:latin typeface="Agency FB" panose="020B0503020202020204" pitchFamily="34" charset="0"/>
                        </a:rPr>
                        <a:t> </a:t>
                      </a:r>
                      <a:r>
                        <a:rPr lang="en-GB" sz="2200" dirty="0" err="1" smtClean="0">
                          <a:latin typeface="Agency FB" panose="020B0503020202020204" pitchFamily="34" charset="0"/>
                        </a:rPr>
                        <a:t>eax</a:t>
                      </a:r>
                      <a:r>
                        <a:rPr lang="en-GB" sz="2200" dirty="0" smtClean="0">
                          <a:latin typeface="Agency FB" panose="020B0503020202020204" pitchFamily="34" charset="0"/>
                        </a:rPr>
                        <a:t>,</a:t>
                      </a:r>
                      <a:r>
                        <a:rPr lang="en-GB" sz="2200" baseline="0" dirty="0" smtClean="0">
                          <a:latin typeface="Agency FB" panose="020B0503020202020204" pitchFamily="34" charset="0"/>
                        </a:rPr>
                        <a:t> [0x4037c4]</a:t>
                      </a:r>
                      <a:endParaRPr lang="en-GB" sz="2200" dirty="0">
                        <a:latin typeface="Agency FB" panose="020B0503020202020204" pitchFamily="34" charset="0"/>
                      </a:endParaRPr>
                    </a:p>
                  </a:txBody>
                  <a:tcPr/>
                </a:tc>
                <a:tc>
                  <a:txBody>
                    <a:bodyPr/>
                    <a:lstStyle/>
                    <a:p>
                      <a:endParaRPr lang="en-GB" sz="1400" dirty="0"/>
                    </a:p>
                  </a:txBody>
                  <a:tcPr/>
                </a:tc>
              </a:tr>
              <a:tr h="425325">
                <a:tc>
                  <a:txBody>
                    <a:bodyPr/>
                    <a:lstStyle/>
                    <a:p>
                      <a:r>
                        <a:rPr lang="en-GB" sz="2200" dirty="0" err="1" smtClean="0">
                          <a:latin typeface="Agency FB" panose="020B0503020202020204" pitchFamily="34" charset="0"/>
                        </a:rPr>
                        <a:t>mov</a:t>
                      </a:r>
                      <a:r>
                        <a:rPr lang="en-GB" sz="2200" dirty="0" smtClean="0">
                          <a:latin typeface="Agency FB" panose="020B0503020202020204" pitchFamily="34" charset="0"/>
                        </a:rPr>
                        <a:t> </a:t>
                      </a:r>
                      <a:r>
                        <a:rPr lang="en-GB" sz="2200" dirty="0" err="1" smtClean="0">
                          <a:latin typeface="Agency FB" panose="020B0503020202020204" pitchFamily="34" charset="0"/>
                        </a:rPr>
                        <a:t>eax</a:t>
                      </a:r>
                      <a:r>
                        <a:rPr lang="en-GB" sz="2200" dirty="0" smtClean="0">
                          <a:latin typeface="Agency FB" panose="020B0503020202020204" pitchFamily="34" charset="0"/>
                        </a:rPr>
                        <a:t>, [</a:t>
                      </a:r>
                      <a:r>
                        <a:rPr lang="en-GB" sz="2200" dirty="0" err="1" smtClean="0">
                          <a:latin typeface="Agency FB" panose="020B0503020202020204" pitchFamily="34" charset="0"/>
                        </a:rPr>
                        <a:t>ebx</a:t>
                      </a:r>
                      <a:r>
                        <a:rPr lang="en-GB" sz="2200" dirty="0" smtClean="0">
                          <a:latin typeface="Agency FB" panose="020B0503020202020204" pitchFamily="34" charset="0"/>
                        </a:rPr>
                        <a:t>]</a:t>
                      </a:r>
                      <a:endParaRPr lang="en-GB" sz="2200" dirty="0">
                        <a:latin typeface="Agency FB" panose="020B0503020202020204" pitchFamily="34" charset="0"/>
                      </a:endParaRPr>
                    </a:p>
                  </a:txBody>
                  <a:tcPr/>
                </a:tc>
                <a:tc>
                  <a:txBody>
                    <a:bodyPr/>
                    <a:lstStyle/>
                    <a:p>
                      <a:endParaRPr lang="en-GB" sz="1400" dirty="0"/>
                    </a:p>
                  </a:txBody>
                  <a:tcPr/>
                </a:tc>
              </a:tr>
              <a:tr h="447120">
                <a:tc>
                  <a:txBody>
                    <a:bodyPr/>
                    <a:lstStyle/>
                    <a:p>
                      <a:r>
                        <a:rPr lang="en-GB" sz="2200" dirty="0" err="1" smtClean="0">
                          <a:latin typeface="Agency FB" panose="020B0503020202020204" pitchFamily="34" charset="0"/>
                        </a:rPr>
                        <a:t>mov</a:t>
                      </a:r>
                      <a:r>
                        <a:rPr lang="en-GB" sz="2200" dirty="0" smtClean="0">
                          <a:latin typeface="Agency FB" panose="020B0503020202020204" pitchFamily="34" charset="0"/>
                        </a:rPr>
                        <a:t> </a:t>
                      </a:r>
                      <a:r>
                        <a:rPr lang="en-GB" sz="2200" dirty="0" err="1" smtClean="0">
                          <a:latin typeface="Agency FB" panose="020B0503020202020204" pitchFamily="34" charset="0"/>
                        </a:rPr>
                        <a:t>eax</a:t>
                      </a:r>
                      <a:r>
                        <a:rPr lang="en-GB" sz="2200" dirty="0" smtClean="0">
                          <a:latin typeface="Agency FB" panose="020B0503020202020204" pitchFamily="34" charset="0"/>
                        </a:rPr>
                        <a:t>, [</a:t>
                      </a:r>
                      <a:r>
                        <a:rPr lang="en-GB" sz="2200" dirty="0" err="1" smtClean="0">
                          <a:latin typeface="Agency FB" panose="020B0503020202020204" pitchFamily="34" charset="0"/>
                        </a:rPr>
                        <a:t>ebx+esi</a:t>
                      </a:r>
                      <a:r>
                        <a:rPr lang="en-GB" sz="2200" dirty="0" smtClean="0">
                          <a:latin typeface="Agency FB" panose="020B0503020202020204" pitchFamily="34" charset="0"/>
                        </a:rPr>
                        <a:t>*4]</a:t>
                      </a:r>
                      <a:endParaRPr lang="en-GB" sz="2200" dirty="0">
                        <a:latin typeface="Agency FB" panose="020B0503020202020204" pitchFamily="34" charset="0"/>
                      </a:endParaRPr>
                    </a:p>
                  </a:txBody>
                  <a:tcPr/>
                </a:tc>
                <a:tc>
                  <a:txBody>
                    <a:bodyPr/>
                    <a:lstStyle/>
                    <a:p>
                      <a:endParaRPr lang="en-GB" sz="1400" dirty="0"/>
                    </a:p>
                  </a:txBody>
                  <a:tcPr/>
                </a:tc>
              </a:tr>
              <a:tr h="425325">
                <a:tc>
                  <a:txBody>
                    <a:bodyPr/>
                    <a:lstStyle/>
                    <a:p>
                      <a:r>
                        <a:rPr lang="en-GB" sz="2200" dirty="0" smtClean="0">
                          <a:latin typeface="Agency FB" panose="020B0503020202020204" pitchFamily="34" charset="0"/>
                        </a:rPr>
                        <a:t>lea </a:t>
                      </a:r>
                      <a:r>
                        <a:rPr lang="en-GB" sz="2200" dirty="0" err="1" smtClean="0">
                          <a:latin typeface="Agency FB" panose="020B0503020202020204" pitchFamily="34" charset="0"/>
                        </a:rPr>
                        <a:t>eax</a:t>
                      </a:r>
                      <a:r>
                        <a:rPr lang="en-GB" sz="2200" dirty="0" smtClean="0">
                          <a:latin typeface="Agency FB" panose="020B0503020202020204" pitchFamily="34" charset="0"/>
                        </a:rPr>
                        <a:t>, [ebx+8]</a:t>
                      </a:r>
                      <a:endParaRPr lang="en-GB" sz="2200" dirty="0">
                        <a:latin typeface="Agency FB" panose="020B0503020202020204" pitchFamily="34" charset="0"/>
                      </a:endParaRPr>
                    </a:p>
                  </a:txBody>
                  <a:tcPr/>
                </a:tc>
                <a:tc>
                  <a:txBody>
                    <a:bodyPr/>
                    <a:lstStyle/>
                    <a:p>
                      <a:endParaRPr lang="en-GB" sz="1400" dirty="0"/>
                    </a:p>
                  </a:txBody>
                  <a:tcPr/>
                </a:tc>
              </a:tr>
              <a:tr h="425325">
                <a:tc>
                  <a:txBody>
                    <a:bodyPr/>
                    <a:lstStyle/>
                    <a:p>
                      <a:r>
                        <a:rPr lang="en-GB" sz="2200" dirty="0" smtClean="0">
                          <a:latin typeface="Agency FB" panose="020B0503020202020204" pitchFamily="34" charset="0"/>
                        </a:rPr>
                        <a:t>sub </a:t>
                      </a:r>
                      <a:r>
                        <a:rPr lang="en-GB" sz="2200" dirty="0" err="1" smtClean="0">
                          <a:latin typeface="Agency FB" panose="020B0503020202020204" pitchFamily="34" charset="0"/>
                        </a:rPr>
                        <a:t>eax</a:t>
                      </a:r>
                      <a:r>
                        <a:rPr lang="en-GB" sz="2200" dirty="0" smtClean="0">
                          <a:latin typeface="Agency FB" panose="020B0503020202020204" pitchFamily="34" charset="0"/>
                        </a:rPr>
                        <a:t>, 0x10</a:t>
                      </a:r>
                      <a:endParaRPr lang="en-GB" sz="2200" dirty="0">
                        <a:latin typeface="Agency FB" panose="020B0503020202020204" pitchFamily="34" charset="0"/>
                      </a:endParaRPr>
                    </a:p>
                  </a:txBody>
                  <a:tcPr/>
                </a:tc>
                <a:tc>
                  <a:txBody>
                    <a:bodyPr/>
                    <a:lstStyle/>
                    <a:p>
                      <a:endParaRPr lang="en-GB" sz="1400" dirty="0"/>
                    </a:p>
                  </a:txBody>
                  <a:tcPr/>
                </a:tc>
              </a:tr>
              <a:tr h="425325">
                <a:tc>
                  <a:txBody>
                    <a:bodyPr/>
                    <a:lstStyle/>
                    <a:p>
                      <a:r>
                        <a:rPr lang="en-GB" sz="2200" dirty="0" smtClean="0">
                          <a:latin typeface="Agency FB" panose="020B0503020202020204" pitchFamily="34" charset="0"/>
                        </a:rPr>
                        <a:t>add </a:t>
                      </a:r>
                      <a:r>
                        <a:rPr lang="en-GB" sz="2200" dirty="0" err="1" smtClean="0">
                          <a:latin typeface="Agency FB" panose="020B0503020202020204" pitchFamily="34" charset="0"/>
                        </a:rPr>
                        <a:t>eax</a:t>
                      </a:r>
                      <a:r>
                        <a:rPr lang="en-GB" sz="2200" dirty="0" smtClean="0">
                          <a:latin typeface="Agency FB" panose="020B0503020202020204" pitchFamily="34" charset="0"/>
                        </a:rPr>
                        <a:t>, </a:t>
                      </a:r>
                      <a:r>
                        <a:rPr lang="en-GB" sz="2200" dirty="0" err="1" smtClean="0">
                          <a:latin typeface="Agency FB" panose="020B0503020202020204" pitchFamily="34" charset="0"/>
                        </a:rPr>
                        <a:t>ebx</a:t>
                      </a:r>
                      <a:endParaRPr lang="en-GB" sz="2200" dirty="0">
                        <a:latin typeface="Agency FB" panose="020B0503020202020204" pitchFamily="34" charset="0"/>
                      </a:endParaRPr>
                    </a:p>
                  </a:txBody>
                  <a:tcPr/>
                </a:tc>
                <a:tc>
                  <a:txBody>
                    <a:bodyPr/>
                    <a:lstStyle/>
                    <a:p>
                      <a:endParaRPr lang="en-GB" sz="1400"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25993866"/>
              </p:ext>
            </p:extLst>
          </p:nvPr>
        </p:nvGraphicFramePr>
        <p:xfrm>
          <a:off x="4644008" y="1772816"/>
          <a:ext cx="4248108" cy="4640881"/>
        </p:xfrm>
        <a:graphic>
          <a:graphicData uri="http://schemas.openxmlformats.org/drawingml/2006/table">
            <a:tbl>
              <a:tblPr firstRow="1" bandRow="1">
                <a:tableStyleId>{5C22544A-7EE6-4342-B048-85BDC9FD1C3A}</a:tableStyleId>
              </a:tblPr>
              <a:tblGrid>
                <a:gridCol w="1584176"/>
                <a:gridCol w="2663932"/>
              </a:tblGrid>
              <a:tr h="792088">
                <a:tc>
                  <a:txBody>
                    <a:bodyPr/>
                    <a:lstStyle/>
                    <a:p>
                      <a:r>
                        <a:rPr lang="en-GB" sz="2000" dirty="0" smtClean="0">
                          <a:latin typeface="Agency FB" panose="020B0503020202020204" pitchFamily="34" charset="0"/>
                        </a:rPr>
                        <a:t>Instruction</a:t>
                      </a:r>
                      <a:endParaRPr lang="en-GB" sz="2000" dirty="0">
                        <a:latin typeface="Agency FB" panose="020B0503020202020204" pitchFamily="34" charset="0"/>
                      </a:endParaRPr>
                    </a:p>
                  </a:txBody>
                  <a:tcPr/>
                </a:tc>
                <a:tc>
                  <a:txBody>
                    <a:bodyPr/>
                    <a:lstStyle/>
                    <a:p>
                      <a:r>
                        <a:rPr lang="en-GB" sz="2000" dirty="0" smtClean="0"/>
                        <a:t>Description</a:t>
                      </a:r>
                      <a:endParaRPr lang="en-GB" sz="2000" dirty="0"/>
                    </a:p>
                  </a:txBody>
                  <a:tcPr/>
                </a:tc>
              </a:tr>
              <a:tr h="485418">
                <a:tc>
                  <a:txBody>
                    <a:bodyPr/>
                    <a:lstStyle/>
                    <a:p>
                      <a:r>
                        <a:rPr lang="en-GB" sz="2200" dirty="0" err="1" smtClean="0">
                          <a:latin typeface="Agency FB" panose="020B0503020202020204" pitchFamily="34" charset="0"/>
                        </a:rPr>
                        <a:t>inc</a:t>
                      </a:r>
                      <a:r>
                        <a:rPr lang="en-GB" sz="2200" dirty="0" smtClean="0">
                          <a:latin typeface="Agency FB" panose="020B0503020202020204" pitchFamily="34" charset="0"/>
                        </a:rPr>
                        <a:t> </a:t>
                      </a:r>
                      <a:r>
                        <a:rPr lang="en-GB" sz="2200" dirty="0" err="1" smtClean="0">
                          <a:latin typeface="Agency FB" panose="020B0503020202020204" pitchFamily="34" charset="0"/>
                        </a:rPr>
                        <a:t>edx</a:t>
                      </a:r>
                      <a:endParaRPr lang="en-GB" sz="2200" dirty="0">
                        <a:latin typeface="Agency FB" panose="020B0503020202020204" pitchFamily="34" charset="0"/>
                      </a:endParaRPr>
                    </a:p>
                  </a:txBody>
                  <a:tcPr/>
                </a:tc>
                <a:tc>
                  <a:txBody>
                    <a:bodyPr/>
                    <a:lstStyle/>
                    <a:p>
                      <a:endParaRPr lang="en-GB" sz="1400" dirty="0"/>
                    </a:p>
                  </a:txBody>
                  <a:tcPr/>
                </a:tc>
              </a:tr>
              <a:tr h="485418">
                <a:tc>
                  <a:txBody>
                    <a:bodyPr/>
                    <a:lstStyle/>
                    <a:p>
                      <a:r>
                        <a:rPr lang="en-GB" sz="2200" dirty="0" err="1" smtClean="0">
                          <a:latin typeface="Agency FB" panose="020B0503020202020204" pitchFamily="34" charset="0"/>
                        </a:rPr>
                        <a:t>dec</a:t>
                      </a:r>
                      <a:r>
                        <a:rPr lang="en-GB" sz="2200" dirty="0" smtClean="0">
                          <a:latin typeface="Agency FB" panose="020B0503020202020204" pitchFamily="34" charset="0"/>
                        </a:rPr>
                        <a:t> </a:t>
                      </a:r>
                      <a:r>
                        <a:rPr lang="en-GB" sz="2200" dirty="0" err="1" smtClean="0">
                          <a:latin typeface="Agency FB" panose="020B0503020202020204" pitchFamily="34" charset="0"/>
                        </a:rPr>
                        <a:t>ecx</a:t>
                      </a:r>
                      <a:endParaRPr lang="en-GB" sz="2200" dirty="0">
                        <a:latin typeface="Agency FB" panose="020B0503020202020204" pitchFamily="34" charset="0"/>
                      </a:endParaRPr>
                    </a:p>
                  </a:txBody>
                  <a:tcPr/>
                </a:tc>
                <a:tc>
                  <a:txBody>
                    <a:bodyPr/>
                    <a:lstStyle/>
                    <a:p>
                      <a:endParaRPr lang="en-GB" sz="1400" dirty="0"/>
                    </a:p>
                  </a:txBody>
                  <a:tcPr/>
                </a:tc>
              </a:tr>
              <a:tr h="485418">
                <a:tc>
                  <a:txBody>
                    <a:bodyPr/>
                    <a:lstStyle/>
                    <a:p>
                      <a:r>
                        <a:rPr lang="en-GB" sz="2200" dirty="0" err="1" smtClean="0">
                          <a:latin typeface="Agency FB" panose="020B0503020202020204" pitchFamily="34" charset="0"/>
                        </a:rPr>
                        <a:t>mul</a:t>
                      </a:r>
                      <a:r>
                        <a:rPr lang="en-GB" sz="2200" dirty="0" smtClean="0">
                          <a:latin typeface="Agency FB" panose="020B0503020202020204" pitchFamily="34" charset="0"/>
                        </a:rPr>
                        <a:t> </a:t>
                      </a:r>
                      <a:r>
                        <a:rPr lang="en-GB" sz="2200" dirty="0" err="1" smtClean="0">
                          <a:latin typeface="Agency FB" panose="020B0503020202020204" pitchFamily="34" charset="0"/>
                        </a:rPr>
                        <a:t>eax</a:t>
                      </a:r>
                      <a:r>
                        <a:rPr lang="en-GB" sz="2200" dirty="0" smtClean="0">
                          <a:latin typeface="Agency FB" panose="020B0503020202020204" pitchFamily="34" charset="0"/>
                        </a:rPr>
                        <a:t>,</a:t>
                      </a:r>
                      <a:r>
                        <a:rPr lang="en-GB" sz="2200" baseline="0" dirty="0" smtClean="0">
                          <a:latin typeface="Agency FB" panose="020B0503020202020204" pitchFamily="34" charset="0"/>
                        </a:rPr>
                        <a:t> </a:t>
                      </a:r>
                      <a:r>
                        <a:rPr lang="en-GB" sz="2200" dirty="0" smtClean="0">
                          <a:latin typeface="Agency FB" panose="020B0503020202020204" pitchFamily="34" charset="0"/>
                        </a:rPr>
                        <a:t>0x50</a:t>
                      </a:r>
                      <a:endParaRPr lang="en-GB" sz="2200" dirty="0">
                        <a:latin typeface="Agency FB" panose="020B0503020202020204" pitchFamily="34" charset="0"/>
                      </a:endParaRPr>
                    </a:p>
                  </a:txBody>
                  <a:tcPr/>
                </a:tc>
                <a:tc>
                  <a:txBody>
                    <a:bodyPr/>
                    <a:lstStyle/>
                    <a:p>
                      <a:endParaRPr lang="en-GB" sz="1400" dirty="0"/>
                    </a:p>
                  </a:txBody>
                  <a:tcPr/>
                </a:tc>
              </a:tr>
              <a:tr h="485418">
                <a:tc>
                  <a:txBody>
                    <a:bodyPr/>
                    <a:lstStyle/>
                    <a:p>
                      <a:r>
                        <a:rPr lang="en-GB" sz="2200" dirty="0" smtClean="0">
                          <a:latin typeface="Agency FB" panose="020B0503020202020204" pitchFamily="34" charset="0"/>
                        </a:rPr>
                        <a:t>div </a:t>
                      </a:r>
                      <a:r>
                        <a:rPr lang="en-GB" sz="2200" dirty="0" err="1" smtClean="0">
                          <a:latin typeface="Agency FB" panose="020B0503020202020204" pitchFamily="34" charset="0"/>
                        </a:rPr>
                        <a:t>ebx</a:t>
                      </a:r>
                      <a:r>
                        <a:rPr lang="en-GB" sz="2200" dirty="0" smtClean="0">
                          <a:latin typeface="Agency FB" panose="020B0503020202020204" pitchFamily="34" charset="0"/>
                        </a:rPr>
                        <a:t>,</a:t>
                      </a:r>
                      <a:r>
                        <a:rPr lang="en-GB" sz="2200" baseline="0" dirty="0" smtClean="0">
                          <a:latin typeface="Agency FB" panose="020B0503020202020204" pitchFamily="34" charset="0"/>
                        </a:rPr>
                        <a:t> </a:t>
                      </a:r>
                      <a:r>
                        <a:rPr lang="en-GB" sz="2200" dirty="0" smtClean="0">
                          <a:latin typeface="Agency FB" panose="020B0503020202020204" pitchFamily="34" charset="0"/>
                        </a:rPr>
                        <a:t>0x75</a:t>
                      </a:r>
                      <a:endParaRPr lang="en-GB" sz="2200" dirty="0">
                        <a:latin typeface="Agency FB" panose="020B0503020202020204" pitchFamily="34" charset="0"/>
                      </a:endParaRPr>
                    </a:p>
                  </a:txBody>
                  <a:tcPr/>
                </a:tc>
                <a:tc>
                  <a:txBody>
                    <a:bodyPr/>
                    <a:lstStyle/>
                    <a:p>
                      <a:endParaRPr lang="en-GB" sz="1400" dirty="0"/>
                    </a:p>
                  </a:txBody>
                  <a:tcPr/>
                </a:tc>
              </a:tr>
              <a:tr h="450867">
                <a:tc>
                  <a:txBody>
                    <a:bodyPr/>
                    <a:lstStyle/>
                    <a:p>
                      <a:r>
                        <a:rPr lang="en-GB" sz="2200" dirty="0" err="1" smtClean="0">
                          <a:latin typeface="Agency FB" panose="020B0503020202020204" pitchFamily="34" charset="0"/>
                        </a:rPr>
                        <a:t>xor</a:t>
                      </a:r>
                      <a:r>
                        <a:rPr lang="en-GB" sz="2200" dirty="0" smtClean="0">
                          <a:latin typeface="Agency FB" panose="020B0503020202020204" pitchFamily="34" charset="0"/>
                        </a:rPr>
                        <a:t> </a:t>
                      </a:r>
                      <a:r>
                        <a:rPr lang="en-GB" sz="2200" dirty="0" err="1" smtClean="0">
                          <a:latin typeface="Agency FB" panose="020B0503020202020204" pitchFamily="34" charset="0"/>
                        </a:rPr>
                        <a:t>eax</a:t>
                      </a:r>
                      <a:r>
                        <a:rPr lang="en-GB" sz="2200" dirty="0" smtClean="0">
                          <a:latin typeface="Agency FB" panose="020B0503020202020204" pitchFamily="34" charset="0"/>
                        </a:rPr>
                        <a:t>, </a:t>
                      </a:r>
                      <a:r>
                        <a:rPr lang="en-GB" sz="2200" dirty="0" err="1" smtClean="0">
                          <a:latin typeface="Agency FB" panose="020B0503020202020204" pitchFamily="34" charset="0"/>
                        </a:rPr>
                        <a:t>eax</a:t>
                      </a:r>
                      <a:endParaRPr lang="en-GB" sz="2200" dirty="0">
                        <a:latin typeface="Agency FB" panose="020B0503020202020204" pitchFamily="34" charset="0"/>
                      </a:endParaRPr>
                    </a:p>
                  </a:txBody>
                  <a:tcPr/>
                </a:tc>
                <a:tc>
                  <a:txBody>
                    <a:bodyPr/>
                    <a:lstStyle/>
                    <a:p>
                      <a:endParaRPr lang="en-GB" sz="1400" dirty="0"/>
                    </a:p>
                  </a:txBody>
                  <a:tcPr/>
                </a:tc>
              </a:tr>
              <a:tr h="485418">
                <a:tc>
                  <a:txBody>
                    <a:bodyPr/>
                    <a:lstStyle/>
                    <a:p>
                      <a:r>
                        <a:rPr lang="en-GB" sz="2200" dirty="0" err="1" smtClean="0">
                          <a:latin typeface="Agency FB" panose="020B0503020202020204" pitchFamily="34" charset="0"/>
                        </a:rPr>
                        <a:t>shl</a:t>
                      </a:r>
                      <a:r>
                        <a:rPr lang="en-GB" sz="2200" baseline="0" dirty="0" smtClean="0">
                          <a:latin typeface="Agency FB" panose="020B0503020202020204" pitchFamily="34" charset="0"/>
                        </a:rPr>
                        <a:t> </a:t>
                      </a:r>
                      <a:r>
                        <a:rPr lang="en-GB" sz="2200" baseline="0" dirty="0" err="1" smtClean="0">
                          <a:latin typeface="Agency FB" panose="020B0503020202020204" pitchFamily="34" charset="0"/>
                        </a:rPr>
                        <a:t>eax</a:t>
                      </a:r>
                      <a:r>
                        <a:rPr lang="en-GB" sz="2200" baseline="0" dirty="0" smtClean="0">
                          <a:latin typeface="Agency FB" panose="020B0503020202020204" pitchFamily="34" charset="0"/>
                        </a:rPr>
                        <a:t>, 2</a:t>
                      </a:r>
                      <a:endParaRPr lang="en-GB" sz="2200" dirty="0">
                        <a:latin typeface="Agency FB" panose="020B0503020202020204" pitchFamily="34" charset="0"/>
                      </a:endParaRPr>
                    </a:p>
                  </a:txBody>
                  <a:tcPr/>
                </a:tc>
                <a:tc>
                  <a:txBody>
                    <a:bodyPr/>
                    <a:lstStyle/>
                    <a:p>
                      <a:endParaRPr lang="en-GB" sz="1400" dirty="0"/>
                    </a:p>
                  </a:txBody>
                  <a:tcPr/>
                </a:tc>
              </a:tr>
              <a:tr h="485418">
                <a:tc>
                  <a:txBody>
                    <a:bodyPr/>
                    <a:lstStyle/>
                    <a:p>
                      <a:r>
                        <a:rPr lang="en-GB" sz="2200" dirty="0" err="1" smtClean="0">
                          <a:latin typeface="Agency FB" panose="020B0503020202020204" pitchFamily="34" charset="0"/>
                        </a:rPr>
                        <a:t>ror</a:t>
                      </a:r>
                      <a:endParaRPr lang="en-GB" sz="2200" dirty="0">
                        <a:latin typeface="Agency FB" panose="020B0503020202020204" pitchFamily="34" charset="0"/>
                      </a:endParaRPr>
                    </a:p>
                  </a:txBody>
                  <a:tcPr/>
                </a:tc>
                <a:tc>
                  <a:txBody>
                    <a:bodyPr/>
                    <a:lstStyle/>
                    <a:p>
                      <a:endParaRPr lang="en-GB" sz="1400" dirty="0"/>
                    </a:p>
                  </a:txBody>
                  <a:tcPr/>
                </a:tc>
              </a:tr>
              <a:tr h="485418">
                <a:tc>
                  <a:txBody>
                    <a:bodyPr/>
                    <a:lstStyle/>
                    <a:p>
                      <a:r>
                        <a:rPr lang="en-GB" sz="2200" dirty="0" err="1" smtClean="0">
                          <a:latin typeface="Agency FB" panose="020B0503020202020204" pitchFamily="34" charset="0"/>
                        </a:rPr>
                        <a:t>nop</a:t>
                      </a:r>
                      <a:endParaRPr lang="en-GB" sz="2200" dirty="0">
                        <a:latin typeface="Agency FB" panose="020B0503020202020204" pitchFamily="34" charset="0"/>
                      </a:endParaRPr>
                    </a:p>
                  </a:txBody>
                  <a:tcPr/>
                </a:tc>
                <a:tc>
                  <a:txBody>
                    <a:bodyPr/>
                    <a:lstStyle/>
                    <a:p>
                      <a:endParaRPr lang="en-GB" sz="1400" dirty="0"/>
                    </a:p>
                  </a:txBody>
                  <a:tcPr/>
                </a:tc>
              </a:tr>
            </a:tbl>
          </a:graphicData>
        </a:graphic>
      </p:graphicFrame>
    </p:spTree>
    <p:extLst>
      <p:ext uri="{BB962C8B-B14F-4D97-AF65-F5344CB8AC3E}">
        <p14:creationId xmlns:p14="http://schemas.microsoft.com/office/powerpoint/2010/main" val="35500464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b="1" dirty="0" smtClean="0"/>
              <a:t>Conditionals</a:t>
            </a:r>
            <a:r>
              <a:rPr lang="en-GB" dirty="0" smtClean="0"/>
              <a:t>: instructions that perform the comparison, i.e. </a:t>
            </a:r>
            <a:r>
              <a:rPr lang="en-GB" dirty="0" smtClean="0">
                <a:latin typeface="Agency FB" panose="020B0503020202020204" pitchFamily="34" charset="0"/>
              </a:rPr>
              <a:t>test</a:t>
            </a:r>
            <a:r>
              <a:rPr lang="en-GB" dirty="0" smtClean="0"/>
              <a:t>, </a:t>
            </a:r>
            <a:r>
              <a:rPr lang="en-GB" dirty="0" err="1" smtClean="0">
                <a:latin typeface="Agency FB" panose="020B0503020202020204" pitchFamily="34" charset="0"/>
              </a:rPr>
              <a:t>cmp</a:t>
            </a:r>
            <a:endParaRPr lang="en-GB" dirty="0" smtClean="0">
              <a:latin typeface="Agency FB" panose="020B0503020202020204" pitchFamily="34" charset="0"/>
            </a:endParaRPr>
          </a:p>
          <a:p>
            <a:pPr lvl="2"/>
            <a:r>
              <a:rPr lang="en-GB" dirty="0"/>
              <a:t>Uses with </a:t>
            </a:r>
            <a:r>
              <a:rPr lang="en-GB" dirty="0" smtClean="0"/>
              <a:t>flags ZF, CF, …</a:t>
            </a:r>
          </a:p>
          <a:p>
            <a:pPr lvl="2"/>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2136193844"/>
              </p:ext>
            </p:extLst>
          </p:nvPr>
        </p:nvGraphicFramePr>
        <p:xfrm>
          <a:off x="1259632" y="3645024"/>
          <a:ext cx="6096000" cy="211328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err="1" smtClean="0"/>
                        <a:t>cmp</a:t>
                      </a:r>
                      <a:endParaRPr lang="en-GB" dirty="0"/>
                    </a:p>
                  </a:txBody>
                  <a:tcPr/>
                </a:tc>
                <a:tc>
                  <a:txBody>
                    <a:bodyPr/>
                    <a:lstStyle/>
                    <a:p>
                      <a:r>
                        <a:rPr lang="en-GB" dirty="0" smtClean="0"/>
                        <a:t>ZF</a:t>
                      </a:r>
                      <a:endParaRPr lang="en-GB" dirty="0"/>
                    </a:p>
                  </a:txBody>
                  <a:tcPr/>
                </a:tc>
                <a:tc>
                  <a:txBody>
                    <a:bodyPr/>
                    <a:lstStyle/>
                    <a:p>
                      <a:r>
                        <a:rPr lang="en-GB" dirty="0" smtClean="0"/>
                        <a:t>CF</a:t>
                      </a:r>
                      <a:endParaRPr lang="en-GB" dirty="0"/>
                    </a:p>
                  </a:txBody>
                  <a:tcPr/>
                </a:tc>
              </a:tr>
              <a:tr h="370840">
                <a:tc>
                  <a:txBody>
                    <a:bodyPr/>
                    <a:lstStyle/>
                    <a:p>
                      <a:r>
                        <a:rPr lang="en-GB" sz="2400" dirty="0" err="1" smtClean="0">
                          <a:latin typeface="Agency FB" panose="020B0503020202020204" pitchFamily="34" charset="0"/>
                        </a:rPr>
                        <a:t>Dst</a:t>
                      </a:r>
                      <a:r>
                        <a:rPr lang="en-GB" sz="2400" dirty="0" smtClean="0">
                          <a:latin typeface="Agency FB" panose="020B0503020202020204" pitchFamily="34" charset="0"/>
                        </a:rPr>
                        <a:t> = </a:t>
                      </a:r>
                      <a:r>
                        <a:rPr lang="en-GB" sz="2400" dirty="0" err="1" smtClean="0">
                          <a:latin typeface="Agency FB" panose="020B0503020202020204" pitchFamily="34" charset="0"/>
                        </a:rPr>
                        <a:t>src</a:t>
                      </a:r>
                      <a:endParaRPr lang="en-GB" sz="2400" dirty="0">
                        <a:latin typeface="Agency FB" panose="020B0503020202020204" pitchFamily="34" charset="0"/>
                      </a:endParaRPr>
                    </a:p>
                  </a:txBody>
                  <a:tcPr/>
                </a:tc>
                <a:tc>
                  <a:txBody>
                    <a:bodyPr/>
                    <a:lstStyle/>
                    <a:p>
                      <a:r>
                        <a:rPr lang="en-GB" dirty="0" smtClean="0"/>
                        <a:t>1</a:t>
                      </a:r>
                      <a:endParaRPr lang="en-GB" dirty="0"/>
                    </a:p>
                  </a:txBody>
                  <a:tcPr/>
                </a:tc>
                <a:tc>
                  <a:txBody>
                    <a:bodyPr/>
                    <a:lstStyle/>
                    <a:p>
                      <a:r>
                        <a:rPr lang="en-GB" dirty="0" smtClean="0"/>
                        <a:t>0</a:t>
                      </a:r>
                      <a:endParaRPr lang="en-GB" dirty="0"/>
                    </a:p>
                  </a:txBody>
                  <a:tcPr/>
                </a:tc>
              </a:tr>
              <a:tr h="370840">
                <a:tc>
                  <a:txBody>
                    <a:bodyPr/>
                    <a:lstStyle/>
                    <a:p>
                      <a:r>
                        <a:rPr lang="en-GB" sz="2400" dirty="0" err="1" smtClean="0">
                          <a:latin typeface="Agency FB" panose="020B0503020202020204" pitchFamily="34" charset="0"/>
                        </a:rPr>
                        <a:t>Dst</a:t>
                      </a:r>
                      <a:r>
                        <a:rPr lang="en-GB" sz="2400" dirty="0" smtClean="0">
                          <a:latin typeface="Agency FB" panose="020B0503020202020204" pitchFamily="34" charset="0"/>
                        </a:rPr>
                        <a:t> &lt; </a:t>
                      </a:r>
                      <a:r>
                        <a:rPr lang="en-GB" sz="2400" dirty="0" err="1" smtClean="0">
                          <a:latin typeface="Agency FB" panose="020B0503020202020204" pitchFamily="34" charset="0"/>
                        </a:rPr>
                        <a:t>src</a:t>
                      </a:r>
                      <a:endParaRPr lang="en-GB" sz="2400" dirty="0">
                        <a:latin typeface="Agency FB" panose="020B0503020202020204" pitchFamily="34" charset="0"/>
                      </a:endParaRPr>
                    </a:p>
                  </a:txBody>
                  <a:tcPr/>
                </a:tc>
                <a:tc>
                  <a:txBody>
                    <a:bodyPr/>
                    <a:lstStyle/>
                    <a:p>
                      <a:r>
                        <a:rPr lang="en-GB" dirty="0" smtClean="0"/>
                        <a:t>0</a:t>
                      </a:r>
                      <a:endParaRPr lang="en-GB" dirty="0"/>
                    </a:p>
                  </a:txBody>
                  <a:tcPr/>
                </a:tc>
                <a:tc>
                  <a:txBody>
                    <a:bodyPr/>
                    <a:lstStyle/>
                    <a:p>
                      <a:r>
                        <a:rPr lang="en-GB" dirty="0" smtClean="0"/>
                        <a:t>1</a:t>
                      </a:r>
                      <a:endParaRPr lang="en-GB" dirty="0"/>
                    </a:p>
                  </a:txBody>
                  <a:tcPr/>
                </a:tc>
              </a:tr>
              <a:tr h="370840">
                <a:tc>
                  <a:txBody>
                    <a:bodyPr/>
                    <a:lstStyle/>
                    <a:p>
                      <a:r>
                        <a:rPr lang="en-GB" sz="2400" dirty="0" err="1" smtClean="0">
                          <a:latin typeface="Agency FB" panose="020B0503020202020204" pitchFamily="34" charset="0"/>
                        </a:rPr>
                        <a:t>Dst</a:t>
                      </a:r>
                      <a:r>
                        <a:rPr lang="en-GB" sz="2400" dirty="0" smtClean="0">
                          <a:latin typeface="Agency FB" panose="020B0503020202020204" pitchFamily="34" charset="0"/>
                        </a:rPr>
                        <a:t> &gt; </a:t>
                      </a:r>
                      <a:r>
                        <a:rPr lang="en-GB" sz="2400" dirty="0" err="1" smtClean="0">
                          <a:latin typeface="Agency FB" panose="020B0503020202020204" pitchFamily="34" charset="0"/>
                        </a:rPr>
                        <a:t>src</a:t>
                      </a:r>
                      <a:endParaRPr lang="en-GB" sz="2400" dirty="0">
                        <a:latin typeface="Agency FB" panose="020B0503020202020204" pitchFamily="34" charset="0"/>
                      </a:endParaRPr>
                    </a:p>
                  </a:txBody>
                  <a:tcPr/>
                </a:tc>
                <a:tc>
                  <a:txBody>
                    <a:bodyPr/>
                    <a:lstStyle/>
                    <a:p>
                      <a:r>
                        <a:rPr lang="en-GB" dirty="0" smtClean="0"/>
                        <a:t>0</a:t>
                      </a:r>
                      <a:endParaRPr lang="en-GB" dirty="0"/>
                    </a:p>
                  </a:txBody>
                  <a:tcPr/>
                </a:tc>
                <a:tc>
                  <a:txBody>
                    <a:bodyPr/>
                    <a:lstStyle/>
                    <a:p>
                      <a:r>
                        <a:rPr lang="en-GB" dirty="0" smtClean="0"/>
                        <a:t>0</a:t>
                      </a:r>
                      <a:endParaRPr lang="en-GB" dirty="0"/>
                    </a:p>
                  </a:txBody>
                  <a:tcPr/>
                </a:tc>
              </a:tr>
              <a:tr h="370840">
                <a:tc>
                  <a:txBody>
                    <a:bodyPr/>
                    <a:lstStyle/>
                    <a:p>
                      <a:endParaRPr lang="en-GB" dirty="0">
                        <a:latin typeface="Agency FB" panose="020B0503020202020204" pitchFamily="34" charset="0"/>
                      </a:endParaRPr>
                    </a:p>
                  </a:txBody>
                  <a:tcPr/>
                </a:tc>
                <a:tc>
                  <a:txBody>
                    <a:bodyPr/>
                    <a:lstStyle/>
                    <a:p>
                      <a:endParaRPr lang="en-GB" dirty="0"/>
                    </a:p>
                  </a:txBody>
                  <a:tcPr/>
                </a:tc>
                <a:tc>
                  <a:txBody>
                    <a:bodyPr/>
                    <a:lstStyle/>
                    <a:p>
                      <a:endParaRPr lang="en-GB" dirty="0"/>
                    </a:p>
                  </a:txBody>
                  <a:tcPr/>
                </a:tc>
              </a:tr>
            </a:tbl>
          </a:graphicData>
        </a:graphic>
      </p:graphicFrame>
      <p:sp>
        <p:nvSpPr>
          <p:cNvPr id="5" name="TextBox 4"/>
          <p:cNvSpPr txBox="1"/>
          <p:nvPr/>
        </p:nvSpPr>
        <p:spPr>
          <a:xfrm>
            <a:off x="3496573" y="2708920"/>
            <a:ext cx="1398140" cy="830997"/>
          </a:xfrm>
          <a:prstGeom prst="rect">
            <a:avLst/>
          </a:prstGeom>
          <a:noFill/>
          <a:ln>
            <a:solidFill>
              <a:schemeClr val="accent1"/>
            </a:solidFill>
          </a:ln>
        </p:spPr>
        <p:txBody>
          <a:bodyPr wrap="none" rtlCol="0">
            <a:spAutoFit/>
          </a:bodyPr>
          <a:lstStyle/>
          <a:p>
            <a:r>
              <a:rPr lang="en-GB" sz="2400" dirty="0" err="1">
                <a:solidFill>
                  <a:prstClr val="black"/>
                </a:solidFill>
                <a:effectLst>
                  <a:outerShdw blurRad="38100" dist="38100" dir="2700000" algn="tl">
                    <a:srgbClr val="000000">
                      <a:alpha val="43137"/>
                    </a:srgbClr>
                  </a:outerShdw>
                </a:effectLst>
                <a:latin typeface="Agency FB" panose="020B0503020202020204" pitchFamily="34" charset="0"/>
              </a:rPr>
              <a:t>cmp</a:t>
            </a:r>
            <a:r>
              <a:rPr lang="en-GB" sz="2400" dirty="0">
                <a:solidFill>
                  <a:prstClr val="black"/>
                </a:solidFill>
                <a:effectLst>
                  <a:outerShdw blurRad="38100" dist="38100" dir="2700000" algn="tl">
                    <a:srgbClr val="000000">
                      <a:alpha val="43137"/>
                    </a:srgbClr>
                  </a:outerShdw>
                </a:effectLst>
                <a:latin typeface="Agency FB" panose="020B0503020202020204" pitchFamily="34" charset="0"/>
              </a:rPr>
              <a:t> </a:t>
            </a:r>
            <a:r>
              <a:rPr lang="en-GB" sz="2400" dirty="0" err="1">
                <a:solidFill>
                  <a:prstClr val="black"/>
                </a:solidFill>
                <a:effectLst>
                  <a:outerShdw blurRad="38100" dist="38100" dir="2700000" algn="tl">
                    <a:srgbClr val="000000">
                      <a:alpha val="43137"/>
                    </a:srgbClr>
                  </a:outerShdw>
                </a:effectLst>
                <a:latin typeface="Agency FB" panose="020B0503020202020204" pitchFamily="34" charset="0"/>
              </a:rPr>
              <a:t>dst</a:t>
            </a:r>
            <a:r>
              <a:rPr lang="en-GB" sz="2400" dirty="0">
                <a:solidFill>
                  <a:prstClr val="black"/>
                </a:solidFill>
                <a:effectLst>
                  <a:outerShdw blurRad="38100" dist="38100" dir="2700000" algn="tl">
                    <a:srgbClr val="000000">
                      <a:alpha val="43137"/>
                    </a:srgbClr>
                  </a:outerShdw>
                </a:effectLst>
                <a:latin typeface="Agency FB" panose="020B0503020202020204" pitchFamily="34" charset="0"/>
              </a:rPr>
              <a:t>, </a:t>
            </a:r>
            <a:r>
              <a:rPr lang="en-GB" sz="2400" dirty="0" err="1">
                <a:solidFill>
                  <a:prstClr val="black"/>
                </a:solidFill>
                <a:effectLst>
                  <a:outerShdw blurRad="38100" dist="38100" dir="2700000" algn="tl">
                    <a:srgbClr val="000000">
                      <a:alpha val="43137"/>
                    </a:srgbClr>
                  </a:outerShdw>
                </a:effectLst>
                <a:latin typeface="Agency FB" panose="020B0503020202020204" pitchFamily="34" charset="0"/>
              </a:rPr>
              <a:t>src</a:t>
            </a:r>
            <a:endParaRPr lang="en-GB" sz="2400" dirty="0">
              <a:solidFill>
                <a:prstClr val="black"/>
              </a:solidFill>
              <a:effectLst>
                <a:outerShdw blurRad="38100" dist="38100" dir="2700000" algn="tl">
                  <a:srgbClr val="000000">
                    <a:alpha val="43137"/>
                  </a:srgbClr>
                </a:outerShdw>
              </a:effectLst>
              <a:latin typeface="Agency FB" panose="020B0503020202020204" pitchFamily="34" charset="0"/>
            </a:endParaRPr>
          </a:p>
          <a:p>
            <a:r>
              <a:rPr lang="en-GB" sz="2400" dirty="0">
                <a:solidFill>
                  <a:prstClr val="black"/>
                </a:solidFill>
                <a:effectLst>
                  <a:outerShdw blurRad="38100" dist="38100" dir="2700000" algn="tl">
                    <a:srgbClr val="000000">
                      <a:alpha val="43137"/>
                    </a:srgbClr>
                  </a:outerShdw>
                </a:effectLst>
                <a:latin typeface="Agency FB" panose="020B0503020202020204" pitchFamily="34" charset="0"/>
              </a:rPr>
              <a:t>test </a:t>
            </a:r>
            <a:r>
              <a:rPr lang="en-GB" sz="2400" dirty="0" err="1">
                <a:solidFill>
                  <a:prstClr val="black"/>
                </a:solidFill>
                <a:effectLst>
                  <a:outerShdw blurRad="38100" dist="38100" dir="2700000" algn="tl">
                    <a:srgbClr val="000000">
                      <a:alpha val="43137"/>
                    </a:srgbClr>
                  </a:outerShdw>
                </a:effectLst>
                <a:latin typeface="Agency FB" panose="020B0503020202020204" pitchFamily="34" charset="0"/>
              </a:rPr>
              <a:t>dst</a:t>
            </a:r>
            <a:r>
              <a:rPr lang="en-GB" sz="2400" dirty="0">
                <a:solidFill>
                  <a:prstClr val="black"/>
                </a:solidFill>
                <a:effectLst>
                  <a:outerShdw blurRad="38100" dist="38100" dir="2700000" algn="tl">
                    <a:srgbClr val="000000">
                      <a:alpha val="43137"/>
                    </a:srgbClr>
                  </a:outerShdw>
                </a:effectLst>
                <a:latin typeface="Agency FB" panose="020B0503020202020204" pitchFamily="34" charset="0"/>
              </a:rPr>
              <a:t>, </a:t>
            </a:r>
            <a:r>
              <a:rPr lang="en-GB" sz="2400" dirty="0" err="1">
                <a:solidFill>
                  <a:prstClr val="black"/>
                </a:solidFill>
                <a:effectLst>
                  <a:outerShdw blurRad="38100" dist="38100" dir="2700000" algn="tl">
                    <a:srgbClr val="000000">
                      <a:alpha val="43137"/>
                    </a:srgbClr>
                  </a:outerShdw>
                </a:effectLst>
                <a:latin typeface="Agency FB" panose="020B0503020202020204" pitchFamily="34" charset="0"/>
              </a:rPr>
              <a:t>src</a:t>
            </a:r>
            <a:endParaRPr lang="en-GB" sz="2400" dirty="0">
              <a:solidFill>
                <a:prstClr val="black"/>
              </a:solidFill>
              <a:effectLst>
                <a:outerShdw blurRad="38100" dist="38100" dir="2700000" algn="tl">
                  <a:srgbClr val="000000">
                    <a:alpha val="43137"/>
                  </a:srgbClr>
                </a:outerShdw>
              </a:effectLst>
              <a:latin typeface="Agency FB" panose="020B0503020202020204" pitchFamily="34" charset="0"/>
            </a:endParaRPr>
          </a:p>
        </p:txBody>
      </p:sp>
    </p:spTree>
    <p:extLst>
      <p:ext uri="{BB962C8B-B14F-4D97-AF65-F5344CB8AC3E}">
        <p14:creationId xmlns:p14="http://schemas.microsoft.com/office/powerpoint/2010/main" val="16994594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b="1" dirty="0" smtClean="0"/>
              <a:t>Branching</a:t>
            </a:r>
            <a:r>
              <a:rPr lang="en-GB" dirty="0" smtClean="0"/>
              <a:t>: a sequence of code that is conditionally executed depending on the flow of the program, i.e. </a:t>
            </a:r>
            <a:r>
              <a:rPr lang="en-GB" dirty="0" err="1" smtClean="0">
                <a:latin typeface="Agency FB" panose="020B0503020202020204" pitchFamily="34" charset="0"/>
              </a:rPr>
              <a:t>jmp</a:t>
            </a:r>
            <a:r>
              <a:rPr lang="en-GB" dirty="0" smtClean="0">
                <a:latin typeface="Agency FB" panose="020B0503020202020204" pitchFamily="34" charset="0"/>
              </a:rPr>
              <a:t> </a:t>
            </a:r>
            <a:r>
              <a:rPr lang="en-GB" dirty="0"/>
              <a:t>and many </a:t>
            </a:r>
            <a:r>
              <a:rPr lang="en-GB" dirty="0" smtClean="0"/>
              <a:t>versions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230537900"/>
              </p:ext>
            </p:extLst>
          </p:nvPr>
        </p:nvGraphicFramePr>
        <p:xfrm>
          <a:off x="323528" y="2636912"/>
          <a:ext cx="3960440" cy="4053840"/>
        </p:xfrm>
        <a:graphic>
          <a:graphicData uri="http://schemas.openxmlformats.org/drawingml/2006/table">
            <a:tbl>
              <a:tblPr firstRow="1" bandRow="1">
                <a:tableStyleId>{5C22544A-7EE6-4342-B048-85BDC9FD1C3A}</a:tableStyleId>
              </a:tblPr>
              <a:tblGrid>
                <a:gridCol w="1535124"/>
                <a:gridCol w="2425316"/>
              </a:tblGrid>
              <a:tr h="313299">
                <a:tc>
                  <a:txBody>
                    <a:bodyPr/>
                    <a:lstStyle/>
                    <a:p>
                      <a:r>
                        <a:rPr lang="en-GB" sz="2000" dirty="0" smtClean="0"/>
                        <a:t>Instruction</a:t>
                      </a:r>
                      <a:endParaRPr lang="en-GB" sz="2000" dirty="0"/>
                    </a:p>
                  </a:txBody>
                  <a:tcPr/>
                </a:tc>
                <a:tc>
                  <a:txBody>
                    <a:bodyPr/>
                    <a:lstStyle/>
                    <a:p>
                      <a:r>
                        <a:rPr lang="en-GB" sz="2000" dirty="0" smtClean="0"/>
                        <a:t>Description</a:t>
                      </a:r>
                      <a:endParaRPr lang="en-GB" sz="2000" dirty="0"/>
                    </a:p>
                  </a:txBody>
                  <a:tcPr/>
                </a:tc>
              </a:tr>
              <a:tr h="313299">
                <a:tc>
                  <a:txBody>
                    <a:bodyPr/>
                    <a:lstStyle/>
                    <a:p>
                      <a:r>
                        <a:rPr lang="en-GB" sz="2400" dirty="0" err="1" smtClean="0">
                          <a:latin typeface="Agency FB" panose="020B0503020202020204" pitchFamily="34" charset="0"/>
                        </a:rPr>
                        <a:t>jz</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latin typeface="+mj-lt"/>
                        </a:rPr>
                        <a:t>ZF=1 (</a:t>
                      </a:r>
                      <a:r>
                        <a:rPr lang="en-GB" sz="2000" dirty="0" err="1" smtClean="0">
                          <a:latin typeface="+mj-lt"/>
                        </a:rPr>
                        <a:t>ss</a:t>
                      </a:r>
                      <a:r>
                        <a:rPr lang="en-GB" sz="2000" dirty="0" smtClean="0">
                          <a:latin typeface="+mj-lt"/>
                        </a:rPr>
                        <a:t> </a:t>
                      </a:r>
                      <a:r>
                        <a:rPr lang="en-GB" sz="2000" dirty="0" err="1" smtClean="0">
                          <a:latin typeface="+mj-lt"/>
                        </a:rPr>
                        <a:t>đúng</a:t>
                      </a:r>
                      <a:r>
                        <a:rPr lang="en-GB" sz="2000" dirty="0" smtClean="0">
                          <a:latin typeface="+mj-lt"/>
                        </a:rPr>
                        <a:t>)</a:t>
                      </a:r>
                      <a:endParaRPr lang="en-GB" sz="2000" dirty="0">
                        <a:latin typeface="+mj-lt"/>
                      </a:endParaRPr>
                    </a:p>
                  </a:txBody>
                  <a:tcPr/>
                </a:tc>
              </a:tr>
              <a:tr h="313299">
                <a:tc>
                  <a:txBody>
                    <a:bodyPr/>
                    <a:lstStyle/>
                    <a:p>
                      <a:r>
                        <a:rPr lang="en-GB" sz="2400" dirty="0" err="1" smtClean="0">
                          <a:latin typeface="Agency FB" panose="020B0503020202020204" pitchFamily="34" charset="0"/>
                        </a:rPr>
                        <a:t>jnz</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latin typeface="+mj-lt"/>
                        </a:rPr>
                        <a:t>ZF=0 (</a:t>
                      </a:r>
                      <a:r>
                        <a:rPr lang="en-GB" sz="2000" dirty="0" err="1" smtClean="0">
                          <a:latin typeface="+mj-lt"/>
                        </a:rPr>
                        <a:t>ss</a:t>
                      </a:r>
                      <a:r>
                        <a:rPr lang="en-GB" sz="2000" dirty="0" smtClean="0">
                          <a:latin typeface="+mj-lt"/>
                        </a:rPr>
                        <a:t> </a:t>
                      </a:r>
                      <a:r>
                        <a:rPr lang="en-GB" sz="2000" dirty="0" err="1" smtClean="0">
                          <a:latin typeface="+mj-lt"/>
                        </a:rPr>
                        <a:t>sai</a:t>
                      </a:r>
                      <a:r>
                        <a:rPr lang="en-GB" sz="2000" dirty="0" smtClean="0">
                          <a:latin typeface="+mj-lt"/>
                        </a:rPr>
                        <a:t>)</a:t>
                      </a:r>
                      <a:endParaRPr lang="en-GB" sz="2000" dirty="0">
                        <a:latin typeface="+mj-lt"/>
                      </a:endParaRPr>
                    </a:p>
                  </a:txBody>
                  <a:tcPr/>
                </a:tc>
              </a:tr>
              <a:tr h="313299">
                <a:tc>
                  <a:txBody>
                    <a:bodyPr/>
                    <a:lstStyle/>
                    <a:p>
                      <a:r>
                        <a:rPr lang="en-GB" sz="2400" dirty="0" err="1" smtClean="0">
                          <a:latin typeface="Agency FB" panose="020B0503020202020204" pitchFamily="34" charset="0"/>
                        </a:rPr>
                        <a:t>jne</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latin typeface="+mj-lt"/>
                        </a:rPr>
                        <a:t>!=</a:t>
                      </a:r>
                      <a:endParaRPr lang="en-GB" sz="2000" dirty="0">
                        <a:latin typeface="+mj-lt"/>
                      </a:endParaRPr>
                    </a:p>
                  </a:txBody>
                  <a:tcPr/>
                </a:tc>
              </a:tr>
              <a:tr h="313299">
                <a:tc>
                  <a:txBody>
                    <a:bodyPr/>
                    <a:lstStyle/>
                    <a:p>
                      <a:r>
                        <a:rPr lang="en-GB" sz="2400" dirty="0" err="1" smtClean="0">
                          <a:latin typeface="Agency FB" panose="020B0503020202020204" pitchFamily="34" charset="0"/>
                        </a:rPr>
                        <a:t>jg</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latin typeface="+mj-lt"/>
                        </a:rPr>
                        <a:t>&gt;</a:t>
                      </a:r>
                      <a:endParaRPr lang="en-GB" sz="2000" dirty="0">
                        <a:latin typeface="+mj-lt"/>
                      </a:endParaRPr>
                    </a:p>
                  </a:txBody>
                  <a:tcPr/>
                </a:tc>
              </a:tr>
              <a:tr h="313299">
                <a:tc>
                  <a:txBody>
                    <a:bodyPr/>
                    <a:lstStyle/>
                    <a:p>
                      <a:r>
                        <a:rPr lang="en-GB" sz="2400" dirty="0" err="1" smtClean="0">
                          <a:latin typeface="Agency FB" panose="020B0503020202020204" pitchFamily="34" charset="0"/>
                        </a:rPr>
                        <a:t>jge</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latin typeface="+mj-lt"/>
                        </a:rPr>
                        <a:t>&gt;=</a:t>
                      </a:r>
                      <a:endParaRPr lang="en-GB" sz="2000" dirty="0">
                        <a:latin typeface="+mj-lt"/>
                      </a:endParaRPr>
                    </a:p>
                  </a:txBody>
                  <a:tcPr/>
                </a:tc>
              </a:tr>
              <a:tr h="313299">
                <a:tc>
                  <a:txBody>
                    <a:bodyPr/>
                    <a:lstStyle/>
                    <a:p>
                      <a:r>
                        <a:rPr lang="en-GB" sz="2400" dirty="0" err="1" smtClean="0">
                          <a:latin typeface="Agency FB" panose="020B0503020202020204" pitchFamily="34" charset="0"/>
                        </a:rPr>
                        <a:t>ja</a:t>
                      </a:r>
                      <a:r>
                        <a:rPr lang="en-GB" sz="2400" baseline="0" dirty="0" smtClean="0">
                          <a:latin typeface="Agency FB" panose="020B0503020202020204" pitchFamily="34" charset="0"/>
                        </a:rPr>
                        <a:t> </a:t>
                      </a:r>
                      <a:r>
                        <a:rPr lang="en-GB" sz="2400" baseline="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err="1" smtClean="0">
                          <a:latin typeface="+mj-lt"/>
                        </a:rPr>
                        <a:t>Jg</a:t>
                      </a:r>
                      <a:r>
                        <a:rPr lang="en-GB" sz="2000" dirty="0" smtClean="0">
                          <a:latin typeface="+mj-lt"/>
                        </a:rPr>
                        <a:t>,</a:t>
                      </a:r>
                      <a:r>
                        <a:rPr lang="en-GB" sz="2000" baseline="0" dirty="0" smtClean="0">
                          <a:latin typeface="+mj-lt"/>
                        </a:rPr>
                        <a:t> unsinged</a:t>
                      </a:r>
                      <a:endParaRPr lang="en-GB" sz="2000" dirty="0">
                        <a:latin typeface="+mj-lt"/>
                      </a:endParaRPr>
                    </a:p>
                  </a:txBody>
                  <a:tcPr/>
                </a:tc>
              </a:tr>
              <a:tr h="313299">
                <a:tc>
                  <a:txBody>
                    <a:bodyPr/>
                    <a:lstStyle/>
                    <a:p>
                      <a:r>
                        <a:rPr lang="en-GB" sz="2400" dirty="0" err="1" smtClean="0">
                          <a:latin typeface="Agency FB" panose="020B0503020202020204" pitchFamily="34" charset="0"/>
                        </a:rPr>
                        <a:t>jae</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err="1" smtClean="0">
                          <a:latin typeface="+mj-lt"/>
                        </a:rPr>
                        <a:t>Jge</a:t>
                      </a:r>
                      <a:r>
                        <a:rPr lang="en-GB" sz="2000" dirty="0" smtClean="0">
                          <a:latin typeface="+mj-lt"/>
                        </a:rPr>
                        <a:t>, unsigned</a:t>
                      </a:r>
                      <a:endParaRPr lang="en-GB" sz="2000" dirty="0">
                        <a:latin typeface="+mj-lt"/>
                      </a:endParaRPr>
                    </a:p>
                  </a:txBody>
                  <a:tcPr/>
                </a:tc>
              </a:tr>
              <a:tr h="313299">
                <a:tc>
                  <a:txBody>
                    <a:bodyPr/>
                    <a:lstStyle/>
                    <a:p>
                      <a:r>
                        <a:rPr lang="en-GB" sz="2400" dirty="0" err="1" smtClean="0">
                          <a:latin typeface="Agency FB" panose="020B0503020202020204" pitchFamily="34" charset="0"/>
                        </a:rPr>
                        <a:t>jl</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latin typeface="+mj-lt"/>
                        </a:rPr>
                        <a:t>&lt;</a:t>
                      </a:r>
                      <a:endParaRPr lang="en-GB" sz="2000" dirty="0">
                        <a:latin typeface="+mj-lt"/>
                      </a:endParaRPr>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67882160"/>
              </p:ext>
            </p:extLst>
          </p:nvPr>
        </p:nvGraphicFramePr>
        <p:xfrm>
          <a:off x="4716016" y="2636912"/>
          <a:ext cx="3960440" cy="3931920"/>
        </p:xfrm>
        <a:graphic>
          <a:graphicData uri="http://schemas.openxmlformats.org/drawingml/2006/table">
            <a:tbl>
              <a:tblPr firstRow="1" bandRow="1">
                <a:tableStyleId>{5C22544A-7EE6-4342-B048-85BDC9FD1C3A}</a:tableStyleId>
              </a:tblPr>
              <a:tblGrid>
                <a:gridCol w="1535124"/>
                <a:gridCol w="2425316"/>
              </a:tblGrid>
              <a:tr h="313299">
                <a:tc>
                  <a:txBody>
                    <a:bodyPr/>
                    <a:lstStyle/>
                    <a:p>
                      <a:r>
                        <a:rPr lang="en-GB" sz="2000" dirty="0" smtClean="0"/>
                        <a:t>Instruction</a:t>
                      </a:r>
                      <a:endParaRPr lang="en-GB" sz="2000" dirty="0"/>
                    </a:p>
                  </a:txBody>
                  <a:tcPr/>
                </a:tc>
                <a:tc>
                  <a:txBody>
                    <a:bodyPr/>
                    <a:lstStyle/>
                    <a:p>
                      <a:r>
                        <a:rPr lang="en-GB" sz="2000" dirty="0" smtClean="0"/>
                        <a:t>Description</a:t>
                      </a:r>
                      <a:endParaRPr lang="en-GB" sz="2000" dirty="0"/>
                    </a:p>
                  </a:txBody>
                  <a:tcPr/>
                </a:tc>
              </a:tr>
              <a:tr h="313299">
                <a:tc>
                  <a:txBody>
                    <a:bodyPr/>
                    <a:lstStyle/>
                    <a:p>
                      <a:r>
                        <a:rPr lang="en-GB" sz="2400" dirty="0" err="1" smtClean="0">
                          <a:latin typeface="Agency FB" panose="020B0503020202020204" pitchFamily="34" charset="0"/>
                        </a:rPr>
                        <a:t>jle</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t>&lt;=</a:t>
                      </a:r>
                      <a:endParaRPr lang="en-GB" sz="2000" dirty="0"/>
                    </a:p>
                  </a:txBody>
                  <a:tcPr/>
                </a:tc>
              </a:tr>
              <a:tr h="313299">
                <a:tc>
                  <a:txBody>
                    <a:bodyPr/>
                    <a:lstStyle/>
                    <a:p>
                      <a:r>
                        <a:rPr lang="en-GB" sz="2400" dirty="0" err="1" smtClean="0">
                          <a:latin typeface="Agency FB" panose="020B0503020202020204" pitchFamily="34" charset="0"/>
                        </a:rPr>
                        <a:t>jb</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err="1" smtClean="0"/>
                        <a:t>Jl</a:t>
                      </a:r>
                      <a:r>
                        <a:rPr lang="en-GB" sz="2000" dirty="0" smtClean="0"/>
                        <a:t>, unsinged</a:t>
                      </a:r>
                      <a:endParaRPr lang="en-GB" sz="2000" dirty="0"/>
                    </a:p>
                  </a:txBody>
                  <a:tcPr/>
                </a:tc>
              </a:tr>
              <a:tr h="313299">
                <a:tc>
                  <a:txBody>
                    <a:bodyPr/>
                    <a:lstStyle/>
                    <a:p>
                      <a:r>
                        <a:rPr lang="en-GB" sz="2400" dirty="0" err="1" smtClean="0">
                          <a:latin typeface="Agency FB" panose="020B0503020202020204" pitchFamily="34" charset="0"/>
                        </a:rPr>
                        <a:t>jbe</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err="1" smtClean="0"/>
                        <a:t>Jle</a:t>
                      </a:r>
                      <a:r>
                        <a:rPr lang="en-GB" sz="2000" dirty="0" smtClean="0"/>
                        <a:t>, unsigned</a:t>
                      </a:r>
                      <a:endParaRPr lang="en-GB" sz="2000" dirty="0"/>
                    </a:p>
                  </a:txBody>
                  <a:tcPr/>
                </a:tc>
              </a:tr>
              <a:tr h="313299">
                <a:tc>
                  <a:txBody>
                    <a:bodyPr/>
                    <a:lstStyle/>
                    <a:p>
                      <a:r>
                        <a:rPr lang="en-GB" sz="2400" dirty="0" smtClean="0">
                          <a:latin typeface="Agency FB" panose="020B0503020202020204" pitchFamily="34" charset="0"/>
                        </a:rPr>
                        <a:t>jo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t>Overflow flag</a:t>
                      </a:r>
                      <a:r>
                        <a:rPr lang="en-GB" sz="2000" baseline="0" dirty="0" smtClean="0"/>
                        <a:t> </a:t>
                      </a:r>
                      <a:r>
                        <a:rPr lang="en-GB" sz="2000" dirty="0" smtClean="0"/>
                        <a:t>OF=1</a:t>
                      </a:r>
                      <a:endParaRPr lang="en-GB" sz="2000" dirty="0"/>
                    </a:p>
                  </a:txBody>
                  <a:tcPr/>
                </a:tc>
              </a:tr>
              <a:tr h="313299">
                <a:tc>
                  <a:txBody>
                    <a:bodyPr/>
                    <a:lstStyle/>
                    <a:p>
                      <a:r>
                        <a:rPr lang="en-GB" sz="2400" dirty="0" err="1" smtClean="0">
                          <a:latin typeface="Agency FB" panose="020B0503020202020204" pitchFamily="34" charset="0"/>
                        </a:rPr>
                        <a:t>js</a:t>
                      </a:r>
                      <a:r>
                        <a:rPr lang="en-GB" sz="2400" dirty="0" smtClean="0">
                          <a:latin typeface="Agency FB" panose="020B0503020202020204" pitchFamily="34" charset="0"/>
                        </a:rPr>
                        <a:t> </a:t>
                      </a:r>
                      <a:r>
                        <a:rPr lang="en-GB" sz="240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t>Sign flag SF=1</a:t>
                      </a:r>
                      <a:endParaRPr lang="en-GB" sz="2000" dirty="0"/>
                    </a:p>
                  </a:txBody>
                  <a:tcPr/>
                </a:tc>
              </a:tr>
              <a:tr h="313299">
                <a:tc>
                  <a:txBody>
                    <a:bodyPr/>
                    <a:lstStyle/>
                    <a:p>
                      <a:r>
                        <a:rPr lang="en-GB" sz="2400" dirty="0" err="1" smtClean="0">
                          <a:latin typeface="Agency FB" panose="020B0503020202020204" pitchFamily="34" charset="0"/>
                        </a:rPr>
                        <a:t>jecxz</a:t>
                      </a:r>
                      <a:r>
                        <a:rPr lang="en-GB" sz="2400" baseline="0" dirty="0" smtClean="0">
                          <a:latin typeface="Agency FB" panose="020B0503020202020204" pitchFamily="34" charset="0"/>
                        </a:rPr>
                        <a:t> </a:t>
                      </a:r>
                      <a:r>
                        <a:rPr lang="en-GB" sz="2400" baseline="0" dirty="0" err="1" smtClean="0">
                          <a:latin typeface="Agency FB" panose="020B0503020202020204" pitchFamily="34" charset="0"/>
                        </a:rPr>
                        <a:t>loc</a:t>
                      </a:r>
                      <a:endParaRPr lang="en-GB" sz="2400" dirty="0">
                        <a:latin typeface="Agency FB" panose="020B0503020202020204" pitchFamily="34" charset="0"/>
                      </a:endParaRPr>
                    </a:p>
                  </a:txBody>
                  <a:tcPr/>
                </a:tc>
                <a:tc>
                  <a:txBody>
                    <a:bodyPr/>
                    <a:lstStyle/>
                    <a:p>
                      <a:r>
                        <a:rPr lang="en-GB" sz="2000" dirty="0" smtClean="0"/>
                        <a:t>ECX = 0</a:t>
                      </a:r>
                      <a:endParaRPr lang="en-GB" sz="2000" dirty="0"/>
                    </a:p>
                  </a:txBody>
                  <a:tcPr/>
                </a:tc>
              </a:tr>
              <a:tr h="313299">
                <a:tc>
                  <a:txBody>
                    <a:bodyPr/>
                    <a:lstStyle/>
                    <a:p>
                      <a:endParaRPr lang="en-GB" sz="2000" dirty="0">
                        <a:latin typeface="Agency FB" panose="020B0503020202020204" pitchFamily="34" charset="0"/>
                      </a:endParaRPr>
                    </a:p>
                  </a:txBody>
                  <a:tcPr/>
                </a:tc>
                <a:tc>
                  <a:txBody>
                    <a:bodyPr/>
                    <a:lstStyle/>
                    <a:p>
                      <a:endParaRPr lang="en-GB" sz="2000" dirty="0"/>
                    </a:p>
                  </a:txBody>
                  <a:tcPr/>
                </a:tc>
              </a:tr>
              <a:tr h="313299">
                <a:tc>
                  <a:txBody>
                    <a:bodyPr/>
                    <a:lstStyle/>
                    <a:p>
                      <a:endParaRPr lang="en-GB" sz="2000" dirty="0">
                        <a:latin typeface="Agency FB" panose="020B0503020202020204" pitchFamily="34" charset="0"/>
                      </a:endParaRPr>
                    </a:p>
                  </a:txBody>
                  <a:tcPr/>
                </a:tc>
                <a:tc>
                  <a:txBody>
                    <a:bodyPr/>
                    <a:lstStyle/>
                    <a:p>
                      <a:endParaRPr lang="en-GB" sz="2000" dirty="0"/>
                    </a:p>
                  </a:txBody>
                  <a:tcPr/>
                </a:tc>
              </a:tr>
            </a:tbl>
          </a:graphicData>
        </a:graphic>
      </p:graphicFrame>
    </p:spTree>
    <p:extLst>
      <p:ext uri="{BB962C8B-B14F-4D97-AF65-F5344CB8AC3E}">
        <p14:creationId xmlns:p14="http://schemas.microsoft.com/office/powerpoint/2010/main" val="22510113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a:xfrm>
            <a:off x="457200" y="1196752"/>
            <a:ext cx="7067128" cy="5112568"/>
          </a:xfrm>
        </p:spPr>
        <p:txBody>
          <a:bodyPr/>
          <a:lstStyle/>
          <a:p>
            <a:r>
              <a:rPr lang="en-GB" b="1" dirty="0" smtClean="0"/>
              <a:t>Rep (repeat – until ECX=0)</a:t>
            </a:r>
          </a:p>
          <a:p>
            <a:pPr lvl="2"/>
            <a:endParaRPr lang="en-GB" dirty="0" smtClean="0"/>
          </a:p>
          <a:p>
            <a:pPr lvl="2"/>
            <a:endParaRPr lang="en-GB" dirty="0"/>
          </a:p>
          <a:p>
            <a:pPr lvl="2"/>
            <a:endParaRPr lang="en-GB" dirty="0" smtClean="0"/>
          </a:p>
          <a:p>
            <a:pPr lvl="2"/>
            <a:endParaRPr lang="en-GB" dirty="0"/>
          </a:p>
          <a:p>
            <a:pPr lvl="2"/>
            <a:endParaRPr lang="en-GB" dirty="0" smtClean="0"/>
          </a:p>
          <a:p>
            <a:pPr lvl="2"/>
            <a:endParaRPr lang="en-GB" dirty="0" smtClean="0"/>
          </a:p>
          <a:p>
            <a:pPr lvl="2"/>
            <a:endParaRPr lang="en-GB" dirty="0" smtClean="0"/>
          </a:p>
          <a:p>
            <a:pPr lvl="2"/>
            <a:r>
              <a:rPr lang="en-GB" dirty="0" smtClean="0"/>
              <a:t>ESI, EDI used for source and </a:t>
            </a:r>
            <a:r>
              <a:rPr lang="en-GB" dirty="0" err="1" smtClean="0"/>
              <a:t>dest</a:t>
            </a:r>
            <a:r>
              <a:rPr lang="en-GB" dirty="0" smtClean="0"/>
              <a:t>. index</a:t>
            </a:r>
          </a:p>
          <a:p>
            <a:pPr lvl="2"/>
            <a:r>
              <a:rPr lang="en-GB" dirty="0" smtClean="0"/>
              <a:t>ECX used as a counter.</a:t>
            </a:r>
          </a:p>
          <a:p>
            <a:pPr lvl="2"/>
            <a:r>
              <a:rPr lang="en-GB" dirty="0" smtClean="0"/>
              <a:t>Repeat until ECX = 0 or ZF = 1 (or 0)</a:t>
            </a:r>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148716908"/>
              </p:ext>
            </p:extLst>
          </p:nvPr>
        </p:nvGraphicFramePr>
        <p:xfrm>
          <a:off x="2483768" y="1844824"/>
          <a:ext cx="4608512" cy="2782199"/>
        </p:xfrm>
        <a:graphic>
          <a:graphicData uri="http://schemas.openxmlformats.org/drawingml/2006/table">
            <a:tbl>
              <a:tblPr firstRow="1" bandRow="1">
                <a:tableStyleId>{5C22544A-7EE6-4342-B048-85BDC9FD1C3A}</a:tableStyleId>
              </a:tblPr>
              <a:tblGrid>
                <a:gridCol w="1786326"/>
                <a:gridCol w="2822186"/>
              </a:tblGrid>
              <a:tr h="499255">
                <a:tc>
                  <a:txBody>
                    <a:bodyPr/>
                    <a:lstStyle/>
                    <a:p>
                      <a:r>
                        <a:rPr lang="en-GB" sz="2000" dirty="0" smtClean="0"/>
                        <a:t>Instruction</a:t>
                      </a:r>
                      <a:endParaRPr lang="en-GB" sz="2000" dirty="0"/>
                    </a:p>
                  </a:txBody>
                  <a:tcPr/>
                </a:tc>
                <a:tc>
                  <a:txBody>
                    <a:bodyPr/>
                    <a:lstStyle/>
                    <a:p>
                      <a:r>
                        <a:rPr lang="en-GB" sz="2000" dirty="0" smtClean="0"/>
                        <a:t>Description</a:t>
                      </a:r>
                      <a:endParaRPr lang="en-GB" sz="2000" dirty="0"/>
                    </a:p>
                  </a:txBody>
                  <a:tcPr/>
                </a:tc>
              </a:tr>
              <a:tr h="576064">
                <a:tc>
                  <a:txBody>
                    <a:bodyPr/>
                    <a:lstStyle/>
                    <a:p>
                      <a:r>
                        <a:rPr lang="en-GB" sz="2600" dirty="0" smtClean="0">
                          <a:latin typeface="Agency FB" panose="020B0503020202020204" pitchFamily="34" charset="0"/>
                        </a:rPr>
                        <a:t>rep</a:t>
                      </a:r>
                      <a:endParaRPr lang="en-GB" sz="2600" dirty="0">
                        <a:latin typeface="Agency FB" panose="020B0503020202020204" pitchFamily="34" charset="0"/>
                      </a:endParaRPr>
                    </a:p>
                  </a:txBody>
                  <a:tcPr/>
                </a:tc>
                <a:tc>
                  <a:txBody>
                    <a:bodyPr/>
                    <a:lstStyle/>
                    <a:p>
                      <a:r>
                        <a:rPr lang="en-GB" sz="2000" dirty="0" smtClean="0"/>
                        <a:t>Repeat</a:t>
                      </a:r>
                      <a:r>
                        <a:rPr lang="en-GB" sz="2000" baseline="0" dirty="0" smtClean="0"/>
                        <a:t> until  ECX = 0</a:t>
                      </a:r>
                      <a:endParaRPr lang="en-GB" sz="2000" dirty="0"/>
                    </a:p>
                  </a:txBody>
                  <a:tcPr/>
                </a:tc>
              </a:tr>
              <a:tr h="576064">
                <a:tc>
                  <a:txBody>
                    <a:bodyPr/>
                    <a:lstStyle/>
                    <a:p>
                      <a:r>
                        <a:rPr lang="en-GB" sz="2600" dirty="0" err="1" smtClean="0">
                          <a:latin typeface="Agency FB" panose="020B0503020202020204" pitchFamily="34" charset="0"/>
                        </a:rPr>
                        <a:t>repe</a:t>
                      </a:r>
                      <a:r>
                        <a:rPr lang="en-GB" sz="2600" dirty="0" smtClean="0">
                          <a:latin typeface="Agency FB" panose="020B0503020202020204" pitchFamily="34" charset="0"/>
                        </a:rPr>
                        <a:t>, </a:t>
                      </a:r>
                      <a:r>
                        <a:rPr lang="en-GB" sz="2600" dirty="0" err="1" smtClean="0">
                          <a:latin typeface="Agency FB" panose="020B0503020202020204" pitchFamily="34" charset="0"/>
                        </a:rPr>
                        <a:t>repz</a:t>
                      </a:r>
                      <a:endParaRPr lang="en-GB" sz="2600" dirty="0">
                        <a:latin typeface="Agency FB" panose="020B0503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Repeat</a:t>
                      </a:r>
                      <a:r>
                        <a:rPr lang="en-GB" sz="2000" baseline="0" dirty="0" smtClean="0"/>
                        <a:t> until  ECX = 0</a:t>
                      </a:r>
                      <a:r>
                        <a:rPr lang="en-GB" sz="2000" baseline="0" dirty="0"/>
                        <a:t> </a:t>
                      </a:r>
                      <a:r>
                        <a:rPr lang="en-GB" sz="2000" baseline="0" dirty="0" smtClean="0"/>
                        <a:t>or ZF = 0</a:t>
                      </a:r>
                      <a:endParaRPr lang="en-GB" sz="2000" dirty="0" smtClean="0"/>
                    </a:p>
                  </a:txBody>
                  <a:tcPr/>
                </a:tc>
              </a:tr>
              <a:tr h="652873">
                <a:tc>
                  <a:txBody>
                    <a:bodyPr/>
                    <a:lstStyle/>
                    <a:p>
                      <a:r>
                        <a:rPr lang="en-GB" sz="2600" dirty="0" err="1" smtClean="0">
                          <a:latin typeface="Agency FB" panose="020B0503020202020204" pitchFamily="34" charset="0"/>
                        </a:rPr>
                        <a:t>repne</a:t>
                      </a:r>
                      <a:r>
                        <a:rPr lang="en-GB" sz="2600" dirty="0" smtClean="0">
                          <a:latin typeface="Agency FB" panose="020B0503020202020204" pitchFamily="34" charset="0"/>
                        </a:rPr>
                        <a:t>, </a:t>
                      </a:r>
                      <a:r>
                        <a:rPr lang="en-GB" sz="2600" dirty="0" err="1" smtClean="0">
                          <a:latin typeface="Agency FB" panose="020B0503020202020204" pitchFamily="34" charset="0"/>
                        </a:rPr>
                        <a:t>repnz</a:t>
                      </a:r>
                      <a:endParaRPr lang="en-GB" sz="2600" dirty="0">
                        <a:latin typeface="Agency FB" panose="020B0503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Repeat</a:t>
                      </a:r>
                      <a:r>
                        <a:rPr lang="en-GB" sz="2000" baseline="0" dirty="0" smtClean="0"/>
                        <a:t> until  ECX = 0 or ZF = 1</a:t>
                      </a:r>
                      <a:endParaRPr lang="en-GB" sz="2000" dirty="0" smtClean="0"/>
                    </a:p>
                    <a:p>
                      <a:endParaRPr lang="en-GB" sz="2000" dirty="0"/>
                    </a:p>
                  </a:txBody>
                  <a:tcPr/>
                </a:tc>
              </a:tr>
            </a:tbl>
          </a:graphicData>
        </a:graphic>
      </p:graphicFrame>
    </p:spTree>
    <p:extLst>
      <p:ext uri="{BB962C8B-B14F-4D97-AF65-F5344CB8AC3E}">
        <p14:creationId xmlns:p14="http://schemas.microsoft.com/office/powerpoint/2010/main" val="32962637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b="1" dirty="0"/>
              <a:t>Rep (repeat – until ECX=0) </a:t>
            </a:r>
          </a:p>
        </p:txBody>
      </p:sp>
      <p:graphicFrame>
        <p:nvGraphicFramePr>
          <p:cNvPr id="4" name="Table 3"/>
          <p:cNvGraphicFramePr>
            <a:graphicFrameLocks noGrp="1"/>
          </p:cNvGraphicFramePr>
          <p:nvPr>
            <p:extLst>
              <p:ext uri="{D42A27DB-BD31-4B8C-83A1-F6EECF244321}">
                <p14:modId xmlns:p14="http://schemas.microsoft.com/office/powerpoint/2010/main" val="4014058823"/>
              </p:ext>
            </p:extLst>
          </p:nvPr>
        </p:nvGraphicFramePr>
        <p:xfrm>
          <a:off x="1259632" y="1844824"/>
          <a:ext cx="7056784" cy="3608215"/>
        </p:xfrm>
        <a:graphic>
          <a:graphicData uri="http://schemas.openxmlformats.org/drawingml/2006/table">
            <a:tbl>
              <a:tblPr firstRow="1" bandRow="1">
                <a:tableStyleId>{5C22544A-7EE6-4342-B048-85BDC9FD1C3A}</a:tableStyleId>
              </a:tblPr>
              <a:tblGrid>
                <a:gridCol w="2735312"/>
                <a:gridCol w="4321472"/>
              </a:tblGrid>
              <a:tr h="499255">
                <a:tc>
                  <a:txBody>
                    <a:bodyPr/>
                    <a:lstStyle/>
                    <a:p>
                      <a:r>
                        <a:rPr lang="en-GB" sz="2000" dirty="0" smtClean="0"/>
                        <a:t>Instruction</a:t>
                      </a:r>
                      <a:endParaRPr lang="en-GB" sz="2000" dirty="0"/>
                    </a:p>
                  </a:txBody>
                  <a:tcPr/>
                </a:tc>
                <a:tc>
                  <a:txBody>
                    <a:bodyPr/>
                    <a:lstStyle/>
                    <a:p>
                      <a:r>
                        <a:rPr lang="en-GB" sz="2000" dirty="0" smtClean="0"/>
                        <a:t>Description</a:t>
                      </a:r>
                      <a:endParaRPr lang="en-GB" sz="2000" dirty="0"/>
                    </a:p>
                  </a:txBody>
                  <a:tcPr/>
                </a:tc>
              </a:tr>
              <a:tr h="576064">
                <a:tc>
                  <a:txBody>
                    <a:bodyPr/>
                    <a:lstStyle/>
                    <a:p>
                      <a:r>
                        <a:rPr lang="en-GB" sz="2600" dirty="0" err="1" smtClean="0">
                          <a:latin typeface="Agency FB" panose="020B0503020202020204" pitchFamily="34" charset="0"/>
                        </a:rPr>
                        <a:t>repe</a:t>
                      </a:r>
                      <a:r>
                        <a:rPr lang="en-GB" sz="2600" dirty="0" smtClean="0">
                          <a:latin typeface="Agency FB" panose="020B0503020202020204" pitchFamily="34" charset="0"/>
                        </a:rPr>
                        <a:t> </a:t>
                      </a:r>
                      <a:r>
                        <a:rPr lang="en-GB" sz="2600" dirty="0" err="1" smtClean="0">
                          <a:latin typeface="Agency FB" panose="020B0503020202020204" pitchFamily="34" charset="0"/>
                        </a:rPr>
                        <a:t>cmpsb</a:t>
                      </a:r>
                      <a:endParaRPr lang="en-GB" sz="2600" dirty="0">
                        <a:latin typeface="Agency FB" panose="020B0503020202020204" pitchFamily="34" charset="0"/>
                      </a:endParaRPr>
                    </a:p>
                  </a:txBody>
                  <a:tcPr/>
                </a:tc>
                <a:tc>
                  <a:txBody>
                    <a:bodyPr/>
                    <a:lstStyle/>
                    <a:p>
                      <a:r>
                        <a:rPr lang="en-GB" sz="2000" dirty="0" smtClean="0"/>
                        <a:t>Compare to data buffers. ESI, EDI are buffers’ locations. Repeat</a:t>
                      </a:r>
                      <a:r>
                        <a:rPr lang="en-GB" sz="2000" baseline="0" dirty="0" smtClean="0"/>
                        <a:t> until  ECX = 0</a:t>
                      </a:r>
                      <a:endParaRPr lang="en-GB" sz="2000" dirty="0"/>
                    </a:p>
                  </a:txBody>
                  <a:tcPr/>
                </a:tc>
              </a:tr>
              <a:tr h="576064">
                <a:tc>
                  <a:txBody>
                    <a:bodyPr/>
                    <a:lstStyle/>
                    <a:p>
                      <a:r>
                        <a:rPr lang="en-GB" sz="2600" dirty="0" smtClean="0">
                          <a:latin typeface="Agency FB" panose="020B0503020202020204" pitchFamily="34" charset="0"/>
                        </a:rPr>
                        <a:t>rep </a:t>
                      </a:r>
                      <a:r>
                        <a:rPr lang="en-GB" sz="2600" dirty="0" err="1" smtClean="0">
                          <a:latin typeface="Agency FB" panose="020B0503020202020204" pitchFamily="34" charset="0"/>
                        </a:rPr>
                        <a:t>stosb</a:t>
                      </a:r>
                      <a:endParaRPr lang="en-GB" sz="2600" dirty="0">
                        <a:latin typeface="Agency FB" panose="020B0503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Initialize all bytes of a buffer to a certain value</a:t>
                      </a:r>
                    </a:p>
                  </a:txBody>
                  <a:tcPr/>
                </a:tc>
              </a:tr>
              <a:tr h="652873">
                <a:tc>
                  <a:txBody>
                    <a:bodyPr/>
                    <a:lstStyle/>
                    <a:p>
                      <a:r>
                        <a:rPr lang="en-GB" sz="2600" dirty="0" smtClean="0">
                          <a:latin typeface="Agency FB" panose="020B0503020202020204" pitchFamily="34" charset="0"/>
                        </a:rPr>
                        <a:t>rep </a:t>
                      </a:r>
                      <a:r>
                        <a:rPr lang="en-GB" sz="2600" dirty="0" err="1" smtClean="0">
                          <a:latin typeface="Agency FB" panose="020B0503020202020204" pitchFamily="34" charset="0"/>
                        </a:rPr>
                        <a:t>movsb</a:t>
                      </a:r>
                      <a:endParaRPr lang="en-GB" sz="2600" dirty="0">
                        <a:latin typeface="Agency FB" panose="020B0503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Copy a buffer of bytes. Repeat</a:t>
                      </a:r>
                      <a:r>
                        <a:rPr lang="en-GB" sz="2000" baseline="0" dirty="0" smtClean="0"/>
                        <a:t> until  ECX = 0 or ZF = 1</a:t>
                      </a:r>
                      <a:endParaRPr lang="en-GB" sz="2000" dirty="0" smtClean="0"/>
                    </a:p>
                    <a:p>
                      <a:endParaRPr lang="en-GB" sz="2000" dirty="0"/>
                    </a:p>
                  </a:txBody>
                  <a:tcPr/>
                </a:tc>
              </a:tr>
              <a:tr h="652873">
                <a:tc>
                  <a:txBody>
                    <a:bodyPr/>
                    <a:lstStyle/>
                    <a:p>
                      <a:r>
                        <a:rPr lang="en-GB" sz="2600" dirty="0" err="1" smtClean="0">
                          <a:latin typeface="Agency FB" panose="020B0503020202020204" pitchFamily="34" charset="0"/>
                        </a:rPr>
                        <a:t>repne</a:t>
                      </a:r>
                      <a:r>
                        <a:rPr lang="en-GB" sz="2600" dirty="0" smtClean="0">
                          <a:latin typeface="Agency FB" panose="020B0503020202020204" pitchFamily="34" charset="0"/>
                        </a:rPr>
                        <a:t> </a:t>
                      </a:r>
                      <a:r>
                        <a:rPr lang="en-GB" sz="2600" dirty="0" err="1" smtClean="0">
                          <a:latin typeface="Agency FB" panose="020B0503020202020204" pitchFamily="34" charset="0"/>
                        </a:rPr>
                        <a:t>scasb</a:t>
                      </a:r>
                      <a:endParaRPr lang="en-GB" sz="2600" dirty="0">
                        <a:latin typeface="Agency FB" panose="020B0503020202020204" pitchFamily="34" charset="0"/>
                      </a:endParaRPr>
                    </a:p>
                  </a:txBody>
                  <a:tcPr/>
                </a:tc>
                <a:tc>
                  <a:txBody>
                    <a:bodyPr/>
                    <a:lstStyle/>
                    <a:p>
                      <a:r>
                        <a:rPr lang="en-GB" sz="2000" dirty="0" smtClean="0"/>
                        <a:t>Search a data buffer for a single byte. Repeat until ECX=0</a:t>
                      </a:r>
                      <a:r>
                        <a:rPr lang="en-GB" sz="2000" baseline="0" dirty="0" smtClean="0"/>
                        <a:t> or byte not found.</a:t>
                      </a:r>
                      <a:endParaRPr lang="en-GB" sz="2000" dirty="0"/>
                    </a:p>
                  </a:txBody>
                  <a:tcPr/>
                </a:tc>
              </a:tr>
            </a:tbl>
          </a:graphicData>
        </a:graphic>
      </p:graphicFrame>
    </p:spTree>
    <p:extLst>
      <p:ext uri="{BB962C8B-B14F-4D97-AF65-F5344CB8AC3E}">
        <p14:creationId xmlns:p14="http://schemas.microsoft.com/office/powerpoint/2010/main" val="25227056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a:xfrm>
            <a:off x="179513" y="1196752"/>
            <a:ext cx="5616624" cy="5112568"/>
          </a:xfrm>
        </p:spPr>
        <p:txBody>
          <a:bodyPr>
            <a:normAutofit fontScale="92500" lnSpcReduction="20000"/>
          </a:bodyPr>
          <a:lstStyle/>
          <a:p>
            <a:r>
              <a:rPr lang="en-GB" b="1" dirty="0" smtClean="0"/>
              <a:t>The Stack</a:t>
            </a:r>
            <a:r>
              <a:rPr lang="en-GB" dirty="0" smtClean="0"/>
              <a:t>: LIFO structure for storing</a:t>
            </a:r>
          </a:p>
          <a:p>
            <a:pPr lvl="2"/>
            <a:r>
              <a:rPr lang="en-GB" dirty="0">
                <a:effectLst>
                  <a:outerShdw blurRad="38100" dist="38100" dir="2700000" algn="tl">
                    <a:srgbClr val="000000">
                      <a:alpha val="43137"/>
                    </a:srgbClr>
                  </a:outerShdw>
                </a:effectLst>
              </a:rPr>
              <a:t>Local variables </a:t>
            </a:r>
            <a:r>
              <a:rPr lang="en-GB" dirty="0"/>
              <a:t>of functions</a:t>
            </a:r>
          </a:p>
          <a:p>
            <a:pPr lvl="2"/>
            <a:r>
              <a:rPr lang="en-GB" dirty="0" smtClean="0">
                <a:effectLst>
                  <a:outerShdw blurRad="38100" dist="38100" dir="2700000" algn="tl">
                    <a:srgbClr val="000000">
                      <a:alpha val="43137"/>
                    </a:srgbClr>
                  </a:outerShdw>
                </a:effectLst>
              </a:rPr>
              <a:t>Parameters</a:t>
            </a:r>
            <a:r>
              <a:rPr lang="en-GB" dirty="0" smtClean="0"/>
              <a:t> of functions</a:t>
            </a:r>
          </a:p>
          <a:p>
            <a:pPr lvl="2"/>
            <a:r>
              <a:rPr lang="en-GB" dirty="0" smtClean="0">
                <a:effectLst>
                  <a:outerShdw blurRad="38100" dist="38100" dir="2700000" algn="tl">
                    <a:srgbClr val="000000">
                      <a:alpha val="43137"/>
                    </a:srgbClr>
                  </a:outerShdw>
                </a:effectLst>
              </a:rPr>
              <a:t>Flow control </a:t>
            </a:r>
            <a:r>
              <a:rPr lang="en-GB" dirty="0" smtClean="0"/>
              <a:t>of the program</a:t>
            </a:r>
          </a:p>
          <a:p>
            <a:pPr lvl="3"/>
            <a:r>
              <a:rPr lang="en-US" dirty="0" smtClean="0"/>
              <a:t>Return Address</a:t>
            </a:r>
            <a:endParaRPr lang="en-GB" dirty="0" smtClean="0"/>
          </a:p>
          <a:p>
            <a:pPr lvl="1"/>
            <a:r>
              <a:rPr lang="en-GB" dirty="0" smtClean="0"/>
              <a:t>Uses registers</a:t>
            </a:r>
          </a:p>
          <a:p>
            <a:pPr lvl="2"/>
            <a:r>
              <a:rPr lang="en-GB" dirty="0" smtClean="0"/>
              <a:t>ESP: stack pointer</a:t>
            </a:r>
          </a:p>
          <a:p>
            <a:pPr lvl="3"/>
            <a:r>
              <a:rPr lang="en-GB" dirty="0" smtClean="0"/>
              <a:t>Address of the top of the stack</a:t>
            </a:r>
          </a:p>
          <a:p>
            <a:pPr lvl="2"/>
            <a:r>
              <a:rPr lang="en-GB" dirty="0" smtClean="0"/>
              <a:t>EBP: base pointer</a:t>
            </a:r>
          </a:p>
          <a:p>
            <a:pPr lvl="3"/>
            <a:r>
              <a:rPr lang="en-GB" dirty="0" smtClean="0"/>
              <a:t>Keep track of the location of local variables and parameters</a:t>
            </a:r>
          </a:p>
          <a:p>
            <a:pPr lvl="1"/>
            <a:r>
              <a:rPr lang="en-GB" dirty="0" smtClean="0"/>
              <a:t>Instructions</a:t>
            </a:r>
          </a:p>
          <a:p>
            <a:pPr marL="914400" lvl="2" indent="0">
              <a:buNone/>
            </a:pPr>
            <a:r>
              <a:rPr lang="en-GB" sz="3000" dirty="0" smtClean="0">
                <a:latin typeface="Agency FB" panose="020B0503020202020204" pitchFamily="34" charset="0"/>
              </a:rPr>
              <a:t>Enter, </a:t>
            </a:r>
            <a:r>
              <a:rPr lang="en-GB" sz="3000" dirty="0">
                <a:latin typeface="Agency FB" panose="020B0503020202020204" pitchFamily="34" charset="0"/>
              </a:rPr>
              <a:t>push</a:t>
            </a:r>
            <a:r>
              <a:rPr lang="en-GB" sz="3000" dirty="0" smtClean="0"/>
              <a:t>, </a:t>
            </a:r>
            <a:r>
              <a:rPr lang="en-GB" sz="3000" dirty="0" smtClean="0">
                <a:latin typeface="Agency FB" panose="020B0503020202020204" pitchFamily="34" charset="0"/>
              </a:rPr>
              <a:t>pop, call, leave, ret</a:t>
            </a:r>
            <a:endParaRPr lang="en-GB" sz="3000" dirty="0">
              <a:latin typeface="Agency FB" panose="020B0503020202020204" pitchFamily="34" charset="0"/>
            </a:endParaRPr>
          </a:p>
        </p:txBody>
      </p:sp>
      <p:grpSp>
        <p:nvGrpSpPr>
          <p:cNvPr id="13" name="Group 12"/>
          <p:cNvGrpSpPr/>
          <p:nvPr/>
        </p:nvGrpSpPr>
        <p:grpSpPr>
          <a:xfrm>
            <a:off x="5940152" y="1728029"/>
            <a:ext cx="2592288" cy="4293259"/>
            <a:chOff x="5940152" y="2097361"/>
            <a:chExt cx="2592288" cy="4293259"/>
          </a:xfrm>
        </p:grpSpPr>
        <p:sp>
          <p:nvSpPr>
            <p:cNvPr id="4" name="Rectangle 3"/>
            <p:cNvSpPr/>
            <p:nvPr/>
          </p:nvSpPr>
          <p:spPr>
            <a:xfrm>
              <a:off x="5940152" y="2492896"/>
              <a:ext cx="2592288" cy="35283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5" name="Rectangle 4"/>
            <p:cNvSpPr/>
            <p:nvPr/>
          </p:nvSpPr>
          <p:spPr>
            <a:xfrm>
              <a:off x="6156176" y="3361398"/>
              <a:ext cx="216024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6" name="Rectangle 5"/>
            <p:cNvSpPr/>
            <p:nvPr/>
          </p:nvSpPr>
          <p:spPr>
            <a:xfrm>
              <a:off x="6131385" y="4257092"/>
              <a:ext cx="216024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7" name="Rectangle 6"/>
            <p:cNvSpPr/>
            <p:nvPr/>
          </p:nvSpPr>
          <p:spPr>
            <a:xfrm>
              <a:off x="6146463" y="5144481"/>
              <a:ext cx="216024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8" name="TextBox 7"/>
            <p:cNvSpPr txBox="1"/>
            <p:nvPr/>
          </p:nvSpPr>
          <p:spPr>
            <a:xfrm>
              <a:off x="6191715" y="3500768"/>
              <a:ext cx="2089162" cy="369332"/>
            </a:xfrm>
            <a:prstGeom prst="rect">
              <a:avLst/>
            </a:prstGeom>
            <a:noFill/>
          </p:spPr>
          <p:txBody>
            <a:bodyPr wrap="none" rtlCol="0">
              <a:spAutoFit/>
            </a:bodyPr>
            <a:lstStyle/>
            <a:p>
              <a:r>
                <a:rPr lang="en-GB" dirty="0">
                  <a:solidFill>
                    <a:prstClr val="white"/>
                  </a:solidFill>
                </a:rPr>
                <a:t>Current Stack Frame</a:t>
              </a:r>
            </a:p>
          </p:txBody>
        </p:sp>
        <p:sp>
          <p:nvSpPr>
            <p:cNvPr id="9" name="TextBox 8"/>
            <p:cNvSpPr txBox="1"/>
            <p:nvPr/>
          </p:nvSpPr>
          <p:spPr>
            <a:xfrm>
              <a:off x="6164088" y="4396462"/>
              <a:ext cx="2053575" cy="369332"/>
            </a:xfrm>
            <a:prstGeom prst="rect">
              <a:avLst/>
            </a:prstGeom>
            <a:noFill/>
          </p:spPr>
          <p:txBody>
            <a:bodyPr wrap="none" rtlCol="0">
              <a:spAutoFit/>
            </a:bodyPr>
            <a:lstStyle/>
            <a:p>
              <a:r>
                <a:rPr lang="en-GB" dirty="0">
                  <a:solidFill>
                    <a:prstClr val="white"/>
                  </a:solidFill>
                </a:rPr>
                <a:t>Caller’s Stack Frame</a:t>
              </a:r>
            </a:p>
          </p:txBody>
        </p:sp>
        <p:sp>
          <p:nvSpPr>
            <p:cNvPr id="10" name="TextBox 9"/>
            <p:cNvSpPr txBox="1"/>
            <p:nvPr/>
          </p:nvSpPr>
          <p:spPr>
            <a:xfrm>
              <a:off x="6106196" y="5283851"/>
              <a:ext cx="2210220" cy="307777"/>
            </a:xfrm>
            <a:prstGeom prst="rect">
              <a:avLst/>
            </a:prstGeom>
            <a:noFill/>
          </p:spPr>
          <p:txBody>
            <a:bodyPr wrap="none" rtlCol="0">
              <a:spAutoFit/>
            </a:bodyPr>
            <a:lstStyle/>
            <a:p>
              <a:r>
                <a:rPr lang="en-GB" sz="1400" dirty="0">
                  <a:solidFill>
                    <a:prstClr val="white"/>
                  </a:solidFill>
                </a:rPr>
                <a:t>Caller’s </a:t>
              </a:r>
              <a:r>
                <a:rPr lang="en-GB" sz="1400" dirty="0" err="1">
                  <a:solidFill>
                    <a:prstClr val="white"/>
                  </a:solidFill>
                </a:rPr>
                <a:t>Caller’s</a:t>
              </a:r>
              <a:r>
                <a:rPr lang="en-GB" sz="1400" dirty="0">
                  <a:solidFill>
                    <a:prstClr val="white"/>
                  </a:solidFill>
                </a:rPr>
                <a:t> Stack Frame</a:t>
              </a:r>
            </a:p>
          </p:txBody>
        </p:sp>
        <p:sp>
          <p:nvSpPr>
            <p:cNvPr id="11" name="TextBox 10"/>
            <p:cNvSpPr txBox="1"/>
            <p:nvPr/>
          </p:nvSpPr>
          <p:spPr>
            <a:xfrm>
              <a:off x="6128501" y="2097361"/>
              <a:ext cx="2227341" cy="369332"/>
            </a:xfrm>
            <a:prstGeom prst="rect">
              <a:avLst/>
            </a:prstGeom>
            <a:noFill/>
          </p:spPr>
          <p:txBody>
            <a:bodyPr wrap="none" rtlCol="0">
              <a:spAutoFit/>
            </a:bodyPr>
            <a:lstStyle/>
            <a:p>
              <a:r>
                <a:rPr lang="en-GB" dirty="0">
                  <a:solidFill>
                    <a:prstClr val="black"/>
                  </a:solidFill>
                </a:rPr>
                <a:t>Low Memory Address</a:t>
              </a:r>
            </a:p>
          </p:txBody>
        </p:sp>
        <p:sp>
          <p:nvSpPr>
            <p:cNvPr id="12" name="TextBox 11"/>
            <p:cNvSpPr txBox="1"/>
            <p:nvPr/>
          </p:nvSpPr>
          <p:spPr>
            <a:xfrm>
              <a:off x="6070034" y="6021288"/>
              <a:ext cx="2271519" cy="369332"/>
            </a:xfrm>
            <a:prstGeom prst="rect">
              <a:avLst/>
            </a:prstGeom>
            <a:noFill/>
          </p:spPr>
          <p:txBody>
            <a:bodyPr wrap="none" rtlCol="0">
              <a:spAutoFit/>
            </a:bodyPr>
            <a:lstStyle/>
            <a:p>
              <a:r>
                <a:rPr lang="en-GB" dirty="0">
                  <a:solidFill>
                    <a:prstClr val="black"/>
                  </a:solidFill>
                </a:rPr>
                <a:t>High Memory Address</a:t>
              </a:r>
            </a:p>
          </p:txBody>
        </p:sp>
      </p:grpSp>
    </p:spTree>
    <p:extLst>
      <p:ext uri="{BB962C8B-B14F-4D97-AF65-F5344CB8AC3E}">
        <p14:creationId xmlns:p14="http://schemas.microsoft.com/office/powerpoint/2010/main" val="20551223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function call in sta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2178209"/>
            <a:ext cx="4265712" cy="319928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b="1" dirty="0"/>
              <a:t>The </a:t>
            </a:r>
            <a:r>
              <a:rPr lang="en-GB" b="1" dirty="0" smtClean="0"/>
              <a:t>Stack </a:t>
            </a:r>
            <a:r>
              <a:rPr lang="en-GB" b="1" dirty="0" smtClean="0">
                <a:sym typeface="Wingdings" panose="05000000000000000000" pitchFamily="2" charset="2"/>
              </a:rPr>
              <a:t> Function call procedure</a:t>
            </a:r>
          </a:p>
          <a:p>
            <a:pPr marL="457200" lvl="1" indent="0">
              <a:buNone/>
            </a:pPr>
            <a:r>
              <a:rPr lang="en-GB" sz="2000" dirty="0" smtClean="0">
                <a:effectLst>
                  <a:outerShdw blurRad="38100" dist="38100" dir="2700000" algn="tl">
                    <a:srgbClr val="000000">
                      <a:alpha val="43137"/>
                    </a:srgbClr>
                  </a:outerShdw>
                </a:effectLst>
              </a:rPr>
              <a:t>1. Push</a:t>
            </a:r>
            <a:r>
              <a:rPr lang="en-GB" sz="2000" dirty="0" smtClean="0"/>
              <a:t> arguments into the stack; </a:t>
            </a:r>
          </a:p>
          <a:p>
            <a:pPr marL="457200" lvl="1" indent="0">
              <a:buNone/>
            </a:pPr>
            <a:r>
              <a:rPr lang="en-GB" sz="2000" dirty="0" smtClean="0">
                <a:effectLst>
                  <a:outerShdw blurRad="38100" dist="38100" dir="2700000" algn="tl">
                    <a:srgbClr val="000000">
                      <a:alpha val="43137"/>
                    </a:srgbClr>
                  </a:outerShdw>
                </a:effectLst>
              </a:rPr>
              <a:t>2. Call</a:t>
            </a:r>
            <a:r>
              <a:rPr lang="en-GB" sz="2000" dirty="0" smtClean="0"/>
              <a:t> function; </a:t>
            </a:r>
          </a:p>
          <a:p>
            <a:pPr marL="857250" lvl="2" indent="0">
              <a:buNone/>
            </a:pPr>
            <a:r>
              <a:rPr lang="en-GB" sz="1600" b="1" dirty="0" smtClean="0"/>
              <a:t>Call</a:t>
            </a:r>
            <a:r>
              <a:rPr lang="en-GB" sz="1600" dirty="0" smtClean="0"/>
              <a:t> [memory location]</a:t>
            </a:r>
          </a:p>
          <a:p>
            <a:pPr marL="857250" lvl="2" indent="0">
              <a:buNone/>
            </a:pPr>
            <a:r>
              <a:rPr lang="en-US" sz="1600" b="1" dirty="0" smtClean="0"/>
              <a:t>Push</a:t>
            </a:r>
            <a:r>
              <a:rPr lang="en-US" sz="1600" dirty="0" smtClean="0"/>
              <a:t> </a:t>
            </a:r>
            <a:r>
              <a:rPr lang="en-GB" sz="1600" dirty="0"/>
              <a:t>return address</a:t>
            </a:r>
          </a:p>
          <a:p>
            <a:pPr marL="457200" lvl="1" indent="0">
              <a:buNone/>
            </a:pPr>
            <a:r>
              <a:rPr lang="en-GB" sz="2000" dirty="0" smtClean="0">
                <a:effectLst>
                  <a:outerShdw blurRad="38100" dist="38100" dir="2700000" algn="tl">
                    <a:srgbClr val="000000">
                      <a:alpha val="43137"/>
                    </a:srgbClr>
                  </a:outerShdw>
                </a:effectLst>
              </a:rPr>
              <a:t>3. Allocate</a:t>
            </a:r>
            <a:r>
              <a:rPr lang="en-GB" sz="2000" dirty="0" smtClean="0"/>
              <a:t> space for local variable </a:t>
            </a:r>
          </a:p>
          <a:p>
            <a:pPr marL="457200" lvl="1" indent="0">
              <a:buNone/>
            </a:pPr>
            <a:r>
              <a:rPr lang="en-GB" sz="2000" dirty="0" smtClean="0">
                <a:effectLst>
                  <a:outerShdw blurRad="38100" dist="38100" dir="2700000" algn="tl">
                    <a:srgbClr val="000000">
                      <a:alpha val="43137"/>
                    </a:srgbClr>
                  </a:outerShdw>
                </a:effectLst>
              </a:rPr>
              <a:t>	&amp; Set</a:t>
            </a:r>
            <a:r>
              <a:rPr lang="en-GB" sz="2000" dirty="0" smtClean="0"/>
              <a:t> base pointer EBP</a:t>
            </a:r>
          </a:p>
          <a:p>
            <a:pPr marL="457200" lvl="1" indent="0">
              <a:buNone/>
            </a:pPr>
            <a:r>
              <a:rPr lang="en-GB" sz="2000" dirty="0" smtClean="0">
                <a:effectLst>
                  <a:outerShdw blurRad="38100" dist="38100" dir="2700000" algn="tl">
                    <a:srgbClr val="000000">
                      <a:alpha val="43137"/>
                    </a:srgbClr>
                  </a:outerShdw>
                </a:effectLst>
              </a:rPr>
              <a:t>4. Perform</a:t>
            </a:r>
            <a:r>
              <a:rPr lang="en-GB" sz="2000" dirty="0" smtClean="0"/>
              <a:t> function </a:t>
            </a:r>
            <a:r>
              <a:rPr lang="en-GB" sz="2000" dirty="0" smtClean="0">
                <a:sym typeface="Wingdings" panose="05000000000000000000" pitchFamily="2" charset="2"/>
              </a:rPr>
              <a:t> EAX</a:t>
            </a:r>
            <a:endParaRPr lang="en-GB" sz="2000" dirty="0" smtClean="0"/>
          </a:p>
          <a:p>
            <a:pPr marL="457200" lvl="1" indent="0">
              <a:buNone/>
            </a:pPr>
            <a:r>
              <a:rPr lang="en-GB" sz="2000" dirty="0" smtClean="0">
                <a:effectLst>
                  <a:outerShdw blurRad="38100" dist="38100" dir="2700000" algn="tl">
                    <a:srgbClr val="000000">
                      <a:alpha val="43137"/>
                    </a:srgbClr>
                  </a:outerShdw>
                </a:effectLst>
              </a:rPr>
              <a:t>5. Restore</a:t>
            </a:r>
            <a:r>
              <a:rPr lang="en-GB" sz="2000" dirty="0" smtClean="0"/>
              <a:t> stack to be free</a:t>
            </a:r>
          </a:p>
          <a:p>
            <a:pPr marL="457200" lvl="1" indent="0">
              <a:buNone/>
            </a:pPr>
            <a:r>
              <a:rPr lang="en-GB" sz="2000" dirty="0" smtClean="0"/>
              <a:t>	</a:t>
            </a:r>
            <a:r>
              <a:rPr lang="en-GB" sz="2000" i="1" dirty="0" smtClean="0"/>
              <a:t>Leave</a:t>
            </a:r>
            <a:r>
              <a:rPr lang="en-GB" sz="2000" dirty="0" smtClean="0"/>
              <a:t> instruction (set ESP=EBP)</a:t>
            </a:r>
          </a:p>
          <a:p>
            <a:pPr marL="457200" lvl="1" indent="0">
              <a:buNone/>
            </a:pPr>
            <a:r>
              <a:rPr lang="en-GB" sz="2000" dirty="0" smtClean="0">
                <a:effectLst>
                  <a:outerShdw blurRad="38100" dist="38100" dir="2700000" algn="tl">
                    <a:srgbClr val="000000">
                      <a:alpha val="43137"/>
                    </a:srgbClr>
                  </a:outerShdw>
                </a:effectLst>
              </a:rPr>
              <a:t>6. Return</a:t>
            </a:r>
            <a:r>
              <a:rPr lang="en-GB" sz="2000" dirty="0" smtClean="0"/>
              <a:t> to the previous (original)</a:t>
            </a:r>
          </a:p>
          <a:p>
            <a:pPr marL="457200" lvl="1" indent="0">
              <a:buNone/>
            </a:pPr>
            <a:r>
              <a:rPr lang="en-GB" sz="2000" dirty="0"/>
              <a:t>	</a:t>
            </a:r>
            <a:r>
              <a:rPr lang="en-GB" sz="2000" i="1" dirty="0" smtClean="0"/>
              <a:t>Ret</a:t>
            </a:r>
            <a:r>
              <a:rPr lang="en-GB" sz="2000" dirty="0" smtClean="0"/>
              <a:t> instruction (pop Return </a:t>
            </a:r>
            <a:r>
              <a:rPr lang="en-GB" sz="2000" dirty="0" err="1" smtClean="0"/>
              <a:t>addr</a:t>
            </a:r>
            <a:r>
              <a:rPr lang="en-GB" sz="2000" dirty="0" smtClean="0"/>
              <a:t>. to EIP)</a:t>
            </a:r>
          </a:p>
          <a:p>
            <a:pPr marL="457200" lvl="1" indent="0">
              <a:buNone/>
            </a:pPr>
            <a:r>
              <a:rPr lang="en-GB" sz="2000" dirty="0" smtClean="0">
                <a:effectLst>
                  <a:outerShdw blurRad="38100" dist="38100" dir="2700000" algn="tl">
                    <a:srgbClr val="000000">
                      <a:alpha val="43137"/>
                    </a:srgbClr>
                  </a:outerShdw>
                </a:effectLst>
              </a:rPr>
              <a:t>7. Remove</a:t>
            </a:r>
            <a:r>
              <a:rPr lang="en-GB" sz="2000" dirty="0" smtClean="0"/>
              <a:t> arguments</a:t>
            </a:r>
            <a:endParaRPr lang="en-GB" sz="2000" dirty="0"/>
          </a:p>
        </p:txBody>
      </p:sp>
    </p:spTree>
    <p:extLst>
      <p:ext uri="{BB962C8B-B14F-4D97-AF65-F5344CB8AC3E}">
        <p14:creationId xmlns:p14="http://schemas.microsoft.com/office/powerpoint/2010/main" val="25354090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US" dirty="0" smtClean="0"/>
              <a:t>Function call example</a:t>
            </a:r>
            <a:endParaRPr lang="en-GB" dirty="0"/>
          </a:p>
        </p:txBody>
      </p:sp>
      <p:sp>
        <p:nvSpPr>
          <p:cNvPr id="4" name="TextBox 3"/>
          <p:cNvSpPr txBox="1"/>
          <p:nvPr/>
        </p:nvSpPr>
        <p:spPr>
          <a:xfrm>
            <a:off x="1403648" y="2636912"/>
            <a:ext cx="2451761" cy="923330"/>
          </a:xfrm>
          <a:prstGeom prst="rect">
            <a:avLst/>
          </a:prstGeom>
          <a:noFill/>
          <a:ln>
            <a:solidFill>
              <a:srgbClr val="C00000"/>
            </a:solidFill>
          </a:ln>
        </p:spPr>
        <p:txBody>
          <a:bodyPr wrap="none" rtlCol="0">
            <a:spAutoFit/>
          </a:bodyPr>
          <a:lstStyle/>
          <a:p>
            <a:r>
              <a:rPr lang="en-GB" dirty="0" err="1">
                <a:solidFill>
                  <a:prstClr val="black"/>
                </a:solidFill>
              </a:rPr>
              <a:t>int</a:t>
            </a:r>
            <a:r>
              <a:rPr lang="en-GB" dirty="0">
                <a:solidFill>
                  <a:prstClr val="black"/>
                </a:solidFill>
              </a:rPr>
              <a:t> test(</a:t>
            </a:r>
            <a:r>
              <a:rPr lang="en-GB" dirty="0" err="1">
                <a:solidFill>
                  <a:prstClr val="black"/>
                </a:solidFill>
              </a:rPr>
              <a:t>int</a:t>
            </a:r>
            <a:r>
              <a:rPr lang="en-GB" dirty="0">
                <a:solidFill>
                  <a:prstClr val="black"/>
                </a:solidFill>
              </a:rPr>
              <a:t> x, </a:t>
            </a:r>
            <a:r>
              <a:rPr lang="en-GB" dirty="0" err="1">
                <a:solidFill>
                  <a:prstClr val="black"/>
                </a:solidFill>
              </a:rPr>
              <a:t>int</a:t>
            </a:r>
            <a:r>
              <a:rPr lang="en-GB" dirty="0">
                <a:solidFill>
                  <a:prstClr val="black"/>
                </a:solidFill>
              </a:rPr>
              <a:t> y, </a:t>
            </a:r>
            <a:r>
              <a:rPr lang="en-GB" dirty="0" err="1">
                <a:solidFill>
                  <a:prstClr val="black"/>
                </a:solidFill>
              </a:rPr>
              <a:t>int</a:t>
            </a:r>
            <a:r>
              <a:rPr lang="en-GB" dirty="0">
                <a:solidFill>
                  <a:prstClr val="black"/>
                </a:solidFill>
              </a:rPr>
              <a:t> z);</a:t>
            </a:r>
          </a:p>
          <a:p>
            <a:r>
              <a:rPr lang="da-DK" dirty="0">
                <a:solidFill>
                  <a:prstClr val="black"/>
                </a:solidFill>
              </a:rPr>
              <a:t>int a, b, c, result;</a:t>
            </a:r>
          </a:p>
          <a:p>
            <a:r>
              <a:rPr lang="en-GB" dirty="0">
                <a:solidFill>
                  <a:prstClr val="black"/>
                </a:solidFill>
              </a:rPr>
              <a:t>result = test(a, b, c);</a:t>
            </a:r>
          </a:p>
        </p:txBody>
      </p:sp>
      <p:sp>
        <p:nvSpPr>
          <p:cNvPr id="5" name="TextBox 4"/>
          <p:cNvSpPr txBox="1"/>
          <p:nvPr/>
        </p:nvSpPr>
        <p:spPr>
          <a:xfrm>
            <a:off x="5940152" y="2132856"/>
            <a:ext cx="1614801" cy="1754326"/>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GB" dirty="0">
                <a:solidFill>
                  <a:prstClr val="black"/>
                </a:solidFill>
              </a:rPr>
              <a:t>push c</a:t>
            </a:r>
          </a:p>
          <a:p>
            <a:r>
              <a:rPr lang="en-GB" dirty="0">
                <a:solidFill>
                  <a:prstClr val="black"/>
                </a:solidFill>
              </a:rPr>
              <a:t>push b</a:t>
            </a:r>
          </a:p>
          <a:p>
            <a:r>
              <a:rPr lang="en-GB" dirty="0">
                <a:solidFill>
                  <a:prstClr val="black"/>
                </a:solidFill>
              </a:rPr>
              <a:t>push a</a:t>
            </a:r>
          </a:p>
          <a:p>
            <a:r>
              <a:rPr lang="en-GB" dirty="0">
                <a:solidFill>
                  <a:prstClr val="black"/>
                </a:solidFill>
              </a:rPr>
              <a:t>call test</a:t>
            </a:r>
          </a:p>
          <a:p>
            <a:r>
              <a:rPr lang="en-GB" b="1" dirty="0">
                <a:solidFill>
                  <a:prstClr val="black"/>
                </a:solidFill>
              </a:rPr>
              <a:t>add </a:t>
            </a:r>
            <a:r>
              <a:rPr lang="en-GB" b="1" dirty="0" err="1">
                <a:solidFill>
                  <a:prstClr val="black"/>
                </a:solidFill>
              </a:rPr>
              <a:t>esp</a:t>
            </a:r>
            <a:r>
              <a:rPr lang="en-GB" b="1" dirty="0">
                <a:solidFill>
                  <a:prstClr val="black"/>
                </a:solidFill>
              </a:rPr>
              <a:t>, 12</a:t>
            </a:r>
          </a:p>
          <a:p>
            <a:r>
              <a:rPr lang="en-GB" dirty="0" err="1">
                <a:solidFill>
                  <a:prstClr val="black"/>
                </a:solidFill>
              </a:rPr>
              <a:t>mov</a:t>
            </a:r>
            <a:r>
              <a:rPr lang="en-GB" dirty="0">
                <a:solidFill>
                  <a:prstClr val="black"/>
                </a:solidFill>
              </a:rPr>
              <a:t> result, </a:t>
            </a:r>
            <a:r>
              <a:rPr lang="en-GB" dirty="0" err="1">
                <a:solidFill>
                  <a:prstClr val="black"/>
                </a:solidFill>
              </a:rPr>
              <a:t>eax</a:t>
            </a:r>
            <a:endParaRPr lang="en-GB" dirty="0">
              <a:solidFill>
                <a:prstClr val="black"/>
              </a:solidFill>
            </a:endParaRPr>
          </a:p>
        </p:txBody>
      </p:sp>
      <p:sp>
        <p:nvSpPr>
          <p:cNvPr id="6" name="Right Arrow 5"/>
          <p:cNvSpPr/>
          <p:nvPr/>
        </p:nvSpPr>
        <p:spPr>
          <a:xfrm>
            <a:off x="4499992" y="2852936"/>
            <a:ext cx="936104"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Tree>
    <p:extLst>
      <p:ext uri="{BB962C8B-B14F-4D97-AF65-F5344CB8AC3E}">
        <p14:creationId xmlns:p14="http://schemas.microsoft.com/office/powerpoint/2010/main" val="17872861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Practice [Assembly by </a:t>
            </a:r>
            <a:r>
              <a:rPr lang="en-GB" b="1" dirty="0" smtClean="0">
                <a:effectLst>
                  <a:outerShdw blurRad="38100" dist="38100" dir="2700000" algn="tl">
                    <a:srgbClr val="000000">
                      <a:alpha val="43137"/>
                    </a:srgbClr>
                  </a:outerShdw>
                </a:effectLst>
              </a:rPr>
              <a:t>Jasmin </a:t>
            </a:r>
            <a:r>
              <a:rPr lang="en-GB" dirty="0" smtClean="0"/>
              <a:t>app.]</a:t>
            </a:r>
            <a:endParaRPr lang="en-GB" dirty="0"/>
          </a:p>
        </p:txBody>
      </p:sp>
      <p:sp>
        <p:nvSpPr>
          <p:cNvPr id="3" name="Content Placeholder 2"/>
          <p:cNvSpPr>
            <a:spLocks noGrp="1"/>
          </p:cNvSpPr>
          <p:nvPr>
            <p:ph idx="1"/>
          </p:nvPr>
        </p:nvSpPr>
        <p:spPr/>
        <p:txBody>
          <a:bodyPr/>
          <a:lstStyle/>
          <a:p>
            <a:r>
              <a:rPr lang="en-GB" dirty="0" smtClean="0"/>
              <a:t>Practice “</a:t>
            </a:r>
            <a:r>
              <a:rPr lang="en-GB" dirty="0" smtClean="0">
                <a:effectLst>
                  <a:outerShdw blurRad="38100" dist="38100" dir="2700000" algn="tl">
                    <a:srgbClr val="000000">
                      <a:alpha val="43137"/>
                    </a:srgbClr>
                  </a:outerShdw>
                </a:effectLst>
              </a:rPr>
              <a:t>Simple Instructions</a:t>
            </a:r>
            <a:r>
              <a:rPr lang="en-GB" dirty="0" smtClean="0"/>
              <a:t>”</a:t>
            </a:r>
            <a:endParaRPr lang="en-GB"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700808"/>
            <a:ext cx="8364264" cy="4539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097701" y="3501008"/>
            <a:ext cx="1043491" cy="369332"/>
          </a:xfrm>
          <a:prstGeom prst="rect">
            <a:avLst/>
          </a:prstGeom>
          <a:noFill/>
          <a:ln>
            <a:solidFill>
              <a:schemeClr val="accent1"/>
            </a:solidFill>
          </a:ln>
        </p:spPr>
        <p:txBody>
          <a:bodyPr wrap="none" rtlCol="0">
            <a:spAutoFit/>
          </a:bodyPr>
          <a:lstStyle/>
          <a:p>
            <a:r>
              <a:rPr lang="en-US" b="1" dirty="0">
                <a:solidFill>
                  <a:prstClr val="black"/>
                </a:solidFill>
              </a:rPr>
              <a:t>Registers</a:t>
            </a:r>
            <a:endParaRPr lang="en-GB" b="1" dirty="0">
              <a:solidFill>
                <a:prstClr val="black"/>
              </a:solidFill>
            </a:endParaRPr>
          </a:p>
        </p:txBody>
      </p:sp>
      <p:sp>
        <p:nvSpPr>
          <p:cNvPr id="6" name="TextBox 5"/>
          <p:cNvSpPr txBox="1"/>
          <p:nvPr/>
        </p:nvSpPr>
        <p:spPr>
          <a:xfrm>
            <a:off x="3419872" y="2996952"/>
            <a:ext cx="668773" cy="369332"/>
          </a:xfrm>
          <a:prstGeom prst="rect">
            <a:avLst/>
          </a:prstGeom>
          <a:noFill/>
          <a:ln>
            <a:solidFill>
              <a:schemeClr val="accent1"/>
            </a:solidFill>
          </a:ln>
        </p:spPr>
        <p:txBody>
          <a:bodyPr wrap="none" rtlCol="0">
            <a:spAutoFit/>
          </a:bodyPr>
          <a:lstStyle/>
          <a:p>
            <a:r>
              <a:rPr lang="en-US" b="1" dirty="0">
                <a:solidFill>
                  <a:prstClr val="black"/>
                </a:solidFill>
              </a:rPr>
              <a:t>Code</a:t>
            </a:r>
            <a:endParaRPr lang="en-GB" b="1" dirty="0">
              <a:solidFill>
                <a:prstClr val="black"/>
              </a:solidFill>
            </a:endParaRPr>
          </a:p>
        </p:txBody>
      </p:sp>
      <p:sp>
        <p:nvSpPr>
          <p:cNvPr id="7" name="TextBox 6"/>
          <p:cNvSpPr txBox="1"/>
          <p:nvPr/>
        </p:nvSpPr>
        <p:spPr>
          <a:xfrm>
            <a:off x="3754258" y="5085184"/>
            <a:ext cx="625492" cy="369332"/>
          </a:xfrm>
          <a:prstGeom prst="rect">
            <a:avLst/>
          </a:prstGeom>
          <a:noFill/>
          <a:ln>
            <a:solidFill>
              <a:schemeClr val="accent1"/>
            </a:solidFill>
          </a:ln>
        </p:spPr>
        <p:txBody>
          <a:bodyPr wrap="none" rtlCol="0">
            <a:spAutoFit/>
          </a:bodyPr>
          <a:lstStyle/>
          <a:p>
            <a:r>
              <a:rPr lang="en-US" b="1" dirty="0">
                <a:solidFill>
                  <a:prstClr val="black"/>
                </a:solidFill>
              </a:rPr>
              <a:t>Help</a:t>
            </a:r>
            <a:endParaRPr lang="en-GB" b="1" dirty="0">
              <a:solidFill>
                <a:prstClr val="black"/>
              </a:solidFill>
            </a:endParaRPr>
          </a:p>
        </p:txBody>
      </p:sp>
      <p:sp>
        <p:nvSpPr>
          <p:cNvPr id="8" name="TextBox 7"/>
          <p:cNvSpPr txBox="1"/>
          <p:nvPr/>
        </p:nvSpPr>
        <p:spPr>
          <a:xfrm>
            <a:off x="6444208" y="4437112"/>
            <a:ext cx="1004827" cy="369332"/>
          </a:xfrm>
          <a:prstGeom prst="rect">
            <a:avLst/>
          </a:prstGeom>
          <a:noFill/>
          <a:ln>
            <a:solidFill>
              <a:schemeClr val="accent1"/>
            </a:solidFill>
          </a:ln>
        </p:spPr>
        <p:txBody>
          <a:bodyPr wrap="none" rtlCol="0">
            <a:spAutoFit/>
          </a:bodyPr>
          <a:lstStyle/>
          <a:p>
            <a:r>
              <a:rPr lang="en-US" b="1" dirty="0">
                <a:solidFill>
                  <a:prstClr val="black"/>
                </a:solidFill>
              </a:rPr>
              <a:t>Memory</a:t>
            </a:r>
            <a:endParaRPr lang="en-GB" b="1" dirty="0">
              <a:solidFill>
                <a:prstClr val="black"/>
              </a:solidFill>
            </a:endParaRPr>
          </a:p>
        </p:txBody>
      </p:sp>
      <p:sp>
        <p:nvSpPr>
          <p:cNvPr id="9" name="TextBox 8"/>
          <p:cNvSpPr txBox="1"/>
          <p:nvPr/>
        </p:nvSpPr>
        <p:spPr>
          <a:xfrm>
            <a:off x="827584" y="4758436"/>
            <a:ext cx="660758" cy="369332"/>
          </a:xfrm>
          <a:prstGeom prst="rect">
            <a:avLst/>
          </a:prstGeom>
          <a:noFill/>
          <a:ln>
            <a:solidFill>
              <a:schemeClr val="accent1"/>
            </a:solidFill>
          </a:ln>
        </p:spPr>
        <p:txBody>
          <a:bodyPr wrap="none" rtlCol="0">
            <a:spAutoFit/>
          </a:bodyPr>
          <a:lstStyle/>
          <a:p>
            <a:r>
              <a:rPr lang="en-US" b="1" dirty="0">
                <a:solidFill>
                  <a:prstClr val="black"/>
                </a:solidFill>
              </a:rPr>
              <a:t>Flags</a:t>
            </a:r>
            <a:endParaRPr lang="en-GB" b="1" dirty="0">
              <a:solidFill>
                <a:prstClr val="black"/>
              </a:solidFill>
            </a:endParaRPr>
          </a:p>
        </p:txBody>
      </p:sp>
      <p:sp>
        <p:nvSpPr>
          <p:cNvPr id="5" name="TextBox 4"/>
          <p:cNvSpPr txBox="1"/>
          <p:nvPr/>
        </p:nvSpPr>
        <p:spPr>
          <a:xfrm>
            <a:off x="817770" y="6412686"/>
            <a:ext cx="7048083" cy="369332"/>
          </a:xfrm>
          <a:prstGeom prst="rect">
            <a:avLst/>
          </a:prstGeom>
          <a:solidFill>
            <a:schemeClr val="accent6">
              <a:lumMod val="60000"/>
              <a:lumOff val="40000"/>
            </a:schemeClr>
          </a:solidFill>
        </p:spPr>
        <p:txBody>
          <a:bodyPr wrap="none" rtlCol="0">
            <a:spAutoFit/>
          </a:bodyPr>
          <a:lstStyle/>
          <a:p>
            <a:r>
              <a:rPr lang="en-US" dirty="0">
                <a:solidFill>
                  <a:prstClr val="black"/>
                </a:solidFill>
              </a:rPr>
              <a:t>Download Jasmin at: </a:t>
            </a:r>
            <a:r>
              <a:rPr lang="en-US" dirty="0">
                <a:solidFill>
                  <a:prstClr val="black"/>
                </a:solidFill>
                <a:hlinkClick r:id="rId4"/>
              </a:rPr>
              <a:t>https://sourceforge.net/projects/tum-jasmin/files/</a:t>
            </a:r>
            <a:r>
              <a:rPr lang="en-US" dirty="0">
                <a:solidFill>
                  <a:prstClr val="black"/>
                </a:solidFill>
              </a:rPr>
              <a:t>  </a:t>
            </a:r>
          </a:p>
        </p:txBody>
      </p:sp>
    </p:spTree>
    <p:extLst>
      <p:ext uri="{BB962C8B-B14F-4D97-AF65-F5344CB8AC3E}">
        <p14:creationId xmlns:p14="http://schemas.microsoft.com/office/powerpoint/2010/main" val="26275331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Jasmin</a:t>
            </a:r>
            <a:endParaRPr lang="en-GB" dirty="0"/>
          </a:p>
        </p:txBody>
      </p:sp>
      <p:sp>
        <p:nvSpPr>
          <p:cNvPr id="3" name="Content Placeholder 2"/>
          <p:cNvSpPr>
            <a:spLocks noGrp="1"/>
          </p:cNvSpPr>
          <p:nvPr>
            <p:ph idx="1"/>
          </p:nvPr>
        </p:nvSpPr>
        <p:spPr/>
        <p:txBody>
          <a:bodyPr/>
          <a:lstStyle/>
          <a:p>
            <a:endParaRPr lang="en-GB" dirty="0"/>
          </a:p>
        </p:txBody>
      </p:sp>
      <p:sp>
        <p:nvSpPr>
          <p:cNvPr id="4" name="TextBox 3"/>
          <p:cNvSpPr txBox="1"/>
          <p:nvPr/>
        </p:nvSpPr>
        <p:spPr>
          <a:xfrm>
            <a:off x="395536" y="1484784"/>
            <a:ext cx="2660728" cy="2308324"/>
          </a:xfrm>
          <a:prstGeom prst="rect">
            <a:avLst/>
          </a:prstGeom>
          <a:noFill/>
          <a:ln>
            <a:solidFill>
              <a:schemeClr val="accent1"/>
            </a:solidFill>
          </a:ln>
        </p:spPr>
        <p:txBody>
          <a:bodyPr wrap="none" rtlCol="0">
            <a:spAutoFit/>
          </a:bodyPr>
          <a:lstStyle/>
          <a:p>
            <a:r>
              <a:rPr lang="en-US" b="1" u="sng" dirty="0">
                <a:solidFill>
                  <a:prstClr val="black"/>
                </a:solidFill>
              </a:rPr>
              <a:t>Storing results in Memory</a:t>
            </a:r>
          </a:p>
          <a:p>
            <a:endParaRPr lang="en-GB" dirty="0">
              <a:solidFill>
                <a:prstClr val="black"/>
              </a:solidFill>
            </a:endParaRPr>
          </a:p>
          <a:p>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4</a:t>
            </a:r>
          </a:p>
          <a:p>
            <a:r>
              <a:rPr lang="en-GB" dirty="0" err="1">
                <a:solidFill>
                  <a:prstClr val="black"/>
                </a:solidFill>
              </a:rPr>
              <a:t>mov</a:t>
            </a:r>
            <a:r>
              <a:rPr lang="en-GB" dirty="0">
                <a:solidFill>
                  <a:prstClr val="black"/>
                </a:solidFill>
              </a:rPr>
              <a:t> </a:t>
            </a:r>
            <a:r>
              <a:rPr lang="en-GB" dirty="0" err="1">
                <a:solidFill>
                  <a:prstClr val="black"/>
                </a:solidFill>
              </a:rPr>
              <a:t>ebx</a:t>
            </a:r>
            <a:r>
              <a:rPr lang="en-GB" dirty="0">
                <a:solidFill>
                  <a:prstClr val="black"/>
                </a:solidFill>
              </a:rPr>
              <a:t>, 6</a:t>
            </a:r>
          </a:p>
          <a:p>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dirty="0" err="1">
                <a:solidFill>
                  <a:prstClr val="black"/>
                </a:solidFill>
              </a:rPr>
              <a:t>ebx</a:t>
            </a:r>
            <a:endParaRPr lang="en-GB" dirty="0">
              <a:solidFill>
                <a:prstClr val="black"/>
              </a:solidFill>
            </a:endParaRPr>
          </a:p>
          <a:p>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a:t>
            </a:r>
            <a:r>
              <a:rPr lang="en-GB" dirty="0" err="1">
                <a:solidFill>
                  <a:prstClr val="black"/>
                </a:solidFill>
              </a:rPr>
              <a:t>eax</a:t>
            </a:r>
            <a:endParaRPr lang="en-GB" dirty="0">
              <a:solidFill>
                <a:prstClr val="black"/>
              </a:solidFill>
            </a:endParaRPr>
          </a:p>
          <a:p>
            <a:r>
              <a:rPr lang="en-GB" dirty="0">
                <a:solidFill>
                  <a:prstClr val="black"/>
                </a:solidFill>
              </a:rPr>
              <a:t>add </a:t>
            </a:r>
            <a:r>
              <a:rPr lang="en-GB" dirty="0" err="1">
                <a:solidFill>
                  <a:prstClr val="black"/>
                </a:solidFill>
              </a:rPr>
              <a:t>ecx</a:t>
            </a:r>
            <a:r>
              <a:rPr lang="en-GB" dirty="0">
                <a:solidFill>
                  <a:prstClr val="black"/>
                </a:solidFill>
              </a:rPr>
              <a:t>, </a:t>
            </a:r>
            <a:r>
              <a:rPr lang="en-GB" dirty="0" err="1">
                <a:solidFill>
                  <a:prstClr val="black"/>
                </a:solidFill>
              </a:rPr>
              <a:t>ebx</a:t>
            </a:r>
            <a:endParaRPr lang="en-GB" dirty="0">
              <a:solidFill>
                <a:prstClr val="black"/>
              </a:solidFill>
            </a:endParaRPr>
          </a:p>
          <a:p>
            <a:r>
              <a:rPr lang="en-GB" dirty="0" err="1">
                <a:solidFill>
                  <a:prstClr val="black"/>
                </a:solidFill>
              </a:rPr>
              <a:t>mov</a:t>
            </a:r>
            <a:r>
              <a:rPr lang="en-GB" dirty="0">
                <a:solidFill>
                  <a:prstClr val="black"/>
                </a:solidFill>
              </a:rPr>
              <a:t> [eax+4], </a:t>
            </a:r>
            <a:r>
              <a:rPr lang="en-GB" dirty="0" err="1">
                <a:solidFill>
                  <a:prstClr val="black"/>
                </a:solidFill>
              </a:rPr>
              <a:t>ecx</a:t>
            </a:r>
            <a:endParaRPr lang="en-GB" dirty="0">
              <a:solidFill>
                <a:prstClr val="black"/>
              </a:solidFill>
            </a:endParaRPr>
          </a:p>
        </p:txBody>
      </p:sp>
      <p:sp>
        <p:nvSpPr>
          <p:cNvPr id="5" name="TextBox 4"/>
          <p:cNvSpPr txBox="1"/>
          <p:nvPr/>
        </p:nvSpPr>
        <p:spPr>
          <a:xfrm>
            <a:off x="3563888" y="1484784"/>
            <a:ext cx="1275670" cy="2031325"/>
          </a:xfrm>
          <a:prstGeom prst="rect">
            <a:avLst/>
          </a:prstGeom>
          <a:noFill/>
          <a:ln>
            <a:solidFill>
              <a:schemeClr val="accent1"/>
            </a:solidFill>
          </a:ln>
        </p:spPr>
        <p:txBody>
          <a:bodyPr wrap="none" rtlCol="0">
            <a:spAutoFit/>
          </a:bodyPr>
          <a:lstStyle/>
          <a:p>
            <a:r>
              <a:rPr lang="en-US" b="1" u="sng" dirty="0">
                <a:solidFill>
                  <a:prstClr val="black"/>
                </a:solidFill>
              </a:rPr>
              <a:t>Using Stack</a:t>
            </a:r>
          </a:p>
          <a:p>
            <a:endParaRPr lang="en-GB" dirty="0">
              <a:solidFill>
                <a:prstClr val="black"/>
              </a:solidFill>
            </a:endParaRPr>
          </a:p>
          <a:p>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4</a:t>
            </a:r>
          </a:p>
          <a:p>
            <a:r>
              <a:rPr lang="en-GB" dirty="0" err="1">
                <a:solidFill>
                  <a:prstClr val="black"/>
                </a:solidFill>
              </a:rPr>
              <a:t>mov</a:t>
            </a:r>
            <a:r>
              <a:rPr lang="en-GB" dirty="0">
                <a:solidFill>
                  <a:prstClr val="black"/>
                </a:solidFill>
              </a:rPr>
              <a:t> </a:t>
            </a:r>
            <a:r>
              <a:rPr lang="en-GB" dirty="0" err="1">
                <a:solidFill>
                  <a:prstClr val="black"/>
                </a:solidFill>
              </a:rPr>
              <a:t>ebx</a:t>
            </a:r>
            <a:r>
              <a:rPr lang="en-GB" dirty="0">
                <a:solidFill>
                  <a:prstClr val="black"/>
                </a:solidFill>
              </a:rPr>
              <a:t>, 6</a:t>
            </a:r>
          </a:p>
          <a:p>
            <a:r>
              <a:rPr lang="en-GB" dirty="0">
                <a:solidFill>
                  <a:prstClr val="black"/>
                </a:solidFill>
              </a:rPr>
              <a:t>push </a:t>
            </a:r>
            <a:r>
              <a:rPr lang="en-GB" dirty="0" err="1">
                <a:solidFill>
                  <a:prstClr val="black"/>
                </a:solidFill>
              </a:rPr>
              <a:t>eax</a:t>
            </a:r>
            <a:endParaRPr lang="en-GB" dirty="0">
              <a:solidFill>
                <a:prstClr val="black"/>
              </a:solidFill>
            </a:endParaRPr>
          </a:p>
          <a:p>
            <a:r>
              <a:rPr lang="en-GB" dirty="0">
                <a:solidFill>
                  <a:prstClr val="black"/>
                </a:solidFill>
              </a:rPr>
              <a:t>push </a:t>
            </a:r>
            <a:r>
              <a:rPr lang="en-GB" dirty="0" err="1">
                <a:solidFill>
                  <a:prstClr val="black"/>
                </a:solidFill>
              </a:rPr>
              <a:t>ebx</a:t>
            </a:r>
            <a:endParaRPr lang="en-GB" dirty="0">
              <a:solidFill>
                <a:prstClr val="black"/>
              </a:solidFill>
            </a:endParaRPr>
          </a:p>
          <a:p>
            <a:r>
              <a:rPr lang="en-GB" dirty="0">
                <a:solidFill>
                  <a:prstClr val="black"/>
                </a:solidFill>
              </a:rPr>
              <a:t>pop </a:t>
            </a:r>
            <a:r>
              <a:rPr lang="en-GB" dirty="0" err="1">
                <a:solidFill>
                  <a:prstClr val="black"/>
                </a:solidFill>
              </a:rPr>
              <a:t>ecx</a:t>
            </a:r>
            <a:endParaRPr lang="en-GB" dirty="0">
              <a:solidFill>
                <a:prstClr val="black"/>
              </a:solidFill>
            </a:endParaRPr>
          </a:p>
        </p:txBody>
      </p:sp>
      <p:sp>
        <p:nvSpPr>
          <p:cNvPr id="6" name="TextBox 5"/>
          <p:cNvSpPr txBox="1"/>
          <p:nvPr/>
        </p:nvSpPr>
        <p:spPr>
          <a:xfrm>
            <a:off x="5940152" y="1484784"/>
            <a:ext cx="2915222" cy="1200329"/>
          </a:xfrm>
          <a:prstGeom prst="rect">
            <a:avLst/>
          </a:prstGeom>
          <a:noFill/>
          <a:ln>
            <a:solidFill>
              <a:schemeClr val="accent1"/>
            </a:solidFill>
          </a:ln>
        </p:spPr>
        <p:txBody>
          <a:bodyPr wrap="none" rtlCol="0">
            <a:spAutoFit/>
          </a:bodyPr>
          <a:lstStyle/>
          <a:p>
            <a:r>
              <a:rPr lang="en-US" b="1" u="sng" dirty="0">
                <a:solidFill>
                  <a:prstClr val="black"/>
                </a:solidFill>
              </a:rPr>
              <a:t>Reversing a sequence</a:t>
            </a:r>
          </a:p>
          <a:p>
            <a:r>
              <a:rPr lang="en-US" dirty="0" err="1">
                <a:solidFill>
                  <a:prstClr val="black"/>
                </a:solidFill>
              </a:rPr>
              <a:t>Eax</a:t>
            </a:r>
            <a:r>
              <a:rPr lang="en-US" dirty="0">
                <a:solidFill>
                  <a:prstClr val="black"/>
                </a:solidFill>
              </a:rPr>
              <a:t>, </a:t>
            </a:r>
            <a:r>
              <a:rPr lang="en-US" dirty="0" err="1">
                <a:solidFill>
                  <a:prstClr val="black"/>
                </a:solidFill>
              </a:rPr>
              <a:t>ebx</a:t>
            </a:r>
            <a:r>
              <a:rPr lang="en-US" dirty="0">
                <a:solidFill>
                  <a:prstClr val="black"/>
                </a:solidFill>
              </a:rPr>
              <a:t>, </a:t>
            </a:r>
            <a:r>
              <a:rPr lang="en-US" dirty="0" err="1">
                <a:solidFill>
                  <a:prstClr val="black"/>
                </a:solidFill>
              </a:rPr>
              <a:t>ecx</a:t>
            </a:r>
            <a:r>
              <a:rPr lang="en-US" dirty="0">
                <a:solidFill>
                  <a:prstClr val="black"/>
                </a:solidFill>
              </a:rPr>
              <a:t>, </a:t>
            </a:r>
            <a:r>
              <a:rPr lang="en-US" dirty="0" err="1">
                <a:solidFill>
                  <a:prstClr val="black"/>
                </a:solidFill>
              </a:rPr>
              <a:t>edx</a:t>
            </a:r>
            <a:r>
              <a:rPr lang="en-US" dirty="0">
                <a:solidFill>
                  <a:prstClr val="black"/>
                </a:solidFill>
              </a:rPr>
              <a:t> = 1,2,3, 4</a:t>
            </a:r>
          </a:p>
          <a:p>
            <a:endParaRPr lang="en-US" dirty="0">
              <a:solidFill>
                <a:prstClr val="black"/>
              </a:solidFill>
            </a:endParaRPr>
          </a:p>
          <a:p>
            <a:r>
              <a:rPr lang="en-US" dirty="0">
                <a:solidFill>
                  <a:prstClr val="black"/>
                </a:solidFill>
              </a:rPr>
              <a:t>-&gt; </a:t>
            </a:r>
            <a:r>
              <a:rPr lang="en-US" dirty="0" err="1">
                <a:solidFill>
                  <a:prstClr val="black"/>
                </a:solidFill>
              </a:rPr>
              <a:t>Eax</a:t>
            </a:r>
            <a:r>
              <a:rPr lang="en-US" dirty="0">
                <a:solidFill>
                  <a:prstClr val="black"/>
                </a:solidFill>
              </a:rPr>
              <a:t>, </a:t>
            </a:r>
            <a:r>
              <a:rPr lang="en-US" dirty="0" err="1">
                <a:solidFill>
                  <a:prstClr val="black"/>
                </a:solidFill>
              </a:rPr>
              <a:t>ebx</a:t>
            </a:r>
            <a:r>
              <a:rPr lang="en-US" dirty="0">
                <a:solidFill>
                  <a:prstClr val="black"/>
                </a:solidFill>
              </a:rPr>
              <a:t>, </a:t>
            </a:r>
            <a:r>
              <a:rPr lang="en-US" dirty="0" err="1">
                <a:solidFill>
                  <a:prstClr val="black"/>
                </a:solidFill>
              </a:rPr>
              <a:t>ecx</a:t>
            </a:r>
            <a:r>
              <a:rPr lang="en-US" dirty="0">
                <a:solidFill>
                  <a:prstClr val="black"/>
                </a:solidFill>
              </a:rPr>
              <a:t>, </a:t>
            </a:r>
            <a:r>
              <a:rPr lang="en-US" dirty="0" err="1">
                <a:solidFill>
                  <a:prstClr val="black"/>
                </a:solidFill>
              </a:rPr>
              <a:t>edx</a:t>
            </a:r>
            <a:r>
              <a:rPr lang="en-US" dirty="0">
                <a:solidFill>
                  <a:prstClr val="black"/>
                </a:solidFill>
              </a:rPr>
              <a:t> = 4,3,2,1</a:t>
            </a:r>
            <a:endParaRPr lang="en-GB" dirty="0">
              <a:solidFill>
                <a:prstClr val="black"/>
              </a:solidFill>
            </a:endParaRPr>
          </a:p>
        </p:txBody>
      </p:sp>
      <p:sp>
        <p:nvSpPr>
          <p:cNvPr id="7" name="Down Arrow 6"/>
          <p:cNvSpPr/>
          <p:nvPr/>
        </p:nvSpPr>
        <p:spPr>
          <a:xfrm>
            <a:off x="1259632" y="4005064"/>
            <a:ext cx="288032" cy="8960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8" name="TextBox 7"/>
          <p:cNvSpPr txBox="1"/>
          <p:nvPr/>
        </p:nvSpPr>
        <p:spPr>
          <a:xfrm>
            <a:off x="1129823" y="5169966"/>
            <a:ext cx="547650" cy="923330"/>
          </a:xfrm>
          <a:prstGeom prst="rect">
            <a:avLst/>
          </a:prstGeom>
          <a:noFill/>
        </p:spPr>
        <p:txBody>
          <a:bodyPr wrap="none" rtlCol="0">
            <a:spAutoFit/>
          </a:bodyPr>
          <a:lstStyle/>
          <a:p>
            <a:r>
              <a:rPr lang="en-US" dirty="0">
                <a:solidFill>
                  <a:prstClr val="black"/>
                </a:solidFill>
              </a:rPr>
              <a:t>EAX</a:t>
            </a:r>
          </a:p>
          <a:p>
            <a:r>
              <a:rPr lang="en-US" dirty="0">
                <a:solidFill>
                  <a:prstClr val="black"/>
                </a:solidFill>
              </a:rPr>
              <a:t>EBX</a:t>
            </a:r>
          </a:p>
          <a:p>
            <a:r>
              <a:rPr lang="en-US" dirty="0">
                <a:solidFill>
                  <a:prstClr val="black"/>
                </a:solidFill>
              </a:rPr>
              <a:t>ECX</a:t>
            </a:r>
            <a:endParaRPr lang="en-GB" dirty="0">
              <a:solidFill>
                <a:prstClr val="black"/>
              </a:solidFill>
            </a:endParaRPr>
          </a:p>
        </p:txBody>
      </p:sp>
      <p:sp>
        <p:nvSpPr>
          <p:cNvPr id="9" name="Down Arrow 8"/>
          <p:cNvSpPr/>
          <p:nvPr/>
        </p:nvSpPr>
        <p:spPr>
          <a:xfrm>
            <a:off x="6430001" y="5412007"/>
            <a:ext cx="288032" cy="4480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0" name="TextBox 9"/>
          <p:cNvSpPr txBox="1"/>
          <p:nvPr/>
        </p:nvSpPr>
        <p:spPr>
          <a:xfrm>
            <a:off x="4071914" y="4953942"/>
            <a:ext cx="547650" cy="923330"/>
          </a:xfrm>
          <a:prstGeom prst="rect">
            <a:avLst/>
          </a:prstGeom>
          <a:noFill/>
        </p:spPr>
        <p:txBody>
          <a:bodyPr wrap="none" rtlCol="0">
            <a:spAutoFit/>
          </a:bodyPr>
          <a:lstStyle/>
          <a:p>
            <a:r>
              <a:rPr lang="en-US" dirty="0">
                <a:solidFill>
                  <a:prstClr val="black"/>
                </a:solidFill>
              </a:rPr>
              <a:t>ESP</a:t>
            </a:r>
          </a:p>
          <a:p>
            <a:r>
              <a:rPr lang="en-US" dirty="0">
                <a:solidFill>
                  <a:prstClr val="black"/>
                </a:solidFill>
              </a:rPr>
              <a:t>EBP</a:t>
            </a:r>
          </a:p>
          <a:p>
            <a:r>
              <a:rPr lang="en-US" dirty="0">
                <a:solidFill>
                  <a:prstClr val="black"/>
                </a:solidFill>
              </a:rPr>
              <a:t>EIP</a:t>
            </a:r>
            <a:endParaRPr lang="en-GB" dirty="0">
              <a:solidFill>
                <a:prstClr val="black"/>
              </a:solidFill>
            </a:endParaRPr>
          </a:p>
        </p:txBody>
      </p:sp>
      <p:sp>
        <p:nvSpPr>
          <p:cNvPr id="13" name="Down Arrow 12"/>
          <p:cNvSpPr/>
          <p:nvPr/>
        </p:nvSpPr>
        <p:spPr>
          <a:xfrm>
            <a:off x="4201723" y="4323953"/>
            <a:ext cx="288032" cy="4480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14" name="TextBox 13"/>
          <p:cNvSpPr txBox="1"/>
          <p:nvPr/>
        </p:nvSpPr>
        <p:spPr>
          <a:xfrm>
            <a:off x="1725900" y="4453084"/>
            <a:ext cx="292068" cy="369332"/>
          </a:xfrm>
          <a:prstGeom prst="rect">
            <a:avLst/>
          </a:prstGeom>
          <a:noFill/>
        </p:spPr>
        <p:txBody>
          <a:bodyPr wrap="none" rtlCol="0">
            <a:spAutoFit/>
          </a:bodyPr>
          <a:lstStyle/>
          <a:p>
            <a:r>
              <a:rPr lang="en-US" dirty="0">
                <a:solidFill>
                  <a:prstClr val="black"/>
                </a:solidFill>
              </a:rPr>
              <a:t>?</a:t>
            </a:r>
            <a:endParaRPr lang="en-GB" dirty="0">
              <a:solidFill>
                <a:prstClr val="black"/>
              </a:solidFill>
            </a:endParaRPr>
          </a:p>
        </p:txBody>
      </p:sp>
      <p:sp>
        <p:nvSpPr>
          <p:cNvPr id="15" name="TextBox 14"/>
          <p:cNvSpPr txBox="1"/>
          <p:nvPr/>
        </p:nvSpPr>
        <p:spPr>
          <a:xfrm>
            <a:off x="4619564" y="4367291"/>
            <a:ext cx="292068" cy="369332"/>
          </a:xfrm>
          <a:prstGeom prst="rect">
            <a:avLst/>
          </a:prstGeom>
          <a:noFill/>
        </p:spPr>
        <p:txBody>
          <a:bodyPr wrap="none" rtlCol="0">
            <a:spAutoFit/>
          </a:bodyPr>
          <a:lstStyle/>
          <a:p>
            <a:r>
              <a:rPr lang="en-US" dirty="0">
                <a:solidFill>
                  <a:prstClr val="black"/>
                </a:solidFill>
              </a:rPr>
              <a:t>?</a:t>
            </a:r>
            <a:endParaRPr lang="en-GB" dirty="0">
              <a:solidFill>
                <a:prstClr val="black"/>
              </a:solidFill>
            </a:endParaRPr>
          </a:p>
        </p:txBody>
      </p:sp>
      <p:sp>
        <p:nvSpPr>
          <p:cNvPr id="16" name="TextBox 15"/>
          <p:cNvSpPr txBox="1"/>
          <p:nvPr/>
        </p:nvSpPr>
        <p:spPr>
          <a:xfrm>
            <a:off x="6701808" y="5487144"/>
            <a:ext cx="292068" cy="369332"/>
          </a:xfrm>
          <a:prstGeom prst="rect">
            <a:avLst/>
          </a:prstGeom>
          <a:noFill/>
        </p:spPr>
        <p:txBody>
          <a:bodyPr wrap="none" rtlCol="0">
            <a:spAutoFit/>
          </a:bodyPr>
          <a:lstStyle/>
          <a:p>
            <a:r>
              <a:rPr lang="en-US" dirty="0">
                <a:solidFill>
                  <a:prstClr val="black"/>
                </a:solidFill>
              </a:rPr>
              <a:t>?</a:t>
            </a:r>
            <a:endParaRPr lang="en-GB" dirty="0">
              <a:solidFill>
                <a:prstClr val="black"/>
              </a:solidFill>
            </a:endParaRPr>
          </a:p>
        </p:txBody>
      </p:sp>
    </p:spTree>
    <p:extLst>
      <p:ext uri="{BB962C8B-B14F-4D97-AF65-F5344CB8AC3E}">
        <p14:creationId xmlns:p14="http://schemas.microsoft.com/office/powerpoint/2010/main" val="16011513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X86 Disassembly</a:t>
            </a:r>
          </a:p>
        </p:txBody>
      </p:sp>
      <p:sp>
        <p:nvSpPr>
          <p:cNvPr id="3" name="Content Placeholder 2"/>
          <p:cNvSpPr>
            <a:spLocks noGrp="1"/>
          </p:cNvSpPr>
          <p:nvPr>
            <p:ph idx="1"/>
          </p:nvPr>
        </p:nvSpPr>
        <p:spPr/>
        <p:txBody>
          <a:bodyPr/>
          <a:lstStyle/>
          <a:p>
            <a:r>
              <a:rPr lang="en-GB" dirty="0" smtClean="0"/>
              <a:t>C Main Method and Offsets</a:t>
            </a:r>
            <a:endParaRPr lang="en-GB" dirty="0"/>
          </a:p>
        </p:txBody>
      </p:sp>
      <p:sp>
        <p:nvSpPr>
          <p:cNvPr id="4" name="TextBox 3"/>
          <p:cNvSpPr txBox="1"/>
          <p:nvPr/>
        </p:nvSpPr>
        <p:spPr>
          <a:xfrm>
            <a:off x="496949" y="1865618"/>
            <a:ext cx="2869696" cy="461665"/>
          </a:xfrm>
          <a:prstGeom prst="rect">
            <a:avLst/>
          </a:prstGeom>
          <a:noFill/>
        </p:spPr>
        <p:txBody>
          <a:bodyPr wrap="none" rtlCol="0">
            <a:spAutoFit/>
          </a:bodyPr>
          <a:lstStyle/>
          <a:p>
            <a:r>
              <a:rPr lang="en-GB" sz="2400" dirty="0">
                <a:solidFill>
                  <a:prstClr val="black"/>
                </a:solidFill>
                <a:latin typeface="Agency FB" panose="020B0503020202020204" pitchFamily="34" charset="0"/>
              </a:rPr>
              <a:t>program.exe -r filename.txt</a:t>
            </a:r>
          </a:p>
        </p:txBody>
      </p:sp>
      <p:sp>
        <p:nvSpPr>
          <p:cNvPr id="5" name="TextBox 4"/>
          <p:cNvSpPr txBox="1"/>
          <p:nvPr/>
        </p:nvSpPr>
        <p:spPr>
          <a:xfrm>
            <a:off x="467544" y="2780928"/>
            <a:ext cx="3888432" cy="2862322"/>
          </a:xfrm>
          <a:prstGeom prst="rect">
            <a:avLst/>
          </a:prstGeom>
          <a:noFill/>
          <a:ln>
            <a:solidFill>
              <a:schemeClr val="accent1"/>
            </a:solidFill>
          </a:ln>
        </p:spPr>
        <p:txBody>
          <a:bodyPr wrap="square" rtlCol="0">
            <a:spAutoFit/>
          </a:bodyPr>
          <a:lstStyle/>
          <a:p>
            <a:r>
              <a:rPr lang="en-GB" dirty="0" err="1">
                <a:solidFill>
                  <a:prstClr val="black"/>
                </a:solidFill>
              </a:rPr>
              <a:t>int</a:t>
            </a:r>
            <a:r>
              <a:rPr lang="en-GB" dirty="0">
                <a:solidFill>
                  <a:prstClr val="black"/>
                </a:solidFill>
              </a:rPr>
              <a:t> main(</a:t>
            </a:r>
            <a:r>
              <a:rPr lang="en-GB" dirty="0" err="1">
                <a:solidFill>
                  <a:prstClr val="black"/>
                </a:solidFill>
              </a:rPr>
              <a:t>int</a:t>
            </a:r>
            <a:r>
              <a:rPr lang="en-GB" dirty="0">
                <a:solidFill>
                  <a:prstClr val="black"/>
                </a:solidFill>
              </a:rPr>
              <a:t> </a:t>
            </a:r>
            <a:r>
              <a:rPr lang="en-GB" dirty="0" err="1">
                <a:solidFill>
                  <a:prstClr val="black"/>
                </a:solidFill>
              </a:rPr>
              <a:t>argc</a:t>
            </a:r>
            <a:r>
              <a:rPr lang="en-GB" dirty="0">
                <a:solidFill>
                  <a:prstClr val="black"/>
                </a:solidFill>
              </a:rPr>
              <a:t>, char* </a:t>
            </a:r>
            <a:r>
              <a:rPr lang="en-GB" dirty="0" err="1">
                <a:solidFill>
                  <a:prstClr val="black"/>
                </a:solidFill>
              </a:rPr>
              <a:t>argv</a:t>
            </a:r>
            <a:r>
              <a:rPr lang="en-GB" dirty="0">
                <a:solidFill>
                  <a:prstClr val="black"/>
                </a:solidFill>
              </a:rPr>
              <a:t>[])</a:t>
            </a:r>
          </a:p>
          <a:p>
            <a:r>
              <a:rPr lang="en-GB" dirty="0">
                <a:solidFill>
                  <a:prstClr val="black"/>
                </a:solidFill>
              </a:rPr>
              <a:t>{</a:t>
            </a:r>
          </a:p>
          <a:p>
            <a:pPr lvl="1"/>
            <a:r>
              <a:rPr lang="en-GB" dirty="0">
                <a:solidFill>
                  <a:prstClr val="black"/>
                </a:solidFill>
              </a:rPr>
              <a:t>if (</a:t>
            </a:r>
            <a:r>
              <a:rPr lang="en-GB" dirty="0" err="1">
                <a:solidFill>
                  <a:prstClr val="black"/>
                </a:solidFill>
              </a:rPr>
              <a:t>argc</a:t>
            </a:r>
            <a:r>
              <a:rPr lang="en-GB" dirty="0">
                <a:solidFill>
                  <a:prstClr val="black"/>
                </a:solidFill>
              </a:rPr>
              <a:t> != 3) {return 0;}</a:t>
            </a:r>
          </a:p>
          <a:p>
            <a:pPr lvl="1"/>
            <a:r>
              <a:rPr lang="en-GB" dirty="0">
                <a:solidFill>
                  <a:prstClr val="black"/>
                </a:solidFill>
              </a:rPr>
              <a:t>if (</a:t>
            </a:r>
            <a:r>
              <a:rPr lang="en-GB" dirty="0" err="1">
                <a:solidFill>
                  <a:prstClr val="black"/>
                </a:solidFill>
              </a:rPr>
              <a:t>strncmp</a:t>
            </a:r>
            <a:r>
              <a:rPr lang="en-GB" dirty="0">
                <a:solidFill>
                  <a:prstClr val="black"/>
                </a:solidFill>
              </a:rPr>
              <a:t>(</a:t>
            </a:r>
            <a:r>
              <a:rPr lang="en-GB" dirty="0" err="1">
                <a:solidFill>
                  <a:prstClr val="black"/>
                </a:solidFill>
              </a:rPr>
              <a:t>argv</a:t>
            </a:r>
            <a:r>
              <a:rPr lang="en-GB" dirty="0">
                <a:solidFill>
                  <a:prstClr val="black"/>
                </a:solidFill>
              </a:rPr>
              <a:t>[1], "-r", 2) == 0){</a:t>
            </a:r>
          </a:p>
          <a:p>
            <a:pPr lvl="1"/>
            <a:endParaRPr lang="en-GB" dirty="0">
              <a:solidFill>
                <a:prstClr val="black"/>
              </a:solidFill>
            </a:endParaRPr>
          </a:p>
          <a:p>
            <a:pPr lvl="1"/>
            <a:r>
              <a:rPr lang="en-GB" dirty="0" err="1">
                <a:solidFill>
                  <a:prstClr val="black"/>
                </a:solidFill>
              </a:rPr>
              <a:t>DeleteFileA</a:t>
            </a:r>
            <a:r>
              <a:rPr lang="en-GB" dirty="0">
                <a:solidFill>
                  <a:prstClr val="black"/>
                </a:solidFill>
              </a:rPr>
              <a:t>(</a:t>
            </a:r>
            <a:r>
              <a:rPr lang="en-GB" dirty="0" err="1">
                <a:solidFill>
                  <a:prstClr val="black"/>
                </a:solidFill>
              </a:rPr>
              <a:t>argv</a:t>
            </a:r>
            <a:r>
              <a:rPr lang="en-GB" dirty="0">
                <a:solidFill>
                  <a:prstClr val="black"/>
                </a:solidFill>
              </a:rPr>
              <a:t>[2]);</a:t>
            </a:r>
          </a:p>
          <a:p>
            <a:pPr lvl="1"/>
            <a:endParaRPr lang="en-GB" dirty="0">
              <a:solidFill>
                <a:prstClr val="black"/>
              </a:solidFill>
            </a:endParaRPr>
          </a:p>
          <a:p>
            <a:r>
              <a:rPr lang="en-GB" dirty="0">
                <a:solidFill>
                  <a:prstClr val="black"/>
                </a:solidFill>
              </a:rPr>
              <a:t>}</a:t>
            </a:r>
          </a:p>
          <a:p>
            <a:r>
              <a:rPr lang="en-GB" dirty="0">
                <a:solidFill>
                  <a:prstClr val="black"/>
                </a:solidFill>
              </a:rPr>
              <a:t>return 0;</a:t>
            </a:r>
          </a:p>
          <a:p>
            <a:r>
              <a:rPr lang="en-GB" dirty="0">
                <a:solidFill>
                  <a:prstClr val="black"/>
                </a:solidFill>
              </a:rPr>
              <a:t>}</a:t>
            </a:r>
          </a:p>
        </p:txBody>
      </p:sp>
      <p:sp>
        <p:nvSpPr>
          <p:cNvPr id="6" name="TextBox 5"/>
          <p:cNvSpPr txBox="1"/>
          <p:nvPr/>
        </p:nvSpPr>
        <p:spPr>
          <a:xfrm>
            <a:off x="4716016" y="1420264"/>
            <a:ext cx="4266498" cy="5078313"/>
          </a:xfrm>
          <a:prstGeom prst="rect">
            <a:avLst/>
          </a:prstGeom>
          <a:noFill/>
          <a:ln>
            <a:solidFill>
              <a:schemeClr val="accent1"/>
            </a:solidFill>
          </a:ln>
        </p:spPr>
        <p:txBody>
          <a:bodyPr wrap="square" rtlCol="0">
            <a:spAutoFit/>
          </a:bodyPr>
          <a:lstStyle/>
          <a:p>
            <a:r>
              <a:rPr lang="en-GB" dirty="0">
                <a:solidFill>
                  <a:prstClr val="black"/>
                </a:solidFill>
              </a:rPr>
              <a:t>004113CE </a:t>
            </a:r>
            <a:r>
              <a:rPr lang="en-GB" b="1" dirty="0" err="1">
                <a:solidFill>
                  <a:prstClr val="black"/>
                </a:solidFill>
              </a:rPr>
              <a:t>cmp</a:t>
            </a:r>
            <a:r>
              <a:rPr lang="en-GB" dirty="0">
                <a:solidFill>
                  <a:prstClr val="black"/>
                </a:solidFill>
              </a:rPr>
              <a:t> 	[</a:t>
            </a:r>
            <a:r>
              <a:rPr lang="en-GB" dirty="0" err="1">
                <a:solidFill>
                  <a:prstClr val="black"/>
                </a:solidFill>
              </a:rPr>
              <a:t>ebp+</a:t>
            </a:r>
            <a:r>
              <a:rPr lang="en-GB" b="1" dirty="0" err="1">
                <a:solidFill>
                  <a:prstClr val="black"/>
                </a:solidFill>
              </a:rPr>
              <a:t>argc</a:t>
            </a:r>
            <a:r>
              <a:rPr lang="en-GB" dirty="0">
                <a:solidFill>
                  <a:prstClr val="black"/>
                </a:solidFill>
              </a:rPr>
              <a:t>], 3 </a:t>
            </a:r>
          </a:p>
          <a:p>
            <a:r>
              <a:rPr lang="en-GB" dirty="0">
                <a:solidFill>
                  <a:prstClr val="black"/>
                </a:solidFill>
              </a:rPr>
              <a:t>004113D2 </a:t>
            </a:r>
            <a:r>
              <a:rPr lang="en-GB" dirty="0" err="1">
                <a:solidFill>
                  <a:prstClr val="black"/>
                </a:solidFill>
              </a:rPr>
              <a:t>jz</a:t>
            </a:r>
            <a:r>
              <a:rPr lang="en-GB" dirty="0">
                <a:solidFill>
                  <a:prstClr val="black"/>
                </a:solidFill>
              </a:rPr>
              <a:t> 	</a:t>
            </a:r>
            <a:r>
              <a:rPr lang="en-GB" b="1" dirty="0">
                <a:solidFill>
                  <a:prstClr val="black"/>
                </a:solidFill>
              </a:rPr>
              <a:t>short</a:t>
            </a:r>
            <a:r>
              <a:rPr lang="en-GB" dirty="0">
                <a:solidFill>
                  <a:prstClr val="black"/>
                </a:solidFill>
              </a:rPr>
              <a:t> </a:t>
            </a:r>
            <a:r>
              <a:rPr lang="en-GB" b="1" dirty="0">
                <a:solidFill>
                  <a:prstClr val="black"/>
                </a:solidFill>
              </a:rPr>
              <a:t>loc_4113D8</a:t>
            </a:r>
          </a:p>
          <a:p>
            <a:r>
              <a:rPr lang="en-GB" dirty="0">
                <a:solidFill>
                  <a:prstClr val="black"/>
                </a:solidFill>
              </a:rPr>
              <a:t>004113D4 </a:t>
            </a:r>
            <a:r>
              <a:rPr lang="en-GB" dirty="0" err="1">
                <a:solidFill>
                  <a:prstClr val="black"/>
                </a:solidFill>
              </a:rPr>
              <a:t>xor</a:t>
            </a:r>
            <a:r>
              <a:rPr lang="en-GB" dirty="0">
                <a:solidFill>
                  <a:prstClr val="black"/>
                </a:solidFill>
              </a:rPr>
              <a:t> 	</a:t>
            </a:r>
            <a:r>
              <a:rPr lang="en-GB" dirty="0" err="1">
                <a:solidFill>
                  <a:prstClr val="black"/>
                </a:solidFill>
              </a:rPr>
              <a:t>eax</a:t>
            </a:r>
            <a:r>
              <a:rPr lang="en-GB" dirty="0">
                <a:solidFill>
                  <a:prstClr val="black"/>
                </a:solidFill>
              </a:rPr>
              <a:t>, </a:t>
            </a:r>
            <a:r>
              <a:rPr lang="en-GB" dirty="0" err="1">
                <a:solidFill>
                  <a:prstClr val="black"/>
                </a:solidFill>
              </a:rPr>
              <a:t>eax</a:t>
            </a:r>
            <a:endParaRPr lang="en-GB" dirty="0">
              <a:solidFill>
                <a:prstClr val="black"/>
              </a:solidFill>
            </a:endParaRPr>
          </a:p>
          <a:p>
            <a:r>
              <a:rPr lang="en-GB" dirty="0">
                <a:solidFill>
                  <a:prstClr val="black"/>
                </a:solidFill>
              </a:rPr>
              <a:t>004113D6 </a:t>
            </a:r>
            <a:r>
              <a:rPr lang="en-GB" dirty="0" err="1">
                <a:solidFill>
                  <a:srgbClr val="FF0000"/>
                </a:solidFill>
              </a:rPr>
              <a:t>jmp</a:t>
            </a:r>
            <a:r>
              <a:rPr lang="en-GB" dirty="0">
                <a:solidFill>
                  <a:srgbClr val="FF0000"/>
                </a:solidFill>
              </a:rPr>
              <a:t> </a:t>
            </a:r>
            <a:r>
              <a:rPr lang="en-GB" dirty="0">
                <a:solidFill>
                  <a:prstClr val="black"/>
                </a:solidFill>
              </a:rPr>
              <a:t>	short loc_411414</a:t>
            </a:r>
          </a:p>
          <a:p>
            <a:r>
              <a:rPr lang="en-GB" b="1" dirty="0">
                <a:solidFill>
                  <a:prstClr val="black"/>
                </a:solidFill>
              </a:rPr>
              <a:t>004113D8</a:t>
            </a:r>
            <a:r>
              <a:rPr lang="en-GB" dirty="0">
                <a:solidFill>
                  <a:prstClr val="black"/>
                </a:solidFill>
              </a:rPr>
              <a:t> </a:t>
            </a:r>
            <a:r>
              <a:rPr lang="en-GB" dirty="0" err="1">
                <a:solidFill>
                  <a:prstClr val="black"/>
                </a:solidFill>
              </a:rPr>
              <a:t>mov</a:t>
            </a:r>
            <a:r>
              <a:rPr lang="en-GB" dirty="0">
                <a:solidFill>
                  <a:prstClr val="black"/>
                </a:solidFill>
              </a:rPr>
              <a:t> 	</a:t>
            </a:r>
            <a:r>
              <a:rPr lang="en-GB" dirty="0" err="1">
                <a:solidFill>
                  <a:prstClr val="black"/>
                </a:solidFill>
              </a:rPr>
              <a:t>esi</a:t>
            </a:r>
            <a:r>
              <a:rPr lang="en-GB" dirty="0">
                <a:solidFill>
                  <a:prstClr val="black"/>
                </a:solidFill>
              </a:rPr>
              <a:t>, </a:t>
            </a:r>
            <a:r>
              <a:rPr lang="en-GB" dirty="0" err="1">
                <a:solidFill>
                  <a:prstClr val="black"/>
                </a:solidFill>
              </a:rPr>
              <a:t>esp</a:t>
            </a:r>
            <a:r>
              <a:rPr lang="en-GB" dirty="0">
                <a:solidFill>
                  <a:prstClr val="black"/>
                </a:solidFill>
              </a:rPr>
              <a:t>; </a:t>
            </a:r>
            <a:r>
              <a:rPr lang="en-GB" dirty="0">
                <a:solidFill>
                  <a:srgbClr val="FF0000"/>
                </a:solidFill>
              </a:rPr>
              <a:t>save ESP value</a:t>
            </a:r>
          </a:p>
          <a:p>
            <a:r>
              <a:rPr lang="en-GB" dirty="0">
                <a:solidFill>
                  <a:prstClr val="black"/>
                </a:solidFill>
              </a:rPr>
              <a:t>004113DA </a:t>
            </a:r>
            <a:r>
              <a:rPr lang="en-GB" dirty="0">
                <a:solidFill>
                  <a:prstClr val="black"/>
                </a:solidFill>
                <a:effectLst>
                  <a:outerShdw blurRad="38100" dist="38100" dir="2700000" algn="tl">
                    <a:srgbClr val="000000">
                      <a:alpha val="43137"/>
                    </a:srgbClr>
                  </a:outerShdw>
                </a:effectLst>
              </a:rPr>
              <a:t>push</a:t>
            </a:r>
            <a:r>
              <a:rPr lang="en-GB" dirty="0">
                <a:solidFill>
                  <a:prstClr val="black"/>
                </a:solidFill>
              </a:rPr>
              <a:t> 	2 ; 	</a:t>
            </a:r>
            <a:r>
              <a:rPr lang="en-GB" dirty="0" err="1">
                <a:solidFill>
                  <a:srgbClr val="FF0000"/>
                </a:solidFill>
              </a:rPr>
              <a:t>MaxCount</a:t>
            </a:r>
            <a:endParaRPr lang="en-GB" dirty="0">
              <a:solidFill>
                <a:srgbClr val="FF0000"/>
              </a:solidFill>
            </a:endParaRPr>
          </a:p>
          <a:p>
            <a:r>
              <a:rPr lang="en-GB" dirty="0">
                <a:solidFill>
                  <a:prstClr val="black"/>
                </a:solidFill>
              </a:rPr>
              <a:t>004113DC push 	offset Str2 ; 	</a:t>
            </a:r>
            <a:r>
              <a:rPr lang="en-GB" dirty="0">
                <a:solidFill>
                  <a:srgbClr val="FF0000"/>
                </a:solidFill>
              </a:rPr>
              <a:t>"-r"</a:t>
            </a:r>
          </a:p>
          <a:p>
            <a:r>
              <a:rPr lang="en-GB" dirty="0">
                <a:solidFill>
                  <a:prstClr val="black"/>
                </a:solidFill>
              </a:rPr>
              <a:t>004113E1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dirty="0" err="1">
                <a:solidFill>
                  <a:prstClr val="black"/>
                </a:solidFill>
              </a:rPr>
              <a:t>ebp+</a:t>
            </a:r>
            <a:r>
              <a:rPr lang="en-GB" b="1" dirty="0" err="1">
                <a:solidFill>
                  <a:prstClr val="black"/>
                </a:solidFill>
              </a:rPr>
              <a:t>argv</a:t>
            </a:r>
            <a:r>
              <a:rPr lang="en-GB" dirty="0">
                <a:solidFill>
                  <a:prstClr val="black"/>
                </a:solidFill>
              </a:rPr>
              <a:t>]</a:t>
            </a:r>
          </a:p>
          <a:p>
            <a:r>
              <a:rPr lang="en-GB" dirty="0">
                <a:solidFill>
                  <a:prstClr val="black"/>
                </a:solidFill>
              </a:rPr>
              <a:t>004113E4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[eax+</a:t>
            </a:r>
            <a:r>
              <a:rPr lang="en-GB" b="1" dirty="0">
                <a:solidFill>
                  <a:prstClr val="black"/>
                </a:solidFill>
              </a:rPr>
              <a:t>4</a:t>
            </a:r>
            <a:r>
              <a:rPr lang="en-GB" dirty="0">
                <a:solidFill>
                  <a:prstClr val="black"/>
                </a:solidFill>
              </a:rPr>
              <a:t>]; </a:t>
            </a:r>
            <a:r>
              <a:rPr lang="en-GB" dirty="0" err="1">
                <a:solidFill>
                  <a:srgbClr val="FF0000"/>
                </a:solidFill>
              </a:rPr>
              <a:t>agrv</a:t>
            </a:r>
            <a:r>
              <a:rPr lang="en-GB" dirty="0">
                <a:solidFill>
                  <a:srgbClr val="FF0000"/>
                </a:solidFill>
              </a:rPr>
              <a:t>[1]</a:t>
            </a:r>
          </a:p>
          <a:p>
            <a:r>
              <a:rPr lang="en-GB" dirty="0">
                <a:solidFill>
                  <a:prstClr val="black"/>
                </a:solidFill>
              </a:rPr>
              <a:t>004113E7 </a:t>
            </a:r>
            <a:r>
              <a:rPr lang="en-GB" dirty="0">
                <a:solidFill>
                  <a:prstClr val="black"/>
                </a:solidFill>
                <a:effectLst>
                  <a:outerShdw blurRad="38100" dist="38100" dir="2700000" algn="tl">
                    <a:srgbClr val="000000">
                      <a:alpha val="43137"/>
                    </a:srgbClr>
                  </a:outerShdw>
                </a:effectLst>
              </a:rPr>
              <a:t>push</a:t>
            </a:r>
            <a:r>
              <a:rPr lang="en-GB" dirty="0">
                <a:solidFill>
                  <a:prstClr val="black"/>
                </a:solidFill>
              </a:rPr>
              <a:t> 	</a:t>
            </a:r>
            <a:r>
              <a:rPr lang="en-GB" dirty="0" err="1">
                <a:solidFill>
                  <a:prstClr val="black"/>
                </a:solidFill>
              </a:rPr>
              <a:t>ecx</a:t>
            </a:r>
            <a:r>
              <a:rPr lang="en-GB" dirty="0">
                <a:solidFill>
                  <a:prstClr val="black"/>
                </a:solidFill>
              </a:rPr>
              <a:t> ; 	</a:t>
            </a:r>
            <a:r>
              <a:rPr lang="en-GB" dirty="0">
                <a:solidFill>
                  <a:srgbClr val="FF0000"/>
                </a:solidFill>
              </a:rPr>
              <a:t>Str1</a:t>
            </a:r>
          </a:p>
          <a:p>
            <a:r>
              <a:rPr lang="en-GB" dirty="0">
                <a:solidFill>
                  <a:prstClr val="black"/>
                </a:solidFill>
              </a:rPr>
              <a:t>004113E8 </a:t>
            </a:r>
            <a:r>
              <a:rPr lang="en-GB" dirty="0">
                <a:solidFill>
                  <a:prstClr val="black"/>
                </a:solidFill>
                <a:effectLst>
                  <a:outerShdw blurRad="38100" dist="38100" dir="2700000" algn="tl">
                    <a:srgbClr val="000000">
                      <a:alpha val="43137"/>
                    </a:srgbClr>
                  </a:outerShdw>
                </a:effectLst>
              </a:rPr>
              <a:t>call</a:t>
            </a:r>
            <a:r>
              <a:rPr lang="en-GB" dirty="0">
                <a:solidFill>
                  <a:prstClr val="black"/>
                </a:solidFill>
              </a:rPr>
              <a:t>	 </a:t>
            </a:r>
            <a:r>
              <a:rPr lang="en-GB" dirty="0" err="1">
                <a:solidFill>
                  <a:prstClr val="black"/>
                </a:solidFill>
                <a:effectLst>
                  <a:outerShdw blurRad="38100" dist="38100" dir="2700000" algn="tl">
                    <a:srgbClr val="000000">
                      <a:alpha val="43137"/>
                    </a:srgbClr>
                  </a:outerShdw>
                </a:effectLst>
              </a:rPr>
              <a:t>strncmp</a:t>
            </a:r>
            <a:r>
              <a:rPr lang="en-GB" dirty="0">
                <a:solidFill>
                  <a:prstClr val="black"/>
                </a:solidFill>
                <a:effectLst>
                  <a:outerShdw blurRad="38100" dist="38100" dir="2700000" algn="tl">
                    <a:srgbClr val="000000">
                      <a:alpha val="43137"/>
                    </a:srgbClr>
                  </a:outerShdw>
                </a:effectLst>
              </a:rPr>
              <a:t> </a:t>
            </a:r>
            <a:r>
              <a:rPr lang="en-GB" dirty="0">
                <a:solidFill>
                  <a:prstClr val="black"/>
                </a:solidFill>
              </a:rPr>
              <a:t>; </a:t>
            </a:r>
            <a:r>
              <a:rPr lang="en-GB" dirty="0">
                <a:solidFill>
                  <a:srgbClr val="FF0000"/>
                </a:solidFill>
              </a:rPr>
              <a:t>return to EAX</a:t>
            </a:r>
          </a:p>
          <a:p>
            <a:r>
              <a:rPr lang="en-GB" dirty="0">
                <a:solidFill>
                  <a:prstClr val="black"/>
                </a:solidFill>
              </a:rPr>
              <a:t>004113F8 test	 </a:t>
            </a:r>
            <a:r>
              <a:rPr lang="en-GB" dirty="0" err="1">
                <a:solidFill>
                  <a:prstClr val="black"/>
                </a:solidFill>
              </a:rPr>
              <a:t>eax</a:t>
            </a:r>
            <a:r>
              <a:rPr lang="en-GB" dirty="0">
                <a:solidFill>
                  <a:prstClr val="black"/>
                </a:solidFill>
              </a:rPr>
              <a:t>, </a:t>
            </a:r>
            <a:r>
              <a:rPr lang="en-GB" dirty="0" err="1">
                <a:solidFill>
                  <a:prstClr val="black"/>
                </a:solidFill>
              </a:rPr>
              <a:t>eax</a:t>
            </a:r>
            <a:endParaRPr lang="en-GB" dirty="0">
              <a:solidFill>
                <a:prstClr val="black"/>
              </a:solidFill>
            </a:endParaRPr>
          </a:p>
          <a:p>
            <a:r>
              <a:rPr lang="en-GB" dirty="0">
                <a:solidFill>
                  <a:prstClr val="black"/>
                </a:solidFill>
              </a:rPr>
              <a:t>004113FA </a:t>
            </a:r>
            <a:r>
              <a:rPr lang="en-GB" dirty="0" err="1">
                <a:solidFill>
                  <a:srgbClr val="FF0000"/>
                </a:solidFill>
              </a:rPr>
              <a:t>jnz</a:t>
            </a:r>
            <a:r>
              <a:rPr lang="en-GB" dirty="0">
                <a:solidFill>
                  <a:srgbClr val="FF0000"/>
                </a:solidFill>
              </a:rPr>
              <a:t> </a:t>
            </a:r>
            <a:r>
              <a:rPr lang="en-GB" dirty="0">
                <a:solidFill>
                  <a:prstClr val="black"/>
                </a:solidFill>
              </a:rPr>
              <a:t>	short loc_411412; 004113FC </a:t>
            </a:r>
            <a:r>
              <a:rPr lang="en-GB" dirty="0" err="1">
                <a:solidFill>
                  <a:prstClr val="black"/>
                </a:solidFill>
              </a:rPr>
              <a:t>mov</a:t>
            </a:r>
            <a:r>
              <a:rPr lang="en-GB" dirty="0">
                <a:solidFill>
                  <a:prstClr val="black"/>
                </a:solidFill>
              </a:rPr>
              <a:t> 	</a:t>
            </a:r>
            <a:r>
              <a:rPr lang="en-GB" dirty="0" err="1">
                <a:solidFill>
                  <a:prstClr val="black"/>
                </a:solidFill>
              </a:rPr>
              <a:t>esi</a:t>
            </a:r>
            <a:r>
              <a:rPr lang="en-GB" dirty="0">
                <a:solidFill>
                  <a:prstClr val="black"/>
                </a:solidFill>
              </a:rPr>
              <a:t>, </a:t>
            </a:r>
            <a:r>
              <a:rPr lang="en-GB" dirty="0" err="1">
                <a:solidFill>
                  <a:prstClr val="black"/>
                </a:solidFill>
              </a:rPr>
              <a:t>esp</a:t>
            </a:r>
            <a:r>
              <a:rPr lang="en-GB" dirty="0">
                <a:solidFill>
                  <a:prstClr val="black"/>
                </a:solidFill>
              </a:rPr>
              <a:t> </a:t>
            </a:r>
          </a:p>
          <a:p>
            <a:r>
              <a:rPr lang="en-GB" dirty="0">
                <a:solidFill>
                  <a:prstClr val="black"/>
                </a:solidFill>
              </a:rPr>
              <a:t>004113FE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dirty="0" err="1">
                <a:solidFill>
                  <a:prstClr val="black"/>
                </a:solidFill>
              </a:rPr>
              <a:t>ebp+</a:t>
            </a:r>
            <a:r>
              <a:rPr lang="en-GB" b="1" dirty="0" err="1">
                <a:solidFill>
                  <a:prstClr val="black"/>
                </a:solidFill>
              </a:rPr>
              <a:t>argv</a:t>
            </a:r>
            <a:r>
              <a:rPr lang="en-GB" dirty="0">
                <a:solidFill>
                  <a:prstClr val="black"/>
                </a:solidFill>
              </a:rPr>
              <a:t>]</a:t>
            </a:r>
          </a:p>
          <a:p>
            <a:r>
              <a:rPr lang="en-GB" dirty="0">
                <a:solidFill>
                  <a:prstClr val="black"/>
                </a:solidFill>
              </a:rPr>
              <a:t>00411401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[eax+</a:t>
            </a:r>
            <a:r>
              <a:rPr lang="en-GB" b="1" dirty="0">
                <a:solidFill>
                  <a:prstClr val="black"/>
                </a:solidFill>
              </a:rPr>
              <a:t>8</a:t>
            </a:r>
            <a:r>
              <a:rPr lang="en-GB" dirty="0">
                <a:solidFill>
                  <a:prstClr val="black"/>
                </a:solidFill>
              </a:rPr>
              <a:t>]</a:t>
            </a:r>
          </a:p>
          <a:p>
            <a:r>
              <a:rPr lang="en-GB" dirty="0">
                <a:solidFill>
                  <a:prstClr val="black"/>
                </a:solidFill>
              </a:rPr>
              <a:t>00411404 </a:t>
            </a:r>
            <a:r>
              <a:rPr lang="en-GB" dirty="0">
                <a:solidFill>
                  <a:prstClr val="black"/>
                </a:solidFill>
                <a:effectLst>
                  <a:outerShdw blurRad="38100" dist="38100" dir="2700000" algn="tl">
                    <a:srgbClr val="000000">
                      <a:alpha val="43137"/>
                    </a:srgbClr>
                  </a:outerShdw>
                </a:effectLst>
              </a:rPr>
              <a:t>push</a:t>
            </a:r>
            <a:r>
              <a:rPr lang="en-GB" dirty="0">
                <a:solidFill>
                  <a:prstClr val="black"/>
                </a:solidFill>
              </a:rPr>
              <a:t> 	</a:t>
            </a:r>
            <a:r>
              <a:rPr lang="en-GB" dirty="0" err="1">
                <a:solidFill>
                  <a:prstClr val="black"/>
                </a:solidFill>
              </a:rPr>
              <a:t>ecx</a:t>
            </a:r>
            <a:r>
              <a:rPr lang="en-GB" dirty="0">
                <a:solidFill>
                  <a:prstClr val="black"/>
                </a:solidFill>
              </a:rPr>
              <a:t> ; 	</a:t>
            </a:r>
            <a:r>
              <a:rPr lang="en-GB" dirty="0" err="1">
                <a:solidFill>
                  <a:srgbClr val="FF0000"/>
                </a:solidFill>
              </a:rPr>
              <a:t>lpFileName</a:t>
            </a:r>
            <a:endParaRPr lang="en-GB" dirty="0">
              <a:solidFill>
                <a:srgbClr val="FF0000"/>
              </a:solidFill>
            </a:endParaRPr>
          </a:p>
          <a:p>
            <a:r>
              <a:rPr lang="en-GB" dirty="0">
                <a:solidFill>
                  <a:prstClr val="black"/>
                </a:solidFill>
              </a:rPr>
              <a:t>00411405 </a:t>
            </a:r>
            <a:r>
              <a:rPr lang="en-GB" dirty="0">
                <a:solidFill>
                  <a:prstClr val="black"/>
                </a:solidFill>
                <a:effectLst>
                  <a:outerShdw blurRad="38100" dist="38100" dir="2700000" algn="tl">
                    <a:srgbClr val="000000">
                      <a:alpha val="43137"/>
                    </a:srgbClr>
                  </a:outerShdw>
                </a:effectLst>
              </a:rPr>
              <a:t>call</a:t>
            </a:r>
            <a:r>
              <a:rPr lang="en-GB" dirty="0">
                <a:solidFill>
                  <a:prstClr val="black"/>
                </a:solidFill>
              </a:rPr>
              <a:t> 	</a:t>
            </a:r>
            <a:r>
              <a:rPr lang="en-GB" dirty="0" err="1">
                <a:solidFill>
                  <a:prstClr val="black"/>
                </a:solidFill>
                <a:effectLst>
                  <a:outerShdw blurRad="38100" dist="38100" dir="2700000" algn="tl">
                    <a:srgbClr val="000000">
                      <a:alpha val="43137"/>
                    </a:srgbClr>
                  </a:outerShdw>
                </a:effectLst>
              </a:rPr>
              <a:t>DeleteFileA</a:t>
            </a:r>
            <a:endParaRPr lang="en-GB" dirty="0">
              <a:solidFill>
                <a:prstClr val="black"/>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558776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Viết 1 </a:t>
            </a:r>
            <a:r>
              <a:rPr lang="en-US" dirty="0" err="1" smtClean="0"/>
              <a:t>đoạn</a:t>
            </a:r>
            <a:r>
              <a:rPr lang="en-US" dirty="0" smtClean="0"/>
              <a:t> Ct </a:t>
            </a:r>
            <a:r>
              <a:rPr lang="en-US" dirty="0" err="1" smtClean="0"/>
              <a:t>như</a:t>
            </a:r>
            <a:r>
              <a:rPr lang="en-US" dirty="0" smtClean="0"/>
              <a:t> </a:t>
            </a:r>
            <a:r>
              <a:rPr lang="en-US" dirty="0" err="1" smtClean="0"/>
              <a:t>ví</a:t>
            </a:r>
            <a:r>
              <a:rPr lang="en-US" dirty="0" smtClean="0"/>
              <a:t> </a:t>
            </a:r>
            <a:r>
              <a:rPr lang="en-US" dirty="0" err="1" smtClean="0"/>
              <a:t>dụ</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err="1" smtClean="0"/>
              <a:t>Phân</a:t>
            </a:r>
            <a:r>
              <a:rPr lang="en-US" dirty="0" smtClean="0"/>
              <a:t> </a:t>
            </a:r>
            <a:r>
              <a:rPr lang="en-US" dirty="0" err="1" smtClean="0"/>
              <a:t>tích</a:t>
            </a:r>
            <a:r>
              <a:rPr lang="en-US" dirty="0" smtClean="0"/>
              <a:t> </a:t>
            </a:r>
            <a:r>
              <a:rPr lang="en-US" dirty="0" err="1" smtClean="0"/>
              <a:t>mã</a:t>
            </a:r>
            <a:r>
              <a:rPr lang="en-US" dirty="0" smtClean="0"/>
              <a:t> </a:t>
            </a:r>
            <a:r>
              <a:rPr lang="en-US" dirty="0" err="1" smtClean="0"/>
              <a:t>bằng</a:t>
            </a:r>
            <a:r>
              <a:rPr lang="en-US" dirty="0" smtClean="0"/>
              <a:t> IDA Pro</a:t>
            </a:r>
            <a:endParaRPr lang="en-US" dirty="0"/>
          </a:p>
        </p:txBody>
      </p:sp>
      <p:sp>
        <p:nvSpPr>
          <p:cNvPr id="4" name="TextBox 3"/>
          <p:cNvSpPr txBox="1"/>
          <p:nvPr/>
        </p:nvSpPr>
        <p:spPr>
          <a:xfrm>
            <a:off x="1763688" y="2132856"/>
            <a:ext cx="3888432" cy="2308324"/>
          </a:xfrm>
          <a:prstGeom prst="rect">
            <a:avLst/>
          </a:prstGeom>
          <a:noFill/>
          <a:ln>
            <a:solidFill>
              <a:schemeClr val="accent1"/>
            </a:solidFill>
          </a:ln>
        </p:spPr>
        <p:txBody>
          <a:bodyPr wrap="square" rtlCol="0">
            <a:spAutoFit/>
          </a:bodyPr>
          <a:lstStyle/>
          <a:p>
            <a:r>
              <a:rPr lang="en-GB" dirty="0" err="1">
                <a:solidFill>
                  <a:prstClr val="black"/>
                </a:solidFill>
              </a:rPr>
              <a:t>int</a:t>
            </a:r>
            <a:r>
              <a:rPr lang="en-GB" dirty="0">
                <a:solidFill>
                  <a:prstClr val="black"/>
                </a:solidFill>
              </a:rPr>
              <a:t> main(</a:t>
            </a:r>
            <a:r>
              <a:rPr lang="en-GB" dirty="0" err="1">
                <a:solidFill>
                  <a:prstClr val="black"/>
                </a:solidFill>
              </a:rPr>
              <a:t>int</a:t>
            </a:r>
            <a:r>
              <a:rPr lang="en-GB" dirty="0">
                <a:solidFill>
                  <a:prstClr val="black"/>
                </a:solidFill>
              </a:rPr>
              <a:t> </a:t>
            </a:r>
            <a:r>
              <a:rPr lang="en-GB" dirty="0" err="1">
                <a:solidFill>
                  <a:prstClr val="black"/>
                </a:solidFill>
              </a:rPr>
              <a:t>argc</a:t>
            </a:r>
            <a:r>
              <a:rPr lang="en-GB" dirty="0">
                <a:solidFill>
                  <a:prstClr val="black"/>
                </a:solidFill>
              </a:rPr>
              <a:t>, char* </a:t>
            </a:r>
            <a:r>
              <a:rPr lang="en-GB" dirty="0" err="1">
                <a:solidFill>
                  <a:prstClr val="black"/>
                </a:solidFill>
              </a:rPr>
              <a:t>argv</a:t>
            </a:r>
            <a:r>
              <a:rPr lang="en-GB" dirty="0">
                <a:solidFill>
                  <a:prstClr val="black"/>
                </a:solidFill>
              </a:rPr>
              <a:t>[])</a:t>
            </a:r>
          </a:p>
          <a:p>
            <a:r>
              <a:rPr lang="en-GB" dirty="0">
                <a:solidFill>
                  <a:prstClr val="black"/>
                </a:solidFill>
              </a:rPr>
              <a:t>{</a:t>
            </a:r>
          </a:p>
          <a:p>
            <a:pPr lvl="1"/>
            <a:r>
              <a:rPr lang="en-GB" dirty="0">
                <a:solidFill>
                  <a:prstClr val="black"/>
                </a:solidFill>
              </a:rPr>
              <a:t>if (</a:t>
            </a:r>
            <a:r>
              <a:rPr lang="en-GB" dirty="0" err="1">
                <a:solidFill>
                  <a:prstClr val="black"/>
                </a:solidFill>
              </a:rPr>
              <a:t>argc</a:t>
            </a:r>
            <a:r>
              <a:rPr lang="en-GB" dirty="0">
                <a:solidFill>
                  <a:prstClr val="black"/>
                </a:solidFill>
              </a:rPr>
              <a:t> != 3) {return 0;}</a:t>
            </a:r>
          </a:p>
          <a:p>
            <a:pPr lvl="1"/>
            <a:r>
              <a:rPr lang="en-GB" dirty="0">
                <a:solidFill>
                  <a:prstClr val="black"/>
                </a:solidFill>
              </a:rPr>
              <a:t>if (</a:t>
            </a:r>
            <a:r>
              <a:rPr lang="en-GB" dirty="0" err="1">
                <a:solidFill>
                  <a:prstClr val="black"/>
                </a:solidFill>
              </a:rPr>
              <a:t>strncmp</a:t>
            </a:r>
            <a:r>
              <a:rPr lang="en-GB" dirty="0">
                <a:solidFill>
                  <a:prstClr val="black"/>
                </a:solidFill>
              </a:rPr>
              <a:t>(</a:t>
            </a:r>
            <a:r>
              <a:rPr lang="en-GB" dirty="0" err="1">
                <a:solidFill>
                  <a:prstClr val="black"/>
                </a:solidFill>
              </a:rPr>
              <a:t>argv</a:t>
            </a:r>
            <a:r>
              <a:rPr lang="en-GB" dirty="0">
                <a:solidFill>
                  <a:prstClr val="black"/>
                </a:solidFill>
              </a:rPr>
              <a:t>[1], "-r", 2) == 0){</a:t>
            </a:r>
          </a:p>
          <a:p>
            <a:pPr lvl="1"/>
            <a:r>
              <a:rPr lang="en-GB" dirty="0" err="1">
                <a:solidFill>
                  <a:prstClr val="black"/>
                </a:solidFill>
              </a:rPr>
              <a:t>DeleteFileA</a:t>
            </a:r>
            <a:r>
              <a:rPr lang="en-GB" dirty="0">
                <a:solidFill>
                  <a:prstClr val="black"/>
                </a:solidFill>
              </a:rPr>
              <a:t>(</a:t>
            </a:r>
            <a:r>
              <a:rPr lang="en-GB" dirty="0" err="1">
                <a:solidFill>
                  <a:prstClr val="black"/>
                </a:solidFill>
              </a:rPr>
              <a:t>argv</a:t>
            </a:r>
            <a:r>
              <a:rPr lang="en-GB" dirty="0">
                <a:solidFill>
                  <a:prstClr val="black"/>
                </a:solidFill>
              </a:rPr>
              <a:t>[2]);</a:t>
            </a:r>
          </a:p>
          <a:p>
            <a:r>
              <a:rPr lang="en-GB" dirty="0">
                <a:solidFill>
                  <a:prstClr val="black"/>
                </a:solidFill>
              </a:rPr>
              <a:t>}</a:t>
            </a:r>
          </a:p>
          <a:p>
            <a:r>
              <a:rPr lang="en-GB" dirty="0">
                <a:solidFill>
                  <a:prstClr val="black"/>
                </a:solidFill>
              </a:rPr>
              <a:t>return 0;</a:t>
            </a:r>
          </a:p>
          <a:p>
            <a:r>
              <a:rPr lang="en-GB" dirty="0">
                <a:solidFill>
                  <a:prstClr val="black"/>
                </a:solidFill>
              </a:rPr>
              <a:t>}</a:t>
            </a:r>
          </a:p>
        </p:txBody>
      </p:sp>
    </p:spTree>
    <p:extLst>
      <p:ext uri="{BB962C8B-B14F-4D97-AF65-F5344CB8AC3E}">
        <p14:creationId xmlns:p14="http://schemas.microsoft.com/office/powerpoint/2010/main" val="19074084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Recognizing C/C++ structure</a:t>
            </a:r>
            <a:endParaRPr lang="en-GB" dirty="0"/>
          </a:p>
        </p:txBody>
      </p:sp>
      <p:sp>
        <p:nvSpPr>
          <p:cNvPr id="3" name="Content Placeholder 2"/>
          <p:cNvSpPr>
            <a:spLocks noGrp="1"/>
          </p:cNvSpPr>
          <p:nvPr>
            <p:ph idx="1"/>
          </p:nvPr>
        </p:nvSpPr>
        <p:spPr/>
        <p:txBody>
          <a:bodyPr/>
          <a:lstStyle/>
          <a:p>
            <a:r>
              <a:rPr lang="en-GB" dirty="0" smtClean="0"/>
              <a:t>Local &amp; global variables</a:t>
            </a:r>
          </a:p>
          <a:p>
            <a:r>
              <a:rPr lang="en-GB" dirty="0" smtClean="0"/>
              <a:t>Operation +, -, ++, --, %</a:t>
            </a:r>
          </a:p>
          <a:p>
            <a:r>
              <a:rPr lang="en-GB" dirty="0"/>
              <a:t>C</a:t>
            </a:r>
            <a:r>
              <a:rPr lang="en-GB" dirty="0" smtClean="0"/>
              <a:t>ondition</a:t>
            </a:r>
            <a:r>
              <a:rPr lang="en-GB" i="1" dirty="0" smtClean="0"/>
              <a:t> </a:t>
            </a:r>
            <a:r>
              <a:rPr lang="en-GB" dirty="0" smtClean="0"/>
              <a:t> </a:t>
            </a:r>
            <a:r>
              <a:rPr lang="en-GB" i="1" dirty="0" smtClean="0"/>
              <a:t>if</a:t>
            </a:r>
          </a:p>
          <a:p>
            <a:r>
              <a:rPr lang="en-GB" dirty="0" smtClean="0"/>
              <a:t>Loop </a:t>
            </a:r>
            <a:r>
              <a:rPr lang="en-GB" i="1" dirty="0" smtClean="0"/>
              <a:t>for</a:t>
            </a:r>
            <a:r>
              <a:rPr lang="en-GB" dirty="0" smtClean="0"/>
              <a:t>, </a:t>
            </a:r>
            <a:r>
              <a:rPr lang="en-GB" i="1" dirty="0" smtClean="0"/>
              <a:t>while</a:t>
            </a:r>
          </a:p>
          <a:p>
            <a:r>
              <a:rPr lang="en-GB" dirty="0" smtClean="0"/>
              <a:t>Function calls</a:t>
            </a:r>
          </a:p>
          <a:p>
            <a:r>
              <a:rPr lang="en-GB" dirty="0" smtClean="0"/>
              <a:t>Other: </a:t>
            </a:r>
            <a:r>
              <a:rPr lang="en-GB" i="1" dirty="0" smtClean="0"/>
              <a:t>switch</a:t>
            </a:r>
            <a:r>
              <a:rPr lang="en-GB" dirty="0" smtClean="0"/>
              <a:t>, </a:t>
            </a:r>
            <a:r>
              <a:rPr lang="en-GB" i="1" dirty="0" smtClean="0"/>
              <a:t>array</a:t>
            </a:r>
            <a:r>
              <a:rPr lang="en-GB" dirty="0" smtClean="0"/>
              <a:t>, </a:t>
            </a:r>
            <a:r>
              <a:rPr lang="en-GB" i="1" dirty="0" err="1" smtClean="0"/>
              <a:t>structs</a:t>
            </a:r>
            <a:endParaRPr lang="en-GB" i="1" dirty="0" smtClean="0"/>
          </a:p>
          <a:p>
            <a:endParaRPr lang="en-GB" dirty="0"/>
          </a:p>
        </p:txBody>
      </p:sp>
    </p:spTree>
    <p:extLst>
      <p:ext uri="{BB962C8B-B14F-4D97-AF65-F5344CB8AC3E}">
        <p14:creationId xmlns:p14="http://schemas.microsoft.com/office/powerpoint/2010/main" val="7631054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Recognizing C/C++ structure</a:t>
            </a:r>
          </a:p>
        </p:txBody>
      </p:sp>
      <p:sp>
        <p:nvSpPr>
          <p:cNvPr id="3" name="Content Placeholder 2"/>
          <p:cNvSpPr>
            <a:spLocks noGrp="1"/>
          </p:cNvSpPr>
          <p:nvPr>
            <p:ph idx="1"/>
          </p:nvPr>
        </p:nvSpPr>
        <p:spPr/>
        <p:txBody>
          <a:bodyPr/>
          <a:lstStyle/>
          <a:p>
            <a:r>
              <a:rPr lang="en-GB" dirty="0" smtClean="0"/>
              <a:t>Global &amp; Local variable</a:t>
            </a:r>
            <a:endParaRPr lang="en-GB" dirty="0"/>
          </a:p>
        </p:txBody>
      </p:sp>
      <p:sp>
        <p:nvSpPr>
          <p:cNvPr id="4" name="TextBox 3"/>
          <p:cNvSpPr txBox="1"/>
          <p:nvPr/>
        </p:nvSpPr>
        <p:spPr>
          <a:xfrm>
            <a:off x="251520" y="1844824"/>
            <a:ext cx="3125225" cy="2031325"/>
          </a:xfrm>
          <a:prstGeom prst="rect">
            <a:avLst/>
          </a:prstGeom>
          <a:noFill/>
          <a:ln>
            <a:solidFill>
              <a:schemeClr val="accent1"/>
            </a:solidFill>
          </a:ln>
        </p:spPr>
        <p:txBody>
          <a:bodyPr wrap="square" rtlCol="0">
            <a:spAutoFit/>
          </a:bodyPr>
          <a:lstStyle/>
          <a:p>
            <a:r>
              <a:rPr lang="en-GB" b="1" dirty="0" err="1">
                <a:solidFill>
                  <a:prstClr val="black"/>
                </a:solidFill>
              </a:rPr>
              <a:t>int</a:t>
            </a:r>
            <a:r>
              <a:rPr lang="en-GB" b="1" dirty="0">
                <a:solidFill>
                  <a:prstClr val="black"/>
                </a:solidFill>
              </a:rPr>
              <a:t> x = 1;</a:t>
            </a:r>
          </a:p>
          <a:p>
            <a:r>
              <a:rPr lang="en-GB" b="1" dirty="0" err="1">
                <a:solidFill>
                  <a:prstClr val="black"/>
                </a:solidFill>
              </a:rPr>
              <a:t>int</a:t>
            </a:r>
            <a:r>
              <a:rPr lang="en-GB" b="1" dirty="0">
                <a:solidFill>
                  <a:prstClr val="black"/>
                </a:solidFill>
              </a:rPr>
              <a:t> y = 2;</a:t>
            </a:r>
          </a:p>
          <a:p>
            <a:r>
              <a:rPr lang="en-GB" dirty="0">
                <a:solidFill>
                  <a:prstClr val="black"/>
                </a:solidFill>
              </a:rPr>
              <a:t>void main()</a:t>
            </a:r>
          </a:p>
          <a:p>
            <a:r>
              <a:rPr lang="en-GB" dirty="0">
                <a:solidFill>
                  <a:prstClr val="black"/>
                </a:solidFill>
              </a:rPr>
              <a:t>{</a:t>
            </a:r>
          </a:p>
          <a:p>
            <a:pPr lvl="1"/>
            <a:r>
              <a:rPr lang="en-GB" dirty="0">
                <a:solidFill>
                  <a:prstClr val="black"/>
                </a:solidFill>
              </a:rPr>
              <a:t>x = </a:t>
            </a:r>
            <a:r>
              <a:rPr lang="en-GB" dirty="0" err="1">
                <a:solidFill>
                  <a:prstClr val="black"/>
                </a:solidFill>
              </a:rPr>
              <a:t>x+y</a:t>
            </a:r>
            <a:r>
              <a:rPr lang="en-GB" dirty="0">
                <a:solidFill>
                  <a:prstClr val="black"/>
                </a:solidFill>
              </a:rPr>
              <a:t>;</a:t>
            </a:r>
          </a:p>
          <a:p>
            <a:pPr lvl="1"/>
            <a:r>
              <a:rPr lang="en-GB" dirty="0" err="1">
                <a:solidFill>
                  <a:prstClr val="black"/>
                </a:solidFill>
              </a:rPr>
              <a:t>printf</a:t>
            </a:r>
            <a:r>
              <a:rPr lang="en-GB" dirty="0">
                <a:solidFill>
                  <a:prstClr val="black"/>
                </a:solidFill>
              </a:rPr>
              <a:t>("Total = %d\n", x);</a:t>
            </a:r>
          </a:p>
          <a:p>
            <a:r>
              <a:rPr lang="en-GB" dirty="0">
                <a:solidFill>
                  <a:prstClr val="black"/>
                </a:solidFill>
              </a:rPr>
              <a:t>}</a:t>
            </a:r>
          </a:p>
        </p:txBody>
      </p:sp>
      <p:sp>
        <p:nvSpPr>
          <p:cNvPr id="5" name="TextBox 4"/>
          <p:cNvSpPr txBox="1"/>
          <p:nvPr/>
        </p:nvSpPr>
        <p:spPr>
          <a:xfrm>
            <a:off x="251520" y="4151366"/>
            <a:ext cx="3125225" cy="2031325"/>
          </a:xfrm>
          <a:prstGeom prst="rect">
            <a:avLst/>
          </a:prstGeom>
          <a:noFill/>
          <a:ln>
            <a:solidFill>
              <a:schemeClr val="accent1"/>
            </a:solidFill>
          </a:ln>
        </p:spPr>
        <p:txBody>
          <a:bodyPr wrap="square" rtlCol="0">
            <a:spAutoFit/>
          </a:bodyPr>
          <a:lstStyle/>
          <a:p>
            <a:r>
              <a:rPr lang="en-GB" dirty="0">
                <a:solidFill>
                  <a:prstClr val="black"/>
                </a:solidFill>
              </a:rPr>
              <a:t>void main()</a:t>
            </a:r>
          </a:p>
          <a:p>
            <a:r>
              <a:rPr lang="en-GB" dirty="0">
                <a:solidFill>
                  <a:prstClr val="black"/>
                </a:solidFill>
              </a:rPr>
              <a:t>{</a:t>
            </a:r>
          </a:p>
          <a:p>
            <a:pPr lvl="1"/>
            <a:r>
              <a:rPr lang="en-GB" b="1" dirty="0" err="1">
                <a:solidFill>
                  <a:prstClr val="black"/>
                </a:solidFill>
              </a:rPr>
              <a:t>int</a:t>
            </a:r>
            <a:r>
              <a:rPr lang="en-GB" b="1" dirty="0">
                <a:solidFill>
                  <a:prstClr val="black"/>
                </a:solidFill>
              </a:rPr>
              <a:t> x = 1;</a:t>
            </a:r>
          </a:p>
          <a:p>
            <a:pPr lvl="1"/>
            <a:r>
              <a:rPr lang="en-GB" b="1" dirty="0" err="1">
                <a:solidFill>
                  <a:prstClr val="black"/>
                </a:solidFill>
              </a:rPr>
              <a:t>int</a:t>
            </a:r>
            <a:r>
              <a:rPr lang="en-GB" b="1" dirty="0">
                <a:solidFill>
                  <a:prstClr val="black"/>
                </a:solidFill>
              </a:rPr>
              <a:t> y = 2;</a:t>
            </a:r>
          </a:p>
          <a:p>
            <a:pPr lvl="1"/>
            <a:r>
              <a:rPr lang="en-GB" dirty="0">
                <a:solidFill>
                  <a:prstClr val="black"/>
                </a:solidFill>
              </a:rPr>
              <a:t>x = </a:t>
            </a:r>
            <a:r>
              <a:rPr lang="en-GB" dirty="0" err="1">
                <a:solidFill>
                  <a:prstClr val="black"/>
                </a:solidFill>
              </a:rPr>
              <a:t>x+y</a:t>
            </a:r>
            <a:r>
              <a:rPr lang="en-GB" dirty="0">
                <a:solidFill>
                  <a:prstClr val="black"/>
                </a:solidFill>
              </a:rPr>
              <a:t>;</a:t>
            </a:r>
          </a:p>
          <a:p>
            <a:pPr lvl="1"/>
            <a:r>
              <a:rPr lang="en-GB" dirty="0" err="1">
                <a:solidFill>
                  <a:prstClr val="black"/>
                </a:solidFill>
              </a:rPr>
              <a:t>printf</a:t>
            </a:r>
            <a:r>
              <a:rPr lang="en-GB" dirty="0">
                <a:solidFill>
                  <a:prstClr val="black"/>
                </a:solidFill>
              </a:rPr>
              <a:t>("Total = %d\n", x);</a:t>
            </a:r>
          </a:p>
          <a:p>
            <a:r>
              <a:rPr lang="en-GB" dirty="0">
                <a:solidFill>
                  <a:prstClr val="black"/>
                </a:solidFill>
              </a:rPr>
              <a:t>}</a:t>
            </a:r>
          </a:p>
        </p:txBody>
      </p:sp>
      <p:sp>
        <p:nvSpPr>
          <p:cNvPr id="6" name="TextBox 5"/>
          <p:cNvSpPr txBox="1"/>
          <p:nvPr/>
        </p:nvSpPr>
        <p:spPr>
          <a:xfrm>
            <a:off x="3923928" y="1844823"/>
            <a:ext cx="4835363" cy="2031325"/>
          </a:xfrm>
          <a:prstGeom prst="rect">
            <a:avLst/>
          </a:prstGeom>
          <a:noFill/>
          <a:ln>
            <a:solidFill>
              <a:schemeClr val="accent1"/>
            </a:solidFill>
          </a:ln>
        </p:spPr>
        <p:txBody>
          <a:bodyPr wrap="square" rtlCol="0">
            <a:spAutoFit/>
          </a:bodyPr>
          <a:lstStyle/>
          <a:p>
            <a:r>
              <a:rPr lang="en-GB" dirty="0">
                <a:solidFill>
                  <a:prstClr val="black"/>
                </a:solidFill>
              </a:rPr>
              <a:t>00401003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dword_40CF60;  </a:t>
            </a:r>
            <a:r>
              <a:rPr lang="en-GB" b="1" dirty="0">
                <a:solidFill>
                  <a:srgbClr val="FF0000"/>
                </a:solidFill>
              </a:rPr>
              <a:t>x</a:t>
            </a:r>
          </a:p>
          <a:p>
            <a:r>
              <a:rPr lang="en-GB" dirty="0">
                <a:solidFill>
                  <a:prstClr val="black"/>
                </a:solidFill>
              </a:rPr>
              <a:t>00401008 add 	</a:t>
            </a:r>
            <a:r>
              <a:rPr lang="en-GB" dirty="0" err="1">
                <a:solidFill>
                  <a:prstClr val="black"/>
                </a:solidFill>
              </a:rPr>
              <a:t>eax</a:t>
            </a:r>
            <a:r>
              <a:rPr lang="en-GB" dirty="0">
                <a:solidFill>
                  <a:prstClr val="black"/>
                </a:solidFill>
              </a:rPr>
              <a:t>, dword_40C000; </a:t>
            </a:r>
            <a:r>
              <a:rPr lang="en-GB" b="1" dirty="0">
                <a:solidFill>
                  <a:srgbClr val="FF0000"/>
                </a:solidFill>
              </a:rPr>
              <a:t>y</a:t>
            </a:r>
          </a:p>
          <a:p>
            <a:r>
              <a:rPr lang="en-GB" dirty="0">
                <a:solidFill>
                  <a:prstClr val="black"/>
                </a:solidFill>
              </a:rPr>
              <a:t>0040100E </a:t>
            </a:r>
            <a:r>
              <a:rPr lang="en-GB" dirty="0" err="1">
                <a:solidFill>
                  <a:prstClr val="black"/>
                </a:solidFill>
              </a:rPr>
              <a:t>mov</a:t>
            </a:r>
            <a:r>
              <a:rPr lang="en-GB" dirty="0">
                <a:solidFill>
                  <a:prstClr val="black"/>
                </a:solidFill>
              </a:rPr>
              <a:t> 	</a:t>
            </a:r>
            <a:r>
              <a:rPr lang="en-GB" b="1" dirty="0">
                <a:solidFill>
                  <a:prstClr val="black"/>
                </a:solidFill>
              </a:rPr>
              <a:t>dword_40CF60</a:t>
            </a:r>
            <a:r>
              <a:rPr lang="en-GB" dirty="0">
                <a:solidFill>
                  <a:prstClr val="black"/>
                </a:solidFill>
              </a:rPr>
              <a:t>, </a:t>
            </a:r>
            <a:r>
              <a:rPr lang="en-GB" dirty="0" err="1">
                <a:solidFill>
                  <a:prstClr val="black"/>
                </a:solidFill>
              </a:rPr>
              <a:t>eax</a:t>
            </a:r>
            <a:r>
              <a:rPr lang="en-GB" dirty="0">
                <a:solidFill>
                  <a:prstClr val="black"/>
                </a:solidFill>
              </a:rPr>
              <a:t> </a:t>
            </a:r>
          </a:p>
          <a:p>
            <a:r>
              <a:rPr lang="en-GB" dirty="0">
                <a:solidFill>
                  <a:prstClr val="black"/>
                </a:solidFill>
              </a:rPr>
              <a:t>00401013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a:t>
            </a:r>
            <a:r>
              <a:rPr lang="en-GB" b="1" dirty="0">
                <a:solidFill>
                  <a:prstClr val="black"/>
                </a:solidFill>
              </a:rPr>
              <a:t>dword_40CF60</a:t>
            </a:r>
          </a:p>
          <a:p>
            <a:r>
              <a:rPr lang="en-GB" dirty="0">
                <a:solidFill>
                  <a:prstClr val="black"/>
                </a:solidFill>
              </a:rPr>
              <a:t>00401019 push	 </a:t>
            </a:r>
            <a:r>
              <a:rPr lang="en-GB" dirty="0" err="1">
                <a:solidFill>
                  <a:prstClr val="black"/>
                </a:solidFill>
              </a:rPr>
              <a:t>ecx</a:t>
            </a:r>
            <a:endParaRPr lang="en-GB" dirty="0">
              <a:solidFill>
                <a:prstClr val="black"/>
              </a:solidFill>
            </a:endParaRPr>
          </a:p>
          <a:p>
            <a:r>
              <a:rPr lang="en-GB" dirty="0">
                <a:solidFill>
                  <a:prstClr val="black"/>
                </a:solidFill>
              </a:rPr>
              <a:t>0040101A push 	offset </a:t>
            </a:r>
            <a:r>
              <a:rPr lang="en-GB" dirty="0" err="1">
                <a:solidFill>
                  <a:prstClr val="black"/>
                </a:solidFill>
              </a:rPr>
              <a:t>aTotalD</a:t>
            </a:r>
            <a:r>
              <a:rPr lang="en-GB" dirty="0">
                <a:solidFill>
                  <a:prstClr val="black"/>
                </a:solidFill>
              </a:rPr>
              <a:t> ;</a:t>
            </a:r>
            <a:r>
              <a:rPr lang="en-GB" dirty="0">
                <a:solidFill>
                  <a:srgbClr val="FF0000"/>
                </a:solidFill>
              </a:rPr>
              <a:t>"total = %d\n"</a:t>
            </a:r>
          </a:p>
          <a:p>
            <a:r>
              <a:rPr lang="en-GB" dirty="0">
                <a:solidFill>
                  <a:prstClr val="black"/>
                </a:solidFill>
              </a:rPr>
              <a:t>0040101F call 	</a:t>
            </a:r>
            <a:r>
              <a:rPr lang="en-GB" dirty="0" err="1">
                <a:solidFill>
                  <a:prstClr val="black"/>
                </a:solidFill>
              </a:rPr>
              <a:t>printf</a:t>
            </a:r>
            <a:endParaRPr lang="en-GB" dirty="0">
              <a:solidFill>
                <a:prstClr val="black"/>
              </a:solidFill>
            </a:endParaRPr>
          </a:p>
        </p:txBody>
      </p:sp>
      <p:sp>
        <p:nvSpPr>
          <p:cNvPr id="7" name="TextBox 6"/>
          <p:cNvSpPr txBox="1"/>
          <p:nvPr/>
        </p:nvSpPr>
        <p:spPr>
          <a:xfrm>
            <a:off x="3923928" y="3965104"/>
            <a:ext cx="4835363" cy="2585323"/>
          </a:xfrm>
          <a:prstGeom prst="rect">
            <a:avLst/>
          </a:prstGeom>
          <a:noFill/>
          <a:ln>
            <a:solidFill>
              <a:schemeClr val="accent1"/>
            </a:solidFill>
          </a:ln>
        </p:spPr>
        <p:txBody>
          <a:bodyPr wrap="none" rtlCol="0">
            <a:spAutoFit/>
          </a:bodyPr>
          <a:lstStyle/>
          <a:p>
            <a:r>
              <a:rPr lang="en-GB" dirty="0">
                <a:solidFill>
                  <a:prstClr val="black"/>
                </a:solidFill>
              </a:rPr>
              <a:t>00401006 </a:t>
            </a:r>
            <a:r>
              <a:rPr lang="en-GB" dirty="0" err="1">
                <a:solidFill>
                  <a:prstClr val="black"/>
                </a:solidFill>
              </a:rPr>
              <a:t>mov</a:t>
            </a:r>
            <a:r>
              <a:rPr lang="en-GB" dirty="0">
                <a:solidFill>
                  <a:prstClr val="black"/>
                </a:solidFill>
              </a:rPr>
              <a:t> 	</a:t>
            </a:r>
            <a:r>
              <a:rPr lang="en-GB" dirty="0" err="1">
                <a:solidFill>
                  <a:prstClr val="black"/>
                </a:solidFill>
              </a:rPr>
              <a:t>dword</a:t>
            </a:r>
            <a:r>
              <a:rPr lang="en-GB" dirty="0">
                <a:solidFill>
                  <a:prstClr val="black"/>
                </a:solidFill>
              </a:rPr>
              <a:t> </a:t>
            </a:r>
            <a:r>
              <a:rPr lang="en-GB" dirty="0" err="1">
                <a:solidFill>
                  <a:prstClr val="black"/>
                </a:solidFill>
              </a:rPr>
              <a:t>ptr</a:t>
            </a:r>
            <a:r>
              <a:rPr lang="en-GB" dirty="0">
                <a:solidFill>
                  <a:prstClr val="black"/>
                </a:solidFill>
              </a:rPr>
              <a:t> [</a:t>
            </a:r>
            <a:r>
              <a:rPr lang="en-GB" b="1" dirty="0">
                <a:solidFill>
                  <a:prstClr val="black"/>
                </a:solidFill>
              </a:rPr>
              <a:t>ebp-4</a:t>
            </a:r>
            <a:r>
              <a:rPr lang="en-GB" dirty="0">
                <a:solidFill>
                  <a:prstClr val="black"/>
                </a:solidFill>
              </a:rPr>
              <a:t>], 1</a:t>
            </a:r>
          </a:p>
          <a:p>
            <a:r>
              <a:rPr lang="en-GB" dirty="0">
                <a:solidFill>
                  <a:prstClr val="black"/>
                </a:solidFill>
              </a:rPr>
              <a:t>0040100D </a:t>
            </a:r>
            <a:r>
              <a:rPr lang="en-GB" dirty="0" err="1">
                <a:solidFill>
                  <a:prstClr val="black"/>
                </a:solidFill>
              </a:rPr>
              <a:t>mov</a:t>
            </a:r>
            <a:r>
              <a:rPr lang="en-GB" dirty="0">
                <a:solidFill>
                  <a:prstClr val="black"/>
                </a:solidFill>
              </a:rPr>
              <a:t> 	</a:t>
            </a:r>
            <a:r>
              <a:rPr lang="en-GB" dirty="0" err="1">
                <a:solidFill>
                  <a:prstClr val="black"/>
                </a:solidFill>
              </a:rPr>
              <a:t>dword</a:t>
            </a:r>
            <a:r>
              <a:rPr lang="en-GB" dirty="0">
                <a:solidFill>
                  <a:prstClr val="black"/>
                </a:solidFill>
              </a:rPr>
              <a:t> </a:t>
            </a:r>
            <a:r>
              <a:rPr lang="en-GB" dirty="0" err="1">
                <a:solidFill>
                  <a:prstClr val="black"/>
                </a:solidFill>
              </a:rPr>
              <a:t>ptr</a:t>
            </a:r>
            <a:r>
              <a:rPr lang="en-GB" dirty="0">
                <a:solidFill>
                  <a:prstClr val="black"/>
                </a:solidFill>
              </a:rPr>
              <a:t> [</a:t>
            </a:r>
            <a:r>
              <a:rPr lang="en-GB" b="1" dirty="0">
                <a:solidFill>
                  <a:prstClr val="black"/>
                </a:solidFill>
              </a:rPr>
              <a:t>ebp-8</a:t>
            </a:r>
            <a:r>
              <a:rPr lang="en-GB" dirty="0">
                <a:solidFill>
                  <a:prstClr val="black"/>
                </a:solidFill>
              </a:rPr>
              <a:t>], 2</a:t>
            </a:r>
          </a:p>
          <a:p>
            <a:r>
              <a:rPr lang="en-GB" dirty="0">
                <a:solidFill>
                  <a:prstClr val="black"/>
                </a:solidFill>
              </a:rPr>
              <a:t>00401014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ebp-4</a:t>
            </a:r>
            <a:r>
              <a:rPr lang="en-GB" dirty="0">
                <a:solidFill>
                  <a:prstClr val="black"/>
                </a:solidFill>
              </a:rPr>
              <a:t>]</a:t>
            </a:r>
          </a:p>
          <a:p>
            <a:r>
              <a:rPr lang="en-GB" dirty="0">
                <a:solidFill>
                  <a:prstClr val="black"/>
                </a:solidFill>
              </a:rPr>
              <a:t>00401017 add 	</a:t>
            </a:r>
            <a:r>
              <a:rPr lang="en-GB" dirty="0" err="1">
                <a:solidFill>
                  <a:prstClr val="black"/>
                </a:solidFill>
              </a:rPr>
              <a:t>eax</a:t>
            </a:r>
            <a:r>
              <a:rPr lang="en-GB" dirty="0">
                <a:solidFill>
                  <a:prstClr val="black"/>
                </a:solidFill>
              </a:rPr>
              <a:t>, [</a:t>
            </a:r>
            <a:r>
              <a:rPr lang="en-GB" b="1" dirty="0">
                <a:solidFill>
                  <a:prstClr val="black"/>
                </a:solidFill>
              </a:rPr>
              <a:t>ebp-8</a:t>
            </a:r>
            <a:r>
              <a:rPr lang="en-GB" dirty="0">
                <a:solidFill>
                  <a:prstClr val="black"/>
                </a:solidFill>
              </a:rPr>
              <a:t>]</a:t>
            </a:r>
          </a:p>
          <a:p>
            <a:r>
              <a:rPr lang="en-GB" dirty="0">
                <a:solidFill>
                  <a:prstClr val="black"/>
                </a:solidFill>
              </a:rPr>
              <a:t>0040101A </a:t>
            </a:r>
            <a:r>
              <a:rPr lang="en-GB" dirty="0" err="1">
                <a:solidFill>
                  <a:prstClr val="black"/>
                </a:solidFill>
              </a:rPr>
              <a:t>mov</a:t>
            </a:r>
            <a:r>
              <a:rPr lang="en-GB" dirty="0">
                <a:solidFill>
                  <a:prstClr val="black"/>
                </a:solidFill>
              </a:rPr>
              <a:t> 	[</a:t>
            </a:r>
            <a:r>
              <a:rPr lang="en-GB" b="1" dirty="0">
                <a:solidFill>
                  <a:prstClr val="black"/>
                </a:solidFill>
              </a:rPr>
              <a:t>ebp-4</a:t>
            </a:r>
            <a:r>
              <a:rPr lang="en-GB" dirty="0">
                <a:solidFill>
                  <a:prstClr val="black"/>
                </a:solidFill>
              </a:rPr>
              <a:t>], </a:t>
            </a:r>
            <a:r>
              <a:rPr lang="en-GB" dirty="0" err="1">
                <a:solidFill>
                  <a:prstClr val="black"/>
                </a:solidFill>
              </a:rPr>
              <a:t>eax</a:t>
            </a:r>
            <a:endParaRPr lang="en-GB" dirty="0">
              <a:solidFill>
                <a:prstClr val="black"/>
              </a:solidFill>
            </a:endParaRPr>
          </a:p>
          <a:p>
            <a:r>
              <a:rPr lang="en-GB" dirty="0">
                <a:solidFill>
                  <a:prstClr val="black"/>
                </a:solidFill>
              </a:rPr>
              <a:t>0040101D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a:t>
            </a:r>
            <a:r>
              <a:rPr lang="en-GB" b="1" dirty="0">
                <a:solidFill>
                  <a:prstClr val="black"/>
                </a:solidFill>
              </a:rPr>
              <a:t>ebp-4</a:t>
            </a:r>
            <a:r>
              <a:rPr lang="en-GB" dirty="0">
                <a:solidFill>
                  <a:prstClr val="black"/>
                </a:solidFill>
              </a:rPr>
              <a:t>]</a:t>
            </a:r>
          </a:p>
          <a:p>
            <a:r>
              <a:rPr lang="en-GB" dirty="0">
                <a:solidFill>
                  <a:prstClr val="black"/>
                </a:solidFill>
              </a:rPr>
              <a:t>00401020 push 	</a:t>
            </a:r>
            <a:r>
              <a:rPr lang="en-GB" dirty="0" err="1">
                <a:solidFill>
                  <a:prstClr val="black"/>
                </a:solidFill>
              </a:rPr>
              <a:t>ecx</a:t>
            </a:r>
            <a:endParaRPr lang="en-GB" dirty="0">
              <a:solidFill>
                <a:prstClr val="black"/>
              </a:solidFill>
            </a:endParaRPr>
          </a:p>
          <a:p>
            <a:r>
              <a:rPr lang="en-GB" dirty="0">
                <a:solidFill>
                  <a:prstClr val="black"/>
                </a:solidFill>
              </a:rPr>
              <a:t>00401021 push 	offset </a:t>
            </a:r>
            <a:r>
              <a:rPr lang="en-GB" dirty="0" err="1">
                <a:solidFill>
                  <a:prstClr val="black"/>
                </a:solidFill>
              </a:rPr>
              <a:t>aTotalD</a:t>
            </a:r>
            <a:r>
              <a:rPr lang="en-GB" dirty="0">
                <a:solidFill>
                  <a:prstClr val="black"/>
                </a:solidFill>
              </a:rPr>
              <a:t> ; </a:t>
            </a:r>
            <a:r>
              <a:rPr lang="en-GB" dirty="0">
                <a:solidFill>
                  <a:srgbClr val="FF0000"/>
                </a:solidFill>
              </a:rPr>
              <a:t>"total = %d\n"</a:t>
            </a:r>
          </a:p>
          <a:p>
            <a:r>
              <a:rPr lang="en-GB" dirty="0">
                <a:solidFill>
                  <a:prstClr val="black"/>
                </a:solidFill>
              </a:rPr>
              <a:t>00401026 call 	</a:t>
            </a:r>
            <a:r>
              <a:rPr lang="en-GB" dirty="0" err="1">
                <a:solidFill>
                  <a:prstClr val="black"/>
                </a:solidFill>
              </a:rPr>
              <a:t>printf</a:t>
            </a:r>
            <a:endParaRPr lang="en-GB" dirty="0">
              <a:solidFill>
                <a:prstClr val="black"/>
              </a:solidFill>
            </a:endParaRPr>
          </a:p>
        </p:txBody>
      </p:sp>
    </p:spTree>
    <p:extLst>
      <p:ext uri="{BB962C8B-B14F-4D97-AF65-F5344CB8AC3E}">
        <p14:creationId xmlns:p14="http://schemas.microsoft.com/office/powerpoint/2010/main" val="31416404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Recognizing C/C++ structure</a:t>
            </a:r>
          </a:p>
        </p:txBody>
      </p:sp>
      <p:sp>
        <p:nvSpPr>
          <p:cNvPr id="3" name="Content Placeholder 2"/>
          <p:cNvSpPr>
            <a:spLocks noGrp="1"/>
          </p:cNvSpPr>
          <p:nvPr>
            <p:ph idx="1"/>
          </p:nvPr>
        </p:nvSpPr>
        <p:spPr/>
        <p:txBody>
          <a:bodyPr/>
          <a:lstStyle/>
          <a:p>
            <a:r>
              <a:rPr lang="en-GB" dirty="0" smtClean="0"/>
              <a:t>Operation</a:t>
            </a:r>
            <a:endParaRPr lang="en-GB" dirty="0"/>
          </a:p>
        </p:txBody>
      </p:sp>
      <p:sp>
        <p:nvSpPr>
          <p:cNvPr id="4" name="TextBox 3"/>
          <p:cNvSpPr txBox="1"/>
          <p:nvPr/>
        </p:nvSpPr>
        <p:spPr>
          <a:xfrm>
            <a:off x="899592" y="1916832"/>
            <a:ext cx="1944216" cy="2031325"/>
          </a:xfrm>
          <a:prstGeom prst="rect">
            <a:avLst/>
          </a:prstGeom>
          <a:noFill/>
          <a:ln>
            <a:solidFill>
              <a:schemeClr val="accent1"/>
            </a:solidFill>
          </a:ln>
        </p:spPr>
        <p:txBody>
          <a:bodyPr wrap="square" rtlCol="0">
            <a:spAutoFit/>
          </a:bodyPr>
          <a:lstStyle/>
          <a:p>
            <a:r>
              <a:rPr lang="en-GB" dirty="0" err="1">
                <a:solidFill>
                  <a:prstClr val="black"/>
                </a:solidFill>
              </a:rPr>
              <a:t>int</a:t>
            </a:r>
            <a:r>
              <a:rPr lang="en-GB" dirty="0">
                <a:solidFill>
                  <a:prstClr val="black"/>
                </a:solidFill>
              </a:rPr>
              <a:t> a = 0;</a:t>
            </a:r>
          </a:p>
          <a:p>
            <a:r>
              <a:rPr lang="en-GB" dirty="0" err="1">
                <a:solidFill>
                  <a:prstClr val="black"/>
                </a:solidFill>
              </a:rPr>
              <a:t>int</a:t>
            </a:r>
            <a:r>
              <a:rPr lang="en-GB" dirty="0">
                <a:solidFill>
                  <a:prstClr val="black"/>
                </a:solidFill>
              </a:rPr>
              <a:t> b = 1;</a:t>
            </a:r>
          </a:p>
          <a:p>
            <a:r>
              <a:rPr lang="en-GB" dirty="0">
                <a:solidFill>
                  <a:prstClr val="black"/>
                </a:solidFill>
              </a:rPr>
              <a:t>a = a + 11;</a:t>
            </a:r>
          </a:p>
          <a:p>
            <a:r>
              <a:rPr lang="en-GB" dirty="0">
                <a:solidFill>
                  <a:prstClr val="black"/>
                </a:solidFill>
              </a:rPr>
              <a:t>a = a - b;</a:t>
            </a:r>
          </a:p>
          <a:p>
            <a:r>
              <a:rPr lang="en-GB" dirty="0">
                <a:solidFill>
                  <a:prstClr val="black"/>
                </a:solidFill>
              </a:rPr>
              <a:t>a--;</a:t>
            </a:r>
          </a:p>
          <a:p>
            <a:r>
              <a:rPr lang="en-GB" dirty="0">
                <a:solidFill>
                  <a:prstClr val="black"/>
                </a:solidFill>
              </a:rPr>
              <a:t>b++;</a:t>
            </a:r>
          </a:p>
          <a:p>
            <a:r>
              <a:rPr lang="en-GB" dirty="0">
                <a:solidFill>
                  <a:prstClr val="black"/>
                </a:solidFill>
              </a:rPr>
              <a:t>b = a % 3;</a:t>
            </a:r>
          </a:p>
        </p:txBody>
      </p:sp>
      <p:sp>
        <p:nvSpPr>
          <p:cNvPr id="5" name="TextBox 4"/>
          <p:cNvSpPr txBox="1"/>
          <p:nvPr/>
        </p:nvSpPr>
        <p:spPr>
          <a:xfrm>
            <a:off x="4139952" y="1340768"/>
            <a:ext cx="3888432" cy="5355312"/>
          </a:xfrm>
          <a:prstGeom prst="rect">
            <a:avLst/>
          </a:prstGeom>
          <a:noFill/>
          <a:ln>
            <a:solidFill>
              <a:schemeClr val="accent1"/>
            </a:solidFill>
          </a:ln>
        </p:spPr>
        <p:txBody>
          <a:bodyPr wrap="square" rtlCol="0">
            <a:spAutoFit/>
          </a:bodyPr>
          <a:lstStyle/>
          <a:p>
            <a:r>
              <a:rPr lang="en-GB" dirty="0">
                <a:solidFill>
                  <a:prstClr val="black"/>
                </a:solidFill>
              </a:rPr>
              <a:t>00401006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0; </a:t>
            </a:r>
            <a:r>
              <a:rPr lang="en-GB" dirty="0">
                <a:solidFill>
                  <a:srgbClr val="FF0000"/>
                </a:solidFill>
              </a:rPr>
              <a:t>a</a:t>
            </a:r>
          </a:p>
          <a:p>
            <a:r>
              <a:rPr lang="en-GB" dirty="0">
                <a:solidFill>
                  <a:prstClr val="black"/>
                </a:solidFill>
              </a:rPr>
              <a:t>0040100D </a:t>
            </a:r>
            <a:r>
              <a:rPr lang="en-GB" dirty="0" err="1">
                <a:solidFill>
                  <a:prstClr val="black"/>
                </a:solidFill>
              </a:rPr>
              <a:t>mov</a:t>
            </a:r>
            <a:r>
              <a:rPr lang="en-GB" dirty="0">
                <a:solidFill>
                  <a:prstClr val="black"/>
                </a:solidFill>
              </a:rPr>
              <a:t> 	[</a:t>
            </a:r>
            <a:r>
              <a:rPr lang="en-GB" b="1" dirty="0">
                <a:solidFill>
                  <a:prstClr val="black"/>
                </a:solidFill>
              </a:rPr>
              <a:t>ebp+var_8</a:t>
            </a:r>
            <a:r>
              <a:rPr lang="en-GB" dirty="0">
                <a:solidFill>
                  <a:prstClr val="black"/>
                </a:solidFill>
              </a:rPr>
              <a:t>], 1; </a:t>
            </a:r>
            <a:r>
              <a:rPr lang="en-GB" dirty="0">
                <a:solidFill>
                  <a:srgbClr val="FF0000"/>
                </a:solidFill>
              </a:rPr>
              <a:t>b</a:t>
            </a:r>
          </a:p>
          <a:p>
            <a:r>
              <a:rPr lang="en-GB" dirty="0">
                <a:solidFill>
                  <a:prstClr val="black"/>
                </a:solidFill>
              </a:rPr>
              <a:t>00401014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ebp+var_4</a:t>
            </a:r>
            <a:r>
              <a:rPr lang="en-GB" dirty="0">
                <a:solidFill>
                  <a:prstClr val="black"/>
                </a:solidFill>
              </a:rPr>
              <a:t>] </a:t>
            </a:r>
          </a:p>
          <a:p>
            <a:r>
              <a:rPr lang="en-GB" dirty="0">
                <a:solidFill>
                  <a:prstClr val="black"/>
                </a:solidFill>
              </a:rPr>
              <a:t>00401017 </a:t>
            </a:r>
            <a:r>
              <a:rPr lang="en-GB" dirty="0">
                <a:solidFill>
                  <a:srgbClr val="FF0000"/>
                </a:solidFill>
              </a:rPr>
              <a:t>add</a:t>
            </a:r>
            <a:r>
              <a:rPr lang="en-GB" dirty="0">
                <a:solidFill>
                  <a:prstClr val="black"/>
                </a:solidFill>
              </a:rPr>
              <a:t> 	</a:t>
            </a:r>
            <a:r>
              <a:rPr lang="en-GB" dirty="0" err="1">
                <a:solidFill>
                  <a:prstClr val="black"/>
                </a:solidFill>
              </a:rPr>
              <a:t>eax</a:t>
            </a:r>
            <a:r>
              <a:rPr lang="en-GB" dirty="0">
                <a:solidFill>
                  <a:prstClr val="black"/>
                </a:solidFill>
              </a:rPr>
              <a:t>, 0Bh</a:t>
            </a:r>
          </a:p>
          <a:p>
            <a:r>
              <a:rPr lang="en-GB" dirty="0">
                <a:solidFill>
                  <a:prstClr val="black"/>
                </a:solidFill>
              </a:rPr>
              <a:t>0040101A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a:t>
            </a:r>
            <a:r>
              <a:rPr lang="en-GB" dirty="0" err="1">
                <a:solidFill>
                  <a:prstClr val="black"/>
                </a:solidFill>
              </a:rPr>
              <a:t>eax</a:t>
            </a:r>
            <a:endParaRPr lang="en-GB" dirty="0">
              <a:solidFill>
                <a:prstClr val="black"/>
              </a:solidFill>
            </a:endParaRPr>
          </a:p>
          <a:p>
            <a:r>
              <a:rPr lang="en-GB" dirty="0">
                <a:solidFill>
                  <a:prstClr val="black"/>
                </a:solidFill>
              </a:rPr>
              <a:t>0040101D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a:t>
            </a:r>
            <a:r>
              <a:rPr lang="en-GB" b="1" dirty="0">
                <a:solidFill>
                  <a:prstClr val="black"/>
                </a:solidFill>
              </a:rPr>
              <a:t>ebp+var_4</a:t>
            </a:r>
            <a:r>
              <a:rPr lang="en-GB" dirty="0">
                <a:solidFill>
                  <a:prstClr val="black"/>
                </a:solidFill>
              </a:rPr>
              <a:t>]</a:t>
            </a:r>
          </a:p>
          <a:p>
            <a:r>
              <a:rPr lang="en-GB" dirty="0">
                <a:solidFill>
                  <a:prstClr val="black"/>
                </a:solidFill>
              </a:rPr>
              <a:t>00401020 </a:t>
            </a:r>
            <a:r>
              <a:rPr lang="en-GB" dirty="0">
                <a:solidFill>
                  <a:srgbClr val="FF0000"/>
                </a:solidFill>
              </a:rPr>
              <a:t>sub</a:t>
            </a:r>
            <a:r>
              <a:rPr lang="en-GB" dirty="0">
                <a:solidFill>
                  <a:prstClr val="black"/>
                </a:solidFill>
              </a:rPr>
              <a:t> 	</a:t>
            </a:r>
            <a:r>
              <a:rPr lang="en-GB" dirty="0" err="1">
                <a:solidFill>
                  <a:prstClr val="black"/>
                </a:solidFill>
              </a:rPr>
              <a:t>ecx</a:t>
            </a:r>
            <a:r>
              <a:rPr lang="en-GB" dirty="0">
                <a:solidFill>
                  <a:prstClr val="black"/>
                </a:solidFill>
              </a:rPr>
              <a:t>, [</a:t>
            </a:r>
            <a:r>
              <a:rPr lang="en-GB" b="1" dirty="0">
                <a:solidFill>
                  <a:prstClr val="black"/>
                </a:solidFill>
              </a:rPr>
              <a:t>ebp+var_8</a:t>
            </a:r>
            <a:r>
              <a:rPr lang="en-GB" dirty="0">
                <a:solidFill>
                  <a:prstClr val="black"/>
                </a:solidFill>
              </a:rPr>
              <a:t>] </a:t>
            </a:r>
          </a:p>
          <a:p>
            <a:r>
              <a:rPr lang="en-GB" dirty="0">
                <a:solidFill>
                  <a:prstClr val="black"/>
                </a:solidFill>
              </a:rPr>
              <a:t>00401023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a:t>
            </a:r>
            <a:r>
              <a:rPr lang="en-GB" dirty="0" err="1">
                <a:solidFill>
                  <a:prstClr val="black"/>
                </a:solidFill>
              </a:rPr>
              <a:t>ecx</a:t>
            </a:r>
            <a:endParaRPr lang="en-GB" dirty="0">
              <a:solidFill>
                <a:prstClr val="black"/>
              </a:solidFill>
            </a:endParaRPr>
          </a:p>
          <a:p>
            <a:r>
              <a:rPr lang="en-GB" dirty="0">
                <a:solidFill>
                  <a:prstClr val="black"/>
                </a:solidFill>
              </a:rPr>
              <a:t>00401026 </a:t>
            </a:r>
            <a:r>
              <a:rPr lang="en-GB" dirty="0" err="1">
                <a:solidFill>
                  <a:prstClr val="black"/>
                </a:solidFill>
              </a:rPr>
              <a:t>mov</a:t>
            </a:r>
            <a:r>
              <a:rPr lang="en-GB" dirty="0">
                <a:solidFill>
                  <a:prstClr val="black"/>
                </a:solidFill>
              </a:rPr>
              <a:t> 	</a:t>
            </a:r>
            <a:r>
              <a:rPr lang="en-GB" dirty="0" err="1">
                <a:solidFill>
                  <a:prstClr val="black"/>
                </a:solidFill>
              </a:rPr>
              <a:t>edx</a:t>
            </a:r>
            <a:r>
              <a:rPr lang="en-GB" dirty="0">
                <a:solidFill>
                  <a:prstClr val="black"/>
                </a:solidFill>
              </a:rPr>
              <a:t>, [</a:t>
            </a:r>
            <a:r>
              <a:rPr lang="en-GB" b="1" dirty="0">
                <a:solidFill>
                  <a:prstClr val="black"/>
                </a:solidFill>
              </a:rPr>
              <a:t>ebp+var_4</a:t>
            </a:r>
            <a:r>
              <a:rPr lang="en-GB" dirty="0">
                <a:solidFill>
                  <a:prstClr val="black"/>
                </a:solidFill>
              </a:rPr>
              <a:t>]</a:t>
            </a:r>
          </a:p>
          <a:p>
            <a:r>
              <a:rPr lang="en-GB" dirty="0">
                <a:solidFill>
                  <a:prstClr val="black"/>
                </a:solidFill>
              </a:rPr>
              <a:t>00401029 </a:t>
            </a:r>
            <a:r>
              <a:rPr lang="en-GB" dirty="0">
                <a:solidFill>
                  <a:srgbClr val="FF0000"/>
                </a:solidFill>
              </a:rPr>
              <a:t>sub</a:t>
            </a:r>
            <a:r>
              <a:rPr lang="en-GB" dirty="0">
                <a:solidFill>
                  <a:prstClr val="black"/>
                </a:solidFill>
              </a:rPr>
              <a:t> 	</a:t>
            </a:r>
            <a:r>
              <a:rPr lang="en-GB" dirty="0" err="1">
                <a:solidFill>
                  <a:prstClr val="black"/>
                </a:solidFill>
              </a:rPr>
              <a:t>edx</a:t>
            </a:r>
            <a:r>
              <a:rPr lang="en-GB" dirty="0">
                <a:solidFill>
                  <a:prstClr val="black"/>
                </a:solidFill>
              </a:rPr>
              <a:t>, 1 </a:t>
            </a:r>
          </a:p>
          <a:p>
            <a:r>
              <a:rPr lang="en-GB" dirty="0">
                <a:solidFill>
                  <a:prstClr val="black"/>
                </a:solidFill>
              </a:rPr>
              <a:t>0040102C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a:t>
            </a:r>
            <a:r>
              <a:rPr lang="en-GB" dirty="0" err="1">
                <a:solidFill>
                  <a:prstClr val="black"/>
                </a:solidFill>
              </a:rPr>
              <a:t>edx</a:t>
            </a:r>
            <a:endParaRPr lang="en-GB" dirty="0">
              <a:solidFill>
                <a:prstClr val="black"/>
              </a:solidFill>
            </a:endParaRPr>
          </a:p>
          <a:p>
            <a:r>
              <a:rPr lang="en-GB" dirty="0">
                <a:solidFill>
                  <a:prstClr val="black"/>
                </a:solidFill>
              </a:rPr>
              <a:t>0040102F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ebp+var_8</a:t>
            </a:r>
            <a:r>
              <a:rPr lang="en-GB" dirty="0">
                <a:solidFill>
                  <a:prstClr val="black"/>
                </a:solidFill>
              </a:rPr>
              <a:t>]</a:t>
            </a:r>
          </a:p>
          <a:p>
            <a:r>
              <a:rPr lang="en-GB" dirty="0">
                <a:solidFill>
                  <a:prstClr val="black"/>
                </a:solidFill>
              </a:rPr>
              <a:t>00401032 </a:t>
            </a:r>
            <a:r>
              <a:rPr lang="en-GB" dirty="0">
                <a:solidFill>
                  <a:srgbClr val="FF0000"/>
                </a:solidFill>
              </a:rPr>
              <a:t>add</a:t>
            </a:r>
            <a:r>
              <a:rPr lang="en-GB" dirty="0">
                <a:solidFill>
                  <a:prstClr val="black"/>
                </a:solidFill>
              </a:rPr>
              <a:t> 	</a:t>
            </a:r>
            <a:r>
              <a:rPr lang="en-GB" dirty="0" err="1">
                <a:solidFill>
                  <a:prstClr val="black"/>
                </a:solidFill>
              </a:rPr>
              <a:t>eax</a:t>
            </a:r>
            <a:r>
              <a:rPr lang="en-GB" dirty="0">
                <a:solidFill>
                  <a:prstClr val="black"/>
                </a:solidFill>
              </a:rPr>
              <a:t>, 1 </a:t>
            </a:r>
          </a:p>
          <a:p>
            <a:r>
              <a:rPr lang="en-GB" dirty="0">
                <a:solidFill>
                  <a:prstClr val="black"/>
                </a:solidFill>
              </a:rPr>
              <a:t>00401035 </a:t>
            </a:r>
            <a:r>
              <a:rPr lang="en-GB" dirty="0" err="1">
                <a:solidFill>
                  <a:prstClr val="black"/>
                </a:solidFill>
              </a:rPr>
              <a:t>mov</a:t>
            </a:r>
            <a:r>
              <a:rPr lang="en-GB" dirty="0">
                <a:solidFill>
                  <a:prstClr val="black"/>
                </a:solidFill>
              </a:rPr>
              <a:t> 	[</a:t>
            </a:r>
            <a:r>
              <a:rPr lang="en-GB" b="1" dirty="0">
                <a:solidFill>
                  <a:prstClr val="black"/>
                </a:solidFill>
              </a:rPr>
              <a:t>ebp+var_8</a:t>
            </a:r>
            <a:r>
              <a:rPr lang="en-GB" dirty="0">
                <a:solidFill>
                  <a:prstClr val="black"/>
                </a:solidFill>
              </a:rPr>
              <a:t>], </a:t>
            </a:r>
            <a:r>
              <a:rPr lang="en-GB" dirty="0" err="1">
                <a:solidFill>
                  <a:prstClr val="black"/>
                </a:solidFill>
              </a:rPr>
              <a:t>eax</a:t>
            </a:r>
            <a:endParaRPr lang="en-GB" dirty="0">
              <a:solidFill>
                <a:prstClr val="black"/>
              </a:solidFill>
            </a:endParaRPr>
          </a:p>
          <a:p>
            <a:r>
              <a:rPr lang="en-GB" dirty="0">
                <a:solidFill>
                  <a:prstClr val="black"/>
                </a:solidFill>
              </a:rPr>
              <a:t>00401038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ebp+var_4</a:t>
            </a:r>
            <a:r>
              <a:rPr lang="en-GB" dirty="0">
                <a:solidFill>
                  <a:prstClr val="black"/>
                </a:solidFill>
              </a:rPr>
              <a:t>]</a:t>
            </a:r>
          </a:p>
          <a:p>
            <a:r>
              <a:rPr lang="en-GB" dirty="0">
                <a:solidFill>
                  <a:prstClr val="black"/>
                </a:solidFill>
              </a:rPr>
              <a:t>0040103B </a:t>
            </a:r>
            <a:r>
              <a:rPr lang="en-GB" dirty="0" err="1">
                <a:solidFill>
                  <a:prstClr val="black"/>
                </a:solidFill>
              </a:rPr>
              <a:t>cdq</a:t>
            </a:r>
            <a:r>
              <a:rPr lang="en-GB" dirty="0">
                <a:solidFill>
                  <a:prstClr val="black"/>
                </a:solidFill>
              </a:rPr>
              <a:t>		; </a:t>
            </a:r>
            <a:r>
              <a:rPr lang="en-GB" dirty="0" err="1">
                <a:solidFill>
                  <a:srgbClr val="FF0000"/>
                </a:solidFill>
              </a:rPr>
              <a:t>edx:eax</a:t>
            </a:r>
            <a:endParaRPr lang="en-GB" dirty="0">
              <a:solidFill>
                <a:srgbClr val="FF0000"/>
              </a:solidFill>
            </a:endParaRPr>
          </a:p>
          <a:p>
            <a:r>
              <a:rPr lang="en-GB" dirty="0">
                <a:solidFill>
                  <a:prstClr val="black"/>
                </a:solidFill>
              </a:rPr>
              <a:t>0040103C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3</a:t>
            </a:r>
          </a:p>
          <a:p>
            <a:r>
              <a:rPr lang="en-GB" dirty="0">
                <a:solidFill>
                  <a:prstClr val="black"/>
                </a:solidFill>
              </a:rPr>
              <a:t>00401041 </a:t>
            </a:r>
            <a:r>
              <a:rPr lang="en-GB" dirty="0" err="1">
                <a:solidFill>
                  <a:srgbClr val="FF0000"/>
                </a:solidFill>
              </a:rPr>
              <a:t>idiv</a:t>
            </a:r>
            <a:r>
              <a:rPr lang="en-GB" dirty="0">
                <a:solidFill>
                  <a:prstClr val="black"/>
                </a:solidFill>
              </a:rPr>
              <a:t>	</a:t>
            </a:r>
            <a:r>
              <a:rPr lang="en-GB" dirty="0" err="1">
                <a:solidFill>
                  <a:prstClr val="black"/>
                </a:solidFill>
              </a:rPr>
              <a:t>ecx</a:t>
            </a:r>
            <a:endParaRPr lang="en-GB" dirty="0">
              <a:solidFill>
                <a:prstClr val="black"/>
              </a:solidFill>
            </a:endParaRPr>
          </a:p>
          <a:p>
            <a:r>
              <a:rPr lang="en-GB" dirty="0">
                <a:solidFill>
                  <a:prstClr val="black"/>
                </a:solidFill>
              </a:rPr>
              <a:t>00401043 </a:t>
            </a:r>
            <a:r>
              <a:rPr lang="en-GB" dirty="0" err="1">
                <a:solidFill>
                  <a:prstClr val="black"/>
                </a:solidFill>
              </a:rPr>
              <a:t>mov</a:t>
            </a:r>
            <a:r>
              <a:rPr lang="en-GB" dirty="0">
                <a:solidFill>
                  <a:prstClr val="black"/>
                </a:solidFill>
              </a:rPr>
              <a:t> 	[</a:t>
            </a:r>
            <a:r>
              <a:rPr lang="en-GB" b="1" dirty="0">
                <a:solidFill>
                  <a:prstClr val="black"/>
                </a:solidFill>
              </a:rPr>
              <a:t>ebp+var_8</a:t>
            </a:r>
            <a:r>
              <a:rPr lang="en-GB" dirty="0">
                <a:solidFill>
                  <a:prstClr val="black"/>
                </a:solidFill>
              </a:rPr>
              <a:t>], </a:t>
            </a:r>
            <a:r>
              <a:rPr lang="en-GB" dirty="0" err="1">
                <a:solidFill>
                  <a:prstClr val="black"/>
                </a:solidFill>
              </a:rPr>
              <a:t>edx</a:t>
            </a:r>
            <a:endParaRPr lang="en-GB" dirty="0">
              <a:solidFill>
                <a:prstClr val="black"/>
              </a:solidFill>
            </a:endParaRPr>
          </a:p>
        </p:txBody>
      </p:sp>
    </p:spTree>
    <p:extLst>
      <p:ext uri="{BB962C8B-B14F-4D97-AF65-F5344CB8AC3E}">
        <p14:creationId xmlns:p14="http://schemas.microsoft.com/office/powerpoint/2010/main" val="33060965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Recognizing C/C++ structure</a:t>
            </a:r>
          </a:p>
        </p:txBody>
      </p:sp>
      <p:sp>
        <p:nvSpPr>
          <p:cNvPr id="3" name="Content Placeholder 2"/>
          <p:cNvSpPr>
            <a:spLocks noGrp="1"/>
          </p:cNvSpPr>
          <p:nvPr>
            <p:ph idx="1"/>
          </p:nvPr>
        </p:nvSpPr>
        <p:spPr/>
        <p:txBody>
          <a:bodyPr/>
          <a:lstStyle/>
          <a:p>
            <a:r>
              <a:rPr lang="en-GB" dirty="0" smtClean="0"/>
              <a:t>If statement</a:t>
            </a:r>
            <a:endParaRPr lang="en-GB" dirty="0"/>
          </a:p>
        </p:txBody>
      </p:sp>
      <p:sp>
        <p:nvSpPr>
          <p:cNvPr id="4" name="TextBox 3"/>
          <p:cNvSpPr txBox="1"/>
          <p:nvPr/>
        </p:nvSpPr>
        <p:spPr>
          <a:xfrm>
            <a:off x="251520" y="2348880"/>
            <a:ext cx="3000821" cy="2308324"/>
          </a:xfrm>
          <a:prstGeom prst="rect">
            <a:avLst/>
          </a:prstGeom>
          <a:noFill/>
          <a:ln>
            <a:solidFill>
              <a:schemeClr val="accent1"/>
            </a:solidFill>
          </a:ln>
        </p:spPr>
        <p:txBody>
          <a:bodyPr wrap="none" rtlCol="0">
            <a:spAutoFit/>
          </a:bodyPr>
          <a:lstStyle/>
          <a:p>
            <a:r>
              <a:rPr lang="en-GB" dirty="0" err="1">
                <a:solidFill>
                  <a:prstClr val="black"/>
                </a:solidFill>
              </a:rPr>
              <a:t>int</a:t>
            </a:r>
            <a:r>
              <a:rPr lang="en-GB" dirty="0">
                <a:solidFill>
                  <a:prstClr val="black"/>
                </a:solidFill>
              </a:rPr>
              <a:t> x = 1;</a:t>
            </a:r>
          </a:p>
          <a:p>
            <a:r>
              <a:rPr lang="en-GB" dirty="0" err="1">
                <a:solidFill>
                  <a:prstClr val="black"/>
                </a:solidFill>
              </a:rPr>
              <a:t>int</a:t>
            </a:r>
            <a:r>
              <a:rPr lang="en-GB" dirty="0">
                <a:solidFill>
                  <a:prstClr val="black"/>
                </a:solidFill>
              </a:rPr>
              <a:t> y = 2;</a:t>
            </a:r>
          </a:p>
          <a:p>
            <a:r>
              <a:rPr lang="en-GB" b="1" dirty="0">
                <a:solidFill>
                  <a:prstClr val="black"/>
                </a:solidFill>
              </a:rPr>
              <a:t>if(x == y){</a:t>
            </a:r>
          </a:p>
          <a:p>
            <a:r>
              <a:rPr lang="pt-BR" dirty="0">
                <a:solidFill>
                  <a:prstClr val="black"/>
                </a:solidFill>
              </a:rPr>
              <a:t>printf("x equals y.\n");</a:t>
            </a:r>
          </a:p>
          <a:p>
            <a:r>
              <a:rPr lang="en-GB" dirty="0">
                <a:solidFill>
                  <a:prstClr val="black"/>
                </a:solidFill>
              </a:rPr>
              <a:t>}</a:t>
            </a:r>
          </a:p>
          <a:p>
            <a:r>
              <a:rPr lang="en-GB" dirty="0">
                <a:solidFill>
                  <a:prstClr val="black"/>
                </a:solidFill>
              </a:rPr>
              <a:t>else{</a:t>
            </a:r>
          </a:p>
          <a:p>
            <a:r>
              <a:rPr lang="en-GB" dirty="0" err="1">
                <a:solidFill>
                  <a:prstClr val="black"/>
                </a:solidFill>
              </a:rPr>
              <a:t>printf</a:t>
            </a:r>
            <a:r>
              <a:rPr lang="en-GB" dirty="0">
                <a:solidFill>
                  <a:prstClr val="black"/>
                </a:solidFill>
              </a:rPr>
              <a:t>("x is not equal to y.\n");</a:t>
            </a:r>
          </a:p>
          <a:p>
            <a:r>
              <a:rPr lang="en-GB" dirty="0">
                <a:solidFill>
                  <a:prstClr val="black"/>
                </a:solidFill>
              </a:rPr>
              <a:t>}</a:t>
            </a:r>
          </a:p>
        </p:txBody>
      </p:sp>
      <p:sp>
        <p:nvSpPr>
          <p:cNvPr id="5" name="TextBox 4"/>
          <p:cNvSpPr txBox="1"/>
          <p:nvPr/>
        </p:nvSpPr>
        <p:spPr>
          <a:xfrm>
            <a:off x="3779912" y="1794882"/>
            <a:ext cx="5256584" cy="3693319"/>
          </a:xfrm>
          <a:prstGeom prst="rect">
            <a:avLst/>
          </a:prstGeom>
          <a:noFill/>
          <a:ln>
            <a:solidFill>
              <a:schemeClr val="accent1"/>
            </a:solidFill>
          </a:ln>
        </p:spPr>
        <p:txBody>
          <a:bodyPr wrap="square" rtlCol="0">
            <a:spAutoFit/>
          </a:bodyPr>
          <a:lstStyle/>
          <a:p>
            <a:r>
              <a:rPr lang="en-GB" dirty="0">
                <a:solidFill>
                  <a:prstClr val="black"/>
                </a:solidFill>
              </a:rPr>
              <a:t>00401006 </a:t>
            </a:r>
            <a:r>
              <a:rPr lang="en-GB" dirty="0" err="1">
                <a:solidFill>
                  <a:prstClr val="black"/>
                </a:solidFill>
              </a:rPr>
              <a:t>mov</a:t>
            </a:r>
            <a:r>
              <a:rPr lang="en-GB" dirty="0">
                <a:solidFill>
                  <a:prstClr val="black"/>
                </a:solidFill>
              </a:rPr>
              <a:t>	[</a:t>
            </a:r>
            <a:r>
              <a:rPr lang="en-GB" b="1" dirty="0">
                <a:solidFill>
                  <a:prstClr val="black"/>
                </a:solidFill>
              </a:rPr>
              <a:t>ebp+var_8</a:t>
            </a:r>
            <a:r>
              <a:rPr lang="en-GB" dirty="0">
                <a:solidFill>
                  <a:prstClr val="black"/>
                </a:solidFill>
              </a:rPr>
              <a:t>], 1; </a:t>
            </a:r>
            <a:r>
              <a:rPr lang="en-GB" dirty="0">
                <a:solidFill>
                  <a:srgbClr val="FF0000"/>
                </a:solidFill>
              </a:rPr>
              <a:t>x</a:t>
            </a:r>
          </a:p>
          <a:p>
            <a:r>
              <a:rPr lang="en-GB" dirty="0">
                <a:solidFill>
                  <a:prstClr val="black"/>
                </a:solidFill>
              </a:rPr>
              <a:t>0040100D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2; </a:t>
            </a:r>
            <a:r>
              <a:rPr lang="en-GB" dirty="0">
                <a:solidFill>
                  <a:srgbClr val="FF0000"/>
                </a:solidFill>
              </a:rPr>
              <a:t>y</a:t>
            </a:r>
          </a:p>
          <a:p>
            <a:r>
              <a:rPr lang="en-GB" dirty="0">
                <a:solidFill>
                  <a:prstClr val="black"/>
                </a:solidFill>
              </a:rPr>
              <a:t>00401014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ebp+var_8</a:t>
            </a:r>
            <a:r>
              <a:rPr lang="en-GB" dirty="0">
                <a:solidFill>
                  <a:prstClr val="black"/>
                </a:solidFill>
              </a:rPr>
              <a:t>]</a:t>
            </a:r>
          </a:p>
          <a:p>
            <a:r>
              <a:rPr lang="en-GB" dirty="0">
                <a:solidFill>
                  <a:srgbClr val="FF0000"/>
                </a:solidFill>
              </a:rPr>
              <a:t>00401017 </a:t>
            </a:r>
            <a:r>
              <a:rPr lang="en-GB" dirty="0" err="1">
                <a:solidFill>
                  <a:srgbClr val="FF0000"/>
                </a:solidFill>
                <a:effectLst>
                  <a:outerShdw blurRad="38100" dist="38100" dir="2700000" algn="tl">
                    <a:srgbClr val="000000">
                      <a:alpha val="43137"/>
                    </a:srgbClr>
                  </a:outerShdw>
                </a:effectLst>
              </a:rPr>
              <a:t>cmp</a:t>
            </a:r>
            <a:r>
              <a:rPr lang="en-GB" dirty="0">
                <a:solidFill>
                  <a:srgbClr val="FF0000"/>
                </a:solidFill>
                <a:effectLst>
                  <a:outerShdw blurRad="38100" dist="38100" dir="2700000" algn="tl">
                    <a:srgbClr val="000000">
                      <a:alpha val="43137"/>
                    </a:srgbClr>
                  </a:outerShdw>
                </a:effectLst>
              </a:rPr>
              <a:t> </a:t>
            </a:r>
            <a:r>
              <a:rPr lang="en-GB" dirty="0">
                <a:solidFill>
                  <a:srgbClr val="FF0000"/>
                </a:solidFill>
              </a:rPr>
              <a:t>	</a:t>
            </a:r>
            <a:r>
              <a:rPr lang="en-GB" dirty="0" err="1">
                <a:solidFill>
                  <a:srgbClr val="FF0000"/>
                </a:solidFill>
              </a:rPr>
              <a:t>eax</a:t>
            </a:r>
            <a:r>
              <a:rPr lang="en-GB" dirty="0">
                <a:solidFill>
                  <a:srgbClr val="FF0000"/>
                </a:solidFill>
              </a:rPr>
              <a:t>, [</a:t>
            </a:r>
            <a:r>
              <a:rPr lang="en-GB" b="1" dirty="0">
                <a:solidFill>
                  <a:srgbClr val="FF0000"/>
                </a:solidFill>
              </a:rPr>
              <a:t>ebp+var_4</a:t>
            </a:r>
            <a:r>
              <a:rPr lang="en-GB" dirty="0">
                <a:solidFill>
                  <a:srgbClr val="FF0000"/>
                </a:solidFill>
              </a:rPr>
              <a:t>] </a:t>
            </a:r>
          </a:p>
          <a:p>
            <a:r>
              <a:rPr lang="en-GB" dirty="0">
                <a:solidFill>
                  <a:srgbClr val="FF0000"/>
                </a:solidFill>
              </a:rPr>
              <a:t>0040101A </a:t>
            </a:r>
            <a:r>
              <a:rPr lang="en-GB" b="1" dirty="0" err="1">
                <a:solidFill>
                  <a:srgbClr val="FF0000"/>
                </a:solidFill>
              </a:rPr>
              <a:t>jnz</a:t>
            </a:r>
            <a:r>
              <a:rPr lang="en-GB" b="1" dirty="0">
                <a:solidFill>
                  <a:srgbClr val="FF0000"/>
                </a:solidFill>
              </a:rPr>
              <a:t> 	short loc_40102B </a:t>
            </a:r>
            <a:endParaRPr lang="en-GB" dirty="0">
              <a:solidFill>
                <a:srgbClr val="FF0000"/>
              </a:solidFill>
            </a:endParaRPr>
          </a:p>
          <a:p>
            <a:r>
              <a:rPr lang="en-GB" dirty="0">
                <a:solidFill>
                  <a:prstClr val="black"/>
                </a:solidFill>
              </a:rPr>
              <a:t>0040101C push 	offset </a:t>
            </a:r>
            <a:r>
              <a:rPr lang="en-GB" dirty="0" err="1">
                <a:solidFill>
                  <a:prstClr val="black"/>
                </a:solidFill>
              </a:rPr>
              <a:t>aXEqualsY</a:t>
            </a:r>
            <a:r>
              <a:rPr lang="en-GB" dirty="0">
                <a:solidFill>
                  <a:prstClr val="black"/>
                </a:solidFill>
              </a:rPr>
              <a:t>_ ; "x equals y.\n"</a:t>
            </a:r>
          </a:p>
          <a:p>
            <a:r>
              <a:rPr lang="en-GB" dirty="0">
                <a:solidFill>
                  <a:prstClr val="black"/>
                </a:solidFill>
              </a:rPr>
              <a:t>00401021 call 	</a:t>
            </a:r>
            <a:r>
              <a:rPr lang="en-GB" dirty="0" err="1">
                <a:solidFill>
                  <a:prstClr val="black"/>
                </a:solidFill>
              </a:rPr>
              <a:t>printf</a:t>
            </a:r>
            <a:endParaRPr lang="en-GB" dirty="0">
              <a:solidFill>
                <a:prstClr val="black"/>
              </a:solidFill>
            </a:endParaRPr>
          </a:p>
          <a:p>
            <a:r>
              <a:rPr lang="en-GB" dirty="0">
                <a:solidFill>
                  <a:prstClr val="black"/>
                </a:solidFill>
              </a:rPr>
              <a:t>00401026 add 	</a:t>
            </a:r>
            <a:r>
              <a:rPr lang="en-GB" dirty="0" err="1">
                <a:solidFill>
                  <a:prstClr val="black"/>
                </a:solidFill>
              </a:rPr>
              <a:t>esp</a:t>
            </a:r>
            <a:r>
              <a:rPr lang="en-GB" dirty="0">
                <a:solidFill>
                  <a:prstClr val="black"/>
                </a:solidFill>
              </a:rPr>
              <a:t>, 4 ; </a:t>
            </a:r>
            <a:r>
              <a:rPr lang="en-GB" dirty="0">
                <a:solidFill>
                  <a:srgbClr val="FF0000"/>
                </a:solidFill>
              </a:rPr>
              <a:t>return to [ebp+var_8]</a:t>
            </a:r>
          </a:p>
          <a:p>
            <a:r>
              <a:rPr lang="en-GB" dirty="0">
                <a:solidFill>
                  <a:prstClr val="black"/>
                </a:solidFill>
              </a:rPr>
              <a:t>00401029 </a:t>
            </a:r>
            <a:r>
              <a:rPr lang="en-GB" dirty="0" err="1">
                <a:solidFill>
                  <a:prstClr val="black"/>
                </a:solidFill>
              </a:rPr>
              <a:t>jmp</a:t>
            </a:r>
            <a:r>
              <a:rPr lang="en-GB" dirty="0">
                <a:solidFill>
                  <a:prstClr val="black"/>
                </a:solidFill>
              </a:rPr>
              <a:t> 	short loc_401038 </a:t>
            </a:r>
          </a:p>
          <a:p>
            <a:r>
              <a:rPr lang="en-GB" dirty="0">
                <a:solidFill>
                  <a:prstClr val="black"/>
                </a:solidFill>
              </a:rPr>
              <a:t>0040102B </a:t>
            </a:r>
            <a:r>
              <a:rPr lang="en-GB" b="1" dirty="0">
                <a:solidFill>
                  <a:prstClr val="black"/>
                </a:solidFill>
              </a:rPr>
              <a:t>loc_40102B</a:t>
            </a:r>
            <a:r>
              <a:rPr lang="en-GB" dirty="0">
                <a:solidFill>
                  <a:prstClr val="black"/>
                </a:solidFill>
              </a:rPr>
              <a:t>:</a:t>
            </a:r>
          </a:p>
          <a:p>
            <a:r>
              <a:rPr lang="en-GB" dirty="0">
                <a:solidFill>
                  <a:prstClr val="black"/>
                </a:solidFill>
              </a:rPr>
              <a:t>0040102B push 	offset </a:t>
            </a:r>
            <a:r>
              <a:rPr lang="en-GB" dirty="0" err="1">
                <a:solidFill>
                  <a:prstClr val="black"/>
                </a:solidFill>
              </a:rPr>
              <a:t>aXIsNotEqualToY</a:t>
            </a:r>
            <a:r>
              <a:rPr lang="en-GB" dirty="0">
                <a:solidFill>
                  <a:prstClr val="black"/>
                </a:solidFill>
              </a:rPr>
              <a:t> ; "x is not equal to y.\n"</a:t>
            </a:r>
          </a:p>
          <a:p>
            <a:r>
              <a:rPr lang="en-GB" dirty="0">
                <a:solidFill>
                  <a:prstClr val="black"/>
                </a:solidFill>
              </a:rPr>
              <a:t>00401030 call 	</a:t>
            </a:r>
            <a:r>
              <a:rPr lang="en-GB" dirty="0" err="1">
                <a:solidFill>
                  <a:prstClr val="black"/>
                </a:solidFill>
              </a:rPr>
              <a:t>printf</a:t>
            </a:r>
            <a:endParaRPr lang="en-GB" dirty="0">
              <a:solidFill>
                <a:prstClr val="black"/>
              </a:solidFill>
            </a:endParaRPr>
          </a:p>
        </p:txBody>
      </p:sp>
    </p:spTree>
    <p:extLst>
      <p:ext uri="{BB962C8B-B14F-4D97-AF65-F5344CB8AC3E}">
        <p14:creationId xmlns:p14="http://schemas.microsoft.com/office/powerpoint/2010/main" val="25610418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029" y="3054222"/>
            <a:ext cx="3834706" cy="3678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Recognizing C/C++ structure</a:t>
            </a:r>
          </a:p>
        </p:txBody>
      </p:sp>
      <p:sp>
        <p:nvSpPr>
          <p:cNvPr id="3" name="Content Placeholder 2"/>
          <p:cNvSpPr>
            <a:spLocks noGrp="1"/>
          </p:cNvSpPr>
          <p:nvPr>
            <p:ph idx="1"/>
          </p:nvPr>
        </p:nvSpPr>
        <p:spPr/>
        <p:txBody>
          <a:bodyPr/>
          <a:lstStyle/>
          <a:p>
            <a:r>
              <a:rPr lang="en-GB" dirty="0" smtClean="0"/>
              <a:t>Loop</a:t>
            </a:r>
            <a:endParaRPr lang="en-GB" dirty="0"/>
          </a:p>
        </p:txBody>
      </p:sp>
      <p:sp>
        <p:nvSpPr>
          <p:cNvPr id="4" name="TextBox 3"/>
          <p:cNvSpPr txBox="1"/>
          <p:nvPr/>
        </p:nvSpPr>
        <p:spPr>
          <a:xfrm>
            <a:off x="620888" y="1700808"/>
            <a:ext cx="2529347" cy="1477328"/>
          </a:xfrm>
          <a:prstGeom prst="rect">
            <a:avLst/>
          </a:prstGeom>
          <a:noFill/>
          <a:ln>
            <a:solidFill>
              <a:schemeClr val="accent1"/>
            </a:solidFill>
          </a:ln>
        </p:spPr>
        <p:txBody>
          <a:bodyPr wrap="none" rtlCol="0">
            <a:spAutoFit/>
          </a:bodyPr>
          <a:lstStyle/>
          <a:p>
            <a:r>
              <a:rPr lang="en-GB" dirty="0" err="1">
                <a:solidFill>
                  <a:prstClr val="black"/>
                </a:solidFill>
              </a:rPr>
              <a:t>int</a:t>
            </a:r>
            <a:r>
              <a:rPr lang="en-GB" dirty="0">
                <a:solidFill>
                  <a:prstClr val="black"/>
                </a:solidFill>
              </a:rPr>
              <a:t> </a:t>
            </a:r>
            <a:r>
              <a:rPr lang="en-GB" dirty="0" err="1">
                <a:solidFill>
                  <a:prstClr val="black"/>
                </a:solidFill>
              </a:rPr>
              <a:t>i</a:t>
            </a:r>
            <a:r>
              <a:rPr lang="en-GB" dirty="0">
                <a:solidFill>
                  <a:prstClr val="black"/>
                </a:solidFill>
              </a:rPr>
              <a:t>;</a:t>
            </a:r>
          </a:p>
          <a:p>
            <a:r>
              <a:rPr lang="en-GB" dirty="0">
                <a:solidFill>
                  <a:prstClr val="black"/>
                </a:solidFill>
              </a:rPr>
              <a:t>for(</a:t>
            </a:r>
            <a:r>
              <a:rPr lang="en-GB" dirty="0" err="1">
                <a:solidFill>
                  <a:prstClr val="black"/>
                </a:solidFill>
              </a:rPr>
              <a:t>i</a:t>
            </a:r>
            <a:r>
              <a:rPr lang="en-GB" dirty="0">
                <a:solidFill>
                  <a:prstClr val="black"/>
                </a:solidFill>
              </a:rPr>
              <a:t>=0; </a:t>
            </a:r>
            <a:r>
              <a:rPr lang="en-GB" dirty="0" err="1">
                <a:solidFill>
                  <a:prstClr val="black"/>
                </a:solidFill>
              </a:rPr>
              <a:t>i</a:t>
            </a:r>
            <a:r>
              <a:rPr lang="en-GB" dirty="0">
                <a:solidFill>
                  <a:prstClr val="black"/>
                </a:solidFill>
              </a:rPr>
              <a:t>&lt;100; </a:t>
            </a:r>
            <a:r>
              <a:rPr lang="en-GB" dirty="0" err="1">
                <a:solidFill>
                  <a:prstClr val="black"/>
                </a:solidFill>
              </a:rPr>
              <a:t>i</a:t>
            </a:r>
            <a:r>
              <a:rPr lang="en-GB" dirty="0">
                <a:solidFill>
                  <a:prstClr val="black"/>
                </a:solidFill>
              </a:rPr>
              <a:t>++)</a:t>
            </a:r>
          </a:p>
          <a:p>
            <a:r>
              <a:rPr lang="en-GB" dirty="0">
                <a:solidFill>
                  <a:prstClr val="black"/>
                </a:solidFill>
              </a:rPr>
              <a:t>{</a:t>
            </a:r>
          </a:p>
          <a:p>
            <a:r>
              <a:rPr lang="pt-BR" dirty="0">
                <a:solidFill>
                  <a:prstClr val="black"/>
                </a:solidFill>
              </a:rPr>
              <a:t>printf("i equals %d\n", i);</a:t>
            </a:r>
          </a:p>
          <a:p>
            <a:r>
              <a:rPr lang="en-GB" dirty="0">
                <a:solidFill>
                  <a:prstClr val="black"/>
                </a:solidFill>
              </a:rPr>
              <a:t>}</a:t>
            </a:r>
          </a:p>
        </p:txBody>
      </p:sp>
      <p:sp>
        <p:nvSpPr>
          <p:cNvPr id="5" name="TextBox 4"/>
          <p:cNvSpPr txBox="1"/>
          <p:nvPr/>
        </p:nvSpPr>
        <p:spPr>
          <a:xfrm>
            <a:off x="4426003" y="1207539"/>
            <a:ext cx="4610493" cy="5632311"/>
          </a:xfrm>
          <a:prstGeom prst="rect">
            <a:avLst/>
          </a:prstGeom>
          <a:noFill/>
          <a:ln>
            <a:solidFill>
              <a:schemeClr val="accent1"/>
            </a:solidFill>
          </a:ln>
        </p:spPr>
        <p:txBody>
          <a:bodyPr wrap="none" rtlCol="0">
            <a:spAutoFit/>
          </a:bodyPr>
          <a:lstStyle/>
          <a:p>
            <a:r>
              <a:rPr lang="en-GB" dirty="0">
                <a:solidFill>
                  <a:prstClr val="black"/>
                </a:solidFill>
              </a:rPr>
              <a:t>00401004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0 </a:t>
            </a:r>
          </a:p>
          <a:p>
            <a:r>
              <a:rPr lang="en-GB" dirty="0">
                <a:solidFill>
                  <a:prstClr val="black"/>
                </a:solidFill>
              </a:rPr>
              <a:t>0040100B </a:t>
            </a:r>
            <a:r>
              <a:rPr lang="en-GB" dirty="0" err="1">
                <a:solidFill>
                  <a:prstClr val="black"/>
                </a:solidFill>
                <a:effectLst>
                  <a:outerShdw blurRad="38100" dist="38100" dir="2700000" algn="tl">
                    <a:srgbClr val="000000">
                      <a:alpha val="43137"/>
                    </a:srgbClr>
                  </a:outerShdw>
                </a:effectLst>
              </a:rPr>
              <a:t>jmp</a:t>
            </a:r>
            <a:r>
              <a:rPr lang="en-GB" dirty="0">
                <a:solidFill>
                  <a:prstClr val="black"/>
                </a:solidFill>
                <a:effectLst>
                  <a:outerShdw blurRad="38100" dist="38100" dir="2700000" algn="tl">
                    <a:srgbClr val="000000">
                      <a:alpha val="43137"/>
                    </a:srgbClr>
                  </a:outerShdw>
                </a:effectLst>
              </a:rPr>
              <a:t> </a:t>
            </a:r>
            <a:r>
              <a:rPr lang="en-GB" dirty="0">
                <a:solidFill>
                  <a:prstClr val="black"/>
                </a:solidFill>
              </a:rPr>
              <a:t>	short loc_401016 </a:t>
            </a:r>
          </a:p>
          <a:p>
            <a:r>
              <a:rPr lang="en-GB" dirty="0">
                <a:solidFill>
                  <a:prstClr val="black"/>
                </a:solidFill>
              </a:rPr>
              <a:t>0040100D </a:t>
            </a:r>
            <a:r>
              <a:rPr lang="en-GB" dirty="0">
                <a:solidFill>
                  <a:prstClr val="black"/>
                </a:solidFill>
                <a:effectLst>
                  <a:outerShdw blurRad="38100" dist="38100" dir="2700000" algn="tl">
                    <a:srgbClr val="000000">
                      <a:alpha val="43137"/>
                    </a:srgbClr>
                  </a:outerShdw>
                </a:effectLst>
              </a:rPr>
              <a:t>loc_40100D</a:t>
            </a:r>
            <a:r>
              <a:rPr lang="en-GB" dirty="0">
                <a:solidFill>
                  <a:prstClr val="black"/>
                </a:solidFill>
              </a:rPr>
              <a:t>:</a:t>
            </a:r>
          </a:p>
          <a:p>
            <a:r>
              <a:rPr lang="en-GB" dirty="0">
                <a:solidFill>
                  <a:prstClr val="black"/>
                </a:solidFill>
              </a:rPr>
              <a:t>0040100D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ebp+var_4</a:t>
            </a:r>
            <a:r>
              <a:rPr lang="en-GB" dirty="0">
                <a:solidFill>
                  <a:prstClr val="black"/>
                </a:solidFill>
              </a:rPr>
              <a:t>] </a:t>
            </a:r>
          </a:p>
          <a:p>
            <a:r>
              <a:rPr lang="en-GB" dirty="0">
                <a:solidFill>
                  <a:prstClr val="black"/>
                </a:solidFill>
              </a:rPr>
              <a:t>00401010 add 	</a:t>
            </a:r>
            <a:r>
              <a:rPr lang="en-GB" dirty="0" err="1">
                <a:solidFill>
                  <a:prstClr val="black"/>
                </a:solidFill>
              </a:rPr>
              <a:t>eax</a:t>
            </a:r>
            <a:r>
              <a:rPr lang="en-GB" dirty="0">
                <a:solidFill>
                  <a:prstClr val="black"/>
                </a:solidFill>
              </a:rPr>
              <a:t>, 1</a:t>
            </a:r>
          </a:p>
          <a:p>
            <a:r>
              <a:rPr lang="en-GB" dirty="0">
                <a:solidFill>
                  <a:prstClr val="black"/>
                </a:solidFill>
              </a:rPr>
              <a:t>00401013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a:t>
            </a:r>
            <a:r>
              <a:rPr lang="en-GB" dirty="0" err="1">
                <a:solidFill>
                  <a:prstClr val="black"/>
                </a:solidFill>
              </a:rPr>
              <a:t>eax</a:t>
            </a:r>
            <a:r>
              <a:rPr lang="en-GB" dirty="0">
                <a:solidFill>
                  <a:prstClr val="black"/>
                </a:solidFill>
              </a:rPr>
              <a:t> </a:t>
            </a:r>
          </a:p>
          <a:p>
            <a:r>
              <a:rPr lang="en-GB" dirty="0">
                <a:solidFill>
                  <a:prstClr val="black"/>
                </a:solidFill>
              </a:rPr>
              <a:t>00401016 </a:t>
            </a:r>
            <a:r>
              <a:rPr lang="en-GB" dirty="0">
                <a:solidFill>
                  <a:prstClr val="black"/>
                </a:solidFill>
                <a:effectLst>
                  <a:outerShdw blurRad="38100" dist="38100" dir="2700000" algn="tl">
                    <a:srgbClr val="000000">
                      <a:alpha val="43137"/>
                    </a:srgbClr>
                  </a:outerShdw>
                </a:effectLst>
              </a:rPr>
              <a:t>loc_401016</a:t>
            </a:r>
            <a:r>
              <a:rPr lang="en-GB" dirty="0">
                <a:solidFill>
                  <a:prstClr val="black"/>
                </a:solidFill>
              </a:rPr>
              <a:t>:</a:t>
            </a:r>
          </a:p>
          <a:p>
            <a:r>
              <a:rPr lang="en-GB" dirty="0">
                <a:solidFill>
                  <a:prstClr val="black"/>
                </a:solidFill>
              </a:rPr>
              <a:t>00401016 </a:t>
            </a:r>
            <a:r>
              <a:rPr lang="en-GB" dirty="0" err="1">
                <a:solidFill>
                  <a:prstClr val="black"/>
                </a:solidFill>
                <a:effectLst>
                  <a:outerShdw blurRad="38100" dist="38100" dir="2700000" algn="tl">
                    <a:srgbClr val="000000">
                      <a:alpha val="43137"/>
                    </a:srgbClr>
                  </a:outerShdw>
                </a:effectLst>
              </a:rPr>
              <a:t>cmp</a:t>
            </a:r>
            <a:r>
              <a:rPr lang="en-GB" dirty="0">
                <a:solidFill>
                  <a:prstClr val="black"/>
                </a:solidFill>
                <a:effectLst>
                  <a:outerShdw blurRad="38100" dist="38100" dir="2700000" algn="tl">
                    <a:srgbClr val="000000">
                      <a:alpha val="43137"/>
                    </a:srgbClr>
                  </a:outerShdw>
                </a:effectLst>
              </a:rPr>
              <a:t> </a:t>
            </a:r>
            <a:r>
              <a:rPr lang="en-GB" dirty="0">
                <a:solidFill>
                  <a:prstClr val="black"/>
                </a:solidFill>
              </a:rPr>
              <a:t>	[</a:t>
            </a:r>
            <a:r>
              <a:rPr lang="en-GB" b="1" dirty="0">
                <a:solidFill>
                  <a:prstClr val="black"/>
                </a:solidFill>
              </a:rPr>
              <a:t>ebp+var_4</a:t>
            </a:r>
            <a:r>
              <a:rPr lang="en-GB" dirty="0">
                <a:solidFill>
                  <a:prstClr val="black"/>
                </a:solidFill>
              </a:rPr>
              <a:t>], 64h </a:t>
            </a:r>
          </a:p>
          <a:p>
            <a:r>
              <a:rPr lang="en-GB" dirty="0">
                <a:solidFill>
                  <a:prstClr val="black"/>
                </a:solidFill>
              </a:rPr>
              <a:t>0040101A </a:t>
            </a:r>
            <a:r>
              <a:rPr lang="en-GB" dirty="0" err="1">
                <a:solidFill>
                  <a:prstClr val="black"/>
                </a:solidFill>
                <a:effectLst>
                  <a:outerShdw blurRad="38100" dist="38100" dir="2700000" algn="tl">
                    <a:srgbClr val="000000">
                      <a:alpha val="43137"/>
                    </a:srgbClr>
                  </a:outerShdw>
                </a:effectLst>
              </a:rPr>
              <a:t>jge</a:t>
            </a:r>
            <a:r>
              <a:rPr lang="en-GB" dirty="0">
                <a:solidFill>
                  <a:prstClr val="black"/>
                </a:solidFill>
                <a:effectLst>
                  <a:outerShdw blurRad="38100" dist="38100" dir="2700000" algn="tl">
                    <a:srgbClr val="000000">
                      <a:alpha val="43137"/>
                    </a:srgbClr>
                  </a:outerShdw>
                </a:effectLst>
              </a:rPr>
              <a:t> </a:t>
            </a:r>
            <a:r>
              <a:rPr lang="en-GB" dirty="0">
                <a:solidFill>
                  <a:prstClr val="black"/>
                </a:solidFill>
              </a:rPr>
              <a:t>	short loc_40102F </a:t>
            </a:r>
          </a:p>
          <a:p>
            <a:r>
              <a:rPr lang="en-GB" dirty="0">
                <a:solidFill>
                  <a:prstClr val="black"/>
                </a:solidFill>
              </a:rPr>
              <a:t>0040101C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a:t>
            </a:r>
            <a:r>
              <a:rPr lang="en-GB" b="1" dirty="0">
                <a:solidFill>
                  <a:prstClr val="black"/>
                </a:solidFill>
              </a:rPr>
              <a:t>ebp+var_4</a:t>
            </a:r>
            <a:r>
              <a:rPr lang="en-GB" dirty="0">
                <a:solidFill>
                  <a:prstClr val="black"/>
                </a:solidFill>
              </a:rPr>
              <a:t>]</a:t>
            </a:r>
          </a:p>
          <a:p>
            <a:r>
              <a:rPr lang="en-GB" dirty="0">
                <a:solidFill>
                  <a:prstClr val="black"/>
                </a:solidFill>
              </a:rPr>
              <a:t>0040101F push	 </a:t>
            </a:r>
            <a:r>
              <a:rPr lang="en-GB" dirty="0" err="1">
                <a:solidFill>
                  <a:prstClr val="black"/>
                </a:solidFill>
              </a:rPr>
              <a:t>ecx</a:t>
            </a:r>
            <a:endParaRPr lang="en-GB" dirty="0">
              <a:solidFill>
                <a:prstClr val="black"/>
              </a:solidFill>
            </a:endParaRPr>
          </a:p>
          <a:p>
            <a:r>
              <a:rPr lang="en-GB" dirty="0">
                <a:solidFill>
                  <a:prstClr val="black"/>
                </a:solidFill>
              </a:rPr>
              <a:t>00401020 push	 offset </a:t>
            </a:r>
            <a:r>
              <a:rPr lang="en-GB" dirty="0" err="1">
                <a:solidFill>
                  <a:prstClr val="black"/>
                </a:solidFill>
              </a:rPr>
              <a:t>aID</a:t>
            </a:r>
            <a:r>
              <a:rPr lang="en-GB" dirty="0">
                <a:solidFill>
                  <a:prstClr val="black"/>
                </a:solidFill>
              </a:rPr>
              <a:t> ; "</a:t>
            </a:r>
            <a:r>
              <a:rPr lang="en-GB" dirty="0" err="1">
                <a:solidFill>
                  <a:prstClr val="black"/>
                </a:solidFill>
              </a:rPr>
              <a:t>i</a:t>
            </a:r>
            <a:r>
              <a:rPr lang="en-GB" dirty="0">
                <a:solidFill>
                  <a:prstClr val="black"/>
                </a:solidFill>
              </a:rPr>
              <a:t> equals %d\n"</a:t>
            </a:r>
          </a:p>
          <a:p>
            <a:r>
              <a:rPr lang="en-GB" dirty="0">
                <a:solidFill>
                  <a:prstClr val="black"/>
                </a:solidFill>
              </a:rPr>
              <a:t>00401025 call	 </a:t>
            </a:r>
            <a:r>
              <a:rPr lang="en-GB" dirty="0" err="1">
                <a:solidFill>
                  <a:prstClr val="black"/>
                </a:solidFill>
              </a:rPr>
              <a:t>printf</a:t>
            </a:r>
            <a:endParaRPr lang="en-GB" dirty="0">
              <a:solidFill>
                <a:prstClr val="black"/>
              </a:solidFill>
            </a:endParaRPr>
          </a:p>
          <a:p>
            <a:r>
              <a:rPr lang="en-GB" dirty="0">
                <a:solidFill>
                  <a:prstClr val="black"/>
                </a:solidFill>
              </a:rPr>
              <a:t>0040102A add 	</a:t>
            </a:r>
            <a:r>
              <a:rPr lang="en-GB" dirty="0" err="1">
                <a:solidFill>
                  <a:prstClr val="black"/>
                </a:solidFill>
              </a:rPr>
              <a:t>esp</a:t>
            </a:r>
            <a:r>
              <a:rPr lang="en-GB" dirty="0">
                <a:solidFill>
                  <a:prstClr val="black"/>
                </a:solidFill>
              </a:rPr>
              <a:t>, 8</a:t>
            </a:r>
          </a:p>
          <a:p>
            <a:r>
              <a:rPr lang="en-GB" dirty="0">
                <a:solidFill>
                  <a:prstClr val="black"/>
                </a:solidFill>
              </a:rPr>
              <a:t>0040102D </a:t>
            </a:r>
            <a:r>
              <a:rPr lang="en-GB" dirty="0" err="1">
                <a:solidFill>
                  <a:prstClr val="black"/>
                </a:solidFill>
              </a:rPr>
              <a:t>jmp</a:t>
            </a:r>
            <a:r>
              <a:rPr lang="en-GB" dirty="0">
                <a:solidFill>
                  <a:prstClr val="black"/>
                </a:solidFill>
              </a:rPr>
              <a:t> 	short loc_40100D</a:t>
            </a:r>
          </a:p>
          <a:p>
            <a:r>
              <a:rPr lang="en-GB" dirty="0">
                <a:solidFill>
                  <a:prstClr val="black"/>
                </a:solidFill>
              </a:rPr>
              <a:t>0040102F </a:t>
            </a:r>
            <a:r>
              <a:rPr lang="en-GB" dirty="0">
                <a:solidFill>
                  <a:prstClr val="black"/>
                </a:solidFill>
                <a:effectLst>
                  <a:outerShdw blurRad="38100" dist="38100" dir="2700000" algn="tl">
                    <a:srgbClr val="000000">
                      <a:alpha val="43137"/>
                    </a:srgbClr>
                  </a:outerShdw>
                </a:effectLst>
              </a:rPr>
              <a:t>loc_40102F</a:t>
            </a:r>
            <a:r>
              <a:rPr lang="en-GB" dirty="0">
                <a:solidFill>
                  <a:prstClr val="black"/>
                </a:solidFill>
              </a:rPr>
              <a:t>:</a:t>
            </a:r>
          </a:p>
          <a:p>
            <a:r>
              <a:rPr lang="en-GB" dirty="0">
                <a:solidFill>
                  <a:srgbClr val="FF0000"/>
                </a:solidFill>
              </a:rPr>
              <a:t>00401034 </a:t>
            </a:r>
            <a:r>
              <a:rPr lang="en-GB" dirty="0" err="1">
                <a:solidFill>
                  <a:srgbClr val="FF0000"/>
                </a:solidFill>
              </a:rPr>
              <a:t>xor</a:t>
            </a:r>
            <a:r>
              <a:rPr lang="en-GB" dirty="0">
                <a:solidFill>
                  <a:srgbClr val="FF0000"/>
                </a:solidFill>
              </a:rPr>
              <a:t> 	</a:t>
            </a:r>
            <a:r>
              <a:rPr lang="en-GB" dirty="0" err="1">
                <a:solidFill>
                  <a:srgbClr val="FF0000"/>
                </a:solidFill>
              </a:rPr>
              <a:t>eax</a:t>
            </a:r>
            <a:r>
              <a:rPr lang="en-GB" dirty="0">
                <a:solidFill>
                  <a:srgbClr val="FF0000"/>
                </a:solidFill>
              </a:rPr>
              <a:t>, </a:t>
            </a:r>
            <a:r>
              <a:rPr lang="en-GB" dirty="0" err="1">
                <a:solidFill>
                  <a:srgbClr val="FF0000"/>
                </a:solidFill>
              </a:rPr>
              <a:t>eax</a:t>
            </a:r>
            <a:endParaRPr lang="en-GB" dirty="0">
              <a:solidFill>
                <a:srgbClr val="FF0000"/>
              </a:solidFill>
            </a:endParaRPr>
          </a:p>
          <a:p>
            <a:r>
              <a:rPr lang="en-GB" dirty="0">
                <a:solidFill>
                  <a:srgbClr val="FF0000"/>
                </a:solidFill>
              </a:rPr>
              <a:t>004010xx </a:t>
            </a:r>
            <a:r>
              <a:rPr lang="en-GB" dirty="0" err="1">
                <a:solidFill>
                  <a:srgbClr val="FF0000"/>
                </a:solidFill>
              </a:rPr>
              <a:t>mov</a:t>
            </a:r>
            <a:r>
              <a:rPr lang="en-GB" dirty="0">
                <a:solidFill>
                  <a:srgbClr val="FF0000"/>
                </a:solidFill>
              </a:rPr>
              <a:t> 	</a:t>
            </a:r>
            <a:r>
              <a:rPr lang="en-GB" dirty="0" err="1">
                <a:solidFill>
                  <a:srgbClr val="FF0000"/>
                </a:solidFill>
              </a:rPr>
              <a:t>esp</a:t>
            </a:r>
            <a:r>
              <a:rPr lang="en-GB" dirty="0">
                <a:solidFill>
                  <a:srgbClr val="FF0000"/>
                </a:solidFill>
              </a:rPr>
              <a:t>, </a:t>
            </a:r>
            <a:r>
              <a:rPr lang="en-GB" dirty="0" err="1">
                <a:solidFill>
                  <a:srgbClr val="FF0000"/>
                </a:solidFill>
              </a:rPr>
              <a:t>ebp</a:t>
            </a:r>
            <a:endParaRPr lang="en-GB" dirty="0">
              <a:solidFill>
                <a:srgbClr val="FF0000"/>
              </a:solidFill>
            </a:endParaRPr>
          </a:p>
          <a:p>
            <a:r>
              <a:rPr lang="en-GB" dirty="0">
                <a:solidFill>
                  <a:srgbClr val="FF0000"/>
                </a:solidFill>
              </a:rPr>
              <a:t>004010xx pop 	</a:t>
            </a:r>
            <a:r>
              <a:rPr lang="en-GB" dirty="0" err="1">
                <a:solidFill>
                  <a:srgbClr val="FF0000"/>
                </a:solidFill>
              </a:rPr>
              <a:t>ebp</a:t>
            </a:r>
            <a:endParaRPr lang="en-GB" dirty="0">
              <a:solidFill>
                <a:srgbClr val="FF0000"/>
              </a:solidFill>
            </a:endParaRPr>
          </a:p>
          <a:p>
            <a:r>
              <a:rPr lang="en-GB" dirty="0">
                <a:solidFill>
                  <a:srgbClr val="FF0000"/>
                </a:solidFill>
              </a:rPr>
              <a:t>004010xx ret</a:t>
            </a:r>
          </a:p>
        </p:txBody>
      </p:sp>
    </p:spTree>
    <p:extLst>
      <p:ext uri="{BB962C8B-B14F-4D97-AF65-F5344CB8AC3E}">
        <p14:creationId xmlns:p14="http://schemas.microsoft.com/office/powerpoint/2010/main" val="690864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Recognizing C/C++ structure</a:t>
            </a:r>
          </a:p>
        </p:txBody>
      </p:sp>
      <p:sp>
        <p:nvSpPr>
          <p:cNvPr id="3" name="Content Placeholder 2"/>
          <p:cNvSpPr>
            <a:spLocks noGrp="1"/>
          </p:cNvSpPr>
          <p:nvPr>
            <p:ph idx="1"/>
          </p:nvPr>
        </p:nvSpPr>
        <p:spPr/>
        <p:txBody>
          <a:bodyPr/>
          <a:lstStyle/>
          <a:p>
            <a:r>
              <a:rPr lang="en-GB" dirty="0" smtClean="0"/>
              <a:t>Function call</a:t>
            </a:r>
            <a:endParaRPr lang="en-GB" dirty="0"/>
          </a:p>
        </p:txBody>
      </p:sp>
      <p:sp>
        <p:nvSpPr>
          <p:cNvPr id="4" name="TextBox 3"/>
          <p:cNvSpPr txBox="1"/>
          <p:nvPr/>
        </p:nvSpPr>
        <p:spPr>
          <a:xfrm>
            <a:off x="827584" y="1959223"/>
            <a:ext cx="2962542" cy="3693319"/>
          </a:xfrm>
          <a:prstGeom prst="rect">
            <a:avLst/>
          </a:prstGeom>
          <a:noFill/>
          <a:ln>
            <a:solidFill>
              <a:schemeClr val="accent1"/>
            </a:solidFill>
          </a:ln>
        </p:spPr>
        <p:txBody>
          <a:bodyPr wrap="square" rtlCol="0">
            <a:spAutoFit/>
          </a:bodyPr>
          <a:lstStyle/>
          <a:p>
            <a:r>
              <a:rPr lang="en-GB" dirty="0" err="1">
                <a:solidFill>
                  <a:prstClr val="black"/>
                </a:solidFill>
              </a:rPr>
              <a:t>int</a:t>
            </a:r>
            <a:r>
              <a:rPr lang="en-GB" dirty="0">
                <a:solidFill>
                  <a:prstClr val="black"/>
                </a:solidFill>
              </a:rPr>
              <a:t> </a:t>
            </a:r>
            <a:r>
              <a:rPr lang="en-GB" b="1" dirty="0">
                <a:solidFill>
                  <a:prstClr val="black"/>
                </a:solidFill>
              </a:rPr>
              <a:t>adder</a:t>
            </a:r>
            <a:r>
              <a:rPr lang="en-GB" dirty="0">
                <a:solidFill>
                  <a:prstClr val="black"/>
                </a:solidFill>
              </a:rPr>
              <a:t>(</a:t>
            </a:r>
            <a:r>
              <a:rPr lang="en-GB" dirty="0" err="1">
                <a:solidFill>
                  <a:prstClr val="black"/>
                </a:solidFill>
              </a:rPr>
              <a:t>int</a:t>
            </a:r>
            <a:r>
              <a:rPr lang="en-GB" dirty="0">
                <a:solidFill>
                  <a:prstClr val="black"/>
                </a:solidFill>
              </a:rPr>
              <a:t> a, </a:t>
            </a:r>
            <a:r>
              <a:rPr lang="en-GB" dirty="0" err="1">
                <a:solidFill>
                  <a:prstClr val="black"/>
                </a:solidFill>
              </a:rPr>
              <a:t>int</a:t>
            </a:r>
            <a:r>
              <a:rPr lang="en-GB" dirty="0">
                <a:solidFill>
                  <a:prstClr val="black"/>
                </a:solidFill>
              </a:rPr>
              <a:t> b)</a:t>
            </a:r>
          </a:p>
          <a:p>
            <a:r>
              <a:rPr lang="en-GB" dirty="0">
                <a:solidFill>
                  <a:prstClr val="black"/>
                </a:solidFill>
              </a:rPr>
              <a:t>{</a:t>
            </a:r>
          </a:p>
          <a:p>
            <a:r>
              <a:rPr lang="en-GB" dirty="0">
                <a:solidFill>
                  <a:prstClr val="black"/>
                </a:solidFill>
              </a:rPr>
              <a:t>return </a:t>
            </a:r>
            <a:r>
              <a:rPr lang="en-GB" dirty="0" err="1">
                <a:solidFill>
                  <a:prstClr val="black"/>
                </a:solidFill>
              </a:rPr>
              <a:t>a+b</a:t>
            </a:r>
            <a:r>
              <a:rPr lang="en-GB" dirty="0">
                <a:solidFill>
                  <a:prstClr val="black"/>
                </a:solidFill>
              </a:rPr>
              <a:t>;</a:t>
            </a:r>
          </a:p>
          <a:p>
            <a:r>
              <a:rPr lang="en-GB" dirty="0">
                <a:solidFill>
                  <a:prstClr val="black"/>
                </a:solidFill>
              </a:rPr>
              <a:t>}</a:t>
            </a:r>
          </a:p>
          <a:p>
            <a:endParaRPr lang="en-GB" dirty="0">
              <a:solidFill>
                <a:prstClr val="black"/>
              </a:solidFill>
            </a:endParaRPr>
          </a:p>
          <a:p>
            <a:r>
              <a:rPr lang="en-GB" dirty="0">
                <a:solidFill>
                  <a:prstClr val="black"/>
                </a:solidFill>
              </a:rPr>
              <a:t>void main()</a:t>
            </a:r>
          </a:p>
          <a:p>
            <a:r>
              <a:rPr lang="en-GB" dirty="0">
                <a:solidFill>
                  <a:prstClr val="black"/>
                </a:solidFill>
              </a:rPr>
              <a:t>{</a:t>
            </a:r>
          </a:p>
          <a:p>
            <a:r>
              <a:rPr lang="en-GB" dirty="0" err="1">
                <a:solidFill>
                  <a:prstClr val="black"/>
                </a:solidFill>
              </a:rPr>
              <a:t>int</a:t>
            </a:r>
            <a:r>
              <a:rPr lang="en-GB" dirty="0">
                <a:solidFill>
                  <a:prstClr val="black"/>
                </a:solidFill>
              </a:rPr>
              <a:t> x = 1;</a:t>
            </a:r>
          </a:p>
          <a:p>
            <a:r>
              <a:rPr lang="en-GB" dirty="0" err="1">
                <a:solidFill>
                  <a:prstClr val="black"/>
                </a:solidFill>
              </a:rPr>
              <a:t>int</a:t>
            </a:r>
            <a:r>
              <a:rPr lang="en-GB" dirty="0">
                <a:solidFill>
                  <a:prstClr val="black"/>
                </a:solidFill>
              </a:rPr>
              <a:t> y = 2;</a:t>
            </a:r>
          </a:p>
          <a:p>
            <a:r>
              <a:rPr lang="en-GB" b="1" dirty="0" err="1">
                <a:solidFill>
                  <a:prstClr val="black"/>
                </a:solidFill>
              </a:rPr>
              <a:t>printf</a:t>
            </a:r>
            <a:r>
              <a:rPr lang="en-GB" dirty="0">
                <a:solidFill>
                  <a:prstClr val="black"/>
                </a:solidFill>
              </a:rPr>
              <a:t>("the function returned the number %d\n", adder(</a:t>
            </a:r>
            <a:r>
              <a:rPr lang="en-GB" dirty="0" err="1">
                <a:solidFill>
                  <a:prstClr val="black"/>
                </a:solidFill>
              </a:rPr>
              <a:t>x,y</a:t>
            </a:r>
            <a:r>
              <a:rPr lang="en-GB" dirty="0">
                <a:solidFill>
                  <a:prstClr val="black"/>
                </a:solidFill>
              </a:rPr>
              <a:t>));</a:t>
            </a:r>
          </a:p>
          <a:p>
            <a:r>
              <a:rPr lang="en-GB" dirty="0">
                <a:solidFill>
                  <a:prstClr val="black"/>
                </a:solidFill>
              </a:rPr>
              <a:t>}</a:t>
            </a:r>
          </a:p>
        </p:txBody>
      </p:sp>
      <p:sp>
        <p:nvSpPr>
          <p:cNvPr id="5" name="TextBox 4"/>
          <p:cNvSpPr txBox="1"/>
          <p:nvPr/>
        </p:nvSpPr>
        <p:spPr>
          <a:xfrm>
            <a:off x="4743946" y="1817905"/>
            <a:ext cx="3755644" cy="1754326"/>
          </a:xfrm>
          <a:prstGeom prst="rect">
            <a:avLst/>
          </a:prstGeom>
          <a:noFill/>
          <a:ln>
            <a:solidFill>
              <a:schemeClr val="accent1"/>
            </a:solidFill>
          </a:ln>
        </p:spPr>
        <p:txBody>
          <a:bodyPr wrap="square" rtlCol="0">
            <a:spAutoFit/>
          </a:bodyPr>
          <a:lstStyle/>
          <a:p>
            <a:r>
              <a:rPr lang="en-GB" dirty="0">
                <a:solidFill>
                  <a:prstClr val="black"/>
                </a:solidFill>
              </a:rPr>
              <a:t>00401730 push 	</a:t>
            </a:r>
            <a:r>
              <a:rPr lang="en-GB" dirty="0" err="1">
                <a:solidFill>
                  <a:prstClr val="black"/>
                </a:solidFill>
              </a:rPr>
              <a:t>ebp</a:t>
            </a:r>
            <a:endParaRPr lang="en-GB" dirty="0">
              <a:solidFill>
                <a:prstClr val="black"/>
              </a:solidFill>
            </a:endParaRPr>
          </a:p>
          <a:p>
            <a:r>
              <a:rPr lang="en-GB" dirty="0">
                <a:solidFill>
                  <a:prstClr val="black"/>
                </a:solidFill>
              </a:rPr>
              <a:t>00401731 </a:t>
            </a:r>
            <a:r>
              <a:rPr lang="en-GB" dirty="0" err="1">
                <a:solidFill>
                  <a:prstClr val="black"/>
                </a:solidFill>
              </a:rPr>
              <a:t>mov</a:t>
            </a:r>
            <a:r>
              <a:rPr lang="en-GB" dirty="0">
                <a:solidFill>
                  <a:prstClr val="black"/>
                </a:solidFill>
              </a:rPr>
              <a:t> 	</a:t>
            </a:r>
            <a:r>
              <a:rPr lang="en-GB" dirty="0" err="1">
                <a:solidFill>
                  <a:prstClr val="black"/>
                </a:solidFill>
              </a:rPr>
              <a:t>ebp</a:t>
            </a:r>
            <a:r>
              <a:rPr lang="en-GB" dirty="0">
                <a:solidFill>
                  <a:prstClr val="black"/>
                </a:solidFill>
              </a:rPr>
              <a:t>, </a:t>
            </a:r>
            <a:r>
              <a:rPr lang="en-GB" dirty="0" err="1">
                <a:solidFill>
                  <a:prstClr val="black"/>
                </a:solidFill>
              </a:rPr>
              <a:t>esp</a:t>
            </a:r>
            <a:endParaRPr lang="en-GB" dirty="0">
              <a:solidFill>
                <a:prstClr val="black"/>
              </a:solidFill>
            </a:endParaRPr>
          </a:p>
          <a:p>
            <a:r>
              <a:rPr lang="en-GB" dirty="0">
                <a:solidFill>
                  <a:prstClr val="black"/>
                </a:solidFill>
              </a:rPr>
              <a:t>00401733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[ebp+</a:t>
            </a:r>
            <a:r>
              <a:rPr lang="en-GB" b="1" dirty="0">
                <a:solidFill>
                  <a:prstClr val="black"/>
                </a:solidFill>
              </a:rPr>
              <a:t>arg_0</a:t>
            </a:r>
            <a:r>
              <a:rPr lang="en-GB" dirty="0">
                <a:solidFill>
                  <a:prstClr val="black"/>
                </a:solidFill>
              </a:rPr>
              <a:t>]</a:t>
            </a:r>
          </a:p>
          <a:p>
            <a:r>
              <a:rPr lang="en-GB" dirty="0">
                <a:solidFill>
                  <a:prstClr val="black"/>
                </a:solidFill>
              </a:rPr>
              <a:t>00401736 add 	</a:t>
            </a:r>
            <a:r>
              <a:rPr lang="en-GB" dirty="0" err="1">
                <a:solidFill>
                  <a:prstClr val="black"/>
                </a:solidFill>
              </a:rPr>
              <a:t>eax</a:t>
            </a:r>
            <a:r>
              <a:rPr lang="en-GB" dirty="0">
                <a:solidFill>
                  <a:prstClr val="black"/>
                </a:solidFill>
              </a:rPr>
              <a:t>, [ebp+</a:t>
            </a:r>
            <a:r>
              <a:rPr lang="en-GB" b="1" dirty="0">
                <a:solidFill>
                  <a:prstClr val="black"/>
                </a:solidFill>
              </a:rPr>
              <a:t>arg_4</a:t>
            </a:r>
            <a:r>
              <a:rPr lang="en-GB" dirty="0">
                <a:solidFill>
                  <a:prstClr val="black"/>
                </a:solidFill>
              </a:rPr>
              <a:t>]</a:t>
            </a:r>
          </a:p>
          <a:p>
            <a:r>
              <a:rPr lang="en-GB" dirty="0">
                <a:solidFill>
                  <a:prstClr val="black"/>
                </a:solidFill>
              </a:rPr>
              <a:t>00401739 pop 	</a:t>
            </a:r>
            <a:r>
              <a:rPr lang="en-GB" dirty="0" err="1">
                <a:solidFill>
                  <a:prstClr val="black"/>
                </a:solidFill>
              </a:rPr>
              <a:t>ebp</a:t>
            </a:r>
            <a:endParaRPr lang="en-GB" dirty="0">
              <a:solidFill>
                <a:prstClr val="black"/>
              </a:solidFill>
            </a:endParaRPr>
          </a:p>
          <a:p>
            <a:r>
              <a:rPr lang="en-GB" dirty="0">
                <a:solidFill>
                  <a:prstClr val="black"/>
                </a:solidFill>
              </a:rPr>
              <a:t>0040173A </a:t>
            </a:r>
            <a:r>
              <a:rPr lang="en-GB" dirty="0" err="1">
                <a:solidFill>
                  <a:prstClr val="black"/>
                </a:solidFill>
              </a:rPr>
              <a:t>retn</a:t>
            </a:r>
            <a:endParaRPr lang="en-GB" dirty="0">
              <a:solidFill>
                <a:prstClr val="black"/>
              </a:solidFill>
            </a:endParaRPr>
          </a:p>
        </p:txBody>
      </p:sp>
      <p:sp>
        <p:nvSpPr>
          <p:cNvPr id="6" name="TextBox 5"/>
          <p:cNvSpPr txBox="1"/>
          <p:nvPr/>
        </p:nvSpPr>
        <p:spPr>
          <a:xfrm>
            <a:off x="4743946" y="3645024"/>
            <a:ext cx="3755644" cy="3139321"/>
          </a:xfrm>
          <a:prstGeom prst="rect">
            <a:avLst/>
          </a:prstGeom>
          <a:noFill/>
          <a:ln>
            <a:solidFill>
              <a:schemeClr val="accent1"/>
            </a:solidFill>
          </a:ln>
        </p:spPr>
        <p:txBody>
          <a:bodyPr wrap="none" rtlCol="0">
            <a:spAutoFit/>
          </a:bodyPr>
          <a:lstStyle/>
          <a:p>
            <a:r>
              <a:rPr lang="en-GB" dirty="0">
                <a:solidFill>
                  <a:prstClr val="black"/>
                </a:solidFill>
              </a:rPr>
              <a:t>00401746 </a:t>
            </a:r>
            <a:r>
              <a:rPr lang="en-GB" dirty="0" err="1">
                <a:solidFill>
                  <a:prstClr val="black"/>
                </a:solidFill>
              </a:rPr>
              <a:t>mov</a:t>
            </a:r>
            <a:r>
              <a:rPr lang="en-GB" dirty="0">
                <a:solidFill>
                  <a:prstClr val="black"/>
                </a:solidFill>
              </a:rPr>
              <a:t> [</a:t>
            </a:r>
            <a:r>
              <a:rPr lang="en-GB" b="1" dirty="0">
                <a:solidFill>
                  <a:prstClr val="black"/>
                </a:solidFill>
              </a:rPr>
              <a:t>ebp+var_4</a:t>
            </a:r>
            <a:r>
              <a:rPr lang="en-GB" dirty="0">
                <a:solidFill>
                  <a:prstClr val="black"/>
                </a:solidFill>
              </a:rPr>
              <a:t>], 1</a:t>
            </a:r>
          </a:p>
          <a:p>
            <a:r>
              <a:rPr lang="en-GB" dirty="0">
                <a:solidFill>
                  <a:prstClr val="black"/>
                </a:solidFill>
              </a:rPr>
              <a:t>0040174D </a:t>
            </a:r>
            <a:r>
              <a:rPr lang="en-GB" dirty="0" err="1">
                <a:solidFill>
                  <a:prstClr val="black"/>
                </a:solidFill>
              </a:rPr>
              <a:t>mov</a:t>
            </a:r>
            <a:r>
              <a:rPr lang="en-GB" dirty="0">
                <a:solidFill>
                  <a:prstClr val="black"/>
                </a:solidFill>
              </a:rPr>
              <a:t> [</a:t>
            </a:r>
            <a:r>
              <a:rPr lang="en-GB" b="1" dirty="0">
                <a:solidFill>
                  <a:prstClr val="black"/>
                </a:solidFill>
              </a:rPr>
              <a:t>ebp+var_8</a:t>
            </a:r>
            <a:r>
              <a:rPr lang="en-GB" dirty="0">
                <a:solidFill>
                  <a:prstClr val="black"/>
                </a:solidFill>
              </a:rPr>
              <a:t>], 2</a:t>
            </a:r>
          </a:p>
          <a:p>
            <a:r>
              <a:rPr lang="en-GB" dirty="0">
                <a:solidFill>
                  <a:prstClr val="black"/>
                </a:solidFill>
              </a:rPr>
              <a:t>00401754 </a:t>
            </a:r>
            <a:r>
              <a:rPr lang="en-GB" dirty="0" err="1">
                <a:solidFill>
                  <a:prstClr val="black"/>
                </a:solidFill>
              </a:rPr>
              <a:t>mov</a:t>
            </a:r>
            <a:r>
              <a:rPr lang="en-GB" dirty="0">
                <a:solidFill>
                  <a:prstClr val="black"/>
                </a:solidFill>
              </a:rPr>
              <a:t> </a:t>
            </a:r>
            <a:r>
              <a:rPr lang="en-GB" dirty="0" err="1">
                <a:solidFill>
                  <a:prstClr val="black"/>
                </a:solidFill>
              </a:rPr>
              <a:t>eax</a:t>
            </a:r>
            <a:r>
              <a:rPr lang="en-GB" dirty="0">
                <a:solidFill>
                  <a:prstClr val="black"/>
                </a:solidFill>
              </a:rPr>
              <a:t>, [</a:t>
            </a:r>
            <a:r>
              <a:rPr lang="en-GB" b="1" dirty="0">
                <a:solidFill>
                  <a:prstClr val="black"/>
                </a:solidFill>
              </a:rPr>
              <a:t>ebp+var_8</a:t>
            </a:r>
            <a:r>
              <a:rPr lang="en-GB" dirty="0">
                <a:solidFill>
                  <a:prstClr val="black"/>
                </a:solidFill>
              </a:rPr>
              <a:t>]</a:t>
            </a:r>
          </a:p>
          <a:p>
            <a:r>
              <a:rPr lang="en-GB" dirty="0">
                <a:solidFill>
                  <a:prstClr val="black"/>
                </a:solidFill>
              </a:rPr>
              <a:t>00401757 push </a:t>
            </a:r>
            <a:r>
              <a:rPr lang="en-GB" dirty="0" err="1">
                <a:solidFill>
                  <a:prstClr val="black"/>
                </a:solidFill>
              </a:rPr>
              <a:t>eax</a:t>
            </a:r>
            <a:endParaRPr lang="en-GB" dirty="0">
              <a:solidFill>
                <a:prstClr val="black"/>
              </a:solidFill>
            </a:endParaRPr>
          </a:p>
          <a:p>
            <a:r>
              <a:rPr lang="en-GB" dirty="0">
                <a:solidFill>
                  <a:prstClr val="black"/>
                </a:solidFill>
              </a:rPr>
              <a:t>00401758 </a:t>
            </a:r>
            <a:r>
              <a:rPr lang="en-GB" dirty="0" err="1">
                <a:solidFill>
                  <a:prstClr val="black"/>
                </a:solidFill>
              </a:rPr>
              <a:t>mov</a:t>
            </a:r>
            <a:r>
              <a:rPr lang="en-GB" dirty="0">
                <a:solidFill>
                  <a:prstClr val="black"/>
                </a:solidFill>
              </a:rPr>
              <a:t> </a:t>
            </a:r>
            <a:r>
              <a:rPr lang="en-GB" dirty="0" err="1">
                <a:solidFill>
                  <a:prstClr val="black"/>
                </a:solidFill>
              </a:rPr>
              <a:t>ecx</a:t>
            </a:r>
            <a:r>
              <a:rPr lang="en-GB" dirty="0">
                <a:solidFill>
                  <a:prstClr val="black"/>
                </a:solidFill>
              </a:rPr>
              <a:t>, [</a:t>
            </a:r>
            <a:r>
              <a:rPr lang="en-GB" b="1" dirty="0">
                <a:solidFill>
                  <a:prstClr val="black"/>
                </a:solidFill>
              </a:rPr>
              <a:t>ebp+var_4</a:t>
            </a:r>
            <a:r>
              <a:rPr lang="en-GB" dirty="0">
                <a:solidFill>
                  <a:prstClr val="black"/>
                </a:solidFill>
              </a:rPr>
              <a:t>]</a:t>
            </a:r>
          </a:p>
          <a:p>
            <a:r>
              <a:rPr lang="en-GB" dirty="0">
                <a:solidFill>
                  <a:prstClr val="black"/>
                </a:solidFill>
              </a:rPr>
              <a:t>0040175B push </a:t>
            </a:r>
            <a:r>
              <a:rPr lang="en-GB" dirty="0" err="1">
                <a:solidFill>
                  <a:prstClr val="black"/>
                </a:solidFill>
              </a:rPr>
              <a:t>ecx</a:t>
            </a:r>
            <a:endParaRPr lang="en-GB" dirty="0">
              <a:solidFill>
                <a:prstClr val="black"/>
              </a:solidFill>
            </a:endParaRPr>
          </a:p>
          <a:p>
            <a:r>
              <a:rPr lang="en-GB" dirty="0">
                <a:solidFill>
                  <a:prstClr val="black"/>
                </a:solidFill>
              </a:rPr>
              <a:t>0040175C </a:t>
            </a:r>
            <a:r>
              <a:rPr lang="en-GB" dirty="0">
                <a:solidFill>
                  <a:prstClr val="black"/>
                </a:solidFill>
                <a:effectLst>
                  <a:outerShdw blurRad="38100" dist="38100" dir="2700000" algn="tl">
                    <a:srgbClr val="000000">
                      <a:alpha val="43137"/>
                    </a:srgbClr>
                  </a:outerShdw>
                </a:effectLst>
              </a:rPr>
              <a:t>call adder</a:t>
            </a:r>
          </a:p>
          <a:p>
            <a:r>
              <a:rPr lang="en-GB" dirty="0">
                <a:solidFill>
                  <a:prstClr val="black"/>
                </a:solidFill>
              </a:rPr>
              <a:t>00401761 add </a:t>
            </a:r>
            <a:r>
              <a:rPr lang="en-GB" dirty="0" err="1">
                <a:solidFill>
                  <a:prstClr val="black"/>
                </a:solidFill>
              </a:rPr>
              <a:t>esp</a:t>
            </a:r>
            <a:r>
              <a:rPr lang="en-GB" dirty="0">
                <a:solidFill>
                  <a:prstClr val="black"/>
                </a:solidFill>
              </a:rPr>
              <a:t>, 8</a:t>
            </a:r>
          </a:p>
          <a:p>
            <a:r>
              <a:rPr lang="en-GB" dirty="0">
                <a:solidFill>
                  <a:prstClr val="black"/>
                </a:solidFill>
              </a:rPr>
              <a:t>00401764 push </a:t>
            </a:r>
            <a:r>
              <a:rPr lang="en-GB" dirty="0" err="1">
                <a:solidFill>
                  <a:prstClr val="black"/>
                </a:solidFill>
              </a:rPr>
              <a:t>eax</a:t>
            </a:r>
            <a:endParaRPr lang="en-GB" dirty="0">
              <a:solidFill>
                <a:prstClr val="black"/>
              </a:solidFill>
            </a:endParaRPr>
          </a:p>
          <a:p>
            <a:r>
              <a:rPr lang="en-GB" dirty="0">
                <a:solidFill>
                  <a:prstClr val="black"/>
                </a:solidFill>
              </a:rPr>
              <a:t>00401765 push offset </a:t>
            </a:r>
            <a:r>
              <a:rPr lang="en-GB" dirty="0" err="1">
                <a:solidFill>
                  <a:prstClr val="black"/>
                </a:solidFill>
              </a:rPr>
              <a:t>TheFunctionRet</a:t>
            </a:r>
            <a:endParaRPr lang="en-GB" dirty="0">
              <a:solidFill>
                <a:prstClr val="black"/>
              </a:solidFill>
            </a:endParaRPr>
          </a:p>
          <a:p>
            <a:r>
              <a:rPr lang="en-GB" dirty="0">
                <a:solidFill>
                  <a:prstClr val="black"/>
                </a:solidFill>
              </a:rPr>
              <a:t>0040176A call </a:t>
            </a:r>
            <a:r>
              <a:rPr lang="en-GB" dirty="0" err="1">
                <a:solidFill>
                  <a:prstClr val="black"/>
                </a:solidFill>
              </a:rPr>
              <a:t>ds:printf</a:t>
            </a:r>
            <a:endParaRPr lang="en-GB" dirty="0">
              <a:solidFill>
                <a:prstClr val="black"/>
              </a:solidFill>
            </a:endParaRPr>
          </a:p>
        </p:txBody>
      </p:sp>
      <p:sp>
        <p:nvSpPr>
          <p:cNvPr id="7" name="TextBox 6"/>
          <p:cNvSpPr txBox="1"/>
          <p:nvPr/>
        </p:nvSpPr>
        <p:spPr>
          <a:xfrm>
            <a:off x="4009450" y="1774557"/>
            <a:ext cx="734496" cy="369332"/>
          </a:xfrm>
          <a:prstGeom prst="rect">
            <a:avLst/>
          </a:prstGeom>
          <a:noFill/>
        </p:spPr>
        <p:txBody>
          <a:bodyPr wrap="none" rtlCol="0">
            <a:spAutoFit/>
          </a:bodyPr>
          <a:lstStyle/>
          <a:p>
            <a:r>
              <a:rPr lang="en-GB" dirty="0">
                <a:solidFill>
                  <a:prstClr val="black"/>
                </a:solidFill>
                <a:effectLst>
                  <a:outerShdw blurRad="38100" dist="38100" dir="2700000" algn="tl">
                    <a:srgbClr val="000000">
                      <a:alpha val="43137"/>
                    </a:srgbClr>
                  </a:outerShdw>
                </a:effectLst>
              </a:rPr>
              <a:t>adder</a:t>
            </a:r>
          </a:p>
        </p:txBody>
      </p:sp>
      <p:sp>
        <p:nvSpPr>
          <p:cNvPr id="8" name="TextBox 7"/>
          <p:cNvSpPr txBox="1"/>
          <p:nvPr/>
        </p:nvSpPr>
        <p:spPr>
          <a:xfrm>
            <a:off x="4089600" y="3812884"/>
            <a:ext cx="654346" cy="369332"/>
          </a:xfrm>
          <a:prstGeom prst="rect">
            <a:avLst/>
          </a:prstGeom>
          <a:noFill/>
        </p:spPr>
        <p:txBody>
          <a:bodyPr wrap="none" rtlCol="0">
            <a:spAutoFit/>
          </a:bodyPr>
          <a:lstStyle/>
          <a:p>
            <a:r>
              <a:rPr lang="en-GB" dirty="0">
                <a:solidFill>
                  <a:prstClr val="black"/>
                </a:solidFill>
                <a:effectLst>
                  <a:outerShdw blurRad="38100" dist="38100" dir="2700000" algn="tl">
                    <a:srgbClr val="000000">
                      <a:alpha val="43137"/>
                    </a:srgbClr>
                  </a:outerShdw>
                </a:effectLst>
              </a:rPr>
              <a:t>main</a:t>
            </a:r>
          </a:p>
        </p:txBody>
      </p:sp>
    </p:spTree>
    <p:extLst>
      <p:ext uri="{BB962C8B-B14F-4D97-AF65-F5344CB8AC3E}">
        <p14:creationId xmlns:p14="http://schemas.microsoft.com/office/powerpoint/2010/main" val="33718674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Practice 5 &amp; 6 [IDA Pro]</a:t>
            </a:r>
            <a:endParaRPr lang="en-GB" dirty="0"/>
          </a:p>
        </p:txBody>
      </p:sp>
      <p:sp>
        <p:nvSpPr>
          <p:cNvPr id="3" name="Content Placeholder 2"/>
          <p:cNvSpPr>
            <a:spLocks noGrp="1"/>
          </p:cNvSpPr>
          <p:nvPr>
            <p:ph idx="1"/>
          </p:nvPr>
        </p:nvSpPr>
        <p:spPr/>
        <p:txBody>
          <a:bodyPr/>
          <a:lstStyle/>
          <a:p>
            <a:r>
              <a:rPr lang="en-US" dirty="0" smtClean="0"/>
              <a:t>Introduction to IDA Pro</a:t>
            </a:r>
            <a:endParaRPr lang="en-GB" dirty="0" smtClean="0"/>
          </a:p>
          <a:p>
            <a:r>
              <a:rPr lang="en-GB" dirty="0" smtClean="0"/>
              <a:t>Examine C structures by IDA Pro</a:t>
            </a:r>
          </a:p>
          <a:p>
            <a:pPr lvl="1"/>
            <a:r>
              <a:rPr lang="en-GB" dirty="0" smtClean="0"/>
              <a:t>Lab05-01.dll (skip)</a:t>
            </a:r>
          </a:p>
          <a:p>
            <a:pPr lvl="1"/>
            <a:r>
              <a:rPr lang="en-GB" dirty="0" smtClean="0"/>
              <a:t>Lab06-01.exe</a:t>
            </a:r>
          </a:p>
          <a:p>
            <a:pPr lvl="1"/>
            <a:r>
              <a:rPr lang="en-GB" dirty="0" smtClean="0"/>
              <a:t>Lab06-02.exe</a:t>
            </a:r>
          </a:p>
          <a:p>
            <a:pPr lvl="1"/>
            <a:r>
              <a:rPr lang="en-GB" dirty="0" smtClean="0"/>
              <a:t>Lab06-03.exe</a:t>
            </a:r>
          </a:p>
          <a:p>
            <a:pPr lvl="1"/>
            <a:r>
              <a:rPr lang="en-GB" dirty="0" smtClean="0"/>
              <a:t>Lab06-04.exe</a:t>
            </a:r>
            <a:endParaRPr lang="en-GB" dirty="0"/>
          </a:p>
        </p:txBody>
      </p:sp>
    </p:spTree>
    <p:extLst>
      <p:ext uri="{BB962C8B-B14F-4D97-AF65-F5344CB8AC3E}">
        <p14:creationId xmlns:p14="http://schemas.microsoft.com/office/powerpoint/2010/main" val="135887944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TotalTime>
  <Words>2242</Words>
  <Application>Microsoft Office PowerPoint</Application>
  <PresentationFormat>On-screen Show (4:3)</PresentationFormat>
  <Paragraphs>616</Paragraphs>
  <Slides>31</Slides>
  <Notes>17</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1_Office Theme</vt:lpstr>
      <vt:lpstr>2_Office Theme</vt:lpstr>
      <vt:lpstr>Malware Analysis</vt:lpstr>
      <vt:lpstr>Disassembly</vt:lpstr>
      <vt:lpstr>Disassembly</vt:lpstr>
      <vt:lpstr>Disassembly</vt:lpstr>
      <vt:lpstr>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X86 Disassembly</vt:lpstr>
      <vt:lpstr>Practice [Assembly by Jasmin app.]</vt:lpstr>
      <vt:lpstr>Practice Jasmin</vt:lpstr>
      <vt:lpstr>X86 Disassembly</vt:lpstr>
      <vt:lpstr>PowerPoint Presentation</vt:lpstr>
      <vt:lpstr>Recognizing C/C++ structure</vt:lpstr>
      <vt:lpstr>Recognizing C/C++ structure</vt:lpstr>
      <vt:lpstr>Recognizing C/C++ structure</vt:lpstr>
      <vt:lpstr>Recognizing C/C++ structure</vt:lpstr>
      <vt:lpstr>Recognizing C/C++ structure</vt:lpstr>
      <vt:lpstr>Recognizing C/C++ structure</vt:lpstr>
      <vt:lpstr>Practice 5 &amp; 6 [IDA Pro]</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the son</dc:creator>
  <cp:lastModifiedBy>tran the son</cp:lastModifiedBy>
  <cp:revision>5</cp:revision>
  <dcterms:created xsi:type="dcterms:W3CDTF">2022-10-14T03:33:45Z</dcterms:created>
  <dcterms:modified xsi:type="dcterms:W3CDTF">2022-12-08T15:19:05Z</dcterms:modified>
</cp:coreProperties>
</file>