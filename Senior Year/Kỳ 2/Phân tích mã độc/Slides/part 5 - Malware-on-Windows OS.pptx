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7"/>
  </p:notesMasterIdLst>
  <p:sldIdLst>
    <p:sldId id="29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300"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589" autoAdjust="0"/>
  </p:normalViewPr>
  <p:slideViewPr>
    <p:cSldViewPr>
      <p:cViewPr varScale="1">
        <p:scale>
          <a:sx n="82" d="100"/>
          <a:sy n="82" d="100"/>
        </p:scale>
        <p:origin x="-1822" y="-8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3B2424-382D-4C71-859B-4EBF7C6479E2}" type="datetimeFigureOut">
              <a:rPr lang="en-US" smtClean="0"/>
              <a:t>11/2/2023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5B697A-02B4-41BA-9010-7E50255DB26A}" type="slidenum">
              <a:rPr lang="en-US" smtClean="0"/>
              <a:t>‹#›</a:t>
            </a:fld>
            <a:endParaRPr lang="en-US"/>
          </a:p>
        </p:txBody>
      </p:sp>
    </p:spTree>
    <p:extLst>
      <p:ext uri="{BB962C8B-B14F-4D97-AF65-F5344CB8AC3E}">
        <p14:creationId xmlns:p14="http://schemas.microsoft.com/office/powerpoint/2010/main" val="3422588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cs.microsoft.com/en-us/openspecs/windows_protocols/ms-dtyp/a66edeb1-52a0-4d64-a93b-2f5c833d7d92#gt_fd33af2e-e1ce-4f8e-a706-f9fb8123f9b0"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2862845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a:t>
            </a:fld>
            <a:endParaRPr lang="en-GB">
              <a:solidFill>
                <a:prstClr val="black"/>
              </a:solidFill>
            </a:endParaRPr>
          </a:p>
        </p:txBody>
      </p:sp>
    </p:spTree>
    <p:extLst>
      <p:ext uri="{BB962C8B-B14F-4D97-AF65-F5344CB8AC3E}">
        <p14:creationId xmlns:p14="http://schemas.microsoft.com/office/powerpoint/2010/main" val="1665358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LPINT</a:t>
            </a:r>
            <a:r>
              <a:rPr lang="en-GB" sz="1200" kern="1200" dirty="0" smtClean="0">
                <a:solidFill>
                  <a:schemeClr val="tx1"/>
                </a:solidFill>
                <a:latin typeface="+mn-lt"/>
                <a:ea typeface="+mn-ea"/>
                <a:cs typeface="+mn-cs"/>
              </a:rPr>
              <a:t> (*</a:t>
            </a:r>
            <a:r>
              <a:rPr lang="en-GB" sz="1200" kern="1200" dirty="0" err="1" smtClean="0">
                <a:solidFill>
                  <a:schemeClr val="tx1"/>
                </a:solidFill>
                <a:latin typeface="+mn-lt"/>
                <a:ea typeface="+mn-ea"/>
                <a:cs typeface="+mn-cs"/>
              </a:rPr>
              <a:t>ptr</a:t>
            </a:r>
            <a:r>
              <a:rPr lang="en-GB" sz="1200" kern="1200" dirty="0" smtClean="0">
                <a:solidFill>
                  <a:schemeClr val="tx1"/>
                </a:solidFill>
                <a:latin typeface="+mn-lt"/>
                <a:ea typeface="+mn-ea"/>
                <a:cs typeface="+mn-cs"/>
              </a:rPr>
              <a:t>) [50]: a pointer to an array of 50 long</a:t>
            </a:r>
            <a:r>
              <a:rPr lang="en-GB" sz="1200" kern="1200" baseline="0" dirty="0" smtClean="0">
                <a:solidFill>
                  <a:schemeClr val="tx1"/>
                </a:solidFill>
                <a:latin typeface="+mn-lt"/>
                <a:ea typeface="+mn-ea"/>
                <a:cs typeface="+mn-cs"/>
              </a:rPr>
              <a:t> </a:t>
            </a:r>
            <a:r>
              <a:rPr lang="en-GB" sz="1200" kern="1200" baseline="0" dirty="0" err="1" smtClean="0">
                <a:solidFill>
                  <a:schemeClr val="tx1"/>
                </a:solidFill>
                <a:latin typeface="+mn-lt"/>
                <a:ea typeface="+mn-ea"/>
                <a:cs typeface="+mn-cs"/>
              </a:rPr>
              <a:t>int</a:t>
            </a:r>
            <a:r>
              <a:rPr lang="en-GB" sz="1200" kern="1200" baseline="0" dirty="0" smtClean="0">
                <a:solidFill>
                  <a:schemeClr val="tx1"/>
                </a:solidFill>
                <a:latin typeface="+mn-lt"/>
                <a:ea typeface="+mn-ea"/>
                <a:cs typeface="+mn-cs"/>
              </a:rPr>
              <a:t> values.</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err="1" smtClean="0">
                <a:solidFill>
                  <a:schemeClr val="tx1"/>
                </a:solidFill>
                <a:latin typeface="+mn-lt"/>
                <a:ea typeface="+mn-ea"/>
                <a:cs typeface="+mn-cs"/>
              </a:rPr>
              <a:t>int</a:t>
            </a:r>
            <a:r>
              <a:rPr lang="en-GB" sz="1200" kern="1200" dirty="0" smtClean="0">
                <a:solidFill>
                  <a:schemeClr val="tx1"/>
                </a:solidFill>
                <a:latin typeface="+mn-lt"/>
                <a:ea typeface="+mn-ea"/>
                <a:cs typeface="+mn-cs"/>
              </a:rPr>
              <a:t> *(*</a:t>
            </a:r>
            <a:r>
              <a:rPr lang="en-GB" sz="1200" kern="1200" dirty="0" err="1" smtClean="0">
                <a:solidFill>
                  <a:schemeClr val="tx1"/>
                </a:solidFill>
                <a:latin typeface="+mn-lt"/>
                <a:ea typeface="+mn-ea"/>
                <a:cs typeface="+mn-cs"/>
              </a:rPr>
              <a:t>ptr</a:t>
            </a:r>
            <a:r>
              <a:rPr lang="en-GB" sz="1200" kern="1200" dirty="0" smtClean="0">
                <a:solidFill>
                  <a:schemeClr val="tx1"/>
                </a:solidFill>
                <a:latin typeface="+mn-lt"/>
                <a:ea typeface="+mn-ea"/>
                <a:cs typeface="+mn-cs"/>
              </a:rPr>
              <a:t>)[50]: a pointer to an array of pointers</a:t>
            </a:r>
            <a:r>
              <a:rPr lang="en-GB" sz="1200" kern="1200" baseline="0" dirty="0" smtClean="0">
                <a:solidFill>
                  <a:schemeClr val="tx1"/>
                </a:solidFill>
                <a:latin typeface="+mn-lt"/>
                <a:ea typeface="+mn-ea"/>
                <a:cs typeface="+mn-cs"/>
              </a:rPr>
              <a:t> of 50 </a:t>
            </a:r>
            <a:r>
              <a:rPr lang="en-GB" sz="1200" kern="1200" baseline="0" dirty="0" err="1" smtClean="0">
                <a:solidFill>
                  <a:schemeClr val="tx1"/>
                </a:solidFill>
                <a:latin typeface="+mn-lt"/>
                <a:ea typeface="+mn-ea"/>
                <a:cs typeface="+mn-cs"/>
              </a:rPr>
              <a:t>int</a:t>
            </a:r>
            <a:r>
              <a:rPr lang="en-GB" sz="1200" kern="1200" baseline="0" dirty="0" smtClean="0">
                <a:solidFill>
                  <a:schemeClr val="tx1"/>
                </a:solidFill>
                <a:latin typeface="+mn-lt"/>
                <a:ea typeface="+mn-ea"/>
                <a:cs typeface="+mn-cs"/>
              </a:rPr>
              <a:t> values</a:t>
            </a:r>
            <a:r>
              <a:rPr lang="en-GB" sz="1200" kern="1200" dirty="0" smtClean="0">
                <a:solidFill>
                  <a:schemeClr val="tx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err="1" smtClean="0">
                <a:solidFill>
                  <a:schemeClr val="tx1"/>
                </a:solidFill>
                <a:latin typeface="+mn-lt"/>
                <a:ea typeface="+mn-ea"/>
                <a:cs typeface="+mn-cs"/>
              </a:rPr>
              <a:t>int</a:t>
            </a:r>
            <a:r>
              <a:rPr lang="en-GB" sz="1200" kern="1200" dirty="0" smtClean="0">
                <a:solidFill>
                  <a:schemeClr val="tx1"/>
                </a:solidFill>
                <a:latin typeface="+mn-lt"/>
                <a:ea typeface="+mn-ea"/>
                <a:cs typeface="+mn-cs"/>
              </a:rPr>
              <a:t> (*</a:t>
            </a:r>
            <a:r>
              <a:rPr lang="en-GB" sz="1200" kern="1200" dirty="0" err="1" smtClean="0">
                <a:solidFill>
                  <a:schemeClr val="tx1"/>
                </a:solidFill>
                <a:latin typeface="+mn-lt"/>
                <a:ea typeface="+mn-ea"/>
                <a:cs typeface="+mn-cs"/>
              </a:rPr>
              <a:t>ptr</a:t>
            </a:r>
            <a:r>
              <a:rPr lang="en-GB" sz="1200" kern="1200" dirty="0" smtClean="0">
                <a:solidFill>
                  <a:schemeClr val="tx1"/>
                </a:solidFill>
                <a:latin typeface="+mn-lt"/>
                <a:ea typeface="+mn-ea"/>
                <a:cs typeface="+mn-cs"/>
              </a:rPr>
              <a:t>[2])[5]: a array of 2 pointers, each pointer to an</a:t>
            </a:r>
            <a:r>
              <a:rPr lang="en-GB" sz="1200" kern="1200" baseline="0" dirty="0" smtClean="0">
                <a:solidFill>
                  <a:schemeClr val="tx1"/>
                </a:solidFill>
                <a:latin typeface="+mn-lt"/>
                <a:ea typeface="+mn-ea"/>
                <a:cs typeface="+mn-cs"/>
              </a:rPr>
              <a:t> array of 5 </a:t>
            </a:r>
            <a:r>
              <a:rPr lang="en-GB" sz="1200" kern="1200" baseline="0" dirty="0" err="1" smtClean="0">
                <a:solidFill>
                  <a:schemeClr val="tx1"/>
                </a:solidFill>
                <a:latin typeface="+mn-lt"/>
                <a:ea typeface="+mn-ea"/>
                <a:cs typeface="+mn-cs"/>
              </a:rPr>
              <a:t>int</a:t>
            </a:r>
            <a:r>
              <a:rPr lang="en-GB" sz="1200" kern="1200" baseline="0" dirty="0" smtClean="0">
                <a:solidFill>
                  <a:schemeClr val="tx1"/>
                </a:solidFill>
                <a:latin typeface="+mn-lt"/>
                <a:ea typeface="+mn-ea"/>
                <a:cs typeface="+mn-cs"/>
              </a:rPr>
              <a:t> values.</a:t>
            </a:r>
            <a:r>
              <a:rPr lang="en-GB" sz="1200" kern="1200" dirty="0" smtClean="0">
                <a:solidFill>
                  <a:schemeClr val="tx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kern="1200" dirty="0" smtClean="0">
              <a:solidFill>
                <a:schemeClr val="tx1"/>
              </a:solidFill>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5</a:t>
            </a:fld>
            <a:endParaRPr lang="en-GB">
              <a:solidFill>
                <a:prstClr val="black"/>
              </a:solidFill>
            </a:endParaRPr>
          </a:p>
        </p:txBody>
      </p:sp>
    </p:spTree>
    <p:extLst>
      <p:ext uri="{BB962C8B-B14F-4D97-AF65-F5344CB8AC3E}">
        <p14:creationId xmlns:p14="http://schemas.microsoft.com/office/powerpoint/2010/main" val="1771579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effectLst>
                  <a:outerShdw blurRad="38100" dist="38100" dir="2700000" algn="tl">
                    <a:srgbClr val="000000">
                      <a:alpha val="43137"/>
                    </a:srgbClr>
                  </a:outerShdw>
                </a:effectLst>
              </a:rPr>
              <a:t>LPCSTR 32-bit pointer to a constant null-terminated string of 8-bit Windows (ANSI)</a:t>
            </a:r>
          </a:p>
          <a:p>
            <a:r>
              <a:rPr lang="en-GB" sz="1200" b="0" i="0" kern="1200" smtClean="0">
                <a:solidFill>
                  <a:schemeClr val="tx1"/>
                </a:solidFill>
                <a:effectLst/>
                <a:latin typeface="+mn-lt"/>
                <a:ea typeface="+mn-ea"/>
                <a:cs typeface="+mn-cs"/>
              </a:rPr>
              <a:t>LPCWSTR 32-bit pointer to a constant string of 16-bit </a:t>
            </a:r>
            <a:r>
              <a:rPr lang="en-GB" sz="1200" b="0" i="0" u="sng" kern="1200" smtClean="0">
                <a:solidFill>
                  <a:schemeClr val="tx1"/>
                </a:solidFill>
                <a:effectLst/>
                <a:latin typeface="+mn-lt"/>
                <a:ea typeface="+mn-ea"/>
                <a:cs typeface="+mn-cs"/>
                <a:hlinkClick r:id="rId3"/>
              </a:rPr>
              <a:t>Unicode characters</a:t>
            </a:r>
            <a:endParaRPr lang="en-GB"/>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3640444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Thanh </a:t>
            </a:r>
            <a:r>
              <a:rPr lang="en-GB" dirty="0" err="1" smtClean="0"/>
              <a:t>ghi</a:t>
            </a:r>
            <a:r>
              <a:rPr lang="en-GB" dirty="0" smtClean="0"/>
              <a:t> </a:t>
            </a:r>
            <a:r>
              <a:rPr lang="en-GB" dirty="0" err="1" smtClean="0"/>
              <a:t>được</a:t>
            </a:r>
            <a:r>
              <a:rPr lang="en-GB" dirty="0" smtClean="0"/>
              <a:t> chia 5 </a:t>
            </a:r>
            <a:r>
              <a:rPr lang="en-GB" dirty="0" err="1" smtClean="0"/>
              <a:t>khóa</a:t>
            </a:r>
            <a:r>
              <a:rPr lang="en-GB" dirty="0" smtClean="0"/>
              <a:t> </a:t>
            </a:r>
            <a:r>
              <a:rPr lang="en-GB" dirty="0" err="1" smtClean="0"/>
              <a:t>gốc</a:t>
            </a:r>
            <a:r>
              <a:rPr lang="en-GB" dirty="0" smtClean="0"/>
              <a:t>: root key (HKEY) </a:t>
            </a:r>
            <a:r>
              <a:rPr lang="en-GB" dirty="0" err="1" smtClean="0"/>
              <a:t>trong</a:t>
            </a:r>
            <a:r>
              <a:rPr lang="en-GB" dirty="0" smtClean="0"/>
              <a:t> </a:t>
            </a:r>
            <a:r>
              <a:rPr lang="en-GB" dirty="0" err="1" smtClean="0"/>
              <a:t>đó</a:t>
            </a:r>
            <a:r>
              <a:rPr lang="en-GB" dirty="0" smtClean="0"/>
              <a:t> </a:t>
            </a:r>
            <a:r>
              <a:rPr lang="en-GB" dirty="0" err="1" smtClean="0"/>
              <a:t>chứa</a:t>
            </a:r>
            <a:r>
              <a:rPr lang="en-GB" dirty="0" smtClean="0"/>
              <a:t> </a:t>
            </a:r>
            <a:r>
              <a:rPr lang="en-GB" dirty="0" err="1" smtClean="0"/>
              <a:t>nhiều</a:t>
            </a:r>
            <a:r>
              <a:rPr lang="en-GB" dirty="0" smtClean="0"/>
              <a:t> </a:t>
            </a:r>
            <a:r>
              <a:rPr lang="en-GB" dirty="0" err="1" smtClean="0"/>
              <a:t>khóa</a:t>
            </a:r>
            <a:r>
              <a:rPr lang="en-GB" dirty="0" smtClean="0"/>
              <a:t> con (</a:t>
            </a:r>
            <a:r>
              <a:rPr lang="en-GB" dirty="0" err="1" smtClean="0"/>
              <a:t>subkey</a:t>
            </a:r>
            <a:r>
              <a:rPr lang="en-GB" dirty="0" smtClean="0"/>
              <a:t>)</a:t>
            </a:r>
          </a:p>
          <a:p>
            <a:r>
              <a:rPr lang="en-GB" dirty="0" err="1" smtClean="0"/>
              <a:t>Khóa</a:t>
            </a:r>
            <a:r>
              <a:rPr lang="en-GB" dirty="0" smtClean="0"/>
              <a:t> (key): </a:t>
            </a:r>
            <a:r>
              <a:rPr lang="en-GB" dirty="0" err="1" smtClean="0"/>
              <a:t>là</a:t>
            </a:r>
            <a:r>
              <a:rPr lang="en-GB" dirty="0" smtClean="0"/>
              <a:t> </a:t>
            </a:r>
            <a:r>
              <a:rPr lang="en-GB" dirty="0" err="1" smtClean="0"/>
              <a:t>một</a:t>
            </a:r>
            <a:r>
              <a:rPr lang="en-GB" dirty="0" smtClean="0"/>
              <a:t> </a:t>
            </a:r>
            <a:r>
              <a:rPr lang="en-GB" dirty="0" err="1" smtClean="0"/>
              <a:t>thư</a:t>
            </a:r>
            <a:r>
              <a:rPr lang="en-GB" dirty="0" smtClean="0"/>
              <a:t> </a:t>
            </a:r>
            <a:r>
              <a:rPr lang="en-GB" dirty="0" err="1" smtClean="0"/>
              <a:t>mục</a:t>
            </a:r>
            <a:r>
              <a:rPr lang="en-GB" dirty="0" smtClean="0"/>
              <a:t> </a:t>
            </a:r>
            <a:r>
              <a:rPr lang="en-GB" dirty="0" err="1" smtClean="0"/>
              <a:t>trong</a:t>
            </a:r>
            <a:r>
              <a:rPr lang="en-GB" dirty="0" smtClean="0"/>
              <a:t> thanh </a:t>
            </a:r>
            <a:r>
              <a:rPr lang="en-GB" dirty="0" err="1" smtClean="0"/>
              <a:t>ghi</a:t>
            </a:r>
            <a:r>
              <a:rPr lang="en-GB" dirty="0" smtClean="0"/>
              <a:t> </a:t>
            </a:r>
            <a:r>
              <a:rPr lang="en-GB" dirty="0" err="1" smtClean="0"/>
              <a:t>chứa</a:t>
            </a:r>
            <a:r>
              <a:rPr lang="en-GB" dirty="0" smtClean="0"/>
              <a:t> các </a:t>
            </a:r>
            <a:r>
              <a:rPr lang="en-GB" dirty="0" err="1" smtClean="0"/>
              <a:t>thư</a:t>
            </a:r>
            <a:r>
              <a:rPr lang="en-GB" dirty="0" smtClean="0"/>
              <a:t> </a:t>
            </a:r>
            <a:r>
              <a:rPr lang="en-GB" dirty="0" err="1" smtClean="0"/>
              <a:t>mục</a:t>
            </a:r>
            <a:r>
              <a:rPr lang="en-GB" dirty="0" smtClean="0"/>
              <a:t> con </a:t>
            </a:r>
            <a:r>
              <a:rPr lang="en-GB" dirty="0" err="1" smtClean="0"/>
              <a:t>hoặc</a:t>
            </a:r>
            <a:r>
              <a:rPr lang="en-GB" dirty="0" smtClean="0"/>
              <a:t> các </a:t>
            </a:r>
            <a:r>
              <a:rPr lang="en-GB" dirty="0" err="1" smtClean="0"/>
              <a:t>giá</a:t>
            </a:r>
            <a:r>
              <a:rPr lang="en-GB" dirty="0" smtClean="0"/>
              <a:t> trị</a:t>
            </a:r>
          </a:p>
          <a:p>
            <a:r>
              <a:rPr lang="en-GB" dirty="0" err="1" smtClean="0"/>
              <a:t>Mục</a:t>
            </a:r>
            <a:r>
              <a:rPr lang="en-GB" dirty="0" smtClean="0"/>
              <a:t> (value entry): </a:t>
            </a:r>
            <a:r>
              <a:rPr lang="en-GB" dirty="0" err="1" smtClean="0"/>
              <a:t>chứa</a:t>
            </a:r>
            <a:r>
              <a:rPr lang="en-GB" dirty="0" smtClean="0"/>
              <a:t> </a:t>
            </a:r>
            <a:r>
              <a:rPr lang="en-GB" dirty="0" err="1" smtClean="0"/>
              <a:t>cặp</a:t>
            </a:r>
            <a:r>
              <a:rPr lang="en-GB" dirty="0" smtClean="0"/>
              <a:t> [</a:t>
            </a:r>
            <a:r>
              <a:rPr lang="en-GB" dirty="0" err="1" smtClean="0"/>
              <a:t>tên</a:t>
            </a:r>
            <a:r>
              <a:rPr lang="en-GB" dirty="0" smtClean="0"/>
              <a:t>, </a:t>
            </a:r>
            <a:r>
              <a:rPr lang="en-GB" dirty="0" err="1" smtClean="0"/>
              <a:t>giá</a:t>
            </a:r>
            <a:r>
              <a:rPr lang="en-GB" dirty="0" smtClean="0"/>
              <a:t> trị]</a:t>
            </a:r>
          </a:p>
          <a:p>
            <a:r>
              <a:rPr lang="en-GB" dirty="0" err="1" smtClean="0"/>
              <a:t>Giá</a:t>
            </a:r>
            <a:r>
              <a:rPr lang="en-GB" dirty="0" smtClean="0"/>
              <a:t> trị (</a:t>
            </a:r>
            <a:r>
              <a:rPr lang="en-GB" dirty="0" err="1" smtClean="0"/>
              <a:t>dữ</a:t>
            </a:r>
            <a:r>
              <a:rPr lang="en-GB" dirty="0" smtClean="0"/>
              <a:t> liệu): </a:t>
            </a:r>
            <a:r>
              <a:rPr lang="en-GB" dirty="0" err="1" smtClean="0"/>
              <a:t>chứa</a:t>
            </a:r>
            <a:r>
              <a:rPr lang="en-GB" dirty="0" smtClean="0"/>
              <a:t> </a:t>
            </a:r>
            <a:r>
              <a:rPr lang="en-GB" dirty="0" err="1" smtClean="0"/>
              <a:t>trong</a:t>
            </a:r>
            <a:r>
              <a:rPr lang="en-GB" dirty="0" smtClean="0"/>
              <a:t> </a:t>
            </a:r>
            <a:r>
              <a:rPr lang="en-GB" dirty="0" err="1" smtClean="0"/>
              <a:t>mục</a:t>
            </a:r>
            <a:endParaRPr lang="en-GB" dirty="0" smtClean="0"/>
          </a:p>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14</a:t>
            </a:fld>
            <a:endParaRPr lang="en-GB">
              <a:solidFill>
                <a:prstClr val="black"/>
              </a:solidFill>
            </a:endParaRPr>
          </a:p>
        </p:txBody>
      </p:sp>
    </p:spTree>
    <p:extLst>
      <p:ext uri="{BB962C8B-B14F-4D97-AF65-F5344CB8AC3E}">
        <p14:creationId xmlns:p14="http://schemas.microsoft.com/office/powerpoint/2010/main" val="1843242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22</a:t>
            </a:fld>
            <a:endParaRPr lang="en-GB">
              <a:solidFill>
                <a:prstClr val="black"/>
              </a:solidFill>
            </a:endParaRPr>
          </a:p>
        </p:txBody>
      </p:sp>
    </p:spTree>
    <p:extLst>
      <p:ext uri="{BB962C8B-B14F-4D97-AF65-F5344CB8AC3E}">
        <p14:creationId xmlns:p14="http://schemas.microsoft.com/office/powerpoint/2010/main" val="1835065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__</a:t>
            </a:r>
            <a:r>
              <a:rPr lang="en-US" dirty="0" err="1" smtClean="0"/>
              <a:t>declspec</a:t>
            </a:r>
            <a:r>
              <a:rPr lang="en-US" dirty="0" smtClean="0"/>
              <a:t>(</a:t>
            </a:r>
            <a:r>
              <a:rPr lang="en-US" dirty="0" err="1" smtClean="0"/>
              <a:t>dllexport</a:t>
            </a:r>
            <a:r>
              <a:rPr lang="en-US" dirty="0" smtClean="0"/>
              <a:t>) adds the export directive to the object file so you do not need to use a .</a:t>
            </a:r>
            <a:r>
              <a:rPr lang="en-US" dirty="0" err="1" smtClean="0"/>
              <a:t>def</a:t>
            </a:r>
            <a:r>
              <a:rPr lang="en-US" dirty="0" smtClean="0"/>
              <a:t> file.</a:t>
            </a:r>
            <a:endParaRPr lang="en-US"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25</a:t>
            </a:fld>
            <a:endParaRPr lang="en-GB">
              <a:solidFill>
                <a:prstClr val="black"/>
              </a:solidFill>
            </a:endParaRPr>
          </a:p>
        </p:txBody>
      </p:sp>
    </p:spTree>
    <p:extLst>
      <p:ext uri="{BB962C8B-B14F-4D97-AF65-F5344CB8AC3E}">
        <p14:creationId xmlns:p14="http://schemas.microsoft.com/office/powerpoint/2010/main" val="3760932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26</a:t>
            </a:fld>
            <a:endParaRPr lang="en-GB">
              <a:solidFill>
                <a:prstClr val="black"/>
              </a:solidFill>
            </a:endParaRPr>
          </a:p>
        </p:txBody>
      </p:sp>
    </p:spTree>
    <p:extLst>
      <p:ext uri="{BB962C8B-B14F-4D97-AF65-F5344CB8AC3E}">
        <p14:creationId xmlns:p14="http://schemas.microsoft.com/office/powerpoint/2010/main" val="3427341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27</a:t>
            </a:fld>
            <a:endParaRPr lang="en-GB">
              <a:solidFill>
                <a:prstClr val="black"/>
              </a:solidFill>
            </a:endParaRPr>
          </a:p>
        </p:txBody>
      </p:sp>
    </p:spTree>
    <p:extLst>
      <p:ext uri="{BB962C8B-B14F-4D97-AF65-F5344CB8AC3E}">
        <p14:creationId xmlns:p14="http://schemas.microsoft.com/office/powerpoint/2010/main" val="224024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smtClean="0"/>
              <a:t>Threads are independent sequences of instructions that are executed by the CPU without waiting for other threads.</a:t>
            </a:r>
          </a:p>
          <a:p>
            <a:pPr lvl="1"/>
            <a:r>
              <a:rPr lang="en-GB" dirty="0" smtClean="0"/>
              <a:t>A process contains one or more threads, which execute part of the code within a process.</a:t>
            </a:r>
          </a:p>
          <a:p>
            <a:pPr lvl="1"/>
            <a:r>
              <a:rPr lang="en-GB" dirty="0" smtClean="0"/>
              <a:t>Threads within a process all share the same memory space, but each has its own processor registers and stack.</a:t>
            </a:r>
          </a:p>
          <a:p>
            <a:pPr lvl="1"/>
            <a:r>
              <a:rPr lang="en-GB" dirty="0" smtClean="0"/>
              <a:t>When one thread is running, it has complete control of the CPU, or the CPU core, and other threads cannot affect the state of the CPU or core.</a:t>
            </a:r>
          </a:p>
          <a:p>
            <a:pPr lvl="1"/>
            <a:r>
              <a:rPr lang="en-GB" dirty="0" smtClean="0"/>
              <a:t>Before an OS switches between threads, all values in the CPU are saved in a structure called the </a:t>
            </a:r>
            <a:r>
              <a:rPr lang="en-GB" i="1" dirty="0" smtClean="0">
                <a:effectLst>
                  <a:outerShdw blurRad="38100" dist="38100" dir="2700000" algn="tl">
                    <a:srgbClr val="000000">
                      <a:alpha val="43137"/>
                    </a:srgbClr>
                  </a:outerShdw>
                </a:effectLst>
              </a:rPr>
              <a:t>thread context</a:t>
            </a:r>
          </a:p>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30</a:t>
            </a:fld>
            <a:endParaRPr lang="en-GB">
              <a:solidFill>
                <a:prstClr val="black"/>
              </a:solidFill>
            </a:endParaRPr>
          </a:p>
        </p:txBody>
      </p:sp>
    </p:spTree>
    <p:extLst>
      <p:ext uri="{BB962C8B-B14F-4D97-AF65-F5344CB8AC3E}">
        <p14:creationId xmlns:p14="http://schemas.microsoft.com/office/powerpoint/2010/main" val="34579146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32</a:t>
            </a:fld>
            <a:endParaRPr lang="en-GB">
              <a:solidFill>
                <a:prstClr val="black"/>
              </a:solidFill>
            </a:endParaRPr>
          </a:p>
        </p:txBody>
      </p:sp>
    </p:spTree>
    <p:extLst>
      <p:ext uri="{BB962C8B-B14F-4D97-AF65-F5344CB8AC3E}">
        <p14:creationId xmlns:p14="http://schemas.microsoft.com/office/powerpoint/2010/main" val="2404037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37</a:t>
            </a:fld>
            <a:endParaRPr lang="en-GB">
              <a:solidFill>
                <a:prstClr val="black"/>
              </a:solidFill>
            </a:endParaRPr>
          </a:p>
        </p:txBody>
      </p:sp>
    </p:spTree>
    <p:extLst>
      <p:ext uri="{BB962C8B-B14F-4D97-AF65-F5344CB8AC3E}">
        <p14:creationId xmlns:p14="http://schemas.microsoft.com/office/powerpoint/2010/main" val="802357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42</a:t>
            </a:fld>
            <a:endParaRPr lang="en-GB">
              <a:solidFill>
                <a:prstClr val="black"/>
              </a:solidFill>
            </a:endParaRPr>
          </a:p>
        </p:txBody>
      </p:sp>
    </p:spTree>
    <p:extLst>
      <p:ext uri="{BB962C8B-B14F-4D97-AF65-F5344CB8AC3E}">
        <p14:creationId xmlns:p14="http://schemas.microsoft.com/office/powerpoint/2010/main" val="1690449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43</a:t>
            </a:fld>
            <a:endParaRPr lang="en-GB">
              <a:solidFill>
                <a:prstClr val="black"/>
              </a:solidFill>
            </a:endParaRPr>
          </a:p>
        </p:txBody>
      </p:sp>
    </p:spTree>
    <p:extLst>
      <p:ext uri="{BB962C8B-B14F-4D97-AF65-F5344CB8AC3E}">
        <p14:creationId xmlns:p14="http://schemas.microsoft.com/office/powerpoint/2010/main" val="2350214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4637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24744"/>
          </a:xfrm>
          <a:solidFill>
            <a:schemeClr val="accent6">
              <a:lumMod val="40000"/>
              <a:lumOff val="60000"/>
            </a:schemeClr>
          </a:solidFill>
        </p:spPr>
        <p:txBody>
          <a:bodyPr/>
          <a:lstStyle/>
          <a:p>
            <a:r>
              <a:rPr lang="en-US" smtClean="0"/>
              <a:t>Click to edit Master title style</a:t>
            </a:r>
            <a:endParaRPr lang="en-GB"/>
          </a:p>
        </p:txBody>
      </p:sp>
      <p:sp>
        <p:nvSpPr>
          <p:cNvPr id="3" name="Content Placeholder 2"/>
          <p:cNvSpPr>
            <a:spLocks noGrp="1"/>
          </p:cNvSpPr>
          <p:nvPr>
            <p:ph idx="1"/>
          </p:nvPr>
        </p:nvSpPr>
        <p:spPr>
          <a:xfrm>
            <a:off x="179512" y="1196752"/>
            <a:ext cx="8784976" cy="5112568"/>
          </a:xfrm>
        </p:spPr>
        <p:txBody>
          <a:bodyPr/>
          <a:lstStyle>
            <a:lvl1pPr>
              <a:defRPr sz="30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9129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684764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69813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521788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25600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717999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00560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35190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15122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535183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2766240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24744"/>
          </a:xfrm>
          <a:solidFill>
            <a:schemeClr val="accent6">
              <a:lumMod val="40000"/>
              <a:lumOff val="60000"/>
            </a:schemeClr>
          </a:solidFill>
        </p:spPr>
        <p:txBody>
          <a:bodyPr/>
          <a:lstStyle/>
          <a:p>
            <a:r>
              <a:rPr lang="en-US" smtClean="0"/>
              <a:t>Click to edit Master title style</a:t>
            </a:r>
            <a:endParaRPr lang="en-GB"/>
          </a:p>
        </p:txBody>
      </p:sp>
      <p:sp>
        <p:nvSpPr>
          <p:cNvPr id="3" name="Content Placeholder 2"/>
          <p:cNvSpPr>
            <a:spLocks noGrp="1"/>
          </p:cNvSpPr>
          <p:nvPr>
            <p:ph idx="1"/>
          </p:nvPr>
        </p:nvSpPr>
        <p:spPr>
          <a:xfrm>
            <a:off x="179512" y="1196752"/>
            <a:ext cx="8784976" cy="5112568"/>
          </a:xfrm>
        </p:spPr>
        <p:txBody>
          <a:bodyPr/>
          <a:lstStyle>
            <a:lvl1pPr>
              <a:defRPr sz="30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728227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25800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842011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499950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7391098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6727647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4921235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170637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8003105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94759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9512" y="274638"/>
            <a:ext cx="8784976"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107504" y="1600200"/>
            <a:ext cx="8928992"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486749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9512" y="274638"/>
            <a:ext cx="8784976"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107504" y="1600200"/>
            <a:ext cx="8928992"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04B57-344B-4127-95E0-C4D70C1DB92C}" type="datetimeFigureOut">
              <a:rPr lang="en-GB" smtClean="0">
                <a:solidFill>
                  <a:prstClr val="black">
                    <a:tint val="75000"/>
                  </a:prstClr>
                </a:solidFill>
              </a:rPr>
              <a:pPr/>
              <a:t>02/11/2023</a:t>
            </a:fld>
            <a:endParaRPr lang="en-GB">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4977907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Malware Analysis</a:t>
            </a:r>
            <a:endParaRPr lang="en-GB" dirty="0"/>
          </a:p>
        </p:txBody>
      </p:sp>
      <p:sp>
        <p:nvSpPr>
          <p:cNvPr id="3" name="Subtitle 2"/>
          <p:cNvSpPr>
            <a:spLocks noGrp="1"/>
          </p:cNvSpPr>
          <p:nvPr>
            <p:ph type="subTitle" idx="1"/>
          </p:nvPr>
        </p:nvSpPr>
        <p:spPr/>
        <p:txBody>
          <a:bodyPr/>
          <a:lstStyle/>
          <a:p>
            <a:r>
              <a:rPr lang="en-GB" dirty="0" err="1" smtClean="0">
                <a:latin typeface="Arial Narrow" panose="020B0606020202030204" pitchFamily="34" charset="0"/>
              </a:rPr>
              <a:t>Dr.</a:t>
            </a:r>
            <a:r>
              <a:rPr lang="en-GB" dirty="0" smtClean="0">
                <a:latin typeface="Arial Narrow" panose="020B0606020202030204" pitchFamily="34" charset="0"/>
              </a:rPr>
              <a:t> Tran The Son</a:t>
            </a:r>
          </a:p>
          <a:p>
            <a:r>
              <a:rPr lang="en-GB" sz="2000" dirty="0" smtClean="0">
                <a:latin typeface="Arial Narrow" panose="020B0606020202030204" pitchFamily="34" charset="0"/>
              </a:rPr>
              <a:t>Vietnam – Korea University</a:t>
            </a:r>
            <a:endParaRPr lang="en-GB" sz="2000" dirty="0">
              <a:latin typeface="Arial Narrow" panose="020B0606020202030204" pitchFamily="34" charset="0"/>
            </a:endParaRPr>
          </a:p>
        </p:txBody>
      </p:sp>
    </p:spTree>
    <p:extLst>
      <p:ext uri="{BB962C8B-B14F-4D97-AF65-F5344CB8AC3E}">
        <p14:creationId xmlns:p14="http://schemas.microsoft.com/office/powerpoint/2010/main" val="2514722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Analyzing</a:t>
            </a:r>
            <a:r>
              <a:rPr lang="en-GB" dirty="0" smtClean="0"/>
              <a:t> </a:t>
            </a:r>
            <a:r>
              <a:rPr lang="en-GB" dirty="0" smtClean="0"/>
              <a:t>Malware </a:t>
            </a:r>
            <a:r>
              <a:rPr lang="en-GB" dirty="0" smtClean="0"/>
              <a:t>on Windows</a:t>
            </a:r>
            <a:endParaRPr lang="en-GB" dirty="0"/>
          </a:p>
        </p:txBody>
      </p:sp>
      <p:sp>
        <p:nvSpPr>
          <p:cNvPr id="3" name="Content Placeholder 2"/>
          <p:cNvSpPr>
            <a:spLocks noGrp="1"/>
          </p:cNvSpPr>
          <p:nvPr>
            <p:ph idx="1"/>
          </p:nvPr>
        </p:nvSpPr>
        <p:spPr/>
        <p:txBody>
          <a:bodyPr/>
          <a:lstStyle/>
          <a:p>
            <a:r>
              <a:rPr lang="en-GB" dirty="0"/>
              <a:t>Kernel &amp; User mode</a:t>
            </a:r>
          </a:p>
          <a:p>
            <a:r>
              <a:rPr lang="en-GB" dirty="0" smtClean="0"/>
              <a:t>Windows API</a:t>
            </a:r>
          </a:p>
          <a:p>
            <a:pPr lvl="2"/>
            <a:r>
              <a:rPr lang="en-GB" dirty="0" smtClean="0"/>
              <a:t>Handles, File System functions, Special files</a:t>
            </a:r>
          </a:p>
          <a:p>
            <a:r>
              <a:rPr lang="en-GB" dirty="0" smtClean="0"/>
              <a:t>Windows API &amp; Registry</a:t>
            </a:r>
          </a:p>
          <a:p>
            <a:r>
              <a:rPr lang="en-GB" dirty="0" smtClean="0"/>
              <a:t>Windows API &amp; Networking</a:t>
            </a:r>
          </a:p>
          <a:p>
            <a:pPr lvl="2"/>
            <a:r>
              <a:rPr lang="en-GB" dirty="0" err="1" smtClean="0"/>
              <a:t>Bekerly</a:t>
            </a:r>
            <a:r>
              <a:rPr lang="en-GB" dirty="0" smtClean="0"/>
              <a:t> socket, </a:t>
            </a:r>
            <a:r>
              <a:rPr lang="en-GB" dirty="0" err="1" smtClean="0"/>
              <a:t>WinINET</a:t>
            </a:r>
            <a:r>
              <a:rPr lang="en-GB" dirty="0" smtClean="0"/>
              <a:t> API</a:t>
            </a:r>
          </a:p>
          <a:p>
            <a:r>
              <a:rPr lang="en-GB" dirty="0" smtClean="0"/>
              <a:t>Malware &amp; Windows OS</a:t>
            </a:r>
          </a:p>
          <a:p>
            <a:pPr lvl="2"/>
            <a:r>
              <a:rPr lang="en-GB" dirty="0" smtClean="0"/>
              <a:t>Thread, Process, </a:t>
            </a:r>
            <a:r>
              <a:rPr lang="en-GB" dirty="0" err="1" smtClean="0"/>
              <a:t>Mutex</a:t>
            </a:r>
            <a:r>
              <a:rPr lang="en-GB" dirty="0" smtClean="0"/>
              <a:t>, Service, COM, Exception</a:t>
            </a:r>
          </a:p>
        </p:txBody>
      </p:sp>
    </p:spTree>
    <p:extLst>
      <p:ext uri="{BB962C8B-B14F-4D97-AF65-F5344CB8AC3E}">
        <p14:creationId xmlns:p14="http://schemas.microsoft.com/office/powerpoint/2010/main" val="32621451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block diagram of user-mode and kernel-mode compon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1905299"/>
            <a:ext cx="5740896" cy="477660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dirty="0" smtClean="0"/>
              <a:t>Kernel vs. User mode</a:t>
            </a:r>
            <a:endParaRPr lang="en-GB" dirty="0"/>
          </a:p>
        </p:txBody>
      </p:sp>
      <p:sp>
        <p:nvSpPr>
          <p:cNvPr id="3" name="Content Placeholder 2"/>
          <p:cNvSpPr>
            <a:spLocks noGrp="1"/>
          </p:cNvSpPr>
          <p:nvPr>
            <p:ph idx="1"/>
          </p:nvPr>
        </p:nvSpPr>
        <p:spPr/>
        <p:txBody>
          <a:bodyPr>
            <a:normAutofit fontScale="92500" lnSpcReduction="10000"/>
          </a:bodyPr>
          <a:lstStyle/>
          <a:p>
            <a:r>
              <a:rPr lang="en-GB" dirty="0"/>
              <a:t>Windows </a:t>
            </a:r>
            <a:r>
              <a:rPr lang="en-GB" dirty="0" smtClean="0"/>
              <a:t>has two </a:t>
            </a:r>
            <a:r>
              <a:rPr lang="en-GB" dirty="0"/>
              <a:t>processor privilege </a:t>
            </a:r>
            <a:r>
              <a:rPr lang="en-GB" dirty="0" smtClean="0"/>
              <a:t>levels</a:t>
            </a:r>
          </a:p>
          <a:p>
            <a:pPr lvl="2"/>
            <a:r>
              <a:rPr lang="en-GB" dirty="0" smtClean="0"/>
              <a:t>kernel </a:t>
            </a:r>
            <a:r>
              <a:rPr lang="en-GB" dirty="0"/>
              <a:t>mode </a:t>
            </a:r>
            <a:endParaRPr lang="en-GB" dirty="0" smtClean="0"/>
          </a:p>
          <a:p>
            <a:pPr lvl="2"/>
            <a:r>
              <a:rPr lang="en-GB" dirty="0" smtClean="0"/>
              <a:t>user mode</a:t>
            </a:r>
          </a:p>
          <a:p>
            <a:r>
              <a:rPr lang="en-GB" dirty="0" smtClean="0"/>
              <a:t>Disassembly</a:t>
            </a:r>
          </a:p>
          <a:p>
            <a:pPr lvl="2"/>
            <a:r>
              <a:rPr lang="en-GB" dirty="0" smtClean="0"/>
              <a:t>SYSENTER</a:t>
            </a:r>
          </a:p>
          <a:p>
            <a:pPr lvl="2"/>
            <a:r>
              <a:rPr lang="en-GB" dirty="0" smtClean="0"/>
              <a:t>SYSCALL</a:t>
            </a:r>
            <a:endParaRPr lang="en-GB" dirty="0"/>
          </a:p>
          <a:p>
            <a:pPr lvl="2"/>
            <a:r>
              <a:rPr lang="en-GB" dirty="0" smtClean="0"/>
              <a:t>INT 0x2E</a:t>
            </a:r>
          </a:p>
          <a:p>
            <a:r>
              <a:rPr lang="en-GB" dirty="0" smtClean="0"/>
              <a:t>Kernel mode</a:t>
            </a:r>
          </a:p>
          <a:p>
            <a:pPr lvl="2"/>
            <a:r>
              <a:rPr lang="en-GB" dirty="0" smtClean="0"/>
              <a:t>Antivirus</a:t>
            </a:r>
          </a:p>
          <a:p>
            <a:pPr lvl="2"/>
            <a:r>
              <a:rPr lang="en-GB" dirty="0" smtClean="0"/>
              <a:t>Firewall</a:t>
            </a:r>
          </a:p>
          <a:p>
            <a:pPr lvl="2"/>
            <a:r>
              <a:rPr lang="en-GB" dirty="0" smtClean="0"/>
              <a:t>…</a:t>
            </a:r>
          </a:p>
          <a:p>
            <a:pPr lvl="2"/>
            <a:r>
              <a:rPr lang="en-GB" dirty="0" smtClean="0"/>
              <a:t>..</a:t>
            </a:r>
            <a:r>
              <a:rPr lang="en-GB" dirty="0" smtClean="0">
                <a:solidFill>
                  <a:srgbClr val="FF0000"/>
                </a:solidFill>
              </a:rPr>
              <a:t>Malware (</a:t>
            </a:r>
            <a:r>
              <a:rPr lang="en-GB" dirty="0" err="1" smtClean="0">
                <a:solidFill>
                  <a:srgbClr val="FF0000"/>
                </a:solidFill>
              </a:rPr>
              <a:t>e.g.rootkit</a:t>
            </a:r>
            <a:r>
              <a:rPr lang="en-GB" dirty="0" smtClean="0">
                <a:solidFill>
                  <a:srgbClr val="FF0000"/>
                </a:solidFill>
              </a:rPr>
              <a:t>)</a:t>
            </a:r>
            <a:endParaRPr lang="en-GB" dirty="0">
              <a:solidFill>
                <a:srgbClr val="FF0000"/>
              </a:solidFill>
            </a:endParaRPr>
          </a:p>
        </p:txBody>
      </p:sp>
    </p:spTree>
    <p:extLst>
      <p:ext uri="{BB962C8B-B14F-4D97-AF65-F5344CB8AC3E}">
        <p14:creationId xmlns:p14="http://schemas.microsoft.com/office/powerpoint/2010/main" val="39041393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Windows API</a:t>
            </a:r>
          </a:p>
        </p:txBody>
      </p:sp>
      <p:sp>
        <p:nvSpPr>
          <p:cNvPr id="3" name="Content Placeholder 2"/>
          <p:cNvSpPr>
            <a:spLocks noGrp="1"/>
          </p:cNvSpPr>
          <p:nvPr>
            <p:ph idx="1"/>
          </p:nvPr>
        </p:nvSpPr>
        <p:spPr/>
        <p:txBody>
          <a:bodyPr>
            <a:normAutofit/>
          </a:bodyPr>
          <a:lstStyle/>
          <a:p>
            <a:r>
              <a:rPr lang="en-GB" dirty="0" smtClean="0"/>
              <a:t>A </a:t>
            </a:r>
            <a:r>
              <a:rPr lang="en-GB" dirty="0"/>
              <a:t>broad set of functionality that governs the way </a:t>
            </a:r>
            <a:r>
              <a:rPr lang="en-GB" dirty="0" smtClean="0"/>
              <a:t>that malware </a:t>
            </a:r>
            <a:r>
              <a:rPr lang="en-GB" dirty="0"/>
              <a:t>interacts with the Microsoft libraries</a:t>
            </a:r>
            <a:r>
              <a:rPr lang="en-GB" dirty="0" smtClean="0"/>
              <a:t>.</a:t>
            </a:r>
          </a:p>
          <a:p>
            <a:r>
              <a:rPr lang="en-GB" dirty="0" smtClean="0"/>
              <a:t>Uses </a:t>
            </a:r>
            <a:r>
              <a:rPr lang="en-GB" i="1" dirty="0"/>
              <a:t>Hungarian </a:t>
            </a:r>
            <a:r>
              <a:rPr lang="en-GB" i="1" dirty="0" smtClean="0"/>
              <a:t>notation</a:t>
            </a:r>
            <a:endParaRPr lang="en-GB"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76" y="2708920"/>
            <a:ext cx="8164900" cy="41061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24353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Windows API</a:t>
            </a:r>
          </a:p>
        </p:txBody>
      </p:sp>
      <p:sp>
        <p:nvSpPr>
          <p:cNvPr id="3" name="Content Placeholder 2"/>
          <p:cNvSpPr>
            <a:spLocks noGrp="1"/>
          </p:cNvSpPr>
          <p:nvPr>
            <p:ph idx="1"/>
          </p:nvPr>
        </p:nvSpPr>
        <p:spPr/>
        <p:txBody>
          <a:bodyPr/>
          <a:lstStyle/>
          <a:p>
            <a:r>
              <a:rPr lang="en-GB" dirty="0" smtClean="0"/>
              <a:t>Long Pointer</a:t>
            </a:r>
          </a:p>
          <a:p>
            <a:pPr lvl="2"/>
            <a:r>
              <a:rPr lang="en-GB" dirty="0" smtClean="0"/>
              <a:t>LP: win 32-bit</a:t>
            </a:r>
          </a:p>
        </p:txBody>
      </p:sp>
      <p:pic>
        <p:nvPicPr>
          <p:cNvPr id="1026" name="Picture 2" descr="https://qph.fs.quoracdn.net/main-qimg-8e76a1fd7c71319addb3ee0c7d81b48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2060848"/>
            <a:ext cx="2962275" cy="19431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83568" y="2859525"/>
            <a:ext cx="3049834" cy="3046988"/>
          </a:xfrm>
          <a:prstGeom prst="rect">
            <a:avLst/>
          </a:prstGeom>
          <a:noFill/>
          <a:ln>
            <a:solidFill>
              <a:schemeClr val="accent1"/>
            </a:solidFill>
          </a:ln>
        </p:spPr>
        <p:txBody>
          <a:bodyPr wrap="square" rtlCol="0">
            <a:spAutoFit/>
          </a:bodyPr>
          <a:lstStyle/>
          <a:p>
            <a:r>
              <a:rPr lang="en-GB" sz="2400" dirty="0" err="1">
                <a:solidFill>
                  <a:prstClr val="black"/>
                </a:solidFill>
              </a:rPr>
              <a:t>int</a:t>
            </a:r>
            <a:r>
              <a:rPr lang="en-GB" sz="2400" dirty="0">
                <a:solidFill>
                  <a:prstClr val="black"/>
                </a:solidFill>
              </a:rPr>
              <a:t> *</a:t>
            </a:r>
            <a:r>
              <a:rPr lang="en-GB" sz="2400" dirty="0" err="1">
                <a:solidFill>
                  <a:prstClr val="black"/>
                </a:solidFill>
              </a:rPr>
              <a:t>ptr</a:t>
            </a:r>
            <a:endParaRPr lang="en-GB" sz="2400" dirty="0">
              <a:solidFill>
                <a:prstClr val="black"/>
              </a:solidFill>
            </a:endParaRPr>
          </a:p>
          <a:p>
            <a:r>
              <a:rPr lang="en-GB" sz="2400" dirty="0">
                <a:solidFill>
                  <a:prstClr val="black"/>
                </a:solidFill>
              </a:rPr>
              <a:t>LPINT *</a:t>
            </a:r>
            <a:r>
              <a:rPr lang="en-GB" sz="2400" dirty="0" err="1">
                <a:solidFill>
                  <a:prstClr val="black"/>
                </a:solidFill>
              </a:rPr>
              <a:t>ptr</a:t>
            </a:r>
            <a:endParaRPr lang="en-GB" sz="2400" dirty="0">
              <a:solidFill>
                <a:prstClr val="black"/>
              </a:solidFill>
            </a:endParaRPr>
          </a:p>
          <a:p>
            <a:r>
              <a:rPr lang="en-GB" sz="2400" dirty="0">
                <a:solidFill>
                  <a:prstClr val="black"/>
                </a:solidFill>
              </a:rPr>
              <a:t>LPDWORD* </a:t>
            </a:r>
            <a:r>
              <a:rPr lang="en-GB" sz="2400" dirty="0" err="1">
                <a:solidFill>
                  <a:prstClr val="black"/>
                </a:solidFill>
              </a:rPr>
              <a:t>ptr</a:t>
            </a:r>
            <a:endParaRPr lang="en-GB" sz="2400" dirty="0">
              <a:solidFill>
                <a:prstClr val="black"/>
              </a:solidFill>
            </a:endParaRPr>
          </a:p>
          <a:p>
            <a:r>
              <a:rPr lang="en-GB" sz="2400" dirty="0">
                <a:solidFill>
                  <a:prstClr val="black"/>
                </a:solidFill>
              </a:rPr>
              <a:t>LPINT *ptr1, ptr2</a:t>
            </a:r>
          </a:p>
          <a:p>
            <a:r>
              <a:rPr lang="en-GB" sz="2400" dirty="0">
                <a:solidFill>
                  <a:prstClr val="black"/>
                </a:solidFill>
              </a:rPr>
              <a:t>LPINT* ptr1, ptr2</a:t>
            </a:r>
          </a:p>
          <a:p>
            <a:r>
              <a:rPr lang="en-GB" sz="2400" dirty="0">
                <a:solidFill>
                  <a:prstClr val="black"/>
                </a:solidFill>
              </a:rPr>
              <a:t>LPINT (*</a:t>
            </a:r>
            <a:r>
              <a:rPr lang="en-GB" sz="2400" dirty="0" err="1">
                <a:solidFill>
                  <a:prstClr val="black"/>
                </a:solidFill>
              </a:rPr>
              <a:t>ptr</a:t>
            </a:r>
            <a:r>
              <a:rPr lang="en-GB" sz="2400" dirty="0">
                <a:solidFill>
                  <a:prstClr val="black"/>
                </a:solidFill>
              </a:rPr>
              <a:t>) [50]</a:t>
            </a:r>
          </a:p>
          <a:p>
            <a:r>
              <a:rPr lang="en-GB" sz="2400" dirty="0" err="1">
                <a:solidFill>
                  <a:prstClr val="black"/>
                </a:solidFill>
              </a:rPr>
              <a:t>int</a:t>
            </a:r>
            <a:r>
              <a:rPr lang="en-GB" sz="2400" dirty="0">
                <a:solidFill>
                  <a:prstClr val="black"/>
                </a:solidFill>
              </a:rPr>
              <a:t> *(*</a:t>
            </a:r>
            <a:r>
              <a:rPr lang="en-GB" sz="2400" dirty="0" err="1">
                <a:solidFill>
                  <a:prstClr val="black"/>
                </a:solidFill>
              </a:rPr>
              <a:t>ptr</a:t>
            </a:r>
            <a:r>
              <a:rPr lang="en-GB" sz="2400" dirty="0">
                <a:solidFill>
                  <a:prstClr val="black"/>
                </a:solidFill>
              </a:rPr>
              <a:t>)[50]</a:t>
            </a:r>
          </a:p>
          <a:p>
            <a:r>
              <a:rPr lang="en-GB" sz="2400" dirty="0" err="1">
                <a:solidFill>
                  <a:prstClr val="black"/>
                </a:solidFill>
              </a:rPr>
              <a:t>int</a:t>
            </a:r>
            <a:r>
              <a:rPr lang="en-GB" sz="2400" dirty="0">
                <a:solidFill>
                  <a:prstClr val="black"/>
                </a:solidFill>
              </a:rPr>
              <a:t> (*</a:t>
            </a:r>
            <a:r>
              <a:rPr lang="en-GB" sz="2400" dirty="0" err="1">
                <a:solidFill>
                  <a:prstClr val="black"/>
                </a:solidFill>
              </a:rPr>
              <a:t>ptr</a:t>
            </a:r>
            <a:r>
              <a:rPr lang="en-GB" sz="2400" dirty="0">
                <a:solidFill>
                  <a:prstClr val="black"/>
                </a:solidFill>
              </a:rPr>
              <a:t>[2])[5]</a:t>
            </a:r>
          </a:p>
        </p:txBody>
      </p:sp>
      <p:sp>
        <p:nvSpPr>
          <p:cNvPr id="5" name="TextBox 4"/>
          <p:cNvSpPr txBox="1"/>
          <p:nvPr/>
        </p:nvSpPr>
        <p:spPr>
          <a:xfrm>
            <a:off x="4860032" y="4725144"/>
            <a:ext cx="2721194" cy="1200329"/>
          </a:xfrm>
          <a:prstGeom prst="rect">
            <a:avLst/>
          </a:prstGeom>
          <a:noFill/>
        </p:spPr>
        <p:txBody>
          <a:bodyPr wrap="none" rtlCol="0">
            <a:spAutoFit/>
          </a:bodyPr>
          <a:lstStyle/>
          <a:p>
            <a:r>
              <a:rPr lang="en-GB" sz="2400" dirty="0" err="1">
                <a:solidFill>
                  <a:prstClr val="black"/>
                </a:solidFill>
              </a:rPr>
              <a:t>printf</a:t>
            </a:r>
            <a:r>
              <a:rPr lang="en-GB" sz="2400" dirty="0">
                <a:solidFill>
                  <a:prstClr val="black"/>
                </a:solidFill>
              </a:rPr>
              <a:t> (*</a:t>
            </a:r>
            <a:r>
              <a:rPr lang="en-GB" sz="2400" dirty="0" err="1">
                <a:solidFill>
                  <a:prstClr val="black"/>
                </a:solidFill>
              </a:rPr>
              <a:t>ptr</a:t>
            </a:r>
            <a:r>
              <a:rPr lang="en-GB" sz="2400" dirty="0">
                <a:solidFill>
                  <a:prstClr val="black"/>
                </a:solidFill>
              </a:rPr>
              <a:t>) = ????</a:t>
            </a:r>
          </a:p>
          <a:p>
            <a:r>
              <a:rPr lang="en-GB" sz="2400" dirty="0" err="1">
                <a:solidFill>
                  <a:prstClr val="black"/>
                </a:solidFill>
              </a:rPr>
              <a:t>printf</a:t>
            </a:r>
            <a:r>
              <a:rPr lang="en-GB" sz="2400" dirty="0">
                <a:solidFill>
                  <a:prstClr val="black"/>
                </a:solidFill>
              </a:rPr>
              <a:t> (</a:t>
            </a:r>
            <a:r>
              <a:rPr lang="en-GB" sz="2400" dirty="0" err="1">
                <a:solidFill>
                  <a:prstClr val="black"/>
                </a:solidFill>
              </a:rPr>
              <a:t>ptr</a:t>
            </a:r>
            <a:r>
              <a:rPr lang="en-GB" sz="2400" dirty="0">
                <a:solidFill>
                  <a:prstClr val="black"/>
                </a:solidFill>
              </a:rPr>
              <a:t>) = ?????</a:t>
            </a:r>
          </a:p>
          <a:p>
            <a:r>
              <a:rPr lang="en-GB" sz="2400" dirty="0" err="1">
                <a:solidFill>
                  <a:prstClr val="black"/>
                </a:solidFill>
              </a:rPr>
              <a:t>printf</a:t>
            </a:r>
            <a:r>
              <a:rPr lang="en-GB" sz="2400" dirty="0">
                <a:solidFill>
                  <a:prstClr val="black"/>
                </a:solidFill>
              </a:rPr>
              <a:t> (&amp;</a:t>
            </a:r>
            <a:r>
              <a:rPr lang="en-GB" sz="2400" dirty="0" err="1">
                <a:solidFill>
                  <a:prstClr val="black"/>
                </a:solidFill>
              </a:rPr>
              <a:t>ptr</a:t>
            </a:r>
            <a:r>
              <a:rPr lang="en-GB" sz="2400" dirty="0">
                <a:solidFill>
                  <a:prstClr val="black"/>
                </a:solidFill>
              </a:rPr>
              <a:t>) = ?????</a:t>
            </a:r>
          </a:p>
        </p:txBody>
      </p:sp>
    </p:spTree>
    <p:extLst>
      <p:ext uri="{BB962C8B-B14F-4D97-AF65-F5344CB8AC3E}">
        <p14:creationId xmlns:p14="http://schemas.microsoft.com/office/powerpoint/2010/main" val="42554222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960" y="2586286"/>
            <a:ext cx="4818818" cy="3435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Windows API</a:t>
            </a:r>
          </a:p>
        </p:txBody>
      </p:sp>
      <p:sp>
        <p:nvSpPr>
          <p:cNvPr id="3" name="Content Placeholder 2"/>
          <p:cNvSpPr>
            <a:spLocks noGrp="1"/>
          </p:cNvSpPr>
          <p:nvPr>
            <p:ph idx="1"/>
          </p:nvPr>
        </p:nvSpPr>
        <p:spPr/>
        <p:txBody>
          <a:bodyPr>
            <a:normAutofit/>
          </a:bodyPr>
          <a:lstStyle/>
          <a:p>
            <a:r>
              <a:rPr lang="en-GB" b="1" dirty="0" smtClean="0"/>
              <a:t>Handles </a:t>
            </a:r>
          </a:p>
          <a:p>
            <a:pPr lvl="1"/>
            <a:r>
              <a:rPr lang="en-GB" dirty="0"/>
              <a:t>Handles are items that have been opened or created in the OS, such as </a:t>
            </a:r>
            <a:r>
              <a:rPr lang="en-GB" dirty="0" smtClean="0"/>
              <a:t>a window</a:t>
            </a:r>
            <a:r>
              <a:rPr lang="en-GB" dirty="0"/>
              <a:t>, process, module, menu, file, and so </a:t>
            </a:r>
            <a:r>
              <a:rPr lang="en-GB" dirty="0" smtClean="0"/>
              <a:t>on. </a:t>
            </a:r>
          </a:p>
          <a:p>
            <a:pPr lvl="1"/>
            <a:r>
              <a:rPr lang="en-GB" dirty="0" smtClean="0"/>
              <a:t>E.g. </a:t>
            </a:r>
          </a:p>
          <a:p>
            <a:pPr lvl="2"/>
            <a:r>
              <a:rPr lang="en-GB" dirty="0" err="1" smtClean="0">
                <a:latin typeface="Agency FB" panose="020B0503020202020204" pitchFamily="34" charset="0"/>
              </a:rPr>
              <a:t>CreateWindowEx</a:t>
            </a:r>
            <a:r>
              <a:rPr lang="en-GB" dirty="0" smtClean="0">
                <a:latin typeface="Agency FB" panose="020B0503020202020204" pitchFamily="34" charset="0"/>
              </a:rPr>
              <a:t>; </a:t>
            </a:r>
          </a:p>
          <a:p>
            <a:pPr lvl="2"/>
            <a:r>
              <a:rPr lang="en-GB" dirty="0" err="1" smtClean="0">
                <a:latin typeface="Agency FB" panose="020B0503020202020204" pitchFamily="34" charset="0"/>
              </a:rPr>
              <a:t>DestroyWindow</a:t>
            </a:r>
            <a:endParaRPr lang="en-GB" dirty="0" smtClean="0">
              <a:latin typeface="Agency FB" panose="020B0503020202020204" pitchFamily="34" charset="0"/>
            </a:endParaRPr>
          </a:p>
          <a:p>
            <a:pPr lvl="2"/>
            <a:r>
              <a:rPr lang="en-GB" dirty="0" err="1" smtClean="0">
                <a:latin typeface="Agency FB" panose="020B0503020202020204" pitchFamily="34" charset="0"/>
              </a:rPr>
              <a:t>CreateFile</a:t>
            </a:r>
            <a:endParaRPr lang="en-GB" dirty="0">
              <a:latin typeface="Agency FB" panose="020B0503020202020204" pitchFamily="34" charset="0"/>
            </a:endParaRPr>
          </a:p>
        </p:txBody>
      </p:sp>
      <p:sp>
        <p:nvSpPr>
          <p:cNvPr id="4" name="TextBox 3"/>
          <p:cNvSpPr txBox="1"/>
          <p:nvPr/>
        </p:nvSpPr>
        <p:spPr>
          <a:xfrm>
            <a:off x="150548" y="5733256"/>
            <a:ext cx="6900672" cy="923330"/>
          </a:xfrm>
          <a:prstGeom prst="rect">
            <a:avLst/>
          </a:prstGeom>
          <a:noFill/>
        </p:spPr>
        <p:txBody>
          <a:bodyPr wrap="none" rtlCol="0">
            <a:spAutoFit/>
          </a:bodyPr>
          <a:lstStyle/>
          <a:p>
            <a:r>
              <a:rPr lang="en-GB" dirty="0" err="1">
                <a:solidFill>
                  <a:prstClr val="black"/>
                </a:solidFill>
              </a:rPr>
              <a:t>hFile</a:t>
            </a:r>
            <a:r>
              <a:rPr lang="en-GB" dirty="0">
                <a:solidFill>
                  <a:prstClr val="black"/>
                </a:solidFill>
              </a:rPr>
              <a:t> = </a:t>
            </a:r>
            <a:r>
              <a:rPr lang="en-GB" b="1" dirty="0" err="1">
                <a:solidFill>
                  <a:srgbClr val="FF0000"/>
                </a:solidFill>
              </a:rPr>
              <a:t>CreateFileA</a:t>
            </a:r>
            <a:r>
              <a:rPr lang="en-GB" dirty="0">
                <a:solidFill>
                  <a:prstClr val="black"/>
                </a:solidFill>
              </a:rPr>
              <a:t>(filename, GENERIC_READ, FILE_SHARE_READ, NULL,</a:t>
            </a:r>
          </a:p>
          <a:p>
            <a:r>
              <a:rPr lang="en-GB" dirty="0">
                <a:solidFill>
                  <a:prstClr val="black"/>
                </a:solidFill>
              </a:rPr>
              <a:t>                        OPEN_EXISTING, FILE_ATTRIBUTE_NORMAL, 0);              </a:t>
            </a:r>
          </a:p>
          <a:p>
            <a:endParaRPr lang="en-GB" dirty="0">
              <a:solidFill>
                <a:prstClr val="black"/>
              </a:solidFill>
            </a:endParaRPr>
          </a:p>
        </p:txBody>
      </p:sp>
    </p:spTree>
    <p:extLst>
      <p:ext uri="{BB962C8B-B14F-4D97-AF65-F5344CB8AC3E}">
        <p14:creationId xmlns:p14="http://schemas.microsoft.com/office/powerpoint/2010/main" val="2912065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132856"/>
            <a:ext cx="5135508" cy="4247317"/>
          </a:xfrm>
          <a:prstGeom prst="rect">
            <a:avLst/>
          </a:prstGeom>
          <a:noFill/>
          <a:ln>
            <a:solidFill>
              <a:schemeClr val="accent1"/>
            </a:solidFill>
          </a:ln>
        </p:spPr>
        <p:txBody>
          <a:bodyPr wrap="none" rtlCol="0">
            <a:spAutoFit/>
          </a:bodyPr>
          <a:lstStyle/>
          <a:p>
            <a:r>
              <a:rPr lang="en-GB" b="1" dirty="0">
                <a:solidFill>
                  <a:prstClr val="black"/>
                </a:solidFill>
              </a:rPr>
              <a:t>function</a:t>
            </a:r>
            <a:r>
              <a:rPr lang="en-GB" dirty="0">
                <a:solidFill>
                  <a:prstClr val="black"/>
                </a:solidFill>
              </a:rPr>
              <a:t> action(x, y, </a:t>
            </a:r>
            <a:r>
              <a:rPr lang="en-GB" b="1" dirty="0" err="1">
                <a:solidFill>
                  <a:prstClr val="black"/>
                </a:solidFill>
              </a:rPr>
              <a:t>callback</a:t>
            </a:r>
            <a:r>
              <a:rPr lang="en-GB" dirty="0">
                <a:solidFill>
                  <a:prstClr val="black"/>
                </a:solidFill>
              </a:rPr>
              <a:t>) {</a:t>
            </a:r>
          </a:p>
          <a:p>
            <a:r>
              <a:rPr lang="en-GB" dirty="0">
                <a:solidFill>
                  <a:prstClr val="black"/>
                </a:solidFill>
              </a:rPr>
              <a:t>        return </a:t>
            </a:r>
            <a:r>
              <a:rPr lang="en-GB" dirty="0" err="1">
                <a:solidFill>
                  <a:prstClr val="black"/>
                </a:solidFill>
              </a:rPr>
              <a:t>callback</a:t>
            </a:r>
            <a:r>
              <a:rPr lang="en-GB" dirty="0">
                <a:solidFill>
                  <a:prstClr val="black"/>
                </a:solidFill>
              </a:rPr>
              <a:t>(x, y);</a:t>
            </a:r>
          </a:p>
          <a:p>
            <a:r>
              <a:rPr lang="en-GB" dirty="0">
                <a:solidFill>
                  <a:prstClr val="black"/>
                </a:solidFill>
              </a:rPr>
              <a:t>    }</a:t>
            </a:r>
          </a:p>
          <a:p>
            <a:endParaRPr lang="en-GB" dirty="0">
              <a:solidFill>
                <a:prstClr val="black"/>
              </a:solidFill>
            </a:endParaRPr>
          </a:p>
          <a:p>
            <a:r>
              <a:rPr lang="en-GB" dirty="0">
                <a:solidFill>
                  <a:prstClr val="black"/>
                </a:solidFill>
              </a:rPr>
              <a:t>    </a:t>
            </a:r>
            <a:r>
              <a:rPr lang="en-GB" b="1" dirty="0">
                <a:solidFill>
                  <a:prstClr val="black"/>
                </a:solidFill>
              </a:rPr>
              <a:t>function</a:t>
            </a:r>
            <a:r>
              <a:rPr lang="en-GB" dirty="0">
                <a:solidFill>
                  <a:prstClr val="black"/>
                </a:solidFill>
              </a:rPr>
              <a:t> multiplication(x, y) {</a:t>
            </a:r>
          </a:p>
          <a:p>
            <a:r>
              <a:rPr lang="en-GB" dirty="0">
                <a:solidFill>
                  <a:prstClr val="black"/>
                </a:solidFill>
              </a:rPr>
              <a:t>        return x * y;</a:t>
            </a:r>
          </a:p>
          <a:p>
            <a:r>
              <a:rPr lang="en-GB" dirty="0">
                <a:solidFill>
                  <a:prstClr val="black"/>
                </a:solidFill>
              </a:rPr>
              <a:t>    }</a:t>
            </a:r>
          </a:p>
          <a:p>
            <a:endParaRPr lang="en-GB" dirty="0">
              <a:solidFill>
                <a:prstClr val="black"/>
              </a:solidFill>
            </a:endParaRPr>
          </a:p>
          <a:p>
            <a:r>
              <a:rPr lang="en-GB" dirty="0">
                <a:solidFill>
                  <a:prstClr val="black"/>
                </a:solidFill>
              </a:rPr>
              <a:t>    </a:t>
            </a:r>
            <a:r>
              <a:rPr lang="en-GB" b="1" dirty="0">
                <a:solidFill>
                  <a:prstClr val="black"/>
                </a:solidFill>
              </a:rPr>
              <a:t>function</a:t>
            </a:r>
            <a:r>
              <a:rPr lang="en-GB" dirty="0">
                <a:solidFill>
                  <a:prstClr val="black"/>
                </a:solidFill>
              </a:rPr>
              <a:t> addition(x, y) {</a:t>
            </a:r>
          </a:p>
          <a:p>
            <a:r>
              <a:rPr lang="en-GB" dirty="0">
                <a:solidFill>
                  <a:prstClr val="black"/>
                </a:solidFill>
              </a:rPr>
              <a:t>        return x + y;</a:t>
            </a:r>
          </a:p>
          <a:p>
            <a:r>
              <a:rPr lang="en-GB" dirty="0">
                <a:solidFill>
                  <a:prstClr val="black"/>
                </a:solidFill>
              </a:rPr>
              <a:t>    }</a:t>
            </a:r>
          </a:p>
          <a:p>
            <a:endParaRPr lang="en-GB" dirty="0">
              <a:solidFill>
                <a:prstClr val="black"/>
              </a:solidFill>
            </a:endParaRPr>
          </a:p>
          <a:p>
            <a:r>
              <a:rPr lang="en-GB" dirty="0">
                <a:solidFill>
                  <a:prstClr val="black"/>
                </a:solidFill>
              </a:rPr>
              <a:t>    alert(action(10, 10, multiplication)); // output: 100</a:t>
            </a:r>
          </a:p>
          <a:p>
            <a:endParaRPr lang="en-GB" dirty="0">
              <a:solidFill>
                <a:prstClr val="black"/>
              </a:solidFill>
            </a:endParaRPr>
          </a:p>
          <a:p>
            <a:r>
              <a:rPr lang="en-GB" dirty="0">
                <a:solidFill>
                  <a:prstClr val="black"/>
                </a:solidFill>
              </a:rPr>
              <a:t>    alert(action(10, 10, addition)); // output: 20</a:t>
            </a:r>
          </a:p>
        </p:txBody>
      </p:sp>
      <p:sp>
        <p:nvSpPr>
          <p:cNvPr id="2" name="Title 1"/>
          <p:cNvSpPr>
            <a:spLocks noGrp="1"/>
          </p:cNvSpPr>
          <p:nvPr>
            <p:ph type="title"/>
          </p:nvPr>
        </p:nvSpPr>
        <p:spPr/>
        <p:txBody>
          <a:bodyPr/>
          <a:lstStyle/>
          <a:p>
            <a:r>
              <a:rPr lang="en-GB" dirty="0"/>
              <a:t>Windows API</a:t>
            </a:r>
          </a:p>
        </p:txBody>
      </p:sp>
      <p:sp>
        <p:nvSpPr>
          <p:cNvPr id="3" name="Content Placeholder 2"/>
          <p:cNvSpPr>
            <a:spLocks noGrp="1"/>
          </p:cNvSpPr>
          <p:nvPr>
            <p:ph idx="1"/>
          </p:nvPr>
        </p:nvSpPr>
        <p:spPr/>
        <p:txBody>
          <a:bodyPr/>
          <a:lstStyle/>
          <a:p>
            <a:r>
              <a:rPr lang="en-GB" b="1" dirty="0" err="1" smtClean="0"/>
              <a:t>Callback</a:t>
            </a:r>
            <a:endParaRPr lang="en-GB" b="1" dirty="0"/>
          </a:p>
        </p:txBody>
      </p:sp>
      <p:pic>
        <p:nvPicPr>
          <p:cNvPr id="1026" name="Picture 2" descr="this is how it 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1118281"/>
            <a:ext cx="5173382" cy="27427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701974" y="4263516"/>
            <a:ext cx="3168352" cy="2031325"/>
          </a:xfrm>
          <a:prstGeom prst="rect">
            <a:avLst/>
          </a:prstGeom>
          <a:noFill/>
          <a:ln>
            <a:solidFill>
              <a:schemeClr val="accent1"/>
            </a:solidFill>
          </a:ln>
        </p:spPr>
        <p:txBody>
          <a:bodyPr wrap="square" rtlCol="0">
            <a:spAutoFit/>
          </a:bodyPr>
          <a:lstStyle/>
          <a:p>
            <a:r>
              <a:rPr lang="en-GB" b="1" dirty="0">
                <a:solidFill>
                  <a:prstClr val="black"/>
                </a:solidFill>
              </a:rPr>
              <a:t>&gt;&gt;&gt; </a:t>
            </a:r>
            <a:r>
              <a:rPr lang="en-GB" b="1" dirty="0" err="1">
                <a:solidFill>
                  <a:prstClr val="black"/>
                </a:solidFill>
              </a:rPr>
              <a:t>def</a:t>
            </a:r>
            <a:r>
              <a:rPr lang="en-GB" dirty="0">
                <a:solidFill>
                  <a:prstClr val="black"/>
                </a:solidFill>
              </a:rPr>
              <a:t> </a:t>
            </a:r>
            <a:r>
              <a:rPr lang="en-GB" dirty="0" err="1">
                <a:solidFill>
                  <a:prstClr val="black"/>
                </a:solidFill>
              </a:rPr>
              <a:t>get_square</a:t>
            </a:r>
            <a:r>
              <a:rPr lang="en-GB" dirty="0">
                <a:solidFill>
                  <a:prstClr val="black"/>
                </a:solidFill>
              </a:rPr>
              <a:t>(</a:t>
            </a:r>
            <a:r>
              <a:rPr lang="en-GB" dirty="0" err="1">
                <a:solidFill>
                  <a:prstClr val="black"/>
                </a:solidFill>
              </a:rPr>
              <a:t>val</a:t>
            </a:r>
            <a:r>
              <a:rPr lang="en-GB" dirty="0">
                <a:solidFill>
                  <a:prstClr val="black"/>
                </a:solidFill>
              </a:rPr>
              <a:t>): </a:t>
            </a:r>
          </a:p>
          <a:p>
            <a:r>
              <a:rPr lang="en-GB" b="1" dirty="0">
                <a:solidFill>
                  <a:prstClr val="black"/>
                </a:solidFill>
              </a:rPr>
              <a:t>return</a:t>
            </a:r>
            <a:r>
              <a:rPr lang="en-GB" dirty="0">
                <a:solidFill>
                  <a:prstClr val="black"/>
                </a:solidFill>
              </a:rPr>
              <a:t> </a:t>
            </a:r>
            <a:r>
              <a:rPr lang="en-GB" dirty="0" err="1">
                <a:solidFill>
                  <a:prstClr val="black"/>
                </a:solidFill>
              </a:rPr>
              <a:t>val</a:t>
            </a:r>
            <a:r>
              <a:rPr lang="en-GB" dirty="0">
                <a:solidFill>
                  <a:prstClr val="black"/>
                </a:solidFill>
              </a:rPr>
              <a:t> ** 2 </a:t>
            </a:r>
          </a:p>
          <a:p>
            <a:endParaRPr lang="en-GB" dirty="0">
              <a:solidFill>
                <a:prstClr val="black"/>
              </a:solidFill>
            </a:endParaRPr>
          </a:p>
          <a:p>
            <a:r>
              <a:rPr lang="en-GB" b="1" dirty="0">
                <a:solidFill>
                  <a:prstClr val="black"/>
                </a:solidFill>
              </a:rPr>
              <a:t>&gt;&gt;&gt; </a:t>
            </a:r>
            <a:r>
              <a:rPr lang="en-GB" b="1" dirty="0" err="1">
                <a:solidFill>
                  <a:prstClr val="black"/>
                </a:solidFill>
              </a:rPr>
              <a:t>def</a:t>
            </a:r>
            <a:r>
              <a:rPr lang="en-GB" dirty="0">
                <a:solidFill>
                  <a:prstClr val="black"/>
                </a:solidFill>
              </a:rPr>
              <a:t> caller(</a:t>
            </a:r>
            <a:r>
              <a:rPr lang="en-GB" dirty="0" err="1">
                <a:solidFill>
                  <a:prstClr val="black"/>
                </a:solidFill>
              </a:rPr>
              <a:t>func</a:t>
            </a:r>
            <a:r>
              <a:rPr lang="en-GB" dirty="0">
                <a:solidFill>
                  <a:prstClr val="black"/>
                </a:solidFill>
              </a:rPr>
              <a:t>, </a:t>
            </a:r>
            <a:r>
              <a:rPr lang="en-GB" dirty="0" err="1">
                <a:solidFill>
                  <a:prstClr val="black"/>
                </a:solidFill>
              </a:rPr>
              <a:t>val</a:t>
            </a:r>
            <a:r>
              <a:rPr lang="en-GB" dirty="0">
                <a:solidFill>
                  <a:prstClr val="black"/>
                </a:solidFill>
              </a:rPr>
              <a:t>): </a:t>
            </a:r>
            <a:endParaRPr lang="en-GB" b="1" dirty="0">
              <a:solidFill>
                <a:prstClr val="black"/>
              </a:solidFill>
            </a:endParaRPr>
          </a:p>
          <a:p>
            <a:r>
              <a:rPr lang="en-GB" b="1" dirty="0">
                <a:solidFill>
                  <a:prstClr val="black"/>
                </a:solidFill>
              </a:rPr>
              <a:t>return</a:t>
            </a:r>
            <a:r>
              <a:rPr lang="en-GB" dirty="0">
                <a:solidFill>
                  <a:prstClr val="black"/>
                </a:solidFill>
              </a:rPr>
              <a:t> </a:t>
            </a:r>
            <a:r>
              <a:rPr lang="en-GB" dirty="0" err="1">
                <a:solidFill>
                  <a:prstClr val="black"/>
                </a:solidFill>
              </a:rPr>
              <a:t>func</a:t>
            </a:r>
            <a:r>
              <a:rPr lang="en-GB" dirty="0">
                <a:solidFill>
                  <a:prstClr val="black"/>
                </a:solidFill>
              </a:rPr>
              <a:t>(</a:t>
            </a:r>
            <a:r>
              <a:rPr lang="en-GB" dirty="0" err="1">
                <a:solidFill>
                  <a:prstClr val="black"/>
                </a:solidFill>
              </a:rPr>
              <a:t>val</a:t>
            </a:r>
            <a:r>
              <a:rPr lang="en-GB" dirty="0">
                <a:solidFill>
                  <a:prstClr val="black"/>
                </a:solidFill>
              </a:rPr>
              <a:t>) </a:t>
            </a:r>
          </a:p>
          <a:p>
            <a:endParaRPr lang="en-GB" dirty="0">
              <a:solidFill>
                <a:prstClr val="black"/>
              </a:solidFill>
            </a:endParaRPr>
          </a:p>
          <a:p>
            <a:r>
              <a:rPr lang="en-GB" b="1" dirty="0">
                <a:solidFill>
                  <a:prstClr val="black"/>
                </a:solidFill>
              </a:rPr>
              <a:t>&gt;&gt;&gt; </a:t>
            </a:r>
            <a:r>
              <a:rPr lang="en-GB" dirty="0">
                <a:solidFill>
                  <a:prstClr val="black"/>
                </a:solidFill>
              </a:rPr>
              <a:t>caller(</a:t>
            </a:r>
            <a:r>
              <a:rPr lang="en-GB" dirty="0" err="1">
                <a:solidFill>
                  <a:prstClr val="black"/>
                </a:solidFill>
              </a:rPr>
              <a:t>get_square</a:t>
            </a:r>
            <a:r>
              <a:rPr lang="en-GB" dirty="0">
                <a:solidFill>
                  <a:prstClr val="black"/>
                </a:solidFill>
              </a:rPr>
              <a:t>, 5)</a:t>
            </a:r>
          </a:p>
        </p:txBody>
      </p:sp>
    </p:spTree>
    <p:extLst>
      <p:ext uri="{BB962C8B-B14F-4D97-AF65-F5344CB8AC3E}">
        <p14:creationId xmlns:p14="http://schemas.microsoft.com/office/powerpoint/2010/main" val="2572494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Windows API</a:t>
            </a:r>
          </a:p>
        </p:txBody>
      </p:sp>
      <p:sp>
        <p:nvSpPr>
          <p:cNvPr id="3" name="Content Placeholder 2"/>
          <p:cNvSpPr>
            <a:spLocks noGrp="1"/>
          </p:cNvSpPr>
          <p:nvPr>
            <p:ph idx="1"/>
          </p:nvPr>
        </p:nvSpPr>
        <p:spPr/>
        <p:txBody>
          <a:bodyPr>
            <a:normAutofit fontScale="92500" lnSpcReduction="10000"/>
          </a:bodyPr>
          <a:lstStyle/>
          <a:p>
            <a:r>
              <a:rPr lang="en-GB" b="1" dirty="0" smtClean="0"/>
              <a:t>ANSI vs. Unicode</a:t>
            </a:r>
          </a:p>
          <a:p>
            <a:pPr lvl="1"/>
            <a:r>
              <a:rPr lang="en-GB" dirty="0" smtClean="0"/>
              <a:t>Windows XP, NT: ANSI code page	 (UTF-8) with </a:t>
            </a:r>
            <a:r>
              <a:rPr lang="en-GB" dirty="0" smtClean="0">
                <a:effectLst>
                  <a:outerShdw blurRad="38100" dist="38100" dir="2700000" algn="tl">
                    <a:srgbClr val="000000">
                      <a:alpha val="43137"/>
                    </a:srgbClr>
                  </a:outerShdw>
                </a:effectLst>
              </a:rPr>
              <a:t>suffix –A</a:t>
            </a:r>
          </a:p>
          <a:p>
            <a:pPr lvl="2"/>
            <a:r>
              <a:rPr lang="en-GB" dirty="0" err="1" smtClean="0">
                <a:effectLst>
                  <a:outerShdw blurRad="38100" dist="38100" dir="2700000" algn="tl">
                    <a:srgbClr val="000000">
                      <a:alpha val="43137"/>
                    </a:srgbClr>
                  </a:outerShdw>
                </a:effectLst>
              </a:rPr>
              <a:t>DeleteFileA</a:t>
            </a:r>
            <a:r>
              <a:rPr lang="en-GB" dirty="0" smtClean="0">
                <a:effectLst>
                  <a:outerShdw blurRad="38100" dist="38100" dir="2700000" algn="tl">
                    <a:srgbClr val="000000">
                      <a:alpha val="43137"/>
                    </a:srgbClr>
                  </a:outerShdw>
                </a:effectLst>
              </a:rPr>
              <a:t> (LPCSTR </a:t>
            </a:r>
            <a:r>
              <a:rPr lang="en-GB" dirty="0" err="1" smtClean="0">
                <a:effectLst>
                  <a:outerShdw blurRad="38100" dist="38100" dir="2700000" algn="tl">
                    <a:srgbClr val="000000">
                      <a:alpha val="43137"/>
                    </a:srgbClr>
                  </a:outerShdw>
                </a:effectLst>
              </a:rPr>
              <a:t>lpFileName</a:t>
            </a:r>
            <a:r>
              <a:rPr lang="en-GB" dirty="0" smtClean="0">
                <a:effectLst>
                  <a:outerShdw blurRad="38100" dist="38100" dir="2700000" algn="tl">
                    <a:srgbClr val="000000">
                      <a:alpha val="43137"/>
                    </a:srgbClr>
                  </a:outerShdw>
                </a:effectLst>
              </a:rPr>
              <a:t>)</a:t>
            </a:r>
          </a:p>
          <a:p>
            <a:pPr lvl="1"/>
            <a:r>
              <a:rPr lang="en-GB" dirty="0" smtClean="0"/>
              <a:t>Win2000 and later version: Unicode (UTF-16) with </a:t>
            </a:r>
            <a:r>
              <a:rPr lang="en-GB" dirty="0" smtClean="0">
                <a:effectLst>
                  <a:outerShdw blurRad="38100" dist="38100" dir="2700000" algn="tl">
                    <a:srgbClr val="000000">
                      <a:alpha val="43137"/>
                    </a:srgbClr>
                  </a:outerShdw>
                </a:effectLst>
              </a:rPr>
              <a:t>suffix -W</a:t>
            </a:r>
          </a:p>
          <a:p>
            <a:pPr lvl="2"/>
            <a:r>
              <a:rPr lang="en-GB" dirty="0" err="1" smtClean="0">
                <a:effectLst>
                  <a:outerShdw blurRad="38100" dist="38100" dir="2700000" algn="tl">
                    <a:srgbClr val="000000">
                      <a:alpha val="43137"/>
                    </a:srgbClr>
                  </a:outerShdw>
                </a:effectLst>
              </a:rPr>
              <a:t>DeleteFileW</a:t>
            </a:r>
            <a:r>
              <a:rPr lang="en-GB" dirty="0" smtClean="0">
                <a:effectLst>
                  <a:outerShdw blurRad="38100" dist="38100" dir="2700000" algn="tl">
                    <a:srgbClr val="000000">
                      <a:alpha val="43137"/>
                    </a:srgbClr>
                  </a:outerShdw>
                </a:effectLst>
              </a:rPr>
              <a:t> (LPCWSTR </a:t>
            </a:r>
            <a:r>
              <a:rPr lang="en-GB" dirty="0" err="1" smtClean="0">
                <a:effectLst>
                  <a:outerShdw blurRad="38100" dist="38100" dir="2700000" algn="tl">
                    <a:srgbClr val="000000">
                      <a:alpha val="43137"/>
                    </a:srgbClr>
                  </a:outerShdw>
                </a:effectLst>
              </a:rPr>
              <a:t>lpFileName</a:t>
            </a:r>
            <a:r>
              <a:rPr lang="en-GB" dirty="0" smtClean="0">
                <a:effectLst>
                  <a:outerShdw blurRad="38100" dist="38100" dir="2700000" algn="tl">
                    <a:srgbClr val="000000">
                      <a:alpha val="43137"/>
                    </a:srgbClr>
                  </a:outerShdw>
                </a:effectLst>
              </a:rPr>
              <a:t>)</a:t>
            </a:r>
          </a:p>
          <a:p>
            <a:r>
              <a:rPr lang="en-GB" b="1" dirty="0" smtClean="0"/>
              <a:t>Windows API extended</a:t>
            </a:r>
          </a:p>
          <a:p>
            <a:pPr lvl="1"/>
            <a:r>
              <a:rPr lang="en-GB" dirty="0" smtClean="0"/>
              <a:t>Microsoft updates a new function which is incompatible with the old one with the </a:t>
            </a:r>
            <a:r>
              <a:rPr lang="en-GB" dirty="0" smtClean="0">
                <a:effectLst>
                  <a:outerShdw blurRad="38100" dist="38100" dir="2700000" algn="tl">
                    <a:srgbClr val="000000">
                      <a:alpha val="43137"/>
                    </a:srgbClr>
                  </a:outerShdw>
                </a:effectLst>
              </a:rPr>
              <a:t>suffix –Ex</a:t>
            </a:r>
          </a:p>
          <a:p>
            <a:pPr lvl="2"/>
            <a:r>
              <a:rPr lang="en-GB" dirty="0" err="1" smtClean="0">
                <a:effectLst>
                  <a:outerShdw blurRad="38100" dist="38100" dir="2700000" algn="tl">
                    <a:srgbClr val="000000">
                      <a:alpha val="43137"/>
                    </a:srgbClr>
                  </a:outerShdw>
                </a:effectLst>
              </a:rPr>
              <a:t>FindFirstFileA</a:t>
            </a:r>
            <a:r>
              <a:rPr lang="en-GB" dirty="0" smtClean="0"/>
              <a:t>: 2 parameters (</a:t>
            </a:r>
            <a:r>
              <a:rPr lang="en-GB" dirty="0" err="1" smtClean="0"/>
              <a:t>lpFileName</a:t>
            </a:r>
            <a:r>
              <a:rPr lang="en-GB" dirty="0" smtClean="0"/>
              <a:t>, </a:t>
            </a:r>
            <a:r>
              <a:rPr lang="en-GB" dirty="0" err="1" smtClean="0"/>
              <a:t>lpFindFileData</a:t>
            </a:r>
            <a:r>
              <a:rPr lang="en-GB" dirty="0" smtClean="0"/>
              <a:t>)</a:t>
            </a:r>
          </a:p>
          <a:p>
            <a:pPr lvl="2"/>
            <a:r>
              <a:rPr lang="en-GB" dirty="0" err="1" smtClean="0">
                <a:effectLst>
                  <a:outerShdw blurRad="38100" dist="38100" dir="2700000" algn="tl">
                    <a:srgbClr val="000000">
                      <a:alpha val="43137"/>
                    </a:srgbClr>
                  </a:outerShdw>
                </a:effectLst>
              </a:rPr>
              <a:t>FindFirstFileExA</a:t>
            </a:r>
            <a:r>
              <a:rPr lang="en-GB" dirty="0" smtClean="0"/>
              <a:t>: </a:t>
            </a:r>
            <a:r>
              <a:rPr lang="en-GB" dirty="0"/>
              <a:t>6 parameters (</a:t>
            </a:r>
            <a:r>
              <a:rPr lang="en-GB" dirty="0" err="1" smtClean="0"/>
              <a:t>lpFileName</a:t>
            </a:r>
            <a:r>
              <a:rPr lang="en-GB" dirty="0"/>
              <a:t>, </a:t>
            </a:r>
            <a:r>
              <a:rPr lang="en-GB" dirty="0" err="1" smtClean="0"/>
              <a:t>fInfoLevelId</a:t>
            </a:r>
            <a:r>
              <a:rPr lang="en-GB" dirty="0"/>
              <a:t>, </a:t>
            </a:r>
            <a:r>
              <a:rPr lang="en-GB" dirty="0" err="1" smtClean="0"/>
              <a:t>lpFindFileData</a:t>
            </a:r>
            <a:r>
              <a:rPr lang="en-GB" dirty="0"/>
              <a:t>, </a:t>
            </a:r>
            <a:r>
              <a:rPr lang="en-GB" dirty="0" err="1" smtClean="0"/>
              <a:t>fSearchOp</a:t>
            </a:r>
            <a:r>
              <a:rPr lang="en-GB" dirty="0"/>
              <a:t>, </a:t>
            </a:r>
            <a:r>
              <a:rPr lang="en-GB" dirty="0" err="1" smtClean="0"/>
              <a:t>lpSearchFilter</a:t>
            </a:r>
            <a:r>
              <a:rPr lang="en-GB" dirty="0"/>
              <a:t>, </a:t>
            </a:r>
            <a:r>
              <a:rPr lang="en-GB" dirty="0" err="1" smtClean="0"/>
              <a:t>dwAdditionalFlags</a:t>
            </a:r>
            <a:r>
              <a:rPr lang="en-GB" dirty="0" smtClean="0"/>
              <a:t>)</a:t>
            </a:r>
            <a:endParaRPr lang="en-GB" dirty="0"/>
          </a:p>
        </p:txBody>
      </p:sp>
    </p:spTree>
    <p:extLst>
      <p:ext uri="{BB962C8B-B14F-4D97-AF65-F5344CB8AC3E}">
        <p14:creationId xmlns:p14="http://schemas.microsoft.com/office/powerpoint/2010/main" val="39170548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Windows API - Category</a:t>
            </a:r>
            <a:endParaRPr lang="en-GB" dirty="0"/>
          </a:p>
        </p:txBody>
      </p:sp>
      <p:sp>
        <p:nvSpPr>
          <p:cNvPr id="3" name="Content Placeholder 2"/>
          <p:cNvSpPr>
            <a:spLocks noGrp="1"/>
          </p:cNvSpPr>
          <p:nvPr>
            <p:ph idx="1"/>
          </p:nvPr>
        </p:nvSpPr>
        <p:spPr/>
        <p:txBody>
          <a:bodyPr>
            <a:normAutofit fontScale="85000" lnSpcReduction="20000"/>
          </a:bodyPr>
          <a:lstStyle/>
          <a:p>
            <a:r>
              <a:rPr lang="en-GB" b="1" dirty="0" smtClean="0"/>
              <a:t>Base Services</a:t>
            </a:r>
            <a:endParaRPr lang="en-GB" dirty="0" smtClean="0"/>
          </a:p>
          <a:p>
            <a:pPr lvl="2"/>
            <a:r>
              <a:rPr lang="en-GB" dirty="0" smtClean="0"/>
              <a:t>Provide </a:t>
            </a:r>
            <a:r>
              <a:rPr lang="en-GB" dirty="0"/>
              <a:t>access to the basic resources available to a Windows </a:t>
            </a:r>
            <a:r>
              <a:rPr lang="en-GB" dirty="0" smtClean="0"/>
              <a:t>system</a:t>
            </a:r>
            <a:r>
              <a:rPr lang="en-GB" dirty="0"/>
              <a:t>, i.e. </a:t>
            </a:r>
            <a:r>
              <a:rPr lang="en-GB" i="1" dirty="0"/>
              <a:t>file systems</a:t>
            </a:r>
            <a:r>
              <a:rPr lang="en-GB" dirty="0"/>
              <a:t>, </a:t>
            </a:r>
            <a:r>
              <a:rPr lang="en-GB" i="1" dirty="0"/>
              <a:t>devices</a:t>
            </a:r>
            <a:r>
              <a:rPr lang="en-GB" dirty="0"/>
              <a:t>, </a:t>
            </a:r>
            <a:r>
              <a:rPr lang="en-GB" i="1" dirty="0"/>
              <a:t>processes</a:t>
            </a:r>
            <a:r>
              <a:rPr lang="en-GB" dirty="0"/>
              <a:t>, </a:t>
            </a:r>
            <a:r>
              <a:rPr lang="en-GB" i="1" dirty="0"/>
              <a:t>threads</a:t>
            </a:r>
            <a:r>
              <a:rPr lang="en-GB" dirty="0"/>
              <a:t>, and </a:t>
            </a:r>
            <a:r>
              <a:rPr lang="en-GB" i="1" dirty="0"/>
              <a:t>error </a:t>
            </a:r>
            <a:r>
              <a:rPr lang="en-GB" i="1" dirty="0" smtClean="0"/>
              <a:t>handling </a:t>
            </a:r>
            <a:r>
              <a:rPr lang="en-GB" dirty="0" smtClean="0"/>
              <a:t>(</a:t>
            </a:r>
            <a:r>
              <a:rPr lang="en-GB" dirty="0" smtClean="0">
                <a:effectLst>
                  <a:outerShdw blurRad="38100" dist="38100" dir="2700000" algn="tl">
                    <a:srgbClr val="000000">
                      <a:alpha val="43137"/>
                    </a:srgbClr>
                  </a:outerShdw>
                </a:effectLst>
              </a:rPr>
              <a:t>Kernel32.dll</a:t>
            </a:r>
            <a:r>
              <a:rPr lang="en-GB" dirty="0" smtClean="0"/>
              <a:t>)</a:t>
            </a:r>
          </a:p>
          <a:p>
            <a:r>
              <a:rPr lang="en-GB" b="1" dirty="0"/>
              <a:t>Advanced </a:t>
            </a:r>
            <a:r>
              <a:rPr lang="en-GB" b="1" dirty="0" smtClean="0"/>
              <a:t>Services</a:t>
            </a:r>
          </a:p>
          <a:p>
            <a:pPr lvl="2"/>
            <a:r>
              <a:rPr lang="en-GB" dirty="0"/>
              <a:t>Provide access to functions beyond the </a:t>
            </a:r>
            <a:r>
              <a:rPr lang="en-GB" dirty="0" smtClean="0"/>
              <a:t>kernel, i.e. </a:t>
            </a:r>
            <a:r>
              <a:rPr lang="en-GB" i="1" dirty="0" smtClean="0"/>
              <a:t>registry</a:t>
            </a:r>
            <a:r>
              <a:rPr lang="en-GB" dirty="0"/>
              <a:t>, </a:t>
            </a:r>
            <a:r>
              <a:rPr lang="en-GB" i="1" dirty="0" smtClean="0"/>
              <a:t>shutdown</a:t>
            </a:r>
            <a:r>
              <a:rPr lang="en-GB" dirty="0" smtClean="0"/>
              <a:t>/</a:t>
            </a:r>
            <a:r>
              <a:rPr lang="en-GB" i="1" dirty="0" smtClean="0"/>
              <a:t>restart</a:t>
            </a:r>
            <a:r>
              <a:rPr lang="en-GB" dirty="0" smtClean="0"/>
              <a:t>/</a:t>
            </a:r>
            <a:r>
              <a:rPr lang="en-GB" i="1" dirty="0" smtClean="0"/>
              <a:t>abort</a:t>
            </a:r>
            <a:r>
              <a:rPr lang="en-GB" dirty="0" smtClean="0"/>
              <a:t>, </a:t>
            </a:r>
            <a:r>
              <a:rPr lang="en-GB" i="1" dirty="0" smtClean="0"/>
              <a:t>start</a:t>
            </a:r>
            <a:r>
              <a:rPr lang="en-GB" dirty="0" smtClean="0"/>
              <a:t>/</a:t>
            </a:r>
            <a:r>
              <a:rPr lang="en-GB" i="1" dirty="0" smtClean="0"/>
              <a:t>stop</a:t>
            </a:r>
            <a:r>
              <a:rPr lang="en-GB" dirty="0" smtClean="0"/>
              <a:t>/</a:t>
            </a:r>
            <a:r>
              <a:rPr lang="en-GB" i="1" dirty="0" smtClean="0"/>
              <a:t>create</a:t>
            </a:r>
            <a:r>
              <a:rPr lang="en-GB" dirty="0" smtClean="0"/>
              <a:t> </a:t>
            </a:r>
            <a:r>
              <a:rPr lang="en-GB" dirty="0"/>
              <a:t>a </a:t>
            </a:r>
            <a:r>
              <a:rPr lang="en-GB" dirty="0" smtClean="0"/>
              <a:t>service</a:t>
            </a:r>
            <a:r>
              <a:rPr lang="en-GB" dirty="0"/>
              <a:t>, </a:t>
            </a:r>
            <a:r>
              <a:rPr lang="en-GB" i="1" dirty="0"/>
              <a:t>manage user </a:t>
            </a:r>
            <a:r>
              <a:rPr lang="en-GB" i="1" dirty="0" smtClean="0"/>
              <a:t>accounts</a:t>
            </a:r>
            <a:r>
              <a:rPr lang="en-GB" dirty="0" smtClean="0"/>
              <a:t> (</a:t>
            </a:r>
            <a:r>
              <a:rPr lang="en-GB" dirty="0" smtClean="0">
                <a:effectLst>
                  <a:outerShdw blurRad="38100" dist="38100" dir="2700000" algn="tl">
                    <a:srgbClr val="000000">
                      <a:alpha val="43137"/>
                    </a:srgbClr>
                  </a:outerShdw>
                </a:effectLst>
              </a:rPr>
              <a:t>advapi32.dll</a:t>
            </a:r>
            <a:r>
              <a:rPr lang="en-GB" dirty="0" smtClean="0"/>
              <a:t>, </a:t>
            </a:r>
            <a:r>
              <a:rPr lang="en-GB" dirty="0" smtClean="0">
                <a:effectLst>
                  <a:outerShdw blurRad="38100" dist="38100" dir="2700000" algn="tl">
                    <a:srgbClr val="000000">
                      <a:alpha val="43137"/>
                    </a:srgbClr>
                  </a:outerShdw>
                </a:effectLst>
              </a:rPr>
              <a:t>advapires32.dll</a:t>
            </a:r>
            <a:r>
              <a:rPr lang="en-GB" dirty="0" smtClean="0"/>
              <a:t>).</a:t>
            </a:r>
          </a:p>
          <a:p>
            <a:r>
              <a:rPr lang="en-GB" b="1" dirty="0"/>
              <a:t>Graphics Device </a:t>
            </a:r>
            <a:r>
              <a:rPr lang="en-GB" b="1" dirty="0" smtClean="0"/>
              <a:t>Interface</a:t>
            </a:r>
          </a:p>
          <a:p>
            <a:pPr lvl="2"/>
            <a:r>
              <a:rPr lang="en-GB" dirty="0"/>
              <a:t> Provides functions to </a:t>
            </a:r>
            <a:r>
              <a:rPr lang="en-GB" i="1" dirty="0"/>
              <a:t>output graphics content </a:t>
            </a:r>
            <a:r>
              <a:rPr lang="en-GB" dirty="0"/>
              <a:t>to monitors, printers, and other output </a:t>
            </a:r>
            <a:r>
              <a:rPr lang="en-GB" dirty="0" smtClean="0"/>
              <a:t>devices (</a:t>
            </a:r>
            <a:r>
              <a:rPr lang="en-GB" dirty="0" smtClean="0">
                <a:effectLst>
                  <a:outerShdw blurRad="38100" dist="38100" dir="2700000" algn="tl">
                    <a:srgbClr val="000000">
                      <a:alpha val="43137"/>
                    </a:srgbClr>
                  </a:outerShdw>
                </a:effectLst>
              </a:rPr>
              <a:t>gdi32.dll</a:t>
            </a:r>
            <a:r>
              <a:rPr lang="en-GB" dirty="0" smtClean="0"/>
              <a:t>)</a:t>
            </a:r>
          </a:p>
          <a:p>
            <a:r>
              <a:rPr lang="en-GB" b="1" dirty="0"/>
              <a:t>User </a:t>
            </a:r>
            <a:r>
              <a:rPr lang="en-GB" b="1" dirty="0" smtClean="0"/>
              <a:t>Interface</a:t>
            </a:r>
          </a:p>
          <a:p>
            <a:pPr lvl="2"/>
            <a:r>
              <a:rPr lang="en-GB" dirty="0"/>
              <a:t>Provides the functions to </a:t>
            </a:r>
            <a:r>
              <a:rPr lang="en-GB" i="1" dirty="0"/>
              <a:t>create and manage screen windows</a:t>
            </a:r>
            <a:r>
              <a:rPr lang="en-GB" dirty="0"/>
              <a:t> and </a:t>
            </a:r>
            <a:r>
              <a:rPr lang="en-GB" i="1" dirty="0"/>
              <a:t>most basic controls</a:t>
            </a:r>
            <a:r>
              <a:rPr lang="en-GB" dirty="0"/>
              <a:t>, such as buttons and scrollbars, receive mouse and keyboard input, and other functions associated with the graphical user interface (GUI) part of </a:t>
            </a:r>
            <a:r>
              <a:rPr lang="en-GB" dirty="0" smtClean="0"/>
              <a:t>Windows (</a:t>
            </a:r>
            <a:r>
              <a:rPr lang="en-GB" dirty="0" smtClean="0">
                <a:effectLst>
                  <a:outerShdw blurRad="38100" dist="38100" dir="2700000" algn="tl">
                    <a:srgbClr val="000000">
                      <a:alpha val="43137"/>
                    </a:srgbClr>
                  </a:outerShdw>
                </a:effectLst>
              </a:rPr>
              <a:t>user32.dll</a:t>
            </a:r>
            <a:r>
              <a:rPr lang="en-GB" dirty="0" smtClean="0"/>
              <a:t>)</a:t>
            </a:r>
            <a:endParaRPr lang="en-GB" b="1" dirty="0"/>
          </a:p>
          <a:p>
            <a:endParaRPr lang="en-GB" dirty="0"/>
          </a:p>
        </p:txBody>
      </p:sp>
    </p:spTree>
    <p:extLst>
      <p:ext uri="{BB962C8B-B14F-4D97-AF65-F5344CB8AC3E}">
        <p14:creationId xmlns:p14="http://schemas.microsoft.com/office/powerpoint/2010/main" val="15901732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Windows API - Category</a:t>
            </a:r>
          </a:p>
        </p:txBody>
      </p:sp>
      <p:sp>
        <p:nvSpPr>
          <p:cNvPr id="3" name="Content Placeholder 2"/>
          <p:cNvSpPr>
            <a:spLocks noGrp="1"/>
          </p:cNvSpPr>
          <p:nvPr>
            <p:ph idx="1"/>
          </p:nvPr>
        </p:nvSpPr>
        <p:spPr/>
        <p:txBody>
          <a:bodyPr>
            <a:normAutofit fontScale="92500" lnSpcReduction="20000"/>
          </a:bodyPr>
          <a:lstStyle/>
          <a:p>
            <a:r>
              <a:rPr lang="en-GB" b="1" dirty="0"/>
              <a:t>Common Dialog Box </a:t>
            </a:r>
            <a:r>
              <a:rPr lang="en-GB" b="1" dirty="0" smtClean="0"/>
              <a:t>Library</a:t>
            </a:r>
          </a:p>
          <a:p>
            <a:pPr lvl="2"/>
            <a:r>
              <a:rPr lang="en-GB" dirty="0"/>
              <a:t>Provides applications the </a:t>
            </a:r>
            <a:r>
              <a:rPr lang="en-GB" i="1" dirty="0"/>
              <a:t>standard dialog boxes </a:t>
            </a:r>
            <a:r>
              <a:rPr lang="en-GB" dirty="0"/>
              <a:t>to open and save files, choose </a:t>
            </a:r>
            <a:r>
              <a:rPr lang="en-GB" dirty="0" err="1"/>
              <a:t>color</a:t>
            </a:r>
            <a:r>
              <a:rPr lang="en-GB" dirty="0"/>
              <a:t> and font, etc</a:t>
            </a:r>
            <a:r>
              <a:rPr lang="en-GB" dirty="0" smtClean="0"/>
              <a:t>. (</a:t>
            </a:r>
            <a:r>
              <a:rPr lang="en-GB" dirty="0" smtClean="0">
                <a:effectLst>
                  <a:outerShdw blurRad="38100" dist="38100" dir="2700000" algn="tl">
                    <a:srgbClr val="000000">
                      <a:alpha val="43137"/>
                    </a:srgbClr>
                  </a:outerShdw>
                </a:effectLst>
              </a:rPr>
              <a:t>comdlg32.dll</a:t>
            </a:r>
            <a:r>
              <a:rPr lang="en-GB" dirty="0" smtClean="0"/>
              <a:t>) </a:t>
            </a:r>
            <a:endParaRPr lang="en-GB" dirty="0"/>
          </a:p>
          <a:p>
            <a:r>
              <a:rPr lang="en-GB" b="1" dirty="0"/>
              <a:t>Common Control </a:t>
            </a:r>
            <a:r>
              <a:rPr lang="en-GB" b="1" dirty="0" smtClean="0"/>
              <a:t>Library</a:t>
            </a:r>
          </a:p>
          <a:p>
            <a:pPr lvl="2"/>
            <a:r>
              <a:rPr lang="en-GB" dirty="0"/>
              <a:t>Gives applications access to some advanced controls provided by the operating </a:t>
            </a:r>
            <a:r>
              <a:rPr lang="en-GB" dirty="0" smtClean="0"/>
              <a:t>system, i.e. </a:t>
            </a:r>
            <a:r>
              <a:rPr lang="en-GB" i="1" dirty="0" smtClean="0"/>
              <a:t>status </a:t>
            </a:r>
            <a:r>
              <a:rPr lang="en-GB" i="1" dirty="0"/>
              <a:t>bars</a:t>
            </a:r>
            <a:r>
              <a:rPr lang="en-GB" dirty="0"/>
              <a:t>, </a:t>
            </a:r>
            <a:r>
              <a:rPr lang="en-GB" i="1" dirty="0"/>
              <a:t>progress bars</a:t>
            </a:r>
            <a:r>
              <a:rPr lang="en-GB" dirty="0"/>
              <a:t>, </a:t>
            </a:r>
            <a:r>
              <a:rPr lang="en-GB" i="1" dirty="0"/>
              <a:t>toolbars</a:t>
            </a:r>
            <a:r>
              <a:rPr lang="en-GB" dirty="0"/>
              <a:t> and </a:t>
            </a:r>
            <a:r>
              <a:rPr lang="en-GB" i="1" dirty="0" smtClean="0"/>
              <a:t>tabs </a:t>
            </a:r>
            <a:r>
              <a:rPr lang="en-GB" dirty="0" smtClean="0"/>
              <a:t>(</a:t>
            </a:r>
            <a:r>
              <a:rPr lang="en-GB" dirty="0" smtClean="0">
                <a:effectLst>
                  <a:outerShdw blurRad="38100" dist="38100" dir="2700000" algn="tl">
                    <a:srgbClr val="000000">
                      <a:alpha val="43137"/>
                    </a:srgbClr>
                  </a:outerShdw>
                </a:effectLst>
              </a:rPr>
              <a:t>comctl32.dll</a:t>
            </a:r>
            <a:r>
              <a:rPr lang="en-GB" dirty="0" smtClean="0"/>
              <a:t>). </a:t>
            </a:r>
          </a:p>
          <a:p>
            <a:r>
              <a:rPr lang="en-GB" b="1" dirty="0" smtClean="0"/>
              <a:t>Windows Shell</a:t>
            </a:r>
          </a:p>
          <a:p>
            <a:pPr lvl="2"/>
            <a:r>
              <a:rPr lang="en-GB" dirty="0"/>
              <a:t>Allows applications to </a:t>
            </a:r>
            <a:r>
              <a:rPr lang="en-GB" i="1" dirty="0"/>
              <a:t>access functions provided by the operating system shell</a:t>
            </a:r>
            <a:r>
              <a:rPr lang="en-GB" dirty="0"/>
              <a:t>, and to change and enhance it (</a:t>
            </a:r>
            <a:r>
              <a:rPr lang="en-GB" dirty="0">
                <a:effectLst>
                  <a:outerShdw blurRad="38100" dist="38100" dir="2700000" algn="tl">
                    <a:srgbClr val="000000">
                      <a:alpha val="43137"/>
                    </a:srgbClr>
                  </a:outerShdw>
                </a:effectLst>
              </a:rPr>
              <a:t>shell32.dll</a:t>
            </a:r>
            <a:r>
              <a:rPr lang="en-GB" dirty="0"/>
              <a:t>).</a:t>
            </a:r>
          </a:p>
          <a:p>
            <a:r>
              <a:rPr lang="en-GB" b="1" dirty="0" smtClean="0"/>
              <a:t>Network Services</a:t>
            </a:r>
          </a:p>
          <a:p>
            <a:pPr lvl="2"/>
            <a:r>
              <a:rPr lang="en-GB" dirty="0"/>
              <a:t>Give access to the various networking abilities of the operating </a:t>
            </a:r>
            <a:r>
              <a:rPr lang="en-GB" dirty="0" smtClean="0"/>
              <a:t>system, i.e. </a:t>
            </a:r>
            <a:r>
              <a:rPr lang="en-GB" i="1" dirty="0" smtClean="0"/>
              <a:t>NetBIOS</a:t>
            </a:r>
            <a:r>
              <a:rPr lang="en-GB" dirty="0"/>
              <a:t>, </a:t>
            </a:r>
            <a:r>
              <a:rPr lang="en-GB" i="1" dirty="0"/>
              <a:t>Winsock</a:t>
            </a:r>
            <a:r>
              <a:rPr lang="en-GB" dirty="0"/>
              <a:t>, </a:t>
            </a:r>
            <a:r>
              <a:rPr lang="en-GB" i="1" dirty="0" err="1"/>
              <a:t>NetDDE</a:t>
            </a:r>
            <a:r>
              <a:rPr lang="en-GB" dirty="0"/>
              <a:t>, remote procedure call (</a:t>
            </a:r>
            <a:r>
              <a:rPr lang="en-GB" i="1" dirty="0"/>
              <a:t>RPC</a:t>
            </a:r>
            <a:r>
              <a:rPr lang="en-GB" dirty="0"/>
              <a:t>) and many more (</a:t>
            </a:r>
            <a:r>
              <a:rPr lang="en-GB" dirty="0" smtClean="0">
                <a:effectLst>
                  <a:outerShdw blurRad="38100" dist="38100" dir="2700000" algn="tl">
                    <a:srgbClr val="000000">
                      <a:alpha val="43137"/>
                    </a:srgbClr>
                  </a:outerShdw>
                </a:effectLst>
              </a:rPr>
              <a:t>netapi32.dll</a:t>
            </a:r>
            <a:r>
              <a:rPr lang="en-GB" dirty="0" smtClean="0"/>
              <a:t>).</a:t>
            </a:r>
            <a:endParaRPr lang="en-GB" dirty="0"/>
          </a:p>
          <a:p>
            <a:endParaRPr lang="en-GB" dirty="0"/>
          </a:p>
        </p:txBody>
      </p:sp>
    </p:spTree>
    <p:extLst>
      <p:ext uri="{BB962C8B-B14F-4D97-AF65-F5344CB8AC3E}">
        <p14:creationId xmlns:p14="http://schemas.microsoft.com/office/powerpoint/2010/main" val="810265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87" y="-9933"/>
            <a:ext cx="9144000" cy="1124744"/>
          </a:xfrm>
        </p:spPr>
        <p:txBody>
          <a:bodyPr/>
          <a:lstStyle/>
          <a:p>
            <a:r>
              <a:rPr lang="en-GB" dirty="0"/>
              <a:t>Windows </a:t>
            </a:r>
            <a:r>
              <a:rPr lang="en-GB" dirty="0" smtClean="0"/>
              <a:t>API (E.g.)</a:t>
            </a:r>
            <a:endParaRPr lang="en-GB" dirty="0"/>
          </a:p>
        </p:txBody>
      </p:sp>
      <p:sp>
        <p:nvSpPr>
          <p:cNvPr id="3" name="Content Placeholder 2"/>
          <p:cNvSpPr>
            <a:spLocks noGrp="1"/>
          </p:cNvSpPr>
          <p:nvPr>
            <p:ph idx="1"/>
          </p:nvPr>
        </p:nvSpPr>
        <p:spPr/>
        <p:txBody>
          <a:bodyPr>
            <a:normAutofit lnSpcReduction="10000"/>
          </a:bodyPr>
          <a:lstStyle/>
          <a:p>
            <a:r>
              <a:rPr lang="en-GB" b="1" dirty="0"/>
              <a:t>File System </a:t>
            </a:r>
            <a:r>
              <a:rPr lang="en-GB" b="1" dirty="0" smtClean="0"/>
              <a:t>API Functions</a:t>
            </a:r>
          </a:p>
          <a:p>
            <a:pPr lvl="2"/>
            <a:r>
              <a:rPr lang="en-GB" dirty="0" err="1" smtClean="0"/>
              <a:t>CreateFile</a:t>
            </a:r>
            <a:r>
              <a:rPr lang="en-GB" dirty="0" smtClean="0"/>
              <a:t>; </a:t>
            </a:r>
            <a:r>
              <a:rPr lang="en-GB" dirty="0" err="1" smtClean="0"/>
              <a:t>DeleteFile</a:t>
            </a:r>
            <a:r>
              <a:rPr lang="en-GB" dirty="0" smtClean="0"/>
              <a:t>;</a:t>
            </a:r>
          </a:p>
          <a:p>
            <a:pPr lvl="2"/>
            <a:r>
              <a:rPr lang="en-GB" dirty="0" err="1" smtClean="0"/>
              <a:t>ReadFile</a:t>
            </a:r>
            <a:r>
              <a:rPr lang="en-GB" dirty="0" smtClean="0"/>
              <a:t>(Ex); </a:t>
            </a:r>
            <a:r>
              <a:rPr lang="en-GB" dirty="0" err="1" smtClean="0"/>
              <a:t>WriteFile</a:t>
            </a:r>
            <a:r>
              <a:rPr lang="en-GB" dirty="0" smtClean="0"/>
              <a:t>(Ex)</a:t>
            </a:r>
          </a:p>
          <a:p>
            <a:pPr lvl="2"/>
            <a:r>
              <a:rPr lang="en-GB" dirty="0" err="1" smtClean="0"/>
              <a:t>FindFirstFile</a:t>
            </a:r>
            <a:r>
              <a:rPr lang="en-GB" dirty="0" smtClean="0"/>
              <a:t>(Ex); </a:t>
            </a:r>
            <a:r>
              <a:rPr lang="en-GB" dirty="0" err="1" smtClean="0"/>
              <a:t>FindNextFile</a:t>
            </a:r>
            <a:r>
              <a:rPr lang="en-GB" dirty="0" smtClean="0"/>
              <a:t>; </a:t>
            </a:r>
            <a:r>
              <a:rPr lang="en-GB" dirty="0" err="1" smtClean="0"/>
              <a:t>FindClose</a:t>
            </a:r>
            <a:endParaRPr lang="en-GB" dirty="0" smtClean="0"/>
          </a:p>
          <a:p>
            <a:pPr lvl="2"/>
            <a:r>
              <a:rPr lang="en-GB" dirty="0" err="1"/>
              <a:t>CreateFileMapping</a:t>
            </a:r>
            <a:r>
              <a:rPr lang="en-GB" dirty="0"/>
              <a:t>/</a:t>
            </a:r>
            <a:r>
              <a:rPr lang="en-GB" dirty="0" err="1"/>
              <a:t>MapViewOfFile</a:t>
            </a:r>
            <a:r>
              <a:rPr lang="en-GB" dirty="0"/>
              <a:t>/</a:t>
            </a:r>
            <a:r>
              <a:rPr lang="en-GB" dirty="0" err="1"/>
              <a:t>UnmapViewOfFile</a:t>
            </a:r>
            <a:endParaRPr lang="en-GB" dirty="0" smtClean="0"/>
          </a:p>
          <a:p>
            <a:pPr lvl="2"/>
            <a:r>
              <a:rPr lang="en-GB" dirty="0" err="1" smtClean="0"/>
              <a:t>GetFileAttribute</a:t>
            </a:r>
            <a:endParaRPr lang="en-GB" dirty="0" smtClean="0"/>
          </a:p>
          <a:p>
            <a:pPr lvl="1"/>
            <a:r>
              <a:rPr lang="en-GB" dirty="0" smtClean="0"/>
              <a:t>E.g. PEDUMP.C</a:t>
            </a:r>
          </a:p>
          <a:p>
            <a:r>
              <a:rPr lang="en-GB" b="1" dirty="0" smtClean="0"/>
              <a:t>Process API Functions</a:t>
            </a:r>
          </a:p>
          <a:p>
            <a:pPr lvl="2"/>
            <a:r>
              <a:rPr lang="en-GB" dirty="0" smtClean="0"/>
              <a:t>CreateToolhelp32Snapshot</a:t>
            </a:r>
          </a:p>
          <a:p>
            <a:pPr lvl="2"/>
            <a:r>
              <a:rPr lang="en-GB" dirty="0" smtClean="0"/>
              <a:t>Process32First(W</a:t>
            </a:r>
            <a:r>
              <a:rPr lang="en-GB" dirty="0"/>
              <a:t>); </a:t>
            </a:r>
            <a:r>
              <a:rPr lang="en-GB" dirty="0" smtClean="0"/>
              <a:t>Process32Next</a:t>
            </a:r>
          </a:p>
          <a:p>
            <a:pPr lvl="2"/>
            <a:r>
              <a:rPr lang="en-GB" dirty="0" err="1" smtClean="0"/>
              <a:t>OpenProcess</a:t>
            </a:r>
            <a:r>
              <a:rPr lang="en-GB" dirty="0" smtClean="0"/>
              <a:t>; </a:t>
            </a:r>
            <a:r>
              <a:rPr lang="en-GB" dirty="0" err="1" smtClean="0"/>
              <a:t>OpenThread</a:t>
            </a:r>
            <a:r>
              <a:rPr lang="en-GB" dirty="0" smtClean="0"/>
              <a:t>; </a:t>
            </a:r>
            <a:r>
              <a:rPr lang="en-GB" dirty="0" err="1" smtClean="0"/>
              <a:t>TerminateProcess</a:t>
            </a:r>
            <a:r>
              <a:rPr lang="en-GB" dirty="0" smtClean="0"/>
              <a:t>; </a:t>
            </a:r>
            <a:r>
              <a:rPr lang="en-GB" dirty="0" err="1" smtClean="0"/>
              <a:t>TerminateThread</a:t>
            </a:r>
            <a:endParaRPr lang="en-GB" dirty="0" smtClean="0"/>
          </a:p>
          <a:p>
            <a:pPr marL="457200" lvl="1" indent="0">
              <a:buNone/>
            </a:pPr>
            <a:endParaRPr lang="en-GB" dirty="0" smtClean="0"/>
          </a:p>
        </p:txBody>
      </p:sp>
    </p:spTree>
    <p:extLst>
      <p:ext uri="{BB962C8B-B14F-4D97-AF65-F5344CB8AC3E}">
        <p14:creationId xmlns:p14="http://schemas.microsoft.com/office/powerpoint/2010/main" val="19113781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sp>
        <p:nvSpPr>
          <p:cNvPr id="5" name="TextBox 4"/>
          <p:cNvSpPr txBox="1"/>
          <p:nvPr/>
        </p:nvSpPr>
        <p:spPr>
          <a:xfrm>
            <a:off x="-1" y="0"/>
            <a:ext cx="9036497" cy="6740307"/>
          </a:xfrm>
          <a:prstGeom prst="rect">
            <a:avLst/>
          </a:prstGeom>
          <a:noFill/>
        </p:spPr>
        <p:txBody>
          <a:bodyPr wrap="square" rtlCol="0">
            <a:spAutoFit/>
          </a:bodyPr>
          <a:lstStyle/>
          <a:p>
            <a:r>
              <a:rPr lang="en-GB" sz="1600" dirty="0">
                <a:solidFill>
                  <a:prstClr val="black"/>
                </a:solidFill>
              </a:rPr>
              <a:t>void </a:t>
            </a:r>
            <a:r>
              <a:rPr lang="en-GB" sz="1600" dirty="0" err="1">
                <a:solidFill>
                  <a:prstClr val="black"/>
                </a:solidFill>
              </a:rPr>
              <a:t>DumpFile</a:t>
            </a:r>
            <a:r>
              <a:rPr lang="en-GB" sz="1600" dirty="0">
                <a:solidFill>
                  <a:prstClr val="black"/>
                </a:solidFill>
              </a:rPr>
              <a:t>(LPSTR filename)</a:t>
            </a:r>
          </a:p>
          <a:p>
            <a:r>
              <a:rPr lang="en-GB" sz="1600" dirty="0">
                <a:solidFill>
                  <a:prstClr val="black"/>
                </a:solidFill>
              </a:rPr>
              <a:t>{</a:t>
            </a:r>
          </a:p>
          <a:p>
            <a:r>
              <a:rPr lang="en-GB" sz="1600" dirty="0">
                <a:solidFill>
                  <a:prstClr val="black"/>
                </a:solidFill>
              </a:rPr>
              <a:t>    HANDLE </a:t>
            </a:r>
            <a:r>
              <a:rPr lang="en-GB" sz="1600" dirty="0" err="1">
                <a:solidFill>
                  <a:prstClr val="black"/>
                </a:solidFill>
              </a:rPr>
              <a:t>hFile</a:t>
            </a:r>
            <a:r>
              <a:rPr lang="en-GB" sz="1600" dirty="0">
                <a:solidFill>
                  <a:prstClr val="black"/>
                </a:solidFill>
              </a:rPr>
              <a:t>;</a:t>
            </a:r>
          </a:p>
          <a:p>
            <a:r>
              <a:rPr lang="en-GB" sz="1600" dirty="0">
                <a:solidFill>
                  <a:prstClr val="black"/>
                </a:solidFill>
              </a:rPr>
              <a:t>    HANDLE </a:t>
            </a:r>
            <a:r>
              <a:rPr lang="en-GB" sz="1600" dirty="0" err="1">
                <a:solidFill>
                  <a:prstClr val="black"/>
                </a:solidFill>
              </a:rPr>
              <a:t>hFileMapping</a:t>
            </a:r>
            <a:r>
              <a:rPr lang="en-GB" sz="1600" dirty="0">
                <a:solidFill>
                  <a:prstClr val="black"/>
                </a:solidFill>
              </a:rPr>
              <a:t>;</a:t>
            </a:r>
          </a:p>
          <a:p>
            <a:r>
              <a:rPr lang="en-GB" sz="1600" dirty="0">
                <a:solidFill>
                  <a:prstClr val="black"/>
                </a:solidFill>
              </a:rPr>
              <a:t>    LPVOID </a:t>
            </a:r>
            <a:r>
              <a:rPr lang="en-GB" sz="1600" dirty="0" err="1">
                <a:solidFill>
                  <a:prstClr val="black"/>
                </a:solidFill>
              </a:rPr>
              <a:t>lpFileBase</a:t>
            </a:r>
            <a:r>
              <a:rPr lang="en-GB" sz="1600" dirty="0">
                <a:solidFill>
                  <a:prstClr val="black"/>
                </a:solidFill>
              </a:rPr>
              <a:t>;</a:t>
            </a:r>
          </a:p>
          <a:p>
            <a:r>
              <a:rPr lang="en-GB" sz="1600" dirty="0">
                <a:solidFill>
                  <a:prstClr val="black"/>
                </a:solidFill>
              </a:rPr>
              <a:t>    PIMAGE_DOS_HEADER </a:t>
            </a:r>
            <a:r>
              <a:rPr lang="en-GB" sz="1600" dirty="0" err="1">
                <a:solidFill>
                  <a:prstClr val="black"/>
                </a:solidFill>
              </a:rPr>
              <a:t>dosHeader</a:t>
            </a:r>
            <a:r>
              <a:rPr lang="en-GB" sz="1600" dirty="0">
                <a:solidFill>
                  <a:prstClr val="black"/>
                </a:solidFill>
              </a:rPr>
              <a:t>;</a:t>
            </a:r>
          </a:p>
          <a:p>
            <a:r>
              <a:rPr lang="en-GB" sz="1600" dirty="0">
                <a:solidFill>
                  <a:prstClr val="black"/>
                </a:solidFill>
              </a:rPr>
              <a:t>    </a:t>
            </a:r>
          </a:p>
          <a:p>
            <a:r>
              <a:rPr lang="en-GB" sz="1600" dirty="0">
                <a:solidFill>
                  <a:prstClr val="black"/>
                </a:solidFill>
              </a:rPr>
              <a:t>    </a:t>
            </a:r>
            <a:r>
              <a:rPr lang="en-GB" sz="1600" dirty="0" err="1">
                <a:solidFill>
                  <a:prstClr val="black"/>
                </a:solidFill>
              </a:rPr>
              <a:t>hFile</a:t>
            </a:r>
            <a:r>
              <a:rPr lang="en-GB" sz="1600" dirty="0">
                <a:solidFill>
                  <a:prstClr val="black"/>
                </a:solidFill>
              </a:rPr>
              <a:t> = </a:t>
            </a:r>
            <a:r>
              <a:rPr lang="en-GB" sz="1600" b="1" dirty="0" err="1">
                <a:solidFill>
                  <a:srgbClr val="FF0000"/>
                </a:solidFill>
              </a:rPr>
              <a:t>CreateFile</a:t>
            </a:r>
            <a:r>
              <a:rPr lang="en-GB" sz="1600" dirty="0">
                <a:solidFill>
                  <a:prstClr val="black"/>
                </a:solidFill>
              </a:rPr>
              <a:t>(filename, GENERIC_READ, FILE_SHARE_READ, NULL,</a:t>
            </a:r>
          </a:p>
          <a:p>
            <a:r>
              <a:rPr lang="en-GB" sz="1600" dirty="0">
                <a:solidFill>
                  <a:prstClr val="black"/>
                </a:solidFill>
              </a:rPr>
              <a:t>                        OPEN_EXISTING, FILE_ATTRIBUTE_NORMAL, 0);              </a:t>
            </a:r>
          </a:p>
          <a:p>
            <a:r>
              <a:rPr lang="en-GB" sz="1600" dirty="0">
                <a:solidFill>
                  <a:prstClr val="black"/>
                </a:solidFill>
              </a:rPr>
              <a:t>    if ( </a:t>
            </a:r>
            <a:r>
              <a:rPr lang="en-GB" sz="1600" dirty="0" err="1">
                <a:solidFill>
                  <a:prstClr val="black"/>
                </a:solidFill>
              </a:rPr>
              <a:t>hFile</a:t>
            </a:r>
            <a:r>
              <a:rPr lang="en-GB" sz="1600" dirty="0">
                <a:solidFill>
                  <a:prstClr val="black"/>
                </a:solidFill>
              </a:rPr>
              <a:t> = = INVALID_HANDLE_VALUE )</a:t>
            </a:r>
          </a:p>
          <a:p>
            <a:r>
              <a:rPr lang="en-GB" sz="1600" dirty="0">
                <a:solidFill>
                  <a:prstClr val="black"/>
                </a:solidFill>
              </a:rPr>
              <a:t>    {   </a:t>
            </a:r>
            <a:r>
              <a:rPr lang="en-GB" sz="1600" dirty="0" err="1">
                <a:solidFill>
                  <a:prstClr val="black"/>
                </a:solidFill>
              </a:rPr>
              <a:t>printf</a:t>
            </a:r>
            <a:r>
              <a:rPr lang="en-GB" sz="1600" dirty="0">
                <a:solidFill>
                  <a:prstClr val="black"/>
                </a:solidFill>
              </a:rPr>
              <a:t>("Couldn't open file with </a:t>
            </a:r>
            <a:r>
              <a:rPr lang="en-GB" sz="1600" dirty="0" err="1">
                <a:solidFill>
                  <a:prstClr val="black"/>
                </a:solidFill>
              </a:rPr>
              <a:t>CreateFile</a:t>
            </a:r>
            <a:r>
              <a:rPr lang="en-GB" sz="1600" dirty="0">
                <a:solidFill>
                  <a:prstClr val="black"/>
                </a:solidFill>
              </a:rPr>
              <a:t>()\n");</a:t>
            </a:r>
          </a:p>
          <a:p>
            <a:r>
              <a:rPr lang="en-GB" sz="1600" dirty="0">
                <a:solidFill>
                  <a:prstClr val="black"/>
                </a:solidFill>
              </a:rPr>
              <a:t>        return; }</a:t>
            </a:r>
          </a:p>
          <a:p>
            <a:r>
              <a:rPr lang="en-GB" sz="1600" dirty="0">
                <a:solidFill>
                  <a:prstClr val="black"/>
                </a:solidFill>
              </a:rPr>
              <a:t>    </a:t>
            </a:r>
            <a:r>
              <a:rPr lang="en-GB" sz="1600" dirty="0" err="1">
                <a:solidFill>
                  <a:prstClr val="black"/>
                </a:solidFill>
              </a:rPr>
              <a:t>hFileMapping</a:t>
            </a:r>
            <a:r>
              <a:rPr lang="en-GB" sz="1600" dirty="0">
                <a:solidFill>
                  <a:prstClr val="black"/>
                </a:solidFill>
              </a:rPr>
              <a:t> = </a:t>
            </a:r>
            <a:r>
              <a:rPr lang="en-GB" sz="1600" b="1" dirty="0" err="1">
                <a:solidFill>
                  <a:srgbClr val="FF0000"/>
                </a:solidFill>
              </a:rPr>
              <a:t>CreateFileMapping</a:t>
            </a:r>
            <a:r>
              <a:rPr lang="en-GB" sz="1600" dirty="0">
                <a:solidFill>
                  <a:prstClr val="black"/>
                </a:solidFill>
              </a:rPr>
              <a:t>(</a:t>
            </a:r>
            <a:r>
              <a:rPr lang="en-GB" sz="1600" dirty="0" err="1">
                <a:solidFill>
                  <a:prstClr val="black"/>
                </a:solidFill>
              </a:rPr>
              <a:t>hFile</a:t>
            </a:r>
            <a:r>
              <a:rPr lang="en-GB" sz="1600" dirty="0">
                <a:solidFill>
                  <a:prstClr val="black"/>
                </a:solidFill>
              </a:rPr>
              <a:t>, NULL, PAGE_READONLY, 0, 0, NULL);</a:t>
            </a:r>
          </a:p>
          <a:p>
            <a:r>
              <a:rPr lang="en-GB" sz="1600" dirty="0">
                <a:solidFill>
                  <a:prstClr val="black"/>
                </a:solidFill>
              </a:rPr>
              <a:t>    if ( </a:t>
            </a:r>
            <a:r>
              <a:rPr lang="en-GB" sz="1600" dirty="0" err="1">
                <a:solidFill>
                  <a:prstClr val="black"/>
                </a:solidFill>
              </a:rPr>
              <a:t>hFileMapping</a:t>
            </a:r>
            <a:r>
              <a:rPr lang="en-GB" sz="1600" dirty="0">
                <a:solidFill>
                  <a:prstClr val="black"/>
                </a:solidFill>
              </a:rPr>
              <a:t> = = 0 )</a:t>
            </a:r>
          </a:p>
          <a:p>
            <a:r>
              <a:rPr lang="en-GB" sz="1600" dirty="0">
                <a:solidFill>
                  <a:prstClr val="black"/>
                </a:solidFill>
              </a:rPr>
              <a:t>    {   </a:t>
            </a:r>
            <a:r>
              <a:rPr lang="en-GB" sz="1600" dirty="0" err="1">
                <a:solidFill>
                  <a:prstClr val="black"/>
                </a:solidFill>
              </a:rPr>
              <a:t>CloseHandle</a:t>
            </a:r>
            <a:r>
              <a:rPr lang="en-GB" sz="1600" dirty="0">
                <a:solidFill>
                  <a:prstClr val="black"/>
                </a:solidFill>
              </a:rPr>
              <a:t>(</a:t>
            </a:r>
            <a:r>
              <a:rPr lang="en-GB" sz="1600" dirty="0" err="1">
                <a:solidFill>
                  <a:prstClr val="black"/>
                </a:solidFill>
              </a:rPr>
              <a:t>hFile</a:t>
            </a:r>
            <a:r>
              <a:rPr lang="en-GB" sz="1600" dirty="0">
                <a:solidFill>
                  <a:prstClr val="black"/>
                </a:solidFill>
              </a:rPr>
              <a:t>);</a:t>
            </a:r>
          </a:p>
          <a:p>
            <a:r>
              <a:rPr lang="en-GB" sz="1600" dirty="0">
                <a:solidFill>
                  <a:prstClr val="black"/>
                </a:solidFill>
              </a:rPr>
              <a:t>        </a:t>
            </a:r>
            <a:r>
              <a:rPr lang="en-GB" sz="1600" dirty="0" err="1">
                <a:solidFill>
                  <a:prstClr val="black"/>
                </a:solidFill>
              </a:rPr>
              <a:t>printf</a:t>
            </a:r>
            <a:r>
              <a:rPr lang="en-GB" sz="1600" dirty="0">
                <a:solidFill>
                  <a:prstClr val="black"/>
                </a:solidFill>
              </a:rPr>
              <a:t>("Couldn't open file mapping with </a:t>
            </a:r>
            <a:r>
              <a:rPr lang="en-GB" sz="1600" dirty="0" err="1">
                <a:solidFill>
                  <a:prstClr val="black"/>
                </a:solidFill>
              </a:rPr>
              <a:t>CreateFileMapping</a:t>
            </a:r>
            <a:r>
              <a:rPr lang="en-GB" sz="1600" dirty="0">
                <a:solidFill>
                  <a:prstClr val="black"/>
                </a:solidFill>
              </a:rPr>
              <a:t>()\n");</a:t>
            </a:r>
          </a:p>
          <a:p>
            <a:r>
              <a:rPr lang="en-GB" sz="1600" dirty="0">
                <a:solidFill>
                  <a:prstClr val="black"/>
                </a:solidFill>
              </a:rPr>
              <a:t>        return; }</a:t>
            </a:r>
          </a:p>
          <a:p>
            <a:r>
              <a:rPr lang="en-GB" sz="1600" dirty="0">
                <a:solidFill>
                  <a:prstClr val="black"/>
                </a:solidFill>
              </a:rPr>
              <a:t>    </a:t>
            </a:r>
            <a:r>
              <a:rPr lang="en-GB" sz="1600" dirty="0" err="1">
                <a:solidFill>
                  <a:prstClr val="black"/>
                </a:solidFill>
              </a:rPr>
              <a:t>lpFileBase</a:t>
            </a:r>
            <a:r>
              <a:rPr lang="en-GB" sz="1600" dirty="0">
                <a:solidFill>
                  <a:prstClr val="black"/>
                </a:solidFill>
              </a:rPr>
              <a:t> = </a:t>
            </a:r>
            <a:r>
              <a:rPr lang="en-GB" sz="1600" b="1" dirty="0" err="1">
                <a:solidFill>
                  <a:srgbClr val="FF0000"/>
                </a:solidFill>
              </a:rPr>
              <a:t>MapViewOfFile</a:t>
            </a:r>
            <a:r>
              <a:rPr lang="en-GB" sz="1600" dirty="0">
                <a:solidFill>
                  <a:prstClr val="black"/>
                </a:solidFill>
              </a:rPr>
              <a:t>(</a:t>
            </a:r>
            <a:r>
              <a:rPr lang="en-GB" sz="1600" dirty="0" err="1">
                <a:solidFill>
                  <a:prstClr val="black"/>
                </a:solidFill>
              </a:rPr>
              <a:t>hFileMapping</a:t>
            </a:r>
            <a:r>
              <a:rPr lang="en-GB" sz="1600" dirty="0">
                <a:solidFill>
                  <a:prstClr val="black"/>
                </a:solidFill>
              </a:rPr>
              <a:t>, FILE_MAP_READ, 0, 0, 0);</a:t>
            </a:r>
          </a:p>
          <a:p>
            <a:r>
              <a:rPr lang="en-GB" sz="1600" dirty="0">
                <a:solidFill>
                  <a:prstClr val="black"/>
                </a:solidFill>
              </a:rPr>
              <a:t>    if ( </a:t>
            </a:r>
            <a:r>
              <a:rPr lang="en-GB" sz="1600" dirty="0" err="1">
                <a:solidFill>
                  <a:prstClr val="black"/>
                </a:solidFill>
              </a:rPr>
              <a:t>lpFileBase</a:t>
            </a:r>
            <a:r>
              <a:rPr lang="en-GB" sz="1600" dirty="0">
                <a:solidFill>
                  <a:prstClr val="black"/>
                </a:solidFill>
              </a:rPr>
              <a:t> = = 0 )</a:t>
            </a:r>
          </a:p>
          <a:p>
            <a:r>
              <a:rPr lang="en-GB" sz="1600" dirty="0">
                <a:solidFill>
                  <a:prstClr val="black"/>
                </a:solidFill>
              </a:rPr>
              <a:t>    {</a:t>
            </a:r>
          </a:p>
          <a:p>
            <a:r>
              <a:rPr lang="en-GB" sz="1600" dirty="0">
                <a:solidFill>
                  <a:prstClr val="black"/>
                </a:solidFill>
              </a:rPr>
              <a:t>        </a:t>
            </a:r>
            <a:r>
              <a:rPr lang="en-GB" sz="1600" dirty="0" err="1">
                <a:solidFill>
                  <a:prstClr val="black"/>
                </a:solidFill>
              </a:rPr>
              <a:t>CloseHandle</a:t>
            </a:r>
            <a:r>
              <a:rPr lang="en-GB" sz="1600" dirty="0">
                <a:solidFill>
                  <a:prstClr val="black"/>
                </a:solidFill>
              </a:rPr>
              <a:t>(</a:t>
            </a:r>
            <a:r>
              <a:rPr lang="en-GB" sz="1600" dirty="0" err="1">
                <a:solidFill>
                  <a:prstClr val="black"/>
                </a:solidFill>
              </a:rPr>
              <a:t>hFileMapping</a:t>
            </a:r>
            <a:r>
              <a:rPr lang="en-GB" sz="1600" dirty="0">
                <a:solidFill>
                  <a:prstClr val="black"/>
                </a:solidFill>
              </a:rPr>
              <a:t>);</a:t>
            </a:r>
          </a:p>
          <a:p>
            <a:r>
              <a:rPr lang="en-GB" sz="1600" dirty="0">
                <a:solidFill>
                  <a:prstClr val="black"/>
                </a:solidFill>
              </a:rPr>
              <a:t>        </a:t>
            </a:r>
            <a:r>
              <a:rPr lang="en-GB" sz="1600" dirty="0" err="1">
                <a:solidFill>
                  <a:prstClr val="black"/>
                </a:solidFill>
              </a:rPr>
              <a:t>CloseHandle</a:t>
            </a:r>
            <a:r>
              <a:rPr lang="en-GB" sz="1600" dirty="0">
                <a:solidFill>
                  <a:prstClr val="black"/>
                </a:solidFill>
              </a:rPr>
              <a:t>(</a:t>
            </a:r>
            <a:r>
              <a:rPr lang="en-GB" sz="1600" dirty="0" err="1">
                <a:solidFill>
                  <a:prstClr val="black"/>
                </a:solidFill>
              </a:rPr>
              <a:t>hFile</a:t>
            </a:r>
            <a:r>
              <a:rPr lang="en-GB" sz="1600" dirty="0">
                <a:solidFill>
                  <a:prstClr val="black"/>
                </a:solidFill>
              </a:rPr>
              <a:t>);</a:t>
            </a:r>
          </a:p>
          <a:p>
            <a:r>
              <a:rPr lang="en-GB" sz="1600" dirty="0">
                <a:solidFill>
                  <a:prstClr val="black"/>
                </a:solidFill>
              </a:rPr>
              <a:t>        </a:t>
            </a:r>
            <a:r>
              <a:rPr lang="en-GB" sz="1600" dirty="0" err="1">
                <a:solidFill>
                  <a:prstClr val="black"/>
                </a:solidFill>
              </a:rPr>
              <a:t>printf</a:t>
            </a:r>
            <a:r>
              <a:rPr lang="en-GB" sz="1600" dirty="0">
                <a:solidFill>
                  <a:prstClr val="black"/>
                </a:solidFill>
              </a:rPr>
              <a:t>("Couldn't map view of file with </a:t>
            </a:r>
            <a:r>
              <a:rPr lang="en-GB" sz="1600" dirty="0" err="1">
                <a:solidFill>
                  <a:prstClr val="black"/>
                </a:solidFill>
              </a:rPr>
              <a:t>MapViewOfFile</a:t>
            </a:r>
            <a:r>
              <a:rPr lang="en-GB" sz="1600" dirty="0">
                <a:solidFill>
                  <a:prstClr val="black"/>
                </a:solidFill>
              </a:rPr>
              <a:t>()\n");</a:t>
            </a:r>
          </a:p>
          <a:p>
            <a:r>
              <a:rPr lang="en-GB" sz="1600" dirty="0">
                <a:solidFill>
                  <a:prstClr val="black"/>
                </a:solidFill>
              </a:rPr>
              <a:t>        return;</a:t>
            </a:r>
          </a:p>
          <a:p>
            <a:r>
              <a:rPr lang="en-GB" sz="1600" dirty="0">
                <a:solidFill>
                  <a:prstClr val="black"/>
                </a:solidFill>
              </a:rPr>
              <a:t>    }</a:t>
            </a:r>
          </a:p>
          <a:p>
            <a:endParaRPr lang="en-GB" sz="1600" dirty="0">
              <a:solidFill>
                <a:prstClr val="black"/>
              </a:solidFill>
            </a:endParaRPr>
          </a:p>
          <a:p>
            <a:r>
              <a:rPr lang="en-GB" sz="1600" dirty="0">
                <a:solidFill>
                  <a:prstClr val="black"/>
                </a:solidFill>
              </a:rPr>
              <a:t>    </a:t>
            </a:r>
            <a:r>
              <a:rPr lang="en-GB" sz="1600" dirty="0" err="1">
                <a:solidFill>
                  <a:prstClr val="black"/>
                </a:solidFill>
              </a:rPr>
              <a:t>printf</a:t>
            </a:r>
            <a:r>
              <a:rPr lang="en-GB" sz="1600" dirty="0">
                <a:solidFill>
                  <a:prstClr val="black"/>
                </a:solidFill>
              </a:rPr>
              <a:t>("Dump of file %s\n\n", filename);</a:t>
            </a:r>
          </a:p>
        </p:txBody>
      </p:sp>
    </p:spTree>
    <p:extLst>
      <p:ext uri="{BB962C8B-B14F-4D97-AF65-F5344CB8AC3E}">
        <p14:creationId xmlns:p14="http://schemas.microsoft.com/office/powerpoint/2010/main" val="3009822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a:t>
            </a:r>
            <a:endParaRPr lang="en-US" dirty="0"/>
          </a:p>
        </p:txBody>
      </p:sp>
      <p:sp>
        <p:nvSpPr>
          <p:cNvPr id="3" name="Content Placeholder 2"/>
          <p:cNvSpPr>
            <a:spLocks noGrp="1"/>
          </p:cNvSpPr>
          <p:nvPr>
            <p:ph idx="1"/>
          </p:nvPr>
        </p:nvSpPr>
        <p:spPr/>
        <p:txBody>
          <a:bodyPr/>
          <a:lstStyle/>
          <a:p>
            <a:r>
              <a:rPr lang="en-US" dirty="0" smtClean="0"/>
              <a:t>Develop </a:t>
            </a:r>
            <a:r>
              <a:rPr lang="en-US" dirty="0" err="1" smtClean="0"/>
              <a:t>LabRemove</a:t>
            </a:r>
            <a:endParaRPr lang="en-US" dirty="0"/>
          </a:p>
          <a:p>
            <a:pPr lvl="1"/>
            <a:r>
              <a:rPr lang="en-US" dirty="0" smtClean="0"/>
              <a:t>Add more options: -h, -l</a:t>
            </a:r>
          </a:p>
          <a:p>
            <a:pPr lvl="1"/>
            <a:r>
              <a:rPr lang="en-US" dirty="0" smtClean="0"/>
              <a:t>Remove more virus: Lab03-02.exe, Lab03-03.exe, …… or a real virus downloaded from VirusTotal.com or Virushare.com</a:t>
            </a:r>
          </a:p>
          <a:p>
            <a:pPr lvl="1"/>
            <a:r>
              <a:rPr lang="en-US" dirty="0" smtClean="0"/>
              <a:t>On C/C++, Java, Python, …..</a:t>
            </a:r>
            <a:endParaRPr lang="en-US" dirty="0"/>
          </a:p>
        </p:txBody>
      </p:sp>
    </p:spTree>
    <p:extLst>
      <p:ext uri="{BB962C8B-B14F-4D97-AF65-F5344CB8AC3E}">
        <p14:creationId xmlns:p14="http://schemas.microsoft.com/office/powerpoint/2010/main" val="11495786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Windows Registry</a:t>
            </a:r>
            <a:endParaRPr lang="en-GB" dirty="0"/>
          </a:p>
        </p:txBody>
      </p:sp>
      <p:sp>
        <p:nvSpPr>
          <p:cNvPr id="3" name="Content Placeholder 2"/>
          <p:cNvSpPr>
            <a:spLocks noGrp="1"/>
          </p:cNvSpPr>
          <p:nvPr>
            <p:ph idx="1"/>
          </p:nvPr>
        </p:nvSpPr>
        <p:spPr/>
        <p:txBody>
          <a:bodyPr>
            <a:normAutofit/>
          </a:bodyPr>
          <a:lstStyle/>
          <a:p>
            <a:r>
              <a:rPr lang="en-GB" dirty="0" smtClean="0"/>
              <a:t>Window Registry: </a:t>
            </a:r>
            <a:r>
              <a:rPr lang="en-GB" dirty="0"/>
              <a:t>u</a:t>
            </a:r>
            <a:r>
              <a:rPr lang="en-GB" dirty="0" smtClean="0"/>
              <a:t>sed </a:t>
            </a:r>
            <a:r>
              <a:rPr lang="en-GB" dirty="0"/>
              <a:t>to store OS and program configuration </a:t>
            </a:r>
            <a:r>
              <a:rPr lang="en-GB" dirty="0" smtClean="0"/>
              <a:t>information, such </a:t>
            </a:r>
            <a:r>
              <a:rPr lang="en-GB" dirty="0"/>
              <a:t>as settings </a:t>
            </a:r>
            <a:r>
              <a:rPr lang="en-GB" dirty="0" smtClean="0"/>
              <a:t>and options.</a:t>
            </a:r>
          </a:p>
        </p:txBody>
      </p:sp>
      <p:pic>
        <p:nvPicPr>
          <p:cNvPr id="3074" name="Picture 2" descr="Image result for windows regist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375" y="2348880"/>
            <a:ext cx="6048671" cy="41696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25745" y="2965594"/>
            <a:ext cx="2613216" cy="2677656"/>
          </a:xfrm>
          <a:prstGeom prst="rect">
            <a:avLst/>
          </a:prstGeom>
          <a:noFill/>
        </p:spPr>
        <p:txBody>
          <a:bodyPr wrap="none" rtlCol="0">
            <a:spAutoFit/>
          </a:bodyPr>
          <a:lstStyle/>
          <a:p>
            <a:pPr marL="285750" indent="-285750">
              <a:buFont typeface="Arial" panose="020B0604020202020204" pitchFamily="34" charset="0"/>
              <a:buChar char="•"/>
            </a:pPr>
            <a:r>
              <a:rPr lang="en-GB" sz="2400" dirty="0">
                <a:solidFill>
                  <a:prstClr val="black"/>
                </a:solidFill>
                <a:latin typeface="Agency FB" panose="020B0503020202020204" pitchFamily="34" charset="0"/>
              </a:rPr>
              <a:t>Hierarchical database</a:t>
            </a:r>
          </a:p>
          <a:p>
            <a:pPr marL="285750" indent="-285750">
              <a:buFont typeface="Arial" panose="020B0604020202020204" pitchFamily="34" charset="0"/>
              <a:buChar char="•"/>
            </a:pPr>
            <a:r>
              <a:rPr lang="en-GB" sz="2400" dirty="0">
                <a:solidFill>
                  <a:prstClr val="black"/>
                </a:solidFill>
                <a:latin typeface="Agency FB" panose="020B0503020202020204" pitchFamily="34" charset="0"/>
              </a:rPr>
              <a:t>5 top-level sections </a:t>
            </a:r>
          </a:p>
          <a:p>
            <a:r>
              <a:rPr lang="en-GB" sz="2400" dirty="0">
                <a:solidFill>
                  <a:prstClr val="black"/>
                </a:solidFill>
                <a:latin typeface="Agency FB" panose="020B0503020202020204" pitchFamily="34" charset="0"/>
              </a:rPr>
              <a:t>(HKEY)</a:t>
            </a:r>
          </a:p>
          <a:p>
            <a:pPr marL="285750" indent="-285750">
              <a:buFont typeface="Arial" panose="020B0604020202020204" pitchFamily="34" charset="0"/>
              <a:buChar char="•"/>
            </a:pPr>
            <a:r>
              <a:rPr lang="en-GB" sz="2400" dirty="0" err="1">
                <a:solidFill>
                  <a:prstClr val="black"/>
                </a:solidFill>
                <a:latin typeface="Agency FB" panose="020B0503020202020204" pitchFamily="34" charset="0"/>
              </a:rPr>
              <a:t>Subkey</a:t>
            </a:r>
            <a:endParaRPr lang="en-GB" sz="2400" dirty="0">
              <a:solidFill>
                <a:prstClr val="black"/>
              </a:solidFill>
              <a:latin typeface="Agency FB" panose="020B0503020202020204" pitchFamily="34" charset="0"/>
            </a:endParaRPr>
          </a:p>
          <a:p>
            <a:pPr marL="285750" indent="-285750">
              <a:buFont typeface="Arial" panose="020B0604020202020204" pitchFamily="34" charset="0"/>
              <a:buChar char="•"/>
            </a:pPr>
            <a:r>
              <a:rPr lang="en-GB" sz="2400" dirty="0">
                <a:solidFill>
                  <a:prstClr val="black"/>
                </a:solidFill>
                <a:latin typeface="Agency FB" panose="020B0503020202020204" pitchFamily="34" charset="0"/>
              </a:rPr>
              <a:t>Key</a:t>
            </a:r>
          </a:p>
          <a:p>
            <a:pPr marL="285750" indent="-285750">
              <a:buFont typeface="Arial" panose="020B0604020202020204" pitchFamily="34" charset="0"/>
              <a:buChar char="•"/>
            </a:pPr>
            <a:r>
              <a:rPr lang="en-GB" sz="2400" dirty="0">
                <a:solidFill>
                  <a:prstClr val="black"/>
                </a:solidFill>
                <a:latin typeface="Agency FB" panose="020B0503020202020204" pitchFamily="34" charset="0"/>
              </a:rPr>
              <a:t>Value Entry</a:t>
            </a:r>
          </a:p>
          <a:p>
            <a:pPr marL="285750" indent="-285750">
              <a:buFont typeface="Arial" panose="020B0604020202020204" pitchFamily="34" charset="0"/>
              <a:buChar char="•"/>
            </a:pPr>
            <a:r>
              <a:rPr lang="en-GB" sz="2400" dirty="0">
                <a:solidFill>
                  <a:prstClr val="black"/>
                </a:solidFill>
                <a:latin typeface="Agency FB" panose="020B0503020202020204" pitchFamily="34" charset="0"/>
              </a:rPr>
              <a:t>Value (Data)</a:t>
            </a:r>
          </a:p>
        </p:txBody>
      </p:sp>
    </p:spTree>
    <p:extLst>
      <p:ext uri="{BB962C8B-B14F-4D97-AF65-F5344CB8AC3E}">
        <p14:creationId xmlns:p14="http://schemas.microsoft.com/office/powerpoint/2010/main" val="11960000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Windows Registry</a:t>
            </a:r>
          </a:p>
        </p:txBody>
      </p:sp>
      <p:sp>
        <p:nvSpPr>
          <p:cNvPr id="3" name="Content Placeholder 2"/>
          <p:cNvSpPr>
            <a:spLocks noGrp="1"/>
          </p:cNvSpPr>
          <p:nvPr>
            <p:ph idx="1"/>
          </p:nvPr>
        </p:nvSpPr>
        <p:spPr/>
        <p:txBody>
          <a:bodyPr>
            <a:normAutofit/>
          </a:bodyPr>
          <a:lstStyle/>
          <a:p>
            <a:r>
              <a:rPr lang="en-GB" b="1" dirty="0"/>
              <a:t>Registry Root Keys</a:t>
            </a:r>
            <a:endParaRPr lang="en-GB" b="1" dirty="0" smtClean="0"/>
          </a:p>
          <a:p>
            <a:pPr lvl="1"/>
            <a:r>
              <a:rPr lang="en-GB" sz="2400" dirty="0" smtClean="0"/>
              <a:t>HKEY_LOCAL_MACHINE (HKLM)</a:t>
            </a:r>
          </a:p>
          <a:p>
            <a:pPr lvl="3"/>
            <a:r>
              <a:rPr lang="en-GB" sz="1800" dirty="0"/>
              <a:t>Stores settings that are global to the </a:t>
            </a:r>
            <a:r>
              <a:rPr lang="en-GB" sz="1800" dirty="0" smtClean="0"/>
              <a:t>local machine</a:t>
            </a:r>
          </a:p>
          <a:p>
            <a:pPr lvl="1"/>
            <a:r>
              <a:rPr lang="en-GB" sz="2400" dirty="0" smtClean="0"/>
              <a:t>HKEY_CURRENT_USER (HKCU)</a:t>
            </a:r>
          </a:p>
          <a:p>
            <a:pPr lvl="3"/>
            <a:r>
              <a:rPr lang="en-GB" sz="1800" dirty="0"/>
              <a:t>Stores settings specific to the current user</a:t>
            </a:r>
            <a:endParaRPr lang="en-GB" sz="1800" dirty="0" smtClean="0"/>
          </a:p>
          <a:p>
            <a:pPr lvl="1"/>
            <a:r>
              <a:rPr lang="en-GB" sz="2400" dirty="0" smtClean="0"/>
              <a:t>HKEY_CLASSES_ROOT</a:t>
            </a:r>
          </a:p>
          <a:p>
            <a:pPr lvl="3"/>
            <a:r>
              <a:rPr lang="en-GB" sz="1800" dirty="0"/>
              <a:t>Stores information defining types</a:t>
            </a:r>
            <a:endParaRPr lang="en-GB" sz="1800" dirty="0" smtClean="0"/>
          </a:p>
          <a:p>
            <a:pPr lvl="1"/>
            <a:r>
              <a:rPr lang="en-GB" sz="2400" dirty="0" smtClean="0"/>
              <a:t>HKEY_CURRENT_CONFIG</a:t>
            </a:r>
          </a:p>
          <a:p>
            <a:pPr lvl="3"/>
            <a:r>
              <a:rPr lang="en-GB" sz="1800" dirty="0"/>
              <a:t>Stores settings about the current hardware </a:t>
            </a:r>
            <a:r>
              <a:rPr lang="en-GB" sz="1800" dirty="0" smtClean="0"/>
              <a:t>configuration.</a:t>
            </a:r>
          </a:p>
          <a:p>
            <a:pPr lvl="1"/>
            <a:r>
              <a:rPr lang="en-GB" sz="2400" dirty="0" smtClean="0"/>
              <a:t>HKEY_USERS</a:t>
            </a:r>
          </a:p>
          <a:p>
            <a:pPr lvl="3"/>
            <a:r>
              <a:rPr lang="en-GB" sz="1800" dirty="0"/>
              <a:t>Defines settings for the default user, new users, and </a:t>
            </a:r>
            <a:r>
              <a:rPr lang="en-GB" sz="1800" dirty="0" smtClean="0"/>
              <a:t>current users</a:t>
            </a:r>
            <a:endParaRPr lang="en-GB" sz="1800" dirty="0"/>
          </a:p>
        </p:txBody>
      </p:sp>
      <p:sp>
        <p:nvSpPr>
          <p:cNvPr id="4" name="TextBox 3"/>
          <p:cNvSpPr txBox="1"/>
          <p:nvPr/>
        </p:nvSpPr>
        <p:spPr>
          <a:xfrm>
            <a:off x="745024" y="5733256"/>
            <a:ext cx="7787416" cy="830997"/>
          </a:xfrm>
          <a:prstGeom prst="rect">
            <a:avLst/>
          </a:prstGeom>
          <a:noFill/>
          <a:ln>
            <a:solidFill>
              <a:schemeClr val="accent3"/>
            </a:solidFill>
          </a:ln>
        </p:spPr>
        <p:txBody>
          <a:bodyPr wrap="square" rtlCol="0">
            <a:spAutoFit/>
          </a:bodyPr>
          <a:lstStyle/>
          <a:p>
            <a:r>
              <a:rPr lang="en-GB" sz="2400" dirty="0">
                <a:solidFill>
                  <a:prstClr val="black"/>
                </a:solidFill>
                <a:effectLst>
                  <a:outerShdw blurRad="38100" dist="38100" dir="2700000" algn="tl">
                    <a:srgbClr val="000000">
                      <a:alpha val="43137"/>
                    </a:srgbClr>
                  </a:outerShdw>
                </a:effectLst>
                <a:latin typeface="Agency FB" panose="020B0503020202020204" pitchFamily="34" charset="0"/>
              </a:rPr>
              <a:t>Registry Editor (</a:t>
            </a:r>
            <a:r>
              <a:rPr lang="en-GB" sz="2400" dirty="0">
                <a:solidFill>
                  <a:srgbClr val="FF0000"/>
                </a:solidFill>
                <a:effectLst>
                  <a:outerShdw blurRad="38100" dist="38100" dir="2700000" algn="tl">
                    <a:srgbClr val="000000">
                      <a:alpha val="43137"/>
                    </a:srgbClr>
                  </a:outerShdw>
                </a:effectLst>
                <a:latin typeface="Agency FB" panose="020B0503020202020204" pitchFamily="34" charset="0"/>
              </a:rPr>
              <a:t>regedit.exe</a:t>
            </a:r>
            <a:r>
              <a:rPr lang="en-GB" sz="2400" dirty="0">
                <a:solidFill>
                  <a:prstClr val="black"/>
                </a:solidFill>
                <a:effectLst>
                  <a:outerShdw blurRad="38100" dist="38100" dir="2700000" algn="tl">
                    <a:srgbClr val="000000">
                      <a:alpha val="43137"/>
                    </a:srgbClr>
                  </a:outerShdw>
                </a:effectLst>
                <a:latin typeface="Agency FB" panose="020B0503020202020204" pitchFamily="34" charset="0"/>
              </a:rPr>
              <a:t>): a built-in Windows tool used to view and edit the registry </a:t>
            </a:r>
          </a:p>
        </p:txBody>
      </p:sp>
    </p:spTree>
    <p:extLst>
      <p:ext uri="{BB962C8B-B14F-4D97-AF65-F5344CB8AC3E}">
        <p14:creationId xmlns:p14="http://schemas.microsoft.com/office/powerpoint/2010/main" val="24391778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Windows Registry</a:t>
            </a:r>
          </a:p>
        </p:txBody>
      </p:sp>
      <p:sp>
        <p:nvSpPr>
          <p:cNvPr id="3" name="Content Placeholder 2"/>
          <p:cNvSpPr>
            <a:spLocks noGrp="1"/>
          </p:cNvSpPr>
          <p:nvPr>
            <p:ph idx="1"/>
          </p:nvPr>
        </p:nvSpPr>
        <p:spPr/>
        <p:txBody>
          <a:bodyPr/>
          <a:lstStyle/>
          <a:p>
            <a:r>
              <a:rPr lang="en-GB" b="1" dirty="0"/>
              <a:t>Programs that Run Automatically</a:t>
            </a:r>
          </a:p>
          <a:p>
            <a:pPr lvl="1"/>
            <a:r>
              <a:rPr lang="en-GB" sz="2000" b="1" dirty="0" smtClean="0"/>
              <a:t>HKLM\Software\Microsoft\Windows\</a:t>
            </a:r>
            <a:r>
              <a:rPr lang="en-GB" sz="2000" b="1" dirty="0" err="1" smtClean="0"/>
              <a:t>CurrentVersion</a:t>
            </a:r>
            <a:r>
              <a:rPr lang="en-GB" sz="2000" b="1" dirty="0" smtClean="0"/>
              <a:t>\Run</a:t>
            </a:r>
            <a:endParaRPr lang="en-GB" sz="2000"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1" y="2391906"/>
            <a:ext cx="8819381" cy="44660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559997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Windows Registry</a:t>
            </a:r>
          </a:p>
        </p:txBody>
      </p:sp>
      <p:sp>
        <p:nvSpPr>
          <p:cNvPr id="3" name="Content Placeholder 2"/>
          <p:cNvSpPr>
            <a:spLocks noGrp="1"/>
          </p:cNvSpPr>
          <p:nvPr>
            <p:ph idx="1"/>
          </p:nvPr>
        </p:nvSpPr>
        <p:spPr/>
        <p:txBody>
          <a:bodyPr/>
          <a:lstStyle/>
          <a:p>
            <a:r>
              <a:rPr lang="en-GB" b="1" dirty="0"/>
              <a:t>Common Registry Functions</a:t>
            </a:r>
          </a:p>
          <a:p>
            <a:pPr lvl="1"/>
            <a:r>
              <a:rPr lang="en-GB" dirty="0"/>
              <a:t>Malware often uses registry functions that are part of the Windows API </a:t>
            </a:r>
            <a:r>
              <a:rPr lang="en-GB" dirty="0" smtClean="0"/>
              <a:t>to </a:t>
            </a:r>
            <a:r>
              <a:rPr lang="en-GB" dirty="0"/>
              <a:t>modify the registry to run automatically when the system boots</a:t>
            </a:r>
          </a:p>
          <a:p>
            <a:endParaRPr lang="en-GB" dirty="0"/>
          </a:p>
          <a:p>
            <a:endParaRPr lang="en-GB" dirty="0"/>
          </a:p>
        </p:txBody>
      </p:sp>
      <p:graphicFrame>
        <p:nvGraphicFramePr>
          <p:cNvPr id="4" name="Content Placeholder 5"/>
          <p:cNvGraphicFramePr>
            <a:graphicFrameLocks/>
          </p:cNvGraphicFramePr>
          <p:nvPr>
            <p:extLst>
              <p:ext uri="{D42A27DB-BD31-4B8C-83A1-F6EECF244321}">
                <p14:modId xmlns:p14="http://schemas.microsoft.com/office/powerpoint/2010/main" val="694805505"/>
              </p:ext>
            </p:extLst>
          </p:nvPr>
        </p:nvGraphicFramePr>
        <p:xfrm>
          <a:off x="179512" y="3212976"/>
          <a:ext cx="8783160" cy="3108960"/>
        </p:xfrm>
        <a:graphic>
          <a:graphicData uri="http://schemas.openxmlformats.org/drawingml/2006/table">
            <a:tbl>
              <a:tblPr/>
              <a:tblGrid>
                <a:gridCol w="2378844"/>
                <a:gridCol w="2134772"/>
                <a:gridCol w="2134772"/>
                <a:gridCol w="2134772"/>
              </a:tblGrid>
              <a:tr h="0">
                <a:tc>
                  <a:txBody>
                    <a:bodyPr/>
                    <a:lstStyle/>
                    <a:p>
                      <a:r>
                        <a:rPr lang="en-GB" dirty="0" err="1">
                          <a:effectLst>
                            <a:outerShdw blurRad="38100" dist="38100" dir="2700000" algn="tl">
                              <a:srgbClr val="000000">
                                <a:alpha val="43137"/>
                              </a:srgbClr>
                            </a:outerShdw>
                          </a:effectLst>
                        </a:rPr>
                        <a:t>RegCloseKey</a:t>
                      </a:r>
                      <a:endParaRPr lang="en-GB" dirty="0">
                        <a:effectLst>
                          <a:outerShdw blurRad="38100" dist="38100" dir="2700000" algn="tl">
                            <a:srgbClr val="000000">
                              <a:alpha val="43137"/>
                            </a:srgbClr>
                          </a:outerShdw>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dirty="0" err="1">
                          <a:effectLst>
                            <a:outerShdw blurRad="38100" dist="38100" dir="2700000" algn="tl">
                              <a:srgbClr val="000000">
                                <a:alpha val="43137"/>
                              </a:srgbClr>
                            </a:outerShdw>
                          </a:effectLst>
                        </a:rPr>
                        <a:t>RegOpenKey</a:t>
                      </a:r>
                      <a:endParaRPr lang="en-GB" dirty="0">
                        <a:effectLst>
                          <a:outerShdw blurRad="38100" dist="38100" dir="2700000" algn="tl">
                            <a:srgbClr val="000000">
                              <a:alpha val="43137"/>
                            </a:srgbClr>
                          </a:outerShdw>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RegConnectRegistry</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dirty="0" err="1">
                          <a:effectLst/>
                        </a:rPr>
                        <a:t>RegOpenKeyEx</a:t>
                      </a:r>
                      <a:r>
                        <a:rPr lang="en-GB" dirty="0">
                          <a:effectLst/>
                        </a:rPr>
                        <a:t> </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r>
              <a:tr h="0">
                <a:tc>
                  <a:txBody>
                    <a:bodyPr/>
                    <a:lstStyle/>
                    <a:p>
                      <a:r>
                        <a:rPr lang="en-GB" dirty="0" err="1">
                          <a:effectLst>
                            <a:outerShdw blurRad="38100" dist="38100" dir="2700000" algn="tl">
                              <a:srgbClr val="000000">
                                <a:alpha val="43137"/>
                              </a:srgbClr>
                            </a:outerShdw>
                          </a:effectLst>
                        </a:rPr>
                        <a:t>RegCreateKey</a:t>
                      </a:r>
                      <a:endParaRPr lang="en-GB" dirty="0">
                        <a:effectLst>
                          <a:outerShdw blurRad="38100" dist="38100" dir="2700000" algn="tl">
                            <a:srgbClr val="000000">
                              <a:alpha val="43137"/>
                            </a:srgbClr>
                          </a:outerShdw>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RegQueryInfoKey</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RegCreateKeyEx</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RegQueryMultipleValues </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r>
              <a:tr h="0">
                <a:tc>
                  <a:txBody>
                    <a:bodyPr/>
                    <a:lstStyle/>
                    <a:p>
                      <a:r>
                        <a:rPr lang="en-GB" dirty="0" err="1">
                          <a:effectLst>
                            <a:outerShdw blurRad="38100" dist="38100" dir="2700000" algn="tl">
                              <a:srgbClr val="000000">
                                <a:alpha val="43137"/>
                              </a:srgbClr>
                            </a:outerShdw>
                          </a:effectLst>
                        </a:rPr>
                        <a:t>RegDeleteKey</a:t>
                      </a:r>
                      <a:endParaRPr lang="en-GB" dirty="0">
                        <a:effectLst>
                          <a:outerShdw blurRad="38100" dist="38100" dir="2700000" algn="tl">
                            <a:srgbClr val="000000">
                              <a:alpha val="43137"/>
                            </a:srgbClr>
                          </a:outerShdw>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RegQueryValue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dirty="0" err="1">
                          <a:effectLst>
                            <a:outerShdw blurRad="38100" dist="38100" dir="2700000" algn="tl">
                              <a:srgbClr val="000000">
                                <a:alpha val="43137"/>
                              </a:srgbClr>
                            </a:outerShdw>
                          </a:effectLst>
                        </a:rPr>
                        <a:t>RegDeleteValue</a:t>
                      </a:r>
                      <a:endParaRPr lang="en-GB" dirty="0">
                        <a:effectLst>
                          <a:outerShdw blurRad="38100" dist="38100" dir="2700000" algn="tl">
                            <a:srgbClr val="000000">
                              <a:alpha val="43137"/>
                            </a:srgbClr>
                          </a:outerShdw>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RegQueryValueEx </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r>
              <a:tr h="0">
                <a:tc>
                  <a:txBody>
                    <a:bodyPr/>
                    <a:lstStyle/>
                    <a:p>
                      <a:r>
                        <a:rPr lang="en-GB" dirty="0" err="1">
                          <a:effectLst>
                            <a:outerShdw blurRad="38100" dist="38100" dir="2700000" algn="tl">
                              <a:srgbClr val="000000">
                                <a:alpha val="43137"/>
                              </a:srgbClr>
                            </a:outerShdw>
                          </a:effectLst>
                        </a:rPr>
                        <a:t>RegEnumKey</a:t>
                      </a:r>
                      <a:endParaRPr lang="en-GB" dirty="0">
                        <a:effectLst>
                          <a:outerShdw blurRad="38100" dist="38100" dir="2700000" algn="tl">
                            <a:srgbClr val="000000">
                              <a:alpha val="43137"/>
                            </a:srgbClr>
                          </a:outerShdw>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dirty="0" err="1"/>
                        <a:t>RegReplaceKey</a:t>
                      </a:r>
                      <a:endParaRPr lang="en-GB" dirty="0"/>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RegEnumKeyEx</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RegRestoreKey </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r>
              <a:tr h="0">
                <a:tc>
                  <a:txBody>
                    <a:bodyPr/>
                    <a:lstStyle/>
                    <a:p>
                      <a:r>
                        <a:rPr lang="en-GB"/>
                        <a:t>RegEnumValue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dirty="0" err="1"/>
                        <a:t>RegSaveKey</a:t>
                      </a:r>
                      <a:endParaRPr lang="en-GB" dirty="0"/>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RegFlushKey</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RegSetKeySecurity </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r>
              <a:tr h="0">
                <a:tc>
                  <a:txBody>
                    <a:bodyPr/>
                    <a:lstStyle/>
                    <a:p>
                      <a:r>
                        <a:rPr lang="en-GB" dirty="0" err="1"/>
                        <a:t>RegGetKeySecurity</a:t>
                      </a:r>
                      <a:endParaRPr lang="en-GB" dirty="0"/>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dirty="0" err="1">
                          <a:effectLst>
                            <a:outerShdw blurRad="38100" dist="38100" dir="2700000" algn="tl">
                              <a:srgbClr val="000000">
                                <a:alpha val="43137"/>
                              </a:srgbClr>
                            </a:outerShdw>
                          </a:effectLst>
                        </a:rPr>
                        <a:t>RegSetValue</a:t>
                      </a:r>
                      <a:endParaRPr lang="en-GB" dirty="0">
                        <a:effectLst>
                          <a:outerShdw blurRad="38100" dist="38100" dir="2700000" algn="tl">
                            <a:srgbClr val="000000">
                              <a:alpha val="43137"/>
                            </a:srgbClr>
                          </a:outerShdw>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RegLoadKey</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RegSetValueEx </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r>
              <a:tr h="0">
                <a:tc>
                  <a:txBody>
                    <a:bodyPr/>
                    <a:lstStyle/>
                    <a:p>
                      <a:endParaRPr lang="en-GB"/>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a:t>RegNotifyChangeKeyValue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GB" dirty="0" err="1"/>
                        <a:t>RegUnLoadKey</a:t>
                      </a:r>
                      <a:endParaRPr lang="en-GB" dirty="0"/>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endParaRPr lang="en-GB" dirty="0"/>
                    </a:p>
                  </a:txBody>
                  <a:tcPr>
                    <a:lnL w="9525" cap="flat" cmpd="sng" algn="ctr">
                      <a:solidFill>
                        <a:srgbClr val="A2A9B1"/>
                      </a:solidFill>
                      <a:prstDash val="solid"/>
                      <a:round/>
                      <a:headEnd type="none" w="med" len="med"/>
                      <a:tailEnd type="none" w="med" len="med"/>
                    </a:lnL>
                    <a:lnT w="9525" cap="flat" cmpd="sng" algn="ctr">
                      <a:solidFill>
                        <a:srgbClr val="A2A9B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21749540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Windows </a:t>
            </a:r>
            <a:r>
              <a:rPr lang="en-GB" dirty="0" smtClean="0"/>
              <a:t>Registry (Code Example)</a:t>
            </a:r>
            <a:endParaRPr lang="en-GB" dirty="0"/>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234158"/>
            <a:ext cx="8614480" cy="54352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8661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Windows Registry</a:t>
            </a:r>
          </a:p>
        </p:txBody>
      </p:sp>
      <p:sp>
        <p:nvSpPr>
          <p:cNvPr id="3" name="Content Placeholder 2"/>
          <p:cNvSpPr>
            <a:spLocks noGrp="1"/>
          </p:cNvSpPr>
          <p:nvPr>
            <p:ph idx="1"/>
          </p:nvPr>
        </p:nvSpPr>
        <p:spPr/>
        <p:txBody>
          <a:bodyPr/>
          <a:lstStyle/>
          <a:p>
            <a:r>
              <a:rPr lang="en-GB" dirty="0" smtClean="0"/>
              <a:t>Registry Scripting by </a:t>
            </a:r>
            <a:r>
              <a:rPr lang="en-GB" i="1" dirty="0" smtClean="0"/>
              <a:t>.</a:t>
            </a:r>
            <a:r>
              <a:rPr lang="en-GB" i="1" dirty="0" err="1" smtClean="0">
                <a:effectLst>
                  <a:outerShdw blurRad="38100" dist="38100" dir="2700000" algn="tl">
                    <a:srgbClr val="000000">
                      <a:alpha val="43137"/>
                    </a:srgbClr>
                  </a:outerShdw>
                </a:effectLst>
              </a:rPr>
              <a:t>reg</a:t>
            </a:r>
            <a:r>
              <a:rPr lang="en-GB" i="1" dirty="0" smtClean="0">
                <a:effectLst>
                  <a:outerShdw blurRad="38100" dist="38100" dir="2700000" algn="tl">
                    <a:srgbClr val="000000">
                      <a:alpha val="43137"/>
                    </a:srgbClr>
                  </a:outerShdw>
                </a:effectLst>
              </a:rPr>
              <a:t> </a:t>
            </a:r>
            <a:r>
              <a:rPr lang="en-GB" dirty="0" smtClean="0"/>
              <a:t>file</a:t>
            </a:r>
          </a:p>
          <a:p>
            <a:pPr lvl="1"/>
            <a:r>
              <a:rPr lang="en-GB" dirty="0"/>
              <a:t>When </a:t>
            </a:r>
            <a:r>
              <a:rPr lang="en-GB" dirty="0" smtClean="0"/>
              <a:t>a user </a:t>
            </a:r>
            <a:r>
              <a:rPr lang="en-GB" dirty="0"/>
              <a:t>double-clicks a .</a:t>
            </a:r>
            <a:r>
              <a:rPr lang="en-GB" i="1" dirty="0" err="1">
                <a:effectLst>
                  <a:outerShdw blurRad="38100" dist="38100" dir="2700000" algn="tl">
                    <a:srgbClr val="000000">
                      <a:alpha val="43137"/>
                    </a:srgbClr>
                  </a:outerShdw>
                </a:effectLst>
              </a:rPr>
              <a:t>reg</a:t>
            </a:r>
            <a:r>
              <a:rPr lang="en-GB" dirty="0"/>
              <a:t> file, it automatically modifies the registry by </a:t>
            </a:r>
            <a:r>
              <a:rPr lang="en-GB" dirty="0" smtClean="0"/>
              <a:t>merging the </a:t>
            </a:r>
            <a:r>
              <a:rPr lang="en-GB" dirty="0"/>
              <a:t>information the file contains into the registry</a:t>
            </a:r>
            <a:endParaRPr lang="en-GB" dirty="0" smtClean="0"/>
          </a:p>
          <a:p>
            <a:pPr lvl="1"/>
            <a:endParaRPr lang="en-GB" dirty="0" smtClean="0"/>
          </a:p>
          <a:p>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756" y="3573016"/>
            <a:ext cx="6668138" cy="150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78147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Networking API</a:t>
            </a:r>
            <a:endParaRPr lang="en-GB" dirty="0"/>
          </a:p>
        </p:txBody>
      </p:sp>
      <p:sp>
        <p:nvSpPr>
          <p:cNvPr id="3" name="Content Placeholder 2"/>
          <p:cNvSpPr>
            <a:spLocks noGrp="1"/>
          </p:cNvSpPr>
          <p:nvPr>
            <p:ph idx="1"/>
          </p:nvPr>
        </p:nvSpPr>
        <p:spPr/>
        <p:txBody>
          <a:bodyPr/>
          <a:lstStyle/>
          <a:p>
            <a:r>
              <a:rPr lang="en-GB" dirty="0"/>
              <a:t>Windows API functions for network </a:t>
            </a:r>
            <a:r>
              <a:rPr lang="en-GB" dirty="0" smtClean="0"/>
              <a:t>communication</a:t>
            </a:r>
          </a:p>
          <a:p>
            <a:pPr lvl="1"/>
            <a:r>
              <a:rPr lang="en-GB" dirty="0" smtClean="0">
                <a:effectLst>
                  <a:outerShdw blurRad="38100" dist="38100" dir="2700000" algn="tl">
                    <a:srgbClr val="000000">
                      <a:alpha val="43137"/>
                    </a:srgbClr>
                  </a:outerShdw>
                </a:effectLst>
              </a:rPr>
              <a:t>Berkeley compatible sockets</a:t>
            </a:r>
            <a:r>
              <a:rPr lang="en-GB" dirty="0" smtClean="0"/>
              <a:t>: implemented in </a:t>
            </a:r>
            <a:r>
              <a:rPr lang="en-GB" dirty="0"/>
              <a:t>the Winsock libraries, primarily in </a:t>
            </a:r>
            <a:r>
              <a:rPr lang="en-GB" i="1" dirty="0" smtClean="0"/>
              <a:t>ws2_32.dll</a:t>
            </a:r>
            <a:endParaRPr lang="en-GB" dirty="0" smtClean="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696164"/>
            <a:ext cx="7556300" cy="2880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29326" y="5661248"/>
            <a:ext cx="8729952" cy="1015663"/>
          </a:xfrm>
          <a:prstGeom prst="rect">
            <a:avLst/>
          </a:prstGeom>
          <a:noFill/>
          <a:ln>
            <a:solidFill>
              <a:schemeClr val="accent3"/>
            </a:solidFill>
          </a:ln>
        </p:spPr>
        <p:txBody>
          <a:bodyPr wrap="square" rtlCol="0">
            <a:spAutoFit/>
          </a:bodyPr>
          <a:lstStyle/>
          <a:p>
            <a:r>
              <a:rPr lang="en-GB" sz="2000" dirty="0">
                <a:solidFill>
                  <a:prstClr val="black"/>
                </a:solidFill>
                <a:latin typeface="Agency FB" panose="020B0503020202020204" pitchFamily="34" charset="0"/>
              </a:rPr>
              <a:t>The </a:t>
            </a:r>
            <a:r>
              <a:rPr lang="en-GB" sz="2000" dirty="0" err="1">
                <a:solidFill>
                  <a:prstClr val="black"/>
                </a:solidFill>
                <a:effectLst>
                  <a:outerShdw blurRad="38100" dist="38100" dir="2700000" algn="tl">
                    <a:srgbClr val="000000">
                      <a:alpha val="43137"/>
                    </a:srgbClr>
                  </a:outerShdw>
                </a:effectLst>
                <a:latin typeface="Agency FB" panose="020B0503020202020204" pitchFamily="34" charset="0"/>
              </a:rPr>
              <a:t>WSAStartup</a:t>
            </a:r>
            <a:r>
              <a:rPr lang="en-GB" sz="2000" dirty="0">
                <a:solidFill>
                  <a:prstClr val="black"/>
                </a:solidFill>
                <a:effectLst>
                  <a:outerShdw blurRad="38100" dist="38100" dir="2700000" algn="tl">
                    <a:srgbClr val="000000">
                      <a:alpha val="43137"/>
                    </a:srgbClr>
                  </a:outerShdw>
                </a:effectLst>
                <a:latin typeface="Agency FB" panose="020B0503020202020204" pitchFamily="34" charset="0"/>
              </a:rPr>
              <a:t> </a:t>
            </a:r>
            <a:r>
              <a:rPr lang="en-GB" sz="2000" dirty="0">
                <a:solidFill>
                  <a:prstClr val="black"/>
                </a:solidFill>
                <a:latin typeface="Agency FB" panose="020B0503020202020204" pitchFamily="34" charset="0"/>
              </a:rPr>
              <a:t>function must be called before any other networking functions in order to allocate resources for the networking libraries. When looking for the start of network connections while debugging code, it is useful to set a </a:t>
            </a:r>
            <a:r>
              <a:rPr lang="en-GB" sz="2000" i="1" dirty="0">
                <a:solidFill>
                  <a:prstClr val="black"/>
                </a:solidFill>
                <a:latin typeface="Agency FB" panose="020B0503020202020204" pitchFamily="34" charset="0"/>
              </a:rPr>
              <a:t>breakpoint</a:t>
            </a:r>
            <a:r>
              <a:rPr lang="en-GB" sz="2000" dirty="0">
                <a:solidFill>
                  <a:prstClr val="black"/>
                </a:solidFill>
                <a:latin typeface="Agency FB" panose="020B0503020202020204" pitchFamily="34" charset="0"/>
              </a:rPr>
              <a:t> on </a:t>
            </a:r>
            <a:r>
              <a:rPr lang="en-GB" sz="2000" dirty="0" err="1">
                <a:solidFill>
                  <a:prstClr val="black"/>
                </a:solidFill>
                <a:effectLst>
                  <a:outerShdw blurRad="38100" dist="38100" dir="2700000" algn="tl">
                    <a:srgbClr val="000000">
                      <a:alpha val="43137"/>
                    </a:srgbClr>
                  </a:outerShdw>
                </a:effectLst>
                <a:latin typeface="Agency FB" panose="020B0503020202020204" pitchFamily="34" charset="0"/>
              </a:rPr>
              <a:t>WSAStartup</a:t>
            </a:r>
            <a:r>
              <a:rPr lang="en-GB" sz="2000" dirty="0">
                <a:solidFill>
                  <a:prstClr val="black"/>
                </a:solidFill>
                <a:latin typeface="Agency FB" panose="020B0503020202020204" pitchFamily="34" charset="0"/>
              </a:rPr>
              <a:t>, because the start of networking should follow shortly.</a:t>
            </a:r>
          </a:p>
        </p:txBody>
      </p:sp>
    </p:spTree>
    <p:extLst>
      <p:ext uri="{BB962C8B-B14F-4D97-AF65-F5344CB8AC3E}">
        <p14:creationId xmlns:p14="http://schemas.microsoft.com/office/powerpoint/2010/main" val="22489492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Networking </a:t>
            </a:r>
            <a:r>
              <a:rPr lang="en-GB" dirty="0" smtClean="0"/>
              <a:t>API (Code Example)</a:t>
            </a:r>
            <a:endParaRPr lang="en-GB" dirty="0"/>
          </a:p>
        </p:txBody>
      </p:sp>
      <p:sp>
        <p:nvSpPr>
          <p:cNvPr id="3" name="Content Placeholder 2"/>
          <p:cNvSpPr>
            <a:spLocks noGrp="1"/>
          </p:cNvSpPr>
          <p:nvPr>
            <p:ph idx="1"/>
          </p:nvPr>
        </p:nvSpPr>
        <p:spPr/>
        <p:txBody>
          <a:bodyPr/>
          <a:lstStyle/>
          <a:p>
            <a:endParaRPr lang="en-GB"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196752"/>
            <a:ext cx="5040560" cy="5508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33473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Networking API</a:t>
            </a:r>
          </a:p>
        </p:txBody>
      </p:sp>
      <p:sp>
        <p:nvSpPr>
          <p:cNvPr id="3" name="Content Placeholder 2"/>
          <p:cNvSpPr>
            <a:spLocks noGrp="1"/>
          </p:cNvSpPr>
          <p:nvPr>
            <p:ph idx="1"/>
          </p:nvPr>
        </p:nvSpPr>
        <p:spPr/>
        <p:txBody>
          <a:bodyPr/>
          <a:lstStyle/>
          <a:p>
            <a:r>
              <a:rPr lang="en-GB" b="1" dirty="0" err="1" smtClean="0">
                <a:effectLst>
                  <a:outerShdw blurRad="38100" dist="38100" dir="2700000" algn="tl">
                    <a:srgbClr val="000000">
                      <a:alpha val="43137"/>
                    </a:srgbClr>
                  </a:outerShdw>
                </a:effectLst>
              </a:rPr>
              <a:t>WinINet</a:t>
            </a:r>
            <a:r>
              <a:rPr lang="en-GB" b="1" dirty="0" smtClean="0">
                <a:effectLst>
                  <a:outerShdw blurRad="38100" dist="38100" dir="2700000" algn="tl">
                    <a:srgbClr val="000000">
                      <a:alpha val="43137"/>
                    </a:srgbClr>
                  </a:outerShdw>
                </a:effectLst>
              </a:rPr>
              <a:t> API</a:t>
            </a:r>
          </a:p>
          <a:p>
            <a:pPr lvl="1"/>
            <a:r>
              <a:rPr lang="en-GB" dirty="0" smtClean="0"/>
              <a:t>Higher-level </a:t>
            </a:r>
            <a:r>
              <a:rPr lang="en-GB" dirty="0"/>
              <a:t>API </a:t>
            </a:r>
            <a:endParaRPr lang="en-GB" dirty="0" smtClean="0"/>
          </a:p>
          <a:p>
            <a:pPr lvl="1"/>
            <a:r>
              <a:rPr lang="en-GB" dirty="0"/>
              <a:t>S</a:t>
            </a:r>
            <a:r>
              <a:rPr lang="en-GB" dirty="0" smtClean="0"/>
              <a:t>tored in</a:t>
            </a:r>
            <a:r>
              <a:rPr lang="en-GB" i="1" dirty="0" smtClean="0"/>
              <a:t>Wininet.dll</a:t>
            </a:r>
          </a:p>
          <a:p>
            <a:pPr lvl="1"/>
            <a:r>
              <a:rPr lang="en-GB" dirty="0" smtClean="0"/>
              <a:t>Implements </a:t>
            </a:r>
            <a:r>
              <a:rPr lang="en-GB" dirty="0"/>
              <a:t>protocols, such as HTTP and FTP, at </a:t>
            </a:r>
            <a:r>
              <a:rPr lang="en-GB" dirty="0" smtClean="0"/>
              <a:t>the application layer</a:t>
            </a:r>
          </a:p>
          <a:p>
            <a:pPr lvl="2"/>
            <a:r>
              <a:rPr lang="en-GB" b="1" dirty="0" err="1" smtClean="0"/>
              <a:t>InternetOpen</a:t>
            </a:r>
            <a:r>
              <a:rPr lang="en-GB" dirty="0" smtClean="0"/>
              <a:t>: </a:t>
            </a:r>
            <a:r>
              <a:rPr lang="en-GB" dirty="0"/>
              <a:t>is used to initialize a connection to the </a:t>
            </a:r>
            <a:r>
              <a:rPr lang="en-GB" dirty="0" smtClean="0"/>
              <a:t>Internet.</a:t>
            </a:r>
          </a:p>
          <a:p>
            <a:pPr lvl="2"/>
            <a:r>
              <a:rPr lang="en-GB" b="1" dirty="0" err="1" smtClean="0"/>
              <a:t>InternetOpenUrl</a:t>
            </a:r>
            <a:r>
              <a:rPr lang="en-GB" dirty="0" smtClean="0"/>
              <a:t>: </a:t>
            </a:r>
            <a:r>
              <a:rPr lang="en-GB" dirty="0"/>
              <a:t>is used to connect to a </a:t>
            </a:r>
            <a:r>
              <a:rPr lang="en-GB" dirty="0" smtClean="0"/>
              <a:t>URL</a:t>
            </a:r>
          </a:p>
          <a:p>
            <a:pPr lvl="2"/>
            <a:r>
              <a:rPr lang="en-GB" b="1" dirty="0" err="1" smtClean="0"/>
              <a:t>InternetReadFile</a:t>
            </a:r>
            <a:r>
              <a:rPr lang="en-GB" dirty="0" smtClean="0"/>
              <a:t>: </a:t>
            </a:r>
            <a:r>
              <a:rPr lang="en-GB" dirty="0"/>
              <a:t>read the data from a file downloaded from the </a:t>
            </a:r>
            <a:r>
              <a:rPr lang="en-GB" dirty="0" smtClean="0"/>
              <a:t>Internet.</a:t>
            </a:r>
          </a:p>
          <a:p>
            <a:pPr lvl="2"/>
            <a:endParaRPr lang="en-GB" dirty="0"/>
          </a:p>
          <a:p>
            <a:pPr lvl="2"/>
            <a:endParaRPr lang="en-GB" dirty="0"/>
          </a:p>
        </p:txBody>
      </p:sp>
    </p:spTree>
    <p:extLst>
      <p:ext uri="{BB962C8B-B14F-4D97-AF65-F5344CB8AC3E}">
        <p14:creationId xmlns:p14="http://schemas.microsoft.com/office/powerpoint/2010/main" val="28558261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endParaRPr lang="en-US" dirty="0"/>
          </a:p>
        </p:txBody>
      </p:sp>
      <p:sp>
        <p:nvSpPr>
          <p:cNvPr id="3" name="Content Placeholder 2"/>
          <p:cNvSpPr>
            <a:spLocks noGrp="1"/>
          </p:cNvSpPr>
          <p:nvPr>
            <p:ph idx="1"/>
          </p:nvPr>
        </p:nvSpPr>
        <p:spPr/>
        <p:txBody>
          <a:bodyPr/>
          <a:lstStyle/>
          <a:p>
            <a:r>
              <a:rPr lang="en-US" dirty="0" smtClean="0"/>
              <a:t>DLL</a:t>
            </a:r>
          </a:p>
          <a:p>
            <a:r>
              <a:rPr lang="en-US" dirty="0" smtClean="0"/>
              <a:t>Process</a:t>
            </a:r>
          </a:p>
          <a:p>
            <a:r>
              <a:rPr lang="en-US" dirty="0" smtClean="0"/>
              <a:t>Thread</a:t>
            </a:r>
          </a:p>
          <a:p>
            <a:r>
              <a:rPr lang="en-US" dirty="0" err="1" smtClean="0"/>
              <a:t>Mutex</a:t>
            </a:r>
            <a:endParaRPr lang="en-US" dirty="0" smtClean="0"/>
          </a:p>
          <a:p>
            <a:r>
              <a:rPr lang="en-US" dirty="0" smtClean="0"/>
              <a:t>Service</a:t>
            </a:r>
          </a:p>
          <a:p>
            <a:r>
              <a:rPr lang="en-US" dirty="0" smtClean="0"/>
              <a:t>COM</a:t>
            </a:r>
          </a:p>
          <a:p>
            <a:r>
              <a:rPr lang="en-US" dirty="0" smtClean="0"/>
              <a:t>Exception</a:t>
            </a:r>
          </a:p>
          <a:p>
            <a:endParaRPr lang="en-US" dirty="0"/>
          </a:p>
        </p:txBody>
      </p:sp>
    </p:spTree>
    <p:extLst>
      <p:ext uri="{BB962C8B-B14F-4D97-AF65-F5344CB8AC3E}">
        <p14:creationId xmlns:p14="http://schemas.microsoft.com/office/powerpoint/2010/main" val="1073194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Malware vs. Windows OS</a:t>
            </a:r>
            <a:endParaRPr lang="en-GB" dirty="0"/>
          </a:p>
        </p:txBody>
      </p:sp>
      <p:sp>
        <p:nvSpPr>
          <p:cNvPr id="3" name="Content Placeholder 2"/>
          <p:cNvSpPr>
            <a:spLocks noGrp="1"/>
          </p:cNvSpPr>
          <p:nvPr>
            <p:ph idx="1"/>
          </p:nvPr>
        </p:nvSpPr>
        <p:spPr/>
        <p:txBody>
          <a:bodyPr>
            <a:normAutofit lnSpcReduction="10000"/>
          </a:bodyPr>
          <a:lstStyle/>
          <a:p>
            <a:r>
              <a:rPr lang="en-GB" b="1" dirty="0" smtClean="0"/>
              <a:t>DLL</a:t>
            </a:r>
          </a:p>
          <a:p>
            <a:pPr lvl="1"/>
            <a:r>
              <a:rPr lang="en-GB" dirty="0"/>
              <a:t>A DLL is an executable file that </a:t>
            </a:r>
            <a:r>
              <a:rPr lang="en-GB" dirty="0" smtClean="0"/>
              <a:t>does not </a:t>
            </a:r>
            <a:r>
              <a:rPr lang="en-GB" dirty="0"/>
              <a:t>run alone, but exports functions that can be used by other </a:t>
            </a:r>
            <a:r>
              <a:rPr lang="en-GB" dirty="0" smtClean="0"/>
              <a:t>applications</a:t>
            </a:r>
          </a:p>
          <a:p>
            <a:pPr lvl="1"/>
            <a:r>
              <a:rPr lang="en-GB" dirty="0"/>
              <a:t>Malware writers use DLLs in three ways</a:t>
            </a:r>
            <a:r>
              <a:rPr lang="en-GB" dirty="0" smtClean="0"/>
              <a:t>:</a:t>
            </a:r>
          </a:p>
          <a:p>
            <a:pPr lvl="2"/>
            <a:r>
              <a:rPr lang="en-GB" dirty="0"/>
              <a:t>To store malicious code</a:t>
            </a:r>
            <a:endParaRPr lang="en-GB" dirty="0" smtClean="0"/>
          </a:p>
          <a:p>
            <a:pPr lvl="2"/>
            <a:r>
              <a:rPr lang="en-GB" dirty="0"/>
              <a:t>By using Windows </a:t>
            </a:r>
            <a:r>
              <a:rPr lang="en-GB" dirty="0" smtClean="0"/>
              <a:t>DLLs</a:t>
            </a:r>
          </a:p>
          <a:p>
            <a:pPr lvl="2"/>
            <a:r>
              <a:rPr lang="en-GB" dirty="0"/>
              <a:t>By using third-party DLLs</a:t>
            </a:r>
            <a:endParaRPr lang="en-GB" dirty="0" smtClean="0"/>
          </a:p>
          <a:p>
            <a:pPr lvl="1"/>
            <a:r>
              <a:rPr lang="en-GB" dirty="0"/>
              <a:t>Basic DLL Structure: </a:t>
            </a:r>
            <a:endParaRPr lang="en-GB" dirty="0" smtClean="0"/>
          </a:p>
          <a:p>
            <a:pPr lvl="2"/>
            <a:r>
              <a:rPr lang="en-GB" dirty="0"/>
              <a:t>DLLs use the </a:t>
            </a:r>
            <a:r>
              <a:rPr lang="en-GB" dirty="0" smtClean="0">
                <a:effectLst>
                  <a:outerShdw blurRad="38100" dist="38100" dir="2700000" algn="tl">
                    <a:srgbClr val="000000">
                      <a:alpha val="43137"/>
                    </a:srgbClr>
                  </a:outerShdw>
                </a:effectLst>
              </a:rPr>
              <a:t>PE file </a:t>
            </a:r>
            <a:r>
              <a:rPr lang="en-GB" dirty="0">
                <a:effectLst>
                  <a:outerShdw blurRad="38100" dist="38100" dir="2700000" algn="tl">
                    <a:srgbClr val="000000">
                      <a:alpha val="43137"/>
                    </a:srgbClr>
                  </a:outerShdw>
                </a:effectLst>
              </a:rPr>
              <a:t>format</a:t>
            </a:r>
            <a:r>
              <a:rPr lang="en-GB" dirty="0"/>
              <a:t>, and only a </a:t>
            </a:r>
            <a:r>
              <a:rPr lang="en-GB" dirty="0">
                <a:solidFill>
                  <a:srgbClr val="FF0000"/>
                </a:solidFill>
              </a:rPr>
              <a:t>single flag </a:t>
            </a:r>
            <a:r>
              <a:rPr lang="en-GB" dirty="0"/>
              <a:t>indicates that the file is a </a:t>
            </a:r>
            <a:r>
              <a:rPr lang="en-GB" dirty="0" smtClean="0"/>
              <a:t>DLL</a:t>
            </a:r>
          </a:p>
          <a:p>
            <a:pPr lvl="2"/>
            <a:r>
              <a:rPr lang="en-GB" dirty="0"/>
              <a:t>DLLs often have </a:t>
            </a:r>
            <a:r>
              <a:rPr lang="en-GB" dirty="0">
                <a:effectLst>
                  <a:outerShdw blurRad="38100" dist="38100" dir="2700000" algn="tl">
                    <a:srgbClr val="000000">
                      <a:alpha val="43137"/>
                    </a:srgbClr>
                  </a:outerShdw>
                </a:effectLst>
              </a:rPr>
              <a:t>more exports </a:t>
            </a:r>
            <a:r>
              <a:rPr lang="en-GB" dirty="0"/>
              <a:t>and generally fewer imports</a:t>
            </a:r>
            <a:endParaRPr lang="en-GB" dirty="0" smtClean="0"/>
          </a:p>
          <a:p>
            <a:pPr lvl="1"/>
            <a:endParaRPr lang="en-GB" dirty="0"/>
          </a:p>
        </p:txBody>
      </p:sp>
    </p:spTree>
    <p:extLst>
      <p:ext uri="{BB962C8B-B14F-4D97-AF65-F5344CB8AC3E}">
        <p14:creationId xmlns:p14="http://schemas.microsoft.com/office/powerpoint/2010/main" val="6970261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DLL example</a:t>
            </a:r>
            <a:endParaRPr lang="en-GB" dirty="0"/>
          </a:p>
        </p:txBody>
      </p:sp>
      <p:sp>
        <p:nvSpPr>
          <p:cNvPr id="3" name="Content Placeholder 2"/>
          <p:cNvSpPr>
            <a:spLocks noGrp="1"/>
          </p:cNvSpPr>
          <p:nvPr>
            <p:ph idx="1"/>
          </p:nvPr>
        </p:nvSpPr>
        <p:spPr/>
        <p:txBody>
          <a:bodyPr/>
          <a:lstStyle/>
          <a:p>
            <a:endParaRPr lang="en-GB" dirty="0"/>
          </a:p>
        </p:txBody>
      </p:sp>
      <p:sp>
        <p:nvSpPr>
          <p:cNvPr id="5" name="TextBox 4"/>
          <p:cNvSpPr txBox="1"/>
          <p:nvPr/>
        </p:nvSpPr>
        <p:spPr>
          <a:xfrm flipH="1">
            <a:off x="107504" y="1412776"/>
            <a:ext cx="4464496" cy="2308324"/>
          </a:xfrm>
          <a:prstGeom prst="rect">
            <a:avLst/>
          </a:prstGeom>
          <a:solidFill>
            <a:schemeClr val="bg2"/>
          </a:solidFill>
          <a:ln>
            <a:solidFill>
              <a:schemeClr val="accent1"/>
            </a:solidFill>
          </a:ln>
        </p:spPr>
        <p:txBody>
          <a:bodyPr wrap="square" rtlCol="0">
            <a:spAutoFit/>
          </a:bodyPr>
          <a:lstStyle/>
          <a:p>
            <a:r>
              <a:rPr lang="en-GB" dirty="0">
                <a:solidFill>
                  <a:prstClr val="black"/>
                </a:solidFill>
              </a:rPr>
              <a:t>// </a:t>
            </a:r>
            <a:r>
              <a:rPr lang="en-GB" dirty="0" err="1">
                <a:solidFill>
                  <a:prstClr val="black"/>
                </a:solidFill>
              </a:rPr>
              <a:t>myDLL.c</a:t>
            </a:r>
            <a:endParaRPr lang="en-GB" dirty="0">
              <a:solidFill>
                <a:prstClr val="black"/>
              </a:solidFill>
            </a:endParaRPr>
          </a:p>
          <a:p>
            <a:endParaRPr lang="en-GB" dirty="0">
              <a:solidFill>
                <a:prstClr val="black"/>
              </a:solidFill>
            </a:endParaRPr>
          </a:p>
          <a:p>
            <a:r>
              <a:rPr lang="en-GB" dirty="0">
                <a:solidFill>
                  <a:prstClr val="black"/>
                </a:solidFill>
              </a:rPr>
              <a:t>#include &lt;</a:t>
            </a:r>
            <a:r>
              <a:rPr lang="en-GB" dirty="0" err="1">
                <a:solidFill>
                  <a:prstClr val="black"/>
                </a:solidFill>
              </a:rPr>
              <a:t>stdio.h</a:t>
            </a:r>
            <a:r>
              <a:rPr lang="en-GB" dirty="0">
                <a:solidFill>
                  <a:prstClr val="black"/>
                </a:solidFill>
              </a:rPr>
              <a:t>&gt;</a:t>
            </a:r>
          </a:p>
          <a:p>
            <a:r>
              <a:rPr lang="en-GB" dirty="0">
                <a:solidFill>
                  <a:prstClr val="black"/>
                </a:solidFill>
              </a:rPr>
              <a:t>#include “</a:t>
            </a:r>
            <a:r>
              <a:rPr lang="en-GB" dirty="0" err="1">
                <a:solidFill>
                  <a:prstClr val="black"/>
                </a:solidFill>
              </a:rPr>
              <a:t>myDLL.h</a:t>
            </a:r>
            <a:r>
              <a:rPr lang="en-GB" dirty="0">
                <a:solidFill>
                  <a:prstClr val="black"/>
                </a:solidFill>
              </a:rPr>
              <a:t>"</a:t>
            </a:r>
          </a:p>
          <a:p>
            <a:endParaRPr lang="en-GB" dirty="0">
              <a:solidFill>
                <a:prstClr val="black"/>
              </a:solidFill>
            </a:endParaRPr>
          </a:p>
          <a:p>
            <a:r>
              <a:rPr lang="en-GB" dirty="0">
                <a:solidFill>
                  <a:prstClr val="black"/>
                </a:solidFill>
              </a:rPr>
              <a:t>EXPORT void message(){</a:t>
            </a:r>
          </a:p>
          <a:p>
            <a:r>
              <a:rPr lang="en-GB" dirty="0">
                <a:solidFill>
                  <a:prstClr val="black"/>
                </a:solidFill>
              </a:rPr>
              <a:t>    </a:t>
            </a:r>
            <a:r>
              <a:rPr lang="en-GB" dirty="0" err="1">
                <a:solidFill>
                  <a:prstClr val="black"/>
                </a:solidFill>
              </a:rPr>
              <a:t>printf</a:t>
            </a:r>
            <a:r>
              <a:rPr lang="en-GB" dirty="0">
                <a:solidFill>
                  <a:prstClr val="black"/>
                </a:solidFill>
              </a:rPr>
              <a:t>("Hello World");</a:t>
            </a:r>
          </a:p>
          <a:p>
            <a:r>
              <a:rPr lang="en-GB" dirty="0">
                <a:solidFill>
                  <a:prstClr val="black"/>
                </a:solidFill>
              </a:rPr>
              <a:t>}</a:t>
            </a:r>
          </a:p>
        </p:txBody>
      </p:sp>
      <p:sp>
        <p:nvSpPr>
          <p:cNvPr id="7" name="TextBox 6"/>
          <p:cNvSpPr txBox="1"/>
          <p:nvPr/>
        </p:nvSpPr>
        <p:spPr>
          <a:xfrm flipH="1">
            <a:off x="121064" y="3861048"/>
            <a:ext cx="4450936" cy="1477328"/>
          </a:xfrm>
          <a:prstGeom prst="rect">
            <a:avLst/>
          </a:prstGeom>
          <a:solidFill>
            <a:schemeClr val="bg2"/>
          </a:solidFill>
          <a:ln>
            <a:solidFill>
              <a:schemeClr val="accent1"/>
            </a:solidFill>
          </a:ln>
        </p:spPr>
        <p:txBody>
          <a:bodyPr wrap="square" rtlCol="0">
            <a:spAutoFit/>
          </a:bodyPr>
          <a:lstStyle/>
          <a:p>
            <a:r>
              <a:rPr lang="en-GB" dirty="0">
                <a:solidFill>
                  <a:prstClr val="black"/>
                </a:solidFill>
              </a:rPr>
              <a:t>// </a:t>
            </a:r>
            <a:r>
              <a:rPr lang="en-GB" dirty="0" err="1">
                <a:solidFill>
                  <a:prstClr val="black"/>
                </a:solidFill>
              </a:rPr>
              <a:t>myDLL.h</a:t>
            </a:r>
            <a:endParaRPr lang="en-GB" dirty="0">
              <a:solidFill>
                <a:prstClr val="black"/>
              </a:solidFill>
            </a:endParaRPr>
          </a:p>
          <a:p>
            <a:endParaRPr lang="en-GB" dirty="0">
              <a:solidFill>
                <a:prstClr val="black"/>
              </a:solidFill>
            </a:endParaRPr>
          </a:p>
          <a:p>
            <a:r>
              <a:rPr lang="en-GB" dirty="0">
                <a:solidFill>
                  <a:prstClr val="black"/>
                </a:solidFill>
              </a:rPr>
              <a:t>#define EXPORT __</a:t>
            </a:r>
            <a:r>
              <a:rPr lang="en-GB" dirty="0" err="1">
                <a:solidFill>
                  <a:prstClr val="black"/>
                </a:solidFill>
              </a:rPr>
              <a:t>declspec</a:t>
            </a:r>
            <a:r>
              <a:rPr lang="en-GB" dirty="0">
                <a:solidFill>
                  <a:prstClr val="black"/>
                </a:solidFill>
              </a:rPr>
              <a:t>(</a:t>
            </a:r>
            <a:r>
              <a:rPr lang="en-GB" dirty="0" err="1">
                <a:solidFill>
                  <a:prstClr val="black"/>
                </a:solidFill>
              </a:rPr>
              <a:t>dllexport</a:t>
            </a:r>
            <a:r>
              <a:rPr lang="en-GB" dirty="0">
                <a:solidFill>
                  <a:prstClr val="black"/>
                </a:solidFill>
              </a:rPr>
              <a:t>)</a:t>
            </a:r>
          </a:p>
          <a:p>
            <a:endParaRPr lang="en-GB" dirty="0">
              <a:solidFill>
                <a:prstClr val="black"/>
              </a:solidFill>
            </a:endParaRPr>
          </a:p>
          <a:p>
            <a:r>
              <a:rPr lang="en-GB" dirty="0">
                <a:solidFill>
                  <a:prstClr val="black"/>
                </a:solidFill>
              </a:rPr>
              <a:t>EXPORT void message (void);</a:t>
            </a:r>
          </a:p>
        </p:txBody>
      </p:sp>
      <p:sp>
        <p:nvSpPr>
          <p:cNvPr id="8" name="TextBox 7"/>
          <p:cNvSpPr txBox="1"/>
          <p:nvPr/>
        </p:nvSpPr>
        <p:spPr>
          <a:xfrm flipH="1">
            <a:off x="4595069" y="2982436"/>
            <a:ext cx="4450936" cy="2308324"/>
          </a:xfrm>
          <a:prstGeom prst="rect">
            <a:avLst/>
          </a:prstGeom>
          <a:solidFill>
            <a:schemeClr val="bg2"/>
          </a:solidFill>
          <a:ln>
            <a:solidFill>
              <a:schemeClr val="accent1"/>
            </a:solidFill>
          </a:ln>
        </p:spPr>
        <p:txBody>
          <a:bodyPr wrap="square" rtlCol="0">
            <a:spAutoFit/>
          </a:bodyPr>
          <a:lstStyle/>
          <a:p>
            <a:r>
              <a:rPr lang="en-GB" dirty="0">
                <a:solidFill>
                  <a:prstClr val="black"/>
                </a:solidFill>
              </a:rPr>
              <a:t>// </a:t>
            </a:r>
            <a:r>
              <a:rPr lang="en-GB" dirty="0" err="1">
                <a:solidFill>
                  <a:prstClr val="black"/>
                </a:solidFill>
              </a:rPr>
              <a:t>mainDLL.c</a:t>
            </a:r>
            <a:endParaRPr lang="en-GB" dirty="0">
              <a:solidFill>
                <a:prstClr val="black"/>
              </a:solidFill>
            </a:endParaRPr>
          </a:p>
          <a:p>
            <a:endParaRPr lang="en-GB" dirty="0">
              <a:solidFill>
                <a:prstClr val="black"/>
              </a:solidFill>
            </a:endParaRPr>
          </a:p>
          <a:p>
            <a:r>
              <a:rPr lang="en-GB" dirty="0">
                <a:solidFill>
                  <a:prstClr val="black"/>
                </a:solidFill>
              </a:rPr>
              <a:t>#include “</a:t>
            </a:r>
            <a:r>
              <a:rPr lang="en-GB" dirty="0" err="1">
                <a:solidFill>
                  <a:prstClr val="black"/>
                </a:solidFill>
              </a:rPr>
              <a:t>myDLL.h</a:t>
            </a:r>
            <a:r>
              <a:rPr lang="en-GB" dirty="0">
                <a:solidFill>
                  <a:prstClr val="black"/>
                </a:solidFill>
              </a:rPr>
              <a:t>"</a:t>
            </a:r>
          </a:p>
          <a:p>
            <a:endParaRPr lang="en-GB" dirty="0">
              <a:solidFill>
                <a:prstClr val="black"/>
              </a:solidFill>
            </a:endParaRPr>
          </a:p>
          <a:p>
            <a:r>
              <a:rPr lang="en-GB" dirty="0" err="1">
                <a:solidFill>
                  <a:prstClr val="black"/>
                </a:solidFill>
              </a:rPr>
              <a:t>int</a:t>
            </a:r>
            <a:r>
              <a:rPr lang="en-GB" dirty="0">
                <a:solidFill>
                  <a:prstClr val="black"/>
                </a:solidFill>
              </a:rPr>
              <a:t> main(){</a:t>
            </a:r>
          </a:p>
          <a:p>
            <a:r>
              <a:rPr lang="en-GB" dirty="0">
                <a:solidFill>
                  <a:prstClr val="black"/>
                </a:solidFill>
              </a:rPr>
              <a:t>    message();</a:t>
            </a:r>
          </a:p>
          <a:p>
            <a:r>
              <a:rPr lang="en-GB" dirty="0">
                <a:solidFill>
                  <a:prstClr val="black"/>
                </a:solidFill>
              </a:rPr>
              <a:t>    return 0;</a:t>
            </a:r>
          </a:p>
          <a:p>
            <a:r>
              <a:rPr lang="en-GB" dirty="0">
                <a:solidFill>
                  <a:prstClr val="black"/>
                </a:solidFill>
              </a:rPr>
              <a:t>}</a:t>
            </a:r>
          </a:p>
        </p:txBody>
      </p:sp>
    </p:spTree>
    <p:extLst>
      <p:ext uri="{BB962C8B-B14F-4D97-AF65-F5344CB8AC3E}">
        <p14:creationId xmlns:p14="http://schemas.microsoft.com/office/powerpoint/2010/main" val="18835971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DLL </a:t>
            </a:r>
            <a:r>
              <a:rPr lang="en-GB" dirty="0"/>
              <a:t>example</a:t>
            </a:r>
          </a:p>
        </p:txBody>
      </p:sp>
      <p:sp>
        <p:nvSpPr>
          <p:cNvPr id="3" name="Content Placeholder 2"/>
          <p:cNvSpPr>
            <a:spLocks noGrp="1"/>
          </p:cNvSpPr>
          <p:nvPr>
            <p:ph idx="1"/>
          </p:nvPr>
        </p:nvSpPr>
        <p:spPr/>
        <p:txBody>
          <a:bodyPr/>
          <a:lstStyle/>
          <a:p>
            <a:endParaRPr lang="en-GB"/>
          </a:p>
        </p:txBody>
      </p:sp>
      <p:sp>
        <p:nvSpPr>
          <p:cNvPr id="4" name="TextBox 3"/>
          <p:cNvSpPr txBox="1"/>
          <p:nvPr/>
        </p:nvSpPr>
        <p:spPr>
          <a:xfrm>
            <a:off x="179512" y="1196752"/>
            <a:ext cx="5029518" cy="3416320"/>
          </a:xfrm>
          <a:prstGeom prst="rect">
            <a:avLst/>
          </a:prstGeom>
          <a:solidFill>
            <a:schemeClr val="bg2"/>
          </a:solidFill>
          <a:ln>
            <a:solidFill>
              <a:schemeClr val="accent1"/>
            </a:solidFill>
          </a:ln>
        </p:spPr>
        <p:txBody>
          <a:bodyPr wrap="none" rtlCol="0">
            <a:spAutoFit/>
          </a:bodyPr>
          <a:lstStyle/>
          <a:p>
            <a:r>
              <a:rPr lang="en-GB" dirty="0">
                <a:solidFill>
                  <a:prstClr val="black"/>
                </a:solidFill>
              </a:rPr>
              <a:t>// File: </a:t>
            </a:r>
            <a:r>
              <a:rPr lang="en-GB" dirty="0" err="1">
                <a:solidFill>
                  <a:prstClr val="black"/>
                </a:solidFill>
              </a:rPr>
              <a:t>SampleDLL.h</a:t>
            </a:r>
            <a:endParaRPr lang="en-GB" dirty="0">
              <a:solidFill>
                <a:prstClr val="black"/>
              </a:solidFill>
            </a:endParaRPr>
          </a:p>
          <a:p>
            <a:r>
              <a:rPr lang="en-GB" dirty="0">
                <a:solidFill>
                  <a:prstClr val="black"/>
                </a:solidFill>
              </a:rPr>
              <a:t>//</a:t>
            </a:r>
          </a:p>
          <a:p>
            <a:r>
              <a:rPr lang="en-GB" dirty="0">
                <a:solidFill>
                  <a:prstClr val="black"/>
                </a:solidFill>
              </a:rPr>
              <a:t>#</a:t>
            </a:r>
            <a:r>
              <a:rPr lang="en-GB" dirty="0" err="1">
                <a:solidFill>
                  <a:prstClr val="black"/>
                </a:solidFill>
              </a:rPr>
              <a:t>ifndef</a:t>
            </a:r>
            <a:r>
              <a:rPr lang="en-GB" dirty="0">
                <a:solidFill>
                  <a:prstClr val="black"/>
                </a:solidFill>
              </a:rPr>
              <a:t> INDLL_H</a:t>
            </a:r>
          </a:p>
          <a:p>
            <a:r>
              <a:rPr lang="en-GB" dirty="0">
                <a:solidFill>
                  <a:prstClr val="black"/>
                </a:solidFill>
              </a:rPr>
              <a:t>#define INDLL_H</a:t>
            </a:r>
          </a:p>
          <a:p>
            <a:endParaRPr lang="en-GB" dirty="0">
              <a:solidFill>
                <a:prstClr val="black"/>
              </a:solidFill>
            </a:endParaRPr>
          </a:p>
          <a:p>
            <a:r>
              <a:rPr lang="en-GB" dirty="0">
                <a:solidFill>
                  <a:prstClr val="black"/>
                </a:solidFill>
              </a:rPr>
              <a:t>   #</a:t>
            </a:r>
            <a:r>
              <a:rPr lang="en-GB" dirty="0" err="1">
                <a:solidFill>
                  <a:prstClr val="black"/>
                </a:solidFill>
              </a:rPr>
              <a:t>ifdef</a:t>
            </a:r>
            <a:r>
              <a:rPr lang="en-GB" dirty="0">
                <a:solidFill>
                  <a:prstClr val="black"/>
                </a:solidFill>
              </a:rPr>
              <a:t> EXPORTING_DLL</a:t>
            </a:r>
          </a:p>
          <a:p>
            <a:r>
              <a:rPr lang="en-GB" dirty="0">
                <a:solidFill>
                  <a:prstClr val="black"/>
                </a:solidFill>
              </a:rPr>
              <a:t>      extern __</a:t>
            </a:r>
            <a:r>
              <a:rPr lang="en-GB" dirty="0" err="1">
                <a:solidFill>
                  <a:prstClr val="black"/>
                </a:solidFill>
              </a:rPr>
              <a:t>declspec</a:t>
            </a:r>
            <a:r>
              <a:rPr lang="en-GB" dirty="0">
                <a:solidFill>
                  <a:prstClr val="black"/>
                </a:solidFill>
              </a:rPr>
              <a:t>(</a:t>
            </a:r>
            <a:r>
              <a:rPr lang="en-GB" dirty="0" err="1">
                <a:solidFill>
                  <a:prstClr val="black"/>
                </a:solidFill>
              </a:rPr>
              <a:t>dllexport</a:t>
            </a:r>
            <a:r>
              <a:rPr lang="en-GB" dirty="0">
                <a:solidFill>
                  <a:prstClr val="black"/>
                </a:solidFill>
              </a:rPr>
              <a:t>) void HelloWorld() ;</a:t>
            </a:r>
          </a:p>
          <a:p>
            <a:r>
              <a:rPr lang="en-GB" dirty="0">
                <a:solidFill>
                  <a:prstClr val="black"/>
                </a:solidFill>
              </a:rPr>
              <a:t>   #else</a:t>
            </a:r>
          </a:p>
          <a:p>
            <a:r>
              <a:rPr lang="en-GB" dirty="0">
                <a:solidFill>
                  <a:prstClr val="black"/>
                </a:solidFill>
              </a:rPr>
              <a:t>      extern __</a:t>
            </a:r>
            <a:r>
              <a:rPr lang="en-GB" dirty="0" err="1">
                <a:solidFill>
                  <a:prstClr val="black"/>
                </a:solidFill>
              </a:rPr>
              <a:t>declspec</a:t>
            </a:r>
            <a:r>
              <a:rPr lang="en-GB" dirty="0">
                <a:solidFill>
                  <a:prstClr val="black"/>
                </a:solidFill>
              </a:rPr>
              <a:t>(</a:t>
            </a:r>
            <a:r>
              <a:rPr lang="en-GB" dirty="0" err="1">
                <a:solidFill>
                  <a:prstClr val="black"/>
                </a:solidFill>
              </a:rPr>
              <a:t>dllimport</a:t>
            </a:r>
            <a:r>
              <a:rPr lang="en-GB" dirty="0">
                <a:solidFill>
                  <a:prstClr val="black"/>
                </a:solidFill>
              </a:rPr>
              <a:t>) void HelloWorld() ;</a:t>
            </a:r>
          </a:p>
          <a:p>
            <a:r>
              <a:rPr lang="en-GB" dirty="0">
                <a:solidFill>
                  <a:prstClr val="black"/>
                </a:solidFill>
              </a:rPr>
              <a:t>   #</a:t>
            </a:r>
            <a:r>
              <a:rPr lang="en-GB" dirty="0" err="1">
                <a:solidFill>
                  <a:prstClr val="black"/>
                </a:solidFill>
              </a:rPr>
              <a:t>endif</a:t>
            </a:r>
            <a:endParaRPr lang="en-GB" dirty="0">
              <a:solidFill>
                <a:prstClr val="black"/>
              </a:solidFill>
            </a:endParaRPr>
          </a:p>
          <a:p>
            <a:endParaRPr lang="en-GB" dirty="0">
              <a:solidFill>
                <a:prstClr val="black"/>
              </a:solidFill>
            </a:endParaRPr>
          </a:p>
          <a:p>
            <a:r>
              <a:rPr lang="en-GB" dirty="0">
                <a:solidFill>
                  <a:prstClr val="black"/>
                </a:solidFill>
              </a:rPr>
              <a:t>#</a:t>
            </a:r>
            <a:r>
              <a:rPr lang="en-GB" dirty="0" err="1">
                <a:solidFill>
                  <a:prstClr val="black"/>
                </a:solidFill>
              </a:rPr>
              <a:t>endif</a:t>
            </a:r>
            <a:endParaRPr lang="en-GB" dirty="0">
              <a:solidFill>
                <a:prstClr val="black"/>
              </a:solidFill>
            </a:endParaRPr>
          </a:p>
        </p:txBody>
      </p:sp>
      <p:sp>
        <p:nvSpPr>
          <p:cNvPr id="5" name="TextBox 4"/>
          <p:cNvSpPr txBox="1"/>
          <p:nvPr/>
        </p:nvSpPr>
        <p:spPr>
          <a:xfrm>
            <a:off x="5209030" y="2950225"/>
            <a:ext cx="3934970" cy="3416320"/>
          </a:xfrm>
          <a:prstGeom prst="rect">
            <a:avLst/>
          </a:prstGeom>
          <a:solidFill>
            <a:schemeClr val="bg2"/>
          </a:solidFill>
          <a:ln>
            <a:solidFill>
              <a:schemeClr val="accent1"/>
            </a:solidFill>
          </a:ln>
        </p:spPr>
        <p:txBody>
          <a:bodyPr wrap="square" rtlCol="0">
            <a:spAutoFit/>
          </a:bodyPr>
          <a:lstStyle/>
          <a:p>
            <a:r>
              <a:rPr lang="en-GB" dirty="0">
                <a:solidFill>
                  <a:prstClr val="black"/>
                </a:solidFill>
              </a:rPr>
              <a:t>// SampleApp.cpp </a:t>
            </a:r>
          </a:p>
          <a:p>
            <a:endParaRPr lang="en-GB" dirty="0">
              <a:solidFill>
                <a:prstClr val="black"/>
              </a:solidFill>
            </a:endParaRPr>
          </a:p>
          <a:p>
            <a:r>
              <a:rPr lang="en-GB" dirty="0">
                <a:solidFill>
                  <a:prstClr val="black"/>
                </a:solidFill>
              </a:rPr>
              <a:t>#include "</a:t>
            </a:r>
            <a:r>
              <a:rPr lang="en-GB" dirty="0" err="1">
                <a:solidFill>
                  <a:prstClr val="black"/>
                </a:solidFill>
              </a:rPr>
              <a:t>stdafx.h</a:t>
            </a:r>
            <a:r>
              <a:rPr lang="en-GB" dirty="0">
                <a:solidFill>
                  <a:prstClr val="black"/>
                </a:solidFill>
              </a:rPr>
              <a:t>"</a:t>
            </a:r>
          </a:p>
          <a:p>
            <a:r>
              <a:rPr lang="en-GB" dirty="0">
                <a:solidFill>
                  <a:prstClr val="black"/>
                </a:solidFill>
              </a:rPr>
              <a:t>#include "</a:t>
            </a:r>
            <a:r>
              <a:rPr lang="en-GB" dirty="0" err="1">
                <a:solidFill>
                  <a:prstClr val="black"/>
                </a:solidFill>
              </a:rPr>
              <a:t>sampleDLL.h</a:t>
            </a:r>
            <a:r>
              <a:rPr lang="en-GB" dirty="0">
                <a:solidFill>
                  <a:prstClr val="black"/>
                </a:solidFill>
              </a:rPr>
              <a:t>"</a:t>
            </a:r>
          </a:p>
          <a:p>
            <a:endParaRPr lang="en-GB" dirty="0">
              <a:solidFill>
                <a:prstClr val="black"/>
              </a:solidFill>
            </a:endParaRPr>
          </a:p>
          <a:p>
            <a:r>
              <a:rPr lang="en-GB" dirty="0" err="1">
                <a:solidFill>
                  <a:prstClr val="black"/>
                </a:solidFill>
              </a:rPr>
              <a:t>int</a:t>
            </a:r>
            <a:r>
              <a:rPr lang="en-GB" dirty="0">
                <a:solidFill>
                  <a:prstClr val="black"/>
                </a:solidFill>
              </a:rPr>
              <a:t> APIENTRY </a:t>
            </a:r>
            <a:r>
              <a:rPr lang="en-GB" dirty="0" err="1">
                <a:solidFill>
                  <a:prstClr val="black"/>
                </a:solidFill>
              </a:rPr>
              <a:t>WinMain</a:t>
            </a:r>
            <a:r>
              <a:rPr lang="en-GB" dirty="0">
                <a:solidFill>
                  <a:prstClr val="black"/>
                </a:solidFill>
              </a:rPr>
              <a:t>(HINSTANCE </a:t>
            </a:r>
            <a:r>
              <a:rPr lang="en-GB" dirty="0" err="1">
                <a:solidFill>
                  <a:prstClr val="black"/>
                </a:solidFill>
              </a:rPr>
              <a:t>hInstance</a:t>
            </a:r>
            <a:r>
              <a:rPr lang="en-GB" dirty="0">
                <a:solidFill>
                  <a:prstClr val="black"/>
                </a:solidFill>
              </a:rPr>
              <a:t>, HINSTANCE </a:t>
            </a:r>
            <a:r>
              <a:rPr lang="en-GB" dirty="0" err="1">
                <a:solidFill>
                  <a:prstClr val="black"/>
                </a:solidFill>
              </a:rPr>
              <a:t>hPrevInstance</a:t>
            </a:r>
            <a:r>
              <a:rPr lang="en-GB" dirty="0">
                <a:solidFill>
                  <a:prstClr val="black"/>
                </a:solidFill>
              </a:rPr>
              <a:t>, LPSTR </a:t>
            </a:r>
            <a:r>
              <a:rPr lang="en-GB" dirty="0" err="1">
                <a:solidFill>
                  <a:prstClr val="black"/>
                </a:solidFill>
              </a:rPr>
              <a:t>lpCmdLine</a:t>
            </a:r>
            <a:r>
              <a:rPr lang="en-GB" dirty="0">
                <a:solidFill>
                  <a:prstClr val="black"/>
                </a:solidFill>
              </a:rPr>
              <a:t>, </a:t>
            </a:r>
            <a:r>
              <a:rPr lang="en-GB" dirty="0" err="1">
                <a:solidFill>
                  <a:prstClr val="black"/>
                </a:solidFill>
              </a:rPr>
              <a:t>int</a:t>
            </a:r>
            <a:r>
              <a:rPr lang="en-GB" dirty="0">
                <a:solidFill>
                  <a:prstClr val="black"/>
                </a:solidFill>
              </a:rPr>
              <a:t> </a:t>
            </a:r>
            <a:r>
              <a:rPr lang="en-GB" dirty="0" err="1">
                <a:solidFill>
                  <a:prstClr val="black"/>
                </a:solidFill>
              </a:rPr>
              <a:t>nCmdShow</a:t>
            </a:r>
            <a:r>
              <a:rPr lang="en-GB" dirty="0">
                <a:solidFill>
                  <a:prstClr val="black"/>
                </a:solidFill>
              </a:rPr>
              <a:t>)</a:t>
            </a:r>
          </a:p>
          <a:p>
            <a:r>
              <a:rPr lang="en-GB" dirty="0">
                <a:solidFill>
                  <a:prstClr val="black"/>
                </a:solidFill>
              </a:rPr>
              <a:t>{ 	</a:t>
            </a:r>
          </a:p>
          <a:p>
            <a:r>
              <a:rPr lang="en-GB" dirty="0">
                <a:solidFill>
                  <a:prstClr val="black"/>
                </a:solidFill>
              </a:rPr>
              <a:t>   HelloWorld();</a:t>
            </a:r>
          </a:p>
          <a:p>
            <a:r>
              <a:rPr lang="en-GB" dirty="0">
                <a:solidFill>
                  <a:prstClr val="black"/>
                </a:solidFill>
              </a:rPr>
              <a:t>   return 0;</a:t>
            </a:r>
          </a:p>
          <a:p>
            <a:r>
              <a:rPr lang="en-GB" dirty="0">
                <a:solidFill>
                  <a:prstClr val="black"/>
                </a:solidFill>
              </a:rPr>
              <a:t>}</a:t>
            </a:r>
          </a:p>
        </p:txBody>
      </p:sp>
    </p:spTree>
    <p:extLst>
      <p:ext uri="{BB962C8B-B14F-4D97-AF65-F5344CB8AC3E}">
        <p14:creationId xmlns:p14="http://schemas.microsoft.com/office/powerpoint/2010/main" val="33683017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Exercise</a:t>
            </a:r>
            <a:endParaRPr lang="en-GB" dirty="0"/>
          </a:p>
        </p:txBody>
      </p:sp>
      <p:sp>
        <p:nvSpPr>
          <p:cNvPr id="3" name="Content Placeholder 2"/>
          <p:cNvSpPr>
            <a:spLocks noGrp="1"/>
          </p:cNvSpPr>
          <p:nvPr>
            <p:ph idx="1"/>
          </p:nvPr>
        </p:nvSpPr>
        <p:spPr/>
        <p:txBody>
          <a:bodyPr>
            <a:normAutofit fontScale="92500" lnSpcReduction="20000"/>
          </a:bodyPr>
          <a:lstStyle/>
          <a:p>
            <a:r>
              <a:rPr lang="en-US" dirty="0" smtClean="0"/>
              <a:t>Write an API code to execute a program when Windows OS start</a:t>
            </a:r>
          </a:p>
          <a:p>
            <a:pPr lvl="1"/>
            <a:r>
              <a:rPr lang="en-US" dirty="0" smtClean="0"/>
              <a:t>API-&gt; Registry</a:t>
            </a:r>
          </a:p>
          <a:p>
            <a:pPr lvl="1"/>
            <a:r>
              <a:rPr lang="en-US" dirty="0" smtClean="0"/>
              <a:t>HKLM\Software\Microsoft\Windows\</a:t>
            </a:r>
            <a:r>
              <a:rPr lang="en-US" dirty="0" err="1" smtClean="0"/>
              <a:t>CurrentVersion</a:t>
            </a:r>
            <a:r>
              <a:rPr lang="en-US" dirty="0" smtClean="0"/>
              <a:t>\Run\</a:t>
            </a:r>
            <a:r>
              <a:rPr lang="en-US" dirty="0" err="1" smtClean="0"/>
              <a:t>MyKey</a:t>
            </a:r>
            <a:endParaRPr lang="en-US" dirty="0" smtClean="0"/>
          </a:p>
          <a:p>
            <a:pPr lvl="1"/>
            <a:r>
              <a:rPr lang="en-US" dirty="0" smtClean="0"/>
              <a:t>Name: </a:t>
            </a:r>
            <a:r>
              <a:rPr lang="en-US" dirty="0" err="1" smtClean="0">
                <a:effectLst>
                  <a:outerShdw blurRad="38100" dist="38100" dir="2700000" algn="tl">
                    <a:srgbClr val="000000">
                      <a:alpha val="43137"/>
                    </a:srgbClr>
                  </a:outerShdw>
                </a:effectLst>
              </a:rPr>
              <a:t>myProgram</a:t>
            </a:r>
            <a:endParaRPr lang="en-US" dirty="0" smtClean="0">
              <a:effectLst>
                <a:outerShdw blurRad="38100" dist="38100" dir="2700000" algn="tl">
                  <a:srgbClr val="000000">
                    <a:alpha val="43137"/>
                  </a:srgbClr>
                </a:outerShdw>
              </a:effectLst>
            </a:endParaRPr>
          </a:p>
          <a:p>
            <a:pPr lvl="1"/>
            <a:r>
              <a:rPr lang="en-US" dirty="0" smtClean="0"/>
              <a:t>Run</a:t>
            </a:r>
            <a:r>
              <a:rPr lang="en-US" dirty="0" smtClean="0">
                <a:effectLst>
                  <a:outerShdw blurRad="38100" dist="38100" dir="2700000" algn="tl">
                    <a:srgbClr val="000000">
                      <a:alpha val="43137"/>
                    </a:srgbClr>
                  </a:outerShdw>
                </a:effectLst>
              </a:rPr>
              <a:t>: c:\Windows\notepad.exe</a:t>
            </a:r>
          </a:p>
          <a:p>
            <a:pPr lvl="1"/>
            <a:r>
              <a:rPr lang="en-US" dirty="0" err="1" smtClean="0">
                <a:effectLst>
                  <a:outerShdw blurRad="38100" dist="38100" dir="2700000" algn="tl">
                    <a:srgbClr val="000000">
                      <a:alpha val="43137"/>
                    </a:srgbClr>
                  </a:outerShdw>
                </a:effectLst>
              </a:rPr>
              <a:t>OpenKey</a:t>
            </a:r>
            <a:endParaRPr lang="en-US" dirty="0" smtClean="0">
              <a:effectLst>
                <a:outerShdw blurRad="38100" dist="38100" dir="2700000" algn="tl">
                  <a:srgbClr val="000000">
                    <a:alpha val="43137"/>
                  </a:srgbClr>
                </a:outerShdw>
              </a:effectLst>
            </a:endParaRPr>
          </a:p>
          <a:p>
            <a:pPr lvl="1"/>
            <a:r>
              <a:rPr lang="en-US" dirty="0" err="1" smtClean="0">
                <a:effectLst>
                  <a:outerShdw blurRad="38100" dist="38100" dir="2700000" algn="tl">
                    <a:srgbClr val="000000">
                      <a:alpha val="43137"/>
                    </a:srgbClr>
                  </a:outerShdw>
                </a:effectLst>
              </a:rPr>
              <a:t>RegSetValue</a:t>
            </a:r>
            <a:endParaRPr lang="en-US" dirty="0" smtClean="0">
              <a:effectLst>
                <a:outerShdw blurRad="38100" dist="38100" dir="2700000" algn="tl">
                  <a:srgbClr val="000000">
                    <a:alpha val="43137"/>
                  </a:srgbClr>
                </a:outerShdw>
              </a:effectLst>
            </a:endParaRPr>
          </a:p>
          <a:p>
            <a:pPr lvl="1"/>
            <a:r>
              <a:rPr lang="en-US" dirty="0" err="1" smtClean="0">
                <a:effectLst>
                  <a:outerShdw blurRad="38100" dist="38100" dir="2700000" algn="tl">
                    <a:srgbClr val="000000">
                      <a:alpha val="43137"/>
                    </a:srgbClr>
                  </a:outerShdw>
                </a:effectLst>
              </a:rPr>
              <a:t>CloseKey</a:t>
            </a:r>
            <a:endParaRPr lang="en-US" dirty="0" smtClean="0">
              <a:effectLst>
                <a:outerShdw blurRad="38100" dist="38100" dir="2700000" algn="tl">
                  <a:srgbClr val="000000">
                    <a:alpha val="43137"/>
                  </a:srgbClr>
                </a:outerShdw>
              </a:effectLst>
            </a:endParaRPr>
          </a:p>
          <a:p>
            <a:r>
              <a:rPr lang="en-US" dirty="0" smtClean="0"/>
              <a:t>Write a DLL to export a function to multiply, divide, add, subtract 2 numbers</a:t>
            </a:r>
            <a:endParaRPr lang="en-GB" dirty="0"/>
          </a:p>
        </p:txBody>
      </p:sp>
    </p:spTree>
    <p:extLst>
      <p:ext uri="{BB962C8B-B14F-4D97-AF65-F5344CB8AC3E}">
        <p14:creationId xmlns:p14="http://schemas.microsoft.com/office/powerpoint/2010/main" val="33943018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normAutofit lnSpcReduction="10000"/>
          </a:bodyPr>
          <a:lstStyle/>
          <a:p>
            <a:r>
              <a:rPr lang="en-GB" b="1" dirty="0"/>
              <a:t>P</a:t>
            </a:r>
            <a:r>
              <a:rPr lang="en-GB" b="1" dirty="0" smtClean="0"/>
              <a:t>rocess</a:t>
            </a:r>
          </a:p>
          <a:p>
            <a:pPr lvl="1"/>
            <a:r>
              <a:rPr lang="en-GB" dirty="0"/>
              <a:t>Malware can also execute code outside the current program by creating a </a:t>
            </a:r>
            <a:r>
              <a:rPr lang="en-GB" dirty="0" smtClean="0">
                <a:effectLst>
                  <a:outerShdw blurRad="38100" dist="38100" dir="2700000" algn="tl">
                    <a:srgbClr val="000000">
                      <a:alpha val="43137"/>
                    </a:srgbClr>
                  </a:outerShdw>
                </a:effectLst>
              </a:rPr>
              <a:t>new process </a:t>
            </a:r>
            <a:r>
              <a:rPr lang="en-GB" dirty="0"/>
              <a:t>or </a:t>
            </a:r>
            <a:r>
              <a:rPr lang="en-GB" dirty="0">
                <a:effectLst>
                  <a:outerShdw blurRad="38100" dist="38100" dir="2700000" algn="tl">
                    <a:srgbClr val="000000">
                      <a:alpha val="43137"/>
                    </a:srgbClr>
                  </a:outerShdw>
                </a:effectLst>
              </a:rPr>
              <a:t>modifying an existing </a:t>
            </a:r>
            <a:r>
              <a:rPr lang="en-GB" dirty="0" smtClean="0">
                <a:effectLst>
                  <a:outerShdw blurRad="38100" dist="38100" dir="2700000" algn="tl">
                    <a:srgbClr val="000000">
                      <a:alpha val="43137"/>
                    </a:srgbClr>
                  </a:outerShdw>
                </a:effectLst>
              </a:rPr>
              <a:t>one</a:t>
            </a:r>
            <a:r>
              <a:rPr lang="en-GB" dirty="0" smtClean="0"/>
              <a:t>.</a:t>
            </a:r>
          </a:p>
          <a:p>
            <a:pPr lvl="1"/>
            <a:r>
              <a:rPr lang="en-GB" dirty="0"/>
              <a:t>A process contains one or more </a:t>
            </a:r>
            <a:r>
              <a:rPr lang="en-GB" dirty="0">
                <a:effectLst>
                  <a:outerShdw blurRad="38100" dist="38100" dir="2700000" algn="tl">
                    <a:srgbClr val="000000">
                      <a:alpha val="43137"/>
                    </a:srgbClr>
                  </a:outerShdw>
                </a:effectLst>
              </a:rPr>
              <a:t>threads</a:t>
            </a:r>
            <a:r>
              <a:rPr lang="en-GB" dirty="0"/>
              <a:t> that are executed </a:t>
            </a:r>
            <a:r>
              <a:rPr lang="en-GB" dirty="0" smtClean="0"/>
              <a:t>by the CPU.</a:t>
            </a:r>
          </a:p>
          <a:p>
            <a:pPr lvl="1"/>
            <a:r>
              <a:rPr lang="en-GB" dirty="0" smtClean="0"/>
              <a:t>Malware: </a:t>
            </a:r>
          </a:p>
          <a:p>
            <a:pPr lvl="2"/>
            <a:r>
              <a:rPr lang="en-GB" dirty="0"/>
              <a:t>O</a:t>
            </a:r>
            <a:r>
              <a:rPr lang="en-GB" dirty="0" smtClean="0"/>
              <a:t>wn </a:t>
            </a:r>
            <a:r>
              <a:rPr lang="en-GB" dirty="0"/>
              <a:t>independent </a:t>
            </a:r>
            <a:r>
              <a:rPr lang="en-GB" dirty="0" smtClean="0"/>
              <a:t>process</a:t>
            </a:r>
            <a:r>
              <a:rPr lang="en-GB" dirty="0"/>
              <a:t> </a:t>
            </a:r>
            <a:r>
              <a:rPr lang="en-GB" dirty="0" smtClean="0"/>
              <a:t>(Traditionally)</a:t>
            </a:r>
            <a:endParaRPr lang="en-GB" dirty="0"/>
          </a:p>
          <a:p>
            <a:pPr lvl="2"/>
            <a:r>
              <a:rPr lang="en-GB" dirty="0" smtClean="0"/>
              <a:t>Executes as </a:t>
            </a:r>
            <a:r>
              <a:rPr lang="en-GB" dirty="0"/>
              <a:t>part of </a:t>
            </a:r>
            <a:r>
              <a:rPr lang="en-GB" dirty="0" smtClean="0"/>
              <a:t>another process (Newer malware).</a:t>
            </a:r>
          </a:p>
          <a:p>
            <a:pPr lvl="1"/>
            <a:r>
              <a:rPr lang="en-GB" dirty="0" smtClean="0"/>
              <a:t>API commands: </a:t>
            </a:r>
            <a:r>
              <a:rPr lang="en-GB" dirty="0" err="1" smtClean="0">
                <a:effectLst>
                  <a:outerShdw blurRad="38100" dist="38100" dir="2700000" algn="tl">
                    <a:srgbClr val="000000">
                      <a:alpha val="43137"/>
                    </a:srgbClr>
                  </a:outerShdw>
                </a:effectLst>
                <a:latin typeface="Agency FB" panose="020B0503020202020204" pitchFamily="34" charset="0"/>
              </a:rPr>
              <a:t>CreateProcess</a:t>
            </a:r>
            <a:r>
              <a:rPr lang="en-GB" dirty="0" smtClean="0">
                <a:effectLst>
                  <a:outerShdw blurRad="38100" dist="38100" dir="2700000" algn="tl">
                    <a:srgbClr val="000000">
                      <a:alpha val="43137"/>
                    </a:srgbClr>
                  </a:outerShdw>
                </a:effectLst>
                <a:latin typeface="Agency FB" panose="020B0503020202020204" pitchFamily="34" charset="0"/>
              </a:rPr>
              <a:t>; </a:t>
            </a:r>
            <a:r>
              <a:rPr lang="en-GB" dirty="0" err="1" smtClean="0">
                <a:effectLst>
                  <a:outerShdw blurRad="38100" dist="38100" dir="2700000" algn="tl">
                    <a:srgbClr val="000000">
                      <a:alpha val="43137"/>
                    </a:srgbClr>
                  </a:outerShdw>
                </a:effectLst>
                <a:latin typeface="Agency FB" panose="020B0503020202020204" pitchFamily="34" charset="0"/>
              </a:rPr>
              <a:t>GetCurrentProcess</a:t>
            </a:r>
            <a:r>
              <a:rPr lang="en-GB" dirty="0" smtClean="0">
                <a:effectLst>
                  <a:outerShdw blurRad="38100" dist="38100" dir="2700000" algn="tl">
                    <a:srgbClr val="000000">
                      <a:alpha val="43137"/>
                    </a:srgbClr>
                  </a:outerShdw>
                </a:effectLst>
                <a:latin typeface="Agency FB" panose="020B0503020202020204" pitchFamily="34" charset="0"/>
              </a:rPr>
              <a:t>; </a:t>
            </a:r>
            <a:r>
              <a:rPr lang="en-GB" dirty="0" err="1" smtClean="0">
                <a:effectLst>
                  <a:outerShdw blurRad="38100" dist="38100" dir="2700000" algn="tl">
                    <a:srgbClr val="000000">
                      <a:alpha val="43137"/>
                    </a:srgbClr>
                  </a:outerShdw>
                </a:effectLst>
                <a:latin typeface="Agency FB" panose="020B0503020202020204" pitchFamily="34" charset="0"/>
              </a:rPr>
              <a:t>OpenProcess</a:t>
            </a:r>
            <a:endParaRPr lang="en-GB" dirty="0">
              <a:effectLst>
                <a:outerShdw blurRad="38100" dist="38100" dir="2700000" algn="tl">
                  <a:srgbClr val="000000">
                    <a:alpha val="43137"/>
                  </a:srgbClr>
                </a:outerShdw>
              </a:effectLst>
              <a:latin typeface="Agency FB" panose="020B0503020202020204" pitchFamily="34" charset="0"/>
            </a:endParaRPr>
          </a:p>
        </p:txBody>
      </p:sp>
    </p:spTree>
    <p:extLst>
      <p:ext uri="{BB962C8B-B14F-4D97-AF65-F5344CB8AC3E}">
        <p14:creationId xmlns:p14="http://schemas.microsoft.com/office/powerpoint/2010/main" val="28725340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268760"/>
            <a:ext cx="5760640" cy="5265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93038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normAutofit/>
          </a:bodyPr>
          <a:lstStyle/>
          <a:p>
            <a:r>
              <a:rPr lang="en-GB" b="1" dirty="0" smtClean="0"/>
              <a:t>Thread</a:t>
            </a:r>
          </a:p>
          <a:p>
            <a:pPr lvl="1"/>
            <a:r>
              <a:rPr lang="en-GB" dirty="0"/>
              <a:t>Processes are the container for execution, but threads are what the </a:t>
            </a:r>
            <a:r>
              <a:rPr lang="en-GB" dirty="0" smtClean="0"/>
              <a:t>Windows OS </a:t>
            </a:r>
            <a:r>
              <a:rPr lang="en-GB" dirty="0"/>
              <a:t>executes</a:t>
            </a:r>
            <a:r>
              <a:rPr lang="en-GB" dirty="0" smtClean="0"/>
              <a:t>.</a:t>
            </a:r>
          </a:p>
          <a:p>
            <a:pPr lvl="1"/>
            <a:r>
              <a:rPr lang="en-GB" dirty="0" smtClean="0"/>
              <a:t>To create a new thread </a:t>
            </a:r>
            <a:r>
              <a:rPr lang="en-GB" dirty="0" err="1" smtClean="0">
                <a:effectLst>
                  <a:outerShdw blurRad="38100" dist="38100" dir="2700000" algn="tl">
                    <a:srgbClr val="000000">
                      <a:alpha val="43137"/>
                    </a:srgbClr>
                  </a:outerShdw>
                </a:effectLst>
                <a:latin typeface="Agency FB" panose="020B0503020202020204" pitchFamily="34" charset="0"/>
              </a:rPr>
              <a:t>CreateThread</a:t>
            </a:r>
            <a:r>
              <a:rPr lang="en-GB" dirty="0" smtClean="0">
                <a:effectLst>
                  <a:outerShdw blurRad="38100" dist="38100" dir="2700000" algn="tl">
                    <a:srgbClr val="000000">
                      <a:alpha val="43137"/>
                    </a:srgbClr>
                  </a:outerShdw>
                </a:effectLst>
                <a:latin typeface="Agency FB" panose="020B0503020202020204" pitchFamily="34" charset="0"/>
              </a:rPr>
              <a:t>, CreateToolhelp32Snapshot</a:t>
            </a:r>
            <a:r>
              <a:rPr lang="en-GB" dirty="0">
                <a:effectLst>
                  <a:outerShdw blurRad="38100" dist="38100" dir="2700000" algn="tl">
                    <a:srgbClr val="000000">
                      <a:alpha val="43137"/>
                    </a:srgbClr>
                  </a:outerShdw>
                </a:effectLst>
                <a:latin typeface="Agency FB" panose="020B0503020202020204" pitchFamily="34" charset="0"/>
              </a:rPr>
              <a:t>, Thread32First, Thread32Next</a:t>
            </a:r>
          </a:p>
        </p:txBody>
      </p:sp>
      <p:pic>
        <p:nvPicPr>
          <p:cNvPr id="614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0637" y="4005064"/>
            <a:ext cx="4716142" cy="2719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6110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lstStyle/>
          <a:p>
            <a:pPr lvl="2"/>
            <a:endParaRPr lang="en-GB"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124744"/>
            <a:ext cx="6274914" cy="5320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3366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lstStyle/>
          <a:p>
            <a:r>
              <a:rPr lang="en-GB" dirty="0"/>
              <a:t>Malware can use </a:t>
            </a:r>
            <a:r>
              <a:rPr lang="en-GB" dirty="0" err="1">
                <a:latin typeface="Agency FB" panose="020B0503020202020204" pitchFamily="34" charset="0"/>
              </a:rPr>
              <a:t>CreateThread</a:t>
            </a:r>
            <a:r>
              <a:rPr lang="en-GB" dirty="0"/>
              <a:t> in multiple ways:</a:t>
            </a:r>
            <a:endParaRPr lang="en-GB" dirty="0" smtClean="0"/>
          </a:p>
          <a:p>
            <a:pPr lvl="1"/>
            <a:r>
              <a:rPr lang="en-GB" dirty="0" smtClean="0"/>
              <a:t>Load </a:t>
            </a:r>
            <a:r>
              <a:rPr lang="en-GB" dirty="0"/>
              <a:t>a new malicious library into a process</a:t>
            </a:r>
            <a:endParaRPr lang="en-GB" dirty="0" smtClean="0"/>
          </a:p>
          <a:p>
            <a:pPr lvl="1"/>
            <a:r>
              <a:rPr lang="en-GB" dirty="0" smtClean="0"/>
              <a:t>Create </a:t>
            </a:r>
            <a:r>
              <a:rPr lang="en-GB" dirty="0"/>
              <a:t>two new threads for input and </a:t>
            </a:r>
            <a:r>
              <a:rPr lang="en-GB" dirty="0" smtClean="0"/>
              <a:t>output</a:t>
            </a:r>
          </a:p>
          <a:p>
            <a:pPr lvl="2"/>
            <a:r>
              <a:rPr lang="en-GB" dirty="0" smtClean="0"/>
              <a:t>One </a:t>
            </a:r>
            <a:r>
              <a:rPr lang="en-GB" dirty="0"/>
              <a:t>to </a:t>
            </a:r>
            <a:r>
              <a:rPr lang="en-GB" dirty="0" smtClean="0"/>
              <a:t>listen on </a:t>
            </a:r>
            <a:r>
              <a:rPr lang="en-GB" dirty="0"/>
              <a:t>a socket or pipe</a:t>
            </a:r>
            <a:r>
              <a:rPr lang="en-GB" dirty="0" smtClean="0"/>
              <a:t> </a:t>
            </a:r>
            <a:r>
              <a:rPr lang="en-GB" dirty="0" smtClean="0">
                <a:sym typeface="Wingdings" panose="05000000000000000000" pitchFamily="2" charset="2"/>
              </a:rPr>
              <a:t></a:t>
            </a:r>
            <a:r>
              <a:rPr lang="en-GB" dirty="0" smtClean="0"/>
              <a:t> </a:t>
            </a:r>
            <a:r>
              <a:rPr lang="en-GB" dirty="0"/>
              <a:t>output that to standard input of a </a:t>
            </a:r>
            <a:r>
              <a:rPr lang="en-GB" dirty="0" smtClean="0"/>
              <a:t>process.</a:t>
            </a:r>
          </a:p>
          <a:p>
            <a:pPr lvl="2"/>
            <a:r>
              <a:rPr lang="en-GB" dirty="0" smtClean="0"/>
              <a:t>One to read </a:t>
            </a:r>
            <a:r>
              <a:rPr lang="en-GB" dirty="0"/>
              <a:t>from standard output </a:t>
            </a:r>
            <a:r>
              <a:rPr lang="en-GB" dirty="0" smtClean="0">
                <a:sym typeface="Wingdings" panose="05000000000000000000" pitchFamily="2" charset="2"/>
              </a:rPr>
              <a:t> </a:t>
            </a:r>
            <a:r>
              <a:rPr lang="en-GB" dirty="0" smtClean="0"/>
              <a:t>send </a:t>
            </a:r>
            <a:r>
              <a:rPr lang="en-GB" dirty="0"/>
              <a:t>that to a socket </a:t>
            </a:r>
            <a:r>
              <a:rPr lang="en-GB" dirty="0" smtClean="0"/>
              <a:t>or pipe</a:t>
            </a:r>
            <a:r>
              <a:rPr lang="en-GB" dirty="0"/>
              <a:t>.</a:t>
            </a:r>
            <a:endParaRPr lang="en-GB" dirty="0" smtClean="0"/>
          </a:p>
          <a:p>
            <a:endParaRPr lang="en-GB" dirty="0"/>
          </a:p>
        </p:txBody>
      </p:sp>
    </p:spTree>
    <p:extLst>
      <p:ext uri="{BB962C8B-B14F-4D97-AF65-F5344CB8AC3E}">
        <p14:creationId xmlns:p14="http://schemas.microsoft.com/office/powerpoint/2010/main" val="9866313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a:xfrm>
            <a:off x="251520" y="1196752"/>
            <a:ext cx="8784976" cy="5112568"/>
          </a:xfrm>
        </p:spPr>
        <p:txBody>
          <a:bodyPr>
            <a:normAutofit/>
          </a:bodyPr>
          <a:lstStyle/>
          <a:p>
            <a:r>
              <a:rPr lang="en-GB" b="1" dirty="0" err="1" smtClean="0"/>
              <a:t>Mutex</a:t>
            </a:r>
            <a:r>
              <a:rPr lang="en-GB" dirty="0" smtClean="0"/>
              <a:t> (Mutant)</a:t>
            </a:r>
            <a:endParaRPr lang="en-GB" dirty="0"/>
          </a:p>
          <a:p>
            <a:pPr lvl="1"/>
            <a:r>
              <a:rPr lang="en-GB" dirty="0" err="1"/>
              <a:t>Mutexes</a:t>
            </a:r>
            <a:r>
              <a:rPr lang="en-GB" dirty="0"/>
              <a:t> are global objects that coordinate multiple </a:t>
            </a:r>
            <a:r>
              <a:rPr lang="en-GB" dirty="0" smtClean="0"/>
              <a:t>processes and </a:t>
            </a:r>
            <a:r>
              <a:rPr lang="en-GB" dirty="0"/>
              <a:t>threads</a:t>
            </a:r>
            <a:r>
              <a:rPr lang="en-GB" dirty="0" smtClean="0"/>
              <a:t>.</a:t>
            </a:r>
          </a:p>
          <a:p>
            <a:pPr lvl="2"/>
            <a:r>
              <a:rPr lang="en-GB" dirty="0" smtClean="0"/>
              <a:t>E.g. A </a:t>
            </a:r>
            <a:r>
              <a:rPr lang="en-GB" i="1" dirty="0" err="1" smtClean="0"/>
              <a:t>mutex</a:t>
            </a:r>
            <a:r>
              <a:rPr lang="en-GB" dirty="0" smtClean="0"/>
              <a:t> can control access of 2 threads to the memory.</a:t>
            </a:r>
          </a:p>
          <a:p>
            <a:pPr lvl="1"/>
            <a:r>
              <a:rPr lang="en-GB" dirty="0" smtClean="0"/>
              <a:t>Only </a:t>
            </a:r>
            <a:r>
              <a:rPr lang="en-GB" dirty="0"/>
              <a:t>one thread can own a </a:t>
            </a:r>
            <a:r>
              <a:rPr lang="en-GB" dirty="0" err="1"/>
              <a:t>mutex</a:t>
            </a:r>
            <a:r>
              <a:rPr lang="en-GB" dirty="0"/>
              <a:t> at a </a:t>
            </a:r>
            <a:r>
              <a:rPr lang="en-GB" dirty="0" smtClean="0"/>
              <a:t>time</a:t>
            </a:r>
          </a:p>
          <a:p>
            <a:pPr lvl="1"/>
            <a:r>
              <a:rPr lang="en-GB" dirty="0" err="1" smtClean="0"/>
              <a:t>Mutex</a:t>
            </a:r>
            <a:r>
              <a:rPr lang="en-GB" dirty="0" smtClean="0"/>
              <a:t> calls:</a:t>
            </a:r>
          </a:p>
          <a:p>
            <a:pPr lvl="2"/>
            <a:r>
              <a:rPr lang="en-GB" dirty="0" err="1" smtClean="0">
                <a:latin typeface="Agency FB" panose="020B0503020202020204" pitchFamily="34" charset="0"/>
              </a:rPr>
              <a:t>WaitForSingleObject</a:t>
            </a:r>
            <a:r>
              <a:rPr lang="en-GB" dirty="0" smtClean="0">
                <a:latin typeface="Agency FB" panose="020B0503020202020204" pitchFamily="34" charset="0"/>
              </a:rPr>
              <a:t>: </a:t>
            </a:r>
            <a:r>
              <a:rPr lang="en-GB" dirty="0">
                <a:latin typeface="+mj-lt"/>
                <a:cs typeface="Times New Roman" panose="02020603050405020304" pitchFamily="18" charset="0"/>
              </a:rPr>
              <a:t>thread gains access to the </a:t>
            </a:r>
            <a:r>
              <a:rPr lang="en-GB" dirty="0" err="1" smtClean="0">
                <a:latin typeface="+mj-lt"/>
                <a:cs typeface="Times New Roman" panose="02020603050405020304" pitchFamily="18" charset="0"/>
              </a:rPr>
              <a:t>mutex</a:t>
            </a:r>
            <a:r>
              <a:rPr lang="en-GB" dirty="0" smtClean="0">
                <a:latin typeface="+mj-lt"/>
                <a:cs typeface="Times New Roman" panose="02020603050405020304" pitchFamily="18" charset="0"/>
              </a:rPr>
              <a:t>.</a:t>
            </a:r>
          </a:p>
          <a:p>
            <a:pPr lvl="2"/>
            <a:r>
              <a:rPr lang="en-GB" dirty="0" err="1" smtClean="0">
                <a:latin typeface="Agency FB" panose="020B0503020202020204" pitchFamily="34" charset="0"/>
              </a:rPr>
              <a:t>ReleaseMutex</a:t>
            </a:r>
            <a:r>
              <a:rPr lang="en-GB" dirty="0" smtClean="0">
                <a:latin typeface="Agency FB" panose="020B0503020202020204" pitchFamily="34" charset="0"/>
              </a:rPr>
              <a:t>: </a:t>
            </a:r>
            <a:r>
              <a:rPr lang="en-GB" dirty="0">
                <a:latin typeface="+mj-lt"/>
                <a:cs typeface="Times New Roman" panose="02020603050405020304" pitchFamily="18" charset="0"/>
              </a:rPr>
              <a:t>thread is finished using a </a:t>
            </a:r>
            <a:r>
              <a:rPr lang="en-GB" dirty="0" err="1">
                <a:latin typeface="+mj-lt"/>
                <a:cs typeface="Times New Roman" panose="02020603050405020304" pitchFamily="18" charset="0"/>
              </a:rPr>
              <a:t>mutex</a:t>
            </a:r>
            <a:endParaRPr lang="en-GB" dirty="0">
              <a:latin typeface="+mj-lt"/>
              <a:cs typeface="Times New Roman" panose="02020603050405020304" pitchFamily="18" charset="0"/>
            </a:endParaRPr>
          </a:p>
          <a:p>
            <a:pPr lvl="2"/>
            <a:r>
              <a:rPr lang="en-GB" dirty="0" err="1" smtClean="0">
                <a:effectLst>
                  <a:outerShdw blurRad="38100" dist="38100" dir="2700000" algn="tl">
                    <a:srgbClr val="000000">
                      <a:alpha val="43137"/>
                    </a:srgbClr>
                  </a:outerShdw>
                </a:effectLst>
                <a:latin typeface="Agency FB" panose="020B0503020202020204" pitchFamily="34" charset="0"/>
              </a:rPr>
              <a:t>CreateMutex</a:t>
            </a:r>
            <a:r>
              <a:rPr lang="en-GB" dirty="0" smtClean="0">
                <a:latin typeface="Agency FB" panose="020B0503020202020204" pitchFamily="34" charset="0"/>
              </a:rPr>
              <a:t>: </a:t>
            </a:r>
            <a:r>
              <a:rPr lang="en-GB" dirty="0">
                <a:latin typeface="+mj-lt"/>
                <a:cs typeface="Times New Roman" panose="02020603050405020304" pitchFamily="18" charset="0"/>
              </a:rPr>
              <a:t>A </a:t>
            </a:r>
            <a:r>
              <a:rPr lang="en-GB" dirty="0" err="1">
                <a:latin typeface="+mj-lt"/>
                <a:cs typeface="Times New Roman" panose="02020603050405020304" pitchFamily="18" charset="0"/>
              </a:rPr>
              <a:t>mutex</a:t>
            </a:r>
            <a:r>
              <a:rPr lang="en-GB" dirty="0">
                <a:latin typeface="+mj-lt"/>
                <a:cs typeface="Times New Roman" panose="02020603050405020304" pitchFamily="18" charset="0"/>
              </a:rPr>
              <a:t> </a:t>
            </a:r>
            <a:r>
              <a:rPr lang="en-GB" dirty="0" smtClean="0">
                <a:latin typeface="+mj-lt"/>
                <a:cs typeface="Times New Roman" panose="02020603050405020304" pitchFamily="18" charset="0"/>
              </a:rPr>
              <a:t>is created</a:t>
            </a:r>
            <a:endParaRPr lang="en-GB" dirty="0">
              <a:latin typeface="+mj-lt"/>
              <a:cs typeface="Times New Roman" panose="02020603050405020304" pitchFamily="18" charset="0"/>
            </a:endParaRPr>
          </a:p>
          <a:p>
            <a:pPr lvl="2"/>
            <a:r>
              <a:rPr lang="en-GB" dirty="0" err="1" smtClean="0">
                <a:latin typeface="Agency FB" panose="020B0503020202020204" pitchFamily="34" charset="0"/>
              </a:rPr>
              <a:t>OpenMutex</a:t>
            </a:r>
            <a:r>
              <a:rPr lang="en-GB" dirty="0" smtClean="0">
                <a:latin typeface="Agency FB" panose="020B0503020202020204" pitchFamily="34" charset="0"/>
              </a:rPr>
              <a:t>: </a:t>
            </a:r>
            <a:r>
              <a:rPr lang="en-GB" dirty="0" smtClean="0">
                <a:latin typeface="+mj-lt"/>
                <a:cs typeface="Times New Roman" panose="02020603050405020304" pitchFamily="18" charset="0"/>
              </a:rPr>
              <a:t>Allow one </a:t>
            </a:r>
            <a:r>
              <a:rPr lang="en-GB" dirty="0">
                <a:latin typeface="+mj-lt"/>
                <a:cs typeface="Times New Roman" panose="02020603050405020304" pitchFamily="18" charset="0"/>
              </a:rPr>
              <a:t>process </a:t>
            </a:r>
            <a:r>
              <a:rPr lang="en-GB" dirty="0" smtClean="0">
                <a:latin typeface="+mj-lt"/>
                <a:cs typeface="Times New Roman" panose="02020603050405020304" pitchFamily="18" charset="0"/>
              </a:rPr>
              <a:t>can get </a:t>
            </a:r>
            <a:r>
              <a:rPr lang="en-GB" dirty="0">
                <a:latin typeface="+mj-lt"/>
                <a:cs typeface="Times New Roman" panose="02020603050405020304" pitchFamily="18" charset="0"/>
              </a:rPr>
              <a:t>a handle to another process’s </a:t>
            </a:r>
            <a:r>
              <a:rPr lang="en-GB" dirty="0" err="1">
                <a:latin typeface="+mj-lt"/>
                <a:cs typeface="Times New Roman" panose="02020603050405020304" pitchFamily="18" charset="0"/>
              </a:rPr>
              <a:t>mutex</a:t>
            </a:r>
            <a:endParaRPr lang="en-GB" dirty="0">
              <a:latin typeface="Agency FB" panose="020B0503020202020204" pitchFamily="34" charset="0"/>
            </a:endParaRPr>
          </a:p>
        </p:txBody>
      </p:sp>
    </p:spTree>
    <p:extLst>
      <p:ext uri="{BB962C8B-B14F-4D97-AF65-F5344CB8AC3E}">
        <p14:creationId xmlns:p14="http://schemas.microsoft.com/office/powerpoint/2010/main" val="14451635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152" y="1556792"/>
            <a:ext cx="7555696"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Arrow Connector 7"/>
          <p:cNvCxnSpPr/>
          <p:nvPr/>
        </p:nvCxnSpPr>
        <p:spPr>
          <a:xfrm flipH="1">
            <a:off x="5940152" y="1907540"/>
            <a:ext cx="144016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662576" y="1722874"/>
            <a:ext cx="1374543" cy="369332"/>
          </a:xfrm>
          <a:prstGeom prst="rect">
            <a:avLst/>
          </a:prstGeom>
          <a:noFill/>
          <a:ln>
            <a:solidFill>
              <a:schemeClr val="accent1"/>
            </a:solidFill>
          </a:ln>
        </p:spPr>
        <p:txBody>
          <a:bodyPr wrap="none" rtlCol="0">
            <a:spAutoFit/>
          </a:bodyPr>
          <a:lstStyle/>
          <a:p>
            <a:r>
              <a:rPr lang="en-GB" dirty="0" err="1">
                <a:solidFill>
                  <a:prstClr val="black"/>
                </a:solidFill>
              </a:rPr>
              <a:t>Mutex</a:t>
            </a:r>
            <a:r>
              <a:rPr lang="en-GB" dirty="0">
                <a:solidFill>
                  <a:prstClr val="black"/>
                </a:solidFill>
              </a:rPr>
              <a:t> name</a:t>
            </a:r>
          </a:p>
        </p:txBody>
      </p:sp>
    </p:spTree>
    <p:extLst>
      <p:ext uri="{BB962C8B-B14F-4D97-AF65-F5344CB8AC3E}">
        <p14:creationId xmlns:p14="http://schemas.microsoft.com/office/powerpoint/2010/main" val="17541490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normAutofit fontScale="92500" lnSpcReduction="10000"/>
          </a:bodyPr>
          <a:lstStyle/>
          <a:p>
            <a:r>
              <a:rPr lang="en-GB" b="1" dirty="0" smtClean="0"/>
              <a:t>Service</a:t>
            </a:r>
          </a:p>
          <a:p>
            <a:pPr lvl="1"/>
            <a:r>
              <a:rPr lang="en-GB" dirty="0"/>
              <a:t>Another way for malware to execute additional code is by installing it as </a:t>
            </a:r>
            <a:r>
              <a:rPr lang="en-GB" dirty="0" smtClean="0"/>
              <a:t>a service</a:t>
            </a:r>
          </a:p>
          <a:p>
            <a:pPr lvl="2"/>
            <a:r>
              <a:rPr lang="en-GB" dirty="0"/>
              <a:t>N</a:t>
            </a:r>
            <a:r>
              <a:rPr lang="en-GB" dirty="0" smtClean="0"/>
              <a:t>ormally </a:t>
            </a:r>
            <a:r>
              <a:rPr lang="en-GB" dirty="0"/>
              <a:t>run as SYSTEM or another privileged account</a:t>
            </a:r>
            <a:endParaRPr lang="en-GB" dirty="0" smtClean="0"/>
          </a:p>
          <a:p>
            <a:pPr lvl="2"/>
            <a:r>
              <a:rPr lang="en-GB" dirty="0" smtClean="0"/>
              <a:t>Provide </a:t>
            </a:r>
            <a:r>
              <a:rPr lang="en-GB" dirty="0"/>
              <a:t>another way to maintain persistence on a </a:t>
            </a:r>
            <a:r>
              <a:rPr lang="en-GB" dirty="0" smtClean="0"/>
              <a:t>system, automatically run when </a:t>
            </a:r>
            <a:r>
              <a:rPr lang="en-GB" dirty="0"/>
              <a:t>the OS starts, and may </a:t>
            </a:r>
            <a:r>
              <a:rPr lang="en-GB" dirty="0" smtClean="0"/>
              <a:t>not even </a:t>
            </a:r>
            <a:r>
              <a:rPr lang="en-GB" dirty="0"/>
              <a:t>show up in the Task Manager as a </a:t>
            </a:r>
            <a:r>
              <a:rPr lang="en-GB" dirty="0" smtClean="0"/>
              <a:t>process.</a:t>
            </a:r>
            <a:endParaRPr lang="en-GB" dirty="0"/>
          </a:p>
          <a:p>
            <a:pPr lvl="1"/>
            <a:r>
              <a:rPr lang="en-GB" dirty="0"/>
              <a:t>Services can be installed and manipulated via a few Windows API functions</a:t>
            </a:r>
            <a:endParaRPr lang="en-GB" dirty="0" smtClean="0"/>
          </a:p>
          <a:p>
            <a:pPr lvl="2"/>
            <a:r>
              <a:rPr lang="en-GB" sz="2600" dirty="0" err="1" smtClean="0">
                <a:latin typeface="Agency FB" panose="020B0503020202020204" pitchFamily="34" charset="0"/>
              </a:rPr>
              <a:t>OpenSCManager</a:t>
            </a:r>
            <a:endParaRPr lang="en-GB" sz="2600" dirty="0" smtClean="0">
              <a:latin typeface="Agency FB" panose="020B0503020202020204" pitchFamily="34" charset="0"/>
            </a:endParaRPr>
          </a:p>
          <a:p>
            <a:pPr lvl="2"/>
            <a:r>
              <a:rPr lang="en-GB" sz="2600" dirty="0" err="1" smtClean="0">
                <a:effectLst>
                  <a:outerShdw blurRad="38100" dist="38100" dir="2700000" algn="tl">
                    <a:srgbClr val="000000">
                      <a:alpha val="43137"/>
                    </a:srgbClr>
                  </a:outerShdw>
                </a:effectLst>
                <a:latin typeface="Agency FB" panose="020B0503020202020204" pitchFamily="34" charset="0"/>
              </a:rPr>
              <a:t>CreateService</a:t>
            </a:r>
            <a:endParaRPr lang="en-GB" sz="2600" dirty="0" smtClean="0">
              <a:effectLst>
                <a:outerShdw blurRad="38100" dist="38100" dir="2700000" algn="tl">
                  <a:srgbClr val="000000">
                    <a:alpha val="43137"/>
                  </a:srgbClr>
                </a:outerShdw>
              </a:effectLst>
              <a:latin typeface="Agency FB" panose="020B0503020202020204" pitchFamily="34" charset="0"/>
            </a:endParaRPr>
          </a:p>
          <a:p>
            <a:pPr lvl="2"/>
            <a:r>
              <a:rPr lang="en-GB" sz="2600" dirty="0" err="1" smtClean="0">
                <a:latin typeface="Agency FB" panose="020B0503020202020204" pitchFamily="34" charset="0"/>
              </a:rPr>
              <a:t>StartService</a:t>
            </a:r>
            <a:endParaRPr lang="en-GB" sz="2600" dirty="0" smtClean="0">
              <a:latin typeface="Agency FB" panose="020B0503020202020204" pitchFamily="34" charset="0"/>
            </a:endParaRPr>
          </a:p>
          <a:p>
            <a:pPr lvl="1"/>
            <a:r>
              <a:rPr lang="en-GB" dirty="0" smtClean="0"/>
              <a:t>Stored </a:t>
            </a:r>
            <a:r>
              <a:rPr lang="en-GB" dirty="0"/>
              <a:t>in the registry: </a:t>
            </a:r>
            <a:r>
              <a:rPr lang="en-GB" dirty="0" smtClean="0">
                <a:latin typeface="Agency FB" panose="020B0503020202020204" pitchFamily="34" charset="0"/>
              </a:rPr>
              <a:t>HKLM\SYSTEM\</a:t>
            </a:r>
            <a:r>
              <a:rPr lang="en-GB" dirty="0" err="1" smtClean="0">
                <a:latin typeface="Agency FB" panose="020B0503020202020204" pitchFamily="34" charset="0"/>
              </a:rPr>
              <a:t>CurrentControlSet</a:t>
            </a:r>
            <a:r>
              <a:rPr lang="en-GB" dirty="0" smtClean="0">
                <a:latin typeface="Agency FB" panose="020B0503020202020204" pitchFamily="34" charset="0"/>
              </a:rPr>
              <a:t>\Services</a:t>
            </a:r>
            <a:endParaRPr lang="en-GB" dirty="0">
              <a:latin typeface="Agency FB" panose="020B0503020202020204" pitchFamily="34" charset="0"/>
            </a:endParaRPr>
          </a:p>
        </p:txBody>
      </p:sp>
    </p:spTree>
    <p:extLst>
      <p:ext uri="{BB962C8B-B14F-4D97-AF65-F5344CB8AC3E}">
        <p14:creationId xmlns:p14="http://schemas.microsoft.com/office/powerpoint/2010/main" val="25610572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lstStyle/>
          <a:p>
            <a:r>
              <a:rPr lang="en-GB" dirty="0" smtClean="0"/>
              <a:t>Common Services</a:t>
            </a:r>
          </a:p>
          <a:p>
            <a:pPr lvl="1"/>
            <a:r>
              <a:rPr lang="en-GB" sz="2400" dirty="0" smtClean="0"/>
              <a:t>WIN32_SHARE_PROCESS</a:t>
            </a:r>
          </a:p>
          <a:p>
            <a:pPr lvl="2"/>
            <a:r>
              <a:rPr lang="en-GB" sz="2000" dirty="0" smtClean="0"/>
              <a:t>Svchost.exe</a:t>
            </a:r>
          </a:p>
          <a:p>
            <a:pPr lvl="1"/>
            <a:r>
              <a:rPr lang="en-GB" sz="2400" dirty="0" smtClean="0"/>
              <a:t>WIN32_OWN_PROCESS </a:t>
            </a:r>
          </a:p>
          <a:p>
            <a:pPr lvl="1"/>
            <a:r>
              <a:rPr lang="en-GB" sz="2400" dirty="0" smtClean="0"/>
              <a:t>KERNEL_DRIVER </a:t>
            </a:r>
          </a:p>
          <a:p>
            <a:r>
              <a:rPr lang="en-GB" dirty="0">
                <a:effectLst>
                  <a:outerShdw blurRad="38100" dist="38100" dir="2700000" algn="tl">
                    <a:srgbClr val="000000">
                      <a:alpha val="43137"/>
                    </a:srgbClr>
                  </a:outerShdw>
                </a:effectLst>
              </a:rPr>
              <a:t>SC</a:t>
            </a:r>
            <a:r>
              <a:rPr lang="en-GB" dirty="0"/>
              <a:t> </a:t>
            </a:r>
            <a:r>
              <a:rPr lang="en-GB" dirty="0" smtClean="0"/>
              <a:t>program, e.g. </a:t>
            </a:r>
            <a:r>
              <a:rPr lang="en-GB" dirty="0" err="1" smtClean="0">
                <a:latin typeface="Agency FB" panose="020B0503020202020204" pitchFamily="34" charset="0"/>
              </a:rPr>
              <a:t>sc</a:t>
            </a:r>
            <a:r>
              <a:rPr lang="en-GB" dirty="0" smtClean="0">
                <a:latin typeface="Agency FB" panose="020B0503020202020204" pitchFamily="34" charset="0"/>
              </a:rPr>
              <a:t> </a:t>
            </a:r>
            <a:r>
              <a:rPr lang="en-GB" dirty="0">
                <a:latin typeface="Agency FB" panose="020B0503020202020204" pitchFamily="34" charset="0"/>
              </a:rPr>
              <a:t>qc “Spooler”</a:t>
            </a:r>
          </a:p>
          <a:p>
            <a:endParaRPr lang="en-GB"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6833"/>
          <a:stretch/>
        </p:blipFill>
        <p:spPr bwMode="auto">
          <a:xfrm>
            <a:off x="1331640" y="4060244"/>
            <a:ext cx="6812705" cy="25370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52061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normAutofit fontScale="92500" lnSpcReduction="20000"/>
          </a:bodyPr>
          <a:lstStyle/>
          <a:p>
            <a:r>
              <a:rPr lang="en-GB" b="1" dirty="0" smtClean="0"/>
              <a:t>Component Object Model </a:t>
            </a:r>
            <a:r>
              <a:rPr lang="en-GB" dirty="0" smtClean="0"/>
              <a:t>(COM)</a:t>
            </a:r>
          </a:p>
          <a:p>
            <a:pPr lvl="1"/>
            <a:r>
              <a:rPr lang="en-GB" dirty="0"/>
              <a:t>an </a:t>
            </a:r>
            <a:r>
              <a:rPr lang="en-GB" dirty="0">
                <a:effectLst>
                  <a:outerShdw blurRad="38100" dist="38100" dir="2700000" algn="tl">
                    <a:srgbClr val="000000">
                      <a:alpha val="43137"/>
                    </a:srgbClr>
                  </a:outerShdw>
                </a:effectLst>
              </a:rPr>
              <a:t>interface</a:t>
            </a:r>
            <a:r>
              <a:rPr lang="en-GB" dirty="0"/>
              <a:t> standard </a:t>
            </a:r>
            <a:r>
              <a:rPr lang="en-GB" dirty="0" smtClean="0"/>
              <a:t>that makes </a:t>
            </a:r>
            <a:r>
              <a:rPr lang="en-GB" dirty="0"/>
              <a:t>it possible for different software components to call each other’s </a:t>
            </a:r>
            <a:r>
              <a:rPr lang="en-GB" dirty="0" smtClean="0"/>
              <a:t>code without </a:t>
            </a:r>
            <a:r>
              <a:rPr lang="en-GB" dirty="0"/>
              <a:t>knowledge of specifics about each other</a:t>
            </a:r>
            <a:endParaRPr lang="en-GB" dirty="0" smtClean="0"/>
          </a:p>
          <a:p>
            <a:pPr lvl="1"/>
            <a:r>
              <a:rPr lang="en-GB" dirty="0"/>
              <a:t>COM works with any programming </a:t>
            </a:r>
            <a:r>
              <a:rPr lang="en-GB" dirty="0" smtClean="0"/>
              <a:t>language, especially OOP languages.</a:t>
            </a:r>
            <a:endParaRPr lang="en-GB" dirty="0"/>
          </a:p>
          <a:p>
            <a:pPr lvl="1"/>
            <a:r>
              <a:rPr lang="en-GB" dirty="0"/>
              <a:t>COM is implemented as a client/server </a:t>
            </a:r>
            <a:r>
              <a:rPr lang="en-GB" dirty="0" smtClean="0"/>
              <a:t>framework.</a:t>
            </a:r>
          </a:p>
          <a:p>
            <a:pPr lvl="1"/>
            <a:r>
              <a:rPr lang="en-GB" dirty="0"/>
              <a:t>Each thread that uses COM must call the </a:t>
            </a:r>
            <a:r>
              <a:rPr lang="en-GB" sz="3000" dirty="0" err="1">
                <a:latin typeface="Agency FB" panose="020B0503020202020204" pitchFamily="34" charset="0"/>
              </a:rPr>
              <a:t>OleInitialize</a:t>
            </a:r>
            <a:r>
              <a:rPr lang="en-GB" dirty="0"/>
              <a:t> or </a:t>
            </a:r>
            <a:r>
              <a:rPr lang="en-GB" sz="3000" dirty="0" err="1" smtClean="0">
                <a:latin typeface="Agency FB" panose="020B0503020202020204" pitchFamily="34" charset="0"/>
              </a:rPr>
              <a:t>CoInitializeEx</a:t>
            </a:r>
            <a:r>
              <a:rPr lang="en-GB" dirty="0" smtClean="0"/>
              <a:t> function </a:t>
            </a:r>
            <a:r>
              <a:rPr lang="en-GB" dirty="0"/>
              <a:t>at least once prior to calling any other COM library </a:t>
            </a:r>
            <a:r>
              <a:rPr lang="en-GB" dirty="0" smtClean="0"/>
              <a:t>functions.</a:t>
            </a:r>
          </a:p>
          <a:p>
            <a:pPr lvl="1"/>
            <a:r>
              <a:rPr lang="en-GB" dirty="0" smtClean="0"/>
              <a:t>Access via</a:t>
            </a:r>
          </a:p>
          <a:p>
            <a:pPr lvl="2"/>
            <a:r>
              <a:rPr lang="en-GB" dirty="0" smtClean="0"/>
              <a:t>Class Identifiers (CLSIDs)</a:t>
            </a:r>
          </a:p>
          <a:p>
            <a:pPr lvl="2"/>
            <a:r>
              <a:rPr lang="en-GB" dirty="0" smtClean="0"/>
              <a:t>Interface Identifiers (IIDs)</a:t>
            </a:r>
          </a:p>
        </p:txBody>
      </p:sp>
    </p:spTree>
    <p:extLst>
      <p:ext uri="{BB962C8B-B14F-4D97-AF65-F5344CB8AC3E}">
        <p14:creationId xmlns:p14="http://schemas.microsoft.com/office/powerpoint/2010/main" val="423536306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lstStyle/>
          <a:p>
            <a:r>
              <a:rPr lang="en-GB" dirty="0" smtClean="0"/>
              <a:t>Common COM functions/interfaces</a:t>
            </a:r>
          </a:p>
          <a:p>
            <a:pPr lvl="2"/>
            <a:r>
              <a:rPr lang="en-GB" dirty="0" err="1" smtClean="0">
                <a:effectLst>
                  <a:outerShdw blurRad="38100" dist="38100" dir="2700000" algn="tl">
                    <a:srgbClr val="000000">
                      <a:alpha val="43137"/>
                    </a:srgbClr>
                  </a:outerShdw>
                </a:effectLst>
                <a:latin typeface="Agency FB" panose="020B0503020202020204" pitchFamily="34" charset="0"/>
              </a:rPr>
              <a:t>CoCreateInstance</a:t>
            </a:r>
            <a:r>
              <a:rPr lang="en-GB" dirty="0" smtClean="0"/>
              <a:t>: get access COM functionality</a:t>
            </a:r>
          </a:p>
          <a:p>
            <a:pPr lvl="2"/>
            <a:r>
              <a:rPr lang="en-GB" dirty="0" smtClean="0">
                <a:latin typeface="Agency FB" panose="020B0503020202020204" pitchFamily="34" charset="0"/>
              </a:rPr>
              <a:t>Navigate</a:t>
            </a:r>
            <a:r>
              <a:rPr lang="en-GB" dirty="0" smtClean="0"/>
              <a:t>: allows a program to launch IE and access a website. It is a part of </a:t>
            </a:r>
            <a:r>
              <a:rPr lang="en-GB" dirty="0">
                <a:latin typeface="Agency FB" panose="020B0503020202020204" pitchFamily="34" charset="0"/>
              </a:rPr>
              <a:t>IWebBrowser2</a:t>
            </a:r>
            <a:endParaRPr lang="en-GB" dirty="0" smtClean="0">
              <a:latin typeface="Agency FB" panose="020B0503020202020204" pitchFamily="34" charset="0"/>
            </a:endParaRPr>
          </a:p>
          <a:p>
            <a:pPr lvl="2"/>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1943" y="2996952"/>
            <a:ext cx="5995018" cy="23579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07613" y="5373216"/>
            <a:ext cx="8563678" cy="923330"/>
          </a:xfrm>
          <a:prstGeom prst="rect">
            <a:avLst/>
          </a:prstGeom>
          <a:noFill/>
          <a:ln>
            <a:solidFill>
              <a:schemeClr val="accent3"/>
            </a:solidFill>
          </a:ln>
        </p:spPr>
        <p:txBody>
          <a:bodyPr wrap="square" rtlCol="0">
            <a:spAutoFit/>
          </a:bodyPr>
          <a:lstStyle/>
          <a:p>
            <a:r>
              <a:rPr lang="en-GB" dirty="0">
                <a:solidFill>
                  <a:prstClr val="black"/>
                </a:solidFill>
                <a:effectLst>
                  <a:outerShdw blurRad="38100" dist="38100" dir="2700000" algn="tl">
                    <a:srgbClr val="000000">
                      <a:alpha val="43137"/>
                    </a:srgbClr>
                  </a:outerShdw>
                </a:effectLst>
              </a:rPr>
              <a:t>Some malware implements a malicious COM server, which is subsequently used by other applications. Common COM server functionality for malware is through </a:t>
            </a:r>
            <a:r>
              <a:rPr lang="en-GB" i="1" dirty="0">
                <a:solidFill>
                  <a:prstClr val="black"/>
                </a:solidFill>
                <a:effectLst>
                  <a:outerShdw blurRad="38100" dist="38100" dir="2700000" algn="tl">
                    <a:srgbClr val="000000">
                      <a:alpha val="43137"/>
                    </a:srgbClr>
                  </a:outerShdw>
                </a:effectLst>
              </a:rPr>
              <a:t>Browser Helper Objects (BHOs)</a:t>
            </a:r>
            <a:r>
              <a:rPr lang="en-GB" dirty="0">
                <a:solidFill>
                  <a:prstClr val="black"/>
                </a:solidFill>
                <a:effectLst>
                  <a:outerShdw blurRad="38100" dist="38100" dir="2700000" algn="tl">
                    <a:srgbClr val="000000">
                      <a:alpha val="43137"/>
                    </a:srgbClr>
                  </a:outerShdw>
                </a:effectLst>
              </a:rPr>
              <a:t>, which are third-party plug-ins for Internet Explorer.</a:t>
            </a:r>
          </a:p>
        </p:txBody>
      </p:sp>
    </p:spTree>
    <p:extLst>
      <p:ext uri="{BB962C8B-B14F-4D97-AF65-F5344CB8AC3E}">
        <p14:creationId xmlns:p14="http://schemas.microsoft.com/office/powerpoint/2010/main" val="201351232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Malware vs. Windows OS</a:t>
            </a:r>
          </a:p>
        </p:txBody>
      </p:sp>
      <p:sp>
        <p:nvSpPr>
          <p:cNvPr id="3" name="Content Placeholder 2"/>
          <p:cNvSpPr>
            <a:spLocks noGrp="1"/>
          </p:cNvSpPr>
          <p:nvPr>
            <p:ph idx="1"/>
          </p:nvPr>
        </p:nvSpPr>
        <p:spPr/>
        <p:txBody>
          <a:bodyPr/>
          <a:lstStyle/>
          <a:p>
            <a:r>
              <a:rPr lang="en-GB" b="1" dirty="0" smtClean="0"/>
              <a:t>Exceptions</a:t>
            </a:r>
          </a:p>
          <a:p>
            <a:pPr lvl="1"/>
            <a:r>
              <a:rPr lang="en-GB" dirty="0"/>
              <a:t>Exceptions allow a program to handle events outside the flow of normal </a:t>
            </a:r>
            <a:r>
              <a:rPr lang="en-GB" dirty="0" smtClean="0"/>
              <a:t>execution caused by errors (e.g. division by zero)</a:t>
            </a:r>
            <a:endParaRPr lang="en-GB" dirty="0"/>
          </a:p>
        </p:txBody>
      </p:sp>
      <p:sp>
        <p:nvSpPr>
          <p:cNvPr id="4" name="TextBox 3"/>
          <p:cNvSpPr txBox="1"/>
          <p:nvPr/>
        </p:nvSpPr>
        <p:spPr>
          <a:xfrm>
            <a:off x="1149904" y="5159060"/>
            <a:ext cx="7238520" cy="923330"/>
          </a:xfrm>
          <a:prstGeom prst="rect">
            <a:avLst/>
          </a:prstGeom>
          <a:noFill/>
          <a:ln>
            <a:solidFill>
              <a:schemeClr val="accent3"/>
            </a:solidFill>
          </a:ln>
        </p:spPr>
        <p:txBody>
          <a:bodyPr wrap="square" rtlCol="0">
            <a:spAutoFit/>
          </a:bodyPr>
          <a:lstStyle/>
          <a:p>
            <a:r>
              <a:rPr lang="en-GB" dirty="0">
                <a:solidFill>
                  <a:prstClr val="black"/>
                </a:solidFill>
                <a:effectLst>
                  <a:outerShdw blurRad="38100" dist="38100" dir="2700000" algn="tl">
                    <a:srgbClr val="000000">
                      <a:alpha val="43137"/>
                    </a:srgbClr>
                  </a:outerShdw>
                </a:effectLst>
              </a:rPr>
              <a:t>Exception handlers can be used in exploit code to gain execution. A pointer to exception-handling information is stored on the stack, and during a stack overflow, an attacker can overwrite the pointer.</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6841" y="3284984"/>
            <a:ext cx="5547712" cy="1392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39496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Native API</a:t>
            </a:r>
            <a:endParaRPr lang="en-GB" dirty="0"/>
          </a:p>
        </p:txBody>
      </p:sp>
      <p:sp>
        <p:nvSpPr>
          <p:cNvPr id="3" name="Content Placeholder 2"/>
          <p:cNvSpPr>
            <a:spLocks noGrp="1"/>
          </p:cNvSpPr>
          <p:nvPr>
            <p:ph idx="1"/>
          </p:nvPr>
        </p:nvSpPr>
        <p:spPr/>
        <p:txBody>
          <a:bodyPr/>
          <a:lstStyle/>
          <a:p>
            <a:r>
              <a:rPr lang="en-GB" dirty="0"/>
              <a:t>The Native API is a lower-level interface for </a:t>
            </a:r>
            <a:r>
              <a:rPr lang="en-GB" dirty="0" smtClean="0"/>
              <a:t>interacting </a:t>
            </a:r>
            <a:r>
              <a:rPr lang="en-GB" dirty="0"/>
              <a:t>with </a:t>
            </a:r>
            <a:r>
              <a:rPr lang="en-GB" dirty="0" smtClean="0"/>
              <a:t>Windows</a:t>
            </a:r>
          </a:p>
          <a:p>
            <a:r>
              <a:rPr lang="en-GB" dirty="0"/>
              <a:t>Calling functions in the Native API bypasses the normal Windows API</a:t>
            </a:r>
            <a:r>
              <a:rPr lang="en-GB" dirty="0" smtClean="0"/>
              <a:t>.</a:t>
            </a:r>
          </a:p>
          <a:p>
            <a:r>
              <a:rPr lang="en-GB" dirty="0" smtClean="0"/>
              <a:t>E.g. </a:t>
            </a:r>
          </a:p>
          <a:p>
            <a:pPr marL="0" indent="0">
              <a:buNone/>
            </a:pPr>
            <a:r>
              <a:rPr lang="en-GB" dirty="0" smtClean="0"/>
              <a:t>Call </a:t>
            </a:r>
            <a:r>
              <a:rPr lang="en-GB" dirty="0" smtClean="0">
                <a:latin typeface="Agency FB" panose="020B0503020202020204" pitchFamily="34" charset="0"/>
              </a:rPr>
              <a:t>Ntdll.dll </a:t>
            </a:r>
            <a:r>
              <a:rPr lang="en-GB" dirty="0" smtClean="0">
                <a:latin typeface="+mj-lt"/>
              </a:rPr>
              <a:t>directly</a:t>
            </a:r>
          </a:p>
          <a:p>
            <a:pPr marL="0" indent="0">
              <a:buNone/>
            </a:pPr>
            <a:r>
              <a:rPr lang="en-GB" dirty="0" smtClean="0">
                <a:latin typeface="+mj-lt"/>
              </a:rPr>
              <a:t>Instead of </a:t>
            </a:r>
            <a:r>
              <a:rPr lang="en-GB" dirty="0" smtClean="0">
                <a:latin typeface="Agency FB" panose="020B0503020202020204" pitchFamily="34" charset="0"/>
              </a:rPr>
              <a:t>Kernel32.dll</a:t>
            </a:r>
            <a:endParaRPr lang="en-GB" dirty="0">
              <a:latin typeface="Agency FB" panose="020B0503020202020204" pitchFamily="34" charset="0"/>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2708920"/>
            <a:ext cx="4314825" cy="3800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4565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DLL Practice</a:t>
            </a:r>
            <a:endParaRPr lang="en-GB" dirty="0"/>
          </a:p>
        </p:txBody>
      </p:sp>
      <p:sp>
        <p:nvSpPr>
          <p:cNvPr id="3" name="Content Placeholder 2"/>
          <p:cNvSpPr>
            <a:spLocks noGrp="1"/>
          </p:cNvSpPr>
          <p:nvPr>
            <p:ph idx="1"/>
          </p:nvPr>
        </p:nvSpPr>
        <p:spPr/>
        <p:txBody>
          <a:bodyPr/>
          <a:lstStyle/>
          <a:p>
            <a:r>
              <a:rPr lang="en-US" dirty="0" smtClean="0"/>
              <a:t>Write an DLL allows users to call a function for printing a list of process to screen</a:t>
            </a:r>
            <a:endParaRPr lang="en-GB" dirty="0"/>
          </a:p>
        </p:txBody>
      </p:sp>
    </p:spTree>
    <p:extLst>
      <p:ext uri="{BB962C8B-B14F-4D97-AF65-F5344CB8AC3E}">
        <p14:creationId xmlns:p14="http://schemas.microsoft.com/office/powerpoint/2010/main" val="39872908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Practice [Lab07]</a:t>
            </a:r>
            <a:endParaRPr lang="en-GB"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GB" dirty="0" smtClean="0"/>
              <a:t>PE files:</a:t>
            </a:r>
          </a:p>
          <a:p>
            <a:pPr lvl="1"/>
            <a:r>
              <a:rPr lang="en-GB" dirty="0" smtClean="0"/>
              <a:t>Lab07-01.exe</a:t>
            </a:r>
          </a:p>
          <a:p>
            <a:pPr>
              <a:buFont typeface="Wingdings" panose="05000000000000000000" pitchFamily="2" charset="2"/>
              <a:buChar char="q"/>
            </a:pPr>
            <a:r>
              <a:rPr lang="en-GB" dirty="0" smtClean="0"/>
              <a:t>Questions</a:t>
            </a:r>
          </a:p>
          <a:p>
            <a:pPr lvl="1"/>
            <a:r>
              <a:rPr lang="en-GB" dirty="0" smtClean="0"/>
              <a:t>Sections? Strings? Imports? Functions?</a:t>
            </a:r>
          </a:p>
          <a:p>
            <a:pPr lvl="1"/>
            <a:r>
              <a:rPr lang="en-GB" dirty="0" smtClean="0"/>
              <a:t>Check persistent running of the program (when rebooting)?</a:t>
            </a:r>
          </a:p>
          <a:p>
            <a:pPr lvl="1"/>
            <a:r>
              <a:rPr lang="en-GB" dirty="0" smtClean="0"/>
              <a:t>Why does the program use a </a:t>
            </a:r>
            <a:r>
              <a:rPr lang="en-GB" dirty="0" err="1" smtClean="0"/>
              <a:t>mutex</a:t>
            </a:r>
            <a:r>
              <a:rPr lang="en-GB" dirty="0" smtClean="0"/>
              <a:t>?</a:t>
            </a:r>
          </a:p>
          <a:p>
            <a:pPr lvl="1"/>
            <a:r>
              <a:rPr lang="en-GB" dirty="0" smtClean="0">
                <a:solidFill>
                  <a:srgbClr val="FF0000"/>
                </a:solidFill>
              </a:rPr>
              <a:t>Host-based/Network-based indicators?</a:t>
            </a:r>
          </a:p>
          <a:p>
            <a:pPr lvl="1"/>
            <a:r>
              <a:rPr lang="en-GB" dirty="0" smtClean="0">
                <a:solidFill>
                  <a:srgbClr val="FF0000"/>
                </a:solidFill>
              </a:rPr>
              <a:t>What is the purpose of the program</a:t>
            </a:r>
            <a:r>
              <a:rPr lang="en-GB" dirty="0" smtClean="0"/>
              <a:t>?</a:t>
            </a:r>
          </a:p>
          <a:p>
            <a:pPr lvl="1"/>
            <a:r>
              <a:rPr lang="en-GB" dirty="0" smtClean="0">
                <a:solidFill>
                  <a:srgbClr val="FF0000"/>
                </a:solidFill>
              </a:rPr>
              <a:t>When will it finish executing</a:t>
            </a:r>
            <a:r>
              <a:rPr lang="en-GB" dirty="0" smtClean="0"/>
              <a:t>?</a:t>
            </a:r>
          </a:p>
          <a:p>
            <a:pPr lvl="1"/>
            <a:endParaRPr lang="en-GB" dirty="0"/>
          </a:p>
        </p:txBody>
      </p:sp>
    </p:spTree>
    <p:extLst>
      <p:ext uri="{BB962C8B-B14F-4D97-AF65-F5344CB8AC3E}">
        <p14:creationId xmlns:p14="http://schemas.microsoft.com/office/powerpoint/2010/main" val="27071564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Practice [Lab07]</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GB" dirty="0" smtClean="0"/>
              <a:t>PE file</a:t>
            </a:r>
          </a:p>
          <a:p>
            <a:pPr lvl="1"/>
            <a:r>
              <a:rPr lang="en-GB" dirty="0" smtClean="0"/>
              <a:t>Lab07-02.exe</a:t>
            </a:r>
          </a:p>
          <a:p>
            <a:pPr>
              <a:buFont typeface="Wingdings" panose="05000000000000000000" pitchFamily="2" charset="2"/>
              <a:buChar char="q"/>
            </a:pPr>
            <a:r>
              <a:rPr lang="en-GB" dirty="0" smtClean="0"/>
              <a:t>Questions</a:t>
            </a:r>
          </a:p>
          <a:p>
            <a:pPr lvl="1"/>
            <a:r>
              <a:rPr lang="en-GB" dirty="0" smtClean="0"/>
              <a:t>How </a:t>
            </a:r>
            <a:r>
              <a:rPr lang="en-GB" dirty="0"/>
              <a:t>does this program achieve persistence?</a:t>
            </a:r>
          </a:p>
          <a:p>
            <a:pPr lvl="1"/>
            <a:r>
              <a:rPr lang="en-GB" dirty="0" smtClean="0"/>
              <a:t>What </a:t>
            </a:r>
            <a:r>
              <a:rPr lang="en-GB" dirty="0"/>
              <a:t>is the purpose of this program?</a:t>
            </a:r>
          </a:p>
          <a:p>
            <a:pPr lvl="1"/>
            <a:r>
              <a:rPr lang="en-GB" dirty="0" smtClean="0"/>
              <a:t>When </a:t>
            </a:r>
            <a:r>
              <a:rPr lang="en-GB" dirty="0"/>
              <a:t>will this program finish executing?</a:t>
            </a:r>
          </a:p>
        </p:txBody>
      </p:sp>
    </p:spTree>
    <p:extLst>
      <p:ext uri="{BB962C8B-B14F-4D97-AF65-F5344CB8AC3E}">
        <p14:creationId xmlns:p14="http://schemas.microsoft.com/office/powerpoint/2010/main" val="128890020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Practice [Lab07]</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GB" dirty="0" smtClean="0"/>
              <a:t>PE file: Lab07-03.exe + Lab07-03.dll</a:t>
            </a:r>
          </a:p>
          <a:p>
            <a:pPr>
              <a:buFont typeface="Wingdings" panose="05000000000000000000" pitchFamily="2" charset="2"/>
              <a:buChar char="q"/>
            </a:pPr>
            <a:r>
              <a:rPr lang="en-GB" dirty="0" smtClean="0"/>
              <a:t>Questions</a:t>
            </a:r>
          </a:p>
          <a:p>
            <a:pPr lvl="1"/>
            <a:r>
              <a:rPr lang="en-GB" dirty="0" smtClean="0"/>
              <a:t>How </a:t>
            </a:r>
            <a:r>
              <a:rPr lang="en-GB" dirty="0"/>
              <a:t>does this program achieve </a:t>
            </a:r>
            <a:r>
              <a:rPr lang="en-GB" dirty="0" smtClean="0"/>
              <a:t>persistence?</a:t>
            </a:r>
            <a:endParaRPr lang="en-GB" dirty="0"/>
          </a:p>
          <a:p>
            <a:pPr lvl="1"/>
            <a:r>
              <a:rPr lang="en-GB" dirty="0" smtClean="0"/>
              <a:t>What </a:t>
            </a:r>
            <a:r>
              <a:rPr lang="en-GB" dirty="0"/>
              <a:t>are two good host-based signatures for this malware?</a:t>
            </a:r>
          </a:p>
          <a:p>
            <a:pPr lvl="1"/>
            <a:r>
              <a:rPr lang="en-GB" dirty="0" smtClean="0"/>
              <a:t>What </a:t>
            </a:r>
            <a:r>
              <a:rPr lang="en-GB" dirty="0"/>
              <a:t>is the purpose of this program?</a:t>
            </a:r>
          </a:p>
          <a:p>
            <a:pPr lvl="1"/>
            <a:r>
              <a:rPr lang="en-GB" dirty="0" smtClean="0"/>
              <a:t>How </a:t>
            </a:r>
            <a:r>
              <a:rPr lang="en-GB" dirty="0"/>
              <a:t>could you remove this malware once it is installed?</a:t>
            </a:r>
            <a:endParaRPr lang="en-GB" dirty="0" smtClean="0"/>
          </a:p>
          <a:p>
            <a:pPr lvl="1"/>
            <a:endParaRPr lang="en-GB" dirty="0"/>
          </a:p>
        </p:txBody>
      </p:sp>
    </p:spTree>
    <p:extLst>
      <p:ext uri="{BB962C8B-B14F-4D97-AF65-F5344CB8AC3E}">
        <p14:creationId xmlns:p14="http://schemas.microsoft.com/office/powerpoint/2010/main" val="3760990959"/>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TotalTime>
  <Words>2495</Words>
  <Application>Microsoft Office PowerPoint</Application>
  <PresentationFormat>On-screen Show (4:3)</PresentationFormat>
  <Paragraphs>419</Paragraphs>
  <Slides>44</Slides>
  <Notes>14</Notes>
  <HiddenSlides>0</HiddenSlides>
  <MMClips>0</MMClips>
  <ScaleCrop>false</ScaleCrop>
  <HeadingPairs>
    <vt:vector size="4" baseType="variant">
      <vt:variant>
        <vt:lpstr>Theme</vt:lpstr>
      </vt:variant>
      <vt:variant>
        <vt:i4>2</vt:i4>
      </vt:variant>
      <vt:variant>
        <vt:lpstr>Slide Titles</vt:lpstr>
      </vt:variant>
      <vt:variant>
        <vt:i4>44</vt:i4>
      </vt:variant>
    </vt:vector>
  </HeadingPairs>
  <TitlesOfParts>
    <vt:vector size="46" baseType="lpstr">
      <vt:lpstr>1_Office Theme</vt:lpstr>
      <vt:lpstr>2_Office Theme</vt:lpstr>
      <vt:lpstr>Malware Analysis</vt:lpstr>
      <vt:lpstr>Analyzing Malware on Windows</vt:lpstr>
      <vt:lpstr>Kernel vs. User mode</vt:lpstr>
      <vt:lpstr>Windows API</vt:lpstr>
      <vt:lpstr>Windows API</vt:lpstr>
      <vt:lpstr>Windows API</vt:lpstr>
      <vt:lpstr>Windows API</vt:lpstr>
      <vt:lpstr>Windows API</vt:lpstr>
      <vt:lpstr>Windows API - Category</vt:lpstr>
      <vt:lpstr>Windows API - Category</vt:lpstr>
      <vt:lpstr>Windows API (E.g.)</vt:lpstr>
      <vt:lpstr>PowerPoint Presentation</vt:lpstr>
      <vt:lpstr>Exercise </vt:lpstr>
      <vt:lpstr>Windows Registry</vt:lpstr>
      <vt:lpstr>Windows Registry</vt:lpstr>
      <vt:lpstr>Windows Registry</vt:lpstr>
      <vt:lpstr>Windows Registry</vt:lpstr>
      <vt:lpstr>Windows Registry (Code Example)</vt:lpstr>
      <vt:lpstr>Windows Registry</vt:lpstr>
      <vt:lpstr>Networking API</vt:lpstr>
      <vt:lpstr>Networking API (Code Example)</vt:lpstr>
      <vt:lpstr>Networking API</vt:lpstr>
      <vt:lpstr>Malware vs. Windows OS</vt:lpstr>
      <vt:lpstr>Malware vs. Windows OS</vt:lpstr>
      <vt:lpstr>DLL example</vt:lpstr>
      <vt:lpstr>DLL example</vt:lpstr>
      <vt:lpstr>Exercise</vt:lpstr>
      <vt:lpstr>Malware vs. Windows OS</vt:lpstr>
      <vt:lpstr>Malware vs. Windows OS</vt:lpstr>
      <vt:lpstr>Malware vs. Windows OS</vt:lpstr>
      <vt:lpstr>Malware vs. Windows OS</vt:lpstr>
      <vt:lpstr>Malware vs. Windows OS</vt:lpstr>
      <vt:lpstr>Malware vs. Windows OS</vt:lpstr>
      <vt:lpstr>Malware vs. Windows OS</vt:lpstr>
      <vt:lpstr>Malware vs. Windows OS</vt:lpstr>
      <vt:lpstr>Malware vs. Windows OS</vt:lpstr>
      <vt:lpstr>Malware vs. Windows OS</vt:lpstr>
      <vt:lpstr>Malware vs. Windows OS</vt:lpstr>
      <vt:lpstr>Malware vs. Windows OS</vt:lpstr>
      <vt:lpstr>Native API</vt:lpstr>
      <vt:lpstr>DLL Practice</vt:lpstr>
      <vt:lpstr>Practice [Lab07]</vt:lpstr>
      <vt:lpstr>Practice [Lab07]</vt:lpstr>
      <vt:lpstr>Practice [Lab07]</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the son</dc:creator>
  <cp:lastModifiedBy>tran the son</cp:lastModifiedBy>
  <cp:revision>7</cp:revision>
  <dcterms:created xsi:type="dcterms:W3CDTF">2022-10-14T03:31:55Z</dcterms:created>
  <dcterms:modified xsi:type="dcterms:W3CDTF">2023-11-02T21:13:17Z</dcterms:modified>
</cp:coreProperties>
</file>