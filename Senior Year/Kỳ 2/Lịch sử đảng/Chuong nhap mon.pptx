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3" roundtripDataSignature="AMtx7mgiUCytZkPjgmBRZtcxaN2ZuSAm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1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9"/>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9"/>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9"/>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20"/>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0"/>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0"/>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1"/>
          <p:cNvSpPr txBox="1"/>
          <p:nvPr>
            <p:ph type="title"/>
          </p:nvPr>
        </p:nvSpPr>
        <p:spPr>
          <a:xfrm>
            <a:off x="2043484" y="365126"/>
            <a:ext cx="9310315" cy="94684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1"/>
          <p:cNvSpPr txBox="1"/>
          <p:nvPr>
            <p:ph idx="1" type="body"/>
          </p:nvPr>
        </p:nvSpPr>
        <p:spPr>
          <a:xfrm>
            <a:off x="572493" y="1431235"/>
            <a:ext cx="11100021" cy="486619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21"/>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1"/>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1"/>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22"/>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2"/>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2"/>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3"/>
          <p:cNvSpPr txBox="1"/>
          <p:nvPr>
            <p:ph type="title"/>
          </p:nvPr>
        </p:nvSpPr>
        <p:spPr>
          <a:xfrm>
            <a:off x="2043484" y="365126"/>
            <a:ext cx="9310315" cy="93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3"/>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3"/>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3"/>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4"/>
          <p:cNvSpPr txBox="1"/>
          <p:nvPr>
            <p:ph type="title"/>
          </p:nvPr>
        </p:nvSpPr>
        <p:spPr>
          <a:xfrm>
            <a:off x="2059536" y="365125"/>
            <a:ext cx="9295852" cy="95947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2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4"/>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4"/>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5"/>
          <p:cNvSpPr txBox="1"/>
          <p:nvPr>
            <p:ph type="title"/>
          </p:nvPr>
        </p:nvSpPr>
        <p:spPr>
          <a:xfrm>
            <a:off x="2043484" y="365126"/>
            <a:ext cx="9310315" cy="93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5"/>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5"/>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5"/>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6"/>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6"/>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6"/>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7"/>
          <p:cNvSpPr/>
          <p:nvPr>
            <p:ph idx="2" type="pic"/>
          </p:nvPr>
        </p:nvSpPr>
        <p:spPr>
          <a:xfrm>
            <a:off x="5183188" y="987425"/>
            <a:ext cx="6172200" cy="4873625"/>
          </a:xfrm>
          <a:prstGeom prst="rect">
            <a:avLst/>
          </a:prstGeom>
          <a:noFill/>
          <a:ln>
            <a:noFill/>
          </a:ln>
        </p:spPr>
      </p:sp>
      <p:sp>
        <p:nvSpPr>
          <p:cNvPr id="68" name="Google Shape;68;p2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7"/>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7"/>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7"/>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8"/>
          <p:cNvSpPr txBox="1"/>
          <p:nvPr>
            <p:ph type="title"/>
          </p:nvPr>
        </p:nvSpPr>
        <p:spPr>
          <a:xfrm>
            <a:off x="2043484" y="365126"/>
            <a:ext cx="9310315" cy="93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8"/>
          <p:cNvSpPr txBox="1"/>
          <p:nvPr>
            <p:ph idx="1" type="body"/>
          </p:nvPr>
        </p:nvSpPr>
        <p:spPr>
          <a:xfrm rot="5400000">
            <a:off x="3594258" y="-1582579"/>
            <a:ext cx="4729826" cy="1078925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8"/>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8"/>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8"/>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9"/>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9"/>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9"/>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2043484" y="365126"/>
            <a:ext cx="9310315" cy="930938"/>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8"/>
          <p:cNvSpPr txBox="1"/>
          <p:nvPr>
            <p:ph idx="1" type="body"/>
          </p:nvPr>
        </p:nvSpPr>
        <p:spPr>
          <a:xfrm>
            <a:off x="564543" y="1447137"/>
            <a:ext cx="10789257" cy="4729826"/>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8"/>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8"/>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2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29.jpg"/><Relationship Id="rId5" Type="http://schemas.openxmlformats.org/officeDocument/2006/relationships/image" Target="../media/image1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15.png"/><Relationship Id="rId5"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jpg"/><Relationship Id="rId4" Type="http://schemas.openxmlformats.org/officeDocument/2006/relationships/image" Target="../media/image3.jpg"/><Relationship Id="rId5"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7.jpg"/><Relationship Id="rId6" Type="http://schemas.openxmlformats.org/officeDocument/2006/relationships/image" Target="../media/image2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30.jpg"/><Relationship Id="rId9" Type="http://schemas.openxmlformats.org/officeDocument/2006/relationships/image" Target="../media/image21.jpg"/><Relationship Id="rId5" Type="http://schemas.openxmlformats.org/officeDocument/2006/relationships/image" Target="../media/image26.jpg"/><Relationship Id="rId6" Type="http://schemas.openxmlformats.org/officeDocument/2006/relationships/image" Target="../media/image19.jpg"/><Relationship Id="rId7" Type="http://schemas.openxmlformats.org/officeDocument/2006/relationships/image" Target="../media/image23.jpg"/><Relationship Id="rId8"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4.jpg"/><Relationship Id="rId4" Type="http://schemas.openxmlformats.org/officeDocument/2006/relationships/image" Target="../media/image3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3.jpg"/><Relationship Id="rId4" Type="http://schemas.openxmlformats.org/officeDocument/2006/relationships/image" Target="../media/image35.png"/><Relationship Id="rId5"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a:off x="883677" y="2292831"/>
            <a:ext cx="10499835" cy="2308324"/>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3600"/>
              <a:buFont typeface="Arial"/>
              <a:buNone/>
            </a:pPr>
            <a:r>
              <a:rPr b="1" i="0" lang="en-US" sz="3600" u="none" cap="none" strike="noStrike">
                <a:solidFill>
                  <a:srgbClr val="FF0000"/>
                </a:solidFill>
                <a:latin typeface="Arial"/>
                <a:ea typeface="Arial"/>
                <a:cs typeface="Arial"/>
                <a:sym typeface="Arial"/>
              </a:rPr>
              <a:t>CHƯƠNG NHẬP MÔN</a:t>
            </a:r>
            <a:endParaRPr b="0" i="0" sz="2400" u="none" cap="none" strike="noStrike">
              <a:solidFill>
                <a:srgbClr val="FF0000"/>
              </a:solidFill>
              <a:latin typeface="Arial"/>
              <a:ea typeface="Arial"/>
              <a:cs typeface="Arial"/>
              <a:sym typeface="Arial"/>
            </a:endParaRPr>
          </a:p>
          <a:p>
            <a:pPr indent="0" lvl="0" marL="0" marR="0" rtl="0" algn="ctr">
              <a:spcBef>
                <a:spcPts val="0"/>
              </a:spcBef>
              <a:spcAft>
                <a:spcPts val="0"/>
              </a:spcAft>
              <a:buNone/>
            </a:pPr>
            <a:r>
              <a:rPr b="1" i="0" lang="en-US" sz="3600" u="none" cap="none" strike="noStrike">
                <a:solidFill>
                  <a:schemeClr val="dk1"/>
                </a:solidFill>
                <a:latin typeface="Calibri"/>
                <a:ea typeface="Calibri"/>
                <a:cs typeface="Calibri"/>
                <a:sym typeface="Calibri"/>
              </a:rPr>
              <a:t>ĐỐI TƯỢNG, CHỨC NĂNG, NHIỆM VỤ, NỘI DUNG VÀ PHƯƠNG PHÁP NGHIÊN CỨU, HỌC TẬP LỊCH SỬ ĐẢNG CỘNG SẢN VIỆT NAM</a:t>
            </a:r>
            <a:endParaRPr b="0" i="0" sz="3600" u="none" cap="none" strike="noStrike">
              <a:solidFill>
                <a:schemeClr val="dk1"/>
              </a:solidFill>
              <a:latin typeface="Calibri"/>
              <a:ea typeface="Calibri"/>
              <a:cs typeface="Calibri"/>
              <a:sym typeface="Calibri"/>
            </a:endParaRPr>
          </a:p>
        </p:txBody>
      </p:sp>
      <p:pic>
        <p:nvPicPr>
          <p:cNvPr descr="f" id="89" name="Google Shape;89;p1"/>
          <p:cNvPicPr preferRelativeResize="0"/>
          <p:nvPr/>
        </p:nvPicPr>
        <p:blipFill rotWithShape="1">
          <a:blip r:embed="rId3">
            <a:alphaModFix/>
          </a:blip>
          <a:srcRect b="0" l="0" r="0" t="0"/>
          <a:stretch/>
        </p:blipFill>
        <p:spPr>
          <a:xfrm>
            <a:off x="9042400" y="5200650"/>
            <a:ext cx="3149600" cy="1657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nvSpPr>
        <p:spPr>
          <a:xfrm>
            <a:off x="512417" y="547687"/>
            <a:ext cx="10464900" cy="823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800" u="none" cap="none" strike="noStrike">
                <a:solidFill>
                  <a:schemeClr val="dk1"/>
                </a:solidFill>
                <a:latin typeface="Times New Roman"/>
                <a:ea typeface="Times New Roman"/>
                <a:cs typeface="Times New Roman"/>
                <a:sym typeface="Times New Roman"/>
              </a:rPr>
              <a:t>Tài liệu tham khảo</a:t>
            </a:r>
            <a:endParaRPr b="1" i="0" sz="4800" u="none" cap="none" strike="noStrike">
              <a:solidFill>
                <a:schemeClr val="dk1"/>
              </a:solidFill>
              <a:latin typeface="Times New Roman"/>
              <a:ea typeface="Times New Roman"/>
              <a:cs typeface="Times New Roman"/>
              <a:sym typeface="Times New Roman"/>
            </a:endParaRPr>
          </a:p>
        </p:txBody>
      </p:sp>
      <p:sp>
        <p:nvSpPr>
          <p:cNvPr id="95" name="Google Shape;95;p2"/>
          <p:cNvSpPr txBox="1"/>
          <p:nvPr/>
        </p:nvSpPr>
        <p:spPr>
          <a:xfrm>
            <a:off x="203200" y="1560444"/>
            <a:ext cx="11785600" cy="4339650"/>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rgbClr val="0000CC"/>
              </a:buClr>
              <a:buSzPts val="2400"/>
              <a:buFont typeface="Times New Roman"/>
              <a:buAutoNum type="arabicPeriod"/>
            </a:pPr>
            <a:r>
              <a:rPr b="1" i="0" lang="en-US" sz="2400" u="none" cap="none" strike="noStrike">
                <a:solidFill>
                  <a:srgbClr val="0000CC"/>
                </a:solidFill>
                <a:latin typeface="Times New Roman"/>
                <a:ea typeface="Times New Roman"/>
                <a:cs typeface="Times New Roman"/>
                <a:sym typeface="Times New Roman"/>
              </a:rPr>
              <a:t>Bộ giáo dục và đào tạo (2021), </a:t>
            </a:r>
            <a:r>
              <a:rPr b="1" i="1" lang="en-US" sz="2400" u="none" cap="none" strike="noStrike">
                <a:solidFill>
                  <a:srgbClr val="0000CC"/>
                </a:solidFill>
                <a:latin typeface="Times New Roman"/>
                <a:ea typeface="Times New Roman"/>
                <a:cs typeface="Times New Roman"/>
                <a:sym typeface="Times New Roman"/>
              </a:rPr>
              <a:t>Giáo trình Lịch sử Đảng cộng sản Việt Nam</a:t>
            </a:r>
            <a:endParaRPr b="1" i="0" sz="2400" u="none" cap="none" strike="noStrike">
              <a:solidFill>
                <a:srgbClr val="0000CC"/>
              </a:solidFill>
              <a:latin typeface="Times New Roman"/>
              <a:ea typeface="Times New Roman"/>
              <a:cs typeface="Times New Roman"/>
              <a:sym typeface="Times New Roman"/>
            </a:endParaRPr>
          </a:p>
          <a:p>
            <a:pPr indent="-342900" lvl="0" marL="342900" marR="0" rtl="0" algn="just">
              <a:spcBef>
                <a:spcPts val="1200"/>
              </a:spcBef>
              <a:spcAft>
                <a:spcPts val="0"/>
              </a:spcAft>
              <a:buClr>
                <a:srgbClr val="0000CC"/>
              </a:buClr>
              <a:buSzPts val="2400"/>
              <a:buFont typeface="Times New Roman"/>
              <a:buAutoNum type="arabicPeriod"/>
            </a:pPr>
            <a:r>
              <a:rPr b="1" i="0" lang="en-US" sz="2400" u="none" cap="none" strike="noStrike">
                <a:solidFill>
                  <a:srgbClr val="0000CC"/>
                </a:solidFill>
                <a:latin typeface="Times New Roman"/>
                <a:ea typeface="Times New Roman"/>
                <a:cs typeface="Times New Roman"/>
                <a:sym typeface="Times New Roman"/>
              </a:rPr>
              <a:t>Bộ giáo dục và đào tạo (2016), </a:t>
            </a:r>
            <a:r>
              <a:rPr b="1" i="1" lang="en-US" sz="2400" u="none" cap="none" strike="noStrike">
                <a:solidFill>
                  <a:srgbClr val="0000CC"/>
                </a:solidFill>
                <a:latin typeface="Times New Roman"/>
                <a:ea typeface="Times New Roman"/>
                <a:cs typeface="Times New Roman"/>
                <a:sym typeface="Times New Roman"/>
              </a:rPr>
              <a:t>Giáo trình Đường lối cách mạng của  Đảng cộng sản Việt Nam</a:t>
            </a:r>
            <a:r>
              <a:rPr b="1" i="0" lang="en-US" sz="2400" u="none" cap="none" strike="noStrike">
                <a:solidFill>
                  <a:srgbClr val="0000CC"/>
                </a:solidFill>
                <a:latin typeface="Times New Roman"/>
                <a:ea typeface="Times New Roman"/>
                <a:cs typeface="Times New Roman"/>
                <a:sym typeface="Times New Roman"/>
              </a:rPr>
              <a:t>, Nxb Chính trị quốc gia - Hà Nội.*</a:t>
            </a:r>
            <a:endParaRPr b="1" i="0" sz="2400" u="none" cap="none" strike="noStrike">
              <a:solidFill>
                <a:srgbClr val="0000CC"/>
              </a:solidFill>
              <a:latin typeface="Times New Roman"/>
              <a:ea typeface="Times New Roman"/>
              <a:cs typeface="Times New Roman"/>
              <a:sym typeface="Times New Roman"/>
            </a:endParaRPr>
          </a:p>
          <a:p>
            <a:pPr indent="-342900" lvl="0" marL="342900" marR="0" rtl="0" algn="just">
              <a:spcBef>
                <a:spcPts val="1200"/>
              </a:spcBef>
              <a:spcAft>
                <a:spcPts val="0"/>
              </a:spcAft>
              <a:buClr>
                <a:srgbClr val="0000CC"/>
              </a:buClr>
              <a:buSzPts val="2400"/>
              <a:buFont typeface="Times New Roman"/>
              <a:buAutoNum type="arabicPeriod"/>
            </a:pPr>
            <a:r>
              <a:rPr b="1" i="0" lang="en-US" sz="2400" u="none" cap="none" strike="noStrike">
                <a:solidFill>
                  <a:srgbClr val="0000CC"/>
                </a:solidFill>
                <a:latin typeface="Times New Roman"/>
                <a:ea typeface="Times New Roman"/>
                <a:cs typeface="Times New Roman"/>
                <a:sym typeface="Times New Roman"/>
              </a:rPr>
              <a:t>Bộ giáo dục và đào tạo (2006), </a:t>
            </a:r>
            <a:r>
              <a:rPr b="1" i="1" lang="en-US" sz="2400" u="none" cap="none" strike="noStrike">
                <a:solidFill>
                  <a:srgbClr val="0000CC"/>
                </a:solidFill>
                <a:latin typeface="Times New Roman"/>
                <a:ea typeface="Times New Roman"/>
                <a:cs typeface="Times New Roman"/>
                <a:sym typeface="Times New Roman"/>
              </a:rPr>
              <a:t>Giáo trình Lịch sử Đảng cộng sản Việt Nam</a:t>
            </a:r>
            <a:r>
              <a:rPr b="1" i="0" lang="en-US" sz="2400" u="none" cap="none" strike="noStrike">
                <a:solidFill>
                  <a:srgbClr val="0000CC"/>
                </a:solidFill>
                <a:latin typeface="Times New Roman"/>
                <a:ea typeface="Times New Roman"/>
                <a:cs typeface="Times New Roman"/>
                <a:sym typeface="Times New Roman"/>
              </a:rPr>
              <a:t>, Nxb Chính trị quốc gia - Hà Nội.</a:t>
            </a:r>
            <a:endParaRPr/>
          </a:p>
          <a:p>
            <a:pPr indent="-342900" lvl="0" marL="342900" marR="0" rtl="0" algn="just">
              <a:spcBef>
                <a:spcPts val="1200"/>
              </a:spcBef>
              <a:spcAft>
                <a:spcPts val="0"/>
              </a:spcAft>
              <a:buClr>
                <a:srgbClr val="0000CC"/>
              </a:buClr>
              <a:buSzPts val="2400"/>
              <a:buFont typeface="Times New Roman"/>
              <a:buAutoNum type="arabicPeriod"/>
            </a:pPr>
            <a:r>
              <a:rPr b="1" i="1" lang="en-US" sz="2400" u="none" cap="none" strike="noStrike">
                <a:solidFill>
                  <a:srgbClr val="0000CC"/>
                </a:solidFill>
                <a:latin typeface="Times New Roman"/>
                <a:ea typeface="Times New Roman"/>
                <a:cs typeface="Times New Roman"/>
                <a:sym typeface="Times New Roman"/>
              </a:rPr>
              <a:t>Tìm hiểu lịch sử Việt Nam</a:t>
            </a:r>
            <a:r>
              <a:rPr b="1" i="0" lang="en-US" sz="2400" u="none" cap="none" strike="noStrike">
                <a:solidFill>
                  <a:srgbClr val="0000CC"/>
                </a:solidFill>
                <a:latin typeface="Times New Roman"/>
                <a:ea typeface="Times New Roman"/>
                <a:cs typeface="Times New Roman"/>
                <a:sym typeface="Times New Roman"/>
              </a:rPr>
              <a:t>, NXB Văn hóa Thông tin, Hà Nội, 2001.</a:t>
            </a:r>
            <a:endParaRPr/>
          </a:p>
          <a:p>
            <a:pPr indent="-342900" lvl="0" marL="342900" marR="0" rtl="0" algn="just">
              <a:spcBef>
                <a:spcPts val="0"/>
              </a:spcBef>
              <a:spcAft>
                <a:spcPts val="0"/>
              </a:spcAft>
              <a:buClr>
                <a:srgbClr val="0000CC"/>
              </a:buClr>
              <a:buSzPts val="2400"/>
              <a:buFont typeface="Times New Roman"/>
              <a:buAutoNum type="arabicPeriod" startAt="3"/>
            </a:pPr>
            <a:r>
              <a:rPr b="1" i="0" lang="en-US" sz="2400" u="none" cap="none" strike="noStrike">
                <a:solidFill>
                  <a:srgbClr val="0000CC"/>
                </a:solidFill>
                <a:latin typeface="Times New Roman"/>
                <a:ea typeface="Times New Roman"/>
                <a:cs typeface="Times New Roman"/>
                <a:sym typeface="Times New Roman"/>
              </a:rPr>
              <a:t>Đinh Xuân Lâm (chủ biên), </a:t>
            </a:r>
            <a:r>
              <a:rPr b="1" i="1" lang="en-US" sz="2400" u="none" cap="none" strike="noStrike">
                <a:solidFill>
                  <a:srgbClr val="0000CC"/>
                </a:solidFill>
                <a:latin typeface="Times New Roman"/>
                <a:ea typeface="Times New Roman"/>
                <a:cs typeface="Times New Roman"/>
                <a:sym typeface="Times New Roman"/>
              </a:rPr>
              <a:t>Đại cương lịch sử Việt Nam</a:t>
            </a:r>
            <a:r>
              <a:rPr b="1" i="0" lang="en-US" sz="2400" u="none" cap="none" strike="noStrike">
                <a:solidFill>
                  <a:srgbClr val="0000CC"/>
                </a:solidFill>
                <a:latin typeface="Times New Roman"/>
                <a:ea typeface="Times New Roman"/>
                <a:cs typeface="Times New Roman"/>
                <a:sym typeface="Times New Roman"/>
              </a:rPr>
              <a:t>, tập I, II, III Nxb Giáo dục, Hà Nội, 1998.</a:t>
            </a:r>
            <a:endParaRPr/>
          </a:p>
          <a:p>
            <a:pPr indent="-342900" lvl="0" marL="342900" marR="0" rtl="0" algn="just">
              <a:spcBef>
                <a:spcPts val="0"/>
              </a:spcBef>
              <a:spcAft>
                <a:spcPts val="0"/>
              </a:spcAft>
              <a:buClr>
                <a:srgbClr val="0000CC"/>
              </a:buClr>
              <a:buSzPts val="2400"/>
              <a:buFont typeface="Times New Roman"/>
              <a:buAutoNum type="arabicPeriod" startAt="3"/>
            </a:pPr>
            <a:r>
              <a:rPr b="1" i="0" lang="en-US" sz="2400" u="none" cap="none" strike="noStrike">
                <a:solidFill>
                  <a:srgbClr val="0000CC"/>
                </a:solidFill>
                <a:latin typeface="Times New Roman"/>
                <a:ea typeface="Times New Roman"/>
                <a:cs typeface="Times New Roman"/>
                <a:sym typeface="Times New Roman"/>
              </a:rPr>
              <a:t>Nguyễn Quang Ngọc, </a:t>
            </a:r>
            <a:r>
              <a:rPr b="1" i="1" lang="en-US" sz="2400" u="none" cap="none" strike="noStrike">
                <a:solidFill>
                  <a:srgbClr val="0000CC"/>
                </a:solidFill>
                <a:latin typeface="Times New Roman"/>
                <a:ea typeface="Times New Roman"/>
                <a:cs typeface="Times New Roman"/>
                <a:sym typeface="Times New Roman"/>
              </a:rPr>
              <a:t>Tiến trình lịch sử Việt Nam</a:t>
            </a:r>
            <a:r>
              <a:rPr b="1" i="0" lang="en-US" sz="2400" u="none" cap="none" strike="noStrike">
                <a:solidFill>
                  <a:srgbClr val="0000CC"/>
                </a:solidFill>
                <a:latin typeface="Times New Roman"/>
                <a:ea typeface="Times New Roman"/>
                <a:cs typeface="Times New Roman"/>
                <a:sym typeface="Times New Roman"/>
              </a:rPr>
              <a:t>, Nxb Giáo dục, Hà Nội, 1998.</a:t>
            </a:r>
            <a:endParaRPr/>
          </a:p>
          <a:p>
            <a:pPr indent="-342900" lvl="0" marL="342900" marR="0" rtl="0" algn="just">
              <a:spcBef>
                <a:spcPts val="0"/>
              </a:spcBef>
              <a:spcAft>
                <a:spcPts val="0"/>
              </a:spcAft>
              <a:buNone/>
            </a:pPr>
            <a:r>
              <a:t/>
            </a:r>
            <a:endParaRPr b="1" i="0" sz="2400" u="none" cap="none" strike="noStrike">
              <a:solidFill>
                <a:srgbClr val="0000CC"/>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xEl>
                                              <p:pRg end="0" st="0"/>
                                            </p:txEl>
                                          </p:spTgt>
                                        </p:tgtEl>
                                        <p:attrNameLst>
                                          <p:attrName>style.visibility</p:attrName>
                                        </p:attrNameLst>
                                      </p:cBhvr>
                                      <p:to>
                                        <p:strVal val="visible"/>
                                      </p:to>
                                    </p:set>
                                    <p:animEffect filter="fade" transition="in">
                                      <p:cBhvr>
                                        <p:cTn dur="500"/>
                                        <p:tgtEl>
                                          <p:spTgt spid="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xEl>
                                              <p:pRg end="1" st="1"/>
                                            </p:txEl>
                                          </p:spTgt>
                                        </p:tgtEl>
                                        <p:attrNameLst>
                                          <p:attrName>style.visibility</p:attrName>
                                        </p:attrNameLst>
                                      </p:cBhvr>
                                      <p:to>
                                        <p:strVal val="visible"/>
                                      </p:to>
                                    </p:set>
                                    <p:animEffect filter="fade" transition="in">
                                      <p:cBhvr>
                                        <p:cTn dur="500"/>
                                        <p:tgtEl>
                                          <p:spTgt spid="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xEl>
                                              <p:pRg end="2" st="2"/>
                                            </p:txEl>
                                          </p:spTgt>
                                        </p:tgtEl>
                                        <p:attrNameLst>
                                          <p:attrName>style.visibility</p:attrName>
                                        </p:attrNameLst>
                                      </p:cBhvr>
                                      <p:to>
                                        <p:strVal val="visible"/>
                                      </p:to>
                                    </p:set>
                                    <p:animEffect filter="fade" transition="in">
                                      <p:cBhvr>
                                        <p:cTn dur="500"/>
                                        <p:tgtEl>
                                          <p:spTgt spid="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xEl>
                                              <p:pRg end="3" st="3"/>
                                            </p:txEl>
                                          </p:spTgt>
                                        </p:tgtEl>
                                        <p:attrNameLst>
                                          <p:attrName>style.visibility</p:attrName>
                                        </p:attrNameLst>
                                      </p:cBhvr>
                                      <p:to>
                                        <p:strVal val="visible"/>
                                      </p:to>
                                    </p:set>
                                    <p:animEffect filter="fade" transition="in">
                                      <p:cBhvr>
                                        <p:cTn dur="500"/>
                                        <p:tgtEl>
                                          <p:spTgt spid="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xEl>
                                              <p:pRg end="4" st="4"/>
                                            </p:txEl>
                                          </p:spTgt>
                                        </p:tgtEl>
                                        <p:attrNameLst>
                                          <p:attrName>style.visibility</p:attrName>
                                        </p:attrNameLst>
                                      </p:cBhvr>
                                      <p:to>
                                        <p:strVal val="visible"/>
                                      </p:to>
                                    </p:set>
                                    <p:animEffect filter="fade" transition="in">
                                      <p:cBhvr>
                                        <p:cTn dur="500"/>
                                        <p:tgtEl>
                                          <p:spTgt spid="9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xEl>
                                              <p:pRg end="5" st="5"/>
                                            </p:txEl>
                                          </p:spTgt>
                                        </p:tgtEl>
                                        <p:attrNameLst>
                                          <p:attrName>style.visibility</p:attrName>
                                        </p:attrNameLst>
                                      </p:cBhvr>
                                      <p:to>
                                        <p:strVal val="visible"/>
                                      </p:to>
                                    </p:set>
                                    <p:animEffect filter="fade" transition="in">
                                      <p:cBhvr>
                                        <p:cTn dur="500"/>
                                        <p:tgtEl>
                                          <p:spTgt spid="9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xEl>
                                              <p:pRg end="6" st="6"/>
                                            </p:txEl>
                                          </p:spTgt>
                                        </p:tgtEl>
                                        <p:attrNameLst>
                                          <p:attrName>style.visibility</p:attrName>
                                        </p:attrNameLst>
                                      </p:cBhvr>
                                      <p:to>
                                        <p:strVal val="visible"/>
                                      </p:to>
                                    </p:set>
                                    <p:animEffect filter="fade" transition="in">
                                      <p:cBhvr>
                                        <p:cTn dur="500"/>
                                        <p:tgtEl>
                                          <p:spTgt spid="95">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3"/>
          <p:cNvPicPr preferRelativeResize="0"/>
          <p:nvPr/>
        </p:nvPicPr>
        <p:blipFill rotWithShape="1">
          <a:blip r:embed="rId3">
            <a:alphaModFix/>
          </a:blip>
          <a:srcRect b="0" l="0" r="0" t="0"/>
          <a:stretch/>
        </p:blipFill>
        <p:spPr>
          <a:xfrm>
            <a:off x="8223251" y="1356001"/>
            <a:ext cx="3282949" cy="2590800"/>
          </a:xfrm>
          <a:prstGeom prst="rect">
            <a:avLst/>
          </a:prstGeom>
          <a:noFill/>
          <a:ln>
            <a:noFill/>
          </a:ln>
        </p:spPr>
      </p:pic>
      <p:sp>
        <p:nvSpPr>
          <p:cNvPr id="101" name="Google Shape;101;p3"/>
          <p:cNvSpPr txBox="1"/>
          <p:nvPr/>
        </p:nvSpPr>
        <p:spPr>
          <a:xfrm>
            <a:off x="866960" y="411957"/>
            <a:ext cx="10464800" cy="8239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800" u="none" cap="none" strike="noStrike">
                <a:solidFill>
                  <a:schemeClr val="dk1"/>
                </a:solidFill>
                <a:latin typeface="Times New Roman"/>
                <a:ea typeface="Times New Roman"/>
                <a:cs typeface="Times New Roman"/>
                <a:sym typeface="Times New Roman"/>
              </a:rPr>
              <a:t>Tài liệu tham khảo</a:t>
            </a:r>
            <a:endParaRPr b="1" i="0" sz="4800" u="none" cap="none" strike="noStrike">
              <a:solidFill>
                <a:schemeClr val="dk1"/>
              </a:solidFill>
              <a:latin typeface="Times New Roman"/>
              <a:ea typeface="Times New Roman"/>
              <a:cs typeface="Times New Roman"/>
              <a:sym typeface="Times New Roman"/>
            </a:endParaRPr>
          </a:p>
        </p:txBody>
      </p:sp>
      <p:pic>
        <p:nvPicPr>
          <p:cNvPr id="102" name="Google Shape;102;p3"/>
          <p:cNvPicPr preferRelativeResize="0"/>
          <p:nvPr/>
        </p:nvPicPr>
        <p:blipFill rotWithShape="1">
          <a:blip r:embed="rId4">
            <a:alphaModFix/>
          </a:blip>
          <a:srcRect b="0" l="0" r="0" t="0"/>
          <a:stretch/>
        </p:blipFill>
        <p:spPr>
          <a:xfrm>
            <a:off x="4326652" y="1356000"/>
            <a:ext cx="3545417" cy="5197199"/>
          </a:xfrm>
          <a:prstGeom prst="rect">
            <a:avLst/>
          </a:prstGeom>
          <a:noFill/>
          <a:ln>
            <a:noFill/>
          </a:ln>
        </p:spPr>
      </p:pic>
      <p:pic>
        <p:nvPicPr>
          <p:cNvPr id="103" name="Google Shape;103;p3"/>
          <p:cNvPicPr preferRelativeResize="0"/>
          <p:nvPr/>
        </p:nvPicPr>
        <p:blipFill rotWithShape="1">
          <a:blip r:embed="rId5">
            <a:alphaModFix/>
          </a:blip>
          <a:srcRect b="0" l="0" r="0" t="0"/>
          <a:stretch/>
        </p:blipFill>
        <p:spPr>
          <a:xfrm>
            <a:off x="8223250" y="3733800"/>
            <a:ext cx="3282949" cy="2819400"/>
          </a:xfrm>
          <a:prstGeom prst="rect">
            <a:avLst/>
          </a:prstGeom>
          <a:noFill/>
          <a:ln>
            <a:noFill/>
          </a:ln>
        </p:spPr>
      </p:pic>
      <p:pic>
        <p:nvPicPr>
          <p:cNvPr descr="C:\Users\ADMIN\Desktop\6c870f4d70da003b599141f1f9be6203.jpg" id="104" name="Google Shape;104;p3"/>
          <p:cNvPicPr preferRelativeResize="0"/>
          <p:nvPr/>
        </p:nvPicPr>
        <p:blipFill rotWithShape="1">
          <a:blip r:embed="rId6">
            <a:alphaModFix/>
          </a:blip>
          <a:srcRect b="0" l="0" r="0" t="0"/>
          <a:stretch/>
        </p:blipFill>
        <p:spPr>
          <a:xfrm>
            <a:off x="167148" y="1300314"/>
            <a:ext cx="4006645" cy="530856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2000"/>
                                        <p:tgtEl>
                                          <p:spTgt spid="100"/>
                                        </p:tgtEl>
                                      </p:cBhvr>
                                    </p:animEffect>
                                  </p:childTnLst>
                                </p:cTn>
                              </p:par>
                              <p:par>
                                <p:cTn fill="hold" nodeType="with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2000"/>
                                        <p:tgtEl>
                                          <p:spTgt spid="102"/>
                                        </p:tgtEl>
                                      </p:cBhvr>
                                    </p:animEffect>
                                  </p:childTnLst>
                                </p:cTn>
                              </p:par>
                              <p:par>
                                <p:cTn fill="hold" nodeType="with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2000"/>
                                        <p:tgtEl>
                                          <p:spTgt spid="1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p:nvPr/>
        </p:nvSpPr>
        <p:spPr>
          <a:xfrm>
            <a:off x="2301965" y="545294"/>
            <a:ext cx="4246675" cy="461665"/>
          </a:xfrm>
          <a:prstGeom prst="rect">
            <a:avLst/>
          </a:prstGeom>
          <a:noFill/>
          <a:ln>
            <a:noFill/>
          </a:ln>
        </p:spPr>
        <p:txBody>
          <a:bodyPr anchorCtr="0" anchor="ctr" bIns="45700" lIns="91425" spcFirstLastPara="1" rIns="91425" wrap="square" tIns="45700">
            <a:spAutoFit/>
          </a:bodyPr>
          <a:lstStyle/>
          <a:p>
            <a:pPr indent="457200" lvl="0" marL="0" marR="0" rtl="0" algn="l">
              <a:spcBef>
                <a:spcPts val="0"/>
              </a:spcBef>
              <a:spcAft>
                <a:spcPts val="0"/>
              </a:spcAft>
              <a:buNone/>
            </a:pPr>
            <a:r>
              <a:rPr b="1" i="0" lang="en-US" sz="2400" u="none" cap="none" strike="noStrike">
                <a:solidFill>
                  <a:schemeClr val="dk1"/>
                </a:solidFill>
                <a:latin typeface="Calibri"/>
                <a:ea typeface="Calibri"/>
                <a:cs typeface="Calibri"/>
                <a:sym typeface="Calibri"/>
              </a:rPr>
              <a:t>1. Đối tượng nghiên cứu</a:t>
            </a:r>
            <a:endParaRPr b="0" i="0" sz="2400" u="none" cap="none" strike="noStrike">
              <a:solidFill>
                <a:schemeClr val="dk1"/>
              </a:solidFill>
              <a:latin typeface="Calibri"/>
              <a:ea typeface="Calibri"/>
              <a:cs typeface="Calibri"/>
              <a:sym typeface="Calibri"/>
            </a:endParaRPr>
          </a:p>
        </p:txBody>
      </p:sp>
      <p:pic>
        <p:nvPicPr>
          <p:cNvPr descr="CHAN DUNG HCTICH.jpg" id="110" name="Google Shape;110;p4"/>
          <p:cNvPicPr preferRelativeResize="0"/>
          <p:nvPr/>
        </p:nvPicPr>
        <p:blipFill rotWithShape="1">
          <a:blip r:embed="rId3">
            <a:alphaModFix/>
          </a:blip>
          <a:srcRect b="0" l="0" r="0" t="0"/>
          <a:stretch/>
        </p:blipFill>
        <p:spPr>
          <a:xfrm>
            <a:off x="7112000" y="1447800"/>
            <a:ext cx="4819651" cy="4267200"/>
          </a:xfrm>
          <a:prstGeom prst="rect">
            <a:avLst/>
          </a:prstGeom>
          <a:noFill/>
          <a:ln>
            <a:noFill/>
          </a:ln>
        </p:spPr>
      </p:pic>
      <p:sp>
        <p:nvSpPr>
          <p:cNvPr id="111" name="Google Shape;111;p4"/>
          <p:cNvSpPr/>
          <p:nvPr/>
        </p:nvSpPr>
        <p:spPr>
          <a:xfrm>
            <a:off x="7327901" y="5715001"/>
            <a:ext cx="4660900" cy="612775"/>
          </a:xfrm>
          <a:prstGeom prst="rect">
            <a:avLst/>
          </a:prstGeom>
          <a:noFill/>
          <a:ln>
            <a:noFill/>
          </a:ln>
        </p:spPr>
        <p:txBody>
          <a:bodyPr anchorCtr="0" anchor="b" bIns="45700" lIns="91425" spcFirstLastPara="1" rIns="91425" wrap="square" tIns="45700">
            <a:noAutofit/>
          </a:bodyPr>
          <a:lstStyle/>
          <a:p>
            <a:pPr indent="0" lvl="0" marL="0" marR="0" rtl="0" algn="ctr">
              <a:lnSpc>
                <a:spcPct val="95000"/>
              </a:lnSpc>
              <a:spcBef>
                <a:spcPts val="0"/>
              </a:spcBef>
              <a:spcAft>
                <a:spcPts val="0"/>
              </a:spcAft>
              <a:buNone/>
            </a:pPr>
            <a:r>
              <a:rPr b="1" i="1" lang="en-US" sz="1600" u="none" cap="none" strike="noStrike">
                <a:solidFill>
                  <a:schemeClr val="dk1"/>
                </a:solidFill>
                <a:latin typeface="Calibri"/>
                <a:ea typeface="Calibri"/>
                <a:cs typeface="Calibri"/>
                <a:sym typeface="Calibri"/>
              </a:rPr>
              <a:t>Hồ Chí Minh người sáng lập</a:t>
            </a:r>
            <a:endParaRPr/>
          </a:p>
          <a:p>
            <a:pPr indent="0" lvl="0" marL="0" marR="0" rtl="0" algn="ctr">
              <a:lnSpc>
                <a:spcPct val="95000"/>
              </a:lnSpc>
              <a:spcBef>
                <a:spcPts val="0"/>
              </a:spcBef>
              <a:spcAft>
                <a:spcPts val="0"/>
              </a:spcAft>
              <a:buNone/>
            </a:pPr>
            <a:r>
              <a:rPr b="1" i="1" lang="en-US" sz="1600" u="none" cap="none" strike="noStrike">
                <a:solidFill>
                  <a:schemeClr val="dk1"/>
                </a:solidFill>
                <a:latin typeface="Calibri"/>
                <a:ea typeface="Calibri"/>
                <a:cs typeface="Calibri"/>
                <a:sym typeface="Calibri"/>
              </a:rPr>
              <a:t> ra Đảng cộng sản Việt Nam</a:t>
            </a:r>
            <a:endParaRPr/>
          </a:p>
        </p:txBody>
      </p:sp>
      <p:sp>
        <p:nvSpPr>
          <p:cNvPr id="112" name="Google Shape;112;p4"/>
          <p:cNvSpPr/>
          <p:nvPr/>
        </p:nvSpPr>
        <p:spPr>
          <a:xfrm>
            <a:off x="719666" y="5562600"/>
            <a:ext cx="5952067" cy="476250"/>
          </a:xfrm>
          <a:prstGeom prst="rect">
            <a:avLst/>
          </a:prstGeom>
          <a:noFill/>
          <a:ln>
            <a:noFill/>
          </a:ln>
        </p:spPr>
        <p:txBody>
          <a:bodyPr anchorCtr="0" anchor="b" bIns="45700" lIns="91425" spcFirstLastPara="1" rIns="91425" wrap="square" tIns="45700">
            <a:noAutofit/>
          </a:bodyPr>
          <a:lstStyle/>
          <a:p>
            <a:pPr indent="0" lvl="0" marL="0" marR="0" rtl="0" algn="ctr">
              <a:lnSpc>
                <a:spcPct val="95000"/>
              </a:lnSpc>
              <a:spcBef>
                <a:spcPts val="0"/>
              </a:spcBef>
              <a:spcAft>
                <a:spcPts val="0"/>
              </a:spcAft>
              <a:buNone/>
            </a:pPr>
            <a:r>
              <a:rPr b="1" i="1" lang="en-US" sz="1600" u="none" cap="none" strike="noStrike">
                <a:solidFill>
                  <a:schemeClr val="dk1"/>
                </a:solidFill>
                <a:latin typeface="Calibri"/>
                <a:ea typeface="Calibri"/>
                <a:cs typeface="Calibri"/>
                <a:sym typeface="Calibri"/>
              </a:rPr>
              <a:t>Đảng kỳ của Đảng cộng sản Việt Nam</a:t>
            </a:r>
            <a:endParaRPr/>
          </a:p>
        </p:txBody>
      </p:sp>
      <p:sp>
        <p:nvSpPr>
          <p:cNvPr id="113" name="Google Shape;113;p4"/>
          <p:cNvSpPr/>
          <p:nvPr/>
        </p:nvSpPr>
        <p:spPr>
          <a:xfrm>
            <a:off x="203200" y="76200"/>
            <a:ext cx="10619317" cy="51593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3200" u="none" cap="none" strike="noStrike">
              <a:solidFill>
                <a:schemeClr val="hlink"/>
              </a:solidFill>
              <a:latin typeface="Times New Roman"/>
              <a:ea typeface="Times New Roman"/>
              <a:cs typeface="Times New Roman"/>
              <a:sym typeface="Times New Roman"/>
            </a:endParaRPr>
          </a:p>
        </p:txBody>
      </p:sp>
      <p:pic>
        <p:nvPicPr>
          <p:cNvPr id="114" name="Google Shape;114;p4"/>
          <p:cNvPicPr preferRelativeResize="0"/>
          <p:nvPr/>
        </p:nvPicPr>
        <p:blipFill rotWithShape="1">
          <a:blip r:embed="rId4">
            <a:alphaModFix/>
          </a:blip>
          <a:srcRect b="0" l="0" r="0" t="0"/>
          <a:stretch/>
        </p:blipFill>
        <p:spPr>
          <a:xfrm>
            <a:off x="1176867" y="1828800"/>
            <a:ext cx="4455726" cy="297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500"/>
                                        <p:tgtEl>
                                          <p:spTgt spid="1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500"/>
                                        <p:tgtEl>
                                          <p:spTgt spid="110"/>
                                        </p:tgtEl>
                                      </p:cBhvr>
                                    </p:animEffect>
                                  </p:childTnLst>
                                </p:cTn>
                              </p:par>
                              <p:par>
                                <p:cTn fill="hold" nodeType="with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500"/>
                                        <p:tgtEl>
                                          <p:spTgt spid="111"/>
                                        </p:tgtEl>
                                      </p:cBhvr>
                                    </p:animEffect>
                                  </p:childTnLst>
                                </p:cTn>
                              </p:par>
                              <p:par>
                                <p:cTn fill="hold" nodeType="with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500"/>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p:nvPr/>
        </p:nvSpPr>
        <p:spPr>
          <a:xfrm>
            <a:off x="2153269" y="452110"/>
            <a:ext cx="5168349" cy="461665"/>
          </a:xfrm>
          <a:prstGeom prst="rect">
            <a:avLst/>
          </a:prstGeom>
          <a:noFill/>
          <a:ln>
            <a:noFill/>
          </a:ln>
        </p:spPr>
        <p:txBody>
          <a:bodyPr anchorCtr="0" anchor="ctr" bIns="45700" lIns="91425" spcFirstLastPara="1" rIns="91425" wrap="square" tIns="45700">
            <a:spAutoFit/>
          </a:bodyPr>
          <a:lstStyle/>
          <a:p>
            <a:pPr indent="457200" lvl="0" marL="0" marR="0" rtl="0" algn="l">
              <a:spcBef>
                <a:spcPts val="0"/>
              </a:spcBef>
              <a:spcAft>
                <a:spcPts val="0"/>
              </a:spcAft>
              <a:buNone/>
            </a:pPr>
            <a:r>
              <a:rPr b="1" i="0" lang="en-US" sz="2400" u="none" cap="none" strike="noStrike">
                <a:solidFill>
                  <a:schemeClr val="dk1"/>
                </a:solidFill>
                <a:latin typeface="Calibri"/>
                <a:ea typeface="Calibri"/>
                <a:cs typeface="Calibri"/>
                <a:sym typeface="Calibri"/>
              </a:rPr>
              <a:t>1. Đối tượng nghiên cứu</a:t>
            </a:r>
            <a:endParaRPr b="0" i="0" sz="2400" u="none" cap="none" strike="noStrike">
              <a:solidFill>
                <a:schemeClr val="dk1"/>
              </a:solidFill>
              <a:latin typeface="Calibri"/>
              <a:ea typeface="Calibri"/>
              <a:cs typeface="Calibri"/>
              <a:sym typeface="Calibri"/>
            </a:endParaRPr>
          </a:p>
        </p:txBody>
      </p:sp>
      <p:sp>
        <p:nvSpPr>
          <p:cNvPr id="120" name="Google Shape;120;p5"/>
          <p:cNvSpPr/>
          <p:nvPr/>
        </p:nvSpPr>
        <p:spPr>
          <a:xfrm>
            <a:off x="630582" y="4519826"/>
            <a:ext cx="6908800" cy="1815882"/>
          </a:xfrm>
          <a:prstGeom prst="rect">
            <a:avLst/>
          </a:prstGeom>
          <a:solidFill>
            <a:srgbClr val="CCFFFF"/>
          </a:solidFill>
          <a:ln cap="flat" cmpd="sng" w="57150">
            <a:solidFill>
              <a:srgbClr val="008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rPr b="0" i="1" lang="en-US" sz="2800" u="none" cap="none" strike="noStrike">
                <a:solidFill>
                  <a:schemeClr val="dk1"/>
                </a:solidFill>
                <a:latin typeface="Calibri"/>
                <a:ea typeface="Calibri"/>
                <a:cs typeface="Calibri"/>
                <a:sym typeface="Calibri"/>
              </a:rPr>
              <a:t>	Đối tượng nghiên cứu của khoa học Lịch sử Đảng là sự ra đời, phát triển và hoạt động lãnh đạo của Đảng Cộng sản Việt Nam qua các thời kỳ lịch sử.</a:t>
            </a:r>
            <a:endParaRPr sz="2800">
              <a:solidFill>
                <a:schemeClr val="dk1"/>
              </a:solidFill>
              <a:latin typeface="Calibri"/>
              <a:ea typeface="Calibri"/>
              <a:cs typeface="Calibri"/>
              <a:sym typeface="Calibri"/>
            </a:endParaRPr>
          </a:p>
        </p:txBody>
      </p:sp>
      <p:pic>
        <p:nvPicPr>
          <p:cNvPr descr="C:\Users\ADMIN\Desktop\6c870f4d70da003b599141f1f9be6203.jpg" id="121" name="Google Shape;121;p5"/>
          <p:cNvPicPr preferRelativeResize="0"/>
          <p:nvPr/>
        </p:nvPicPr>
        <p:blipFill rotWithShape="1">
          <a:blip r:embed="rId3">
            <a:alphaModFix/>
          </a:blip>
          <a:srcRect b="0" l="0" r="0" t="0"/>
          <a:stretch/>
        </p:blipFill>
        <p:spPr>
          <a:xfrm>
            <a:off x="8717281" y="0"/>
            <a:ext cx="3474720" cy="4067716"/>
          </a:xfrm>
          <a:prstGeom prst="rect">
            <a:avLst/>
          </a:prstGeom>
          <a:noFill/>
          <a:ln>
            <a:noFill/>
          </a:ln>
        </p:spPr>
      </p:pic>
      <p:pic>
        <p:nvPicPr>
          <p:cNvPr id="122" name="Google Shape;122;p5"/>
          <p:cNvPicPr preferRelativeResize="0"/>
          <p:nvPr/>
        </p:nvPicPr>
        <p:blipFill rotWithShape="1">
          <a:blip r:embed="rId4">
            <a:alphaModFix/>
          </a:blip>
          <a:srcRect b="0" l="0" r="0" t="0"/>
          <a:stretch/>
        </p:blipFill>
        <p:spPr>
          <a:xfrm>
            <a:off x="1857119" y="1343025"/>
            <a:ext cx="4455726" cy="2978150"/>
          </a:xfrm>
          <a:prstGeom prst="rect">
            <a:avLst/>
          </a:prstGeom>
          <a:noFill/>
          <a:ln>
            <a:noFill/>
          </a:ln>
        </p:spPr>
      </p:pic>
      <p:pic>
        <p:nvPicPr>
          <p:cNvPr id="123" name="Google Shape;123;p5"/>
          <p:cNvPicPr preferRelativeResize="0"/>
          <p:nvPr/>
        </p:nvPicPr>
        <p:blipFill rotWithShape="1">
          <a:blip r:embed="rId5">
            <a:alphaModFix/>
          </a:blip>
          <a:srcRect b="0" l="0" r="0" t="0"/>
          <a:stretch/>
        </p:blipFill>
        <p:spPr>
          <a:xfrm>
            <a:off x="8358828" y="4067716"/>
            <a:ext cx="3833172" cy="279028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grpSp>
        <p:nvGrpSpPr>
          <p:cNvPr id="128" name="Google Shape;128;p6"/>
          <p:cNvGrpSpPr/>
          <p:nvPr/>
        </p:nvGrpSpPr>
        <p:grpSpPr>
          <a:xfrm>
            <a:off x="2371930" y="895561"/>
            <a:ext cx="6302204" cy="4316102"/>
            <a:chOff x="2473934" y="1763864"/>
            <a:chExt cx="5615562" cy="4316102"/>
          </a:xfrm>
        </p:grpSpPr>
        <p:grpSp>
          <p:nvGrpSpPr>
            <p:cNvPr id="129" name="Google Shape;129;p6"/>
            <p:cNvGrpSpPr/>
            <p:nvPr/>
          </p:nvGrpSpPr>
          <p:grpSpPr>
            <a:xfrm>
              <a:off x="2473934" y="1763864"/>
              <a:ext cx="5615562" cy="1245877"/>
              <a:chOff x="912" y="1008"/>
              <a:chExt cx="3984" cy="912"/>
            </a:xfrm>
          </p:grpSpPr>
          <p:sp>
            <p:nvSpPr>
              <p:cNvPr id="130" name="Google Shape;130;p6"/>
              <p:cNvSpPr/>
              <p:nvPr/>
            </p:nvSpPr>
            <p:spPr>
              <a:xfrm>
                <a:off x="912" y="1008"/>
                <a:ext cx="3984" cy="912"/>
              </a:xfrm>
              <a:prstGeom prst="roundRect">
                <a:avLst>
                  <a:gd fmla="val 10889" name="adj"/>
                </a:avLst>
              </a:prstGeom>
              <a:gradFill>
                <a:gsLst>
                  <a:gs pos="0">
                    <a:srgbClr val="DDDDDD"/>
                  </a:gs>
                  <a:gs pos="50000">
                    <a:srgbClr val="F3F3F3"/>
                  </a:gs>
                  <a:gs pos="100000">
                    <a:srgbClr val="DDDDDD"/>
                  </a:gs>
                </a:gsLst>
                <a:lin ang="2700000" scaled="0"/>
              </a:gradFill>
              <a:ln cap="flat" cmpd="sng" w="38100">
                <a:solidFill>
                  <a:srgbClr val="FFFFFF"/>
                </a:solidFill>
                <a:prstDash val="solid"/>
                <a:round/>
                <a:headEnd len="sm" w="sm" type="none"/>
                <a:tailEnd len="sm" w="sm" type="none"/>
              </a:ln>
              <a:effectLst>
                <a:outerShdw rotWithShape="0" algn="ctr" dir="2928844" dist="135003">
                  <a:srgbClr val="000000">
                    <a:alpha val="4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p:txBody>
          </p:sp>
          <p:grpSp>
            <p:nvGrpSpPr>
              <p:cNvPr id="131" name="Google Shape;131;p6"/>
              <p:cNvGrpSpPr/>
              <p:nvPr/>
            </p:nvGrpSpPr>
            <p:grpSpPr>
              <a:xfrm>
                <a:off x="999" y="1092"/>
                <a:ext cx="768" cy="746"/>
                <a:chOff x="999" y="1092"/>
                <a:chExt cx="768" cy="746"/>
              </a:xfrm>
            </p:grpSpPr>
            <p:sp>
              <p:nvSpPr>
                <p:cNvPr id="132" name="Google Shape;132;p6"/>
                <p:cNvSpPr/>
                <p:nvPr/>
              </p:nvSpPr>
              <p:spPr>
                <a:xfrm>
                  <a:off x="999" y="1092"/>
                  <a:ext cx="768" cy="746"/>
                </a:xfrm>
                <a:prstGeom prst="roundRect">
                  <a:avLst>
                    <a:gd fmla="val 11921" name="adj"/>
                  </a:avLst>
                </a:prstGeom>
                <a:gradFill>
                  <a:gsLst>
                    <a:gs pos="0">
                      <a:schemeClr val="accent1"/>
                    </a:gs>
                    <a:gs pos="100000">
                      <a:srgbClr val="3960A6"/>
                    </a:gs>
                  </a:gsLst>
                  <a:lin ang="5400000" scaled="0"/>
                </a:grad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p:txBody>
            </p:sp>
            <p:sp>
              <p:nvSpPr>
                <p:cNvPr id="133" name="Google Shape;133;p6"/>
                <p:cNvSpPr/>
                <p:nvPr/>
              </p:nvSpPr>
              <p:spPr>
                <a:xfrm>
                  <a:off x="1047" y="1140"/>
                  <a:ext cx="383" cy="373"/>
                </a:xfrm>
                <a:custGeom>
                  <a:rect b="b" l="l" r="r" t="t"/>
                  <a:pathLst>
                    <a:path extrusionOk="0" h="598" w="596">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a:gsLst>
                    <a:gs pos="0">
                      <a:srgbClr val="B7C2E1"/>
                    </a:gs>
                    <a:gs pos="50000">
                      <a:srgbClr val="4472C4">
                        <a:alpha val="0"/>
                      </a:srgbClr>
                    </a:gs>
                    <a:gs pos="100000">
                      <a:srgbClr val="B7C2E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p:txBody>
            </p:sp>
            <p:sp>
              <p:nvSpPr>
                <p:cNvPr id="134" name="Google Shape;134;p6"/>
                <p:cNvSpPr txBox="1"/>
                <p:nvPr/>
              </p:nvSpPr>
              <p:spPr>
                <a:xfrm>
                  <a:off x="1264" y="1295"/>
                  <a:ext cx="222" cy="29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FFFFFF"/>
                      </a:solidFill>
                      <a:latin typeface="Times New Roman"/>
                      <a:ea typeface="Times New Roman"/>
                      <a:cs typeface="Times New Roman"/>
                      <a:sym typeface="Times New Roman"/>
                    </a:rPr>
                    <a:t>1</a:t>
                  </a:r>
                  <a:endParaRPr/>
                </a:p>
              </p:txBody>
            </p:sp>
          </p:grpSp>
        </p:grpSp>
        <p:grpSp>
          <p:nvGrpSpPr>
            <p:cNvPr id="135" name="Google Shape;135;p6"/>
            <p:cNvGrpSpPr/>
            <p:nvPr/>
          </p:nvGrpSpPr>
          <p:grpSpPr>
            <a:xfrm>
              <a:off x="2473934" y="3294214"/>
              <a:ext cx="5615562" cy="1245877"/>
              <a:chOff x="912" y="2016"/>
              <a:chExt cx="3984" cy="912"/>
            </a:xfrm>
          </p:grpSpPr>
          <p:sp>
            <p:nvSpPr>
              <p:cNvPr id="136" name="Google Shape;136;p6"/>
              <p:cNvSpPr/>
              <p:nvPr/>
            </p:nvSpPr>
            <p:spPr>
              <a:xfrm>
                <a:off x="912" y="2016"/>
                <a:ext cx="3984" cy="912"/>
              </a:xfrm>
              <a:prstGeom prst="roundRect">
                <a:avLst>
                  <a:gd fmla="val 10889" name="adj"/>
                </a:avLst>
              </a:prstGeom>
              <a:gradFill>
                <a:gsLst>
                  <a:gs pos="0">
                    <a:srgbClr val="DDDDDD"/>
                  </a:gs>
                  <a:gs pos="50000">
                    <a:srgbClr val="F2F2F2"/>
                  </a:gs>
                  <a:gs pos="100000">
                    <a:srgbClr val="DDDDDD"/>
                  </a:gs>
                </a:gsLst>
                <a:lin ang="2700000" scaled="0"/>
              </a:gradFill>
              <a:ln cap="flat" cmpd="sng" w="38100">
                <a:solidFill>
                  <a:srgbClr val="FFFFFF"/>
                </a:solidFill>
                <a:prstDash val="solid"/>
                <a:round/>
                <a:headEnd len="sm" w="sm" type="none"/>
                <a:tailEnd len="sm" w="sm" type="none"/>
              </a:ln>
              <a:effectLst>
                <a:outerShdw rotWithShape="0" algn="ctr" dir="2928844" dist="135003">
                  <a:srgbClr val="000000">
                    <a:alpha val="4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p:txBody>
          </p:sp>
          <p:grpSp>
            <p:nvGrpSpPr>
              <p:cNvPr id="137" name="Google Shape;137;p6"/>
              <p:cNvGrpSpPr/>
              <p:nvPr/>
            </p:nvGrpSpPr>
            <p:grpSpPr>
              <a:xfrm>
                <a:off x="999" y="2100"/>
                <a:ext cx="768" cy="746"/>
                <a:chOff x="999" y="2100"/>
                <a:chExt cx="768" cy="746"/>
              </a:xfrm>
            </p:grpSpPr>
            <p:sp>
              <p:nvSpPr>
                <p:cNvPr id="138" name="Google Shape;138;p6"/>
                <p:cNvSpPr/>
                <p:nvPr/>
              </p:nvSpPr>
              <p:spPr>
                <a:xfrm>
                  <a:off x="999" y="2100"/>
                  <a:ext cx="768" cy="746"/>
                </a:xfrm>
                <a:prstGeom prst="roundRect">
                  <a:avLst>
                    <a:gd fmla="val 11921" name="adj"/>
                  </a:avLst>
                </a:prstGeom>
                <a:gradFill>
                  <a:gsLst>
                    <a:gs pos="0">
                      <a:srgbClr val="8EA1D4"/>
                    </a:gs>
                    <a:gs pos="100000">
                      <a:schemeClr val="hlink"/>
                    </a:gs>
                  </a:gsLst>
                  <a:lin ang="5400000" scaled="0"/>
                </a:grad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p:txBody>
            </p:sp>
            <p:sp>
              <p:nvSpPr>
                <p:cNvPr id="139" name="Google Shape;139;p6"/>
                <p:cNvSpPr/>
                <p:nvPr/>
              </p:nvSpPr>
              <p:spPr>
                <a:xfrm>
                  <a:off x="1047" y="2148"/>
                  <a:ext cx="383" cy="373"/>
                </a:xfrm>
                <a:custGeom>
                  <a:rect b="b" l="l" r="r" t="t"/>
                  <a:pathLst>
                    <a:path extrusionOk="0" h="598" w="596">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a:gsLst>
                    <a:gs pos="0">
                      <a:srgbClr val="C7CFE7"/>
                    </a:gs>
                    <a:gs pos="100000">
                      <a:srgbClr val="0563C1">
                        <a:alpha val="0"/>
                      </a:srgbClr>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p:txBody>
            </p:sp>
            <p:sp>
              <p:nvSpPr>
                <p:cNvPr id="140" name="Google Shape;140;p6"/>
                <p:cNvSpPr txBox="1"/>
                <p:nvPr/>
              </p:nvSpPr>
              <p:spPr>
                <a:xfrm>
                  <a:off x="1264" y="2304"/>
                  <a:ext cx="222" cy="29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FFFFFF"/>
                      </a:solidFill>
                      <a:latin typeface="Times New Roman"/>
                      <a:ea typeface="Times New Roman"/>
                      <a:cs typeface="Times New Roman"/>
                      <a:sym typeface="Times New Roman"/>
                    </a:rPr>
                    <a:t>2</a:t>
                  </a:r>
                  <a:endParaRPr/>
                </a:p>
              </p:txBody>
            </p:sp>
          </p:grpSp>
        </p:grpSp>
        <p:grpSp>
          <p:nvGrpSpPr>
            <p:cNvPr id="141" name="Google Shape;141;p6"/>
            <p:cNvGrpSpPr/>
            <p:nvPr/>
          </p:nvGrpSpPr>
          <p:grpSpPr>
            <a:xfrm>
              <a:off x="2473934" y="4834089"/>
              <a:ext cx="5615562" cy="1245877"/>
              <a:chOff x="912" y="3036"/>
              <a:chExt cx="3984" cy="912"/>
            </a:xfrm>
          </p:grpSpPr>
          <p:sp>
            <p:nvSpPr>
              <p:cNvPr id="142" name="Google Shape;142;p6"/>
              <p:cNvSpPr/>
              <p:nvPr/>
            </p:nvSpPr>
            <p:spPr>
              <a:xfrm>
                <a:off x="912" y="3036"/>
                <a:ext cx="3984" cy="912"/>
              </a:xfrm>
              <a:prstGeom prst="roundRect">
                <a:avLst>
                  <a:gd fmla="val 10889" name="adj"/>
                </a:avLst>
              </a:prstGeom>
              <a:gradFill>
                <a:gsLst>
                  <a:gs pos="0">
                    <a:srgbClr val="DDDDDD"/>
                  </a:gs>
                  <a:gs pos="50000">
                    <a:srgbClr val="EFEFEF"/>
                  </a:gs>
                  <a:gs pos="100000">
                    <a:srgbClr val="DDDDDD"/>
                  </a:gs>
                </a:gsLst>
                <a:lin ang="2700000" scaled="0"/>
              </a:gradFill>
              <a:ln cap="flat" cmpd="sng" w="38100">
                <a:solidFill>
                  <a:srgbClr val="FFFFFF"/>
                </a:solidFill>
                <a:prstDash val="solid"/>
                <a:round/>
                <a:headEnd len="sm" w="sm" type="none"/>
                <a:tailEnd len="sm" w="sm" type="none"/>
              </a:ln>
              <a:effectLst>
                <a:outerShdw rotWithShape="0" algn="ctr" dir="2928844" dist="135003">
                  <a:srgbClr val="000000">
                    <a:alpha val="4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p:txBody>
          </p:sp>
          <p:grpSp>
            <p:nvGrpSpPr>
              <p:cNvPr id="143" name="Google Shape;143;p6"/>
              <p:cNvGrpSpPr/>
              <p:nvPr/>
            </p:nvGrpSpPr>
            <p:grpSpPr>
              <a:xfrm>
                <a:off x="999" y="3120"/>
                <a:ext cx="768" cy="746"/>
                <a:chOff x="999" y="3120"/>
                <a:chExt cx="768" cy="746"/>
              </a:xfrm>
            </p:grpSpPr>
            <p:sp>
              <p:nvSpPr>
                <p:cNvPr id="144" name="Google Shape;144;p6"/>
                <p:cNvSpPr/>
                <p:nvPr/>
              </p:nvSpPr>
              <p:spPr>
                <a:xfrm>
                  <a:off x="999" y="3120"/>
                  <a:ext cx="768" cy="746"/>
                </a:xfrm>
                <a:prstGeom prst="roundRect">
                  <a:avLst>
                    <a:gd fmla="val 11921" name="adj"/>
                  </a:avLst>
                </a:prstGeom>
                <a:gradFill>
                  <a:gsLst>
                    <a:gs pos="0">
                      <a:srgbClr val="C4ABB5"/>
                    </a:gs>
                    <a:gs pos="100000">
                      <a:schemeClr val="folHlink"/>
                    </a:gs>
                  </a:gsLst>
                  <a:lin ang="5400000" scaled="0"/>
                </a:grad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p:txBody>
            </p:sp>
            <p:sp>
              <p:nvSpPr>
                <p:cNvPr id="145" name="Google Shape;145;p6"/>
                <p:cNvSpPr/>
                <p:nvPr/>
              </p:nvSpPr>
              <p:spPr>
                <a:xfrm>
                  <a:off x="1047" y="3168"/>
                  <a:ext cx="383" cy="373"/>
                </a:xfrm>
                <a:custGeom>
                  <a:rect b="b" l="l" r="r" t="t"/>
                  <a:pathLst>
                    <a:path extrusionOk="0" h="598" w="596">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a:gsLst>
                    <a:gs pos="0">
                      <a:srgbClr val="D4C2CA"/>
                    </a:gs>
                    <a:gs pos="100000">
                      <a:srgbClr val="954F72">
                        <a:alpha val="0"/>
                      </a:srgbClr>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p:txBody>
            </p:sp>
            <p:sp>
              <p:nvSpPr>
                <p:cNvPr id="146" name="Google Shape;146;p6"/>
                <p:cNvSpPr txBox="1"/>
                <p:nvPr/>
              </p:nvSpPr>
              <p:spPr>
                <a:xfrm>
                  <a:off x="1264" y="3324"/>
                  <a:ext cx="222" cy="29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FFFFFF"/>
                      </a:solidFill>
                      <a:latin typeface="Times New Roman"/>
                      <a:ea typeface="Times New Roman"/>
                      <a:cs typeface="Times New Roman"/>
                      <a:sym typeface="Times New Roman"/>
                    </a:rPr>
                    <a:t>3</a:t>
                  </a:r>
                  <a:endParaRPr/>
                </a:p>
              </p:txBody>
            </p:sp>
          </p:grpSp>
        </p:grpSp>
      </p:grpSp>
      <p:sp>
        <p:nvSpPr>
          <p:cNvPr id="147" name="Google Shape;147;p6"/>
          <p:cNvSpPr/>
          <p:nvPr/>
        </p:nvSpPr>
        <p:spPr>
          <a:xfrm>
            <a:off x="2371930" y="406695"/>
            <a:ext cx="5168349" cy="461665"/>
          </a:xfrm>
          <a:prstGeom prst="rect">
            <a:avLst/>
          </a:prstGeom>
          <a:noFill/>
          <a:ln>
            <a:noFill/>
          </a:ln>
        </p:spPr>
        <p:txBody>
          <a:bodyPr anchorCtr="0" anchor="ctr" bIns="45700" lIns="91425" spcFirstLastPara="1" rIns="91425" wrap="square" tIns="45700">
            <a:spAutoFit/>
          </a:bodyPr>
          <a:lstStyle/>
          <a:p>
            <a:pPr indent="457200" lvl="0" marL="0" marR="0" rtl="0" algn="l">
              <a:spcBef>
                <a:spcPts val="0"/>
              </a:spcBef>
              <a:spcAft>
                <a:spcPts val="0"/>
              </a:spcAft>
              <a:buNone/>
            </a:pPr>
            <a:r>
              <a:rPr b="1" lang="en-US" sz="2400">
                <a:solidFill>
                  <a:schemeClr val="dk1"/>
                </a:solidFill>
                <a:latin typeface="Calibri"/>
                <a:ea typeface="Calibri"/>
                <a:cs typeface="Calibri"/>
                <a:sym typeface="Calibri"/>
              </a:rPr>
              <a:t>1. Đối tượng nghiên cứu</a:t>
            </a:r>
            <a:endParaRPr sz="2400">
              <a:solidFill>
                <a:schemeClr val="dk1"/>
              </a:solidFill>
              <a:latin typeface="Calibri"/>
              <a:ea typeface="Calibri"/>
              <a:cs typeface="Calibri"/>
              <a:sym typeface="Calibri"/>
            </a:endParaRPr>
          </a:p>
        </p:txBody>
      </p:sp>
      <p:sp>
        <p:nvSpPr>
          <p:cNvPr id="148" name="Google Shape;148;p6"/>
          <p:cNvSpPr/>
          <p:nvPr/>
        </p:nvSpPr>
        <p:spPr>
          <a:xfrm>
            <a:off x="3857591" y="1287630"/>
            <a:ext cx="422923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1"/>
                </a:solidFill>
                <a:latin typeface="Times New Roman"/>
                <a:ea typeface="Times New Roman"/>
                <a:cs typeface="Times New Roman"/>
                <a:sym typeface="Times New Roman"/>
              </a:rPr>
              <a:t>Trước hết là các sự kiện lịch sử Đảng</a:t>
            </a:r>
            <a:endParaRPr b="1" sz="2000">
              <a:solidFill>
                <a:schemeClr val="accent1"/>
              </a:solidFill>
              <a:latin typeface="Times New Roman"/>
              <a:ea typeface="Times New Roman"/>
              <a:cs typeface="Times New Roman"/>
              <a:sym typeface="Times New Roman"/>
            </a:endParaRPr>
          </a:p>
        </p:txBody>
      </p:sp>
      <p:sp>
        <p:nvSpPr>
          <p:cNvPr id="149" name="Google Shape;149;p6"/>
          <p:cNvSpPr/>
          <p:nvPr/>
        </p:nvSpPr>
        <p:spPr>
          <a:xfrm>
            <a:off x="3756431" y="2588551"/>
            <a:ext cx="4890052"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800">
                <a:solidFill>
                  <a:schemeClr val="accent1"/>
                </a:solidFill>
                <a:latin typeface="Times New Roman"/>
                <a:ea typeface="Times New Roman"/>
                <a:cs typeface="Times New Roman"/>
                <a:sym typeface="Times New Roman"/>
              </a:rPr>
              <a:t>Đảng lãnh đạo cách mạng giải phóng dân tộc, xây dựng và phát triển đất nước bằng </a:t>
            </a:r>
            <a:r>
              <a:rPr b="1" i="1" lang="en-US" sz="1800">
                <a:solidFill>
                  <a:schemeClr val="accent1"/>
                </a:solidFill>
                <a:latin typeface="Times New Roman"/>
                <a:ea typeface="Times New Roman"/>
                <a:cs typeface="Times New Roman"/>
                <a:sym typeface="Times New Roman"/>
              </a:rPr>
              <a:t>Cương lĩnh, đường lối, chủ trương, chính sách lớn</a:t>
            </a:r>
            <a:r>
              <a:rPr b="1" lang="en-US" sz="1800">
                <a:solidFill>
                  <a:schemeClr val="accent1"/>
                </a:solidFill>
                <a:latin typeface="Times New Roman"/>
                <a:ea typeface="Times New Roman"/>
                <a:cs typeface="Times New Roman"/>
                <a:sym typeface="Times New Roman"/>
              </a:rPr>
              <a:t>. </a:t>
            </a:r>
            <a:endParaRPr/>
          </a:p>
        </p:txBody>
      </p:sp>
      <p:sp>
        <p:nvSpPr>
          <p:cNvPr id="150" name="Google Shape;150;p6"/>
          <p:cNvSpPr/>
          <p:nvPr/>
        </p:nvSpPr>
        <p:spPr>
          <a:xfrm>
            <a:off x="3770830" y="4236187"/>
            <a:ext cx="4903304"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800">
                <a:solidFill>
                  <a:schemeClr val="accent1"/>
                </a:solidFill>
                <a:latin typeface="Times New Roman"/>
                <a:ea typeface="Times New Roman"/>
                <a:cs typeface="Times New Roman"/>
                <a:sym typeface="Times New Roman"/>
              </a:rPr>
              <a:t>Đảng lãnh đạo thông qua quá trình </a:t>
            </a:r>
            <a:r>
              <a:rPr b="1" i="1" lang="en-US" sz="1800">
                <a:solidFill>
                  <a:schemeClr val="accent1"/>
                </a:solidFill>
                <a:latin typeface="Times New Roman"/>
                <a:ea typeface="Times New Roman"/>
                <a:cs typeface="Times New Roman"/>
                <a:sym typeface="Times New Roman"/>
              </a:rPr>
              <a:t>chỉ đạo, tổ chức</a:t>
            </a:r>
            <a:r>
              <a:rPr b="1" lang="en-US" sz="1800">
                <a:solidFill>
                  <a:schemeClr val="accent1"/>
                </a:solidFill>
                <a:latin typeface="Times New Roman"/>
                <a:ea typeface="Times New Roman"/>
                <a:cs typeface="Times New Roman"/>
                <a:sym typeface="Times New Roman"/>
              </a:rPr>
              <a:t> thực tiễn trong tiến trình cách mạng. </a:t>
            </a:r>
            <a:endParaRPr/>
          </a:p>
        </p:txBody>
      </p:sp>
      <p:grpSp>
        <p:nvGrpSpPr>
          <p:cNvPr id="151" name="Google Shape;151;p6"/>
          <p:cNvGrpSpPr/>
          <p:nvPr/>
        </p:nvGrpSpPr>
        <p:grpSpPr>
          <a:xfrm>
            <a:off x="2371930" y="5267113"/>
            <a:ext cx="6302204" cy="1245877"/>
            <a:chOff x="912" y="1008"/>
            <a:chExt cx="3984" cy="912"/>
          </a:xfrm>
        </p:grpSpPr>
        <p:sp>
          <p:nvSpPr>
            <p:cNvPr id="152" name="Google Shape;152;p6"/>
            <p:cNvSpPr/>
            <p:nvPr/>
          </p:nvSpPr>
          <p:spPr>
            <a:xfrm>
              <a:off x="912" y="1008"/>
              <a:ext cx="3984" cy="912"/>
            </a:xfrm>
            <a:prstGeom prst="roundRect">
              <a:avLst>
                <a:gd fmla="val 10889" name="adj"/>
              </a:avLst>
            </a:prstGeom>
            <a:gradFill>
              <a:gsLst>
                <a:gs pos="0">
                  <a:srgbClr val="DDDDDD"/>
                </a:gs>
                <a:gs pos="50000">
                  <a:srgbClr val="F3F3F3"/>
                </a:gs>
                <a:gs pos="100000">
                  <a:srgbClr val="DDDDDD"/>
                </a:gs>
              </a:gsLst>
              <a:lin ang="2700000" scaled="0"/>
            </a:gradFill>
            <a:ln cap="flat" cmpd="sng" w="38100">
              <a:solidFill>
                <a:srgbClr val="FFFFFF"/>
              </a:solidFill>
              <a:prstDash val="solid"/>
              <a:round/>
              <a:headEnd len="sm" w="sm" type="none"/>
              <a:tailEnd len="sm" w="sm" type="none"/>
            </a:ln>
            <a:effectLst>
              <a:outerShdw rotWithShape="0" algn="ctr" dir="2928844" dist="135003">
                <a:srgbClr val="000000">
                  <a:alpha val="4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p:txBody>
        </p:sp>
        <p:grpSp>
          <p:nvGrpSpPr>
            <p:cNvPr id="153" name="Google Shape;153;p6"/>
            <p:cNvGrpSpPr/>
            <p:nvPr/>
          </p:nvGrpSpPr>
          <p:grpSpPr>
            <a:xfrm>
              <a:off x="999" y="1092"/>
              <a:ext cx="768" cy="746"/>
              <a:chOff x="999" y="1092"/>
              <a:chExt cx="768" cy="746"/>
            </a:xfrm>
          </p:grpSpPr>
          <p:sp>
            <p:nvSpPr>
              <p:cNvPr id="154" name="Google Shape;154;p6"/>
              <p:cNvSpPr/>
              <p:nvPr/>
            </p:nvSpPr>
            <p:spPr>
              <a:xfrm>
                <a:off x="999" y="1092"/>
                <a:ext cx="768" cy="746"/>
              </a:xfrm>
              <a:prstGeom prst="roundRect">
                <a:avLst>
                  <a:gd fmla="val 11921" name="adj"/>
                </a:avLst>
              </a:prstGeom>
              <a:gradFill>
                <a:gsLst>
                  <a:gs pos="0">
                    <a:schemeClr val="accent1"/>
                  </a:gs>
                  <a:gs pos="100000">
                    <a:srgbClr val="3960A6"/>
                  </a:gs>
                </a:gsLst>
                <a:lin ang="5400000" scaled="0"/>
              </a:grad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p:txBody>
          </p:sp>
          <p:sp>
            <p:nvSpPr>
              <p:cNvPr id="155" name="Google Shape;155;p6"/>
              <p:cNvSpPr/>
              <p:nvPr/>
            </p:nvSpPr>
            <p:spPr>
              <a:xfrm>
                <a:off x="1047" y="1140"/>
                <a:ext cx="383" cy="373"/>
              </a:xfrm>
              <a:custGeom>
                <a:rect b="b" l="l" r="r" t="t"/>
                <a:pathLst>
                  <a:path extrusionOk="0" h="598" w="596">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a:gsLst>
                  <a:gs pos="0">
                    <a:srgbClr val="B7C2E1"/>
                  </a:gs>
                  <a:gs pos="50000">
                    <a:srgbClr val="4472C4">
                      <a:alpha val="0"/>
                    </a:srgbClr>
                  </a:gs>
                  <a:gs pos="100000">
                    <a:srgbClr val="B7C2E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000">
                  <a:solidFill>
                    <a:schemeClr val="dk1"/>
                  </a:solidFill>
                  <a:latin typeface="Times New Roman"/>
                  <a:ea typeface="Times New Roman"/>
                  <a:cs typeface="Times New Roman"/>
                  <a:sym typeface="Times New Roman"/>
                </a:endParaRPr>
              </a:p>
            </p:txBody>
          </p:sp>
          <p:sp>
            <p:nvSpPr>
              <p:cNvPr id="156" name="Google Shape;156;p6"/>
              <p:cNvSpPr txBox="1"/>
              <p:nvPr/>
            </p:nvSpPr>
            <p:spPr>
              <a:xfrm>
                <a:off x="1277" y="1295"/>
                <a:ext cx="198" cy="29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FFFFFF"/>
                    </a:solidFill>
                    <a:latin typeface="Times New Roman"/>
                    <a:ea typeface="Times New Roman"/>
                    <a:cs typeface="Times New Roman"/>
                    <a:sym typeface="Times New Roman"/>
                  </a:rPr>
                  <a:t>4</a:t>
                </a:r>
                <a:endParaRPr/>
              </a:p>
            </p:txBody>
          </p:sp>
        </p:grpSp>
      </p:grpSp>
      <p:sp>
        <p:nvSpPr>
          <p:cNvPr id="157" name="Google Shape;157;p6"/>
          <p:cNvSpPr/>
          <p:nvPr/>
        </p:nvSpPr>
        <p:spPr>
          <a:xfrm>
            <a:off x="3857591" y="5447438"/>
            <a:ext cx="4631620"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800">
                <a:solidFill>
                  <a:schemeClr val="accent1"/>
                </a:solidFill>
                <a:latin typeface="Times New Roman"/>
                <a:ea typeface="Times New Roman"/>
                <a:cs typeface="Times New Roman"/>
                <a:sym typeface="Times New Roman"/>
              </a:rPr>
              <a:t>Nghiên cứu Lịch sử Đảng là làm rõ hệ  thống tổ chức Đảng, công tác xây dựng Đảng qua các thời kỳ lịch sử</a:t>
            </a:r>
            <a:endParaRPr b="1" sz="1800">
              <a:solidFill>
                <a:schemeClr val="accen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descr="11- Chu tich HCM doc TNDL tai quảng truong Ba Dinh 2-9-1945.jpg" id="162" name="Google Shape;162;p7"/>
          <p:cNvPicPr preferRelativeResize="0"/>
          <p:nvPr>
            <p:ph idx="4294967295" type="body"/>
          </p:nvPr>
        </p:nvPicPr>
        <p:blipFill rotWithShape="1">
          <a:blip r:embed="rId3">
            <a:alphaModFix/>
          </a:blip>
          <a:srcRect b="0" l="0" r="0" t="0"/>
          <a:stretch/>
        </p:blipFill>
        <p:spPr>
          <a:xfrm>
            <a:off x="89454" y="2668588"/>
            <a:ext cx="3331633" cy="2767012"/>
          </a:xfrm>
          <a:prstGeom prst="rect">
            <a:avLst/>
          </a:prstGeom>
          <a:noFill/>
          <a:ln>
            <a:noFill/>
          </a:ln>
          <a:effectLst>
            <a:outerShdw blurRad="292100" rotWithShape="0" algn="tl" dir="2700000" dist="139700">
              <a:srgbClr val="333333">
                <a:alpha val="64705"/>
              </a:srgbClr>
            </a:outerShdw>
          </a:effectLst>
        </p:spPr>
      </p:pic>
      <p:sp>
        <p:nvSpPr>
          <p:cNvPr id="163" name="Google Shape;163;p7"/>
          <p:cNvSpPr/>
          <p:nvPr/>
        </p:nvSpPr>
        <p:spPr>
          <a:xfrm>
            <a:off x="4078818" y="4999038"/>
            <a:ext cx="4049183" cy="639762"/>
          </a:xfrm>
          <a:prstGeom prst="rect">
            <a:avLst/>
          </a:prstGeom>
          <a:noFill/>
          <a:ln>
            <a:noFill/>
          </a:ln>
        </p:spPr>
        <p:txBody>
          <a:bodyPr anchorCtr="0" anchor="b" bIns="45700" lIns="91425" spcFirstLastPara="1" rIns="91425" wrap="square" tIns="45700">
            <a:noAutofit/>
          </a:bodyPr>
          <a:lstStyle/>
          <a:p>
            <a:pPr indent="0" lvl="0" marL="0" marR="0" rtl="0" algn="ctr">
              <a:lnSpc>
                <a:spcPct val="95000"/>
              </a:lnSpc>
              <a:spcBef>
                <a:spcPts val="0"/>
              </a:spcBef>
              <a:spcAft>
                <a:spcPts val="0"/>
              </a:spcAft>
              <a:buNone/>
            </a:pPr>
            <a:r>
              <a:rPr b="1" lang="en-US" sz="1600">
                <a:solidFill>
                  <a:srgbClr val="C55A11"/>
                </a:solidFill>
                <a:latin typeface="Calibri"/>
                <a:ea typeface="Calibri"/>
                <a:cs typeface="Calibri"/>
                <a:sym typeface="Calibri"/>
              </a:rPr>
              <a:t>Thắng lợi trong kháng</a:t>
            </a:r>
            <a:br>
              <a:rPr b="1" lang="en-US" sz="1600">
                <a:solidFill>
                  <a:srgbClr val="C55A11"/>
                </a:solidFill>
                <a:latin typeface="Calibri"/>
                <a:ea typeface="Calibri"/>
                <a:cs typeface="Calibri"/>
                <a:sym typeface="Calibri"/>
              </a:rPr>
            </a:br>
            <a:r>
              <a:rPr b="1" lang="en-US" sz="1600">
                <a:solidFill>
                  <a:srgbClr val="C55A11"/>
                </a:solidFill>
                <a:latin typeface="Calibri"/>
                <a:ea typeface="Calibri"/>
                <a:cs typeface="Calibri"/>
                <a:sym typeface="Calibri"/>
              </a:rPr>
              <a:t> chiến chống Pháp</a:t>
            </a:r>
            <a:endParaRPr/>
          </a:p>
        </p:txBody>
      </p:sp>
      <p:sp>
        <p:nvSpPr>
          <p:cNvPr id="164" name="Google Shape;164;p7"/>
          <p:cNvSpPr/>
          <p:nvPr/>
        </p:nvSpPr>
        <p:spPr>
          <a:xfrm>
            <a:off x="8229600" y="4038600"/>
            <a:ext cx="3674533" cy="685800"/>
          </a:xfrm>
          <a:prstGeom prst="rect">
            <a:avLst/>
          </a:prstGeom>
          <a:noFill/>
          <a:ln>
            <a:noFill/>
          </a:ln>
        </p:spPr>
        <p:txBody>
          <a:bodyPr anchorCtr="0" anchor="b" bIns="45700" lIns="91425" spcFirstLastPara="1" rIns="91425" wrap="square" tIns="45700">
            <a:noAutofit/>
          </a:bodyPr>
          <a:lstStyle/>
          <a:p>
            <a:pPr indent="0" lvl="0" marL="0" marR="0" rtl="0" algn="ctr">
              <a:lnSpc>
                <a:spcPct val="95000"/>
              </a:lnSpc>
              <a:spcBef>
                <a:spcPts val="0"/>
              </a:spcBef>
              <a:spcAft>
                <a:spcPts val="0"/>
              </a:spcAft>
              <a:buNone/>
            </a:pPr>
            <a:r>
              <a:rPr b="1" lang="en-US" sz="1600">
                <a:solidFill>
                  <a:srgbClr val="C55A11"/>
                </a:solidFill>
                <a:latin typeface="Calibri"/>
                <a:ea typeface="Calibri"/>
                <a:cs typeface="Calibri"/>
                <a:sym typeface="Calibri"/>
              </a:rPr>
              <a:t>Thắng lợi trong kháng</a:t>
            </a:r>
            <a:br>
              <a:rPr b="1" lang="en-US" sz="1600">
                <a:solidFill>
                  <a:srgbClr val="C55A11"/>
                </a:solidFill>
                <a:latin typeface="Calibri"/>
                <a:ea typeface="Calibri"/>
                <a:cs typeface="Calibri"/>
                <a:sym typeface="Calibri"/>
              </a:rPr>
            </a:br>
            <a:r>
              <a:rPr b="1" lang="en-US" sz="1600">
                <a:solidFill>
                  <a:srgbClr val="C55A11"/>
                </a:solidFill>
                <a:latin typeface="Calibri"/>
                <a:ea typeface="Calibri"/>
                <a:cs typeface="Calibri"/>
                <a:sym typeface="Calibri"/>
              </a:rPr>
              <a:t> chiến chống Mỹ</a:t>
            </a:r>
            <a:endParaRPr/>
          </a:p>
        </p:txBody>
      </p:sp>
      <p:pic>
        <p:nvPicPr>
          <p:cNvPr descr="08902" id="165" name="Google Shape;165;p7"/>
          <p:cNvPicPr preferRelativeResize="0"/>
          <p:nvPr/>
        </p:nvPicPr>
        <p:blipFill rotWithShape="1">
          <a:blip r:embed="rId4">
            <a:alphaModFix/>
          </a:blip>
          <a:srcRect b="0" l="0" r="0" t="0"/>
          <a:stretch/>
        </p:blipFill>
        <p:spPr>
          <a:xfrm>
            <a:off x="4064000" y="2668588"/>
            <a:ext cx="4032251" cy="2303462"/>
          </a:xfrm>
          <a:prstGeom prst="rect">
            <a:avLst/>
          </a:prstGeom>
          <a:noFill/>
          <a:ln>
            <a:noFill/>
          </a:ln>
          <a:effectLst>
            <a:outerShdw blurRad="292100" rotWithShape="0" algn="tl" dir="2700000" dist="139700">
              <a:srgbClr val="333333">
                <a:alpha val="64705"/>
              </a:srgbClr>
            </a:outerShdw>
          </a:effectLst>
        </p:spPr>
      </p:pic>
      <p:sp>
        <p:nvSpPr>
          <p:cNvPr id="166" name="Google Shape;166;p7"/>
          <p:cNvSpPr/>
          <p:nvPr/>
        </p:nvSpPr>
        <p:spPr>
          <a:xfrm>
            <a:off x="0" y="5553076"/>
            <a:ext cx="4165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95000"/>
              </a:lnSpc>
              <a:spcBef>
                <a:spcPts val="0"/>
              </a:spcBef>
              <a:spcAft>
                <a:spcPts val="0"/>
              </a:spcAft>
              <a:buNone/>
            </a:pPr>
            <a:r>
              <a:rPr b="1" lang="en-US" sz="1600">
                <a:solidFill>
                  <a:srgbClr val="C55A11"/>
                </a:solidFill>
                <a:latin typeface="Calibri"/>
                <a:ea typeface="Calibri"/>
                <a:cs typeface="Calibri"/>
                <a:sym typeface="Calibri"/>
              </a:rPr>
              <a:t>Thắng lợi trong </a:t>
            </a:r>
            <a:br>
              <a:rPr b="1" lang="en-US" sz="1600">
                <a:solidFill>
                  <a:srgbClr val="C55A11"/>
                </a:solidFill>
                <a:latin typeface="Calibri"/>
                <a:ea typeface="Calibri"/>
                <a:cs typeface="Calibri"/>
                <a:sym typeface="Calibri"/>
              </a:rPr>
            </a:br>
            <a:r>
              <a:rPr b="1" lang="en-US" sz="1600">
                <a:solidFill>
                  <a:srgbClr val="C55A11"/>
                </a:solidFill>
                <a:latin typeface="Calibri"/>
                <a:ea typeface="Calibri"/>
                <a:cs typeface="Calibri"/>
                <a:sym typeface="Calibri"/>
              </a:rPr>
              <a:t>cách mạng tháng Tám</a:t>
            </a:r>
            <a:endParaRPr/>
          </a:p>
        </p:txBody>
      </p:sp>
      <p:pic>
        <p:nvPicPr>
          <p:cNvPr descr="DINH DOC LAP.bmp" id="167" name="Google Shape;167;p7"/>
          <p:cNvPicPr preferRelativeResize="0"/>
          <p:nvPr/>
        </p:nvPicPr>
        <p:blipFill rotWithShape="1">
          <a:blip r:embed="rId5">
            <a:alphaModFix/>
          </a:blip>
          <a:srcRect b="0" l="0" r="0" t="0"/>
          <a:stretch/>
        </p:blipFill>
        <p:spPr>
          <a:xfrm>
            <a:off x="8235951" y="1828800"/>
            <a:ext cx="3735916" cy="2209800"/>
          </a:xfrm>
          <a:prstGeom prst="rect">
            <a:avLst/>
          </a:prstGeom>
          <a:noFill/>
          <a:ln>
            <a:noFill/>
          </a:ln>
          <a:effectLst>
            <a:outerShdw blurRad="292100" rotWithShape="0" algn="tl" dir="2700000" dist="139700">
              <a:srgbClr val="333333">
                <a:alpha val="6470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par>
                                <p:cTn fill="hold" nodeType="with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par>
                                <p:cTn fill="hold" nodeType="with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par>
                                <p:cTn fill="hold" nodeType="with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par>
                                <p:cTn fill="hold" nodeType="with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500"/>
                                        <p:tgtEl>
                                          <p:spTgt spid="1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descr="24501" id="172" name="Google Shape;172;p8"/>
          <p:cNvPicPr preferRelativeResize="0"/>
          <p:nvPr/>
        </p:nvPicPr>
        <p:blipFill rotWithShape="1">
          <a:blip r:embed="rId3">
            <a:alphaModFix/>
          </a:blip>
          <a:srcRect b="0" l="0" r="0" t="0"/>
          <a:stretch/>
        </p:blipFill>
        <p:spPr>
          <a:xfrm>
            <a:off x="8015817" y="1957389"/>
            <a:ext cx="4089400" cy="4567237"/>
          </a:xfrm>
          <a:prstGeom prst="rect">
            <a:avLst/>
          </a:prstGeom>
          <a:noFill/>
          <a:ln cap="flat" cmpd="sng" w="57150">
            <a:solidFill>
              <a:srgbClr val="0000FF"/>
            </a:solidFill>
            <a:prstDash val="solid"/>
            <a:miter lim="800000"/>
            <a:headEnd len="sm" w="sm" type="none"/>
            <a:tailEnd len="sm" w="sm" type="none"/>
          </a:ln>
        </p:spPr>
      </p:pic>
      <p:pic>
        <p:nvPicPr>
          <p:cNvPr descr="14901" id="173" name="Google Shape;173;p8"/>
          <p:cNvPicPr preferRelativeResize="0"/>
          <p:nvPr/>
        </p:nvPicPr>
        <p:blipFill rotWithShape="1">
          <a:blip r:embed="rId4">
            <a:alphaModFix/>
          </a:blip>
          <a:srcRect b="0" l="0" r="0" t="0"/>
          <a:stretch/>
        </p:blipFill>
        <p:spPr>
          <a:xfrm>
            <a:off x="4271433" y="2832101"/>
            <a:ext cx="3566584" cy="3692525"/>
          </a:xfrm>
          <a:prstGeom prst="rect">
            <a:avLst/>
          </a:prstGeom>
          <a:noFill/>
          <a:ln cap="flat" cmpd="sng" w="57150">
            <a:solidFill>
              <a:srgbClr val="3333FF"/>
            </a:solidFill>
            <a:prstDash val="solid"/>
            <a:miter lim="800000"/>
            <a:headEnd len="sm" w="sm" type="none"/>
            <a:tailEnd len="sm" w="sm" type="none"/>
          </a:ln>
        </p:spPr>
      </p:pic>
      <p:sp>
        <p:nvSpPr>
          <p:cNvPr id="174" name="Google Shape;174;p8"/>
          <p:cNvSpPr/>
          <p:nvPr/>
        </p:nvSpPr>
        <p:spPr>
          <a:xfrm>
            <a:off x="1016000" y="1752600"/>
            <a:ext cx="5994400" cy="1600200"/>
          </a:xfrm>
          <a:prstGeom prst="rect">
            <a:avLst/>
          </a:prstGeom>
        </p:spPr>
        <p:txBody>
          <a:bodyPr>
            <a:prstTxWarp prst="textPlain"/>
          </a:bodyPr>
          <a:lstStyle/>
          <a:p>
            <a:pPr lvl="0" algn="l"/>
            <a:r>
              <a:rPr b="1" i="0">
                <a:ln cap="flat" cmpd="sng" w="9525">
                  <a:solidFill>
                    <a:srgbClr val="FF0000"/>
                  </a:solidFill>
                  <a:prstDash val="solid"/>
                  <a:round/>
                  <a:headEnd len="sm" w="sm" type="none"/>
                  <a:tailEnd len="sm" w="sm" type="none"/>
                </a:ln>
                <a:solidFill>
                  <a:srgbClr val="FF0000"/>
                </a:solidFill>
                <a:latin typeface="Times New Roman"/>
              </a:rPr>
              <a:t>Thắng lợi trong xây dựng CNXH</a:t>
            </a:r>
          </a:p>
        </p:txBody>
      </p:sp>
      <p:pic>
        <p:nvPicPr>
          <p:cNvPr descr="BC08.jpg" id="175" name="Google Shape;175;p8"/>
          <p:cNvPicPr preferRelativeResize="0"/>
          <p:nvPr/>
        </p:nvPicPr>
        <p:blipFill rotWithShape="1">
          <a:blip r:embed="rId5">
            <a:alphaModFix/>
          </a:blip>
          <a:srcRect b="0" l="0" r="0" t="0"/>
          <a:stretch/>
        </p:blipFill>
        <p:spPr>
          <a:xfrm>
            <a:off x="278203" y="4162426"/>
            <a:ext cx="3913717" cy="2362200"/>
          </a:xfrm>
          <a:prstGeom prst="rect">
            <a:avLst/>
          </a:prstGeom>
          <a:noFill/>
          <a:ln cap="flat" cmpd="sng" w="57150">
            <a:solidFill>
              <a:srgbClr val="FF0000"/>
            </a:solidFill>
            <a:prstDash val="solid"/>
            <a:miter lim="800000"/>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9"/>
          <p:cNvPicPr preferRelativeResize="0"/>
          <p:nvPr/>
        </p:nvPicPr>
        <p:blipFill rotWithShape="1">
          <a:blip r:embed="rId3">
            <a:alphaModFix/>
          </a:blip>
          <a:srcRect b="0" l="0" r="0" t="0"/>
          <a:stretch/>
        </p:blipFill>
        <p:spPr>
          <a:xfrm>
            <a:off x="1016000" y="4343401"/>
            <a:ext cx="4224867" cy="2232025"/>
          </a:xfrm>
          <a:prstGeom prst="rect">
            <a:avLst/>
          </a:prstGeom>
          <a:noFill/>
          <a:ln cap="flat" cmpd="sng" w="57150">
            <a:solidFill>
              <a:srgbClr val="3333FF"/>
            </a:solidFill>
            <a:prstDash val="solid"/>
            <a:miter lim="800000"/>
            <a:headEnd len="sm" w="sm" type="none"/>
            <a:tailEnd len="sm" w="sm" type="none"/>
          </a:ln>
        </p:spPr>
      </p:pic>
      <p:pic>
        <p:nvPicPr>
          <p:cNvPr id="181" name="Google Shape;181;p9"/>
          <p:cNvPicPr preferRelativeResize="0"/>
          <p:nvPr/>
        </p:nvPicPr>
        <p:blipFill rotWithShape="1">
          <a:blip r:embed="rId4">
            <a:alphaModFix/>
          </a:blip>
          <a:srcRect b="0" l="0" r="0" t="0"/>
          <a:stretch/>
        </p:blipFill>
        <p:spPr>
          <a:xfrm>
            <a:off x="5384800" y="4343401"/>
            <a:ext cx="3937000" cy="2232025"/>
          </a:xfrm>
          <a:prstGeom prst="rect">
            <a:avLst/>
          </a:prstGeom>
          <a:noFill/>
          <a:ln cap="flat" cmpd="sng" w="57150">
            <a:solidFill>
              <a:srgbClr val="3333FF"/>
            </a:solidFill>
            <a:prstDash val="solid"/>
            <a:miter lim="800000"/>
            <a:headEnd len="sm" w="sm" type="none"/>
            <a:tailEnd len="sm" w="sm" type="none"/>
          </a:ln>
        </p:spPr>
      </p:pic>
      <p:pic>
        <p:nvPicPr>
          <p:cNvPr descr="THANH TUU DOI MOI.jpg" id="182" name="Google Shape;182;p9"/>
          <p:cNvPicPr preferRelativeResize="0"/>
          <p:nvPr/>
        </p:nvPicPr>
        <p:blipFill rotWithShape="1">
          <a:blip r:embed="rId5">
            <a:alphaModFix/>
          </a:blip>
          <a:srcRect b="1520" l="16508" r="2718" t="1521"/>
          <a:stretch/>
        </p:blipFill>
        <p:spPr>
          <a:xfrm>
            <a:off x="2336800" y="1828800"/>
            <a:ext cx="4368800" cy="2317750"/>
          </a:xfrm>
          <a:prstGeom prst="rect">
            <a:avLst/>
          </a:prstGeom>
          <a:noFill/>
          <a:ln cap="flat" cmpd="sng" w="57150">
            <a:solidFill>
              <a:srgbClr val="C00000"/>
            </a:solidFill>
            <a:prstDash val="solid"/>
            <a:miter lim="800000"/>
            <a:headEnd len="sm" w="sm" type="none"/>
            <a:tailEnd len="sm" w="sm" type="none"/>
          </a:ln>
        </p:spPr>
      </p:pic>
      <p:pic>
        <p:nvPicPr>
          <p:cNvPr descr="APEC 2.jpg" id="183" name="Google Shape;183;p9"/>
          <p:cNvPicPr preferRelativeResize="0"/>
          <p:nvPr/>
        </p:nvPicPr>
        <p:blipFill rotWithShape="1">
          <a:blip r:embed="rId6">
            <a:alphaModFix/>
          </a:blip>
          <a:srcRect b="0" l="0" r="0" t="0"/>
          <a:stretch/>
        </p:blipFill>
        <p:spPr>
          <a:xfrm>
            <a:off x="6908800" y="1828801"/>
            <a:ext cx="4548717" cy="2301875"/>
          </a:xfrm>
          <a:prstGeom prst="rect">
            <a:avLst/>
          </a:prstGeom>
          <a:noFill/>
          <a:ln cap="flat" cmpd="sng" w="57150">
            <a:solidFill>
              <a:srgbClr val="C00000"/>
            </a:solidFill>
            <a:prstDash val="solid"/>
            <a:miter lim="800000"/>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1"/>
                                        <p:tgtEl>
                                          <p:spTgt spid="180"/>
                                        </p:tgtEl>
                                      </p:cBhvr>
                                    </p:animEffect>
                                  </p:childTnLst>
                                </p:cTn>
                              </p:par>
                              <p:par>
                                <p:cTn fill="hold" nodeType="with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
                                        <p:tgtEl>
                                          <p:spTgt spid="181"/>
                                        </p:tgtEl>
                                      </p:cBhvr>
                                    </p:animEffect>
                                  </p:childTnLst>
                                </p:cTn>
                              </p:par>
                              <p:par>
                                <p:cTn fill="hold" nodeType="with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
                                        <p:tgtEl>
                                          <p:spTgt spid="182"/>
                                        </p:tgtEl>
                                      </p:cBhvr>
                                    </p:animEffect>
                                  </p:childTnLst>
                                </p:cTn>
                              </p:par>
                              <p:par>
                                <p:cTn fill="hold" nodeType="with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
                                        <p:tgtEl>
                                          <p:spTgt spid="1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0"/>
          <p:cNvSpPr txBox="1"/>
          <p:nvPr/>
        </p:nvSpPr>
        <p:spPr>
          <a:xfrm>
            <a:off x="1047135" y="1489587"/>
            <a:ext cx="10515599" cy="95410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800">
                <a:solidFill>
                  <a:schemeClr val="dk1"/>
                </a:solidFill>
                <a:latin typeface="Calibri"/>
                <a:ea typeface="Calibri"/>
                <a:cs typeface="Calibri"/>
                <a:sym typeface="Calibri"/>
              </a:rPr>
              <a:t>Điều 4 của Hiến pháp Việt Nam 2013 khẳng định vai trò lãnh đạo tuyệt đối của Đảng lên Nhà nước và xã hội:</a:t>
            </a:r>
            <a:endParaRPr sz="2800">
              <a:solidFill>
                <a:schemeClr val="dk1"/>
              </a:solidFill>
              <a:latin typeface="Calibri"/>
              <a:ea typeface="Calibri"/>
              <a:cs typeface="Calibri"/>
              <a:sym typeface="Calibri"/>
            </a:endParaRPr>
          </a:p>
        </p:txBody>
      </p:sp>
      <p:sp>
        <p:nvSpPr>
          <p:cNvPr id="189" name="Google Shape;189;p10"/>
          <p:cNvSpPr txBox="1"/>
          <p:nvPr/>
        </p:nvSpPr>
        <p:spPr>
          <a:xfrm>
            <a:off x="1047135" y="2875936"/>
            <a:ext cx="10058401" cy="255454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i="1" lang="en-US" sz="3200">
                <a:solidFill>
                  <a:schemeClr val="dk1"/>
                </a:solidFill>
                <a:latin typeface="Calibri"/>
                <a:ea typeface="Calibri"/>
                <a:cs typeface="Calibri"/>
                <a:sym typeface="Calibri"/>
              </a:rPr>
              <a:t>“Đảng Cộng sản Việt Nam, đội tiên phong của giai cấp công nhân Việt Nam, đại biểu trung thành quyền lợi của giai cấp công nhân, nhân dân lao động và của cả dân tộc, theo chủ nghĩa Marx - Lenin và Tư tưởng Hồ Chí Minh, là lực lượng lãnh đạo Nhà nước và xã hội.”</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1"/>
          <p:cNvSpPr txBox="1"/>
          <p:nvPr/>
        </p:nvSpPr>
        <p:spPr>
          <a:xfrm>
            <a:off x="604684" y="1356851"/>
            <a:ext cx="11326761" cy="156966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Calibri"/>
                <a:ea typeface="Calibri"/>
                <a:cs typeface="Calibri"/>
                <a:sym typeface="Calibri"/>
              </a:rPr>
              <a:t>Đảng Cộng sản Việt Nam là đảng cầm quyền tại Cộng hòa Xã hội Chủ nghĩa Việt Nam và ảnh hưởng đến phát triển kinh tế, xã hội, chính trị của nhà nước này, đảng viên là những người nắm giữ các cương vị chủ chốt trong các cơ quan lãnh đạo của Đảng và Nhà nước Việt Nam.</a:t>
            </a:r>
            <a:endParaRPr sz="2400">
              <a:solidFill>
                <a:schemeClr val="dk1"/>
              </a:solidFill>
              <a:latin typeface="Calibri"/>
              <a:ea typeface="Calibri"/>
              <a:cs typeface="Calibri"/>
              <a:sym typeface="Calibri"/>
            </a:endParaRPr>
          </a:p>
        </p:txBody>
      </p:sp>
      <p:sp>
        <p:nvSpPr>
          <p:cNvPr id="195" name="Google Shape;195;p11"/>
          <p:cNvSpPr txBox="1"/>
          <p:nvPr/>
        </p:nvSpPr>
        <p:spPr>
          <a:xfrm>
            <a:off x="2005781" y="3510115"/>
            <a:ext cx="9394722" cy="267765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rgbClr val="FF0000"/>
                </a:solidFill>
                <a:latin typeface="Calibri"/>
                <a:ea typeface="Calibri"/>
                <a:cs typeface="Calibri"/>
                <a:sym typeface="Calibri"/>
              </a:rPr>
              <a:t>Trong Di chúc của Hồ Chí Minh có viết:</a:t>
            </a:r>
            <a:endParaRPr/>
          </a:p>
          <a:p>
            <a:pPr indent="0" lvl="0" marL="0" marR="0" rtl="0" algn="just">
              <a:spcBef>
                <a:spcPts val="0"/>
              </a:spcBef>
              <a:spcAft>
                <a:spcPts val="0"/>
              </a:spcAft>
              <a:buNone/>
            </a:pPr>
            <a:r>
              <a:t/>
            </a:r>
            <a:endParaRPr sz="2400">
              <a:solidFill>
                <a:srgbClr val="FF0000"/>
              </a:solidFill>
              <a:latin typeface="Calibri"/>
              <a:ea typeface="Calibri"/>
              <a:cs typeface="Calibri"/>
              <a:sym typeface="Calibri"/>
            </a:endParaRPr>
          </a:p>
          <a:p>
            <a:pPr indent="0" lvl="0" marL="0" marR="0" rtl="0" algn="just">
              <a:spcBef>
                <a:spcPts val="0"/>
              </a:spcBef>
              <a:spcAft>
                <a:spcPts val="0"/>
              </a:spcAft>
              <a:buNone/>
            </a:pPr>
            <a:r>
              <a:rPr lang="en-US" sz="2400">
                <a:solidFill>
                  <a:srgbClr val="FF0000"/>
                </a:solidFill>
                <a:latin typeface="Calibri"/>
                <a:ea typeface="Calibri"/>
                <a:cs typeface="Calibri"/>
                <a:sym typeface="Calibri"/>
              </a:rPr>
              <a:t>“Đảng ta là một Đảng cầm quyền, mỗi đảng viên và cán bộ phải thật sự thấm nhuần đạo đức cách mạng, thật sự cần kiệm liêm chính, chí công vô tư. Phải giữ gìn Đảng ta thật trong sạch, phải xứng đáng là người lãnh đạo, là người đầy tớ thật trung thành của nhân dân”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12"/>
          <p:cNvPicPr preferRelativeResize="0"/>
          <p:nvPr/>
        </p:nvPicPr>
        <p:blipFill rotWithShape="1">
          <a:blip r:embed="rId3">
            <a:alphaModFix/>
          </a:blip>
          <a:srcRect b="0" l="0" r="0" t="0"/>
          <a:stretch/>
        </p:blipFill>
        <p:spPr>
          <a:xfrm>
            <a:off x="814917" y="1989138"/>
            <a:ext cx="3937000" cy="3960812"/>
          </a:xfrm>
          <a:prstGeom prst="rect">
            <a:avLst/>
          </a:prstGeom>
          <a:noFill/>
          <a:ln>
            <a:noFill/>
          </a:ln>
          <a:effectLst>
            <a:outerShdw blurRad="292100" rotWithShape="0" algn="tl" dir="2700000" dist="139700">
              <a:srgbClr val="333333">
                <a:alpha val="64705"/>
              </a:srgbClr>
            </a:outerShdw>
          </a:effectLst>
        </p:spPr>
      </p:pic>
      <p:sp>
        <p:nvSpPr>
          <p:cNvPr id="201" name="Google Shape;201;p12"/>
          <p:cNvSpPr txBox="1"/>
          <p:nvPr/>
        </p:nvSpPr>
        <p:spPr>
          <a:xfrm>
            <a:off x="5105400" y="2628900"/>
            <a:ext cx="6578600" cy="2857500"/>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noAutofit/>
          </a:bodyPr>
          <a:lstStyle/>
          <a:p>
            <a:pPr indent="-609600" lvl="0" marL="609600" marR="0" rtl="0" algn="ctr">
              <a:spcBef>
                <a:spcPts val="0"/>
              </a:spcBef>
              <a:spcAft>
                <a:spcPts val="0"/>
              </a:spcAft>
              <a:buNone/>
            </a:pPr>
            <a:r>
              <a:rPr b="1" i="1" lang="en-US" sz="2800">
                <a:solidFill>
                  <a:srgbClr val="FF0000"/>
                </a:solidFill>
                <a:latin typeface="Times New Roman"/>
                <a:ea typeface="Times New Roman"/>
                <a:cs typeface="Times New Roman"/>
                <a:sym typeface="Times New Roman"/>
              </a:rPr>
              <a:t>“Với tất cả tinh thần khiêm tốn</a:t>
            </a:r>
            <a:endParaRPr/>
          </a:p>
          <a:p>
            <a:pPr indent="-609600" lvl="0" marL="609600" marR="0" rtl="0" algn="ctr">
              <a:spcBef>
                <a:spcPts val="560"/>
              </a:spcBef>
              <a:spcAft>
                <a:spcPts val="0"/>
              </a:spcAft>
              <a:buNone/>
            </a:pPr>
            <a:r>
              <a:rPr b="1" i="1" lang="en-US" sz="2800">
                <a:solidFill>
                  <a:srgbClr val="FF0000"/>
                </a:solidFill>
                <a:latin typeface="Times New Roman"/>
                <a:ea typeface="Times New Roman"/>
                <a:cs typeface="Times New Roman"/>
                <a:sym typeface="Times New Roman"/>
              </a:rPr>
              <a:t>của người cách mạng, chúng ta</a:t>
            </a:r>
            <a:endParaRPr/>
          </a:p>
          <a:p>
            <a:pPr indent="-609600" lvl="0" marL="609600" marR="0" rtl="0" algn="ctr">
              <a:spcBef>
                <a:spcPts val="560"/>
              </a:spcBef>
              <a:spcAft>
                <a:spcPts val="0"/>
              </a:spcAft>
              <a:buNone/>
            </a:pPr>
            <a:r>
              <a:rPr b="1" i="1" lang="en-US" sz="2800">
                <a:solidFill>
                  <a:srgbClr val="FF0000"/>
                </a:solidFill>
                <a:latin typeface="Times New Roman"/>
                <a:ea typeface="Times New Roman"/>
                <a:cs typeface="Times New Roman"/>
                <a:sym typeface="Times New Roman"/>
              </a:rPr>
              <a:t>vẫn có quyền nói rằng: </a:t>
            </a:r>
            <a:endParaRPr/>
          </a:p>
          <a:p>
            <a:pPr indent="-609600" lvl="0" marL="609600" marR="0" rtl="0" algn="ctr">
              <a:spcBef>
                <a:spcPts val="720"/>
              </a:spcBef>
              <a:spcAft>
                <a:spcPts val="0"/>
              </a:spcAft>
              <a:buNone/>
            </a:pPr>
            <a:r>
              <a:rPr b="1" i="1" lang="en-US" sz="3600">
                <a:solidFill>
                  <a:srgbClr val="FF0000"/>
                </a:solidFill>
                <a:latin typeface="Times New Roman"/>
                <a:ea typeface="Times New Roman"/>
                <a:cs typeface="Times New Roman"/>
                <a:sym typeface="Times New Roman"/>
              </a:rPr>
              <a:t>Đảng ta thật là vĩ đại.”</a:t>
            </a:r>
            <a:r>
              <a:rPr b="1" i="1" lang="en-US" sz="3600">
                <a:solidFill>
                  <a:srgbClr val="003300"/>
                </a:solidFill>
                <a:latin typeface="Times New Roman"/>
                <a:ea typeface="Times New Roman"/>
                <a:cs typeface="Times New Roman"/>
                <a:sym typeface="Times New Roman"/>
              </a:rPr>
              <a:t> </a:t>
            </a:r>
            <a:endParaRPr/>
          </a:p>
          <a:p>
            <a:pPr indent="-609600" lvl="0" marL="609600" marR="0" rtl="0" algn="r">
              <a:spcBef>
                <a:spcPts val="360"/>
              </a:spcBef>
              <a:spcAft>
                <a:spcPts val="0"/>
              </a:spcAft>
              <a:buNone/>
            </a:pPr>
            <a:r>
              <a:rPr b="1" i="1" lang="en-US" sz="1800">
                <a:solidFill>
                  <a:srgbClr val="003300"/>
                </a:solidFill>
                <a:latin typeface="Times New Roman"/>
                <a:ea typeface="Times New Roman"/>
                <a:cs typeface="Times New Roman"/>
                <a:sym typeface="Times New Roman"/>
              </a:rPr>
              <a:t>(Hồ Chí Minh)</a:t>
            </a:r>
            <a:endParaRPr/>
          </a:p>
          <a:p>
            <a:pPr indent="-609600" lvl="0" marL="609600" marR="0" rtl="0" algn="r">
              <a:spcBef>
                <a:spcPts val="360"/>
              </a:spcBef>
              <a:spcAft>
                <a:spcPts val="0"/>
              </a:spcAft>
              <a:buNone/>
            </a:pPr>
            <a:r>
              <a:rPr b="1" i="1" lang="en-US" sz="1800">
                <a:solidFill>
                  <a:srgbClr val="003300"/>
                </a:solidFill>
                <a:latin typeface="Times New Roman"/>
                <a:ea typeface="Times New Roman"/>
                <a:cs typeface="Times New Roman"/>
                <a:sym typeface="Times New Roman"/>
              </a:rPr>
              <a:t>Tại lễ kỷ niệm 30 năm thành lập Đảng 1960</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descr="DSC01019.JPG" id="206" name="Google Shape;206;p13"/>
          <p:cNvPicPr preferRelativeResize="0"/>
          <p:nvPr/>
        </p:nvPicPr>
        <p:blipFill rotWithShape="1">
          <a:blip r:embed="rId3">
            <a:alphaModFix/>
          </a:blip>
          <a:srcRect b="5555" l="1585" r="6562" t="0"/>
          <a:stretch/>
        </p:blipFill>
        <p:spPr>
          <a:xfrm>
            <a:off x="7518400" y="3581400"/>
            <a:ext cx="2963333" cy="3048000"/>
          </a:xfrm>
          <a:prstGeom prst="rect">
            <a:avLst/>
          </a:prstGeom>
          <a:noFill/>
          <a:ln>
            <a:noFill/>
          </a:ln>
          <a:effectLst>
            <a:outerShdw blurRad="292100" rotWithShape="0" algn="tl" dir="2700000" dist="139700">
              <a:srgbClr val="333333">
                <a:alpha val="64705"/>
              </a:srgbClr>
            </a:outerShdw>
          </a:effectLst>
        </p:spPr>
      </p:pic>
      <p:sp>
        <p:nvSpPr>
          <p:cNvPr id="207" name="Google Shape;207;p13"/>
          <p:cNvSpPr/>
          <p:nvPr/>
        </p:nvSpPr>
        <p:spPr>
          <a:xfrm>
            <a:off x="508000" y="3657600"/>
            <a:ext cx="4876800" cy="363538"/>
          </a:xfrm>
          <a:prstGeom prst="rect">
            <a:avLst/>
          </a:prstGeom>
          <a:noFill/>
          <a:ln>
            <a:noFill/>
          </a:ln>
        </p:spPr>
        <p:txBody>
          <a:bodyPr anchorCtr="0" anchor="b" bIns="45700" lIns="91425" spcFirstLastPara="1" rIns="91425" wrap="square" tIns="45700">
            <a:noAutofit/>
          </a:bodyPr>
          <a:lstStyle/>
          <a:p>
            <a:pPr indent="0" lvl="0" marL="0" marR="0" rtl="0" algn="ctr">
              <a:lnSpc>
                <a:spcPct val="95000"/>
              </a:lnSpc>
              <a:spcBef>
                <a:spcPts val="0"/>
              </a:spcBef>
              <a:spcAft>
                <a:spcPts val="0"/>
              </a:spcAft>
              <a:buNone/>
            </a:pPr>
            <a:r>
              <a:rPr b="1" i="1" lang="en-US" sz="1600">
                <a:solidFill>
                  <a:schemeClr val="dk1"/>
                </a:solidFill>
                <a:latin typeface="Calibri"/>
                <a:ea typeface="Calibri"/>
                <a:cs typeface="Calibri"/>
                <a:sym typeface="Calibri"/>
              </a:rPr>
              <a:t>Bộ văn kiện Đảng toàn tập (1 – 47)</a:t>
            </a:r>
            <a:endParaRPr/>
          </a:p>
        </p:txBody>
      </p:sp>
      <p:sp>
        <p:nvSpPr>
          <p:cNvPr id="208" name="Google Shape;208;p13"/>
          <p:cNvSpPr/>
          <p:nvPr/>
        </p:nvSpPr>
        <p:spPr>
          <a:xfrm>
            <a:off x="508001" y="6275388"/>
            <a:ext cx="4671484" cy="381000"/>
          </a:xfrm>
          <a:prstGeom prst="rect">
            <a:avLst/>
          </a:prstGeom>
          <a:noFill/>
          <a:ln>
            <a:noFill/>
          </a:ln>
        </p:spPr>
        <p:txBody>
          <a:bodyPr anchorCtr="0" anchor="b" bIns="45700" lIns="91425" spcFirstLastPara="1" rIns="91425" wrap="square" tIns="45700">
            <a:noAutofit/>
          </a:bodyPr>
          <a:lstStyle/>
          <a:p>
            <a:pPr indent="0" lvl="0" marL="0" marR="0" rtl="0" algn="ctr">
              <a:lnSpc>
                <a:spcPct val="95000"/>
              </a:lnSpc>
              <a:spcBef>
                <a:spcPts val="0"/>
              </a:spcBef>
              <a:spcAft>
                <a:spcPts val="0"/>
              </a:spcAft>
              <a:buNone/>
            </a:pPr>
            <a:r>
              <a:rPr b="1" i="1" lang="en-US" sz="1600">
                <a:solidFill>
                  <a:schemeClr val="dk1"/>
                </a:solidFill>
                <a:latin typeface="Calibri"/>
                <a:ea typeface="Calibri"/>
                <a:cs typeface="Calibri"/>
                <a:sym typeface="Calibri"/>
              </a:rPr>
              <a:t>Bộ Hồ Chí Minh toàn tập (12 tập)</a:t>
            </a:r>
            <a:endParaRPr/>
          </a:p>
        </p:txBody>
      </p:sp>
      <p:pic>
        <p:nvPicPr>
          <p:cNvPr descr="DSC01030.JPG" id="209" name="Google Shape;209;p13"/>
          <p:cNvPicPr preferRelativeResize="0"/>
          <p:nvPr/>
        </p:nvPicPr>
        <p:blipFill rotWithShape="1">
          <a:blip r:embed="rId4">
            <a:alphaModFix/>
          </a:blip>
          <a:srcRect b="4444" l="7407" r="3704" t="2222"/>
          <a:stretch/>
        </p:blipFill>
        <p:spPr>
          <a:xfrm>
            <a:off x="406400" y="1537252"/>
            <a:ext cx="2032000" cy="2133600"/>
          </a:xfrm>
          <a:prstGeom prst="rect">
            <a:avLst/>
          </a:prstGeom>
          <a:noFill/>
          <a:ln>
            <a:noFill/>
          </a:ln>
          <a:effectLst>
            <a:reflection blurRad="0" dir="5400000" dist="5000" endA="0" endPos="30000" kx="0" rotWithShape="0" algn="bl" stA="30000" stPos="0" sy="-100000" ky="0"/>
          </a:effectLst>
        </p:spPr>
      </p:pic>
      <p:pic>
        <p:nvPicPr>
          <p:cNvPr descr="HCM toan tap.jpg" id="210" name="Google Shape;210;p13"/>
          <p:cNvPicPr preferRelativeResize="0"/>
          <p:nvPr/>
        </p:nvPicPr>
        <p:blipFill rotWithShape="1">
          <a:blip r:embed="rId5">
            <a:alphaModFix/>
          </a:blip>
          <a:srcRect b="3004" l="4174" r="8181" t="2344"/>
          <a:stretch/>
        </p:blipFill>
        <p:spPr>
          <a:xfrm rot="887728">
            <a:off x="4715934" y="4287839"/>
            <a:ext cx="2262717" cy="2262187"/>
          </a:xfrm>
          <a:prstGeom prst="rect">
            <a:avLst/>
          </a:prstGeom>
          <a:noFill/>
          <a:ln>
            <a:noFill/>
          </a:ln>
          <a:effectLst>
            <a:outerShdw blurRad="292100" rotWithShape="0" algn="tl" dir="2700000" dist="139700">
              <a:srgbClr val="333333">
                <a:alpha val="64705"/>
              </a:srgbClr>
            </a:outerShdw>
          </a:effectLst>
        </p:spPr>
      </p:pic>
      <p:pic>
        <p:nvPicPr>
          <p:cNvPr descr="Hồ chí Minh toàn tập.jpg" id="211" name="Google Shape;211;p13"/>
          <p:cNvPicPr preferRelativeResize="0"/>
          <p:nvPr/>
        </p:nvPicPr>
        <p:blipFill rotWithShape="1">
          <a:blip r:embed="rId6">
            <a:alphaModFix/>
          </a:blip>
          <a:srcRect b="0" l="0" r="0" t="0"/>
          <a:stretch/>
        </p:blipFill>
        <p:spPr>
          <a:xfrm>
            <a:off x="711200" y="4114801"/>
            <a:ext cx="4165600" cy="2214563"/>
          </a:xfrm>
          <a:prstGeom prst="rect">
            <a:avLst/>
          </a:prstGeom>
          <a:noFill/>
          <a:ln>
            <a:noFill/>
          </a:ln>
        </p:spPr>
      </p:pic>
      <p:pic>
        <p:nvPicPr>
          <p:cNvPr descr="scan0036.jpg" id="212" name="Google Shape;212;p13"/>
          <p:cNvPicPr preferRelativeResize="0"/>
          <p:nvPr/>
        </p:nvPicPr>
        <p:blipFill rotWithShape="1">
          <a:blip r:embed="rId7">
            <a:alphaModFix/>
          </a:blip>
          <a:srcRect b="15311" l="6090" r="18474" t="4689"/>
          <a:stretch/>
        </p:blipFill>
        <p:spPr>
          <a:xfrm>
            <a:off x="3556000" y="1524000"/>
            <a:ext cx="2133600" cy="2133600"/>
          </a:xfrm>
          <a:prstGeom prst="rect">
            <a:avLst/>
          </a:prstGeom>
          <a:noFill/>
          <a:ln>
            <a:noFill/>
          </a:ln>
          <a:effectLst>
            <a:reflection blurRad="0" dir="5400000" dist="5000" endA="0" endPos="30000" kx="0" rotWithShape="0" algn="bl" stA="30000" stPos="0" sy="-100000" ky="0"/>
          </a:effectLst>
        </p:spPr>
      </p:pic>
      <p:sp>
        <p:nvSpPr>
          <p:cNvPr id="213" name="Google Shape;213;p13"/>
          <p:cNvSpPr/>
          <p:nvPr/>
        </p:nvSpPr>
        <p:spPr>
          <a:xfrm>
            <a:off x="2438400" y="2299252"/>
            <a:ext cx="1016000" cy="533400"/>
          </a:xfrm>
          <a:prstGeom prst="rightArrow">
            <a:avLst>
              <a:gd fmla="val 50000" name="adj1"/>
              <a:gd fmla="val 50000" name="adj2"/>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74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an0039.jpg" id="214" name="Google Shape;214;p13"/>
          <p:cNvPicPr preferRelativeResize="0"/>
          <p:nvPr/>
        </p:nvPicPr>
        <p:blipFill rotWithShape="1">
          <a:blip r:embed="rId8">
            <a:alphaModFix/>
          </a:blip>
          <a:srcRect b="10000" l="0" r="12655" t="0"/>
          <a:stretch/>
        </p:blipFill>
        <p:spPr>
          <a:xfrm rot="975673">
            <a:off x="9235018" y="1420813"/>
            <a:ext cx="2419349" cy="2590800"/>
          </a:xfrm>
          <a:prstGeom prst="rect">
            <a:avLst/>
          </a:prstGeom>
          <a:noFill/>
          <a:ln>
            <a:noFill/>
          </a:ln>
          <a:effectLst>
            <a:outerShdw blurRad="292100" rotWithShape="0" algn="tl" dir="2700000" dist="139700">
              <a:srgbClr val="333333">
                <a:alpha val="64705"/>
              </a:srgbClr>
            </a:outerShdw>
          </a:effectLst>
        </p:spPr>
      </p:pic>
      <p:pic>
        <p:nvPicPr>
          <p:cNvPr descr="xd_dang.jpg" id="215" name="Google Shape;215;p13"/>
          <p:cNvPicPr preferRelativeResize="0"/>
          <p:nvPr/>
        </p:nvPicPr>
        <p:blipFill rotWithShape="1">
          <a:blip r:embed="rId9">
            <a:alphaModFix/>
          </a:blip>
          <a:srcRect b="0" l="0" r="0" t="0"/>
          <a:stretch/>
        </p:blipFill>
        <p:spPr>
          <a:xfrm rot="-955846">
            <a:off x="6718300" y="1497013"/>
            <a:ext cx="2438400" cy="2552700"/>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4"/>
          <p:cNvSpPr/>
          <p:nvPr/>
        </p:nvSpPr>
        <p:spPr>
          <a:xfrm>
            <a:off x="2135791" y="460507"/>
            <a:ext cx="868790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2. Chức năng, nhiệm vụ của môn học Lịch sử Đảng Cộng sản Việt Nam</a:t>
            </a:r>
            <a:endParaRPr/>
          </a:p>
        </p:txBody>
      </p:sp>
      <p:grpSp>
        <p:nvGrpSpPr>
          <p:cNvPr id="221" name="Google Shape;221;p14"/>
          <p:cNvGrpSpPr/>
          <p:nvPr/>
        </p:nvGrpSpPr>
        <p:grpSpPr>
          <a:xfrm>
            <a:off x="947020" y="2132118"/>
            <a:ext cx="5774659" cy="1080294"/>
            <a:chOff x="2531137" y="2292870"/>
            <a:chExt cx="4793964" cy="1228725"/>
          </a:xfrm>
        </p:grpSpPr>
        <p:sp>
          <p:nvSpPr>
            <p:cNvPr id="222" name="Google Shape;222;p14"/>
            <p:cNvSpPr/>
            <p:nvPr/>
          </p:nvSpPr>
          <p:spPr>
            <a:xfrm>
              <a:off x="2531137" y="2292870"/>
              <a:ext cx="4793964" cy="1228725"/>
            </a:xfrm>
            <a:prstGeom prst="roundRect">
              <a:avLst>
                <a:gd fmla="val 10889" name="adj"/>
              </a:avLst>
            </a:prstGeom>
            <a:gradFill>
              <a:gsLst>
                <a:gs pos="0">
                  <a:srgbClr val="EEEEEE"/>
                </a:gs>
                <a:gs pos="100000">
                  <a:srgbClr val="DDDDDD"/>
                </a:gs>
              </a:gsLst>
              <a:lin ang="2700000" scaled="0"/>
            </a:gradFill>
            <a:ln cap="flat" cmpd="sng" w="38100">
              <a:solidFill>
                <a:srgbClr val="FFFFFF"/>
              </a:solidFill>
              <a:prstDash val="solid"/>
              <a:round/>
              <a:headEnd len="sm" w="sm" type="none"/>
              <a:tailEnd len="sm" w="sm" type="none"/>
            </a:ln>
            <a:effectLst>
              <a:outerShdw rotWithShape="0" algn="ctr" dir="2928844" dist="135003">
                <a:srgbClr val="000000">
                  <a:alpha val="4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14"/>
            <p:cNvSpPr/>
            <p:nvPr/>
          </p:nvSpPr>
          <p:spPr>
            <a:xfrm>
              <a:off x="2531137" y="2441301"/>
              <a:ext cx="923837" cy="1004888"/>
            </a:xfrm>
            <a:prstGeom prst="roundRect">
              <a:avLst>
                <a:gd fmla="val 11921" name="adj"/>
              </a:avLst>
            </a:prstGeom>
            <a:gradFill>
              <a:gsLst>
                <a:gs pos="0">
                  <a:schemeClr val="accent1"/>
                </a:gs>
                <a:gs pos="100000">
                  <a:srgbClr val="3960A6"/>
                </a:gs>
              </a:gsLst>
              <a:lin ang="5400000" scaled="0"/>
            </a:gradFill>
            <a:ln cap="flat" cmpd="sng" w="38100">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14"/>
            <p:cNvSpPr/>
            <p:nvPr/>
          </p:nvSpPr>
          <p:spPr>
            <a:xfrm>
              <a:off x="2566483" y="2310818"/>
              <a:ext cx="461918" cy="503238"/>
            </a:xfrm>
            <a:custGeom>
              <a:rect b="b" l="l" r="r" t="t"/>
              <a:pathLst>
                <a:path extrusionOk="0" h="598" w="596">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a:gsLst>
                <a:gs pos="0">
                  <a:srgbClr val="B7C2E1"/>
                </a:gs>
                <a:gs pos="50000">
                  <a:srgbClr val="4472C4">
                    <a:alpha val="0"/>
                  </a:srgbClr>
                </a:gs>
                <a:gs pos="100000">
                  <a:srgbClr val="B7C2E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4"/>
            <p:cNvSpPr txBox="1"/>
            <p:nvPr/>
          </p:nvSpPr>
          <p:spPr>
            <a:xfrm>
              <a:off x="2797442" y="2522263"/>
              <a:ext cx="203414" cy="76993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4400">
                  <a:solidFill>
                    <a:srgbClr val="FFFFFF"/>
                  </a:solidFill>
                  <a:latin typeface="Calibri"/>
                  <a:ea typeface="Calibri"/>
                  <a:cs typeface="Calibri"/>
                  <a:sym typeface="Calibri"/>
                </a:rPr>
                <a:t>1</a:t>
              </a:r>
              <a:endParaRPr/>
            </a:p>
          </p:txBody>
        </p:sp>
        <p:sp>
          <p:nvSpPr>
            <p:cNvPr id="226" name="Google Shape;226;p14"/>
            <p:cNvSpPr txBox="1"/>
            <p:nvPr/>
          </p:nvSpPr>
          <p:spPr>
            <a:xfrm>
              <a:off x="3630661" y="2707207"/>
              <a:ext cx="3694439" cy="40005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000">
                  <a:solidFill>
                    <a:schemeClr val="dk1"/>
                  </a:solidFill>
                  <a:latin typeface="Calibri"/>
                  <a:ea typeface="Calibri"/>
                  <a:cs typeface="Calibri"/>
                  <a:sym typeface="Calibri"/>
                </a:rPr>
                <a:t>Chức năng nhận thức</a:t>
              </a:r>
              <a:endParaRPr b="1" sz="2000">
                <a:solidFill>
                  <a:schemeClr val="dk1"/>
                </a:solidFill>
                <a:latin typeface="Calibri"/>
                <a:ea typeface="Calibri"/>
                <a:cs typeface="Calibri"/>
                <a:sym typeface="Calibri"/>
              </a:endParaRPr>
            </a:p>
          </p:txBody>
        </p:sp>
      </p:grpSp>
      <p:grpSp>
        <p:nvGrpSpPr>
          <p:cNvPr id="227" name="Google Shape;227;p14"/>
          <p:cNvGrpSpPr/>
          <p:nvPr/>
        </p:nvGrpSpPr>
        <p:grpSpPr>
          <a:xfrm>
            <a:off x="947020" y="3577706"/>
            <a:ext cx="5844232" cy="1080294"/>
            <a:chOff x="144" y="2014"/>
            <a:chExt cx="5237" cy="774"/>
          </a:xfrm>
        </p:grpSpPr>
        <p:grpSp>
          <p:nvGrpSpPr>
            <p:cNvPr id="228" name="Google Shape;228;p14"/>
            <p:cNvGrpSpPr/>
            <p:nvPr/>
          </p:nvGrpSpPr>
          <p:grpSpPr>
            <a:xfrm>
              <a:off x="144" y="2014"/>
              <a:ext cx="5232" cy="774"/>
              <a:chOff x="1200" y="1912"/>
              <a:chExt cx="3456" cy="774"/>
            </a:xfrm>
          </p:grpSpPr>
          <p:sp>
            <p:nvSpPr>
              <p:cNvPr id="229" name="Google Shape;229;p14"/>
              <p:cNvSpPr/>
              <p:nvPr/>
            </p:nvSpPr>
            <p:spPr>
              <a:xfrm>
                <a:off x="1200" y="1912"/>
                <a:ext cx="3456" cy="774"/>
              </a:xfrm>
              <a:prstGeom prst="roundRect">
                <a:avLst>
                  <a:gd fmla="val 10889" name="adj"/>
                </a:avLst>
              </a:prstGeom>
              <a:gradFill>
                <a:gsLst>
                  <a:gs pos="0">
                    <a:srgbClr val="EEEEEE"/>
                  </a:gs>
                  <a:gs pos="100000">
                    <a:srgbClr val="DDDDDD"/>
                  </a:gs>
                </a:gsLst>
                <a:lin ang="2700000" scaled="0"/>
              </a:gradFill>
              <a:ln cap="flat" cmpd="sng" w="38100">
                <a:solidFill>
                  <a:srgbClr val="FFFFFF"/>
                </a:solidFill>
                <a:prstDash val="solid"/>
                <a:round/>
                <a:headEnd len="sm" w="sm" type="none"/>
                <a:tailEnd len="sm" w="sm" type="none"/>
              </a:ln>
              <a:effectLst>
                <a:outerShdw rotWithShape="0" algn="ctr" dir="2928844" dist="135003">
                  <a:srgbClr val="000000">
                    <a:alpha val="4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14"/>
              <p:cNvSpPr/>
              <p:nvPr/>
            </p:nvSpPr>
            <p:spPr>
              <a:xfrm>
                <a:off x="1276" y="1983"/>
                <a:ext cx="666" cy="633"/>
              </a:xfrm>
              <a:prstGeom prst="roundRect">
                <a:avLst>
                  <a:gd fmla="val 11921" name="adj"/>
                </a:avLst>
              </a:prstGeom>
              <a:gradFill>
                <a:gsLst>
                  <a:gs pos="0">
                    <a:schemeClr val="accent2"/>
                  </a:gs>
                  <a:gs pos="100000">
                    <a:srgbClr val="C96A29"/>
                  </a:gs>
                </a:gsLst>
                <a:lin ang="5400000" scaled="0"/>
              </a:gradFill>
              <a:ln cap="flat" cmpd="sng" w="38100">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14"/>
              <p:cNvSpPr/>
              <p:nvPr/>
            </p:nvSpPr>
            <p:spPr>
              <a:xfrm>
                <a:off x="1317" y="2028"/>
                <a:ext cx="333" cy="317"/>
              </a:xfrm>
              <a:custGeom>
                <a:rect b="b" l="l" r="r" t="t"/>
                <a:pathLst>
                  <a:path extrusionOk="0" h="598" w="596">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a:gsLst>
                  <a:gs pos="0">
                    <a:srgbClr val="F5C5B5"/>
                  </a:gs>
                  <a:gs pos="50000">
                    <a:srgbClr val="ED7D31">
                      <a:alpha val="0"/>
                    </a:srgbClr>
                  </a:gs>
                  <a:gs pos="100000">
                    <a:srgbClr val="F5C5B5"/>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2" name="Google Shape;232;p14"/>
            <p:cNvSpPr txBox="1"/>
            <p:nvPr/>
          </p:nvSpPr>
          <p:spPr>
            <a:xfrm flipH="1">
              <a:off x="530" y="2208"/>
              <a:ext cx="477" cy="44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4000">
                  <a:solidFill>
                    <a:srgbClr val="FFFFFF"/>
                  </a:solidFill>
                  <a:latin typeface="Calibri"/>
                  <a:ea typeface="Calibri"/>
                  <a:cs typeface="Calibri"/>
                  <a:sym typeface="Calibri"/>
                </a:rPr>
                <a:t>2</a:t>
              </a:r>
              <a:endParaRPr/>
            </a:p>
          </p:txBody>
        </p:sp>
        <p:sp>
          <p:nvSpPr>
            <p:cNvPr id="233" name="Google Shape;233;p14"/>
            <p:cNvSpPr txBox="1"/>
            <p:nvPr/>
          </p:nvSpPr>
          <p:spPr>
            <a:xfrm>
              <a:off x="1392" y="2159"/>
              <a:ext cx="3989" cy="25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000">
                  <a:solidFill>
                    <a:schemeClr val="dk1"/>
                  </a:solidFill>
                  <a:latin typeface="Calibri"/>
                  <a:ea typeface="Calibri"/>
                  <a:cs typeface="Calibri"/>
                  <a:sym typeface="Calibri"/>
                </a:rPr>
                <a:t>Chức năng giáo dục</a:t>
              </a:r>
              <a:endParaRPr b="1" sz="2000">
                <a:solidFill>
                  <a:schemeClr val="dk1"/>
                </a:solidFill>
                <a:latin typeface="Calibri"/>
                <a:ea typeface="Calibri"/>
                <a:cs typeface="Calibri"/>
                <a:sym typeface="Calibri"/>
              </a:endParaRPr>
            </a:p>
          </p:txBody>
        </p:sp>
      </p:grpSp>
      <p:grpSp>
        <p:nvGrpSpPr>
          <p:cNvPr id="234" name="Google Shape;234;p14"/>
          <p:cNvGrpSpPr/>
          <p:nvPr/>
        </p:nvGrpSpPr>
        <p:grpSpPr>
          <a:xfrm>
            <a:off x="857566" y="5019262"/>
            <a:ext cx="5953565" cy="1080294"/>
            <a:chOff x="144" y="1158"/>
            <a:chExt cx="5232" cy="774"/>
          </a:xfrm>
        </p:grpSpPr>
        <p:grpSp>
          <p:nvGrpSpPr>
            <p:cNvPr id="235" name="Google Shape;235;p14"/>
            <p:cNvGrpSpPr/>
            <p:nvPr/>
          </p:nvGrpSpPr>
          <p:grpSpPr>
            <a:xfrm>
              <a:off x="144" y="1158"/>
              <a:ext cx="5232" cy="774"/>
              <a:chOff x="1200" y="1056"/>
              <a:chExt cx="3456" cy="774"/>
            </a:xfrm>
          </p:grpSpPr>
          <p:sp>
            <p:nvSpPr>
              <p:cNvPr id="236" name="Google Shape;236;p14"/>
              <p:cNvSpPr/>
              <p:nvPr/>
            </p:nvSpPr>
            <p:spPr>
              <a:xfrm>
                <a:off x="1200" y="1056"/>
                <a:ext cx="3456" cy="774"/>
              </a:xfrm>
              <a:prstGeom prst="roundRect">
                <a:avLst>
                  <a:gd fmla="val 10889" name="adj"/>
                </a:avLst>
              </a:prstGeom>
              <a:gradFill>
                <a:gsLst>
                  <a:gs pos="0">
                    <a:srgbClr val="EEEEEE"/>
                  </a:gs>
                  <a:gs pos="100000">
                    <a:srgbClr val="DDDDDD"/>
                  </a:gs>
                </a:gsLst>
                <a:lin ang="2700000" scaled="0"/>
              </a:gradFill>
              <a:ln cap="flat" cmpd="sng" w="38100">
                <a:solidFill>
                  <a:srgbClr val="FFFFFF"/>
                </a:solidFill>
                <a:prstDash val="solid"/>
                <a:round/>
                <a:headEnd len="sm" w="sm" type="none"/>
                <a:tailEnd len="sm" w="sm" type="none"/>
              </a:ln>
              <a:effectLst>
                <a:outerShdw rotWithShape="0" algn="ctr" dir="2928844" dist="135003">
                  <a:srgbClr val="000000">
                    <a:alpha val="4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14"/>
              <p:cNvSpPr/>
              <p:nvPr/>
            </p:nvSpPr>
            <p:spPr>
              <a:xfrm>
                <a:off x="1276" y="1128"/>
                <a:ext cx="666" cy="633"/>
              </a:xfrm>
              <a:prstGeom prst="roundRect">
                <a:avLst>
                  <a:gd fmla="val 11921" name="adj"/>
                </a:avLst>
              </a:prstGeom>
              <a:gradFill>
                <a:gsLst>
                  <a:gs pos="0">
                    <a:schemeClr val="accent1"/>
                  </a:gs>
                  <a:gs pos="100000">
                    <a:srgbClr val="3960A6"/>
                  </a:gs>
                </a:gsLst>
                <a:lin ang="5400000" scaled="0"/>
              </a:gradFill>
              <a:ln cap="flat" cmpd="sng" w="38100">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14"/>
              <p:cNvSpPr/>
              <p:nvPr/>
            </p:nvSpPr>
            <p:spPr>
              <a:xfrm>
                <a:off x="1317" y="1168"/>
                <a:ext cx="333" cy="317"/>
              </a:xfrm>
              <a:custGeom>
                <a:rect b="b" l="l" r="r" t="t"/>
                <a:pathLst>
                  <a:path extrusionOk="0" h="598" w="596">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a:gsLst>
                  <a:gs pos="0">
                    <a:srgbClr val="B7C2E1"/>
                  </a:gs>
                  <a:gs pos="50000">
                    <a:srgbClr val="4472C4">
                      <a:alpha val="0"/>
                    </a:srgbClr>
                  </a:gs>
                  <a:gs pos="100000">
                    <a:srgbClr val="B7C2E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9" name="Google Shape;239;p14"/>
            <p:cNvSpPr txBox="1"/>
            <p:nvPr/>
          </p:nvSpPr>
          <p:spPr>
            <a:xfrm>
              <a:off x="560" y="1234"/>
              <a:ext cx="222" cy="48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4400">
                  <a:solidFill>
                    <a:srgbClr val="FFFFFF"/>
                  </a:solidFill>
                  <a:latin typeface="Calibri"/>
                  <a:ea typeface="Calibri"/>
                  <a:cs typeface="Calibri"/>
                  <a:sym typeface="Calibri"/>
                </a:rPr>
                <a:t>3</a:t>
              </a:r>
              <a:endParaRPr/>
            </a:p>
          </p:txBody>
        </p:sp>
        <p:sp>
          <p:nvSpPr>
            <p:cNvPr id="240" name="Google Shape;240;p14"/>
            <p:cNvSpPr txBox="1"/>
            <p:nvPr/>
          </p:nvSpPr>
          <p:spPr>
            <a:xfrm>
              <a:off x="1296" y="1296"/>
              <a:ext cx="4032" cy="25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000">
                  <a:solidFill>
                    <a:schemeClr val="dk1"/>
                  </a:solidFill>
                  <a:latin typeface="Calibri"/>
                  <a:ea typeface="Calibri"/>
                  <a:cs typeface="Calibri"/>
                  <a:sym typeface="Calibri"/>
                </a:rPr>
                <a:t>Chức năng nhận biết và dự báo</a:t>
              </a:r>
              <a:endParaRPr b="1" sz="2000">
                <a:solidFill>
                  <a:schemeClr val="dk1"/>
                </a:solidFill>
                <a:latin typeface="Calibri"/>
                <a:ea typeface="Calibri"/>
                <a:cs typeface="Calibri"/>
                <a:sym typeface="Calibri"/>
              </a:endParaRPr>
            </a:p>
          </p:txBody>
        </p:sp>
      </p:grpSp>
      <p:sp>
        <p:nvSpPr>
          <p:cNvPr id="241" name="Google Shape;241;p14"/>
          <p:cNvSpPr txBox="1"/>
          <p:nvPr/>
        </p:nvSpPr>
        <p:spPr>
          <a:xfrm>
            <a:off x="467139" y="1291504"/>
            <a:ext cx="608274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C00000"/>
                </a:solidFill>
                <a:latin typeface="Times New Roman"/>
                <a:ea typeface="Times New Roman"/>
                <a:cs typeface="Times New Roman"/>
                <a:sym typeface="Times New Roman"/>
              </a:rPr>
              <a:t>2.1. Chức năng khoa học lịch sử Đảng</a:t>
            </a:r>
            <a:endParaRPr sz="2800">
              <a:solidFill>
                <a:srgbClr val="C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500"/>
                                        <p:tgtEl>
                                          <p:spTgt spid="2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5"/>
          <p:cNvSpPr/>
          <p:nvPr/>
        </p:nvSpPr>
        <p:spPr>
          <a:xfrm>
            <a:off x="3360048" y="2405522"/>
            <a:ext cx="4909931" cy="2862322"/>
          </a:xfrm>
          <a:prstGeom prst="rect">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Nhiệm vụ trình bày có hệ thống Cương lĩnh, đường lối của Đảng. </a:t>
            </a:r>
            <a:endParaRPr/>
          </a:p>
          <a:p>
            <a:pPr indent="-285750" lvl="0" marL="285750" marR="0" rtl="0" algn="just">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Nhiệm vụ tái hiện tiến trình lịch sử lãnh đạo, đấu tranh của Đảng. </a:t>
            </a:r>
            <a:endParaRPr/>
          </a:p>
          <a:p>
            <a:pPr indent="-285750" lvl="0" marL="285750" marR="0" rtl="0" algn="just">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Nhiệm vụ tổng kết lịch sử của Đảng.</a:t>
            </a:r>
            <a:endParaRPr/>
          </a:p>
          <a:p>
            <a:pPr indent="-285750" lvl="0" marL="285750" marR="0" rtl="0" algn="just">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Một nhiệm vụ quan trọng của lịch sử Đảng là làm rõ vai trò, sức chiến đấu của hệ thống tổ chức đảng từ Trung ương đến cơ sở trong lãnh đạo, tổ chức thực tiễn. </a:t>
            </a:r>
            <a:endParaRPr/>
          </a:p>
        </p:txBody>
      </p:sp>
      <p:pic>
        <p:nvPicPr>
          <p:cNvPr descr="C:\Users\e5\Desktop\dang 1.jpg" id="247" name="Google Shape;247;p15"/>
          <p:cNvPicPr preferRelativeResize="0"/>
          <p:nvPr/>
        </p:nvPicPr>
        <p:blipFill rotWithShape="1">
          <a:blip r:embed="rId3">
            <a:alphaModFix/>
          </a:blip>
          <a:srcRect b="0" l="0" r="0" t="0"/>
          <a:stretch/>
        </p:blipFill>
        <p:spPr>
          <a:xfrm>
            <a:off x="8269979" y="3836683"/>
            <a:ext cx="3607282" cy="2653778"/>
          </a:xfrm>
          <a:prstGeom prst="rect">
            <a:avLst/>
          </a:prstGeom>
          <a:noFill/>
          <a:ln>
            <a:noFill/>
          </a:ln>
        </p:spPr>
      </p:pic>
      <p:pic>
        <p:nvPicPr>
          <p:cNvPr descr="C:\Users\e5\Desktop\dang.jpg" id="248" name="Google Shape;248;p15"/>
          <p:cNvPicPr preferRelativeResize="0"/>
          <p:nvPr/>
        </p:nvPicPr>
        <p:blipFill rotWithShape="1">
          <a:blip r:embed="rId4">
            <a:alphaModFix/>
          </a:blip>
          <a:srcRect b="0" l="0" r="0" t="0"/>
          <a:stretch/>
        </p:blipFill>
        <p:spPr>
          <a:xfrm>
            <a:off x="357809" y="337930"/>
            <a:ext cx="3002239" cy="2884419"/>
          </a:xfrm>
          <a:prstGeom prst="rect">
            <a:avLst/>
          </a:prstGeom>
          <a:noFill/>
          <a:ln>
            <a:noFill/>
          </a:ln>
        </p:spPr>
      </p:pic>
      <p:cxnSp>
        <p:nvCxnSpPr>
          <p:cNvPr id="249" name="Google Shape;249;p15"/>
          <p:cNvCxnSpPr/>
          <p:nvPr/>
        </p:nvCxnSpPr>
        <p:spPr>
          <a:xfrm flipH="1" rot="10800000">
            <a:off x="9412357" y="1997765"/>
            <a:ext cx="129208" cy="227812"/>
          </a:xfrm>
          <a:prstGeom prst="straightConnector1">
            <a:avLst/>
          </a:prstGeom>
          <a:noFill/>
          <a:ln cap="flat" cmpd="sng" w="9525">
            <a:solidFill>
              <a:schemeClr val="accent1"/>
            </a:solidFill>
            <a:prstDash val="solid"/>
            <a:miter lim="800000"/>
            <a:headEnd len="sm" w="sm" type="none"/>
            <a:tailEnd len="sm" w="sm" type="none"/>
          </a:ln>
        </p:spPr>
      </p:cxnSp>
      <p:sp>
        <p:nvSpPr>
          <p:cNvPr id="250" name="Google Shape;250;p15"/>
          <p:cNvSpPr/>
          <p:nvPr/>
        </p:nvSpPr>
        <p:spPr>
          <a:xfrm>
            <a:off x="3431292" y="530952"/>
            <a:ext cx="514115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400">
                <a:solidFill>
                  <a:schemeClr val="dk1"/>
                </a:solidFill>
                <a:latin typeface="Calibri"/>
                <a:ea typeface="Calibri"/>
                <a:cs typeface="Calibri"/>
                <a:sym typeface="Calibri"/>
              </a:rPr>
              <a:t>2. Nhiệm vụ của khoa học Lịch sử Đảng</a:t>
            </a:r>
            <a:endParaRPr sz="24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descr="GT LSD.jpg" id="255" name="Google Shape;255;p16"/>
          <p:cNvPicPr preferRelativeResize="0"/>
          <p:nvPr/>
        </p:nvPicPr>
        <p:blipFill rotWithShape="1">
          <a:blip r:embed="rId3">
            <a:alphaModFix/>
          </a:blip>
          <a:srcRect b="0" l="0" r="0" t="0"/>
          <a:stretch/>
        </p:blipFill>
        <p:spPr>
          <a:xfrm rot="794549">
            <a:off x="7588251" y="1887538"/>
            <a:ext cx="2540000" cy="2673350"/>
          </a:xfrm>
          <a:prstGeom prst="rect">
            <a:avLst/>
          </a:prstGeom>
          <a:noFill/>
          <a:ln>
            <a:noFill/>
          </a:ln>
        </p:spPr>
      </p:pic>
      <p:pic>
        <p:nvPicPr>
          <p:cNvPr id="256" name="Google Shape;256;p16"/>
          <p:cNvPicPr preferRelativeResize="0"/>
          <p:nvPr/>
        </p:nvPicPr>
        <p:blipFill rotWithShape="1">
          <a:blip r:embed="rId4">
            <a:alphaModFix/>
          </a:blip>
          <a:srcRect b="0" l="0" r="0" t="0"/>
          <a:stretch/>
        </p:blipFill>
        <p:spPr>
          <a:xfrm rot="-1393879">
            <a:off x="1979637" y="1651615"/>
            <a:ext cx="2745316" cy="2689225"/>
          </a:xfrm>
          <a:prstGeom prst="rect">
            <a:avLst/>
          </a:prstGeom>
          <a:noFill/>
          <a:ln>
            <a:noFill/>
          </a:ln>
          <a:effectLst>
            <a:outerShdw blurRad="292100" rotWithShape="0" algn="tl" dir="2700000" dist="139700">
              <a:srgbClr val="333333">
                <a:alpha val="64705"/>
              </a:srgbClr>
            </a:outerShdw>
          </a:effectLst>
        </p:spPr>
      </p:pic>
      <p:sp>
        <p:nvSpPr>
          <p:cNvPr id="257" name="Google Shape;257;p16"/>
          <p:cNvSpPr/>
          <p:nvPr/>
        </p:nvSpPr>
        <p:spPr>
          <a:xfrm>
            <a:off x="5501218" y="4168776"/>
            <a:ext cx="3458633" cy="2232025"/>
          </a:xfrm>
          <a:prstGeom prst="ellipse">
            <a:avLst/>
          </a:prstGeom>
          <a:solidFill>
            <a:schemeClr val="accent2"/>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PHƯƠNG </a:t>
            </a:r>
            <a:endParaRPr/>
          </a:p>
          <a:p>
            <a:pPr indent="0" lvl="0" marL="0" marR="0" rtl="0" algn="ctr">
              <a:spcBef>
                <a:spcPts val="0"/>
              </a:spcBef>
              <a:spcAft>
                <a:spcPts val="0"/>
              </a:spcAft>
              <a:buNone/>
            </a:pPr>
            <a:r>
              <a:rPr b="1" lang="en-US" sz="1800">
                <a:solidFill>
                  <a:schemeClr val="lt1"/>
                </a:solidFill>
                <a:latin typeface="Calibri"/>
                <a:ea typeface="Calibri"/>
                <a:cs typeface="Calibri"/>
                <a:sym typeface="Calibri"/>
              </a:rPr>
              <a:t>PHÁP </a:t>
            </a:r>
            <a:endParaRPr/>
          </a:p>
          <a:p>
            <a:pPr indent="0" lvl="0" marL="0" marR="0" rtl="0" algn="ctr">
              <a:spcBef>
                <a:spcPts val="0"/>
              </a:spcBef>
              <a:spcAft>
                <a:spcPts val="0"/>
              </a:spcAft>
              <a:buNone/>
            </a:pPr>
            <a:r>
              <a:rPr b="1" lang="en-US" sz="1800">
                <a:solidFill>
                  <a:schemeClr val="lt1"/>
                </a:solidFill>
                <a:latin typeface="Calibri"/>
                <a:ea typeface="Calibri"/>
                <a:cs typeface="Calibri"/>
                <a:sym typeface="Calibri"/>
              </a:rPr>
              <a:t>LỊCH SỬ</a:t>
            </a:r>
            <a:endParaRPr/>
          </a:p>
        </p:txBody>
      </p:sp>
      <p:sp>
        <p:nvSpPr>
          <p:cNvPr id="258" name="Google Shape;258;p16"/>
          <p:cNvSpPr/>
          <p:nvPr/>
        </p:nvSpPr>
        <p:spPr>
          <a:xfrm>
            <a:off x="2620434" y="4168776"/>
            <a:ext cx="3458633" cy="2232025"/>
          </a:xfrm>
          <a:prstGeom prst="ellipse">
            <a:avLst/>
          </a:prstGeom>
          <a:solidFill>
            <a:schemeClr val="accent2"/>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PHƯƠNG </a:t>
            </a:r>
            <a:endParaRPr/>
          </a:p>
          <a:p>
            <a:pPr indent="0" lvl="0" marL="0" marR="0" rtl="0" algn="ctr">
              <a:spcBef>
                <a:spcPts val="0"/>
              </a:spcBef>
              <a:spcAft>
                <a:spcPts val="0"/>
              </a:spcAft>
              <a:buNone/>
            </a:pPr>
            <a:r>
              <a:rPr b="1" lang="en-US" sz="1800">
                <a:solidFill>
                  <a:schemeClr val="lt1"/>
                </a:solidFill>
                <a:latin typeface="Calibri"/>
                <a:ea typeface="Calibri"/>
                <a:cs typeface="Calibri"/>
                <a:sym typeface="Calibri"/>
              </a:rPr>
              <a:t>PHÁP</a:t>
            </a:r>
            <a:endParaRPr/>
          </a:p>
          <a:p>
            <a:pPr indent="0" lvl="0" marL="0" marR="0" rtl="0" algn="ctr">
              <a:spcBef>
                <a:spcPts val="0"/>
              </a:spcBef>
              <a:spcAft>
                <a:spcPts val="0"/>
              </a:spcAft>
              <a:buNone/>
            </a:pPr>
            <a:r>
              <a:rPr b="1" lang="en-US" sz="1800">
                <a:solidFill>
                  <a:schemeClr val="lt1"/>
                </a:solidFill>
                <a:latin typeface="Calibri"/>
                <a:ea typeface="Calibri"/>
                <a:cs typeface="Calibri"/>
                <a:sym typeface="Calibri"/>
              </a:rPr>
              <a:t> LÔGIC</a:t>
            </a:r>
            <a:endParaRPr/>
          </a:p>
        </p:txBody>
      </p:sp>
      <p:sp>
        <p:nvSpPr>
          <p:cNvPr id="259" name="Google Shape;259;p16"/>
          <p:cNvSpPr/>
          <p:nvPr/>
        </p:nvSpPr>
        <p:spPr>
          <a:xfrm rot="-538529">
            <a:off x="1369484" y="3268663"/>
            <a:ext cx="1107016" cy="2487612"/>
          </a:xfrm>
          <a:prstGeom prst="curvedRightArrow">
            <a:avLst>
              <a:gd fmla="val 70799" name="adj1"/>
              <a:gd fmla="val 141569" name="adj2"/>
              <a:gd fmla="val 33333" name="adj3"/>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6"/>
          <p:cNvSpPr/>
          <p:nvPr/>
        </p:nvSpPr>
        <p:spPr>
          <a:xfrm rot="-9762146">
            <a:off x="9472084" y="2987675"/>
            <a:ext cx="1202267" cy="2673350"/>
          </a:xfrm>
          <a:prstGeom prst="curvedRightArrow">
            <a:avLst>
              <a:gd fmla="val 70675" name="adj1"/>
              <a:gd fmla="val 141335" name="adj2"/>
              <a:gd fmla="val 33333" name="adj3"/>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61" name="Google Shape;261;p16"/>
          <p:cNvPicPr preferRelativeResize="0"/>
          <p:nvPr/>
        </p:nvPicPr>
        <p:blipFill rotWithShape="1">
          <a:blip r:embed="rId5">
            <a:alphaModFix/>
          </a:blip>
          <a:srcRect b="0" l="0" r="0" t="0"/>
          <a:stretch/>
        </p:blipFill>
        <p:spPr>
          <a:xfrm>
            <a:off x="4891618" y="1825626"/>
            <a:ext cx="2626783" cy="2371725"/>
          </a:xfrm>
          <a:prstGeom prst="rect">
            <a:avLst/>
          </a:prstGeom>
          <a:noFill/>
          <a:ln cap="flat" cmpd="sng" w="9525">
            <a:solidFill>
              <a:srgbClr val="080808"/>
            </a:solidFill>
            <a:prstDash val="solid"/>
            <a:miter lim="800000"/>
            <a:headEnd len="sm" w="sm" type="none"/>
            <a:tailEnd len="sm" w="sm" type="none"/>
          </a:ln>
        </p:spPr>
      </p:pic>
      <p:sp>
        <p:nvSpPr>
          <p:cNvPr id="262" name="Google Shape;262;p16"/>
          <p:cNvSpPr/>
          <p:nvPr/>
        </p:nvSpPr>
        <p:spPr>
          <a:xfrm>
            <a:off x="2312502" y="444957"/>
            <a:ext cx="8732101"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2. Phương pháp nghiên cứu, học tập môn học Lịch sử Đảng Cộng sản Việt Nam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b="1" i="1" lang="en-US" sz="2000">
                <a:solidFill>
                  <a:schemeClr val="dk1"/>
                </a:solidFill>
                <a:latin typeface="Calibri"/>
                <a:ea typeface="Calibri"/>
                <a:cs typeface="Calibri"/>
                <a:sym typeface="Calibri"/>
              </a:rPr>
              <a:t>2.1. Phương pháp nghiên cứu</a:t>
            </a:r>
            <a:endParaRPr sz="20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2000"/>
                                        <p:tgtEl>
                                          <p:spTgt spid="255"/>
                                        </p:tgtEl>
                                      </p:cBhvr>
                                    </p:animEffect>
                                  </p:childTnLst>
                                </p:cTn>
                              </p:par>
                              <p:par>
                                <p:cTn fill="hold" nodeType="with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2000"/>
                                        <p:tgtEl>
                                          <p:spTgt spid="256"/>
                                        </p:tgtEl>
                                      </p:cBhvr>
                                    </p:animEffect>
                                  </p:childTnLst>
                                </p:cTn>
                              </p:par>
                              <p:par>
                                <p:cTn fill="hold" nodeType="with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2000"/>
                                        <p:tgtEl>
                                          <p:spTgt spid="257"/>
                                        </p:tgtEl>
                                      </p:cBhvr>
                                    </p:animEffect>
                                  </p:childTnLst>
                                </p:cTn>
                              </p:par>
                              <p:par>
                                <p:cTn fill="hold" nodeType="with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2000"/>
                                        <p:tgtEl>
                                          <p:spTgt spid="258"/>
                                        </p:tgtEl>
                                      </p:cBhvr>
                                    </p:animEffect>
                                  </p:childTnLst>
                                </p:cTn>
                              </p:par>
                              <p:par>
                                <p:cTn fill="hold" nodeType="with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2000"/>
                                        <p:tgtEl>
                                          <p:spTgt spid="259"/>
                                        </p:tgtEl>
                                      </p:cBhvr>
                                    </p:animEffect>
                                  </p:childTnLst>
                                </p:cTn>
                              </p:par>
                              <p:par>
                                <p:cTn fill="hold" nodeType="with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2000"/>
                                        <p:tgtEl>
                                          <p:spTgt spid="260"/>
                                        </p:tgtEl>
                                      </p:cBhvr>
                                    </p:animEffect>
                                  </p:childTnLst>
                                </p:cTn>
                              </p:par>
                              <p:par>
                                <p:cTn fill="hold" nodeType="with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2000"/>
                                        <p:tgtEl>
                                          <p:spTgt spid="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grpSp>
        <p:nvGrpSpPr>
          <p:cNvPr id="267" name="Google Shape;267;p17"/>
          <p:cNvGrpSpPr/>
          <p:nvPr/>
        </p:nvGrpSpPr>
        <p:grpSpPr>
          <a:xfrm>
            <a:off x="304800" y="1838326"/>
            <a:ext cx="11074400" cy="1228725"/>
            <a:chOff x="144" y="1158"/>
            <a:chExt cx="5232" cy="774"/>
          </a:xfrm>
        </p:grpSpPr>
        <p:grpSp>
          <p:nvGrpSpPr>
            <p:cNvPr id="268" name="Google Shape;268;p17"/>
            <p:cNvGrpSpPr/>
            <p:nvPr/>
          </p:nvGrpSpPr>
          <p:grpSpPr>
            <a:xfrm>
              <a:off x="144" y="1158"/>
              <a:ext cx="5232" cy="774"/>
              <a:chOff x="1200" y="1056"/>
              <a:chExt cx="3456" cy="774"/>
            </a:xfrm>
          </p:grpSpPr>
          <p:sp>
            <p:nvSpPr>
              <p:cNvPr id="269" name="Google Shape;269;p17"/>
              <p:cNvSpPr/>
              <p:nvPr/>
            </p:nvSpPr>
            <p:spPr>
              <a:xfrm>
                <a:off x="1200" y="1056"/>
                <a:ext cx="3456" cy="774"/>
              </a:xfrm>
              <a:prstGeom prst="roundRect">
                <a:avLst>
                  <a:gd fmla="val 10889" name="adj"/>
                </a:avLst>
              </a:prstGeom>
              <a:gradFill>
                <a:gsLst>
                  <a:gs pos="0">
                    <a:srgbClr val="EEEEEE"/>
                  </a:gs>
                  <a:gs pos="100000">
                    <a:srgbClr val="DDDDDD"/>
                  </a:gs>
                </a:gsLst>
                <a:lin ang="2700000" scaled="0"/>
              </a:gradFill>
              <a:ln cap="flat" cmpd="sng" w="38100">
                <a:solidFill>
                  <a:srgbClr val="FFFFFF"/>
                </a:solidFill>
                <a:prstDash val="solid"/>
                <a:round/>
                <a:headEnd len="sm" w="sm" type="none"/>
                <a:tailEnd len="sm" w="sm" type="none"/>
              </a:ln>
              <a:effectLst>
                <a:outerShdw rotWithShape="0" algn="ctr" dir="2928844" dist="135003">
                  <a:srgbClr val="000000">
                    <a:alpha val="4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17"/>
              <p:cNvSpPr/>
              <p:nvPr/>
            </p:nvSpPr>
            <p:spPr>
              <a:xfrm>
                <a:off x="1276" y="1128"/>
                <a:ext cx="666" cy="633"/>
              </a:xfrm>
              <a:prstGeom prst="roundRect">
                <a:avLst>
                  <a:gd fmla="val 11921" name="adj"/>
                </a:avLst>
              </a:prstGeom>
              <a:gradFill>
                <a:gsLst>
                  <a:gs pos="0">
                    <a:schemeClr val="accent1"/>
                  </a:gs>
                  <a:gs pos="100000">
                    <a:srgbClr val="3960A6"/>
                  </a:gs>
                </a:gsLst>
                <a:lin ang="5400000" scaled="0"/>
              </a:gradFill>
              <a:ln cap="flat" cmpd="sng" w="38100">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17"/>
              <p:cNvSpPr/>
              <p:nvPr/>
            </p:nvSpPr>
            <p:spPr>
              <a:xfrm>
                <a:off x="1317" y="1168"/>
                <a:ext cx="333" cy="317"/>
              </a:xfrm>
              <a:custGeom>
                <a:rect b="b" l="l" r="r" t="t"/>
                <a:pathLst>
                  <a:path extrusionOk="0" h="598" w="596">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a:gsLst>
                  <a:gs pos="0">
                    <a:srgbClr val="B7C2E1"/>
                  </a:gs>
                  <a:gs pos="50000">
                    <a:srgbClr val="4472C4">
                      <a:alpha val="0"/>
                    </a:srgbClr>
                  </a:gs>
                  <a:gs pos="100000">
                    <a:srgbClr val="B7C2E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2" name="Google Shape;272;p17"/>
            <p:cNvSpPr txBox="1"/>
            <p:nvPr/>
          </p:nvSpPr>
          <p:spPr>
            <a:xfrm>
              <a:off x="575" y="1265"/>
              <a:ext cx="264" cy="44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4000">
                  <a:solidFill>
                    <a:srgbClr val="FFFFFF"/>
                  </a:solidFill>
                  <a:latin typeface="Calibri"/>
                  <a:ea typeface="Calibri"/>
                  <a:cs typeface="Calibri"/>
                  <a:sym typeface="Calibri"/>
                </a:rPr>
                <a:t>a,</a:t>
              </a:r>
              <a:endParaRPr/>
            </a:p>
          </p:txBody>
        </p:sp>
        <p:sp>
          <p:nvSpPr>
            <p:cNvPr id="273" name="Google Shape;273;p17"/>
            <p:cNvSpPr txBox="1"/>
            <p:nvPr/>
          </p:nvSpPr>
          <p:spPr>
            <a:xfrm>
              <a:off x="1296" y="1296"/>
              <a:ext cx="4032" cy="44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Calibri"/>
                  <a:ea typeface="Calibri"/>
                  <a:cs typeface="Calibri"/>
                  <a:sym typeface="Calibri"/>
                </a:rPr>
                <a:t>Trang bị những hiểu biết cơ bản về hệ thống những vấn đề cơ bản của lịch sử Đảng cộng sản Việt Nam</a:t>
              </a:r>
              <a:endParaRPr/>
            </a:p>
          </p:txBody>
        </p:sp>
      </p:grpSp>
      <p:grpSp>
        <p:nvGrpSpPr>
          <p:cNvPr id="274" name="Google Shape;274;p17"/>
          <p:cNvGrpSpPr/>
          <p:nvPr/>
        </p:nvGrpSpPr>
        <p:grpSpPr>
          <a:xfrm>
            <a:off x="304800" y="3197226"/>
            <a:ext cx="11084984" cy="1236663"/>
            <a:chOff x="144" y="2014"/>
            <a:chExt cx="5237" cy="779"/>
          </a:xfrm>
        </p:grpSpPr>
        <p:grpSp>
          <p:nvGrpSpPr>
            <p:cNvPr id="275" name="Google Shape;275;p17"/>
            <p:cNvGrpSpPr/>
            <p:nvPr/>
          </p:nvGrpSpPr>
          <p:grpSpPr>
            <a:xfrm>
              <a:off x="144" y="2014"/>
              <a:ext cx="5232" cy="774"/>
              <a:chOff x="1200" y="1912"/>
              <a:chExt cx="3456" cy="774"/>
            </a:xfrm>
          </p:grpSpPr>
          <p:sp>
            <p:nvSpPr>
              <p:cNvPr id="276" name="Google Shape;276;p17"/>
              <p:cNvSpPr/>
              <p:nvPr/>
            </p:nvSpPr>
            <p:spPr>
              <a:xfrm>
                <a:off x="1200" y="1912"/>
                <a:ext cx="3456" cy="774"/>
              </a:xfrm>
              <a:prstGeom prst="roundRect">
                <a:avLst>
                  <a:gd fmla="val 10889" name="adj"/>
                </a:avLst>
              </a:prstGeom>
              <a:gradFill>
                <a:gsLst>
                  <a:gs pos="0">
                    <a:srgbClr val="EEEEEE"/>
                  </a:gs>
                  <a:gs pos="100000">
                    <a:srgbClr val="DDDDDD"/>
                  </a:gs>
                </a:gsLst>
                <a:lin ang="2700000" scaled="0"/>
              </a:gradFill>
              <a:ln cap="flat" cmpd="sng" w="38100">
                <a:solidFill>
                  <a:srgbClr val="FFFFFF"/>
                </a:solidFill>
                <a:prstDash val="solid"/>
                <a:round/>
                <a:headEnd len="sm" w="sm" type="none"/>
                <a:tailEnd len="sm" w="sm" type="none"/>
              </a:ln>
              <a:effectLst>
                <a:outerShdw rotWithShape="0" algn="ctr" dir="2928844" dist="135003">
                  <a:srgbClr val="000000">
                    <a:alpha val="4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7"/>
              <p:cNvSpPr/>
              <p:nvPr/>
            </p:nvSpPr>
            <p:spPr>
              <a:xfrm>
                <a:off x="1276" y="1983"/>
                <a:ext cx="666" cy="633"/>
              </a:xfrm>
              <a:prstGeom prst="roundRect">
                <a:avLst>
                  <a:gd fmla="val 11921" name="adj"/>
                </a:avLst>
              </a:prstGeom>
              <a:gradFill>
                <a:gsLst>
                  <a:gs pos="0">
                    <a:schemeClr val="accent2"/>
                  </a:gs>
                  <a:gs pos="100000">
                    <a:srgbClr val="C96A29"/>
                  </a:gs>
                </a:gsLst>
                <a:lin ang="5400000" scaled="0"/>
              </a:gradFill>
              <a:ln cap="flat" cmpd="sng" w="38100">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17"/>
              <p:cNvSpPr/>
              <p:nvPr/>
            </p:nvSpPr>
            <p:spPr>
              <a:xfrm>
                <a:off x="1317" y="2028"/>
                <a:ext cx="333" cy="317"/>
              </a:xfrm>
              <a:custGeom>
                <a:rect b="b" l="l" r="r" t="t"/>
                <a:pathLst>
                  <a:path extrusionOk="0" h="598" w="596">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a:gsLst>
                  <a:gs pos="0">
                    <a:srgbClr val="F5C5B5"/>
                  </a:gs>
                  <a:gs pos="50000">
                    <a:srgbClr val="ED7D31">
                      <a:alpha val="0"/>
                    </a:srgbClr>
                  </a:gs>
                  <a:gs pos="100000">
                    <a:srgbClr val="F5C5B5"/>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9" name="Google Shape;279;p17"/>
            <p:cNvSpPr txBox="1"/>
            <p:nvPr/>
          </p:nvSpPr>
          <p:spPr>
            <a:xfrm flipH="1">
              <a:off x="529" y="2208"/>
              <a:ext cx="477" cy="40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3600">
                  <a:solidFill>
                    <a:srgbClr val="FFFFFF"/>
                  </a:solidFill>
                  <a:latin typeface="Calibri"/>
                  <a:ea typeface="Calibri"/>
                  <a:cs typeface="Calibri"/>
                  <a:sym typeface="Calibri"/>
                </a:rPr>
                <a:t>b,</a:t>
              </a:r>
              <a:endParaRPr/>
            </a:p>
          </p:txBody>
        </p:sp>
        <p:sp>
          <p:nvSpPr>
            <p:cNvPr id="280" name="Google Shape;280;p17"/>
            <p:cNvSpPr txBox="1"/>
            <p:nvPr/>
          </p:nvSpPr>
          <p:spPr>
            <a:xfrm>
              <a:off x="1392" y="2159"/>
              <a:ext cx="3989" cy="63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Calibri"/>
                  <a:ea typeface="Calibri"/>
                  <a:cs typeface="Calibri"/>
                  <a:sym typeface="Calibri"/>
                </a:rPr>
                <a:t>Bồi dưỡng niềm tin vào sự lãnh đạo của Đảng theo mục tiêu, lý tưởng của Đảng, nâng cao ý thức trách nhiệm trước những nhiệm vụ trọng đại của đất nước.</a:t>
              </a:r>
              <a:endParaRPr/>
            </a:p>
          </p:txBody>
        </p:sp>
      </p:grpSp>
      <p:grpSp>
        <p:nvGrpSpPr>
          <p:cNvPr id="281" name="Google Shape;281;p17"/>
          <p:cNvGrpSpPr/>
          <p:nvPr/>
        </p:nvGrpSpPr>
        <p:grpSpPr>
          <a:xfrm>
            <a:off x="304800" y="4572001"/>
            <a:ext cx="11074400" cy="1228725"/>
            <a:chOff x="144" y="2880"/>
            <a:chExt cx="5232" cy="774"/>
          </a:xfrm>
        </p:grpSpPr>
        <p:grpSp>
          <p:nvGrpSpPr>
            <p:cNvPr id="282" name="Google Shape;282;p17"/>
            <p:cNvGrpSpPr/>
            <p:nvPr/>
          </p:nvGrpSpPr>
          <p:grpSpPr>
            <a:xfrm>
              <a:off x="144" y="2880"/>
              <a:ext cx="5232" cy="774"/>
              <a:chOff x="1200" y="2778"/>
              <a:chExt cx="3456" cy="774"/>
            </a:xfrm>
          </p:grpSpPr>
          <p:sp>
            <p:nvSpPr>
              <p:cNvPr id="283" name="Google Shape;283;p17"/>
              <p:cNvSpPr/>
              <p:nvPr/>
            </p:nvSpPr>
            <p:spPr>
              <a:xfrm>
                <a:off x="1200" y="2778"/>
                <a:ext cx="3456" cy="774"/>
              </a:xfrm>
              <a:prstGeom prst="roundRect">
                <a:avLst>
                  <a:gd fmla="val 10889" name="adj"/>
                </a:avLst>
              </a:prstGeom>
              <a:gradFill>
                <a:gsLst>
                  <a:gs pos="0">
                    <a:srgbClr val="EEEEEE"/>
                  </a:gs>
                  <a:gs pos="100000">
                    <a:srgbClr val="DDDDDD"/>
                  </a:gs>
                </a:gsLst>
                <a:lin ang="2700000" scaled="0"/>
              </a:gradFill>
              <a:ln cap="flat" cmpd="sng" w="38100">
                <a:solidFill>
                  <a:srgbClr val="FFFFFF"/>
                </a:solidFill>
                <a:prstDash val="solid"/>
                <a:round/>
                <a:headEnd len="sm" w="sm" type="none"/>
                <a:tailEnd len="sm" w="sm" type="none"/>
              </a:ln>
              <a:effectLst>
                <a:outerShdw rotWithShape="0" algn="ctr" dir="2928844" dist="135003">
                  <a:srgbClr val="000000">
                    <a:alpha val="4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17"/>
              <p:cNvSpPr/>
              <p:nvPr/>
            </p:nvSpPr>
            <p:spPr>
              <a:xfrm>
                <a:off x="1276" y="2849"/>
                <a:ext cx="666" cy="633"/>
              </a:xfrm>
              <a:prstGeom prst="roundRect">
                <a:avLst>
                  <a:gd fmla="val 11921" name="adj"/>
                </a:avLst>
              </a:prstGeom>
              <a:gradFill>
                <a:gsLst>
                  <a:gs pos="0">
                    <a:schemeClr val="folHlink"/>
                  </a:gs>
                  <a:gs pos="100000">
                    <a:srgbClr val="7E4360"/>
                  </a:gs>
                </a:gsLst>
                <a:lin ang="5400000" scaled="0"/>
              </a:gradFill>
              <a:ln cap="flat" cmpd="sng" w="38100">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17"/>
              <p:cNvSpPr/>
              <p:nvPr/>
            </p:nvSpPr>
            <p:spPr>
              <a:xfrm>
                <a:off x="1317" y="2889"/>
                <a:ext cx="333" cy="317"/>
              </a:xfrm>
              <a:custGeom>
                <a:rect b="b" l="l" r="r" t="t"/>
                <a:pathLst>
                  <a:path extrusionOk="0" h="598" w="596">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a:gsLst>
                  <a:gs pos="0">
                    <a:srgbClr val="CEB9C2"/>
                  </a:gs>
                  <a:gs pos="50000">
                    <a:srgbClr val="954F72">
                      <a:alpha val="0"/>
                    </a:srgbClr>
                  </a:gs>
                  <a:gs pos="100000">
                    <a:srgbClr val="CEB9C2"/>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6" name="Google Shape;286;p17"/>
            <p:cNvSpPr txBox="1"/>
            <p:nvPr/>
          </p:nvSpPr>
          <p:spPr>
            <a:xfrm>
              <a:off x="572" y="2993"/>
              <a:ext cx="250" cy="44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4000">
                  <a:solidFill>
                    <a:srgbClr val="FFFFFF"/>
                  </a:solidFill>
                  <a:latin typeface="Calibri"/>
                  <a:ea typeface="Calibri"/>
                  <a:cs typeface="Calibri"/>
                  <a:sym typeface="Calibri"/>
                </a:rPr>
                <a:t>c,</a:t>
              </a:r>
              <a:endParaRPr/>
            </a:p>
          </p:txBody>
        </p:sp>
        <p:sp>
          <p:nvSpPr>
            <p:cNvPr id="287" name="Google Shape;287;p17"/>
            <p:cNvSpPr txBox="1"/>
            <p:nvPr/>
          </p:nvSpPr>
          <p:spPr>
            <a:xfrm>
              <a:off x="1344" y="2985"/>
              <a:ext cx="4032" cy="63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Calibri"/>
                  <a:ea typeface="Calibri"/>
                  <a:cs typeface="Calibri"/>
                  <a:sym typeface="Calibri"/>
                </a:rPr>
                <a:t>Vận dụng kiến thức chuyên ngành để chủ động, tích cực trong giải quyết những vấn đề kinh tế, chính trị, văn hoá, xã hội theo đường lối, chính sách của Đảng. </a:t>
              </a:r>
              <a:endParaRPr/>
            </a:p>
          </p:txBody>
        </p:sp>
      </p:grpSp>
      <p:sp>
        <p:nvSpPr>
          <p:cNvPr id="288" name="Google Shape;288;p17"/>
          <p:cNvSpPr/>
          <p:nvPr/>
        </p:nvSpPr>
        <p:spPr>
          <a:xfrm>
            <a:off x="2133601" y="599302"/>
            <a:ext cx="585448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2.2. Ý nghĩa của học tập môn học</a:t>
            </a:r>
            <a:endParaRPr b="1" sz="2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500"/>
                                        <p:tgtEl>
                                          <p:spTgt spid="2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2020-05-27T05:21:30Z</dcterms:created>
  <dc:creator>Toan Le</dc:creator>
</cp:coreProperties>
</file>