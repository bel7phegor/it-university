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78" roundtripDataSignature="AMtx7mha5o+jbsGDs1aG1IiQ2/niceB2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34" Type="http://schemas.openxmlformats.org/officeDocument/2006/relationships/slide" Target="slides/slide29.xml"/><Relationship Id="rId78" Type="http://customschemas.google.com/relationships/presentationmetadata" Target="meta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5" name="Google Shape;535;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7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74"/>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4"/>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75"/>
          <p:cNvSpPr txBox="1"/>
          <p:nvPr>
            <p:ph type="title"/>
          </p:nvPr>
        </p:nvSpPr>
        <p:spPr>
          <a:xfrm>
            <a:off x="2043484" y="365126"/>
            <a:ext cx="9310315" cy="9468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5"/>
          <p:cNvSpPr txBox="1"/>
          <p:nvPr>
            <p:ph idx="1" type="body"/>
          </p:nvPr>
        </p:nvSpPr>
        <p:spPr>
          <a:xfrm>
            <a:off x="572493" y="1431235"/>
            <a:ext cx="11100021" cy="486619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5"/>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75"/>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76"/>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76"/>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7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77"/>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7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77"/>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77"/>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7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78"/>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8"/>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9"/>
          <p:cNvSpPr txBox="1"/>
          <p:nvPr>
            <p:ph type="title"/>
          </p:nvPr>
        </p:nvSpPr>
        <p:spPr>
          <a:xfrm>
            <a:off x="2059536" y="365125"/>
            <a:ext cx="9295852" cy="95947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9"/>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9"/>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0"/>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0"/>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0"/>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8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8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81"/>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1"/>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8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2"/>
          <p:cNvSpPr/>
          <p:nvPr>
            <p:ph idx="2" type="pic"/>
          </p:nvPr>
        </p:nvSpPr>
        <p:spPr>
          <a:xfrm>
            <a:off x="5183188" y="987425"/>
            <a:ext cx="6172200" cy="4873625"/>
          </a:xfrm>
          <a:prstGeom prst="rect">
            <a:avLst/>
          </a:prstGeom>
          <a:noFill/>
          <a:ln>
            <a:noFill/>
          </a:ln>
        </p:spPr>
      </p:sp>
      <p:sp>
        <p:nvSpPr>
          <p:cNvPr id="68" name="Google Shape;68;p8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82"/>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2"/>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83"/>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3"/>
          <p:cNvSpPr txBox="1"/>
          <p:nvPr>
            <p:ph idx="1" type="body"/>
          </p:nvPr>
        </p:nvSpPr>
        <p:spPr>
          <a:xfrm rot="5400000">
            <a:off x="3594258" y="-1582579"/>
            <a:ext cx="4729826" cy="1078925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83"/>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3"/>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8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8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84"/>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84"/>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5.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73"/>
          <p:cNvSpPr txBox="1"/>
          <p:nvPr>
            <p:ph type="title"/>
          </p:nvPr>
        </p:nvSpPr>
        <p:spPr>
          <a:xfrm>
            <a:off x="2043484" y="365126"/>
            <a:ext cx="9310315" cy="93093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3"/>
          <p:cNvSpPr txBox="1"/>
          <p:nvPr>
            <p:ph idx="1" type="body"/>
          </p:nvPr>
        </p:nvSpPr>
        <p:spPr>
          <a:xfrm>
            <a:off x="564543" y="1447137"/>
            <a:ext cx="10789257" cy="4729826"/>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3"/>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3"/>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3.jpg"/><Relationship Id="rId5" Type="http://schemas.openxmlformats.org/officeDocument/2006/relationships/image" Target="../media/image19.jpg"/><Relationship Id="rId6" Type="http://schemas.openxmlformats.org/officeDocument/2006/relationships/image" Target="../media/image2.jp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jpg"/><Relationship Id="rId4" Type="http://schemas.openxmlformats.org/officeDocument/2006/relationships/image" Target="../media/image4.jpg"/><Relationship Id="rId5"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35.jpg"/><Relationship Id="rId5"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jp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jpg"/><Relationship Id="rId4" Type="http://schemas.openxmlformats.org/officeDocument/2006/relationships/image" Target="../media/image24.jpg"/><Relationship Id="rId5" Type="http://schemas.openxmlformats.org/officeDocument/2006/relationships/image" Target="../media/image3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3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8.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42.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4.jpg"/></Relationships>
</file>

<file path=ppt/slides/_rels/slide70.xml.rels><?xml version="1.0" encoding="UTF-8" standalone="yes"?><Relationships xmlns="http://schemas.openxmlformats.org/package/2006/relationships"><Relationship Id="rId11" Type="http://schemas.openxmlformats.org/officeDocument/2006/relationships/image" Target="../media/image48.jpg"/><Relationship Id="rId10" Type="http://schemas.openxmlformats.org/officeDocument/2006/relationships/image" Target="../media/image47.jpg"/><Relationship Id="rId12" Type="http://schemas.openxmlformats.org/officeDocument/2006/relationships/image" Target="../media/image43.jpg"/><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36.jpg"/><Relationship Id="rId4" Type="http://schemas.openxmlformats.org/officeDocument/2006/relationships/image" Target="../media/image40.jpg"/><Relationship Id="rId9" Type="http://schemas.openxmlformats.org/officeDocument/2006/relationships/image" Target="../media/image45.jpg"/><Relationship Id="rId5" Type="http://schemas.openxmlformats.org/officeDocument/2006/relationships/image" Target="../media/image46.jpg"/><Relationship Id="rId6" Type="http://schemas.openxmlformats.org/officeDocument/2006/relationships/image" Target="../media/image49.jpg"/><Relationship Id="rId7" Type="http://schemas.openxmlformats.org/officeDocument/2006/relationships/image" Target="../media/image44.jpg"/><Relationship Id="rId8" Type="http://schemas.openxmlformats.org/officeDocument/2006/relationships/image" Target="../media/image4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f" id="88" name="Google Shape;88;p1"/>
          <p:cNvPicPr preferRelativeResize="0"/>
          <p:nvPr/>
        </p:nvPicPr>
        <p:blipFill rotWithShape="1">
          <a:blip r:embed="rId3">
            <a:alphaModFix/>
          </a:blip>
          <a:srcRect b="0" l="0" r="0" t="0"/>
          <a:stretch/>
        </p:blipFill>
        <p:spPr>
          <a:xfrm>
            <a:off x="9042400" y="5200650"/>
            <a:ext cx="3149600" cy="1657350"/>
          </a:xfrm>
          <a:prstGeom prst="rect">
            <a:avLst/>
          </a:prstGeom>
          <a:noFill/>
          <a:ln>
            <a:noFill/>
          </a:ln>
        </p:spPr>
      </p:pic>
      <p:sp>
        <p:nvSpPr>
          <p:cNvPr id="89" name="Google Shape;89;p1"/>
          <p:cNvSpPr txBox="1"/>
          <p:nvPr/>
        </p:nvSpPr>
        <p:spPr>
          <a:xfrm>
            <a:off x="437322" y="1840546"/>
            <a:ext cx="10901238" cy="2054537"/>
          </a:xfrm>
          <a:prstGeom prst="rect">
            <a:avLst/>
          </a:prstGeom>
          <a:noFill/>
          <a:ln>
            <a:noFill/>
          </a:ln>
        </p:spPr>
        <p:txBody>
          <a:bodyPr anchorCtr="0" anchor="t" bIns="45700" lIns="91425" spcFirstLastPara="1" rIns="91425" wrap="square" tIns="45700">
            <a:spAutoFit/>
          </a:bodyPr>
          <a:lstStyle/>
          <a:p>
            <a:pPr indent="457200" lvl="0" marL="0" marR="0" rtl="0" algn="ctr">
              <a:lnSpc>
                <a:spcPct val="150000"/>
              </a:lnSpc>
              <a:spcBef>
                <a:spcPts val="0"/>
              </a:spcBef>
              <a:spcAft>
                <a:spcPts val="0"/>
              </a:spcAft>
              <a:buNone/>
            </a:pPr>
            <a:r>
              <a:rPr b="1" i="1" lang="en-US" sz="3200" u="none" cap="none" strike="noStrike">
                <a:solidFill>
                  <a:srgbClr val="FF0000"/>
                </a:solidFill>
                <a:latin typeface="Times New Roman"/>
                <a:ea typeface="Times New Roman"/>
                <a:cs typeface="Times New Roman"/>
                <a:sym typeface="Times New Roman"/>
              </a:rPr>
              <a:t>Chương 3</a:t>
            </a:r>
            <a:endParaRPr b="0" i="0" sz="2400" u="none" cap="none" strike="noStrike">
              <a:solidFill>
                <a:srgbClr val="FF0000"/>
              </a:solidFill>
              <a:latin typeface="Calibri"/>
              <a:ea typeface="Calibri"/>
              <a:cs typeface="Calibri"/>
              <a:sym typeface="Calibri"/>
            </a:endParaRPr>
          </a:p>
          <a:p>
            <a:pPr indent="457200" lvl="0" marL="0" marR="0" rtl="0" algn="ctr">
              <a:lnSpc>
                <a:spcPct val="150000"/>
              </a:lnSpc>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ĐẢNG LÃNH ĐẠO CẢ NƯỚC QUÁ ĐỘ LÊN CHỦ NGHĨA XÃ HỘI</a:t>
            </a:r>
            <a:r>
              <a:rPr b="0" i="0" lang="en-US" sz="2000" u="none" cap="none" strike="noStrike">
                <a:solidFill>
                  <a:schemeClr val="dk1"/>
                </a:solidFill>
                <a:latin typeface="Calibri"/>
                <a:ea typeface="Calibri"/>
                <a:cs typeface="Calibri"/>
                <a:sym typeface="Calibri"/>
              </a:rPr>
              <a:t> </a:t>
            </a:r>
            <a:r>
              <a:rPr b="1" i="0" lang="en-US" sz="2800" u="none" cap="none" strike="noStrike">
                <a:solidFill>
                  <a:schemeClr val="dk1"/>
                </a:solidFill>
                <a:latin typeface="Times New Roman"/>
                <a:ea typeface="Times New Roman"/>
                <a:cs typeface="Times New Roman"/>
                <a:sym typeface="Times New Roman"/>
              </a:rPr>
              <a:t>VÀ TIẾN HÀNH CÔNG CUỘC ĐỔI MỚI (1975 - 2018)</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nvSpPr>
        <p:spPr>
          <a:xfrm>
            <a:off x="5947572" y="1607273"/>
            <a:ext cx="5923719" cy="5033879"/>
          </a:xfrm>
          <a:prstGeom prst="rect">
            <a:avLst/>
          </a:prstGeom>
          <a:noFill/>
          <a:ln>
            <a:noFill/>
          </a:ln>
        </p:spPr>
        <p:txBody>
          <a:bodyPr anchorCtr="0" anchor="t" bIns="45700" lIns="91425" spcFirstLastPara="1" rIns="91425" wrap="square" tIns="45700">
            <a:spAutoFit/>
          </a:bodyPr>
          <a:lstStyle/>
          <a:p>
            <a:pPr indent="457200" lvl="0" marL="0" marR="0" rtl="0" algn="just">
              <a:lnSpc>
                <a:spcPct val="15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 Từ ngày 15 đến ngày 21/11/1975, Hội nghị hiệp thương chính trị của hai đoàn đại biểu Bắc, Nam (</a:t>
            </a:r>
            <a:r>
              <a:rPr b="0" i="1" lang="en-US" sz="1800" u="none" cap="none" strike="noStrike">
                <a:solidFill>
                  <a:schemeClr val="dk1"/>
                </a:solidFill>
                <a:latin typeface="Times New Roman"/>
                <a:ea typeface="Times New Roman"/>
                <a:cs typeface="Times New Roman"/>
                <a:sym typeface="Times New Roman"/>
              </a:rPr>
              <a:t>Việt Nam Dân chủ Cộng hòa </a:t>
            </a:r>
            <a:r>
              <a:rPr b="0" i="0" lang="en-US" sz="1800" u="none" cap="none" strike="noStrike">
                <a:solidFill>
                  <a:schemeClr val="dk1"/>
                </a:solidFill>
                <a:latin typeface="Times New Roman"/>
                <a:ea typeface="Times New Roman"/>
                <a:cs typeface="Times New Roman"/>
                <a:sym typeface="Times New Roman"/>
              </a:rPr>
              <a:t>và </a:t>
            </a:r>
            <a:r>
              <a:rPr b="0" i="1" lang="en-US" sz="1800" u="none" cap="none" strike="noStrike">
                <a:solidFill>
                  <a:schemeClr val="dk1"/>
                </a:solidFill>
                <a:latin typeface="Times New Roman"/>
                <a:ea typeface="Times New Roman"/>
                <a:cs typeface="Times New Roman"/>
                <a:sym typeface="Times New Roman"/>
              </a:rPr>
              <a:t>Cộng hòa miền Nam Việt Nam) </a:t>
            </a:r>
            <a:r>
              <a:rPr b="0" i="0" lang="en-US" sz="1800" u="none" cap="none" strike="noStrike">
                <a:solidFill>
                  <a:schemeClr val="dk1"/>
                </a:solidFill>
                <a:latin typeface="Times New Roman"/>
                <a:ea typeface="Times New Roman"/>
                <a:cs typeface="Times New Roman"/>
                <a:sym typeface="Times New Roman"/>
              </a:rPr>
              <a:t>họp tại Sài Gòn. </a:t>
            </a:r>
            <a:endParaRPr/>
          </a:p>
          <a:p>
            <a:pPr indent="-285750" lvl="0" marL="285750" marR="0" rtl="0" algn="just">
              <a:lnSpc>
                <a:spcPct val="15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Ngày 25/4/1976, cuộc Tổng tuyển cử bầu Quốc hội chung của nước Việt Nam thống nhất được tiến hành. </a:t>
            </a:r>
            <a:endParaRPr/>
          </a:p>
          <a:p>
            <a:pPr indent="-285750" lvl="0" marL="285750" marR="0" rtl="0" algn="just">
              <a:lnSpc>
                <a:spcPct val="150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Kỳ họp thứ nhất Quốc hội Việt Nam thống nhất từ ngày 24/6 đến ngày 3/7/1976 đã quyết định đặt tên nước là Cộng hoà xã hội chủ nghĩa Việt Nam, Quốc kỳ nền đỏ sao vàng 5 cánh, Quốc ca là bài Tiến quân ca, Quốc huy mang dòng chữ Cộng hoà xã hội chủ nghĩa Việt Nam, Thủ đô là Hà Nội, Thành phố Sài Gòn đổi tên là Thành phố Hồ Chí Minh. </a:t>
            </a:r>
            <a:endParaRPr b="0" i="0" sz="1400" u="none" cap="none" strike="noStrike">
              <a:solidFill>
                <a:schemeClr val="dk1"/>
              </a:solidFill>
              <a:latin typeface="Calibri"/>
              <a:ea typeface="Calibri"/>
              <a:cs typeface="Calibri"/>
              <a:sym typeface="Calibri"/>
            </a:endParaRPr>
          </a:p>
        </p:txBody>
      </p:sp>
      <p:pic>
        <p:nvPicPr>
          <p:cNvPr id="95" name="Google Shape;95;p2"/>
          <p:cNvPicPr preferRelativeResize="0"/>
          <p:nvPr/>
        </p:nvPicPr>
        <p:blipFill rotWithShape="1">
          <a:blip r:embed="rId3">
            <a:alphaModFix/>
          </a:blip>
          <a:srcRect b="0" l="0" r="0" t="0"/>
          <a:stretch/>
        </p:blipFill>
        <p:spPr>
          <a:xfrm>
            <a:off x="1924051" y="1995778"/>
            <a:ext cx="2857500" cy="2266122"/>
          </a:xfrm>
          <a:prstGeom prst="rect">
            <a:avLst/>
          </a:prstGeom>
          <a:noFill/>
          <a:ln>
            <a:noFill/>
          </a:ln>
        </p:spPr>
      </p:pic>
      <p:pic>
        <p:nvPicPr>
          <p:cNvPr id="96" name="Google Shape;96;p2"/>
          <p:cNvPicPr preferRelativeResize="0"/>
          <p:nvPr/>
        </p:nvPicPr>
        <p:blipFill rotWithShape="1">
          <a:blip r:embed="rId4">
            <a:alphaModFix/>
          </a:blip>
          <a:srcRect b="0" l="0" r="0" t="0"/>
          <a:stretch/>
        </p:blipFill>
        <p:spPr>
          <a:xfrm>
            <a:off x="161926" y="1498381"/>
            <a:ext cx="1762125" cy="1863655"/>
          </a:xfrm>
          <a:prstGeom prst="rect">
            <a:avLst/>
          </a:prstGeom>
          <a:noFill/>
          <a:ln>
            <a:noFill/>
          </a:ln>
        </p:spPr>
      </p:pic>
      <p:pic>
        <p:nvPicPr>
          <p:cNvPr id="97" name="Google Shape;97;p2"/>
          <p:cNvPicPr preferRelativeResize="0"/>
          <p:nvPr/>
        </p:nvPicPr>
        <p:blipFill rotWithShape="1">
          <a:blip r:embed="rId5">
            <a:alphaModFix/>
          </a:blip>
          <a:srcRect b="0" l="0" r="0" t="0"/>
          <a:stretch/>
        </p:blipFill>
        <p:spPr>
          <a:xfrm>
            <a:off x="3348161" y="4028951"/>
            <a:ext cx="2448339" cy="2829049"/>
          </a:xfrm>
          <a:prstGeom prst="rect">
            <a:avLst/>
          </a:prstGeom>
          <a:noFill/>
          <a:ln>
            <a:noFill/>
          </a:ln>
        </p:spPr>
      </p:pic>
      <p:pic>
        <p:nvPicPr>
          <p:cNvPr id="98" name="Google Shape;98;p2"/>
          <p:cNvPicPr preferRelativeResize="0"/>
          <p:nvPr/>
        </p:nvPicPr>
        <p:blipFill rotWithShape="1">
          <a:blip r:embed="rId6">
            <a:alphaModFix/>
          </a:blip>
          <a:srcRect b="0" l="0" r="0" t="0"/>
          <a:stretch/>
        </p:blipFill>
        <p:spPr>
          <a:xfrm>
            <a:off x="110945" y="5114925"/>
            <a:ext cx="2619375" cy="1743075"/>
          </a:xfrm>
          <a:prstGeom prst="rect">
            <a:avLst/>
          </a:prstGeom>
          <a:noFill/>
          <a:ln>
            <a:noFill/>
          </a:ln>
        </p:spPr>
      </p:pic>
      <p:sp>
        <p:nvSpPr>
          <p:cNvPr id="99" name="Google Shape;99;p2"/>
          <p:cNvSpPr txBox="1"/>
          <p:nvPr/>
        </p:nvSpPr>
        <p:spPr>
          <a:xfrm>
            <a:off x="1741336" y="312880"/>
            <a:ext cx="10193572" cy="1294393"/>
          </a:xfrm>
          <a:prstGeom prst="rect">
            <a:avLst/>
          </a:prstGeom>
          <a:noFill/>
          <a:ln>
            <a:noFill/>
          </a:ln>
        </p:spPr>
        <p:txBody>
          <a:bodyPr anchorCtr="0" anchor="t" bIns="45700" lIns="91425" spcFirstLastPara="1" rIns="91425" wrap="square" tIns="45700">
            <a:spAutoFit/>
          </a:bodyPr>
          <a:lstStyle/>
          <a:p>
            <a:pPr indent="457200" lvl="0" marL="0" marR="0" rtl="0" algn="just">
              <a:lnSpc>
                <a:spcPct val="15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3.1. LÃNH ĐẠO XÂY DỰNG CHỦ NGHĨA XÃ HỘI VÀ BẢO VỆ TỔ QUỐC (1975-1986)</a:t>
            </a:r>
            <a:endParaRPr b="0" i="0" sz="1400" u="none" cap="none" strike="noStrike">
              <a:solidFill>
                <a:schemeClr val="dk1"/>
              </a:solidFill>
              <a:latin typeface="Calibri"/>
              <a:ea typeface="Calibri"/>
              <a:cs typeface="Calibri"/>
              <a:sym typeface="Calibri"/>
            </a:endParaRPr>
          </a:p>
          <a:p>
            <a:pPr indent="457200" lvl="0" marL="0" marR="0" rtl="0" algn="just">
              <a:lnSpc>
                <a:spcPct val="15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3.1.1. Bước đầu xây dựng chủ nghĩa xã hội và bảo vệ Tổ quốc (1975-1981)</a:t>
            </a:r>
            <a:endParaRPr b="0" i="0" sz="1400" u="none" cap="none" strike="noStrike">
              <a:solidFill>
                <a:schemeClr val="dk1"/>
              </a:solidFill>
              <a:latin typeface="Calibri"/>
              <a:ea typeface="Calibri"/>
              <a:cs typeface="Calibri"/>
              <a:sym typeface="Calibri"/>
            </a:endParaRPr>
          </a:p>
          <a:p>
            <a:pPr indent="457200" lvl="0" marL="457200" marR="0" rtl="0" algn="just">
              <a:lnSpc>
                <a:spcPct val="150000"/>
              </a:lnSpc>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3.1.1.1. Hoàn thành thống nhất đất nước về mặt nhà nước</a:t>
            </a:r>
            <a:endParaRPr b="0" i="0" sz="1400" u="none" cap="none" strike="noStrike">
              <a:solidFill>
                <a:schemeClr val="dk1"/>
              </a:solidFill>
              <a:latin typeface="Calibri"/>
              <a:ea typeface="Calibri"/>
              <a:cs typeface="Calibri"/>
              <a:sym typeface="Calibri"/>
            </a:endParaRPr>
          </a:p>
        </p:txBody>
      </p:sp>
      <p:pic>
        <p:nvPicPr>
          <p:cNvPr descr="C:\Users\ADMIN\Desktop\download.png" id="100" name="Google Shape;100;p2"/>
          <p:cNvPicPr preferRelativeResize="0"/>
          <p:nvPr/>
        </p:nvPicPr>
        <p:blipFill rotWithShape="1">
          <a:blip r:embed="rId7">
            <a:alphaModFix/>
          </a:blip>
          <a:srcRect b="0" l="0" r="0" t="0"/>
          <a:stretch/>
        </p:blipFill>
        <p:spPr>
          <a:xfrm>
            <a:off x="110945" y="3442545"/>
            <a:ext cx="2179673" cy="16723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p:nvPr/>
        </p:nvSpPr>
        <p:spPr>
          <a:xfrm>
            <a:off x="304800" y="2233282"/>
            <a:ext cx="11379200" cy="1335750"/>
          </a:xfrm>
          <a:prstGeom prst="rect">
            <a:avLst/>
          </a:prstGeom>
          <a:noFill/>
          <a:ln>
            <a:noFill/>
          </a:ln>
        </p:spPr>
        <p:txBody>
          <a:bodyPr anchorCtr="0" anchor="ctr" bIns="45700" lIns="91425" spcFirstLastPara="1" rIns="91425" wrap="square" tIns="45700">
            <a:spAutoFit/>
          </a:bodyPr>
          <a:lstStyle/>
          <a:p>
            <a:pPr indent="457200" lvl="0" marL="0" marR="0" rtl="0" algn="just">
              <a:spcBef>
                <a:spcPts val="0"/>
              </a:spcBef>
              <a:spcAft>
                <a:spcPts val="0"/>
              </a:spcAft>
              <a:buNone/>
            </a:pPr>
            <a:r>
              <a:rPr b="0" i="0" lang="en-US" sz="2800" u="none" cap="none" strike="noStrike">
                <a:solidFill>
                  <a:schemeClr val="dk1"/>
                </a:solidFill>
                <a:latin typeface="Calibri"/>
                <a:ea typeface="Calibri"/>
                <a:cs typeface="Calibri"/>
                <a:sym typeface="Calibri"/>
              </a:rPr>
              <a:t>Đại hội lần thứ III (9/1960) xác định:</a:t>
            </a:r>
            <a:endParaRPr b="0" i="0" sz="500" u="none" cap="none" strike="noStrike">
              <a:solidFill>
                <a:schemeClr val="dk1"/>
              </a:solidFill>
              <a:latin typeface="Calibri"/>
              <a:ea typeface="Calibri"/>
              <a:cs typeface="Calibri"/>
              <a:sym typeface="Calibri"/>
            </a:endParaRPr>
          </a:p>
          <a:p>
            <a:pPr indent="457200" lvl="0" marL="0" marR="0" rtl="0" algn="just">
              <a:lnSpc>
                <a:spcPct val="120000"/>
              </a:lnSpc>
              <a:spcBef>
                <a:spcPts val="0"/>
              </a:spcBef>
              <a:spcAft>
                <a:spcPts val="0"/>
              </a:spcAft>
              <a:buNone/>
            </a:pPr>
            <a:r>
              <a:rPr b="1" i="0" lang="en-US" sz="2400" u="none" cap="none" strike="noStrike">
                <a:solidFill>
                  <a:srgbClr val="FF0000"/>
                </a:solidFill>
                <a:latin typeface="Calibri"/>
                <a:ea typeface="Calibri"/>
                <a:cs typeface="Calibri"/>
                <a:sym typeface="Calibri"/>
              </a:rPr>
              <a:t>	- Mục tiêu cơ bản của công nghiệp hoá:</a:t>
            </a:r>
            <a:r>
              <a:rPr b="0" i="0" lang="en-US" sz="2000" u="none" cap="none" strike="noStrike">
                <a:solidFill>
                  <a:schemeClr val="folHlink"/>
                </a:solidFill>
                <a:latin typeface="Calibri"/>
                <a:ea typeface="Calibri"/>
                <a:cs typeface="Calibri"/>
                <a:sym typeface="Calibri"/>
              </a:rPr>
              <a:t> </a:t>
            </a:r>
            <a:r>
              <a:rPr b="0" i="0" lang="en-US" sz="2000" u="none" cap="none" strike="noStrike">
                <a:solidFill>
                  <a:srgbClr val="000066"/>
                </a:solidFill>
                <a:latin typeface="Calibri"/>
                <a:ea typeface="Calibri"/>
                <a:cs typeface="Calibri"/>
                <a:sym typeface="Calibri"/>
              </a:rPr>
              <a:t>Xây dựng một nền kinh tế xã hội chủ nghĩa cân đối và hiện đại; bước đầu xây dựng cơ sở vật chất kỹ thuật của chủ nghĩa xã hội.</a:t>
            </a:r>
            <a:endParaRPr/>
          </a:p>
        </p:txBody>
      </p:sp>
      <p:pic>
        <p:nvPicPr>
          <p:cNvPr descr="Cau_treo[1]" id="106" name="Google Shape;106;p3"/>
          <p:cNvPicPr preferRelativeResize="0"/>
          <p:nvPr/>
        </p:nvPicPr>
        <p:blipFill rotWithShape="1">
          <a:blip r:embed="rId3">
            <a:alphaModFix/>
          </a:blip>
          <a:srcRect b="0" l="0" r="0" t="0"/>
          <a:stretch/>
        </p:blipFill>
        <p:spPr>
          <a:xfrm>
            <a:off x="7112000" y="4114800"/>
            <a:ext cx="5080000" cy="2743200"/>
          </a:xfrm>
          <a:prstGeom prst="rect">
            <a:avLst/>
          </a:prstGeom>
          <a:noFill/>
          <a:ln cap="flat" cmpd="sng" w="38100">
            <a:solidFill>
              <a:srgbClr val="000000"/>
            </a:solidFill>
            <a:prstDash val="solid"/>
            <a:miter lim="800000"/>
            <a:headEnd len="sm" w="sm" type="none"/>
            <a:tailEnd len="sm" w="sm" type="none"/>
          </a:ln>
        </p:spPr>
      </p:pic>
      <p:pic>
        <p:nvPicPr>
          <p:cNvPr descr="22-tang-quan-3_A2[1]" id="107" name="Google Shape;107;p3"/>
          <p:cNvPicPr preferRelativeResize="0"/>
          <p:nvPr/>
        </p:nvPicPr>
        <p:blipFill rotWithShape="1">
          <a:blip r:embed="rId4">
            <a:alphaModFix/>
          </a:blip>
          <a:srcRect b="0" l="0" r="0" t="0"/>
          <a:stretch/>
        </p:blipFill>
        <p:spPr>
          <a:xfrm>
            <a:off x="1320800" y="4343400"/>
            <a:ext cx="5080000" cy="2286000"/>
          </a:xfrm>
          <a:prstGeom prst="rect">
            <a:avLst/>
          </a:prstGeom>
          <a:noFill/>
          <a:ln cap="flat" cmpd="sng" w="19050">
            <a:solidFill>
              <a:srgbClr val="000000"/>
            </a:solidFill>
            <a:prstDash val="solid"/>
            <a:miter lim="800000"/>
            <a:headEnd len="sm" w="sm" type="none"/>
            <a:tailEnd len="sm" w="sm" type="none"/>
          </a:ln>
        </p:spPr>
      </p:pic>
      <p:sp>
        <p:nvSpPr>
          <p:cNvPr id="108" name="Google Shape;108;p3"/>
          <p:cNvSpPr/>
          <p:nvPr/>
        </p:nvSpPr>
        <p:spPr>
          <a:xfrm>
            <a:off x="2225964" y="640813"/>
            <a:ext cx="6640946" cy="523220"/>
          </a:xfrm>
          <a:prstGeom prst="rect">
            <a:avLst/>
          </a:prstGeom>
          <a:noFill/>
          <a:ln>
            <a:noFill/>
          </a:ln>
        </p:spPr>
        <p:txBody>
          <a:bodyPr anchorCtr="0" anchor="ctr" bIns="45700" lIns="91425" spcFirstLastPara="1" rIns="91425" wrap="square" tIns="45700">
            <a:spAutoFit/>
          </a:bodyPr>
          <a:lstStyle/>
          <a:p>
            <a:pPr indent="0" lvl="0" marL="0" marR="0" rtl="0" algn="just">
              <a:spcBef>
                <a:spcPts val="0"/>
              </a:spcBef>
              <a:spcAft>
                <a:spcPts val="0"/>
              </a:spcAft>
              <a:buNone/>
            </a:pPr>
            <a:r>
              <a:rPr b="1" i="0" lang="en-US" sz="2800" u="none" cap="none" strike="noStrike">
                <a:solidFill>
                  <a:srgbClr val="0000CC"/>
                </a:solidFill>
                <a:latin typeface="Calibri"/>
                <a:ea typeface="Calibri"/>
                <a:cs typeface="Calibri"/>
                <a:sym typeface="Calibri"/>
              </a:rPr>
              <a:t>Chủ trương của Đảng về công nghiệp hoá</a:t>
            </a:r>
            <a:endParaRPr b="0" i="0" sz="2800" u="none" cap="none" strike="noStrike">
              <a:solidFill>
                <a:srgbClr val="0000CC"/>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
                                        <p:tgtEl>
                                          <p:spTgt spid="106"/>
                                        </p:tgtEl>
                                      </p:cBhvr>
                                    </p:animEffect>
                                  </p:childTnLst>
                                </p:cTn>
                              </p:par>
                              <p:par>
                                <p:cTn fill="hold" nodeType="with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5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500"/>
                                        <p:tgtEl>
                                          <p:spTgt spid="105">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434109" y="1674128"/>
            <a:ext cx="11480800" cy="3400931"/>
          </a:xfrm>
          <a:prstGeom prst="rect">
            <a:avLst/>
          </a:prstGeom>
          <a:noFill/>
          <a:ln>
            <a:noFill/>
          </a:ln>
        </p:spPr>
        <p:txBody>
          <a:bodyPr anchorCtr="0" anchor="ctr" bIns="45700" lIns="91425" spcFirstLastPara="1" rIns="91425" wrap="square" tIns="45700">
            <a:spAutoFit/>
          </a:bodyPr>
          <a:lstStyle/>
          <a:p>
            <a:pPr indent="0" lvl="0" marL="0" marR="0" rtl="0" algn="just">
              <a:lnSpc>
                <a:spcPct val="125000"/>
              </a:lnSpc>
              <a:spcBef>
                <a:spcPts val="0"/>
              </a:spcBef>
              <a:spcAft>
                <a:spcPts val="0"/>
              </a:spcAft>
              <a:buNone/>
            </a:pPr>
            <a:r>
              <a:rPr b="1" i="0" lang="en-US" sz="2800" u="none" cap="none" strike="noStrike">
                <a:solidFill>
                  <a:srgbClr val="000066"/>
                </a:solidFill>
                <a:latin typeface="Calibri"/>
                <a:ea typeface="Calibri"/>
                <a:cs typeface="Calibri"/>
                <a:sym typeface="Calibri"/>
              </a:rPr>
              <a:t>- Phương hướng của công nghiệp hoá:</a:t>
            </a:r>
            <a:endParaRPr b="1" i="0" sz="2800" u="none" cap="none" strike="noStrike">
              <a:solidFill>
                <a:srgbClr val="000066"/>
              </a:solidFill>
              <a:latin typeface="Calibri"/>
              <a:ea typeface="Calibri"/>
              <a:cs typeface="Calibri"/>
              <a:sym typeface="Calibri"/>
            </a:endParaRPr>
          </a:p>
          <a:p>
            <a:pPr indent="0" lvl="0" marL="0" marR="0" rtl="0" algn="just">
              <a:lnSpc>
                <a:spcPct val="125000"/>
              </a:lnSpc>
              <a:spcBef>
                <a:spcPts val="0"/>
              </a:spcBef>
              <a:spcAft>
                <a:spcPts val="0"/>
              </a:spcAft>
              <a:buNone/>
            </a:pPr>
            <a:r>
              <a:rPr b="0" i="0" lang="en-US" sz="2400" u="none" cap="none" strike="noStrike">
                <a:solidFill>
                  <a:srgbClr val="000066"/>
                </a:solidFill>
                <a:latin typeface="Calibri"/>
                <a:ea typeface="Calibri"/>
                <a:cs typeface="Calibri"/>
                <a:sym typeface="Calibri"/>
              </a:rPr>
              <a:t>	+ Ưu tiên phát triển công nghiệp nặng một cách hợp lý.</a:t>
            </a:r>
            <a:endParaRPr b="0" i="0" sz="2400" u="none" cap="none" strike="noStrike">
              <a:solidFill>
                <a:srgbClr val="000066"/>
              </a:solidFill>
              <a:latin typeface="Calibri"/>
              <a:ea typeface="Calibri"/>
              <a:cs typeface="Calibri"/>
              <a:sym typeface="Calibri"/>
            </a:endParaRPr>
          </a:p>
          <a:p>
            <a:pPr indent="0" lvl="0" marL="0" marR="0" rtl="0" algn="just">
              <a:lnSpc>
                <a:spcPct val="125000"/>
              </a:lnSpc>
              <a:spcBef>
                <a:spcPts val="0"/>
              </a:spcBef>
              <a:spcAft>
                <a:spcPts val="0"/>
              </a:spcAft>
              <a:buNone/>
            </a:pPr>
            <a:r>
              <a:rPr b="0" i="0" lang="en-US" sz="2400" u="none" cap="none" strike="noStrike">
                <a:solidFill>
                  <a:srgbClr val="000066"/>
                </a:solidFill>
                <a:latin typeface="Calibri"/>
                <a:ea typeface="Calibri"/>
                <a:cs typeface="Calibri"/>
                <a:sym typeface="Calibri"/>
              </a:rPr>
              <a:t>	+ Kết hợp chặt chẽ phát triển công nghiệp với phát triển nông nghiệp.</a:t>
            </a:r>
            <a:endParaRPr b="0" i="0" sz="2400" u="none" cap="none" strike="noStrike">
              <a:solidFill>
                <a:srgbClr val="000066"/>
              </a:solidFill>
              <a:latin typeface="Calibri"/>
              <a:ea typeface="Calibri"/>
              <a:cs typeface="Calibri"/>
              <a:sym typeface="Calibri"/>
            </a:endParaRPr>
          </a:p>
          <a:p>
            <a:pPr indent="0" lvl="0" marL="0" marR="0" rtl="0" algn="just">
              <a:lnSpc>
                <a:spcPct val="125000"/>
              </a:lnSpc>
              <a:spcBef>
                <a:spcPts val="0"/>
              </a:spcBef>
              <a:spcAft>
                <a:spcPts val="0"/>
              </a:spcAft>
              <a:buNone/>
            </a:pPr>
            <a:r>
              <a:rPr b="0" i="0" lang="en-US" sz="2400" u="none" cap="none" strike="noStrike">
                <a:solidFill>
                  <a:srgbClr val="000066"/>
                </a:solidFill>
                <a:latin typeface="Calibri"/>
                <a:ea typeface="Calibri"/>
                <a:cs typeface="Calibri"/>
                <a:sym typeface="Calibri"/>
              </a:rPr>
              <a:t>	+ Ra sức phát triển công nghiệp nhẹ song song với việc ưu tiên phát triển công nghiệp nặng.</a:t>
            </a:r>
            <a:endParaRPr b="0" i="0" sz="2400" u="none" cap="none" strike="noStrike">
              <a:solidFill>
                <a:srgbClr val="000066"/>
              </a:solidFill>
              <a:latin typeface="Calibri"/>
              <a:ea typeface="Calibri"/>
              <a:cs typeface="Calibri"/>
              <a:sym typeface="Calibri"/>
            </a:endParaRPr>
          </a:p>
          <a:p>
            <a:pPr indent="0" lvl="0" marL="0" marR="0" rtl="0" algn="just">
              <a:lnSpc>
                <a:spcPct val="125000"/>
              </a:lnSpc>
              <a:spcBef>
                <a:spcPts val="0"/>
              </a:spcBef>
              <a:spcAft>
                <a:spcPts val="0"/>
              </a:spcAft>
              <a:buNone/>
            </a:pPr>
            <a:r>
              <a:rPr b="0" i="0" lang="en-US" sz="2400" u="none" cap="none" strike="noStrike">
                <a:solidFill>
                  <a:srgbClr val="000066"/>
                </a:solidFill>
                <a:latin typeface="Calibri"/>
                <a:ea typeface="Calibri"/>
                <a:cs typeface="Calibri"/>
                <a:sym typeface="Calibri"/>
              </a:rPr>
              <a:t>	+ Ra sức phát triển công nghiệp trung ương,đồng thời đẩy mạnh phát triển công nghiệp địa phương.</a:t>
            </a:r>
            <a:endParaRPr/>
          </a:p>
        </p:txBody>
      </p:sp>
      <p:sp>
        <p:nvSpPr>
          <p:cNvPr id="114" name="Google Shape;114;p4"/>
          <p:cNvSpPr/>
          <p:nvPr/>
        </p:nvSpPr>
        <p:spPr>
          <a:xfrm>
            <a:off x="2068945" y="427427"/>
            <a:ext cx="7213600" cy="892552"/>
          </a:xfrm>
          <a:prstGeom prst="rect">
            <a:avLst/>
          </a:prstGeom>
          <a:noFill/>
          <a:ln>
            <a:noFill/>
          </a:ln>
        </p:spPr>
        <p:txBody>
          <a:bodyPr anchorCtr="0" anchor="ctr" bIns="45700" lIns="91425" spcFirstLastPara="1" rIns="91425" wrap="square" tIns="45700">
            <a:spAutoFit/>
          </a:bodyPr>
          <a:lstStyle/>
          <a:p>
            <a:pPr indent="457200" lvl="0" marL="0" marR="0" rtl="0" algn="just">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Hội nghị TW 7 khóa III (6/1962) xác định:</a:t>
            </a:r>
            <a:r>
              <a:rPr b="1" i="0" lang="en-US" sz="2400" u="none" cap="none" strike="noStrike">
                <a:solidFill>
                  <a:srgbClr val="FF0000"/>
                </a:solidFill>
                <a:latin typeface="Times New Roman"/>
                <a:ea typeface="Times New Roman"/>
                <a:cs typeface="Times New Roman"/>
                <a:sym typeface="Times New Roman"/>
              </a:rPr>
              <a:t>	</a:t>
            </a:r>
            <a:endParaRPr b="1" i="0" sz="2000" u="none" cap="none" strike="noStrike">
              <a:solidFill>
                <a:srgbClr val="000066"/>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animEffect filter="fade" transition="in">
                                      <p:cBhvr>
                                        <p:cTn dur="500"/>
                                        <p:tgtEl>
                                          <p:spTgt spid="1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animEffect filter="fade" transition="in">
                                      <p:cBhvr>
                                        <p:cTn dur="500"/>
                                        <p:tgtEl>
                                          <p:spTgt spid="1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animEffect filter="fade" transition="in">
                                      <p:cBhvr>
                                        <p:cTn dur="500"/>
                                        <p:tgtEl>
                                          <p:spTgt spid="1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animEffect filter="fade" transition="in">
                                      <p:cBhvr>
                                        <p:cTn dur="500"/>
                                        <p:tgtEl>
                                          <p:spTgt spid="1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animEffect filter="fade" transition="in">
                                      <p:cBhvr>
                                        <p:cTn dur="500"/>
                                        <p:tgtEl>
                                          <p:spTgt spid="1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500"/>
                                        <p:tgtEl>
                                          <p:spTgt spid="11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p:nvPr/>
        </p:nvSpPr>
        <p:spPr>
          <a:xfrm>
            <a:off x="2625725" y="845128"/>
            <a:ext cx="8940800" cy="6715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800080"/>
                </a:solidFill>
                <a:latin typeface="Times New Roman"/>
                <a:ea typeface="Times New Roman"/>
                <a:cs typeface="Times New Roman"/>
                <a:sym typeface="Times New Roman"/>
              </a:rPr>
              <a:t>ĐƯỜNG LỐI CÔNG NGHIỆP HOÁ ĐẠI HỘI IV (12/1976)</a:t>
            </a:r>
            <a:endParaRPr/>
          </a:p>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(Đổi tên Đảng thành Đảng cộng sản Việt Nam)</a:t>
            </a:r>
            <a:endParaRPr/>
          </a:p>
        </p:txBody>
      </p:sp>
      <p:pic>
        <p:nvPicPr>
          <p:cNvPr descr="nha may xi mang Bim Son.jpg" id="120" name="Google Shape;120;p5"/>
          <p:cNvPicPr preferRelativeResize="0"/>
          <p:nvPr/>
        </p:nvPicPr>
        <p:blipFill rotWithShape="1">
          <a:blip r:embed="rId3">
            <a:alphaModFix/>
          </a:blip>
          <a:srcRect b="8836" l="2856" r="4286" t="5260"/>
          <a:stretch/>
        </p:blipFill>
        <p:spPr>
          <a:xfrm>
            <a:off x="3759200" y="2438400"/>
            <a:ext cx="4673600" cy="2641600"/>
          </a:xfrm>
          <a:prstGeom prst="rect">
            <a:avLst/>
          </a:prstGeom>
          <a:noFill/>
          <a:ln>
            <a:noFill/>
          </a:ln>
          <a:effectLst>
            <a:outerShdw rotWithShape="0" algn="tl" dir="2700000" dist="139700">
              <a:srgbClr val="333333">
                <a:alpha val="64705"/>
              </a:srgbClr>
            </a:outerShdw>
          </a:effectLst>
        </p:spPr>
      </p:pic>
      <p:pic>
        <p:nvPicPr>
          <p:cNvPr descr="caybua.JPG" id="121" name="Google Shape;121;p5"/>
          <p:cNvPicPr preferRelativeResize="0"/>
          <p:nvPr/>
        </p:nvPicPr>
        <p:blipFill rotWithShape="1">
          <a:blip r:embed="rId4">
            <a:alphaModFix/>
          </a:blip>
          <a:srcRect b="14947" l="3906" r="3786" t="1719"/>
          <a:stretch/>
        </p:blipFill>
        <p:spPr>
          <a:xfrm>
            <a:off x="1016000" y="3200400"/>
            <a:ext cx="3219451" cy="2514600"/>
          </a:xfrm>
          <a:prstGeom prst="rect">
            <a:avLst/>
          </a:prstGeom>
          <a:noFill/>
          <a:ln>
            <a:noFill/>
          </a:ln>
          <a:effectLst>
            <a:outerShdw blurRad="292100" rotWithShape="0" algn="tl" dir="2700000" dist="139700">
              <a:srgbClr val="333333">
                <a:alpha val="64705"/>
              </a:srgbClr>
            </a:outerShdw>
          </a:effectLst>
        </p:spPr>
      </p:pic>
      <p:pic>
        <p:nvPicPr>
          <p:cNvPr descr="CUA HANG DO NHUA.JPG" id="122" name="Google Shape;122;p5"/>
          <p:cNvPicPr preferRelativeResize="0"/>
          <p:nvPr/>
        </p:nvPicPr>
        <p:blipFill rotWithShape="1">
          <a:blip r:embed="rId5">
            <a:alphaModFix/>
          </a:blip>
          <a:srcRect b="0" l="21094" r="0" t="0"/>
          <a:stretch/>
        </p:blipFill>
        <p:spPr>
          <a:xfrm>
            <a:off x="7721600" y="3276600"/>
            <a:ext cx="3420533" cy="2438400"/>
          </a:xfrm>
          <a:prstGeom prst="rect">
            <a:avLst/>
          </a:prstGeom>
          <a:noFill/>
          <a:ln>
            <a:noFill/>
          </a:ln>
          <a:effectLst>
            <a:outerShdw blurRad="292100" rotWithShape="0" algn="tl" dir="2700000" dist="139700">
              <a:srgbClr val="333333">
                <a:alpha val="64705"/>
              </a:srgbClr>
            </a:outerShdw>
          </a:effectLst>
        </p:spPr>
      </p:pic>
      <p:grpSp>
        <p:nvGrpSpPr>
          <p:cNvPr id="123" name="Google Shape;123;p5"/>
          <p:cNvGrpSpPr/>
          <p:nvPr/>
        </p:nvGrpSpPr>
        <p:grpSpPr>
          <a:xfrm>
            <a:off x="1930401" y="2693988"/>
            <a:ext cx="8159751" cy="3097212"/>
            <a:chOff x="884" y="1207"/>
            <a:chExt cx="4083" cy="2087"/>
          </a:xfrm>
        </p:grpSpPr>
        <p:sp>
          <p:nvSpPr>
            <p:cNvPr id="124" name="Google Shape;124;p5"/>
            <p:cNvSpPr/>
            <p:nvPr/>
          </p:nvSpPr>
          <p:spPr>
            <a:xfrm>
              <a:off x="2166" y="1207"/>
              <a:ext cx="1503" cy="1407"/>
            </a:xfrm>
            <a:prstGeom prst="ellipse">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ƯU TIÊN </a:t>
              </a:r>
              <a:endParaRPr/>
            </a:p>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PHÁT TRIỂN</a:t>
              </a:r>
              <a:endParaRPr/>
            </a:p>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 CN NẶNG </a:t>
              </a:r>
              <a:endParaRPr/>
            </a:p>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TRÊN CƠ SỞ</a:t>
              </a:r>
              <a:endParaRPr/>
            </a:p>
          </p:txBody>
        </p:sp>
        <p:sp>
          <p:nvSpPr>
            <p:cNvPr id="125" name="Google Shape;125;p5"/>
            <p:cNvSpPr/>
            <p:nvPr/>
          </p:nvSpPr>
          <p:spPr>
            <a:xfrm>
              <a:off x="884" y="2296"/>
              <a:ext cx="2314" cy="998"/>
            </a:xfrm>
            <a:prstGeom prst="flowChartDecision">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PHÁT TRIỂN </a:t>
              </a:r>
              <a:endParaRPr/>
            </a:p>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NÔNG NGHIỆP</a:t>
              </a:r>
              <a:endParaRPr/>
            </a:p>
          </p:txBody>
        </p:sp>
        <p:sp>
          <p:nvSpPr>
            <p:cNvPr id="126" name="Google Shape;126;p5"/>
            <p:cNvSpPr/>
            <p:nvPr/>
          </p:nvSpPr>
          <p:spPr>
            <a:xfrm>
              <a:off x="2653" y="2296"/>
              <a:ext cx="2314" cy="998"/>
            </a:xfrm>
            <a:prstGeom prst="flowChartDecision">
              <a:avLst/>
            </a:prstGeom>
            <a:solidFill>
              <a:schemeClr val="accen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PHÁT TRIỂN </a:t>
              </a:r>
              <a:endParaRPr/>
            </a:p>
            <a:p>
              <a:pPr indent="0" lvl="0" marL="0" marR="0" rtl="0" algn="ctr">
                <a:spcBef>
                  <a:spcPts val="0"/>
                </a:spcBef>
                <a:spcAft>
                  <a:spcPts val="0"/>
                </a:spcAft>
                <a:buNone/>
              </a:pPr>
              <a:r>
                <a:rPr b="1" i="0" lang="en-US" sz="1800" u="none" cap="none" strike="noStrike">
                  <a:solidFill>
                    <a:schemeClr val="lt1"/>
                  </a:solidFill>
                  <a:latin typeface="Times New Roman"/>
                  <a:ea typeface="Times New Roman"/>
                  <a:cs typeface="Times New Roman"/>
                  <a:sym typeface="Times New Roman"/>
                </a:rPr>
                <a:t>CN NHẸ</a:t>
              </a:r>
              <a:endParaRPr/>
            </a:p>
          </p:txBody>
        </p:sp>
      </p:grpSp>
    </p:spTree>
  </p:cSld>
  <p:clrMapOvr>
    <a:masterClrMapping/>
  </p:clrMapOvr>
  <p:transition>
    <p:spli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500"/>
                                        <p:tgtEl>
                                          <p:spTgt spid="123"/>
                                        </p:tgtEl>
                                        <p:attrNameLst>
                                          <p:attrName>ppt_w</p:attrName>
                                        </p:attrNameLst>
                                      </p:cBhvr>
                                      <p:tavLst>
                                        <p:tav fmla="" tm="0">
                                          <p:val>
                                            <p:strVal val="0"/>
                                          </p:val>
                                        </p:tav>
                                        <p:tav fmla="" tm="100000">
                                          <p:val>
                                            <p:strVal val="#ppt_w"/>
                                          </p:val>
                                        </p:tav>
                                      </p:tavLst>
                                    </p:anim>
                                    <p:anim calcmode="lin" valueType="num">
                                      <p:cBhvr additive="base">
                                        <p:cTn dur="500"/>
                                        <p:tgtEl>
                                          <p:spTgt spid="12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p:nvPr/>
        </p:nvSpPr>
        <p:spPr>
          <a:xfrm>
            <a:off x="2641600" y="850036"/>
            <a:ext cx="8940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800080"/>
                </a:solidFill>
                <a:latin typeface="Times New Roman"/>
                <a:ea typeface="Times New Roman"/>
                <a:cs typeface="Times New Roman"/>
                <a:sym typeface="Times New Roman"/>
              </a:rPr>
              <a:t>ĐƯỜNG LỐI CÔNG NGHIỆP HOÁ ĐẠI HỘI V (3/1982)</a:t>
            </a:r>
            <a:endParaRPr/>
          </a:p>
        </p:txBody>
      </p:sp>
      <p:sp>
        <p:nvSpPr>
          <p:cNvPr id="132" name="Google Shape;132;p6"/>
          <p:cNvSpPr txBox="1"/>
          <p:nvPr/>
        </p:nvSpPr>
        <p:spPr>
          <a:xfrm>
            <a:off x="1016000" y="2209800"/>
            <a:ext cx="10566400" cy="1600438"/>
          </a:xfrm>
          <a:prstGeom prst="rect">
            <a:avLst/>
          </a:prstGeom>
          <a:noFill/>
          <a:ln>
            <a:noFill/>
          </a:ln>
        </p:spPr>
        <p:txBody>
          <a:bodyPr anchorCtr="0" anchor="t" bIns="45700" lIns="91425" spcFirstLastPara="1" rIns="91425" wrap="square" tIns="45700">
            <a:spAutoFit/>
          </a:bodyPr>
          <a:lstStyle/>
          <a:p>
            <a:pPr indent="-177800" lvl="0" marL="0" marR="0" rtl="0" algn="just">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Lấy nông nghiệp làm mặt trận hàng đầu</a:t>
            </a:r>
            <a:endParaRPr/>
          </a:p>
          <a:p>
            <a:pPr indent="-177800" lvl="0" marL="0" marR="0" rtl="0" algn="just">
              <a:spcBef>
                <a:spcPts val="140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Phát triển công nghiệp sản xuất hàng tiêu dùng, phát triển CN nặng có mức độ, vừa sức nhằm phục vụ cho nông nghiệp và CN nhẹ</a:t>
            </a:r>
            <a:endParaRPr/>
          </a:p>
        </p:txBody>
      </p:sp>
      <p:sp>
        <p:nvSpPr>
          <p:cNvPr id="133" name="Google Shape;133;p6"/>
          <p:cNvSpPr/>
          <p:nvPr/>
        </p:nvSpPr>
        <p:spPr>
          <a:xfrm>
            <a:off x="1625600" y="4572000"/>
            <a:ext cx="1320800" cy="533400"/>
          </a:xfrm>
          <a:prstGeom prst="rightArrow">
            <a:avLst>
              <a:gd fmla="val 50000" name="adj1"/>
              <a:gd fmla="val 46429" name="adj2"/>
            </a:avLst>
          </a:prstGeom>
          <a:solidFill>
            <a:srgbClr val="0000CC"/>
          </a:solidFill>
          <a:ln cap="flat" cmpd="sng" w="952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6"/>
          <p:cNvSpPr txBox="1"/>
          <p:nvPr/>
        </p:nvSpPr>
        <p:spPr>
          <a:xfrm>
            <a:off x="3352800" y="4572000"/>
            <a:ext cx="8026500" cy="646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lang="en-US" sz="1800" u="none">
                <a:solidFill>
                  <a:schemeClr val="dk1"/>
                </a:solidFill>
                <a:latin typeface="Arial"/>
                <a:ea typeface="Arial"/>
                <a:cs typeface="Arial"/>
                <a:sym typeface="Arial"/>
              </a:rPr>
              <a:t>Đây là sự điều chỉnh đúng đắn bước đi của CNH, phù hợp với thực tiễn Việt Nam =&gt; Trên thực tế đã không làm đúng như sự điều chỉnh này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p:nvPr/>
        </p:nvSpPr>
        <p:spPr>
          <a:xfrm>
            <a:off x="609600" y="1547191"/>
            <a:ext cx="11277600" cy="4081117"/>
          </a:xfrm>
          <a:prstGeom prst="rect">
            <a:avLst/>
          </a:prstGeom>
          <a:noFill/>
          <a:ln>
            <a:noFill/>
          </a:ln>
        </p:spPr>
        <p:txBody>
          <a:bodyPr anchorCtr="0" anchor="ctr" bIns="45700" lIns="91425" spcFirstLastPara="1" rIns="91425" wrap="square" tIns="45700">
            <a:spAutoFit/>
          </a:bodyPr>
          <a:lstStyle/>
          <a:p>
            <a:pPr indent="-457200" lvl="0" marL="457200" marR="0" rtl="0" algn="just">
              <a:lnSpc>
                <a:spcPct val="135000"/>
              </a:lnSpc>
              <a:spcBef>
                <a:spcPts val="0"/>
              </a:spcBef>
              <a:spcAft>
                <a:spcPts val="0"/>
              </a:spcAft>
              <a:buClr>
                <a:srgbClr val="000066"/>
              </a:buClr>
              <a:buSzPts val="2400"/>
              <a:buFont typeface="Calibri"/>
              <a:buChar char="-"/>
            </a:pPr>
            <a:r>
              <a:rPr lang="en-US" sz="2400">
                <a:solidFill>
                  <a:srgbClr val="000066"/>
                </a:solidFill>
                <a:latin typeface="Calibri"/>
                <a:ea typeface="Calibri"/>
                <a:cs typeface="Calibri"/>
                <a:sym typeface="Calibri"/>
              </a:rPr>
              <a:t>Công nghiệp hóa theo mô hình nền kinh tế </a:t>
            </a:r>
            <a:r>
              <a:rPr i="1" lang="en-US" sz="2400">
                <a:solidFill>
                  <a:srgbClr val="000066"/>
                </a:solidFill>
                <a:latin typeface="Calibri"/>
                <a:ea typeface="Calibri"/>
                <a:cs typeface="Calibri"/>
                <a:sym typeface="Calibri"/>
              </a:rPr>
              <a:t>khép kín</a:t>
            </a:r>
            <a:r>
              <a:rPr lang="en-US" sz="2400">
                <a:solidFill>
                  <a:srgbClr val="000066"/>
                </a:solidFill>
                <a:latin typeface="Calibri"/>
                <a:ea typeface="Calibri"/>
                <a:cs typeface="Calibri"/>
                <a:sym typeface="Calibri"/>
              </a:rPr>
              <a:t>, hướng nội và thiên về phát triển công nghiệp nặng</a:t>
            </a:r>
            <a:endParaRPr/>
          </a:p>
          <a:p>
            <a:pPr indent="-457200" lvl="0" marL="457200" marR="0" rtl="0" algn="just">
              <a:lnSpc>
                <a:spcPct val="135000"/>
              </a:lnSpc>
              <a:spcBef>
                <a:spcPts val="0"/>
              </a:spcBef>
              <a:spcAft>
                <a:spcPts val="0"/>
              </a:spcAft>
              <a:buClr>
                <a:srgbClr val="000066"/>
              </a:buClr>
              <a:buSzPts val="2400"/>
              <a:buFont typeface="Calibri"/>
              <a:buChar char="-"/>
            </a:pPr>
            <a:r>
              <a:rPr lang="en-US" sz="2400">
                <a:solidFill>
                  <a:srgbClr val="000066"/>
                </a:solidFill>
                <a:latin typeface="Calibri"/>
                <a:ea typeface="Calibri"/>
                <a:cs typeface="Calibri"/>
                <a:sym typeface="Calibri"/>
              </a:rPr>
              <a:t>Chủ yếu dựa vào lợi thế về lao động, tài nguyên đất đai và nguồn viện trợ của các nước xã hội chủ nghĩa...</a:t>
            </a:r>
            <a:endParaRPr/>
          </a:p>
          <a:p>
            <a:pPr indent="-457200" lvl="0" marL="457200" marR="0" rtl="0" algn="just">
              <a:lnSpc>
                <a:spcPct val="135000"/>
              </a:lnSpc>
              <a:spcBef>
                <a:spcPts val="0"/>
              </a:spcBef>
              <a:spcAft>
                <a:spcPts val="0"/>
              </a:spcAft>
              <a:buClr>
                <a:srgbClr val="000066"/>
              </a:buClr>
              <a:buSzPts val="2400"/>
              <a:buFont typeface="Calibri"/>
              <a:buChar char="-"/>
            </a:pPr>
            <a:r>
              <a:rPr lang="en-US" sz="2400">
                <a:solidFill>
                  <a:srgbClr val="000066"/>
                </a:solidFill>
                <a:latin typeface="Calibri"/>
                <a:ea typeface="Calibri"/>
                <a:cs typeface="Calibri"/>
                <a:sym typeface="Calibri"/>
              </a:rPr>
              <a:t> Gắn với cơ chế kinh tế khế hoạch hóa tập trung, quan liêu, bao cấp, không thừa nhận các quy luật thị trường.</a:t>
            </a:r>
            <a:endParaRPr/>
          </a:p>
          <a:p>
            <a:pPr indent="-457200" lvl="0" marL="457200" marR="0" rtl="0" algn="just">
              <a:lnSpc>
                <a:spcPct val="135000"/>
              </a:lnSpc>
              <a:spcBef>
                <a:spcPts val="0"/>
              </a:spcBef>
              <a:spcAft>
                <a:spcPts val="0"/>
              </a:spcAft>
              <a:buClr>
                <a:srgbClr val="000066"/>
              </a:buClr>
              <a:buSzPts val="2400"/>
              <a:buFont typeface="Calibri"/>
              <a:buChar char="-"/>
            </a:pPr>
            <a:r>
              <a:rPr lang="en-US" sz="2400">
                <a:solidFill>
                  <a:srgbClr val="000066"/>
                </a:solidFill>
                <a:latin typeface="Calibri"/>
                <a:ea typeface="Calibri"/>
                <a:cs typeface="Calibri"/>
                <a:sym typeface="Calibri"/>
              </a:rPr>
              <a:t> Chủ lực thực hiện CNH là Nhà nước và doanh nghiệp nhà nước</a:t>
            </a:r>
            <a:endParaRPr/>
          </a:p>
          <a:p>
            <a:pPr indent="-457200" lvl="0" marL="457200" marR="0" rtl="0" algn="just">
              <a:lnSpc>
                <a:spcPct val="135000"/>
              </a:lnSpc>
              <a:spcBef>
                <a:spcPts val="0"/>
              </a:spcBef>
              <a:spcAft>
                <a:spcPts val="0"/>
              </a:spcAft>
              <a:buClr>
                <a:srgbClr val="000066"/>
              </a:buClr>
              <a:buSzPts val="2400"/>
              <a:buFont typeface="Calibri"/>
              <a:buChar char="-"/>
            </a:pPr>
            <a:r>
              <a:rPr lang="en-US" sz="2400">
                <a:solidFill>
                  <a:srgbClr val="000066"/>
                </a:solidFill>
                <a:latin typeface="Calibri"/>
                <a:ea typeface="Calibri"/>
                <a:cs typeface="Calibri"/>
                <a:sym typeface="Calibri"/>
              </a:rPr>
              <a:t>Ham làm nhanh, làm lớn, không quan tâm đến hiệu quả kinh tế - xã hội.</a:t>
            </a:r>
            <a:endParaRPr/>
          </a:p>
        </p:txBody>
      </p:sp>
      <p:sp>
        <p:nvSpPr>
          <p:cNvPr id="140" name="Google Shape;140;p7"/>
          <p:cNvSpPr/>
          <p:nvPr/>
        </p:nvSpPr>
        <p:spPr>
          <a:xfrm>
            <a:off x="2281382" y="477148"/>
            <a:ext cx="698704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rgbClr val="008000"/>
                </a:solidFill>
                <a:latin typeface="Calibri"/>
                <a:ea typeface="Calibri"/>
                <a:cs typeface="Calibri"/>
                <a:sym typeface="Calibri"/>
              </a:rPr>
              <a:t> Đặc trưng chủ yếu của công nghiệp hoá thời kỳ trước đổi mới</a:t>
            </a:r>
            <a:endParaRPr b="1" i="1" sz="2000">
              <a:solidFill>
                <a:srgbClr val="008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Effect filter="fade" transition="in">
                                      <p:cBhvr>
                                        <p:cTn dur="500"/>
                                        <p:tgtEl>
                                          <p:spTgt spid="1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Effect filter="fade" transition="in">
                                      <p:cBhvr>
                                        <p:cTn dur="500"/>
                                        <p:tgtEl>
                                          <p:spTgt spid="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Effect filter="fade" transition="in">
                                      <p:cBhvr>
                                        <p:cTn dur="500"/>
                                        <p:tgtEl>
                                          <p:spTgt spid="1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Effect filter="fade" transition="in">
                                      <p:cBhvr>
                                        <p:cTn dur="500"/>
                                        <p:tgtEl>
                                          <p:spTgt spid="1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Effect filter="fade" transition="in">
                                      <p:cBhvr>
                                        <p:cTn dur="500"/>
                                        <p:tgtEl>
                                          <p:spTgt spid="13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2043484" y="365126"/>
            <a:ext cx="9310315" cy="94684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Hạn chế</a:t>
            </a:r>
            <a:endParaRPr/>
          </a:p>
        </p:txBody>
      </p:sp>
      <p:sp>
        <p:nvSpPr>
          <p:cNvPr id="146" name="Google Shape;146;p8"/>
          <p:cNvSpPr txBox="1"/>
          <p:nvPr>
            <p:ph idx="1" type="body"/>
          </p:nvPr>
        </p:nvSpPr>
        <p:spPr>
          <a:xfrm>
            <a:off x="812800" y="1143000"/>
            <a:ext cx="10972800" cy="54864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0" lang="en-US">
                <a:solidFill>
                  <a:schemeClr val="dk1"/>
                </a:solidFill>
                <a:latin typeface="Times New Roman"/>
                <a:ea typeface="Times New Roman"/>
                <a:cs typeface="Times New Roman"/>
                <a:sym typeface="Times New Roman"/>
              </a:rPr>
              <a:t> Chủ quan, nóng vội, duy ý chí trong việc xác định mục tiêu và bước đi CNH</a:t>
            </a:r>
            <a:endParaRPr/>
          </a:p>
          <a:p>
            <a:pPr indent="-228600" lvl="0" marL="228600" rtl="0" algn="just">
              <a:lnSpc>
                <a:spcPct val="90000"/>
              </a:lnSpc>
              <a:spcBef>
                <a:spcPts val="1000"/>
              </a:spcBef>
              <a:spcAft>
                <a:spcPts val="0"/>
              </a:spcAft>
              <a:buClr>
                <a:schemeClr val="dk1"/>
              </a:buClr>
              <a:buSzPts val="2800"/>
              <a:buChar char="•"/>
            </a:pPr>
            <a:r>
              <a:rPr b="0" lang="en-US">
                <a:solidFill>
                  <a:schemeClr val="dk1"/>
                </a:solidFill>
                <a:latin typeface="Times New Roman"/>
                <a:ea typeface="Times New Roman"/>
                <a:cs typeface="Times New Roman"/>
                <a:sym typeface="Times New Roman"/>
              </a:rPr>
              <a:t> Chủ trương đẩy mạnh CNH trong khi chưa có đủ các tiền đề cần thiết</a:t>
            </a:r>
            <a:endParaRPr/>
          </a:p>
          <a:p>
            <a:pPr indent="-228600" lvl="0" marL="228600" rtl="0" algn="just">
              <a:lnSpc>
                <a:spcPct val="90000"/>
              </a:lnSpc>
              <a:spcBef>
                <a:spcPts val="1000"/>
              </a:spcBef>
              <a:spcAft>
                <a:spcPts val="0"/>
              </a:spcAft>
              <a:buClr>
                <a:schemeClr val="dk1"/>
              </a:buClr>
              <a:buSzPts val="2800"/>
              <a:buChar char="•"/>
            </a:pPr>
            <a:r>
              <a:rPr b="0" lang="en-US">
                <a:solidFill>
                  <a:schemeClr val="dk1"/>
                </a:solidFill>
                <a:latin typeface="Times New Roman"/>
                <a:ea typeface="Times New Roman"/>
                <a:cs typeface="Times New Roman"/>
                <a:sym typeface="Times New Roman"/>
              </a:rPr>
              <a:t> Xuất phát từ mong muốn đi nhanh =&gt; thiên về xây dựng CN nặng và những công trình quy mô lớn, không tập trung sức giải quyết về căn bản vấn đề lương thực, thực phẩm, hàng tiêu dùng, hàng xuất khẩu.</a:t>
            </a:r>
            <a:endParaRPr/>
          </a:p>
          <a:p>
            <a:pPr indent="-228600" lvl="0" marL="228600" rtl="0" algn="just">
              <a:lnSpc>
                <a:spcPct val="90000"/>
              </a:lnSpc>
              <a:spcBef>
                <a:spcPts val="1000"/>
              </a:spcBef>
              <a:spcAft>
                <a:spcPts val="0"/>
              </a:spcAft>
              <a:buClr>
                <a:schemeClr val="dk1"/>
              </a:buClr>
              <a:buSzPts val="2800"/>
              <a:buChar char="•"/>
            </a:pPr>
            <a:r>
              <a:rPr b="0" lang="en-US">
                <a:solidFill>
                  <a:schemeClr val="dk1"/>
                </a:solidFill>
                <a:latin typeface="Times New Roman"/>
                <a:ea typeface="Times New Roman"/>
                <a:cs typeface="Times New Roman"/>
                <a:sym typeface="Times New Roman"/>
              </a:rPr>
              <a:t> Chưa thực sự coi nông nghiệp là mặt trận hàng đầu, CN nặng không phục vụ kịp thời nông nghiệp và công nghiệp nhẹ</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idx="1" type="body"/>
          </p:nvPr>
        </p:nvSpPr>
        <p:spPr>
          <a:xfrm>
            <a:off x="421420" y="1765189"/>
            <a:ext cx="5009322" cy="421419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i="1" lang="en-US">
                <a:latin typeface="Times New Roman"/>
                <a:ea typeface="Times New Roman"/>
                <a:cs typeface="Times New Roman"/>
                <a:sym typeface="Times New Roman"/>
              </a:rPr>
              <a:t>Sơ lược đại hội:</a:t>
            </a:r>
            <a:endParaRPr/>
          </a:p>
          <a:p>
            <a:pPr indent="-228600" lvl="0" marL="228600" rtl="0" algn="just">
              <a:lnSpc>
                <a:spcPct val="90000"/>
              </a:lnSpc>
              <a:spcBef>
                <a:spcPts val="1000"/>
              </a:spcBef>
              <a:spcAft>
                <a:spcPts val="0"/>
              </a:spcAft>
              <a:buClr>
                <a:schemeClr val="dk1"/>
              </a:buClr>
              <a:buSzPts val="2800"/>
              <a:buFont typeface="Times New Roman"/>
              <a:buChar char="-"/>
            </a:pPr>
            <a:r>
              <a:rPr i="1" lang="en-US">
                <a:latin typeface="Times New Roman"/>
                <a:ea typeface="Times New Roman"/>
                <a:cs typeface="Times New Roman"/>
                <a:sym typeface="Times New Roman"/>
              </a:rPr>
              <a:t>ĐH họp từ 14-20/12/1976 tại Hà Nội</a:t>
            </a:r>
            <a:endParaRPr i="1">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800"/>
              <a:buFont typeface="Times New Roman"/>
              <a:buChar char="-"/>
            </a:pPr>
            <a:r>
              <a:rPr i="1" lang="en-US">
                <a:latin typeface="Times New Roman"/>
                <a:ea typeface="Times New Roman"/>
                <a:cs typeface="Times New Roman"/>
                <a:sym typeface="Times New Roman"/>
              </a:rPr>
              <a:t>Thành phần tham dự: </a:t>
            </a:r>
            <a:r>
              <a:rPr lang="en-US">
                <a:latin typeface="Times New Roman"/>
                <a:ea typeface="Times New Roman"/>
                <a:cs typeface="Times New Roman"/>
                <a:sym typeface="Times New Roman"/>
              </a:rPr>
              <a:t>1008 đại biểu thay mặt cho 1.550.000 Đảng viên trong cả nước và còn có sự góp mặt của 29 đoàn đại biểu của các đảng và các tổ chức quốc tế.</a:t>
            </a:r>
            <a:endParaRPr/>
          </a:p>
          <a:p>
            <a:pPr indent="-228600" lvl="0" marL="228600" rtl="0" algn="just">
              <a:lnSpc>
                <a:spcPct val="90000"/>
              </a:lnSpc>
              <a:spcBef>
                <a:spcPts val="1000"/>
              </a:spcBef>
              <a:spcAft>
                <a:spcPts val="0"/>
              </a:spcAft>
              <a:buClr>
                <a:schemeClr val="dk1"/>
              </a:buClr>
              <a:buSzPts val="2800"/>
              <a:buFont typeface="Arial"/>
              <a:buNone/>
            </a:pPr>
            <a:r>
              <a:t/>
            </a:r>
            <a:endParaRPr b="1">
              <a:latin typeface="Times New Roman"/>
              <a:ea typeface="Times New Roman"/>
              <a:cs typeface="Times New Roman"/>
              <a:sym typeface="Times New Roman"/>
            </a:endParaRPr>
          </a:p>
        </p:txBody>
      </p:sp>
      <p:pic>
        <p:nvPicPr>
          <p:cNvPr descr="dh4" id="152" name="Google Shape;152;p9"/>
          <p:cNvPicPr preferRelativeResize="0"/>
          <p:nvPr/>
        </p:nvPicPr>
        <p:blipFill rotWithShape="1">
          <a:blip r:embed="rId3">
            <a:alphaModFix/>
          </a:blip>
          <a:srcRect b="0" l="0" r="0" t="0"/>
          <a:stretch/>
        </p:blipFill>
        <p:spPr>
          <a:xfrm>
            <a:off x="6392850" y="2124324"/>
            <a:ext cx="3700008" cy="3083780"/>
          </a:xfrm>
          <a:prstGeom prst="rect">
            <a:avLst/>
          </a:prstGeom>
          <a:noFill/>
          <a:ln>
            <a:noFill/>
          </a:ln>
        </p:spPr>
      </p:pic>
      <p:sp>
        <p:nvSpPr>
          <p:cNvPr id="153" name="Google Shape;153;p9"/>
          <p:cNvSpPr txBox="1"/>
          <p:nvPr/>
        </p:nvSpPr>
        <p:spPr>
          <a:xfrm>
            <a:off x="7063408" y="5492364"/>
            <a:ext cx="268128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thứ IV</a:t>
            </a:r>
            <a:endParaRPr/>
          </a:p>
        </p:txBody>
      </p:sp>
      <p:sp>
        <p:nvSpPr>
          <p:cNvPr id="154" name="Google Shape;154;p9"/>
          <p:cNvSpPr txBox="1"/>
          <p:nvPr/>
        </p:nvSpPr>
        <p:spPr>
          <a:xfrm>
            <a:off x="2315817" y="192682"/>
            <a:ext cx="9332844" cy="58714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None/>
            </a:pPr>
            <a:r>
              <a:rPr b="1" lang="en-US" sz="2400">
                <a:solidFill>
                  <a:schemeClr val="dk1"/>
                </a:solidFill>
                <a:latin typeface="Times New Roman"/>
                <a:ea typeface="Times New Roman"/>
                <a:cs typeface="Times New Roman"/>
                <a:sym typeface="Times New Roman"/>
              </a:rPr>
              <a:t>3.1.1.2. Đại hội đại biểu toàn quốc lần thứ IV của Đảng (12/1976)</a:t>
            </a:r>
            <a:endParaRPr b="1"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0"/>
          <p:cNvSpPr txBox="1"/>
          <p:nvPr>
            <p:ph idx="1" type="body"/>
          </p:nvPr>
        </p:nvSpPr>
        <p:spPr>
          <a:xfrm>
            <a:off x="787180" y="1357685"/>
            <a:ext cx="11219290" cy="481252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Times New Roman"/>
              <a:buChar char="-"/>
            </a:pPr>
            <a:r>
              <a:rPr i="1" lang="en-US" sz="2000">
                <a:latin typeface="Times New Roman"/>
                <a:ea typeface="Times New Roman"/>
                <a:cs typeface="Times New Roman"/>
                <a:sym typeface="Times New Roman"/>
              </a:rPr>
              <a:t>Đại hội thông qua: </a:t>
            </a:r>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Báo cáo chính trị </a:t>
            </a:r>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Báo cáo về phương hướng, nhiệm vụ, mục tiêu chủ yếu của kế hoạch nhà nước 5 năm (1976 – 1980)</a:t>
            </a:r>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Báo cáo tổng kết công tác xây dựng Đảng và sửa đổi Điều lệ Đảng</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Quyết định đổi tên Đảng Lao động VN thành Đảng Cộng sản VN.</a:t>
            </a:r>
            <a:endParaRPr/>
          </a:p>
          <a:p>
            <a:pPr indent="-228600" lvl="0" marL="228600" rtl="0" algn="l">
              <a:lnSpc>
                <a:spcPct val="90000"/>
              </a:lnSpc>
              <a:spcBef>
                <a:spcPts val="1000"/>
              </a:spcBef>
              <a:spcAft>
                <a:spcPts val="0"/>
              </a:spcAft>
              <a:buClr>
                <a:schemeClr val="dk1"/>
              </a:buClr>
              <a:buSzPts val="2000"/>
              <a:buChar char="•"/>
            </a:pPr>
            <a:r>
              <a:rPr b="1" i="1" lang="en-US" sz="2000">
                <a:latin typeface="Times New Roman"/>
                <a:ea typeface="Times New Roman"/>
                <a:cs typeface="Times New Roman"/>
                <a:sym typeface="Times New Roman"/>
              </a:rPr>
              <a:t>Nội dung Đại hội</a:t>
            </a:r>
            <a:endParaRPr b="1" i="1"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Đường lối chung:</a:t>
            </a:r>
            <a:endParaRPr b="1" i="1"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Nắm vững chuyên chính vô sản</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Phát huy quyền làm chủ của nhân dân</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Tiến hành đồng thời 3 cuộc CM: CM khoa học kỹ thuật (then chốt), CM quan hệ sản xuất, CM tư tưởng – văn hóa</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Đẩy mạnh CNH XHCN được coi là nhiệm vụ trọng tâm suốt thời kỳ quá độ</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160" name="Google Shape;160;p1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idx="1" type="body"/>
          </p:nvPr>
        </p:nvSpPr>
        <p:spPr>
          <a:xfrm>
            <a:off x="818984" y="1808920"/>
            <a:ext cx="10925093" cy="4703197"/>
          </a:xfrm>
          <a:prstGeom prst="rect">
            <a:avLst/>
          </a:prstGeom>
          <a:noFill/>
          <a:ln>
            <a:noFill/>
          </a:ln>
        </p:spPr>
        <p:txBody>
          <a:bodyPr anchorCtr="0" anchor="t" bIns="45700" lIns="91425" spcFirstLastPara="1" rIns="91425" wrap="square" tIns="45700">
            <a:noAutofit/>
          </a:bodyPr>
          <a:lstStyle/>
          <a:p>
            <a:pPr indent="-228600" lvl="0" marL="228600" rtl="0" algn="just">
              <a:lnSpc>
                <a:spcPct val="16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 Xây dựng chế độ làm chủ tập thể XHCN, nền sản xuất lớn XHCN, nền văn hóa mới và con người mới XHCN</a:t>
            </a:r>
            <a:endParaRPr/>
          </a:p>
          <a:p>
            <a:pPr indent="-228600" lvl="0" marL="228600" rtl="0" algn="just">
              <a:lnSpc>
                <a:spcPct val="16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Xóa bỏ chế độ người bóc lột người, xóa bỏ nghèo nàn, lạc hậu</a:t>
            </a:r>
            <a:endParaRPr sz="2000">
              <a:latin typeface="Times New Roman"/>
              <a:ea typeface="Times New Roman"/>
              <a:cs typeface="Times New Roman"/>
              <a:sym typeface="Times New Roman"/>
            </a:endParaRPr>
          </a:p>
          <a:p>
            <a:pPr indent="-228600" lvl="0" marL="228600" rtl="0" algn="just">
              <a:lnSpc>
                <a:spcPct val="16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Không ngừng đề cao cảnh giác, thường xuyên củng cố quốc phòng, giữ gìn an ninh, chính trị, trật tự, an toàn xã hội</a:t>
            </a:r>
            <a:endParaRPr sz="2000">
              <a:latin typeface="Times New Roman"/>
              <a:ea typeface="Times New Roman"/>
              <a:cs typeface="Times New Roman"/>
              <a:sym typeface="Times New Roman"/>
            </a:endParaRPr>
          </a:p>
          <a:p>
            <a:pPr indent="-228600" lvl="0" marL="228600" rtl="0" algn="just">
              <a:lnSpc>
                <a:spcPct val="16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Xây dựng thành công tổ quốc VN hòa bình, độc lập, thống nhất và CNXH</a:t>
            </a:r>
            <a:endParaRPr/>
          </a:p>
          <a:p>
            <a:pPr indent="-228600" lvl="0" marL="228600" rtl="0" algn="just">
              <a:lnSpc>
                <a:spcPct val="16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Góp phần tích cực vào cuộc đấu tranh của nhân dân thế giới vì hòa bình, độc lập dân tộc, dân chủ và CNXH</a:t>
            </a:r>
            <a:endParaRPr/>
          </a:p>
          <a:p>
            <a:pPr indent="-228600" lvl="0" marL="228600" rtl="0" algn="just">
              <a:lnSpc>
                <a:spcPct val="16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166" name="Google Shape;166;p1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ph idx="1" type="body"/>
          </p:nvPr>
        </p:nvSpPr>
        <p:spPr>
          <a:xfrm>
            <a:off x="1317012" y="1261861"/>
            <a:ext cx="10146000" cy="5086200"/>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Font typeface="Arial"/>
              <a:buNone/>
            </a:pPr>
            <a:r>
              <a:rPr i="1" lang="en-US" sz="2000">
                <a:latin typeface="Times New Roman"/>
                <a:ea typeface="Times New Roman"/>
                <a:cs typeface="Times New Roman"/>
                <a:sym typeface="Times New Roman"/>
              </a:rPr>
              <a:t>-  Đường lối xây dựng kinh tế XHCN trong giai đoạn mới:</a:t>
            </a:r>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Đẩy mạnh CNH XHCN bằng cách ưu tiên phát triển công nghiệp nặng một cách hợp lý, trên cơ sở phát triển nông nghiệp và công nghiệp nhẹ.</a:t>
            </a:r>
            <a:endParaRPr sz="2000">
              <a:latin typeface="Times New Roman"/>
              <a:ea typeface="Times New Roman"/>
              <a:cs typeface="Times New Roman"/>
              <a:sym typeface="Times New Roman"/>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Xây dựng cơ sở vật chất – kỹ thuật của CNXH</a:t>
            </a:r>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Đưa nền kinh tế nước ta từ sản xuất nhỏ lên sản xuất lớn XHCN</a:t>
            </a:r>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Xây dựng nông nghiệp và công nghiệp cả nước thành cơ cấu kinh tế công – nông nghiệp hợp lý</a:t>
            </a:r>
            <a:endParaRPr sz="2000">
              <a:latin typeface="Times New Roman"/>
              <a:ea typeface="Times New Roman"/>
              <a:cs typeface="Times New Roman"/>
              <a:sym typeface="Times New Roman"/>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Vừa xây dựng kinh tế TW vừa phát triển kinh tế địa phương và kết hợp thành cơ cấu kinh tế quốc dân thống nhất</a:t>
            </a:r>
            <a:endParaRPr sz="2000">
              <a:latin typeface="Times New Roman"/>
              <a:ea typeface="Times New Roman"/>
              <a:cs typeface="Times New Roman"/>
              <a:sym typeface="Times New Roman"/>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Kết hợp phát triển LLSX với xác lập và hoàn thiện QHSX</a:t>
            </a:r>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Kết hợp kinh tế với quốc phòng</a:t>
            </a:r>
            <a:endParaRPr sz="2000">
              <a:latin typeface="Times New Roman"/>
              <a:ea typeface="Times New Roman"/>
              <a:cs typeface="Times New Roman"/>
              <a:sym typeface="Times New Roman"/>
            </a:endParaRPr>
          </a:p>
          <a:p>
            <a:pPr indent="-228600" lvl="0" marL="228600" rtl="0" algn="just">
              <a:lnSpc>
                <a:spcPct val="10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Tăng cường hợp tác quốc tế với các nước XHCN anh em, đồng thời phát triển quan hệ kinh tế với các nước khác trên cơ sở giữ vững độc lập, chủ quyền và các bên cùng có lợi.</a:t>
            </a:r>
            <a:endParaRPr/>
          </a:p>
          <a:p>
            <a:pPr indent="-101600" lvl="0" marL="228600" rtl="0" algn="just">
              <a:lnSpc>
                <a:spcPct val="10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172" name="Google Shape;172;p1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idx="1" type="body"/>
          </p:nvPr>
        </p:nvSpPr>
        <p:spPr>
          <a:xfrm>
            <a:off x="1289435" y="1661160"/>
            <a:ext cx="9802633" cy="276771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ĐH đã xác định các nội dung:</a:t>
            </a:r>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Phát triển và cải tạo kinh tế, văn hóa, phát triển khoa học – kỹ thuật</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Đẩy mạnh cách mạng tư tưởng và văn hóa, xây dựng và phát triển nền văn hóa mới</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Tăng cường nhà nước XHCN, phát huy vai trò của các đoàn thể, làm tốt công tác quần chúng</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Nhiệm vụ quốc tế và chính sách đối ngoại của Đảng</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Nâng cao vai trò lãnh đạo và sức chiến đấu của Đảng</a:t>
            </a:r>
            <a:endParaRPr sz="2000">
              <a:latin typeface="Times New Roman"/>
              <a:ea typeface="Times New Roman"/>
              <a:cs typeface="Times New Roman"/>
              <a:sym typeface="Times New Roman"/>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178" name="Google Shape;178;p1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idx="1" type="body"/>
          </p:nvPr>
        </p:nvSpPr>
        <p:spPr>
          <a:xfrm>
            <a:off x="1679050" y="1814886"/>
            <a:ext cx="4038600" cy="260603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a:t>
            </a:r>
            <a:r>
              <a:rPr i="1" lang="en-US" sz="2000">
                <a:solidFill>
                  <a:schemeClr val="dk1"/>
                </a:solidFill>
                <a:latin typeface="Times New Roman"/>
                <a:ea typeface="Times New Roman"/>
                <a:cs typeface="Times New Roman"/>
                <a:sym typeface="Times New Roman"/>
              </a:rPr>
              <a:t>BCH TW mới gồm </a:t>
            </a:r>
            <a:endParaRPr/>
          </a:p>
          <a:p>
            <a:pPr indent="-228600" lvl="0" marL="228600" rtl="0" algn="just">
              <a:lnSpc>
                <a:spcPct val="90000"/>
              </a:lnSpc>
              <a:spcBef>
                <a:spcPts val="10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+ 101 ủy viên chính thức, </a:t>
            </a:r>
            <a:endParaRPr/>
          </a:p>
          <a:p>
            <a:pPr indent="-228600" lvl="0" marL="228600" rtl="0" algn="just">
              <a:lnSpc>
                <a:spcPct val="90000"/>
              </a:lnSpc>
              <a:spcBef>
                <a:spcPts val="10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Bộ chính trị gồm 14 ủy viên chính thức. </a:t>
            </a:r>
            <a:endParaRPr/>
          </a:p>
          <a:p>
            <a:pPr indent="-228600" lvl="0" marL="228600" rtl="0" algn="just">
              <a:lnSpc>
                <a:spcPct val="90000"/>
              </a:lnSpc>
              <a:spcBef>
                <a:spcPts val="10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Ban bí thư gồm 9 đồng chí</a:t>
            </a:r>
            <a:endParaRPr sz="2000">
              <a:solidFill>
                <a:schemeClr val="dk1"/>
              </a:solidFill>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Đ/c Lê Duẩn được bầu làm Tổng bí thư.</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Times New Roman"/>
              <a:ea typeface="Times New Roman"/>
              <a:cs typeface="Times New Roman"/>
              <a:sym typeface="Times New Roman"/>
            </a:endParaRPr>
          </a:p>
        </p:txBody>
      </p:sp>
      <p:pic>
        <p:nvPicPr>
          <p:cNvPr descr="leduan" id="184" name="Google Shape;184;p14"/>
          <p:cNvPicPr preferRelativeResize="0"/>
          <p:nvPr/>
        </p:nvPicPr>
        <p:blipFill rotWithShape="1">
          <a:blip r:embed="rId3">
            <a:alphaModFix/>
          </a:blip>
          <a:srcRect b="0" l="0" r="0" t="0"/>
          <a:stretch/>
        </p:blipFill>
        <p:spPr>
          <a:xfrm>
            <a:off x="6505576" y="1600200"/>
            <a:ext cx="2886075" cy="3124200"/>
          </a:xfrm>
          <a:prstGeom prst="rect">
            <a:avLst/>
          </a:prstGeom>
          <a:noFill/>
          <a:ln>
            <a:noFill/>
          </a:ln>
        </p:spPr>
      </p:pic>
      <p:sp>
        <p:nvSpPr>
          <p:cNvPr id="185" name="Google Shape;185;p14"/>
          <p:cNvSpPr txBox="1"/>
          <p:nvPr/>
        </p:nvSpPr>
        <p:spPr>
          <a:xfrm>
            <a:off x="7315201" y="4953000"/>
            <a:ext cx="150971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Đ/c Lê Duẫn</a:t>
            </a:r>
            <a:endParaRPr sz="2000">
              <a:solidFill>
                <a:srgbClr val="0000CC"/>
              </a:solidFill>
              <a:latin typeface="Calibri"/>
              <a:ea typeface="Calibri"/>
              <a:cs typeface="Calibri"/>
              <a:sym typeface="Calibri"/>
            </a:endParaRPr>
          </a:p>
        </p:txBody>
      </p:sp>
      <p:sp>
        <p:nvSpPr>
          <p:cNvPr id="186" name="Google Shape;186;p1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5"/>
          <p:cNvSpPr txBox="1"/>
          <p:nvPr>
            <p:ph idx="1" type="body"/>
          </p:nvPr>
        </p:nvSpPr>
        <p:spPr>
          <a:xfrm>
            <a:off x="556591" y="1605501"/>
            <a:ext cx="10837627" cy="334816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Đánh giá đại hội:</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Đây là đại hộ toàn thắng của sự nghiệp giải phóng dân tộc, đại hội thống nhất nước nhà và cả nước đi lên XHCN</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Đại hội đề ra đường lối chung về kinh tế trong thời kỳ quá độ lên CNXH ở nước ta</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Những phương hướng và mục tiêu lâu dài do đại hội đề ra cơ bản là đúng</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Times New Roman"/>
              <a:buChar char="-"/>
            </a:pPr>
            <a:r>
              <a:rPr i="1" lang="en-US" sz="2000">
                <a:latin typeface="Times New Roman"/>
                <a:ea typeface="Times New Roman"/>
                <a:cs typeface="Times New Roman"/>
                <a:sym typeface="Times New Roman"/>
              </a:rPr>
              <a:t>Một số hạn chế:</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Hạn chế lớn nhất của ĐH là chưa tìm ra và tôn trọng quy luật khách quan trong xây dựng CNXH ở một nước có hoàn cảnh như nước ta</a:t>
            </a:r>
            <a:endParaRPr/>
          </a:p>
          <a:p>
            <a:pPr indent="-228600" lvl="0" marL="228600" rtl="0" algn="just">
              <a:lnSpc>
                <a:spcPct val="90000"/>
              </a:lnSpc>
              <a:spcBef>
                <a:spcPts val="1000"/>
              </a:spcBef>
              <a:spcAft>
                <a:spcPts val="0"/>
              </a:spcAft>
              <a:buClr>
                <a:schemeClr val="dk1"/>
              </a:buClr>
              <a:buSzPts val="2000"/>
              <a:buFont typeface="Arial"/>
              <a:buNone/>
            </a:pPr>
            <a:r>
              <a:t/>
            </a:r>
            <a:endParaRPr i="1" sz="2000">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192" name="Google Shape;192;p1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6"/>
          <p:cNvSpPr txBox="1"/>
          <p:nvPr>
            <p:ph idx="1" type="body"/>
          </p:nvPr>
        </p:nvSpPr>
        <p:spPr>
          <a:xfrm>
            <a:off x="683813" y="1443161"/>
            <a:ext cx="10933043" cy="446465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Font typeface="Arial"/>
              <a:buNone/>
            </a:pPr>
            <a:r>
              <a:rPr lang="en-US" sz="2400">
                <a:latin typeface="Times New Roman"/>
                <a:ea typeface="Times New Roman"/>
                <a:cs typeface="Times New Roman"/>
                <a:sym typeface="Times New Roman"/>
              </a:rPr>
              <a:t>		Trong bối cảnh cuộc khủng hoảng kinh tế - xã hội bắt đầu xuất hiện</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Hội nghị đã thông qua:</a:t>
            </a:r>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Nghị quyết số 20-NQ/TW Về tình hình và nhiệm vụ cấp bách</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Nghị quyết số 21-NQ/TW về phương hướng, nhiệm vụ phát triển công nghiệp hàng tiêu dùng và công nghiệp địa phương</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Thực hiện chủ trương kích thích kinh tế, chính phủ công bố một loạt những quyết định mới về kinh tế như: </a:t>
            </a:r>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 Quyết định ngày 16/8/1979 về việc bãi bỏ các trạm kiểm soát có tính chất ngăn sông cấm chợ, ngăn cản việc lưu thông hàng hóa</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 Quyết định ngày 10/9/1979 về việc khuyến khích tận dụng ruộng đất trong nông nghiệp vào sản xuất…</a:t>
            </a:r>
            <a:endParaRPr/>
          </a:p>
          <a:p>
            <a:pPr indent="-87629" lvl="0" marL="228600" rtl="0" algn="just">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p:txBody>
      </p:sp>
      <p:sp>
        <p:nvSpPr>
          <p:cNvPr id="198" name="Google Shape;198;p1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199" name="Google Shape;199;p16"/>
          <p:cNvSpPr txBox="1"/>
          <p:nvPr/>
        </p:nvSpPr>
        <p:spPr>
          <a:xfrm>
            <a:off x="3371273" y="443346"/>
            <a:ext cx="506152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Hội nghị TW 6 khóa IV – 8/1979</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idx="1" type="body"/>
          </p:nvPr>
        </p:nvSpPr>
        <p:spPr>
          <a:xfrm>
            <a:off x="120956" y="1207595"/>
            <a:ext cx="10877384" cy="4472609"/>
          </a:xfrm>
          <a:prstGeom prst="rect">
            <a:avLst/>
          </a:prstGeom>
          <a:noFill/>
          <a:ln>
            <a:noFill/>
          </a:ln>
        </p:spPr>
        <p:txBody>
          <a:bodyPr anchorCtr="0" anchor="t" bIns="45700" lIns="91425" spcFirstLastPara="1" rIns="91425" wrap="square" tIns="45700">
            <a:normAutofit fontScale="92500"/>
          </a:bodyPr>
          <a:lstStyle/>
          <a:p>
            <a:pPr indent="-228600" lvl="0" marL="228600" rtl="0" algn="ctr">
              <a:lnSpc>
                <a:spcPct val="90000"/>
              </a:lnSpc>
              <a:spcBef>
                <a:spcPts val="0"/>
              </a:spcBef>
              <a:spcAft>
                <a:spcPts val="0"/>
              </a:spcAft>
              <a:buClr>
                <a:schemeClr val="dk1"/>
              </a:buClr>
              <a:buSzPct val="100000"/>
              <a:buFont typeface="Arial"/>
              <a:buNone/>
            </a:pPr>
            <a:r>
              <a:rPr lang="en-US" sz="2400">
                <a:latin typeface="Times New Roman"/>
                <a:ea typeface="Times New Roman"/>
                <a:cs typeface="Times New Roman"/>
                <a:sym typeface="Times New Roman"/>
              </a:rPr>
              <a:t>		Bàn về phương hướng, nhiệm vụ kinh tế xã hội năm 1981</a:t>
            </a:r>
            <a:endParaRPr/>
          </a:p>
          <a:p>
            <a:pPr indent="-228600" lvl="0" marL="228600" rtl="0" algn="just">
              <a:lnSpc>
                <a:spcPct val="90000"/>
              </a:lnSpc>
              <a:spcBef>
                <a:spcPts val="1000"/>
              </a:spcBef>
              <a:spcAft>
                <a:spcPts val="0"/>
              </a:spcAft>
              <a:buClr>
                <a:schemeClr val="dk1"/>
              </a:buClr>
              <a:buSzPct val="1000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Ban bí thư ra chỉ thị số 100-CT/TW (13/1/1981) Về cải tiến công tác khoán, mở rộng “khoán sản phẩm đến nhóm lao động và người lao động” trong hợp tác xã nông nghiệp</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Quyết định 25-CP (21/1/1981) Về một số chủ trương về biện pháp nhằm phát huy quyền chủ động sản xuất kinh doanh và quyền tự chủ về tài chính của các xí nghiệp quốc doanh</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Quyết định 25-CP (21/1/1981) Về mở rộng hình thức trả lương khoán, lương sản phẩm và vận dụng hình thức tiền thưởng trong các đơn vị sản xuất kinh doanh của nhà nước</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i="1" lang="en-US" sz="2400">
                <a:latin typeface="Times New Roman"/>
                <a:ea typeface="Times New Roman"/>
                <a:cs typeface="Times New Roman"/>
                <a:sym typeface="Times New Roman"/>
              </a:rPr>
              <a:t>=&gt; Tạo điều kiện cho công nghiệp, nông nghiệp có chuyển biến mới</a:t>
            </a:r>
            <a:endParaRPr i="1"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Nghị quyết số 36-NQ/TW (24/2/1981) Về những nhiệm vụ trước mắt của công tác tư tưởng</a:t>
            </a:r>
            <a:endParaRPr sz="2400">
              <a:latin typeface="Times New Roman"/>
              <a:ea typeface="Times New Roman"/>
              <a:cs typeface="Times New Roman"/>
              <a:sym typeface="Times New Roman"/>
            </a:endParaRPr>
          </a:p>
          <a:p>
            <a:pPr indent="-87629" lvl="0" marL="228600" rtl="0" algn="just">
              <a:lnSpc>
                <a:spcPct val="90000"/>
              </a:lnSpc>
              <a:spcBef>
                <a:spcPts val="1000"/>
              </a:spcBef>
              <a:spcAft>
                <a:spcPts val="0"/>
              </a:spcAft>
              <a:buClr>
                <a:schemeClr val="dk1"/>
              </a:buClr>
              <a:buSzPct val="100000"/>
              <a:buNone/>
            </a:pPr>
            <a:r>
              <a:t/>
            </a:r>
            <a:endParaRPr sz="2400">
              <a:latin typeface="Times New Roman"/>
              <a:ea typeface="Times New Roman"/>
              <a:cs typeface="Times New Roman"/>
              <a:sym typeface="Times New Roman"/>
            </a:endParaRPr>
          </a:p>
        </p:txBody>
      </p:sp>
      <p:sp>
        <p:nvSpPr>
          <p:cNvPr id="205" name="Google Shape;205;p1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206" name="Google Shape;206;p17"/>
          <p:cNvSpPr txBox="1"/>
          <p:nvPr/>
        </p:nvSpPr>
        <p:spPr>
          <a:xfrm>
            <a:off x="2475345" y="554181"/>
            <a:ext cx="75553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Hội nghị BCH TW Đảng lần 9  Khóa IV (12/1980)</a:t>
            </a:r>
            <a:endParaRPr b="1" sz="2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idx="1" type="body"/>
          </p:nvPr>
        </p:nvSpPr>
        <p:spPr>
          <a:xfrm>
            <a:off x="341905" y="1748624"/>
            <a:ext cx="11505537" cy="4636273"/>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b="1" lang="en-US" sz="2400">
                <a:latin typeface="Times New Roman"/>
                <a:ea typeface="Times New Roman"/>
                <a:cs typeface="Times New Roman"/>
                <a:sym typeface="Times New Roman"/>
              </a:rPr>
              <a:t>*Hoạt động đối ngoại </a:t>
            </a:r>
            <a:r>
              <a:rPr lang="en-US" sz="2400">
                <a:latin typeface="Times New Roman"/>
                <a:ea typeface="Times New Roman"/>
                <a:cs typeface="Times New Roman"/>
                <a:sym typeface="Times New Roman"/>
              </a:rPr>
              <a:t>của Đảng và Nhà nước được triển khai mạnh mẽ</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- 20/9/1977, nước CHXHCN Việt Nam trở thành thành viên thứ 149 của Liên hợp quốc</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Thắng lợi của nhân dân VN đã làm đảo lộn chiến lược toàn cầu của CNĐQ và các thế lực thù địch. Vì vậy chúng cấu kết với nhau tìm cách chống phá công cuộc xây dựng đất nước của nhân dân ta:</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Biên giới Tây Nam: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Tập đoàn Pôn Pốt thi hành chính sách cực kỳ phản động và diệt chủng ở Campuchia, tăng cường thù địch chống VN</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Trước hành động thù địch đó sự kiên nhẫn của quân và dân ta có giới hạn. quân dân ta đã đánh trả mạnh mẽ. đáp lại lời kêu gọi giúp đỡ của nhân dân Campuchia, quân tình nguyện VN cùng quân dân Campuchia phối hợp chặt chẽ tiến công quân diệt chủng Pôn Pốt</a:t>
            </a:r>
            <a:endParaRPr sz="2400">
              <a:latin typeface="Times New Roman"/>
              <a:ea typeface="Times New Roman"/>
              <a:cs typeface="Times New Roman"/>
              <a:sym typeface="Times New Roman"/>
            </a:endParaRPr>
          </a:p>
        </p:txBody>
      </p:sp>
      <p:sp>
        <p:nvSpPr>
          <p:cNvPr id="212" name="Google Shape;212;p1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213" name="Google Shape;213;p18"/>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Chương V</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lay pon.jpg" id="218" name="Google Shape;218;p19"/>
          <p:cNvPicPr preferRelativeResize="0"/>
          <p:nvPr>
            <p:ph idx="1" type="body"/>
          </p:nvPr>
        </p:nvPicPr>
        <p:blipFill rotWithShape="1">
          <a:blip r:embed="rId3">
            <a:alphaModFix/>
          </a:blip>
          <a:srcRect b="0" l="0" r="0" t="0"/>
          <a:stretch/>
        </p:blipFill>
        <p:spPr>
          <a:xfrm>
            <a:off x="843502" y="2895601"/>
            <a:ext cx="3457575" cy="2524125"/>
          </a:xfrm>
          <a:prstGeom prst="rect">
            <a:avLst/>
          </a:prstGeom>
          <a:noFill/>
          <a:ln>
            <a:noFill/>
          </a:ln>
        </p:spPr>
      </p:pic>
      <p:sp>
        <p:nvSpPr>
          <p:cNvPr id="219" name="Google Shape;219;p19"/>
          <p:cNvSpPr txBox="1"/>
          <p:nvPr>
            <p:ph idx="2" type="body"/>
          </p:nvPr>
        </p:nvSpPr>
        <p:spPr>
          <a:xfrm>
            <a:off x="7855226" y="373713"/>
            <a:ext cx="3962400" cy="3673502"/>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- 7/1/1979 thủ đô Phnom Pênh được giải phóng</a:t>
            </a:r>
            <a:endParaRPr sz="2400">
              <a:solidFill>
                <a:schemeClr val="dk1"/>
              </a:solidFill>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 Quân và dân VN vừa hoàn thành nhiệm vụ quốc tế đối với nhân dân Campuchia, vừa tiêu diệt tận gốc mầm mống gây ra cuộc chiến tranh xâm lược, bảo vệ một cách vững chắc biện giới Tây Nam của tổ quốc</a:t>
            </a:r>
            <a:endParaRPr sz="2400">
              <a:solidFill>
                <a:schemeClr val="dk1"/>
              </a:solidFill>
              <a:latin typeface="Times New Roman"/>
              <a:ea typeface="Times New Roman"/>
              <a:cs typeface="Times New Roman"/>
              <a:sym typeface="Times New Roman"/>
            </a:endParaRPr>
          </a:p>
          <a:p>
            <a:pPr indent="-76200" lvl="0" marL="228600" rtl="0" algn="just">
              <a:lnSpc>
                <a:spcPct val="90000"/>
              </a:lnSpc>
              <a:spcBef>
                <a:spcPts val="1000"/>
              </a:spcBef>
              <a:spcAft>
                <a:spcPts val="0"/>
              </a:spcAft>
              <a:buClr>
                <a:schemeClr val="dk1"/>
              </a:buClr>
              <a:buSzPts val="2400"/>
              <a:buNone/>
            </a:pPr>
            <a:r>
              <a:t/>
            </a:r>
            <a:endParaRPr sz="2400">
              <a:solidFill>
                <a:schemeClr val="dk1"/>
              </a:solidFill>
              <a:latin typeface="Times New Roman"/>
              <a:ea typeface="Times New Roman"/>
              <a:cs typeface="Times New Roman"/>
              <a:sym typeface="Times New Roman"/>
            </a:endParaRPr>
          </a:p>
        </p:txBody>
      </p:sp>
      <p:sp>
        <p:nvSpPr>
          <p:cNvPr id="220" name="Google Shape;220;p19"/>
          <p:cNvSpPr txBox="1"/>
          <p:nvPr/>
        </p:nvSpPr>
        <p:spPr>
          <a:xfrm>
            <a:off x="719235" y="5972920"/>
            <a:ext cx="32988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Giúp đỡ nhân dân Campuchia</a:t>
            </a:r>
            <a:endParaRPr sz="2000">
              <a:solidFill>
                <a:srgbClr val="0000CC"/>
              </a:solidFill>
              <a:latin typeface="Calibri"/>
              <a:ea typeface="Calibri"/>
              <a:cs typeface="Calibri"/>
              <a:sym typeface="Calibri"/>
            </a:endParaRPr>
          </a:p>
        </p:txBody>
      </p:sp>
      <p:sp>
        <p:nvSpPr>
          <p:cNvPr id="221" name="Google Shape;221;p1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222" name="Google Shape;222;p19"/>
          <p:cNvSpPr txBox="1"/>
          <p:nvPr>
            <p:ph idx="11" type="ftr"/>
          </p:nvPr>
        </p:nvSpPr>
        <p:spPr>
          <a:xfrm>
            <a:off x="4038600" y="6528987"/>
            <a:ext cx="4114800" cy="32922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solidFill>
                  <a:srgbClr val="0000CC"/>
                </a:solidFill>
              </a:rPr>
              <a:t>Chương V</a:t>
            </a:r>
            <a:endParaRPr>
              <a:solidFill>
                <a:srgbClr val="0000CC"/>
              </a:solidFill>
            </a:endParaRPr>
          </a:p>
        </p:txBody>
      </p:sp>
      <p:pic>
        <p:nvPicPr>
          <p:cNvPr descr="Nghĩa tình Việt Nam với cách mạng Campuchia | Tạp chí Tuyên giáo" id="223" name="Google Shape;223;p19"/>
          <p:cNvPicPr preferRelativeResize="0"/>
          <p:nvPr/>
        </p:nvPicPr>
        <p:blipFill rotWithShape="1">
          <a:blip r:embed="rId4">
            <a:alphaModFix/>
          </a:blip>
          <a:srcRect b="0" l="0" r="0" t="0"/>
          <a:stretch/>
        </p:blipFill>
        <p:spPr>
          <a:xfrm>
            <a:off x="3832240" y="508883"/>
            <a:ext cx="3805876" cy="2363649"/>
          </a:xfrm>
          <a:prstGeom prst="rect">
            <a:avLst/>
          </a:prstGeom>
          <a:noFill/>
          <a:ln>
            <a:noFill/>
          </a:ln>
        </p:spPr>
      </p:pic>
      <p:pic>
        <p:nvPicPr>
          <p:cNvPr descr="Ảnh hiếm bộ đội Việt Nam chiến đấu giúp dân Campuchia - Tri Thức - Tài  Nguyên" id="224" name="Google Shape;224;p19"/>
          <p:cNvPicPr preferRelativeResize="0"/>
          <p:nvPr/>
        </p:nvPicPr>
        <p:blipFill rotWithShape="1">
          <a:blip r:embed="rId5">
            <a:alphaModFix/>
          </a:blip>
          <a:srcRect b="0" l="0" r="0" t="0"/>
          <a:stretch/>
        </p:blipFill>
        <p:spPr>
          <a:xfrm>
            <a:off x="6138408" y="3975652"/>
            <a:ext cx="4142630" cy="25285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E:\_Chi-tho\hinh DH X\hinh ls\Phia bac.jpg" id="229" name="Google Shape;229;p20"/>
          <p:cNvPicPr preferRelativeResize="0"/>
          <p:nvPr/>
        </p:nvPicPr>
        <p:blipFill rotWithShape="1">
          <a:blip r:embed="rId3">
            <a:alphaModFix/>
          </a:blip>
          <a:srcRect b="0" l="0" r="0" t="0"/>
          <a:stretch/>
        </p:blipFill>
        <p:spPr>
          <a:xfrm>
            <a:off x="6647290" y="278296"/>
            <a:ext cx="5072933" cy="6114553"/>
          </a:xfrm>
          <a:prstGeom prst="rect">
            <a:avLst/>
          </a:prstGeom>
          <a:noFill/>
          <a:ln>
            <a:noFill/>
          </a:ln>
        </p:spPr>
      </p:pic>
      <p:sp>
        <p:nvSpPr>
          <p:cNvPr id="230" name="Google Shape;230;p20"/>
          <p:cNvSpPr txBox="1"/>
          <p:nvPr>
            <p:ph idx="1" type="body"/>
          </p:nvPr>
        </p:nvSpPr>
        <p:spPr>
          <a:xfrm>
            <a:off x="588398" y="2837608"/>
            <a:ext cx="6019138" cy="373016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 Biên giới phía Bắc:</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Trung Quốc và Việt Nam là 2 nước láng giếng có truyền thống lâu đời. </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Nhưng từ năm 1978, quan hệ giữa TQ và VN xấu đi rõ rệt. Ở vùng biên giới Trung – Việt liên tiếp diễn ra các vụ xung đột. </a:t>
            </a:r>
            <a:endParaRPr/>
          </a:p>
          <a:p>
            <a:pPr indent="-228600" lvl="0" marL="228600" rtl="0" algn="just">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  17/2/1979 Trung Quốc đưa hàng chục vạn quân mở cuộc tấn công dọc biên giới phía Bắc Việt Nam từ Phong Thổ (Lai Châu) đến Móng Cái (Quảng Ninh)</a:t>
            </a:r>
            <a:endParaRPr/>
          </a:p>
        </p:txBody>
      </p:sp>
      <p:sp>
        <p:nvSpPr>
          <p:cNvPr id="231" name="Google Shape;231;p2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pic>
        <p:nvPicPr>
          <p:cNvPr descr="40 năm Chiến tranh biên giới phía Bắc: Cuộc chiến không cân sức – Báo Nghệ  An" id="232" name="Google Shape;232;p20"/>
          <p:cNvPicPr preferRelativeResize="0"/>
          <p:nvPr/>
        </p:nvPicPr>
        <p:blipFill rotWithShape="1">
          <a:blip r:embed="rId4">
            <a:alphaModFix/>
          </a:blip>
          <a:srcRect b="0" l="0" r="0" t="0"/>
          <a:stretch/>
        </p:blipFill>
        <p:spPr>
          <a:xfrm>
            <a:off x="2003563" y="278296"/>
            <a:ext cx="4659630" cy="24330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ph idx="1" type="body"/>
          </p:nvPr>
        </p:nvSpPr>
        <p:spPr>
          <a:xfrm>
            <a:off x="438647" y="1240404"/>
            <a:ext cx="4952337" cy="49530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lang="en-US" sz="2400">
                <a:latin typeface="Times New Roman"/>
                <a:ea typeface="Times New Roman"/>
                <a:cs typeface="Times New Roman"/>
                <a:sym typeface="Times New Roman"/>
              </a:rPr>
              <a:t>	Để bảo vệ toàn vẹn lãnh thổ của tổ quốc, quân dân VN mà trực tiếp là quân và dân 6 tỉnh biên giới phía Bắc đã đứng lên chiến đấu rất ngoan cường vì độc lập, vì tự do.</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Trước tình hình đó TQ đã phải rút quân:18/4/1979 VN và TQ bắt đầu đàm phán để khôi phục hòa bình</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b="1" i="1" lang="en-US" sz="2400">
                <a:latin typeface="Times New Roman"/>
                <a:ea typeface="Times New Roman"/>
                <a:cs typeface="Times New Roman"/>
                <a:sym typeface="Times New Roman"/>
              </a:rPr>
              <a:t>	Những năm lịch sử 1975 – 1981 là những năm sôi động và vô cùng phức tạp trên con đường tiến lên của cách mạng VN.</a:t>
            </a:r>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238" name="Google Shape;238;p2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pic>
        <p:nvPicPr>
          <p:cNvPr descr="Kỷ niệm 37 năm chiến tranh biên giới phía Bắc... | HỆ THỜI SỰ CHÍNH TRỊ  TỔNG HỢP - VOV1" id="239" name="Google Shape;239;p21"/>
          <p:cNvPicPr preferRelativeResize="0"/>
          <p:nvPr/>
        </p:nvPicPr>
        <p:blipFill rotWithShape="1">
          <a:blip r:embed="rId3">
            <a:alphaModFix/>
          </a:blip>
          <a:srcRect b="0" l="0" r="0" t="0"/>
          <a:stretch/>
        </p:blipFill>
        <p:spPr>
          <a:xfrm>
            <a:off x="5589767" y="365760"/>
            <a:ext cx="6194066" cy="613840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2"/>
          <p:cNvSpPr txBox="1"/>
          <p:nvPr>
            <p:ph idx="1" type="body"/>
          </p:nvPr>
        </p:nvSpPr>
        <p:spPr>
          <a:xfrm>
            <a:off x="254441" y="2058725"/>
            <a:ext cx="11744077" cy="30937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None/>
            </a:pPr>
            <a:r>
              <a:t/>
            </a:r>
            <a:endParaRPr b="1" i="1"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b="1" i="1" lang="en-US" sz="2400" u="sng">
                <a:latin typeface="Times New Roman"/>
                <a:ea typeface="Times New Roman"/>
                <a:cs typeface="Times New Roman"/>
                <a:sym typeface="Times New Roman"/>
              </a:rPr>
              <a:t>Đại hội đại biểu toàn quốc lần thứ V của Đảng (tháng 3/1982)</a:t>
            </a:r>
            <a:endParaRPr/>
          </a:p>
          <a:p>
            <a:pPr indent="-228600" lvl="0" marL="228600" rtl="0" algn="l">
              <a:lnSpc>
                <a:spcPct val="90000"/>
              </a:lnSpc>
              <a:spcBef>
                <a:spcPts val="1000"/>
              </a:spcBef>
              <a:spcAft>
                <a:spcPts val="0"/>
              </a:spcAft>
              <a:buClr>
                <a:schemeClr val="dk1"/>
              </a:buClr>
              <a:buSzPts val="2400"/>
              <a:buChar char="•"/>
            </a:pPr>
            <a:r>
              <a:rPr b="1" lang="en-US" sz="2400">
                <a:latin typeface="Times New Roman"/>
                <a:ea typeface="Times New Roman"/>
                <a:cs typeface="Times New Roman"/>
                <a:sym typeface="Times New Roman"/>
              </a:rPr>
              <a:t>Sơ lược Đại hội:</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ĐH họp </a:t>
            </a:r>
            <a:r>
              <a:rPr lang="en-US" sz="2400">
                <a:latin typeface="Times New Roman"/>
                <a:ea typeface="Times New Roman"/>
                <a:cs typeface="Times New Roman"/>
                <a:sym typeface="Times New Roman"/>
              </a:rPr>
              <a:t>từ 27-31/3/1982 </a:t>
            </a:r>
            <a:r>
              <a:rPr i="1" lang="en-US" sz="2400">
                <a:latin typeface="Times New Roman"/>
                <a:ea typeface="Times New Roman"/>
                <a:cs typeface="Times New Roman"/>
                <a:sym typeface="Times New Roman"/>
              </a:rPr>
              <a:t>tại Hà Nội</a:t>
            </a:r>
            <a:endParaRPr i="1"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Thành phần tham dự: </a:t>
            </a:r>
            <a:r>
              <a:rPr lang="en-US" sz="2400">
                <a:latin typeface="Times New Roman"/>
                <a:ea typeface="Times New Roman"/>
                <a:cs typeface="Times New Roman"/>
                <a:sym typeface="Times New Roman"/>
              </a:rPr>
              <a:t>1.033 đại biểu thay mặt cho hơn 1.7 triệu đảng viên cả nước và 47 đoàn đại biểu của các đảng và tổ chức quốc tế</a:t>
            </a:r>
            <a:endParaRPr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245" name="Google Shape;245;p2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246" name="Google Shape;246;p22"/>
          <p:cNvSpPr txBox="1"/>
          <p:nvPr/>
        </p:nvSpPr>
        <p:spPr>
          <a:xfrm>
            <a:off x="1924216" y="396739"/>
            <a:ext cx="9597225" cy="1544334"/>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i="1" lang="en-US" sz="2400">
                <a:solidFill>
                  <a:srgbClr val="FF0000"/>
                </a:solidFill>
                <a:latin typeface="Times New Roman"/>
                <a:ea typeface="Times New Roman"/>
                <a:cs typeface="Times New Roman"/>
                <a:sym typeface="Times New Roman"/>
              </a:rPr>
              <a:t>2. Đại hội đại biểu toàn quốc lần thứ V của Đảng và các bước đột phá tiếp tục đổi mới kinh tế 1982-1986</a:t>
            </a:r>
            <a:endParaRPr sz="2400">
              <a:solidFill>
                <a:schemeClr val="dk1"/>
              </a:solidFill>
              <a:latin typeface="Calibri"/>
              <a:ea typeface="Calibri"/>
              <a:cs typeface="Calibri"/>
              <a:sym typeface="Calibri"/>
            </a:endParaRPr>
          </a:p>
          <a:p>
            <a:pPr indent="360045" lvl="0" marL="0" marR="0" rtl="0" algn="just">
              <a:lnSpc>
                <a:spcPct val="120000"/>
              </a:lnSpc>
              <a:spcBef>
                <a:spcPts val="1200"/>
              </a:spcBef>
              <a:spcAft>
                <a:spcPts val="0"/>
              </a:spcAft>
              <a:buNone/>
            </a:pPr>
            <a:r>
              <a:rPr i="1" lang="en-US" sz="2400">
                <a:solidFill>
                  <a:srgbClr val="FF0000"/>
                </a:solidFill>
                <a:latin typeface="Times New Roman"/>
                <a:ea typeface="Times New Roman"/>
                <a:cs typeface="Times New Roman"/>
                <a:sym typeface="Times New Roman"/>
              </a:rPr>
              <a:t>Đại hội V của Đảng và quá trình thực hiện Nghị quyết Đại hội</a:t>
            </a:r>
            <a:endParaRPr sz="24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descr="lan 5.bmp" id="251" name="Google Shape;251;p23"/>
          <p:cNvPicPr preferRelativeResize="0"/>
          <p:nvPr>
            <p:ph idx="1" type="body"/>
          </p:nvPr>
        </p:nvPicPr>
        <p:blipFill rotWithShape="1">
          <a:blip r:embed="rId3">
            <a:alphaModFix/>
          </a:blip>
          <a:srcRect b="0" l="0" r="0" t="0"/>
          <a:stretch/>
        </p:blipFill>
        <p:spPr>
          <a:xfrm>
            <a:off x="922351" y="1168842"/>
            <a:ext cx="4816463" cy="4587902"/>
          </a:xfrm>
          <a:prstGeom prst="rect">
            <a:avLst/>
          </a:prstGeom>
          <a:noFill/>
          <a:ln>
            <a:noFill/>
          </a:ln>
        </p:spPr>
      </p:pic>
      <p:sp>
        <p:nvSpPr>
          <p:cNvPr id="252" name="Google Shape;252;p23"/>
          <p:cNvSpPr txBox="1"/>
          <p:nvPr>
            <p:ph idx="2" type="body"/>
          </p:nvPr>
        </p:nvSpPr>
        <p:spPr>
          <a:xfrm>
            <a:off x="5736866" y="1742661"/>
            <a:ext cx="5713012" cy="420491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lang="en-US" sz="2400">
                <a:latin typeface="Times New Roman"/>
                <a:ea typeface="Times New Roman"/>
                <a:cs typeface="Times New Roman"/>
                <a:sym typeface="Times New Roman"/>
              </a:rPr>
              <a:t>- ĐH diễn ra trong hoàn cảnh nền kinh tế - xã hội nước ta lâm vào khủng hoảng trầm trọng: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ĐH đã thông qua: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Báo cáo chính trị</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Báo cáo về phương hướng nhiệm vụ và những mục tiêu chủ yếu về kinh tế và xã hội trong 5 năm (1981-1985) và những năm 80</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Báo cáo về xây dựng Đảng</a:t>
            </a:r>
            <a:endParaRPr sz="2400">
              <a:latin typeface="Times New Roman"/>
              <a:ea typeface="Times New Roman"/>
              <a:cs typeface="Times New Roman"/>
              <a:sym typeface="Times New Roman"/>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253" name="Google Shape;253;p23"/>
          <p:cNvSpPr txBox="1"/>
          <p:nvPr/>
        </p:nvSpPr>
        <p:spPr>
          <a:xfrm>
            <a:off x="2186609" y="5795176"/>
            <a:ext cx="25908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thứ V</a:t>
            </a:r>
            <a:endParaRPr/>
          </a:p>
        </p:txBody>
      </p:sp>
      <p:sp>
        <p:nvSpPr>
          <p:cNvPr id="254" name="Google Shape;254;p2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idx="1" type="body"/>
          </p:nvPr>
        </p:nvSpPr>
        <p:spPr>
          <a:xfrm>
            <a:off x="310101" y="1510085"/>
            <a:ext cx="11585050" cy="416714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 </a:t>
            </a:r>
            <a:r>
              <a:rPr b="1" lang="en-US" sz="2400">
                <a:latin typeface="Times New Roman"/>
                <a:ea typeface="Times New Roman"/>
                <a:cs typeface="Times New Roman"/>
                <a:sym typeface="Times New Roman"/>
              </a:rPr>
              <a:t>Nội dung Đại hội V:</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chính trị:</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Khẳng định: “Năm năm qua được ghi vào lịch sử dân tộc như một đoạn đường thắng lợi vẻ vang của cách mạng Việt Nam”. Vượt qua muôn khó khăn chồng chất cách mạng nước ta đã phát triển lên một thế chiến lược mới, vững chắc hơn, tạo khả năng to lớn hơn để bảo vệ và xây dựng đất nước.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Dựa trên những đánh giá, kiểm điểm từ ĐH IV và tình hình thực tế. ĐH đã nêu rõ trong giai đoạn mới của cách mạng, Đảng phải lãnh đạo nhân dân ta tiếp tục thực hiện </a:t>
            </a:r>
            <a:r>
              <a:rPr i="1" lang="en-US" sz="2400">
                <a:latin typeface="Times New Roman"/>
                <a:ea typeface="Times New Roman"/>
                <a:cs typeface="Times New Roman"/>
                <a:sym typeface="Times New Roman"/>
              </a:rPr>
              <a:t>2 nhiệm vụ: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Một là: xây dựng thành công CNXH</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Hai là: sẵn sàng chiến đấu bảo vệ vững chắc Tổ quốc Việt Nam XHCN</a:t>
            </a:r>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260" name="Google Shape;260;p2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5"/>
          <p:cNvSpPr txBox="1"/>
          <p:nvPr>
            <p:ph idx="1" type="body"/>
          </p:nvPr>
        </p:nvSpPr>
        <p:spPr>
          <a:xfrm>
            <a:off x="596347" y="866030"/>
            <a:ext cx="11139777" cy="524852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None/>
            </a:pPr>
            <a:r>
              <a:rPr lang="en-US" sz="2400">
                <a:latin typeface="Times New Roman"/>
                <a:ea typeface="Times New Roman"/>
                <a:cs typeface="Times New Roman"/>
                <a:sym typeface="Times New Roman"/>
              </a:rPr>
              <a:t>			- Đại hội cũng đề ra những mục tiêu kinh tế - xã hội tổng quát là: </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Ổn định dần dần, tiến lên cải thiện một bước đời sống vật chất và văn hóa của nhân dân</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Tiếp tục xây dựng cơ sở vật chất - kỹ thuật của CNXH, chủ yếu nhằm thúc đậy sản xuất nông nghiệp, hàng tiêu dùng và xuất khẩu</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Hoàn thành công cuộc cải tạo XHCN, củng cố quan hệ sản xuất XHCN trong cả nước</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Đáp ứng nhu cầu củ công cuộc phòng thủ đất nước, củng cố quốc phòng, giữ vững an ninh trật tự</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Đại hội nêu lên nhiệm vụ then chốt của công tác xây dựng Đảng lúc này là: tiếp tực nâng cao tính giái cấp công nhân, tính tiên phong của Đảng, xây dựng đảng vững mạnh về chính trị, tư tưởng vả tổ chức, làm cho Đảng luôn luôn giữ vững bản chất cách mạng và khoa học, một đảng thực sự trong sạch, có sức chiến đấu cao, gắn bó chặt chẽ với quần chúng.</a:t>
            </a:r>
            <a:endParaRPr/>
          </a:p>
          <a:p>
            <a:pPr indent="-228600" lvl="0" marL="228600" rtl="0" algn="l">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266" name="Google Shape;266;p2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6"/>
          <p:cNvSpPr txBox="1"/>
          <p:nvPr>
            <p:ph idx="1" type="body"/>
          </p:nvPr>
        </p:nvSpPr>
        <p:spPr>
          <a:xfrm>
            <a:off x="588396" y="1296063"/>
            <a:ext cx="11179534" cy="3307742"/>
          </a:xfrm>
          <a:prstGeom prst="rect">
            <a:avLst/>
          </a:prstGeom>
          <a:noFill/>
          <a:ln>
            <a:noFill/>
          </a:ln>
        </p:spPr>
        <p:txBody>
          <a:bodyPr anchorCtr="0" anchor="t" bIns="45700" lIns="91425" spcFirstLastPara="1" rIns="91425" wrap="square" tIns="45700">
            <a:noAutofit/>
          </a:bodyPr>
          <a:lstStyle/>
          <a:p>
            <a:pPr indent="-228600" lvl="0" marL="228600" rtl="0" algn="l">
              <a:lnSpc>
                <a:spcPct val="150000"/>
              </a:lnSpc>
              <a:spcBef>
                <a:spcPts val="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Đại hội đã thông qua </a:t>
            </a:r>
            <a:r>
              <a:rPr lang="en-US" sz="2400">
                <a:latin typeface="Times New Roman"/>
                <a:ea typeface="Times New Roman"/>
                <a:cs typeface="Times New Roman"/>
                <a:sym typeface="Times New Roman"/>
              </a:rPr>
              <a:t>Điều lệ (sửa đổi) của Đảng và bầu BCH TW Đảng gồm:</a:t>
            </a:r>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116 uỷ viên chính thức và 36 uỷ viên dự khuyết. </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Bộ Chính trị gồm 13 uỷ viên chính thức và 2 uỷ viên dự khuyết. </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Đồng chí Lê Duẩn được bầu lại làm Tổng Bí thư Ban Chấp hành Trung ương Đảng. </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Times New Roman"/>
              <a:buChar char="-"/>
            </a:pPr>
            <a:r>
              <a:rPr b="1" i="1" lang="en-US" sz="2400">
                <a:latin typeface="Times New Roman"/>
                <a:ea typeface="Times New Roman"/>
                <a:cs typeface="Times New Roman"/>
                <a:sym typeface="Times New Roman"/>
              </a:rPr>
              <a:t>Đại hội đại biểu toàn quốc lần thứ V </a:t>
            </a:r>
            <a:r>
              <a:rPr lang="en-US" sz="2400">
                <a:latin typeface="Times New Roman"/>
                <a:ea typeface="Times New Roman"/>
                <a:cs typeface="Times New Roman"/>
                <a:sym typeface="Times New Roman"/>
              </a:rPr>
              <a:t>đã có những tìm tòi đi trên con đường quá độ lên XHCN trước hết về mặt kinh tế. Nhưng vẫn còn những hạn chế như: chưa thấy được sự cần thiết phải duy trì nền kinh tế nhiều thành phần, chưa có những chính sách giải pháp cụ thể và đồng bộ để giải phóng các LLSX trong nông nghiệp</a:t>
            </a:r>
            <a:endParaRPr sz="2400">
              <a:latin typeface="Times New Roman"/>
              <a:ea typeface="Times New Roman"/>
              <a:cs typeface="Times New Roman"/>
              <a:sym typeface="Times New Roman"/>
            </a:endParaRPr>
          </a:p>
          <a:p>
            <a:pPr indent="-76200" lvl="0" marL="228600" rtl="0" algn="l">
              <a:lnSpc>
                <a:spcPct val="150000"/>
              </a:lnSpc>
              <a:spcBef>
                <a:spcPts val="100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76200" lvl="0" marL="22860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272" name="Google Shape;272;p2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idx="1" type="body"/>
          </p:nvPr>
        </p:nvSpPr>
        <p:spPr>
          <a:xfrm>
            <a:off x="890546" y="1443162"/>
            <a:ext cx="10829677" cy="423407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n-US" sz="2000">
                <a:latin typeface="Times New Roman"/>
                <a:ea typeface="Times New Roman"/>
                <a:cs typeface="Times New Roman"/>
                <a:sym typeface="Times New Roman"/>
              </a:rPr>
              <a:t>Tình hình khủng hoảng kinh tế - xã hội vẫn tiếp tục diễn ra theo chiều hướng ngày càng trầm trọng và có mặt rất gay gắt</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Hội nghị BCH TW Đảng lần 3 (12/1982) </a:t>
            </a:r>
            <a:endParaRPr/>
          </a:p>
          <a:p>
            <a:pPr indent="-228600" lvl="0" marL="228600" rtl="0" algn="l">
              <a:lnSpc>
                <a:spcPct val="90000"/>
              </a:lnSpc>
              <a:spcBef>
                <a:spcPts val="100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Hội nghị BCH TW Đảng lần 4 (6/1983)</a:t>
            </a:r>
            <a:endParaRPr/>
          </a:p>
          <a:p>
            <a:pPr indent="-228600" lvl="0" marL="228600" rtl="0" algn="l">
              <a:lnSpc>
                <a:spcPct val="90000"/>
              </a:lnSpc>
              <a:spcBef>
                <a:spcPts val="100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Hội nghị BCH TW Đảng lần 5 (12/1983) </a:t>
            </a:r>
            <a:endParaRPr/>
          </a:p>
          <a:p>
            <a:pPr indent="-228600" lvl="0" marL="228600" rtl="0" algn="l">
              <a:lnSpc>
                <a:spcPct val="90000"/>
              </a:lnSpc>
              <a:spcBef>
                <a:spcPts val="100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Hội nghị BCH TW Đảng lần 7 (12/1984) </a:t>
            </a:r>
            <a:endParaRPr/>
          </a:p>
          <a:p>
            <a:pPr indent="-228600" lvl="0" marL="228600" rtl="0" algn="l">
              <a:lnSpc>
                <a:spcPct val="90000"/>
              </a:lnSpc>
              <a:spcBef>
                <a:spcPts val="1000"/>
              </a:spcBef>
              <a:spcAft>
                <a:spcPts val="0"/>
              </a:spcAft>
              <a:buClr>
                <a:schemeClr val="dk1"/>
              </a:buClr>
              <a:buSzPts val="2000"/>
              <a:buFont typeface="Times New Roman"/>
              <a:buChar char="-"/>
            </a:pPr>
            <a:r>
              <a:rPr lang="en-US" sz="2000">
                <a:latin typeface="Times New Roman"/>
                <a:ea typeface="Times New Roman"/>
                <a:cs typeface="Times New Roman"/>
                <a:sym typeface="Times New Roman"/>
              </a:rPr>
              <a:t>Hội nghị BCH TW Đảng lần 8 (6/1985) </a:t>
            </a:r>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=&gt; Sau thời gian thực hiện các nghị quyết 6, 7, 8 của TW. Nền kinh tế nước ta đã đạt được một số tiến bộ: sản lượng lương thực năm 1985 tăng 400.000 tấn, tốc độ sản xuất nông nghiệp tăng 7.4%...</a:t>
            </a:r>
            <a:endParaRPr/>
          </a:p>
          <a:p>
            <a:pPr indent="-101600" lvl="0" marL="228600" rtl="0" algn="l">
              <a:lnSpc>
                <a:spcPct val="90000"/>
              </a:lnSpc>
              <a:spcBef>
                <a:spcPts val="1000"/>
              </a:spcBef>
              <a:spcAft>
                <a:spcPts val="0"/>
              </a:spcAft>
              <a:buClr>
                <a:schemeClr val="dk1"/>
              </a:buClr>
              <a:buSzPts val="2000"/>
              <a:buFont typeface="Calibri"/>
              <a:buNone/>
            </a:pPr>
            <a:r>
              <a:t/>
            </a:r>
            <a:endParaRPr sz="2000">
              <a:latin typeface="Times New Roman"/>
              <a:ea typeface="Times New Roman"/>
              <a:cs typeface="Times New Roman"/>
              <a:sym typeface="Times New Roman"/>
            </a:endParaRPr>
          </a:p>
        </p:txBody>
      </p:sp>
      <p:sp>
        <p:nvSpPr>
          <p:cNvPr id="278" name="Google Shape;278;p2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279" name="Google Shape;279;p27"/>
          <p:cNvSpPr txBox="1"/>
          <p:nvPr/>
        </p:nvSpPr>
        <p:spPr>
          <a:xfrm>
            <a:off x="1568394" y="432236"/>
            <a:ext cx="8060635" cy="587148"/>
          </a:xfrm>
          <a:prstGeom prst="rect">
            <a:avLst/>
          </a:prstGeom>
          <a:noFill/>
          <a:ln>
            <a:noFill/>
          </a:ln>
        </p:spPr>
        <p:txBody>
          <a:bodyPr anchorCtr="0" anchor="t" bIns="45700" lIns="91425" spcFirstLastPara="1" rIns="91425" wrap="square" tIns="45700">
            <a:spAutoFit/>
          </a:bodyPr>
          <a:lstStyle/>
          <a:p>
            <a:pPr indent="0" lvl="0" marL="457200" marR="0" rtl="0" algn="just">
              <a:lnSpc>
                <a:spcPct val="150000"/>
              </a:lnSpc>
              <a:spcBef>
                <a:spcPts val="0"/>
              </a:spcBef>
              <a:spcAft>
                <a:spcPts val="0"/>
              </a:spcAft>
              <a:buClr>
                <a:schemeClr val="dk1"/>
              </a:buClr>
              <a:buSzPts val="2400"/>
              <a:buFont typeface="Times New Roman"/>
              <a:buNone/>
            </a:pPr>
            <a:r>
              <a:rPr b="1" i="1" lang="en-US" sz="2400">
                <a:solidFill>
                  <a:schemeClr val="dk1"/>
                </a:solidFill>
                <a:latin typeface="Times New Roman"/>
                <a:ea typeface="Times New Roman"/>
                <a:cs typeface="Times New Roman"/>
                <a:sym typeface="Times New Roman"/>
              </a:rPr>
              <a:t>3.1.2.2. Các bước đột phá tiếp tục đổi mới kinh tế</a:t>
            </a:r>
            <a:endParaRPr b="1" sz="24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idx="1" type="body"/>
          </p:nvPr>
        </p:nvSpPr>
        <p:spPr>
          <a:xfrm>
            <a:off x="1144987" y="1633993"/>
            <a:ext cx="10209475" cy="4504414"/>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Tiếp tục thực hiện đổi mới BCH TW Đảng ra:</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+ 22/6/1985: chỉ thị Về việc cải tiến quản lý kinh tế, hoàn thiện cơ chế khoán sản phẩm cuối cùng đến nhóm và người lao động trong các hợp tác xã và tập đoàn sản xuất nông nghiệp</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+ 10/8/1985: nghị quyết số 28-NQ/TW Về việc phê chuẩn các phương án giá-lương-tiền</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Những thành tựu đạt được trong 5 năm đã tạo cho sự nghiệp cách mạng của nước ta những điều kiện mới để tiếp tục tiến lên. Đó là:</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Về kinh tế: đã chặn được đà giảm sút những năm trước</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Về văn hóa, giáo dục, y tế, TDTT: đã có những tiến bộ góp phần xây dựng nền văn hóa mới, con người mới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Cuộc chiến đấu bảo vệ tổ quốc: đã giành được những thắng lợi to lớn</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285" name="Google Shape;285;p2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idx="1" type="body"/>
          </p:nvPr>
        </p:nvSpPr>
        <p:spPr>
          <a:xfrm>
            <a:off x="2480806" y="516834"/>
            <a:ext cx="7951305" cy="223431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1800"/>
              <a:buNone/>
            </a:pPr>
            <a:r>
              <a:rPr lang="en-US" sz="1800">
                <a:solidFill>
                  <a:srgbClr val="FF0000"/>
                </a:solidFill>
                <a:latin typeface="Times New Roman"/>
                <a:ea typeface="Times New Roman"/>
                <a:cs typeface="Times New Roman"/>
                <a:sym typeface="Times New Roman"/>
              </a:rPr>
              <a:t>Tổng kết 10 năm 1975-1986, Đảng đã khẳng định 3 thành tựu </a:t>
            </a:r>
            <a:r>
              <a:rPr lang="en-US" sz="1800">
                <a:latin typeface="Times New Roman"/>
                <a:ea typeface="Times New Roman"/>
                <a:cs typeface="Times New Roman"/>
                <a:sym typeface="Times New Roman"/>
              </a:rPr>
              <a:t>nổi bật:</a:t>
            </a:r>
            <a:r>
              <a:rPr i="1" lang="en-US" sz="1800">
                <a:latin typeface="Times New Roman"/>
                <a:ea typeface="Times New Roman"/>
                <a:cs typeface="Times New Roman"/>
                <a:sym typeface="Times New Roman"/>
              </a:rPr>
              <a:t> </a:t>
            </a:r>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Thực hiện thắng lợi chủ trương thống nhất nước nhà về mặt Nhà nước</a:t>
            </a:r>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 Đạt được những thành tựu quan trọng trong xây dựng chủ nghĩa xã hội</a:t>
            </a:r>
            <a:endParaRPr/>
          </a:p>
          <a:p>
            <a:pPr indent="-228600" lvl="0" marL="228600" rtl="0" algn="just">
              <a:lnSpc>
                <a:spcPct val="90000"/>
              </a:lnSpc>
              <a:spcBef>
                <a:spcPts val="1000"/>
              </a:spcBef>
              <a:spcAft>
                <a:spcPts val="0"/>
              </a:spcAft>
              <a:buClr>
                <a:schemeClr val="dk1"/>
              </a:buClr>
              <a:buSzPts val="1800"/>
              <a:buFont typeface="Noto Sans Symbols"/>
              <a:buChar char="⮚"/>
            </a:pPr>
            <a:r>
              <a:rPr lang="en-US" sz="1800">
                <a:latin typeface="Times New Roman"/>
                <a:ea typeface="Times New Roman"/>
                <a:cs typeface="Times New Roman"/>
                <a:sym typeface="Times New Roman"/>
              </a:rPr>
              <a:t>Giành thắng lợi to lớn trong sự nghiệp bảo vệ Tổ quốc và làm nghĩa vụ quốc tế.</a:t>
            </a:r>
            <a:r>
              <a:rPr i="1" lang="en-US" sz="1800">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291" name="Google Shape;291;p2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pic>
        <p:nvPicPr>
          <p:cNvPr descr="Đường lối cách mạng Việt Nam (1975 - 1986) | Giáo dục chính trị" id="292" name="Google Shape;292;p29"/>
          <p:cNvPicPr preferRelativeResize="0"/>
          <p:nvPr/>
        </p:nvPicPr>
        <p:blipFill rotWithShape="1">
          <a:blip r:embed="rId3">
            <a:alphaModFix/>
          </a:blip>
          <a:srcRect b="0" l="0" r="0" t="0"/>
          <a:stretch/>
        </p:blipFill>
        <p:spPr>
          <a:xfrm>
            <a:off x="938004" y="4365266"/>
            <a:ext cx="3186733" cy="1912040"/>
          </a:xfrm>
          <a:prstGeom prst="rect">
            <a:avLst/>
          </a:prstGeom>
          <a:noFill/>
          <a:ln>
            <a:noFill/>
          </a:ln>
        </p:spPr>
      </p:pic>
      <p:pic>
        <p:nvPicPr>
          <p:cNvPr descr="Đổi mới năm 1986: Bài học từ đổi mới tư duy của Đảng" id="293" name="Google Shape;293;p29"/>
          <p:cNvPicPr preferRelativeResize="0"/>
          <p:nvPr/>
        </p:nvPicPr>
        <p:blipFill rotWithShape="1">
          <a:blip r:embed="rId4">
            <a:alphaModFix/>
          </a:blip>
          <a:srcRect b="0" l="0" r="0" t="0"/>
          <a:stretch/>
        </p:blipFill>
        <p:spPr>
          <a:xfrm>
            <a:off x="4295071" y="2838616"/>
            <a:ext cx="3498265" cy="2053589"/>
          </a:xfrm>
          <a:prstGeom prst="rect">
            <a:avLst/>
          </a:prstGeom>
          <a:noFill/>
          <a:ln>
            <a:noFill/>
          </a:ln>
        </p:spPr>
      </p:pic>
      <p:pic>
        <p:nvPicPr>
          <p:cNvPr descr="Thời bao cấp – Wikipedia tiếng Việt" id="294" name="Google Shape;294;p29"/>
          <p:cNvPicPr preferRelativeResize="0"/>
          <p:nvPr/>
        </p:nvPicPr>
        <p:blipFill rotWithShape="1">
          <a:blip r:embed="rId5">
            <a:alphaModFix/>
          </a:blip>
          <a:srcRect b="0" l="0" r="0" t="0"/>
          <a:stretch/>
        </p:blipFill>
        <p:spPr>
          <a:xfrm>
            <a:off x="7923765" y="2146363"/>
            <a:ext cx="2786642" cy="208729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idx="1" type="body"/>
          </p:nvPr>
        </p:nvSpPr>
        <p:spPr>
          <a:xfrm>
            <a:off x="628154" y="2926080"/>
            <a:ext cx="6305384" cy="341906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b="1" lang="en-US" sz="2000">
                <a:latin typeface="Times New Roman"/>
                <a:ea typeface="Times New Roman"/>
                <a:cs typeface="Times New Roman"/>
                <a:sym typeface="Times New Roman"/>
              </a:rPr>
              <a:t>Sơ lược đại hội:</a:t>
            </a:r>
            <a:endParaRPr/>
          </a:p>
          <a:p>
            <a:pPr indent="-228600" lvl="0" marL="228600" rtl="0" algn="l">
              <a:lnSpc>
                <a:spcPct val="90000"/>
              </a:lnSpc>
              <a:spcBef>
                <a:spcPts val="1000"/>
              </a:spcBef>
              <a:spcAft>
                <a:spcPts val="0"/>
              </a:spcAft>
              <a:buClr>
                <a:schemeClr val="dk1"/>
              </a:buClr>
              <a:buSzPts val="2000"/>
              <a:buFont typeface="Arial"/>
              <a:buNone/>
            </a:pPr>
            <a:r>
              <a:rPr i="1" lang="en-US" sz="2000">
                <a:latin typeface="Times New Roman"/>
                <a:ea typeface="Times New Roman"/>
                <a:cs typeface="Times New Roman"/>
                <a:sym typeface="Times New Roman"/>
              </a:rPr>
              <a:t>- ĐH họp </a:t>
            </a:r>
            <a:r>
              <a:rPr lang="en-US" sz="2000">
                <a:latin typeface="Times New Roman"/>
                <a:ea typeface="Times New Roman"/>
                <a:cs typeface="Times New Roman"/>
                <a:sym typeface="Times New Roman"/>
              </a:rPr>
              <a:t>từ 15-18/12/1986 </a:t>
            </a:r>
            <a:r>
              <a:rPr i="1" lang="en-US" sz="2000">
                <a:latin typeface="Times New Roman"/>
                <a:ea typeface="Times New Roman"/>
                <a:cs typeface="Times New Roman"/>
                <a:sym typeface="Times New Roman"/>
              </a:rPr>
              <a:t>tại Hà Nội</a:t>
            </a:r>
            <a:endParaRPr i="1"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i="1" lang="en-US" sz="2000">
                <a:latin typeface="Times New Roman"/>
                <a:ea typeface="Times New Roman"/>
                <a:cs typeface="Times New Roman"/>
                <a:sym typeface="Times New Roman"/>
              </a:rPr>
              <a:t>- Thành phần tham dự</a:t>
            </a:r>
            <a:r>
              <a:rPr lang="en-US" sz="2000">
                <a:latin typeface="Times New Roman"/>
                <a:ea typeface="Times New Roman"/>
                <a:cs typeface="Times New Roman"/>
                <a:sym typeface="Times New Roman"/>
              </a:rPr>
              <a:t>: 1.129 đại biểu thay mặt cho gần 1.9 triệu đảng viên cả nước và 32 đòan đại biểu của các đảng và tổ chức quốc tế</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ĐH thông qua:</a:t>
            </a:r>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Báo cáo chính trị</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Báo cáo về phương hướng, mục tiêu chủ yếu phát triển kinh tế xã hội trong 5 năm 1986 - 1990</a:t>
            </a:r>
            <a:endParaRPr/>
          </a:p>
          <a:p>
            <a:pPr indent="-101600" lvl="0" marL="228600" rtl="0" algn="l">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300" name="Google Shape;300;p3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301" name="Google Shape;301;p30"/>
          <p:cNvSpPr txBox="1"/>
          <p:nvPr/>
        </p:nvSpPr>
        <p:spPr>
          <a:xfrm>
            <a:off x="1804946" y="546430"/>
            <a:ext cx="10026595" cy="2351285"/>
          </a:xfrm>
          <a:prstGeom prst="rect">
            <a:avLst/>
          </a:prstGeom>
          <a:noFill/>
          <a:ln>
            <a:noFill/>
          </a:ln>
        </p:spPr>
        <p:txBody>
          <a:bodyPr anchorCtr="0" anchor="t" bIns="45700" lIns="91425" spcFirstLastPara="1" rIns="91425" wrap="square" tIns="45700">
            <a:spAutoFit/>
          </a:bodyPr>
          <a:lstStyle/>
          <a:p>
            <a:pPr indent="457200" lvl="0" marL="0" marR="0" rtl="0" algn="just">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3.2. ĐẢNG LÃNH ĐẠO CÔNG CUỘC ĐỔI MỚI, ĐẨY MẠNH CÔNG NGHIỆP HOÁ, HIỆN ĐẠI HOÁ VÀ HỘI NHẬP QUỐC TẾ (1986-2018)</a:t>
            </a:r>
            <a:endParaRPr sz="1600">
              <a:solidFill>
                <a:schemeClr val="dk1"/>
              </a:solidFill>
              <a:latin typeface="Calibri"/>
              <a:ea typeface="Calibri"/>
              <a:cs typeface="Calibri"/>
              <a:sym typeface="Calibri"/>
            </a:endParaRPr>
          </a:p>
          <a:p>
            <a:pPr indent="457200" lvl="0" marL="0" marR="0" rtl="0" algn="just">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3.2.1. Đổi mới toàn diện, đưa đất nước ra khỏi khủng hoảng kinh tế - xã hội (1986-1991)</a:t>
            </a:r>
            <a:endParaRPr sz="1600">
              <a:solidFill>
                <a:schemeClr val="dk1"/>
              </a:solidFill>
              <a:latin typeface="Calibri"/>
              <a:ea typeface="Calibri"/>
              <a:cs typeface="Calibri"/>
              <a:sym typeface="Calibri"/>
            </a:endParaRPr>
          </a:p>
          <a:p>
            <a:pPr indent="457200" lvl="0" marL="457200" marR="0" rtl="0" algn="just">
              <a:lnSpc>
                <a:spcPct val="150000"/>
              </a:lnSpc>
              <a:spcBef>
                <a:spcPts val="0"/>
              </a:spcBef>
              <a:spcAft>
                <a:spcPts val="0"/>
              </a:spcAft>
              <a:buNone/>
            </a:pPr>
            <a:r>
              <a:rPr i="1" lang="en-US" sz="2000">
                <a:solidFill>
                  <a:schemeClr val="dk1"/>
                </a:solidFill>
                <a:latin typeface="Times New Roman"/>
                <a:ea typeface="Times New Roman"/>
                <a:cs typeface="Times New Roman"/>
                <a:sym typeface="Times New Roman"/>
              </a:rPr>
              <a:t>3.2.1.1. Đại hội VI và bước đầu đổi mới (1986-1991)</a:t>
            </a:r>
            <a:endParaRPr sz="1600">
              <a:solidFill>
                <a:schemeClr val="dk1"/>
              </a:solidFill>
              <a:latin typeface="Calibri"/>
              <a:ea typeface="Calibri"/>
              <a:cs typeface="Calibri"/>
              <a:sym typeface="Calibri"/>
            </a:endParaRPr>
          </a:p>
        </p:txBody>
      </p:sp>
      <p:pic>
        <p:nvPicPr>
          <p:cNvPr descr="Tuổi 90 của một đảng cầm quyền" id="302" name="Google Shape;302;p30"/>
          <p:cNvPicPr preferRelativeResize="0"/>
          <p:nvPr/>
        </p:nvPicPr>
        <p:blipFill rotWithShape="1">
          <a:blip r:embed="rId3">
            <a:alphaModFix/>
          </a:blip>
          <a:srcRect b="0" l="0" r="0" t="0"/>
          <a:stretch/>
        </p:blipFill>
        <p:spPr>
          <a:xfrm>
            <a:off x="7219785" y="3037399"/>
            <a:ext cx="4635610" cy="322822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txBox="1"/>
          <p:nvPr>
            <p:ph idx="1" type="body"/>
          </p:nvPr>
        </p:nvSpPr>
        <p:spPr>
          <a:xfrm>
            <a:off x="535709" y="1646380"/>
            <a:ext cx="6539346" cy="495300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Font typeface="Arial"/>
              <a:buChar char="•"/>
            </a:pPr>
            <a:r>
              <a:rPr b="1" lang="en-US" sz="2400">
                <a:latin typeface="Times New Roman"/>
                <a:ea typeface="Times New Roman"/>
                <a:cs typeface="Times New Roman"/>
                <a:sym typeface="Times New Roman"/>
              </a:rPr>
              <a:t>Nội dung Đại hội:</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Báo cáo chính trị</a:t>
            </a:r>
            <a:r>
              <a:rPr lang="en-US" sz="2400">
                <a:latin typeface="Times New Roman"/>
                <a:ea typeface="Times New Roman"/>
                <a:cs typeface="Times New Roman"/>
                <a:sym typeface="Times New Roman"/>
              </a:rPr>
              <a:t>: tổng kết thành 4 bài học lớn</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Một là: trong toàn bộ hoạt động của mình, Đảng phải quán triệt tư tưởng “lấy dân làm gốc”</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Hai là: Đảng phải luôn xuất phát từ thực tế, tôn trọng và hành động theo quy luật khách quan</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Ba là: phải biết kết hợp sức mạnh dân tộc với sức mạnh thời đại trong điều kiện mới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Bốn là: chăm lo xây dựng đảng ngang tầm với một đảng cầm quyền lãnh đạo nhân dân tiến hành cuộc cách mạng XHCN</a:t>
            </a:r>
            <a:endParaRPr/>
          </a:p>
          <a:p>
            <a:pPr indent="-762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pic>
        <p:nvPicPr>
          <p:cNvPr descr="E:\_Chi-tho\hinh DH X\hinh ls\VI.bmp" id="308" name="Google Shape;308;p31"/>
          <p:cNvPicPr preferRelativeResize="0"/>
          <p:nvPr/>
        </p:nvPicPr>
        <p:blipFill rotWithShape="1">
          <a:blip r:embed="rId3">
            <a:alphaModFix/>
          </a:blip>
          <a:srcRect b="0" l="0" r="0" t="0"/>
          <a:stretch/>
        </p:blipFill>
        <p:spPr>
          <a:xfrm>
            <a:off x="7118350" y="1185546"/>
            <a:ext cx="4759614" cy="4291618"/>
          </a:xfrm>
          <a:prstGeom prst="rect">
            <a:avLst/>
          </a:prstGeom>
          <a:noFill/>
          <a:ln>
            <a:noFill/>
          </a:ln>
        </p:spPr>
      </p:pic>
      <p:sp>
        <p:nvSpPr>
          <p:cNvPr id="309" name="Google Shape;309;p31"/>
          <p:cNvSpPr txBox="1"/>
          <p:nvPr/>
        </p:nvSpPr>
        <p:spPr>
          <a:xfrm>
            <a:off x="8377383" y="5777346"/>
            <a:ext cx="26765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thứ VI</a:t>
            </a:r>
            <a:endParaRPr/>
          </a:p>
        </p:txBody>
      </p:sp>
      <p:sp>
        <p:nvSpPr>
          <p:cNvPr id="310" name="Google Shape;310;p3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idx="1" type="body"/>
          </p:nvPr>
        </p:nvSpPr>
        <p:spPr>
          <a:xfrm>
            <a:off x="488403" y="1336060"/>
            <a:ext cx="11564009" cy="4750704"/>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b="1" i="1" lang="en-US" sz="2000">
                <a:latin typeface="Times New Roman"/>
                <a:ea typeface="Times New Roman"/>
                <a:cs typeface="Times New Roman"/>
                <a:sym typeface="Times New Roman"/>
              </a:rPr>
              <a:t>Nhiệm vụ bao trùm, mục tiêu tổng quát:</a:t>
            </a:r>
            <a:endParaRPr/>
          </a:p>
          <a:p>
            <a:pPr indent="-228600" lvl="0" marL="228600" rtl="0" algn="just">
              <a:lnSpc>
                <a:spcPct val="90000"/>
              </a:lnSpc>
              <a:spcBef>
                <a:spcPts val="1000"/>
              </a:spcBef>
              <a:spcAft>
                <a:spcPts val="0"/>
              </a:spcAft>
              <a:buClr>
                <a:schemeClr val="dk1"/>
              </a:buClr>
              <a:buSzPts val="2000"/>
              <a:buFont typeface="Times New Roman"/>
              <a:buChar char="-"/>
            </a:pPr>
            <a:r>
              <a:rPr i="1" lang="en-US" sz="2000">
                <a:latin typeface="Times New Roman"/>
                <a:ea typeface="Times New Roman"/>
                <a:cs typeface="Times New Roman"/>
                <a:sym typeface="Times New Roman"/>
              </a:rPr>
              <a:t>Mục tiêu kinh tế - xã hội: </a:t>
            </a:r>
            <a:r>
              <a:rPr lang="en-US" sz="2000">
                <a:latin typeface="Times New Roman"/>
                <a:ea typeface="Times New Roman"/>
                <a:cs typeface="Times New Roman"/>
                <a:sym typeface="Times New Roman"/>
              </a:rPr>
              <a:t>mục tiêu cụ thể cho những năm còn lại của chặng đường đầu tiên:</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Sản xuất đủ tiêu dùng và có tích lũy</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Bước đầu tạo ra cơ cấu kinh tế hợp lý nhằm phát triển sản xuất</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Xây dựng và hoàn thiện một bước QHSX mới phù hợp với tính chất và trình độ phát triển của LLSX</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Tạo chuyển biến tôt về mặt xã hội</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Đảm bảo nhu cầu củng cố quốc phòng an ninh</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Times New Roman"/>
              <a:buChar char="-"/>
            </a:pPr>
            <a:r>
              <a:rPr i="1" lang="en-US" sz="2000">
                <a:latin typeface="Times New Roman"/>
                <a:ea typeface="Times New Roman"/>
                <a:cs typeface="Times New Roman"/>
                <a:sym typeface="Times New Roman"/>
              </a:rPr>
              <a:t>Phương hướng:</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Bố trí lại cơ cấu sản xuất, điều chỉnh lại cơ cấu đầu tư</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Xóa bỏ kinh tế bao cấp, thực hiện cơ cấu kinh tế nhiều thành phần (5 thành phần). Xây dựng và củng cố quan hệ sản xuất XHCN, sử dụng và cải tạo đúng đắn các thành phần kinh tế</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t/>
            </a:r>
            <a:endParaRPr i="1" sz="2000">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Font typeface="Calibri"/>
              <a:buNone/>
            </a:pPr>
            <a:r>
              <a:t/>
            </a:r>
            <a:endParaRPr i="1"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Font typeface="Calibri"/>
              <a:buNone/>
            </a:pPr>
            <a:r>
              <a:t/>
            </a:r>
            <a:endParaRPr sz="2000">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316" name="Google Shape;316;p3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ph idx="1" type="body"/>
          </p:nvPr>
        </p:nvSpPr>
        <p:spPr>
          <a:xfrm>
            <a:off x="691763" y="1731816"/>
            <a:ext cx="11241619" cy="460432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lang="en-US" sz="2400">
                <a:latin typeface="Times New Roman"/>
                <a:ea typeface="Times New Roman"/>
                <a:cs typeface="Times New Roman"/>
                <a:sym typeface="Times New Roman"/>
              </a:rPr>
              <a:t>+ Đổi mới về cơ chế quản lý kinh tế: cơ chế kinh tế thị trường có sự quản lý của nhà nước theo định hướng XHCN. Xóa bỏ cơ chế tập trung quan liêu bao cấp</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Phát huy yếu tố khoa học – kỹ thuật</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Mở rộng và nâng cao hiệu quả kinh tế đối ngoại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Giải pháp: </a:t>
            </a:r>
            <a:r>
              <a:rPr lang="en-US" sz="2400">
                <a:latin typeface="Times New Roman"/>
                <a:ea typeface="Times New Roman"/>
                <a:cs typeface="Times New Roman"/>
                <a:sym typeface="Times New Roman"/>
              </a:rPr>
              <a:t>thực hiện 3 chủ trương kinh tế</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Sản xuất lương thực, thực phẩm</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Sản xuất hàng tiêu dùng</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sản xuát hàng xuất khẩu</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Đối ngoại: </a:t>
            </a:r>
            <a:endParaRPr/>
          </a:p>
          <a:p>
            <a:pPr indent="-228600" lvl="0" marL="228600" rtl="0" algn="just">
              <a:lnSpc>
                <a:spcPct val="90000"/>
              </a:lnSpc>
              <a:spcBef>
                <a:spcPts val="1000"/>
              </a:spcBef>
              <a:spcAft>
                <a:spcPts val="0"/>
              </a:spcAft>
              <a:buClr>
                <a:schemeClr val="dk1"/>
              </a:buClr>
              <a:buSzPts val="2400"/>
              <a:buFont typeface="Arial"/>
              <a:buNone/>
            </a:pPr>
            <a:r>
              <a:rPr i="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Nhiệm vụ của chính sách đối ngoại là:</a:t>
            </a:r>
            <a:endParaRPr i="1" sz="2400">
              <a:latin typeface="Times New Roman"/>
              <a:ea typeface="Times New Roman"/>
              <a:cs typeface="Times New Roman"/>
              <a:sym typeface="Times New Roman"/>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322" name="Google Shape;322;p3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ph idx="1" type="body"/>
          </p:nvPr>
        </p:nvSpPr>
        <p:spPr>
          <a:xfrm>
            <a:off x="604300" y="1357743"/>
            <a:ext cx="8475046" cy="4860177"/>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Chính trị:</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Về huy động sức mạnh của quần chúng: phải dựa vào phương châm “ dân biết, dân bàn, dân làm, dân kiểm tra”</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về xây dựng đảng: để tăng cường sức chiến đấu và năng lực tổ chức thực hiện của Đảng, phải đổi mới về nhiều mặt: tư duy, tổ chức, đội ngũ cán bộ, phong cách lãnh đạo và công tác.</a:t>
            </a:r>
            <a:endParaRPr/>
          </a:p>
          <a:p>
            <a:pPr indent="-228600" lvl="0" marL="228600" rtl="0" algn="just">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ĐH thông qua </a:t>
            </a:r>
            <a:r>
              <a:rPr lang="en-US" sz="2400">
                <a:latin typeface="Times New Roman"/>
                <a:ea typeface="Times New Roman"/>
                <a:cs typeface="Times New Roman"/>
                <a:sym typeface="Times New Roman"/>
              </a:rPr>
              <a:t>bản điều lệ Đảng (sửa đổi) và bầu BCH TW gồm: 124 ủy viên chính thức và 49 ủy viên dự khuyết.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Bộ chính trị gồm 13 ủy viên chính thức và 1 ủy viên dự khuyết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Ban bí thư gồm 13 đồng chí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Đ/c Nguyễn Văn Linh được bầu làm Tổng bí thư của Đảng</a:t>
            </a:r>
            <a:endParaRPr sz="2400">
              <a:latin typeface="Times New Roman"/>
              <a:ea typeface="Times New Roman"/>
              <a:cs typeface="Times New Roman"/>
              <a:sym typeface="Times New Roman"/>
            </a:endParaRPr>
          </a:p>
        </p:txBody>
      </p:sp>
      <p:pic>
        <p:nvPicPr>
          <p:cNvPr descr="NguyenVanLinh" id="328" name="Google Shape;328;p34"/>
          <p:cNvPicPr preferRelativeResize="0"/>
          <p:nvPr/>
        </p:nvPicPr>
        <p:blipFill rotWithShape="1">
          <a:blip r:embed="rId3">
            <a:alphaModFix/>
          </a:blip>
          <a:srcRect b="0" l="0" r="0" t="0"/>
          <a:stretch/>
        </p:blipFill>
        <p:spPr>
          <a:xfrm>
            <a:off x="9291781" y="1791855"/>
            <a:ext cx="2567710" cy="3325090"/>
          </a:xfrm>
          <a:prstGeom prst="rect">
            <a:avLst/>
          </a:prstGeom>
          <a:noFill/>
          <a:ln>
            <a:noFill/>
          </a:ln>
        </p:spPr>
      </p:pic>
      <p:sp>
        <p:nvSpPr>
          <p:cNvPr id="329" name="Google Shape;329;p34"/>
          <p:cNvSpPr txBox="1"/>
          <p:nvPr/>
        </p:nvSpPr>
        <p:spPr>
          <a:xfrm>
            <a:off x="9545783" y="5336310"/>
            <a:ext cx="236475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Đ/c Nguyễn Văn Linh</a:t>
            </a:r>
            <a:endParaRPr sz="2000">
              <a:solidFill>
                <a:srgbClr val="0000CC"/>
              </a:solidFill>
              <a:latin typeface="Calibri"/>
              <a:ea typeface="Calibri"/>
              <a:cs typeface="Calibri"/>
              <a:sym typeface="Calibri"/>
            </a:endParaRPr>
          </a:p>
        </p:txBody>
      </p:sp>
      <p:sp>
        <p:nvSpPr>
          <p:cNvPr id="330" name="Google Shape;330;p3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5"/>
          <p:cNvSpPr txBox="1"/>
          <p:nvPr>
            <p:ph idx="1" type="body"/>
          </p:nvPr>
        </p:nvSpPr>
        <p:spPr>
          <a:xfrm>
            <a:off x="604300" y="1280161"/>
            <a:ext cx="5128592" cy="4913906"/>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50000"/>
              </a:lnSpc>
              <a:spcBef>
                <a:spcPts val="0"/>
              </a:spcBef>
              <a:spcAft>
                <a:spcPts val="0"/>
              </a:spcAft>
              <a:buClr>
                <a:schemeClr val="dk1"/>
              </a:buClr>
              <a:buSzPts val="2400"/>
              <a:buFont typeface="Arial"/>
              <a:buNone/>
            </a:pPr>
            <a:r>
              <a:rPr b="1" lang="en-US" sz="2400">
                <a:latin typeface="Times New Roman"/>
                <a:ea typeface="Times New Roman"/>
                <a:cs typeface="Times New Roman"/>
                <a:sym typeface="Times New Roman"/>
              </a:rPr>
              <a:t>-   Đánh giá: </a:t>
            </a:r>
            <a:r>
              <a:rPr lang="en-US" sz="2400">
                <a:latin typeface="Times New Roman"/>
                <a:ea typeface="Times New Roman"/>
                <a:cs typeface="Times New Roman"/>
                <a:sym typeface="Times New Roman"/>
              </a:rPr>
              <a:t>ĐH VI đã tìm ra lối thoát cho cuộc khủng hoảng kinh tế - xã hội, thể hiện quan điểm đổi mới toàn diện đất nước, đặt nền tảng cho việc tìm ra con đường thích hợp đi lên CNXH ở Việt Nam</a:t>
            </a:r>
            <a:endParaRPr/>
          </a:p>
          <a:p>
            <a:pPr indent="-228600" lvl="0" marL="228600" rtl="0" algn="just">
              <a:lnSpc>
                <a:spcPct val="150000"/>
              </a:lnSpc>
              <a:spcBef>
                <a:spcPts val="1000"/>
              </a:spcBef>
              <a:spcAft>
                <a:spcPts val="0"/>
              </a:spcAft>
              <a:buClr>
                <a:schemeClr val="dk1"/>
              </a:buClr>
              <a:buSzPts val="2400"/>
              <a:buFont typeface="Arial"/>
              <a:buNone/>
            </a:pPr>
            <a:r>
              <a:rPr i="1" lang="en-US" sz="2400">
                <a:latin typeface="Times New Roman"/>
                <a:ea typeface="Times New Roman"/>
                <a:cs typeface="Times New Roman"/>
                <a:sym typeface="Times New Roman"/>
              </a:rPr>
              <a:t>-   Hạn chế: </a:t>
            </a:r>
            <a:r>
              <a:rPr lang="en-US" sz="2400">
                <a:latin typeface="Times New Roman"/>
                <a:ea typeface="Times New Roman"/>
                <a:cs typeface="Times New Roman"/>
                <a:sym typeface="Times New Roman"/>
              </a:rPr>
              <a:t>về những giải pháp tháo gỡ tình trạng rối ren trong phân phối lưu thông</a:t>
            </a:r>
            <a:endParaRPr sz="2400">
              <a:latin typeface="Times New Roman"/>
              <a:ea typeface="Times New Roman"/>
              <a:cs typeface="Times New Roman"/>
              <a:sym typeface="Times New Roman"/>
            </a:endParaRPr>
          </a:p>
          <a:p>
            <a:pPr indent="-76200" lvl="0" marL="228600" rtl="0" algn="just">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336" name="Google Shape;336;p3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pic>
        <p:nvPicPr>
          <p:cNvPr descr="[Infographics] Dai hoi Dang lan thu VI: Quyet tam doi moi hinh anh 1" id="337" name="Google Shape;337;p35"/>
          <p:cNvPicPr preferRelativeResize="0"/>
          <p:nvPr/>
        </p:nvPicPr>
        <p:blipFill rotWithShape="1">
          <a:blip r:embed="rId3">
            <a:alphaModFix/>
          </a:blip>
          <a:srcRect b="0" l="0" r="0" t="0"/>
          <a:stretch/>
        </p:blipFill>
        <p:spPr>
          <a:xfrm>
            <a:off x="6090698" y="127221"/>
            <a:ext cx="5844210" cy="641670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6"/>
          <p:cNvSpPr txBox="1"/>
          <p:nvPr>
            <p:ph idx="1" type="body"/>
          </p:nvPr>
        </p:nvSpPr>
        <p:spPr>
          <a:xfrm>
            <a:off x="665018" y="2132155"/>
            <a:ext cx="6169891" cy="413096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Arial"/>
              <a:buChar char="•"/>
            </a:pPr>
            <a:r>
              <a:rPr b="1" lang="en-US"/>
              <a:t>Sơ lược đại hội:</a:t>
            </a:r>
            <a:endParaRPr/>
          </a:p>
          <a:p>
            <a:pPr indent="-228600" lvl="0" marL="228600" rtl="0" algn="just">
              <a:lnSpc>
                <a:spcPct val="90000"/>
              </a:lnSpc>
              <a:spcBef>
                <a:spcPts val="1000"/>
              </a:spcBef>
              <a:spcAft>
                <a:spcPts val="0"/>
              </a:spcAft>
              <a:buClr>
                <a:schemeClr val="dk1"/>
              </a:buClr>
              <a:buSzPts val="2800"/>
              <a:buFont typeface="Arial"/>
              <a:buNone/>
            </a:pPr>
            <a:r>
              <a:rPr lang="en-US"/>
              <a:t>-   </a:t>
            </a:r>
            <a:r>
              <a:rPr i="1" lang="en-US"/>
              <a:t>ĐH họp</a:t>
            </a:r>
            <a:r>
              <a:rPr lang="en-US"/>
              <a:t> từ 24-27/6/1991 </a:t>
            </a:r>
            <a:r>
              <a:rPr i="1" lang="en-US"/>
              <a:t>tại Hà Nội</a:t>
            </a:r>
            <a:endParaRPr i="1"/>
          </a:p>
          <a:p>
            <a:pPr indent="-228600" lvl="0" marL="228600" rtl="0" algn="just">
              <a:lnSpc>
                <a:spcPct val="90000"/>
              </a:lnSpc>
              <a:spcBef>
                <a:spcPts val="1000"/>
              </a:spcBef>
              <a:spcAft>
                <a:spcPts val="0"/>
              </a:spcAft>
              <a:buClr>
                <a:schemeClr val="dk1"/>
              </a:buClr>
              <a:buSzPts val="2800"/>
              <a:buFont typeface="Calibri"/>
              <a:buChar char="-"/>
            </a:pPr>
            <a:r>
              <a:rPr i="1" lang="en-US"/>
              <a:t>Thành phần tham dự: </a:t>
            </a:r>
            <a:r>
              <a:rPr lang="en-US"/>
              <a:t>1.176 đại biểu thay mặt cho hơn 2 triệu đảng viên trong cả nước, các đoàn đại biểu và quan khách quốc tế</a:t>
            </a:r>
            <a:endParaRPr/>
          </a:p>
          <a:p>
            <a:pPr indent="-228600" lvl="0" marL="228600" rtl="0" algn="just">
              <a:lnSpc>
                <a:spcPct val="90000"/>
              </a:lnSpc>
              <a:spcBef>
                <a:spcPts val="1000"/>
              </a:spcBef>
              <a:spcAft>
                <a:spcPts val="0"/>
              </a:spcAft>
              <a:buClr>
                <a:schemeClr val="dk1"/>
              </a:buClr>
              <a:buSzPts val="2800"/>
              <a:buFont typeface="Calibri"/>
              <a:buChar char="-"/>
            </a:pPr>
            <a:r>
              <a:rPr lang="en-US"/>
              <a:t>ĐH diễn ra trong bối cảnh quốc tế phức tạp</a:t>
            </a:r>
            <a:endParaRPr i="1" u="sng"/>
          </a:p>
          <a:p>
            <a:pPr indent="-514350" lvl="0" marL="514350" rtl="0" algn="just">
              <a:lnSpc>
                <a:spcPct val="90000"/>
              </a:lnSpc>
              <a:spcBef>
                <a:spcPts val="1000"/>
              </a:spcBef>
              <a:spcAft>
                <a:spcPts val="0"/>
              </a:spcAft>
              <a:buClr>
                <a:schemeClr val="dk1"/>
              </a:buClr>
              <a:buSzPts val="2800"/>
              <a:buNone/>
            </a:pPr>
            <a:r>
              <a:t/>
            </a:r>
            <a:endParaRPr/>
          </a:p>
        </p:txBody>
      </p:sp>
      <p:pic>
        <p:nvPicPr>
          <p:cNvPr descr="E:\_Chi-tho\hinh DH X\hinh ls\VII.bmp" id="343" name="Google Shape;343;p36"/>
          <p:cNvPicPr preferRelativeResize="0"/>
          <p:nvPr/>
        </p:nvPicPr>
        <p:blipFill rotWithShape="1">
          <a:blip r:embed="rId3">
            <a:alphaModFix/>
          </a:blip>
          <a:srcRect b="0" l="0" r="0" t="0"/>
          <a:stretch/>
        </p:blipFill>
        <p:spPr>
          <a:xfrm>
            <a:off x="7601446" y="2552369"/>
            <a:ext cx="3983603" cy="2934031"/>
          </a:xfrm>
          <a:prstGeom prst="rect">
            <a:avLst/>
          </a:prstGeom>
          <a:noFill/>
          <a:ln>
            <a:noFill/>
          </a:ln>
        </p:spPr>
      </p:pic>
      <p:sp>
        <p:nvSpPr>
          <p:cNvPr id="344" name="Google Shape;344;p36"/>
          <p:cNvSpPr txBox="1"/>
          <p:nvPr/>
        </p:nvSpPr>
        <p:spPr>
          <a:xfrm>
            <a:off x="8153200" y="5789553"/>
            <a:ext cx="265008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thứ VII</a:t>
            </a:r>
            <a:endParaRPr/>
          </a:p>
        </p:txBody>
      </p:sp>
      <p:sp>
        <p:nvSpPr>
          <p:cNvPr id="345" name="Google Shape;345;p3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346" name="Google Shape;346;p36"/>
          <p:cNvSpPr txBox="1"/>
          <p:nvPr/>
        </p:nvSpPr>
        <p:spPr>
          <a:xfrm>
            <a:off x="2323769" y="424420"/>
            <a:ext cx="9507772" cy="1089657"/>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lang="en-US" sz="2800">
                <a:solidFill>
                  <a:srgbClr val="FF0000"/>
                </a:solidFill>
                <a:latin typeface="Times New Roman"/>
                <a:ea typeface="Times New Roman"/>
                <a:cs typeface="Times New Roman"/>
                <a:sym typeface="Times New Roman"/>
              </a:rPr>
              <a:t>Đại hội đại biểu toàn quốc lần thứ VII và Cương lĩnh xây dựng đất nước trong thời kỳ quá độ lên chủ nghĩa xã hội</a:t>
            </a:r>
            <a:endParaRPr b="1" sz="2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7"/>
          <p:cNvSpPr txBox="1"/>
          <p:nvPr>
            <p:ph idx="1" type="body"/>
          </p:nvPr>
        </p:nvSpPr>
        <p:spPr>
          <a:xfrm>
            <a:off x="7267492" y="1353866"/>
            <a:ext cx="4524292" cy="41910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400"/>
              <a:buNone/>
            </a:pPr>
            <a:r>
              <a:rPr i="1" lang="en-US" sz="2400">
                <a:latin typeface="Times New Roman"/>
                <a:ea typeface="Times New Roman"/>
                <a:cs typeface="Times New Roman"/>
                <a:sym typeface="Times New Roman"/>
              </a:rPr>
              <a:t>ĐH đã thông qua:</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chính trị của BCH TW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Cương lĩnh xây dựng đất nước trong thời kỳ quá độ lên CNXH</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Chiến lược ổn định và phát triển kinh tế - xã hội đến năm 2000</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xây dựng Đảng và sửa đổi điều lệ Đảng</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Kiểm điểm đánh giá của BCH TW khóa VI</a:t>
            </a:r>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352" name="Google Shape;352;p3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pic>
        <p:nvPicPr>
          <p:cNvPr descr="Đại hội đại biểu toàn quốc lần thứ VII | Đảng Cộng sản Việt Nam - Đại hội  XIII" id="353" name="Google Shape;353;p37"/>
          <p:cNvPicPr preferRelativeResize="0"/>
          <p:nvPr/>
        </p:nvPicPr>
        <p:blipFill rotWithShape="1">
          <a:blip r:embed="rId3">
            <a:alphaModFix/>
          </a:blip>
          <a:srcRect b="0" l="0" r="0" t="0"/>
          <a:stretch/>
        </p:blipFill>
        <p:spPr>
          <a:xfrm>
            <a:off x="270345" y="262393"/>
            <a:ext cx="6941488" cy="626562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8"/>
          <p:cNvSpPr txBox="1"/>
          <p:nvPr>
            <p:ph idx="1" type="body"/>
          </p:nvPr>
        </p:nvSpPr>
        <p:spPr>
          <a:xfrm>
            <a:off x="770965" y="1501588"/>
            <a:ext cx="10990729" cy="43434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400"/>
              <a:buNone/>
            </a:pPr>
            <a:r>
              <a:rPr b="1" lang="en-US" sz="2400">
                <a:latin typeface="Times New Roman"/>
                <a:ea typeface="Times New Roman"/>
                <a:cs typeface="Times New Roman"/>
                <a:sym typeface="Times New Roman"/>
              </a:rPr>
              <a:t>				Nội dung Đại hội VII:</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Báo cáo chính trị: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Khẳng định công cuộc đổi mới đã đạt được những thành tựu bước đầu quan trọng, song còn nhiều khó khăn, yếu kém, đất nước vẫn chưa ra khỏi khủng hoảng kinh tế - xã hội, nhiều vấn đề kinh tế-xã hội nóng bỏng chưa được giải quyết</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Phương hướng, nhiệm vụ chủ yếu của 5 năm tới (1991-1995) với mục tiêu tổng quát là:</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Vượt qua khó khăn thử thách, ổn định và phát triển kinh tế-xã hội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Tăng cường ổn định chính trị, đẩy lùi tiêu cực và bất công xã hội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Đưa nước ta cơ bản ra khỏi tình trạng khủng hoảng kinh tế-xã hội hiện nay</a:t>
            </a:r>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359" name="Google Shape;359;p3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365" name="Google Shape;365;p39"/>
          <p:cNvSpPr txBox="1"/>
          <p:nvPr/>
        </p:nvSpPr>
        <p:spPr>
          <a:xfrm>
            <a:off x="302150" y="1152527"/>
            <a:ext cx="11314706" cy="5262274"/>
          </a:xfrm>
          <a:prstGeom prst="rect">
            <a:avLst/>
          </a:prstGeom>
          <a:noFill/>
          <a:ln>
            <a:noFill/>
          </a:ln>
        </p:spPr>
        <p:txBody>
          <a:bodyPr anchorCtr="0" anchor="t" bIns="45700" lIns="91425" spcFirstLastPara="1" rIns="91425" wrap="square" tIns="45700">
            <a:spAutoFit/>
          </a:bodyPr>
          <a:lstStyle/>
          <a:p>
            <a:pPr indent="0" lvl="0" marL="0" marR="0" rtl="0" algn="just">
              <a:lnSpc>
                <a:spcPct val="120000"/>
              </a:lnSpc>
              <a:spcBef>
                <a:spcPts val="0"/>
              </a:spcBef>
              <a:spcAft>
                <a:spcPts val="0"/>
              </a:spcAft>
              <a:buNone/>
            </a:pPr>
            <a:r>
              <a:rPr i="1" lang="en-US" sz="2400">
                <a:solidFill>
                  <a:schemeClr val="dk1"/>
                </a:solidFill>
                <a:latin typeface="Times New Roman"/>
                <a:ea typeface="Times New Roman"/>
                <a:cs typeface="Times New Roman"/>
                <a:sym typeface="Times New Roman"/>
              </a:rPr>
              <a:t>Cương lĩnh xây dựng đất nước trong thời kỳ quá độ lên chủ nghĩa xã hội được</a:t>
            </a:r>
            <a:r>
              <a:rPr lang="en-US" sz="2400">
                <a:solidFill>
                  <a:schemeClr val="dk1"/>
                </a:solidFill>
                <a:latin typeface="Times New Roman"/>
                <a:ea typeface="Times New Roman"/>
                <a:cs typeface="Times New Roman"/>
                <a:sym typeface="Times New Roman"/>
              </a:rPr>
              <a:t> Đại hội VII thông qua (gọi tắt là Cương lĩnh năm 1991) đã tổng kết hơn 60 năm Đảng lãnh đạo cách mạng Việt Nam; chỉ ra những thành công, khuyết điểm, sai lầm và nêu ra năm bài học lớn. </a:t>
            </a:r>
            <a:endParaRPr/>
          </a:p>
          <a:p>
            <a:pPr indent="-285750" lvl="0" marL="285750" marR="0" rtl="0" algn="just">
              <a:lnSpc>
                <a:spcPct val="120000"/>
              </a:lnSpc>
              <a:spcBef>
                <a:spcPts val="1200"/>
              </a:spcBef>
              <a:spcAft>
                <a:spcPts val="0"/>
              </a:spcAft>
              <a:buClr>
                <a:schemeClr val="dk1"/>
              </a:buClr>
              <a:buSzPts val="2400"/>
              <a:buFont typeface="Noto Sans Symbols"/>
              <a:buChar char="⮚"/>
            </a:pPr>
            <a:r>
              <a:rPr i="1" lang="en-US" sz="2400">
                <a:solidFill>
                  <a:schemeClr val="dk1"/>
                </a:solidFill>
                <a:latin typeface="Times New Roman"/>
                <a:ea typeface="Times New Roman"/>
                <a:cs typeface="Times New Roman"/>
                <a:sym typeface="Times New Roman"/>
              </a:rPr>
              <a:t>Một là</a:t>
            </a:r>
            <a:r>
              <a:rPr lang="en-US" sz="2400">
                <a:solidFill>
                  <a:schemeClr val="dk1"/>
                </a:solidFill>
                <a:latin typeface="Times New Roman"/>
                <a:ea typeface="Times New Roman"/>
                <a:cs typeface="Times New Roman"/>
                <a:sym typeface="Times New Roman"/>
              </a:rPr>
              <a:t>, nắm vững ngọn cờ độc lập dân tộc và chủ nghĩa xã hội. </a:t>
            </a:r>
            <a:endParaRPr/>
          </a:p>
          <a:p>
            <a:pPr indent="-285750" lvl="0" marL="285750" marR="0" rtl="0" algn="just">
              <a:lnSpc>
                <a:spcPct val="120000"/>
              </a:lnSpc>
              <a:spcBef>
                <a:spcPts val="1200"/>
              </a:spcBef>
              <a:spcAft>
                <a:spcPts val="0"/>
              </a:spcAft>
              <a:buClr>
                <a:schemeClr val="dk1"/>
              </a:buClr>
              <a:buSzPts val="2400"/>
              <a:buFont typeface="Noto Sans Symbols"/>
              <a:buChar char="⮚"/>
            </a:pPr>
            <a:r>
              <a:rPr i="1" lang="en-US" sz="2400">
                <a:solidFill>
                  <a:schemeClr val="dk1"/>
                </a:solidFill>
                <a:latin typeface="Times New Roman"/>
                <a:ea typeface="Times New Roman"/>
                <a:cs typeface="Times New Roman"/>
                <a:sym typeface="Times New Roman"/>
              </a:rPr>
              <a:t>Hai là,</a:t>
            </a:r>
            <a:r>
              <a:rPr lang="en-US" sz="2400">
                <a:solidFill>
                  <a:schemeClr val="dk1"/>
                </a:solidFill>
                <a:latin typeface="Times New Roman"/>
                <a:ea typeface="Times New Roman"/>
                <a:cs typeface="Times New Roman"/>
                <a:sym typeface="Times New Roman"/>
              </a:rPr>
              <a:t> sự nghiệp cách mạng là của nhân dân, do nhân dân, vì nhân dân. </a:t>
            </a:r>
            <a:endParaRPr/>
          </a:p>
          <a:p>
            <a:pPr indent="-285750" lvl="0" marL="285750" marR="0" rtl="0" algn="just">
              <a:lnSpc>
                <a:spcPct val="120000"/>
              </a:lnSpc>
              <a:spcBef>
                <a:spcPts val="1200"/>
              </a:spcBef>
              <a:spcAft>
                <a:spcPts val="0"/>
              </a:spcAft>
              <a:buClr>
                <a:schemeClr val="dk1"/>
              </a:buClr>
              <a:buSzPts val="2400"/>
              <a:buFont typeface="Noto Sans Symbols"/>
              <a:buChar char="⮚"/>
            </a:pPr>
            <a:r>
              <a:rPr i="1" lang="en-US" sz="2400">
                <a:solidFill>
                  <a:schemeClr val="dk1"/>
                </a:solidFill>
                <a:latin typeface="Times New Roman"/>
                <a:ea typeface="Times New Roman"/>
                <a:cs typeface="Times New Roman"/>
                <a:sym typeface="Times New Roman"/>
              </a:rPr>
              <a:t>Ba là,</a:t>
            </a:r>
            <a:r>
              <a:rPr lang="en-US" sz="2400">
                <a:solidFill>
                  <a:schemeClr val="dk1"/>
                </a:solidFill>
                <a:latin typeface="Times New Roman"/>
                <a:ea typeface="Times New Roman"/>
                <a:cs typeface="Times New Roman"/>
                <a:sym typeface="Times New Roman"/>
              </a:rPr>
              <a:t> không ngừng củng cố, tăng cường đoàn kết: đoàn kết toàn Đảng, đoàn kết toàn dân, đoàn kết dân tộc, đoàn kết quốc tế. </a:t>
            </a:r>
            <a:endParaRPr/>
          </a:p>
          <a:p>
            <a:pPr indent="-285750" lvl="0" marL="285750" marR="0" rtl="0" algn="just">
              <a:lnSpc>
                <a:spcPct val="120000"/>
              </a:lnSpc>
              <a:spcBef>
                <a:spcPts val="1200"/>
              </a:spcBef>
              <a:spcAft>
                <a:spcPts val="0"/>
              </a:spcAft>
              <a:buClr>
                <a:schemeClr val="dk1"/>
              </a:buClr>
              <a:buSzPts val="2400"/>
              <a:buFont typeface="Noto Sans Symbols"/>
              <a:buChar char="⮚"/>
            </a:pPr>
            <a:r>
              <a:rPr i="1" lang="en-US" sz="2400">
                <a:solidFill>
                  <a:schemeClr val="dk1"/>
                </a:solidFill>
                <a:latin typeface="Times New Roman"/>
                <a:ea typeface="Times New Roman"/>
                <a:cs typeface="Times New Roman"/>
                <a:sym typeface="Times New Roman"/>
              </a:rPr>
              <a:t>Bốn là,</a:t>
            </a:r>
            <a:r>
              <a:rPr lang="en-US" sz="2400">
                <a:solidFill>
                  <a:schemeClr val="dk1"/>
                </a:solidFill>
                <a:latin typeface="Times New Roman"/>
                <a:ea typeface="Times New Roman"/>
                <a:cs typeface="Times New Roman"/>
                <a:sym typeface="Times New Roman"/>
              </a:rPr>
              <a:t> kết hợp sức mạnh dân tộc với sức mạnh thời đại. </a:t>
            </a:r>
            <a:endParaRPr/>
          </a:p>
          <a:p>
            <a:pPr indent="-285750" lvl="0" marL="285750" marR="0" rtl="0" algn="just">
              <a:lnSpc>
                <a:spcPct val="120000"/>
              </a:lnSpc>
              <a:spcBef>
                <a:spcPts val="1200"/>
              </a:spcBef>
              <a:spcAft>
                <a:spcPts val="0"/>
              </a:spcAft>
              <a:buClr>
                <a:schemeClr val="dk1"/>
              </a:buClr>
              <a:buSzPts val="2400"/>
              <a:buFont typeface="Noto Sans Symbols"/>
              <a:buChar char="⮚"/>
            </a:pPr>
            <a:r>
              <a:rPr i="1" lang="en-US" sz="2400">
                <a:solidFill>
                  <a:schemeClr val="dk1"/>
                </a:solidFill>
                <a:latin typeface="Times New Roman"/>
                <a:ea typeface="Times New Roman"/>
                <a:cs typeface="Times New Roman"/>
                <a:sym typeface="Times New Roman"/>
              </a:rPr>
              <a:t>Năm là,</a:t>
            </a:r>
            <a:r>
              <a:rPr lang="en-US" sz="2400">
                <a:solidFill>
                  <a:schemeClr val="dk1"/>
                </a:solidFill>
                <a:latin typeface="Times New Roman"/>
                <a:ea typeface="Times New Roman"/>
                <a:cs typeface="Times New Roman"/>
                <a:sym typeface="Times New Roman"/>
              </a:rPr>
              <a:t> sự lãnh đạo đúng đắn của Đảng là nhân tố hàng đầu bảo đảm thắng lợi của cách mạng Việt Nam.</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0"/>
          <p:cNvSpPr txBox="1"/>
          <p:nvPr/>
        </p:nvSpPr>
        <p:spPr>
          <a:xfrm>
            <a:off x="365759" y="621336"/>
            <a:ext cx="11298803" cy="6007094"/>
          </a:xfrm>
          <a:prstGeom prst="rect">
            <a:avLst/>
          </a:prstGeom>
          <a:noFill/>
          <a:ln>
            <a:noFill/>
          </a:ln>
        </p:spPr>
        <p:txBody>
          <a:bodyPr anchorCtr="0" anchor="t" bIns="45700" lIns="91425" spcFirstLastPara="1" rIns="91425" wrap="square" tIns="45700">
            <a:spAutoFit/>
          </a:bodyPr>
          <a:lstStyle/>
          <a:p>
            <a:pPr indent="0" lvl="0" marL="0" marR="0" rtl="0" algn="just">
              <a:lnSpc>
                <a:spcPct val="120000"/>
              </a:lnSpc>
              <a:spcBef>
                <a:spcPts val="0"/>
              </a:spcBef>
              <a:spcAft>
                <a:spcPts val="0"/>
              </a:spcAft>
              <a:buNone/>
            </a:pPr>
            <a:r>
              <a:rPr b="1" lang="en-US" sz="2800">
                <a:solidFill>
                  <a:srgbClr val="000000"/>
                </a:solidFill>
                <a:latin typeface="Times New Roman"/>
                <a:ea typeface="Times New Roman"/>
                <a:cs typeface="Times New Roman"/>
                <a:sym typeface="Times New Roman"/>
              </a:rPr>
              <a:t>		Cương lĩnh nêu rõ xã hội xã hội chủ nghĩa mà nhân dân ta xây dựng là một xã hội có 6 đặc trưng cơ bản là: </a:t>
            </a:r>
            <a:endParaRPr/>
          </a:p>
          <a:p>
            <a:pPr indent="-285750" lvl="0" marL="285750" marR="0" rtl="0" algn="just">
              <a:lnSpc>
                <a:spcPct val="120000"/>
              </a:lnSpc>
              <a:spcBef>
                <a:spcPts val="12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“Do nhân dân lao động làm chủ. </a:t>
            </a:r>
            <a:endParaRPr/>
          </a:p>
          <a:p>
            <a:pPr indent="-285750" lvl="0" marL="285750" marR="0" rtl="0" algn="just">
              <a:lnSpc>
                <a:spcPct val="120000"/>
              </a:lnSpc>
              <a:spcBef>
                <a:spcPts val="12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Có một nền kinh tế phát triển cao dựa trên lực lượng sản xuất hiện đại và chế độ công hữu về các tư liệu sản xuất chủ yếu. </a:t>
            </a:r>
            <a:endParaRPr/>
          </a:p>
          <a:p>
            <a:pPr indent="-285750" lvl="0" marL="285750" marR="0" rtl="0" algn="just">
              <a:lnSpc>
                <a:spcPct val="120000"/>
              </a:lnSpc>
              <a:spcBef>
                <a:spcPts val="12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Có nền văn hóa tiên tiến, đậm đà bản sắc dân tộc. </a:t>
            </a:r>
            <a:endParaRPr/>
          </a:p>
          <a:p>
            <a:pPr indent="-285750" lvl="0" marL="285750" marR="0" rtl="0" algn="just">
              <a:lnSpc>
                <a:spcPct val="120000"/>
              </a:lnSpc>
              <a:spcBef>
                <a:spcPts val="12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Con người được giải phóng khỏi áp bức, bóc lột, bất công, làm theo năng lực, hưởng theo lao động, có cuộc sống ấm no, tự do, hạnh phúc, có điều kiện phát triển toàn diện cá nhân. </a:t>
            </a:r>
            <a:endParaRPr/>
          </a:p>
          <a:p>
            <a:pPr indent="-285750" lvl="0" marL="285750" marR="0" rtl="0" algn="just">
              <a:lnSpc>
                <a:spcPct val="120000"/>
              </a:lnSpc>
              <a:spcBef>
                <a:spcPts val="12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Các dân tộc trong nước bình đẳng, đoàn kết và giúp đỡ lẫn nhau cùng tiến bộ. </a:t>
            </a:r>
            <a:endParaRPr/>
          </a:p>
          <a:p>
            <a:pPr indent="-285750" lvl="0" marL="285750" marR="0" rtl="0" algn="just">
              <a:lnSpc>
                <a:spcPct val="120000"/>
              </a:lnSpc>
              <a:spcBef>
                <a:spcPts val="1200"/>
              </a:spcBef>
              <a:spcAft>
                <a:spcPts val="0"/>
              </a:spcAft>
              <a:buClr>
                <a:srgbClr val="000000"/>
              </a:buClr>
              <a:buSzPts val="2400"/>
              <a:buFont typeface="Noto Sans Symbols"/>
              <a:buChar char="⮚"/>
            </a:pPr>
            <a:r>
              <a:rPr lang="en-US" sz="2400">
                <a:solidFill>
                  <a:srgbClr val="000000"/>
                </a:solidFill>
                <a:latin typeface="Times New Roman"/>
                <a:ea typeface="Times New Roman"/>
                <a:cs typeface="Times New Roman"/>
                <a:sym typeface="Times New Roman"/>
              </a:rPr>
              <a:t>Có quan hệ hữu nghị và hợp tác với nhân dân tất cả các nước trên thế giới”. </a:t>
            </a:r>
            <a:endParaRPr sz="12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376" name="Google Shape;376;p41"/>
          <p:cNvSpPr txBox="1"/>
          <p:nvPr/>
        </p:nvSpPr>
        <p:spPr>
          <a:xfrm>
            <a:off x="604299" y="1324701"/>
            <a:ext cx="11052313" cy="527516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Đại hội VII lần đầu tiên thông qua </a:t>
            </a:r>
            <a:r>
              <a:rPr i="1" lang="en-US" sz="2000">
                <a:solidFill>
                  <a:schemeClr val="dk1"/>
                </a:solidFill>
                <a:latin typeface="Times New Roman"/>
                <a:ea typeface="Times New Roman"/>
                <a:cs typeface="Times New Roman"/>
                <a:sym typeface="Times New Roman"/>
              </a:rPr>
              <a:t>Chiến lược ổn định và phát triển kinh tế-xã hội đến năm 2000, </a:t>
            </a:r>
            <a:r>
              <a:rPr lang="en-US" sz="2000">
                <a:solidFill>
                  <a:schemeClr val="dk1"/>
                </a:solidFill>
                <a:latin typeface="Times New Roman"/>
                <a:ea typeface="Times New Roman"/>
                <a:cs typeface="Times New Roman"/>
                <a:sym typeface="Times New Roman"/>
              </a:rPr>
              <a:t>trong đó xác định mục tiêu tổng quát đến năm 2000 là ra khỏi khủng hoảng, ổn định tình hình kinh tế-xã hội, phấn đấu vượt qua tình trạng nước nghèo và kém phát triển. GDP năm 2000 tăng gấp đôi so với năm 1990. </a:t>
            </a:r>
            <a:endParaRPr/>
          </a:p>
          <a:p>
            <a:pPr indent="-342900" lvl="0" marL="342900" marR="0" rtl="0" algn="just">
              <a:lnSpc>
                <a:spcPct val="150000"/>
              </a:lnSpc>
              <a:spcBef>
                <a:spcPts val="6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Tại Đại hội VII, lần đầu tiên Đảng giương cao ngọn cờ tư tưởng Hồ Chí Minh và khẳng định: “Đảng Cộng sản Việt Nam lấy chủ nghĩa Mác-Lênin và tư tưởng Hồ Chí Minh là nền tảng tư tưởng và kim chỉ nam cho hành động, tiếp thu tinh hoa trí tuệ của dân tộc và nhân loại, nắm vững quy luật khách quan và thực tiễn của đất nước để đề ra Cương lĩnh chính trị, đường lối cách mạng đúng đắn, phù hợp với yêu cầu, nguyện vọng của nhân dân”. </a:t>
            </a:r>
            <a:endParaRPr sz="2000">
              <a:solidFill>
                <a:schemeClr val="dk1"/>
              </a:solidFill>
              <a:latin typeface="Calibri"/>
              <a:ea typeface="Calibri"/>
              <a:cs typeface="Calibri"/>
              <a:sym typeface="Calibri"/>
            </a:endParaRPr>
          </a:p>
          <a:p>
            <a:pPr indent="-342900" lvl="0" marL="342900" marR="0" rtl="0" algn="just">
              <a:lnSpc>
                <a:spcPct val="150000"/>
              </a:lnSpc>
              <a:spcBef>
                <a:spcPts val="6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Đại hội VII của Đảng là “</a:t>
            </a:r>
            <a:r>
              <a:rPr i="1" lang="en-US" sz="2000">
                <a:solidFill>
                  <a:schemeClr val="dk1"/>
                </a:solidFill>
                <a:latin typeface="Times New Roman"/>
                <a:ea typeface="Times New Roman"/>
                <a:cs typeface="Times New Roman"/>
                <a:sym typeface="Times New Roman"/>
              </a:rPr>
              <a:t>Đại hội của trí tuệ-đổi mới, dân chủ-kỷ cương-đoàn kết</a:t>
            </a:r>
            <a:r>
              <a:rPr lang="en-US" sz="2000">
                <a:solidFill>
                  <a:schemeClr val="dk1"/>
                </a:solidFill>
                <a:latin typeface="Times New Roman"/>
                <a:ea typeface="Times New Roman"/>
                <a:cs typeface="Times New Roman"/>
                <a:sym typeface="Times New Roman"/>
              </a:rPr>
              <a:t>” hoạch định con đường quá độ lên chủ nghĩa xã hội phù hợp với đặc điểm của Việt Nam. </a:t>
            </a:r>
            <a:endParaRPr sz="20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2"/>
          <p:cNvSpPr txBox="1"/>
          <p:nvPr>
            <p:ph idx="1" type="body"/>
          </p:nvPr>
        </p:nvSpPr>
        <p:spPr>
          <a:xfrm>
            <a:off x="397565" y="1385048"/>
            <a:ext cx="11481683" cy="484542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50000"/>
              </a:lnSpc>
              <a:spcBef>
                <a:spcPts val="0"/>
              </a:spcBef>
              <a:spcAft>
                <a:spcPts val="0"/>
              </a:spcAft>
              <a:buClr>
                <a:schemeClr val="dk1"/>
              </a:buClr>
              <a:buSzPct val="100000"/>
              <a:buNone/>
            </a:pPr>
            <a:r>
              <a:rPr lang="en-US" sz="2400">
                <a:latin typeface="Times New Roman"/>
                <a:ea typeface="Times New Roman"/>
                <a:cs typeface="Times New Roman"/>
                <a:sym typeface="Times New Roman"/>
              </a:rPr>
              <a:t>	Từ sau ĐH VII, tình hình thế giới tiếp tục diễn biến nhanh chóng và phức tạp. Song Đảng và nhân dân ta vẫn giữ vững bản lĩnh chính trị, kiên trì xây dựng đất nước theo đường lối đổi mới</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2 (25/11-4/12/1991)</a:t>
            </a:r>
            <a:endParaRPr/>
          </a:p>
          <a:p>
            <a:pPr indent="-228600" lvl="0" marL="228600" rtl="0" algn="l">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Hội nghị BCH TW Đảng lần 3 (18-29/6/1992)</a:t>
            </a:r>
            <a:endParaRPr/>
          </a:p>
          <a:p>
            <a:pPr indent="-228600" lvl="0" marL="228600" rtl="0" algn="l">
              <a:lnSpc>
                <a:spcPct val="15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5 (3-10/6/1993)</a:t>
            </a:r>
            <a:endParaRPr/>
          </a:p>
          <a:p>
            <a:pPr indent="-228600" lvl="0" marL="228600" rtl="0" algn="l">
              <a:lnSpc>
                <a:spcPct val="15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20-25/1/1994: Hội nghị đại biểu toàn quốc giữa nhiệm kỳ của Đảng</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7 (25-30/7/1994)</a:t>
            </a:r>
            <a:endParaRPr/>
          </a:p>
          <a:p>
            <a:pPr indent="-228600" lvl="0" marL="228600" rtl="0" algn="l">
              <a:lnSpc>
                <a:spcPct val="15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8 (16-23/1/1995)</a:t>
            </a:r>
            <a:endParaRPr/>
          </a:p>
          <a:p>
            <a:pPr indent="-87629" lvl="0" marL="228600" rtl="0" algn="l">
              <a:lnSpc>
                <a:spcPct val="150000"/>
              </a:lnSpc>
              <a:spcBef>
                <a:spcPts val="1000"/>
              </a:spcBef>
              <a:spcAft>
                <a:spcPts val="0"/>
              </a:spcAft>
              <a:buClr>
                <a:schemeClr val="dk1"/>
              </a:buClr>
              <a:buSzPct val="100000"/>
              <a:buFont typeface="Calibri"/>
              <a:buNone/>
            </a:pPr>
            <a:r>
              <a:t/>
            </a:r>
            <a:endParaRPr sz="2400">
              <a:latin typeface="Times New Roman"/>
              <a:ea typeface="Times New Roman"/>
              <a:cs typeface="Times New Roman"/>
              <a:sym typeface="Times New Roman"/>
            </a:endParaRPr>
          </a:p>
        </p:txBody>
      </p:sp>
      <p:sp>
        <p:nvSpPr>
          <p:cNvPr id="382" name="Google Shape;382;p4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3"/>
          <p:cNvSpPr txBox="1"/>
          <p:nvPr>
            <p:ph idx="1" type="body"/>
          </p:nvPr>
        </p:nvSpPr>
        <p:spPr>
          <a:xfrm>
            <a:off x="469128" y="1518037"/>
            <a:ext cx="11338559" cy="466012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b="1" lang="en-US" sz="2400">
                <a:latin typeface="Times New Roman"/>
                <a:ea typeface="Times New Roman"/>
                <a:cs typeface="Times New Roman"/>
                <a:sym typeface="Times New Roman"/>
              </a:rPr>
              <a:t>- </a:t>
            </a:r>
            <a:r>
              <a:rPr b="1" i="1" lang="en-US" sz="2400">
                <a:latin typeface="Times New Roman"/>
                <a:ea typeface="Times New Roman"/>
                <a:cs typeface="Times New Roman"/>
                <a:sym typeface="Times New Roman"/>
              </a:rPr>
              <a:t>Nhìn chung bước đầu kế hoạch 5 năm (1991-1995) đã giành được nhiều thắng lợi:</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Đẩy nhanh nhịp độ phát triển kinh tế, hoàn thành vượt múc nhiều mục tiêu chủ yếu của kế hoạch 5 năm</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Tạo được một số chuyển biến tích cực về mặt xã hội. Giữ vững ổn định chính trị, củng cố quốc phòng, an ninh. Thực hiện có kết quả 1 số đổi mới quan trọng về hệ thống chính trị</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Phát triển mạnh mẽ quan hệ đối ngoại, phá thế bao vây cấm vận, tham gia tích cực vào đời sống cộng đồng quốc tế</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b="1" i="1" lang="en-US" sz="2400">
                <a:latin typeface="Times New Roman"/>
                <a:ea typeface="Times New Roman"/>
                <a:cs typeface="Times New Roman"/>
                <a:sym typeface="Times New Roman"/>
              </a:rPr>
              <a:t>- Bên cạnh đó còn có những khuyết điểm:</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Nước ta còn nghèo nhưng chưa thực hiện tốt việc tiết kiệm trong sản xuất và tiêu dùng</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Tình hình xã hội còn nhiều tiêu cực cần được giải quyết</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quản lý nhà nước về kinh tế - xã hội còn yếu…</a:t>
            </a:r>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388" name="Google Shape;388;p4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4"/>
          <p:cNvSpPr txBox="1"/>
          <p:nvPr>
            <p:ph idx="1" type="body"/>
          </p:nvPr>
        </p:nvSpPr>
        <p:spPr>
          <a:xfrm>
            <a:off x="707666" y="2433100"/>
            <a:ext cx="11115924" cy="379277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Font typeface="Arial"/>
              <a:buNone/>
            </a:pPr>
            <a:r>
              <a:rPr b="1" i="1" lang="en-US" sz="2000" u="sng">
                <a:latin typeface="Times New Roman"/>
                <a:ea typeface="Times New Roman"/>
                <a:cs typeface="Times New Roman"/>
                <a:sym typeface="Times New Roman"/>
              </a:rPr>
              <a:t>Đại hội đại biểu toàn quốc lần thứ VIII của Đảng</a:t>
            </a:r>
            <a:endParaRPr b="1" i="1" sz="2000" u="sng">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Char char="•"/>
            </a:pPr>
            <a:r>
              <a:rPr b="1" lang="en-US" sz="2000">
                <a:latin typeface="Times New Roman"/>
                <a:ea typeface="Times New Roman"/>
                <a:cs typeface="Times New Roman"/>
                <a:sym typeface="Times New Roman"/>
              </a:rPr>
              <a:t>Sơ lược đại hội:</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ĐH họp</a:t>
            </a:r>
            <a:r>
              <a:rPr lang="en-US" sz="2000">
                <a:latin typeface="Times New Roman"/>
                <a:ea typeface="Times New Roman"/>
                <a:cs typeface="Times New Roman"/>
                <a:sym typeface="Times New Roman"/>
              </a:rPr>
              <a:t> từ 28/6 – 1/7/1996 </a:t>
            </a:r>
            <a:r>
              <a:rPr i="1" lang="en-US" sz="2000">
                <a:latin typeface="Times New Roman"/>
                <a:ea typeface="Times New Roman"/>
                <a:cs typeface="Times New Roman"/>
                <a:sym typeface="Times New Roman"/>
              </a:rPr>
              <a:t>tại Hà Nội</a:t>
            </a:r>
            <a:r>
              <a:rPr lang="en-US" sz="2000">
                <a:latin typeface="Times New Roman"/>
                <a:ea typeface="Times New Roman"/>
                <a:cs typeface="Times New Roman"/>
                <a:sym typeface="Times New Roman"/>
              </a:rPr>
              <a:t>.</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Thành phần tham dự: </a:t>
            </a:r>
            <a:r>
              <a:rPr lang="en-US" sz="2000">
                <a:latin typeface="Times New Roman"/>
                <a:ea typeface="Times New Roman"/>
                <a:cs typeface="Times New Roman"/>
                <a:sym typeface="Times New Roman"/>
              </a:rPr>
              <a:t>1.198 đại biểu thay mặt cho 2.130.000 đảng viên trong cả nước và 41 đoàn đại biểu của các đảng và tổ chức quốc tế</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i="1" lang="en-US" sz="2000">
                <a:latin typeface="Times New Roman"/>
                <a:ea typeface="Times New Roman"/>
                <a:cs typeface="Times New Roman"/>
                <a:sym typeface="Times New Roman"/>
              </a:rPr>
              <a:t>ĐH diễn ra trong bối cảnh:</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Liên Xô tan rã và CNXH đi vào thoái trào</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Cách mạng khoa học và công nghệ phát triển với trình độ ngày càng cao</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 Nước ta đã ra khỏi khủng hoảng kinh tế-xã hội</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t/>
            </a:r>
            <a:endParaRPr i="1" sz="2000" u="sng">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394" name="Google Shape;394;p4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395" name="Google Shape;395;p44"/>
          <p:cNvSpPr txBox="1"/>
          <p:nvPr/>
        </p:nvSpPr>
        <p:spPr>
          <a:xfrm>
            <a:off x="1918252" y="341858"/>
            <a:ext cx="9817872" cy="1697260"/>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lang="en-US" sz="2000">
                <a:solidFill>
                  <a:schemeClr val="dk1"/>
                </a:solidFill>
                <a:latin typeface="Times New Roman"/>
                <a:ea typeface="Times New Roman"/>
                <a:cs typeface="Times New Roman"/>
                <a:sym typeface="Times New Roman"/>
              </a:rPr>
              <a:t>2. Tiếp tục công cuộc đổi mới, đẩy mạnh công nghiệp hoá, hiện đại hoá và hội nhập quốc tế  1996-2018</a:t>
            </a:r>
            <a:endParaRPr b="1" sz="2000">
              <a:solidFill>
                <a:schemeClr val="dk1"/>
              </a:solidFill>
              <a:latin typeface="Times New Roman"/>
              <a:ea typeface="Times New Roman"/>
              <a:cs typeface="Times New Roman"/>
              <a:sym typeface="Times New Roman"/>
            </a:endParaRPr>
          </a:p>
          <a:p>
            <a:pPr indent="-342900" lvl="0" marL="342900" marR="0" rtl="0" algn="just">
              <a:lnSpc>
                <a:spcPct val="120000"/>
              </a:lnSpc>
              <a:spcBef>
                <a:spcPts val="12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Đại hội đại biểu toàn quốc lần thứ VIII và bước đầu thực hiện công cuộc đẩy mạnh công nghiệp hoá, hiện đại hoá 1996-2001</a:t>
            </a:r>
            <a:endParaRPr sz="16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5"/>
          <p:cNvSpPr txBox="1"/>
          <p:nvPr>
            <p:ph idx="1" type="body"/>
          </p:nvPr>
        </p:nvSpPr>
        <p:spPr>
          <a:xfrm>
            <a:off x="1480267" y="1647244"/>
            <a:ext cx="5047754" cy="3203051"/>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just">
              <a:lnSpc>
                <a:spcPct val="150000"/>
              </a:lnSpc>
              <a:spcBef>
                <a:spcPts val="0"/>
              </a:spcBef>
              <a:spcAft>
                <a:spcPts val="0"/>
              </a:spcAft>
              <a:buClr>
                <a:schemeClr val="dk1"/>
              </a:buClr>
              <a:buSzPct val="100000"/>
              <a:buFont typeface="Arial"/>
              <a:buNone/>
            </a:pPr>
            <a:r>
              <a:rPr lang="en-US" sz="2600">
                <a:latin typeface="Times New Roman"/>
                <a:ea typeface="Times New Roman"/>
                <a:cs typeface="Times New Roman"/>
                <a:sym typeface="Times New Roman"/>
              </a:rPr>
              <a:t>-  </a:t>
            </a:r>
            <a:r>
              <a:rPr i="1" lang="en-US" sz="2600">
                <a:latin typeface="Times New Roman"/>
                <a:ea typeface="Times New Roman"/>
                <a:cs typeface="Times New Roman"/>
                <a:sym typeface="Times New Roman"/>
              </a:rPr>
              <a:t>Đại hội thông qua:</a:t>
            </a:r>
            <a:endParaRPr/>
          </a:p>
          <a:p>
            <a:pPr indent="-228600" lvl="0" marL="228600" rtl="0" algn="just">
              <a:lnSpc>
                <a:spcPct val="150000"/>
              </a:lnSpc>
              <a:spcBef>
                <a:spcPts val="1000"/>
              </a:spcBef>
              <a:spcAft>
                <a:spcPts val="0"/>
              </a:spcAft>
              <a:buClr>
                <a:schemeClr val="dk1"/>
              </a:buClr>
              <a:buSzPct val="100000"/>
              <a:buFont typeface="Arial"/>
              <a:buNone/>
            </a:pPr>
            <a:r>
              <a:rPr lang="en-US" sz="2600">
                <a:latin typeface="Times New Roman"/>
                <a:ea typeface="Times New Roman"/>
                <a:cs typeface="Times New Roman"/>
                <a:sym typeface="Times New Roman"/>
              </a:rPr>
              <a:t>+ Báo cáo chính trị</a:t>
            </a:r>
            <a:endParaRPr sz="2600">
              <a:latin typeface="Times New Roman"/>
              <a:ea typeface="Times New Roman"/>
              <a:cs typeface="Times New Roman"/>
              <a:sym typeface="Times New Roman"/>
            </a:endParaRPr>
          </a:p>
          <a:p>
            <a:pPr indent="-228600" lvl="0" marL="228600" rtl="0" algn="just">
              <a:lnSpc>
                <a:spcPct val="150000"/>
              </a:lnSpc>
              <a:spcBef>
                <a:spcPts val="1000"/>
              </a:spcBef>
              <a:spcAft>
                <a:spcPts val="0"/>
              </a:spcAft>
              <a:buClr>
                <a:schemeClr val="dk1"/>
              </a:buClr>
              <a:buSzPct val="100000"/>
              <a:buFont typeface="Arial"/>
              <a:buNone/>
            </a:pPr>
            <a:r>
              <a:rPr lang="en-US" sz="2600">
                <a:latin typeface="Times New Roman"/>
                <a:ea typeface="Times New Roman"/>
                <a:cs typeface="Times New Roman"/>
                <a:sym typeface="Times New Roman"/>
              </a:rPr>
              <a:t>+ Phương hướng nhiệm vụ, kế hoạch phát triển kinh tế - xã hội 5 năm (1996 -2000)</a:t>
            </a:r>
            <a:endParaRPr/>
          </a:p>
          <a:p>
            <a:pPr indent="-228600" lvl="0" marL="228600" rtl="0" algn="just">
              <a:lnSpc>
                <a:spcPct val="150000"/>
              </a:lnSpc>
              <a:spcBef>
                <a:spcPts val="1000"/>
              </a:spcBef>
              <a:spcAft>
                <a:spcPts val="0"/>
              </a:spcAft>
              <a:buClr>
                <a:schemeClr val="dk1"/>
              </a:buClr>
              <a:buSzPct val="100000"/>
              <a:buFont typeface="Arial"/>
              <a:buNone/>
            </a:pPr>
            <a:r>
              <a:rPr lang="en-US" sz="2600">
                <a:latin typeface="Times New Roman"/>
                <a:ea typeface="Times New Roman"/>
                <a:cs typeface="Times New Roman"/>
                <a:sym typeface="Times New Roman"/>
              </a:rPr>
              <a:t>+ Điều lệ Đảng bổ sung (sửa đổi)</a:t>
            </a:r>
            <a:endParaRPr/>
          </a:p>
          <a:p>
            <a:pPr indent="-88265" lvl="0" marL="228600" rtl="0" algn="just">
              <a:lnSpc>
                <a:spcPct val="150000"/>
              </a:lnSpc>
              <a:spcBef>
                <a:spcPts val="1000"/>
              </a:spcBef>
              <a:spcAft>
                <a:spcPts val="0"/>
              </a:spcAft>
              <a:buClr>
                <a:schemeClr val="dk1"/>
              </a:buClr>
              <a:buSzPct val="100000"/>
              <a:buNone/>
            </a:pPr>
            <a:r>
              <a:t/>
            </a:r>
            <a:endParaRPr sz="2600">
              <a:latin typeface="Times New Roman"/>
              <a:ea typeface="Times New Roman"/>
              <a:cs typeface="Times New Roman"/>
              <a:sym typeface="Times New Roman"/>
            </a:endParaRPr>
          </a:p>
        </p:txBody>
      </p:sp>
      <p:pic>
        <p:nvPicPr>
          <p:cNvPr descr="VIII.bmp" id="401" name="Google Shape;401;p45"/>
          <p:cNvPicPr preferRelativeResize="0"/>
          <p:nvPr>
            <p:ph idx="2" type="body"/>
          </p:nvPr>
        </p:nvPicPr>
        <p:blipFill rotWithShape="1">
          <a:blip r:embed="rId3">
            <a:alphaModFix/>
          </a:blip>
          <a:srcRect b="0" l="0" r="0" t="0"/>
          <a:stretch/>
        </p:blipFill>
        <p:spPr>
          <a:xfrm>
            <a:off x="7021664" y="1753043"/>
            <a:ext cx="3600450" cy="2616200"/>
          </a:xfrm>
          <a:prstGeom prst="rect">
            <a:avLst/>
          </a:prstGeom>
          <a:noFill/>
          <a:ln>
            <a:noFill/>
          </a:ln>
        </p:spPr>
      </p:pic>
      <p:sp>
        <p:nvSpPr>
          <p:cNvPr id="402" name="Google Shape;402;p45"/>
          <p:cNvSpPr txBox="1"/>
          <p:nvPr/>
        </p:nvSpPr>
        <p:spPr>
          <a:xfrm>
            <a:off x="7598135" y="4831743"/>
            <a:ext cx="271420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thứ VIII</a:t>
            </a:r>
            <a:endParaRPr/>
          </a:p>
        </p:txBody>
      </p:sp>
      <p:sp>
        <p:nvSpPr>
          <p:cNvPr id="403" name="Google Shape;403;p4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idx="1" type="body"/>
          </p:nvPr>
        </p:nvSpPr>
        <p:spPr>
          <a:xfrm>
            <a:off x="707666" y="469124"/>
            <a:ext cx="11314706" cy="59436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150000"/>
              </a:lnSpc>
              <a:spcBef>
                <a:spcPts val="0"/>
              </a:spcBef>
              <a:spcAft>
                <a:spcPts val="0"/>
              </a:spcAft>
              <a:buClr>
                <a:schemeClr val="dk1"/>
              </a:buClr>
              <a:buSzPct val="100000"/>
              <a:buNone/>
            </a:pPr>
            <a:r>
              <a:rPr b="1" lang="en-US">
                <a:latin typeface="Times New Roman"/>
                <a:ea typeface="Times New Roman"/>
                <a:cs typeface="Times New Roman"/>
                <a:sym typeface="Times New Roman"/>
              </a:rPr>
              <a:t>Nội dung Đại hội:</a:t>
            </a:r>
            <a:endParaRPr/>
          </a:p>
          <a:p>
            <a:pPr indent="-228600" lvl="0" marL="228600" rtl="0" algn="l">
              <a:lnSpc>
                <a:spcPct val="150000"/>
              </a:lnSpc>
              <a:spcBef>
                <a:spcPts val="1000"/>
              </a:spcBef>
              <a:spcAft>
                <a:spcPts val="0"/>
              </a:spcAft>
              <a:buClr>
                <a:schemeClr val="dk1"/>
              </a:buClr>
              <a:buSzPct val="100000"/>
              <a:buFont typeface="Times New Roman"/>
              <a:buChar char="-"/>
            </a:pPr>
            <a:r>
              <a:rPr b="1" i="1" lang="en-US" sz="2000">
                <a:latin typeface="Times New Roman"/>
                <a:ea typeface="Times New Roman"/>
                <a:cs typeface="Times New Roman"/>
                <a:sym typeface="Times New Roman"/>
              </a:rPr>
              <a:t>ĐH đã kiểm điểm, đánh giá kết quả 5 năm thực hiện Nghị quyết ĐH VII và đánh giá tổng quát trong 10 năm đổi mới:</a:t>
            </a:r>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Công cuộc đổi mới trong 10 năm (1986-1996) thu được những thành tựu to lớn, có ý nghĩa rất quan trọng. Nhiệm vụ của ĐH VII đề ra cho 5 năm (1991-1995) đã hoàn thành về cơ bản</a:t>
            </a:r>
            <a:endParaRPr sz="20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Nước ta đã ra khỏi khủng hoảng kinh tế-xã hội</a:t>
            </a:r>
            <a:endParaRPr sz="20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Con đường đi lên CNXH ngày càng được xác định rõ hơn</a:t>
            </a:r>
            <a:endParaRPr sz="20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Tiền đề cho CNH đã cơ bản hoàn thành</a:t>
            </a:r>
            <a:endParaRPr sz="20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Việc hoạch định và thực hiện đường lối đổi mới là đúng đắn, đúng định hướng XHCN</a:t>
            </a:r>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Giữ vững mục tiêu độc lập dân tộc và CNXH</a:t>
            </a:r>
            <a:endParaRPr/>
          </a:p>
          <a:p>
            <a:pPr indent="-228600" lvl="0" marL="228600" rtl="0" algn="l">
              <a:lnSpc>
                <a:spcPct val="150000"/>
              </a:lnSpc>
              <a:spcBef>
                <a:spcPts val="1000"/>
              </a:spcBef>
              <a:spcAft>
                <a:spcPts val="0"/>
              </a:spcAft>
              <a:buClr>
                <a:schemeClr val="dk1"/>
              </a:buClr>
              <a:buSzPct val="100000"/>
              <a:buFont typeface="Arial"/>
              <a:buNone/>
            </a:pPr>
            <a:r>
              <a:rPr lang="en-US" sz="2000">
                <a:latin typeface="Times New Roman"/>
                <a:ea typeface="Times New Roman"/>
                <a:cs typeface="Times New Roman"/>
                <a:sym typeface="Times New Roman"/>
              </a:rPr>
              <a:t>+ Kết hợp chặt chẽ đổi mới kinh tế với đổi mới chính trị</a:t>
            </a:r>
            <a:endParaRPr sz="20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ct val="100000"/>
              <a:buFont typeface="Arial"/>
              <a:buNone/>
            </a:pPr>
            <a:r>
              <a:t/>
            </a:r>
            <a:endParaRPr sz="2000">
              <a:latin typeface="Times New Roman"/>
              <a:ea typeface="Times New Roman"/>
              <a:cs typeface="Times New Roman"/>
              <a:sym typeface="Times New Roman"/>
            </a:endParaRPr>
          </a:p>
          <a:p>
            <a:pPr indent="-111125" lvl="0" marL="228600" rtl="0" algn="l">
              <a:lnSpc>
                <a:spcPct val="15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p:txBody>
      </p:sp>
      <p:sp>
        <p:nvSpPr>
          <p:cNvPr id="409" name="Google Shape;409;p4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7"/>
          <p:cNvSpPr txBox="1"/>
          <p:nvPr>
            <p:ph idx="1" type="body"/>
          </p:nvPr>
        </p:nvSpPr>
        <p:spPr>
          <a:xfrm>
            <a:off x="598999" y="1557795"/>
            <a:ext cx="11121224" cy="48350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None/>
            </a:pPr>
            <a:r>
              <a:rPr lang="en-US" sz="2400">
                <a:latin typeface="Times New Roman"/>
                <a:ea typeface="Times New Roman"/>
                <a:cs typeface="Times New Roman"/>
                <a:sym typeface="Times New Roman"/>
              </a:rPr>
              <a:t>+ Xây dựng nền kinh tế hàng hóa nhiều thành phần</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Mở rộng và tăng cường khối đại đoàn kết dân tộc, phát huy sức mạnh của cả dân tộc</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Mở rộng hợp tác quốc tế</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Tăng cường vai trò lãnh đạo của Đảng, coi xây dựng Đảng là nhiệm vụ then chốt.</a:t>
            </a:r>
            <a:endParaRPr/>
          </a:p>
          <a:p>
            <a:pPr indent="-228600" lvl="0" marL="228600" rtl="0" algn="l">
              <a:lnSpc>
                <a:spcPct val="90000"/>
              </a:lnSpc>
              <a:spcBef>
                <a:spcPts val="1000"/>
              </a:spcBef>
              <a:spcAft>
                <a:spcPts val="0"/>
              </a:spcAft>
              <a:buClr>
                <a:schemeClr val="dk1"/>
              </a:buClr>
              <a:buSzPts val="2400"/>
              <a:buFont typeface="Times New Roman"/>
              <a:buChar char="-"/>
            </a:pPr>
            <a:r>
              <a:rPr b="1" i="1" lang="en-US" sz="2400">
                <a:latin typeface="Times New Roman"/>
                <a:ea typeface="Times New Roman"/>
                <a:cs typeface="Times New Roman"/>
                <a:sym typeface="Times New Roman"/>
              </a:rPr>
              <a:t>Xác định mục tiêu từ nay đến năm 2020 ra sức phấn đấu đưa nước ta cơ bản trở thành một nước công nghiệp với:</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Lực lượng sản xuất</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Quan hệ sản xuất</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Đời sống vật chất và văn hóa</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Times New Roman"/>
              <a:buChar char="-"/>
            </a:pPr>
            <a:r>
              <a:rPr b="1" i="1" lang="en-US" sz="2400">
                <a:latin typeface="Times New Roman"/>
                <a:ea typeface="Times New Roman"/>
                <a:cs typeface="Times New Roman"/>
                <a:sym typeface="Times New Roman"/>
              </a:rPr>
              <a:t>Đại hội nêu rõ quan điểm chỉ đạo CNH-HĐH:</a:t>
            </a:r>
            <a:endParaRPr/>
          </a:p>
          <a:p>
            <a:pPr indent="-228600" lvl="0" marL="228600" rtl="0" algn="l">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415" name="Google Shape;415;p4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8"/>
          <p:cNvSpPr txBox="1"/>
          <p:nvPr>
            <p:ph idx="1" type="body"/>
          </p:nvPr>
        </p:nvSpPr>
        <p:spPr>
          <a:xfrm>
            <a:off x="758027" y="1451113"/>
            <a:ext cx="10994002" cy="4560073"/>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Arial"/>
              <a:buNone/>
            </a:pPr>
            <a:r>
              <a:rPr lang="en-US" sz="20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Để đảm bảo thực hiện mục tiêu, ĐH VIII đề ra những định hướng phát triển các lĩnh vực chủ yếu:</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Tiếp tục phát triển và chuyển dịch cơ cấu kinh tế theo hướng CNH – HĐH</a:t>
            </a:r>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Nắm vững chính sách đối với các thành phần kinh tế</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Tiếp tục đổi mới cơ chế quản lý kinh tế</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Phát triển khoa học và công nghệ, giáo dục và đào tạo</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Xây dựng nền văn hóa tiên tiến, đậm đà bản sắc dân tộc</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Giải quyết một số vấn đề xã hội</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Thực hiện đại đoàn kết dân tộc, nâng cao vai trò làm chủ của nhân dân, xây dựng cơ chế cụ thể</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Tăng cường quốc phòng an ninh. Thực hiện đường lối đối ngoại độc lập, tự chủ, mở rộng, đa phương hóa, đa dạng hóa quan hệ đội ngoại</a:t>
            </a:r>
            <a:endParaRPr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Tiếp tục cải cách bộ máy nhà nước, xây dựng và hoàn thiện Nhà nước cộng hòa xã hội chủ nghĩa Việt Nam, đẩy mạnh đấu tranh chống tham nhũng</a:t>
            </a:r>
            <a:endParaRPr sz="2000">
              <a:latin typeface="Times New Roman"/>
              <a:ea typeface="Times New Roman"/>
              <a:cs typeface="Times New Roman"/>
              <a:sym typeface="Times New Roman"/>
            </a:endParaRPr>
          </a:p>
          <a:p>
            <a:pPr indent="-101600" lvl="0" marL="228600" rtl="0" algn="just">
              <a:lnSpc>
                <a:spcPct val="9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421" name="Google Shape;421;p4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9"/>
          <p:cNvSpPr txBox="1"/>
          <p:nvPr>
            <p:ph idx="1" type="body"/>
          </p:nvPr>
        </p:nvSpPr>
        <p:spPr>
          <a:xfrm>
            <a:off x="667911" y="1637306"/>
            <a:ext cx="10519574" cy="431027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Đại hội thông qua điều lệ Đảng (sửa đổi),</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Bầu BCH TW khóa VIII gồm 170 ủy viên.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Bộ chính trị gồm 19 ủy viên.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Đ/c Đỗ Mười được bầu lại làm Tổng bí thư</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=&gt; </a:t>
            </a:r>
            <a:r>
              <a:rPr b="1" i="1" lang="en-US" sz="2400">
                <a:latin typeface="Times New Roman"/>
                <a:ea typeface="Times New Roman"/>
                <a:cs typeface="Times New Roman"/>
                <a:sym typeface="Times New Roman"/>
              </a:rPr>
              <a:t>ĐH VIII đánh dấu bước ngoặt chuyển đất nước ta sang thời kỳ mới – thời kỳ đẩy mạnh CNH – HĐH, xây dựng nước Việt Nam độc lập, dân chủ, giàu mạnh, xã hội công bằng, văn minh theo định hướng XHCN</a:t>
            </a:r>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427" name="Google Shape;427;p4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0"/>
          <p:cNvSpPr txBox="1"/>
          <p:nvPr>
            <p:ph idx="1" type="body"/>
          </p:nvPr>
        </p:nvSpPr>
        <p:spPr>
          <a:xfrm>
            <a:off x="787179" y="1841389"/>
            <a:ext cx="10829676" cy="3485984"/>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lang="en-US" sz="2400"/>
              <a:t>		Sau ĐH VIII là thời kỳ đẩy mạnh CNH-HĐH đất nước để phấn đấu đến năm 2020 nước ta cơ bản trở thành một nước công nghiệp.</a:t>
            </a:r>
            <a:endParaRPr/>
          </a:p>
          <a:p>
            <a:pPr indent="-228600" lvl="0" marL="228600" rtl="0" algn="just">
              <a:lnSpc>
                <a:spcPct val="90000"/>
              </a:lnSpc>
              <a:spcBef>
                <a:spcPts val="1000"/>
              </a:spcBef>
              <a:spcAft>
                <a:spcPts val="0"/>
              </a:spcAft>
              <a:buClr>
                <a:schemeClr val="dk1"/>
              </a:buClr>
              <a:buSzPts val="2400"/>
              <a:buFont typeface="Arial"/>
              <a:buNone/>
            </a:pPr>
            <a:r>
              <a:rPr lang="en-US" sz="2400"/>
              <a:t>- Hội nghị BCH TW Đảng lần 2 (12/1996) đã thông qua 2 nghị quyết quan trọng:</a:t>
            </a:r>
            <a:endParaRPr/>
          </a:p>
          <a:p>
            <a:pPr indent="-228600" lvl="0" marL="228600" rtl="0" algn="just">
              <a:lnSpc>
                <a:spcPct val="90000"/>
              </a:lnSpc>
              <a:spcBef>
                <a:spcPts val="1000"/>
              </a:spcBef>
              <a:spcAft>
                <a:spcPts val="0"/>
              </a:spcAft>
              <a:buClr>
                <a:schemeClr val="dk1"/>
              </a:buClr>
              <a:buSzPts val="2400"/>
              <a:buFont typeface="Calibri"/>
              <a:buChar char="-"/>
            </a:pPr>
            <a:r>
              <a:rPr lang="en-US" sz="2400"/>
              <a:t>Hội nghị BCH TW Đảng lần 3 (6/1997)</a:t>
            </a:r>
            <a:endParaRPr/>
          </a:p>
          <a:p>
            <a:pPr indent="-228600" lvl="0" marL="228600" rtl="0" algn="just">
              <a:lnSpc>
                <a:spcPct val="90000"/>
              </a:lnSpc>
              <a:spcBef>
                <a:spcPts val="1000"/>
              </a:spcBef>
              <a:spcAft>
                <a:spcPts val="0"/>
              </a:spcAft>
              <a:buClr>
                <a:schemeClr val="dk1"/>
              </a:buClr>
              <a:buSzPts val="2400"/>
              <a:buFont typeface="Calibri"/>
              <a:buChar char="-"/>
            </a:pPr>
            <a:r>
              <a:rPr lang="en-US" sz="2400"/>
              <a:t>Hội nghị BCH TW Đảng lần 4 (12/1997) </a:t>
            </a:r>
            <a:endParaRPr/>
          </a:p>
          <a:p>
            <a:pPr indent="-228600" lvl="0" marL="228600" rtl="0" algn="just">
              <a:lnSpc>
                <a:spcPct val="90000"/>
              </a:lnSpc>
              <a:spcBef>
                <a:spcPts val="1000"/>
              </a:spcBef>
              <a:spcAft>
                <a:spcPts val="0"/>
              </a:spcAft>
              <a:buClr>
                <a:schemeClr val="dk1"/>
              </a:buClr>
              <a:buSzPts val="2400"/>
              <a:buFont typeface="Calibri"/>
              <a:buChar char="-"/>
            </a:pPr>
            <a:r>
              <a:rPr lang="en-US" sz="2400"/>
              <a:t>Hội nghị BCH TW Đảng lần 5 (7/1998)</a:t>
            </a:r>
            <a:endParaRPr/>
          </a:p>
          <a:p>
            <a:pPr indent="-228600" lvl="0" marL="228600" rtl="0" algn="just">
              <a:lnSpc>
                <a:spcPct val="90000"/>
              </a:lnSpc>
              <a:spcBef>
                <a:spcPts val="1000"/>
              </a:spcBef>
              <a:spcAft>
                <a:spcPts val="0"/>
              </a:spcAft>
              <a:buClr>
                <a:schemeClr val="dk1"/>
              </a:buClr>
              <a:buSzPts val="2400"/>
              <a:buFont typeface="Calibri"/>
              <a:buChar char="-"/>
            </a:pPr>
            <a:r>
              <a:rPr lang="en-US" sz="2400"/>
              <a:t>Hội nghị BCH TW Đảng lần 7 (8/1999)</a:t>
            </a:r>
            <a:endParaRPr/>
          </a:p>
          <a:p>
            <a:pPr indent="-76200" lvl="0" marL="228600" rtl="0" algn="just">
              <a:lnSpc>
                <a:spcPct val="90000"/>
              </a:lnSpc>
              <a:spcBef>
                <a:spcPts val="1000"/>
              </a:spcBef>
              <a:spcAft>
                <a:spcPts val="0"/>
              </a:spcAft>
              <a:buClr>
                <a:schemeClr val="dk1"/>
              </a:buClr>
              <a:buSzPts val="2400"/>
              <a:buFont typeface="Calibri"/>
              <a:buNone/>
            </a:pPr>
            <a:r>
              <a:t/>
            </a:r>
            <a:endParaRPr sz="2400"/>
          </a:p>
          <a:p>
            <a:pPr indent="-76200" lvl="0" marL="228600" rtl="0" algn="just">
              <a:lnSpc>
                <a:spcPct val="90000"/>
              </a:lnSpc>
              <a:spcBef>
                <a:spcPts val="1000"/>
              </a:spcBef>
              <a:spcAft>
                <a:spcPts val="0"/>
              </a:spcAft>
              <a:buClr>
                <a:schemeClr val="dk1"/>
              </a:buClr>
              <a:buSzPts val="2400"/>
              <a:buNone/>
            </a:pPr>
            <a:r>
              <a:t/>
            </a:r>
            <a:endParaRPr sz="2400"/>
          </a:p>
        </p:txBody>
      </p:sp>
      <p:sp>
        <p:nvSpPr>
          <p:cNvPr id="433" name="Google Shape;433;p5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1"/>
          <p:cNvSpPr txBox="1"/>
          <p:nvPr>
            <p:ph idx="1" type="body"/>
          </p:nvPr>
        </p:nvSpPr>
        <p:spPr>
          <a:xfrm>
            <a:off x="763325" y="970058"/>
            <a:ext cx="10885335" cy="4905955"/>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400"/>
              <a:buNone/>
            </a:pPr>
            <a:r>
              <a:rPr b="1" i="1" lang="en-US" sz="2400">
                <a:latin typeface="Times New Roman"/>
                <a:ea typeface="Times New Roman"/>
                <a:cs typeface="Times New Roman"/>
                <a:sym typeface="Times New Roman"/>
              </a:rPr>
              <a:t>Kết quả của kế hoạch 5 năm (1996 - 2000): </a:t>
            </a:r>
            <a:endParaRPr/>
          </a:p>
          <a:p>
            <a:pPr indent="-228600" lvl="0" marL="228600" rtl="0" algn="l">
              <a:lnSpc>
                <a:spcPct val="150000"/>
              </a:lnSpc>
              <a:spcBef>
                <a:spcPts val="1000"/>
              </a:spcBef>
              <a:spcAft>
                <a:spcPts val="0"/>
              </a:spcAft>
              <a:buClr>
                <a:schemeClr val="dk1"/>
              </a:buClr>
              <a:buSzPts val="2400"/>
              <a:buFont typeface="Arial"/>
              <a:buNone/>
            </a:pPr>
            <a:r>
              <a:t/>
            </a:r>
            <a:endParaRPr i="1"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Kinh tế tăng trưởng khá, GDP tăng bình quân hàng năm 7%</a:t>
            </a:r>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Văn hóa xã hội có những tiến bộ, đời sống nhân dân tiếp tục được cải thiện</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Tình hình chính trị - xã hội cơ bản ổn định, quốc phòng an ninh được tăng cường</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Công tác xây dựng, chỉnh đốn Đảng được chú trọng, hệ thống chính trị được củng cố</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Quan hệ đối ngoại không ngừng được mở rộng</a:t>
            </a:r>
            <a:endParaRPr sz="2400">
              <a:latin typeface="Times New Roman"/>
              <a:ea typeface="Times New Roman"/>
              <a:cs typeface="Times New Roman"/>
              <a:sym typeface="Times New Roman"/>
            </a:endParaRPr>
          </a:p>
          <a:p>
            <a:pPr indent="-228600" lvl="0" marL="228600" rtl="0" algn="l">
              <a:lnSpc>
                <a:spcPct val="15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76200" lvl="0" marL="228600" rtl="0" algn="l">
              <a:lnSpc>
                <a:spcPct val="15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439" name="Google Shape;439;p5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2"/>
          <p:cNvSpPr txBox="1"/>
          <p:nvPr>
            <p:ph idx="1" type="body"/>
          </p:nvPr>
        </p:nvSpPr>
        <p:spPr>
          <a:xfrm>
            <a:off x="302151" y="1216551"/>
            <a:ext cx="6249724" cy="4595854"/>
          </a:xfrm>
          <a:prstGeom prst="rect">
            <a:avLst/>
          </a:prstGeom>
          <a:noFill/>
          <a:ln>
            <a:noFill/>
          </a:ln>
        </p:spPr>
        <p:txBody>
          <a:bodyPr anchorCtr="0" anchor="t" bIns="45700" lIns="91425" spcFirstLastPara="1" rIns="91425" wrap="square" tIns="45700">
            <a:noAutofit/>
          </a:bodyPr>
          <a:lstStyle/>
          <a:p>
            <a:pPr indent="-228600" lvl="0" marL="228600" rtl="0" algn="just">
              <a:lnSpc>
                <a:spcPct val="160000"/>
              </a:lnSpc>
              <a:spcBef>
                <a:spcPts val="0"/>
              </a:spcBef>
              <a:spcAft>
                <a:spcPts val="0"/>
              </a:spcAft>
              <a:buClr>
                <a:schemeClr val="dk1"/>
              </a:buClr>
              <a:buSzPts val="2000"/>
              <a:buFont typeface="Arial"/>
              <a:buChar char="•"/>
            </a:pPr>
            <a:r>
              <a:rPr b="1" lang="en-US" sz="2000">
                <a:latin typeface="Times New Roman"/>
                <a:ea typeface="Times New Roman"/>
                <a:cs typeface="Times New Roman"/>
                <a:sym typeface="Times New Roman"/>
              </a:rPr>
              <a:t>Sơ lược đại hội:</a:t>
            </a:r>
            <a:endParaRPr/>
          </a:p>
          <a:p>
            <a:pPr indent="-228600" lvl="0" marL="228600" rtl="0" algn="just">
              <a:lnSpc>
                <a:spcPct val="160000"/>
              </a:lnSpc>
              <a:spcBef>
                <a:spcPts val="1000"/>
              </a:spcBef>
              <a:spcAft>
                <a:spcPts val="0"/>
              </a:spcAft>
              <a:buClr>
                <a:schemeClr val="dk1"/>
              </a:buClr>
              <a:buSzPts val="2000"/>
              <a:buFont typeface="Arial"/>
              <a:buNone/>
            </a:pPr>
            <a:r>
              <a:rPr i="1" lang="en-US" sz="2000">
                <a:latin typeface="Times New Roman"/>
                <a:ea typeface="Times New Roman"/>
                <a:cs typeface="Times New Roman"/>
                <a:sym typeface="Times New Roman"/>
              </a:rPr>
              <a:t>-   ĐH họp</a:t>
            </a:r>
            <a:r>
              <a:rPr lang="en-US" sz="2000">
                <a:latin typeface="Times New Roman"/>
                <a:ea typeface="Times New Roman"/>
                <a:cs typeface="Times New Roman"/>
                <a:sym typeface="Times New Roman"/>
              </a:rPr>
              <a:t> từ 19-24/4/2001 </a:t>
            </a:r>
            <a:r>
              <a:rPr i="1" lang="en-US" sz="2000">
                <a:latin typeface="Times New Roman"/>
                <a:ea typeface="Times New Roman"/>
                <a:cs typeface="Times New Roman"/>
                <a:sym typeface="Times New Roman"/>
              </a:rPr>
              <a:t>tại Hà Nội</a:t>
            </a:r>
            <a:r>
              <a:rPr lang="en-US" sz="2000">
                <a:latin typeface="Times New Roman"/>
                <a:ea typeface="Times New Roman"/>
                <a:cs typeface="Times New Roman"/>
                <a:sym typeface="Times New Roman"/>
              </a:rPr>
              <a:t>.</a:t>
            </a:r>
            <a:endParaRPr/>
          </a:p>
          <a:p>
            <a:pPr indent="-228600" lvl="0" marL="228600" rtl="0" algn="just">
              <a:lnSpc>
                <a:spcPct val="160000"/>
              </a:lnSpc>
              <a:spcBef>
                <a:spcPts val="1000"/>
              </a:spcBef>
              <a:spcAft>
                <a:spcPts val="0"/>
              </a:spcAft>
              <a:buClr>
                <a:schemeClr val="dk1"/>
              </a:buClr>
              <a:buSzPts val="2000"/>
              <a:buFont typeface="Arial"/>
              <a:buNone/>
            </a:pPr>
            <a:r>
              <a:rPr i="1" lang="en-US" sz="2000">
                <a:latin typeface="Times New Roman"/>
                <a:ea typeface="Times New Roman"/>
                <a:cs typeface="Times New Roman"/>
                <a:sym typeface="Times New Roman"/>
              </a:rPr>
              <a:t>-   Thành phần tham dự: </a:t>
            </a:r>
            <a:r>
              <a:rPr lang="en-US" sz="2000">
                <a:latin typeface="Times New Roman"/>
                <a:ea typeface="Times New Roman"/>
                <a:cs typeface="Times New Roman"/>
                <a:sym typeface="Times New Roman"/>
              </a:rPr>
              <a:t>1.168 đại biểu thay mặt cho 2.479.719 đảng viên trong cả nước và 35 đoàn đại biểu của các đảng và tổ chức quốc tế</a:t>
            </a:r>
            <a:endParaRPr sz="2000">
              <a:latin typeface="Times New Roman"/>
              <a:ea typeface="Times New Roman"/>
              <a:cs typeface="Times New Roman"/>
              <a:sym typeface="Times New Roman"/>
            </a:endParaRPr>
          </a:p>
          <a:p>
            <a:pPr indent="-228600" lvl="0" marL="228600" rtl="0" algn="just">
              <a:lnSpc>
                <a:spcPct val="160000"/>
              </a:lnSpc>
              <a:spcBef>
                <a:spcPts val="1000"/>
              </a:spcBef>
              <a:spcAft>
                <a:spcPts val="0"/>
              </a:spcAft>
              <a:buClr>
                <a:schemeClr val="dk1"/>
              </a:buClr>
              <a:buSzPts val="2000"/>
              <a:buFont typeface="Arial"/>
              <a:buNone/>
            </a:pPr>
            <a:r>
              <a:rPr i="1" lang="en-US" sz="2000">
                <a:latin typeface="Times New Roman"/>
                <a:ea typeface="Times New Roman"/>
                <a:cs typeface="Times New Roman"/>
                <a:sym typeface="Times New Roman"/>
              </a:rPr>
              <a:t>-   Chủ đề ĐH: </a:t>
            </a:r>
            <a:r>
              <a:rPr lang="en-US" sz="2000">
                <a:latin typeface="Times New Roman"/>
                <a:ea typeface="Times New Roman"/>
                <a:cs typeface="Times New Roman"/>
                <a:sym typeface="Times New Roman"/>
              </a:rPr>
              <a:t>“Phát huy sức mạnh toàn dân tộc, tiếp tục đổi mới, đẩy mạnh công nghiệp hóa, hiện đại hóa, xây dựng và bảo vệ tổ quốc Việt Nam xã hội chủ nghĩa”</a:t>
            </a:r>
            <a:endParaRPr/>
          </a:p>
          <a:p>
            <a:pPr indent="-457200" lvl="0" marL="457200" rtl="0" algn="just">
              <a:lnSpc>
                <a:spcPct val="160000"/>
              </a:lnSpc>
              <a:spcBef>
                <a:spcPts val="1000"/>
              </a:spcBef>
              <a:spcAft>
                <a:spcPts val="0"/>
              </a:spcAft>
              <a:buClr>
                <a:schemeClr val="dk1"/>
              </a:buClr>
              <a:buSzPts val="2000"/>
              <a:buNone/>
            </a:pPr>
            <a:r>
              <a:t/>
            </a:r>
            <a:endParaRPr i="1" sz="2000" u="sng">
              <a:latin typeface="Times New Roman"/>
              <a:ea typeface="Times New Roman"/>
              <a:cs typeface="Times New Roman"/>
              <a:sym typeface="Times New Roman"/>
            </a:endParaRPr>
          </a:p>
          <a:p>
            <a:pPr indent="-101600" lvl="0" marL="228600" rtl="0" algn="just">
              <a:lnSpc>
                <a:spcPct val="16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p:txBody>
      </p:sp>
      <p:sp>
        <p:nvSpPr>
          <p:cNvPr id="445" name="Google Shape;445;p5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446" name="Google Shape;446;p52"/>
          <p:cNvSpPr txBox="1"/>
          <p:nvPr/>
        </p:nvSpPr>
        <p:spPr>
          <a:xfrm>
            <a:off x="2117035" y="396590"/>
            <a:ext cx="9070450" cy="733471"/>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lang="en-US" sz="1800">
                <a:solidFill>
                  <a:srgbClr val="FF0000"/>
                </a:solidFill>
                <a:latin typeface="Times New Roman"/>
                <a:ea typeface="Times New Roman"/>
                <a:cs typeface="Times New Roman"/>
                <a:sym typeface="Times New Roman"/>
              </a:rPr>
              <a:t>Đại hội đại biểu toàn quốc lần thứ IX, tiếp tục đẩy mạnh công nghiệp hoá, hiện đại hoá đất nước 2001-2006</a:t>
            </a:r>
            <a:endParaRPr b="1" sz="1400">
              <a:solidFill>
                <a:schemeClr val="dk1"/>
              </a:solidFill>
              <a:latin typeface="Calibri"/>
              <a:ea typeface="Calibri"/>
              <a:cs typeface="Calibri"/>
              <a:sym typeface="Calibri"/>
            </a:endParaRPr>
          </a:p>
        </p:txBody>
      </p:sp>
      <p:pic>
        <p:nvPicPr>
          <p:cNvPr descr="Phiên làm việc đầu tiên Đại hội đại biểu MTTQ Việt Nam lần thứ IX" id="447" name="Google Shape;447;p52"/>
          <p:cNvPicPr preferRelativeResize="0"/>
          <p:nvPr/>
        </p:nvPicPr>
        <p:blipFill rotWithShape="1">
          <a:blip r:embed="rId3">
            <a:alphaModFix/>
          </a:blip>
          <a:srcRect b="0" l="0" r="0" t="0"/>
          <a:stretch/>
        </p:blipFill>
        <p:spPr>
          <a:xfrm>
            <a:off x="6654992" y="1685677"/>
            <a:ext cx="4953911" cy="407901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l 9.bmp" id="452" name="Google Shape;452;p53"/>
          <p:cNvPicPr preferRelativeResize="0"/>
          <p:nvPr>
            <p:ph idx="1" type="body"/>
          </p:nvPr>
        </p:nvPicPr>
        <p:blipFill rotWithShape="1">
          <a:blip r:embed="rId3">
            <a:alphaModFix/>
          </a:blip>
          <a:srcRect b="0" l="0" r="0" t="0"/>
          <a:stretch/>
        </p:blipFill>
        <p:spPr>
          <a:xfrm>
            <a:off x="866693" y="1343770"/>
            <a:ext cx="4756234" cy="3776870"/>
          </a:xfrm>
          <a:prstGeom prst="rect">
            <a:avLst/>
          </a:prstGeom>
          <a:noFill/>
          <a:ln>
            <a:noFill/>
          </a:ln>
        </p:spPr>
      </p:pic>
      <p:sp>
        <p:nvSpPr>
          <p:cNvPr id="453" name="Google Shape;453;p53"/>
          <p:cNvSpPr txBox="1"/>
          <p:nvPr>
            <p:ph idx="2" type="body"/>
          </p:nvPr>
        </p:nvSpPr>
        <p:spPr>
          <a:xfrm>
            <a:off x="5649402" y="1388828"/>
            <a:ext cx="5331350" cy="4415624"/>
          </a:xfrm>
          <a:prstGeom prst="rect">
            <a:avLst/>
          </a:prstGeom>
          <a:noFill/>
          <a:ln>
            <a:noFill/>
          </a:ln>
        </p:spPr>
        <p:txBody>
          <a:bodyPr anchorCtr="0" anchor="t" bIns="45700" lIns="91425" spcFirstLastPara="1" rIns="91425" wrap="square" tIns="45700">
            <a:normAutofit lnSpcReduction="10000"/>
          </a:bodyPr>
          <a:lstStyle/>
          <a:p>
            <a:pPr indent="-228600" lvl="0" marL="228600" rtl="0" algn="ctr">
              <a:lnSpc>
                <a:spcPct val="90000"/>
              </a:lnSpc>
              <a:spcBef>
                <a:spcPts val="0"/>
              </a:spcBef>
              <a:spcAft>
                <a:spcPts val="0"/>
              </a:spcAft>
              <a:buClr>
                <a:schemeClr val="dk1"/>
              </a:buClr>
              <a:buSzPts val="2400"/>
              <a:buFont typeface="Arial"/>
              <a:buNone/>
            </a:pPr>
            <a:r>
              <a:rPr i="1" lang="en-US" sz="2400"/>
              <a:t>- ĐH đã thông qua:</a:t>
            </a:r>
            <a:endParaRPr/>
          </a:p>
          <a:p>
            <a:pPr indent="-228600" lvl="0" marL="228600" rtl="0" algn="l">
              <a:lnSpc>
                <a:spcPct val="90000"/>
              </a:lnSpc>
              <a:spcBef>
                <a:spcPts val="1000"/>
              </a:spcBef>
              <a:spcAft>
                <a:spcPts val="0"/>
              </a:spcAft>
              <a:buClr>
                <a:schemeClr val="dk1"/>
              </a:buClr>
              <a:buSzPts val="2400"/>
              <a:buFont typeface="Arial"/>
              <a:buNone/>
            </a:pPr>
            <a:r>
              <a:rPr lang="en-US" sz="2400"/>
              <a:t>+ Báo cáo chính trị</a:t>
            </a:r>
            <a:endParaRPr sz="2400"/>
          </a:p>
          <a:p>
            <a:pPr indent="-228600" lvl="0" marL="228600" rtl="0" algn="l">
              <a:lnSpc>
                <a:spcPct val="90000"/>
              </a:lnSpc>
              <a:spcBef>
                <a:spcPts val="1000"/>
              </a:spcBef>
              <a:spcAft>
                <a:spcPts val="0"/>
              </a:spcAft>
              <a:buClr>
                <a:schemeClr val="dk1"/>
              </a:buClr>
              <a:buSzPts val="2400"/>
              <a:buFont typeface="Arial"/>
              <a:buNone/>
            </a:pPr>
            <a:r>
              <a:rPr lang="en-US" sz="2400"/>
              <a:t>+ Chiến lược phát triển kinh tế - xã hội 2001-2010</a:t>
            </a:r>
            <a:endParaRPr/>
          </a:p>
          <a:p>
            <a:pPr indent="-228600" lvl="0" marL="228600" rtl="0" algn="l">
              <a:lnSpc>
                <a:spcPct val="90000"/>
              </a:lnSpc>
              <a:spcBef>
                <a:spcPts val="1000"/>
              </a:spcBef>
              <a:spcAft>
                <a:spcPts val="0"/>
              </a:spcAft>
              <a:buClr>
                <a:schemeClr val="dk1"/>
              </a:buClr>
              <a:buSzPts val="2400"/>
              <a:buFont typeface="Arial"/>
              <a:buNone/>
            </a:pPr>
            <a:r>
              <a:rPr lang="en-US" sz="2400"/>
              <a:t>+ Phương hướng, nhiệm vụ kế hoạch phát triển kinh tế - xã hội 2001-2005</a:t>
            </a:r>
            <a:endParaRPr/>
          </a:p>
          <a:p>
            <a:pPr indent="-228600" lvl="0" marL="228600" rtl="0" algn="l">
              <a:lnSpc>
                <a:spcPct val="90000"/>
              </a:lnSpc>
              <a:spcBef>
                <a:spcPts val="1000"/>
              </a:spcBef>
              <a:spcAft>
                <a:spcPts val="0"/>
              </a:spcAft>
              <a:buClr>
                <a:schemeClr val="dk1"/>
              </a:buClr>
              <a:buSzPts val="2400"/>
              <a:buFont typeface="Arial"/>
              <a:buNone/>
            </a:pPr>
            <a:r>
              <a:rPr lang="en-US" sz="2400"/>
              <a:t>+ Báo cáo bổ sung, sửa đổi điều lệ Đảng</a:t>
            </a:r>
            <a:endParaRPr sz="2400"/>
          </a:p>
          <a:p>
            <a:pPr indent="-228600" lvl="0" marL="228600" rtl="0" algn="l">
              <a:lnSpc>
                <a:spcPct val="90000"/>
              </a:lnSpc>
              <a:spcBef>
                <a:spcPts val="1000"/>
              </a:spcBef>
              <a:spcAft>
                <a:spcPts val="0"/>
              </a:spcAft>
              <a:buClr>
                <a:schemeClr val="dk1"/>
              </a:buClr>
              <a:buSzPts val="2400"/>
              <a:buFont typeface="Arial"/>
              <a:buNone/>
            </a:pPr>
            <a:r>
              <a:rPr lang="en-US" sz="2400"/>
              <a:t>+ Báo cáo kiểm điểm của BCH TW khóa VIII</a:t>
            </a:r>
            <a:endParaRPr/>
          </a:p>
          <a:p>
            <a:pPr indent="-228600" lvl="0" marL="228600" rtl="0" algn="l">
              <a:lnSpc>
                <a:spcPct val="90000"/>
              </a:lnSpc>
              <a:spcBef>
                <a:spcPts val="1000"/>
              </a:spcBef>
              <a:spcAft>
                <a:spcPts val="0"/>
              </a:spcAft>
              <a:buClr>
                <a:schemeClr val="dk1"/>
              </a:buClr>
              <a:buSzPts val="2400"/>
              <a:buFont typeface="Arial"/>
              <a:buNone/>
            </a:pPr>
            <a:r>
              <a:rPr lang="en-US" sz="2400"/>
              <a:t>+ Báo cáo tình hình thực hiện nghị quyết TW 6 (lần 2)</a:t>
            </a:r>
            <a:endParaRPr/>
          </a:p>
        </p:txBody>
      </p:sp>
      <p:sp>
        <p:nvSpPr>
          <p:cNvPr id="454" name="Google Shape;454;p53"/>
          <p:cNvSpPr txBox="1"/>
          <p:nvPr/>
        </p:nvSpPr>
        <p:spPr>
          <a:xfrm>
            <a:off x="1682350" y="5412188"/>
            <a:ext cx="214033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IX</a:t>
            </a:r>
            <a:endParaRPr/>
          </a:p>
        </p:txBody>
      </p:sp>
      <p:sp>
        <p:nvSpPr>
          <p:cNvPr id="455" name="Google Shape;455;p5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4"/>
          <p:cNvSpPr txBox="1"/>
          <p:nvPr>
            <p:ph idx="1" type="body"/>
          </p:nvPr>
        </p:nvSpPr>
        <p:spPr>
          <a:xfrm>
            <a:off x="572493" y="1415332"/>
            <a:ext cx="11028459" cy="537972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400"/>
              <a:buNone/>
            </a:pPr>
            <a:r>
              <a:rPr b="1" lang="en-US" sz="2400">
                <a:latin typeface="Times New Roman"/>
                <a:ea typeface="Times New Roman"/>
                <a:cs typeface="Times New Roman"/>
                <a:sym typeface="Times New Roman"/>
              </a:rPr>
              <a:t>					Nội dung Đại hội IX:</a:t>
            </a:r>
            <a:endParaRPr/>
          </a:p>
          <a:p>
            <a:pPr indent="-228600" lvl="0" marL="228600" rtl="0" algn="just">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Đại hội đánh giá </a:t>
            </a:r>
            <a:r>
              <a:rPr lang="en-US" sz="2400">
                <a:latin typeface="Times New Roman"/>
                <a:ea typeface="Times New Roman"/>
                <a:cs typeface="Times New Roman"/>
                <a:sym typeface="Times New Roman"/>
              </a:rPr>
              <a:t>tình hình thế giới và trong nước trong thế kỷ XX:</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Đại hội phân tích </a:t>
            </a:r>
            <a:r>
              <a:rPr lang="en-US" sz="2400">
                <a:latin typeface="Times New Roman"/>
                <a:ea typeface="Times New Roman"/>
                <a:cs typeface="Times New Roman"/>
                <a:sym typeface="Times New Roman"/>
              </a:rPr>
              <a:t>những bài học kinh nghiệm qua 15 năm đổi mới (1986-2001), </a:t>
            </a:r>
            <a:r>
              <a:rPr i="1" lang="en-US" sz="2400">
                <a:latin typeface="Times New Roman"/>
                <a:ea typeface="Times New Roman"/>
                <a:cs typeface="Times New Roman"/>
                <a:sym typeface="Times New Roman"/>
              </a:rPr>
              <a:t>nhấn mạnh các bài học chủ yếu:</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Một là: trong quá trình đổi mới phải kiên trì mục tiêu độc lập dân tộc vả CNXH trên nền tảng chủ nghĩa Mac-Lenin và tư tưởng Hồ Chí Minh</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Hai là: đổi mới phải dựa vào nhân dân, vì lợi ích của nhân dân, phù hợp với thực tiễn và luôn sang tạo</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Ba là: đổi mới phải kết hợp sức mạnh dân tộc với sức mạnh thời đại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Bốn là: đường lối đúng đắn của Đảng là nhân tố quyết định thành công của sự nghiệp đổi mới</a:t>
            </a:r>
            <a:endParaRPr sz="2400">
              <a:latin typeface="Times New Roman"/>
              <a:ea typeface="Times New Roman"/>
              <a:cs typeface="Times New Roman"/>
              <a:sym typeface="Times New Roman"/>
            </a:endParaRPr>
          </a:p>
          <a:p>
            <a:pPr indent="-76200" lvl="0" marL="228600" rtl="0" algn="just">
              <a:lnSpc>
                <a:spcPct val="90000"/>
              </a:lnSpc>
              <a:spcBef>
                <a:spcPts val="100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461" name="Google Shape;461;p5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ph idx="1" type="body"/>
          </p:nvPr>
        </p:nvSpPr>
        <p:spPr>
          <a:xfrm>
            <a:off x="707665" y="1861268"/>
            <a:ext cx="10996655" cy="4181723"/>
          </a:xfrm>
          <a:prstGeom prst="rect">
            <a:avLst/>
          </a:prstGeom>
          <a:noFill/>
          <a:ln>
            <a:noFill/>
          </a:ln>
        </p:spPr>
        <p:txBody>
          <a:bodyPr anchorCtr="0" anchor="t" bIns="45700" lIns="91425" spcFirstLastPara="1" rIns="91425" wrap="square" tIns="45700">
            <a:normAutofit fontScale="32500" lnSpcReduction="20000"/>
          </a:bodyPr>
          <a:lstStyle/>
          <a:p>
            <a:pPr indent="-228631" lvl="0" marL="228600" rtl="0" algn="l">
              <a:lnSpc>
                <a:spcPct val="160000"/>
              </a:lnSpc>
              <a:spcBef>
                <a:spcPts val="0"/>
              </a:spcBef>
              <a:spcAft>
                <a:spcPts val="0"/>
              </a:spcAft>
              <a:buClr>
                <a:schemeClr val="dk1"/>
              </a:buClr>
              <a:buSzPct val="100000"/>
              <a:buFont typeface="Times New Roman"/>
              <a:buChar char="-"/>
            </a:pPr>
            <a:r>
              <a:rPr b="1" i="1" lang="en-US" sz="5100">
                <a:latin typeface="Times New Roman"/>
                <a:ea typeface="Times New Roman"/>
                <a:cs typeface="Times New Roman"/>
                <a:sym typeface="Times New Roman"/>
              </a:rPr>
              <a:t>Đại hội thông qua chiến lược phát triển kinh tế-xã hội 10 năm đầu thế kỷ XX:</a:t>
            </a:r>
            <a:endParaRPr/>
          </a:p>
          <a:p>
            <a:pPr indent="-228631" lvl="0" marL="228600" rtl="0" algn="l">
              <a:lnSpc>
                <a:spcPct val="160000"/>
              </a:lnSpc>
              <a:spcBef>
                <a:spcPts val="1000"/>
              </a:spcBef>
              <a:spcAft>
                <a:spcPts val="0"/>
              </a:spcAft>
              <a:buClr>
                <a:schemeClr val="dk1"/>
              </a:buClr>
              <a:buSzPct val="100000"/>
              <a:buChar char="•"/>
            </a:pPr>
            <a:r>
              <a:rPr lang="en-US" sz="5100">
                <a:latin typeface="Times New Roman"/>
                <a:ea typeface="Times New Roman"/>
                <a:cs typeface="Times New Roman"/>
                <a:sym typeface="Times New Roman"/>
              </a:rPr>
              <a:t>Mục tiêu: đưa nước ta ra khỏi tình trạng kém phát triển, nâng cao rõ rệt đời sống vật chất, văn hóa, tinh thần của nhân dân, tạo nền tảng để đến năm 2010 nước ta cơ bản trở thành một nước công nghiệp theo hướng hiện đại. vị thế của nước ta trên trường quốc tế được nâng cao</a:t>
            </a:r>
            <a:endParaRPr sz="5100">
              <a:latin typeface="Times New Roman"/>
              <a:ea typeface="Times New Roman"/>
              <a:cs typeface="Times New Roman"/>
              <a:sym typeface="Times New Roman"/>
            </a:endParaRPr>
          </a:p>
          <a:p>
            <a:pPr indent="-228631" lvl="0" marL="228600" rtl="0" algn="l">
              <a:lnSpc>
                <a:spcPct val="160000"/>
              </a:lnSpc>
              <a:spcBef>
                <a:spcPts val="1000"/>
              </a:spcBef>
              <a:spcAft>
                <a:spcPts val="0"/>
              </a:spcAft>
              <a:buClr>
                <a:schemeClr val="dk1"/>
              </a:buClr>
              <a:buSzPct val="100000"/>
              <a:buChar char="•"/>
            </a:pPr>
            <a:r>
              <a:rPr lang="en-US" sz="5100">
                <a:latin typeface="Times New Roman"/>
                <a:ea typeface="Times New Roman"/>
                <a:cs typeface="Times New Roman"/>
                <a:sym typeface="Times New Roman"/>
              </a:rPr>
              <a:t>Đến năm 2010, GDP tăng ít nhất gấp đôi năm 2000, chuyển dịch mạnh cơ cấu kinh tế và cơ cấu lao động, giảm tỷ lệ lao động nông nghiệp xuống còn 50%</a:t>
            </a:r>
            <a:endParaRPr i="1" sz="5100">
              <a:latin typeface="Times New Roman"/>
              <a:ea typeface="Times New Roman"/>
              <a:cs typeface="Times New Roman"/>
              <a:sym typeface="Times New Roman"/>
            </a:endParaRPr>
          </a:p>
          <a:p>
            <a:pPr indent="-228600" lvl="0" marL="228600" rtl="0" algn="l">
              <a:lnSpc>
                <a:spcPct val="160000"/>
              </a:lnSpc>
              <a:spcBef>
                <a:spcPts val="1000"/>
              </a:spcBef>
              <a:spcAft>
                <a:spcPts val="0"/>
              </a:spcAft>
              <a:buClr>
                <a:schemeClr val="dk1"/>
              </a:buClr>
              <a:buSzPct val="100000"/>
              <a:buFont typeface="Arial"/>
              <a:buNone/>
            </a:pPr>
            <a:r>
              <a:rPr lang="en-US" sz="5100">
                <a:latin typeface="Times New Roman"/>
                <a:ea typeface="Times New Roman"/>
                <a:cs typeface="Times New Roman"/>
                <a:sym typeface="Times New Roman"/>
              </a:rPr>
              <a:t>-   </a:t>
            </a:r>
            <a:r>
              <a:rPr b="1" i="1" lang="en-US" sz="5100">
                <a:latin typeface="Times New Roman"/>
                <a:ea typeface="Times New Roman"/>
                <a:cs typeface="Times New Roman"/>
                <a:sym typeface="Times New Roman"/>
              </a:rPr>
              <a:t>Đại hội thông qua chiến lược phát triển kinh tế - xã hội trong 5 năm (2001-2005)</a:t>
            </a:r>
            <a:endParaRPr/>
          </a:p>
          <a:p>
            <a:pPr indent="-228600" lvl="0" marL="228600" rtl="0" algn="l">
              <a:lnSpc>
                <a:spcPct val="160000"/>
              </a:lnSpc>
              <a:spcBef>
                <a:spcPts val="1000"/>
              </a:spcBef>
              <a:spcAft>
                <a:spcPts val="0"/>
              </a:spcAft>
              <a:buClr>
                <a:schemeClr val="dk1"/>
              </a:buClr>
              <a:buSzPct val="100000"/>
              <a:buFont typeface="Arial"/>
              <a:buNone/>
            </a:pPr>
            <a:r>
              <a:rPr lang="en-US" sz="5100">
                <a:latin typeface="Times New Roman"/>
                <a:ea typeface="Times New Roman"/>
                <a:cs typeface="Times New Roman"/>
                <a:sym typeface="Times New Roman"/>
              </a:rPr>
              <a:t>      + Mục tiêu của kế hoạch 5 năm</a:t>
            </a:r>
            <a:endParaRPr sz="5100">
              <a:latin typeface="Times New Roman"/>
              <a:ea typeface="Times New Roman"/>
              <a:cs typeface="Times New Roman"/>
              <a:sym typeface="Times New Roman"/>
            </a:endParaRPr>
          </a:p>
          <a:p>
            <a:pPr indent="-228600" lvl="0" marL="228600" rtl="0" algn="l">
              <a:lnSpc>
                <a:spcPct val="160000"/>
              </a:lnSpc>
              <a:spcBef>
                <a:spcPts val="1000"/>
              </a:spcBef>
              <a:spcAft>
                <a:spcPts val="0"/>
              </a:spcAft>
              <a:buClr>
                <a:schemeClr val="dk1"/>
              </a:buClr>
              <a:buSzPct val="100000"/>
              <a:buFont typeface="Arial"/>
              <a:buNone/>
            </a:pPr>
            <a:r>
              <a:rPr lang="en-US" sz="5100">
                <a:latin typeface="Times New Roman"/>
                <a:ea typeface="Times New Roman"/>
                <a:cs typeface="Times New Roman"/>
                <a:sym typeface="Times New Roman"/>
              </a:rPr>
              <a:t>      + Phương hướng thực hiện</a:t>
            </a:r>
            <a:endParaRPr sz="5100">
              <a:latin typeface="Times New Roman"/>
              <a:ea typeface="Times New Roman"/>
              <a:cs typeface="Times New Roman"/>
              <a:sym typeface="Times New Roman"/>
            </a:endParaRPr>
          </a:p>
          <a:p>
            <a:pPr indent="-228600" lvl="0" marL="228600" rtl="0" algn="l">
              <a:lnSpc>
                <a:spcPct val="160000"/>
              </a:lnSpc>
              <a:spcBef>
                <a:spcPts val="1000"/>
              </a:spcBef>
              <a:spcAft>
                <a:spcPts val="0"/>
              </a:spcAft>
              <a:buClr>
                <a:schemeClr val="dk1"/>
              </a:buClr>
              <a:buSzPct val="100000"/>
              <a:buFont typeface="Arial"/>
              <a:buNone/>
            </a:pPr>
            <a:r>
              <a:t/>
            </a:r>
            <a:endParaRPr sz="1800">
              <a:latin typeface="Times New Roman"/>
              <a:ea typeface="Times New Roman"/>
              <a:cs typeface="Times New Roman"/>
              <a:sym typeface="Times New Roman"/>
            </a:endParaRPr>
          </a:p>
          <a:p>
            <a:pPr indent="-191452" lvl="0" marL="228600" rtl="0" algn="l">
              <a:lnSpc>
                <a:spcPct val="16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p:txBody>
      </p:sp>
      <p:sp>
        <p:nvSpPr>
          <p:cNvPr id="467" name="Google Shape;467;p5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6"/>
          <p:cNvSpPr txBox="1"/>
          <p:nvPr>
            <p:ph idx="1" type="body"/>
          </p:nvPr>
        </p:nvSpPr>
        <p:spPr>
          <a:xfrm>
            <a:off x="421419" y="1442499"/>
            <a:ext cx="10901238" cy="4234732"/>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150000"/>
              </a:lnSpc>
              <a:spcBef>
                <a:spcPts val="0"/>
              </a:spcBef>
              <a:spcAft>
                <a:spcPts val="0"/>
              </a:spcAft>
              <a:buClr>
                <a:schemeClr val="dk1"/>
              </a:buClr>
              <a:buSzPct val="100000"/>
              <a:buFont typeface="Arial"/>
              <a:buNone/>
            </a:pPr>
            <a:r>
              <a:rPr b="1" lang="en-US" sz="2400">
                <a:latin typeface="Times New Roman"/>
                <a:ea typeface="Times New Roman"/>
                <a:cs typeface="Times New Roman"/>
                <a:sym typeface="Times New Roman"/>
              </a:rPr>
              <a:t>-   </a:t>
            </a:r>
            <a:r>
              <a:rPr b="1" i="1" lang="en-US" sz="2400">
                <a:latin typeface="Times New Roman"/>
                <a:ea typeface="Times New Roman"/>
                <a:cs typeface="Times New Roman"/>
                <a:sym typeface="Times New Roman"/>
              </a:rPr>
              <a:t>Đại hội IX đã bổ sung thêm những quan điểm của Đảng về con đường đi lên CNXH của nước ta:</a:t>
            </a:r>
            <a:endParaRPr/>
          </a:p>
          <a:p>
            <a:pPr indent="-228600" lvl="0" marL="228600" rtl="0" algn="just">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Về mục tiêu của cách mạng, lý tưởng của Đảng: xây dựng 1 nước Việt Nam “ dân giàu, nước mạnh, xã hội công bằng, dân chủ, văn minh”</a:t>
            </a:r>
            <a:endParaRPr/>
          </a:p>
          <a:p>
            <a:pPr indent="-228600" lvl="0" marL="228600" rtl="0" algn="just">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Về mô hình kinh tế tổng quát: “kinh tế thị trường theo định hướng XHCN”</a:t>
            </a:r>
            <a:endParaRPr/>
          </a:p>
          <a:p>
            <a:pPr indent="-228600" lvl="0" marL="228600" rtl="0" algn="just">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Về chế độ sở hữu các thành phần kinh tế: có 6 thành phần kinh tế (bổ sung thêm thành phần kinh tế có vốn đầu tư nước ngoài)</a:t>
            </a:r>
            <a:endParaRPr/>
          </a:p>
          <a:p>
            <a:pPr indent="-228600" lvl="0" marL="228600" rtl="0" algn="just">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Về xây dựng nền kinh tế độc lập, tự chủ và chủ động hội nhập kinh tế quốc tế:</a:t>
            </a:r>
            <a:endParaRPr/>
          </a:p>
          <a:p>
            <a:pPr indent="-228600" lvl="0" marL="228600" rtl="0" algn="just">
              <a:lnSpc>
                <a:spcPct val="150000"/>
              </a:lnSpc>
              <a:spcBef>
                <a:spcPts val="1000"/>
              </a:spcBef>
              <a:spcAft>
                <a:spcPts val="0"/>
              </a:spcAft>
              <a:buClr>
                <a:schemeClr val="dk1"/>
              </a:buClr>
              <a:buSzPct val="100000"/>
              <a:buFont typeface="Arial"/>
              <a:buNone/>
            </a:pPr>
            <a:r>
              <a:t/>
            </a:r>
            <a:endParaRPr sz="2400">
              <a:latin typeface="Times New Roman"/>
              <a:ea typeface="Times New Roman"/>
              <a:cs typeface="Times New Roman"/>
              <a:sym typeface="Times New Roman"/>
            </a:endParaRPr>
          </a:p>
        </p:txBody>
      </p:sp>
      <p:sp>
        <p:nvSpPr>
          <p:cNvPr id="473" name="Google Shape;473;p5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7"/>
          <p:cNvSpPr txBox="1"/>
          <p:nvPr>
            <p:ph idx="1" type="body"/>
          </p:nvPr>
        </p:nvSpPr>
        <p:spPr>
          <a:xfrm>
            <a:off x="540689" y="1327868"/>
            <a:ext cx="10726310" cy="5033176"/>
          </a:xfrm>
          <a:prstGeom prst="rect">
            <a:avLst/>
          </a:prstGeom>
          <a:noFill/>
          <a:ln>
            <a:noFill/>
          </a:ln>
        </p:spPr>
        <p:txBody>
          <a:bodyPr anchorCtr="0" anchor="t" bIns="45700" lIns="91425" spcFirstLastPara="1" rIns="91425" wrap="square" tIns="45700">
            <a:normAutofit/>
          </a:bodyPr>
          <a:lstStyle/>
          <a:p>
            <a:pPr indent="-76200" lvl="0" marL="228600" rtl="0" algn="just">
              <a:lnSpc>
                <a:spcPct val="90000"/>
              </a:lnSpc>
              <a:spcBef>
                <a:spcPts val="0"/>
              </a:spcBef>
              <a:spcAft>
                <a:spcPts val="0"/>
              </a:spcAft>
              <a:buClr>
                <a:schemeClr val="dk1"/>
              </a:buClr>
              <a:buSzPts val="2400"/>
              <a:buFont typeface="Calibri"/>
              <a:buNone/>
            </a:pPr>
            <a:r>
              <a:t/>
            </a:r>
            <a:endParaRPr i="1"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ĐH đã bầu BCH TW Đảng khóa IX </a:t>
            </a:r>
            <a:r>
              <a:rPr lang="en-US" sz="2400">
                <a:latin typeface="Times New Roman"/>
                <a:ea typeface="Times New Roman"/>
                <a:cs typeface="Times New Roman"/>
                <a:sym typeface="Times New Roman"/>
              </a:rPr>
              <a:t>gồm 150 ủy viên</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Bộ chính trị gồm 15 ủy viên.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Đ/c Nông Đức Mạnh được </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bầu làm Tổng bí thư Đảng</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=&gt; </a:t>
            </a:r>
            <a:r>
              <a:rPr b="1" i="1" lang="en-US" sz="2400">
                <a:latin typeface="Times New Roman"/>
                <a:ea typeface="Times New Roman"/>
                <a:cs typeface="Times New Roman"/>
                <a:sym typeface="Times New Roman"/>
              </a:rPr>
              <a:t>Đây là đại hội của trí tuệ, dân chủ, đoàn kết, đổi mới, thể hiện ý chí kiên cường và niềm hy vọng lớn lao của cả dân tộc trong thời điểm lịch sử trọng đại bước vào thế kỷ mới, thiên niên kỷ mới</a:t>
            </a:r>
            <a:endParaRPr b="1" i="1" sz="2400">
              <a:latin typeface="Times New Roman"/>
              <a:ea typeface="Times New Roman"/>
              <a:cs typeface="Times New Roman"/>
              <a:sym typeface="Times New Roman"/>
            </a:endParaRPr>
          </a:p>
        </p:txBody>
      </p:sp>
      <p:pic>
        <p:nvPicPr>
          <p:cNvPr descr="NongDucManh" id="479" name="Google Shape;479;p57"/>
          <p:cNvPicPr preferRelativeResize="0"/>
          <p:nvPr/>
        </p:nvPicPr>
        <p:blipFill rotWithShape="1">
          <a:blip r:embed="rId3">
            <a:alphaModFix/>
          </a:blip>
          <a:srcRect b="0" l="0" r="0" t="0"/>
          <a:stretch/>
        </p:blipFill>
        <p:spPr>
          <a:xfrm>
            <a:off x="9560120" y="425395"/>
            <a:ext cx="1916113" cy="2667000"/>
          </a:xfrm>
          <a:prstGeom prst="rect">
            <a:avLst/>
          </a:prstGeom>
          <a:noFill/>
          <a:ln>
            <a:noFill/>
          </a:ln>
        </p:spPr>
      </p:pic>
      <p:sp>
        <p:nvSpPr>
          <p:cNvPr id="480" name="Google Shape;480;p57"/>
          <p:cNvSpPr txBox="1"/>
          <p:nvPr/>
        </p:nvSpPr>
        <p:spPr>
          <a:xfrm>
            <a:off x="9411031" y="3284716"/>
            <a:ext cx="235585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Đ/c Nông Đức Mạnh</a:t>
            </a:r>
            <a:endParaRPr sz="2000">
              <a:solidFill>
                <a:srgbClr val="0000CC"/>
              </a:solidFill>
              <a:latin typeface="Calibri"/>
              <a:ea typeface="Calibri"/>
              <a:cs typeface="Calibri"/>
              <a:sym typeface="Calibri"/>
            </a:endParaRPr>
          </a:p>
        </p:txBody>
      </p:sp>
      <p:sp>
        <p:nvSpPr>
          <p:cNvPr id="481" name="Google Shape;481;p57"/>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000"/>
                                        <p:tgtEl>
                                          <p:spTgt spid="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8"/>
          <p:cNvSpPr txBox="1"/>
          <p:nvPr>
            <p:ph idx="1" type="body"/>
          </p:nvPr>
        </p:nvSpPr>
        <p:spPr>
          <a:xfrm>
            <a:off x="739473" y="1422621"/>
            <a:ext cx="10869432" cy="431027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just">
              <a:lnSpc>
                <a:spcPct val="150000"/>
              </a:lnSpc>
              <a:spcBef>
                <a:spcPts val="0"/>
              </a:spcBef>
              <a:spcAft>
                <a:spcPts val="0"/>
              </a:spcAft>
              <a:buClr>
                <a:schemeClr val="dk1"/>
              </a:buClr>
              <a:buSzPct val="100000"/>
              <a:buNone/>
            </a:pPr>
            <a:r>
              <a:rPr lang="en-US" sz="2400">
                <a:latin typeface="Times New Roman"/>
                <a:ea typeface="Times New Roman"/>
                <a:cs typeface="Times New Roman"/>
                <a:sym typeface="Times New Roman"/>
              </a:rPr>
              <a:t>	Từ sau ĐH Đảng IX, toàn Đảng, toàn quân và toàn dân đã phát huy trí tuệ và năng lực thực hiện Nghị quyết của ĐH. BCH TW đã triển khai các hội nghị định kỳ để bàn luận và ra các nghị quyết , từng bước đổi mới nội dung và phương thức lãnh đạo. Nội dung của các nghị quyết TW cụ thể như sau:</a:t>
            </a:r>
            <a:endParaRPr/>
          </a:p>
          <a:p>
            <a:pPr indent="-228600" lvl="0" marL="228600" rtl="0" algn="just">
              <a:lnSpc>
                <a:spcPct val="9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3 (9/2001)</a:t>
            </a:r>
            <a:endParaRPr/>
          </a:p>
          <a:p>
            <a:pPr indent="-228600" lvl="0" marL="228600" rtl="0" algn="just">
              <a:lnSpc>
                <a:spcPct val="9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4 (11/2001)</a:t>
            </a:r>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Hội nghị BCH TW Đảng lần 5 (2/2002)</a:t>
            </a:r>
            <a:endParaRPr/>
          </a:p>
          <a:p>
            <a:pPr indent="-228600" lvl="0" marL="228600" rtl="0" algn="just">
              <a:lnSpc>
                <a:spcPct val="9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Hội nghị BCH TW Đảng lần 6 (7/2002)</a:t>
            </a:r>
            <a:endParaRPr/>
          </a:p>
          <a:p>
            <a:pPr indent="-228600" lvl="0" marL="228600" rtl="0" algn="just">
              <a:lnSpc>
                <a:spcPct val="9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7 (3/2003)</a:t>
            </a:r>
            <a:endParaRPr/>
          </a:p>
          <a:p>
            <a:pPr indent="-228600" lvl="0" marL="228600" rtl="0" algn="just">
              <a:lnSpc>
                <a:spcPct val="9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8 (7/2003)</a:t>
            </a:r>
            <a:endParaRPr/>
          </a:p>
          <a:p>
            <a:pPr indent="-228600" lvl="0" marL="228600" rtl="0" algn="just">
              <a:lnSpc>
                <a:spcPct val="90000"/>
              </a:lnSpc>
              <a:spcBef>
                <a:spcPts val="100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Hội nghị BCH TW Đảng lần 9 (1/2004)</a:t>
            </a:r>
            <a:endParaRPr/>
          </a:p>
          <a:p>
            <a:pPr indent="-99060" lvl="0" marL="228600" rtl="0" algn="just">
              <a:lnSpc>
                <a:spcPct val="90000"/>
              </a:lnSpc>
              <a:spcBef>
                <a:spcPts val="1000"/>
              </a:spcBef>
              <a:spcAft>
                <a:spcPts val="0"/>
              </a:spcAft>
              <a:buClr>
                <a:schemeClr val="dk1"/>
              </a:buClr>
              <a:buSzPct val="100000"/>
              <a:buFont typeface="Calibri"/>
              <a:buNone/>
            </a:pPr>
            <a:r>
              <a:t/>
            </a:r>
            <a:endParaRPr sz="2400">
              <a:latin typeface="Times New Roman"/>
              <a:ea typeface="Times New Roman"/>
              <a:cs typeface="Times New Roman"/>
              <a:sym typeface="Times New Roman"/>
            </a:endParaRPr>
          </a:p>
        </p:txBody>
      </p:sp>
      <p:sp>
        <p:nvSpPr>
          <p:cNvPr id="487" name="Google Shape;487;p58"/>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9"/>
          <p:cNvSpPr txBox="1"/>
          <p:nvPr>
            <p:ph idx="1" type="body"/>
          </p:nvPr>
        </p:nvSpPr>
        <p:spPr>
          <a:xfrm>
            <a:off x="747422" y="1224502"/>
            <a:ext cx="10845580" cy="4572000"/>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chemeClr val="dk1"/>
              </a:buClr>
              <a:buSzPts val="2000"/>
              <a:buFont typeface="Arial"/>
              <a:buNone/>
            </a:pPr>
            <a:r>
              <a:rPr i="1" lang="en-US" sz="2000">
                <a:latin typeface="Times New Roman"/>
                <a:ea typeface="Times New Roman"/>
                <a:cs typeface="Times New Roman"/>
                <a:sym typeface="Times New Roman"/>
              </a:rPr>
              <a:t>		</a:t>
            </a:r>
            <a:r>
              <a:rPr b="1" i="1" lang="en-US" sz="2400">
                <a:latin typeface="Times New Roman"/>
                <a:ea typeface="Times New Roman"/>
                <a:cs typeface="Times New Roman"/>
                <a:sym typeface="Times New Roman"/>
              </a:rPr>
              <a:t>Kết quả: </a:t>
            </a:r>
            <a:r>
              <a:rPr lang="en-US" sz="2000">
                <a:latin typeface="Times New Roman"/>
                <a:ea typeface="Times New Roman"/>
                <a:cs typeface="Times New Roman"/>
                <a:sym typeface="Times New Roman"/>
              </a:rPr>
              <a:t>Qua nửa nhiệm kỳ tổ chức và thực hiện nghị quyết ĐH IX, Đảng và Nhà nước đã tập trung lãnh đạo nhiệm vụ trọng tâm là phát triển kinh tế và đã giành được những kết quả quan trọng: </a:t>
            </a:r>
            <a:endParaRPr/>
          </a:p>
          <a:p>
            <a:pPr indent="0" lvl="0" marL="0" rtl="0" algn="just">
              <a:lnSpc>
                <a:spcPct val="15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17-25/1/2005 Hội nghị lần thứ 11 BCH TW (khóa IX) họp tại Hà Nội, nhằm chuẩn bị các văn kiện cho ĐH X của Đảng. Hội nghị đã đánh giá những thành tựu to lớn qua 4 năm thực hiện Nghị quyết ĐH IX và dự báo về khả năng thực hiện nhiệm vụ năm 2005.</a:t>
            </a:r>
            <a:endParaRPr/>
          </a:p>
          <a:p>
            <a:pPr indent="0" lvl="0" marL="0" rtl="0" algn="just">
              <a:lnSpc>
                <a:spcPct val="150000"/>
              </a:lnSpc>
              <a:spcBef>
                <a:spcPts val="1000"/>
              </a:spcBef>
              <a:spcAft>
                <a:spcPts val="0"/>
              </a:spcAft>
              <a:buClr>
                <a:schemeClr val="dk1"/>
              </a:buClr>
              <a:buSzPts val="2000"/>
              <a:buNone/>
            </a:pPr>
            <a:r>
              <a:rPr b="1" i="1" lang="en-US" sz="2000">
                <a:latin typeface="Times New Roman"/>
                <a:ea typeface="Times New Roman"/>
                <a:cs typeface="Times New Roman"/>
                <a:sym typeface="Times New Roman"/>
              </a:rPr>
              <a:t>	Những thành tựu đã đạt được chứng tỏ công cuộc xây dựng đất nước đang tiếp tục đi đúng theo đường lối đổi mới và những định hướng do ĐH Đảng IX đề ra đã làm tăng thế và lực của đất nước. Toàn đảng, toàn dân ta tiếp tục tiến lên trong sự nghiệp CNH-HĐH đất nước. Vì mục tiêu “ dân giàu, nước mạnh, xã hội công bằng, dân chủ, văn minh”.</a:t>
            </a:r>
            <a:endParaRPr/>
          </a:p>
          <a:p>
            <a:pPr indent="-228600" lvl="0" marL="228600" rtl="0" algn="just">
              <a:lnSpc>
                <a:spcPct val="150000"/>
              </a:lnSpc>
              <a:spcBef>
                <a:spcPts val="1000"/>
              </a:spcBef>
              <a:spcAft>
                <a:spcPts val="0"/>
              </a:spcAft>
              <a:buClr>
                <a:schemeClr val="dk1"/>
              </a:buClr>
              <a:buSzPts val="2000"/>
              <a:buFont typeface="Arial"/>
              <a:buNone/>
            </a:pPr>
            <a:r>
              <a:t/>
            </a:r>
            <a:endParaRPr sz="2000">
              <a:latin typeface="Times New Roman"/>
              <a:ea typeface="Times New Roman"/>
              <a:cs typeface="Times New Roman"/>
              <a:sym typeface="Times New Roman"/>
            </a:endParaRPr>
          </a:p>
          <a:p>
            <a:pPr indent="-101600" lvl="0" marL="228600" rtl="0" algn="just">
              <a:lnSpc>
                <a:spcPct val="15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sp>
        <p:nvSpPr>
          <p:cNvPr id="493" name="Google Shape;493;p59"/>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0"/>
          <p:cNvSpPr txBox="1"/>
          <p:nvPr>
            <p:ph idx="1" type="body"/>
          </p:nvPr>
        </p:nvSpPr>
        <p:spPr>
          <a:xfrm>
            <a:off x="628154" y="1748624"/>
            <a:ext cx="5955526" cy="4787347"/>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	Sơ lược đại hội X:</a:t>
            </a:r>
            <a:endParaRPr/>
          </a:p>
          <a:p>
            <a:pPr indent="-228600" lvl="0" marL="228600" rtl="0" algn="just">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ĐH họp </a:t>
            </a:r>
            <a:r>
              <a:rPr lang="en-US" sz="2400">
                <a:latin typeface="Times New Roman"/>
                <a:ea typeface="Times New Roman"/>
                <a:cs typeface="Times New Roman"/>
                <a:sym typeface="Times New Roman"/>
              </a:rPr>
              <a:t>từ 18-25/4/2006 </a:t>
            </a:r>
            <a:r>
              <a:rPr i="1" lang="en-US" sz="2400">
                <a:latin typeface="Times New Roman"/>
                <a:ea typeface="Times New Roman"/>
                <a:cs typeface="Times New Roman"/>
                <a:sym typeface="Times New Roman"/>
              </a:rPr>
              <a:t>tại Hà Nội.</a:t>
            </a:r>
            <a:endParaRPr/>
          </a:p>
          <a:p>
            <a:pPr indent="-228600" lvl="0" marL="228600" rtl="0" algn="just">
              <a:lnSpc>
                <a:spcPct val="150000"/>
              </a:lnSpc>
              <a:spcBef>
                <a:spcPts val="1000"/>
              </a:spcBef>
              <a:spcAft>
                <a:spcPts val="0"/>
              </a:spcAft>
              <a:buClr>
                <a:schemeClr val="dk1"/>
              </a:buClr>
              <a:buSzPct val="100000"/>
              <a:buFont typeface="Arial"/>
              <a:buNone/>
            </a:pPr>
            <a:r>
              <a:rPr i="1" lang="en-US" sz="2400">
                <a:latin typeface="Times New Roman"/>
                <a:ea typeface="Times New Roman"/>
                <a:cs typeface="Times New Roman"/>
                <a:sym typeface="Times New Roman"/>
              </a:rPr>
              <a:t>-  Thành phần tham dự:  </a:t>
            </a:r>
            <a:r>
              <a:rPr lang="en-US" sz="2400">
                <a:latin typeface="Times New Roman"/>
                <a:ea typeface="Times New Roman"/>
                <a:cs typeface="Times New Roman"/>
                <a:sym typeface="Times New Roman"/>
              </a:rPr>
              <a:t>1.176.đại biểu thay mặt cho 3,1 triệu Đảng viên trong cả nước</a:t>
            </a:r>
            <a:endParaRPr sz="2400">
              <a:latin typeface="Times New Roman"/>
              <a:ea typeface="Times New Roman"/>
              <a:cs typeface="Times New Roman"/>
              <a:sym typeface="Times New Roman"/>
            </a:endParaRPr>
          </a:p>
          <a:p>
            <a:pPr indent="-228600" lvl="0" marL="228600" rtl="0" algn="just">
              <a:lnSpc>
                <a:spcPct val="150000"/>
              </a:lnSpc>
              <a:spcBef>
                <a:spcPts val="1000"/>
              </a:spcBef>
              <a:spcAft>
                <a:spcPts val="0"/>
              </a:spcAft>
              <a:buClr>
                <a:schemeClr val="dk1"/>
              </a:buClr>
              <a:buSzPct val="100000"/>
              <a:buFont typeface="Arial"/>
              <a:buNone/>
            </a:pPr>
            <a:r>
              <a:rPr lang="en-US" sz="2400">
                <a:latin typeface="Times New Roman"/>
                <a:ea typeface="Times New Roman"/>
                <a:cs typeface="Times New Roman"/>
                <a:sym typeface="Times New Roman"/>
              </a:rPr>
              <a:t>-  </a:t>
            </a:r>
            <a:r>
              <a:rPr i="1" lang="en-US" sz="2400">
                <a:latin typeface="Times New Roman"/>
                <a:ea typeface="Times New Roman"/>
                <a:cs typeface="Times New Roman"/>
                <a:sym typeface="Times New Roman"/>
              </a:rPr>
              <a:t>Chủ đề ĐH: </a:t>
            </a:r>
            <a:r>
              <a:rPr lang="en-US" sz="2400">
                <a:latin typeface="Times New Roman"/>
                <a:ea typeface="Times New Roman"/>
                <a:cs typeface="Times New Roman"/>
                <a:sym typeface="Times New Roman"/>
              </a:rPr>
              <a:t>“Nâng cao năng lực lãnh đạo và sức chiến đấu của Đảng, phát huy sức mạnh toàn dân tộc, đẩy mạnh toàn diện công cuộc đổi mới, sớm đưa nước ta ra khỏi tình trạng kém phát triển”</a:t>
            </a:r>
            <a:endParaRPr/>
          </a:p>
          <a:p>
            <a:pPr indent="-228600" lvl="0" marL="228600" rtl="0" algn="just">
              <a:lnSpc>
                <a:spcPct val="150000"/>
              </a:lnSpc>
              <a:spcBef>
                <a:spcPts val="1000"/>
              </a:spcBef>
              <a:spcAft>
                <a:spcPts val="0"/>
              </a:spcAft>
              <a:buClr>
                <a:schemeClr val="dk1"/>
              </a:buClr>
              <a:buSzPct val="100000"/>
              <a:buFont typeface="Arial"/>
              <a:buNone/>
            </a:pPr>
            <a:r>
              <a:t/>
            </a:r>
            <a:endParaRPr sz="2400">
              <a:latin typeface="Times New Roman"/>
              <a:ea typeface="Times New Roman"/>
              <a:cs typeface="Times New Roman"/>
              <a:sym typeface="Times New Roman"/>
            </a:endParaRPr>
          </a:p>
        </p:txBody>
      </p:sp>
      <p:sp>
        <p:nvSpPr>
          <p:cNvPr id="499" name="Google Shape;499;p60"/>
          <p:cNvSpPr txBox="1"/>
          <p:nvPr/>
        </p:nvSpPr>
        <p:spPr>
          <a:xfrm>
            <a:off x="8075876" y="5960331"/>
            <a:ext cx="20762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CC"/>
                </a:solidFill>
                <a:latin typeface="Calibri"/>
                <a:ea typeface="Calibri"/>
                <a:cs typeface="Calibri"/>
                <a:sym typeface="Calibri"/>
              </a:rPr>
              <a:t>Đại hội Đảng lần X</a:t>
            </a:r>
            <a:endParaRPr/>
          </a:p>
        </p:txBody>
      </p:sp>
      <p:pic>
        <p:nvPicPr>
          <p:cNvPr descr="E:\_Chi-tho\hinh DH X\hinh 1..jpg" id="500" name="Google Shape;500;p60"/>
          <p:cNvPicPr preferRelativeResize="0"/>
          <p:nvPr/>
        </p:nvPicPr>
        <p:blipFill rotWithShape="1">
          <a:blip r:embed="rId3">
            <a:alphaModFix/>
          </a:blip>
          <a:srcRect b="0" l="0" r="0" t="0"/>
          <a:stretch/>
        </p:blipFill>
        <p:spPr>
          <a:xfrm>
            <a:off x="6909684" y="2184621"/>
            <a:ext cx="4669403" cy="3635734"/>
          </a:xfrm>
          <a:prstGeom prst="rect">
            <a:avLst/>
          </a:prstGeom>
          <a:noFill/>
          <a:ln>
            <a:noFill/>
          </a:ln>
        </p:spPr>
      </p:pic>
      <p:sp>
        <p:nvSpPr>
          <p:cNvPr id="501" name="Google Shape;501;p60"/>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
        <p:nvSpPr>
          <p:cNvPr id="502" name="Google Shape;502;p60"/>
          <p:cNvSpPr txBox="1"/>
          <p:nvPr/>
        </p:nvSpPr>
        <p:spPr>
          <a:xfrm>
            <a:off x="2013667" y="384663"/>
            <a:ext cx="9770165" cy="947247"/>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lang="en-US" sz="2400">
                <a:solidFill>
                  <a:srgbClr val="FF0000"/>
                </a:solidFill>
                <a:latin typeface="Times New Roman"/>
                <a:ea typeface="Times New Roman"/>
                <a:cs typeface="Times New Roman"/>
                <a:sym typeface="Times New Roman"/>
              </a:rPr>
              <a:t>Đại hội đại biểu toàn quốc lần thứ X của Đảng và quá trình thực hiện 2006 - 2011 </a:t>
            </a:r>
            <a:endParaRPr b="1"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1"/>
          <p:cNvSpPr txBox="1"/>
          <p:nvPr>
            <p:ph idx="1" type="body"/>
          </p:nvPr>
        </p:nvSpPr>
        <p:spPr>
          <a:xfrm>
            <a:off x="469127" y="1816874"/>
            <a:ext cx="11298803" cy="372518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b="1" lang="en-US" sz="2400">
                <a:latin typeface="Times New Roman"/>
                <a:ea typeface="Times New Roman"/>
                <a:cs typeface="Times New Roman"/>
                <a:sym typeface="Times New Roman"/>
              </a:rPr>
              <a:t>-  </a:t>
            </a:r>
            <a:r>
              <a:rPr b="1" i="1" lang="en-US" sz="2400">
                <a:latin typeface="Times New Roman"/>
                <a:ea typeface="Times New Roman"/>
                <a:cs typeface="Times New Roman"/>
                <a:sym typeface="Times New Roman"/>
              </a:rPr>
              <a:t>Ban chấp hành TW Đảng khóa IX đã trình đại hội X các văn kiện:</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chính trị</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phương hướng, nhiệm vụ phát triển kinh tế - xã hôi 5 năm (2006 – 2010)</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công tác xây dựng Đảng</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một số vấn đề bổ sung, sửa đổi điều lệ</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kết quả thực hiện nghị quyết TW 6 (lần 2) khóa VIII trong nhiệm kỳ  ĐH IX</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Báo cáo kiểm điểm sự lãnh đạo của BCH TW Đảng khóa IX</a:t>
            </a:r>
            <a:endParaRPr/>
          </a:p>
          <a:p>
            <a:pPr indent="-76200" lvl="0" marL="228600" rtl="0" algn="just">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508" name="Google Shape;508;p61"/>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2"/>
          <p:cNvSpPr txBox="1"/>
          <p:nvPr>
            <p:ph idx="1" type="body"/>
          </p:nvPr>
        </p:nvSpPr>
        <p:spPr>
          <a:xfrm>
            <a:off x="938253" y="1755913"/>
            <a:ext cx="10336695" cy="363507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US" sz="2400">
                <a:latin typeface="Times New Roman"/>
                <a:ea typeface="Times New Roman"/>
                <a:cs typeface="Times New Roman"/>
                <a:sym typeface="Times New Roman"/>
              </a:rPr>
              <a:t>Nội dung Đai hội:</a:t>
            </a:r>
            <a:endParaRPr/>
          </a:p>
          <a:p>
            <a:pPr indent="-228600" lvl="0" marL="228600" rtl="0" algn="l">
              <a:lnSpc>
                <a:spcPct val="90000"/>
              </a:lnSpc>
              <a:spcBef>
                <a:spcPts val="1000"/>
              </a:spcBef>
              <a:spcAft>
                <a:spcPts val="0"/>
              </a:spcAft>
              <a:buClr>
                <a:schemeClr val="dk1"/>
              </a:buClr>
              <a:buSzPts val="2400"/>
              <a:buFont typeface="Times New Roman"/>
              <a:buChar char="-"/>
            </a:pPr>
            <a:r>
              <a:rPr i="1" lang="en-US" sz="2400">
                <a:latin typeface="Times New Roman"/>
                <a:ea typeface="Times New Roman"/>
                <a:cs typeface="Times New Roman"/>
                <a:sym typeface="Times New Roman"/>
              </a:rPr>
              <a:t>Đánh giá </a:t>
            </a:r>
            <a:r>
              <a:rPr lang="en-US" sz="2400">
                <a:latin typeface="Times New Roman"/>
                <a:ea typeface="Times New Roman"/>
                <a:cs typeface="Times New Roman"/>
                <a:sym typeface="Times New Roman"/>
              </a:rPr>
              <a:t>5 năm thực hiện nghị quyết ĐH IX của Đảng ĐH khẳng định:</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Nền kinh tế đã vượt qua thời kỳ suy giảm, đạt tốc độ tăng trưởng khá cao, năm sau hơn năm trước</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Văn hóa và xã hội có tiến bộ trên nhiều mặt nhất là trong công cuộc xóa đói giảm nghèo</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Chính trị - xã hội ổn định, quốc phòng và an ninh được tăng cường…</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Bên cạnh đó ĐH chỉ rõ những khuyết điểm và yếu kém: </a:t>
            </a:r>
            <a:endParaRPr/>
          </a:p>
          <a:p>
            <a:pPr indent="-76200" lvl="0" marL="228600" rtl="0" algn="l">
              <a:lnSpc>
                <a:spcPct val="90000"/>
              </a:lnSpc>
              <a:spcBef>
                <a:spcPts val="1000"/>
              </a:spcBef>
              <a:spcAft>
                <a:spcPts val="0"/>
              </a:spcAft>
              <a:buClr>
                <a:schemeClr val="dk1"/>
              </a:buClr>
              <a:buSzPts val="2400"/>
              <a:buFont typeface="Calibri"/>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514" name="Google Shape;514;p62"/>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3"/>
          <p:cNvSpPr txBox="1"/>
          <p:nvPr>
            <p:ph idx="1" type="body"/>
          </p:nvPr>
        </p:nvSpPr>
        <p:spPr>
          <a:xfrm>
            <a:off x="230588" y="1530625"/>
            <a:ext cx="11386268" cy="452826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b="1" lang="en-US" sz="2400">
                <a:latin typeface="Times New Roman"/>
                <a:ea typeface="Times New Roman"/>
                <a:cs typeface="Times New Roman"/>
                <a:sym typeface="Times New Roman"/>
              </a:rPr>
              <a:t>-    </a:t>
            </a:r>
            <a:r>
              <a:rPr b="1" i="1" lang="en-US" sz="2400">
                <a:latin typeface="Times New Roman"/>
                <a:ea typeface="Times New Roman"/>
                <a:cs typeface="Times New Roman"/>
                <a:sym typeface="Times New Roman"/>
              </a:rPr>
              <a:t>ĐH rút ra 5 bài học lớn:</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Một là: trong quá trình đổi mới phải kiên định mục tiệu độc lập dân tộc và CNXH trên nền tảng chủ nghĩa Mac-Lenin và tư tưởng Hồ Chí Minh</a:t>
            </a:r>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Hai là: đổi mới toàn diện, đồng bộ, có kế thừa, có bước đi, hình thức và cách làm phù hợp</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Ba là: đổi mới phải vì lợi ích của nhân dân, dựa vào nhân dân, phát huy vai trò chủ động, sang tạo của nhân dân, xuất phát từ thực tiễn, nhạy bén với cái mới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Bốn là: phát huy cao độ nội lực, đồng thời ra sức tranh thủ ngoại lực, kết hợp sức mạnh dân tộc với sức mạnh thời đại trong điều kiện mới</a:t>
            </a:r>
            <a:endParaRPr sz="2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Năm là: nâng cao năng lực lãnh đạo và sức chiến đấu của Đảng.</a:t>
            </a:r>
            <a:endParaRPr/>
          </a:p>
          <a:p>
            <a:pPr indent="-228600" lvl="0" marL="228600" rtl="0" algn="just">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520" name="Google Shape;520;p63"/>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4"/>
          <p:cNvSpPr txBox="1"/>
          <p:nvPr>
            <p:ph idx="1" type="body"/>
          </p:nvPr>
        </p:nvSpPr>
        <p:spPr>
          <a:xfrm>
            <a:off x="310101" y="1589597"/>
            <a:ext cx="11481683" cy="48827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None/>
            </a:pPr>
            <a:r>
              <a:rPr b="1" i="1" lang="en-US" sz="2400">
                <a:latin typeface="Times New Roman"/>
                <a:ea typeface="Times New Roman"/>
                <a:cs typeface="Times New Roman"/>
                <a:sym typeface="Times New Roman"/>
              </a:rPr>
              <a:t>* Mục tiêu và phương hướng phát triển đất nước 5 năm (2006 – 2010):</a:t>
            </a:r>
            <a:endParaRPr/>
          </a:p>
          <a:p>
            <a:pPr indent="-228600" lvl="0" marL="228600" rtl="0" algn="l">
              <a:lnSpc>
                <a:spcPct val="90000"/>
              </a:lnSpc>
              <a:spcBef>
                <a:spcPts val="1000"/>
              </a:spcBef>
              <a:spcAft>
                <a:spcPts val="0"/>
              </a:spcAft>
              <a:buClr>
                <a:schemeClr val="dk1"/>
              </a:buClr>
              <a:buSzPts val="2400"/>
              <a:buFont typeface="Arial"/>
              <a:buNone/>
            </a:pPr>
            <a:r>
              <a:rPr b="1" i="1" lang="en-US" sz="2400">
                <a:latin typeface="Times New Roman"/>
                <a:ea typeface="Times New Roman"/>
                <a:cs typeface="Times New Roman"/>
                <a:sym typeface="Times New Roman"/>
              </a:rPr>
              <a:t>*Chỉ tiêu, định hướng phát triển từ 2006 – 2010</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Tổng sản phẩm trong nước gấp hơn 2,1 lần so với năm 2000</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Trong 5 năm (2006 – 2010) mức tăng GDP bình quân đạt 7.5 – 8% 1 năm</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Cơ cấu nghành trong GDP: + Nông nghiệp: 15 – 16%</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Công nghiệp và xây dựng: 43 – 44%</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 Dịch vụ: 40 – 41%</a:t>
            </a:r>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Tạo việc làm cho 8 triệu lao động</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Font typeface="Arial"/>
              <a:buNone/>
            </a:pPr>
            <a:r>
              <a:rPr lang="en-US" sz="2400">
                <a:latin typeface="Times New Roman"/>
                <a:ea typeface="Times New Roman"/>
                <a:cs typeface="Times New Roman"/>
                <a:sym typeface="Times New Roman"/>
              </a:rPr>
              <a:t>- Vào 2010 giảm tỷ lệ thất nghiệp ở thành phố dưới 5%, tỷ lệ hộ nghèo giảm còn 10 – 11%.</a:t>
            </a:r>
            <a:endParaRPr/>
          </a:p>
          <a:p>
            <a:pPr indent="-228600" lvl="0" marL="228600" rtl="0" algn="l">
              <a:lnSpc>
                <a:spcPct val="90000"/>
              </a:lnSpc>
              <a:spcBef>
                <a:spcPts val="100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526" name="Google Shape;526;p64"/>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5"/>
          <p:cNvSpPr txBox="1"/>
          <p:nvPr>
            <p:ph idx="1" type="body"/>
          </p:nvPr>
        </p:nvSpPr>
        <p:spPr>
          <a:xfrm>
            <a:off x="405515" y="667908"/>
            <a:ext cx="11354463" cy="4452732"/>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just">
              <a:lnSpc>
                <a:spcPct val="160000"/>
              </a:lnSpc>
              <a:spcBef>
                <a:spcPts val="0"/>
              </a:spcBef>
              <a:spcAft>
                <a:spcPts val="0"/>
              </a:spcAft>
              <a:buClr>
                <a:schemeClr val="dk1"/>
              </a:buClr>
              <a:buSzPct val="100000"/>
              <a:buFont typeface="Arial"/>
              <a:buNone/>
            </a:pPr>
            <a:r>
              <a:rPr b="1" i="1" lang="en-US" sz="9600">
                <a:latin typeface="Times New Roman"/>
                <a:ea typeface="Times New Roman"/>
                <a:cs typeface="Times New Roman"/>
                <a:sym typeface="Times New Roman"/>
              </a:rPr>
              <a:t>					*Nhiệm vụ, giải pháp:</a:t>
            </a:r>
            <a:endParaRPr/>
          </a:p>
          <a:p>
            <a:pPr indent="-228600" lvl="0" marL="228600" rtl="0" algn="just">
              <a:lnSpc>
                <a:spcPct val="160000"/>
              </a:lnSpc>
              <a:spcBef>
                <a:spcPts val="1000"/>
              </a:spcBef>
              <a:spcAft>
                <a:spcPts val="0"/>
              </a:spcAft>
              <a:buClr>
                <a:schemeClr val="dk1"/>
              </a:buClr>
              <a:buSzPct val="100000"/>
              <a:buFont typeface="Arial"/>
              <a:buNone/>
            </a:pPr>
            <a:r>
              <a:rPr lang="en-US" sz="9600">
                <a:latin typeface="Times New Roman"/>
                <a:ea typeface="Times New Roman"/>
                <a:cs typeface="Times New Roman"/>
                <a:sym typeface="Times New Roman"/>
              </a:rPr>
              <a:t>- Tiếp tục hoàn thiện thể chế kinh tế thị trường định hướng XHCN. Đẩy mạnh CNH – HĐH gắn với phát triển kinh tế tri thức</a:t>
            </a:r>
            <a:endParaRPr sz="9600">
              <a:latin typeface="Times New Roman"/>
              <a:ea typeface="Times New Roman"/>
              <a:cs typeface="Times New Roman"/>
              <a:sym typeface="Times New Roman"/>
            </a:endParaRPr>
          </a:p>
          <a:p>
            <a:pPr indent="-228600" lvl="0" marL="228600" rtl="0" algn="just">
              <a:lnSpc>
                <a:spcPct val="160000"/>
              </a:lnSpc>
              <a:spcBef>
                <a:spcPts val="1000"/>
              </a:spcBef>
              <a:spcAft>
                <a:spcPts val="0"/>
              </a:spcAft>
              <a:buClr>
                <a:schemeClr val="dk1"/>
              </a:buClr>
              <a:buSzPct val="100000"/>
              <a:buFont typeface="Arial"/>
              <a:buNone/>
            </a:pPr>
            <a:r>
              <a:rPr lang="en-US" sz="9600">
                <a:latin typeface="Times New Roman"/>
                <a:ea typeface="Times New Roman"/>
                <a:cs typeface="Times New Roman"/>
                <a:sym typeface="Times New Roman"/>
              </a:rPr>
              <a:t>- Giải quyết tốt các vấn đề xã hội, văn hóa, giáo dục, khoa học và công nghệ</a:t>
            </a:r>
            <a:endParaRPr sz="9600">
              <a:latin typeface="Times New Roman"/>
              <a:ea typeface="Times New Roman"/>
              <a:cs typeface="Times New Roman"/>
              <a:sym typeface="Times New Roman"/>
            </a:endParaRPr>
          </a:p>
          <a:p>
            <a:pPr indent="-228600" lvl="0" marL="228600" rtl="0" algn="just">
              <a:lnSpc>
                <a:spcPct val="160000"/>
              </a:lnSpc>
              <a:spcBef>
                <a:spcPts val="1000"/>
              </a:spcBef>
              <a:spcAft>
                <a:spcPts val="0"/>
              </a:spcAft>
              <a:buClr>
                <a:schemeClr val="dk1"/>
              </a:buClr>
              <a:buSzPct val="100000"/>
              <a:buFont typeface="Arial"/>
              <a:buNone/>
            </a:pPr>
            <a:r>
              <a:rPr lang="en-US" sz="9600">
                <a:latin typeface="Times New Roman"/>
                <a:ea typeface="Times New Roman"/>
                <a:cs typeface="Times New Roman"/>
                <a:sym typeface="Times New Roman"/>
              </a:rPr>
              <a:t>- Tăng cường quốc phòng và an ninh, mở rộng quan hệ đối ngoại. chủ động và tích cực hội nhập kinh tế quốc tế</a:t>
            </a:r>
            <a:endParaRPr sz="9600">
              <a:latin typeface="Times New Roman"/>
              <a:ea typeface="Times New Roman"/>
              <a:cs typeface="Times New Roman"/>
              <a:sym typeface="Times New Roman"/>
            </a:endParaRPr>
          </a:p>
          <a:p>
            <a:pPr indent="-228600" lvl="0" marL="228600" rtl="0" algn="just">
              <a:lnSpc>
                <a:spcPct val="160000"/>
              </a:lnSpc>
              <a:spcBef>
                <a:spcPts val="1000"/>
              </a:spcBef>
              <a:spcAft>
                <a:spcPts val="0"/>
              </a:spcAft>
              <a:buClr>
                <a:schemeClr val="dk1"/>
              </a:buClr>
              <a:buSzPct val="100000"/>
              <a:buFont typeface="Arial"/>
              <a:buNone/>
            </a:pPr>
            <a:r>
              <a:rPr lang="en-US" sz="9600">
                <a:latin typeface="Times New Roman"/>
                <a:ea typeface="Times New Roman"/>
                <a:cs typeface="Times New Roman"/>
                <a:sym typeface="Times New Roman"/>
              </a:rPr>
              <a:t>- Phát huy dân chủ và sức mạnh đại đoàn kết dân tộc. Hoàn thiện nhà nước pháp quyền XHCN</a:t>
            </a:r>
            <a:endParaRPr/>
          </a:p>
          <a:p>
            <a:pPr indent="-228600" lvl="0" marL="228600" rtl="0" algn="just">
              <a:lnSpc>
                <a:spcPct val="160000"/>
              </a:lnSpc>
              <a:spcBef>
                <a:spcPts val="1000"/>
              </a:spcBef>
              <a:spcAft>
                <a:spcPts val="0"/>
              </a:spcAft>
              <a:buClr>
                <a:schemeClr val="dk1"/>
              </a:buClr>
              <a:buSzPct val="100000"/>
              <a:buFont typeface="Arial"/>
              <a:buNone/>
            </a:pPr>
            <a:r>
              <a:rPr lang="en-US" sz="9600">
                <a:latin typeface="Times New Roman"/>
                <a:ea typeface="Times New Roman"/>
                <a:cs typeface="Times New Roman"/>
                <a:sym typeface="Times New Roman"/>
              </a:rPr>
              <a:t>- Đổi mới, chỉnh đốn Đảng, nâng cao năng lực lãnh đạo và sức chiến đấu của Đảng. Bổ sung, sửa đổi điều lệ Đảng.</a:t>
            </a:r>
            <a:endParaRPr/>
          </a:p>
          <a:p>
            <a:pPr indent="-228600" lvl="0" marL="228600" rtl="0" algn="just">
              <a:lnSpc>
                <a:spcPct val="160000"/>
              </a:lnSpc>
              <a:spcBef>
                <a:spcPts val="1000"/>
              </a:spcBef>
              <a:spcAft>
                <a:spcPts val="0"/>
              </a:spcAft>
              <a:buClr>
                <a:schemeClr val="dk1"/>
              </a:buClr>
              <a:buSzPct val="100000"/>
              <a:buFont typeface="Arial"/>
              <a:buNone/>
            </a:pPr>
            <a:r>
              <a:t/>
            </a:r>
            <a:endParaRPr sz="2400">
              <a:latin typeface="Times New Roman"/>
              <a:ea typeface="Times New Roman"/>
              <a:cs typeface="Times New Roman"/>
              <a:sym typeface="Times New Roman"/>
            </a:endParaRPr>
          </a:p>
        </p:txBody>
      </p:sp>
      <p:sp>
        <p:nvSpPr>
          <p:cNvPr id="532" name="Google Shape;532;p65"/>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6"/>
          <p:cNvSpPr txBox="1"/>
          <p:nvPr>
            <p:ph idx="1" type="body"/>
          </p:nvPr>
        </p:nvSpPr>
        <p:spPr>
          <a:xfrm>
            <a:off x="524786" y="1534602"/>
            <a:ext cx="10988702" cy="1152939"/>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Font typeface="Arial"/>
              <a:buNone/>
            </a:pPr>
            <a:r>
              <a:rPr b="1" i="1" lang="en-US" sz="2400"/>
              <a:t>		Thành công của ĐH lần thứ X đánh dấu bước trưởng thành mới của Đảng, mở ra giai đoạn phát triển mạnh và đẩy mạnh CNH – HĐH đất nước vì mục tiêu “ Dân giàu, nước mạnh, xã hội công bằng, dân chủ, văn minh”</a:t>
            </a:r>
            <a:endParaRPr/>
          </a:p>
        </p:txBody>
      </p:sp>
      <p:pic>
        <p:nvPicPr>
          <p:cNvPr descr="E:\_Chi-tho\hinh DH X\X.jpg" id="538" name="Google Shape;538;p66"/>
          <p:cNvPicPr preferRelativeResize="0"/>
          <p:nvPr/>
        </p:nvPicPr>
        <p:blipFill rotWithShape="1">
          <a:blip r:embed="rId3">
            <a:alphaModFix/>
          </a:blip>
          <a:srcRect b="0" l="0" r="0" t="0"/>
          <a:stretch/>
        </p:blipFill>
        <p:spPr>
          <a:xfrm>
            <a:off x="3283889" y="3124200"/>
            <a:ext cx="4717111" cy="2667000"/>
          </a:xfrm>
          <a:prstGeom prst="rect">
            <a:avLst/>
          </a:prstGeom>
          <a:noFill/>
          <a:ln>
            <a:noFill/>
          </a:ln>
        </p:spPr>
      </p:pic>
      <p:sp>
        <p:nvSpPr>
          <p:cNvPr id="539" name="Google Shape;539;p66"/>
          <p:cNvSpPr txBox="1"/>
          <p:nvPr>
            <p:ph idx="12" type="sldNum"/>
          </p:nvPr>
        </p:nvSpPr>
        <p:spPr>
          <a:xfrm>
            <a:off x="8610600" y="6528987"/>
            <a:ext cx="2743200" cy="32922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CC"/>
                </a:solidFill>
                <a:latin typeface="Times New Roman"/>
                <a:ea typeface="Times New Roman"/>
                <a:cs typeface="Times New Roman"/>
                <a:sym typeface="Times New Roman"/>
              </a:rPr>
              <a:t>‹#›</a:t>
            </a:fld>
            <a:endParaRPr sz="1200">
              <a:solidFill>
                <a:srgbClr val="0000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230"/>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67"/>
          <p:cNvSpPr txBox="1"/>
          <p:nvPr/>
        </p:nvSpPr>
        <p:spPr>
          <a:xfrm>
            <a:off x="1791032" y="547664"/>
            <a:ext cx="9841726" cy="947247"/>
          </a:xfrm>
          <a:prstGeom prst="rect">
            <a:avLst/>
          </a:prstGeom>
          <a:noFill/>
          <a:ln>
            <a:noFill/>
          </a:ln>
        </p:spPr>
        <p:txBody>
          <a:bodyPr anchorCtr="0" anchor="t" bIns="45700" lIns="91425" spcFirstLastPara="1" rIns="91425" wrap="square" tIns="45700">
            <a:spAutoFit/>
          </a:bodyPr>
          <a:lstStyle/>
          <a:p>
            <a:pPr indent="360045" lvl="0" marL="0" marR="0" rtl="0" algn="ctr">
              <a:lnSpc>
                <a:spcPct val="120000"/>
              </a:lnSpc>
              <a:spcBef>
                <a:spcPts val="0"/>
              </a:spcBef>
              <a:spcAft>
                <a:spcPts val="0"/>
              </a:spcAft>
              <a:buNone/>
            </a:pPr>
            <a:r>
              <a:rPr b="1" i="1" lang="en-US" sz="2400">
                <a:solidFill>
                  <a:srgbClr val="FF0000"/>
                </a:solidFill>
                <a:latin typeface="Times New Roman"/>
                <a:ea typeface="Times New Roman"/>
                <a:cs typeface="Times New Roman"/>
                <a:sym typeface="Times New Roman"/>
              </a:rPr>
              <a:t>Đại hội đại biểu toàn quốc lần thứ XI của Đảng bổ sung, phát triển Cương lĩnh 1991 </a:t>
            </a:r>
            <a:endParaRPr b="1" sz="1800">
              <a:solidFill>
                <a:schemeClr val="dk1"/>
              </a:solidFill>
              <a:latin typeface="Calibri"/>
              <a:ea typeface="Calibri"/>
              <a:cs typeface="Calibri"/>
              <a:sym typeface="Calibri"/>
            </a:endParaRPr>
          </a:p>
        </p:txBody>
      </p:sp>
      <p:sp>
        <p:nvSpPr>
          <p:cNvPr id="545" name="Google Shape;545;p67"/>
          <p:cNvSpPr txBox="1"/>
          <p:nvPr/>
        </p:nvSpPr>
        <p:spPr>
          <a:xfrm>
            <a:off x="747423" y="1763266"/>
            <a:ext cx="6384897" cy="4365234"/>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2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Dự </a:t>
            </a:r>
            <a:r>
              <a:rPr i="0" lang="en-US" sz="1800">
                <a:solidFill>
                  <a:schemeClr val="dk1"/>
                </a:solidFill>
                <a:latin typeface="Calibri"/>
                <a:ea typeface="Calibri"/>
                <a:cs typeface="Calibri"/>
                <a:sym typeface="Calibri"/>
              </a:rPr>
              <a:t>Đại hội có 1.377 đại biểu thay mặt cho 3,6 triệu đảng viên cả nước. Nội dung</a:t>
            </a:r>
            <a:r>
              <a:rPr lang="en-US" sz="1800">
                <a:solidFill>
                  <a:schemeClr val="dk1"/>
                </a:solidFill>
                <a:latin typeface="Times New Roman"/>
                <a:ea typeface="Times New Roman"/>
                <a:cs typeface="Times New Roman"/>
                <a:sym typeface="Times New Roman"/>
              </a:rPr>
              <a:t> nổi bật của Đại hội XI là thông qua </a:t>
            </a:r>
            <a:r>
              <a:rPr i="1" lang="en-US" sz="1800">
                <a:solidFill>
                  <a:schemeClr val="dk1"/>
                </a:solidFill>
                <a:latin typeface="Times New Roman"/>
                <a:ea typeface="Times New Roman"/>
                <a:cs typeface="Times New Roman"/>
                <a:sym typeface="Times New Roman"/>
              </a:rPr>
              <a:t>C­ương lĩnh xây dựng đất nước trong thời kỳ quá độ lên chủ nghĩa xã hội </a:t>
            </a:r>
            <a:r>
              <a:rPr i="1" lang="en-US" sz="1800">
                <a:solidFill>
                  <a:schemeClr val="dk1"/>
                </a:solidFill>
                <a:latin typeface="Calibri"/>
                <a:ea typeface="Calibri"/>
                <a:cs typeface="Calibri"/>
                <a:sym typeface="Calibri"/>
              </a:rPr>
              <a:t>(bổ sung, phát triển năm 2011)</a:t>
            </a:r>
            <a:r>
              <a:rPr i="0" lang="en-US" sz="1800">
                <a:solidFill>
                  <a:schemeClr val="dk1"/>
                </a:solidFill>
                <a:latin typeface="Calibri"/>
                <a:ea typeface="Calibri"/>
                <a:cs typeface="Calibri"/>
                <a:sym typeface="Calibri"/>
              </a:rPr>
              <a:t>;</a:t>
            </a:r>
            <a:r>
              <a:rPr i="1"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Chiến lược, phát triển kinh tế-xã hội 2011-2020.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Đại hội đã bầu ra Ban chấp hành Trung ương gồm 60 ủy viên Trung ương chính thức, Bộ Chính trị gồm 14 người, đồng chí Nguyễn Phú Trọng được bầu làm Tổng Bí thư của Đảng. </a:t>
            </a:r>
            <a:endParaRPr sz="1800">
              <a:solidFill>
                <a:schemeClr val="dk1"/>
              </a:solidFill>
              <a:latin typeface="Times New Roman"/>
              <a:ea typeface="Times New Roman"/>
              <a:cs typeface="Times New Roman"/>
              <a:sym typeface="Times New Roman"/>
            </a:endParaRPr>
          </a:p>
          <a:p>
            <a:pPr indent="-285750" lvl="0" marL="285750" marR="0" rtl="0" algn="just">
              <a:lnSpc>
                <a:spcPct val="120000"/>
              </a:lnSpc>
              <a:spcBef>
                <a:spcPts val="120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Đại hội XI thể hiện trí tuệ, ý chí, nguyện vọng của toàn Đảng, toàn dân ta, tiếp tục khẳng định, hoàn thiện và phát triển đường lối đổi mới trên nền tảng chủ nghĩa Mác-Lênin, tư tưởng Hồ Chí Minh. </a:t>
            </a:r>
            <a:endParaRPr sz="1400">
              <a:solidFill>
                <a:schemeClr val="dk1"/>
              </a:solidFill>
              <a:latin typeface="Calibri"/>
              <a:ea typeface="Calibri"/>
              <a:cs typeface="Calibri"/>
              <a:sym typeface="Calibri"/>
            </a:endParaRPr>
          </a:p>
        </p:txBody>
      </p:sp>
      <p:pic>
        <p:nvPicPr>
          <p:cNvPr descr="Đại hội đại biểu Đảng bộ tỉnh lần thứ X, nhiệm kỳ 2015-2020 (phiên trù bị)  - Báo Bình Dương Online" id="546" name="Google Shape;546;p67"/>
          <p:cNvPicPr preferRelativeResize="0"/>
          <p:nvPr/>
        </p:nvPicPr>
        <p:blipFill rotWithShape="1">
          <a:blip r:embed="rId3">
            <a:alphaModFix/>
          </a:blip>
          <a:srcRect b="0" l="0" r="0" t="0"/>
          <a:stretch/>
        </p:blipFill>
        <p:spPr>
          <a:xfrm>
            <a:off x="7482178" y="2061209"/>
            <a:ext cx="4277801" cy="381480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8"/>
          <p:cNvSpPr txBox="1"/>
          <p:nvPr/>
        </p:nvSpPr>
        <p:spPr>
          <a:xfrm>
            <a:off x="937612" y="830649"/>
            <a:ext cx="11084118" cy="5657896"/>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lang="en-US" sz="2000">
                <a:solidFill>
                  <a:schemeClr val="dk1"/>
                </a:solidFill>
                <a:latin typeface="Times New Roman"/>
                <a:ea typeface="Times New Roman"/>
                <a:cs typeface="Times New Roman"/>
                <a:sym typeface="Times New Roman"/>
              </a:rPr>
              <a:t>Cương lĩnh năm 2011 chỉ rõ tám phương hướng cơ bản xây dựng chủ nghĩa xã hội ở nước ta:</a:t>
            </a:r>
            <a:r>
              <a:rPr b="1" i="1" lang="en-US" sz="2000">
                <a:solidFill>
                  <a:schemeClr val="dk1"/>
                </a:solidFill>
                <a:latin typeface="Times New Roman"/>
                <a:ea typeface="Times New Roman"/>
                <a:cs typeface="Times New Roman"/>
                <a:sym typeface="Times New Roman"/>
              </a:rPr>
              <a:t>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1" lang="en-US" sz="1800">
                <a:solidFill>
                  <a:schemeClr val="dk1"/>
                </a:solidFill>
                <a:latin typeface="Times New Roman"/>
                <a:ea typeface="Times New Roman"/>
                <a:cs typeface="Times New Roman"/>
                <a:sym typeface="Times New Roman"/>
              </a:rPr>
              <a:t>Một là,</a:t>
            </a:r>
            <a:r>
              <a:rPr lang="en-US" sz="1800">
                <a:solidFill>
                  <a:schemeClr val="dk1"/>
                </a:solidFill>
                <a:latin typeface="Times New Roman"/>
                <a:ea typeface="Times New Roman"/>
                <a:cs typeface="Times New Roman"/>
                <a:sym typeface="Times New Roman"/>
              </a:rPr>
              <a:t> đẩy mạnh công nghiệp hoá, hiện đại hoá đất nước gắn với phát triển kinh tế tri thức, bảo vệ tài nguyên, môi trường.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1" lang="en-US" sz="1800">
                <a:solidFill>
                  <a:schemeClr val="dk1"/>
                </a:solidFill>
                <a:latin typeface="Times New Roman"/>
                <a:ea typeface="Times New Roman"/>
                <a:cs typeface="Times New Roman"/>
                <a:sym typeface="Times New Roman"/>
              </a:rPr>
              <a:t>Hai là</a:t>
            </a:r>
            <a:r>
              <a:rPr lang="en-US" sz="1800">
                <a:solidFill>
                  <a:schemeClr val="dk1"/>
                </a:solidFill>
                <a:latin typeface="Times New Roman"/>
                <a:ea typeface="Times New Roman"/>
                <a:cs typeface="Times New Roman"/>
                <a:sym typeface="Times New Roman"/>
              </a:rPr>
              <a:t>, phát triển nền kinh tế thị trường định hướng xã hội chủ nghĩa.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1" lang="en-US" sz="1800">
                <a:solidFill>
                  <a:schemeClr val="dk1"/>
                </a:solidFill>
                <a:latin typeface="Times New Roman"/>
                <a:ea typeface="Times New Roman"/>
                <a:cs typeface="Times New Roman"/>
                <a:sym typeface="Times New Roman"/>
              </a:rPr>
              <a:t>Ba là</a:t>
            </a:r>
            <a:r>
              <a:rPr lang="en-US" sz="1800">
                <a:solidFill>
                  <a:schemeClr val="dk1"/>
                </a:solidFill>
                <a:latin typeface="Times New Roman"/>
                <a:ea typeface="Times New Roman"/>
                <a:cs typeface="Times New Roman"/>
                <a:sym typeface="Times New Roman"/>
              </a:rPr>
              <a:t>, xây dựng nền văn hoá tiên tiến, đậm đà bản sắc dân tộc; xây dựng con người, nâng cao đời sống nhân dân, thực hiện tiến bộ và công bằng xã hội.</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 </a:t>
            </a:r>
            <a:r>
              <a:rPr i="1" lang="en-US" sz="1800">
                <a:solidFill>
                  <a:schemeClr val="dk1"/>
                </a:solidFill>
                <a:latin typeface="Times New Roman"/>
                <a:ea typeface="Times New Roman"/>
                <a:cs typeface="Times New Roman"/>
                <a:sym typeface="Times New Roman"/>
              </a:rPr>
              <a:t>Bốn là</a:t>
            </a:r>
            <a:r>
              <a:rPr lang="en-US" sz="1800">
                <a:solidFill>
                  <a:schemeClr val="dk1"/>
                </a:solidFill>
                <a:latin typeface="Times New Roman"/>
                <a:ea typeface="Times New Roman"/>
                <a:cs typeface="Times New Roman"/>
                <a:sym typeface="Times New Roman"/>
              </a:rPr>
              <a:t>, bảo đảm vững chắc quốc phòng và an ninh quốc gia, trật tự, an toàn xã hội.</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 </a:t>
            </a:r>
            <a:r>
              <a:rPr i="1" lang="en-US" sz="1800">
                <a:solidFill>
                  <a:schemeClr val="dk1"/>
                </a:solidFill>
                <a:latin typeface="Times New Roman"/>
                <a:ea typeface="Times New Roman"/>
                <a:cs typeface="Times New Roman"/>
                <a:sym typeface="Times New Roman"/>
              </a:rPr>
              <a:t>Năm là</a:t>
            </a:r>
            <a:r>
              <a:rPr lang="en-US" sz="1800">
                <a:solidFill>
                  <a:schemeClr val="dk1"/>
                </a:solidFill>
                <a:latin typeface="Times New Roman"/>
                <a:ea typeface="Times New Roman"/>
                <a:cs typeface="Times New Roman"/>
                <a:sym typeface="Times New Roman"/>
              </a:rPr>
              <a:t>, thực hiện đường lối đối ngoại độc lập, tự chủ, hoà bình, hữu nghị, hợp tác và phát triển; chủ động và tích cực hội nhập quốc tế.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1" lang="en-US" sz="1800">
                <a:solidFill>
                  <a:schemeClr val="dk1"/>
                </a:solidFill>
                <a:latin typeface="Times New Roman"/>
                <a:ea typeface="Times New Roman"/>
                <a:cs typeface="Times New Roman"/>
                <a:sym typeface="Times New Roman"/>
              </a:rPr>
              <a:t>Sáu là</a:t>
            </a:r>
            <a:r>
              <a:rPr lang="en-US" sz="1800">
                <a:solidFill>
                  <a:schemeClr val="dk1"/>
                </a:solidFill>
                <a:latin typeface="Times New Roman"/>
                <a:ea typeface="Times New Roman"/>
                <a:cs typeface="Times New Roman"/>
                <a:sym typeface="Times New Roman"/>
              </a:rPr>
              <a:t>, xây dựng nền dân chủ xã hội chủ nghĩa, thực hiện đại đoàn kết toàn dân tộc, tăng cường và mở rộng mặt trận dân tộc thống nhất.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1" lang="en-US" sz="1800">
                <a:solidFill>
                  <a:schemeClr val="dk1"/>
                </a:solidFill>
                <a:latin typeface="Times New Roman"/>
                <a:ea typeface="Times New Roman"/>
                <a:cs typeface="Times New Roman"/>
                <a:sym typeface="Times New Roman"/>
              </a:rPr>
              <a:t>Bảy là</a:t>
            </a:r>
            <a:r>
              <a:rPr lang="en-US" sz="1800">
                <a:solidFill>
                  <a:schemeClr val="dk1"/>
                </a:solidFill>
                <a:latin typeface="Times New Roman"/>
                <a:ea typeface="Times New Roman"/>
                <a:cs typeface="Times New Roman"/>
                <a:sym typeface="Times New Roman"/>
              </a:rPr>
              <a:t>, xây dựng Nhà nước pháp quyền xã hội chủ nghĩa của nhân dân, do nhân dân, vì nhân dân.</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1" lang="en-US" sz="1800">
                <a:solidFill>
                  <a:schemeClr val="dk1"/>
                </a:solidFill>
                <a:latin typeface="Times New Roman"/>
                <a:ea typeface="Times New Roman"/>
                <a:cs typeface="Times New Roman"/>
                <a:sym typeface="Times New Roman"/>
              </a:rPr>
              <a:t>Tám là</a:t>
            </a:r>
            <a:r>
              <a:rPr lang="en-US" sz="1800">
                <a:solidFill>
                  <a:schemeClr val="dk1"/>
                </a:solidFill>
                <a:latin typeface="Times New Roman"/>
                <a:ea typeface="Times New Roman"/>
                <a:cs typeface="Times New Roman"/>
                <a:sym typeface="Times New Roman"/>
              </a:rPr>
              <a:t>, xây dựng Đảng trong sạch, vững mạnh.</a:t>
            </a:r>
            <a:endParaRPr sz="14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9"/>
          <p:cNvSpPr txBox="1"/>
          <p:nvPr/>
        </p:nvSpPr>
        <p:spPr>
          <a:xfrm>
            <a:off x="2164743" y="620006"/>
            <a:ext cx="9070449" cy="733471"/>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i="1" lang="en-US" sz="1800">
                <a:solidFill>
                  <a:srgbClr val="FF0000"/>
                </a:solidFill>
                <a:latin typeface="Times New Roman"/>
                <a:ea typeface="Times New Roman"/>
                <a:cs typeface="Times New Roman"/>
                <a:sym typeface="Times New Roman"/>
              </a:rPr>
              <a:t>Đại hội đại biểu toàn quốc lần thứ XII, tiếp tục đẩy mạnh toàn diện, đồng bộ công cuộc đổi mới, tích cực, chủ động hội nhập quốc tế.</a:t>
            </a:r>
            <a:endParaRPr b="1" sz="1400">
              <a:solidFill>
                <a:schemeClr val="dk1"/>
              </a:solidFill>
              <a:latin typeface="Calibri"/>
              <a:ea typeface="Calibri"/>
              <a:cs typeface="Calibri"/>
              <a:sym typeface="Calibri"/>
            </a:endParaRPr>
          </a:p>
        </p:txBody>
      </p:sp>
      <p:sp>
        <p:nvSpPr>
          <p:cNvPr id="557" name="Google Shape;557;p69"/>
          <p:cNvSpPr txBox="1"/>
          <p:nvPr/>
        </p:nvSpPr>
        <p:spPr>
          <a:xfrm>
            <a:off x="652007" y="1941478"/>
            <a:ext cx="6615485" cy="4365234"/>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20000"/>
              </a:lnSpc>
              <a:spcBef>
                <a:spcPts val="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Đại hội XII của Đảng họp </a:t>
            </a:r>
            <a:r>
              <a:rPr i="0" lang="en-US" sz="1800">
                <a:solidFill>
                  <a:schemeClr val="dk1"/>
                </a:solidFill>
                <a:latin typeface="Times New Roman"/>
                <a:ea typeface="Times New Roman"/>
                <a:cs typeface="Times New Roman"/>
                <a:sym typeface="Times New Roman"/>
              </a:rPr>
              <a:t>từ ngày 21 đến 28-1-2016,</a:t>
            </a:r>
            <a:r>
              <a:rPr lang="en-US" sz="1800">
                <a:solidFill>
                  <a:schemeClr val="dk1"/>
                </a:solidFill>
                <a:latin typeface="Times New Roman"/>
                <a:ea typeface="Times New Roman"/>
                <a:cs typeface="Times New Roman"/>
                <a:sym typeface="Times New Roman"/>
              </a:rPr>
              <a:t> </a:t>
            </a:r>
            <a:endParaRPr/>
          </a:p>
          <a:p>
            <a:pPr indent="-285750" lvl="0" marL="285750" marR="0" rtl="0" algn="just">
              <a:lnSpc>
                <a:spcPct val="120000"/>
              </a:lnSpc>
              <a:spcBef>
                <a:spcPts val="1200"/>
              </a:spcBef>
              <a:spcAft>
                <a:spcPts val="0"/>
              </a:spcAft>
              <a:buClr>
                <a:schemeClr val="dk1"/>
              </a:buClr>
              <a:buSzPts val="1800"/>
              <a:buFont typeface="Noto Sans Symbols"/>
              <a:buChar char="⮚"/>
            </a:pPr>
            <a:r>
              <a:rPr i="0" lang="en-US" sz="1800">
                <a:solidFill>
                  <a:schemeClr val="dk1"/>
                </a:solidFill>
                <a:latin typeface="Times New Roman"/>
                <a:ea typeface="Times New Roman"/>
                <a:cs typeface="Times New Roman"/>
                <a:sym typeface="Times New Roman"/>
              </a:rPr>
              <a:t>Dự Đại hội có hơn 1.510 đại biểu</a:t>
            </a:r>
            <a:r>
              <a:rPr i="1"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thay mặt cho 4,6 triệu đảng viên trong toàn Đảng.</a:t>
            </a:r>
            <a:r>
              <a:rPr b="1"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Đại hội đã tổng kết 30 năm đổi mới, bầu Ban Chấp hành Trung ương mới gồm 180 ủy viên Trung ương chính thức, 20 ủy viên dự khuyết; Bộ Chính trị có 19 đồng chí, đồng chí Nguyễn Phú Trọng được bầu lại làm Tổng Bí thư của Đảng. </a:t>
            </a:r>
            <a:endParaRPr sz="1800">
              <a:solidFill>
                <a:schemeClr val="dk1"/>
              </a:solidFill>
              <a:latin typeface="Times New Roman"/>
              <a:ea typeface="Times New Roman"/>
              <a:cs typeface="Times New Roman"/>
              <a:sym typeface="Times New Roman"/>
            </a:endParaRPr>
          </a:p>
          <a:p>
            <a:pPr indent="-285750" lvl="0" marL="285750" marR="0" rtl="0" algn="just">
              <a:lnSpc>
                <a:spcPct val="120000"/>
              </a:lnSpc>
              <a:spcBef>
                <a:spcPts val="1200"/>
              </a:spcBef>
              <a:spcAft>
                <a:spcPts val="0"/>
              </a:spcAft>
              <a:buClr>
                <a:schemeClr val="dk1"/>
              </a:buClr>
              <a:buSzPts val="1800"/>
              <a:buFont typeface="Noto Sans Symbols"/>
              <a:buChar char="⮚"/>
            </a:pPr>
            <a:r>
              <a:rPr lang="en-US" sz="1800">
                <a:solidFill>
                  <a:schemeClr val="dk1"/>
                </a:solidFill>
                <a:latin typeface="Times New Roman"/>
                <a:ea typeface="Times New Roman"/>
                <a:cs typeface="Times New Roman"/>
                <a:sym typeface="Times New Roman"/>
              </a:rPr>
              <a:t>Đại hội XII của Đảng là Đại hội “Đoàn kết-Dân chủ-Kỷ cương-Đổi mới”, tăng cường xây dựng Đảng trong sạch, vững mạnh; phát huy sức mạnh toàn dân tộc, dân chủ xã hội chủ nghĩa; đẩy mạnh toàn diện, đồng bộ công cuộc đổi mới; bảo vệ vững chắc Tổ quốc, giữ vững môi trường hòa bình, ổn định; phấn đấu sớm đưa nước ta cơ bản trở thành nước công nghiệp theo hướng hiện đại. </a:t>
            </a:r>
            <a:endParaRPr sz="1800">
              <a:solidFill>
                <a:schemeClr val="dk1"/>
              </a:solidFill>
              <a:latin typeface="Times New Roman"/>
              <a:ea typeface="Times New Roman"/>
              <a:cs typeface="Times New Roman"/>
              <a:sym typeface="Times New Roman"/>
            </a:endParaRPr>
          </a:p>
        </p:txBody>
      </p:sp>
      <p:pic>
        <p:nvPicPr>
          <p:cNvPr descr="Tạp chí Xây Dựng Đảng - Đại hội XII của Đảng: Những dấu ấn nổi bật" id="558" name="Google Shape;558;p69"/>
          <p:cNvPicPr preferRelativeResize="0"/>
          <p:nvPr/>
        </p:nvPicPr>
        <p:blipFill rotWithShape="1">
          <a:blip r:embed="rId3">
            <a:alphaModFix/>
          </a:blip>
          <a:srcRect b="0" l="0" r="0" t="0"/>
          <a:stretch/>
        </p:blipFill>
        <p:spPr>
          <a:xfrm>
            <a:off x="7833608" y="1908438"/>
            <a:ext cx="3958175" cy="428562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0"/>
          <p:cNvSpPr txBox="1"/>
          <p:nvPr>
            <p:ph idx="10" type="dt"/>
          </p:nvPr>
        </p:nvSpPr>
        <p:spPr>
          <a:xfrm>
            <a:off x="2050990" y="6520441"/>
            <a:ext cx="1530409" cy="346316"/>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12/04/2022</a:t>
            </a:r>
            <a:endParaRPr/>
          </a:p>
        </p:txBody>
      </p:sp>
      <p:pic>
        <p:nvPicPr>
          <p:cNvPr descr="Trịnh Hồng Hà 403A1BKHN" id="564" name="Google Shape;564;p70"/>
          <p:cNvPicPr preferRelativeResize="0"/>
          <p:nvPr/>
        </p:nvPicPr>
        <p:blipFill rotWithShape="1">
          <a:blip r:embed="rId3">
            <a:alphaModFix/>
          </a:blip>
          <a:srcRect b="0" l="0" r="0" t="0"/>
          <a:stretch/>
        </p:blipFill>
        <p:spPr>
          <a:xfrm>
            <a:off x="1524000" y="1668463"/>
            <a:ext cx="9144000" cy="5141912"/>
          </a:xfrm>
          <a:prstGeom prst="rect">
            <a:avLst/>
          </a:prstGeom>
          <a:noFill/>
          <a:ln>
            <a:noFill/>
          </a:ln>
        </p:spPr>
      </p:pic>
      <p:pic>
        <p:nvPicPr>
          <p:cNvPr descr="Trịnh Hồng Hà 403A1BKHN" id="565" name="Google Shape;565;p70"/>
          <p:cNvPicPr preferRelativeResize="0"/>
          <p:nvPr/>
        </p:nvPicPr>
        <p:blipFill rotWithShape="1">
          <a:blip r:embed="rId4">
            <a:alphaModFix/>
          </a:blip>
          <a:srcRect b="0" l="0" r="0" t="0"/>
          <a:stretch/>
        </p:blipFill>
        <p:spPr>
          <a:xfrm>
            <a:off x="1717675" y="3657601"/>
            <a:ext cx="2457450" cy="1768475"/>
          </a:xfrm>
          <a:prstGeom prst="rect">
            <a:avLst/>
          </a:prstGeom>
          <a:noFill/>
          <a:ln>
            <a:noFill/>
          </a:ln>
        </p:spPr>
      </p:pic>
      <p:pic>
        <p:nvPicPr>
          <p:cNvPr descr="Trịnh Hồng Hà 403A1BKHN" id="566" name="Google Shape;566;p70"/>
          <p:cNvPicPr preferRelativeResize="0"/>
          <p:nvPr/>
        </p:nvPicPr>
        <p:blipFill rotWithShape="1">
          <a:blip r:embed="rId5">
            <a:alphaModFix/>
          </a:blip>
          <a:srcRect b="0" l="0" r="0" t="0"/>
          <a:stretch/>
        </p:blipFill>
        <p:spPr>
          <a:xfrm>
            <a:off x="1724026" y="1806576"/>
            <a:ext cx="2689225" cy="1768475"/>
          </a:xfrm>
          <a:prstGeom prst="rect">
            <a:avLst/>
          </a:prstGeom>
          <a:noFill/>
          <a:ln>
            <a:noFill/>
          </a:ln>
        </p:spPr>
      </p:pic>
      <p:pic>
        <p:nvPicPr>
          <p:cNvPr descr="Trịnh Hồng Hà 403A1BKHN" id="567" name="Google Shape;567;p70"/>
          <p:cNvPicPr preferRelativeResize="0"/>
          <p:nvPr/>
        </p:nvPicPr>
        <p:blipFill rotWithShape="1">
          <a:blip r:embed="rId6">
            <a:alphaModFix/>
          </a:blip>
          <a:srcRect b="0" l="0" r="0" t="0"/>
          <a:stretch/>
        </p:blipFill>
        <p:spPr>
          <a:xfrm>
            <a:off x="7807326" y="1793875"/>
            <a:ext cx="2678113" cy="1766888"/>
          </a:xfrm>
          <a:prstGeom prst="rect">
            <a:avLst/>
          </a:prstGeom>
          <a:noFill/>
          <a:ln>
            <a:noFill/>
          </a:ln>
        </p:spPr>
      </p:pic>
      <p:pic>
        <p:nvPicPr>
          <p:cNvPr descr="Trịnh Hồng Hà 403A1BKHN" id="568" name="Google Shape;568;p70"/>
          <p:cNvPicPr preferRelativeResize="0"/>
          <p:nvPr/>
        </p:nvPicPr>
        <p:blipFill rotWithShape="1">
          <a:blip r:embed="rId7">
            <a:alphaModFix/>
          </a:blip>
          <a:srcRect b="0" l="0" r="0" t="0"/>
          <a:stretch/>
        </p:blipFill>
        <p:spPr>
          <a:xfrm>
            <a:off x="4840289" y="1812926"/>
            <a:ext cx="2587625" cy="1762125"/>
          </a:xfrm>
          <a:prstGeom prst="rect">
            <a:avLst/>
          </a:prstGeom>
          <a:noFill/>
          <a:ln>
            <a:noFill/>
          </a:ln>
        </p:spPr>
      </p:pic>
      <p:pic>
        <p:nvPicPr>
          <p:cNvPr descr="Trịnh Hồng Hà 403A1BKHN" id="569" name="Google Shape;569;p70"/>
          <p:cNvPicPr preferRelativeResize="0"/>
          <p:nvPr/>
        </p:nvPicPr>
        <p:blipFill rotWithShape="1">
          <a:blip r:embed="rId8">
            <a:alphaModFix/>
          </a:blip>
          <a:srcRect b="0" l="0" r="0" t="0"/>
          <a:stretch/>
        </p:blipFill>
        <p:spPr>
          <a:xfrm>
            <a:off x="9132889" y="4581526"/>
            <a:ext cx="1328737" cy="2074863"/>
          </a:xfrm>
          <a:prstGeom prst="rect">
            <a:avLst/>
          </a:prstGeom>
          <a:noFill/>
          <a:ln>
            <a:noFill/>
          </a:ln>
        </p:spPr>
      </p:pic>
      <p:pic>
        <p:nvPicPr>
          <p:cNvPr descr="Trịnh Hồng Hà 403A1BKHN" id="570" name="Google Shape;570;p70"/>
          <p:cNvPicPr preferRelativeResize="0"/>
          <p:nvPr/>
        </p:nvPicPr>
        <p:blipFill rotWithShape="1">
          <a:blip r:embed="rId9">
            <a:alphaModFix/>
          </a:blip>
          <a:srcRect b="0" l="0" r="0" t="0"/>
          <a:stretch/>
        </p:blipFill>
        <p:spPr>
          <a:xfrm>
            <a:off x="1717676" y="5541963"/>
            <a:ext cx="1609725" cy="1123950"/>
          </a:xfrm>
          <a:prstGeom prst="rect">
            <a:avLst/>
          </a:prstGeom>
          <a:noFill/>
          <a:ln>
            <a:noFill/>
          </a:ln>
        </p:spPr>
      </p:pic>
      <p:pic>
        <p:nvPicPr>
          <p:cNvPr descr="Trịnh Hồng Hà 403A1BKHN" id="571" name="Google Shape;571;p70"/>
          <p:cNvPicPr preferRelativeResize="0"/>
          <p:nvPr/>
        </p:nvPicPr>
        <p:blipFill rotWithShape="1">
          <a:blip r:embed="rId10">
            <a:alphaModFix/>
          </a:blip>
          <a:srcRect b="0" l="0" r="0" t="0"/>
          <a:stretch/>
        </p:blipFill>
        <p:spPr>
          <a:xfrm>
            <a:off x="3430588" y="5546726"/>
            <a:ext cx="1719262" cy="1128713"/>
          </a:xfrm>
          <a:prstGeom prst="rect">
            <a:avLst/>
          </a:prstGeom>
          <a:noFill/>
          <a:ln>
            <a:noFill/>
          </a:ln>
        </p:spPr>
      </p:pic>
      <p:pic>
        <p:nvPicPr>
          <p:cNvPr descr="Trịnh Hồng Hà 403A1BKHN" id="572" name="Google Shape;572;p70"/>
          <p:cNvPicPr preferRelativeResize="0"/>
          <p:nvPr/>
        </p:nvPicPr>
        <p:blipFill rotWithShape="1">
          <a:blip r:embed="rId11">
            <a:alphaModFix/>
          </a:blip>
          <a:srcRect b="0" l="0" r="0" t="0"/>
          <a:stretch/>
        </p:blipFill>
        <p:spPr>
          <a:xfrm>
            <a:off x="5226050" y="5540375"/>
            <a:ext cx="1690688" cy="1125538"/>
          </a:xfrm>
          <a:prstGeom prst="rect">
            <a:avLst/>
          </a:prstGeom>
          <a:noFill/>
          <a:ln>
            <a:noFill/>
          </a:ln>
        </p:spPr>
      </p:pic>
      <p:pic>
        <p:nvPicPr>
          <p:cNvPr descr="Trịnh Hồng Hà 403A1BKHN" id="573" name="Google Shape;573;p70"/>
          <p:cNvPicPr preferRelativeResize="0"/>
          <p:nvPr/>
        </p:nvPicPr>
        <p:blipFill rotWithShape="1">
          <a:blip r:embed="rId12">
            <a:alphaModFix/>
          </a:blip>
          <a:srcRect b="0" l="0" r="0" t="0"/>
          <a:stretch/>
        </p:blipFill>
        <p:spPr>
          <a:xfrm>
            <a:off x="7015164" y="5541963"/>
            <a:ext cx="1398587" cy="1122362"/>
          </a:xfrm>
          <a:prstGeom prst="rect">
            <a:avLst/>
          </a:prstGeom>
          <a:noFill/>
          <a:ln>
            <a:noFill/>
          </a:ln>
        </p:spPr>
      </p:pic>
      <p:sp>
        <p:nvSpPr>
          <p:cNvPr id="574" name="Google Shape;574;p70"/>
          <p:cNvSpPr txBox="1"/>
          <p:nvPr/>
        </p:nvSpPr>
        <p:spPr>
          <a:xfrm>
            <a:off x="2329733" y="282432"/>
            <a:ext cx="9446150" cy="142199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Đại hội XII, nêu rõ mục tiêu, nhiệm vụ tổng quát phát triển đất nước 5 năm 2016-2020, các nhiệm vụ chủ yếu trên các lĩnh vực: Đổi mới mô hình tăng trưởng, cơ cấu lại nền kinh tế, đẩy mạnh công nghiệp hoá, hiện đại hoá đất nước. </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564"/>
                                        </p:tgtEl>
                                        <p:attrNameLst>
                                          <p:attrName>style.visibility</p:attrName>
                                        </p:attrNameLst>
                                      </p:cBhvr>
                                      <p:to>
                                        <p:strVal val="visible"/>
                                      </p:to>
                                    </p:set>
                                    <p:animEffect filter="fade" transition="in">
                                      <p:cBhvr>
                                        <p:cTn dur="2000"/>
                                        <p:tgtEl>
                                          <p:spTgt spid="564"/>
                                        </p:tgtEl>
                                      </p:cBhvr>
                                    </p:animEffect>
                                  </p:childTnLst>
                                </p:cTn>
                              </p:par>
                            </p:childTnLst>
                          </p:cTn>
                        </p:par>
                        <p:par>
                          <p:cTn fill="hold">
                            <p:stCondLst>
                              <p:cond delay="2000"/>
                            </p:stCondLst>
                            <p:childTnLst>
                              <p:par>
                                <p:cTn fill="hold" nodeType="afterEffect" presetClass="entr" presetID="2" presetSubtype="8">
                                  <p:stCondLst>
                                    <p:cond delay="2000"/>
                                  </p:stCondLst>
                                  <p:childTnLst>
                                    <p:set>
                                      <p:cBhvr>
                                        <p:cTn dur="1" fill="hold">
                                          <p:stCondLst>
                                            <p:cond delay="0"/>
                                          </p:stCondLst>
                                        </p:cTn>
                                        <p:tgtEl>
                                          <p:spTgt spid="566"/>
                                        </p:tgtEl>
                                        <p:attrNameLst>
                                          <p:attrName>style.visibility</p:attrName>
                                        </p:attrNameLst>
                                      </p:cBhvr>
                                      <p:to>
                                        <p:strVal val="visible"/>
                                      </p:to>
                                    </p:set>
                                    <p:anim calcmode="lin" valueType="num">
                                      <p:cBhvr additive="base">
                                        <p:cTn dur="500"/>
                                        <p:tgtEl>
                                          <p:spTgt spid="566"/>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8">
                                  <p:stCondLst>
                                    <p:cond delay="500"/>
                                  </p:stCondLst>
                                  <p:childTnLst>
                                    <p:set>
                                      <p:cBhvr>
                                        <p:cTn dur="1" fill="hold">
                                          <p:stCondLst>
                                            <p:cond delay="0"/>
                                          </p:stCondLst>
                                        </p:cTn>
                                        <p:tgtEl>
                                          <p:spTgt spid="568"/>
                                        </p:tgtEl>
                                        <p:attrNameLst>
                                          <p:attrName>style.visibility</p:attrName>
                                        </p:attrNameLst>
                                      </p:cBhvr>
                                      <p:to>
                                        <p:strVal val="visible"/>
                                      </p:to>
                                    </p:set>
                                    <p:anim calcmode="lin" valueType="num">
                                      <p:cBhvr additive="base">
                                        <p:cTn dur="500"/>
                                        <p:tgtEl>
                                          <p:spTgt spid="568"/>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500"/>
                                  </p:stCondLst>
                                  <p:childTnLst>
                                    <p:set>
                                      <p:cBhvr>
                                        <p:cTn dur="1" fill="hold">
                                          <p:stCondLst>
                                            <p:cond delay="0"/>
                                          </p:stCondLst>
                                        </p:cTn>
                                        <p:tgtEl>
                                          <p:spTgt spid="567"/>
                                        </p:tgtEl>
                                        <p:attrNameLst>
                                          <p:attrName>style.visibility</p:attrName>
                                        </p:attrNameLst>
                                      </p:cBhvr>
                                      <p:to>
                                        <p:strVal val="visible"/>
                                      </p:to>
                                    </p:set>
                                    <p:anim calcmode="lin" valueType="num">
                                      <p:cBhvr additive="base">
                                        <p:cTn dur="500"/>
                                        <p:tgtEl>
                                          <p:spTgt spid="567"/>
                                        </p:tgtEl>
                                        <p:attrNameLst>
                                          <p:attrName>ppt_x</p:attrName>
                                        </p:attrNameLst>
                                      </p:cBhvr>
                                      <p:tavLst>
                                        <p:tav fmla="" tm="0">
                                          <p:val>
                                            <p:strVal val="#ppt_x-1"/>
                                          </p:val>
                                        </p:tav>
                                        <p:tav fmla="" tm="100000">
                                          <p:val>
                                            <p:strVal val="#ppt_x"/>
                                          </p:val>
                                        </p:tav>
                                      </p:tavLst>
                                    </p:anim>
                                  </p:childTnLst>
                                </p:cTn>
                              </p:par>
                            </p:childTnLst>
                          </p:cTn>
                        </p:par>
                        <p:par>
                          <p:cTn fill="hold">
                            <p:stCondLst>
                              <p:cond delay="3500"/>
                            </p:stCondLst>
                            <p:childTnLst>
                              <p:par>
                                <p:cTn fill="hold" nodeType="afterEffect" presetClass="entr" presetID="2" presetSubtype="8">
                                  <p:stCondLst>
                                    <p:cond delay="50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1000"/>
                                  </p:stCondLst>
                                  <p:childTnLst>
                                    <p:set>
                                      <p:cBhvr>
                                        <p:cTn dur="1" fill="hold">
                                          <p:stCondLst>
                                            <p:cond delay="0"/>
                                          </p:stCondLst>
                                        </p:cTn>
                                        <p:tgtEl>
                                          <p:spTgt spid="570"/>
                                        </p:tgtEl>
                                        <p:attrNameLst>
                                          <p:attrName>style.visibility</p:attrName>
                                        </p:attrNameLst>
                                      </p:cBhvr>
                                      <p:to>
                                        <p:strVal val="visible"/>
                                      </p:to>
                                    </p:set>
                                    <p:anim calcmode="lin" valueType="num">
                                      <p:cBhvr additive="base">
                                        <p:cTn dur="500"/>
                                        <p:tgtEl>
                                          <p:spTgt spid="570"/>
                                        </p:tgtEl>
                                        <p:attrNameLst>
                                          <p:attrName>ppt_x</p:attrName>
                                        </p:attrNameLst>
                                      </p:cBhvr>
                                      <p:tavLst>
                                        <p:tav fmla="" tm="0">
                                          <p:val>
                                            <p:strVal val="#ppt_x-1"/>
                                          </p:val>
                                        </p:tav>
                                        <p:tav fmla="" tm="100000">
                                          <p:val>
                                            <p:strVal val="#ppt_x"/>
                                          </p:val>
                                        </p:tav>
                                      </p:tavLst>
                                    </p:anim>
                                  </p:childTnLst>
                                </p:cTn>
                              </p:par>
                            </p:childTnLst>
                          </p:cTn>
                        </p:par>
                        <p:par>
                          <p:cTn fill="hold">
                            <p:stCondLst>
                              <p:cond delay="4500"/>
                            </p:stCondLst>
                            <p:childTnLst>
                              <p:par>
                                <p:cTn fill="hold" nodeType="afterEffect" presetClass="entr" presetID="2" presetSubtype="8">
                                  <p:stCondLst>
                                    <p:cond delay="500"/>
                                  </p:stCondLst>
                                  <p:childTnLst>
                                    <p:set>
                                      <p:cBhvr>
                                        <p:cTn dur="1" fill="hold">
                                          <p:stCondLst>
                                            <p:cond delay="0"/>
                                          </p:stCondLst>
                                        </p:cTn>
                                        <p:tgtEl>
                                          <p:spTgt spid="571"/>
                                        </p:tgtEl>
                                        <p:attrNameLst>
                                          <p:attrName>style.visibility</p:attrName>
                                        </p:attrNameLst>
                                      </p:cBhvr>
                                      <p:to>
                                        <p:strVal val="visible"/>
                                      </p:to>
                                    </p:set>
                                    <p:anim calcmode="lin" valueType="num">
                                      <p:cBhvr additive="base">
                                        <p:cTn dur="500"/>
                                        <p:tgtEl>
                                          <p:spTgt spid="571"/>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8">
                                  <p:stCondLst>
                                    <p:cond delay="50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500"/>
                                        <p:tgtEl>
                                          <p:spTgt spid="572"/>
                                        </p:tgtEl>
                                        <p:attrNameLst>
                                          <p:attrName>ppt_x</p:attrName>
                                        </p:attrNameLst>
                                      </p:cBhvr>
                                      <p:tavLst>
                                        <p:tav fmla="" tm="0">
                                          <p:val>
                                            <p:strVal val="#ppt_x-1"/>
                                          </p:val>
                                        </p:tav>
                                        <p:tav fmla="" tm="100000">
                                          <p:val>
                                            <p:strVal val="#ppt_x"/>
                                          </p:val>
                                        </p:tav>
                                      </p:tavLst>
                                    </p:anim>
                                  </p:childTnLst>
                                </p:cTn>
                              </p:par>
                            </p:childTnLst>
                          </p:cTn>
                        </p:par>
                        <p:par>
                          <p:cTn fill="hold">
                            <p:stCondLst>
                              <p:cond delay="5500"/>
                            </p:stCondLst>
                            <p:childTnLst>
                              <p:par>
                                <p:cTn fill="hold" nodeType="afterEffect" presetClass="entr" presetID="2" presetSubtype="8">
                                  <p:stCondLst>
                                    <p:cond delay="500"/>
                                  </p:stCondLst>
                                  <p:childTnLst>
                                    <p:set>
                                      <p:cBhvr>
                                        <p:cTn dur="1" fill="hold">
                                          <p:stCondLst>
                                            <p:cond delay="0"/>
                                          </p:stCondLst>
                                        </p:cTn>
                                        <p:tgtEl>
                                          <p:spTgt spid="573"/>
                                        </p:tgtEl>
                                        <p:attrNameLst>
                                          <p:attrName>style.visibility</p:attrName>
                                        </p:attrNameLst>
                                      </p:cBhvr>
                                      <p:to>
                                        <p:strVal val="visible"/>
                                      </p:to>
                                    </p:set>
                                    <p:anim calcmode="lin" valueType="num">
                                      <p:cBhvr additive="base">
                                        <p:cTn dur="500"/>
                                        <p:tgtEl>
                                          <p:spTgt spid="573"/>
                                        </p:tgtEl>
                                        <p:attrNameLst>
                                          <p:attrName>ppt_x</p:attrName>
                                        </p:attrNameLst>
                                      </p:cBhvr>
                                      <p:tavLst>
                                        <p:tav fmla="" tm="0">
                                          <p:val>
                                            <p:strVal val="#ppt_x-1"/>
                                          </p:val>
                                        </p:tav>
                                        <p:tav fmla="" tm="100000">
                                          <p:val>
                                            <p:strVal val="#ppt_x"/>
                                          </p:val>
                                        </p:tav>
                                      </p:tavLst>
                                    </p:anim>
                                  </p:childTnLst>
                                </p:cTn>
                              </p:par>
                            </p:childTnLst>
                          </p:cTn>
                        </p:par>
                        <p:par>
                          <p:cTn fill="hold">
                            <p:stCondLst>
                              <p:cond delay="6000"/>
                            </p:stCondLst>
                            <p:childTnLst>
                              <p:par>
                                <p:cTn fill="hold" nodeType="afterEffect" presetClass="entr" presetID="2" presetSubtype="8">
                                  <p:stCondLst>
                                    <p:cond delay="500"/>
                                  </p:stCondLst>
                                  <p:childTnLst>
                                    <p:set>
                                      <p:cBhvr>
                                        <p:cTn dur="1" fill="hold">
                                          <p:stCondLst>
                                            <p:cond delay="0"/>
                                          </p:stCondLst>
                                        </p:cTn>
                                        <p:tgtEl>
                                          <p:spTgt spid="569"/>
                                        </p:tgtEl>
                                        <p:attrNameLst>
                                          <p:attrName>style.visibility</p:attrName>
                                        </p:attrNameLst>
                                      </p:cBhvr>
                                      <p:to>
                                        <p:strVal val="visible"/>
                                      </p:to>
                                    </p:set>
                                    <p:anim calcmode="lin" valueType="num">
                                      <p:cBhvr additive="base">
                                        <p:cTn dur="500"/>
                                        <p:tgtEl>
                                          <p:spTgt spid="56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1"/>
          <p:cNvSpPr txBox="1"/>
          <p:nvPr/>
        </p:nvSpPr>
        <p:spPr>
          <a:xfrm>
            <a:off x="1798983" y="565452"/>
            <a:ext cx="8728544" cy="496867"/>
          </a:xfrm>
          <a:prstGeom prst="rect">
            <a:avLst/>
          </a:prstGeom>
          <a:noFill/>
          <a:ln>
            <a:noFill/>
          </a:ln>
        </p:spPr>
        <p:txBody>
          <a:bodyPr anchorCtr="0" anchor="t" bIns="45700" lIns="91425" spcFirstLastPara="1" rIns="91425" wrap="square" tIns="45700">
            <a:spAutoFit/>
          </a:bodyPr>
          <a:lstStyle/>
          <a:p>
            <a:pPr indent="360045" lvl="0" marL="0" marR="0" rtl="0" algn="just">
              <a:lnSpc>
                <a:spcPct val="120000"/>
              </a:lnSpc>
              <a:spcBef>
                <a:spcPts val="0"/>
              </a:spcBef>
              <a:spcAft>
                <a:spcPts val="0"/>
              </a:spcAft>
              <a:buNone/>
            </a:pPr>
            <a:r>
              <a:rPr b="1" lang="en-US" sz="2400">
                <a:solidFill>
                  <a:srgbClr val="FF0000"/>
                </a:solidFill>
                <a:latin typeface="Times New Roman"/>
                <a:ea typeface="Times New Roman"/>
                <a:cs typeface="Times New Roman"/>
                <a:sym typeface="Times New Roman"/>
              </a:rPr>
              <a:t>3. Thành tựu, kinh nghiệm của công cuộc đổi mới</a:t>
            </a:r>
            <a:endParaRPr b="1" sz="2400">
              <a:solidFill>
                <a:srgbClr val="FF0000"/>
              </a:solidFill>
              <a:latin typeface="Times New Roman"/>
              <a:ea typeface="Times New Roman"/>
              <a:cs typeface="Times New Roman"/>
              <a:sym typeface="Times New Roman"/>
            </a:endParaRPr>
          </a:p>
        </p:txBody>
      </p:sp>
      <p:sp>
        <p:nvSpPr>
          <p:cNvPr id="580" name="Google Shape;580;p71"/>
          <p:cNvSpPr txBox="1"/>
          <p:nvPr/>
        </p:nvSpPr>
        <p:spPr>
          <a:xfrm>
            <a:off x="749410" y="1397676"/>
            <a:ext cx="9976900" cy="3998018"/>
          </a:xfrm>
          <a:prstGeom prst="rect">
            <a:avLst/>
          </a:prstGeom>
          <a:noFill/>
          <a:ln>
            <a:noFill/>
          </a:ln>
        </p:spPr>
        <p:txBody>
          <a:bodyPr anchorCtr="0" anchor="t" bIns="45700" lIns="91425" spcFirstLastPara="1" rIns="91425" wrap="square" tIns="45700">
            <a:spAutoFit/>
          </a:bodyPr>
          <a:lstStyle/>
          <a:p>
            <a:pPr indent="0" lvl="0" marL="0" marR="0" rtl="0" algn="just">
              <a:lnSpc>
                <a:spcPct val="120000"/>
              </a:lnSpc>
              <a:spcBef>
                <a:spcPts val="0"/>
              </a:spcBef>
              <a:spcAft>
                <a:spcPts val="0"/>
              </a:spcAft>
              <a:buNone/>
            </a:pPr>
            <a:r>
              <a:rPr b="1" lang="en-US" sz="2400">
                <a:solidFill>
                  <a:schemeClr val="dk1"/>
                </a:solidFill>
                <a:latin typeface="Times New Roman"/>
                <a:ea typeface="Times New Roman"/>
                <a:cs typeface="Times New Roman"/>
                <a:sym typeface="Times New Roman"/>
              </a:rPr>
              <a:t>Thành tựu của sự nghiệp đổi mới</a:t>
            </a:r>
            <a:endParaRPr b="1" sz="2400">
              <a:solidFill>
                <a:schemeClr val="dk1"/>
              </a:solidFill>
              <a:latin typeface="Times New Roman"/>
              <a:ea typeface="Times New Roman"/>
              <a:cs typeface="Times New Roman"/>
              <a:sym typeface="Times New Roman"/>
            </a:endParaRPr>
          </a:p>
          <a:p>
            <a:pPr indent="-285750" lvl="0" marL="285750" marR="0" rtl="0" algn="just">
              <a:spcBef>
                <a:spcPts val="60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Kinh tế tăng trưởng khá, thực lực của nền kinh tế tăng lên; kinh tế vĩ mô cơ bản ổn định; lạm phát được kiểm soát; tăng trưởng kinh tế được duy trì hợp lý và được đánh giá là thuộc nhóm nước có mức tăng trưởng khá cao trên thế giới. </a:t>
            </a:r>
            <a:endParaRPr/>
          </a:p>
          <a:p>
            <a:pPr indent="-285750" lvl="0" marL="285750" marR="0" rtl="0" algn="just">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Văn hóa-xã hội có bước phát triển, bộ mặt đất nước và đời sống của nhân dân có nhiều thay đổi. </a:t>
            </a:r>
            <a:endParaRPr sz="2000">
              <a:solidFill>
                <a:schemeClr val="dk1"/>
              </a:solidFill>
              <a:latin typeface="Times New Roman"/>
              <a:ea typeface="Times New Roman"/>
              <a:cs typeface="Times New Roman"/>
              <a:sym typeface="Times New Roman"/>
            </a:endParaRPr>
          </a:p>
          <a:p>
            <a:pPr indent="-285750" lvl="0" marL="285750" marR="0" rtl="0" algn="just">
              <a:spcBef>
                <a:spcPts val="0"/>
              </a:spcBef>
              <a:spcAft>
                <a:spcPts val="0"/>
              </a:spcAft>
              <a:buClr>
                <a:schemeClr val="dk1"/>
              </a:buClr>
              <a:buSzPts val="2000"/>
              <a:buFont typeface="Noto Sans Symbols"/>
              <a:buChar char="⮚"/>
            </a:pPr>
            <a:r>
              <a:rPr i="1" lang="en-US" sz="2000" u="none" strike="noStrike">
                <a:solidFill>
                  <a:schemeClr val="dk1"/>
                </a:solidFill>
                <a:latin typeface="Times New Roman"/>
                <a:ea typeface="Times New Roman"/>
                <a:cs typeface="Times New Roman"/>
                <a:sym typeface="Times New Roman"/>
              </a:rPr>
              <a:t>Giữ vững quốc phòng, an ninh, bảo vệ vững chắc Tổ quốc. Phát triển và ngày càng hoàn thiện</a:t>
            </a:r>
            <a:r>
              <a:rPr i="0" lang="en-US" sz="2000" u="none" strike="noStrike">
                <a:solidFill>
                  <a:schemeClr val="dk1"/>
                </a:solidFill>
                <a:latin typeface="Times New Roman"/>
                <a:ea typeface="Times New Roman"/>
                <a:cs typeface="Times New Roman"/>
                <a:sym typeface="Times New Roman"/>
              </a:rPr>
              <a:t>. </a:t>
            </a:r>
            <a:endParaRPr/>
          </a:p>
          <a:p>
            <a:pPr indent="-285750" lvl="0" marL="285750" marR="0" rtl="0" algn="just">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Cùng với việc tăng cường ngoại giao nhà nước, quan hệ đối ngoại đảng và ngoại giao nhân dân được mở rộng, đã nâng cao vị thế, uy tín của nước ta tại các diễn đàn đa phương. </a:t>
            </a:r>
            <a:endParaRPr/>
          </a:p>
          <a:p>
            <a:pPr indent="-285750" lvl="0" marL="285750" marR="0" rtl="0" algn="just">
              <a:spcBef>
                <a:spcPts val="0"/>
              </a:spcBef>
              <a:spcAft>
                <a:spcPts val="0"/>
              </a:spcAft>
              <a:buClr>
                <a:schemeClr val="dk1"/>
              </a:buClr>
              <a:buSzPts val="2000"/>
              <a:buFont typeface="Noto Sans Symbols"/>
              <a:buChar char="⮚"/>
            </a:pPr>
            <a:r>
              <a:rPr i="1" lang="en-US" sz="2000" u="none" strike="noStrike">
                <a:solidFill>
                  <a:schemeClr val="dk1"/>
                </a:solidFill>
                <a:latin typeface="Times New Roman"/>
                <a:ea typeface="Times New Roman"/>
                <a:cs typeface="Times New Roman"/>
                <a:sym typeface="Times New Roman"/>
              </a:rPr>
              <a:t>Nhận thức về xây dựng và phát huy dân chủ, đổi mới hệ thống chính trị, xây dựng Nhà nước pháp quyền xã hội chủ nghĩa có nhiều tiến bộ. </a:t>
            </a:r>
            <a:endParaRPr sz="20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descr="Trịnh Hồng Hà 403A1BKHN" id="585" name="Google Shape;585;p72"/>
          <p:cNvSpPr/>
          <p:nvPr/>
        </p:nvSpPr>
        <p:spPr>
          <a:xfrm>
            <a:off x="1524001" y="0"/>
            <a:ext cx="9140825" cy="685800"/>
          </a:xfrm>
          <a:prstGeom prst="rect">
            <a:avLst/>
          </a:prstGeom>
          <a:gradFill>
            <a:gsLst>
              <a:gs pos="0">
                <a:srgbClr val="0054A8"/>
              </a:gs>
              <a:gs pos="50000">
                <a:srgbClr val="004E9C"/>
              </a:gs>
              <a:gs pos="100000">
                <a:srgbClr val="0054A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6" name="Google Shape;586;p72"/>
          <p:cNvSpPr txBox="1"/>
          <p:nvPr>
            <p:ph idx="1" type="body"/>
          </p:nvPr>
        </p:nvSpPr>
        <p:spPr>
          <a:xfrm>
            <a:off x="532737" y="1235504"/>
            <a:ext cx="11068217" cy="2986639"/>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i="1" lang="en-US" sz="2000"/>
              <a:t>	</a:t>
            </a:r>
            <a:r>
              <a:rPr lang="en-US" sz="2000"/>
              <a:t>Một là, trong quá trình đổi mới phải chủ động, không ngừng sáng tạo trên cơ sở kiên định mục tiêu độc lập dân tộc và chủ nghĩa xã hội, vận dụng sáng tạo và phát triển chủ nghĩa Mác - Lênin, tư tưởng Hồ Chí Minh, kế thừa và phát huy truyền thống dân tộc, tiếp thu tinh hoa văn hóa nhân loại, vận dụng kinh nghiệm quốc tế phù hợp với Việt Nam.</a:t>
            </a:r>
            <a:endParaRPr/>
          </a:p>
          <a:p>
            <a:pPr indent="0" lvl="0" marL="0" rtl="0" algn="just">
              <a:lnSpc>
                <a:spcPct val="90000"/>
              </a:lnSpc>
              <a:spcBef>
                <a:spcPts val="1000"/>
              </a:spcBef>
              <a:spcAft>
                <a:spcPts val="0"/>
              </a:spcAft>
              <a:buClr>
                <a:schemeClr val="dk1"/>
              </a:buClr>
              <a:buSzPts val="2000"/>
              <a:buNone/>
            </a:pPr>
            <a:r>
              <a:rPr lang="en-US" sz="2000"/>
              <a:t>	Hai là, đổi mới phải luôn luôn quán triệt quan điểm “dân là gốc”, vì lợi ích của nhân dân, dựa vào nhân dân, phát huy vai trò làm chủ, tinh thần trách nhiệm, sức sáng tạo và mọi nguồn lực của nhân dân; phát huy sức mạnh đại đoàn kết toàn dân tộc.</a:t>
            </a:r>
            <a:endParaRPr/>
          </a:p>
          <a:p>
            <a:pPr indent="0" lvl="0" marL="0" rtl="0" algn="just">
              <a:lnSpc>
                <a:spcPct val="90000"/>
              </a:lnSpc>
              <a:spcBef>
                <a:spcPts val="1000"/>
              </a:spcBef>
              <a:spcAft>
                <a:spcPts val="0"/>
              </a:spcAft>
              <a:buClr>
                <a:schemeClr val="dk1"/>
              </a:buClr>
              <a:buSzPts val="2000"/>
              <a:buNone/>
            </a:pPr>
            <a:r>
              <a:rPr lang="en-US" sz="2000"/>
              <a:t>	Ba là, đổi mới phải toàn diện, đồng bộ, có bước đi phù hợp; phải tôn trọng quy luật khách quan, xuất phát từ thực tiễn, bám sát thực tiễn, coi trọng tổng kết thực tiễn, nghiên cứu lý luận, tập trung giải quyết kịp thời, hiệu quả những vẩn đề do thực tiễn đề ra.</a:t>
            </a:r>
            <a:endParaRPr/>
          </a:p>
          <a:p>
            <a:pPr indent="0" lvl="0" marL="0" rtl="0" algn="just">
              <a:lnSpc>
                <a:spcPct val="90000"/>
              </a:lnSpc>
              <a:spcBef>
                <a:spcPts val="1000"/>
              </a:spcBef>
              <a:spcAft>
                <a:spcPts val="0"/>
              </a:spcAft>
              <a:buClr>
                <a:schemeClr val="dk1"/>
              </a:buClr>
              <a:buSzPts val="2000"/>
              <a:buNone/>
            </a:pPr>
            <a:r>
              <a:rPr lang="en-US" sz="2000"/>
              <a:t>	Bốn là, phải đặt lợi ích quốc gia-dân tộc lên trên hết; kiên định độc lập, tự chủ, đồng thời chủ động và tích cực hội nhập quốc tế trên cơ sở bình đẳng, cùng có lợi; kết hợp phát huy sức mạnh dân tộc với sức mạnh thời đại để xây dựng và bảo vệ vững chắc Tổ quốc Việt Nam xã hội chủ nghĩa.</a:t>
            </a:r>
            <a:endParaRPr/>
          </a:p>
          <a:p>
            <a:pPr indent="0" lvl="0" marL="0" rtl="0" algn="just">
              <a:lnSpc>
                <a:spcPct val="90000"/>
              </a:lnSpc>
              <a:spcBef>
                <a:spcPts val="1000"/>
              </a:spcBef>
              <a:spcAft>
                <a:spcPts val="0"/>
              </a:spcAft>
              <a:buClr>
                <a:schemeClr val="dk1"/>
              </a:buClr>
              <a:buSzPts val="2000"/>
              <a:buNone/>
            </a:pPr>
            <a:r>
              <a:rPr lang="en-US" sz="2000"/>
              <a:t>	Năm là, phải thường xuyên tự đổi mới, tự chỉnh đốn, nâng cao năng lực lãnh đạo và sức chiến đấu của Đảng; xây dựng đội ngũ cán bộ, nhất là đội ngũ cán bộ cấp chiến lược, đủ năng lực và phẩm chất, ngang tầm nhiệm vụ; nâng cao hiệu lực, hiệu quả hoạt động của Nhà nước, Mặt trận Tổ quốc, các tổ chức chính trị-xã hội và của cả hệ thống chính trị; tăng cường mối quan hệ mật thiết với nhân dân.</a:t>
            </a:r>
            <a:endParaRPr/>
          </a:p>
        </p:txBody>
      </p:sp>
      <p:sp>
        <p:nvSpPr>
          <p:cNvPr id="587" name="Google Shape;587;p72"/>
          <p:cNvSpPr txBox="1"/>
          <p:nvPr/>
        </p:nvSpPr>
        <p:spPr>
          <a:xfrm>
            <a:off x="2816750" y="650222"/>
            <a:ext cx="75438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0000"/>
                </a:solidFill>
                <a:latin typeface="Times New Roman"/>
                <a:ea typeface="Times New Roman"/>
                <a:cs typeface="Times New Roman"/>
                <a:sym typeface="Times New Roman"/>
              </a:rPr>
              <a:t>Kinh nghiệm của công cuộc đổi mới</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585"/>
                                        </p:tgtEl>
                                        <p:attrNameLst>
                                          <p:attrName>style.visibility</p:attrName>
                                        </p:attrNameLst>
                                      </p:cBhvr>
                                      <p:to>
                                        <p:strVal val="visible"/>
                                      </p:to>
                                    </p:set>
                                    <p:anim calcmode="lin" valueType="num">
                                      <p:cBhvr additive="base">
                                        <p:cTn dur="500"/>
                                        <p:tgtEl>
                                          <p:spTgt spid="5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6">
                                            <p:txEl>
                                              <p:pRg end="0" st="0"/>
                                            </p:txEl>
                                          </p:spTgt>
                                        </p:tgtEl>
                                        <p:attrNameLst>
                                          <p:attrName>style.visibility</p:attrName>
                                        </p:attrNameLst>
                                      </p:cBhvr>
                                      <p:to>
                                        <p:strVal val="visible"/>
                                      </p:to>
                                    </p:set>
                                    <p:anim calcmode="lin" valueType="num">
                                      <p:cBhvr additive="base">
                                        <p:cTn dur="500"/>
                                        <p:tgtEl>
                                          <p:spTgt spid="58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6">
                                            <p:txEl>
                                              <p:pRg end="1" st="1"/>
                                            </p:txEl>
                                          </p:spTgt>
                                        </p:tgtEl>
                                        <p:attrNameLst>
                                          <p:attrName>style.visibility</p:attrName>
                                        </p:attrNameLst>
                                      </p:cBhvr>
                                      <p:to>
                                        <p:strVal val="visible"/>
                                      </p:to>
                                    </p:set>
                                    <p:anim calcmode="lin" valueType="num">
                                      <p:cBhvr additive="base">
                                        <p:cTn dur="500"/>
                                        <p:tgtEl>
                                          <p:spTgt spid="58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6">
                                            <p:txEl>
                                              <p:pRg end="2" st="2"/>
                                            </p:txEl>
                                          </p:spTgt>
                                        </p:tgtEl>
                                        <p:attrNameLst>
                                          <p:attrName>style.visibility</p:attrName>
                                        </p:attrNameLst>
                                      </p:cBhvr>
                                      <p:to>
                                        <p:strVal val="visible"/>
                                      </p:to>
                                    </p:set>
                                    <p:anim calcmode="lin" valueType="num">
                                      <p:cBhvr additive="base">
                                        <p:cTn dur="500"/>
                                        <p:tgtEl>
                                          <p:spTgt spid="58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6">
                                            <p:txEl>
                                              <p:pRg end="3" st="3"/>
                                            </p:txEl>
                                          </p:spTgt>
                                        </p:tgtEl>
                                        <p:attrNameLst>
                                          <p:attrName>style.visibility</p:attrName>
                                        </p:attrNameLst>
                                      </p:cBhvr>
                                      <p:to>
                                        <p:strVal val="visible"/>
                                      </p:to>
                                    </p:set>
                                    <p:anim calcmode="lin" valueType="num">
                                      <p:cBhvr additive="base">
                                        <p:cTn dur="500"/>
                                        <p:tgtEl>
                                          <p:spTgt spid="58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86">
                                            <p:txEl>
                                              <p:pRg end="4" st="4"/>
                                            </p:txEl>
                                          </p:spTgt>
                                        </p:tgtEl>
                                        <p:attrNameLst>
                                          <p:attrName>style.visibility</p:attrName>
                                        </p:attrNameLst>
                                      </p:cBhvr>
                                      <p:to>
                                        <p:strVal val="visible"/>
                                      </p:to>
                                    </p:set>
                                    <p:anim calcmode="lin" valueType="num">
                                      <p:cBhvr additive="base">
                                        <p:cTn dur="500"/>
                                        <p:tgtEl>
                                          <p:spTgt spid="586">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2020-05-27T05:21:30Z</dcterms:created>
  <dc:creator>Toan Le</dc:creator>
</cp:coreProperties>
</file>