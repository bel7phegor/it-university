
<file path=[Content_Types].xml><?xml version="1.0" encoding="utf-8"?>
<Types xmlns="http://schemas.openxmlformats.org/package/2006/content-types">
  <Default Extension="png" ContentType="image/png"/>
  <Default Extension="pdf" ContentType="application/pd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735" r:id="rId2"/>
  </p:sldMasterIdLst>
  <p:notesMasterIdLst>
    <p:notesMasterId r:id="rId29"/>
  </p:notesMasterIdLst>
  <p:sldIdLst>
    <p:sldId id="311" r:id="rId3"/>
    <p:sldId id="312" r:id="rId4"/>
    <p:sldId id="286" r:id="rId5"/>
    <p:sldId id="315" r:id="rId6"/>
    <p:sldId id="326" r:id="rId7"/>
    <p:sldId id="301" r:id="rId8"/>
    <p:sldId id="303" r:id="rId9"/>
    <p:sldId id="304" r:id="rId10"/>
    <p:sldId id="316" r:id="rId11"/>
    <p:sldId id="291" r:id="rId12"/>
    <p:sldId id="317" r:id="rId13"/>
    <p:sldId id="293" r:id="rId14"/>
    <p:sldId id="294" r:id="rId15"/>
    <p:sldId id="318" r:id="rId16"/>
    <p:sldId id="320" r:id="rId17"/>
    <p:sldId id="321" r:id="rId18"/>
    <p:sldId id="323" r:id="rId19"/>
    <p:sldId id="295" r:id="rId20"/>
    <p:sldId id="324" r:id="rId21"/>
    <p:sldId id="297" r:id="rId22"/>
    <p:sldId id="298" r:id="rId23"/>
    <p:sldId id="325" r:id="rId24"/>
    <p:sldId id="308" r:id="rId25"/>
    <p:sldId id="309" r:id="rId26"/>
    <p:sldId id="310" r:id="rId27"/>
    <p:sldId id="314" r:id="rId28"/>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573" autoAdjust="0"/>
  </p:normalViewPr>
  <p:slideViewPr>
    <p:cSldViewPr>
      <p:cViewPr varScale="1">
        <p:scale>
          <a:sx n="83" d="100"/>
          <a:sy n="83" d="100"/>
        </p:scale>
        <p:origin x="-1618" y="-95"/>
      </p:cViewPr>
      <p:guideLst>
        <p:guide orient="horz" pos="2160"/>
        <p:guide pos="2880"/>
      </p:guideLst>
    </p:cSldViewPr>
  </p:slideViewPr>
  <p:outlineViewPr>
    <p:cViewPr>
      <p:scale>
        <a:sx n="33" d="100"/>
        <a:sy n="33" d="100"/>
      </p:scale>
      <p:origin x="0" y="0"/>
    </p:cViewPr>
  </p:outlineViewPr>
  <p:notesTextViewPr>
    <p:cViewPr>
      <p:scale>
        <a:sx n="110" d="100"/>
        <a:sy n="110" d="100"/>
      </p:scale>
      <p:origin x="0" y="0"/>
    </p:cViewPr>
  </p:notesTextViewPr>
  <p:sorterViewPr>
    <p:cViewPr>
      <p:scale>
        <a:sx n="66" d="100"/>
        <a:sy n="66" d="100"/>
      </p:scale>
      <p:origin x="0" y="0"/>
    </p:cViewPr>
  </p:sorterViewPr>
  <p:notesViewPr>
    <p:cSldViewPr>
      <p:cViewPr>
        <p:scale>
          <a:sx n="120" d="100"/>
          <a:sy n="120" d="100"/>
        </p:scale>
        <p:origin x="-1312" y="-4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2BFBCF-8FB3-8B42-BFCE-ADCF2AC68644}" type="doc">
      <dgm:prSet loTypeId="urn:microsoft.com/office/officeart/2005/8/layout/default#2" loCatId="list" qsTypeId="urn:microsoft.com/office/officeart/2005/8/quickstyle/simple4" qsCatId="simple" csTypeId="urn:microsoft.com/office/officeart/2005/8/colors/accent1_2" csCatId="accent1" phldr="1"/>
      <dgm:spPr/>
      <dgm:t>
        <a:bodyPr/>
        <a:lstStyle/>
        <a:p>
          <a:endParaRPr lang="en-US"/>
        </a:p>
      </dgm:t>
    </dgm:pt>
    <dgm:pt modelId="{B074D31A-A44C-1B4E-82C2-AD0C6F2CDC2C}">
      <dgm:prSet custT="1"/>
      <dgm:spPr>
        <a:solidFill>
          <a:schemeClr val="tx2">
            <a:lumMod val="60000"/>
            <a:lumOff val="40000"/>
          </a:schemeClr>
        </a:solidFill>
      </dgm:spPr>
      <dgm:t>
        <a:bodyPr/>
        <a:lstStyle/>
        <a:p>
          <a:pPr rtl="0"/>
          <a:r>
            <a:rPr lang="en-US" sz="2300" b="0" dirty="0" smtClean="0">
              <a:effectLst>
                <a:outerShdw blurRad="38100" dist="38100" dir="2700000" algn="tl">
                  <a:srgbClr val="000000">
                    <a:alpha val="43137"/>
                  </a:srgbClr>
                </a:outerShdw>
              </a:effectLst>
            </a:rPr>
            <a:t>Announced in 1984 by T. </a:t>
          </a:r>
          <a:r>
            <a:rPr lang="en-US" sz="2300" b="0" dirty="0" err="1" smtClean="0">
              <a:effectLst>
                <a:outerShdw blurRad="38100" dist="38100" dir="2700000" algn="tl">
                  <a:srgbClr val="000000">
                    <a:alpha val="43137"/>
                  </a:srgbClr>
                </a:outerShdw>
              </a:effectLst>
            </a:rPr>
            <a:t>Elgamal</a:t>
          </a:r>
          <a:r>
            <a:rPr lang="en-US" sz="2300" b="0" dirty="0" smtClean="0">
              <a:effectLst>
                <a:outerShdw blurRad="38100" dist="38100" dir="2700000" algn="tl">
                  <a:srgbClr val="000000">
                    <a:alpha val="43137"/>
                  </a:srgbClr>
                </a:outerShdw>
              </a:effectLst>
            </a:rPr>
            <a:t> </a:t>
          </a:r>
          <a:r>
            <a:rPr lang="en-US" sz="2300" dirty="0" smtClean="0">
              <a:latin typeface="Arial" pitchFamily="-84" charset="0"/>
              <a:ea typeface="ＭＳ Ｐゴシック" pitchFamily="-84" charset="-128"/>
              <a:cs typeface="ＭＳ Ｐゴシック" pitchFamily="-84" charset="-128"/>
            </a:rPr>
            <a:t> (</a:t>
          </a:r>
          <a:r>
            <a:rPr lang="en-US" sz="1800" b="0" dirty="0" smtClean="0">
              <a:latin typeface="Arial" pitchFamily="-84" charset="0"/>
              <a:ea typeface="ＭＳ Ｐゴシック" pitchFamily="-84" charset="-128"/>
              <a:cs typeface="ＭＳ Ｐゴシック" pitchFamily="-84" charset="-128"/>
            </a:rPr>
            <a:t>closely related to the </a:t>
          </a:r>
          <a:r>
            <a:rPr lang="en-US" sz="1800" b="0" dirty="0" err="1" smtClean="0">
              <a:latin typeface="Arial" pitchFamily="-84" charset="0"/>
              <a:ea typeface="ＭＳ Ｐゴシック" pitchFamily="-84" charset="-128"/>
              <a:cs typeface="ＭＳ Ｐゴシック" pitchFamily="-84" charset="-128"/>
            </a:rPr>
            <a:t>Diffie</a:t>
          </a:r>
          <a:r>
            <a:rPr lang="en-US" sz="1800" b="0" dirty="0" smtClean="0">
              <a:latin typeface="Arial" pitchFamily="-84" charset="0"/>
              <a:ea typeface="ＭＳ Ｐゴシック" pitchFamily="-84" charset="-128"/>
              <a:cs typeface="ＭＳ Ｐゴシック" pitchFamily="-84" charset="-128"/>
            </a:rPr>
            <a:t>-Hellman technique)</a:t>
          </a:r>
          <a:endParaRPr lang="en-US" sz="1800" b="0" dirty="0">
            <a:effectLst>
              <a:outerShdw blurRad="38100" dist="38100" dir="2700000" algn="tl">
                <a:srgbClr val="000000">
                  <a:alpha val="43137"/>
                </a:srgbClr>
              </a:outerShdw>
            </a:effectLst>
          </a:endParaRPr>
        </a:p>
      </dgm:t>
    </dgm:pt>
    <dgm:pt modelId="{12306DCB-AC5E-2149-8DB2-71A40E236E68}" type="parTrans" cxnId="{C7EA056B-46BF-3445-9C5F-F1FFD01E8C6F}">
      <dgm:prSet/>
      <dgm:spPr/>
      <dgm:t>
        <a:bodyPr/>
        <a:lstStyle/>
        <a:p>
          <a:endParaRPr lang="en-US"/>
        </a:p>
      </dgm:t>
    </dgm:pt>
    <dgm:pt modelId="{EF9DB541-A056-2042-AF2B-98C8994FF8EF}" type="sibTrans" cxnId="{C7EA056B-46BF-3445-9C5F-F1FFD01E8C6F}">
      <dgm:prSet/>
      <dgm:spPr/>
      <dgm:t>
        <a:bodyPr/>
        <a:lstStyle/>
        <a:p>
          <a:endParaRPr lang="en-US"/>
        </a:p>
      </dgm:t>
    </dgm:pt>
    <dgm:pt modelId="{A44A8A2B-9D29-4643-92BA-39E5B80A8A92}">
      <dgm:prSet/>
      <dgm:spPr>
        <a:solidFill>
          <a:schemeClr val="tx2">
            <a:lumMod val="60000"/>
            <a:lumOff val="40000"/>
          </a:schemeClr>
        </a:solidFill>
      </dgm:spPr>
      <dgm:t>
        <a:bodyPr/>
        <a:lstStyle/>
        <a:p>
          <a:pPr rtl="0"/>
          <a:r>
            <a:rPr lang="en-US" b="0" dirty="0" smtClean="0">
              <a:effectLst>
                <a:outerShdw blurRad="38100" dist="38100" dir="2700000" algn="tl">
                  <a:srgbClr val="000000">
                    <a:alpha val="43137"/>
                  </a:srgbClr>
                </a:outerShdw>
              </a:effectLst>
            </a:rPr>
            <a:t>Public-key scheme based on discrete logarithms closely related to the </a:t>
          </a:r>
          <a:r>
            <a:rPr lang="en-US" b="0" dirty="0" err="1" smtClean="0">
              <a:effectLst>
                <a:outerShdw blurRad="38100" dist="38100" dir="2700000" algn="tl">
                  <a:srgbClr val="000000">
                    <a:alpha val="43137"/>
                  </a:srgbClr>
                </a:outerShdw>
              </a:effectLst>
            </a:rPr>
            <a:t>Diffie</a:t>
          </a:r>
          <a:r>
            <a:rPr lang="en-US" b="0" dirty="0" smtClean="0">
              <a:effectLst>
                <a:outerShdw blurRad="38100" dist="38100" dir="2700000" algn="tl">
                  <a:srgbClr val="000000">
                    <a:alpha val="43137"/>
                  </a:srgbClr>
                </a:outerShdw>
              </a:effectLst>
            </a:rPr>
            <a:t>-Hellman technique</a:t>
          </a:r>
          <a:endParaRPr lang="en-US" b="0" dirty="0">
            <a:effectLst>
              <a:outerShdw blurRad="38100" dist="38100" dir="2700000" algn="tl">
                <a:srgbClr val="000000">
                  <a:alpha val="43137"/>
                </a:srgbClr>
              </a:outerShdw>
            </a:effectLst>
          </a:endParaRPr>
        </a:p>
      </dgm:t>
    </dgm:pt>
    <dgm:pt modelId="{C6F71EAF-257F-2A47-99E3-051723C549C4}" type="parTrans" cxnId="{87ADF525-C0AB-D648-81C1-7D066092EEB4}">
      <dgm:prSet/>
      <dgm:spPr/>
      <dgm:t>
        <a:bodyPr/>
        <a:lstStyle/>
        <a:p>
          <a:endParaRPr lang="en-US"/>
        </a:p>
      </dgm:t>
    </dgm:pt>
    <dgm:pt modelId="{9A25FB7F-19A4-1149-BA8D-50BD70FB3219}" type="sibTrans" cxnId="{87ADF525-C0AB-D648-81C1-7D066092EEB4}">
      <dgm:prSet/>
      <dgm:spPr/>
      <dgm:t>
        <a:bodyPr/>
        <a:lstStyle/>
        <a:p>
          <a:endParaRPr lang="en-US"/>
        </a:p>
      </dgm:t>
    </dgm:pt>
    <dgm:pt modelId="{74744364-26D6-6340-82D0-C96256292ADE}">
      <dgm:prSet/>
      <dgm:spPr>
        <a:solidFill>
          <a:schemeClr val="tx2">
            <a:lumMod val="60000"/>
            <a:lumOff val="40000"/>
          </a:schemeClr>
        </a:solidFill>
      </dgm:spPr>
      <dgm:t>
        <a:bodyPr/>
        <a:lstStyle/>
        <a:p>
          <a:pPr rtl="0"/>
          <a:r>
            <a:rPr lang="en-US" b="0" dirty="0" smtClean="0">
              <a:effectLst>
                <a:outerShdw blurRad="38100" dist="38100" dir="2700000" algn="tl">
                  <a:srgbClr val="000000">
                    <a:alpha val="43137"/>
                  </a:srgbClr>
                </a:outerShdw>
              </a:effectLst>
            </a:rPr>
            <a:t>Used in the digital signature standard (DSS) and the S/MIME e-mail standard</a:t>
          </a:r>
          <a:endParaRPr lang="en-US" b="0" dirty="0">
            <a:effectLst>
              <a:outerShdw blurRad="38100" dist="38100" dir="2700000" algn="tl">
                <a:srgbClr val="000000">
                  <a:alpha val="43137"/>
                </a:srgbClr>
              </a:outerShdw>
            </a:effectLst>
          </a:endParaRPr>
        </a:p>
      </dgm:t>
    </dgm:pt>
    <dgm:pt modelId="{EE5BAF50-5DC4-2E46-BA7C-EDE457C81F3F}" type="parTrans" cxnId="{E7D31497-E128-FD45-A817-0F96DD4ECD82}">
      <dgm:prSet/>
      <dgm:spPr/>
      <dgm:t>
        <a:bodyPr/>
        <a:lstStyle/>
        <a:p>
          <a:endParaRPr lang="en-US"/>
        </a:p>
      </dgm:t>
    </dgm:pt>
    <dgm:pt modelId="{869F4DD0-9DBF-6742-BE9F-C906B42583BF}" type="sibTrans" cxnId="{E7D31497-E128-FD45-A817-0F96DD4ECD82}">
      <dgm:prSet/>
      <dgm:spPr/>
      <dgm:t>
        <a:bodyPr/>
        <a:lstStyle/>
        <a:p>
          <a:endParaRPr lang="en-US"/>
        </a:p>
      </dgm:t>
    </dgm:pt>
    <dgm:pt modelId="{A94A6C78-D99F-6342-A512-70C59355D32E}">
      <dgm:prSet/>
      <dgm:spPr>
        <a:solidFill>
          <a:schemeClr val="tx2">
            <a:lumMod val="60000"/>
            <a:lumOff val="40000"/>
          </a:schemeClr>
        </a:solidFill>
      </dgm:spPr>
      <dgm:t>
        <a:bodyPr/>
        <a:lstStyle/>
        <a:p>
          <a:pPr rtl="0"/>
          <a:r>
            <a:rPr lang="en-US" b="0" dirty="0" smtClean="0">
              <a:effectLst>
                <a:outerShdw blurRad="38100" dist="38100" dir="2700000" algn="tl">
                  <a:srgbClr val="000000">
                    <a:alpha val="43137"/>
                  </a:srgbClr>
                </a:outerShdw>
              </a:effectLst>
            </a:rPr>
            <a:t>Global elements are a prime number </a:t>
          </a:r>
          <a:r>
            <a:rPr lang="en-US" b="0" i="1" dirty="0" err="1" smtClean="0">
              <a:effectLst>
                <a:outerShdw blurRad="38100" dist="38100" dir="2700000" algn="tl">
                  <a:srgbClr val="000000">
                    <a:alpha val="43137"/>
                  </a:srgbClr>
                </a:outerShdw>
              </a:effectLst>
            </a:rPr>
            <a:t>q</a:t>
          </a:r>
          <a:r>
            <a:rPr lang="en-US" b="0" i="1" dirty="0" smtClean="0">
              <a:effectLst>
                <a:outerShdw blurRad="38100" dist="38100" dir="2700000" algn="tl">
                  <a:srgbClr val="000000">
                    <a:alpha val="43137"/>
                  </a:srgbClr>
                </a:outerShdw>
              </a:effectLst>
            </a:rPr>
            <a:t> </a:t>
          </a:r>
          <a:r>
            <a:rPr lang="en-US" b="0" dirty="0" smtClean="0">
              <a:effectLst>
                <a:outerShdw blurRad="38100" dist="38100" dir="2700000" algn="tl">
                  <a:srgbClr val="000000">
                    <a:alpha val="43137"/>
                  </a:srgbClr>
                </a:outerShdw>
              </a:effectLst>
            </a:rPr>
            <a:t>and </a:t>
          </a:r>
          <a:r>
            <a:rPr lang="en-US" b="0" i="1" dirty="0" smtClean="0">
              <a:effectLst>
                <a:outerShdw blurRad="38100" dist="38100" dir="2700000" algn="tl">
                  <a:srgbClr val="000000">
                    <a:alpha val="43137"/>
                  </a:srgbClr>
                </a:outerShdw>
              </a:effectLst>
            </a:rPr>
            <a:t>a</a:t>
          </a:r>
          <a:r>
            <a:rPr lang="en-US" b="0" dirty="0" smtClean="0">
              <a:effectLst>
                <a:outerShdw blurRad="38100" dist="38100" dir="2700000" algn="tl">
                  <a:srgbClr val="000000">
                    <a:alpha val="43137"/>
                  </a:srgbClr>
                </a:outerShdw>
              </a:effectLst>
            </a:rPr>
            <a:t> which is a primitive root of </a:t>
          </a:r>
          <a:r>
            <a:rPr lang="en-US" b="0" i="1" dirty="0" err="1" smtClean="0">
              <a:effectLst>
                <a:outerShdw blurRad="38100" dist="38100" dir="2700000" algn="tl">
                  <a:srgbClr val="000000">
                    <a:alpha val="43137"/>
                  </a:srgbClr>
                </a:outerShdw>
              </a:effectLst>
            </a:rPr>
            <a:t>q</a:t>
          </a:r>
          <a:endParaRPr lang="en-US" b="0" dirty="0">
            <a:effectLst>
              <a:outerShdw blurRad="38100" dist="38100" dir="2700000" algn="tl">
                <a:srgbClr val="000000">
                  <a:alpha val="43137"/>
                </a:srgbClr>
              </a:outerShdw>
            </a:effectLst>
          </a:endParaRPr>
        </a:p>
      </dgm:t>
    </dgm:pt>
    <dgm:pt modelId="{CBCCC696-7218-BD42-81E7-D01B447EAF0D}" type="parTrans" cxnId="{BC6509CA-19DA-FA48-A1A0-902AFD68CFB1}">
      <dgm:prSet/>
      <dgm:spPr/>
      <dgm:t>
        <a:bodyPr/>
        <a:lstStyle/>
        <a:p>
          <a:endParaRPr lang="en-US"/>
        </a:p>
      </dgm:t>
    </dgm:pt>
    <dgm:pt modelId="{9AD023C3-0385-CD49-BFBD-2DAAFAF7C2A3}" type="sibTrans" cxnId="{BC6509CA-19DA-FA48-A1A0-902AFD68CFB1}">
      <dgm:prSet/>
      <dgm:spPr/>
      <dgm:t>
        <a:bodyPr/>
        <a:lstStyle/>
        <a:p>
          <a:endParaRPr lang="en-US"/>
        </a:p>
      </dgm:t>
    </dgm:pt>
    <dgm:pt modelId="{38E152EE-412D-774E-9404-7B14650C5A54}">
      <dgm:prSet/>
      <dgm:spPr>
        <a:solidFill>
          <a:schemeClr val="tx2">
            <a:lumMod val="60000"/>
            <a:lumOff val="40000"/>
          </a:schemeClr>
        </a:solidFill>
      </dgm:spPr>
      <dgm:t>
        <a:bodyPr/>
        <a:lstStyle/>
        <a:p>
          <a:pPr rtl="0"/>
          <a:r>
            <a:rPr lang="en-US" b="0" dirty="0" smtClean="0">
              <a:effectLst>
                <a:outerShdw blurRad="38100" dist="38100" dir="2700000" algn="tl">
                  <a:srgbClr val="000000">
                    <a:alpha val="43137"/>
                  </a:srgbClr>
                </a:outerShdw>
              </a:effectLst>
            </a:rPr>
            <a:t>Security is based on the difficulty of computing discrete logarithms</a:t>
          </a:r>
          <a:endParaRPr lang="en-AU" b="0" dirty="0">
            <a:effectLst>
              <a:outerShdw blurRad="38100" dist="38100" dir="2700000" algn="tl">
                <a:srgbClr val="000000">
                  <a:alpha val="43137"/>
                </a:srgbClr>
              </a:outerShdw>
            </a:effectLst>
          </a:endParaRPr>
        </a:p>
      </dgm:t>
    </dgm:pt>
    <dgm:pt modelId="{E8684120-B399-AB49-AA61-15C2F902E3F4}" type="parTrans" cxnId="{4BF198F9-521B-0F43-8476-B58ABC494D5E}">
      <dgm:prSet/>
      <dgm:spPr/>
      <dgm:t>
        <a:bodyPr/>
        <a:lstStyle/>
        <a:p>
          <a:endParaRPr lang="en-US"/>
        </a:p>
      </dgm:t>
    </dgm:pt>
    <dgm:pt modelId="{D5266D8D-ED36-FA4A-A5B7-9E4945B27967}" type="sibTrans" cxnId="{4BF198F9-521B-0F43-8476-B58ABC494D5E}">
      <dgm:prSet/>
      <dgm:spPr/>
      <dgm:t>
        <a:bodyPr/>
        <a:lstStyle/>
        <a:p>
          <a:endParaRPr lang="en-US"/>
        </a:p>
      </dgm:t>
    </dgm:pt>
    <dgm:pt modelId="{3532F574-9E53-7442-9F7A-81847943D603}" type="pres">
      <dgm:prSet presAssocID="{CC2BFBCF-8FB3-8B42-BFCE-ADCF2AC68644}" presName="diagram" presStyleCnt="0">
        <dgm:presLayoutVars>
          <dgm:dir/>
          <dgm:resizeHandles val="exact"/>
        </dgm:presLayoutVars>
      </dgm:prSet>
      <dgm:spPr/>
      <dgm:t>
        <a:bodyPr/>
        <a:lstStyle/>
        <a:p>
          <a:endParaRPr lang="en-US"/>
        </a:p>
      </dgm:t>
    </dgm:pt>
    <dgm:pt modelId="{F57960FA-B7C6-A243-9B95-5DC485277954}" type="pres">
      <dgm:prSet presAssocID="{B074D31A-A44C-1B4E-82C2-AD0C6F2CDC2C}" presName="node" presStyleLbl="node1" presStyleIdx="0" presStyleCnt="5">
        <dgm:presLayoutVars>
          <dgm:bulletEnabled val="1"/>
        </dgm:presLayoutVars>
      </dgm:prSet>
      <dgm:spPr/>
      <dgm:t>
        <a:bodyPr/>
        <a:lstStyle/>
        <a:p>
          <a:endParaRPr lang="en-US"/>
        </a:p>
      </dgm:t>
    </dgm:pt>
    <dgm:pt modelId="{CC034B42-A2D7-134E-88A8-48ED4D214791}" type="pres">
      <dgm:prSet presAssocID="{EF9DB541-A056-2042-AF2B-98C8994FF8EF}" presName="sibTrans" presStyleCnt="0"/>
      <dgm:spPr/>
    </dgm:pt>
    <dgm:pt modelId="{A257FC50-FF91-3F4C-BFB5-E75AFE9E36EC}" type="pres">
      <dgm:prSet presAssocID="{A44A8A2B-9D29-4643-92BA-39E5B80A8A92}" presName="node" presStyleLbl="node1" presStyleIdx="1" presStyleCnt="5">
        <dgm:presLayoutVars>
          <dgm:bulletEnabled val="1"/>
        </dgm:presLayoutVars>
      </dgm:prSet>
      <dgm:spPr/>
      <dgm:t>
        <a:bodyPr/>
        <a:lstStyle/>
        <a:p>
          <a:endParaRPr lang="en-US"/>
        </a:p>
      </dgm:t>
    </dgm:pt>
    <dgm:pt modelId="{498A1560-4FA4-124C-ADB5-0FA0390AAC58}" type="pres">
      <dgm:prSet presAssocID="{9A25FB7F-19A4-1149-BA8D-50BD70FB3219}" presName="sibTrans" presStyleCnt="0"/>
      <dgm:spPr/>
    </dgm:pt>
    <dgm:pt modelId="{2261D62D-521A-E14D-8922-72F6614F3DCC}" type="pres">
      <dgm:prSet presAssocID="{74744364-26D6-6340-82D0-C96256292ADE}" presName="node" presStyleLbl="node1" presStyleIdx="2" presStyleCnt="5">
        <dgm:presLayoutVars>
          <dgm:bulletEnabled val="1"/>
        </dgm:presLayoutVars>
      </dgm:prSet>
      <dgm:spPr/>
      <dgm:t>
        <a:bodyPr/>
        <a:lstStyle/>
        <a:p>
          <a:endParaRPr lang="en-US"/>
        </a:p>
      </dgm:t>
    </dgm:pt>
    <dgm:pt modelId="{5899D3D1-6DC6-6441-B71B-E7447E07D962}" type="pres">
      <dgm:prSet presAssocID="{869F4DD0-9DBF-6742-BE9F-C906B42583BF}" presName="sibTrans" presStyleCnt="0"/>
      <dgm:spPr/>
    </dgm:pt>
    <dgm:pt modelId="{659BA2B5-6D77-864F-8CA3-F2DD6119A169}" type="pres">
      <dgm:prSet presAssocID="{A94A6C78-D99F-6342-A512-70C59355D32E}" presName="node" presStyleLbl="node1" presStyleIdx="3" presStyleCnt="5">
        <dgm:presLayoutVars>
          <dgm:bulletEnabled val="1"/>
        </dgm:presLayoutVars>
      </dgm:prSet>
      <dgm:spPr/>
      <dgm:t>
        <a:bodyPr/>
        <a:lstStyle/>
        <a:p>
          <a:endParaRPr lang="en-US"/>
        </a:p>
      </dgm:t>
    </dgm:pt>
    <dgm:pt modelId="{09F40D0C-30F3-7B4A-94D8-EE9180D64BD3}" type="pres">
      <dgm:prSet presAssocID="{9AD023C3-0385-CD49-BFBD-2DAAFAF7C2A3}" presName="sibTrans" presStyleCnt="0"/>
      <dgm:spPr/>
    </dgm:pt>
    <dgm:pt modelId="{962B265E-5530-394D-871D-9C5C574AEBCA}" type="pres">
      <dgm:prSet presAssocID="{38E152EE-412D-774E-9404-7B14650C5A54}" presName="node" presStyleLbl="node1" presStyleIdx="4" presStyleCnt="5">
        <dgm:presLayoutVars>
          <dgm:bulletEnabled val="1"/>
        </dgm:presLayoutVars>
      </dgm:prSet>
      <dgm:spPr/>
      <dgm:t>
        <a:bodyPr/>
        <a:lstStyle/>
        <a:p>
          <a:endParaRPr lang="en-US"/>
        </a:p>
      </dgm:t>
    </dgm:pt>
  </dgm:ptLst>
  <dgm:cxnLst>
    <dgm:cxn modelId="{412FF9BB-F742-BE47-9D0B-B9D54B0D72C1}" type="presOf" srcId="{38E152EE-412D-774E-9404-7B14650C5A54}" destId="{962B265E-5530-394D-871D-9C5C574AEBCA}" srcOrd="0" destOrd="0" presId="urn:microsoft.com/office/officeart/2005/8/layout/default#2"/>
    <dgm:cxn modelId="{4E2CD826-24F1-4B45-B771-9BF4EF4F7254}" type="presOf" srcId="{A94A6C78-D99F-6342-A512-70C59355D32E}" destId="{659BA2B5-6D77-864F-8CA3-F2DD6119A169}" srcOrd="0" destOrd="0" presId="urn:microsoft.com/office/officeart/2005/8/layout/default#2"/>
    <dgm:cxn modelId="{E7D31497-E128-FD45-A817-0F96DD4ECD82}" srcId="{CC2BFBCF-8FB3-8B42-BFCE-ADCF2AC68644}" destId="{74744364-26D6-6340-82D0-C96256292ADE}" srcOrd="2" destOrd="0" parTransId="{EE5BAF50-5DC4-2E46-BA7C-EDE457C81F3F}" sibTransId="{869F4DD0-9DBF-6742-BE9F-C906B42583BF}"/>
    <dgm:cxn modelId="{87ADF525-C0AB-D648-81C1-7D066092EEB4}" srcId="{CC2BFBCF-8FB3-8B42-BFCE-ADCF2AC68644}" destId="{A44A8A2B-9D29-4643-92BA-39E5B80A8A92}" srcOrd="1" destOrd="0" parTransId="{C6F71EAF-257F-2A47-99E3-051723C549C4}" sibTransId="{9A25FB7F-19A4-1149-BA8D-50BD70FB3219}"/>
    <dgm:cxn modelId="{4BF198F9-521B-0F43-8476-B58ABC494D5E}" srcId="{CC2BFBCF-8FB3-8B42-BFCE-ADCF2AC68644}" destId="{38E152EE-412D-774E-9404-7B14650C5A54}" srcOrd="4" destOrd="0" parTransId="{E8684120-B399-AB49-AA61-15C2F902E3F4}" sibTransId="{D5266D8D-ED36-FA4A-A5B7-9E4945B27967}"/>
    <dgm:cxn modelId="{C7EA056B-46BF-3445-9C5F-F1FFD01E8C6F}" srcId="{CC2BFBCF-8FB3-8B42-BFCE-ADCF2AC68644}" destId="{B074D31A-A44C-1B4E-82C2-AD0C6F2CDC2C}" srcOrd="0" destOrd="0" parTransId="{12306DCB-AC5E-2149-8DB2-71A40E236E68}" sibTransId="{EF9DB541-A056-2042-AF2B-98C8994FF8EF}"/>
    <dgm:cxn modelId="{03858189-A347-F847-B1A6-084771FA3BA3}" type="presOf" srcId="{74744364-26D6-6340-82D0-C96256292ADE}" destId="{2261D62D-521A-E14D-8922-72F6614F3DCC}" srcOrd="0" destOrd="0" presId="urn:microsoft.com/office/officeart/2005/8/layout/default#2"/>
    <dgm:cxn modelId="{063925B5-912D-964C-9CFC-E0FB15E901C4}" type="presOf" srcId="{B074D31A-A44C-1B4E-82C2-AD0C6F2CDC2C}" destId="{F57960FA-B7C6-A243-9B95-5DC485277954}" srcOrd="0" destOrd="0" presId="urn:microsoft.com/office/officeart/2005/8/layout/default#2"/>
    <dgm:cxn modelId="{BC6509CA-19DA-FA48-A1A0-902AFD68CFB1}" srcId="{CC2BFBCF-8FB3-8B42-BFCE-ADCF2AC68644}" destId="{A94A6C78-D99F-6342-A512-70C59355D32E}" srcOrd="3" destOrd="0" parTransId="{CBCCC696-7218-BD42-81E7-D01B447EAF0D}" sibTransId="{9AD023C3-0385-CD49-BFBD-2DAAFAF7C2A3}"/>
    <dgm:cxn modelId="{091180B4-D187-FF40-873A-91A10388493F}" type="presOf" srcId="{CC2BFBCF-8FB3-8B42-BFCE-ADCF2AC68644}" destId="{3532F574-9E53-7442-9F7A-81847943D603}" srcOrd="0" destOrd="0" presId="urn:microsoft.com/office/officeart/2005/8/layout/default#2"/>
    <dgm:cxn modelId="{2D1D20A0-B0E7-2347-85C7-23C4B9DC07D7}" type="presOf" srcId="{A44A8A2B-9D29-4643-92BA-39E5B80A8A92}" destId="{A257FC50-FF91-3F4C-BFB5-E75AFE9E36EC}" srcOrd="0" destOrd="0" presId="urn:microsoft.com/office/officeart/2005/8/layout/default#2"/>
    <dgm:cxn modelId="{9C191A26-F679-5E44-8E85-767815898363}" type="presParOf" srcId="{3532F574-9E53-7442-9F7A-81847943D603}" destId="{F57960FA-B7C6-A243-9B95-5DC485277954}" srcOrd="0" destOrd="0" presId="urn:microsoft.com/office/officeart/2005/8/layout/default#2"/>
    <dgm:cxn modelId="{7B9058D9-2536-6042-9D46-F6FA1AE7EF2F}" type="presParOf" srcId="{3532F574-9E53-7442-9F7A-81847943D603}" destId="{CC034B42-A2D7-134E-88A8-48ED4D214791}" srcOrd="1" destOrd="0" presId="urn:microsoft.com/office/officeart/2005/8/layout/default#2"/>
    <dgm:cxn modelId="{986CB44D-86F7-764B-91D2-16A85CE9DD9F}" type="presParOf" srcId="{3532F574-9E53-7442-9F7A-81847943D603}" destId="{A257FC50-FF91-3F4C-BFB5-E75AFE9E36EC}" srcOrd="2" destOrd="0" presId="urn:microsoft.com/office/officeart/2005/8/layout/default#2"/>
    <dgm:cxn modelId="{A844C417-8015-2347-8ECD-0E49030A6C3F}" type="presParOf" srcId="{3532F574-9E53-7442-9F7A-81847943D603}" destId="{498A1560-4FA4-124C-ADB5-0FA0390AAC58}" srcOrd="3" destOrd="0" presId="urn:microsoft.com/office/officeart/2005/8/layout/default#2"/>
    <dgm:cxn modelId="{71835587-334F-A04F-B74B-418EF0404D2A}" type="presParOf" srcId="{3532F574-9E53-7442-9F7A-81847943D603}" destId="{2261D62D-521A-E14D-8922-72F6614F3DCC}" srcOrd="4" destOrd="0" presId="urn:microsoft.com/office/officeart/2005/8/layout/default#2"/>
    <dgm:cxn modelId="{4B755268-CACE-B148-BC1B-DB8007BF7243}" type="presParOf" srcId="{3532F574-9E53-7442-9F7A-81847943D603}" destId="{5899D3D1-6DC6-6441-B71B-E7447E07D962}" srcOrd="5" destOrd="0" presId="urn:microsoft.com/office/officeart/2005/8/layout/default#2"/>
    <dgm:cxn modelId="{7D42A6CC-1DF2-6B4C-94E4-D63B1078126F}" type="presParOf" srcId="{3532F574-9E53-7442-9F7A-81847943D603}" destId="{659BA2B5-6D77-864F-8CA3-F2DD6119A169}" srcOrd="6" destOrd="0" presId="urn:microsoft.com/office/officeart/2005/8/layout/default#2"/>
    <dgm:cxn modelId="{C92CAAE3-8713-A346-9E1C-05F1820CFBD9}" type="presParOf" srcId="{3532F574-9E53-7442-9F7A-81847943D603}" destId="{09F40D0C-30F3-7B4A-94D8-EE9180D64BD3}" srcOrd="7" destOrd="0" presId="urn:microsoft.com/office/officeart/2005/8/layout/default#2"/>
    <dgm:cxn modelId="{C6D07812-D06F-F14D-B6B4-6B90E4D4B9E0}" type="presParOf" srcId="{3532F574-9E53-7442-9F7A-81847943D603}" destId="{962B265E-5530-394D-871D-9C5C574AEBCA}" srcOrd="8"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17E11B-EFE8-F340-97FA-A76F226D9141}" type="doc">
      <dgm:prSet loTypeId="urn:microsoft.com/office/officeart/2005/8/layout/gear1" loCatId="relationship" qsTypeId="urn:microsoft.com/office/officeart/2005/8/quickstyle/simple4" qsCatId="simple" csTypeId="urn:microsoft.com/office/officeart/2005/8/colors/accent1_2" csCatId="accent1" phldr="1"/>
      <dgm:spPr/>
    </dgm:pt>
    <dgm:pt modelId="{6DE69B39-E768-B542-93A7-57DC7830B4C2}">
      <dgm:prSet phldrT="[Text]" custT="1"/>
      <dgm:spPr>
        <a:ln>
          <a:solidFill>
            <a:schemeClr val="tx1"/>
          </a:solidFill>
        </a:ln>
      </dgm:spPr>
      <dgm:t>
        <a:bodyPr/>
        <a:lstStyle/>
        <a:p>
          <a:r>
            <a:rPr lang="en-US" sz="1600" b="1" i="0" dirty="0" smtClean="0">
              <a:solidFill>
                <a:srgbClr val="FF0000"/>
              </a:solidFill>
              <a:effectLst>
                <a:outerShdw blurRad="38100" dist="38100" dir="2700000" algn="tl">
                  <a:srgbClr val="000000">
                    <a:alpha val="43137"/>
                  </a:srgbClr>
                </a:outerShdw>
              </a:effectLst>
            </a:rPr>
            <a:t>Prime curves over Z</a:t>
          </a:r>
          <a:r>
            <a:rPr lang="en-US" sz="1600" b="1" i="0" baseline="-25000" dirty="0" smtClean="0">
              <a:solidFill>
                <a:srgbClr val="FF0000"/>
              </a:solidFill>
              <a:effectLst>
                <a:outerShdw blurRad="38100" dist="38100" dir="2700000" algn="tl">
                  <a:srgbClr val="000000">
                    <a:alpha val="43137"/>
                  </a:srgbClr>
                </a:outerShdw>
              </a:effectLst>
            </a:rPr>
            <a:t>p</a:t>
          </a:r>
          <a:r>
            <a:rPr lang="en-US" sz="1600" b="1" i="0" dirty="0" smtClean="0">
              <a:solidFill>
                <a:srgbClr val="FF0000"/>
              </a:solidFill>
              <a:effectLst>
                <a:outerShdw blurRad="38100" dist="38100" dir="2700000" algn="tl">
                  <a:srgbClr val="000000">
                    <a:alpha val="43137"/>
                  </a:srgbClr>
                </a:outerShdw>
              </a:effectLst>
            </a:rPr>
            <a:t> </a:t>
          </a:r>
          <a:endParaRPr lang="en-US" sz="1600" b="1" i="0" dirty="0">
            <a:solidFill>
              <a:srgbClr val="FF0000"/>
            </a:solidFill>
            <a:effectLst>
              <a:outerShdw blurRad="38100" dist="38100" dir="2700000" algn="tl">
                <a:srgbClr val="000000">
                  <a:alpha val="43137"/>
                </a:srgbClr>
              </a:outerShdw>
            </a:effectLst>
          </a:endParaRPr>
        </a:p>
      </dgm:t>
    </dgm:pt>
    <dgm:pt modelId="{065459E3-1DE1-0A43-9CE0-4189D686A0E4}" type="parTrans" cxnId="{70F15E2F-EA97-A645-BD6C-EB5D627A172D}">
      <dgm:prSet/>
      <dgm:spPr/>
      <dgm:t>
        <a:bodyPr/>
        <a:lstStyle/>
        <a:p>
          <a:endParaRPr lang="en-US"/>
        </a:p>
      </dgm:t>
    </dgm:pt>
    <dgm:pt modelId="{5472B6D6-2A0D-BE48-BBC8-87F9DCE15FC8}" type="sibTrans" cxnId="{70F15E2F-EA97-A645-BD6C-EB5D627A172D}">
      <dgm:prSet/>
      <dgm:spPr>
        <a:ln>
          <a:solidFill>
            <a:schemeClr val="tx2">
              <a:lumMod val="75000"/>
            </a:schemeClr>
          </a:solidFill>
        </a:ln>
      </dgm:spPr>
      <dgm:t>
        <a:bodyPr/>
        <a:lstStyle/>
        <a:p>
          <a:endParaRPr lang="en-US" dirty="0"/>
        </a:p>
      </dgm:t>
    </dgm:pt>
    <dgm:pt modelId="{6B4C5605-878D-E34A-92C4-BB7D6D1F38E6}">
      <dgm:prSet custT="1"/>
      <dgm:spPr/>
      <dgm:t>
        <a:bodyPr/>
        <a:lstStyle/>
        <a:p>
          <a:r>
            <a:rPr lang="en-US" sz="1600" b="1" i="0" dirty="0" smtClean="0"/>
            <a:t>Use a cubic equation in which the variables and coefficients all take on values in the set of integers from 0 through p-1 and in which calculations are performed modulo p</a:t>
          </a:r>
        </a:p>
      </dgm:t>
    </dgm:pt>
    <dgm:pt modelId="{956ADCF0-4FF3-5841-95F3-5E7AA3236D5A}" type="parTrans" cxnId="{891078A0-D0A6-8342-A915-7AFBBCB9C969}">
      <dgm:prSet/>
      <dgm:spPr/>
      <dgm:t>
        <a:bodyPr/>
        <a:lstStyle/>
        <a:p>
          <a:endParaRPr lang="en-US"/>
        </a:p>
      </dgm:t>
    </dgm:pt>
    <dgm:pt modelId="{B81F0BA3-4FE8-5148-B496-7D88A3727C29}" type="sibTrans" cxnId="{891078A0-D0A6-8342-A915-7AFBBCB9C969}">
      <dgm:prSet/>
      <dgm:spPr/>
      <dgm:t>
        <a:bodyPr/>
        <a:lstStyle/>
        <a:p>
          <a:endParaRPr lang="en-US"/>
        </a:p>
      </dgm:t>
    </dgm:pt>
    <dgm:pt modelId="{0A694D85-F85B-BF4C-B05F-0E0EBD68F807}">
      <dgm:prSet custT="1"/>
      <dgm:spPr/>
      <dgm:t>
        <a:bodyPr/>
        <a:lstStyle/>
        <a:p>
          <a:r>
            <a:rPr lang="en-US" sz="1600" b="1" i="0" dirty="0" smtClean="0"/>
            <a:t>Best for software applications</a:t>
          </a:r>
        </a:p>
      </dgm:t>
    </dgm:pt>
    <dgm:pt modelId="{2042628F-30AE-E24C-B62F-492218B9A4A5}" type="parTrans" cxnId="{EFD4D791-93E9-9345-ABC2-2A1E8B57B648}">
      <dgm:prSet/>
      <dgm:spPr/>
      <dgm:t>
        <a:bodyPr/>
        <a:lstStyle/>
        <a:p>
          <a:endParaRPr lang="en-US"/>
        </a:p>
      </dgm:t>
    </dgm:pt>
    <dgm:pt modelId="{DCFB7DDF-C9A2-9343-802B-C769D028500A}" type="sibTrans" cxnId="{EFD4D791-93E9-9345-ABC2-2A1E8B57B648}">
      <dgm:prSet/>
      <dgm:spPr/>
      <dgm:t>
        <a:bodyPr/>
        <a:lstStyle/>
        <a:p>
          <a:endParaRPr lang="en-US"/>
        </a:p>
      </dgm:t>
    </dgm:pt>
    <dgm:pt modelId="{7C0FB066-FFE6-3844-BF36-C71D12E5E9B6}">
      <dgm:prSet custT="1"/>
      <dgm:spPr>
        <a:ln>
          <a:solidFill>
            <a:schemeClr val="tx1"/>
          </a:solidFill>
        </a:ln>
      </dgm:spPr>
      <dgm:t>
        <a:bodyPr/>
        <a:lstStyle/>
        <a:p>
          <a:r>
            <a:rPr lang="en-US" sz="1600" b="1" i="0" dirty="0" smtClean="0">
              <a:solidFill>
                <a:srgbClr val="FF0000"/>
              </a:solidFill>
              <a:effectLst>
                <a:outerShdw blurRad="38100" dist="38100" dir="2700000" algn="tl">
                  <a:srgbClr val="000000">
                    <a:alpha val="43137"/>
                  </a:srgbClr>
                </a:outerShdw>
              </a:effectLst>
            </a:rPr>
            <a:t>Binary curves over GF(2</a:t>
          </a:r>
          <a:r>
            <a:rPr lang="en-US" sz="1600" b="1" i="0" baseline="30000" dirty="0" smtClean="0">
              <a:solidFill>
                <a:srgbClr val="FF0000"/>
              </a:solidFill>
              <a:effectLst>
                <a:outerShdw blurRad="38100" dist="38100" dir="2700000" algn="tl">
                  <a:srgbClr val="000000">
                    <a:alpha val="43137"/>
                  </a:srgbClr>
                </a:outerShdw>
              </a:effectLst>
            </a:rPr>
            <a:t>m</a:t>
          </a:r>
          <a:r>
            <a:rPr lang="en-US" sz="1600" b="1" i="0" dirty="0" smtClean="0">
              <a:solidFill>
                <a:srgbClr val="FF0000"/>
              </a:solidFill>
              <a:effectLst>
                <a:outerShdw blurRad="38100" dist="38100" dir="2700000" algn="tl">
                  <a:srgbClr val="000000">
                    <a:alpha val="43137"/>
                  </a:srgbClr>
                </a:outerShdw>
              </a:effectLst>
            </a:rPr>
            <a:t>)</a:t>
          </a:r>
        </a:p>
      </dgm:t>
    </dgm:pt>
    <dgm:pt modelId="{1181F83D-54AC-A247-9918-D9C23BE0B326}" type="parTrans" cxnId="{C710B845-A666-B046-940E-F4DFE247F67F}">
      <dgm:prSet/>
      <dgm:spPr/>
      <dgm:t>
        <a:bodyPr/>
        <a:lstStyle/>
        <a:p>
          <a:endParaRPr lang="en-US"/>
        </a:p>
      </dgm:t>
    </dgm:pt>
    <dgm:pt modelId="{A4394597-5504-3B44-B086-E057B8E4654B}" type="sibTrans" cxnId="{C710B845-A666-B046-940E-F4DFE247F67F}">
      <dgm:prSet/>
      <dgm:spPr>
        <a:ln>
          <a:solidFill>
            <a:schemeClr val="tx2">
              <a:lumMod val="75000"/>
            </a:schemeClr>
          </a:solidFill>
        </a:ln>
      </dgm:spPr>
      <dgm:t>
        <a:bodyPr/>
        <a:lstStyle/>
        <a:p>
          <a:endParaRPr lang="en-US" dirty="0"/>
        </a:p>
      </dgm:t>
    </dgm:pt>
    <dgm:pt modelId="{A42DB2BF-F813-3447-8CFF-D045E26A845D}">
      <dgm:prSet custT="1"/>
      <dgm:spPr/>
      <dgm:t>
        <a:bodyPr/>
        <a:lstStyle/>
        <a:p>
          <a:r>
            <a:rPr lang="en-US" sz="1600" b="1" i="0" dirty="0" smtClean="0"/>
            <a:t>Variables and coefficients all take on values in GF(2</a:t>
          </a:r>
          <a:r>
            <a:rPr lang="en-US" sz="1600" b="1" i="0" baseline="30000" dirty="0" smtClean="0"/>
            <a:t>m</a:t>
          </a:r>
          <a:r>
            <a:rPr lang="en-US" sz="1600" b="1" i="0" dirty="0" smtClean="0"/>
            <a:t>) and in calculations are performed over GF(2</a:t>
          </a:r>
          <a:r>
            <a:rPr lang="en-US" sz="1600" b="1" i="0" baseline="30000" dirty="0" smtClean="0"/>
            <a:t>m</a:t>
          </a:r>
          <a:r>
            <a:rPr lang="en-US" sz="1600" b="1" i="0" dirty="0" smtClean="0"/>
            <a:t>)</a:t>
          </a:r>
        </a:p>
      </dgm:t>
    </dgm:pt>
    <dgm:pt modelId="{243B0B61-211C-B04D-8905-4E38F5180360}" type="parTrans" cxnId="{D7062004-69FA-524D-A02C-85FA88298BB1}">
      <dgm:prSet/>
      <dgm:spPr/>
      <dgm:t>
        <a:bodyPr/>
        <a:lstStyle/>
        <a:p>
          <a:endParaRPr lang="en-US"/>
        </a:p>
      </dgm:t>
    </dgm:pt>
    <dgm:pt modelId="{EBB56395-F4D3-8B4C-868A-17824FC11DBF}" type="sibTrans" cxnId="{D7062004-69FA-524D-A02C-85FA88298BB1}">
      <dgm:prSet/>
      <dgm:spPr/>
      <dgm:t>
        <a:bodyPr/>
        <a:lstStyle/>
        <a:p>
          <a:endParaRPr lang="en-US"/>
        </a:p>
      </dgm:t>
    </dgm:pt>
    <dgm:pt modelId="{D0759804-147F-6141-8C8A-B2FEAED54648}">
      <dgm:prSet custT="1"/>
      <dgm:spPr/>
      <dgm:t>
        <a:bodyPr/>
        <a:lstStyle/>
        <a:p>
          <a:r>
            <a:rPr lang="en-US" sz="1600" b="1" i="0" dirty="0" smtClean="0"/>
            <a:t>Best for hardware applications</a:t>
          </a:r>
          <a:endParaRPr lang="en-AU" sz="1600" b="1" i="0" dirty="0"/>
        </a:p>
      </dgm:t>
    </dgm:pt>
    <dgm:pt modelId="{C5BC9B2E-EE6B-A14F-9B03-A07CEDEA84FA}" type="parTrans" cxnId="{A8555C0D-6EBA-D64F-B244-555C2D96BF04}">
      <dgm:prSet/>
      <dgm:spPr/>
      <dgm:t>
        <a:bodyPr/>
        <a:lstStyle/>
        <a:p>
          <a:endParaRPr lang="en-US"/>
        </a:p>
      </dgm:t>
    </dgm:pt>
    <dgm:pt modelId="{93B6237D-8204-6A44-9972-A76643B6D2C1}" type="sibTrans" cxnId="{A8555C0D-6EBA-D64F-B244-555C2D96BF04}">
      <dgm:prSet/>
      <dgm:spPr/>
      <dgm:t>
        <a:bodyPr/>
        <a:lstStyle/>
        <a:p>
          <a:endParaRPr lang="en-US"/>
        </a:p>
      </dgm:t>
    </dgm:pt>
    <dgm:pt modelId="{01FDD008-C3A4-5A4C-B43F-9BED71CEEE1A}" type="pres">
      <dgm:prSet presAssocID="{7A17E11B-EFE8-F340-97FA-A76F226D9141}" presName="composite" presStyleCnt="0">
        <dgm:presLayoutVars>
          <dgm:chMax val="3"/>
          <dgm:animLvl val="lvl"/>
          <dgm:resizeHandles val="exact"/>
        </dgm:presLayoutVars>
      </dgm:prSet>
      <dgm:spPr/>
    </dgm:pt>
    <dgm:pt modelId="{1A7E9B53-7510-D743-A42E-01CC099323D6}" type="pres">
      <dgm:prSet presAssocID="{6DE69B39-E768-B542-93A7-57DC7830B4C2}" presName="gear1" presStyleLbl="node1" presStyleIdx="0" presStyleCnt="2" custLinFactNeighborX="8182" custLinFactNeighborY="-62621">
        <dgm:presLayoutVars>
          <dgm:chMax val="1"/>
          <dgm:bulletEnabled val="1"/>
        </dgm:presLayoutVars>
      </dgm:prSet>
      <dgm:spPr/>
      <dgm:t>
        <a:bodyPr/>
        <a:lstStyle/>
        <a:p>
          <a:endParaRPr lang="en-US"/>
        </a:p>
      </dgm:t>
    </dgm:pt>
    <dgm:pt modelId="{4D13FF03-E2B0-8643-B4FD-D5273076F692}" type="pres">
      <dgm:prSet presAssocID="{6DE69B39-E768-B542-93A7-57DC7830B4C2}" presName="gear1srcNode" presStyleLbl="node1" presStyleIdx="0" presStyleCnt="2"/>
      <dgm:spPr/>
      <dgm:t>
        <a:bodyPr/>
        <a:lstStyle/>
        <a:p>
          <a:endParaRPr lang="en-US"/>
        </a:p>
      </dgm:t>
    </dgm:pt>
    <dgm:pt modelId="{75F54A6B-3DB7-0E43-BEC1-C2FB38ED6137}" type="pres">
      <dgm:prSet presAssocID="{6DE69B39-E768-B542-93A7-57DC7830B4C2}" presName="gear1dstNode" presStyleLbl="node1" presStyleIdx="0" presStyleCnt="2"/>
      <dgm:spPr/>
      <dgm:t>
        <a:bodyPr/>
        <a:lstStyle/>
        <a:p>
          <a:endParaRPr lang="en-US"/>
        </a:p>
      </dgm:t>
    </dgm:pt>
    <dgm:pt modelId="{C754250D-58A8-8D4F-A148-7735BA217847}" type="pres">
      <dgm:prSet presAssocID="{6DE69B39-E768-B542-93A7-57DC7830B4C2}" presName="gear1ch" presStyleLbl="fgAcc1" presStyleIdx="0" presStyleCnt="2" custScaleX="339067" custScaleY="182450" custLinFactX="52391" custLinFactNeighborX="100000" custLinFactNeighborY="1026">
        <dgm:presLayoutVars>
          <dgm:chMax val="0"/>
          <dgm:bulletEnabled val="1"/>
        </dgm:presLayoutVars>
      </dgm:prSet>
      <dgm:spPr/>
      <dgm:t>
        <a:bodyPr/>
        <a:lstStyle/>
        <a:p>
          <a:endParaRPr lang="en-US"/>
        </a:p>
      </dgm:t>
    </dgm:pt>
    <dgm:pt modelId="{FBBA55B6-ABF9-3D42-8E2F-BAB8CE309BA9}" type="pres">
      <dgm:prSet presAssocID="{7C0FB066-FFE6-3844-BF36-C71D12E5E9B6}" presName="gear2" presStyleLbl="node1" presStyleIdx="1" presStyleCnt="2" custScaleX="135000" custScaleY="130002" custLinFactNeighborX="-11250" custLinFactNeighborY="-33603">
        <dgm:presLayoutVars>
          <dgm:chMax val="1"/>
          <dgm:bulletEnabled val="1"/>
        </dgm:presLayoutVars>
      </dgm:prSet>
      <dgm:spPr/>
      <dgm:t>
        <a:bodyPr/>
        <a:lstStyle/>
        <a:p>
          <a:endParaRPr lang="en-US"/>
        </a:p>
      </dgm:t>
    </dgm:pt>
    <dgm:pt modelId="{0B4CD660-A3A2-2946-8BC4-C71D3B3D9DC2}" type="pres">
      <dgm:prSet presAssocID="{7C0FB066-FFE6-3844-BF36-C71D12E5E9B6}" presName="gear2srcNode" presStyleLbl="node1" presStyleIdx="1" presStyleCnt="2"/>
      <dgm:spPr/>
      <dgm:t>
        <a:bodyPr/>
        <a:lstStyle/>
        <a:p>
          <a:endParaRPr lang="en-US"/>
        </a:p>
      </dgm:t>
    </dgm:pt>
    <dgm:pt modelId="{BB2A1780-45C0-124B-8E74-B7C8F4A0FD95}" type="pres">
      <dgm:prSet presAssocID="{7C0FB066-FFE6-3844-BF36-C71D12E5E9B6}" presName="gear2dstNode" presStyleLbl="node1" presStyleIdx="1" presStyleCnt="2"/>
      <dgm:spPr/>
      <dgm:t>
        <a:bodyPr/>
        <a:lstStyle/>
        <a:p>
          <a:endParaRPr lang="en-US"/>
        </a:p>
      </dgm:t>
    </dgm:pt>
    <dgm:pt modelId="{2B68AE07-9C59-A346-9082-A79E15F3E63B}" type="pres">
      <dgm:prSet presAssocID="{7C0FB066-FFE6-3844-BF36-C71D12E5E9B6}" presName="gear2ch" presStyleLbl="fgAcc1" presStyleIdx="1" presStyleCnt="2" custScaleX="293229" custScaleY="171816" custLinFactX="-67671" custLinFactY="100000" custLinFactNeighborX="-100000" custLinFactNeighborY="157614">
        <dgm:presLayoutVars>
          <dgm:chMax val="0"/>
          <dgm:bulletEnabled val="1"/>
        </dgm:presLayoutVars>
      </dgm:prSet>
      <dgm:spPr/>
      <dgm:t>
        <a:bodyPr/>
        <a:lstStyle/>
        <a:p>
          <a:endParaRPr lang="en-US"/>
        </a:p>
      </dgm:t>
    </dgm:pt>
    <dgm:pt modelId="{F5E23255-F49E-2A42-A437-3723C6FAA1D6}" type="pres">
      <dgm:prSet presAssocID="{5472B6D6-2A0D-BE48-BBC8-87F9DCE15FC8}" presName="connector1" presStyleLbl="sibTrans2D1" presStyleIdx="0" presStyleCnt="2" custScaleX="106948" custScaleY="82261" custLinFactNeighborX="24514" custLinFactNeighborY="-28414"/>
      <dgm:spPr/>
      <dgm:t>
        <a:bodyPr/>
        <a:lstStyle/>
        <a:p>
          <a:endParaRPr lang="en-US"/>
        </a:p>
      </dgm:t>
    </dgm:pt>
    <dgm:pt modelId="{B8D2BB96-4CE2-E14A-9E2F-7233319F3864}" type="pres">
      <dgm:prSet presAssocID="{A4394597-5504-3B44-B086-E057B8E4654B}" presName="connector2" presStyleLbl="sibTrans2D1" presStyleIdx="1" presStyleCnt="2" custLinFactNeighborX="-16454" custLinFactNeighborY="37860"/>
      <dgm:spPr/>
      <dgm:t>
        <a:bodyPr/>
        <a:lstStyle/>
        <a:p>
          <a:endParaRPr lang="en-US"/>
        </a:p>
      </dgm:t>
    </dgm:pt>
  </dgm:ptLst>
  <dgm:cxnLst>
    <dgm:cxn modelId="{B37E0E0C-F2C2-7941-8CD5-11DCB2869554}" type="presOf" srcId="{0A694D85-F85B-BF4C-B05F-0E0EBD68F807}" destId="{C754250D-58A8-8D4F-A148-7735BA217847}" srcOrd="0" destOrd="1" presId="urn:microsoft.com/office/officeart/2005/8/layout/gear1"/>
    <dgm:cxn modelId="{14DA8FDD-DD5B-0245-8B60-138ED05E60C3}" type="presOf" srcId="{7C0FB066-FFE6-3844-BF36-C71D12E5E9B6}" destId="{0B4CD660-A3A2-2946-8BC4-C71D3B3D9DC2}" srcOrd="1" destOrd="0" presId="urn:microsoft.com/office/officeart/2005/8/layout/gear1"/>
    <dgm:cxn modelId="{C0FE904F-C9F0-2140-988A-C0B6B3AC2C95}" type="presOf" srcId="{A4394597-5504-3B44-B086-E057B8E4654B}" destId="{B8D2BB96-4CE2-E14A-9E2F-7233319F3864}" srcOrd="0" destOrd="0" presId="urn:microsoft.com/office/officeart/2005/8/layout/gear1"/>
    <dgm:cxn modelId="{DC1BDE4E-8EBA-9B42-ABA4-D6B7B0164A71}" type="presOf" srcId="{6DE69B39-E768-B542-93A7-57DC7830B4C2}" destId="{75F54A6B-3DB7-0E43-BEC1-C2FB38ED6137}" srcOrd="2" destOrd="0" presId="urn:microsoft.com/office/officeart/2005/8/layout/gear1"/>
    <dgm:cxn modelId="{B5633C66-3B2A-0946-9DDA-DAC6EF2E1D2B}" type="presOf" srcId="{6DE69B39-E768-B542-93A7-57DC7830B4C2}" destId="{4D13FF03-E2B0-8643-B4FD-D5273076F692}" srcOrd="1" destOrd="0" presId="urn:microsoft.com/office/officeart/2005/8/layout/gear1"/>
    <dgm:cxn modelId="{891078A0-D0A6-8342-A915-7AFBBCB9C969}" srcId="{6DE69B39-E768-B542-93A7-57DC7830B4C2}" destId="{6B4C5605-878D-E34A-92C4-BB7D6D1F38E6}" srcOrd="0" destOrd="0" parTransId="{956ADCF0-4FF3-5841-95F3-5E7AA3236D5A}" sibTransId="{B81F0BA3-4FE8-5148-B496-7D88A3727C29}"/>
    <dgm:cxn modelId="{D7062004-69FA-524D-A02C-85FA88298BB1}" srcId="{7C0FB066-FFE6-3844-BF36-C71D12E5E9B6}" destId="{A42DB2BF-F813-3447-8CFF-D045E26A845D}" srcOrd="0" destOrd="0" parTransId="{243B0B61-211C-B04D-8905-4E38F5180360}" sibTransId="{EBB56395-F4D3-8B4C-868A-17824FC11DBF}"/>
    <dgm:cxn modelId="{BCBA25F0-F2B1-6B44-BB84-0D76ACC7C390}" type="presOf" srcId="{7A17E11B-EFE8-F340-97FA-A76F226D9141}" destId="{01FDD008-C3A4-5A4C-B43F-9BED71CEEE1A}" srcOrd="0" destOrd="0" presId="urn:microsoft.com/office/officeart/2005/8/layout/gear1"/>
    <dgm:cxn modelId="{5CCA999E-0E2D-AB40-8A10-DFA66ECE1845}" type="presOf" srcId="{5472B6D6-2A0D-BE48-BBC8-87F9DCE15FC8}" destId="{F5E23255-F49E-2A42-A437-3723C6FAA1D6}" srcOrd="0" destOrd="0" presId="urn:microsoft.com/office/officeart/2005/8/layout/gear1"/>
    <dgm:cxn modelId="{70F15E2F-EA97-A645-BD6C-EB5D627A172D}" srcId="{7A17E11B-EFE8-F340-97FA-A76F226D9141}" destId="{6DE69B39-E768-B542-93A7-57DC7830B4C2}" srcOrd="0" destOrd="0" parTransId="{065459E3-1DE1-0A43-9CE0-4189D686A0E4}" sibTransId="{5472B6D6-2A0D-BE48-BBC8-87F9DCE15FC8}"/>
    <dgm:cxn modelId="{F3BF82FC-E4A8-3145-BF9A-63DF17F5FAA0}" type="presOf" srcId="{7C0FB066-FFE6-3844-BF36-C71D12E5E9B6}" destId="{BB2A1780-45C0-124B-8E74-B7C8F4A0FD95}" srcOrd="2" destOrd="0" presId="urn:microsoft.com/office/officeart/2005/8/layout/gear1"/>
    <dgm:cxn modelId="{C710B845-A666-B046-940E-F4DFE247F67F}" srcId="{7A17E11B-EFE8-F340-97FA-A76F226D9141}" destId="{7C0FB066-FFE6-3844-BF36-C71D12E5E9B6}" srcOrd="1" destOrd="0" parTransId="{1181F83D-54AC-A247-9918-D9C23BE0B326}" sibTransId="{A4394597-5504-3B44-B086-E057B8E4654B}"/>
    <dgm:cxn modelId="{4774CB93-D107-B848-B9D1-5205C89B77A2}" type="presOf" srcId="{7C0FB066-FFE6-3844-BF36-C71D12E5E9B6}" destId="{FBBA55B6-ABF9-3D42-8E2F-BAB8CE309BA9}" srcOrd="0" destOrd="0" presId="urn:microsoft.com/office/officeart/2005/8/layout/gear1"/>
    <dgm:cxn modelId="{38E7BE3B-2932-1C44-9239-A6F646FD0E52}" type="presOf" srcId="{D0759804-147F-6141-8C8A-B2FEAED54648}" destId="{2B68AE07-9C59-A346-9082-A79E15F3E63B}" srcOrd="0" destOrd="1" presId="urn:microsoft.com/office/officeart/2005/8/layout/gear1"/>
    <dgm:cxn modelId="{EFD4D791-93E9-9345-ABC2-2A1E8B57B648}" srcId="{6DE69B39-E768-B542-93A7-57DC7830B4C2}" destId="{0A694D85-F85B-BF4C-B05F-0E0EBD68F807}" srcOrd="1" destOrd="0" parTransId="{2042628F-30AE-E24C-B62F-492218B9A4A5}" sibTransId="{DCFB7DDF-C9A2-9343-802B-C769D028500A}"/>
    <dgm:cxn modelId="{77557814-19C5-0445-9E74-6F904EF5079C}" type="presOf" srcId="{6B4C5605-878D-E34A-92C4-BB7D6D1F38E6}" destId="{C754250D-58A8-8D4F-A148-7735BA217847}" srcOrd="0" destOrd="0" presId="urn:microsoft.com/office/officeart/2005/8/layout/gear1"/>
    <dgm:cxn modelId="{A8555C0D-6EBA-D64F-B244-555C2D96BF04}" srcId="{7C0FB066-FFE6-3844-BF36-C71D12E5E9B6}" destId="{D0759804-147F-6141-8C8A-B2FEAED54648}" srcOrd="1" destOrd="0" parTransId="{C5BC9B2E-EE6B-A14F-9B03-A07CEDEA84FA}" sibTransId="{93B6237D-8204-6A44-9972-A76643B6D2C1}"/>
    <dgm:cxn modelId="{54400BAC-541B-2741-A5B8-FDD1DF7688DA}" type="presOf" srcId="{6DE69B39-E768-B542-93A7-57DC7830B4C2}" destId="{1A7E9B53-7510-D743-A42E-01CC099323D6}" srcOrd="0" destOrd="0" presId="urn:microsoft.com/office/officeart/2005/8/layout/gear1"/>
    <dgm:cxn modelId="{DCEEDF85-D0B2-1545-88EB-25C8B91287B9}" type="presOf" srcId="{A42DB2BF-F813-3447-8CFF-D045E26A845D}" destId="{2B68AE07-9C59-A346-9082-A79E15F3E63B}" srcOrd="0" destOrd="0" presId="urn:microsoft.com/office/officeart/2005/8/layout/gear1"/>
    <dgm:cxn modelId="{7F88B398-F178-C245-935B-B8A15AFF9248}" type="presParOf" srcId="{01FDD008-C3A4-5A4C-B43F-9BED71CEEE1A}" destId="{1A7E9B53-7510-D743-A42E-01CC099323D6}" srcOrd="0" destOrd="0" presId="urn:microsoft.com/office/officeart/2005/8/layout/gear1"/>
    <dgm:cxn modelId="{67019E92-0007-524C-AF7C-7999EB4166ED}" type="presParOf" srcId="{01FDD008-C3A4-5A4C-B43F-9BED71CEEE1A}" destId="{4D13FF03-E2B0-8643-B4FD-D5273076F692}" srcOrd="1" destOrd="0" presId="urn:microsoft.com/office/officeart/2005/8/layout/gear1"/>
    <dgm:cxn modelId="{D83D4068-2208-444C-B909-30BC8E3C29EE}" type="presParOf" srcId="{01FDD008-C3A4-5A4C-B43F-9BED71CEEE1A}" destId="{75F54A6B-3DB7-0E43-BEC1-C2FB38ED6137}" srcOrd="2" destOrd="0" presId="urn:microsoft.com/office/officeart/2005/8/layout/gear1"/>
    <dgm:cxn modelId="{F11D394B-F4B5-1E41-89F4-8EF3EDC53C09}" type="presParOf" srcId="{01FDD008-C3A4-5A4C-B43F-9BED71CEEE1A}" destId="{C754250D-58A8-8D4F-A148-7735BA217847}" srcOrd="3" destOrd="0" presId="urn:microsoft.com/office/officeart/2005/8/layout/gear1"/>
    <dgm:cxn modelId="{6132A8E1-8C20-3B49-93BB-321DDBD9AD7A}" type="presParOf" srcId="{01FDD008-C3A4-5A4C-B43F-9BED71CEEE1A}" destId="{FBBA55B6-ABF9-3D42-8E2F-BAB8CE309BA9}" srcOrd="4" destOrd="0" presId="urn:microsoft.com/office/officeart/2005/8/layout/gear1"/>
    <dgm:cxn modelId="{28BD5513-009C-D942-94E6-869F106F3580}" type="presParOf" srcId="{01FDD008-C3A4-5A4C-B43F-9BED71CEEE1A}" destId="{0B4CD660-A3A2-2946-8BC4-C71D3B3D9DC2}" srcOrd="5" destOrd="0" presId="urn:microsoft.com/office/officeart/2005/8/layout/gear1"/>
    <dgm:cxn modelId="{4EA97289-A92B-9946-89BD-901771F5C77A}" type="presParOf" srcId="{01FDD008-C3A4-5A4C-B43F-9BED71CEEE1A}" destId="{BB2A1780-45C0-124B-8E74-B7C8F4A0FD95}" srcOrd="6" destOrd="0" presId="urn:microsoft.com/office/officeart/2005/8/layout/gear1"/>
    <dgm:cxn modelId="{DE08FF1E-1B18-5C47-856C-0EABCBAC488E}" type="presParOf" srcId="{01FDD008-C3A4-5A4C-B43F-9BED71CEEE1A}" destId="{2B68AE07-9C59-A346-9082-A79E15F3E63B}" srcOrd="7" destOrd="0" presId="urn:microsoft.com/office/officeart/2005/8/layout/gear1"/>
    <dgm:cxn modelId="{AF517B85-DAF1-5B43-BA2C-99C048C0A753}" type="presParOf" srcId="{01FDD008-C3A4-5A4C-B43F-9BED71CEEE1A}" destId="{F5E23255-F49E-2A42-A437-3723C6FAA1D6}" srcOrd="8" destOrd="0" presId="urn:microsoft.com/office/officeart/2005/8/layout/gear1"/>
    <dgm:cxn modelId="{249F5F53-AB9C-BF44-B7D9-9C8CA0CADE76}" type="presParOf" srcId="{01FDD008-C3A4-5A4C-B43F-9BED71CEEE1A}" destId="{B8D2BB96-4CE2-E14A-9E2F-7233319F3864}" srcOrd="9" destOrd="0" presId="urn:microsoft.com/office/officeart/2005/8/layout/gear1"/>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13DB4F7-2C18-974B-9C26-9844767B3D59}" type="doc">
      <dgm:prSet loTypeId="urn:microsoft.com/office/officeart/2005/8/layout/vList6" loCatId="process" qsTypeId="urn:microsoft.com/office/officeart/2005/8/quickstyle/simple4" qsCatId="simple" csTypeId="urn:microsoft.com/office/officeart/2005/8/colors/accent1_2" csCatId="accent1" phldr="1"/>
      <dgm:spPr/>
      <dgm:t>
        <a:bodyPr/>
        <a:lstStyle/>
        <a:p>
          <a:endParaRPr lang="en-US"/>
        </a:p>
      </dgm:t>
    </dgm:pt>
    <dgm:pt modelId="{9B29D38E-91A5-7A40-B874-89F820F02D26}">
      <dgm:prSet phldrT="[Text]"/>
      <dgm:spPr>
        <a:solidFill>
          <a:schemeClr val="accent1"/>
        </a:solidFill>
      </dgm:spPr>
      <dgm:t>
        <a:bodyPr/>
        <a:lstStyle/>
        <a:p>
          <a:r>
            <a:rPr lang="en-US" dirty="0" smtClean="0">
              <a:effectLst>
                <a:outerShdw blurRad="38100" dist="38100" dir="2700000" algn="tl">
                  <a:srgbClr val="000000">
                    <a:alpha val="43137"/>
                  </a:srgbClr>
                </a:outerShdw>
              </a:effectLst>
            </a:rPr>
            <a:t>To form a cryptographic system using elliptic curves, we need to find a “hard problem” corresponding to factoring the product of two primes or taking the discrete logarithm</a:t>
          </a:r>
          <a:endParaRPr lang="en-US" dirty="0">
            <a:effectLst>
              <a:outerShdw blurRad="38100" dist="38100" dir="2700000" algn="tl">
                <a:srgbClr val="000000">
                  <a:alpha val="43137"/>
                </a:srgbClr>
              </a:outerShdw>
            </a:effectLst>
          </a:endParaRPr>
        </a:p>
      </dgm:t>
    </dgm:pt>
    <dgm:pt modelId="{ACAE2C13-BB39-6B41-8CE6-BE28B1894C55}" type="parTrans" cxnId="{DE42EB1F-208E-4946-937C-B82E5D595A9F}">
      <dgm:prSet/>
      <dgm:spPr/>
      <dgm:t>
        <a:bodyPr/>
        <a:lstStyle/>
        <a:p>
          <a:endParaRPr lang="en-US"/>
        </a:p>
      </dgm:t>
    </dgm:pt>
    <dgm:pt modelId="{AB3ED1D0-2F56-A74C-A98E-EB462406BD2C}" type="sibTrans" cxnId="{DE42EB1F-208E-4946-937C-B82E5D595A9F}">
      <dgm:prSet/>
      <dgm:spPr/>
      <dgm:t>
        <a:bodyPr/>
        <a:lstStyle/>
        <a:p>
          <a:endParaRPr lang="en-US"/>
        </a:p>
      </dgm:t>
    </dgm:pt>
    <dgm:pt modelId="{3C584647-FC30-174F-99E5-993501D024CF}">
      <dgm:prSet/>
      <dgm:spPr>
        <a:solidFill>
          <a:schemeClr val="bg1"/>
        </a:solidFill>
        <a:ln>
          <a:solidFill>
            <a:schemeClr val="bg2"/>
          </a:solidFill>
        </a:ln>
      </dgm:spPr>
      <dgm:t>
        <a:bodyPr/>
        <a:lstStyle/>
        <a:p>
          <a:r>
            <a:rPr lang="en-US" i="1" dirty="0" smtClean="0"/>
            <a:t>Q=kP, </a:t>
          </a:r>
          <a:r>
            <a:rPr lang="en-US" dirty="0" smtClean="0"/>
            <a:t>where </a:t>
          </a:r>
          <a:r>
            <a:rPr lang="en-US" i="1" dirty="0" smtClean="0"/>
            <a:t>Q, P</a:t>
          </a:r>
          <a:r>
            <a:rPr lang="en-US" dirty="0" smtClean="0"/>
            <a:t> belong to a prime curve</a:t>
          </a:r>
        </a:p>
      </dgm:t>
    </dgm:pt>
    <dgm:pt modelId="{3A875B3B-95C8-534E-AE40-DAD45B93158F}" type="parTrans" cxnId="{EFB8F1DA-E414-464D-9C0D-D6E197E01F4C}">
      <dgm:prSet/>
      <dgm:spPr/>
      <dgm:t>
        <a:bodyPr/>
        <a:lstStyle/>
        <a:p>
          <a:endParaRPr lang="en-US"/>
        </a:p>
      </dgm:t>
    </dgm:pt>
    <dgm:pt modelId="{D25E467D-B1C9-1445-A889-95888C981F8A}" type="sibTrans" cxnId="{EFB8F1DA-E414-464D-9C0D-D6E197E01F4C}">
      <dgm:prSet/>
      <dgm:spPr/>
      <dgm:t>
        <a:bodyPr/>
        <a:lstStyle/>
        <a:p>
          <a:endParaRPr lang="en-US"/>
        </a:p>
      </dgm:t>
    </dgm:pt>
    <dgm:pt modelId="{F26C0517-C912-DA41-AF56-1F46AA579402}">
      <dgm:prSet/>
      <dgm:spPr>
        <a:solidFill>
          <a:schemeClr val="bg1"/>
        </a:solidFill>
        <a:ln>
          <a:solidFill>
            <a:schemeClr val="bg2"/>
          </a:solidFill>
        </a:ln>
      </dgm:spPr>
      <dgm:t>
        <a:bodyPr/>
        <a:lstStyle/>
        <a:p>
          <a:r>
            <a:rPr lang="en-US" dirty="0" smtClean="0"/>
            <a:t>Is “easy” to compute </a:t>
          </a:r>
          <a:r>
            <a:rPr lang="en-US" i="1" dirty="0" smtClean="0"/>
            <a:t>Q </a:t>
          </a:r>
          <a:r>
            <a:rPr lang="en-US" dirty="0" smtClean="0"/>
            <a:t>given </a:t>
          </a:r>
          <a:r>
            <a:rPr lang="en-US" i="1" dirty="0" smtClean="0"/>
            <a:t>k </a:t>
          </a:r>
          <a:r>
            <a:rPr lang="en-US" dirty="0" smtClean="0"/>
            <a:t>and </a:t>
          </a:r>
          <a:r>
            <a:rPr lang="en-US" i="1" dirty="0" smtClean="0"/>
            <a:t>P</a:t>
          </a:r>
        </a:p>
      </dgm:t>
    </dgm:pt>
    <dgm:pt modelId="{E9262F4E-91EF-2C48-AD7C-6FB077621D23}" type="parTrans" cxnId="{D395546A-3AA5-1E4B-8DC8-7DA75680F542}">
      <dgm:prSet/>
      <dgm:spPr/>
      <dgm:t>
        <a:bodyPr/>
        <a:lstStyle/>
        <a:p>
          <a:endParaRPr lang="en-US"/>
        </a:p>
      </dgm:t>
    </dgm:pt>
    <dgm:pt modelId="{A565EF87-32A5-8D4F-B298-21D94F2E1F6E}" type="sibTrans" cxnId="{D395546A-3AA5-1E4B-8DC8-7DA75680F542}">
      <dgm:prSet/>
      <dgm:spPr/>
      <dgm:t>
        <a:bodyPr/>
        <a:lstStyle/>
        <a:p>
          <a:endParaRPr lang="en-US"/>
        </a:p>
      </dgm:t>
    </dgm:pt>
    <dgm:pt modelId="{30E00427-3755-1540-AB38-BC50FC055B26}">
      <dgm:prSet/>
      <dgm:spPr>
        <a:solidFill>
          <a:schemeClr val="bg1"/>
        </a:solidFill>
        <a:ln>
          <a:solidFill>
            <a:schemeClr val="bg2"/>
          </a:solidFill>
        </a:ln>
      </dgm:spPr>
      <dgm:t>
        <a:bodyPr/>
        <a:lstStyle/>
        <a:p>
          <a:r>
            <a:rPr lang="en-US" dirty="0" smtClean="0"/>
            <a:t>But “hard” to find </a:t>
          </a:r>
          <a:r>
            <a:rPr lang="en-US" i="1" dirty="0" smtClean="0"/>
            <a:t>k</a:t>
          </a:r>
          <a:r>
            <a:rPr lang="en-US" dirty="0" smtClean="0"/>
            <a:t> given </a:t>
          </a:r>
          <a:r>
            <a:rPr lang="en-US" i="1" dirty="0" smtClean="0"/>
            <a:t>Q, </a:t>
          </a:r>
          <a:r>
            <a:rPr lang="en-US" dirty="0" smtClean="0"/>
            <a:t>and </a:t>
          </a:r>
          <a:r>
            <a:rPr lang="en-US" i="1" dirty="0" smtClean="0"/>
            <a:t>P</a:t>
          </a:r>
        </a:p>
      </dgm:t>
    </dgm:pt>
    <dgm:pt modelId="{813922C6-6472-1E43-B8B4-1A736B5B2FBC}" type="parTrans" cxnId="{71A4DBA1-ACC6-8D41-83E3-904FFE3DFE54}">
      <dgm:prSet/>
      <dgm:spPr/>
      <dgm:t>
        <a:bodyPr/>
        <a:lstStyle/>
        <a:p>
          <a:endParaRPr lang="en-US"/>
        </a:p>
      </dgm:t>
    </dgm:pt>
    <dgm:pt modelId="{362AA1BB-6F66-E546-84D4-08EAE5E5F1EF}" type="sibTrans" cxnId="{71A4DBA1-ACC6-8D41-83E3-904FFE3DFE54}">
      <dgm:prSet/>
      <dgm:spPr/>
      <dgm:t>
        <a:bodyPr/>
        <a:lstStyle/>
        <a:p>
          <a:endParaRPr lang="en-US"/>
        </a:p>
      </dgm:t>
    </dgm:pt>
    <dgm:pt modelId="{1FD4B571-3E6E-DB4B-B5E4-9B63B1D3FA87}">
      <dgm:prSet/>
      <dgm:spPr>
        <a:solidFill>
          <a:schemeClr val="bg1"/>
        </a:solidFill>
        <a:ln>
          <a:solidFill>
            <a:schemeClr val="bg2"/>
          </a:solidFill>
        </a:ln>
      </dgm:spPr>
      <dgm:t>
        <a:bodyPr/>
        <a:lstStyle/>
        <a:p>
          <a:r>
            <a:rPr lang="en-US" dirty="0" smtClean="0"/>
            <a:t>Known as the elliptic curve logarithm problem</a:t>
          </a:r>
        </a:p>
      </dgm:t>
    </dgm:pt>
    <dgm:pt modelId="{E84E6925-1AAB-0A48-900D-BA958399F3E7}" type="parTrans" cxnId="{9856E6BA-280A-504E-951E-A3D8879E4350}">
      <dgm:prSet/>
      <dgm:spPr/>
      <dgm:t>
        <a:bodyPr/>
        <a:lstStyle/>
        <a:p>
          <a:endParaRPr lang="en-US"/>
        </a:p>
      </dgm:t>
    </dgm:pt>
    <dgm:pt modelId="{90B19BD8-750C-7344-8ABE-A69E9FFC6826}" type="sibTrans" cxnId="{9856E6BA-280A-504E-951E-A3D8879E4350}">
      <dgm:prSet/>
      <dgm:spPr/>
      <dgm:t>
        <a:bodyPr/>
        <a:lstStyle/>
        <a:p>
          <a:endParaRPr lang="en-US"/>
        </a:p>
      </dgm:t>
    </dgm:pt>
    <dgm:pt modelId="{A433E237-4918-4849-8C87-E8E133720A4C}" type="pres">
      <dgm:prSet presAssocID="{613DB4F7-2C18-974B-9C26-9844767B3D59}" presName="Name0" presStyleCnt="0">
        <dgm:presLayoutVars>
          <dgm:dir/>
          <dgm:animLvl val="lvl"/>
          <dgm:resizeHandles/>
        </dgm:presLayoutVars>
      </dgm:prSet>
      <dgm:spPr/>
      <dgm:t>
        <a:bodyPr/>
        <a:lstStyle/>
        <a:p>
          <a:endParaRPr lang="en-US"/>
        </a:p>
      </dgm:t>
    </dgm:pt>
    <dgm:pt modelId="{2DB36A17-BDC6-0B4A-BD30-E748EDB0532D}" type="pres">
      <dgm:prSet presAssocID="{9B29D38E-91A5-7A40-B874-89F820F02D26}" presName="linNode" presStyleCnt="0"/>
      <dgm:spPr/>
    </dgm:pt>
    <dgm:pt modelId="{2853AFA9-369E-FB4A-8EC0-DA8709AE940B}" type="pres">
      <dgm:prSet presAssocID="{9B29D38E-91A5-7A40-B874-89F820F02D26}" presName="parentShp" presStyleLbl="node1" presStyleIdx="0" presStyleCnt="1">
        <dgm:presLayoutVars>
          <dgm:bulletEnabled val="1"/>
        </dgm:presLayoutVars>
      </dgm:prSet>
      <dgm:spPr/>
      <dgm:t>
        <a:bodyPr/>
        <a:lstStyle/>
        <a:p>
          <a:endParaRPr lang="en-US"/>
        </a:p>
      </dgm:t>
    </dgm:pt>
    <dgm:pt modelId="{D7D330C6-96D4-C64F-9385-1967CFC9F58B}" type="pres">
      <dgm:prSet presAssocID="{9B29D38E-91A5-7A40-B874-89F820F02D26}" presName="childShp" presStyleLbl="bgAccFollowNode1" presStyleIdx="0" presStyleCnt="1">
        <dgm:presLayoutVars>
          <dgm:bulletEnabled val="1"/>
        </dgm:presLayoutVars>
      </dgm:prSet>
      <dgm:spPr/>
      <dgm:t>
        <a:bodyPr/>
        <a:lstStyle/>
        <a:p>
          <a:endParaRPr lang="en-US"/>
        </a:p>
      </dgm:t>
    </dgm:pt>
  </dgm:ptLst>
  <dgm:cxnLst>
    <dgm:cxn modelId="{71A4DBA1-ACC6-8D41-83E3-904FFE3DFE54}" srcId="{9B29D38E-91A5-7A40-B874-89F820F02D26}" destId="{30E00427-3755-1540-AB38-BC50FC055B26}" srcOrd="2" destOrd="0" parTransId="{813922C6-6472-1E43-B8B4-1A736B5B2FBC}" sibTransId="{362AA1BB-6F66-E546-84D4-08EAE5E5F1EF}"/>
    <dgm:cxn modelId="{94229DE3-1F9F-164D-80C4-A478D074148C}" type="presOf" srcId="{30E00427-3755-1540-AB38-BC50FC055B26}" destId="{D7D330C6-96D4-C64F-9385-1967CFC9F58B}" srcOrd="0" destOrd="2" presId="urn:microsoft.com/office/officeart/2005/8/layout/vList6"/>
    <dgm:cxn modelId="{D395546A-3AA5-1E4B-8DC8-7DA75680F542}" srcId="{9B29D38E-91A5-7A40-B874-89F820F02D26}" destId="{F26C0517-C912-DA41-AF56-1F46AA579402}" srcOrd="1" destOrd="0" parTransId="{E9262F4E-91EF-2C48-AD7C-6FB077621D23}" sibTransId="{A565EF87-32A5-8D4F-B298-21D94F2E1F6E}"/>
    <dgm:cxn modelId="{EFB8F1DA-E414-464D-9C0D-D6E197E01F4C}" srcId="{9B29D38E-91A5-7A40-B874-89F820F02D26}" destId="{3C584647-FC30-174F-99E5-993501D024CF}" srcOrd="0" destOrd="0" parTransId="{3A875B3B-95C8-534E-AE40-DAD45B93158F}" sibTransId="{D25E467D-B1C9-1445-A889-95888C981F8A}"/>
    <dgm:cxn modelId="{64A8BAE3-E940-6145-AC89-7560FEA7990E}" type="presOf" srcId="{9B29D38E-91A5-7A40-B874-89F820F02D26}" destId="{2853AFA9-369E-FB4A-8EC0-DA8709AE940B}" srcOrd="0" destOrd="0" presId="urn:microsoft.com/office/officeart/2005/8/layout/vList6"/>
    <dgm:cxn modelId="{DE42EB1F-208E-4946-937C-B82E5D595A9F}" srcId="{613DB4F7-2C18-974B-9C26-9844767B3D59}" destId="{9B29D38E-91A5-7A40-B874-89F820F02D26}" srcOrd="0" destOrd="0" parTransId="{ACAE2C13-BB39-6B41-8CE6-BE28B1894C55}" sibTransId="{AB3ED1D0-2F56-A74C-A98E-EB462406BD2C}"/>
    <dgm:cxn modelId="{D3A81196-480D-EE47-BF2D-9F3CE54A8CB0}" type="presOf" srcId="{3C584647-FC30-174F-99E5-993501D024CF}" destId="{D7D330C6-96D4-C64F-9385-1967CFC9F58B}" srcOrd="0" destOrd="0" presId="urn:microsoft.com/office/officeart/2005/8/layout/vList6"/>
    <dgm:cxn modelId="{9856E6BA-280A-504E-951E-A3D8879E4350}" srcId="{9B29D38E-91A5-7A40-B874-89F820F02D26}" destId="{1FD4B571-3E6E-DB4B-B5E4-9B63B1D3FA87}" srcOrd="3" destOrd="0" parTransId="{E84E6925-1AAB-0A48-900D-BA958399F3E7}" sibTransId="{90B19BD8-750C-7344-8ABE-A69E9FFC6826}"/>
    <dgm:cxn modelId="{5B66B12E-FF4D-6E4A-8A57-3F7346C79E7C}" type="presOf" srcId="{613DB4F7-2C18-974B-9C26-9844767B3D59}" destId="{A433E237-4918-4849-8C87-E8E133720A4C}" srcOrd="0" destOrd="0" presId="urn:microsoft.com/office/officeart/2005/8/layout/vList6"/>
    <dgm:cxn modelId="{FB419DE0-C6EB-F148-BACD-3E8A80E9A125}" type="presOf" srcId="{1FD4B571-3E6E-DB4B-B5E4-9B63B1D3FA87}" destId="{D7D330C6-96D4-C64F-9385-1967CFC9F58B}" srcOrd="0" destOrd="3" presId="urn:microsoft.com/office/officeart/2005/8/layout/vList6"/>
    <dgm:cxn modelId="{49DA6F8B-019E-C24E-B81C-100A5DCC66B7}" type="presOf" srcId="{F26C0517-C912-DA41-AF56-1F46AA579402}" destId="{D7D330C6-96D4-C64F-9385-1967CFC9F58B}" srcOrd="0" destOrd="1" presId="urn:microsoft.com/office/officeart/2005/8/layout/vList6"/>
    <dgm:cxn modelId="{967C18EE-EA6B-DE4E-B2B3-DBDF1213D442}" type="presParOf" srcId="{A433E237-4918-4849-8C87-E8E133720A4C}" destId="{2DB36A17-BDC6-0B4A-BD30-E748EDB0532D}" srcOrd="0" destOrd="0" presId="urn:microsoft.com/office/officeart/2005/8/layout/vList6"/>
    <dgm:cxn modelId="{FB8A07B1-7E34-E342-9AC4-05E5A971C2D1}" type="presParOf" srcId="{2DB36A17-BDC6-0B4A-BD30-E748EDB0532D}" destId="{2853AFA9-369E-FB4A-8EC0-DA8709AE940B}" srcOrd="0" destOrd="0" presId="urn:microsoft.com/office/officeart/2005/8/layout/vList6"/>
    <dgm:cxn modelId="{526E7642-45C9-F74D-BF73-7DD1E0E8DE38}" type="presParOf" srcId="{2DB36A17-BDC6-0B4A-BD30-E748EDB0532D}" destId="{D7D330C6-96D4-C64F-9385-1967CFC9F58B}"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7960FA-B7C6-A243-9B95-5DC485277954}">
      <dsp:nvSpPr>
        <dsp:cNvPr id="0" name=""/>
        <dsp:cNvSpPr/>
      </dsp:nvSpPr>
      <dsp:spPr>
        <a:xfrm>
          <a:off x="0" y="809624"/>
          <a:ext cx="2857499" cy="1714499"/>
        </a:xfrm>
        <a:prstGeom prst="rect">
          <a:avLst/>
        </a:prstGeom>
        <a:solidFill>
          <a:schemeClr val="tx2">
            <a:lumMod val="60000"/>
            <a:lumOff val="4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en-US" sz="2300" b="0" kern="1200" dirty="0" smtClean="0">
              <a:effectLst>
                <a:outerShdw blurRad="38100" dist="38100" dir="2700000" algn="tl">
                  <a:srgbClr val="000000">
                    <a:alpha val="43137"/>
                  </a:srgbClr>
                </a:outerShdw>
              </a:effectLst>
            </a:rPr>
            <a:t>Announced in 1984 by T. </a:t>
          </a:r>
          <a:r>
            <a:rPr lang="en-US" sz="2300" b="0" kern="1200" dirty="0" err="1" smtClean="0">
              <a:effectLst>
                <a:outerShdw blurRad="38100" dist="38100" dir="2700000" algn="tl">
                  <a:srgbClr val="000000">
                    <a:alpha val="43137"/>
                  </a:srgbClr>
                </a:outerShdw>
              </a:effectLst>
            </a:rPr>
            <a:t>Elgamal</a:t>
          </a:r>
          <a:r>
            <a:rPr lang="en-US" sz="2300" b="0" kern="1200" dirty="0" smtClean="0">
              <a:effectLst>
                <a:outerShdw blurRad="38100" dist="38100" dir="2700000" algn="tl">
                  <a:srgbClr val="000000">
                    <a:alpha val="43137"/>
                  </a:srgbClr>
                </a:outerShdw>
              </a:effectLst>
            </a:rPr>
            <a:t> </a:t>
          </a:r>
          <a:r>
            <a:rPr lang="en-US" sz="2300" kern="1200" dirty="0" smtClean="0">
              <a:latin typeface="Arial" pitchFamily="-84" charset="0"/>
              <a:ea typeface="ＭＳ Ｐゴシック" pitchFamily="-84" charset="-128"/>
              <a:cs typeface="ＭＳ Ｐゴシック" pitchFamily="-84" charset="-128"/>
            </a:rPr>
            <a:t> (</a:t>
          </a:r>
          <a:r>
            <a:rPr lang="en-US" sz="1800" b="0" kern="1200" dirty="0" smtClean="0">
              <a:latin typeface="Arial" pitchFamily="-84" charset="0"/>
              <a:ea typeface="ＭＳ Ｐゴシック" pitchFamily="-84" charset="-128"/>
              <a:cs typeface="ＭＳ Ｐゴシック" pitchFamily="-84" charset="-128"/>
            </a:rPr>
            <a:t>closely related to the </a:t>
          </a:r>
          <a:r>
            <a:rPr lang="en-US" sz="1800" b="0" kern="1200" dirty="0" err="1" smtClean="0">
              <a:latin typeface="Arial" pitchFamily="-84" charset="0"/>
              <a:ea typeface="ＭＳ Ｐゴシック" pitchFamily="-84" charset="-128"/>
              <a:cs typeface="ＭＳ Ｐゴシック" pitchFamily="-84" charset="-128"/>
            </a:rPr>
            <a:t>Diffie</a:t>
          </a:r>
          <a:r>
            <a:rPr lang="en-US" sz="1800" b="0" kern="1200" dirty="0" smtClean="0">
              <a:latin typeface="Arial" pitchFamily="-84" charset="0"/>
              <a:ea typeface="ＭＳ Ｐゴシック" pitchFamily="-84" charset="-128"/>
              <a:cs typeface="ＭＳ Ｐゴシック" pitchFamily="-84" charset="-128"/>
            </a:rPr>
            <a:t>-Hellman technique)</a:t>
          </a:r>
          <a:endParaRPr lang="en-US" sz="1800" b="0" kern="1200" dirty="0">
            <a:effectLst>
              <a:outerShdw blurRad="38100" dist="38100" dir="2700000" algn="tl">
                <a:srgbClr val="000000">
                  <a:alpha val="43137"/>
                </a:srgbClr>
              </a:outerShdw>
            </a:effectLst>
          </a:endParaRPr>
        </a:p>
      </dsp:txBody>
      <dsp:txXfrm>
        <a:off x="0" y="809624"/>
        <a:ext cx="2857499" cy="1714499"/>
      </dsp:txXfrm>
    </dsp:sp>
    <dsp:sp modelId="{A257FC50-FF91-3F4C-BFB5-E75AFE9E36EC}">
      <dsp:nvSpPr>
        <dsp:cNvPr id="0" name=""/>
        <dsp:cNvSpPr/>
      </dsp:nvSpPr>
      <dsp:spPr>
        <a:xfrm>
          <a:off x="3143249" y="809624"/>
          <a:ext cx="2857499" cy="1714499"/>
        </a:xfrm>
        <a:prstGeom prst="rect">
          <a:avLst/>
        </a:prstGeom>
        <a:solidFill>
          <a:schemeClr val="tx2">
            <a:lumMod val="60000"/>
            <a:lumOff val="4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en-US" sz="2300" b="0" kern="1200" dirty="0" smtClean="0">
              <a:effectLst>
                <a:outerShdw blurRad="38100" dist="38100" dir="2700000" algn="tl">
                  <a:srgbClr val="000000">
                    <a:alpha val="43137"/>
                  </a:srgbClr>
                </a:outerShdw>
              </a:effectLst>
            </a:rPr>
            <a:t>Public-key scheme based on discrete logarithms closely related to the </a:t>
          </a:r>
          <a:r>
            <a:rPr lang="en-US" sz="2300" b="0" kern="1200" dirty="0" err="1" smtClean="0">
              <a:effectLst>
                <a:outerShdw blurRad="38100" dist="38100" dir="2700000" algn="tl">
                  <a:srgbClr val="000000">
                    <a:alpha val="43137"/>
                  </a:srgbClr>
                </a:outerShdw>
              </a:effectLst>
            </a:rPr>
            <a:t>Diffie</a:t>
          </a:r>
          <a:r>
            <a:rPr lang="en-US" sz="2300" b="0" kern="1200" dirty="0" smtClean="0">
              <a:effectLst>
                <a:outerShdw blurRad="38100" dist="38100" dir="2700000" algn="tl">
                  <a:srgbClr val="000000">
                    <a:alpha val="43137"/>
                  </a:srgbClr>
                </a:outerShdw>
              </a:effectLst>
            </a:rPr>
            <a:t>-Hellman technique</a:t>
          </a:r>
          <a:endParaRPr lang="en-US" sz="2300" b="0" kern="1200" dirty="0">
            <a:effectLst>
              <a:outerShdw blurRad="38100" dist="38100" dir="2700000" algn="tl">
                <a:srgbClr val="000000">
                  <a:alpha val="43137"/>
                </a:srgbClr>
              </a:outerShdw>
            </a:effectLst>
          </a:endParaRPr>
        </a:p>
      </dsp:txBody>
      <dsp:txXfrm>
        <a:off x="3143249" y="809624"/>
        <a:ext cx="2857499" cy="1714499"/>
      </dsp:txXfrm>
    </dsp:sp>
    <dsp:sp modelId="{2261D62D-521A-E14D-8922-72F6614F3DCC}">
      <dsp:nvSpPr>
        <dsp:cNvPr id="0" name=""/>
        <dsp:cNvSpPr/>
      </dsp:nvSpPr>
      <dsp:spPr>
        <a:xfrm>
          <a:off x="6286499" y="809624"/>
          <a:ext cx="2857499" cy="1714499"/>
        </a:xfrm>
        <a:prstGeom prst="rect">
          <a:avLst/>
        </a:prstGeom>
        <a:solidFill>
          <a:schemeClr val="tx2">
            <a:lumMod val="60000"/>
            <a:lumOff val="4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en-US" sz="2300" b="0" kern="1200" dirty="0" smtClean="0">
              <a:effectLst>
                <a:outerShdw blurRad="38100" dist="38100" dir="2700000" algn="tl">
                  <a:srgbClr val="000000">
                    <a:alpha val="43137"/>
                  </a:srgbClr>
                </a:outerShdw>
              </a:effectLst>
            </a:rPr>
            <a:t>Used in the digital signature standard (DSS) and the S/MIME e-mail standard</a:t>
          </a:r>
          <a:endParaRPr lang="en-US" sz="2300" b="0" kern="1200" dirty="0">
            <a:effectLst>
              <a:outerShdw blurRad="38100" dist="38100" dir="2700000" algn="tl">
                <a:srgbClr val="000000">
                  <a:alpha val="43137"/>
                </a:srgbClr>
              </a:outerShdw>
            </a:effectLst>
          </a:endParaRPr>
        </a:p>
      </dsp:txBody>
      <dsp:txXfrm>
        <a:off x="6286499" y="809624"/>
        <a:ext cx="2857499" cy="1714499"/>
      </dsp:txXfrm>
    </dsp:sp>
    <dsp:sp modelId="{659BA2B5-6D77-864F-8CA3-F2DD6119A169}">
      <dsp:nvSpPr>
        <dsp:cNvPr id="0" name=""/>
        <dsp:cNvSpPr/>
      </dsp:nvSpPr>
      <dsp:spPr>
        <a:xfrm>
          <a:off x="1571624" y="2809874"/>
          <a:ext cx="2857499" cy="1714499"/>
        </a:xfrm>
        <a:prstGeom prst="rect">
          <a:avLst/>
        </a:prstGeom>
        <a:solidFill>
          <a:schemeClr val="tx2">
            <a:lumMod val="60000"/>
            <a:lumOff val="4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en-US" sz="2300" b="0" kern="1200" dirty="0" smtClean="0">
              <a:effectLst>
                <a:outerShdw blurRad="38100" dist="38100" dir="2700000" algn="tl">
                  <a:srgbClr val="000000">
                    <a:alpha val="43137"/>
                  </a:srgbClr>
                </a:outerShdw>
              </a:effectLst>
            </a:rPr>
            <a:t>Global elements are a prime number </a:t>
          </a:r>
          <a:r>
            <a:rPr lang="en-US" sz="2300" b="0" i="1" kern="1200" dirty="0" err="1" smtClean="0">
              <a:effectLst>
                <a:outerShdw blurRad="38100" dist="38100" dir="2700000" algn="tl">
                  <a:srgbClr val="000000">
                    <a:alpha val="43137"/>
                  </a:srgbClr>
                </a:outerShdw>
              </a:effectLst>
            </a:rPr>
            <a:t>q</a:t>
          </a:r>
          <a:r>
            <a:rPr lang="en-US" sz="2300" b="0" i="1" kern="1200" dirty="0" smtClean="0">
              <a:effectLst>
                <a:outerShdw blurRad="38100" dist="38100" dir="2700000" algn="tl">
                  <a:srgbClr val="000000">
                    <a:alpha val="43137"/>
                  </a:srgbClr>
                </a:outerShdw>
              </a:effectLst>
            </a:rPr>
            <a:t> </a:t>
          </a:r>
          <a:r>
            <a:rPr lang="en-US" sz="2300" b="0" kern="1200" dirty="0" smtClean="0">
              <a:effectLst>
                <a:outerShdw blurRad="38100" dist="38100" dir="2700000" algn="tl">
                  <a:srgbClr val="000000">
                    <a:alpha val="43137"/>
                  </a:srgbClr>
                </a:outerShdw>
              </a:effectLst>
            </a:rPr>
            <a:t>and </a:t>
          </a:r>
          <a:r>
            <a:rPr lang="en-US" sz="2300" b="0" i="1" kern="1200" dirty="0" smtClean="0">
              <a:effectLst>
                <a:outerShdw blurRad="38100" dist="38100" dir="2700000" algn="tl">
                  <a:srgbClr val="000000">
                    <a:alpha val="43137"/>
                  </a:srgbClr>
                </a:outerShdw>
              </a:effectLst>
            </a:rPr>
            <a:t>a</a:t>
          </a:r>
          <a:r>
            <a:rPr lang="en-US" sz="2300" b="0" kern="1200" dirty="0" smtClean="0">
              <a:effectLst>
                <a:outerShdw blurRad="38100" dist="38100" dir="2700000" algn="tl">
                  <a:srgbClr val="000000">
                    <a:alpha val="43137"/>
                  </a:srgbClr>
                </a:outerShdw>
              </a:effectLst>
            </a:rPr>
            <a:t> which is a primitive root of </a:t>
          </a:r>
          <a:r>
            <a:rPr lang="en-US" sz="2300" b="0" i="1" kern="1200" dirty="0" err="1" smtClean="0">
              <a:effectLst>
                <a:outerShdw blurRad="38100" dist="38100" dir="2700000" algn="tl">
                  <a:srgbClr val="000000">
                    <a:alpha val="43137"/>
                  </a:srgbClr>
                </a:outerShdw>
              </a:effectLst>
            </a:rPr>
            <a:t>q</a:t>
          </a:r>
          <a:endParaRPr lang="en-US" sz="2300" b="0" kern="1200" dirty="0">
            <a:effectLst>
              <a:outerShdw blurRad="38100" dist="38100" dir="2700000" algn="tl">
                <a:srgbClr val="000000">
                  <a:alpha val="43137"/>
                </a:srgbClr>
              </a:outerShdw>
            </a:effectLst>
          </a:endParaRPr>
        </a:p>
      </dsp:txBody>
      <dsp:txXfrm>
        <a:off x="1571624" y="2809874"/>
        <a:ext cx="2857499" cy="1714499"/>
      </dsp:txXfrm>
    </dsp:sp>
    <dsp:sp modelId="{962B265E-5530-394D-871D-9C5C574AEBCA}">
      <dsp:nvSpPr>
        <dsp:cNvPr id="0" name=""/>
        <dsp:cNvSpPr/>
      </dsp:nvSpPr>
      <dsp:spPr>
        <a:xfrm>
          <a:off x="4714874" y="2809874"/>
          <a:ext cx="2857499" cy="1714499"/>
        </a:xfrm>
        <a:prstGeom prst="rect">
          <a:avLst/>
        </a:prstGeom>
        <a:solidFill>
          <a:schemeClr val="tx2">
            <a:lumMod val="60000"/>
            <a:lumOff val="4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rtl="0">
            <a:lnSpc>
              <a:spcPct val="90000"/>
            </a:lnSpc>
            <a:spcBef>
              <a:spcPct val="0"/>
            </a:spcBef>
            <a:spcAft>
              <a:spcPct val="35000"/>
            </a:spcAft>
          </a:pPr>
          <a:r>
            <a:rPr lang="en-US" sz="2300" b="0" kern="1200" dirty="0" smtClean="0">
              <a:effectLst>
                <a:outerShdw blurRad="38100" dist="38100" dir="2700000" algn="tl">
                  <a:srgbClr val="000000">
                    <a:alpha val="43137"/>
                  </a:srgbClr>
                </a:outerShdw>
              </a:effectLst>
            </a:rPr>
            <a:t>Security is based on the difficulty of computing discrete logarithms</a:t>
          </a:r>
          <a:endParaRPr lang="en-AU" sz="2300" b="0" kern="1200" dirty="0">
            <a:effectLst>
              <a:outerShdw blurRad="38100" dist="38100" dir="2700000" algn="tl">
                <a:srgbClr val="000000">
                  <a:alpha val="43137"/>
                </a:srgbClr>
              </a:outerShdw>
            </a:effectLst>
          </a:endParaRPr>
        </a:p>
      </dsp:txBody>
      <dsp:txXfrm>
        <a:off x="4714874" y="2809874"/>
        <a:ext cx="2857499" cy="17144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7E9B53-7510-D743-A42E-01CC099323D6}">
      <dsp:nvSpPr>
        <dsp:cNvPr id="0" name=""/>
        <dsp:cNvSpPr/>
      </dsp:nvSpPr>
      <dsp:spPr>
        <a:xfrm>
          <a:off x="3999612" y="0"/>
          <a:ext cx="1659592" cy="1659592"/>
        </a:xfrm>
        <a:prstGeom prst="gear9">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1600" b="1" i="0" kern="1200" dirty="0" smtClean="0">
              <a:solidFill>
                <a:srgbClr val="FF0000"/>
              </a:solidFill>
              <a:effectLst>
                <a:outerShdw blurRad="38100" dist="38100" dir="2700000" algn="tl">
                  <a:srgbClr val="000000">
                    <a:alpha val="43137"/>
                  </a:srgbClr>
                </a:outerShdw>
              </a:effectLst>
            </a:rPr>
            <a:t>Prime curves over Z</a:t>
          </a:r>
          <a:r>
            <a:rPr lang="en-US" sz="1600" b="1" i="0" kern="1200" baseline="-25000" dirty="0" smtClean="0">
              <a:solidFill>
                <a:srgbClr val="FF0000"/>
              </a:solidFill>
              <a:effectLst>
                <a:outerShdw blurRad="38100" dist="38100" dir="2700000" algn="tl">
                  <a:srgbClr val="000000">
                    <a:alpha val="43137"/>
                  </a:srgbClr>
                </a:outerShdw>
              </a:effectLst>
            </a:rPr>
            <a:t>p</a:t>
          </a:r>
          <a:r>
            <a:rPr lang="en-US" sz="1600" b="1" i="0" kern="1200" dirty="0" smtClean="0">
              <a:solidFill>
                <a:srgbClr val="FF0000"/>
              </a:solidFill>
              <a:effectLst>
                <a:outerShdw blurRad="38100" dist="38100" dir="2700000" algn="tl">
                  <a:srgbClr val="000000">
                    <a:alpha val="43137"/>
                  </a:srgbClr>
                </a:outerShdw>
              </a:effectLst>
            </a:rPr>
            <a:t> </a:t>
          </a:r>
          <a:endParaRPr lang="en-US" sz="1600" b="1" i="0" kern="1200" dirty="0">
            <a:solidFill>
              <a:srgbClr val="FF0000"/>
            </a:solidFill>
            <a:effectLst>
              <a:outerShdw blurRad="38100" dist="38100" dir="2700000" algn="tl">
                <a:srgbClr val="000000">
                  <a:alpha val="43137"/>
                </a:srgbClr>
              </a:outerShdw>
            </a:effectLst>
          </a:endParaRPr>
        </a:p>
      </dsp:txBody>
      <dsp:txXfrm>
        <a:off x="4333264" y="388752"/>
        <a:ext cx="992288" cy="853064"/>
      </dsp:txXfrm>
    </dsp:sp>
    <dsp:sp modelId="{C754250D-58A8-8D4F-A148-7735BA217847}">
      <dsp:nvSpPr>
        <dsp:cNvPr id="0" name=""/>
        <dsp:cNvSpPr/>
      </dsp:nvSpPr>
      <dsp:spPr>
        <a:xfrm>
          <a:off x="3999613" y="1750112"/>
          <a:ext cx="3580900" cy="1156117"/>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71450" lvl="1" indent="-171450" algn="l" defTabSz="711200">
            <a:lnSpc>
              <a:spcPct val="90000"/>
            </a:lnSpc>
            <a:spcBef>
              <a:spcPct val="0"/>
            </a:spcBef>
            <a:spcAft>
              <a:spcPct val="15000"/>
            </a:spcAft>
            <a:buChar char="••"/>
          </a:pPr>
          <a:r>
            <a:rPr lang="en-US" sz="1600" b="1" i="0" kern="1200" dirty="0" smtClean="0"/>
            <a:t>Use a cubic equation in which the variables and coefficients all take on values in the set of integers from 0 through p-1 and in which calculations are performed modulo p</a:t>
          </a:r>
        </a:p>
        <a:p>
          <a:pPr marL="171450" lvl="1" indent="-171450" algn="l" defTabSz="711200">
            <a:lnSpc>
              <a:spcPct val="90000"/>
            </a:lnSpc>
            <a:spcBef>
              <a:spcPct val="0"/>
            </a:spcBef>
            <a:spcAft>
              <a:spcPct val="15000"/>
            </a:spcAft>
            <a:buChar char="••"/>
          </a:pPr>
          <a:r>
            <a:rPr lang="en-US" sz="1600" b="1" i="0" kern="1200" dirty="0" smtClean="0"/>
            <a:t>Best for software applications</a:t>
          </a:r>
        </a:p>
      </dsp:txBody>
      <dsp:txXfrm>
        <a:off x="4033475" y="1783974"/>
        <a:ext cx="3513176" cy="1088393"/>
      </dsp:txXfrm>
    </dsp:sp>
    <dsp:sp modelId="{FBBA55B6-ABF9-3D42-8E2F-BAB8CE309BA9}">
      <dsp:nvSpPr>
        <dsp:cNvPr id="0" name=""/>
        <dsp:cNvSpPr/>
      </dsp:nvSpPr>
      <dsp:spPr>
        <a:xfrm>
          <a:off x="2551238" y="3"/>
          <a:ext cx="1629417" cy="1569092"/>
        </a:xfrm>
        <a:prstGeom prst="gear6">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1600" b="1" i="0" kern="1200" dirty="0" smtClean="0">
              <a:solidFill>
                <a:srgbClr val="FF0000"/>
              </a:solidFill>
              <a:effectLst>
                <a:outerShdw blurRad="38100" dist="38100" dir="2700000" algn="tl">
                  <a:srgbClr val="000000">
                    <a:alpha val="43137"/>
                  </a:srgbClr>
                </a:outerShdw>
              </a:effectLst>
            </a:rPr>
            <a:t>Binary curves over GF(2</a:t>
          </a:r>
          <a:r>
            <a:rPr lang="en-US" sz="1600" b="1" i="0" kern="1200" baseline="30000" dirty="0" smtClean="0">
              <a:solidFill>
                <a:srgbClr val="FF0000"/>
              </a:solidFill>
              <a:effectLst>
                <a:outerShdw blurRad="38100" dist="38100" dir="2700000" algn="tl">
                  <a:srgbClr val="000000">
                    <a:alpha val="43137"/>
                  </a:srgbClr>
                </a:outerShdw>
              </a:effectLst>
            </a:rPr>
            <a:t>m</a:t>
          </a:r>
          <a:r>
            <a:rPr lang="en-US" sz="1600" b="1" i="0" kern="1200" dirty="0" smtClean="0">
              <a:solidFill>
                <a:srgbClr val="FF0000"/>
              </a:solidFill>
              <a:effectLst>
                <a:outerShdw blurRad="38100" dist="38100" dir="2700000" algn="tl">
                  <a:srgbClr val="000000">
                    <a:alpha val="43137"/>
                  </a:srgbClr>
                </a:outerShdw>
              </a:effectLst>
            </a:rPr>
            <a:t>)</a:t>
          </a:r>
        </a:p>
      </dsp:txBody>
      <dsp:txXfrm>
        <a:off x="2955031" y="397414"/>
        <a:ext cx="821831" cy="774270"/>
      </dsp:txXfrm>
    </dsp:sp>
    <dsp:sp modelId="{2B68AE07-9C59-A346-9082-A79E15F3E63B}">
      <dsp:nvSpPr>
        <dsp:cNvPr id="0" name=""/>
        <dsp:cNvSpPr/>
      </dsp:nvSpPr>
      <dsp:spPr>
        <a:xfrm>
          <a:off x="740776" y="1750114"/>
          <a:ext cx="3096803" cy="108873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71450" lvl="1" indent="-171450" algn="l" defTabSz="711200">
            <a:lnSpc>
              <a:spcPct val="90000"/>
            </a:lnSpc>
            <a:spcBef>
              <a:spcPct val="0"/>
            </a:spcBef>
            <a:spcAft>
              <a:spcPct val="15000"/>
            </a:spcAft>
            <a:buChar char="••"/>
          </a:pPr>
          <a:r>
            <a:rPr lang="en-US" sz="1600" b="1" i="0" kern="1200" dirty="0" smtClean="0"/>
            <a:t>Variables and coefficients all take on values in GF(2</a:t>
          </a:r>
          <a:r>
            <a:rPr lang="en-US" sz="1600" b="1" i="0" kern="1200" baseline="30000" dirty="0" smtClean="0"/>
            <a:t>m</a:t>
          </a:r>
          <a:r>
            <a:rPr lang="en-US" sz="1600" b="1" i="0" kern="1200" dirty="0" smtClean="0"/>
            <a:t>) and in calculations are performed over GF(2</a:t>
          </a:r>
          <a:r>
            <a:rPr lang="en-US" sz="1600" b="1" i="0" kern="1200" baseline="30000" dirty="0" smtClean="0"/>
            <a:t>m</a:t>
          </a:r>
          <a:r>
            <a:rPr lang="en-US" sz="1600" b="1" i="0" kern="1200" dirty="0" smtClean="0"/>
            <a:t>)</a:t>
          </a:r>
        </a:p>
        <a:p>
          <a:pPr marL="171450" lvl="1" indent="-171450" algn="l" defTabSz="711200">
            <a:lnSpc>
              <a:spcPct val="90000"/>
            </a:lnSpc>
            <a:spcBef>
              <a:spcPct val="0"/>
            </a:spcBef>
            <a:spcAft>
              <a:spcPct val="15000"/>
            </a:spcAft>
            <a:buChar char="••"/>
          </a:pPr>
          <a:r>
            <a:rPr lang="en-US" sz="1600" b="1" i="0" kern="1200" dirty="0" smtClean="0"/>
            <a:t>Best for hardware applications</a:t>
          </a:r>
          <a:endParaRPr lang="en-AU" sz="1600" b="1" i="0" kern="1200" dirty="0"/>
        </a:p>
      </dsp:txBody>
      <dsp:txXfrm>
        <a:off x="772664" y="1782002"/>
        <a:ext cx="3033027" cy="1024957"/>
      </dsp:txXfrm>
    </dsp:sp>
    <dsp:sp modelId="{F5E23255-F49E-2A42-A437-3723C6FAA1D6}">
      <dsp:nvSpPr>
        <dsp:cNvPr id="0" name=""/>
        <dsp:cNvSpPr/>
      </dsp:nvSpPr>
      <dsp:spPr>
        <a:xfrm>
          <a:off x="4341230" y="312822"/>
          <a:ext cx="2183127" cy="1679192"/>
        </a:xfrm>
        <a:prstGeom prst="circularArrow">
          <a:avLst>
            <a:gd name="adj1" fmla="val 4878"/>
            <a:gd name="adj2" fmla="val 312630"/>
            <a:gd name="adj3" fmla="val 3037094"/>
            <a:gd name="adj4" fmla="val 15371498"/>
            <a:gd name="adj5" fmla="val 5691"/>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solidFill>
            <a:schemeClr val="tx2">
              <a:lumMod val="75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8D2BB96-4CE2-E14A-9E2F-7233319F3864}">
      <dsp:nvSpPr>
        <dsp:cNvPr id="0" name=""/>
        <dsp:cNvSpPr/>
      </dsp:nvSpPr>
      <dsp:spPr>
        <a:xfrm>
          <a:off x="2430536" y="908973"/>
          <a:ext cx="1543420" cy="1543420"/>
        </a:xfrm>
        <a:prstGeom prst="leftCircularArrow">
          <a:avLst>
            <a:gd name="adj1" fmla="val 6452"/>
            <a:gd name="adj2" fmla="val 429999"/>
            <a:gd name="adj3" fmla="val 10489124"/>
            <a:gd name="adj4" fmla="val 14837806"/>
            <a:gd name="adj5" fmla="val 7527"/>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solidFill>
            <a:schemeClr val="tx2">
              <a:lumMod val="75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D330C6-96D4-C64F-9385-1967CFC9F58B}">
      <dsp:nvSpPr>
        <dsp:cNvPr id="0" name=""/>
        <dsp:cNvSpPr/>
      </dsp:nvSpPr>
      <dsp:spPr>
        <a:xfrm>
          <a:off x="3017519" y="0"/>
          <a:ext cx="4526280" cy="1879600"/>
        </a:xfrm>
        <a:prstGeom prst="rightArrow">
          <a:avLst>
            <a:gd name="adj1" fmla="val 75000"/>
            <a:gd name="adj2" fmla="val 50000"/>
          </a:avLst>
        </a:prstGeom>
        <a:solidFill>
          <a:schemeClr val="bg1"/>
        </a:solidFill>
        <a:ln w="9525" cap="flat" cmpd="sng" algn="ctr">
          <a:solidFill>
            <a:schemeClr val="bg2"/>
          </a:solidFill>
          <a:prstDash val="solid"/>
        </a:ln>
        <a:effectLst/>
      </dsp:spPr>
      <dsp:style>
        <a:lnRef idx="1">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har char="••"/>
          </a:pPr>
          <a:r>
            <a:rPr lang="en-US" sz="1600" i="1" kern="1200" dirty="0" smtClean="0"/>
            <a:t>Q=kP, </a:t>
          </a:r>
          <a:r>
            <a:rPr lang="en-US" sz="1600" kern="1200" dirty="0" smtClean="0"/>
            <a:t>where </a:t>
          </a:r>
          <a:r>
            <a:rPr lang="en-US" sz="1600" i="1" kern="1200" dirty="0" smtClean="0"/>
            <a:t>Q, P</a:t>
          </a:r>
          <a:r>
            <a:rPr lang="en-US" sz="1600" kern="1200" dirty="0" smtClean="0"/>
            <a:t> belong to a prime curve</a:t>
          </a:r>
        </a:p>
        <a:p>
          <a:pPr marL="171450" lvl="1" indent="-171450" algn="l" defTabSz="711200">
            <a:lnSpc>
              <a:spcPct val="90000"/>
            </a:lnSpc>
            <a:spcBef>
              <a:spcPct val="0"/>
            </a:spcBef>
            <a:spcAft>
              <a:spcPct val="15000"/>
            </a:spcAft>
            <a:buChar char="••"/>
          </a:pPr>
          <a:r>
            <a:rPr lang="en-US" sz="1600" kern="1200" dirty="0" smtClean="0"/>
            <a:t>Is “easy” to compute </a:t>
          </a:r>
          <a:r>
            <a:rPr lang="en-US" sz="1600" i="1" kern="1200" dirty="0" smtClean="0"/>
            <a:t>Q </a:t>
          </a:r>
          <a:r>
            <a:rPr lang="en-US" sz="1600" kern="1200" dirty="0" smtClean="0"/>
            <a:t>given </a:t>
          </a:r>
          <a:r>
            <a:rPr lang="en-US" sz="1600" i="1" kern="1200" dirty="0" smtClean="0"/>
            <a:t>k </a:t>
          </a:r>
          <a:r>
            <a:rPr lang="en-US" sz="1600" kern="1200" dirty="0" smtClean="0"/>
            <a:t>and </a:t>
          </a:r>
          <a:r>
            <a:rPr lang="en-US" sz="1600" i="1" kern="1200" dirty="0" smtClean="0"/>
            <a:t>P</a:t>
          </a:r>
        </a:p>
        <a:p>
          <a:pPr marL="171450" lvl="1" indent="-171450" algn="l" defTabSz="711200">
            <a:lnSpc>
              <a:spcPct val="90000"/>
            </a:lnSpc>
            <a:spcBef>
              <a:spcPct val="0"/>
            </a:spcBef>
            <a:spcAft>
              <a:spcPct val="15000"/>
            </a:spcAft>
            <a:buChar char="••"/>
          </a:pPr>
          <a:r>
            <a:rPr lang="en-US" sz="1600" kern="1200" dirty="0" smtClean="0"/>
            <a:t>But “hard” to find </a:t>
          </a:r>
          <a:r>
            <a:rPr lang="en-US" sz="1600" i="1" kern="1200" dirty="0" smtClean="0"/>
            <a:t>k</a:t>
          </a:r>
          <a:r>
            <a:rPr lang="en-US" sz="1600" kern="1200" dirty="0" smtClean="0"/>
            <a:t> given </a:t>
          </a:r>
          <a:r>
            <a:rPr lang="en-US" sz="1600" i="1" kern="1200" dirty="0" smtClean="0"/>
            <a:t>Q, </a:t>
          </a:r>
          <a:r>
            <a:rPr lang="en-US" sz="1600" kern="1200" dirty="0" smtClean="0"/>
            <a:t>and </a:t>
          </a:r>
          <a:r>
            <a:rPr lang="en-US" sz="1600" i="1" kern="1200" dirty="0" smtClean="0"/>
            <a:t>P</a:t>
          </a:r>
        </a:p>
        <a:p>
          <a:pPr marL="171450" lvl="1" indent="-171450" algn="l" defTabSz="711200">
            <a:lnSpc>
              <a:spcPct val="90000"/>
            </a:lnSpc>
            <a:spcBef>
              <a:spcPct val="0"/>
            </a:spcBef>
            <a:spcAft>
              <a:spcPct val="15000"/>
            </a:spcAft>
            <a:buChar char="••"/>
          </a:pPr>
          <a:r>
            <a:rPr lang="en-US" sz="1600" kern="1200" dirty="0" smtClean="0"/>
            <a:t>Known as the elliptic curve logarithm problem</a:t>
          </a:r>
        </a:p>
      </dsp:txBody>
      <dsp:txXfrm>
        <a:off x="3017519" y="234950"/>
        <a:ext cx="3821430" cy="1409700"/>
      </dsp:txXfrm>
    </dsp:sp>
    <dsp:sp modelId="{2853AFA9-369E-FB4A-8EC0-DA8709AE940B}">
      <dsp:nvSpPr>
        <dsp:cNvPr id="0" name=""/>
        <dsp:cNvSpPr/>
      </dsp:nvSpPr>
      <dsp:spPr>
        <a:xfrm>
          <a:off x="0" y="0"/>
          <a:ext cx="3017520" cy="1879600"/>
        </a:xfrm>
        <a:prstGeom prst="roundRect">
          <a:avLst/>
        </a:prstGeom>
        <a:solidFill>
          <a:schemeClr val="accent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a:lnSpc>
              <a:spcPct val="90000"/>
            </a:lnSpc>
            <a:spcBef>
              <a:spcPct val="0"/>
            </a:spcBef>
            <a:spcAft>
              <a:spcPct val="35000"/>
            </a:spcAft>
          </a:pPr>
          <a:r>
            <a:rPr lang="en-US" sz="1700" kern="1200" dirty="0" smtClean="0">
              <a:effectLst>
                <a:outerShdw blurRad="38100" dist="38100" dir="2700000" algn="tl">
                  <a:srgbClr val="000000">
                    <a:alpha val="43137"/>
                  </a:srgbClr>
                </a:outerShdw>
              </a:effectLst>
            </a:rPr>
            <a:t>To form a cryptographic system using elliptic curves, we need to find a “hard problem” corresponding to factoring the product of two primes or taking the discrete logarithm</a:t>
          </a:r>
          <a:endParaRPr lang="en-US" sz="1700" kern="1200" dirty="0">
            <a:effectLst>
              <a:outerShdw blurRad="38100" dist="38100" dir="2700000" algn="tl">
                <a:srgbClr val="000000">
                  <a:alpha val="43137"/>
                </a:srgbClr>
              </a:outerShdw>
            </a:effectLst>
          </a:endParaRPr>
        </a:p>
      </dsp:txBody>
      <dsp:txXfrm>
        <a:off x="91755" y="91755"/>
        <a:ext cx="2834010" cy="1696090"/>
      </dsp:txXfrm>
    </dsp:sp>
  </dsp:spTree>
</dsp:drawing>
</file>

<file path=ppt/diagrams/layout1.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6C914AB1-A579-2F42-995D-A924F462C005}" type="slidenum">
              <a:rPr lang="en-AU"/>
              <a:pPr>
                <a:defRPr/>
              </a:pPr>
              <a:t>‹#›</a:t>
            </a:fld>
            <a:endParaRPr lang="en-AU" dirty="0"/>
          </a:p>
        </p:txBody>
      </p:sp>
    </p:spTree>
    <p:extLst>
      <p:ext uri="{BB962C8B-B14F-4D97-AF65-F5344CB8AC3E}">
        <p14:creationId xmlns:p14="http://schemas.microsoft.com/office/powerpoint/2010/main" val="25822542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31"/>
          <p:cNvSpPr>
            <a:spLocks noGrp="1" noChangeArrowheads="1"/>
          </p:cNvSpPr>
          <p:nvPr>
            <p:ph type="sldNum" sz="quarter" idx="5"/>
          </p:nvPr>
        </p:nvSpPr>
        <p:spPr>
          <a:noFill/>
        </p:spPr>
        <p:txBody>
          <a:bodyPr/>
          <a:lstStyle/>
          <a:p>
            <a:fld id="{E19838C5-D210-634D-AD54-173CE2131589}" type="slidenum">
              <a:rPr lang="en-AU">
                <a:latin typeface="Arial" pitchFamily="-84" charset="0"/>
              </a:rPr>
              <a:pPr/>
              <a:t>1</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 6/e, by William Stallings</a:t>
            </a:r>
            <a:r>
              <a:rPr lang="en-US" dirty="0" smtClean="0">
                <a:latin typeface="Arial" pitchFamily="-84" charset="0"/>
                <a:ea typeface="ＭＳ Ｐゴシック" pitchFamily="-84" charset="-128"/>
                <a:cs typeface="ＭＳ Ｐゴシック" pitchFamily="-84" charset="-128"/>
              </a:rPr>
              <a:t>, Chapter 10 – “</a:t>
            </a:r>
            <a:r>
              <a:rPr lang="en-AU" dirty="0" smtClean="0">
                <a:latin typeface="Arial" pitchFamily="-84" charset="0"/>
                <a:ea typeface="ＭＳ Ｐゴシック" pitchFamily="-84" charset="-128"/>
                <a:cs typeface="ＭＳ Ｐゴシック" pitchFamily="-84" charset="-128"/>
              </a:rPr>
              <a:t>Other Public-Key Cryptosystems</a:t>
            </a:r>
            <a:r>
              <a:rPr lang="en-US" dirty="0" smtClean="0">
                <a:latin typeface="Arial" pitchFamily="-84" charset="0"/>
                <a:ea typeface="ＭＳ Ｐゴシック" pitchFamily="-84" charset="-128"/>
                <a:cs typeface="ＭＳ Ｐゴシック" pitchFamily="-84" charset="-128"/>
              </a:rPr>
              <a:t>”.</a:t>
            </a:r>
            <a:endParaRPr lang="en-AU" dirty="0" smtClean="0">
              <a:latin typeface="Arial" pitchFamily="-84" charset="0"/>
              <a:ea typeface="ＭＳ Ｐゴシック" pitchFamily="-84" charset="-128"/>
              <a:cs typeface="ＭＳ Ｐゴシック" pitchFamily="-84" charset="-128"/>
            </a:endParaRPr>
          </a:p>
          <a:p>
            <a:pPr eaLnBrk="1" hangingPunct="1"/>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This chapter begins with a description of one of the earliest and simplest PKCS: Diffie-</a:t>
            </a:r>
          </a:p>
          <a:p>
            <a:r>
              <a:rPr lang="en-US" sz="1200" kern="1200" baseline="0" dirty="0" smtClean="0">
                <a:solidFill>
                  <a:schemeClr val="tx1"/>
                </a:solidFill>
                <a:latin typeface="Arial" charset="0"/>
                <a:ea typeface="ＭＳ Ｐゴシック" charset="-128"/>
                <a:cs typeface="ＭＳ Ｐゴシック" charset="-128"/>
              </a:rPr>
              <a:t>Hellman key exchange. The chapter then looks at another important scheme, the</a:t>
            </a:r>
          </a:p>
          <a:p>
            <a:r>
              <a:rPr lang="en-US" sz="1200" kern="1200" baseline="0" dirty="0" smtClean="0">
                <a:solidFill>
                  <a:schemeClr val="tx1"/>
                </a:solidFill>
                <a:latin typeface="Arial" charset="0"/>
                <a:ea typeface="ＭＳ Ｐゴシック" charset="-128"/>
                <a:cs typeface="ＭＳ Ｐゴシック" charset="-128"/>
              </a:rPr>
              <a:t>Elgamal PKCS. Next, we look at the increasingly important PKCS known as elliptic</a:t>
            </a:r>
          </a:p>
          <a:p>
            <a:r>
              <a:rPr lang="en-US" sz="1200" kern="1200" baseline="0" dirty="0" smtClean="0">
                <a:solidFill>
                  <a:schemeClr val="tx1"/>
                </a:solidFill>
                <a:latin typeface="Arial" charset="0"/>
                <a:ea typeface="ＭＳ Ｐゴシック" charset="-128"/>
                <a:cs typeface="ＭＳ Ｐゴシック" charset="-128"/>
              </a:rPr>
              <a:t>curve cryptography. Finally, the use of public-key algorithms for pseudorandom number</a:t>
            </a:r>
          </a:p>
          <a:p>
            <a:r>
              <a:rPr lang="en-US" sz="1200" kern="1200" baseline="0" dirty="0" smtClean="0">
                <a:solidFill>
                  <a:schemeClr val="tx1"/>
                </a:solidFill>
                <a:latin typeface="Arial" charset="0"/>
                <a:ea typeface="ＭＳ Ｐゴシック" charset="-128"/>
                <a:cs typeface="ＭＳ Ｐゴシック" charset="-128"/>
              </a:rPr>
              <a:t>generation is examined.</a:t>
            </a:r>
            <a:endParaRPr lang="en-US" dirty="0" smtClean="0">
              <a:latin typeface="Arial" pitchFamily="-84" charset="0"/>
              <a:ea typeface="ＭＳ Ｐゴシック" pitchFamily="-84" charset="-128"/>
              <a:cs typeface="ＭＳ Ｐゴシック" pitchFamily="-84" charset="-128"/>
            </a:endParaRPr>
          </a:p>
        </p:txBody>
      </p:sp>
      <p:sp>
        <p:nvSpPr>
          <p:cNvPr id="31748" name="Slide Number Placeholder 3"/>
          <p:cNvSpPr>
            <a:spLocks noGrp="1"/>
          </p:cNvSpPr>
          <p:nvPr>
            <p:ph type="sldNum" sz="quarter" idx="5"/>
          </p:nvPr>
        </p:nvSpPr>
        <p:spPr>
          <a:noFill/>
        </p:spPr>
        <p:txBody>
          <a:bodyPr/>
          <a:lstStyle/>
          <a:p>
            <a:fld id="{2110E2E4-7EF1-9740-B874-0923C8317D3F}"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6F3F715-01D8-564F-8DAD-71A9371F59BE}" type="slidenum">
              <a:rPr lang="en-AU">
                <a:latin typeface="Arial" pitchFamily="-84" charset="0"/>
              </a:rPr>
              <a:pPr/>
              <a:t>3</a:t>
            </a:fld>
            <a:endParaRPr lang="en-AU" dirty="0">
              <a:latin typeface="Arial" pitchFamily="-8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The first published public-key algorithm appeared in the seminal paper by Diffie</a:t>
            </a:r>
          </a:p>
          <a:p>
            <a:r>
              <a:rPr lang="en-US" sz="1200" kern="1200" baseline="0" dirty="0" smtClean="0">
                <a:solidFill>
                  <a:schemeClr val="tx1"/>
                </a:solidFill>
                <a:latin typeface="Arial" charset="0"/>
                <a:ea typeface="ＭＳ Ｐゴシック" charset="-128"/>
                <a:cs typeface="ＭＳ Ｐゴシック" charset="-128"/>
              </a:rPr>
              <a:t>and Hellman that defined public-key cryptography [DIFF76b] and is generally</a:t>
            </a:r>
          </a:p>
          <a:p>
            <a:r>
              <a:rPr lang="en-US" sz="1200" kern="1200" baseline="0" dirty="0" smtClean="0">
                <a:solidFill>
                  <a:schemeClr val="tx1"/>
                </a:solidFill>
                <a:latin typeface="Arial" charset="0"/>
                <a:ea typeface="ＭＳ Ｐゴシック" charset="-128"/>
                <a:cs typeface="ＭＳ Ｐゴシック" charset="-128"/>
              </a:rPr>
              <a:t>referred to as Diffie-Hellman key exchange.  A number of commercial products</a:t>
            </a:r>
          </a:p>
          <a:p>
            <a:r>
              <a:rPr lang="en-US" sz="1200" kern="1200" baseline="0" dirty="0" smtClean="0">
                <a:solidFill>
                  <a:schemeClr val="tx1"/>
                </a:solidFill>
                <a:latin typeface="Arial" charset="0"/>
                <a:ea typeface="ＭＳ Ｐゴシック" charset="-128"/>
                <a:cs typeface="ＭＳ Ｐゴシック" charset="-128"/>
              </a:rPr>
              <a:t>employ this key exchange technique.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purpose of the algorithm is to enable two users to securely exchange a</a:t>
            </a:r>
          </a:p>
          <a:p>
            <a:r>
              <a:rPr lang="en-US" sz="1200" kern="1200" baseline="0" dirty="0" smtClean="0">
                <a:solidFill>
                  <a:schemeClr val="tx1"/>
                </a:solidFill>
                <a:latin typeface="Arial" charset="0"/>
                <a:ea typeface="ＭＳ Ｐゴシック" charset="-128"/>
                <a:cs typeface="ＭＳ Ｐゴシック" charset="-128"/>
              </a:rPr>
              <a:t>key that can then be used for subsequent symmetric encryption of messages. The</a:t>
            </a:r>
          </a:p>
          <a:p>
            <a:r>
              <a:rPr lang="en-US" sz="1200" kern="1200" baseline="0" dirty="0" smtClean="0">
                <a:solidFill>
                  <a:schemeClr val="tx1"/>
                </a:solidFill>
                <a:latin typeface="Arial" charset="0"/>
                <a:ea typeface="ＭＳ Ｐゴシック" charset="-128"/>
                <a:cs typeface="ＭＳ Ｐゴシック" charset="-128"/>
              </a:rPr>
              <a:t>algorithm itself is limited to the exchange of secret values.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The Diffie-Hellman algorithm depends for its effectiveness on the difficulty of</a:t>
            </a:r>
          </a:p>
          <a:p>
            <a:r>
              <a:rPr lang="en-US" sz="1200" b="0" kern="1200" baseline="0" dirty="0" smtClean="0">
                <a:solidFill>
                  <a:schemeClr val="tx1"/>
                </a:solidFill>
                <a:latin typeface="Arial" charset="0"/>
                <a:ea typeface="ＭＳ Ｐゴシック" charset="-128"/>
                <a:cs typeface="ＭＳ Ｐゴシック" charset="-128"/>
              </a:rPr>
              <a:t>computing discrete logarithms. Briefly, we can define the discrete logarithm in the</a:t>
            </a:r>
          </a:p>
          <a:p>
            <a:r>
              <a:rPr lang="en-US" sz="1200" b="0" kern="1200" baseline="0" dirty="0" smtClean="0">
                <a:solidFill>
                  <a:schemeClr val="tx1"/>
                </a:solidFill>
                <a:latin typeface="Arial" charset="0"/>
                <a:ea typeface="ＭＳ Ｐゴシック" charset="-128"/>
                <a:cs typeface="ＭＳ Ｐゴシック" charset="-128"/>
              </a:rPr>
              <a:t>following way. Recall from Chapter 8 that a primitive root of a prime number </a:t>
            </a:r>
            <a:r>
              <a:rPr lang="en-US" sz="1200" b="0" i="1" kern="1200" baseline="0" dirty="0" smtClean="0">
                <a:solidFill>
                  <a:schemeClr val="tx1"/>
                </a:solidFill>
                <a:latin typeface="Arial" charset="0"/>
                <a:ea typeface="ＭＳ Ｐゴシック" charset="-128"/>
                <a:cs typeface="ＭＳ Ｐゴシック" charset="-128"/>
              </a:rPr>
              <a:t>p</a:t>
            </a:r>
            <a:r>
              <a:rPr lang="en-US" sz="1200" b="0" kern="1200" baseline="0" dirty="0" smtClean="0">
                <a:solidFill>
                  <a:schemeClr val="tx1"/>
                </a:solidFill>
                <a:latin typeface="Arial" charset="0"/>
                <a:ea typeface="ＭＳ Ｐゴシック" charset="-128"/>
                <a:cs typeface="ＭＳ Ｐゴシック" charset="-128"/>
              </a:rPr>
              <a:t> is</a:t>
            </a:r>
          </a:p>
          <a:p>
            <a:r>
              <a:rPr lang="en-US" sz="1200" b="0" kern="1200" baseline="0" dirty="0" smtClean="0">
                <a:solidFill>
                  <a:schemeClr val="tx1"/>
                </a:solidFill>
                <a:latin typeface="Arial" charset="0"/>
                <a:ea typeface="ＭＳ Ｐゴシック" charset="-128"/>
                <a:cs typeface="ＭＳ Ｐゴシック" charset="-128"/>
              </a:rPr>
              <a:t>one whose powers modulo </a:t>
            </a:r>
            <a:r>
              <a:rPr lang="en-US" sz="1200" b="0" i="1" kern="1200" baseline="0" dirty="0" smtClean="0">
                <a:solidFill>
                  <a:schemeClr val="tx1"/>
                </a:solidFill>
                <a:latin typeface="Arial" charset="0"/>
                <a:ea typeface="ＭＳ Ｐゴシック" charset="-128"/>
                <a:cs typeface="ＭＳ Ｐゴシック" charset="-128"/>
              </a:rPr>
              <a:t>p </a:t>
            </a:r>
            <a:r>
              <a:rPr lang="en-US" sz="1200" b="0" kern="1200" baseline="0" dirty="0" smtClean="0">
                <a:solidFill>
                  <a:schemeClr val="tx1"/>
                </a:solidFill>
                <a:latin typeface="Arial" charset="0"/>
                <a:ea typeface="ＭＳ Ｐゴシック" charset="-128"/>
                <a:cs typeface="ＭＳ Ｐゴシック" charset="-128"/>
              </a:rPr>
              <a:t>generate all the integers from 1 to </a:t>
            </a:r>
            <a:r>
              <a:rPr lang="en-US" sz="1200" b="0" i="1" kern="1200" baseline="0" dirty="0" smtClean="0">
                <a:solidFill>
                  <a:schemeClr val="tx1"/>
                </a:solidFill>
                <a:latin typeface="Arial" charset="0"/>
                <a:ea typeface="ＭＳ Ｐゴシック" charset="-128"/>
                <a:cs typeface="ＭＳ Ｐゴシック" charset="-128"/>
              </a:rPr>
              <a:t>p </a:t>
            </a:r>
            <a:r>
              <a:rPr lang="en-US" sz="1200" b="0" kern="1200" baseline="0" dirty="0" smtClean="0">
                <a:solidFill>
                  <a:schemeClr val="tx1"/>
                </a:solidFill>
                <a:latin typeface="Arial" charset="0"/>
                <a:ea typeface="ＭＳ Ｐゴシック" charset="-128"/>
                <a:cs typeface="ＭＳ Ｐゴシック" charset="-128"/>
              </a:rPr>
              <a:t>-  1. That is, if </a:t>
            </a:r>
            <a:r>
              <a:rPr lang="en-US" sz="1200" b="0" i="1" kern="1200" baseline="0" dirty="0" smtClean="0">
                <a:solidFill>
                  <a:schemeClr val="tx1"/>
                </a:solidFill>
                <a:latin typeface="Arial" charset="0"/>
                <a:ea typeface="ＭＳ Ｐゴシック" charset="-128"/>
                <a:cs typeface="ＭＳ Ｐゴシック" charset="-128"/>
              </a:rPr>
              <a:t>a</a:t>
            </a:r>
          </a:p>
          <a:p>
            <a:r>
              <a:rPr lang="en-US" sz="1200" b="0" kern="1200" baseline="0" dirty="0" smtClean="0">
                <a:solidFill>
                  <a:schemeClr val="tx1"/>
                </a:solidFill>
                <a:latin typeface="Arial" charset="0"/>
                <a:ea typeface="ＭＳ Ｐゴシック" charset="-128"/>
                <a:cs typeface="ＭＳ Ｐゴシック" charset="-128"/>
              </a:rPr>
              <a:t> is a primitive root of the prime number </a:t>
            </a:r>
            <a:r>
              <a:rPr lang="en-US" sz="1200" b="0" i="1" kern="1200" baseline="0" dirty="0" smtClean="0">
                <a:solidFill>
                  <a:schemeClr val="tx1"/>
                </a:solidFill>
                <a:latin typeface="Arial" charset="0"/>
                <a:ea typeface="ＭＳ Ｐゴシック" charset="-128"/>
                <a:cs typeface="ＭＳ Ｐゴシック" charset="-128"/>
              </a:rPr>
              <a:t>p</a:t>
            </a:r>
            <a:r>
              <a:rPr lang="en-US" sz="1200" b="0" kern="1200" baseline="0" dirty="0" smtClean="0">
                <a:solidFill>
                  <a:schemeClr val="tx1"/>
                </a:solidFill>
                <a:latin typeface="Arial" charset="0"/>
                <a:ea typeface="ＭＳ Ｐゴシック" charset="-128"/>
                <a:cs typeface="ＭＳ Ｐゴシック" charset="-128"/>
              </a:rPr>
              <a:t> , then the numbers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i="1" kern="1200" baseline="0" dirty="0" smtClean="0">
                <a:solidFill>
                  <a:schemeClr val="tx1"/>
                </a:solidFill>
                <a:latin typeface="Arial" charset="0"/>
                <a:ea typeface="ＭＳ Ｐゴシック" charset="-128"/>
                <a:cs typeface="ＭＳ Ｐゴシック" charset="-128"/>
              </a:rPr>
              <a:t>a</a:t>
            </a:r>
            <a:r>
              <a:rPr lang="en-US" sz="1200" b="0" kern="1200" baseline="0" dirty="0" smtClean="0">
                <a:solidFill>
                  <a:schemeClr val="tx1"/>
                </a:solidFill>
                <a:latin typeface="Arial" charset="0"/>
                <a:ea typeface="ＭＳ Ｐゴシック" charset="-128"/>
                <a:cs typeface="ＭＳ Ｐゴシック" charset="-128"/>
              </a:rPr>
              <a:t>  mod </a:t>
            </a:r>
            <a:r>
              <a:rPr lang="en-US" sz="1200" b="0" i="1" kern="1200" baseline="0" dirty="0" smtClean="0">
                <a:solidFill>
                  <a:schemeClr val="tx1"/>
                </a:solidFill>
                <a:latin typeface="Arial" charset="0"/>
                <a:ea typeface="ＭＳ Ｐゴシック" charset="-128"/>
                <a:cs typeface="ＭＳ Ｐゴシック" charset="-128"/>
              </a:rPr>
              <a:t>p , a</a:t>
            </a:r>
            <a:r>
              <a:rPr lang="en-US" sz="1200" b="0" i="1" kern="1200" baseline="30000" dirty="0" smtClean="0">
                <a:solidFill>
                  <a:schemeClr val="tx1"/>
                </a:solidFill>
                <a:latin typeface="Arial" charset="0"/>
                <a:ea typeface="ＭＳ Ｐゴシック" charset="-128"/>
                <a:cs typeface="ＭＳ Ｐゴシック" charset="-128"/>
              </a:rPr>
              <a:t>2</a:t>
            </a:r>
            <a:r>
              <a:rPr lang="en-US" sz="1200" b="0" i="1" kern="1200" baseline="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mod </a:t>
            </a:r>
            <a:r>
              <a:rPr lang="en-US" sz="1200" b="0" i="1" kern="1200" baseline="0" dirty="0" smtClean="0">
                <a:solidFill>
                  <a:schemeClr val="tx1"/>
                </a:solidFill>
                <a:latin typeface="Arial" charset="0"/>
                <a:ea typeface="ＭＳ Ｐゴシック" charset="-128"/>
                <a:cs typeface="ＭＳ Ｐゴシック" charset="-128"/>
              </a:rPr>
              <a:t>p</a:t>
            </a:r>
            <a:r>
              <a:rPr lang="en-US" sz="1200" b="0" kern="1200" baseline="0" dirty="0" smtClean="0">
                <a:solidFill>
                  <a:schemeClr val="tx1"/>
                </a:solidFill>
                <a:latin typeface="Arial" charset="0"/>
                <a:ea typeface="ＭＳ Ｐゴシック" charset="-128"/>
                <a:cs typeface="ＭＳ Ｐゴシック" charset="-128"/>
              </a:rPr>
              <a:t> , . . .  , </a:t>
            </a:r>
            <a:r>
              <a:rPr lang="en-US" sz="1200" b="0" i="1" kern="1200" baseline="0" dirty="0" smtClean="0">
                <a:solidFill>
                  <a:schemeClr val="tx1"/>
                </a:solidFill>
                <a:latin typeface="Arial" charset="0"/>
                <a:ea typeface="ＭＳ Ｐゴシック" charset="-128"/>
                <a:cs typeface="ＭＳ Ｐゴシック" charset="-128"/>
              </a:rPr>
              <a:t>a</a:t>
            </a:r>
            <a:r>
              <a:rPr lang="en-US" sz="1200" b="0" i="1" kern="1200" baseline="30000" dirty="0" smtClean="0">
                <a:solidFill>
                  <a:schemeClr val="tx1"/>
                </a:solidFill>
                <a:latin typeface="Arial" charset="0"/>
                <a:ea typeface="ＭＳ Ｐゴシック" charset="-128"/>
                <a:cs typeface="ＭＳ Ｐゴシック" charset="-128"/>
              </a:rPr>
              <a:t>p-1  </a:t>
            </a:r>
            <a:r>
              <a:rPr lang="en-US" sz="1200" b="0" kern="1200" baseline="0" dirty="0" smtClean="0">
                <a:solidFill>
                  <a:schemeClr val="tx1"/>
                </a:solidFill>
                <a:latin typeface="Arial" charset="0"/>
                <a:ea typeface="ＭＳ Ｐゴシック" charset="-128"/>
                <a:cs typeface="ＭＳ Ｐゴシック" charset="-128"/>
              </a:rPr>
              <a:t>mod </a:t>
            </a:r>
            <a:r>
              <a:rPr lang="en-US" sz="1200" b="0" i="1" kern="1200" baseline="0" dirty="0" smtClean="0">
                <a:solidFill>
                  <a:schemeClr val="tx1"/>
                </a:solidFill>
                <a:latin typeface="Arial" charset="0"/>
                <a:ea typeface="ＭＳ Ｐゴシック" charset="-128"/>
                <a:cs typeface="ＭＳ Ｐゴシック" charset="-128"/>
              </a:rPr>
              <a:t>p</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are distinct and consist of the integers from 1 through </a:t>
            </a:r>
            <a:r>
              <a:rPr lang="en-US" sz="1200" b="0" i="1" kern="1200" baseline="0" dirty="0" smtClean="0">
                <a:solidFill>
                  <a:schemeClr val="tx1"/>
                </a:solidFill>
                <a:latin typeface="Arial" charset="0"/>
                <a:ea typeface="ＭＳ Ｐゴシック" charset="-128"/>
                <a:cs typeface="ＭＳ Ｐゴシック" charset="-128"/>
              </a:rPr>
              <a:t>p -  1 </a:t>
            </a:r>
            <a:r>
              <a:rPr lang="en-US" sz="1200" b="0" kern="1200" baseline="0" dirty="0" smtClean="0">
                <a:solidFill>
                  <a:schemeClr val="tx1"/>
                </a:solidFill>
                <a:latin typeface="Arial" charset="0"/>
                <a:ea typeface="ＭＳ Ｐゴシック" charset="-128"/>
                <a:cs typeface="ＭＳ Ｐゴシック" charset="-128"/>
              </a:rPr>
              <a:t>in some permutation.</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For any integer </a:t>
            </a:r>
            <a:r>
              <a:rPr lang="en-US" sz="1200" b="0" i="1" kern="1200" baseline="0" dirty="0" smtClean="0">
                <a:solidFill>
                  <a:schemeClr val="tx1"/>
                </a:solidFill>
                <a:latin typeface="Arial" charset="0"/>
                <a:ea typeface="ＭＳ Ｐゴシック" charset="-128"/>
                <a:cs typeface="ＭＳ Ｐゴシック" charset="-128"/>
              </a:rPr>
              <a:t>b</a:t>
            </a:r>
            <a:r>
              <a:rPr lang="en-US" sz="1200" b="0" kern="1200" baseline="0" dirty="0" smtClean="0">
                <a:solidFill>
                  <a:schemeClr val="tx1"/>
                </a:solidFill>
                <a:latin typeface="Arial" charset="0"/>
                <a:ea typeface="ＭＳ Ｐゴシック" charset="-128"/>
                <a:cs typeface="ＭＳ Ｐゴシック" charset="-128"/>
              </a:rPr>
              <a:t>  and a primitive root </a:t>
            </a:r>
            <a:r>
              <a:rPr lang="en-US" sz="1200" b="0" i="1" kern="1200" baseline="0" dirty="0" smtClean="0">
                <a:solidFill>
                  <a:schemeClr val="tx1"/>
                </a:solidFill>
                <a:latin typeface="Arial" charset="0"/>
                <a:ea typeface="ＭＳ Ｐゴシック" charset="-128"/>
                <a:cs typeface="ＭＳ Ｐゴシック" charset="-128"/>
              </a:rPr>
              <a:t>a </a:t>
            </a:r>
            <a:r>
              <a:rPr lang="en-US" sz="1200" b="0" kern="1200" baseline="0" dirty="0" smtClean="0">
                <a:solidFill>
                  <a:schemeClr val="tx1"/>
                </a:solidFill>
                <a:latin typeface="Arial" charset="0"/>
                <a:ea typeface="ＭＳ Ｐゴシック" charset="-128"/>
                <a:cs typeface="ＭＳ Ｐゴシック" charset="-128"/>
              </a:rPr>
              <a:t>of prime number </a:t>
            </a:r>
            <a:r>
              <a:rPr lang="en-US" sz="1200" b="0" i="1" kern="1200" baseline="0" dirty="0" smtClean="0">
                <a:solidFill>
                  <a:schemeClr val="tx1"/>
                </a:solidFill>
                <a:latin typeface="Arial" charset="0"/>
                <a:ea typeface="ＭＳ Ｐゴシック" charset="-128"/>
                <a:cs typeface="ＭＳ Ｐゴシック" charset="-128"/>
              </a:rPr>
              <a:t>p </a:t>
            </a:r>
            <a:r>
              <a:rPr lang="en-US" sz="1200" b="0" kern="1200" baseline="0" dirty="0" smtClean="0">
                <a:solidFill>
                  <a:schemeClr val="tx1"/>
                </a:solidFill>
                <a:latin typeface="Arial" charset="0"/>
                <a:ea typeface="ＭＳ Ｐゴシック" charset="-128"/>
                <a:cs typeface="ＭＳ Ｐゴシック" charset="-128"/>
              </a:rPr>
              <a:t>, we can find a</a:t>
            </a:r>
          </a:p>
          <a:p>
            <a:r>
              <a:rPr lang="en-US" sz="1200" b="0" kern="1200" baseline="0" dirty="0" smtClean="0">
                <a:solidFill>
                  <a:schemeClr val="tx1"/>
                </a:solidFill>
                <a:latin typeface="Arial" charset="0"/>
                <a:ea typeface="ＭＳ Ｐゴシック" charset="-128"/>
                <a:cs typeface="ＭＳ Ｐゴシック" charset="-128"/>
              </a:rPr>
              <a:t>unique exponent</a:t>
            </a:r>
            <a:r>
              <a:rPr lang="en-US" sz="1200" b="0" i="1" kern="1200" baseline="0" dirty="0" smtClean="0">
                <a:solidFill>
                  <a:schemeClr val="tx1"/>
                </a:solidFill>
                <a:latin typeface="Arial" charset="0"/>
                <a:ea typeface="ＭＳ Ｐゴシック" charset="-128"/>
                <a:cs typeface="ＭＳ Ｐゴシック" charset="-128"/>
              </a:rPr>
              <a:t> i </a:t>
            </a:r>
            <a:r>
              <a:rPr lang="en-US" sz="1200" b="0" kern="1200" baseline="0" dirty="0" smtClean="0">
                <a:solidFill>
                  <a:schemeClr val="tx1"/>
                </a:solidFill>
                <a:latin typeface="Arial" charset="0"/>
                <a:ea typeface="ＭＳ Ｐゴシック" charset="-128"/>
                <a:cs typeface="ＭＳ Ｐゴシック" charset="-128"/>
              </a:rPr>
              <a:t>such that</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i="1" kern="1200" baseline="0" dirty="0" smtClean="0">
                <a:solidFill>
                  <a:schemeClr val="tx1"/>
                </a:solidFill>
                <a:latin typeface="Arial" charset="0"/>
                <a:ea typeface="ＭＳ Ｐゴシック" charset="-128"/>
                <a:cs typeface="ＭＳ Ｐゴシック" charset="-128"/>
              </a:rPr>
              <a:t>b = a</a:t>
            </a:r>
            <a:r>
              <a:rPr lang="en-US" sz="1200" b="0" i="1" kern="1200" baseline="30000" dirty="0" smtClean="0">
                <a:solidFill>
                  <a:schemeClr val="tx1"/>
                </a:solidFill>
                <a:latin typeface="Arial" charset="0"/>
                <a:ea typeface="ＭＳ Ｐゴシック" charset="-128"/>
                <a:cs typeface="ＭＳ Ｐゴシック" charset="-128"/>
              </a:rPr>
              <a:t>i</a:t>
            </a:r>
            <a:r>
              <a:rPr lang="en-US" sz="1200" b="0" i="1" kern="1200" baseline="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(mod </a:t>
            </a:r>
            <a:r>
              <a:rPr lang="en-US" sz="1200" b="0" i="1" kern="1200" baseline="0" dirty="0" smtClean="0">
                <a:solidFill>
                  <a:schemeClr val="tx1"/>
                </a:solidFill>
                <a:latin typeface="Arial" charset="0"/>
                <a:ea typeface="ＭＳ Ｐゴシック" charset="-128"/>
                <a:cs typeface="ＭＳ Ｐゴシック" charset="-128"/>
              </a:rPr>
              <a:t>p</a:t>
            </a:r>
            <a:r>
              <a:rPr lang="en-US" sz="1200" b="0" kern="1200" baseline="0" dirty="0" smtClean="0">
                <a:solidFill>
                  <a:schemeClr val="tx1"/>
                </a:solidFill>
                <a:latin typeface="Arial" charset="0"/>
                <a:ea typeface="ＭＳ Ｐゴシック" charset="-128"/>
                <a:cs typeface="ＭＳ Ｐゴシック" charset="-128"/>
              </a:rPr>
              <a:t> ) where </a:t>
            </a:r>
            <a:r>
              <a:rPr lang="en-US" sz="1200" b="0" i="1" kern="1200" baseline="0" dirty="0" smtClean="0">
                <a:solidFill>
                  <a:schemeClr val="tx1"/>
                </a:solidFill>
                <a:latin typeface="Arial" charset="0"/>
                <a:ea typeface="ＭＳ Ｐゴシック" charset="-128"/>
                <a:cs typeface="ＭＳ Ｐゴシック" charset="-128"/>
              </a:rPr>
              <a:t>0 ≤  i ≤ (p -  1)</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The exponent </a:t>
            </a:r>
            <a:r>
              <a:rPr lang="en-US" sz="1200" b="0" i="1" kern="1200" baseline="0" dirty="0" smtClean="0">
                <a:solidFill>
                  <a:schemeClr val="tx1"/>
                </a:solidFill>
                <a:latin typeface="Arial" charset="0"/>
                <a:ea typeface="ＭＳ Ｐゴシック" charset="-128"/>
                <a:cs typeface="ＭＳ Ｐゴシック" charset="-128"/>
              </a:rPr>
              <a:t>i</a:t>
            </a:r>
            <a:r>
              <a:rPr lang="en-US" sz="1200" b="0" kern="1200" baseline="0" dirty="0" smtClean="0">
                <a:solidFill>
                  <a:schemeClr val="tx1"/>
                </a:solidFill>
                <a:latin typeface="Arial" charset="0"/>
                <a:ea typeface="ＭＳ Ｐゴシック" charset="-128"/>
                <a:cs typeface="ＭＳ Ｐゴシック" charset="-128"/>
              </a:rPr>
              <a:t>  is referred to as the discrete logarithm  of </a:t>
            </a:r>
            <a:r>
              <a:rPr lang="en-US" sz="1200" b="0" i="1" kern="1200" baseline="0" dirty="0" smtClean="0">
                <a:solidFill>
                  <a:schemeClr val="tx1"/>
                </a:solidFill>
                <a:latin typeface="Arial" charset="0"/>
                <a:ea typeface="ＭＳ Ｐゴシック" charset="-128"/>
                <a:cs typeface="ＭＳ Ｐゴシック" charset="-128"/>
              </a:rPr>
              <a:t>b</a:t>
            </a:r>
            <a:r>
              <a:rPr lang="en-US" sz="1200" b="0" kern="1200" baseline="0" dirty="0" smtClean="0">
                <a:solidFill>
                  <a:schemeClr val="tx1"/>
                </a:solidFill>
                <a:latin typeface="Arial" charset="0"/>
                <a:ea typeface="ＭＳ Ｐゴシック" charset="-128"/>
                <a:cs typeface="ＭＳ Ｐゴシック" charset="-128"/>
              </a:rPr>
              <a:t>  for the base </a:t>
            </a:r>
            <a:r>
              <a:rPr lang="en-US" sz="1200" b="0" i="1" kern="1200" baseline="0" dirty="0" smtClean="0">
                <a:solidFill>
                  <a:schemeClr val="tx1"/>
                </a:solidFill>
                <a:latin typeface="Arial" charset="0"/>
                <a:ea typeface="ＭＳ Ｐゴシック" charset="-128"/>
                <a:cs typeface="ＭＳ Ｐゴシック" charset="-128"/>
              </a:rPr>
              <a:t>a</a:t>
            </a:r>
            <a:r>
              <a:rPr lang="en-US" sz="1200" b="0" kern="1200" baseline="0" dirty="0" smtClean="0">
                <a:solidFill>
                  <a:schemeClr val="tx1"/>
                </a:solidFill>
                <a:latin typeface="Arial" charset="0"/>
                <a:ea typeface="ＭＳ Ｐゴシック" charset="-128"/>
                <a:cs typeface="ＭＳ Ｐゴシック" charset="-128"/>
              </a:rPr>
              <a:t> , mod </a:t>
            </a:r>
            <a:r>
              <a:rPr lang="en-US" sz="1200" b="0" i="1" kern="1200" baseline="0" dirty="0" smtClean="0">
                <a:solidFill>
                  <a:schemeClr val="tx1"/>
                </a:solidFill>
                <a:latin typeface="Arial" charset="0"/>
                <a:ea typeface="ＭＳ Ｐゴシック" charset="-128"/>
                <a:cs typeface="ＭＳ Ｐゴシック" charset="-128"/>
              </a:rPr>
              <a:t>p</a:t>
            </a:r>
            <a:r>
              <a:rPr lang="en-US" sz="1200" b="0" kern="1200" baseline="0" dirty="0" smtClean="0">
                <a:solidFill>
                  <a:schemeClr val="tx1"/>
                </a:solidFill>
                <a:latin typeface="Arial" charset="0"/>
                <a:ea typeface="ＭＳ Ｐゴシック" charset="-128"/>
                <a:cs typeface="ＭＳ Ｐゴシック" charset="-128"/>
              </a:rPr>
              <a:t> .</a:t>
            </a:r>
          </a:p>
          <a:p>
            <a:r>
              <a:rPr lang="en-US" sz="1200" b="0" kern="1200" baseline="0" dirty="0" smtClean="0">
                <a:solidFill>
                  <a:schemeClr val="tx1"/>
                </a:solidFill>
                <a:latin typeface="Arial" charset="0"/>
                <a:ea typeface="ＭＳ Ｐゴシック" charset="-128"/>
                <a:cs typeface="ＭＳ Ｐゴシック" charset="-128"/>
              </a:rPr>
              <a:t>We express this value as dlog</a:t>
            </a:r>
            <a:r>
              <a:rPr lang="en-US" sz="1200" b="0" kern="1200" baseline="-25000" dirty="0" smtClean="0">
                <a:solidFill>
                  <a:schemeClr val="tx1"/>
                </a:solidFill>
                <a:latin typeface="Arial" charset="0"/>
                <a:ea typeface="ＭＳ Ｐゴシック" charset="-128"/>
                <a:cs typeface="ＭＳ Ｐゴシック" charset="-128"/>
              </a:rPr>
              <a:t>a,p </a:t>
            </a:r>
            <a:r>
              <a:rPr lang="en-US" sz="1200" b="0" kern="1200" baseline="0" dirty="0" smtClean="0">
                <a:solidFill>
                  <a:schemeClr val="tx1"/>
                </a:solidFill>
                <a:latin typeface="Arial" charset="0"/>
                <a:ea typeface="ＭＳ Ｐゴシック" charset="-128"/>
                <a:cs typeface="ＭＳ Ｐゴシック" charset="-128"/>
              </a:rPr>
              <a:t>(</a:t>
            </a:r>
            <a:r>
              <a:rPr lang="en-US" sz="1200" b="0" i="1" kern="1200" baseline="0" dirty="0" smtClean="0">
                <a:solidFill>
                  <a:schemeClr val="tx1"/>
                </a:solidFill>
                <a:latin typeface="Arial" charset="0"/>
                <a:ea typeface="ＭＳ Ｐゴシック" charset="-128"/>
                <a:cs typeface="ＭＳ Ｐゴシック" charset="-128"/>
              </a:rPr>
              <a:t>b</a:t>
            </a:r>
            <a:r>
              <a:rPr lang="en-US" sz="1200" b="0" kern="1200" baseline="0" dirty="0" smtClean="0">
                <a:solidFill>
                  <a:schemeClr val="tx1"/>
                </a:solidFill>
                <a:latin typeface="Arial" charset="0"/>
                <a:ea typeface="ＭＳ Ｐゴシック" charset="-128"/>
                <a:cs typeface="ＭＳ Ｐゴシック" charset="-128"/>
              </a:rPr>
              <a:t> ). See Chapter 8 for an extended discussion of</a:t>
            </a:r>
          </a:p>
          <a:p>
            <a:r>
              <a:rPr lang="en-US" sz="1200" b="0" kern="1200" baseline="0" dirty="0" smtClean="0">
                <a:solidFill>
                  <a:schemeClr val="tx1"/>
                </a:solidFill>
                <a:latin typeface="Arial" charset="0"/>
                <a:ea typeface="ＭＳ Ｐゴシック" charset="-128"/>
                <a:cs typeface="ＭＳ Ｐゴシック" charset="-128"/>
              </a:rPr>
              <a:t>discrete logarithms.</a:t>
            </a:r>
            <a:endParaRPr lang="en-AU" b="0" dirty="0" smtClean="0">
              <a:latin typeface="Arial" pitchFamily="-84" charset="0"/>
              <a:ea typeface="Arial" pitchFamily="-84" charset="0"/>
              <a:cs typeface="Arial" pitchFamily="-8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Figure 10.1 summarizes the Diffie-Hellman key exchange algorithm. For this</a:t>
            </a:r>
          </a:p>
          <a:p>
            <a:r>
              <a:rPr lang="en-US" sz="1200" kern="1200" baseline="0" dirty="0" smtClean="0">
                <a:solidFill>
                  <a:schemeClr val="tx1"/>
                </a:solidFill>
                <a:latin typeface="Arial" charset="0"/>
                <a:ea typeface="ＭＳ Ｐゴシック" charset="-128"/>
                <a:cs typeface="ＭＳ Ｐゴシック" charset="-128"/>
              </a:rPr>
              <a:t>scheme, there are two publicly known numbers: a prime number </a:t>
            </a:r>
            <a:r>
              <a:rPr lang="en-US" sz="1200" i="1" kern="1200" baseline="0" dirty="0" smtClean="0">
                <a:solidFill>
                  <a:schemeClr val="tx1"/>
                </a:solidFill>
                <a:latin typeface="Arial" charset="0"/>
                <a:ea typeface="ＭＳ Ｐゴシック" charset="-128"/>
                <a:cs typeface="ＭＳ Ｐゴシック" charset="-128"/>
              </a:rPr>
              <a:t>q </a:t>
            </a:r>
            <a:r>
              <a:rPr lang="en-US" sz="1200" kern="1200" baseline="0" dirty="0" smtClean="0">
                <a:solidFill>
                  <a:schemeClr val="tx1"/>
                </a:solidFill>
                <a:latin typeface="Arial" charset="0"/>
                <a:ea typeface="ＭＳ Ｐゴシック" charset="-128"/>
                <a:cs typeface="ＭＳ Ｐゴシック" charset="-128"/>
              </a:rPr>
              <a:t> and an integer </a:t>
            </a:r>
            <a:r>
              <a:rPr lang="en-US" sz="1200" i="1" kern="1200" baseline="0" dirty="0" smtClean="0">
                <a:solidFill>
                  <a:schemeClr val="tx1"/>
                </a:solidFill>
                <a:latin typeface="Arial" charset="0"/>
                <a:ea typeface="ＭＳ Ｐゴシック" charset="-128"/>
                <a:cs typeface="ＭＳ Ｐゴシック" charset="-128"/>
              </a:rPr>
              <a:t>a</a:t>
            </a:r>
          </a:p>
          <a:p>
            <a:r>
              <a:rPr lang="en-US" sz="1200" kern="1200" baseline="0" dirty="0" smtClean="0">
                <a:solidFill>
                  <a:schemeClr val="tx1"/>
                </a:solidFill>
                <a:latin typeface="Arial" charset="0"/>
                <a:ea typeface="ＭＳ Ｐゴシック" charset="-128"/>
                <a:cs typeface="ＭＳ Ｐゴシック" charset="-128"/>
              </a:rPr>
              <a:t> that is a primitive root of </a:t>
            </a:r>
            <a:r>
              <a:rPr lang="en-US" sz="1200" i="1" kern="1200" baseline="0" dirty="0" smtClean="0">
                <a:solidFill>
                  <a:schemeClr val="tx1"/>
                </a:solidFill>
                <a:latin typeface="Arial" charset="0"/>
                <a:ea typeface="ＭＳ Ｐゴシック" charset="-128"/>
                <a:cs typeface="ＭＳ Ｐゴシック" charset="-128"/>
              </a:rPr>
              <a:t>q</a:t>
            </a:r>
            <a:r>
              <a:rPr lang="en-US" sz="1200" kern="1200" baseline="0" dirty="0" smtClean="0">
                <a:solidFill>
                  <a:schemeClr val="tx1"/>
                </a:solidFill>
                <a:latin typeface="Arial" charset="0"/>
                <a:ea typeface="ＭＳ Ｐゴシック" charset="-128"/>
                <a:cs typeface="ＭＳ Ｐゴシック" charset="-128"/>
              </a:rPr>
              <a:t> . </a:t>
            </a:r>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4</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500A6822-6F76-464F-8448-071F9DB1E704}" type="slidenum">
              <a:rPr lang="en-AU">
                <a:latin typeface="Arial" pitchFamily="-84" charset="0"/>
              </a:rPr>
              <a:pPr/>
              <a:t>6</a:t>
            </a:fld>
            <a:endParaRPr lang="en-AU" dirty="0">
              <a:latin typeface="Arial" pitchFamily="-84" charset="0"/>
            </a:endParaRPr>
          </a:p>
        </p:txBody>
      </p:sp>
      <p:sp>
        <p:nvSpPr>
          <p:cNvPr id="29699" name="Rectangle 1026"/>
          <p:cNvSpPr>
            <a:spLocks noGrp="1" noRot="1" noChangeAspect="1" noChangeArrowheads="1"/>
          </p:cNvSpPr>
          <p:nvPr>
            <p:ph type="sldImg"/>
          </p:nvPr>
        </p:nvSpPr>
        <p:spPr>
          <a:solidFill>
            <a:srgbClr val="FFFFFF"/>
          </a:solidFill>
          <a:ln/>
        </p:spPr>
      </p:sp>
      <p:sp>
        <p:nvSpPr>
          <p:cNvPr id="29700" name="Rectangle 1027"/>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Now consider a simple protocol that makes use of the Diffie-Hellman calculation. Suppose that user A wishes to set up a connection with user B and use a secret key to encrypt messages on that connection. User A can generate a one-time private key </a:t>
            </a:r>
            <a:r>
              <a:rPr lang="en-US" i="1" dirty="0" smtClean="0">
                <a:latin typeface="Arial" pitchFamily="-84" charset="0"/>
                <a:ea typeface="ＭＳ Ｐゴシック" pitchFamily="-84" charset="-128"/>
                <a:cs typeface="ＭＳ Ｐゴシック" pitchFamily="-84" charset="-128"/>
              </a:rPr>
              <a:t>X</a:t>
            </a:r>
            <a:r>
              <a:rPr lang="en-US" i="1" baseline="-25000" dirty="0" smtClean="0">
                <a:latin typeface="Arial" pitchFamily="-84" charset="0"/>
                <a:ea typeface="ＭＳ Ｐゴシック" pitchFamily="-84" charset="-128"/>
                <a:cs typeface="ＭＳ Ｐゴシック" pitchFamily="-84" charset="-128"/>
              </a:rPr>
              <a:t>A</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calculate </a:t>
            </a:r>
            <a:r>
              <a:rPr lang="en-US" i="1" dirty="0" smtClean="0">
                <a:latin typeface="Arial" pitchFamily="-84" charset="0"/>
                <a:ea typeface="ＭＳ Ｐゴシック" pitchFamily="-84" charset="-128"/>
                <a:cs typeface="ＭＳ Ｐゴシック" pitchFamily="-84" charset="-128"/>
              </a:rPr>
              <a:t>Y</a:t>
            </a:r>
            <a:r>
              <a:rPr lang="en-US" i="1" baseline="-25000" dirty="0" smtClean="0">
                <a:latin typeface="Arial" pitchFamily="-84" charset="0"/>
                <a:ea typeface="ＭＳ Ｐゴシック" pitchFamily="-84" charset="-128"/>
                <a:cs typeface="ＭＳ Ｐゴシック" pitchFamily="-84" charset="-128"/>
              </a:rPr>
              <a:t>A</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and send that to user </a:t>
            </a:r>
            <a:r>
              <a:rPr lang="en-US" i="1" dirty="0" smtClean="0">
                <a:latin typeface="Arial" pitchFamily="-84" charset="0"/>
                <a:ea typeface="ＭＳ Ｐゴシック" pitchFamily="-84" charset="-128"/>
                <a:cs typeface="ＭＳ Ｐゴシック" pitchFamily="-84" charset="-128"/>
              </a:rPr>
              <a:t>B. </a:t>
            </a:r>
            <a:r>
              <a:rPr lang="en-US" dirty="0" smtClean="0">
                <a:latin typeface="Arial" pitchFamily="-84" charset="0"/>
                <a:ea typeface="ＭＳ Ｐゴシック" pitchFamily="-84" charset="-128"/>
                <a:cs typeface="ＭＳ Ｐゴシック" pitchFamily="-84" charset="-128"/>
              </a:rPr>
              <a:t>User </a:t>
            </a:r>
            <a:r>
              <a:rPr lang="en-US" i="1" dirty="0" smtClean="0">
                <a:latin typeface="Arial" pitchFamily="-84" charset="0"/>
                <a:ea typeface="ＭＳ Ｐゴシック" pitchFamily="-84" charset="-128"/>
                <a:cs typeface="ＭＳ Ｐゴシック" pitchFamily="-84" charset="-128"/>
              </a:rPr>
              <a:t>B </a:t>
            </a:r>
            <a:r>
              <a:rPr lang="en-US" dirty="0" smtClean="0">
                <a:latin typeface="Arial" pitchFamily="-84" charset="0"/>
                <a:ea typeface="ＭＳ Ｐゴシック" pitchFamily="-84" charset="-128"/>
                <a:cs typeface="ＭＳ Ｐゴシック" pitchFamily="-84" charset="-128"/>
              </a:rPr>
              <a:t>responds by generating a private value </a:t>
            </a:r>
            <a:r>
              <a:rPr lang="en-US" i="1" dirty="0" smtClean="0">
                <a:latin typeface="Arial" pitchFamily="-84" charset="0"/>
                <a:ea typeface="ＭＳ Ｐゴシック" pitchFamily="-84" charset="-128"/>
                <a:cs typeface="ＭＳ Ｐゴシック" pitchFamily="-84" charset="-128"/>
              </a:rPr>
              <a:t>X</a:t>
            </a:r>
            <a:r>
              <a:rPr lang="en-US" i="1" baseline="-25000" dirty="0" smtClean="0">
                <a:latin typeface="Arial" pitchFamily="-84" charset="0"/>
                <a:ea typeface="ＭＳ Ｐゴシック" pitchFamily="-84" charset="-128"/>
                <a:cs typeface="ＭＳ Ｐゴシック" pitchFamily="-84" charset="-128"/>
              </a:rPr>
              <a:t>B</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calculating </a:t>
            </a:r>
            <a:r>
              <a:rPr lang="en-US" i="1" dirty="0" smtClean="0">
                <a:latin typeface="Arial" pitchFamily="-84" charset="0"/>
                <a:ea typeface="ＭＳ Ｐゴシック" pitchFamily="-84" charset="-128"/>
                <a:cs typeface="ＭＳ Ｐゴシック" pitchFamily="-84" charset="-128"/>
              </a:rPr>
              <a:t>Y</a:t>
            </a:r>
            <a:r>
              <a:rPr lang="en-US" i="1" baseline="-25000" dirty="0" smtClean="0">
                <a:latin typeface="Arial" pitchFamily="-84" charset="0"/>
                <a:ea typeface="ＭＳ Ｐゴシック" pitchFamily="-84" charset="-128"/>
                <a:cs typeface="ＭＳ Ｐゴシック" pitchFamily="-84" charset="-128"/>
              </a:rPr>
              <a:t>B</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and sending </a:t>
            </a:r>
            <a:r>
              <a:rPr lang="en-US" i="1" dirty="0" smtClean="0">
                <a:latin typeface="Arial" pitchFamily="-84" charset="0"/>
                <a:ea typeface="ＭＳ Ｐゴシック" pitchFamily="-84" charset="-128"/>
                <a:cs typeface="ＭＳ Ｐゴシック" pitchFamily="-84" charset="-128"/>
              </a:rPr>
              <a:t>Y</a:t>
            </a:r>
            <a:r>
              <a:rPr lang="en-US" i="1" baseline="-25000" dirty="0" smtClean="0">
                <a:latin typeface="Arial" pitchFamily="-84" charset="0"/>
                <a:ea typeface="ＭＳ Ｐゴシック" pitchFamily="-84" charset="-128"/>
                <a:cs typeface="ＭＳ Ｐゴシック" pitchFamily="-84" charset="-128"/>
              </a:rPr>
              <a:t>B</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to user </a:t>
            </a:r>
            <a:r>
              <a:rPr lang="en-US" i="1" dirty="0" smtClean="0">
                <a:latin typeface="Arial" pitchFamily="-84" charset="0"/>
                <a:ea typeface="ＭＳ Ｐゴシック" pitchFamily="-84" charset="-128"/>
                <a:cs typeface="ＭＳ Ｐゴシック" pitchFamily="-84" charset="-128"/>
              </a:rPr>
              <a:t>A. </a:t>
            </a:r>
            <a:r>
              <a:rPr lang="en-US" dirty="0" smtClean="0">
                <a:latin typeface="Arial" pitchFamily="-84" charset="0"/>
                <a:ea typeface="ＭＳ Ｐゴシック" pitchFamily="-84" charset="-128"/>
                <a:cs typeface="ＭＳ Ｐゴシック" pitchFamily="-84" charset="-128"/>
              </a:rPr>
              <a:t>Both users can now calculate the key. The necessary public values </a:t>
            </a:r>
            <a:r>
              <a:rPr lang="en-US" i="1" dirty="0" smtClean="0">
                <a:latin typeface="Arial" pitchFamily="-84" charset="0"/>
                <a:ea typeface="ＭＳ Ｐゴシック" pitchFamily="-84" charset="-128"/>
                <a:cs typeface="ＭＳ Ｐゴシック" pitchFamily="-84" charset="-128"/>
              </a:rPr>
              <a:t>q </a:t>
            </a:r>
            <a:r>
              <a:rPr lang="en-US" dirty="0" smtClean="0">
                <a:latin typeface="Arial" pitchFamily="-84" charset="0"/>
                <a:ea typeface="ＭＳ Ｐゴシック" pitchFamily="-84" charset="-128"/>
                <a:cs typeface="ＭＳ Ｐゴシック" pitchFamily="-84" charset="-128"/>
              </a:rPr>
              <a:t>and </a:t>
            </a:r>
            <a:r>
              <a:rPr lang="en-US" i="1" dirty="0" smtClean="0">
                <a:latin typeface="Arial" pitchFamily="-84" charset="0"/>
                <a:ea typeface="ＭＳ Ｐゴシック" pitchFamily="-84" charset="-128"/>
                <a:cs typeface="ＭＳ Ｐゴシック" pitchFamily="-84" charset="-128"/>
              </a:rPr>
              <a:t>a </a:t>
            </a:r>
            <a:r>
              <a:rPr lang="en-US" dirty="0" smtClean="0">
                <a:latin typeface="Arial" pitchFamily="-84" charset="0"/>
                <a:ea typeface="ＭＳ Ｐゴシック" pitchFamily="-84" charset="-128"/>
                <a:cs typeface="ＭＳ Ｐゴシック" pitchFamily="-84" charset="-128"/>
              </a:rPr>
              <a:t>would need to be known ahead of time. Alternatively, user </a:t>
            </a:r>
            <a:r>
              <a:rPr lang="en-US" i="1" dirty="0" smtClean="0">
                <a:latin typeface="Arial" pitchFamily="-84" charset="0"/>
                <a:ea typeface="ＭＳ Ｐゴシック" pitchFamily="-84" charset="-128"/>
                <a:cs typeface="ＭＳ Ｐゴシック" pitchFamily="-84" charset="-128"/>
              </a:rPr>
              <a:t>A </a:t>
            </a:r>
            <a:r>
              <a:rPr lang="en-US" dirty="0" smtClean="0">
                <a:latin typeface="Arial" pitchFamily="-84" charset="0"/>
                <a:ea typeface="ＭＳ Ｐゴシック" pitchFamily="-84" charset="-128"/>
                <a:cs typeface="ＭＳ Ｐゴシック" pitchFamily="-84" charset="-128"/>
              </a:rPr>
              <a:t>could pick values for </a:t>
            </a:r>
            <a:r>
              <a:rPr lang="en-US" i="1" dirty="0" smtClean="0">
                <a:latin typeface="Arial" pitchFamily="-84" charset="0"/>
                <a:ea typeface="ＭＳ Ｐゴシック" pitchFamily="-84" charset="-128"/>
                <a:cs typeface="ＭＳ Ｐゴシック" pitchFamily="-84" charset="-128"/>
              </a:rPr>
              <a:t>q </a:t>
            </a:r>
            <a:r>
              <a:rPr lang="en-US" dirty="0" smtClean="0">
                <a:latin typeface="Arial" pitchFamily="-84" charset="0"/>
                <a:ea typeface="ＭＳ Ｐゴシック" pitchFamily="-84" charset="-128"/>
                <a:cs typeface="ＭＳ Ｐゴシック" pitchFamily="-84" charset="-128"/>
              </a:rPr>
              <a:t>and </a:t>
            </a:r>
            <a:r>
              <a:rPr lang="en-US" i="1" dirty="0" smtClean="0">
                <a:latin typeface="Arial" pitchFamily="-84" charset="0"/>
                <a:ea typeface="ＭＳ Ｐゴシック" pitchFamily="-84" charset="-128"/>
                <a:cs typeface="ＭＳ Ｐゴシック" pitchFamily="-84" charset="-128"/>
              </a:rPr>
              <a:t>a </a:t>
            </a:r>
            <a:r>
              <a:rPr lang="en-US" dirty="0" smtClean="0">
                <a:latin typeface="Arial" pitchFamily="-84" charset="0"/>
                <a:ea typeface="ＭＳ Ｐゴシック" pitchFamily="-84" charset="-128"/>
                <a:cs typeface="ＭＳ Ｐゴシック" pitchFamily="-84" charset="-128"/>
              </a:rPr>
              <a:t>and include those in the first message.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xfrm>
            <a:off x="685800" y="4343400"/>
            <a:ext cx="5486400" cy="4341813"/>
          </a:xfrm>
          <a:noFill/>
          <a:ln/>
        </p:spPr>
        <p:txBody>
          <a:bodyPr/>
          <a:lstStyle/>
          <a:p>
            <a:r>
              <a:rPr lang="en-US" sz="1200" kern="1200" baseline="0" dirty="0" smtClean="0">
                <a:solidFill>
                  <a:schemeClr val="tx1"/>
                </a:solidFill>
                <a:latin typeface="Arial" charset="0"/>
                <a:ea typeface="ＭＳ Ｐゴシック" charset="-128"/>
                <a:cs typeface="ＭＳ Ｐゴシック" charset="-128"/>
              </a:rPr>
              <a:t>The protocol depicted in Figure 10.1 is insecure against a man-in-the-middle attack.</a:t>
            </a:r>
          </a:p>
          <a:p>
            <a:r>
              <a:rPr lang="en-US" sz="1200" kern="1200" baseline="0" dirty="0" smtClean="0">
                <a:solidFill>
                  <a:schemeClr val="tx1"/>
                </a:solidFill>
                <a:latin typeface="Arial" charset="0"/>
                <a:ea typeface="ＭＳ Ｐゴシック" charset="-128"/>
                <a:cs typeface="ＭＳ Ｐゴシック" charset="-128"/>
              </a:rPr>
              <a:t>Suppose Alice and Bob wish to exchange keys, and Darth is the adversary. The</a:t>
            </a:r>
          </a:p>
          <a:p>
            <a:r>
              <a:rPr lang="en-US" sz="1200" kern="1200" baseline="0" dirty="0" smtClean="0">
                <a:solidFill>
                  <a:schemeClr val="tx1"/>
                </a:solidFill>
                <a:latin typeface="Arial" charset="0"/>
                <a:ea typeface="ＭＳ Ｐゴシック" charset="-128"/>
                <a:cs typeface="ＭＳ Ｐゴシック" charset="-128"/>
              </a:rPr>
              <a:t>attack proceeds as follows (Figure 10.2).</a:t>
            </a:r>
          </a:p>
          <a:p>
            <a:endParaRPr lang="en-US" sz="1100" dirty="0" smtClean="0">
              <a:latin typeface="Arial" pitchFamily="-84" charset="0"/>
              <a:ea typeface="ＭＳ Ｐゴシック" pitchFamily="-84" charset="-128"/>
              <a:cs typeface="ＭＳ Ｐゴシック" pitchFamily="-84" charset="-128"/>
            </a:endParaRP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Darth prepares for the attack by generating two random private keys X</a:t>
            </a:r>
            <a:r>
              <a:rPr lang="en-US" sz="1100" baseline="-25000" dirty="0" smtClean="0">
                <a:latin typeface="Arial" pitchFamily="-84" charset="0"/>
                <a:ea typeface="ＭＳ Ｐゴシック" pitchFamily="-84" charset="-128"/>
                <a:cs typeface="ＭＳ Ｐゴシック" pitchFamily="-84" charset="-128"/>
              </a:rPr>
              <a:t>D1</a:t>
            </a:r>
            <a:r>
              <a:rPr lang="en-US" sz="1100" dirty="0" smtClean="0">
                <a:latin typeface="Arial" pitchFamily="-84" charset="0"/>
                <a:ea typeface="ＭＳ Ｐゴシック" pitchFamily="-84" charset="-128"/>
                <a:cs typeface="ＭＳ Ｐゴシック" pitchFamily="-84" charset="-128"/>
              </a:rPr>
              <a:t> and X</a:t>
            </a:r>
            <a:r>
              <a:rPr lang="en-US" sz="1100" baseline="-25000" dirty="0" smtClean="0">
                <a:latin typeface="Arial" pitchFamily="-84" charset="0"/>
                <a:ea typeface="ＭＳ Ｐゴシック" pitchFamily="-84" charset="-128"/>
                <a:cs typeface="ＭＳ Ｐゴシック" pitchFamily="-84" charset="-128"/>
              </a:rPr>
              <a:t>D2</a:t>
            </a:r>
            <a:r>
              <a:rPr lang="en-US" sz="1100" dirty="0" smtClean="0">
                <a:latin typeface="Arial" pitchFamily="-84" charset="0"/>
                <a:ea typeface="ＭＳ Ｐゴシック" pitchFamily="-84" charset="-128"/>
                <a:cs typeface="ＭＳ Ｐゴシック" pitchFamily="-84" charset="-128"/>
              </a:rPr>
              <a:t> and then computing the corresponding public keys Y</a:t>
            </a:r>
            <a:r>
              <a:rPr lang="en-US" sz="1100" baseline="-25000" dirty="0" smtClean="0">
                <a:latin typeface="Arial" pitchFamily="-84" charset="0"/>
                <a:ea typeface="ＭＳ Ｐゴシック" pitchFamily="-84" charset="-128"/>
                <a:cs typeface="ＭＳ Ｐゴシック" pitchFamily="-84" charset="-128"/>
              </a:rPr>
              <a:t>D1</a:t>
            </a:r>
            <a:r>
              <a:rPr lang="en-US" sz="1100" dirty="0" smtClean="0">
                <a:latin typeface="Arial" pitchFamily="-84" charset="0"/>
                <a:ea typeface="ＭＳ Ｐゴシック" pitchFamily="-84" charset="-128"/>
                <a:cs typeface="ＭＳ Ｐゴシック" pitchFamily="-84" charset="-128"/>
              </a:rPr>
              <a:t> and Y</a:t>
            </a:r>
            <a:r>
              <a:rPr lang="en-US" sz="1100" baseline="-25000" dirty="0" smtClean="0">
                <a:latin typeface="Arial" pitchFamily="-84" charset="0"/>
                <a:ea typeface="ＭＳ Ｐゴシック" pitchFamily="-84" charset="-128"/>
                <a:cs typeface="ＭＳ Ｐゴシック" pitchFamily="-84" charset="-128"/>
              </a:rPr>
              <a:t>D2</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 Alice transmits Y</a:t>
            </a:r>
            <a:r>
              <a:rPr lang="en-US" sz="1100" baseline="-25000" dirty="0" smtClean="0">
                <a:latin typeface="Arial" pitchFamily="-84" charset="0"/>
                <a:ea typeface="ＭＳ Ｐゴシック" pitchFamily="-84" charset="-128"/>
                <a:cs typeface="ＭＳ Ｐゴシック" pitchFamily="-84" charset="-128"/>
              </a:rPr>
              <a:t>A</a:t>
            </a:r>
            <a:r>
              <a:rPr lang="en-US" sz="1100" dirty="0" smtClean="0">
                <a:latin typeface="Arial" pitchFamily="-84" charset="0"/>
                <a:ea typeface="ＭＳ Ｐゴシック" pitchFamily="-84" charset="-128"/>
                <a:cs typeface="ＭＳ Ｐゴシック" pitchFamily="-84" charset="-128"/>
              </a:rPr>
              <a:t> to Bob. </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 Darth intercepts Y</a:t>
            </a:r>
            <a:r>
              <a:rPr lang="en-US" sz="1100" baseline="-25000" dirty="0" smtClean="0">
                <a:latin typeface="Arial" pitchFamily="-84" charset="0"/>
                <a:ea typeface="ＭＳ Ｐゴシック" pitchFamily="-84" charset="-128"/>
                <a:cs typeface="ＭＳ Ｐゴシック" pitchFamily="-84" charset="-128"/>
              </a:rPr>
              <a:t>A</a:t>
            </a:r>
            <a:r>
              <a:rPr lang="en-US" sz="1100" dirty="0" smtClean="0">
                <a:latin typeface="Arial" pitchFamily="-84" charset="0"/>
                <a:ea typeface="ＭＳ Ｐゴシック" pitchFamily="-84" charset="-128"/>
                <a:cs typeface="ＭＳ Ｐゴシック" pitchFamily="-84" charset="-128"/>
              </a:rPr>
              <a:t> and transmits Y</a:t>
            </a:r>
            <a:r>
              <a:rPr lang="en-US" sz="1100" baseline="-25000" dirty="0" smtClean="0">
                <a:latin typeface="Arial" pitchFamily="-84" charset="0"/>
                <a:ea typeface="ＭＳ Ｐゴシック" pitchFamily="-84" charset="-128"/>
                <a:cs typeface="ＭＳ Ｐゴシック" pitchFamily="-84" charset="-128"/>
              </a:rPr>
              <a:t>D1</a:t>
            </a:r>
            <a:r>
              <a:rPr lang="en-US" sz="1100" dirty="0" smtClean="0">
                <a:latin typeface="Arial" pitchFamily="-84" charset="0"/>
                <a:ea typeface="ＭＳ Ｐゴシック" pitchFamily="-84" charset="-128"/>
                <a:cs typeface="ＭＳ Ｐゴシック" pitchFamily="-84" charset="-128"/>
              </a:rPr>
              <a:t> to Bob. Darth also calculates K2 = (Y</a:t>
            </a:r>
            <a:r>
              <a:rPr lang="en-US" sz="1100" baseline="-25000" dirty="0" smtClean="0">
                <a:latin typeface="Arial" pitchFamily="-84" charset="0"/>
                <a:ea typeface="ＭＳ Ｐゴシック" pitchFamily="-84" charset="-128"/>
                <a:cs typeface="ＭＳ Ｐゴシック" pitchFamily="-84" charset="-128"/>
              </a:rPr>
              <a:t>A</a:t>
            </a:r>
            <a:r>
              <a:rPr lang="en-US" sz="1100" dirty="0" smtClean="0">
                <a:latin typeface="Arial" pitchFamily="-84" charset="0"/>
                <a:ea typeface="ＭＳ Ｐゴシック" pitchFamily="-84" charset="-128"/>
                <a:cs typeface="ＭＳ Ｐゴシック" pitchFamily="-84" charset="-128"/>
              </a:rPr>
              <a:t>  )^ X</a:t>
            </a:r>
            <a:r>
              <a:rPr lang="en-US" sz="1100" baseline="-25000" dirty="0" smtClean="0">
                <a:latin typeface="Arial" pitchFamily="-84" charset="0"/>
                <a:ea typeface="ＭＳ Ｐゴシック" pitchFamily="-84" charset="-128"/>
                <a:cs typeface="ＭＳ Ｐゴシック" pitchFamily="-84" charset="-128"/>
              </a:rPr>
              <a:t>D2 </a:t>
            </a:r>
            <a:r>
              <a:rPr lang="en-US" sz="1100" dirty="0" smtClean="0">
                <a:latin typeface="Arial" pitchFamily="-84" charset="0"/>
                <a:ea typeface="ＭＳ Ｐゴシック" pitchFamily="-84" charset="-128"/>
                <a:cs typeface="ＭＳ Ｐゴシック" pitchFamily="-84" charset="-128"/>
              </a:rPr>
              <a:t>mod q  </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Bob receives Y</a:t>
            </a:r>
            <a:r>
              <a:rPr lang="en-US" sz="1100" baseline="-25000" dirty="0" smtClean="0">
                <a:latin typeface="Arial" pitchFamily="-84" charset="0"/>
                <a:ea typeface="ＭＳ Ｐゴシック" pitchFamily="-84" charset="-128"/>
                <a:cs typeface="ＭＳ Ｐゴシック" pitchFamily="-84" charset="-128"/>
              </a:rPr>
              <a:t>D1 </a:t>
            </a:r>
            <a:r>
              <a:rPr lang="en-US" sz="1100" dirty="0" smtClean="0">
                <a:latin typeface="Arial" pitchFamily="-84" charset="0"/>
                <a:ea typeface="ＭＳ Ｐゴシック" pitchFamily="-84" charset="-128"/>
                <a:cs typeface="ＭＳ Ｐゴシック" pitchFamily="-84" charset="-128"/>
              </a:rPr>
              <a:t>and calculates K1=(Y</a:t>
            </a:r>
            <a:r>
              <a:rPr lang="en-US" sz="1100" baseline="-25000" dirty="0" smtClean="0">
                <a:latin typeface="Arial" pitchFamily="-84" charset="0"/>
                <a:ea typeface="ＭＳ Ｐゴシック" pitchFamily="-84" charset="-128"/>
                <a:cs typeface="ＭＳ Ｐゴシック" pitchFamily="-84" charset="-128"/>
              </a:rPr>
              <a:t>D1 </a:t>
            </a:r>
            <a:r>
              <a:rPr lang="en-US" sz="1100" dirty="0" smtClean="0">
                <a:latin typeface="Arial" pitchFamily="-84" charset="0"/>
                <a:ea typeface="ＭＳ Ｐゴシック" pitchFamily="-84" charset="-128"/>
                <a:cs typeface="ＭＳ Ｐゴシック" pitchFamily="-84" charset="-128"/>
              </a:rPr>
              <a:t>)^ X</a:t>
            </a:r>
            <a:r>
              <a:rPr lang="en-US" sz="1100" baseline="-25000" dirty="0" smtClean="0">
                <a:latin typeface="Arial" pitchFamily="-84" charset="0"/>
                <a:ea typeface="ＭＳ Ｐゴシック" pitchFamily="-84" charset="-128"/>
                <a:cs typeface="ＭＳ Ｐゴシック" pitchFamily="-84" charset="-128"/>
              </a:rPr>
              <a:t>B</a:t>
            </a:r>
            <a:r>
              <a:rPr lang="en-US" sz="1100" dirty="0" smtClean="0">
                <a:latin typeface="Arial" pitchFamily="-84" charset="0"/>
                <a:ea typeface="ＭＳ Ｐゴシック" pitchFamily="-84" charset="-128"/>
                <a:cs typeface="ＭＳ Ｐゴシック" pitchFamily="-84" charset="-128"/>
              </a:rPr>
              <a:t> mod q</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Bob transmits Y</a:t>
            </a:r>
            <a:r>
              <a:rPr lang="en-US" sz="1100" baseline="-25000" dirty="0" smtClean="0">
                <a:latin typeface="Arial" pitchFamily="-84" charset="0"/>
                <a:ea typeface="ＭＳ Ｐゴシック" pitchFamily="-84" charset="-128"/>
                <a:cs typeface="ＭＳ Ｐゴシック" pitchFamily="-84" charset="-128"/>
              </a:rPr>
              <a:t>B</a:t>
            </a:r>
            <a:r>
              <a:rPr lang="en-US" sz="1100" dirty="0" smtClean="0">
                <a:latin typeface="Arial" pitchFamily="-84" charset="0"/>
                <a:ea typeface="ＭＳ Ｐゴシック" pitchFamily="-84" charset="-128"/>
                <a:cs typeface="ＭＳ Ｐゴシック" pitchFamily="-84" charset="-128"/>
              </a:rPr>
              <a:t> to Alice.  </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Darth intercepts Y</a:t>
            </a:r>
            <a:r>
              <a:rPr lang="en-US" sz="1100" baseline="-25000" dirty="0" smtClean="0">
                <a:latin typeface="Arial" pitchFamily="-84" charset="0"/>
                <a:ea typeface="ＭＳ Ｐゴシック" pitchFamily="-84" charset="-128"/>
                <a:cs typeface="ＭＳ Ｐゴシック" pitchFamily="-84" charset="-128"/>
              </a:rPr>
              <a:t>B </a:t>
            </a:r>
            <a:r>
              <a:rPr lang="en-US" sz="1100" dirty="0" smtClean="0">
                <a:latin typeface="Arial" pitchFamily="-84" charset="0"/>
                <a:ea typeface="ＭＳ Ｐゴシック" pitchFamily="-84" charset="-128"/>
                <a:cs typeface="ＭＳ Ｐゴシック" pitchFamily="-84" charset="-128"/>
              </a:rPr>
              <a:t>and transmits Y</a:t>
            </a:r>
            <a:r>
              <a:rPr lang="en-US" sz="1100" baseline="-25000" dirty="0" smtClean="0">
                <a:latin typeface="Arial" pitchFamily="-84" charset="0"/>
                <a:ea typeface="ＭＳ Ｐゴシック" pitchFamily="-84" charset="-128"/>
                <a:cs typeface="ＭＳ Ｐゴシック" pitchFamily="-84" charset="-128"/>
              </a:rPr>
              <a:t>D2 </a:t>
            </a:r>
            <a:r>
              <a:rPr lang="en-US" sz="1100" dirty="0" smtClean="0">
                <a:latin typeface="Arial" pitchFamily="-84" charset="0"/>
                <a:ea typeface="ＭＳ Ｐゴシック" pitchFamily="-84" charset="-128"/>
                <a:cs typeface="ＭＳ Ｐゴシック" pitchFamily="-84" charset="-128"/>
              </a:rPr>
              <a:t>to Alice. Darth calculates K1=(Y</a:t>
            </a:r>
            <a:r>
              <a:rPr lang="en-US" sz="1100" baseline="-25000" dirty="0" smtClean="0">
                <a:latin typeface="Arial" pitchFamily="-84" charset="0"/>
                <a:ea typeface="ＭＳ Ｐゴシック" pitchFamily="-84" charset="-128"/>
                <a:cs typeface="ＭＳ Ｐゴシック" pitchFamily="-84" charset="-128"/>
              </a:rPr>
              <a:t>B</a:t>
            </a:r>
            <a:r>
              <a:rPr lang="en-US" sz="1100" dirty="0" smtClean="0">
                <a:latin typeface="Arial" pitchFamily="-84" charset="0"/>
                <a:ea typeface="ＭＳ Ｐゴシック" pitchFamily="-84" charset="-128"/>
                <a:cs typeface="ＭＳ Ｐゴシック" pitchFamily="-84" charset="-128"/>
              </a:rPr>
              <a:t> )^ X</a:t>
            </a:r>
            <a:r>
              <a:rPr lang="en-US" sz="1100" baseline="-25000" dirty="0" smtClean="0">
                <a:latin typeface="Arial" pitchFamily="-84" charset="0"/>
                <a:ea typeface="ＭＳ Ｐゴシック" pitchFamily="-84" charset="-128"/>
                <a:cs typeface="ＭＳ Ｐゴシック" pitchFamily="-84" charset="-128"/>
              </a:rPr>
              <a:t>D1</a:t>
            </a:r>
            <a:r>
              <a:rPr lang="en-US" sz="1100" dirty="0" smtClean="0">
                <a:latin typeface="Arial" pitchFamily="-84" charset="0"/>
                <a:ea typeface="ＭＳ Ｐゴシック" pitchFamily="-84" charset="-128"/>
                <a:cs typeface="ＭＳ Ｐゴシック" pitchFamily="-84" charset="-128"/>
              </a:rPr>
              <a:t>  mod q</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Alice receives Y</a:t>
            </a:r>
            <a:r>
              <a:rPr lang="en-US" sz="1100" baseline="-25000" dirty="0" smtClean="0">
                <a:latin typeface="Arial" pitchFamily="-84" charset="0"/>
                <a:ea typeface="ＭＳ Ｐゴシック" pitchFamily="-84" charset="-128"/>
                <a:cs typeface="ＭＳ Ｐゴシック" pitchFamily="-84" charset="-128"/>
              </a:rPr>
              <a:t>D2 </a:t>
            </a:r>
            <a:r>
              <a:rPr lang="en-US" sz="1100" dirty="0" smtClean="0">
                <a:latin typeface="Arial" pitchFamily="-84" charset="0"/>
                <a:ea typeface="ＭＳ Ｐゴシック" pitchFamily="-84" charset="-128"/>
                <a:cs typeface="ＭＳ Ｐゴシック" pitchFamily="-84" charset="-128"/>
              </a:rPr>
              <a:t>and calculates K2=(Y</a:t>
            </a:r>
            <a:r>
              <a:rPr lang="en-US" sz="1100" baseline="-25000" dirty="0" smtClean="0">
                <a:latin typeface="Arial" pitchFamily="-84" charset="0"/>
                <a:ea typeface="ＭＳ Ｐゴシック" pitchFamily="-84" charset="-128"/>
                <a:cs typeface="ＭＳ Ｐゴシック" pitchFamily="-84" charset="-128"/>
              </a:rPr>
              <a:t>D2 </a:t>
            </a:r>
            <a:r>
              <a:rPr lang="en-US" sz="1100" dirty="0" smtClean="0">
                <a:latin typeface="Arial" pitchFamily="-84" charset="0"/>
                <a:ea typeface="ＭＳ Ｐゴシック" pitchFamily="-84" charset="-128"/>
                <a:cs typeface="ＭＳ Ｐゴシック" pitchFamily="-84" charset="-128"/>
              </a:rPr>
              <a:t>)^ X</a:t>
            </a:r>
            <a:r>
              <a:rPr lang="en-US" sz="1100" baseline="-25000" dirty="0" smtClean="0">
                <a:latin typeface="Arial" pitchFamily="-84" charset="0"/>
                <a:ea typeface="ＭＳ Ｐゴシック" pitchFamily="-84" charset="-128"/>
                <a:cs typeface="ＭＳ Ｐゴシック" pitchFamily="-84" charset="-128"/>
              </a:rPr>
              <a:t>A</a:t>
            </a:r>
            <a:r>
              <a:rPr lang="en-US" sz="1100" dirty="0" smtClean="0">
                <a:latin typeface="Arial" pitchFamily="-84" charset="0"/>
                <a:ea typeface="ＭＳ Ｐゴシック" pitchFamily="-84" charset="-128"/>
                <a:cs typeface="ＭＳ Ｐゴシック" pitchFamily="-84" charset="-128"/>
              </a:rPr>
              <a:t> mod q .   </a:t>
            </a:r>
          </a:p>
          <a:p>
            <a:pPr eaLnBrk="1" hangingPunct="1">
              <a:lnSpc>
                <a:spcPct val="90000"/>
              </a:lnSpc>
            </a:pPr>
            <a:endParaRPr lang="en-US" sz="1100" dirty="0" smtClean="0">
              <a:latin typeface="Arial" pitchFamily="-84" charset="0"/>
              <a:ea typeface="ＭＳ Ｐゴシック" pitchFamily="-84" charset="-128"/>
              <a:cs typeface="ＭＳ Ｐゴシック" pitchFamily="-84" charset="-128"/>
            </a:endParaRPr>
          </a:p>
          <a:p>
            <a:pPr eaLnBrk="1" hangingPunct="1">
              <a:lnSpc>
                <a:spcPct val="90000"/>
              </a:lnSpc>
            </a:pPr>
            <a:r>
              <a:rPr lang="en-US" sz="1100" dirty="0" smtClean="0">
                <a:latin typeface="Arial" pitchFamily="-84" charset="0"/>
                <a:ea typeface="ＭＳ Ｐゴシック" pitchFamily="-84" charset="-128"/>
                <a:cs typeface="ＭＳ Ｐゴシック" pitchFamily="-84" charset="-128"/>
              </a:rPr>
              <a:t>At this point, Bob and Alice think that they share a secret key, but instead Bob and Darth share secret key K1 and Alice and Darth share secret key K2. All future communication between Bob and Alice is compromised in the following way:   </a:t>
            </a:r>
          </a:p>
          <a:p>
            <a:pPr eaLnBrk="1" hangingPunct="1">
              <a:lnSpc>
                <a:spcPct val="90000"/>
              </a:lnSpc>
            </a:pPr>
            <a:endParaRPr lang="en-US" sz="1100" dirty="0" smtClean="0">
              <a:latin typeface="Arial" pitchFamily="-84" charset="0"/>
              <a:ea typeface="ＭＳ Ｐゴシック" pitchFamily="-84" charset="-128"/>
              <a:cs typeface="ＭＳ Ｐゴシック" pitchFamily="-84" charset="-128"/>
            </a:endParaRP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Alice sends an encrypted message M: E(K2, M).  </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Darth intercepts the encrypted message and decrypts it, to recover M.  </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Darth sends Bob E(K1, M) or E(K1, M'), where M' is any message. In the first case, Darth simply wants to eavesdrop on the communication without altering it. In the second case, Darth wants to modify the message going to Bob.   </a:t>
            </a:r>
          </a:p>
          <a:p>
            <a:pPr eaLnBrk="1" hangingPunct="1">
              <a:lnSpc>
                <a:spcPct val="90000"/>
              </a:lnSpc>
              <a:buFontTx/>
              <a:buAutoNum type="arabicPeriod"/>
            </a:pPr>
            <a:endParaRPr lang="en-US" sz="1100" dirty="0" smtClean="0">
              <a:latin typeface="Arial" pitchFamily="-84" charset="0"/>
              <a:ea typeface="ＭＳ Ｐゴシック" pitchFamily="-84" charset="-128"/>
              <a:cs typeface="ＭＳ Ｐゴシック" pitchFamily="-84" charset="-128"/>
            </a:endParaRPr>
          </a:p>
          <a:p>
            <a:pPr eaLnBrk="1" hangingPunct="1">
              <a:lnSpc>
                <a:spcPct val="90000"/>
              </a:lnSpc>
              <a:buFontTx/>
              <a:buNone/>
            </a:pPr>
            <a:r>
              <a:rPr lang="en-US" sz="1100" dirty="0" smtClean="0">
                <a:latin typeface="Arial" pitchFamily="-84" charset="0"/>
                <a:ea typeface="ＭＳ Ｐゴシック" pitchFamily="-84" charset="-128"/>
                <a:cs typeface="ＭＳ Ｐゴシック" pitchFamily="-84" charset="-128"/>
              </a:rPr>
              <a:t>The key exchange protocol is vulnerable to such an attack because it does not authenticate the participants. This vulnerability can be overcome with the use of digital signatures and public- key certificates.</a:t>
            </a:r>
          </a:p>
        </p:txBody>
      </p:sp>
      <p:sp>
        <p:nvSpPr>
          <p:cNvPr id="31748" name="Slide Number Placeholder 3"/>
          <p:cNvSpPr>
            <a:spLocks noGrp="1"/>
          </p:cNvSpPr>
          <p:nvPr>
            <p:ph type="sldNum" sz="quarter" idx="5"/>
          </p:nvPr>
        </p:nvSpPr>
        <p:spPr>
          <a:noFill/>
        </p:spPr>
        <p:txBody>
          <a:bodyPr/>
          <a:lstStyle/>
          <a:p>
            <a:fld id="{1497ACC7-F361-EE47-BD9E-A66D06FA39DE}" type="slidenum">
              <a:rPr lang="en-AU" smtClean="0">
                <a:latin typeface="Arial" pitchFamily="-84" charset="0"/>
              </a:rPr>
              <a:pPr/>
              <a:t>7</a:t>
            </a:fld>
            <a:endParaRPr lang="en-AU" dirty="0" smtClean="0">
              <a:latin typeface="Arial" pitchFamily="-8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14CF9403-2534-654D-9690-24E80497FAA7}" type="slidenum">
              <a:rPr lang="en-AU">
                <a:latin typeface="Arial" pitchFamily="-84" charset="0"/>
              </a:rPr>
              <a:pPr/>
              <a:t>8</a:t>
            </a:fld>
            <a:endParaRPr lang="en-AU" dirty="0">
              <a:latin typeface="Arial" pitchFamily="-84"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In 1984, T. Elgamal announced a public-key scheme based on discrete logarithms, closely related to the Diffie-Hellman technique [ELGA84, ELGA85]. The ElGamal cryptosystem is used in some form in a number of standards including the digital signature standard (DSS) and the S/MIME email standard.  </a:t>
            </a: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As with Diffie-Hellman, the global elements of ElGamal are a prime number </a:t>
            </a:r>
            <a:r>
              <a:rPr lang="en-US" i="1" dirty="0" smtClean="0">
                <a:latin typeface="Arial" pitchFamily="-84" charset="0"/>
                <a:ea typeface="ＭＳ Ｐゴシック" pitchFamily="-84" charset="-128"/>
                <a:cs typeface="ＭＳ Ｐゴシック" pitchFamily="-84" charset="-128"/>
              </a:rPr>
              <a:t>q </a:t>
            </a:r>
            <a:r>
              <a:rPr lang="en-US" dirty="0" smtClean="0">
                <a:latin typeface="Arial" pitchFamily="-84" charset="0"/>
                <a:ea typeface="ＭＳ Ｐゴシック" pitchFamily="-84" charset="-128"/>
                <a:cs typeface="ＭＳ Ｐゴシック" pitchFamily="-84" charset="-128"/>
              </a:rPr>
              <a:t>and </a:t>
            </a:r>
            <a:r>
              <a:rPr lang="en-US" i="1" dirty="0" smtClean="0">
                <a:latin typeface="Arial" pitchFamily="-84" charset="0"/>
                <a:ea typeface="ＭＳ Ｐゴシック" pitchFamily="-84" charset="-128"/>
                <a:cs typeface="ＭＳ Ｐゴシック" pitchFamily="-84" charset="-128"/>
              </a:rPr>
              <a:t>a, </a:t>
            </a:r>
            <a:r>
              <a:rPr lang="en-US" dirty="0" smtClean="0">
                <a:latin typeface="Arial" pitchFamily="-84" charset="0"/>
                <a:ea typeface="ＭＳ Ｐゴシック" pitchFamily="-84" charset="-128"/>
                <a:cs typeface="ＭＳ Ｐゴシック" pitchFamily="-84" charset="-128"/>
              </a:rPr>
              <a:t>which is a primitive root of </a:t>
            </a:r>
            <a:r>
              <a:rPr lang="en-US" i="1" dirty="0" smtClean="0">
                <a:latin typeface="Arial" pitchFamily="-84" charset="0"/>
                <a:ea typeface="ＭＳ Ｐゴシック" pitchFamily="-84" charset="-128"/>
                <a:cs typeface="ＭＳ Ｐゴシック" pitchFamily="-84" charset="-128"/>
              </a:rPr>
              <a:t>q. </a:t>
            </a:r>
            <a:r>
              <a:rPr lang="en-US" dirty="0" smtClean="0">
                <a:latin typeface="Arial" pitchFamily="-84" charset="0"/>
                <a:ea typeface="ＭＳ Ｐゴシック" pitchFamily="-84" charset="-128"/>
                <a:cs typeface="ＭＳ Ｐゴシック" pitchFamily="-84" charset="-128"/>
              </a:rPr>
              <a:t>User A generates a private/public key pair as shown. The security of ElGamal is based on the difficulty of computing discrete logarithms, to recover either x given y, or k given K .</a:t>
            </a:r>
          </a:p>
          <a:p>
            <a:pPr eaLnBrk="1" hangingPunct="1"/>
            <a:endParaRPr lang="en-US"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charset="0"/>
                <a:ea typeface="ＭＳ Ｐゴシック" charset="-128"/>
                <a:cs typeface="ＭＳ Ｐゴシック" charset="-128"/>
              </a:rPr>
              <a:t>The security of Elgamal is based on the difficulty of computing discrete</a:t>
            </a:r>
          </a:p>
          <a:p>
            <a:r>
              <a:rPr lang="en-US" sz="1200" kern="1200" baseline="0" dirty="0" smtClean="0">
                <a:solidFill>
                  <a:schemeClr val="tx1"/>
                </a:solidFill>
                <a:latin typeface="Arial" charset="0"/>
                <a:ea typeface="ＭＳ Ｐゴシック" charset="-128"/>
                <a:cs typeface="ＭＳ Ｐゴシック" charset="-128"/>
              </a:rPr>
              <a:t>logarithms.</a:t>
            </a:r>
            <a:endParaRPr lang="en-US" dirty="0" smtClean="0">
              <a:latin typeface="Times-Roman" charset="0"/>
              <a:ea typeface="ＭＳ Ｐゴシック" pitchFamily="-84" charset="-128"/>
              <a:cs typeface="ＭＳ Ｐゴシック" pitchFamily="-8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Figure 10.3 summarizes</a:t>
            </a:r>
            <a:r>
              <a:rPr lang="en-US" baseline="0" dirty="0" smtClean="0"/>
              <a:t> the ElGamal Cryptosystem.  It corresponds to Figure 9.1a.</a:t>
            </a:r>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9</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686EAA5D-0480-654D-BDAE-36E2E1D468D4}" type="slidenum">
              <a:rPr lang="en-AU">
                <a:latin typeface="Arial" pitchFamily="-84" charset="0"/>
              </a:rPr>
              <a:pPr/>
              <a:t>10</a:t>
            </a:fld>
            <a:endParaRPr lang="en-AU" dirty="0">
              <a:latin typeface="Arial" pitchFamily="-84"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Most of the products and standards that use public-key cryptography for encryption</a:t>
            </a:r>
          </a:p>
          <a:p>
            <a:r>
              <a:rPr lang="en-US" sz="1200" kern="1200" baseline="0" dirty="0" smtClean="0">
                <a:solidFill>
                  <a:schemeClr val="tx1"/>
                </a:solidFill>
                <a:latin typeface="Arial" charset="0"/>
                <a:ea typeface="ＭＳ Ｐゴシック" charset="-128"/>
                <a:cs typeface="ＭＳ Ｐゴシック" charset="-128"/>
              </a:rPr>
              <a:t>and digital signatures use RSA. As we have seen, the key length for secure RSA</a:t>
            </a:r>
          </a:p>
          <a:p>
            <a:r>
              <a:rPr lang="en-US" sz="1200" kern="1200" baseline="0" dirty="0" smtClean="0">
                <a:solidFill>
                  <a:schemeClr val="tx1"/>
                </a:solidFill>
                <a:latin typeface="Arial" charset="0"/>
                <a:ea typeface="ＭＳ Ｐゴシック" charset="-128"/>
                <a:cs typeface="ＭＳ Ｐゴシック" charset="-128"/>
              </a:rPr>
              <a:t>use has increased over recent years, and this has put a heavier processing load on</a:t>
            </a:r>
          </a:p>
          <a:p>
            <a:r>
              <a:rPr lang="en-US" sz="1200" kern="1200" baseline="0" dirty="0" smtClean="0">
                <a:solidFill>
                  <a:schemeClr val="tx1"/>
                </a:solidFill>
                <a:latin typeface="Arial" charset="0"/>
                <a:ea typeface="ＭＳ Ｐゴシック" charset="-128"/>
                <a:cs typeface="ＭＳ Ｐゴシック" charset="-128"/>
              </a:rPr>
              <a:t>applications using RSA. This burden has ramifications, especially for electronic commerce</a:t>
            </a:r>
          </a:p>
          <a:p>
            <a:r>
              <a:rPr lang="en-US" sz="1200" kern="1200" baseline="0" dirty="0" smtClean="0">
                <a:solidFill>
                  <a:schemeClr val="tx1"/>
                </a:solidFill>
                <a:latin typeface="Arial" charset="0"/>
                <a:ea typeface="ＭＳ Ｐゴシック" charset="-128"/>
                <a:cs typeface="ＭＳ Ｐゴシック" charset="-128"/>
              </a:rPr>
              <a:t>sites that conduct large numbers of secure transactions. A competing system</a:t>
            </a:r>
          </a:p>
          <a:p>
            <a:r>
              <a:rPr lang="en-US" sz="1200" kern="1200" baseline="0" dirty="0" smtClean="0">
                <a:solidFill>
                  <a:schemeClr val="tx1"/>
                </a:solidFill>
                <a:latin typeface="Arial" charset="0"/>
                <a:ea typeface="ＭＳ Ｐゴシック" charset="-128"/>
                <a:cs typeface="ＭＳ Ｐゴシック" charset="-128"/>
              </a:rPr>
              <a:t>challenges RSA: elliptic curve cryptography (ECC). ECC is showing up in standardization</a:t>
            </a:r>
          </a:p>
          <a:p>
            <a:r>
              <a:rPr lang="en-US" sz="1200" kern="1200" baseline="0" dirty="0" smtClean="0">
                <a:solidFill>
                  <a:schemeClr val="tx1"/>
                </a:solidFill>
                <a:latin typeface="Arial" charset="0"/>
                <a:ea typeface="ＭＳ Ｐゴシック" charset="-128"/>
                <a:cs typeface="ＭＳ Ｐゴシック" charset="-128"/>
              </a:rPr>
              <a:t>efforts, including the IEEE P1363 Standard for Public-Key Cryptography.</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principal attraction of ECC, compared to RSA, is that it appears to offer</a:t>
            </a:r>
          </a:p>
          <a:p>
            <a:r>
              <a:rPr lang="en-US" sz="1200" kern="1200" baseline="0" dirty="0" smtClean="0">
                <a:solidFill>
                  <a:schemeClr val="tx1"/>
                </a:solidFill>
                <a:latin typeface="Arial" charset="0"/>
                <a:ea typeface="ＭＳ Ｐゴシック" charset="-128"/>
                <a:cs typeface="ＭＳ Ｐゴシック" charset="-128"/>
              </a:rPr>
              <a:t>equal security for a far smaller key size, thereby reducing processing overhead. On</a:t>
            </a:r>
          </a:p>
          <a:p>
            <a:r>
              <a:rPr lang="en-US" sz="1200" kern="1200" baseline="0" dirty="0" smtClean="0">
                <a:solidFill>
                  <a:schemeClr val="tx1"/>
                </a:solidFill>
                <a:latin typeface="Arial" charset="0"/>
                <a:ea typeface="ＭＳ Ｐゴシック" charset="-128"/>
                <a:cs typeface="ＭＳ Ｐゴシック" charset="-128"/>
              </a:rPr>
              <a:t>the other hand, although the theory of ECC has been around for some time, it is</a:t>
            </a:r>
          </a:p>
          <a:p>
            <a:r>
              <a:rPr lang="en-US" sz="1200" kern="1200" baseline="0" dirty="0" smtClean="0">
                <a:solidFill>
                  <a:schemeClr val="tx1"/>
                </a:solidFill>
                <a:latin typeface="Arial" charset="0"/>
                <a:ea typeface="ＭＳ Ｐゴシック" charset="-128"/>
                <a:cs typeface="ＭＳ Ｐゴシック" charset="-128"/>
              </a:rPr>
              <a:t>only recently that products have begun to appear and that there has been sustained</a:t>
            </a:r>
          </a:p>
          <a:p>
            <a:r>
              <a:rPr lang="en-US" sz="1200" kern="1200" baseline="0" dirty="0" smtClean="0">
                <a:solidFill>
                  <a:schemeClr val="tx1"/>
                </a:solidFill>
                <a:latin typeface="Arial" charset="0"/>
                <a:ea typeface="ＭＳ Ｐゴシック" charset="-128"/>
                <a:cs typeface="ＭＳ Ｐゴシック" charset="-128"/>
              </a:rPr>
              <a:t>cryptanalytic interest in probing for weaknesses. Accordingly, the confidence level</a:t>
            </a:r>
          </a:p>
          <a:p>
            <a:r>
              <a:rPr lang="en-US" sz="1200" kern="1200" baseline="0" dirty="0" smtClean="0">
                <a:solidFill>
                  <a:schemeClr val="tx1"/>
                </a:solidFill>
                <a:latin typeface="Arial" charset="0"/>
                <a:ea typeface="ＭＳ Ｐゴシック" charset="-128"/>
                <a:cs typeface="ＭＳ Ｐゴシック" charset="-128"/>
              </a:rPr>
              <a:t>in ECC is not yet as high as that in RSA.</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ECC is fundamentally more difficult to explain than either RSA or Diffie-</a:t>
            </a:r>
          </a:p>
          <a:p>
            <a:r>
              <a:rPr lang="en-US" sz="1200" kern="1200" baseline="0" dirty="0" smtClean="0">
                <a:solidFill>
                  <a:schemeClr val="tx1"/>
                </a:solidFill>
                <a:latin typeface="Arial" charset="0"/>
                <a:ea typeface="ＭＳ Ｐゴシック" charset="-128"/>
                <a:cs typeface="ＭＳ Ｐゴシック" charset="-128"/>
              </a:rPr>
              <a:t>Hellman, and a full mathematical description is beyond the scope of this book.</a:t>
            </a:r>
          </a:p>
          <a:p>
            <a:r>
              <a:rPr lang="en-US" sz="1200" kern="1200" baseline="0" dirty="0" smtClean="0">
                <a:solidFill>
                  <a:schemeClr val="tx1"/>
                </a:solidFill>
                <a:latin typeface="Arial" charset="0"/>
                <a:ea typeface="ＭＳ Ｐゴシック" charset="-128"/>
                <a:cs typeface="ＭＳ Ｐゴシック" charset="-128"/>
              </a:rPr>
              <a:t>This section and the next give some background on elliptic curves and ECC. We</a:t>
            </a:r>
          </a:p>
          <a:p>
            <a:r>
              <a:rPr lang="en-US" sz="1200" kern="1200" baseline="0" dirty="0" smtClean="0">
                <a:solidFill>
                  <a:schemeClr val="tx1"/>
                </a:solidFill>
                <a:latin typeface="Arial" charset="0"/>
                <a:ea typeface="ＭＳ Ｐゴシック" charset="-128"/>
                <a:cs typeface="ＭＳ Ｐゴシック" charset="-128"/>
              </a:rPr>
              <a:t>begin with a brief review of the concept of abelian group. Next, we examine the</a:t>
            </a:r>
          </a:p>
          <a:p>
            <a:r>
              <a:rPr lang="en-US" sz="1200" kern="1200" baseline="0" dirty="0" smtClean="0">
                <a:solidFill>
                  <a:schemeClr val="tx1"/>
                </a:solidFill>
                <a:latin typeface="Arial" charset="0"/>
                <a:ea typeface="ＭＳ Ｐゴシック" charset="-128"/>
                <a:cs typeface="ＭＳ Ｐゴシック" charset="-128"/>
              </a:rPr>
              <a:t>concept of elliptic curves defined over the real numbers. This is followed by a look</a:t>
            </a:r>
          </a:p>
          <a:p>
            <a:r>
              <a:rPr lang="en-US" sz="1200" kern="1200" baseline="0" dirty="0" smtClean="0">
                <a:solidFill>
                  <a:schemeClr val="tx1"/>
                </a:solidFill>
                <a:latin typeface="Arial" charset="0"/>
                <a:ea typeface="ＭＳ Ｐゴシック" charset="-128"/>
                <a:cs typeface="ＭＳ Ｐゴシック" charset="-128"/>
              </a:rPr>
              <a:t>at elliptic curves defined over finite fields. Finally, we are able to examine elliptic</a:t>
            </a:r>
          </a:p>
          <a:p>
            <a:r>
              <a:rPr lang="en-US" sz="1200" kern="1200" baseline="0" dirty="0" smtClean="0">
                <a:solidFill>
                  <a:schemeClr val="tx1"/>
                </a:solidFill>
                <a:latin typeface="Arial" charset="0"/>
                <a:ea typeface="ＭＳ Ｐゴシック" charset="-128"/>
                <a:cs typeface="ＭＳ Ｐゴシック" charset="-128"/>
              </a:rPr>
              <a:t>curve ciphers.</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kern="1200" baseline="0" dirty="0" smtClean="0">
                <a:solidFill>
                  <a:schemeClr val="tx1"/>
                </a:solidFill>
                <a:latin typeface="Arial" charset="0"/>
                <a:ea typeface="ＭＳ Ｐゴシック" charset="-128"/>
                <a:cs typeface="ＭＳ Ｐゴシック" charset="-128"/>
              </a:rPr>
              <a:t>Recall from Chapter 4 that an abelian group G , sometimes denoted by {G ,</a:t>
            </a:r>
            <a:r>
              <a:rPr lang="en-US" sz="6000" b="0" kern="1200" baseline="30000" dirty="0" smtClean="0">
                <a:solidFill>
                  <a:schemeClr val="tx1"/>
                </a:solidFill>
                <a:latin typeface="Arial" charset="0"/>
                <a:ea typeface="ＭＳ Ｐゴシック" charset="-128"/>
                <a:cs typeface="ＭＳ Ｐゴシック" charset="-128"/>
              </a:rPr>
              <a:t> </a:t>
            </a:r>
            <a:r>
              <a:rPr lang="en-US" sz="6000" b="0" i="1" kern="1200" baseline="30000" dirty="0" smtClean="0">
                <a:solidFill>
                  <a:schemeClr val="tx1"/>
                </a:solidFill>
                <a:latin typeface="Wingdings"/>
                <a:ea typeface="Wingdings"/>
                <a:cs typeface="Wingdings"/>
              </a:rPr>
              <a:t>.</a:t>
            </a:r>
            <a:r>
              <a:rPr lang="en-US" sz="6000" b="0" kern="1200" baseline="3000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 is</a:t>
            </a:r>
          </a:p>
          <a:p>
            <a:r>
              <a:rPr lang="en-US" sz="1200" b="0" kern="1200" baseline="0" dirty="0" smtClean="0">
                <a:solidFill>
                  <a:schemeClr val="tx1"/>
                </a:solidFill>
                <a:latin typeface="Arial" charset="0"/>
                <a:ea typeface="ＭＳ Ｐゴシック" charset="-128"/>
                <a:cs typeface="ＭＳ Ｐゴシック" charset="-128"/>
              </a:rPr>
              <a:t>a set of elements with a binary operation, denoted by </a:t>
            </a:r>
            <a:r>
              <a:rPr lang="en-US" sz="1200" b="0"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kern="1200" baseline="3000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  , that associates to each</a:t>
            </a:r>
          </a:p>
          <a:p>
            <a:r>
              <a:rPr lang="en-US" sz="1200" b="0" kern="1200" baseline="0" dirty="0" smtClean="0">
                <a:solidFill>
                  <a:schemeClr val="tx1"/>
                </a:solidFill>
                <a:latin typeface="Arial" charset="0"/>
                <a:ea typeface="ＭＳ Ｐゴシック" charset="-128"/>
                <a:cs typeface="ＭＳ Ｐゴシック" charset="-128"/>
              </a:rPr>
              <a:t>ordered pair </a:t>
            </a:r>
            <a:r>
              <a:rPr lang="en-US" sz="1200" b="0" i="1" kern="1200" baseline="0" dirty="0" smtClean="0">
                <a:solidFill>
                  <a:schemeClr val="tx1"/>
                </a:solidFill>
                <a:latin typeface="Arial" charset="0"/>
                <a:ea typeface="ＭＳ Ｐゴシック" charset="-128"/>
                <a:cs typeface="ＭＳ Ｐゴシック" charset="-128"/>
              </a:rPr>
              <a:t>(a , b ) </a:t>
            </a:r>
            <a:r>
              <a:rPr lang="en-US" sz="1200" b="0" kern="1200" baseline="0" dirty="0" smtClean="0">
                <a:solidFill>
                  <a:schemeClr val="tx1"/>
                </a:solidFill>
                <a:latin typeface="Arial" charset="0"/>
                <a:ea typeface="ＭＳ Ｐゴシック" charset="-128"/>
                <a:cs typeface="ＭＳ Ｐゴシック" charset="-128"/>
              </a:rPr>
              <a:t>of elements 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an element </a:t>
            </a:r>
            <a:r>
              <a:rPr lang="en-US" sz="1200" b="0" i="1" kern="1200" baseline="0" dirty="0" smtClean="0">
                <a:solidFill>
                  <a:schemeClr val="tx1"/>
                </a:solidFill>
                <a:latin typeface="Arial" charset="0"/>
                <a:ea typeface="ＭＳ Ｐゴシック" charset="-128"/>
                <a:cs typeface="ＭＳ Ｐゴシック" charset="-128"/>
              </a:rPr>
              <a:t>(a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b ) </a:t>
            </a:r>
            <a:r>
              <a:rPr lang="en-US" sz="1200" b="0" kern="1200" baseline="0" dirty="0" smtClean="0">
                <a:solidFill>
                  <a:schemeClr val="tx1"/>
                </a:solidFill>
                <a:latin typeface="Arial" charset="0"/>
                <a:ea typeface="ＭＳ Ｐゴシック" charset="-128"/>
                <a:cs typeface="ＭＳ Ｐゴシック" charset="-128"/>
              </a:rPr>
              <a:t>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 such that the following</a:t>
            </a:r>
          </a:p>
          <a:p>
            <a:r>
              <a:rPr lang="en-US" sz="1200" b="0" kern="1200" baseline="0" dirty="0" smtClean="0">
                <a:solidFill>
                  <a:schemeClr val="tx1"/>
                </a:solidFill>
                <a:latin typeface="Arial" charset="0"/>
                <a:ea typeface="ＭＳ Ｐゴシック" charset="-128"/>
                <a:cs typeface="ＭＳ Ｐゴシック" charset="-128"/>
              </a:rPr>
              <a:t>axioms are obeyed:</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(A1) Closure:  If </a:t>
            </a:r>
            <a:r>
              <a:rPr lang="en-US" sz="1200" b="0" i="1" kern="1200" baseline="0" dirty="0" smtClean="0">
                <a:solidFill>
                  <a:schemeClr val="tx1"/>
                </a:solidFill>
                <a:latin typeface="Arial" charset="0"/>
                <a:ea typeface="ＭＳ Ｐゴシック" charset="-128"/>
                <a:cs typeface="ＭＳ Ｐゴシック" charset="-128"/>
              </a:rPr>
              <a:t>a</a:t>
            </a:r>
            <a:r>
              <a:rPr lang="en-US" sz="1200" b="0" kern="1200" baseline="0" dirty="0" smtClean="0">
                <a:solidFill>
                  <a:schemeClr val="tx1"/>
                </a:solidFill>
                <a:latin typeface="Arial" charset="0"/>
                <a:ea typeface="ＭＳ Ｐゴシック" charset="-128"/>
                <a:cs typeface="ＭＳ Ｐゴシック" charset="-128"/>
              </a:rPr>
              <a:t>  and </a:t>
            </a:r>
            <a:r>
              <a:rPr lang="en-US" sz="1200" b="0" i="1" kern="1200" baseline="0" dirty="0" smtClean="0">
                <a:solidFill>
                  <a:schemeClr val="tx1"/>
                </a:solidFill>
                <a:latin typeface="Arial" charset="0"/>
                <a:ea typeface="ＭＳ Ｐゴシック" charset="-128"/>
                <a:cs typeface="ＭＳ Ｐゴシック" charset="-128"/>
              </a:rPr>
              <a:t>b</a:t>
            </a:r>
            <a:r>
              <a:rPr lang="en-US" sz="1200" b="0" kern="1200" baseline="0" dirty="0" smtClean="0">
                <a:solidFill>
                  <a:schemeClr val="tx1"/>
                </a:solidFill>
                <a:latin typeface="Arial" charset="0"/>
                <a:ea typeface="ＭＳ Ｐゴシック" charset="-128"/>
                <a:cs typeface="ＭＳ Ｐゴシック" charset="-128"/>
              </a:rPr>
              <a:t>  belong to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 then </a:t>
            </a:r>
            <a:r>
              <a:rPr lang="en-US" sz="1200" b="0" i="1" kern="1200" baseline="0" dirty="0" smtClean="0">
                <a:solidFill>
                  <a:schemeClr val="tx1"/>
                </a:solidFill>
                <a:latin typeface="Arial" charset="0"/>
                <a:ea typeface="ＭＳ Ｐゴシック" charset="-128"/>
                <a:cs typeface="ＭＳ Ｐゴシック" charset="-128"/>
              </a:rPr>
              <a:t>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b  </a:t>
            </a:r>
            <a:r>
              <a:rPr lang="en-US" sz="1200" b="0" kern="1200" baseline="0" dirty="0" smtClean="0">
                <a:solidFill>
                  <a:schemeClr val="tx1"/>
                </a:solidFill>
                <a:latin typeface="Arial" charset="0"/>
                <a:ea typeface="ＭＳ Ｐゴシック" charset="-128"/>
                <a:cs typeface="ＭＳ Ｐゴシック" charset="-128"/>
              </a:rPr>
              <a:t>is also 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(A2) Associative: </a:t>
            </a:r>
            <a:r>
              <a:rPr lang="en-US" sz="1200" b="0" i="1" kern="1200" baseline="0" dirty="0" smtClean="0">
                <a:solidFill>
                  <a:schemeClr val="tx1"/>
                </a:solidFill>
                <a:latin typeface="Arial" charset="0"/>
                <a:ea typeface="ＭＳ Ｐゴシック" charset="-128"/>
                <a:cs typeface="ＭＳ Ｐゴシック" charset="-128"/>
              </a:rPr>
              <a:t>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(b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c ) =  (a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b )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c  </a:t>
            </a:r>
            <a:r>
              <a:rPr lang="en-US" sz="1200" b="0" kern="1200" baseline="0" dirty="0" smtClean="0">
                <a:solidFill>
                  <a:schemeClr val="tx1"/>
                </a:solidFill>
                <a:latin typeface="Arial" charset="0"/>
                <a:ea typeface="ＭＳ Ｐゴシック" charset="-128"/>
                <a:cs typeface="ＭＳ Ｐゴシック" charset="-128"/>
              </a:rPr>
              <a:t>for all </a:t>
            </a:r>
            <a:r>
              <a:rPr lang="en-US" sz="1200" b="0" i="1" kern="1200" baseline="0" dirty="0" smtClean="0">
                <a:solidFill>
                  <a:schemeClr val="tx1"/>
                </a:solidFill>
                <a:latin typeface="Arial" charset="0"/>
                <a:ea typeface="ＭＳ Ｐゴシック" charset="-128"/>
                <a:cs typeface="ＭＳ Ｐゴシック" charset="-128"/>
              </a:rPr>
              <a:t>a , b , c  </a:t>
            </a:r>
            <a:r>
              <a:rPr lang="en-US" sz="1200" b="0" kern="1200" baseline="0" dirty="0" smtClean="0">
                <a:solidFill>
                  <a:schemeClr val="tx1"/>
                </a:solidFill>
                <a:latin typeface="Arial" charset="0"/>
                <a:ea typeface="ＭＳ Ｐゴシック" charset="-128"/>
                <a:cs typeface="ＭＳ Ｐゴシック" charset="-128"/>
              </a:rPr>
              <a:t>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(A3) Identity element:  There is an element </a:t>
            </a:r>
            <a:r>
              <a:rPr lang="en-US" sz="1200" b="0" i="1" kern="1200" baseline="0" dirty="0" smtClean="0">
                <a:solidFill>
                  <a:schemeClr val="tx1"/>
                </a:solidFill>
                <a:latin typeface="Arial" charset="0"/>
                <a:ea typeface="ＭＳ Ｐゴシック" charset="-128"/>
                <a:cs typeface="ＭＳ Ｐゴシック" charset="-128"/>
              </a:rPr>
              <a:t>e</a:t>
            </a:r>
            <a:r>
              <a:rPr lang="en-US" sz="1200" b="0" kern="1200" baseline="0" dirty="0" smtClean="0">
                <a:solidFill>
                  <a:schemeClr val="tx1"/>
                </a:solidFill>
                <a:latin typeface="Arial" charset="0"/>
                <a:ea typeface="ＭＳ Ｐゴシック" charset="-128"/>
                <a:cs typeface="ＭＳ Ｐゴシック" charset="-128"/>
              </a:rPr>
              <a:t> 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such that </a:t>
            </a:r>
            <a:r>
              <a:rPr lang="en-US" sz="1200" b="0" i="1" kern="1200" baseline="0" dirty="0" smtClean="0">
                <a:solidFill>
                  <a:schemeClr val="tx1"/>
                </a:solidFill>
                <a:latin typeface="Arial" charset="0"/>
                <a:ea typeface="ＭＳ Ｐゴシック" charset="-128"/>
                <a:cs typeface="ＭＳ Ｐゴシック" charset="-128"/>
              </a:rPr>
              <a:t>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e =  e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a = a</a:t>
            </a:r>
          </a:p>
          <a:p>
            <a:r>
              <a:rPr lang="en-US" sz="1200" b="0" kern="1200" baseline="0" dirty="0" smtClean="0">
                <a:solidFill>
                  <a:schemeClr val="tx1"/>
                </a:solidFill>
                <a:latin typeface="Arial" charset="0"/>
                <a:ea typeface="ＭＳ Ｐゴシック" charset="-128"/>
                <a:cs typeface="ＭＳ Ｐゴシック" charset="-128"/>
              </a:rPr>
              <a:t> for all </a:t>
            </a:r>
            <a:r>
              <a:rPr lang="en-US" sz="1200" b="0" i="1" kern="1200" baseline="0" dirty="0" smtClean="0">
                <a:solidFill>
                  <a:schemeClr val="tx1"/>
                </a:solidFill>
                <a:latin typeface="Arial" charset="0"/>
                <a:ea typeface="ＭＳ Ｐゴシック" charset="-128"/>
                <a:cs typeface="ＭＳ Ｐゴシック" charset="-128"/>
              </a:rPr>
              <a:t>a</a:t>
            </a:r>
            <a:r>
              <a:rPr lang="en-US" sz="1200" b="0" kern="1200" baseline="0" dirty="0" smtClean="0">
                <a:solidFill>
                  <a:schemeClr val="tx1"/>
                </a:solidFill>
                <a:latin typeface="Arial" charset="0"/>
                <a:ea typeface="ＭＳ Ｐゴシック" charset="-128"/>
                <a:cs typeface="ＭＳ Ｐゴシック" charset="-128"/>
              </a:rPr>
              <a:t>  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(A4) Inverse element:  For each </a:t>
            </a:r>
            <a:r>
              <a:rPr lang="en-US" sz="1200" b="0" i="1" kern="1200" baseline="0" dirty="0" smtClean="0">
                <a:solidFill>
                  <a:schemeClr val="tx1"/>
                </a:solidFill>
                <a:latin typeface="Arial" charset="0"/>
                <a:ea typeface="ＭＳ Ｐゴシック" charset="-128"/>
                <a:cs typeface="ＭＳ Ｐゴシック" charset="-128"/>
              </a:rPr>
              <a:t>a</a:t>
            </a:r>
            <a:r>
              <a:rPr lang="en-US" sz="1200" b="0" kern="1200" baseline="0" dirty="0" smtClean="0">
                <a:solidFill>
                  <a:schemeClr val="tx1"/>
                </a:solidFill>
                <a:latin typeface="Arial" charset="0"/>
                <a:ea typeface="ＭＳ Ｐゴシック" charset="-128"/>
                <a:cs typeface="ＭＳ Ｐゴシック" charset="-128"/>
              </a:rPr>
              <a:t>  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there is an element </a:t>
            </a:r>
            <a:r>
              <a:rPr lang="en-US" sz="1200" b="0" i="1" kern="1200" baseline="0" dirty="0" smtClean="0">
                <a:solidFill>
                  <a:schemeClr val="tx1"/>
                </a:solidFill>
                <a:latin typeface="Arial" charset="0"/>
                <a:ea typeface="ＭＳ Ｐゴシック" charset="-128"/>
                <a:cs typeface="ＭＳ Ｐゴシック" charset="-128"/>
              </a:rPr>
              <a:t>a′  </a:t>
            </a:r>
            <a:r>
              <a:rPr lang="en-US" sz="1200" b="0" kern="1200" baseline="0" dirty="0" smtClean="0">
                <a:solidFill>
                  <a:schemeClr val="tx1"/>
                </a:solidFill>
                <a:latin typeface="Arial" charset="0"/>
                <a:ea typeface="ＭＳ Ｐゴシック" charset="-128"/>
                <a:cs typeface="ＭＳ Ｐゴシック" charset="-128"/>
              </a:rPr>
              <a:t>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such that</a:t>
            </a:r>
          </a:p>
          <a:p>
            <a:r>
              <a:rPr lang="en-US" sz="1200" b="0" i="1" kern="1200" baseline="0" dirty="0" smtClean="0">
                <a:solidFill>
                  <a:schemeClr val="tx1"/>
                </a:solidFill>
                <a:latin typeface="Arial" charset="0"/>
                <a:ea typeface="ＭＳ Ｐゴシック" charset="-128"/>
                <a:cs typeface="ＭＳ Ｐゴシック" charset="-128"/>
              </a:rPr>
              <a:t>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a′ = 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a =  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(A5) Commutative: </a:t>
            </a:r>
            <a:r>
              <a:rPr lang="en-US" sz="1200" b="0" i="1" kern="1200" baseline="0" dirty="0" smtClean="0">
                <a:solidFill>
                  <a:schemeClr val="tx1"/>
                </a:solidFill>
                <a:latin typeface="Arial" charset="0"/>
                <a:ea typeface="ＭＳ Ｐゴシック" charset="-128"/>
                <a:cs typeface="ＭＳ Ｐゴシック" charset="-128"/>
              </a:rPr>
              <a:t>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b = b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a  </a:t>
            </a:r>
            <a:r>
              <a:rPr lang="en-US" sz="1200" b="0" kern="1200" baseline="0" dirty="0" smtClean="0">
                <a:solidFill>
                  <a:schemeClr val="tx1"/>
                </a:solidFill>
                <a:latin typeface="Arial" charset="0"/>
                <a:ea typeface="ＭＳ Ｐゴシック" charset="-128"/>
                <a:cs typeface="ＭＳ Ｐゴシック" charset="-128"/>
              </a:rPr>
              <a:t>for all </a:t>
            </a:r>
            <a:r>
              <a:rPr lang="en-US" sz="1200" b="0" i="1" kern="1200" baseline="0" dirty="0" smtClean="0">
                <a:solidFill>
                  <a:schemeClr val="tx1"/>
                </a:solidFill>
                <a:latin typeface="Arial" charset="0"/>
                <a:ea typeface="ＭＳ Ｐゴシック" charset="-128"/>
                <a:cs typeface="ＭＳ Ｐゴシック" charset="-128"/>
              </a:rPr>
              <a:t>a , b</a:t>
            </a:r>
            <a:r>
              <a:rPr lang="en-US" sz="1200" b="0" kern="1200" baseline="0" dirty="0" smtClean="0">
                <a:solidFill>
                  <a:schemeClr val="tx1"/>
                </a:solidFill>
                <a:latin typeface="Arial" charset="0"/>
                <a:ea typeface="ＭＳ Ｐゴシック" charset="-128"/>
                <a:cs typeface="ＭＳ Ｐゴシック" charset="-128"/>
              </a:rPr>
              <a:t>  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a:t>
            </a:r>
            <a:endParaRPr lang="en-US" b="0"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11</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28322C68-9874-644A-8088-FCCBDC624BBF}" type="slidenum">
              <a:rPr lang="en-AU">
                <a:latin typeface="Arial" pitchFamily="-84" charset="0"/>
              </a:rPr>
              <a:pPr/>
              <a:t>12</a:t>
            </a:fld>
            <a:endParaRPr lang="en-AU" dirty="0">
              <a:latin typeface="Arial" pitchFamily="-84"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charset="-128"/>
                <a:cs typeface="ＭＳ Ｐゴシック" charset="-128"/>
              </a:rPr>
              <a:t>Elliptic curves are not ellipses. They are so named because they are described by</a:t>
            </a:r>
          </a:p>
          <a:p>
            <a:r>
              <a:rPr lang="en-US" sz="1200" b="0" kern="1200" baseline="0" dirty="0" smtClean="0">
                <a:solidFill>
                  <a:schemeClr val="tx1"/>
                </a:solidFill>
                <a:latin typeface="Arial" charset="0"/>
                <a:ea typeface="ＭＳ Ｐゴシック" charset="-128"/>
                <a:cs typeface="ＭＳ Ｐゴシック" charset="-128"/>
              </a:rPr>
              <a:t>cubic equations, similar to those used for calculating the circumference of an ellipse.</a:t>
            </a:r>
          </a:p>
          <a:p>
            <a:r>
              <a:rPr lang="en-US" sz="1200" b="0" kern="1200" baseline="0" dirty="0" smtClean="0">
                <a:solidFill>
                  <a:schemeClr val="tx1"/>
                </a:solidFill>
                <a:latin typeface="Arial" charset="0"/>
                <a:ea typeface="ＭＳ Ｐゴシック" charset="-128"/>
                <a:cs typeface="ＭＳ Ｐゴシック" charset="-128"/>
              </a:rPr>
              <a:t>In general, cubic equations for elliptic curves take the following form, known as a</a:t>
            </a:r>
          </a:p>
          <a:p>
            <a:r>
              <a:rPr lang="en-US" sz="1200" b="0" kern="1200" baseline="0" dirty="0" smtClean="0">
                <a:solidFill>
                  <a:schemeClr val="tx1"/>
                </a:solidFill>
                <a:latin typeface="Arial" charset="0"/>
                <a:ea typeface="ＭＳ Ｐゴシック" charset="-128"/>
                <a:cs typeface="ＭＳ Ｐゴシック" charset="-128"/>
              </a:rPr>
              <a:t>Weierstrass equation:</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i="1" kern="1200" baseline="0" dirty="0" smtClean="0">
                <a:solidFill>
                  <a:schemeClr val="tx1"/>
                </a:solidFill>
                <a:latin typeface="Arial" charset="0"/>
                <a:ea typeface="ＭＳ Ｐゴシック" charset="-128"/>
                <a:cs typeface="ＭＳ Ｐゴシック" charset="-128"/>
              </a:rPr>
              <a:t>y</a:t>
            </a:r>
            <a:r>
              <a:rPr lang="en-US" sz="1200" b="0" i="1" kern="1200" baseline="30000" dirty="0" smtClean="0">
                <a:solidFill>
                  <a:schemeClr val="tx1"/>
                </a:solidFill>
                <a:latin typeface="Arial" charset="0"/>
                <a:ea typeface="ＭＳ Ｐゴシック" charset="-128"/>
                <a:cs typeface="ＭＳ Ｐゴシック" charset="-128"/>
              </a:rPr>
              <a:t>2</a:t>
            </a:r>
            <a:r>
              <a:rPr lang="en-US" sz="1200" b="0" i="1" kern="1200" baseline="0" dirty="0" smtClean="0">
                <a:solidFill>
                  <a:schemeClr val="tx1"/>
                </a:solidFill>
                <a:latin typeface="Arial" charset="0"/>
                <a:ea typeface="ＭＳ Ｐゴシック" charset="-128"/>
                <a:cs typeface="ＭＳ Ｐゴシック" charset="-128"/>
              </a:rPr>
              <a:t> + axy + by = x</a:t>
            </a:r>
            <a:r>
              <a:rPr lang="en-US" sz="1200" b="0" i="1" kern="1200" baseline="30000" dirty="0" smtClean="0">
                <a:solidFill>
                  <a:schemeClr val="tx1"/>
                </a:solidFill>
                <a:latin typeface="Arial" charset="0"/>
                <a:ea typeface="ＭＳ Ｐゴシック" charset="-128"/>
                <a:cs typeface="ＭＳ Ｐゴシック" charset="-128"/>
              </a:rPr>
              <a:t>3</a:t>
            </a:r>
            <a:r>
              <a:rPr lang="en-US" sz="1200" b="0" i="1" kern="1200" baseline="0" dirty="0" smtClean="0">
                <a:solidFill>
                  <a:schemeClr val="tx1"/>
                </a:solidFill>
                <a:latin typeface="Arial" charset="0"/>
                <a:ea typeface="ＭＳ Ｐゴシック" charset="-128"/>
                <a:cs typeface="ＭＳ Ｐゴシック" charset="-128"/>
              </a:rPr>
              <a:t> + cx</a:t>
            </a:r>
            <a:r>
              <a:rPr lang="en-US" sz="1200" b="0" i="1" kern="1200" baseline="30000" dirty="0" smtClean="0">
                <a:solidFill>
                  <a:schemeClr val="tx1"/>
                </a:solidFill>
                <a:latin typeface="Arial" charset="0"/>
                <a:ea typeface="ＭＳ Ｐゴシック" charset="-128"/>
                <a:cs typeface="ＭＳ Ｐゴシック" charset="-128"/>
              </a:rPr>
              <a:t>2</a:t>
            </a:r>
            <a:r>
              <a:rPr lang="en-US" sz="1200" b="0" i="1" kern="1200" baseline="0" dirty="0" smtClean="0">
                <a:solidFill>
                  <a:schemeClr val="tx1"/>
                </a:solidFill>
                <a:latin typeface="Arial" charset="0"/>
                <a:ea typeface="ＭＳ Ｐゴシック" charset="-128"/>
                <a:cs typeface="ＭＳ Ｐゴシック" charset="-128"/>
              </a:rPr>
              <a:t> + dx + 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where </a:t>
            </a:r>
            <a:r>
              <a:rPr lang="en-US" sz="1200" b="0" i="1" kern="1200" baseline="0" dirty="0" smtClean="0">
                <a:solidFill>
                  <a:schemeClr val="tx1"/>
                </a:solidFill>
                <a:latin typeface="Arial" charset="0"/>
                <a:ea typeface="ＭＳ Ｐゴシック" charset="-128"/>
                <a:cs typeface="ＭＳ Ｐゴシック" charset="-128"/>
              </a:rPr>
              <a:t>a , b , c , d , e  </a:t>
            </a:r>
            <a:r>
              <a:rPr lang="en-US" sz="1200" b="0" kern="1200" baseline="0" dirty="0" smtClean="0">
                <a:solidFill>
                  <a:schemeClr val="tx1"/>
                </a:solidFill>
                <a:latin typeface="Arial" charset="0"/>
                <a:ea typeface="ＭＳ Ｐゴシック" charset="-128"/>
                <a:cs typeface="ＭＳ Ｐゴシック" charset="-128"/>
              </a:rPr>
              <a:t>are real numbers and </a:t>
            </a:r>
            <a:r>
              <a:rPr lang="en-US" sz="1200" b="0" i="1" kern="1200" baseline="0" dirty="0" smtClean="0">
                <a:solidFill>
                  <a:schemeClr val="tx1"/>
                </a:solidFill>
                <a:latin typeface="Arial" charset="0"/>
                <a:ea typeface="ＭＳ Ｐゴシック" charset="-128"/>
                <a:cs typeface="ＭＳ Ｐゴシック" charset="-128"/>
              </a:rPr>
              <a:t>x</a:t>
            </a:r>
            <a:r>
              <a:rPr lang="en-US" sz="1200" b="0" kern="1200" baseline="0" dirty="0" smtClean="0">
                <a:solidFill>
                  <a:schemeClr val="tx1"/>
                </a:solidFill>
                <a:latin typeface="Arial" charset="0"/>
                <a:ea typeface="ＭＳ Ｐゴシック" charset="-128"/>
                <a:cs typeface="ＭＳ Ｐゴシック" charset="-128"/>
              </a:rPr>
              <a:t>  and </a:t>
            </a:r>
            <a:r>
              <a:rPr lang="en-US" sz="1200" b="0" i="1" kern="1200" baseline="0" dirty="0" smtClean="0">
                <a:solidFill>
                  <a:schemeClr val="tx1"/>
                </a:solidFill>
                <a:latin typeface="Arial" charset="0"/>
                <a:ea typeface="ＭＳ Ｐゴシック" charset="-128"/>
                <a:cs typeface="ＭＳ Ｐゴシック" charset="-128"/>
              </a:rPr>
              <a:t>y</a:t>
            </a:r>
            <a:r>
              <a:rPr lang="en-US" sz="1200" b="0" kern="1200" baseline="0" dirty="0" smtClean="0">
                <a:solidFill>
                  <a:schemeClr val="tx1"/>
                </a:solidFill>
                <a:latin typeface="Arial" charset="0"/>
                <a:ea typeface="ＭＳ Ｐゴシック" charset="-128"/>
                <a:cs typeface="ＭＳ Ｐゴシック" charset="-128"/>
              </a:rPr>
              <a:t>  take on values in the real numbers.</a:t>
            </a:r>
          </a:p>
          <a:p>
            <a:r>
              <a:rPr lang="en-US" sz="1200" b="0" kern="1200" baseline="0" dirty="0" smtClean="0">
                <a:solidFill>
                  <a:schemeClr val="tx1"/>
                </a:solidFill>
                <a:latin typeface="Arial" charset="0"/>
                <a:ea typeface="ＭＳ Ｐゴシック" charset="-128"/>
                <a:cs typeface="ＭＳ Ｐゴシック" charset="-128"/>
              </a:rPr>
              <a:t> For our purpose, it is sufficient to limit ourselves to equations of the form</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y</a:t>
            </a:r>
            <a:r>
              <a:rPr lang="en-US" sz="1200" b="0" i="1" kern="1200" baseline="30000" dirty="0" smtClean="0">
                <a:solidFill>
                  <a:schemeClr val="tx1"/>
                </a:solidFill>
                <a:latin typeface="Arial" charset="0"/>
                <a:ea typeface="ＭＳ Ｐゴシック" charset="-128"/>
                <a:cs typeface="ＭＳ Ｐゴシック" charset="-128"/>
              </a:rPr>
              <a:t>2</a:t>
            </a:r>
            <a:r>
              <a:rPr lang="en-US" sz="1200" b="0" kern="1200" baseline="0" dirty="0" smtClean="0">
                <a:solidFill>
                  <a:schemeClr val="tx1"/>
                </a:solidFill>
                <a:latin typeface="Arial" charset="0"/>
                <a:ea typeface="ＭＳ Ｐゴシック" charset="-128"/>
                <a:cs typeface="ＭＳ Ｐゴシック" charset="-128"/>
              </a:rPr>
              <a:t> = x</a:t>
            </a:r>
            <a:r>
              <a:rPr lang="en-US" sz="1200" b="0" i="1" kern="1200" baseline="30000" dirty="0" smtClean="0">
                <a:solidFill>
                  <a:schemeClr val="tx1"/>
                </a:solidFill>
                <a:latin typeface="Arial" charset="0"/>
                <a:ea typeface="ＭＳ Ｐゴシック" charset="-128"/>
                <a:cs typeface="ＭＳ Ｐゴシック" charset="-128"/>
              </a:rPr>
              <a:t>3</a:t>
            </a:r>
            <a:r>
              <a:rPr lang="en-US" sz="1200" b="0" kern="1200" baseline="0" dirty="0" smtClean="0">
                <a:solidFill>
                  <a:schemeClr val="tx1"/>
                </a:solidFill>
                <a:latin typeface="Arial" charset="0"/>
                <a:ea typeface="ＭＳ Ｐゴシック" charset="-128"/>
                <a:cs typeface="ＭＳ Ｐゴシック" charset="-128"/>
              </a:rPr>
              <a:t> + ax + b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Such equations are said to be cubic, or of degree 3, because the highest</a:t>
            </a:r>
          </a:p>
          <a:p>
            <a:r>
              <a:rPr lang="en-US" sz="1200" b="0" kern="1200" baseline="0" dirty="0" smtClean="0">
                <a:solidFill>
                  <a:schemeClr val="tx1"/>
                </a:solidFill>
                <a:latin typeface="Arial" charset="0"/>
                <a:ea typeface="ＭＳ Ｐゴシック" charset="-128"/>
                <a:cs typeface="ＭＳ Ｐゴシック" charset="-128"/>
              </a:rPr>
              <a:t>exponent they contain is a 3. Also included in the definition of an elliptic curve is a</a:t>
            </a:r>
          </a:p>
          <a:p>
            <a:r>
              <a:rPr lang="en-US" sz="1200" b="0" kern="1200" baseline="0" dirty="0" smtClean="0">
                <a:solidFill>
                  <a:schemeClr val="tx1"/>
                </a:solidFill>
                <a:latin typeface="Arial" charset="0"/>
                <a:ea typeface="ＭＳ Ｐゴシック" charset="-128"/>
                <a:cs typeface="ＭＳ Ｐゴシック" charset="-128"/>
              </a:rPr>
              <a:t>single element denoted O  and called the point at infinity  or the zero point , which we</a:t>
            </a:r>
          </a:p>
          <a:p>
            <a:r>
              <a:rPr lang="en-US" sz="1200" b="0" kern="1200" baseline="0" dirty="0" smtClean="0">
                <a:solidFill>
                  <a:schemeClr val="tx1"/>
                </a:solidFill>
                <a:latin typeface="Arial" charset="0"/>
                <a:ea typeface="ＭＳ Ｐゴシック" charset="-128"/>
                <a:cs typeface="ＭＳ Ｐゴシック" charset="-128"/>
              </a:rPr>
              <a:t>discuss subsequently. To plot such a curve, we need to compute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i="1" kern="1200" baseline="0" dirty="0" smtClean="0">
                <a:solidFill>
                  <a:schemeClr val="tx1"/>
                </a:solidFill>
                <a:latin typeface="Arial" charset="0"/>
                <a:ea typeface="ＭＳ Ｐゴシック" charset="-128"/>
                <a:cs typeface="ＭＳ Ｐゴシック" charset="-128"/>
              </a:rPr>
              <a:t>y = √x</a:t>
            </a:r>
            <a:r>
              <a:rPr lang="en-US" sz="1200" b="0" i="1" kern="1200" baseline="30000" dirty="0" smtClean="0">
                <a:solidFill>
                  <a:schemeClr val="tx1"/>
                </a:solidFill>
                <a:latin typeface="Arial" charset="0"/>
                <a:ea typeface="ＭＳ Ｐゴシック" charset="-128"/>
                <a:cs typeface="ＭＳ Ｐゴシック" charset="-128"/>
              </a:rPr>
              <a:t>3</a:t>
            </a:r>
            <a:r>
              <a:rPr lang="en-US" sz="1200" b="0" i="1" kern="1200" baseline="0" dirty="0" smtClean="0">
                <a:solidFill>
                  <a:schemeClr val="tx1"/>
                </a:solidFill>
                <a:latin typeface="Arial" charset="0"/>
                <a:ea typeface="ＭＳ Ｐゴシック" charset="-128"/>
                <a:cs typeface="ＭＳ Ｐゴシック" charset="-128"/>
              </a:rPr>
              <a:t> + ax + b</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For given values of </a:t>
            </a:r>
            <a:r>
              <a:rPr lang="en-US" sz="1200" b="0" i="1" kern="1200" baseline="0" dirty="0" smtClean="0">
                <a:solidFill>
                  <a:schemeClr val="tx1"/>
                </a:solidFill>
                <a:latin typeface="Arial" charset="0"/>
                <a:ea typeface="ＭＳ Ｐゴシック" charset="-128"/>
                <a:cs typeface="ＭＳ Ｐゴシック" charset="-128"/>
              </a:rPr>
              <a:t>a</a:t>
            </a:r>
            <a:r>
              <a:rPr lang="en-US" sz="1200" b="0" kern="1200" baseline="0" dirty="0" smtClean="0">
                <a:solidFill>
                  <a:schemeClr val="tx1"/>
                </a:solidFill>
                <a:latin typeface="Arial" charset="0"/>
                <a:ea typeface="ＭＳ Ｐゴシック" charset="-128"/>
                <a:cs typeface="ＭＳ Ｐゴシック" charset="-128"/>
              </a:rPr>
              <a:t>  and </a:t>
            </a:r>
            <a:r>
              <a:rPr lang="en-US" sz="1200" b="0" i="1" kern="1200" baseline="0" dirty="0" smtClean="0">
                <a:solidFill>
                  <a:schemeClr val="tx1"/>
                </a:solidFill>
                <a:latin typeface="Arial" charset="0"/>
                <a:ea typeface="ＭＳ Ｐゴシック" charset="-128"/>
                <a:cs typeface="ＭＳ Ｐゴシック" charset="-128"/>
              </a:rPr>
              <a:t>b</a:t>
            </a:r>
            <a:r>
              <a:rPr lang="en-US" sz="1200" b="0" kern="1200" baseline="0" dirty="0" smtClean="0">
                <a:solidFill>
                  <a:schemeClr val="tx1"/>
                </a:solidFill>
                <a:latin typeface="Arial" charset="0"/>
                <a:ea typeface="ＭＳ Ｐゴシック" charset="-128"/>
                <a:cs typeface="ＭＳ Ｐゴシック" charset="-128"/>
              </a:rPr>
              <a:t> , the plot consists of positive and negative values of </a:t>
            </a:r>
            <a:r>
              <a:rPr lang="en-US" sz="1200" b="0" i="1" kern="1200" baseline="0" dirty="0" smtClean="0">
                <a:solidFill>
                  <a:schemeClr val="tx1"/>
                </a:solidFill>
                <a:latin typeface="Arial" charset="0"/>
                <a:ea typeface="ＭＳ Ｐゴシック" charset="-128"/>
                <a:cs typeface="ＭＳ Ｐゴシック" charset="-128"/>
              </a:rPr>
              <a:t>y</a:t>
            </a:r>
            <a:r>
              <a:rPr lang="en-US" sz="1200" b="0" kern="1200" baseline="0" dirty="0" smtClean="0">
                <a:solidFill>
                  <a:schemeClr val="tx1"/>
                </a:solidFill>
                <a:latin typeface="Arial" charset="0"/>
                <a:ea typeface="ＭＳ Ｐゴシック" charset="-128"/>
                <a:cs typeface="ＭＳ Ｐゴシック" charset="-128"/>
              </a:rPr>
              <a:t>  for</a:t>
            </a:r>
          </a:p>
          <a:p>
            <a:r>
              <a:rPr lang="en-US" sz="1200" b="0" kern="1200" baseline="0" dirty="0" smtClean="0">
                <a:solidFill>
                  <a:schemeClr val="tx1"/>
                </a:solidFill>
                <a:latin typeface="Arial" charset="0"/>
                <a:ea typeface="ＭＳ Ｐゴシック" charset="-128"/>
                <a:cs typeface="ＭＳ Ｐゴシック" charset="-128"/>
              </a:rPr>
              <a:t>each value of </a:t>
            </a:r>
            <a:r>
              <a:rPr lang="en-US" sz="1200" b="0" i="1" kern="1200" baseline="0" dirty="0" smtClean="0">
                <a:solidFill>
                  <a:schemeClr val="tx1"/>
                </a:solidFill>
                <a:latin typeface="Arial" charset="0"/>
                <a:ea typeface="ＭＳ Ｐゴシック" charset="-128"/>
                <a:cs typeface="ＭＳ Ｐゴシック" charset="-128"/>
              </a:rPr>
              <a:t>x </a:t>
            </a:r>
            <a:r>
              <a:rPr lang="en-US" sz="1200" b="0" kern="1200" baseline="0" dirty="0" smtClean="0">
                <a:solidFill>
                  <a:schemeClr val="tx1"/>
                </a:solidFill>
                <a:latin typeface="Arial" charset="0"/>
                <a:ea typeface="ＭＳ Ｐゴシック" charset="-128"/>
                <a:cs typeface="ＭＳ Ｐゴシック" charset="-128"/>
              </a:rPr>
              <a:t>. Thus, each curve is symmetric about </a:t>
            </a:r>
            <a:r>
              <a:rPr lang="en-US" sz="1200" b="0" i="1" kern="1200" baseline="0" dirty="0" smtClean="0">
                <a:solidFill>
                  <a:schemeClr val="tx1"/>
                </a:solidFill>
                <a:latin typeface="Arial" charset="0"/>
                <a:ea typeface="ＭＳ Ｐゴシック" charset="-128"/>
                <a:cs typeface="ＭＳ Ｐゴシック" charset="-128"/>
              </a:rPr>
              <a:t>y =  0</a:t>
            </a:r>
            <a:r>
              <a:rPr lang="en-US" sz="1200" b="0" kern="1200" baseline="0" dirty="0" smtClean="0">
                <a:solidFill>
                  <a:schemeClr val="tx1"/>
                </a:solidFill>
                <a:latin typeface="Arial" charset="0"/>
                <a:ea typeface="ＭＳ Ｐゴシック" charset="-128"/>
                <a:cs typeface="ＭＳ Ｐゴシック" charset="-128"/>
              </a:rPr>
              <a:t>. Figure 10.4 shows two</a:t>
            </a:r>
          </a:p>
          <a:p>
            <a:r>
              <a:rPr lang="en-US" sz="1200" b="0" kern="1200" baseline="0" dirty="0" smtClean="0">
                <a:solidFill>
                  <a:schemeClr val="tx1"/>
                </a:solidFill>
                <a:latin typeface="Arial" charset="0"/>
                <a:ea typeface="ＭＳ Ｐゴシック" charset="-128"/>
                <a:cs typeface="ＭＳ Ｐゴシック" charset="-128"/>
              </a:rPr>
              <a:t>examples of elliptic curves. As you can see, the formula sometimes produces weird looking</a:t>
            </a:r>
          </a:p>
          <a:p>
            <a:r>
              <a:rPr lang="en-US" sz="1200" b="0" kern="1200" baseline="0" dirty="0" smtClean="0">
                <a:solidFill>
                  <a:schemeClr val="tx1"/>
                </a:solidFill>
                <a:latin typeface="Arial" charset="0"/>
                <a:ea typeface="ＭＳ Ｐゴシック" charset="-128"/>
                <a:cs typeface="ＭＳ Ｐゴシック" charset="-128"/>
              </a:rPr>
              <a:t>curves.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Now, consider the set of points E(</a:t>
            </a:r>
            <a:r>
              <a:rPr lang="en-US" sz="1200" b="0" i="1" kern="1200" baseline="0" dirty="0" smtClean="0">
                <a:solidFill>
                  <a:schemeClr val="tx1"/>
                </a:solidFill>
                <a:latin typeface="Arial" charset="0"/>
                <a:ea typeface="ＭＳ Ｐゴシック" charset="-128"/>
                <a:cs typeface="ＭＳ Ｐゴシック" charset="-128"/>
              </a:rPr>
              <a:t>a , b </a:t>
            </a:r>
            <a:r>
              <a:rPr lang="en-US" sz="1200" b="0" kern="1200" baseline="0" dirty="0" smtClean="0">
                <a:solidFill>
                  <a:schemeClr val="tx1"/>
                </a:solidFill>
                <a:latin typeface="Arial" charset="0"/>
                <a:ea typeface="ＭＳ Ｐゴシック" charset="-128"/>
                <a:cs typeface="ＭＳ Ｐゴシック" charset="-128"/>
              </a:rPr>
              <a:t>) consisting of all of the points (</a:t>
            </a:r>
            <a:r>
              <a:rPr lang="en-US" sz="1200" b="0" i="1" kern="1200" baseline="0" dirty="0" smtClean="0">
                <a:solidFill>
                  <a:schemeClr val="tx1"/>
                </a:solidFill>
                <a:latin typeface="Arial" charset="0"/>
                <a:ea typeface="ＭＳ Ｐゴシック" charset="-128"/>
                <a:cs typeface="ＭＳ Ｐゴシック" charset="-128"/>
              </a:rPr>
              <a:t>x , y </a:t>
            </a:r>
            <a:r>
              <a:rPr lang="en-US" sz="1200" b="0" kern="1200" baseline="0" dirty="0" smtClean="0">
                <a:solidFill>
                  <a:schemeClr val="tx1"/>
                </a:solidFill>
                <a:latin typeface="Arial" charset="0"/>
                <a:ea typeface="ＭＳ Ｐゴシック" charset="-128"/>
                <a:cs typeface="ＭＳ Ｐゴシック" charset="-128"/>
              </a:rPr>
              <a:t>) that</a:t>
            </a:r>
          </a:p>
          <a:p>
            <a:r>
              <a:rPr lang="en-US" sz="1200" b="0" kern="1200" baseline="0" dirty="0" smtClean="0">
                <a:solidFill>
                  <a:schemeClr val="tx1"/>
                </a:solidFill>
                <a:latin typeface="Arial" charset="0"/>
                <a:ea typeface="ＭＳ Ｐゴシック" charset="-128"/>
                <a:cs typeface="ＭＳ Ｐゴシック" charset="-128"/>
              </a:rPr>
              <a:t>satisfy Equation (10.1) together with the element O . Using a different value of the</a:t>
            </a:r>
          </a:p>
          <a:p>
            <a:r>
              <a:rPr lang="en-US" sz="1200" b="0" kern="1200" baseline="0" dirty="0" smtClean="0">
                <a:solidFill>
                  <a:schemeClr val="tx1"/>
                </a:solidFill>
                <a:latin typeface="Arial" charset="0"/>
                <a:ea typeface="ＭＳ Ｐゴシック" charset="-128"/>
                <a:cs typeface="ＭＳ Ｐゴシック" charset="-128"/>
              </a:rPr>
              <a:t>pair (</a:t>
            </a:r>
            <a:r>
              <a:rPr lang="en-US" sz="1200" b="0" i="1" kern="1200" baseline="0" dirty="0" smtClean="0">
                <a:solidFill>
                  <a:schemeClr val="tx1"/>
                </a:solidFill>
                <a:latin typeface="Arial" charset="0"/>
                <a:ea typeface="ＭＳ Ｐゴシック" charset="-128"/>
                <a:cs typeface="ＭＳ Ｐゴシック" charset="-128"/>
              </a:rPr>
              <a:t>a , b </a:t>
            </a:r>
            <a:r>
              <a:rPr lang="en-US" sz="1200" b="0" kern="1200" baseline="0" dirty="0" smtClean="0">
                <a:solidFill>
                  <a:schemeClr val="tx1"/>
                </a:solidFill>
                <a:latin typeface="Arial" charset="0"/>
                <a:ea typeface="ＭＳ Ｐゴシック" charset="-128"/>
                <a:cs typeface="ＭＳ Ｐゴシック" charset="-128"/>
              </a:rPr>
              <a:t>) results in a different set E(</a:t>
            </a:r>
            <a:r>
              <a:rPr lang="en-US" sz="1200" b="0" i="1" kern="1200" baseline="0" dirty="0" smtClean="0">
                <a:solidFill>
                  <a:schemeClr val="tx1"/>
                </a:solidFill>
                <a:latin typeface="Arial" charset="0"/>
                <a:ea typeface="ＭＳ Ｐゴシック" charset="-128"/>
                <a:cs typeface="ＭＳ Ｐゴシック" charset="-128"/>
              </a:rPr>
              <a:t>a , b </a:t>
            </a:r>
            <a:r>
              <a:rPr lang="en-US" sz="1200" b="0" kern="1200" baseline="0" dirty="0" smtClean="0">
                <a:solidFill>
                  <a:schemeClr val="tx1"/>
                </a:solidFill>
                <a:latin typeface="Arial" charset="0"/>
                <a:ea typeface="ＭＳ Ｐゴシック" charset="-128"/>
                <a:cs typeface="ＭＳ Ｐゴシック" charset="-128"/>
              </a:rPr>
              <a:t>). Using this terminology, the two curves in</a:t>
            </a:r>
          </a:p>
          <a:p>
            <a:r>
              <a:rPr lang="en-US" sz="1200" b="0" kern="1200" baseline="0" dirty="0" smtClean="0">
                <a:solidFill>
                  <a:schemeClr val="tx1"/>
                </a:solidFill>
                <a:latin typeface="Arial" charset="0"/>
                <a:ea typeface="ＭＳ Ｐゴシック" charset="-128"/>
                <a:cs typeface="ＭＳ Ｐゴシック" charset="-128"/>
              </a:rPr>
              <a:t>Figure 10.4 depict the sets E(- 1, 0) and E(1, 1), respectively.</a:t>
            </a:r>
            <a:endParaRPr lang="en-US" b="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1CE1235B-B76C-1A4B-A072-7358DF9085DE}" type="slidenum">
              <a:rPr lang="en-AU">
                <a:latin typeface="Arial" pitchFamily="-84" charset="0"/>
              </a:rPr>
              <a:pPr/>
              <a:t>13</a:t>
            </a:fld>
            <a:endParaRPr lang="en-AU" dirty="0">
              <a:latin typeface="Arial" pitchFamily="-8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r>
              <a:rPr lang="en-US" dirty="0">
                <a:latin typeface="Arial" pitchFamily="-84" charset="0"/>
                <a:ea typeface="Arial" pitchFamily="-84" charset="0"/>
                <a:cs typeface="Arial" pitchFamily="-84" charset="0"/>
              </a:rPr>
              <a:t>Elliptic curve cryptography makes use of elliptic curves in which the variables and coefficients are all restricted to elements of a finite field. Two families of elliptic curves are used in cryptographic applications: prime curves over Z</a:t>
            </a:r>
            <a:r>
              <a:rPr lang="en-US" baseline="-25000" dirty="0">
                <a:latin typeface="Arial" pitchFamily="-84" charset="0"/>
                <a:ea typeface="Arial" pitchFamily="-84" charset="0"/>
                <a:cs typeface="Arial" pitchFamily="-84" charset="0"/>
              </a:rPr>
              <a:t>p</a:t>
            </a:r>
            <a:r>
              <a:rPr lang="en-US" dirty="0">
                <a:latin typeface="Arial" pitchFamily="-84" charset="0"/>
                <a:ea typeface="Arial" pitchFamily="-84" charset="0"/>
                <a:cs typeface="Arial" pitchFamily="-84" charset="0"/>
              </a:rPr>
              <a:t> (best for software use), and binary curves over GF(2</a:t>
            </a:r>
            <a:r>
              <a:rPr lang="en-US" baseline="30000" dirty="0">
                <a:latin typeface="Arial" pitchFamily="-84" charset="0"/>
                <a:ea typeface="Arial" pitchFamily="-84" charset="0"/>
                <a:cs typeface="Arial" pitchFamily="-84" charset="0"/>
              </a:rPr>
              <a:t>m</a:t>
            </a:r>
            <a:r>
              <a:rPr lang="en-US" dirty="0">
                <a:latin typeface="Arial" pitchFamily="-84" charset="0"/>
                <a:ea typeface="Arial" pitchFamily="-84" charset="0"/>
                <a:cs typeface="Arial" pitchFamily="-84" charset="0"/>
              </a:rPr>
              <a:t>) (best for hardware use)</a:t>
            </a:r>
            <a:r>
              <a:rPr lang="en-US" dirty="0" smtClean="0">
                <a:latin typeface="Arial" pitchFamily="-84" charset="0"/>
                <a:ea typeface="Arial" pitchFamily="-84" charset="0"/>
                <a:cs typeface="Arial" pitchFamily="-84" charset="0"/>
              </a:rPr>
              <a:t>.</a:t>
            </a:r>
          </a:p>
          <a:p>
            <a:pPr eaLnBrk="1" hangingPunct="1"/>
            <a:endParaRPr lang="en-AU" dirty="0" smtClean="0">
              <a:latin typeface="Arial" pitchFamily="-84" charset="0"/>
              <a:ea typeface="Arial" pitchFamily="-84" charset="0"/>
              <a:cs typeface="Arial" pitchFamily="-84" charset="0"/>
            </a:endParaRPr>
          </a:p>
          <a:p>
            <a:pPr eaLnBrk="1" hangingPunct="1"/>
            <a:r>
              <a:rPr lang="en-AU" dirty="0">
                <a:latin typeface="Arial" pitchFamily="-84" charset="0"/>
                <a:ea typeface="Arial" pitchFamily="-84" charset="0"/>
                <a:cs typeface="Arial" pitchFamily="-84" charset="0"/>
              </a:rPr>
              <a:t>There is no obvious geometric interpretation of elliptic curve arithmetic over finite fields. The algebraic interpretation used for elliptic curve arithmetic over does readily carry over. See text for detailed discussion.</a:t>
            </a:r>
          </a:p>
          <a:p>
            <a:pPr eaLnBrk="1" hangingPunct="1"/>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dirty="0" smtClean="0">
                <a:solidFill>
                  <a:schemeClr val="tx1"/>
                </a:solidFill>
                <a:latin typeface="Arial" charset="0"/>
                <a:ea typeface="ＭＳ Ｐゴシック" charset="-128"/>
                <a:cs typeface="ＭＳ Ｐゴシック" charset="-128"/>
              </a:rPr>
              <a:t>Table 10.1  Points (other than </a:t>
            </a:r>
            <a:r>
              <a:rPr lang="en-US" sz="1200" b="1" i="1" kern="1200" dirty="0" smtClean="0">
                <a:solidFill>
                  <a:schemeClr val="tx1"/>
                </a:solidFill>
                <a:latin typeface="Arial" charset="0"/>
                <a:ea typeface="ＭＳ Ｐゴシック" charset="-128"/>
                <a:cs typeface="ＭＳ Ｐゴシック" charset="-128"/>
              </a:rPr>
              <a:t>O</a:t>
            </a:r>
            <a:r>
              <a:rPr lang="en-US" sz="1200" b="1" kern="1200" dirty="0" smtClean="0">
                <a:solidFill>
                  <a:schemeClr val="tx1"/>
                </a:solidFill>
                <a:latin typeface="Arial" charset="0"/>
                <a:ea typeface="ＭＳ Ｐゴシック" charset="-128"/>
                <a:cs typeface="ＭＳ Ｐゴシック" charset="-128"/>
              </a:rPr>
              <a:t>) on the Elliptic Curve E23(1, 1)</a:t>
            </a:r>
            <a:r>
              <a:rPr lang="en-US" dirty="0" smtClean="0"/>
              <a:t> </a:t>
            </a:r>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14</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Figure 10.5 plots the points of E</a:t>
            </a:r>
            <a:r>
              <a:rPr lang="en-US" sz="1200" kern="1200" baseline="-25000" dirty="0" smtClean="0">
                <a:solidFill>
                  <a:schemeClr val="tx1"/>
                </a:solidFill>
                <a:latin typeface="Arial" charset="0"/>
                <a:ea typeface="ＭＳ Ｐゴシック" charset="-128"/>
                <a:cs typeface="ＭＳ Ｐゴシック" charset="-128"/>
              </a:rPr>
              <a:t>23</a:t>
            </a:r>
            <a:r>
              <a:rPr lang="en-US" sz="1200" kern="1200" baseline="0" dirty="0" smtClean="0">
                <a:solidFill>
                  <a:schemeClr val="tx1"/>
                </a:solidFill>
                <a:latin typeface="Arial" charset="0"/>
                <a:ea typeface="ＭＳ Ｐゴシック" charset="-128"/>
                <a:cs typeface="ＭＳ Ｐゴシック" charset="-128"/>
              </a:rPr>
              <a:t> (1, 1); note that the points, with one exception, are symmetric about y =  11.5.</a:t>
            </a:r>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15</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charset="-128"/>
                <a:cs typeface="ＭＳ Ｐゴシック" charset="-128"/>
              </a:rPr>
              <a:t>Recall from Chapter 4 that a finite field  GF(2</a:t>
            </a:r>
            <a:r>
              <a:rPr lang="en-US" sz="1200" b="0" i="1" kern="1200" baseline="3000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 consists of 2</a:t>
            </a:r>
            <a:r>
              <a:rPr lang="en-US" sz="1200" b="0" i="1" kern="1200" baseline="3000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elements, together</a:t>
            </a:r>
          </a:p>
          <a:p>
            <a:r>
              <a:rPr lang="en-US" sz="1200" b="0" kern="1200" baseline="0" dirty="0" smtClean="0">
                <a:solidFill>
                  <a:schemeClr val="tx1"/>
                </a:solidFill>
                <a:latin typeface="Arial" charset="0"/>
                <a:ea typeface="ＭＳ Ｐゴシック" charset="-128"/>
                <a:cs typeface="ＭＳ Ｐゴシック" charset="-128"/>
              </a:rPr>
              <a:t>with addition and multiplication operations that can be defined over polynomials.</a:t>
            </a:r>
          </a:p>
          <a:p>
            <a:r>
              <a:rPr lang="en-US" sz="1200" b="0" kern="1200" baseline="0" dirty="0" smtClean="0">
                <a:solidFill>
                  <a:schemeClr val="tx1"/>
                </a:solidFill>
                <a:latin typeface="Arial" charset="0"/>
                <a:ea typeface="ＭＳ Ｐゴシック" charset="-128"/>
                <a:cs typeface="ＭＳ Ｐゴシック" charset="-128"/>
              </a:rPr>
              <a:t>For elliptic curves over GF(2</a:t>
            </a:r>
            <a:r>
              <a:rPr lang="en-US" sz="1200" b="0" i="1" kern="1200" baseline="3000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 we use a cubic equation in which the variables and</a:t>
            </a:r>
          </a:p>
          <a:p>
            <a:r>
              <a:rPr lang="en-US" sz="1200" b="0" kern="1200" baseline="0" dirty="0" smtClean="0">
                <a:solidFill>
                  <a:schemeClr val="tx1"/>
                </a:solidFill>
                <a:latin typeface="Arial" charset="0"/>
                <a:ea typeface="ＭＳ Ｐゴシック" charset="-128"/>
                <a:cs typeface="ＭＳ Ｐゴシック" charset="-128"/>
              </a:rPr>
              <a:t>coefficients all take on values in GF(2</a:t>
            </a:r>
            <a:r>
              <a:rPr lang="en-US" sz="1200" b="0" i="1" kern="1200" baseline="3000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 for some number m  and in which calculations</a:t>
            </a:r>
          </a:p>
          <a:p>
            <a:r>
              <a:rPr lang="en-US" sz="1200" b="0" kern="1200" baseline="0" dirty="0" smtClean="0">
                <a:solidFill>
                  <a:schemeClr val="tx1"/>
                </a:solidFill>
                <a:latin typeface="Arial" charset="0"/>
                <a:ea typeface="ＭＳ Ｐゴシック" charset="-128"/>
                <a:cs typeface="ＭＳ Ｐゴシック" charset="-128"/>
              </a:rPr>
              <a:t>are performed using the rules of arithmetic in GF(2</a:t>
            </a:r>
            <a:r>
              <a:rPr lang="en-US" sz="1200" b="0" i="1" kern="1200" baseline="3000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It turns out that the form of cubic equation appropriate for cryptographic applications</a:t>
            </a:r>
          </a:p>
          <a:p>
            <a:r>
              <a:rPr lang="en-US" sz="1200" b="0" kern="1200" baseline="0" dirty="0" smtClean="0">
                <a:solidFill>
                  <a:schemeClr val="tx1"/>
                </a:solidFill>
                <a:latin typeface="Arial" charset="0"/>
                <a:ea typeface="ＭＳ Ｐゴシック" charset="-128"/>
                <a:cs typeface="ＭＳ Ｐゴシック" charset="-128"/>
              </a:rPr>
              <a:t>for elliptic curves is somewhat different for GF(2</a:t>
            </a:r>
            <a:r>
              <a:rPr lang="en-US" sz="1200" b="0" i="1" kern="1200" baseline="3000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 than for Z</a:t>
            </a:r>
            <a:r>
              <a:rPr lang="en-US" sz="1200" b="0" kern="1200" baseline="-25000" dirty="0" smtClean="0">
                <a:solidFill>
                  <a:schemeClr val="tx1"/>
                </a:solidFill>
                <a:latin typeface="Arial" charset="0"/>
                <a:ea typeface="ＭＳ Ｐゴシック" charset="-128"/>
                <a:cs typeface="ＭＳ Ｐゴシック" charset="-128"/>
              </a:rPr>
              <a:t>p</a:t>
            </a:r>
            <a:r>
              <a:rPr lang="en-US" sz="1200" b="0" kern="1200" baseline="0" dirty="0" smtClean="0">
                <a:solidFill>
                  <a:schemeClr val="tx1"/>
                </a:solidFill>
                <a:latin typeface="Arial" charset="0"/>
                <a:ea typeface="ＭＳ Ｐゴシック" charset="-128"/>
                <a:cs typeface="ＭＳ Ｐゴシック" charset="-128"/>
              </a:rPr>
              <a:t> . The form is</a:t>
            </a:r>
          </a:p>
          <a:p>
            <a:r>
              <a:rPr lang="en-US" sz="1200" b="0" kern="1200" baseline="0" dirty="0" smtClean="0">
                <a:solidFill>
                  <a:schemeClr val="tx1"/>
                </a:solidFill>
                <a:latin typeface="Arial" charset="0"/>
                <a:ea typeface="ＭＳ Ｐゴシック" charset="-128"/>
                <a:cs typeface="ＭＳ Ｐゴシック" charset="-128"/>
              </a:rPr>
              <a:t>y</a:t>
            </a:r>
            <a:r>
              <a:rPr lang="en-US" sz="1200" b="0" i="1" kern="1200" baseline="30000" dirty="0" smtClean="0">
                <a:solidFill>
                  <a:schemeClr val="tx1"/>
                </a:solidFill>
                <a:latin typeface="Arial" charset="0"/>
                <a:ea typeface="ＭＳ Ｐゴシック" charset="-128"/>
                <a:cs typeface="ＭＳ Ｐゴシック" charset="-128"/>
              </a:rPr>
              <a:t>2</a:t>
            </a:r>
            <a:r>
              <a:rPr lang="en-US" sz="1200" b="0" kern="1200" baseline="0" dirty="0" smtClean="0">
                <a:solidFill>
                  <a:schemeClr val="tx1"/>
                </a:solidFill>
                <a:latin typeface="Arial" charset="0"/>
                <a:ea typeface="ＭＳ Ｐゴシック" charset="-128"/>
                <a:cs typeface="ＭＳ Ｐゴシック" charset="-128"/>
              </a:rPr>
              <a:t> + xy = x</a:t>
            </a:r>
            <a:r>
              <a:rPr lang="en-US" sz="1200" b="0" i="1" kern="1200" baseline="30000" dirty="0" smtClean="0">
                <a:solidFill>
                  <a:schemeClr val="tx1"/>
                </a:solidFill>
                <a:latin typeface="Arial" charset="0"/>
                <a:ea typeface="ＭＳ Ｐゴシック" charset="-128"/>
                <a:cs typeface="ＭＳ Ｐゴシック" charset="-128"/>
              </a:rPr>
              <a:t>3</a:t>
            </a:r>
            <a:r>
              <a:rPr lang="en-US" sz="1200" b="0" kern="1200" baseline="0" dirty="0" smtClean="0">
                <a:solidFill>
                  <a:schemeClr val="tx1"/>
                </a:solidFill>
                <a:latin typeface="Arial" charset="0"/>
                <a:ea typeface="ＭＳ Ｐゴシック" charset="-128"/>
                <a:cs typeface="ＭＳ Ｐゴシック" charset="-128"/>
              </a:rPr>
              <a:t> + ax</a:t>
            </a:r>
            <a:r>
              <a:rPr lang="en-US" sz="1200" b="0" i="1" kern="1200" baseline="30000" dirty="0" smtClean="0">
                <a:solidFill>
                  <a:schemeClr val="tx1"/>
                </a:solidFill>
                <a:latin typeface="Arial" charset="0"/>
                <a:ea typeface="ＭＳ Ｐゴシック" charset="-128"/>
                <a:cs typeface="ＭＳ Ｐゴシック" charset="-128"/>
              </a:rPr>
              <a:t>2</a:t>
            </a:r>
            <a:r>
              <a:rPr lang="en-US" sz="1200" b="0" kern="1200" baseline="0" dirty="0" smtClean="0">
                <a:solidFill>
                  <a:schemeClr val="tx1"/>
                </a:solidFill>
                <a:latin typeface="Arial" charset="0"/>
                <a:ea typeface="ＭＳ Ｐゴシック" charset="-128"/>
                <a:cs typeface="ＭＳ Ｐゴシック" charset="-128"/>
              </a:rPr>
              <a:t> + b</a:t>
            </a:r>
            <a:endParaRPr lang="en-US" b="0"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16</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Figure 10.6 plots</a:t>
            </a:r>
          </a:p>
          <a:p>
            <a:r>
              <a:rPr lang="en-US" sz="1200" kern="1200" baseline="0" dirty="0" smtClean="0">
                <a:solidFill>
                  <a:schemeClr val="tx1"/>
                </a:solidFill>
                <a:latin typeface="Arial" charset="0"/>
                <a:ea typeface="ＭＳ Ｐゴシック" charset="-128"/>
                <a:cs typeface="ＭＳ Ｐゴシック" charset="-128"/>
              </a:rPr>
              <a:t>the points of E</a:t>
            </a:r>
            <a:r>
              <a:rPr lang="en-US" sz="1200" kern="1200" baseline="-25000" dirty="0" smtClean="0">
                <a:solidFill>
                  <a:schemeClr val="tx1"/>
                </a:solidFill>
                <a:latin typeface="Arial" charset="0"/>
                <a:ea typeface="ＭＳ Ｐゴシック" charset="-128"/>
                <a:cs typeface="ＭＳ Ｐゴシック" charset="-128"/>
              </a:rPr>
              <a:t>24</a:t>
            </a:r>
            <a:r>
              <a:rPr lang="en-US" sz="1200" kern="1200" baseline="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g</a:t>
            </a:r>
            <a:r>
              <a:rPr lang="en-US" sz="1200" b="0" kern="1200" baseline="30000" dirty="0" smtClean="0">
                <a:solidFill>
                  <a:schemeClr val="tx1"/>
                </a:solidFill>
                <a:latin typeface="Arial" charset="0"/>
                <a:ea typeface="ＭＳ Ｐゴシック" charset="-128"/>
                <a:cs typeface="ＭＳ Ｐゴシック" charset="-128"/>
              </a:rPr>
              <a:t>4</a:t>
            </a:r>
            <a:r>
              <a:rPr lang="en-US" sz="1200" b="0" kern="1200" baseline="0" dirty="0" smtClean="0">
                <a:solidFill>
                  <a:schemeClr val="tx1"/>
                </a:solidFill>
                <a:latin typeface="Arial" charset="0"/>
                <a:ea typeface="ＭＳ Ｐゴシック" charset="-128"/>
                <a:cs typeface="ＭＳ Ｐゴシック" charset="-128"/>
              </a:rPr>
              <a:t> , 1).</a:t>
            </a:r>
            <a:endParaRPr lang="en-US" b="0"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17</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4D8BBB31-E723-244F-9D12-A43C3B0D6F43}" type="slidenum">
              <a:rPr lang="en-AU">
                <a:latin typeface="Arial" pitchFamily="-84" charset="0"/>
              </a:rPr>
              <a:pPr/>
              <a:t>18</a:t>
            </a:fld>
            <a:endParaRPr lang="en-AU" dirty="0">
              <a:latin typeface="Arial" pitchFamily="-84" charset="0"/>
            </a:endParaRPr>
          </a:p>
        </p:txBody>
      </p:sp>
      <p:sp>
        <p:nvSpPr>
          <p:cNvPr id="48131" name="Rectangle 1026"/>
          <p:cNvSpPr>
            <a:spLocks noGrp="1" noRot="1" noChangeAspect="1" noChangeArrowheads="1" noTextEdit="1"/>
          </p:cNvSpPr>
          <p:nvPr>
            <p:ph type="sldImg"/>
          </p:nvPr>
        </p:nvSpPr>
        <p:spPr>
          <a:ln/>
        </p:spPr>
      </p:sp>
      <p:sp>
        <p:nvSpPr>
          <p:cNvPr id="48132" name="Rectangle 1027"/>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Elliptic Curve Cryptography uses addition as an analog of modulo multiply, and repeated addition as an analog of modulo exponentiation. The “hard” problem is the elliptic curve logarithm problem. We give an example taken from the Certicom Web site (www.certicom.com). Consider the group E</a:t>
            </a:r>
            <a:r>
              <a:rPr lang="en-US" baseline="-25000" dirty="0">
                <a:latin typeface="Arial" pitchFamily="-84" charset="0"/>
                <a:ea typeface="ＭＳ Ｐゴシック" pitchFamily="-84" charset="-128"/>
                <a:cs typeface="ＭＳ Ｐゴシック" pitchFamily="-84" charset="-128"/>
              </a:rPr>
              <a:t>23</a:t>
            </a:r>
            <a:r>
              <a:rPr lang="en-US" dirty="0">
                <a:latin typeface="Arial" pitchFamily="-84" charset="0"/>
                <a:ea typeface="ＭＳ Ｐゴシック" pitchFamily="-84" charset="-128"/>
                <a:cs typeface="ＭＳ Ｐゴシック" pitchFamily="-84" charset="-128"/>
              </a:rPr>
              <a:t>(9, 17). This is the group defined by the equation </a:t>
            </a:r>
            <a:r>
              <a:rPr lang="en-US" i="1" dirty="0">
                <a:latin typeface="Arial" pitchFamily="-84" charset="0"/>
                <a:ea typeface="ＭＳ Ｐゴシック" pitchFamily="-84" charset="-128"/>
                <a:cs typeface="ＭＳ Ｐゴシック" pitchFamily="-84" charset="-128"/>
              </a:rPr>
              <a:t>y</a:t>
            </a:r>
            <a:r>
              <a:rPr lang="en-US" i="1" baseline="30000" dirty="0">
                <a:latin typeface="Arial" pitchFamily="-84" charset="0"/>
                <a:ea typeface="ＭＳ Ｐゴシック" pitchFamily="-84" charset="-128"/>
                <a:cs typeface="ＭＳ Ｐゴシック" pitchFamily="-84" charset="-128"/>
              </a:rPr>
              <a:t>2</a:t>
            </a:r>
            <a:r>
              <a:rPr lang="en-US" i="1" dirty="0">
                <a:latin typeface="Arial" pitchFamily="-84" charset="0"/>
                <a:ea typeface="ＭＳ Ｐゴシック" pitchFamily="-84" charset="-128"/>
                <a:cs typeface="ＭＳ Ｐゴシック" pitchFamily="-84" charset="-128"/>
              </a:rPr>
              <a:t>  mod 23 = (x</a:t>
            </a:r>
            <a:r>
              <a:rPr lang="en-US" i="1" baseline="30000" dirty="0">
                <a:latin typeface="Arial" pitchFamily="-84" charset="0"/>
                <a:ea typeface="ＭＳ Ｐゴシック" pitchFamily="-84" charset="-128"/>
                <a:cs typeface="ＭＳ Ｐゴシック" pitchFamily="-84" charset="-128"/>
              </a:rPr>
              <a:t>3</a:t>
            </a:r>
            <a:r>
              <a:rPr lang="en-US" i="1" dirty="0">
                <a:latin typeface="Arial" pitchFamily="-84" charset="0"/>
                <a:ea typeface="ＭＳ Ｐゴシック" pitchFamily="-84" charset="-128"/>
                <a:cs typeface="ＭＳ Ｐゴシック" pitchFamily="-84" charset="-128"/>
              </a:rPr>
              <a:t> + 9x + 17) </a:t>
            </a:r>
            <a:r>
              <a:rPr lang="en-US" dirty="0">
                <a:latin typeface="Arial" pitchFamily="-84" charset="0"/>
                <a:ea typeface="ＭＳ Ｐゴシック" pitchFamily="-84" charset="-128"/>
                <a:cs typeface="ＭＳ Ｐゴシック" pitchFamily="-84" charset="-128"/>
              </a:rPr>
              <a:t>mod 23. What is the discrete logarithm k of Q = (4, 5) to the base P = (16, 5)? The brute-force method is to compute multiples of P until Q is found. Thus </a:t>
            </a:r>
            <a:r>
              <a:rPr lang="en-US" i="1" dirty="0">
                <a:latin typeface="Arial" pitchFamily="-84" charset="0"/>
                <a:ea typeface="ＭＳ Ｐゴシック" pitchFamily="-84" charset="-128"/>
                <a:cs typeface="ＭＳ Ｐゴシック" pitchFamily="-84" charset="-128"/>
              </a:rPr>
              <a:t>P = (16, 5); 2P = (20, 20); 3P = (14, 14); 4P = (19, 20); 5P = (13, 10); 6P = (7, 3); 7P = (8, 7); 8P = (12, 17) ; 9P = (4, 5).   </a:t>
            </a:r>
            <a:r>
              <a:rPr lang="en-US" dirty="0">
                <a:latin typeface="Arial" pitchFamily="-84" charset="0"/>
                <a:ea typeface="ＭＳ Ｐゴシック" pitchFamily="-84" charset="-128"/>
                <a:cs typeface="ＭＳ Ｐゴシック" pitchFamily="-84" charset="-128"/>
              </a:rPr>
              <a:t>Because 9P = (4, 5) = Q, the discrete logarithm Q = (4, 5) to the base P = (16, 5) is k = 9. In a real application, k would be so large as to make the brute-force approach infeasible.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Figure 10.7 ECC Diffie-Hellman Key Exchange.</a:t>
            </a:r>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19</a:t>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63B667A9-D636-AE43-8512-9BA8A4034FAD}" type="slidenum">
              <a:rPr lang="en-AU">
                <a:latin typeface="Arial" pitchFamily="-84" charset="0"/>
              </a:rPr>
              <a:pPr/>
              <a:t>20</a:t>
            </a:fld>
            <a:endParaRPr lang="en-AU" dirty="0">
              <a:latin typeface="Arial" pitchFamily="-8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r>
              <a:rPr lang="en-US" dirty="0">
                <a:latin typeface="Arial" pitchFamily="-84" charset="0"/>
                <a:ea typeface="Arial" pitchFamily="-84" charset="0"/>
                <a:cs typeface="Arial" pitchFamily="-84" charset="0"/>
              </a:rPr>
              <a:t>Several approaches to encryption/decryption using elliptic curves have been analyzed in the literature. This one is an analog of the ElGamal public-key encryption algorithm. The sender must first encode any message M as a point on the elliptic curve P</a:t>
            </a:r>
            <a:r>
              <a:rPr lang="en-US" baseline="-25000" dirty="0">
                <a:latin typeface="Arial" pitchFamily="-84" charset="0"/>
                <a:ea typeface="Arial" pitchFamily="-84" charset="0"/>
                <a:cs typeface="Arial" pitchFamily="-84" charset="0"/>
              </a:rPr>
              <a:t>m</a:t>
            </a:r>
            <a:r>
              <a:rPr lang="en-US" dirty="0">
                <a:latin typeface="Arial" pitchFamily="-84" charset="0"/>
                <a:ea typeface="Arial" pitchFamily="-84" charset="0"/>
                <a:cs typeface="Arial" pitchFamily="-84" charset="0"/>
              </a:rPr>
              <a:t> (there are relatively straightforward techniques for this). Note that the ciphertext is a pair of points on the elliptic curve. The sender masks the message using random k, but also sends along a “clue” allowing the receiver who know the private-key to recover k and hence the message. For an attacker to recover the message, the attacker would have to compute k given G and kG, which is assumed hard.</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81E0DCAE-B7BD-6042-8BF4-344E03253E32}" type="slidenum">
              <a:rPr lang="en-AU">
                <a:latin typeface="Arial" pitchFamily="-84" charset="0"/>
              </a:rPr>
              <a:pPr/>
              <a:t>21</a:t>
            </a:fld>
            <a:endParaRPr lang="en-AU" dirty="0">
              <a:latin typeface="Arial" pitchFamily="-8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The security of ECC depends on how difficult it is to determine k  given kP  and P .</a:t>
            </a:r>
          </a:p>
          <a:p>
            <a:r>
              <a:rPr lang="en-US" sz="1200" kern="1200" baseline="0" dirty="0" smtClean="0">
                <a:solidFill>
                  <a:schemeClr val="tx1"/>
                </a:solidFill>
                <a:latin typeface="Arial" charset="0"/>
                <a:ea typeface="ＭＳ Ｐゴシック" charset="-128"/>
                <a:cs typeface="ＭＳ Ｐゴシック" charset="-128"/>
              </a:rPr>
              <a:t>This is referred to as the elliptic curve logarithm problem. The fastest known technique</a:t>
            </a:r>
          </a:p>
          <a:p>
            <a:r>
              <a:rPr lang="en-US" sz="1200" kern="1200" baseline="0" dirty="0" smtClean="0">
                <a:solidFill>
                  <a:schemeClr val="tx1"/>
                </a:solidFill>
                <a:latin typeface="Arial" charset="0"/>
                <a:ea typeface="ＭＳ Ｐゴシック" charset="-128"/>
                <a:cs typeface="ＭＳ Ｐゴシック" charset="-128"/>
              </a:rPr>
              <a:t>for taking the elliptic curve logarithm is known as the Pollard rho method.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Table 10.3, from NIST SP800-57 (Recommendation for Key Management—Part 1:</a:t>
            </a:r>
          </a:p>
          <a:p>
            <a:r>
              <a:rPr lang="en-US" sz="1200" kern="1200" baseline="0" dirty="0" smtClean="0">
                <a:solidFill>
                  <a:schemeClr val="tx1"/>
                </a:solidFill>
                <a:latin typeface="Arial" charset="0"/>
                <a:ea typeface="ＭＳ Ｐゴシック" charset="-128"/>
                <a:cs typeface="ＭＳ Ｐゴシック" charset="-128"/>
              </a:rPr>
              <a:t>General , July 2012), compares various algorithms by showing comparable key sizes</a:t>
            </a:r>
          </a:p>
          <a:p>
            <a:r>
              <a:rPr lang="en-US" sz="1200" kern="1200" baseline="0" dirty="0" smtClean="0">
                <a:solidFill>
                  <a:schemeClr val="tx1"/>
                </a:solidFill>
                <a:latin typeface="Arial" charset="0"/>
                <a:ea typeface="ＭＳ Ｐゴシック" charset="-128"/>
                <a:cs typeface="ＭＳ Ｐゴシック" charset="-128"/>
              </a:rPr>
              <a:t>in terms of computational effort for cryptanalysis. As can be seen, a considerably</a:t>
            </a:r>
          </a:p>
          <a:p>
            <a:r>
              <a:rPr lang="en-US" sz="1200" kern="1200" baseline="0" dirty="0" smtClean="0">
                <a:solidFill>
                  <a:schemeClr val="tx1"/>
                </a:solidFill>
                <a:latin typeface="Arial" charset="0"/>
                <a:ea typeface="ＭＳ Ｐゴシック" charset="-128"/>
                <a:cs typeface="ＭＳ Ｐゴシック" charset="-128"/>
              </a:rPr>
              <a:t>smaller key size can be used for ECC compared to RSA. Furthermore, for equal</a:t>
            </a:r>
          </a:p>
          <a:p>
            <a:r>
              <a:rPr lang="en-US" sz="1200" kern="1200" baseline="0" dirty="0" smtClean="0">
                <a:solidFill>
                  <a:schemeClr val="tx1"/>
                </a:solidFill>
                <a:latin typeface="Arial" charset="0"/>
                <a:ea typeface="ＭＳ Ｐゴシック" charset="-128"/>
                <a:cs typeface="ＭＳ Ｐゴシック" charset="-128"/>
              </a:rPr>
              <a:t>key lengths, the computational effort required for ECC and RSA is comparable</a:t>
            </a:r>
          </a:p>
          <a:p>
            <a:r>
              <a:rPr lang="en-US" sz="1200" kern="1200" baseline="0" dirty="0" smtClean="0">
                <a:solidFill>
                  <a:schemeClr val="tx1"/>
                </a:solidFill>
                <a:latin typeface="Arial" charset="0"/>
                <a:ea typeface="ＭＳ Ｐゴシック" charset="-128"/>
                <a:cs typeface="ＭＳ Ｐゴシック" charset="-128"/>
              </a:rPr>
              <a:t>[JURI97]. Thus, there is a computational advantage to using ECC with a shorter</a:t>
            </a:r>
          </a:p>
          <a:p>
            <a:r>
              <a:rPr lang="en-US" sz="1200" kern="1200" baseline="0" dirty="0" smtClean="0">
                <a:solidFill>
                  <a:schemeClr val="tx1"/>
                </a:solidFill>
                <a:latin typeface="Arial" charset="0"/>
                <a:ea typeface="ＭＳ Ｐゴシック" charset="-128"/>
                <a:cs typeface="ＭＳ Ｐゴシック" charset="-128"/>
              </a:rPr>
              <a:t>key length than a comparably secure RSA.</a:t>
            </a:r>
            <a:endParaRPr lang="en-US" dirty="0" smtClean="0">
              <a:latin typeface="Arial" pitchFamily="-84" charset="0"/>
              <a:ea typeface="Arial" pitchFamily="-84" charset="0"/>
              <a:cs typeface="Arial" pitchFamily="-84" charset="0"/>
            </a:endParaRPr>
          </a:p>
          <a:p>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22</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p:cNvSpPr>
          <p:nvPr>
            <p:ph type="sldImg"/>
          </p:nvPr>
        </p:nvSpPr>
        <p:spPr>
          <a:ln/>
        </p:spPr>
      </p:sp>
      <p:sp>
        <p:nvSpPr>
          <p:cNvPr id="58371" name="Notes Placeholder 2"/>
          <p:cNvSpPr>
            <a:spLocks noGrp="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We noted in Chapter 7 that, because a symmetric block cipher produces an apparently random output, it can serve as the basis of a pseudorandom number generator (PRNG). Similarly, an asymmetric encryption algorithm produces apparently random output and can be used to build a PRNG. Because asymmetric algorithms are typically much slower than symmetric algorithms, asymmetric algorithms are not used to generate open-ended PRNG bit streams. Rather, the asymmetric approach is useful for creating a pseudorandom function (PRF) for generating a short pseudorandom bit sequence.  In this section, we examine two PRNG designs based on pseudorandom functions. </a:t>
            </a:r>
          </a:p>
        </p:txBody>
      </p:sp>
      <p:sp>
        <p:nvSpPr>
          <p:cNvPr id="58372" name="Slide Number Placeholder 3"/>
          <p:cNvSpPr>
            <a:spLocks noGrp="1"/>
          </p:cNvSpPr>
          <p:nvPr>
            <p:ph type="sldNum" sz="quarter" idx="5"/>
          </p:nvPr>
        </p:nvSpPr>
        <p:spPr>
          <a:noFill/>
        </p:spPr>
        <p:txBody>
          <a:bodyPr/>
          <a:lstStyle/>
          <a:p>
            <a:fld id="{9795E9CE-3864-E842-AA9E-2A878F6596BD}" type="slidenum">
              <a:rPr lang="en-AU" smtClean="0">
                <a:latin typeface="Arial" pitchFamily="-84" charset="0"/>
              </a:rPr>
              <a:pPr/>
              <a:t>23</a:t>
            </a:fld>
            <a:endParaRPr lang="en-AU" dirty="0" smtClean="0">
              <a:latin typeface="Arial" pitchFamily="-8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p:cNvSpPr>
          <p:nvPr>
            <p:ph type="sldImg"/>
          </p:nvPr>
        </p:nvSpPr>
        <p:spPr>
          <a:ln/>
        </p:spPr>
      </p:sp>
      <p:sp>
        <p:nvSpPr>
          <p:cNvPr id="60419" name="Notes Placeholder 2"/>
          <p:cNvSpPr>
            <a:spLocks noGrp="1"/>
          </p:cNvSpPr>
          <p:nvPr>
            <p:ph type="body" idx="1"/>
          </p:nvPr>
        </p:nvSpPr>
        <p:spPr>
          <a:xfrm>
            <a:off x="685800" y="4343400"/>
            <a:ext cx="5486400" cy="4495800"/>
          </a:xfrm>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For a sufficient key length, the RSA algorithm is considered secure and is a good candidate to form the basis of a PRNG. Such a PRNG, known as the Micali-Schnorr PRNG  is recommended in the ANSI standard X9.82 (</a:t>
            </a:r>
            <a:r>
              <a:rPr lang="en-US" i="1" dirty="0" smtClean="0">
                <a:latin typeface="Arial" pitchFamily="-84" charset="0"/>
                <a:ea typeface="ＭＳ Ｐゴシック" pitchFamily="-84" charset="-128"/>
                <a:cs typeface="ＭＳ Ｐゴシック" pitchFamily="-84" charset="-128"/>
              </a:rPr>
              <a:t>Random Number Generation</a:t>
            </a:r>
            <a:r>
              <a:rPr lang="en-US" dirty="0" smtClean="0">
                <a:latin typeface="Arial" pitchFamily="-84" charset="0"/>
                <a:ea typeface="ＭＳ Ｐゴシック" pitchFamily="-84" charset="-128"/>
                <a:cs typeface="ＭＳ Ｐゴシック" pitchFamily="-84" charset="-128"/>
              </a:rPr>
              <a:t>) and in the ISO standard 18031 </a:t>
            </a:r>
            <a:r>
              <a:rPr lang="en-US" i="1" dirty="0" smtClean="0">
                <a:latin typeface="Arial" pitchFamily="-84" charset="0"/>
                <a:ea typeface="ＭＳ Ｐゴシック" pitchFamily="-84" charset="-128"/>
                <a:cs typeface="ＭＳ Ｐゴシック" pitchFamily="-84" charset="-128"/>
              </a:rPr>
              <a:t>(Random Bit Generation).  </a:t>
            </a:r>
            <a:r>
              <a:rPr lang="en-US" dirty="0" smtClean="0">
                <a:latin typeface="Arial" pitchFamily="-84" charset="0"/>
                <a:ea typeface="ＭＳ Ｐゴシック" pitchFamily="-84" charset="-128"/>
                <a:cs typeface="ＭＳ Ｐゴシック" pitchFamily="-84" charset="-128"/>
              </a:rPr>
              <a:t>The PRNG is illustrated in Stallings Figure 10.8. This PRNG has much the same structure as the output feedback (OFB) mode used as a PRNG but using RSA instead of a block cipher. We can define the PRNG as follows:</a:t>
            </a:r>
          </a:p>
          <a:p>
            <a:pPr eaLnBrk="1" hangingPunct="1"/>
            <a:r>
              <a:rPr lang="en-US" b="1" dirty="0" smtClean="0">
                <a:latin typeface="Arial" pitchFamily="-84" charset="0"/>
                <a:ea typeface="ＭＳ Ｐゴシック" pitchFamily="-84" charset="-128"/>
                <a:cs typeface="ＭＳ Ｐゴシック" pitchFamily="-84" charset="-128"/>
              </a:rPr>
              <a:t>SETUP </a:t>
            </a:r>
            <a:r>
              <a:rPr lang="en-US" dirty="0" smtClean="0">
                <a:latin typeface="Arial" pitchFamily="-84" charset="0"/>
                <a:ea typeface="ＭＳ Ｐゴシック" pitchFamily="-84" charset="-128"/>
                <a:cs typeface="ＭＳ Ｐゴシック" pitchFamily="-84" charset="-128"/>
              </a:rPr>
              <a:t>Select parameters per normal RSA key setup, with r + k =bitlength of n</a:t>
            </a:r>
          </a:p>
          <a:p>
            <a:pPr eaLnBrk="1" hangingPunct="1"/>
            <a:r>
              <a:rPr lang="en-US" b="1" dirty="0" smtClean="0">
                <a:latin typeface="Arial" pitchFamily="-84" charset="0"/>
                <a:ea typeface="ＭＳ Ｐゴシック" pitchFamily="-84" charset="-128"/>
                <a:cs typeface="ＭＳ Ｐゴシック" pitchFamily="-84" charset="-128"/>
              </a:rPr>
              <a:t>SEED   </a:t>
            </a:r>
            <a:r>
              <a:rPr lang="en-US" dirty="0" smtClean="0">
                <a:latin typeface="Arial" pitchFamily="-84" charset="0"/>
                <a:ea typeface="ＭＳ Ｐゴシック" pitchFamily="-84" charset="-128"/>
                <a:cs typeface="ＭＳ Ｐゴシック" pitchFamily="-84" charset="-128"/>
              </a:rPr>
              <a:t>Select a random seed </a:t>
            </a:r>
            <a:r>
              <a:rPr lang="en-US" i="1" dirty="0" smtClean="0">
                <a:latin typeface="Arial" pitchFamily="-84" charset="0"/>
                <a:ea typeface="ＭＳ Ｐゴシック" pitchFamily="-84" charset="-128"/>
                <a:cs typeface="ＭＳ Ｐゴシック" pitchFamily="-84" charset="-128"/>
              </a:rPr>
              <a:t>x  </a:t>
            </a:r>
            <a:r>
              <a:rPr lang="en-US" dirty="0" smtClean="0">
                <a:latin typeface="Arial" pitchFamily="-84" charset="0"/>
                <a:ea typeface="ＭＳ Ｐゴシック" pitchFamily="-84" charset="-128"/>
                <a:cs typeface="ＭＳ Ｐゴシック" pitchFamily="-84" charset="-128"/>
              </a:rPr>
              <a:t>of bitlength the same as n</a:t>
            </a:r>
          </a:p>
          <a:p>
            <a:pPr eaLnBrk="1" hangingPunct="1"/>
            <a:r>
              <a:rPr lang="en-US" b="1" dirty="0" smtClean="0">
                <a:latin typeface="Arial" pitchFamily="-84" charset="0"/>
                <a:ea typeface="ＭＳ Ｐゴシック" pitchFamily="-84" charset="-128"/>
                <a:cs typeface="ＭＳ Ｐゴシック" pitchFamily="-84" charset="-128"/>
              </a:rPr>
              <a:t>GENERATE </a:t>
            </a:r>
            <a:r>
              <a:rPr lang="en-US" dirty="0" smtClean="0">
                <a:latin typeface="Arial" pitchFamily="-84" charset="0"/>
                <a:ea typeface="ＭＳ Ｐゴシック" pitchFamily="-84" charset="-128"/>
                <a:cs typeface="ＭＳ Ｐゴシック" pitchFamily="-84" charset="-128"/>
              </a:rPr>
              <a:t>a pseudorandom sequence of length k x m using the loop:   </a:t>
            </a:r>
          </a:p>
          <a:p>
            <a:pPr eaLnBrk="1" hangingPunct="1"/>
            <a:r>
              <a:rPr lang="en-US" dirty="0" smtClean="0">
                <a:latin typeface="Courier New" pitchFamily="-84" charset="0"/>
                <a:ea typeface="Courier New" pitchFamily="-84" charset="0"/>
                <a:cs typeface="Courier New" pitchFamily="-84" charset="0"/>
              </a:rPr>
              <a:t>for i from 1 to m do the following:  </a:t>
            </a:r>
          </a:p>
          <a:p>
            <a:pPr eaLnBrk="1" hangingPunct="1"/>
            <a:r>
              <a:rPr lang="en-US" dirty="0" smtClean="0">
                <a:latin typeface="Courier New" pitchFamily="-84" charset="0"/>
                <a:ea typeface="Courier New" pitchFamily="-84" charset="0"/>
                <a:cs typeface="Courier New" pitchFamily="-84" charset="0"/>
              </a:rPr>
              <a:t>y</a:t>
            </a:r>
            <a:r>
              <a:rPr lang="en-US" baseline="-25000" dirty="0" smtClean="0">
                <a:latin typeface="Courier New" pitchFamily="-84" charset="0"/>
                <a:ea typeface="Courier New" pitchFamily="-84" charset="0"/>
                <a:cs typeface="Courier New" pitchFamily="-84" charset="0"/>
              </a:rPr>
              <a:t>i  </a:t>
            </a:r>
            <a:r>
              <a:rPr lang="en-US" dirty="0" smtClean="0">
                <a:latin typeface="Courier New" pitchFamily="-84" charset="0"/>
                <a:ea typeface="Courier New" pitchFamily="-84" charset="0"/>
                <a:cs typeface="Courier New" pitchFamily="-84" charset="0"/>
              </a:rPr>
              <a:t>= x</a:t>
            </a:r>
            <a:r>
              <a:rPr lang="en-US" baseline="30000" dirty="0" smtClean="0">
                <a:latin typeface="Courier New" pitchFamily="-84" charset="0"/>
                <a:ea typeface="Courier New" pitchFamily="-84" charset="0"/>
                <a:cs typeface="Courier New" pitchFamily="-84" charset="0"/>
              </a:rPr>
              <a:t>e</a:t>
            </a:r>
            <a:r>
              <a:rPr lang="en-US" baseline="-25000" dirty="0" smtClean="0">
                <a:latin typeface="Courier New" pitchFamily="-84" charset="0"/>
                <a:ea typeface="Courier New" pitchFamily="-84" charset="0"/>
                <a:cs typeface="Courier New" pitchFamily="-84" charset="0"/>
              </a:rPr>
              <a:t>i-1</a:t>
            </a:r>
            <a:r>
              <a:rPr lang="en-US" dirty="0" smtClean="0">
                <a:latin typeface="Courier New" pitchFamily="-84" charset="0"/>
                <a:ea typeface="Courier New" pitchFamily="-84" charset="0"/>
                <a:cs typeface="Courier New" pitchFamily="-84" charset="0"/>
              </a:rPr>
              <a:t>  mod n   </a:t>
            </a:r>
          </a:p>
          <a:p>
            <a:pPr eaLnBrk="1" hangingPunct="1"/>
            <a:r>
              <a:rPr lang="en-US" dirty="0" smtClean="0">
                <a:latin typeface="Courier New" pitchFamily="-84" charset="0"/>
                <a:ea typeface="Courier New" pitchFamily="-84" charset="0"/>
                <a:cs typeface="Courier New" pitchFamily="-84" charset="0"/>
              </a:rPr>
              <a:t>x</a:t>
            </a:r>
            <a:r>
              <a:rPr lang="en-US" baseline="-25000" dirty="0" smtClean="0">
                <a:latin typeface="Courier New" pitchFamily="-84" charset="0"/>
                <a:ea typeface="Courier New" pitchFamily="-84" charset="0"/>
                <a:cs typeface="Courier New" pitchFamily="-84" charset="0"/>
              </a:rPr>
              <a:t>i</a:t>
            </a:r>
            <a:r>
              <a:rPr lang="en-US" dirty="0" smtClean="0">
                <a:latin typeface="Courier New" pitchFamily="-84" charset="0"/>
                <a:ea typeface="Courier New" pitchFamily="-84" charset="0"/>
                <a:cs typeface="Courier New" pitchFamily="-84" charset="0"/>
              </a:rPr>
              <a:t> = r most significant bits of y</a:t>
            </a:r>
            <a:r>
              <a:rPr lang="en-US" baseline="-25000" dirty="0" smtClean="0">
                <a:latin typeface="Courier New" pitchFamily="-84" charset="0"/>
                <a:ea typeface="Courier New" pitchFamily="-84" charset="0"/>
                <a:cs typeface="Courier New" pitchFamily="-84" charset="0"/>
              </a:rPr>
              <a:t>i</a:t>
            </a:r>
            <a:r>
              <a:rPr lang="en-US" dirty="0" smtClean="0">
                <a:latin typeface="Courier New" pitchFamily="-84" charset="0"/>
                <a:ea typeface="Courier New" pitchFamily="-84" charset="0"/>
                <a:cs typeface="Courier New" pitchFamily="-84" charset="0"/>
              </a:rPr>
              <a:t>   </a:t>
            </a:r>
          </a:p>
          <a:p>
            <a:pPr eaLnBrk="1" hangingPunct="1"/>
            <a:r>
              <a:rPr lang="en-US" dirty="0" smtClean="0">
                <a:latin typeface="Courier New" pitchFamily="-84" charset="0"/>
                <a:ea typeface="Courier New" pitchFamily="-84" charset="0"/>
                <a:cs typeface="Courier New" pitchFamily="-84" charset="0"/>
              </a:rPr>
              <a:t>z</a:t>
            </a:r>
            <a:r>
              <a:rPr lang="en-US" baseline="-25000" dirty="0" smtClean="0">
                <a:latin typeface="Courier New" pitchFamily="-84" charset="0"/>
                <a:ea typeface="Courier New" pitchFamily="-84" charset="0"/>
                <a:cs typeface="Courier New" pitchFamily="-84" charset="0"/>
              </a:rPr>
              <a:t>i</a:t>
            </a:r>
            <a:r>
              <a:rPr lang="en-US" dirty="0" smtClean="0">
                <a:latin typeface="Courier New" pitchFamily="-84" charset="0"/>
                <a:ea typeface="Courier New" pitchFamily="-84" charset="0"/>
                <a:cs typeface="Courier New" pitchFamily="-84" charset="0"/>
              </a:rPr>
              <a:t> = k least significant bits of y</a:t>
            </a:r>
            <a:r>
              <a:rPr lang="en-US" baseline="-25000" dirty="0" smtClean="0">
                <a:latin typeface="Courier New" pitchFamily="-84" charset="0"/>
                <a:ea typeface="Courier New" pitchFamily="-84" charset="0"/>
                <a:cs typeface="Courier New" pitchFamily="-84" charset="0"/>
              </a:rPr>
              <a:t>i </a:t>
            </a:r>
            <a:r>
              <a:rPr lang="en-US" dirty="0" smtClean="0">
                <a:latin typeface="Courier New" pitchFamily="-84" charset="0"/>
                <a:ea typeface="Courier New" pitchFamily="-84" charset="0"/>
                <a:cs typeface="Courier New" pitchFamily="-84" charset="0"/>
              </a:rPr>
              <a:t> </a:t>
            </a:r>
          </a:p>
          <a:p>
            <a:pPr eaLnBrk="1" hangingPunct="1"/>
            <a:r>
              <a:rPr lang="en-US" b="1" dirty="0" smtClean="0">
                <a:latin typeface="Arial" pitchFamily="-84" charset="0"/>
                <a:ea typeface="ＭＳ Ｐゴシック" pitchFamily="-84" charset="-128"/>
                <a:cs typeface="ＭＳ Ｐゴシック" pitchFamily="-84" charset="-128"/>
              </a:rPr>
              <a:t>OUTPUT </a:t>
            </a:r>
            <a:r>
              <a:rPr lang="en-US" dirty="0" smtClean="0">
                <a:latin typeface="Arial" pitchFamily="-84" charset="0"/>
                <a:ea typeface="ＭＳ Ｐゴシック" pitchFamily="-84" charset="-128"/>
                <a:cs typeface="ＭＳ Ｐゴシック" pitchFamily="-84" charset="-128"/>
              </a:rPr>
              <a:t>The output sequence is z</a:t>
            </a:r>
            <a:r>
              <a:rPr lang="en-US" baseline="-25000" dirty="0" smtClean="0">
                <a:latin typeface="Arial" pitchFamily="-84" charset="0"/>
                <a:ea typeface="ＭＳ Ｐゴシック" pitchFamily="-84" charset="-128"/>
                <a:cs typeface="ＭＳ Ｐゴシック" pitchFamily="-84" charset="-128"/>
              </a:rPr>
              <a:t>1</a:t>
            </a:r>
            <a:r>
              <a:rPr lang="en-US" dirty="0" smtClean="0">
                <a:latin typeface="Arial" pitchFamily="-84" charset="0"/>
                <a:ea typeface="ＭＳ Ｐゴシック" pitchFamily="-84" charset="-128"/>
                <a:cs typeface="ＭＳ Ｐゴシック" pitchFamily="-84" charset="-128"/>
              </a:rPr>
              <a:t> || z</a:t>
            </a:r>
            <a:r>
              <a:rPr lang="en-US" baseline="-25000" dirty="0" smtClean="0">
                <a:latin typeface="Arial" pitchFamily="-84" charset="0"/>
                <a:ea typeface="ＭＳ Ｐゴシック" pitchFamily="-84" charset="-128"/>
                <a:cs typeface="ＭＳ Ｐゴシック" pitchFamily="-84" charset="-128"/>
              </a:rPr>
              <a:t>2 </a:t>
            </a:r>
            <a:r>
              <a:rPr lang="en-US" dirty="0" smtClean="0">
                <a:latin typeface="Arial" pitchFamily="-84" charset="0"/>
                <a:ea typeface="ＭＳ Ｐゴシック" pitchFamily="-84" charset="-128"/>
                <a:cs typeface="ＭＳ Ｐゴシック" pitchFamily="-84" charset="-128"/>
              </a:rPr>
              <a:t>|| … || z</a:t>
            </a:r>
            <a:r>
              <a:rPr lang="en-US" baseline="-25000" dirty="0" smtClean="0">
                <a:latin typeface="Arial" pitchFamily="-84" charset="0"/>
                <a:ea typeface="ＭＳ Ｐゴシック" pitchFamily="-84" charset="-128"/>
                <a:cs typeface="ＭＳ Ｐゴシック" pitchFamily="-84" charset="-128"/>
              </a:rPr>
              <a:t>m</a:t>
            </a:r>
            <a:r>
              <a:rPr lang="en-US" dirty="0" smtClean="0">
                <a:latin typeface="Arial" pitchFamily="-84" charset="0"/>
                <a:ea typeface="ＭＳ Ｐゴシック" pitchFamily="-84" charset="-128"/>
                <a:cs typeface="ＭＳ Ｐゴシック" pitchFamily="-84" charset="-128"/>
              </a:rPr>
              <a:t>   </a:t>
            </a:r>
          </a:p>
          <a:p>
            <a:pPr eaLnBrk="1" hangingPunct="1"/>
            <a:r>
              <a:rPr lang="en-US" dirty="0" smtClean="0">
                <a:latin typeface="Arial" pitchFamily="-84" charset="0"/>
                <a:ea typeface="ＭＳ Ｐゴシック" pitchFamily="-84" charset="-128"/>
                <a:cs typeface="ＭＳ Ｐゴシック" pitchFamily="-84" charset="-128"/>
              </a:rPr>
              <a:t>The parameters n, r, e, and k are selected to satisfy the six conditions detailed in the text. There is clearly a tradeoff between </a:t>
            </a:r>
            <a:r>
              <a:rPr lang="en-US" i="1" dirty="0" smtClean="0">
                <a:latin typeface="Arial" pitchFamily="-84" charset="0"/>
                <a:ea typeface="ＭＳ Ｐゴシック" pitchFamily="-84" charset="-128"/>
                <a:cs typeface="ＭＳ Ｐゴシック" pitchFamily="-84" charset="-128"/>
              </a:rPr>
              <a:t>r </a:t>
            </a:r>
            <a:r>
              <a:rPr lang="en-US" dirty="0" smtClean="0">
                <a:latin typeface="Arial" pitchFamily="-84" charset="0"/>
                <a:ea typeface="ＭＳ Ｐゴシック" pitchFamily="-84" charset="-128"/>
                <a:cs typeface="ＭＳ Ｐゴシック" pitchFamily="-84" charset="-128"/>
              </a:rPr>
              <a:t>and </a:t>
            </a:r>
            <a:r>
              <a:rPr lang="en-US" i="1" dirty="0" smtClean="0">
                <a:latin typeface="Arial" pitchFamily="-84" charset="0"/>
                <a:ea typeface="ＭＳ Ｐゴシック" pitchFamily="-84" charset="-128"/>
                <a:cs typeface="ＭＳ Ｐゴシック" pitchFamily="-84" charset="-128"/>
              </a:rPr>
              <a:t>k. </a:t>
            </a:r>
            <a:r>
              <a:rPr lang="en-US" dirty="0" smtClean="0">
                <a:latin typeface="Arial" pitchFamily="-84" charset="0"/>
                <a:ea typeface="ＭＳ Ｐゴシック" pitchFamily="-84" charset="-128"/>
                <a:cs typeface="ＭＳ Ｐゴシック" pitchFamily="-84" charset="-128"/>
              </a:rPr>
              <a:t>Because RSA is computationally intensive, we would like to generate as many pseudorandom bits per iteration as possible, and therefore would like a large value of k. However, for cryptographic strength, we would like r to be as large as possible. </a:t>
            </a:r>
          </a:p>
        </p:txBody>
      </p:sp>
      <p:sp>
        <p:nvSpPr>
          <p:cNvPr id="60420" name="Slide Number Placeholder 3"/>
          <p:cNvSpPr>
            <a:spLocks noGrp="1"/>
          </p:cNvSpPr>
          <p:nvPr>
            <p:ph type="sldNum" sz="quarter" idx="5"/>
          </p:nvPr>
        </p:nvSpPr>
        <p:spPr>
          <a:noFill/>
        </p:spPr>
        <p:txBody>
          <a:bodyPr/>
          <a:lstStyle/>
          <a:p>
            <a:fld id="{AC8132D4-DA6C-CB47-9F95-A896F00EE909}" type="slidenum">
              <a:rPr lang="en-AU" smtClean="0">
                <a:latin typeface="Arial" pitchFamily="-84" charset="0"/>
              </a:rPr>
              <a:pPr/>
              <a:t>24</a:t>
            </a:fld>
            <a:endParaRPr lang="en-AU" dirty="0" smtClean="0">
              <a:latin typeface="Arial" pitchFamily="-8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p:cNvSpPr>
          <p:nvPr>
            <p:ph type="sldImg"/>
          </p:nvPr>
        </p:nvSpPr>
        <p:spPr>
          <a:ln/>
        </p:spPr>
      </p:sp>
      <p:sp>
        <p:nvSpPr>
          <p:cNvPr id="62467" name="Notes Placeholder 2"/>
          <p:cNvSpPr>
            <a:spLocks noGrp="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In this subsection, we briefly summarize a technique developed by the U.S. National Security Agency known as dual elliptic curve PRNG (DEC PRNG). This technique is recommended in NIST SP 800-90, the ANSI standard X9.82 and in the ISO standard 18031. There has been some controversy regarding both the security and inefficiency of this algorithm compared to other alternatives. Can summarize the algorithm as follows: Let P and Q be two known points on a given elliptic curve. The seed of the DEC PRNG is a random integer </a:t>
            </a:r>
            <a:r>
              <a:rPr lang="en-US" i="1" dirty="0" smtClean="0">
                <a:latin typeface="Arial" pitchFamily="-84" charset="0"/>
                <a:ea typeface="ＭＳ Ｐゴシック" pitchFamily="-84" charset="-128"/>
                <a:cs typeface="ＭＳ Ｐゴシック" pitchFamily="-84" charset="-128"/>
              </a:rPr>
              <a:t>s</a:t>
            </a:r>
            <a:r>
              <a:rPr lang="en-US" i="1" baseline="-25000" dirty="0" smtClean="0">
                <a:latin typeface="Arial" pitchFamily="-84" charset="0"/>
                <a:ea typeface="ＭＳ Ｐゴシック" pitchFamily="-84" charset="-128"/>
                <a:cs typeface="ＭＳ Ｐゴシック" pitchFamily="-84" charset="-128"/>
              </a:rPr>
              <a:t>0</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Let x denote a function that gives the </a:t>
            </a:r>
            <a:r>
              <a:rPr lang="en-US" i="1" dirty="0" smtClean="0">
                <a:latin typeface="Arial" pitchFamily="-84" charset="0"/>
                <a:ea typeface="ＭＳ Ｐゴシック" pitchFamily="-84" charset="-128"/>
                <a:cs typeface="ＭＳ Ｐゴシック" pitchFamily="-84" charset="-128"/>
              </a:rPr>
              <a:t>x</a:t>
            </a:r>
            <a:r>
              <a:rPr lang="en-US" dirty="0" smtClean="0">
                <a:latin typeface="Arial" pitchFamily="-84" charset="0"/>
                <a:ea typeface="ＭＳ Ｐゴシック" pitchFamily="-84" charset="-128"/>
                <a:cs typeface="ＭＳ Ｐゴシック" pitchFamily="-84" charset="-128"/>
              </a:rPr>
              <a:t>-coordinate of a point of the curve. Let </a:t>
            </a:r>
            <a:r>
              <a:rPr lang="en-US" i="1" dirty="0" smtClean="0">
                <a:latin typeface="Arial" pitchFamily="-84" charset="0"/>
                <a:ea typeface="ＭＳ Ｐゴシック" pitchFamily="-84" charset="-128"/>
                <a:cs typeface="ＭＳ Ｐゴシック" pitchFamily="-84" charset="-128"/>
              </a:rPr>
              <a:t>lsb </a:t>
            </a:r>
            <a:r>
              <a:rPr lang="en-US" i="1" baseline="-25000" dirty="0" smtClean="0">
                <a:latin typeface="Arial" pitchFamily="-84" charset="0"/>
                <a:ea typeface="ＭＳ Ｐゴシック" pitchFamily="-84" charset="-128"/>
                <a:cs typeface="ＭＳ Ｐゴシック" pitchFamily="-84" charset="-128"/>
              </a:rPr>
              <a:t>i</a:t>
            </a:r>
            <a:r>
              <a:rPr lang="en-US" i="1" dirty="0" smtClean="0">
                <a:latin typeface="Arial" pitchFamily="-84" charset="0"/>
                <a:ea typeface="ＭＳ Ｐゴシック" pitchFamily="-84" charset="-128"/>
                <a:cs typeface="ＭＳ Ｐゴシック" pitchFamily="-84" charset="-128"/>
              </a:rPr>
              <a:t>(s) </a:t>
            </a:r>
            <a:r>
              <a:rPr lang="en-US" dirty="0" smtClean="0">
                <a:latin typeface="Arial" pitchFamily="-84" charset="0"/>
                <a:ea typeface="ＭＳ Ｐゴシック" pitchFamily="-84" charset="-128"/>
                <a:cs typeface="ＭＳ Ｐゴシック" pitchFamily="-84" charset="-128"/>
              </a:rPr>
              <a:t>denote the i least significant bits of an integer s. The DEC PRNG  transforms the seed into the pseudorandom sequence of length 240k, k &gt; 0, as follows.  </a:t>
            </a:r>
          </a:p>
          <a:p>
            <a:pPr eaLnBrk="1" hangingPunct="1"/>
            <a:r>
              <a:rPr lang="en-US" dirty="0" smtClean="0">
                <a:latin typeface="Courier New" pitchFamily="-84" charset="0"/>
                <a:ea typeface="Courier New" pitchFamily="-84" charset="0"/>
                <a:cs typeface="Courier New" pitchFamily="-84" charset="0"/>
              </a:rPr>
              <a:t>for i = 1 to k do </a:t>
            </a:r>
          </a:p>
          <a:p>
            <a:pPr eaLnBrk="1" hangingPunct="1"/>
            <a:r>
              <a:rPr lang="en-US" dirty="0" smtClean="0">
                <a:latin typeface="Courier New" pitchFamily="-84" charset="0"/>
                <a:ea typeface="Courier New" pitchFamily="-84" charset="0"/>
                <a:cs typeface="Courier New" pitchFamily="-84" charset="0"/>
              </a:rPr>
              <a:t>set s</a:t>
            </a:r>
            <a:r>
              <a:rPr lang="en-US" baseline="-25000" dirty="0" smtClean="0">
                <a:latin typeface="Courier New" pitchFamily="-84" charset="0"/>
                <a:ea typeface="Courier New" pitchFamily="-84" charset="0"/>
                <a:cs typeface="Courier New" pitchFamily="-84" charset="0"/>
              </a:rPr>
              <a:t>i</a:t>
            </a:r>
            <a:r>
              <a:rPr lang="en-US" dirty="0" smtClean="0">
                <a:latin typeface="Courier New" pitchFamily="-84" charset="0"/>
                <a:ea typeface="Courier New" pitchFamily="-84" charset="0"/>
                <a:cs typeface="Courier New" pitchFamily="-84" charset="0"/>
              </a:rPr>
              <a:t> = x(s</a:t>
            </a:r>
            <a:r>
              <a:rPr lang="en-US" baseline="-25000" dirty="0" smtClean="0">
                <a:latin typeface="Courier New" pitchFamily="-84" charset="0"/>
                <a:ea typeface="Courier New" pitchFamily="-84" charset="0"/>
                <a:cs typeface="Courier New" pitchFamily="-84" charset="0"/>
              </a:rPr>
              <a:t>i-1 </a:t>
            </a:r>
            <a:r>
              <a:rPr lang="en-US" dirty="0" smtClean="0">
                <a:latin typeface="Courier New" pitchFamily="-84" charset="0"/>
                <a:ea typeface="Courier New" pitchFamily="-84" charset="0"/>
                <a:cs typeface="Courier New" pitchFamily="-84" charset="0"/>
              </a:rPr>
              <a:t>P )  </a:t>
            </a:r>
          </a:p>
          <a:p>
            <a:pPr eaLnBrk="1" hangingPunct="1"/>
            <a:r>
              <a:rPr lang="en-US" dirty="0" smtClean="0">
                <a:latin typeface="Courier New" pitchFamily="-84" charset="0"/>
                <a:ea typeface="Courier New" pitchFamily="-84" charset="0"/>
                <a:cs typeface="Courier New" pitchFamily="-84" charset="0"/>
              </a:rPr>
              <a:t>set r</a:t>
            </a:r>
            <a:r>
              <a:rPr lang="en-US" baseline="-25000" dirty="0" smtClean="0">
                <a:latin typeface="Courier New" pitchFamily="-84" charset="0"/>
                <a:ea typeface="Courier New" pitchFamily="-84" charset="0"/>
                <a:cs typeface="Courier New" pitchFamily="-84" charset="0"/>
              </a:rPr>
              <a:t>i</a:t>
            </a:r>
            <a:r>
              <a:rPr lang="en-US" dirty="0" smtClean="0">
                <a:latin typeface="Courier New" pitchFamily="-84" charset="0"/>
                <a:ea typeface="Courier New" pitchFamily="-84" charset="0"/>
                <a:cs typeface="Courier New" pitchFamily="-84" charset="0"/>
              </a:rPr>
              <a:t>  = lsb</a:t>
            </a:r>
            <a:r>
              <a:rPr lang="en-US" baseline="-25000" dirty="0" smtClean="0">
                <a:latin typeface="Courier New" pitchFamily="-84" charset="0"/>
                <a:ea typeface="Courier New" pitchFamily="-84" charset="0"/>
                <a:cs typeface="Courier New" pitchFamily="-84" charset="0"/>
              </a:rPr>
              <a:t>240</a:t>
            </a:r>
            <a:r>
              <a:rPr lang="en-US" dirty="0" smtClean="0">
                <a:latin typeface="Courier New" pitchFamily="-84" charset="0"/>
                <a:ea typeface="Courier New" pitchFamily="-84" charset="0"/>
                <a:cs typeface="Courier New" pitchFamily="-84" charset="0"/>
              </a:rPr>
              <a:t> (x(s</a:t>
            </a:r>
            <a:r>
              <a:rPr lang="en-US" baseline="-25000" dirty="0" smtClean="0">
                <a:latin typeface="Courier New" pitchFamily="-84" charset="0"/>
                <a:ea typeface="Courier New" pitchFamily="-84" charset="0"/>
                <a:cs typeface="Courier New" pitchFamily="-84" charset="0"/>
              </a:rPr>
              <a:t>i</a:t>
            </a:r>
            <a:r>
              <a:rPr lang="en-US" dirty="0" smtClean="0">
                <a:latin typeface="Courier New" pitchFamily="-84" charset="0"/>
                <a:ea typeface="Courier New" pitchFamily="-84" charset="0"/>
                <a:cs typeface="Courier New" pitchFamily="-84" charset="0"/>
              </a:rPr>
              <a:t> Q))  </a:t>
            </a:r>
          </a:p>
          <a:p>
            <a:pPr eaLnBrk="1" hangingPunct="1"/>
            <a:r>
              <a:rPr lang="en-US" dirty="0" smtClean="0">
                <a:latin typeface="Courier New" pitchFamily="-84" charset="0"/>
                <a:ea typeface="Courier New" pitchFamily="-84" charset="0"/>
                <a:cs typeface="Courier New" pitchFamily="-84" charset="0"/>
              </a:rPr>
              <a:t>end for  </a:t>
            </a:r>
          </a:p>
          <a:p>
            <a:pPr eaLnBrk="1" hangingPunct="1"/>
            <a:r>
              <a:rPr lang="en-US" dirty="0" smtClean="0">
                <a:latin typeface="Courier New" pitchFamily="-84" charset="0"/>
                <a:ea typeface="Courier New" pitchFamily="-84" charset="0"/>
                <a:cs typeface="Courier New" pitchFamily="-84" charset="0"/>
              </a:rPr>
              <a:t>return r</a:t>
            </a:r>
            <a:r>
              <a:rPr lang="en-US" baseline="-25000" dirty="0" smtClean="0">
                <a:latin typeface="Courier New" pitchFamily="-84" charset="0"/>
                <a:ea typeface="Courier New" pitchFamily="-84" charset="0"/>
                <a:cs typeface="Courier New" pitchFamily="-84" charset="0"/>
              </a:rPr>
              <a:t>1</a:t>
            </a:r>
            <a:r>
              <a:rPr lang="en-US" dirty="0" smtClean="0">
                <a:latin typeface="Courier New" pitchFamily="-84" charset="0"/>
                <a:ea typeface="Courier New" pitchFamily="-84" charset="0"/>
                <a:cs typeface="Courier New" pitchFamily="-84" charset="0"/>
              </a:rPr>
              <a:t> , . . . , r</a:t>
            </a:r>
            <a:r>
              <a:rPr lang="en-US" baseline="-25000" dirty="0" smtClean="0">
                <a:latin typeface="Courier New" pitchFamily="-84" charset="0"/>
                <a:ea typeface="Courier New" pitchFamily="-84" charset="0"/>
                <a:cs typeface="Courier New" pitchFamily="-84" charset="0"/>
              </a:rPr>
              <a:t>k</a:t>
            </a:r>
            <a:r>
              <a:rPr lang="en-US" dirty="0" smtClean="0">
                <a:latin typeface="Courier New" pitchFamily="-84" charset="0"/>
                <a:ea typeface="Courier New" pitchFamily="-84" charset="0"/>
                <a:cs typeface="Courier New" pitchFamily="-84" charset="0"/>
              </a:rPr>
              <a:t>    </a:t>
            </a:r>
          </a:p>
          <a:p>
            <a:pPr eaLnBrk="1" hangingPunct="1"/>
            <a:r>
              <a:rPr lang="en-US" dirty="0" smtClean="0">
                <a:latin typeface="Arial" pitchFamily="-84" charset="0"/>
                <a:ea typeface="ＭＳ Ｐゴシック" pitchFamily="-84" charset="-128"/>
                <a:cs typeface="ＭＳ Ｐゴシック" pitchFamily="-84" charset="-128"/>
              </a:rPr>
              <a:t>Given the security concerns expressed for this PRNG, the only motivation for its use would be that it is used in a system that already implements ECC but does not implement any other symmetric, asymmetric, or hash cryptographic algorithm that could be used to build a PRNG. </a:t>
            </a:r>
          </a:p>
        </p:txBody>
      </p:sp>
      <p:sp>
        <p:nvSpPr>
          <p:cNvPr id="62468" name="Slide Number Placeholder 3"/>
          <p:cNvSpPr>
            <a:spLocks noGrp="1"/>
          </p:cNvSpPr>
          <p:nvPr>
            <p:ph type="sldNum" sz="quarter" idx="5"/>
          </p:nvPr>
        </p:nvSpPr>
        <p:spPr>
          <a:noFill/>
        </p:spPr>
        <p:txBody>
          <a:bodyPr/>
          <a:lstStyle/>
          <a:p>
            <a:fld id="{FCCFC1F1-51A4-5F46-8B54-77DA2D5E7737}" type="slidenum">
              <a:rPr lang="en-AU" smtClean="0">
                <a:latin typeface="Arial" pitchFamily="-84" charset="0"/>
              </a:rPr>
              <a:pPr/>
              <a:t>25</a:t>
            </a:fld>
            <a:endParaRPr lang="en-AU" dirty="0" smtClean="0">
              <a:latin typeface="Arial" pitchFamily="-8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26</a:t>
            </a:fld>
            <a:endParaRPr lang="en-AU" dirty="0">
              <a:latin typeface="Arial" pitchFamily="-8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10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26"/>
          <p:cNvGrpSpPr>
            <a:grpSpLocks/>
          </p:cNvGrpSpPr>
          <p:nvPr/>
        </p:nvGrpSpPr>
        <p:grpSpPr bwMode="auto">
          <a:xfrm>
            <a:off x="3175" y="4267200"/>
            <a:ext cx="9140825" cy="2590800"/>
            <a:chOff x="2" y="2688"/>
            <a:chExt cx="5758" cy="1632"/>
          </a:xfrm>
        </p:grpSpPr>
        <p:sp>
          <p:nvSpPr>
            <p:cNvPr id="5" name="Freeform 1027"/>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1028"/>
            <p:cNvGrpSpPr>
              <a:grpSpLocks/>
            </p:cNvGrpSpPr>
            <p:nvPr/>
          </p:nvGrpSpPr>
          <p:grpSpPr bwMode="auto">
            <a:xfrm>
              <a:off x="1776" y="3024"/>
              <a:ext cx="3929" cy="1290"/>
              <a:chOff x="1776" y="3024"/>
              <a:chExt cx="3929" cy="1290"/>
            </a:xfrm>
          </p:grpSpPr>
          <p:grpSp>
            <p:nvGrpSpPr>
              <p:cNvPr id="7" name="Group 1029"/>
              <p:cNvGrpSpPr>
                <a:grpSpLocks/>
              </p:cNvGrpSpPr>
              <p:nvPr/>
            </p:nvGrpSpPr>
            <p:grpSpPr bwMode="auto">
              <a:xfrm>
                <a:off x="2268" y="3934"/>
                <a:ext cx="638" cy="377"/>
                <a:chOff x="2268" y="3934"/>
                <a:chExt cx="638" cy="377"/>
              </a:xfrm>
            </p:grpSpPr>
            <p:sp>
              <p:nvSpPr>
                <p:cNvPr id="60" name="Oval 1030"/>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1031"/>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1032"/>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1033"/>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34"/>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035"/>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036"/>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037"/>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038"/>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039"/>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040"/>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041"/>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042"/>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043"/>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1044"/>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1045"/>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1046"/>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1047"/>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1048"/>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1049"/>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1050"/>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1051"/>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1052"/>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1053"/>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1054"/>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1055"/>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1056"/>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1057"/>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1058"/>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1059"/>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1060"/>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1061"/>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1062"/>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1063"/>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1064"/>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1065"/>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1066"/>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1067"/>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1068"/>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1069"/>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1070"/>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1071"/>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1072"/>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1073"/>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1074"/>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1075"/>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1076"/>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1077"/>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1078"/>
              <p:cNvGrpSpPr>
                <a:grpSpLocks/>
              </p:cNvGrpSpPr>
              <p:nvPr/>
            </p:nvGrpSpPr>
            <p:grpSpPr bwMode="auto">
              <a:xfrm>
                <a:off x="4546" y="3608"/>
                <a:ext cx="518" cy="319"/>
                <a:chOff x="4546" y="3608"/>
                <a:chExt cx="518" cy="319"/>
              </a:xfrm>
            </p:grpSpPr>
            <p:sp>
              <p:nvSpPr>
                <p:cNvPr id="54" name="Oval 1079"/>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1080"/>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1081"/>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1082"/>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1083"/>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1084"/>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1085"/>
              <p:cNvGrpSpPr>
                <a:grpSpLocks/>
              </p:cNvGrpSpPr>
              <p:nvPr/>
            </p:nvGrpSpPr>
            <p:grpSpPr bwMode="auto">
              <a:xfrm>
                <a:off x="5381" y="3085"/>
                <a:ext cx="227" cy="132"/>
                <a:chOff x="5381" y="3085"/>
                <a:chExt cx="227" cy="132"/>
              </a:xfrm>
            </p:grpSpPr>
            <p:sp>
              <p:nvSpPr>
                <p:cNvPr id="50" name="Oval 1086"/>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1087"/>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1088"/>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1089"/>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80962" name="Rectangle 1090"/>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80963" name="Rectangle 1091"/>
          <p:cNvSpPr>
            <a:spLocks noGrp="1" noChangeArrowheads="1"/>
          </p:cNvSpPr>
          <p:nvPr>
            <p:ph type="subTitle" sz="quarter" idx="1"/>
          </p:nvPr>
        </p:nvSpPr>
        <p:spPr>
          <a:xfrm>
            <a:off x="1371600" y="3886200"/>
            <a:ext cx="6400800" cy="1752600"/>
          </a:xfrm>
        </p:spPr>
        <p:txBody>
          <a:bodyPr/>
          <a:lstStyle>
            <a:lvl1pPr marL="0" indent="0" algn="ctr">
              <a:buFont typeface="Wingdings" charset="2"/>
              <a:buNone/>
              <a:defRPr/>
            </a:lvl1pPr>
          </a:lstStyle>
          <a:p>
            <a:r>
              <a:rPr lang="en-US"/>
              <a:t>Click to edit Master subtitle style</a:t>
            </a:r>
          </a:p>
        </p:txBody>
      </p:sp>
      <p:sp>
        <p:nvSpPr>
          <p:cNvPr id="68" name="Rectangle 1092"/>
          <p:cNvSpPr>
            <a:spLocks noGrp="1" noChangeArrowheads="1"/>
          </p:cNvSpPr>
          <p:nvPr>
            <p:ph type="dt" sz="quarter" idx="10"/>
          </p:nvPr>
        </p:nvSpPr>
        <p:spPr/>
        <p:txBody>
          <a:bodyPr/>
          <a:lstStyle>
            <a:lvl1pPr>
              <a:defRPr/>
            </a:lvl1pPr>
          </a:lstStyle>
          <a:p>
            <a:pPr>
              <a:defRPr/>
            </a:pPr>
            <a:endParaRPr lang="en-US" dirty="0"/>
          </a:p>
        </p:txBody>
      </p:sp>
      <p:sp>
        <p:nvSpPr>
          <p:cNvPr id="69" name="Rectangle 1093"/>
          <p:cNvSpPr>
            <a:spLocks noGrp="1" noChangeArrowheads="1"/>
          </p:cNvSpPr>
          <p:nvPr>
            <p:ph type="ftr" sz="quarter" idx="11"/>
          </p:nvPr>
        </p:nvSpPr>
        <p:spPr/>
        <p:txBody>
          <a:bodyPr/>
          <a:lstStyle>
            <a:lvl1pPr>
              <a:defRPr/>
            </a:lvl1pPr>
          </a:lstStyle>
          <a:p>
            <a:pPr>
              <a:defRPr/>
            </a:pPr>
            <a:endParaRPr lang="en-US" dirty="0"/>
          </a:p>
        </p:txBody>
      </p:sp>
      <p:sp>
        <p:nvSpPr>
          <p:cNvPr id="70" name="Rectangle 1094"/>
          <p:cNvSpPr>
            <a:spLocks noGrp="1" noChangeArrowheads="1"/>
          </p:cNvSpPr>
          <p:nvPr>
            <p:ph type="sldNum" sz="quarter" idx="12"/>
          </p:nvPr>
        </p:nvSpPr>
        <p:spPr/>
        <p:txBody>
          <a:bodyPr/>
          <a:lstStyle>
            <a:lvl1pPr>
              <a:defRPr/>
            </a:lvl1pPr>
          </a:lstStyle>
          <a:p>
            <a:pPr>
              <a:defRPr/>
            </a:pPr>
            <a:fld id="{54D53FF6-F887-334B-A7F5-CDD5AC336DF3}"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5" name="Rectangle 1092"/>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1093"/>
          <p:cNvSpPr>
            <a:spLocks noGrp="1" noChangeArrowheads="1"/>
          </p:cNvSpPr>
          <p:nvPr>
            <p:ph type="sldNum" sz="quarter" idx="12"/>
          </p:nvPr>
        </p:nvSpPr>
        <p:spPr>
          <a:ln/>
        </p:spPr>
        <p:txBody>
          <a:bodyPr/>
          <a:lstStyle>
            <a:lvl1pPr>
              <a:defRPr/>
            </a:lvl1pPr>
          </a:lstStyle>
          <a:p>
            <a:pPr>
              <a:defRPr/>
            </a:pPr>
            <a:fld id="{7595FBC4-EA25-7C40-BD4F-92F30FCA794D}"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5" name="Rectangle 1092"/>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1093"/>
          <p:cNvSpPr>
            <a:spLocks noGrp="1" noChangeArrowheads="1"/>
          </p:cNvSpPr>
          <p:nvPr>
            <p:ph type="sldNum" sz="quarter" idx="12"/>
          </p:nvPr>
        </p:nvSpPr>
        <p:spPr>
          <a:ln/>
        </p:spPr>
        <p:txBody>
          <a:bodyPr/>
          <a:lstStyle>
            <a:lvl1pPr>
              <a:defRPr/>
            </a:lvl1pPr>
          </a:lstStyle>
          <a:p>
            <a:pPr>
              <a:defRPr/>
            </a:pPr>
            <a:fld id="{75DA8427-5757-5E4C-AF83-43798829DFF8}"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6" name="Rectangle 1092"/>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1093"/>
          <p:cNvSpPr>
            <a:spLocks noGrp="1" noChangeArrowheads="1"/>
          </p:cNvSpPr>
          <p:nvPr>
            <p:ph type="sldNum" sz="quarter" idx="12"/>
          </p:nvPr>
        </p:nvSpPr>
        <p:spPr>
          <a:ln/>
        </p:spPr>
        <p:txBody>
          <a:bodyPr/>
          <a:lstStyle>
            <a:lvl1pPr>
              <a:defRPr/>
            </a:lvl1pPr>
          </a:lstStyle>
          <a:p>
            <a:pPr>
              <a:defRPr/>
            </a:pPr>
            <a:fld id="{8887E93A-86D1-2C4A-B588-E6A79FEE085A}"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8" name="Rectangle 1092"/>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1093"/>
          <p:cNvSpPr>
            <a:spLocks noGrp="1" noChangeArrowheads="1"/>
          </p:cNvSpPr>
          <p:nvPr>
            <p:ph type="sldNum" sz="quarter" idx="12"/>
          </p:nvPr>
        </p:nvSpPr>
        <p:spPr>
          <a:ln/>
        </p:spPr>
        <p:txBody>
          <a:bodyPr/>
          <a:lstStyle>
            <a:lvl1pPr>
              <a:defRPr/>
            </a:lvl1pPr>
          </a:lstStyle>
          <a:p>
            <a:pPr>
              <a:defRPr/>
            </a:pPr>
            <a:fld id="{9A13BD78-BC68-8744-A7AE-E054D80EDE2C}"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4" name="Rectangle 1092"/>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1093"/>
          <p:cNvSpPr>
            <a:spLocks noGrp="1" noChangeArrowheads="1"/>
          </p:cNvSpPr>
          <p:nvPr>
            <p:ph type="sldNum" sz="quarter" idx="12"/>
          </p:nvPr>
        </p:nvSpPr>
        <p:spPr>
          <a:ln/>
        </p:spPr>
        <p:txBody>
          <a:bodyPr/>
          <a:lstStyle>
            <a:lvl1pPr>
              <a:defRPr/>
            </a:lvl1pPr>
          </a:lstStyle>
          <a:p>
            <a:pPr>
              <a:defRPr/>
            </a:pPr>
            <a:fld id="{4CE09236-ECDF-9141-93C6-0959324BADB5}"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3" name="Rectangle 1092"/>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1093"/>
          <p:cNvSpPr>
            <a:spLocks noGrp="1" noChangeArrowheads="1"/>
          </p:cNvSpPr>
          <p:nvPr>
            <p:ph type="sldNum" sz="quarter" idx="12"/>
          </p:nvPr>
        </p:nvSpPr>
        <p:spPr>
          <a:ln/>
        </p:spPr>
        <p:txBody>
          <a:bodyPr/>
          <a:lstStyle>
            <a:lvl1pPr>
              <a:defRPr/>
            </a:lvl1pPr>
          </a:lstStyle>
          <a:p>
            <a:pPr>
              <a:defRPr/>
            </a:pPr>
            <a:fld id="{6D27869B-283C-F14A-880D-BE8171DE696C}"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6" name="Rectangle 1092"/>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1093"/>
          <p:cNvSpPr>
            <a:spLocks noGrp="1" noChangeArrowheads="1"/>
          </p:cNvSpPr>
          <p:nvPr>
            <p:ph type="sldNum" sz="quarter" idx="12"/>
          </p:nvPr>
        </p:nvSpPr>
        <p:spPr>
          <a:ln/>
        </p:spPr>
        <p:txBody>
          <a:bodyPr/>
          <a:lstStyle>
            <a:lvl1pPr>
              <a:defRPr/>
            </a:lvl1pPr>
          </a:lstStyle>
          <a:p>
            <a:pPr>
              <a:defRPr/>
            </a:pPr>
            <a:fld id="{F0F8B82F-90F6-6647-845A-3CD5F8323CDC}"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6" name="Rectangle 1092"/>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1093"/>
          <p:cNvSpPr>
            <a:spLocks noGrp="1" noChangeArrowheads="1"/>
          </p:cNvSpPr>
          <p:nvPr>
            <p:ph type="sldNum" sz="quarter" idx="12"/>
          </p:nvPr>
        </p:nvSpPr>
        <p:spPr>
          <a:ln/>
        </p:spPr>
        <p:txBody>
          <a:bodyPr/>
          <a:lstStyle>
            <a:lvl1pPr>
              <a:defRPr/>
            </a:lvl1pPr>
          </a:lstStyle>
          <a:p>
            <a:pPr>
              <a:defRPr/>
            </a:pPr>
            <a:fld id="{39A8A4B1-9FC3-3E4B-9D0A-6163BE37C477}"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5" name="Rectangle 1092"/>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1093"/>
          <p:cNvSpPr>
            <a:spLocks noGrp="1" noChangeArrowheads="1"/>
          </p:cNvSpPr>
          <p:nvPr>
            <p:ph type="sldNum" sz="quarter" idx="12"/>
          </p:nvPr>
        </p:nvSpPr>
        <p:spPr>
          <a:ln/>
        </p:spPr>
        <p:txBody>
          <a:bodyPr/>
          <a:lstStyle>
            <a:lvl1pPr>
              <a:defRPr/>
            </a:lvl1pPr>
          </a:lstStyle>
          <a:p>
            <a:pPr>
              <a:defRPr/>
            </a:pPr>
            <a:fld id="{9B0DC263-BC9F-CA4D-B318-E424DD9E02BC}"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5" name="Rectangle 1092"/>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1093"/>
          <p:cNvSpPr>
            <a:spLocks noGrp="1" noChangeArrowheads="1"/>
          </p:cNvSpPr>
          <p:nvPr>
            <p:ph type="sldNum" sz="quarter" idx="12"/>
          </p:nvPr>
        </p:nvSpPr>
        <p:spPr>
          <a:ln/>
        </p:spPr>
        <p:txBody>
          <a:bodyPr/>
          <a:lstStyle>
            <a:lvl1pPr>
              <a:defRPr/>
            </a:lvl1pPr>
          </a:lstStyle>
          <a:p>
            <a:pPr>
              <a:defRPr/>
            </a:pPr>
            <a:fld id="{9C3A6ED9-9462-804F-B929-A873B68CBC00}"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719400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106426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1175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32511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0644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5683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124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48666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48833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1886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23480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Slide with Picture">
    <p:bg>
      <p:bgRef idx="1002">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smtClean="0"/>
              <a:t>Click icon to add picture</a:t>
            </a:r>
            <a:endParaRPr noProof="0" dirty="0"/>
          </a:p>
        </p:txBody>
      </p:sp>
      <p:sp>
        <p:nvSpPr>
          <p:cNvPr id="12" name="Date Placeholder 3"/>
          <p:cNvSpPr>
            <a:spLocks noGrp="1"/>
          </p:cNvSpPr>
          <p:nvPr>
            <p:ph type="dt" sz="half" idx="13"/>
          </p:nvPr>
        </p:nvSpPr>
        <p:spPr>
          <a:xfrm>
            <a:off x="5257800" y="6356350"/>
            <a:ext cx="2133600" cy="365125"/>
          </a:xfrm>
          <a:prstGeom prst="rect">
            <a:avLst/>
          </a:prstGeo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a:prstGeom prst="rect">
            <a:avLst/>
          </a:prstGeom>
        </p:spPr>
        <p:txBody>
          <a:bodyPr/>
          <a:lstStyle>
            <a:lvl1pPr>
              <a:defRPr dirty="0">
                <a:solidFill>
                  <a:schemeClr val="tx2"/>
                </a:solidFill>
              </a:defRPr>
            </a:lvl1pPr>
          </a:lstStyle>
          <a:p>
            <a:pPr>
              <a:defRPr/>
            </a:pP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026"/>
          <p:cNvGrpSpPr>
            <a:grpSpLocks/>
          </p:cNvGrpSpPr>
          <p:nvPr/>
        </p:nvGrpSpPr>
        <p:grpSpPr bwMode="auto">
          <a:xfrm>
            <a:off x="3175" y="4267200"/>
            <a:ext cx="9140825" cy="2590800"/>
            <a:chOff x="2" y="2688"/>
            <a:chExt cx="5758" cy="1632"/>
          </a:xfrm>
        </p:grpSpPr>
        <p:sp>
          <p:nvSpPr>
            <p:cNvPr id="79875" name="Freeform 1027"/>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1028"/>
            <p:cNvGrpSpPr>
              <a:grpSpLocks/>
            </p:cNvGrpSpPr>
            <p:nvPr/>
          </p:nvGrpSpPr>
          <p:grpSpPr bwMode="auto">
            <a:xfrm>
              <a:off x="1776" y="3024"/>
              <a:ext cx="3929" cy="1290"/>
              <a:chOff x="1776" y="3024"/>
              <a:chExt cx="3929" cy="1290"/>
            </a:xfrm>
          </p:grpSpPr>
          <p:grpSp>
            <p:nvGrpSpPr>
              <p:cNvPr id="1034" name="Group 1029"/>
              <p:cNvGrpSpPr>
                <a:grpSpLocks/>
              </p:cNvGrpSpPr>
              <p:nvPr userDrawn="1"/>
            </p:nvGrpSpPr>
            <p:grpSpPr bwMode="auto">
              <a:xfrm>
                <a:off x="2268" y="3934"/>
                <a:ext cx="638" cy="377"/>
                <a:chOff x="2268" y="3934"/>
                <a:chExt cx="638" cy="377"/>
              </a:xfrm>
            </p:grpSpPr>
            <p:sp>
              <p:nvSpPr>
                <p:cNvPr id="79878" name="Oval 1030"/>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79" name="Oval 1031"/>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0" name="Oval 1032"/>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1" name="Oval 1033"/>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2" name="Oval 1034"/>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3" name="Oval 1035"/>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4" name="Oval 1036"/>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5" name="Oval 1037"/>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79886" name="Oval 1038"/>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7" name="Oval 1039"/>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8" name="Oval 1040"/>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9" name="Oval 1041"/>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90" name="Oval 1042"/>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91" name="Freeform 1043"/>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2" name="Freeform 1044"/>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3" name="Freeform 1045"/>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4" name="Freeform 1046"/>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5" name="Freeform 1047"/>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6" name="Freeform 1048"/>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7" name="Freeform 1049"/>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8" name="Freeform 1050"/>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9" name="Freeform 1051"/>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0" name="Freeform 1052"/>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1" name="Freeform 1053"/>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2" name="Freeform 1054"/>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3" name="Freeform 1055"/>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4" name="Freeform 1056"/>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5" name="Freeform 1057"/>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6" name="Freeform 1058"/>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7" name="Freeform 1059"/>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8" name="Freeform 1060"/>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9" name="Freeform 1061"/>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0" name="Freeform 1062"/>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1" name="Freeform 1063"/>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2" name="Freeform 1064"/>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3" name="Freeform 1065"/>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4" name="Freeform 1066"/>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5" name="Freeform 1067"/>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6" name="Freeform 1068"/>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7" name="Freeform 1069"/>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8" name="Freeform 1070"/>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9" name="Freeform 1071"/>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20" name="Freeform 1072"/>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21" name="Freeform 1073"/>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22" name="Freeform 1074"/>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23" name="Freeform 1075"/>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24" name="Freeform 1076"/>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25" name="Oval 1077"/>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1078"/>
              <p:cNvGrpSpPr>
                <a:grpSpLocks/>
              </p:cNvGrpSpPr>
              <p:nvPr userDrawn="1"/>
            </p:nvGrpSpPr>
            <p:grpSpPr bwMode="auto">
              <a:xfrm>
                <a:off x="4546" y="3608"/>
                <a:ext cx="518" cy="319"/>
                <a:chOff x="4546" y="3608"/>
                <a:chExt cx="518" cy="319"/>
              </a:xfrm>
            </p:grpSpPr>
            <p:sp>
              <p:nvSpPr>
                <p:cNvPr id="79927" name="Oval 1079"/>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28" name="Oval 1080"/>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29" name="Oval 1081"/>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30" name="Oval 1082"/>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31" name="Oval 1083"/>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32" name="Oval 1084"/>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1085"/>
              <p:cNvGrpSpPr>
                <a:grpSpLocks/>
              </p:cNvGrpSpPr>
              <p:nvPr userDrawn="1"/>
            </p:nvGrpSpPr>
            <p:grpSpPr bwMode="auto">
              <a:xfrm>
                <a:off x="5381" y="3085"/>
                <a:ext cx="227" cy="132"/>
                <a:chOff x="5381" y="3085"/>
                <a:chExt cx="227" cy="132"/>
              </a:xfrm>
            </p:grpSpPr>
            <p:sp>
              <p:nvSpPr>
                <p:cNvPr id="79934" name="Oval 1086"/>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35" name="Oval 1087"/>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36" name="Oval 1088"/>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37" name="Oval 1089"/>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79938" name="Rectangle 1090"/>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79939" name="Rectangle 1091"/>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79940" name="Rectangle 1092"/>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endParaRPr lang="en-US" dirty="0"/>
          </a:p>
        </p:txBody>
      </p:sp>
      <p:sp>
        <p:nvSpPr>
          <p:cNvPr id="79941" name="Rectangle 1093"/>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661DEBDE-F9F2-A542-87FC-7133F93D0E70}" type="slidenum">
              <a:rPr lang="en-US"/>
              <a:pPr>
                <a:defRPr/>
              </a:pPr>
              <a:t>‹#›</a:t>
            </a:fld>
            <a:endParaRPr lang="en-US" dirty="0"/>
          </a:p>
        </p:txBody>
      </p:sp>
      <p:sp>
        <p:nvSpPr>
          <p:cNvPr id="79942" name="Rectangle 1094"/>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720"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par>
    </p:tnLst>
  </p:timing>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charset="-128"/>
          <a:cs typeface="ＭＳ Ｐゴシック"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84" charset="2"/>
        <a:buChar char="Ø"/>
        <a:defRPr sz="3200">
          <a:solidFill>
            <a:schemeClr val="tx1"/>
          </a:solidFill>
          <a:effectLst>
            <a:outerShdw blurRad="38100" dist="38100" dir="2700000" algn="tl">
              <a:srgbClr val="000000"/>
            </a:outerShdw>
          </a:effectLst>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tx2"/>
        </a:buClr>
        <a:buSzPct val="50000"/>
        <a:buFont typeface="Wingdings" pitchFamily="-84" charset="2"/>
        <a:buChar char="l"/>
        <a:defRPr sz="2800">
          <a:solidFill>
            <a:schemeClr val="tx1"/>
          </a:solidFill>
          <a:effectLst>
            <a:outerShdw blurRad="38100" dist="38100" dir="2700000" algn="tl">
              <a:srgbClr val="000000"/>
            </a:outerShdw>
          </a:effectLst>
          <a:latin typeface="+mn-lt"/>
          <a:ea typeface="ＭＳ Ｐゴシック"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charset="-128"/>
        </a:defRPr>
      </a:lvl3pPr>
      <a:lvl4pPr marL="1600200" indent="-228600" algn="l" rtl="0" eaLnBrk="0" fontAlgn="base" hangingPunct="0">
        <a:spcBef>
          <a:spcPct val="20000"/>
        </a:spcBef>
        <a:spcAft>
          <a:spcPct val="0"/>
        </a:spcAft>
        <a:buClr>
          <a:schemeClr val="folHlink"/>
        </a:buClr>
        <a:buSzPct val="50000"/>
        <a:buFont typeface="Wingdings" pitchFamily="-84" charset="2"/>
        <a:buChar char="l"/>
        <a:defRPr sz="2000">
          <a:solidFill>
            <a:schemeClr val="tx1"/>
          </a:solidFill>
          <a:effectLst>
            <a:outerShdw blurRad="38100" dist="38100" dir="2700000" algn="tl">
              <a:srgbClr val="000000"/>
            </a:outerShdw>
          </a:effectLst>
          <a:latin typeface="+mn-lt"/>
          <a:ea typeface="ＭＳ Ｐゴシック"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pic>
        <p:nvPicPr>
          <p:cNvPr id="1028" name="Picture 6" descr="UWindsor powerpoint bottom1.jp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6165305"/>
            <a:ext cx="9144000"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41961" y="6216757"/>
            <a:ext cx="655494" cy="396840"/>
          </a:xfrm>
          <a:prstGeom prst="rect">
            <a:avLst/>
          </a:prstGeom>
        </p:spPr>
      </p:pic>
      <p:sp>
        <p:nvSpPr>
          <p:cNvPr id="4" name="TextBox 3"/>
          <p:cNvSpPr txBox="1"/>
          <p:nvPr/>
        </p:nvSpPr>
        <p:spPr>
          <a:xfrm>
            <a:off x="395536" y="6488668"/>
            <a:ext cx="2148345" cy="369332"/>
          </a:xfrm>
          <a:prstGeom prst="rect">
            <a:avLst/>
          </a:prstGeom>
          <a:noFill/>
        </p:spPr>
        <p:txBody>
          <a:bodyPr wrap="none" rtlCol="0">
            <a:spAutoFit/>
          </a:bodyPr>
          <a:lstStyle/>
          <a:p>
            <a:pPr algn="ctr"/>
            <a:r>
              <a:rPr lang="en-US" sz="90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Vietnam</a:t>
            </a:r>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 – Korea University </a:t>
            </a:r>
          </a:p>
          <a:p>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of Information and Communication Technology</a:t>
            </a:r>
            <a:endParaRPr lang="en-US" sz="900" dirty="0">
              <a:solidFill>
                <a:schemeClr val="tx1"/>
              </a:solidFill>
              <a:latin typeface="Arial Narrow" panose="020B0606020202030204" pitchFamily="34" charset="0"/>
              <a:ea typeface="Linux Biolinum" panose="02000503000000000000" pitchFamily="2" charset="0"/>
              <a:cs typeface="Linux Biolinum" panose="02000503000000000000" pitchFamily="2" charset="0"/>
            </a:endParaRPr>
          </a:p>
        </p:txBody>
      </p:sp>
    </p:spTree>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Lst>
  <p:timing>
    <p:tnLst>
      <p:par>
        <p:cTn id="1" dur="indefinite" restart="never" nodeType="tmRoot"/>
      </p:par>
    </p:tnLst>
  </p:timing>
  <p:txStyles>
    <p:titleStyle>
      <a:lvl1pPr algn="ctr" rtl="0" eaLnBrk="1" fontAlgn="base" hangingPunct="1">
        <a:spcBef>
          <a:spcPct val="0"/>
        </a:spcBef>
        <a:spcAft>
          <a:spcPct val="0"/>
        </a:spcAft>
        <a:defRPr sz="36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28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Char char="–"/>
        <a:defRPr sz="2400">
          <a:solidFill>
            <a:schemeClr val="tx1"/>
          </a:solidFill>
          <a:latin typeface="+mn-lt"/>
          <a:ea typeface="ＭＳ Ｐゴシック" charset="-128"/>
        </a:defRPr>
      </a:lvl2pPr>
      <a:lvl3pPr marL="1143000" indent="-228600" algn="l" rtl="0" eaLnBrk="1" fontAlgn="base" hangingPunct="1">
        <a:spcBef>
          <a:spcPct val="20000"/>
        </a:spcBef>
        <a:spcAft>
          <a:spcPct val="0"/>
        </a:spcAft>
        <a:buChar char="•"/>
        <a:defRPr sz="2000">
          <a:solidFill>
            <a:schemeClr val="tx1"/>
          </a:solidFill>
          <a:latin typeface="+mn-lt"/>
          <a:ea typeface="ＭＳ Ｐゴシック" charset="-128"/>
        </a:defRPr>
      </a:lvl3pPr>
      <a:lvl4pPr marL="1600200" indent="-228600" algn="l" rtl="0" eaLnBrk="1" fontAlgn="base" hangingPunct="1">
        <a:spcBef>
          <a:spcPct val="20000"/>
        </a:spcBef>
        <a:spcAft>
          <a:spcPct val="0"/>
        </a:spcAft>
        <a:buChar char="–"/>
        <a:defRPr sz="1800">
          <a:solidFill>
            <a:schemeClr val="tx1"/>
          </a:solidFill>
          <a:latin typeface="+mn-lt"/>
          <a:ea typeface="ＭＳ Ｐゴシック" charset="-128"/>
        </a:defRPr>
      </a:lvl4pPr>
      <a:lvl5pPr marL="2057400" indent="-228600" algn="l" rtl="0" eaLnBrk="1" fontAlgn="base" hangingPunct="1">
        <a:spcBef>
          <a:spcPct val="20000"/>
        </a:spcBef>
        <a:spcAft>
          <a:spcPct val="0"/>
        </a:spcAft>
        <a:buChar char="»"/>
        <a:defRPr sz="1800">
          <a:solidFill>
            <a:schemeClr val="tx1"/>
          </a:solidFill>
          <a:latin typeface="+mn-lt"/>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1.pdf"/><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3.pdf"/><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df"/><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df"/><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df"/><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df"/><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df"/><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5.pdf"/><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7.pdf"/><Relationship Id="rId2" Type="http://schemas.openxmlformats.org/officeDocument/2006/relationships/notesSlide" Target="../notesSlides/notesSlide21.xml"/><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9.pdf"/><Relationship Id="rId2" Type="http://schemas.openxmlformats.org/officeDocument/2006/relationships/notesSlide" Target="../notesSlides/notesSlide23.xml"/><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rtlCol="0">
            <a:noAutofit/>
          </a:bodyPr>
          <a:lstStyle/>
          <a:p>
            <a:pPr fontAlgn="auto">
              <a:spcAft>
                <a:spcPts val="0"/>
              </a:spcAft>
              <a:defRPr/>
            </a:pPr>
            <a:r>
              <a:rPr lang="en-US" dirty="0" smtClean="0">
                <a:ea typeface="+mj-ea"/>
                <a:cs typeface="+mj-cs"/>
              </a:rPr>
              <a:t>Cryptography</a:t>
            </a:r>
            <a:endParaRPr lang="en-AU" dirty="0">
              <a:ea typeface="+mj-ea"/>
              <a:cs typeface="+mj-cs"/>
            </a:endParaRPr>
          </a:p>
        </p:txBody>
      </p:sp>
      <p:sp>
        <p:nvSpPr>
          <p:cNvPr id="28675" name="Rectangle 3"/>
          <p:cNvSpPr>
            <a:spLocks noGrp="1" noChangeArrowheads="1"/>
          </p:cNvSpPr>
          <p:nvPr>
            <p:ph type="subTitle" idx="1"/>
          </p:nvPr>
        </p:nvSpPr>
        <p:spPr/>
        <p:txBody>
          <a:bodyPr/>
          <a:lstStyle/>
          <a:p>
            <a:pPr>
              <a:buFont typeface="Wingdings" pitchFamily="-84" charset="2"/>
              <a:buNone/>
            </a:pPr>
            <a:r>
              <a:rPr lang="en-US" dirty="0" smtClean="0"/>
              <a:t>Sixth 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14"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p:txBody>
          <a:bodyPr rtlCol="0">
            <a:noAutofit/>
          </a:bodyPr>
          <a:lstStyle/>
          <a:p>
            <a:pPr fontAlgn="auto">
              <a:spcAft>
                <a:spcPts val="0"/>
              </a:spcAft>
              <a:defRPr/>
            </a:pPr>
            <a:r>
              <a:rPr lang="en-US" dirty="0" smtClean="0">
                <a:ea typeface="+mj-ea"/>
                <a:cs typeface="+mj-cs"/>
              </a:rPr>
              <a:t>Chapter 10</a:t>
            </a:r>
            <a:endParaRPr lang="en-US" dirty="0">
              <a:ea typeface="+mj-ea"/>
              <a:cs typeface="+mj-cs"/>
            </a:endParaRPr>
          </a:p>
        </p:txBody>
      </p:sp>
      <p:sp>
        <p:nvSpPr>
          <p:cNvPr id="30723" name="Subtitle 13"/>
          <p:cNvSpPr>
            <a:spLocks noGrp="1"/>
          </p:cNvSpPr>
          <p:nvPr>
            <p:ph type="subTitle" idx="1"/>
          </p:nvPr>
        </p:nvSpPr>
        <p:spPr>
          <a:xfrm>
            <a:off x="1524000" y="5334000"/>
            <a:ext cx="6096000" cy="852488"/>
          </a:xfrm>
        </p:spPr>
        <p:txBody>
          <a:bodyPr>
            <a:normAutofit fontScale="85000" lnSpcReduction="10000"/>
          </a:bodyPr>
          <a:lstStyle/>
          <a:p>
            <a:r>
              <a:rPr lang="en-AU" sz="3600" dirty="0" smtClean="0"/>
              <a:t>Other Public-Key Cryptosystems</a:t>
            </a:r>
            <a:endParaRPr lang="en-US" sz="3600" dirty="0" smtClean="0"/>
          </a:p>
        </p:txBody>
      </p:sp>
      <p:pic>
        <p:nvPicPr>
          <p:cNvPr id="6"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0" y="39688"/>
            <a:ext cx="9143999" cy="1412875"/>
          </a:xfrm>
        </p:spPr>
        <p:txBody>
          <a:bodyPr/>
          <a:lstStyle/>
          <a:p>
            <a:r>
              <a:rPr lang="en-AU" dirty="0" smtClean="0"/>
              <a:t>Diffie-Hellman Key Exchange</a:t>
            </a:r>
            <a:endParaRPr lang="en-AU" dirty="0"/>
          </a:p>
        </p:txBody>
      </p:sp>
      <p:sp>
        <p:nvSpPr>
          <p:cNvPr id="60419" name="Rectangle 3"/>
          <p:cNvSpPr>
            <a:spLocks noGrp="1" noChangeArrowheads="1"/>
          </p:cNvSpPr>
          <p:nvPr>
            <p:ph idx="1"/>
          </p:nvPr>
        </p:nvSpPr>
        <p:spPr>
          <a:xfrm>
            <a:off x="179512" y="1828800"/>
            <a:ext cx="8856984" cy="4648200"/>
          </a:xfrm>
        </p:spPr>
        <p:txBody>
          <a:bodyPr>
            <a:noAutofit/>
          </a:bodyPr>
          <a:lstStyle/>
          <a:p>
            <a:r>
              <a:rPr lang="en-AU" sz="2400" dirty="0" smtClean="0"/>
              <a:t>First published public-key algorithm</a:t>
            </a:r>
          </a:p>
          <a:p>
            <a:r>
              <a:rPr lang="en-AU" sz="2400" dirty="0" smtClean="0"/>
              <a:t>A number of commercial products employ this key exchange technique</a:t>
            </a:r>
          </a:p>
          <a:p>
            <a:r>
              <a:rPr lang="en-AU" sz="2400" dirty="0" smtClean="0"/>
              <a:t>Purpose is to enable two users to securely exchange a key that can then be used for subsequent symmetric encryption of messages</a:t>
            </a:r>
          </a:p>
          <a:p>
            <a:r>
              <a:rPr lang="en-AU" sz="2400" dirty="0" smtClean="0"/>
              <a:t>The algorithm itself is limited to the exchange of secret values</a:t>
            </a:r>
          </a:p>
          <a:p>
            <a:r>
              <a:rPr lang="en-AU" sz="2400" dirty="0" smtClean="0"/>
              <a:t>Its effectiveness depends on the difficulty of computing discrete logarithms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4706" t="909" r="3529" b="21818"/>
              <a:stretch>
                <a:fillRect/>
              </a:stretch>
            </p:blipFill>
          </mc:Choice>
          <mc:Fallback>
            <p:blipFill>
              <a:blip r:embed="rId4"/>
              <a:srcRect l="4706" t="909" r="3529" b="21818"/>
              <a:stretch>
                <a:fillRect/>
              </a:stretch>
            </p:blipFill>
          </mc:Fallback>
        </mc:AlternateContent>
        <p:spPr>
          <a:xfrm>
            <a:off x="1447800" y="1"/>
            <a:ext cx="6293132" cy="6857999"/>
          </a:xfrm>
          <a:prstGeom prst="rect">
            <a:avLst/>
          </a:prstGeom>
        </p:spPr>
      </p:pic>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Primitive root example</a:t>
            </a:r>
            <a:endParaRPr lang="en-US" dirty="0"/>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2206625"/>
            <a:ext cx="5286375"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3637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p:cNvSpPr>
            <a:spLocks noGrp="1" noChangeArrowheads="1"/>
          </p:cNvSpPr>
          <p:nvPr>
            <p:ph type="title"/>
          </p:nvPr>
        </p:nvSpPr>
        <p:spPr/>
        <p:txBody>
          <a:bodyPr/>
          <a:lstStyle/>
          <a:p>
            <a:r>
              <a:rPr lang="en-US" dirty="0" smtClean="0"/>
              <a:t>Key Exchange Protocols</a:t>
            </a:r>
            <a:endParaRPr lang="en-AU" dirty="0"/>
          </a:p>
        </p:txBody>
      </p:sp>
      <p:sp>
        <p:nvSpPr>
          <p:cNvPr id="96259" name="Rectangle 1027"/>
          <p:cNvSpPr>
            <a:spLocks noGrp="1" noChangeArrowheads="1"/>
          </p:cNvSpPr>
          <p:nvPr>
            <p:ph idx="1"/>
          </p:nvPr>
        </p:nvSpPr>
        <p:spPr/>
        <p:txBody>
          <a:bodyPr>
            <a:normAutofit/>
          </a:bodyPr>
          <a:lstStyle/>
          <a:p>
            <a:r>
              <a:rPr lang="en-AU" dirty="0" smtClean="0"/>
              <a:t>Users could create random private/public Diffie-Hellman keys each time they communicate</a:t>
            </a:r>
          </a:p>
          <a:p>
            <a:r>
              <a:rPr lang="en-AU" dirty="0" smtClean="0"/>
              <a:t>Users could create a known private/public Diffie-Hellman key and publish in a directory, then consulted and used to securely communicate with them</a:t>
            </a:r>
          </a:p>
          <a:p>
            <a:r>
              <a:rPr lang="en-AU" dirty="0" smtClean="0"/>
              <a:t>Vulnerable to Man-in-the-Middle-Attack</a:t>
            </a:r>
          </a:p>
          <a:p>
            <a:r>
              <a:rPr lang="en-AU" dirty="0" smtClean="0"/>
              <a:t>Authentication of the keys is needed</a:t>
            </a:r>
          </a:p>
          <a:p>
            <a:endParaRPr lang="en-AU"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5882" t="1818" r="5882" b="10000"/>
              <a:stretch>
                <a:fillRect/>
              </a:stretch>
            </p:blipFill>
          </mc:Choice>
          <mc:Fallback>
            <p:blipFill>
              <a:blip r:embed="rId4"/>
              <a:srcRect l="5882" t="1818" r="5882" b="10000"/>
              <a:stretch>
                <a:fillRect/>
              </a:stretch>
            </p:blipFill>
          </mc:Fallback>
        </mc:AlternateContent>
        <p:spPr>
          <a:xfrm>
            <a:off x="1828800" y="0"/>
            <a:ext cx="5302501" cy="6858000"/>
          </a:xfrm>
          <a:prstGeom prst="rect">
            <a:avLst/>
          </a:prstGeom>
        </p:spPr>
      </p:pic>
    </p:spTree>
  </p:cSld>
  <p:clrMapOvr>
    <a:masterClrMapping/>
  </p:clrMapOvr>
  <p:transition spd="med">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AU" dirty="0" smtClean="0"/>
              <a:t>ElGamal Cryptography</a:t>
            </a:r>
          </a:p>
        </p:txBody>
      </p:sp>
      <p:graphicFrame>
        <p:nvGraphicFramePr>
          <p:cNvPr id="20" name="Content Placeholder 19"/>
          <p:cNvGraphicFramePr>
            <a:graphicFrameLocks noGrp="1"/>
          </p:cNvGraphicFramePr>
          <p:nvPr>
            <p:ph idx="1"/>
            <p:extLst>
              <p:ext uri="{D42A27DB-BD31-4B8C-83A1-F6EECF244321}">
                <p14:modId xmlns:p14="http://schemas.microsoft.com/office/powerpoint/2010/main" val="1226058823"/>
              </p:ext>
            </p:extLst>
          </p:nvPr>
        </p:nvGraphicFramePr>
        <p:xfrm>
          <a:off x="0" y="1524000"/>
          <a:ext cx="9143999" cy="53339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3.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1765" t="6364" r="10588" b="10000"/>
              <a:stretch>
                <a:fillRect/>
              </a:stretch>
            </p:blipFill>
          </mc:Choice>
          <mc:Fallback>
            <p:blipFill>
              <a:blip r:embed="rId4"/>
              <a:srcRect l="11765" t="6364" r="10588" b="10000"/>
              <a:stretch>
                <a:fillRect/>
              </a:stretch>
            </p:blipFill>
          </mc:Fallback>
        </mc:AlternateContent>
        <p:spPr>
          <a:xfrm>
            <a:off x="2053853" y="0"/>
            <a:ext cx="4919802" cy="6858000"/>
          </a:xfrm>
          <a:prstGeom prst="rect">
            <a:avLst/>
          </a:prstGeom>
        </p:spPr>
      </p:pic>
    </p:spTree>
  </p:cSld>
  <p:clrMapOvr>
    <a:masterClrMapping/>
  </p:clrMapOvr>
  <p:transition spd="med">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0" y="39688"/>
            <a:ext cx="9143999" cy="1412875"/>
          </a:xfrm>
        </p:spPr>
        <p:txBody>
          <a:bodyPr/>
          <a:lstStyle/>
          <a:p>
            <a:r>
              <a:rPr lang="en-US" dirty="0" smtClean="0"/>
              <a:t>Elliptic Curve Arithmetic</a:t>
            </a:r>
            <a:endParaRPr lang="en-AU" dirty="0"/>
          </a:p>
        </p:txBody>
      </p:sp>
      <p:sp>
        <p:nvSpPr>
          <p:cNvPr id="68611" name="Rectangle 3"/>
          <p:cNvSpPr>
            <a:spLocks noGrp="1" noChangeArrowheads="1"/>
          </p:cNvSpPr>
          <p:nvPr>
            <p:ph idx="1"/>
          </p:nvPr>
        </p:nvSpPr>
        <p:spPr/>
        <p:txBody>
          <a:bodyPr>
            <a:normAutofit fontScale="92500" lnSpcReduction="20000"/>
          </a:bodyPr>
          <a:lstStyle/>
          <a:p>
            <a:r>
              <a:rPr lang="en-AU" dirty="0" smtClean="0"/>
              <a:t>Most of the products and standards that use public-key cryptography for encryption and digital signatures use RSA</a:t>
            </a:r>
          </a:p>
          <a:p>
            <a:pPr lvl="1"/>
            <a:r>
              <a:rPr lang="en-AU" dirty="0" smtClean="0">
                <a:solidFill>
                  <a:srgbClr val="FF0000"/>
                </a:solidFill>
              </a:rPr>
              <a:t>The key length for secure RSA </a:t>
            </a:r>
            <a:r>
              <a:rPr lang="en-AU" dirty="0" smtClean="0"/>
              <a:t>use has increased over recent years and this has put a heavier processing load on applications using RSA</a:t>
            </a:r>
          </a:p>
          <a:p>
            <a:r>
              <a:rPr lang="en-AU" dirty="0" smtClean="0"/>
              <a:t>Elliptic curve cryptography (ECC) is showing up in standardization efforts including the IEEE P1363 Standard for Public-Key Cryptography</a:t>
            </a:r>
          </a:p>
          <a:p>
            <a:r>
              <a:rPr lang="en-AU" dirty="0" smtClean="0"/>
              <a:t>Principal attraction of ECC is that it appears to offer equal security for a </a:t>
            </a:r>
            <a:r>
              <a:rPr lang="en-AU" dirty="0" smtClean="0">
                <a:solidFill>
                  <a:srgbClr val="FF0000"/>
                </a:solidFill>
              </a:rPr>
              <a:t>far smaller key size</a:t>
            </a:r>
          </a:p>
          <a:p>
            <a:r>
              <a:rPr lang="en-AU" dirty="0" smtClean="0">
                <a:solidFill>
                  <a:srgbClr val="FF0000"/>
                </a:solidFill>
              </a:rPr>
              <a:t>Confidence level in ECC is not yet as high</a:t>
            </a:r>
            <a:r>
              <a:rPr lang="en-AU" dirty="0" smtClean="0"/>
              <a:t> as that in RSA</a:t>
            </a:r>
            <a:endParaRPr lang="en-AU"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Abelian Group</a:t>
            </a:r>
            <a:endParaRPr lang="en-US" dirty="0"/>
          </a:p>
        </p:txBody>
      </p:sp>
      <p:sp>
        <p:nvSpPr>
          <p:cNvPr id="9" name="Content Placeholder 8"/>
          <p:cNvSpPr>
            <a:spLocks noGrp="1"/>
          </p:cNvSpPr>
          <p:nvPr>
            <p:ph idx="1"/>
          </p:nvPr>
        </p:nvSpPr>
        <p:spPr>
          <a:xfrm>
            <a:off x="381000" y="1762125"/>
            <a:ext cx="8382000" cy="4943475"/>
          </a:xfrm>
        </p:spPr>
        <p:txBody>
          <a:bodyPr>
            <a:normAutofit lnSpcReduction="10000"/>
          </a:bodyPr>
          <a:lstStyle/>
          <a:p>
            <a:r>
              <a:rPr lang="en-US" dirty="0" smtClean="0"/>
              <a:t>A set of elements with a binary operation, denoted by </a:t>
            </a:r>
            <a:r>
              <a:rPr lang="en-US" sz="2000" dirty="0" smtClean="0">
                <a:latin typeface="Wingdings"/>
                <a:ea typeface="Wingdings"/>
                <a:cs typeface="Wingdings"/>
              </a:rPr>
              <a:t></a:t>
            </a:r>
            <a:r>
              <a:rPr lang="en-US" dirty="0" smtClean="0"/>
              <a:t>, that associates to each ordered pair (</a:t>
            </a:r>
            <a:r>
              <a:rPr lang="en-US" i="1" dirty="0" smtClean="0"/>
              <a:t>a, b) </a:t>
            </a:r>
            <a:r>
              <a:rPr lang="en-US" dirty="0" smtClean="0"/>
              <a:t>of elements in </a:t>
            </a:r>
            <a:r>
              <a:rPr lang="en-US" i="1" dirty="0" smtClean="0"/>
              <a:t>G </a:t>
            </a:r>
            <a:r>
              <a:rPr lang="en-US" dirty="0" smtClean="0"/>
              <a:t>an element (</a:t>
            </a:r>
            <a:r>
              <a:rPr lang="en-US" i="1" dirty="0" smtClean="0"/>
              <a:t>a </a:t>
            </a:r>
            <a:r>
              <a:rPr lang="en-US" sz="2000" i="1" dirty="0" smtClean="0">
                <a:latin typeface="Wingdings"/>
                <a:ea typeface="Wingdings"/>
                <a:cs typeface="Wingdings"/>
              </a:rPr>
              <a:t></a:t>
            </a:r>
            <a:r>
              <a:rPr lang="en-US" i="1" dirty="0" smtClean="0"/>
              <a:t> b)</a:t>
            </a:r>
            <a:r>
              <a:rPr lang="en-US" dirty="0" smtClean="0"/>
              <a:t> in </a:t>
            </a:r>
            <a:r>
              <a:rPr lang="en-US" i="1" dirty="0" smtClean="0"/>
              <a:t>G, </a:t>
            </a:r>
            <a:r>
              <a:rPr lang="en-US" dirty="0" smtClean="0"/>
              <a:t>such that the following axioms are obeyed:</a:t>
            </a:r>
          </a:p>
          <a:p>
            <a:pPr>
              <a:buNone/>
            </a:pPr>
            <a:r>
              <a:rPr lang="en-US" dirty="0" smtClean="0"/>
              <a:t>	</a:t>
            </a:r>
            <a:r>
              <a:rPr lang="en-US" sz="2200" b="1" dirty="0" smtClean="0"/>
              <a:t>(A1) Closure: </a:t>
            </a:r>
            <a:r>
              <a:rPr lang="en-US" sz="2200" dirty="0" smtClean="0"/>
              <a:t>		If </a:t>
            </a:r>
            <a:r>
              <a:rPr lang="en-US" sz="2200" i="1" dirty="0" smtClean="0"/>
              <a:t>a</a:t>
            </a:r>
            <a:r>
              <a:rPr lang="en-US" sz="2200" dirty="0" smtClean="0"/>
              <a:t> and </a:t>
            </a:r>
            <a:r>
              <a:rPr lang="en-US" sz="2200" i="1" dirty="0" smtClean="0"/>
              <a:t>b</a:t>
            </a:r>
            <a:r>
              <a:rPr lang="en-US" sz="2200" dirty="0" smtClean="0"/>
              <a:t> belong to </a:t>
            </a:r>
            <a:r>
              <a:rPr lang="en-US" sz="2200" i="1" dirty="0" smtClean="0"/>
              <a:t>G</a:t>
            </a:r>
            <a:r>
              <a:rPr lang="en-US" sz="2200" dirty="0" smtClean="0"/>
              <a:t>, then </a:t>
            </a:r>
            <a:r>
              <a:rPr lang="en-US" sz="2200" i="1" dirty="0" smtClean="0"/>
              <a:t>a </a:t>
            </a:r>
            <a:r>
              <a:rPr lang="en-US" sz="2000" dirty="0" smtClean="0">
                <a:latin typeface="Wingdings"/>
                <a:ea typeface="Wingdings"/>
                <a:cs typeface="Wingdings"/>
              </a:rPr>
              <a:t></a:t>
            </a:r>
            <a:r>
              <a:rPr lang="en-US" sz="2200" i="1" dirty="0" smtClean="0"/>
              <a:t> b </a:t>
            </a:r>
            <a:r>
              <a:rPr lang="en-US" sz="2200" dirty="0" smtClean="0"/>
              <a:t>is also in </a:t>
            </a:r>
            <a:r>
              <a:rPr lang="en-US" sz="2200" i="1" dirty="0" smtClean="0"/>
              <a:t>G</a:t>
            </a:r>
            <a:endParaRPr lang="en-US" sz="2200" dirty="0" smtClean="0"/>
          </a:p>
          <a:p>
            <a:pPr>
              <a:buNone/>
            </a:pPr>
            <a:r>
              <a:rPr lang="en-US" sz="2200" dirty="0" smtClean="0"/>
              <a:t>	</a:t>
            </a:r>
            <a:r>
              <a:rPr lang="en-US" sz="2200" b="1" dirty="0" smtClean="0"/>
              <a:t>(A2) Associative: </a:t>
            </a:r>
            <a:r>
              <a:rPr lang="en-US" sz="2200" dirty="0" smtClean="0"/>
              <a:t>	</a:t>
            </a:r>
            <a:r>
              <a:rPr lang="en-US" sz="2200" i="1" dirty="0" smtClean="0"/>
              <a:t>a </a:t>
            </a:r>
            <a:r>
              <a:rPr lang="en-US" sz="2400" i="1" dirty="0" smtClean="0">
                <a:latin typeface="Wingdings"/>
                <a:ea typeface="Wingdings"/>
                <a:cs typeface="Wingdings"/>
              </a:rPr>
              <a:t></a:t>
            </a:r>
            <a:r>
              <a:rPr lang="en-US" sz="2200" i="1" dirty="0" smtClean="0"/>
              <a:t> (b </a:t>
            </a:r>
            <a:r>
              <a:rPr lang="en-US" sz="2400" i="1" dirty="0" smtClean="0">
                <a:latin typeface="Wingdings"/>
                <a:ea typeface="Wingdings"/>
                <a:cs typeface="Wingdings"/>
              </a:rPr>
              <a:t></a:t>
            </a:r>
            <a:r>
              <a:rPr lang="en-US" sz="2200" i="1" dirty="0" smtClean="0"/>
              <a:t> c) = (a </a:t>
            </a:r>
            <a:r>
              <a:rPr lang="en-US" sz="2400" i="1" dirty="0" smtClean="0">
                <a:latin typeface="Wingdings"/>
                <a:ea typeface="Wingdings"/>
                <a:cs typeface="Wingdings"/>
              </a:rPr>
              <a:t></a:t>
            </a:r>
            <a:r>
              <a:rPr lang="en-US" sz="2200" i="1" dirty="0" smtClean="0"/>
              <a:t> b) </a:t>
            </a:r>
            <a:r>
              <a:rPr lang="en-US" sz="2400" i="1" dirty="0" smtClean="0">
                <a:latin typeface="Wingdings"/>
                <a:ea typeface="Wingdings"/>
                <a:cs typeface="Wingdings"/>
              </a:rPr>
              <a:t></a:t>
            </a:r>
            <a:r>
              <a:rPr lang="en-US" sz="2200" i="1" dirty="0" smtClean="0"/>
              <a:t> c </a:t>
            </a:r>
            <a:r>
              <a:rPr lang="en-US" sz="2200" dirty="0" smtClean="0"/>
              <a:t>for all </a:t>
            </a:r>
            <a:r>
              <a:rPr lang="en-US" sz="2200" i="1" dirty="0" smtClean="0"/>
              <a:t>a, b, c </a:t>
            </a:r>
            <a:r>
              <a:rPr lang="en-US" sz="2200" dirty="0" smtClean="0"/>
              <a:t>in </a:t>
            </a:r>
            <a:r>
              <a:rPr lang="en-US" sz="2200" i="1" dirty="0" smtClean="0"/>
              <a:t>G</a:t>
            </a:r>
          </a:p>
          <a:p>
            <a:pPr>
              <a:buNone/>
            </a:pPr>
            <a:r>
              <a:rPr lang="en-US" sz="2200" dirty="0" smtClean="0"/>
              <a:t>	</a:t>
            </a:r>
            <a:r>
              <a:rPr lang="en-US" sz="2200" b="1" dirty="0" smtClean="0"/>
              <a:t>(A3) Identity element: </a:t>
            </a:r>
            <a:r>
              <a:rPr lang="en-US" sz="2200" dirty="0" smtClean="0"/>
              <a:t>There is an element </a:t>
            </a:r>
            <a:r>
              <a:rPr lang="en-US" sz="2200" i="1" dirty="0" smtClean="0"/>
              <a:t>e</a:t>
            </a:r>
            <a:r>
              <a:rPr lang="en-US" sz="2200" dirty="0" smtClean="0"/>
              <a:t> in </a:t>
            </a:r>
            <a:r>
              <a:rPr lang="en-US" sz="2200" i="1" dirty="0" smtClean="0"/>
              <a:t>G </a:t>
            </a:r>
            <a:r>
              <a:rPr lang="en-US" sz="2200" dirty="0" smtClean="0"/>
              <a:t>such that </a:t>
            </a:r>
            <a:r>
              <a:rPr lang="en-US" sz="2200" i="1" dirty="0" smtClean="0"/>
              <a:t>a </a:t>
            </a:r>
            <a:r>
              <a:rPr lang="en-US" sz="2400" i="1" dirty="0" smtClean="0">
                <a:latin typeface="Wingdings"/>
                <a:ea typeface="Wingdings"/>
                <a:cs typeface="Wingdings"/>
              </a:rPr>
              <a:t></a:t>
            </a:r>
            <a:r>
              <a:rPr lang="en-US" sz="2200" i="1" dirty="0" smtClean="0"/>
              <a:t> e = e </a:t>
            </a:r>
            <a:r>
              <a:rPr lang="en-US" sz="2400" i="1" dirty="0" smtClean="0">
                <a:latin typeface="Wingdings"/>
                <a:ea typeface="Wingdings"/>
                <a:cs typeface="Wingdings"/>
              </a:rPr>
              <a:t></a:t>
            </a:r>
            <a:r>
              <a:rPr lang="en-US" sz="2200" i="1" dirty="0" smtClean="0"/>
              <a:t> a = a 			</a:t>
            </a:r>
            <a:r>
              <a:rPr lang="en-US" sz="2200" dirty="0" smtClean="0"/>
              <a:t>for all </a:t>
            </a:r>
            <a:r>
              <a:rPr lang="en-US" sz="2200" i="1" dirty="0" smtClean="0"/>
              <a:t>a</a:t>
            </a:r>
            <a:r>
              <a:rPr lang="en-US" sz="2200" dirty="0" smtClean="0"/>
              <a:t> in </a:t>
            </a:r>
            <a:r>
              <a:rPr lang="en-US" sz="2200" i="1" dirty="0" smtClean="0"/>
              <a:t>G</a:t>
            </a:r>
          </a:p>
          <a:p>
            <a:pPr>
              <a:buNone/>
            </a:pPr>
            <a:r>
              <a:rPr lang="en-US" sz="2200" dirty="0" smtClean="0"/>
              <a:t>	</a:t>
            </a:r>
            <a:r>
              <a:rPr lang="en-US" sz="2200" b="1" dirty="0" smtClean="0"/>
              <a:t>(A4) Inverse element: </a:t>
            </a:r>
            <a:r>
              <a:rPr lang="en-US" sz="2200" dirty="0" smtClean="0"/>
              <a:t>For each </a:t>
            </a:r>
            <a:r>
              <a:rPr lang="en-US" sz="2200" i="1" dirty="0" smtClean="0"/>
              <a:t>a</a:t>
            </a:r>
            <a:r>
              <a:rPr lang="en-US" sz="2200" dirty="0" smtClean="0"/>
              <a:t> in </a:t>
            </a:r>
            <a:r>
              <a:rPr lang="en-US" sz="2200" i="1" dirty="0" smtClean="0"/>
              <a:t>G</a:t>
            </a:r>
            <a:r>
              <a:rPr lang="en-US" sz="2200" dirty="0" smtClean="0"/>
              <a:t> there is an element </a:t>
            </a:r>
            <a:r>
              <a:rPr lang="en-US" sz="2200" i="1" dirty="0" smtClean="0"/>
              <a:t>a′</a:t>
            </a:r>
            <a:r>
              <a:rPr lang="en-US" sz="2200" dirty="0" smtClean="0"/>
              <a:t> in </a:t>
            </a:r>
            <a:r>
              <a:rPr lang="en-US" sz="2200" i="1" dirty="0" smtClean="0"/>
              <a:t>G</a:t>
            </a:r>
            <a:r>
              <a:rPr lang="en-US" sz="2200" dirty="0" smtClean="0"/>
              <a:t> such that 			</a:t>
            </a:r>
            <a:r>
              <a:rPr lang="en-US" sz="2200" i="1" dirty="0" smtClean="0"/>
              <a:t>a </a:t>
            </a:r>
            <a:r>
              <a:rPr lang="en-US" sz="2400" i="1" dirty="0" smtClean="0">
                <a:latin typeface="Wingdings"/>
                <a:ea typeface="Wingdings"/>
                <a:cs typeface="Wingdings"/>
              </a:rPr>
              <a:t></a:t>
            </a:r>
            <a:r>
              <a:rPr lang="en-US" sz="2200" i="1" dirty="0" smtClean="0"/>
              <a:t> a′ = a′ </a:t>
            </a:r>
            <a:r>
              <a:rPr lang="en-US" sz="2400" i="1" dirty="0" smtClean="0">
                <a:latin typeface="Wingdings"/>
                <a:ea typeface="Wingdings"/>
                <a:cs typeface="Wingdings"/>
              </a:rPr>
              <a:t></a:t>
            </a:r>
            <a:r>
              <a:rPr lang="en-US" sz="2200" i="1" dirty="0" smtClean="0"/>
              <a:t> a = e</a:t>
            </a:r>
          </a:p>
          <a:p>
            <a:pPr>
              <a:buNone/>
            </a:pPr>
            <a:r>
              <a:rPr lang="en-US" sz="2200" dirty="0" smtClean="0"/>
              <a:t>	</a:t>
            </a:r>
            <a:r>
              <a:rPr lang="en-US" sz="2200" b="1" dirty="0" smtClean="0"/>
              <a:t>(A5) Commutative: </a:t>
            </a:r>
            <a:r>
              <a:rPr lang="en-US" sz="2200" dirty="0" smtClean="0"/>
              <a:t>	</a:t>
            </a:r>
            <a:r>
              <a:rPr lang="en-US" sz="2200" i="1" dirty="0" smtClean="0"/>
              <a:t>a </a:t>
            </a:r>
            <a:r>
              <a:rPr lang="en-US" sz="2400" i="1" dirty="0" smtClean="0">
                <a:latin typeface="Wingdings"/>
                <a:ea typeface="Wingdings"/>
                <a:cs typeface="Wingdings"/>
              </a:rPr>
              <a:t></a:t>
            </a:r>
            <a:r>
              <a:rPr lang="en-US" sz="2200" i="1" dirty="0" smtClean="0"/>
              <a:t> b = b </a:t>
            </a:r>
            <a:r>
              <a:rPr lang="en-US" sz="2400" i="1" dirty="0" smtClean="0">
                <a:latin typeface="Wingdings"/>
                <a:ea typeface="Wingdings"/>
                <a:cs typeface="Wingdings"/>
              </a:rPr>
              <a:t></a:t>
            </a:r>
            <a:r>
              <a:rPr lang="en-US" sz="2200" i="1" dirty="0" smtClean="0"/>
              <a:t> a </a:t>
            </a:r>
            <a:r>
              <a:rPr lang="en-US" sz="2200" dirty="0" smtClean="0"/>
              <a:t>for all </a:t>
            </a:r>
            <a:r>
              <a:rPr lang="en-US" sz="2200" i="1" dirty="0" smtClean="0"/>
              <a:t>a, b </a:t>
            </a:r>
            <a:r>
              <a:rPr lang="en-US" sz="2200" dirty="0" smtClean="0"/>
              <a:t>in </a:t>
            </a:r>
            <a:r>
              <a:rPr lang="en-US" sz="2200" i="1" dirty="0" smtClean="0"/>
              <a:t>G</a:t>
            </a:r>
            <a:endParaRPr lang="en-US" sz="2200" i="1"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4" name="Picture 3" descr="f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1922318" y="0"/>
            <a:ext cx="5299364" cy="6858000"/>
          </a:xfrm>
          <a:prstGeom prst="rect">
            <a:avLst/>
          </a:prstGeom>
        </p:spPr>
      </p:pic>
      <p:sp>
        <p:nvSpPr>
          <p:cNvPr id="5" name="TextBox 4"/>
          <p:cNvSpPr txBox="1"/>
          <p:nvPr/>
        </p:nvSpPr>
        <p:spPr>
          <a:xfrm>
            <a:off x="1443182" y="2251364"/>
            <a:ext cx="184666" cy="369332"/>
          </a:xfrm>
          <a:prstGeom prst="rect">
            <a:avLst/>
          </a:prstGeom>
          <a:noFill/>
        </p:spPr>
        <p:txBody>
          <a:bodyPr wrap="none" rtlCol="0">
            <a:spAutoFit/>
          </a:bodyPr>
          <a:lstStyle/>
          <a:p>
            <a:endParaRPr lang="en-US" dirty="0"/>
          </a:p>
        </p:txBody>
      </p:sp>
    </p:spTree>
  </p:cSld>
  <p:clrMapOvr>
    <a:masterClrMapping/>
  </p:clrMapOvr>
  <p:transition>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dirty="0" smtClean="0"/>
              <a:t>Elliptic Curves Over Z</a:t>
            </a:r>
            <a:r>
              <a:rPr lang="en-US" baseline="-25000" dirty="0" smtClean="0"/>
              <a:t>p</a:t>
            </a:r>
            <a:endParaRPr lang="en-AU" baseline="-25000" dirty="0"/>
          </a:p>
        </p:txBody>
      </p:sp>
      <p:sp>
        <p:nvSpPr>
          <p:cNvPr id="72707" name="Rectangle 3"/>
          <p:cNvSpPr>
            <a:spLocks noGrp="1" noChangeArrowheads="1"/>
          </p:cNvSpPr>
          <p:nvPr>
            <p:ph idx="1"/>
          </p:nvPr>
        </p:nvSpPr>
        <p:spPr>
          <a:xfrm>
            <a:off x="762000" y="1600200"/>
            <a:ext cx="7570787" cy="1362075"/>
          </a:xfrm>
        </p:spPr>
        <p:txBody>
          <a:bodyPr>
            <a:normAutofit/>
          </a:bodyPr>
          <a:lstStyle/>
          <a:p>
            <a:r>
              <a:rPr lang="en-US" sz="1800" dirty="0" smtClean="0"/>
              <a:t>Elliptic curve cryptography uses curves whose variables and coefficients are finite</a:t>
            </a:r>
          </a:p>
          <a:p>
            <a:r>
              <a:rPr lang="en-US" sz="1800" dirty="0" smtClean="0"/>
              <a:t>Two families of elliptic curves are used in cryptographic applications:</a:t>
            </a:r>
          </a:p>
        </p:txBody>
      </p:sp>
      <p:graphicFrame>
        <p:nvGraphicFramePr>
          <p:cNvPr id="5" name="Diagram 4"/>
          <p:cNvGraphicFramePr/>
          <p:nvPr>
            <p:extLst>
              <p:ext uri="{D42A27DB-BD31-4B8C-83A1-F6EECF244321}">
                <p14:modId xmlns:p14="http://schemas.microsoft.com/office/powerpoint/2010/main" val="3460175508"/>
              </p:ext>
            </p:extLst>
          </p:nvPr>
        </p:nvGraphicFramePr>
        <p:xfrm>
          <a:off x="539552" y="2636912"/>
          <a:ext cx="8361312" cy="3017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22594" r="22594"/>
              <a:stretch>
                <a:fillRect/>
              </a:stretch>
            </p:blipFill>
          </mc:Choice>
          <mc:Fallback>
            <p:blipFill>
              <a:blip r:embed="rId4"/>
              <a:srcRect l="22594" r="22594"/>
              <a:stretch>
                <a:fillRect/>
              </a:stretch>
            </p:blipFill>
          </mc:Fallback>
        </mc:AlternateContent>
        <p:spPr>
          <a:xfrm>
            <a:off x="1752665" y="1916832"/>
            <a:ext cx="5638670" cy="3852396"/>
          </a:xfrm>
          <a:prstGeom prst="rect">
            <a:avLst/>
          </a:prstGeom>
        </p:spPr>
      </p:pic>
      <p:sp>
        <p:nvSpPr>
          <p:cNvPr id="7" name="Rectangle 6"/>
          <p:cNvSpPr/>
          <p:nvPr/>
        </p:nvSpPr>
        <p:spPr>
          <a:xfrm>
            <a:off x="0" y="0"/>
            <a:ext cx="9144000" cy="1077218"/>
          </a:xfrm>
          <a:prstGeom prst="rect">
            <a:avLst/>
          </a:prstGeom>
        </p:spPr>
        <p:txBody>
          <a:bodyPr wrap="square">
            <a:spAutoFit/>
          </a:bodyPr>
          <a:lstStyle/>
          <a:p>
            <a:pPr algn="ctr"/>
            <a:r>
              <a:rPr lang="en-US" sz="4000" dirty="0" smtClean="0">
                <a:latin typeface="+mn-lt"/>
              </a:rPr>
              <a:t>Table 10.1  </a:t>
            </a:r>
          </a:p>
          <a:p>
            <a:pPr algn="ctr"/>
            <a:r>
              <a:rPr lang="en-US" sz="2400" dirty="0" smtClean="0">
                <a:latin typeface="+mn-lt"/>
              </a:rPr>
              <a:t>Points (other than </a:t>
            </a:r>
            <a:r>
              <a:rPr lang="en-US" sz="2400" i="1" dirty="0" smtClean="0">
                <a:latin typeface="+mn-lt"/>
              </a:rPr>
              <a:t>O</a:t>
            </a:r>
            <a:r>
              <a:rPr lang="en-US" sz="2400" dirty="0" smtClean="0">
                <a:latin typeface="+mn-lt"/>
              </a:rPr>
              <a:t>) on the Elliptic Curve E</a:t>
            </a:r>
            <a:r>
              <a:rPr lang="en-US" sz="2400" baseline="-25000" dirty="0" smtClean="0">
                <a:latin typeface="+mn-lt"/>
              </a:rPr>
              <a:t>23</a:t>
            </a:r>
            <a:r>
              <a:rPr lang="en-US" sz="2400" dirty="0" smtClean="0">
                <a:latin typeface="+mn-lt"/>
              </a:rPr>
              <a:t>(1, 1) </a:t>
            </a:r>
            <a:endParaRPr lang="en-US" sz="2400" dirty="0">
              <a:latin typeface="+mn-lt"/>
            </a:endParaRPr>
          </a:p>
        </p:txBody>
      </p:sp>
    </p:spTree>
  </p:cSld>
  <p:clrMapOvr>
    <a:masterClrMapping/>
  </p:clrMapOvr>
  <p:transition spd="med">
    <p:pull dir="l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4118" t="20000" r="1176" b="15455"/>
              <a:stretch>
                <a:fillRect/>
              </a:stretch>
            </p:blipFill>
          </mc:Choice>
          <mc:Fallback>
            <p:blipFill>
              <a:blip r:embed="rId4"/>
              <a:srcRect l="14118" t="20000" r="1176" b="15455"/>
              <a:stretch>
                <a:fillRect/>
              </a:stretch>
            </p:blipFill>
          </mc:Fallback>
        </mc:AlternateContent>
        <p:spPr>
          <a:xfrm>
            <a:off x="1371600" y="0"/>
            <a:ext cx="6954631" cy="6857999"/>
          </a:xfrm>
          <a:prstGeom prst="rect">
            <a:avLst/>
          </a:prstGeom>
        </p:spPr>
      </p:pic>
    </p:spTree>
  </p:cSld>
  <p:clrMapOvr>
    <a:masterClrMapping/>
  </p:clrMapOvr>
  <p:transition spd="med">
    <p:pull dir="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9688"/>
            <a:ext cx="9143999" cy="1412875"/>
          </a:xfrm>
        </p:spPr>
        <p:txBody>
          <a:bodyPr/>
          <a:lstStyle/>
          <a:p>
            <a:r>
              <a:rPr lang="en-US" dirty="0" smtClean="0"/>
              <a:t>Elliptic Curves Over GF(2</a:t>
            </a:r>
            <a:r>
              <a:rPr lang="en-US" i="1" baseline="30000" dirty="0" smtClean="0"/>
              <a:t>m</a:t>
            </a:r>
            <a:r>
              <a:rPr lang="en-US" dirty="0" smtClean="0"/>
              <a:t>)</a:t>
            </a:r>
            <a:endParaRPr lang="en-US" dirty="0"/>
          </a:p>
        </p:txBody>
      </p:sp>
      <p:sp>
        <p:nvSpPr>
          <p:cNvPr id="5" name="Content Placeholder 4"/>
          <p:cNvSpPr>
            <a:spLocks noGrp="1"/>
          </p:cNvSpPr>
          <p:nvPr>
            <p:ph idx="1"/>
          </p:nvPr>
        </p:nvSpPr>
        <p:spPr>
          <a:xfrm>
            <a:off x="179513" y="1196752"/>
            <a:ext cx="8784976" cy="5432649"/>
          </a:xfrm>
        </p:spPr>
        <p:txBody>
          <a:bodyPr>
            <a:normAutofit/>
          </a:bodyPr>
          <a:lstStyle/>
          <a:p>
            <a:r>
              <a:rPr lang="en-US" dirty="0" smtClean="0"/>
              <a:t>Use a cubic equation in which the variables and coefficients all take on values in GF(2</a:t>
            </a:r>
            <a:r>
              <a:rPr lang="en-US" i="1" baseline="30000" dirty="0" smtClean="0"/>
              <a:t>m</a:t>
            </a:r>
            <a:r>
              <a:rPr lang="en-US" dirty="0" smtClean="0"/>
              <a:t>) for some number </a:t>
            </a:r>
            <a:r>
              <a:rPr lang="en-US" i="1" dirty="0" smtClean="0"/>
              <a:t>m</a:t>
            </a:r>
            <a:r>
              <a:rPr lang="en-US" dirty="0" smtClean="0"/>
              <a:t> </a:t>
            </a:r>
          </a:p>
          <a:p>
            <a:r>
              <a:rPr lang="en-US" dirty="0" smtClean="0"/>
              <a:t>Calculations are performed using the rules of arithmetic in GF(2</a:t>
            </a:r>
            <a:r>
              <a:rPr lang="en-US" i="1" baseline="30000" dirty="0" smtClean="0"/>
              <a:t>m</a:t>
            </a:r>
            <a:r>
              <a:rPr lang="en-US" dirty="0" smtClean="0"/>
              <a:t>)</a:t>
            </a:r>
          </a:p>
          <a:p>
            <a:r>
              <a:rPr lang="en-US" dirty="0" smtClean="0"/>
              <a:t>The form of cubic equation appropriate for cryptographic applications for elliptic curves is somewhat different for GF(2</a:t>
            </a:r>
            <a:r>
              <a:rPr lang="en-US" i="1" baseline="30000" dirty="0" smtClean="0"/>
              <a:t>m</a:t>
            </a:r>
            <a:r>
              <a:rPr lang="en-US" dirty="0" smtClean="0"/>
              <a:t>) than for Z</a:t>
            </a:r>
            <a:r>
              <a:rPr lang="en-US" i="1" baseline="-25000" dirty="0" smtClean="0"/>
              <a:t>p</a:t>
            </a:r>
          </a:p>
          <a:p>
            <a:pPr lvl="1"/>
            <a:r>
              <a:rPr lang="en-US" dirty="0" smtClean="0"/>
              <a:t>It is understood that the variables </a:t>
            </a:r>
            <a:r>
              <a:rPr lang="en-US" i="1" dirty="0" smtClean="0"/>
              <a:t>x </a:t>
            </a:r>
            <a:r>
              <a:rPr lang="en-US" dirty="0" smtClean="0"/>
              <a:t>and </a:t>
            </a:r>
            <a:r>
              <a:rPr lang="en-US" i="1" dirty="0" smtClean="0"/>
              <a:t>y </a:t>
            </a:r>
            <a:r>
              <a:rPr lang="en-US" dirty="0" smtClean="0"/>
              <a:t>and the coefficients </a:t>
            </a:r>
            <a:r>
              <a:rPr lang="en-US" i="1" dirty="0" smtClean="0"/>
              <a:t>a </a:t>
            </a:r>
            <a:r>
              <a:rPr lang="en-US" dirty="0" smtClean="0"/>
              <a:t>and </a:t>
            </a:r>
            <a:r>
              <a:rPr lang="en-US" i="1" dirty="0" smtClean="0"/>
              <a:t>b </a:t>
            </a:r>
            <a:r>
              <a:rPr lang="en-US" dirty="0" smtClean="0"/>
              <a:t>are elements of GF(2</a:t>
            </a:r>
            <a:r>
              <a:rPr lang="en-US" i="1" baseline="30000" dirty="0" smtClean="0"/>
              <a:t>m</a:t>
            </a:r>
            <a:r>
              <a:rPr lang="en-US" dirty="0" smtClean="0"/>
              <a:t>) and that calculations are performed in GF(2</a:t>
            </a:r>
            <a:r>
              <a:rPr lang="en-US" i="1" baseline="30000" dirty="0" smtClean="0"/>
              <a:t>m</a:t>
            </a:r>
            <a:r>
              <a:rPr lang="en-US" dirty="0" smtClean="0"/>
              <a:t>)</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6.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5294" t="36364" r="24706" b="12727"/>
              <a:stretch>
                <a:fillRect/>
              </a:stretch>
            </p:blipFill>
          </mc:Choice>
          <mc:Fallback>
            <p:blipFill>
              <a:blip r:embed="rId4"/>
              <a:srcRect l="15294" t="36364" r="24706" b="12727"/>
              <a:stretch>
                <a:fillRect/>
              </a:stretch>
            </p:blipFill>
          </mc:Fallback>
        </mc:AlternateContent>
        <p:spPr>
          <a:xfrm>
            <a:off x="1676401" y="0"/>
            <a:ext cx="6245666" cy="6858001"/>
          </a:xfrm>
          <a:prstGeom prst="rect">
            <a:avLst/>
          </a:prstGeom>
        </p:spPr>
      </p:pic>
    </p:spTree>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0" y="39688"/>
            <a:ext cx="9143999" cy="1412875"/>
          </a:xfrm>
        </p:spPr>
        <p:txBody>
          <a:bodyPr/>
          <a:lstStyle/>
          <a:p>
            <a:r>
              <a:rPr lang="en-US" dirty="0" smtClean="0"/>
              <a:t>Elliptic Curve Cryptography (ECC)</a:t>
            </a:r>
            <a:endParaRPr lang="en-AU" dirty="0"/>
          </a:p>
        </p:txBody>
      </p:sp>
      <p:sp>
        <p:nvSpPr>
          <p:cNvPr id="74755" name="Rectangle 3"/>
          <p:cNvSpPr>
            <a:spLocks noGrp="1" noChangeArrowheads="1"/>
          </p:cNvSpPr>
          <p:nvPr>
            <p:ph idx="1"/>
          </p:nvPr>
        </p:nvSpPr>
        <p:spPr>
          <a:xfrm>
            <a:off x="792163" y="1762125"/>
            <a:ext cx="7570787" cy="4714875"/>
          </a:xfrm>
        </p:spPr>
        <p:txBody>
          <a:bodyPr>
            <a:normAutofit/>
          </a:bodyPr>
          <a:lstStyle/>
          <a:p>
            <a:r>
              <a:rPr lang="en-US" dirty="0" smtClean="0"/>
              <a:t>Addition operation in ECC is the counterpart of modular multiplication in RSA</a:t>
            </a:r>
          </a:p>
          <a:p>
            <a:r>
              <a:rPr lang="en-US" dirty="0" smtClean="0"/>
              <a:t>Multiple addition is the counterpart of modular exponentiation</a:t>
            </a:r>
          </a:p>
          <a:p>
            <a:endParaRPr lang="en-US" dirty="0" smtClean="0"/>
          </a:p>
          <a:p>
            <a:endParaRPr lang="en-US" dirty="0" smtClean="0"/>
          </a:p>
          <a:p>
            <a:endParaRPr lang="en-US" dirty="0" smtClean="0"/>
          </a:p>
          <a:p>
            <a:pPr>
              <a:buNone/>
            </a:pPr>
            <a:endParaRPr lang="en-US" dirty="0" smtClean="0"/>
          </a:p>
          <a:p>
            <a:r>
              <a:rPr lang="en-US" dirty="0" smtClean="0"/>
              <a:t>Certicom example: E</a:t>
            </a:r>
            <a:r>
              <a:rPr lang="en-US" baseline="-25000" dirty="0" smtClean="0"/>
              <a:t>23</a:t>
            </a:r>
            <a:r>
              <a:rPr lang="en-US" dirty="0" smtClean="0"/>
              <a:t>(9,17) </a:t>
            </a:r>
            <a:endParaRPr lang="en-AU" dirty="0"/>
          </a:p>
        </p:txBody>
      </p:sp>
      <p:graphicFrame>
        <p:nvGraphicFramePr>
          <p:cNvPr id="4" name="Diagram 3"/>
          <p:cNvGraphicFramePr/>
          <p:nvPr/>
        </p:nvGraphicFramePr>
        <p:xfrm>
          <a:off x="838200" y="3657600"/>
          <a:ext cx="7543800" cy="187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7.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1765" t="6364" r="10588" b="18182"/>
              <a:stretch>
                <a:fillRect/>
              </a:stretch>
            </p:blipFill>
          </mc:Choice>
          <mc:Fallback>
            <p:blipFill>
              <a:blip r:embed="rId4"/>
              <a:srcRect l="11765" t="6364" r="10588" b="18182"/>
              <a:stretch>
                <a:fillRect/>
              </a:stretch>
            </p:blipFill>
          </mc:Fallback>
        </mc:AlternateContent>
        <p:spPr>
          <a:xfrm>
            <a:off x="1828800" y="0"/>
            <a:ext cx="5407409" cy="6800301"/>
          </a:xfrm>
          <a:prstGeom prst="rect">
            <a:avLst/>
          </a:prstGeom>
        </p:spPr>
      </p:pic>
    </p:spTree>
  </p:cSld>
  <p:clrMapOvr>
    <a:masterClrMapping/>
  </p:clrMapOvr>
  <p:transition>
    <p:dissolv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0" y="39688"/>
            <a:ext cx="9143999" cy="1412875"/>
          </a:xfrm>
        </p:spPr>
        <p:txBody>
          <a:bodyPr/>
          <a:lstStyle/>
          <a:p>
            <a:r>
              <a:rPr lang="en-US" dirty="0" smtClean="0"/>
              <a:t>ECC Encryption/Decryption</a:t>
            </a:r>
            <a:endParaRPr lang="en-AU" dirty="0"/>
          </a:p>
        </p:txBody>
      </p:sp>
      <p:sp>
        <p:nvSpPr>
          <p:cNvPr id="76803" name="Rectangle 3"/>
          <p:cNvSpPr>
            <a:spLocks noGrp="1" noChangeArrowheads="1"/>
          </p:cNvSpPr>
          <p:nvPr>
            <p:ph idx="1"/>
          </p:nvPr>
        </p:nvSpPr>
        <p:spPr>
          <a:xfrm>
            <a:off x="838199" y="1762125"/>
            <a:ext cx="7620001" cy="4562475"/>
          </a:xfrm>
        </p:spPr>
        <p:txBody>
          <a:bodyPr>
            <a:normAutofit fontScale="70000" lnSpcReduction="20000"/>
          </a:bodyPr>
          <a:lstStyle/>
          <a:p>
            <a:r>
              <a:rPr lang="en-US" dirty="0" smtClean="0"/>
              <a:t>Several approaches using elliptic curves have been analyzed</a:t>
            </a:r>
          </a:p>
          <a:p>
            <a:r>
              <a:rPr lang="en-US" dirty="0" smtClean="0"/>
              <a:t>Must first encode any message </a:t>
            </a:r>
            <a:r>
              <a:rPr lang="en-US" i="1" dirty="0" smtClean="0"/>
              <a:t>m</a:t>
            </a:r>
            <a:r>
              <a:rPr lang="en-US" dirty="0" smtClean="0"/>
              <a:t> as a point on the elliptic curve P</a:t>
            </a:r>
            <a:r>
              <a:rPr lang="en-US" i="1" baseline="-25000" dirty="0" smtClean="0"/>
              <a:t>m</a:t>
            </a:r>
          </a:p>
          <a:p>
            <a:r>
              <a:rPr lang="en-US" dirty="0" smtClean="0"/>
              <a:t>Select suitable curve and point </a:t>
            </a:r>
            <a:r>
              <a:rPr lang="en-US" i="1" dirty="0" smtClean="0"/>
              <a:t>G</a:t>
            </a:r>
            <a:r>
              <a:rPr lang="en-US" dirty="0" smtClean="0"/>
              <a:t> as in Diffie-Hellman</a:t>
            </a:r>
          </a:p>
          <a:p>
            <a:r>
              <a:rPr lang="en-US" dirty="0" smtClean="0"/>
              <a:t>Each user chooses a private key </a:t>
            </a:r>
            <a:r>
              <a:rPr lang="en-US" i="1" dirty="0" smtClean="0"/>
              <a:t>n</a:t>
            </a:r>
            <a:r>
              <a:rPr lang="en-US" i="1" baseline="-25000" dirty="0" smtClean="0"/>
              <a:t>A </a:t>
            </a:r>
            <a:r>
              <a:rPr lang="en-US" dirty="0" smtClean="0"/>
              <a:t>and generates a public key </a:t>
            </a:r>
            <a:r>
              <a:rPr lang="en-US" i="1" dirty="0" smtClean="0"/>
              <a:t>P</a:t>
            </a:r>
            <a:r>
              <a:rPr lang="en-US" i="1" baseline="-25000" dirty="0" smtClean="0"/>
              <a:t>A</a:t>
            </a:r>
            <a:r>
              <a:rPr lang="en-US" i="1" dirty="0" smtClean="0"/>
              <a:t>=n</a:t>
            </a:r>
            <a:r>
              <a:rPr lang="en-US" sz="2839" i="1" baseline="-25000" dirty="0" smtClean="0"/>
              <a:t>A</a:t>
            </a:r>
            <a:r>
              <a:rPr lang="en-US" i="1" dirty="0" smtClean="0"/>
              <a:t> * G</a:t>
            </a:r>
          </a:p>
          <a:p>
            <a:r>
              <a:rPr lang="en-US" dirty="0" smtClean="0"/>
              <a:t>To encrypt and send  message P</a:t>
            </a:r>
            <a:r>
              <a:rPr lang="en-US" sz="2839" i="1" baseline="-25000" dirty="0" smtClean="0"/>
              <a:t>m</a:t>
            </a:r>
            <a:r>
              <a:rPr lang="en-US" dirty="0" smtClean="0"/>
              <a:t> to B, A chooses a random positive integer </a:t>
            </a:r>
            <a:r>
              <a:rPr lang="en-US" i="1" dirty="0" smtClean="0"/>
              <a:t>k </a:t>
            </a:r>
            <a:r>
              <a:rPr lang="en-US" dirty="0" smtClean="0"/>
              <a:t>and produces the ciphertext </a:t>
            </a:r>
            <a:r>
              <a:rPr lang="en-US" i="1" dirty="0" smtClean="0"/>
              <a:t>C</a:t>
            </a:r>
            <a:r>
              <a:rPr lang="en-US" sz="2880" i="1" baseline="-25000" dirty="0" smtClean="0"/>
              <a:t>m</a:t>
            </a:r>
            <a:r>
              <a:rPr lang="en-US" i="1" dirty="0" smtClean="0"/>
              <a:t> consisting of the pair of points:</a:t>
            </a:r>
          </a:p>
          <a:p>
            <a:pPr lvl="1">
              <a:buNone/>
            </a:pPr>
            <a:r>
              <a:rPr lang="en-US" i="1" dirty="0" smtClean="0"/>
              <a:t>	</a:t>
            </a:r>
          </a:p>
          <a:p>
            <a:pPr lvl="1">
              <a:buNone/>
            </a:pPr>
            <a:r>
              <a:rPr lang="en-US" i="1" dirty="0" smtClean="0"/>
              <a:t>			 C</a:t>
            </a:r>
            <a:r>
              <a:rPr lang="en-US" sz="2880" i="1" baseline="-25000" dirty="0" smtClean="0">
                <a:cs typeface="ＭＳ Ｐゴシック" pitchFamily="-84" charset="-128"/>
              </a:rPr>
              <a:t>m </a:t>
            </a:r>
            <a:r>
              <a:rPr lang="en-US" i="1" dirty="0" smtClean="0"/>
              <a:t>= {kG, P</a:t>
            </a:r>
            <a:r>
              <a:rPr lang="en-US" sz="2639" i="1" baseline="-25000" dirty="0" smtClean="0"/>
              <a:t>m</a:t>
            </a:r>
            <a:r>
              <a:rPr lang="en-US" i="1" dirty="0" smtClean="0"/>
              <a:t>+kP</a:t>
            </a:r>
            <a:r>
              <a:rPr lang="en-US" sz="2639" i="1" baseline="-25000" dirty="0" smtClean="0"/>
              <a:t>B</a:t>
            </a:r>
            <a:r>
              <a:rPr lang="en-US" i="1" dirty="0" smtClean="0"/>
              <a:t>}</a:t>
            </a:r>
          </a:p>
          <a:p>
            <a:r>
              <a:rPr lang="en-US" dirty="0" smtClean="0"/>
              <a:t>To decrypt the ciphertext, B multiplies the first point in the pair by B’s secret key and subtracts the result from the second point:</a:t>
            </a:r>
          </a:p>
          <a:p>
            <a:pPr>
              <a:buNone/>
            </a:pPr>
            <a:r>
              <a:rPr lang="en-US" dirty="0" smtClean="0"/>
              <a:t>		</a:t>
            </a:r>
            <a:r>
              <a:rPr lang="en-US" i="1" dirty="0" smtClean="0"/>
              <a:t>           P</a:t>
            </a:r>
            <a:r>
              <a:rPr lang="en-US" sz="2880" i="1" baseline="-25000" dirty="0" smtClean="0"/>
              <a:t>m</a:t>
            </a:r>
            <a:r>
              <a:rPr lang="en-AU" i="1" dirty="0" smtClean="0"/>
              <a:t>+k</a:t>
            </a:r>
            <a:r>
              <a:rPr lang="en-US" i="1" dirty="0" smtClean="0"/>
              <a:t>P</a:t>
            </a:r>
            <a:r>
              <a:rPr lang="en-US" sz="2880" i="1" baseline="-25000" dirty="0" smtClean="0"/>
              <a:t>B</a:t>
            </a:r>
            <a:r>
              <a:rPr lang="en-AU" i="1" dirty="0" smtClean="0"/>
              <a:t>–</a:t>
            </a:r>
            <a:r>
              <a:rPr lang="en-US" i="1" dirty="0" smtClean="0"/>
              <a:t>n</a:t>
            </a:r>
            <a:r>
              <a:rPr lang="en-US" sz="2880" i="1" baseline="-25000" dirty="0" smtClean="0"/>
              <a:t>B</a:t>
            </a:r>
            <a:r>
              <a:rPr lang="en-AU" i="1" dirty="0" smtClean="0"/>
              <a:t>(kG) = </a:t>
            </a:r>
            <a:r>
              <a:rPr lang="en-US" i="1" dirty="0" smtClean="0"/>
              <a:t>P</a:t>
            </a:r>
            <a:r>
              <a:rPr lang="en-US" sz="2880" i="1" baseline="-25000" dirty="0" smtClean="0"/>
              <a:t>m</a:t>
            </a:r>
            <a:r>
              <a:rPr lang="en-AU" i="1" dirty="0" smtClean="0"/>
              <a:t>+k(</a:t>
            </a:r>
            <a:r>
              <a:rPr lang="en-US" i="1" dirty="0" smtClean="0"/>
              <a:t>n</a:t>
            </a:r>
            <a:r>
              <a:rPr lang="en-US" sz="2880" i="1" baseline="-25000" dirty="0" smtClean="0"/>
              <a:t>B</a:t>
            </a:r>
            <a:r>
              <a:rPr lang="en-AU" i="1" dirty="0" smtClean="0"/>
              <a:t>G)–</a:t>
            </a:r>
            <a:r>
              <a:rPr lang="en-US" i="1" dirty="0" smtClean="0"/>
              <a:t>n</a:t>
            </a:r>
            <a:r>
              <a:rPr lang="en-US" sz="2880" i="1" baseline="-25000" dirty="0" smtClean="0"/>
              <a:t>B</a:t>
            </a:r>
            <a:r>
              <a:rPr lang="en-AU" i="1" dirty="0" smtClean="0"/>
              <a:t>(kG) = </a:t>
            </a:r>
            <a:r>
              <a:rPr lang="en-US" i="1" dirty="0" smtClean="0"/>
              <a:t>P</a:t>
            </a:r>
            <a:r>
              <a:rPr lang="en-US" sz="2880" i="1" baseline="-25000" dirty="0" smtClean="0"/>
              <a:t>m</a:t>
            </a:r>
            <a:endParaRPr lang="en-AU" sz="2880" i="1" baseline="-25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0" y="39688"/>
            <a:ext cx="9143999" cy="1412875"/>
          </a:xfrm>
        </p:spPr>
        <p:txBody>
          <a:bodyPr/>
          <a:lstStyle/>
          <a:p>
            <a:r>
              <a:rPr lang="en-US" dirty="0" smtClean="0"/>
              <a:t>Security of Elliptic Curve Cryptography</a:t>
            </a:r>
            <a:endParaRPr lang="en-AU" dirty="0"/>
          </a:p>
        </p:txBody>
      </p:sp>
      <p:sp>
        <p:nvSpPr>
          <p:cNvPr id="78851" name="Rectangle 3"/>
          <p:cNvSpPr>
            <a:spLocks noGrp="1" noChangeArrowheads="1"/>
          </p:cNvSpPr>
          <p:nvPr>
            <p:ph idx="1"/>
          </p:nvPr>
        </p:nvSpPr>
        <p:spPr>
          <a:xfrm>
            <a:off x="792163" y="1762125"/>
            <a:ext cx="7570787" cy="4562475"/>
          </a:xfrm>
        </p:spPr>
        <p:txBody>
          <a:bodyPr>
            <a:normAutofit lnSpcReduction="10000"/>
          </a:bodyPr>
          <a:lstStyle/>
          <a:p>
            <a:r>
              <a:rPr lang="en-US" dirty="0" smtClean="0"/>
              <a:t>Depends on the difficulty of the elliptic curve logarithm problem</a:t>
            </a:r>
          </a:p>
          <a:p>
            <a:r>
              <a:rPr lang="en-US" dirty="0" smtClean="0"/>
              <a:t>Fastest known technique is “Pollard rho method”</a:t>
            </a:r>
          </a:p>
          <a:p>
            <a:r>
              <a:rPr lang="en-US" dirty="0" smtClean="0"/>
              <a:t>Compared to factoring, can use much smaller key sizes than with RSA</a:t>
            </a:r>
          </a:p>
          <a:p>
            <a:r>
              <a:rPr lang="en-US" dirty="0" smtClean="0"/>
              <a:t>For equivalent key lengths computations are roughly equivalent</a:t>
            </a:r>
          </a:p>
          <a:p>
            <a:r>
              <a:rPr lang="en-US" dirty="0" smtClean="0"/>
              <a:t>Hence, for similar security ECC offers significant computational advantages</a:t>
            </a:r>
            <a:endParaRPr lang="en-AU"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304800" y="2743200"/>
            <a:ext cx="8507461" cy="3802432"/>
          </a:xfrm>
          <a:prstGeom prst="rect">
            <a:avLst/>
          </a:prstGeom>
        </p:spPr>
      </p:pic>
      <p:sp>
        <p:nvSpPr>
          <p:cNvPr id="9" name="Title 8"/>
          <p:cNvSpPr>
            <a:spLocks noGrp="1"/>
          </p:cNvSpPr>
          <p:nvPr>
            <p:ph type="title" idx="4294967295"/>
          </p:nvPr>
        </p:nvSpPr>
        <p:spPr>
          <a:xfrm>
            <a:off x="0" y="39688"/>
            <a:ext cx="9144000" cy="2551112"/>
          </a:xfrm>
        </p:spPr>
        <p:txBody>
          <a:bodyPr/>
          <a:lstStyle/>
          <a:p>
            <a:pPr>
              <a:lnSpc>
                <a:spcPct val="100000"/>
              </a:lnSpc>
              <a:spcBef>
                <a:spcPts val="3000"/>
              </a:spcBef>
              <a:spcAft>
                <a:spcPts val="1200"/>
              </a:spcAft>
            </a:pPr>
            <a:r>
              <a:rPr lang="en-US" sz="3600" b="1" dirty="0" smtClean="0">
                <a:solidFill>
                  <a:schemeClr val="tx2">
                    <a:lumMod val="75000"/>
                  </a:schemeClr>
                </a:solidFill>
              </a:rPr>
              <a:t>Table 10.3   </a:t>
            </a:r>
            <a:r>
              <a:rPr lang="en-US" sz="3600" dirty="0" smtClean="0">
                <a:solidFill>
                  <a:schemeClr val="tx2">
                    <a:lumMod val="75000"/>
                  </a:schemeClr>
                </a:solidFill>
              </a:rPr>
              <a:t/>
            </a:r>
            <a:br>
              <a:rPr lang="en-US" sz="3600" dirty="0" smtClean="0">
                <a:solidFill>
                  <a:schemeClr val="tx2">
                    <a:lumMod val="75000"/>
                  </a:schemeClr>
                </a:solidFill>
              </a:rPr>
            </a:br>
            <a:r>
              <a:rPr lang="en-US" sz="3600" dirty="0" smtClean="0">
                <a:solidFill>
                  <a:schemeClr val="tx2">
                    <a:lumMod val="75000"/>
                  </a:schemeClr>
                </a:solidFill>
              </a:rPr>
              <a:t>Comparable Key Sizes in Terms of Computational Effort for Cryptanalysis </a:t>
            </a:r>
            <a:br>
              <a:rPr lang="en-US" sz="3600" dirty="0" smtClean="0">
                <a:solidFill>
                  <a:schemeClr val="tx2">
                    <a:lumMod val="75000"/>
                  </a:schemeClr>
                </a:solidFill>
              </a:rPr>
            </a:br>
            <a:r>
              <a:rPr lang="en-US" sz="3600" dirty="0" smtClean="0">
                <a:solidFill>
                  <a:schemeClr val="tx2">
                    <a:lumMod val="75000"/>
                  </a:schemeClr>
                </a:solidFill>
              </a:rPr>
              <a:t>(NIST SP-800-57) </a:t>
            </a:r>
            <a:endParaRPr lang="en-US" sz="3600" dirty="0">
              <a:solidFill>
                <a:schemeClr val="tx2">
                  <a:lumMod val="75000"/>
                </a:schemeClr>
              </a:solidFill>
            </a:endParaRPr>
          </a:p>
        </p:txBody>
      </p:sp>
      <p:sp>
        <p:nvSpPr>
          <p:cNvPr id="11" name="Rectangle 10"/>
          <p:cNvSpPr/>
          <p:nvPr/>
        </p:nvSpPr>
        <p:spPr>
          <a:xfrm>
            <a:off x="381000" y="6400800"/>
            <a:ext cx="8382000" cy="338554"/>
          </a:xfrm>
          <a:prstGeom prst="rect">
            <a:avLst/>
          </a:prstGeom>
        </p:spPr>
        <p:txBody>
          <a:bodyPr wrap="square">
            <a:spAutoFit/>
          </a:bodyPr>
          <a:lstStyle/>
          <a:p>
            <a:r>
              <a:rPr lang="en-US" sz="1600" i="1" dirty="0" smtClean="0">
                <a:latin typeface="+mn-lt"/>
              </a:rPr>
              <a:t>Note: L</a:t>
            </a:r>
            <a:r>
              <a:rPr lang="en-US" sz="1600" dirty="0" smtClean="0">
                <a:latin typeface="+mn-lt"/>
              </a:rPr>
              <a:t> = size of public key, </a:t>
            </a:r>
            <a:r>
              <a:rPr lang="en-US" sz="1600" i="1" dirty="0" smtClean="0">
                <a:latin typeface="+mn-lt"/>
              </a:rPr>
              <a:t>N</a:t>
            </a:r>
            <a:r>
              <a:rPr lang="en-US" sz="1600" dirty="0" smtClean="0">
                <a:latin typeface="+mn-lt"/>
              </a:rPr>
              <a:t> = size of private key </a:t>
            </a:r>
            <a:endParaRPr lang="en-US" sz="1600" dirty="0">
              <a:latin typeface="+mn-lt"/>
            </a:endParaRPr>
          </a:p>
        </p:txBody>
      </p:sp>
    </p:spTree>
  </p:cSld>
  <p:clrMapOvr>
    <a:masterClrMapping/>
  </p:clrMapOvr>
  <p:transition>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pPr>
              <a:lnSpc>
                <a:spcPts val="4400"/>
              </a:lnSpc>
            </a:pPr>
            <a:r>
              <a:rPr lang="en-US" sz="4000" dirty="0" smtClean="0"/>
              <a:t>Pseudorandom Number Generation (PRNG) Based on Asymmetric Cipher</a:t>
            </a:r>
          </a:p>
        </p:txBody>
      </p:sp>
      <p:sp>
        <p:nvSpPr>
          <p:cNvPr id="3" name="Content Placeholder 2"/>
          <p:cNvSpPr>
            <a:spLocks noGrp="1"/>
          </p:cNvSpPr>
          <p:nvPr>
            <p:ph idx="1"/>
          </p:nvPr>
        </p:nvSpPr>
        <p:spPr>
          <a:xfrm>
            <a:off x="792163" y="1981200"/>
            <a:ext cx="7570787" cy="4419600"/>
          </a:xfrm>
        </p:spPr>
        <p:txBody>
          <a:bodyPr>
            <a:normAutofit/>
          </a:bodyPr>
          <a:lstStyle/>
          <a:p>
            <a:r>
              <a:rPr lang="en-US" dirty="0" smtClean="0"/>
              <a:t>An asymmetric encryption algorithm produces apparently ransom output and can be used to build a PRNG</a:t>
            </a:r>
          </a:p>
          <a:p>
            <a:r>
              <a:rPr lang="en-US" dirty="0" smtClean="0"/>
              <a:t>Much slower than symmetric algorithms so they’re not used to generate open-ended PRNG bit streams</a:t>
            </a:r>
          </a:p>
          <a:p>
            <a:r>
              <a:rPr lang="en-US" dirty="0" smtClean="0"/>
              <a:t>Useful for creating a pseudorandom function (PRF) for generating a short pseudorandom bit sequence</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8.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27273" b="18182"/>
              <a:stretch>
                <a:fillRect/>
              </a:stretch>
            </p:blipFill>
          </mc:Choice>
          <mc:Fallback>
            <p:blipFill>
              <a:blip r:embed="rId4"/>
              <a:srcRect t="27273" b="18182"/>
              <a:stretch>
                <a:fillRect/>
              </a:stretch>
            </p:blipFill>
          </mc:Fallback>
        </mc:AlternateContent>
        <p:spPr>
          <a:xfrm>
            <a:off x="0" y="228600"/>
            <a:ext cx="9144000" cy="6454563"/>
          </a:xfrm>
          <a:prstGeom prst="rect">
            <a:avLst/>
          </a:prstGeom>
        </p:spPr>
      </p:pic>
    </p:spTree>
  </p:cSld>
  <p:clrMapOvr>
    <a:masterClrMapping/>
  </p:clrMapOvr>
  <p:transition>
    <p:dissolv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ts val="5200"/>
              </a:lnSpc>
            </a:pPr>
            <a:r>
              <a:rPr lang="en-US" sz="5000" dirty="0" smtClean="0"/>
              <a:t>PRNG Based on Elliptic Curve Cryptography</a:t>
            </a:r>
          </a:p>
        </p:txBody>
      </p:sp>
      <p:sp>
        <p:nvSpPr>
          <p:cNvPr id="3" name="Content Placeholder 2"/>
          <p:cNvSpPr>
            <a:spLocks noGrp="1"/>
          </p:cNvSpPr>
          <p:nvPr>
            <p:ph idx="1"/>
          </p:nvPr>
        </p:nvSpPr>
        <p:spPr>
          <a:xfrm>
            <a:off x="762000" y="1905000"/>
            <a:ext cx="7772400" cy="4724400"/>
          </a:xfrm>
        </p:spPr>
        <p:txBody>
          <a:bodyPr>
            <a:normAutofit fontScale="92500" lnSpcReduction="20000"/>
          </a:bodyPr>
          <a:lstStyle/>
          <a:p>
            <a:r>
              <a:rPr lang="en-US" dirty="0" smtClean="0"/>
              <a:t>Developed by the U.S. National Security Agency (NSA)</a:t>
            </a:r>
          </a:p>
          <a:p>
            <a:r>
              <a:rPr lang="en-US" dirty="0" smtClean="0"/>
              <a:t>Known as dual elliptic curve PRNG (DEC PRNG)</a:t>
            </a:r>
          </a:p>
          <a:p>
            <a:r>
              <a:rPr lang="en-US" dirty="0" smtClean="0"/>
              <a:t>Recommended in NIST SP 800-90, the ANSI standard X9.82, and the ISO standard 18031</a:t>
            </a:r>
          </a:p>
          <a:p>
            <a:r>
              <a:rPr lang="en-US" dirty="0" smtClean="0"/>
              <a:t>Has been some controversy regarding both the security and efficiency of this algorithm compared to other alternatives</a:t>
            </a:r>
          </a:p>
          <a:p>
            <a:pPr lvl="1"/>
            <a:r>
              <a:rPr lang="en-US" dirty="0" smtClean="0"/>
              <a:t>The only motivation for its use would be that it is used in a system that already implements ECC but does not implement any other symmetric, asymmetric, or hash cryptographic algorithm that could be used to build a PRNG</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smtClean="0"/>
              <a:t>Summary</a:t>
            </a:r>
            <a:endParaRPr lang="en-AU" dirty="0" smtClean="0"/>
          </a:p>
        </p:txBody>
      </p:sp>
      <p:sp>
        <p:nvSpPr>
          <p:cNvPr id="100355" name="Rectangle 3"/>
          <p:cNvSpPr>
            <a:spLocks noGrp="1" noChangeArrowheads="1"/>
          </p:cNvSpPr>
          <p:nvPr>
            <p:ph sz="half" idx="1"/>
          </p:nvPr>
        </p:nvSpPr>
        <p:spPr>
          <a:xfrm>
            <a:off x="304800" y="1828800"/>
            <a:ext cx="3565525" cy="4800600"/>
          </a:xfrm>
        </p:spPr>
        <p:txBody>
          <a:bodyPr>
            <a:normAutofit fontScale="77500" lnSpcReduction="20000"/>
          </a:bodyPr>
          <a:lstStyle/>
          <a:p>
            <a:r>
              <a:rPr lang="en-US" dirty="0" smtClean="0"/>
              <a:t>Diffie-Hellman Key Exchange</a:t>
            </a:r>
          </a:p>
          <a:p>
            <a:pPr lvl="1"/>
            <a:r>
              <a:rPr lang="en-US" dirty="0" smtClean="0"/>
              <a:t>The algorithm</a:t>
            </a:r>
          </a:p>
          <a:p>
            <a:pPr lvl="1"/>
            <a:r>
              <a:rPr lang="en-US" dirty="0" smtClean="0"/>
              <a:t>Key exchange protocols</a:t>
            </a:r>
          </a:p>
          <a:p>
            <a:pPr lvl="1"/>
            <a:r>
              <a:rPr lang="en-US" dirty="0" smtClean="0"/>
              <a:t>Man-in-the-middle attack</a:t>
            </a:r>
          </a:p>
          <a:p>
            <a:r>
              <a:rPr lang="en-US" dirty="0" smtClean="0"/>
              <a:t>Elgamal cryptographic system</a:t>
            </a:r>
          </a:p>
          <a:p>
            <a:r>
              <a:rPr lang="en-US" dirty="0" smtClean="0"/>
              <a:t>Elliptic curve cryptography</a:t>
            </a:r>
          </a:p>
          <a:p>
            <a:pPr lvl="1"/>
            <a:r>
              <a:rPr lang="en-US" dirty="0" smtClean="0"/>
              <a:t>Analog of Diffie-Hellman key exchange</a:t>
            </a:r>
          </a:p>
          <a:p>
            <a:pPr lvl="1"/>
            <a:r>
              <a:rPr lang="en-US" dirty="0" smtClean="0"/>
              <a:t>Elliptic curve encryption/decryption</a:t>
            </a:r>
          </a:p>
          <a:p>
            <a:pPr lvl="1"/>
            <a:r>
              <a:rPr lang="en-US" dirty="0" smtClean="0"/>
              <a:t>Security of elliptic curve cryptography</a:t>
            </a:r>
            <a:endParaRPr lang="en-AU" dirty="0" smtClean="0"/>
          </a:p>
        </p:txBody>
      </p:sp>
      <p:sp>
        <p:nvSpPr>
          <p:cNvPr id="76804" name="Content Placeholder 11"/>
          <p:cNvSpPr>
            <a:spLocks noGrp="1"/>
          </p:cNvSpPr>
          <p:nvPr>
            <p:ph sz="half" idx="2"/>
          </p:nvPr>
        </p:nvSpPr>
        <p:spPr>
          <a:xfrm>
            <a:off x="5578475" y="2057400"/>
            <a:ext cx="3565525" cy="4800600"/>
          </a:xfrm>
        </p:spPr>
        <p:txBody>
          <a:bodyPr rtlCol="0">
            <a:normAutofit fontScale="77500" lnSpcReduction="2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Elliptic curve arithmetic</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Abelian groups</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Elliptic curves over real numbers</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Elliptic curves over Z</a:t>
            </a:r>
            <a:r>
              <a:rPr lang="en-US" baseline="-25000" dirty="0" smtClean="0">
                <a:ea typeface="+mn-ea"/>
                <a:cs typeface="+mn-cs"/>
              </a:rPr>
              <a:t>p</a:t>
            </a:r>
          </a:p>
          <a:p>
            <a:pPr lvl="1" fontAlgn="auto">
              <a:spcAft>
                <a:spcPts val="0"/>
              </a:spcAft>
              <a:buClr>
                <a:schemeClr val="accent1">
                  <a:lumMod val="60000"/>
                  <a:lumOff val="40000"/>
                </a:schemeClr>
              </a:buClr>
              <a:buFont typeface="Candara" pitchFamily="34" charset="0"/>
              <a:buChar char="•"/>
              <a:defRPr/>
            </a:pPr>
            <a:r>
              <a:rPr lang="en-US" dirty="0" smtClean="0">
                <a:ea typeface="+mn-ea"/>
              </a:rPr>
              <a:t>Elliptic curves over GF(2</a:t>
            </a:r>
            <a:r>
              <a:rPr lang="en-US" i="1" baseline="30000" dirty="0" smtClean="0">
                <a:ea typeface="+mn-ea"/>
              </a:rPr>
              <a:t>m</a:t>
            </a:r>
            <a:r>
              <a:rPr lang="en-US" dirty="0" smtClean="0">
                <a:ea typeface="+mn-ea"/>
              </a:rPr>
              <a:t>)</a:t>
            </a:r>
          </a:p>
          <a:p>
            <a:pPr fontAlgn="auto">
              <a:spcAft>
                <a:spcPts val="0"/>
              </a:spcAft>
              <a:buClr>
                <a:schemeClr val="accent1">
                  <a:lumMod val="60000"/>
                  <a:lumOff val="40000"/>
                </a:schemeClr>
              </a:buClr>
              <a:buFont typeface="Candara" pitchFamily="34" charset="0"/>
              <a:buChar char="•"/>
              <a:defRPr/>
            </a:pPr>
            <a:r>
              <a:rPr lang="en-US" dirty="0" smtClean="0">
                <a:ea typeface="+mn-ea"/>
              </a:rPr>
              <a:t>Pseudorandom number generation based on an asymmetric cipher</a:t>
            </a:r>
          </a:p>
          <a:p>
            <a:pPr lvl="1" fontAlgn="auto">
              <a:spcAft>
                <a:spcPts val="0"/>
              </a:spcAft>
              <a:buClr>
                <a:schemeClr val="accent1">
                  <a:lumMod val="60000"/>
                  <a:lumOff val="40000"/>
                </a:schemeClr>
              </a:buClr>
              <a:buFont typeface="Candara" pitchFamily="34" charset="0"/>
              <a:buChar char="•"/>
              <a:defRPr/>
            </a:pPr>
            <a:r>
              <a:rPr lang="en-US" dirty="0" smtClean="0">
                <a:ea typeface="+mn-ea"/>
              </a:rPr>
              <a:t>PRNG based on RSA</a:t>
            </a:r>
          </a:p>
          <a:p>
            <a:pPr lvl="1" fontAlgn="auto">
              <a:spcAft>
                <a:spcPts val="0"/>
              </a:spcAft>
              <a:buClr>
                <a:schemeClr val="accent1">
                  <a:lumMod val="60000"/>
                  <a:lumOff val="40000"/>
                </a:schemeClr>
              </a:buClr>
              <a:buFont typeface="Candara" pitchFamily="34" charset="0"/>
              <a:buChar char="•"/>
              <a:defRPr/>
            </a:pPr>
            <a:r>
              <a:rPr lang="en-US" dirty="0" smtClean="0">
                <a:ea typeface="+mn-ea"/>
              </a:rPr>
              <a:t>PRNG based on elliptic curve cryptography</a:t>
            </a:r>
          </a:p>
        </p:txBody>
      </p:sp>
      <p:pic>
        <p:nvPicPr>
          <p:cNvPr id="5" name="Picture Placeholder 4" descr="crypto.jpg"/>
          <p:cNvPicPr>
            <a:picLocks noChangeAspect="1"/>
          </p:cNvPicPr>
          <p:nvPr/>
        </p:nvPicPr>
        <p:blipFill>
          <a:blip r:embed="rId3">
            <a:alphaModFix/>
            <a:lum bright="28000"/>
          </a:blip>
          <a:srcRect l="-16674" t="-1111" r="-18211" b="44444"/>
          <a:stretch>
            <a:fillRect/>
          </a:stretch>
        </p:blipFill>
        <p:spPr bwMode="auto">
          <a:xfrm>
            <a:off x="3581400" y="30480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rypto">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10349</TotalTime>
  <Words>4153</Words>
  <Application>Microsoft Office PowerPoint</Application>
  <PresentationFormat>On-screen Show (4:3)</PresentationFormat>
  <Paragraphs>313</Paragraphs>
  <Slides>26</Slides>
  <Notes>25</Notes>
  <HiddenSlides>0</HiddenSlides>
  <MMClips>0</MMClips>
  <ScaleCrop>false</ScaleCrop>
  <HeadingPairs>
    <vt:vector size="4" baseType="variant">
      <vt:variant>
        <vt:lpstr>Theme</vt:lpstr>
      </vt:variant>
      <vt:variant>
        <vt:i4>2</vt:i4>
      </vt:variant>
      <vt:variant>
        <vt:lpstr>Slide Titles</vt:lpstr>
      </vt:variant>
      <vt:variant>
        <vt:i4>26</vt:i4>
      </vt:variant>
    </vt:vector>
  </HeadingPairs>
  <TitlesOfParts>
    <vt:vector size="28" baseType="lpstr">
      <vt:lpstr>ch01</vt:lpstr>
      <vt:lpstr>Crypto</vt:lpstr>
      <vt:lpstr>Cryptography</vt:lpstr>
      <vt:lpstr>Chapter 10</vt:lpstr>
      <vt:lpstr>Diffie-Hellman Key Exchange</vt:lpstr>
      <vt:lpstr>PowerPoint Presentation</vt:lpstr>
      <vt:lpstr>Primitive root example</vt:lpstr>
      <vt:lpstr>Key Exchange Protocols</vt:lpstr>
      <vt:lpstr>PowerPoint Presentation</vt:lpstr>
      <vt:lpstr>ElGamal Cryptography</vt:lpstr>
      <vt:lpstr>PowerPoint Presentation</vt:lpstr>
      <vt:lpstr>Elliptic Curve Arithmetic</vt:lpstr>
      <vt:lpstr>Abelian Group</vt:lpstr>
      <vt:lpstr>PowerPoint Presentation</vt:lpstr>
      <vt:lpstr>Elliptic Curves Over Zp</vt:lpstr>
      <vt:lpstr>PowerPoint Presentation</vt:lpstr>
      <vt:lpstr>PowerPoint Presentation</vt:lpstr>
      <vt:lpstr>Elliptic Curves Over GF(2m)</vt:lpstr>
      <vt:lpstr>PowerPoint Presentation</vt:lpstr>
      <vt:lpstr>Elliptic Curve Cryptography (ECC)</vt:lpstr>
      <vt:lpstr>PowerPoint Presentation</vt:lpstr>
      <vt:lpstr>ECC Encryption/Decryption</vt:lpstr>
      <vt:lpstr>Security of Elliptic Curve Cryptography</vt:lpstr>
      <vt:lpstr>Table 10.3    Comparable Key Sizes in Terms of Computational Effort for Cryptanalysis  (NIST SP-800-57) </vt:lpstr>
      <vt:lpstr>Pseudorandom Number Generation (PRNG) Based on Asymmetric Cipher</vt:lpstr>
      <vt:lpstr>PowerPoint Presentation</vt:lpstr>
      <vt:lpstr>PRNG Based on Elliptic Curve Cryptography</vt:lpstr>
      <vt:lpstr>Summary</vt:lpstr>
    </vt:vector>
  </TitlesOfParts>
  <Manager/>
  <Company>School of Eng &amp; IT, UNSW@ADFA</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10</dc:subject>
  <dc:creator>Dr Lawrie Brown</dc:creator>
  <cp:keywords/>
  <dc:description/>
  <cp:lastModifiedBy>tran the son</cp:lastModifiedBy>
  <cp:revision>54</cp:revision>
  <dcterms:created xsi:type="dcterms:W3CDTF">2013-02-16T01:00:05Z</dcterms:created>
  <dcterms:modified xsi:type="dcterms:W3CDTF">2022-03-31T05:54:51Z</dcterms:modified>
  <cp:category/>
</cp:coreProperties>
</file>